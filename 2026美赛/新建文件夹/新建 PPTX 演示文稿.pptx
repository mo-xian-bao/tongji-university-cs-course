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57C2"/>
    <a:srgbClr val="1A237E"/>
    <a:srgbClr val="00C9A7"/>
    <a:srgbClr val="C4FCEF"/>
    <a:srgbClr val="B0A8B9"/>
    <a:srgbClr val="FFC5B9"/>
    <a:srgbClr val="FF8066"/>
    <a:srgbClr val="6CB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16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5" Type="http://schemas.microsoft.com/office/2011/relationships/chartColorStyle" Target="colors1.xml"/><Relationship Id="rId4" Type="http://schemas.microsoft.com/office/2011/relationships/chartStyle" Target="style1.xml"/><Relationship Id="rId3" Type="http://schemas.openxmlformats.org/officeDocument/2006/relationships/image" Target="../media/image1.png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3">
                  <a:duotone>
                    <a:schemeClr val="accent1"/>
                    <a:prstClr val="white"/>
                  </a:duotone>
                </a:blip>
                <a:stretch>
                  <a:fillRect/>
                </a:stretch>
              </a:blip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blipFill>
                <a:blip xmlns:r="http://schemas.openxmlformats.org/officeDocument/2006/relationships" r:embed="rId3">
                  <a:duotone>
                    <a:schemeClr val="accent2"/>
                    <a:prstClr val="white"/>
                  </a:duotone>
                </a:blip>
                <a:stretch>
                  <a:fillRect/>
                </a:stretch>
              </a:blip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blipFill>
                <a:blip xmlns:r="http://schemas.openxmlformats.org/officeDocument/2006/relationships" r:embed="rId3">
                  <a:duotone>
                    <a:schemeClr val="accent3"/>
                    <a:prstClr val="white"/>
                  </a:duotone>
                </a:blip>
                <a:stretch>
                  <a:fillRect/>
                </a:stretch>
              </a:blip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blipFill>
                <a:blip xmlns:r="http://schemas.openxmlformats.org/officeDocument/2006/relationships" r:embed="rId3">
                  <a:duotone>
                    <a:schemeClr val="accent4"/>
                    <a:prstClr val="white"/>
                  </a:duotone>
                </a:blip>
                <a:stretch>
                  <a:fillRect/>
                </a:stretch>
              </a:blip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blipFill>
                <a:blip xmlns:r="http://schemas.openxmlformats.org/officeDocument/2006/relationships" r:embed="rId3">
                  <a:duotone>
                    <a:schemeClr val="accent5"/>
                    <a:prstClr val="white"/>
                  </a:duotone>
                </a:blip>
                <a:stretch>
                  <a:fillRect/>
                </a:stretch>
              </a:blip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blipFill>
                <a:blip xmlns:r="http://schemas.openxmlformats.org/officeDocument/2006/relationships" r:embed="rId3">
                  <a:duotone>
                    <a:schemeClr val="accent6"/>
                    <a:prstClr val="white"/>
                  </a:duotone>
                </a:blip>
                <a:stretch>
                  <a:fillRect/>
                </a:stretch>
              </a:blipFill>
              <a:ln>
                <a:noFill/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French Guiana</c:v>
                </c:pt>
                <c:pt idx="1">
                  <c:v>Florida</c:v>
                </c:pt>
                <c:pt idx="2">
                  <c:v>Alaska</c:v>
                </c:pt>
                <c:pt idx="3">
                  <c:v>India</c:v>
                </c:pt>
                <c:pt idx="4">
                  <c:v>Kazakhstan</c:v>
                </c:pt>
                <c:pt idx="5">
                  <c:v>Virginia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146.3</c:v>
                </c:pt>
                <c:pt idx="1">
                  <c:v>129</c:v>
                </c:pt>
                <c:pt idx="2">
                  <c:v>107.3</c:v>
                </c:pt>
                <c:pt idx="3">
                  <c:v>140.3</c:v>
                </c:pt>
                <c:pt idx="4">
                  <c:v>115.5</c:v>
                </c:pt>
                <c:pt idx="5">
                  <c:v>122.3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"/>
        <c:overlap val="4"/>
        <c:axId val="155316615"/>
        <c:axId val="380913696"/>
      </c:barChart>
      <c:catAx>
        <c:axId val="1553166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r>
                  <a:rPr lang="en-US" altLang="zh-CN"/>
                  <a:t>Launch </a:t>
                </a:r>
                <a:r>
                  <a:rPr lang="en-US" altLang="zh-CN"/>
                  <a:t>Site</a:t>
                </a:r>
                <a:endParaRPr lang="en-US" altLang="zh-CN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50000"/>
                <a:lumOff val="50000"/>
                <a:alpha val="10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380913696"/>
        <c:crosses val="autoZero"/>
        <c:auto val="1"/>
        <c:lblAlgn val="ctr"/>
        <c:lblOffset val="100"/>
        <c:noMultiLvlLbl val="0"/>
      </c:catAx>
      <c:valAx>
        <c:axId val="38091369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0"/>
                  <a:lumOff val="50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  <a:r>
                  <a:rPr lang="en-US" altLang="zh-CN"/>
                  <a:t>Payload </a:t>
                </a:r>
                <a:endParaRPr lang="en-US" altLang="zh-CN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55316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50000"/>
          <a:lumOff val="50000"/>
          <a:alpha val="10000"/>
        </a:schemeClr>
      </a:solidFill>
      <a:round/>
    </a:ln>
    <a:effectLst/>
  </c:spPr>
  <c:txPr>
    <a:bodyPr/>
    <a:lstStyle/>
    <a:p>
      <a:pPr>
        <a:defRPr lang="zh-CN">
          <a:solidFill>
            <a:schemeClr val="tx1">
              <a:lumMod val="50000"/>
              <a:lumOff val="5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56945" y="4045585"/>
            <a:ext cx="8393430" cy="1740535"/>
          </a:xfrm>
          <a:prstGeom prst="rect">
            <a:avLst/>
          </a:prstGeom>
          <a:solidFill>
            <a:srgbClr val="C4FCEF">
              <a:alpha val="46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84325" y="4248785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Data processing &amp; Parameterization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86555" y="4248785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MIP solving via Gurobi 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788785" y="4248785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Optimized logistics &amp; Predicts 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86555" y="5002530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Sensitivity &amp; Reliability analysis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88785" y="5002530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Strategic conclusion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3620770" y="4386580"/>
            <a:ext cx="462280" cy="314325"/>
          </a:xfrm>
          <a:prstGeom prst="rightArrow">
            <a:avLst/>
          </a:prstGeom>
          <a:solidFill>
            <a:srgbClr val="00C9A7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3620770" y="5140325"/>
            <a:ext cx="462280" cy="314325"/>
          </a:xfrm>
          <a:prstGeom prst="rightArrow">
            <a:avLst/>
          </a:prstGeom>
          <a:solidFill>
            <a:srgbClr val="00C9A7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6223000" y="4386580"/>
            <a:ext cx="462280" cy="314325"/>
          </a:xfrm>
          <a:prstGeom prst="rightArrow">
            <a:avLst/>
          </a:prstGeom>
          <a:solidFill>
            <a:srgbClr val="00C9A7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6223000" y="5140325"/>
            <a:ext cx="462280" cy="314325"/>
          </a:xfrm>
          <a:prstGeom prst="rightArrow">
            <a:avLst/>
          </a:prstGeom>
          <a:solidFill>
            <a:srgbClr val="00C9A7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56945" y="821055"/>
            <a:ext cx="3915410" cy="1245235"/>
          </a:xfrm>
          <a:prstGeom prst="rect">
            <a:avLst/>
          </a:prstGeom>
          <a:solidFill>
            <a:srgbClr val="0070C0">
              <a:alpha val="10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56945" y="2254885"/>
            <a:ext cx="3915410" cy="1245235"/>
          </a:xfrm>
          <a:prstGeom prst="rect">
            <a:avLst/>
          </a:prstGeom>
          <a:solidFill>
            <a:srgbClr val="7030A0">
              <a:alpha val="9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434965" y="821055"/>
            <a:ext cx="3915410" cy="1245235"/>
          </a:xfrm>
          <a:prstGeom prst="rect">
            <a:avLst/>
          </a:prstGeom>
          <a:solidFill>
            <a:srgbClr val="002060">
              <a:alpha val="16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434965" y="2254885"/>
            <a:ext cx="3915410" cy="1245235"/>
          </a:xfrm>
          <a:prstGeom prst="rect">
            <a:avLst/>
          </a:prstGeom>
          <a:solidFill>
            <a:srgbClr val="7030A0">
              <a:alpha val="18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79195" y="952500"/>
            <a:ext cx="1582420" cy="2774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Eras Bold ITC" panose="020B0907030504020204" charset="0"/>
                <a:cs typeface="Eras Bold ITC" panose="020B0907030504020204" charset="0"/>
              </a:rPr>
              <a:t>Cost decay factor</a:t>
            </a:r>
            <a:endParaRPr lang="en-US" altLang="zh-CN" sz="1200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9195" y="1304925"/>
            <a:ext cx="1583055" cy="2774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>
                <a:latin typeface="Eras Bold ITC" panose="020B0907030504020204" charset="0"/>
                <a:cs typeface="Eras Bold ITC" panose="020B0907030504020204" charset="0"/>
                <a:sym typeface="+mn-ea"/>
              </a:rPr>
              <a:t>Payload growth</a:t>
            </a:r>
            <a:endParaRPr lang="en-US" altLang="zh-CN" sz="12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79195" y="1657350"/>
            <a:ext cx="1583055" cy="2774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>
                <a:latin typeface="Eras Bold ITC" panose="020B0907030504020204" charset="0"/>
                <a:cs typeface="Eras Bold ITC" panose="020B0907030504020204" charset="0"/>
                <a:sym typeface="+mn-ea"/>
              </a:rPr>
              <a:t>Launch site tiers</a:t>
            </a:r>
            <a:endParaRPr lang="en-US" altLang="zh-CN" sz="12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cxnSp>
        <p:nvCxnSpPr>
          <p:cNvPr id="22" name="肘形连接符 21"/>
          <p:cNvCxnSpPr>
            <a:stCxn id="19" idx="3"/>
            <a:endCxn id="21" idx="3"/>
          </p:cNvCxnSpPr>
          <p:nvPr/>
        </p:nvCxnSpPr>
        <p:spPr>
          <a:xfrm>
            <a:off x="2761615" y="1091565"/>
            <a:ext cx="3175" cy="704850"/>
          </a:xfrm>
          <a:prstGeom prst="bentConnector3">
            <a:avLst>
              <a:gd name="adj1" fmla="val 8260000"/>
            </a:avLst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3038475" y="1448435"/>
            <a:ext cx="26479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414395" y="906780"/>
            <a:ext cx="120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Eras Bold ITC" panose="020B0907030504020204" charset="0"/>
                <a:cs typeface="Eras Bold ITC" panose="020B0907030504020204" charset="0"/>
              </a:rPr>
              <a:t>Model 1</a:t>
            </a:r>
            <a:endParaRPr lang="en-US" altLang="zh-CN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40735" y="1230630"/>
            <a:ext cx="1341755" cy="626110"/>
          </a:xfrm>
          <a:prstGeom prst="rect">
            <a:avLst/>
          </a:prstGeom>
          <a:solidFill>
            <a:srgbClr val="002060">
              <a:alpha val="6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Eras Bold ITC" panose="020B0907030504020204" charset="0"/>
                <a:cs typeface="Eras Bold ITC" panose="020B0907030504020204" charset="0"/>
              </a:rPr>
              <a:t>Dynamic Logistics Optimization</a:t>
            </a:r>
            <a:endParaRPr lang="en-US" altLang="zh-CN" sz="1200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56945" y="325755"/>
            <a:ext cx="8392160" cy="306705"/>
          </a:xfrm>
          <a:prstGeom prst="rect">
            <a:avLst/>
          </a:prstGeom>
          <a:gradFill>
            <a:gsLst>
              <a:gs pos="0">
                <a:srgbClr val="1A237E">
                  <a:alpha val="50000"/>
                  <a:lumMod val="33000"/>
                  <a:lumOff val="67000"/>
                </a:srgbClr>
              </a:gs>
              <a:gs pos="71000">
                <a:srgbClr val="7E57C2">
                  <a:alpha val="64000"/>
                </a:srgbClr>
              </a:gs>
            </a:gsLst>
            <a:lin ang="0" scaled="0"/>
          </a:gradFill>
        </p:spPr>
        <p:txBody>
          <a:bodyPr wrap="square">
            <a:spAutoFit/>
          </a:bodyPr>
          <a:lstStyle/>
          <a:p>
            <a:pPr marL="0" indent="0" algn="ctr"/>
            <a:r>
              <a:rPr lang="en-US" altLang="zh-CN" sz="1400">
                <a:solidFill>
                  <a:srgbClr val="7030A0"/>
                </a:solidFill>
                <a:latin typeface="Eras Bold ITC" panose="020B0907030504020204" charset="0"/>
                <a:ea typeface="Inter"/>
                <a:cs typeface="Eras Bold ITC" panose="020B0907030504020204" charset="0"/>
              </a:rPr>
              <a:t>Strategic Synthesis: Earth-Moon Integrated Logistics &amp; Systems Engineering Framework</a:t>
            </a:r>
            <a:endParaRPr lang="en-US" altLang="zh-CN" sz="1400">
              <a:solidFill>
                <a:srgbClr val="7030A0"/>
              </a:solidFill>
              <a:latin typeface="Eras Bold ITC" panose="020B0907030504020204" charset="0"/>
              <a:ea typeface="Inter"/>
              <a:cs typeface="Eras Bold ITC" panose="020B090703050402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56945" y="5963920"/>
            <a:ext cx="8392160" cy="30670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6000">
                <a:srgbClr val="FFFF00">
                  <a:alpha val="37000"/>
                </a:srgbClr>
              </a:gs>
            </a:gsLst>
            <a:lin ang="0" scaled="0"/>
          </a:gradFill>
        </p:spPr>
        <p:txBody>
          <a:bodyPr wrap="square">
            <a:spAutoFit/>
          </a:bodyPr>
          <a:lstStyle/>
          <a:p>
            <a:pPr marL="0" indent="0" algn="ctr"/>
            <a:r>
              <a:rPr lang="en-US" altLang="zh-CN" sz="1400">
                <a:solidFill>
                  <a:srgbClr val="002060"/>
                </a:solidFill>
                <a:latin typeface="Eras Bold ITC" panose="020B0907030504020204" charset="0"/>
                <a:ea typeface="Inter"/>
                <a:cs typeface="Eras Bold ITC" panose="020B0907030504020204" charset="0"/>
              </a:rPr>
              <a:t>Holistic Output: Sustainable Development Roadmaps &amp; Interplanetary Policy Synthesis</a:t>
            </a:r>
            <a:endParaRPr lang="en-US" altLang="zh-CN" sz="1400">
              <a:solidFill>
                <a:srgbClr val="002060"/>
              </a:solidFill>
              <a:latin typeface="Eras Bold ITC" panose="020B0907030504020204" charset="0"/>
              <a:ea typeface="Inter"/>
              <a:cs typeface="Eras Bold ITC" panose="020B0907030504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30680" y="2152650"/>
            <a:ext cx="8060055" cy="331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900"/>
              </a:spcAft>
            </a:pPr>
            <a:r>
              <a:rPr lang="en-US" altLang="zh-CN" sz="1600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</a:rPr>
              <a:t>1.3 Our Work</a:t>
            </a:r>
            <a:endParaRPr lang="en-US" altLang="zh-CN" sz="1600" b="0" i="0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457200">
              <a:lnSpc>
                <a:spcPct val="100000"/>
              </a:lnSpc>
              <a:spcAft>
                <a:spcPts val="900"/>
              </a:spcAft>
            </a:pPr>
            <a:r>
              <a:rPr lang="en-US" altLang="zh-CN" sz="1600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</a:rPr>
              <a:t>To intuitively reflect our research process, a comprehensive modeling framework is designed as shown in Figure 2. Our work is structured into four core modules:</a:t>
            </a:r>
            <a:endParaRPr lang="en-US" altLang="zh-CN" sz="1600" b="0" i="0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</a:rPr>
              <a:t>Model 1: Dynamic Logistics Optimization. Solving the 100M-ton transportation schedule using a Mixed-Integer Programming (MIP) approach.</a:t>
            </a:r>
            <a:endParaRPr lang="en-US" altLang="zh-CN" sz="1600" b="0" i="0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</a:rPr>
              <a:t>Model 2: System Reliability Model. Assessing the impact of equipment failures and designing resilient response strategies.</a:t>
            </a:r>
            <a:endParaRPr lang="en-US" altLang="zh-CN" sz="1600" b="0" i="0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</a:rPr>
              <a:t>Model 3: Resource Supply Model. Calculating long-term water demand and sustainable supply cycles for the lunar colony.</a:t>
            </a:r>
            <a:endParaRPr lang="en-US" altLang="zh-CN" sz="1600" b="0" i="0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zh-CN" sz="1600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</a:rPr>
              <a:t>Model 4: Environmental Exteriority Evaluation. Quantifying the environmental footprint of logistics activities based on Life Cycle Assessment (LCA).</a:t>
            </a:r>
            <a:endParaRPr lang="en-US" altLang="zh-CN" sz="1600" b="0" i="0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56945" y="3898265"/>
            <a:ext cx="8800465" cy="1740535"/>
          </a:xfrm>
          <a:prstGeom prst="rect">
            <a:avLst/>
          </a:prstGeom>
          <a:solidFill>
            <a:srgbClr val="C4FCEF">
              <a:alpha val="46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trike="noStrike" noProof="1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08505" y="4101465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</a:rPr>
              <a:t>Multi-source Data Fusion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10735" y="4101465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DT-LMOP Baseline Solving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12965" y="4101465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Cross-Scenario Benchmarking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08505" y="4855210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Sensitivity &amp; Reliability analysis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10735" y="4855210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Memorandum &amp; Policy Synthesis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044950" y="4239260"/>
            <a:ext cx="462280" cy="314325"/>
          </a:xfrm>
          <a:prstGeom prst="rightArrow">
            <a:avLst/>
          </a:prstGeom>
          <a:solidFill>
            <a:srgbClr val="00C9A7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1442720" y="4993005"/>
            <a:ext cx="462280" cy="314325"/>
          </a:xfrm>
          <a:prstGeom prst="rightArrow">
            <a:avLst/>
          </a:prstGeom>
          <a:solidFill>
            <a:srgbClr val="00C9A7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6647180" y="4239260"/>
            <a:ext cx="462280" cy="314325"/>
          </a:xfrm>
          <a:prstGeom prst="rightArrow">
            <a:avLst/>
          </a:prstGeom>
          <a:solidFill>
            <a:srgbClr val="00C9A7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4044950" y="4993005"/>
            <a:ext cx="462280" cy="314325"/>
          </a:xfrm>
          <a:prstGeom prst="rightArrow">
            <a:avLst/>
          </a:prstGeom>
          <a:solidFill>
            <a:srgbClr val="00C9A7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56945" y="821055"/>
            <a:ext cx="4251960" cy="1245235"/>
          </a:xfrm>
          <a:prstGeom prst="rect">
            <a:avLst/>
          </a:prstGeom>
          <a:solidFill>
            <a:srgbClr val="0070C0">
              <a:alpha val="10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55675" y="2297430"/>
            <a:ext cx="4253230" cy="1245235"/>
          </a:xfrm>
          <a:prstGeom prst="rect">
            <a:avLst/>
          </a:prstGeom>
          <a:solidFill>
            <a:srgbClr val="7030A0">
              <a:alpha val="9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504815" y="823595"/>
            <a:ext cx="4252595" cy="1245235"/>
          </a:xfrm>
          <a:prstGeom prst="rect">
            <a:avLst/>
          </a:prstGeom>
          <a:solidFill>
            <a:srgbClr val="002060">
              <a:alpha val="16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504815" y="2297430"/>
            <a:ext cx="4253230" cy="1245235"/>
          </a:xfrm>
          <a:prstGeom prst="rect">
            <a:avLst/>
          </a:prstGeom>
          <a:solidFill>
            <a:srgbClr val="7030A0">
              <a:alpha val="18000"/>
            </a:srgb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fontAlgn="base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79830" y="906780"/>
            <a:ext cx="1582420" cy="2120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2"/>
                </a:solidFill>
                <a:latin typeface="Eras Bold ITC" panose="020B0907030504020204" charset="0"/>
                <a:cs typeface="Eras Bold ITC" panose="020B0907030504020204" charset="0"/>
              </a:rPr>
              <a:t>Cost decay factor</a:t>
            </a:r>
            <a:endParaRPr lang="en-US" altLang="zh-CN" sz="1000">
              <a:solidFill>
                <a:schemeClr val="bg2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79195" y="1195070"/>
            <a:ext cx="1583055" cy="215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2"/>
                </a:solidFill>
                <a:latin typeface="Eras Bold ITC" panose="020B0907030504020204" charset="0"/>
                <a:cs typeface="Eras Bold ITC" panose="020B0907030504020204" charset="0"/>
                <a:sym typeface="+mn-ea"/>
              </a:rPr>
              <a:t>Payload growth</a:t>
            </a:r>
            <a:endParaRPr lang="en-US" altLang="zh-CN" sz="1000">
              <a:solidFill>
                <a:schemeClr val="bg2"/>
              </a:solidFill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cxnSp>
        <p:nvCxnSpPr>
          <p:cNvPr id="22" name="肘形连接符 21"/>
          <p:cNvCxnSpPr>
            <a:stCxn id="19" idx="3"/>
            <a:endCxn id="33" idx="3"/>
          </p:cNvCxnSpPr>
          <p:nvPr/>
        </p:nvCxnSpPr>
        <p:spPr>
          <a:xfrm>
            <a:off x="2762250" y="1012825"/>
            <a:ext cx="3175" cy="828675"/>
          </a:xfrm>
          <a:prstGeom prst="bentConnector3">
            <a:avLst>
              <a:gd name="adj1" fmla="val 7600000"/>
            </a:avLst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3038475" y="1448435"/>
            <a:ext cx="26479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340735" y="906780"/>
            <a:ext cx="120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Eras Bold ITC" panose="020B0907030504020204" charset="0"/>
                <a:cs typeface="Eras Bold ITC" panose="020B0907030504020204" charset="0"/>
              </a:rPr>
              <a:t>Phase 1</a:t>
            </a:r>
            <a:endParaRPr lang="en-US" altLang="zh-CN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40735" y="1230630"/>
            <a:ext cx="1706880" cy="626110"/>
          </a:xfrm>
          <a:prstGeom prst="rect">
            <a:avLst/>
          </a:prstGeom>
          <a:solidFill>
            <a:srgbClr val="002060">
              <a:alpha val="69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Eras Bold ITC" panose="020B0907030504020204" charset="0"/>
                <a:cs typeface="Eras Bold ITC" panose="020B0907030504020204" charset="0"/>
              </a:rPr>
              <a:t>Dynamic Temporal Lunar Mission Optimization Program</a:t>
            </a:r>
            <a:endParaRPr lang="en-US" altLang="zh-CN" sz="1000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56945" y="325755"/>
            <a:ext cx="8801735" cy="306705"/>
          </a:xfrm>
          <a:prstGeom prst="rect">
            <a:avLst/>
          </a:prstGeom>
          <a:gradFill>
            <a:gsLst>
              <a:gs pos="0">
                <a:srgbClr val="1A237E">
                  <a:alpha val="50000"/>
                  <a:lumMod val="33000"/>
                  <a:lumOff val="67000"/>
                </a:srgbClr>
              </a:gs>
              <a:gs pos="71000">
                <a:srgbClr val="7E57C2">
                  <a:alpha val="64000"/>
                </a:srgbClr>
              </a:gs>
            </a:gsLst>
            <a:lin ang="0" scaled="0"/>
          </a:gradFill>
        </p:spPr>
        <p:txBody>
          <a:bodyPr wrap="square">
            <a:spAutoFit/>
          </a:bodyPr>
          <a:lstStyle/>
          <a:p>
            <a:pPr marL="0" indent="0" algn="ctr"/>
            <a:r>
              <a:rPr lang="en-US" altLang="zh-CN" sz="1400">
                <a:solidFill>
                  <a:srgbClr val="7030A0"/>
                </a:solidFill>
                <a:latin typeface="Eras Bold ITC" panose="020B0907030504020204" charset="0"/>
                <a:ea typeface="Inter"/>
                <a:cs typeface="Eras Bold ITC" panose="020B0907030504020204" charset="0"/>
              </a:rPr>
              <a:t>Strategic Synthesis: Earth-Moon Integrated Logistics &amp; Systems Engineering Framework</a:t>
            </a:r>
            <a:endParaRPr lang="en-US" altLang="zh-CN" sz="1400">
              <a:solidFill>
                <a:srgbClr val="7030A0"/>
              </a:solidFill>
              <a:latin typeface="Eras Bold ITC" panose="020B0907030504020204" charset="0"/>
              <a:ea typeface="Inter"/>
              <a:cs typeface="Eras Bold ITC" panose="020B090703050402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55675" y="5825490"/>
            <a:ext cx="8802370" cy="30670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6000">
                <a:srgbClr val="FFFF00">
                  <a:alpha val="37000"/>
                </a:srgbClr>
              </a:gs>
            </a:gsLst>
            <a:lin ang="0" scaled="0"/>
          </a:gradFill>
        </p:spPr>
        <p:txBody>
          <a:bodyPr wrap="square">
            <a:spAutoFit/>
          </a:bodyPr>
          <a:lstStyle/>
          <a:p>
            <a:pPr marL="0" indent="0" algn="ctr"/>
            <a:r>
              <a:rPr lang="en-US" altLang="zh-CN" sz="1400">
                <a:solidFill>
                  <a:srgbClr val="002060"/>
                </a:solidFill>
                <a:latin typeface="Eras Bold ITC" panose="020B0907030504020204" charset="0"/>
                <a:ea typeface="Inter"/>
                <a:cs typeface="Eras Bold ITC" panose="020B0907030504020204" charset="0"/>
              </a:rPr>
              <a:t>Holistic Output: Sustainable Development Roadmaps &amp; Interplanetary Policy Synthesis</a:t>
            </a:r>
            <a:endParaRPr lang="en-US" altLang="zh-CN" sz="1400">
              <a:solidFill>
                <a:srgbClr val="002060"/>
              </a:solidFill>
              <a:latin typeface="Eras Bold ITC" panose="020B0907030504020204" charset="0"/>
              <a:ea typeface="Inter"/>
              <a:cs typeface="Eras Bold ITC" panose="020B09070305040202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270500" y="8262620"/>
            <a:ext cx="8801735" cy="1229360"/>
          </a:xfrm>
          <a:prstGeom prst="rect">
            <a:avLst/>
          </a:prstGeom>
          <a:solidFill>
            <a:schemeClr val="accent3">
              <a:lumMod val="40000"/>
              <a:lumOff val="60000"/>
              <a:alpha val="35000"/>
            </a:schemeClr>
          </a:solidFill>
          <a:ln w="381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237730" y="4855210"/>
            <a:ext cx="1933575" cy="589915"/>
          </a:xfrm>
          <a:prstGeom prst="rect">
            <a:avLst/>
          </a:prstGeom>
          <a:solidFill>
            <a:srgbClr val="00C9A7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Eras Bold ITC" panose="020B0907030504020204" charset="0"/>
                <a:ea typeface="微软雅黑" panose="020B0503020204020204" charset="-122"/>
                <a:cs typeface="Eras Bold ITC" panose="020B0907030504020204" charset="0"/>
                <a:sym typeface="+mn-ea"/>
              </a:rPr>
              <a:t>Policy Brief &amp; Decision Support </a:t>
            </a: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31" name="右箭头 30"/>
          <p:cNvSpPr/>
          <p:nvPr/>
        </p:nvSpPr>
        <p:spPr>
          <a:xfrm>
            <a:off x="6671945" y="4993005"/>
            <a:ext cx="462280" cy="314325"/>
          </a:xfrm>
          <a:prstGeom prst="rightArrow">
            <a:avLst/>
          </a:prstGeom>
          <a:solidFill>
            <a:srgbClr val="00C9A7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i="1">
              <a:solidFill>
                <a:schemeClr val="tx1"/>
              </a:solidFill>
              <a:latin typeface="Eras Bold ITC" panose="020B0907030504020204" charset="0"/>
              <a:ea typeface="微软雅黑" panose="020B0503020204020204" charset="-122"/>
              <a:cs typeface="Eras Bold ITC" panose="020B0907030504020204" charset="0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72515" y="2326640"/>
            <a:ext cx="120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Eras Bold ITC" panose="020B0907030504020204" charset="0"/>
                <a:cs typeface="Eras Bold ITC" panose="020B0907030504020204" charset="0"/>
                <a:sym typeface="+mn-ea"/>
              </a:rPr>
              <a:t>Phase </a:t>
            </a:r>
            <a:r>
              <a:rPr lang="en-US" altLang="zh-CN">
                <a:latin typeface="Eras Bold ITC" panose="020B0907030504020204" charset="0"/>
                <a:cs typeface="Eras Bold ITC" panose="020B0907030504020204" charset="0"/>
              </a:rPr>
              <a:t>2</a:t>
            </a:r>
            <a:endParaRPr lang="en-US" altLang="zh-CN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94560" y="2611120"/>
            <a:ext cx="1378585" cy="626110"/>
          </a:xfrm>
          <a:prstGeom prst="rect">
            <a:avLst/>
          </a:prstGeom>
          <a:solidFill>
            <a:srgbClr val="7030A0">
              <a:alpha val="92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Eras Bold ITC" panose="020B0907030504020204" charset="0"/>
                <a:cs typeface="Eras Bold ITC" panose="020B0907030504020204" charset="0"/>
              </a:rPr>
              <a:t>Scenario-Driven Adaptive Allocation Model</a:t>
            </a:r>
            <a:endParaRPr lang="en-US" altLang="zh-CN" sz="1000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23300" y="876935"/>
            <a:ext cx="120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Eras Bold ITC" panose="020B0907030504020204" charset="0"/>
                <a:cs typeface="Eras Bold ITC" panose="020B0907030504020204" charset="0"/>
                <a:sym typeface="+mn-ea"/>
              </a:rPr>
              <a:t>Phase 3</a:t>
            </a:r>
            <a:endParaRPr lang="en-US" altLang="zh-CN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81015" y="3136265"/>
            <a:ext cx="120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Eras Bold ITC" panose="020B0907030504020204" charset="0"/>
                <a:cs typeface="Eras Bold ITC" panose="020B0907030504020204" charset="0"/>
                <a:sym typeface="+mn-ea"/>
              </a:rPr>
              <a:t>Phase 4</a:t>
            </a:r>
            <a:endParaRPr lang="en-US" altLang="zh-CN"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182370" y="1464310"/>
            <a:ext cx="1583055" cy="215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chemeClr val="bg2"/>
                </a:solidFill>
                <a:latin typeface="Eras Bold ITC" panose="020B0907030504020204" charset="0"/>
                <a:cs typeface="Eras Bold ITC" panose="020B0907030504020204" charset="0"/>
                <a:sym typeface="+mn-ea"/>
              </a:rPr>
              <a:t>Launch site tiers</a:t>
            </a:r>
            <a:endParaRPr lang="en-US" altLang="zh-CN" sz="1000">
              <a:solidFill>
                <a:schemeClr val="bg2"/>
              </a:solidFill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182370" y="1733550"/>
            <a:ext cx="1583055" cy="215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solidFill>
                  <a:srgbClr val="FF0000"/>
                </a:solidFill>
                <a:latin typeface="Eras Bold ITC" panose="020B0907030504020204" charset="0"/>
                <a:cs typeface="Eras Bold ITC" panose="020B0907030504020204" charset="0"/>
                <a:sym typeface="+mn-ea"/>
              </a:rPr>
              <a:t>Wright's Law</a:t>
            </a:r>
            <a:endParaRPr lang="en-US" altLang="zh-CN" sz="1000">
              <a:solidFill>
                <a:srgbClr val="FF0000"/>
              </a:solidFill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22985" y="2681605"/>
            <a:ext cx="831215" cy="368300"/>
          </a:xfrm>
          <a:prstGeom prst="rect">
            <a:avLst/>
          </a:prstGeom>
          <a:solidFill>
            <a:srgbClr val="7030A0">
              <a:alpha val="21000"/>
            </a:srgbClr>
          </a:solidFill>
        </p:spPr>
        <p:txBody>
          <a:bodyPr wrap="square">
            <a:spAutoFit/>
          </a:bodyPr>
          <a:lstStyle/>
          <a:p>
            <a:pPr marL="0" algn="ctr">
              <a:buClrTx/>
              <a:buSzTx/>
              <a:buFontTx/>
            </a:pPr>
            <a:r>
              <a:rPr lang="en-US" altLang="zh-CN" sz="900" b="0" i="0">
                <a:solidFill>
                  <a:schemeClr val="tx1"/>
                </a:solidFill>
                <a:latin typeface="Eras Bold ITC" panose="020B0907030504020204" charset="0"/>
                <a:cs typeface="Eras Bold ITC" panose="020B0907030504020204" charset="0"/>
              </a:rPr>
              <a:t>Bernoulli failure rate</a:t>
            </a:r>
            <a:endParaRPr lang="en-US" altLang="zh-CN" sz="900" b="0" i="0">
              <a:solidFill>
                <a:schemeClr val="tx1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22985" y="3096895"/>
            <a:ext cx="831215" cy="368300"/>
          </a:xfrm>
          <a:prstGeom prst="rect">
            <a:avLst/>
          </a:prstGeom>
          <a:solidFill>
            <a:srgbClr val="7030A0">
              <a:alpha val="21000"/>
            </a:srgbClr>
          </a:solidFill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900">
                <a:latin typeface="Eras Bold ITC" panose="020B0907030504020204" charset="0"/>
                <a:cs typeface="Eras Bold ITC" panose="020B0907030504020204" charset="0"/>
                <a:sym typeface="+mn-ea"/>
              </a:rPr>
              <a:t>Stochastic downtime</a:t>
            </a:r>
            <a:endParaRPr lang="en-US" altLang="zh-CN" sz="9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cxnSp>
        <p:nvCxnSpPr>
          <p:cNvPr id="41" name="直接连接符 40"/>
          <p:cNvCxnSpPr>
            <a:stCxn id="34" idx="3"/>
            <a:endCxn id="2" idx="1"/>
          </p:cNvCxnSpPr>
          <p:nvPr/>
        </p:nvCxnSpPr>
        <p:spPr>
          <a:xfrm>
            <a:off x="1854200" y="2865755"/>
            <a:ext cx="340360" cy="5842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6" idx="3"/>
            <a:endCxn id="2" idx="1"/>
          </p:cNvCxnSpPr>
          <p:nvPr/>
        </p:nvCxnSpPr>
        <p:spPr>
          <a:xfrm flipV="1">
            <a:off x="1854200" y="2924175"/>
            <a:ext cx="340360" cy="35687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935730" y="3070225"/>
            <a:ext cx="1109980" cy="366395"/>
          </a:xfrm>
          <a:prstGeom prst="rect">
            <a:avLst/>
          </a:prstGeom>
          <a:solidFill>
            <a:srgbClr val="7030A0">
              <a:alpha val="21000"/>
            </a:srgbClr>
          </a:solidFill>
        </p:spPr>
        <p:txBody>
          <a:bodyPr wrap="square">
            <a:noAutofit/>
          </a:bodyPr>
          <a:lstStyle/>
          <a:p>
            <a:pPr marL="0" algn="ctr">
              <a:buClrTx/>
              <a:buSzTx/>
              <a:buFontTx/>
            </a:pPr>
            <a:r>
              <a:rPr lang="en-US" altLang="zh-CN" sz="900" b="0" i="0">
                <a:solidFill>
                  <a:schemeClr val="tx1"/>
                </a:solidFill>
                <a:latin typeface="Eras Bold ITC" panose="020B0907030504020204" charset="0"/>
                <a:cs typeface="Eras Bold ITC" panose="020B0907030504020204" charset="0"/>
              </a:rPr>
              <a:t>15% Strategic Safety Buffer</a:t>
            </a:r>
            <a:endParaRPr lang="en-US" altLang="zh-CN" sz="900" b="0" i="0">
              <a:solidFill>
                <a:schemeClr val="tx1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077085" y="3237230"/>
            <a:ext cx="173228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en-US" altLang="zh-CN" sz="1000" b="0">
                <a:solidFill>
                  <a:srgbClr val="FFC000"/>
                </a:solidFill>
                <a:latin typeface="Eras Bold ITC" panose="020B0907030504020204" charset="0"/>
                <a:cs typeface="Eras Bold ITC" panose="020B0907030504020204" charset="0"/>
              </a:rPr>
              <a:t>Monte Carlo Simulation</a:t>
            </a:r>
            <a:endParaRPr lang="en-US" altLang="zh-CN" sz="1000" b="0" i="1">
              <a:solidFill>
                <a:srgbClr val="FFC000"/>
              </a:solidFill>
              <a:latin typeface="Eras Bold ITC" panose="020B0907030504020204" charset="0"/>
              <a:ea typeface="Inter"/>
              <a:cs typeface="Eras Bold ITC" panose="020B0907030504020204" charset="0"/>
            </a:endParaRPr>
          </a:p>
        </p:txBody>
      </p:sp>
      <p:cxnSp>
        <p:nvCxnSpPr>
          <p:cNvPr id="46" name="直接箭头连接符 45"/>
          <p:cNvCxnSpPr>
            <a:endCxn id="2" idx="0"/>
          </p:cNvCxnSpPr>
          <p:nvPr/>
        </p:nvCxnSpPr>
        <p:spPr>
          <a:xfrm flipH="1">
            <a:off x="2884170" y="1854200"/>
            <a:ext cx="1337945" cy="756920"/>
          </a:xfrm>
          <a:prstGeom prst="straightConnector1">
            <a:avLst/>
          </a:prstGeom>
          <a:ln w="25400">
            <a:solidFill>
              <a:schemeClr val="tx1">
                <a:alpha val="99000"/>
              </a:schemeClr>
            </a:solidFill>
            <a:prstDash val="solid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3522345" y="2628265"/>
            <a:ext cx="162115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>
              <a:buClrTx/>
              <a:buSzTx/>
              <a:buFontTx/>
            </a:pPr>
            <a:r>
              <a:rPr lang="en-US" altLang="zh-CN" sz="900" b="0">
                <a:solidFill>
                  <a:srgbClr val="7030A0"/>
                </a:solidFill>
                <a:latin typeface="Eras Bold ITC" panose="020B0907030504020204" charset="0"/>
                <a:cs typeface="Eras Bold ITC" panose="020B0907030504020204" charset="0"/>
              </a:rPr>
              <a:t>Capacity Discounting Mechanism</a:t>
            </a:r>
            <a:endParaRPr lang="en-US" altLang="zh-CN" sz="900" b="0">
              <a:solidFill>
                <a:srgbClr val="7030A0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cxnSp>
        <p:nvCxnSpPr>
          <p:cNvPr id="48" name="直接连接符 47"/>
          <p:cNvCxnSpPr>
            <a:endCxn id="44" idx="0"/>
          </p:cNvCxnSpPr>
          <p:nvPr/>
        </p:nvCxnSpPr>
        <p:spPr>
          <a:xfrm>
            <a:off x="3561080" y="2926080"/>
            <a:ext cx="929640" cy="14414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8188960" y="1257935"/>
            <a:ext cx="1423670" cy="583565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latin typeface="Eras Bold ITC" panose="020B0907030504020204" charset="0"/>
                <a:cs typeface="Eras Bold ITC" panose="020B0907030504020204" charset="0"/>
                <a:sym typeface="+mn-ea"/>
              </a:rPr>
              <a:t>Managing water metabolism &amp; resupply frequency</a:t>
            </a:r>
            <a:endParaRPr lang="en-US" altLang="zh-CN" sz="10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600065" y="2552700"/>
            <a:ext cx="1692275" cy="583565"/>
          </a:xfrm>
          <a:prstGeom prst="rect">
            <a:avLst/>
          </a:prstGeom>
          <a:solidFill>
            <a:srgbClr val="0070C0">
              <a:alpha val="84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00">
                <a:latin typeface="Eras Bold ITC" panose="020B0907030504020204" charset="0"/>
                <a:cs typeface="Eras Bold ITC" panose="020B0907030504020204" charset="0"/>
                <a:sym typeface="+mn-ea"/>
              </a:rPr>
              <a:t>Quantifying planetary externalities &amp; green trade-offs</a:t>
            </a:r>
            <a:endParaRPr lang="en-US" altLang="zh-CN" sz="10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cxnSp>
        <p:nvCxnSpPr>
          <p:cNvPr id="51" name="直接箭头连接符 50"/>
          <p:cNvCxnSpPr>
            <a:endCxn id="50" idx="0"/>
          </p:cNvCxnSpPr>
          <p:nvPr/>
        </p:nvCxnSpPr>
        <p:spPr>
          <a:xfrm>
            <a:off x="4607560" y="1856740"/>
            <a:ext cx="1838960" cy="695960"/>
          </a:xfrm>
          <a:prstGeom prst="straightConnector1">
            <a:avLst/>
          </a:prstGeom>
          <a:ln w="25400">
            <a:solidFill>
              <a:schemeClr val="tx1">
                <a:alpha val="99000"/>
              </a:schemeClr>
            </a:solidFill>
            <a:prstDash val="solid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6177280" y="1325880"/>
            <a:ext cx="171259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buClrTx/>
              <a:buSzTx/>
              <a:buFontTx/>
            </a:pPr>
            <a:r>
              <a:rPr lang="en-US" altLang="zh-CN" sz="1000" b="0">
                <a:solidFill>
                  <a:srgbClr val="FFC000"/>
                </a:solidFill>
                <a:latin typeface="Eras Bold ITC" panose="020B0907030504020204" charset="0"/>
                <a:cs typeface="Eras Bold ITC" panose="020B0907030504020204" charset="0"/>
              </a:rPr>
              <a:t>Metabolic Flux Analysis</a:t>
            </a:r>
            <a:endParaRPr lang="en-US" altLang="zh-CN" sz="1000" b="0">
              <a:solidFill>
                <a:srgbClr val="FFC000"/>
              </a:solidFill>
              <a:latin typeface="Eras Bold ITC" panose="020B0907030504020204" charset="0"/>
              <a:cs typeface="Eras Bold ITC" panose="020B090703050402020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163945" y="1627505"/>
            <a:ext cx="1326515" cy="337185"/>
          </a:xfrm>
          <a:prstGeom prst="rect">
            <a:avLst/>
          </a:prstGeom>
          <a:solidFill>
            <a:srgbClr val="7030A0">
              <a:alpha val="21000"/>
            </a:srgbClr>
          </a:solidFill>
        </p:spPr>
        <p:txBody>
          <a:bodyPr wrap="square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900">
                <a:latin typeface="Eras Bold ITC" panose="020B0907030504020204" charset="0"/>
                <a:cs typeface="Eras Bold ITC" panose="020B0907030504020204" charset="0"/>
                <a:sym typeface="+mn-ea"/>
              </a:rPr>
              <a:t>Weekly Resupply Schedule</a:t>
            </a:r>
            <a:endParaRPr lang="en-US" altLang="zh-CN" sz="9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788660" y="1012825"/>
            <a:ext cx="858520" cy="353060"/>
          </a:xfrm>
          <a:prstGeom prst="rect">
            <a:avLst/>
          </a:prstGeom>
          <a:solidFill>
            <a:srgbClr val="7030A0">
              <a:alpha val="21000"/>
            </a:srgbClr>
          </a:solidFill>
        </p:spPr>
        <p:txBody>
          <a:bodyPr wrap="square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900">
                <a:latin typeface="Eras Bold ITC" panose="020B0907030504020204" charset="0"/>
                <a:cs typeface="Eras Bold ITC" panose="020B0907030504020204" charset="0"/>
                <a:sym typeface="+mn-ea"/>
              </a:rPr>
              <a:t>100k residents</a:t>
            </a:r>
            <a:endParaRPr lang="en-US" altLang="zh-CN" sz="9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898640" y="1012825"/>
            <a:ext cx="991235" cy="353060"/>
          </a:xfrm>
          <a:prstGeom prst="rect">
            <a:avLst/>
          </a:prstGeom>
          <a:solidFill>
            <a:srgbClr val="7030A0">
              <a:alpha val="21000"/>
            </a:srgbClr>
          </a:solidFill>
        </p:spPr>
        <p:txBody>
          <a:bodyPr wrap="square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900">
                <a:latin typeface="Eras Bold ITC" panose="020B0907030504020204" charset="0"/>
                <a:cs typeface="Eras Bold ITC" panose="020B0907030504020204" charset="0"/>
                <a:sym typeface="+mn-ea"/>
              </a:rPr>
              <a:t>98% recycling rate</a:t>
            </a:r>
            <a:endParaRPr lang="en-US" altLang="zh-CN" sz="9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cxnSp>
        <p:nvCxnSpPr>
          <p:cNvPr id="58" name="直接箭头连接符 57"/>
          <p:cNvCxnSpPr>
            <a:endCxn id="49" idx="1"/>
          </p:cNvCxnSpPr>
          <p:nvPr/>
        </p:nvCxnSpPr>
        <p:spPr>
          <a:xfrm>
            <a:off x="5045710" y="1536700"/>
            <a:ext cx="3143250" cy="13335"/>
          </a:xfrm>
          <a:prstGeom prst="straightConnector1">
            <a:avLst/>
          </a:prstGeom>
          <a:ln w="25400">
            <a:solidFill>
              <a:schemeClr val="tx1">
                <a:alpha val="99000"/>
              </a:schemeClr>
            </a:solidFill>
            <a:prstDash val="solid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曲线连接符 59"/>
          <p:cNvCxnSpPr>
            <a:stCxn id="57" idx="3"/>
          </p:cNvCxnSpPr>
          <p:nvPr/>
        </p:nvCxnSpPr>
        <p:spPr>
          <a:xfrm flipH="1">
            <a:off x="7500620" y="1189355"/>
            <a:ext cx="389255" cy="652145"/>
          </a:xfrm>
          <a:prstGeom prst="curvedConnector4">
            <a:avLst>
              <a:gd name="adj1" fmla="val -74225"/>
              <a:gd name="adj2" fmla="val 10019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8371840" y="2563495"/>
            <a:ext cx="1214755" cy="337185"/>
          </a:xfrm>
          <a:prstGeom prst="rect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accent4">
                    <a:lumMod val="75000"/>
                  </a:schemeClr>
                </a:solidFill>
                <a:latin typeface="Eras Bold ITC" panose="020B0907030504020204" charset="0"/>
                <a:cs typeface="Eras Bold ITC" panose="020B0907030504020204" charset="0"/>
                <a:sym typeface="+mn-ea"/>
              </a:rPr>
              <a:t>Environmental Impact Index (EII)</a:t>
            </a:r>
            <a:endParaRPr lang="en-US" altLang="zh-CN" sz="900">
              <a:solidFill>
                <a:schemeClr val="accent4">
                  <a:lumMod val="75000"/>
                </a:schemeClr>
              </a:solidFill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388860" y="3070225"/>
            <a:ext cx="800100" cy="368300"/>
          </a:xfrm>
          <a:prstGeom prst="rect">
            <a:avLst/>
          </a:prstGeom>
          <a:solidFill>
            <a:srgbClr val="7030A0">
              <a:alpha val="21000"/>
            </a:srgbClr>
          </a:solidFill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900">
                <a:latin typeface="Eras Bold ITC" panose="020B0907030504020204" charset="0"/>
                <a:cs typeface="Eras Bold ITC" panose="020B0907030504020204" charset="0"/>
                <a:sym typeface="+mn-ea"/>
              </a:rPr>
              <a:t>Pareto Frontier </a:t>
            </a:r>
            <a:endParaRPr lang="en-US" altLang="zh-CN" sz="9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388860" y="2419350"/>
            <a:ext cx="800735" cy="506730"/>
          </a:xfrm>
          <a:prstGeom prst="rect">
            <a:avLst/>
          </a:prstGeom>
          <a:solidFill>
            <a:srgbClr val="7030A0">
              <a:alpha val="21000"/>
            </a:srgbClr>
          </a:solidFill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900">
                <a:latin typeface="Eras Bold ITC" panose="020B0907030504020204" charset="0"/>
                <a:cs typeface="Eras Bold ITC" panose="020B0907030504020204" charset="0"/>
                <a:sym typeface="+mn-ea"/>
              </a:rPr>
              <a:t>Analytic Hierarchy Process</a:t>
            </a:r>
            <a:endParaRPr lang="en-US" altLang="zh-CN" sz="900"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371840" y="2996565"/>
            <a:ext cx="1214755" cy="337185"/>
          </a:xfrm>
          <a:prstGeom prst="rect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900">
                <a:solidFill>
                  <a:schemeClr val="accent4">
                    <a:lumMod val="75000"/>
                  </a:schemeClr>
                </a:solidFill>
                <a:latin typeface="Eras Bold ITC" panose="020B0907030504020204" charset="0"/>
                <a:cs typeface="Eras Bold ITC" panose="020B0907030504020204" charset="0"/>
                <a:sym typeface="+mn-ea"/>
              </a:rPr>
              <a:t>Green Logistics Roadmap</a:t>
            </a:r>
            <a:endParaRPr lang="en-US" altLang="zh-CN" sz="900">
              <a:solidFill>
                <a:schemeClr val="accent4">
                  <a:lumMod val="75000"/>
                </a:schemeClr>
              </a:solidFill>
              <a:latin typeface="Eras Bold ITC" panose="020B0907030504020204" charset="0"/>
              <a:cs typeface="Eras Bold ITC" panose="020B0907030504020204" charset="0"/>
              <a:sym typeface="+mn-ea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8284210" y="2436495"/>
            <a:ext cx="1390650" cy="1016000"/>
          </a:xfrm>
          <a:prstGeom prst="roundRect">
            <a:avLst/>
          </a:prstGeom>
          <a:solidFill>
            <a:srgbClr val="C4FCEF">
              <a:alpha val="22000"/>
            </a:srgbClr>
          </a:solidFill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连接符 65"/>
          <p:cNvCxnSpPr/>
          <p:nvPr/>
        </p:nvCxnSpPr>
        <p:spPr>
          <a:xfrm>
            <a:off x="3431540" y="3542665"/>
            <a:ext cx="2153285" cy="563880"/>
          </a:xfrm>
          <a:prstGeom prst="line">
            <a:avLst/>
          </a:prstGeom>
          <a:ln w="25400"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18" idx="2"/>
          </p:cNvCxnSpPr>
          <p:nvPr/>
        </p:nvCxnSpPr>
        <p:spPr>
          <a:xfrm flipH="1">
            <a:off x="5578475" y="3542665"/>
            <a:ext cx="2052955" cy="557530"/>
          </a:xfrm>
          <a:prstGeom prst="line">
            <a:avLst/>
          </a:prstGeom>
          <a:ln w="25400"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 descr="7b0a202020202263686172745265734964223a20223230343736383131220a7d0a"/>
          <p:cNvGraphicFramePr/>
          <p:nvPr/>
        </p:nvGraphicFramePr>
        <p:xfrm>
          <a:off x="2675890" y="1449070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8&quot;:[2047681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58">
    <a:dk1>
      <a:srgbClr val="000000"/>
    </a:dk1>
    <a:lt1>
      <a:srgbClr val="FFFFFF"/>
    </a:lt1>
    <a:dk2>
      <a:srgbClr val="44546A"/>
    </a:dk2>
    <a:lt2>
      <a:srgbClr val="E7E6E6"/>
    </a:lt2>
    <a:accent1>
      <a:srgbClr val="FF9205"/>
    </a:accent1>
    <a:accent2>
      <a:srgbClr val="EF534C"/>
    </a:accent2>
    <a:accent3>
      <a:srgbClr val="5DB020"/>
    </a:accent3>
    <a:accent4>
      <a:srgbClr val="468ED8"/>
    </a:accent4>
    <a:accent5>
      <a:srgbClr val="7058CA"/>
    </a:accent5>
    <a:accent6>
      <a:srgbClr val="C358CA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2002</Words>
  <Application>WPS 演示</Application>
  <PresentationFormat>宽屏</PresentationFormat>
  <Paragraphs>97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Eras Bold ITC</vt:lpstr>
      <vt:lpstr>微软雅黑</vt:lpstr>
      <vt:lpstr>Inter</vt:lpstr>
      <vt:lpstr>Segoe Print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13</cp:revision>
  <dcterms:created xsi:type="dcterms:W3CDTF">2023-08-09T12:44:00Z</dcterms:created>
  <dcterms:modified xsi:type="dcterms:W3CDTF">2026-02-02T14:56:13Z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3B5D43B5ACF843DABED18647934AD217_12</vt:lpwstr>
  </property>
</Properties>
</file>