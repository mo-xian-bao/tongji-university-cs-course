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</p:sldMasterIdLst>
  <p:notesMasterIdLst>
    <p:notesMasterId r:id="rId23"/>
  </p:notesMasterIdLst>
  <p:handoutMasterIdLst>
    <p:handoutMasterId r:id="rId24"/>
  </p:handoutMasterIdLst>
  <p:sldIdLst>
    <p:sldId id="2657" r:id="rId2"/>
    <p:sldId id="5303" r:id="rId3"/>
    <p:sldId id="5304" r:id="rId4"/>
    <p:sldId id="5316" r:id="rId5"/>
    <p:sldId id="5286" r:id="rId6"/>
    <p:sldId id="5287" r:id="rId7"/>
    <p:sldId id="5288" r:id="rId8"/>
    <p:sldId id="5289" r:id="rId9"/>
    <p:sldId id="5290" r:id="rId10"/>
    <p:sldId id="5291" r:id="rId11"/>
    <p:sldId id="5292" r:id="rId12"/>
    <p:sldId id="5293" r:id="rId13"/>
    <p:sldId id="5305" r:id="rId14"/>
    <p:sldId id="5307" r:id="rId15"/>
    <p:sldId id="5308" r:id="rId16"/>
    <p:sldId id="5309" r:id="rId17"/>
    <p:sldId id="5282" r:id="rId18"/>
    <p:sldId id="5310" r:id="rId19"/>
    <p:sldId id="5311" r:id="rId20"/>
    <p:sldId id="5315" r:id="rId21"/>
    <p:sldId id="5312" r:id="rId22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657"/>
            <p14:sldId id="5303"/>
            <p14:sldId id="5304"/>
            <p14:sldId id="5316"/>
            <p14:sldId id="5286"/>
            <p14:sldId id="5287"/>
            <p14:sldId id="5288"/>
            <p14:sldId id="5289"/>
            <p14:sldId id="5290"/>
            <p14:sldId id="5291"/>
            <p14:sldId id="5292"/>
            <p14:sldId id="5293"/>
            <p14:sldId id="5305"/>
            <p14:sldId id="5307"/>
            <p14:sldId id="5308"/>
            <p14:sldId id="5309"/>
            <p14:sldId id="5282"/>
            <p14:sldId id="5310"/>
            <p14:sldId id="5311"/>
            <p14:sldId id="5315"/>
            <p14:sldId id="5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63" autoAdjust="0"/>
    <p:restoredTop sz="93509" autoAdjust="0"/>
  </p:normalViewPr>
  <p:slideViewPr>
    <p:cSldViewPr>
      <p:cViewPr varScale="1">
        <p:scale>
          <a:sx n="132" d="100"/>
          <a:sy n="132" d="100"/>
        </p:scale>
        <p:origin x="75" y="156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1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pPr>
                <a:defRPr/>
              </a:pPr>
              <a:t>5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3760493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7A9122C-2794-4A95-85D5-67E362F7E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>
            <a:extLst>
              <a:ext uri="{FF2B5EF4-FFF2-40B4-BE49-F238E27FC236}">
                <a16:creationId xmlns:a16="http://schemas.microsoft.com/office/drawing/2014/main" id="{C87527B0-2AEC-439E-9D61-9F881129AF8A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>
            <a:extLst>
              <a:ext uri="{FF2B5EF4-FFF2-40B4-BE49-F238E27FC236}">
                <a16:creationId xmlns:a16="http://schemas.microsoft.com/office/drawing/2014/main" id="{85669494-41B5-4632-B1D9-01C055E75766}"/>
              </a:ext>
            </a:extLst>
          </p:cNvPr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hyperlink" Target="mailto:yichaozhang@tongji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hguan@tongji.edu.cn" TargetMode="External"/><Relationship Id="rId5" Type="http://schemas.openxmlformats.org/officeDocument/2006/relationships/hyperlink" Target="mailto:lwengen@tongji.edu.cn" TargetMode="External"/><Relationship Id="rId4" Type="http://schemas.openxmlformats.org/officeDocument/2006/relationships/hyperlink" Target="https://admis-tongji.github.io/" TargetMode="External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13" Type="http://schemas.openxmlformats.org/officeDocument/2006/relationships/image" Target="../media/image28.jpeg"/><Relationship Id="rId18" Type="http://schemas.openxmlformats.org/officeDocument/2006/relationships/image" Target="../media/image33.jpeg"/><Relationship Id="rId3" Type="http://schemas.openxmlformats.org/officeDocument/2006/relationships/image" Target="../media/image18.png"/><Relationship Id="rId7" Type="http://schemas.openxmlformats.org/officeDocument/2006/relationships/image" Target="../media/image22.jpeg"/><Relationship Id="rId12" Type="http://schemas.openxmlformats.org/officeDocument/2006/relationships/image" Target="../media/image27.jpeg"/><Relationship Id="rId17" Type="http://schemas.openxmlformats.org/officeDocument/2006/relationships/image" Target="../media/image32.png"/><Relationship Id="rId2" Type="http://schemas.openxmlformats.org/officeDocument/2006/relationships/image" Target="../media/image17.jpeg"/><Relationship Id="rId16" Type="http://schemas.openxmlformats.org/officeDocument/2006/relationships/image" Target="../media/image31.jpe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11" Type="http://schemas.openxmlformats.org/officeDocument/2006/relationships/image" Target="../media/image26.jpeg"/><Relationship Id="rId5" Type="http://schemas.openxmlformats.org/officeDocument/2006/relationships/image" Target="../media/image20.jpeg"/><Relationship Id="rId15" Type="http://schemas.openxmlformats.org/officeDocument/2006/relationships/image" Target="../media/image30.png"/><Relationship Id="rId10" Type="http://schemas.openxmlformats.org/officeDocument/2006/relationships/image" Target="../media/image25.jpeg"/><Relationship Id="rId19" Type="http://schemas.openxmlformats.org/officeDocument/2006/relationships/image" Target="../media/image34.jpeg"/><Relationship Id="rId4" Type="http://schemas.openxmlformats.org/officeDocument/2006/relationships/image" Target="../media/image19.jpeg"/><Relationship Id="rId9" Type="http://schemas.openxmlformats.org/officeDocument/2006/relationships/image" Target="../media/image24.jpeg"/><Relationship Id="rId1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pen.oceanbase.com/competition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"/>
            <a:ext cx="2015207" cy="55459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03ED0B6-5F13-43E2-B9A5-1A661161B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717" y="1275606"/>
            <a:ext cx="9156340" cy="1299018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ctr">
              <a:spcBef>
                <a:spcPts val="600"/>
              </a:spcBef>
              <a:defRPr/>
            </a:pPr>
            <a:r>
              <a:rPr lang="zh-CN" altLang="en-US" sz="4000" b="1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Arial" panose="020B0604020202020204" pitchFamily="34" charset="0"/>
              </a:rPr>
              <a:t>数据库系统原理课程设计指南</a:t>
            </a:r>
            <a:endParaRPr lang="en-US" altLang="zh-CN" sz="3200" b="1" dirty="0">
              <a:solidFill>
                <a:prstClr val="black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Arial" panose="020B0604020202020204" pitchFamily="34" charset="0"/>
            </a:endParaRPr>
          </a:p>
          <a:p>
            <a:pPr algn="ctr">
              <a:spcBef>
                <a:spcPts val="600"/>
              </a:spcBef>
              <a:defRPr/>
            </a:pPr>
            <a:r>
              <a:rPr lang="en-US" sz="3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2025</a:t>
            </a:r>
            <a:endParaRPr lang="en-US" sz="3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1B7D39B-45F0-437A-8B0C-9B00CD45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3772555"/>
            <a:ext cx="7776864" cy="455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先进数据与机器智能系统实验室（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ADMIS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buClr>
                <a:srgbClr val="800080"/>
              </a:buClr>
              <a:buSzPct val="90000"/>
            </a:pP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hlinkClick r:id="rId4"/>
              </a:rPr>
              <a:t>https://admis-tongji.github.io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buClr>
                <a:srgbClr val="800080"/>
              </a:buClr>
              <a:buSzPct val="90000"/>
            </a:pP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6224852-4DC0-41FB-BF63-1D74C345E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8881" y="2620427"/>
            <a:ext cx="323419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李文根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/Wengen Li </a:t>
            </a:r>
            <a:endParaRPr lang="en-GB" sz="16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buClr>
                <a:srgbClr val="800080"/>
              </a:buClr>
              <a:buSzPct val="90000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副教授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Associate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Professor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Email: </a:t>
            </a:r>
            <a:r>
              <a:rPr lang="en-GB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hlinkClick r:id="rId5"/>
              </a:rPr>
              <a:t>lwengen@tongji.edu.cn</a:t>
            </a:r>
            <a:endParaRPr lang="de-CH" sz="16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1D7D0A0A-985C-4235-B901-CF9AB579E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6" y="2620427"/>
            <a:ext cx="3019183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关佶红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Jihong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Guan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教授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/Professor 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Email: 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hlinkClick r:id="rId6"/>
              </a:rPr>
              <a:t>jhguan@tongji.edu.cn</a:t>
            </a:r>
            <a:endParaRPr lang="en-GB" altLang="zh-CN" sz="16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5803CA45-CE95-4CE5-86A3-D557A48ED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685" y="2620427"/>
            <a:ext cx="323419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buClr>
                <a:srgbClr val="800080"/>
              </a:buClr>
              <a:buSzPct val="90000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张毅超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Yichao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Zhang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en-GB" sz="16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buClr>
                <a:srgbClr val="800080"/>
              </a:buClr>
              <a:buSzPct val="90000"/>
            </a:pP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副教授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/Ass</a:t>
            </a:r>
            <a:r>
              <a:rPr lang="en-US" altLang="zh-CN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ociate</a:t>
            </a:r>
            <a:r>
              <a:rPr lang="en-GB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Professor</a:t>
            </a:r>
          </a:p>
          <a:p>
            <a:pPr algn="ctr">
              <a:buClr>
                <a:srgbClr val="800080"/>
              </a:buClr>
              <a:buSzPct val="90000"/>
            </a:pPr>
            <a:r>
              <a:rPr lang="en-GB" sz="16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Email: </a:t>
            </a:r>
            <a:r>
              <a:rPr lang="en-GB" sz="16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hlinkClick r:id="rId7"/>
              </a:rPr>
              <a:t>yichaozhang@tongji.edu.cn</a:t>
            </a:r>
            <a:endParaRPr lang="de-CH" sz="16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2AD3EFD-9729-4276-8961-B0D58A5F9AE6}"/>
              </a:ext>
            </a:extLst>
          </p:cNvPr>
          <p:cNvSpPr txBox="1"/>
          <p:nvPr/>
        </p:nvSpPr>
        <p:spPr>
          <a:xfrm>
            <a:off x="3131840" y="4515966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计算机科学与技术学院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4DA7428-E01A-4F3E-990D-25E8F176BE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256" y="123478"/>
            <a:ext cx="4296350" cy="37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6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32E07A-BF59-4E95-965C-A89452FB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54DCD-509A-4643-828E-B102CA0FE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b="1" dirty="0"/>
              <a:t>总体目标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400" dirty="0"/>
              <a:t>加深对数据库系统基础理论知识的理解，提高数据库应用系统设计与开发的实践能力，全面拓展数据库原理课程相关的综合分析和研发能力</a:t>
            </a:r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通过设计实现数据库应用系统，熟悉并灵活运用所学基础理论，掌握数据库应用系统设计方法和开发技术，提高分析问题和解决问题的能力，强化动手能力</a:t>
            </a:r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通过调研前沿课题，了解当前数据管理的发展状态与发展趋势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具体任务</a:t>
            </a:r>
            <a:endParaRPr lang="en-US" altLang="zh-CN" sz="1800" b="1" dirty="0"/>
          </a:p>
          <a:p>
            <a:pPr lvl="1">
              <a:spcBef>
                <a:spcPts val="600"/>
              </a:spcBef>
            </a:pPr>
            <a:r>
              <a:rPr lang="zh-CN" altLang="en-US" sz="1600" b="1" dirty="0">
                <a:solidFill>
                  <a:srgbClr val="C00000"/>
                </a:solidFill>
              </a:rPr>
              <a:t>任务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：数据库应用系统开发（个人）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综合运用数据库理论与技术方法设计一个较完善的、有实际意义的数据库</a:t>
            </a:r>
            <a:endParaRPr lang="en-US" altLang="zh-CN" sz="1400" dirty="0"/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掌握</a:t>
            </a:r>
            <a:r>
              <a:rPr lang="en-US" altLang="zh-CN" sz="1400" dirty="0"/>
              <a:t>MySQL/PostgreSQL/</a:t>
            </a:r>
            <a:r>
              <a:rPr lang="en-US" altLang="zh-CN" sz="1400" dirty="0" err="1"/>
              <a:t>OceanBase</a:t>
            </a:r>
            <a:r>
              <a:rPr lang="en-US" altLang="zh-CN" sz="1400" dirty="0"/>
              <a:t>/</a:t>
            </a:r>
            <a:r>
              <a:rPr lang="en-US" altLang="zh-CN" sz="1400" dirty="0" err="1"/>
              <a:t>openGauss</a:t>
            </a:r>
            <a:r>
              <a:rPr lang="zh-CN" altLang="en-US" sz="1400" dirty="0"/>
              <a:t>等流行数据库管理系统的应用与开发技术</a:t>
            </a:r>
            <a:endParaRPr lang="en-US" altLang="zh-CN" sz="1400" dirty="0"/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利用高级语言开发完整的数据库应用系统</a:t>
            </a:r>
          </a:p>
          <a:p>
            <a:pPr lvl="1">
              <a:spcBef>
                <a:spcPts val="600"/>
              </a:spcBef>
            </a:pPr>
            <a:r>
              <a:rPr lang="zh-CN" altLang="en-US" sz="1600" b="1" dirty="0">
                <a:solidFill>
                  <a:srgbClr val="C00000"/>
                </a:solidFill>
              </a:rPr>
              <a:t>任务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：数据管理前沿技术调研（小组）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>
              <a:spcBef>
                <a:spcPts val="600"/>
              </a:spcBef>
            </a:pPr>
            <a:r>
              <a:rPr lang="zh-CN" altLang="en-US" sz="1400" dirty="0"/>
              <a:t>选择一个数据管理前沿课题进行调研分析，撰写调研报告</a:t>
            </a:r>
            <a:endParaRPr lang="en-US" altLang="zh-CN" sz="1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076581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D81624-45A8-4F41-A7E5-51EE20B22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数据库应用系统开发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4AF6E-604D-4B9F-9A7D-D9553C421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b="1" dirty="0"/>
              <a:t>数据库应用开发选题要求</a:t>
            </a:r>
            <a:endParaRPr lang="en-US" altLang="zh-CN" b="1" dirty="0"/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1</a:t>
            </a:r>
            <a:r>
              <a:rPr lang="zh-CN" altLang="en-US" sz="1600" dirty="0"/>
              <a:t>）围绕“</a:t>
            </a:r>
            <a:r>
              <a:rPr lang="zh-CN" altLang="en-US" sz="1600" b="1" dirty="0">
                <a:solidFill>
                  <a:srgbClr val="C00000"/>
                </a:solidFill>
              </a:rPr>
              <a:t>海洋计算</a:t>
            </a:r>
            <a:r>
              <a:rPr lang="zh-CN" altLang="en-US" sz="1600" dirty="0"/>
              <a:t>”或“</a:t>
            </a:r>
            <a:r>
              <a:rPr lang="zh-CN" altLang="en-US" sz="1600" b="1" dirty="0">
                <a:solidFill>
                  <a:srgbClr val="C00000"/>
                </a:solidFill>
              </a:rPr>
              <a:t>城市计算</a:t>
            </a:r>
            <a:r>
              <a:rPr lang="zh-CN" altLang="en-US" sz="1600" dirty="0"/>
              <a:t>”的合适题目，如海洋遥感图像检索系统、海洋表面温度预测平台、船舶轨迹查询系统、台风监测系统、城市交通状态查询系统、城市犯罪事件管理平台；</a:t>
            </a:r>
            <a:r>
              <a:rPr lang="en-US" altLang="zh-CN" sz="1600" dirty="0"/>
              <a:t>2</a:t>
            </a:r>
            <a:r>
              <a:rPr lang="zh-CN" altLang="en-US" sz="1600" dirty="0"/>
              <a:t>）或结合个人兴趣选择</a:t>
            </a:r>
            <a:r>
              <a:rPr lang="zh-CN" altLang="en-US" sz="1600" b="1" dirty="0">
                <a:solidFill>
                  <a:srgbClr val="C00000"/>
                </a:solidFill>
              </a:rPr>
              <a:t>其他方向的题目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题目自拟，具有一定新颖性，</a:t>
            </a:r>
            <a:r>
              <a:rPr lang="en-US" altLang="zh-CN" sz="1600" b="1" dirty="0">
                <a:solidFill>
                  <a:srgbClr val="C00000"/>
                </a:solidFill>
              </a:rPr>
              <a:t>10</a:t>
            </a:r>
            <a:r>
              <a:rPr lang="zh-CN" altLang="en-US" sz="1600" b="1" dirty="0">
                <a:solidFill>
                  <a:srgbClr val="C00000"/>
                </a:solidFill>
              </a:rPr>
              <a:t>月</a:t>
            </a:r>
            <a:r>
              <a:rPr lang="en-US" altLang="zh-CN" sz="1600" b="1" dirty="0">
                <a:solidFill>
                  <a:srgbClr val="C00000"/>
                </a:solidFill>
              </a:rPr>
              <a:t>10</a:t>
            </a:r>
            <a:r>
              <a:rPr lang="zh-CN" altLang="en-US" sz="1600" b="1" dirty="0">
                <a:solidFill>
                  <a:srgbClr val="C00000"/>
                </a:solidFill>
              </a:rPr>
              <a:t>日</a:t>
            </a:r>
            <a:r>
              <a:rPr lang="zh-CN" altLang="en-US" sz="1600" dirty="0"/>
              <a:t>前在</a:t>
            </a:r>
            <a:r>
              <a:rPr lang="en-US" altLang="zh-CN" sz="1600" dirty="0"/>
              <a:t>Canvas</a:t>
            </a:r>
            <a:r>
              <a:rPr lang="zh-CN" altLang="en-US" sz="1600" dirty="0"/>
              <a:t>中录入最新题目（可以沿用上学期大作业拟定的题目）</a:t>
            </a:r>
            <a:endParaRPr lang="en-US" altLang="zh-CN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53914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E29C9-19A2-4816-A9BB-2655E5DD0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海洋计算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FE833F1-AB22-4DD7-90E4-FCCD49D95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807933"/>
            <a:ext cx="4601998" cy="4335567"/>
          </a:xfrm>
          <a:prstGeom prst="rect">
            <a:avLst/>
          </a:prstGeom>
        </p:spPr>
      </p:pic>
      <p:pic>
        <p:nvPicPr>
          <p:cNvPr id="1026" name="Picture 2" descr="https://i-blog.csdnimg.cn/blog_migrate/c39463616327c88f85b50ce16cb4bdbd.png">
            <a:extLst>
              <a:ext uri="{FF2B5EF4-FFF2-40B4-BE49-F238E27FC236}">
                <a16:creationId xmlns:a16="http://schemas.microsoft.com/office/drawing/2014/main" id="{67AD12D0-74F9-4C26-A3F0-279A73381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411" y="843558"/>
            <a:ext cx="2241163" cy="141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bkimg.cdn.bcebos.com/pic/500fd9f9d72a6059252d7b06a061239b033b5bb50c2b">
            <a:extLst>
              <a:ext uri="{FF2B5EF4-FFF2-40B4-BE49-F238E27FC236}">
                <a16:creationId xmlns:a16="http://schemas.microsoft.com/office/drawing/2014/main" id="{A0EA1661-3C9A-4BBF-BB8E-64289FFDA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196" y="843558"/>
            <a:ext cx="1673308" cy="141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1F93FFB-B460-4820-81A0-09CB49A1C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7411" y="2283718"/>
            <a:ext cx="2231816" cy="14549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92367A-A183-4EC2-AFA2-B76385E94EA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449" r="6898"/>
          <a:stretch/>
        </p:blipFill>
        <p:spPr>
          <a:xfrm>
            <a:off x="7435196" y="2283718"/>
            <a:ext cx="1668911" cy="14549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52D1DD-4A56-4E64-8BBB-9922CB7799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7411" y="3755194"/>
            <a:ext cx="2196300" cy="13883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25C465B-6DB0-4EC0-9D99-E744D79B7C7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227" y="3809219"/>
            <a:ext cx="1707006" cy="1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31307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310BD-0D45-45F3-9AC9-43C0DA945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海洋计算：主要研究问题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F746CC-A280-4640-8A07-5C7C293C3744}"/>
              </a:ext>
            </a:extLst>
          </p:cNvPr>
          <p:cNvSpPr txBox="1"/>
          <p:nvPr/>
        </p:nvSpPr>
        <p:spPr>
          <a:xfrm>
            <a:off x="35496" y="4773488"/>
            <a:ext cx="903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Hanchen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Yang,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Jiannong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Cao,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Wengen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Shuyu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Wang, Hui Li,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Jihong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Guan, </a:t>
            </a:r>
            <a:r>
              <a:rPr lang="en-US" altLang="zh-CN" sz="1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Shuigeng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Zhou. Spatial-Temporal Data Mining for Ocean Science: Data, Methodologies and Opportunities. </a:t>
            </a:r>
            <a:r>
              <a:rPr lang="en-US" altLang="zh-CN" sz="1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ACM Transactions on Knowledge Discovery from Data (TKDD)</a:t>
            </a: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19(7): 140:1-140:47, 2025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D69342-D89F-4638-B69B-B248A1B44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731498"/>
            <a:ext cx="7056784" cy="407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909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9A93CF-9235-47B4-A89D-556650FB3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可用海洋数据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36DE39D-6702-4A9D-913E-CA402A464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71550"/>
            <a:ext cx="7498980" cy="430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4616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E0CBC-0F4C-43B9-B694-DE7C4495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2DB40-2CD3-4F77-801B-7604304D4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城市计算</a:t>
            </a:r>
            <a:r>
              <a:rPr lang="en-US" altLang="zh-CN" b="1" dirty="0"/>
              <a:t>(Urban Computing) </a:t>
            </a:r>
          </a:p>
          <a:p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F6AB302-D8A5-434B-B71E-5E9F3D281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75606"/>
            <a:ext cx="3312368" cy="3642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05117bca-23b1-11eb-a27c-2ae970bafb9d" descr="05117bca-23b1-11eb-a27c-2ae970bafb9d">
            <a:hlinkClick r:id="" action="ppaction://media"/>
            <a:extLst>
              <a:ext uri="{FF2B5EF4-FFF2-40B4-BE49-F238E27FC236}">
                <a16:creationId xmlns:a16="http://schemas.microsoft.com/office/drawing/2014/main" id="{16F65788-E751-4C86-A76A-9AF1C75C0C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52577" y="1581752"/>
            <a:ext cx="4739903" cy="268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516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3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5CE9C-89F6-4C76-9871-8D944C5D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</a:t>
            </a:r>
          </a:p>
        </p:txBody>
      </p:sp>
      <p:pic>
        <p:nvPicPr>
          <p:cNvPr id="4" name="Picture 2" descr="baidi">
            <a:extLst>
              <a:ext uri="{FF2B5EF4-FFF2-40B4-BE49-F238E27FC236}">
                <a16:creationId xmlns:a16="http://schemas.microsoft.com/office/drawing/2014/main" id="{9A8BB974-2FFD-4AFA-9C42-270DD59958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40225"/>
            <a:ext cx="9144000" cy="2884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266DCB0-C2E7-4706-ABBE-C2B561F2FA80}"/>
              </a:ext>
            </a:extLst>
          </p:cNvPr>
          <p:cNvSpPr/>
          <p:nvPr/>
        </p:nvSpPr>
        <p:spPr>
          <a:xfrm>
            <a:off x="339779" y="987574"/>
            <a:ext cx="4572000" cy="133453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[1]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百度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城市大脑白皮书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[2]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阿里巴巴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区块链赋能新型智慧城市白皮书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[3]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京东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云智能城市白皮书</a:t>
            </a:r>
            <a:endParaRPr lang="en-US" altLang="zh-CN" kern="0" dirty="0">
              <a:solidFill>
                <a:srgbClr val="000000"/>
              </a:solidFill>
              <a:latin typeface="宋体" panose="02010600030101010101" pitchFamily="2" charset="-122"/>
              <a:cs typeface="Arial" panose="020B0604020202090204"/>
              <a:sym typeface="Arial" panose="020B0604020202090204"/>
            </a:endParaRP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zh-CN" altLang="en-US" kern="0" dirty="0">
              <a:solidFill>
                <a:srgbClr val="000000"/>
              </a:solidFill>
              <a:latin typeface="宋体" panose="02010600030101010101" pitchFamily="2" charset="-122"/>
              <a:cs typeface="Arial" panose="020B0604020202090204"/>
              <a:sym typeface="Arial" panose="020B060402020209020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0787C5-2829-446C-B86C-FDF5BBE713A4}"/>
              </a:ext>
            </a:extLst>
          </p:cNvPr>
          <p:cNvSpPr/>
          <p:nvPr/>
        </p:nvSpPr>
        <p:spPr>
          <a:xfrm>
            <a:off x="4338917" y="987574"/>
            <a:ext cx="4572000" cy="133453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[4] 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中国智能城市发展战略与策略研究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[5] 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城市交通数字化转型白皮书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[6] </a:t>
            </a:r>
            <a:r>
              <a:rPr lang="zh-CN" altLang="en-US" b="1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赛迪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白皮书：</a:t>
            </a:r>
            <a:r>
              <a:rPr lang="en-US" altLang="zh-CN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2020</a:t>
            </a:r>
            <a:r>
              <a:rPr lang="zh-CN" altLang="en-US" kern="0" dirty="0">
                <a:solidFill>
                  <a:srgbClr val="000000"/>
                </a:solidFill>
                <a:latin typeface="宋体" panose="02010600030101010101" pitchFamily="2" charset="-122"/>
                <a:cs typeface="Arial" panose="020B0604020202090204"/>
                <a:sym typeface="Arial" panose="020B0604020202090204"/>
              </a:rPr>
              <a:t>城市新基建布局与发展白皮书</a:t>
            </a:r>
          </a:p>
          <a:p>
            <a:pPr defTabSz="914378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zh-CN" altLang="en-US" kern="0" dirty="0">
              <a:solidFill>
                <a:srgbClr val="000000"/>
              </a:solidFill>
              <a:latin typeface="宋体" panose="02010600030101010101" pitchFamily="2" charset="-122"/>
              <a:cs typeface="Arial" panose="020B0604020202090204"/>
              <a:sym typeface="Arial" panose="020B0604020202090204"/>
            </a:endParaRPr>
          </a:p>
        </p:txBody>
      </p:sp>
    </p:spTree>
    <p:extLst>
      <p:ext uri="{BB962C8B-B14F-4D97-AF65-F5344CB8AC3E}">
        <p14:creationId xmlns:p14="http://schemas.microsoft.com/office/powerpoint/2010/main" val="8591307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7B72F-E021-47ED-8BE7-50AFE25DB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多源城市交通数据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977F222-E25F-4677-BA9B-769B6437DE28}"/>
              </a:ext>
            </a:extLst>
          </p:cNvPr>
          <p:cNvGrpSpPr/>
          <p:nvPr/>
        </p:nvGrpSpPr>
        <p:grpSpPr>
          <a:xfrm>
            <a:off x="3163299" y="1400226"/>
            <a:ext cx="2631712" cy="2643012"/>
            <a:chOff x="2871531" y="1690301"/>
            <a:chExt cx="3508949" cy="3524016"/>
          </a:xfrm>
        </p:grpSpPr>
        <p:sp>
          <p:nvSpPr>
            <p:cNvPr id="5" name="任意多边形 15">
              <a:extLst>
                <a:ext uri="{FF2B5EF4-FFF2-40B4-BE49-F238E27FC236}">
                  <a16:creationId xmlns:a16="http://schemas.microsoft.com/office/drawing/2014/main" id="{48310261-BDE3-4FFE-ABED-AF809E848A95}"/>
                </a:ext>
              </a:extLst>
            </p:cNvPr>
            <p:cNvSpPr/>
            <p:nvPr/>
          </p:nvSpPr>
          <p:spPr>
            <a:xfrm>
              <a:off x="2871531" y="1690301"/>
              <a:ext cx="1714870" cy="1714870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0" y="1714870"/>
                  </a:moveTo>
                  <a:cubicBezTo>
                    <a:pt x="0" y="767773"/>
                    <a:pt x="767773" y="0"/>
                    <a:pt x="1714870" y="0"/>
                  </a:cubicBezTo>
                  <a:lnTo>
                    <a:pt x="1714870" y="1714870"/>
                  </a:lnTo>
                  <a:lnTo>
                    <a:pt x="0" y="171487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472718" tIns="472718" rIns="96012" bIns="96012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交通基础数据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Basic Data</a:t>
              </a:r>
            </a:p>
          </p:txBody>
        </p:sp>
        <p:sp>
          <p:nvSpPr>
            <p:cNvPr id="6" name="任意多边形 16">
              <a:extLst>
                <a:ext uri="{FF2B5EF4-FFF2-40B4-BE49-F238E27FC236}">
                  <a16:creationId xmlns:a16="http://schemas.microsoft.com/office/drawing/2014/main" id="{7AACF0FF-635D-4DE4-A1E1-FE29490DF84A}"/>
                </a:ext>
              </a:extLst>
            </p:cNvPr>
            <p:cNvSpPr/>
            <p:nvPr/>
          </p:nvSpPr>
          <p:spPr>
            <a:xfrm>
              <a:off x="4665610" y="1690301"/>
              <a:ext cx="1714870" cy="1714870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0" y="0"/>
                  </a:moveTo>
                  <a:cubicBezTo>
                    <a:pt x="947097" y="0"/>
                    <a:pt x="1714870" y="767773"/>
                    <a:pt x="1714870" y="1714870"/>
                  </a:cubicBezTo>
                  <a:lnTo>
                    <a:pt x="0" y="1714870"/>
                  </a:lnTo>
                  <a:lnTo>
                    <a:pt x="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-7067804"/>
                <a:satOff val="11885"/>
                <a:lumOff val="5752"/>
                <a:alphaOff val="0"/>
              </a:schemeClr>
            </a:fillRef>
            <a:effectRef idx="1">
              <a:schemeClr val="accent5">
                <a:hueOff val="-7067804"/>
                <a:satOff val="11885"/>
                <a:lumOff val="5752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96012" tIns="472718" rIns="472718" bIns="96012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动态运行数据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Dynamic Data</a:t>
              </a:r>
            </a:p>
          </p:txBody>
        </p:sp>
        <p:sp>
          <p:nvSpPr>
            <p:cNvPr id="7" name="任意多边形 20">
              <a:extLst>
                <a:ext uri="{FF2B5EF4-FFF2-40B4-BE49-F238E27FC236}">
                  <a16:creationId xmlns:a16="http://schemas.microsoft.com/office/drawing/2014/main" id="{C13E1B0C-761A-4FC9-81DB-1BB2220A8C0D}"/>
                </a:ext>
              </a:extLst>
            </p:cNvPr>
            <p:cNvSpPr/>
            <p:nvPr/>
          </p:nvSpPr>
          <p:spPr>
            <a:xfrm>
              <a:off x="4665610" y="3499446"/>
              <a:ext cx="1714870" cy="1714871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1714870" y="0"/>
                  </a:moveTo>
                  <a:cubicBezTo>
                    <a:pt x="1714870" y="947097"/>
                    <a:pt x="947097" y="1714870"/>
                    <a:pt x="0" y="1714870"/>
                  </a:cubicBezTo>
                  <a:lnTo>
                    <a:pt x="0" y="0"/>
                  </a:lnTo>
                  <a:lnTo>
                    <a:pt x="1714870" y="0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hueOff val="-14135609"/>
                <a:satOff val="23771"/>
                <a:lumOff val="11503"/>
                <a:alphaOff val="0"/>
              </a:schemeClr>
            </a:fillRef>
            <a:effectRef idx="1">
              <a:schemeClr val="accent5">
                <a:hueOff val="-14135609"/>
                <a:satOff val="23771"/>
                <a:lumOff val="11503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96012" tIns="96013" rIns="472717" bIns="472718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交通调查数据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Census Data</a:t>
              </a:r>
            </a:p>
          </p:txBody>
        </p:sp>
        <p:sp>
          <p:nvSpPr>
            <p:cNvPr id="8" name="任意多边形 23">
              <a:extLst>
                <a:ext uri="{FF2B5EF4-FFF2-40B4-BE49-F238E27FC236}">
                  <a16:creationId xmlns:a16="http://schemas.microsoft.com/office/drawing/2014/main" id="{D36CB4E7-9302-4528-93D0-DFD493A47A91}"/>
                </a:ext>
              </a:extLst>
            </p:cNvPr>
            <p:cNvSpPr/>
            <p:nvPr/>
          </p:nvSpPr>
          <p:spPr>
            <a:xfrm>
              <a:off x="2871531" y="3484380"/>
              <a:ext cx="1714870" cy="1714870"/>
            </a:xfrm>
            <a:custGeom>
              <a:avLst/>
              <a:gdLst>
                <a:gd name="connsiteX0" fmla="*/ 0 w 1714870"/>
                <a:gd name="connsiteY0" fmla="*/ 1714870 h 1714870"/>
                <a:gd name="connsiteX1" fmla="*/ 1714870 w 1714870"/>
                <a:gd name="connsiteY1" fmla="*/ 0 h 1714870"/>
                <a:gd name="connsiteX2" fmla="*/ 1714870 w 1714870"/>
                <a:gd name="connsiteY2" fmla="*/ 1714870 h 1714870"/>
                <a:gd name="connsiteX3" fmla="*/ 0 w 1714870"/>
                <a:gd name="connsiteY3" fmla="*/ 1714870 h 171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4870" h="1714870">
                  <a:moveTo>
                    <a:pt x="1714870" y="1714870"/>
                  </a:moveTo>
                  <a:cubicBezTo>
                    <a:pt x="767773" y="1714870"/>
                    <a:pt x="0" y="947097"/>
                    <a:pt x="0" y="0"/>
                  </a:cubicBezTo>
                  <a:lnTo>
                    <a:pt x="1714870" y="0"/>
                  </a:lnTo>
                  <a:lnTo>
                    <a:pt x="1714870" y="171487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hueOff val="3257024"/>
                    <a:satOff val="11196"/>
                    <a:lumOff val="-53726"/>
                    <a:alphaOff val="0"/>
                    <a:tint val="50000"/>
                    <a:satMod val="300000"/>
                  </a:schemeClr>
                </a:gs>
                <a:gs pos="35000">
                  <a:schemeClr val="accent5">
                    <a:hueOff val="3257024"/>
                    <a:satOff val="11196"/>
                    <a:lumOff val="-53726"/>
                    <a:alphaOff val="0"/>
                    <a:tint val="37000"/>
                    <a:satMod val="300000"/>
                  </a:schemeClr>
                </a:gs>
                <a:gs pos="3325">
                  <a:srgbClr val="AEAEE2"/>
                </a:gs>
                <a:gs pos="100000">
                  <a:schemeClr val="accent5">
                    <a:hueOff val="3257024"/>
                    <a:satOff val="11196"/>
                    <a:lumOff val="-53726"/>
                    <a:alphaOff val="0"/>
                    <a:tint val="15000"/>
                    <a:satMod val="350000"/>
                  </a:schemeClr>
                </a:gs>
              </a:gsLst>
            </a:gradFill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rgbClr r="0" g="0" b="0"/>
            </a:fillRef>
            <a:effectRef idx="1">
              <a:schemeClr val="accent5">
                <a:hueOff val="-21203412"/>
                <a:satOff val="35656"/>
                <a:lumOff val="17255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472718" tIns="96012" rIns="96012" bIns="472718" numCol="1" spcCol="1270" anchor="ctr" anchorCtr="0">
              <a:noAutofit/>
            </a:bodyPr>
            <a:lstStyle/>
            <a:p>
              <a:pPr marL="0" marR="0" lvl="0" indent="0" algn="ctr" defTabSz="600075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城市活动数据</a:t>
              </a:r>
              <a:r>
                <a:rPr kumimoji="0" lang="en-US" altLang="en-US" sz="135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Context Data</a:t>
              </a:r>
            </a:p>
          </p:txBody>
        </p:sp>
        <p:sp>
          <p:nvSpPr>
            <p:cNvPr id="9" name="环形箭头 25">
              <a:extLst>
                <a:ext uri="{FF2B5EF4-FFF2-40B4-BE49-F238E27FC236}">
                  <a16:creationId xmlns:a16="http://schemas.microsoft.com/office/drawing/2014/main" id="{911E2002-F83D-4D10-8194-BC3BBC29342A}"/>
                </a:ext>
              </a:extLst>
            </p:cNvPr>
            <p:cNvSpPr/>
            <p:nvPr/>
          </p:nvSpPr>
          <p:spPr>
            <a:xfrm>
              <a:off x="4338023" y="3133312"/>
              <a:ext cx="592085" cy="514857"/>
            </a:xfrm>
            <a:prstGeom prst="circularArrow">
              <a:avLst/>
            </a:pr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环形箭头 26">
              <a:extLst>
                <a:ext uri="{FF2B5EF4-FFF2-40B4-BE49-F238E27FC236}">
                  <a16:creationId xmlns:a16="http://schemas.microsoft.com/office/drawing/2014/main" id="{61A20AE8-4BE2-4EE7-83E7-350023DAC237}"/>
                </a:ext>
              </a:extLst>
            </p:cNvPr>
            <p:cNvSpPr/>
            <p:nvPr/>
          </p:nvSpPr>
          <p:spPr>
            <a:xfrm rot="10800000">
              <a:off x="4343307" y="3231529"/>
              <a:ext cx="592085" cy="514857"/>
            </a:xfrm>
            <a:prstGeom prst="circularArrow">
              <a:avLst/>
            </a:prstGeom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1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5">
                <a:tint val="4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F50AB88-B6DD-4CF7-973B-3AB59341F2A6}"/>
              </a:ext>
            </a:extLst>
          </p:cNvPr>
          <p:cNvGrpSpPr/>
          <p:nvPr/>
        </p:nvGrpSpPr>
        <p:grpSpPr>
          <a:xfrm>
            <a:off x="1500513" y="930702"/>
            <a:ext cx="2501675" cy="971333"/>
            <a:chOff x="86894" y="1044256"/>
            <a:chExt cx="3335567" cy="1295110"/>
          </a:xfrm>
        </p:grpSpPr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69E75A1E-8311-48BD-B66B-92F4176A07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98" y="1044256"/>
              <a:ext cx="1192308" cy="713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3">
              <a:extLst>
                <a:ext uri="{FF2B5EF4-FFF2-40B4-BE49-F238E27FC236}">
                  <a16:creationId xmlns:a16="http://schemas.microsoft.com/office/drawing/2014/main" id="{D4DD42F0-043B-4BE2-A5A6-DF0A3A22A3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2993" y="1047645"/>
              <a:ext cx="1288971" cy="7335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3EF1ECD-7152-400C-8BF1-0BA97C385B2D}"/>
                </a:ext>
              </a:extLst>
            </p:cNvPr>
            <p:cNvSpPr/>
            <p:nvPr/>
          </p:nvSpPr>
          <p:spPr>
            <a:xfrm>
              <a:off x="86894" y="1822302"/>
              <a:ext cx="3240359" cy="5170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基础设施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-简" panose="00000500000000000000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Infrastructure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5" name="Picture 11">
              <a:extLst>
                <a:ext uri="{FF2B5EF4-FFF2-40B4-BE49-F238E27FC236}">
                  <a16:creationId xmlns:a16="http://schemas.microsoft.com/office/drawing/2014/main" id="{3E54A5C6-0132-49F2-B336-D86AF48E3C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51" r="13581"/>
            <a:stretch/>
          </p:blipFill>
          <p:spPr bwMode="auto">
            <a:xfrm>
              <a:off x="2593988" y="1085877"/>
              <a:ext cx="828473" cy="7693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E99FFFBF-400A-473C-A5FD-A5E9BF7CC1A6}"/>
              </a:ext>
            </a:extLst>
          </p:cNvPr>
          <p:cNvGrpSpPr/>
          <p:nvPr/>
        </p:nvGrpSpPr>
        <p:grpSpPr>
          <a:xfrm>
            <a:off x="1133889" y="1900509"/>
            <a:ext cx="2056769" cy="991521"/>
            <a:chOff x="185997" y="2526558"/>
            <a:chExt cx="2742358" cy="1322028"/>
          </a:xfrm>
        </p:grpSpPr>
        <p:pic>
          <p:nvPicPr>
            <p:cNvPr id="17" name="Picture 9">
              <a:extLst>
                <a:ext uri="{FF2B5EF4-FFF2-40B4-BE49-F238E27FC236}">
                  <a16:creationId xmlns:a16="http://schemas.microsoft.com/office/drawing/2014/main" id="{A690B708-470F-4B2C-8F4F-5ED5A4BEA5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97" y="2526558"/>
              <a:ext cx="951497" cy="656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78D29F5C-5ACB-46F6-846E-398CAC4082D2}"/>
                </a:ext>
              </a:extLst>
            </p:cNvPr>
            <p:cNvSpPr/>
            <p:nvPr/>
          </p:nvSpPr>
          <p:spPr>
            <a:xfrm>
              <a:off x="320514" y="3233033"/>
              <a:ext cx="2607841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车辆和人员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Vehicles and Employees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9" name="Picture 10">
              <a:extLst>
                <a:ext uri="{FF2B5EF4-FFF2-40B4-BE49-F238E27FC236}">
                  <a16:creationId xmlns:a16="http://schemas.microsoft.com/office/drawing/2014/main" id="{835B349B-F3FC-4665-99A2-E21B80C67C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310"/>
            <a:stretch/>
          </p:blipFill>
          <p:spPr bwMode="auto">
            <a:xfrm>
              <a:off x="1137494" y="2556064"/>
              <a:ext cx="916952" cy="656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13">
              <a:extLst>
                <a:ext uri="{FF2B5EF4-FFF2-40B4-BE49-F238E27FC236}">
                  <a16:creationId xmlns:a16="http://schemas.microsoft.com/office/drawing/2014/main" id="{5ADE8914-8393-48A9-83F9-2C8C612A2F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4446" y="2556064"/>
              <a:ext cx="871269" cy="6858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48D7023-1B8D-453D-9F75-F3B53301A782}"/>
              </a:ext>
            </a:extLst>
          </p:cNvPr>
          <p:cNvGrpSpPr/>
          <p:nvPr/>
        </p:nvGrpSpPr>
        <p:grpSpPr>
          <a:xfrm>
            <a:off x="5854417" y="2024900"/>
            <a:ext cx="2060138" cy="1060183"/>
            <a:chOff x="6204091" y="1787687"/>
            <a:chExt cx="2317084" cy="1413577"/>
          </a:xfrm>
        </p:grpSpPr>
        <p:pic>
          <p:nvPicPr>
            <p:cNvPr id="22" name="Picture 5">
              <a:extLst>
                <a:ext uri="{FF2B5EF4-FFF2-40B4-BE49-F238E27FC236}">
                  <a16:creationId xmlns:a16="http://schemas.microsoft.com/office/drawing/2014/main" id="{25385E51-0F79-4D54-B7A8-D22E6E56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87868" y="1787687"/>
              <a:ext cx="1139673" cy="758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6">
              <a:extLst>
                <a:ext uri="{FF2B5EF4-FFF2-40B4-BE49-F238E27FC236}">
                  <a16:creationId xmlns:a16="http://schemas.microsoft.com/office/drawing/2014/main" id="{1F7CABFF-FD26-4980-B0F8-FBD8234918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0303" y="1812472"/>
              <a:ext cx="1000130" cy="7538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矩形 16">
              <a:extLst>
                <a:ext uri="{FF2B5EF4-FFF2-40B4-BE49-F238E27FC236}">
                  <a16:creationId xmlns:a16="http://schemas.microsoft.com/office/drawing/2014/main" id="{B871528E-E00E-4BDF-8285-48EEFE35D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4091" y="2585711"/>
              <a:ext cx="2317084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交通行为数据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Behavior Data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45F17BA-F55B-456B-B2BC-F2F31DE80112}"/>
              </a:ext>
            </a:extLst>
          </p:cNvPr>
          <p:cNvGrpSpPr/>
          <p:nvPr/>
        </p:nvGrpSpPr>
        <p:grpSpPr>
          <a:xfrm>
            <a:off x="4975507" y="915566"/>
            <a:ext cx="2447749" cy="1136849"/>
            <a:chOff x="4904137" y="164502"/>
            <a:chExt cx="3263665" cy="1515798"/>
          </a:xfrm>
        </p:grpSpPr>
        <p:pic>
          <p:nvPicPr>
            <p:cNvPr id="26" name="Picture 2" descr="http://t3.baidu.com/it/u=3275248327,1018003636&amp;fm=11&amp;gp=0.jpg">
              <a:extLst>
                <a:ext uri="{FF2B5EF4-FFF2-40B4-BE49-F238E27FC236}">
                  <a16:creationId xmlns:a16="http://schemas.microsoft.com/office/drawing/2014/main" id="{3F0ACAA0-CB62-468D-A707-5CA8A9941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4138" y="188497"/>
              <a:ext cx="1074245" cy="814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矩形 16">
              <a:extLst>
                <a:ext uri="{FF2B5EF4-FFF2-40B4-BE49-F238E27FC236}">
                  <a16:creationId xmlns:a16="http://schemas.microsoft.com/office/drawing/2014/main" id="{1962BB47-82AD-4C6D-9F6C-2E8B455FE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4137" y="1064747"/>
              <a:ext cx="3263665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交通检测数据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Detection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 Devices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9ADFAC87-A0F5-4F54-AFED-52B0132373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6321" y="215435"/>
              <a:ext cx="1050155" cy="787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7">
              <a:extLst>
                <a:ext uri="{FF2B5EF4-FFF2-40B4-BE49-F238E27FC236}">
                  <a16:creationId xmlns:a16="http://schemas.microsoft.com/office/drawing/2014/main" id="{21C57471-13F4-4693-AD6B-20D0A87764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6475" y="164502"/>
              <a:ext cx="1111327" cy="833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25F3B6E-5B66-4DDB-A1F5-522CB40E18CE}"/>
              </a:ext>
            </a:extLst>
          </p:cNvPr>
          <p:cNvGrpSpPr/>
          <p:nvPr/>
        </p:nvGrpSpPr>
        <p:grpSpPr>
          <a:xfrm>
            <a:off x="1072326" y="3028286"/>
            <a:ext cx="2448223" cy="1120023"/>
            <a:chOff x="16365" y="4083960"/>
            <a:chExt cx="3264297" cy="1493364"/>
          </a:xfrm>
        </p:grpSpPr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A1FD0C4A-22AA-4157-82D4-420A54421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1289" y="4083960"/>
              <a:ext cx="866044" cy="866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3">
              <a:extLst>
                <a:ext uri="{FF2B5EF4-FFF2-40B4-BE49-F238E27FC236}">
                  <a16:creationId xmlns:a16="http://schemas.microsoft.com/office/drawing/2014/main" id="{22D2ADAD-DC73-4DCF-92A9-B1493B6A3C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997" y="4117195"/>
              <a:ext cx="1946705" cy="748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矩形 16">
              <a:extLst>
                <a:ext uri="{FF2B5EF4-FFF2-40B4-BE49-F238E27FC236}">
                  <a16:creationId xmlns:a16="http://schemas.microsoft.com/office/drawing/2014/main" id="{72E59E77-5B3B-4B2E-9E9C-73CFCB157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65" y="4961771"/>
              <a:ext cx="3264297" cy="6155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人口、土地、经济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Population, Land, 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E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conomics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E1CF37F-9DD7-4BE3-A486-80A669B99B9A}"/>
              </a:ext>
            </a:extLst>
          </p:cNvPr>
          <p:cNvGrpSpPr/>
          <p:nvPr/>
        </p:nvGrpSpPr>
        <p:grpSpPr>
          <a:xfrm>
            <a:off x="675091" y="4179542"/>
            <a:ext cx="3608877" cy="592368"/>
            <a:chOff x="-532036" y="5326715"/>
            <a:chExt cx="4811837" cy="813982"/>
          </a:xfrm>
        </p:grpSpPr>
        <p:pic>
          <p:nvPicPr>
            <p:cNvPr id="35" name="Picture 1">
              <a:extLst>
                <a:ext uri="{FF2B5EF4-FFF2-40B4-BE49-F238E27FC236}">
                  <a16:creationId xmlns:a16="http://schemas.microsoft.com/office/drawing/2014/main" id="{88FEA676-B863-4581-A7CA-C3FBB82688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1050" y="5352327"/>
              <a:ext cx="859518" cy="730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5">
              <a:extLst>
                <a:ext uri="{FF2B5EF4-FFF2-40B4-BE49-F238E27FC236}">
                  <a16:creationId xmlns:a16="http://schemas.microsoft.com/office/drawing/2014/main" id="{3476B379-D8A7-44FC-B4B5-57B125ED0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2477" y="5352327"/>
              <a:ext cx="1108556" cy="743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7">
              <a:extLst>
                <a:ext uri="{FF2B5EF4-FFF2-40B4-BE49-F238E27FC236}">
                  <a16:creationId xmlns:a16="http://schemas.microsoft.com/office/drawing/2014/main" id="{5144FC15-F4DF-45A6-8728-8959863730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1660" y="5326715"/>
              <a:ext cx="628141" cy="769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矩形 16">
              <a:extLst>
                <a:ext uri="{FF2B5EF4-FFF2-40B4-BE49-F238E27FC236}">
                  <a16:creationId xmlns:a16="http://schemas.microsoft.com/office/drawing/2014/main" id="{DC87C5A1-693A-4C66-A4AF-6825208B5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32036" y="5506317"/>
              <a:ext cx="2993495" cy="634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-简" panose="00000500000000000000" pitchFamily="2" charset="-122"/>
                  <a:ea typeface="黑体-简" panose="00000500000000000000" pitchFamily="2" charset="-122"/>
                  <a:cs typeface="+mn-cs"/>
                </a:rPr>
                <a:t>气象、环境等</a:t>
              </a:r>
              <a:endPara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-简" panose="00000500000000000000" pitchFamily="2" charset="-122"/>
                <a:ea typeface="黑体-简" panose="00000500000000000000" pitchFamily="2" charset="-122"/>
                <a:cs typeface="+mn-cs"/>
              </a:endParaRPr>
            </a:p>
            <a:p>
              <a:pPr marL="0" marR="0" lvl="0" indent="0" algn="ctr" defTabSz="685800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/>
                  <a:cs typeface="Times New Roman" panose="02020603050405020304" pitchFamily="18" charset="0"/>
                </a:rPr>
                <a:t>Weather, Activities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CF8BD8D-9FA8-4F17-999F-44749181D5F1}"/>
              </a:ext>
            </a:extLst>
          </p:cNvPr>
          <p:cNvGrpSpPr/>
          <p:nvPr/>
        </p:nvGrpSpPr>
        <p:grpSpPr>
          <a:xfrm>
            <a:off x="4485200" y="3106527"/>
            <a:ext cx="3166185" cy="1721089"/>
            <a:chOff x="4874365" y="3573147"/>
            <a:chExt cx="4221580" cy="2294785"/>
          </a:xfrm>
        </p:grpSpPr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903287E8-7A45-4ABA-B8B3-F379CBACE5E9}"/>
                </a:ext>
              </a:extLst>
            </p:cNvPr>
            <p:cNvGrpSpPr/>
            <p:nvPr/>
          </p:nvGrpSpPr>
          <p:grpSpPr>
            <a:xfrm>
              <a:off x="6071609" y="3573147"/>
              <a:ext cx="3024336" cy="1788514"/>
              <a:chOff x="6084168" y="3645024"/>
              <a:chExt cx="3024336" cy="1788514"/>
            </a:xfrm>
          </p:grpSpPr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0017B8FB-5A6E-49B6-8363-EB2F3B9665C2}"/>
                  </a:ext>
                </a:extLst>
              </p:cNvPr>
              <p:cNvGrpSpPr/>
              <p:nvPr/>
            </p:nvGrpSpPr>
            <p:grpSpPr>
              <a:xfrm>
                <a:off x="6084168" y="3645024"/>
                <a:ext cx="3024336" cy="1788514"/>
                <a:chOff x="6084168" y="3645024"/>
                <a:chExt cx="3024336" cy="1788514"/>
              </a:xfrm>
            </p:grpSpPr>
            <p:pic>
              <p:nvPicPr>
                <p:cNvPr id="45" name="Picture 8">
                  <a:extLst>
                    <a:ext uri="{FF2B5EF4-FFF2-40B4-BE49-F238E27FC236}">
                      <a16:creationId xmlns:a16="http://schemas.microsoft.com/office/drawing/2014/main" id="{0FE7333C-75DD-4758-BEA4-181030C5F63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95471" y="3645024"/>
                  <a:ext cx="1544938" cy="11587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46" name="矩形 16">
                  <a:extLst>
                    <a:ext uri="{FF2B5EF4-FFF2-40B4-BE49-F238E27FC236}">
                      <a16:creationId xmlns:a16="http://schemas.microsoft.com/office/drawing/2014/main" id="{59E12DE7-5CCC-4975-AF7F-9218B9A2F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84168" y="4817984"/>
                  <a:ext cx="3024336" cy="615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marL="0" marR="0" lvl="0" indent="0" algn="ctr" defTabSz="6858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r>
                    <a:rPr kumimoji="0" lang="zh-CN" altLang="en-US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黑体-简" panose="00000500000000000000" pitchFamily="2" charset="-122"/>
                      <a:ea typeface="黑体-简" panose="00000500000000000000" pitchFamily="2" charset="-122"/>
                      <a:cs typeface="+mn-cs"/>
                    </a:rPr>
                    <a:t>综合交通调查</a:t>
                  </a:r>
                  <a:endParaRPr kumimoji="0" lang="en-US" altLang="zh-CN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-简" panose="00000500000000000000" pitchFamily="2" charset="-122"/>
                    <a:ea typeface="黑体-简" panose="00000500000000000000" pitchFamily="2" charset="-122"/>
                    <a:cs typeface="+mn-cs"/>
                  </a:endParaRPr>
                </a:p>
                <a:p>
                  <a:pPr marL="0" marR="0" lvl="0" indent="0" algn="ctr" defTabSz="685800" rtl="0" eaLnBrk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charset="0"/>
                    <a:buNone/>
                    <a:tabLst/>
                    <a:defRPr/>
                  </a:pPr>
                  <a:r>
                    <a:rPr kumimoji="0" lang="en-US" altLang="zh-CN" sz="12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/>
                      <a:cs typeface="Times New Roman" panose="02020603050405020304" pitchFamily="18" charset="0"/>
                    </a:rPr>
                    <a:t>Comprehensive Census</a:t>
                  </a:r>
                  <a:endParaRPr kumimoji="0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44" name="Picture 2">
                <a:extLst>
                  <a:ext uri="{FF2B5EF4-FFF2-40B4-BE49-F238E27FC236}">
                    <a16:creationId xmlns:a16="http://schemas.microsoft.com/office/drawing/2014/main" id="{59C880D5-690C-462F-BC90-023FC73A5A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0409" y="3649846"/>
                <a:ext cx="854609" cy="11395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1" name="矩形 16">
              <a:extLst>
                <a:ext uri="{FF2B5EF4-FFF2-40B4-BE49-F238E27FC236}">
                  <a16:creationId xmlns:a16="http://schemas.microsoft.com/office/drawing/2014/main" id="{EC707C9D-DD47-4313-8FCB-27D3B7B46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4365" y="5498600"/>
              <a:ext cx="35288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charset="0"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Times New Roman" panose="02020603050405020304" pitchFamily="18" charset="0"/>
                </a:rPr>
                <a:t>Transportation Economic Census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D38E78B1-3AE3-48E2-AF0A-5CF28DDEAC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0969" y="4864985"/>
              <a:ext cx="1212628" cy="8054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398834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ECFD6-A834-4DC8-8774-BF671045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城市计算应用场景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040149-76A5-4CBE-A9FD-AEBD49A27E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345" b="10797"/>
          <a:stretch/>
        </p:blipFill>
        <p:spPr>
          <a:xfrm>
            <a:off x="108837" y="1590936"/>
            <a:ext cx="2654058" cy="238314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32719F5-6309-4059-BD1F-3BD01E512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510" y="861353"/>
            <a:ext cx="1739901" cy="17399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37208CB-D938-4328-8F4D-49CFE2BF3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926" y="855457"/>
            <a:ext cx="1739900" cy="17335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6C95C9-DF20-4FAA-9A99-ADE41AA5F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470" y="3043242"/>
            <a:ext cx="1623961" cy="16427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315BEB-F22A-429E-B600-829C39A59C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9780" y="3060827"/>
            <a:ext cx="1623961" cy="168150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11E3194-E8D5-41B9-B133-A4314EF65361}"/>
              </a:ext>
            </a:extLst>
          </p:cNvPr>
          <p:cNvSpPr txBox="1"/>
          <p:nvPr/>
        </p:nvSpPr>
        <p:spPr>
          <a:xfrm>
            <a:off x="5215044" y="262021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智慧环保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2ADBDE-4FE3-4B9C-8F1A-EEFE8E8F23E6}"/>
              </a:ext>
            </a:extLst>
          </p:cNvPr>
          <p:cNvSpPr txBox="1"/>
          <p:nvPr/>
        </p:nvSpPr>
        <p:spPr>
          <a:xfrm>
            <a:off x="7174203" y="261709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智慧交通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A9AAA5-F6ED-4D27-8E52-2D4309DBEC70}"/>
              </a:ext>
            </a:extLst>
          </p:cNvPr>
          <p:cNvSpPr txBox="1"/>
          <p:nvPr/>
        </p:nvSpPr>
        <p:spPr>
          <a:xfrm>
            <a:off x="5215044" y="468601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智慧安防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2C9AA7B-6E98-4CD1-B770-D411A811D872}"/>
              </a:ext>
            </a:extLst>
          </p:cNvPr>
          <p:cNvSpPr txBox="1"/>
          <p:nvPr/>
        </p:nvSpPr>
        <p:spPr>
          <a:xfrm>
            <a:off x="7199818" y="468601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智慧社交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556C25D-7A35-497C-BAD8-3D685A887B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3806" y="926837"/>
            <a:ext cx="1674860" cy="16621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2083D38-D5C2-493D-AB06-13E213D381E3}"/>
              </a:ext>
            </a:extLst>
          </p:cNvPr>
          <p:cNvSpPr txBox="1"/>
          <p:nvPr/>
        </p:nvSpPr>
        <p:spPr>
          <a:xfrm>
            <a:off x="3174244" y="262862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智慧基建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20924D5-345B-4A07-AAC5-33A39C7C09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8797" y="2992718"/>
            <a:ext cx="1674860" cy="175157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72FD7E8-73DD-4161-8CB3-958903B8B570}"/>
              </a:ext>
            </a:extLst>
          </p:cNvPr>
          <p:cNvSpPr txBox="1"/>
          <p:nvPr/>
        </p:nvSpPr>
        <p:spPr>
          <a:xfrm>
            <a:off x="3187989" y="468938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kumimoji="1" lang="zh-CN" altLang="en-US" b="1" kern="0" dirty="0">
                <a:solidFill>
                  <a:srgbClr val="000000"/>
                </a:solidFill>
                <a:latin typeface="Arial" panose="020B0604020202090204"/>
                <a:cs typeface="Arial" panose="020B0604020202090204"/>
                <a:sym typeface="Arial" panose="020B0604020202090204"/>
              </a:rPr>
              <a:t>智慧能耗</a:t>
            </a:r>
          </a:p>
        </p:txBody>
      </p:sp>
    </p:spTree>
    <p:extLst>
      <p:ext uri="{BB962C8B-B14F-4D97-AF65-F5344CB8AC3E}">
        <p14:creationId xmlns:p14="http://schemas.microsoft.com/office/powerpoint/2010/main" val="248472477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A70858-158F-4D24-A841-B0B3EF2F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城市计算：主要研究问题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8F430A-8C3F-4B60-A6D9-A9AF21151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87574"/>
            <a:ext cx="7126745" cy="3709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3940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058EE1-1AC9-40F1-ADC9-96005210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可用数据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ABC2BC-05D0-4ECC-BB55-29E2B52F0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b="1" dirty="0"/>
              <a:t>国内城市数据</a:t>
            </a:r>
            <a:endParaRPr lang="en-US" altLang="zh-CN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上海市公共数据开放平台：</a:t>
            </a:r>
            <a:r>
              <a:rPr lang="en-US" altLang="zh-CN" sz="1600" dirty="0"/>
              <a:t>https://data.sh.gov.cn/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北京市公共数据开放平台：</a:t>
            </a:r>
            <a:r>
              <a:rPr lang="en-US" altLang="zh-CN" sz="1600" dirty="0"/>
              <a:t>https://data.beijing.gov.cn/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深圳市政府数据开放平台：</a:t>
            </a:r>
            <a:r>
              <a:rPr lang="en-US" altLang="zh-CN" sz="1600" dirty="0"/>
              <a:t>https://opendata.sz.gov.cn/</a:t>
            </a:r>
          </a:p>
          <a:p>
            <a:pPr>
              <a:spcBef>
                <a:spcPts val="600"/>
              </a:spcBef>
            </a:pPr>
            <a:r>
              <a:rPr lang="zh-CN" altLang="en-US" b="1" dirty="0"/>
              <a:t>国外城市数据</a:t>
            </a:r>
            <a:endParaRPr lang="en-US" altLang="zh-CN" b="1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纽约城市数据：</a:t>
            </a:r>
            <a:r>
              <a:rPr lang="en-US" altLang="zh-CN" sz="1600" dirty="0"/>
              <a:t>https://opendata.cityofnewyork.us/data/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芝加哥城市数据：</a:t>
            </a:r>
            <a:r>
              <a:rPr lang="en-US" altLang="zh-CN" sz="1600" dirty="0"/>
              <a:t>https://data.cityofchicago.org/</a:t>
            </a:r>
          </a:p>
          <a:p>
            <a:pPr>
              <a:spcBef>
                <a:spcPts val="600"/>
              </a:spcBef>
            </a:pPr>
            <a:r>
              <a:rPr lang="zh-CN" altLang="en-US" b="1" dirty="0"/>
              <a:t>其他数据</a:t>
            </a:r>
            <a:endParaRPr lang="en-US" altLang="zh-CN" b="1" dirty="0"/>
          </a:p>
          <a:p>
            <a:pPr lvl="1">
              <a:spcBef>
                <a:spcPts val="600"/>
              </a:spcBef>
            </a:pPr>
            <a:r>
              <a:rPr lang="en-US" altLang="zh-CN" sz="1600" dirty="0"/>
              <a:t>OpenStreetMap</a:t>
            </a:r>
            <a:r>
              <a:rPr lang="zh-CN" altLang="en-US" sz="1600" dirty="0"/>
              <a:t>地图数据：</a:t>
            </a:r>
            <a:r>
              <a:rPr lang="en-US" altLang="zh-CN" sz="1600" dirty="0"/>
              <a:t>https://download.geofabrik.de/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百度地图、高德地图 （</a:t>
            </a:r>
            <a:r>
              <a:rPr lang="en-US" altLang="zh-CN" sz="1600" dirty="0"/>
              <a:t>API</a:t>
            </a:r>
            <a:r>
              <a:rPr lang="zh-CN" altLang="en-US" sz="1600" dirty="0"/>
              <a:t>接口获取）</a:t>
            </a:r>
            <a:endParaRPr lang="en-US" altLang="zh-CN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82029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5BE47C-0D81-4C0F-87A6-4DCA8E3E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数据库应用系统开发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47898C-04AE-4BBF-ADB2-17ADD7B91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b="1" dirty="0"/>
              <a:t>按照软件工程中软件生命周期设计应用系统，结合数据库设计与实现要求，完成下列工作并撰写相应报告</a:t>
            </a:r>
            <a:r>
              <a:rPr lang="en-US" altLang="zh-CN" sz="1800" b="1" dirty="0"/>
              <a:t>:</a:t>
            </a:r>
          </a:p>
          <a:p>
            <a:pPr lvl="1"/>
            <a:r>
              <a:rPr lang="zh-CN" altLang="en-US" sz="1400" dirty="0"/>
              <a:t>问题定义</a:t>
            </a:r>
          </a:p>
          <a:p>
            <a:pPr lvl="1"/>
            <a:r>
              <a:rPr lang="zh-CN" altLang="en-US" sz="1400" dirty="0"/>
              <a:t>可行性分析</a:t>
            </a:r>
          </a:p>
          <a:p>
            <a:pPr lvl="1"/>
            <a:r>
              <a:rPr lang="zh-CN" altLang="en-US" sz="1400" dirty="0"/>
              <a:t>需求分析</a:t>
            </a:r>
            <a:r>
              <a:rPr lang="en-US" altLang="zh-CN" sz="1400" dirty="0"/>
              <a:t>: </a:t>
            </a:r>
            <a:r>
              <a:rPr lang="zh-CN" altLang="en-US" sz="1400" dirty="0"/>
              <a:t>数据字典、数据流图</a:t>
            </a:r>
          </a:p>
          <a:p>
            <a:pPr lvl="1"/>
            <a:r>
              <a:rPr lang="zh-CN" altLang="en-US" sz="1400" dirty="0"/>
              <a:t>总体设计</a:t>
            </a:r>
            <a:r>
              <a:rPr lang="en-US" altLang="zh-CN" sz="1400" dirty="0"/>
              <a:t>: </a:t>
            </a:r>
            <a:r>
              <a:rPr lang="zh-CN" altLang="en-US" sz="1400" dirty="0"/>
              <a:t>数据库设计、应用系统设计</a:t>
            </a:r>
          </a:p>
          <a:p>
            <a:pPr lvl="1"/>
            <a:r>
              <a:rPr lang="zh-CN" altLang="en-US" sz="1400" dirty="0"/>
              <a:t>详细设计</a:t>
            </a:r>
            <a:r>
              <a:rPr lang="en-US" altLang="zh-CN" sz="1400" dirty="0"/>
              <a:t>: </a:t>
            </a:r>
            <a:r>
              <a:rPr lang="zh-CN" altLang="en-US" sz="1400" dirty="0"/>
              <a:t>数据库设计、应用系统设计</a:t>
            </a:r>
          </a:p>
          <a:p>
            <a:pPr lvl="1"/>
            <a:r>
              <a:rPr lang="zh-CN" altLang="en-US" sz="1400" dirty="0"/>
              <a:t>数据库建立、应用系统实现与功能调试</a:t>
            </a:r>
          </a:p>
          <a:p>
            <a:pPr lvl="1"/>
            <a:r>
              <a:rPr lang="zh-CN" altLang="en-US" sz="1400" dirty="0"/>
              <a:t>数据库性能测试、系统综合测试，改进与完善</a:t>
            </a:r>
          </a:p>
          <a:p>
            <a:pPr lvl="1"/>
            <a:r>
              <a:rPr lang="zh-CN" altLang="en-US" sz="1400" dirty="0"/>
              <a:t>系统运行维护</a:t>
            </a:r>
          </a:p>
          <a:p>
            <a:r>
              <a:rPr lang="zh-CN" altLang="en-US" sz="1800" b="1" dirty="0"/>
              <a:t>数据库应用系统开发中强调</a:t>
            </a:r>
            <a:r>
              <a:rPr lang="zh-CN" altLang="en-US" sz="1800" b="1" dirty="0">
                <a:solidFill>
                  <a:srgbClr val="C00000"/>
                </a:solidFill>
              </a:rPr>
              <a:t>数据库设计</a:t>
            </a:r>
          </a:p>
          <a:p>
            <a:pPr lvl="1"/>
            <a:r>
              <a:rPr lang="zh-CN" altLang="en-US" sz="1600" dirty="0"/>
              <a:t>设计概念模型（</a:t>
            </a:r>
            <a:r>
              <a:rPr lang="en-US" altLang="zh-CN" sz="1600" dirty="0"/>
              <a:t>E-R</a:t>
            </a:r>
            <a:r>
              <a:rPr lang="zh-CN" altLang="en-US" sz="1600" dirty="0"/>
              <a:t>图）、设计逻辑模型和设计物理模型</a:t>
            </a:r>
          </a:p>
          <a:p>
            <a:pPr lvl="1"/>
            <a:r>
              <a:rPr lang="zh-CN" altLang="en-US" sz="1600" dirty="0"/>
              <a:t>要考虑规范化和实际应用需要，一般要求达到</a:t>
            </a:r>
            <a:r>
              <a:rPr lang="en-US" altLang="zh-CN" sz="1600" dirty="0"/>
              <a:t>3NF</a:t>
            </a:r>
          </a:p>
          <a:p>
            <a:pPr lvl="1"/>
            <a:r>
              <a:rPr lang="zh-CN" altLang="en-US" sz="1600" dirty="0"/>
              <a:t>建立必要的索引，并对程序中的</a:t>
            </a:r>
            <a:r>
              <a:rPr lang="en-US" altLang="zh-CN" sz="1600" dirty="0"/>
              <a:t>SQL</a:t>
            </a:r>
            <a:r>
              <a:rPr lang="zh-CN" altLang="en-US" sz="1600" dirty="0"/>
              <a:t>语句进行优化，完成系统性能测试，保证较好的系统性能水平</a:t>
            </a:r>
          </a:p>
        </p:txBody>
      </p:sp>
    </p:spTree>
    <p:extLst>
      <p:ext uri="{BB962C8B-B14F-4D97-AF65-F5344CB8AC3E}">
        <p14:creationId xmlns:p14="http://schemas.microsoft.com/office/powerpoint/2010/main" val="178662430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46AEC-139E-4CA0-893F-87656FE4E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数据库应用系统开发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216DAC-AA8A-47DC-A6FA-0479408A3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b="1" dirty="0"/>
              <a:t>完整性设计</a:t>
            </a:r>
          </a:p>
          <a:p>
            <a:pPr lvl="1"/>
            <a:r>
              <a:rPr lang="zh-CN" altLang="en-US" sz="1600" dirty="0"/>
              <a:t>需考虑关系模型的三类完整性约束条件，数据之间的关联应详细说明</a:t>
            </a:r>
          </a:p>
          <a:p>
            <a:pPr lvl="1"/>
            <a:r>
              <a:rPr lang="zh-CN" altLang="en-US" sz="1600" dirty="0"/>
              <a:t>要求对联系和各种约束进行适当定义</a:t>
            </a:r>
          </a:p>
          <a:p>
            <a:pPr lvl="1"/>
            <a:r>
              <a:rPr lang="zh-CN" altLang="en-US" sz="1600" dirty="0"/>
              <a:t>根据需求对有些约束可使用触发器</a:t>
            </a:r>
          </a:p>
          <a:p>
            <a:r>
              <a:rPr lang="zh-CN" altLang="en-US" sz="1800" b="1" dirty="0"/>
              <a:t>安全性设计</a:t>
            </a:r>
          </a:p>
          <a:p>
            <a:pPr lvl="1"/>
            <a:r>
              <a:rPr lang="zh-CN" altLang="en-US" sz="1600" dirty="0"/>
              <a:t>数据库的安全性至关重要，为系统设置用户管理功能，根据系统需求对用户分级，明确不同级别用户权限、可操作的功能</a:t>
            </a:r>
          </a:p>
          <a:p>
            <a:r>
              <a:rPr lang="zh-CN" altLang="en-US" sz="1800" b="1" dirty="0"/>
              <a:t>应用程序功能设计</a:t>
            </a:r>
          </a:p>
          <a:p>
            <a:pPr lvl="1"/>
            <a:r>
              <a:rPr lang="zh-CN" altLang="en-US" sz="1600" dirty="0"/>
              <a:t>应用系统的基本功能应根据实际需求目标来设定，通常有增加、删除、修改、查询、统计报表、打印、备份、恢复、用户管理、密钥等功能</a:t>
            </a:r>
          </a:p>
          <a:p>
            <a:pPr lvl="1"/>
            <a:r>
              <a:rPr lang="zh-CN" altLang="en-US" sz="1600" dirty="0"/>
              <a:t>根据系统实际应用需求以及可能的扩展性需求，实现其它必要功能和附加功能，如数据分析、决策支持、特殊应用等</a:t>
            </a:r>
            <a:endParaRPr lang="en-US" altLang="zh-CN" sz="1600" dirty="0"/>
          </a:p>
          <a:p>
            <a:pPr lvl="1"/>
            <a:r>
              <a:rPr lang="zh-CN" altLang="en-US" sz="1600" dirty="0"/>
              <a:t>可采用</a:t>
            </a:r>
            <a:r>
              <a:rPr lang="en-US" altLang="zh-CN" sz="1600" dirty="0"/>
              <a:t>B/S</a:t>
            </a:r>
            <a:r>
              <a:rPr lang="zh-CN" altLang="en-US" sz="1600" dirty="0"/>
              <a:t>或</a:t>
            </a:r>
            <a:r>
              <a:rPr lang="en-US" altLang="zh-CN" sz="1600" dirty="0"/>
              <a:t>C/S</a:t>
            </a:r>
            <a:r>
              <a:rPr lang="zh-CN" altLang="en-US" sz="1600" dirty="0"/>
              <a:t>模式，或根据实际需求采用多级混合结构</a:t>
            </a:r>
          </a:p>
        </p:txBody>
      </p:sp>
    </p:spTree>
    <p:extLst>
      <p:ext uri="{BB962C8B-B14F-4D97-AF65-F5344CB8AC3E}">
        <p14:creationId xmlns:p14="http://schemas.microsoft.com/office/powerpoint/2010/main" val="73480900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627210-66AE-4395-8823-B206A93F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课程设计开发工具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6CB576-C1E4-4BF4-9319-916421BA1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280920" cy="3805070"/>
          </a:xfrm>
        </p:spPr>
        <p:txBody>
          <a:bodyPr/>
          <a:lstStyle/>
          <a:p>
            <a:r>
              <a:rPr lang="zh-CN" altLang="en-US" sz="1800" b="1" dirty="0"/>
              <a:t>数据库设计工具</a:t>
            </a:r>
          </a:p>
          <a:p>
            <a:pPr lvl="1"/>
            <a:r>
              <a:rPr lang="en-US" altLang="zh-CN" sz="1600" dirty="0" err="1"/>
              <a:t>Freedgo</a:t>
            </a:r>
            <a:r>
              <a:rPr lang="en-US" altLang="zh-CN" sz="1600" dirty="0"/>
              <a:t> Design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Lucidchart</a:t>
            </a:r>
            <a:r>
              <a:rPr lang="zh-CN" altLang="en-US" sz="1600" dirty="0"/>
              <a:t>、</a:t>
            </a:r>
            <a:r>
              <a:rPr lang="en-US" altLang="zh-CN" sz="1600" dirty="0"/>
              <a:t>Visual Paradigm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Edrawmax</a:t>
            </a:r>
            <a:endParaRPr lang="en-US" altLang="zh-CN" sz="1600" dirty="0"/>
          </a:p>
          <a:p>
            <a:r>
              <a:rPr lang="zh-CN" altLang="en-US" sz="1800" b="1" dirty="0"/>
              <a:t>数据库管理系统</a:t>
            </a:r>
          </a:p>
          <a:p>
            <a:pPr lvl="1"/>
            <a:r>
              <a:rPr lang="en-US" altLang="zh-CN" sz="1600" dirty="0"/>
              <a:t>MySQL</a:t>
            </a:r>
            <a:r>
              <a:rPr lang="zh-CN" altLang="en-US" sz="1600" dirty="0"/>
              <a:t>、</a:t>
            </a:r>
            <a:r>
              <a:rPr lang="en-US" altLang="zh-CN" sz="1600" dirty="0"/>
              <a:t>PostgreSQL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OceanBase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openGauss</a:t>
            </a:r>
            <a:endParaRPr lang="en-US" altLang="zh-CN" sz="1600" dirty="0"/>
          </a:p>
          <a:p>
            <a:pPr lvl="1"/>
            <a:r>
              <a:rPr lang="en-US" altLang="zh-CN" sz="1600" dirty="0"/>
              <a:t>IBM DB2</a:t>
            </a:r>
            <a:r>
              <a:rPr lang="zh-CN" altLang="en-US" sz="1600" dirty="0"/>
              <a:t>、</a:t>
            </a:r>
            <a:r>
              <a:rPr lang="en-US" altLang="zh-CN" sz="1600" dirty="0"/>
              <a:t>MS SQL Server</a:t>
            </a:r>
            <a:endParaRPr lang="zh-CN" altLang="en-US" sz="1600" dirty="0"/>
          </a:p>
          <a:p>
            <a:r>
              <a:rPr lang="zh-CN" altLang="en-US" sz="1800" b="1" dirty="0"/>
              <a:t>编程环境和语言</a:t>
            </a:r>
            <a:r>
              <a:rPr lang="en-US" altLang="zh-CN" sz="1800" b="1" dirty="0"/>
              <a:t>(</a:t>
            </a:r>
            <a:r>
              <a:rPr lang="zh-CN" altLang="en-US" sz="1800" b="1" dirty="0"/>
              <a:t>可自由选择</a:t>
            </a:r>
            <a:r>
              <a:rPr lang="en-US" altLang="zh-CN" sz="1800" b="1" dirty="0"/>
              <a:t>)</a:t>
            </a:r>
          </a:p>
          <a:p>
            <a:pPr lvl="1"/>
            <a:r>
              <a:rPr lang="zh-CN" altLang="en-US" sz="1600" dirty="0"/>
              <a:t>根据需求和个人编程情况，选用某种面向对象语言和开发环境</a:t>
            </a:r>
            <a:r>
              <a:rPr lang="en-US" altLang="zh-CN" sz="1600" dirty="0"/>
              <a:t>(</a:t>
            </a:r>
            <a:r>
              <a:rPr lang="zh-CN" altLang="en-US" sz="1600" dirty="0"/>
              <a:t>如</a:t>
            </a:r>
            <a:r>
              <a:rPr lang="en-US" altLang="zh-CN" sz="1600" dirty="0"/>
              <a:t>Python</a:t>
            </a:r>
            <a:r>
              <a:rPr lang="zh-CN" altLang="en-US" sz="1600" dirty="0"/>
              <a:t>、</a:t>
            </a:r>
            <a:r>
              <a:rPr lang="en-US" altLang="zh-CN" sz="1600" dirty="0"/>
              <a:t>Java</a:t>
            </a:r>
            <a:r>
              <a:rPr lang="zh-CN" altLang="en-US" sz="1600" dirty="0"/>
              <a:t>、</a:t>
            </a:r>
            <a:r>
              <a:rPr lang="en-US" altLang="zh-CN" sz="1600" dirty="0"/>
              <a:t>C++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.Net</a:t>
            </a:r>
            <a:r>
              <a:rPr lang="zh-CN" altLang="en-US" sz="1600" dirty="0"/>
              <a:t>、</a:t>
            </a:r>
            <a:r>
              <a:rPr lang="en-US" altLang="zh-CN" sz="1600" dirty="0"/>
              <a:t>Delphi</a:t>
            </a:r>
            <a:r>
              <a:rPr lang="zh-CN" altLang="en-US" sz="1600" dirty="0"/>
              <a:t>等</a:t>
            </a:r>
            <a:r>
              <a:rPr lang="en-US" altLang="zh-CN" sz="1600" dirty="0"/>
              <a:t>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290724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E58D1-BC98-4104-8374-24EE5F8B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数据库应用系统开发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C153DF-8E5A-47A0-BC91-A012019EB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8784976" cy="3805070"/>
          </a:xfrm>
        </p:spPr>
        <p:txBody>
          <a:bodyPr/>
          <a:lstStyle/>
          <a:p>
            <a:r>
              <a:rPr lang="zh-CN" altLang="en-US" sz="1800" dirty="0"/>
              <a:t>应用系统开发应独立完成，报告和程序功能完整，设计方法合理，用户界面友好，系统运行正常</a:t>
            </a:r>
            <a:endParaRPr lang="en-US" altLang="zh-CN" sz="1800" dirty="0"/>
          </a:p>
          <a:p>
            <a:r>
              <a:rPr lang="zh-CN" altLang="en-US" sz="1800" b="1" dirty="0"/>
              <a:t>要求提交：</a:t>
            </a:r>
          </a:p>
          <a:p>
            <a:pPr lvl="1"/>
            <a:r>
              <a:rPr lang="zh-CN" altLang="en-US" sz="1600" dirty="0"/>
              <a:t>系统设计与开发报告</a:t>
            </a:r>
            <a:endParaRPr lang="en-US" altLang="zh-CN" sz="1600" dirty="0"/>
          </a:p>
          <a:p>
            <a:pPr lvl="2"/>
            <a:r>
              <a:rPr lang="zh-CN" altLang="en-US" sz="1400" dirty="0"/>
              <a:t>设计报告按照软件工程的要求与格式书写</a:t>
            </a:r>
            <a:r>
              <a:rPr lang="en-US" altLang="zh-CN" sz="1400" dirty="0"/>
              <a:t> </a:t>
            </a:r>
            <a:r>
              <a:rPr lang="zh-CN" altLang="en-US" sz="1400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不少于</a:t>
            </a:r>
            <a:r>
              <a:rPr lang="en-US" altLang="zh-CN" sz="1400" b="1" dirty="0">
                <a:solidFill>
                  <a:srgbClr val="C00000"/>
                </a:solidFill>
              </a:rPr>
              <a:t>1.0</a:t>
            </a:r>
            <a:r>
              <a:rPr lang="zh-CN" altLang="en-US" sz="1400" b="1" dirty="0">
                <a:solidFill>
                  <a:srgbClr val="C00000"/>
                </a:solidFill>
              </a:rPr>
              <a:t>万字，不超过</a:t>
            </a:r>
            <a:r>
              <a:rPr lang="en-US" altLang="zh-CN" sz="1400" b="1" dirty="0">
                <a:solidFill>
                  <a:srgbClr val="C00000"/>
                </a:solidFill>
              </a:rPr>
              <a:t>1.5</a:t>
            </a:r>
            <a:r>
              <a:rPr lang="zh-CN" altLang="en-US" sz="1400" b="1" dirty="0">
                <a:solidFill>
                  <a:srgbClr val="C00000"/>
                </a:solidFill>
              </a:rPr>
              <a:t>万字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/>
            <a:r>
              <a:rPr lang="zh-CN" altLang="en-US" sz="1400" dirty="0"/>
              <a:t>需求分析、数据库概念设计、逻辑设计、物理设计部分清晰明确</a:t>
            </a:r>
          </a:p>
          <a:p>
            <a:pPr lvl="1"/>
            <a:r>
              <a:rPr lang="zh-CN" altLang="en-US" sz="1600" dirty="0"/>
              <a:t>系统源代码文件</a:t>
            </a:r>
            <a:endParaRPr lang="en-US" altLang="zh-CN" sz="1600" dirty="0"/>
          </a:p>
          <a:p>
            <a:pPr lvl="1"/>
            <a:r>
              <a:rPr lang="zh-CN" altLang="en-US" sz="1600" dirty="0"/>
              <a:t>系统操作、运行的完整功能录像演示文件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586147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CE309-153F-49BF-9119-2956333E9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数据管理前沿技术调研（小组）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D09151-2B8F-40CD-9DA5-A475986FE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2"/>
            <a:ext cx="8496944" cy="4302477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b="1" dirty="0"/>
              <a:t>方向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：蚂蚁科技</a:t>
            </a:r>
            <a:r>
              <a:rPr lang="en-US" altLang="zh-CN" sz="1800" b="1" dirty="0" err="1"/>
              <a:t>OceanBase</a:t>
            </a:r>
            <a:r>
              <a:rPr lang="zh-CN" altLang="en-US" sz="1800" b="1" dirty="0"/>
              <a:t>、华为</a:t>
            </a:r>
            <a:r>
              <a:rPr lang="en-US" altLang="zh-CN" sz="1800" b="1" dirty="0" err="1"/>
              <a:t>openGauss</a:t>
            </a:r>
            <a:r>
              <a:rPr lang="en-US" altLang="zh-CN" sz="1800" b="1" dirty="0"/>
              <a:t>/</a:t>
            </a:r>
            <a:r>
              <a:rPr lang="en-US" altLang="zh-CN" sz="1800" b="1" dirty="0" err="1"/>
              <a:t>GaussDB</a:t>
            </a:r>
            <a:r>
              <a:rPr lang="zh-CN" altLang="en-US" sz="1800" b="1" dirty="0"/>
              <a:t>等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/>
              <a:t>存储、索引、查询及其优化、事务处理（分布式、并发、恢复）</a:t>
            </a:r>
            <a:endParaRPr lang="en-US" altLang="zh-CN" sz="16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b="1" dirty="0"/>
              <a:t>方向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：跨模态数据检索</a:t>
            </a:r>
            <a:r>
              <a:rPr lang="en-US" altLang="zh-CN" sz="1800" b="1" dirty="0"/>
              <a:t>(Multimodal Data Retrieval)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b="1" dirty="0"/>
              <a:t>方向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：向量数据库</a:t>
            </a:r>
            <a:r>
              <a:rPr lang="en-US" altLang="zh-CN" sz="1800" b="1" dirty="0"/>
              <a:t>(Vector Database)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b="1" dirty="0"/>
              <a:t>方向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：检索增强技术（</a:t>
            </a:r>
            <a:r>
              <a:rPr lang="en-US" altLang="zh-CN" sz="1800" b="1" dirty="0"/>
              <a:t>RAG</a:t>
            </a:r>
            <a:r>
              <a:rPr lang="zh-CN" altLang="en-US" sz="1800" b="1" dirty="0"/>
              <a:t>），聚焦检索部分</a:t>
            </a:r>
            <a:endParaRPr lang="en-US" altLang="zh-CN" sz="1800" b="1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b="1" dirty="0"/>
              <a:t>方向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：自拟题目，选择与数据管理相关课题</a:t>
            </a:r>
            <a:endParaRPr lang="en-US" altLang="zh-CN" sz="1800" b="1" dirty="0"/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 altLang="zh-CN" sz="1800" b="1" dirty="0">
              <a:solidFill>
                <a:prstClr val="black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zh-CN" altLang="en-US" sz="1800" b="1" dirty="0">
                <a:solidFill>
                  <a:prstClr val="black"/>
                </a:solidFill>
              </a:rPr>
              <a:t>以</a:t>
            </a:r>
            <a:r>
              <a:rPr lang="en-US" altLang="zh-CN" sz="1800" b="1" dirty="0">
                <a:solidFill>
                  <a:prstClr val="black"/>
                </a:solidFill>
              </a:rPr>
              <a:t>3~5</a:t>
            </a:r>
            <a:r>
              <a:rPr lang="zh-CN" altLang="en-US" sz="1800" b="1" dirty="0">
                <a:solidFill>
                  <a:prstClr val="black"/>
                </a:solidFill>
              </a:rPr>
              <a:t>人小组为单位进行调研分析，要求提交：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/>
              <a:t>小组调研报告（</a:t>
            </a:r>
            <a:r>
              <a:rPr lang="en-US" altLang="zh-CN" sz="1600" dirty="0"/>
              <a:t>PPT</a:t>
            </a:r>
            <a:r>
              <a:rPr lang="zh-CN" altLang="en-US" sz="1600" dirty="0"/>
              <a:t>格式，</a:t>
            </a:r>
            <a:r>
              <a:rPr lang="en-US" altLang="zh-CN" sz="1600" dirty="0"/>
              <a:t>20-30</a:t>
            </a:r>
            <a:r>
              <a:rPr lang="zh-CN" altLang="en-US" sz="1600" dirty="0"/>
              <a:t>页）</a:t>
            </a:r>
            <a:endParaRPr lang="en-US" altLang="zh-CN" sz="1600" dirty="0"/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/>
              <a:t>可以在上学期调研工作的基础上进行拓展和深化，并用</a:t>
            </a:r>
            <a:r>
              <a:rPr lang="en-US" altLang="zh-CN" sz="1600" dirty="0"/>
              <a:t>1</a:t>
            </a:r>
            <a:r>
              <a:rPr lang="zh-CN" altLang="en-US" sz="1600" dirty="0"/>
              <a:t>页</a:t>
            </a:r>
            <a:r>
              <a:rPr lang="en-US" altLang="zh-CN" sz="1600" dirty="0"/>
              <a:t>PPT</a:t>
            </a:r>
            <a:r>
              <a:rPr lang="zh-CN" altLang="en-US" sz="1600" dirty="0"/>
              <a:t>总结与上学期调研工作的主要区别</a:t>
            </a: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lang="zh-CN" altLang="en-US" sz="1600" dirty="0"/>
              <a:t>给出小组成员名单及各自完成工作说明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402493596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1AE39-3E82-4BD3-83B3-31869B649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课程设计时间安排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CF005-2ADC-40C7-9B48-F076150A3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dirty="0"/>
              <a:t>第</a:t>
            </a:r>
            <a:r>
              <a:rPr lang="en-US" altLang="zh-CN" sz="1800" dirty="0"/>
              <a:t>1-4</a:t>
            </a:r>
            <a:r>
              <a:rPr lang="zh-CN" altLang="en-US" sz="1800" dirty="0"/>
              <a:t>周：题目调整与确定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1800" dirty="0"/>
              <a:t>第</a:t>
            </a:r>
            <a:r>
              <a:rPr lang="en-US" altLang="zh-CN" sz="1800" dirty="0"/>
              <a:t>10</a:t>
            </a:r>
            <a:r>
              <a:rPr lang="zh-CN" altLang="en-US" sz="1800" dirty="0"/>
              <a:t>周：中期进度检查（提交进度汇报</a:t>
            </a:r>
            <a:r>
              <a:rPr lang="en-US" altLang="zh-CN" sz="1800" dirty="0"/>
              <a:t>PPT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1800" dirty="0"/>
              <a:t>第</a:t>
            </a:r>
            <a:r>
              <a:rPr lang="en-US" altLang="zh-CN" sz="1800" dirty="0"/>
              <a:t>16</a:t>
            </a:r>
            <a:r>
              <a:rPr lang="zh-CN" altLang="en-US" sz="1800" dirty="0"/>
              <a:t>周：期末答辩</a:t>
            </a:r>
            <a:endParaRPr lang="en-US" altLang="zh-CN" sz="1800" dirty="0"/>
          </a:p>
          <a:p>
            <a:pPr lvl="1">
              <a:spcBef>
                <a:spcPts val="600"/>
              </a:spcBef>
            </a:pPr>
            <a:r>
              <a:rPr lang="zh-CN" altLang="en-US" sz="1400" dirty="0"/>
              <a:t>每位同学参加课设正式答辩，介绍展示个人课设两部分的内容和成果（包括小组分工情况）</a:t>
            </a:r>
            <a:endParaRPr lang="en-US" altLang="zh-CN" sz="1400" dirty="0"/>
          </a:p>
          <a:p>
            <a:pPr lvl="1">
              <a:spcBef>
                <a:spcPts val="600"/>
              </a:spcBef>
            </a:pPr>
            <a:r>
              <a:rPr lang="zh-CN" altLang="en-US" sz="1400" dirty="0"/>
              <a:t>提交课设相关材料</a:t>
            </a:r>
          </a:p>
          <a:p>
            <a:pPr>
              <a:spcBef>
                <a:spcPts val="600"/>
              </a:spcBef>
            </a:pPr>
            <a:r>
              <a:rPr lang="zh-CN" altLang="en-US" sz="1800" b="1" dirty="0">
                <a:solidFill>
                  <a:srgbClr val="C00000"/>
                </a:solidFill>
              </a:rPr>
              <a:t>注意</a:t>
            </a:r>
            <a:r>
              <a:rPr lang="zh-CN" altLang="en-US" sz="1800" dirty="0"/>
              <a:t>：课程不安排集中授课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972106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2FD64-AB9F-426D-90B4-10BDC8B4E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课程设计成果评价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BEA198-A2A4-4638-B696-980E17B61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1800" b="1" dirty="0"/>
              <a:t>课设成绩评定因素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应用系统研发和报告质量</a:t>
            </a:r>
            <a:r>
              <a:rPr lang="en-US" altLang="zh-CN" sz="1600" dirty="0"/>
              <a:t>(</a:t>
            </a:r>
            <a:r>
              <a:rPr lang="zh-CN" altLang="en-US" sz="1600" dirty="0"/>
              <a:t>独立完成</a:t>
            </a:r>
            <a:r>
              <a:rPr lang="en-US" altLang="zh-CN" sz="1600" dirty="0"/>
              <a:t>)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前沿调研报告：小组综合情况、个人完成情况</a:t>
            </a:r>
            <a:endParaRPr lang="en-US" altLang="zh-CN" sz="16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课设期中进展情况、期末答辩情况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材料提交情况</a:t>
            </a:r>
            <a:endParaRPr lang="en-US" altLang="zh-CN" sz="1600" dirty="0"/>
          </a:p>
          <a:p>
            <a:pPr lvl="1">
              <a:spcBef>
                <a:spcPts val="600"/>
              </a:spcBef>
            </a:pPr>
            <a:endParaRPr lang="zh-CN" altLang="en-US" sz="1600" dirty="0"/>
          </a:p>
          <a:p>
            <a:pPr>
              <a:spcBef>
                <a:spcPts val="600"/>
              </a:spcBef>
            </a:pPr>
            <a:r>
              <a:rPr lang="zh-CN" altLang="en-US" sz="1800" b="1" dirty="0"/>
              <a:t>课程成绩评定比例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系统开发</a:t>
            </a:r>
            <a:r>
              <a:rPr lang="en-US" altLang="zh-CN" sz="1600" dirty="0"/>
              <a:t>50%</a:t>
            </a:r>
            <a:r>
              <a:rPr lang="zh-CN" altLang="en-US" sz="1600" dirty="0"/>
              <a:t>（项目研发系统</a:t>
            </a:r>
            <a:r>
              <a:rPr lang="en-US" altLang="zh-CN" sz="1600" dirty="0"/>
              <a:t>30%+</a:t>
            </a:r>
            <a:r>
              <a:rPr lang="zh-CN" altLang="en-US" sz="1600" dirty="0"/>
              <a:t>项目研发报告</a:t>
            </a:r>
            <a:r>
              <a:rPr lang="en-US" altLang="zh-CN" sz="1600" dirty="0"/>
              <a:t>20%</a:t>
            </a:r>
            <a:r>
              <a:rPr lang="zh-CN" altLang="en-US" sz="1600" dirty="0"/>
              <a:t>）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课设进度与答辩</a:t>
            </a:r>
            <a:r>
              <a:rPr lang="en-US" altLang="zh-CN" sz="1600" dirty="0"/>
              <a:t>20%</a:t>
            </a:r>
            <a:r>
              <a:rPr lang="zh-CN" altLang="en-US" sz="1600" dirty="0"/>
              <a:t>（期中进度</a:t>
            </a:r>
            <a:r>
              <a:rPr lang="en-US" altLang="zh-CN" sz="1600" dirty="0"/>
              <a:t>10%+</a:t>
            </a:r>
            <a:r>
              <a:rPr lang="zh-CN" altLang="en-US" sz="1600" dirty="0"/>
              <a:t>期末答辩</a:t>
            </a:r>
            <a:r>
              <a:rPr lang="en-US" altLang="zh-CN" sz="1600" dirty="0"/>
              <a:t>10%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前沿调研报告</a:t>
            </a:r>
            <a:r>
              <a:rPr lang="en-US" altLang="zh-CN" sz="1600" dirty="0"/>
              <a:t>20%</a:t>
            </a:r>
            <a:endParaRPr lang="zh-CN" altLang="en-US" sz="1600" dirty="0"/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平时考勤</a:t>
            </a:r>
            <a:r>
              <a:rPr lang="en-US" altLang="zh-CN" sz="1600" dirty="0"/>
              <a:t>10%</a:t>
            </a:r>
            <a:r>
              <a:rPr lang="zh-CN" altLang="en-US" sz="1600" dirty="0"/>
              <a:t>（参加</a:t>
            </a:r>
            <a:r>
              <a:rPr lang="en-US" altLang="zh-CN" sz="1600" dirty="0"/>
              <a:t>1-2</a:t>
            </a:r>
            <a:r>
              <a:rPr lang="zh-CN" altLang="en-US" sz="1600" dirty="0"/>
              <a:t>次组织的讲座、按时提交材料、按时参加答辩）</a:t>
            </a:r>
            <a:endParaRPr lang="en-US" altLang="zh-CN" sz="16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219492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9BC57-60B0-48E1-A815-E0F90963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OceanBase</a:t>
            </a:r>
            <a:r>
              <a:rPr lang="zh-CN" altLang="en-US" dirty="0"/>
              <a:t>数据库大赛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128498-4245-418F-8344-B63EED21C06E}"/>
              </a:ext>
            </a:extLst>
          </p:cNvPr>
          <p:cNvSpPr txBox="1"/>
          <p:nvPr/>
        </p:nvSpPr>
        <p:spPr>
          <a:xfrm>
            <a:off x="7164288" y="2499742"/>
            <a:ext cx="1800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进入初赛可认定课程成绩为优，无需提交其他课程材料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F8CB01-88AE-4768-ADB8-43C1EB0FE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310"/>
            <a:ext cx="6824142" cy="26380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3CC05B4-DA44-4668-BB25-081063461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3846"/>
            <a:ext cx="6824142" cy="206435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E07413D-7779-48B7-A88B-51112BBDFAAD}"/>
              </a:ext>
            </a:extLst>
          </p:cNvPr>
          <p:cNvSpPr txBox="1"/>
          <p:nvPr/>
        </p:nvSpPr>
        <p:spPr>
          <a:xfrm>
            <a:off x="4932040" y="771550"/>
            <a:ext cx="4032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hlinkClick r:id="rId4"/>
              </a:rPr>
              <a:t>https://open.oceanbase.com/competition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444316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B0FE0-6CFE-47BA-B759-2D0C40F3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70894E-2B5A-4538-B685-A4C8F81A7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/>
              <a:t>课程设计各项需提交内容等均需独立完成，或按小组分工合作完成，严禁抄袭</a:t>
            </a:r>
            <a:r>
              <a:rPr lang="en-US" altLang="zh-CN" sz="1800" dirty="0"/>
              <a:t>(</a:t>
            </a:r>
            <a:r>
              <a:rPr lang="zh-CN" altLang="en-US" sz="1800" dirty="0"/>
              <a:t>参考文献引用需标注</a:t>
            </a:r>
            <a:r>
              <a:rPr lang="en-US" altLang="zh-CN" sz="1800" dirty="0"/>
              <a:t>)</a:t>
            </a:r>
            <a:r>
              <a:rPr lang="zh-CN" altLang="en-US" sz="1800" dirty="0"/>
              <a:t>，原则上不允许使用生成模型 </a:t>
            </a:r>
            <a:endParaRPr lang="en-US" altLang="zh-CN" sz="1800" dirty="0"/>
          </a:p>
          <a:p>
            <a:r>
              <a:rPr lang="zh-CN" altLang="en-US" sz="1800" dirty="0"/>
              <a:t>期中检查和期末答辩视具体情况再通知具体安排</a:t>
            </a:r>
          </a:p>
          <a:p>
            <a:r>
              <a:rPr lang="zh-CN" altLang="en-US" sz="1800" dirty="0"/>
              <a:t>如有需要，请及时邮件、</a:t>
            </a:r>
            <a:r>
              <a:rPr lang="en-US" altLang="zh-CN" sz="1800" dirty="0"/>
              <a:t>QQ</a:t>
            </a:r>
            <a:r>
              <a:rPr lang="zh-CN" altLang="en-US" sz="1800" dirty="0"/>
              <a:t>或微信沟通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62FF20-6768-5BB6-A440-3341CD66CECE}"/>
              </a:ext>
            </a:extLst>
          </p:cNvPr>
          <p:cNvSpPr txBox="1"/>
          <p:nvPr/>
        </p:nvSpPr>
        <p:spPr>
          <a:xfrm>
            <a:off x="3707904" y="2211710"/>
            <a:ext cx="5621586" cy="281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 eaLnBrk="0" hangingPunct="0">
              <a:buChar char="–"/>
            </a:pPr>
            <a:r>
              <a:rPr lang="zh-CN" altLang="en-US" b="1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助教（关老师）</a:t>
            </a:r>
            <a:endParaRPr lang="en-US" altLang="zh-CN" b="1" dirty="0"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刘凌诚：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18807331552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2512055@tongji.edu.cn</a:t>
            </a: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马    嘉：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15916638722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 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2432018@tongji.edu.cn</a:t>
            </a: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陈凌锐：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17663003539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lingchan@tongji.edu.cn</a:t>
            </a:r>
          </a:p>
          <a:p>
            <a:pPr marL="742950" lvl="1" indent="-285750" eaLnBrk="0" hangingPunct="0">
              <a:buChar char="–"/>
            </a:pPr>
            <a:r>
              <a:rPr lang="zh-CN" altLang="en-US" b="1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助教（张老师）</a:t>
            </a:r>
            <a:endParaRPr lang="en-US" altLang="zh-CN" b="1" dirty="0"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宜锋锋：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15151393348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2432186@tongji.edu.cn</a:t>
            </a:r>
            <a:endParaRPr lang="zh-CN" altLang="en-US" sz="1200" dirty="0"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程瑞真：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18755932687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2534005@tongji.edu.cn</a:t>
            </a: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彭俊熙：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17871940933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2534121@tongji.edu.cn</a:t>
            </a:r>
          </a:p>
          <a:p>
            <a:pPr marL="742950" lvl="1" indent="-285750" eaLnBrk="0" hangingPunct="0">
              <a:buChar char="–"/>
            </a:pPr>
            <a:r>
              <a:rPr lang="zh-CN" altLang="en-US" b="1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助教（李老师）</a:t>
            </a:r>
            <a:endParaRPr lang="en-US" altLang="zh-CN" b="1" dirty="0"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刘    毅：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18326418258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 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liuyi61@tongji.edu.cn</a:t>
            </a: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张铭锐：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13615669776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2534017@tongji.edu.cn</a:t>
            </a:r>
          </a:p>
          <a:p>
            <a:pPr marL="1143000" lvl="2" indent="-228600" eaLnBrk="0" hangingPunct="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彭兆祥：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19946039880</a:t>
            </a:r>
            <a:r>
              <a:rPr lang="zh-CN" altLang="en-US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2533987@tongji.edu.cn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107881-053C-FD29-E3BA-F2AF364BFB75}"/>
              </a:ext>
            </a:extLst>
          </p:cNvPr>
          <p:cNvSpPr txBox="1"/>
          <p:nvPr/>
        </p:nvSpPr>
        <p:spPr>
          <a:xfrm>
            <a:off x="-27578" y="2211710"/>
            <a:ext cx="4663440" cy="111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指导老师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关佶红：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jhguan@tongji.edu.cn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张毅超：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yichaozhang@tongji.edu.cn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李文根：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lwengen@tongji.edu.cn</a:t>
            </a:r>
          </a:p>
        </p:txBody>
      </p:sp>
    </p:spTree>
    <p:extLst>
      <p:ext uri="{BB962C8B-B14F-4D97-AF65-F5344CB8AC3E}">
        <p14:creationId xmlns:p14="http://schemas.microsoft.com/office/powerpoint/2010/main" val="275962122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5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24652</TotalTime>
  <Words>1645</Words>
  <Application>Microsoft Office PowerPoint</Application>
  <PresentationFormat>全屏显示(16:9)</PresentationFormat>
  <Paragraphs>179</Paragraphs>
  <Slides>21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黑体-简</vt:lpstr>
      <vt:lpstr>华文楷体</vt:lpstr>
      <vt:lpstr>华文行楷</vt:lpstr>
      <vt:lpstr>宋体</vt:lpstr>
      <vt:lpstr>微软雅黑</vt:lpstr>
      <vt:lpstr>Arial</vt:lpstr>
      <vt:lpstr>Century Gothic</vt:lpstr>
      <vt:lpstr>Times New Roman</vt:lpstr>
      <vt:lpstr>Trebuchet MS</vt:lpstr>
      <vt:lpstr>默认设计模板</vt:lpstr>
      <vt:lpstr>PowerPoint 演示文稿</vt:lpstr>
      <vt:lpstr>课程设计目标</vt:lpstr>
      <vt:lpstr>数据库应用系统开发</vt:lpstr>
      <vt:lpstr>海洋计算</vt:lpstr>
      <vt:lpstr>海洋计算：主要研究问题</vt:lpstr>
      <vt:lpstr>可用海洋数据</vt:lpstr>
      <vt:lpstr>城市计算</vt:lpstr>
      <vt:lpstr>城市计算</vt:lpstr>
      <vt:lpstr>多源城市交通数据</vt:lpstr>
      <vt:lpstr>城市计算应用场景</vt:lpstr>
      <vt:lpstr>城市计算：主要研究问题</vt:lpstr>
      <vt:lpstr>可用数据</vt:lpstr>
      <vt:lpstr>数据库应用系统开发</vt:lpstr>
      <vt:lpstr>数据库应用系统开发</vt:lpstr>
      <vt:lpstr>课程设计开发工具</vt:lpstr>
      <vt:lpstr>数据库应用系统开发</vt:lpstr>
      <vt:lpstr>数据管理前沿技术调研（小组）</vt:lpstr>
      <vt:lpstr>课程设计时间安排</vt:lpstr>
      <vt:lpstr>课程设计成果评价</vt:lpstr>
      <vt:lpstr>OceanBase数据库大赛</vt:lpstr>
      <vt:lpstr>注意事项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lwg</cp:lastModifiedBy>
  <cp:revision>1849</cp:revision>
  <dcterms:created xsi:type="dcterms:W3CDTF">2007-09-26T12:04:45Z</dcterms:created>
  <dcterms:modified xsi:type="dcterms:W3CDTF">2025-09-27T02:53:20Z</dcterms:modified>
</cp:coreProperties>
</file>