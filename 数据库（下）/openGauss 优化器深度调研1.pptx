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282" r:id="rId6"/>
    <p:sldId id="257" r:id="rId7"/>
    <p:sldId id="258" r:id="rId8"/>
    <p:sldId id="280" r:id="rId9"/>
    <p:sldId id="284" r:id="rId10"/>
    <p:sldId id="260" r:id="rId11"/>
    <p:sldId id="261" r:id="rId12"/>
    <p:sldId id="263" r:id="rId13"/>
    <p:sldId id="264" r:id="rId14"/>
    <p:sldId id="283" r:id="rId15"/>
    <p:sldId id="266" r:id="rId16"/>
    <p:sldId id="267" r:id="rId17"/>
    <p:sldId id="289" r:id="rId18"/>
    <p:sldId id="269" r:id="rId19"/>
    <p:sldId id="285" r:id="rId20"/>
    <p:sldId id="270" r:id="rId21"/>
    <p:sldId id="290" r:id="rId22"/>
    <p:sldId id="287" r:id="rId23"/>
    <p:sldId id="291" r:id="rId24"/>
    <p:sldId id="292" r:id="rId25"/>
    <p:sldId id="293" r:id="rId26"/>
    <p:sldId id="273" r:id="rId27"/>
    <p:sldId id="295" r:id="rId28"/>
    <p:sldId id="297" r:id="rId29"/>
    <p:sldId id="298" r:id="rId30"/>
    <p:sldId id="296" r:id="rId31"/>
    <p:sldId id="301" r:id="rId32"/>
    <p:sldId id="300" r:id="rId33"/>
    <p:sldId id="304" r:id="rId34"/>
    <p:sldId id="305" r:id="rId35"/>
    <p:sldId id="306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912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2160"/>
        <p:guide pos="2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tags" Target="../tags/tag25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image" Target="../media/image20.png"/><Relationship Id="rId6" Type="http://schemas.openxmlformats.org/officeDocument/2006/relationships/tags" Target="../tags/tag34.xml"/><Relationship Id="rId5" Type="http://schemas.openxmlformats.org/officeDocument/2006/relationships/image" Target="../media/image19.png"/><Relationship Id="rId4" Type="http://schemas.openxmlformats.org/officeDocument/2006/relationships/tags" Target="../tags/tag33.xml"/><Relationship Id="rId3" Type="http://schemas.openxmlformats.org/officeDocument/2006/relationships/image" Target="../media/image18.pn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9" Type="http://schemas.openxmlformats.org/officeDocument/2006/relationships/image" Target="../media/image23.png"/><Relationship Id="rId18" Type="http://schemas.openxmlformats.org/officeDocument/2006/relationships/tags" Target="../tags/tag43.xml"/><Relationship Id="rId17" Type="http://schemas.openxmlformats.org/officeDocument/2006/relationships/image" Target="../media/image22.png"/><Relationship Id="rId16" Type="http://schemas.openxmlformats.org/officeDocument/2006/relationships/tags" Target="../tags/tag42.xml"/><Relationship Id="rId15" Type="http://schemas.openxmlformats.org/officeDocument/2006/relationships/image" Target="../media/image21.png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44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32.png"/><Relationship Id="rId2" Type="http://schemas.openxmlformats.org/officeDocument/2006/relationships/image" Target="../media/image15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2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31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707390" y="935990"/>
            <a:ext cx="434213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 DATABASE RESEARCH</a:t>
            </a:r>
            <a:endParaRPr lang="en-US" sz="1800" b="0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34035" y="1602134"/>
            <a:ext cx="11601450" cy="182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 优化器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核心技术与</a:t>
            </a:r>
            <a:r>
              <a:rPr lang="zh-CN" alt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</a:t>
            </a:r>
            <a:r>
              <a:rPr lang="en-US" sz="5400" b="1" i="0" u="none" strike="noStrike" cap="non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</a:t>
            </a:r>
            <a:endParaRPr lang="en-US" sz="5400" b="1" i="0" u="none" strike="noStrike" cap="non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61060" y="3615690"/>
            <a:ext cx="2367915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深度调研报告 | 架构解析 </a:t>
            </a:r>
            <a:endParaRPr lang="en-US" sz="1200" b="0" i="0" u="none" strike="noStrike" cap="non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Shape 2"/>
          <p:cNvSpPr/>
          <p:nvPr/>
        </p:nvSpPr>
        <p:spPr>
          <a:xfrm>
            <a:off x="707390" y="4434205"/>
            <a:ext cx="3417570" cy="104013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725805" y="4489450"/>
            <a:ext cx="339915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组员</a:t>
            </a:r>
            <a:r>
              <a:rPr 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: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刘佳鑫</a:t>
            </a:r>
            <a:r>
              <a:rPr 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 徐华炫</a:t>
            </a:r>
            <a:endParaRPr lang="en-US" sz="2400" dirty="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  <a:cs typeface="Inter" panose="020005030000000200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         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毛星博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rPr>
              <a:t>冯灏然</a:t>
            </a:r>
            <a:endParaRPr lang="zh-CN" altLang="en-US" sz="2400" dirty="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  <a:cs typeface="Inter" panose="02000503000000020004" pitchFamily="34" charset="-12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25805" y="5706745"/>
            <a:ext cx="3399790" cy="574040"/>
            <a:chOff x="1142" y="9466"/>
            <a:chExt cx="5354" cy="904"/>
          </a:xfrm>
        </p:grpSpPr>
        <p:sp>
          <p:nvSpPr>
            <p:cNvPr id="10" name="Shape 4"/>
            <p:cNvSpPr/>
            <p:nvPr/>
          </p:nvSpPr>
          <p:spPr>
            <a:xfrm>
              <a:off x="1142" y="9466"/>
              <a:ext cx="5354" cy="904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1905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Text 3"/>
            <p:cNvSpPr/>
            <p:nvPr/>
          </p:nvSpPr>
          <p:spPr>
            <a:xfrm>
              <a:off x="1142" y="9548"/>
              <a:ext cx="5072" cy="72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方正姚体" panose="02010601030101010101" charset="-122"/>
                  <a:ea typeface="方正姚体" panose="02010601030101010101" charset="-122"/>
                  <a:cs typeface="Inter" panose="02000503000000020004" pitchFamily="34" charset="-120"/>
                </a:rPr>
                <a:t>时间:2025-01-01</a:t>
              </a:r>
              <a:endParaRPr lang="en-US" sz="2400" dirty="0">
                <a:solidFill>
                  <a:schemeClr val="bg1"/>
                </a:solidFill>
                <a:latin typeface="方正姚体" panose="02010601030101010101" charset="-122"/>
                <a:ea typeface="方正姚体" panose="02010601030101010101" charset="-122"/>
                <a:cs typeface="Inter" panose="02000503000000020004" pitchFamily="34" charset="-120"/>
              </a:endParaRPr>
            </a:p>
          </p:txBody>
        </p:sp>
      </p:grpSp>
      <p:sp>
        <p:nvSpPr>
          <p:cNvPr id="11" name="Shape 5"/>
          <p:cNvSpPr/>
          <p:nvPr/>
        </p:nvSpPr>
        <p:spPr>
          <a:xfrm>
            <a:off x="571500" y="404939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2" name="Shape 6"/>
          <p:cNvSpPr/>
          <p:nvPr/>
        </p:nvSpPr>
        <p:spPr>
          <a:xfrm>
            <a:off x="707390" y="433387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51280" y="2143125"/>
            <a:ext cx="22352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目录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54305" y="3340100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chemeClr val="bg1"/>
                </a:solidFill>
                <a:latin typeface="Eras Bold ITC" panose="020B0907030504020204" charset="0"/>
                <a:ea typeface="Microsoft Sans Serif" panose="020B0604020202020204" pitchFamily="34" charset="-122"/>
                <a:cs typeface="Eras Bold ITC" panose="020B0907030504020204" charset="0"/>
              </a:rPr>
              <a:t>CONTENTS</a:t>
            </a:r>
            <a:endParaRPr lang="en-US" sz="4400" dirty="0">
              <a:solidFill>
                <a:schemeClr val="bg1"/>
              </a:solidFill>
              <a:latin typeface="Eras Bold ITC" panose="020B0907030504020204" charset="0"/>
              <a:ea typeface="Microsoft Sans Serif" panose="020B0604020202020204" pitchFamily="34" charset="-122"/>
              <a:cs typeface="Eras Bold ITC" panose="020B0907030504020204" charset="0"/>
            </a:endParaRPr>
          </a:p>
        </p:txBody>
      </p:sp>
      <p:pic>
        <p:nvPicPr>
          <p:cNvPr id="5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398780"/>
            <a:ext cx="25400" cy="5842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1234440"/>
            <a:ext cx="25400" cy="584200"/>
          </a:xfrm>
          <a:prstGeom prst="rect">
            <a:avLst/>
          </a:prstGeom>
        </p:spPr>
      </p:pic>
      <p:pic>
        <p:nvPicPr>
          <p:cNvPr id="7" name="Image 3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2070100"/>
            <a:ext cx="25400" cy="584200"/>
          </a:xfrm>
          <a:prstGeom prst="rect">
            <a:avLst/>
          </a:prstGeom>
        </p:spPr>
      </p:pic>
      <p:pic>
        <p:nvPicPr>
          <p:cNvPr id="8" name="Image 4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2905760"/>
            <a:ext cx="25400" cy="584200"/>
          </a:xfrm>
          <a:prstGeom prst="rect">
            <a:avLst/>
          </a:prstGeom>
        </p:spPr>
      </p:pic>
      <p:pic>
        <p:nvPicPr>
          <p:cNvPr id="11" name="Image 7" descr="https://test-kimi-img.moonshot.cn/pub/slides/slides_tmpl/image/25-08-11-17:27:30-d2crf0n0ctitcgma2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25" y="2172335"/>
            <a:ext cx="3980815" cy="2121535"/>
          </a:xfrm>
          <a:prstGeom prst="rect">
            <a:avLst/>
          </a:prstGeom>
        </p:spPr>
      </p:pic>
      <p:pic>
        <p:nvPicPr>
          <p:cNvPr id="9" name="Image 5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3741420"/>
            <a:ext cx="25400" cy="584200"/>
          </a:xfrm>
          <a:prstGeom prst="rect">
            <a:avLst/>
          </a:prstGeom>
        </p:spPr>
      </p:pic>
      <p:pic>
        <p:nvPicPr>
          <p:cNvPr id="10" name="Image 6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92445" y="4577080"/>
            <a:ext cx="25400" cy="584200"/>
          </a:xfrm>
          <a:prstGeom prst="rect">
            <a:avLst/>
          </a:prstGeom>
        </p:spPr>
      </p:pic>
      <p:pic>
        <p:nvPicPr>
          <p:cNvPr id="12" name="Image 8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344805"/>
            <a:ext cx="170180" cy="592455"/>
          </a:xfrm>
          <a:prstGeom prst="rect">
            <a:avLst/>
          </a:prstGeom>
        </p:spPr>
      </p:pic>
      <p:pic>
        <p:nvPicPr>
          <p:cNvPr id="13" name="Image 9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sp>
        <p:nvSpPr>
          <p:cNvPr id="14" name="Text 2"/>
          <p:cNvSpPr/>
          <p:nvPr>
            <p:custDataLst>
              <p:tags r:id="rId12"/>
            </p:custDataLst>
          </p:nvPr>
        </p:nvSpPr>
        <p:spPr>
          <a:xfrm>
            <a:off x="4606925" y="34163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01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5" name="Text 3"/>
          <p:cNvSpPr/>
          <p:nvPr>
            <p:custDataLst>
              <p:tags r:id="rId13"/>
            </p:custDataLst>
          </p:nvPr>
        </p:nvSpPr>
        <p:spPr>
          <a:xfrm>
            <a:off x="5673725" y="44704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调研背景与总体目标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16" name="Text 4"/>
          <p:cNvSpPr/>
          <p:nvPr>
            <p:custDataLst>
              <p:tags r:id="rId14"/>
            </p:custDataLst>
          </p:nvPr>
        </p:nvSpPr>
        <p:spPr>
          <a:xfrm>
            <a:off x="4606925" y="117729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02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7" name="Text 5"/>
          <p:cNvSpPr/>
          <p:nvPr>
            <p:custDataLst>
              <p:tags r:id="rId15"/>
            </p:custDataLst>
          </p:nvPr>
        </p:nvSpPr>
        <p:spPr>
          <a:xfrm>
            <a:off x="5673725" y="1282700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优化器决策依据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18" name="Text 6"/>
          <p:cNvSpPr/>
          <p:nvPr>
            <p:custDataLst>
              <p:tags r:id="rId16"/>
            </p:custDataLst>
          </p:nvPr>
        </p:nvSpPr>
        <p:spPr>
          <a:xfrm>
            <a:off x="4606925" y="201295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03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19" name="Text 7"/>
          <p:cNvSpPr/>
          <p:nvPr>
            <p:custDataLst>
              <p:tags r:id="rId17"/>
            </p:custDataLst>
          </p:nvPr>
        </p:nvSpPr>
        <p:spPr>
          <a:xfrm>
            <a:off x="5673725" y="211836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成本计算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20" name="Text 8"/>
          <p:cNvSpPr/>
          <p:nvPr>
            <p:custDataLst>
              <p:tags r:id="rId18"/>
            </p:custDataLst>
          </p:nvPr>
        </p:nvSpPr>
        <p:spPr>
          <a:xfrm>
            <a:off x="4606925" y="284861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04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1" name="Text 9"/>
          <p:cNvSpPr/>
          <p:nvPr>
            <p:custDataLst>
              <p:tags r:id="rId19"/>
            </p:custDataLst>
          </p:nvPr>
        </p:nvSpPr>
        <p:spPr>
          <a:xfrm>
            <a:off x="5673725" y="2954020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Hint</a:t>
            </a: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机制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22" name="Text 10"/>
          <p:cNvSpPr/>
          <p:nvPr>
            <p:custDataLst>
              <p:tags r:id="rId20"/>
            </p:custDataLst>
          </p:nvPr>
        </p:nvSpPr>
        <p:spPr>
          <a:xfrm>
            <a:off x="4606925" y="368427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05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3" name="Text 11"/>
          <p:cNvSpPr/>
          <p:nvPr>
            <p:custDataLst>
              <p:tags r:id="rId21"/>
            </p:custDataLst>
          </p:nvPr>
        </p:nvSpPr>
        <p:spPr>
          <a:xfrm>
            <a:off x="5673725" y="378968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大表</a:t>
            </a:r>
            <a:r>
              <a:rPr lang="en-US" altLang="zh-CN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Join</a:t>
            </a:r>
            <a:endParaRPr lang="en-US" altLang="zh-CN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sp>
        <p:nvSpPr>
          <p:cNvPr id="24" name="Text 12"/>
          <p:cNvSpPr/>
          <p:nvPr>
            <p:custDataLst>
              <p:tags r:id="rId22"/>
            </p:custDataLst>
          </p:nvPr>
        </p:nvSpPr>
        <p:spPr>
          <a:xfrm>
            <a:off x="4606925" y="451993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06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5" name="Text 13"/>
          <p:cNvSpPr/>
          <p:nvPr>
            <p:custDataLst>
              <p:tags r:id="rId23"/>
            </p:custDataLst>
          </p:nvPr>
        </p:nvSpPr>
        <p:spPr>
          <a:xfrm>
            <a:off x="5673725" y="4625340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  <a:sym typeface="+mn-ea"/>
              </a:rPr>
              <a:t>AI</a:t>
            </a: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  <a:sym typeface="+mn-ea"/>
              </a:rPr>
              <a:t>驱动统计信息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  <a:sym typeface="+mn-ea"/>
            </a:endParaRPr>
          </a:p>
        </p:txBody>
      </p:sp>
      <p:sp>
        <p:nvSpPr>
          <p:cNvPr id="26" name="Text 12"/>
          <p:cNvSpPr/>
          <p:nvPr>
            <p:custDataLst>
              <p:tags r:id="rId24"/>
            </p:custDataLst>
          </p:nvPr>
        </p:nvSpPr>
        <p:spPr>
          <a:xfrm>
            <a:off x="4632325" y="522351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07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27" name="Text 12"/>
          <p:cNvSpPr/>
          <p:nvPr>
            <p:custDataLst>
              <p:tags r:id="rId25"/>
            </p:custDataLst>
          </p:nvPr>
        </p:nvSpPr>
        <p:spPr>
          <a:xfrm>
            <a:off x="4632325" y="5927090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08</a:t>
            </a:r>
            <a:endParaRPr lang="en-US" sz="32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pic>
        <p:nvPicPr>
          <p:cNvPr id="2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51805" y="5273675"/>
            <a:ext cx="25400" cy="584200"/>
          </a:xfrm>
          <a:prstGeom prst="rect">
            <a:avLst/>
          </a:prstGeom>
        </p:spPr>
      </p:pic>
      <p:sp>
        <p:nvSpPr>
          <p:cNvPr id="28" name="Text 3"/>
          <p:cNvSpPr/>
          <p:nvPr>
            <p:custDataLst>
              <p:tags r:id="rId27"/>
            </p:custDataLst>
          </p:nvPr>
        </p:nvSpPr>
        <p:spPr>
          <a:xfrm>
            <a:off x="5617845" y="5314315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效率加速</a:t>
            </a:r>
            <a:endParaRPr lang="en-US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  <p:pic>
        <p:nvPicPr>
          <p:cNvPr id="29" name="Image 1" descr="https://test-kimi-img.moonshot.cn/pub/slides/slides_tmpl/image/25-08-11-17:27:30-d2crf0n0ctitcgma2e00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67045" y="5955030"/>
            <a:ext cx="25400" cy="584200"/>
          </a:xfrm>
          <a:prstGeom prst="rect">
            <a:avLst/>
          </a:prstGeom>
        </p:spPr>
      </p:pic>
      <p:sp>
        <p:nvSpPr>
          <p:cNvPr id="30" name="Text 3"/>
          <p:cNvSpPr/>
          <p:nvPr>
            <p:custDataLst>
              <p:tags r:id="rId29"/>
            </p:custDataLst>
          </p:nvPr>
        </p:nvSpPr>
        <p:spPr>
          <a:xfrm>
            <a:off x="5648325" y="6003290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Microsoft Sans Serif" panose="020B0604020202020204" pitchFamily="34" charset="0"/>
                <a:ea typeface="宋体" panose="02010600030101010101" pitchFamily="2" charset="-122"/>
                <a:cs typeface="Microsoft Sans Serif" panose="020B0604020202020204" pitchFamily="34" charset="-120"/>
              </a:rPr>
              <a:t>阶段总结与后续工作计划</a:t>
            </a:r>
            <a:endParaRPr lang="zh-CN" altLang="en-US" sz="2400" b="1" dirty="0">
              <a:solidFill>
                <a:schemeClr val="bg1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2106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01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调研背景与总体目标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085" y="1728470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1500" y="1838960"/>
            <a:ext cx="4909820" cy="3395980"/>
            <a:chOff x="900" y="4116"/>
            <a:chExt cx="8400" cy="4128"/>
          </a:xfrm>
        </p:grpSpPr>
        <p:pic>
          <p:nvPicPr>
            <p:cNvPr id="93" name="Google Shape;93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4116"/>
              <a:ext cx="8400" cy="4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365" y="4581"/>
              <a:ext cx="7843" cy="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74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鲲鹏计算生态</a:t>
              </a:r>
              <a:endPara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365" y="5421"/>
              <a:ext cx="7470" cy="2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在“硬件开放、软件开源”的战略背景下，数据库作为IT三大基础设施之一，正迎来国产化浪潮。openGauss 深度结合鲲鹏算力，旨在释放硬件的极致性能。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98" name="Google Shape;98;p14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365" y="4656"/>
              <a:ext cx="327" cy="4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6494145" y="1838960"/>
            <a:ext cx="5334000" cy="3395980"/>
            <a:chOff x="9900" y="4116"/>
            <a:chExt cx="8400" cy="4128"/>
          </a:xfrm>
        </p:grpSpPr>
        <p:pic>
          <p:nvPicPr>
            <p:cNvPr id="94" name="Google Shape;94;p14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900" y="4116"/>
              <a:ext cx="8400" cy="4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4"/>
            <p:cNvSpPr txBox="1"/>
            <p:nvPr/>
          </p:nvSpPr>
          <p:spPr>
            <a:xfrm>
              <a:off x="10457" y="4444"/>
              <a:ext cx="7843" cy="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74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openGauss 定位</a:t>
              </a:r>
              <a:endPara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99" name="Google Shape;99;p14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457" y="4598"/>
              <a:ext cx="235" cy="4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4"/>
            <p:cNvSpPr txBox="1"/>
            <p:nvPr>
              <p:custDataLst>
                <p:tags r:id="rId7"/>
              </p:custDataLst>
            </p:nvPr>
          </p:nvSpPr>
          <p:spPr>
            <a:xfrm>
              <a:off x="10575" y="5375"/>
              <a:ext cx="90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endParaRPr lang="en-US" sz="135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1" name="Google Shape;101;p14"/>
            <p:cNvSpPr txBox="1"/>
            <p:nvPr>
              <p:custDataLst>
                <p:tags r:id="rId8"/>
              </p:custDataLst>
            </p:nvPr>
          </p:nvSpPr>
          <p:spPr>
            <a:xfrm>
              <a:off x="10665" y="5076"/>
              <a:ext cx="7170" cy="1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企业级开源：</a:t>
              </a: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高性能、高安全、易运维的关系型数据库。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2" name="Google Shape;102;p14"/>
            <p:cNvSpPr txBox="1"/>
            <p:nvPr>
              <p:custDataLst>
                <p:tags r:id="rId9"/>
              </p:custDataLst>
            </p:nvPr>
          </p:nvSpPr>
          <p:spPr>
            <a:xfrm>
              <a:off x="10575" y="6032"/>
              <a:ext cx="90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endParaRPr lang="en-US" sz="135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3" name="Google Shape;103;p14"/>
            <p:cNvSpPr txBox="1"/>
            <p:nvPr>
              <p:custDataLst>
                <p:tags r:id="rId10"/>
              </p:custDataLst>
            </p:nvPr>
          </p:nvSpPr>
          <p:spPr>
            <a:xfrm>
              <a:off x="10665" y="6033"/>
              <a:ext cx="7170" cy="1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灵活部署：</a:t>
              </a: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支持基于 Shared-Nothing 的分布式与集中式部署形态。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4" name="Google Shape;104;p14"/>
            <p:cNvSpPr txBox="1"/>
            <p:nvPr>
              <p:custDataLst>
                <p:tags r:id="rId11"/>
              </p:custDataLst>
            </p:nvPr>
          </p:nvSpPr>
          <p:spPr>
            <a:xfrm>
              <a:off x="10575" y="7120"/>
              <a:ext cx="90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endParaRPr lang="en-US" sz="135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5" name="Google Shape;105;p14"/>
            <p:cNvSpPr txBox="1"/>
            <p:nvPr>
              <p:custDataLst>
                <p:tags r:id="rId12"/>
              </p:custDataLst>
            </p:nvPr>
          </p:nvSpPr>
          <p:spPr>
            <a:xfrm>
              <a:off x="10665" y="7122"/>
              <a:ext cx="7170" cy="1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软硬协同：</a:t>
              </a:r>
              <a:r>
                <a:rPr lang="en-US" sz="18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针对多核架构的 NUMA-Aware 存储引擎优化。</a:t>
              </a:r>
              <a:endPara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06" name="Google Shape;106;p14"/>
          <p:cNvSpPr txBox="1"/>
          <p:nvPr/>
        </p:nvSpPr>
        <p:spPr>
          <a:xfrm>
            <a:off x="571500" y="396875"/>
            <a:ext cx="463804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</a:t>
            </a: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571500" y="762000"/>
            <a:ext cx="52006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查询优化框架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95630" y="1686560"/>
            <a:ext cx="301434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</a:t>
            </a:r>
            <a:r>
              <a:rPr lang="zh-CN" alt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框架</a:t>
            </a:r>
            <a:endParaRPr lang="zh-CN" alt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95630" y="2110740"/>
            <a:ext cx="4953000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openGauss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继承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PostgreSQL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的基于代价（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Cost-Based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）的查询优化框架，在此基础上加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⼊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了更丰富的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Hint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机制、扩展统计与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统计模型、以及向量化和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CodeGen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等执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加速技术。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95630" y="4062035"/>
            <a:ext cx="520065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</a:t>
            </a:r>
            <a:r>
              <a:rPr lang="zh-CN" alt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改进</a:t>
            </a:r>
            <a:endParaRPr lang="zh-CN" alt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480500"/>
            <a:ext cx="49530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在此基础上加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⼊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了更丰富的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Hint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机制、扩展统计与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统计模型、以及向量化和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CodeGen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等执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加速技术。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971040" y="1731010"/>
            <a:ext cx="8431530" cy="3395980"/>
            <a:chOff x="900" y="4116"/>
            <a:chExt cx="8400" cy="4128"/>
          </a:xfrm>
        </p:grpSpPr>
        <p:pic>
          <p:nvPicPr>
            <p:cNvPr id="93" name="Google Shape;93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00" y="4116"/>
              <a:ext cx="8400" cy="4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4"/>
            <p:cNvSpPr txBox="1"/>
            <p:nvPr/>
          </p:nvSpPr>
          <p:spPr>
            <a:xfrm>
              <a:off x="1365" y="4564"/>
              <a:ext cx="7470" cy="3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本调研旨在基于对优化器核心机制（路径枚举、代价计算及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Hint/AI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干预）的深度调研，开展针对性的性能与源码分析工作。在已厘清优化器决策依据与成本模型的基础上，下一步将重点转向实践验证：具体包括通过源码分析校验复杂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Hint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机制的有效性，评估大表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JOIN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场景下代价估算的精准度，以及深入测算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CodeGen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技术在</a:t>
              </a:r>
              <a:r>
                <a:rPr lang="en-US" altLang="zh-CN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openGauss</a:t>
              </a:r>
              <a:r>
                <a:rPr lang="zh-CN" altLang="en-US" sz="1800" b="0" i="0" u="none" strike="noStrike" cap="none">
                  <a:solidFill>
                    <a:schemeClr val="bg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中的实际性能提升，以全面评估并优化数据库执行效能。</a:t>
              </a:r>
              <a:endParaRPr lang="zh-CN" altLang="en-US" sz="1800" b="0" i="0" u="none" strike="noStrike" cap="non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06" name="Google Shape;106;p14"/>
          <p:cNvSpPr txBox="1"/>
          <p:nvPr/>
        </p:nvSpPr>
        <p:spPr>
          <a:xfrm>
            <a:off x="571500" y="396875"/>
            <a:ext cx="463804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调研目标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02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优化器决策依据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360" y="152844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0193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685800" y="2429192"/>
            <a:ext cx="56007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SQL 到 Execution</a:t>
            </a:r>
            <a:endParaRPr lang="en-US" sz="32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202882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04850" y="3204210"/>
            <a:ext cx="5715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957580" y="3151822"/>
            <a:ext cx="51435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 (Parser):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语法分析，生成逻辑树。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704850" y="3621375"/>
            <a:ext cx="5715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952500" y="3622327"/>
            <a:ext cx="51435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重写 (Rewriter):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规则优化，如视图展开。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704850" y="4168775"/>
            <a:ext cx="20447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957580" y="4092832"/>
            <a:ext cx="5143500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 (Planner):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核心环节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。基于成本模型 (CBO) 在庞大的搜索空间中寻找最优路径。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714375" y="4623435"/>
            <a:ext cx="15621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957580" y="5006538"/>
            <a:ext cx="5143500" cy="44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 (Executor):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按照计划树执行算子。</a:t>
            </a:r>
            <a:endParaRPr lang="en-US" sz="18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查询处理流程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685800" y="865505"/>
            <a:ext cx="3752850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重写</a:t>
            </a:r>
            <a:r>
              <a:rPr lang="zh-CN" alt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阶段的变换</a:t>
            </a:r>
            <a:endParaRPr lang="zh-CN" alt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361430" y="836295"/>
            <a:ext cx="3041015" cy="45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基表访问路径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5800" y="1691640"/>
            <a:ext cx="4046855" cy="2207260"/>
            <a:chOff x="1200" y="4401"/>
            <a:chExt cx="8100" cy="3476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1200" y="4401"/>
              <a:ext cx="6787" cy="1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通过等价变换简化查询结构，决定后续搜索空间的形态。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1200" y="5943"/>
              <a:ext cx="8100" cy="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谓词下推：</a:t>
              </a: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尽早过滤数据。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1200" y="6600"/>
              <a:ext cx="8100" cy="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子查询拉平：</a:t>
              </a: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将子查询转化为 Join。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200" y="7257"/>
              <a:ext cx="8100" cy="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视图展开：</a:t>
              </a:r>
              <a:r>
                <a:rPr 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暴露基表供优化器选择。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61" name="Google Shape;161;p18"/>
          <p:cNvSpPr txBox="1"/>
          <p:nvPr/>
        </p:nvSpPr>
        <p:spPr>
          <a:xfrm>
            <a:off x="5389245" y="1527810"/>
            <a:ext cx="6286500" cy="343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对每个基表或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⼦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查询，优化器会构造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⼀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RelOptInfo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结构，记录该关系的多种访问路径（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Path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）。在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src/include/optimizer/cost.h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中可以看到典型路径对应的代价函数原型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顺序扫描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(Seq Scan)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：全表扫描，每个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⻚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seq_page_cost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计价；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索引扫描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(Index Scan)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通过索引访问部分元组，同时考虑索引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⻚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与回表开销；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Bitmap Heap Scan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先以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bitmap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形式定位候选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，再批量访问数据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⻚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，有利于减少随机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I/O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列存扫描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(cstorescan)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针对列存表，单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CPU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成本相对更低。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⼀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RelOptInfo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下通常会存在多条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Path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，每条路径都会被填充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startup_cost 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和，后续在</a:t>
            </a:r>
            <a:r>
              <a:rPr lang="en-US" altLang="zh-CN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JOIN 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构造时，基于这些路径进</a:t>
            </a:r>
            <a:r>
              <a:rPr lang="en-US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⾏</a:t>
            </a:r>
            <a:r>
              <a:rPr lang="zh-CN" alt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组合。</a:t>
            </a:r>
            <a:endParaRPr lang="zh-CN" alt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59105" y="207645"/>
            <a:ext cx="832866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逻辑重写与扫描路径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5082540"/>
            <a:ext cx="8770620" cy="17341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2479327"/>
            <a:ext cx="3492549" cy="288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479327"/>
            <a:ext cx="3492549" cy="288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128099" y="2479327"/>
            <a:ext cx="3492549" cy="288979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>
            <p:custDataLst>
              <p:tags r:id="rId8"/>
            </p:custDataLst>
          </p:nvPr>
        </p:nvSpPr>
        <p:spPr>
          <a:xfrm>
            <a:off x="1534795" y="3488690"/>
            <a:ext cx="181673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Hash Join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5" name="Google Shape;185;p20"/>
          <p:cNvSpPr txBox="1"/>
          <p:nvPr>
            <p:custDataLst>
              <p:tags r:id="rId9"/>
            </p:custDataLst>
          </p:nvPr>
        </p:nvSpPr>
        <p:spPr>
          <a:xfrm>
            <a:off x="866775" y="4108102"/>
            <a:ext cx="2901999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适用于大表关联，构建哈希表进行匹配。openGauss 对此进行了大量内存与并行优化。</a:t>
            </a:r>
            <a:endParaRPr 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6" name="Google Shape;186;p20"/>
          <p:cNvSpPr txBox="1"/>
          <p:nvPr>
            <p:custDataLst>
              <p:tags r:id="rId10"/>
            </p:custDataLst>
          </p:nvPr>
        </p:nvSpPr>
        <p:spPr>
          <a:xfrm>
            <a:off x="5134610" y="3488690"/>
            <a:ext cx="203644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Nested Loop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7" name="Google Shape;187;p20"/>
          <p:cNvSpPr txBox="1"/>
          <p:nvPr>
            <p:custDataLst>
              <p:tags r:id="rId11"/>
            </p:custDataLst>
          </p:nvPr>
        </p:nvSpPr>
        <p:spPr>
          <a:xfrm>
            <a:off x="4645074" y="4108102"/>
            <a:ext cx="2901999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适用于小表驱动大表（且大表有索引）的场景，类似双层循环。</a:t>
            </a:r>
            <a:endParaRPr 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8" name="Google Shape;188;p20"/>
          <p:cNvSpPr txBox="1"/>
          <p:nvPr>
            <p:custDataLst>
              <p:tags r:id="rId12"/>
            </p:custDataLst>
          </p:nvPr>
        </p:nvSpPr>
        <p:spPr>
          <a:xfrm>
            <a:off x="8954770" y="3488690"/>
            <a:ext cx="1947545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Merge Join</a:t>
            </a:r>
            <a:endParaRPr lang="en-US" sz="28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9" name="Google Shape;189;p20"/>
          <p:cNvSpPr txBox="1"/>
          <p:nvPr>
            <p:custDataLst>
              <p:tags r:id="rId13"/>
            </p:custDataLst>
          </p:nvPr>
        </p:nvSpPr>
        <p:spPr>
          <a:xfrm>
            <a:off x="8423374" y="4108102"/>
            <a:ext cx="2901999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要求连接键有序。如果数据已经排序（如利用 B-Tree 索引），效率极高。</a:t>
            </a:r>
            <a:endParaRPr 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0" name="Google Shape;190;p20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2139850" y="2812702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>
            <p:custDataLst>
              <p:tags r:id="rId16"/>
            </p:custDataLst>
          </p:nvPr>
        </p:nvPicPr>
        <p:blipFill rotWithShape="1">
          <a:blip r:embed="rId17"/>
          <a:srcRect/>
          <a:stretch>
            <a:fillRect/>
          </a:stretch>
        </p:blipFill>
        <p:spPr>
          <a:xfrm>
            <a:off x="5918150" y="2812702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9696450" y="2812702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连接算法枚举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400050" y="1731010"/>
            <a:ext cx="11049000" cy="4387850"/>
            <a:chOff x="900" y="4229"/>
            <a:chExt cx="17400" cy="6910"/>
          </a:xfrm>
        </p:grpSpPr>
        <p:pic>
          <p:nvPicPr>
            <p:cNvPr id="199" name="Google Shape;199;p21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900" y="4229"/>
              <a:ext cx="8578" cy="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870" y="4229"/>
              <a:ext cx="8430" cy="69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1"/>
            <p:cNvSpPr txBox="1"/>
            <p:nvPr/>
          </p:nvSpPr>
          <p:spPr>
            <a:xfrm>
              <a:off x="1365" y="4694"/>
              <a:ext cx="7843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搜索策略</a:t>
              </a:r>
              <a:endPara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2" name="Google Shape;202;p21"/>
            <p:cNvSpPr txBox="1"/>
            <p:nvPr/>
          </p:nvSpPr>
          <p:spPr>
            <a:xfrm>
              <a:off x="10365" y="4694"/>
              <a:ext cx="7843" cy="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38BD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空间剪枝</a:t>
              </a:r>
              <a:endParaRPr lang="en-US" sz="28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4" name="Google Shape;204;p21"/>
            <p:cNvSpPr txBox="1"/>
            <p:nvPr>
              <p:custDataLst>
                <p:tags r:id="rId5"/>
              </p:custDataLst>
            </p:nvPr>
          </p:nvSpPr>
          <p:spPr>
            <a:xfrm>
              <a:off x="1170" y="5372"/>
              <a:ext cx="8232" cy="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对于多表连接，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openGauss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使用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“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动态规划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+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启发式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”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策略枚举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顺序：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为每个基表构造初始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RelOptInfo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按照表集合的大小（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表、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表、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表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......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）自底向上，枚举所有可能子集；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对于每个子集，尝试将其拆分为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(outer, inner)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两部分，并基于不同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算法生成候选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Path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为每个子集保留当前最优（总成本最低）的路径，避免重复计算。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08" name="Google Shape;208;p21"/>
            <p:cNvSpPr txBox="1"/>
            <p:nvPr>
              <p:custDataLst>
                <p:tags r:id="rId6"/>
              </p:custDataLst>
            </p:nvPr>
          </p:nvSpPr>
          <p:spPr>
            <a:xfrm>
              <a:off x="10365" y="5489"/>
              <a:ext cx="7170" cy="5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为了防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⽌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搜索空间指数级膨胀，优化器采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⽤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多种剪枝策略：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对相同输出的多个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 Path 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只保留总代价最低者；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在外连接、半连接等存在语义顺序约束的情况下，跳过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⾮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法的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顺序；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当某个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⼦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计划的代价远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⾼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于已有候选时提前淘汰，不再基于其扩展更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⼤⼦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集；</a:t>
              </a:r>
              <a:endPara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在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⼀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些复杂场景可启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⽤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遗传算法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GEQO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，对</a:t>
              </a:r>
              <a:r>
                <a:rPr lang="en-US" altLang="zh-CN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JOIN 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顺序进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⾏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近似搜索</a:t>
              </a:r>
              <a:r>
                <a:rPr lang="en-US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⽽⾮</a:t>
              </a:r>
              <a:r>
                <a:rPr lang="zh-CN" altLang="en-US" sz="1600" b="0" i="0" u="none" strike="noStrike" cap="none">
                  <a:solidFill>
                    <a:srgbClr val="CBD5E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全量枚举。</a:t>
              </a:r>
              <a:endParaRPr 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JOIN 顺序与剪枝策略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03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成本计算：数学模型、参数与统计信息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/>
        </p:nvSpPr>
        <p:spPr>
          <a:xfrm>
            <a:off x="571500" y="1270635"/>
            <a:ext cx="285242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代价值建模</a:t>
            </a:r>
            <a:endParaRPr 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286500" y="1268730"/>
            <a:ext cx="2687955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总成本公式</a:t>
            </a:r>
            <a:endParaRPr lang="en-US" sz="21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59805" y="2972435"/>
            <a:ext cx="5989320" cy="1622425"/>
            <a:chOff x="9900" y="5100"/>
            <a:chExt cx="8400" cy="2093"/>
          </a:xfrm>
        </p:grpSpPr>
        <p:pic>
          <p:nvPicPr>
            <p:cNvPr id="229" name="Google Shape;229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0" y="5100"/>
              <a:ext cx="8400" cy="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900" y="6247"/>
              <a:ext cx="8400" cy="9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3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502" y="5415"/>
              <a:ext cx="3195" cy="3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811" y="6562"/>
              <a:ext cx="4577" cy="3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23"/>
          <p:cNvSpPr txBox="1"/>
          <p:nvPr/>
        </p:nvSpPr>
        <p:spPr>
          <a:xfrm>
            <a:off x="374015" y="1765935"/>
            <a:ext cx="493077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altLang="zh-CN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src/include/optimizer/cost.h 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中定义了</a:t>
            </a:r>
            <a:r>
              <a:rPr lang="en-US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⼀</a:t>
            </a: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系列默认代价参数：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</a:t>
            </a: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</a:t>
            </a:r>
            <a:r>
              <a:rPr lang="zh-CN" alt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</a:t>
            </a:r>
            <a:endParaRPr lang="zh-CN" alt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Google Shape;232;p23"/>
          <p:cNvSpPr txBox="1"/>
          <p:nvPr/>
        </p:nvSpPr>
        <p:spPr>
          <a:xfrm>
            <a:off x="6286500" y="1913255"/>
            <a:ext cx="553529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可以抽象把总代价写为：</a:t>
            </a:r>
            <a:endParaRPr lang="zh-CN" altLang="en-US" sz="1600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20" y="2594610"/>
            <a:ext cx="5568315" cy="2094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61620" y="4933315"/>
            <a:ext cx="540321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这些参数对应：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I/O 成本： 顺序页 seq_page_cost 、随机页random_page_cost ；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CPU 成本： 处理一行的 cpu_tuple_cost 、处理一次索引元组的 cpu_index_tuple_cost 、执行一个算子/哈希运算的成本等；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eaLnBrk="1" fontAlgn="auto" latinLnBrk="1" hangingPunct="1"/>
            <a:r>
              <a:rPr lang="en-US" altLang="zh-CN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内存与缓存： effective_cache_size 影响 I/O 命中率预估。</a:t>
            </a:r>
            <a:endParaRPr lang="en-US" altLang="zh-CN" sz="16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201930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762000" y="1778000"/>
            <a:ext cx="392366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pg_statistic 系统表</a:t>
            </a:r>
            <a:endParaRPr lang="en-US" sz="2400" b="1" i="0" u="none" strike="noStrike" cap="none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96025" y="177800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>
            <p:custDataLst>
              <p:tags r:id="rId4"/>
            </p:custDataLst>
          </p:nvPr>
        </p:nvSpPr>
        <p:spPr>
          <a:xfrm>
            <a:off x="704850" y="3204210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4" name="Google Shape;254;p24"/>
          <p:cNvSpPr txBox="1"/>
          <p:nvPr>
            <p:custDataLst>
              <p:tags r:id="rId5"/>
            </p:custDataLst>
          </p:nvPr>
        </p:nvSpPr>
        <p:spPr>
          <a:xfrm>
            <a:off x="762000" y="3205162"/>
            <a:ext cx="514350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直方图 (Histogram):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描述数据分布，处理范围查询。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5" name="Google Shape;255;p24"/>
          <p:cNvSpPr txBox="1"/>
          <p:nvPr>
            <p:custDataLst>
              <p:tags r:id="rId6"/>
            </p:custDataLst>
          </p:nvPr>
        </p:nvSpPr>
        <p:spPr>
          <a:xfrm>
            <a:off x="704850" y="3621375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6" name="Google Shape;256;p24"/>
          <p:cNvSpPr txBox="1"/>
          <p:nvPr>
            <p:custDataLst>
              <p:tags r:id="rId7"/>
            </p:custDataLst>
          </p:nvPr>
        </p:nvSpPr>
        <p:spPr>
          <a:xfrm>
            <a:off x="762000" y="3622327"/>
            <a:ext cx="514350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最常见值 (MCV):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记录高频数据，处理等值查询偏斜。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7" name="Google Shape;257;p24"/>
          <p:cNvSpPr txBox="1"/>
          <p:nvPr>
            <p:custDataLst>
              <p:tags r:id="rId8"/>
            </p:custDataLst>
          </p:nvPr>
        </p:nvSpPr>
        <p:spPr>
          <a:xfrm>
            <a:off x="704850" y="4038540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8" name="Google Shape;258;p24"/>
          <p:cNvSpPr txBox="1"/>
          <p:nvPr>
            <p:custDataLst>
              <p:tags r:id="rId9"/>
            </p:custDataLst>
          </p:nvPr>
        </p:nvSpPr>
        <p:spPr>
          <a:xfrm>
            <a:off x="762000" y="4039492"/>
            <a:ext cx="5143500" cy="34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扩展统计: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解决多列强相关性导致的估算偏差。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9" name="Google Shape;259;p24"/>
          <p:cNvSpPr txBox="1"/>
          <p:nvPr>
            <p:custDataLst>
              <p:tags r:id="rId10"/>
            </p:custDataLst>
          </p:nvPr>
        </p:nvSpPr>
        <p:spPr>
          <a:xfrm>
            <a:off x="704850" y="4455705"/>
            <a:ext cx="57150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0" name="Google Shape;260;p24"/>
          <p:cNvSpPr txBox="1"/>
          <p:nvPr>
            <p:custDataLst>
              <p:tags r:id="rId11"/>
            </p:custDataLst>
          </p:nvPr>
        </p:nvSpPr>
        <p:spPr>
          <a:xfrm>
            <a:off x="762000" y="4456658"/>
            <a:ext cx="5143500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行数估算 (Cardinality):</a:t>
            </a:r>
            <a:r>
              <a:rPr lang="en-US" b="0" i="0" u="none" strike="noStrike" cap="non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代价模型的基石，利用 Logistic 函数平滑数据偏斜。</a:t>
            </a:r>
            <a:endParaRPr lang="en-US" b="0" i="0" u="none" strike="noStrike" cap="non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统计信息与估算</a:t>
            </a:r>
            <a:endParaRPr lang="en-US" sz="3600" b="1" i="0" u="none" strike="noStrike" cap="non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2295525"/>
            <a:ext cx="3630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openGauss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利</a:t>
            </a:r>
            <a:r>
              <a:rPr lang="en-US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⽤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系统表</a:t>
            </a:r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pg_statistic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、</a:t>
            </a:r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pg_statistic_ext 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存储列及多列统计信息</a:t>
            </a:r>
            <a:endParaRPr lang="zh-CN" altLang="en-US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  <a:sym typeface="Arial" panose="020B0604020202020204"/>
              </a:rPr>
              <a:t>04</a:t>
            </a:r>
            <a:endParaRPr kumimoji="0" lang="en-US" sz="8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  <a:sym typeface="Arial" panose="020B0604020202020204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5105" y="2883535"/>
            <a:ext cx="7214870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/>
            <a:r>
              <a:rPr lang="en-US" altLang="zh-CN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机制：用户干预下的决策</a:t>
            </a:r>
            <a:endParaRPr lang="zh-CN" altLang="en-US" sz="60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389860" y="728270"/>
            <a:ext cx="10849640" cy="13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Hint 是优化器的“</a:t>
            </a:r>
            <a:r>
              <a:rPr lang="en-US" sz="3150" b="0" i="0" u="none" strike="noStrike" cap="non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人工接管模式</a:t>
            </a:r>
            <a:r>
              <a:rPr lang="en-US" sz="3150" b="0" i="0" u="none" strike="noStrike" cap="non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”。</a:t>
            </a:r>
            <a:r>
              <a:rPr lang="en-US" sz="3150" b="0" i="0" u="none" strike="noStrike" cap="non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当统计信息失真或逻辑复杂时，它允许用户显式干预连接顺序与路径选择</a:t>
            </a:r>
            <a:r>
              <a:rPr lang="zh-CN" altLang="en-US" sz="315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，例如：</a:t>
            </a:r>
            <a:endParaRPr dirty="0"/>
          </a:p>
        </p:txBody>
      </p:sp>
      <p:sp>
        <p:nvSpPr>
          <p:cNvPr id="277" name="Google Shape;277;p26"/>
          <p:cNvSpPr txBox="1"/>
          <p:nvPr/>
        </p:nvSpPr>
        <p:spPr>
          <a:xfrm>
            <a:off x="-136895" y="469738"/>
            <a:ext cx="1399067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endParaRPr dirty="0"/>
          </a:p>
        </p:txBody>
      </p:sp>
      <p:pic>
        <p:nvPicPr>
          <p:cNvPr id="3" name="图片 2" descr="图片包含 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423" y="2572830"/>
            <a:ext cx="6277851" cy="2600688"/>
          </a:xfrm>
          <a:prstGeom prst="rect">
            <a:avLst/>
          </a:prstGeom>
        </p:spPr>
      </p:pic>
      <p:sp>
        <p:nvSpPr>
          <p:cNvPr id="4" name="Google Shape;277;p26"/>
          <p:cNvSpPr txBox="1"/>
          <p:nvPr/>
        </p:nvSpPr>
        <p:spPr>
          <a:xfrm rot="10800000">
            <a:off x="10718947" y="4187589"/>
            <a:ext cx="1399067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6122581" y="4531678"/>
            <a:ext cx="5600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</a:t>
            </a:r>
            <a:r>
              <a:rPr kumimoji="0" lang="en-US" sz="2100" b="1" i="0" u="none" strike="noStrike" kern="0" cap="none" spc="0" normalizeH="0" baseline="0" noProof="0" dirty="0" err="1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大致为：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6255931" y="503555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6313081" y="5036503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35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Parser: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SQL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中的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Hint </a:t>
            </a:r>
            <a:r>
              <a:rPr kumimoji="0" lang="en-US" sz="1350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注释</a:t>
            </a: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6255931" y="545271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6313081" y="5453668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parse_hint.cpp: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解析并存储 Hint 约束。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6255931" y="586988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6313081" y="5870833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350" b="1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Planner:</a:t>
            </a:r>
            <a:r>
              <a:rPr kumimoji="0" lang="en-US" sz="135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在路径枚举时，直接丢弃不符合 Hint 约束的路径，强制生成指定计划。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en-US" altLang="zh-CN" sz="3600" b="1" dirty="0" err="1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</a:t>
            </a:r>
            <a:r>
              <a:rPr lang="zh-CN" altLang="en-US" sz="3600" b="1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源码解析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Google Shape;286;p27"/>
          <p:cNvSpPr txBox="1"/>
          <p:nvPr/>
        </p:nvSpPr>
        <p:spPr>
          <a:xfrm>
            <a:off x="371475" y="978567"/>
            <a:ext cx="5448078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/common/backend/parser/parse_hint.cpp 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中，定义了所有⽀持的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Hint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关键字数组：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图片 3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83" y="1960182"/>
            <a:ext cx="2939017" cy="4832167"/>
          </a:xfrm>
          <a:prstGeom prst="rect">
            <a:avLst/>
          </a:prstGeom>
        </p:spPr>
      </p:pic>
      <p:pic>
        <p:nvPicPr>
          <p:cNvPr id="6" name="图片 5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581" y="1960182"/>
            <a:ext cx="5313817" cy="2260646"/>
          </a:xfrm>
          <a:prstGeom prst="rect">
            <a:avLst/>
          </a:prstGeom>
        </p:spPr>
      </p:pic>
      <p:sp>
        <p:nvSpPr>
          <p:cNvPr id="7" name="Google Shape;286;p27"/>
          <p:cNvSpPr txBox="1"/>
          <p:nvPr/>
        </p:nvSpPr>
        <p:spPr>
          <a:xfrm>
            <a:off x="5988319" y="1016849"/>
            <a:ext cx="583220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KeywordDesc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函数⽤于将内部枚举值映射到对应的字符串：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571500" y="1186725"/>
            <a:ext cx="10842084" cy="531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进⼊规划器后，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PlannerInfo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会持有⼀个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HintState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指针供后续使⽤。在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JOIN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SCAN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路径枚举时，相关代码会主动检查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是否存在，例如：</a:t>
            </a:r>
            <a:endParaRPr lang="zh-CN" altLang="en-US" sz="1800" b="1" i="0" u="none" strike="noStrike" cap="none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对某个基表，如果有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TABLESCAN(t1)  Hint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，则可能禁⽌⽣成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IndexPath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BitmapHeapPath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，只保留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SeqScanPath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sz="1800" b="1" i="0" u="none" strike="noStrike" cap="none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对两表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JOIN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，如果有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NESTLOOP(t1 t2)  Hint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，则：</a:t>
            </a: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优先⽣成并保留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NestPath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sz="1800" b="1" i="0" u="none" strike="noStrike" cap="none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可能不再⽣成</a:t>
            </a:r>
            <a:r>
              <a:rPr lang="en-US" altLang="zh-CN" sz="1800" b="1" i="0" u="none" strike="noStrike" cap="non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HashPath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或将其标记为不可选；</a:t>
            </a:r>
            <a:endParaRPr lang="en-US" altLang="zh-CN" sz="1800" b="1" i="0" u="none" strike="noStrike" cap="none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i="0" u="none" strike="noStrike" cap="none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关键点：</a:t>
            </a:r>
            <a:r>
              <a:rPr lang="en-US" altLang="zh-CN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的⽣效⽅式通常是在“路径⽣成阶段”就</a:t>
            </a:r>
            <a:r>
              <a:rPr lang="zh-CN" altLang="en-US" sz="1800" b="1" i="0" u="sng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约束或过滤候选路径集</a:t>
            </a:r>
            <a:r>
              <a:rPr lang="zh-CN" altLang="en-US" sz="1800" b="1" i="0" u="none" strike="noStrike" cap="non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，⽽不是在所有计划⽣成完毕后“强⾏替换”计划。这意味着：</a:t>
            </a:r>
            <a:endParaRPr lang="zh-CN" altLang="en-US" sz="1800" b="1" i="0" u="none" strike="noStrike" cap="none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优化器的代价计算仍然发⽣，只是发⽣在⼀个被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限制后的候选集合中；</a:t>
            </a: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若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选择了⼀个本来代价更⾼的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Path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，优化器会照单全收，导致计划性能可能变差。</a:t>
            </a:r>
            <a:endParaRPr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3" name="Google Shape;303;p27"/>
          <p:cNvSpPr txBox="1"/>
          <p:nvPr/>
        </p:nvSpPr>
        <p:spPr>
          <a:xfrm>
            <a:off x="571500" y="27983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cap="none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3600" b="1" i="0" u="none" strike="noStrike" cap="none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对规划阶段的影响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  <a:sym typeface="Arial" panose="020B0604020202020204"/>
              </a:rPr>
              <a:t>0</a:t>
            </a:r>
            <a:r>
              <a:rPr lang="en-US" sz="8000" b="1" dirty="0">
                <a:solidFill>
                  <a:srgbClr val="FFFFFF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5</a:t>
            </a:r>
            <a:endParaRPr kumimoji="0" lang="en-US" sz="8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  <a:sym typeface="Arial" panose="020B0604020202020204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02347" y="2606616"/>
            <a:ext cx="1032453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defRPr/>
            </a:pPr>
            <a:r>
              <a:rPr lang="zh-CN" altLang="en-US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⼤表</a:t>
            </a:r>
            <a:r>
              <a:rPr lang="en-US" altLang="zh-CN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JOIN</a:t>
            </a:r>
            <a:r>
              <a:rPr lang="zh-CN" altLang="en-US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Hash Join </a:t>
            </a:r>
            <a:r>
              <a:rPr lang="zh-CN" altLang="en-US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endParaRPr lang="zh-CN" altLang="en-US" sz="6000" b="1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lvl="0" algn="ctr">
              <a:defRPr/>
            </a:pPr>
            <a:r>
              <a:rPr lang="zh-CN" altLang="en-US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Nested Loop </a:t>
            </a:r>
            <a:r>
              <a:rPr lang="zh-CN" altLang="en-US" sz="6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代价模型对⽐</a:t>
            </a:r>
            <a:endParaRPr lang="zh-CN" alt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11543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3600" b="1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实验数据与源码解析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图片 4" descr="图片包含 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784860"/>
            <a:ext cx="4503848" cy="6016460"/>
          </a:xfrm>
          <a:prstGeom prst="rect">
            <a:avLst/>
          </a:prstGeom>
        </p:spPr>
      </p:pic>
      <p:sp>
        <p:nvSpPr>
          <p:cNvPr id="8" name="Google Shape;286;p27"/>
          <p:cNvSpPr txBox="1"/>
          <p:nvPr/>
        </p:nvSpPr>
        <p:spPr>
          <a:xfrm>
            <a:off x="5316279" y="784860"/>
            <a:ext cx="6604038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在源码中，</a:t>
            </a:r>
            <a:r>
              <a:rPr 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Hash Join 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与</a:t>
            </a:r>
            <a:r>
              <a:rPr 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Nested Loop 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的代价计算⼊⼝</a:t>
            </a:r>
            <a:r>
              <a:rPr lang="en-US" sz="16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cost.h</a:t>
            </a:r>
            <a:r>
              <a:rPr 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中声明，</a:t>
            </a:r>
            <a:endParaRPr lang="en-US" altLang="zh-CN"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具体实现位于</a:t>
            </a:r>
            <a:r>
              <a:rPr lang="en-US" sz="16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costsize.c</a:t>
            </a:r>
            <a:r>
              <a:rPr 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：</a:t>
            </a:r>
            <a:endParaRPr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0" name="图片 9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79" y="1854804"/>
            <a:ext cx="6604038" cy="1800404"/>
          </a:xfrm>
          <a:prstGeom prst="rect">
            <a:avLst/>
          </a:prstGeom>
        </p:spPr>
      </p:pic>
      <p:sp>
        <p:nvSpPr>
          <p:cNvPr id="11" name="Google Shape;290;p27"/>
          <p:cNvSpPr txBox="1"/>
          <p:nvPr/>
        </p:nvSpPr>
        <p:spPr>
          <a:xfrm>
            <a:off x="5368887" y="4715513"/>
            <a:ext cx="6604038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在⽆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与有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Hint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两种执⾏下记录：</a:t>
            </a: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Hash Join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startup_cost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total_cost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Nested Loop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startup_cost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total_cost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；</a:t>
            </a: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outer_path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-&gt;rows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inner_path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-&gt;rows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等⾏数估计。</a:t>
            </a:r>
            <a:endParaRPr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2" name="Google Shape;283;p27"/>
          <p:cNvSpPr txBox="1"/>
          <p:nvPr/>
        </p:nvSpPr>
        <p:spPr>
          <a:xfrm>
            <a:off x="5368887" y="4099287"/>
            <a:ext cx="5600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2100" b="1" dirty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</a:t>
            </a:r>
            <a:r>
              <a:rPr kumimoji="0" lang="en-US" sz="2100" b="1" i="0" u="none" strike="noStrike" kern="0" cap="none" spc="0" normalizeH="0" baseline="0" noProof="0" dirty="0" err="1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大致为：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11543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与实际执⾏时间对⽐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Google Shape;286;p27"/>
          <p:cNvSpPr txBox="1"/>
          <p:nvPr/>
        </p:nvSpPr>
        <p:spPr>
          <a:xfrm>
            <a:off x="1638854" y="862831"/>
            <a:ext cx="8914292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使⽤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EXPLAIN (ANALYZE, BUFFERS)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，收集两种场景下的实际执⾏数据：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每个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JOIN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节点的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Rows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（估算⾏数）与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Actual Rows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（实际⾏数）；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Total Cost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（优化器估算）与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Actual Total Time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（实际耗时）；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缓存命中情况（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Buffers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信息）。</a:t>
            </a:r>
            <a:endParaRPr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3" name="图片 2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3943955"/>
            <a:ext cx="9650172" cy="2429214"/>
          </a:xfrm>
          <a:prstGeom prst="rect">
            <a:avLst/>
          </a:prstGeom>
        </p:spPr>
      </p:pic>
      <p:sp>
        <p:nvSpPr>
          <p:cNvPr id="4" name="Google Shape;283;p27"/>
          <p:cNvSpPr txBox="1"/>
          <p:nvPr/>
        </p:nvSpPr>
        <p:spPr>
          <a:xfrm>
            <a:off x="1638854" y="3267417"/>
            <a:ext cx="5600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2100" b="1" dirty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表格对比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  <a:sym typeface="Arial" panose="020B0604020202020204"/>
              </a:rPr>
              <a:t>0</a:t>
            </a:r>
            <a:r>
              <a:rPr lang="en-US" sz="8000" b="1" dirty="0">
                <a:solidFill>
                  <a:srgbClr val="FFFFFF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6</a:t>
            </a:r>
            <a:endParaRPr kumimoji="0" lang="en-US" sz="8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  <a:sym typeface="Arial" panose="020B0604020202020204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02347" y="2606616"/>
            <a:ext cx="1032453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驱动统计信息：</a:t>
            </a:r>
            <a:endParaRPr kumimoji="0" lang="en-US" altLang="zh-CN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6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BayesNet</a:t>
            </a:r>
            <a:r>
              <a:rPr kumimoji="0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模型的介⼊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3600" b="1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核心数据结构和接口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Google Shape;286;p27"/>
          <p:cNvSpPr txBox="1"/>
          <p:nvPr/>
        </p:nvSpPr>
        <p:spPr>
          <a:xfrm>
            <a:off x="344893" y="1405599"/>
            <a:ext cx="5751106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为提升复杂场景下的选择度估计精度，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openGauss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引⼊了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统计模块，主要体现在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src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/include/optimizer/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aioptimizer.h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571259"/>
            <a:ext cx="5886512" cy="3412803"/>
          </a:xfrm>
          <a:prstGeom prst="rect">
            <a:avLst/>
          </a:prstGeom>
        </p:spPr>
      </p:pic>
      <p:sp>
        <p:nvSpPr>
          <p:cNvPr id="8" name="Google Shape;286;p27"/>
          <p:cNvSpPr txBox="1"/>
          <p:nvPr/>
        </p:nvSpPr>
        <p:spPr>
          <a:xfrm>
            <a:off x="6850368" y="1405599"/>
            <a:ext cx="4749251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如图，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StatsModel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类⽤于封装基于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BayesNet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的统计模型。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相关辅助结构包括：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HyperparameterValues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：描述模型的结构规模（节点数、边数、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MCV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数量等）；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SampleDataSet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与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TableScannerSample2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：封装采样数据集，提供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fetch() / rescan()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接⼝，供模型训练时迭代访问样本。</a:t>
            </a:r>
            <a:endParaRPr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0"/>
          <p:cNvSpPr txBox="1"/>
          <p:nvPr/>
        </p:nvSpPr>
        <p:spPr>
          <a:xfrm>
            <a:off x="571500" y="288563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i="0" u="none" strike="noStrike" cap="none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与传统统计的协同</a:t>
            </a:r>
            <a:endParaRPr dirty="0"/>
          </a:p>
        </p:txBody>
      </p:sp>
      <p:sp>
        <p:nvSpPr>
          <p:cNvPr id="2" name="Google Shape;290;p27"/>
          <p:cNvSpPr txBox="1"/>
          <p:nvPr/>
        </p:nvSpPr>
        <p:spPr>
          <a:xfrm>
            <a:off x="571500" y="1186725"/>
            <a:ext cx="10842084" cy="487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传统统计信息（直⽅图、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MCV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、单列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/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少量多列统计）在以下情况下容易出问题：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复杂多列联合谓词（如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WHERE a = 1 AND b = 2 AND c BETWEEN ...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）；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多表多列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JOIN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，字段间存在强相关性；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数据⾼度倾斜、热点值集中等。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lvl="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lvl="0">
              <a:lnSpc>
                <a:spcPct val="160000"/>
              </a:lnSpc>
            </a:pP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AI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模块通过 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BayesNet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建模多列联合分布， 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predict_model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可以给出更准确的：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多列谓词的联合选择度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P(condition)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；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多列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JOIN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条件下的输出⾏数估计。 </a:t>
            </a: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Clr>
                <a:schemeClr val="bg1">
                  <a:lumMod val="95000"/>
                </a:schemeClr>
              </a:buClr>
              <a:buFont typeface="Arial" panose="020B0604020202020204" pitchFamily="34" charset="0"/>
              <a:buChar char="•"/>
            </a:pPr>
            <a:endParaRPr lang="en-US" altLang="zh-CN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lvl="0">
              <a:lnSpc>
                <a:spcPct val="160000"/>
              </a:lnSpc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在代价计算阶段，如果启⽤了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AI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统计，优化器会在传统统计的基础上调⽤ 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predict_model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得到更精细 的选择度估计，从⽽修正 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rows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和 </a:t>
            </a:r>
            <a:r>
              <a:rPr lang="en-US" altLang="zh-CN" sz="1800" b="1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total_cost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的计算结果。</a:t>
            </a:r>
            <a:endParaRPr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07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86105" y="2883535"/>
            <a:ext cx="11351260" cy="2861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效率加速：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CodeGen</a:t>
            </a: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（</a:t>
            </a:r>
            <a:r>
              <a:rPr lang="en-US" altLang="zh-CN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CPLAN/GPLAN</a:t>
            </a: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）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与</a:t>
            </a:r>
            <a:r>
              <a:rPr lang="en-US" altLang="zh-CN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 Hint </a:t>
            </a:r>
            <a:r>
              <a:rPr lang="en-US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⼊⼝</a:t>
            </a:r>
            <a:endParaRPr lang="en-US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Hint 中的 CPLAN/GPLAN</a:t>
            </a:r>
            <a:endParaRPr kumimoji="0" lang="zh-CN" altLang="en-US" sz="3600" b="1" i="0" u="none" strike="noStrike" kern="0" cap="none" spc="0" normalizeH="0" baseline="0" dirty="0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2" name="Google Shape;286;p27"/>
          <p:cNvSpPr txBox="1"/>
          <p:nvPr/>
        </p:nvSpPr>
        <p:spPr>
          <a:xfrm>
            <a:off x="344805" y="1405890"/>
            <a:ext cx="6033135" cy="398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传统解释执⾏模式下，每处理⼀⾏数据、每执⾏⼀个表达式，都需要通过解释层进⾏函数调⽤和类型判断，会产⽣⼤量分⽀预测失败和函数调⽤开销，特别是在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复杂 WHERE 条件（多层函数嵌套、复杂表达式）；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⼤量聚合或计算列；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l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多表 JOIN 且 JOIN 条件较复杂的场景。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indent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indent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CodeGen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JIT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，即时编译）通过将关键表达式在运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⾏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时编译为机器码，显著减少解释层开销，提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⾼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CPU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利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率。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Google Shape;286;p27"/>
          <p:cNvSpPr txBox="1"/>
          <p:nvPr/>
        </p:nvSpPr>
        <p:spPr>
          <a:xfrm>
            <a:off x="6850380" y="784860"/>
            <a:ext cx="4749165" cy="58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>
              <a:lnSpc>
                <a:spcPct val="160000"/>
              </a:lnSpc>
            </a:pP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在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Hint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关键字数组中可以看到与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CodeGen / 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计划形态相关的</a:t>
            </a:r>
            <a:r>
              <a:rPr lang="en-US" altLang="zh-CN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Hint</a:t>
            </a:r>
            <a:r>
              <a:rPr lang="zh-CN" altLang="en-US" sz="18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endParaRPr lang="zh-CN" altLang="en-US" sz="18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这些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Hint 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⽤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于控制是否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⽣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成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“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代码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⽣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成计划（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” CPLAN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）以及是否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⽣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成通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⽤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计划（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GPLAN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）或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⾃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适应计划（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Adaptive GPLAN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）。</a:t>
            </a:r>
            <a:endParaRPr lang="zh-CN" altLang="en-US"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从调研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⻆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度可以归纳为：</a:t>
            </a:r>
            <a:endParaRPr lang="zh-CN" altLang="en-US"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对表达式密集型算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⼦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（过滤、投影、聚合、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JOIN 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条件）构建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IR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；</a:t>
            </a:r>
            <a:endParaRPr lang="zh-CN" altLang="en-US"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在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⾸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次执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⾏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或达到某个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“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热度阈值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”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时触发</a:t>
            </a:r>
            <a:r>
              <a:rPr lang="en-US" altLang="zh-CN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 JIT 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编译；</a:t>
            </a:r>
            <a:endParaRPr lang="zh-CN" altLang="en-US"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l"/>
            </a:pP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之后重复执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⾏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同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⼀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计划时直接复</a:t>
            </a:r>
            <a:r>
              <a:rPr lang="en-US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⽤</a:t>
            </a:r>
            <a:r>
              <a:rPr lang="zh-CN" altLang="en-US" sz="1600" b="1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</a:rPr>
              <a:t>机器码。</a:t>
            </a:r>
            <a:endParaRPr lang="zh-CN" altLang="en-US" sz="1600" b="1" dirty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380" y="1856740"/>
            <a:ext cx="4457700" cy="1076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后续可⾏实验⽅向</a:t>
            </a:r>
            <a:endParaRPr kumimoji="0" lang="zh-CN" altLang="en-US" sz="3600" b="1" i="0" u="none" strike="noStrike" kern="0" cap="none" spc="0" normalizeH="0" baseline="0" dirty="0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2" name="Google Shape;286;p27"/>
          <p:cNvSpPr txBox="1"/>
          <p:nvPr/>
        </p:nvSpPr>
        <p:spPr>
          <a:xfrm>
            <a:off x="344805" y="1405890"/>
            <a:ext cx="10017125" cy="398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在系统参数或 Hint 允许的情况下，可以设计以下实验：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1. 关闭 CodeGen：执⾏复杂表达式查询，记录 EXPLAIN (ANALYZE) 的耗时；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2. 打开 CodeGen 或添加相关 Hint：在相同数据和 SQL 下再次执⾏；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3. 对⽐不同表达式复杂度、不同⾏数规模下的性能提升⽐例；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4. 考察 CodeGen 编译时间与执⾏时间节省之间的平衡点，探索 CodeGen 的适⽤场景边界。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08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78940" y="2883535"/>
            <a:ext cx="894016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阶段总结与后续工作计划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阶段性结论</a:t>
            </a:r>
            <a:endParaRPr kumimoji="0" lang="zh-CN" altLang="en-US" sz="3600" b="1" i="0" u="none" strike="noStrike" kern="0" cap="none" spc="0" normalizeH="0" baseline="0" dirty="0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2" name="Google Shape;286;p27"/>
          <p:cNvSpPr txBox="1"/>
          <p:nvPr/>
        </p:nvSpPr>
        <p:spPr>
          <a:xfrm>
            <a:off x="420370" y="4380865"/>
            <a:ext cx="10285095" cy="226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</a:t>
            </a:r>
            <a:r>
              <a:rPr kumimoji="0" lang="en-US" altLang="zh-CN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与</a:t>
            </a:r>
            <a:r>
              <a:rPr kumimoji="0" lang="en-US" altLang="zh-CN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CodeGen </a:t>
            </a:r>
            <a:r>
              <a:rPr kumimoji="0" lang="en-US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⽅⾯</a:t>
            </a: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：</a:t>
            </a:r>
            <a:endParaRPr kumimoji="0" lang="zh-CN" altLang="en-US" sz="2000" b="1" i="0" u="none" strike="noStrike" kern="0" cap="none" spc="0" normalizeH="0" baseline="0" dirty="0" err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并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⾮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简单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硬覆盖最终计划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，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⽽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是通过约束候选路径空间、禁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⽌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或优先某些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Path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来影响代价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⽐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较过程；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过度或不恰当使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可能压制优化器对统计信息和代价模型的利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，导致计划变差；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CodeGen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CPLAN/GPLAN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）为表达式密集场景提供了显著的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CPU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性能提升潜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⼒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Google Shape;286;p27"/>
          <p:cNvSpPr txBox="1"/>
          <p:nvPr/>
        </p:nvSpPr>
        <p:spPr>
          <a:xfrm>
            <a:off x="6002020" y="1068070"/>
            <a:ext cx="5892165" cy="359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在代价模型与统计信息</a:t>
            </a:r>
            <a:r>
              <a:rPr kumimoji="0" lang="en-US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⽅⾯</a:t>
            </a: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：</a:t>
            </a:r>
            <a:endParaRPr kumimoji="0" lang="zh-CN" altLang="en-US" sz="2000" b="1" i="0" u="none" strike="noStrike" kern="0" cap="none" spc="0" normalizeH="0" baseline="0" dirty="0" err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代价模型将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I/O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、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CPU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与内存开销统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⼀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折算为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代价值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，通过参数（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seq_page_cost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、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cpu_tuple_cost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等）进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⾏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调节；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利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单列与扩展统计估计谓词选择度和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输出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⾏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数，并通过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Logistic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等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⾮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线性函数对极端情况进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⾏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修正；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引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⼊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AI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统计（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BayesNet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）后，能够更准确地建模多列相关性和倾斜，提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⾼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估算精度。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86;p27"/>
          <p:cNvSpPr txBox="1"/>
          <p:nvPr/>
        </p:nvSpPr>
        <p:spPr>
          <a:xfrm>
            <a:off x="498475" y="1068070"/>
            <a:ext cx="5160645" cy="315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在优化器决策机制</a:t>
            </a:r>
            <a:r>
              <a:rPr kumimoji="0" lang="en-US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⽅⾯</a:t>
            </a:r>
            <a:r>
              <a:rPr kumimoji="0" lang="zh-CN" altLang="en-US" sz="20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：</a:t>
            </a:r>
            <a:endParaRPr kumimoji="0" lang="zh-CN" altLang="en-US" sz="2000" b="1" i="0" u="none" strike="noStrike" kern="0" cap="none" spc="0" normalizeH="0" baseline="0" dirty="0" err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openGauss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通过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逻辑重写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+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动态规划枚举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+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代价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⽐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较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在庞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的搜索空间中寻找最优计划；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对每个基表与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⼦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集构造多种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Path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，并利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成本模型与统计信息进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⾏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筛选和剪枝；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u"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Hash Join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、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Nested Loop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、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Merge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等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算法都有清晰的代价模型和适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条件。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下</a:t>
            </a:r>
            <a:r>
              <a:rPr kumimoji="0" lang="en-US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⼀</a:t>
            </a: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步</a:t>
            </a:r>
            <a:r>
              <a:rPr kumimoji="0" lang="en-US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⼯</a:t>
            </a: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作计划</a:t>
            </a:r>
            <a:endParaRPr kumimoji="0" lang="zh-CN" altLang="en-US" sz="3600" b="1" i="0" u="none" strike="noStrike" kern="0" cap="none" spc="0" normalizeH="0" baseline="0" dirty="0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2" name="Google Shape;286;p27"/>
          <p:cNvSpPr txBox="1"/>
          <p:nvPr/>
        </p:nvSpPr>
        <p:spPr>
          <a:xfrm>
            <a:off x="344805" y="708025"/>
            <a:ext cx="11233150" cy="605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1.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复杂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机制源码验证：</a:t>
            </a:r>
            <a:endParaRPr kumimoji="0" lang="zh-CN" altLang="en-US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选取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⼀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条默认情况下使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⽤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Hash Join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⼤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表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查询；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加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⼊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强制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Nested Loop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parse_hint.cpp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与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路径构造代码处设置断点，跟踪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从解析到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Planner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的全路径；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对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⽐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有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/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⽆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的计划差异，验证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如何覆盖默认最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⼩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代价决策。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2. 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⼤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表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代价模型实证对</a:t>
            </a:r>
            <a:r>
              <a:rPr kumimoji="0" lang="en-US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⽐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：</a:t>
            </a:r>
            <a:endParaRPr kumimoji="0" lang="zh-CN" altLang="en-US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构造⼤规模表及索引，执⾏ Hash Join 与 Nested Loop 两种计划；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使⽤调试器记录 initial_cost_hashjoin 与 initial_cost_nestloop 的原始代价估算值；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通过 EXPLAIN (ANALYZE, BUFFERS) 采集实际执⾏⾏数与耗时，评估代价模型的准确性与偏差来源。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3. CodeGen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效率加速评估：</a:t>
            </a:r>
            <a:endParaRPr kumimoji="0" lang="zh-CN" altLang="en-US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在关闭/开启 CodeGen（或通过 Hint 控制 CPLAN/GPLAN）的情况下，执⾏同⼀批复杂表达式查询；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对⽐不同数据规模和表达式复杂度下的性能变化，分析 JIT 编译开销与执⾏收益的平衡点；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342900" marR="0" lvl="0" indent="-34290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AutoNum type="circleNumDbPlain"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总结适合采⽤ CodeGen 的典型场景与不适⽤场景。</a:t>
            </a:r>
            <a:endParaRPr kumimoji="0" lang="zh-CN" altLang="en-US" sz="16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indent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ea"/>
              <a:buNone/>
            </a:pP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通过上述研究与实验，我们将进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⼀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步完成从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理论分析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到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源码级验证、实证评估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的闭环，为后续在</a:t>
            </a:r>
            <a:r>
              <a:rPr kumimoji="0" lang="en-US" altLang="zh-CN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openGauss 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上进</a:t>
            </a:r>
            <a:r>
              <a:rPr kumimoji="0" lang="en-US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⾏</a:t>
            </a:r>
            <a:r>
              <a:rPr kumimoji="0" lang="zh-CN" altLang="en-US" sz="16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更复杂的优化器研究和实践打下坚实基础。</a:t>
            </a:r>
            <a:endParaRPr kumimoji="0" lang="zh-CN" altLang="en-US" sz="1600" b="1" i="0" u="none" strike="noStrike" kern="0" cap="none" spc="0" normalizeH="0" baseline="0" dirty="0" err="1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1" descr="https://test-kimi-img.moonshot.cn/pub/slides/slides_tmpl/image/25-08-11-17:27:31-d2crf0v0ctitcgma2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09</a:t>
            </a:r>
            <a:endParaRPr lang="en-US" sz="8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78940" y="2883535"/>
            <a:ext cx="894016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研究阶段对比与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-122"/>
                <a:cs typeface="Microsoft Sans Serif" panose="020B0604020202020204" pitchFamily="34" charset="-120"/>
              </a:rPr>
              <a:t>成员工作综述</a:t>
            </a:r>
            <a:endParaRPr lang="zh-CN" altLang="en-US" sz="6000" b="1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-122"/>
              <a:cs typeface="Microsoft Sans Serif" panose="020B0604020202020204" pitchFamily="34" charset="-12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10995" y="509112"/>
            <a:ext cx="86400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8-11-17:27:29-d2crf0f0ctitcgma2d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8-11-17:27:29-d2crf0f0ctitcgma2d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8-11-17:27:29-d2crf0f0ctitcgma2d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8-11-17:27:29-d2crf0f0ctitcgma2dp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8-11-17:27:31-d2crf0v0ctitcgma2e2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0165" y="1664335"/>
            <a:ext cx="2450465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调研工作阶段对比</a:t>
            </a:r>
            <a:endParaRPr kumimoji="0" lang="zh-CN" altLang="en-US" sz="3600" b="1" i="0" u="none" strike="noStrike" kern="0" cap="none" spc="0" normalizeH="0" baseline="0" dirty="0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5" name="Google Shape;286;p27"/>
          <p:cNvSpPr txBox="1"/>
          <p:nvPr/>
        </p:nvSpPr>
        <p:spPr>
          <a:xfrm>
            <a:off x="498475" y="1068070"/>
            <a:ext cx="5160645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上学期：全链路流程探索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(Breadth)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核心目标：建立对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openGauss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系统架构与查询全流程的宏观认知。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工作内容：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p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广度覆盖：打通了从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SQL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解析（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Parser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）、查询规划（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Planner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）到执行（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Executor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）及存储（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Storage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）的完整链路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p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架构理解：梳理了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OM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、连接管理、事务系统及各类存储引擎（行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/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列存）的交互逻辑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p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源码追踪：重点在于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跑通流程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，掌握关键函数入口与数据在模块间的流转方式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286;p27"/>
          <p:cNvSpPr txBox="1"/>
          <p:nvPr/>
        </p:nvSpPr>
        <p:spPr>
          <a:xfrm>
            <a:off x="6276975" y="1068070"/>
            <a:ext cx="5345430" cy="531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本学期：优化器核心攻坚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(Depth)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核心目标：深入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查询优化器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(Optimizer)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内部机制，从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看懂流程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转向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“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实证分析与性能调优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”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工作内容：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p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深度聚焦：从全局流程收束至优化器决策核心，具体涵盖代价模型（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Cost Model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）、统计信息与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机制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p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前沿特性：调研了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AI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驱动的统计信息（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BayesNet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）以及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CodeGen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（即时编译）等效率加速技术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p"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实证验证：通过源码修改与实验（如大表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Hash vs Nested Loop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代价对比），验证了理论模型与实际执行的偏差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371475" y="230862"/>
            <a:ext cx="1160145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3600" b="1" i="0" u="none" strike="noStrike" kern="0" cap="none" spc="0" normalizeH="0" baseline="0" dirty="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Arial" panose="020B0604020202020204"/>
              </a:rPr>
              <a:t>小组成员名单及工作分工</a:t>
            </a:r>
            <a:endParaRPr kumimoji="0" lang="zh-CN" altLang="en-US" sz="3600" b="1" i="0" u="none" strike="noStrike" kern="0" cap="none" spc="0" normalizeH="0" baseline="0" dirty="0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Arial" panose="020B0604020202020204"/>
            </a:endParaRPr>
          </a:p>
        </p:txBody>
      </p:sp>
      <p:sp>
        <p:nvSpPr>
          <p:cNvPr id="5" name="Google Shape;286;p27"/>
          <p:cNvSpPr txBox="1"/>
          <p:nvPr/>
        </p:nvSpPr>
        <p:spPr>
          <a:xfrm>
            <a:off x="498475" y="951865"/>
            <a:ext cx="5160645" cy="576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刘佳鑫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负责板块：代价模型与统计信息机制</a:t>
            </a:r>
            <a:endParaRPr kumimoji="0" lang="en-US" altLang="zh-CN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具体工作：深入剖析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cost.h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中的代价计算公式，研究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seq_page_cost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等参数对计划生成的影响；调研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pg_statistic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系统表及直方图、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MCV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等传统统计信息的实现逻辑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徐华炫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负责板块：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机制与用户干预决策</a:t>
            </a:r>
            <a:endParaRPr kumimoji="0" lang="en-US" altLang="zh-CN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具体工作：解析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parse_hint.cpp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源码，追踪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SQL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注释到规划器生效的全过程；验证通过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Hint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强制改变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顺序与扫描路径的有效性，分析人工接管优化器的边界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286;p27"/>
          <p:cNvSpPr txBox="1"/>
          <p:nvPr/>
        </p:nvSpPr>
        <p:spPr>
          <a:xfrm>
            <a:off x="6669405" y="951865"/>
            <a:ext cx="5160645" cy="576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毛星博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负责板块：大表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算法与性能实证</a:t>
            </a:r>
            <a:endParaRPr kumimoji="0" lang="en-US" altLang="zh-CN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具体工作：设计大表关联实验，对比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Hash Join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Nested Loop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的代价估算（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Startup/Total Cost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）与实际执行差异；结合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EXPLAIN ANALYZE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数据，评估优化器在不同数据规模下的决策准确度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冯灏然</a:t>
            </a:r>
            <a:endParaRPr kumimoji="0" lang="en-US" altLang="zh-CN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负责板块：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AI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驱动优化与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CodeGen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加速</a:t>
            </a:r>
            <a:endParaRPr kumimoji="0" lang="en-US" altLang="zh-CN" sz="1800" b="1" i="0" u="none" strike="noStrike" kern="0" cap="none" spc="0" normalizeH="0" baseline="0" dirty="0" err="1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  <a:p>
            <a:pPr marL="0" marR="0" lvl="0" algn="l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</a:pP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具体工作：调研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AI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模块（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aioptimizer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）中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BayesNet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对多列联合选择度的优化原理；探索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CodeGen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（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CPLAN/GPLAN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）技术在表达式计算密集场景下的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CPU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性能提升与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JIT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编译开销</a:t>
            </a:r>
            <a:r>
              <a:rPr kumimoji="0" lang="en-US" altLang="zh-CN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 </a:t>
            </a:r>
            <a:r>
              <a:rPr kumimoji="0" lang="zh-CN" altLang="en-US" sz="1800" b="1" i="0" u="none" strike="noStrike" kern="0" cap="none" spc="0" normalizeH="0" baseline="0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Arial" panose="020B0604020202020204"/>
                <a:sym typeface="Arial" panose="020B0604020202020204"/>
              </a:rPr>
              <a:t>。</a:t>
            </a:r>
            <a:endParaRPr kumimoji="0" lang="zh-CN" altLang="en-US" sz="1800" b="1" i="0" u="none" strike="noStrike" kern="0" cap="none" spc="0" normalizeH="0" baseline="0" dirty="0" err="1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169660" y="969010"/>
            <a:ext cx="0" cy="57334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5" idx="1"/>
            <a:endCxn id="3" idx="3"/>
          </p:cNvCxnSpPr>
          <p:nvPr/>
        </p:nvCxnSpPr>
        <p:spPr>
          <a:xfrm>
            <a:off x="498475" y="3832225"/>
            <a:ext cx="1133157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3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4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5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6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7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8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9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0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1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2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3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4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5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6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7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8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19.xml><?xml version="1.0" encoding="utf-8"?>
<p:tagLst xmlns:p="http://schemas.openxmlformats.org/presentationml/2006/main">
  <p:tag name="KSO_WM_DIAGRAM_VIRTUALLY_FRAME" val="{&quot;height&quot;:379.65,&quot;left&quot;:371.6,&quot;top&quot;:62.3,&quot;width&quot;:524.8}"/>
</p:tagLst>
</file>

<file path=ppt/tags/tag20.xml><?xml version="1.0" encoding="utf-8"?>
<p:tagLst xmlns:p="http://schemas.openxmlformats.org/presentationml/2006/main">
  <p:tag name="KSO_WM_DIAGRAM_VIRTUALLY_FRAME" val="{&quot;height&quot;:379.65,&quot;left&quot;:371.6,&quot;top&quot;:62.3,&quot;width&quot;:524.8}"/>
</p:tagLst>
</file>

<file path=ppt/tags/tag21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2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3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4.xml><?xml version="1.0" encoding="utf-8"?>
<p:tagLst xmlns:p="http://schemas.openxmlformats.org/presentationml/2006/main">
  <p:tag name="KSO_WM_DIAGRAM_VIRTUALLY_FRAME" val="{&quot;height&quot;:379.65,&quot;left&quot;:362.75,&quot;top&quot;:26.9,&quot;width&quot;:524.8}"/>
</p:tagLst>
</file>

<file path=ppt/tags/tag25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6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7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8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29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30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31.xml><?xml version="1.0" encoding="utf-8"?>
<p:tagLst xmlns:p="http://schemas.openxmlformats.org/presentationml/2006/main">
  <p:tag name="KSO_WM_DIAGRAM_VIRTUALLY_FRAME" val="{&quot;height&quot;:267.4,&quot;left&quot;:495,&quot;top&quot;:144.8,&quot;width&quot;:420}"/>
</p:tagLst>
</file>

<file path=ppt/tags/tag32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3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4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5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6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7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8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39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0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1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2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3.xml><?xml version="1.0" encoding="utf-8"?>
<p:tagLst xmlns:p="http://schemas.openxmlformats.org/presentationml/2006/main">
  <p:tag name="KSO_WM_DIAGRAM_VIRTUALLY_FRAME" val="{&quot;height&quot;:227.54291338582675,&quot;left&quot;:45,&quot;top&quot;:195.22259842519685,&quot;width&quot;:870.0116535433069}"/>
</p:tagLst>
</file>

<file path=ppt/tags/tag44.xml><?xml version="1.0" encoding="utf-8"?>
<p:tagLst xmlns:p="http://schemas.openxmlformats.org/presentationml/2006/main">
  <p:tag name="KSO_WM_DIAGRAM_VIRTUALLY_FRAME" val="{&quot;height&quot;:1311.6703149606299,&quot;left&quot;:31.5,&quot;top&quot;:136.27968503937,&quot;width&quot;:883.5}"/>
</p:tagLst>
</file>

<file path=ppt/tags/tag45.xml><?xml version="1.0" encoding="utf-8"?>
<p:tagLst xmlns:p="http://schemas.openxmlformats.org/presentationml/2006/main">
  <p:tag name="KSO_WM_DIAGRAM_VIRTUALLY_FRAME" val="{&quot;height&quot;:1311.6703149606299,&quot;left&quot;:31.5,&quot;top&quot;:136.27968503937,&quot;width&quot;:883.5}"/>
</p:tagLst>
</file>

<file path=ppt/tags/tag46.xml><?xml version="1.0" encoding="utf-8"?>
<p:tagLst xmlns:p="http://schemas.openxmlformats.org/presentationml/2006/main">
  <p:tag name="KSO_WM_DIAGRAM_VIRTUALLY_FRAME" val="{&quot;height&quot;:1311.6703149606299,&quot;left&quot;:31.5,&quot;top&quot;:136.27968503937,&quot;width&quot;:883.5}"/>
</p:tagLst>
</file>

<file path=ppt/tags/tag47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48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49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0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1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2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3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ags/tag54.xml><?xml version="1.0" encoding="utf-8"?>
<p:tagLst xmlns:p="http://schemas.openxmlformats.org/presentationml/2006/main">
  <p:tag name="KSO_WM_DIAGRAM_VIRTUALLY_FRAME" val="{&quot;height&quot;:152.81795275590554,&quot;left&quot;:55.5,&quot;top&quot;:252.3,&quot;width&quot;:409.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6943</Words>
  <Application>WPS 演示</Application>
  <PresentationFormat>宽屏</PresentationFormat>
  <Paragraphs>414</Paragraphs>
  <Slides>33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Arial</vt:lpstr>
      <vt:lpstr>宋体</vt:lpstr>
      <vt:lpstr>Wingdings</vt:lpstr>
      <vt:lpstr>Arial</vt:lpstr>
      <vt:lpstr>Calibri</vt:lpstr>
      <vt:lpstr>Noto Sans SC</vt:lpstr>
      <vt:lpstr>方正姚体</vt:lpstr>
      <vt:lpstr>Inter</vt:lpstr>
      <vt:lpstr>PMingLiU-ExtB</vt:lpstr>
      <vt:lpstr>Microsoft Sans Serif</vt:lpstr>
      <vt:lpstr>Microsoft Sans Serif</vt:lpstr>
      <vt:lpstr>Microsoft Sans Serif</vt:lpstr>
      <vt:lpstr>Eras Bold ITC</vt:lpstr>
      <vt:lpstr>微软雅黑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</cp:lastModifiedBy>
  <cp:revision>66</cp:revision>
  <dcterms:created xsi:type="dcterms:W3CDTF">2026-01-04T03:11:00Z</dcterms:created>
  <dcterms:modified xsi:type="dcterms:W3CDTF">2026-01-04T05:41:21Z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0A41435FE4014D67B384DC04E7EAC0ED_12</vt:lpwstr>
  </property>
  <property fmtid="{D5CDD505-2E9C-101B-9397-08002B2CF9AE}" pid="3" name="KSOProductBuildVer">
    <vt:lpwstr>2052-12.1.0.24034</vt:lpwstr>
  </property>
</Properties>
</file>