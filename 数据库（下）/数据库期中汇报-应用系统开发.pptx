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84" r:id="rId4"/>
    <p:sldId id="1844" r:id="rId5"/>
    <p:sldId id="1845" r:id="rId7"/>
    <p:sldId id="1854" r:id="rId8"/>
    <p:sldId id="1850" r:id="rId9"/>
    <p:sldId id="1851" r:id="rId10"/>
    <p:sldId id="1855" r:id="rId11"/>
    <p:sldId id="283" r:id="rId12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334" userDrawn="1">
          <p15:clr>
            <a:srgbClr val="A4A3A4"/>
          </p15:clr>
        </p15:guide>
        <p15:guide id="3" orient="horz" pos="712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6" orient="horz" pos="38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79" d="100"/>
          <a:sy n="79" d="100"/>
        </p:scale>
        <p:origin x="738" y="84"/>
      </p:cViewPr>
      <p:guideLst>
        <p:guide pos="416"/>
        <p:guide pos="7334"/>
        <p:guide orient="horz" pos="712"/>
        <p:guide orient="horz" pos="712"/>
        <p:guide orient="horz" pos="38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23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B0BC4-C0DF-4BB7-95A9-01888B5CC8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50EEE-3AA5-42E8-8642-9F3BA1B0BB1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0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smtClean="0"/>
              <a:t>MWC Pre-briefing </a:t>
            </a:r>
            <a:endParaRPr lang="en-US" altLang="en-US" sz="1200" smtClean="0"/>
          </a:p>
        </p:txBody>
      </p:sp>
      <p:sp>
        <p:nvSpPr>
          <p:cNvPr id="140291" name="Rectangle 2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smtClean="0"/>
              <a:t>February 2015 </a:t>
            </a:r>
            <a:endParaRPr lang="en-US" altLang="en-US" sz="1200" smtClean="0"/>
          </a:p>
        </p:txBody>
      </p:sp>
      <p:sp>
        <p:nvSpPr>
          <p:cNvPr id="140292" name="Rectangle 22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smtClean="0"/>
              <a:t> </a:t>
            </a:r>
            <a:endParaRPr lang="en-US" altLang="en-US" sz="1200" smtClean="0"/>
          </a:p>
        </p:txBody>
      </p:sp>
      <p:sp>
        <p:nvSpPr>
          <p:cNvPr id="140293" name="Rectangle 2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A33BB5-C1A1-48FC-BE82-4832B5162F32}" type="slidenum">
              <a:rPr lang="en-US" altLang="en-US" sz="1200" smtClean="0"/>
            </a:fld>
            <a:endParaRPr lang="en-US" altLang="en-US" sz="120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0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smtClean="0"/>
              <a:t>MWC Pre-briefing </a:t>
            </a:r>
            <a:endParaRPr lang="en-US" altLang="en-US" sz="1200" smtClean="0"/>
          </a:p>
        </p:txBody>
      </p:sp>
      <p:sp>
        <p:nvSpPr>
          <p:cNvPr id="141315" name="Rectangle 2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smtClean="0"/>
              <a:t>February 2015 </a:t>
            </a:r>
            <a:endParaRPr lang="en-US" altLang="en-US" sz="1200" smtClean="0"/>
          </a:p>
        </p:txBody>
      </p:sp>
      <p:sp>
        <p:nvSpPr>
          <p:cNvPr id="141316" name="Rectangle 22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smtClean="0"/>
              <a:t> </a:t>
            </a:r>
            <a:endParaRPr lang="en-US" altLang="en-US" sz="1200" smtClean="0"/>
          </a:p>
        </p:txBody>
      </p:sp>
      <p:sp>
        <p:nvSpPr>
          <p:cNvPr id="141317" name="Rectangle 2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F65A82-FFA7-4745-B9ED-D211613386C3}" type="slidenum">
              <a:rPr lang="en-US" altLang="en-US" sz="1200" smtClean="0"/>
            </a:fld>
            <a:endParaRPr lang="en-US" altLang="en-US" sz="120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0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smtClean="0"/>
              <a:t>MWC Pre-briefing </a:t>
            </a:r>
            <a:endParaRPr lang="en-US" altLang="en-US" sz="1200" smtClean="0"/>
          </a:p>
        </p:txBody>
      </p:sp>
      <p:sp>
        <p:nvSpPr>
          <p:cNvPr id="140291" name="Rectangle 2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smtClean="0"/>
              <a:t>February 2015 </a:t>
            </a:r>
            <a:endParaRPr lang="en-US" altLang="en-US" sz="1200" smtClean="0"/>
          </a:p>
        </p:txBody>
      </p:sp>
      <p:sp>
        <p:nvSpPr>
          <p:cNvPr id="140292" name="Rectangle 22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smtClean="0"/>
              <a:t> </a:t>
            </a:r>
            <a:endParaRPr lang="en-US" altLang="en-US" sz="1200" smtClean="0"/>
          </a:p>
        </p:txBody>
      </p:sp>
      <p:sp>
        <p:nvSpPr>
          <p:cNvPr id="140293" name="Rectangle 2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A33BB5-C1A1-48FC-BE82-4832B5162F32}" type="slidenum">
              <a:rPr lang="en-US" altLang="en-US" sz="1200" smtClean="0"/>
            </a:fld>
            <a:endParaRPr lang="en-US" altLang="en-US" sz="120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0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smtClean="0"/>
              <a:t>MWC Pre-briefing </a:t>
            </a:r>
            <a:endParaRPr lang="en-US" altLang="en-US" sz="1200" smtClean="0"/>
          </a:p>
        </p:txBody>
      </p:sp>
      <p:sp>
        <p:nvSpPr>
          <p:cNvPr id="140291" name="Rectangle 2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smtClean="0"/>
              <a:t>February 2015 </a:t>
            </a:r>
            <a:endParaRPr lang="en-US" altLang="en-US" sz="1200" smtClean="0"/>
          </a:p>
        </p:txBody>
      </p:sp>
      <p:sp>
        <p:nvSpPr>
          <p:cNvPr id="140292" name="Rectangle 22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smtClean="0"/>
              <a:t> </a:t>
            </a:r>
            <a:endParaRPr lang="en-US" altLang="en-US" sz="1200" smtClean="0"/>
          </a:p>
        </p:txBody>
      </p:sp>
      <p:sp>
        <p:nvSpPr>
          <p:cNvPr id="140293" name="Rectangle 2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A33BB5-C1A1-48FC-BE82-4832B5162F32}" type="slidenum">
              <a:rPr lang="en-US" altLang="en-US" sz="1200" smtClean="0"/>
            </a:fld>
            <a:endParaRPr lang="en-US" altLang="en-US" sz="120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0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smtClean="0"/>
              <a:t>MWC Pre-briefing </a:t>
            </a:r>
            <a:endParaRPr lang="en-US" altLang="en-US" sz="1200" smtClean="0"/>
          </a:p>
        </p:txBody>
      </p:sp>
      <p:sp>
        <p:nvSpPr>
          <p:cNvPr id="140291" name="Rectangle 2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smtClean="0"/>
              <a:t>February 2015 </a:t>
            </a:r>
            <a:endParaRPr lang="en-US" altLang="en-US" sz="1200" smtClean="0"/>
          </a:p>
        </p:txBody>
      </p:sp>
      <p:sp>
        <p:nvSpPr>
          <p:cNvPr id="140292" name="Rectangle 22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smtClean="0"/>
              <a:t> </a:t>
            </a:r>
            <a:endParaRPr lang="en-US" altLang="en-US" sz="1200" smtClean="0"/>
          </a:p>
        </p:txBody>
      </p:sp>
      <p:sp>
        <p:nvSpPr>
          <p:cNvPr id="140293" name="Rectangle 2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A33BB5-C1A1-48FC-BE82-4832B5162F32}" type="slidenum">
              <a:rPr lang="en-US" altLang="en-US" sz="1200" smtClean="0"/>
            </a:fld>
            <a:endParaRPr lang="en-US" altLang="en-US" sz="120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8122" tIns="44062" rIns="88122" bIns="44062"/>
          <a:lstStyle/>
          <a:p>
            <a:endParaRPr lang="en-US" dirty="0" smtClean="0">
              <a:latin typeface="Arial" panose="020B0604020202020204" pitchFamily="34" charset="0"/>
            </a:endParaRPr>
          </a:p>
        </p:txBody>
      </p:sp>
      <p:sp>
        <p:nvSpPr>
          <p:cNvPr id="146436" name="Slide Number Placeholder 1"/>
          <p:cNvSpPr txBox="1">
            <a:spLocks noGrp="1"/>
          </p:cNvSpPr>
          <p:nvPr/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22" tIns="44062" rIns="88122" bIns="44062" anchor="b"/>
          <a:lstStyle>
            <a:lvl1pPr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686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686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686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686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A828E9B8-3B43-418B-9846-17EF03B44B30}" type="slidenum">
              <a:rPr lang="en-US" sz="1100">
                <a:solidFill>
                  <a:srgbClr val="000000"/>
                </a:solidFill>
                <a:ea typeface="MS PGothic" panose="020B0600070205080204" pitchFamily="34" charset="-128"/>
              </a:rPr>
            </a:fld>
            <a:endParaRPr lang="en-US" sz="110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146437" name="Header Placeholder 2"/>
          <p:cNvSpPr txBox="1">
            <a:spLocks noGrp="1"/>
          </p:cNvSpPr>
          <p:nvPr/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22" tIns="44062" rIns="88122" bIns="44062"/>
          <a:lstStyle>
            <a:lvl1pPr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686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686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686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686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100">
                <a:solidFill>
                  <a:srgbClr val="000000"/>
                </a:solidFill>
                <a:ea typeface="MS PGothic" panose="020B0600070205080204" pitchFamily="34" charset="-128"/>
              </a:rPr>
              <a:t>MWC 2015 </a:t>
            </a:r>
            <a:endParaRPr lang="en-US" sz="110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146438" name="Footer Placeholder 3"/>
          <p:cNvSpPr txBox="1">
            <a:spLocks noGrp="1"/>
          </p:cNvSpPr>
          <p:nvPr/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22" tIns="44062" rIns="88122" bIns="44062" anchor="b"/>
          <a:lstStyle>
            <a:lvl1pPr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686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686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686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686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100">
                <a:solidFill>
                  <a:srgbClr val="000000"/>
                </a:solidFill>
                <a:ea typeface="MS PGothic" panose="020B0600070205080204" pitchFamily="34" charset="-128"/>
              </a:rPr>
              <a:t> </a:t>
            </a:r>
            <a:endParaRPr lang="en-US" sz="110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146439" name="Date Placeholder 4"/>
          <p:cNvSpPr txBox="1">
            <a:spLocks noGrp="1"/>
          </p:cNvSpPr>
          <p:nvPr/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22" tIns="44062" rIns="88122" bIns="44062"/>
          <a:lstStyle>
            <a:lvl1pPr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6868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686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686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686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6868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sz="1100">
                <a:solidFill>
                  <a:srgbClr val="000000"/>
                </a:solidFill>
                <a:ea typeface="MS PGothic" panose="020B0600070205080204" pitchFamily="34" charset="-128"/>
              </a:rPr>
              <a:t>2015-01-15 </a:t>
            </a:r>
            <a:endParaRPr lang="en-US" sz="1100">
              <a:solidFill>
                <a:srgbClr val="000000"/>
              </a:solidFill>
              <a:ea typeface="MS PGothic" panose="020B0600070205080204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98D26-3673-4D43-BD0F-33E19B764E74}" type="slidenum">
              <a:rPr lang="en-US" smtClean="0"/>
            </a:fld>
            <a:endParaRPr lang="en-US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smtClean="0"/>
              <a:t>MWC Pre-briefing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mtClean="0"/>
              <a:t> 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smtClean="0"/>
              <a:t>February 2015 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matchingName="Title Slide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0" y="1"/>
            <a:ext cx="12192000" cy="6858000"/>
            <a:chOff x="0" y="1"/>
            <a:chExt cx="12192000" cy="6858000"/>
          </a:xfrm>
        </p:grpSpPr>
        <p:grpSp>
          <p:nvGrpSpPr>
            <p:cNvPr id="17" name="组合 16"/>
            <p:cNvGrpSpPr/>
            <p:nvPr userDrawn="1"/>
          </p:nvGrpSpPr>
          <p:grpSpPr>
            <a:xfrm>
              <a:off x="0" y="1"/>
              <a:ext cx="12192000" cy="6858000"/>
              <a:chOff x="0" y="1"/>
              <a:chExt cx="12192000" cy="6858000"/>
            </a:xfrm>
          </p:grpSpPr>
          <p:sp>
            <p:nvSpPr>
              <p:cNvPr id="6" name="矩形 5"/>
              <p:cNvSpPr/>
              <p:nvPr userDrawn="1"/>
            </p:nvSpPr>
            <p:spPr>
              <a:xfrm>
                <a:off x="0" y="1"/>
                <a:ext cx="12192000" cy="6858000"/>
              </a:xfrm>
              <a:prstGeom prst="rect">
                <a:avLst/>
              </a:prstGeom>
              <a:blipFill>
                <a:blip r:embed="rId2"/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" name="直接连接符 14"/>
              <p:cNvCxnSpPr/>
              <p:nvPr userDrawn="1"/>
            </p:nvCxnSpPr>
            <p:spPr>
              <a:xfrm>
                <a:off x="660399" y="3657600"/>
                <a:ext cx="449453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" name="组合 1"/>
            <p:cNvGrpSpPr/>
            <p:nvPr userDrawn="1"/>
          </p:nvGrpSpPr>
          <p:grpSpPr>
            <a:xfrm rot="16200000">
              <a:off x="1003990" y="654124"/>
              <a:ext cx="136333" cy="563163"/>
              <a:chOff x="2122137" y="4275536"/>
              <a:chExt cx="199274" cy="823162"/>
            </a:xfrm>
          </p:grpSpPr>
          <p:sp>
            <p:nvSpPr>
              <p:cNvPr id="3" name="矩形: 圆角 2"/>
              <p:cNvSpPr/>
              <p:nvPr/>
            </p:nvSpPr>
            <p:spPr>
              <a:xfrm>
                <a:off x="2122137" y="4275536"/>
                <a:ext cx="199274" cy="19927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 dirty="0"/>
              </a:p>
            </p:txBody>
          </p:sp>
          <p:sp>
            <p:nvSpPr>
              <p:cNvPr id="8" name="矩形: 圆角 7"/>
              <p:cNvSpPr/>
              <p:nvPr/>
            </p:nvSpPr>
            <p:spPr>
              <a:xfrm>
                <a:off x="2122137" y="4587481"/>
                <a:ext cx="199274" cy="199273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: 圆角 9"/>
              <p:cNvSpPr/>
              <p:nvPr/>
            </p:nvSpPr>
            <p:spPr>
              <a:xfrm>
                <a:off x="2122137" y="4899426"/>
                <a:ext cx="199274" cy="199272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 dirty="0"/>
              </a:p>
            </p:txBody>
          </p:sp>
        </p:grpSp>
      </p:grpSp>
      <p:sp>
        <p:nvSpPr>
          <p:cNvPr id="5" name="4b1b859d-9957-4c1c-a6df-f6be161eb685"/>
          <p:cNvSpPr>
            <a:spLocks noGrp="1"/>
          </p:cNvSpPr>
          <p:nvPr>
            <p:ph type="ctrTitle" hasCustomPrompt="1"/>
          </p:nvPr>
        </p:nvSpPr>
        <p:spPr>
          <a:xfrm>
            <a:off x="660399" y="1130300"/>
            <a:ext cx="4906011" cy="2410776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60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399" y="3771536"/>
            <a:ext cx="4906011" cy="75514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 spc="6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9" y="4776332"/>
            <a:ext cx="1945641" cy="4064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</p:spPr>
        <p:txBody>
          <a:bodyPr wrap="square" lIns="900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2907664" y="4776332"/>
            <a:ext cx="1945641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txBody>
          <a:bodyPr wrap="non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www.islide.cc</a:t>
            </a:r>
            <a:endParaRPr lang="en-US" dirty="0"/>
          </a:p>
        </p:txBody>
      </p:sp>
      <p:sp>
        <p:nvSpPr>
          <p:cNvPr id="12" name="矩形: 圆角 11"/>
          <p:cNvSpPr/>
          <p:nvPr userDrawn="1"/>
        </p:nvSpPr>
        <p:spPr>
          <a:xfrm>
            <a:off x="0" y="6451600"/>
            <a:ext cx="12192000" cy="4064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0" y="0"/>
            <a:ext cx="12192000" cy="6684010"/>
            <a:chOff x="0" y="0"/>
            <a:chExt cx="12192000" cy="6684010"/>
          </a:xfrm>
        </p:grpSpPr>
        <p:sp>
          <p:nvSpPr>
            <p:cNvPr id="7" name="矩形 6"/>
            <p:cNvSpPr/>
            <p:nvPr userDrawn="1"/>
          </p:nvSpPr>
          <p:spPr>
            <a:xfrm>
              <a:off x="9331233" y="4047328"/>
              <a:ext cx="2728936" cy="2636682"/>
            </a:xfrm>
            <a:prstGeom prst="rect">
              <a:avLst/>
            </a:pr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0" y="0"/>
              <a:ext cx="12192000" cy="2590800"/>
              <a:chOff x="0" y="0"/>
              <a:chExt cx="12192000" cy="2366996"/>
            </a:xfrm>
          </p:grpSpPr>
          <p:sp>
            <p:nvSpPr>
              <p:cNvPr id="9" name="任意多边形: 形状 8"/>
              <p:cNvSpPr/>
              <p:nvPr/>
            </p:nvSpPr>
            <p:spPr>
              <a:xfrm>
                <a:off x="0" y="1354110"/>
                <a:ext cx="12192000" cy="1012886"/>
              </a:xfrm>
              <a:custGeom>
                <a:avLst/>
                <a:gdLst>
                  <a:gd name="connsiteX0" fmla="*/ 0 w 12192000"/>
                  <a:gd name="connsiteY0" fmla="*/ 0 h 1012886"/>
                  <a:gd name="connsiteX1" fmla="*/ 12192000 w 12192000"/>
                  <a:gd name="connsiteY1" fmla="*/ 0 h 1012886"/>
                  <a:gd name="connsiteX2" fmla="*/ 12192000 w 12192000"/>
                  <a:gd name="connsiteY2" fmla="*/ 623295 h 1012886"/>
                  <a:gd name="connsiteX3" fmla="*/ 11817509 w 12192000"/>
                  <a:gd name="connsiteY3" fmla="*/ 678453 h 1012886"/>
                  <a:gd name="connsiteX4" fmla="*/ 6096000 w 12192000"/>
                  <a:gd name="connsiteY4" fmla="*/ 1012886 h 1012886"/>
                  <a:gd name="connsiteX5" fmla="*/ 374491 w 12192000"/>
                  <a:gd name="connsiteY5" fmla="*/ 678453 h 1012886"/>
                  <a:gd name="connsiteX6" fmla="*/ 0 w 12192000"/>
                  <a:gd name="connsiteY6" fmla="*/ 623295 h 1012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92000" h="1012886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623295"/>
                    </a:lnTo>
                    <a:lnTo>
                      <a:pt x="11817509" y="678453"/>
                    </a:lnTo>
                    <a:cubicBezTo>
                      <a:pt x="10312035" y="886099"/>
                      <a:pt x="8302762" y="1012886"/>
                      <a:pt x="6096000" y="1012886"/>
                    </a:cubicBezTo>
                    <a:cubicBezTo>
                      <a:pt x="3889238" y="1012886"/>
                      <a:pt x="1879965" y="886099"/>
                      <a:pt x="374491" y="678453"/>
                    </a:cubicBezTo>
                    <a:lnTo>
                      <a:pt x="0" y="623295"/>
                    </a:lnTo>
                    <a:close/>
                  </a:path>
                </a:pathLst>
              </a:custGeom>
              <a:solidFill>
                <a:schemeClr val="accent1">
                  <a:alpha val="4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0" y="0"/>
                <a:ext cx="12192000" cy="2366996"/>
              </a:xfrm>
              <a:custGeom>
                <a:avLst/>
                <a:gdLst>
                  <a:gd name="connsiteX0" fmla="*/ 0 w 12192000"/>
                  <a:gd name="connsiteY0" fmla="*/ 0 h 2366996"/>
                  <a:gd name="connsiteX1" fmla="*/ 12192000 w 12192000"/>
                  <a:gd name="connsiteY1" fmla="*/ 0 h 2366996"/>
                  <a:gd name="connsiteX2" fmla="*/ 12192000 w 12192000"/>
                  <a:gd name="connsiteY2" fmla="*/ 1700829 h 2366996"/>
                  <a:gd name="connsiteX3" fmla="*/ 11817509 w 12192000"/>
                  <a:gd name="connsiteY3" fmla="*/ 1795145 h 2366996"/>
                  <a:gd name="connsiteX4" fmla="*/ 6096000 w 12192000"/>
                  <a:gd name="connsiteY4" fmla="*/ 2366996 h 2366996"/>
                  <a:gd name="connsiteX5" fmla="*/ 374491 w 12192000"/>
                  <a:gd name="connsiteY5" fmla="*/ 1795145 h 2366996"/>
                  <a:gd name="connsiteX6" fmla="*/ 0 w 12192000"/>
                  <a:gd name="connsiteY6" fmla="*/ 1700829 h 23669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92000" h="2366996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1700829"/>
                    </a:lnTo>
                    <a:lnTo>
                      <a:pt x="11817509" y="1795145"/>
                    </a:lnTo>
                    <a:cubicBezTo>
                      <a:pt x="10312035" y="2150202"/>
                      <a:pt x="8302762" y="2366996"/>
                      <a:pt x="6096000" y="2366996"/>
                    </a:cubicBezTo>
                    <a:cubicBezTo>
                      <a:pt x="3889238" y="2366996"/>
                      <a:pt x="1879965" y="2150202"/>
                      <a:pt x="374491" y="1795145"/>
                    </a:cubicBezTo>
                    <a:lnTo>
                      <a:pt x="0" y="1700829"/>
                    </a:lnTo>
                    <a:close/>
                  </a:path>
                </a:pathLst>
              </a:custGeom>
              <a:gradFill flip="none" rotWithShape="1">
                <a:gsLst>
                  <a:gs pos="1000">
                    <a:schemeClr val="accent1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135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lvl="0" algn="ctr"/>
                <a:endParaRPr lang="zh-CN" altLang="en-US" dirty="0"/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>
              <a:off x="3887719" y="3089273"/>
              <a:ext cx="0" cy="2852646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" name="e5171e83-38d9-413e-9a39-90fe55e32f27"/>
          <p:cNvSpPr>
            <a:spLocks noGrp="1"/>
          </p:cNvSpPr>
          <p:nvPr>
            <p:ph type="title" hasCustomPrompt="1"/>
          </p:nvPr>
        </p:nvSpPr>
        <p:spPr>
          <a:xfrm>
            <a:off x="660400" y="1130300"/>
            <a:ext cx="10858500" cy="777873"/>
          </a:xfrm>
          <a:prstGeom prst="roundRect">
            <a:avLst>
              <a:gd name="adj" fmla="val 0"/>
            </a:avLst>
          </a:prstGeom>
          <a:noFill/>
        </p:spPr>
        <p:txBody>
          <a:bodyPr anchor="ctr" anchorCtr="0">
            <a:normAutofit/>
          </a:bodyPr>
          <a:lstStyle>
            <a:lvl1pPr algn="l">
              <a:defRPr sz="4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660399" y="3038473"/>
            <a:ext cx="10858501" cy="2852646"/>
          </a:xfrm>
        </p:spPr>
        <p:txBody>
          <a:bodyPr numCol="2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matchingName="Section Header">
  <p:cSld name="Section Header"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bg1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 userDrawn="1"/>
        </p:nvGrpSpPr>
        <p:grpSpPr>
          <a:xfrm>
            <a:off x="1606550" y="1579951"/>
            <a:ext cx="9682188" cy="3698097"/>
            <a:chOff x="1606550" y="1579951"/>
            <a:chExt cx="9682188" cy="3698097"/>
          </a:xfrm>
        </p:grpSpPr>
        <p:sp>
          <p:nvSpPr>
            <p:cNvPr id="22" name="矩形: 圆角 21"/>
            <p:cNvSpPr/>
            <p:nvPr userDrawn="1"/>
          </p:nvSpPr>
          <p:spPr>
            <a:xfrm>
              <a:off x="1606550" y="2267916"/>
              <a:ext cx="8966200" cy="2768541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>
              <a:off x="7461250" y="1579951"/>
              <a:ext cx="3827488" cy="3698097"/>
            </a:xfrm>
            <a:prstGeom prst="rect">
              <a:avLst/>
            </a:pr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连接符 27"/>
            <p:cNvCxnSpPr/>
            <p:nvPr userDrawn="1"/>
          </p:nvCxnSpPr>
          <p:spPr>
            <a:xfrm>
              <a:off x="2133600" y="3848098"/>
              <a:ext cx="5327650" cy="0"/>
            </a:xfrm>
            <a:prstGeom prst="line">
              <a:avLst/>
            </a:prstGeom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4b1b859d-9957-4c1c-a6df-f6be161eb685"/>
          <p:cNvSpPr>
            <a:spLocks noGrp="1"/>
          </p:cNvSpPr>
          <p:nvPr>
            <p:ph type="title" hasCustomPrompt="1"/>
          </p:nvPr>
        </p:nvSpPr>
        <p:spPr>
          <a:xfrm>
            <a:off x="2006600" y="3187699"/>
            <a:ext cx="5448300" cy="63499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32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" hasCustomPrompt="1"/>
          </p:nvPr>
        </p:nvSpPr>
        <p:spPr>
          <a:xfrm>
            <a:off x="2006600" y="3822698"/>
            <a:ext cx="5448300" cy="9905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2000" b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iSlide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Closing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0" y="1"/>
            <a:ext cx="12192000" cy="6858000"/>
            <a:chOff x="0" y="1"/>
            <a:chExt cx="12192000" cy="6858000"/>
          </a:xfrm>
        </p:grpSpPr>
        <p:grpSp>
          <p:nvGrpSpPr>
            <p:cNvPr id="2" name="组合 1"/>
            <p:cNvGrpSpPr/>
            <p:nvPr userDrawn="1"/>
          </p:nvGrpSpPr>
          <p:grpSpPr>
            <a:xfrm>
              <a:off x="0" y="1"/>
              <a:ext cx="12192000" cy="6858000"/>
              <a:chOff x="0" y="1"/>
              <a:chExt cx="12192000" cy="6858000"/>
            </a:xfrm>
          </p:grpSpPr>
          <p:sp>
            <p:nvSpPr>
              <p:cNvPr id="3" name="矩形 2"/>
              <p:cNvSpPr/>
              <p:nvPr userDrawn="1"/>
            </p:nvSpPr>
            <p:spPr>
              <a:xfrm>
                <a:off x="0" y="1"/>
                <a:ext cx="12192000" cy="6858000"/>
              </a:xfrm>
              <a:prstGeom prst="rect">
                <a:avLst/>
              </a:prstGeom>
              <a:blipFill>
                <a:blip r:embed="rId2"/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" name="直接连接符 5"/>
              <p:cNvCxnSpPr/>
              <p:nvPr userDrawn="1"/>
            </p:nvCxnSpPr>
            <p:spPr>
              <a:xfrm>
                <a:off x="660399" y="4216400"/>
                <a:ext cx="449453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组合 7"/>
            <p:cNvGrpSpPr/>
            <p:nvPr userDrawn="1"/>
          </p:nvGrpSpPr>
          <p:grpSpPr>
            <a:xfrm rot="16200000">
              <a:off x="1003990" y="654124"/>
              <a:ext cx="136333" cy="563163"/>
              <a:chOff x="2122137" y="4275536"/>
              <a:chExt cx="199274" cy="823162"/>
            </a:xfrm>
          </p:grpSpPr>
          <p:sp>
            <p:nvSpPr>
              <p:cNvPr id="9" name="矩形: 圆角 8"/>
              <p:cNvSpPr/>
              <p:nvPr/>
            </p:nvSpPr>
            <p:spPr>
              <a:xfrm>
                <a:off x="2122137" y="4275536"/>
                <a:ext cx="199274" cy="199272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 dirty="0"/>
              </a:p>
            </p:txBody>
          </p:sp>
          <p:sp>
            <p:nvSpPr>
              <p:cNvPr id="10" name="矩形: 圆角 9"/>
              <p:cNvSpPr/>
              <p:nvPr/>
            </p:nvSpPr>
            <p:spPr>
              <a:xfrm>
                <a:off x="2122137" y="4587481"/>
                <a:ext cx="199274" cy="199273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: 圆角 10"/>
              <p:cNvSpPr/>
              <p:nvPr/>
            </p:nvSpPr>
            <p:spPr>
              <a:xfrm>
                <a:off x="2122137" y="4899426"/>
                <a:ext cx="199274" cy="199272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 dirty="0"/>
              </a:p>
            </p:txBody>
          </p:sp>
        </p:grpSp>
      </p:grpSp>
      <p:sp>
        <p:nvSpPr>
          <p:cNvPr id="5" name="4b1b859d-9957-4c1c-a6df-f6be161eb685"/>
          <p:cNvSpPr>
            <a:spLocks noGrp="1"/>
          </p:cNvSpPr>
          <p:nvPr>
            <p:ph type="ctrTitle" hasCustomPrompt="1"/>
          </p:nvPr>
        </p:nvSpPr>
        <p:spPr>
          <a:xfrm>
            <a:off x="660399" y="1130300"/>
            <a:ext cx="4883151" cy="29972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60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9" y="4799470"/>
            <a:ext cx="2270126" cy="44308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1"/>
          </a:gradFill>
        </p:spPr>
        <p:txBody>
          <a:bodyPr wrap="square" lIns="900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3101975" y="4799470"/>
            <a:ext cx="2270126" cy="4430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non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rgbClr val="000000"/>
                </a:solidFill>
              </a:defRPr>
            </a:lvl1pPr>
          </a:lstStyle>
          <a:p>
            <a:pPr lvl="0"/>
            <a:r>
              <a:rPr lang="zh-CN" altLang="en-US" dirty="0"/>
              <a:t>www.islide.cc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"/>
          <p:cNvSpPr>
            <a:spLocks noGrp="1"/>
          </p:cNvSpPr>
          <p:nvPr>
            <p:ph idx="1"/>
          </p:nvPr>
        </p:nvSpPr>
        <p:spPr>
          <a:xfrm>
            <a:off x="396875" y="1800000"/>
            <a:ext cx="8351839" cy="385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3701" y="239713"/>
            <a:ext cx="7494588" cy="1085371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/>
          <p:cNvSpPr>
            <a:spLocks noGrp="1"/>
          </p:cNvSpPr>
          <p:nvPr>
            <p:ph sz="quarter" idx="3"/>
          </p:nvPr>
        </p:nvSpPr>
        <p:spPr>
          <a:xfrm>
            <a:off x="4645025" y="1795464"/>
            <a:ext cx="4100513" cy="4284662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393700" y="1795463"/>
            <a:ext cx="4098925" cy="4284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701" y="239713"/>
            <a:ext cx="7494588" cy="10853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bg1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ab24480-bb51-4ccf-a4f6-052676c24cd6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660400" y="889000"/>
            <a:ext cx="11258550" cy="152400"/>
            <a:chOff x="660400" y="889000"/>
            <a:chExt cx="11258550" cy="152400"/>
          </a:xfrm>
        </p:grpSpPr>
        <p:sp>
          <p:nvSpPr>
            <p:cNvPr id="20" name="矩形: 圆角 19"/>
            <p:cNvSpPr/>
            <p:nvPr userDrawn="1"/>
          </p:nvSpPr>
          <p:spPr>
            <a:xfrm>
              <a:off x="11118850" y="889000"/>
              <a:ext cx="800100" cy="15240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连接符 21"/>
            <p:cNvCxnSpPr/>
            <p:nvPr userDrawn="1"/>
          </p:nvCxnSpPr>
          <p:spPr>
            <a:xfrm flipH="1" flipV="1">
              <a:off x="660400" y="1028699"/>
              <a:ext cx="10871200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6.xml"/><Relationship Id="rId16" Type="http://schemas.openxmlformats.org/officeDocument/2006/relationships/themeOverride" Target="../theme/themeOverride2.xml"/><Relationship Id="rId15" Type="http://schemas.openxmlformats.org/officeDocument/2006/relationships/image" Target="../media/image5.emf"/><Relationship Id="rId14" Type="http://schemas.openxmlformats.org/officeDocument/2006/relationships/image" Target="../media/image4.png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9.xml"/><Relationship Id="rId7" Type="http://schemas.openxmlformats.org/officeDocument/2006/relationships/image" Target="../media/image5.emf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emf"/><Relationship Id="rId8" Type="http://schemas.openxmlformats.org/officeDocument/2006/relationships/tags" Target="../tags/tag18.xml"/><Relationship Id="rId7" Type="http://schemas.openxmlformats.org/officeDocument/2006/relationships/image" Target="../media/image13.emf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image" Target="../media/image12.emf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8.xml"/><Relationship Id="rId2" Type="http://schemas.openxmlformats.org/officeDocument/2006/relationships/tags" Target="../tags/tag14.xml"/><Relationship Id="rId19" Type="http://schemas.openxmlformats.org/officeDocument/2006/relationships/image" Target="../media/image9.emf"/><Relationship Id="rId18" Type="http://schemas.openxmlformats.org/officeDocument/2006/relationships/image" Target="../media/image16.png"/><Relationship Id="rId17" Type="http://schemas.openxmlformats.org/officeDocument/2006/relationships/image" Target="../media/image8.emf"/><Relationship Id="rId16" Type="http://schemas.openxmlformats.org/officeDocument/2006/relationships/image" Target="../media/image7.emf"/><Relationship Id="rId15" Type="http://schemas.openxmlformats.org/officeDocument/2006/relationships/image" Target="../media/image5.emf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image" Target="../media/image15.emf"/><Relationship Id="rId10" Type="http://schemas.openxmlformats.org/officeDocument/2006/relationships/tags" Target="../tags/tag19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9.xml"/><Relationship Id="rId6" Type="http://schemas.openxmlformats.org/officeDocument/2006/relationships/image" Target="../media/image9.emf"/><Relationship Id="rId5" Type="http://schemas.openxmlformats.org/officeDocument/2006/relationships/image" Target="../media/image5.emf"/><Relationship Id="rId4" Type="http://schemas.openxmlformats.org/officeDocument/2006/relationships/image" Target="../media/image17.png"/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emf"/><Relationship Id="rId8" Type="http://schemas.openxmlformats.org/officeDocument/2006/relationships/image" Target="../media/image20.emf"/><Relationship Id="rId7" Type="http://schemas.openxmlformats.org/officeDocument/2006/relationships/image" Target="../media/image19.emf"/><Relationship Id="rId6" Type="http://schemas.openxmlformats.org/officeDocument/2006/relationships/image" Target="../media/image18.emf"/><Relationship Id="rId5" Type="http://schemas.openxmlformats.org/officeDocument/2006/relationships/image" Target="../media/image9.emf"/><Relationship Id="rId4" Type="http://schemas.openxmlformats.org/officeDocument/2006/relationships/image" Target="../media/image5.emf"/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9.xml"/><Relationship Id="rId10" Type="http://schemas.openxmlformats.org/officeDocument/2006/relationships/image" Target="../media/image22.emf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microsoft.com/office/2007/relationships/media" Target="../media/media1.mp4"/><Relationship Id="rId4" Type="http://schemas.openxmlformats.org/officeDocument/2006/relationships/video" Target="../media/media1.mp4"/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7.emf"/><Relationship Id="rId4" Type="http://schemas.openxmlformats.org/officeDocument/2006/relationships/image" Target="../media/image5.emf"/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3.xml"/><Relationship Id="rId1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660399" y="1130300"/>
            <a:ext cx="4906011" cy="2410776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“</a:t>
            </a:r>
            <a:r>
              <a:rPr lang="zh-CN" altLang="en-US" dirty="0"/>
              <a:t>易场地</a:t>
            </a:r>
            <a:r>
              <a:rPr lang="en-US" altLang="zh-CN" dirty="0"/>
              <a:t>”</a:t>
            </a:r>
            <a:br>
              <a:rPr lang="en-US" altLang="zh-CN" dirty="0"/>
            </a:br>
            <a:r>
              <a:rPr lang="zh-CN" altLang="en-US" dirty="0"/>
              <a:t>数据库系统</a:t>
            </a:r>
            <a:br>
              <a:rPr lang="en-US" altLang="zh-CN" dirty="0"/>
            </a:br>
            <a:r>
              <a:rPr lang="zh-CN" altLang="en-US" dirty="0"/>
              <a:t>期中进度汇报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932814" y="4158477"/>
            <a:ext cx="1945641" cy="406400"/>
          </a:xfrm>
        </p:spPr>
        <p:txBody>
          <a:bodyPr>
            <a:normAutofit/>
          </a:bodyPr>
          <a:lstStyle/>
          <a:p>
            <a:r>
              <a:rPr lang="zh-CN" altLang="en-US" dirty="0"/>
              <a:t>汇报人：</a:t>
            </a:r>
            <a:r>
              <a:rPr lang="en-US" altLang="zh-CN" dirty="0"/>
              <a:t> </a:t>
            </a:r>
            <a:r>
              <a:rPr lang="zh-CN" altLang="en-US" dirty="0"/>
              <a:t>黄詹鑫</a:t>
            </a:r>
            <a:endParaRPr lang="zh-CN" altLang="en-US" dirty="0"/>
          </a:p>
        </p:txBody>
      </p:sp>
      <p:sp>
        <p:nvSpPr>
          <p:cNvPr id="2" name="文本占位符 3"/>
          <p:cNvSpPr>
            <a:spLocks noGrp="1"/>
          </p:cNvSpPr>
          <p:nvPr/>
        </p:nvSpPr>
        <p:spPr>
          <a:xfrm>
            <a:off x="932814" y="4736962"/>
            <a:ext cx="1945641" cy="4064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</p:spPr>
        <p:txBody>
          <a:bodyPr vert="horz" wrap="square" lIns="9000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组员：</a:t>
            </a:r>
            <a:r>
              <a:rPr lang="en-US" altLang="zh-CN" dirty="0"/>
              <a:t> </a:t>
            </a:r>
            <a:r>
              <a:rPr lang="zh-CN" altLang="en-US" dirty="0"/>
              <a:t>毛星博</a:t>
            </a:r>
            <a:endParaRPr lang="zh-CN" altLang="en-US" dirty="0"/>
          </a:p>
        </p:txBody>
      </p:sp>
      <p:sp>
        <p:nvSpPr>
          <p:cNvPr id="3" name="文本占位符 3"/>
          <p:cNvSpPr>
            <a:spLocks noGrp="1"/>
          </p:cNvSpPr>
          <p:nvPr/>
        </p:nvSpPr>
        <p:spPr>
          <a:xfrm>
            <a:off x="932814" y="5315447"/>
            <a:ext cx="1945641" cy="4064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</p:spPr>
        <p:txBody>
          <a:bodyPr vert="horz" wrap="square" lIns="9000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组员：徐华炫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1"/>
            </p:custDataLst>
          </p:nvPr>
        </p:nvGrpSpPr>
        <p:grpSpPr>
          <a:xfrm>
            <a:off x="604520" y="1116330"/>
            <a:ext cx="11379200" cy="5411364"/>
            <a:chOff x="660400" y="1130300"/>
            <a:chExt cx="11379200" cy="5411364"/>
          </a:xfrm>
        </p:grpSpPr>
        <p:sp>
          <p:nvSpPr>
            <p:cNvPr id="15" name="Title"/>
            <p:cNvSpPr/>
            <p:nvPr/>
          </p:nvSpPr>
          <p:spPr>
            <a:xfrm>
              <a:off x="660400" y="1130300"/>
              <a:ext cx="3162300" cy="9362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 fontScale="77500" lnSpcReduction="20000"/>
            </a:bodyPr>
            <a:lstStyle/>
            <a:p>
              <a:pPr>
                <a:lnSpc>
                  <a:spcPct val="140000"/>
                </a:lnSpc>
                <a:buSzPct val="25000"/>
              </a:pPr>
              <a:r>
                <a:rPr lang="zh-CN" altLang="en-US" sz="6000" b="1" dirty="0">
                  <a:solidFill>
                    <a:schemeClr val="tx1"/>
                  </a:solidFill>
                  <a:cs typeface="+mn-ea"/>
                  <a:sym typeface="+mn-lt"/>
                </a:rPr>
                <a:t>目录</a:t>
              </a:r>
              <a:endParaRPr lang="en-US" altLang="zh-CN" sz="3200" b="1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660400" y="2427299"/>
              <a:ext cx="5499100" cy="787400"/>
              <a:chOff x="660400" y="2427299"/>
              <a:chExt cx="5499100" cy="787400"/>
            </a:xfrm>
          </p:grpSpPr>
          <p:cxnSp>
            <p:nvCxnSpPr>
              <p:cNvPr id="18" name="Line1"/>
              <p:cNvCxnSpPr/>
              <p:nvPr>
                <p:custDataLst>
                  <p:tags r:id="rId2"/>
                </p:custDataLst>
              </p:nvPr>
            </p:nvCxnSpPr>
            <p:spPr>
              <a:xfrm>
                <a:off x="1447800" y="3214699"/>
                <a:ext cx="4711700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Number1"/>
              <p:cNvSpPr/>
              <p:nvPr>
                <p:custDataLst>
                  <p:tags r:id="rId3"/>
                </p:custDataLst>
              </p:nvPr>
            </p:nvSpPr>
            <p:spPr>
              <a:xfrm>
                <a:off x="660400" y="2427299"/>
                <a:ext cx="787400" cy="787400"/>
              </a:xfrm>
              <a:custGeom>
                <a:avLst/>
                <a:gdLst>
                  <a:gd name="connsiteX0" fmla="*/ 393700 w 787400"/>
                  <a:gd name="connsiteY0" fmla="*/ 0 h 787400"/>
                  <a:gd name="connsiteX1" fmla="*/ 787400 w 787400"/>
                  <a:gd name="connsiteY1" fmla="*/ 393700 h 787400"/>
                  <a:gd name="connsiteX2" fmla="*/ 787400 w 787400"/>
                  <a:gd name="connsiteY2" fmla="*/ 787400 h 787400"/>
                  <a:gd name="connsiteX3" fmla="*/ 393700 w 787400"/>
                  <a:gd name="connsiteY3" fmla="*/ 787400 h 787400"/>
                  <a:gd name="connsiteX4" fmla="*/ 0 w 787400"/>
                  <a:gd name="connsiteY4" fmla="*/ 393700 h 787400"/>
                  <a:gd name="connsiteX5" fmla="*/ 393700 w 787400"/>
                  <a:gd name="connsiteY5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7400" h="787400">
                    <a:moveTo>
                      <a:pt x="393700" y="0"/>
                    </a:moveTo>
                    <a:cubicBezTo>
                      <a:pt x="611135" y="0"/>
                      <a:pt x="787400" y="176265"/>
                      <a:pt x="787400" y="393700"/>
                    </a:cubicBezTo>
                    <a:lnTo>
                      <a:pt x="787400" y="787400"/>
                    </a:lnTo>
                    <a:lnTo>
                      <a:pt x="393700" y="787400"/>
                    </a:lnTo>
                    <a:cubicBezTo>
                      <a:pt x="176265" y="787400"/>
                      <a:pt x="0" y="611135"/>
                      <a:pt x="0" y="393700"/>
                    </a:cubicBezTo>
                    <a:cubicBezTo>
                      <a:pt x="0" y="176265"/>
                      <a:pt x="176265" y="0"/>
                      <a:pt x="3937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3175">
                <a:noFill/>
              </a:ln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1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23" name="Bullet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638300" y="2513021"/>
                <a:ext cx="4457700" cy="673097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cs typeface="+mn-ea"/>
                    <a:sym typeface="+mn-lt"/>
                  </a:rPr>
                  <a:t>系统介绍与需求分析</a:t>
                </a:r>
                <a:endParaRPr lang="zh-CN" altLang="en-US" sz="24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660400" y="3400433"/>
              <a:ext cx="5499100" cy="787400"/>
              <a:chOff x="660400" y="3400433"/>
              <a:chExt cx="5499100" cy="787400"/>
            </a:xfrm>
          </p:grpSpPr>
          <p:cxnSp>
            <p:nvCxnSpPr>
              <p:cNvPr id="27" name="Line2"/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1447800" y="4187833"/>
                <a:ext cx="4711700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Number2"/>
              <p:cNvSpPr/>
              <p:nvPr>
                <p:custDataLst>
                  <p:tags r:id="rId6"/>
                </p:custDataLst>
              </p:nvPr>
            </p:nvSpPr>
            <p:spPr>
              <a:xfrm>
                <a:off x="660400" y="3400433"/>
                <a:ext cx="787400" cy="787400"/>
              </a:xfrm>
              <a:custGeom>
                <a:avLst/>
                <a:gdLst>
                  <a:gd name="connsiteX0" fmla="*/ 393700 w 787400"/>
                  <a:gd name="connsiteY0" fmla="*/ 0 h 787400"/>
                  <a:gd name="connsiteX1" fmla="*/ 787400 w 787400"/>
                  <a:gd name="connsiteY1" fmla="*/ 393700 h 787400"/>
                  <a:gd name="connsiteX2" fmla="*/ 787400 w 787400"/>
                  <a:gd name="connsiteY2" fmla="*/ 787400 h 787400"/>
                  <a:gd name="connsiteX3" fmla="*/ 393700 w 787400"/>
                  <a:gd name="connsiteY3" fmla="*/ 787400 h 787400"/>
                  <a:gd name="connsiteX4" fmla="*/ 0 w 787400"/>
                  <a:gd name="connsiteY4" fmla="*/ 393700 h 787400"/>
                  <a:gd name="connsiteX5" fmla="*/ 393700 w 787400"/>
                  <a:gd name="connsiteY5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7400" h="787400">
                    <a:moveTo>
                      <a:pt x="393700" y="0"/>
                    </a:moveTo>
                    <a:cubicBezTo>
                      <a:pt x="611135" y="0"/>
                      <a:pt x="787400" y="176265"/>
                      <a:pt x="787400" y="393700"/>
                    </a:cubicBezTo>
                    <a:lnTo>
                      <a:pt x="787400" y="787400"/>
                    </a:lnTo>
                    <a:lnTo>
                      <a:pt x="393700" y="787400"/>
                    </a:lnTo>
                    <a:cubicBezTo>
                      <a:pt x="176265" y="787400"/>
                      <a:pt x="0" y="611135"/>
                      <a:pt x="0" y="393700"/>
                    </a:cubicBezTo>
                    <a:cubicBezTo>
                      <a:pt x="0" y="176265"/>
                      <a:pt x="176265" y="0"/>
                      <a:pt x="3937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3175">
                <a:noFill/>
              </a:ln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2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29" name="Bullet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638300" y="3486155"/>
                <a:ext cx="4457700" cy="673097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cs typeface="+mn-ea"/>
                    <a:sym typeface="+mn-lt"/>
                  </a:rPr>
                  <a:t>数据库设计</a:t>
                </a:r>
                <a:endParaRPr lang="zh-CN" altLang="en-US" sz="24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660400" y="4373567"/>
              <a:ext cx="5499100" cy="787400"/>
              <a:chOff x="660400" y="4373567"/>
              <a:chExt cx="5499100" cy="787400"/>
            </a:xfrm>
          </p:grpSpPr>
          <p:cxnSp>
            <p:nvCxnSpPr>
              <p:cNvPr id="31" name="Line3"/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1447800" y="5160967"/>
                <a:ext cx="4711700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Number3"/>
              <p:cNvSpPr/>
              <p:nvPr>
                <p:custDataLst>
                  <p:tags r:id="rId9"/>
                </p:custDataLst>
              </p:nvPr>
            </p:nvSpPr>
            <p:spPr>
              <a:xfrm>
                <a:off x="660400" y="4373567"/>
                <a:ext cx="787400" cy="787400"/>
              </a:xfrm>
              <a:custGeom>
                <a:avLst/>
                <a:gdLst>
                  <a:gd name="connsiteX0" fmla="*/ 393700 w 787400"/>
                  <a:gd name="connsiteY0" fmla="*/ 0 h 787400"/>
                  <a:gd name="connsiteX1" fmla="*/ 787400 w 787400"/>
                  <a:gd name="connsiteY1" fmla="*/ 393700 h 787400"/>
                  <a:gd name="connsiteX2" fmla="*/ 787400 w 787400"/>
                  <a:gd name="connsiteY2" fmla="*/ 787400 h 787400"/>
                  <a:gd name="connsiteX3" fmla="*/ 393700 w 787400"/>
                  <a:gd name="connsiteY3" fmla="*/ 787400 h 787400"/>
                  <a:gd name="connsiteX4" fmla="*/ 0 w 787400"/>
                  <a:gd name="connsiteY4" fmla="*/ 393700 h 787400"/>
                  <a:gd name="connsiteX5" fmla="*/ 393700 w 787400"/>
                  <a:gd name="connsiteY5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7400" h="787400">
                    <a:moveTo>
                      <a:pt x="393700" y="0"/>
                    </a:moveTo>
                    <a:cubicBezTo>
                      <a:pt x="611135" y="0"/>
                      <a:pt x="787400" y="176265"/>
                      <a:pt x="787400" y="393700"/>
                    </a:cubicBezTo>
                    <a:lnTo>
                      <a:pt x="787400" y="787400"/>
                    </a:lnTo>
                    <a:lnTo>
                      <a:pt x="393700" y="787400"/>
                    </a:lnTo>
                    <a:cubicBezTo>
                      <a:pt x="176265" y="787400"/>
                      <a:pt x="0" y="611135"/>
                      <a:pt x="0" y="393700"/>
                    </a:cubicBezTo>
                    <a:cubicBezTo>
                      <a:pt x="0" y="176265"/>
                      <a:pt x="176265" y="0"/>
                      <a:pt x="3937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3175">
                <a:noFill/>
              </a:ln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3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33" name="Bullet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638300" y="4459289"/>
                <a:ext cx="4457700" cy="673097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cs typeface="+mn-ea"/>
                    <a:sym typeface="+mn-lt"/>
                  </a:rPr>
                  <a:t>系统功能设计和中期成果展示</a:t>
                </a:r>
                <a:endParaRPr lang="zh-CN" altLang="en-US" sz="24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660400" y="5346700"/>
              <a:ext cx="5499100" cy="787400"/>
              <a:chOff x="660400" y="5346700"/>
              <a:chExt cx="5499100" cy="787400"/>
            </a:xfrm>
          </p:grpSpPr>
          <p:cxnSp>
            <p:nvCxnSpPr>
              <p:cNvPr id="35" name="Line4"/>
              <p:cNvCxnSpPr/>
              <p:nvPr>
                <p:custDataLst>
                  <p:tags r:id="rId11"/>
                </p:custDataLst>
              </p:nvPr>
            </p:nvCxnSpPr>
            <p:spPr>
              <a:xfrm>
                <a:off x="1447800" y="6134100"/>
                <a:ext cx="4711700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Number4"/>
              <p:cNvSpPr/>
              <p:nvPr>
                <p:custDataLst>
                  <p:tags r:id="rId12"/>
                </p:custDataLst>
              </p:nvPr>
            </p:nvSpPr>
            <p:spPr>
              <a:xfrm>
                <a:off x="660400" y="5346700"/>
                <a:ext cx="787400" cy="787400"/>
              </a:xfrm>
              <a:custGeom>
                <a:avLst/>
                <a:gdLst>
                  <a:gd name="connsiteX0" fmla="*/ 393700 w 787400"/>
                  <a:gd name="connsiteY0" fmla="*/ 0 h 787400"/>
                  <a:gd name="connsiteX1" fmla="*/ 787400 w 787400"/>
                  <a:gd name="connsiteY1" fmla="*/ 393700 h 787400"/>
                  <a:gd name="connsiteX2" fmla="*/ 787400 w 787400"/>
                  <a:gd name="connsiteY2" fmla="*/ 787400 h 787400"/>
                  <a:gd name="connsiteX3" fmla="*/ 393700 w 787400"/>
                  <a:gd name="connsiteY3" fmla="*/ 787400 h 787400"/>
                  <a:gd name="connsiteX4" fmla="*/ 0 w 787400"/>
                  <a:gd name="connsiteY4" fmla="*/ 393700 h 787400"/>
                  <a:gd name="connsiteX5" fmla="*/ 393700 w 787400"/>
                  <a:gd name="connsiteY5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7400" h="787400">
                    <a:moveTo>
                      <a:pt x="393700" y="0"/>
                    </a:moveTo>
                    <a:cubicBezTo>
                      <a:pt x="611135" y="0"/>
                      <a:pt x="787400" y="176265"/>
                      <a:pt x="787400" y="393700"/>
                    </a:cubicBezTo>
                    <a:lnTo>
                      <a:pt x="787400" y="787400"/>
                    </a:lnTo>
                    <a:lnTo>
                      <a:pt x="393700" y="787400"/>
                    </a:lnTo>
                    <a:cubicBezTo>
                      <a:pt x="176265" y="787400"/>
                      <a:pt x="0" y="611135"/>
                      <a:pt x="0" y="393700"/>
                    </a:cubicBezTo>
                    <a:cubicBezTo>
                      <a:pt x="0" y="176265"/>
                      <a:pt x="176265" y="0"/>
                      <a:pt x="3937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3175">
                <a:noFill/>
              </a:ln>
              <a:effectLst>
                <a:outerShdw blurRad="50800" dist="50800" dir="5400000" algn="ctr" rotWithShape="0">
                  <a:schemeClr val="tx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4</a:t>
                </a:r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37" name="Bullet4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638300" y="5432422"/>
                <a:ext cx="4457700" cy="673097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cs typeface="+mn-ea"/>
                    <a:sym typeface="+mn-lt"/>
                  </a:rPr>
                  <a:t>下一步计划</a:t>
                </a:r>
                <a:endParaRPr lang="zh-CN" altLang="en-US" sz="24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6438900" y="1130300"/>
              <a:ext cx="5600700" cy="5411364"/>
            </a:xfrm>
            <a:prstGeom prst="rect">
              <a:avLst/>
            </a:prstGeom>
            <a:blipFill>
              <a:blip r:embed="rId14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0083165" y="242570"/>
            <a:ext cx="1861820" cy="1104900"/>
            <a:chOff x="13288" y="758"/>
            <a:chExt cx="2932" cy="1740"/>
          </a:xfrm>
        </p:grpSpPr>
        <p:sp>
          <p:nvSpPr>
            <p:cNvPr id="6" name="Rektangel med rundade hörn 6"/>
            <p:cNvSpPr>
              <a:spLocks noChangeArrowheads="1"/>
            </p:cNvSpPr>
            <p:nvPr/>
          </p:nvSpPr>
          <p:spPr bwMode="auto">
            <a:xfrm>
              <a:off x="13288" y="758"/>
              <a:ext cx="2932" cy="1740"/>
            </a:xfrm>
            <a:prstGeom prst="roundRect">
              <a:avLst>
                <a:gd name="adj" fmla="val 16667"/>
              </a:avLst>
            </a:prstGeom>
            <a:noFill/>
            <a:ln w="12700" algn="ctr">
              <a:solidFill>
                <a:srgbClr val="00A9D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5998" tIns="60958" rIns="95998" bIns="60958"/>
            <a:p>
              <a:pPr algn="l" defTabSz="1217930">
                <a:spcBef>
                  <a:spcPct val="50000"/>
                </a:spcBef>
              </a:pPr>
              <a:endParaRPr lang="sv-SE" altLang="sv-SE" sz="2700"/>
            </a:p>
          </p:txBody>
        </p:sp>
        <p:pic>
          <p:nvPicPr>
            <p:cNvPr id="57366" name="Bildobjekt 7"/>
            <p:cNvPicPr>
              <a:picLocks noChangeAspect="1"/>
            </p:cNvPicPr>
            <p:nvPr/>
          </p:nvPicPr>
          <p:blipFill>
            <a:blip r:embed="rId15" cstate="email"/>
            <a:srcRect t="23142"/>
            <a:stretch>
              <a:fillRect/>
            </a:stretch>
          </p:blipFill>
          <p:spPr bwMode="auto">
            <a:xfrm>
              <a:off x="13623" y="1346"/>
              <a:ext cx="2302" cy="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文本框 10"/>
            <p:cNvSpPr txBox="1"/>
            <p:nvPr/>
          </p:nvSpPr>
          <p:spPr>
            <a:xfrm>
              <a:off x="13838" y="766"/>
              <a:ext cx="18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ExCourt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Bildobjekt 13" descr="grey_bg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299" name="Bildobjekt 14"/>
          <p:cNvPicPr>
            <a:picLocks noChangeAspect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429895" y="521653"/>
            <a:ext cx="4254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3" name="Bildobjekt 5"/>
          <p:cNvPicPr>
            <a:picLocks noChangeAspect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475933" y="1379220"/>
            <a:ext cx="64135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4" name="Bildobjekt 6"/>
          <p:cNvPicPr>
            <a:picLocks noChangeAspect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475933" y="5219700"/>
            <a:ext cx="64135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11" name="Bildobjekt 19"/>
          <p:cNvPicPr>
            <a:picLocks noChangeAspect="1"/>
          </p:cNvPicPr>
          <p:nvPr/>
        </p:nvPicPr>
        <p:blipFill>
          <a:blip r:embed="rId5" cstate="email"/>
          <a:srcRect/>
          <a:stretch>
            <a:fillRect/>
          </a:stretch>
        </p:blipFill>
        <p:spPr bwMode="auto">
          <a:xfrm rot="5400000">
            <a:off x="2275840" y="4241800"/>
            <a:ext cx="890588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/>
          <p:nvPr>
            <p:ph type="title"/>
          </p:nvPr>
        </p:nvSpPr>
        <p:spPr>
          <a:xfrm>
            <a:off x="1054736" y="-317"/>
            <a:ext cx="7494588" cy="1085371"/>
          </a:xfrm>
        </p:spPr>
        <p:txBody>
          <a:bodyPr/>
          <a:p>
            <a:r>
              <a:rPr lang="zh-CN" altLang="en-US"/>
              <a:t>系统介绍与需求分析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84275" y="1480185"/>
            <a:ext cx="314007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/>
            <a:r>
              <a:rPr lang="en-US" altLang="zh-CN" sz="1400"/>
              <a:t>       </a:t>
            </a:r>
            <a:r>
              <a:rPr lang="zh-CN" altLang="en-US" sz="1400"/>
              <a:t>在高校校园这一特定环境中，公共场地资源（如会议室、研讨室、各类运动场馆等）是师生日常学习、工作和生活的重要组成部分。</a:t>
            </a:r>
            <a:endParaRPr lang="zh-CN" altLang="en-US" sz="1400"/>
          </a:p>
          <a:p>
            <a:pPr indent="0" algn="l" fontAlgn="auto"/>
            <a:r>
              <a:rPr lang="zh-CN" altLang="en-US" sz="1400"/>
              <a:t> </a:t>
            </a:r>
            <a:r>
              <a:rPr lang="en-US" altLang="zh-CN" sz="1400"/>
              <a:t>      </a:t>
            </a:r>
            <a:r>
              <a:rPr lang="zh-CN" altLang="en-US" sz="1400"/>
              <a:t>然而，当前场地预约与使用流程中存在诸多挑战：</a:t>
            </a:r>
            <a:endParaRPr lang="zh-CN" altLang="en-US" sz="1400"/>
          </a:p>
          <a:p>
            <a:pPr indent="0" algn="l" fontAlgn="auto"/>
            <a:endParaRPr lang="zh-CN" altLang="en-US" sz="1400"/>
          </a:p>
          <a:p>
            <a:pPr indent="0" algn="l" fontAlgn="auto"/>
            <a:r>
              <a:rPr lang="zh-CN" altLang="en-US" sz="1400"/>
              <a:t>痛点一：已预约场地闲置与需求不匹配。</a:t>
            </a:r>
            <a:endParaRPr lang="zh-CN" altLang="en-US" sz="1400"/>
          </a:p>
          <a:p>
            <a:pPr indent="0" algn="l" fontAlgn="auto"/>
            <a:endParaRPr lang="zh-CN" altLang="en-US" sz="1400"/>
          </a:p>
          <a:p>
            <a:pPr indent="0" algn="l" fontAlgn="auto"/>
            <a:r>
              <a:rPr lang="zh-CN" altLang="en-US" sz="1400"/>
              <a:t>痛点二：热门资源供不应求与</a:t>
            </a:r>
            <a:r>
              <a:rPr lang="en-US" altLang="zh-CN" sz="1400"/>
              <a:t>“</a:t>
            </a:r>
            <a:r>
              <a:rPr lang="zh-CN" altLang="en-US" sz="1400"/>
              <a:t>占坑</a:t>
            </a:r>
            <a:r>
              <a:rPr lang="en-US" altLang="zh-CN" sz="1400"/>
              <a:t>”</a:t>
            </a:r>
            <a:r>
              <a:rPr lang="zh-CN" altLang="en-US" sz="1400"/>
              <a:t>式预定。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1117600" y="5158740"/>
            <a:ext cx="32067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ym typeface="+mn-ea"/>
              </a:rPr>
              <a:t>        </a:t>
            </a:r>
            <a:r>
              <a:rPr lang="zh-CN" altLang="en-US" sz="1400">
                <a:sym typeface="+mn-ea"/>
              </a:rPr>
              <a:t>此次大作业</a:t>
            </a:r>
            <a:r>
              <a:rPr lang="en-US" altLang="zh-CN" sz="1400">
                <a:sym typeface="+mn-ea"/>
              </a:rPr>
              <a:t>——“</a:t>
            </a:r>
            <a:r>
              <a:rPr lang="zh-CN" altLang="en-US" sz="1400">
                <a:sym typeface="+mn-ea"/>
              </a:rPr>
              <a:t>易场地</a:t>
            </a:r>
            <a:r>
              <a:rPr lang="en-US" altLang="zh-CN" sz="1400">
                <a:sym typeface="+mn-ea"/>
              </a:rPr>
              <a:t>”</a:t>
            </a:r>
            <a:r>
              <a:rPr lang="zh-CN" altLang="en-US" sz="1400">
                <a:sym typeface="+mn-ea"/>
              </a:rPr>
              <a:t>，旨在设计并实现一个专门用于校内场地时段交换的平台数据库系统，以优化场地资源配置，提升其利用效率。</a:t>
            </a:r>
            <a:r>
              <a:rPr lang="en-US" altLang="zh-CN" sz="1400">
                <a:sym typeface="+mn-ea"/>
              </a:rPr>
              <a:t> </a:t>
            </a:r>
            <a:endParaRPr lang="en-US" altLang="zh-CN" sz="1400">
              <a:sym typeface="+mn-ea"/>
            </a:endParaRPr>
          </a:p>
        </p:txBody>
      </p:sp>
      <p:pic>
        <p:nvPicPr>
          <p:cNvPr id="6" name="Bildobjekt 19"/>
          <p:cNvPicPr>
            <a:picLocks noChangeAspect="1"/>
          </p:cNvPicPr>
          <p:nvPr/>
        </p:nvPicPr>
        <p:blipFill>
          <a:blip r:embed="rId5" cstate="email"/>
          <a:srcRect/>
          <a:stretch>
            <a:fillRect/>
          </a:stretch>
        </p:blipFill>
        <p:spPr bwMode="auto">
          <a:xfrm>
            <a:off x="5253355" y="3064510"/>
            <a:ext cx="890588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7245350" y="1327785"/>
            <a:ext cx="4011930" cy="5143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None/>
            </a:pPr>
            <a:r>
              <a:rPr lang="zh-CN" altLang="en-US" sz="1600" b="1"/>
              <a:t>核心需求：</a:t>
            </a:r>
            <a:endParaRPr lang="zh-CN" altLang="en-US" sz="1600" b="1"/>
          </a:p>
          <a:p>
            <a:pPr algn="l">
              <a:buClrTx/>
              <a:buSzTx/>
              <a:buNone/>
            </a:pPr>
            <a:br>
              <a:rPr lang="zh-CN" altLang="en-US" sz="1400"/>
            </a:br>
            <a:r>
              <a:rPr lang="zh-CN" altLang="en-US" sz="1400"/>
              <a:t>1. 场地交换提议与管理</a:t>
            </a:r>
            <a:endParaRPr lang="zh-CN" altLang="en-US" sz="1400"/>
          </a:p>
          <a:p>
            <a:pPr algn="l">
              <a:buClrTx/>
              <a:buSzTx/>
              <a:buNone/>
            </a:pPr>
            <a:endParaRPr lang="zh-CN" altLang="en-US" sz="1400"/>
          </a:p>
          <a:p>
            <a:pPr algn="l">
              <a:buClrTx/>
              <a:buSzTx/>
              <a:buNone/>
            </a:pPr>
            <a:r>
              <a:rPr lang="zh-CN" altLang="en-US" sz="1400"/>
              <a:t>需求核心与难点：</a:t>
            </a:r>
            <a:endParaRPr lang="en-US" altLang="zh-CN" sz="1400"/>
          </a:p>
          <a:p>
            <a:pPr algn="l">
              <a:buClrTx/>
              <a:buSzTx/>
              <a:buNone/>
            </a:pPr>
            <a:r>
              <a:rPr lang="en-US" altLang="zh-CN" sz="1400"/>
              <a:t>       </a:t>
            </a:r>
            <a:r>
              <a:rPr lang="zh-CN" altLang="en-US" sz="1400"/>
              <a:t>交换提议状态的管理</a:t>
            </a:r>
            <a:r>
              <a:rPr lang="en-US" altLang="zh-CN" sz="1400"/>
              <a:t>——</a:t>
            </a:r>
            <a:r>
              <a:rPr lang="zh-CN" altLang="en-US" sz="1400"/>
              <a:t>如何定义和流转提议状态（待处理</a:t>
            </a:r>
            <a:r>
              <a:rPr lang="en-US" altLang="zh-CN" sz="1400"/>
              <a:t> /</a:t>
            </a:r>
            <a:r>
              <a:rPr lang="zh-CN" altLang="en-US" sz="1400"/>
              <a:t>已接受</a:t>
            </a:r>
            <a:r>
              <a:rPr lang="en-US" altLang="zh-CN" sz="1400"/>
              <a:t>/</a:t>
            </a:r>
            <a:r>
              <a:rPr lang="zh-CN" altLang="en-US" sz="1400"/>
              <a:t>已拒绝）。</a:t>
            </a:r>
            <a:r>
              <a:rPr lang="en-US" altLang="zh-CN" sz="1400"/>
              <a:t> </a:t>
            </a:r>
            <a:endParaRPr lang="en-US" altLang="zh-CN" sz="1400"/>
          </a:p>
          <a:p>
            <a:pPr algn="l">
              <a:buClrTx/>
              <a:buSzTx/>
              <a:buNone/>
            </a:pPr>
            <a:endParaRPr lang="en-US" altLang="zh-CN" sz="1400"/>
          </a:p>
          <a:p>
            <a:pPr algn="l">
              <a:buClrTx/>
              <a:buSzTx/>
              <a:buNone/>
            </a:pPr>
            <a:r>
              <a:rPr lang="en-US" altLang="zh-CN" sz="1400"/>
              <a:t>       </a:t>
            </a:r>
            <a:r>
              <a:rPr lang="zh-CN" altLang="en-US" sz="1400"/>
              <a:t>数据原子性</a:t>
            </a:r>
            <a:r>
              <a:rPr lang="en-US" altLang="zh-CN" sz="1400"/>
              <a:t>——  </a:t>
            </a:r>
            <a:r>
              <a:rPr lang="zh-CN" altLang="en-US" sz="1400"/>
              <a:t>一旦交换接受，系统如何确保相关场地预订记录的原子性更新（即：旧预订记录转给需求方，需求方得到场地）。</a:t>
            </a:r>
            <a:endParaRPr lang="zh-CN" altLang="en-US" sz="1400"/>
          </a:p>
          <a:p>
            <a:pPr algn="l">
              <a:buClrTx/>
              <a:buSzTx/>
              <a:buNone/>
            </a:pPr>
            <a:endParaRPr lang="zh-CN" altLang="en-US" sz="1400"/>
          </a:p>
          <a:p>
            <a:pPr algn="l">
              <a:buClrTx/>
              <a:buSzTx/>
              <a:buNone/>
            </a:pPr>
            <a:endParaRPr lang="zh-CN" altLang="en-US" sz="1400"/>
          </a:p>
          <a:p>
            <a:pPr algn="l">
              <a:buClrTx/>
              <a:buSzTx/>
              <a:buNone/>
            </a:pPr>
            <a:r>
              <a:rPr lang="en-US" altLang="zh-CN" sz="1400"/>
              <a:t>2. </a:t>
            </a:r>
            <a:r>
              <a:rPr lang="zh-CN" altLang="en-US" sz="1400"/>
              <a:t>个人供需信息发布与管理</a:t>
            </a:r>
            <a:endParaRPr lang="zh-CN" altLang="en-US" sz="1400"/>
          </a:p>
          <a:p>
            <a:pPr algn="l">
              <a:buClrTx/>
              <a:buSzTx/>
              <a:buNone/>
            </a:pPr>
            <a:endParaRPr lang="en-US" altLang="zh-CN" sz="1400"/>
          </a:p>
          <a:p>
            <a:pPr algn="l">
              <a:buClrTx/>
              <a:buSzTx/>
              <a:buNone/>
            </a:pPr>
            <a:r>
              <a:rPr lang="zh-CN" altLang="en-US" sz="1400">
                <a:sym typeface="+mn-ea"/>
              </a:rPr>
              <a:t>需求核心与难点：</a:t>
            </a:r>
            <a:endParaRPr lang="en-US" altLang="zh-CN" sz="1400"/>
          </a:p>
          <a:p>
            <a:pPr algn="l">
              <a:buClrTx/>
              <a:buSzTx/>
              <a:buNone/>
            </a:pPr>
            <a:r>
              <a:rPr lang="en-US" altLang="zh-CN" sz="1400"/>
              <a:t>         </a:t>
            </a:r>
            <a:r>
              <a:rPr lang="zh-CN" altLang="en-US" sz="1400"/>
              <a:t>数据模型</a:t>
            </a:r>
            <a:r>
              <a:rPr lang="en-US" altLang="zh-CN" sz="1400"/>
              <a:t>OwnInfo</a:t>
            </a:r>
            <a:r>
              <a:rPr lang="zh-CN" altLang="en-US" sz="1400"/>
              <a:t>（供出信息）和</a:t>
            </a:r>
            <a:r>
              <a:rPr lang="en-US" altLang="zh-CN" sz="1400"/>
              <a:t> WantVenue</a:t>
            </a:r>
            <a:r>
              <a:rPr lang="zh-CN" altLang="en-US" sz="1400"/>
              <a:t>（需求信息）的字段设计，尤其是如何关联到场地基础信息和预订时段。</a:t>
            </a:r>
            <a:endParaRPr lang="en-US" altLang="zh-CN" sz="1400"/>
          </a:p>
          <a:p>
            <a:pPr algn="l">
              <a:buClrTx/>
              <a:buSzTx/>
              <a:buNone/>
            </a:pPr>
            <a:endParaRPr lang="en-US" altLang="zh-CN" sz="1400"/>
          </a:p>
          <a:p>
            <a:pPr algn="l">
              <a:buClrTx/>
              <a:buSzTx/>
              <a:buNone/>
            </a:pPr>
            <a:r>
              <a:rPr lang="en-US" altLang="zh-CN" sz="1400"/>
              <a:t>         </a:t>
            </a:r>
            <a:r>
              <a:rPr lang="zh-CN" altLang="en-US" sz="1400"/>
              <a:t>如何设计查询界面，使用户能快速浏览他人供求信息，找到潜在的交换对象。</a:t>
            </a:r>
            <a:endParaRPr lang="zh-CN" altLang="en-US" sz="1400"/>
          </a:p>
        </p:txBody>
      </p:sp>
      <p:pic>
        <p:nvPicPr>
          <p:cNvPr id="8" name="Bildobjekt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37630" y="1235075"/>
            <a:ext cx="689610" cy="770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组合 8"/>
          <p:cNvGrpSpPr/>
          <p:nvPr/>
        </p:nvGrpSpPr>
        <p:grpSpPr>
          <a:xfrm>
            <a:off x="9934575" y="343535"/>
            <a:ext cx="1861820" cy="1104900"/>
            <a:chOff x="13288" y="758"/>
            <a:chExt cx="2932" cy="1740"/>
          </a:xfrm>
        </p:grpSpPr>
        <p:sp>
          <p:nvSpPr>
            <p:cNvPr id="10" name="Rektangel med rundade hörn 6"/>
            <p:cNvSpPr>
              <a:spLocks noChangeArrowheads="1"/>
            </p:cNvSpPr>
            <p:nvPr/>
          </p:nvSpPr>
          <p:spPr bwMode="auto">
            <a:xfrm>
              <a:off x="13288" y="758"/>
              <a:ext cx="2932" cy="1740"/>
            </a:xfrm>
            <a:prstGeom prst="roundRect">
              <a:avLst>
                <a:gd name="adj" fmla="val 16667"/>
              </a:avLst>
            </a:prstGeom>
            <a:noFill/>
            <a:ln w="12700" algn="ctr">
              <a:solidFill>
                <a:srgbClr val="00A9D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5998" tIns="60958" rIns="95998" bIns="60958"/>
            <a:p>
              <a:pPr algn="l" defTabSz="1217930">
                <a:spcBef>
                  <a:spcPct val="50000"/>
                </a:spcBef>
              </a:pPr>
              <a:endParaRPr lang="sv-SE" altLang="sv-SE" sz="2700"/>
            </a:p>
          </p:txBody>
        </p:sp>
        <p:pic>
          <p:nvPicPr>
            <p:cNvPr id="57366" name="Bildobjekt 7"/>
            <p:cNvPicPr>
              <a:picLocks noChangeAspect="1"/>
            </p:cNvPicPr>
            <p:nvPr/>
          </p:nvPicPr>
          <p:blipFill>
            <a:blip r:embed="rId7" cstate="email"/>
            <a:srcRect t="23142"/>
            <a:stretch>
              <a:fillRect/>
            </a:stretch>
          </p:blipFill>
          <p:spPr bwMode="auto">
            <a:xfrm>
              <a:off x="13623" y="1346"/>
              <a:ext cx="2302" cy="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文本框 10"/>
            <p:cNvSpPr txBox="1"/>
            <p:nvPr/>
          </p:nvSpPr>
          <p:spPr>
            <a:xfrm>
              <a:off x="13838" y="766"/>
              <a:ext cx="18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ExCourt</a:t>
              </a:r>
              <a:endParaRPr lang="en-US" altLang="zh-CN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639945" y="2708693"/>
            <a:ext cx="6920307" cy="3401277"/>
            <a:chOff x="1885" y="2688"/>
            <a:chExt cx="15217" cy="7810"/>
          </a:xfrm>
        </p:grpSpPr>
        <p:pic>
          <p:nvPicPr>
            <p:cNvPr id="56323" name="Bildobjekt 20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135" y="5208"/>
              <a:ext cx="4728" cy="5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24" name="Bildobjekt 19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385" y="2688"/>
              <a:ext cx="4717" cy="5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25" name="Bildobjekt 1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885" y="2688"/>
              <a:ext cx="4728" cy="5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28" name="Bildobjekt 5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 cstate="email"/>
            <a:srcRect/>
            <a:stretch>
              <a:fillRect/>
            </a:stretch>
          </p:blipFill>
          <p:spPr bwMode="auto">
            <a:xfrm>
              <a:off x="2985" y="3850"/>
              <a:ext cx="2515" cy="16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29" name="Bildobjekt 6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 cstate="email"/>
            <a:srcRect/>
            <a:stretch>
              <a:fillRect/>
            </a:stretch>
          </p:blipFill>
          <p:spPr bwMode="auto">
            <a:xfrm>
              <a:off x="7983" y="6193"/>
              <a:ext cx="3062" cy="1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30" name="Bildobjekt 7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 cstate="email"/>
            <a:srcRect/>
            <a:stretch>
              <a:fillRect/>
            </a:stretch>
          </p:blipFill>
          <p:spPr bwMode="auto">
            <a:xfrm>
              <a:off x="14058" y="3613"/>
              <a:ext cx="1492" cy="2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6334" name="Rak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V="1">
              <a:off x="9500" y="4033"/>
              <a:ext cx="0" cy="1272"/>
            </a:xfrm>
            <a:prstGeom prst="line">
              <a:avLst/>
            </a:prstGeom>
            <a:noFill/>
            <a:ln w="76200" algn="ctr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335" name="Rak 23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V="1">
              <a:off x="6440" y="4443"/>
              <a:ext cx="3060" cy="977"/>
            </a:xfrm>
            <a:prstGeom prst="line">
              <a:avLst/>
            </a:prstGeom>
            <a:noFill/>
            <a:ln w="76200" algn="ctr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336" name="Rak 27"/>
            <p:cNvCxnSpPr>
              <a:cxnSpLocks noChangeShapeType="1"/>
              <a:stCxn id="56324" idx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9500" y="4437"/>
              <a:ext cx="2885" cy="890"/>
            </a:xfrm>
            <a:prstGeom prst="line">
              <a:avLst/>
            </a:prstGeom>
            <a:noFill/>
            <a:ln w="76200" algn="ctr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10361930" y="56515"/>
            <a:ext cx="1565275" cy="838835"/>
            <a:chOff x="13288" y="758"/>
            <a:chExt cx="2932" cy="1740"/>
          </a:xfrm>
        </p:grpSpPr>
        <p:sp>
          <p:nvSpPr>
            <p:cNvPr id="10" name="Rektangel med rundade hörn 6"/>
            <p:cNvSpPr>
              <a:spLocks noChangeArrowheads="1"/>
            </p:cNvSpPr>
            <p:nvPr/>
          </p:nvSpPr>
          <p:spPr bwMode="auto">
            <a:xfrm>
              <a:off x="13288" y="758"/>
              <a:ext cx="2932" cy="1740"/>
            </a:xfrm>
            <a:prstGeom prst="roundRect">
              <a:avLst>
                <a:gd name="adj" fmla="val 16667"/>
              </a:avLst>
            </a:prstGeom>
            <a:noFill/>
            <a:ln w="12700" algn="ctr">
              <a:solidFill>
                <a:srgbClr val="00A9D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5998" tIns="60958" rIns="95998" bIns="60958"/>
            <a:p>
              <a:pPr algn="l" defTabSz="1217930">
                <a:spcBef>
                  <a:spcPct val="50000"/>
                </a:spcBef>
              </a:pPr>
              <a:endParaRPr lang="sv-SE" altLang="sv-SE" sz="2700"/>
            </a:p>
          </p:txBody>
        </p:sp>
        <p:pic>
          <p:nvPicPr>
            <p:cNvPr id="57366" name="Bildobjekt 7"/>
            <p:cNvPicPr>
              <a:picLocks noChangeAspect="1"/>
            </p:cNvPicPr>
            <p:nvPr/>
          </p:nvPicPr>
          <p:blipFill>
            <a:blip r:embed="rId15" cstate="email"/>
            <a:srcRect t="23142"/>
            <a:stretch>
              <a:fillRect/>
            </a:stretch>
          </p:blipFill>
          <p:spPr bwMode="auto">
            <a:xfrm>
              <a:off x="13623" y="1346"/>
              <a:ext cx="2302" cy="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文本框 10"/>
            <p:cNvSpPr txBox="1"/>
            <p:nvPr/>
          </p:nvSpPr>
          <p:spPr>
            <a:xfrm>
              <a:off x="13838" y="766"/>
              <a:ext cx="2089" cy="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ExCourt</a:t>
              </a:r>
              <a:endParaRPr lang="en-US" altLang="zh-CN"/>
            </a:p>
          </p:txBody>
        </p:sp>
      </p:grpSp>
      <p:pic>
        <p:nvPicPr>
          <p:cNvPr id="55299" name="Bildobjekt 14"/>
          <p:cNvPicPr>
            <a:picLocks noChangeAspect="1"/>
          </p:cNvPicPr>
          <p:nvPr/>
        </p:nvPicPr>
        <p:blipFill>
          <a:blip r:embed="rId16" cstate="email"/>
          <a:srcRect/>
          <a:stretch>
            <a:fillRect/>
          </a:stretch>
        </p:blipFill>
        <p:spPr bwMode="auto">
          <a:xfrm>
            <a:off x="429895" y="246698"/>
            <a:ext cx="4254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/>
          <p:nvPr>
            <p:ph type="title"/>
          </p:nvPr>
        </p:nvSpPr>
        <p:spPr>
          <a:xfrm>
            <a:off x="1054735" y="246380"/>
            <a:ext cx="7494905" cy="605790"/>
          </a:xfrm>
        </p:spPr>
        <p:txBody>
          <a:bodyPr/>
          <a:p>
            <a:r>
              <a:rPr lang="zh-CN" altLang="en-US"/>
              <a:t>数据库设计</a:t>
            </a: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321945" y="1275080"/>
            <a:ext cx="3935730" cy="4761865"/>
            <a:chOff x="507" y="2008"/>
            <a:chExt cx="6198" cy="7499"/>
          </a:xfrm>
        </p:grpSpPr>
        <p:pic>
          <p:nvPicPr>
            <p:cNvPr id="55303" name="Bildobjekt 5"/>
            <p:cNvPicPr>
              <a:picLocks noChangeAspect="1"/>
            </p:cNvPicPr>
            <p:nvPr/>
          </p:nvPicPr>
          <p:blipFill>
            <a:blip r:embed="rId17" cstate="email"/>
            <a:srcRect/>
            <a:stretch>
              <a:fillRect/>
            </a:stretch>
          </p:blipFill>
          <p:spPr bwMode="auto">
            <a:xfrm>
              <a:off x="507" y="2008"/>
              <a:ext cx="1010" cy="1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文本框 3"/>
            <p:cNvSpPr txBox="1"/>
            <p:nvPr/>
          </p:nvSpPr>
          <p:spPr>
            <a:xfrm>
              <a:off x="1719" y="2225"/>
              <a:ext cx="271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Mongo DB</a:t>
              </a:r>
              <a:endParaRPr lang="en-US" altLang="zh-CN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993" y="3322"/>
              <a:ext cx="4877" cy="18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/>
                <a:t>       MongoDB </a:t>
              </a:r>
              <a:r>
                <a:rPr lang="zh-CN" altLang="en-US" sz="1600"/>
                <a:t>是一种流行的面向文档</a:t>
              </a:r>
              <a:r>
                <a:rPr lang="en-US" altLang="zh-CN" sz="1600"/>
                <a:t> (Document-Oriented) </a:t>
              </a:r>
              <a:r>
                <a:rPr lang="zh-CN" altLang="en-US" sz="1600"/>
                <a:t>的</a:t>
              </a:r>
              <a:r>
                <a:rPr lang="en-US" altLang="zh-CN" sz="1600"/>
                <a:t> NoSQL </a:t>
              </a:r>
              <a:r>
                <a:rPr lang="zh-CN" altLang="en-US" sz="1600"/>
                <a:t>数据库</a:t>
              </a:r>
              <a:endParaRPr lang="zh-CN" altLang="en-US" sz="1600"/>
            </a:p>
          </p:txBody>
        </p:sp>
        <p:pic>
          <p:nvPicPr>
            <p:cNvPr id="6" name="图片 5"/>
            <p:cNvPicPr/>
            <p:nvPr/>
          </p:nvPicPr>
          <p:blipFill>
            <a:blip r:embed="rId18"/>
            <a:stretch>
              <a:fillRect/>
            </a:stretch>
          </p:blipFill>
          <p:spPr>
            <a:xfrm>
              <a:off x="507" y="5287"/>
              <a:ext cx="6198" cy="4220"/>
            </a:xfrm>
            <a:prstGeom prst="rect">
              <a:avLst/>
            </a:prstGeom>
          </p:spPr>
        </p:pic>
      </p:grpSp>
      <p:pic>
        <p:nvPicPr>
          <p:cNvPr id="55304" name="Bildobjekt 6"/>
          <p:cNvPicPr>
            <a:picLocks noChangeAspect="1"/>
          </p:cNvPicPr>
          <p:nvPr/>
        </p:nvPicPr>
        <p:blipFill>
          <a:blip r:embed="rId19" cstate="email"/>
          <a:srcRect/>
          <a:stretch>
            <a:fillRect/>
          </a:stretch>
        </p:blipFill>
        <p:spPr bwMode="auto">
          <a:xfrm>
            <a:off x="7788910" y="2591435"/>
            <a:ext cx="641350" cy="719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文本框 16"/>
          <p:cNvSpPr txBox="1"/>
          <p:nvPr/>
        </p:nvSpPr>
        <p:spPr>
          <a:xfrm>
            <a:off x="6711315" y="2063750"/>
            <a:ext cx="2755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Wingdings 2" panose="05020102010507070707" charset="0"/>
              </a:rPr>
              <a:t></a:t>
            </a:r>
            <a:r>
              <a:rPr lang="en-US" altLang="zh-CN"/>
              <a:t> </a:t>
            </a:r>
            <a:r>
              <a:rPr lang="zh-CN" altLang="en-US"/>
              <a:t>为什么选择</a:t>
            </a:r>
            <a:r>
              <a:rPr lang="en-US" altLang="zh-CN"/>
              <a:t> mongo DB?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4639945" y="3898900"/>
            <a:ext cx="2399030" cy="581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1. </a:t>
            </a:r>
            <a:r>
              <a:rPr lang="zh-CN" altLang="en-US" sz="1600"/>
              <a:t>极高的灵活性</a:t>
            </a:r>
            <a:endParaRPr lang="zh-CN" altLang="en-US" sz="1600"/>
          </a:p>
          <a:p>
            <a:r>
              <a:rPr lang="zh-CN" altLang="en-US" sz="1600"/>
              <a:t>与迭代速度</a:t>
            </a:r>
            <a:r>
              <a:rPr lang="en-US" altLang="zh-CN" sz="1600"/>
              <a:t> (</a:t>
            </a:r>
            <a:r>
              <a:rPr lang="zh-CN" altLang="en-US" sz="1600"/>
              <a:t>架构优势</a:t>
            </a:r>
            <a:r>
              <a:rPr lang="en-US" altLang="zh-CN" sz="1600"/>
              <a:t>)</a:t>
            </a:r>
            <a:endParaRPr lang="en-US" altLang="zh-CN" sz="1600"/>
          </a:p>
          <a:p>
            <a:endParaRPr lang="en-US" altLang="zh-CN" sz="1600"/>
          </a:p>
          <a:p>
            <a:endParaRPr lang="en-US" altLang="zh-CN" sz="1600"/>
          </a:p>
        </p:txBody>
      </p:sp>
      <p:sp>
        <p:nvSpPr>
          <p:cNvPr id="19" name="文本框 18"/>
          <p:cNvSpPr txBox="1"/>
          <p:nvPr/>
        </p:nvSpPr>
        <p:spPr>
          <a:xfrm>
            <a:off x="7300595" y="5050155"/>
            <a:ext cx="1922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高性能读取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344025" y="4054475"/>
            <a:ext cx="26587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ym typeface="+mn-ea"/>
              </a:rPr>
              <a:t>3. </a:t>
            </a:r>
            <a:r>
              <a:rPr lang="zh-CN" altLang="en-US" sz="1600">
                <a:sym typeface="+mn-ea"/>
              </a:rPr>
              <a:t>面向未来的可扩展性</a:t>
            </a:r>
            <a:endParaRPr lang="zh-CN" altLang="en-US" sz="16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Bildobjekt 13" descr="grey_bg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-46355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299" name="Bildobjekt 14"/>
          <p:cNvPicPr>
            <a:picLocks noChangeAspect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429895" y="246698"/>
            <a:ext cx="4254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3" name="Bildobjekt 5"/>
          <p:cNvPicPr>
            <a:picLocks noChangeAspect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321628" y="1052195"/>
            <a:ext cx="64135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/>
          <p:nvPr>
            <p:ph type="title"/>
          </p:nvPr>
        </p:nvSpPr>
        <p:spPr>
          <a:xfrm>
            <a:off x="1054735" y="246380"/>
            <a:ext cx="5629910" cy="605790"/>
          </a:xfrm>
        </p:spPr>
        <p:txBody>
          <a:bodyPr/>
          <a:p>
            <a:r>
              <a:rPr lang="zh-CN" altLang="en-US"/>
              <a:t>数据库设计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055" y="1851025"/>
            <a:ext cx="6777355" cy="4766945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10189210" y="122555"/>
            <a:ext cx="1861820" cy="1104900"/>
            <a:chOff x="13288" y="758"/>
            <a:chExt cx="2932" cy="1740"/>
          </a:xfrm>
        </p:grpSpPr>
        <p:sp>
          <p:nvSpPr>
            <p:cNvPr id="10" name="Rektangel med rundade hörn 6"/>
            <p:cNvSpPr>
              <a:spLocks noChangeArrowheads="1"/>
            </p:cNvSpPr>
            <p:nvPr/>
          </p:nvSpPr>
          <p:spPr bwMode="auto">
            <a:xfrm>
              <a:off x="13288" y="758"/>
              <a:ext cx="2932" cy="1740"/>
            </a:xfrm>
            <a:prstGeom prst="roundRect">
              <a:avLst>
                <a:gd name="adj" fmla="val 16667"/>
              </a:avLst>
            </a:prstGeom>
            <a:noFill/>
            <a:ln w="12700" algn="ctr">
              <a:solidFill>
                <a:srgbClr val="00A9D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5998" tIns="60958" rIns="95998" bIns="60958"/>
            <a:p>
              <a:pPr algn="l" defTabSz="1217930">
                <a:spcBef>
                  <a:spcPct val="50000"/>
                </a:spcBef>
              </a:pPr>
              <a:endParaRPr lang="sv-SE" altLang="sv-SE" sz="2700"/>
            </a:p>
          </p:txBody>
        </p:sp>
        <p:pic>
          <p:nvPicPr>
            <p:cNvPr id="57366" name="Bildobjekt 7"/>
            <p:cNvPicPr>
              <a:picLocks noChangeAspect="1"/>
            </p:cNvPicPr>
            <p:nvPr/>
          </p:nvPicPr>
          <p:blipFill>
            <a:blip r:embed="rId5" cstate="email"/>
            <a:srcRect t="23142"/>
            <a:stretch>
              <a:fillRect/>
            </a:stretch>
          </p:blipFill>
          <p:spPr bwMode="auto">
            <a:xfrm>
              <a:off x="13623" y="1346"/>
              <a:ext cx="2302" cy="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文本框 10"/>
            <p:cNvSpPr txBox="1"/>
            <p:nvPr/>
          </p:nvSpPr>
          <p:spPr>
            <a:xfrm>
              <a:off x="13838" y="766"/>
              <a:ext cx="18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ExCourt</a:t>
              </a:r>
              <a:endParaRPr lang="en-US" altLang="zh-CN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091565" y="1227455"/>
            <a:ext cx="1724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数据库</a:t>
            </a:r>
            <a:r>
              <a:rPr lang="en-US" altLang="zh-CN"/>
              <a:t>E-R</a:t>
            </a:r>
            <a:r>
              <a:rPr lang="zh-CN" altLang="en-US"/>
              <a:t>图</a:t>
            </a:r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7189470" y="1158240"/>
            <a:ext cx="4543425" cy="2174875"/>
            <a:chOff x="11322" y="1824"/>
            <a:chExt cx="7155" cy="3425"/>
          </a:xfrm>
        </p:grpSpPr>
        <p:pic>
          <p:nvPicPr>
            <p:cNvPr id="55304" name="Bildobjekt 6"/>
            <p:cNvPicPr>
              <a:picLocks noChangeAspect="1"/>
            </p:cNvPicPr>
            <p:nvPr/>
          </p:nvPicPr>
          <p:blipFill>
            <a:blip r:embed="rId6" cstate="email"/>
            <a:srcRect/>
            <a:stretch>
              <a:fillRect/>
            </a:stretch>
          </p:blipFill>
          <p:spPr bwMode="auto">
            <a:xfrm>
              <a:off x="11322" y="1824"/>
              <a:ext cx="1010" cy="1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文本框 4"/>
            <p:cNvSpPr txBox="1"/>
            <p:nvPr/>
          </p:nvSpPr>
          <p:spPr>
            <a:xfrm>
              <a:off x="12481" y="2127"/>
              <a:ext cx="5997" cy="31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/>
                <a:t>逻辑设计策略：</a:t>
              </a:r>
              <a:endParaRPr lang="zh-CN" altLang="en-US" sz="1600"/>
            </a:p>
            <a:p>
              <a:endParaRPr lang="zh-CN" altLang="en-US" sz="1600"/>
            </a:p>
            <a:p>
              <a:r>
                <a:rPr lang="zh-CN" altLang="en-US" sz="1600"/>
                <a:t> </a:t>
              </a:r>
              <a:r>
                <a:rPr lang="en-US" altLang="zh-CN" sz="1600"/>
                <a:t>      </a:t>
              </a:r>
              <a:r>
                <a:rPr lang="zh-CN" altLang="en-US" sz="1600"/>
                <a:t>对于查询频率极高且不常更改的基础信息（如场地名称），采取嵌入（反规范化）以提高性能；而对于经常更改或一对多关系的主体（如</a:t>
              </a:r>
              <a:r>
                <a:rPr lang="en-US" altLang="zh-CN" sz="1600"/>
                <a:t> User</a:t>
              </a:r>
              <a:r>
                <a:rPr lang="zh-CN" altLang="en-US" sz="1600"/>
                <a:t>），则采用引用以保持一致性。</a:t>
              </a:r>
              <a:endParaRPr lang="zh-CN" altLang="en-US" sz="1600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189470" y="3525520"/>
            <a:ext cx="4741545" cy="3070225"/>
            <a:chOff x="11122" y="5352"/>
            <a:chExt cx="7467" cy="4835"/>
          </a:xfrm>
        </p:grpSpPr>
        <p:pic>
          <p:nvPicPr>
            <p:cNvPr id="8" name="Bildobjekt 6"/>
            <p:cNvPicPr>
              <a:picLocks noChangeAspect="1"/>
            </p:cNvPicPr>
            <p:nvPr/>
          </p:nvPicPr>
          <p:blipFill>
            <a:blip r:embed="rId6" cstate="email"/>
            <a:srcRect/>
            <a:stretch>
              <a:fillRect/>
            </a:stretch>
          </p:blipFill>
          <p:spPr bwMode="auto">
            <a:xfrm>
              <a:off x="11122" y="5352"/>
              <a:ext cx="1010" cy="1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文本框 11"/>
            <p:cNvSpPr txBox="1"/>
            <p:nvPr/>
          </p:nvSpPr>
          <p:spPr>
            <a:xfrm>
              <a:off x="12402" y="5511"/>
              <a:ext cx="6187" cy="467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600"/>
                <a:t>物理设计策略：</a:t>
              </a:r>
              <a:endParaRPr lang="zh-CN" altLang="en-US" sz="1600"/>
            </a:p>
            <a:p>
              <a:endParaRPr lang="zh-CN" altLang="en-US" sz="1600"/>
            </a:p>
            <a:p>
              <a:r>
                <a:rPr lang="en-US" altLang="zh-CN" sz="1600"/>
                <a:t>1.</a:t>
              </a:r>
              <a:r>
                <a:rPr lang="zh-CN" altLang="en-US" sz="1600"/>
                <a:t>高效格式：采用</a:t>
              </a:r>
              <a:r>
                <a:rPr lang="en-US" altLang="zh-CN" sz="1600"/>
                <a:t> BSON</a:t>
              </a:r>
              <a:r>
                <a:rPr lang="zh-CN" altLang="en-US" sz="1600"/>
                <a:t>（二进制</a:t>
              </a:r>
              <a:r>
                <a:rPr lang="en-US" altLang="zh-CN" sz="1600"/>
                <a:t>JSON</a:t>
              </a:r>
              <a:r>
                <a:rPr lang="zh-CN" altLang="en-US" sz="1600"/>
                <a:t>）作为数据存储格式</a:t>
              </a:r>
              <a:endParaRPr lang="zh-CN" altLang="en-US" sz="1600"/>
            </a:p>
            <a:p>
              <a:endParaRPr lang="zh-CN" altLang="en-US" sz="1600"/>
            </a:p>
            <a:p>
              <a:r>
                <a:rPr lang="en-US" altLang="zh-CN" sz="1600"/>
                <a:t>2.</a:t>
              </a:r>
              <a:r>
                <a:rPr lang="zh-CN" altLang="en-US" sz="1600"/>
                <a:t>扁平结构：文档设计追求扁平化，避免复杂的深层嵌套</a:t>
              </a:r>
              <a:endParaRPr lang="zh-CN" altLang="en-US" sz="1600"/>
            </a:p>
            <a:p>
              <a:endParaRPr lang="zh-CN" altLang="en-US" sz="1600"/>
            </a:p>
            <a:p>
              <a:r>
                <a:rPr lang="en-US" altLang="zh-CN" sz="1600"/>
                <a:t>3.</a:t>
              </a:r>
              <a:r>
                <a:rPr lang="zh-CN" altLang="en-US" sz="1600"/>
                <a:t>基础索引</a:t>
              </a:r>
              <a:r>
                <a:rPr lang="en-US" altLang="zh-CN" sz="1600"/>
                <a:t>+</a:t>
              </a:r>
              <a:r>
                <a:rPr lang="zh-CN" altLang="en-US" sz="1600"/>
                <a:t>核心业务索引</a:t>
              </a:r>
              <a:endParaRPr lang="zh-CN" altLang="en-US" sz="16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9" name="Bildobjekt 14"/>
          <p:cNvPicPr>
            <a:picLocks noChangeAspect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429895" y="521653"/>
            <a:ext cx="4254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3" name="Bildobjekt 5"/>
          <p:cNvPicPr>
            <a:picLocks noChangeAspect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1013778" y="1192530"/>
            <a:ext cx="64135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/>
          <p:nvPr>
            <p:ph type="title"/>
          </p:nvPr>
        </p:nvSpPr>
        <p:spPr>
          <a:xfrm>
            <a:off x="1054736" y="-317"/>
            <a:ext cx="7494588" cy="1085371"/>
          </a:xfrm>
        </p:spPr>
        <p:txBody>
          <a:bodyPr/>
          <a:p>
            <a:r>
              <a:rPr lang="zh-CN" altLang="en-US"/>
              <a:t>总体系统设计</a:t>
            </a:r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9934575" y="343535"/>
            <a:ext cx="1861820" cy="1104900"/>
            <a:chOff x="13288" y="758"/>
            <a:chExt cx="2932" cy="1740"/>
          </a:xfrm>
        </p:grpSpPr>
        <p:sp>
          <p:nvSpPr>
            <p:cNvPr id="10" name="Rektangel med rundade hörn 6"/>
            <p:cNvSpPr>
              <a:spLocks noChangeArrowheads="1"/>
            </p:cNvSpPr>
            <p:nvPr/>
          </p:nvSpPr>
          <p:spPr bwMode="auto">
            <a:xfrm>
              <a:off x="13288" y="758"/>
              <a:ext cx="2932" cy="1740"/>
            </a:xfrm>
            <a:prstGeom prst="roundRect">
              <a:avLst>
                <a:gd name="adj" fmla="val 16667"/>
              </a:avLst>
            </a:prstGeom>
            <a:noFill/>
            <a:ln w="12700" algn="ctr">
              <a:solidFill>
                <a:srgbClr val="00A9D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5998" tIns="60958" rIns="95998" bIns="60958"/>
            <a:p>
              <a:pPr algn="l" defTabSz="1217930">
                <a:spcBef>
                  <a:spcPct val="50000"/>
                </a:spcBef>
              </a:pPr>
              <a:endParaRPr lang="sv-SE" altLang="sv-SE" sz="2700"/>
            </a:p>
          </p:txBody>
        </p:sp>
        <p:pic>
          <p:nvPicPr>
            <p:cNvPr id="57366" name="Bildobjekt 7"/>
            <p:cNvPicPr>
              <a:picLocks noChangeAspect="1"/>
            </p:cNvPicPr>
            <p:nvPr/>
          </p:nvPicPr>
          <p:blipFill>
            <a:blip r:embed="rId4" cstate="email"/>
            <a:srcRect t="23142"/>
            <a:stretch>
              <a:fillRect/>
            </a:stretch>
          </p:blipFill>
          <p:spPr bwMode="auto">
            <a:xfrm>
              <a:off x="13623" y="1346"/>
              <a:ext cx="2302" cy="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文本框 10"/>
            <p:cNvSpPr txBox="1"/>
            <p:nvPr/>
          </p:nvSpPr>
          <p:spPr>
            <a:xfrm>
              <a:off x="13838" y="766"/>
              <a:ext cx="187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ExCourt</a:t>
              </a:r>
              <a:endParaRPr lang="en-US" altLang="zh-CN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009775" y="1256665"/>
            <a:ext cx="5829935" cy="2094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 latinLnBrk="1"/>
            <a:r>
              <a:rPr lang="en-US" altLang="zh-CN"/>
              <a:t>   </a:t>
            </a:r>
            <a:r>
              <a:rPr lang="en-US" altLang="zh-CN" sz="1600"/>
              <a:t>   ExCourt</a:t>
            </a:r>
            <a:r>
              <a:rPr lang="zh-CN" altLang="en-US" sz="1600"/>
              <a:t>是一个基于</a:t>
            </a:r>
            <a:r>
              <a:rPr lang="en-US" altLang="zh-CN" sz="1600"/>
              <a:t>Web</a:t>
            </a:r>
            <a:r>
              <a:rPr lang="zh-CN" altLang="en-US" sz="1600"/>
              <a:t>的场地资源共享平台。</a:t>
            </a:r>
            <a:endParaRPr lang="zh-CN" altLang="en-US" sz="1600"/>
          </a:p>
          <a:p>
            <a:pPr indent="0" fontAlgn="auto" latinLnBrk="1"/>
            <a:r>
              <a:rPr lang="en-US" altLang="zh-CN" sz="1600"/>
              <a:t>      </a:t>
            </a:r>
            <a:endParaRPr lang="en-US" altLang="zh-CN" sz="1600"/>
          </a:p>
          <a:p>
            <a:pPr indent="0" fontAlgn="auto" latinLnBrk="1"/>
            <a:r>
              <a:rPr lang="en-US" altLang="zh-CN" sz="1600"/>
              <a:t>      </a:t>
            </a:r>
            <a:r>
              <a:rPr lang="zh-CN" altLang="en-US" sz="1600"/>
              <a:t>系统采用前后端分离架构，后端使用</a:t>
            </a:r>
            <a:r>
              <a:rPr lang="en-US" altLang="zh-CN" sz="1600"/>
              <a:t>FastAPI</a:t>
            </a:r>
            <a:r>
              <a:rPr lang="zh-CN" altLang="en-US" sz="1600"/>
              <a:t>框架</a:t>
            </a:r>
            <a:endParaRPr lang="zh-CN" altLang="en-US" sz="1600"/>
          </a:p>
          <a:p>
            <a:pPr indent="0" fontAlgn="auto" latinLnBrk="1"/>
            <a:endParaRPr lang="zh-CN" altLang="en-US" sz="1600"/>
          </a:p>
          <a:p>
            <a:pPr indent="0" fontAlgn="auto" latinLnBrk="1"/>
            <a:r>
              <a:rPr lang="en-US" altLang="zh-CN" sz="1600"/>
              <a:t>      </a:t>
            </a:r>
            <a:r>
              <a:rPr lang="zh-CN" altLang="en-US" sz="1600"/>
              <a:t>数据库采用</a:t>
            </a:r>
            <a:r>
              <a:rPr lang="en-US" altLang="zh-CN" sz="1600"/>
              <a:t>MongoDB NoSQL</a:t>
            </a:r>
            <a:r>
              <a:rPr lang="zh-CN" altLang="en-US" sz="1600"/>
              <a:t>数据库</a:t>
            </a:r>
            <a:endParaRPr lang="zh-CN" altLang="en-US" sz="1600"/>
          </a:p>
          <a:p>
            <a:pPr indent="0" fontAlgn="auto" latinLnBrk="1"/>
            <a:endParaRPr lang="en-US" altLang="zh-CN" sz="1600"/>
          </a:p>
          <a:p>
            <a:pPr indent="0" fontAlgn="auto" latinLnBrk="1"/>
            <a:r>
              <a:rPr lang="en-US" altLang="zh-CN" sz="1600"/>
              <a:t>      </a:t>
            </a:r>
            <a:r>
              <a:rPr lang="zh-CN" altLang="en-US" sz="1600"/>
              <a:t>前端使用原生</a:t>
            </a:r>
            <a:r>
              <a:rPr lang="en-US" altLang="zh-CN" sz="1600"/>
              <a:t>HTML5+CSS3+JavaScript</a:t>
            </a:r>
            <a:r>
              <a:rPr lang="zh-CN" altLang="en-US" sz="1600"/>
              <a:t>实现。</a:t>
            </a:r>
            <a:r>
              <a:rPr lang="en-US" altLang="zh-CN" sz="1600"/>
              <a:t> </a:t>
            </a:r>
            <a:r>
              <a:rPr lang="en-US" altLang="zh-CN"/>
              <a:t>    </a:t>
            </a:r>
            <a:endParaRPr lang="en-US" altLang="zh-CN"/>
          </a:p>
          <a:p>
            <a:pPr indent="0" fontAlgn="auto" latinLnBrk="1"/>
            <a:endParaRPr lang="en-US" altLang="zh-CN"/>
          </a:p>
          <a:p>
            <a:pPr indent="0" fontAlgn="auto" latinLnBrk="1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013778" y="3208020"/>
            <a:ext cx="10075862" cy="3169285"/>
            <a:chOff x="1661" y="5841"/>
            <a:chExt cx="15867" cy="4991"/>
          </a:xfrm>
        </p:grpSpPr>
        <p:pic>
          <p:nvPicPr>
            <p:cNvPr id="55304" name="Bildobjekt 6"/>
            <p:cNvPicPr>
              <a:picLocks noChangeAspect="1"/>
            </p:cNvPicPr>
            <p:nvPr/>
          </p:nvPicPr>
          <p:blipFill>
            <a:blip r:embed="rId5" cstate="email"/>
            <a:srcRect/>
            <a:stretch>
              <a:fillRect/>
            </a:stretch>
          </p:blipFill>
          <p:spPr bwMode="auto">
            <a:xfrm>
              <a:off x="1661" y="5841"/>
              <a:ext cx="1010" cy="1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Bildobjekt 36"/>
            <p:cNvPicPr>
              <a:picLocks noChangeAspect="1"/>
            </p:cNvPicPr>
            <p:nvPr/>
          </p:nvPicPr>
          <p:blipFill>
            <a:blip r:embed="rId6" cstate="email"/>
            <a:srcRect/>
            <a:stretch>
              <a:fillRect/>
            </a:stretch>
          </p:blipFill>
          <p:spPr bwMode="auto">
            <a:xfrm>
              <a:off x="14818" y="7632"/>
              <a:ext cx="2710" cy="3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" name="组合 4"/>
            <p:cNvGrpSpPr/>
            <p:nvPr/>
          </p:nvGrpSpPr>
          <p:grpSpPr>
            <a:xfrm>
              <a:off x="2993" y="6330"/>
              <a:ext cx="13474" cy="4370"/>
              <a:chOff x="8591" y="3971"/>
              <a:chExt cx="13474" cy="4370"/>
            </a:xfrm>
          </p:grpSpPr>
          <p:pic>
            <p:nvPicPr>
              <p:cNvPr id="55317" name="Bildobjekt 20"/>
              <p:cNvPicPr>
                <a:picLocks noChangeAspect="1"/>
              </p:cNvPicPr>
              <p:nvPr/>
            </p:nvPicPr>
            <p:blipFill>
              <a:blip r:embed="rId6" cstate="email"/>
              <a:srcRect/>
              <a:stretch>
                <a:fillRect/>
              </a:stretch>
            </p:blipFill>
            <p:spPr bwMode="auto">
              <a:xfrm>
                <a:off x="10802" y="5232"/>
                <a:ext cx="2777" cy="31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5318" name="Bildobjekt 35"/>
              <p:cNvPicPr>
                <a:picLocks noChangeAspect="1"/>
              </p:cNvPicPr>
              <p:nvPr/>
            </p:nvPicPr>
            <p:blipFill>
              <a:blip r:embed="rId6" cstate="email"/>
              <a:srcRect/>
              <a:stretch>
                <a:fillRect/>
              </a:stretch>
            </p:blipFill>
            <p:spPr bwMode="auto">
              <a:xfrm>
                <a:off x="13988" y="5198"/>
                <a:ext cx="2777" cy="3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5319" name="Bildobjekt 36"/>
              <p:cNvPicPr>
                <a:picLocks noChangeAspect="1"/>
              </p:cNvPicPr>
              <p:nvPr/>
            </p:nvPicPr>
            <p:blipFill>
              <a:blip r:embed="rId6" cstate="email"/>
              <a:srcRect/>
              <a:stretch>
                <a:fillRect/>
              </a:stretch>
            </p:blipFill>
            <p:spPr bwMode="auto">
              <a:xfrm>
                <a:off x="17086" y="5232"/>
                <a:ext cx="2748" cy="3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5320" name="Bildobjekt 22"/>
              <p:cNvPicPr>
                <a:picLocks noChangeAspect="1"/>
              </p:cNvPicPr>
              <p:nvPr/>
            </p:nvPicPr>
            <p:blipFill>
              <a:blip r:embed="rId7" cstate="email"/>
              <a:srcRect/>
              <a:stretch>
                <a:fillRect/>
              </a:stretch>
            </p:blipFill>
            <p:spPr bwMode="auto">
              <a:xfrm>
                <a:off x="11660" y="5204"/>
                <a:ext cx="1005" cy="5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5321" name="Bildobjekt 23"/>
              <p:cNvPicPr>
                <a:picLocks noChangeAspect="1"/>
              </p:cNvPicPr>
              <p:nvPr/>
            </p:nvPicPr>
            <p:blipFill>
              <a:blip r:embed="rId8" cstate="email"/>
              <a:srcRect/>
              <a:stretch>
                <a:fillRect/>
              </a:stretch>
            </p:blipFill>
            <p:spPr bwMode="auto">
              <a:xfrm>
                <a:off x="21476" y="4771"/>
                <a:ext cx="589" cy="9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5322" name="Bildobjekt 27"/>
              <p:cNvPicPr>
                <a:picLocks noChangeAspect="1"/>
              </p:cNvPicPr>
              <p:nvPr/>
            </p:nvPicPr>
            <p:blipFill>
              <a:blip r:embed="rId9" cstate="email"/>
              <a:srcRect/>
              <a:stretch>
                <a:fillRect/>
              </a:stretch>
            </p:blipFill>
            <p:spPr bwMode="auto">
              <a:xfrm>
                <a:off x="17932" y="5232"/>
                <a:ext cx="1056" cy="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5323" name="Bildobjekt 2047"/>
              <p:cNvPicPr>
                <a:picLocks noChangeAspect="1"/>
              </p:cNvPicPr>
              <p:nvPr/>
            </p:nvPicPr>
            <p:blipFill>
              <a:blip r:embed="rId10" cstate="email"/>
              <a:srcRect/>
              <a:stretch>
                <a:fillRect/>
              </a:stretch>
            </p:blipFill>
            <p:spPr bwMode="auto">
              <a:xfrm>
                <a:off x="8591" y="4152"/>
                <a:ext cx="13266" cy="8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" name="Title 1"/>
              <p:cNvSpPr txBox="1"/>
              <p:nvPr/>
            </p:nvSpPr>
            <p:spPr bwMode="auto">
              <a:xfrm>
                <a:off x="13256" y="3971"/>
                <a:ext cx="3829" cy="8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71992" tIns="0" rIns="71992" bIns="0"/>
              <a:lstStyle>
                <a:lvl1pPr algn="l" rtl="0" eaLnBrk="0" fontAlgn="base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defRPr sz="3300">
                    <a:solidFill>
                      <a:schemeClr val="tx1"/>
                    </a:solidFill>
                    <a:latin typeface="Ericsson Capital TT" panose="02000503000000020004"/>
                    <a:ea typeface="MS PGothic" panose="020B0600070205080204" pitchFamily="34" charset="-128"/>
                    <a:cs typeface="+mj-cs"/>
                  </a:defRPr>
                </a:lvl1pPr>
                <a:lvl2pPr algn="l" rtl="0" eaLnBrk="0" fontAlgn="base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defRPr sz="3300">
                    <a:solidFill>
                      <a:schemeClr val="tx1"/>
                    </a:solidFill>
                    <a:latin typeface="Ericsson Capital TT" panose="02000503000000020004" pitchFamily="2" charset="0"/>
                    <a:ea typeface="MS PGothic" panose="020B0600070205080204" pitchFamily="34" charset="-128"/>
                  </a:defRPr>
                </a:lvl2pPr>
                <a:lvl3pPr algn="l" rtl="0" eaLnBrk="0" fontAlgn="base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defRPr sz="3300">
                    <a:solidFill>
                      <a:schemeClr val="tx1"/>
                    </a:solidFill>
                    <a:latin typeface="Ericsson Capital TT" panose="02000503000000020004" pitchFamily="2" charset="0"/>
                    <a:ea typeface="MS PGothic" panose="020B0600070205080204" pitchFamily="34" charset="-128"/>
                  </a:defRPr>
                </a:lvl3pPr>
                <a:lvl4pPr algn="l" rtl="0" eaLnBrk="0" fontAlgn="base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defRPr sz="3300">
                    <a:solidFill>
                      <a:schemeClr val="tx1"/>
                    </a:solidFill>
                    <a:latin typeface="Ericsson Capital TT" panose="02000503000000020004" pitchFamily="2" charset="0"/>
                    <a:ea typeface="MS PGothic" panose="020B0600070205080204" pitchFamily="34" charset="-128"/>
                  </a:defRPr>
                </a:lvl4pPr>
                <a:lvl5pPr algn="l" rtl="0" eaLnBrk="0" fontAlgn="base" hangingPunct="0">
                  <a:lnSpc>
                    <a:spcPct val="75000"/>
                  </a:lnSpc>
                  <a:spcBef>
                    <a:spcPct val="0"/>
                  </a:spcBef>
                  <a:spcAft>
                    <a:spcPct val="0"/>
                  </a:spcAft>
                  <a:defRPr sz="3300">
                    <a:solidFill>
                      <a:schemeClr val="tx1"/>
                    </a:solidFill>
                    <a:latin typeface="Ericsson Capital TT" panose="02000503000000020004" pitchFamily="2" charset="0"/>
                    <a:ea typeface="MS PGothic" panose="020B0600070205080204" pitchFamily="34" charset="-128"/>
                  </a:defRPr>
                </a:lvl5pPr>
                <a:lvl6pPr marL="3429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Ericsson Capital TT" panose="02000503000000020004" pitchFamily="2" charset="0"/>
                  </a:defRPr>
                </a:lvl6pPr>
                <a:lvl7pPr marL="6858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Ericsson Capital TT" panose="02000503000000020004" pitchFamily="2" charset="0"/>
                  </a:defRPr>
                </a:lvl7pPr>
                <a:lvl8pPr marL="10287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Ericsson Capital TT" panose="02000503000000020004" pitchFamily="2" charset="0"/>
                  </a:defRPr>
                </a:lvl8pPr>
                <a:lvl9pPr marL="1371600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Ericsson Capital TT" panose="02000503000000020004" pitchFamily="2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defRPr/>
                </a:pPr>
                <a:r>
                  <a:rPr lang="zh-CN" altLang="en-US" sz="2400" dirty="0">
                    <a:solidFill>
                      <a:schemeClr val="bg1">
                        <a:lumMod val="50000"/>
                      </a:schemeClr>
                    </a:solidFill>
                    <a:latin typeface="Ericsson Sans Regular"/>
                    <a:ea typeface="宋体" panose="02010600030101010101" pitchFamily="2" charset="-122"/>
                    <a:cs typeface="Ericsson Sans Regular"/>
                  </a:rPr>
                  <a:t>功能模块</a:t>
                </a:r>
                <a:endParaRPr lang="zh-CN" altLang="en-US" sz="2400" dirty="0">
                  <a:solidFill>
                    <a:schemeClr val="bg1">
                      <a:lumMod val="50000"/>
                    </a:schemeClr>
                  </a:solidFill>
                  <a:latin typeface="Ericsson Sans Regular"/>
                  <a:ea typeface="宋体" panose="02010600030101010101" pitchFamily="2" charset="-122"/>
                  <a:cs typeface="Ericsson Sans Regular"/>
                </a:endParaRPr>
              </a:p>
            </p:txBody>
          </p:sp>
        </p:grpSp>
        <p:pic>
          <p:nvPicPr>
            <p:cNvPr id="7" name="Bildobjekt 20"/>
            <p:cNvPicPr>
              <a:picLocks noChangeAspect="1"/>
            </p:cNvPicPr>
            <p:nvPr/>
          </p:nvPicPr>
          <p:blipFill>
            <a:blip r:embed="rId6" cstate="email"/>
            <a:srcRect/>
            <a:stretch>
              <a:fillRect/>
            </a:stretch>
          </p:blipFill>
          <p:spPr bwMode="auto">
            <a:xfrm>
              <a:off x="1814" y="7557"/>
              <a:ext cx="2925" cy="3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文本框 7"/>
            <p:cNvSpPr txBox="1"/>
            <p:nvPr/>
          </p:nvSpPr>
          <p:spPr>
            <a:xfrm>
              <a:off x="2048" y="8175"/>
              <a:ext cx="2692" cy="215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400"/>
                <a:t>用户认证与会话：注册</a:t>
              </a:r>
              <a:r>
                <a:rPr lang="en-US" altLang="zh-CN" sz="1400"/>
                <a:t>/</a:t>
              </a:r>
              <a:r>
                <a:rPr lang="zh-CN" altLang="en-US" sz="1400"/>
                <a:t>登录、</a:t>
              </a:r>
              <a:r>
                <a:rPr lang="en-US" altLang="zh-CN" sz="1400"/>
                <a:t>SHA‑256+salt </a:t>
              </a:r>
              <a:r>
                <a:rPr lang="zh-CN" altLang="en-US" sz="1400"/>
                <a:t>密码存储、</a:t>
              </a:r>
              <a:r>
                <a:rPr lang="en-US" altLang="zh-CN" sz="1400"/>
                <a:t>JWT </a:t>
              </a:r>
              <a:r>
                <a:rPr lang="zh-CN" altLang="en-US" sz="1400"/>
                <a:t>无状态认证与</a:t>
              </a:r>
              <a:r>
                <a:rPr lang="en-US" altLang="zh-CN" sz="1400"/>
                <a:t> /auth/me </a:t>
              </a:r>
              <a:r>
                <a:rPr lang="zh-CN" altLang="en-US" sz="1400"/>
                <a:t>令牌校验。</a:t>
              </a:r>
              <a:endParaRPr lang="zh-CN" altLang="en-US" sz="1400"/>
            </a:p>
          </p:txBody>
        </p:sp>
        <p:pic>
          <p:nvPicPr>
            <p:cNvPr id="12" name="Bildobjekt 23"/>
            <p:cNvPicPr>
              <a:picLocks noChangeAspect="1"/>
            </p:cNvPicPr>
            <p:nvPr/>
          </p:nvPicPr>
          <p:blipFill>
            <a:blip r:embed="rId8" cstate="email"/>
            <a:srcRect/>
            <a:stretch>
              <a:fillRect/>
            </a:stretch>
          </p:blipFill>
          <p:spPr bwMode="auto">
            <a:xfrm>
              <a:off x="2923" y="7256"/>
              <a:ext cx="589" cy="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Bildobjekt 27"/>
            <p:cNvPicPr>
              <a:picLocks noChangeAspect="1"/>
            </p:cNvPicPr>
            <p:nvPr/>
          </p:nvPicPr>
          <p:blipFill>
            <a:blip r:embed="rId9" cstate="email"/>
            <a:srcRect/>
            <a:stretch>
              <a:fillRect/>
            </a:stretch>
          </p:blipFill>
          <p:spPr bwMode="auto">
            <a:xfrm>
              <a:off x="9251" y="7658"/>
              <a:ext cx="1056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文本框 14"/>
          <p:cNvSpPr txBox="1"/>
          <p:nvPr/>
        </p:nvSpPr>
        <p:spPr>
          <a:xfrm>
            <a:off x="3373755" y="4745990"/>
            <a:ext cx="1709420" cy="967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场地发布：发布</a:t>
            </a:r>
            <a:r>
              <a:rPr lang="en-US" altLang="zh-CN" sz="1400"/>
              <a:t>/</a:t>
            </a:r>
            <a:r>
              <a:rPr lang="zh-CN" altLang="en-US" sz="1400"/>
              <a:t>管理用户自有场地并支持索引优化。</a:t>
            </a:r>
            <a:endParaRPr lang="zh-CN" altLang="en-US" sz="1400"/>
          </a:p>
        </p:txBody>
      </p:sp>
      <p:sp>
        <p:nvSpPr>
          <p:cNvPr id="16" name="文本框 15"/>
          <p:cNvSpPr txBox="1"/>
          <p:nvPr/>
        </p:nvSpPr>
        <p:spPr>
          <a:xfrm>
            <a:off x="5313680" y="4759325"/>
            <a:ext cx="1709420" cy="967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场地需求：发布</a:t>
            </a:r>
            <a:r>
              <a:rPr lang="en-US" altLang="zh-CN" sz="1400"/>
              <a:t>/</a:t>
            </a:r>
            <a:r>
              <a:rPr lang="zh-CN" altLang="en-US" sz="1400"/>
              <a:t>管理需求场地并与已有场地做匹配，支持按日期</a:t>
            </a:r>
            <a:r>
              <a:rPr lang="en-US" altLang="zh-CN" sz="1400"/>
              <a:t>/</a:t>
            </a:r>
            <a:r>
              <a:rPr lang="zh-CN" altLang="en-US" sz="1400"/>
              <a:t>时间范围查询。</a:t>
            </a:r>
            <a:endParaRPr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7309485" y="4759325"/>
            <a:ext cx="1709420" cy="967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智能匹配引擎：基于</a:t>
            </a:r>
            <a:r>
              <a:rPr lang="en-US" altLang="zh-CN" sz="1400"/>
              <a:t> court_id + </a:t>
            </a:r>
            <a:r>
              <a:rPr lang="zh-CN" altLang="en-US" sz="1400"/>
              <a:t>时间窗口的精确</a:t>
            </a:r>
            <a:r>
              <a:rPr lang="en-US" altLang="zh-CN" sz="1400"/>
              <a:t>/</a:t>
            </a:r>
            <a:r>
              <a:rPr lang="zh-CN" altLang="en-US" sz="1400"/>
              <a:t>范围匹配，支持排序与分页。</a:t>
            </a:r>
            <a:endParaRPr lang="zh-CN" altLang="en-US" sz="1400"/>
          </a:p>
        </p:txBody>
      </p:sp>
      <p:sp>
        <p:nvSpPr>
          <p:cNvPr id="18" name="文本框 17"/>
          <p:cNvSpPr txBox="1"/>
          <p:nvPr/>
        </p:nvSpPr>
        <p:spPr>
          <a:xfrm>
            <a:off x="9436100" y="4759325"/>
            <a:ext cx="1709420" cy="967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/>
              <a:t>交换流程管理：创建</a:t>
            </a:r>
            <a:r>
              <a:rPr lang="en-US" altLang="zh-CN" sz="1400"/>
              <a:t>/</a:t>
            </a:r>
            <a:r>
              <a:rPr lang="zh-CN" altLang="en-US" sz="1400"/>
              <a:t>查询</a:t>
            </a:r>
            <a:r>
              <a:rPr lang="en-US" altLang="zh-CN" sz="1400"/>
              <a:t>/</a:t>
            </a:r>
            <a:r>
              <a:rPr lang="zh-CN" altLang="en-US" sz="1400"/>
              <a:t>更新交换请求及状态流转记录。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Bildobjekt 13" descr="grey_bg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299" name="Bildobjekt 14"/>
          <p:cNvPicPr>
            <a:picLocks noChangeAspect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429895" y="521653"/>
            <a:ext cx="4254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/>
          <p:nvPr>
            <p:ph type="title"/>
          </p:nvPr>
        </p:nvSpPr>
        <p:spPr>
          <a:xfrm>
            <a:off x="1054736" y="-317"/>
            <a:ext cx="7494588" cy="1085371"/>
          </a:xfrm>
        </p:spPr>
        <p:txBody>
          <a:bodyPr/>
          <a:p>
            <a:r>
              <a:rPr lang="zh-CN" altLang="en-US"/>
              <a:t>中期系统成果展示</a:t>
            </a:r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10459720" y="348615"/>
            <a:ext cx="1336675" cy="888365"/>
            <a:chOff x="13288" y="758"/>
            <a:chExt cx="2932" cy="1740"/>
          </a:xfrm>
        </p:grpSpPr>
        <p:sp>
          <p:nvSpPr>
            <p:cNvPr id="10" name="Rektangel med rundade hörn 6"/>
            <p:cNvSpPr>
              <a:spLocks noChangeArrowheads="1"/>
            </p:cNvSpPr>
            <p:nvPr/>
          </p:nvSpPr>
          <p:spPr bwMode="auto">
            <a:xfrm>
              <a:off x="13288" y="758"/>
              <a:ext cx="2932" cy="1740"/>
            </a:xfrm>
            <a:prstGeom prst="roundRect">
              <a:avLst>
                <a:gd name="adj" fmla="val 16667"/>
              </a:avLst>
            </a:prstGeom>
            <a:noFill/>
            <a:ln w="12700" algn="ctr">
              <a:solidFill>
                <a:srgbClr val="00A9D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5998" tIns="60958" rIns="95998" bIns="60958"/>
            <a:p>
              <a:pPr algn="l" defTabSz="1217930">
                <a:spcBef>
                  <a:spcPct val="50000"/>
                </a:spcBef>
              </a:pPr>
              <a:endParaRPr lang="sv-SE" altLang="sv-SE" sz="2700"/>
            </a:p>
          </p:txBody>
        </p:sp>
        <p:pic>
          <p:nvPicPr>
            <p:cNvPr id="57366" name="Bildobjekt 7"/>
            <p:cNvPicPr>
              <a:picLocks noChangeAspect="1"/>
            </p:cNvPicPr>
            <p:nvPr/>
          </p:nvPicPr>
          <p:blipFill>
            <a:blip r:embed="rId3" cstate="email"/>
            <a:srcRect t="23142"/>
            <a:stretch>
              <a:fillRect/>
            </a:stretch>
          </p:blipFill>
          <p:spPr bwMode="auto">
            <a:xfrm>
              <a:off x="13623" y="1346"/>
              <a:ext cx="2302" cy="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文本框 10"/>
            <p:cNvSpPr txBox="1"/>
            <p:nvPr/>
          </p:nvSpPr>
          <p:spPr>
            <a:xfrm>
              <a:off x="13838" y="766"/>
              <a:ext cx="1872" cy="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ExCourt</a:t>
              </a:r>
              <a:endParaRPr lang="en-US" altLang="zh-CN" sz="1400"/>
            </a:p>
          </p:txBody>
        </p:sp>
      </p:grpSp>
      <p:pic>
        <p:nvPicPr>
          <p:cNvPr id="4" name="aeaff64f7f8be970bb475c4834be7f14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8715" y="1297940"/>
            <a:ext cx="9603740" cy="5074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Bildobjekt 2" descr="RADIO-STAD.jpg"/>
          <p:cNvPicPr>
            <a:picLocks noChangeAspect="1"/>
          </p:cNvPicPr>
          <p:nvPr/>
        </p:nvPicPr>
        <p:blipFill>
          <a:blip r:embed="rId1" cstate="email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3" name="Bildobjekt 6"/>
          <p:cNvPicPr>
            <a:picLocks noChangeAspect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5173663" y="1804988"/>
            <a:ext cx="380365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7" name="Title 1"/>
          <p:cNvSpPr txBox="1"/>
          <p:nvPr/>
        </p:nvSpPr>
        <p:spPr bwMode="auto">
          <a:xfrm>
            <a:off x="4292600" y="4654550"/>
            <a:ext cx="915988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2" tIns="0" rIns="71992" bIns="0"/>
          <a:lstStyle>
            <a:lvl1pPr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1219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1219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1219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1219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1500">
                <a:solidFill>
                  <a:srgbClr val="848788"/>
                </a:solidFill>
                <a:latin typeface="Ericsson Sans Regular"/>
                <a:ea typeface="Ericsson Sans Regular"/>
                <a:cs typeface="Ericsson Sans Regular"/>
              </a:rPr>
              <a:t>URBAN</a:t>
            </a:r>
            <a:endParaRPr lang="en-US" sz="1500">
              <a:solidFill>
                <a:srgbClr val="848788"/>
              </a:solidFill>
              <a:latin typeface="Ericsson Sans Regular"/>
              <a:ea typeface="Ericsson Sans Regular"/>
              <a:cs typeface="Ericsson Sans Regular"/>
            </a:endParaRPr>
          </a:p>
        </p:txBody>
      </p:sp>
      <p:sp>
        <p:nvSpPr>
          <p:cNvPr id="61448" name="Title 1"/>
          <p:cNvSpPr txBox="1"/>
          <p:nvPr/>
        </p:nvSpPr>
        <p:spPr bwMode="auto">
          <a:xfrm>
            <a:off x="4913313" y="5480050"/>
            <a:ext cx="1412875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2" tIns="0" rIns="71992" bIns="0"/>
          <a:lstStyle>
            <a:lvl1pPr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1219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1219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1219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1219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1500">
                <a:solidFill>
                  <a:srgbClr val="848788"/>
                </a:solidFill>
                <a:latin typeface="Ericsson Sans Regular"/>
                <a:ea typeface="Ericsson Sans Regular"/>
                <a:cs typeface="Ericsson Sans Regular"/>
              </a:rPr>
              <a:t>SUBURBAN</a:t>
            </a:r>
            <a:endParaRPr lang="en-US" sz="1500">
              <a:solidFill>
                <a:srgbClr val="848788"/>
              </a:solidFill>
              <a:latin typeface="Ericsson Sans Regular"/>
              <a:ea typeface="Ericsson Sans Regular"/>
              <a:cs typeface="Ericsson Sans Regular"/>
            </a:endParaRPr>
          </a:p>
        </p:txBody>
      </p:sp>
      <p:sp>
        <p:nvSpPr>
          <p:cNvPr id="61449" name="Title 1"/>
          <p:cNvSpPr txBox="1"/>
          <p:nvPr/>
        </p:nvSpPr>
        <p:spPr bwMode="auto">
          <a:xfrm>
            <a:off x="6367463" y="6180138"/>
            <a:ext cx="14160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2" tIns="0" rIns="71992" bIns="0"/>
          <a:lstStyle>
            <a:lvl1pPr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1219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1219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1219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1219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1500">
                <a:solidFill>
                  <a:srgbClr val="848788"/>
                </a:solidFill>
                <a:latin typeface="Ericsson Sans Regular"/>
                <a:ea typeface="Ericsson Sans Regular"/>
                <a:cs typeface="Ericsson Sans Regular"/>
              </a:rPr>
              <a:t>RURAL</a:t>
            </a:r>
            <a:endParaRPr lang="en-US" sz="1500">
              <a:solidFill>
                <a:srgbClr val="848788"/>
              </a:solidFill>
              <a:latin typeface="Ericsson Sans Regular"/>
              <a:ea typeface="Ericsson Sans Regular"/>
              <a:cs typeface="Ericsson Sans Regular"/>
            </a:endParaRPr>
          </a:p>
        </p:txBody>
      </p:sp>
      <p:pic>
        <p:nvPicPr>
          <p:cNvPr id="61452" name="Bildobjekt 11"/>
          <p:cNvPicPr>
            <a:picLocks noChangeAspect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338455" y="1661795"/>
            <a:ext cx="645160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53" name="Title 1"/>
          <p:cNvSpPr txBox="1"/>
          <p:nvPr/>
        </p:nvSpPr>
        <p:spPr bwMode="auto">
          <a:xfrm rot="-5400000">
            <a:off x="3752851" y="2987675"/>
            <a:ext cx="141605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2" tIns="0" rIns="71992" bIns="0"/>
          <a:lstStyle>
            <a:lvl1pPr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192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1219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1219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1219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1219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sz="1500">
                <a:solidFill>
                  <a:srgbClr val="848788"/>
                </a:solidFill>
                <a:latin typeface="Ericsson Sans Regular"/>
                <a:ea typeface="Ericsson Sans Regular"/>
                <a:cs typeface="Ericsson Sans Regular"/>
              </a:rPr>
              <a:t> TRAFFIC </a:t>
            </a:r>
            <a:endParaRPr lang="en-US" sz="1500">
              <a:solidFill>
                <a:srgbClr val="848788"/>
              </a:solidFill>
              <a:latin typeface="Ericsson Sans Regular"/>
              <a:ea typeface="Ericsson Sans Regular"/>
              <a:cs typeface="Ericsson Sans Regular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83615" y="1805305"/>
            <a:ext cx="3115310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未来规划：</a:t>
            </a:r>
            <a:endParaRPr lang="zh-CN" altLang="en-US" sz="1600"/>
          </a:p>
          <a:p>
            <a:endParaRPr lang="en-US" altLang="zh-CN" sz="1600"/>
          </a:p>
          <a:p>
            <a:r>
              <a:rPr lang="en-US" altLang="zh-CN" sz="1600"/>
              <a:t>1.</a:t>
            </a:r>
            <a:r>
              <a:rPr lang="zh-CN" altLang="en-US" sz="1600"/>
              <a:t>完善交换流程：实现交换请求的接受</a:t>
            </a:r>
            <a:r>
              <a:rPr lang="en-US" altLang="zh-CN" sz="1600"/>
              <a:t>/</a:t>
            </a:r>
            <a:r>
              <a:rPr lang="zh-CN" altLang="en-US" sz="1600"/>
              <a:t>拒绝</a:t>
            </a:r>
            <a:r>
              <a:rPr lang="en-US" altLang="zh-CN" sz="1600"/>
              <a:t>/</a:t>
            </a:r>
            <a:r>
              <a:rPr lang="zh-CN" altLang="en-US" sz="1600"/>
              <a:t>完成接口及前端交互（状态流转、通知）。</a:t>
            </a:r>
            <a:endParaRPr lang="zh-CN" altLang="en-US" sz="1600"/>
          </a:p>
          <a:p>
            <a:endParaRPr lang="en-US" altLang="zh-CN" sz="1600"/>
          </a:p>
          <a:p>
            <a:r>
              <a:rPr lang="en-US" altLang="zh-CN" sz="1600"/>
              <a:t>2.</a:t>
            </a:r>
            <a:r>
              <a:rPr lang="zh-CN" altLang="en-US" sz="1600"/>
              <a:t>智能匹配优化：引入模糊</a:t>
            </a:r>
            <a:r>
              <a:rPr lang="en-US" altLang="zh-CN" sz="1600"/>
              <a:t>/</a:t>
            </a:r>
            <a:r>
              <a:rPr lang="zh-CN" altLang="en-US" sz="1600"/>
              <a:t>时间窗口匹配、评分与优先级规则，支持分页与排序。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3.</a:t>
            </a:r>
            <a:r>
              <a:rPr lang="zh-CN" altLang="en-US" sz="1600"/>
              <a:t>前端体验升级：响应式、可访问性改进、</a:t>
            </a:r>
            <a:r>
              <a:rPr lang="en-US" altLang="zh-CN" sz="1600"/>
              <a:t>PWA </a:t>
            </a:r>
            <a:r>
              <a:rPr lang="zh-CN" altLang="en-US" sz="1600"/>
              <a:t>支持、表单验证与更佳视觉反馈。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4.</a:t>
            </a:r>
            <a:r>
              <a:rPr lang="zh-CN" altLang="en-US" sz="1600"/>
              <a:t>实时通知：使用</a:t>
            </a:r>
            <a:r>
              <a:rPr lang="en-US" altLang="zh-CN" sz="1600"/>
              <a:t> WebSocket</a:t>
            </a:r>
            <a:r>
              <a:rPr lang="zh-CN" altLang="en-US" sz="1600"/>
              <a:t>（或</a:t>
            </a:r>
            <a:r>
              <a:rPr lang="en-US" altLang="zh-CN" sz="1600"/>
              <a:t> SSE</a:t>
            </a:r>
            <a:r>
              <a:rPr lang="zh-CN" altLang="en-US" sz="1600"/>
              <a:t>）推送交换请求与状态更新，提升交互体验。</a:t>
            </a:r>
            <a:endParaRPr lang="zh-CN" altLang="en-US" sz="1600"/>
          </a:p>
        </p:txBody>
      </p:sp>
      <p:grpSp>
        <p:nvGrpSpPr>
          <p:cNvPr id="9" name="组合 8"/>
          <p:cNvGrpSpPr/>
          <p:nvPr/>
        </p:nvGrpSpPr>
        <p:grpSpPr>
          <a:xfrm>
            <a:off x="8785860" y="763905"/>
            <a:ext cx="2282190" cy="1407795"/>
            <a:chOff x="13288" y="758"/>
            <a:chExt cx="2932" cy="1740"/>
          </a:xfrm>
        </p:grpSpPr>
        <p:sp>
          <p:nvSpPr>
            <p:cNvPr id="10" name="Rektangel med rundade hörn 6"/>
            <p:cNvSpPr>
              <a:spLocks noChangeArrowheads="1"/>
            </p:cNvSpPr>
            <p:nvPr/>
          </p:nvSpPr>
          <p:spPr bwMode="auto">
            <a:xfrm>
              <a:off x="13288" y="758"/>
              <a:ext cx="2932" cy="1740"/>
            </a:xfrm>
            <a:prstGeom prst="roundRect">
              <a:avLst>
                <a:gd name="adj" fmla="val 16667"/>
              </a:avLst>
            </a:prstGeom>
            <a:noFill/>
            <a:ln w="12700" algn="ctr">
              <a:solidFill>
                <a:srgbClr val="00A9D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5998" tIns="60958" rIns="95998" bIns="60958"/>
            <a:p>
              <a:pPr algn="l" defTabSz="1217930">
                <a:spcBef>
                  <a:spcPct val="50000"/>
                </a:spcBef>
              </a:pPr>
              <a:endParaRPr lang="sv-SE" altLang="sv-SE" sz="2700"/>
            </a:p>
          </p:txBody>
        </p:sp>
        <p:pic>
          <p:nvPicPr>
            <p:cNvPr id="57366" name="Bildobjekt 7"/>
            <p:cNvPicPr>
              <a:picLocks noChangeAspect="1"/>
            </p:cNvPicPr>
            <p:nvPr/>
          </p:nvPicPr>
          <p:blipFill>
            <a:blip r:embed="rId4" cstate="email"/>
            <a:srcRect t="23142"/>
            <a:stretch>
              <a:fillRect/>
            </a:stretch>
          </p:blipFill>
          <p:spPr bwMode="auto">
            <a:xfrm>
              <a:off x="13623" y="1346"/>
              <a:ext cx="2302" cy="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文本框 10"/>
            <p:cNvSpPr txBox="1"/>
            <p:nvPr/>
          </p:nvSpPr>
          <p:spPr>
            <a:xfrm>
              <a:off x="13838" y="766"/>
              <a:ext cx="1872" cy="4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ExCourt</a:t>
              </a:r>
              <a:endParaRPr lang="en-US" altLang="zh-CN"/>
            </a:p>
          </p:txBody>
        </p:sp>
      </p:grpSp>
      <p:pic>
        <p:nvPicPr>
          <p:cNvPr id="55299" name="Bildobjekt 14"/>
          <p:cNvPicPr>
            <a:picLocks noChangeAspect="1"/>
          </p:cNvPicPr>
          <p:nvPr/>
        </p:nvPicPr>
        <p:blipFill>
          <a:blip r:embed="rId5" cstate="email"/>
          <a:srcRect/>
          <a:stretch>
            <a:fillRect/>
          </a:stretch>
        </p:blipFill>
        <p:spPr bwMode="auto">
          <a:xfrm>
            <a:off x="448310" y="206693"/>
            <a:ext cx="4254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/>
          <p:nvPr/>
        </p:nvSpPr>
        <p:spPr>
          <a:xfrm>
            <a:off x="1073151" y="-315277"/>
            <a:ext cx="7494588" cy="10853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下一步计划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 hasCustomPrompt="1"/>
          </p:nvPr>
        </p:nvSpPr>
        <p:spPr>
          <a:xfrm>
            <a:off x="721994" y="542925"/>
            <a:ext cx="4883151" cy="2997200"/>
          </a:xfrm>
        </p:spPr>
        <p:txBody>
          <a:bodyPr/>
          <a:lstStyle/>
          <a:p>
            <a:r>
              <a:rPr lang="zh-CN" altLang="en-US" dirty="0"/>
              <a:t>感谢观看</a:t>
            </a:r>
            <a:br>
              <a:rPr lang="en-US" altLang="zh-CN" dirty="0"/>
            </a:br>
            <a:r>
              <a:rPr lang="zh-CN" altLang="en-US" dirty="0"/>
              <a:t>Thank you</a:t>
            </a:r>
            <a:endParaRPr 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1117600" y="4368800"/>
            <a:ext cx="2727325" cy="1722755"/>
            <a:chOff x="13288" y="758"/>
            <a:chExt cx="2932" cy="1740"/>
          </a:xfrm>
        </p:grpSpPr>
        <p:sp>
          <p:nvSpPr>
            <p:cNvPr id="10" name="Rektangel med rundade hörn 6"/>
            <p:cNvSpPr>
              <a:spLocks noChangeArrowheads="1"/>
            </p:cNvSpPr>
            <p:nvPr/>
          </p:nvSpPr>
          <p:spPr bwMode="auto">
            <a:xfrm>
              <a:off x="13288" y="758"/>
              <a:ext cx="2932" cy="1740"/>
            </a:xfrm>
            <a:prstGeom prst="roundRect">
              <a:avLst>
                <a:gd name="adj" fmla="val 16667"/>
              </a:avLst>
            </a:prstGeom>
            <a:noFill/>
            <a:ln w="12700" algn="ctr">
              <a:solidFill>
                <a:srgbClr val="00A9D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5998" tIns="60958" rIns="95998" bIns="60958"/>
            <a:p>
              <a:pPr algn="l" defTabSz="1217930">
                <a:spcBef>
                  <a:spcPct val="50000"/>
                </a:spcBef>
              </a:pPr>
              <a:endParaRPr lang="sv-SE" altLang="sv-SE" sz="2700"/>
            </a:p>
          </p:txBody>
        </p:sp>
        <p:pic>
          <p:nvPicPr>
            <p:cNvPr id="57366" name="Bildobjekt 7"/>
            <p:cNvPicPr>
              <a:picLocks noChangeAspect="1"/>
            </p:cNvPicPr>
            <p:nvPr/>
          </p:nvPicPr>
          <p:blipFill>
            <a:blip r:embed="rId1" cstate="email"/>
            <a:srcRect t="23142"/>
            <a:stretch>
              <a:fillRect/>
            </a:stretch>
          </p:blipFill>
          <p:spPr bwMode="auto">
            <a:xfrm>
              <a:off x="13623" y="1346"/>
              <a:ext cx="2302" cy="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文本框 10"/>
            <p:cNvSpPr txBox="1"/>
            <p:nvPr/>
          </p:nvSpPr>
          <p:spPr>
            <a:xfrm>
              <a:off x="13978" y="766"/>
              <a:ext cx="1872" cy="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ExCourt</a:t>
              </a:r>
              <a:endParaRPr lang="en-US" altLang="zh-CN" sz="2400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27.1916535433071,&quot;left&quot;:47.6,&quot;top&quot;:87.9,&quot;width&quot;:900.4}"/>
</p:tagLst>
</file>

<file path=ppt/tags/tag2.xml><?xml version="1.0" encoding="utf-8"?>
<p:tagLst xmlns:p="http://schemas.openxmlformats.org/presentationml/2006/main">
  <p:tag name="KSO_WM_DIAGRAM_VIRTUALLY_FRAME" val="{&quot;height&quot;:427.1916535433071,&quot;left&quot;:47.6,&quot;top&quot;:87.9,&quot;width&quot;:900.4}"/>
</p:tagLst>
</file>

<file path=ppt/tags/tag3.xml><?xml version="1.0" encoding="utf-8"?>
<p:tagLst xmlns:p="http://schemas.openxmlformats.org/presentationml/2006/main">
  <p:tag name="KSO_WM_DIAGRAM_VIRTUALLY_FRAME" val="{&quot;height&quot;:427.1916535433071,&quot;left&quot;:47.6,&quot;top&quot;:87.9,&quot;width&quot;:900.4}"/>
</p:tagLst>
</file>

<file path=ppt/tags/tag4.xml><?xml version="1.0" encoding="utf-8"?>
<p:tagLst xmlns:p="http://schemas.openxmlformats.org/presentationml/2006/main">
  <p:tag name="KSO_WM_DIAGRAM_VIRTUALLY_FRAME" val="{&quot;height&quot;:427.1916535433071,&quot;left&quot;:47.6,&quot;top&quot;:87.9,&quot;width&quot;:900.4}"/>
</p:tagLst>
</file>

<file path=ppt/tags/tag5.xml><?xml version="1.0" encoding="utf-8"?>
<p:tagLst xmlns:p="http://schemas.openxmlformats.org/presentationml/2006/main">
  <p:tag name="KSO_WM_DIAGRAM_VIRTUALLY_FRAME" val="{&quot;height&quot;:427.1916535433071,&quot;left&quot;:47.6,&quot;top&quot;:87.9,&quot;width&quot;:900.4}"/>
</p:tagLst>
</file>

<file path=ppt/tags/tag6.xml><?xml version="1.0" encoding="utf-8"?>
<p:tagLst xmlns:p="http://schemas.openxmlformats.org/presentationml/2006/main">
  <p:tag name="KSO_WM_DIAGRAM_VIRTUALLY_FRAME" val="{&quot;height&quot;:427.1916535433071,&quot;left&quot;:47.6,&quot;top&quot;:87.9,&quot;width&quot;:900.4}"/>
</p:tagLst>
</file>

<file path=ppt/tags/tag7.xml><?xml version="1.0" encoding="utf-8"?>
<p:tagLst xmlns:p="http://schemas.openxmlformats.org/presentationml/2006/main">
  <p:tag name="KSO_WM_DIAGRAM_VIRTUALLY_FRAME" val="{&quot;height&quot;:427.1916535433071,&quot;left&quot;:47.6,&quot;top&quot;:87.9,&quot;width&quot;:900.4}"/>
</p:tagLst>
</file>

<file path=ppt/tags/tag8.xml><?xml version="1.0" encoding="utf-8"?>
<p:tagLst xmlns:p="http://schemas.openxmlformats.org/presentationml/2006/main">
  <p:tag name="KSO_WM_DIAGRAM_VIRTUALLY_FRAME" val="{&quot;height&quot;:427.1916535433071,&quot;left&quot;:47.6,&quot;top&quot;:87.9,&quot;width&quot;:900.4}"/>
</p:tagLst>
</file>

<file path=ppt/tags/tag9.xml><?xml version="1.0" encoding="utf-8"?>
<p:tagLst xmlns:p="http://schemas.openxmlformats.org/presentationml/2006/main">
  <p:tag name="KSO_WM_DIAGRAM_VIRTUALLY_FRAME" val="{&quot;height&quot;:427.1916535433071,&quot;left&quot;:47.6,&quot;top&quot;:87.9,&quot;width&quot;:900.4}"/>
</p:tagLst>
</file>

<file path=ppt/tags/tag10.xml><?xml version="1.0" encoding="utf-8"?>
<p:tagLst xmlns:p="http://schemas.openxmlformats.org/presentationml/2006/main">
  <p:tag name="KSO_WM_DIAGRAM_VIRTUALLY_FRAME" val="{&quot;height&quot;:427.1916535433071,&quot;left&quot;:47.6,&quot;top&quot;:87.9,&quot;width&quot;:900.4}"/>
</p:tagLst>
</file>

<file path=ppt/tags/tag11.xml><?xml version="1.0" encoding="utf-8"?>
<p:tagLst xmlns:p="http://schemas.openxmlformats.org/presentationml/2006/main">
  <p:tag name="KSO_WM_DIAGRAM_VIRTUALLY_FRAME" val="{&quot;height&quot;:427.1916535433071,&quot;left&quot;:47.6,&quot;top&quot;:87.9,&quot;width&quot;:900.4}"/>
</p:tagLst>
</file>

<file path=ppt/tags/tag12.xml><?xml version="1.0" encoding="utf-8"?>
<p:tagLst xmlns:p="http://schemas.openxmlformats.org/presentationml/2006/main">
  <p:tag name="KSO_WM_DIAGRAM_VIRTUALLY_FRAME" val="{&quot;height&quot;:427.1916535433071,&quot;left&quot;:47.6,&quot;top&quot;:87.9,&quot;width&quot;:900.4}"/>
</p:tagLst>
</file>

<file path=ppt/tags/tag13.xml><?xml version="1.0" encoding="utf-8"?>
<p:tagLst xmlns:p="http://schemas.openxmlformats.org/presentationml/2006/main">
  <p:tag name="KSO_WM_DIAGRAM_VIRTUALLY_FRAME" val="{&quot;height&quot;:427.1916535433071,&quot;left&quot;:47.6,&quot;top&quot;:87.9,&quot;width&quot;:900.4}"/>
</p:tagLst>
</file>

<file path=ppt/tags/tag14.xml><?xml version="1.0" encoding="utf-8"?>
<p:tagLst xmlns:p="http://schemas.openxmlformats.org/presentationml/2006/main">
  <p:tag name="KSO_WM_DIAGRAM_VIRTUALLY_FRAME" val="{&quot;height&quot;:387.12496062992125,&quot;left&quot;:94.25,&quot;top&quot;:134.37503937007872,&quot;width&quot;:761.3750393700788}"/>
</p:tagLst>
</file>

<file path=ppt/tags/tag15.xml><?xml version="1.0" encoding="utf-8"?>
<p:tagLst xmlns:p="http://schemas.openxmlformats.org/presentationml/2006/main">
  <p:tag name="KSO_WM_DIAGRAM_VIRTUALLY_FRAME" val="{&quot;height&quot;:387.12496062992125,&quot;left&quot;:94.25,&quot;top&quot;:134.37503937007872,&quot;width&quot;:761.3750393700788}"/>
</p:tagLst>
</file>

<file path=ppt/tags/tag16.xml><?xml version="1.0" encoding="utf-8"?>
<p:tagLst xmlns:p="http://schemas.openxmlformats.org/presentationml/2006/main">
  <p:tag name="KSO_WM_DIAGRAM_VIRTUALLY_FRAME" val="{&quot;height&quot;:387.12496062992125,&quot;left&quot;:94.25,&quot;top&quot;:134.37503937007872,&quot;width&quot;:761.3750393700788}"/>
</p:tagLst>
</file>

<file path=ppt/tags/tag17.xml><?xml version="1.0" encoding="utf-8"?>
<p:tagLst xmlns:p="http://schemas.openxmlformats.org/presentationml/2006/main">
  <p:tag name="KSO_WM_DIAGRAM_VIRTUALLY_FRAME" val="{&quot;height&quot;:387.12496062992125,&quot;left&quot;:94.25,&quot;top&quot;:134.37503937007872,&quot;width&quot;:761.3750393700788}"/>
</p:tagLst>
</file>

<file path=ppt/tags/tag18.xml><?xml version="1.0" encoding="utf-8"?>
<p:tagLst xmlns:p="http://schemas.openxmlformats.org/presentationml/2006/main">
  <p:tag name="KSO_WM_DIAGRAM_VIRTUALLY_FRAME" val="{&quot;height&quot;:387.12496062992125,&quot;left&quot;:94.25,&quot;top&quot;:134.37503937007872,&quot;width&quot;:761.3750393700788}"/>
</p:tagLst>
</file>

<file path=ppt/tags/tag19.xml><?xml version="1.0" encoding="utf-8"?>
<p:tagLst xmlns:p="http://schemas.openxmlformats.org/presentationml/2006/main">
  <p:tag name="KSO_WM_DIAGRAM_VIRTUALLY_FRAME" val="{&quot;height&quot;:387.12496062992125,&quot;left&quot;:94.25,&quot;top&quot;:134.37503937007872,&quot;width&quot;:761.3750393700788}"/>
</p:tagLst>
</file>

<file path=ppt/tags/tag20.xml><?xml version="1.0" encoding="utf-8"?>
<p:tagLst xmlns:p="http://schemas.openxmlformats.org/presentationml/2006/main">
  <p:tag name="KSO_WM_DIAGRAM_VIRTUALLY_FRAME" val="{&quot;height&quot;:387.12496062992125,&quot;left&quot;:94.25,&quot;top&quot;:134.37503937007872,&quot;width&quot;:761.3750393700788}"/>
</p:tagLst>
</file>

<file path=ppt/tags/tag21.xml><?xml version="1.0" encoding="utf-8"?>
<p:tagLst xmlns:p="http://schemas.openxmlformats.org/presentationml/2006/main">
  <p:tag name="KSO_WM_DIAGRAM_VIRTUALLY_FRAME" val="{&quot;height&quot;:387.12496062992125,&quot;left&quot;:94.25,&quot;top&quot;:134.37503937007872,&quot;width&quot;:761.3750393700788}"/>
</p:tagLst>
</file>

<file path=ppt/tags/tag22.xml><?xml version="1.0" encoding="utf-8"?>
<p:tagLst xmlns:p="http://schemas.openxmlformats.org/presentationml/2006/main">
  <p:tag name="KSO_WM_DIAGRAM_VIRTUALLY_FRAME" val="{&quot;height&quot;:387.12496062992125,&quot;left&quot;:94.25,&quot;top&quot;:134.37503937007872,&quot;width&quot;:761.3750393700788}"/>
</p:tagLst>
</file>

<file path=ppt/tags/tag23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0B9DFF"/>
      </a:accent1>
      <a:accent2>
        <a:srgbClr val="1D9AA1"/>
      </a:accent2>
      <a:accent3>
        <a:srgbClr val="31ADE9"/>
      </a:accent3>
      <a:accent4>
        <a:srgbClr val="4E93F5"/>
      </a:accent4>
      <a:accent5>
        <a:srgbClr val="19AFB9"/>
      </a:accent5>
      <a:accent6>
        <a:srgbClr val="1DB090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iSlide">
    <a:dk1>
      <a:srgbClr val="2F2F2F"/>
    </a:dk1>
    <a:lt1>
      <a:srgbClr val="FFFFFF"/>
    </a:lt1>
    <a:dk2>
      <a:srgbClr val="778495"/>
    </a:dk2>
    <a:lt2>
      <a:srgbClr val="F0F0F0"/>
    </a:lt2>
    <a:accent1>
      <a:srgbClr val="0B9DFF"/>
    </a:accent1>
    <a:accent2>
      <a:srgbClr val="1D9AA1"/>
    </a:accent2>
    <a:accent3>
      <a:srgbClr val="31ADE9"/>
    </a:accent3>
    <a:accent4>
      <a:srgbClr val="4E93F5"/>
    </a:accent4>
    <a:accent5>
      <a:srgbClr val="19AFB9"/>
    </a:accent5>
    <a:accent6>
      <a:srgbClr val="1DB090"/>
    </a:accent6>
    <a:hlink>
      <a:srgbClr val="F84D4D"/>
    </a:hlink>
    <a:folHlink>
      <a:srgbClr val="979797"/>
    </a:folHlink>
  </a:clrScheme>
</a:themeOverride>
</file>

<file path=ppt/theme/themeOverride2.xml><?xml version="1.0" encoding="utf-8"?>
<a:themeOverride xmlns:a="http://schemas.openxmlformats.org/drawingml/2006/main">
  <a:clrScheme name="iSlide">
    <a:dk1>
      <a:srgbClr val="2F2F2F"/>
    </a:dk1>
    <a:lt1>
      <a:srgbClr val="FFFFFF"/>
    </a:lt1>
    <a:dk2>
      <a:srgbClr val="778495"/>
    </a:dk2>
    <a:lt2>
      <a:srgbClr val="F0F0F0"/>
    </a:lt2>
    <a:accent1>
      <a:srgbClr val="0B9DFF"/>
    </a:accent1>
    <a:accent2>
      <a:srgbClr val="1D9AA1"/>
    </a:accent2>
    <a:accent3>
      <a:srgbClr val="31ADE9"/>
    </a:accent3>
    <a:accent4>
      <a:srgbClr val="4E93F5"/>
    </a:accent4>
    <a:accent5>
      <a:srgbClr val="19AFB9"/>
    </a:accent5>
    <a:accent6>
      <a:srgbClr val="1DB090"/>
    </a:accent6>
    <a:hlink>
      <a:srgbClr val="F84D4D"/>
    </a:hlink>
    <a:folHlink>
      <a:srgbClr val="979797"/>
    </a:folHlink>
  </a:clrScheme>
</a:themeOverride>
</file>

<file path=ppt/theme/themeOverride3.xml><?xml version="1.0" encoding="utf-8"?>
<a:themeOverride xmlns:a="http://schemas.openxmlformats.org/drawingml/2006/main">
  <a:clrScheme name="iSlide">
    <a:dk1>
      <a:srgbClr val="2F2F2F"/>
    </a:dk1>
    <a:lt1>
      <a:srgbClr val="FFFFFF"/>
    </a:lt1>
    <a:dk2>
      <a:srgbClr val="778495"/>
    </a:dk2>
    <a:lt2>
      <a:srgbClr val="F0F0F0"/>
    </a:lt2>
    <a:accent1>
      <a:srgbClr val="0B9DFF"/>
    </a:accent1>
    <a:accent2>
      <a:srgbClr val="1D9AA1"/>
    </a:accent2>
    <a:accent3>
      <a:srgbClr val="31ADE9"/>
    </a:accent3>
    <a:accent4>
      <a:srgbClr val="4E93F5"/>
    </a:accent4>
    <a:accent5>
      <a:srgbClr val="19AFB9"/>
    </a:accent5>
    <a:accent6>
      <a:srgbClr val="1DB090"/>
    </a:accent6>
    <a:hlink>
      <a:srgbClr val="F84D4D"/>
    </a:hlink>
    <a:folHlink>
      <a:srgbClr val="97979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1480</Words>
  <Application>WPS 演示</Application>
  <PresentationFormat>宽屏</PresentationFormat>
  <Paragraphs>150</Paragraphs>
  <Slides>9</Slides>
  <Notes>1</Notes>
  <HiddenSlides>2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8" baseType="lpstr">
      <vt:lpstr>Arial</vt:lpstr>
      <vt:lpstr>宋体</vt:lpstr>
      <vt:lpstr>Wingdings</vt:lpstr>
      <vt:lpstr>Helvetica</vt:lpstr>
      <vt:lpstr>微软雅黑</vt:lpstr>
      <vt:lpstr>微软雅黑 Light</vt:lpstr>
      <vt:lpstr>Arial Unicode MS</vt:lpstr>
      <vt:lpstr>等线</vt:lpstr>
      <vt:lpstr>Calibri</vt:lpstr>
      <vt:lpstr>Miss Sweetie</vt:lpstr>
      <vt:lpstr>Ericsson Capital TT</vt:lpstr>
      <vt:lpstr>NumberOnly</vt:lpstr>
      <vt:lpstr>Ericsson Capital TT</vt:lpstr>
      <vt:lpstr>MS PGothic</vt:lpstr>
      <vt:lpstr>Ericsson Sans Regular</vt:lpstr>
      <vt:lpstr>Segoe Print</vt:lpstr>
      <vt:lpstr>Wingdings 2</vt:lpstr>
      <vt:lpstr>Calibri</vt:lpstr>
      <vt:lpstr>Designed by iSlide</vt:lpstr>
      <vt:lpstr>计算机专业 开题答辩汇报</vt:lpstr>
      <vt:lpstr>PowerPoint 演示文稿</vt:lpstr>
      <vt:lpstr>Ericsson software model</vt:lpstr>
      <vt:lpstr>数据库设计</vt:lpstr>
      <vt:lpstr>数据库设计</vt:lpstr>
      <vt:lpstr>数据库设计</vt:lpstr>
      <vt:lpstr>数据库设计</vt:lpstr>
      <vt:lpstr>下一步计划</vt:lpstr>
      <vt:lpstr>感谢观看 Thank you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玻璃质感科技插画计算机专业开题答辩汇报PPT模板</dc:title>
  <dc:creator>iSlide</dc:creator>
  <cp:keywords>51PPT模板网（www.51pptmoban.com）</cp:keywords>
  <dc:description>51PPT模板网，幻灯片演示模板及素材免费下载！
51PPT模板网 唯一访问网址：www.51pptmoban.com</dc:description>
  <cp:lastModifiedBy>吁徐栩叙</cp:lastModifiedBy>
  <cp:revision>168</cp:revision>
  <dcterms:created xsi:type="dcterms:W3CDTF">2023-06-05T05:58:00Z</dcterms:created>
  <dcterms:modified xsi:type="dcterms:W3CDTF">2025-11-16T15:04:20Z</dcterms:modified>
  <cp:version>51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646A4B71961243DB9E810A1C07BED1E8_12</vt:lpwstr>
  </property>
  <property fmtid="{D5CDD505-2E9C-101B-9397-08002B2CF9AE}" pid="3" name="KSOProductBuildVer">
    <vt:lpwstr>2052-12.1.0.21915</vt:lpwstr>
  </property>
</Properties>
</file>