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81" r:id="rId5"/>
    <p:sldId id="282" r:id="rId6"/>
    <p:sldId id="257" r:id="rId7"/>
    <p:sldId id="258" r:id="rId8"/>
    <p:sldId id="280" r:id="rId9"/>
    <p:sldId id="284" r:id="rId10"/>
    <p:sldId id="260" r:id="rId11"/>
    <p:sldId id="261" r:id="rId12"/>
    <p:sldId id="263" r:id="rId13"/>
    <p:sldId id="264" r:id="rId14"/>
    <p:sldId id="283" r:id="rId15"/>
    <p:sldId id="266" r:id="rId16"/>
    <p:sldId id="267" r:id="rId17"/>
    <p:sldId id="285" r:id="rId18"/>
    <p:sldId id="28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000000"/>
          </p15:clr>
        </p15:guide>
        <p15:guide id="2" pos="2918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30" y="67"/>
      </p:cViewPr>
      <p:guideLst>
        <p:guide orient="horz" pos="2150"/>
        <p:guide pos="29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notesSlide" Target="../notesSlides/notesSlide2.xml"/><Relationship Id="rId30" Type="http://schemas.openxmlformats.org/officeDocument/2006/relationships/slideLayout" Target="../slideLayouts/slideLayout12.xml"/><Relationship Id="rId3" Type="http://schemas.openxmlformats.org/officeDocument/2006/relationships/image" Target="../media/image2.png"/><Relationship Id="rId29" Type="http://schemas.openxmlformats.org/officeDocument/2006/relationships/tags" Target="../tags/tag24.xml"/><Relationship Id="rId28" Type="http://schemas.openxmlformats.org/officeDocument/2006/relationships/tags" Target="../tags/tag23.xml"/><Relationship Id="rId27" Type="http://schemas.openxmlformats.org/officeDocument/2006/relationships/tags" Target="../tags/tag22.xml"/><Relationship Id="rId26" Type="http://schemas.openxmlformats.org/officeDocument/2006/relationships/tags" Target="../tags/tag2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tags" Target="../tags/tag18.xml"/><Relationship Id="rId22" Type="http://schemas.openxmlformats.org/officeDocument/2006/relationships/tags" Target="../tags/tag1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tags" Target="../tags/tag25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image" Target="../media/image20.png"/><Relationship Id="rId6" Type="http://schemas.openxmlformats.org/officeDocument/2006/relationships/tags" Target="../tags/tag34.xml"/><Relationship Id="rId5" Type="http://schemas.openxmlformats.org/officeDocument/2006/relationships/image" Target="../media/image19.png"/><Relationship Id="rId4" Type="http://schemas.openxmlformats.org/officeDocument/2006/relationships/tags" Target="../tags/tag33.xml"/><Relationship Id="rId3" Type="http://schemas.openxmlformats.org/officeDocument/2006/relationships/image" Target="../media/image18.png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32.xml"/><Relationship Id="rId19" Type="http://schemas.openxmlformats.org/officeDocument/2006/relationships/image" Target="../media/image23.png"/><Relationship Id="rId18" Type="http://schemas.openxmlformats.org/officeDocument/2006/relationships/tags" Target="../tags/tag43.xml"/><Relationship Id="rId17" Type="http://schemas.openxmlformats.org/officeDocument/2006/relationships/image" Target="../media/image22.png"/><Relationship Id="rId16" Type="http://schemas.openxmlformats.org/officeDocument/2006/relationships/tags" Target="../tags/tag42.xml"/><Relationship Id="rId15" Type="http://schemas.openxmlformats.org/officeDocument/2006/relationships/image" Target="../media/image21.png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tags" Target="../tags/tag44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image" Target="../media/image32.png"/><Relationship Id="rId2" Type="http://schemas.openxmlformats.org/officeDocument/2006/relationships/image" Target="../media/image15.png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707390" y="935990"/>
            <a:ext cx="4342130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OPENGAUSS DATABASE RESEARCH</a:t>
            </a:r>
            <a:endParaRPr lang="en-US" sz="1800" b="0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34035" y="1602134"/>
            <a:ext cx="11601450" cy="182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openGauss 优化器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5400" b="1" i="0" u="none" strike="noStrike" cap="non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核心技术与</a:t>
            </a:r>
            <a:r>
              <a:rPr lang="zh-CN" altLang="en-US" sz="5400" b="1" i="0" u="none" strike="noStrike" cap="non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</a:t>
            </a:r>
            <a:r>
              <a:rPr lang="en-US" sz="5400" b="1" i="0" u="none" strike="noStrike" cap="non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</a:t>
            </a:r>
            <a:endParaRPr lang="en-US" sz="5400" b="1" i="0" u="none" strike="noStrike" cap="non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861060" y="3615690"/>
            <a:ext cx="2367915" cy="43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深度调研报告 | 架构解析 </a:t>
            </a:r>
            <a:endParaRPr lang="en-US" sz="1200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Shape 2"/>
          <p:cNvSpPr/>
          <p:nvPr/>
        </p:nvSpPr>
        <p:spPr>
          <a:xfrm>
            <a:off x="707390" y="4434205"/>
            <a:ext cx="3417570" cy="104013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chemeClr val="bg1"/>
            </a:solidFill>
            <a:prstDash val="solid"/>
          </a:ln>
        </p:spPr>
        <p:txBody>
          <a:bodyPr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Text 1"/>
          <p:cNvSpPr/>
          <p:nvPr/>
        </p:nvSpPr>
        <p:spPr>
          <a:xfrm>
            <a:off x="725805" y="4489450"/>
            <a:ext cx="339915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组员</a:t>
            </a:r>
            <a:r>
              <a:rPr lang="en-US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:</a:t>
            </a:r>
            <a:r>
              <a:rPr lang="zh-CN" altLang="en-US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刘佳鑫</a:t>
            </a:r>
            <a:r>
              <a:rPr lang="en-US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 徐华炫</a:t>
            </a:r>
            <a:endParaRPr lang="en-US" sz="2400" dirty="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  <a:cs typeface="Inter" panose="02000503000000020004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         </a:t>
            </a:r>
            <a:r>
              <a:rPr lang="zh-CN" altLang="en-US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毛星博</a:t>
            </a:r>
            <a:r>
              <a:rPr lang="en-US" altLang="zh-CN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冯灏然</a:t>
            </a:r>
            <a:endParaRPr lang="zh-CN" altLang="en-US" sz="2400" dirty="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  <a:cs typeface="Inter" panose="02000503000000020004" pitchFamily="34" charset="-12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25805" y="5706745"/>
            <a:ext cx="3399790" cy="574040"/>
            <a:chOff x="1142" y="9466"/>
            <a:chExt cx="5354" cy="904"/>
          </a:xfrm>
        </p:grpSpPr>
        <p:sp>
          <p:nvSpPr>
            <p:cNvPr id="10" name="Shape 4"/>
            <p:cNvSpPr/>
            <p:nvPr/>
          </p:nvSpPr>
          <p:spPr>
            <a:xfrm>
              <a:off x="1142" y="9466"/>
              <a:ext cx="5354" cy="904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0"/>
              </a:srgbClr>
            </a:solidFill>
            <a:ln w="19050">
              <a:solidFill>
                <a:schemeClr val="bg1"/>
              </a:solidFill>
              <a:prstDash val="solid"/>
            </a:ln>
          </p:spPr>
          <p:txBody>
            <a:bodyPr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Text 3"/>
            <p:cNvSpPr/>
            <p:nvPr/>
          </p:nvSpPr>
          <p:spPr>
            <a:xfrm>
              <a:off x="1142" y="9548"/>
              <a:ext cx="5072" cy="72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方正姚体" panose="02010601030101010101" charset="-122"/>
                  <a:ea typeface="方正姚体" panose="02010601030101010101" charset="-122"/>
                  <a:cs typeface="Inter" panose="02000503000000020004" pitchFamily="34" charset="-120"/>
                </a:rPr>
                <a:t>时间:2025-01-01</a:t>
              </a:r>
              <a:endParaRPr lang="en-US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endParaRPr>
            </a:p>
          </p:txBody>
        </p:sp>
      </p:grpSp>
      <p:sp>
        <p:nvSpPr>
          <p:cNvPr id="11" name="Shape 5"/>
          <p:cNvSpPr/>
          <p:nvPr/>
        </p:nvSpPr>
        <p:spPr>
          <a:xfrm>
            <a:off x="571500" y="4049395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  <p:sp>
        <p:nvSpPr>
          <p:cNvPr id="12" name="Shape 6"/>
          <p:cNvSpPr/>
          <p:nvPr/>
        </p:nvSpPr>
        <p:spPr>
          <a:xfrm>
            <a:off x="707390" y="4333875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51280" y="2143125"/>
            <a:ext cx="2235200" cy="12106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目录</a:t>
            </a:r>
            <a:endParaRPr lang="en-US" sz="8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54305" y="3340100"/>
            <a:ext cx="4629150" cy="689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chemeClr val="bg1"/>
                </a:solidFill>
                <a:latin typeface="Eras Bold ITC" panose="020B0907030504020204" charset="0"/>
                <a:ea typeface="Microsoft Sans Serif" panose="020B0604020202020204" pitchFamily="34" charset="-122"/>
                <a:cs typeface="Eras Bold ITC" panose="020B0907030504020204" charset="0"/>
              </a:rPr>
              <a:t>CONTENTS</a:t>
            </a:r>
            <a:endParaRPr lang="en-US" sz="4400" dirty="0">
              <a:solidFill>
                <a:schemeClr val="bg1"/>
              </a:solidFill>
              <a:latin typeface="Eras Bold ITC" panose="020B0907030504020204" charset="0"/>
              <a:ea typeface="Microsoft Sans Serif" panose="020B0604020202020204" pitchFamily="34" charset="-122"/>
              <a:cs typeface="Eras Bold ITC" panose="020B0907030504020204" charset="0"/>
            </a:endParaRPr>
          </a:p>
        </p:txBody>
      </p:sp>
      <p:pic>
        <p:nvPicPr>
          <p:cNvPr id="5" name="Image 1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92445" y="398780"/>
            <a:ext cx="25400" cy="584200"/>
          </a:xfrm>
          <a:prstGeom prst="rect">
            <a:avLst/>
          </a:prstGeom>
        </p:spPr>
      </p:pic>
      <p:pic>
        <p:nvPicPr>
          <p:cNvPr id="6" name="Image 2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92445" y="1234440"/>
            <a:ext cx="25400" cy="584200"/>
          </a:xfrm>
          <a:prstGeom prst="rect">
            <a:avLst/>
          </a:prstGeom>
        </p:spPr>
      </p:pic>
      <p:pic>
        <p:nvPicPr>
          <p:cNvPr id="7" name="Image 3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92445" y="2070100"/>
            <a:ext cx="25400" cy="584200"/>
          </a:xfrm>
          <a:prstGeom prst="rect">
            <a:avLst/>
          </a:prstGeom>
        </p:spPr>
      </p:pic>
      <p:pic>
        <p:nvPicPr>
          <p:cNvPr id="8" name="Image 4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92445" y="2905760"/>
            <a:ext cx="25400" cy="584200"/>
          </a:xfrm>
          <a:prstGeom prst="rect">
            <a:avLst/>
          </a:prstGeom>
        </p:spPr>
      </p:pic>
      <p:pic>
        <p:nvPicPr>
          <p:cNvPr id="11" name="Image 7" descr="https://test-kimi-img.moonshot.cn/pub/slides/slides_tmpl/image/25-08-11-17:27:30-d2crf0n0ctitcgma2e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325" y="2172335"/>
            <a:ext cx="3980815" cy="2121535"/>
          </a:xfrm>
          <a:prstGeom prst="rect">
            <a:avLst/>
          </a:prstGeom>
        </p:spPr>
      </p:pic>
      <p:pic>
        <p:nvPicPr>
          <p:cNvPr id="9" name="Image 5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92445" y="3741420"/>
            <a:ext cx="25400" cy="584200"/>
          </a:xfrm>
          <a:prstGeom prst="rect">
            <a:avLst/>
          </a:prstGeom>
        </p:spPr>
      </p:pic>
      <p:pic>
        <p:nvPicPr>
          <p:cNvPr id="10" name="Image 6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92445" y="4577080"/>
            <a:ext cx="25400" cy="584200"/>
          </a:xfrm>
          <a:prstGeom prst="rect">
            <a:avLst/>
          </a:prstGeom>
        </p:spPr>
      </p:pic>
      <p:pic>
        <p:nvPicPr>
          <p:cNvPr id="12" name="Image 8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500" y="344805"/>
            <a:ext cx="170180" cy="592455"/>
          </a:xfrm>
          <a:prstGeom prst="rect">
            <a:avLst/>
          </a:prstGeom>
        </p:spPr>
      </p:pic>
      <p:pic>
        <p:nvPicPr>
          <p:cNvPr id="13" name="Image 9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sp>
        <p:nvSpPr>
          <p:cNvPr id="14" name="Text 2"/>
          <p:cNvSpPr/>
          <p:nvPr>
            <p:custDataLst>
              <p:tags r:id="rId12"/>
            </p:custDataLst>
          </p:nvPr>
        </p:nvSpPr>
        <p:spPr>
          <a:xfrm>
            <a:off x="4606925" y="34163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01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15" name="Text 3"/>
          <p:cNvSpPr/>
          <p:nvPr>
            <p:custDataLst>
              <p:tags r:id="rId13"/>
            </p:custDataLst>
          </p:nvPr>
        </p:nvSpPr>
        <p:spPr>
          <a:xfrm>
            <a:off x="5673725" y="447040"/>
            <a:ext cx="55473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调研背景与总体目标</a:t>
            </a:r>
            <a:endParaRPr lang="zh-CN" altLang="en-US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sp>
        <p:nvSpPr>
          <p:cNvPr id="16" name="Text 4"/>
          <p:cNvSpPr/>
          <p:nvPr>
            <p:custDataLst>
              <p:tags r:id="rId14"/>
            </p:custDataLst>
          </p:nvPr>
        </p:nvSpPr>
        <p:spPr>
          <a:xfrm>
            <a:off x="4606925" y="117729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02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17" name="Text 5"/>
          <p:cNvSpPr/>
          <p:nvPr>
            <p:custDataLst>
              <p:tags r:id="rId15"/>
            </p:custDataLst>
          </p:nvPr>
        </p:nvSpPr>
        <p:spPr>
          <a:xfrm>
            <a:off x="5673725" y="1282700"/>
            <a:ext cx="55981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优化器决策依据</a:t>
            </a:r>
            <a:endParaRPr lang="zh-CN" altLang="en-US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sp>
        <p:nvSpPr>
          <p:cNvPr id="18" name="Text 6"/>
          <p:cNvSpPr/>
          <p:nvPr>
            <p:custDataLst>
              <p:tags r:id="rId16"/>
            </p:custDataLst>
          </p:nvPr>
        </p:nvSpPr>
        <p:spPr>
          <a:xfrm>
            <a:off x="4606925" y="201295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03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19" name="Text 7"/>
          <p:cNvSpPr/>
          <p:nvPr>
            <p:custDataLst>
              <p:tags r:id="rId17"/>
            </p:custDataLst>
          </p:nvPr>
        </p:nvSpPr>
        <p:spPr>
          <a:xfrm>
            <a:off x="5673725" y="2118360"/>
            <a:ext cx="55473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成本计算</a:t>
            </a:r>
            <a:endParaRPr lang="zh-CN" altLang="en-US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sp>
        <p:nvSpPr>
          <p:cNvPr id="20" name="Text 8"/>
          <p:cNvSpPr/>
          <p:nvPr>
            <p:custDataLst>
              <p:tags r:id="rId18"/>
            </p:custDataLst>
          </p:nvPr>
        </p:nvSpPr>
        <p:spPr>
          <a:xfrm>
            <a:off x="4606925" y="284861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04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21" name="Text 9"/>
          <p:cNvSpPr/>
          <p:nvPr>
            <p:custDataLst>
              <p:tags r:id="rId19"/>
            </p:custDataLst>
          </p:nvPr>
        </p:nvSpPr>
        <p:spPr>
          <a:xfrm>
            <a:off x="5673725" y="2954020"/>
            <a:ext cx="55981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Hint</a:t>
            </a: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机制</a:t>
            </a:r>
            <a:endParaRPr lang="zh-CN" altLang="en-US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sp>
        <p:nvSpPr>
          <p:cNvPr id="22" name="Text 10"/>
          <p:cNvSpPr/>
          <p:nvPr>
            <p:custDataLst>
              <p:tags r:id="rId20"/>
            </p:custDataLst>
          </p:nvPr>
        </p:nvSpPr>
        <p:spPr>
          <a:xfrm>
            <a:off x="4606925" y="368427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05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23" name="Text 11"/>
          <p:cNvSpPr/>
          <p:nvPr>
            <p:custDataLst>
              <p:tags r:id="rId21"/>
            </p:custDataLst>
          </p:nvPr>
        </p:nvSpPr>
        <p:spPr>
          <a:xfrm>
            <a:off x="5673725" y="3789680"/>
            <a:ext cx="55473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大表</a:t>
            </a:r>
            <a:r>
              <a:rPr lang="en-US" altLang="zh-CN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Join</a:t>
            </a:r>
            <a:endParaRPr lang="en-US" altLang="zh-CN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sp>
        <p:nvSpPr>
          <p:cNvPr id="24" name="Text 12"/>
          <p:cNvSpPr/>
          <p:nvPr>
            <p:custDataLst>
              <p:tags r:id="rId22"/>
            </p:custDataLst>
          </p:nvPr>
        </p:nvSpPr>
        <p:spPr>
          <a:xfrm>
            <a:off x="4606925" y="451993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06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25" name="Text 13"/>
          <p:cNvSpPr/>
          <p:nvPr>
            <p:custDataLst>
              <p:tags r:id="rId23"/>
            </p:custDataLst>
          </p:nvPr>
        </p:nvSpPr>
        <p:spPr>
          <a:xfrm>
            <a:off x="5673725" y="4625340"/>
            <a:ext cx="55981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  <a:sym typeface="+mn-ea"/>
              </a:rPr>
              <a:t>AI</a:t>
            </a: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  <a:sym typeface="+mn-ea"/>
              </a:rPr>
              <a:t>驱动统计信息</a:t>
            </a:r>
            <a:endParaRPr lang="zh-CN" altLang="en-US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  <a:sym typeface="+mn-ea"/>
            </a:endParaRPr>
          </a:p>
        </p:txBody>
      </p:sp>
      <p:sp>
        <p:nvSpPr>
          <p:cNvPr id="26" name="Text 12"/>
          <p:cNvSpPr/>
          <p:nvPr>
            <p:custDataLst>
              <p:tags r:id="rId24"/>
            </p:custDataLst>
          </p:nvPr>
        </p:nvSpPr>
        <p:spPr>
          <a:xfrm>
            <a:off x="4632325" y="522351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07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27" name="Text 12"/>
          <p:cNvSpPr/>
          <p:nvPr>
            <p:custDataLst>
              <p:tags r:id="rId25"/>
            </p:custDataLst>
          </p:nvPr>
        </p:nvSpPr>
        <p:spPr>
          <a:xfrm>
            <a:off x="4632325" y="592709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08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pic>
        <p:nvPicPr>
          <p:cNvPr id="2" name="Image 1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51805" y="5273675"/>
            <a:ext cx="25400" cy="584200"/>
          </a:xfrm>
          <a:prstGeom prst="rect">
            <a:avLst/>
          </a:prstGeom>
        </p:spPr>
      </p:pic>
      <p:sp>
        <p:nvSpPr>
          <p:cNvPr id="28" name="Text 3"/>
          <p:cNvSpPr/>
          <p:nvPr>
            <p:custDataLst>
              <p:tags r:id="rId27"/>
            </p:custDataLst>
          </p:nvPr>
        </p:nvSpPr>
        <p:spPr>
          <a:xfrm>
            <a:off x="5617845" y="5314315"/>
            <a:ext cx="55473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效率加速</a:t>
            </a:r>
            <a:endParaRPr lang="en-US" altLang="en-US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pic>
        <p:nvPicPr>
          <p:cNvPr id="29" name="Image 1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67045" y="5955030"/>
            <a:ext cx="25400" cy="584200"/>
          </a:xfrm>
          <a:prstGeom prst="rect">
            <a:avLst/>
          </a:prstGeom>
        </p:spPr>
      </p:pic>
      <p:sp>
        <p:nvSpPr>
          <p:cNvPr id="30" name="Text 3"/>
          <p:cNvSpPr/>
          <p:nvPr>
            <p:custDataLst>
              <p:tags r:id="rId29"/>
            </p:custDataLst>
          </p:nvPr>
        </p:nvSpPr>
        <p:spPr>
          <a:xfrm>
            <a:off x="5648325" y="6003290"/>
            <a:ext cx="55473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阶段总结与后续工作计划</a:t>
            </a:r>
            <a:endParaRPr lang="zh-CN" altLang="en-US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2106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01</a:t>
            </a:r>
            <a:endParaRPr lang="en-US" sz="8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2745105" y="2883535"/>
            <a:ext cx="7214870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调研背景与总体目标</a:t>
            </a: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  <a:p>
            <a:pPr algn="ctr">
              <a:lnSpc>
                <a:spcPct val="100000"/>
              </a:lnSpc>
            </a:pP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1085" y="1728470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71500" y="1838960"/>
            <a:ext cx="4909820" cy="3395980"/>
            <a:chOff x="900" y="4116"/>
            <a:chExt cx="8400" cy="4128"/>
          </a:xfrm>
        </p:grpSpPr>
        <p:pic>
          <p:nvPicPr>
            <p:cNvPr id="93" name="Google Shape;93;p14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00" y="4116"/>
              <a:ext cx="8400" cy="41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4"/>
            <p:cNvSpPr txBox="1"/>
            <p:nvPr/>
          </p:nvSpPr>
          <p:spPr>
            <a:xfrm>
              <a:off x="1365" y="4581"/>
              <a:ext cx="7843" cy="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74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38BDF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鲲鹏计算生态</a:t>
              </a:r>
              <a:endParaRPr 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1365" y="5421"/>
              <a:ext cx="7470" cy="21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在“硬件开放、软件开源”的战略背景下，数据库作为IT三大基础设施之一，正迎来国产化浪潮。openGauss 深度结合鲲鹏算力，旨在释放硬件的极致性能。</a:t>
              </a:r>
              <a:endPara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pic>
          <p:nvPicPr>
            <p:cNvPr id="98" name="Google Shape;98;p14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365" y="4656"/>
              <a:ext cx="327" cy="4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6494145" y="1838960"/>
            <a:ext cx="5334000" cy="3395980"/>
            <a:chOff x="9900" y="4116"/>
            <a:chExt cx="8400" cy="4128"/>
          </a:xfrm>
        </p:grpSpPr>
        <p:pic>
          <p:nvPicPr>
            <p:cNvPr id="94" name="Google Shape;94;p14" descr="image.png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9900" y="4116"/>
              <a:ext cx="8400" cy="41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4"/>
            <p:cNvSpPr txBox="1"/>
            <p:nvPr/>
          </p:nvSpPr>
          <p:spPr>
            <a:xfrm>
              <a:off x="10457" y="4444"/>
              <a:ext cx="7843" cy="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74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38BDF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openGauss 定位</a:t>
              </a:r>
              <a:endParaRPr 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pic>
          <p:nvPicPr>
            <p:cNvPr id="99" name="Google Shape;99;p14" descr="image.png"/>
            <p:cNvPicPr preferRelativeResize="0"/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10457" y="4598"/>
              <a:ext cx="235" cy="4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14"/>
            <p:cNvSpPr txBox="1"/>
            <p:nvPr>
              <p:custDataLst>
                <p:tags r:id="rId7"/>
              </p:custDataLst>
            </p:nvPr>
          </p:nvSpPr>
          <p:spPr>
            <a:xfrm>
              <a:off x="10575" y="5375"/>
              <a:ext cx="90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</a:t>
              </a:r>
              <a:endParaRPr lang="en-US" sz="135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01" name="Google Shape;101;p14"/>
            <p:cNvSpPr txBox="1"/>
            <p:nvPr>
              <p:custDataLst>
                <p:tags r:id="rId8"/>
              </p:custDataLst>
            </p:nvPr>
          </p:nvSpPr>
          <p:spPr>
            <a:xfrm>
              <a:off x="10665" y="5076"/>
              <a:ext cx="7170" cy="1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企业级开源：</a:t>
              </a:r>
              <a:r>
                <a:rPr lang="en-US" sz="18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高性能、高安全、易运维的关系型数据库。</a:t>
              </a:r>
              <a:endPara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02" name="Google Shape;102;p14"/>
            <p:cNvSpPr txBox="1"/>
            <p:nvPr>
              <p:custDataLst>
                <p:tags r:id="rId9"/>
              </p:custDataLst>
            </p:nvPr>
          </p:nvSpPr>
          <p:spPr>
            <a:xfrm>
              <a:off x="10575" y="6032"/>
              <a:ext cx="90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</a:t>
              </a:r>
              <a:endParaRPr lang="en-US" sz="135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03" name="Google Shape;103;p14"/>
            <p:cNvSpPr txBox="1"/>
            <p:nvPr>
              <p:custDataLst>
                <p:tags r:id="rId10"/>
              </p:custDataLst>
            </p:nvPr>
          </p:nvSpPr>
          <p:spPr>
            <a:xfrm>
              <a:off x="10665" y="6033"/>
              <a:ext cx="7170" cy="1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灵活部署：</a:t>
              </a:r>
              <a:r>
                <a:rPr lang="en-US" sz="18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支持基于 Shared-Nothing 的分布式与集中式部署形态。</a:t>
              </a:r>
              <a:endPara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04" name="Google Shape;104;p14"/>
            <p:cNvSpPr txBox="1"/>
            <p:nvPr>
              <p:custDataLst>
                <p:tags r:id="rId11"/>
              </p:custDataLst>
            </p:nvPr>
          </p:nvSpPr>
          <p:spPr>
            <a:xfrm>
              <a:off x="10575" y="7120"/>
              <a:ext cx="90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</a:t>
              </a:r>
              <a:endParaRPr lang="en-US" sz="135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05" name="Google Shape;105;p14"/>
            <p:cNvSpPr txBox="1"/>
            <p:nvPr>
              <p:custDataLst>
                <p:tags r:id="rId12"/>
              </p:custDataLst>
            </p:nvPr>
          </p:nvSpPr>
          <p:spPr>
            <a:xfrm>
              <a:off x="10665" y="7122"/>
              <a:ext cx="7170" cy="1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软硬协同：</a:t>
              </a:r>
              <a:r>
                <a:rPr lang="en-US" sz="18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针对多核架构的 NUMA-Aware 存储引擎优化。</a:t>
              </a:r>
              <a:endPara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106" name="Google Shape;106;p14"/>
          <p:cNvSpPr txBox="1"/>
          <p:nvPr/>
        </p:nvSpPr>
        <p:spPr>
          <a:xfrm>
            <a:off x="571500" y="396875"/>
            <a:ext cx="463804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</a:t>
            </a:r>
            <a:r>
              <a:rPr 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</a:t>
            </a:r>
            <a:endParaRPr lang="zh-CN" alt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/>
        </p:nvSpPr>
        <p:spPr>
          <a:xfrm>
            <a:off x="571500" y="762000"/>
            <a:ext cx="52006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查询优化框架</a:t>
            </a:r>
            <a:endParaRPr lang="zh-CN" alt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95630" y="1686560"/>
            <a:ext cx="3014345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</a:t>
            </a:r>
            <a:r>
              <a:rPr lang="zh-CN" alt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框架</a:t>
            </a:r>
            <a:endParaRPr lang="zh-CN" altLang="en-US" sz="21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95630" y="2110740"/>
            <a:ext cx="4953000" cy="1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openGauss 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继承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PostgreSQL 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的基于代价（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Cost-Based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）的查询优化框架，在此基础上加</a:t>
            </a:r>
            <a:r>
              <a:rPr lang="en-US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⼊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了更丰富的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Hint 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机制、扩展统计与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AI 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统计模型、以及向量化和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CodeGen 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等执</a:t>
            </a:r>
            <a:r>
              <a:rPr lang="en-US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⾏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加速技术。</a:t>
            </a:r>
            <a:endParaRPr lang="zh-CN" altLang="en-US" sz="16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95630" y="4062035"/>
            <a:ext cx="5200650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</a:t>
            </a:r>
            <a:r>
              <a:rPr lang="zh-CN" alt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改进</a:t>
            </a:r>
            <a:endParaRPr lang="zh-CN" altLang="en-US" sz="21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4480500"/>
            <a:ext cx="49530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openGauss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在此基础上加</a:t>
            </a:r>
            <a:r>
              <a:rPr lang="en-US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⼊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了更丰富的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Hint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机制、扩展统计与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AI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统计模型、以及向量化和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CodeGen 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等执</a:t>
            </a:r>
            <a:r>
              <a:rPr lang="en-US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⾏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加速技术。</a:t>
            </a:r>
            <a:endParaRPr lang="zh-CN" altLang="en-US" sz="16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971040" y="1731010"/>
            <a:ext cx="8431530" cy="3395980"/>
            <a:chOff x="900" y="4116"/>
            <a:chExt cx="8400" cy="4128"/>
          </a:xfrm>
        </p:grpSpPr>
        <p:pic>
          <p:nvPicPr>
            <p:cNvPr id="93" name="Google Shape;93;p14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00" y="4116"/>
              <a:ext cx="8400" cy="41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14"/>
            <p:cNvSpPr txBox="1"/>
            <p:nvPr/>
          </p:nvSpPr>
          <p:spPr>
            <a:xfrm>
              <a:off x="1365" y="4564"/>
              <a:ext cx="7470" cy="3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本调研旨在基于对优化器核心机制（路径枚举、代价计算及</a:t>
              </a:r>
              <a:r>
                <a:rPr lang="en-US" altLang="zh-CN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Hint/AI</a:t>
              </a:r>
              <a:r>
                <a:rPr lang="zh-CN" altLang="en-US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干预）的深度调研，开展针对性的性能与源码分析工作。在已厘清优化器决策依据与成本模型的基础上，下一步将重点转向实践验证：具体包括通过源码分析校验复杂</a:t>
              </a:r>
              <a:r>
                <a:rPr lang="en-US" altLang="zh-CN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Hint</a:t>
              </a:r>
              <a:r>
                <a:rPr lang="zh-CN" altLang="en-US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机制的有效性，评估大表</a:t>
              </a:r>
              <a:r>
                <a:rPr lang="en-US" altLang="zh-CN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JOIN</a:t>
              </a:r>
              <a:r>
                <a:rPr lang="zh-CN" altLang="en-US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场景下代价估算的精准度，以及深入测算</a:t>
              </a:r>
              <a:r>
                <a:rPr lang="en-US" altLang="zh-CN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CodeGen</a:t>
              </a:r>
              <a:r>
                <a:rPr lang="zh-CN" altLang="en-US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技术在</a:t>
              </a:r>
              <a:r>
                <a:rPr lang="en-US" altLang="zh-CN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openGauss</a:t>
              </a:r>
              <a:r>
                <a:rPr lang="zh-CN" altLang="en-US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中的实际性能提升，以全面评估并优化数据库执行效能。</a:t>
              </a:r>
              <a:endParaRPr lang="zh-CN" altLang="en-US" sz="1800" b="0" i="0" u="none" strike="noStrike" cap="non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106" name="Google Shape;106;p14"/>
          <p:cNvSpPr txBox="1"/>
          <p:nvPr/>
        </p:nvSpPr>
        <p:spPr>
          <a:xfrm>
            <a:off x="571500" y="396875"/>
            <a:ext cx="463804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调研目标</a:t>
            </a:r>
            <a:endParaRPr lang="zh-CN" alt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02</a:t>
            </a:r>
            <a:endParaRPr lang="en-US" sz="8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2745105" y="2883535"/>
            <a:ext cx="7214870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优化器决策依据</a:t>
            </a: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4360" y="1528445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201930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685800" y="2429192"/>
            <a:ext cx="5600700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SQL 到 Execution</a:t>
            </a:r>
            <a:endParaRPr lang="en-US" sz="32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0" name="Google Shape;130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96025" y="2028825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704850" y="3204210"/>
            <a:ext cx="5715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957580" y="3151822"/>
            <a:ext cx="5143500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 (Parser):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语法分析，生成逻辑树。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704850" y="3621375"/>
            <a:ext cx="5715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952500" y="3622327"/>
            <a:ext cx="5143500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重写 (Rewriter):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规则优化，如视图展开。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704850" y="4168775"/>
            <a:ext cx="20447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957580" y="4092832"/>
            <a:ext cx="514350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 (Planner):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核心环节</a:t>
            </a: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。基于成本模型 (CBO) 在庞大的搜索空间中寻找最优路径。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714375" y="4623435"/>
            <a:ext cx="156210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957580" y="5006538"/>
            <a:ext cx="5143500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 (Executor):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按照计划树执行算子。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查询处理流程</a:t>
            </a:r>
            <a:endParaRPr 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/>
        </p:nvSpPr>
        <p:spPr>
          <a:xfrm>
            <a:off x="685800" y="865505"/>
            <a:ext cx="3752850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重写</a:t>
            </a:r>
            <a:r>
              <a:rPr lang="zh-CN" alt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阶段的变换</a:t>
            </a:r>
            <a:endParaRPr lang="zh-CN" altLang="en-US" sz="28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6361430" y="836295"/>
            <a:ext cx="3041015" cy="45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基表访问路径</a:t>
            </a:r>
            <a:endParaRPr lang="en-US" sz="28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85800" y="1691640"/>
            <a:ext cx="4046855" cy="2207260"/>
            <a:chOff x="1200" y="4401"/>
            <a:chExt cx="8100" cy="3476"/>
          </a:xfrm>
        </p:grpSpPr>
        <p:sp>
          <p:nvSpPr>
            <p:cNvPr id="146" name="Google Shape;146;p18"/>
            <p:cNvSpPr txBox="1"/>
            <p:nvPr/>
          </p:nvSpPr>
          <p:spPr>
            <a:xfrm>
              <a:off x="1200" y="4401"/>
              <a:ext cx="6787" cy="1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通过等价变换简化查询结构，决定后续搜索空间的形态。</a:t>
              </a:r>
              <a:endPara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1200" y="5943"/>
              <a:ext cx="8100" cy="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谓词下推：</a:t>
              </a:r>
              <a:r>
                <a:rPr 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尽早过滤数据。</a:t>
              </a:r>
              <a:endPara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1200" y="6600"/>
              <a:ext cx="8100" cy="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子查询拉平：</a:t>
              </a:r>
              <a:r>
                <a:rPr 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将子查询转化为 Join。</a:t>
              </a:r>
              <a:endPara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1200" y="7257"/>
              <a:ext cx="8100" cy="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视图展开：</a:t>
              </a:r>
              <a:r>
                <a:rPr 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暴露基表供优化器选择。</a:t>
              </a:r>
              <a:endPara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161" name="Google Shape;161;p18"/>
          <p:cNvSpPr txBox="1"/>
          <p:nvPr/>
        </p:nvSpPr>
        <p:spPr>
          <a:xfrm>
            <a:off x="5389245" y="1527810"/>
            <a:ext cx="6286500" cy="343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noAutofit/>
          </a:bodyPr>
          <a:lstStyle/>
          <a:p>
            <a:pPr marL="0" marR="0" lvl="0" indent="0" algn="l" rtl="0" eaLnBrk="1" fontAlgn="auto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对每个基表或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⼦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查询，优化器会构造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⼀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RelOptInfo 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结构，记录该关系的多种访问路径（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Path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）。在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src/include/optimizer/cost.h 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中可以看到典型路径对应的代价函数原型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</a:t>
            </a:r>
            <a:endParaRPr lang="zh-CN" alt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 eaLnBrk="1" fontAlgn="auto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顺序扫描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(Seq Scan)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：全表扫描，每个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⻚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seq_page_cost 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计价；</a:t>
            </a:r>
            <a:endParaRPr lang="zh-CN" alt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 eaLnBrk="1" fontAlgn="auto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索引扫描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(Index Scan)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通过索引访问部分元组，同时考虑索引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⻚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与回表开销；</a:t>
            </a:r>
            <a:endParaRPr lang="zh-CN" alt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 eaLnBrk="1" fontAlgn="auto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Bitmap Heap Scan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先以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bitmap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形式定位候选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⾏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，再批量访问数据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⻚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，有利于减少随机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I/O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endParaRPr lang="zh-CN" alt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 eaLnBrk="1" fontAlgn="auto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列存扫描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(cstorescan)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针对列存表，单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⾏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CPU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成本相对更低。</a:t>
            </a:r>
            <a:endParaRPr lang="zh-CN" alt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 eaLnBrk="1" fontAlgn="auto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⼀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RelOptInfo 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下通常会存在多条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Path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，每条路径都会被填充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startup_cost 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和，后续在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JOIN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构造时，基于这些路径进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⾏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组合。</a:t>
            </a:r>
            <a:endParaRPr lang="zh-CN" alt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459105" y="207645"/>
            <a:ext cx="832866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逻辑重写与扫描路径</a:t>
            </a:r>
            <a:endParaRPr 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5082540"/>
            <a:ext cx="8770620" cy="17341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479327"/>
            <a:ext cx="3492549" cy="2889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4349799" y="2479327"/>
            <a:ext cx="3492549" cy="2889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8128099" y="2479327"/>
            <a:ext cx="3492549" cy="288979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>
            <p:custDataLst>
              <p:tags r:id="rId8"/>
            </p:custDataLst>
          </p:nvPr>
        </p:nvSpPr>
        <p:spPr>
          <a:xfrm>
            <a:off x="1534795" y="3488690"/>
            <a:ext cx="1816735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Hash Join</a:t>
            </a:r>
            <a:endParaRPr lang="en-US" sz="28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5" name="Google Shape;185;p20"/>
          <p:cNvSpPr txBox="1"/>
          <p:nvPr>
            <p:custDataLst>
              <p:tags r:id="rId9"/>
            </p:custDataLst>
          </p:nvPr>
        </p:nvSpPr>
        <p:spPr>
          <a:xfrm>
            <a:off x="866775" y="4108102"/>
            <a:ext cx="2901999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适用于大表关联，构建哈希表进行匹配。openGauss 对此进行了大量内存与并行优化。</a:t>
            </a:r>
            <a:endParaRPr lang="en-US" sz="16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6" name="Google Shape;186;p20"/>
          <p:cNvSpPr txBox="1"/>
          <p:nvPr>
            <p:custDataLst>
              <p:tags r:id="rId10"/>
            </p:custDataLst>
          </p:nvPr>
        </p:nvSpPr>
        <p:spPr>
          <a:xfrm>
            <a:off x="5134610" y="3488690"/>
            <a:ext cx="2036445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Nested Loop</a:t>
            </a:r>
            <a:endParaRPr lang="en-US" sz="28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7" name="Google Shape;187;p20"/>
          <p:cNvSpPr txBox="1"/>
          <p:nvPr>
            <p:custDataLst>
              <p:tags r:id="rId11"/>
            </p:custDataLst>
          </p:nvPr>
        </p:nvSpPr>
        <p:spPr>
          <a:xfrm>
            <a:off x="4645074" y="4108102"/>
            <a:ext cx="2901999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适用于小表驱动大表（且大表有索引）的场景，类似双层循环。</a:t>
            </a:r>
            <a:endParaRPr lang="en-US" sz="16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8" name="Google Shape;188;p20"/>
          <p:cNvSpPr txBox="1"/>
          <p:nvPr>
            <p:custDataLst>
              <p:tags r:id="rId12"/>
            </p:custDataLst>
          </p:nvPr>
        </p:nvSpPr>
        <p:spPr>
          <a:xfrm>
            <a:off x="8954770" y="3488690"/>
            <a:ext cx="1947545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Merge Join</a:t>
            </a:r>
            <a:endParaRPr lang="en-US" sz="28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9" name="Google Shape;189;p20"/>
          <p:cNvSpPr txBox="1"/>
          <p:nvPr>
            <p:custDataLst>
              <p:tags r:id="rId13"/>
            </p:custDataLst>
          </p:nvPr>
        </p:nvSpPr>
        <p:spPr>
          <a:xfrm>
            <a:off x="8423374" y="4108102"/>
            <a:ext cx="2901999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要求连接键有序。如果数据已经排序（如利用 B-Tree 索引），效率极高。</a:t>
            </a:r>
            <a:endParaRPr lang="en-US" sz="16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0" name="Google Shape;190;p20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2139850" y="2812702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17"/>
          <a:srcRect/>
          <a:stretch>
            <a:fillRect/>
          </a:stretch>
        </p:blipFill>
        <p:spPr>
          <a:xfrm>
            <a:off x="5918150" y="2812702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>
            <p:custDataLst>
              <p:tags r:id="rId18"/>
            </p:custDataLst>
          </p:nvPr>
        </p:nvPicPr>
        <p:blipFill rotWithShape="1">
          <a:blip r:embed="rId19"/>
          <a:srcRect/>
          <a:stretch>
            <a:fillRect/>
          </a:stretch>
        </p:blipFill>
        <p:spPr>
          <a:xfrm>
            <a:off x="9696450" y="2812702"/>
            <a:ext cx="3556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连接算法枚举</a:t>
            </a:r>
            <a:endParaRPr 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400050" y="1731010"/>
            <a:ext cx="11049000" cy="4387850"/>
            <a:chOff x="900" y="4229"/>
            <a:chExt cx="17400" cy="6910"/>
          </a:xfrm>
        </p:grpSpPr>
        <p:pic>
          <p:nvPicPr>
            <p:cNvPr id="199" name="Google Shape;199;p21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900" y="4229"/>
              <a:ext cx="8578" cy="6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21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9870" y="4229"/>
              <a:ext cx="8430" cy="69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21"/>
            <p:cNvSpPr txBox="1"/>
            <p:nvPr/>
          </p:nvSpPr>
          <p:spPr>
            <a:xfrm>
              <a:off x="1365" y="4694"/>
              <a:ext cx="7843" cy="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38BDF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搜索策略</a:t>
              </a:r>
              <a:endParaRPr 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02" name="Google Shape;202;p21"/>
            <p:cNvSpPr txBox="1"/>
            <p:nvPr/>
          </p:nvSpPr>
          <p:spPr>
            <a:xfrm>
              <a:off x="10365" y="4694"/>
              <a:ext cx="7843" cy="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38BDF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空间剪枝</a:t>
              </a:r>
              <a:endParaRPr 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04" name="Google Shape;204;p21"/>
            <p:cNvSpPr txBox="1"/>
            <p:nvPr>
              <p:custDataLst>
                <p:tags r:id="rId5"/>
              </p:custDataLst>
            </p:nvPr>
          </p:nvSpPr>
          <p:spPr>
            <a:xfrm>
              <a:off x="1170" y="5372"/>
              <a:ext cx="8232" cy="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对于多表连接，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openGauss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使用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“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动态规划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+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启发式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”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策略枚举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JOIN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顺序：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为每个基表构造初始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RelOptInfo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；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按照表集合的大小（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表、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2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表、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3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表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......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）自底向上，枚举所有可能子集；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对于每个子集，尝试将其拆分为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(outer, inner)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两部分，并基于不同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JOIN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算法生成候选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Path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；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为每个子集保留当前最优（总成本最低）的路径，避免重复计算。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08" name="Google Shape;208;p21"/>
            <p:cNvSpPr txBox="1"/>
            <p:nvPr>
              <p:custDataLst>
                <p:tags r:id="rId6"/>
              </p:custDataLst>
            </p:nvPr>
          </p:nvSpPr>
          <p:spPr>
            <a:xfrm>
              <a:off x="10365" y="5489"/>
              <a:ext cx="7170" cy="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为了防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⽌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搜索空间指数级膨胀，优化器采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⽤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多种剪枝策略：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对相同输出的多个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 Path 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只保留总代价最低者；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在外连接、半连接等存在语义顺序约束的情况下，跳过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⾮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法的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JOIN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顺序；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当某个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⼦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计划的代价远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⾼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于已有候选时提前淘汰，不再基于其扩展更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⼤⼦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集；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在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⼀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些复杂场景可启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⽤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遗传算法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GEQO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，对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JOIN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顺序进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⾏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近似搜索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⽽⾮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全量枚举。</a:t>
              </a:r>
              <a:endPara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214" name="Google Shape;214;p21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JOIN 顺序与剪枝策略</a:t>
            </a:r>
            <a:endParaRPr 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03</a:t>
            </a:r>
            <a:endParaRPr lang="en-US" sz="8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2745105" y="2883535"/>
            <a:ext cx="7214870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成本计算：数学模型、参数与统计信息</a:t>
            </a: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0165" y="1664335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/>
          <p:nvPr/>
        </p:nvSpPr>
        <p:spPr>
          <a:xfrm>
            <a:off x="571500" y="1270635"/>
            <a:ext cx="2852420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代价值建模</a:t>
            </a:r>
            <a:endParaRPr lang="en-US" sz="21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6286500" y="1268730"/>
            <a:ext cx="2687955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总成本公式</a:t>
            </a:r>
            <a:endParaRPr lang="en-US" sz="21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059805" y="2972435"/>
            <a:ext cx="5989320" cy="1622425"/>
            <a:chOff x="9900" y="5100"/>
            <a:chExt cx="8400" cy="2093"/>
          </a:xfrm>
        </p:grpSpPr>
        <p:pic>
          <p:nvPicPr>
            <p:cNvPr id="229" name="Google Shape;229;p23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900" y="5100"/>
              <a:ext cx="8400" cy="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3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900" y="6247"/>
              <a:ext cx="8400" cy="9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3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502" y="5415"/>
              <a:ext cx="3195" cy="3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1811" y="6562"/>
              <a:ext cx="4577" cy="3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2" name="Google Shape;232;p23"/>
          <p:cNvSpPr txBox="1"/>
          <p:nvPr/>
        </p:nvSpPr>
        <p:spPr>
          <a:xfrm>
            <a:off x="374015" y="1765935"/>
            <a:ext cx="4930775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src/include/optimizer/cost.h 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中定义了</a:t>
            </a:r>
            <a:r>
              <a:rPr lang="en-US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⼀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系列默认代价参数：</a:t>
            </a:r>
            <a:endParaRPr lang="zh-CN" altLang="en-US" sz="16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571500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</a:t>
            </a:r>
            <a:r>
              <a:rPr 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</a:t>
            </a:r>
            <a:r>
              <a:rPr lang="zh-CN" alt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</a:t>
            </a:r>
            <a:endParaRPr lang="zh-CN" alt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Google Shape;232;p23"/>
          <p:cNvSpPr txBox="1"/>
          <p:nvPr/>
        </p:nvSpPr>
        <p:spPr>
          <a:xfrm>
            <a:off x="6286500" y="1913255"/>
            <a:ext cx="553529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可以抽象把总代价写为：</a:t>
            </a:r>
            <a:endParaRPr lang="zh-CN" altLang="en-US" sz="16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620" y="2594610"/>
            <a:ext cx="5568315" cy="20942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61620" y="4933315"/>
            <a:ext cx="540321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eaLnBrk="1" fontAlgn="auto" latinLnBrk="1" hangingPunct="1"/>
            <a:r>
              <a:rPr lang="en-US" altLang="zh-CN" sz="16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这些参数对应：</a:t>
            </a:r>
            <a:endParaRPr lang="en-US" altLang="zh-CN" sz="16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eaLnBrk="1" fontAlgn="auto" latinLnBrk="1" hangingPunct="1"/>
            <a:r>
              <a:rPr lang="en-US" altLang="zh-CN" sz="16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I/O 成本： 顺序页 seq_page_cost 、随机页random_page_cost ；</a:t>
            </a:r>
            <a:endParaRPr lang="en-US" altLang="zh-CN" sz="16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eaLnBrk="1" fontAlgn="auto" latinLnBrk="1" hangingPunct="1"/>
            <a:r>
              <a:rPr lang="en-US" altLang="zh-CN" sz="16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CPU 成本： 处理一行的 cpu_tuple_cost 、处理一次索引元组的 cpu_index_tuple_cost 、执行一个算子/哈希运算的成本等；</a:t>
            </a:r>
            <a:endParaRPr lang="en-US" altLang="zh-CN" sz="16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eaLnBrk="1" fontAlgn="auto" latinLnBrk="1" hangingPunct="1"/>
            <a:r>
              <a:rPr lang="en-US" altLang="zh-CN" sz="16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内存与缓存： effective_cache_size 影响 I/O 命中率预估。</a:t>
            </a:r>
            <a:endParaRPr lang="en-US" altLang="zh-CN" sz="16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201930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 txBox="1"/>
          <p:nvPr/>
        </p:nvSpPr>
        <p:spPr>
          <a:xfrm>
            <a:off x="762000" y="1778000"/>
            <a:ext cx="392366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pg_statistic 系统表</a:t>
            </a:r>
            <a:endParaRPr lang="en-US" sz="24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52" name="Google Shape;252;p2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96025" y="1778000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>
            <p:custDataLst>
              <p:tags r:id="rId4"/>
            </p:custDataLst>
          </p:nvPr>
        </p:nvSpPr>
        <p:spPr>
          <a:xfrm>
            <a:off x="704850" y="3204210"/>
            <a:ext cx="57150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4" name="Google Shape;254;p24"/>
          <p:cNvSpPr txBox="1"/>
          <p:nvPr>
            <p:custDataLst>
              <p:tags r:id="rId5"/>
            </p:custDataLst>
          </p:nvPr>
        </p:nvSpPr>
        <p:spPr>
          <a:xfrm>
            <a:off x="762000" y="3205162"/>
            <a:ext cx="5143500" cy="34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直方图 (Histogram):</a:t>
            </a: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描述数据分布，处理范围查询。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5" name="Google Shape;255;p24"/>
          <p:cNvSpPr txBox="1"/>
          <p:nvPr>
            <p:custDataLst>
              <p:tags r:id="rId6"/>
            </p:custDataLst>
          </p:nvPr>
        </p:nvSpPr>
        <p:spPr>
          <a:xfrm>
            <a:off x="704850" y="3621375"/>
            <a:ext cx="57150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6" name="Google Shape;256;p24"/>
          <p:cNvSpPr txBox="1"/>
          <p:nvPr>
            <p:custDataLst>
              <p:tags r:id="rId7"/>
            </p:custDataLst>
          </p:nvPr>
        </p:nvSpPr>
        <p:spPr>
          <a:xfrm>
            <a:off x="762000" y="3622327"/>
            <a:ext cx="5143500" cy="34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最常见值 (MCV):</a:t>
            </a: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记录高频数据，处理等值查询偏斜。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7" name="Google Shape;257;p24"/>
          <p:cNvSpPr txBox="1"/>
          <p:nvPr>
            <p:custDataLst>
              <p:tags r:id="rId8"/>
            </p:custDataLst>
          </p:nvPr>
        </p:nvSpPr>
        <p:spPr>
          <a:xfrm>
            <a:off x="704850" y="4038540"/>
            <a:ext cx="57150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8" name="Google Shape;258;p24"/>
          <p:cNvSpPr txBox="1"/>
          <p:nvPr>
            <p:custDataLst>
              <p:tags r:id="rId9"/>
            </p:custDataLst>
          </p:nvPr>
        </p:nvSpPr>
        <p:spPr>
          <a:xfrm>
            <a:off x="762000" y="4039492"/>
            <a:ext cx="5143500" cy="34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扩展统计:</a:t>
            </a: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解决多列强相关性导致的估算偏差。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9" name="Google Shape;259;p24"/>
          <p:cNvSpPr txBox="1"/>
          <p:nvPr>
            <p:custDataLst>
              <p:tags r:id="rId10"/>
            </p:custDataLst>
          </p:nvPr>
        </p:nvSpPr>
        <p:spPr>
          <a:xfrm>
            <a:off x="704850" y="4455705"/>
            <a:ext cx="57150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0" name="Google Shape;260;p24"/>
          <p:cNvSpPr txBox="1"/>
          <p:nvPr>
            <p:custDataLst>
              <p:tags r:id="rId11"/>
            </p:custDataLst>
          </p:nvPr>
        </p:nvSpPr>
        <p:spPr>
          <a:xfrm>
            <a:off x="762000" y="4456658"/>
            <a:ext cx="5143500" cy="68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行数估算 (Cardinality):</a:t>
            </a: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代价模型的基石，利用 Logistic 函数平滑数据偏斜。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统计信息与估算</a:t>
            </a:r>
            <a:endParaRPr 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0" y="2295525"/>
            <a:ext cx="36302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openGauss </a:t>
            </a:r>
            <a:r>
              <a:rPr lang="zh-CN" altLang="en-US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利</a:t>
            </a:r>
            <a:r>
              <a:rPr lang="en-US" altLang="en-US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⽤</a:t>
            </a:r>
            <a:r>
              <a:rPr lang="zh-CN" altLang="en-US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系统表</a:t>
            </a:r>
            <a:r>
              <a:rPr lang="en-US" altLang="zh-CN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pg_statistic </a:t>
            </a:r>
            <a:r>
              <a:rPr lang="zh-CN" altLang="en-US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、</a:t>
            </a:r>
            <a:r>
              <a:rPr lang="en-US" altLang="zh-CN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pg_statistic_ext  </a:t>
            </a:r>
            <a:r>
              <a:rPr lang="zh-CN" altLang="en-US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存储列及多列统计信息</a:t>
            </a:r>
            <a:endParaRPr lang="zh-CN" altLang="en-US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07</a:t>
            </a:r>
            <a:endParaRPr lang="en-US" sz="8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86105" y="2883535"/>
            <a:ext cx="11351260" cy="2861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效率加速：</a:t>
            </a: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en-US" altLang="zh-CN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CodeGen</a:t>
            </a: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（</a:t>
            </a:r>
            <a:r>
              <a:rPr lang="en-US" altLang="zh-CN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CPLAN/GPLAN</a:t>
            </a: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）</a:t>
            </a: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与</a:t>
            </a:r>
            <a:r>
              <a:rPr lang="en-US" altLang="zh-CN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 Hint </a:t>
            </a:r>
            <a:r>
              <a:rPr lang="en-US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⼊⼝</a:t>
            </a:r>
            <a:endParaRPr lang="en-US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0165" y="1664335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08</a:t>
            </a:r>
            <a:endParaRPr lang="en-US" sz="8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678940" y="2883535"/>
            <a:ext cx="8940165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阶段总结与后续工作计划</a:t>
            </a: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0165" y="1664335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2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3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4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5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6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7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8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9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0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1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2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3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4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5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6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7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8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9.xml><?xml version="1.0" encoding="utf-8"?>
<p:tagLst xmlns:p="http://schemas.openxmlformats.org/presentationml/2006/main">
  <p:tag name="KSO_WM_DIAGRAM_VIRTUALLY_FRAME" val="{&quot;height&quot;:379.65,&quot;left&quot;:371.6,&quot;top&quot;:62.3,&quot;width&quot;:524.8}"/>
</p:tagLst>
</file>

<file path=ppt/tags/tag20.xml><?xml version="1.0" encoding="utf-8"?>
<p:tagLst xmlns:p="http://schemas.openxmlformats.org/presentationml/2006/main">
  <p:tag name="KSO_WM_DIAGRAM_VIRTUALLY_FRAME" val="{&quot;height&quot;:379.65,&quot;left&quot;:371.6,&quot;top&quot;:62.3,&quot;width&quot;:524.8}"/>
</p:tagLst>
</file>

<file path=ppt/tags/tag21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22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23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24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25.xml><?xml version="1.0" encoding="utf-8"?>
<p:tagLst xmlns:p="http://schemas.openxmlformats.org/presentationml/2006/main">
  <p:tag name="KSO_WM_DIAGRAM_VIRTUALLY_FRAME" val="{&quot;height&quot;:267.4,&quot;left&quot;:495,&quot;top&quot;:144.8,&quot;width&quot;:420}"/>
</p:tagLst>
</file>

<file path=ppt/tags/tag26.xml><?xml version="1.0" encoding="utf-8"?>
<p:tagLst xmlns:p="http://schemas.openxmlformats.org/presentationml/2006/main">
  <p:tag name="KSO_WM_DIAGRAM_VIRTUALLY_FRAME" val="{&quot;height&quot;:267.4,&quot;left&quot;:495,&quot;top&quot;:144.8,&quot;width&quot;:420}"/>
</p:tagLst>
</file>

<file path=ppt/tags/tag27.xml><?xml version="1.0" encoding="utf-8"?>
<p:tagLst xmlns:p="http://schemas.openxmlformats.org/presentationml/2006/main">
  <p:tag name="KSO_WM_DIAGRAM_VIRTUALLY_FRAME" val="{&quot;height&quot;:267.4,&quot;left&quot;:495,&quot;top&quot;:144.8,&quot;width&quot;:420}"/>
</p:tagLst>
</file>

<file path=ppt/tags/tag28.xml><?xml version="1.0" encoding="utf-8"?>
<p:tagLst xmlns:p="http://schemas.openxmlformats.org/presentationml/2006/main">
  <p:tag name="KSO_WM_DIAGRAM_VIRTUALLY_FRAME" val="{&quot;height&quot;:267.4,&quot;left&quot;:495,&quot;top&quot;:144.8,&quot;width&quot;:420}"/>
</p:tagLst>
</file>

<file path=ppt/tags/tag29.xml><?xml version="1.0" encoding="utf-8"?>
<p:tagLst xmlns:p="http://schemas.openxmlformats.org/presentationml/2006/main">
  <p:tag name="KSO_WM_DIAGRAM_VIRTUALLY_FRAME" val="{&quot;height&quot;:267.4,&quot;left&quot;:495,&quot;top&quot;:144.8,&quot;width&quot;:420}"/>
</p:tagLst>
</file>

<file path=ppt/tags/tag30.xml><?xml version="1.0" encoding="utf-8"?>
<p:tagLst xmlns:p="http://schemas.openxmlformats.org/presentationml/2006/main">
  <p:tag name="KSO_WM_DIAGRAM_VIRTUALLY_FRAME" val="{&quot;height&quot;:267.4,&quot;left&quot;:495,&quot;top&quot;:144.8,&quot;width&quot;:420}"/>
</p:tagLst>
</file>

<file path=ppt/tags/tag31.xml><?xml version="1.0" encoding="utf-8"?>
<p:tagLst xmlns:p="http://schemas.openxmlformats.org/presentationml/2006/main">
  <p:tag name="KSO_WM_DIAGRAM_VIRTUALLY_FRAME" val="{&quot;height&quot;:267.4,&quot;left&quot;:495,&quot;top&quot;:144.8,&quot;width&quot;:420}"/>
</p:tagLst>
</file>

<file path=ppt/tags/tag32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33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34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35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36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37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38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39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40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41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42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43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44.xml><?xml version="1.0" encoding="utf-8"?>
<p:tagLst xmlns:p="http://schemas.openxmlformats.org/presentationml/2006/main">
  <p:tag name="KSO_WM_DIAGRAM_VIRTUALLY_FRAME" val="{&quot;height&quot;:1311.6703149606299,&quot;left&quot;:31.5,&quot;top&quot;:136.27968503937,&quot;width&quot;:883.5}"/>
</p:tagLst>
</file>

<file path=ppt/tags/tag45.xml><?xml version="1.0" encoding="utf-8"?>
<p:tagLst xmlns:p="http://schemas.openxmlformats.org/presentationml/2006/main">
  <p:tag name="KSO_WM_DIAGRAM_VIRTUALLY_FRAME" val="{&quot;height&quot;:1311.6703149606299,&quot;left&quot;:31.5,&quot;top&quot;:136.27968503937,&quot;width&quot;:883.5}"/>
</p:tagLst>
</file>

<file path=ppt/tags/tag46.xml><?xml version="1.0" encoding="utf-8"?>
<p:tagLst xmlns:p="http://schemas.openxmlformats.org/presentationml/2006/main">
  <p:tag name="KSO_WM_DIAGRAM_VIRTUALLY_FRAME" val="{&quot;height&quot;:1311.6703149606299,&quot;left&quot;:31.5,&quot;top&quot;:136.27968503937,&quot;width&quot;:883.5}"/>
</p:tagLst>
</file>

<file path=ppt/tags/tag47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ags/tag48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ags/tag49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ags/tag50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ags/tag51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ags/tag52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ags/tag53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ags/tag54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2451</Words>
  <Application>WPS 演示</Application>
  <PresentationFormat>宽屏</PresentationFormat>
  <Paragraphs>214</Paragraphs>
  <Slides>16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Arial</vt:lpstr>
      <vt:lpstr>Calibri</vt:lpstr>
      <vt:lpstr>Noto Sans SC</vt:lpstr>
      <vt:lpstr>方正姚体</vt:lpstr>
      <vt:lpstr>Inter</vt:lpstr>
      <vt:lpstr>PMingLiU-ExtB</vt:lpstr>
      <vt:lpstr>Microsoft Sans Serif</vt:lpstr>
      <vt:lpstr>Microsoft Sans Serif</vt:lpstr>
      <vt:lpstr>Microsoft Sans Serif</vt:lpstr>
      <vt:lpstr>Eras Bold ITC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JL</cp:lastModifiedBy>
  <cp:revision>63</cp:revision>
  <dcterms:created xsi:type="dcterms:W3CDTF">2026-01-04T03:11:00Z</dcterms:created>
  <dcterms:modified xsi:type="dcterms:W3CDTF">2026-01-04T05:19:47Z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0A41435FE4014D67B384DC04E7EAC0ED_12</vt:lpwstr>
  </property>
  <property fmtid="{D5CDD505-2E9C-101B-9397-08002B2CF9AE}" pid="3" name="KSOProductBuildVer">
    <vt:lpwstr>2052-12.1.0.24034</vt:lpwstr>
  </property>
</Properties>
</file>