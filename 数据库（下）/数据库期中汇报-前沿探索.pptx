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2"/>
    <p:sldId id="315" r:id="rId3"/>
    <p:sldId id="32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52" userDrawn="1">
          <p15:clr>
            <a:srgbClr val="A4A3A4"/>
          </p15:clr>
        </p15:guide>
        <p15:guide id="2" orient="horz" pos="405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46" userDrawn="1">
          <p15:clr>
            <a:srgbClr val="A4A3A4"/>
          </p15:clr>
        </p15:guide>
        <p15:guide id="5" orient="horz" pos="22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C477"/>
    <a:srgbClr val="D9D9D9"/>
    <a:srgbClr val="D0D0D0"/>
    <a:srgbClr val="595959"/>
    <a:srgbClr val="FAD9A8"/>
    <a:srgbClr val="EB9A63"/>
    <a:srgbClr val="C57A0B"/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11" autoAdjust="0"/>
    <p:restoredTop sz="94693"/>
  </p:normalViewPr>
  <p:slideViewPr>
    <p:cSldViewPr snapToGrid="0" snapToObjects="1">
      <p:cViewPr varScale="1">
        <p:scale>
          <a:sx n="96" d="100"/>
          <a:sy n="96" d="100"/>
        </p:scale>
        <p:origin x="684" y="56"/>
      </p:cViewPr>
      <p:guideLst>
        <p:guide pos="3852"/>
        <p:guide orient="horz" pos="4050"/>
        <p:guide pos="192"/>
        <p:guide pos="7446"/>
        <p:guide orient="horz" pos="22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0AC5E-CE36-4F0C-8301-96AF3644489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4E607-AEEB-4417-854A-F00F8BF048F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54E607-AEEB-4417-854A-F00F8BF048F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C02D-C491-6E55-781F-E00F87D22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A46D0D-305D-9E9B-6ABD-8E654C61D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6DD6BF-91D4-4B5E-921E-A5F0D4D0A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7BFE6-8B91-1710-C762-6C2F0E44D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54E607-AEEB-4417-854A-F00F8BF048F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849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2D05-D575-19EE-472D-3A7094C0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9B2AFF-B6F1-90F6-B20C-A7672211E7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ADFCE8-F455-FD71-F0EF-64F5A9E59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0899B1-4586-6F16-B1F9-4F52684F87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54E607-AEEB-4417-854A-F00F8BF048F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68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0103" y="-110349"/>
            <a:ext cx="12332104" cy="6974018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" name="椭圆 2"/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F7C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燕尾形 3"/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椭圆 5"/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F7C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燕尾形 6"/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5698182" y="6460182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" name="椭圆 2"/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F7C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燕尾形 3"/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5698182" y="-397818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椭圆 5"/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F7C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燕尾形 6"/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3" y="258233"/>
            <a:ext cx="5370495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7" y="5989475"/>
            <a:ext cx="227222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kumimoji="1" lang="en-US" altLang="zh-CN" sz="1600" b="1" dirty="0"/>
              <a:t>LOGO&amp;PIC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字体使用 </a:t>
            </a: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行距</a:t>
            </a: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背景图片出处</a:t>
            </a: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英文 </a:t>
            </a:r>
            <a:r>
              <a:rPr lang="is-IS" altLang="zh-CN" sz="1400" dirty="0">
                <a:solidFill>
                  <a:srgbClr val="FFFFFF"/>
                </a:solidFill>
                <a:latin typeface="Segoe UI Light" panose="020B0502040204020203"/>
                <a:cs typeface="Segoe UI Light" panose="020B0502040204020203"/>
              </a:rPr>
              <a:t>Microsoft YaHei</a:t>
            </a:r>
            <a:endParaRPr lang="zh-CN" altLang="en-US" sz="1400" dirty="0">
              <a:solidFill>
                <a:srgbClr val="FFFFFF"/>
              </a:solidFill>
              <a:latin typeface="Segoe UI Light" panose="020B0502040204020203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中文 微软雅黑</a:t>
            </a: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正文 </a:t>
            </a:r>
            <a:r>
              <a:rPr lang="en-US" altLang="zh-CN" sz="1400" dirty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1.3</a:t>
            </a: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en-US" altLang="zh-CN" sz="1400" dirty="0" err="1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cn.bing.com</a:t>
            </a:r>
            <a:endParaRPr lang="zh-CN" altLang="en-US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algn="l" defTabSz="6096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微软雅黑" panose="020B0503020204020204" charset="-122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>
                <a:solidFill>
                  <a:prstClr val="white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prstClr val="white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9600"/>
            <a:r>
              <a:rPr kumimoji="1" lang="zh-CN" altLang="en-US" sz="1335" dirty="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rPr>
              <a:t>点击</a:t>
            </a:r>
            <a:r>
              <a:rPr kumimoji="1" lang="en-US" altLang="zh-CN" sz="1335" dirty="0">
                <a:solidFill>
                  <a:srgbClr val="000000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Logo</a:t>
            </a:r>
            <a:r>
              <a:rPr kumimoji="1" lang="zh-CN" altLang="en-US" sz="1335" dirty="0">
                <a:solidFill>
                  <a:srgbClr val="000000"/>
                </a:solidFill>
                <a:latin typeface="Century Gothic" panose="020B0502020202020204"/>
                <a:ea typeface="微软雅黑" panose="020B0503020204020204" charset="-122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\Users\Administrator\Desktop\同济图片\微信图片_202006091459403.jpg微信图片_202006091459403"/>
          <p:cNvPicPr>
            <a:picLocks noChangeAspect="1"/>
          </p:cNvPicPr>
          <p:nvPr/>
        </p:nvPicPr>
        <p:blipFill rotWithShape="1">
          <a:blip r:embed="rId3"/>
          <a:srcRect t="24591"/>
          <a:stretch>
            <a:fillRect/>
          </a:stretch>
        </p:blipFill>
        <p:spPr>
          <a:xfrm>
            <a:off x="-635" y="-7620"/>
            <a:ext cx="12192635" cy="6895465"/>
          </a:xfrm>
          <a:prstGeom prst="rect">
            <a:avLst/>
          </a:prstGeom>
        </p:spPr>
      </p:pic>
      <p:sp>
        <p:nvSpPr>
          <p:cNvPr id="5" name="等腰三角形 4"/>
          <p:cNvSpPr/>
          <p:nvPr/>
        </p:nvSpPr>
        <p:spPr>
          <a:xfrm rot="16200000">
            <a:off x="3453772" y="-1803228"/>
            <a:ext cx="5106656" cy="12369800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88900" dist="38100" dir="10800000" sx="106000" sy="106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等腰三角形 5"/>
          <p:cNvSpPr/>
          <p:nvPr/>
        </p:nvSpPr>
        <p:spPr>
          <a:xfrm rot="5400000">
            <a:off x="1884519" y="-1884517"/>
            <a:ext cx="2649978" cy="6419013"/>
          </a:xfrm>
          <a:prstGeom prst="triangle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41300" dist="38100" dir="2700000" sx="107000" sy="107000" algn="tl" rotWithShape="0">
              <a:prstClr val="black">
                <a:alpha val="6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607677" y="4555281"/>
            <a:ext cx="63242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6000" b="1" dirty="0"/>
              <a:t>前沿探索中期汇报</a:t>
            </a:r>
            <a:endParaRPr lang="en-US" altLang="zh-CN" sz="6000" b="1" dirty="0"/>
          </a:p>
        </p:txBody>
      </p:sp>
      <p:sp>
        <p:nvSpPr>
          <p:cNvPr id="16" name="矩形 15"/>
          <p:cNvSpPr/>
          <p:nvPr/>
        </p:nvSpPr>
        <p:spPr>
          <a:xfrm>
            <a:off x="7055724" y="5752758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+mj-ea"/>
                <a:ea typeface="+mj-ea"/>
              </a:rPr>
              <a:t>组员：冯灏然，刘佳鑫，徐华炫，毛星博</a:t>
            </a:r>
            <a:endParaRPr lang="en-US" altLang="zh-CN" sz="2000" dirty="0">
              <a:latin typeface="+mj-ea"/>
              <a:ea typeface="+mj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687596" y="16171683"/>
            <a:ext cx="10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8964453" y="2892197"/>
            <a:ext cx="296747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b="1" dirty="0">
                <a:solidFill>
                  <a:srgbClr val="F7C4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20</a:t>
            </a:r>
            <a:r>
              <a:rPr lang="en-US" sz="8800" b="1" dirty="0">
                <a:solidFill>
                  <a:srgbClr val="F7C4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25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9126538" y="4188567"/>
            <a:ext cx="2730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5698182" y="3840973"/>
            <a:ext cx="795635" cy="795635"/>
            <a:chOff x="5641559" y="8807588"/>
            <a:chExt cx="1430611" cy="143061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7" name="椭圆 26"/>
            <p:cNvSpPr/>
            <p:nvPr/>
          </p:nvSpPr>
          <p:spPr>
            <a:xfrm>
              <a:off x="5641559" y="8807588"/>
              <a:ext cx="1430611" cy="1430611"/>
            </a:xfrm>
            <a:prstGeom prst="ellipse">
              <a:avLst/>
            </a:prstGeom>
            <a:solidFill>
              <a:srgbClr val="F7C4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燕尾形 27"/>
            <p:cNvSpPr/>
            <p:nvPr/>
          </p:nvSpPr>
          <p:spPr>
            <a:xfrm rot="5400000">
              <a:off x="6158444" y="9076922"/>
              <a:ext cx="396837" cy="891949"/>
            </a:xfrm>
            <a:prstGeom prst="chevron">
              <a:avLst>
                <a:gd name="adj" fmla="val 4145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 descr="C:\Users\Administrator\Desktop\同济图片\图片2.png图片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87960" y="1905"/>
            <a:ext cx="1971675" cy="197675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AA5C-D0CB-EC6A-62AF-037A88F0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A6C8BA98-FDDD-7B28-C264-F4009EF9A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0" t="27698" r="-11452" b="16706"/>
          <a:stretch>
            <a:fillRect/>
          </a:stretch>
        </p:blipFill>
        <p:spPr>
          <a:xfrm>
            <a:off x="11044235" y="2380479"/>
            <a:ext cx="414903" cy="2097041"/>
          </a:xfrm>
          <a:custGeom>
            <a:avLst/>
            <a:gdLst>
              <a:gd name="connsiteX0" fmla="*/ 0 w 414903"/>
              <a:gd name="connsiteY0" fmla="*/ 0 h 2097041"/>
              <a:gd name="connsiteX1" fmla="*/ 414903 w 414903"/>
              <a:gd name="connsiteY1" fmla="*/ 0 h 2097041"/>
              <a:gd name="connsiteX2" fmla="*/ 93412 w 414903"/>
              <a:gd name="connsiteY2" fmla="*/ 2097041 h 2097041"/>
              <a:gd name="connsiteX3" fmla="*/ 0 w 414903"/>
              <a:gd name="connsiteY3" fmla="*/ 2097041 h 2097041"/>
              <a:gd name="connsiteX4" fmla="*/ 0 w 414903"/>
              <a:gd name="connsiteY4" fmla="*/ 0 h 2097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903" h="2097041">
                <a:moveTo>
                  <a:pt x="0" y="0"/>
                </a:moveTo>
                <a:lnTo>
                  <a:pt x="414903" y="0"/>
                </a:lnTo>
                <a:lnTo>
                  <a:pt x="93412" y="2097041"/>
                </a:lnTo>
                <a:lnTo>
                  <a:pt x="0" y="209704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07FF9A90-1CE5-5BA5-2225-742A456142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696" t="28523" r="100000" b="12829"/>
          <a:stretch>
            <a:fillRect/>
          </a:stretch>
        </p:blipFill>
        <p:spPr>
          <a:xfrm>
            <a:off x="6961135" y="2411601"/>
            <a:ext cx="459977" cy="2212132"/>
          </a:xfrm>
          <a:custGeom>
            <a:avLst/>
            <a:gdLst>
              <a:gd name="connsiteX0" fmla="*/ 286659 w 459977"/>
              <a:gd name="connsiteY0" fmla="*/ 0 h 2212132"/>
              <a:gd name="connsiteX1" fmla="*/ 459977 w 459977"/>
              <a:gd name="connsiteY1" fmla="*/ 0 h 2212132"/>
              <a:gd name="connsiteX2" fmla="*/ 459977 w 459977"/>
              <a:gd name="connsiteY2" fmla="*/ 2212132 h 2212132"/>
              <a:gd name="connsiteX3" fmla="*/ 0 w 459977"/>
              <a:gd name="connsiteY3" fmla="*/ 2212132 h 2212132"/>
              <a:gd name="connsiteX4" fmla="*/ 286659 w 459977"/>
              <a:gd name="connsiteY4" fmla="*/ 0 h 221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977" h="2212132">
                <a:moveTo>
                  <a:pt x="286659" y="0"/>
                </a:moveTo>
                <a:lnTo>
                  <a:pt x="459977" y="0"/>
                </a:lnTo>
                <a:lnTo>
                  <a:pt x="459977" y="2212132"/>
                </a:lnTo>
                <a:lnTo>
                  <a:pt x="0" y="2212132"/>
                </a:lnTo>
                <a:lnTo>
                  <a:pt x="286659" y="0"/>
                </a:lnTo>
                <a:close/>
              </a:path>
            </a:pathLst>
          </a:cu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CB28F85-9697-B597-8BFC-422DC6D30A28}"/>
              </a:ext>
            </a:extLst>
          </p:cNvPr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488D448-3F24-0BFD-EAA2-BD22D8FE0D21}"/>
              </a:ext>
            </a:extLst>
          </p:cNvPr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9600978-0D8E-F5EF-9823-7065AB658474}"/>
              </a:ext>
            </a:extLst>
          </p:cNvPr>
          <p:cNvSpPr/>
          <p:nvPr/>
        </p:nvSpPr>
        <p:spPr>
          <a:xfrm>
            <a:off x="-503582" y="326726"/>
            <a:ext cx="44693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与上学期的差异</a:t>
            </a:r>
          </a:p>
        </p:txBody>
      </p:sp>
      <p:pic>
        <p:nvPicPr>
          <p:cNvPr id="2" name="图片 1" descr="C:\Users\Administrator\Desktop\同济图片\图片2.png图片2">
            <a:extLst>
              <a:ext uri="{FF2B5EF4-FFF2-40B4-BE49-F238E27FC236}">
                <a16:creationId xmlns:a16="http://schemas.microsoft.com/office/drawing/2014/main" id="{C46CDE10-018B-47BF-6EAB-3349749CAA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101388" y="204470"/>
            <a:ext cx="1087755" cy="1090930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038BDAAA-2F4B-17BF-AFA9-4D5BDF9DC6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61" t="51417" r="100000" b="46042"/>
          <a:stretch>
            <a:fillRect/>
          </a:stretch>
        </p:blipFill>
        <p:spPr>
          <a:xfrm>
            <a:off x="7010387" y="3244338"/>
            <a:ext cx="27504" cy="110016"/>
          </a:xfrm>
          <a:custGeom>
            <a:avLst/>
            <a:gdLst>
              <a:gd name="connsiteX0" fmla="*/ 27504 w 27504"/>
              <a:gd name="connsiteY0" fmla="*/ 0 h 110016"/>
              <a:gd name="connsiteX1" fmla="*/ 27504 w 27504"/>
              <a:gd name="connsiteY1" fmla="*/ 110016 h 110016"/>
              <a:gd name="connsiteX2" fmla="*/ 0 w 27504"/>
              <a:gd name="connsiteY2" fmla="*/ 110016 h 110016"/>
              <a:gd name="connsiteX3" fmla="*/ 27504 w 27504"/>
              <a:gd name="connsiteY3" fmla="*/ 0 h 1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04" h="110016">
                <a:moveTo>
                  <a:pt x="27504" y="0"/>
                </a:moveTo>
                <a:lnTo>
                  <a:pt x="27504" y="110016"/>
                </a:lnTo>
                <a:lnTo>
                  <a:pt x="0" y="110016"/>
                </a:lnTo>
                <a:lnTo>
                  <a:pt x="27504" y="0"/>
                </a:lnTo>
                <a:close/>
              </a:path>
            </a:pathLst>
          </a:cu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CB9D57DD-A641-0C0F-08E0-44CE457E8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0" t="64767" r="-360" b="33848"/>
          <a:stretch>
            <a:fillRect/>
          </a:stretch>
        </p:blipFill>
        <p:spPr>
          <a:xfrm>
            <a:off x="11196775" y="3822368"/>
            <a:ext cx="14984" cy="59936"/>
          </a:xfrm>
          <a:custGeom>
            <a:avLst/>
            <a:gdLst>
              <a:gd name="connsiteX0" fmla="*/ 0 w 14984"/>
              <a:gd name="connsiteY0" fmla="*/ 0 h 59936"/>
              <a:gd name="connsiteX1" fmla="*/ 14984 w 14984"/>
              <a:gd name="connsiteY1" fmla="*/ 0 h 59936"/>
              <a:gd name="connsiteX2" fmla="*/ 0 w 14984"/>
              <a:gd name="connsiteY2" fmla="*/ 59936 h 59936"/>
              <a:gd name="connsiteX3" fmla="*/ 0 w 14984"/>
              <a:gd name="connsiteY3" fmla="*/ 0 h 5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4" h="59936">
                <a:moveTo>
                  <a:pt x="0" y="0"/>
                </a:moveTo>
                <a:lnTo>
                  <a:pt x="14984" y="0"/>
                </a:lnTo>
                <a:lnTo>
                  <a:pt x="0" y="5993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69D57248-44FB-005A-E291-96E15B9AC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283" t="82992" r="100000" b="8238"/>
          <a:stretch>
            <a:fillRect/>
          </a:stretch>
        </p:blipFill>
        <p:spPr>
          <a:xfrm>
            <a:off x="6942959" y="4611438"/>
            <a:ext cx="94932" cy="379728"/>
          </a:xfrm>
          <a:custGeom>
            <a:avLst/>
            <a:gdLst>
              <a:gd name="connsiteX0" fmla="*/ 94932 w 94932"/>
              <a:gd name="connsiteY0" fmla="*/ 0 h 379728"/>
              <a:gd name="connsiteX1" fmla="*/ 94932 w 94932"/>
              <a:gd name="connsiteY1" fmla="*/ 379728 h 379728"/>
              <a:gd name="connsiteX2" fmla="*/ 0 w 94932"/>
              <a:gd name="connsiteY2" fmla="*/ 379728 h 379728"/>
              <a:gd name="connsiteX3" fmla="*/ 94932 w 94932"/>
              <a:gd name="connsiteY3" fmla="*/ 0 h 379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932" h="379728">
                <a:moveTo>
                  <a:pt x="94932" y="0"/>
                </a:moveTo>
                <a:lnTo>
                  <a:pt x="94932" y="379728"/>
                </a:lnTo>
                <a:lnTo>
                  <a:pt x="0" y="379728"/>
                </a:lnTo>
                <a:lnTo>
                  <a:pt x="94932" y="0"/>
                </a:lnTo>
                <a:close/>
              </a:path>
            </a:pathLst>
          </a:cu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B46A4F6-D944-9E15-0BCD-66088FD230F2}"/>
              </a:ext>
            </a:extLst>
          </p:cNvPr>
          <p:cNvSpPr/>
          <p:nvPr/>
        </p:nvSpPr>
        <p:spPr>
          <a:xfrm>
            <a:off x="417252" y="1019547"/>
            <a:ext cx="106841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上学期的探索报告主要侧重于</a:t>
            </a:r>
            <a:r>
              <a:rPr lang="en-US" altLang="zh-CN" dirty="0"/>
              <a:t> </a:t>
            </a:r>
            <a:r>
              <a:rPr lang="en-US" altLang="zh-CN" dirty="0" err="1"/>
              <a:t>openGauss</a:t>
            </a:r>
            <a:r>
              <a:rPr lang="en-US" altLang="zh-CN" dirty="0"/>
              <a:t> </a:t>
            </a:r>
            <a:r>
              <a:rPr lang="zh-CN" altLang="zh-CN" dirty="0"/>
              <a:t>系统架构总览 、</a:t>
            </a:r>
            <a:r>
              <a:rPr lang="en-US" altLang="zh-CN" dirty="0"/>
              <a:t>SQL </a:t>
            </a:r>
            <a:r>
              <a:rPr lang="zh-CN" altLang="zh-CN" dirty="0"/>
              <a:t>语句在不同模块（解析、优化、执行）之间的数据结构流转以及关键函数的调用入口。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zh-CN" altLang="zh-CN" dirty="0"/>
              <a:t>本次前沿探索的目标是超越对</a:t>
            </a:r>
            <a:r>
              <a:rPr lang="en-US" altLang="zh-CN" dirty="0"/>
              <a:t> </a:t>
            </a:r>
            <a:r>
              <a:rPr lang="en-US" altLang="zh-CN" dirty="0" err="1"/>
              <a:t>openGauss</a:t>
            </a:r>
            <a:r>
              <a:rPr lang="en-US" altLang="zh-CN" dirty="0"/>
              <a:t> </a:t>
            </a:r>
            <a:r>
              <a:rPr lang="zh-CN" altLang="zh-CN" dirty="0"/>
              <a:t>查询流程的宏观理解，深入挖掘 查询优化器（</a:t>
            </a:r>
            <a:r>
              <a:rPr lang="en-US" altLang="zh-CN" dirty="0"/>
              <a:t>Optimizer</a:t>
            </a:r>
            <a:r>
              <a:rPr lang="zh-CN" altLang="zh-CN" dirty="0"/>
              <a:t>） 的核心机制，尤其关注其从逻辑到物理计划的转换过程，以及基于代价模型的决策依据 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A3889D-EA85-D55A-4790-BD2E52E6B26B}"/>
              </a:ext>
            </a:extLst>
          </p:cNvPr>
          <p:cNvSpPr/>
          <p:nvPr/>
        </p:nvSpPr>
        <p:spPr>
          <a:xfrm>
            <a:off x="59636" y="2606964"/>
            <a:ext cx="44693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本次探索重点研究方向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85EBEC-711B-E3B4-E22C-5D71B8162DDE}"/>
              </a:ext>
            </a:extLst>
          </p:cNvPr>
          <p:cNvSpPr txBox="1"/>
          <p:nvPr/>
        </p:nvSpPr>
        <p:spPr>
          <a:xfrm>
            <a:off x="417252" y="3224351"/>
            <a:ext cx="1158259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本次中期报告阶段，我们集中资源完成以下三个深度探索方向，以理解优化器的工作原理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	</a:t>
            </a:r>
          </a:p>
          <a:p>
            <a:r>
              <a:rPr lang="zh-CN" altLang="en-US" dirty="0"/>
              <a:t>决策依据： 探索优化器是如何枚举出所有可能的执行路线（如不同的连接顺序、不同的扫描方式）的。 </a:t>
            </a:r>
          </a:p>
          <a:p>
            <a:endParaRPr lang="zh-CN" altLang="en-US" dirty="0"/>
          </a:p>
          <a:p>
            <a:r>
              <a:rPr lang="zh-CN" altLang="en-US" dirty="0"/>
              <a:t>成本计算： 揭示优化器计算每条路线成本的数学模型，以及 Hint（提示）和 AI 驱动的统计信息是如何干预和修正这个计算结果的。 </a:t>
            </a:r>
          </a:p>
          <a:p>
            <a:endParaRPr lang="zh-CN" altLang="en-US" dirty="0"/>
          </a:p>
          <a:p>
            <a:r>
              <a:rPr lang="zh-CN" altLang="en-US" dirty="0"/>
              <a:t>效率加速： 理解 openGauss 如何利用代码生成（CodeGen）技术，将关键的计算表达式实时编译成机器码，提升执行速度。</a:t>
            </a:r>
          </a:p>
        </p:txBody>
      </p:sp>
    </p:spTree>
    <p:extLst>
      <p:ext uri="{BB962C8B-B14F-4D97-AF65-F5344CB8AC3E}">
        <p14:creationId xmlns:p14="http://schemas.microsoft.com/office/powerpoint/2010/main" val="158707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FB577-6516-92B8-7B24-D3F8B45B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AA595DF9-8D51-DFB6-BF1A-3E60C3970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0" t="27698" r="-11452" b="16706"/>
          <a:stretch>
            <a:fillRect/>
          </a:stretch>
        </p:blipFill>
        <p:spPr>
          <a:xfrm>
            <a:off x="11044235" y="2380479"/>
            <a:ext cx="414903" cy="2097041"/>
          </a:xfrm>
          <a:custGeom>
            <a:avLst/>
            <a:gdLst>
              <a:gd name="connsiteX0" fmla="*/ 0 w 414903"/>
              <a:gd name="connsiteY0" fmla="*/ 0 h 2097041"/>
              <a:gd name="connsiteX1" fmla="*/ 414903 w 414903"/>
              <a:gd name="connsiteY1" fmla="*/ 0 h 2097041"/>
              <a:gd name="connsiteX2" fmla="*/ 93412 w 414903"/>
              <a:gd name="connsiteY2" fmla="*/ 2097041 h 2097041"/>
              <a:gd name="connsiteX3" fmla="*/ 0 w 414903"/>
              <a:gd name="connsiteY3" fmla="*/ 2097041 h 2097041"/>
              <a:gd name="connsiteX4" fmla="*/ 0 w 414903"/>
              <a:gd name="connsiteY4" fmla="*/ 0 h 2097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903" h="2097041">
                <a:moveTo>
                  <a:pt x="0" y="0"/>
                </a:moveTo>
                <a:lnTo>
                  <a:pt x="414903" y="0"/>
                </a:lnTo>
                <a:lnTo>
                  <a:pt x="93412" y="2097041"/>
                </a:lnTo>
                <a:lnTo>
                  <a:pt x="0" y="209704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CF8CAD9-0BA9-2AFE-7EDA-3D2AC8787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2696" t="28523" r="100000" b="12829"/>
          <a:stretch>
            <a:fillRect/>
          </a:stretch>
        </p:blipFill>
        <p:spPr>
          <a:xfrm>
            <a:off x="6961135" y="2411601"/>
            <a:ext cx="459977" cy="2212132"/>
          </a:xfrm>
          <a:custGeom>
            <a:avLst/>
            <a:gdLst>
              <a:gd name="connsiteX0" fmla="*/ 286659 w 459977"/>
              <a:gd name="connsiteY0" fmla="*/ 0 h 2212132"/>
              <a:gd name="connsiteX1" fmla="*/ 459977 w 459977"/>
              <a:gd name="connsiteY1" fmla="*/ 0 h 2212132"/>
              <a:gd name="connsiteX2" fmla="*/ 459977 w 459977"/>
              <a:gd name="connsiteY2" fmla="*/ 2212132 h 2212132"/>
              <a:gd name="connsiteX3" fmla="*/ 0 w 459977"/>
              <a:gd name="connsiteY3" fmla="*/ 2212132 h 2212132"/>
              <a:gd name="connsiteX4" fmla="*/ 286659 w 459977"/>
              <a:gd name="connsiteY4" fmla="*/ 0 h 221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977" h="2212132">
                <a:moveTo>
                  <a:pt x="286659" y="0"/>
                </a:moveTo>
                <a:lnTo>
                  <a:pt x="459977" y="0"/>
                </a:lnTo>
                <a:lnTo>
                  <a:pt x="459977" y="2212132"/>
                </a:lnTo>
                <a:lnTo>
                  <a:pt x="0" y="2212132"/>
                </a:lnTo>
                <a:lnTo>
                  <a:pt x="286659" y="0"/>
                </a:lnTo>
                <a:close/>
              </a:path>
            </a:pathLst>
          </a:cu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2AC8020-19D7-B81A-D351-3DC868CA2813}"/>
              </a:ext>
            </a:extLst>
          </p:cNvPr>
          <p:cNvCxnSpPr/>
          <p:nvPr/>
        </p:nvCxnSpPr>
        <p:spPr>
          <a:xfrm>
            <a:off x="0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C7BF6A1-A548-1033-F8AC-14B24D2B2B4F}"/>
              </a:ext>
            </a:extLst>
          </p:cNvPr>
          <p:cNvCxnSpPr/>
          <p:nvPr/>
        </p:nvCxnSpPr>
        <p:spPr>
          <a:xfrm flipH="1">
            <a:off x="6614858" y="203485"/>
            <a:ext cx="5577142" cy="0"/>
          </a:xfrm>
          <a:prstGeom prst="straightConnector1">
            <a:avLst/>
          </a:prstGeom>
          <a:ln w="15875" cmpd="thickThin">
            <a:solidFill>
              <a:schemeClr val="tx1">
                <a:lumMod val="75000"/>
                <a:lumOff val="25000"/>
              </a:schemeClr>
            </a:solidFill>
            <a:headEnd type="none" w="lg" len="lg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F9EB051B-4036-AD07-BB63-11802C6A2C4F}"/>
              </a:ext>
            </a:extLst>
          </p:cNvPr>
          <p:cNvSpPr/>
          <p:nvPr/>
        </p:nvSpPr>
        <p:spPr>
          <a:xfrm>
            <a:off x="4755743" y="1140082"/>
            <a:ext cx="44693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中期之后的探索方向</a:t>
            </a:r>
          </a:p>
        </p:txBody>
      </p:sp>
      <p:pic>
        <p:nvPicPr>
          <p:cNvPr id="2" name="图片 1" descr="C:\Users\Administrator\Desktop\同济图片\图片2.png图片2">
            <a:extLst>
              <a:ext uri="{FF2B5EF4-FFF2-40B4-BE49-F238E27FC236}">
                <a16:creationId xmlns:a16="http://schemas.microsoft.com/office/drawing/2014/main" id="{350BFA3F-E5CA-D7EE-012A-33376B58FC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101388" y="204470"/>
            <a:ext cx="1087755" cy="1090930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B78D3C66-50FB-A7CA-3825-A12787EE2D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61" t="51417" r="100000" b="46042"/>
          <a:stretch>
            <a:fillRect/>
          </a:stretch>
        </p:blipFill>
        <p:spPr>
          <a:xfrm>
            <a:off x="7010387" y="3244338"/>
            <a:ext cx="27504" cy="110016"/>
          </a:xfrm>
          <a:custGeom>
            <a:avLst/>
            <a:gdLst>
              <a:gd name="connsiteX0" fmla="*/ 27504 w 27504"/>
              <a:gd name="connsiteY0" fmla="*/ 0 h 110016"/>
              <a:gd name="connsiteX1" fmla="*/ 27504 w 27504"/>
              <a:gd name="connsiteY1" fmla="*/ 110016 h 110016"/>
              <a:gd name="connsiteX2" fmla="*/ 0 w 27504"/>
              <a:gd name="connsiteY2" fmla="*/ 110016 h 110016"/>
              <a:gd name="connsiteX3" fmla="*/ 27504 w 27504"/>
              <a:gd name="connsiteY3" fmla="*/ 0 h 11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04" h="110016">
                <a:moveTo>
                  <a:pt x="27504" y="0"/>
                </a:moveTo>
                <a:lnTo>
                  <a:pt x="27504" y="110016"/>
                </a:lnTo>
                <a:lnTo>
                  <a:pt x="0" y="110016"/>
                </a:lnTo>
                <a:lnTo>
                  <a:pt x="27504" y="0"/>
                </a:lnTo>
                <a:close/>
              </a:path>
            </a:pathLst>
          </a:cu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1101EACB-DB5E-4916-A5DB-B6BB527D1A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000" t="64767" r="-360" b="33848"/>
          <a:stretch>
            <a:fillRect/>
          </a:stretch>
        </p:blipFill>
        <p:spPr>
          <a:xfrm>
            <a:off x="11196775" y="3822368"/>
            <a:ext cx="14984" cy="59936"/>
          </a:xfrm>
          <a:custGeom>
            <a:avLst/>
            <a:gdLst>
              <a:gd name="connsiteX0" fmla="*/ 0 w 14984"/>
              <a:gd name="connsiteY0" fmla="*/ 0 h 59936"/>
              <a:gd name="connsiteX1" fmla="*/ 14984 w 14984"/>
              <a:gd name="connsiteY1" fmla="*/ 0 h 59936"/>
              <a:gd name="connsiteX2" fmla="*/ 0 w 14984"/>
              <a:gd name="connsiteY2" fmla="*/ 59936 h 59936"/>
              <a:gd name="connsiteX3" fmla="*/ 0 w 14984"/>
              <a:gd name="connsiteY3" fmla="*/ 0 h 59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4" h="59936">
                <a:moveTo>
                  <a:pt x="0" y="0"/>
                </a:moveTo>
                <a:lnTo>
                  <a:pt x="14984" y="0"/>
                </a:lnTo>
                <a:lnTo>
                  <a:pt x="0" y="5993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E75D4CE8-E7B8-C6AF-76B4-A36D0F0198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283" t="82992" r="100000" b="8238"/>
          <a:stretch>
            <a:fillRect/>
          </a:stretch>
        </p:blipFill>
        <p:spPr>
          <a:xfrm>
            <a:off x="6942959" y="4611438"/>
            <a:ext cx="94932" cy="379728"/>
          </a:xfrm>
          <a:custGeom>
            <a:avLst/>
            <a:gdLst>
              <a:gd name="connsiteX0" fmla="*/ 94932 w 94932"/>
              <a:gd name="connsiteY0" fmla="*/ 0 h 379728"/>
              <a:gd name="connsiteX1" fmla="*/ 94932 w 94932"/>
              <a:gd name="connsiteY1" fmla="*/ 379728 h 379728"/>
              <a:gd name="connsiteX2" fmla="*/ 0 w 94932"/>
              <a:gd name="connsiteY2" fmla="*/ 379728 h 379728"/>
              <a:gd name="connsiteX3" fmla="*/ 94932 w 94932"/>
              <a:gd name="connsiteY3" fmla="*/ 0 h 379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932" h="379728">
                <a:moveTo>
                  <a:pt x="94932" y="0"/>
                </a:moveTo>
                <a:lnTo>
                  <a:pt x="94932" y="379728"/>
                </a:lnTo>
                <a:lnTo>
                  <a:pt x="0" y="379728"/>
                </a:lnTo>
                <a:lnTo>
                  <a:pt x="94932" y="0"/>
                </a:lnTo>
                <a:close/>
              </a:path>
            </a:pathLst>
          </a:cu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9C8CED2-1249-3507-854C-0845D5634FE5}"/>
              </a:ext>
            </a:extLst>
          </p:cNvPr>
          <p:cNvSpPr/>
          <p:nvPr/>
        </p:nvSpPr>
        <p:spPr>
          <a:xfrm>
            <a:off x="5354004" y="2203682"/>
            <a:ext cx="674523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下一步我们将把重心转向实践验证和复杂场景分析：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zh-CN" altLang="zh-CN" dirty="0"/>
              <a:t>复杂</a:t>
            </a:r>
            <a:r>
              <a:rPr lang="en-US" altLang="zh-CN" dirty="0"/>
              <a:t> Hint </a:t>
            </a:r>
            <a:r>
              <a:rPr lang="zh-CN" altLang="zh-CN" dirty="0"/>
              <a:t>机制的源码验证： 选取一个强制使用低效</a:t>
            </a:r>
            <a:r>
              <a:rPr lang="en-US" altLang="zh-CN" dirty="0"/>
              <a:t> Join </a:t>
            </a:r>
            <a:r>
              <a:rPr lang="zh-CN" altLang="zh-CN" dirty="0"/>
              <a:t>算法的</a:t>
            </a:r>
            <a:r>
              <a:rPr lang="en-US" altLang="zh-CN" dirty="0"/>
              <a:t> Hint</a:t>
            </a:r>
            <a:r>
              <a:rPr lang="zh-CN" altLang="zh-CN" dirty="0"/>
              <a:t>，跟踪其从解析</a:t>
            </a:r>
            <a:r>
              <a:rPr lang="en-US" altLang="zh-CN" dirty="0"/>
              <a:t> (parse_hint.cpp) </a:t>
            </a:r>
            <a:r>
              <a:rPr lang="zh-CN" altLang="zh-CN" dirty="0"/>
              <a:t>到规划</a:t>
            </a:r>
            <a:r>
              <a:rPr lang="en-US" altLang="zh-CN" dirty="0"/>
              <a:t> (planner) </a:t>
            </a:r>
            <a:r>
              <a:rPr lang="zh-CN" altLang="zh-CN" dirty="0"/>
              <a:t>的完整流程，验证</a:t>
            </a:r>
            <a:r>
              <a:rPr lang="en-US" altLang="zh-CN" dirty="0"/>
              <a:t> Hint </a:t>
            </a:r>
            <a:r>
              <a:rPr lang="zh-CN" altLang="zh-CN" dirty="0"/>
              <a:t>是如何覆盖优化器默认的最小成本决策。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zh-CN" altLang="zh-CN" dirty="0"/>
              <a:t>大表</a:t>
            </a:r>
            <a:r>
              <a:rPr lang="en-US" altLang="zh-CN" dirty="0"/>
              <a:t> JOIN </a:t>
            </a:r>
            <a:r>
              <a:rPr lang="zh-CN" altLang="zh-CN" dirty="0"/>
              <a:t>的代价模型对比： 选取一个大数据量的</a:t>
            </a:r>
            <a:r>
              <a:rPr lang="en-US" altLang="zh-CN" dirty="0"/>
              <a:t> JOIN </a:t>
            </a:r>
            <a:r>
              <a:rPr lang="zh-CN" altLang="zh-CN" dirty="0"/>
              <a:t>查询，通过调试器获取优化器为</a:t>
            </a:r>
            <a:r>
              <a:rPr lang="en-US" altLang="zh-CN" dirty="0"/>
              <a:t> Hash Join </a:t>
            </a:r>
            <a:r>
              <a:rPr lang="zh-CN" altLang="zh-CN" dirty="0"/>
              <a:t>和</a:t>
            </a:r>
            <a:r>
              <a:rPr lang="en-US" altLang="zh-CN" dirty="0"/>
              <a:t> Nest Loop </a:t>
            </a:r>
            <a:r>
              <a:rPr lang="zh-CN" altLang="zh-CN" dirty="0"/>
              <a:t>计算出的原始代价估算值，并对比其与实际执行时间的差异，从而评估优化器代价模型的准确性。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BDC9AB-F897-A589-1E44-419D236B9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23" y="2044168"/>
            <a:ext cx="47625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chemeClr val="bg1">
                <a:lumMod val="85000"/>
              </a:schemeClr>
            </a:gs>
            <a:gs pos="3000">
              <a:schemeClr val="bg1">
                <a:lumMod val="75000"/>
              </a:schemeClr>
            </a:gs>
          </a:gsLst>
          <a:lin ang="5400000" scaled="1"/>
          <a:tileRect/>
        </a:gradFill>
        <a:ln>
          <a:solidFill>
            <a:schemeClr val="bg1">
              <a:lumMod val="95000"/>
            </a:schemeClr>
          </a:solidFill>
        </a:ln>
        <a:effectLst>
          <a:innerShdw blurRad="63500" dist="50800" dir="16200000">
            <a:prstClr val="black">
              <a:alpha val="50000"/>
            </a:prstClr>
          </a:inn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484</TotalTime>
  <Words>359</Words>
  <Application>Microsoft Office PowerPoint</Application>
  <PresentationFormat>宽屏</PresentationFormat>
  <Paragraphs>24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黑体</vt:lpstr>
      <vt:lpstr>微软雅黑</vt:lpstr>
      <vt:lpstr>Arial</vt:lpstr>
      <vt:lpstr>Century Gothic</vt:lpstr>
      <vt:lpstr>Segoe UI Light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公众号pptnew</dc:title>
  <dc:subject>公众号pptnew</dc:subject>
  <dc:creator>公众号pptnew</dc:creator>
  <cp:keywords>公众号pptnew</cp:keywords>
  <dc:description>公众号pptnew</dc:description>
  <cp:lastModifiedBy>佳鑫 刘</cp:lastModifiedBy>
  <cp:revision>97</cp:revision>
  <dcterms:created xsi:type="dcterms:W3CDTF">2015-08-18T02:51:00Z</dcterms:created>
  <dcterms:modified xsi:type="dcterms:W3CDTF">2025-11-21T11:57:41Z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500FCA3118954330B68F0A3070764B39_12</vt:lpwstr>
  </property>
</Properties>
</file>