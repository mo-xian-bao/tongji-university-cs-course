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309" r:id="rId3"/>
    <p:sldId id="31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269" r:id="rId24"/>
    <p:sldId id="270" r:id="rId25"/>
    <p:sldId id="272" r:id="rId26"/>
    <p:sldId id="273" r:id="rId27"/>
    <p:sldId id="308" r:id="rId28"/>
    <p:sldId id="279" r:id="rId29"/>
    <p:sldId id="280" r:id="rId30"/>
    <p:sldId id="274" r:id="rId31"/>
    <p:sldId id="281" r:id="rId32"/>
    <p:sldId id="285" r:id="rId33"/>
    <p:sldId id="286" r:id="rId34"/>
    <p:sldId id="275" r:id="rId35"/>
    <p:sldId id="276" r:id="rId36"/>
    <p:sldId id="307" r:id="rId37"/>
    <p:sldId id="277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E9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2025">
              <a:alpha val="95000"/>
            </a:srgbClr>
          </a:solidFill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2025">
              <a:alpha val="95000"/>
            </a:srgbClr>
          </a:solidFill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2025">
              <a:alpha val="95000"/>
            </a:srgbClr>
          </a:solidFill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2025">
              <a:alpha val="95000"/>
            </a:srgbClr>
          </a:solidFill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2025">
              <a:alpha val="95000"/>
            </a:srgbClr>
          </a:solidFill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2025">
              <a:alpha val="95000"/>
            </a:srgbClr>
          </a:solidFill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2025">
              <a:alpha val="95000"/>
            </a:srgbClr>
          </a:solidFill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2025">
              <a:alpha val="95000"/>
            </a:srgbClr>
          </a:solidFill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2025">
              <a:alpha val="95000"/>
            </a:srgbClr>
          </a:solidFill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2025">
              <a:alpha val="95000"/>
            </a:srgbClr>
          </a:solidFill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2025">
              <a:alpha val="95000"/>
            </a:srgbClr>
          </a:solidFill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2025">
              <a:alpha val="95000"/>
            </a:srgbClr>
          </a:solidFill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2025">
              <a:alpha val="95000"/>
            </a:srgbClr>
          </a:solidFill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2025">
              <a:alpha val="95000"/>
            </a:srgbClr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13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2.png"/><Relationship Id="rId25" Type="http://schemas.openxmlformats.org/officeDocument/2006/relationships/notesSlide" Target="../notesSlides/notesSlide2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18.xml"/><Relationship Id="rId22" Type="http://schemas.openxmlformats.org/officeDocument/2006/relationships/tags" Target="../tags/tag17.xml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openxmlformats.org/officeDocument/2006/relationships/tags" Target="../tags/tag1.xml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6.png"/><Relationship Id="rId10" Type="http://schemas.openxmlformats.org/officeDocument/2006/relationships/image" Target="../media/image7.png"/><Relationship Id="rId1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18.png"/><Relationship Id="rId3" Type="http://schemas.openxmlformats.org/officeDocument/2006/relationships/tags" Target="../tags/tag20.xml"/><Relationship Id="rId28" Type="http://schemas.openxmlformats.org/officeDocument/2006/relationships/notesSlide" Target="../notesSlides/notesSlide4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42.xml"/><Relationship Id="rId25" Type="http://schemas.openxmlformats.org/officeDocument/2006/relationships/tags" Target="../tags/tag41.xml"/><Relationship Id="rId24" Type="http://schemas.openxmlformats.org/officeDocument/2006/relationships/tags" Target="../tags/tag40.xml"/><Relationship Id="rId23" Type="http://schemas.openxmlformats.org/officeDocument/2006/relationships/tags" Target="../tags/tag39.xml"/><Relationship Id="rId22" Type="http://schemas.openxmlformats.org/officeDocument/2006/relationships/tags" Target="../tags/tag38.xml"/><Relationship Id="rId21" Type="http://schemas.openxmlformats.org/officeDocument/2006/relationships/tags" Target="../tags/tag37.xml"/><Relationship Id="rId20" Type="http://schemas.openxmlformats.org/officeDocument/2006/relationships/tags" Target="../tags/tag36.xml"/><Relationship Id="rId2" Type="http://schemas.openxmlformats.org/officeDocument/2006/relationships/tags" Target="../tags/tag19.xml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6" Type="http://schemas.openxmlformats.org/officeDocument/2006/relationships/notesSlide" Target="../notesSlides/notesSlide8.xml"/><Relationship Id="rId45" Type="http://schemas.openxmlformats.org/officeDocument/2006/relationships/slideLayout" Target="../slideLayouts/slideLayout1.xml"/><Relationship Id="rId44" Type="http://schemas.openxmlformats.org/officeDocument/2006/relationships/tags" Target="../tags/tag105.xml"/><Relationship Id="rId43" Type="http://schemas.openxmlformats.org/officeDocument/2006/relationships/tags" Target="../tags/tag104.xml"/><Relationship Id="rId42" Type="http://schemas.openxmlformats.org/officeDocument/2006/relationships/tags" Target="../tags/tag103.xml"/><Relationship Id="rId41" Type="http://schemas.openxmlformats.org/officeDocument/2006/relationships/tags" Target="../tags/tag102.xml"/><Relationship Id="rId40" Type="http://schemas.openxmlformats.org/officeDocument/2006/relationships/tags" Target="../tags/tag101.xml"/><Relationship Id="rId4" Type="http://schemas.openxmlformats.org/officeDocument/2006/relationships/tags" Target="../tags/tag65.xml"/><Relationship Id="rId39" Type="http://schemas.openxmlformats.org/officeDocument/2006/relationships/tags" Target="../tags/tag100.xml"/><Relationship Id="rId38" Type="http://schemas.openxmlformats.org/officeDocument/2006/relationships/tags" Target="../tags/tag99.xml"/><Relationship Id="rId37" Type="http://schemas.openxmlformats.org/officeDocument/2006/relationships/tags" Target="../tags/tag98.xml"/><Relationship Id="rId36" Type="http://schemas.openxmlformats.org/officeDocument/2006/relationships/tags" Target="../tags/tag97.xml"/><Relationship Id="rId35" Type="http://schemas.openxmlformats.org/officeDocument/2006/relationships/tags" Target="../tags/tag96.xml"/><Relationship Id="rId34" Type="http://schemas.openxmlformats.org/officeDocument/2006/relationships/tags" Target="../tags/tag95.xml"/><Relationship Id="rId33" Type="http://schemas.openxmlformats.org/officeDocument/2006/relationships/tags" Target="../tags/tag94.xml"/><Relationship Id="rId32" Type="http://schemas.openxmlformats.org/officeDocument/2006/relationships/tags" Target="../tags/tag93.xml"/><Relationship Id="rId31" Type="http://schemas.openxmlformats.org/officeDocument/2006/relationships/tags" Target="../tags/tag92.xml"/><Relationship Id="rId30" Type="http://schemas.openxmlformats.org/officeDocument/2006/relationships/tags" Target="../tags/tag91.xml"/><Relationship Id="rId3" Type="http://schemas.openxmlformats.org/officeDocument/2006/relationships/tags" Target="../tags/tag64.xml"/><Relationship Id="rId29" Type="http://schemas.openxmlformats.org/officeDocument/2006/relationships/tags" Target="../tags/tag90.xml"/><Relationship Id="rId28" Type="http://schemas.openxmlformats.org/officeDocument/2006/relationships/tags" Target="../tags/tag89.xml"/><Relationship Id="rId27" Type="http://schemas.openxmlformats.org/officeDocument/2006/relationships/tags" Target="../tags/tag88.xml"/><Relationship Id="rId26" Type="http://schemas.openxmlformats.org/officeDocument/2006/relationships/tags" Target="../tags/tag87.xml"/><Relationship Id="rId25" Type="http://schemas.openxmlformats.org/officeDocument/2006/relationships/tags" Target="../tags/tag86.xml"/><Relationship Id="rId24" Type="http://schemas.openxmlformats.org/officeDocument/2006/relationships/tags" Target="../tags/tag85.xml"/><Relationship Id="rId23" Type="http://schemas.openxmlformats.org/officeDocument/2006/relationships/tags" Target="../tags/tag84.xml"/><Relationship Id="rId22" Type="http://schemas.openxmlformats.org/officeDocument/2006/relationships/tags" Target="../tags/tag83.xml"/><Relationship Id="rId21" Type="http://schemas.openxmlformats.org/officeDocument/2006/relationships/tags" Target="../tags/tag82.xml"/><Relationship Id="rId20" Type="http://schemas.openxmlformats.org/officeDocument/2006/relationships/tags" Target="../tags/tag81.xml"/><Relationship Id="rId2" Type="http://schemas.openxmlformats.org/officeDocument/2006/relationships/image" Target="../media/image18.png"/><Relationship Id="rId19" Type="http://schemas.openxmlformats.org/officeDocument/2006/relationships/tags" Target="../tags/tag80.xml"/><Relationship Id="rId18" Type="http://schemas.openxmlformats.org/officeDocument/2006/relationships/tags" Target="../tags/tag79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8" Type="http://schemas.openxmlformats.org/officeDocument/2006/relationships/notesSlide" Target="../notesSlides/notesSlide9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121.xml"/><Relationship Id="rId15" Type="http://schemas.openxmlformats.org/officeDocument/2006/relationships/tags" Target="../tags/tag120.xml"/><Relationship Id="rId14" Type="http://schemas.openxmlformats.org/officeDocument/2006/relationships/tags" Target="../tags/tag119.xml"/><Relationship Id="rId13" Type="http://schemas.openxmlformats.org/officeDocument/2006/relationships/tags" Target="../tags/tag118.xml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tags" Target="../tags/tag10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13.xml"/><Relationship Id="rId11" Type="http://schemas.openxmlformats.org/officeDocument/2006/relationships/image" Target="../media/image20.png"/><Relationship Id="rId10" Type="http://schemas.openxmlformats.org/officeDocument/2006/relationships/tags" Target="../tags/tag131.xml"/><Relationship Id="rId1" Type="http://schemas.openxmlformats.org/officeDocument/2006/relationships/tags" Target="../tags/tag12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14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tags" Target="../tags/tag13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153.xml"/><Relationship Id="rId1" Type="http://schemas.openxmlformats.org/officeDocument/2006/relationships/tags" Target="../tags/tag14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3" Type="http://schemas.openxmlformats.org/officeDocument/2006/relationships/notesSlide" Target="../notesSlides/notesSlide17.xml"/><Relationship Id="rId12" Type="http://schemas.openxmlformats.org/officeDocument/2006/relationships/slideLayout" Target="../slideLayouts/slideLayout9.xml"/><Relationship Id="rId11" Type="http://schemas.openxmlformats.org/officeDocument/2006/relationships/image" Target="../media/image27.png"/><Relationship Id="rId10" Type="http://schemas.openxmlformats.org/officeDocument/2006/relationships/tags" Target="../tags/tag162.xml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3" Type="http://schemas.openxmlformats.org/officeDocument/2006/relationships/notesSlide" Target="../notesSlides/notesSlide20.xml"/><Relationship Id="rId32" Type="http://schemas.openxmlformats.org/officeDocument/2006/relationships/slideLayout" Target="../slideLayouts/slideLayout11.xml"/><Relationship Id="rId31" Type="http://schemas.openxmlformats.org/officeDocument/2006/relationships/tags" Target="../tags/tag187.xml"/><Relationship Id="rId30" Type="http://schemas.openxmlformats.org/officeDocument/2006/relationships/tags" Target="../tags/tag186.xml"/><Relationship Id="rId3" Type="http://schemas.openxmlformats.org/officeDocument/2006/relationships/tags" Target="../tags/tag165.xml"/><Relationship Id="rId29" Type="http://schemas.openxmlformats.org/officeDocument/2006/relationships/image" Target="../media/image34.svg"/><Relationship Id="rId28" Type="http://schemas.openxmlformats.org/officeDocument/2006/relationships/tags" Target="../tags/tag185.xml"/><Relationship Id="rId27" Type="http://schemas.openxmlformats.org/officeDocument/2006/relationships/tags" Target="../tags/tag184.xml"/><Relationship Id="rId26" Type="http://schemas.openxmlformats.org/officeDocument/2006/relationships/tags" Target="../tags/tag183.xml"/><Relationship Id="rId25" Type="http://schemas.openxmlformats.org/officeDocument/2006/relationships/tags" Target="../tags/tag182.xml"/><Relationship Id="rId24" Type="http://schemas.openxmlformats.org/officeDocument/2006/relationships/tags" Target="../tags/tag181.xml"/><Relationship Id="rId23" Type="http://schemas.openxmlformats.org/officeDocument/2006/relationships/image" Target="../media/image33.svg"/><Relationship Id="rId22" Type="http://schemas.openxmlformats.org/officeDocument/2006/relationships/tags" Target="../tags/tag180.xml"/><Relationship Id="rId21" Type="http://schemas.openxmlformats.org/officeDocument/2006/relationships/tags" Target="../tags/tag179.xml"/><Relationship Id="rId20" Type="http://schemas.openxmlformats.org/officeDocument/2006/relationships/tags" Target="../tags/tag178.xml"/><Relationship Id="rId2" Type="http://schemas.openxmlformats.org/officeDocument/2006/relationships/tags" Target="../tags/tag164.xml"/><Relationship Id="rId19" Type="http://schemas.openxmlformats.org/officeDocument/2006/relationships/tags" Target="../tags/tag177.xml"/><Relationship Id="rId18" Type="http://schemas.openxmlformats.org/officeDocument/2006/relationships/tags" Target="../tags/tag176.xml"/><Relationship Id="rId17" Type="http://schemas.openxmlformats.org/officeDocument/2006/relationships/image" Target="../media/image32.svg"/><Relationship Id="rId16" Type="http://schemas.openxmlformats.org/officeDocument/2006/relationships/tags" Target="../tags/tag175.xml"/><Relationship Id="rId15" Type="http://schemas.openxmlformats.org/officeDocument/2006/relationships/tags" Target="../tags/tag174.xml"/><Relationship Id="rId14" Type="http://schemas.openxmlformats.org/officeDocument/2006/relationships/tags" Target="../tags/tag173.xml"/><Relationship Id="rId13" Type="http://schemas.openxmlformats.org/officeDocument/2006/relationships/tags" Target="../tags/tag172.xml"/><Relationship Id="rId12" Type="http://schemas.openxmlformats.org/officeDocument/2006/relationships/tags" Target="../tags/tag171.xml"/><Relationship Id="rId11" Type="http://schemas.openxmlformats.org/officeDocument/2006/relationships/image" Target="../media/image31.svg"/><Relationship Id="rId10" Type="http://schemas.openxmlformats.org/officeDocument/2006/relationships/tags" Target="../tags/tag170.xml"/><Relationship Id="rId1" Type="http://schemas.openxmlformats.org/officeDocument/2006/relationships/tags" Target="../tags/tag163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93.xml"/><Relationship Id="rId8" Type="http://schemas.openxmlformats.org/officeDocument/2006/relationships/tags" Target="../tags/tag192.xml"/><Relationship Id="rId7" Type="http://schemas.openxmlformats.org/officeDocument/2006/relationships/image" Target="../media/image35.png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0" Type="http://schemas.openxmlformats.org/officeDocument/2006/relationships/notesSlide" Target="../notesSlides/notesSlide22.xml"/><Relationship Id="rId2" Type="http://schemas.openxmlformats.org/officeDocument/2006/relationships/image" Target="../media/image18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38.png"/><Relationship Id="rId17" Type="http://schemas.openxmlformats.org/officeDocument/2006/relationships/image" Target="../media/image37.png"/><Relationship Id="rId16" Type="http://schemas.openxmlformats.org/officeDocument/2006/relationships/tags" Target="../tags/tag199.xml"/><Relationship Id="rId15" Type="http://schemas.openxmlformats.org/officeDocument/2006/relationships/image" Target="../media/image36.png"/><Relationship Id="rId14" Type="http://schemas.openxmlformats.org/officeDocument/2006/relationships/tags" Target="../tags/tag198.xml"/><Relationship Id="rId13" Type="http://schemas.openxmlformats.org/officeDocument/2006/relationships/tags" Target="../tags/tag197.xml"/><Relationship Id="rId12" Type="http://schemas.openxmlformats.org/officeDocument/2006/relationships/tags" Target="../tags/tag196.xml"/><Relationship Id="rId11" Type="http://schemas.openxmlformats.org/officeDocument/2006/relationships/tags" Target="../tags/tag195.xml"/><Relationship Id="rId10" Type="http://schemas.openxmlformats.org/officeDocument/2006/relationships/tags" Target="../tags/tag194.xml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image" Target="../media/image39.png"/><Relationship Id="rId7" Type="http://schemas.openxmlformats.org/officeDocument/2006/relationships/tags" Target="../tags/tag204.xml"/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image" Target="../media/image18.png"/><Relationship Id="rId11" Type="http://schemas.openxmlformats.org/officeDocument/2006/relationships/notesSlide" Target="../notesSlides/notesSlide2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image" Target="../media/image18.png"/><Relationship Id="rId11" Type="http://schemas.openxmlformats.org/officeDocument/2006/relationships/notesSlide" Target="../notesSlides/notesSlide2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tags" Target="../tags/tag210.xml"/><Relationship Id="rId2" Type="http://schemas.openxmlformats.org/officeDocument/2006/relationships/image" Target="../media/image18.png"/><Relationship Id="rId10" Type="http://schemas.openxmlformats.org/officeDocument/2006/relationships/notesSlide" Target="../notesSlides/notesSlide26.xml"/><Relationship Id="rId1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image" Target="../media/image48.svg"/><Relationship Id="rId5" Type="http://schemas.openxmlformats.org/officeDocument/2006/relationships/image" Target="../media/image29.png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8" Type="http://schemas.openxmlformats.org/officeDocument/2006/relationships/slideLayout" Target="../slideLayouts/slideLayout1.xml"/><Relationship Id="rId27" Type="http://schemas.openxmlformats.org/officeDocument/2006/relationships/image" Target="../media/image52.png"/><Relationship Id="rId26" Type="http://schemas.openxmlformats.org/officeDocument/2006/relationships/tags" Target="../tags/tag233.xml"/><Relationship Id="rId25" Type="http://schemas.openxmlformats.org/officeDocument/2006/relationships/tags" Target="../tags/tag232.xml"/><Relationship Id="rId24" Type="http://schemas.openxmlformats.org/officeDocument/2006/relationships/image" Target="../media/image51.svg"/><Relationship Id="rId23" Type="http://schemas.openxmlformats.org/officeDocument/2006/relationships/tags" Target="../tags/tag231.xml"/><Relationship Id="rId22" Type="http://schemas.openxmlformats.org/officeDocument/2006/relationships/tags" Target="../tags/tag230.xml"/><Relationship Id="rId21" Type="http://schemas.openxmlformats.org/officeDocument/2006/relationships/tags" Target="../tags/tag229.xml"/><Relationship Id="rId20" Type="http://schemas.openxmlformats.org/officeDocument/2006/relationships/tags" Target="../tags/tag228.xml"/><Relationship Id="rId2" Type="http://schemas.openxmlformats.org/officeDocument/2006/relationships/tags" Target="../tags/tag214.xml"/><Relationship Id="rId19" Type="http://schemas.openxmlformats.org/officeDocument/2006/relationships/tags" Target="../tags/tag227.xml"/><Relationship Id="rId18" Type="http://schemas.openxmlformats.org/officeDocument/2006/relationships/image" Target="../media/image50.svg"/><Relationship Id="rId17" Type="http://schemas.openxmlformats.org/officeDocument/2006/relationships/tags" Target="../tags/tag226.xml"/><Relationship Id="rId16" Type="http://schemas.openxmlformats.org/officeDocument/2006/relationships/tags" Target="../tags/tag225.xml"/><Relationship Id="rId15" Type="http://schemas.openxmlformats.org/officeDocument/2006/relationships/tags" Target="../tags/tag224.xml"/><Relationship Id="rId14" Type="http://schemas.openxmlformats.org/officeDocument/2006/relationships/tags" Target="../tags/tag223.xml"/><Relationship Id="rId13" Type="http://schemas.openxmlformats.org/officeDocument/2006/relationships/tags" Target="../tags/tag222.xml"/><Relationship Id="rId12" Type="http://schemas.openxmlformats.org/officeDocument/2006/relationships/image" Target="../media/image49.svg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9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7.png"/><Relationship Id="rId2" Type="http://schemas.openxmlformats.org/officeDocument/2006/relationships/image" Target="../media/image17.png"/><Relationship Id="rId1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7.png"/><Relationship Id="rId2" Type="http://schemas.openxmlformats.org/officeDocument/2006/relationships/image" Target="../media/image17.png"/><Relationship Id="rId1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7:27:29-d2crf0f0ctitcgma2dog.png"/>
          <p:cNvPicPr>
            <a:picLocks noChangeAspect="1"/>
          </p:cNvPicPr>
          <p:nvPr/>
        </p:nvPicPr>
        <p:blipFill>
          <a:blip r:embed="rId1"/>
          <a:srcRect l="77" r="77"/>
          <a:stretch>
            <a:fillRect/>
          </a:stretch>
        </p:blipFill>
        <p:spPr>
          <a:xfrm>
            <a:off x="-26035" y="-5715"/>
            <a:ext cx="2477135" cy="685673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8-11-17:27:30-d2crf0n0ctitcgma2dsg.png"/>
          <p:cNvPicPr>
            <a:picLocks noChangeAspect="1"/>
          </p:cNvPicPr>
          <p:nvPr/>
        </p:nvPicPr>
        <p:blipFill>
          <a:blip r:embed="rId2"/>
          <a:srcRect b="5326"/>
          <a:stretch>
            <a:fillRect/>
          </a:stretch>
        </p:blipFill>
        <p:spPr>
          <a:xfrm>
            <a:off x="6716395" y="0"/>
            <a:ext cx="5475605" cy="6851015"/>
          </a:xfrm>
          <a:prstGeom prst="rect">
            <a:avLst/>
          </a:prstGeom>
        </p:spPr>
      </p:pic>
      <p:pic>
        <p:nvPicPr>
          <p:cNvPr id="4" name="Image 2" descr="https://test-kimi-img.moonshot.cn/pub/slides/slides_tmpl/image/25-08-11-17:27:29-d2crf0f0ctitcgma2dn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540" y="3975735"/>
            <a:ext cx="590400" cy="590400"/>
          </a:xfrm>
          <a:prstGeom prst="rect">
            <a:avLst/>
          </a:prstGeom>
        </p:spPr>
      </p:pic>
      <p:pic>
        <p:nvPicPr>
          <p:cNvPr id="5" name="Image 3" descr="https://test-kimi-img.moonshot.cn/pub/slides/slides_tmpl/image/25-08-11-17:27:29-d2crf0f0ctitcgma2dn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155" y="826135"/>
            <a:ext cx="859790" cy="85979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356995" y="1529715"/>
            <a:ext cx="5904865" cy="12357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20000"/>
              </a:lnSpc>
            </a:pPr>
            <a:r>
              <a:rPr lang="en-US" sz="5400" b="1" dirty="0">
                <a:solidFill>
                  <a:srgbClr val="000000"/>
                </a:solidFill>
                <a:latin typeface="Eras Bold ITC" panose="020B0907030504020204" charset="0"/>
                <a:ea typeface="Microsoft Sans Serif" panose="020B0604020202020204" pitchFamily="34" charset="-122"/>
                <a:cs typeface="Eras Bold ITC" panose="020B0907030504020204" charset="0"/>
              </a:rPr>
              <a:t>ExCourt</a:t>
            </a:r>
            <a:r>
              <a:rPr lang="en-US" sz="5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Eras Bold ITC" panose="020B0907030504020204" charset="0"/>
              </a:rPr>
              <a:t>易场地</a:t>
            </a:r>
            <a:endParaRPr lang="en-US" sz="5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Eras Bold ITC" panose="020B0907030504020204" charset="0"/>
            </a:endParaRPr>
          </a:p>
        </p:txBody>
      </p:sp>
      <p:sp>
        <p:nvSpPr>
          <p:cNvPr id="8" name="Shape 2"/>
          <p:cNvSpPr/>
          <p:nvPr/>
        </p:nvSpPr>
        <p:spPr>
          <a:xfrm>
            <a:off x="1356995" y="4610735"/>
            <a:ext cx="3399155" cy="61214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7" name="Text 1"/>
          <p:cNvSpPr/>
          <p:nvPr/>
        </p:nvSpPr>
        <p:spPr>
          <a:xfrm>
            <a:off x="1356995" y="4670425"/>
            <a:ext cx="339915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</a:rPr>
              <a:t>汇报人: 2351520 毛星博</a:t>
            </a:r>
            <a:endParaRPr lang="zh-CN" altLang="en-US" sz="2000" dirty="0">
              <a:solidFill>
                <a:srgbClr val="000000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</a:endParaRPr>
          </a:p>
        </p:txBody>
      </p:sp>
      <p:sp>
        <p:nvSpPr>
          <p:cNvPr id="10" name="Shape 4"/>
          <p:cNvSpPr/>
          <p:nvPr/>
        </p:nvSpPr>
        <p:spPr>
          <a:xfrm>
            <a:off x="1356995" y="5361305"/>
            <a:ext cx="3399790" cy="57404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9" name="Text 3"/>
          <p:cNvSpPr/>
          <p:nvPr/>
        </p:nvSpPr>
        <p:spPr>
          <a:xfrm>
            <a:off x="1356995" y="5413375"/>
            <a:ext cx="322072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</a:rPr>
              <a:t>时间:2025-12-23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1788795" y="5076825"/>
            <a:ext cx="153670" cy="153670"/>
          </a:xfrm>
          <a:prstGeom prst="star4">
            <a:avLst>
              <a:gd name="adj" fmla="val 10416"/>
            </a:avLst>
          </a:prstGeom>
          <a:solidFill>
            <a:srgbClr val="FFBB59"/>
          </a:solidFill>
        </p:spPr>
      </p:sp>
      <p:sp>
        <p:nvSpPr>
          <p:cNvPr id="12" name="Shape 6"/>
          <p:cNvSpPr/>
          <p:nvPr/>
        </p:nvSpPr>
        <p:spPr>
          <a:xfrm>
            <a:off x="1261745" y="4424680"/>
            <a:ext cx="153670" cy="153670"/>
          </a:xfrm>
          <a:prstGeom prst="star4">
            <a:avLst>
              <a:gd name="adj" fmla="val 10416"/>
            </a:avLst>
          </a:prstGeom>
          <a:solidFill>
            <a:srgbClr val="FFBB59"/>
          </a:solidFill>
        </p:spPr>
      </p:sp>
      <p:sp>
        <p:nvSpPr>
          <p:cNvPr id="13" name="Shape 7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14" name="Shape 8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15" name="Shape 9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6" name="Shape 10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7" name="Image 4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8" name="Image 5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9" name="Image 6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20" name="Image 7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21" name="Image 8" descr="https://test-kimi-img.moonshot.cn/pub/slides/slides_tmpl/image/25-08-11-17:27:29-d2crf0f0ctitcgma2do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7510" y="4267835"/>
            <a:ext cx="1456690" cy="1840865"/>
          </a:xfrm>
          <a:prstGeom prst="rect">
            <a:avLst/>
          </a:prstGeom>
        </p:spPr>
      </p:pic>
      <p:pic>
        <p:nvPicPr>
          <p:cNvPr id="22" name="Image 9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23" name="Image 10" descr="https://test-kimi-img.moonshot.cn/pub/slides/slides_tmpl/image/25-08-11-17:27:29-d2crf0f0ctitcgma2dp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8585" y="2311400"/>
            <a:ext cx="3242945" cy="1664335"/>
          </a:xfrm>
          <a:prstGeom prst="rect">
            <a:avLst/>
          </a:prstGeom>
        </p:spPr>
      </p:pic>
      <p:pic>
        <p:nvPicPr>
          <p:cNvPr id="24" name="Image 11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1415415" y="2672080"/>
            <a:ext cx="39249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dirty="0">
                <a:solidFill>
                  <a:srgbClr val="00B050"/>
                </a:solidFill>
                <a:latin typeface="华文新魏" panose="02010800040101010101" charset="-122"/>
                <a:ea typeface="华文新魏" panose="02010800040101010101" charset="-122"/>
                <a:cs typeface="Petrona Bold" pitchFamily="34" charset="-120"/>
                <a:sym typeface="+mn-ea"/>
              </a:rPr>
              <a:t>校园场地资源交换系统</a:t>
            </a:r>
            <a:endParaRPr lang="en-US" sz="2800" dirty="0">
              <a:solidFill>
                <a:srgbClr val="00B050"/>
              </a:solidFill>
              <a:latin typeface="华文新魏" panose="02010800040101010101" charset="-122"/>
              <a:ea typeface="华文新魏" panose="02010800040101010101" charset="-122"/>
            </a:endParaRPr>
          </a:p>
          <a:p>
            <a:endParaRPr lang="en-US" altLang="en-US" sz="2800" dirty="0">
              <a:solidFill>
                <a:srgbClr val="00B050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398270" y="3810000"/>
            <a:ext cx="521271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dirty="0">
                <a:solidFill>
                  <a:schemeClr val="tx1"/>
                </a:solidFill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  <a:sym typeface="+mn-ea"/>
              </a:rPr>
              <a:t>数据库原理与应用系统开发期末汇报</a:t>
            </a:r>
            <a:endParaRPr lang="en-US" sz="1400" dirty="0">
              <a:solidFill>
                <a:schemeClr val="tx1"/>
              </a:solidFill>
            </a:endParaRPr>
          </a:p>
          <a:p>
            <a:endParaRPr lang="en-US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7:27:31-d2crf0v0ctitcgma2e3g.png"/>
          <p:cNvPicPr>
            <a:picLocks noChangeAspect="1"/>
          </p:cNvPicPr>
          <p:nvPr/>
        </p:nvPicPr>
        <p:blipFill>
          <a:blip r:embed="rId1"/>
          <a:srcRect l="22" r="22"/>
          <a:stretch>
            <a:fillRect/>
          </a:stretch>
        </p:blipFill>
        <p:spPr>
          <a:xfrm>
            <a:off x="568325" y="925830"/>
            <a:ext cx="11619865" cy="59277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1280" y="2143125"/>
            <a:ext cx="2235200" cy="12106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54305" y="3340100"/>
            <a:ext cx="4629150" cy="689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rgbClr val="000000"/>
                </a:solidFill>
                <a:latin typeface="Eras Bold ITC" panose="020B0907030504020204" charset="0"/>
                <a:ea typeface="Microsoft Sans Serif" panose="020B0604020202020204" pitchFamily="34" charset="-122"/>
                <a:cs typeface="Eras Bold ITC" panose="020B0907030504020204" charset="0"/>
              </a:rPr>
              <a:t>CONTENTS</a:t>
            </a:r>
            <a:endParaRPr lang="en-US" sz="4400" dirty="0">
              <a:solidFill>
                <a:srgbClr val="000000"/>
              </a:solidFill>
              <a:latin typeface="Eras Bold ITC" panose="020B0907030504020204" charset="0"/>
              <a:ea typeface="Microsoft Sans Serif" panose="020B0604020202020204" pitchFamily="34" charset="-122"/>
              <a:cs typeface="Eras Bold ITC" panose="020B0907030504020204" charset="0"/>
            </a:endParaRPr>
          </a:p>
        </p:txBody>
      </p:sp>
      <p:pic>
        <p:nvPicPr>
          <p:cNvPr id="5" name="Image 1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254115" y="1260475"/>
            <a:ext cx="25400" cy="584200"/>
          </a:xfrm>
          <a:prstGeom prst="rect">
            <a:avLst/>
          </a:prstGeom>
        </p:spPr>
      </p:pic>
      <p:pic>
        <p:nvPicPr>
          <p:cNvPr id="6" name="Image 2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254115" y="2096135"/>
            <a:ext cx="25400" cy="584200"/>
          </a:xfrm>
          <a:prstGeom prst="rect">
            <a:avLst/>
          </a:prstGeom>
        </p:spPr>
      </p:pic>
      <p:pic>
        <p:nvPicPr>
          <p:cNvPr id="7" name="Image 3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254115" y="2931795"/>
            <a:ext cx="25400" cy="584200"/>
          </a:xfrm>
          <a:prstGeom prst="rect">
            <a:avLst/>
          </a:prstGeom>
        </p:spPr>
      </p:pic>
      <p:pic>
        <p:nvPicPr>
          <p:cNvPr id="8" name="Image 4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254115" y="3767455"/>
            <a:ext cx="25400" cy="584200"/>
          </a:xfrm>
          <a:prstGeom prst="rect">
            <a:avLst/>
          </a:prstGeom>
        </p:spPr>
      </p:pic>
      <p:pic>
        <p:nvPicPr>
          <p:cNvPr id="11" name="Image 7" descr="https://test-kimi-img.moonshot.cn/pub/slides/slides_tmpl/image/25-08-11-17:27:30-d2crf0n0ctitcgma2e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325" y="2230120"/>
            <a:ext cx="3980815" cy="2121535"/>
          </a:xfrm>
          <a:prstGeom prst="rect">
            <a:avLst/>
          </a:prstGeom>
        </p:spPr>
      </p:pic>
      <p:pic>
        <p:nvPicPr>
          <p:cNvPr id="9" name="Image 5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254115" y="4603115"/>
            <a:ext cx="25400" cy="584200"/>
          </a:xfrm>
          <a:prstGeom prst="rect">
            <a:avLst/>
          </a:prstGeom>
        </p:spPr>
      </p:pic>
      <p:pic>
        <p:nvPicPr>
          <p:cNvPr id="10" name="Image 6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254115" y="5438775"/>
            <a:ext cx="25400" cy="584200"/>
          </a:xfrm>
          <a:prstGeom prst="rect">
            <a:avLst/>
          </a:prstGeom>
        </p:spPr>
      </p:pic>
      <p:pic>
        <p:nvPicPr>
          <p:cNvPr id="12" name="Image 8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500" y="344805"/>
            <a:ext cx="170180" cy="592455"/>
          </a:xfrm>
          <a:prstGeom prst="rect">
            <a:avLst/>
          </a:prstGeom>
        </p:spPr>
      </p:pic>
      <p:pic>
        <p:nvPicPr>
          <p:cNvPr id="13" name="Image 9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sp>
        <p:nvSpPr>
          <p:cNvPr id="14" name="Text 2"/>
          <p:cNvSpPr/>
          <p:nvPr>
            <p:custDataLst>
              <p:tags r:id="rId12"/>
            </p:custDataLst>
          </p:nvPr>
        </p:nvSpPr>
        <p:spPr>
          <a:xfrm>
            <a:off x="5268595" y="1203325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01</a:t>
            </a:r>
            <a:endParaRPr lang="en-US" sz="3200" b="1" dirty="0">
              <a:solidFill>
                <a:srgbClr val="000000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15" name="Text 3"/>
          <p:cNvSpPr/>
          <p:nvPr>
            <p:custDataLst>
              <p:tags r:id="rId13"/>
            </p:custDataLst>
          </p:nvPr>
        </p:nvSpPr>
        <p:spPr>
          <a:xfrm>
            <a:off x="6335395" y="1308735"/>
            <a:ext cx="55473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0404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项目背景与架构</a:t>
            </a:r>
            <a:endParaRPr lang="en-US" sz="2400" b="1" dirty="0">
              <a:solidFill>
                <a:srgbClr val="404040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16" name="Text 4"/>
          <p:cNvSpPr/>
          <p:nvPr>
            <p:custDataLst>
              <p:tags r:id="rId14"/>
            </p:custDataLst>
          </p:nvPr>
        </p:nvSpPr>
        <p:spPr>
          <a:xfrm>
            <a:off x="5268595" y="2038985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02</a:t>
            </a:r>
            <a:endParaRPr lang="en-US" sz="3200" b="1" dirty="0">
              <a:solidFill>
                <a:srgbClr val="000000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17" name="Text 5"/>
          <p:cNvSpPr/>
          <p:nvPr>
            <p:custDataLst>
              <p:tags r:id="rId15"/>
            </p:custDataLst>
          </p:nvPr>
        </p:nvSpPr>
        <p:spPr>
          <a:xfrm>
            <a:off x="6335395" y="2144395"/>
            <a:ext cx="55981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0404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数据库模型设计</a:t>
            </a:r>
            <a:endParaRPr lang="en-US" sz="2400" b="1" dirty="0">
              <a:solidFill>
                <a:srgbClr val="404040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18" name="Text 6"/>
          <p:cNvSpPr/>
          <p:nvPr>
            <p:custDataLst>
              <p:tags r:id="rId16"/>
            </p:custDataLst>
          </p:nvPr>
        </p:nvSpPr>
        <p:spPr>
          <a:xfrm>
            <a:off x="5268595" y="2874645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03</a:t>
            </a:r>
            <a:endParaRPr lang="en-US" sz="3200" b="1" dirty="0">
              <a:solidFill>
                <a:srgbClr val="000000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19" name="Text 7"/>
          <p:cNvSpPr/>
          <p:nvPr>
            <p:custDataLst>
              <p:tags r:id="rId17"/>
            </p:custDataLst>
          </p:nvPr>
        </p:nvSpPr>
        <p:spPr>
          <a:xfrm>
            <a:off x="6335395" y="2980055"/>
            <a:ext cx="55473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0404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核心业务与事务</a:t>
            </a:r>
            <a:endParaRPr lang="en-US" sz="2400" b="1" dirty="0">
              <a:solidFill>
                <a:srgbClr val="404040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20" name="Text 8"/>
          <p:cNvSpPr/>
          <p:nvPr>
            <p:custDataLst>
              <p:tags r:id="rId18"/>
            </p:custDataLst>
          </p:nvPr>
        </p:nvSpPr>
        <p:spPr>
          <a:xfrm>
            <a:off x="5268595" y="3710305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04</a:t>
            </a:r>
            <a:endParaRPr lang="en-US" sz="3200" b="1" dirty="0">
              <a:solidFill>
                <a:srgbClr val="000000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21" name="Text 9"/>
          <p:cNvSpPr/>
          <p:nvPr>
            <p:custDataLst>
              <p:tags r:id="rId19"/>
            </p:custDataLst>
          </p:nvPr>
        </p:nvSpPr>
        <p:spPr>
          <a:xfrm>
            <a:off x="6335395" y="3815715"/>
            <a:ext cx="55981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0404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性能优化与索引</a:t>
            </a:r>
            <a:endParaRPr lang="en-US" sz="2400" b="1" dirty="0">
              <a:solidFill>
                <a:srgbClr val="404040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22" name="Text 10"/>
          <p:cNvSpPr/>
          <p:nvPr>
            <p:custDataLst>
              <p:tags r:id="rId20"/>
            </p:custDataLst>
          </p:nvPr>
        </p:nvSpPr>
        <p:spPr>
          <a:xfrm>
            <a:off x="5268595" y="4545965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05</a:t>
            </a:r>
            <a:endParaRPr lang="en-US" sz="3200" b="1" dirty="0">
              <a:solidFill>
                <a:srgbClr val="000000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23" name="Text 11"/>
          <p:cNvSpPr/>
          <p:nvPr>
            <p:custDataLst>
              <p:tags r:id="rId21"/>
            </p:custDataLst>
          </p:nvPr>
        </p:nvSpPr>
        <p:spPr>
          <a:xfrm>
            <a:off x="6335395" y="4651375"/>
            <a:ext cx="55473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0404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智慧匹配</a:t>
            </a:r>
            <a:endParaRPr lang="en-US" sz="2400" b="1" dirty="0">
              <a:solidFill>
                <a:srgbClr val="404040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24" name="Text 12"/>
          <p:cNvSpPr/>
          <p:nvPr>
            <p:custDataLst>
              <p:tags r:id="rId22"/>
            </p:custDataLst>
          </p:nvPr>
        </p:nvSpPr>
        <p:spPr>
          <a:xfrm>
            <a:off x="5268595" y="5381625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06</a:t>
            </a:r>
            <a:endParaRPr lang="en-US" sz="3200" b="1" dirty="0">
              <a:solidFill>
                <a:srgbClr val="000000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25" name="Text 13"/>
          <p:cNvSpPr/>
          <p:nvPr>
            <p:custDataLst>
              <p:tags r:id="rId23"/>
            </p:custDataLst>
          </p:nvPr>
        </p:nvSpPr>
        <p:spPr>
          <a:xfrm>
            <a:off x="6335395" y="5487035"/>
            <a:ext cx="55981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rgbClr val="404040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  <a:sym typeface="+mn-ea"/>
              </a:rPr>
              <a:t>消息通知与好友系统</a:t>
            </a:r>
            <a:endParaRPr lang="zh-CN" altLang="en-US" sz="2400" b="1" dirty="0">
              <a:solidFill>
                <a:srgbClr val="404040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7:27:31-d2crf0v0ctitcgma2e40.png"/>
          <p:cNvPicPr>
            <a:picLocks noChangeAspect="1"/>
          </p:cNvPicPr>
          <p:nvPr/>
        </p:nvPicPr>
        <p:blipFill>
          <a:blip r:embed="rId1"/>
          <a:srcRect l="20" r="20"/>
          <a:stretch>
            <a:fillRect/>
          </a:stretch>
        </p:blipFill>
        <p:spPr>
          <a:xfrm>
            <a:off x="-11430" y="-24130"/>
            <a:ext cx="11249025" cy="632079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2106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744788" y="2883535"/>
            <a:ext cx="6702425" cy="9122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40404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项目背景与架构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580" y="1563370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7:27:34-d2crf1n0ctitcgma2ecg.png"/>
          <p:cNvPicPr>
            <a:picLocks noChangeAspect="1"/>
          </p:cNvPicPr>
          <p:nvPr/>
        </p:nvPicPr>
        <p:blipFill>
          <a:blip r:embed="rId1"/>
          <a:srcRect l="21" r="21"/>
          <a:stretch>
            <a:fillRect/>
          </a:stretch>
        </p:blipFill>
        <p:spPr>
          <a:xfrm>
            <a:off x="-43815" y="0"/>
            <a:ext cx="12235815" cy="6877050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5326380" y="1272540"/>
            <a:ext cx="6254750" cy="1371600"/>
            <a:chOff x="8388" y="2004"/>
            <a:chExt cx="9850" cy="2160"/>
          </a:xfrm>
        </p:grpSpPr>
        <p:sp>
          <p:nvSpPr>
            <p:cNvPr id="9" name="Shape 5"/>
            <p:cNvSpPr/>
            <p:nvPr/>
          </p:nvSpPr>
          <p:spPr>
            <a:xfrm>
              <a:off x="8388" y="2004"/>
              <a:ext cx="9850" cy="2160"/>
            </a:xfrm>
            <a:prstGeom prst="roundRect">
              <a:avLst>
                <a:gd name="adj" fmla="val 6321"/>
              </a:avLst>
            </a:prstGeom>
            <a:solidFill>
              <a:srgbClr val="FFFFFF"/>
            </a:solidFill>
            <a:ln w="19050">
              <a:gradFill flip="none" rotWithShape="1">
                <a:gsLst>
                  <a:gs pos="0">
                    <a:srgbClr val="6EAA2E"/>
                  </a:gs>
                  <a:gs pos="30000">
                    <a:srgbClr val="6EAA2E"/>
                  </a:gs>
                  <a:gs pos="100000">
                    <a:srgbClr val="92D050"/>
                  </a:gs>
                </a:gsLst>
                <a:lin ang="10800000" scaled="1"/>
              </a:gradFill>
              <a:prstDash val="solid"/>
            </a:ln>
          </p:spPr>
        </p:sp>
        <p:sp>
          <p:nvSpPr>
            <p:cNvPr id="10" name="Shape 6"/>
            <p:cNvSpPr/>
            <p:nvPr>
              <p:custDataLst>
                <p:tags r:id="rId2"/>
              </p:custDataLst>
            </p:nvPr>
          </p:nvSpPr>
          <p:spPr>
            <a:xfrm rot="5400000">
              <a:off x="8811" y="2258"/>
              <a:ext cx="427" cy="398"/>
            </a:xfrm>
            <a:prstGeom prst="triangle">
              <a:avLst>
                <a:gd name="adj" fmla="val 50000"/>
              </a:avLst>
            </a:prstGeom>
            <a:solidFill>
              <a:srgbClr val="6EAA2E"/>
            </a:solidFill>
          </p:spPr>
        </p:sp>
        <p:sp>
          <p:nvSpPr>
            <p:cNvPr id="15" name="Text 11"/>
            <p:cNvSpPr/>
            <p:nvPr>
              <p:custDataLst>
                <p:tags r:id="rId3"/>
              </p:custDataLst>
            </p:nvPr>
          </p:nvSpPr>
          <p:spPr>
            <a:xfrm>
              <a:off x="9310" y="2207"/>
              <a:ext cx="8623" cy="57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sz="16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中心化平台</a:t>
              </a:r>
              <a:endParaRPr 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 12"/>
            <p:cNvSpPr/>
            <p:nvPr/>
          </p:nvSpPr>
          <p:spPr>
            <a:xfrm>
              <a:off x="8644" y="2748"/>
              <a:ext cx="9300" cy="57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algn="l">
                <a:lnSpc>
                  <a:spcPts val="2150"/>
                </a:lnSpc>
                <a:buClrTx/>
                <a:buSzTx/>
                <a:buFontTx/>
                <a:buNone/>
              </a:pPr>
              <a:r>
                <a:rPr lang="en-US" sz="16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统一发布与检索,打破信息壁垒</a:t>
              </a:r>
              <a:endParaRPr 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" name="Image 1" descr="https://test-kimi-img.moonshot.cn/pub/slides/slides_tmpl/image/25-08-11-17:27:33-d2crf1f0ctitcgma2e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69570"/>
            <a:ext cx="670560" cy="68262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635" y="-1905"/>
            <a:ext cx="4740275" cy="6859905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rgbClr val="6EAA2E"/>
              </a:gs>
            </a:gsLst>
            <a:lin ang="18900000" scaled="1"/>
          </a:gradFill>
        </p:spPr>
      </p:sp>
      <p:sp>
        <p:nvSpPr>
          <p:cNvPr id="6" name="Text 2"/>
          <p:cNvSpPr/>
          <p:nvPr/>
        </p:nvSpPr>
        <p:spPr>
          <a:xfrm>
            <a:off x="325120" y="319405"/>
            <a:ext cx="3785235" cy="9531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校园场地痛点与ExCourt</a:t>
            </a:r>
            <a:r>
              <a:rPr lang="zh-CN" altLang="en-US" sz="2800" b="1" dirty="0">
                <a:solidFill>
                  <a:srgbClr val="FFFFFF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</a:rPr>
              <a:t>方案</a:t>
            </a:r>
            <a:endParaRPr lang="zh-CN" altLang="en-US" sz="2800" b="1" dirty="0">
              <a:solidFill>
                <a:srgbClr val="FFFFFF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</a:endParaRPr>
          </a:p>
        </p:txBody>
      </p:sp>
      <p:grpSp>
        <p:nvGrpSpPr>
          <p:cNvPr id="19" name="组合 18"/>
          <p:cNvGrpSpPr/>
          <p:nvPr>
            <p:custDataLst>
              <p:tags r:id="rId5"/>
            </p:custDataLst>
          </p:nvPr>
        </p:nvGrpSpPr>
        <p:grpSpPr>
          <a:xfrm>
            <a:off x="406400" y="1508760"/>
            <a:ext cx="3853171" cy="1597480"/>
            <a:chOff x="640" y="2376"/>
            <a:chExt cx="6151" cy="3509"/>
          </a:xfrm>
        </p:grpSpPr>
        <p:sp>
          <p:nvSpPr>
            <p:cNvPr id="5" name="Shape 1"/>
            <p:cNvSpPr/>
            <p:nvPr>
              <p:custDataLst>
                <p:tags r:id="rId6"/>
              </p:custDataLst>
            </p:nvPr>
          </p:nvSpPr>
          <p:spPr>
            <a:xfrm>
              <a:off x="640" y="2376"/>
              <a:ext cx="6151" cy="3509"/>
            </a:xfrm>
            <a:prstGeom prst="roundRect">
              <a:avLst>
                <a:gd name="adj" fmla="val 6321"/>
              </a:avLst>
            </a:prstGeom>
            <a:solidFill>
              <a:srgbClr val="FFFFFF"/>
            </a:solidFill>
            <a:ln w="19050">
              <a:gradFill flip="none" rotWithShape="1">
                <a:gsLst>
                  <a:gs pos="0">
                    <a:srgbClr val="6EAA2E"/>
                  </a:gs>
                  <a:gs pos="30000">
                    <a:srgbClr val="6EAA2E"/>
                  </a:gs>
                  <a:gs pos="100000">
                    <a:srgbClr val="92D050"/>
                  </a:gs>
                </a:gsLst>
                <a:lin ang="10800000" scaled="1"/>
              </a:gradFill>
              <a:prstDash val="solid"/>
            </a:ln>
          </p:spPr>
        </p:sp>
        <p:sp>
          <p:nvSpPr>
            <p:cNvPr id="7" name="Shape 3"/>
            <p:cNvSpPr/>
            <p:nvPr>
              <p:custDataLst>
                <p:tags r:id="rId7"/>
              </p:custDataLst>
            </p:nvPr>
          </p:nvSpPr>
          <p:spPr>
            <a:xfrm>
              <a:off x="936" y="3456"/>
              <a:ext cx="5006" cy="0"/>
            </a:xfrm>
            <a:prstGeom prst="line">
              <a:avLst/>
            </a:prstGeom>
            <a:noFill/>
            <a:ln w="31750">
              <a:solidFill>
                <a:srgbClr val="92D050"/>
              </a:solidFill>
              <a:prstDash val="solid"/>
              <a:headEnd type="none"/>
              <a:tailEnd type="none"/>
            </a:ln>
          </p:spPr>
        </p:sp>
        <p:sp>
          <p:nvSpPr>
            <p:cNvPr id="8" name="Shape 4"/>
            <p:cNvSpPr/>
            <p:nvPr>
              <p:custDataLst>
                <p:tags r:id="rId8"/>
              </p:custDataLst>
            </p:nvPr>
          </p:nvSpPr>
          <p:spPr>
            <a:xfrm>
              <a:off x="936" y="3257"/>
              <a:ext cx="5006" cy="0"/>
            </a:xfrm>
            <a:prstGeom prst="line">
              <a:avLst/>
            </a:prstGeom>
            <a:noFill/>
            <a:ln w="12700">
              <a:solidFill>
                <a:srgbClr val="92D050"/>
              </a:solidFill>
              <a:prstDash val="solid"/>
              <a:headEnd type="none"/>
              <a:tailEnd type="none"/>
            </a:ln>
          </p:spPr>
        </p:sp>
        <p:sp>
          <p:nvSpPr>
            <p:cNvPr id="13" name="Text 9"/>
            <p:cNvSpPr/>
            <p:nvPr>
              <p:custDataLst>
                <p:tags r:id="rId9"/>
              </p:custDataLst>
            </p:nvPr>
          </p:nvSpPr>
          <p:spPr>
            <a:xfrm>
              <a:off x="940" y="2388"/>
              <a:ext cx="5006" cy="14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>
                <a:lnSpc>
                  <a:spcPct val="100000"/>
                </a:lnSpc>
              </a:pPr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资源闲置</a:t>
              </a:r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just">
                <a:lnSpc>
                  <a:spcPct val="100000"/>
                </a:lnSpc>
              </a:pPr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Text 10"/>
            <p:cNvSpPr/>
            <p:nvPr>
              <p:custDataLst>
                <p:tags r:id="rId10"/>
              </p:custDataLst>
            </p:nvPr>
          </p:nvSpPr>
          <p:spPr>
            <a:xfrm>
              <a:off x="987" y="3616"/>
              <a:ext cx="5012" cy="138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已预约场地因突发情况无法去,白白浪费宝贵的运动时间和资源</a:t>
              </a:r>
              <a:endPara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6" name="组合 25"/>
          <p:cNvGrpSpPr/>
          <p:nvPr>
            <p:custDataLst>
              <p:tags r:id="rId11"/>
            </p:custDataLst>
          </p:nvPr>
        </p:nvGrpSpPr>
        <p:grpSpPr>
          <a:xfrm>
            <a:off x="406400" y="3230245"/>
            <a:ext cx="3853171" cy="1597480"/>
            <a:chOff x="640" y="2376"/>
            <a:chExt cx="6151" cy="3509"/>
          </a:xfrm>
        </p:grpSpPr>
        <p:sp>
          <p:nvSpPr>
            <p:cNvPr id="27" name="Shape 1"/>
            <p:cNvSpPr/>
            <p:nvPr>
              <p:custDataLst>
                <p:tags r:id="rId12"/>
              </p:custDataLst>
            </p:nvPr>
          </p:nvSpPr>
          <p:spPr>
            <a:xfrm>
              <a:off x="640" y="2376"/>
              <a:ext cx="6151" cy="3509"/>
            </a:xfrm>
            <a:prstGeom prst="roundRect">
              <a:avLst>
                <a:gd name="adj" fmla="val 6321"/>
              </a:avLst>
            </a:prstGeom>
            <a:solidFill>
              <a:srgbClr val="FFFFFF"/>
            </a:solidFill>
            <a:ln w="19050">
              <a:gradFill flip="none" rotWithShape="1">
                <a:gsLst>
                  <a:gs pos="0">
                    <a:srgbClr val="6EAA2E"/>
                  </a:gs>
                  <a:gs pos="30000">
                    <a:srgbClr val="6EAA2E"/>
                  </a:gs>
                  <a:gs pos="100000">
                    <a:srgbClr val="92D050"/>
                  </a:gs>
                </a:gsLst>
                <a:lin ang="10800000" scaled="1"/>
              </a:gradFill>
              <a:prstDash val="solid"/>
            </a:ln>
          </p:spPr>
        </p:sp>
        <p:sp>
          <p:nvSpPr>
            <p:cNvPr id="28" name="Shape 3"/>
            <p:cNvSpPr/>
            <p:nvPr>
              <p:custDataLst>
                <p:tags r:id="rId13"/>
              </p:custDataLst>
            </p:nvPr>
          </p:nvSpPr>
          <p:spPr>
            <a:xfrm>
              <a:off x="936" y="3456"/>
              <a:ext cx="5006" cy="0"/>
            </a:xfrm>
            <a:prstGeom prst="line">
              <a:avLst/>
            </a:prstGeom>
            <a:noFill/>
            <a:ln w="31750">
              <a:solidFill>
                <a:srgbClr val="92D050"/>
              </a:solidFill>
              <a:prstDash val="solid"/>
              <a:headEnd type="none"/>
              <a:tailEnd type="none"/>
            </a:ln>
          </p:spPr>
        </p:sp>
        <p:sp>
          <p:nvSpPr>
            <p:cNvPr id="29" name="Shape 4"/>
            <p:cNvSpPr/>
            <p:nvPr>
              <p:custDataLst>
                <p:tags r:id="rId14"/>
              </p:custDataLst>
            </p:nvPr>
          </p:nvSpPr>
          <p:spPr>
            <a:xfrm>
              <a:off x="936" y="3257"/>
              <a:ext cx="5006" cy="0"/>
            </a:xfrm>
            <a:prstGeom prst="line">
              <a:avLst/>
            </a:prstGeom>
            <a:noFill/>
            <a:ln w="12700">
              <a:solidFill>
                <a:srgbClr val="92D050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9"/>
            <p:cNvSpPr/>
            <p:nvPr>
              <p:custDataLst>
                <p:tags r:id="rId15"/>
              </p:custDataLst>
            </p:nvPr>
          </p:nvSpPr>
          <p:spPr>
            <a:xfrm>
              <a:off x="940" y="2388"/>
              <a:ext cx="5006" cy="14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p>
              <a:pPr algn="just">
                <a:lnSpc>
                  <a:spcPct val="100000"/>
                </a:lnSpc>
              </a:pPr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信息孤岛</a:t>
              </a:r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just">
                <a:lnSpc>
                  <a:spcPct val="100000"/>
                </a:lnSpc>
              </a:pPr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Text 10"/>
            <p:cNvSpPr/>
            <p:nvPr>
              <p:custDataLst>
                <p:tags r:id="rId16"/>
              </p:custDataLst>
            </p:nvPr>
          </p:nvSpPr>
          <p:spPr>
            <a:xfrm>
              <a:off x="987" y="3616"/>
              <a:ext cx="5012" cy="138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求租信息散落在微信群、朋友圈,匹配效率极低,找场地如大海捞针</a:t>
              </a:r>
              <a:endPara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2" name="组合 31"/>
          <p:cNvGrpSpPr/>
          <p:nvPr>
            <p:custDataLst>
              <p:tags r:id="rId17"/>
            </p:custDataLst>
          </p:nvPr>
        </p:nvGrpSpPr>
        <p:grpSpPr>
          <a:xfrm>
            <a:off x="407035" y="4965700"/>
            <a:ext cx="3853171" cy="1597480"/>
            <a:chOff x="640" y="2376"/>
            <a:chExt cx="6151" cy="3509"/>
          </a:xfrm>
        </p:grpSpPr>
        <p:sp>
          <p:nvSpPr>
            <p:cNvPr id="33" name="Shape 1"/>
            <p:cNvSpPr/>
            <p:nvPr>
              <p:custDataLst>
                <p:tags r:id="rId18"/>
              </p:custDataLst>
            </p:nvPr>
          </p:nvSpPr>
          <p:spPr>
            <a:xfrm>
              <a:off x="640" y="2376"/>
              <a:ext cx="6151" cy="3509"/>
            </a:xfrm>
            <a:prstGeom prst="roundRect">
              <a:avLst>
                <a:gd name="adj" fmla="val 6321"/>
              </a:avLst>
            </a:prstGeom>
            <a:solidFill>
              <a:srgbClr val="FFFFFF"/>
            </a:solidFill>
            <a:ln w="19050">
              <a:gradFill flip="none" rotWithShape="1">
                <a:gsLst>
                  <a:gs pos="0">
                    <a:srgbClr val="6EAA2E"/>
                  </a:gs>
                  <a:gs pos="30000">
                    <a:srgbClr val="6EAA2E"/>
                  </a:gs>
                  <a:gs pos="100000">
                    <a:srgbClr val="92D050"/>
                  </a:gs>
                </a:gsLst>
                <a:lin ang="10800000" scaled="1"/>
              </a:gradFill>
              <a:prstDash val="solid"/>
            </a:ln>
          </p:spPr>
        </p:sp>
        <p:sp>
          <p:nvSpPr>
            <p:cNvPr id="34" name="Shape 3"/>
            <p:cNvSpPr/>
            <p:nvPr>
              <p:custDataLst>
                <p:tags r:id="rId19"/>
              </p:custDataLst>
            </p:nvPr>
          </p:nvSpPr>
          <p:spPr>
            <a:xfrm>
              <a:off x="936" y="3456"/>
              <a:ext cx="5006" cy="0"/>
            </a:xfrm>
            <a:prstGeom prst="line">
              <a:avLst/>
            </a:prstGeom>
            <a:noFill/>
            <a:ln w="31750">
              <a:solidFill>
                <a:srgbClr val="92D050"/>
              </a:solidFill>
              <a:prstDash val="solid"/>
              <a:headEnd type="none"/>
              <a:tailEnd type="none"/>
            </a:ln>
          </p:spPr>
        </p:sp>
        <p:sp>
          <p:nvSpPr>
            <p:cNvPr id="35" name="Shape 4"/>
            <p:cNvSpPr/>
            <p:nvPr>
              <p:custDataLst>
                <p:tags r:id="rId20"/>
              </p:custDataLst>
            </p:nvPr>
          </p:nvSpPr>
          <p:spPr>
            <a:xfrm>
              <a:off x="936" y="3257"/>
              <a:ext cx="5006" cy="0"/>
            </a:xfrm>
            <a:prstGeom prst="line">
              <a:avLst/>
            </a:prstGeom>
            <a:noFill/>
            <a:ln w="12700">
              <a:solidFill>
                <a:srgbClr val="92D050"/>
              </a:solidFill>
              <a:prstDash val="solid"/>
              <a:headEnd type="none"/>
              <a:tailEnd type="none"/>
            </a:ln>
          </p:spPr>
        </p:sp>
        <p:sp>
          <p:nvSpPr>
            <p:cNvPr id="36" name="Text 9"/>
            <p:cNvSpPr/>
            <p:nvPr>
              <p:custDataLst>
                <p:tags r:id="rId21"/>
              </p:custDataLst>
            </p:nvPr>
          </p:nvSpPr>
          <p:spPr>
            <a:xfrm>
              <a:off x="940" y="2388"/>
              <a:ext cx="5006" cy="87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>
                <a:lnSpc>
                  <a:spcPct val="100000"/>
                </a:lnSpc>
              </a:pPr>
              <a:r>
                <a:rPr lang="en-US" sz="2000" b="1" dirty="0">
                  <a:solidFill>
                    <a:srgbClr val="000000"/>
                  </a:solidFill>
                  <a:latin typeface="Microsoft Sans Serif" panose="020B0604020202020204" pitchFamily="34" charset="0"/>
                  <a:ea typeface="Microsoft Sans Serif" panose="020B0604020202020204" pitchFamily="34" charset="-122"/>
                  <a:cs typeface="Microsoft Sans Serif" panose="020B0604020202020204" pitchFamily="34" charset="-120"/>
                </a:rPr>
                <a:t>校园场地错配现象</a:t>
              </a:r>
              <a:endParaRPr lang="en-US" sz="1600" dirty="0"/>
            </a:p>
          </p:txBody>
        </p:sp>
        <p:sp>
          <p:nvSpPr>
            <p:cNvPr id="37" name="Text 10"/>
            <p:cNvSpPr/>
            <p:nvPr>
              <p:custDataLst>
                <p:tags r:id="rId22"/>
              </p:custDataLst>
            </p:nvPr>
          </p:nvSpPr>
          <p:spPr>
            <a:xfrm>
              <a:off x="987" y="3616"/>
              <a:ext cx="5012" cy="138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截图可能被PS私下交易存在欺诈风险,缺乏可靠的验证机制</a:t>
              </a:r>
              <a:endPara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38" name="Text 11"/>
          <p:cNvSpPr/>
          <p:nvPr/>
        </p:nvSpPr>
        <p:spPr>
          <a:xfrm>
            <a:off x="5100955" y="683895"/>
            <a:ext cx="236474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ExCourt</a:t>
            </a:r>
            <a:r>
              <a:rPr lang="zh-CN" altLang="en-US" sz="1800" b="1" dirty="0">
                <a:solidFill>
                  <a:srgbClr val="000000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</a:rPr>
              <a:t>方案</a:t>
            </a:r>
            <a:endParaRPr lang="zh-CN" altLang="en-US" sz="1800" b="1" dirty="0">
              <a:solidFill>
                <a:srgbClr val="000000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5326380" y="3053080"/>
            <a:ext cx="6254750" cy="1371600"/>
            <a:chOff x="8388" y="2004"/>
            <a:chExt cx="9850" cy="2160"/>
          </a:xfrm>
        </p:grpSpPr>
        <p:sp>
          <p:nvSpPr>
            <p:cNvPr id="42" name="Shape 5"/>
            <p:cNvSpPr/>
            <p:nvPr/>
          </p:nvSpPr>
          <p:spPr>
            <a:xfrm>
              <a:off x="8388" y="2004"/>
              <a:ext cx="9850" cy="2160"/>
            </a:xfrm>
            <a:prstGeom prst="roundRect">
              <a:avLst>
                <a:gd name="adj" fmla="val 6321"/>
              </a:avLst>
            </a:prstGeom>
            <a:solidFill>
              <a:srgbClr val="FFFFFF"/>
            </a:solidFill>
            <a:ln w="19050">
              <a:gradFill flip="none" rotWithShape="1">
                <a:gsLst>
                  <a:gs pos="0">
                    <a:srgbClr val="6EAA2E"/>
                  </a:gs>
                  <a:gs pos="30000">
                    <a:srgbClr val="6EAA2E"/>
                  </a:gs>
                  <a:gs pos="100000">
                    <a:srgbClr val="92D050"/>
                  </a:gs>
                </a:gsLst>
                <a:lin ang="10800000" scaled="1"/>
              </a:gradFill>
              <a:prstDash val="solid"/>
            </a:ln>
          </p:spPr>
        </p:sp>
        <p:sp>
          <p:nvSpPr>
            <p:cNvPr id="43" name="Shape 6"/>
            <p:cNvSpPr/>
            <p:nvPr>
              <p:custDataLst>
                <p:tags r:id="rId23"/>
              </p:custDataLst>
            </p:nvPr>
          </p:nvSpPr>
          <p:spPr>
            <a:xfrm rot="5400000">
              <a:off x="8811" y="2258"/>
              <a:ext cx="427" cy="398"/>
            </a:xfrm>
            <a:prstGeom prst="triangle">
              <a:avLst>
                <a:gd name="adj" fmla="val 50000"/>
              </a:avLst>
            </a:prstGeom>
            <a:solidFill>
              <a:srgbClr val="6EAA2E"/>
            </a:solidFill>
          </p:spPr>
        </p:sp>
        <p:sp>
          <p:nvSpPr>
            <p:cNvPr id="44" name="Text 11"/>
            <p:cNvSpPr/>
            <p:nvPr>
              <p:custDataLst>
                <p:tags r:id="rId24"/>
              </p:custDataLst>
            </p:nvPr>
          </p:nvSpPr>
          <p:spPr>
            <a:xfrm>
              <a:off x="9310" y="2207"/>
              <a:ext cx="8623" cy="57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p>
              <a:pPr marL="0" algn="l">
                <a:lnSpc>
                  <a:spcPts val="2150"/>
                </a:lnSpc>
                <a:buClrTx/>
                <a:buSzTx/>
                <a:buFontTx/>
                <a:buNone/>
              </a:pPr>
              <a:r>
                <a:rPr lang="en-US" sz="16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可信凭证</a:t>
              </a:r>
              <a:endParaRPr 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" name="Text 12"/>
            <p:cNvSpPr/>
            <p:nvPr/>
          </p:nvSpPr>
          <p:spPr>
            <a:xfrm>
              <a:off x="8644" y="2748"/>
              <a:ext cx="9300" cy="56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基于序列号的唯一性验证机制</a:t>
              </a:r>
              <a:endParaRPr 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5326380" y="4833620"/>
            <a:ext cx="6254750" cy="1371600"/>
            <a:chOff x="8388" y="2004"/>
            <a:chExt cx="9850" cy="2160"/>
          </a:xfrm>
        </p:grpSpPr>
        <p:sp>
          <p:nvSpPr>
            <p:cNvPr id="47" name="Shape 5"/>
            <p:cNvSpPr/>
            <p:nvPr/>
          </p:nvSpPr>
          <p:spPr>
            <a:xfrm>
              <a:off x="8388" y="2004"/>
              <a:ext cx="9850" cy="2160"/>
            </a:xfrm>
            <a:prstGeom prst="roundRect">
              <a:avLst>
                <a:gd name="adj" fmla="val 6321"/>
              </a:avLst>
            </a:prstGeom>
            <a:solidFill>
              <a:srgbClr val="FFFFFF"/>
            </a:solidFill>
            <a:ln w="19050">
              <a:gradFill flip="none" rotWithShape="1">
                <a:gsLst>
                  <a:gs pos="0">
                    <a:srgbClr val="6EAA2E"/>
                  </a:gs>
                  <a:gs pos="30000">
                    <a:srgbClr val="6EAA2E"/>
                  </a:gs>
                  <a:gs pos="100000">
                    <a:srgbClr val="92D050"/>
                  </a:gs>
                </a:gsLst>
                <a:lin ang="10800000" scaled="1"/>
              </a:gradFill>
              <a:prstDash val="solid"/>
            </a:ln>
          </p:spPr>
        </p:sp>
        <p:sp>
          <p:nvSpPr>
            <p:cNvPr id="48" name="Shape 6"/>
            <p:cNvSpPr/>
            <p:nvPr>
              <p:custDataLst>
                <p:tags r:id="rId25"/>
              </p:custDataLst>
            </p:nvPr>
          </p:nvSpPr>
          <p:spPr>
            <a:xfrm rot="5400000">
              <a:off x="8811" y="2258"/>
              <a:ext cx="427" cy="398"/>
            </a:xfrm>
            <a:prstGeom prst="triangle">
              <a:avLst>
                <a:gd name="adj" fmla="val 50000"/>
              </a:avLst>
            </a:prstGeom>
            <a:solidFill>
              <a:srgbClr val="6EAA2E"/>
            </a:solidFill>
          </p:spPr>
        </p:sp>
        <p:sp>
          <p:nvSpPr>
            <p:cNvPr id="49" name="Text 11"/>
            <p:cNvSpPr/>
            <p:nvPr>
              <p:custDataLst>
                <p:tags r:id="rId26"/>
              </p:custDataLst>
            </p:nvPr>
          </p:nvSpPr>
          <p:spPr>
            <a:xfrm>
              <a:off x="9310" y="2207"/>
              <a:ext cx="8623" cy="56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algn="l">
                <a:lnSpc>
                  <a:spcPts val="2100"/>
                </a:lnSpc>
                <a:buClrTx/>
                <a:buSzTx/>
                <a:buFontTx/>
                <a:buNone/>
              </a:pPr>
              <a:r>
                <a:rPr lang="en-US" sz="16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原子交换</a:t>
              </a:r>
              <a:endParaRPr 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0" name="Text 12"/>
            <p:cNvSpPr/>
            <p:nvPr/>
          </p:nvSpPr>
          <p:spPr>
            <a:xfrm>
              <a:off x="8644" y="2748"/>
              <a:ext cx="9300" cy="56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algn="l">
                <a:lnSpc>
                  <a:spcPts val="2100"/>
                </a:lnSpc>
                <a:buClrTx/>
                <a:buSzTx/>
                <a:buFontTx/>
                <a:buNone/>
              </a:pPr>
              <a:r>
                <a:rPr lang="en-US" sz="16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系统托管所有权转移,杜绝欺诈</a:t>
              </a:r>
              <a:endParaRPr 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4"/>
          <p:cNvSpPr/>
          <p:nvPr/>
        </p:nvSpPr>
        <p:spPr>
          <a:xfrm>
            <a:off x="0" y="5335270"/>
            <a:ext cx="12206605" cy="152273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6EAA2E"/>
              </a:gs>
              <a:gs pos="53000">
                <a:srgbClr val="92D050"/>
              </a:gs>
              <a:gs pos="91000">
                <a:srgbClr val="C9E828"/>
              </a:gs>
              <a:gs pos="100000">
                <a:srgbClr val="C9E828"/>
              </a:gs>
            </a:gsLst>
            <a:lin ang="13500000" scaled="1"/>
          </a:gradFill>
        </p:spPr>
      </p:sp>
      <p:pic>
        <p:nvPicPr>
          <p:cNvPr id="3" name="Image 1" descr="https://test-kimi-img.moonshot.cn/pub/slides/slides_tmpl/image/25-08-11-17:27:33-d2crf1f0ctitcgma2ea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69570"/>
            <a:ext cx="670560" cy="6826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6220" y="369570"/>
            <a:ext cx="3187065" cy="5784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  <a:sym typeface="+mn-ea"/>
              </a:rPr>
              <a:t>系统架构与技术栈</a:t>
            </a:r>
            <a:endParaRPr lang="en-US" sz="28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  <a:sym typeface="+mn-ea"/>
            </a:endParaRPr>
          </a:p>
        </p:txBody>
      </p:sp>
      <p:grpSp>
        <p:nvGrpSpPr>
          <p:cNvPr id="18" name="组合 17"/>
          <p:cNvGrpSpPr/>
          <p:nvPr>
            <p:custDataLst>
              <p:tags r:id="rId2"/>
            </p:custDataLst>
          </p:nvPr>
        </p:nvGrpSpPr>
        <p:grpSpPr>
          <a:xfrm>
            <a:off x="5760720" y="1158240"/>
            <a:ext cx="5485130" cy="4096385"/>
            <a:chOff x="1291" y="2109"/>
            <a:chExt cx="8592" cy="4807"/>
          </a:xfrm>
        </p:grpSpPr>
        <p:sp>
          <p:nvSpPr>
            <p:cNvPr id="6" name="Shape 2"/>
            <p:cNvSpPr/>
            <p:nvPr>
              <p:custDataLst>
                <p:tags r:id="rId3"/>
              </p:custDataLst>
            </p:nvPr>
          </p:nvSpPr>
          <p:spPr>
            <a:xfrm>
              <a:off x="1442" y="2649"/>
              <a:ext cx="8441" cy="4267"/>
            </a:xfrm>
            <a:custGeom>
              <a:avLst/>
              <a:gdLst/>
              <a:ahLst/>
              <a:cxnLst/>
              <a:rect l="l" t="t" r="r" b="b"/>
              <a:pathLst>
                <a:path w="5360035" h="2709545">
                  <a:moveTo>
                    <a:pt x="4633675" y="2709545"/>
                  </a:moveTo>
                  <a:lnTo>
                    <a:pt x="0" y="2709545"/>
                  </a:lnTo>
                  <a:lnTo>
                    <a:pt x="726360" y="0"/>
                  </a:lnTo>
                  <a:lnTo>
                    <a:pt x="5360035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EE396">
                    <a:alpha val="0"/>
                  </a:srgbClr>
                </a:gs>
                <a:gs pos="20000">
                  <a:srgbClr val="BEE396">
                    <a:alpha val="0"/>
                  </a:srgbClr>
                </a:gs>
                <a:gs pos="100000">
                  <a:srgbClr val="BEE396">
                    <a:alpha val="40000"/>
                  </a:srgbClr>
                </a:gs>
              </a:gsLst>
              <a:lin ang="0" scaled="1"/>
            </a:gradFill>
          </p:spPr>
        </p:sp>
        <p:sp>
          <p:nvSpPr>
            <p:cNvPr id="7" name="Shape 3"/>
            <p:cNvSpPr/>
            <p:nvPr>
              <p:custDataLst>
                <p:tags r:id="rId4"/>
              </p:custDataLst>
            </p:nvPr>
          </p:nvSpPr>
          <p:spPr>
            <a:xfrm>
              <a:off x="1291" y="2451"/>
              <a:ext cx="8441" cy="4267"/>
            </a:xfrm>
            <a:custGeom>
              <a:avLst/>
              <a:gdLst/>
              <a:ahLst/>
              <a:cxnLst/>
              <a:rect l="l" t="t" r="r" b="b"/>
              <a:pathLst>
                <a:path w="5360035" h="2709545">
                  <a:moveTo>
                    <a:pt x="4633675" y="2709545"/>
                  </a:moveTo>
                  <a:lnTo>
                    <a:pt x="0" y="2709545"/>
                  </a:lnTo>
                  <a:lnTo>
                    <a:pt x="726360" y="0"/>
                  </a:lnTo>
                  <a:lnTo>
                    <a:pt x="5360035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gradFill flip="none" rotWithShape="1">
                <a:gsLst>
                  <a:gs pos="0">
                    <a:srgbClr val="BEE396">
                      <a:alpha val="0"/>
                    </a:srgbClr>
                  </a:gs>
                  <a:gs pos="30000">
                    <a:srgbClr val="BEE396">
                      <a:alpha val="0"/>
                    </a:srgbClr>
                  </a:gs>
                  <a:gs pos="100000">
                    <a:srgbClr val="92D050"/>
                  </a:gs>
                </a:gsLst>
                <a:lin ang="0" scaled="1"/>
              </a:gradFill>
              <a:prstDash val="solid"/>
            </a:ln>
          </p:spPr>
        </p:sp>
        <p:sp>
          <p:nvSpPr>
            <p:cNvPr id="10" name="Shape 6"/>
            <p:cNvSpPr/>
            <p:nvPr>
              <p:custDataLst>
                <p:tags r:id="rId5"/>
              </p:custDataLst>
            </p:nvPr>
          </p:nvSpPr>
          <p:spPr>
            <a:xfrm>
              <a:off x="6613" y="2109"/>
              <a:ext cx="2295" cy="794"/>
            </a:xfrm>
            <a:prstGeom prst="parallelogram">
              <a:avLst>
                <a:gd name="adj" fmla="val 20892"/>
              </a:avLst>
            </a:prstGeom>
            <a:solidFill>
              <a:srgbClr val="92D050"/>
            </a:solidFill>
          </p:spPr>
        </p:sp>
        <p:sp>
          <p:nvSpPr>
            <p:cNvPr id="11" name="Text 7"/>
            <p:cNvSpPr/>
            <p:nvPr>
              <p:custDataLst>
                <p:tags r:id="rId6"/>
              </p:custDataLst>
            </p:nvPr>
          </p:nvSpPr>
          <p:spPr>
            <a:xfrm>
              <a:off x="6613" y="2109"/>
              <a:ext cx="2295" cy="794"/>
            </a:xfrm>
            <a:prstGeom prst="rect">
              <a:avLst/>
            </a:prstGeom>
            <a:noFill/>
          </p:spPr>
          <p:txBody>
            <a:bodyPr wrap="square" lIns="45720" tIns="91440" rIns="91440" bIns="4572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900" b="1" dirty="0">
                  <a:solidFill>
                    <a:srgbClr val="FFFFFF"/>
                  </a:solidFill>
                  <a:latin typeface="Microsoft Sans Serif" panose="020B0604020202020204" pitchFamily="34" charset="0"/>
                  <a:ea typeface="Microsoft Sans Serif" panose="020B0604020202020204" pitchFamily="34" charset="-122"/>
                  <a:cs typeface="Microsoft Sans Serif" panose="020B0604020202020204" pitchFamily="34" charset="-120"/>
                </a:rPr>
                <a:t>01</a:t>
              </a:r>
              <a:endParaRPr lang="en-US" sz="1600" dirty="0"/>
            </a:p>
          </p:txBody>
        </p:sp>
        <p:sp>
          <p:nvSpPr>
            <p:cNvPr id="12" name="Text 8"/>
            <p:cNvSpPr/>
            <p:nvPr>
              <p:custDataLst>
                <p:tags r:id="rId7"/>
              </p:custDataLst>
            </p:nvPr>
          </p:nvSpPr>
          <p:spPr>
            <a:xfrm>
              <a:off x="1976" y="3295"/>
              <a:ext cx="5994" cy="582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r">
                <a:lnSpc>
                  <a:spcPct val="100000"/>
                </a:lnSpc>
              </a:pPr>
              <a:r>
                <a:rPr lang="en-US" sz="2400" b="1" dirty="0">
                  <a:solidFill>
                    <a:srgbClr val="000000"/>
                  </a:solidFill>
                  <a:latin typeface="Microsoft Sans Serif" panose="020B0604020202020204" pitchFamily="34" charset="0"/>
                  <a:ea typeface="Microsoft Sans Serif" panose="020B0604020202020204" pitchFamily="34" charset="-122"/>
                  <a:cs typeface="Microsoft Sans Serif" panose="020B0604020202020204" pitchFamily="34" charset="-120"/>
                </a:rPr>
                <a:t>技术栈介绍</a:t>
              </a:r>
              <a:endParaRPr lang="en-US" sz="24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endParaRPr>
            </a:p>
          </p:txBody>
        </p:sp>
        <p:sp>
          <p:nvSpPr>
            <p:cNvPr id="13" name="Text 9"/>
            <p:cNvSpPr/>
            <p:nvPr>
              <p:custDataLst>
                <p:tags r:id="rId8"/>
              </p:custDataLst>
            </p:nvPr>
          </p:nvSpPr>
          <p:spPr>
            <a:xfrm>
              <a:off x="1303" y="3960"/>
              <a:ext cx="6666" cy="261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r">
                <a:lnSpc>
                  <a:spcPct val="130000"/>
                </a:lnSpc>
              </a:pPr>
              <a:r>
                <a:rPr lang="en-US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我们采用了FastAPI+MongoDB+Docker的技术栈。FastAPI用于高并发异步接口开发，MongoDB作为灵活的NoSQL数据库存储数据，Docker则保证了一键部署的便捷性。</a:t>
              </a:r>
              <a:endParaRPr 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624217" y="1221544"/>
            <a:ext cx="5793343" cy="3962157"/>
            <a:chOff x="2342" y="3385"/>
            <a:chExt cx="11121" cy="7064"/>
          </a:xfrm>
        </p:grpSpPr>
        <p:sp>
          <p:nvSpPr>
            <p:cNvPr id="20" name="Text 2"/>
            <p:cNvSpPr/>
            <p:nvPr/>
          </p:nvSpPr>
          <p:spPr>
            <a:xfrm>
              <a:off x="2342" y="3385"/>
              <a:ext cx="3074" cy="38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p>
              <a:pPr marL="0" indent="0" algn="l">
                <a:lnSpc>
                  <a:spcPts val="1900"/>
                </a:lnSpc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Microsoft Sans Serif" panose="020B0604020202020204" pitchFamily="34" charset="0"/>
                  <a:ea typeface="Microsoft Sans Serif" panose="020B0604020202020204" pitchFamily="34" charset="-122"/>
                  <a:cs typeface="Microsoft Sans Serif" panose="020B0604020202020204" pitchFamily="34" charset="-120"/>
                </a:rPr>
                <a:t>Frontend</a:t>
              </a:r>
              <a:endParaRPr lang="en-US" sz="18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endParaRPr>
            </a:p>
          </p:txBody>
        </p:sp>
        <p:sp>
          <p:nvSpPr>
            <p:cNvPr id="21" name="Text 3"/>
            <p:cNvSpPr/>
            <p:nvPr/>
          </p:nvSpPr>
          <p:spPr>
            <a:xfrm>
              <a:off x="2342" y="3910"/>
              <a:ext cx="11121" cy="375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p>
              <a:pPr marL="0" indent="0" algn="l">
                <a:lnSpc>
                  <a:spcPts val="1850"/>
                </a:lnSpc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Microsoft Sans Serif" panose="020B0604020202020204" pitchFamily="34" charset="0"/>
                  <a:ea typeface="Microsoft Sans Serif" panose="020B0604020202020204" pitchFamily="34" charset="-122"/>
                  <a:cs typeface="Microsoft Sans Serif" panose="020B0604020202020204" pitchFamily="34" charset="-120"/>
                </a:rPr>
                <a:t>HTML5 + Vanilla JS</a:t>
              </a:r>
              <a:endParaRPr lang="en-US" sz="18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endParaRPr>
            </a:p>
          </p:txBody>
        </p:sp>
        <p:sp>
          <p:nvSpPr>
            <p:cNvPr id="22" name="Text 4"/>
            <p:cNvSpPr/>
            <p:nvPr/>
          </p:nvSpPr>
          <p:spPr>
            <a:xfrm>
              <a:off x="2342" y="4425"/>
              <a:ext cx="11121" cy="375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p>
              <a:pPr marL="0" indent="0" algn="l">
                <a:lnSpc>
                  <a:spcPts val="1850"/>
                </a:lnSpc>
                <a:buNone/>
              </a:pPr>
              <a:r>
                <a:rPr lang="en-US" sz="1600" b="1" dirty="0">
                  <a:solidFill>
                    <a:srgbClr val="000000"/>
                  </a:solidFill>
                  <a:latin typeface="Microsoft Sans Serif" panose="020B0604020202020204" pitchFamily="34" charset="0"/>
                  <a:ea typeface="Microsoft Sans Serif" panose="020B0604020202020204" pitchFamily="34" charset="-122"/>
                  <a:cs typeface="Microsoft Sans Serif" panose="020B0604020202020204" pitchFamily="34" charset="-120"/>
                </a:rPr>
                <a:t>轻量化,专注交互</a:t>
              </a:r>
              <a:endParaRPr lang="en-US" sz="16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endParaRPr>
            </a:p>
          </p:txBody>
        </p:sp>
        <p:sp>
          <p:nvSpPr>
            <p:cNvPr id="25" name="Text 5"/>
            <p:cNvSpPr/>
            <p:nvPr/>
          </p:nvSpPr>
          <p:spPr>
            <a:xfrm>
              <a:off x="2342" y="5268"/>
              <a:ext cx="3074" cy="38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p>
              <a:pPr marL="0" indent="0" algn="l">
                <a:lnSpc>
                  <a:spcPts val="1900"/>
                </a:lnSpc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Microsoft Sans Serif" panose="020B0604020202020204" pitchFamily="34" charset="0"/>
                  <a:ea typeface="Microsoft Sans Serif" panose="020B0604020202020204" pitchFamily="34" charset="-122"/>
                  <a:cs typeface="Microsoft Sans Serif" panose="020B0604020202020204" pitchFamily="34" charset="-120"/>
                </a:rPr>
                <a:t>Backend</a:t>
              </a:r>
              <a:endParaRPr lang="en-US" sz="18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endParaRPr>
            </a:p>
          </p:txBody>
        </p:sp>
        <p:sp>
          <p:nvSpPr>
            <p:cNvPr id="26" name="Text 6"/>
            <p:cNvSpPr/>
            <p:nvPr/>
          </p:nvSpPr>
          <p:spPr>
            <a:xfrm>
              <a:off x="2342" y="5793"/>
              <a:ext cx="11121" cy="375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p>
              <a:pPr marL="0" indent="0" algn="l">
                <a:lnSpc>
                  <a:spcPts val="1850"/>
                </a:lnSpc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Microsoft Sans Serif" panose="020B0604020202020204" pitchFamily="34" charset="0"/>
                  <a:ea typeface="Microsoft Sans Serif" panose="020B0604020202020204" pitchFamily="34" charset="-122"/>
                  <a:cs typeface="Microsoft Sans Serif" panose="020B0604020202020204" pitchFamily="34" charset="-120"/>
                </a:rPr>
                <a:t>FastAPI (Python 3.11)</a:t>
              </a:r>
              <a:endParaRPr lang="en-US" sz="18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endParaRPr>
            </a:p>
          </p:txBody>
        </p:sp>
        <p:sp>
          <p:nvSpPr>
            <p:cNvPr id="27" name="Text 7"/>
            <p:cNvSpPr/>
            <p:nvPr/>
          </p:nvSpPr>
          <p:spPr>
            <a:xfrm>
              <a:off x="2342" y="6308"/>
              <a:ext cx="11121" cy="108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p>
              <a:pPr marL="0" indent="0" algn="l">
                <a:lnSpc>
                  <a:spcPts val="1850"/>
                </a:lnSpc>
                <a:buNone/>
              </a:pPr>
              <a:r>
                <a:rPr lang="en-US" sz="14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Async/Await 异步高并发</a:t>
              </a:r>
              <a:endPara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Text 8"/>
            <p:cNvSpPr/>
            <p:nvPr/>
          </p:nvSpPr>
          <p:spPr>
            <a:xfrm>
              <a:off x="2342" y="7151"/>
              <a:ext cx="3074" cy="38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p>
              <a:pPr marL="0" indent="0" algn="l">
                <a:lnSpc>
                  <a:spcPts val="1900"/>
                </a:lnSpc>
                <a:buNone/>
              </a:pPr>
              <a:r>
                <a:rPr lang="en-US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Petrona Bold" pitchFamily="34" charset="-120"/>
                </a:rPr>
                <a:t>Database</a:t>
              </a:r>
              <a:endPara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Petrona Bold" pitchFamily="34" charset="-120"/>
              </a:endParaRPr>
            </a:p>
          </p:txBody>
        </p:sp>
        <p:sp>
          <p:nvSpPr>
            <p:cNvPr id="30" name="Text 9"/>
            <p:cNvSpPr/>
            <p:nvPr/>
          </p:nvSpPr>
          <p:spPr>
            <a:xfrm>
              <a:off x="2342" y="7676"/>
              <a:ext cx="11121" cy="375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p>
              <a:pPr marL="0" indent="0" algn="l">
                <a:lnSpc>
                  <a:spcPts val="1850"/>
                </a:lnSpc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Inter" panose="02000503000000020004" pitchFamily="34" charset="-120"/>
                </a:rPr>
                <a:t>MongoDB (NoSQL)</a:t>
              </a:r>
              <a:endPara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Inter" panose="02000503000000020004" pitchFamily="34" charset="-120"/>
              </a:endParaRPr>
            </a:p>
          </p:txBody>
        </p:sp>
        <p:sp>
          <p:nvSpPr>
            <p:cNvPr id="31" name="Text 10"/>
            <p:cNvSpPr/>
            <p:nvPr/>
          </p:nvSpPr>
          <p:spPr>
            <a:xfrm>
              <a:off x="2342" y="8191"/>
              <a:ext cx="11121" cy="375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p>
              <a:pPr marL="0" indent="0" algn="l">
                <a:lnSpc>
                  <a:spcPts val="1850"/>
                </a:lnSpc>
                <a:buNone/>
              </a:pPr>
              <a:r>
                <a:rPr lang="en-US" sz="14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Inter" panose="02000503000000020004" pitchFamily="34" charset="-120"/>
                </a:rPr>
                <a:t>Driver: Motor (Async)</a:t>
              </a:r>
              <a:endPara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Inter" panose="02000503000000020004" pitchFamily="34" charset="-120"/>
              </a:endParaRPr>
            </a:p>
          </p:txBody>
        </p:sp>
        <p:sp>
          <p:nvSpPr>
            <p:cNvPr id="33" name="Text 11"/>
            <p:cNvSpPr/>
            <p:nvPr/>
          </p:nvSpPr>
          <p:spPr>
            <a:xfrm>
              <a:off x="2342" y="9034"/>
              <a:ext cx="3074" cy="38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p>
              <a:pPr marL="0" indent="0" algn="l">
                <a:lnSpc>
                  <a:spcPts val="1900"/>
                </a:lnSpc>
                <a:buNone/>
              </a:pPr>
              <a:r>
                <a:rPr lang="en-US" sz="20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Petrona Bold" pitchFamily="34" charset="-120"/>
                </a:rPr>
                <a:t>Infrastructure</a:t>
              </a:r>
              <a:endPara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Petrona Bold" pitchFamily="34" charset="-120"/>
              </a:endParaRPr>
            </a:p>
          </p:txBody>
        </p:sp>
        <p:sp>
          <p:nvSpPr>
            <p:cNvPr id="34" name="Text 12"/>
            <p:cNvSpPr/>
            <p:nvPr/>
          </p:nvSpPr>
          <p:spPr>
            <a:xfrm>
              <a:off x="2342" y="9559"/>
              <a:ext cx="11121" cy="375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p>
              <a:pPr marL="0" indent="0" algn="l">
                <a:lnSpc>
                  <a:spcPts val="1850"/>
                </a:lnSpc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Docker 容器化部署</a:t>
              </a:r>
              <a:endPara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Text 13"/>
            <p:cNvSpPr/>
            <p:nvPr/>
          </p:nvSpPr>
          <p:spPr>
            <a:xfrm>
              <a:off x="2342" y="10074"/>
              <a:ext cx="11121" cy="375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p>
              <a:pPr marL="0" indent="0" algn="l">
                <a:lnSpc>
                  <a:spcPts val="1850"/>
                </a:lnSpc>
                <a:buNone/>
              </a:pPr>
              <a:r>
                <a:rPr lang="en-US" sz="14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Inter" panose="02000503000000020004" pitchFamily="34" charset="-120"/>
                </a:rPr>
                <a:t>环境一致性保障</a:t>
              </a:r>
              <a:endPara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Inter" panose="02000503000000020004" pitchFamily="34" charset="-120"/>
              </a:endParaRPr>
            </a:p>
          </p:txBody>
        </p:sp>
      </p:grpSp>
      <p:pic>
        <p:nvPicPr>
          <p:cNvPr id="39" name="图片 38" descr="Generated Image December 23, 2025 - 3_32PM"/>
          <p:cNvPicPr>
            <a:picLocks noChangeAspect="1"/>
          </p:cNvPicPr>
          <p:nvPr/>
        </p:nvPicPr>
        <p:blipFill>
          <a:blip r:embed="rId9"/>
          <a:srcRect t="25424" r="-913" b="54580"/>
          <a:stretch>
            <a:fillRect/>
          </a:stretch>
        </p:blipFill>
        <p:spPr>
          <a:xfrm>
            <a:off x="1506220" y="1223010"/>
            <a:ext cx="982345" cy="779145"/>
          </a:xfrm>
          <a:prstGeom prst="rect">
            <a:avLst/>
          </a:prstGeom>
        </p:spPr>
      </p:pic>
      <p:pic>
        <p:nvPicPr>
          <p:cNvPr id="44" name="图片 43" descr="Generated Image December 23, 2025 - 3_32PM"/>
          <p:cNvPicPr>
            <a:picLocks noChangeAspect="1"/>
          </p:cNvPicPr>
          <p:nvPr/>
        </p:nvPicPr>
        <p:blipFill>
          <a:blip r:embed="rId9"/>
          <a:srcRect t="25424" r="-913" b="54580"/>
          <a:stretch>
            <a:fillRect/>
          </a:stretch>
        </p:blipFill>
        <p:spPr>
          <a:xfrm>
            <a:off x="1506220" y="2277110"/>
            <a:ext cx="982345" cy="779145"/>
          </a:xfrm>
          <a:prstGeom prst="rect">
            <a:avLst/>
          </a:prstGeom>
        </p:spPr>
      </p:pic>
      <p:pic>
        <p:nvPicPr>
          <p:cNvPr id="45" name="图片 44" descr="Generated Image December 23, 2025 - 3_32PM"/>
          <p:cNvPicPr>
            <a:picLocks noChangeAspect="1"/>
          </p:cNvPicPr>
          <p:nvPr/>
        </p:nvPicPr>
        <p:blipFill>
          <a:blip r:embed="rId9"/>
          <a:srcRect t="25424" r="-913" b="54580"/>
          <a:stretch>
            <a:fillRect/>
          </a:stretch>
        </p:blipFill>
        <p:spPr>
          <a:xfrm>
            <a:off x="1506220" y="3342640"/>
            <a:ext cx="982345" cy="779145"/>
          </a:xfrm>
          <a:prstGeom prst="rect">
            <a:avLst/>
          </a:prstGeom>
        </p:spPr>
      </p:pic>
      <p:pic>
        <p:nvPicPr>
          <p:cNvPr id="46" name="图片 45" descr="Generated Image December 23, 2025 - 3_32PM"/>
          <p:cNvPicPr>
            <a:picLocks noChangeAspect="1"/>
          </p:cNvPicPr>
          <p:nvPr/>
        </p:nvPicPr>
        <p:blipFill>
          <a:blip r:embed="rId9"/>
          <a:srcRect t="25424" r="-913" b="54580"/>
          <a:stretch>
            <a:fillRect/>
          </a:stretch>
        </p:blipFill>
        <p:spPr>
          <a:xfrm>
            <a:off x="1506220" y="4385310"/>
            <a:ext cx="982345" cy="7791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4"/>
          <p:cNvSpPr/>
          <p:nvPr/>
        </p:nvSpPr>
        <p:spPr>
          <a:xfrm>
            <a:off x="0" y="5335270"/>
            <a:ext cx="12206605" cy="152273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6EAA2E"/>
              </a:gs>
              <a:gs pos="53000">
                <a:srgbClr val="92D050"/>
              </a:gs>
              <a:gs pos="91000">
                <a:srgbClr val="C9E828"/>
              </a:gs>
              <a:gs pos="100000">
                <a:srgbClr val="C9E828"/>
              </a:gs>
            </a:gsLst>
            <a:lin ang="13500000" scaled="1"/>
          </a:gradFill>
        </p:spPr>
      </p:sp>
      <p:pic>
        <p:nvPicPr>
          <p:cNvPr id="3" name="Image 1" descr="https://test-kimi-img.moonshot.cn/pub/slides/slides_tmpl/image/25-08-11-17:27:33-d2crf1f0ctitcgma2ea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69570"/>
            <a:ext cx="670560" cy="6826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6220" y="369570"/>
            <a:ext cx="3187065" cy="5784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  <a:sym typeface="+mn-ea"/>
              </a:rPr>
              <a:t>系统架构与技术栈</a:t>
            </a:r>
            <a:endParaRPr lang="en-US" sz="28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  <a:sym typeface="+mn-ea"/>
            </a:endParaRPr>
          </a:p>
        </p:txBody>
      </p:sp>
      <p:grpSp>
        <p:nvGrpSpPr>
          <p:cNvPr id="18" name="组合 17"/>
          <p:cNvGrpSpPr/>
          <p:nvPr>
            <p:custDataLst>
              <p:tags r:id="rId2"/>
            </p:custDataLst>
          </p:nvPr>
        </p:nvGrpSpPr>
        <p:grpSpPr>
          <a:xfrm>
            <a:off x="412115" y="1597025"/>
            <a:ext cx="5467985" cy="3007360"/>
            <a:chOff x="9155" y="3324"/>
            <a:chExt cx="8611" cy="4736"/>
          </a:xfrm>
        </p:grpSpPr>
        <p:sp>
          <p:nvSpPr>
            <p:cNvPr id="4" name="Shape 0"/>
            <p:cNvSpPr/>
            <p:nvPr>
              <p:custDataLst>
                <p:tags r:id="rId3"/>
              </p:custDataLst>
            </p:nvPr>
          </p:nvSpPr>
          <p:spPr>
            <a:xfrm>
              <a:off x="9155" y="3324"/>
              <a:ext cx="8441" cy="4267"/>
            </a:xfrm>
            <a:custGeom>
              <a:avLst/>
              <a:gdLst/>
              <a:ahLst/>
              <a:cxnLst/>
              <a:rect l="l" t="t" r="r" b="b"/>
              <a:pathLst>
                <a:path w="5360035" h="2709545">
                  <a:moveTo>
                    <a:pt x="4633675" y="2709545"/>
                  </a:moveTo>
                  <a:lnTo>
                    <a:pt x="0" y="2709545"/>
                  </a:lnTo>
                  <a:lnTo>
                    <a:pt x="726360" y="0"/>
                  </a:lnTo>
                  <a:lnTo>
                    <a:pt x="5360035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D966">
                    <a:alpha val="0"/>
                  </a:srgbClr>
                </a:gs>
                <a:gs pos="20000">
                  <a:srgbClr val="FFD966">
                    <a:alpha val="0"/>
                  </a:srgbClr>
                </a:gs>
                <a:gs pos="100000">
                  <a:srgbClr val="FFD966">
                    <a:alpha val="40000"/>
                  </a:srgbClr>
                </a:gs>
              </a:gsLst>
              <a:lin ang="10800000" scaled="1"/>
            </a:gradFill>
          </p:spPr>
        </p:sp>
        <p:sp>
          <p:nvSpPr>
            <p:cNvPr id="5" name="Shape 1"/>
            <p:cNvSpPr/>
            <p:nvPr>
              <p:custDataLst>
                <p:tags r:id="rId4"/>
              </p:custDataLst>
            </p:nvPr>
          </p:nvSpPr>
          <p:spPr>
            <a:xfrm>
              <a:off x="9325" y="3483"/>
              <a:ext cx="8441" cy="4267"/>
            </a:xfrm>
            <a:custGeom>
              <a:avLst/>
              <a:gdLst/>
              <a:ahLst/>
              <a:cxnLst/>
              <a:rect l="l" t="t" r="r" b="b"/>
              <a:pathLst>
                <a:path w="5360035" h="2709545">
                  <a:moveTo>
                    <a:pt x="4633675" y="2709545"/>
                  </a:moveTo>
                  <a:lnTo>
                    <a:pt x="0" y="2709545"/>
                  </a:lnTo>
                  <a:lnTo>
                    <a:pt x="726360" y="0"/>
                  </a:lnTo>
                  <a:lnTo>
                    <a:pt x="5360035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gradFill flip="none" rotWithShape="1">
                <a:gsLst>
                  <a:gs pos="0">
                    <a:srgbClr val="FFD966">
                      <a:alpha val="0"/>
                    </a:srgbClr>
                  </a:gs>
                  <a:gs pos="30000">
                    <a:srgbClr val="FFD966">
                      <a:alpha val="0"/>
                    </a:srgbClr>
                  </a:gs>
                  <a:gs pos="100000">
                    <a:srgbClr val="FFC000"/>
                  </a:gs>
                </a:gsLst>
                <a:lin ang="10800000" scaled="1"/>
              </a:gradFill>
              <a:prstDash val="solid"/>
            </a:ln>
          </p:spPr>
        </p:sp>
        <p:sp>
          <p:nvSpPr>
            <p:cNvPr id="14" name="Shape 10"/>
            <p:cNvSpPr/>
            <p:nvPr>
              <p:custDataLst>
                <p:tags r:id="rId5"/>
              </p:custDataLst>
            </p:nvPr>
          </p:nvSpPr>
          <p:spPr>
            <a:xfrm>
              <a:off x="10191" y="7266"/>
              <a:ext cx="2295" cy="794"/>
            </a:xfrm>
            <a:prstGeom prst="parallelogram">
              <a:avLst>
                <a:gd name="adj" fmla="val 20892"/>
              </a:avLst>
            </a:prstGeom>
            <a:solidFill>
              <a:srgbClr val="FFC000"/>
            </a:solidFill>
          </p:spPr>
        </p:sp>
        <p:sp>
          <p:nvSpPr>
            <p:cNvPr id="15" name="Text 11"/>
            <p:cNvSpPr/>
            <p:nvPr>
              <p:custDataLst>
                <p:tags r:id="rId6"/>
              </p:custDataLst>
            </p:nvPr>
          </p:nvSpPr>
          <p:spPr>
            <a:xfrm>
              <a:off x="10191" y="7266"/>
              <a:ext cx="2295" cy="794"/>
            </a:xfrm>
            <a:prstGeom prst="rect">
              <a:avLst/>
            </a:prstGeom>
            <a:noFill/>
          </p:spPr>
          <p:txBody>
            <a:bodyPr wrap="square" lIns="45720" tIns="91440" rIns="91440" bIns="4572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900" b="1" dirty="0">
                  <a:solidFill>
                    <a:srgbClr val="FFFFFF"/>
                  </a:solidFill>
                  <a:latin typeface="Microsoft Sans Serif" panose="020B0604020202020204" pitchFamily="34" charset="0"/>
                  <a:ea typeface="Microsoft Sans Serif" panose="020B0604020202020204" pitchFamily="34" charset="-122"/>
                  <a:cs typeface="Microsoft Sans Serif" panose="020B0604020202020204" pitchFamily="34" charset="-120"/>
                </a:rPr>
                <a:t>02</a:t>
              </a:r>
              <a:endParaRPr lang="en-US" sz="1600" dirty="0"/>
            </a:p>
          </p:txBody>
        </p:sp>
        <p:sp>
          <p:nvSpPr>
            <p:cNvPr id="16" name="Text 12"/>
            <p:cNvSpPr/>
            <p:nvPr>
              <p:custDataLst>
                <p:tags r:id="rId7"/>
              </p:custDataLst>
            </p:nvPr>
          </p:nvSpPr>
          <p:spPr>
            <a:xfrm>
              <a:off x="10498" y="3850"/>
              <a:ext cx="5995" cy="582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>
                <a:lnSpc>
                  <a:spcPct val="100000"/>
                </a:lnSpc>
              </a:pPr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文档模型</a:t>
              </a:r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Text 13"/>
            <p:cNvSpPr/>
            <p:nvPr>
              <p:custDataLst>
                <p:tags r:id="rId8"/>
              </p:custDataLst>
            </p:nvPr>
          </p:nvSpPr>
          <p:spPr>
            <a:xfrm>
              <a:off x="10498" y="4675"/>
              <a:ext cx="6667" cy="20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场地交换业务字段多、嵌套深、迭代快，MongoDB的文档模型可以一次读写完成，避免了关系型数据库中多表Join与频繁ALTER的问题，极大地提高了开发效率。</a:t>
              </a:r>
              <a:endParaRPr 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9"/>
            </p:custDataLst>
          </p:nvPr>
        </p:nvGrpSpPr>
        <p:grpSpPr>
          <a:xfrm>
            <a:off x="5954395" y="1597025"/>
            <a:ext cx="5467985" cy="3007360"/>
            <a:chOff x="9155" y="3324"/>
            <a:chExt cx="8611" cy="4736"/>
          </a:xfrm>
        </p:grpSpPr>
        <p:sp>
          <p:nvSpPr>
            <p:cNvPr id="36" name="Shape 0"/>
            <p:cNvSpPr/>
            <p:nvPr>
              <p:custDataLst>
                <p:tags r:id="rId10"/>
              </p:custDataLst>
            </p:nvPr>
          </p:nvSpPr>
          <p:spPr>
            <a:xfrm>
              <a:off x="9155" y="3324"/>
              <a:ext cx="8441" cy="4267"/>
            </a:xfrm>
            <a:custGeom>
              <a:avLst/>
              <a:gdLst/>
              <a:ahLst/>
              <a:cxnLst/>
              <a:rect l="l" t="t" r="r" b="b"/>
              <a:pathLst>
                <a:path w="5360035" h="2709545">
                  <a:moveTo>
                    <a:pt x="4633675" y="2709545"/>
                  </a:moveTo>
                  <a:lnTo>
                    <a:pt x="0" y="2709545"/>
                  </a:lnTo>
                  <a:lnTo>
                    <a:pt x="726360" y="0"/>
                  </a:lnTo>
                  <a:lnTo>
                    <a:pt x="5360035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D966">
                    <a:alpha val="0"/>
                  </a:srgbClr>
                </a:gs>
                <a:gs pos="20000">
                  <a:srgbClr val="FFD966">
                    <a:alpha val="0"/>
                  </a:srgbClr>
                </a:gs>
                <a:gs pos="100000">
                  <a:srgbClr val="FFD966">
                    <a:alpha val="40000"/>
                  </a:srgbClr>
                </a:gs>
              </a:gsLst>
              <a:lin ang="10800000" scaled="1"/>
            </a:gradFill>
          </p:spPr>
        </p:sp>
        <p:sp>
          <p:nvSpPr>
            <p:cNvPr id="37" name="Shape 1"/>
            <p:cNvSpPr/>
            <p:nvPr>
              <p:custDataLst>
                <p:tags r:id="rId11"/>
              </p:custDataLst>
            </p:nvPr>
          </p:nvSpPr>
          <p:spPr>
            <a:xfrm>
              <a:off x="9325" y="3530"/>
              <a:ext cx="8441" cy="4267"/>
            </a:xfrm>
            <a:custGeom>
              <a:avLst/>
              <a:gdLst/>
              <a:ahLst/>
              <a:cxnLst/>
              <a:rect l="l" t="t" r="r" b="b"/>
              <a:pathLst>
                <a:path w="5360035" h="2709545">
                  <a:moveTo>
                    <a:pt x="4633675" y="2709545"/>
                  </a:moveTo>
                  <a:lnTo>
                    <a:pt x="0" y="2709545"/>
                  </a:lnTo>
                  <a:lnTo>
                    <a:pt x="726360" y="0"/>
                  </a:lnTo>
                  <a:lnTo>
                    <a:pt x="5360035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gradFill flip="none" rotWithShape="1">
                <a:gsLst>
                  <a:gs pos="0">
                    <a:srgbClr val="FFD966">
                      <a:alpha val="0"/>
                    </a:srgbClr>
                  </a:gs>
                  <a:gs pos="30000">
                    <a:srgbClr val="FFD966">
                      <a:alpha val="0"/>
                    </a:srgbClr>
                  </a:gs>
                  <a:gs pos="100000">
                    <a:srgbClr val="FFC000"/>
                  </a:gs>
                </a:gsLst>
                <a:lin ang="10800000" scaled="1"/>
              </a:gradFill>
              <a:prstDash val="solid"/>
            </a:ln>
          </p:spPr>
        </p:sp>
        <p:sp>
          <p:nvSpPr>
            <p:cNvPr id="38" name="Shape 10"/>
            <p:cNvSpPr/>
            <p:nvPr>
              <p:custDataLst>
                <p:tags r:id="rId12"/>
              </p:custDataLst>
            </p:nvPr>
          </p:nvSpPr>
          <p:spPr>
            <a:xfrm>
              <a:off x="10191" y="7266"/>
              <a:ext cx="2295" cy="794"/>
            </a:xfrm>
            <a:prstGeom prst="parallelogram">
              <a:avLst>
                <a:gd name="adj" fmla="val 20892"/>
              </a:avLst>
            </a:prstGeom>
            <a:solidFill>
              <a:srgbClr val="FFC000"/>
            </a:solidFill>
          </p:spPr>
        </p:sp>
        <p:sp>
          <p:nvSpPr>
            <p:cNvPr id="39" name="Text 11"/>
            <p:cNvSpPr/>
            <p:nvPr>
              <p:custDataLst>
                <p:tags r:id="rId13"/>
              </p:custDataLst>
            </p:nvPr>
          </p:nvSpPr>
          <p:spPr>
            <a:xfrm>
              <a:off x="10191" y="7266"/>
              <a:ext cx="2295" cy="794"/>
            </a:xfrm>
            <a:prstGeom prst="rect">
              <a:avLst/>
            </a:prstGeom>
            <a:noFill/>
          </p:spPr>
          <p:txBody>
            <a:bodyPr wrap="square" lIns="45720" tIns="91440" rIns="91440" bIns="45720" rtlCol="0" anchor="ctr"/>
            <a:p>
              <a:pPr algn="ctr">
                <a:lnSpc>
                  <a:spcPct val="100000"/>
                </a:lnSpc>
              </a:pPr>
              <a:r>
                <a:rPr lang="en-US" sz="1900" b="1" dirty="0">
                  <a:solidFill>
                    <a:srgbClr val="FFFFFF"/>
                  </a:solidFill>
                  <a:latin typeface="Microsoft Sans Serif" panose="020B0604020202020204" pitchFamily="34" charset="0"/>
                  <a:ea typeface="Microsoft Sans Serif" panose="020B0604020202020204" pitchFamily="34" charset="-122"/>
                  <a:cs typeface="Microsoft Sans Serif" panose="020B0604020202020204" pitchFamily="34" charset="-120"/>
                </a:rPr>
                <a:t>03</a:t>
              </a:r>
              <a:endParaRPr lang="en-US" sz="1600" dirty="0"/>
            </a:p>
          </p:txBody>
        </p:sp>
        <p:sp>
          <p:nvSpPr>
            <p:cNvPr id="40" name="Text 12"/>
            <p:cNvSpPr/>
            <p:nvPr>
              <p:custDataLst>
                <p:tags r:id="rId14"/>
              </p:custDataLst>
            </p:nvPr>
          </p:nvSpPr>
          <p:spPr>
            <a:xfrm>
              <a:off x="10715" y="3850"/>
              <a:ext cx="5995" cy="582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p>
              <a:pPr algn="l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1800" dirty="0">
                  <a:latin typeface="微软雅黑" panose="020B0503020204020204" charset="-122"/>
                  <a:ea typeface="微软雅黑" panose="020B0503020204020204" charset="-122"/>
                </a:rPr>
                <a:t>动态模式</a:t>
              </a:r>
              <a:endParaRPr lang="zh-CN" altLang="en-US" sz="18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Text 13"/>
            <p:cNvSpPr/>
            <p:nvPr>
              <p:custDataLst>
                <p:tags r:id="rId15"/>
              </p:custDataLst>
            </p:nvPr>
          </p:nvSpPr>
          <p:spPr>
            <a:xfrm>
              <a:off x="10621" y="4675"/>
              <a:ext cx="6667" cy="232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p>
              <a:pPr algn="l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新增功能（比如中途加入的</a:t>
              </a:r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</a:rPr>
                <a:t>“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积分系统</a:t>
              </a:r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</a:rPr>
                <a:t>”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）时，我们不需要修改数据库结构，也不需要停机维护。</a:t>
              </a:r>
              <a:endParaRPr lang="zh-CN" altLang="en-US" sz="1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l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我们只需要在代码层修改</a:t>
              </a:r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</a:rPr>
                <a:t> Pydantic 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的模型定义，新写入的数据就会自动包含新字段，而旧数据依然可以正常读取。</a:t>
              </a:r>
              <a:endParaRPr lang="zh-CN" altLang="en-US" sz="1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1336040" y="11188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  <a:sym typeface="+mn-ea"/>
              </a:rPr>
              <a:t>选择NoSQL的原因</a:t>
            </a:r>
            <a:endParaRPr lang="en-US" altLang="en-US" b="1" dirty="0">
              <a:solidFill>
                <a:schemeClr val="accent2">
                  <a:lumMod val="50000"/>
                </a:schemeClr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7:27:31-d2crf0v0ctitcgma2e40.png"/>
          <p:cNvPicPr>
            <a:picLocks noChangeAspect="1"/>
          </p:cNvPicPr>
          <p:nvPr/>
        </p:nvPicPr>
        <p:blipFill>
          <a:blip r:embed="rId1"/>
          <a:srcRect l="20" r="20"/>
          <a:stretch>
            <a:fillRect/>
          </a:stretch>
        </p:blipFill>
        <p:spPr>
          <a:xfrm>
            <a:off x="-11430" y="-24130"/>
            <a:ext cx="11249025" cy="632079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2106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744788" y="2883535"/>
            <a:ext cx="6702425" cy="9122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40404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数据库模型设计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580" y="1563370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7:27:31-d2crf0v0ctitcgma2e40.png"/>
          <p:cNvPicPr>
            <a:picLocks noChangeAspect="1"/>
          </p:cNvPicPr>
          <p:nvPr/>
        </p:nvPicPr>
        <p:blipFill>
          <a:blip r:embed="rId1"/>
          <a:srcRect l="20" r="20"/>
          <a:stretch>
            <a:fillRect/>
          </a:stretch>
        </p:blipFill>
        <p:spPr>
          <a:xfrm>
            <a:off x="-11430" y="-24130"/>
            <a:ext cx="11249025" cy="632079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8-11-17:27:33-d2crf1f0ctitcgma2e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69570"/>
            <a:ext cx="670560" cy="68262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506220" y="405765"/>
            <a:ext cx="9799955" cy="4210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关键集合与文档结构总览</a:t>
            </a:r>
            <a:endParaRPr lang="en-US" sz="1600" dirty="0"/>
          </a:p>
        </p:txBody>
      </p:sp>
      <p:grpSp>
        <p:nvGrpSpPr>
          <p:cNvPr id="29" name="组合 28"/>
          <p:cNvGrpSpPr/>
          <p:nvPr>
            <p:custDataLst>
              <p:tags r:id="rId3"/>
            </p:custDataLst>
          </p:nvPr>
        </p:nvGrpSpPr>
        <p:grpSpPr>
          <a:xfrm>
            <a:off x="715010" y="1299210"/>
            <a:ext cx="2575560" cy="2566035"/>
            <a:chOff x="866" y="2549"/>
            <a:chExt cx="4153" cy="6552"/>
          </a:xfrm>
        </p:grpSpPr>
        <p:sp>
          <p:nvSpPr>
            <p:cNvPr id="4" name="Shape 0"/>
            <p:cNvSpPr/>
            <p:nvPr>
              <p:custDataLst>
                <p:tags r:id="rId4"/>
              </p:custDataLst>
            </p:nvPr>
          </p:nvSpPr>
          <p:spPr>
            <a:xfrm rot="16200000">
              <a:off x="2186" y="6269"/>
              <a:ext cx="1512" cy="4152"/>
            </a:xfrm>
            <a:prstGeom prst="roundRect">
              <a:avLst>
                <a:gd name="adj" fmla="val 16667"/>
              </a:avLst>
            </a:prstGeom>
            <a:solidFill>
              <a:srgbClr val="49711E"/>
            </a:solidFill>
          </p:spPr>
        </p:sp>
        <p:sp>
          <p:nvSpPr>
            <p:cNvPr id="5" name="Shape 1"/>
            <p:cNvSpPr/>
            <p:nvPr>
              <p:custDataLst>
                <p:tags r:id="rId5"/>
              </p:custDataLst>
            </p:nvPr>
          </p:nvSpPr>
          <p:spPr>
            <a:xfrm>
              <a:off x="963" y="2549"/>
              <a:ext cx="3959" cy="6551"/>
            </a:xfrm>
            <a:prstGeom prst="roundRect">
              <a:avLst>
                <a:gd name="adj" fmla="val 9396"/>
              </a:avLst>
            </a:prstGeom>
            <a:solidFill>
              <a:srgbClr val="FFFFFF"/>
            </a:solidFill>
            <a:ln w="19050">
              <a:gradFill flip="none" rotWithShape="1">
                <a:gsLst>
                  <a:gs pos="0">
                    <a:srgbClr val="BEE396"/>
                  </a:gs>
                  <a:gs pos="84000">
                    <a:srgbClr val="92D050"/>
                  </a:gs>
                  <a:gs pos="100000">
                    <a:srgbClr val="92D050"/>
                  </a:gs>
                </a:gsLst>
                <a:lin ang="16200000" scaled="1"/>
              </a:gradFill>
              <a:prstDash val="solid"/>
            </a:ln>
          </p:spPr>
        </p:sp>
        <p:sp>
          <p:nvSpPr>
            <p:cNvPr id="6" name="Shape 2"/>
            <p:cNvSpPr/>
            <p:nvPr>
              <p:custDataLst>
                <p:tags r:id="rId6"/>
              </p:custDataLst>
            </p:nvPr>
          </p:nvSpPr>
          <p:spPr>
            <a:xfrm>
              <a:off x="867" y="7996"/>
              <a:ext cx="4152" cy="1104"/>
            </a:xfrm>
            <a:custGeom>
              <a:avLst/>
              <a:gdLst/>
              <a:ahLst/>
              <a:cxnLst/>
              <a:rect l="l" t="t" r="r" b="b"/>
              <a:pathLst>
                <a:path w="2636479" h="701040">
                  <a:moveTo>
                    <a:pt x="2635885" y="0"/>
                  </a:moveTo>
                  <a:cubicBezTo>
                    <a:pt x="2635885" y="-635"/>
                    <a:pt x="2637073" y="15875"/>
                    <a:pt x="2636479" y="15240"/>
                  </a:cubicBezTo>
                  <a:lnTo>
                    <a:pt x="2636479" y="563880"/>
                  </a:lnTo>
                  <a:cubicBezTo>
                    <a:pt x="2638855" y="641350"/>
                    <a:pt x="2572928" y="702945"/>
                    <a:pt x="2508189" y="701040"/>
                  </a:cubicBezTo>
                  <a:lnTo>
                    <a:pt x="128290" y="701040"/>
                  </a:lnTo>
                  <a:cubicBezTo>
                    <a:pt x="56424" y="703580"/>
                    <a:pt x="-1782" y="633095"/>
                    <a:pt x="0" y="563880"/>
                  </a:cubicBezTo>
                  <a:lnTo>
                    <a:pt x="0" y="64135"/>
                  </a:lnTo>
                  <a:lnTo>
                    <a:pt x="2635885" y="361315"/>
                  </a:lnTo>
                  <a:lnTo>
                    <a:pt x="2635885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EAA2E"/>
                </a:gs>
                <a:gs pos="53000">
                  <a:srgbClr val="92D050"/>
                </a:gs>
                <a:gs pos="91000">
                  <a:srgbClr val="C9E828"/>
                </a:gs>
                <a:gs pos="100000">
                  <a:srgbClr val="C9E828"/>
                </a:gs>
              </a:gsLst>
              <a:lin ang="0" scaled="1"/>
            </a:gradFill>
          </p:spPr>
        </p:sp>
        <p:sp>
          <p:nvSpPr>
            <p:cNvPr id="7" name="Shape 3"/>
            <p:cNvSpPr/>
            <p:nvPr>
              <p:custDataLst>
                <p:tags r:id="rId7"/>
              </p:custDataLst>
            </p:nvPr>
          </p:nvSpPr>
          <p:spPr>
            <a:xfrm flipV="1">
              <a:off x="867" y="8338"/>
              <a:ext cx="4151" cy="762"/>
            </a:xfrm>
            <a:custGeom>
              <a:avLst/>
              <a:gdLst/>
              <a:ahLst/>
              <a:cxnLst/>
              <a:rect l="l" t="t" r="r" b="b"/>
              <a:pathLst>
                <a:path w="2635885" h="483870">
                  <a:moveTo>
                    <a:pt x="0" y="137160"/>
                  </a:moveTo>
                  <a:cubicBezTo>
                    <a:pt x="-2376" y="60325"/>
                    <a:pt x="63551" y="-1905"/>
                    <a:pt x="128290" y="0"/>
                  </a:cubicBezTo>
                  <a:lnTo>
                    <a:pt x="2508189" y="0"/>
                  </a:lnTo>
                  <a:cubicBezTo>
                    <a:pt x="2575304" y="-2540"/>
                    <a:pt x="2631727" y="60960"/>
                    <a:pt x="2635885" y="122555"/>
                  </a:cubicBezTo>
                  <a:lnTo>
                    <a:pt x="2635885" y="483870"/>
                  </a:lnTo>
                  <a:lnTo>
                    <a:pt x="0" y="186690"/>
                  </a:lnTo>
                  <a:lnTo>
                    <a:pt x="0" y="13716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EAA2E"/>
                </a:gs>
                <a:gs pos="53000">
                  <a:srgbClr val="92D050"/>
                </a:gs>
                <a:gs pos="91000">
                  <a:srgbClr val="C9E828"/>
                </a:gs>
                <a:gs pos="100000">
                  <a:srgbClr val="C9E828"/>
                </a:gs>
              </a:gsLst>
              <a:lin ang="0" scaled="1"/>
            </a:gradFill>
          </p:spPr>
        </p:sp>
        <p:sp>
          <p:nvSpPr>
            <p:cNvPr id="21" name="Text 17"/>
            <p:cNvSpPr/>
            <p:nvPr>
              <p:custDataLst>
                <p:tags r:id="rId8"/>
              </p:custDataLst>
            </p:nvPr>
          </p:nvSpPr>
          <p:spPr>
            <a:xfrm>
              <a:off x="1258" y="2833"/>
              <a:ext cx="3368" cy="94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>
                <a:lnSpc>
                  <a:spcPct val="100000"/>
                </a:lnSpc>
              </a:pPr>
              <a:r>
                <a:rPr lang="en-US" sz="1800" b="1" dirty="0">
                  <a:solidFill>
                    <a:srgbClr val="000000"/>
                  </a:solidFill>
                  <a:latin typeface="Microsoft Sans Serif" panose="020B0604020202020204" pitchFamily="34" charset="0"/>
                  <a:ea typeface="Microsoft Sans Serif" panose="020B0604020202020204" pitchFamily="34" charset="-122"/>
                  <a:cs typeface="Microsoft Sans Serif" panose="020B0604020202020204" pitchFamily="34" charset="-120"/>
                </a:rPr>
                <a:t>users集合</a:t>
              </a:r>
              <a:endParaRPr lang="en-US" sz="1600" dirty="0"/>
            </a:p>
          </p:txBody>
        </p:sp>
        <p:sp>
          <p:nvSpPr>
            <p:cNvPr id="22" name="Text 18"/>
            <p:cNvSpPr/>
            <p:nvPr>
              <p:custDataLst>
                <p:tags r:id="rId9"/>
              </p:custDataLst>
            </p:nvPr>
          </p:nvSpPr>
          <p:spPr>
            <a:xfrm>
              <a:off x="1229" y="3867"/>
              <a:ext cx="3427" cy="399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存储用户的基本信息，如用户名、密码等。通过username字段建立唯一索引，确保用户信息的唯一性。</a:t>
              </a:r>
              <a:endParaRPr 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10"/>
            </p:custDataLst>
          </p:nvPr>
        </p:nvGrpSpPr>
        <p:grpSpPr>
          <a:xfrm>
            <a:off x="1408430" y="4139565"/>
            <a:ext cx="3093720" cy="2502535"/>
            <a:chOff x="5282" y="2549"/>
            <a:chExt cx="4547" cy="6552"/>
          </a:xfrm>
        </p:grpSpPr>
        <p:sp>
          <p:nvSpPr>
            <p:cNvPr id="8" name="Shape 4"/>
            <p:cNvSpPr/>
            <p:nvPr>
              <p:custDataLst>
                <p:tags r:id="rId11"/>
              </p:custDataLst>
            </p:nvPr>
          </p:nvSpPr>
          <p:spPr>
            <a:xfrm rot="16200000">
              <a:off x="6602" y="6269"/>
              <a:ext cx="1512" cy="4152"/>
            </a:xfrm>
            <a:prstGeom prst="roundRect">
              <a:avLst>
                <a:gd name="adj" fmla="val 16667"/>
              </a:avLst>
            </a:prstGeom>
            <a:solidFill>
              <a:srgbClr val="49711E"/>
            </a:solidFill>
          </p:spPr>
        </p:sp>
        <p:sp>
          <p:nvSpPr>
            <p:cNvPr id="9" name="Shape 5"/>
            <p:cNvSpPr/>
            <p:nvPr>
              <p:custDataLst>
                <p:tags r:id="rId12"/>
              </p:custDataLst>
            </p:nvPr>
          </p:nvSpPr>
          <p:spPr>
            <a:xfrm>
              <a:off x="5379" y="2549"/>
              <a:ext cx="3959" cy="6551"/>
            </a:xfrm>
            <a:prstGeom prst="roundRect">
              <a:avLst>
                <a:gd name="adj" fmla="val 9396"/>
              </a:avLst>
            </a:prstGeom>
            <a:solidFill>
              <a:srgbClr val="FFFFFF"/>
            </a:solidFill>
            <a:ln w="19050">
              <a:gradFill flip="none" rotWithShape="1">
                <a:gsLst>
                  <a:gs pos="0">
                    <a:srgbClr val="BEE396"/>
                  </a:gs>
                  <a:gs pos="84000">
                    <a:srgbClr val="92D050"/>
                  </a:gs>
                  <a:gs pos="100000">
                    <a:srgbClr val="92D050"/>
                  </a:gs>
                </a:gsLst>
                <a:lin ang="16200000" scaled="1"/>
              </a:gradFill>
              <a:prstDash val="solid"/>
            </a:ln>
          </p:spPr>
        </p:sp>
        <p:sp>
          <p:nvSpPr>
            <p:cNvPr id="10" name="Shape 6"/>
            <p:cNvSpPr/>
            <p:nvPr>
              <p:custDataLst>
                <p:tags r:id="rId13"/>
              </p:custDataLst>
            </p:nvPr>
          </p:nvSpPr>
          <p:spPr>
            <a:xfrm>
              <a:off x="5283" y="7996"/>
              <a:ext cx="4152" cy="1104"/>
            </a:xfrm>
            <a:custGeom>
              <a:avLst/>
              <a:gdLst/>
              <a:ahLst/>
              <a:cxnLst/>
              <a:rect l="l" t="t" r="r" b="b"/>
              <a:pathLst>
                <a:path w="2636479" h="701040">
                  <a:moveTo>
                    <a:pt x="2635885" y="0"/>
                  </a:moveTo>
                  <a:cubicBezTo>
                    <a:pt x="2635885" y="-635"/>
                    <a:pt x="2637073" y="15875"/>
                    <a:pt x="2636479" y="15240"/>
                  </a:cubicBezTo>
                  <a:lnTo>
                    <a:pt x="2636479" y="563880"/>
                  </a:lnTo>
                  <a:cubicBezTo>
                    <a:pt x="2638855" y="641350"/>
                    <a:pt x="2572928" y="702945"/>
                    <a:pt x="2508189" y="701040"/>
                  </a:cubicBezTo>
                  <a:lnTo>
                    <a:pt x="128290" y="701040"/>
                  </a:lnTo>
                  <a:cubicBezTo>
                    <a:pt x="56424" y="703580"/>
                    <a:pt x="-1782" y="633095"/>
                    <a:pt x="0" y="563880"/>
                  </a:cubicBezTo>
                  <a:lnTo>
                    <a:pt x="0" y="64135"/>
                  </a:lnTo>
                  <a:lnTo>
                    <a:pt x="2635885" y="361315"/>
                  </a:lnTo>
                  <a:lnTo>
                    <a:pt x="2635885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EAA2E"/>
                </a:gs>
                <a:gs pos="53000">
                  <a:srgbClr val="92D050"/>
                </a:gs>
                <a:gs pos="91000">
                  <a:srgbClr val="C9E828"/>
                </a:gs>
                <a:gs pos="100000">
                  <a:srgbClr val="C9E828"/>
                </a:gs>
              </a:gsLst>
              <a:lin ang="0" scaled="1"/>
            </a:gradFill>
          </p:spPr>
        </p:sp>
        <p:sp>
          <p:nvSpPr>
            <p:cNvPr id="11" name="Shape 7"/>
            <p:cNvSpPr/>
            <p:nvPr>
              <p:custDataLst>
                <p:tags r:id="rId14"/>
              </p:custDataLst>
            </p:nvPr>
          </p:nvSpPr>
          <p:spPr>
            <a:xfrm flipV="1">
              <a:off x="5283" y="8338"/>
              <a:ext cx="4151" cy="762"/>
            </a:xfrm>
            <a:custGeom>
              <a:avLst/>
              <a:gdLst/>
              <a:ahLst/>
              <a:cxnLst/>
              <a:rect l="l" t="t" r="r" b="b"/>
              <a:pathLst>
                <a:path w="2635885" h="483870">
                  <a:moveTo>
                    <a:pt x="0" y="137160"/>
                  </a:moveTo>
                  <a:cubicBezTo>
                    <a:pt x="-2376" y="60325"/>
                    <a:pt x="63551" y="-1905"/>
                    <a:pt x="128290" y="0"/>
                  </a:cubicBezTo>
                  <a:lnTo>
                    <a:pt x="2508189" y="0"/>
                  </a:lnTo>
                  <a:cubicBezTo>
                    <a:pt x="2575304" y="-2540"/>
                    <a:pt x="2631727" y="60960"/>
                    <a:pt x="2635885" y="122555"/>
                  </a:cubicBezTo>
                  <a:lnTo>
                    <a:pt x="2635885" y="483870"/>
                  </a:lnTo>
                  <a:lnTo>
                    <a:pt x="0" y="186690"/>
                  </a:lnTo>
                  <a:lnTo>
                    <a:pt x="0" y="13716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EAA2E"/>
                </a:gs>
                <a:gs pos="53000">
                  <a:srgbClr val="92D050"/>
                </a:gs>
                <a:gs pos="91000">
                  <a:srgbClr val="C9E828"/>
                </a:gs>
                <a:gs pos="100000">
                  <a:srgbClr val="C9E828"/>
                </a:gs>
              </a:gsLst>
              <a:lin ang="0" scaled="1"/>
            </a:gradFill>
          </p:spPr>
        </p:sp>
        <p:sp>
          <p:nvSpPr>
            <p:cNvPr id="23" name="Text 19"/>
            <p:cNvSpPr/>
            <p:nvPr>
              <p:custDataLst>
                <p:tags r:id="rId15"/>
              </p:custDataLst>
            </p:nvPr>
          </p:nvSpPr>
          <p:spPr>
            <a:xfrm>
              <a:off x="5426" y="2751"/>
              <a:ext cx="4403" cy="116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noAutofit/>
            </a:bodyPr>
            <a:lstStyle/>
            <a:p>
              <a:pPr algn="just">
                <a:lnSpc>
                  <a:spcPct val="100000"/>
                </a:lnSpc>
              </a:pPr>
              <a:r>
                <a:rPr lang="en-US" sz="1800" b="1" dirty="0">
                  <a:solidFill>
                    <a:srgbClr val="000000"/>
                  </a:solidFill>
                  <a:latin typeface="Microsoft Sans Serif" panose="020B0604020202020204" pitchFamily="34" charset="0"/>
                  <a:ea typeface="Microsoft Sans Serif" panose="020B0604020202020204" pitchFamily="34" charset="-122"/>
                  <a:cs typeface="Microsoft Sans Serif" panose="020B0604020202020204" pitchFamily="34" charset="-120"/>
                </a:rPr>
                <a:t>exchange_requests集合</a:t>
              </a:r>
              <a:endParaRPr lang="en-US" sz="1600" dirty="0"/>
            </a:p>
          </p:txBody>
        </p:sp>
        <p:sp>
          <p:nvSpPr>
            <p:cNvPr id="24" name="Text 20"/>
            <p:cNvSpPr/>
            <p:nvPr>
              <p:custDataLst>
                <p:tags r:id="rId16"/>
              </p:custDataLst>
            </p:nvPr>
          </p:nvSpPr>
          <p:spPr>
            <a:xfrm>
              <a:off x="5645" y="3867"/>
              <a:ext cx="3427" cy="410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存储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交换请求</a:t>
              </a:r>
              <a:r>
                <a:rPr 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利用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MongoDB 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文档特性，通过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type 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区分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普通申请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积分交换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等不同模式</a:t>
              </a:r>
              <a:endPara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1" name="组合 30"/>
          <p:cNvGrpSpPr/>
          <p:nvPr>
            <p:custDataLst>
              <p:tags r:id="rId17"/>
            </p:custDataLst>
          </p:nvPr>
        </p:nvGrpSpPr>
        <p:grpSpPr>
          <a:xfrm>
            <a:off x="4252595" y="1296670"/>
            <a:ext cx="2658110" cy="2543175"/>
            <a:chOff x="9698" y="2549"/>
            <a:chExt cx="4153" cy="6552"/>
          </a:xfrm>
        </p:grpSpPr>
        <p:sp>
          <p:nvSpPr>
            <p:cNvPr id="12" name="Shape 8"/>
            <p:cNvSpPr/>
            <p:nvPr>
              <p:custDataLst>
                <p:tags r:id="rId18"/>
              </p:custDataLst>
            </p:nvPr>
          </p:nvSpPr>
          <p:spPr>
            <a:xfrm rot="16200000">
              <a:off x="11018" y="6269"/>
              <a:ext cx="1512" cy="4152"/>
            </a:xfrm>
            <a:prstGeom prst="roundRect">
              <a:avLst>
                <a:gd name="adj" fmla="val 16667"/>
              </a:avLst>
            </a:prstGeom>
            <a:solidFill>
              <a:srgbClr val="49711E"/>
            </a:solidFill>
          </p:spPr>
        </p:sp>
        <p:sp>
          <p:nvSpPr>
            <p:cNvPr id="13" name="Shape 9"/>
            <p:cNvSpPr/>
            <p:nvPr>
              <p:custDataLst>
                <p:tags r:id="rId19"/>
              </p:custDataLst>
            </p:nvPr>
          </p:nvSpPr>
          <p:spPr>
            <a:xfrm>
              <a:off x="9795" y="2549"/>
              <a:ext cx="3959" cy="6551"/>
            </a:xfrm>
            <a:prstGeom prst="roundRect">
              <a:avLst>
                <a:gd name="adj" fmla="val 9396"/>
              </a:avLst>
            </a:prstGeom>
            <a:solidFill>
              <a:srgbClr val="FFFFFF"/>
            </a:solidFill>
            <a:ln w="19050">
              <a:gradFill flip="none" rotWithShape="1">
                <a:gsLst>
                  <a:gs pos="0">
                    <a:srgbClr val="BEE396"/>
                  </a:gs>
                  <a:gs pos="84000">
                    <a:srgbClr val="92D050"/>
                  </a:gs>
                  <a:gs pos="100000">
                    <a:srgbClr val="92D050"/>
                  </a:gs>
                </a:gsLst>
                <a:lin ang="16200000" scaled="1"/>
              </a:gradFill>
              <a:prstDash val="solid"/>
            </a:ln>
          </p:spPr>
        </p:sp>
        <p:sp>
          <p:nvSpPr>
            <p:cNvPr id="14" name="Shape 10"/>
            <p:cNvSpPr/>
            <p:nvPr>
              <p:custDataLst>
                <p:tags r:id="rId20"/>
              </p:custDataLst>
            </p:nvPr>
          </p:nvSpPr>
          <p:spPr>
            <a:xfrm>
              <a:off x="9699" y="7996"/>
              <a:ext cx="4152" cy="1104"/>
            </a:xfrm>
            <a:custGeom>
              <a:avLst/>
              <a:gdLst/>
              <a:ahLst/>
              <a:cxnLst/>
              <a:rect l="l" t="t" r="r" b="b"/>
              <a:pathLst>
                <a:path w="2636479" h="701040">
                  <a:moveTo>
                    <a:pt x="2635885" y="0"/>
                  </a:moveTo>
                  <a:cubicBezTo>
                    <a:pt x="2635885" y="-635"/>
                    <a:pt x="2637073" y="15875"/>
                    <a:pt x="2636479" y="15240"/>
                  </a:cubicBezTo>
                  <a:lnTo>
                    <a:pt x="2636479" y="563880"/>
                  </a:lnTo>
                  <a:cubicBezTo>
                    <a:pt x="2638855" y="641350"/>
                    <a:pt x="2572928" y="702945"/>
                    <a:pt x="2508189" y="701040"/>
                  </a:cubicBezTo>
                  <a:lnTo>
                    <a:pt x="128290" y="701040"/>
                  </a:lnTo>
                  <a:cubicBezTo>
                    <a:pt x="56424" y="703580"/>
                    <a:pt x="-1782" y="633095"/>
                    <a:pt x="0" y="563880"/>
                  </a:cubicBezTo>
                  <a:lnTo>
                    <a:pt x="0" y="64135"/>
                  </a:lnTo>
                  <a:lnTo>
                    <a:pt x="2635885" y="361315"/>
                  </a:lnTo>
                  <a:lnTo>
                    <a:pt x="2635885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EAA2E"/>
                </a:gs>
                <a:gs pos="53000">
                  <a:srgbClr val="92D050"/>
                </a:gs>
                <a:gs pos="91000">
                  <a:srgbClr val="C9E828"/>
                </a:gs>
                <a:gs pos="100000">
                  <a:srgbClr val="C9E828"/>
                </a:gs>
              </a:gsLst>
              <a:lin ang="0" scaled="1"/>
            </a:gradFill>
          </p:spPr>
        </p:sp>
        <p:sp>
          <p:nvSpPr>
            <p:cNvPr id="15" name="Shape 11"/>
            <p:cNvSpPr/>
            <p:nvPr>
              <p:custDataLst>
                <p:tags r:id="rId21"/>
              </p:custDataLst>
            </p:nvPr>
          </p:nvSpPr>
          <p:spPr>
            <a:xfrm flipV="1">
              <a:off x="9699" y="8338"/>
              <a:ext cx="4151" cy="762"/>
            </a:xfrm>
            <a:custGeom>
              <a:avLst/>
              <a:gdLst/>
              <a:ahLst/>
              <a:cxnLst/>
              <a:rect l="l" t="t" r="r" b="b"/>
              <a:pathLst>
                <a:path w="2635885" h="483870">
                  <a:moveTo>
                    <a:pt x="0" y="137160"/>
                  </a:moveTo>
                  <a:cubicBezTo>
                    <a:pt x="-2376" y="60325"/>
                    <a:pt x="63551" y="-1905"/>
                    <a:pt x="128290" y="0"/>
                  </a:cubicBezTo>
                  <a:lnTo>
                    <a:pt x="2508189" y="0"/>
                  </a:lnTo>
                  <a:cubicBezTo>
                    <a:pt x="2575304" y="-2540"/>
                    <a:pt x="2631727" y="60960"/>
                    <a:pt x="2635885" y="122555"/>
                  </a:cubicBezTo>
                  <a:lnTo>
                    <a:pt x="2635885" y="483870"/>
                  </a:lnTo>
                  <a:lnTo>
                    <a:pt x="0" y="186690"/>
                  </a:lnTo>
                  <a:lnTo>
                    <a:pt x="0" y="13716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EAA2E"/>
                </a:gs>
                <a:gs pos="53000">
                  <a:srgbClr val="92D050"/>
                </a:gs>
                <a:gs pos="91000">
                  <a:srgbClr val="C9E828"/>
                </a:gs>
                <a:gs pos="100000">
                  <a:srgbClr val="C9E828"/>
                </a:gs>
              </a:gsLst>
              <a:lin ang="0" scaled="1"/>
            </a:gradFill>
          </p:spPr>
        </p:sp>
        <p:sp>
          <p:nvSpPr>
            <p:cNvPr id="25" name="Text 21"/>
            <p:cNvSpPr/>
            <p:nvPr>
              <p:custDataLst>
                <p:tags r:id="rId22"/>
              </p:custDataLst>
            </p:nvPr>
          </p:nvSpPr>
          <p:spPr>
            <a:xfrm>
              <a:off x="10090" y="2833"/>
              <a:ext cx="3368" cy="9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>
                <a:lnSpc>
                  <a:spcPct val="100000"/>
                </a:lnSpc>
              </a:pPr>
              <a:r>
                <a:rPr lang="en-US" sz="1800" b="1" dirty="0">
                  <a:solidFill>
                    <a:srgbClr val="000000"/>
                  </a:solidFill>
                  <a:latin typeface="Microsoft Sans Serif" panose="020B0604020202020204" pitchFamily="34" charset="0"/>
                  <a:ea typeface="Microsoft Sans Serif" panose="020B0604020202020204" pitchFamily="34" charset="-122"/>
                  <a:cs typeface="Microsoft Sans Serif" panose="020B0604020202020204" pitchFamily="34" charset="-120"/>
                </a:rPr>
                <a:t>owned_courts集合</a:t>
              </a:r>
              <a:endParaRPr lang="en-US" sz="1600" dirty="0"/>
            </a:p>
          </p:txBody>
        </p:sp>
        <p:sp>
          <p:nvSpPr>
            <p:cNvPr id="26" name="Text 22"/>
            <p:cNvSpPr/>
            <p:nvPr>
              <p:custDataLst>
                <p:tags r:id="rId23"/>
              </p:custDataLst>
            </p:nvPr>
          </p:nvSpPr>
          <p:spPr>
            <a:xfrm>
              <a:off x="10061" y="3867"/>
              <a:ext cx="3427" cy="327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>
                <a:lnSpc>
                  <a:spcPct val="120000"/>
                </a:lnSpc>
                <a:buClrTx/>
                <a:buSzTx/>
                <a:buFontTx/>
              </a:pPr>
              <a:r>
                <a:rPr 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记录了用户对场地的拥有情况，包括场地ID、用户ID、开始时间、结束时间等。</a:t>
              </a:r>
              <a:endParaRPr 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2" name="组合 31"/>
          <p:cNvGrpSpPr/>
          <p:nvPr>
            <p:custDataLst>
              <p:tags r:id="rId24"/>
            </p:custDataLst>
          </p:nvPr>
        </p:nvGrpSpPr>
        <p:grpSpPr>
          <a:xfrm>
            <a:off x="7840980" y="1231265"/>
            <a:ext cx="2714625" cy="2547620"/>
            <a:chOff x="14114" y="2549"/>
            <a:chExt cx="4153" cy="6552"/>
          </a:xfrm>
        </p:grpSpPr>
        <p:sp>
          <p:nvSpPr>
            <p:cNvPr id="16" name="Shape 12"/>
            <p:cNvSpPr/>
            <p:nvPr>
              <p:custDataLst>
                <p:tags r:id="rId25"/>
              </p:custDataLst>
            </p:nvPr>
          </p:nvSpPr>
          <p:spPr>
            <a:xfrm rot="16200000">
              <a:off x="15434" y="6269"/>
              <a:ext cx="1512" cy="4152"/>
            </a:xfrm>
            <a:prstGeom prst="roundRect">
              <a:avLst>
                <a:gd name="adj" fmla="val 16667"/>
              </a:avLst>
            </a:prstGeom>
            <a:solidFill>
              <a:srgbClr val="49711E"/>
            </a:solidFill>
          </p:spPr>
        </p:sp>
        <p:sp>
          <p:nvSpPr>
            <p:cNvPr id="17" name="Shape 13"/>
            <p:cNvSpPr/>
            <p:nvPr>
              <p:custDataLst>
                <p:tags r:id="rId26"/>
              </p:custDataLst>
            </p:nvPr>
          </p:nvSpPr>
          <p:spPr>
            <a:xfrm>
              <a:off x="14211" y="2549"/>
              <a:ext cx="3959" cy="6551"/>
            </a:xfrm>
            <a:prstGeom prst="roundRect">
              <a:avLst>
                <a:gd name="adj" fmla="val 9396"/>
              </a:avLst>
            </a:prstGeom>
            <a:solidFill>
              <a:srgbClr val="FFFFFF"/>
            </a:solidFill>
            <a:ln w="19050">
              <a:gradFill flip="none" rotWithShape="1">
                <a:gsLst>
                  <a:gs pos="0">
                    <a:srgbClr val="BEE396"/>
                  </a:gs>
                  <a:gs pos="84000">
                    <a:srgbClr val="92D050"/>
                  </a:gs>
                  <a:gs pos="100000">
                    <a:srgbClr val="92D050"/>
                  </a:gs>
                </a:gsLst>
                <a:lin ang="16200000" scaled="1"/>
              </a:gradFill>
              <a:prstDash val="solid"/>
            </a:ln>
          </p:spPr>
        </p:sp>
        <p:sp>
          <p:nvSpPr>
            <p:cNvPr id="18" name="Shape 14"/>
            <p:cNvSpPr/>
            <p:nvPr>
              <p:custDataLst>
                <p:tags r:id="rId27"/>
              </p:custDataLst>
            </p:nvPr>
          </p:nvSpPr>
          <p:spPr>
            <a:xfrm>
              <a:off x="14115" y="7996"/>
              <a:ext cx="4152" cy="1104"/>
            </a:xfrm>
            <a:custGeom>
              <a:avLst/>
              <a:gdLst/>
              <a:ahLst/>
              <a:cxnLst/>
              <a:rect l="l" t="t" r="r" b="b"/>
              <a:pathLst>
                <a:path w="2636479" h="701040">
                  <a:moveTo>
                    <a:pt x="2635885" y="0"/>
                  </a:moveTo>
                  <a:cubicBezTo>
                    <a:pt x="2635885" y="-635"/>
                    <a:pt x="2637073" y="15875"/>
                    <a:pt x="2636479" y="15240"/>
                  </a:cubicBezTo>
                  <a:lnTo>
                    <a:pt x="2636479" y="563880"/>
                  </a:lnTo>
                  <a:cubicBezTo>
                    <a:pt x="2638855" y="641350"/>
                    <a:pt x="2572928" y="702945"/>
                    <a:pt x="2508189" y="701040"/>
                  </a:cubicBezTo>
                  <a:lnTo>
                    <a:pt x="128290" y="701040"/>
                  </a:lnTo>
                  <a:cubicBezTo>
                    <a:pt x="56424" y="703580"/>
                    <a:pt x="-1782" y="633095"/>
                    <a:pt x="0" y="563880"/>
                  </a:cubicBezTo>
                  <a:lnTo>
                    <a:pt x="0" y="64135"/>
                  </a:lnTo>
                  <a:lnTo>
                    <a:pt x="2635885" y="361315"/>
                  </a:lnTo>
                  <a:lnTo>
                    <a:pt x="2635885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EAA2E"/>
                </a:gs>
                <a:gs pos="53000">
                  <a:srgbClr val="92D050"/>
                </a:gs>
                <a:gs pos="91000">
                  <a:srgbClr val="C9E828"/>
                </a:gs>
                <a:gs pos="100000">
                  <a:srgbClr val="C9E828"/>
                </a:gs>
              </a:gsLst>
              <a:lin ang="0" scaled="1"/>
            </a:gradFill>
          </p:spPr>
        </p:sp>
        <p:sp>
          <p:nvSpPr>
            <p:cNvPr id="19" name="Shape 15"/>
            <p:cNvSpPr/>
            <p:nvPr>
              <p:custDataLst>
                <p:tags r:id="rId28"/>
              </p:custDataLst>
            </p:nvPr>
          </p:nvSpPr>
          <p:spPr>
            <a:xfrm flipV="1">
              <a:off x="14115" y="8338"/>
              <a:ext cx="4151" cy="762"/>
            </a:xfrm>
            <a:custGeom>
              <a:avLst/>
              <a:gdLst/>
              <a:ahLst/>
              <a:cxnLst/>
              <a:rect l="l" t="t" r="r" b="b"/>
              <a:pathLst>
                <a:path w="2635885" h="483870">
                  <a:moveTo>
                    <a:pt x="0" y="137160"/>
                  </a:moveTo>
                  <a:cubicBezTo>
                    <a:pt x="-2376" y="60325"/>
                    <a:pt x="63551" y="-1905"/>
                    <a:pt x="128290" y="0"/>
                  </a:cubicBezTo>
                  <a:lnTo>
                    <a:pt x="2508189" y="0"/>
                  </a:lnTo>
                  <a:cubicBezTo>
                    <a:pt x="2575304" y="-2540"/>
                    <a:pt x="2631727" y="60960"/>
                    <a:pt x="2635885" y="122555"/>
                  </a:cubicBezTo>
                  <a:lnTo>
                    <a:pt x="2635885" y="483870"/>
                  </a:lnTo>
                  <a:lnTo>
                    <a:pt x="0" y="186690"/>
                  </a:lnTo>
                  <a:lnTo>
                    <a:pt x="0" y="13716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EAA2E"/>
                </a:gs>
                <a:gs pos="53000">
                  <a:srgbClr val="92D050"/>
                </a:gs>
                <a:gs pos="91000">
                  <a:srgbClr val="C9E828"/>
                </a:gs>
                <a:gs pos="100000">
                  <a:srgbClr val="C9E828"/>
                </a:gs>
              </a:gsLst>
              <a:lin ang="0" scaled="1"/>
            </a:gradFill>
          </p:spPr>
        </p:sp>
        <p:sp>
          <p:nvSpPr>
            <p:cNvPr id="27" name="Text 23"/>
            <p:cNvSpPr/>
            <p:nvPr>
              <p:custDataLst>
                <p:tags r:id="rId29"/>
              </p:custDataLst>
            </p:nvPr>
          </p:nvSpPr>
          <p:spPr>
            <a:xfrm>
              <a:off x="14506" y="2833"/>
              <a:ext cx="3368" cy="94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>
                <a:lnSpc>
                  <a:spcPct val="100000"/>
                </a:lnSpc>
              </a:pPr>
              <a:r>
                <a:rPr lang="en-US" sz="1800" b="1" dirty="0">
                  <a:solidFill>
                    <a:srgbClr val="000000"/>
                  </a:solidFill>
                  <a:latin typeface="Microsoft Sans Serif" panose="020B0604020202020204" pitchFamily="34" charset="0"/>
                  <a:ea typeface="Microsoft Sans Serif" panose="020B0604020202020204" pitchFamily="34" charset="-122"/>
                  <a:cs typeface="Microsoft Sans Serif" panose="020B0604020202020204" pitchFamily="34" charset="-120"/>
                </a:rPr>
                <a:t>wanted_owned集合</a:t>
              </a:r>
              <a:endParaRPr lang="en-US" sz="1600" dirty="0"/>
            </a:p>
          </p:txBody>
        </p:sp>
        <p:sp>
          <p:nvSpPr>
            <p:cNvPr id="28" name="Text 24"/>
            <p:cNvSpPr/>
            <p:nvPr>
              <p:custDataLst>
                <p:tags r:id="rId30"/>
              </p:custDataLst>
            </p:nvPr>
          </p:nvSpPr>
          <p:spPr>
            <a:xfrm>
              <a:off x="14476" y="3645"/>
              <a:ext cx="3427" cy="478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存储了用户对场地的需求信息，包括用户ID、场地ID、期望时间等。与owned集合相互配合，为系统的匹配算法提供了数据基础。</a:t>
              </a:r>
              <a:endParaRPr lang="en-US" sz="1600" dirty="0"/>
            </a:p>
          </p:txBody>
        </p:sp>
      </p:grpSp>
      <p:grpSp>
        <p:nvGrpSpPr>
          <p:cNvPr id="34" name="组合 33"/>
          <p:cNvGrpSpPr/>
          <p:nvPr>
            <p:custDataLst>
              <p:tags r:id="rId31"/>
            </p:custDataLst>
          </p:nvPr>
        </p:nvGrpSpPr>
        <p:grpSpPr>
          <a:xfrm>
            <a:off x="5053965" y="4125595"/>
            <a:ext cx="2792095" cy="2583815"/>
            <a:chOff x="5282" y="2549"/>
            <a:chExt cx="4153" cy="6552"/>
          </a:xfrm>
        </p:grpSpPr>
        <p:sp>
          <p:nvSpPr>
            <p:cNvPr id="35" name="Shape 4"/>
            <p:cNvSpPr/>
            <p:nvPr>
              <p:custDataLst>
                <p:tags r:id="rId32"/>
              </p:custDataLst>
            </p:nvPr>
          </p:nvSpPr>
          <p:spPr>
            <a:xfrm rot="16200000">
              <a:off x="6602" y="6269"/>
              <a:ext cx="1512" cy="4152"/>
            </a:xfrm>
            <a:prstGeom prst="roundRect">
              <a:avLst>
                <a:gd name="adj" fmla="val 16667"/>
              </a:avLst>
            </a:prstGeom>
            <a:solidFill>
              <a:srgbClr val="49711E"/>
            </a:solidFill>
          </p:spPr>
        </p:sp>
        <p:sp>
          <p:nvSpPr>
            <p:cNvPr id="36" name="Shape 5"/>
            <p:cNvSpPr/>
            <p:nvPr>
              <p:custDataLst>
                <p:tags r:id="rId33"/>
              </p:custDataLst>
            </p:nvPr>
          </p:nvSpPr>
          <p:spPr>
            <a:xfrm>
              <a:off x="5379" y="2549"/>
              <a:ext cx="3959" cy="6551"/>
            </a:xfrm>
            <a:prstGeom prst="roundRect">
              <a:avLst>
                <a:gd name="adj" fmla="val 9396"/>
              </a:avLst>
            </a:prstGeom>
            <a:solidFill>
              <a:srgbClr val="FFFFFF"/>
            </a:solidFill>
            <a:ln w="19050">
              <a:gradFill flip="none" rotWithShape="1">
                <a:gsLst>
                  <a:gs pos="0">
                    <a:srgbClr val="BEE396"/>
                  </a:gs>
                  <a:gs pos="84000">
                    <a:srgbClr val="92D050"/>
                  </a:gs>
                  <a:gs pos="100000">
                    <a:srgbClr val="92D050"/>
                  </a:gs>
                </a:gsLst>
                <a:lin ang="16200000" scaled="1"/>
              </a:gradFill>
              <a:prstDash val="solid"/>
            </a:ln>
          </p:spPr>
        </p:sp>
        <p:sp>
          <p:nvSpPr>
            <p:cNvPr id="37" name="Shape 6"/>
            <p:cNvSpPr/>
            <p:nvPr>
              <p:custDataLst>
                <p:tags r:id="rId34"/>
              </p:custDataLst>
            </p:nvPr>
          </p:nvSpPr>
          <p:spPr>
            <a:xfrm>
              <a:off x="5283" y="7996"/>
              <a:ext cx="4152" cy="1104"/>
            </a:xfrm>
            <a:custGeom>
              <a:avLst/>
              <a:gdLst/>
              <a:ahLst/>
              <a:cxnLst/>
              <a:rect l="l" t="t" r="r" b="b"/>
              <a:pathLst>
                <a:path w="2636479" h="701040">
                  <a:moveTo>
                    <a:pt x="2635885" y="0"/>
                  </a:moveTo>
                  <a:cubicBezTo>
                    <a:pt x="2635885" y="-635"/>
                    <a:pt x="2637073" y="15875"/>
                    <a:pt x="2636479" y="15240"/>
                  </a:cubicBezTo>
                  <a:lnTo>
                    <a:pt x="2636479" y="563880"/>
                  </a:lnTo>
                  <a:cubicBezTo>
                    <a:pt x="2638855" y="641350"/>
                    <a:pt x="2572928" y="702945"/>
                    <a:pt x="2508189" y="701040"/>
                  </a:cubicBezTo>
                  <a:lnTo>
                    <a:pt x="128290" y="701040"/>
                  </a:lnTo>
                  <a:cubicBezTo>
                    <a:pt x="56424" y="703580"/>
                    <a:pt x="-1782" y="633095"/>
                    <a:pt x="0" y="563880"/>
                  </a:cubicBezTo>
                  <a:lnTo>
                    <a:pt x="0" y="64135"/>
                  </a:lnTo>
                  <a:lnTo>
                    <a:pt x="2635885" y="361315"/>
                  </a:lnTo>
                  <a:lnTo>
                    <a:pt x="2635885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EAA2E"/>
                </a:gs>
                <a:gs pos="53000">
                  <a:srgbClr val="92D050"/>
                </a:gs>
                <a:gs pos="91000">
                  <a:srgbClr val="C9E828"/>
                </a:gs>
                <a:gs pos="100000">
                  <a:srgbClr val="C9E828"/>
                </a:gs>
              </a:gsLst>
              <a:lin ang="0" scaled="1"/>
            </a:gradFill>
          </p:spPr>
        </p:sp>
        <p:sp>
          <p:nvSpPr>
            <p:cNvPr id="38" name="Shape 7"/>
            <p:cNvSpPr/>
            <p:nvPr>
              <p:custDataLst>
                <p:tags r:id="rId35"/>
              </p:custDataLst>
            </p:nvPr>
          </p:nvSpPr>
          <p:spPr>
            <a:xfrm flipV="1">
              <a:off x="5283" y="8338"/>
              <a:ext cx="4151" cy="762"/>
            </a:xfrm>
            <a:custGeom>
              <a:avLst/>
              <a:gdLst/>
              <a:ahLst/>
              <a:cxnLst/>
              <a:rect l="l" t="t" r="r" b="b"/>
              <a:pathLst>
                <a:path w="2635885" h="483870">
                  <a:moveTo>
                    <a:pt x="0" y="137160"/>
                  </a:moveTo>
                  <a:cubicBezTo>
                    <a:pt x="-2376" y="60325"/>
                    <a:pt x="63551" y="-1905"/>
                    <a:pt x="128290" y="0"/>
                  </a:cubicBezTo>
                  <a:lnTo>
                    <a:pt x="2508189" y="0"/>
                  </a:lnTo>
                  <a:cubicBezTo>
                    <a:pt x="2575304" y="-2540"/>
                    <a:pt x="2631727" y="60960"/>
                    <a:pt x="2635885" y="122555"/>
                  </a:cubicBezTo>
                  <a:lnTo>
                    <a:pt x="2635885" y="483870"/>
                  </a:lnTo>
                  <a:lnTo>
                    <a:pt x="0" y="186690"/>
                  </a:lnTo>
                  <a:lnTo>
                    <a:pt x="0" y="13716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EAA2E"/>
                </a:gs>
                <a:gs pos="53000">
                  <a:srgbClr val="92D050"/>
                </a:gs>
                <a:gs pos="91000">
                  <a:srgbClr val="C9E828"/>
                </a:gs>
                <a:gs pos="100000">
                  <a:srgbClr val="C9E828"/>
                </a:gs>
              </a:gsLst>
              <a:lin ang="0" scaled="1"/>
            </a:gradFill>
          </p:spPr>
        </p:sp>
        <p:sp>
          <p:nvSpPr>
            <p:cNvPr id="39" name="Text 19"/>
            <p:cNvSpPr/>
            <p:nvPr>
              <p:custDataLst>
                <p:tags r:id="rId36"/>
              </p:custDataLst>
            </p:nvPr>
          </p:nvSpPr>
          <p:spPr>
            <a:xfrm>
              <a:off x="5645" y="2795"/>
              <a:ext cx="2734" cy="116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noAutofit/>
            </a:bodyPr>
            <a:p>
              <a:pPr algn="just">
                <a:lnSpc>
                  <a:spcPct val="100000"/>
                </a:lnSpc>
              </a:pPr>
              <a:r>
                <a:rPr lang="en-US" sz="1800" b="1" dirty="0">
                  <a:solidFill>
                    <a:srgbClr val="000000"/>
                  </a:solidFill>
                  <a:latin typeface="Microsoft Sans Serif" panose="020B0604020202020204" pitchFamily="34" charset="0"/>
                  <a:ea typeface="Microsoft Sans Serif" panose="020B0604020202020204" pitchFamily="34" charset="-122"/>
                  <a:cs typeface="Microsoft Sans Serif" panose="020B0604020202020204" pitchFamily="34" charset="-120"/>
                </a:rPr>
                <a:t>friends集合</a:t>
              </a:r>
              <a:endParaRPr lang="en-US" sz="1600" dirty="0"/>
            </a:p>
          </p:txBody>
        </p:sp>
        <p:sp>
          <p:nvSpPr>
            <p:cNvPr id="40" name="Text 20"/>
            <p:cNvSpPr/>
            <p:nvPr>
              <p:custDataLst>
                <p:tags r:id="rId37"/>
              </p:custDataLst>
            </p:nvPr>
          </p:nvSpPr>
          <p:spPr>
            <a:xfrm>
              <a:off x="5645" y="3867"/>
              <a:ext cx="3427" cy="472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p>
              <a:pPr indent="0" algn="just" fontAlgn="auto" latinLnBrk="1">
                <a:lnSpc>
                  <a:spcPct val="120000"/>
                </a:lnSpc>
              </a:pP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存储用户社交关系。用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status (pending/accepted) 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字段，一张表同时搞定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好友申请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和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好友列表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</a:t>
              </a:r>
              <a:endPara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1" name="组合 40"/>
          <p:cNvGrpSpPr/>
          <p:nvPr>
            <p:custDataLst>
              <p:tags r:id="rId38"/>
            </p:custDataLst>
          </p:nvPr>
        </p:nvGrpSpPr>
        <p:grpSpPr>
          <a:xfrm>
            <a:off x="8796655" y="4124960"/>
            <a:ext cx="2739390" cy="2536825"/>
            <a:chOff x="5282" y="2549"/>
            <a:chExt cx="4153" cy="6552"/>
          </a:xfrm>
        </p:grpSpPr>
        <p:sp>
          <p:nvSpPr>
            <p:cNvPr id="42" name="Shape 4"/>
            <p:cNvSpPr/>
            <p:nvPr>
              <p:custDataLst>
                <p:tags r:id="rId39"/>
              </p:custDataLst>
            </p:nvPr>
          </p:nvSpPr>
          <p:spPr>
            <a:xfrm rot="16200000">
              <a:off x="6602" y="6269"/>
              <a:ext cx="1512" cy="4152"/>
            </a:xfrm>
            <a:prstGeom prst="roundRect">
              <a:avLst>
                <a:gd name="adj" fmla="val 16667"/>
              </a:avLst>
            </a:prstGeom>
            <a:solidFill>
              <a:srgbClr val="49711E"/>
            </a:solidFill>
          </p:spPr>
        </p:sp>
        <p:sp>
          <p:nvSpPr>
            <p:cNvPr id="43" name="Shape 5"/>
            <p:cNvSpPr/>
            <p:nvPr>
              <p:custDataLst>
                <p:tags r:id="rId40"/>
              </p:custDataLst>
            </p:nvPr>
          </p:nvSpPr>
          <p:spPr>
            <a:xfrm>
              <a:off x="5379" y="2549"/>
              <a:ext cx="3959" cy="6551"/>
            </a:xfrm>
            <a:prstGeom prst="roundRect">
              <a:avLst>
                <a:gd name="adj" fmla="val 9396"/>
              </a:avLst>
            </a:prstGeom>
            <a:solidFill>
              <a:srgbClr val="FFFFFF"/>
            </a:solidFill>
            <a:ln w="19050">
              <a:gradFill flip="none" rotWithShape="1">
                <a:gsLst>
                  <a:gs pos="0">
                    <a:srgbClr val="BEE396"/>
                  </a:gs>
                  <a:gs pos="84000">
                    <a:srgbClr val="92D050"/>
                  </a:gs>
                  <a:gs pos="100000">
                    <a:srgbClr val="92D050"/>
                  </a:gs>
                </a:gsLst>
                <a:lin ang="16200000" scaled="1"/>
              </a:gradFill>
              <a:prstDash val="solid"/>
            </a:ln>
          </p:spPr>
        </p:sp>
        <p:sp>
          <p:nvSpPr>
            <p:cNvPr id="44" name="Shape 6"/>
            <p:cNvSpPr/>
            <p:nvPr>
              <p:custDataLst>
                <p:tags r:id="rId41"/>
              </p:custDataLst>
            </p:nvPr>
          </p:nvSpPr>
          <p:spPr>
            <a:xfrm>
              <a:off x="5283" y="7996"/>
              <a:ext cx="4152" cy="1104"/>
            </a:xfrm>
            <a:custGeom>
              <a:avLst/>
              <a:gdLst/>
              <a:ahLst/>
              <a:cxnLst/>
              <a:rect l="l" t="t" r="r" b="b"/>
              <a:pathLst>
                <a:path w="2636479" h="701040">
                  <a:moveTo>
                    <a:pt x="2635885" y="0"/>
                  </a:moveTo>
                  <a:cubicBezTo>
                    <a:pt x="2635885" y="-635"/>
                    <a:pt x="2637073" y="15875"/>
                    <a:pt x="2636479" y="15240"/>
                  </a:cubicBezTo>
                  <a:lnTo>
                    <a:pt x="2636479" y="563880"/>
                  </a:lnTo>
                  <a:cubicBezTo>
                    <a:pt x="2638855" y="641350"/>
                    <a:pt x="2572928" y="702945"/>
                    <a:pt x="2508189" y="701040"/>
                  </a:cubicBezTo>
                  <a:lnTo>
                    <a:pt x="128290" y="701040"/>
                  </a:lnTo>
                  <a:cubicBezTo>
                    <a:pt x="56424" y="703580"/>
                    <a:pt x="-1782" y="633095"/>
                    <a:pt x="0" y="563880"/>
                  </a:cubicBezTo>
                  <a:lnTo>
                    <a:pt x="0" y="64135"/>
                  </a:lnTo>
                  <a:lnTo>
                    <a:pt x="2635885" y="361315"/>
                  </a:lnTo>
                  <a:lnTo>
                    <a:pt x="2635885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EAA2E"/>
                </a:gs>
                <a:gs pos="53000">
                  <a:srgbClr val="92D050"/>
                </a:gs>
                <a:gs pos="91000">
                  <a:srgbClr val="C9E828"/>
                </a:gs>
                <a:gs pos="100000">
                  <a:srgbClr val="C9E828"/>
                </a:gs>
              </a:gsLst>
              <a:lin ang="0" scaled="1"/>
            </a:gradFill>
          </p:spPr>
        </p:sp>
        <p:sp>
          <p:nvSpPr>
            <p:cNvPr id="45" name="Shape 7"/>
            <p:cNvSpPr/>
            <p:nvPr>
              <p:custDataLst>
                <p:tags r:id="rId42"/>
              </p:custDataLst>
            </p:nvPr>
          </p:nvSpPr>
          <p:spPr>
            <a:xfrm flipV="1">
              <a:off x="5283" y="8338"/>
              <a:ext cx="4151" cy="762"/>
            </a:xfrm>
            <a:custGeom>
              <a:avLst/>
              <a:gdLst/>
              <a:ahLst/>
              <a:cxnLst/>
              <a:rect l="l" t="t" r="r" b="b"/>
              <a:pathLst>
                <a:path w="2635885" h="483870">
                  <a:moveTo>
                    <a:pt x="0" y="137160"/>
                  </a:moveTo>
                  <a:cubicBezTo>
                    <a:pt x="-2376" y="60325"/>
                    <a:pt x="63551" y="-1905"/>
                    <a:pt x="128290" y="0"/>
                  </a:cubicBezTo>
                  <a:lnTo>
                    <a:pt x="2508189" y="0"/>
                  </a:lnTo>
                  <a:cubicBezTo>
                    <a:pt x="2575304" y="-2540"/>
                    <a:pt x="2631727" y="60960"/>
                    <a:pt x="2635885" y="122555"/>
                  </a:cubicBezTo>
                  <a:lnTo>
                    <a:pt x="2635885" y="483870"/>
                  </a:lnTo>
                  <a:lnTo>
                    <a:pt x="0" y="186690"/>
                  </a:lnTo>
                  <a:lnTo>
                    <a:pt x="0" y="13716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EAA2E"/>
                </a:gs>
                <a:gs pos="53000">
                  <a:srgbClr val="92D050"/>
                </a:gs>
                <a:gs pos="91000">
                  <a:srgbClr val="C9E828"/>
                </a:gs>
                <a:gs pos="100000">
                  <a:srgbClr val="C9E828"/>
                </a:gs>
              </a:gsLst>
              <a:lin ang="0" scaled="1"/>
            </a:gradFill>
          </p:spPr>
        </p:sp>
        <p:sp>
          <p:nvSpPr>
            <p:cNvPr id="46" name="Text 19"/>
            <p:cNvSpPr/>
            <p:nvPr>
              <p:custDataLst>
                <p:tags r:id="rId43"/>
              </p:custDataLst>
            </p:nvPr>
          </p:nvSpPr>
          <p:spPr>
            <a:xfrm>
              <a:off x="5824" y="2698"/>
              <a:ext cx="3515" cy="116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noAutofit/>
            </a:bodyPr>
            <a:lstStyle/>
            <a:p>
              <a:pPr algn="just">
                <a:lnSpc>
                  <a:spcPct val="100000"/>
                </a:lnSpc>
              </a:pPr>
              <a:r>
                <a:rPr lang="en-US" sz="1800" b="1" dirty="0">
                  <a:solidFill>
                    <a:srgbClr val="000000"/>
                  </a:solidFill>
                  <a:latin typeface="Microsoft Sans Serif" panose="020B0604020202020204" pitchFamily="34" charset="0"/>
                  <a:ea typeface="Microsoft Sans Serif" panose="020B0604020202020204" pitchFamily="34" charset="-122"/>
                  <a:cs typeface="Microsoft Sans Serif" panose="020B0604020202020204" pitchFamily="34" charset="-120"/>
                </a:rPr>
                <a:t>pending_owned集合</a:t>
              </a:r>
              <a:endParaRPr lang="en-US" sz="1600" dirty="0"/>
            </a:p>
          </p:txBody>
        </p:sp>
        <p:sp>
          <p:nvSpPr>
            <p:cNvPr id="47" name="Text 20"/>
            <p:cNvSpPr/>
            <p:nvPr>
              <p:custDataLst>
                <p:tags r:id="rId44"/>
              </p:custDataLst>
            </p:nvPr>
          </p:nvSpPr>
          <p:spPr>
            <a:xfrm>
              <a:off x="5585" y="3636"/>
              <a:ext cx="3487" cy="503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no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存储待管理员审核的场地，作为发布缓冲区。与正式场地表分离。对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serial_number 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建非唯一索引，允许提交相同序列号。</a:t>
              </a:r>
              <a:endPara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1719" y="399951"/>
            <a:ext cx="3636268" cy="4545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users 用户集合</a:t>
            </a:r>
            <a:endParaRPr lang="en-US" sz="2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581719" y="1145282"/>
            <a:ext cx="11028561" cy="2326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165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存储用户的基本信息，如用户名、密码</a:t>
            </a:r>
            <a:r>
              <a:rPr lang="zh-CN" altLang="en-US" sz="1165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、积分</a:t>
            </a:r>
            <a:r>
              <a:rPr lang="en-US" sz="1165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等。通过username字段建立唯一索引，确保用户信息的唯一性。</a:t>
            </a:r>
            <a:endParaRPr lang="en-US" sz="1165" dirty="0">
              <a:solidFill>
                <a:schemeClr val="tx1"/>
              </a:solidFill>
              <a:latin typeface="Syne" pitchFamily="34" charset="0"/>
              <a:ea typeface="Syne" pitchFamily="34" charset="-122"/>
              <a:cs typeface="Syne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81719" y="1541562"/>
            <a:ext cx="11028561" cy="2312094"/>
          </a:xfrm>
          <a:prstGeom prst="roundRect">
            <a:avLst>
              <a:gd name="adj" fmla="val 2642"/>
            </a:avLst>
          </a:prstGeom>
          <a:solidFill>
            <a:srgbClr val="222D32"/>
          </a:solidFill>
        </p:spPr>
      </p:sp>
      <p:sp>
        <p:nvSpPr>
          <p:cNvPr id="5" name="Shape 3"/>
          <p:cNvSpPr/>
          <p:nvPr/>
        </p:nvSpPr>
        <p:spPr>
          <a:xfrm>
            <a:off x="574477" y="1541562"/>
            <a:ext cx="11043047" cy="2312094"/>
          </a:xfrm>
          <a:prstGeom prst="roundRect">
            <a:avLst>
              <a:gd name="adj" fmla="val 944"/>
            </a:avLst>
          </a:prstGeom>
          <a:solidFill>
            <a:srgbClr val="222D32"/>
          </a:solidFill>
        </p:spPr>
      </p:sp>
      <p:sp>
        <p:nvSpPr>
          <p:cNvPr id="6" name="Text 4"/>
          <p:cNvSpPr/>
          <p:nvPr/>
        </p:nvSpPr>
        <p:spPr>
          <a:xfrm>
            <a:off x="719832" y="1650603"/>
            <a:ext cx="10752336" cy="20940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 fontAlgn="auto">
              <a:lnSpc>
                <a:spcPts val="1805"/>
              </a:lnSpc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165" dirty="0"/>
          </a:p>
          <a:p>
            <a:pPr indent="0" algn="l" fontAlgn="auto">
              <a:lnSpc>
                <a:spcPts val="1805"/>
              </a:lnSpc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_id: ObjectId,</a:t>
            </a:r>
            <a:endParaRPr lang="en-US" sz="1165" dirty="0"/>
          </a:p>
          <a:p>
            <a:pPr indent="0" algn="l" fontAlgn="auto">
              <a:lnSpc>
                <a:spcPts val="1805"/>
              </a:lnSpc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username: String,        // 用户名（唯一索引）</a:t>
            </a:r>
            <a:endParaRPr lang="en-US" sz="1165" dirty="0"/>
          </a:p>
          <a:p>
            <a:pPr indent="0" algn="l" fontAlgn="auto">
              <a:lnSpc>
                <a:spcPts val="1805"/>
              </a:lnSpc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password_hash: String,   // 密码哈希</a:t>
            </a:r>
            <a:endParaRPr lang="en-US" sz="1165" dirty="0"/>
          </a:p>
          <a:p>
            <a:pPr indent="0" algn="l" fontAlgn="auto">
              <a:lnSpc>
                <a:spcPts val="1805"/>
              </a:lnSpc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salt: String,            // 加密盐值</a:t>
            </a:r>
            <a:endParaRPr lang="en-US" sz="1165" dirty="0"/>
          </a:p>
          <a:p>
            <a:pPr indent="0" algn="l" fontAlgn="auto">
              <a:lnSpc>
                <a:spcPts val="1805"/>
              </a:lnSpc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is_admin: Boolean,       // 是否管理员</a:t>
            </a:r>
            <a:endParaRPr lang="en-US" sz="1165" dirty="0"/>
          </a:p>
          <a:p>
            <a:pPr indent="0" algn="l" fontAlgn="auto">
              <a:lnSpc>
                <a:spcPts val="1805"/>
              </a:lnSpc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points: Number,          // 积分余额</a:t>
            </a:r>
            <a:endParaRPr lang="en-US" sz="1165" dirty="0"/>
          </a:p>
          <a:p>
            <a:pPr indent="0" algn="l" fontAlgn="auto">
              <a:lnSpc>
                <a:spcPts val="1805"/>
              </a:lnSpc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created_at: DateTime     // 注册时间</a:t>
            </a:r>
            <a:endParaRPr lang="en-US" sz="1165" dirty="0"/>
          </a:p>
          <a:p>
            <a:pPr indent="0" algn="l" fontAlgn="auto">
              <a:lnSpc>
                <a:spcPts val="1805"/>
              </a:lnSpc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81719" y="4071739"/>
            <a:ext cx="2181721" cy="2726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核心字段详解</a:t>
            </a:r>
            <a:endParaRPr lang="en-US" sz="2000" b="1" dirty="0">
              <a:solidFill>
                <a:schemeClr val="tx1"/>
              </a:solidFill>
              <a:latin typeface="Syne Extra Bold" pitchFamily="34" charset="0"/>
              <a:ea typeface="Syne Extra Bold" pitchFamily="34" charset="-122"/>
              <a:cs typeface="Syne Extra Bold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81719" y="4562475"/>
            <a:ext cx="5441553" cy="875903"/>
          </a:xfrm>
          <a:prstGeom prst="roundRect">
            <a:avLst>
              <a:gd name="adj" fmla="val 10440"/>
            </a:avLst>
          </a:prstGeom>
          <a:solidFill>
            <a:srgbClr val="152025">
              <a:alpha val="95000"/>
            </a:srgbClr>
          </a:solidFill>
          <a:ln w="22860">
            <a:solidFill>
              <a:srgbClr val="6D9121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562669" y="4562475"/>
            <a:ext cx="76200" cy="875903"/>
          </a:xfrm>
          <a:prstGeom prst="roundRect">
            <a:avLst>
              <a:gd name="adj" fmla="val 80170"/>
            </a:avLst>
          </a:prstGeom>
          <a:solidFill>
            <a:srgbClr val="A9F00F"/>
          </a:solidFill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803275" y="4726940"/>
            <a:ext cx="1818005" cy="3505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7E5D8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username</a:t>
            </a:r>
            <a:endParaRPr lang="en-US" sz="1500" b="1" dirty="0">
              <a:solidFill>
                <a:srgbClr val="D7E5D8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803275" y="5041305"/>
            <a:ext cx="5055593" cy="2326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165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用户唯一标识,设置唯一索引,用于登录和关联其他集合</a:t>
            </a:r>
            <a:endParaRPr lang="en-US" sz="1165" dirty="0">
              <a:solidFill>
                <a:srgbClr val="D7E5D8"/>
              </a:solidFill>
              <a:latin typeface="Syne" pitchFamily="34" charset="0"/>
              <a:ea typeface="Syne" pitchFamily="34" charset="-122"/>
              <a:cs typeface="Syne" pitchFamily="34" charset="-120"/>
            </a:endParaRPr>
          </a:p>
        </p:txBody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6168628" y="4562475"/>
            <a:ext cx="5441653" cy="875903"/>
          </a:xfrm>
          <a:prstGeom prst="roundRect">
            <a:avLst>
              <a:gd name="adj" fmla="val 10440"/>
            </a:avLst>
          </a:prstGeom>
          <a:solidFill>
            <a:srgbClr val="152025">
              <a:alpha val="95000"/>
            </a:srgbClr>
          </a:solidFill>
          <a:ln w="22860">
            <a:solidFill>
              <a:srgbClr val="6D9121"/>
            </a:solidFill>
            <a:prstDash val="solid"/>
          </a:ln>
        </p:spPr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6149578" y="4562475"/>
            <a:ext cx="76200" cy="875903"/>
          </a:xfrm>
          <a:prstGeom prst="roundRect">
            <a:avLst>
              <a:gd name="adj" fmla="val 80170"/>
            </a:avLst>
          </a:prstGeom>
          <a:solidFill>
            <a:srgbClr val="A9F00F"/>
          </a:solidFill>
        </p:spPr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6390183" y="4726881"/>
            <a:ext cx="2321223" cy="2272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7E5D8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password_hash</a:t>
            </a:r>
            <a:endParaRPr lang="en-US" sz="1500" b="1" dirty="0">
              <a:solidFill>
                <a:srgbClr val="D7E5D8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6390183" y="5041305"/>
            <a:ext cx="5055692" cy="2326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165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加盐哈希后的密码,不存储明文密码</a:t>
            </a:r>
            <a:endParaRPr lang="en-US" sz="1165" dirty="0">
              <a:solidFill>
                <a:srgbClr val="D7E5D8"/>
              </a:solidFill>
              <a:latin typeface="Syne" pitchFamily="34" charset="0"/>
              <a:ea typeface="Syne" pitchFamily="34" charset="-122"/>
              <a:cs typeface="Syne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581719" y="5583733"/>
            <a:ext cx="5441553" cy="875903"/>
          </a:xfrm>
          <a:prstGeom prst="roundRect">
            <a:avLst>
              <a:gd name="adj" fmla="val 10440"/>
            </a:avLst>
          </a:prstGeom>
          <a:solidFill>
            <a:srgbClr val="152025">
              <a:alpha val="95000"/>
            </a:srgbClr>
          </a:solidFill>
          <a:ln w="22860">
            <a:solidFill>
              <a:srgbClr val="6D9121"/>
            </a:solidFill>
            <a:prstDash val="solid"/>
          </a:ln>
        </p:spPr>
      </p:sp>
      <p:sp>
        <p:nvSpPr>
          <p:cNvPr id="17" name="Shape 15"/>
          <p:cNvSpPr/>
          <p:nvPr>
            <p:custDataLst>
              <p:tags r:id="rId10"/>
            </p:custDataLst>
          </p:nvPr>
        </p:nvSpPr>
        <p:spPr>
          <a:xfrm>
            <a:off x="562669" y="5583733"/>
            <a:ext cx="76200" cy="875903"/>
          </a:xfrm>
          <a:prstGeom prst="roundRect">
            <a:avLst>
              <a:gd name="adj" fmla="val 80170"/>
            </a:avLst>
          </a:prstGeom>
          <a:solidFill>
            <a:srgbClr val="A9F00F"/>
          </a:solidFill>
        </p:spPr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803275" y="5748139"/>
            <a:ext cx="1818084" cy="2272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7E5D8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is_admin</a:t>
            </a:r>
            <a:endParaRPr lang="en-US" sz="1500" b="1" dirty="0">
              <a:solidFill>
                <a:srgbClr val="D7E5D8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803275" y="6062563"/>
            <a:ext cx="5055593" cy="2326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165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管理员标识,控制场地审核和系统管理权限</a:t>
            </a:r>
            <a:endParaRPr lang="en-US" sz="1165" dirty="0">
              <a:solidFill>
                <a:srgbClr val="D7E5D8"/>
              </a:solidFill>
              <a:latin typeface="Syne" pitchFamily="34" charset="0"/>
              <a:ea typeface="Syne" pitchFamily="34" charset="-122"/>
              <a:cs typeface="Syne" pitchFamily="34" charset="-120"/>
            </a:endParaRPr>
          </a:p>
        </p:txBody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6168628" y="5583733"/>
            <a:ext cx="5441653" cy="875903"/>
          </a:xfrm>
          <a:prstGeom prst="roundRect">
            <a:avLst>
              <a:gd name="adj" fmla="val 10440"/>
            </a:avLst>
          </a:prstGeom>
          <a:solidFill>
            <a:srgbClr val="152025">
              <a:alpha val="95000"/>
            </a:srgbClr>
          </a:solidFill>
          <a:ln w="22860">
            <a:solidFill>
              <a:srgbClr val="6D9121"/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6149578" y="5583733"/>
            <a:ext cx="76200" cy="875903"/>
          </a:xfrm>
          <a:prstGeom prst="roundRect">
            <a:avLst>
              <a:gd name="adj" fmla="val 80170"/>
            </a:avLst>
          </a:prstGeom>
          <a:solidFill>
            <a:srgbClr val="A9F00F"/>
          </a:solidFill>
        </p:spPr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6390183" y="5748139"/>
            <a:ext cx="1818084" cy="2272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7E5D8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points</a:t>
            </a:r>
            <a:endParaRPr lang="en-US" sz="1500" b="1" dirty="0">
              <a:solidFill>
                <a:srgbClr val="D7E5D8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6390183" y="6062563"/>
            <a:ext cx="5055692" cy="2326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165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用户积分余额,用于不等价场地交换的价值补偿</a:t>
            </a:r>
            <a:endParaRPr lang="en-US" sz="1165" dirty="0">
              <a:solidFill>
                <a:srgbClr val="D7E5D8"/>
              </a:solidFill>
              <a:latin typeface="Syne" pitchFamily="34" charset="0"/>
              <a:ea typeface="Syne" pitchFamily="34" charset="-122"/>
              <a:cs typeface="Syne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516433"/>
            <a:ext cx="4134843" cy="5167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250" b="1" dirty="0">
                <a:solidFill>
                  <a:schemeClr val="tx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场地相关集合</a:t>
            </a:r>
            <a:endParaRPr lang="en-US" sz="3250" b="1" dirty="0">
              <a:solidFill>
                <a:schemeClr val="tx1"/>
              </a:solidFill>
              <a:latin typeface="Syne Extra Bold" pitchFamily="34" charset="0"/>
              <a:ea typeface="Syne Extra Bold" pitchFamily="34" charset="-122"/>
              <a:cs typeface="Syne Extra Bold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661492" y="1446510"/>
            <a:ext cx="3934718" cy="3100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1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owned_courts </a:t>
            </a:r>
            <a:r>
              <a:rPr lang="en-US" sz="1915" b="1" dirty="0">
                <a:solidFill>
                  <a:schemeClr val="tx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已有场地</a:t>
            </a:r>
            <a:endParaRPr lang="en-US" sz="1915" b="1" dirty="0">
              <a:solidFill>
                <a:schemeClr val="tx1"/>
              </a:solidFill>
              <a:latin typeface="Syne Extra Bold" pitchFamily="34" charset="0"/>
              <a:ea typeface="Syne Extra Bold" pitchFamily="34" charset="-122"/>
              <a:cs typeface="Syne Extra Bold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661492" y="1921868"/>
            <a:ext cx="5232797" cy="264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90" dirty="0">
                <a:solidFill>
                  <a:schemeClr val="tx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记录用户拥有的场地资源,支持公开到广场供其他用户查看和申请交换。</a:t>
            </a:r>
            <a:endParaRPr lang="en-US" sz="1290" dirty="0">
              <a:solidFill>
                <a:schemeClr val="tx1"/>
              </a:solidFill>
              <a:latin typeface="Syne" pitchFamily="34" charset="0"/>
              <a:ea typeface="Syne" pitchFamily="34" charset="-122"/>
              <a:cs typeface="Syne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3"/>
            </p:custDataLst>
          </p:nvPr>
        </p:nvSpPr>
        <p:spPr>
          <a:xfrm>
            <a:off x="661670" y="2372360"/>
            <a:ext cx="5233035" cy="2362835"/>
          </a:xfrm>
          <a:prstGeom prst="roundRect">
            <a:avLst>
              <a:gd name="adj" fmla="val 2642"/>
            </a:avLst>
          </a:prstGeom>
          <a:solidFill>
            <a:srgbClr val="222D32"/>
          </a:solidFill>
        </p:spPr>
      </p:sp>
      <p:sp>
        <p:nvSpPr>
          <p:cNvPr id="6" name="Shape 4"/>
          <p:cNvSpPr/>
          <p:nvPr>
            <p:custDataLst>
              <p:tags r:id="rId4"/>
            </p:custDataLst>
          </p:nvPr>
        </p:nvSpPr>
        <p:spPr>
          <a:xfrm>
            <a:off x="653415" y="2372360"/>
            <a:ext cx="5249545" cy="2244725"/>
          </a:xfrm>
          <a:prstGeom prst="roundRect">
            <a:avLst>
              <a:gd name="adj" fmla="val 943"/>
            </a:avLst>
          </a:prstGeom>
          <a:solidFill>
            <a:srgbClr val="222D32"/>
          </a:solidFill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818555" y="2496543"/>
            <a:ext cx="4918670" cy="23815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_id: ObjectId,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owned_user_name: String,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court_id: Number,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start_at: DateTime,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end_at: DateTime,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is_public: Boolean,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created_at: DateTime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6304062" y="1446510"/>
            <a:ext cx="4099619" cy="3100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1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wanted_courts </a:t>
            </a:r>
            <a:r>
              <a:rPr lang="en-US" sz="1915" b="1" dirty="0">
                <a:solidFill>
                  <a:schemeClr val="tx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需求场地</a:t>
            </a:r>
            <a:endParaRPr lang="en-US" sz="1915" b="1" dirty="0">
              <a:solidFill>
                <a:schemeClr val="tx1"/>
              </a:solidFill>
              <a:latin typeface="Syne Extra Bold" pitchFamily="34" charset="0"/>
              <a:ea typeface="Syne Extra Bold" pitchFamily="34" charset="-122"/>
              <a:cs typeface="Syne Extra Bold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6304062" y="1921868"/>
            <a:ext cx="5232797" cy="264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90" dirty="0">
                <a:solidFill>
                  <a:schemeClr val="tx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记录用户的场地需求,系统根据需求自动匹配潜在的交换机会。</a:t>
            </a:r>
            <a:endParaRPr lang="en-US" sz="1290" dirty="0">
              <a:solidFill>
                <a:schemeClr val="tx1"/>
              </a:solidFill>
              <a:latin typeface="Syne" pitchFamily="34" charset="0"/>
              <a:ea typeface="Syne" pitchFamily="34" charset="-122"/>
              <a:cs typeface="Syne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8"/>
            </p:custDataLst>
          </p:nvPr>
        </p:nvSpPr>
        <p:spPr>
          <a:xfrm>
            <a:off x="6304062" y="2372519"/>
            <a:ext cx="5232797" cy="2364978"/>
          </a:xfrm>
          <a:prstGeom prst="roundRect">
            <a:avLst>
              <a:gd name="adj" fmla="val 2937"/>
            </a:avLst>
          </a:prstGeom>
          <a:solidFill>
            <a:srgbClr val="222D32"/>
          </a:solidFill>
        </p:spPr>
      </p:sp>
      <p:sp>
        <p:nvSpPr>
          <p:cNvPr id="11" name="Shape 9"/>
          <p:cNvSpPr/>
          <p:nvPr>
            <p:custDataLst>
              <p:tags r:id="rId9"/>
            </p:custDataLst>
          </p:nvPr>
        </p:nvSpPr>
        <p:spPr>
          <a:xfrm>
            <a:off x="6295827" y="2372519"/>
            <a:ext cx="5249268" cy="2364978"/>
          </a:xfrm>
          <a:prstGeom prst="roundRect">
            <a:avLst>
              <a:gd name="adj" fmla="val 1049"/>
            </a:avLst>
          </a:prstGeom>
          <a:solidFill>
            <a:srgbClr val="222D32"/>
          </a:solidFill>
        </p:spPr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6461125" y="2496543"/>
            <a:ext cx="4918670" cy="21169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algn="l">
              <a:lnSpc>
                <a:spcPts val="1805"/>
              </a:lnSpc>
              <a:buClrTx/>
              <a:buSz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_id: ObjectId,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wanted_user_name: String,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court_id: Number,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start_at: DateTime,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end_at: DateTime,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created_at: DateTime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1492" y="5374183"/>
            <a:ext cx="10869018" cy="967283"/>
          </a:xfrm>
          <a:prstGeom prst="roundRect">
            <a:avLst>
              <a:gd name="adj" fmla="val 7182"/>
            </a:avLst>
          </a:prstGeom>
          <a:gradFill flip="none" rotWithShape="1">
            <a:gsLst>
              <a:gs pos="0">
                <a:srgbClr val="6EAA2E"/>
              </a:gs>
              <a:gs pos="53000">
                <a:srgbClr val="92D050"/>
              </a:gs>
              <a:gs pos="91000">
                <a:srgbClr val="C9E828"/>
              </a:gs>
              <a:gs pos="100000">
                <a:srgbClr val="C9E828"/>
              </a:gs>
            </a:gsLst>
            <a:lin ang="0" scaled="1"/>
          </a:gra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790" y="5620246"/>
            <a:ext cx="206673" cy="16529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98761" y="5580757"/>
            <a:ext cx="10166449" cy="5292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9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关键设计:两个集合通过 </a:t>
            </a:r>
            <a:r>
              <a:rPr lang="en-US" sz="129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yne" pitchFamily="34" charset="-120"/>
              </a:rPr>
              <a:t>(court_id, start_at, end_at) </a:t>
            </a:r>
            <a:r>
              <a:rPr lang="en-US" sz="129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三元组进行匹配,支持复合索引加速查询。时间字段统一存储UTC时间,前端负责时区转换。</a:t>
            </a:r>
            <a:endParaRPr lang="en-US" sz="12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39341" y="302022"/>
            <a:ext cx="5562005" cy="3432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pending_owned </a:t>
            </a:r>
            <a:r>
              <a:rPr lang="en-US" sz="3000" b="1" dirty="0">
                <a:solidFill>
                  <a:schemeClr val="tx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待审核场地集合</a:t>
            </a:r>
            <a:endParaRPr lang="en-US" sz="3000" b="1" dirty="0">
              <a:solidFill>
                <a:schemeClr val="tx1"/>
              </a:solidFill>
              <a:latin typeface="Syne Extra Bold" pitchFamily="34" charset="0"/>
              <a:ea typeface="Syne Extra Bold" pitchFamily="34" charset="-122"/>
              <a:cs typeface="Syne Extra Bold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39341" y="810022"/>
            <a:ext cx="6741319" cy="3514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35" dirty="0">
                <a:solidFill>
                  <a:schemeClr val="tx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用户上传场地后需要管理员审核,防止虚假场地信息。该集合记录待审核的场地,包含学校系统的序列号用于验证真实性。审核通过后数据迁移到</a:t>
            </a:r>
            <a:r>
              <a:rPr lang="en-US" sz="1335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" pitchFamily="34" charset="-120"/>
              </a:rPr>
              <a:t>owned_courts</a:t>
            </a:r>
            <a:r>
              <a:rPr lang="en-US" sz="1335" dirty="0">
                <a:solidFill>
                  <a:schemeClr val="tx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集合。</a:t>
            </a:r>
            <a:endParaRPr lang="en-US" sz="1335" dirty="0">
              <a:solidFill>
                <a:schemeClr val="tx1"/>
              </a:solidFill>
              <a:latin typeface="Syne" pitchFamily="34" charset="0"/>
              <a:ea typeface="Syne" pitchFamily="34" charset="-122"/>
              <a:cs typeface="Syne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39420" y="1285240"/>
            <a:ext cx="6741160" cy="2895600"/>
          </a:xfrm>
          <a:prstGeom prst="roundRect">
            <a:avLst>
              <a:gd name="adj" fmla="val 2030"/>
            </a:avLst>
          </a:prstGeom>
          <a:solidFill>
            <a:srgbClr val="222D32"/>
          </a:solidFill>
        </p:spPr>
      </p:sp>
      <p:sp>
        <p:nvSpPr>
          <p:cNvPr id="6" name="Shape 3"/>
          <p:cNvSpPr/>
          <p:nvPr/>
        </p:nvSpPr>
        <p:spPr>
          <a:xfrm>
            <a:off x="433917" y="1284817"/>
            <a:ext cx="3589338" cy="2273300"/>
          </a:xfrm>
          <a:prstGeom prst="roundRect">
            <a:avLst>
              <a:gd name="adj" fmla="val 725"/>
            </a:avLst>
          </a:prstGeom>
          <a:solidFill>
            <a:srgbClr val="222D32"/>
          </a:solidFill>
        </p:spPr>
      </p:sp>
      <p:sp>
        <p:nvSpPr>
          <p:cNvPr id="7" name="Text 4"/>
          <p:cNvSpPr/>
          <p:nvPr/>
        </p:nvSpPr>
        <p:spPr>
          <a:xfrm>
            <a:off x="543719" y="1367333"/>
            <a:ext cx="6532563" cy="21085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_id: ObjectId,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username: String,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court_id: Number,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start_at: DateTime,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end_at: DateTime,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serial_number: String,   // 学校系统序列号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status: String,          // pending/approved/rejected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created_at: DateTime,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reviewed_at: DateTime,   // 审核时间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reviewed_by: String      // 审核人</a:t>
            </a:r>
            <a:endParaRPr lang="en-US" sz="1165" dirty="0">
              <a:solidFill>
                <a:srgbClr val="D7E5D8"/>
              </a:solidFill>
              <a:highlight>
                <a:srgbClr val="222D32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l">
              <a:lnSpc>
                <a:spcPts val="1805"/>
              </a:lnSpc>
              <a:buClrTx/>
              <a:buSzTx/>
              <a:buFontTx/>
              <a:buNone/>
            </a:pPr>
            <a:r>
              <a:rPr lang="en-US" sz="116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35" dirty="0"/>
          </a:p>
        </p:txBody>
      </p:sp>
      <p:sp>
        <p:nvSpPr>
          <p:cNvPr id="8" name="Text 5"/>
          <p:cNvSpPr/>
          <p:nvPr/>
        </p:nvSpPr>
        <p:spPr>
          <a:xfrm>
            <a:off x="1217004" y="5257568"/>
            <a:ext cx="1647825" cy="2059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审核状态流程</a:t>
            </a:r>
            <a:endParaRPr 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9" name="Text 6"/>
          <p:cNvSpPr/>
          <p:nvPr>
            <p:custDataLst>
              <p:tags r:id="rId1"/>
            </p:custDataLst>
          </p:nvPr>
        </p:nvSpPr>
        <p:spPr>
          <a:xfrm>
            <a:off x="3913849" y="4261095"/>
            <a:ext cx="109835" cy="1373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01</a:t>
            </a:r>
            <a:endParaRPr lang="en-US" sz="1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10" name="Shape 7"/>
          <p:cNvSpPr/>
          <p:nvPr>
            <p:custDataLst>
              <p:tags r:id="rId2"/>
            </p:custDataLst>
          </p:nvPr>
        </p:nvSpPr>
        <p:spPr>
          <a:xfrm>
            <a:off x="3913849" y="4435025"/>
            <a:ext cx="6741319" cy="12700"/>
          </a:xfrm>
          <a:prstGeom prst="rect">
            <a:avLst/>
          </a:prstGeom>
          <a:solidFill>
            <a:srgbClr val="A9F00F"/>
          </a:solidFill>
        </p:spPr>
      </p:sp>
      <p:sp>
        <p:nvSpPr>
          <p:cNvPr id="11" name="Text 8"/>
          <p:cNvSpPr/>
          <p:nvPr>
            <p:custDataLst>
              <p:tags r:id="rId3"/>
            </p:custDataLst>
          </p:nvPr>
        </p:nvSpPr>
        <p:spPr>
          <a:xfrm>
            <a:off x="3913849" y="4515293"/>
            <a:ext cx="1373188" cy="1716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pending</a:t>
            </a:r>
            <a:endParaRPr lang="en-US" sz="1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12" name="Text 9"/>
          <p:cNvSpPr/>
          <p:nvPr>
            <p:custDataLst>
              <p:tags r:id="rId4"/>
            </p:custDataLst>
          </p:nvPr>
        </p:nvSpPr>
        <p:spPr>
          <a:xfrm>
            <a:off x="3913849" y="4752823"/>
            <a:ext cx="6741319" cy="1757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待审核状态,用户提交后的初始状态,等待管理员处理</a:t>
            </a:r>
            <a:endParaRPr lang="en-US" sz="1500" dirty="0">
              <a:solidFill>
                <a:schemeClr val="tx1"/>
              </a:solidFill>
              <a:latin typeface="Syne" pitchFamily="34" charset="0"/>
              <a:ea typeface="Syne" pitchFamily="34" charset="-122"/>
              <a:cs typeface="Syne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5"/>
            </p:custDataLst>
          </p:nvPr>
        </p:nvSpPr>
        <p:spPr>
          <a:xfrm>
            <a:off x="3913849" y="5120726"/>
            <a:ext cx="109835" cy="1373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algn="l">
              <a:lnSpc>
                <a:spcPts val="1650"/>
              </a:lnSpc>
              <a:buClrTx/>
              <a:buSzTx/>
              <a:buFontTx/>
              <a:buNone/>
            </a:pPr>
            <a:r>
              <a:rPr lang="en-US" sz="1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02</a:t>
            </a:r>
            <a:endParaRPr lang="en-US" sz="1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14" name="Shape 11"/>
          <p:cNvSpPr/>
          <p:nvPr>
            <p:custDataLst>
              <p:tags r:id="rId6"/>
            </p:custDataLst>
          </p:nvPr>
        </p:nvSpPr>
        <p:spPr>
          <a:xfrm>
            <a:off x="3913849" y="5294657"/>
            <a:ext cx="6741319" cy="12700"/>
          </a:xfrm>
          <a:prstGeom prst="rect">
            <a:avLst/>
          </a:prstGeom>
          <a:solidFill>
            <a:srgbClr val="A9F00F"/>
          </a:solidFill>
        </p:spPr>
      </p:sp>
      <p:sp>
        <p:nvSpPr>
          <p:cNvPr id="15" name="Text 12"/>
          <p:cNvSpPr/>
          <p:nvPr>
            <p:custDataLst>
              <p:tags r:id="rId7"/>
            </p:custDataLst>
          </p:nvPr>
        </p:nvSpPr>
        <p:spPr>
          <a:xfrm>
            <a:off x="3913849" y="5374924"/>
            <a:ext cx="1373188" cy="1716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approved</a:t>
            </a:r>
            <a:endParaRPr lang="en-US" sz="1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16" name="Text 13"/>
          <p:cNvSpPr/>
          <p:nvPr>
            <p:custDataLst>
              <p:tags r:id="rId8"/>
            </p:custDataLst>
          </p:nvPr>
        </p:nvSpPr>
        <p:spPr>
          <a:xfrm>
            <a:off x="3913849" y="5612454"/>
            <a:ext cx="6741319" cy="1757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审核通过,场地信息验证真实,数据迁移到</a:t>
            </a:r>
            <a:r>
              <a:rPr lang="en-US" sz="15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" pitchFamily="34" charset="-120"/>
              </a:rPr>
              <a:t>owned_courts</a:t>
            </a:r>
            <a:endParaRPr lang="en-US" sz="15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yne" pitchFamily="34" charset="-120"/>
            </a:endParaRPr>
          </a:p>
        </p:txBody>
      </p:sp>
      <p:sp>
        <p:nvSpPr>
          <p:cNvPr id="17" name="Text 14"/>
          <p:cNvSpPr/>
          <p:nvPr>
            <p:custDataLst>
              <p:tags r:id="rId9"/>
            </p:custDataLst>
          </p:nvPr>
        </p:nvSpPr>
        <p:spPr>
          <a:xfrm>
            <a:off x="3913849" y="5980358"/>
            <a:ext cx="109835" cy="1373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algn="l">
              <a:lnSpc>
                <a:spcPts val="1650"/>
              </a:lnSpc>
              <a:buClrTx/>
              <a:buSzTx/>
              <a:buFontTx/>
              <a:buNone/>
            </a:pPr>
            <a:r>
              <a:rPr lang="en-US" sz="1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03</a:t>
            </a:r>
            <a:endParaRPr lang="en-US" sz="1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18" name="Shape 15"/>
          <p:cNvSpPr/>
          <p:nvPr>
            <p:custDataLst>
              <p:tags r:id="rId10"/>
            </p:custDataLst>
          </p:nvPr>
        </p:nvSpPr>
        <p:spPr>
          <a:xfrm>
            <a:off x="3913849" y="6154288"/>
            <a:ext cx="6741319" cy="12700"/>
          </a:xfrm>
          <a:prstGeom prst="rect">
            <a:avLst/>
          </a:prstGeom>
          <a:solidFill>
            <a:srgbClr val="A9F00F"/>
          </a:solidFill>
        </p:spPr>
      </p:sp>
      <p:sp>
        <p:nvSpPr>
          <p:cNvPr id="19" name="Text 16"/>
          <p:cNvSpPr/>
          <p:nvPr>
            <p:custDataLst>
              <p:tags r:id="rId11"/>
            </p:custDataLst>
          </p:nvPr>
        </p:nvSpPr>
        <p:spPr>
          <a:xfrm>
            <a:off x="3913849" y="6234556"/>
            <a:ext cx="1373188" cy="1716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rejected</a:t>
            </a:r>
            <a:endParaRPr lang="en-US" sz="1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20" name="Text 17"/>
          <p:cNvSpPr/>
          <p:nvPr>
            <p:custDataLst>
              <p:tags r:id="rId12"/>
            </p:custDataLst>
          </p:nvPr>
        </p:nvSpPr>
        <p:spPr>
          <a:xfrm>
            <a:off x="3913849" y="6472085"/>
            <a:ext cx="6741319" cy="1757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审核拒绝,场地信息不符或序列号无效,通知用户原因</a:t>
            </a:r>
            <a:endParaRPr lang="en-US" sz="1500" dirty="0">
              <a:solidFill>
                <a:schemeClr val="tx1"/>
              </a:solidFill>
              <a:latin typeface="Syne" pitchFamily="34" charset="0"/>
              <a:ea typeface="Syne" pitchFamily="34" charset="-122"/>
              <a:cs typeface="Syne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7526" y="114578"/>
            <a:ext cx="6533158" cy="8493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exchange_requests </a:t>
            </a:r>
            <a:r>
              <a:rPr lang="en-US" sz="2665" b="1" dirty="0">
                <a:solidFill>
                  <a:schemeClr val="tx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交换申请集合</a:t>
            </a:r>
            <a:endParaRPr lang="en-US" sz="2665" b="1" dirty="0">
              <a:solidFill>
                <a:schemeClr val="tx1"/>
              </a:solidFill>
              <a:latin typeface="Syne Extra Bold" pitchFamily="34" charset="0"/>
              <a:ea typeface="Syne Extra Bold" pitchFamily="34" charset="-122"/>
              <a:cs typeface="Syne Extra Bold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463026" y="1054021"/>
            <a:ext cx="6533158" cy="4345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交换申请集合是场地交换业务的核心,记录用户之间的交换请求和积分出价。支持直接交换和积分补偿两种模式,通过</a:t>
            </a:r>
            <a:r>
              <a:rPr lang="en-US" sz="15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" pitchFamily="34" charset="-120"/>
              </a:rPr>
              <a:t>status</a:t>
            </a:r>
            <a:r>
              <a:rPr lang="en-US" sz="1500" dirty="0">
                <a:solidFill>
                  <a:schemeClr val="tx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字段管理申请生命周期。</a:t>
            </a:r>
            <a:endParaRPr lang="en-US" sz="1500" dirty="0">
              <a:solidFill>
                <a:schemeClr val="tx1"/>
              </a:solidFill>
              <a:latin typeface="Syne" pitchFamily="34" charset="0"/>
              <a:ea typeface="Syne" pitchFamily="34" charset="-122"/>
              <a:cs typeface="Syne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463026" y="1641396"/>
            <a:ext cx="6533158" cy="2593975"/>
          </a:xfrm>
          <a:prstGeom prst="roundRect">
            <a:avLst>
              <a:gd name="adj" fmla="val 2200"/>
            </a:avLst>
          </a:prstGeom>
          <a:solidFill>
            <a:srgbClr val="222D32"/>
          </a:solidFill>
        </p:spPr>
      </p:sp>
      <p:sp>
        <p:nvSpPr>
          <p:cNvPr id="6" name="Shape 3"/>
          <p:cNvSpPr/>
          <p:nvPr/>
        </p:nvSpPr>
        <p:spPr>
          <a:xfrm>
            <a:off x="2456180" y="1641475"/>
            <a:ext cx="6546850" cy="2997835"/>
          </a:xfrm>
          <a:prstGeom prst="roundRect">
            <a:avLst>
              <a:gd name="adj" fmla="val 786"/>
            </a:avLst>
          </a:prstGeom>
          <a:solidFill>
            <a:srgbClr val="222D32"/>
          </a:solidFill>
        </p:spPr>
      </p:sp>
      <p:sp>
        <p:nvSpPr>
          <p:cNvPr id="7" name="Text 4"/>
          <p:cNvSpPr/>
          <p:nvPr/>
        </p:nvSpPr>
        <p:spPr>
          <a:xfrm>
            <a:off x="2592110" y="1743293"/>
            <a:ext cx="6274991" cy="2390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04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04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04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_id: ObjectId,</a:t>
            </a:r>
            <a:endParaRPr lang="en-US" sz="104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04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post_user_name: String,     // 场地拥有者</a:t>
            </a:r>
            <a:endParaRPr lang="en-US" sz="104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04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request_user_name: String,  // 申请者</a:t>
            </a:r>
            <a:endParaRPr lang="en-US" sz="104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04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court_id: Number,</a:t>
            </a:r>
            <a:endParaRPr lang="en-US" sz="104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04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start_at: DateTime,</a:t>
            </a:r>
            <a:endParaRPr lang="en-US" sz="104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04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end_at: DateTime,</a:t>
            </a:r>
            <a:endParaRPr lang="en-US" sz="104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04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points: Number,             // 积分出价</a:t>
            </a:r>
            <a:endParaRPr lang="en-US" sz="104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04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status: String,             // pending/completed/refused</a:t>
            </a:r>
            <a:endParaRPr lang="en-US" sz="104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04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created_at: DateTime</a:t>
            </a:r>
            <a:endParaRPr lang="en-US" sz="104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04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40" dirty="0"/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2470150" y="4808855"/>
            <a:ext cx="6532880" cy="1725930"/>
            <a:chOff x="3947" y="7584"/>
            <a:chExt cx="10288" cy="2718"/>
          </a:xfrm>
        </p:grpSpPr>
        <p:sp>
          <p:nvSpPr>
            <p:cNvPr id="8" name="Shape 5"/>
            <p:cNvSpPr/>
            <p:nvPr>
              <p:custDataLst>
                <p:tags r:id="rId2"/>
              </p:custDataLst>
            </p:nvPr>
          </p:nvSpPr>
          <p:spPr>
            <a:xfrm>
              <a:off x="3947" y="7584"/>
              <a:ext cx="5037" cy="1253"/>
            </a:xfrm>
            <a:prstGeom prst="roundRect">
              <a:avLst>
                <a:gd name="adj" fmla="val 7174"/>
              </a:avLst>
            </a:prstGeom>
            <a:gradFill flip="none" rotWithShape="1">
              <a:gsLst>
                <a:gs pos="0">
                  <a:srgbClr val="6EAA2E"/>
                </a:gs>
                <a:gs pos="53000">
                  <a:srgbClr val="92D050"/>
                </a:gs>
                <a:gs pos="91000">
                  <a:srgbClr val="C9E828"/>
                </a:gs>
                <a:gs pos="100000">
                  <a:srgbClr val="C9E828"/>
                </a:gs>
              </a:gsLst>
              <a:lin ang="0" scaled="1"/>
            </a:gradFill>
          </p:spPr>
        </p:sp>
        <p:sp>
          <p:nvSpPr>
            <p:cNvPr id="9" name="Text 6"/>
            <p:cNvSpPr/>
            <p:nvPr>
              <p:custDataLst>
                <p:tags r:id="rId3"/>
              </p:custDataLst>
            </p:nvPr>
          </p:nvSpPr>
          <p:spPr>
            <a:xfrm>
              <a:off x="4171" y="7807"/>
              <a:ext cx="2675" cy="33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1335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Syne Extra Bold" pitchFamily="34" charset="-120"/>
                </a:rPr>
                <a:t>pending</a:t>
              </a:r>
              <a:endParaRPr lang="en-US" sz="133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endParaRPr>
            </a:p>
          </p:txBody>
        </p:sp>
        <p:sp>
          <p:nvSpPr>
            <p:cNvPr id="10" name="Text 7"/>
            <p:cNvSpPr/>
            <p:nvPr>
              <p:custDataLst>
                <p:tags r:id="rId4"/>
              </p:custDataLst>
            </p:nvPr>
          </p:nvSpPr>
          <p:spPr>
            <a:xfrm>
              <a:off x="4171" y="8270"/>
              <a:ext cx="4589" cy="342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040" dirty="0">
                  <a:solidFill>
                    <a:srgbClr val="FFFFFF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待处理,场地拥有者尚未响应申请</a:t>
              </a:r>
              <a:endParaRPr lang="en-US" sz="1040" dirty="0"/>
            </a:p>
          </p:txBody>
        </p:sp>
        <p:sp>
          <p:nvSpPr>
            <p:cNvPr id="11" name="Shape 8"/>
            <p:cNvSpPr/>
            <p:nvPr>
              <p:custDataLst>
                <p:tags r:id="rId5"/>
              </p:custDataLst>
            </p:nvPr>
          </p:nvSpPr>
          <p:spPr>
            <a:xfrm>
              <a:off x="9198" y="7584"/>
              <a:ext cx="5037" cy="1253"/>
            </a:xfrm>
            <a:prstGeom prst="roundRect">
              <a:avLst>
                <a:gd name="adj" fmla="val 7174"/>
              </a:avLst>
            </a:prstGeom>
            <a:gradFill flip="none" rotWithShape="1">
              <a:gsLst>
                <a:gs pos="0">
                  <a:srgbClr val="6EAA2E"/>
                </a:gs>
                <a:gs pos="53000">
                  <a:srgbClr val="92D050"/>
                </a:gs>
                <a:gs pos="91000">
                  <a:srgbClr val="C9E828"/>
                </a:gs>
                <a:gs pos="100000">
                  <a:srgbClr val="C9E828"/>
                </a:gs>
              </a:gsLst>
              <a:lin ang="0" scaled="1"/>
            </a:gradFill>
          </p:spPr>
        </p:sp>
        <p:sp>
          <p:nvSpPr>
            <p:cNvPr id="12" name="Text 9"/>
            <p:cNvSpPr/>
            <p:nvPr>
              <p:custDataLst>
                <p:tags r:id="rId6"/>
              </p:custDataLst>
            </p:nvPr>
          </p:nvSpPr>
          <p:spPr>
            <a:xfrm>
              <a:off x="9422" y="7807"/>
              <a:ext cx="2675" cy="33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1335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Syne Extra Bold" pitchFamily="34" charset="-120"/>
                </a:rPr>
                <a:t>completed</a:t>
              </a:r>
              <a:endParaRPr lang="en-US" sz="133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endParaRPr>
            </a:p>
          </p:txBody>
        </p:sp>
        <p:sp>
          <p:nvSpPr>
            <p:cNvPr id="13" name="Text 10"/>
            <p:cNvSpPr/>
            <p:nvPr>
              <p:custDataLst>
                <p:tags r:id="rId7"/>
              </p:custDataLst>
            </p:nvPr>
          </p:nvSpPr>
          <p:spPr>
            <a:xfrm>
              <a:off x="9422" y="8270"/>
              <a:ext cx="4590" cy="342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040" dirty="0">
                  <a:solidFill>
                    <a:srgbClr val="FFFFFF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已完成,交换成功,场地所有权已转移</a:t>
              </a:r>
              <a:endParaRPr lang="en-US" sz="1040" dirty="0"/>
            </a:p>
          </p:txBody>
        </p:sp>
        <p:sp>
          <p:nvSpPr>
            <p:cNvPr id="14" name="Shape 11"/>
            <p:cNvSpPr/>
            <p:nvPr>
              <p:custDataLst>
                <p:tags r:id="rId8"/>
              </p:custDataLst>
            </p:nvPr>
          </p:nvSpPr>
          <p:spPr>
            <a:xfrm>
              <a:off x="3947" y="9050"/>
              <a:ext cx="10288" cy="1253"/>
            </a:xfrm>
            <a:prstGeom prst="roundRect">
              <a:avLst>
                <a:gd name="adj" fmla="val 7174"/>
              </a:avLst>
            </a:prstGeom>
            <a:gradFill flip="none" rotWithShape="1">
              <a:gsLst>
                <a:gs pos="0">
                  <a:srgbClr val="6EAA2E"/>
                </a:gs>
                <a:gs pos="53000">
                  <a:srgbClr val="92D050"/>
                </a:gs>
                <a:gs pos="91000">
                  <a:srgbClr val="C9E828"/>
                </a:gs>
                <a:gs pos="100000">
                  <a:srgbClr val="C9E828"/>
                </a:gs>
              </a:gsLst>
              <a:lin ang="0" scaled="1"/>
            </a:gradFill>
          </p:spPr>
        </p:sp>
        <p:sp>
          <p:nvSpPr>
            <p:cNvPr id="15" name="Text 12"/>
            <p:cNvSpPr/>
            <p:nvPr>
              <p:custDataLst>
                <p:tags r:id="rId9"/>
              </p:custDataLst>
            </p:nvPr>
          </p:nvSpPr>
          <p:spPr>
            <a:xfrm>
              <a:off x="4171" y="9274"/>
              <a:ext cx="2675" cy="33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1335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Syne Extra Bold" pitchFamily="34" charset="-120"/>
                </a:rPr>
                <a:t>refused</a:t>
              </a:r>
              <a:endParaRPr lang="en-US" sz="133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endParaRPr>
            </a:p>
          </p:txBody>
        </p:sp>
        <p:sp>
          <p:nvSpPr>
            <p:cNvPr id="16" name="Text 13"/>
            <p:cNvSpPr/>
            <p:nvPr>
              <p:custDataLst>
                <p:tags r:id="rId10"/>
              </p:custDataLst>
            </p:nvPr>
          </p:nvSpPr>
          <p:spPr>
            <a:xfrm>
              <a:off x="4171" y="9737"/>
              <a:ext cx="9841" cy="342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040" dirty="0">
                  <a:solidFill>
                    <a:srgbClr val="FFFFFF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已拒绝,拥有者拒绝该申请</a:t>
              </a:r>
              <a:endParaRPr lang="en-US" sz="104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516433"/>
            <a:ext cx="4134843" cy="5167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665" b="1" dirty="0">
                <a:solidFill>
                  <a:schemeClr val="tx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社交相关集合</a:t>
            </a:r>
            <a:endParaRPr lang="en-US" sz="3665" b="1" dirty="0">
              <a:solidFill>
                <a:schemeClr val="tx1"/>
              </a:solidFill>
              <a:latin typeface="Syne Extra Bold" pitchFamily="34" charset="0"/>
              <a:ea typeface="Syne Extra Bold" pitchFamily="34" charset="-122"/>
              <a:cs typeface="Syne Extra Bol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92" y="1446510"/>
            <a:ext cx="2480866" cy="3100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friends </a:t>
            </a:r>
            <a:r>
              <a:rPr lang="en-US" sz="2335" b="1" dirty="0">
                <a:solidFill>
                  <a:schemeClr val="tx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好友关系</a:t>
            </a:r>
            <a:endParaRPr lang="en-US" sz="2335" b="1" dirty="0">
              <a:solidFill>
                <a:schemeClr val="tx1"/>
              </a:solidFill>
              <a:latin typeface="Syne Extra Bold" pitchFamily="34" charset="0"/>
              <a:ea typeface="Syne Extra Bold" pitchFamily="34" charset="-122"/>
              <a:cs typeface="Syne Extra Bold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92" y="1921868"/>
            <a:ext cx="5232797" cy="5292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采用单向记录双向查询的设计,一条记录表示一对好友关系。通过status字段区分待确认和已建立的好友关系。</a:t>
            </a:r>
            <a:endParaRPr lang="en-US" sz="1500" dirty="0">
              <a:solidFill>
                <a:schemeClr val="tx1"/>
              </a:solidFill>
              <a:latin typeface="Syne" pitchFamily="34" charset="0"/>
              <a:ea typeface="Syne" pitchFamily="34" charset="-122"/>
              <a:cs typeface="Syne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61492" y="2637135"/>
            <a:ext cx="5232797" cy="2364978"/>
          </a:xfrm>
          <a:prstGeom prst="roundRect">
            <a:avLst>
              <a:gd name="adj" fmla="val 2937"/>
            </a:avLst>
          </a:prstGeom>
          <a:solidFill>
            <a:srgbClr val="222D32"/>
          </a:solidFill>
        </p:spPr>
      </p:sp>
      <p:sp>
        <p:nvSpPr>
          <p:cNvPr id="6" name="Shape 4"/>
          <p:cNvSpPr/>
          <p:nvPr/>
        </p:nvSpPr>
        <p:spPr>
          <a:xfrm>
            <a:off x="653415" y="2637155"/>
            <a:ext cx="5249545" cy="2721610"/>
          </a:xfrm>
          <a:prstGeom prst="roundRect">
            <a:avLst>
              <a:gd name="adj" fmla="val 1049"/>
            </a:avLst>
          </a:prstGeom>
          <a:solidFill>
            <a:srgbClr val="222D32"/>
          </a:solidFill>
        </p:spPr>
      </p:sp>
      <p:sp>
        <p:nvSpPr>
          <p:cNvPr id="7" name="Text 5"/>
          <p:cNvSpPr/>
          <p:nvPr/>
        </p:nvSpPr>
        <p:spPr>
          <a:xfrm>
            <a:off x="818555" y="2761158"/>
            <a:ext cx="4918670" cy="21169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9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29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29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_id: ObjectId,</a:t>
            </a:r>
            <a:endParaRPr lang="en-US" sz="129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29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requester: String,</a:t>
            </a:r>
            <a:endParaRPr lang="en-US" sz="129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29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receiver: String,</a:t>
            </a:r>
            <a:endParaRPr lang="en-US" sz="129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29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status: String,        // pending/accepted</a:t>
            </a:r>
            <a:endParaRPr lang="en-US" sz="129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29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created_at: DateTime,</a:t>
            </a:r>
            <a:endParaRPr lang="en-US" sz="129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29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accepted_at: DateTime</a:t>
            </a:r>
            <a:endParaRPr lang="en-US" sz="129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29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90" dirty="0"/>
          </a:p>
        </p:txBody>
      </p:sp>
      <p:sp>
        <p:nvSpPr>
          <p:cNvPr id="8" name="Text 6"/>
          <p:cNvSpPr/>
          <p:nvPr/>
        </p:nvSpPr>
        <p:spPr>
          <a:xfrm>
            <a:off x="6304062" y="1446510"/>
            <a:ext cx="3094434" cy="3100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messages </a:t>
            </a:r>
            <a:r>
              <a:rPr lang="en-US" sz="2335" b="1" dirty="0">
                <a:solidFill>
                  <a:schemeClr val="tx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消息集合</a:t>
            </a:r>
            <a:endParaRPr lang="en-US" sz="2335" b="1" dirty="0">
              <a:solidFill>
                <a:schemeClr val="tx1"/>
              </a:solidFill>
              <a:latin typeface="Syne Extra Bold" pitchFamily="34" charset="0"/>
              <a:ea typeface="Syne Extra Bold" pitchFamily="34" charset="-122"/>
              <a:cs typeface="Syne Extra Bold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04062" y="1921868"/>
            <a:ext cx="5232797" cy="5292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统一存储私聊消息和系统通知。sender为"系统通知"时表示系统消息,支持已读状态追踪。</a:t>
            </a:r>
            <a:endParaRPr lang="en-US" sz="1500" dirty="0">
              <a:solidFill>
                <a:schemeClr val="tx1"/>
              </a:solidFill>
              <a:latin typeface="Syne" pitchFamily="34" charset="0"/>
              <a:ea typeface="Syne" pitchFamily="34" charset="-122"/>
              <a:cs typeface="Syne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04062" y="2637135"/>
            <a:ext cx="5232797" cy="2629594"/>
          </a:xfrm>
          <a:prstGeom prst="roundRect">
            <a:avLst>
              <a:gd name="adj" fmla="val 2642"/>
            </a:avLst>
          </a:prstGeom>
          <a:solidFill>
            <a:srgbClr val="222D32"/>
          </a:solidFill>
        </p:spPr>
      </p:sp>
      <p:sp>
        <p:nvSpPr>
          <p:cNvPr id="11" name="Shape 9"/>
          <p:cNvSpPr/>
          <p:nvPr/>
        </p:nvSpPr>
        <p:spPr>
          <a:xfrm>
            <a:off x="6295827" y="2637135"/>
            <a:ext cx="5249268" cy="2629594"/>
          </a:xfrm>
          <a:prstGeom prst="roundRect">
            <a:avLst>
              <a:gd name="adj" fmla="val 943"/>
            </a:avLst>
          </a:prstGeom>
          <a:solidFill>
            <a:srgbClr val="222D32"/>
          </a:solidFill>
        </p:spPr>
      </p:sp>
      <p:sp>
        <p:nvSpPr>
          <p:cNvPr id="12" name="Text 10"/>
          <p:cNvSpPr/>
          <p:nvPr/>
        </p:nvSpPr>
        <p:spPr>
          <a:xfrm>
            <a:off x="6461125" y="2761158"/>
            <a:ext cx="4918670" cy="23815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 fontAlgn="auto">
              <a:lnSpc>
                <a:spcPts val="2200"/>
              </a:lnSpc>
              <a:buNone/>
            </a:pPr>
            <a:r>
              <a:rPr lang="en-US" sz="129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290" dirty="0"/>
          </a:p>
          <a:p>
            <a:pPr indent="0" algn="l" fontAlgn="auto">
              <a:lnSpc>
                <a:spcPts val="2200"/>
              </a:lnSpc>
              <a:buNone/>
            </a:pPr>
            <a:r>
              <a:rPr lang="en-US" sz="129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_id: ObjectId,</a:t>
            </a:r>
            <a:endParaRPr lang="en-US" sz="1290" dirty="0"/>
          </a:p>
          <a:p>
            <a:pPr indent="0" algn="l" fontAlgn="auto">
              <a:lnSpc>
                <a:spcPts val="2200"/>
              </a:lnSpc>
              <a:buNone/>
            </a:pPr>
            <a:r>
              <a:rPr lang="en-US" sz="129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sender: String,</a:t>
            </a:r>
            <a:endParaRPr lang="en-US" sz="1290" dirty="0"/>
          </a:p>
          <a:p>
            <a:pPr indent="0" algn="l" fontAlgn="auto">
              <a:lnSpc>
                <a:spcPts val="2200"/>
              </a:lnSpc>
              <a:buNone/>
            </a:pPr>
            <a:r>
              <a:rPr lang="en-US" sz="129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receiver: String,</a:t>
            </a:r>
            <a:endParaRPr lang="en-US" sz="1290" dirty="0"/>
          </a:p>
          <a:p>
            <a:pPr indent="0" algn="l" fontAlgn="auto">
              <a:lnSpc>
                <a:spcPts val="2200"/>
              </a:lnSpc>
              <a:buNone/>
            </a:pPr>
            <a:r>
              <a:rPr lang="en-US" sz="129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content: String,</a:t>
            </a:r>
            <a:endParaRPr lang="en-US" sz="1290" dirty="0"/>
          </a:p>
          <a:p>
            <a:pPr indent="0" algn="l" fontAlgn="auto">
              <a:lnSpc>
                <a:spcPts val="2200"/>
              </a:lnSpc>
              <a:buNone/>
            </a:pPr>
            <a:r>
              <a:rPr lang="en-US" sz="129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created_at: DateTime,</a:t>
            </a:r>
            <a:endParaRPr lang="en-US" sz="1290" dirty="0"/>
          </a:p>
          <a:p>
            <a:pPr indent="0" algn="l" fontAlgn="auto">
              <a:lnSpc>
                <a:spcPts val="2200"/>
              </a:lnSpc>
              <a:buNone/>
            </a:pPr>
            <a:r>
              <a:rPr lang="en-US" sz="129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read: Boolean,</a:t>
            </a:r>
            <a:endParaRPr lang="en-US" sz="1290" dirty="0"/>
          </a:p>
          <a:p>
            <a:pPr indent="0" algn="l" fontAlgn="auto">
              <a:lnSpc>
                <a:spcPts val="2200"/>
              </a:lnSpc>
              <a:buNone/>
            </a:pPr>
            <a:r>
              <a:rPr lang="en-US" sz="129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is_system: Boolean</a:t>
            </a:r>
            <a:endParaRPr lang="en-US" sz="1290" dirty="0"/>
          </a:p>
          <a:p>
            <a:pPr indent="0" algn="l" fontAlgn="auto">
              <a:lnSpc>
                <a:spcPts val="2200"/>
              </a:lnSpc>
              <a:buNone/>
            </a:pPr>
            <a:r>
              <a:rPr lang="en-US" sz="129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90" dirty="0"/>
          </a:p>
        </p:txBody>
      </p:sp>
      <p:sp>
        <p:nvSpPr>
          <p:cNvPr id="13" name="Shape 11"/>
          <p:cNvSpPr/>
          <p:nvPr/>
        </p:nvSpPr>
        <p:spPr>
          <a:xfrm>
            <a:off x="661492" y="5638800"/>
            <a:ext cx="10869018" cy="702668"/>
          </a:xfrm>
          <a:prstGeom prst="roundRect">
            <a:avLst>
              <a:gd name="adj" fmla="val 9886"/>
            </a:avLst>
          </a:prstGeom>
          <a:gradFill flip="none" rotWithShape="1">
            <a:gsLst>
              <a:gs pos="0">
                <a:srgbClr val="6EAA2E"/>
              </a:gs>
              <a:gs pos="53000">
                <a:srgbClr val="92D050"/>
              </a:gs>
              <a:gs pos="91000">
                <a:srgbClr val="C9E828"/>
              </a:gs>
              <a:gs pos="100000">
                <a:srgbClr val="C9E828"/>
              </a:gs>
            </a:gsLst>
            <a:lin ang="0" scaled="1"/>
          </a:gra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90" y="5884863"/>
            <a:ext cx="206673" cy="16529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98761" y="5845373"/>
            <a:ext cx="10166449" cy="264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9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设计亮点:</a:t>
            </a:r>
            <a:r>
              <a:rPr lang="en-US" sz="129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yne" pitchFamily="34" charset="-120"/>
              </a:rPr>
              <a:t>messages</a:t>
            </a:r>
            <a:r>
              <a:rPr lang="en-US" sz="129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集合复用设计,既支持用户间私聊,也支持系统通知推送,避免创建多个消息表。通过</a:t>
            </a:r>
            <a:r>
              <a:rPr lang="en-US" sz="129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yne" pitchFamily="34" charset="-120"/>
              </a:rPr>
              <a:t>is_system</a:t>
            </a:r>
            <a:r>
              <a:rPr lang="en-US" sz="129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字段区分消息类型。</a:t>
            </a:r>
            <a:endParaRPr lang="en-US" sz="12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2106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744788" y="2883535"/>
            <a:ext cx="6702425" cy="9122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40404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核心业务与事务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580" y="1563370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3175"/>
            <a:ext cx="4572000" cy="68610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57763" y="352048"/>
            <a:ext cx="4078188" cy="5096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Eras Bold ITC" panose="020B0907030504020204" charset="0"/>
                <a:ea typeface="Syne Extra Bold" pitchFamily="34" charset="-122"/>
                <a:cs typeface="Syne Extra Bold" pitchFamily="34" charset="-120"/>
              </a:rPr>
              <a:t>业务模块总览</a:t>
            </a:r>
            <a:endParaRPr lang="en-US" sz="3600" b="1" dirty="0">
              <a:solidFill>
                <a:schemeClr val="tx1"/>
              </a:solidFill>
              <a:latin typeface="Eras Bold ITC" panose="020B0907030504020204" charset="0"/>
              <a:ea typeface="Syne Extra Bold" pitchFamily="34" charset="-122"/>
              <a:cs typeface="Syne Extra Bold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57763" y="926922"/>
            <a:ext cx="3916858" cy="305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Eras Bold ITC" panose="020B0907030504020204" charset="0"/>
                <a:ea typeface="Syne Extra Bold" pitchFamily="34" charset="-122"/>
                <a:cs typeface="Eras Bold ITC" panose="020B0907030504020204" charset="0"/>
              </a:rPr>
              <a:t>5大核心业务模块支撑完整交换流程</a:t>
            </a:r>
            <a:endParaRPr lang="en-US" sz="2000" b="1" dirty="0">
              <a:solidFill>
                <a:schemeClr val="tx1"/>
              </a:solidFill>
              <a:latin typeface="Eras Bold ITC" panose="020B0907030504020204" charset="0"/>
              <a:ea typeface="Syne Extra Bold" pitchFamily="34" charset="-122"/>
              <a:cs typeface="Eras Bold ITC" panose="020B0907030504020204" charset="0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730" y="1602105"/>
            <a:ext cx="7080250" cy="46374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61492" y="1016059"/>
            <a:ext cx="4134843" cy="5167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Eras Bold ITC" panose="020B0907030504020204" charset="0"/>
                <a:ea typeface="Syne Extra Bold" pitchFamily="34" charset="-122"/>
                <a:cs typeface="Syne Extra Bold" pitchFamily="34" charset="-120"/>
              </a:rPr>
              <a:t>三种交换方式</a:t>
            </a:r>
            <a:endParaRPr lang="en-US" sz="4000" b="1" dirty="0">
              <a:solidFill>
                <a:schemeClr val="tx1"/>
              </a:solidFill>
              <a:latin typeface="Eras Bold ITC" panose="020B0907030504020204" charset="0"/>
              <a:ea typeface="Syne Extra Bold" pitchFamily="34" charset="-122"/>
              <a:cs typeface="Syne Extra Bold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92" y="1780838"/>
            <a:ext cx="10869018" cy="5292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Eras Bold ITC" panose="020B0907030504020204" charset="0"/>
                <a:ea typeface="Syne" pitchFamily="34" charset="-122"/>
                <a:cs typeface="Eras Bold ITC" panose="020B0907030504020204" charset="0"/>
              </a:rPr>
              <a:t>系统支持三种灵活的交换模式,满足不同场景下的场地流转需求。从双向匹配的直接交换,到单方申请的申请交换,再到无偿赠送的直接转让,每种方式都有对应的积分激励机制。</a:t>
            </a:r>
            <a:endParaRPr lang="en-US" sz="1600" dirty="0">
              <a:solidFill>
                <a:schemeClr val="tx1"/>
              </a:solidFill>
              <a:latin typeface="Eras Bold ITC" panose="020B0907030504020204" charset="0"/>
              <a:ea typeface="Syne" pitchFamily="34" charset="-122"/>
              <a:cs typeface="Eras Bold ITC" panose="020B09070305040202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670" y="2674620"/>
            <a:ext cx="10855325" cy="3219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40" y="3284855"/>
            <a:ext cx="1024255" cy="7594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70" y="3284855"/>
            <a:ext cx="1024255" cy="7594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59460" y="3510915"/>
            <a:ext cx="1873250" cy="313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bg1">
                    <a:lumMod val="85000"/>
                  </a:schemeClr>
                </a:solidFill>
              </a:rPr>
              <a:t>场地交换（完美互换）</a:t>
            </a:r>
            <a:endParaRPr lang="zh-CN" altLang="en-US" sz="14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933180" y="5140325"/>
            <a:ext cx="13538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lumMod val="85000"/>
                  </a:schemeClr>
                </a:solidFill>
              </a:rPr>
              <a:t>无加分</a:t>
            </a:r>
            <a:endParaRPr lang="zh-CN" altLang="en-US" sz="14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18280" y="4609465"/>
            <a:ext cx="1835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lumMod val="85000"/>
                  </a:schemeClr>
                </a:solidFill>
              </a:rPr>
              <a:t>，或者用积分交换</a:t>
            </a:r>
            <a:endParaRPr lang="zh-CN" altLang="en-US" sz="140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295" y="4167505"/>
            <a:ext cx="710565" cy="7861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920" y="4151630"/>
            <a:ext cx="677545" cy="7486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065" y="4160520"/>
            <a:ext cx="1330960" cy="73977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170295" y="4295775"/>
            <a:ext cx="2566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bg1">
                    <a:lumMod val="85000"/>
                  </a:schemeClr>
                </a:solidFill>
              </a:rPr>
              <a:t>发起申请，对方可以接受或拒绝申请</a:t>
            </a:r>
            <a:endParaRPr lang="zh-CN" altLang="en-US" sz="12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778875" y="4566285"/>
            <a:ext cx="20091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lumMod val="85000"/>
                  </a:schemeClr>
                </a:solidFill>
              </a:rPr>
              <a:t>（如果是积分申请）</a:t>
            </a:r>
            <a:endParaRPr lang="zh-CN" altLang="en-US" sz="140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39631" y="415131"/>
            <a:ext cx="3548162" cy="4435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2790" b="1" dirty="0">
                <a:solidFill>
                  <a:schemeClr val="tx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积分系统规则</a:t>
            </a:r>
            <a:endParaRPr lang="en-US" sz="2790" b="1" dirty="0">
              <a:solidFill>
                <a:schemeClr val="tx1"/>
              </a:solidFill>
              <a:latin typeface="Syne Extra Bold" pitchFamily="34" charset="0"/>
              <a:ea typeface="Syne Extra Bold" pitchFamily="34" charset="-122"/>
              <a:cs typeface="Syne Extra Bold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139631" y="915393"/>
            <a:ext cx="2128838" cy="2661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65" b="1" dirty="0">
                <a:solidFill>
                  <a:schemeClr val="tx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激励用户分享场地资源</a:t>
            </a:r>
            <a:endParaRPr lang="en-US" sz="1665" b="1" dirty="0">
              <a:solidFill>
                <a:schemeClr val="tx1"/>
              </a:solidFill>
              <a:latin typeface="Syne Extra Bold" pitchFamily="34" charset="0"/>
              <a:ea typeface="Syne Extra Bold" pitchFamily="34" charset="-122"/>
              <a:cs typeface="Syne Extra Bold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139631" y="1394321"/>
            <a:ext cx="6484739" cy="454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85" dirty="0">
                <a:solidFill>
                  <a:schemeClr val="tx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积分系统是</a:t>
            </a:r>
            <a:r>
              <a:rPr lang="en-US" sz="1085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" pitchFamily="34" charset="-120"/>
              </a:rPr>
              <a:t>ExCourt</a:t>
            </a:r>
            <a:r>
              <a:rPr lang="en-US" sz="1085" dirty="0">
                <a:solidFill>
                  <a:schemeClr val="tx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的核心激励机制,通过不同的积分奖励鼓励用户积极参与场地交换。每种行为都有对应的积分回报。</a:t>
            </a:r>
            <a:r>
              <a:rPr lang="zh-CN" altLang="en-US" sz="1085" dirty="0">
                <a:solidFill>
                  <a:schemeClr val="tx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然后积分又能用来向别人换场地，实现正向循环。</a:t>
            </a:r>
            <a:endParaRPr lang="zh-CN" altLang="en-US" sz="1085" dirty="0">
              <a:solidFill>
                <a:schemeClr val="tx1"/>
              </a:solidFill>
              <a:latin typeface="Syne" pitchFamily="34" charset="0"/>
              <a:ea typeface="Syne" pitchFamily="34" charset="-122"/>
              <a:cs typeface="Syne" pitchFamily="34" charset="-120"/>
            </a:endParaRPr>
          </a:p>
        </p:txBody>
      </p:sp>
      <p:sp>
        <p:nvSpPr>
          <p:cNvPr id="31" name="Shape 28"/>
          <p:cNvSpPr/>
          <p:nvPr>
            <p:custDataLst>
              <p:tags r:id="rId2"/>
            </p:custDataLst>
          </p:nvPr>
        </p:nvSpPr>
        <p:spPr>
          <a:xfrm>
            <a:off x="5139631" y="4640163"/>
            <a:ext cx="3171428" cy="830362"/>
          </a:xfrm>
          <a:prstGeom prst="roundRect">
            <a:avLst>
              <a:gd name="adj" fmla="val 7179"/>
            </a:avLst>
          </a:prstGeom>
          <a:gradFill flip="none" rotWithShape="1">
            <a:gsLst>
              <a:gs pos="0">
                <a:srgbClr val="6EAA2E"/>
              </a:gs>
              <a:gs pos="23000">
                <a:srgbClr val="6EAA2E"/>
              </a:gs>
              <a:gs pos="82000">
                <a:srgbClr val="92D050"/>
              </a:gs>
              <a:gs pos="100000">
                <a:srgbClr val="C9E828"/>
              </a:gs>
            </a:gsLst>
            <a:lin ang="13500000" scaled="1"/>
          </a:gradFill>
        </p:spPr>
      </p:sp>
      <p:sp>
        <p:nvSpPr>
          <p:cNvPr id="32" name="Text 29"/>
          <p:cNvSpPr/>
          <p:nvPr>
            <p:custDataLst>
              <p:tags r:id="rId3"/>
            </p:custDataLst>
          </p:nvPr>
        </p:nvSpPr>
        <p:spPr>
          <a:xfrm>
            <a:off x="5287863" y="4788396"/>
            <a:ext cx="1774032" cy="2217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互惠激励</a:t>
            </a:r>
            <a:endParaRPr lang="en-US" sz="1375" dirty="0"/>
          </a:p>
        </p:txBody>
      </p:sp>
      <p:sp>
        <p:nvSpPr>
          <p:cNvPr id="33" name="Text 30"/>
          <p:cNvSpPr/>
          <p:nvPr>
            <p:custDataLst>
              <p:tags r:id="rId4"/>
            </p:custDataLst>
          </p:nvPr>
        </p:nvSpPr>
        <p:spPr>
          <a:xfrm>
            <a:off x="5287863" y="5095280"/>
            <a:ext cx="2874963" cy="2270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85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双向交换获得积分,鼓励资源互换</a:t>
            </a:r>
            <a:endParaRPr lang="en-US" sz="1085" dirty="0"/>
          </a:p>
        </p:txBody>
      </p:sp>
      <p:sp>
        <p:nvSpPr>
          <p:cNvPr id="34" name="Shape 31"/>
          <p:cNvSpPr/>
          <p:nvPr>
            <p:custDataLst>
              <p:tags r:id="rId5"/>
            </p:custDataLst>
          </p:nvPr>
        </p:nvSpPr>
        <p:spPr>
          <a:xfrm>
            <a:off x="8452942" y="4640163"/>
            <a:ext cx="3171428" cy="830362"/>
          </a:xfrm>
          <a:prstGeom prst="roundRect">
            <a:avLst>
              <a:gd name="adj" fmla="val 7179"/>
            </a:avLst>
          </a:prstGeom>
          <a:gradFill flip="none" rotWithShape="1">
            <a:gsLst>
              <a:gs pos="0">
                <a:srgbClr val="6EAA2E"/>
              </a:gs>
              <a:gs pos="23000">
                <a:srgbClr val="6EAA2E"/>
              </a:gs>
              <a:gs pos="82000">
                <a:srgbClr val="92D050"/>
              </a:gs>
              <a:gs pos="100000">
                <a:srgbClr val="C9E828"/>
              </a:gs>
            </a:gsLst>
            <a:lin ang="13500000" scaled="1"/>
          </a:gradFill>
        </p:spPr>
      </p:sp>
      <p:sp>
        <p:nvSpPr>
          <p:cNvPr id="35" name="Text 32"/>
          <p:cNvSpPr/>
          <p:nvPr>
            <p:custDataLst>
              <p:tags r:id="rId6"/>
            </p:custDataLst>
          </p:nvPr>
        </p:nvSpPr>
        <p:spPr>
          <a:xfrm>
            <a:off x="8601174" y="4788396"/>
            <a:ext cx="1774032" cy="2217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分享奖励</a:t>
            </a:r>
            <a:endParaRPr lang="en-US" sz="1375" dirty="0"/>
          </a:p>
        </p:txBody>
      </p:sp>
      <p:sp>
        <p:nvSpPr>
          <p:cNvPr id="36" name="Text 33"/>
          <p:cNvSpPr/>
          <p:nvPr>
            <p:custDataLst>
              <p:tags r:id="rId7"/>
            </p:custDataLst>
          </p:nvPr>
        </p:nvSpPr>
        <p:spPr>
          <a:xfrm>
            <a:off x="8601174" y="5095280"/>
            <a:ext cx="2874963" cy="2270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85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提供场地获得更多积分,促进资源流转</a:t>
            </a:r>
            <a:endParaRPr lang="en-US" sz="1085" dirty="0"/>
          </a:p>
        </p:txBody>
      </p:sp>
      <p:sp>
        <p:nvSpPr>
          <p:cNvPr id="37" name="Shape 34"/>
          <p:cNvSpPr/>
          <p:nvPr>
            <p:custDataLst>
              <p:tags r:id="rId8"/>
            </p:custDataLst>
          </p:nvPr>
        </p:nvSpPr>
        <p:spPr>
          <a:xfrm>
            <a:off x="5139631" y="5612408"/>
            <a:ext cx="6484739" cy="830362"/>
          </a:xfrm>
          <a:prstGeom prst="roundRect">
            <a:avLst>
              <a:gd name="adj" fmla="val 7179"/>
            </a:avLst>
          </a:prstGeom>
          <a:gradFill flip="none" rotWithShape="1">
            <a:gsLst>
              <a:gs pos="0">
                <a:srgbClr val="6EAA2E"/>
              </a:gs>
              <a:gs pos="23000">
                <a:srgbClr val="6EAA2E"/>
              </a:gs>
              <a:gs pos="82000">
                <a:srgbClr val="92D050"/>
              </a:gs>
              <a:gs pos="100000">
                <a:srgbClr val="C9E828"/>
              </a:gs>
            </a:gsLst>
            <a:lin ang="13500000" scaled="1"/>
          </a:gradFill>
        </p:spPr>
      </p:sp>
      <p:sp>
        <p:nvSpPr>
          <p:cNvPr id="38" name="Text 35"/>
          <p:cNvSpPr/>
          <p:nvPr>
            <p:custDataLst>
              <p:tags r:id="rId9"/>
            </p:custDataLst>
          </p:nvPr>
        </p:nvSpPr>
        <p:spPr>
          <a:xfrm>
            <a:off x="5287863" y="5760641"/>
            <a:ext cx="1774032" cy="2217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社交优先</a:t>
            </a:r>
            <a:endParaRPr lang="en-US" sz="1375" dirty="0"/>
          </a:p>
        </p:txBody>
      </p:sp>
      <p:sp>
        <p:nvSpPr>
          <p:cNvPr id="39" name="Text 36"/>
          <p:cNvSpPr/>
          <p:nvPr>
            <p:custDataLst>
              <p:tags r:id="rId10"/>
            </p:custDataLst>
          </p:nvPr>
        </p:nvSpPr>
        <p:spPr>
          <a:xfrm>
            <a:off x="5287863" y="6067524"/>
            <a:ext cx="6188273" cy="2270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85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好友间赠送不</a:t>
            </a:r>
            <a:r>
              <a:rPr lang="zh-CN" altLang="en-US" sz="1085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加</a:t>
            </a:r>
            <a:r>
              <a:rPr lang="en-US" sz="1085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积分,</a:t>
            </a:r>
            <a:r>
              <a:rPr lang="zh-CN" altLang="en-US" sz="1085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防止恶意刷分</a:t>
            </a:r>
            <a:endParaRPr lang="zh-CN" altLang="en-US" sz="1085" dirty="0">
              <a:solidFill>
                <a:srgbClr val="FFFFFF"/>
              </a:solidFill>
              <a:latin typeface="Syne" pitchFamily="34" charset="0"/>
              <a:ea typeface="Syne" pitchFamily="34" charset="-122"/>
              <a:cs typeface="Syne" pitchFamily="34" charset="-120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39690" y="1979295"/>
            <a:ext cx="6511925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428" y="322163"/>
            <a:ext cx="2915245" cy="3643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29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交换事务处理</a:t>
            </a:r>
            <a:endParaRPr lang="en-US" sz="229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66428" y="733128"/>
            <a:ext cx="1923058" cy="2185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7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原子操作保证交换安全性</a:t>
            </a:r>
            <a:endParaRPr lang="en-US" sz="137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6428" y="1126530"/>
            <a:ext cx="11259145" cy="1865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直接交换是系统最核心的业务逻辑,需要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MongoDB环境下保证数据一致性。通过6个步骤的精心设计,确保场地所有权安全转移。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66428" y="1444228"/>
            <a:ext cx="11259145" cy="4465043"/>
          </a:xfrm>
          <a:prstGeom prst="roundRect">
            <a:avLst>
              <a:gd name="adj" fmla="val 1097"/>
            </a:avLst>
          </a:prstGeom>
          <a:solidFill>
            <a:srgbClr val="222D32"/>
          </a:solidFill>
        </p:spPr>
      </p:sp>
      <p:sp>
        <p:nvSpPr>
          <p:cNvPr id="6" name="Shape 4"/>
          <p:cNvSpPr/>
          <p:nvPr/>
        </p:nvSpPr>
        <p:spPr>
          <a:xfrm>
            <a:off x="460673" y="1444228"/>
            <a:ext cx="11270655" cy="4465043"/>
          </a:xfrm>
          <a:prstGeom prst="roundRect">
            <a:avLst>
              <a:gd name="adj" fmla="val 392"/>
            </a:avLst>
          </a:prstGeom>
          <a:solidFill>
            <a:srgbClr val="222D32"/>
          </a:solidFill>
        </p:spPr>
      </p:sp>
      <p:sp>
        <p:nvSpPr>
          <p:cNvPr id="7" name="Text 5"/>
          <p:cNvSpPr/>
          <p:nvPr/>
        </p:nvSpPr>
        <p:spPr>
          <a:xfrm>
            <a:off x="577255" y="1531640"/>
            <a:ext cx="11037491" cy="42902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async def direct_exchange():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Step 1: 验证双方场地存在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my_court = await owned.find_one({...})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their_court = await owned.find_one({...})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Step 2: 验证对方需求匹配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their_want = await wanted.find_one({...})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Step 3: 交换所有权（原子更新）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await owned.update_one(my_court, {"$set": {"username": target}})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await owned.update_one(their_court, {"$set": {"username": me}})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Step 4: 清理需求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await wanted.delete_one(their_want)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await wanted.delete_many(my_want)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Step 5: 更新积分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await users.update_one(me, {"$inc": {"points": 3}})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await users.update_one(target, {"$inc": {"points": 3}})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Step 6: 发送通知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await send_system_message(me, "交换成功...")</a:t>
            </a:r>
            <a:endParaRPr lang="en-US" sz="915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915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</a:t>
            </a:r>
            <a:endParaRPr lang="en-US" sz="915" dirty="0"/>
          </a:p>
        </p:txBody>
      </p:sp>
      <p:sp>
        <p:nvSpPr>
          <p:cNvPr id="8" name="Shape 6"/>
          <p:cNvSpPr/>
          <p:nvPr/>
        </p:nvSpPr>
        <p:spPr>
          <a:xfrm>
            <a:off x="466428" y="6040438"/>
            <a:ext cx="11259145" cy="495300"/>
          </a:xfrm>
          <a:prstGeom prst="roundRect">
            <a:avLst>
              <a:gd name="adj" fmla="val 9888"/>
            </a:avLst>
          </a:prstGeom>
          <a:gradFill flip="none" rotWithShape="1">
            <a:gsLst>
              <a:gs pos="0">
                <a:srgbClr val="6EAA2E"/>
              </a:gs>
              <a:gs pos="23000">
                <a:srgbClr val="6EAA2E"/>
              </a:gs>
              <a:gs pos="82000">
                <a:srgbClr val="92D050"/>
              </a:gs>
              <a:gs pos="100000">
                <a:srgbClr val="C9E828"/>
              </a:gs>
            </a:gsLst>
            <a:lin ang="13500000" scaled="1"/>
          </a:gradFill>
        </p:spPr>
        <p:txBody>
          <a:bodyPr wrap="none" lIns="0" tIns="0" rIns="0" bIns="0" rtlCol="0" anchor="t">
            <a:noAutofit/>
          </a:bodyPr>
          <a:lstStyle/>
          <a:p>
            <a:pPr lvl="0" algn="l">
              <a:lnSpc>
                <a:spcPts val="1750"/>
              </a:lnSpc>
              <a:buClrTx/>
              <a:buSzTx/>
              <a:buFontTx/>
            </a:pPr>
            <a:endParaRPr lang="en-US" sz="915" dirty="0">
              <a:solidFill>
                <a:srgbClr val="FFFFFF"/>
              </a:solidFill>
              <a:latin typeface="Syne" pitchFamily="34" charset="0"/>
              <a:ea typeface="Syne" pitchFamily="34" charset="-122"/>
              <a:cs typeface="Syne" pitchFamily="34" charset="-120"/>
              <a:sym typeface="+mn-ea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009" y="6210994"/>
            <a:ext cx="145753" cy="1165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1059" y="6210856"/>
            <a:ext cx="10763647" cy="1865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lvl="0" algn="l">
              <a:lnSpc>
                <a:spcPts val="1750"/>
              </a:lnSpc>
              <a:buClrTx/>
              <a:buSzTx/>
              <a:buFontTx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每个update_one操作都是原子的,即使中途失败也不会出现部分更新。通过乐观锁机制验证场地所有权,防止并发冲突。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ts val="1750"/>
              </a:lnSpc>
              <a:buClrTx/>
              <a:buSzTx/>
              <a:buFontTx/>
            </a:pPr>
            <a:endParaRPr lang="en-US" sz="915" dirty="0">
              <a:solidFill>
                <a:srgbClr val="FFFFFF"/>
              </a:solidFill>
              <a:latin typeface="Syne" pitchFamily="34" charset="0"/>
              <a:ea typeface="Syne" pitchFamily="34" charset="-122"/>
              <a:cs typeface="Syne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4924" y="347167"/>
            <a:ext cx="3156347" cy="3944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460" b="1" dirty="0">
                <a:solidFill>
                  <a:schemeClr val="tx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审核通过事务处理</a:t>
            </a:r>
            <a:endParaRPr lang="en-US" sz="2460" b="1" dirty="0">
              <a:solidFill>
                <a:schemeClr val="tx1"/>
              </a:solidFill>
              <a:latin typeface="Syne Extra Bold" pitchFamily="34" charset="0"/>
              <a:ea typeface="Syne Extra Bold" pitchFamily="34" charset="-122"/>
              <a:cs typeface="Syne Extra Bold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650589" y="817939"/>
            <a:ext cx="6610152" cy="4038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6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管理员审核通过场地后,系统需要执行一系列关联操作:添加场地到owned表、清理发布者的需求、通知匹配用户、自动拒绝冲突申请。这些操作确保数据一致性和用户体验。</a:t>
            </a:r>
            <a:endParaRPr lang="en-US" sz="106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650589" y="1363742"/>
            <a:ext cx="6610152" cy="5035153"/>
          </a:xfrm>
          <a:prstGeom prst="roundRect">
            <a:avLst>
              <a:gd name="adj" fmla="val 1053"/>
            </a:avLst>
          </a:prstGeom>
          <a:solidFill>
            <a:srgbClr val="222D32"/>
          </a:solidFill>
        </p:spPr>
      </p:sp>
      <p:sp>
        <p:nvSpPr>
          <p:cNvPr id="6" name="Shape 3"/>
          <p:cNvSpPr/>
          <p:nvPr/>
        </p:nvSpPr>
        <p:spPr>
          <a:xfrm>
            <a:off x="2644338" y="1363742"/>
            <a:ext cx="6622653" cy="5035153"/>
          </a:xfrm>
          <a:prstGeom prst="roundRect">
            <a:avLst>
              <a:gd name="adj" fmla="val 376"/>
            </a:avLst>
          </a:prstGeom>
          <a:solidFill>
            <a:srgbClr val="222D32"/>
          </a:solidFill>
        </p:spPr>
      </p:sp>
      <p:sp>
        <p:nvSpPr>
          <p:cNvPr id="7" name="Text 4"/>
          <p:cNvSpPr/>
          <p:nvPr/>
        </p:nvSpPr>
        <p:spPr>
          <a:xfrm>
            <a:off x="2770545" y="1458397"/>
            <a:ext cx="6370241" cy="48458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async def approve_court():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Step 1: 添加到owned表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await owned.insert_one(owned_doc)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Step 2: 删除发布者自己的需求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await wanted.delete_many({...})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Step 3: 查找匹配需求，发送通知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matching_wants = await wanted.find({...})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w in matching_wants: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await send_system_message(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w["username"], 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"有人发布了你需要的场地"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)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Step 4: 自动拒绝冲突申请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await pending.update_many(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same_serial, 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{"$set": {"status": "rejected"}}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await pending.update_many(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same_court, 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{"$set": {"status": "rejected"}}</a:t>
            </a:r>
            <a:endParaRPr lang="en-US" sz="960" dirty="0"/>
          </a:p>
          <a:p>
            <a:pPr indent="0" algn="l" fontAlgn="auto">
              <a:lnSpc>
                <a:spcPts val="1600"/>
              </a:lnSpc>
              <a:buNone/>
            </a:pPr>
            <a:r>
              <a:rPr lang="en-US" sz="960" dirty="0">
                <a:solidFill>
                  <a:srgbClr val="D7E5D8"/>
                </a:solidFill>
                <a:highlight>
                  <a:srgbClr val="222D3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</a:t>
            </a:r>
            <a:endParaRPr lang="en-US" sz="9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61492" y="847031"/>
            <a:ext cx="4134843" cy="5167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Eras Bold ITC" panose="020B0907030504020204" charset="0"/>
                <a:ea typeface="Syne Extra Bold" pitchFamily="34" charset="-122"/>
                <a:cs typeface="Syne Extra Bold" pitchFamily="34" charset="-120"/>
              </a:rPr>
              <a:t>业务设计总结</a:t>
            </a:r>
            <a:endParaRPr lang="en-US" sz="4000" b="1" dirty="0">
              <a:solidFill>
                <a:schemeClr val="tx1"/>
              </a:solidFill>
              <a:latin typeface="Eras Bold ITC" panose="020B0907030504020204" charset="0"/>
              <a:ea typeface="Syne Extra Bold" pitchFamily="34" charset="-122"/>
              <a:cs typeface="Syne Extra Bold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92" y="1611808"/>
            <a:ext cx="10869018" cy="5292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Eras Bold ITC" panose="020B0907030504020204" charset="0"/>
                <a:ea typeface="Syne" pitchFamily="34" charset="-122"/>
                <a:cs typeface="Eras Bold ITC" panose="020B0907030504020204" charset="0"/>
              </a:rPr>
              <a:t>ExCourt的业务设计充分考虑了用户体验和系统可靠性,通过多种交换模式、智能匹配算法、自动化处理和激励机制,打造了一个高效便捷的场地交换平台。</a:t>
            </a:r>
            <a:endParaRPr lang="en-US" sz="1600" b="1" dirty="0">
              <a:solidFill>
                <a:schemeClr val="tx1"/>
              </a:solidFill>
              <a:latin typeface="Eras Bold ITC" panose="020B0907030504020204" charset="0"/>
              <a:ea typeface="Syne" pitchFamily="34" charset="-122"/>
              <a:cs typeface="Eras Bold ITC" panose="020B0907030504020204" charset="0"/>
            </a:endParaRPr>
          </a:p>
        </p:txBody>
      </p:sp>
      <p:sp>
        <p:nvSpPr>
          <p:cNvPr id="6" name="Shape 3"/>
          <p:cNvSpPr/>
          <p:nvPr>
            <p:custDataLst>
              <p:tags r:id="rId1"/>
            </p:custDataLst>
          </p:nvPr>
        </p:nvSpPr>
        <p:spPr>
          <a:xfrm>
            <a:off x="661492" y="2327077"/>
            <a:ext cx="3512741" cy="1891606"/>
          </a:xfrm>
          <a:prstGeom prst="roundRect">
            <a:avLst>
              <a:gd name="adj" fmla="val 3672"/>
            </a:avLst>
          </a:prstGeom>
          <a:gradFill flip="none" rotWithShape="1">
            <a:gsLst>
              <a:gs pos="0">
                <a:srgbClr val="6EAA2E"/>
              </a:gs>
              <a:gs pos="23000">
                <a:srgbClr val="6EAA2E"/>
              </a:gs>
              <a:gs pos="82000">
                <a:srgbClr val="92D050"/>
              </a:gs>
              <a:gs pos="100000">
                <a:srgbClr val="C9E828"/>
              </a:gs>
            </a:gsLst>
            <a:lin ang="13500000" scaled="1"/>
          </a:gradFill>
        </p:spPr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833140" y="2498725"/>
            <a:ext cx="496094" cy="496094"/>
          </a:xfrm>
          <a:prstGeom prst="roundRect">
            <a:avLst>
              <a:gd name="adj" fmla="val 15358451"/>
            </a:avLst>
          </a:prstGeom>
          <a:solidFill>
            <a:srgbClr val="A9F00F"/>
          </a:solidFill>
        </p:spPr>
      </p:sp>
      <p:pic>
        <p:nvPicPr>
          <p:cNvPr id="8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566" y="2635052"/>
            <a:ext cx="223243" cy="223243"/>
          </a:xfrm>
          <a:prstGeom prst="rect">
            <a:avLst/>
          </a:prstGeom>
        </p:spPr>
      </p:pic>
      <p:sp>
        <p:nvSpPr>
          <p:cNvPr id="9" name="Text 5"/>
          <p:cNvSpPr/>
          <p:nvPr>
            <p:custDataLst>
              <p:tags r:id="rId6"/>
            </p:custDataLst>
          </p:nvPr>
        </p:nvSpPr>
        <p:spPr>
          <a:xfrm>
            <a:off x="833140" y="3160118"/>
            <a:ext cx="2067421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多种交换模式</a:t>
            </a:r>
            <a:endParaRPr lang="en-US" sz="1625" dirty="0"/>
          </a:p>
        </p:txBody>
      </p:sp>
      <p:sp>
        <p:nvSpPr>
          <p:cNvPr id="10" name="Text 6"/>
          <p:cNvSpPr/>
          <p:nvPr>
            <p:custDataLst>
              <p:tags r:id="rId7"/>
            </p:custDataLst>
          </p:nvPr>
        </p:nvSpPr>
        <p:spPr>
          <a:xfrm>
            <a:off x="833140" y="3517801"/>
            <a:ext cx="3169444" cy="5292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9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直接交换、申请交换、积分交换、无偿转让,满足不同场景需求</a:t>
            </a:r>
            <a:endParaRPr lang="en-US" sz="1290" dirty="0"/>
          </a:p>
        </p:txBody>
      </p:sp>
      <p:sp>
        <p:nvSpPr>
          <p:cNvPr id="11" name="Shape 7"/>
          <p:cNvSpPr/>
          <p:nvPr>
            <p:custDataLst>
              <p:tags r:id="rId8"/>
            </p:custDataLst>
          </p:nvPr>
        </p:nvSpPr>
        <p:spPr>
          <a:xfrm>
            <a:off x="4339531" y="2327077"/>
            <a:ext cx="3512840" cy="1891606"/>
          </a:xfrm>
          <a:prstGeom prst="roundRect">
            <a:avLst>
              <a:gd name="adj" fmla="val 3672"/>
            </a:avLst>
          </a:prstGeom>
          <a:gradFill flip="none" rotWithShape="1">
            <a:gsLst>
              <a:gs pos="0">
                <a:srgbClr val="6EAA2E"/>
              </a:gs>
              <a:gs pos="23000">
                <a:srgbClr val="6EAA2E"/>
              </a:gs>
              <a:gs pos="82000">
                <a:srgbClr val="92D050"/>
              </a:gs>
              <a:gs pos="100000">
                <a:srgbClr val="C9E828"/>
              </a:gs>
            </a:gsLst>
            <a:lin ang="13500000" scaled="1"/>
          </a:gradFill>
        </p:spPr>
      </p:sp>
      <p:sp>
        <p:nvSpPr>
          <p:cNvPr id="12" name="Shape 8"/>
          <p:cNvSpPr/>
          <p:nvPr>
            <p:custDataLst>
              <p:tags r:id="rId9"/>
            </p:custDataLst>
          </p:nvPr>
        </p:nvSpPr>
        <p:spPr>
          <a:xfrm>
            <a:off x="4511179" y="2498725"/>
            <a:ext cx="496094" cy="496094"/>
          </a:xfrm>
          <a:prstGeom prst="roundRect">
            <a:avLst>
              <a:gd name="adj" fmla="val 15358451"/>
            </a:avLst>
          </a:prstGeom>
          <a:solidFill>
            <a:srgbClr val="A9F00F"/>
          </a:solidFill>
        </p:spPr>
      </p:sp>
      <p:pic>
        <p:nvPicPr>
          <p:cNvPr id="13" name="Image 2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47605" y="2635052"/>
            <a:ext cx="223243" cy="223243"/>
          </a:xfrm>
          <a:prstGeom prst="rect">
            <a:avLst/>
          </a:prstGeom>
        </p:spPr>
      </p:pic>
      <p:sp>
        <p:nvSpPr>
          <p:cNvPr id="14" name="Text 9"/>
          <p:cNvSpPr/>
          <p:nvPr>
            <p:custDataLst>
              <p:tags r:id="rId12"/>
            </p:custDataLst>
          </p:nvPr>
        </p:nvSpPr>
        <p:spPr>
          <a:xfrm>
            <a:off x="4511179" y="3160118"/>
            <a:ext cx="2067421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智慧匹配算法</a:t>
            </a:r>
            <a:endParaRPr lang="en-US" sz="1625" dirty="0"/>
          </a:p>
        </p:txBody>
      </p:sp>
      <p:sp>
        <p:nvSpPr>
          <p:cNvPr id="15" name="Text 10"/>
          <p:cNvSpPr/>
          <p:nvPr>
            <p:custDataLst>
              <p:tags r:id="rId13"/>
            </p:custDataLst>
          </p:nvPr>
        </p:nvSpPr>
        <p:spPr>
          <a:xfrm>
            <a:off x="4511179" y="3517801"/>
            <a:ext cx="3169543" cy="5292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9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自动发现双向匹配机会,主动推荐潜在交换对象</a:t>
            </a:r>
            <a:endParaRPr lang="en-US" sz="1290" dirty="0"/>
          </a:p>
        </p:txBody>
      </p:sp>
      <p:sp>
        <p:nvSpPr>
          <p:cNvPr id="16" name="Shape 11"/>
          <p:cNvSpPr/>
          <p:nvPr>
            <p:custDataLst>
              <p:tags r:id="rId14"/>
            </p:custDataLst>
          </p:nvPr>
        </p:nvSpPr>
        <p:spPr>
          <a:xfrm>
            <a:off x="8017669" y="2327077"/>
            <a:ext cx="3512741" cy="1891606"/>
          </a:xfrm>
          <a:prstGeom prst="roundRect">
            <a:avLst>
              <a:gd name="adj" fmla="val 3672"/>
            </a:avLst>
          </a:prstGeom>
          <a:gradFill flip="none" rotWithShape="1">
            <a:gsLst>
              <a:gs pos="0">
                <a:srgbClr val="6EAA2E"/>
              </a:gs>
              <a:gs pos="23000">
                <a:srgbClr val="6EAA2E"/>
              </a:gs>
              <a:gs pos="82000">
                <a:srgbClr val="92D050"/>
              </a:gs>
              <a:gs pos="100000">
                <a:srgbClr val="C9E828"/>
              </a:gs>
            </a:gsLst>
            <a:lin ang="13500000" scaled="1"/>
          </a:gradFill>
        </p:spPr>
      </p:sp>
      <p:sp>
        <p:nvSpPr>
          <p:cNvPr id="17" name="Shape 12"/>
          <p:cNvSpPr/>
          <p:nvPr>
            <p:custDataLst>
              <p:tags r:id="rId15"/>
            </p:custDataLst>
          </p:nvPr>
        </p:nvSpPr>
        <p:spPr>
          <a:xfrm>
            <a:off x="8189318" y="2498725"/>
            <a:ext cx="496094" cy="496094"/>
          </a:xfrm>
          <a:prstGeom prst="roundRect">
            <a:avLst>
              <a:gd name="adj" fmla="val 15358451"/>
            </a:avLst>
          </a:prstGeom>
          <a:solidFill>
            <a:srgbClr val="A9F00F"/>
          </a:solidFill>
        </p:spPr>
      </p:sp>
      <p:pic>
        <p:nvPicPr>
          <p:cNvPr id="18" name="Image 3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25743" y="2635052"/>
            <a:ext cx="223243" cy="223243"/>
          </a:xfrm>
          <a:prstGeom prst="rect">
            <a:avLst/>
          </a:prstGeom>
        </p:spPr>
      </p:pic>
      <p:sp>
        <p:nvSpPr>
          <p:cNvPr id="19" name="Text 13"/>
          <p:cNvSpPr/>
          <p:nvPr>
            <p:custDataLst>
              <p:tags r:id="rId18"/>
            </p:custDataLst>
          </p:nvPr>
        </p:nvSpPr>
        <p:spPr>
          <a:xfrm>
            <a:off x="8189318" y="3160118"/>
            <a:ext cx="2067421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冲突自动处理</a:t>
            </a:r>
            <a:endParaRPr lang="en-US" sz="1625" dirty="0"/>
          </a:p>
        </p:txBody>
      </p:sp>
      <p:sp>
        <p:nvSpPr>
          <p:cNvPr id="20" name="Text 14"/>
          <p:cNvSpPr/>
          <p:nvPr>
            <p:custDataLst>
              <p:tags r:id="rId19"/>
            </p:custDataLst>
          </p:nvPr>
        </p:nvSpPr>
        <p:spPr>
          <a:xfrm>
            <a:off x="8189318" y="3517801"/>
            <a:ext cx="3169444" cy="264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9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审核通过自动拒绝冲突申请,减少人工干预</a:t>
            </a:r>
            <a:endParaRPr lang="en-US" sz="1290" dirty="0"/>
          </a:p>
        </p:txBody>
      </p:sp>
      <p:sp>
        <p:nvSpPr>
          <p:cNvPr id="21" name="Shape 15"/>
          <p:cNvSpPr/>
          <p:nvPr>
            <p:custDataLst>
              <p:tags r:id="rId20"/>
            </p:custDataLst>
          </p:nvPr>
        </p:nvSpPr>
        <p:spPr>
          <a:xfrm>
            <a:off x="661492" y="4383981"/>
            <a:ext cx="5351760" cy="1626989"/>
          </a:xfrm>
          <a:prstGeom prst="roundRect">
            <a:avLst>
              <a:gd name="adj" fmla="val 4270"/>
            </a:avLst>
          </a:prstGeom>
          <a:gradFill flip="none" rotWithShape="1">
            <a:gsLst>
              <a:gs pos="0">
                <a:srgbClr val="6EAA2E"/>
              </a:gs>
              <a:gs pos="23000">
                <a:srgbClr val="6EAA2E"/>
              </a:gs>
              <a:gs pos="82000">
                <a:srgbClr val="92D050"/>
              </a:gs>
              <a:gs pos="100000">
                <a:srgbClr val="C9E828"/>
              </a:gs>
            </a:gsLst>
            <a:lin ang="13500000" scaled="1"/>
          </a:gradFill>
        </p:spPr>
      </p:sp>
      <p:sp>
        <p:nvSpPr>
          <p:cNvPr id="22" name="Shape 16"/>
          <p:cNvSpPr/>
          <p:nvPr>
            <p:custDataLst>
              <p:tags r:id="rId21"/>
            </p:custDataLst>
          </p:nvPr>
        </p:nvSpPr>
        <p:spPr>
          <a:xfrm>
            <a:off x="833140" y="4555629"/>
            <a:ext cx="496094" cy="496094"/>
          </a:xfrm>
          <a:prstGeom prst="roundRect">
            <a:avLst>
              <a:gd name="adj" fmla="val 15358451"/>
            </a:avLst>
          </a:prstGeom>
          <a:solidFill>
            <a:srgbClr val="A9F00F"/>
          </a:solidFill>
        </p:spPr>
      </p:sp>
      <p:pic>
        <p:nvPicPr>
          <p:cNvPr id="23" name="Image 4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69566" y="4691956"/>
            <a:ext cx="223243" cy="223243"/>
          </a:xfrm>
          <a:prstGeom prst="rect">
            <a:avLst/>
          </a:prstGeom>
        </p:spPr>
      </p:pic>
      <p:sp>
        <p:nvSpPr>
          <p:cNvPr id="24" name="Text 17"/>
          <p:cNvSpPr/>
          <p:nvPr>
            <p:custDataLst>
              <p:tags r:id="rId24"/>
            </p:custDataLst>
          </p:nvPr>
        </p:nvSpPr>
        <p:spPr>
          <a:xfrm>
            <a:off x="833140" y="5217021"/>
            <a:ext cx="2067421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积分激励机制</a:t>
            </a:r>
            <a:endParaRPr lang="en-US" sz="1625" dirty="0"/>
          </a:p>
        </p:txBody>
      </p:sp>
      <p:sp>
        <p:nvSpPr>
          <p:cNvPr id="25" name="Text 18"/>
          <p:cNvSpPr/>
          <p:nvPr>
            <p:custDataLst>
              <p:tags r:id="rId25"/>
            </p:custDataLst>
          </p:nvPr>
        </p:nvSpPr>
        <p:spPr>
          <a:xfrm>
            <a:off x="833140" y="5574705"/>
            <a:ext cx="5008463" cy="264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9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通过积分奖励鼓励用户分享场地资源,促进平台活跃</a:t>
            </a:r>
            <a:endParaRPr lang="en-US" sz="1290" dirty="0"/>
          </a:p>
        </p:txBody>
      </p:sp>
      <p:sp>
        <p:nvSpPr>
          <p:cNvPr id="26" name="Shape 19"/>
          <p:cNvSpPr/>
          <p:nvPr>
            <p:custDataLst>
              <p:tags r:id="rId26"/>
            </p:custDataLst>
          </p:nvPr>
        </p:nvSpPr>
        <p:spPr>
          <a:xfrm>
            <a:off x="6178550" y="4383981"/>
            <a:ext cx="5351859" cy="1626989"/>
          </a:xfrm>
          <a:prstGeom prst="roundRect">
            <a:avLst>
              <a:gd name="adj" fmla="val 4270"/>
            </a:avLst>
          </a:prstGeom>
          <a:gradFill flip="none" rotWithShape="1">
            <a:gsLst>
              <a:gs pos="0">
                <a:srgbClr val="6EAA2E"/>
              </a:gs>
              <a:gs pos="23000">
                <a:srgbClr val="6EAA2E"/>
              </a:gs>
              <a:gs pos="82000">
                <a:srgbClr val="92D050"/>
              </a:gs>
              <a:gs pos="100000">
                <a:srgbClr val="C9E828"/>
              </a:gs>
            </a:gsLst>
            <a:lin ang="13500000" scaled="1"/>
          </a:gradFill>
        </p:spPr>
      </p:sp>
      <p:sp>
        <p:nvSpPr>
          <p:cNvPr id="27" name="Shape 20"/>
          <p:cNvSpPr/>
          <p:nvPr>
            <p:custDataLst>
              <p:tags r:id="rId27"/>
            </p:custDataLst>
          </p:nvPr>
        </p:nvSpPr>
        <p:spPr>
          <a:xfrm>
            <a:off x="6350198" y="4555629"/>
            <a:ext cx="496094" cy="496094"/>
          </a:xfrm>
          <a:prstGeom prst="roundRect">
            <a:avLst>
              <a:gd name="adj" fmla="val 15358451"/>
            </a:avLst>
          </a:prstGeom>
          <a:solidFill>
            <a:srgbClr val="A9F00F"/>
          </a:solidFill>
        </p:spPr>
      </p:sp>
      <p:pic>
        <p:nvPicPr>
          <p:cNvPr id="28" name="Image 5" descr="preencoded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486624" y="4691956"/>
            <a:ext cx="223243" cy="223243"/>
          </a:xfrm>
          <a:prstGeom prst="rect">
            <a:avLst/>
          </a:prstGeom>
        </p:spPr>
      </p:pic>
      <p:sp>
        <p:nvSpPr>
          <p:cNvPr id="29" name="Text 21"/>
          <p:cNvSpPr/>
          <p:nvPr>
            <p:custDataLst>
              <p:tags r:id="rId30"/>
            </p:custDataLst>
          </p:nvPr>
        </p:nvSpPr>
        <p:spPr>
          <a:xfrm>
            <a:off x="6350198" y="5217021"/>
            <a:ext cx="2067421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实时通知系统</a:t>
            </a:r>
            <a:endParaRPr lang="en-US" sz="1625" dirty="0"/>
          </a:p>
        </p:txBody>
      </p:sp>
      <p:sp>
        <p:nvSpPr>
          <p:cNvPr id="30" name="Text 22"/>
          <p:cNvSpPr/>
          <p:nvPr>
            <p:custDataLst>
              <p:tags r:id="rId31"/>
            </p:custDataLst>
          </p:nvPr>
        </p:nvSpPr>
        <p:spPr>
          <a:xfrm>
            <a:off x="6350198" y="5574705"/>
            <a:ext cx="5008563" cy="264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9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关键操作即时推送消息,用户及时了解场地动态</a:t>
            </a:r>
            <a:endParaRPr lang="en-US" sz="129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7:27:31-d2crf0v0ctitcgma2e40.png"/>
          <p:cNvPicPr>
            <a:picLocks noChangeAspect="1"/>
          </p:cNvPicPr>
          <p:nvPr/>
        </p:nvPicPr>
        <p:blipFill>
          <a:blip r:embed="rId1"/>
          <a:srcRect l="20" r="20"/>
          <a:stretch>
            <a:fillRect/>
          </a:stretch>
        </p:blipFill>
        <p:spPr>
          <a:xfrm>
            <a:off x="-11430" y="-24130"/>
            <a:ext cx="11249025" cy="632079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2106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744788" y="2883535"/>
            <a:ext cx="6702425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chemeClr val="tx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  <a:sym typeface="+mn-ea"/>
              </a:rPr>
              <a:t>索引优化策略</a:t>
            </a:r>
            <a:endParaRPr lang="en-US" sz="6000" b="1" dirty="0">
              <a:solidFill>
                <a:schemeClr val="tx1"/>
              </a:solidFill>
              <a:latin typeface="Syne Extra Bold" pitchFamily="34" charset="0"/>
              <a:ea typeface="Syne Extra Bold" pitchFamily="34" charset="-122"/>
              <a:cs typeface="Syne Extra Bold" pitchFamily="34" charset="-120"/>
              <a:sym typeface="+mn-ea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580" y="1563370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7:27:34-d2crf1n0ctitcgma2ecg.png"/>
          <p:cNvPicPr>
            <a:picLocks noChangeAspect="1"/>
          </p:cNvPicPr>
          <p:nvPr/>
        </p:nvPicPr>
        <p:blipFill>
          <a:blip r:embed="rId1"/>
          <a:srcRect l="21" r="21"/>
          <a:stretch>
            <a:fillRect/>
          </a:stretch>
        </p:blipFill>
        <p:spPr>
          <a:xfrm>
            <a:off x="0" y="-19050"/>
            <a:ext cx="12235815" cy="687705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8-11-17:27:33-d2crf1f0ctitcgma2e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69570"/>
            <a:ext cx="670560" cy="6826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6220" y="405765"/>
            <a:ext cx="9799955" cy="7321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基于查询模式(Query Pattern)的索引设计是提升数据库性能的关键。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针对系统的核心查询场景,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我们</a:t>
            </a: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设计了三类索引来加速数据访问。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Shape 2"/>
          <p:cNvSpPr/>
          <p:nvPr>
            <p:custDataLst>
              <p:tags r:id="rId3"/>
            </p:custDataLst>
          </p:nvPr>
        </p:nvSpPr>
        <p:spPr>
          <a:xfrm>
            <a:off x="335280" y="1725295"/>
            <a:ext cx="3665220" cy="2229485"/>
          </a:xfrm>
          <a:prstGeom prst="roundRect">
            <a:avLst>
              <a:gd name="adj" fmla="val 3737"/>
            </a:avLst>
          </a:prstGeom>
          <a:solidFill>
            <a:srgbClr val="CAE927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7" name="Text 3"/>
          <p:cNvSpPr/>
          <p:nvPr>
            <p:custDataLst>
              <p:tags r:id="rId4"/>
            </p:custDataLst>
          </p:nvPr>
        </p:nvSpPr>
        <p:spPr>
          <a:xfrm>
            <a:off x="495478" y="1931637"/>
            <a:ext cx="2479697" cy="310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唯一性约束</a:t>
            </a:r>
            <a:endParaRPr lang="en-US" sz="1950" b="1" dirty="0">
              <a:solidFill>
                <a:schemeClr val="tx1"/>
              </a:solidFill>
              <a:latin typeface="Syne Extra Bold" pitchFamily="34" charset="0"/>
              <a:ea typeface="Syne Extra Bold" pitchFamily="34" charset="-122"/>
              <a:cs typeface="Syne Extra Bold" pitchFamily="34" charset="-120"/>
            </a:endParaRPr>
          </a:p>
        </p:txBody>
      </p:sp>
      <p:sp>
        <p:nvSpPr>
          <p:cNvPr id="19" name="Text 5"/>
          <p:cNvSpPr/>
          <p:nvPr>
            <p:custDataLst>
              <p:tags r:id="rId5"/>
            </p:custDataLst>
          </p:nvPr>
        </p:nvSpPr>
        <p:spPr>
          <a:xfrm>
            <a:off x="495300" y="2797175"/>
            <a:ext cx="3382010" cy="6407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algn="l">
              <a:lnSpc>
                <a:spcPts val="2500"/>
              </a:lnSpc>
              <a:buClrTx/>
              <a:buSzTx/>
              <a:buFontTx/>
              <a:buNone/>
            </a:pP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物理层保证用户不重名,防止数据冲突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95300" y="2368550"/>
            <a:ext cx="3144520" cy="247650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30" name="Shape 2"/>
          <p:cNvSpPr/>
          <p:nvPr>
            <p:custDataLst>
              <p:tags r:id="rId8"/>
            </p:custDataLst>
          </p:nvPr>
        </p:nvSpPr>
        <p:spPr>
          <a:xfrm>
            <a:off x="4297045" y="1725295"/>
            <a:ext cx="3665220" cy="2229485"/>
          </a:xfrm>
          <a:prstGeom prst="roundRect">
            <a:avLst>
              <a:gd name="adj" fmla="val 3737"/>
            </a:avLst>
          </a:prstGeom>
          <a:solidFill>
            <a:srgbClr val="CAE927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31" name="Shape 2"/>
          <p:cNvSpPr/>
          <p:nvPr>
            <p:custDataLst>
              <p:tags r:id="rId9"/>
            </p:custDataLst>
          </p:nvPr>
        </p:nvSpPr>
        <p:spPr>
          <a:xfrm>
            <a:off x="8258810" y="1725295"/>
            <a:ext cx="3665220" cy="2229485"/>
          </a:xfrm>
          <a:prstGeom prst="roundRect">
            <a:avLst>
              <a:gd name="adj" fmla="val 3737"/>
            </a:avLst>
          </a:prstGeom>
          <a:solidFill>
            <a:srgbClr val="CAE927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32" name="Text 3"/>
          <p:cNvSpPr/>
          <p:nvPr>
            <p:custDataLst>
              <p:tags r:id="rId10"/>
            </p:custDataLst>
          </p:nvPr>
        </p:nvSpPr>
        <p:spPr>
          <a:xfrm>
            <a:off x="4512488" y="1908777"/>
            <a:ext cx="2479697" cy="31000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lvl="0" algn="l">
              <a:lnSpc>
                <a:spcPts val="2400"/>
              </a:lnSpc>
              <a:buClrTx/>
              <a:buSzTx/>
              <a:buFontTx/>
            </a:pPr>
            <a:r>
              <a:rPr 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复合索引</a:t>
            </a:r>
            <a:endParaRPr 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ts val="2400"/>
              </a:lnSpc>
              <a:buClrTx/>
              <a:buSzTx/>
              <a:buFontTx/>
            </a:pPr>
            <a:endParaRPr 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Text 3"/>
          <p:cNvSpPr/>
          <p:nvPr>
            <p:custDataLst>
              <p:tags r:id="rId11"/>
            </p:custDataLst>
          </p:nvPr>
        </p:nvSpPr>
        <p:spPr>
          <a:xfrm>
            <a:off x="8485048" y="1903062"/>
            <a:ext cx="2479697" cy="310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algn="l">
              <a:lnSpc>
                <a:spcPts val="2400"/>
              </a:lnSpc>
              <a:buClrTx/>
              <a:buSzTx/>
              <a:buFontTx/>
              <a:buNone/>
            </a:pPr>
            <a:r>
              <a:rPr 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复合</a:t>
            </a:r>
            <a:r>
              <a:rPr 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索引</a:t>
            </a:r>
            <a:endParaRPr lang="en-US" sz="1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2"/>
            </p:custDataLst>
          </p:nvPr>
        </p:nvSpPr>
        <p:spPr>
          <a:xfrm>
            <a:off x="4405630" y="2738755"/>
            <a:ext cx="3500120" cy="1052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匹配算法需要频繁查询"某场地在某时间"是否可用,复合索引将扫描范围从全表缩小到特定分支</a:t>
            </a:r>
            <a:endParaRPr lang="en-US" altLang="en-US" sz="1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" name="文本框 34"/>
          <p:cNvSpPr txBox="1"/>
          <p:nvPr>
            <p:custDataLst>
              <p:tags r:id="rId13"/>
            </p:custDataLst>
          </p:nvPr>
        </p:nvSpPr>
        <p:spPr>
          <a:xfrm>
            <a:off x="8354695" y="2797175"/>
            <a:ext cx="3303905" cy="732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lnSpc>
                <a:spcPts val="2500"/>
              </a:lnSpc>
              <a:buClrTx/>
              <a:buSzTx/>
              <a:buFontTx/>
              <a:buNone/>
            </a:pP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加速管理员后台"按时间查看待审核"的查询,提升管理效率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405630" y="2368550"/>
            <a:ext cx="3448050" cy="243840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8425815" y="2368550"/>
            <a:ext cx="3364230" cy="231775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4360" y="4311650"/>
            <a:ext cx="11123930" cy="20199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7:27:31-d2crf0v0ctitcgma2e40.png"/>
          <p:cNvPicPr>
            <a:picLocks noChangeAspect="1"/>
          </p:cNvPicPr>
          <p:nvPr/>
        </p:nvPicPr>
        <p:blipFill>
          <a:blip r:embed="rId1"/>
          <a:srcRect l="20" r="20"/>
          <a:stretch>
            <a:fillRect/>
          </a:stretch>
        </p:blipFill>
        <p:spPr>
          <a:xfrm>
            <a:off x="-11430" y="-24130"/>
            <a:ext cx="11249025" cy="632079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2106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744788" y="2883535"/>
            <a:ext cx="6702425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40404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智慧匹配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580" y="1563370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7:27:34-d2crf1n0ctitcgma2ecg.png"/>
          <p:cNvPicPr>
            <a:picLocks noChangeAspect="1"/>
          </p:cNvPicPr>
          <p:nvPr/>
        </p:nvPicPr>
        <p:blipFill>
          <a:blip r:embed="rId1"/>
          <a:srcRect l="21" r="21"/>
          <a:stretch>
            <a:fillRect/>
          </a:stretch>
        </p:blipFill>
        <p:spPr>
          <a:xfrm>
            <a:off x="0" y="-19050"/>
            <a:ext cx="12235815" cy="687705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8-11-17:27:33-d2crf1f0ctitcgma2e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10" y="124460"/>
            <a:ext cx="670560" cy="682625"/>
          </a:xfrm>
          <a:prstGeom prst="rect">
            <a:avLst/>
          </a:prstGeom>
        </p:spPr>
      </p:pic>
      <p:sp>
        <p:nvSpPr>
          <p:cNvPr id="4" name="Shape 0"/>
          <p:cNvSpPr/>
          <p:nvPr>
            <p:custDataLst>
              <p:tags r:id="rId3"/>
            </p:custDataLst>
          </p:nvPr>
        </p:nvSpPr>
        <p:spPr>
          <a:xfrm>
            <a:off x="1277620" y="1356360"/>
            <a:ext cx="4297680" cy="445008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6EAA2E"/>
                </a:gs>
                <a:gs pos="30000">
                  <a:srgbClr val="6EAA2E"/>
                </a:gs>
                <a:gs pos="100000">
                  <a:srgbClr val="92D050"/>
                </a:gs>
              </a:gsLst>
              <a:lin ang="10800000" scaled="1"/>
            </a:gradFill>
            <a:prstDash val="solid"/>
          </a:ln>
        </p:spPr>
      </p:sp>
      <p:sp>
        <p:nvSpPr>
          <p:cNvPr id="6" name="Shape 2"/>
          <p:cNvSpPr/>
          <p:nvPr>
            <p:custDataLst>
              <p:tags r:id="rId4"/>
            </p:custDataLst>
          </p:nvPr>
        </p:nvSpPr>
        <p:spPr>
          <a:xfrm>
            <a:off x="-3810" y="4144645"/>
            <a:ext cx="12206605" cy="2713355"/>
          </a:xfrm>
          <a:custGeom>
            <a:avLst/>
            <a:gdLst/>
            <a:ahLst/>
            <a:cxnLst/>
            <a:rect l="l" t="t" r="r" b="b"/>
            <a:pathLst>
              <a:path w="12206605" h="2713355">
                <a:moveTo>
                  <a:pt x="0" y="1346200"/>
                </a:moveTo>
                <a:cubicBezTo>
                  <a:pt x="1021080" y="554355"/>
                  <a:pt x="3368040" y="0"/>
                  <a:pt x="6099810" y="0"/>
                </a:cubicBezTo>
                <a:cubicBezTo>
                  <a:pt x="8837930" y="0"/>
                  <a:pt x="11189335" y="556895"/>
                  <a:pt x="12206605" y="1351280"/>
                </a:cubicBezTo>
                <a:lnTo>
                  <a:pt x="12206605" y="2713355"/>
                </a:lnTo>
                <a:lnTo>
                  <a:pt x="0" y="2713355"/>
                </a:lnTo>
                <a:lnTo>
                  <a:pt x="0" y="1346200"/>
                </a:lnTo>
                <a:close/>
              </a:path>
            </a:pathLst>
          </a:custGeom>
          <a:gradFill flip="none" rotWithShape="1">
            <a:gsLst>
              <a:gs pos="0">
                <a:srgbClr val="6EAA2E"/>
              </a:gs>
              <a:gs pos="53000">
                <a:srgbClr val="92D050"/>
              </a:gs>
              <a:gs pos="91000">
                <a:srgbClr val="C9E828"/>
              </a:gs>
              <a:gs pos="100000">
                <a:srgbClr val="C9E828"/>
              </a:gs>
            </a:gsLst>
            <a:lin ang="13500000" scaled="1"/>
          </a:gradFill>
        </p:spPr>
      </p:sp>
      <p:sp>
        <p:nvSpPr>
          <p:cNvPr id="9" name="Text 5"/>
          <p:cNvSpPr/>
          <p:nvPr/>
        </p:nvSpPr>
        <p:spPr>
          <a:xfrm>
            <a:off x="1506220" y="124460"/>
            <a:ext cx="9799955" cy="5270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>
              <a:lnSpc>
                <a:spcPts val="3400"/>
              </a:lnSpc>
              <a:buClrTx/>
              <a:buSzTx/>
              <a:buFontTx/>
            </a:pPr>
            <a:r>
              <a:rPr lang="en-US" sz="2665" b="1" dirty="0"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实时匹配算法</a:t>
            </a:r>
            <a:endParaRPr lang="en-US" sz="2665" b="1" dirty="0"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10" name="Text 6"/>
          <p:cNvSpPr/>
          <p:nvPr>
            <p:custDataLst>
              <p:tags r:id="rId5"/>
            </p:custDataLst>
          </p:nvPr>
        </p:nvSpPr>
        <p:spPr>
          <a:xfrm>
            <a:off x="1847215" y="927735"/>
            <a:ext cx="315785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000" b="1" dirty="0"/>
              <a:t>发布需求时匹配已有场地</a:t>
            </a:r>
            <a:endParaRPr lang="zh-CN" altLang="en-US" sz="2000" b="1" dirty="0"/>
          </a:p>
        </p:txBody>
      </p:sp>
      <p:sp>
        <p:nvSpPr>
          <p:cNvPr id="11" name="Text 7"/>
          <p:cNvSpPr/>
          <p:nvPr>
            <p:custDataLst>
              <p:tags r:id="rId6"/>
            </p:custDataLst>
          </p:nvPr>
        </p:nvSpPr>
        <p:spPr>
          <a:xfrm>
            <a:off x="1549400" y="1487170"/>
            <a:ext cx="381698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/>
              <a:t>用户在发布需求页面点击</a:t>
            </a:r>
            <a:r>
              <a:rPr lang="en-US" altLang="zh-CN" sz="1600" dirty="0"/>
              <a:t>"</a:t>
            </a:r>
            <a:r>
              <a:rPr lang="zh-CN" altLang="en-US" sz="1600" dirty="0"/>
              <a:t>发布需求场地</a:t>
            </a:r>
            <a:r>
              <a:rPr lang="en-US" altLang="zh-CN" sz="1600" dirty="0"/>
              <a:t>"</a:t>
            </a:r>
            <a:endParaRPr lang="en-US" altLang="zh-CN" sz="1600" dirty="0"/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547495" y="2051685"/>
            <a:ext cx="371919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前端调用</a:t>
            </a:r>
            <a:r>
              <a:rPr lang="en-US" altLang="zh-CN"/>
              <a:t> POST /courts/match/check-owned </a:t>
            </a:r>
            <a:r>
              <a:rPr lang="zh-CN" altLang="en-US"/>
              <a:t>检查场地广场是否有匹配的已上架场地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如果找到匹配，弹窗提示用户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点击</a:t>
            </a:r>
            <a:r>
              <a:rPr lang="en-US" altLang="zh-CN"/>
              <a:t>"</a:t>
            </a:r>
            <a:r>
              <a:rPr lang="zh-CN" altLang="en-US"/>
              <a:t>前往申请</a:t>
            </a:r>
            <a:r>
              <a:rPr lang="en-US" altLang="zh-CN"/>
              <a:t>"</a:t>
            </a:r>
            <a:r>
              <a:rPr lang="zh-CN" altLang="en-US"/>
              <a:t>会跳转到搜索页面并自动执行搜索，直接显示匹配结果。</a:t>
            </a:r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005" y="1075690"/>
            <a:ext cx="4972685" cy="507111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785" y="5306060"/>
            <a:ext cx="5372100" cy="11811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7:27:34-d2crf1n0ctitcgma2ecg.png"/>
          <p:cNvPicPr>
            <a:picLocks noChangeAspect="1"/>
          </p:cNvPicPr>
          <p:nvPr/>
        </p:nvPicPr>
        <p:blipFill>
          <a:blip r:embed="rId1"/>
          <a:srcRect l="21" r="21"/>
          <a:stretch>
            <a:fillRect/>
          </a:stretch>
        </p:blipFill>
        <p:spPr>
          <a:xfrm>
            <a:off x="0" y="-19050"/>
            <a:ext cx="12235815" cy="687705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8-11-17:27:33-d2crf1f0ctitcgma2e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10" y="124460"/>
            <a:ext cx="670560" cy="682625"/>
          </a:xfrm>
          <a:prstGeom prst="rect">
            <a:avLst/>
          </a:prstGeom>
        </p:spPr>
      </p:pic>
      <p:sp>
        <p:nvSpPr>
          <p:cNvPr id="5" name="Shape 1"/>
          <p:cNvSpPr/>
          <p:nvPr>
            <p:custDataLst>
              <p:tags r:id="rId3"/>
            </p:custDataLst>
          </p:nvPr>
        </p:nvSpPr>
        <p:spPr>
          <a:xfrm>
            <a:off x="951230" y="1386205"/>
            <a:ext cx="4297680" cy="445008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6EAA2E"/>
                </a:gs>
                <a:gs pos="30000">
                  <a:srgbClr val="6EAA2E"/>
                </a:gs>
                <a:gs pos="100000">
                  <a:srgbClr val="92D050"/>
                </a:gs>
              </a:gsLst>
              <a:lin ang="10800000" scaled="1"/>
            </a:gradFill>
            <a:prstDash val="solid"/>
          </a:ln>
        </p:spPr>
      </p:sp>
      <p:sp>
        <p:nvSpPr>
          <p:cNvPr id="6" name="Shape 2"/>
          <p:cNvSpPr/>
          <p:nvPr>
            <p:custDataLst>
              <p:tags r:id="rId4"/>
            </p:custDataLst>
          </p:nvPr>
        </p:nvSpPr>
        <p:spPr>
          <a:xfrm>
            <a:off x="-3810" y="4144645"/>
            <a:ext cx="12206605" cy="2713355"/>
          </a:xfrm>
          <a:custGeom>
            <a:avLst/>
            <a:gdLst/>
            <a:ahLst/>
            <a:cxnLst/>
            <a:rect l="l" t="t" r="r" b="b"/>
            <a:pathLst>
              <a:path w="12206605" h="2713355">
                <a:moveTo>
                  <a:pt x="0" y="1346200"/>
                </a:moveTo>
                <a:cubicBezTo>
                  <a:pt x="1021080" y="554355"/>
                  <a:pt x="3368040" y="0"/>
                  <a:pt x="6099810" y="0"/>
                </a:cubicBezTo>
                <a:cubicBezTo>
                  <a:pt x="8837930" y="0"/>
                  <a:pt x="11189335" y="556895"/>
                  <a:pt x="12206605" y="1351280"/>
                </a:cubicBezTo>
                <a:lnTo>
                  <a:pt x="12206605" y="2713355"/>
                </a:lnTo>
                <a:lnTo>
                  <a:pt x="0" y="2713355"/>
                </a:lnTo>
                <a:lnTo>
                  <a:pt x="0" y="1346200"/>
                </a:lnTo>
                <a:close/>
              </a:path>
            </a:pathLst>
          </a:custGeom>
          <a:gradFill flip="none" rotWithShape="1">
            <a:gsLst>
              <a:gs pos="0">
                <a:srgbClr val="6EAA2E"/>
              </a:gs>
              <a:gs pos="53000">
                <a:srgbClr val="92D050"/>
              </a:gs>
              <a:gs pos="91000">
                <a:srgbClr val="C9E828"/>
              </a:gs>
              <a:gs pos="100000">
                <a:srgbClr val="C9E828"/>
              </a:gs>
            </a:gsLst>
            <a:lin ang="13500000" scaled="1"/>
          </a:gradFill>
        </p:spPr>
      </p:sp>
      <p:sp>
        <p:nvSpPr>
          <p:cNvPr id="9" name="Text 5"/>
          <p:cNvSpPr/>
          <p:nvPr/>
        </p:nvSpPr>
        <p:spPr>
          <a:xfrm>
            <a:off x="1506220" y="124460"/>
            <a:ext cx="9799955" cy="5270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>
              <a:lnSpc>
                <a:spcPts val="3400"/>
              </a:lnSpc>
              <a:buClrTx/>
              <a:buSzTx/>
              <a:buFontTx/>
            </a:pPr>
            <a:r>
              <a:rPr lang="en-US" sz="2665" b="1" dirty="0"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实时匹配算法</a:t>
            </a:r>
            <a:endParaRPr lang="en-US" sz="2665" b="1" dirty="0"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12" name="Text 8"/>
          <p:cNvSpPr/>
          <p:nvPr>
            <p:custDataLst>
              <p:tags r:id="rId5"/>
            </p:custDataLst>
          </p:nvPr>
        </p:nvSpPr>
        <p:spPr>
          <a:xfrm>
            <a:off x="1594485" y="987425"/>
            <a:ext cx="301053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  <a:buClrTx/>
              <a:buSzTx/>
              <a:buFontTx/>
            </a:pPr>
            <a:r>
              <a:rPr lang="zh-CN" altLang="en-US" sz="2000" b="1" dirty="0"/>
              <a:t>场地审核通过后匹配需求</a:t>
            </a:r>
            <a:endParaRPr lang="zh-CN" altLang="en-US" sz="2000" b="1" dirty="0"/>
          </a:p>
        </p:txBody>
      </p:sp>
      <p:sp>
        <p:nvSpPr>
          <p:cNvPr id="13" name="Text 9"/>
          <p:cNvSpPr/>
          <p:nvPr>
            <p:custDataLst>
              <p:tags r:id="rId6"/>
            </p:custDataLst>
          </p:nvPr>
        </p:nvSpPr>
        <p:spPr>
          <a:xfrm>
            <a:off x="1222693" y="1504315"/>
            <a:ext cx="37566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/>
              <a:t>管理员审核通过一个场地申请</a:t>
            </a:r>
            <a:endParaRPr lang="zh-CN" altLang="en-US" sz="1600" dirty="0"/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1223010" y="2082165"/>
            <a:ext cx="359537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buClrTx/>
              <a:buSzTx/>
              <a:buFont typeface="Wingdings" panose="05000000000000000000" charset="0"/>
              <a:buChar char="l"/>
            </a:pPr>
            <a:r>
              <a:rPr lang="zh-CN" altLang="en-US"/>
              <a:t>后端在</a:t>
            </a:r>
            <a:r>
              <a:rPr lang="zh-CN" altLang="en-US"/>
              <a:t> /admin/review 审核通过时，查询需求广场是否有人需要该场地</a:t>
            </a:r>
            <a:endParaRPr lang="zh-CN" altLang="en-US"/>
          </a:p>
          <a:p>
            <a:pPr marL="285750" indent="-285750" algn="l">
              <a:buClrTx/>
              <a:buSzTx/>
              <a:buFont typeface="Wingdings" panose="05000000000000000000" charset="0"/>
              <a:buChar char="l"/>
            </a:pPr>
            <a:r>
              <a:rPr lang="zh-CN" altLang="en-US"/>
              <a:t>给场地发布者发送通知（告知有多少人需要）</a:t>
            </a:r>
            <a:endParaRPr lang="zh-CN" altLang="en-US"/>
          </a:p>
          <a:p>
            <a:pPr marL="285750" indent="-285750" algn="l">
              <a:buClrTx/>
              <a:buSzTx/>
              <a:buFont typeface="Wingdings" panose="05000000000000000000" charset="0"/>
              <a:buChar char="l"/>
            </a:pPr>
            <a:r>
              <a:rPr lang="zh-CN" altLang="en-US"/>
              <a:t>给所有需要该场地的用户发送通知</a:t>
            </a:r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5005" y="2353945"/>
            <a:ext cx="4298950" cy="434340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0005" y="37465"/>
            <a:ext cx="4438650" cy="33915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7:27:34-d2crf1n0ctitcgma2ecg.png"/>
          <p:cNvPicPr>
            <a:picLocks noChangeAspect="1"/>
          </p:cNvPicPr>
          <p:nvPr/>
        </p:nvPicPr>
        <p:blipFill>
          <a:blip r:embed="rId1"/>
          <a:srcRect l="21" r="21"/>
          <a:stretch>
            <a:fillRect/>
          </a:stretch>
        </p:blipFill>
        <p:spPr>
          <a:xfrm>
            <a:off x="0" y="-63500"/>
            <a:ext cx="12235815" cy="687705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8-11-17:27:33-d2crf1f0ctitcgma2e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10" y="124460"/>
            <a:ext cx="670560" cy="682625"/>
          </a:xfrm>
          <a:prstGeom prst="rect">
            <a:avLst/>
          </a:prstGeom>
        </p:spPr>
      </p:pic>
      <p:sp>
        <p:nvSpPr>
          <p:cNvPr id="4" name="Shape 0"/>
          <p:cNvSpPr/>
          <p:nvPr>
            <p:custDataLst>
              <p:tags r:id="rId3"/>
            </p:custDataLst>
          </p:nvPr>
        </p:nvSpPr>
        <p:spPr>
          <a:xfrm>
            <a:off x="847090" y="1490345"/>
            <a:ext cx="4297680" cy="445008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6EAA2E"/>
                </a:gs>
                <a:gs pos="30000">
                  <a:srgbClr val="6EAA2E"/>
                </a:gs>
                <a:gs pos="100000">
                  <a:srgbClr val="92D050"/>
                </a:gs>
              </a:gsLst>
              <a:lin ang="10800000" scaled="1"/>
            </a:gra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-3810" y="4144645"/>
            <a:ext cx="12206605" cy="2713355"/>
          </a:xfrm>
          <a:custGeom>
            <a:avLst/>
            <a:gdLst/>
            <a:ahLst/>
            <a:cxnLst/>
            <a:rect l="l" t="t" r="r" b="b"/>
            <a:pathLst>
              <a:path w="12206605" h="2713355">
                <a:moveTo>
                  <a:pt x="0" y="1346200"/>
                </a:moveTo>
                <a:cubicBezTo>
                  <a:pt x="1021080" y="554355"/>
                  <a:pt x="3368040" y="0"/>
                  <a:pt x="6099810" y="0"/>
                </a:cubicBezTo>
                <a:cubicBezTo>
                  <a:pt x="8837930" y="0"/>
                  <a:pt x="11189335" y="556895"/>
                  <a:pt x="12206605" y="1351280"/>
                </a:cubicBezTo>
                <a:lnTo>
                  <a:pt x="12206605" y="2713355"/>
                </a:lnTo>
                <a:lnTo>
                  <a:pt x="0" y="2713355"/>
                </a:lnTo>
                <a:lnTo>
                  <a:pt x="0" y="1346200"/>
                </a:lnTo>
                <a:close/>
              </a:path>
            </a:pathLst>
          </a:custGeom>
          <a:gradFill flip="none" rotWithShape="1">
            <a:gsLst>
              <a:gs pos="0">
                <a:srgbClr val="6EAA2E"/>
              </a:gs>
              <a:gs pos="53000">
                <a:srgbClr val="92D050"/>
              </a:gs>
              <a:gs pos="91000">
                <a:srgbClr val="C9E828"/>
              </a:gs>
              <a:gs pos="100000">
                <a:srgbClr val="C9E828"/>
              </a:gs>
            </a:gsLst>
            <a:lin ang="13500000" scaled="1"/>
          </a:gradFill>
        </p:spPr>
      </p:sp>
      <p:sp>
        <p:nvSpPr>
          <p:cNvPr id="9" name="Text 5"/>
          <p:cNvSpPr/>
          <p:nvPr/>
        </p:nvSpPr>
        <p:spPr>
          <a:xfrm>
            <a:off x="1506220" y="124460"/>
            <a:ext cx="9799955" cy="5270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>
              <a:lnSpc>
                <a:spcPts val="3400"/>
              </a:lnSpc>
              <a:buClrTx/>
              <a:buSzTx/>
              <a:buFontTx/>
            </a:pPr>
            <a:r>
              <a:rPr lang="en-US" sz="2665" b="1" dirty="0"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双向智能匹配算法</a:t>
            </a:r>
            <a:endParaRPr lang="en-US" sz="2665" b="1" dirty="0"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10" name="Text 6"/>
          <p:cNvSpPr/>
          <p:nvPr>
            <p:custDataLst>
              <p:tags r:id="rId4"/>
            </p:custDataLst>
          </p:nvPr>
        </p:nvSpPr>
        <p:spPr>
          <a:xfrm>
            <a:off x="2375535" y="1061720"/>
            <a:ext cx="120205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000" b="1" dirty="0"/>
              <a:t>双向匹配</a:t>
            </a:r>
            <a:endParaRPr lang="zh-CN" altLang="en-US" sz="2000" b="1" dirty="0"/>
          </a:p>
        </p:txBody>
      </p:sp>
      <p:sp>
        <p:nvSpPr>
          <p:cNvPr id="11" name="Text 7"/>
          <p:cNvSpPr/>
          <p:nvPr>
            <p:custDataLst>
              <p:tags r:id="rId5"/>
            </p:custDataLst>
          </p:nvPr>
        </p:nvSpPr>
        <p:spPr>
          <a:xfrm>
            <a:off x="1118870" y="1621155"/>
            <a:ext cx="381698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/>
              <a:t>用户登录主页时自动检测</a:t>
            </a:r>
            <a:endParaRPr lang="zh-CN" altLang="en-US" sz="1600" dirty="0"/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16965" y="2185670"/>
            <a:ext cx="371919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前端调用</a:t>
            </a:r>
            <a:r>
              <a:rPr lang="en-US" altLang="zh-CN"/>
              <a:t> GET /courts/match/mutual </a:t>
            </a:r>
            <a:r>
              <a:rPr lang="zh-CN" altLang="en-US"/>
              <a:t>获取双向匹配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后端检测：我有</a:t>
            </a:r>
            <a:r>
              <a:rPr lang="en-US" altLang="zh-CN"/>
              <a:t>A</a:t>
            </a:r>
            <a:r>
              <a:rPr lang="zh-CN" altLang="en-US"/>
              <a:t>想要</a:t>
            </a:r>
            <a:r>
              <a:rPr lang="en-US" altLang="zh-CN"/>
              <a:t>B</a:t>
            </a:r>
            <a:r>
              <a:rPr lang="zh-CN" altLang="en-US"/>
              <a:t>，对方有</a:t>
            </a:r>
            <a:r>
              <a:rPr lang="en-US" altLang="zh-CN"/>
              <a:t>B</a:t>
            </a:r>
            <a:r>
              <a:rPr lang="zh-CN" altLang="en-US"/>
              <a:t>想要</a:t>
            </a:r>
            <a:r>
              <a:rPr lang="en-US" altLang="zh-CN"/>
              <a:t>A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完美匹配！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主页顶部显示金色横幅提示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9730" y="725170"/>
            <a:ext cx="6203950" cy="97155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4370" y="1837055"/>
            <a:ext cx="5457190" cy="43237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7:27:31-d2crf0v0ctitcgma2e40.png"/>
          <p:cNvPicPr>
            <a:picLocks noChangeAspect="1"/>
          </p:cNvPicPr>
          <p:nvPr/>
        </p:nvPicPr>
        <p:blipFill>
          <a:blip r:embed="rId1"/>
          <a:srcRect l="20" r="20"/>
          <a:stretch>
            <a:fillRect/>
          </a:stretch>
        </p:blipFill>
        <p:spPr>
          <a:xfrm>
            <a:off x="-11430" y="-24130"/>
            <a:ext cx="11249025" cy="632079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560955" y="2883535"/>
            <a:ext cx="7167245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6000" b="1" dirty="0">
                <a:solidFill>
                  <a:srgbClr val="404040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</a:rPr>
              <a:t>消息通知与好友系统</a:t>
            </a:r>
            <a:endParaRPr lang="zh-CN" altLang="en-US" sz="6000" b="1" dirty="0">
              <a:solidFill>
                <a:srgbClr val="404040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7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835" y="1572895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pic>
        <p:nvPicPr>
          <p:cNvPr id="4" name="Image 0" descr="https://test-kimi-img.moonshot.cn/pub/slides/slides_tmpl/image/25-08-11-17:27:33-d2crf1f0ctitcgma2eb0.png"/>
          <p:cNvPicPr>
            <a:picLocks noChangeAspect="1"/>
          </p:cNvPicPr>
          <p:nvPr/>
        </p:nvPicPr>
        <p:blipFill>
          <a:blip r:embed="rId1"/>
          <a:srcRect l="35" r="35"/>
          <a:stretch>
            <a:fillRect/>
          </a:stretch>
        </p:blipFill>
        <p:spPr>
          <a:xfrm>
            <a:off x="-10795" y="1793240"/>
            <a:ext cx="5464175" cy="50857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61555" y="22225"/>
            <a:ext cx="4815840" cy="6827520"/>
          </a:xfrm>
          <a:prstGeom prst="rect">
            <a:avLst/>
          </a:prstGeom>
          <a:gradFill flip="none" rotWithShape="1">
            <a:gsLst>
              <a:gs pos="0">
                <a:srgbClr val="6EAA2E"/>
              </a:gs>
              <a:gs pos="30000">
                <a:srgbClr val="6EAA2E"/>
              </a:gs>
              <a:gs pos="86000">
                <a:srgbClr val="92D050"/>
              </a:gs>
              <a:gs pos="100000">
                <a:srgbClr val="C9E828"/>
              </a:gs>
            </a:gsLst>
            <a:lin ang="13500000" scaled="1"/>
          </a:gradFill>
        </p:spPr>
      </p:sp>
      <p:sp>
        <p:nvSpPr>
          <p:cNvPr id="6" name="Shape 3"/>
          <p:cNvSpPr/>
          <p:nvPr/>
        </p:nvSpPr>
        <p:spPr>
          <a:xfrm flipV="1">
            <a:off x="11135877" y="6005391"/>
            <a:ext cx="425568" cy="423984"/>
          </a:xfrm>
          <a:prstGeom prst="plaqu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7" name="Shape 4"/>
          <p:cNvSpPr/>
          <p:nvPr/>
        </p:nvSpPr>
        <p:spPr>
          <a:xfrm flipV="1">
            <a:off x="10587990" y="5470525"/>
            <a:ext cx="637503" cy="635551"/>
          </a:xfrm>
          <a:prstGeom prst="plaqu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9" name="Text 5"/>
          <p:cNvSpPr/>
          <p:nvPr/>
        </p:nvSpPr>
        <p:spPr>
          <a:xfrm>
            <a:off x="1425575" y="324485"/>
            <a:ext cx="3104515" cy="655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65" b="1" dirty="0"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统一消息中心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766050" y="1290955"/>
            <a:ext cx="4027170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000" b="1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Microsoft Sans Serif" panose="020B0604020202020204" pitchFamily="34" charset="-120"/>
              </a:rPr>
              <a:t>消息通知系统</a:t>
            </a:r>
            <a:endParaRPr lang="en-US" sz="4000" b="1" dirty="0">
              <a:solidFill>
                <a:schemeClr val="tx1"/>
              </a:solidFill>
              <a:latin typeface="华文新魏" panose="02010800040101010101" charset="-122"/>
              <a:ea typeface="华文新魏" panose="02010800040101010101" charset="-122"/>
              <a:cs typeface="Microsoft Sans Serif" panose="020B0604020202020204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766050" y="2404745"/>
            <a:ext cx="4014078" cy="30835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2000" dirty="0">
                <a:solidFill>
                  <a:schemeClr val="bg1"/>
                </a:solidFill>
                <a:latin typeface="汉仪雅酷黑简" panose="00020600040101010101" charset="-122"/>
                <a:ea typeface="汉仪雅酷黑简" panose="00020600040101010101" charset="-122"/>
                <a:cs typeface="汉仪雅酷黑简" panose="00020600040101010101" charset="-122"/>
              </a:rPr>
              <a:t>我们构建了一个统一的消息通知中心，无论是审核通过、交换成功，还是积分变动，系统都会通过send_system_message异步写入消息表。这确保了用户在任何环节的操作都能得到即时的反馈，形成了完整的用户体验闭环。</a:t>
            </a:r>
            <a:endParaRPr lang="en-US" sz="2000" dirty="0">
              <a:solidFill>
                <a:schemeClr val="bg1"/>
              </a:solidFill>
              <a:latin typeface="汉仪雅酷黑简" panose="00020600040101010101" charset="-122"/>
              <a:ea typeface="汉仪雅酷黑简" panose="00020600040101010101" charset="-122"/>
              <a:cs typeface="汉仪雅酷黑简" panose="00020600040101010101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" y="3729990"/>
            <a:ext cx="6777990" cy="28263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" y="1138555"/>
            <a:ext cx="6724650" cy="2298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6" name="Image 0" descr="https://test-kimi-img.moonshot.cn/pub/slides/slides_tmpl/image/25-08-11-17:27:31-d2crf0v0ctitcgma2e40.png"/>
          <p:cNvPicPr>
            <a:picLocks noChangeAspect="1"/>
          </p:cNvPicPr>
          <p:nvPr/>
        </p:nvPicPr>
        <p:blipFill>
          <a:blip r:embed="rId1"/>
          <a:srcRect l="20" r="20"/>
          <a:stretch>
            <a:fillRect/>
          </a:stretch>
        </p:blipFill>
        <p:spPr>
          <a:xfrm>
            <a:off x="0" y="0"/>
            <a:ext cx="11249025" cy="63207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3911" y="307896"/>
            <a:ext cx="2893119" cy="3616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好友系统</a:t>
            </a:r>
            <a:endParaRPr lang="en-US" sz="2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283911" y="715784"/>
            <a:ext cx="3039169" cy="216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社交核心模块 - 连接用户,促进资源流转</a:t>
            </a:r>
            <a:endParaRPr lang="en-US" sz="1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462856" y="1120279"/>
            <a:ext cx="6694289" cy="37008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好友系统是ExCourt平台的社交核心模块,让用户可以建立社交关系、实时沟通、互赠资源。通过好友管理、实时聊天、场地赠予和积分转账四大功能,打造校园运动场地交换的社交生态。</a:t>
            </a:r>
            <a:endParaRPr lang="en-US" sz="11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hape 3"/>
          <p:cNvSpPr/>
          <p:nvPr>
            <p:custDataLst>
              <p:tags r:id="rId2"/>
            </p:custDataLst>
          </p:nvPr>
        </p:nvSpPr>
        <p:spPr>
          <a:xfrm>
            <a:off x="462856" y="1620540"/>
            <a:ext cx="6694289" cy="1142107"/>
          </a:xfrm>
          <a:prstGeom prst="roundRect">
            <a:avLst>
              <a:gd name="adj" fmla="val 4256"/>
            </a:avLst>
          </a:prstGeom>
          <a:gradFill flip="none" rotWithShape="1">
            <a:gsLst>
              <a:gs pos="0">
                <a:srgbClr val="6EAA2E"/>
              </a:gs>
              <a:gs pos="23000">
                <a:srgbClr val="6EAA2E"/>
              </a:gs>
              <a:gs pos="44000">
                <a:srgbClr val="92D050"/>
              </a:gs>
              <a:gs pos="100000">
                <a:srgbClr val="C9E828"/>
              </a:gs>
            </a:gsLst>
            <a:lin ang="13500000" scaled="1"/>
          </a:gradFill>
        </p:spPr>
      </p:sp>
      <p:sp>
        <p:nvSpPr>
          <p:cNvPr id="7" name="Shape 4"/>
          <p:cNvSpPr/>
          <p:nvPr>
            <p:custDataLst>
              <p:tags r:id="rId3"/>
            </p:custDataLst>
          </p:nvPr>
        </p:nvSpPr>
        <p:spPr>
          <a:xfrm>
            <a:off x="584894" y="1742579"/>
            <a:ext cx="347167" cy="347167"/>
          </a:xfrm>
          <a:prstGeom prst="roundRect">
            <a:avLst>
              <a:gd name="adj" fmla="val 21946917"/>
            </a:avLst>
          </a:prstGeom>
          <a:solidFill>
            <a:srgbClr val="A9F00F"/>
          </a:solidFill>
        </p:spPr>
      </p:sp>
      <p:pic>
        <p:nvPicPr>
          <p:cNvPr id="8" name="Image 1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343" y="1838028"/>
            <a:ext cx="156170" cy="156170"/>
          </a:xfrm>
          <a:prstGeom prst="rect">
            <a:avLst/>
          </a:prstGeom>
        </p:spPr>
      </p:pic>
      <p:sp>
        <p:nvSpPr>
          <p:cNvPr id="9" name="Text 5"/>
          <p:cNvSpPr/>
          <p:nvPr>
            <p:custDataLst>
              <p:tags r:id="rId7"/>
            </p:custDataLst>
          </p:nvPr>
        </p:nvSpPr>
        <p:spPr>
          <a:xfrm>
            <a:off x="584894" y="2205434"/>
            <a:ext cx="1446510" cy="1807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好友管理</a:t>
            </a:r>
            <a:endParaRPr lang="en-US" sz="133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10" name="Text 6"/>
          <p:cNvSpPr/>
          <p:nvPr>
            <p:custDataLst>
              <p:tags r:id="rId8"/>
            </p:custDataLst>
          </p:nvPr>
        </p:nvSpPr>
        <p:spPr>
          <a:xfrm>
            <a:off x="584894" y="2455565"/>
            <a:ext cx="6450211" cy="1850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" pitchFamily="34" charset="-120"/>
              </a:rPr>
              <a:t>搜索用户、发送申请、处理请求、删除好友</a:t>
            </a:r>
            <a:endParaRPr lang="en-US" sz="11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yne" pitchFamily="34" charset="-120"/>
            </a:endParaRPr>
          </a:p>
        </p:txBody>
      </p:sp>
      <p:sp>
        <p:nvSpPr>
          <p:cNvPr id="11" name="Shape 7"/>
          <p:cNvSpPr/>
          <p:nvPr>
            <p:custDataLst>
              <p:tags r:id="rId9"/>
            </p:custDataLst>
          </p:nvPr>
        </p:nvSpPr>
        <p:spPr>
          <a:xfrm>
            <a:off x="462856" y="2878336"/>
            <a:ext cx="6694289" cy="1142107"/>
          </a:xfrm>
          <a:prstGeom prst="roundRect">
            <a:avLst>
              <a:gd name="adj" fmla="val 4256"/>
            </a:avLst>
          </a:prstGeom>
          <a:gradFill flip="none" rotWithShape="1">
            <a:gsLst>
              <a:gs pos="0">
                <a:srgbClr val="6EAA2E"/>
              </a:gs>
              <a:gs pos="23000">
                <a:srgbClr val="6EAA2E"/>
              </a:gs>
              <a:gs pos="44000">
                <a:srgbClr val="92D050"/>
              </a:gs>
              <a:gs pos="100000">
                <a:srgbClr val="C9E828"/>
              </a:gs>
            </a:gsLst>
            <a:lin ang="13500000" scaled="1"/>
          </a:gradFill>
        </p:spPr>
      </p:sp>
      <p:sp>
        <p:nvSpPr>
          <p:cNvPr id="12" name="Shape 8"/>
          <p:cNvSpPr/>
          <p:nvPr>
            <p:custDataLst>
              <p:tags r:id="rId10"/>
            </p:custDataLst>
          </p:nvPr>
        </p:nvSpPr>
        <p:spPr>
          <a:xfrm>
            <a:off x="584894" y="3000375"/>
            <a:ext cx="347167" cy="347167"/>
          </a:xfrm>
          <a:prstGeom prst="roundRect">
            <a:avLst>
              <a:gd name="adj" fmla="val 21946917"/>
            </a:avLst>
          </a:prstGeom>
          <a:solidFill>
            <a:srgbClr val="A9F00F"/>
          </a:solidFill>
        </p:spPr>
      </p:sp>
      <p:pic>
        <p:nvPicPr>
          <p:cNvPr id="13" name="Image 2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0343" y="3095823"/>
            <a:ext cx="156170" cy="156170"/>
          </a:xfrm>
          <a:prstGeom prst="rect">
            <a:avLst/>
          </a:prstGeom>
        </p:spPr>
      </p:pic>
      <p:sp>
        <p:nvSpPr>
          <p:cNvPr id="14" name="Text 9"/>
          <p:cNvSpPr/>
          <p:nvPr>
            <p:custDataLst>
              <p:tags r:id="rId13"/>
            </p:custDataLst>
          </p:nvPr>
        </p:nvSpPr>
        <p:spPr>
          <a:xfrm>
            <a:off x="584894" y="3463231"/>
            <a:ext cx="1446510" cy="1807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实时聊天</a:t>
            </a:r>
            <a:endParaRPr lang="en-US" sz="133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15" name="Text 10"/>
          <p:cNvSpPr/>
          <p:nvPr>
            <p:custDataLst>
              <p:tags r:id="rId14"/>
            </p:custDataLst>
          </p:nvPr>
        </p:nvSpPr>
        <p:spPr>
          <a:xfrm>
            <a:off x="584894" y="3713361"/>
            <a:ext cx="6450211" cy="1850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" pitchFamily="34" charset="-120"/>
              </a:rPr>
              <a:t>私聊功能、会话列表、消息气泡</a:t>
            </a:r>
            <a:endParaRPr lang="en-US" sz="11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yne" pitchFamily="34" charset="-120"/>
            </a:endParaRPr>
          </a:p>
        </p:txBody>
      </p:sp>
      <p:sp>
        <p:nvSpPr>
          <p:cNvPr id="16" name="Shape 11"/>
          <p:cNvSpPr/>
          <p:nvPr>
            <p:custDataLst>
              <p:tags r:id="rId15"/>
            </p:custDataLst>
          </p:nvPr>
        </p:nvSpPr>
        <p:spPr>
          <a:xfrm>
            <a:off x="462856" y="4136132"/>
            <a:ext cx="6694289" cy="1142107"/>
          </a:xfrm>
          <a:prstGeom prst="roundRect">
            <a:avLst>
              <a:gd name="adj" fmla="val 4256"/>
            </a:avLst>
          </a:prstGeom>
          <a:gradFill flip="none" rotWithShape="1">
            <a:gsLst>
              <a:gs pos="0">
                <a:srgbClr val="6EAA2E"/>
              </a:gs>
              <a:gs pos="23000">
                <a:srgbClr val="6EAA2E"/>
              </a:gs>
              <a:gs pos="44000">
                <a:srgbClr val="92D050"/>
              </a:gs>
              <a:gs pos="100000">
                <a:srgbClr val="C9E828"/>
              </a:gs>
            </a:gsLst>
            <a:lin ang="13500000" scaled="1"/>
          </a:gradFill>
        </p:spPr>
      </p:sp>
      <p:sp>
        <p:nvSpPr>
          <p:cNvPr id="17" name="Shape 12"/>
          <p:cNvSpPr/>
          <p:nvPr>
            <p:custDataLst>
              <p:tags r:id="rId16"/>
            </p:custDataLst>
          </p:nvPr>
        </p:nvSpPr>
        <p:spPr>
          <a:xfrm>
            <a:off x="584894" y="4258171"/>
            <a:ext cx="347167" cy="347167"/>
          </a:xfrm>
          <a:prstGeom prst="roundRect">
            <a:avLst>
              <a:gd name="adj" fmla="val 21946917"/>
            </a:avLst>
          </a:prstGeom>
          <a:solidFill>
            <a:srgbClr val="A9F00F"/>
          </a:solidFill>
        </p:spPr>
      </p:sp>
      <p:pic>
        <p:nvPicPr>
          <p:cNvPr id="18" name="Image 3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80343" y="4353619"/>
            <a:ext cx="156170" cy="156170"/>
          </a:xfrm>
          <a:prstGeom prst="rect">
            <a:avLst/>
          </a:prstGeom>
        </p:spPr>
      </p:pic>
      <p:sp>
        <p:nvSpPr>
          <p:cNvPr id="19" name="Text 13"/>
          <p:cNvSpPr/>
          <p:nvPr>
            <p:custDataLst>
              <p:tags r:id="rId19"/>
            </p:custDataLst>
          </p:nvPr>
        </p:nvSpPr>
        <p:spPr>
          <a:xfrm>
            <a:off x="584894" y="4721027"/>
            <a:ext cx="1446510" cy="1807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赠予场地 🏟️</a:t>
            </a:r>
            <a:endParaRPr lang="en-US" sz="133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 14"/>
          <p:cNvSpPr/>
          <p:nvPr>
            <p:custDataLst>
              <p:tags r:id="rId20"/>
            </p:custDataLst>
          </p:nvPr>
        </p:nvSpPr>
        <p:spPr>
          <a:xfrm>
            <a:off x="584894" y="4971157"/>
            <a:ext cx="6450211" cy="1850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" pitchFamily="34" charset="-120"/>
              </a:rPr>
              <a:t>选择场地、批量赠送、直接转移</a:t>
            </a:r>
            <a:endParaRPr lang="en-US" sz="11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yne" pitchFamily="34" charset="-120"/>
            </a:endParaRPr>
          </a:p>
        </p:txBody>
      </p:sp>
      <p:sp>
        <p:nvSpPr>
          <p:cNvPr id="21" name="Shape 15"/>
          <p:cNvSpPr/>
          <p:nvPr>
            <p:custDataLst>
              <p:tags r:id="rId21"/>
            </p:custDataLst>
          </p:nvPr>
        </p:nvSpPr>
        <p:spPr>
          <a:xfrm>
            <a:off x="462856" y="5393928"/>
            <a:ext cx="6694289" cy="1142107"/>
          </a:xfrm>
          <a:prstGeom prst="roundRect">
            <a:avLst>
              <a:gd name="adj" fmla="val 4256"/>
            </a:avLst>
          </a:prstGeom>
          <a:gradFill flip="none" rotWithShape="1">
            <a:gsLst>
              <a:gs pos="0">
                <a:srgbClr val="6EAA2E"/>
              </a:gs>
              <a:gs pos="23000">
                <a:srgbClr val="6EAA2E"/>
              </a:gs>
              <a:gs pos="44000">
                <a:srgbClr val="92D050"/>
              </a:gs>
              <a:gs pos="100000">
                <a:srgbClr val="C9E828"/>
              </a:gs>
            </a:gsLst>
            <a:lin ang="13500000" scaled="1"/>
          </a:gradFill>
        </p:spPr>
      </p:sp>
      <p:sp>
        <p:nvSpPr>
          <p:cNvPr id="22" name="Shape 16"/>
          <p:cNvSpPr/>
          <p:nvPr>
            <p:custDataLst>
              <p:tags r:id="rId22"/>
            </p:custDataLst>
          </p:nvPr>
        </p:nvSpPr>
        <p:spPr>
          <a:xfrm>
            <a:off x="584894" y="5515968"/>
            <a:ext cx="347167" cy="347167"/>
          </a:xfrm>
          <a:prstGeom prst="roundRect">
            <a:avLst>
              <a:gd name="adj" fmla="val 21946917"/>
            </a:avLst>
          </a:prstGeom>
          <a:solidFill>
            <a:srgbClr val="A9F00F"/>
          </a:solidFill>
        </p:spPr>
      </p:sp>
      <p:pic>
        <p:nvPicPr>
          <p:cNvPr id="23" name="Image 4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80343" y="5611416"/>
            <a:ext cx="156170" cy="156170"/>
          </a:xfrm>
          <a:prstGeom prst="rect">
            <a:avLst/>
          </a:prstGeom>
        </p:spPr>
      </p:pic>
      <p:sp>
        <p:nvSpPr>
          <p:cNvPr id="24" name="Text 17"/>
          <p:cNvSpPr/>
          <p:nvPr>
            <p:custDataLst>
              <p:tags r:id="rId25"/>
            </p:custDataLst>
          </p:nvPr>
        </p:nvSpPr>
        <p:spPr>
          <a:xfrm>
            <a:off x="584894" y="5978823"/>
            <a:ext cx="1446510" cy="1807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积分转账 💰</a:t>
            </a:r>
            <a:endParaRPr lang="en-US" sz="133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 18"/>
          <p:cNvSpPr/>
          <p:nvPr>
            <p:custDataLst>
              <p:tags r:id="rId26"/>
            </p:custDataLst>
          </p:nvPr>
        </p:nvSpPr>
        <p:spPr>
          <a:xfrm>
            <a:off x="584894" y="6228953"/>
            <a:ext cx="6450211" cy="1850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" pitchFamily="34" charset="-120"/>
              </a:rPr>
              <a:t>输入金额、即时到账、安全可靠</a:t>
            </a:r>
            <a:endParaRPr lang="en-US" sz="11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yne" pitchFamily="34" charset="-120"/>
            </a:endParaRPr>
          </a:p>
        </p:txBody>
      </p:sp>
      <p:sp>
        <p:nvSpPr>
          <p:cNvPr id="27" name="Shape 0"/>
          <p:cNvSpPr/>
          <p:nvPr/>
        </p:nvSpPr>
        <p:spPr>
          <a:xfrm flipV="1">
            <a:off x="909460" y="60072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28" name="Shape 1"/>
          <p:cNvSpPr/>
          <p:nvPr/>
        </p:nvSpPr>
        <p:spPr>
          <a:xfrm flipV="1">
            <a:off x="532765" y="23304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719695" y="307975"/>
            <a:ext cx="3709670" cy="62941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6" name="Image 0" descr="https://test-kimi-img.moonshot.cn/pub/slides/slides_tmpl/image/25-08-11-17:27:31-d2crf0v0ctitcgma2e40.png"/>
          <p:cNvPicPr>
            <a:picLocks noChangeAspect="1"/>
          </p:cNvPicPr>
          <p:nvPr/>
        </p:nvPicPr>
        <p:blipFill>
          <a:blip r:embed="rId1"/>
          <a:srcRect l="20" r="20"/>
          <a:stretch>
            <a:fillRect/>
          </a:stretch>
        </p:blipFill>
        <p:spPr>
          <a:xfrm>
            <a:off x="0" y="0"/>
            <a:ext cx="11249025" cy="632079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574622" y="443389"/>
            <a:ext cx="4134843" cy="5167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6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实时聊天与资源互赠</a:t>
            </a:r>
            <a:endParaRPr lang="en-US" sz="36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92" y="1454745"/>
            <a:ext cx="2480866" cy="3100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实时聊天功能</a:t>
            </a:r>
            <a:endParaRPr lang="en-US" sz="233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58" y="1929871"/>
            <a:ext cx="5363633" cy="5291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提供流畅的一对一私聊体验,会话列表按时间排序显示最近聊天记录。消息气泡采用蓝色(发送)和灰色(接收)区分,界面清晰直观。</a:t>
            </a:r>
            <a:endParaRPr lang="en-US" sz="15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61492" y="2645370"/>
            <a:ext cx="5232797" cy="1057077"/>
          </a:xfrm>
          <a:prstGeom prst="roundRect">
            <a:avLst>
              <a:gd name="adj" fmla="val 8650"/>
            </a:avLst>
          </a:prstGeom>
          <a:solidFill>
            <a:srgbClr val="152025">
              <a:alpha val="95000"/>
            </a:srgbClr>
          </a:solidFill>
          <a:ln w="22860">
            <a:solidFill>
              <a:srgbClr val="6D91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2442" y="2645370"/>
            <a:ext cx="76200" cy="1057077"/>
          </a:xfrm>
          <a:prstGeom prst="roundRect">
            <a:avLst>
              <a:gd name="adj" fmla="val 91163"/>
            </a:avLst>
          </a:prstGeom>
          <a:solidFill>
            <a:srgbClr val="A9F00F"/>
          </a:solidFill>
        </p:spPr>
      </p:sp>
      <p:sp>
        <p:nvSpPr>
          <p:cNvPr id="7" name="Text 5"/>
          <p:cNvSpPr/>
          <p:nvPr/>
        </p:nvSpPr>
        <p:spPr>
          <a:xfrm>
            <a:off x="902990" y="2829719"/>
            <a:ext cx="2067421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私聊功能</a:t>
            </a:r>
            <a:endParaRPr lang="en-US" sz="2000" b="1" dirty="0">
              <a:solidFill>
                <a:srgbClr val="D7E5D8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02990" y="3253482"/>
            <a:ext cx="4806950" cy="264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与好友一对一文字聊天,实时通信</a:t>
            </a:r>
            <a:endParaRPr lang="en-US" sz="1500" dirty="0">
              <a:solidFill>
                <a:srgbClr val="D7E5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61492" y="3867745"/>
            <a:ext cx="5232797" cy="1057077"/>
          </a:xfrm>
          <a:prstGeom prst="roundRect">
            <a:avLst>
              <a:gd name="adj" fmla="val 8650"/>
            </a:avLst>
          </a:prstGeom>
          <a:solidFill>
            <a:srgbClr val="152025">
              <a:alpha val="95000"/>
            </a:srgbClr>
          </a:solidFill>
          <a:ln w="22860">
            <a:solidFill>
              <a:srgbClr val="6D912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442" y="3867745"/>
            <a:ext cx="76200" cy="1057077"/>
          </a:xfrm>
          <a:prstGeom prst="roundRect">
            <a:avLst>
              <a:gd name="adj" fmla="val 91163"/>
            </a:avLst>
          </a:prstGeom>
          <a:solidFill>
            <a:srgbClr val="A9F00F"/>
          </a:solidFill>
        </p:spPr>
      </p:sp>
      <p:sp>
        <p:nvSpPr>
          <p:cNvPr id="11" name="Text 9"/>
          <p:cNvSpPr/>
          <p:nvPr/>
        </p:nvSpPr>
        <p:spPr>
          <a:xfrm>
            <a:off x="902990" y="4052093"/>
            <a:ext cx="2067421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会话列表</a:t>
            </a:r>
            <a:endParaRPr lang="en-US" sz="2000" b="1" dirty="0">
              <a:solidFill>
                <a:srgbClr val="D7E5D8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02990" y="4475857"/>
            <a:ext cx="4806950" cy="264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显示最近聊天记录,按时间排序</a:t>
            </a:r>
            <a:endParaRPr lang="en-US" sz="1500" dirty="0">
              <a:solidFill>
                <a:srgbClr val="D7E5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1492" y="5090120"/>
            <a:ext cx="5232797" cy="1057077"/>
          </a:xfrm>
          <a:prstGeom prst="roundRect">
            <a:avLst>
              <a:gd name="adj" fmla="val 8650"/>
            </a:avLst>
          </a:prstGeom>
          <a:solidFill>
            <a:srgbClr val="152025">
              <a:alpha val="95000"/>
            </a:srgbClr>
          </a:solidFill>
          <a:ln w="22860">
            <a:solidFill>
              <a:srgbClr val="6D912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2442" y="5090120"/>
            <a:ext cx="76200" cy="1057077"/>
          </a:xfrm>
          <a:prstGeom prst="roundRect">
            <a:avLst>
              <a:gd name="adj" fmla="val 91163"/>
            </a:avLst>
          </a:prstGeom>
          <a:solidFill>
            <a:srgbClr val="A9F00F"/>
          </a:solidFill>
        </p:spPr>
      </p:sp>
      <p:sp>
        <p:nvSpPr>
          <p:cNvPr id="15" name="Text 13"/>
          <p:cNvSpPr/>
          <p:nvPr/>
        </p:nvSpPr>
        <p:spPr>
          <a:xfrm>
            <a:off x="902990" y="5274469"/>
            <a:ext cx="2067421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消息气泡</a:t>
            </a:r>
            <a:endParaRPr lang="en-US" sz="2000" b="1" dirty="0">
              <a:solidFill>
                <a:srgbClr val="D7E5D8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02990" y="5698232"/>
            <a:ext cx="4806950" cy="264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区分发送/接收消息(蓝色/灰色)</a:t>
            </a:r>
            <a:endParaRPr lang="en-US" sz="1500" dirty="0">
              <a:solidFill>
                <a:srgbClr val="D7E5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04062" y="1454745"/>
            <a:ext cx="2480866" cy="3100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yne Extra Bold" pitchFamily="34" charset="-120"/>
              </a:rPr>
              <a:t>资源互赠功能</a:t>
            </a:r>
            <a:endParaRPr lang="en-US" sz="233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yne Extra Bold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03963" y="1929871"/>
            <a:ext cx="5510213" cy="5291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在聊天窗口点击"+"按钮,可以向好友赠予场地或转账积分。场地支持多选批量赠送,积分输入金额后即时到账,让资源流转更加便捷。</a:t>
            </a:r>
            <a:endParaRPr lang="en-US" sz="15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04062" y="2645370"/>
            <a:ext cx="5232797" cy="1038027"/>
          </a:xfrm>
          <a:prstGeom prst="roundRect">
            <a:avLst>
              <a:gd name="adj" fmla="val 6692"/>
            </a:avLst>
          </a:prstGeom>
          <a:gradFill flip="none" rotWithShape="1">
            <a:gsLst>
              <a:gs pos="0">
                <a:srgbClr val="6EAA2E"/>
              </a:gs>
              <a:gs pos="23000">
                <a:srgbClr val="6EAA2E"/>
              </a:gs>
              <a:gs pos="44000">
                <a:srgbClr val="92D050"/>
              </a:gs>
              <a:gs pos="100000">
                <a:srgbClr val="C9E828"/>
              </a:gs>
            </a:gsLst>
            <a:lin ang="13500000" scaled="1"/>
          </a:gradFill>
        </p:spPr>
      </p:sp>
      <p:sp>
        <p:nvSpPr>
          <p:cNvPr id="20" name="Text 18"/>
          <p:cNvSpPr/>
          <p:nvPr/>
        </p:nvSpPr>
        <p:spPr>
          <a:xfrm>
            <a:off x="6475710" y="2817019"/>
            <a:ext cx="2067421" cy="2648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赠予场地 🏟️</a:t>
            </a:r>
            <a:endParaRPr 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75710" y="3247132"/>
            <a:ext cx="4889500" cy="264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选择拥有的场地,支持多选批量赠送,场地直接转移给好友</a:t>
            </a:r>
            <a:endParaRPr lang="en-US" sz="15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04062" y="3848695"/>
            <a:ext cx="5232797" cy="1038027"/>
          </a:xfrm>
          <a:prstGeom prst="roundRect">
            <a:avLst>
              <a:gd name="adj" fmla="val 6692"/>
            </a:avLst>
          </a:prstGeom>
          <a:gradFill flip="none" rotWithShape="1">
            <a:gsLst>
              <a:gs pos="0">
                <a:srgbClr val="6EAA2E"/>
              </a:gs>
              <a:gs pos="23000">
                <a:srgbClr val="6EAA2E"/>
              </a:gs>
              <a:gs pos="44000">
                <a:srgbClr val="92D050"/>
              </a:gs>
              <a:gs pos="100000">
                <a:srgbClr val="C9E828"/>
              </a:gs>
            </a:gsLst>
            <a:lin ang="13500000" scaled="1"/>
          </a:gradFill>
        </p:spPr>
      </p:sp>
      <p:sp>
        <p:nvSpPr>
          <p:cNvPr id="23" name="Text 21"/>
          <p:cNvSpPr/>
          <p:nvPr/>
        </p:nvSpPr>
        <p:spPr>
          <a:xfrm>
            <a:off x="6475710" y="4020344"/>
            <a:ext cx="2067421" cy="2648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积分转账 💰</a:t>
            </a:r>
            <a:endParaRPr 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75710" y="4450457"/>
            <a:ext cx="4889500" cy="264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输入转账积分数量,积分即时到账,操作原子性保证</a:t>
            </a:r>
            <a:endParaRPr lang="en-US" sz="15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hape 0"/>
          <p:cNvSpPr/>
          <p:nvPr/>
        </p:nvSpPr>
        <p:spPr>
          <a:xfrm flipV="1">
            <a:off x="1202195" y="75820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27" name="Shape 1"/>
          <p:cNvSpPr/>
          <p:nvPr/>
        </p:nvSpPr>
        <p:spPr>
          <a:xfrm flipV="1">
            <a:off x="825500" y="39052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405" y="0"/>
            <a:ext cx="376047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765" y="0"/>
            <a:ext cx="376047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125" y="0"/>
            <a:ext cx="37604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7:27:31-d2crf0v0ctitcgma2e40.png"/>
          <p:cNvPicPr>
            <a:picLocks noChangeAspect="1"/>
          </p:cNvPicPr>
          <p:nvPr/>
        </p:nvPicPr>
        <p:blipFill>
          <a:blip r:embed="rId1"/>
          <a:srcRect l="20" r="20"/>
          <a:stretch>
            <a:fillRect/>
          </a:stretch>
        </p:blipFill>
        <p:spPr>
          <a:xfrm>
            <a:off x="-11430" y="-24130"/>
            <a:ext cx="11249025" cy="632079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744788" y="2883535"/>
            <a:ext cx="6702425" cy="9122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404040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580" y="1563370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66725"/>
            <a:ext cx="10132060" cy="5767070"/>
          </a:xfrm>
          <a:prstGeom prst="rect">
            <a:avLst/>
          </a:prstGeom>
        </p:spPr>
      </p:pic>
      <p:pic>
        <p:nvPicPr>
          <p:cNvPr id="2" name="Image 0" descr="https://test-kimi-img.moonshot.cn/pub/slides/slides_tmpl/image/25-08-11-17:27:34-d2crf1n0ctitcgma2ecg.png"/>
          <p:cNvPicPr>
            <a:picLocks noChangeAspect="1"/>
          </p:cNvPicPr>
          <p:nvPr/>
        </p:nvPicPr>
        <p:blipFill>
          <a:blip r:embed="rId2"/>
          <a:srcRect l="21" r="21"/>
          <a:stretch>
            <a:fillRect/>
          </a:stretch>
        </p:blipFill>
        <p:spPr>
          <a:xfrm>
            <a:off x="0" y="-19050"/>
            <a:ext cx="12235815" cy="687705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635" y="384810"/>
            <a:ext cx="571500" cy="755650"/>
          </a:xfrm>
          <a:prstGeom prst="rect">
            <a:avLst/>
          </a:prstGeom>
        </p:spPr>
      </p:pic>
      <p:sp>
        <p:nvSpPr>
          <p:cNvPr id="25" name="Shape 0"/>
          <p:cNvSpPr/>
          <p:nvPr/>
        </p:nvSpPr>
        <p:spPr>
          <a:xfrm flipV="1">
            <a:off x="1261250" y="688986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27" name="Shape 1"/>
          <p:cNvSpPr/>
          <p:nvPr/>
        </p:nvSpPr>
        <p:spPr>
          <a:xfrm flipV="1">
            <a:off x="884555" y="321310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7765" y="473710"/>
            <a:ext cx="9820275" cy="5946775"/>
          </a:xfrm>
          <a:prstGeom prst="rect">
            <a:avLst/>
          </a:prstGeom>
        </p:spPr>
      </p:pic>
      <p:pic>
        <p:nvPicPr>
          <p:cNvPr id="3" name="Image 0" descr="https://test-kimi-img.moonshot.cn/pub/slides/slides_tmpl/image/25-08-11-17:27:34-d2crf1n0ctitcgma2ecg.png"/>
          <p:cNvPicPr>
            <a:picLocks noChangeAspect="1"/>
          </p:cNvPicPr>
          <p:nvPr/>
        </p:nvPicPr>
        <p:blipFill>
          <a:blip r:embed="rId2"/>
          <a:srcRect l="21" r="21"/>
          <a:stretch>
            <a:fillRect/>
          </a:stretch>
        </p:blipFill>
        <p:spPr>
          <a:xfrm>
            <a:off x="0" y="-19050"/>
            <a:ext cx="12235815" cy="68770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550" y="310515"/>
            <a:ext cx="571500" cy="755650"/>
          </a:xfrm>
          <a:prstGeom prst="rect">
            <a:avLst/>
          </a:prstGeom>
        </p:spPr>
      </p:pic>
      <p:sp>
        <p:nvSpPr>
          <p:cNvPr id="25" name="Shape 0"/>
          <p:cNvSpPr/>
          <p:nvPr/>
        </p:nvSpPr>
        <p:spPr>
          <a:xfrm flipV="1">
            <a:off x="1386980" y="75820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27" name="Shape 1"/>
          <p:cNvSpPr/>
          <p:nvPr/>
        </p:nvSpPr>
        <p:spPr>
          <a:xfrm flipV="1">
            <a:off x="1010285" y="39052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7:27:34-d2crf1n0ctitcgma2ed0.png"/>
          <p:cNvPicPr>
            <a:picLocks noChangeAspect="1"/>
          </p:cNvPicPr>
          <p:nvPr/>
        </p:nvPicPr>
        <p:blipFill>
          <a:blip r:embed="rId1"/>
          <a:srcRect l="26" r="26"/>
          <a:stretch>
            <a:fillRect/>
          </a:stretch>
        </p:blipFill>
        <p:spPr>
          <a:xfrm>
            <a:off x="-24130" y="8255"/>
            <a:ext cx="12234545" cy="68497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12085" y="2072640"/>
            <a:ext cx="6761480" cy="1414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20000"/>
              </a:lnSpc>
            </a:pPr>
            <a:r>
              <a:rPr lang="en-US" sz="7200" b="1" dirty="0">
                <a:solidFill>
                  <a:srgbClr val="000000"/>
                </a:solidFill>
                <a:latin typeface="Eras Bold ITC" panose="020B0907030504020204" charset="0"/>
                <a:ea typeface="Microsoft Sans Serif" panose="020B0604020202020204" pitchFamily="34" charset="-122"/>
                <a:cs typeface="Eras Bold ITC" panose="020B0907030504020204" charset="0"/>
              </a:rPr>
              <a:t>THANK YOU</a:t>
            </a:r>
            <a:endParaRPr lang="zh-CN" altLang="en-US" sz="7200" b="1" dirty="0">
              <a:solidFill>
                <a:srgbClr val="000000"/>
              </a:solidFill>
              <a:latin typeface="Eras Bold ITC" panose="020B0907030504020204" charset="0"/>
              <a:ea typeface="宋体" panose="02010600030101010101" pitchFamily="2" charset="-122"/>
              <a:cs typeface="Eras Bold ITC" panose="020B0907030504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227898" y="1864360"/>
            <a:ext cx="7736205" cy="1414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788795" y="5076825"/>
            <a:ext cx="153670" cy="153670"/>
          </a:xfrm>
          <a:prstGeom prst="star4">
            <a:avLst>
              <a:gd name="adj" fmla="val 10416"/>
            </a:avLst>
          </a:prstGeom>
          <a:solidFill>
            <a:srgbClr val="FFBB59"/>
          </a:solidFill>
        </p:spPr>
      </p:sp>
      <p:sp>
        <p:nvSpPr>
          <p:cNvPr id="6" name="Shape 3"/>
          <p:cNvSpPr/>
          <p:nvPr/>
        </p:nvSpPr>
        <p:spPr>
          <a:xfrm>
            <a:off x="1261745" y="4424680"/>
            <a:ext cx="153670" cy="153670"/>
          </a:xfrm>
          <a:prstGeom prst="star4">
            <a:avLst>
              <a:gd name="adj" fmla="val 10416"/>
            </a:avLst>
          </a:prstGeom>
          <a:solidFill>
            <a:srgbClr val="FFBB59"/>
          </a:solidFill>
        </p:spPr>
      </p:sp>
      <p:pic>
        <p:nvPicPr>
          <p:cNvPr id="7" name="Image 1" descr="https://test-kimi-img.moonshot.cn/pub/slides/slides_tmpl/image/25-08-11-17:27:29-d2crf0f0ctitcgma2d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5810" y="4407535"/>
            <a:ext cx="1456690" cy="184086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1" name="Shape 7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2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3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4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5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6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7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8" name="Image 8" descr="https://test-kimi-img.moonshot.cn/pub/slides/slides_tmpl/image/25-08-11-17:27:29-d2crf0f0ctitcgma2dp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0020" y="3117215"/>
            <a:ext cx="3242945" cy="166433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1050290" y="5481320"/>
            <a:ext cx="52266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Eras Bold ITC" panose="020B0907030504020204" charset="0"/>
                <a:cs typeface="Eras Bold ITC" panose="020B0907030504020204" charset="0"/>
              </a:rPr>
              <a:t>Github</a:t>
            </a:r>
            <a:r>
              <a:rPr lang="zh-CN" altLang="en-US" b="1">
                <a:latin typeface="Eras Bold ITC" panose="020B0907030504020204" charset="0"/>
                <a:cs typeface="Eras Bold ITC" panose="020B0907030504020204" charset="0"/>
              </a:rPr>
              <a:t>仓库：</a:t>
            </a:r>
            <a:r>
              <a:rPr lang="en-US" altLang="zh-CN">
                <a:latin typeface="Eras Bold ITC" panose="020B0907030504020204" charset="0"/>
                <a:cs typeface="Eras Bold ITC" panose="020B0907030504020204" charset="0"/>
              </a:rPr>
              <a:t>https://github.com/My1tw/ExCourt</a:t>
            </a:r>
            <a:endParaRPr lang="en-US" altLang="zh-CN">
              <a:latin typeface="Eras Bold ITC" panose="020B0907030504020204" charset="0"/>
              <a:cs typeface="Eras Bold ITC" panose="020B0907030504020204" charset="0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79.65,&quot;left&quot;:414.85,&quot;top&quot;:94.75,&quot;width&quot;:524.8}"/>
</p:tagLst>
</file>

<file path=ppt/tags/tag2.xml><?xml version="1.0" encoding="utf-8"?>
<p:tagLst xmlns:p="http://schemas.openxmlformats.org/presentationml/2006/main">
  <p:tag name="KSO_WM_DIAGRAM_VIRTUALLY_FRAME" val="{&quot;height&quot;:379.65,&quot;left&quot;:414.85,&quot;top&quot;:94.75,&quot;width&quot;:524.8}"/>
</p:tagLst>
</file>

<file path=ppt/tags/tag3.xml><?xml version="1.0" encoding="utf-8"?>
<p:tagLst xmlns:p="http://schemas.openxmlformats.org/presentationml/2006/main">
  <p:tag name="KSO_WM_DIAGRAM_VIRTUALLY_FRAME" val="{&quot;height&quot;:379.65,&quot;left&quot;:414.85,&quot;top&quot;:94.75,&quot;width&quot;:524.8}"/>
</p:tagLst>
</file>

<file path=ppt/tags/tag4.xml><?xml version="1.0" encoding="utf-8"?>
<p:tagLst xmlns:p="http://schemas.openxmlformats.org/presentationml/2006/main">
  <p:tag name="KSO_WM_DIAGRAM_VIRTUALLY_FRAME" val="{&quot;height&quot;:379.65,&quot;left&quot;:414.85,&quot;top&quot;:94.75,&quot;width&quot;:524.8}"/>
</p:tagLst>
</file>

<file path=ppt/tags/tag5.xml><?xml version="1.0" encoding="utf-8"?>
<p:tagLst xmlns:p="http://schemas.openxmlformats.org/presentationml/2006/main">
  <p:tag name="KSO_WM_DIAGRAM_VIRTUALLY_FRAME" val="{&quot;height&quot;:379.65,&quot;left&quot;:414.85,&quot;top&quot;:94.75,&quot;width&quot;:524.8}"/>
</p:tagLst>
</file>

<file path=ppt/tags/tag6.xml><?xml version="1.0" encoding="utf-8"?>
<p:tagLst xmlns:p="http://schemas.openxmlformats.org/presentationml/2006/main">
  <p:tag name="KSO_WM_DIAGRAM_VIRTUALLY_FRAME" val="{&quot;height&quot;:379.65,&quot;left&quot;:414.85,&quot;top&quot;:94.75,&quot;width&quot;:524.8}"/>
</p:tagLst>
</file>

<file path=ppt/tags/tag7.xml><?xml version="1.0" encoding="utf-8"?>
<p:tagLst xmlns:p="http://schemas.openxmlformats.org/presentationml/2006/main">
  <p:tag name="KSO_WM_DIAGRAM_VIRTUALLY_FRAME" val="{&quot;height&quot;:379.65,&quot;left&quot;:414.85,&quot;top&quot;:94.75,&quot;width&quot;:524.8}"/>
</p:tagLst>
</file>

<file path=ppt/tags/tag8.xml><?xml version="1.0" encoding="utf-8"?>
<p:tagLst xmlns:p="http://schemas.openxmlformats.org/presentationml/2006/main">
  <p:tag name="KSO_WM_DIAGRAM_VIRTUALLY_FRAME" val="{&quot;height&quot;:379.65,&quot;left&quot;:414.85,&quot;top&quot;:94.75,&quot;width&quot;:524.8}"/>
</p:tagLst>
</file>

<file path=ppt/tags/tag9.xml><?xml version="1.0" encoding="utf-8"?>
<p:tagLst xmlns:p="http://schemas.openxmlformats.org/presentationml/2006/main">
  <p:tag name="KSO_WM_DIAGRAM_VIRTUALLY_FRAME" val="{&quot;height&quot;:379.65,&quot;left&quot;:414.85,&quot;top&quot;:94.75,&quot;width&quot;:524.8}"/>
</p:tagLst>
</file>

<file path=ppt/tags/tag10.xml><?xml version="1.0" encoding="utf-8"?>
<p:tagLst xmlns:p="http://schemas.openxmlformats.org/presentationml/2006/main">
  <p:tag name="KSO_WM_DIAGRAM_VIRTUALLY_FRAME" val="{&quot;height&quot;:379.65,&quot;left&quot;:414.85,&quot;top&quot;:94.75,&quot;width&quot;:524.8}"/>
</p:tagLst>
</file>

<file path=ppt/tags/tag11.xml><?xml version="1.0" encoding="utf-8"?>
<p:tagLst xmlns:p="http://schemas.openxmlformats.org/presentationml/2006/main">
  <p:tag name="KSO_WM_DIAGRAM_VIRTUALLY_FRAME" val="{&quot;height&quot;:379.65,&quot;left&quot;:414.85,&quot;top&quot;:94.75,&quot;width&quot;:524.8}"/>
</p:tagLst>
</file>

<file path=ppt/tags/tag12.xml><?xml version="1.0" encoding="utf-8"?>
<p:tagLst xmlns:p="http://schemas.openxmlformats.org/presentationml/2006/main">
  <p:tag name="KSO_WM_DIAGRAM_VIRTUALLY_FRAME" val="{&quot;height&quot;:379.65,&quot;left&quot;:414.85,&quot;top&quot;:94.75,&quot;width&quot;:524.8}"/>
</p:tagLst>
</file>

<file path=ppt/tags/tag13.xml><?xml version="1.0" encoding="utf-8"?>
<p:tagLst xmlns:p="http://schemas.openxmlformats.org/presentationml/2006/main">
  <p:tag name="KSO_WM_DIAGRAM_VIRTUALLY_FRAME" val="{&quot;height&quot;:379.65,&quot;left&quot;:414.85,&quot;top&quot;:94.75,&quot;width&quot;:524.8}"/>
</p:tagLst>
</file>

<file path=ppt/tags/tag14.xml><?xml version="1.0" encoding="utf-8"?>
<p:tagLst xmlns:p="http://schemas.openxmlformats.org/presentationml/2006/main">
  <p:tag name="KSO_WM_DIAGRAM_VIRTUALLY_FRAME" val="{&quot;height&quot;:379.65,&quot;left&quot;:414.85,&quot;top&quot;:94.75,&quot;width&quot;:524.8}"/>
</p:tagLst>
</file>

<file path=ppt/tags/tag15.xml><?xml version="1.0" encoding="utf-8"?>
<p:tagLst xmlns:p="http://schemas.openxmlformats.org/presentationml/2006/main">
  <p:tag name="KSO_WM_DIAGRAM_VIRTUALLY_FRAME" val="{&quot;height&quot;:379.65,&quot;left&quot;:414.85,&quot;top&quot;:94.75,&quot;width&quot;:524.8}"/>
</p:tagLst>
</file>

<file path=ppt/tags/tag16.xml><?xml version="1.0" encoding="utf-8"?>
<p:tagLst xmlns:p="http://schemas.openxmlformats.org/presentationml/2006/main">
  <p:tag name="KSO_WM_DIAGRAM_VIRTUALLY_FRAME" val="{&quot;height&quot;:379.65,&quot;left&quot;:414.85,&quot;top&quot;:94.75,&quot;width&quot;:524.8}"/>
</p:tagLst>
</file>

<file path=ppt/tags/tag17.xml><?xml version="1.0" encoding="utf-8"?>
<p:tagLst xmlns:p="http://schemas.openxmlformats.org/presentationml/2006/main">
  <p:tag name="KSO_WM_DIAGRAM_VIRTUALLY_FRAME" val="{&quot;height&quot;:379.65,&quot;left&quot;:414.85,&quot;top&quot;:94.75,&quot;width&quot;:524.8}"/>
</p:tagLst>
</file>

<file path=ppt/tags/tag18.xml><?xml version="1.0" encoding="utf-8"?>
<p:tagLst xmlns:p="http://schemas.openxmlformats.org/presentationml/2006/main">
  <p:tag name="KSO_WM_DIAGRAM_VIRTUALLY_FRAME" val="{&quot;height&quot;:379.65,&quot;left&quot;:414.85,&quot;top&quot;:94.75,&quot;width&quot;:524.8}"/>
</p:tagLst>
</file>

<file path=ppt/tags/tag19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20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21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22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23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24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25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26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27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28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29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30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31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32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33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34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35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36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37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38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39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40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41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42.xml><?xml version="1.0" encoding="utf-8"?>
<p:tagLst xmlns:p="http://schemas.openxmlformats.org/presentationml/2006/main">
  <p:tag name="KSO_WM_DIAGRAM_VIRTUALLY_FRAME" val="{&quot;height&quot;:541.5,&quot;left&quot;:0,&quot;top&quot;:-1.5,&quot;width&quot;:963.4}"/>
</p:tagLst>
</file>

<file path=ppt/tags/tag43.xml><?xml version="1.0" encoding="utf-8"?>
<p:tagLst xmlns:p="http://schemas.openxmlformats.org/presentationml/2006/main">
  <p:tag name="KSO_WM_DIAGRAM_VIRTUALLY_FRAME" val="{&quot;height&quot;:325.05,&quot;left&quot;:136.3,&quot;top&quot;:72.6,&quot;width&quot;:1006.4}"/>
</p:tagLst>
</file>

<file path=ppt/tags/tag44.xml><?xml version="1.0" encoding="utf-8"?>
<p:tagLst xmlns:p="http://schemas.openxmlformats.org/presentationml/2006/main">
  <p:tag name="KSO_WM_DIAGRAM_VIRTUALLY_FRAME" val="{&quot;height&quot;:325.05,&quot;left&quot;:136.3,&quot;top&quot;:72.6,&quot;width&quot;:1006.4}"/>
</p:tagLst>
</file>

<file path=ppt/tags/tag45.xml><?xml version="1.0" encoding="utf-8"?>
<p:tagLst xmlns:p="http://schemas.openxmlformats.org/presentationml/2006/main">
  <p:tag name="KSO_WM_DIAGRAM_VIRTUALLY_FRAME" val="{&quot;height&quot;:325.05,&quot;left&quot;:136.3,&quot;top&quot;:72.6,&quot;width&quot;:1006.4}"/>
</p:tagLst>
</file>

<file path=ppt/tags/tag46.xml><?xml version="1.0" encoding="utf-8"?>
<p:tagLst xmlns:p="http://schemas.openxmlformats.org/presentationml/2006/main">
  <p:tag name="KSO_WM_DIAGRAM_VIRTUALLY_FRAME" val="{&quot;height&quot;:325.05,&quot;left&quot;:136.3,&quot;top&quot;:72.6,&quot;width&quot;:1006.4}"/>
</p:tagLst>
</file>

<file path=ppt/tags/tag47.xml><?xml version="1.0" encoding="utf-8"?>
<p:tagLst xmlns:p="http://schemas.openxmlformats.org/presentationml/2006/main">
  <p:tag name="KSO_WM_DIAGRAM_VIRTUALLY_FRAME" val="{&quot;height&quot;:325.05,&quot;left&quot;:136.3,&quot;top&quot;:72.6,&quot;width&quot;:1006.4}"/>
</p:tagLst>
</file>

<file path=ppt/tags/tag48.xml><?xml version="1.0" encoding="utf-8"?>
<p:tagLst xmlns:p="http://schemas.openxmlformats.org/presentationml/2006/main">
  <p:tag name="KSO_WM_DIAGRAM_VIRTUALLY_FRAME" val="{&quot;height&quot;:325.05,&quot;left&quot;:136.3,&quot;top&quot;:72.6,&quot;width&quot;:1006.4}"/>
</p:tagLst>
</file>

<file path=ppt/tags/tag49.xml><?xml version="1.0" encoding="utf-8"?>
<p:tagLst xmlns:p="http://schemas.openxmlformats.org/presentationml/2006/main">
  <p:tag name="KSO_WM_DIAGRAM_VIRTUALLY_FRAME" val="{&quot;height&quot;:325.05,&quot;left&quot;:136.3,&quot;top&quot;:72.6,&quot;width&quot;:1006.4}"/>
</p:tagLst>
</file>

<file path=ppt/tags/tag50.xml><?xml version="1.0" encoding="utf-8"?>
<p:tagLst xmlns:p="http://schemas.openxmlformats.org/presentationml/2006/main">
  <p:tag name="KSO_WM_DIAGRAM_VIRTUALLY_FRAME" val="{&quot;height&quot;:325.05,&quot;left&quot;:32.45,&quot;top&quot;:72.6,&quot;width&quot;:1110.25}"/>
</p:tagLst>
</file>

<file path=ppt/tags/tag51.xml><?xml version="1.0" encoding="utf-8"?>
<p:tagLst xmlns:p="http://schemas.openxmlformats.org/presentationml/2006/main">
  <p:tag name="KSO_WM_DIAGRAM_VIRTUALLY_FRAME" val="{&quot;height&quot;:325.05,&quot;left&quot;:32.45,&quot;top&quot;:72.6,&quot;width&quot;:1110.25}"/>
</p:tagLst>
</file>

<file path=ppt/tags/tag52.xml><?xml version="1.0" encoding="utf-8"?>
<p:tagLst xmlns:p="http://schemas.openxmlformats.org/presentationml/2006/main">
  <p:tag name="KSO_WM_DIAGRAM_VIRTUALLY_FRAME" val="{&quot;height&quot;:325.05,&quot;left&quot;:32.45,&quot;top&quot;:72.6,&quot;width&quot;:1110.25}"/>
</p:tagLst>
</file>

<file path=ppt/tags/tag53.xml><?xml version="1.0" encoding="utf-8"?>
<p:tagLst xmlns:p="http://schemas.openxmlformats.org/presentationml/2006/main">
  <p:tag name="KSO_WM_DIAGRAM_VIRTUALLY_FRAME" val="{&quot;height&quot;:325.05,&quot;left&quot;:32.45,&quot;top&quot;:72.6,&quot;width&quot;:1110.25}"/>
</p:tagLst>
</file>

<file path=ppt/tags/tag54.xml><?xml version="1.0" encoding="utf-8"?>
<p:tagLst xmlns:p="http://schemas.openxmlformats.org/presentationml/2006/main">
  <p:tag name="KSO_WM_DIAGRAM_VIRTUALLY_FRAME" val="{&quot;height&quot;:325.05,&quot;left&quot;:32.45,&quot;top&quot;:72.6,&quot;width&quot;:1110.25}"/>
</p:tagLst>
</file>

<file path=ppt/tags/tag55.xml><?xml version="1.0" encoding="utf-8"?>
<p:tagLst xmlns:p="http://schemas.openxmlformats.org/presentationml/2006/main">
  <p:tag name="KSO_WM_DIAGRAM_VIRTUALLY_FRAME" val="{&quot;height&quot;:325.05,&quot;left&quot;:32.45,&quot;top&quot;:72.6,&quot;width&quot;:1110.25}"/>
</p:tagLst>
</file>

<file path=ppt/tags/tag56.xml><?xml version="1.0" encoding="utf-8"?>
<p:tagLst xmlns:p="http://schemas.openxmlformats.org/presentationml/2006/main">
  <p:tag name="KSO_WM_DIAGRAM_VIRTUALLY_FRAME" val="{&quot;height&quot;:325.05,&quot;left&quot;:32.45,&quot;top&quot;:72.6,&quot;width&quot;:1110.25}"/>
</p:tagLst>
</file>

<file path=ppt/tags/tag57.xml><?xml version="1.0" encoding="utf-8"?>
<p:tagLst xmlns:p="http://schemas.openxmlformats.org/presentationml/2006/main">
  <p:tag name="KSO_WM_DIAGRAM_VIRTUALLY_FRAME" val="{&quot;height&quot;:325.05,&quot;left&quot;:32.45,&quot;top&quot;:72.6,&quot;width&quot;:1110.25}"/>
</p:tagLst>
</file>

<file path=ppt/tags/tag58.xml><?xml version="1.0" encoding="utf-8"?>
<p:tagLst xmlns:p="http://schemas.openxmlformats.org/presentationml/2006/main">
  <p:tag name="KSO_WM_DIAGRAM_VIRTUALLY_FRAME" val="{&quot;height&quot;:325.05,&quot;left&quot;:32.45,&quot;top&quot;:72.6,&quot;width&quot;:1110.25}"/>
</p:tagLst>
</file>

<file path=ppt/tags/tag59.xml><?xml version="1.0" encoding="utf-8"?>
<p:tagLst xmlns:p="http://schemas.openxmlformats.org/presentationml/2006/main">
  <p:tag name="KSO_WM_DIAGRAM_VIRTUALLY_FRAME" val="{&quot;height&quot;:325.05,&quot;left&quot;:32.45,&quot;top&quot;:72.6,&quot;width&quot;:1110.25}"/>
</p:tagLst>
</file>

<file path=ppt/tags/tag60.xml><?xml version="1.0" encoding="utf-8"?>
<p:tagLst xmlns:p="http://schemas.openxmlformats.org/presentationml/2006/main">
  <p:tag name="KSO_WM_DIAGRAM_VIRTUALLY_FRAME" val="{&quot;height&quot;:325.05,&quot;left&quot;:32.45,&quot;top&quot;:72.6,&quot;width&quot;:1110.25}"/>
</p:tagLst>
</file>

<file path=ppt/tags/tag61.xml><?xml version="1.0" encoding="utf-8"?>
<p:tagLst xmlns:p="http://schemas.openxmlformats.org/presentationml/2006/main">
  <p:tag name="KSO_WM_DIAGRAM_VIRTUALLY_FRAME" val="{&quot;height&quot;:325.05,&quot;left&quot;:32.45,&quot;top&quot;:72.6,&quot;width&quot;:1110.25}"/>
</p:tagLst>
</file>

<file path=ppt/tags/tag62.xml><?xml version="1.0" encoding="utf-8"?>
<p:tagLst xmlns:p="http://schemas.openxmlformats.org/presentationml/2006/main">
  <p:tag name="KSO_WM_DIAGRAM_VIRTUALLY_FRAME" val="{&quot;height&quot;:325.05,&quot;left&quot;:32.45,&quot;top&quot;:72.6,&quot;width&quot;:1110.25}"/>
</p:tagLst>
</file>

<file path=ppt/tags/tag63.xml><?xml version="1.0" encoding="utf-8"?>
<p:tagLst xmlns:p="http://schemas.openxmlformats.org/presentationml/2006/main">
  <p:tag name="KSO_WM_DIAGRAM_VIRTUALLY_FRAME" val="{&quot;height&quot;:325.05,&quot;left&quot;:32.45,&quot;top&quot;:72.6,&quot;width&quot;:1110.25}"/>
</p:tagLst>
</file>

<file path=ppt/tags/tag64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65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66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67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68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69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70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71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72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73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74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75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76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77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78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79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80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81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82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83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84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85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86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87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88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89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90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91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92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93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94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95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96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97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98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99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100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101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102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103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104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105.xml><?xml version="1.0" encoding="utf-8"?>
<p:tagLst xmlns:p="http://schemas.openxmlformats.org/presentationml/2006/main">
  <p:tag name="KSO_WM_DIAGRAM_VIRTUALLY_FRAME" val="{&quot;height&quot;:449.7,&quot;left&quot;:43.29999999999999,&quot;top&quot;:89.1,&quot;width&quot;:890.6}"/>
</p:tagLst>
</file>

<file path=ppt/tags/tag106.xml><?xml version="1.0" encoding="utf-8"?>
<p:tagLst xmlns:p="http://schemas.openxmlformats.org/presentationml/2006/main">
  <p:tag name="KSO_WM_DIAGRAM_VIRTUALLY_FRAME" val="{&quot;height&quot;:149.38275590551183,&quot;left&quot;:44.30464566929133,&quot;top&quot;:359.25,&quot;width&quot;:869.8907086614174}"/>
</p:tagLst>
</file>

<file path=ppt/tags/tag107.xml><?xml version="1.0" encoding="utf-8"?>
<p:tagLst xmlns:p="http://schemas.openxmlformats.org/presentationml/2006/main">
  <p:tag name="KSO_WM_DIAGRAM_VIRTUALLY_FRAME" val="{&quot;height&quot;:149.38275590551183,&quot;left&quot;:44.30464566929133,&quot;top&quot;:359.25,&quot;width&quot;:869.8907086614174}"/>
</p:tagLst>
</file>

<file path=ppt/tags/tag108.xml><?xml version="1.0" encoding="utf-8"?>
<p:tagLst xmlns:p="http://schemas.openxmlformats.org/presentationml/2006/main">
  <p:tag name="KSO_WM_DIAGRAM_VIRTUALLY_FRAME" val="{&quot;height&quot;:149.38275590551183,&quot;left&quot;:44.30464566929133,&quot;top&quot;:359.25,&quot;width&quot;:869.8907086614174}"/>
</p:tagLst>
</file>

<file path=ppt/tags/tag109.xml><?xml version="1.0" encoding="utf-8"?>
<p:tagLst xmlns:p="http://schemas.openxmlformats.org/presentationml/2006/main">
  <p:tag name="KSO_WM_DIAGRAM_VIRTUALLY_FRAME" val="{&quot;height&quot;:149.38275590551183,&quot;left&quot;:44.30464566929133,&quot;top&quot;:359.25,&quot;width&quot;:869.8907086614174}"/>
</p:tagLst>
</file>

<file path=ppt/tags/tag110.xml><?xml version="1.0" encoding="utf-8"?>
<p:tagLst xmlns:p="http://schemas.openxmlformats.org/presentationml/2006/main">
  <p:tag name="KSO_WM_DIAGRAM_VIRTUALLY_FRAME" val="{&quot;height&quot;:149.38275590551183,&quot;left&quot;:44.30464566929133,&quot;top&quot;:359.25,&quot;width&quot;:869.8907086614174}"/>
</p:tagLst>
</file>

<file path=ppt/tags/tag111.xml><?xml version="1.0" encoding="utf-8"?>
<p:tagLst xmlns:p="http://schemas.openxmlformats.org/presentationml/2006/main">
  <p:tag name="KSO_WM_DIAGRAM_VIRTUALLY_FRAME" val="{&quot;height&quot;:149.38275590551183,&quot;left&quot;:44.30464566929133,&quot;top&quot;:359.25,&quot;width&quot;:869.8907086614174}"/>
</p:tagLst>
</file>

<file path=ppt/tags/tag112.xml><?xml version="1.0" encoding="utf-8"?>
<p:tagLst xmlns:p="http://schemas.openxmlformats.org/presentationml/2006/main">
  <p:tag name="KSO_WM_DIAGRAM_VIRTUALLY_FRAME" val="{&quot;height&quot;:149.38275590551183,&quot;left&quot;:44.30464566929133,&quot;top&quot;:359.25,&quot;width&quot;:869.8907086614174}"/>
</p:tagLst>
</file>

<file path=ppt/tags/tag113.xml><?xml version="1.0" encoding="utf-8"?>
<p:tagLst xmlns:p="http://schemas.openxmlformats.org/presentationml/2006/main">
  <p:tag name="KSO_WM_DIAGRAM_VIRTUALLY_FRAME" val="{&quot;height&quot;:149.38275590551183,&quot;left&quot;:44.30464566929133,&quot;top&quot;:359.25,&quot;width&quot;:869.8907086614174}"/>
</p:tagLst>
</file>

<file path=ppt/tags/tag114.xml><?xml version="1.0" encoding="utf-8"?>
<p:tagLst xmlns:p="http://schemas.openxmlformats.org/presentationml/2006/main">
  <p:tag name="KSO_WM_DIAGRAM_VIRTUALLY_FRAME" val="{&quot;height&quot;:149.38275590551183,&quot;left&quot;:44.30464566929133,&quot;top&quot;:359.25,&quot;width&quot;:869.8907086614174}"/>
</p:tagLst>
</file>

<file path=ppt/tags/tag115.xml><?xml version="1.0" encoding="utf-8"?>
<p:tagLst xmlns:p="http://schemas.openxmlformats.org/presentationml/2006/main">
  <p:tag name="KSO_WM_DIAGRAM_VIRTUALLY_FRAME" val="{&quot;height&quot;:149.38275590551183,&quot;left&quot;:44.30464566929133,&quot;top&quot;:359.25,&quot;width&quot;:869.8907086614174}"/>
</p:tagLst>
</file>

<file path=ppt/tags/tag116.xml><?xml version="1.0" encoding="utf-8"?>
<p:tagLst xmlns:p="http://schemas.openxmlformats.org/presentationml/2006/main">
  <p:tag name="KSO_WM_DIAGRAM_VIRTUALLY_FRAME" val="{&quot;height&quot;:149.38275590551183,&quot;left&quot;:44.30464566929133,&quot;top&quot;:359.25,&quot;width&quot;:869.8907086614174}"/>
</p:tagLst>
</file>

<file path=ppt/tags/tag117.xml><?xml version="1.0" encoding="utf-8"?>
<p:tagLst xmlns:p="http://schemas.openxmlformats.org/presentationml/2006/main">
  <p:tag name="KSO_WM_DIAGRAM_VIRTUALLY_FRAME" val="{&quot;height&quot;:149.38275590551183,&quot;left&quot;:44.30464566929133,&quot;top&quot;:359.25,&quot;width&quot;:869.8907086614174}"/>
</p:tagLst>
</file>

<file path=ppt/tags/tag118.xml><?xml version="1.0" encoding="utf-8"?>
<p:tagLst xmlns:p="http://schemas.openxmlformats.org/presentationml/2006/main">
  <p:tag name="KSO_WM_DIAGRAM_VIRTUALLY_FRAME" val="{&quot;height&quot;:149.38275590551183,&quot;left&quot;:44.30464566929133,&quot;top&quot;:359.25,&quot;width&quot;:869.8907086614174}"/>
</p:tagLst>
</file>

<file path=ppt/tags/tag119.xml><?xml version="1.0" encoding="utf-8"?>
<p:tagLst xmlns:p="http://schemas.openxmlformats.org/presentationml/2006/main">
  <p:tag name="KSO_WM_DIAGRAM_VIRTUALLY_FRAME" val="{&quot;height&quot;:149.38275590551183,&quot;left&quot;:44.30464566929133,&quot;top&quot;:359.25,&quot;width&quot;:869.8907086614174}"/>
</p:tagLst>
</file>

<file path=ppt/tags/tag120.xml><?xml version="1.0" encoding="utf-8"?>
<p:tagLst xmlns:p="http://schemas.openxmlformats.org/presentationml/2006/main">
  <p:tag name="KSO_WM_DIAGRAM_VIRTUALLY_FRAME" val="{&quot;height&quot;:149.38275590551183,&quot;left&quot;:44.30464566929133,&quot;top&quot;:359.25,&quot;width&quot;:869.8907086614174}"/>
</p:tagLst>
</file>

<file path=ppt/tags/tag121.xml><?xml version="1.0" encoding="utf-8"?>
<p:tagLst xmlns:p="http://schemas.openxmlformats.org/presentationml/2006/main">
  <p:tag name="KSO_WM_DIAGRAM_VIRTUALLY_FRAME" val="{&quot;height&quot;:149.38275590551183,&quot;left&quot;:44.30464566929133,&quot;top&quot;:359.25,&quot;width&quot;:869.8907086614174}"/>
</p:tagLst>
</file>

<file path=ppt/tags/tag122.xml><?xml version="1.0" encoding="utf-8"?>
<p:tagLst xmlns:p="http://schemas.openxmlformats.org/presentationml/2006/main">
  <p:tag name="KSO_WM_DIAGRAM_VIRTUALLY_FRAME" val="{&quot;height&quot;:279.9687664041995,&quot;left&quot;:51.437532808398956,&quot;top&quot;:113.8984251968504,&quot;width&quot;:857.6250656167979}"/>
</p:tagLst>
</file>

<file path=ppt/tags/tag123.xml><?xml version="1.0" encoding="utf-8"?>
<p:tagLst xmlns:p="http://schemas.openxmlformats.org/presentationml/2006/main">
  <p:tag name="KSO_WM_DIAGRAM_VIRTUALLY_FRAME" val="{&quot;height&quot;:279.9687664041995,&quot;left&quot;:51.437532808398956,&quot;top&quot;:113.8984251968504,&quot;width&quot;:857.6250656167979}"/>
</p:tagLst>
</file>

<file path=ppt/tags/tag124.xml><?xml version="1.0" encoding="utf-8"?>
<p:tagLst xmlns:p="http://schemas.openxmlformats.org/presentationml/2006/main">
  <p:tag name="KSO_WM_DIAGRAM_VIRTUALLY_FRAME" val="{&quot;height&quot;:279.9687664041995,&quot;left&quot;:51.437532808398956,&quot;top&quot;:113.8984251968504,&quot;width&quot;:857.6250656167979}"/>
</p:tagLst>
</file>

<file path=ppt/tags/tag125.xml><?xml version="1.0" encoding="utf-8"?>
<p:tagLst xmlns:p="http://schemas.openxmlformats.org/presentationml/2006/main">
  <p:tag name="KSO_WM_DIAGRAM_VIRTUALLY_FRAME" val="{&quot;height&quot;:279.9687664041995,&quot;left&quot;:51.437532808398956,&quot;top&quot;:113.8984251968504,&quot;width&quot;:857.6250656167979}"/>
</p:tagLst>
</file>

<file path=ppt/tags/tag126.xml><?xml version="1.0" encoding="utf-8"?>
<p:tagLst xmlns:p="http://schemas.openxmlformats.org/presentationml/2006/main">
  <p:tag name="KSO_WM_DIAGRAM_VIRTUALLY_FRAME" val="{&quot;height&quot;:279.9687664041995,&quot;left&quot;:51.437532808398956,&quot;top&quot;:113.8984251968504,&quot;width&quot;:857.6250656167979}"/>
</p:tagLst>
</file>

<file path=ppt/tags/tag127.xml><?xml version="1.0" encoding="utf-8"?>
<p:tagLst xmlns:p="http://schemas.openxmlformats.org/presentationml/2006/main">
  <p:tag name="KSO_WM_DIAGRAM_VIRTUALLY_FRAME" val="{&quot;height&quot;:279.9687664041995,&quot;left&quot;:51.437532808398956,&quot;top&quot;:113.8984251968504,&quot;width&quot;:857.6250656167979}"/>
</p:tagLst>
</file>

<file path=ppt/tags/tag128.xml><?xml version="1.0" encoding="utf-8"?>
<p:tagLst xmlns:p="http://schemas.openxmlformats.org/presentationml/2006/main">
  <p:tag name="KSO_WM_DIAGRAM_VIRTUALLY_FRAME" val="{&quot;height&quot;:279.9687664041995,&quot;left&quot;:51.437532808398956,&quot;top&quot;:113.8984251968504,&quot;width&quot;:857.6250656167979}"/>
</p:tagLst>
</file>

<file path=ppt/tags/tag129.xml><?xml version="1.0" encoding="utf-8"?>
<p:tagLst xmlns:p="http://schemas.openxmlformats.org/presentationml/2006/main">
  <p:tag name="KSO_WM_DIAGRAM_VIRTUALLY_FRAME" val="{&quot;height&quot;:279.9687664041995,&quot;left&quot;:51.437532808398956,&quot;top&quot;:113.8984251968504,&quot;width&quot;:857.6250656167979}"/>
</p:tagLst>
</file>

<file path=ppt/tags/tag130.xml><?xml version="1.0" encoding="utf-8"?>
<p:tagLst xmlns:p="http://schemas.openxmlformats.org/presentationml/2006/main">
  <p:tag name="KSO_WM_DIAGRAM_VIRTUALLY_FRAME" val="{&quot;height&quot;:279.9687664041995,&quot;left&quot;:51.437532808398956,&quot;top&quot;:113.8984251968504,&quot;width&quot;:857.6250656167979}"/>
</p:tagLst>
</file>

<file path=ppt/tags/tag131.xml><?xml version="1.0" encoding="utf-8"?>
<p:tagLst xmlns:p="http://schemas.openxmlformats.org/presentationml/2006/main">
  <p:tag name="KSO_WM_DIAGRAM_VIRTUALLY_FRAME" val="{&quot;height&quot;:279.9687664041995,&quot;left&quot;:51.437532808398956,&quot;top&quot;:113.8984251968504,&quot;width&quot;:857.6250656167979}"/>
</p:tagLst>
</file>

<file path=ppt/tags/tag132.xml><?xml version="1.0" encoding="utf-8"?>
<p:tagLst xmlns:p="http://schemas.openxmlformats.org/presentationml/2006/main">
  <p:tag name="KSO_WM_DIAGRAM_VIRTUALLY_FRAME" val="{&quot;height&quot;:453.01559055118105,&quot;left&quot;:41.51251968503937,&quot;top&quot;:159.3031496062992,&quot;width&quot;:1297.675039370079}"/>
</p:tagLst>
</file>

<file path=ppt/tags/tag133.xml><?xml version="1.0" encoding="utf-8"?>
<p:tagLst xmlns:p="http://schemas.openxmlformats.org/presentationml/2006/main">
  <p:tag name="KSO_WM_DIAGRAM_VIRTUALLY_FRAME" val="{&quot;height&quot;:453.01559055118105,&quot;left&quot;:41.51251968503937,&quot;top&quot;:159.3031496062992,&quot;width&quot;:1297.675039370079}"/>
</p:tagLst>
</file>

<file path=ppt/tags/tag134.xml><?xml version="1.0" encoding="utf-8"?>
<p:tagLst xmlns:p="http://schemas.openxmlformats.org/presentationml/2006/main">
  <p:tag name="KSO_WM_DIAGRAM_VIRTUALLY_FRAME" val="{&quot;height&quot;:453.01559055118105,&quot;left&quot;:41.51251968503937,&quot;top&quot;:159.3031496062992,&quot;width&quot;:1297.675039370079}"/>
</p:tagLst>
</file>

<file path=ppt/tags/tag135.xml><?xml version="1.0" encoding="utf-8"?>
<p:tagLst xmlns:p="http://schemas.openxmlformats.org/presentationml/2006/main">
  <p:tag name="KSO_WM_DIAGRAM_VIRTUALLY_FRAME" val="{&quot;height&quot;:453.01559055118105,&quot;left&quot;:41.51251968503937,&quot;top&quot;:159.3031496062992,&quot;width&quot;:1297.675039370079}"/>
</p:tagLst>
</file>

<file path=ppt/tags/tag136.xml><?xml version="1.0" encoding="utf-8"?>
<p:tagLst xmlns:p="http://schemas.openxmlformats.org/presentationml/2006/main">
  <p:tag name="KSO_WM_DIAGRAM_VIRTUALLY_FRAME" val="{&quot;height&quot;:453.01559055118105,&quot;left&quot;:41.51251968503937,&quot;top&quot;:159.3031496062992,&quot;width&quot;:1297.675039370079}"/>
</p:tagLst>
</file>

<file path=ppt/tags/tag137.xml><?xml version="1.0" encoding="utf-8"?>
<p:tagLst xmlns:p="http://schemas.openxmlformats.org/presentationml/2006/main">
  <p:tag name="KSO_WM_DIAGRAM_VIRTUALLY_FRAME" val="{&quot;height&quot;:453.01559055118105,&quot;left&quot;:41.51251968503937,&quot;top&quot;:159.3031496062992,&quot;width&quot;:1297.675039370079}"/>
</p:tagLst>
</file>

<file path=ppt/tags/tag138.xml><?xml version="1.0" encoding="utf-8"?>
<p:tagLst xmlns:p="http://schemas.openxmlformats.org/presentationml/2006/main">
  <p:tag name="KSO_WM_DIAGRAM_VIRTUALLY_FRAME" val="{&quot;height&quot;:453.01559055118105,&quot;left&quot;:41.51251968503937,&quot;top&quot;:159.3031496062992,&quot;width&quot;:1297.675039370079}"/>
</p:tagLst>
</file>

<file path=ppt/tags/tag139.xml><?xml version="1.0" encoding="utf-8"?>
<p:tagLst xmlns:p="http://schemas.openxmlformats.org/presentationml/2006/main">
  <p:tag name="KSO_WM_DIAGRAM_VIRTUALLY_FRAME" val="{&quot;height&quot;:453.01559055118105,&quot;left&quot;:41.51251968503937,&quot;top&quot;:159.3031496062992,&quot;width&quot;:1297.675039370079}"/>
</p:tagLst>
</file>

<file path=ppt/tags/tag140.xml><?xml version="1.0" encoding="utf-8"?>
<p:tagLst xmlns:p="http://schemas.openxmlformats.org/presentationml/2006/main">
  <p:tag name="KSO_WM_DIAGRAM_VIRTUALLY_FRAME" val="{&quot;height&quot;:453.01559055118105,&quot;left&quot;:41.51251968503937,&quot;top&quot;:159.3031496062992,&quot;width&quot;:1297.675039370079}"/>
</p:tagLst>
</file>

<file path=ppt/tags/tag141.xml><?xml version="1.0" encoding="utf-8"?>
<p:tagLst xmlns:p="http://schemas.openxmlformats.org/presentationml/2006/main">
  <p:tag name="KSO_WM_DIAGRAM_VIRTUALLY_FRAME" val="{&quot;height&quot;:453.01559055118105,&quot;left&quot;:41.51251968503937,&quot;top&quot;:159.3031496062992,&quot;width&quot;:1297.675039370079}"/>
</p:tagLst>
</file>

<file path=ppt/tags/tag142.xml><?xml version="1.0" encoding="utf-8"?>
<p:tagLst xmlns:p="http://schemas.openxmlformats.org/presentationml/2006/main">
  <p:tag name="KSO_WM_DIAGRAM_VIRTUALLY_FRAME" val="{&quot;height&quot;:453.01559055118105,&quot;left&quot;:41.51251968503937,&quot;top&quot;:159.3031496062992,&quot;width&quot;:1297.675039370079}"/>
</p:tagLst>
</file>

<file path=ppt/tags/tag143.xml><?xml version="1.0" encoding="utf-8"?>
<p:tagLst xmlns:p="http://schemas.openxmlformats.org/presentationml/2006/main">
  <p:tag name="KSO_WM_DIAGRAM_VIRTUALLY_FRAME" val="{&quot;height&quot;:453.01559055118105,&quot;left&quot;:41.51251968503937,&quot;top&quot;:159.3031496062992,&quot;width&quot;:1297.675039370079}"/>
</p:tagLst>
</file>

<file path=ppt/tags/tag144.xml><?xml version="1.0" encoding="utf-8"?>
<p:tagLst xmlns:p="http://schemas.openxmlformats.org/presentationml/2006/main">
  <p:tag name="KSO_WM_DIAGRAM_VIRTUALLY_FRAME" val="{&quot;height&quot;:136,&quot;left&quot;:177.5,&quot;top&quot;:379.1,&quot;width&quot;:534.25}"/>
</p:tagLst>
</file>

<file path=ppt/tags/tag145.xml><?xml version="1.0" encoding="utf-8"?>
<p:tagLst xmlns:p="http://schemas.openxmlformats.org/presentationml/2006/main">
  <p:tag name="KSO_WM_DIAGRAM_VIRTUALLY_FRAME" val="{&quot;height&quot;:136,&quot;left&quot;:177.5,&quot;top&quot;:379.1,&quot;width&quot;:534.25}"/>
</p:tagLst>
</file>

<file path=ppt/tags/tag146.xml><?xml version="1.0" encoding="utf-8"?>
<p:tagLst xmlns:p="http://schemas.openxmlformats.org/presentationml/2006/main">
  <p:tag name="KSO_WM_DIAGRAM_VIRTUALLY_FRAME" val="{&quot;height&quot;:136,&quot;left&quot;:177.5,&quot;top&quot;:379.1,&quot;width&quot;:534.25}"/>
</p:tagLst>
</file>

<file path=ppt/tags/tag147.xml><?xml version="1.0" encoding="utf-8"?>
<p:tagLst xmlns:p="http://schemas.openxmlformats.org/presentationml/2006/main">
  <p:tag name="KSO_WM_DIAGRAM_VIRTUALLY_FRAME" val="{&quot;height&quot;:136,&quot;left&quot;:177.5,&quot;top&quot;:379.1,&quot;width&quot;:534.25}"/>
</p:tagLst>
</file>

<file path=ppt/tags/tag148.xml><?xml version="1.0" encoding="utf-8"?>
<p:tagLst xmlns:p="http://schemas.openxmlformats.org/presentationml/2006/main">
  <p:tag name="KSO_WM_DIAGRAM_VIRTUALLY_FRAME" val="{&quot;height&quot;:136,&quot;left&quot;:177.5,&quot;top&quot;:379.1,&quot;width&quot;:534.25}"/>
</p:tagLst>
</file>

<file path=ppt/tags/tag149.xml><?xml version="1.0" encoding="utf-8"?>
<p:tagLst xmlns:p="http://schemas.openxmlformats.org/presentationml/2006/main">
  <p:tag name="KSO_WM_DIAGRAM_VIRTUALLY_FRAME" val="{&quot;height&quot;:136,&quot;left&quot;:177.5,&quot;top&quot;:379.1,&quot;width&quot;:534.25}"/>
</p:tagLst>
</file>

<file path=ppt/tags/tag150.xml><?xml version="1.0" encoding="utf-8"?>
<p:tagLst xmlns:p="http://schemas.openxmlformats.org/presentationml/2006/main">
  <p:tag name="KSO_WM_DIAGRAM_VIRTUALLY_FRAME" val="{&quot;height&quot;:136,&quot;left&quot;:177.5,&quot;top&quot;:379.1,&quot;width&quot;:534.25}"/>
</p:tagLst>
</file>

<file path=ppt/tags/tag151.xml><?xml version="1.0" encoding="utf-8"?>
<p:tagLst xmlns:p="http://schemas.openxmlformats.org/presentationml/2006/main">
  <p:tag name="KSO_WM_DIAGRAM_VIRTUALLY_FRAME" val="{&quot;height&quot;:136,&quot;left&quot;:177.5,&quot;top&quot;:379.1,&quot;width&quot;:534.25}"/>
</p:tagLst>
</file>

<file path=ppt/tags/tag152.xml><?xml version="1.0" encoding="utf-8"?>
<p:tagLst xmlns:p="http://schemas.openxmlformats.org/presentationml/2006/main">
  <p:tag name="KSO_WM_DIAGRAM_VIRTUALLY_FRAME" val="{&quot;height&quot;:136,&quot;left&quot;:177.5,&quot;top&quot;:379.1,&quot;width&quot;:534.25}"/>
</p:tagLst>
</file>

<file path=ppt/tags/tag153.xml><?xml version="1.0" encoding="utf-8"?>
<p:tagLst xmlns:p="http://schemas.openxmlformats.org/presentationml/2006/main">
  <p:tag name="KSO_WM_DIAGRAM_VIRTUALLY_FRAME" val="{&quot;height&quot;:136,&quot;left&quot;:177.5,&quot;top&quot;:379.1,&quot;width&quot;:534.25}"/>
</p:tagLst>
</file>

<file path=ppt/tags/tag154.xml><?xml version="1.0" encoding="utf-8"?>
<p:tagLst xmlns:p="http://schemas.openxmlformats.org/presentationml/2006/main">
  <p:tag name="KSO_WM_DIAGRAM_VIRTUALLY_FRAME" val="{&quot;height&quot;:141.93755905511816,&quot;left&quot;:404.6953412073491,&quot;top&quot;:365.3671653543307,&quot;width&quot;:510.6093832021}"/>
</p:tagLst>
</file>

<file path=ppt/tags/tag155.xml><?xml version="1.0" encoding="utf-8"?>
<p:tagLst xmlns:p="http://schemas.openxmlformats.org/presentationml/2006/main">
  <p:tag name="KSO_WM_DIAGRAM_VIRTUALLY_FRAME" val="{&quot;height&quot;:141.93755905511816,&quot;left&quot;:404.6953412073491,&quot;top&quot;:365.3671653543307,&quot;width&quot;:510.6093832021}"/>
</p:tagLst>
</file>

<file path=ppt/tags/tag156.xml><?xml version="1.0" encoding="utf-8"?>
<p:tagLst xmlns:p="http://schemas.openxmlformats.org/presentationml/2006/main">
  <p:tag name="KSO_WM_DIAGRAM_VIRTUALLY_FRAME" val="{&quot;height&quot;:141.93755905511816,&quot;left&quot;:404.6953412073491,&quot;top&quot;:365.3671653543307,&quot;width&quot;:510.6093832021}"/>
</p:tagLst>
</file>

<file path=ppt/tags/tag157.xml><?xml version="1.0" encoding="utf-8"?>
<p:tagLst xmlns:p="http://schemas.openxmlformats.org/presentationml/2006/main">
  <p:tag name="KSO_WM_DIAGRAM_VIRTUALLY_FRAME" val="{&quot;height&quot;:141.93755905511816,&quot;left&quot;:404.6953412073491,&quot;top&quot;:365.3671653543307,&quot;width&quot;:510.6093832021}"/>
</p:tagLst>
</file>

<file path=ppt/tags/tag158.xml><?xml version="1.0" encoding="utf-8"?>
<p:tagLst xmlns:p="http://schemas.openxmlformats.org/presentationml/2006/main">
  <p:tag name="KSO_WM_DIAGRAM_VIRTUALLY_FRAME" val="{&quot;height&quot;:141.93755905511816,&quot;left&quot;:404.6953412073491,&quot;top&quot;:365.3671653543307,&quot;width&quot;:510.6093832021}"/>
</p:tagLst>
</file>

<file path=ppt/tags/tag159.xml><?xml version="1.0" encoding="utf-8"?>
<p:tagLst xmlns:p="http://schemas.openxmlformats.org/presentationml/2006/main">
  <p:tag name="KSO_WM_DIAGRAM_VIRTUALLY_FRAME" val="{&quot;height&quot;:141.93755905511816,&quot;left&quot;:404.6953412073491,&quot;top&quot;:365.3671653543307,&quot;width&quot;:510.6093832021}"/>
</p:tagLst>
</file>

<file path=ppt/tags/tag160.xml><?xml version="1.0" encoding="utf-8"?>
<p:tagLst xmlns:p="http://schemas.openxmlformats.org/presentationml/2006/main">
  <p:tag name="KSO_WM_DIAGRAM_VIRTUALLY_FRAME" val="{&quot;height&quot;:141.93755905511816,&quot;left&quot;:404.6953412073491,&quot;top&quot;:365.3671653543307,&quot;width&quot;:510.6093832021}"/>
</p:tagLst>
</file>

<file path=ppt/tags/tag161.xml><?xml version="1.0" encoding="utf-8"?>
<p:tagLst xmlns:p="http://schemas.openxmlformats.org/presentationml/2006/main">
  <p:tag name="KSO_WM_DIAGRAM_VIRTUALLY_FRAME" val="{&quot;height&quot;:141.93755905511816,&quot;left&quot;:404.6953412073491,&quot;top&quot;:365.3671653543307,&quot;width&quot;:510.6093832021}"/>
</p:tagLst>
</file>

<file path=ppt/tags/tag162.xml><?xml version="1.0" encoding="utf-8"?>
<p:tagLst xmlns:p="http://schemas.openxmlformats.org/presentationml/2006/main">
  <p:tag name="KSO_WM_DIAGRAM_VIRTUALLY_FRAME" val="{&quot;height&quot;:141.93755905511816,&quot;left&quot;:404.6953412073491,&quot;top&quot;:365.3671653543307,&quot;width&quot;:510.6093832021}"/>
</p:tagLst>
</file>

<file path=ppt/tags/tag163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64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65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66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67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68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69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70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71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72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73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74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75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76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77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78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79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80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81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82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83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84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85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86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87.xml><?xml version="1.0" encoding="utf-8"?>
<p:tagLst xmlns:p="http://schemas.openxmlformats.org/presentationml/2006/main">
  <p:tag name="KSO_WM_DIAGRAM_VIRTUALLY_FRAME" val="{&quot;height&quot;:290.0703412073491,&quot;left&quot;:52.085958005249346,&quot;top&quot;:183.23438320209976,&quot;width&quot;:855.8203412073493}"/>
</p:tagLst>
</file>

<file path=ppt/tags/tag188.xml><?xml version="1.0" encoding="utf-8"?>
<p:tagLst xmlns:p="http://schemas.openxmlformats.org/presentationml/2006/main">
  <p:tag name="KSO_WM_DIAGRAM_VIRTUALLY_FRAME" val="{&quot;height&quot;:403.35622047244095,&quot;left&quot;:-7.496850393700788,&quot;top&quot;:135.79377952755905,&quot;width&quot;:1026.4844094488187}"/>
</p:tagLst>
</file>

<file path=ppt/tags/tag189.xml><?xml version="1.0" encoding="utf-8"?>
<p:tagLst xmlns:p="http://schemas.openxmlformats.org/presentationml/2006/main">
  <p:tag name="KSO_WM_DIAGRAM_VIRTUALLY_FRAME" val="{&quot;height&quot;:403.35622047244095,&quot;left&quot;:-7.496850393700788,&quot;top&quot;:135.79377952755905,&quot;width&quot;:1026.4844094488187}"/>
</p:tagLst>
</file>

<file path=ppt/tags/tag190.xml><?xml version="1.0" encoding="utf-8"?>
<p:tagLst xmlns:p="http://schemas.openxmlformats.org/presentationml/2006/main">
  <p:tag name="KSO_WM_DIAGRAM_VIRTUALLY_FRAME" val="{&quot;height&quot;:403.35622047244095,&quot;left&quot;:-7.496850393700788,&quot;top&quot;:135.79377952755905,&quot;width&quot;:1026.4844094488187}"/>
</p:tagLst>
</file>

<file path=ppt/tags/tag191.xml><?xml version="1.0" encoding="utf-8"?>
<p:tagLst xmlns:p="http://schemas.openxmlformats.org/presentationml/2006/main">
  <p:tag name="KSO_WM_DIAGRAM_VIRTUALLY_FRAME" val="{&quot;height&quot;:403.35622047244095,&quot;left&quot;:-7.496850393700788,&quot;top&quot;:135.79377952755905,&quot;width&quot;:1026.4844094488187}"/>
</p:tagLst>
</file>

<file path=ppt/tags/tag192.xml><?xml version="1.0" encoding="utf-8"?>
<p:tagLst xmlns:p="http://schemas.openxmlformats.org/presentationml/2006/main">
  <p:tag name="KSO_WM_DIAGRAM_VIRTUALLY_FRAME" val="{&quot;height&quot;:403.35622047244095,&quot;left&quot;:-7.496850393700788,&quot;top&quot;:135.79377952755905,&quot;width&quot;:1026.4844094488187}"/>
</p:tagLst>
</file>

<file path=ppt/tags/tag193.xml><?xml version="1.0" encoding="utf-8"?>
<p:tagLst xmlns:p="http://schemas.openxmlformats.org/presentationml/2006/main">
  <p:tag name="KSO_WM_DIAGRAM_VIRTUALLY_FRAME" val="{&quot;height&quot;:403.35622047244095,&quot;left&quot;:-7.496850393700788,&quot;top&quot;:135.79377952755905,&quot;width&quot;:1026.4844094488187}"/>
</p:tagLst>
</file>

<file path=ppt/tags/tag194.xml><?xml version="1.0" encoding="utf-8"?>
<p:tagLst xmlns:p="http://schemas.openxmlformats.org/presentationml/2006/main">
  <p:tag name="KSO_WM_DIAGRAM_VIRTUALLY_FRAME" val="{&quot;height&quot;:403.35622047244095,&quot;left&quot;:-7.496850393700788,&quot;top&quot;:135.79377952755905,&quot;width&quot;:1026.4844094488187}"/>
</p:tagLst>
</file>

<file path=ppt/tags/tag195.xml><?xml version="1.0" encoding="utf-8"?>
<p:tagLst xmlns:p="http://schemas.openxmlformats.org/presentationml/2006/main">
  <p:tag name="KSO_WM_DIAGRAM_VIRTUALLY_FRAME" val="{&quot;height&quot;:403.35622047244095,&quot;left&quot;:-7.496850393700788,&quot;top&quot;:135.79377952755905,&quot;width&quot;:1026.4844094488187}"/>
</p:tagLst>
</file>

<file path=ppt/tags/tag196.xml><?xml version="1.0" encoding="utf-8"?>
<p:tagLst xmlns:p="http://schemas.openxmlformats.org/presentationml/2006/main">
  <p:tag name="KSO_WM_DIAGRAM_VIRTUALLY_FRAME" val="{&quot;height&quot;:403.35622047244095,&quot;left&quot;:-7.496850393700788,&quot;top&quot;:135.79377952755905,&quot;width&quot;:1026.4844094488187}"/>
</p:tagLst>
</file>

<file path=ppt/tags/tag197.xml><?xml version="1.0" encoding="utf-8"?>
<p:tagLst xmlns:p="http://schemas.openxmlformats.org/presentationml/2006/main">
  <p:tag name="KSO_WM_DIAGRAM_VIRTUALLY_FRAME" val="{&quot;height&quot;:403.35622047244095,&quot;left&quot;:-7.496850393700788,&quot;top&quot;:135.79377952755905,&quot;width&quot;:1026.4844094488187}"/>
</p:tagLst>
</file>

<file path=ppt/tags/tag198.xml><?xml version="1.0" encoding="utf-8"?>
<p:tagLst xmlns:p="http://schemas.openxmlformats.org/presentationml/2006/main">
  <p:tag name="KSO_WM_DIAGRAM_VIRTUALLY_FRAME" val="{&quot;height&quot;:403.35622047244095,&quot;left&quot;:-7.496850393700788,&quot;top&quot;:135.79377952755905,&quot;width&quot;:1026.4844094488187}"/>
</p:tagLst>
</file>

<file path=ppt/tags/tag199.xml><?xml version="1.0" encoding="utf-8"?>
<p:tagLst xmlns:p="http://schemas.openxmlformats.org/presentationml/2006/main">
  <p:tag name="KSO_WM_DIAGRAM_VIRTUALLY_FRAME" val="{&quot;height&quot;:403.35622047244095,&quot;left&quot;:-7.496850393700788,&quot;top&quot;:135.79377952755905,&quot;width&quot;:1026.4844094488187}"/>
</p:tagLst>
</file>

<file path=ppt/tags/tag200.xml><?xml version="1.0" encoding="utf-8"?>
<p:tagLst xmlns:p="http://schemas.openxmlformats.org/presentationml/2006/main">
  <p:tag name="KSO_WM_DIAGRAM_VIRTUALLY_FRAME" val="{&quot;height&quot;:464.6,&quot;left&quot;:-0.3,&quot;top&quot;:75.4,&quot;width&quot;:961.15}"/>
</p:tagLst>
</file>

<file path=ppt/tags/tag201.xml><?xml version="1.0" encoding="utf-8"?>
<p:tagLst xmlns:p="http://schemas.openxmlformats.org/presentationml/2006/main">
  <p:tag name="KSO_WM_DIAGRAM_VIRTUALLY_FRAME" val="{&quot;height&quot;:464.6,&quot;left&quot;:-0.3,&quot;top&quot;:75.4,&quot;width&quot;:961.15}"/>
</p:tagLst>
</file>

<file path=ppt/tags/tag202.xml><?xml version="1.0" encoding="utf-8"?>
<p:tagLst xmlns:p="http://schemas.openxmlformats.org/presentationml/2006/main">
  <p:tag name="KSO_WM_DIAGRAM_VIRTUALLY_FRAME" val="{&quot;height&quot;:464.6,&quot;left&quot;:-0.3,&quot;top&quot;:75.4,&quot;width&quot;:961.15}"/>
</p:tagLst>
</file>

<file path=ppt/tags/tag203.xml><?xml version="1.0" encoding="utf-8"?>
<p:tagLst xmlns:p="http://schemas.openxmlformats.org/presentationml/2006/main">
  <p:tag name="KSO_WM_DIAGRAM_VIRTUALLY_FRAME" val="{&quot;height&quot;:464.6,&quot;left&quot;:-0.3,&quot;top&quot;:75.4,&quot;width&quot;:961.15}"/>
</p:tagLst>
</file>

<file path=ppt/tags/tag204.xml><?xml version="1.0" encoding="utf-8"?>
<p:tagLst xmlns:p="http://schemas.openxmlformats.org/presentationml/2006/main">
  <p:tag name="KSO_WM_DIAGRAM_VIRTUALLY_FRAME" val="{&quot;height&quot;:464.6,&quot;left&quot;:-0.3,&quot;top&quot;:75.4,&quot;width&quot;:961.15}"/>
</p:tagLst>
</file>

<file path=ppt/tags/tag205.xml><?xml version="1.0" encoding="utf-8"?>
<p:tagLst xmlns:p="http://schemas.openxmlformats.org/presentationml/2006/main">
  <p:tag name="KSO_WM_DIAGRAM_VIRTUALLY_FRAME" val="{&quot;height&quot;:464.6,&quot;left&quot;:-0.3,&quot;top&quot;:75.4,&quot;width&quot;:961.15}"/>
</p:tagLst>
</file>

<file path=ppt/tags/tag206.xml><?xml version="1.0" encoding="utf-8"?>
<p:tagLst xmlns:p="http://schemas.openxmlformats.org/presentationml/2006/main">
  <p:tag name="KSO_WM_DIAGRAM_VIRTUALLY_FRAME" val="{&quot;height&quot;:464.6,&quot;left&quot;:-0.3,&quot;top&quot;:75.4,&quot;width&quot;:961.15}"/>
</p:tagLst>
</file>

<file path=ppt/tags/tag207.xml><?xml version="1.0" encoding="utf-8"?>
<p:tagLst xmlns:p="http://schemas.openxmlformats.org/presentationml/2006/main">
  <p:tag name="KSO_WM_DIAGRAM_VIRTUALLY_FRAME" val="{&quot;height&quot;:464.6,&quot;left&quot;:-0.3,&quot;top&quot;:75.4,&quot;width&quot;:961.15}"/>
</p:tagLst>
</file>

<file path=ppt/tags/tag208.xml><?xml version="1.0" encoding="utf-8"?>
<p:tagLst xmlns:p="http://schemas.openxmlformats.org/presentationml/2006/main">
  <p:tag name="KSO_WM_DIAGRAM_VIRTUALLY_FRAME" val="{&quot;height&quot;:464.6,&quot;left&quot;:-0.3,&quot;top&quot;:75.4,&quot;width&quot;:961.15}"/>
</p:tagLst>
</file>

<file path=ppt/tags/tag209.xml><?xml version="1.0" encoding="utf-8"?>
<p:tagLst xmlns:p="http://schemas.openxmlformats.org/presentationml/2006/main">
  <p:tag name="KSO_WM_DIAGRAM_VIRTUALLY_FRAME" val="{&quot;height&quot;:464.6,&quot;left&quot;:-0.3,&quot;top&quot;:75.4,&quot;width&quot;:961.15}"/>
</p:tagLst>
</file>

<file path=ppt/tags/tag210.xml><?xml version="1.0" encoding="utf-8"?>
<p:tagLst xmlns:p="http://schemas.openxmlformats.org/presentationml/2006/main">
  <p:tag name="KSO_WM_DIAGRAM_VIRTUALLY_FRAME" val="{&quot;height&quot;:384.15,&quot;left&quot;:118.6,&quot;top&quot;:75.4,&quot;width&quot;:722.8}"/>
</p:tagLst>
</file>

<file path=ppt/tags/tag211.xml><?xml version="1.0" encoding="utf-8"?>
<p:tagLst xmlns:p="http://schemas.openxmlformats.org/presentationml/2006/main">
  <p:tag name="KSO_WM_DIAGRAM_VIRTUALLY_FRAME" val="{&quot;height&quot;:384.15,&quot;left&quot;:118.6,&quot;top&quot;:75.4,&quot;width&quot;:722.8}"/>
</p:tagLst>
</file>

<file path=ppt/tags/tag212.xml><?xml version="1.0" encoding="utf-8"?>
<p:tagLst xmlns:p="http://schemas.openxmlformats.org/presentationml/2006/main">
  <p:tag name="KSO_WM_DIAGRAM_VIRTUALLY_FRAME" val="{&quot;height&quot;:384.15,&quot;left&quot;:118.6,&quot;top&quot;:75.4,&quot;width&quot;:722.8}"/>
</p:tagLst>
</file>

<file path=ppt/tags/tag213.xml><?xml version="1.0" encoding="utf-8"?>
<p:tagLst xmlns:p="http://schemas.openxmlformats.org/presentationml/2006/main">
  <p:tag name="KSO_WM_DIAGRAM_VIRTUALLY_FRAME" val="{&quot;height&quot;:384.15,&quot;left&quot;:118.6,&quot;top&quot;:75.4,&quot;width&quot;:722.8}"/>
</p:tagLst>
</file>

<file path=ppt/tags/tag214.xml><?xml version="1.0" encoding="utf-8"?>
<p:tagLst xmlns:p="http://schemas.openxmlformats.org/presentationml/2006/main">
  <p:tag name="KSO_WM_DIAGRAM_VIRTUALLY_FRAME" val="{&quot;height&quot;:414.0484251968504,&quot;left&quot;:-0.85,&quot;top&quot;:127.6015748031496,&quot;width&quot;:564.4047244094488}"/>
</p:tagLst>
</file>

<file path=ppt/tags/tag215.xml><?xml version="1.0" encoding="utf-8"?>
<p:tagLst xmlns:p="http://schemas.openxmlformats.org/presentationml/2006/main">
  <p:tag name="KSO_WM_DIAGRAM_VIRTUALLY_FRAME" val="{&quot;height&quot;:414.0484251968504,&quot;left&quot;:-0.85,&quot;top&quot;:127.6015748031496,&quot;width&quot;:564.4047244094488}"/>
</p:tagLst>
</file>

<file path=ppt/tags/tag216.xml><?xml version="1.0" encoding="utf-8"?>
<p:tagLst xmlns:p="http://schemas.openxmlformats.org/presentationml/2006/main">
  <p:tag name="KSO_WM_DIAGRAM_VIRTUALLY_FRAME" val="{&quot;height&quot;:414.0484251968504,&quot;left&quot;:-0.85,&quot;top&quot;:127.6015748031496,&quot;width&quot;:564.4047244094488}"/>
</p:tagLst>
</file>

<file path=ppt/tags/tag217.xml><?xml version="1.0" encoding="utf-8"?>
<p:tagLst xmlns:p="http://schemas.openxmlformats.org/presentationml/2006/main">
  <p:tag name="KSO_WM_DIAGRAM_VIRTUALLY_FRAME" val="{&quot;height&quot;:414.0484251968504,&quot;left&quot;:-0.85,&quot;top&quot;:127.6015748031496,&quot;width&quot;:564.4047244094488}"/>
</p:tagLst>
</file>

<file path=ppt/tags/tag218.xml><?xml version="1.0" encoding="utf-8"?>
<p:tagLst xmlns:p="http://schemas.openxmlformats.org/presentationml/2006/main">
  <p:tag name="KSO_WM_DIAGRAM_VIRTUALLY_FRAME" val="{&quot;height&quot;:414.0484251968504,&quot;left&quot;:-0.85,&quot;top&quot;:127.6015748031496,&quot;width&quot;:564.4047244094488}"/>
</p:tagLst>
</file>

<file path=ppt/tags/tag219.xml><?xml version="1.0" encoding="utf-8"?>
<p:tagLst xmlns:p="http://schemas.openxmlformats.org/presentationml/2006/main">
  <p:tag name="KSO_WM_DIAGRAM_VIRTUALLY_FRAME" val="{&quot;height&quot;:414.0484251968504,&quot;left&quot;:-0.85,&quot;top&quot;:127.6015748031496,&quot;width&quot;:564.4047244094488}"/>
</p:tagLst>
</file>

<file path=ppt/tags/tag220.xml><?xml version="1.0" encoding="utf-8"?>
<p:tagLst xmlns:p="http://schemas.openxmlformats.org/presentationml/2006/main">
  <p:tag name="KSO_WM_DIAGRAM_VIRTUALLY_FRAME" val="{&quot;height&quot;:414.0484251968504,&quot;left&quot;:-0.85,&quot;top&quot;:127.6015748031496,&quot;width&quot;:564.4047244094488}"/>
</p:tagLst>
</file>

<file path=ppt/tags/tag221.xml><?xml version="1.0" encoding="utf-8"?>
<p:tagLst xmlns:p="http://schemas.openxmlformats.org/presentationml/2006/main">
  <p:tag name="KSO_WM_DIAGRAM_VIRTUALLY_FRAME" val="{&quot;height&quot;:414.0484251968504,&quot;left&quot;:-0.85,&quot;top&quot;:127.6015748031496,&quot;width&quot;:564.4047244094488}"/>
</p:tagLst>
</file>

<file path=ppt/tags/tag222.xml><?xml version="1.0" encoding="utf-8"?>
<p:tagLst xmlns:p="http://schemas.openxmlformats.org/presentationml/2006/main">
  <p:tag name="KSO_WM_DIAGRAM_VIRTUALLY_FRAME" val="{&quot;height&quot;:414.0484251968504,&quot;left&quot;:-0.85,&quot;top&quot;:127.6015748031496,&quot;width&quot;:564.4047244094488}"/>
</p:tagLst>
</file>

<file path=ppt/tags/tag223.xml><?xml version="1.0" encoding="utf-8"?>
<p:tagLst xmlns:p="http://schemas.openxmlformats.org/presentationml/2006/main">
  <p:tag name="KSO_WM_DIAGRAM_VIRTUALLY_FRAME" val="{&quot;height&quot;:414.0484251968504,&quot;left&quot;:-0.85,&quot;top&quot;:127.6015748031496,&quot;width&quot;:564.4047244094488}"/>
</p:tagLst>
</file>

<file path=ppt/tags/tag224.xml><?xml version="1.0" encoding="utf-8"?>
<p:tagLst xmlns:p="http://schemas.openxmlformats.org/presentationml/2006/main">
  <p:tag name="KSO_WM_DIAGRAM_VIRTUALLY_FRAME" val="{&quot;height&quot;:414.0484251968504,&quot;left&quot;:-0.85,&quot;top&quot;:127.6015748031496,&quot;width&quot;:564.4047244094488}"/>
</p:tagLst>
</file>

<file path=ppt/tags/tag225.xml><?xml version="1.0" encoding="utf-8"?>
<p:tagLst xmlns:p="http://schemas.openxmlformats.org/presentationml/2006/main">
  <p:tag name="KSO_WM_DIAGRAM_VIRTUALLY_FRAME" val="{&quot;height&quot;:414.0484251968504,&quot;left&quot;:-0.85,&quot;top&quot;:127.6015748031496,&quot;width&quot;:564.4047244094488}"/>
</p:tagLst>
</file>

<file path=ppt/tags/tag226.xml><?xml version="1.0" encoding="utf-8"?>
<p:tagLst xmlns:p="http://schemas.openxmlformats.org/presentationml/2006/main">
  <p:tag name="KSO_WM_DIAGRAM_VIRTUALLY_FRAME" val="{&quot;height&quot;:414.0484251968504,&quot;left&quot;:-0.85,&quot;top&quot;:127.6015748031496,&quot;width&quot;:564.4047244094488}"/>
</p:tagLst>
</file>

<file path=ppt/tags/tag227.xml><?xml version="1.0" encoding="utf-8"?>
<p:tagLst xmlns:p="http://schemas.openxmlformats.org/presentationml/2006/main">
  <p:tag name="KSO_WM_DIAGRAM_VIRTUALLY_FRAME" val="{&quot;height&quot;:414.0484251968504,&quot;left&quot;:-0.85,&quot;top&quot;:127.6015748031496,&quot;width&quot;:564.4047244094488}"/>
</p:tagLst>
</file>

<file path=ppt/tags/tag228.xml><?xml version="1.0" encoding="utf-8"?>
<p:tagLst xmlns:p="http://schemas.openxmlformats.org/presentationml/2006/main">
  <p:tag name="KSO_WM_DIAGRAM_VIRTUALLY_FRAME" val="{&quot;height&quot;:414.0484251968504,&quot;left&quot;:-0.85,&quot;top&quot;:127.6015748031496,&quot;width&quot;:564.4047244094488}"/>
</p:tagLst>
</file>

<file path=ppt/tags/tag229.xml><?xml version="1.0" encoding="utf-8"?>
<p:tagLst xmlns:p="http://schemas.openxmlformats.org/presentationml/2006/main">
  <p:tag name="KSO_WM_DIAGRAM_VIRTUALLY_FRAME" val="{&quot;height&quot;:414.0484251968504,&quot;left&quot;:-0.85,&quot;top&quot;:127.6015748031496,&quot;width&quot;:564.4047244094488}"/>
</p:tagLst>
</file>

<file path=ppt/tags/tag230.xml><?xml version="1.0" encoding="utf-8"?>
<p:tagLst xmlns:p="http://schemas.openxmlformats.org/presentationml/2006/main">
  <p:tag name="KSO_WM_DIAGRAM_VIRTUALLY_FRAME" val="{&quot;height&quot;:414.0484251968504,&quot;left&quot;:-0.85,&quot;top&quot;:127.6015748031496,&quot;width&quot;:564.4047244094488}"/>
</p:tagLst>
</file>

<file path=ppt/tags/tag231.xml><?xml version="1.0" encoding="utf-8"?>
<p:tagLst xmlns:p="http://schemas.openxmlformats.org/presentationml/2006/main">
  <p:tag name="KSO_WM_DIAGRAM_VIRTUALLY_FRAME" val="{&quot;height&quot;:414.0484251968504,&quot;left&quot;:-0.85,&quot;top&quot;:127.6015748031496,&quot;width&quot;:564.4047244094488}"/>
</p:tagLst>
</file>

<file path=ppt/tags/tag232.xml><?xml version="1.0" encoding="utf-8"?>
<p:tagLst xmlns:p="http://schemas.openxmlformats.org/presentationml/2006/main">
  <p:tag name="KSO_WM_DIAGRAM_VIRTUALLY_FRAME" val="{&quot;height&quot;:414.0484251968504,&quot;left&quot;:-0.85,&quot;top&quot;:127.6015748031496,&quot;width&quot;:564.4047244094488}"/>
</p:tagLst>
</file>

<file path=ppt/tags/tag233.xml><?xml version="1.0" encoding="utf-8"?>
<p:tagLst xmlns:p="http://schemas.openxmlformats.org/presentationml/2006/main">
  <p:tag name="KSO_WM_DIAGRAM_VIRTUALLY_FRAME" val="{&quot;height&quot;:414.0484251968504,&quot;left&quot;:-0.85,&quot;top&quot;:127.6015748031496,&quot;width&quot;:564.4047244094488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B0F0"/>
      </a:accent1>
      <a:accent2>
        <a:srgbClr val="92D050"/>
      </a:accent2>
      <a:accent3>
        <a:srgbClr val="FFFF00"/>
      </a:accent3>
      <a:accent4>
        <a:srgbClr val="FFC000"/>
      </a:accent4>
      <a:accent5>
        <a:srgbClr val="7030A0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B0F0"/>
      </a:accent1>
      <a:accent2>
        <a:srgbClr val="92D050"/>
      </a:accent2>
      <a:accent3>
        <a:srgbClr val="FFFF00"/>
      </a:accent3>
      <a:accent4>
        <a:srgbClr val="FFC000"/>
      </a:accent4>
      <a:accent5>
        <a:srgbClr val="7030A0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6630</Words>
  <Application>WPS 演示</Application>
  <PresentationFormat>On-screen Show (16:9)</PresentationFormat>
  <Paragraphs>562</Paragraphs>
  <Slides>35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67" baseType="lpstr">
      <vt:lpstr>Arial</vt:lpstr>
      <vt:lpstr>宋体</vt:lpstr>
      <vt:lpstr>Wingdings</vt:lpstr>
      <vt:lpstr>Eras Bold ITC</vt:lpstr>
      <vt:lpstr>Microsoft Sans Serif</vt:lpstr>
      <vt:lpstr>微软雅黑</vt:lpstr>
      <vt:lpstr>方正姚体</vt:lpstr>
      <vt:lpstr>Inter</vt:lpstr>
      <vt:lpstr>PMingLiU-ExtB</vt:lpstr>
      <vt:lpstr>Microsoft Sans Serif</vt:lpstr>
      <vt:lpstr>Microsoft Sans Serif</vt:lpstr>
      <vt:lpstr>华文新魏</vt:lpstr>
      <vt:lpstr>Petrona Bold</vt:lpstr>
      <vt:lpstr>Petrona Bold</vt:lpstr>
      <vt:lpstr>Segoe Print</vt:lpstr>
      <vt:lpstr>Petrona Bold</vt:lpstr>
      <vt:lpstr>Syne</vt:lpstr>
      <vt:lpstr>Syne</vt:lpstr>
      <vt:lpstr>Syne</vt:lpstr>
      <vt:lpstr>Consolas</vt:lpstr>
      <vt:lpstr>Consolas</vt:lpstr>
      <vt:lpstr>Consolas</vt:lpstr>
      <vt:lpstr>Syne Extra Bold</vt:lpstr>
      <vt:lpstr>Syne Extra Bold</vt:lpstr>
      <vt:lpstr>Syne Extra Bold</vt:lpstr>
      <vt:lpstr>Calibri</vt:lpstr>
      <vt:lpstr>Arial Unicode MS</vt:lpstr>
      <vt:lpstr>等线</vt:lpstr>
      <vt:lpstr>MingLiU-ExtB</vt:lpstr>
      <vt:lpstr>Wingdings</vt:lpstr>
      <vt:lpstr>汉仪雅酷黑简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ExCourt易场地：校园资源流转的数据库实践</dc:title>
  <dc:creator>Kimi</dc:creator>
  <dc:subject>ExCourt易场地：校园资源流转的数据库实践</dc:subject>
  <cp:lastModifiedBy>JL</cp:lastModifiedBy>
  <cp:revision>9</cp:revision>
  <dcterms:created xsi:type="dcterms:W3CDTF">2025-12-23T06:43:00Z</dcterms:created>
  <dcterms:modified xsi:type="dcterms:W3CDTF">2026-01-03T14:31:20Z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xCourt易场地：校园资源流转的数据库实践","ContentProducer":"001191110108MACG2KBH8F10000","ProduceID":"19b49f0b-c612-80f6-8000-0000d22503de","ReservedCode1":"","ContentPropagator":"001191110108MACG2KBH8F20000","PropagateID":"19b49f0b-c612-80f6-8000-0000d22503de","ReservedCode2":""}</vt:lpwstr>
  </property>
  <property fmtid="{D5CDD505-2E9C-101B-9397-08002B2CF9AE}" pid="3" name="ICV">
    <vt:lpwstr>518F8A93544143968CFE956CF3D4E669_13</vt:lpwstr>
  </property>
  <property fmtid="{D5CDD505-2E9C-101B-9397-08002B2CF9AE}" pid="4" name="KSOProductBuildVer">
    <vt:lpwstr>2052-12.1.0.24034</vt:lpwstr>
  </property>
</Properties>
</file>