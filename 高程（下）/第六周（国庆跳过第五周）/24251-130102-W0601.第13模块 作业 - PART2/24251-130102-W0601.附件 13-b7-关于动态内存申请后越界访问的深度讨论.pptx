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664" r:id="rId3"/>
    <p:sldId id="1273" r:id="rId4"/>
    <p:sldId id="1278" r:id="rId5"/>
    <p:sldId id="1286" r:id="rId6"/>
    <p:sldId id="1268" r:id="rId7"/>
    <p:sldId id="1287" r:id="rId8"/>
    <p:sldId id="1289" r:id="rId9"/>
    <p:sldId id="1290" r:id="rId10"/>
    <p:sldId id="1270" r:id="rId11"/>
    <p:sldId id="1293" r:id="rId12"/>
    <p:sldId id="1291" r:id="rId13"/>
    <p:sldId id="1295" r:id="rId14"/>
    <p:sldId id="1313" r:id="rId15"/>
    <p:sldId id="1297" r:id="rId16"/>
    <p:sldId id="1298" r:id="rId17"/>
    <p:sldId id="1301" r:id="rId18"/>
    <p:sldId id="1300" r:id="rId19"/>
    <p:sldId id="1312" r:id="rId20"/>
    <p:sldId id="1306" r:id="rId21"/>
    <p:sldId id="1307" r:id="rId22"/>
    <p:sldId id="1308" r:id="rId23"/>
    <p:sldId id="1309" r:id="rId24"/>
    <p:sldId id="1311" r:id="rId25"/>
    <p:sldId id="1271" r:id="rId26"/>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gs" Target="tags/tag13.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notesMaster" Target="notesMasters/notesMaster1.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F4E512-F0DE-40DA-A281-500184A3244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490452-1689-4497-A9A0-B842EEA687A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86D9F12-298F-4BA9-885E-BCD438E8F58B}"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6FC42DF3-6CE2-4BE7-9CDC-EAAC6AF6F41D}"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233B832-CABD-439C-B200-DDE8714B0B30}"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90DC15D7-5788-41E7-9CAD-BCD4FE0C0C0E}"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D729E1C2-8757-4943-BB0D-44D6A40AC3CE}"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9D2EE0AD-AA26-4B0C-B2A5-065307B6925D}"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81B4B751-1B33-4FAC-96B1-4F4734F155A3}"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6CFADDAC-226E-4E74-A9C7-8EDB750CC128}"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860F1364-7677-4F0D-B113-A10E8B7764FE}"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5AEEE96-D9F8-4AA5-9180-644B18AD3123}"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609600"/>
            <a:ext cx="2590800" cy="54864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914400" y="609600"/>
            <a:ext cx="7569200" cy="54864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B7B05AA-070D-443F-9B69-C3D4A9E3ABFE}"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Rectangle 4"/>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endParaRPr lang="en-US" altLang="zh-CN"/>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ltLang="zh-CN"/>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43E456CB-F1D9-4742-BD7D-0EF249B6CED9}" type="slidenum">
              <a:rPr lang="en-US" altLang="zh-CN"/>
            </a:fld>
            <a:endParaRPr lang="en-US" altLang="zh-CN"/>
          </a:p>
        </p:txBody>
      </p:sp>
      <p:pic>
        <p:nvPicPr>
          <p:cNvPr id="7" name="Picture 2"/>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10762268" y="5786"/>
            <a:ext cx="1183064" cy="1183064"/>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anose="02020603050405020304" charset="0"/>
          <a:ea typeface="宋体" panose="02010600030101010101" pitchFamily="2" charset="-122"/>
        </a:defRPr>
      </a:lvl2pPr>
      <a:lvl3pPr algn="ctr" rtl="0" fontAlgn="base">
        <a:spcBef>
          <a:spcPct val="0"/>
        </a:spcBef>
        <a:spcAft>
          <a:spcPct val="0"/>
        </a:spcAft>
        <a:defRPr kumimoji="1" sz="4400">
          <a:solidFill>
            <a:schemeClr val="tx2"/>
          </a:solidFill>
          <a:latin typeface="Times New Roman" panose="02020603050405020304" charset="0"/>
          <a:ea typeface="宋体" panose="02010600030101010101" pitchFamily="2" charset="-122"/>
        </a:defRPr>
      </a:lvl3pPr>
      <a:lvl4pPr algn="ctr" rtl="0" fontAlgn="base">
        <a:spcBef>
          <a:spcPct val="0"/>
        </a:spcBef>
        <a:spcAft>
          <a:spcPct val="0"/>
        </a:spcAft>
        <a:defRPr kumimoji="1" sz="4400">
          <a:solidFill>
            <a:schemeClr val="tx2"/>
          </a:solidFill>
          <a:latin typeface="Times New Roman" panose="02020603050405020304" charset="0"/>
          <a:ea typeface="宋体" panose="02010600030101010101" pitchFamily="2" charset="-122"/>
        </a:defRPr>
      </a:lvl4pPr>
      <a:lvl5pPr algn="ctr" rtl="0" fontAlgn="base">
        <a:spcBef>
          <a:spcPct val="0"/>
        </a:spcBef>
        <a:spcAft>
          <a:spcPct val="0"/>
        </a:spcAft>
        <a:defRPr kumimoji="1" sz="4400">
          <a:solidFill>
            <a:schemeClr val="tx2"/>
          </a:solidFill>
          <a:latin typeface="Times New Roman" panose="02020603050405020304"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charset="0"/>
          <a:ea typeface="宋体" panose="02010600030101010101" pitchFamily="2" charset="-122"/>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5.png"/><Relationship Id="rId7" Type="http://schemas.openxmlformats.org/officeDocument/2006/relationships/image" Target="../media/image24.png"/><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tags" Target="../tags/tag8.xml"/><Relationship Id="rId1" Type="http://schemas.openxmlformats.org/officeDocument/2006/relationships/tags" Target="../tags/tag7.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subTitle" idx="1"/>
          </p:nvPr>
        </p:nvSpPr>
        <p:spPr>
          <a:xfrm>
            <a:off x="180086" y="162560"/>
            <a:ext cx="11880850" cy="6480810"/>
          </a:xfrm>
        </p:spPr>
        <p:txBody>
          <a:bodyPr/>
          <a:lstStyle/>
          <a:p>
            <a:r>
              <a:rPr lang="en-US" altLang="zh-CN" sz="2800" b="1" dirty="0">
                <a:latin typeface="+mn-ea"/>
              </a:rPr>
              <a:t>§.</a:t>
            </a:r>
            <a:r>
              <a:rPr lang="zh-CN" altLang="en-US" sz="2800" b="1" dirty="0">
                <a:latin typeface="+mn-ea"/>
              </a:rPr>
              <a:t>关于动态内存申请后越界访问的深度讨论</a:t>
            </a:r>
            <a:endParaRPr lang="zh-CN" altLang="en-US" sz="2800" b="1" dirty="0">
              <a:latin typeface="+mn-ea"/>
            </a:endParaRPr>
          </a:p>
          <a:p>
            <a:pPr algn="l"/>
            <a:r>
              <a:rPr lang="en-US" altLang="zh-CN" sz="1600" b="1" dirty="0">
                <a:latin typeface="+mn-ea"/>
              </a:rPr>
              <a:t>★ </a:t>
            </a:r>
            <a:r>
              <a:rPr lang="zh-CN" altLang="en-US" sz="1600" b="1" dirty="0">
                <a:latin typeface="+mn-ea"/>
              </a:rPr>
              <a:t>如何判断动态申请越界（</a:t>
            </a:r>
            <a:r>
              <a:rPr lang="en-US" altLang="zh-CN" sz="1600" b="1" dirty="0">
                <a:latin typeface="+mn-ea"/>
              </a:rPr>
              <a:t>C</a:t>
            </a:r>
            <a:r>
              <a:rPr lang="zh-CN" altLang="en-US" sz="1600" b="1" dirty="0">
                <a:latin typeface="+mn-ea"/>
              </a:rPr>
              <a:t>方式，</a:t>
            </a:r>
            <a:r>
              <a:rPr lang="zh-CN" altLang="en-US" sz="1600" b="1" dirty="0">
                <a:solidFill>
                  <a:srgbClr val="FF0000"/>
                </a:solidFill>
                <a:latin typeface="+mn-ea"/>
              </a:rPr>
              <a:t>注意源程序后缀为</a:t>
            </a:r>
            <a:r>
              <a:rPr lang="en-US" altLang="zh-CN" sz="1600" b="1" dirty="0">
                <a:solidFill>
                  <a:srgbClr val="FF0000"/>
                </a:solidFill>
                <a:latin typeface="+mn-ea"/>
              </a:rPr>
              <a:t>.c</a:t>
            </a:r>
            <a:r>
              <a:rPr lang="zh-CN" altLang="en-US" sz="1600" b="1" dirty="0">
                <a:latin typeface="+mn-ea"/>
              </a:rPr>
              <a:t>）</a:t>
            </a:r>
            <a:endParaRPr lang="zh-CN" altLang="en-US" sz="1600" b="1" dirty="0">
              <a:latin typeface="+mn-ea"/>
            </a:endParaRPr>
          </a:p>
        </p:txBody>
      </p:sp>
      <p:sp>
        <p:nvSpPr>
          <p:cNvPr id="5" name="矩形 4"/>
          <p:cNvSpPr/>
          <p:nvPr/>
        </p:nvSpPr>
        <p:spPr bwMode="auto">
          <a:xfrm>
            <a:off x="484719" y="980728"/>
            <a:ext cx="10461703" cy="572487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#define _CRT_SECURE_NO_WARNINGS</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#include &lt;</a:t>
            </a:r>
            <a:r>
              <a:rPr kumimoji="1" lang="en-US" altLang="zh-CN" sz="1600" b="1" dirty="0" err="1">
                <a:solidFill>
                  <a:srgbClr val="000000"/>
                </a:solidFill>
                <a:latin typeface="宋体" panose="02010600030101010101" pitchFamily="2" charset="-122"/>
                <a:ea typeface="宋体" panose="02010600030101010101" pitchFamily="2" charset="-122"/>
              </a:rPr>
              <a:t>stdio.h</a:t>
            </a:r>
            <a:r>
              <a:rPr kumimoji="1" lang="en-US" altLang="zh-CN" sz="1600" b="1" dirty="0">
                <a:solidFill>
                  <a:srgbClr val="000000"/>
                </a:solidFill>
                <a:latin typeface="宋体" panose="02010600030101010101" pitchFamily="2" charset="-122"/>
                <a:ea typeface="宋体" panose="02010600030101010101" pitchFamily="2" charset="-122"/>
              </a:rPr>
              <a:t>&gt;</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#include &lt;</a:t>
            </a:r>
            <a:r>
              <a:rPr kumimoji="1" lang="en-US" altLang="zh-CN" sz="1600" b="1" dirty="0" err="1">
                <a:solidFill>
                  <a:srgbClr val="000000"/>
                </a:solidFill>
                <a:latin typeface="宋体" panose="02010600030101010101" pitchFamily="2" charset="-122"/>
                <a:ea typeface="宋体" panose="02010600030101010101" pitchFamily="2" charset="-122"/>
              </a:rPr>
              <a:t>stdlib.h</a:t>
            </a:r>
            <a:r>
              <a:rPr kumimoji="1" lang="en-US" altLang="zh-CN" sz="1600" b="1" dirty="0">
                <a:solidFill>
                  <a:srgbClr val="000000"/>
                </a:solidFill>
                <a:latin typeface="宋体" panose="02010600030101010101" pitchFamily="2" charset="-122"/>
                <a:ea typeface="宋体" panose="02010600030101010101" pitchFamily="2" charset="-122"/>
              </a:rPr>
              <a:t>&gt;</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#include &lt;</a:t>
            </a:r>
            <a:r>
              <a:rPr kumimoji="1" lang="en-US" altLang="zh-CN" sz="1600" b="1" dirty="0" err="1">
                <a:solidFill>
                  <a:srgbClr val="000000"/>
                </a:solidFill>
                <a:latin typeface="宋体" panose="02010600030101010101" pitchFamily="2" charset="-122"/>
                <a:ea typeface="宋体" panose="02010600030101010101" pitchFamily="2" charset="-122"/>
              </a:rPr>
              <a:t>string.h</a:t>
            </a:r>
            <a:r>
              <a:rPr kumimoji="1" lang="en-US" altLang="zh-CN" sz="1600" b="1" dirty="0">
                <a:solidFill>
                  <a:srgbClr val="000000"/>
                </a:solidFill>
                <a:latin typeface="宋体" panose="02010600030101010101" pitchFamily="2" charset="-122"/>
                <a:ea typeface="宋体" panose="02010600030101010101" pitchFamily="2" charset="-122"/>
              </a:rPr>
              <a:t>&gt;</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int main()</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    char *p;</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    p = (char *)malloc(10 * </a:t>
            </a:r>
            <a:r>
              <a:rPr kumimoji="1" lang="en-US" altLang="zh-CN" sz="1600" b="1" dirty="0" err="1">
                <a:solidFill>
                  <a:srgbClr val="000000"/>
                </a:solidFill>
                <a:latin typeface="宋体" panose="02010600030101010101" pitchFamily="2" charset="-122"/>
                <a:ea typeface="宋体" panose="02010600030101010101" pitchFamily="2" charset="-122"/>
              </a:rPr>
              <a:t>sizeof</a:t>
            </a:r>
            <a:r>
              <a:rPr kumimoji="1" lang="en-US" altLang="zh-CN" sz="1600" b="1" dirty="0">
                <a:solidFill>
                  <a:srgbClr val="000000"/>
                </a:solidFill>
                <a:latin typeface="宋体" panose="02010600030101010101" pitchFamily="2" charset="-122"/>
                <a:ea typeface="宋体" panose="02010600030101010101" pitchFamily="2" charset="-122"/>
              </a:rPr>
              <a:t>(char));</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    if (p == NULL)</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        return -1;</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    </a:t>
            </a:r>
            <a:r>
              <a:rPr kumimoji="1" lang="en-US" altLang="zh-CN" sz="1600" b="1" dirty="0" err="1">
                <a:solidFill>
                  <a:srgbClr val="000000"/>
                </a:solidFill>
                <a:latin typeface="宋体" panose="02010600030101010101" pitchFamily="2" charset="-122"/>
                <a:ea typeface="宋体" panose="02010600030101010101" pitchFamily="2" charset="-122"/>
              </a:rPr>
              <a:t>strcpy</a:t>
            </a:r>
            <a:r>
              <a:rPr kumimoji="1" lang="en-US" altLang="zh-CN" sz="1600" b="1" dirty="0">
                <a:solidFill>
                  <a:srgbClr val="000000"/>
                </a:solidFill>
                <a:latin typeface="宋体" panose="02010600030101010101" pitchFamily="2" charset="-122"/>
                <a:ea typeface="宋体" panose="02010600030101010101" pitchFamily="2" charset="-122"/>
              </a:rPr>
              <a:t>(p, "123456789");</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FF0000"/>
                </a:solidFill>
                <a:latin typeface="宋体" panose="02010600030101010101" pitchFamily="2" charset="-122"/>
                <a:ea typeface="宋体" panose="02010600030101010101" pitchFamily="2" charset="-122"/>
              </a:rPr>
              <a:t>①  p[10] = 'a';    //</a:t>
            </a:r>
            <a:r>
              <a:rPr kumimoji="1" lang="zh-CN" altLang="en-US" sz="1600" b="1" dirty="0">
                <a:solidFill>
                  <a:srgbClr val="FF0000"/>
                </a:solidFill>
                <a:latin typeface="宋体" panose="02010600030101010101" pitchFamily="2" charset="-122"/>
                <a:ea typeface="宋体" panose="02010600030101010101" pitchFamily="2" charset="-122"/>
              </a:rPr>
              <a:t>此句越界</a:t>
            </a:r>
            <a:endParaRPr kumimoji="1" lang="en-US" altLang="zh-CN" sz="1600" b="1" dirty="0">
              <a:solidFill>
                <a:srgbClr val="FF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    p[14] = 'A';    //</a:t>
            </a:r>
            <a:r>
              <a:rPr kumimoji="1" lang="zh-CN" altLang="en-US" sz="1600" b="1" dirty="0">
                <a:solidFill>
                  <a:srgbClr val="000000"/>
                </a:solidFill>
                <a:latin typeface="宋体" panose="02010600030101010101" pitchFamily="2" charset="-122"/>
                <a:ea typeface="宋体" panose="02010600030101010101" pitchFamily="2" charset="-122"/>
              </a:rPr>
              <a:t>此句越界</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    p[15] = 'B';    //</a:t>
            </a:r>
            <a:r>
              <a:rPr kumimoji="1" lang="zh-CN" altLang="en-US" sz="1600" b="1" dirty="0">
                <a:solidFill>
                  <a:srgbClr val="000000"/>
                </a:solidFill>
                <a:latin typeface="宋体" panose="02010600030101010101" pitchFamily="2" charset="-122"/>
                <a:ea typeface="宋体" panose="02010600030101010101" pitchFamily="2" charset="-122"/>
              </a:rPr>
              <a:t>此句越界</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FF0000"/>
                </a:solidFill>
                <a:latin typeface="宋体" panose="02010600030101010101" pitchFamily="2" charset="-122"/>
                <a:ea typeface="宋体" panose="02010600030101010101" pitchFamily="2" charset="-122"/>
              </a:rPr>
              <a:t>②  p[10] = '\</a:t>
            </a:r>
            <a:r>
              <a:rPr kumimoji="1" lang="en-US" altLang="zh-CN" sz="1600" b="1" dirty="0" err="1">
                <a:solidFill>
                  <a:srgbClr val="FF0000"/>
                </a:solidFill>
                <a:latin typeface="宋体" panose="02010600030101010101" pitchFamily="2" charset="-122"/>
                <a:ea typeface="宋体" panose="02010600030101010101" pitchFamily="2" charset="-122"/>
              </a:rPr>
              <a:t>xfd</a:t>
            </a:r>
            <a:r>
              <a:rPr kumimoji="1" lang="en-US" altLang="zh-CN" sz="1600" b="1" dirty="0">
                <a:solidFill>
                  <a:srgbClr val="FF0000"/>
                </a:solidFill>
                <a:latin typeface="宋体" panose="02010600030101010101" pitchFamily="2" charset="-122"/>
                <a:ea typeface="宋体" panose="02010600030101010101" pitchFamily="2" charset="-122"/>
              </a:rPr>
              <a:t>'; //</a:t>
            </a:r>
            <a:r>
              <a:rPr kumimoji="1" lang="zh-CN" altLang="en-US" sz="1600" b="1" dirty="0">
                <a:solidFill>
                  <a:srgbClr val="FF0000"/>
                </a:solidFill>
                <a:latin typeface="宋体" panose="02010600030101010101" pitchFamily="2" charset="-122"/>
                <a:ea typeface="宋体" panose="02010600030101010101" pitchFamily="2" charset="-122"/>
              </a:rPr>
              <a:t>此句越界</a:t>
            </a:r>
            <a:endParaRPr kumimoji="1" lang="en-US" altLang="zh-CN" sz="1600" b="1" dirty="0">
              <a:solidFill>
                <a:srgbClr val="FF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    </a:t>
            </a:r>
            <a:r>
              <a:rPr kumimoji="1" lang="en-US" altLang="zh-CN" sz="1600" b="1" dirty="0" err="1">
                <a:solidFill>
                  <a:srgbClr val="000000"/>
                </a:solidFill>
                <a:latin typeface="宋体" panose="02010600030101010101" pitchFamily="2" charset="-122"/>
                <a:ea typeface="宋体" panose="02010600030101010101" pitchFamily="2" charset="-122"/>
              </a:rPr>
              <a:t>printf</a:t>
            </a:r>
            <a:r>
              <a:rPr kumimoji="1" lang="en-US" altLang="zh-CN" sz="1600" b="1" dirty="0">
                <a:solidFill>
                  <a:srgbClr val="000000"/>
                </a:solidFill>
                <a:latin typeface="宋体" panose="02010600030101010101" pitchFamily="2" charset="-122"/>
                <a:ea typeface="宋体" panose="02010600030101010101" pitchFamily="2" charset="-122"/>
              </a:rPr>
              <a:t>("</a:t>
            </a:r>
            <a:r>
              <a:rPr kumimoji="1" lang="en-US" altLang="zh-CN" sz="1600" b="1" dirty="0" err="1">
                <a:solidFill>
                  <a:srgbClr val="000000"/>
                </a:solidFill>
                <a:latin typeface="宋体" panose="02010600030101010101" pitchFamily="2" charset="-122"/>
                <a:ea typeface="宋体" panose="02010600030101010101" pitchFamily="2" charset="-122"/>
              </a:rPr>
              <a:t>addr</a:t>
            </a:r>
            <a:r>
              <a:rPr kumimoji="1" lang="en-US" altLang="zh-CN" sz="1600" b="1" dirty="0">
                <a:solidFill>
                  <a:srgbClr val="000000"/>
                </a:solidFill>
                <a:latin typeface="宋体" panose="02010600030101010101" pitchFamily="2" charset="-122"/>
                <a:ea typeface="宋体" panose="02010600030101010101" pitchFamily="2" charset="-122"/>
              </a:rPr>
              <a:t>:%p\n", p);</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nn-NO" altLang="zh-CN" sz="1600" b="1" dirty="0">
                <a:solidFill>
                  <a:srgbClr val="000000"/>
                </a:solidFill>
                <a:latin typeface="宋体" panose="02010600030101010101" pitchFamily="2" charset="-122"/>
                <a:ea typeface="宋体" panose="02010600030101010101" pitchFamily="2" charset="-122"/>
              </a:rPr>
              <a:t>    for (int i = </a:t>
            </a:r>
            <a:r>
              <a:rPr kumimoji="1" lang="en-US" altLang="zh-CN" sz="1600" b="1" dirty="0">
                <a:solidFill>
                  <a:srgbClr val="000000"/>
                </a:solidFill>
                <a:latin typeface="宋体" panose="02010600030101010101" pitchFamily="2" charset="-122"/>
                <a:ea typeface="宋体" panose="02010600030101010101" pitchFamily="2" charset="-122"/>
              </a:rPr>
              <a:t>-4</a:t>
            </a:r>
            <a:r>
              <a:rPr kumimoji="1" lang="nn-NO" altLang="zh-CN" sz="1600" b="1" dirty="0">
                <a:solidFill>
                  <a:srgbClr val="000000"/>
                </a:solidFill>
                <a:latin typeface="宋体" panose="02010600030101010101" pitchFamily="2" charset="-122"/>
                <a:ea typeface="宋体" panose="02010600030101010101" pitchFamily="2" charset="-122"/>
              </a:rPr>
              <a:t>; i &lt; 16; i++) //</a:t>
            </a:r>
            <a:r>
              <a:rPr kumimoji="1" lang="zh-CN" altLang="en-US" sz="1600" b="1" dirty="0">
                <a:solidFill>
                  <a:srgbClr val="000000"/>
                </a:solidFill>
                <a:latin typeface="宋体" panose="02010600030101010101" pitchFamily="2" charset="-122"/>
                <a:ea typeface="宋体" panose="02010600030101010101" pitchFamily="2" charset="-122"/>
              </a:rPr>
              <a:t>注意，只有</a:t>
            </a:r>
            <a:r>
              <a:rPr kumimoji="1" lang="en-US" altLang="zh-CN" sz="1600" b="1" dirty="0">
                <a:solidFill>
                  <a:srgbClr val="000000"/>
                </a:solidFill>
                <a:latin typeface="宋体" panose="02010600030101010101" pitchFamily="2" charset="-122"/>
                <a:ea typeface="宋体" panose="02010600030101010101" pitchFamily="2" charset="-122"/>
              </a:rPr>
              <a:t>0-9</a:t>
            </a:r>
            <a:r>
              <a:rPr kumimoji="1" lang="zh-CN" altLang="en-US" sz="1600" b="1" dirty="0">
                <a:solidFill>
                  <a:srgbClr val="000000"/>
                </a:solidFill>
                <a:latin typeface="宋体" panose="02010600030101010101" pitchFamily="2" charset="-122"/>
                <a:ea typeface="宋体" panose="02010600030101010101" pitchFamily="2" charset="-122"/>
              </a:rPr>
              <a:t>是合理范围，其余都是</a:t>
            </a:r>
            <a:r>
              <a:rPr kumimoji="1" lang="zh-CN" altLang="en-US" sz="1600" b="1" dirty="0">
                <a:solidFill>
                  <a:srgbClr val="FF0000"/>
                </a:solidFill>
                <a:latin typeface="宋体" panose="02010600030101010101" pitchFamily="2" charset="-122"/>
                <a:ea typeface="宋体" panose="02010600030101010101" pitchFamily="2" charset="-122"/>
              </a:rPr>
              <a:t>越界读</a:t>
            </a:r>
            <a:endParaRPr kumimoji="1" lang="nn-NO" altLang="zh-CN" sz="1600" b="1" dirty="0">
              <a:solidFill>
                <a:srgbClr val="FF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        </a:t>
            </a:r>
            <a:r>
              <a:rPr kumimoji="1" lang="en-US" altLang="zh-CN" sz="1600" b="1" dirty="0" err="1">
                <a:solidFill>
                  <a:srgbClr val="000000"/>
                </a:solidFill>
                <a:latin typeface="宋体" panose="02010600030101010101" pitchFamily="2" charset="-122"/>
                <a:ea typeface="宋体" panose="02010600030101010101" pitchFamily="2" charset="-122"/>
              </a:rPr>
              <a:t>printf</a:t>
            </a:r>
            <a:r>
              <a:rPr kumimoji="1" lang="en-US" altLang="zh-CN" sz="1600" b="1" dirty="0">
                <a:solidFill>
                  <a:srgbClr val="000000"/>
                </a:solidFill>
                <a:latin typeface="宋体" panose="02010600030101010101" pitchFamily="2" charset="-122"/>
                <a:ea typeface="宋体" panose="02010600030101010101" pitchFamily="2" charset="-122"/>
              </a:rPr>
              <a:t>("%p:%02x\n", (</a:t>
            </a:r>
            <a:r>
              <a:rPr kumimoji="1" lang="en-US" altLang="zh-CN" sz="1600" b="1" dirty="0" err="1">
                <a:solidFill>
                  <a:srgbClr val="000000"/>
                </a:solidFill>
                <a:latin typeface="宋体" panose="02010600030101010101" pitchFamily="2" charset="-122"/>
                <a:ea typeface="宋体" panose="02010600030101010101" pitchFamily="2" charset="-122"/>
              </a:rPr>
              <a:t>p+i</a:t>
            </a:r>
            <a:r>
              <a:rPr kumimoji="1" lang="en-US" altLang="zh-CN" sz="1600" b="1" dirty="0">
                <a:solidFill>
                  <a:srgbClr val="000000"/>
                </a:solidFill>
                <a:latin typeface="宋体" panose="02010600030101010101" pitchFamily="2" charset="-122"/>
                <a:ea typeface="宋体" panose="02010600030101010101" pitchFamily="2" charset="-122"/>
              </a:rPr>
              <a:t>), p[</a:t>
            </a:r>
            <a:r>
              <a:rPr kumimoji="1" lang="en-US" altLang="zh-CN" sz="1600" b="1" dirty="0" err="1">
                <a:solidFill>
                  <a:srgbClr val="000000"/>
                </a:solidFill>
                <a:latin typeface="宋体" panose="02010600030101010101" pitchFamily="2" charset="-122"/>
                <a:ea typeface="宋体" panose="02010600030101010101" pitchFamily="2" charset="-122"/>
              </a:rPr>
              <a:t>i</a:t>
            </a:r>
            <a:r>
              <a:rPr kumimoji="1" lang="en-US" altLang="zh-CN" sz="1600" b="1" dirty="0">
                <a:solidFill>
                  <a:srgbClr val="000000"/>
                </a:solidFill>
                <a:latin typeface="宋体" panose="02010600030101010101" pitchFamily="2" charset="-122"/>
                <a:ea typeface="宋体" panose="02010600030101010101" pitchFamily="2" charset="-122"/>
              </a:rPr>
              <a:t>]);</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FF0000"/>
                </a:solidFill>
                <a:latin typeface="宋体" panose="02010600030101010101" pitchFamily="2" charset="-122"/>
                <a:ea typeface="宋体" panose="02010600030101010101" pitchFamily="2" charset="-122"/>
              </a:rPr>
              <a:t>③  free(p);</a:t>
            </a:r>
            <a:endParaRPr kumimoji="1" lang="en-US" altLang="zh-CN" sz="1600" b="1" dirty="0">
              <a:solidFill>
                <a:srgbClr val="FF0000"/>
              </a:solidFill>
              <a:latin typeface="宋体" panose="02010600030101010101" pitchFamily="2" charset="-122"/>
              <a:ea typeface="宋体" panose="02010600030101010101" pitchFamily="2" charset="-122"/>
            </a:endParaRPr>
          </a:p>
          <a:p>
            <a:pPr fontAlgn="base">
              <a:spcBef>
                <a:spcPct val="0"/>
              </a:spcBef>
              <a:spcAft>
                <a:spcPct val="0"/>
              </a:spcAft>
            </a:pP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    return 0;</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a:t>
            </a:r>
            <a:endParaRPr kumimoji="1" lang="zh-CN" altLang="en-US" sz="1600" b="1" dirty="0">
              <a:solidFill>
                <a:srgbClr val="000000"/>
              </a:solidFill>
              <a:latin typeface="宋体" panose="02010600030101010101" pitchFamily="2" charset="-122"/>
              <a:ea typeface="宋体" panose="02010600030101010101" pitchFamily="2" charset="-122"/>
            </a:endParaRPr>
          </a:p>
        </p:txBody>
      </p:sp>
      <p:sp>
        <p:nvSpPr>
          <p:cNvPr id="7" name="矩形 6"/>
          <p:cNvSpPr/>
          <p:nvPr/>
        </p:nvSpPr>
        <p:spPr bwMode="auto">
          <a:xfrm>
            <a:off x="7202006" y="980727"/>
            <a:ext cx="3744416" cy="4030888"/>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r>
              <a:rPr kumimoji="1" lang="zh-CN" altLang="en-US" sz="1600" b="1" dirty="0">
                <a:solidFill>
                  <a:srgbClr val="FF0000"/>
                </a:solidFill>
                <a:latin typeface="+mn-ea"/>
              </a:rPr>
              <a:t>在</a:t>
            </a:r>
            <a:r>
              <a:rPr kumimoji="1" lang="en-US" altLang="zh-CN" sz="1600" b="1" dirty="0">
                <a:solidFill>
                  <a:srgbClr val="FF0000"/>
                </a:solidFill>
                <a:latin typeface="+mn-ea"/>
              </a:rPr>
              <a:t>VS2022</a:t>
            </a:r>
            <a:r>
              <a:rPr kumimoji="1" lang="zh-CN" altLang="en-US" sz="1600" b="1" dirty="0">
                <a:solidFill>
                  <a:srgbClr val="FF0000"/>
                </a:solidFill>
                <a:latin typeface="+mn-ea"/>
              </a:rPr>
              <a:t>的</a:t>
            </a:r>
            <a:r>
              <a:rPr kumimoji="1" lang="en-US" altLang="zh-CN" sz="1600" b="1" dirty="0">
                <a:solidFill>
                  <a:srgbClr val="FF0000"/>
                </a:solidFill>
                <a:latin typeface="+mn-ea"/>
              </a:rPr>
              <a:t>x86/Debug</a:t>
            </a:r>
            <a:r>
              <a:rPr kumimoji="1" lang="zh-CN" altLang="en-US" sz="1600" b="1" dirty="0">
                <a:solidFill>
                  <a:srgbClr val="FF0000"/>
                </a:solidFill>
                <a:latin typeface="+mn-ea"/>
              </a:rPr>
              <a:t>模式下运行：</a:t>
            </a:r>
            <a:endParaRPr kumimoji="1" lang="en-US" altLang="zh-CN" sz="1600" b="1" dirty="0">
              <a:solidFill>
                <a:srgbClr val="FF0000"/>
              </a:solidFill>
              <a:latin typeface="+mn-ea"/>
            </a:endParaRPr>
          </a:p>
          <a:p>
            <a:pPr fontAlgn="base">
              <a:spcBef>
                <a:spcPct val="0"/>
              </a:spcBef>
              <a:spcAft>
                <a:spcPct val="0"/>
              </a:spcAft>
            </a:pPr>
            <a:r>
              <a:rPr kumimoji="1" lang="en-US" altLang="zh-CN" sz="1600" b="1" dirty="0">
                <a:solidFill>
                  <a:srgbClr val="FF0000"/>
                </a:solidFill>
                <a:latin typeface="+mn-ea"/>
              </a:rPr>
              <a:t>1</a:t>
            </a:r>
            <a:r>
              <a:rPr kumimoji="1" lang="zh-CN" altLang="en-US" sz="1600" b="1" dirty="0">
                <a:solidFill>
                  <a:srgbClr val="FF0000"/>
                </a:solidFill>
                <a:latin typeface="+mn-ea"/>
              </a:rPr>
              <a:t>、</a:t>
            </a:r>
            <a:r>
              <a:rPr kumimoji="1" lang="en-US" altLang="zh-CN" sz="1600" b="1" dirty="0">
                <a:solidFill>
                  <a:srgbClr val="FF0000"/>
                </a:solidFill>
                <a:latin typeface="+mn-ea"/>
              </a:rPr>
              <a:t>①②③</a:t>
            </a:r>
            <a:r>
              <a:rPr kumimoji="1" lang="zh-CN" altLang="en-US" sz="1600" b="1" dirty="0">
                <a:solidFill>
                  <a:srgbClr val="FF0000"/>
                </a:solidFill>
                <a:latin typeface="+mn-ea"/>
              </a:rPr>
              <a:t>全部注释，观察运行结果</a:t>
            </a:r>
            <a:endParaRPr kumimoji="1" lang="en-US" altLang="zh-CN" sz="1600" b="1" dirty="0">
              <a:solidFill>
                <a:srgbClr val="FF0000"/>
              </a:solidFill>
              <a:latin typeface="+mn-ea"/>
            </a:endParaRPr>
          </a:p>
          <a:p>
            <a:pPr fontAlgn="base">
              <a:spcBef>
                <a:spcPct val="0"/>
              </a:spcBef>
              <a:spcAft>
                <a:spcPct val="0"/>
              </a:spcAft>
            </a:pPr>
            <a:r>
              <a:rPr kumimoji="1" lang="en-US" altLang="zh-CN" sz="1600" b="1" dirty="0">
                <a:solidFill>
                  <a:srgbClr val="FF0000"/>
                </a:solidFill>
                <a:latin typeface="+mn-ea"/>
              </a:rPr>
              <a:t>2</a:t>
            </a:r>
            <a:r>
              <a:rPr kumimoji="1" lang="zh-CN" altLang="en-US" sz="1600" b="1" dirty="0">
                <a:solidFill>
                  <a:srgbClr val="FF0000"/>
                </a:solidFill>
                <a:latin typeface="+mn-ea"/>
              </a:rPr>
              <a:t>、</a:t>
            </a:r>
            <a:r>
              <a:rPr kumimoji="1" lang="en-US" altLang="zh-CN" sz="1600" b="1" dirty="0">
                <a:solidFill>
                  <a:srgbClr val="FF0000"/>
                </a:solidFill>
                <a:latin typeface="+mn-ea"/>
              </a:rPr>
              <a:t>①</a:t>
            </a:r>
            <a:r>
              <a:rPr kumimoji="1" lang="zh-CN" altLang="en-US" sz="1600" b="1" dirty="0">
                <a:solidFill>
                  <a:srgbClr val="FF0000"/>
                </a:solidFill>
                <a:latin typeface="+mn-ea"/>
              </a:rPr>
              <a:t>放开，</a:t>
            </a:r>
            <a:r>
              <a:rPr kumimoji="1" lang="en-US" altLang="zh-CN" sz="1600" b="1" dirty="0">
                <a:solidFill>
                  <a:srgbClr val="FF0000"/>
                </a:solidFill>
                <a:latin typeface="+mn-ea"/>
              </a:rPr>
              <a:t>②③</a:t>
            </a:r>
            <a:r>
              <a:rPr kumimoji="1" lang="zh-CN" altLang="en-US" sz="1600" b="1" dirty="0">
                <a:solidFill>
                  <a:srgbClr val="FF0000"/>
                </a:solidFill>
                <a:latin typeface="+mn-ea"/>
              </a:rPr>
              <a:t>注释，观察运行结果</a:t>
            </a:r>
            <a:endParaRPr kumimoji="1" lang="en-US" altLang="zh-CN" sz="1600" b="1" dirty="0">
              <a:solidFill>
                <a:srgbClr val="FF0000"/>
              </a:solidFill>
              <a:latin typeface="+mn-ea"/>
            </a:endParaRPr>
          </a:p>
          <a:p>
            <a:pPr fontAlgn="base">
              <a:spcBef>
                <a:spcPct val="0"/>
              </a:spcBef>
              <a:spcAft>
                <a:spcPct val="0"/>
              </a:spcAft>
            </a:pPr>
            <a:r>
              <a:rPr kumimoji="1" lang="en-US" altLang="zh-CN" sz="1600" b="1" dirty="0">
                <a:solidFill>
                  <a:srgbClr val="FF0000"/>
                </a:solidFill>
                <a:latin typeface="+mn-ea"/>
              </a:rPr>
              <a:t>3</a:t>
            </a:r>
            <a:r>
              <a:rPr kumimoji="1" lang="zh-CN" altLang="en-US" sz="1600" b="1" dirty="0">
                <a:solidFill>
                  <a:srgbClr val="FF0000"/>
                </a:solidFill>
                <a:latin typeface="+mn-ea"/>
              </a:rPr>
              <a:t>、</a:t>
            </a:r>
            <a:r>
              <a:rPr kumimoji="1" lang="en-US" altLang="zh-CN" sz="1600" b="1" dirty="0">
                <a:solidFill>
                  <a:srgbClr val="FF0000"/>
                </a:solidFill>
                <a:latin typeface="+mn-ea"/>
              </a:rPr>
              <a:t>①③</a:t>
            </a:r>
            <a:r>
              <a:rPr kumimoji="1" lang="zh-CN" altLang="en-US" sz="1600" b="1" dirty="0">
                <a:solidFill>
                  <a:srgbClr val="FF0000"/>
                </a:solidFill>
                <a:latin typeface="+mn-ea"/>
              </a:rPr>
              <a:t>放开，</a:t>
            </a:r>
            <a:r>
              <a:rPr kumimoji="1" lang="en-US" altLang="zh-CN" sz="1600" b="1" dirty="0">
                <a:solidFill>
                  <a:srgbClr val="FF0000"/>
                </a:solidFill>
                <a:latin typeface="+mn-ea"/>
              </a:rPr>
              <a:t>②</a:t>
            </a:r>
            <a:r>
              <a:rPr kumimoji="1" lang="zh-CN" altLang="en-US" sz="1600" b="1" dirty="0">
                <a:solidFill>
                  <a:srgbClr val="FF0000"/>
                </a:solidFill>
                <a:latin typeface="+mn-ea"/>
              </a:rPr>
              <a:t>注释，观察运行结果</a:t>
            </a:r>
            <a:endParaRPr kumimoji="1" lang="en-US" altLang="zh-CN" sz="1600" b="1" dirty="0">
              <a:solidFill>
                <a:srgbClr val="FF0000"/>
              </a:solidFill>
              <a:latin typeface="+mn-ea"/>
            </a:endParaRPr>
          </a:p>
          <a:p>
            <a:pPr fontAlgn="base">
              <a:spcBef>
                <a:spcPct val="0"/>
              </a:spcBef>
              <a:spcAft>
                <a:spcPct val="0"/>
              </a:spcAft>
            </a:pPr>
            <a:r>
              <a:rPr kumimoji="1" lang="en-US" altLang="zh-CN" sz="1600" b="1" dirty="0">
                <a:solidFill>
                  <a:srgbClr val="FF0000"/>
                </a:solidFill>
                <a:latin typeface="+mn-ea"/>
              </a:rPr>
              <a:t>4</a:t>
            </a:r>
            <a:r>
              <a:rPr kumimoji="1" lang="zh-CN" altLang="en-US" sz="1600" b="1" dirty="0">
                <a:solidFill>
                  <a:srgbClr val="FF0000"/>
                </a:solidFill>
                <a:latin typeface="+mn-ea"/>
              </a:rPr>
              <a:t>、</a:t>
            </a:r>
            <a:r>
              <a:rPr kumimoji="1" lang="en-US" altLang="zh-CN" sz="1600" b="1" dirty="0">
                <a:solidFill>
                  <a:srgbClr val="FF0000"/>
                </a:solidFill>
                <a:latin typeface="+mn-ea"/>
              </a:rPr>
              <a:t>①②③</a:t>
            </a:r>
            <a:r>
              <a:rPr kumimoji="1" lang="zh-CN" altLang="en-US" sz="1600" b="1" dirty="0">
                <a:solidFill>
                  <a:srgbClr val="FF0000"/>
                </a:solidFill>
                <a:latin typeface="+mn-ea"/>
              </a:rPr>
              <a:t>全部放开，观察运行结果</a:t>
            </a:r>
            <a:endParaRPr kumimoji="1" lang="en-US" altLang="zh-CN" sz="1600" b="1" dirty="0">
              <a:solidFill>
                <a:srgbClr val="FF0000"/>
              </a:solidFill>
              <a:latin typeface="+mn-ea"/>
            </a:endParaRPr>
          </a:p>
          <a:p>
            <a:pPr fontAlgn="base">
              <a:spcBef>
                <a:spcPct val="0"/>
              </a:spcBef>
              <a:spcAft>
                <a:spcPct val="0"/>
              </a:spcAft>
            </a:pPr>
            <a:r>
              <a:rPr kumimoji="1" lang="zh-CN" altLang="en-US" sz="1600" b="1" dirty="0">
                <a:solidFill>
                  <a:srgbClr val="FF0000"/>
                </a:solidFill>
                <a:latin typeface="+mn-ea"/>
              </a:rPr>
              <a:t>结论：</a:t>
            </a:r>
            <a:r>
              <a:rPr kumimoji="1" lang="en-US" altLang="zh-CN" sz="1600" b="1" dirty="0">
                <a:solidFill>
                  <a:srgbClr val="FF0000"/>
                </a:solidFill>
                <a:latin typeface="+mn-ea"/>
              </a:rPr>
              <a:t>VS</a:t>
            </a:r>
            <a:r>
              <a:rPr kumimoji="1" lang="zh-CN" altLang="en-US" sz="1600" b="1" dirty="0">
                <a:solidFill>
                  <a:srgbClr val="FF0000"/>
                </a:solidFill>
                <a:latin typeface="+mn-ea"/>
              </a:rPr>
              <a:t>的</a:t>
            </a:r>
            <a:r>
              <a:rPr kumimoji="1" lang="en-US" altLang="zh-CN" sz="1600" b="1" dirty="0">
                <a:solidFill>
                  <a:srgbClr val="FF0000"/>
                </a:solidFill>
                <a:latin typeface="+mn-ea"/>
              </a:rPr>
              <a:t>Debug</a:t>
            </a:r>
            <a:r>
              <a:rPr kumimoji="1" lang="zh-CN" altLang="en-US" sz="1600" b="1" dirty="0">
                <a:solidFill>
                  <a:srgbClr val="FF0000"/>
                </a:solidFill>
                <a:latin typeface="+mn-ea"/>
              </a:rPr>
              <a:t>模式是如何判断</a:t>
            </a:r>
            <a:endParaRPr kumimoji="1" lang="en-US" altLang="zh-CN" sz="1600" b="1" dirty="0">
              <a:solidFill>
                <a:srgbClr val="FF0000"/>
              </a:solidFill>
              <a:latin typeface="+mn-ea"/>
            </a:endParaRPr>
          </a:p>
          <a:p>
            <a:pPr fontAlgn="base">
              <a:spcBef>
                <a:spcPct val="0"/>
              </a:spcBef>
              <a:spcAft>
                <a:spcPct val="0"/>
              </a:spcAft>
            </a:pPr>
            <a:r>
              <a:rPr kumimoji="1" lang="en-US" altLang="zh-CN" sz="1600" b="1" dirty="0">
                <a:solidFill>
                  <a:srgbClr val="FF0000"/>
                </a:solidFill>
                <a:latin typeface="+mn-ea"/>
              </a:rPr>
              <a:t>      </a:t>
            </a:r>
            <a:r>
              <a:rPr kumimoji="1" lang="zh-CN" altLang="en-US" sz="1600" b="1" dirty="0">
                <a:solidFill>
                  <a:srgbClr val="FF0000"/>
                </a:solidFill>
                <a:latin typeface="+mn-ea"/>
              </a:rPr>
              <a:t>动态申请内存访问越界的？</a:t>
            </a:r>
            <a:endParaRPr kumimoji="1" lang="en-US" altLang="zh-CN" sz="1600" b="1" dirty="0">
              <a:solidFill>
                <a:srgbClr val="FF0000"/>
              </a:solidFill>
              <a:latin typeface="+mn-ea"/>
            </a:endParaRPr>
          </a:p>
          <a:p>
            <a:pPr fontAlgn="base">
              <a:spcBef>
                <a:spcPct val="0"/>
              </a:spcBef>
              <a:spcAft>
                <a:spcPct val="0"/>
              </a:spcAft>
            </a:pPr>
            <a:endParaRPr kumimoji="1" lang="en-US" altLang="zh-CN" sz="1600" b="1" dirty="0">
              <a:solidFill>
                <a:srgbClr val="FF0000"/>
              </a:solidFill>
              <a:latin typeface="+mn-ea"/>
            </a:endParaRPr>
          </a:p>
          <a:p>
            <a:pPr fontAlgn="base">
              <a:spcBef>
                <a:spcPct val="0"/>
              </a:spcBef>
              <a:spcAft>
                <a:spcPct val="0"/>
              </a:spcAft>
            </a:pPr>
            <a:r>
              <a:rPr kumimoji="1" lang="zh-CN" altLang="en-US" sz="1600" b="1" dirty="0">
                <a:solidFill>
                  <a:schemeClr val="accent2"/>
                </a:solidFill>
                <a:latin typeface="+mn-ea"/>
              </a:rPr>
              <a:t>再观察下面四种环境下的运行结果：</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    VS2022 x86/Release</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    Dev 32bit-Debug</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    Dev 32bit-Release</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    Linux</a:t>
            </a:r>
            <a:endParaRPr kumimoji="1" lang="en-US" altLang="zh-CN" sz="1600" b="1" dirty="0">
              <a:solidFill>
                <a:schemeClr val="accent2"/>
              </a:solidFill>
              <a:latin typeface="+mn-ea"/>
            </a:endParaRPr>
          </a:p>
          <a:p>
            <a:pPr fontAlgn="base">
              <a:spcBef>
                <a:spcPct val="0"/>
              </a:spcBef>
              <a:spcAft>
                <a:spcPct val="0"/>
              </a:spcAft>
            </a:pPr>
            <a:r>
              <a:rPr kumimoji="1" lang="zh-CN" altLang="en-US" sz="1600" b="1" dirty="0">
                <a:solidFill>
                  <a:schemeClr val="accent2"/>
                </a:solidFill>
                <a:latin typeface="+mn-ea"/>
              </a:rPr>
              <a:t>每种讨论的结果可截图</a:t>
            </a:r>
            <a:r>
              <a:rPr kumimoji="1" lang="en-US" altLang="zh-CN" sz="1600" b="1" dirty="0">
                <a:solidFill>
                  <a:schemeClr val="accent2"/>
                </a:solidFill>
                <a:latin typeface="+mn-ea"/>
              </a:rPr>
              <a:t>+</a:t>
            </a:r>
            <a:r>
              <a:rPr kumimoji="1" lang="zh-CN" altLang="en-US" sz="1600" b="1" dirty="0">
                <a:solidFill>
                  <a:schemeClr val="accent2"/>
                </a:solidFill>
                <a:latin typeface="+mn-ea"/>
              </a:rPr>
              <a:t>文字说明，</a:t>
            </a:r>
            <a:endParaRPr kumimoji="1" lang="en-US" altLang="zh-CN" sz="1600" b="1" dirty="0">
              <a:solidFill>
                <a:schemeClr val="accent2"/>
              </a:solidFill>
              <a:latin typeface="+mn-ea"/>
            </a:endParaRPr>
          </a:p>
          <a:p>
            <a:pPr fontAlgn="base">
              <a:spcBef>
                <a:spcPct val="0"/>
              </a:spcBef>
              <a:spcAft>
                <a:spcPct val="0"/>
              </a:spcAft>
            </a:pPr>
            <a:r>
              <a:rPr kumimoji="1" lang="zh-CN" altLang="en-US" sz="1600" b="1" dirty="0">
                <a:solidFill>
                  <a:schemeClr val="accent2"/>
                </a:solidFill>
                <a:latin typeface="+mn-ea"/>
              </a:rPr>
              <a:t>如果几种环境的结果一致，用一个</a:t>
            </a:r>
            <a:endParaRPr kumimoji="1" lang="en-US" altLang="zh-CN" sz="1600" b="1" dirty="0">
              <a:solidFill>
                <a:schemeClr val="accent2"/>
              </a:solidFill>
              <a:latin typeface="+mn-ea"/>
            </a:endParaRPr>
          </a:p>
          <a:p>
            <a:pPr fontAlgn="base">
              <a:spcBef>
                <a:spcPct val="0"/>
              </a:spcBef>
              <a:spcAft>
                <a:spcPct val="0"/>
              </a:spcAft>
            </a:pPr>
            <a:r>
              <a:rPr kumimoji="1" lang="zh-CN" altLang="en-US" sz="1600" b="1" dirty="0">
                <a:solidFill>
                  <a:schemeClr val="accent2"/>
                </a:solidFill>
                <a:latin typeface="+mn-ea"/>
              </a:rPr>
              <a:t>环境的截图</a:t>
            </a:r>
            <a:r>
              <a:rPr kumimoji="1" lang="en-US" altLang="zh-CN" sz="1600" b="1" dirty="0">
                <a:solidFill>
                  <a:schemeClr val="accent2"/>
                </a:solidFill>
                <a:latin typeface="+mn-ea"/>
              </a:rPr>
              <a:t>+</a:t>
            </a:r>
            <a:r>
              <a:rPr kumimoji="1" lang="zh-CN" altLang="en-US" sz="1600" b="1" dirty="0">
                <a:solidFill>
                  <a:schemeClr val="accent2"/>
                </a:solidFill>
                <a:latin typeface="+mn-ea"/>
              </a:rPr>
              <a:t>文字说明即可</a:t>
            </a:r>
            <a:r>
              <a:rPr kumimoji="1" lang="en-US" altLang="zh-CN" sz="1600" b="1" dirty="0">
                <a:solidFill>
                  <a:schemeClr val="accent2"/>
                </a:solidFill>
                <a:latin typeface="+mn-ea"/>
              </a:rPr>
              <a:t>(</a:t>
            </a:r>
            <a:r>
              <a:rPr kumimoji="1" lang="zh-CN" altLang="en-US" sz="1600" b="1" dirty="0">
                <a:solidFill>
                  <a:schemeClr val="accent2"/>
                </a:solidFill>
                <a:latin typeface="+mn-ea"/>
              </a:rPr>
              <a:t>可加页</a:t>
            </a:r>
            <a:r>
              <a:rPr kumimoji="1" lang="en-US" altLang="zh-CN" sz="1600" b="1" dirty="0">
                <a:solidFill>
                  <a:schemeClr val="accent2"/>
                </a:solidFill>
                <a:latin typeface="+mn-ea"/>
              </a:rPr>
              <a:t>)</a:t>
            </a:r>
            <a:endParaRPr kumimoji="1" lang="en-US" altLang="zh-CN" sz="1600" b="1" dirty="0">
              <a:solidFill>
                <a:schemeClr val="accent2"/>
              </a:solidFill>
              <a:latin typeface="+mn-ea"/>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327660" y="95885"/>
            <a:ext cx="2708275" cy="675640"/>
          </a:xfrm>
          <a:prstGeom prst="rect">
            <a:avLst/>
          </a:prstGeom>
          <a:noFill/>
        </p:spPr>
        <p:txBody>
          <a:bodyPr wrap="square" rtlCol="0">
            <a:spAutoFit/>
          </a:bodyPr>
          <a:p>
            <a:r>
              <a:rPr lang="en-US" altLang="zh-CN" sz="2000" b="1"/>
              <a:t>VS2022  x86/Debug      </a:t>
            </a:r>
            <a:endParaRPr lang="en-US" altLang="zh-CN" sz="2000" b="1"/>
          </a:p>
          <a:p>
            <a:r>
              <a:rPr kumimoji="1" lang="en-US" altLang="zh-CN" b="1" dirty="0">
                <a:solidFill>
                  <a:srgbClr val="FF0000"/>
                </a:solidFill>
                <a:latin typeface="+mn-ea"/>
                <a:sym typeface="+mn-ea"/>
              </a:rPr>
              <a:t>1</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①②③</a:t>
            </a:r>
            <a:r>
              <a:rPr kumimoji="1" lang="zh-CN" altLang="en-US" b="1" dirty="0">
                <a:solidFill>
                  <a:srgbClr val="FF0000"/>
                </a:solidFill>
                <a:latin typeface="+mn-ea"/>
                <a:sym typeface="+mn-ea"/>
              </a:rPr>
              <a:t>全部注释</a:t>
            </a:r>
            <a:endParaRPr lang="en-US" altLang="zh-CN"/>
          </a:p>
        </p:txBody>
      </p:sp>
      <p:pic>
        <p:nvPicPr>
          <p:cNvPr id="5" name="图片 4"/>
          <p:cNvPicPr>
            <a:picLocks noChangeAspect="1"/>
          </p:cNvPicPr>
          <p:nvPr/>
        </p:nvPicPr>
        <p:blipFill>
          <a:blip r:embed="rId1"/>
          <a:stretch>
            <a:fillRect/>
          </a:stretch>
        </p:blipFill>
        <p:spPr>
          <a:xfrm>
            <a:off x="111760" y="908050"/>
            <a:ext cx="2665730" cy="3794760"/>
          </a:xfrm>
          <a:prstGeom prst="rect">
            <a:avLst/>
          </a:prstGeom>
        </p:spPr>
      </p:pic>
      <p:sp>
        <p:nvSpPr>
          <p:cNvPr id="6" name="文本框 5"/>
          <p:cNvSpPr txBox="1"/>
          <p:nvPr/>
        </p:nvSpPr>
        <p:spPr>
          <a:xfrm>
            <a:off x="2936875" y="403225"/>
            <a:ext cx="2436495" cy="368300"/>
          </a:xfrm>
          <a:prstGeom prst="rect">
            <a:avLst/>
          </a:prstGeom>
          <a:noFill/>
        </p:spPr>
        <p:txBody>
          <a:bodyPr wrap="square" rtlCol="0" anchor="t">
            <a:spAutoFit/>
          </a:bodyPr>
          <a:p>
            <a:r>
              <a:rPr kumimoji="1" lang="en-US" altLang="zh-CN" b="1" dirty="0">
                <a:solidFill>
                  <a:srgbClr val="FF0000"/>
                </a:solidFill>
                <a:latin typeface="+mn-ea"/>
                <a:sym typeface="+mn-ea"/>
              </a:rPr>
              <a:t>2</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a:t>
            </a:r>
            <a:r>
              <a:rPr kumimoji="1" lang="zh-CN" altLang="en-US" b="1" dirty="0">
                <a:solidFill>
                  <a:srgbClr val="FF0000"/>
                </a:solidFill>
                <a:latin typeface="+mn-ea"/>
                <a:sym typeface="+mn-ea"/>
              </a:rPr>
              <a:t>放开，</a:t>
            </a:r>
            <a:r>
              <a:rPr kumimoji="1" lang="en-US" altLang="zh-CN" b="1" dirty="0">
                <a:solidFill>
                  <a:srgbClr val="FF0000"/>
                </a:solidFill>
                <a:latin typeface="+mn-ea"/>
                <a:sym typeface="+mn-ea"/>
              </a:rPr>
              <a:t>②③</a:t>
            </a:r>
            <a:r>
              <a:rPr kumimoji="1" lang="zh-CN" altLang="en-US" b="1" dirty="0">
                <a:solidFill>
                  <a:srgbClr val="FF0000"/>
                </a:solidFill>
                <a:latin typeface="+mn-ea"/>
                <a:sym typeface="+mn-ea"/>
              </a:rPr>
              <a:t>注释</a:t>
            </a:r>
            <a:endParaRPr kumimoji="1" lang="zh-CN" altLang="en-US" b="1" dirty="0">
              <a:solidFill>
                <a:srgbClr val="FF0000"/>
              </a:solidFill>
              <a:latin typeface="+mn-ea"/>
              <a:sym typeface="+mn-ea"/>
            </a:endParaRPr>
          </a:p>
        </p:txBody>
      </p:sp>
      <p:sp>
        <p:nvSpPr>
          <p:cNvPr id="7" name="文本框 6"/>
          <p:cNvSpPr txBox="1"/>
          <p:nvPr/>
        </p:nvSpPr>
        <p:spPr>
          <a:xfrm>
            <a:off x="5608955" y="403225"/>
            <a:ext cx="2467610" cy="368300"/>
          </a:xfrm>
          <a:prstGeom prst="rect">
            <a:avLst/>
          </a:prstGeom>
          <a:noFill/>
        </p:spPr>
        <p:txBody>
          <a:bodyPr wrap="square" rtlCol="0" anchor="t">
            <a:spAutoFit/>
          </a:bodyPr>
          <a:p>
            <a:r>
              <a:rPr kumimoji="1" lang="en-US" altLang="zh-CN" b="1" dirty="0">
                <a:solidFill>
                  <a:srgbClr val="FF0000"/>
                </a:solidFill>
                <a:latin typeface="+mn-ea"/>
                <a:sym typeface="+mn-ea"/>
              </a:rPr>
              <a:t>3</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①③</a:t>
            </a:r>
            <a:r>
              <a:rPr kumimoji="1" lang="zh-CN" altLang="en-US" b="1" dirty="0">
                <a:solidFill>
                  <a:srgbClr val="FF0000"/>
                </a:solidFill>
                <a:latin typeface="+mn-ea"/>
                <a:sym typeface="+mn-ea"/>
              </a:rPr>
              <a:t>放开，</a:t>
            </a:r>
            <a:r>
              <a:rPr kumimoji="1" lang="en-US" altLang="zh-CN" b="1" dirty="0">
                <a:solidFill>
                  <a:srgbClr val="FF0000"/>
                </a:solidFill>
                <a:latin typeface="+mn-ea"/>
                <a:sym typeface="+mn-ea"/>
              </a:rPr>
              <a:t>②</a:t>
            </a:r>
            <a:r>
              <a:rPr kumimoji="1" lang="zh-CN" altLang="en-US" b="1" dirty="0">
                <a:solidFill>
                  <a:srgbClr val="FF0000"/>
                </a:solidFill>
                <a:latin typeface="+mn-ea"/>
                <a:sym typeface="+mn-ea"/>
              </a:rPr>
              <a:t>注释</a:t>
            </a:r>
            <a:endParaRPr kumimoji="1" lang="zh-CN" altLang="en-US" b="1" dirty="0">
              <a:solidFill>
                <a:srgbClr val="FF0000"/>
              </a:solidFill>
              <a:latin typeface="+mn-ea"/>
              <a:sym typeface="+mn-ea"/>
            </a:endParaRPr>
          </a:p>
        </p:txBody>
      </p:sp>
      <p:sp>
        <p:nvSpPr>
          <p:cNvPr id="10" name="文本框 9"/>
          <p:cNvSpPr txBox="1"/>
          <p:nvPr/>
        </p:nvSpPr>
        <p:spPr>
          <a:xfrm>
            <a:off x="8681085" y="403225"/>
            <a:ext cx="2356485" cy="368300"/>
          </a:xfrm>
          <a:prstGeom prst="rect">
            <a:avLst/>
          </a:prstGeom>
          <a:noFill/>
        </p:spPr>
        <p:txBody>
          <a:bodyPr wrap="square" rtlCol="0" anchor="t">
            <a:spAutoFit/>
          </a:bodyPr>
          <a:p>
            <a:r>
              <a:rPr kumimoji="1" lang="en-US" altLang="zh-CN" b="1" dirty="0">
                <a:solidFill>
                  <a:srgbClr val="FF0000"/>
                </a:solidFill>
                <a:latin typeface="+mn-ea"/>
                <a:sym typeface="+mn-ea"/>
              </a:rPr>
              <a:t>4</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①②③</a:t>
            </a:r>
            <a:r>
              <a:rPr kumimoji="1" lang="zh-CN" altLang="en-US" b="1" dirty="0">
                <a:solidFill>
                  <a:srgbClr val="FF0000"/>
                </a:solidFill>
                <a:latin typeface="+mn-ea"/>
                <a:sym typeface="+mn-ea"/>
              </a:rPr>
              <a:t>全部放开</a:t>
            </a:r>
            <a:endParaRPr kumimoji="1" lang="zh-CN" altLang="en-US" b="1" dirty="0">
              <a:solidFill>
                <a:srgbClr val="FF0000"/>
              </a:solidFill>
              <a:latin typeface="+mn-ea"/>
              <a:sym typeface="+mn-ea"/>
            </a:endParaRPr>
          </a:p>
        </p:txBody>
      </p:sp>
      <p:pic>
        <p:nvPicPr>
          <p:cNvPr id="11" name="图片 10"/>
          <p:cNvPicPr>
            <a:picLocks noChangeAspect="1"/>
          </p:cNvPicPr>
          <p:nvPr/>
        </p:nvPicPr>
        <p:blipFill>
          <a:blip r:embed="rId2"/>
          <a:stretch>
            <a:fillRect/>
          </a:stretch>
        </p:blipFill>
        <p:spPr>
          <a:xfrm>
            <a:off x="2936875" y="908050"/>
            <a:ext cx="2581910" cy="3794760"/>
          </a:xfrm>
          <a:prstGeom prst="rect">
            <a:avLst/>
          </a:prstGeom>
        </p:spPr>
      </p:pic>
      <p:pic>
        <p:nvPicPr>
          <p:cNvPr id="13" name="图片 12"/>
          <p:cNvPicPr>
            <a:picLocks noChangeAspect="1"/>
          </p:cNvPicPr>
          <p:nvPr/>
        </p:nvPicPr>
        <p:blipFill>
          <a:blip r:embed="rId3"/>
          <a:stretch>
            <a:fillRect/>
          </a:stretch>
        </p:blipFill>
        <p:spPr>
          <a:xfrm>
            <a:off x="8770620" y="908050"/>
            <a:ext cx="2388870" cy="3795395"/>
          </a:xfrm>
          <a:prstGeom prst="rect">
            <a:avLst/>
          </a:prstGeom>
        </p:spPr>
      </p:pic>
      <p:pic>
        <p:nvPicPr>
          <p:cNvPr id="17" name="图片 16"/>
          <p:cNvPicPr>
            <a:picLocks noChangeAspect="1"/>
          </p:cNvPicPr>
          <p:nvPr/>
        </p:nvPicPr>
        <p:blipFill>
          <a:blip r:embed="rId4"/>
          <a:stretch>
            <a:fillRect/>
          </a:stretch>
        </p:blipFill>
        <p:spPr>
          <a:xfrm>
            <a:off x="5608955" y="908050"/>
            <a:ext cx="3077210" cy="4294505"/>
          </a:xfrm>
          <a:prstGeom prst="rect">
            <a:avLst/>
          </a:prstGeom>
        </p:spPr>
      </p:pic>
      <p:sp>
        <p:nvSpPr>
          <p:cNvPr id="18" name="文本框 17"/>
          <p:cNvSpPr txBox="1"/>
          <p:nvPr/>
        </p:nvSpPr>
        <p:spPr>
          <a:xfrm>
            <a:off x="153670" y="5387975"/>
            <a:ext cx="11748135" cy="1198880"/>
          </a:xfrm>
          <a:prstGeom prst="rect">
            <a:avLst/>
          </a:prstGeom>
          <a:noFill/>
        </p:spPr>
        <p:txBody>
          <a:bodyPr wrap="square" rtlCol="0">
            <a:spAutoFit/>
          </a:bodyPr>
          <a:p>
            <a:r>
              <a:rPr lang="zh-CN" altLang="en-US" b="1">
                <a:solidFill>
                  <a:schemeClr val="accent2"/>
                </a:solidFill>
              </a:rPr>
              <a:t>结论：</a:t>
            </a:r>
            <a:r>
              <a:rPr lang="en-US" altLang="zh-CN">
                <a:solidFill>
                  <a:schemeClr val="accent2"/>
                </a:solidFill>
              </a:rPr>
              <a:t>1.VS2022</a:t>
            </a:r>
            <a:r>
              <a:rPr lang="zh-CN" altLang="en-US">
                <a:solidFill>
                  <a:schemeClr val="accent2"/>
                </a:solidFill>
              </a:rPr>
              <a:t>的</a:t>
            </a:r>
            <a:r>
              <a:rPr lang="en-US" altLang="zh-CN">
                <a:solidFill>
                  <a:schemeClr val="accent2"/>
                </a:solidFill>
              </a:rPr>
              <a:t>x86/Debug</a:t>
            </a:r>
            <a:r>
              <a:rPr lang="zh-CN" altLang="en-US">
                <a:solidFill>
                  <a:schemeClr val="accent2"/>
                </a:solidFill>
              </a:rPr>
              <a:t>模式下，只有自行释放动态申请的内存（即</a:t>
            </a:r>
            <a:r>
              <a:rPr lang="en-US" altLang="zh-CN">
                <a:solidFill>
                  <a:schemeClr val="accent2"/>
                </a:solidFill>
              </a:rPr>
              <a:t>free</a:t>
            </a:r>
            <a:r>
              <a:rPr lang="zh-CN" altLang="en-US">
                <a:solidFill>
                  <a:schemeClr val="accent2"/>
                </a:solidFill>
              </a:rPr>
              <a:t>语句）时才会判断内存访问是否越界。</a:t>
            </a:r>
            <a:endParaRPr lang="zh-CN" altLang="en-US">
              <a:solidFill>
                <a:schemeClr val="accent2"/>
              </a:solidFill>
            </a:endParaRPr>
          </a:p>
          <a:p>
            <a:r>
              <a:rPr lang="en-US" altLang="zh-CN">
                <a:solidFill>
                  <a:schemeClr val="accent2"/>
                </a:solidFill>
              </a:rPr>
              <a:t>            2.</a:t>
            </a:r>
            <a:r>
              <a:rPr lang="zh-CN" altLang="en-US">
                <a:solidFill>
                  <a:schemeClr val="accent2"/>
                </a:solidFill>
              </a:rPr>
              <a:t>该模式下，VS 会在动态分配的内存块的前后</a:t>
            </a:r>
            <a:r>
              <a:rPr lang="en-US" altLang="zh-CN">
                <a:solidFill>
                  <a:schemeClr val="accent2"/>
                </a:solidFill>
                <a:sym typeface="+mn-ea"/>
              </a:rPr>
              <a:t>4</a:t>
            </a:r>
            <a:r>
              <a:rPr lang="zh-CN" altLang="en-US">
                <a:solidFill>
                  <a:schemeClr val="accent2"/>
                </a:solidFill>
                <a:sym typeface="+mn-ea"/>
              </a:rPr>
              <a:t>个地址</a:t>
            </a:r>
            <a:r>
              <a:rPr lang="zh-CN" altLang="en-US">
                <a:solidFill>
                  <a:schemeClr val="accent2"/>
                </a:solidFill>
              </a:rPr>
              <a:t>添加额外的特定值来判断访问是否越界。当这些值与特定值不符时，判断内存访问越界，报错；当值没有被改变，即使越界访问也不会判定错误。所以，当越界访问的位置超出特定值的范围（情况</a:t>
            </a:r>
            <a:r>
              <a:rPr lang="en-US" altLang="zh-CN">
                <a:solidFill>
                  <a:schemeClr val="accent2"/>
                </a:solidFill>
              </a:rPr>
              <a:t>3</a:t>
            </a:r>
            <a:r>
              <a:rPr lang="zh-CN" altLang="en-US">
                <a:solidFill>
                  <a:schemeClr val="accent2"/>
                </a:solidFill>
              </a:rPr>
              <a:t>），或者访问特定值的位置但并没有修改为不同的值时（情况</a:t>
            </a:r>
            <a:r>
              <a:rPr lang="en-US" altLang="zh-CN">
                <a:solidFill>
                  <a:schemeClr val="accent2"/>
                </a:solidFill>
              </a:rPr>
              <a:t>2</a:t>
            </a:r>
            <a:r>
              <a:rPr lang="zh-CN" altLang="en-US">
                <a:solidFill>
                  <a:schemeClr val="accent2"/>
                </a:solidFill>
              </a:rPr>
              <a:t>），程序并没有报错。</a:t>
            </a:r>
            <a:endParaRPr lang="zh-CN" altLang="en-US">
              <a:solidFill>
                <a:schemeClr val="accent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107315" y="771525"/>
            <a:ext cx="2529205" cy="4286250"/>
          </a:xfrm>
          <a:prstGeom prst="rect">
            <a:avLst/>
          </a:prstGeom>
        </p:spPr>
      </p:pic>
      <p:pic>
        <p:nvPicPr>
          <p:cNvPr id="5" name="图片 4"/>
          <p:cNvPicPr>
            <a:picLocks noChangeAspect="1"/>
          </p:cNvPicPr>
          <p:nvPr/>
        </p:nvPicPr>
        <p:blipFill>
          <a:blip r:embed="rId2"/>
          <a:stretch>
            <a:fillRect/>
          </a:stretch>
        </p:blipFill>
        <p:spPr>
          <a:xfrm>
            <a:off x="2808605" y="771525"/>
            <a:ext cx="2628265" cy="4360545"/>
          </a:xfrm>
          <a:prstGeom prst="rect">
            <a:avLst/>
          </a:prstGeom>
        </p:spPr>
      </p:pic>
      <p:pic>
        <p:nvPicPr>
          <p:cNvPr id="6" name="图片 5"/>
          <p:cNvPicPr>
            <a:picLocks noChangeAspect="1"/>
          </p:cNvPicPr>
          <p:nvPr/>
        </p:nvPicPr>
        <p:blipFill>
          <a:blip r:embed="rId3"/>
          <a:stretch>
            <a:fillRect/>
          </a:stretch>
        </p:blipFill>
        <p:spPr>
          <a:xfrm>
            <a:off x="5673725" y="771525"/>
            <a:ext cx="2443480" cy="4359910"/>
          </a:xfrm>
          <a:prstGeom prst="rect">
            <a:avLst/>
          </a:prstGeom>
        </p:spPr>
      </p:pic>
      <p:pic>
        <p:nvPicPr>
          <p:cNvPr id="7" name="图片 6"/>
          <p:cNvPicPr>
            <a:picLocks noChangeAspect="1"/>
          </p:cNvPicPr>
          <p:nvPr/>
        </p:nvPicPr>
        <p:blipFill>
          <a:blip r:embed="rId4"/>
          <a:stretch>
            <a:fillRect/>
          </a:stretch>
        </p:blipFill>
        <p:spPr>
          <a:xfrm>
            <a:off x="8354060" y="771525"/>
            <a:ext cx="2596515" cy="4359910"/>
          </a:xfrm>
          <a:prstGeom prst="rect">
            <a:avLst/>
          </a:prstGeom>
        </p:spPr>
      </p:pic>
      <p:sp>
        <p:nvSpPr>
          <p:cNvPr id="8" name="文本框 7"/>
          <p:cNvSpPr txBox="1"/>
          <p:nvPr/>
        </p:nvSpPr>
        <p:spPr>
          <a:xfrm>
            <a:off x="340360" y="95885"/>
            <a:ext cx="8909050" cy="675640"/>
          </a:xfrm>
          <a:prstGeom prst="rect">
            <a:avLst/>
          </a:prstGeom>
          <a:noFill/>
        </p:spPr>
        <p:txBody>
          <a:bodyPr wrap="square" rtlCol="0">
            <a:spAutoFit/>
          </a:bodyPr>
          <a:p>
            <a:r>
              <a:rPr lang="en-US" altLang="zh-CN" sz="2000" b="1"/>
              <a:t>VS2022  x86/Release   </a:t>
            </a:r>
            <a:r>
              <a:rPr lang="en-US" altLang="zh-CN" sz="2000" b="1">
                <a:sym typeface="+mn-ea"/>
              </a:rPr>
              <a:t>Dev 32bit/Debug   Dev 32bit/Release   </a:t>
            </a:r>
            <a:endParaRPr lang="en-US" altLang="zh-CN" sz="2000" b="1"/>
          </a:p>
          <a:p>
            <a:r>
              <a:rPr kumimoji="1" lang="en-US" altLang="zh-CN" b="1" dirty="0">
                <a:solidFill>
                  <a:srgbClr val="FF0000"/>
                </a:solidFill>
                <a:latin typeface="+mn-ea"/>
                <a:sym typeface="+mn-ea"/>
              </a:rPr>
              <a:t>1</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①②③</a:t>
            </a:r>
            <a:r>
              <a:rPr kumimoji="1" lang="zh-CN" altLang="en-US" b="1" dirty="0">
                <a:solidFill>
                  <a:srgbClr val="FF0000"/>
                </a:solidFill>
                <a:latin typeface="+mn-ea"/>
                <a:sym typeface="+mn-ea"/>
              </a:rPr>
              <a:t>全部注释</a:t>
            </a:r>
            <a:endParaRPr lang="en-US" altLang="zh-CN"/>
          </a:p>
        </p:txBody>
      </p:sp>
      <p:sp>
        <p:nvSpPr>
          <p:cNvPr id="9" name="文本框 8"/>
          <p:cNvSpPr txBox="1"/>
          <p:nvPr/>
        </p:nvSpPr>
        <p:spPr>
          <a:xfrm>
            <a:off x="2936875" y="403225"/>
            <a:ext cx="2436495" cy="368300"/>
          </a:xfrm>
          <a:prstGeom prst="rect">
            <a:avLst/>
          </a:prstGeom>
          <a:noFill/>
        </p:spPr>
        <p:txBody>
          <a:bodyPr wrap="square" rtlCol="0" anchor="t">
            <a:spAutoFit/>
          </a:bodyPr>
          <a:p>
            <a:r>
              <a:rPr kumimoji="1" lang="en-US" altLang="zh-CN" b="1" dirty="0">
                <a:solidFill>
                  <a:srgbClr val="FF0000"/>
                </a:solidFill>
                <a:latin typeface="+mn-ea"/>
                <a:sym typeface="+mn-ea"/>
              </a:rPr>
              <a:t>2</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a:t>
            </a:r>
            <a:r>
              <a:rPr kumimoji="1" lang="zh-CN" altLang="en-US" b="1" dirty="0">
                <a:solidFill>
                  <a:srgbClr val="FF0000"/>
                </a:solidFill>
                <a:latin typeface="+mn-ea"/>
                <a:sym typeface="+mn-ea"/>
              </a:rPr>
              <a:t>放开，</a:t>
            </a:r>
            <a:r>
              <a:rPr kumimoji="1" lang="en-US" altLang="zh-CN" b="1" dirty="0">
                <a:solidFill>
                  <a:srgbClr val="FF0000"/>
                </a:solidFill>
                <a:latin typeface="+mn-ea"/>
                <a:sym typeface="+mn-ea"/>
              </a:rPr>
              <a:t>②③</a:t>
            </a:r>
            <a:r>
              <a:rPr kumimoji="1" lang="zh-CN" altLang="en-US" b="1" dirty="0">
                <a:solidFill>
                  <a:srgbClr val="FF0000"/>
                </a:solidFill>
                <a:latin typeface="+mn-ea"/>
                <a:sym typeface="+mn-ea"/>
              </a:rPr>
              <a:t>注释</a:t>
            </a:r>
            <a:endParaRPr kumimoji="1" lang="zh-CN" altLang="en-US" b="1" dirty="0">
              <a:solidFill>
                <a:srgbClr val="FF0000"/>
              </a:solidFill>
              <a:latin typeface="+mn-ea"/>
              <a:sym typeface="+mn-ea"/>
            </a:endParaRPr>
          </a:p>
        </p:txBody>
      </p:sp>
      <p:sp>
        <p:nvSpPr>
          <p:cNvPr id="10" name="文本框 9"/>
          <p:cNvSpPr txBox="1"/>
          <p:nvPr/>
        </p:nvSpPr>
        <p:spPr>
          <a:xfrm>
            <a:off x="5608955" y="403225"/>
            <a:ext cx="2467610" cy="368300"/>
          </a:xfrm>
          <a:prstGeom prst="rect">
            <a:avLst/>
          </a:prstGeom>
          <a:noFill/>
        </p:spPr>
        <p:txBody>
          <a:bodyPr wrap="square" rtlCol="0" anchor="t">
            <a:spAutoFit/>
          </a:bodyPr>
          <a:p>
            <a:r>
              <a:rPr kumimoji="1" lang="en-US" altLang="zh-CN" b="1" dirty="0">
                <a:solidFill>
                  <a:srgbClr val="FF0000"/>
                </a:solidFill>
                <a:latin typeface="+mn-ea"/>
                <a:sym typeface="+mn-ea"/>
              </a:rPr>
              <a:t>3</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①③</a:t>
            </a:r>
            <a:r>
              <a:rPr kumimoji="1" lang="zh-CN" altLang="en-US" b="1" dirty="0">
                <a:solidFill>
                  <a:srgbClr val="FF0000"/>
                </a:solidFill>
                <a:latin typeface="+mn-ea"/>
                <a:sym typeface="+mn-ea"/>
              </a:rPr>
              <a:t>放开，</a:t>
            </a:r>
            <a:r>
              <a:rPr kumimoji="1" lang="en-US" altLang="zh-CN" b="1" dirty="0">
                <a:solidFill>
                  <a:srgbClr val="FF0000"/>
                </a:solidFill>
                <a:latin typeface="+mn-ea"/>
                <a:sym typeface="+mn-ea"/>
              </a:rPr>
              <a:t>②</a:t>
            </a:r>
            <a:r>
              <a:rPr kumimoji="1" lang="zh-CN" altLang="en-US" b="1" dirty="0">
                <a:solidFill>
                  <a:srgbClr val="FF0000"/>
                </a:solidFill>
                <a:latin typeface="+mn-ea"/>
                <a:sym typeface="+mn-ea"/>
              </a:rPr>
              <a:t>注释</a:t>
            </a:r>
            <a:endParaRPr kumimoji="1" lang="zh-CN" altLang="en-US" b="1" dirty="0">
              <a:solidFill>
                <a:srgbClr val="FF0000"/>
              </a:solidFill>
              <a:latin typeface="+mn-ea"/>
              <a:sym typeface="+mn-ea"/>
            </a:endParaRPr>
          </a:p>
        </p:txBody>
      </p:sp>
      <p:sp>
        <p:nvSpPr>
          <p:cNvPr id="11" name="文本框 10"/>
          <p:cNvSpPr txBox="1"/>
          <p:nvPr/>
        </p:nvSpPr>
        <p:spPr>
          <a:xfrm>
            <a:off x="8354060" y="403225"/>
            <a:ext cx="2356485" cy="368300"/>
          </a:xfrm>
          <a:prstGeom prst="rect">
            <a:avLst/>
          </a:prstGeom>
          <a:noFill/>
        </p:spPr>
        <p:txBody>
          <a:bodyPr wrap="square" rtlCol="0" anchor="t">
            <a:spAutoFit/>
          </a:bodyPr>
          <a:p>
            <a:r>
              <a:rPr kumimoji="1" lang="en-US" altLang="zh-CN" b="1" dirty="0">
                <a:solidFill>
                  <a:srgbClr val="FF0000"/>
                </a:solidFill>
                <a:latin typeface="+mn-ea"/>
                <a:sym typeface="+mn-ea"/>
              </a:rPr>
              <a:t>4</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①②③</a:t>
            </a:r>
            <a:r>
              <a:rPr kumimoji="1" lang="zh-CN" altLang="en-US" b="1" dirty="0">
                <a:solidFill>
                  <a:srgbClr val="FF0000"/>
                </a:solidFill>
                <a:latin typeface="+mn-ea"/>
                <a:sym typeface="+mn-ea"/>
              </a:rPr>
              <a:t>全部放开</a:t>
            </a:r>
            <a:endParaRPr kumimoji="1" lang="zh-CN" altLang="en-US" b="1" dirty="0">
              <a:solidFill>
                <a:srgbClr val="FF0000"/>
              </a:solidFill>
              <a:latin typeface="+mn-ea"/>
              <a:sym typeface="+mn-ea"/>
            </a:endParaRPr>
          </a:p>
        </p:txBody>
      </p:sp>
      <p:sp>
        <p:nvSpPr>
          <p:cNvPr id="12" name="文本框 11"/>
          <p:cNvSpPr txBox="1"/>
          <p:nvPr/>
        </p:nvSpPr>
        <p:spPr>
          <a:xfrm>
            <a:off x="107315" y="5365115"/>
            <a:ext cx="11579225" cy="368300"/>
          </a:xfrm>
          <a:prstGeom prst="rect">
            <a:avLst/>
          </a:prstGeom>
          <a:noFill/>
        </p:spPr>
        <p:txBody>
          <a:bodyPr wrap="square" rtlCol="0" anchor="t">
            <a:spAutoFit/>
          </a:bodyPr>
          <a:p>
            <a:r>
              <a:rPr lang="zh-CN" altLang="en-US" b="1">
                <a:solidFill>
                  <a:schemeClr val="accent2"/>
                </a:solidFill>
                <a:sym typeface="+mn-ea"/>
              </a:rPr>
              <a:t>结论：以上</a:t>
            </a:r>
            <a:r>
              <a:rPr lang="zh-CN" altLang="en-US">
                <a:solidFill>
                  <a:schemeClr val="accent2"/>
                </a:solidFill>
                <a:sym typeface="+mn-ea"/>
              </a:rPr>
              <a:t>模式下，不会在动态分配的内存块的前后添加额外的特定值，</a:t>
            </a:r>
            <a:r>
              <a:rPr lang="zh-CN" altLang="en-US">
                <a:solidFill>
                  <a:schemeClr val="accent2"/>
                </a:solidFill>
                <a:sym typeface="+mn-ea"/>
              </a:rPr>
              <a:t>不会因为内存访问越界报错</a:t>
            </a:r>
            <a:r>
              <a:rPr lang="zh-CN" altLang="en-US">
                <a:solidFill>
                  <a:schemeClr val="accent2"/>
                </a:solidFill>
                <a:sym typeface="+mn-ea"/>
              </a:rPr>
              <a:t>。</a:t>
            </a:r>
            <a:endParaRPr lang="zh-CN" altLang="en-US">
              <a:solidFill>
                <a:schemeClr val="accent2"/>
              </a:solidFill>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340360" y="809625"/>
            <a:ext cx="2268855" cy="3983990"/>
          </a:xfrm>
          <a:prstGeom prst="rect">
            <a:avLst/>
          </a:prstGeom>
        </p:spPr>
      </p:pic>
      <p:pic>
        <p:nvPicPr>
          <p:cNvPr id="5" name="图片 4"/>
          <p:cNvPicPr>
            <a:picLocks noChangeAspect="1"/>
          </p:cNvPicPr>
          <p:nvPr/>
        </p:nvPicPr>
        <p:blipFill>
          <a:blip r:embed="rId2"/>
          <a:stretch>
            <a:fillRect/>
          </a:stretch>
        </p:blipFill>
        <p:spPr>
          <a:xfrm>
            <a:off x="2990850" y="771525"/>
            <a:ext cx="2381885" cy="4110355"/>
          </a:xfrm>
          <a:prstGeom prst="rect">
            <a:avLst/>
          </a:prstGeom>
        </p:spPr>
      </p:pic>
      <p:pic>
        <p:nvPicPr>
          <p:cNvPr id="6" name="图片 5"/>
          <p:cNvPicPr>
            <a:picLocks noChangeAspect="1"/>
          </p:cNvPicPr>
          <p:nvPr/>
        </p:nvPicPr>
        <p:blipFill>
          <a:blip r:embed="rId3"/>
          <a:stretch>
            <a:fillRect/>
          </a:stretch>
        </p:blipFill>
        <p:spPr>
          <a:xfrm>
            <a:off x="5706110" y="771525"/>
            <a:ext cx="2401570" cy="4110990"/>
          </a:xfrm>
          <a:prstGeom prst="rect">
            <a:avLst/>
          </a:prstGeom>
        </p:spPr>
      </p:pic>
      <p:pic>
        <p:nvPicPr>
          <p:cNvPr id="7" name="图片 6"/>
          <p:cNvPicPr>
            <a:picLocks noChangeAspect="1"/>
          </p:cNvPicPr>
          <p:nvPr/>
        </p:nvPicPr>
        <p:blipFill>
          <a:blip r:embed="rId4"/>
          <a:stretch>
            <a:fillRect/>
          </a:stretch>
        </p:blipFill>
        <p:spPr>
          <a:xfrm>
            <a:off x="8440420" y="771525"/>
            <a:ext cx="2256790" cy="4114165"/>
          </a:xfrm>
          <a:prstGeom prst="rect">
            <a:avLst/>
          </a:prstGeom>
        </p:spPr>
      </p:pic>
      <p:sp>
        <p:nvSpPr>
          <p:cNvPr id="8" name="文本框 7"/>
          <p:cNvSpPr txBox="1"/>
          <p:nvPr/>
        </p:nvSpPr>
        <p:spPr>
          <a:xfrm>
            <a:off x="340360" y="95885"/>
            <a:ext cx="8909050" cy="675640"/>
          </a:xfrm>
          <a:prstGeom prst="rect">
            <a:avLst/>
          </a:prstGeom>
          <a:noFill/>
        </p:spPr>
        <p:txBody>
          <a:bodyPr wrap="square" rtlCol="0">
            <a:spAutoFit/>
          </a:bodyPr>
          <a:p>
            <a:r>
              <a:rPr lang="en-US" altLang="zh-CN" sz="2000" b="1"/>
              <a:t>Linux</a:t>
            </a:r>
            <a:r>
              <a:rPr lang="en-US" altLang="zh-CN" sz="2000" b="1">
                <a:sym typeface="+mn-ea"/>
              </a:rPr>
              <a:t>   </a:t>
            </a:r>
            <a:endParaRPr lang="en-US" altLang="zh-CN" sz="2000" b="1"/>
          </a:p>
          <a:p>
            <a:r>
              <a:rPr kumimoji="1" lang="en-US" altLang="zh-CN" b="1" dirty="0">
                <a:solidFill>
                  <a:srgbClr val="FF0000"/>
                </a:solidFill>
                <a:latin typeface="+mn-ea"/>
                <a:sym typeface="+mn-ea"/>
              </a:rPr>
              <a:t>1</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①②③</a:t>
            </a:r>
            <a:r>
              <a:rPr kumimoji="1" lang="zh-CN" altLang="en-US" b="1" dirty="0">
                <a:solidFill>
                  <a:srgbClr val="FF0000"/>
                </a:solidFill>
                <a:latin typeface="+mn-ea"/>
                <a:sym typeface="+mn-ea"/>
              </a:rPr>
              <a:t>全部注释</a:t>
            </a:r>
            <a:endParaRPr lang="en-US" altLang="zh-CN"/>
          </a:p>
        </p:txBody>
      </p:sp>
      <p:sp>
        <p:nvSpPr>
          <p:cNvPr id="9" name="文本框 8"/>
          <p:cNvSpPr txBox="1"/>
          <p:nvPr/>
        </p:nvSpPr>
        <p:spPr>
          <a:xfrm>
            <a:off x="2936875" y="403225"/>
            <a:ext cx="2436495" cy="368300"/>
          </a:xfrm>
          <a:prstGeom prst="rect">
            <a:avLst/>
          </a:prstGeom>
          <a:noFill/>
        </p:spPr>
        <p:txBody>
          <a:bodyPr wrap="square" rtlCol="0" anchor="t">
            <a:spAutoFit/>
          </a:bodyPr>
          <a:p>
            <a:r>
              <a:rPr kumimoji="1" lang="en-US" altLang="zh-CN" b="1" dirty="0">
                <a:solidFill>
                  <a:srgbClr val="FF0000"/>
                </a:solidFill>
                <a:latin typeface="+mn-ea"/>
                <a:sym typeface="+mn-ea"/>
              </a:rPr>
              <a:t>2</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a:t>
            </a:r>
            <a:r>
              <a:rPr kumimoji="1" lang="zh-CN" altLang="en-US" b="1" dirty="0">
                <a:solidFill>
                  <a:srgbClr val="FF0000"/>
                </a:solidFill>
                <a:latin typeface="+mn-ea"/>
                <a:sym typeface="+mn-ea"/>
              </a:rPr>
              <a:t>放开，</a:t>
            </a:r>
            <a:r>
              <a:rPr kumimoji="1" lang="en-US" altLang="zh-CN" b="1" dirty="0">
                <a:solidFill>
                  <a:srgbClr val="FF0000"/>
                </a:solidFill>
                <a:latin typeface="+mn-ea"/>
                <a:sym typeface="+mn-ea"/>
              </a:rPr>
              <a:t>②③</a:t>
            </a:r>
            <a:r>
              <a:rPr kumimoji="1" lang="zh-CN" altLang="en-US" b="1" dirty="0">
                <a:solidFill>
                  <a:srgbClr val="FF0000"/>
                </a:solidFill>
                <a:latin typeface="+mn-ea"/>
                <a:sym typeface="+mn-ea"/>
              </a:rPr>
              <a:t>注释</a:t>
            </a:r>
            <a:endParaRPr kumimoji="1" lang="zh-CN" altLang="en-US" b="1" dirty="0">
              <a:solidFill>
                <a:srgbClr val="FF0000"/>
              </a:solidFill>
              <a:latin typeface="+mn-ea"/>
              <a:sym typeface="+mn-ea"/>
            </a:endParaRPr>
          </a:p>
        </p:txBody>
      </p:sp>
      <p:sp>
        <p:nvSpPr>
          <p:cNvPr id="10" name="文本框 9"/>
          <p:cNvSpPr txBox="1"/>
          <p:nvPr/>
        </p:nvSpPr>
        <p:spPr>
          <a:xfrm>
            <a:off x="5608955" y="403225"/>
            <a:ext cx="2467610" cy="368300"/>
          </a:xfrm>
          <a:prstGeom prst="rect">
            <a:avLst/>
          </a:prstGeom>
          <a:noFill/>
        </p:spPr>
        <p:txBody>
          <a:bodyPr wrap="square" rtlCol="0" anchor="t">
            <a:spAutoFit/>
          </a:bodyPr>
          <a:p>
            <a:r>
              <a:rPr kumimoji="1" lang="en-US" altLang="zh-CN" b="1" dirty="0">
                <a:solidFill>
                  <a:srgbClr val="FF0000"/>
                </a:solidFill>
                <a:latin typeface="+mn-ea"/>
                <a:sym typeface="+mn-ea"/>
              </a:rPr>
              <a:t>3</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①③</a:t>
            </a:r>
            <a:r>
              <a:rPr kumimoji="1" lang="zh-CN" altLang="en-US" b="1" dirty="0">
                <a:solidFill>
                  <a:srgbClr val="FF0000"/>
                </a:solidFill>
                <a:latin typeface="+mn-ea"/>
                <a:sym typeface="+mn-ea"/>
              </a:rPr>
              <a:t>放开，</a:t>
            </a:r>
            <a:r>
              <a:rPr kumimoji="1" lang="en-US" altLang="zh-CN" b="1" dirty="0">
                <a:solidFill>
                  <a:srgbClr val="FF0000"/>
                </a:solidFill>
                <a:latin typeface="+mn-ea"/>
                <a:sym typeface="+mn-ea"/>
              </a:rPr>
              <a:t>②</a:t>
            </a:r>
            <a:r>
              <a:rPr kumimoji="1" lang="zh-CN" altLang="en-US" b="1" dirty="0">
                <a:solidFill>
                  <a:srgbClr val="FF0000"/>
                </a:solidFill>
                <a:latin typeface="+mn-ea"/>
                <a:sym typeface="+mn-ea"/>
              </a:rPr>
              <a:t>注释</a:t>
            </a:r>
            <a:endParaRPr kumimoji="1" lang="zh-CN" altLang="en-US" b="1" dirty="0">
              <a:solidFill>
                <a:srgbClr val="FF0000"/>
              </a:solidFill>
              <a:latin typeface="+mn-ea"/>
              <a:sym typeface="+mn-ea"/>
            </a:endParaRPr>
          </a:p>
        </p:txBody>
      </p:sp>
      <p:sp>
        <p:nvSpPr>
          <p:cNvPr id="11" name="文本框 10"/>
          <p:cNvSpPr txBox="1"/>
          <p:nvPr/>
        </p:nvSpPr>
        <p:spPr>
          <a:xfrm>
            <a:off x="8354060" y="403225"/>
            <a:ext cx="2356485" cy="368300"/>
          </a:xfrm>
          <a:prstGeom prst="rect">
            <a:avLst/>
          </a:prstGeom>
          <a:noFill/>
        </p:spPr>
        <p:txBody>
          <a:bodyPr wrap="square" rtlCol="0" anchor="t">
            <a:spAutoFit/>
          </a:bodyPr>
          <a:p>
            <a:r>
              <a:rPr kumimoji="1" lang="en-US" altLang="zh-CN" b="1" dirty="0">
                <a:solidFill>
                  <a:srgbClr val="FF0000"/>
                </a:solidFill>
                <a:latin typeface="+mn-ea"/>
                <a:sym typeface="+mn-ea"/>
              </a:rPr>
              <a:t>4</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①②③</a:t>
            </a:r>
            <a:r>
              <a:rPr kumimoji="1" lang="zh-CN" altLang="en-US" b="1" dirty="0">
                <a:solidFill>
                  <a:srgbClr val="FF0000"/>
                </a:solidFill>
                <a:latin typeface="+mn-ea"/>
                <a:sym typeface="+mn-ea"/>
              </a:rPr>
              <a:t>全部放开</a:t>
            </a:r>
            <a:endParaRPr kumimoji="1" lang="zh-CN" altLang="en-US" b="1" dirty="0">
              <a:solidFill>
                <a:srgbClr val="FF0000"/>
              </a:solidFill>
              <a:latin typeface="+mn-ea"/>
              <a:sym typeface="+mn-ea"/>
            </a:endParaRPr>
          </a:p>
        </p:txBody>
      </p:sp>
      <p:sp>
        <p:nvSpPr>
          <p:cNvPr id="12" name="文本框 11"/>
          <p:cNvSpPr txBox="1"/>
          <p:nvPr/>
        </p:nvSpPr>
        <p:spPr>
          <a:xfrm>
            <a:off x="340360" y="5093335"/>
            <a:ext cx="11579225" cy="645160"/>
          </a:xfrm>
          <a:prstGeom prst="rect">
            <a:avLst/>
          </a:prstGeom>
          <a:noFill/>
        </p:spPr>
        <p:txBody>
          <a:bodyPr wrap="square" rtlCol="0" anchor="t">
            <a:spAutoFit/>
          </a:bodyPr>
          <a:p>
            <a:r>
              <a:rPr lang="zh-CN" altLang="en-US" b="1">
                <a:solidFill>
                  <a:schemeClr val="accent2"/>
                </a:solidFill>
                <a:sym typeface="+mn-ea"/>
              </a:rPr>
              <a:t>结论：</a:t>
            </a:r>
            <a:r>
              <a:rPr lang="en-US" altLang="zh-CN" b="1">
                <a:solidFill>
                  <a:schemeClr val="accent2"/>
                </a:solidFill>
                <a:sym typeface="+mn-ea"/>
              </a:rPr>
              <a:t>Linux</a:t>
            </a:r>
            <a:r>
              <a:rPr lang="zh-CN" altLang="en-US">
                <a:solidFill>
                  <a:schemeClr val="accent2"/>
                </a:solidFill>
                <a:sym typeface="+mn-ea"/>
              </a:rPr>
              <a:t>模式下，不会在动态分配的内存块的前后添加额外的特定值，</a:t>
            </a:r>
            <a:r>
              <a:rPr lang="zh-CN" altLang="en-US">
                <a:solidFill>
                  <a:schemeClr val="accent2"/>
                </a:solidFill>
                <a:sym typeface="+mn-ea"/>
              </a:rPr>
              <a:t>不会因为内存访问越界报错</a:t>
            </a:r>
            <a:r>
              <a:rPr lang="zh-CN" altLang="en-US">
                <a:solidFill>
                  <a:schemeClr val="accent2"/>
                </a:solidFill>
                <a:sym typeface="+mn-ea"/>
              </a:rPr>
              <a:t>（无论是否自行释放）。</a:t>
            </a:r>
            <a:endParaRPr lang="zh-CN" altLang="en-US">
              <a:solidFill>
                <a:schemeClr val="accent2"/>
              </a:solidFill>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subTitle" idx="1"/>
          </p:nvPr>
        </p:nvSpPr>
        <p:spPr>
          <a:xfrm>
            <a:off x="180086" y="162560"/>
            <a:ext cx="11880850" cy="6480810"/>
          </a:xfrm>
        </p:spPr>
        <p:txBody>
          <a:bodyPr/>
          <a:lstStyle/>
          <a:p>
            <a:r>
              <a:rPr lang="en-US" altLang="zh-CN" sz="2800" b="1" dirty="0">
                <a:latin typeface="+mn-ea"/>
              </a:rPr>
              <a:t>§.</a:t>
            </a:r>
            <a:r>
              <a:rPr lang="zh-CN" altLang="en-US" sz="2800" b="1">
                <a:latin typeface="+mn-ea"/>
              </a:rPr>
              <a:t>关于动态内存申请后越界访问的深度讨论</a:t>
            </a:r>
            <a:endParaRPr lang="zh-CN" altLang="en-US" sz="2800" b="1" dirty="0">
              <a:latin typeface="+mn-ea"/>
            </a:endParaRPr>
          </a:p>
          <a:p>
            <a:pPr algn="l"/>
            <a:r>
              <a:rPr lang="en-US" altLang="zh-CN" sz="1600" b="1" dirty="0">
                <a:latin typeface="+mn-ea"/>
              </a:rPr>
              <a:t>★ </a:t>
            </a:r>
            <a:r>
              <a:rPr lang="zh-CN" altLang="en-US" sz="1600" b="1" dirty="0">
                <a:latin typeface="+mn-ea"/>
              </a:rPr>
              <a:t>如何判断动态申请越界（</a:t>
            </a:r>
            <a:r>
              <a:rPr lang="en-US" altLang="zh-CN" sz="1600" b="1" dirty="0">
                <a:latin typeface="+mn-ea"/>
              </a:rPr>
              <a:t>C++</a:t>
            </a:r>
            <a:r>
              <a:rPr lang="zh-CN" altLang="en-US" sz="1600" b="1" dirty="0">
                <a:latin typeface="+mn-ea"/>
              </a:rPr>
              <a:t>方式，</a:t>
            </a:r>
            <a:r>
              <a:rPr lang="zh-CN" altLang="en-US" sz="1600" b="1" dirty="0">
                <a:solidFill>
                  <a:srgbClr val="FF0000"/>
                </a:solidFill>
                <a:latin typeface="+mn-ea"/>
              </a:rPr>
              <a:t>注意源程序后缀为</a:t>
            </a:r>
            <a:r>
              <a:rPr lang="en-US" altLang="zh-CN" sz="1600" b="1" dirty="0">
                <a:solidFill>
                  <a:srgbClr val="FF0000"/>
                </a:solidFill>
                <a:latin typeface="+mn-ea"/>
              </a:rPr>
              <a:t>.</a:t>
            </a:r>
            <a:r>
              <a:rPr lang="en-US" altLang="zh-CN" sz="1600" b="1" dirty="0" err="1">
                <a:solidFill>
                  <a:srgbClr val="FF0000"/>
                </a:solidFill>
                <a:latin typeface="+mn-ea"/>
              </a:rPr>
              <a:t>cpp</a:t>
            </a:r>
            <a:r>
              <a:rPr lang="zh-CN" altLang="en-US" sz="1600" b="1" dirty="0">
                <a:latin typeface="+mn-ea"/>
              </a:rPr>
              <a:t>）</a:t>
            </a:r>
            <a:endParaRPr lang="zh-CN" altLang="en-US" sz="1600" b="1" dirty="0">
              <a:latin typeface="+mn-ea"/>
            </a:endParaRPr>
          </a:p>
        </p:txBody>
      </p:sp>
      <p:sp>
        <p:nvSpPr>
          <p:cNvPr id="5" name="矩形 4"/>
          <p:cNvSpPr/>
          <p:nvPr/>
        </p:nvSpPr>
        <p:spPr bwMode="auto">
          <a:xfrm>
            <a:off x="484720" y="980728"/>
            <a:ext cx="10461702" cy="572487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#define _CRT_SECURE_NO_WARNINGS</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#include &lt;iostream&gt;</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#include &lt;</a:t>
            </a:r>
            <a:r>
              <a:rPr kumimoji="1" lang="en-US" altLang="zh-CN" sz="1600" b="1" dirty="0" err="1">
                <a:solidFill>
                  <a:srgbClr val="000000"/>
                </a:solidFill>
                <a:latin typeface="宋体" panose="02010600030101010101" pitchFamily="2" charset="-122"/>
                <a:ea typeface="宋体" panose="02010600030101010101" pitchFamily="2" charset="-122"/>
              </a:rPr>
              <a:t>cstring</a:t>
            </a:r>
            <a:r>
              <a:rPr kumimoji="1" lang="en-US" altLang="zh-CN" sz="1600" b="1" dirty="0">
                <a:solidFill>
                  <a:srgbClr val="000000"/>
                </a:solidFill>
                <a:latin typeface="宋体" panose="02010600030101010101" pitchFamily="2" charset="-122"/>
                <a:ea typeface="宋体" panose="02010600030101010101" pitchFamily="2" charset="-122"/>
              </a:rPr>
              <a:t>&gt;</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using namespace std;</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int main()</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    char *p;</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    p = new(</a:t>
            </a:r>
            <a:r>
              <a:rPr kumimoji="1" lang="en-US" altLang="zh-CN" sz="1600" b="1" dirty="0" err="1">
                <a:solidFill>
                  <a:srgbClr val="000000"/>
                </a:solidFill>
                <a:latin typeface="宋体" panose="02010600030101010101" pitchFamily="2" charset="-122"/>
                <a:ea typeface="宋体" panose="02010600030101010101" pitchFamily="2" charset="-122"/>
              </a:rPr>
              <a:t>nothrow</a:t>
            </a:r>
            <a:r>
              <a:rPr kumimoji="1" lang="en-US" altLang="zh-CN" sz="1600" b="1" dirty="0">
                <a:solidFill>
                  <a:srgbClr val="000000"/>
                </a:solidFill>
                <a:latin typeface="宋体" panose="02010600030101010101" pitchFamily="2" charset="-122"/>
                <a:ea typeface="宋体" panose="02010600030101010101" pitchFamily="2" charset="-122"/>
              </a:rPr>
              <a:t>) char[10];</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    if (p == NULL)</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        return -1;</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    </a:t>
            </a:r>
            <a:r>
              <a:rPr kumimoji="1" lang="en-US" altLang="zh-CN" sz="1600" b="1" dirty="0" err="1">
                <a:solidFill>
                  <a:srgbClr val="000000"/>
                </a:solidFill>
                <a:latin typeface="宋体" panose="02010600030101010101" pitchFamily="2" charset="-122"/>
                <a:ea typeface="宋体" panose="02010600030101010101" pitchFamily="2" charset="-122"/>
              </a:rPr>
              <a:t>strcpy</a:t>
            </a:r>
            <a:r>
              <a:rPr kumimoji="1" lang="en-US" altLang="zh-CN" sz="1600" b="1" dirty="0">
                <a:solidFill>
                  <a:srgbClr val="000000"/>
                </a:solidFill>
                <a:latin typeface="宋体" panose="02010600030101010101" pitchFamily="2" charset="-122"/>
                <a:ea typeface="宋体" panose="02010600030101010101" pitchFamily="2" charset="-122"/>
              </a:rPr>
              <a:t>(p, "123456789");</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FF0000"/>
                </a:solidFill>
                <a:latin typeface="宋体" panose="02010600030101010101" pitchFamily="2" charset="-122"/>
                <a:ea typeface="宋体" panose="02010600030101010101" pitchFamily="2" charset="-122"/>
              </a:rPr>
              <a:t>①  p[10] = 'a';    //</a:t>
            </a:r>
            <a:r>
              <a:rPr kumimoji="1" lang="zh-CN" altLang="en-US" sz="1600" b="1" dirty="0">
                <a:solidFill>
                  <a:srgbClr val="FF0000"/>
                </a:solidFill>
                <a:latin typeface="宋体" panose="02010600030101010101" pitchFamily="2" charset="-122"/>
                <a:ea typeface="宋体" panose="02010600030101010101" pitchFamily="2" charset="-122"/>
              </a:rPr>
              <a:t>此句越界</a:t>
            </a:r>
            <a:endParaRPr kumimoji="1" lang="en-US" altLang="zh-CN" sz="1600" b="1" dirty="0">
              <a:solidFill>
                <a:srgbClr val="FF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    p[14] = 'A';    //</a:t>
            </a:r>
            <a:r>
              <a:rPr kumimoji="1" lang="zh-CN" altLang="en-US" sz="1600" b="1" dirty="0">
                <a:solidFill>
                  <a:srgbClr val="000000"/>
                </a:solidFill>
                <a:latin typeface="宋体" panose="02010600030101010101" pitchFamily="2" charset="-122"/>
                <a:ea typeface="宋体" panose="02010600030101010101" pitchFamily="2" charset="-122"/>
              </a:rPr>
              <a:t>此句越界</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    p[15] = 'B';    //</a:t>
            </a:r>
            <a:r>
              <a:rPr kumimoji="1" lang="zh-CN" altLang="en-US" sz="1600" b="1" dirty="0">
                <a:solidFill>
                  <a:srgbClr val="000000"/>
                </a:solidFill>
                <a:latin typeface="宋体" panose="02010600030101010101" pitchFamily="2" charset="-122"/>
                <a:ea typeface="宋体" panose="02010600030101010101" pitchFamily="2" charset="-122"/>
              </a:rPr>
              <a:t>此句越界</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FF0000"/>
                </a:solidFill>
                <a:latin typeface="宋体" panose="02010600030101010101" pitchFamily="2" charset="-122"/>
                <a:ea typeface="宋体" panose="02010600030101010101" pitchFamily="2" charset="-122"/>
              </a:rPr>
              <a:t>②  p[10] = '\</a:t>
            </a:r>
            <a:r>
              <a:rPr kumimoji="1" lang="en-US" altLang="zh-CN" sz="1600" b="1" dirty="0" err="1">
                <a:solidFill>
                  <a:srgbClr val="FF0000"/>
                </a:solidFill>
                <a:latin typeface="宋体" panose="02010600030101010101" pitchFamily="2" charset="-122"/>
                <a:ea typeface="宋体" panose="02010600030101010101" pitchFamily="2" charset="-122"/>
              </a:rPr>
              <a:t>xfd</a:t>
            </a:r>
            <a:r>
              <a:rPr kumimoji="1" lang="en-US" altLang="zh-CN" sz="1600" b="1" dirty="0">
                <a:solidFill>
                  <a:srgbClr val="FF0000"/>
                </a:solidFill>
                <a:latin typeface="宋体" panose="02010600030101010101" pitchFamily="2" charset="-122"/>
                <a:ea typeface="宋体" panose="02010600030101010101" pitchFamily="2" charset="-122"/>
              </a:rPr>
              <a:t>'; //</a:t>
            </a:r>
            <a:r>
              <a:rPr kumimoji="1" lang="zh-CN" altLang="en-US" sz="1600" b="1" dirty="0">
                <a:solidFill>
                  <a:srgbClr val="FF0000"/>
                </a:solidFill>
                <a:latin typeface="宋体" panose="02010600030101010101" pitchFamily="2" charset="-122"/>
                <a:ea typeface="宋体" panose="02010600030101010101" pitchFamily="2" charset="-122"/>
              </a:rPr>
              <a:t>此句越界</a:t>
            </a:r>
            <a:endParaRPr kumimoji="1" lang="en-US" altLang="zh-CN" sz="1600" b="1" dirty="0">
              <a:solidFill>
                <a:srgbClr val="FF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    </a:t>
            </a:r>
            <a:r>
              <a:rPr kumimoji="1" lang="en-US" altLang="zh-CN" sz="1600" b="1" dirty="0" err="1">
                <a:solidFill>
                  <a:srgbClr val="000000"/>
                </a:solidFill>
                <a:latin typeface="宋体" panose="02010600030101010101" pitchFamily="2" charset="-122"/>
                <a:ea typeface="宋体" panose="02010600030101010101" pitchFamily="2" charset="-122"/>
              </a:rPr>
              <a:t>cout</a:t>
            </a:r>
            <a:r>
              <a:rPr kumimoji="1" lang="en-US" altLang="zh-CN" sz="1600" b="1" dirty="0">
                <a:solidFill>
                  <a:srgbClr val="000000"/>
                </a:solidFill>
                <a:latin typeface="宋体" panose="02010600030101010101" pitchFamily="2" charset="-122"/>
                <a:ea typeface="宋体" panose="02010600030101010101" pitchFamily="2" charset="-122"/>
              </a:rPr>
              <a:t> &lt;&lt; "</a:t>
            </a:r>
            <a:r>
              <a:rPr kumimoji="1" lang="en-US" altLang="zh-CN" sz="1600" b="1" dirty="0" err="1">
                <a:solidFill>
                  <a:srgbClr val="000000"/>
                </a:solidFill>
                <a:latin typeface="宋体" panose="02010600030101010101" pitchFamily="2" charset="-122"/>
                <a:ea typeface="宋体" panose="02010600030101010101" pitchFamily="2" charset="-122"/>
              </a:rPr>
              <a:t>addr</a:t>
            </a:r>
            <a:r>
              <a:rPr kumimoji="1" lang="en-US" altLang="zh-CN" sz="1600" b="1" dirty="0">
                <a:solidFill>
                  <a:srgbClr val="000000"/>
                </a:solidFill>
                <a:latin typeface="宋体" panose="02010600030101010101" pitchFamily="2" charset="-122"/>
                <a:ea typeface="宋体" panose="02010600030101010101" pitchFamily="2" charset="-122"/>
              </a:rPr>
              <a:t>:" &lt;&lt; hex &lt;&lt; (void *)(p) &lt;&lt; </a:t>
            </a:r>
            <a:r>
              <a:rPr kumimoji="1" lang="en-US" altLang="zh-CN" sz="1600" b="1" dirty="0" err="1">
                <a:solidFill>
                  <a:srgbClr val="000000"/>
                </a:solidFill>
                <a:latin typeface="宋体" panose="02010600030101010101" pitchFamily="2" charset="-122"/>
                <a:ea typeface="宋体" panose="02010600030101010101" pitchFamily="2" charset="-122"/>
              </a:rPr>
              <a:t>endl</a:t>
            </a:r>
            <a:r>
              <a:rPr kumimoji="1" lang="en-US" altLang="zh-CN" sz="1600" b="1" dirty="0">
                <a:solidFill>
                  <a:srgbClr val="000000"/>
                </a:solidFill>
                <a:latin typeface="宋体" panose="02010600030101010101" pitchFamily="2" charset="-122"/>
                <a:ea typeface="宋体" panose="02010600030101010101" pitchFamily="2" charset="-122"/>
              </a:rPr>
              <a:t>;</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nn-NO" altLang="zh-CN" sz="1600" b="1" dirty="0">
                <a:solidFill>
                  <a:srgbClr val="000000"/>
                </a:solidFill>
                <a:latin typeface="宋体" panose="02010600030101010101" pitchFamily="2" charset="-122"/>
                <a:ea typeface="宋体" panose="02010600030101010101" pitchFamily="2" charset="-122"/>
              </a:rPr>
              <a:t>    for (int i = </a:t>
            </a:r>
            <a:r>
              <a:rPr kumimoji="1" lang="en-US" altLang="zh-CN" sz="1600" b="1" dirty="0">
                <a:solidFill>
                  <a:srgbClr val="000000"/>
                </a:solidFill>
                <a:latin typeface="宋体" panose="02010600030101010101" pitchFamily="2" charset="-122"/>
                <a:ea typeface="宋体" panose="02010600030101010101" pitchFamily="2" charset="-122"/>
              </a:rPr>
              <a:t>-4</a:t>
            </a:r>
            <a:r>
              <a:rPr kumimoji="1" lang="nn-NO" altLang="zh-CN" sz="1600" b="1" dirty="0">
                <a:solidFill>
                  <a:srgbClr val="000000"/>
                </a:solidFill>
                <a:latin typeface="宋体" panose="02010600030101010101" pitchFamily="2" charset="-122"/>
                <a:ea typeface="宋体" panose="02010600030101010101" pitchFamily="2" charset="-122"/>
              </a:rPr>
              <a:t>; i &lt; 16; i++) //</a:t>
            </a:r>
            <a:r>
              <a:rPr kumimoji="1" lang="zh-CN" altLang="en-US" sz="1600" b="1" dirty="0">
                <a:solidFill>
                  <a:srgbClr val="000000"/>
                </a:solidFill>
                <a:latin typeface="宋体" panose="02010600030101010101" pitchFamily="2" charset="-122"/>
                <a:ea typeface="宋体" panose="02010600030101010101" pitchFamily="2" charset="-122"/>
              </a:rPr>
              <a:t>注意，只有</a:t>
            </a:r>
            <a:r>
              <a:rPr kumimoji="1" lang="en-US" altLang="zh-CN" sz="1600" b="1" dirty="0">
                <a:solidFill>
                  <a:srgbClr val="000000"/>
                </a:solidFill>
                <a:latin typeface="宋体" panose="02010600030101010101" pitchFamily="2" charset="-122"/>
                <a:ea typeface="宋体" panose="02010600030101010101" pitchFamily="2" charset="-122"/>
              </a:rPr>
              <a:t>0-9</a:t>
            </a:r>
            <a:r>
              <a:rPr kumimoji="1" lang="zh-CN" altLang="en-US" sz="1600" b="1" dirty="0">
                <a:solidFill>
                  <a:srgbClr val="000000"/>
                </a:solidFill>
                <a:latin typeface="宋体" panose="02010600030101010101" pitchFamily="2" charset="-122"/>
                <a:ea typeface="宋体" panose="02010600030101010101" pitchFamily="2" charset="-122"/>
              </a:rPr>
              <a:t>是合理范围，其余都是</a:t>
            </a:r>
            <a:r>
              <a:rPr kumimoji="1" lang="zh-CN" altLang="en-US" sz="1600" b="1" dirty="0">
                <a:solidFill>
                  <a:srgbClr val="FF0000"/>
                </a:solidFill>
                <a:latin typeface="宋体" panose="02010600030101010101" pitchFamily="2" charset="-122"/>
                <a:ea typeface="宋体" panose="02010600030101010101" pitchFamily="2" charset="-122"/>
              </a:rPr>
              <a:t>越界读</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        </a:t>
            </a:r>
            <a:r>
              <a:rPr kumimoji="1" lang="en-US" altLang="zh-CN" sz="1600" b="1" dirty="0" err="1">
                <a:solidFill>
                  <a:srgbClr val="000000"/>
                </a:solidFill>
                <a:latin typeface="宋体" panose="02010600030101010101" pitchFamily="2" charset="-122"/>
                <a:ea typeface="宋体" panose="02010600030101010101" pitchFamily="2" charset="-122"/>
              </a:rPr>
              <a:t>cout</a:t>
            </a:r>
            <a:r>
              <a:rPr kumimoji="1" lang="en-US" altLang="zh-CN" sz="1600" b="1" dirty="0">
                <a:solidFill>
                  <a:srgbClr val="000000"/>
                </a:solidFill>
                <a:latin typeface="宋体" panose="02010600030101010101" pitchFamily="2" charset="-122"/>
                <a:ea typeface="宋体" panose="02010600030101010101" pitchFamily="2" charset="-122"/>
              </a:rPr>
              <a:t> &lt;&lt; hex &lt;&lt; (void *)(p + </a:t>
            </a:r>
            <a:r>
              <a:rPr kumimoji="1" lang="en-US" altLang="zh-CN" sz="1600" b="1" dirty="0" err="1">
                <a:solidFill>
                  <a:srgbClr val="000000"/>
                </a:solidFill>
                <a:latin typeface="宋体" panose="02010600030101010101" pitchFamily="2" charset="-122"/>
                <a:ea typeface="宋体" panose="02010600030101010101" pitchFamily="2" charset="-122"/>
              </a:rPr>
              <a:t>i</a:t>
            </a:r>
            <a:r>
              <a:rPr kumimoji="1" lang="en-US" altLang="zh-CN" sz="1600" b="1" dirty="0">
                <a:solidFill>
                  <a:srgbClr val="000000"/>
                </a:solidFill>
                <a:latin typeface="宋体" panose="02010600030101010101" pitchFamily="2" charset="-122"/>
                <a:ea typeface="宋体" panose="02010600030101010101" pitchFamily="2" charset="-122"/>
              </a:rPr>
              <a:t>) &lt;&lt; ":" &lt;&lt; int(p[</a:t>
            </a:r>
            <a:r>
              <a:rPr kumimoji="1" lang="en-US" altLang="zh-CN" sz="1600" b="1" dirty="0" err="1">
                <a:solidFill>
                  <a:srgbClr val="000000"/>
                </a:solidFill>
                <a:latin typeface="宋体" panose="02010600030101010101" pitchFamily="2" charset="-122"/>
                <a:ea typeface="宋体" panose="02010600030101010101" pitchFamily="2" charset="-122"/>
              </a:rPr>
              <a:t>i</a:t>
            </a:r>
            <a:r>
              <a:rPr kumimoji="1" lang="en-US" altLang="zh-CN" sz="1600" b="1" dirty="0">
                <a:solidFill>
                  <a:srgbClr val="000000"/>
                </a:solidFill>
                <a:latin typeface="宋体" panose="02010600030101010101" pitchFamily="2" charset="-122"/>
                <a:ea typeface="宋体" panose="02010600030101010101" pitchFamily="2" charset="-122"/>
              </a:rPr>
              <a:t>]) &lt;&lt; </a:t>
            </a:r>
            <a:r>
              <a:rPr kumimoji="1" lang="en-US" altLang="zh-CN" sz="1600" b="1" dirty="0" err="1">
                <a:solidFill>
                  <a:srgbClr val="000000"/>
                </a:solidFill>
                <a:latin typeface="宋体" panose="02010600030101010101" pitchFamily="2" charset="-122"/>
                <a:ea typeface="宋体" panose="02010600030101010101" pitchFamily="2" charset="-122"/>
              </a:rPr>
              <a:t>endl</a:t>
            </a:r>
            <a:r>
              <a:rPr kumimoji="1" lang="en-US" altLang="zh-CN" sz="1600" b="1" dirty="0">
                <a:solidFill>
                  <a:srgbClr val="000000"/>
                </a:solidFill>
                <a:latin typeface="宋体" panose="02010600030101010101" pitchFamily="2" charset="-122"/>
                <a:ea typeface="宋体" panose="02010600030101010101" pitchFamily="2" charset="-122"/>
              </a:rPr>
              <a:t>;</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FF0000"/>
                </a:solidFill>
                <a:latin typeface="宋体" panose="02010600030101010101" pitchFamily="2" charset="-122"/>
                <a:ea typeface="宋体" panose="02010600030101010101" pitchFamily="2" charset="-122"/>
              </a:rPr>
              <a:t>③  delete[]p;</a:t>
            </a:r>
            <a:endParaRPr kumimoji="1" lang="en-US" altLang="zh-CN" sz="1600" b="1" dirty="0">
              <a:solidFill>
                <a:srgbClr val="FF0000"/>
              </a:solidFill>
              <a:latin typeface="宋体" panose="02010600030101010101" pitchFamily="2" charset="-122"/>
              <a:ea typeface="宋体" panose="02010600030101010101" pitchFamily="2" charset="-122"/>
            </a:endParaRPr>
          </a:p>
          <a:p>
            <a:pPr fontAlgn="base">
              <a:spcBef>
                <a:spcPct val="0"/>
              </a:spcBef>
              <a:spcAft>
                <a:spcPct val="0"/>
              </a:spcAft>
            </a:pP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    return 0;</a:t>
            </a:r>
            <a:endParaRPr kumimoji="1" lang="en-US" altLang="zh-CN" sz="1600"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sz="1600" b="1" dirty="0">
                <a:solidFill>
                  <a:srgbClr val="000000"/>
                </a:solidFill>
                <a:latin typeface="宋体" panose="02010600030101010101" pitchFamily="2" charset="-122"/>
                <a:ea typeface="宋体" panose="02010600030101010101" pitchFamily="2" charset="-122"/>
              </a:rPr>
              <a:t>}</a:t>
            </a:r>
            <a:endParaRPr kumimoji="1" lang="zh-CN" altLang="en-US" sz="1600" b="1" dirty="0">
              <a:solidFill>
                <a:srgbClr val="000000"/>
              </a:solidFill>
              <a:latin typeface="宋体" panose="02010600030101010101" pitchFamily="2" charset="-122"/>
              <a:ea typeface="宋体" panose="02010600030101010101" pitchFamily="2" charset="-122"/>
            </a:endParaRPr>
          </a:p>
        </p:txBody>
      </p:sp>
      <p:sp>
        <p:nvSpPr>
          <p:cNvPr id="4" name="矩形 3"/>
          <p:cNvSpPr/>
          <p:nvPr/>
        </p:nvSpPr>
        <p:spPr bwMode="auto">
          <a:xfrm>
            <a:off x="7202006" y="980727"/>
            <a:ext cx="3744416" cy="4030888"/>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r>
              <a:rPr kumimoji="1" lang="zh-CN" altLang="en-US" sz="1600" b="1" dirty="0">
                <a:solidFill>
                  <a:srgbClr val="FF0000"/>
                </a:solidFill>
                <a:latin typeface="+mn-ea"/>
              </a:rPr>
              <a:t>在</a:t>
            </a:r>
            <a:r>
              <a:rPr kumimoji="1" lang="en-US" altLang="zh-CN" sz="1600" b="1" dirty="0">
                <a:solidFill>
                  <a:srgbClr val="FF0000"/>
                </a:solidFill>
                <a:latin typeface="+mn-ea"/>
              </a:rPr>
              <a:t>VS2022</a:t>
            </a:r>
            <a:r>
              <a:rPr kumimoji="1" lang="zh-CN" altLang="en-US" sz="1600" b="1" dirty="0">
                <a:solidFill>
                  <a:srgbClr val="FF0000"/>
                </a:solidFill>
                <a:latin typeface="+mn-ea"/>
              </a:rPr>
              <a:t>的</a:t>
            </a:r>
            <a:r>
              <a:rPr kumimoji="1" lang="en-US" altLang="zh-CN" sz="1600" b="1" dirty="0">
                <a:solidFill>
                  <a:srgbClr val="FF0000"/>
                </a:solidFill>
                <a:latin typeface="+mn-ea"/>
              </a:rPr>
              <a:t>x86/Debug</a:t>
            </a:r>
            <a:r>
              <a:rPr kumimoji="1" lang="zh-CN" altLang="en-US" sz="1600" b="1" dirty="0">
                <a:solidFill>
                  <a:srgbClr val="FF0000"/>
                </a:solidFill>
                <a:latin typeface="+mn-ea"/>
              </a:rPr>
              <a:t>模式下运行：</a:t>
            </a:r>
            <a:endParaRPr kumimoji="1" lang="en-US" altLang="zh-CN" sz="1600" b="1" dirty="0">
              <a:solidFill>
                <a:srgbClr val="FF0000"/>
              </a:solidFill>
              <a:latin typeface="+mn-ea"/>
            </a:endParaRPr>
          </a:p>
          <a:p>
            <a:pPr fontAlgn="base">
              <a:spcBef>
                <a:spcPct val="0"/>
              </a:spcBef>
              <a:spcAft>
                <a:spcPct val="0"/>
              </a:spcAft>
            </a:pPr>
            <a:r>
              <a:rPr kumimoji="1" lang="en-US" altLang="zh-CN" sz="1600" b="1" dirty="0">
                <a:solidFill>
                  <a:srgbClr val="FF0000"/>
                </a:solidFill>
                <a:latin typeface="+mn-ea"/>
              </a:rPr>
              <a:t>1</a:t>
            </a:r>
            <a:r>
              <a:rPr kumimoji="1" lang="zh-CN" altLang="en-US" sz="1600" b="1" dirty="0">
                <a:solidFill>
                  <a:srgbClr val="FF0000"/>
                </a:solidFill>
                <a:latin typeface="+mn-ea"/>
              </a:rPr>
              <a:t>、</a:t>
            </a:r>
            <a:r>
              <a:rPr kumimoji="1" lang="en-US" altLang="zh-CN" sz="1600" b="1" dirty="0">
                <a:solidFill>
                  <a:srgbClr val="FF0000"/>
                </a:solidFill>
                <a:latin typeface="+mn-ea"/>
              </a:rPr>
              <a:t>①②③</a:t>
            </a:r>
            <a:r>
              <a:rPr kumimoji="1" lang="zh-CN" altLang="en-US" sz="1600" b="1" dirty="0">
                <a:solidFill>
                  <a:srgbClr val="FF0000"/>
                </a:solidFill>
                <a:latin typeface="+mn-ea"/>
              </a:rPr>
              <a:t>全部注释，观察运行结果</a:t>
            </a:r>
            <a:endParaRPr kumimoji="1" lang="en-US" altLang="zh-CN" sz="1600" b="1" dirty="0">
              <a:solidFill>
                <a:srgbClr val="FF0000"/>
              </a:solidFill>
              <a:latin typeface="+mn-ea"/>
            </a:endParaRPr>
          </a:p>
          <a:p>
            <a:pPr fontAlgn="base">
              <a:spcBef>
                <a:spcPct val="0"/>
              </a:spcBef>
              <a:spcAft>
                <a:spcPct val="0"/>
              </a:spcAft>
            </a:pPr>
            <a:r>
              <a:rPr kumimoji="1" lang="en-US" altLang="zh-CN" sz="1600" b="1" dirty="0">
                <a:solidFill>
                  <a:srgbClr val="FF0000"/>
                </a:solidFill>
                <a:latin typeface="+mn-ea"/>
              </a:rPr>
              <a:t>2</a:t>
            </a:r>
            <a:r>
              <a:rPr kumimoji="1" lang="zh-CN" altLang="en-US" sz="1600" b="1" dirty="0">
                <a:solidFill>
                  <a:srgbClr val="FF0000"/>
                </a:solidFill>
                <a:latin typeface="+mn-ea"/>
              </a:rPr>
              <a:t>、</a:t>
            </a:r>
            <a:r>
              <a:rPr kumimoji="1" lang="en-US" altLang="zh-CN" sz="1600" b="1" dirty="0">
                <a:solidFill>
                  <a:srgbClr val="FF0000"/>
                </a:solidFill>
                <a:latin typeface="+mn-ea"/>
              </a:rPr>
              <a:t>①</a:t>
            </a:r>
            <a:r>
              <a:rPr kumimoji="1" lang="zh-CN" altLang="en-US" sz="1600" b="1" dirty="0">
                <a:solidFill>
                  <a:srgbClr val="FF0000"/>
                </a:solidFill>
                <a:latin typeface="+mn-ea"/>
              </a:rPr>
              <a:t>放开，</a:t>
            </a:r>
            <a:r>
              <a:rPr kumimoji="1" lang="en-US" altLang="zh-CN" sz="1600" b="1" dirty="0">
                <a:solidFill>
                  <a:srgbClr val="FF0000"/>
                </a:solidFill>
                <a:latin typeface="+mn-ea"/>
              </a:rPr>
              <a:t>②③</a:t>
            </a:r>
            <a:r>
              <a:rPr kumimoji="1" lang="zh-CN" altLang="en-US" sz="1600" b="1" dirty="0">
                <a:solidFill>
                  <a:srgbClr val="FF0000"/>
                </a:solidFill>
                <a:latin typeface="+mn-ea"/>
              </a:rPr>
              <a:t>注释，观察运行结果</a:t>
            </a:r>
            <a:endParaRPr kumimoji="1" lang="en-US" altLang="zh-CN" sz="1600" b="1" dirty="0">
              <a:solidFill>
                <a:srgbClr val="FF0000"/>
              </a:solidFill>
              <a:latin typeface="+mn-ea"/>
            </a:endParaRPr>
          </a:p>
          <a:p>
            <a:pPr fontAlgn="base">
              <a:spcBef>
                <a:spcPct val="0"/>
              </a:spcBef>
              <a:spcAft>
                <a:spcPct val="0"/>
              </a:spcAft>
            </a:pPr>
            <a:r>
              <a:rPr kumimoji="1" lang="en-US" altLang="zh-CN" sz="1600" b="1" dirty="0">
                <a:solidFill>
                  <a:srgbClr val="FF0000"/>
                </a:solidFill>
                <a:latin typeface="+mn-ea"/>
              </a:rPr>
              <a:t>3</a:t>
            </a:r>
            <a:r>
              <a:rPr kumimoji="1" lang="zh-CN" altLang="en-US" sz="1600" b="1" dirty="0">
                <a:solidFill>
                  <a:srgbClr val="FF0000"/>
                </a:solidFill>
                <a:latin typeface="+mn-ea"/>
              </a:rPr>
              <a:t>、</a:t>
            </a:r>
            <a:r>
              <a:rPr kumimoji="1" lang="en-US" altLang="zh-CN" sz="1600" b="1" dirty="0">
                <a:solidFill>
                  <a:srgbClr val="FF0000"/>
                </a:solidFill>
                <a:latin typeface="+mn-ea"/>
              </a:rPr>
              <a:t>①③</a:t>
            </a:r>
            <a:r>
              <a:rPr kumimoji="1" lang="zh-CN" altLang="en-US" sz="1600" b="1" dirty="0">
                <a:solidFill>
                  <a:srgbClr val="FF0000"/>
                </a:solidFill>
                <a:latin typeface="+mn-ea"/>
              </a:rPr>
              <a:t>放开，</a:t>
            </a:r>
            <a:r>
              <a:rPr kumimoji="1" lang="en-US" altLang="zh-CN" sz="1600" b="1" dirty="0">
                <a:solidFill>
                  <a:srgbClr val="FF0000"/>
                </a:solidFill>
                <a:latin typeface="+mn-ea"/>
              </a:rPr>
              <a:t>②</a:t>
            </a:r>
            <a:r>
              <a:rPr kumimoji="1" lang="zh-CN" altLang="en-US" sz="1600" b="1" dirty="0">
                <a:solidFill>
                  <a:srgbClr val="FF0000"/>
                </a:solidFill>
                <a:latin typeface="+mn-ea"/>
              </a:rPr>
              <a:t>注释，观察运行结果</a:t>
            </a:r>
            <a:endParaRPr kumimoji="1" lang="en-US" altLang="zh-CN" sz="1600" b="1" dirty="0">
              <a:solidFill>
                <a:srgbClr val="FF0000"/>
              </a:solidFill>
              <a:latin typeface="+mn-ea"/>
            </a:endParaRPr>
          </a:p>
          <a:p>
            <a:pPr fontAlgn="base">
              <a:spcBef>
                <a:spcPct val="0"/>
              </a:spcBef>
              <a:spcAft>
                <a:spcPct val="0"/>
              </a:spcAft>
            </a:pPr>
            <a:r>
              <a:rPr kumimoji="1" lang="en-US" altLang="zh-CN" sz="1600" b="1" dirty="0">
                <a:solidFill>
                  <a:srgbClr val="FF0000"/>
                </a:solidFill>
                <a:latin typeface="+mn-ea"/>
              </a:rPr>
              <a:t>4</a:t>
            </a:r>
            <a:r>
              <a:rPr kumimoji="1" lang="zh-CN" altLang="en-US" sz="1600" b="1" dirty="0">
                <a:solidFill>
                  <a:srgbClr val="FF0000"/>
                </a:solidFill>
                <a:latin typeface="+mn-ea"/>
              </a:rPr>
              <a:t>、</a:t>
            </a:r>
            <a:r>
              <a:rPr kumimoji="1" lang="en-US" altLang="zh-CN" sz="1600" b="1" dirty="0">
                <a:solidFill>
                  <a:srgbClr val="FF0000"/>
                </a:solidFill>
                <a:latin typeface="+mn-ea"/>
              </a:rPr>
              <a:t>①②③</a:t>
            </a:r>
            <a:r>
              <a:rPr kumimoji="1" lang="zh-CN" altLang="en-US" sz="1600" b="1" dirty="0">
                <a:solidFill>
                  <a:srgbClr val="FF0000"/>
                </a:solidFill>
                <a:latin typeface="+mn-ea"/>
              </a:rPr>
              <a:t>全部放开，观察运行结果</a:t>
            </a:r>
            <a:endParaRPr kumimoji="1" lang="en-US" altLang="zh-CN" sz="1600" b="1" dirty="0">
              <a:solidFill>
                <a:srgbClr val="FF0000"/>
              </a:solidFill>
              <a:latin typeface="+mn-ea"/>
            </a:endParaRPr>
          </a:p>
          <a:p>
            <a:pPr fontAlgn="base">
              <a:spcBef>
                <a:spcPct val="0"/>
              </a:spcBef>
              <a:spcAft>
                <a:spcPct val="0"/>
              </a:spcAft>
            </a:pPr>
            <a:r>
              <a:rPr kumimoji="1" lang="zh-CN" altLang="en-US" sz="1600" b="1" dirty="0">
                <a:solidFill>
                  <a:srgbClr val="FF0000"/>
                </a:solidFill>
                <a:latin typeface="+mn-ea"/>
              </a:rPr>
              <a:t>结论：</a:t>
            </a:r>
            <a:r>
              <a:rPr kumimoji="1" lang="en-US" altLang="zh-CN" sz="1600" b="1" dirty="0">
                <a:solidFill>
                  <a:srgbClr val="FF0000"/>
                </a:solidFill>
                <a:latin typeface="+mn-ea"/>
              </a:rPr>
              <a:t>VS</a:t>
            </a:r>
            <a:r>
              <a:rPr kumimoji="1" lang="zh-CN" altLang="en-US" sz="1600" b="1" dirty="0">
                <a:solidFill>
                  <a:srgbClr val="FF0000"/>
                </a:solidFill>
                <a:latin typeface="+mn-ea"/>
              </a:rPr>
              <a:t>的</a:t>
            </a:r>
            <a:r>
              <a:rPr kumimoji="1" lang="en-US" altLang="zh-CN" sz="1600" b="1" dirty="0">
                <a:solidFill>
                  <a:srgbClr val="FF0000"/>
                </a:solidFill>
                <a:latin typeface="+mn-ea"/>
              </a:rPr>
              <a:t>Debug</a:t>
            </a:r>
            <a:r>
              <a:rPr kumimoji="1" lang="zh-CN" altLang="en-US" sz="1600" b="1" dirty="0">
                <a:solidFill>
                  <a:srgbClr val="FF0000"/>
                </a:solidFill>
                <a:latin typeface="+mn-ea"/>
              </a:rPr>
              <a:t>模式是如何判断</a:t>
            </a:r>
            <a:endParaRPr kumimoji="1" lang="en-US" altLang="zh-CN" sz="1600" b="1" dirty="0">
              <a:solidFill>
                <a:srgbClr val="FF0000"/>
              </a:solidFill>
              <a:latin typeface="+mn-ea"/>
            </a:endParaRPr>
          </a:p>
          <a:p>
            <a:pPr fontAlgn="base">
              <a:spcBef>
                <a:spcPct val="0"/>
              </a:spcBef>
              <a:spcAft>
                <a:spcPct val="0"/>
              </a:spcAft>
            </a:pPr>
            <a:r>
              <a:rPr kumimoji="1" lang="en-US" altLang="zh-CN" sz="1600" b="1" dirty="0">
                <a:solidFill>
                  <a:srgbClr val="FF0000"/>
                </a:solidFill>
                <a:latin typeface="+mn-ea"/>
              </a:rPr>
              <a:t>      </a:t>
            </a:r>
            <a:r>
              <a:rPr kumimoji="1" lang="zh-CN" altLang="en-US" sz="1600" b="1" dirty="0">
                <a:solidFill>
                  <a:srgbClr val="FF0000"/>
                </a:solidFill>
                <a:latin typeface="+mn-ea"/>
              </a:rPr>
              <a:t>动态申请内存访问越界的？</a:t>
            </a:r>
            <a:endParaRPr kumimoji="1" lang="en-US" altLang="zh-CN" sz="1600" b="1" dirty="0">
              <a:solidFill>
                <a:srgbClr val="FF0000"/>
              </a:solidFill>
              <a:latin typeface="+mn-ea"/>
            </a:endParaRPr>
          </a:p>
          <a:p>
            <a:pPr fontAlgn="base">
              <a:spcBef>
                <a:spcPct val="0"/>
              </a:spcBef>
              <a:spcAft>
                <a:spcPct val="0"/>
              </a:spcAft>
            </a:pPr>
            <a:endParaRPr kumimoji="1" lang="en-US" altLang="zh-CN" sz="1600" b="1" dirty="0">
              <a:solidFill>
                <a:srgbClr val="FF0000"/>
              </a:solidFill>
              <a:latin typeface="+mn-ea"/>
            </a:endParaRPr>
          </a:p>
          <a:p>
            <a:pPr fontAlgn="base">
              <a:spcBef>
                <a:spcPct val="0"/>
              </a:spcBef>
              <a:spcAft>
                <a:spcPct val="0"/>
              </a:spcAft>
            </a:pPr>
            <a:r>
              <a:rPr kumimoji="1" lang="zh-CN" altLang="en-US" sz="1600" b="1" dirty="0">
                <a:solidFill>
                  <a:schemeClr val="accent2"/>
                </a:solidFill>
                <a:latin typeface="+mn-ea"/>
              </a:rPr>
              <a:t>再观察下面四种环境下的运行结果：</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    VS2022 x86/Release</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    Dev 32bit-Debug</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    Dev 32bit-Release</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    Linux</a:t>
            </a:r>
            <a:endParaRPr kumimoji="1" lang="en-US" altLang="zh-CN" sz="1600" b="1" dirty="0">
              <a:solidFill>
                <a:schemeClr val="accent2"/>
              </a:solidFill>
              <a:latin typeface="+mn-ea"/>
            </a:endParaRPr>
          </a:p>
          <a:p>
            <a:pPr fontAlgn="base">
              <a:spcBef>
                <a:spcPct val="0"/>
              </a:spcBef>
              <a:spcAft>
                <a:spcPct val="0"/>
              </a:spcAft>
            </a:pPr>
            <a:r>
              <a:rPr kumimoji="1" lang="zh-CN" altLang="en-US" sz="1600" b="1" dirty="0">
                <a:solidFill>
                  <a:schemeClr val="accent2"/>
                </a:solidFill>
                <a:latin typeface="+mn-ea"/>
              </a:rPr>
              <a:t>每种讨论的结果可截图</a:t>
            </a:r>
            <a:r>
              <a:rPr kumimoji="1" lang="en-US" altLang="zh-CN" sz="1600" b="1" dirty="0">
                <a:solidFill>
                  <a:schemeClr val="accent2"/>
                </a:solidFill>
                <a:latin typeface="+mn-ea"/>
              </a:rPr>
              <a:t>+</a:t>
            </a:r>
            <a:r>
              <a:rPr kumimoji="1" lang="zh-CN" altLang="en-US" sz="1600" b="1" dirty="0">
                <a:solidFill>
                  <a:schemeClr val="accent2"/>
                </a:solidFill>
                <a:latin typeface="+mn-ea"/>
              </a:rPr>
              <a:t>文字说明，</a:t>
            </a:r>
            <a:endParaRPr kumimoji="1" lang="en-US" altLang="zh-CN" sz="1600" b="1" dirty="0">
              <a:solidFill>
                <a:schemeClr val="accent2"/>
              </a:solidFill>
              <a:latin typeface="+mn-ea"/>
            </a:endParaRPr>
          </a:p>
          <a:p>
            <a:pPr fontAlgn="base">
              <a:spcBef>
                <a:spcPct val="0"/>
              </a:spcBef>
              <a:spcAft>
                <a:spcPct val="0"/>
              </a:spcAft>
            </a:pPr>
            <a:r>
              <a:rPr kumimoji="1" lang="zh-CN" altLang="en-US" sz="1600" b="1" dirty="0">
                <a:solidFill>
                  <a:schemeClr val="accent2"/>
                </a:solidFill>
                <a:latin typeface="+mn-ea"/>
              </a:rPr>
              <a:t>如果几种环境的结果一致，用一个</a:t>
            </a:r>
            <a:endParaRPr kumimoji="1" lang="en-US" altLang="zh-CN" sz="1600" b="1" dirty="0">
              <a:solidFill>
                <a:schemeClr val="accent2"/>
              </a:solidFill>
              <a:latin typeface="+mn-ea"/>
            </a:endParaRPr>
          </a:p>
          <a:p>
            <a:pPr fontAlgn="base">
              <a:spcBef>
                <a:spcPct val="0"/>
              </a:spcBef>
              <a:spcAft>
                <a:spcPct val="0"/>
              </a:spcAft>
            </a:pPr>
            <a:r>
              <a:rPr kumimoji="1" lang="zh-CN" altLang="en-US" sz="1600" b="1" dirty="0">
                <a:solidFill>
                  <a:schemeClr val="accent2"/>
                </a:solidFill>
                <a:latin typeface="+mn-ea"/>
              </a:rPr>
              <a:t>环境的截图</a:t>
            </a:r>
            <a:r>
              <a:rPr kumimoji="1" lang="en-US" altLang="zh-CN" sz="1600" b="1" dirty="0">
                <a:solidFill>
                  <a:schemeClr val="accent2"/>
                </a:solidFill>
                <a:latin typeface="+mn-ea"/>
              </a:rPr>
              <a:t>+</a:t>
            </a:r>
            <a:r>
              <a:rPr kumimoji="1" lang="zh-CN" altLang="en-US" sz="1600" b="1" dirty="0">
                <a:solidFill>
                  <a:schemeClr val="accent2"/>
                </a:solidFill>
                <a:latin typeface="+mn-ea"/>
              </a:rPr>
              <a:t>文字说明即可</a:t>
            </a:r>
            <a:r>
              <a:rPr kumimoji="1" lang="en-US" altLang="zh-CN" sz="1600" b="1" dirty="0">
                <a:solidFill>
                  <a:schemeClr val="accent2"/>
                </a:solidFill>
                <a:latin typeface="+mn-ea"/>
              </a:rPr>
              <a:t>(</a:t>
            </a:r>
            <a:r>
              <a:rPr kumimoji="1" lang="zh-CN" altLang="en-US" sz="1600" b="1" dirty="0">
                <a:solidFill>
                  <a:schemeClr val="accent2"/>
                </a:solidFill>
                <a:latin typeface="+mn-ea"/>
              </a:rPr>
              <a:t>可加页</a:t>
            </a:r>
            <a:r>
              <a:rPr kumimoji="1" lang="en-US" altLang="zh-CN" sz="1600" b="1" dirty="0">
                <a:solidFill>
                  <a:schemeClr val="accent2"/>
                </a:solidFill>
                <a:latin typeface="+mn-ea"/>
              </a:rPr>
              <a:t>)</a:t>
            </a:r>
            <a:endParaRPr kumimoji="1" lang="en-US" altLang="zh-CN" sz="1600" b="1" dirty="0">
              <a:solidFill>
                <a:schemeClr val="accent2"/>
              </a:solidFill>
              <a:latin typeface="+mn-ea"/>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327660" y="95885"/>
            <a:ext cx="2708275" cy="675640"/>
          </a:xfrm>
          <a:prstGeom prst="rect">
            <a:avLst/>
          </a:prstGeom>
          <a:noFill/>
        </p:spPr>
        <p:txBody>
          <a:bodyPr wrap="square" rtlCol="0">
            <a:spAutoFit/>
          </a:bodyPr>
          <a:p>
            <a:r>
              <a:rPr lang="en-US" altLang="zh-CN" sz="2000" b="1"/>
              <a:t>VS2022  x86/Debug      </a:t>
            </a:r>
            <a:endParaRPr lang="en-US" altLang="zh-CN" sz="2000" b="1"/>
          </a:p>
          <a:p>
            <a:r>
              <a:rPr kumimoji="1" lang="en-US" altLang="zh-CN" b="1" dirty="0">
                <a:solidFill>
                  <a:srgbClr val="FF0000"/>
                </a:solidFill>
                <a:latin typeface="+mn-ea"/>
                <a:sym typeface="+mn-ea"/>
              </a:rPr>
              <a:t>1</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①②③</a:t>
            </a:r>
            <a:r>
              <a:rPr kumimoji="1" lang="zh-CN" altLang="en-US" b="1" dirty="0">
                <a:solidFill>
                  <a:srgbClr val="FF0000"/>
                </a:solidFill>
                <a:latin typeface="+mn-ea"/>
                <a:sym typeface="+mn-ea"/>
              </a:rPr>
              <a:t>全部注释</a:t>
            </a:r>
            <a:endParaRPr lang="en-US" altLang="zh-CN"/>
          </a:p>
        </p:txBody>
      </p:sp>
      <p:sp>
        <p:nvSpPr>
          <p:cNvPr id="6" name="文本框 5"/>
          <p:cNvSpPr txBox="1"/>
          <p:nvPr/>
        </p:nvSpPr>
        <p:spPr>
          <a:xfrm>
            <a:off x="2936875" y="403225"/>
            <a:ext cx="2436495" cy="368300"/>
          </a:xfrm>
          <a:prstGeom prst="rect">
            <a:avLst/>
          </a:prstGeom>
          <a:noFill/>
        </p:spPr>
        <p:txBody>
          <a:bodyPr wrap="square" rtlCol="0" anchor="t">
            <a:spAutoFit/>
          </a:bodyPr>
          <a:p>
            <a:r>
              <a:rPr kumimoji="1" lang="en-US" altLang="zh-CN" b="1" dirty="0">
                <a:solidFill>
                  <a:srgbClr val="FF0000"/>
                </a:solidFill>
                <a:latin typeface="+mn-ea"/>
                <a:sym typeface="+mn-ea"/>
              </a:rPr>
              <a:t>2</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a:t>
            </a:r>
            <a:r>
              <a:rPr kumimoji="1" lang="zh-CN" altLang="en-US" b="1" dirty="0">
                <a:solidFill>
                  <a:srgbClr val="FF0000"/>
                </a:solidFill>
                <a:latin typeface="+mn-ea"/>
                <a:sym typeface="+mn-ea"/>
              </a:rPr>
              <a:t>放开，</a:t>
            </a:r>
            <a:r>
              <a:rPr kumimoji="1" lang="en-US" altLang="zh-CN" b="1" dirty="0">
                <a:solidFill>
                  <a:srgbClr val="FF0000"/>
                </a:solidFill>
                <a:latin typeface="+mn-ea"/>
                <a:sym typeface="+mn-ea"/>
              </a:rPr>
              <a:t>②③</a:t>
            </a:r>
            <a:r>
              <a:rPr kumimoji="1" lang="zh-CN" altLang="en-US" b="1" dirty="0">
                <a:solidFill>
                  <a:srgbClr val="FF0000"/>
                </a:solidFill>
                <a:latin typeface="+mn-ea"/>
                <a:sym typeface="+mn-ea"/>
              </a:rPr>
              <a:t>注释</a:t>
            </a:r>
            <a:endParaRPr kumimoji="1" lang="zh-CN" altLang="en-US" b="1" dirty="0">
              <a:solidFill>
                <a:srgbClr val="FF0000"/>
              </a:solidFill>
              <a:latin typeface="+mn-ea"/>
              <a:sym typeface="+mn-ea"/>
            </a:endParaRPr>
          </a:p>
        </p:txBody>
      </p:sp>
      <p:sp>
        <p:nvSpPr>
          <p:cNvPr id="7" name="文本框 6"/>
          <p:cNvSpPr txBox="1"/>
          <p:nvPr/>
        </p:nvSpPr>
        <p:spPr>
          <a:xfrm>
            <a:off x="5608955" y="403225"/>
            <a:ext cx="2467610" cy="368300"/>
          </a:xfrm>
          <a:prstGeom prst="rect">
            <a:avLst/>
          </a:prstGeom>
          <a:noFill/>
        </p:spPr>
        <p:txBody>
          <a:bodyPr wrap="square" rtlCol="0" anchor="t">
            <a:spAutoFit/>
          </a:bodyPr>
          <a:p>
            <a:r>
              <a:rPr kumimoji="1" lang="en-US" altLang="zh-CN" b="1" dirty="0">
                <a:solidFill>
                  <a:srgbClr val="FF0000"/>
                </a:solidFill>
                <a:latin typeface="+mn-ea"/>
                <a:sym typeface="+mn-ea"/>
              </a:rPr>
              <a:t>3</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①③</a:t>
            </a:r>
            <a:r>
              <a:rPr kumimoji="1" lang="zh-CN" altLang="en-US" b="1" dirty="0">
                <a:solidFill>
                  <a:srgbClr val="FF0000"/>
                </a:solidFill>
                <a:latin typeface="+mn-ea"/>
                <a:sym typeface="+mn-ea"/>
              </a:rPr>
              <a:t>放开，</a:t>
            </a:r>
            <a:r>
              <a:rPr kumimoji="1" lang="en-US" altLang="zh-CN" b="1" dirty="0">
                <a:solidFill>
                  <a:srgbClr val="FF0000"/>
                </a:solidFill>
                <a:latin typeface="+mn-ea"/>
                <a:sym typeface="+mn-ea"/>
              </a:rPr>
              <a:t>②</a:t>
            </a:r>
            <a:r>
              <a:rPr kumimoji="1" lang="zh-CN" altLang="en-US" b="1" dirty="0">
                <a:solidFill>
                  <a:srgbClr val="FF0000"/>
                </a:solidFill>
                <a:latin typeface="+mn-ea"/>
                <a:sym typeface="+mn-ea"/>
              </a:rPr>
              <a:t>注释</a:t>
            </a:r>
            <a:endParaRPr kumimoji="1" lang="zh-CN" altLang="en-US" b="1" dirty="0">
              <a:solidFill>
                <a:srgbClr val="FF0000"/>
              </a:solidFill>
              <a:latin typeface="+mn-ea"/>
              <a:sym typeface="+mn-ea"/>
            </a:endParaRPr>
          </a:p>
        </p:txBody>
      </p:sp>
      <p:sp>
        <p:nvSpPr>
          <p:cNvPr id="10" name="文本框 9"/>
          <p:cNvSpPr txBox="1"/>
          <p:nvPr/>
        </p:nvSpPr>
        <p:spPr>
          <a:xfrm>
            <a:off x="8681085" y="403225"/>
            <a:ext cx="2356485" cy="368300"/>
          </a:xfrm>
          <a:prstGeom prst="rect">
            <a:avLst/>
          </a:prstGeom>
          <a:noFill/>
        </p:spPr>
        <p:txBody>
          <a:bodyPr wrap="square" rtlCol="0" anchor="t">
            <a:spAutoFit/>
          </a:bodyPr>
          <a:p>
            <a:r>
              <a:rPr kumimoji="1" lang="en-US" altLang="zh-CN" b="1" dirty="0">
                <a:solidFill>
                  <a:srgbClr val="FF0000"/>
                </a:solidFill>
                <a:latin typeface="+mn-ea"/>
                <a:sym typeface="+mn-ea"/>
              </a:rPr>
              <a:t>4</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①②③</a:t>
            </a:r>
            <a:r>
              <a:rPr kumimoji="1" lang="zh-CN" altLang="en-US" b="1" dirty="0">
                <a:solidFill>
                  <a:srgbClr val="FF0000"/>
                </a:solidFill>
                <a:latin typeface="+mn-ea"/>
                <a:sym typeface="+mn-ea"/>
              </a:rPr>
              <a:t>全部放开</a:t>
            </a:r>
            <a:endParaRPr kumimoji="1" lang="zh-CN" altLang="en-US" b="1" dirty="0">
              <a:solidFill>
                <a:srgbClr val="FF0000"/>
              </a:solidFill>
              <a:latin typeface="+mn-ea"/>
              <a:sym typeface="+mn-ea"/>
            </a:endParaRPr>
          </a:p>
        </p:txBody>
      </p:sp>
      <p:sp>
        <p:nvSpPr>
          <p:cNvPr id="18" name="文本框 17"/>
          <p:cNvSpPr txBox="1"/>
          <p:nvPr/>
        </p:nvSpPr>
        <p:spPr>
          <a:xfrm>
            <a:off x="153670" y="5387975"/>
            <a:ext cx="11748135" cy="1198880"/>
          </a:xfrm>
          <a:prstGeom prst="rect">
            <a:avLst/>
          </a:prstGeom>
          <a:noFill/>
        </p:spPr>
        <p:txBody>
          <a:bodyPr wrap="square" rtlCol="0">
            <a:spAutoFit/>
          </a:bodyPr>
          <a:p>
            <a:r>
              <a:rPr lang="zh-CN" altLang="en-US" b="1">
                <a:solidFill>
                  <a:schemeClr val="accent2"/>
                </a:solidFill>
              </a:rPr>
              <a:t>结论：</a:t>
            </a:r>
            <a:r>
              <a:rPr lang="en-US" altLang="zh-CN">
                <a:solidFill>
                  <a:schemeClr val="accent2"/>
                </a:solidFill>
              </a:rPr>
              <a:t>1.VS2022</a:t>
            </a:r>
            <a:r>
              <a:rPr lang="zh-CN" altLang="en-US">
                <a:solidFill>
                  <a:schemeClr val="accent2"/>
                </a:solidFill>
              </a:rPr>
              <a:t>的</a:t>
            </a:r>
            <a:r>
              <a:rPr lang="en-US" altLang="zh-CN">
                <a:solidFill>
                  <a:schemeClr val="accent2"/>
                </a:solidFill>
              </a:rPr>
              <a:t>x86/Debug</a:t>
            </a:r>
            <a:r>
              <a:rPr lang="zh-CN" altLang="en-US">
                <a:solidFill>
                  <a:schemeClr val="accent2"/>
                </a:solidFill>
              </a:rPr>
              <a:t>模式下，只有自行释放动态申请的内存（即</a:t>
            </a:r>
            <a:r>
              <a:rPr lang="en-US" altLang="zh-CN">
                <a:solidFill>
                  <a:schemeClr val="accent2"/>
                </a:solidFill>
              </a:rPr>
              <a:t>free</a:t>
            </a:r>
            <a:r>
              <a:rPr lang="zh-CN" altLang="en-US">
                <a:solidFill>
                  <a:schemeClr val="accent2"/>
                </a:solidFill>
              </a:rPr>
              <a:t>语句）时才会判断内存访问是否越界。</a:t>
            </a:r>
            <a:endParaRPr lang="zh-CN" altLang="en-US">
              <a:solidFill>
                <a:schemeClr val="accent2"/>
              </a:solidFill>
            </a:endParaRPr>
          </a:p>
          <a:p>
            <a:r>
              <a:rPr lang="en-US" altLang="zh-CN">
                <a:solidFill>
                  <a:schemeClr val="accent2"/>
                </a:solidFill>
              </a:rPr>
              <a:t>            2.</a:t>
            </a:r>
            <a:r>
              <a:rPr lang="zh-CN" altLang="en-US">
                <a:solidFill>
                  <a:schemeClr val="accent2"/>
                </a:solidFill>
              </a:rPr>
              <a:t>该模式下，VS 会在动态分配的内存块的前后</a:t>
            </a:r>
            <a:r>
              <a:rPr lang="en-US" altLang="zh-CN">
                <a:solidFill>
                  <a:schemeClr val="accent2"/>
                </a:solidFill>
                <a:sym typeface="+mn-ea"/>
              </a:rPr>
              <a:t>4</a:t>
            </a:r>
            <a:r>
              <a:rPr lang="zh-CN" altLang="en-US">
                <a:solidFill>
                  <a:schemeClr val="accent2"/>
                </a:solidFill>
                <a:sym typeface="+mn-ea"/>
              </a:rPr>
              <a:t>个地址</a:t>
            </a:r>
            <a:r>
              <a:rPr lang="zh-CN" altLang="en-US">
                <a:solidFill>
                  <a:schemeClr val="accent2"/>
                </a:solidFill>
              </a:rPr>
              <a:t>添加额外的特定值来判断访问是否越界。当这些值与特定值不符时，判断内存访问越界，报错；当值没有被改变，即使越界访问也不会判定错误。所以，当越界访问的位置超出特定值的范围，或者访问特定值的位置但并没有修改为不同的值时（情况</a:t>
            </a:r>
            <a:r>
              <a:rPr lang="en-US" altLang="zh-CN">
                <a:solidFill>
                  <a:schemeClr val="accent2"/>
                </a:solidFill>
              </a:rPr>
              <a:t>2</a:t>
            </a:r>
            <a:r>
              <a:rPr lang="zh-CN" altLang="en-US">
                <a:solidFill>
                  <a:schemeClr val="accent2"/>
                </a:solidFill>
              </a:rPr>
              <a:t>），程序并没有报错。</a:t>
            </a:r>
            <a:endParaRPr lang="zh-CN" altLang="en-US">
              <a:solidFill>
                <a:schemeClr val="accent2"/>
              </a:solidFill>
            </a:endParaRPr>
          </a:p>
        </p:txBody>
      </p:sp>
      <p:pic>
        <p:nvPicPr>
          <p:cNvPr id="2" name="图片 1"/>
          <p:cNvPicPr>
            <a:picLocks noChangeAspect="1"/>
          </p:cNvPicPr>
          <p:nvPr/>
        </p:nvPicPr>
        <p:blipFill>
          <a:blip r:embed="rId1"/>
          <a:stretch>
            <a:fillRect/>
          </a:stretch>
        </p:blipFill>
        <p:spPr>
          <a:xfrm>
            <a:off x="431800" y="771525"/>
            <a:ext cx="1837690" cy="3921125"/>
          </a:xfrm>
          <a:prstGeom prst="rect">
            <a:avLst/>
          </a:prstGeom>
        </p:spPr>
      </p:pic>
      <p:pic>
        <p:nvPicPr>
          <p:cNvPr id="3" name="图片 2"/>
          <p:cNvPicPr>
            <a:picLocks noChangeAspect="1"/>
          </p:cNvPicPr>
          <p:nvPr/>
        </p:nvPicPr>
        <p:blipFill>
          <a:blip r:embed="rId2"/>
          <a:stretch>
            <a:fillRect/>
          </a:stretch>
        </p:blipFill>
        <p:spPr>
          <a:xfrm>
            <a:off x="3092450" y="770890"/>
            <a:ext cx="1824990" cy="4346575"/>
          </a:xfrm>
          <a:prstGeom prst="rect">
            <a:avLst/>
          </a:prstGeom>
        </p:spPr>
      </p:pic>
      <p:pic>
        <p:nvPicPr>
          <p:cNvPr id="8" name="图片 7"/>
          <p:cNvPicPr>
            <a:picLocks noChangeAspect="1"/>
          </p:cNvPicPr>
          <p:nvPr/>
        </p:nvPicPr>
        <p:blipFill>
          <a:blip r:embed="rId3"/>
          <a:stretch>
            <a:fillRect/>
          </a:stretch>
        </p:blipFill>
        <p:spPr>
          <a:xfrm>
            <a:off x="5287645" y="714375"/>
            <a:ext cx="3110230" cy="4613275"/>
          </a:xfrm>
          <a:prstGeom prst="rect">
            <a:avLst/>
          </a:prstGeom>
        </p:spPr>
      </p:pic>
      <p:pic>
        <p:nvPicPr>
          <p:cNvPr id="9" name="图片 8"/>
          <p:cNvPicPr>
            <a:picLocks noChangeAspect="1"/>
          </p:cNvPicPr>
          <p:nvPr/>
        </p:nvPicPr>
        <p:blipFill>
          <a:blip r:embed="rId4"/>
          <a:stretch>
            <a:fillRect/>
          </a:stretch>
        </p:blipFill>
        <p:spPr>
          <a:xfrm>
            <a:off x="8919210" y="714375"/>
            <a:ext cx="1815465" cy="41014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340360" y="95885"/>
            <a:ext cx="8909050" cy="675640"/>
          </a:xfrm>
          <a:prstGeom prst="rect">
            <a:avLst/>
          </a:prstGeom>
          <a:noFill/>
        </p:spPr>
        <p:txBody>
          <a:bodyPr wrap="square" rtlCol="0">
            <a:spAutoFit/>
          </a:bodyPr>
          <a:p>
            <a:r>
              <a:rPr lang="en-US" altLang="zh-CN" sz="2000" b="1"/>
              <a:t>VS2022  x86/Release   </a:t>
            </a:r>
            <a:r>
              <a:rPr lang="en-US" altLang="zh-CN" sz="2000" b="1">
                <a:sym typeface="+mn-ea"/>
              </a:rPr>
              <a:t>Dev 32bit/Debug   Dev 32bit/Release   </a:t>
            </a:r>
            <a:endParaRPr lang="en-US" altLang="zh-CN" sz="2000" b="1"/>
          </a:p>
          <a:p>
            <a:r>
              <a:rPr kumimoji="1" lang="en-US" altLang="zh-CN" b="1" dirty="0">
                <a:solidFill>
                  <a:srgbClr val="FF0000"/>
                </a:solidFill>
                <a:latin typeface="+mn-ea"/>
                <a:sym typeface="+mn-ea"/>
              </a:rPr>
              <a:t>1</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①②③</a:t>
            </a:r>
            <a:r>
              <a:rPr kumimoji="1" lang="zh-CN" altLang="en-US" b="1" dirty="0">
                <a:solidFill>
                  <a:srgbClr val="FF0000"/>
                </a:solidFill>
                <a:latin typeface="+mn-ea"/>
                <a:sym typeface="+mn-ea"/>
              </a:rPr>
              <a:t>全部注释</a:t>
            </a:r>
            <a:endParaRPr lang="en-US" altLang="zh-CN"/>
          </a:p>
        </p:txBody>
      </p:sp>
      <p:sp>
        <p:nvSpPr>
          <p:cNvPr id="9" name="文本框 8"/>
          <p:cNvSpPr txBox="1"/>
          <p:nvPr/>
        </p:nvSpPr>
        <p:spPr>
          <a:xfrm>
            <a:off x="2936875" y="403225"/>
            <a:ext cx="2436495" cy="368300"/>
          </a:xfrm>
          <a:prstGeom prst="rect">
            <a:avLst/>
          </a:prstGeom>
          <a:noFill/>
        </p:spPr>
        <p:txBody>
          <a:bodyPr wrap="square" rtlCol="0" anchor="t">
            <a:spAutoFit/>
          </a:bodyPr>
          <a:p>
            <a:r>
              <a:rPr kumimoji="1" lang="en-US" altLang="zh-CN" b="1" dirty="0">
                <a:solidFill>
                  <a:srgbClr val="FF0000"/>
                </a:solidFill>
                <a:latin typeface="+mn-ea"/>
                <a:sym typeface="+mn-ea"/>
              </a:rPr>
              <a:t>2</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a:t>
            </a:r>
            <a:r>
              <a:rPr kumimoji="1" lang="zh-CN" altLang="en-US" b="1" dirty="0">
                <a:solidFill>
                  <a:srgbClr val="FF0000"/>
                </a:solidFill>
                <a:latin typeface="+mn-ea"/>
                <a:sym typeface="+mn-ea"/>
              </a:rPr>
              <a:t>放开，</a:t>
            </a:r>
            <a:r>
              <a:rPr kumimoji="1" lang="en-US" altLang="zh-CN" b="1" dirty="0">
                <a:solidFill>
                  <a:srgbClr val="FF0000"/>
                </a:solidFill>
                <a:latin typeface="+mn-ea"/>
                <a:sym typeface="+mn-ea"/>
              </a:rPr>
              <a:t>②③</a:t>
            </a:r>
            <a:r>
              <a:rPr kumimoji="1" lang="zh-CN" altLang="en-US" b="1" dirty="0">
                <a:solidFill>
                  <a:srgbClr val="FF0000"/>
                </a:solidFill>
                <a:latin typeface="+mn-ea"/>
                <a:sym typeface="+mn-ea"/>
              </a:rPr>
              <a:t>注释</a:t>
            </a:r>
            <a:endParaRPr kumimoji="1" lang="zh-CN" altLang="en-US" b="1" dirty="0">
              <a:solidFill>
                <a:srgbClr val="FF0000"/>
              </a:solidFill>
              <a:latin typeface="+mn-ea"/>
              <a:sym typeface="+mn-ea"/>
            </a:endParaRPr>
          </a:p>
        </p:txBody>
      </p:sp>
      <p:sp>
        <p:nvSpPr>
          <p:cNvPr id="10" name="文本框 9"/>
          <p:cNvSpPr txBox="1"/>
          <p:nvPr/>
        </p:nvSpPr>
        <p:spPr>
          <a:xfrm>
            <a:off x="5608955" y="403225"/>
            <a:ext cx="2467610" cy="368300"/>
          </a:xfrm>
          <a:prstGeom prst="rect">
            <a:avLst/>
          </a:prstGeom>
          <a:noFill/>
        </p:spPr>
        <p:txBody>
          <a:bodyPr wrap="square" rtlCol="0" anchor="t">
            <a:spAutoFit/>
          </a:bodyPr>
          <a:p>
            <a:r>
              <a:rPr kumimoji="1" lang="en-US" altLang="zh-CN" b="1" dirty="0">
                <a:solidFill>
                  <a:srgbClr val="FF0000"/>
                </a:solidFill>
                <a:latin typeface="+mn-ea"/>
                <a:sym typeface="+mn-ea"/>
              </a:rPr>
              <a:t>3</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①③</a:t>
            </a:r>
            <a:r>
              <a:rPr kumimoji="1" lang="zh-CN" altLang="en-US" b="1" dirty="0">
                <a:solidFill>
                  <a:srgbClr val="FF0000"/>
                </a:solidFill>
                <a:latin typeface="+mn-ea"/>
                <a:sym typeface="+mn-ea"/>
              </a:rPr>
              <a:t>放开，</a:t>
            </a:r>
            <a:r>
              <a:rPr kumimoji="1" lang="en-US" altLang="zh-CN" b="1" dirty="0">
                <a:solidFill>
                  <a:srgbClr val="FF0000"/>
                </a:solidFill>
                <a:latin typeface="+mn-ea"/>
                <a:sym typeface="+mn-ea"/>
              </a:rPr>
              <a:t>②</a:t>
            </a:r>
            <a:r>
              <a:rPr kumimoji="1" lang="zh-CN" altLang="en-US" b="1" dirty="0">
                <a:solidFill>
                  <a:srgbClr val="FF0000"/>
                </a:solidFill>
                <a:latin typeface="+mn-ea"/>
                <a:sym typeface="+mn-ea"/>
              </a:rPr>
              <a:t>注释</a:t>
            </a:r>
            <a:endParaRPr kumimoji="1" lang="zh-CN" altLang="en-US" b="1" dirty="0">
              <a:solidFill>
                <a:srgbClr val="FF0000"/>
              </a:solidFill>
              <a:latin typeface="+mn-ea"/>
              <a:sym typeface="+mn-ea"/>
            </a:endParaRPr>
          </a:p>
        </p:txBody>
      </p:sp>
      <p:sp>
        <p:nvSpPr>
          <p:cNvPr id="11" name="文本框 10"/>
          <p:cNvSpPr txBox="1"/>
          <p:nvPr/>
        </p:nvSpPr>
        <p:spPr>
          <a:xfrm>
            <a:off x="8354060" y="403225"/>
            <a:ext cx="2356485" cy="368300"/>
          </a:xfrm>
          <a:prstGeom prst="rect">
            <a:avLst/>
          </a:prstGeom>
          <a:noFill/>
        </p:spPr>
        <p:txBody>
          <a:bodyPr wrap="square" rtlCol="0" anchor="t">
            <a:spAutoFit/>
          </a:bodyPr>
          <a:p>
            <a:r>
              <a:rPr kumimoji="1" lang="en-US" altLang="zh-CN" b="1" dirty="0">
                <a:solidFill>
                  <a:srgbClr val="FF0000"/>
                </a:solidFill>
                <a:latin typeface="+mn-ea"/>
                <a:sym typeface="+mn-ea"/>
              </a:rPr>
              <a:t>4</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①②③</a:t>
            </a:r>
            <a:r>
              <a:rPr kumimoji="1" lang="zh-CN" altLang="en-US" b="1" dirty="0">
                <a:solidFill>
                  <a:srgbClr val="FF0000"/>
                </a:solidFill>
                <a:latin typeface="+mn-ea"/>
                <a:sym typeface="+mn-ea"/>
              </a:rPr>
              <a:t>全部放开</a:t>
            </a:r>
            <a:endParaRPr kumimoji="1" lang="zh-CN" altLang="en-US" b="1" dirty="0">
              <a:solidFill>
                <a:srgbClr val="FF0000"/>
              </a:solidFill>
              <a:latin typeface="+mn-ea"/>
              <a:sym typeface="+mn-ea"/>
            </a:endParaRPr>
          </a:p>
        </p:txBody>
      </p:sp>
      <p:sp>
        <p:nvSpPr>
          <p:cNvPr id="12" name="文本框 11"/>
          <p:cNvSpPr txBox="1"/>
          <p:nvPr/>
        </p:nvSpPr>
        <p:spPr>
          <a:xfrm>
            <a:off x="107315" y="5365115"/>
            <a:ext cx="11579225" cy="368300"/>
          </a:xfrm>
          <a:prstGeom prst="rect">
            <a:avLst/>
          </a:prstGeom>
          <a:noFill/>
        </p:spPr>
        <p:txBody>
          <a:bodyPr wrap="square" rtlCol="0" anchor="t">
            <a:spAutoFit/>
          </a:bodyPr>
          <a:p>
            <a:r>
              <a:rPr lang="zh-CN" altLang="en-US" b="1">
                <a:solidFill>
                  <a:schemeClr val="accent2"/>
                </a:solidFill>
                <a:sym typeface="+mn-ea"/>
              </a:rPr>
              <a:t>结论：以上</a:t>
            </a:r>
            <a:r>
              <a:rPr lang="zh-CN" altLang="en-US">
                <a:solidFill>
                  <a:schemeClr val="accent2"/>
                </a:solidFill>
                <a:sym typeface="+mn-ea"/>
              </a:rPr>
              <a:t>模式下，不会在动态分配的内存块的前后添加额外的特定值，</a:t>
            </a:r>
            <a:r>
              <a:rPr lang="zh-CN" altLang="en-US">
                <a:solidFill>
                  <a:schemeClr val="accent2"/>
                </a:solidFill>
                <a:sym typeface="+mn-ea"/>
              </a:rPr>
              <a:t>不会因为内存访问越界报错</a:t>
            </a:r>
            <a:r>
              <a:rPr lang="zh-CN" altLang="en-US">
                <a:solidFill>
                  <a:schemeClr val="accent2"/>
                </a:solidFill>
                <a:sym typeface="+mn-ea"/>
              </a:rPr>
              <a:t>。</a:t>
            </a:r>
            <a:endParaRPr lang="zh-CN" altLang="en-US">
              <a:solidFill>
                <a:schemeClr val="accent2"/>
              </a:solidFill>
              <a:sym typeface="+mn-ea"/>
            </a:endParaRPr>
          </a:p>
        </p:txBody>
      </p:sp>
      <p:pic>
        <p:nvPicPr>
          <p:cNvPr id="2" name="图片 1"/>
          <p:cNvPicPr>
            <a:picLocks noChangeAspect="1"/>
          </p:cNvPicPr>
          <p:nvPr/>
        </p:nvPicPr>
        <p:blipFill>
          <a:blip r:embed="rId1"/>
          <a:stretch>
            <a:fillRect/>
          </a:stretch>
        </p:blipFill>
        <p:spPr>
          <a:xfrm>
            <a:off x="5816600" y="765175"/>
            <a:ext cx="1778000" cy="4203700"/>
          </a:xfrm>
          <a:prstGeom prst="rect">
            <a:avLst/>
          </a:prstGeom>
        </p:spPr>
      </p:pic>
      <p:pic>
        <p:nvPicPr>
          <p:cNvPr id="3" name="图片 2"/>
          <p:cNvPicPr>
            <a:picLocks noChangeAspect="1"/>
          </p:cNvPicPr>
          <p:nvPr/>
        </p:nvPicPr>
        <p:blipFill>
          <a:blip r:embed="rId2"/>
          <a:stretch>
            <a:fillRect/>
          </a:stretch>
        </p:blipFill>
        <p:spPr>
          <a:xfrm>
            <a:off x="3252470" y="765175"/>
            <a:ext cx="1805305" cy="4210050"/>
          </a:xfrm>
          <a:prstGeom prst="rect">
            <a:avLst/>
          </a:prstGeom>
        </p:spPr>
      </p:pic>
      <p:pic>
        <p:nvPicPr>
          <p:cNvPr id="13" name="图片 12"/>
          <p:cNvPicPr>
            <a:picLocks noChangeAspect="1"/>
          </p:cNvPicPr>
          <p:nvPr/>
        </p:nvPicPr>
        <p:blipFill>
          <a:blip r:embed="rId3"/>
          <a:stretch>
            <a:fillRect/>
          </a:stretch>
        </p:blipFill>
        <p:spPr>
          <a:xfrm>
            <a:off x="532765" y="765175"/>
            <a:ext cx="1851660" cy="4220845"/>
          </a:xfrm>
          <a:prstGeom prst="rect">
            <a:avLst/>
          </a:prstGeom>
        </p:spPr>
      </p:pic>
      <p:pic>
        <p:nvPicPr>
          <p:cNvPr id="14" name="图片 13"/>
          <p:cNvPicPr>
            <a:picLocks noChangeAspect="1"/>
          </p:cNvPicPr>
          <p:nvPr/>
        </p:nvPicPr>
        <p:blipFill>
          <a:blip r:embed="rId4"/>
          <a:stretch>
            <a:fillRect/>
          </a:stretch>
        </p:blipFill>
        <p:spPr>
          <a:xfrm>
            <a:off x="8540750" y="765175"/>
            <a:ext cx="1845945" cy="42043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340360" y="95885"/>
            <a:ext cx="8909050" cy="675640"/>
          </a:xfrm>
          <a:prstGeom prst="rect">
            <a:avLst/>
          </a:prstGeom>
          <a:noFill/>
        </p:spPr>
        <p:txBody>
          <a:bodyPr wrap="square" rtlCol="0">
            <a:spAutoFit/>
          </a:bodyPr>
          <a:p>
            <a:r>
              <a:rPr lang="en-US" altLang="zh-CN" sz="2000" b="1"/>
              <a:t>Linux</a:t>
            </a:r>
            <a:r>
              <a:rPr lang="en-US" altLang="zh-CN" sz="2000" b="1">
                <a:sym typeface="+mn-ea"/>
              </a:rPr>
              <a:t>   </a:t>
            </a:r>
            <a:endParaRPr lang="en-US" altLang="zh-CN" sz="2000" b="1"/>
          </a:p>
          <a:p>
            <a:r>
              <a:rPr kumimoji="1" lang="en-US" altLang="zh-CN" b="1" dirty="0">
                <a:solidFill>
                  <a:srgbClr val="FF0000"/>
                </a:solidFill>
                <a:latin typeface="+mn-ea"/>
                <a:sym typeface="+mn-ea"/>
              </a:rPr>
              <a:t>1</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①②③</a:t>
            </a:r>
            <a:r>
              <a:rPr kumimoji="1" lang="zh-CN" altLang="en-US" b="1" dirty="0">
                <a:solidFill>
                  <a:srgbClr val="FF0000"/>
                </a:solidFill>
                <a:latin typeface="+mn-ea"/>
                <a:sym typeface="+mn-ea"/>
              </a:rPr>
              <a:t>全部注释</a:t>
            </a:r>
            <a:endParaRPr lang="en-US" altLang="zh-CN"/>
          </a:p>
        </p:txBody>
      </p:sp>
      <p:sp>
        <p:nvSpPr>
          <p:cNvPr id="9" name="文本框 8"/>
          <p:cNvSpPr txBox="1"/>
          <p:nvPr>
            <p:custDataLst>
              <p:tags r:id="rId1"/>
            </p:custDataLst>
          </p:nvPr>
        </p:nvSpPr>
        <p:spPr>
          <a:xfrm>
            <a:off x="2936875" y="403225"/>
            <a:ext cx="2436495" cy="368300"/>
          </a:xfrm>
          <a:prstGeom prst="rect">
            <a:avLst/>
          </a:prstGeom>
          <a:noFill/>
        </p:spPr>
        <p:txBody>
          <a:bodyPr wrap="square" rtlCol="0" anchor="t">
            <a:spAutoFit/>
          </a:bodyPr>
          <a:p>
            <a:r>
              <a:rPr kumimoji="1" lang="en-US" altLang="zh-CN" b="1" dirty="0">
                <a:solidFill>
                  <a:srgbClr val="FF0000"/>
                </a:solidFill>
                <a:latin typeface="+mn-ea"/>
                <a:sym typeface="+mn-ea"/>
              </a:rPr>
              <a:t>2</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a:t>
            </a:r>
            <a:r>
              <a:rPr kumimoji="1" lang="zh-CN" altLang="en-US" b="1" dirty="0">
                <a:solidFill>
                  <a:srgbClr val="FF0000"/>
                </a:solidFill>
                <a:latin typeface="+mn-ea"/>
                <a:sym typeface="+mn-ea"/>
              </a:rPr>
              <a:t>放开，</a:t>
            </a:r>
            <a:r>
              <a:rPr kumimoji="1" lang="en-US" altLang="zh-CN" b="1" dirty="0">
                <a:solidFill>
                  <a:srgbClr val="FF0000"/>
                </a:solidFill>
                <a:latin typeface="+mn-ea"/>
                <a:sym typeface="+mn-ea"/>
              </a:rPr>
              <a:t>②③</a:t>
            </a:r>
            <a:r>
              <a:rPr kumimoji="1" lang="zh-CN" altLang="en-US" b="1" dirty="0">
                <a:solidFill>
                  <a:srgbClr val="FF0000"/>
                </a:solidFill>
                <a:latin typeface="+mn-ea"/>
                <a:sym typeface="+mn-ea"/>
              </a:rPr>
              <a:t>注释</a:t>
            </a:r>
            <a:endParaRPr kumimoji="1" lang="zh-CN" altLang="en-US" b="1" dirty="0">
              <a:solidFill>
                <a:srgbClr val="FF0000"/>
              </a:solidFill>
              <a:latin typeface="+mn-ea"/>
              <a:sym typeface="+mn-ea"/>
            </a:endParaRPr>
          </a:p>
        </p:txBody>
      </p:sp>
      <p:sp>
        <p:nvSpPr>
          <p:cNvPr id="10" name="文本框 9"/>
          <p:cNvSpPr txBox="1"/>
          <p:nvPr>
            <p:custDataLst>
              <p:tags r:id="rId2"/>
            </p:custDataLst>
          </p:nvPr>
        </p:nvSpPr>
        <p:spPr>
          <a:xfrm>
            <a:off x="5608955" y="403225"/>
            <a:ext cx="2467610" cy="368300"/>
          </a:xfrm>
          <a:prstGeom prst="rect">
            <a:avLst/>
          </a:prstGeom>
          <a:noFill/>
        </p:spPr>
        <p:txBody>
          <a:bodyPr wrap="square" rtlCol="0" anchor="t">
            <a:spAutoFit/>
          </a:bodyPr>
          <a:p>
            <a:r>
              <a:rPr kumimoji="1" lang="en-US" altLang="zh-CN" b="1" dirty="0">
                <a:solidFill>
                  <a:srgbClr val="FF0000"/>
                </a:solidFill>
                <a:latin typeface="+mn-ea"/>
                <a:sym typeface="+mn-ea"/>
              </a:rPr>
              <a:t>3</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①③</a:t>
            </a:r>
            <a:r>
              <a:rPr kumimoji="1" lang="zh-CN" altLang="en-US" b="1" dirty="0">
                <a:solidFill>
                  <a:srgbClr val="FF0000"/>
                </a:solidFill>
                <a:latin typeface="+mn-ea"/>
                <a:sym typeface="+mn-ea"/>
              </a:rPr>
              <a:t>放开，</a:t>
            </a:r>
            <a:r>
              <a:rPr kumimoji="1" lang="en-US" altLang="zh-CN" b="1" dirty="0">
                <a:solidFill>
                  <a:srgbClr val="FF0000"/>
                </a:solidFill>
                <a:latin typeface="+mn-ea"/>
                <a:sym typeface="+mn-ea"/>
              </a:rPr>
              <a:t>②</a:t>
            </a:r>
            <a:r>
              <a:rPr kumimoji="1" lang="zh-CN" altLang="en-US" b="1" dirty="0">
                <a:solidFill>
                  <a:srgbClr val="FF0000"/>
                </a:solidFill>
                <a:latin typeface="+mn-ea"/>
                <a:sym typeface="+mn-ea"/>
              </a:rPr>
              <a:t>注释</a:t>
            </a:r>
            <a:endParaRPr kumimoji="1" lang="zh-CN" altLang="en-US" b="1" dirty="0">
              <a:solidFill>
                <a:srgbClr val="FF0000"/>
              </a:solidFill>
              <a:latin typeface="+mn-ea"/>
              <a:sym typeface="+mn-ea"/>
            </a:endParaRPr>
          </a:p>
        </p:txBody>
      </p:sp>
      <p:sp>
        <p:nvSpPr>
          <p:cNvPr id="11" name="文本框 10"/>
          <p:cNvSpPr txBox="1"/>
          <p:nvPr>
            <p:custDataLst>
              <p:tags r:id="rId3"/>
            </p:custDataLst>
          </p:nvPr>
        </p:nvSpPr>
        <p:spPr>
          <a:xfrm>
            <a:off x="8354060" y="403225"/>
            <a:ext cx="2356485" cy="368300"/>
          </a:xfrm>
          <a:prstGeom prst="rect">
            <a:avLst/>
          </a:prstGeom>
          <a:noFill/>
        </p:spPr>
        <p:txBody>
          <a:bodyPr wrap="square" rtlCol="0" anchor="t">
            <a:spAutoFit/>
          </a:bodyPr>
          <a:p>
            <a:r>
              <a:rPr kumimoji="1" lang="en-US" altLang="zh-CN" b="1" dirty="0">
                <a:solidFill>
                  <a:srgbClr val="FF0000"/>
                </a:solidFill>
                <a:latin typeface="+mn-ea"/>
                <a:sym typeface="+mn-ea"/>
              </a:rPr>
              <a:t>4</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①②③</a:t>
            </a:r>
            <a:r>
              <a:rPr kumimoji="1" lang="zh-CN" altLang="en-US" b="1" dirty="0">
                <a:solidFill>
                  <a:srgbClr val="FF0000"/>
                </a:solidFill>
                <a:latin typeface="+mn-ea"/>
                <a:sym typeface="+mn-ea"/>
              </a:rPr>
              <a:t>全部放开</a:t>
            </a:r>
            <a:endParaRPr kumimoji="1" lang="zh-CN" altLang="en-US" b="1" dirty="0">
              <a:solidFill>
                <a:srgbClr val="FF0000"/>
              </a:solidFill>
              <a:latin typeface="+mn-ea"/>
              <a:sym typeface="+mn-ea"/>
            </a:endParaRPr>
          </a:p>
        </p:txBody>
      </p:sp>
      <p:sp>
        <p:nvSpPr>
          <p:cNvPr id="12" name="文本框 11"/>
          <p:cNvSpPr txBox="1"/>
          <p:nvPr/>
        </p:nvSpPr>
        <p:spPr>
          <a:xfrm>
            <a:off x="340360" y="5093335"/>
            <a:ext cx="11579225" cy="645160"/>
          </a:xfrm>
          <a:prstGeom prst="rect">
            <a:avLst/>
          </a:prstGeom>
          <a:noFill/>
        </p:spPr>
        <p:txBody>
          <a:bodyPr wrap="square" rtlCol="0" anchor="t">
            <a:spAutoFit/>
          </a:bodyPr>
          <a:p>
            <a:r>
              <a:rPr lang="zh-CN" altLang="en-US" b="1">
                <a:solidFill>
                  <a:schemeClr val="accent2"/>
                </a:solidFill>
                <a:sym typeface="+mn-ea"/>
              </a:rPr>
              <a:t>结论：</a:t>
            </a:r>
            <a:r>
              <a:rPr lang="en-US" altLang="zh-CN" b="1">
                <a:solidFill>
                  <a:schemeClr val="accent2"/>
                </a:solidFill>
                <a:sym typeface="+mn-ea"/>
              </a:rPr>
              <a:t>Linux</a:t>
            </a:r>
            <a:r>
              <a:rPr lang="zh-CN" altLang="en-US">
                <a:solidFill>
                  <a:schemeClr val="accent2"/>
                </a:solidFill>
                <a:sym typeface="+mn-ea"/>
              </a:rPr>
              <a:t>模式下，不会在动态分配的内存块的前后添加额外的特定值，</a:t>
            </a:r>
            <a:r>
              <a:rPr lang="zh-CN" altLang="en-US">
                <a:solidFill>
                  <a:schemeClr val="accent2"/>
                </a:solidFill>
                <a:sym typeface="+mn-ea"/>
              </a:rPr>
              <a:t>不会因为内存访问越界报错</a:t>
            </a:r>
            <a:r>
              <a:rPr lang="zh-CN" altLang="en-US">
                <a:solidFill>
                  <a:schemeClr val="accent2"/>
                </a:solidFill>
                <a:sym typeface="+mn-ea"/>
              </a:rPr>
              <a:t>（无论是否自行释放）。</a:t>
            </a:r>
            <a:endParaRPr lang="zh-CN" altLang="en-US">
              <a:solidFill>
                <a:schemeClr val="accent2"/>
              </a:solidFill>
              <a:sym typeface="+mn-ea"/>
            </a:endParaRPr>
          </a:p>
        </p:txBody>
      </p:sp>
      <p:pic>
        <p:nvPicPr>
          <p:cNvPr id="2" name="图片 1"/>
          <p:cNvPicPr>
            <a:picLocks noChangeAspect="1"/>
          </p:cNvPicPr>
          <p:nvPr>
            <p:custDataLst>
              <p:tags r:id="rId4"/>
            </p:custDataLst>
          </p:nvPr>
        </p:nvPicPr>
        <p:blipFill>
          <a:blip r:embed="rId5"/>
          <a:stretch>
            <a:fillRect/>
          </a:stretch>
        </p:blipFill>
        <p:spPr>
          <a:xfrm>
            <a:off x="8298815" y="771525"/>
            <a:ext cx="2098040" cy="4114800"/>
          </a:xfrm>
          <a:prstGeom prst="rect">
            <a:avLst/>
          </a:prstGeom>
        </p:spPr>
      </p:pic>
      <p:pic>
        <p:nvPicPr>
          <p:cNvPr id="3" name="图片 2"/>
          <p:cNvPicPr>
            <a:picLocks noChangeAspect="1"/>
          </p:cNvPicPr>
          <p:nvPr/>
        </p:nvPicPr>
        <p:blipFill>
          <a:blip r:embed="rId6"/>
          <a:stretch>
            <a:fillRect/>
          </a:stretch>
        </p:blipFill>
        <p:spPr>
          <a:xfrm>
            <a:off x="431800" y="771525"/>
            <a:ext cx="2146300" cy="4129405"/>
          </a:xfrm>
          <a:prstGeom prst="rect">
            <a:avLst/>
          </a:prstGeom>
        </p:spPr>
      </p:pic>
      <p:pic>
        <p:nvPicPr>
          <p:cNvPr id="13" name="图片 12"/>
          <p:cNvPicPr>
            <a:picLocks noChangeAspect="1"/>
          </p:cNvPicPr>
          <p:nvPr/>
        </p:nvPicPr>
        <p:blipFill>
          <a:blip r:embed="rId7"/>
          <a:stretch>
            <a:fillRect/>
          </a:stretch>
        </p:blipFill>
        <p:spPr>
          <a:xfrm>
            <a:off x="2936875" y="771525"/>
            <a:ext cx="2350770" cy="4114800"/>
          </a:xfrm>
          <a:prstGeom prst="rect">
            <a:avLst/>
          </a:prstGeom>
        </p:spPr>
      </p:pic>
      <p:pic>
        <p:nvPicPr>
          <p:cNvPr id="14" name="图片 13"/>
          <p:cNvPicPr>
            <a:picLocks noChangeAspect="1"/>
          </p:cNvPicPr>
          <p:nvPr/>
        </p:nvPicPr>
        <p:blipFill>
          <a:blip r:embed="rId8"/>
          <a:stretch>
            <a:fillRect/>
          </a:stretch>
        </p:blipFill>
        <p:spPr>
          <a:xfrm>
            <a:off x="5539740" y="771525"/>
            <a:ext cx="2451100" cy="4114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subTitle" idx="1"/>
          </p:nvPr>
        </p:nvSpPr>
        <p:spPr>
          <a:xfrm>
            <a:off x="180086" y="162560"/>
            <a:ext cx="11880850" cy="6480810"/>
          </a:xfrm>
        </p:spPr>
        <p:txBody>
          <a:bodyPr/>
          <a:lstStyle/>
          <a:p>
            <a:r>
              <a:rPr lang="en-US" altLang="zh-CN" sz="2800" b="1" dirty="0">
                <a:latin typeface="+mn-ea"/>
              </a:rPr>
              <a:t>§.</a:t>
            </a:r>
            <a:r>
              <a:rPr lang="zh-CN" altLang="en-US" sz="2800" b="1" dirty="0">
                <a:latin typeface="+mn-ea"/>
              </a:rPr>
              <a:t>关于动态内存申请后越界访问的深度讨论</a:t>
            </a:r>
            <a:endParaRPr lang="zh-CN" altLang="en-US" sz="2800" b="1" dirty="0">
              <a:latin typeface="+mn-ea"/>
            </a:endParaRPr>
          </a:p>
          <a:p>
            <a:pPr algn="l"/>
            <a:r>
              <a:rPr lang="en-US" altLang="zh-CN" sz="1600" b="1" dirty="0">
                <a:latin typeface="+mn-ea"/>
              </a:rPr>
              <a:t>★ </a:t>
            </a:r>
            <a:r>
              <a:rPr lang="zh-CN" altLang="en-US" sz="1600" b="1" dirty="0">
                <a:latin typeface="+mn-ea"/>
              </a:rPr>
              <a:t>如何判断普通数组的越界访问（</a:t>
            </a:r>
            <a:r>
              <a:rPr lang="en-US" altLang="zh-CN" sz="1600" b="1" dirty="0">
                <a:latin typeface="+mn-ea"/>
              </a:rPr>
              <a:t>C</a:t>
            </a:r>
            <a:r>
              <a:rPr lang="zh-CN" altLang="en-US" sz="1600" b="1" dirty="0">
                <a:latin typeface="+mn-ea"/>
              </a:rPr>
              <a:t>方式，</a:t>
            </a:r>
            <a:r>
              <a:rPr lang="zh-CN" altLang="en-US" sz="1600" b="1" dirty="0">
                <a:solidFill>
                  <a:srgbClr val="FF0000"/>
                </a:solidFill>
                <a:latin typeface="+mn-ea"/>
              </a:rPr>
              <a:t>注意源程序后缀为</a:t>
            </a:r>
            <a:r>
              <a:rPr lang="en-US" altLang="zh-CN" sz="1600" b="1" dirty="0">
                <a:solidFill>
                  <a:srgbClr val="FF0000"/>
                </a:solidFill>
                <a:latin typeface="+mn-ea"/>
              </a:rPr>
              <a:t>.c</a:t>
            </a:r>
            <a:r>
              <a:rPr lang="zh-CN" altLang="en-US" sz="1600" b="1" dirty="0">
                <a:latin typeface="+mn-ea"/>
              </a:rPr>
              <a:t>）</a:t>
            </a:r>
            <a:endParaRPr lang="zh-CN" altLang="en-US" sz="1600" b="1" dirty="0">
              <a:latin typeface="+mn-ea"/>
            </a:endParaRPr>
          </a:p>
        </p:txBody>
      </p:sp>
      <p:sp>
        <p:nvSpPr>
          <p:cNvPr id="5" name="矩形 4"/>
          <p:cNvSpPr/>
          <p:nvPr/>
        </p:nvSpPr>
        <p:spPr bwMode="auto">
          <a:xfrm>
            <a:off x="484720" y="980728"/>
            <a:ext cx="10461702" cy="572487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kumimoji="1" lang="zh-CN" altLang="en-US" sz="1600" b="1" dirty="0">
              <a:solidFill>
                <a:srgbClr val="000000"/>
              </a:solidFill>
              <a:latin typeface="宋体" panose="02010600030101010101" pitchFamily="2" charset="-122"/>
              <a:ea typeface="宋体" panose="02010600030101010101" pitchFamily="2" charset="-122"/>
            </a:endParaRPr>
          </a:p>
        </p:txBody>
      </p:sp>
      <p:sp>
        <p:nvSpPr>
          <p:cNvPr id="4" name="矩形 3"/>
          <p:cNvSpPr/>
          <p:nvPr/>
        </p:nvSpPr>
        <p:spPr bwMode="auto">
          <a:xfrm>
            <a:off x="7202006" y="980727"/>
            <a:ext cx="3744416" cy="4057265"/>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r>
              <a:rPr kumimoji="1" lang="zh-CN" altLang="en-US" sz="1600" b="1" dirty="0">
                <a:solidFill>
                  <a:srgbClr val="FF0000"/>
                </a:solidFill>
                <a:latin typeface="+mn-ea"/>
              </a:rPr>
              <a:t>在理解</a:t>
            </a:r>
            <a:r>
              <a:rPr kumimoji="1" lang="en-US" altLang="zh-CN" sz="1600" b="1" dirty="0">
                <a:solidFill>
                  <a:srgbClr val="FF0000"/>
                </a:solidFill>
                <a:latin typeface="+mn-ea"/>
              </a:rPr>
              <a:t>P.1/P.2</a:t>
            </a:r>
            <a:r>
              <a:rPr kumimoji="1" lang="zh-CN" altLang="en-US" sz="1600" b="1" dirty="0">
                <a:solidFill>
                  <a:srgbClr val="FF0000"/>
                </a:solidFill>
                <a:latin typeface="+mn-ea"/>
              </a:rPr>
              <a:t>的情况下，自行构造</a:t>
            </a:r>
            <a:endParaRPr kumimoji="1" lang="en-US" altLang="zh-CN" sz="1600" b="1" dirty="0">
              <a:solidFill>
                <a:srgbClr val="FF0000"/>
              </a:solidFill>
              <a:latin typeface="+mn-ea"/>
            </a:endParaRPr>
          </a:p>
          <a:p>
            <a:pPr fontAlgn="base">
              <a:spcBef>
                <a:spcPct val="0"/>
              </a:spcBef>
              <a:spcAft>
                <a:spcPct val="0"/>
              </a:spcAft>
            </a:pPr>
            <a:r>
              <a:rPr kumimoji="1" lang="zh-CN" altLang="en-US" sz="1600" b="1" dirty="0">
                <a:solidFill>
                  <a:srgbClr val="FF0000"/>
                </a:solidFill>
                <a:latin typeface="+mn-ea"/>
              </a:rPr>
              <a:t>相似的程序，来观察数组越界后的</a:t>
            </a:r>
            <a:endParaRPr kumimoji="1" lang="en-US" altLang="zh-CN" sz="1600" b="1" dirty="0">
              <a:solidFill>
                <a:srgbClr val="FF0000"/>
              </a:solidFill>
              <a:latin typeface="+mn-ea"/>
            </a:endParaRPr>
          </a:p>
          <a:p>
            <a:pPr fontAlgn="base">
              <a:spcBef>
                <a:spcPct val="0"/>
              </a:spcBef>
              <a:spcAft>
                <a:spcPct val="0"/>
              </a:spcAft>
            </a:pPr>
            <a:r>
              <a:rPr kumimoji="1" lang="zh-CN" altLang="en-US" sz="1600" b="1" dirty="0">
                <a:solidFill>
                  <a:srgbClr val="FF0000"/>
                </a:solidFill>
                <a:latin typeface="+mn-ea"/>
              </a:rPr>
              <a:t>内存表现，并验证与动态申请是否相似</a:t>
            </a:r>
            <a:endParaRPr kumimoji="1" lang="en-US" altLang="zh-CN" sz="1600" b="1" dirty="0">
              <a:solidFill>
                <a:srgbClr val="FF0000"/>
              </a:solidFill>
              <a:latin typeface="+mn-ea"/>
            </a:endParaRPr>
          </a:p>
          <a:p>
            <a:pPr fontAlgn="base">
              <a:spcBef>
                <a:spcPct val="0"/>
              </a:spcBef>
              <a:spcAft>
                <a:spcPct val="0"/>
              </a:spcAft>
            </a:pPr>
            <a:endParaRPr kumimoji="1" lang="en-US" altLang="zh-CN" sz="1600" b="1" dirty="0">
              <a:solidFill>
                <a:srgbClr val="FF0000"/>
              </a:solidFill>
              <a:latin typeface="+mn-ea"/>
            </a:endParaRPr>
          </a:p>
          <a:p>
            <a:pPr fontAlgn="base">
              <a:spcBef>
                <a:spcPct val="0"/>
              </a:spcBef>
              <a:spcAft>
                <a:spcPct val="0"/>
              </a:spcAft>
            </a:pPr>
            <a:r>
              <a:rPr kumimoji="1" lang="zh-CN" altLang="en-US" sz="1600" b="1" dirty="0">
                <a:solidFill>
                  <a:schemeClr val="accent2"/>
                </a:solidFill>
                <a:latin typeface="+mn-ea"/>
              </a:rPr>
              <a:t>要求：</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1</a:t>
            </a:r>
            <a:r>
              <a:rPr kumimoji="1" lang="zh-CN" altLang="en-US" sz="1600" b="1" dirty="0">
                <a:solidFill>
                  <a:schemeClr val="accent2"/>
                </a:solidFill>
                <a:latin typeface="+mn-ea"/>
              </a:rPr>
              <a:t>、数组用 </a:t>
            </a:r>
            <a:r>
              <a:rPr kumimoji="1" lang="en-US" altLang="zh-CN" sz="1600" b="1" dirty="0">
                <a:solidFill>
                  <a:schemeClr val="accent2"/>
                </a:solidFill>
                <a:latin typeface="+mn-ea"/>
              </a:rPr>
              <a:t>char a[10]; </a:t>
            </a:r>
            <a:r>
              <a:rPr kumimoji="1" lang="zh-CN" altLang="en-US" sz="1600" b="1" dirty="0">
                <a:solidFill>
                  <a:schemeClr val="accent2"/>
                </a:solidFill>
                <a:latin typeface="+mn-ea"/>
              </a:rPr>
              <a:t>形式</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3</a:t>
            </a:r>
            <a:r>
              <a:rPr kumimoji="1" lang="zh-CN" altLang="en-US" sz="1600" b="1" dirty="0">
                <a:solidFill>
                  <a:schemeClr val="accent2"/>
                </a:solidFill>
                <a:latin typeface="+mn-ea"/>
              </a:rPr>
              <a:t>、测试程序在下面五种环境下运行</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      VS2022 x86/Debug</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      VS2022 x86/Release</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      Dev 32bit-Debug</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      Dev 32bit-Release</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      Linux</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4</a:t>
            </a:r>
            <a:r>
              <a:rPr kumimoji="1" lang="zh-CN" altLang="en-US" sz="1600" b="1" dirty="0">
                <a:solidFill>
                  <a:schemeClr val="accent2"/>
                </a:solidFill>
                <a:latin typeface="+mn-ea"/>
              </a:rPr>
              <a:t>、每种讨论的结果可截图</a:t>
            </a:r>
            <a:r>
              <a:rPr kumimoji="1" lang="en-US" altLang="zh-CN" sz="1600" b="1" dirty="0">
                <a:solidFill>
                  <a:schemeClr val="accent2"/>
                </a:solidFill>
                <a:latin typeface="+mn-ea"/>
              </a:rPr>
              <a:t>+</a:t>
            </a:r>
            <a:r>
              <a:rPr kumimoji="1" lang="zh-CN" altLang="en-US" sz="1600" b="1" dirty="0">
                <a:solidFill>
                  <a:schemeClr val="accent2"/>
                </a:solidFill>
                <a:latin typeface="+mn-ea"/>
              </a:rPr>
              <a:t>文字说明，</a:t>
            </a:r>
            <a:endParaRPr kumimoji="1" lang="en-US" altLang="zh-CN" sz="1600" b="1" dirty="0">
              <a:solidFill>
                <a:schemeClr val="accent2"/>
              </a:solidFill>
              <a:latin typeface="+mn-ea"/>
            </a:endParaRPr>
          </a:p>
          <a:p>
            <a:pPr fontAlgn="base">
              <a:spcBef>
                <a:spcPct val="0"/>
              </a:spcBef>
              <a:spcAft>
                <a:spcPct val="0"/>
              </a:spcAft>
            </a:pPr>
            <a:r>
              <a:rPr kumimoji="1" lang="zh-CN" altLang="en-US" sz="1600" b="1" dirty="0">
                <a:solidFill>
                  <a:schemeClr val="accent2"/>
                </a:solidFill>
                <a:latin typeface="+mn-ea"/>
              </a:rPr>
              <a:t>   如果几种环境的结果一致，用一个</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   </a:t>
            </a:r>
            <a:r>
              <a:rPr kumimoji="1" lang="zh-CN" altLang="en-US" sz="1600" b="1" dirty="0">
                <a:solidFill>
                  <a:schemeClr val="accent2"/>
                </a:solidFill>
                <a:latin typeface="+mn-ea"/>
              </a:rPr>
              <a:t>环境的截图</a:t>
            </a:r>
            <a:r>
              <a:rPr kumimoji="1" lang="en-US" altLang="zh-CN" sz="1600" b="1" dirty="0">
                <a:solidFill>
                  <a:schemeClr val="accent2"/>
                </a:solidFill>
                <a:latin typeface="+mn-ea"/>
              </a:rPr>
              <a:t>+</a:t>
            </a:r>
            <a:r>
              <a:rPr kumimoji="1" lang="zh-CN" altLang="en-US" sz="1600" b="1" dirty="0">
                <a:solidFill>
                  <a:schemeClr val="accent2"/>
                </a:solidFill>
                <a:latin typeface="+mn-ea"/>
              </a:rPr>
              <a:t>文字说明即可</a:t>
            </a:r>
            <a:r>
              <a:rPr kumimoji="1" lang="en-US" altLang="zh-CN" sz="1600" b="1" dirty="0">
                <a:solidFill>
                  <a:schemeClr val="accent2"/>
                </a:solidFill>
                <a:latin typeface="+mn-ea"/>
              </a:rPr>
              <a:t>(</a:t>
            </a:r>
            <a:r>
              <a:rPr kumimoji="1" lang="zh-CN" altLang="en-US" sz="1600" b="1" dirty="0">
                <a:solidFill>
                  <a:schemeClr val="accent2"/>
                </a:solidFill>
                <a:latin typeface="+mn-ea"/>
              </a:rPr>
              <a:t>可加页</a:t>
            </a:r>
            <a:r>
              <a:rPr kumimoji="1" lang="en-US" altLang="zh-CN" sz="1600" b="1" dirty="0">
                <a:solidFill>
                  <a:schemeClr val="accent2"/>
                </a:solidFill>
                <a:latin typeface="+mn-ea"/>
              </a:rPr>
              <a:t>)</a:t>
            </a:r>
            <a:endParaRPr kumimoji="1" lang="en-US" altLang="zh-CN" sz="1600" b="1" dirty="0">
              <a:solidFill>
                <a:schemeClr val="accent2"/>
              </a:solidFill>
              <a:latin typeface="+mn-ea"/>
            </a:endParaRPr>
          </a:p>
          <a:p>
            <a:pPr fontAlgn="base">
              <a:spcBef>
                <a:spcPct val="0"/>
              </a:spcBef>
              <a:spcAft>
                <a:spcPct val="0"/>
              </a:spcAft>
            </a:pPr>
            <a:endParaRPr kumimoji="1" lang="zh-CN" altLang="en-US" sz="1600" b="1" dirty="0">
              <a:solidFill>
                <a:schemeClr val="accent2"/>
              </a:solidFill>
              <a:latin typeface="+mn-ea"/>
            </a:endParaRPr>
          </a:p>
        </p:txBody>
      </p:sp>
      <p:sp>
        <p:nvSpPr>
          <p:cNvPr id="2" name="文本框 1"/>
          <p:cNvSpPr txBox="1"/>
          <p:nvPr/>
        </p:nvSpPr>
        <p:spPr>
          <a:xfrm>
            <a:off x="484505" y="980440"/>
            <a:ext cx="6096000" cy="5631180"/>
          </a:xfrm>
          <a:prstGeom prst="rect">
            <a:avLst/>
          </a:prstGeom>
          <a:noFill/>
        </p:spPr>
        <p:txBody>
          <a:bodyPr wrap="square" rtlCol="0" anchor="t">
            <a:spAutoFit/>
          </a:bodyPr>
          <a:p>
            <a:r>
              <a:rPr lang="zh-CN" altLang="en-US"/>
              <a:t>#define _CRT_SECURE_NO_WARNINGS</a:t>
            </a:r>
            <a:endParaRPr lang="zh-CN" altLang="en-US"/>
          </a:p>
          <a:p>
            <a:r>
              <a:rPr lang="zh-CN" altLang="en-US"/>
              <a:t>#include &lt;stdio.h&gt;</a:t>
            </a:r>
            <a:endParaRPr lang="zh-CN" altLang="en-US"/>
          </a:p>
          <a:p>
            <a:r>
              <a:rPr lang="zh-CN" altLang="en-US"/>
              <a:t>#include &lt;stdlib.h&gt;</a:t>
            </a:r>
            <a:endParaRPr lang="zh-CN" altLang="en-US"/>
          </a:p>
          <a:p>
            <a:r>
              <a:rPr lang="zh-CN" altLang="en-US"/>
              <a:t>#include &lt;string.h&gt;</a:t>
            </a:r>
            <a:endParaRPr lang="zh-CN" altLang="en-US"/>
          </a:p>
          <a:p>
            <a:endParaRPr lang="zh-CN" altLang="en-US"/>
          </a:p>
          <a:p>
            <a:r>
              <a:rPr lang="zh-CN" altLang="en-US"/>
              <a:t>int main()</a:t>
            </a:r>
            <a:endParaRPr lang="zh-CN" altLang="en-US"/>
          </a:p>
          <a:p>
            <a:r>
              <a:rPr lang="zh-CN" altLang="en-US"/>
              <a:t>{</a:t>
            </a:r>
            <a:endParaRPr lang="zh-CN" altLang="en-US"/>
          </a:p>
          <a:p>
            <a:r>
              <a:rPr lang="zh-CN" altLang="en-US"/>
              <a:t>    char a[10] = "0123456789";</a:t>
            </a:r>
            <a:endParaRPr lang="zh-CN" altLang="en-US"/>
          </a:p>
          <a:p>
            <a:endParaRPr lang="zh-CN" altLang="en-US"/>
          </a:p>
          <a:p>
            <a:r>
              <a:rPr lang="zh-CN" altLang="en-US"/>
              <a:t>  </a:t>
            </a:r>
            <a:r>
              <a:rPr lang="zh-CN" altLang="en-US">
                <a:solidFill>
                  <a:srgbClr val="FF0000"/>
                </a:solidFill>
              </a:rPr>
              <a:t> </a:t>
            </a:r>
            <a:r>
              <a:rPr lang="zh-CN" altLang="en-US" b="1">
                <a:solidFill>
                  <a:srgbClr val="FF0000"/>
                </a:solidFill>
              </a:rPr>
              <a:t> /*①*/  a[10] = 'a';    //此句越界</a:t>
            </a:r>
            <a:endParaRPr lang="zh-CN" altLang="en-US" b="1">
              <a:solidFill>
                <a:srgbClr val="FF0000"/>
              </a:solidFill>
            </a:endParaRPr>
          </a:p>
          <a:p>
            <a:r>
              <a:rPr lang="zh-CN" altLang="en-US"/>
              <a:t>    a[14] = 'A';    //此句越界</a:t>
            </a:r>
            <a:endParaRPr lang="zh-CN" altLang="en-US"/>
          </a:p>
          <a:p>
            <a:r>
              <a:rPr lang="zh-CN" altLang="en-US"/>
              <a:t>    a[15] = 'B';    //此句越界</a:t>
            </a:r>
            <a:endParaRPr lang="zh-CN" altLang="en-US"/>
          </a:p>
          <a:p>
            <a:r>
              <a:rPr lang="zh-CN" altLang="en-US"/>
              <a:t> </a:t>
            </a:r>
            <a:r>
              <a:rPr lang="zh-CN" altLang="en-US" b="1"/>
              <a:t>   </a:t>
            </a:r>
            <a:r>
              <a:rPr lang="zh-CN" altLang="en-US" b="1">
                <a:solidFill>
                  <a:srgbClr val="FF0000"/>
                </a:solidFill>
              </a:rPr>
              <a:t>/*②*/  a[10] = '\x</a:t>
            </a:r>
            <a:r>
              <a:rPr lang="en-US" altLang="zh-CN" b="1">
                <a:solidFill>
                  <a:srgbClr val="FF0000"/>
                </a:solidFill>
              </a:rPr>
              <a:t>c</a:t>
            </a:r>
            <a:r>
              <a:rPr lang="zh-CN" altLang="en-US" b="1">
                <a:solidFill>
                  <a:srgbClr val="FF0000"/>
                </a:solidFill>
              </a:rPr>
              <a:t>c'; //此句越界</a:t>
            </a:r>
            <a:endParaRPr lang="zh-CN" altLang="en-US">
              <a:solidFill>
                <a:srgbClr val="FF0000"/>
              </a:solidFill>
            </a:endParaRPr>
          </a:p>
          <a:p>
            <a:r>
              <a:rPr lang="zh-CN" altLang="en-US"/>
              <a:t>    printf("addr-a:%p\n", a);</a:t>
            </a:r>
            <a:endParaRPr lang="zh-CN" altLang="en-US"/>
          </a:p>
          <a:p>
            <a:r>
              <a:rPr lang="zh-CN" altLang="en-US"/>
              <a:t>    for (int i = -4; i &lt; 16; i++) //注意，只有0-9是合理范围，其余都是越界读</a:t>
            </a:r>
            <a:endParaRPr lang="zh-CN" altLang="en-US"/>
          </a:p>
          <a:p>
            <a:r>
              <a:rPr lang="zh-CN" altLang="en-US"/>
              <a:t>        printf("%p:%02x\n", (a + i), a[i]);</a:t>
            </a:r>
            <a:endParaRPr lang="zh-CN" altLang="en-US"/>
          </a:p>
          <a:p>
            <a:endParaRPr lang="zh-CN" altLang="en-US"/>
          </a:p>
          <a:p>
            <a:r>
              <a:rPr lang="zh-CN" altLang="en-US"/>
              <a:t>    return 0;</a:t>
            </a:r>
            <a:endParaRPr lang="zh-CN" altLang="en-US"/>
          </a:p>
          <a:p>
            <a:r>
              <a:rPr lang="zh-CN" altLang="en-US"/>
              <a:t>}</a:t>
            </a:r>
            <a:endParaRPr lang="zh-CN" alt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327660" y="842010"/>
            <a:ext cx="1922780" cy="4141470"/>
          </a:xfrm>
          <a:prstGeom prst="rect">
            <a:avLst/>
          </a:prstGeom>
        </p:spPr>
      </p:pic>
      <p:pic>
        <p:nvPicPr>
          <p:cNvPr id="5" name="图片 4"/>
          <p:cNvPicPr>
            <a:picLocks noChangeAspect="1"/>
          </p:cNvPicPr>
          <p:nvPr/>
        </p:nvPicPr>
        <p:blipFill>
          <a:blip r:embed="rId2"/>
          <a:stretch>
            <a:fillRect/>
          </a:stretch>
        </p:blipFill>
        <p:spPr>
          <a:xfrm>
            <a:off x="2731770" y="771525"/>
            <a:ext cx="2880995" cy="4678680"/>
          </a:xfrm>
          <a:prstGeom prst="rect">
            <a:avLst/>
          </a:prstGeom>
        </p:spPr>
      </p:pic>
      <p:pic>
        <p:nvPicPr>
          <p:cNvPr id="6" name="图片 5"/>
          <p:cNvPicPr>
            <a:picLocks noChangeAspect="1"/>
          </p:cNvPicPr>
          <p:nvPr/>
        </p:nvPicPr>
        <p:blipFill>
          <a:blip r:embed="rId3"/>
          <a:stretch>
            <a:fillRect/>
          </a:stretch>
        </p:blipFill>
        <p:spPr>
          <a:xfrm>
            <a:off x="6398260" y="771525"/>
            <a:ext cx="1961515" cy="4536440"/>
          </a:xfrm>
          <a:prstGeom prst="rect">
            <a:avLst/>
          </a:prstGeom>
        </p:spPr>
      </p:pic>
      <p:sp>
        <p:nvSpPr>
          <p:cNvPr id="7" name="文本框 6"/>
          <p:cNvSpPr txBox="1"/>
          <p:nvPr/>
        </p:nvSpPr>
        <p:spPr>
          <a:xfrm>
            <a:off x="327660" y="95885"/>
            <a:ext cx="2708275" cy="675640"/>
          </a:xfrm>
          <a:prstGeom prst="rect">
            <a:avLst/>
          </a:prstGeom>
          <a:noFill/>
        </p:spPr>
        <p:txBody>
          <a:bodyPr wrap="square" rtlCol="0">
            <a:spAutoFit/>
          </a:bodyPr>
          <a:p>
            <a:r>
              <a:rPr lang="en-US" altLang="zh-CN" sz="2000" b="1"/>
              <a:t>VS2022  x86/Debug      </a:t>
            </a:r>
            <a:endParaRPr lang="en-US" altLang="zh-CN" sz="2000" b="1"/>
          </a:p>
          <a:p>
            <a:r>
              <a:rPr kumimoji="1" lang="en-US" altLang="zh-CN" b="1" dirty="0">
                <a:solidFill>
                  <a:srgbClr val="FF0000"/>
                </a:solidFill>
                <a:latin typeface="+mn-ea"/>
                <a:sym typeface="+mn-ea"/>
              </a:rPr>
              <a:t>1</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a:t>
            </a:r>
            <a:r>
              <a:rPr kumimoji="1" lang="zh-CN" altLang="en-US" b="1" dirty="0">
                <a:solidFill>
                  <a:srgbClr val="FF0000"/>
                </a:solidFill>
                <a:latin typeface="+mn-ea"/>
                <a:sym typeface="+mn-ea"/>
              </a:rPr>
              <a:t>全部注释</a:t>
            </a:r>
            <a:endParaRPr lang="en-US" altLang="zh-CN"/>
          </a:p>
        </p:txBody>
      </p:sp>
      <p:sp>
        <p:nvSpPr>
          <p:cNvPr id="8" name="文本框 7"/>
          <p:cNvSpPr txBox="1"/>
          <p:nvPr/>
        </p:nvSpPr>
        <p:spPr>
          <a:xfrm>
            <a:off x="2936875" y="403225"/>
            <a:ext cx="2436495" cy="368300"/>
          </a:xfrm>
          <a:prstGeom prst="rect">
            <a:avLst/>
          </a:prstGeom>
          <a:noFill/>
        </p:spPr>
        <p:txBody>
          <a:bodyPr wrap="square" rtlCol="0" anchor="t">
            <a:spAutoFit/>
          </a:bodyPr>
          <a:p>
            <a:r>
              <a:rPr kumimoji="1" lang="en-US" altLang="zh-CN" b="1" dirty="0">
                <a:solidFill>
                  <a:srgbClr val="FF0000"/>
                </a:solidFill>
                <a:latin typeface="+mn-ea"/>
                <a:sym typeface="+mn-ea"/>
              </a:rPr>
              <a:t>2</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a:t>
            </a:r>
            <a:r>
              <a:rPr kumimoji="1" lang="zh-CN" altLang="en-US" b="1" dirty="0">
                <a:solidFill>
                  <a:srgbClr val="FF0000"/>
                </a:solidFill>
                <a:latin typeface="+mn-ea"/>
                <a:sym typeface="+mn-ea"/>
              </a:rPr>
              <a:t>放开，</a:t>
            </a:r>
            <a:r>
              <a:rPr kumimoji="1" lang="en-US" altLang="zh-CN" b="1" dirty="0">
                <a:solidFill>
                  <a:srgbClr val="FF0000"/>
                </a:solidFill>
                <a:latin typeface="+mn-ea"/>
                <a:sym typeface="+mn-ea"/>
              </a:rPr>
              <a:t>②</a:t>
            </a:r>
            <a:r>
              <a:rPr kumimoji="1" lang="zh-CN" altLang="en-US" b="1" dirty="0">
                <a:solidFill>
                  <a:srgbClr val="FF0000"/>
                </a:solidFill>
                <a:latin typeface="+mn-ea"/>
                <a:sym typeface="+mn-ea"/>
              </a:rPr>
              <a:t>注释</a:t>
            </a:r>
            <a:endParaRPr kumimoji="1" lang="zh-CN" altLang="en-US" b="1" dirty="0">
              <a:solidFill>
                <a:srgbClr val="FF0000"/>
              </a:solidFill>
              <a:latin typeface="+mn-ea"/>
              <a:sym typeface="+mn-ea"/>
            </a:endParaRPr>
          </a:p>
        </p:txBody>
      </p:sp>
      <p:sp>
        <p:nvSpPr>
          <p:cNvPr id="10" name="文本框 9"/>
          <p:cNvSpPr txBox="1"/>
          <p:nvPr/>
        </p:nvSpPr>
        <p:spPr>
          <a:xfrm>
            <a:off x="6324600" y="403225"/>
            <a:ext cx="2356485" cy="368300"/>
          </a:xfrm>
          <a:prstGeom prst="rect">
            <a:avLst/>
          </a:prstGeom>
          <a:noFill/>
        </p:spPr>
        <p:txBody>
          <a:bodyPr wrap="square" rtlCol="0" anchor="t">
            <a:spAutoFit/>
          </a:bodyPr>
          <a:p>
            <a:r>
              <a:rPr kumimoji="1" lang="en-US" altLang="zh-CN" b="1" dirty="0">
                <a:solidFill>
                  <a:srgbClr val="FF0000"/>
                </a:solidFill>
                <a:latin typeface="+mn-ea"/>
                <a:sym typeface="+mn-ea"/>
              </a:rPr>
              <a:t>3</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a:t>
            </a:r>
            <a:r>
              <a:rPr kumimoji="1" lang="zh-CN" altLang="en-US" b="1" dirty="0">
                <a:solidFill>
                  <a:srgbClr val="FF0000"/>
                </a:solidFill>
                <a:latin typeface="+mn-ea"/>
                <a:sym typeface="+mn-ea"/>
              </a:rPr>
              <a:t>全部放开</a:t>
            </a:r>
            <a:endParaRPr kumimoji="1" lang="zh-CN" altLang="en-US" b="1" dirty="0">
              <a:solidFill>
                <a:srgbClr val="FF0000"/>
              </a:solidFill>
              <a:latin typeface="+mn-ea"/>
              <a:sym typeface="+mn-ea"/>
            </a:endParaRPr>
          </a:p>
        </p:txBody>
      </p:sp>
      <p:sp>
        <p:nvSpPr>
          <p:cNvPr id="18" name="文本框 17"/>
          <p:cNvSpPr txBox="1"/>
          <p:nvPr/>
        </p:nvSpPr>
        <p:spPr>
          <a:xfrm>
            <a:off x="153670" y="5623560"/>
            <a:ext cx="11748135" cy="1198880"/>
          </a:xfrm>
          <a:prstGeom prst="rect">
            <a:avLst/>
          </a:prstGeom>
          <a:noFill/>
        </p:spPr>
        <p:txBody>
          <a:bodyPr wrap="square" rtlCol="0">
            <a:spAutoFit/>
          </a:bodyPr>
          <a:p>
            <a:r>
              <a:rPr lang="zh-CN" altLang="en-US" b="1">
                <a:solidFill>
                  <a:schemeClr val="accent2"/>
                </a:solidFill>
              </a:rPr>
              <a:t>结论：</a:t>
            </a:r>
            <a:r>
              <a:rPr lang="en-US" altLang="zh-CN">
                <a:solidFill>
                  <a:schemeClr val="accent2"/>
                </a:solidFill>
              </a:rPr>
              <a:t>1.VS2022</a:t>
            </a:r>
            <a:r>
              <a:rPr lang="zh-CN" altLang="en-US">
                <a:solidFill>
                  <a:schemeClr val="accent2"/>
                </a:solidFill>
              </a:rPr>
              <a:t>的</a:t>
            </a:r>
            <a:r>
              <a:rPr lang="en-US" altLang="zh-CN">
                <a:solidFill>
                  <a:schemeClr val="accent2"/>
                </a:solidFill>
              </a:rPr>
              <a:t>x86/Debug</a:t>
            </a:r>
            <a:r>
              <a:rPr lang="zh-CN" altLang="en-US">
                <a:solidFill>
                  <a:schemeClr val="accent2"/>
                </a:solidFill>
              </a:rPr>
              <a:t>模式下，会判断数组内存访问是否越界。</a:t>
            </a:r>
            <a:endParaRPr lang="zh-CN" altLang="en-US">
              <a:solidFill>
                <a:schemeClr val="accent2"/>
              </a:solidFill>
            </a:endParaRPr>
          </a:p>
          <a:p>
            <a:r>
              <a:rPr lang="en-US" altLang="zh-CN">
                <a:solidFill>
                  <a:schemeClr val="accent2"/>
                </a:solidFill>
              </a:rPr>
              <a:t>            2.</a:t>
            </a:r>
            <a:r>
              <a:rPr lang="zh-CN" altLang="en-US">
                <a:solidFill>
                  <a:schemeClr val="accent2"/>
                </a:solidFill>
              </a:rPr>
              <a:t>该模式下，VS 会在动态分配的内存块的前后</a:t>
            </a:r>
            <a:r>
              <a:rPr lang="en-US" altLang="zh-CN">
                <a:solidFill>
                  <a:schemeClr val="accent2"/>
                </a:solidFill>
              </a:rPr>
              <a:t>4</a:t>
            </a:r>
            <a:r>
              <a:rPr lang="zh-CN" altLang="en-US">
                <a:solidFill>
                  <a:schemeClr val="accent2"/>
                </a:solidFill>
              </a:rPr>
              <a:t>个地址添加额外的特定值来判断访问是否越界。当这些值与特定值不符时，判断内存访问越界，报错；当值没有被改变，即使越界访问也不会判定错误。所以，当越界访问的位置超出特定值的范围，或者访问特定值的位置但并没有修改为不同的值时（情况</a:t>
            </a:r>
            <a:r>
              <a:rPr lang="en-US" altLang="zh-CN">
                <a:solidFill>
                  <a:schemeClr val="accent2"/>
                </a:solidFill>
              </a:rPr>
              <a:t>3</a:t>
            </a:r>
            <a:r>
              <a:rPr lang="zh-CN" altLang="en-US">
                <a:solidFill>
                  <a:schemeClr val="accent2"/>
                </a:solidFill>
              </a:rPr>
              <a:t>），程序并没有报错。</a:t>
            </a:r>
            <a:endParaRPr lang="zh-CN" altLang="en-US">
              <a:solidFill>
                <a:schemeClr val="accent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327660" y="95885"/>
            <a:ext cx="9354820" cy="675640"/>
          </a:xfrm>
          <a:prstGeom prst="rect">
            <a:avLst/>
          </a:prstGeom>
          <a:noFill/>
        </p:spPr>
        <p:txBody>
          <a:bodyPr wrap="square" rtlCol="0">
            <a:spAutoFit/>
          </a:bodyPr>
          <a:p>
            <a:r>
              <a:rPr lang="en-US" altLang="zh-CN" sz="2000" b="1">
                <a:sym typeface="+mn-ea"/>
              </a:rPr>
              <a:t>VS2022  x86/Release</a:t>
            </a:r>
            <a:endParaRPr lang="en-US" altLang="zh-CN" sz="2000" b="1">
              <a:sym typeface="+mn-ea"/>
            </a:endParaRPr>
          </a:p>
          <a:p>
            <a:r>
              <a:rPr kumimoji="1" lang="en-US" altLang="zh-CN" b="1" dirty="0">
                <a:solidFill>
                  <a:srgbClr val="FF0000"/>
                </a:solidFill>
                <a:latin typeface="+mn-ea"/>
                <a:sym typeface="+mn-ea"/>
              </a:rPr>
              <a:t>1</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a:t>
            </a:r>
            <a:r>
              <a:rPr kumimoji="1" lang="zh-CN" altLang="en-US" b="1" dirty="0">
                <a:solidFill>
                  <a:srgbClr val="FF0000"/>
                </a:solidFill>
                <a:latin typeface="+mn-ea"/>
                <a:sym typeface="+mn-ea"/>
              </a:rPr>
              <a:t>全部注释</a:t>
            </a:r>
            <a:endParaRPr lang="en-US" altLang="zh-CN"/>
          </a:p>
        </p:txBody>
      </p:sp>
      <p:sp>
        <p:nvSpPr>
          <p:cNvPr id="8" name="文本框 7"/>
          <p:cNvSpPr txBox="1"/>
          <p:nvPr/>
        </p:nvSpPr>
        <p:spPr>
          <a:xfrm>
            <a:off x="2936875" y="403225"/>
            <a:ext cx="2436495" cy="368300"/>
          </a:xfrm>
          <a:prstGeom prst="rect">
            <a:avLst/>
          </a:prstGeom>
          <a:noFill/>
        </p:spPr>
        <p:txBody>
          <a:bodyPr wrap="square" rtlCol="0" anchor="t">
            <a:spAutoFit/>
          </a:bodyPr>
          <a:p>
            <a:r>
              <a:rPr kumimoji="1" lang="en-US" altLang="zh-CN" b="1" dirty="0">
                <a:solidFill>
                  <a:srgbClr val="FF0000"/>
                </a:solidFill>
                <a:latin typeface="+mn-ea"/>
                <a:sym typeface="+mn-ea"/>
              </a:rPr>
              <a:t>2</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a:t>
            </a:r>
            <a:r>
              <a:rPr kumimoji="1" lang="zh-CN" altLang="en-US" b="1" dirty="0">
                <a:solidFill>
                  <a:srgbClr val="FF0000"/>
                </a:solidFill>
                <a:latin typeface="+mn-ea"/>
                <a:sym typeface="+mn-ea"/>
              </a:rPr>
              <a:t>放开，</a:t>
            </a:r>
            <a:r>
              <a:rPr kumimoji="1" lang="en-US" altLang="zh-CN" b="1" dirty="0">
                <a:solidFill>
                  <a:srgbClr val="FF0000"/>
                </a:solidFill>
                <a:latin typeface="+mn-ea"/>
                <a:sym typeface="+mn-ea"/>
              </a:rPr>
              <a:t>②</a:t>
            </a:r>
            <a:r>
              <a:rPr kumimoji="1" lang="zh-CN" altLang="en-US" b="1" dirty="0">
                <a:solidFill>
                  <a:srgbClr val="FF0000"/>
                </a:solidFill>
                <a:latin typeface="+mn-ea"/>
                <a:sym typeface="+mn-ea"/>
              </a:rPr>
              <a:t>注释</a:t>
            </a:r>
            <a:endParaRPr kumimoji="1" lang="zh-CN" altLang="en-US" b="1" dirty="0">
              <a:solidFill>
                <a:srgbClr val="FF0000"/>
              </a:solidFill>
              <a:latin typeface="+mn-ea"/>
              <a:sym typeface="+mn-ea"/>
            </a:endParaRPr>
          </a:p>
        </p:txBody>
      </p:sp>
      <p:sp>
        <p:nvSpPr>
          <p:cNvPr id="10" name="文本框 9"/>
          <p:cNvSpPr txBox="1"/>
          <p:nvPr/>
        </p:nvSpPr>
        <p:spPr>
          <a:xfrm>
            <a:off x="6324600" y="403225"/>
            <a:ext cx="2356485" cy="368300"/>
          </a:xfrm>
          <a:prstGeom prst="rect">
            <a:avLst/>
          </a:prstGeom>
          <a:noFill/>
        </p:spPr>
        <p:txBody>
          <a:bodyPr wrap="square" rtlCol="0" anchor="t">
            <a:spAutoFit/>
          </a:bodyPr>
          <a:p>
            <a:r>
              <a:rPr kumimoji="1" lang="en-US" altLang="zh-CN" b="1" dirty="0">
                <a:solidFill>
                  <a:srgbClr val="FF0000"/>
                </a:solidFill>
                <a:latin typeface="+mn-ea"/>
                <a:sym typeface="+mn-ea"/>
              </a:rPr>
              <a:t>3</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a:t>
            </a:r>
            <a:r>
              <a:rPr kumimoji="1" lang="zh-CN" altLang="en-US" b="1" dirty="0">
                <a:solidFill>
                  <a:srgbClr val="FF0000"/>
                </a:solidFill>
                <a:latin typeface="+mn-ea"/>
                <a:sym typeface="+mn-ea"/>
              </a:rPr>
              <a:t>全部放开</a:t>
            </a:r>
            <a:endParaRPr kumimoji="1" lang="zh-CN" altLang="en-US" b="1" dirty="0">
              <a:solidFill>
                <a:srgbClr val="FF0000"/>
              </a:solidFill>
              <a:latin typeface="+mn-ea"/>
              <a:sym typeface="+mn-ea"/>
            </a:endParaRPr>
          </a:p>
        </p:txBody>
      </p:sp>
      <p:pic>
        <p:nvPicPr>
          <p:cNvPr id="16" name="图片 15"/>
          <p:cNvPicPr>
            <a:picLocks noChangeAspect="1"/>
          </p:cNvPicPr>
          <p:nvPr/>
        </p:nvPicPr>
        <p:blipFill>
          <a:blip r:embed="rId1"/>
          <a:stretch>
            <a:fillRect/>
          </a:stretch>
        </p:blipFill>
        <p:spPr>
          <a:xfrm>
            <a:off x="400050" y="771525"/>
            <a:ext cx="2159635" cy="4718050"/>
          </a:xfrm>
          <a:prstGeom prst="rect">
            <a:avLst/>
          </a:prstGeom>
        </p:spPr>
      </p:pic>
      <p:pic>
        <p:nvPicPr>
          <p:cNvPr id="17" name="图片 16"/>
          <p:cNvPicPr>
            <a:picLocks noChangeAspect="1"/>
          </p:cNvPicPr>
          <p:nvPr/>
        </p:nvPicPr>
        <p:blipFill>
          <a:blip r:embed="rId2"/>
          <a:stretch>
            <a:fillRect/>
          </a:stretch>
        </p:blipFill>
        <p:spPr>
          <a:xfrm>
            <a:off x="3215005" y="771525"/>
            <a:ext cx="1991360" cy="4756150"/>
          </a:xfrm>
          <a:prstGeom prst="rect">
            <a:avLst/>
          </a:prstGeom>
        </p:spPr>
      </p:pic>
      <p:pic>
        <p:nvPicPr>
          <p:cNvPr id="19" name="图片 18"/>
          <p:cNvPicPr>
            <a:picLocks noChangeAspect="1"/>
          </p:cNvPicPr>
          <p:nvPr/>
        </p:nvPicPr>
        <p:blipFill>
          <a:blip r:embed="rId3"/>
          <a:stretch>
            <a:fillRect/>
          </a:stretch>
        </p:blipFill>
        <p:spPr>
          <a:xfrm>
            <a:off x="6379210" y="718820"/>
            <a:ext cx="1993900" cy="4808220"/>
          </a:xfrm>
          <a:prstGeom prst="rect">
            <a:avLst/>
          </a:prstGeom>
        </p:spPr>
      </p:pic>
      <p:sp>
        <p:nvSpPr>
          <p:cNvPr id="20" name="文本框 19"/>
          <p:cNvSpPr txBox="1"/>
          <p:nvPr/>
        </p:nvSpPr>
        <p:spPr>
          <a:xfrm>
            <a:off x="218440" y="5661660"/>
            <a:ext cx="11579225" cy="645160"/>
          </a:xfrm>
          <a:prstGeom prst="rect">
            <a:avLst/>
          </a:prstGeom>
          <a:noFill/>
        </p:spPr>
        <p:txBody>
          <a:bodyPr wrap="square" rtlCol="0" anchor="t">
            <a:spAutoFit/>
          </a:bodyPr>
          <a:p>
            <a:r>
              <a:rPr lang="zh-CN" altLang="en-US" b="1">
                <a:solidFill>
                  <a:schemeClr val="accent2"/>
                </a:solidFill>
                <a:sym typeface="+mn-ea"/>
              </a:rPr>
              <a:t>结论：该</a:t>
            </a:r>
            <a:r>
              <a:rPr lang="zh-CN" altLang="en-US">
                <a:solidFill>
                  <a:schemeClr val="accent2"/>
                </a:solidFill>
                <a:sym typeface="+mn-ea"/>
              </a:rPr>
              <a:t>模式下，不会因为数组的内存访问越界报错，但似乎只能修改超过边界</a:t>
            </a:r>
            <a:r>
              <a:rPr lang="en-US" altLang="zh-CN">
                <a:solidFill>
                  <a:schemeClr val="accent2"/>
                </a:solidFill>
                <a:sym typeface="+mn-ea"/>
              </a:rPr>
              <a:t>4</a:t>
            </a:r>
            <a:r>
              <a:rPr lang="zh-CN" altLang="en-US">
                <a:solidFill>
                  <a:schemeClr val="accent2"/>
                </a:solidFill>
                <a:sym typeface="+mn-ea"/>
              </a:rPr>
              <a:t>个地址以内，</a:t>
            </a:r>
            <a:r>
              <a:rPr lang="zh-CN" altLang="en-US">
                <a:solidFill>
                  <a:schemeClr val="accent2"/>
                </a:solidFill>
                <a:sym typeface="+mn-ea"/>
              </a:rPr>
              <a:t>修改</a:t>
            </a:r>
            <a:r>
              <a:rPr lang="zh-CN" altLang="en-US">
                <a:solidFill>
                  <a:schemeClr val="accent2"/>
                </a:solidFill>
                <a:sym typeface="+mn-ea"/>
              </a:rPr>
              <a:t>其他更远位置是无效的。</a:t>
            </a:r>
            <a:endParaRPr lang="zh-CN" altLang="en-US">
              <a:solidFill>
                <a:schemeClr val="accent2"/>
              </a:solidFill>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327660" y="95885"/>
            <a:ext cx="9354820" cy="675640"/>
          </a:xfrm>
          <a:prstGeom prst="rect">
            <a:avLst/>
          </a:prstGeom>
          <a:noFill/>
        </p:spPr>
        <p:txBody>
          <a:bodyPr wrap="square" rtlCol="0">
            <a:spAutoFit/>
          </a:bodyPr>
          <a:p>
            <a:r>
              <a:rPr lang="en-US" altLang="zh-CN" sz="2000" b="1">
                <a:sym typeface="+mn-ea"/>
              </a:rPr>
              <a:t>Dev 32bit/Debug   Dev 32bit/Release   </a:t>
            </a:r>
            <a:endParaRPr lang="en-US" altLang="zh-CN" sz="2000" b="1"/>
          </a:p>
          <a:p>
            <a:r>
              <a:rPr kumimoji="1" lang="en-US" altLang="zh-CN" b="1" dirty="0">
                <a:solidFill>
                  <a:srgbClr val="FF0000"/>
                </a:solidFill>
                <a:latin typeface="+mn-ea"/>
                <a:sym typeface="+mn-ea"/>
              </a:rPr>
              <a:t>1</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a:t>
            </a:r>
            <a:r>
              <a:rPr kumimoji="1" lang="zh-CN" altLang="en-US" b="1" dirty="0">
                <a:solidFill>
                  <a:srgbClr val="FF0000"/>
                </a:solidFill>
                <a:latin typeface="+mn-ea"/>
                <a:sym typeface="+mn-ea"/>
              </a:rPr>
              <a:t>全部注释</a:t>
            </a:r>
            <a:endParaRPr lang="en-US" altLang="zh-CN"/>
          </a:p>
        </p:txBody>
      </p:sp>
      <p:sp>
        <p:nvSpPr>
          <p:cNvPr id="8" name="文本框 7"/>
          <p:cNvSpPr txBox="1"/>
          <p:nvPr/>
        </p:nvSpPr>
        <p:spPr>
          <a:xfrm>
            <a:off x="2936875" y="403225"/>
            <a:ext cx="2436495" cy="368300"/>
          </a:xfrm>
          <a:prstGeom prst="rect">
            <a:avLst/>
          </a:prstGeom>
          <a:noFill/>
        </p:spPr>
        <p:txBody>
          <a:bodyPr wrap="square" rtlCol="0" anchor="t">
            <a:spAutoFit/>
          </a:bodyPr>
          <a:p>
            <a:r>
              <a:rPr kumimoji="1" lang="en-US" altLang="zh-CN" b="1" dirty="0">
                <a:solidFill>
                  <a:srgbClr val="FF0000"/>
                </a:solidFill>
                <a:latin typeface="+mn-ea"/>
                <a:sym typeface="+mn-ea"/>
              </a:rPr>
              <a:t>2</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a:t>
            </a:r>
            <a:r>
              <a:rPr kumimoji="1" lang="zh-CN" altLang="en-US" b="1" dirty="0">
                <a:solidFill>
                  <a:srgbClr val="FF0000"/>
                </a:solidFill>
                <a:latin typeface="+mn-ea"/>
                <a:sym typeface="+mn-ea"/>
              </a:rPr>
              <a:t>放开，</a:t>
            </a:r>
            <a:r>
              <a:rPr kumimoji="1" lang="en-US" altLang="zh-CN" b="1" dirty="0">
                <a:solidFill>
                  <a:srgbClr val="FF0000"/>
                </a:solidFill>
                <a:latin typeface="+mn-ea"/>
                <a:sym typeface="+mn-ea"/>
              </a:rPr>
              <a:t>②</a:t>
            </a:r>
            <a:r>
              <a:rPr kumimoji="1" lang="zh-CN" altLang="en-US" b="1" dirty="0">
                <a:solidFill>
                  <a:srgbClr val="FF0000"/>
                </a:solidFill>
                <a:latin typeface="+mn-ea"/>
                <a:sym typeface="+mn-ea"/>
              </a:rPr>
              <a:t>注释</a:t>
            </a:r>
            <a:endParaRPr kumimoji="1" lang="zh-CN" altLang="en-US" b="1" dirty="0">
              <a:solidFill>
                <a:srgbClr val="FF0000"/>
              </a:solidFill>
              <a:latin typeface="+mn-ea"/>
              <a:sym typeface="+mn-ea"/>
            </a:endParaRPr>
          </a:p>
        </p:txBody>
      </p:sp>
      <p:sp>
        <p:nvSpPr>
          <p:cNvPr id="10" name="文本框 9"/>
          <p:cNvSpPr txBox="1"/>
          <p:nvPr/>
        </p:nvSpPr>
        <p:spPr>
          <a:xfrm>
            <a:off x="6324600" y="403225"/>
            <a:ext cx="2356485" cy="368300"/>
          </a:xfrm>
          <a:prstGeom prst="rect">
            <a:avLst/>
          </a:prstGeom>
          <a:noFill/>
        </p:spPr>
        <p:txBody>
          <a:bodyPr wrap="square" rtlCol="0" anchor="t">
            <a:spAutoFit/>
          </a:bodyPr>
          <a:p>
            <a:r>
              <a:rPr kumimoji="1" lang="en-US" altLang="zh-CN" b="1" dirty="0">
                <a:solidFill>
                  <a:srgbClr val="FF0000"/>
                </a:solidFill>
                <a:latin typeface="+mn-ea"/>
                <a:sym typeface="+mn-ea"/>
              </a:rPr>
              <a:t>3</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a:t>
            </a:r>
            <a:r>
              <a:rPr kumimoji="1" lang="zh-CN" altLang="en-US" b="1" dirty="0">
                <a:solidFill>
                  <a:srgbClr val="FF0000"/>
                </a:solidFill>
                <a:latin typeface="+mn-ea"/>
                <a:sym typeface="+mn-ea"/>
              </a:rPr>
              <a:t>全部放开</a:t>
            </a:r>
            <a:endParaRPr kumimoji="1" lang="zh-CN" altLang="en-US" b="1" dirty="0">
              <a:solidFill>
                <a:srgbClr val="FF0000"/>
              </a:solidFill>
              <a:latin typeface="+mn-ea"/>
              <a:sym typeface="+mn-ea"/>
            </a:endParaRPr>
          </a:p>
        </p:txBody>
      </p:sp>
      <p:pic>
        <p:nvPicPr>
          <p:cNvPr id="2" name="图片 1"/>
          <p:cNvPicPr>
            <a:picLocks noChangeAspect="1"/>
          </p:cNvPicPr>
          <p:nvPr/>
        </p:nvPicPr>
        <p:blipFill>
          <a:blip r:embed="rId1"/>
          <a:stretch>
            <a:fillRect/>
          </a:stretch>
        </p:blipFill>
        <p:spPr>
          <a:xfrm>
            <a:off x="6410325" y="808355"/>
            <a:ext cx="1863090" cy="4608830"/>
          </a:xfrm>
          <a:prstGeom prst="rect">
            <a:avLst/>
          </a:prstGeom>
        </p:spPr>
      </p:pic>
      <p:pic>
        <p:nvPicPr>
          <p:cNvPr id="3" name="图片 2"/>
          <p:cNvPicPr>
            <a:picLocks noChangeAspect="1"/>
          </p:cNvPicPr>
          <p:nvPr/>
        </p:nvPicPr>
        <p:blipFill>
          <a:blip r:embed="rId2"/>
          <a:stretch>
            <a:fillRect/>
          </a:stretch>
        </p:blipFill>
        <p:spPr>
          <a:xfrm>
            <a:off x="481965" y="771525"/>
            <a:ext cx="1936115" cy="4592955"/>
          </a:xfrm>
          <a:prstGeom prst="rect">
            <a:avLst/>
          </a:prstGeom>
        </p:spPr>
      </p:pic>
      <p:pic>
        <p:nvPicPr>
          <p:cNvPr id="4" name="图片 3"/>
          <p:cNvPicPr>
            <a:picLocks noChangeAspect="1"/>
          </p:cNvPicPr>
          <p:nvPr/>
        </p:nvPicPr>
        <p:blipFill>
          <a:blip r:embed="rId3"/>
          <a:stretch>
            <a:fillRect/>
          </a:stretch>
        </p:blipFill>
        <p:spPr>
          <a:xfrm>
            <a:off x="3208020" y="771525"/>
            <a:ext cx="1893570" cy="4592955"/>
          </a:xfrm>
          <a:prstGeom prst="rect">
            <a:avLst/>
          </a:prstGeom>
        </p:spPr>
      </p:pic>
      <p:sp>
        <p:nvSpPr>
          <p:cNvPr id="20" name="文本框 19"/>
          <p:cNvSpPr txBox="1"/>
          <p:nvPr/>
        </p:nvSpPr>
        <p:spPr>
          <a:xfrm>
            <a:off x="218440" y="5661660"/>
            <a:ext cx="11579225" cy="645160"/>
          </a:xfrm>
          <a:prstGeom prst="rect">
            <a:avLst/>
          </a:prstGeom>
          <a:noFill/>
        </p:spPr>
        <p:txBody>
          <a:bodyPr wrap="square" rtlCol="0" anchor="t">
            <a:spAutoFit/>
          </a:bodyPr>
          <a:p>
            <a:r>
              <a:rPr lang="zh-CN" altLang="en-US" b="1">
                <a:solidFill>
                  <a:schemeClr val="accent2"/>
                </a:solidFill>
                <a:sym typeface="+mn-ea"/>
              </a:rPr>
              <a:t>结论：该</a:t>
            </a:r>
            <a:r>
              <a:rPr lang="zh-CN" altLang="en-US">
                <a:solidFill>
                  <a:schemeClr val="accent2"/>
                </a:solidFill>
                <a:sym typeface="+mn-ea"/>
              </a:rPr>
              <a:t>模式下，不会因为数组的内存访问越界报错，但似乎只能修改超过边界</a:t>
            </a:r>
            <a:r>
              <a:rPr lang="en-US" altLang="zh-CN">
                <a:solidFill>
                  <a:schemeClr val="accent2"/>
                </a:solidFill>
                <a:sym typeface="+mn-ea"/>
              </a:rPr>
              <a:t>4</a:t>
            </a:r>
            <a:r>
              <a:rPr lang="zh-CN" altLang="en-US">
                <a:solidFill>
                  <a:schemeClr val="accent2"/>
                </a:solidFill>
                <a:sym typeface="+mn-ea"/>
              </a:rPr>
              <a:t>个地址以外，</a:t>
            </a:r>
            <a:r>
              <a:rPr lang="zh-CN" altLang="en-US">
                <a:solidFill>
                  <a:schemeClr val="accent2"/>
                </a:solidFill>
                <a:sym typeface="+mn-ea"/>
              </a:rPr>
              <a:t>修改</a:t>
            </a:r>
            <a:r>
              <a:rPr lang="zh-CN" altLang="en-US">
                <a:solidFill>
                  <a:schemeClr val="accent2"/>
                </a:solidFill>
                <a:sym typeface="+mn-ea"/>
              </a:rPr>
              <a:t>位置</a:t>
            </a:r>
            <a:r>
              <a:rPr lang="en-US" altLang="zh-CN">
                <a:solidFill>
                  <a:schemeClr val="accent2"/>
                </a:solidFill>
                <a:sym typeface="+mn-ea"/>
              </a:rPr>
              <a:t>4</a:t>
            </a:r>
            <a:r>
              <a:rPr lang="zh-CN" altLang="en-US">
                <a:solidFill>
                  <a:schemeClr val="accent2"/>
                </a:solidFill>
                <a:sym typeface="+mn-ea"/>
              </a:rPr>
              <a:t>个地址以内的值</a:t>
            </a:r>
            <a:r>
              <a:rPr lang="zh-CN" altLang="en-US">
                <a:solidFill>
                  <a:schemeClr val="accent2"/>
                </a:solidFill>
                <a:sym typeface="+mn-ea"/>
              </a:rPr>
              <a:t>是无效的。</a:t>
            </a:r>
            <a:endParaRPr lang="zh-CN" altLang="en-US">
              <a:solidFill>
                <a:schemeClr val="accent2"/>
              </a:solidFill>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340360" y="948055"/>
            <a:ext cx="2376805" cy="4269740"/>
          </a:xfrm>
          <a:prstGeom prst="rect">
            <a:avLst/>
          </a:prstGeom>
        </p:spPr>
      </p:pic>
      <p:pic>
        <p:nvPicPr>
          <p:cNvPr id="6" name="图片 5"/>
          <p:cNvPicPr>
            <a:picLocks noChangeAspect="1"/>
          </p:cNvPicPr>
          <p:nvPr/>
        </p:nvPicPr>
        <p:blipFill>
          <a:blip r:embed="rId2"/>
          <a:stretch>
            <a:fillRect/>
          </a:stretch>
        </p:blipFill>
        <p:spPr>
          <a:xfrm>
            <a:off x="3090545" y="955040"/>
            <a:ext cx="2435860" cy="4263390"/>
          </a:xfrm>
          <a:prstGeom prst="rect">
            <a:avLst/>
          </a:prstGeom>
        </p:spPr>
      </p:pic>
      <p:pic>
        <p:nvPicPr>
          <p:cNvPr id="7" name="图片 6"/>
          <p:cNvPicPr>
            <a:picLocks noChangeAspect="1"/>
          </p:cNvPicPr>
          <p:nvPr/>
        </p:nvPicPr>
        <p:blipFill>
          <a:blip r:embed="rId3"/>
          <a:stretch>
            <a:fillRect/>
          </a:stretch>
        </p:blipFill>
        <p:spPr>
          <a:xfrm>
            <a:off x="5986145" y="955040"/>
            <a:ext cx="2521585" cy="4263390"/>
          </a:xfrm>
          <a:prstGeom prst="rect">
            <a:avLst/>
          </a:prstGeom>
        </p:spPr>
      </p:pic>
      <p:sp>
        <p:nvSpPr>
          <p:cNvPr id="8" name="文本框 7"/>
          <p:cNvSpPr txBox="1"/>
          <p:nvPr/>
        </p:nvSpPr>
        <p:spPr>
          <a:xfrm>
            <a:off x="340360" y="95885"/>
            <a:ext cx="8909050" cy="675640"/>
          </a:xfrm>
          <a:prstGeom prst="rect">
            <a:avLst/>
          </a:prstGeom>
          <a:noFill/>
        </p:spPr>
        <p:txBody>
          <a:bodyPr wrap="square" rtlCol="0">
            <a:spAutoFit/>
          </a:bodyPr>
          <a:p>
            <a:r>
              <a:rPr lang="en-US" altLang="zh-CN" sz="2000" b="1"/>
              <a:t>Linux</a:t>
            </a:r>
            <a:r>
              <a:rPr lang="en-US" altLang="zh-CN" sz="2000" b="1">
                <a:sym typeface="+mn-ea"/>
              </a:rPr>
              <a:t>   </a:t>
            </a:r>
            <a:endParaRPr lang="en-US" altLang="zh-CN" sz="2000" b="1"/>
          </a:p>
          <a:p>
            <a:r>
              <a:rPr kumimoji="1" lang="en-US" altLang="zh-CN" b="1" dirty="0">
                <a:solidFill>
                  <a:srgbClr val="FF0000"/>
                </a:solidFill>
                <a:latin typeface="+mn-ea"/>
                <a:sym typeface="+mn-ea"/>
              </a:rPr>
              <a:t>1</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a:t>
            </a:r>
            <a:r>
              <a:rPr kumimoji="1" lang="zh-CN" altLang="en-US" b="1" dirty="0">
                <a:solidFill>
                  <a:srgbClr val="FF0000"/>
                </a:solidFill>
                <a:latin typeface="+mn-ea"/>
                <a:sym typeface="+mn-ea"/>
              </a:rPr>
              <a:t>全部注释</a:t>
            </a:r>
            <a:endParaRPr lang="en-US" altLang="zh-CN"/>
          </a:p>
        </p:txBody>
      </p:sp>
      <p:sp>
        <p:nvSpPr>
          <p:cNvPr id="9" name="文本框 8"/>
          <p:cNvSpPr txBox="1"/>
          <p:nvPr>
            <p:custDataLst>
              <p:tags r:id="rId4"/>
            </p:custDataLst>
          </p:nvPr>
        </p:nvSpPr>
        <p:spPr>
          <a:xfrm>
            <a:off x="2936875" y="403225"/>
            <a:ext cx="2436495" cy="368300"/>
          </a:xfrm>
          <a:prstGeom prst="rect">
            <a:avLst/>
          </a:prstGeom>
          <a:noFill/>
        </p:spPr>
        <p:txBody>
          <a:bodyPr wrap="square" rtlCol="0" anchor="t">
            <a:spAutoFit/>
          </a:bodyPr>
          <a:p>
            <a:r>
              <a:rPr kumimoji="1" lang="en-US" altLang="zh-CN" b="1" dirty="0">
                <a:solidFill>
                  <a:srgbClr val="FF0000"/>
                </a:solidFill>
                <a:latin typeface="+mn-ea"/>
                <a:sym typeface="+mn-ea"/>
              </a:rPr>
              <a:t>2</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a:t>
            </a:r>
            <a:r>
              <a:rPr kumimoji="1" lang="zh-CN" altLang="en-US" b="1" dirty="0">
                <a:solidFill>
                  <a:srgbClr val="FF0000"/>
                </a:solidFill>
                <a:latin typeface="+mn-ea"/>
                <a:sym typeface="+mn-ea"/>
              </a:rPr>
              <a:t>放开，</a:t>
            </a:r>
            <a:r>
              <a:rPr kumimoji="1" lang="en-US" altLang="zh-CN" b="1" dirty="0">
                <a:solidFill>
                  <a:srgbClr val="FF0000"/>
                </a:solidFill>
                <a:latin typeface="+mn-ea"/>
                <a:sym typeface="+mn-ea"/>
              </a:rPr>
              <a:t>②</a:t>
            </a:r>
            <a:r>
              <a:rPr kumimoji="1" lang="zh-CN" altLang="en-US" b="1" dirty="0">
                <a:solidFill>
                  <a:srgbClr val="FF0000"/>
                </a:solidFill>
                <a:latin typeface="+mn-ea"/>
                <a:sym typeface="+mn-ea"/>
              </a:rPr>
              <a:t>注释</a:t>
            </a:r>
            <a:endParaRPr kumimoji="1" lang="zh-CN" altLang="en-US" b="1" dirty="0">
              <a:solidFill>
                <a:srgbClr val="FF0000"/>
              </a:solidFill>
              <a:latin typeface="+mn-ea"/>
              <a:sym typeface="+mn-ea"/>
            </a:endParaRPr>
          </a:p>
        </p:txBody>
      </p:sp>
      <p:sp>
        <p:nvSpPr>
          <p:cNvPr id="10" name="文本框 9"/>
          <p:cNvSpPr txBox="1"/>
          <p:nvPr>
            <p:custDataLst>
              <p:tags r:id="rId5"/>
            </p:custDataLst>
          </p:nvPr>
        </p:nvSpPr>
        <p:spPr>
          <a:xfrm>
            <a:off x="5608955" y="403225"/>
            <a:ext cx="2467610" cy="368300"/>
          </a:xfrm>
          <a:prstGeom prst="rect">
            <a:avLst/>
          </a:prstGeom>
          <a:noFill/>
        </p:spPr>
        <p:txBody>
          <a:bodyPr wrap="square" rtlCol="0" anchor="t">
            <a:spAutoFit/>
          </a:bodyPr>
          <a:p>
            <a:r>
              <a:rPr kumimoji="1" lang="en-US" altLang="zh-CN" b="1" dirty="0">
                <a:solidFill>
                  <a:srgbClr val="FF0000"/>
                </a:solidFill>
                <a:latin typeface="+mn-ea"/>
                <a:sym typeface="+mn-ea"/>
              </a:rPr>
              <a:t>3</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a:t>
            </a:r>
            <a:r>
              <a:rPr kumimoji="1" lang="en-US" altLang="zh-CN" b="1" dirty="0">
                <a:solidFill>
                  <a:srgbClr val="FF0000"/>
                </a:solidFill>
                <a:latin typeface="+mn-ea"/>
                <a:sym typeface="+mn-ea"/>
              </a:rPr>
              <a:t>②</a:t>
            </a:r>
            <a:r>
              <a:rPr kumimoji="1" lang="zh-CN" altLang="en-US" b="1" dirty="0">
                <a:solidFill>
                  <a:srgbClr val="FF0000"/>
                </a:solidFill>
                <a:latin typeface="+mn-ea"/>
                <a:sym typeface="+mn-ea"/>
              </a:rPr>
              <a:t>放开</a:t>
            </a:r>
            <a:endParaRPr kumimoji="1" lang="zh-CN" altLang="en-US" b="1" dirty="0">
              <a:solidFill>
                <a:srgbClr val="FF0000"/>
              </a:solidFill>
              <a:latin typeface="+mn-ea"/>
              <a:sym typeface="+mn-ea"/>
            </a:endParaRPr>
          </a:p>
        </p:txBody>
      </p:sp>
      <p:sp>
        <p:nvSpPr>
          <p:cNvPr id="12" name="文本框 11"/>
          <p:cNvSpPr txBox="1"/>
          <p:nvPr/>
        </p:nvSpPr>
        <p:spPr>
          <a:xfrm>
            <a:off x="408305" y="5650230"/>
            <a:ext cx="11579225" cy="368300"/>
          </a:xfrm>
          <a:prstGeom prst="rect">
            <a:avLst/>
          </a:prstGeom>
          <a:noFill/>
        </p:spPr>
        <p:txBody>
          <a:bodyPr wrap="square" rtlCol="0" anchor="t">
            <a:spAutoFit/>
          </a:bodyPr>
          <a:p>
            <a:r>
              <a:rPr lang="zh-CN" altLang="en-US" b="1">
                <a:solidFill>
                  <a:schemeClr val="accent2"/>
                </a:solidFill>
                <a:sym typeface="+mn-ea"/>
              </a:rPr>
              <a:t>结论：</a:t>
            </a:r>
            <a:r>
              <a:rPr lang="en-US" altLang="zh-CN" b="1">
                <a:solidFill>
                  <a:schemeClr val="accent2"/>
                </a:solidFill>
                <a:sym typeface="+mn-ea"/>
              </a:rPr>
              <a:t>Linux</a:t>
            </a:r>
            <a:r>
              <a:rPr lang="zh-CN" altLang="en-US">
                <a:solidFill>
                  <a:schemeClr val="accent2"/>
                </a:solidFill>
                <a:sym typeface="+mn-ea"/>
              </a:rPr>
              <a:t>模式下，不会因为数组的内存访问越界报错</a:t>
            </a:r>
            <a:r>
              <a:rPr lang="zh-CN" altLang="en-US">
                <a:solidFill>
                  <a:schemeClr val="accent2"/>
                </a:solidFill>
                <a:sym typeface="+mn-ea"/>
              </a:rPr>
              <a:t>。</a:t>
            </a:r>
            <a:endParaRPr lang="zh-CN" altLang="en-US">
              <a:solidFill>
                <a:schemeClr val="accent2"/>
              </a:solidFill>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subTitle" idx="1"/>
          </p:nvPr>
        </p:nvSpPr>
        <p:spPr>
          <a:xfrm>
            <a:off x="180086" y="162560"/>
            <a:ext cx="11880850" cy="6480810"/>
          </a:xfrm>
        </p:spPr>
        <p:txBody>
          <a:bodyPr/>
          <a:lstStyle/>
          <a:p>
            <a:r>
              <a:rPr lang="en-US" altLang="zh-CN" sz="2800" b="1" dirty="0">
                <a:latin typeface="+mn-ea"/>
              </a:rPr>
              <a:t>§.</a:t>
            </a:r>
            <a:r>
              <a:rPr lang="zh-CN" altLang="en-US" sz="2800" b="1" dirty="0">
                <a:latin typeface="+mn-ea"/>
              </a:rPr>
              <a:t>关于动态内存申请后越界访问的深度讨论</a:t>
            </a:r>
            <a:endParaRPr lang="zh-CN" altLang="en-US" sz="2800" b="1" dirty="0">
              <a:latin typeface="+mn-ea"/>
            </a:endParaRPr>
          </a:p>
          <a:p>
            <a:pPr algn="l"/>
            <a:r>
              <a:rPr lang="en-US" altLang="zh-CN" sz="1600" b="1" dirty="0">
                <a:latin typeface="+mn-ea"/>
              </a:rPr>
              <a:t>★ </a:t>
            </a:r>
            <a:r>
              <a:rPr lang="zh-CN" altLang="en-US" sz="1600" b="1" dirty="0">
                <a:latin typeface="+mn-ea"/>
              </a:rPr>
              <a:t>如何判断普通数组的越界访问（</a:t>
            </a:r>
            <a:r>
              <a:rPr lang="en-US" altLang="zh-CN" sz="1600" b="1" dirty="0">
                <a:latin typeface="+mn-ea"/>
              </a:rPr>
              <a:t>C</a:t>
            </a:r>
            <a:r>
              <a:rPr lang="zh-CN" altLang="en-US" sz="1600" b="1" dirty="0">
                <a:latin typeface="+mn-ea"/>
              </a:rPr>
              <a:t>方式，</a:t>
            </a:r>
            <a:r>
              <a:rPr lang="zh-CN" altLang="en-US" sz="1600" b="1" dirty="0">
                <a:solidFill>
                  <a:srgbClr val="FF0000"/>
                </a:solidFill>
                <a:latin typeface="+mn-ea"/>
              </a:rPr>
              <a:t>注意源程序后缀为</a:t>
            </a:r>
            <a:r>
              <a:rPr lang="en-US" altLang="zh-CN" sz="1600" b="1" dirty="0">
                <a:solidFill>
                  <a:srgbClr val="FF0000"/>
                </a:solidFill>
                <a:latin typeface="+mn-ea"/>
              </a:rPr>
              <a:t>.c</a:t>
            </a:r>
            <a:r>
              <a:rPr lang="zh-CN" altLang="en-US" sz="1600" b="1" dirty="0">
                <a:latin typeface="+mn-ea"/>
              </a:rPr>
              <a:t>）</a:t>
            </a:r>
            <a:endParaRPr lang="zh-CN" altLang="en-US" sz="1600" b="1" dirty="0">
              <a:latin typeface="+mn-ea"/>
            </a:endParaRPr>
          </a:p>
        </p:txBody>
      </p:sp>
      <p:sp>
        <p:nvSpPr>
          <p:cNvPr id="5" name="矩形 4"/>
          <p:cNvSpPr/>
          <p:nvPr/>
        </p:nvSpPr>
        <p:spPr bwMode="auto">
          <a:xfrm>
            <a:off x="484720" y="980728"/>
            <a:ext cx="10461702" cy="572487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kumimoji="1" lang="zh-CN" altLang="en-US" sz="1600" b="1" dirty="0">
              <a:solidFill>
                <a:srgbClr val="000000"/>
              </a:solidFill>
              <a:latin typeface="宋体" panose="02010600030101010101" pitchFamily="2" charset="-122"/>
              <a:ea typeface="宋体" panose="02010600030101010101" pitchFamily="2" charset="-122"/>
            </a:endParaRPr>
          </a:p>
        </p:txBody>
      </p:sp>
      <p:sp>
        <p:nvSpPr>
          <p:cNvPr id="4" name="矩形 3"/>
          <p:cNvSpPr/>
          <p:nvPr/>
        </p:nvSpPr>
        <p:spPr bwMode="auto">
          <a:xfrm>
            <a:off x="7202006" y="980727"/>
            <a:ext cx="3744416" cy="4057265"/>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r>
              <a:rPr kumimoji="1" lang="zh-CN" altLang="en-US" sz="1600" b="1" dirty="0">
                <a:solidFill>
                  <a:srgbClr val="FF0000"/>
                </a:solidFill>
                <a:latin typeface="+mn-ea"/>
              </a:rPr>
              <a:t>在理解</a:t>
            </a:r>
            <a:r>
              <a:rPr kumimoji="1" lang="en-US" altLang="zh-CN" sz="1600" b="1" dirty="0">
                <a:solidFill>
                  <a:srgbClr val="FF0000"/>
                </a:solidFill>
                <a:latin typeface="+mn-ea"/>
              </a:rPr>
              <a:t>P.1/P.2</a:t>
            </a:r>
            <a:r>
              <a:rPr kumimoji="1" lang="zh-CN" altLang="en-US" sz="1600" b="1" dirty="0">
                <a:solidFill>
                  <a:srgbClr val="FF0000"/>
                </a:solidFill>
                <a:latin typeface="+mn-ea"/>
              </a:rPr>
              <a:t>的情况下，自行构造</a:t>
            </a:r>
            <a:endParaRPr kumimoji="1" lang="en-US" altLang="zh-CN" sz="1600" b="1" dirty="0">
              <a:solidFill>
                <a:srgbClr val="FF0000"/>
              </a:solidFill>
              <a:latin typeface="+mn-ea"/>
            </a:endParaRPr>
          </a:p>
          <a:p>
            <a:pPr fontAlgn="base">
              <a:spcBef>
                <a:spcPct val="0"/>
              </a:spcBef>
              <a:spcAft>
                <a:spcPct val="0"/>
              </a:spcAft>
            </a:pPr>
            <a:r>
              <a:rPr kumimoji="1" lang="zh-CN" altLang="en-US" sz="1600" b="1" dirty="0">
                <a:solidFill>
                  <a:srgbClr val="FF0000"/>
                </a:solidFill>
                <a:latin typeface="+mn-ea"/>
              </a:rPr>
              <a:t>相似的程序，来观察数组越界后的</a:t>
            </a:r>
            <a:endParaRPr kumimoji="1" lang="en-US" altLang="zh-CN" sz="1600" b="1" dirty="0">
              <a:solidFill>
                <a:srgbClr val="FF0000"/>
              </a:solidFill>
              <a:latin typeface="+mn-ea"/>
            </a:endParaRPr>
          </a:p>
          <a:p>
            <a:pPr fontAlgn="base">
              <a:spcBef>
                <a:spcPct val="0"/>
              </a:spcBef>
              <a:spcAft>
                <a:spcPct val="0"/>
              </a:spcAft>
            </a:pPr>
            <a:r>
              <a:rPr kumimoji="1" lang="zh-CN" altLang="en-US" sz="1600" b="1" dirty="0">
                <a:solidFill>
                  <a:srgbClr val="FF0000"/>
                </a:solidFill>
                <a:latin typeface="+mn-ea"/>
              </a:rPr>
              <a:t>内存表现，并验证与动态申请是否相似</a:t>
            </a:r>
            <a:endParaRPr kumimoji="1" lang="en-US" altLang="zh-CN" sz="1600" b="1" dirty="0">
              <a:solidFill>
                <a:srgbClr val="FF0000"/>
              </a:solidFill>
              <a:latin typeface="+mn-ea"/>
            </a:endParaRPr>
          </a:p>
          <a:p>
            <a:pPr fontAlgn="base">
              <a:spcBef>
                <a:spcPct val="0"/>
              </a:spcBef>
              <a:spcAft>
                <a:spcPct val="0"/>
              </a:spcAft>
            </a:pPr>
            <a:endParaRPr kumimoji="1" lang="en-US" altLang="zh-CN" sz="1600" b="1" dirty="0">
              <a:solidFill>
                <a:srgbClr val="FF0000"/>
              </a:solidFill>
              <a:latin typeface="+mn-ea"/>
            </a:endParaRPr>
          </a:p>
          <a:p>
            <a:pPr fontAlgn="base">
              <a:spcBef>
                <a:spcPct val="0"/>
              </a:spcBef>
              <a:spcAft>
                <a:spcPct val="0"/>
              </a:spcAft>
            </a:pPr>
            <a:r>
              <a:rPr kumimoji="1" lang="zh-CN" altLang="en-US" sz="1600" b="1" dirty="0">
                <a:solidFill>
                  <a:schemeClr val="accent2"/>
                </a:solidFill>
                <a:latin typeface="+mn-ea"/>
              </a:rPr>
              <a:t>要求：</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2</a:t>
            </a:r>
            <a:r>
              <a:rPr kumimoji="1" lang="zh-CN" altLang="en-US" sz="1600" b="1" dirty="0">
                <a:solidFill>
                  <a:schemeClr val="accent2"/>
                </a:solidFill>
                <a:latin typeface="+mn-ea"/>
              </a:rPr>
              <a:t>、数组用 </a:t>
            </a:r>
            <a:r>
              <a:rPr kumimoji="1" lang="en-US" altLang="zh-CN" sz="1600" b="1" dirty="0">
                <a:solidFill>
                  <a:schemeClr val="accent2"/>
                </a:solidFill>
                <a:latin typeface="+mn-ea"/>
              </a:rPr>
              <a:t>int a[10]; </a:t>
            </a:r>
            <a:r>
              <a:rPr kumimoji="1" lang="zh-CN" altLang="en-US" sz="1600" b="1" dirty="0">
                <a:solidFill>
                  <a:schemeClr val="accent2"/>
                </a:solidFill>
                <a:latin typeface="+mn-ea"/>
              </a:rPr>
              <a:t>形式</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3</a:t>
            </a:r>
            <a:r>
              <a:rPr kumimoji="1" lang="zh-CN" altLang="en-US" sz="1600" b="1" dirty="0">
                <a:solidFill>
                  <a:schemeClr val="accent2"/>
                </a:solidFill>
                <a:latin typeface="+mn-ea"/>
              </a:rPr>
              <a:t>、测试程序在下面五种环境下运行</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      VS2022 x86/Debug</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      VS2022 x86/Release</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      Dev 32bit-Debug</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      Dev 32bit-Release</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      Linux</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4</a:t>
            </a:r>
            <a:r>
              <a:rPr kumimoji="1" lang="zh-CN" altLang="en-US" sz="1600" b="1" dirty="0">
                <a:solidFill>
                  <a:schemeClr val="accent2"/>
                </a:solidFill>
                <a:latin typeface="+mn-ea"/>
              </a:rPr>
              <a:t>、每种讨论的结果可截图</a:t>
            </a:r>
            <a:r>
              <a:rPr kumimoji="1" lang="en-US" altLang="zh-CN" sz="1600" b="1" dirty="0">
                <a:solidFill>
                  <a:schemeClr val="accent2"/>
                </a:solidFill>
                <a:latin typeface="+mn-ea"/>
              </a:rPr>
              <a:t>+</a:t>
            </a:r>
            <a:r>
              <a:rPr kumimoji="1" lang="zh-CN" altLang="en-US" sz="1600" b="1" dirty="0">
                <a:solidFill>
                  <a:schemeClr val="accent2"/>
                </a:solidFill>
                <a:latin typeface="+mn-ea"/>
              </a:rPr>
              <a:t>文字说明，</a:t>
            </a:r>
            <a:endParaRPr kumimoji="1" lang="en-US" altLang="zh-CN" sz="1600" b="1" dirty="0">
              <a:solidFill>
                <a:schemeClr val="accent2"/>
              </a:solidFill>
              <a:latin typeface="+mn-ea"/>
            </a:endParaRPr>
          </a:p>
          <a:p>
            <a:pPr fontAlgn="base">
              <a:spcBef>
                <a:spcPct val="0"/>
              </a:spcBef>
              <a:spcAft>
                <a:spcPct val="0"/>
              </a:spcAft>
            </a:pPr>
            <a:r>
              <a:rPr kumimoji="1" lang="zh-CN" altLang="en-US" sz="1600" b="1" dirty="0">
                <a:solidFill>
                  <a:schemeClr val="accent2"/>
                </a:solidFill>
                <a:latin typeface="+mn-ea"/>
              </a:rPr>
              <a:t>   如果几种环境的结果一致，用一个</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   </a:t>
            </a:r>
            <a:r>
              <a:rPr kumimoji="1" lang="zh-CN" altLang="en-US" sz="1600" b="1" dirty="0">
                <a:solidFill>
                  <a:schemeClr val="accent2"/>
                </a:solidFill>
                <a:latin typeface="+mn-ea"/>
              </a:rPr>
              <a:t>环境的截图</a:t>
            </a:r>
            <a:r>
              <a:rPr kumimoji="1" lang="en-US" altLang="zh-CN" sz="1600" b="1" dirty="0">
                <a:solidFill>
                  <a:schemeClr val="accent2"/>
                </a:solidFill>
                <a:latin typeface="+mn-ea"/>
              </a:rPr>
              <a:t>+</a:t>
            </a:r>
            <a:r>
              <a:rPr kumimoji="1" lang="zh-CN" altLang="en-US" sz="1600" b="1" dirty="0">
                <a:solidFill>
                  <a:schemeClr val="accent2"/>
                </a:solidFill>
                <a:latin typeface="+mn-ea"/>
              </a:rPr>
              <a:t>文字说明即可</a:t>
            </a:r>
            <a:r>
              <a:rPr kumimoji="1" lang="en-US" altLang="zh-CN" sz="1600" b="1" dirty="0">
                <a:solidFill>
                  <a:schemeClr val="accent2"/>
                </a:solidFill>
                <a:latin typeface="+mn-ea"/>
              </a:rPr>
              <a:t>(</a:t>
            </a:r>
            <a:r>
              <a:rPr kumimoji="1" lang="zh-CN" altLang="en-US" sz="1600" b="1" dirty="0">
                <a:solidFill>
                  <a:schemeClr val="accent2"/>
                </a:solidFill>
                <a:latin typeface="+mn-ea"/>
              </a:rPr>
              <a:t>可加页</a:t>
            </a:r>
            <a:r>
              <a:rPr kumimoji="1" lang="en-US" altLang="zh-CN" sz="1600" b="1" dirty="0">
                <a:solidFill>
                  <a:schemeClr val="accent2"/>
                </a:solidFill>
                <a:latin typeface="+mn-ea"/>
              </a:rPr>
              <a:t>)</a:t>
            </a:r>
            <a:endParaRPr kumimoji="1" lang="en-US" altLang="zh-CN" sz="1600" b="1" dirty="0">
              <a:solidFill>
                <a:schemeClr val="accent2"/>
              </a:solidFill>
              <a:latin typeface="+mn-ea"/>
            </a:endParaRPr>
          </a:p>
          <a:p>
            <a:pPr fontAlgn="base">
              <a:spcBef>
                <a:spcPct val="0"/>
              </a:spcBef>
              <a:spcAft>
                <a:spcPct val="0"/>
              </a:spcAft>
            </a:pPr>
            <a:endParaRPr kumimoji="1" lang="zh-CN" altLang="en-US" sz="1600" b="1" dirty="0">
              <a:solidFill>
                <a:schemeClr val="accent2"/>
              </a:solidFill>
              <a:latin typeface="+mn-ea"/>
            </a:endParaRPr>
          </a:p>
        </p:txBody>
      </p:sp>
      <p:sp>
        <p:nvSpPr>
          <p:cNvPr id="2" name="文本框 1"/>
          <p:cNvSpPr txBox="1"/>
          <p:nvPr/>
        </p:nvSpPr>
        <p:spPr>
          <a:xfrm>
            <a:off x="484505" y="980440"/>
            <a:ext cx="6096000" cy="5631180"/>
          </a:xfrm>
          <a:prstGeom prst="rect">
            <a:avLst/>
          </a:prstGeom>
          <a:noFill/>
        </p:spPr>
        <p:txBody>
          <a:bodyPr wrap="square" rtlCol="0" anchor="t">
            <a:spAutoFit/>
          </a:bodyPr>
          <a:p>
            <a:r>
              <a:rPr lang="zh-CN" altLang="en-US"/>
              <a:t>#define _CRT_SECURE_NO_WARNINGS</a:t>
            </a:r>
            <a:endParaRPr lang="zh-CN" altLang="en-US"/>
          </a:p>
          <a:p>
            <a:r>
              <a:rPr lang="zh-CN" altLang="en-US"/>
              <a:t>#include &lt;stdio.h&gt;</a:t>
            </a:r>
            <a:endParaRPr lang="zh-CN" altLang="en-US"/>
          </a:p>
          <a:p>
            <a:r>
              <a:rPr lang="zh-CN" altLang="en-US"/>
              <a:t>#include &lt;stdlib.h&gt;</a:t>
            </a:r>
            <a:endParaRPr lang="zh-CN" altLang="en-US"/>
          </a:p>
          <a:p>
            <a:r>
              <a:rPr lang="zh-CN" altLang="en-US"/>
              <a:t>#include &lt;string.h&gt;</a:t>
            </a:r>
            <a:endParaRPr lang="zh-CN" altLang="en-US"/>
          </a:p>
          <a:p>
            <a:endParaRPr lang="zh-CN" altLang="en-US"/>
          </a:p>
          <a:p>
            <a:r>
              <a:rPr lang="zh-CN" altLang="en-US"/>
              <a:t>int main()</a:t>
            </a:r>
            <a:endParaRPr lang="zh-CN" altLang="en-US"/>
          </a:p>
          <a:p>
            <a:r>
              <a:rPr lang="zh-CN" altLang="en-US"/>
              <a:t>{</a:t>
            </a:r>
            <a:endParaRPr lang="zh-CN" altLang="en-US"/>
          </a:p>
          <a:p>
            <a:r>
              <a:rPr lang="zh-CN" altLang="en-US"/>
              <a:t>    int a[10] = { 0,1,2,3,4,5,6,7,8,9 };</a:t>
            </a:r>
            <a:endParaRPr lang="zh-CN" altLang="en-US"/>
          </a:p>
          <a:p>
            <a:endParaRPr lang="zh-CN" altLang="en-US"/>
          </a:p>
          <a:p>
            <a:r>
              <a:rPr lang="zh-CN" altLang="en-US" b="1">
                <a:solidFill>
                  <a:srgbClr val="FF0000"/>
                </a:solidFill>
              </a:rPr>
              <a:t>    //*①*/  a[</a:t>
            </a:r>
            <a:r>
              <a:rPr lang="en-US" altLang="zh-CN" b="1">
                <a:solidFill>
                  <a:srgbClr val="FF0000"/>
                </a:solidFill>
              </a:rPr>
              <a:t>10</a:t>
            </a:r>
            <a:r>
              <a:rPr lang="zh-CN" altLang="en-US" b="1">
                <a:solidFill>
                  <a:srgbClr val="FF0000"/>
                </a:solidFill>
              </a:rPr>
              <a:t>] = 10;    //此句越界</a:t>
            </a:r>
            <a:endParaRPr lang="zh-CN" altLang="en-US" b="1">
              <a:solidFill>
                <a:srgbClr val="FF0000"/>
              </a:solidFill>
            </a:endParaRPr>
          </a:p>
          <a:p>
            <a:r>
              <a:rPr lang="zh-CN" altLang="en-US"/>
              <a:t>    a[14] = 14;    //此句越界</a:t>
            </a:r>
            <a:endParaRPr lang="zh-CN" altLang="en-US"/>
          </a:p>
          <a:p>
            <a:r>
              <a:rPr lang="zh-CN" altLang="en-US"/>
              <a:t>    a[15] = 15;    //此句越界</a:t>
            </a:r>
            <a:endParaRPr lang="zh-CN" altLang="en-US"/>
          </a:p>
          <a:p>
            <a:r>
              <a:rPr lang="zh-CN" altLang="en-US">
                <a:solidFill>
                  <a:srgbClr val="FF0000"/>
                </a:solidFill>
              </a:rPr>
              <a:t>   </a:t>
            </a:r>
            <a:r>
              <a:rPr lang="zh-CN" altLang="en-US" b="1">
                <a:solidFill>
                  <a:srgbClr val="FF0000"/>
                </a:solidFill>
              </a:rPr>
              <a:t> //*②*/  a[</a:t>
            </a:r>
            <a:r>
              <a:rPr lang="en-US" altLang="zh-CN" b="1">
                <a:solidFill>
                  <a:srgbClr val="FF0000"/>
                </a:solidFill>
              </a:rPr>
              <a:t>10</a:t>
            </a:r>
            <a:r>
              <a:rPr lang="zh-CN" altLang="en-US" b="1">
                <a:solidFill>
                  <a:srgbClr val="FF0000"/>
                </a:solidFill>
              </a:rPr>
              <a:t>] = </a:t>
            </a:r>
            <a:r>
              <a:rPr lang="en-US" b="1">
                <a:solidFill>
                  <a:srgbClr val="FF0000"/>
                </a:solidFill>
              </a:rPr>
              <a:t>0xcccccccc</a:t>
            </a:r>
            <a:r>
              <a:rPr lang="zh-CN" altLang="en-US" b="1">
                <a:solidFill>
                  <a:srgbClr val="FF0000"/>
                </a:solidFill>
              </a:rPr>
              <a:t>; //此句越界</a:t>
            </a:r>
            <a:endParaRPr lang="zh-CN" altLang="en-US" b="1">
              <a:solidFill>
                <a:srgbClr val="FF0000"/>
              </a:solidFill>
            </a:endParaRPr>
          </a:p>
          <a:p>
            <a:r>
              <a:rPr lang="zh-CN" altLang="en-US"/>
              <a:t>    printf("addr:%p\n", a);</a:t>
            </a:r>
            <a:endParaRPr lang="zh-CN" altLang="en-US"/>
          </a:p>
          <a:p>
            <a:r>
              <a:rPr lang="zh-CN" altLang="en-US"/>
              <a:t>    for (int i = -4; i &lt; 16; i++) //注意，只有0-9是合理范围，其余都是越界读</a:t>
            </a:r>
            <a:endParaRPr lang="zh-CN" altLang="en-US"/>
          </a:p>
          <a:p>
            <a:r>
              <a:rPr lang="zh-CN" altLang="en-US"/>
              <a:t>        printf("%p:%02x\n", (a + i), a[i]);</a:t>
            </a:r>
            <a:endParaRPr lang="zh-CN" altLang="en-US"/>
          </a:p>
          <a:p>
            <a:endParaRPr lang="zh-CN" altLang="en-US"/>
          </a:p>
          <a:p>
            <a:r>
              <a:rPr lang="zh-CN" altLang="en-US"/>
              <a:t>    return 0;</a:t>
            </a:r>
            <a:endParaRPr lang="zh-CN" altLang="en-US"/>
          </a:p>
          <a:p>
            <a:r>
              <a:rPr lang="zh-CN" altLang="en-US"/>
              <a:t>}</a:t>
            </a:r>
            <a:endParaRPr lang="zh-CN" alt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327660" y="95885"/>
            <a:ext cx="2708275" cy="675640"/>
          </a:xfrm>
          <a:prstGeom prst="rect">
            <a:avLst/>
          </a:prstGeom>
          <a:noFill/>
        </p:spPr>
        <p:txBody>
          <a:bodyPr wrap="square" rtlCol="0">
            <a:spAutoFit/>
          </a:bodyPr>
          <a:p>
            <a:r>
              <a:rPr lang="en-US" altLang="zh-CN" sz="2000" b="1"/>
              <a:t>VS2022  x86/Debug      </a:t>
            </a:r>
            <a:endParaRPr lang="en-US" altLang="zh-CN" sz="2000" b="1"/>
          </a:p>
          <a:p>
            <a:r>
              <a:rPr kumimoji="1" lang="en-US" altLang="zh-CN" b="1" dirty="0">
                <a:solidFill>
                  <a:srgbClr val="FF0000"/>
                </a:solidFill>
                <a:latin typeface="+mn-ea"/>
                <a:sym typeface="+mn-ea"/>
              </a:rPr>
              <a:t>1</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a:t>
            </a:r>
            <a:r>
              <a:rPr kumimoji="1" lang="zh-CN" altLang="en-US" b="1" dirty="0">
                <a:solidFill>
                  <a:srgbClr val="FF0000"/>
                </a:solidFill>
                <a:latin typeface="+mn-ea"/>
                <a:sym typeface="+mn-ea"/>
              </a:rPr>
              <a:t>全部注释</a:t>
            </a:r>
            <a:endParaRPr lang="en-US" altLang="zh-CN"/>
          </a:p>
        </p:txBody>
      </p:sp>
      <p:sp>
        <p:nvSpPr>
          <p:cNvPr id="8" name="文本框 7"/>
          <p:cNvSpPr txBox="1"/>
          <p:nvPr/>
        </p:nvSpPr>
        <p:spPr>
          <a:xfrm>
            <a:off x="2936875" y="403225"/>
            <a:ext cx="2436495" cy="368300"/>
          </a:xfrm>
          <a:prstGeom prst="rect">
            <a:avLst/>
          </a:prstGeom>
          <a:noFill/>
        </p:spPr>
        <p:txBody>
          <a:bodyPr wrap="square" rtlCol="0" anchor="t">
            <a:spAutoFit/>
          </a:bodyPr>
          <a:p>
            <a:r>
              <a:rPr kumimoji="1" lang="en-US" altLang="zh-CN" b="1" dirty="0">
                <a:solidFill>
                  <a:srgbClr val="FF0000"/>
                </a:solidFill>
                <a:latin typeface="+mn-ea"/>
                <a:sym typeface="+mn-ea"/>
              </a:rPr>
              <a:t>2</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a:t>
            </a:r>
            <a:r>
              <a:rPr kumimoji="1" lang="zh-CN" altLang="en-US" b="1" dirty="0">
                <a:solidFill>
                  <a:srgbClr val="FF0000"/>
                </a:solidFill>
                <a:latin typeface="+mn-ea"/>
                <a:sym typeface="+mn-ea"/>
              </a:rPr>
              <a:t>放开，</a:t>
            </a:r>
            <a:r>
              <a:rPr kumimoji="1" lang="en-US" altLang="zh-CN" b="1" dirty="0">
                <a:solidFill>
                  <a:srgbClr val="FF0000"/>
                </a:solidFill>
                <a:latin typeface="+mn-ea"/>
                <a:sym typeface="+mn-ea"/>
              </a:rPr>
              <a:t>②</a:t>
            </a:r>
            <a:r>
              <a:rPr kumimoji="1" lang="zh-CN" altLang="en-US" b="1" dirty="0">
                <a:solidFill>
                  <a:srgbClr val="FF0000"/>
                </a:solidFill>
                <a:latin typeface="+mn-ea"/>
                <a:sym typeface="+mn-ea"/>
              </a:rPr>
              <a:t>注释</a:t>
            </a:r>
            <a:endParaRPr kumimoji="1" lang="zh-CN" altLang="en-US" b="1" dirty="0">
              <a:solidFill>
                <a:srgbClr val="FF0000"/>
              </a:solidFill>
              <a:latin typeface="+mn-ea"/>
              <a:sym typeface="+mn-ea"/>
            </a:endParaRPr>
          </a:p>
        </p:txBody>
      </p:sp>
      <p:sp>
        <p:nvSpPr>
          <p:cNvPr id="10" name="文本框 9"/>
          <p:cNvSpPr txBox="1"/>
          <p:nvPr/>
        </p:nvSpPr>
        <p:spPr>
          <a:xfrm>
            <a:off x="6324600" y="403225"/>
            <a:ext cx="2356485" cy="368300"/>
          </a:xfrm>
          <a:prstGeom prst="rect">
            <a:avLst/>
          </a:prstGeom>
          <a:noFill/>
        </p:spPr>
        <p:txBody>
          <a:bodyPr wrap="square" rtlCol="0" anchor="t">
            <a:spAutoFit/>
          </a:bodyPr>
          <a:p>
            <a:r>
              <a:rPr kumimoji="1" lang="en-US" altLang="zh-CN" b="1" dirty="0">
                <a:solidFill>
                  <a:srgbClr val="FF0000"/>
                </a:solidFill>
                <a:latin typeface="+mn-ea"/>
                <a:sym typeface="+mn-ea"/>
              </a:rPr>
              <a:t>3</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a:t>
            </a:r>
            <a:r>
              <a:rPr kumimoji="1" lang="zh-CN" altLang="en-US" b="1" dirty="0">
                <a:solidFill>
                  <a:srgbClr val="FF0000"/>
                </a:solidFill>
                <a:latin typeface="+mn-ea"/>
                <a:sym typeface="+mn-ea"/>
              </a:rPr>
              <a:t>全部放开</a:t>
            </a:r>
            <a:endParaRPr kumimoji="1" lang="zh-CN" altLang="en-US" b="1" dirty="0">
              <a:solidFill>
                <a:srgbClr val="FF0000"/>
              </a:solidFill>
              <a:latin typeface="+mn-ea"/>
              <a:sym typeface="+mn-ea"/>
            </a:endParaRPr>
          </a:p>
        </p:txBody>
      </p:sp>
      <p:sp>
        <p:nvSpPr>
          <p:cNvPr id="18" name="文本框 17"/>
          <p:cNvSpPr txBox="1"/>
          <p:nvPr/>
        </p:nvSpPr>
        <p:spPr>
          <a:xfrm>
            <a:off x="153670" y="5623560"/>
            <a:ext cx="11748135" cy="1198880"/>
          </a:xfrm>
          <a:prstGeom prst="rect">
            <a:avLst/>
          </a:prstGeom>
          <a:noFill/>
        </p:spPr>
        <p:txBody>
          <a:bodyPr wrap="square" rtlCol="0">
            <a:spAutoFit/>
          </a:bodyPr>
          <a:p>
            <a:r>
              <a:rPr lang="zh-CN" altLang="en-US" b="1">
                <a:solidFill>
                  <a:schemeClr val="accent2"/>
                </a:solidFill>
              </a:rPr>
              <a:t>结论：</a:t>
            </a:r>
            <a:r>
              <a:rPr lang="en-US" altLang="zh-CN">
                <a:solidFill>
                  <a:schemeClr val="accent2"/>
                </a:solidFill>
              </a:rPr>
              <a:t>1.VS2022</a:t>
            </a:r>
            <a:r>
              <a:rPr lang="zh-CN" altLang="en-US">
                <a:solidFill>
                  <a:schemeClr val="accent2"/>
                </a:solidFill>
              </a:rPr>
              <a:t>的</a:t>
            </a:r>
            <a:r>
              <a:rPr lang="en-US" altLang="zh-CN">
                <a:solidFill>
                  <a:schemeClr val="accent2"/>
                </a:solidFill>
              </a:rPr>
              <a:t>x86/Debug</a:t>
            </a:r>
            <a:r>
              <a:rPr lang="zh-CN" altLang="en-US">
                <a:solidFill>
                  <a:schemeClr val="accent2"/>
                </a:solidFill>
              </a:rPr>
              <a:t>模式下，会判断数组内存访问是否越界。</a:t>
            </a:r>
            <a:endParaRPr lang="zh-CN" altLang="en-US">
              <a:solidFill>
                <a:schemeClr val="accent2"/>
              </a:solidFill>
            </a:endParaRPr>
          </a:p>
          <a:p>
            <a:r>
              <a:rPr lang="en-US" altLang="zh-CN">
                <a:solidFill>
                  <a:schemeClr val="accent2"/>
                </a:solidFill>
              </a:rPr>
              <a:t>            2.</a:t>
            </a:r>
            <a:r>
              <a:rPr lang="zh-CN" altLang="en-US">
                <a:solidFill>
                  <a:schemeClr val="accent2"/>
                </a:solidFill>
              </a:rPr>
              <a:t>该模式下，VS 会在动态分配的内存块的前后</a:t>
            </a:r>
            <a:r>
              <a:rPr lang="en-US" altLang="zh-CN">
                <a:solidFill>
                  <a:schemeClr val="accent2"/>
                </a:solidFill>
                <a:sym typeface="+mn-ea"/>
              </a:rPr>
              <a:t>4</a:t>
            </a:r>
            <a:r>
              <a:rPr lang="zh-CN" altLang="en-US">
                <a:solidFill>
                  <a:schemeClr val="accent2"/>
                </a:solidFill>
                <a:sym typeface="+mn-ea"/>
              </a:rPr>
              <a:t>个地址</a:t>
            </a:r>
            <a:r>
              <a:rPr lang="zh-CN" altLang="en-US">
                <a:solidFill>
                  <a:schemeClr val="accent2"/>
                </a:solidFill>
              </a:rPr>
              <a:t>添加额外的特定值来判断访问是否越界。当这些值与特定值不符时，判断内存访问越界，报错；当值没有被改变，即使越界访问也不会判定错误。所以，当越界访问的位置超出特定值的范围，或者访问特定值的位置但并没有修改为不同的值时（情况</a:t>
            </a:r>
            <a:r>
              <a:rPr lang="en-US" altLang="zh-CN">
                <a:solidFill>
                  <a:schemeClr val="accent2"/>
                </a:solidFill>
              </a:rPr>
              <a:t>3</a:t>
            </a:r>
            <a:r>
              <a:rPr lang="zh-CN" altLang="en-US">
                <a:solidFill>
                  <a:schemeClr val="accent2"/>
                </a:solidFill>
              </a:rPr>
              <a:t>），程序并没有报错。</a:t>
            </a:r>
            <a:endParaRPr lang="zh-CN" altLang="en-US">
              <a:solidFill>
                <a:schemeClr val="accent2"/>
              </a:solidFill>
            </a:endParaRPr>
          </a:p>
        </p:txBody>
      </p:sp>
      <p:pic>
        <p:nvPicPr>
          <p:cNvPr id="9" name="图片 8"/>
          <p:cNvPicPr>
            <a:picLocks noChangeAspect="1"/>
          </p:cNvPicPr>
          <p:nvPr/>
        </p:nvPicPr>
        <p:blipFill>
          <a:blip r:embed="rId1"/>
          <a:stretch>
            <a:fillRect/>
          </a:stretch>
        </p:blipFill>
        <p:spPr>
          <a:xfrm>
            <a:off x="387350" y="766445"/>
            <a:ext cx="2016125" cy="4563745"/>
          </a:xfrm>
          <a:prstGeom prst="rect">
            <a:avLst/>
          </a:prstGeom>
        </p:spPr>
      </p:pic>
      <p:pic>
        <p:nvPicPr>
          <p:cNvPr id="12" name="图片 11"/>
          <p:cNvPicPr>
            <a:picLocks noChangeAspect="1"/>
          </p:cNvPicPr>
          <p:nvPr/>
        </p:nvPicPr>
        <p:blipFill>
          <a:blip r:embed="rId2"/>
          <a:stretch>
            <a:fillRect/>
          </a:stretch>
        </p:blipFill>
        <p:spPr>
          <a:xfrm>
            <a:off x="2754630" y="771525"/>
            <a:ext cx="2876550" cy="4731385"/>
          </a:xfrm>
          <a:prstGeom prst="rect">
            <a:avLst/>
          </a:prstGeom>
        </p:spPr>
      </p:pic>
      <p:pic>
        <p:nvPicPr>
          <p:cNvPr id="13" name="图片 12"/>
          <p:cNvPicPr>
            <a:picLocks noChangeAspect="1"/>
          </p:cNvPicPr>
          <p:nvPr/>
        </p:nvPicPr>
        <p:blipFill>
          <a:blip r:embed="rId3"/>
          <a:stretch>
            <a:fillRect/>
          </a:stretch>
        </p:blipFill>
        <p:spPr>
          <a:xfrm>
            <a:off x="6156325" y="771525"/>
            <a:ext cx="2118360" cy="464439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327660" y="95885"/>
            <a:ext cx="9354820" cy="675640"/>
          </a:xfrm>
          <a:prstGeom prst="rect">
            <a:avLst/>
          </a:prstGeom>
          <a:noFill/>
        </p:spPr>
        <p:txBody>
          <a:bodyPr wrap="square" rtlCol="0">
            <a:spAutoFit/>
          </a:bodyPr>
          <a:p>
            <a:r>
              <a:rPr lang="en-US" altLang="zh-CN" sz="2000" b="1">
                <a:sym typeface="+mn-ea"/>
              </a:rPr>
              <a:t>VS2022  x86/Release</a:t>
            </a:r>
            <a:endParaRPr lang="en-US" altLang="zh-CN" sz="2000" b="1">
              <a:sym typeface="+mn-ea"/>
            </a:endParaRPr>
          </a:p>
          <a:p>
            <a:r>
              <a:rPr kumimoji="1" lang="en-US" altLang="zh-CN" b="1" dirty="0">
                <a:solidFill>
                  <a:srgbClr val="FF0000"/>
                </a:solidFill>
                <a:latin typeface="+mn-ea"/>
                <a:sym typeface="+mn-ea"/>
              </a:rPr>
              <a:t>1</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a:t>
            </a:r>
            <a:r>
              <a:rPr kumimoji="1" lang="zh-CN" altLang="en-US" b="1" dirty="0">
                <a:solidFill>
                  <a:srgbClr val="FF0000"/>
                </a:solidFill>
                <a:latin typeface="+mn-ea"/>
                <a:sym typeface="+mn-ea"/>
              </a:rPr>
              <a:t>全部注释</a:t>
            </a:r>
            <a:endParaRPr lang="en-US" altLang="zh-CN"/>
          </a:p>
        </p:txBody>
      </p:sp>
      <p:sp>
        <p:nvSpPr>
          <p:cNvPr id="8" name="文本框 7"/>
          <p:cNvSpPr txBox="1"/>
          <p:nvPr>
            <p:custDataLst>
              <p:tags r:id="rId1"/>
            </p:custDataLst>
          </p:nvPr>
        </p:nvSpPr>
        <p:spPr>
          <a:xfrm>
            <a:off x="2936875" y="403225"/>
            <a:ext cx="2436495" cy="368300"/>
          </a:xfrm>
          <a:prstGeom prst="rect">
            <a:avLst/>
          </a:prstGeom>
          <a:noFill/>
        </p:spPr>
        <p:txBody>
          <a:bodyPr wrap="square" rtlCol="0" anchor="t">
            <a:spAutoFit/>
          </a:bodyPr>
          <a:p>
            <a:r>
              <a:rPr kumimoji="1" lang="en-US" altLang="zh-CN" b="1" dirty="0">
                <a:solidFill>
                  <a:srgbClr val="FF0000"/>
                </a:solidFill>
                <a:latin typeface="+mn-ea"/>
                <a:sym typeface="+mn-ea"/>
              </a:rPr>
              <a:t>2</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a:t>
            </a:r>
            <a:r>
              <a:rPr kumimoji="1" lang="zh-CN" altLang="en-US" b="1" dirty="0">
                <a:solidFill>
                  <a:srgbClr val="FF0000"/>
                </a:solidFill>
                <a:latin typeface="+mn-ea"/>
                <a:sym typeface="+mn-ea"/>
              </a:rPr>
              <a:t>放开，</a:t>
            </a:r>
            <a:r>
              <a:rPr kumimoji="1" lang="en-US" altLang="zh-CN" b="1" dirty="0">
                <a:solidFill>
                  <a:srgbClr val="FF0000"/>
                </a:solidFill>
                <a:latin typeface="+mn-ea"/>
                <a:sym typeface="+mn-ea"/>
              </a:rPr>
              <a:t>②</a:t>
            </a:r>
            <a:r>
              <a:rPr kumimoji="1" lang="zh-CN" altLang="en-US" b="1" dirty="0">
                <a:solidFill>
                  <a:srgbClr val="FF0000"/>
                </a:solidFill>
                <a:latin typeface="+mn-ea"/>
                <a:sym typeface="+mn-ea"/>
              </a:rPr>
              <a:t>注释</a:t>
            </a:r>
            <a:endParaRPr kumimoji="1" lang="zh-CN" altLang="en-US" b="1" dirty="0">
              <a:solidFill>
                <a:srgbClr val="FF0000"/>
              </a:solidFill>
              <a:latin typeface="+mn-ea"/>
              <a:sym typeface="+mn-ea"/>
            </a:endParaRPr>
          </a:p>
        </p:txBody>
      </p:sp>
      <p:sp>
        <p:nvSpPr>
          <p:cNvPr id="10" name="文本框 9"/>
          <p:cNvSpPr txBox="1"/>
          <p:nvPr>
            <p:custDataLst>
              <p:tags r:id="rId2"/>
            </p:custDataLst>
          </p:nvPr>
        </p:nvSpPr>
        <p:spPr>
          <a:xfrm>
            <a:off x="6324600" y="403225"/>
            <a:ext cx="2356485" cy="368300"/>
          </a:xfrm>
          <a:prstGeom prst="rect">
            <a:avLst/>
          </a:prstGeom>
          <a:noFill/>
        </p:spPr>
        <p:txBody>
          <a:bodyPr wrap="square" rtlCol="0" anchor="t">
            <a:spAutoFit/>
          </a:bodyPr>
          <a:p>
            <a:r>
              <a:rPr kumimoji="1" lang="en-US" altLang="zh-CN" b="1" dirty="0">
                <a:solidFill>
                  <a:srgbClr val="FF0000"/>
                </a:solidFill>
                <a:latin typeface="+mn-ea"/>
                <a:sym typeface="+mn-ea"/>
              </a:rPr>
              <a:t>3</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a:t>
            </a:r>
            <a:r>
              <a:rPr kumimoji="1" lang="zh-CN" altLang="en-US" b="1" dirty="0">
                <a:solidFill>
                  <a:srgbClr val="FF0000"/>
                </a:solidFill>
                <a:latin typeface="+mn-ea"/>
                <a:sym typeface="+mn-ea"/>
              </a:rPr>
              <a:t>全部放开</a:t>
            </a:r>
            <a:endParaRPr kumimoji="1" lang="zh-CN" altLang="en-US" b="1" dirty="0">
              <a:solidFill>
                <a:srgbClr val="FF0000"/>
              </a:solidFill>
              <a:latin typeface="+mn-ea"/>
              <a:sym typeface="+mn-ea"/>
            </a:endParaRPr>
          </a:p>
        </p:txBody>
      </p:sp>
      <p:sp>
        <p:nvSpPr>
          <p:cNvPr id="20" name="文本框 19"/>
          <p:cNvSpPr txBox="1"/>
          <p:nvPr/>
        </p:nvSpPr>
        <p:spPr>
          <a:xfrm>
            <a:off x="218440" y="5661660"/>
            <a:ext cx="11579225" cy="645160"/>
          </a:xfrm>
          <a:prstGeom prst="rect">
            <a:avLst/>
          </a:prstGeom>
          <a:noFill/>
        </p:spPr>
        <p:txBody>
          <a:bodyPr wrap="square" rtlCol="0" anchor="t">
            <a:spAutoFit/>
          </a:bodyPr>
          <a:p>
            <a:r>
              <a:rPr lang="zh-CN" altLang="en-US" b="1">
                <a:solidFill>
                  <a:schemeClr val="accent2"/>
                </a:solidFill>
                <a:sym typeface="+mn-ea"/>
              </a:rPr>
              <a:t>结论：该</a:t>
            </a:r>
            <a:r>
              <a:rPr lang="zh-CN" altLang="en-US">
                <a:solidFill>
                  <a:schemeClr val="accent2"/>
                </a:solidFill>
                <a:sym typeface="+mn-ea"/>
              </a:rPr>
              <a:t>模式下，不会因为数组的内存访问越界报错，但似乎只能修改超过边界</a:t>
            </a:r>
            <a:r>
              <a:rPr lang="en-US" altLang="zh-CN">
                <a:solidFill>
                  <a:schemeClr val="accent2"/>
                </a:solidFill>
                <a:sym typeface="+mn-ea"/>
              </a:rPr>
              <a:t>4</a:t>
            </a:r>
            <a:r>
              <a:rPr lang="zh-CN" altLang="en-US">
                <a:solidFill>
                  <a:schemeClr val="accent2"/>
                </a:solidFill>
                <a:sym typeface="+mn-ea"/>
              </a:rPr>
              <a:t>个地址以内，</a:t>
            </a:r>
            <a:r>
              <a:rPr lang="zh-CN" altLang="en-US">
                <a:solidFill>
                  <a:schemeClr val="accent2"/>
                </a:solidFill>
                <a:sym typeface="+mn-ea"/>
              </a:rPr>
              <a:t>修改</a:t>
            </a:r>
            <a:r>
              <a:rPr lang="zh-CN" altLang="en-US">
                <a:solidFill>
                  <a:schemeClr val="accent2"/>
                </a:solidFill>
                <a:sym typeface="+mn-ea"/>
              </a:rPr>
              <a:t>其他更远位置是无效的。</a:t>
            </a:r>
            <a:endParaRPr lang="zh-CN" altLang="en-US">
              <a:solidFill>
                <a:schemeClr val="accent2"/>
              </a:solidFill>
              <a:sym typeface="+mn-ea"/>
            </a:endParaRPr>
          </a:p>
        </p:txBody>
      </p:sp>
      <p:pic>
        <p:nvPicPr>
          <p:cNvPr id="2" name="图片 1"/>
          <p:cNvPicPr>
            <a:picLocks noChangeAspect="1"/>
          </p:cNvPicPr>
          <p:nvPr/>
        </p:nvPicPr>
        <p:blipFill>
          <a:blip r:embed="rId3"/>
          <a:stretch>
            <a:fillRect/>
          </a:stretch>
        </p:blipFill>
        <p:spPr>
          <a:xfrm>
            <a:off x="445135" y="734695"/>
            <a:ext cx="2084705" cy="4588510"/>
          </a:xfrm>
          <a:prstGeom prst="rect">
            <a:avLst/>
          </a:prstGeom>
        </p:spPr>
      </p:pic>
      <p:pic>
        <p:nvPicPr>
          <p:cNvPr id="3" name="图片 2"/>
          <p:cNvPicPr>
            <a:picLocks noChangeAspect="1"/>
          </p:cNvPicPr>
          <p:nvPr/>
        </p:nvPicPr>
        <p:blipFill>
          <a:blip r:embed="rId4"/>
          <a:stretch>
            <a:fillRect/>
          </a:stretch>
        </p:blipFill>
        <p:spPr>
          <a:xfrm>
            <a:off x="3154045" y="734695"/>
            <a:ext cx="1915795" cy="4588510"/>
          </a:xfrm>
          <a:prstGeom prst="rect">
            <a:avLst/>
          </a:prstGeom>
        </p:spPr>
      </p:pic>
      <p:pic>
        <p:nvPicPr>
          <p:cNvPr id="4" name="图片 3"/>
          <p:cNvPicPr>
            <a:picLocks noChangeAspect="1"/>
          </p:cNvPicPr>
          <p:nvPr/>
        </p:nvPicPr>
        <p:blipFill>
          <a:blip r:embed="rId5"/>
          <a:stretch>
            <a:fillRect/>
          </a:stretch>
        </p:blipFill>
        <p:spPr>
          <a:xfrm>
            <a:off x="6132830" y="718820"/>
            <a:ext cx="2079625" cy="46050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327660" y="95885"/>
            <a:ext cx="9354820" cy="675640"/>
          </a:xfrm>
          <a:prstGeom prst="rect">
            <a:avLst/>
          </a:prstGeom>
          <a:noFill/>
        </p:spPr>
        <p:txBody>
          <a:bodyPr wrap="square" rtlCol="0">
            <a:spAutoFit/>
          </a:bodyPr>
          <a:p>
            <a:r>
              <a:rPr lang="en-US" altLang="zh-CN" sz="2000" b="1">
                <a:sym typeface="+mn-ea"/>
              </a:rPr>
              <a:t>Dev 32bit/Debug   Dev 32bit/Release   </a:t>
            </a:r>
            <a:endParaRPr lang="en-US" altLang="zh-CN" sz="2000" b="1"/>
          </a:p>
          <a:p>
            <a:r>
              <a:rPr kumimoji="1" lang="en-US" altLang="zh-CN" b="1" dirty="0">
                <a:solidFill>
                  <a:srgbClr val="FF0000"/>
                </a:solidFill>
                <a:latin typeface="+mn-ea"/>
                <a:sym typeface="+mn-ea"/>
              </a:rPr>
              <a:t>1</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a:t>
            </a:r>
            <a:r>
              <a:rPr kumimoji="1" lang="zh-CN" altLang="en-US" b="1" dirty="0">
                <a:solidFill>
                  <a:srgbClr val="FF0000"/>
                </a:solidFill>
                <a:latin typeface="+mn-ea"/>
                <a:sym typeface="+mn-ea"/>
              </a:rPr>
              <a:t>全部注释</a:t>
            </a:r>
            <a:endParaRPr lang="en-US" altLang="zh-CN"/>
          </a:p>
        </p:txBody>
      </p:sp>
      <p:sp>
        <p:nvSpPr>
          <p:cNvPr id="8" name="文本框 7"/>
          <p:cNvSpPr txBox="1"/>
          <p:nvPr/>
        </p:nvSpPr>
        <p:spPr>
          <a:xfrm>
            <a:off x="2936875" y="403225"/>
            <a:ext cx="2436495" cy="368300"/>
          </a:xfrm>
          <a:prstGeom prst="rect">
            <a:avLst/>
          </a:prstGeom>
          <a:noFill/>
        </p:spPr>
        <p:txBody>
          <a:bodyPr wrap="square" rtlCol="0" anchor="t">
            <a:spAutoFit/>
          </a:bodyPr>
          <a:p>
            <a:r>
              <a:rPr kumimoji="1" lang="en-US" altLang="zh-CN" b="1" dirty="0">
                <a:solidFill>
                  <a:srgbClr val="FF0000"/>
                </a:solidFill>
                <a:latin typeface="+mn-ea"/>
                <a:sym typeface="+mn-ea"/>
              </a:rPr>
              <a:t>2</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a:t>
            </a:r>
            <a:r>
              <a:rPr kumimoji="1" lang="zh-CN" altLang="en-US" b="1" dirty="0">
                <a:solidFill>
                  <a:srgbClr val="FF0000"/>
                </a:solidFill>
                <a:latin typeface="+mn-ea"/>
                <a:sym typeface="+mn-ea"/>
              </a:rPr>
              <a:t>放开，</a:t>
            </a:r>
            <a:r>
              <a:rPr kumimoji="1" lang="en-US" altLang="zh-CN" b="1" dirty="0">
                <a:solidFill>
                  <a:srgbClr val="FF0000"/>
                </a:solidFill>
                <a:latin typeface="+mn-ea"/>
                <a:sym typeface="+mn-ea"/>
              </a:rPr>
              <a:t>②</a:t>
            </a:r>
            <a:r>
              <a:rPr kumimoji="1" lang="zh-CN" altLang="en-US" b="1" dirty="0">
                <a:solidFill>
                  <a:srgbClr val="FF0000"/>
                </a:solidFill>
                <a:latin typeface="+mn-ea"/>
                <a:sym typeface="+mn-ea"/>
              </a:rPr>
              <a:t>注释</a:t>
            </a:r>
            <a:endParaRPr kumimoji="1" lang="zh-CN" altLang="en-US" b="1" dirty="0">
              <a:solidFill>
                <a:srgbClr val="FF0000"/>
              </a:solidFill>
              <a:latin typeface="+mn-ea"/>
              <a:sym typeface="+mn-ea"/>
            </a:endParaRPr>
          </a:p>
        </p:txBody>
      </p:sp>
      <p:sp>
        <p:nvSpPr>
          <p:cNvPr id="10" name="文本框 9"/>
          <p:cNvSpPr txBox="1"/>
          <p:nvPr/>
        </p:nvSpPr>
        <p:spPr>
          <a:xfrm>
            <a:off x="6324600" y="403225"/>
            <a:ext cx="2356485" cy="368300"/>
          </a:xfrm>
          <a:prstGeom prst="rect">
            <a:avLst/>
          </a:prstGeom>
          <a:noFill/>
        </p:spPr>
        <p:txBody>
          <a:bodyPr wrap="square" rtlCol="0" anchor="t">
            <a:spAutoFit/>
          </a:bodyPr>
          <a:p>
            <a:r>
              <a:rPr kumimoji="1" lang="en-US" altLang="zh-CN" b="1" dirty="0">
                <a:solidFill>
                  <a:srgbClr val="FF0000"/>
                </a:solidFill>
                <a:latin typeface="+mn-ea"/>
                <a:sym typeface="+mn-ea"/>
              </a:rPr>
              <a:t>3</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a:t>
            </a:r>
            <a:r>
              <a:rPr kumimoji="1" lang="zh-CN" altLang="en-US" b="1" dirty="0">
                <a:solidFill>
                  <a:srgbClr val="FF0000"/>
                </a:solidFill>
                <a:latin typeface="+mn-ea"/>
                <a:sym typeface="+mn-ea"/>
              </a:rPr>
              <a:t>全部放开</a:t>
            </a:r>
            <a:endParaRPr kumimoji="1" lang="zh-CN" altLang="en-US" b="1" dirty="0">
              <a:solidFill>
                <a:srgbClr val="FF0000"/>
              </a:solidFill>
              <a:latin typeface="+mn-ea"/>
              <a:sym typeface="+mn-ea"/>
            </a:endParaRPr>
          </a:p>
        </p:txBody>
      </p:sp>
      <p:pic>
        <p:nvPicPr>
          <p:cNvPr id="2" name="图片 1"/>
          <p:cNvPicPr>
            <a:picLocks noChangeAspect="1"/>
          </p:cNvPicPr>
          <p:nvPr/>
        </p:nvPicPr>
        <p:blipFill>
          <a:blip r:embed="rId1"/>
          <a:stretch>
            <a:fillRect/>
          </a:stretch>
        </p:blipFill>
        <p:spPr>
          <a:xfrm>
            <a:off x="6410325" y="808355"/>
            <a:ext cx="1863090" cy="4608830"/>
          </a:xfrm>
          <a:prstGeom prst="rect">
            <a:avLst/>
          </a:prstGeom>
        </p:spPr>
      </p:pic>
      <p:pic>
        <p:nvPicPr>
          <p:cNvPr id="3" name="图片 2"/>
          <p:cNvPicPr>
            <a:picLocks noChangeAspect="1"/>
          </p:cNvPicPr>
          <p:nvPr/>
        </p:nvPicPr>
        <p:blipFill>
          <a:blip r:embed="rId2"/>
          <a:stretch>
            <a:fillRect/>
          </a:stretch>
        </p:blipFill>
        <p:spPr>
          <a:xfrm>
            <a:off x="481965" y="771525"/>
            <a:ext cx="1936115" cy="4592955"/>
          </a:xfrm>
          <a:prstGeom prst="rect">
            <a:avLst/>
          </a:prstGeom>
        </p:spPr>
      </p:pic>
      <p:pic>
        <p:nvPicPr>
          <p:cNvPr id="4" name="图片 3"/>
          <p:cNvPicPr>
            <a:picLocks noChangeAspect="1"/>
          </p:cNvPicPr>
          <p:nvPr/>
        </p:nvPicPr>
        <p:blipFill>
          <a:blip r:embed="rId3"/>
          <a:stretch>
            <a:fillRect/>
          </a:stretch>
        </p:blipFill>
        <p:spPr>
          <a:xfrm>
            <a:off x="3208020" y="771525"/>
            <a:ext cx="1893570" cy="4592955"/>
          </a:xfrm>
          <a:prstGeom prst="rect">
            <a:avLst/>
          </a:prstGeom>
        </p:spPr>
      </p:pic>
      <p:sp>
        <p:nvSpPr>
          <p:cNvPr id="20" name="文本框 19"/>
          <p:cNvSpPr txBox="1"/>
          <p:nvPr/>
        </p:nvSpPr>
        <p:spPr>
          <a:xfrm>
            <a:off x="218440" y="5661660"/>
            <a:ext cx="11579225" cy="645160"/>
          </a:xfrm>
          <a:prstGeom prst="rect">
            <a:avLst/>
          </a:prstGeom>
          <a:noFill/>
        </p:spPr>
        <p:txBody>
          <a:bodyPr wrap="square" rtlCol="0" anchor="t">
            <a:spAutoFit/>
          </a:bodyPr>
          <a:p>
            <a:r>
              <a:rPr lang="zh-CN" altLang="en-US" b="1">
                <a:solidFill>
                  <a:schemeClr val="accent2"/>
                </a:solidFill>
                <a:sym typeface="+mn-ea"/>
              </a:rPr>
              <a:t>结论：该</a:t>
            </a:r>
            <a:r>
              <a:rPr lang="zh-CN" altLang="en-US">
                <a:solidFill>
                  <a:schemeClr val="accent2"/>
                </a:solidFill>
                <a:sym typeface="+mn-ea"/>
              </a:rPr>
              <a:t>模式下，不会因为数组的内存访问越界报错，但似乎只能修改超过边界</a:t>
            </a:r>
            <a:r>
              <a:rPr lang="en-US" altLang="zh-CN">
                <a:solidFill>
                  <a:schemeClr val="accent2"/>
                </a:solidFill>
                <a:sym typeface="+mn-ea"/>
              </a:rPr>
              <a:t>4</a:t>
            </a:r>
            <a:r>
              <a:rPr lang="zh-CN" altLang="en-US">
                <a:solidFill>
                  <a:schemeClr val="accent2"/>
                </a:solidFill>
                <a:sym typeface="+mn-ea"/>
              </a:rPr>
              <a:t>个地址以外，</a:t>
            </a:r>
            <a:r>
              <a:rPr lang="zh-CN" altLang="en-US">
                <a:solidFill>
                  <a:schemeClr val="accent2"/>
                </a:solidFill>
                <a:sym typeface="+mn-ea"/>
              </a:rPr>
              <a:t>修改</a:t>
            </a:r>
            <a:r>
              <a:rPr lang="zh-CN" altLang="en-US">
                <a:solidFill>
                  <a:schemeClr val="accent2"/>
                </a:solidFill>
                <a:sym typeface="+mn-ea"/>
              </a:rPr>
              <a:t>位置</a:t>
            </a:r>
            <a:r>
              <a:rPr lang="en-US" altLang="zh-CN">
                <a:solidFill>
                  <a:schemeClr val="accent2"/>
                </a:solidFill>
                <a:sym typeface="+mn-ea"/>
              </a:rPr>
              <a:t>4</a:t>
            </a:r>
            <a:r>
              <a:rPr lang="zh-CN" altLang="en-US">
                <a:solidFill>
                  <a:schemeClr val="accent2"/>
                </a:solidFill>
                <a:sym typeface="+mn-ea"/>
              </a:rPr>
              <a:t>个地址以内的值</a:t>
            </a:r>
            <a:r>
              <a:rPr lang="zh-CN" altLang="en-US">
                <a:solidFill>
                  <a:schemeClr val="accent2"/>
                </a:solidFill>
                <a:sym typeface="+mn-ea"/>
              </a:rPr>
              <a:t>是无效的。</a:t>
            </a:r>
            <a:endParaRPr lang="zh-CN" altLang="en-US">
              <a:solidFill>
                <a:schemeClr val="accent2"/>
              </a:solidFill>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340360" y="948055"/>
            <a:ext cx="2376805" cy="4269740"/>
          </a:xfrm>
          <a:prstGeom prst="rect">
            <a:avLst/>
          </a:prstGeom>
        </p:spPr>
      </p:pic>
      <p:pic>
        <p:nvPicPr>
          <p:cNvPr id="6" name="图片 5"/>
          <p:cNvPicPr>
            <a:picLocks noChangeAspect="1"/>
          </p:cNvPicPr>
          <p:nvPr/>
        </p:nvPicPr>
        <p:blipFill>
          <a:blip r:embed="rId2"/>
          <a:stretch>
            <a:fillRect/>
          </a:stretch>
        </p:blipFill>
        <p:spPr>
          <a:xfrm>
            <a:off x="3090545" y="955040"/>
            <a:ext cx="2435860" cy="4263390"/>
          </a:xfrm>
          <a:prstGeom prst="rect">
            <a:avLst/>
          </a:prstGeom>
        </p:spPr>
      </p:pic>
      <p:pic>
        <p:nvPicPr>
          <p:cNvPr id="7" name="图片 6"/>
          <p:cNvPicPr>
            <a:picLocks noChangeAspect="1"/>
          </p:cNvPicPr>
          <p:nvPr/>
        </p:nvPicPr>
        <p:blipFill>
          <a:blip r:embed="rId3"/>
          <a:stretch>
            <a:fillRect/>
          </a:stretch>
        </p:blipFill>
        <p:spPr>
          <a:xfrm>
            <a:off x="5986145" y="955040"/>
            <a:ext cx="2521585" cy="4263390"/>
          </a:xfrm>
          <a:prstGeom prst="rect">
            <a:avLst/>
          </a:prstGeom>
        </p:spPr>
      </p:pic>
      <p:sp>
        <p:nvSpPr>
          <p:cNvPr id="8" name="文本框 7"/>
          <p:cNvSpPr txBox="1"/>
          <p:nvPr/>
        </p:nvSpPr>
        <p:spPr>
          <a:xfrm>
            <a:off x="340360" y="95885"/>
            <a:ext cx="8909050" cy="675640"/>
          </a:xfrm>
          <a:prstGeom prst="rect">
            <a:avLst/>
          </a:prstGeom>
          <a:noFill/>
        </p:spPr>
        <p:txBody>
          <a:bodyPr wrap="square" rtlCol="0">
            <a:spAutoFit/>
          </a:bodyPr>
          <a:p>
            <a:r>
              <a:rPr lang="en-US" altLang="zh-CN" sz="2000" b="1"/>
              <a:t>Linux</a:t>
            </a:r>
            <a:r>
              <a:rPr lang="en-US" altLang="zh-CN" sz="2000" b="1">
                <a:sym typeface="+mn-ea"/>
              </a:rPr>
              <a:t>   </a:t>
            </a:r>
            <a:endParaRPr lang="en-US" altLang="zh-CN" sz="2000" b="1"/>
          </a:p>
          <a:p>
            <a:r>
              <a:rPr kumimoji="1" lang="en-US" altLang="zh-CN" b="1" dirty="0">
                <a:solidFill>
                  <a:srgbClr val="FF0000"/>
                </a:solidFill>
                <a:latin typeface="+mn-ea"/>
                <a:sym typeface="+mn-ea"/>
              </a:rPr>
              <a:t>1</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a:t>
            </a:r>
            <a:r>
              <a:rPr kumimoji="1" lang="zh-CN" altLang="en-US" b="1" dirty="0">
                <a:solidFill>
                  <a:srgbClr val="FF0000"/>
                </a:solidFill>
                <a:latin typeface="+mn-ea"/>
                <a:sym typeface="+mn-ea"/>
              </a:rPr>
              <a:t>全部注释</a:t>
            </a:r>
            <a:endParaRPr lang="en-US" altLang="zh-CN"/>
          </a:p>
        </p:txBody>
      </p:sp>
      <p:sp>
        <p:nvSpPr>
          <p:cNvPr id="9" name="文本框 8"/>
          <p:cNvSpPr txBox="1"/>
          <p:nvPr>
            <p:custDataLst>
              <p:tags r:id="rId4"/>
            </p:custDataLst>
          </p:nvPr>
        </p:nvSpPr>
        <p:spPr>
          <a:xfrm>
            <a:off x="2936875" y="403225"/>
            <a:ext cx="2436495" cy="368300"/>
          </a:xfrm>
          <a:prstGeom prst="rect">
            <a:avLst/>
          </a:prstGeom>
          <a:noFill/>
        </p:spPr>
        <p:txBody>
          <a:bodyPr wrap="square" rtlCol="0" anchor="t">
            <a:spAutoFit/>
          </a:bodyPr>
          <a:p>
            <a:r>
              <a:rPr kumimoji="1" lang="en-US" altLang="zh-CN" b="1" dirty="0">
                <a:solidFill>
                  <a:srgbClr val="FF0000"/>
                </a:solidFill>
                <a:latin typeface="+mn-ea"/>
                <a:sym typeface="+mn-ea"/>
              </a:rPr>
              <a:t>2</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a:t>
            </a:r>
            <a:r>
              <a:rPr kumimoji="1" lang="zh-CN" altLang="en-US" b="1" dirty="0">
                <a:solidFill>
                  <a:srgbClr val="FF0000"/>
                </a:solidFill>
                <a:latin typeface="+mn-ea"/>
                <a:sym typeface="+mn-ea"/>
              </a:rPr>
              <a:t>放开，</a:t>
            </a:r>
            <a:r>
              <a:rPr kumimoji="1" lang="en-US" altLang="zh-CN" b="1" dirty="0">
                <a:solidFill>
                  <a:srgbClr val="FF0000"/>
                </a:solidFill>
                <a:latin typeface="+mn-ea"/>
                <a:sym typeface="+mn-ea"/>
              </a:rPr>
              <a:t>②</a:t>
            </a:r>
            <a:r>
              <a:rPr kumimoji="1" lang="zh-CN" altLang="en-US" b="1" dirty="0">
                <a:solidFill>
                  <a:srgbClr val="FF0000"/>
                </a:solidFill>
                <a:latin typeface="+mn-ea"/>
                <a:sym typeface="+mn-ea"/>
              </a:rPr>
              <a:t>注释</a:t>
            </a:r>
            <a:endParaRPr kumimoji="1" lang="zh-CN" altLang="en-US" b="1" dirty="0">
              <a:solidFill>
                <a:srgbClr val="FF0000"/>
              </a:solidFill>
              <a:latin typeface="+mn-ea"/>
              <a:sym typeface="+mn-ea"/>
            </a:endParaRPr>
          </a:p>
        </p:txBody>
      </p:sp>
      <p:sp>
        <p:nvSpPr>
          <p:cNvPr id="10" name="文本框 9"/>
          <p:cNvSpPr txBox="1"/>
          <p:nvPr>
            <p:custDataLst>
              <p:tags r:id="rId5"/>
            </p:custDataLst>
          </p:nvPr>
        </p:nvSpPr>
        <p:spPr>
          <a:xfrm>
            <a:off x="5608955" y="403225"/>
            <a:ext cx="2467610" cy="368300"/>
          </a:xfrm>
          <a:prstGeom prst="rect">
            <a:avLst/>
          </a:prstGeom>
          <a:noFill/>
        </p:spPr>
        <p:txBody>
          <a:bodyPr wrap="square" rtlCol="0" anchor="t">
            <a:spAutoFit/>
          </a:bodyPr>
          <a:p>
            <a:r>
              <a:rPr kumimoji="1" lang="en-US" altLang="zh-CN" b="1" dirty="0">
                <a:solidFill>
                  <a:srgbClr val="FF0000"/>
                </a:solidFill>
                <a:latin typeface="+mn-ea"/>
                <a:sym typeface="+mn-ea"/>
              </a:rPr>
              <a:t>3</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a:t>
            </a:r>
            <a:r>
              <a:rPr kumimoji="1" lang="en-US" altLang="zh-CN" b="1" dirty="0">
                <a:solidFill>
                  <a:srgbClr val="FF0000"/>
                </a:solidFill>
                <a:latin typeface="+mn-ea"/>
                <a:sym typeface="+mn-ea"/>
              </a:rPr>
              <a:t>②</a:t>
            </a:r>
            <a:r>
              <a:rPr kumimoji="1" lang="zh-CN" altLang="en-US" b="1" dirty="0">
                <a:solidFill>
                  <a:srgbClr val="FF0000"/>
                </a:solidFill>
                <a:latin typeface="+mn-ea"/>
                <a:sym typeface="+mn-ea"/>
              </a:rPr>
              <a:t>放开</a:t>
            </a:r>
            <a:endParaRPr kumimoji="1" lang="zh-CN" altLang="en-US" b="1" dirty="0">
              <a:solidFill>
                <a:srgbClr val="FF0000"/>
              </a:solidFill>
              <a:latin typeface="+mn-ea"/>
              <a:sym typeface="+mn-ea"/>
            </a:endParaRPr>
          </a:p>
        </p:txBody>
      </p:sp>
      <p:sp>
        <p:nvSpPr>
          <p:cNvPr id="12" name="文本框 11"/>
          <p:cNvSpPr txBox="1"/>
          <p:nvPr/>
        </p:nvSpPr>
        <p:spPr>
          <a:xfrm>
            <a:off x="408305" y="5650230"/>
            <a:ext cx="11579225" cy="368300"/>
          </a:xfrm>
          <a:prstGeom prst="rect">
            <a:avLst/>
          </a:prstGeom>
          <a:noFill/>
        </p:spPr>
        <p:txBody>
          <a:bodyPr wrap="square" rtlCol="0" anchor="t">
            <a:spAutoFit/>
          </a:bodyPr>
          <a:p>
            <a:r>
              <a:rPr lang="zh-CN" altLang="en-US" b="1">
                <a:solidFill>
                  <a:schemeClr val="accent2"/>
                </a:solidFill>
                <a:sym typeface="+mn-ea"/>
              </a:rPr>
              <a:t>结论：</a:t>
            </a:r>
            <a:r>
              <a:rPr lang="en-US" altLang="zh-CN" b="1">
                <a:solidFill>
                  <a:schemeClr val="accent2"/>
                </a:solidFill>
                <a:sym typeface="+mn-ea"/>
              </a:rPr>
              <a:t>Linux</a:t>
            </a:r>
            <a:r>
              <a:rPr lang="zh-CN" altLang="en-US">
                <a:solidFill>
                  <a:schemeClr val="accent2"/>
                </a:solidFill>
                <a:sym typeface="+mn-ea"/>
              </a:rPr>
              <a:t>模式下，不会因为数组的内存访问越界报错</a:t>
            </a:r>
            <a:r>
              <a:rPr lang="zh-CN" altLang="en-US">
                <a:solidFill>
                  <a:schemeClr val="accent2"/>
                </a:solidFill>
                <a:sym typeface="+mn-ea"/>
              </a:rPr>
              <a:t>。</a:t>
            </a:r>
            <a:endParaRPr lang="zh-CN" altLang="en-US">
              <a:solidFill>
                <a:schemeClr val="accent2"/>
              </a:solidFill>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subTitle" idx="1"/>
          </p:nvPr>
        </p:nvSpPr>
        <p:spPr>
          <a:xfrm>
            <a:off x="180086" y="162560"/>
            <a:ext cx="11880850" cy="6480810"/>
          </a:xfrm>
        </p:spPr>
        <p:txBody>
          <a:bodyPr/>
          <a:lstStyle/>
          <a:p>
            <a:r>
              <a:rPr lang="en-US" altLang="zh-CN" sz="2800" b="1" dirty="0">
                <a:latin typeface="+mn-ea"/>
              </a:rPr>
              <a:t>§.</a:t>
            </a:r>
            <a:r>
              <a:rPr lang="zh-CN" altLang="en-US" sz="2800" b="1" dirty="0">
                <a:latin typeface="+mn-ea"/>
              </a:rPr>
              <a:t>关于动态内存申请后越界访问的深度讨论</a:t>
            </a:r>
            <a:endParaRPr lang="zh-CN" altLang="en-US" sz="2800" b="1" dirty="0">
              <a:latin typeface="+mn-ea"/>
            </a:endParaRPr>
          </a:p>
          <a:p>
            <a:pPr algn="l"/>
            <a:r>
              <a:rPr lang="en-US" altLang="zh-CN" sz="1600" b="1" dirty="0">
                <a:latin typeface="+mn-ea"/>
              </a:rPr>
              <a:t>★ </a:t>
            </a:r>
            <a:r>
              <a:rPr lang="zh-CN" altLang="en-US" sz="1600" b="1" dirty="0">
                <a:latin typeface="+mn-ea"/>
              </a:rPr>
              <a:t>如何判断普通数组的越界访问（</a:t>
            </a:r>
            <a:r>
              <a:rPr lang="en-US" altLang="zh-CN" sz="1600" b="1" dirty="0">
                <a:latin typeface="+mn-ea"/>
                <a:sym typeface="+mn-ea"/>
              </a:rPr>
              <a:t>C++</a:t>
            </a:r>
            <a:r>
              <a:rPr lang="zh-CN" altLang="en-US" sz="1600" b="1" dirty="0">
                <a:latin typeface="+mn-ea"/>
                <a:sym typeface="+mn-ea"/>
              </a:rPr>
              <a:t>方式，</a:t>
            </a:r>
            <a:r>
              <a:rPr lang="zh-CN" altLang="en-US" sz="1600" b="1" dirty="0">
                <a:solidFill>
                  <a:srgbClr val="FF0000"/>
                </a:solidFill>
                <a:latin typeface="+mn-ea"/>
                <a:sym typeface="+mn-ea"/>
              </a:rPr>
              <a:t>注意源程序后缀为</a:t>
            </a:r>
            <a:r>
              <a:rPr lang="en-US" altLang="zh-CN" sz="1600" b="1" dirty="0">
                <a:solidFill>
                  <a:srgbClr val="FF0000"/>
                </a:solidFill>
                <a:latin typeface="+mn-ea"/>
                <a:sym typeface="+mn-ea"/>
              </a:rPr>
              <a:t>.</a:t>
            </a:r>
            <a:r>
              <a:rPr lang="en-US" altLang="zh-CN" sz="1600" b="1" dirty="0" err="1">
                <a:solidFill>
                  <a:srgbClr val="FF0000"/>
                </a:solidFill>
                <a:latin typeface="+mn-ea"/>
                <a:sym typeface="+mn-ea"/>
              </a:rPr>
              <a:t>cpp</a:t>
            </a:r>
            <a:r>
              <a:rPr lang="zh-CN" altLang="en-US" sz="1600" b="1" dirty="0">
                <a:latin typeface="+mn-ea"/>
              </a:rPr>
              <a:t>）</a:t>
            </a:r>
            <a:endParaRPr lang="zh-CN" altLang="en-US" sz="1600" b="1" dirty="0">
              <a:latin typeface="+mn-ea"/>
            </a:endParaRPr>
          </a:p>
        </p:txBody>
      </p:sp>
      <p:sp>
        <p:nvSpPr>
          <p:cNvPr id="5" name="矩形 4"/>
          <p:cNvSpPr/>
          <p:nvPr/>
        </p:nvSpPr>
        <p:spPr bwMode="auto">
          <a:xfrm>
            <a:off x="484720" y="980728"/>
            <a:ext cx="10461702" cy="572487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kumimoji="1" lang="zh-CN" altLang="en-US" sz="1600" b="1" dirty="0">
              <a:solidFill>
                <a:srgbClr val="000000"/>
              </a:solidFill>
              <a:latin typeface="宋体" panose="02010600030101010101" pitchFamily="2" charset="-122"/>
              <a:ea typeface="宋体" panose="02010600030101010101" pitchFamily="2" charset="-122"/>
            </a:endParaRPr>
          </a:p>
        </p:txBody>
      </p:sp>
      <p:sp>
        <p:nvSpPr>
          <p:cNvPr id="4" name="矩形 3"/>
          <p:cNvSpPr/>
          <p:nvPr/>
        </p:nvSpPr>
        <p:spPr bwMode="auto">
          <a:xfrm>
            <a:off x="7202006" y="980727"/>
            <a:ext cx="3744416" cy="4057265"/>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r>
              <a:rPr kumimoji="1" lang="zh-CN" altLang="en-US" sz="1600" b="1" dirty="0">
                <a:solidFill>
                  <a:srgbClr val="FF0000"/>
                </a:solidFill>
                <a:latin typeface="+mn-ea"/>
              </a:rPr>
              <a:t>在理解</a:t>
            </a:r>
            <a:r>
              <a:rPr kumimoji="1" lang="en-US" altLang="zh-CN" sz="1600" b="1" dirty="0">
                <a:solidFill>
                  <a:srgbClr val="FF0000"/>
                </a:solidFill>
                <a:latin typeface="+mn-ea"/>
              </a:rPr>
              <a:t>P.1/P.2</a:t>
            </a:r>
            <a:r>
              <a:rPr kumimoji="1" lang="zh-CN" altLang="en-US" sz="1600" b="1" dirty="0">
                <a:solidFill>
                  <a:srgbClr val="FF0000"/>
                </a:solidFill>
                <a:latin typeface="+mn-ea"/>
              </a:rPr>
              <a:t>的情况下，自行构造</a:t>
            </a:r>
            <a:endParaRPr kumimoji="1" lang="en-US" altLang="zh-CN" sz="1600" b="1" dirty="0">
              <a:solidFill>
                <a:srgbClr val="FF0000"/>
              </a:solidFill>
              <a:latin typeface="+mn-ea"/>
            </a:endParaRPr>
          </a:p>
          <a:p>
            <a:pPr fontAlgn="base">
              <a:spcBef>
                <a:spcPct val="0"/>
              </a:spcBef>
              <a:spcAft>
                <a:spcPct val="0"/>
              </a:spcAft>
            </a:pPr>
            <a:r>
              <a:rPr kumimoji="1" lang="zh-CN" altLang="en-US" sz="1600" b="1" dirty="0">
                <a:solidFill>
                  <a:srgbClr val="FF0000"/>
                </a:solidFill>
                <a:latin typeface="+mn-ea"/>
              </a:rPr>
              <a:t>相似的程序，来观察数组越界后的</a:t>
            </a:r>
            <a:endParaRPr kumimoji="1" lang="en-US" altLang="zh-CN" sz="1600" b="1" dirty="0">
              <a:solidFill>
                <a:srgbClr val="FF0000"/>
              </a:solidFill>
              <a:latin typeface="+mn-ea"/>
            </a:endParaRPr>
          </a:p>
          <a:p>
            <a:pPr fontAlgn="base">
              <a:spcBef>
                <a:spcPct val="0"/>
              </a:spcBef>
              <a:spcAft>
                <a:spcPct val="0"/>
              </a:spcAft>
            </a:pPr>
            <a:r>
              <a:rPr kumimoji="1" lang="zh-CN" altLang="en-US" sz="1600" b="1" dirty="0">
                <a:solidFill>
                  <a:srgbClr val="FF0000"/>
                </a:solidFill>
                <a:latin typeface="+mn-ea"/>
              </a:rPr>
              <a:t>内存表现，并验证与动态申请是否相似</a:t>
            </a:r>
            <a:endParaRPr kumimoji="1" lang="en-US" altLang="zh-CN" sz="1600" b="1" dirty="0">
              <a:solidFill>
                <a:srgbClr val="FF0000"/>
              </a:solidFill>
              <a:latin typeface="+mn-ea"/>
            </a:endParaRPr>
          </a:p>
          <a:p>
            <a:pPr fontAlgn="base">
              <a:spcBef>
                <a:spcPct val="0"/>
              </a:spcBef>
              <a:spcAft>
                <a:spcPct val="0"/>
              </a:spcAft>
            </a:pPr>
            <a:endParaRPr kumimoji="1" lang="en-US" altLang="zh-CN" sz="1600" b="1" dirty="0">
              <a:solidFill>
                <a:srgbClr val="FF0000"/>
              </a:solidFill>
              <a:latin typeface="+mn-ea"/>
            </a:endParaRPr>
          </a:p>
          <a:p>
            <a:pPr fontAlgn="base">
              <a:spcBef>
                <a:spcPct val="0"/>
              </a:spcBef>
              <a:spcAft>
                <a:spcPct val="0"/>
              </a:spcAft>
            </a:pPr>
            <a:r>
              <a:rPr kumimoji="1" lang="zh-CN" altLang="en-US" sz="1600" b="1" dirty="0">
                <a:solidFill>
                  <a:schemeClr val="accent2"/>
                </a:solidFill>
                <a:latin typeface="+mn-ea"/>
              </a:rPr>
              <a:t>要求：</a:t>
            </a:r>
            <a:endParaRPr kumimoji="1" lang="zh-CN" altLang="en-US"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sym typeface="+mn-ea"/>
              </a:rPr>
              <a:t>1</a:t>
            </a:r>
            <a:r>
              <a:rPr kumimoji="1" lang="zh-CN" altLang="en-US" sz="1600" b="1" dirty="0">
                <a:solidFill>
                  <a:schemeClr val="accent2"/>
                </a:solidFill>
                <a:latin typeface="+mn-ea"/>
                <a:sym typeface="+mn-ea"/>
              </a:rPr>
              <a:t>、数组用 </a:t>
            </a:r>
            <a:r>
              <a:rPr kumimoji="1" lang="en-US" altLang="zh-CN" sz="1600" b="1" dirty="0">
                <a:solidFill>
                  <a:schemeClr val="accent2"/>
                </a:solidFill>
                <a:latin typeface="+mn-ea"/>
                <a:sym typeface="+mn-ea"/>
              </a:rPr>
              <a:t>char a[10]; </a:t>
            </a:r>
            <a:r>
              <a:rPr kumimoji="1" lang="zh-CN" altLang="en-US" sz="1600" b="1" dirty="0">
                <a:solidFill>
                  <a:schemeClr val="accent2"/>
                </a:solidFill>
                <a:latin typeface="+mn-ea"/>
                <a:sym typeface="+mn-ea"/>
              </a:rPr>
              <a:t>形式</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sym typeface="+mn-ea"/>
              </a:rPr>
              <a:t>2</a:t>
            </a:r>
            <a:r>
              <a:rPr kumimoji="1" lang="zh-CN" altLang="en-US" sz="1600" b="1" dirty="0">
                <a:solidFill>
                  <a:schemeClr val="accent2"/>
                </a:solidFill>
                <a:latin typeface="+mn-ea"/>
                <a:sym typeface="+mn-ea"/>
              </a:rPr>
              <a:t>、数组用 </a:t>
            </a:r>
            <a:r>
              <a:rPr kumimoji="1" lang="en-US" altLang="zh-CN" sz="1600" b="1" dirty="0">
                <a:solidFill>
                  <a:schemeClr val="accent2"/>
                </a:solidFill>
                <a:latin typeface="+mn-ea"/>
                <a:sym typeface="+mn-ea"/>
              </a:rPr>
              <a:t>int a[10]; </a:t>
            </a:r>
            <a:r>
              <a:rPr kumimoji="1" lang="zh-CN" altLang="en-US" sz="1600" b="1" dirty="0">
                <a:solidFill>
                  <a:schemeClr val="accent2"/>
                </a:solidFill>
                <a:latin typeface="+mn-ea"/>
                <a:sym typeface="+mn-ea"/>
              </a:rPr>
              <a:t>形式</a:t>
            </a:r>
            <a:endParaRPr kumimoji="1" lang="zh-CN" altLang="en-US" sz="1600" b="1" dirty="0">
              <a:solidFill>
                <a:schemeClr val="accent2"/>
              </a:solidFill>
              <a:latin typeface="+mn-ea"/>
              <a:sym typeface="+mn-ea"/>
            </a:endParaRPr>
          </a:p>
          <a:p>
            <a:pPr fontAlgn="base">
              <a:spcBef>
                <a:spcPct val="0"/>
              </a:spcBef>
              <a:spcAft>
                <a:spcPct val="0"/>
              </a:spcAft>
            </a:pPr>
            <a:r>
              <a:rPr kumimoji="1" lang="zh-CN" altLang="en-US" sz="1600" b="1" dirty="0">
                <a:solidFill>
                  <a:schemeClr val="accent2"/>
                </a:solidFill>
                <a:latin typeface="+mn-ea"/>
                <a:sym typeface="+mn-ea"/>
              </a:rPr>
              <a:t>（与</a:t>
            </a:r>
            <a:r>
              <a:rPr kumimoji="1" lang="en-US" altLang="zh-CN" sz="1600" b="1" dirty="0">
                <a:solidFill>
                  <a:schemeClr val="accent2"/>
                </a:solidFill>
                <a:latin typeface="+mn-ea"/>
                <a:sym typeface="+mn-ea"/>
              </a:rPr>
              <a:t>char</a:t>
            </a:r>
            <a:r>
              <a:rPr kumimoji="1" lang="zh-CN" altLang="en-US" sz="1600" b="1" dirty="0">
                <a:solidFill>
                  <a:schemeClr val="accent2"/>
                </a:solidFill>
                <a:latin typeface="+mn-ea"/>
                <a:sym typeface="+mn-ea"/>
              </a:rPr>
              <a:t>和</a:t>
            </a:r>
            <a:r>
              <a:rPr kumimoji="1" lang="en-US" altLang="zh-CN" sz="1600" b="1" dirty="0">
                <a:solidFill>
                  <a:schemeClr val="accent2"/>
                </a:solidFill>
                <a:latin typeface="+mn-ea"/>
                <a:sym typeface="+mn-ea"/>
              </a:rPr>
              <a:t>c</a:t>
            </a:r>
            <a:r>
              <a:rPr kumimoji="1" lang="zh-CN" altLang="en-US" sz="1600" b="1" dirty="0">
                <a:solidFill>
                  <a:schemeClr val="accent2"/>
                </a:solidFill>
                <a:latin typeface="+mn-ea"/>
                <a:sym typeface="+mn-ea"/>
              </a:rPr>
              <a:t>方式类似，不再演示）</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3</a:t>
            </a:r>
            <a:r>
              <a:rPr kumimoji="1" lang="zh-CN" altLang="en-US" sz="1600" b="1" dirty="0">
                <a:solidFill>
                  <a:schemeClr val="accent2"/>
                </a:solidFill>
                <a:latin typeface="+mn-ea"/>
              </a:rPr>
              <a:t>、测试程序在下面五种环境下运行</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      VS2022 x86/Debug</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      VS2022 x86/Release</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      Dev 32bit-Debug</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      Dev 32bit-Release</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      Linux</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4</a:t>
            </a:r>
            <a:r>
              <a:rPr kumimoji="1" lang="zh-CN" altLang="en-US" sz="1600" b="1" dirty="0">
                <a:solidFill>
                  <a:schemeClr val="accent2"/>
                </a:solidFill>
                <a:latin typeface="+mn-ea"/>
              </a:rPr>
              <a:t>、每种讨论的结果可截图</a:t>
            </a:r>
            <a:r>
              <a:rPr kumimoji="1" lang="en-US" altLang="zh-CN" sz="1600" b="1" dirty="0">
                <a:solidFill>
                  <a:schemeClr val="accent2"/>
                </a:solidFill>
                <a:latin typeface="+mn-ea"/>
              </a:rPr>
              <a:t>+</a:t>
            </a:r>
            <a:r>
              <a:rPr kumimoji="1" lang="zh-CN" altLang="en-US" sz="1600" b="1" dirty="0">
                <a:solidFill>
                  <a:schemeClr val="accent2"/>
                </a:solidFill>
                <a:latin typeface="+mn-ea"/>
              </a:rPr>
              <a:t>文字说明，</a:t>
            </a:r>
            <a:endParaRPr kumimoji="1" lang="en-US" altLang="zh-CN" sz="1600" b="1" dirty="0">
              <a:solidFill>
                <a:schemeClr val="accent2"/>
              </a:solidFill>
              <a:latin typeface="+mn-ea"/>
            </a:endParaRPr>
          </a:p>
          <a:p>
            <a:pPr fontAlgn="base">
              <a:spcBef>
                <a:spcPct val="0"/>
              </a:spcBef>
              <a:spcAft>
                <a:spcPct val="0"/>
              </a:spcAft>
            </a:pPr>
            <a:r>
              <a:rPr kumimoji="1" lang="zh-CN" altLang="en-US" sz="1600" b="1" dirty="0">
                <a:solidFill>
                  <a:schemeClr val="accent2"/>
                </a:solidFill>
                <a:latin typeface="+mn-ea"/>
              </a:rPr>
              <a:t>   如果几种环境的结果一致，用一个</a:t>
            </a:r>
            <a:endParaRPr kumimoji="1" lang="en-US" altLang="zh-CN" sz="1600" b="1" dirty="0">
              <a:solidFill>
                <a:schemeClr val="accent2"/>
              </a:solidFill>
              <a:latin typeface="+mn-ea"/>
            </a:endParaRPr>
          </a:p>
          <a:p>
            <a:pPr fontAlgn="base">
              <a:spcBef>
                <a:spcPct val="0"/>
              </a:spcBef>
              <a:spcAft>
                <a:spcPct val="0"/>
              </a:spcAft>
            </a:pPr>
            <a:r>
              <a:rPr kumimoji="1" lang="en-US" altLang="zh-CN" sz="1600" b="1" dirty="0">
                <a:solidFill>
                  <a:schemeClr val="accent2"/>
                </a:solidFill>
                <a:latin typeface="+mn-ea"/>
              </a:rPr>
              <a:t>   </a:t>
            </a:r>
            <a:r>
              <a:rPr kumimoji="1" lang="zh-CN" altLang="en-US" sz="1600" b="1" dirty="0">
                <a:solidFill>
                  <a:schemeClr val="accent2"/>
                </a:solidFill>
                <a:latin typeface="+mn-ea"/>
              </a:rPr>
              <a:t>环境的截图</a:t>
            </a:r>
            <a:r>
              <a:rPr kumimoji="1" lang="en-US" altLang="zh-CN" sz="1600" b="1" dirty="0">
                <a:solidFill>
                  <a:schemeClr val="accent2"/>
                </a:solidFill>
                <a:latin typeface="+mn-ea"/>
              </a:rPr>
              <a:t>+</a:t>
            </a:r>
            <a:r>
              <a:rPr kumimoji="1" lang="zh-CN" altLang="en-US" sz="1600" b="1" dirty="0">
                <a:solidFill>
                  <a:schemeClr val="accent2"/>
                </a:solidFill>
                <a:latin typeface="+mn-ea"/>
              </a:rPr>
              <a:t>文字说明即可</a:t>
            </a:r>
            <a:r>
              <a:rPr kumimoji="1" lang="en-US" altLang="zh-CN" sz="1600" b="1" dirty="0">
                <a:solidFill>
                  <a:schemeClr val="accent2"/>
                </a:solidFill>
                <a:latin typeface="+mn-ea"/>
              </a:rPr>
              <a:t>(</a:t>
            </a:r>
            <a:r>
              <a:rPr kumimoji="1" lang="zh-CN" altLang="en-US" sz="1600" b="1" dirty="0">
                <a:solidFill>
                  <a:schemeClr val="accent2"/>
                </a:solidFill>
                <a:latin typeface="+mn-ea"/>
              </a:rPr>
              <a:t>可加页</a:t>
            </a:r>
            <a:r>
              <a:rPr kumimoji="1" lang="en-US" altLang="zh-CN" sz="1600" b="1" dirty="0">
                <a:solidFill>
                  <a:schemeClr val="accent2"/>
                </a:solidFill>
                <a:latin typeface="+mn-ea"/>
              </a:rPr>
              <a:t>)</a:t>
            </a:r>
            <a:endParaRPr kumimoji="1" lang="en-US" altLang="zh-CN" sz="1600" b="1" dirty="0">
              <a:solidFill>
                <a:schemeClr val="accent2"/>
              </a:solidFill>
              <a:latin typeface="+mn-ea"/>
            </a:endParaRPr>
          </a:p>
          <a:p>
            <a:pPr fontAlgn="base">
              <a:spcBef>
                <a:spcPct val="0"/>
              </a:spcBef>
              <a:spcAft>
                <a:spcPct val="0"/>
              </a:spcAft>
            </a:pPr>
            <a:endParaRPr kumimoji="1" lang="zh-CN" altLang="en-US" sz="1600" b="1" dirty="0">
              <a:solidFill>
                <a:schemeClr val="accent2"/>
              </a:solidFill>
              <a:latin typeface="+mn-ea"/>
            </a:endParaRPr>
          </a:p>
        </p:txBody>
      </p:sp>
      <p:sp>
        <p:nvSpPr>
          <p:cNvPr id="2" name="文本框 1"/>
          <p:cNvSpPr txBox="1"/>
          <p:nvPr/>
        </p:nvSpPr>
        <p:spPr>
          <a:xfrm>
            <a:off x="484505" y="980440"/>
            <a:ext cx="6466840" cy="6185535"/>
          </a:xfrm>
          <a:prstGeom prst="rect">
            <a:avLst/>
          </a:prstGeom>
          <a:noFill/>
        </p:spPr>
        <p:txBody>
          <a:bodyPr wrap="square" rtlCol="0" anchor="t">
            <a:spAutoFit/>
          </a:bodyPr>
          <a:p>
            <a:pPr fontAlgn="base">
              <a:spcBef>
                <a:spcPct val="0"/>
              </a:spcBef>
              <a:spcAft>
                <a:spcPct val="0"/>
              </a:spcAft>
            </a:pPr>
            <a:r>
              <a:rPr kumimoji="1" lang="en-US" altLang="zh-CN" b="1" dirty="0">
                <a:solidFill>
                  <a:srgbClr val="000000"/>
                </a:solidFill>
                <a:latin typeface="宋体" panose="02010600030101010101" pitchFamily="2" charset="-122"/>
                <a:ea typeface="宋体" panose="02010600030101010101" pitchFamily="2" charset="-122"/>
                <a:sym typeface="+mn-ea"/>
              </a:rPr>
              <a:t>#define _CRT_SECURE_NO_WARNINGS</a:t>
            </a:r>
            <a:endParaRPr kumimoji="1" lang="en-US" altLang="zh-CN"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b="1" dirty="0">
                <a:solidFill>
                  <a:srgbClr val="000000"/>
                </a:solidFill>
                <a:latin typeface="宋体" panose="02010600030101010101" pitchFamily="2" charset="-122"/>
                <a:ea typeface="宋体" panose="02010600030101010101" pitchFamily="2" charset="-122"/>
                <a:sym typeface="+mn-ea"/>
              </a:rPr>
              <a:t>#include &lt;iostream&gt;</a:t>
            </a:r>
            <a:endParaRPr kumimoji="1" lang="en-US" altLang="zh-CN"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b="1" dirty="0">
                <a:solidFill>
                  <a:srgbClr val="000000"/>
                </a:solidFill>
                <a:latin typeface="宋体" panose="02010600030101010101" pitchFamily="2" charset="-122"/>
                <a:ea typeface="宋体" panose="02010600030101010101" pitchFamily="2" charset="-122"/>
                <a:sym typeface="+mn-ea"/>
              </a:rPr>
              <a:t>#include &lt;</a:t>
            </a:r>
            <a:r>
              <a:rPr kumimoji="1" lang="en-US" altLang="zh-CN" b="1" dirty="0" err="1">
                <a:solidFill>
                  <a:srgbClr val="000000"/>
                </a:solidFill>
                <a:latin typeface="宋体" panose="02010600030101010101" pitchFamily="2" charset="-122"/>
                <a:ea typeface="宋体" panose="02010600030101010101" pitchFamily="2" charset="-122"/>
                <a:sym typeface="+mn-ea"/>
              </a:rPr>
              <a:t>cstring</a:t>
            </a:r>
            <a:r>
              <a:rPr kumimoji="1" lang="en-US" altLang="zh-CN" b="1" dirty="0">
                <a:solidFill>
                  <a:srgbClr val="000000"/>
                </a:solidFill>
                <a:latin typeface="宋体" panose="02010600030101010101" pitchFamily="2" charset="-122"/>
                <a:ea typeface="宋体" panose="02010600030101010101" pitchFamily="2" charset="-122"/>
                <a:sym typeface="+mn-ea"/>
              </a:rPr>
              <a:t>&gt;</a:t>
            </a:r>
            <a:endParaRPr kumimoji="1" lang="en-US" altLang="zh-CN" b="1" dirty="0">
              <a:solidFill>
                <a:srgbClr val="000000"/>
              </a:solidFill>
              <a:latin typeface="宋体" panose="02010600030101010101" pitchFamily="2" charset="-122"/>
              <a:ea typeface="宋体" panose="02010600030101010101" pitchFamily="2" charset="-122"/>
            </a:endParaRPr>
          </a:p>
          <a:p>
            <a:pPr fontAlgn="base">
              <a:spcBef>
                <a:spcPct val="0"/>
              </a:spcBef>
              <a:spcAft>
                <a:spcPct val="0"/>
              </a:spcAft>
            </a:pPr>
            <a:r>
              <a:rPr kumimoji="1" lang="en-US" altLang="zh-CN" b="1" dirty="0">
                <a:solidFill>
                  <a:srgbClr val="000000"/>
                </a:solidFill>
                <a:latin typeface="宋体" panose="02010600030101010101" pitchFamily="2" charset="-122"/>
                <a:ea typeface="宋体" panose="02010600030101010101" pitchFamily="2" charset="-122"/>
                <a:sym typeface="+mn-ea"/>
              </a:rPr>
              <a:t>using namespace std;</a:t>
            </a:r>
            <a:endParaRPr kumimoji="1" lang="en-US" altLang="zh-CN" b="1" dirty="0">
              <a:solidFill>
                <a:srgbClr val="000000"/>
              </a:solidFill>
              <a:latin typeface="宋体" panose="02010600030101010101" pitchFamily="2" charset="-122"/>
              <a:ea typeface="宋体" panose="02010600030101010101" pitchFamily="2" charset="-122"/>
            </a:endParaRPr>
          </a:p>
          <a:p>
            <a:endParaRPr lang="zh-CN" altLang="en-US"/>
          </a:p>
          <a:p>
            <a:r>
              <a:rPr lang="zh-CN" altLang="en-US"/>
              <a:t>int main() {</a:t>
            </a:r>
            <a:endParaRPr lang="zh-CN" altLang="en-US"/>
          </a:p>
          <a:p>
            <a:r>
              <a:rPr lang="zh-CN" altLang="en-US"/>
              <a:t>    char a[10] = "0123456789";</a:t>
            </a:r>
            <a:endParaRPr lang="zh-CN" altLang="en-US"/>
          </a:p>
          <a:p>
            <a:r>
              <a:rPr lang="zh-CN" altLang="en-US"/>
              <a:t>    // *①*/  a[10] = 'a';    //此句越界</a:t>
            </a:r>
            <a:endParaRPr lang="zh-CN" altLang="en-US"/>
          </a:p>
          <a:p>
            <a:r>
              <a:rPr lang="zh-CN" altLang="en-US"/>
              <a:t>    a[14] = 'A';    //此句越界</a:t>
            </a:r>
            <a:endParaRPr lang="zh-CN" altLang="en-US"/>
          </a:p>
          <a:p>
            <a:r>
              <a:rPr lang="zh-CN" altLang="en-US"/>
              <a:t>    a[15] = 'B';    //此句越界</a:t>
            </a:r>
            <a:endParaRPr lang="zh-CN" altLang="en-US"/>
          </a:p>
          <a:p>
            <a:r>
              <a:rPr lang="zh-CN" altLang="en-US"/>
              <a:t>    // *②*/  a[10] = '\xcc'; //此句越界</a:t>
            </a:r>
            <a:endParaRPr lang="zh-CN" altLang="en-US"/>
          </a:p>
          <a:p>
            <a:endParaRPr lang="zh-CN" altLang="en-US"/>
          </a:p>
          <a:p>
            <a:r>
              <a:rPr lang="zh-CN" altLang="en-US"/>
              <a:t>    cout &lt;&lt; "addr-a: " &lt;&lt; static_cast&lt;void*&gt;(a) &lt;&lt; endl;</a:t>
            </a:r>
            <a:endParaRPr lang="zh-CN" altLang="en-US"/>
          </a:p>
          <a:p>
            <a:endParaRPr lang="zh-CN" altLang="en-US"/>
          </a:p>
          <a:p>
            <a:r>
              <a:rPr lang="zh-CN" altLang="en-US"/>
              <a:t>    for (int i = -4; i &lt; 16; i++) { // 注意，只有0-9是合理范围，其余都是越界读</a:t>
            </a:r>
            <a:endParaRPr lang="zh-CN" altLang="en-US"/>
          </a:p>
          <a:p>
            <a:r>
              <a:rPr lang="zh-CN" altLang="en-US"/>
              <a:t>        cout &lt;&lt; static_cast&lt;void*&gt;(a + i) &lt;&lt; ": " &lt;&lt; hex &lt;&lt; static_cast&lt;int&gt;(a[i]) &lt;&lt; endl;</a:t>
            </a:r>
            <a:endParaRPr lang="zh-CN" altLang="en-US"/>
          </a:p>
          <a:p>
            <a:r>
              <a:rPr lang="zh-CN" altLang="en-US"/>
              <a:t>    }</a:t>
            </a:r>
            <a:endParaRPr lang="zh-CN" altLang="en-US"/>
          </a:p>
          <a:p>
            <a:endParaRPr lang="zh-CN" altLang="en-US"/>
          </a:p>
          <a:p>
            <a:r>
              <a:rPr lang="zh-CN" altLang="en-US"/>
              <a:t>    return 0;</a:t>
            </a:r>
            <a:endParaRPr lang="zh-CN" altLang="en-US"/>
          </a:p>
          <a:p>
            <a:r>
              <a:rPr lang="zh-CN" altLang="en-US"/>
              <a:t>}</a:t>
            </a:r>
            <a:endParaRPr lang="zh-CN" alt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327660" y="842010"/>
            <a:ext cx="1922780" cy="4141470"/>
          </a:xfrm>
          <a:prstGeom prst="rect">
            <a:avLst/>
          </a:prstGeom>
        </p:spPr>
      </p:pic>
      <p:pic>
        <p:nvPicPr>
          <p:cNvPr id="5" name="图片 4"/>
          <p:cNvPicPr>
            <a:picLocks noChangeAspect="1"/>
          </p:cNvPicPr>
          <p:nvPr/>
        </p:nvPicPr>
        <p:blipFill>
          <a:blip r:embed="rId2"/>
          <a:stretch>
            <a:fillRect/>
          </a:stretch>
        </p:blipFill>
        <p:spPr>
          <a:xfrm>
            <a:off x="2731770" y="771525"/>
            <a:ext cx="2880995" cy="4678680"/>
          </a:xfrm>
          <a:prstGeom prst="rect">
            <a:avLst/>
          </a:prstGeom>
        </p:spPr>
      </p:pic>
      <p:pic>
        <p:nvPicPr>
          <p:cNvPr id="6" name="图片 5"/>
          <p:cNvPicPr>
            <a:picLocks noChangeAspect="1"/>
          </p:cNvPicPr>
          <p:nvPr/>
        </p:nvPicPr>
        <p:blipFill>
          <a:blip r:embed="rId3"/>
          <a:stretch>
            <a:fillRect/>
          </a:stretch>
        </p:blipFill>
        <p:spPr>
          <a:xfrm>
            <a:off x="6398260" y="771525"/>
            <a:ext cx="1961515" cy="4536440"/>
          </a:xfrm>
          <a:prstGeom prst="rect">
            <a:avLst/>
          </a:prstGeom>
        </p:spPr>
      </p:pic>
      <p:sp>
        <p:nvSpPr>
          <p:cNvPr id="7" name="文本框 6"/>
          <p:cNvSpPr txBox="1"/>
          <p:nvPr/>
        </p:nvSpPr>
        <p:spPr>
          <a:xfrm>
            <a:off x="327660" y="95885"/>
            <a:ext cx="2708275" cy="675640"/>
          </a:xfrm>
          <a:prstGeom prst="rect">
            <a:avLst/>
          </a:prstGeom>
          <a:noFill/>
        </p:spPr>
        <p:txBody>
          <a:bodyPr wrap="square" rtlCol="0">
            <a:spAutoFit/>
          </a:bodyPr>
          <a:p>
            <a:r>
              <a:rPr lang="en-US" altLang="zh-CN" sz="2000" b="1"/>
              <a:t>VS2022  x86/Debug      </a:t>
            </a:r>
            <a:endParaRPr lang="en-US" altLang="zh-CN" sz="2000" b="1"/>
          </a:p>
          <a:p>
            <a:r>
              <a:rPr kumimoji="1" lang="en-US" altLang="zh-CN" b="1" dirty="0">
                <a:solidFill>
                  <a:srgbClr val="FF0000"/>
                </a:solidFill>
                <a:latin typeface="+mn-ea"/>
                <a:sym typeface="+mn-ea"/>
              </a:rPr>
              <a:t>1</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a:t>
            </a:r>
            <a:r>
              <a:rPr kumimoji="1" lang="zh-CN" altLang="en-US" b="1" dirty="0">
                <a:solidFill>
                  <a:srgbClr val="FF0000"/>
                </a:solidFill>
                <a:latin typeface="+mn-ea"/>
                <a:sym typeface="+mn-ea"/>
              </a:rPr>
              <a:t>全部注释</a:t>
            </a:r>
            <a:endParaRPr lang="en-US" altLang="zh-CN"/>
          </a:p>
        </p:txBody>
      </p:sp>
      <p:sp>
        <p:nvSpPr>
          <p:cNvPr id="8" name="文本框 7"/>
          <p:cNvSpPr txBox="1"/>
          <p:nvPr/>
        </p:nvSpPr>
        <p:spPr>
          <a:xfrm>
            <a:off x="2936875" y="403225"/>
            <a:ext cx="2436495" cy="368300"/>
          </a:xfrm>
          <a:prstGeom prst="rect">
            <a:avLst/>
          </a:prstGeom>
          <a:noFill/>
        </p:spPr>
        <p:txBody>
          <a:bodyPr wrap="square" rtlCol="0" anchor="t">
            <a:spAutoFit/>
          </a:bodyPr>
          <a:p>
            <a:r>
              <a:rPr kumimoji="1" lang="en-US" altLang="zh-CN" b="1" dirty="0">
                <a:solidFill>
                  <a:srgbClr val="FF0000"/>
                </a:solidFill>
                <a:latin typeface="+mn-ea"/>
                <a:sym typeface="+mn-ea"/>
              </a:rPr>
              <a:t>2</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a:t>
            </a:r>
            <a:r>
              <a:rPr kumimoji="1" lang="zh-CN" altLang="en-US" b="1" dirty="0">
                <a:solidFill>
                  <a:srgbClr val="FF0000"/>
                </a:solidFill>
                <a:latin typeface="+mn-ea"/>
                <a:sym typeface="+mn-ea"/>
              </a:rPr>
              <a:t>放开，</a:t>
            </a:r>
            <a:r>
              <a:rPr kumimoji="1" lang="en-US" altLang="zh-CN" b="1" dirty="0">
                <a:solidFill>
                  <a:srgbClr val="FF0000"/>
                </a:solidFill>
                <a:latin typeface="+mn-ea"/>
                <a:sym typeface="+mn-ea"/>
              </a:rPr>
              <a:t>②</a:t>
            </a:r>
            <a:r>
              <a:rPr kumimoji="1" lang="zh-CN" altLang="en-US" b="1" dirty="0">
                <a:solidFill>
                  <a:srgbClr val="FF0000"/>
                </a:solidFill>
                <a:latin typeface="+mn-ea"/>
                <a:sym typeface="+mn-ea"/>
              </a:rPr>
              <a:t>注释</a:t>
            </a:r>
            <a:endParaRPr kumimoji="1" lang="zh-CN" altLang="en-US" b="1" dirty="0">
              <a:solidFill>
                <a:srgbClr val="FF0000"/>
              </a:solidFill>
              <a:latin typeface="+mn-ea"/>
              <a:sym typeface="+mn-ea"/>
            </a:endParaRPr>
          </a:p>
        </p:txBody>
      </p:sp>
      <p:sp>
        <p:nvSpPr>
          <p:cNvPr id="10" name="文本框 9"/>
          <p:cNvSpPr txBox="1"/>
          <p:nvPr/>
        </p:nvSpPr>
        <p:spPr>
          <a:xfrm>
            <a:off x="6324600" y="403225"/>
            <a:ext cx="2356485" cy="368300"/>
          </a:xfrm>
          <a:prstGeom prst="rect">
            <a:avLst/>
          </a:prstGeom>
          <a:noFill/>
        </p:spPr>
        <p:txBody>
          <a:bodyPr wrap="square" rtlCol="0" anchor="t">
            <a:spAutoFit/>
          </a:bodyPr>
          <a:p>
            <a:r>
              <a:rPr kumimoji="1" lang="en-US" altLang="zh-CN" b="1" dirty="0">
                <a:solidFill>
                  <a:srgbClr val="FF0000"/>
                </a:solidFill>
                <a:latin typeface="+mn-ea"/>
                <a:sym typeface="+mn-ea"/>
              </a:rPr>
              <a:t>3</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a:t>
            </a:r>
            <a:r>
              <a:rPr kumimoji="1" lang="zh-CN" altLang="en-US" b="1" dirty="0">
                <a:solidFill>
                  <a:srgbClr val="FF0000"/>
                </a:solidFill>
                <a:latin typeface="+mn-ea"/>
                <a:sym typeface="+mn-ea"/>
              </a:rPr>
              <a:t>全部放开</a:t>
            </a:r>
            <a:endParaRPr kumimoji="1" lang="zh-CN" altLang="en-US" b="1" dirty="0">
              <a:solidFill>
                <a:srgbClr val="FF0000"/>
              </a:solidFill>
              <a:latin typeface="+mn-ea"/>
              <a:sym typeface="+mn-ea"/>
            </a:endParaRPr>
          </a:p>
        </p:txBody>
      </p:sp>
      <p:sp>
        <p:nvSpPr>
          <p:cNvPr id="18" name="文本框 17"/>
          <p:cNvSpPr txBox="1"/>
          <p:nvPr/>
        </p:nvSpPr>
        <p:spPr>
          <a:xfrm>
            <a:off x="153670" y="5623560"/>
            <a:ext cx="11748135" cy="1198880"/>
          </a:xfrm>
          <a:prstGeom prst="rect">
            <a:avLst/>
          </a:prstGeom>
          <a:noFill/>
        </p:spPr>
        <p:txBody>
          <a:bodyPr wrap="square" rtlCol="0">
            <a:spAutoFit/>
          </a:bodyPr>
          <a:p>
            <a:r>
              <a:rPr lang="zh-CN" altLang="en-US" b="1">
                <a:solidFill>
                  <a:schemeClr val="accent2"/>
                </a:solidFill>
              </a:rPr>
              <a:t>结论：</a:t>
            </a:r>
            <a:r>
              <a:rPr lang="en-US" altLang="zh-CN">
                <a:solidFill>
                  <a:schemeClr val="accent2"/>
                </a:solidFill>
              </a:rPr>
              <a:t>1.VS2022</a:t>
            </a:r>
            <a:r>
              <a:rPr lang="zh-CN" altLang="en-US">
                <a:solidFill>
                  <a:schemeClr val="accent2"/>
                </a:solidFill>
              </a:rPr>
              <a:t>的</a:t>
            </a:r>
            <a:r>
              <a:rPr lang="en-US" altLang="zh-CN">
                <a:solidFill>
                  <a:schemeClr val="accent2"/>
                </a:solidFill>
              </a:rPr>
              <a:t>x86/Debug</a:t>
            </a:r>
            <a:r>
              <a:rPr lang="zh-CN" altLang="en-US">
                <a:solidFill>
                  <a:schemeClr val="accent2"/>
                </a:solidFill>
              </a:rPr>
              <a:t>模式下，会判断数组内存访问是否越界。</a:t>
            </a:r>
            <a:endParaRPr lang="zh-CN" altLang="en-US">
              <a:solidFill>
                <a:schemeClr val="accent2"/>
              </a:solidFill>
            </a:endParaRPr>
          </a:p>
          <a:p>
            <a:r>
              <a:rPr lang="en-US" altLang="zh-CN">
                <a:solidFill>
                  <a:schemeClr val="accent2"/>
                </a:solidFill>
              </a:rPr>
              <a:t>            2.</a:t>
            </a:r>
            <a:r>
              <a:rPr lang="zh-CN" altLang="en-US">
                <a:solidFill>
                  <a:schemeClr val="accent2"/>
                </a:solidFill>
              </a:rPr>
              <a:t>该模式下，VS 会在动态分配的内存块的前后</a:t>
            </a:r>
            <a:r>
              <a:rPr lang="en-US" altLang="zh-CN">
                <a:solidFill>
                  <a:schemeClr val="accent2"/>
                </a:solidFill>
              </a:rPr>
              <a:t>4</a:t>
            </a:r>
            <a:r>
              <a:rPr lang="zh-CN" altLang="en-US">
                <a:solidFill>
                  <a:schemeClr val="accent2"/>
                </a:solidFill>
              </a:rPr>
              <a:t>个地址添加额外的特定值来判断访问是否越界。当这些值与特定值不符时，判断内存访问越界，报错；当值没有被改变，即使越界访问也不会判定错误。所以，当越界访问的位置超出特定值的范围，或者访问特定值的位置但并没有修改为不同的值时（情况</a:t>
            </a:r>
            <a:r>
              <a:rPr lang="en-US" altLang="zh-CN">
                <a:solidFill>
                  <a:schemeClr val="accent2"/>
                </a:solidFill>
              </a:rPr>
              <a:t>3</a:t>
            </a:r>
            <a:r>
              <a:rPr lang="zh-CN" altLang="en-US">
                <a:solidFill>
                  <a:schemeClr val="accent2"/>
                </a:solidFill>
              </a:rPr>
              <a:t>），程序并没有报错。</a:t>
            </a:r>
            <a:endParaRPr lang="zh-CN" altLang="en-US">
              <a:solidFill>
                <a:schemeClr val="accent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327660" y="95885"/>
            <a:ext cx="9354820" cy="675640"/>
          </a:xfrm>
          <a:prstGeom prst="rect">
            <a:avLst/>
          </a:prstGeom>
          <a:noFill/>
        </p:spPr>
        <p:txBody>
          <a:bodyPr wrap="square" rtlCol="0">
            <a:spAutoFit/>
          </a:bodyPr>
          <a:p>
            <a:r>
              <a:rPr lang="en-US" altLang="zh-CN" sz="2000" b="1">
                <a:sym typeface="+mn-ea"/>
              </a:rPr>
              <a:t>VS2022  x86/Release</a:t>
            </a:r>
            <a:endParaRPr lang="en-US" altLang="zh-CN" sz="2000" b="1">
              <a:sym typeface="+mn-ea"/>
            </a:endParaRPr>
          </a:p>
          <a:p>
            <a:r>
              <a:rPr kumimoji="1" lang="en-US" altLang="zh-CN" b="1" dirty="0">
                <a:solidFill>
                  <a:srgbClr val="FF0000"/>
                </a:solidFill>
                <a:latin typeface="+mn-ea"/>
                <a:sym typeface="+mn-ea"/>
              </a:rPr>
              <a:t>1</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a:t>
            </a:r>
            <a:r>
              <a:rPr kumimoji="1" lang="zh-CN" altLang="en-US" b="1" dirty="0">
                <a:solidFill>
                  <a:srgbClr val="FF0000"/>
                </a:solidFill>
                <a:latin typeface="+mn-ea"/>
                <a:sym typeface="+mn-ea"/>
              </a:rPr>
              <a:t>全部注释</a:t>
            </a:r>
            <a:endParaRPr lang="en-US" altLang="zh-CN"/>
          </a:p>
        </p:txBody>
      </p:sp>
      <p:sp>
        <p:nvSpPr>
          <p:cNvPr id="8" name="文本框 7"/>
          <p:cNvSpPr txBox="1"/>
          <p:nvPr/>
        </p:nvSpPr>
        <p:spPr>
          <a:xfrm>
            <a:off x="2936875" y="403225"/>
            <a:ext cx="2436495" cy="368300"/>
          </a:xfrm>
          <a:prstGeom prst="rect">
            <a:avLst/>
          </a:prstGeom>
          <a:noFill/>
        </p:spPr>
        <p:txBody>
          <a:bodyPr wrap="square" rtlCol="0" anchor="t">
            <a:spAutoFit/>
          </a:bodyPr>
          <a:p>
            <a:r>
              <a:rPr kumimoji="1" lang="en-US" altLang="zh-CN" b="1" dirty="0">
                <a:solidFill>
                  <a:srgbClr val="FF0000"/>
                </a:solidFill>
                <a:latin typeface="+mn-ea"/>
                <a:sym typeface="+mn-ea"/>
              </a:rPr>
              <a:t>2</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a:t>
            </a:r>
            <a:r>
              <a:rPr kumimoji="1" lang="zh-CN" altLang="en-US" b="1" dirty="0">
                <a:solidFill>
                  <a:srgbClr val="FF0000"/>
                </a:solidFill>
                <a:latin typeface="+mn-ea"/>
                <a:sym typeface="+mn-ea"/>
              </a:rPr>
              <a:t>放开，</a:t>
            </a:r>
            <a:r>
              <a:rPr kumimoji="1" lang="en-US" altLang="zh-CN" b="1" dirty="0">
                <a:solidFill>
                  <a:srgbClr val="FF0000"/>
                </a:solidFill>
                <a:latin typeface="+mn-ea"/>
                <a:sym typeface="+mn-ea"/>
              </a:rPr>
              <a:t>②</a:t>
            </a:r>
            <a:r>
              <a:rPr kumimoji="1" lang="zh-CN" altLang="en-US" b="1" dirty="0">
                <a:solidFill>
                  <a:srgbClr val="FF0000"/>
                </a:solidFill>
                <a:latin typeface="+mn-ea"/>
                <a:sym typeface="+mn-ea"/>
              </a:rPr>
              <a:t>注释</a:t>
            </a:r>
            <a:endParaRPr kumimoji="1" lang="zh-CN" altLang="en-US" b="1" dirty="0">
              <a:solidFill>
                <a:srgbClr val="FF0000"/>
              </a:solidFill>
              <a:latin typeface="+mn-ea"/>
              <a:sym typeface="+mn-ea"/>
            </a:endParaRPr>
          </a:p>
        </p:txBody>
      </p:sp>
      <p:sp>
        <p:nvSpPr>
          <p:cNvPr id="10" name="文本框 9"/>
          <p:cNvSpPr txBox="1"/>
          <p:nvPr/>
        </p:nvSpPr>
        <p:spPr>
          <a:xfrm>
            <a:off x="6324600" y="403225"/>
            <a:ext cx="2356485" cy="368300"/>
          </a:xfrm>
          <a:prstGeom prst="rect">
            <a:avLst/>
          </a:prstGeom>
          <a:noFill/>
        </p:spPr>
        <p:txBody>
          <a:bodyPr wrap="square" rtlCol="0" anchor="t">
            <a:spAutoFit/>
          </a:bodyPr>
          <a:p>
            <a:r>
              <a:rPr kumimoji="1" lang="en-US" altLang="zh-CN" b="1" dirty="0">
                <a:solidFill>
                  <a:srgbClr val="FF0000"/>
                </a:solidFill>
                <a:latin typeface="+mn-ea"/>
                <a:sym typeface="+mn-ea"/>
              </a:rPr>
              <a:t>3</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a:t>
            </a:r>
            <a:r>
              <a:rPr kumimoji="1" lang="zh-CN" altLang="en-US" b="1" dirty="0">
                <a:solidFill>
                  <a:srgbClr val="FF0000"/>
                </a:solidFill>
                <a:latin typeface="+mn-ea"/>
                <a:sym typeface="+mn-ea"/>
              </a:rPr>
              <a:t>全部放开</a:t>
            </a:r>
            <a:endParaRPr kumimoji="1" lang="zh-CN" altLang="en-US" b="1" dirty="0">
              <a:solidFill>
                <a:srgbClr val="FF0000"/>
              </a:solidFill>
              <a:latin typeface="+mn-ea"/>
              <a:sym typeface="+mn-ea"/>
            </a:endParaRPr>
          </a:p>
        </p:txBody>
      </p:sp>
      <p:pic>
        <p:nvPicPr>
          <p:cNvPr id="16" name="图片 15"/>
          <p:cNvPicPr>
            <a:picLocks noChangeAspect="1"/>
          </p:cNvPicPr>
          <p:nvPr/>
        </p:nvPicPr>
        <p:blipFill>
          <a:blip r:embed="rId1"/>
          <a:stretch>
            <a:fillRect/>
          </a:stretch>
        </p:blipFill>
        <p:spPr>
          <a:xfrm>
            <a:off x="400050" y="771525"/>
            <a:ext cx="2159635" cy="4718050"/>
          </a:xfrm>
          <a:prstGeom prst="rect">
            <a:avLst/>
          </a:prstGeom>
        </p:spPr>
      </p:pic>
      <p:pic>
        <p:nvPicPr>
          <p:cNvPr id="17" name="图片 16"/>
          <p:cNvPicPr>
            <a:picLocks noChangeAspect="1"/>
          </p:cNvPicPr>
          <p:nvPr/>
        </p:nvPicPr>
        <p:blipFill>
          <a:blip r:embed="rId2"/>
          <a:stretch>
            <a:fillRect/>
          </a:stretch>
        </p:blipFill>
        <p:spPr>
          <a:xfrm>
            <a:off x="3215005" y="771525"/>
            <a:ext cx="1991360" cy="4756150"/>
          </a:xfrm>
          <a:prstGeom prst="rect">
            <a:avLst/>
          </a:prstGeom>
        </p:spPr>
      </p:pic>
      <p:pic>
        <p:nvPicPr>
          <p:cNvPr id="19" name="图片 18"/>
          <p:cNvPicPr>
            <a:picLocks noChangeAspect="1"/>
          </p:cNvPicPr>
          <p:nvPr/>
        </p:nvPicPr>
        <p:blipFill>
          <a:blip r:embed="rId3"/>
          <a:stretch>
            <a:fillRect/>
          </a:stretch>
        </p:blipFill>
        <p:spPr>
          <a:xfrm>
            <a:off x="6379210" y="718820"/>
            <a:ext cx="1993900" cy="4808220"/>
          </a:xfrm>
          <a:prstGeom prst="rect">
            <a:avLst/>
          </a:prstGeom>
        </p:spPr>
      </p:pic>
      <p:sp>
        <p:nvSpPr>
          <p:cNvPr id="20" name="文本框 19"/>
          <p:cNvSpPr txBox="1"/>
          <p:nvPr/>
        </p:nvSpPr>
        <p:spPr>
          <a:xfrm>
            <a:off x="218440" y="5661660"/>
            <a:ext cx="11579225" cy="645160"/>
          </a:xfrm>
          <a:prstGeom prst="rect">
            <a:avLst/>
          </a:prstGeom>
          <a:noFill/>
        </p:spPr>
        <p:txBody>
          <a:bodyPr wrap="square" rtlCol="0" anchor="t">
            <a:spAutoFit/>
          </a:bodyPr>
          <a:p>
            <a:r>
              <a:rPr lang="zh-CN" altLang="en-US" b="1">
                <a:solidFill>
                  <a:schemeClr val="accent2"/>
                </a:solidFill>
                <a:sym typeface="+mn-ea"/>
              </a:rPr>
              <a:t>结论：该</a:t>
            </a:r>
            <a:r>
              <a:rPr lang="zh-CN" altLang="en-US">
                <a:solidFill>
                  <a:schemeClr val="accent2"/>
                </a:solidFill>
                <a:sym typeface="+mn-ea"/>
              </a:rPr>
              <a:t>模式下，不会因为数组的内存访问越界报错，但似乎只能修改超过边界</a:t>
            </a:r>
            <a:r>
              <a:rPr lang="en-US" altLang="zh-CN">
                <a:solidFill>
                  <a:schemeClr val="accent2"/>
                </a:solidFill>
                <a:sym typeface="+mn-ea"/>
              </a:rPr>
              <a:t>4</a:t>
            </a:r>
            <a:r>
              <a:rPr lang="zh-CN" altLang="en-US">
                <a:solidFill>
                  <a:schemeClr val="accent2"/>
                </a:solidFill>
                <a:sym typeface="+mn-ea"/>
              </a:rPr>
              <a:t>个地址以内，</a:t>
            </a:r>
            <a:r>
              <a:rPr lang="zh-CN" altLang="en-US">
                <a:solidFill>
                  <a:schemeClr val="accent2"/>
                </a:solidFill>
                <a:sym typeface="+mn-ea"/>
              </a:rPr>
              <a:t>修改</a:t>
            </a:r>
            <a:r>
              <a:rPr lang="zh-CN" altLang="en-US">
                <a:solidFill>
                  <a:schemeClr val="accent2"/>
                </a:solidFill>
                <a:sym typeface="+mn-ea"/>
              </a:rPr>
              <a:t>其他更远位置是无效的。</a:t>
            </a:r>
            <a:endParaRPr lang="zh-CN" altLang="en-US">
              <a:solidFill>
                <a:schemeClr val="accent2"/>
              </a:solidFill>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327660" y="95885"/>
            <a:ext cx="9354820" cy="675640"/>
          </a:xfrm>
          <a:prstGeom prst="rect">
            <a:avLst/>
          </a:prstGeom>
          <a:noFill/>
        </p:spPr>
        <p:txBody>
          <a:bodyPr wrap="square" rtlCol="0">
            <a:spAutoFit/>
          </a:bodyPr>
          <a:p>
            <a:r>
              <a:rPr lang="en-US" altLang="zh-CN" sz="2000" b="1">
                <a:sym typeface="+mn-ea"/>
              </a:rPr>
              <a:t>Dev 32bit/Debug   Dev 32bit/Release   </a:t>
            </a:r>
            <a:endParaRPr lang="en-US" altLang="zh-CN" sz="2000" b="1"/>
          </a:p>
          <a:p>
            <a:r>
              <a:rPr kumimoji="1" lang="en-US" altLang="zh-CN" b="1" dirty="0">
                <a:solidFill>
                  <a:srgbClr val="FF0000"/>
                </a:solidFill>
                <a:latin typeface="+mn-ea"/>
                <a:sym typeface="+mn-ea"/>
              </a:rPr>
              <a:t>1</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a:t>
            </a:r>
            <a:r>
              <a:rPr kumimoji="1" lang="zh-CN" altLang="en-US" b="1" dirty="0">
                <a:solidFill>
                  <a:srgbClr val="FF0000"/>
                </a:solidFill>
                <a:latin typeface="+mn-ea"/>
                <a:sym typeface="+mn-ea"/>
              </a:rPr>
              <a:t>全部注释</a:t>
            </a:r>
            <a:endParaRPr lang="en-US" altLang="zh-CN"/>
          </a:p>
        </p:txBody>
      </p:sp>
      <p:sp>
        <p:nvSpPr>
          <p:cNvPr id="8" name="文本框 7"/>
          <p:cNvSpPr txBox="1"/>
          <p:nvPr/>
        </p:nvSpPr>
        <p:spPr>
          <a:xfrm>
            <a:off x="2936875" y="403225"/>
            <a:ext cx="2436495" cy="368300"/>
          </a:xfrm>
          <a:prstGeom prst="rect">
            <a:avLst/>
          </a:prstGeom>
          <a:noFill/>
        </p:spPr>
        <p:txBody>
          <a:bodyPr wrap="square" rtlCol="0" anchor="t">
            <a:spAutoFit/>
          </a:bodyPr>
          <a:p>
            <a:r>
              <a:rPr kumimoji="1" lang="en-US" altLang="zh-CN" b="1" dirty="0">
                <a:solidFill>
                  <a:srgbClr val="FF0000"/>
                </a:solidFill>
                <a:latin typeface="+mn-ea"/>
                <a:sym typeface="+mn-ea"/>
              </a:rPr>
              <a:t>2</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a:t>
            </a:r>
            <a:r>
              <a:rPr kumimoji="1" lang="zh-CN" altLang="en-US" b="1" dirty="0">
                <a:solidFill>
                  <a:srgbClr val="FF0000"/>
                </a:solidFill>
                <a:latin typeface="+mn-ea"/>
                <a:sym typeface="+mn-ea"/>
              </a:rPr>
              <a:t>放开，</a:t>
            </a:r>
            <a:r>
              <a:rPr kumimoji="1" lang="en-US" altLang="zh-CN" b="1" dirty="0">
                <a:solidFill>
                  <a:srgbClr val="FF0000"/>
                </a:solidFill>
                <a:latin typeface="+mn-ea"/>
                <a:sym typeface="+mn-ea"/>
              </a:rPr>
              <a:t>②</a:t>
            </a:r>
            <a:r>
              <a:rPr kumimoji="1" lang="zh-CN" altLang="en-US" b="1" dirty="0">
                <a:solidFill>
                  <a:srgbClr val="FF0000"/>
                </a:solidFill>
                <a:latin typeface="+mn-ea"/>
                <a:sym typeface="+mn-ea"/>
              </a:rPr>
              <a:t>注释</a:t>
            </a:r>
            <a:endParaRPr kumimoji="1" lang="zh-CN" altLang="en-US" b="1" dirty="0">
              <a:solidFill>
                <a:srgbClr val="FF0000"/>
              </a:solidFill>
              <a:latin typeface="+mn-ea"/>
              <a:sym typeface="+mn-ea"/>
            </a:endParaRPr>
          </a:p>
        </p:txBody>
      </p:sp>
      <p:sp>
        <p:nvSpPr>
          <p:cNvPr id="10" name="文本框 9"/>
          <p:cNvSpPr txBox="1"/>
          <p:nvPr/>
        </p:nvSpPr>
        <p:spPr>
          <a:xfrm>
            <a:off x="6324600" y="403225"/>
            <a:ext cx="2356485" cy="368300"/>
          </a:xfrm>
          <a:prstGeom prst="rect">
            <a:avLst/>
          </a:prstGeom>
          <a:noFill/>
        </p:spPr>
        <p:txBody>
          <a:bodyPr wrap="square" rtlCol="0" anchor="t">
            <a:spAutoFit/>
          </a:bodyPr>
          <a:p>
            <a:r>
              <a:rPr kumimoji="1" lang="en-US" altLang="zh-CN" b="1" dirty="0">
                <a:solidFill>
                  <a:srgbClr val="FF0000"/>
                </a:solidFill>
                <a:latin typeface="+mn-ea"/>
                <a:sym typeface="+mn-ea"/>
              </a:rPr>
              <a:t>3</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a:t>
            </a:r>
            <a:r>
              <a:rPr kumimoji="1" lang="zh-CN" altLang="en-US" b="1" dirty="0">
                <a:solidFill>
                  <a:srgbClr val="FF0000"/>
                </a:solidFill>
                <a:latin typeface="+mn-ea"/>
                <a:sym typeface="+mn-ea"/>
              </a:rPr>
              <a:t>全部放开</a:t>
            </a:r>
            <a:endParaRPr kumimoji="1" lang="zh-CN" altLang="en-US" b="1" dirty="0">
              <a:solidFill>
                <a:srgbClr val="FF0000"/>
              </a:solidFill>
              <a:latin typeface="+mn-ea"/>
              <a:sym typeface="+mn-ea"/>
            </a:endParaRPr>
          </a:p>
        </p:txBody>
      </p:sp>
      <p:pic>
        <p:nvPicPr>
          <p:cNvPr id="2" name="图片 1"/>
          <p:cNvPicPr>
            <a:picLocks noChangeAspect="1"/>
          </p:cNvPicPr>
          <p:nvPr/>
        </p:nvPicPr>
        <p:blipFill>
          <a:blip r:embed="rId1"/>
          <a:stretch>
            <a:fillRect/>
          </a:stretch>
        </p:blipFill>
        <p:spPr>
          <a:xfrm>
            <a:off x="6410325" y="808355"/>
            <a:ext cx="1863090" cy="4608830"/>
          </a:xfrm>
          <a:prstGeom prst="rect">
            <a:avLst/>
          </a:prstGeom>
        </p:spPr>
      </p:pic>
      <p:pic>
        <p:nvPicPr>
          <p:cNvPr id="3" name="图片 2"/>
          <p:cNvPicPr>
            <a:picLocks noChangeAspect="1"/>
          </p:cNvPicPr>
          <p:nvPr/>
        </p:nvPicPr>
        <p:blipFill>
          <a:blip r:embed="rId2"/>
          <a:stretch>
            <a:fillRect/>
          </a:stretch>
        </p:blipFill>
        <p:spPr>
          <a:xfrm>
            <a:off x="481965" y="771525"/>
            <a:ext cx="1936115" cy="4592955"/>
          </a:xfrm>
          <a:prstGeom prst="rect">
            <a:avLst/>
          </a:prstGeom>
        </p:spPr>
      </p:pic>
      <p:pic>
        <p:nvPicPr>
          <p:cNvPr id="4" name="图片 3"/>
          <p:cNvPicPr>
            <a:picLocks noChangeAspect="1"/>
          </p:cNvPicPr>
          <p:nvPr/>
        </p:nvPicPr>
        <p:blipFill>
          <a:blip r:embed="rId3"/>
          <a:stretch>
            <a:fillRect/>
          </a:stretch>
        </p:blipFill>
        <p:spPr>
          <a:xfrm>
            <a:off x="3208020" y="771525"/>
            <a:ext cx="1893570" cy="4592955"/>
          </a:xfrm>
          <a:prstGeom prst="rect">
            <a:avLst/>
          </a:prstGeom>
        </p:spPr>
      </p:pic>
      <p:sp>
        <p:nvSpPr>
          <p:cNvPr id="20" name="文本框 19"/>
          <p:cNvSpPr txBox="1"/>
          <p:nvPr/>
        </p:nvSpPr>
        <p:spPr>
          <a:xfrm>
            <a:off x="218440" y="5661660"/>
            <a:ext cx="11579225" cy="645160"/>
          </a:xfrm>
          <a:prstGeom prst="rect">
            <a:avLst/>
          </a:prstGeom>
          <a:noFill/>
        </p:spPr>
        <p:txBody>
          <a:bodyPr wrap="square" rtlCol="0" anchor="t">
            <a:spAutoFit/>
          </a:bodyPr>
          <a:p>
            <a:r>
              <a:rPr lang="zh-CN" altLang="en-US" b="1">
                <a:solidFill>
                  <a:schemeClr val="accent2"/>
                </a:solidFill>
                <a:sym typeface="+mn-ea"/>
              </a:rPr>
              <a:t>结论：该</a:t>
            </a:r>
            <a:r>
              <a:rPr lang="zh-CN" altLang="en-US">
                <a:solidFill>
                  <a:schemeClr val="accent2"/>
                </a:solidFill>
                <a:sym typeface="+mn-ea"/>
              </a:rPr>
              <a:t>模式下，不会因为数组的内存访问越界报错，但似乎只能修改超过边界</a:t>
            </a:r>
            <a:r>
              <a:rPr lang="en-US" altLang="zh-CN">
                <a:solidFill>
                  <a:schemeClr val="accent2"/>
                </a:solidFill>
                <a:sym typeface="+mn-ea"/>
              </a:rPr>
              <a:t>4</a:t>
            </a:r>
            <a:r>
              <a:rPr lang="zh-CN" altLang="en-US">
                <a:solidFill>
                  <a:schemeClr val="accent2"/>
                </a:solidFill>
                <a:sym typeface="+mn-ea"/>
              </a:rPr>
              <a:t>个地址以外，</a:t>
            </a:r>
            <a:r>
              <a:rPr lang="zh-CN" altLang="en-US">
                <a:solidFill>
                  <a:schemeClr val="accent2"/>
                </a:solidFill>
                <a:sym typeface="+mn-ea"/>
              </a:rPr>
              <a:t>修改</a:t>
            </a:r>
            <a:r>
              <a:rPr lang="zh-CN" altLang="en-US">
                <a:solidFill>
                  <a:schemeClr val="accent2"/>
                </a:solidFill>
                <a:sym typeface="+mn-ea"/>
              </a:rPr>
              <a:t>位置</a:t>
            </a:r>
            <a:r>
              <a:rPr lang="en-US" altLang="zh-CN">
                <a:solidFill>
                  <a:schemeClr val="accent2"/>
                </a:solidFill>
                <a:sym typeface="+mn-ea"/>
              </a:rPr>
              <a:t>4</a:t>
            </a:r>
            <a:r>
              <a:rPr lang="zh-CN" altLang="en-US">
                <a:solidFill>
                  <a:schemeClr val="accent2"/>
                </a:solidFill>
                <a:sym typeface="+mn-ea"/>
              </a:rPr>
              <a:t>个地址以内的值</a:t>
            </a:r>
            <a:r>
              <a:rPr lang="zh-CN" altLang="en-US">
                <a:solidFill>
                  <a:schemeClr val="accent2"/>
                </a:solidFill>
                <a:sym typeface="+mn-ea"/>
              </a:rPr>
              <a:t>是无效的。</a:t>
            </a:r>
            <a:endParaRPr lang="zh-CN" altLang="en-US">
              <a:solidFill>
                <a:schemeClr val="accent2"/>
              </a:solidFill>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340360" y="948055"/>
            <a:ext cx="2376805" cy="4269740"/>
          </a:xfrm>
          <a:prstGeom prst="rect">
            <a:avLst/>
          </a:prstGeom>
        </p:spPr>
      </p:pic>
      <p:pic>
        <p:nvPicPr>
          <p:cNvPr id="6" name="图片 5"/>
          <p:cNvPicPr>
            <a:picLocks noChangeAspect="1"/>
          </p:cNvPicPr>
          <p:nvPr/>
        </p:nvPicPr>
        <p:blipFill>
          <a:blip r:embed="rId2"/>
          <a:stretch>
            <a:fillRect/>
          </a:stretch>
        </p:blipFill>
        <p:spPr>
          <a:xfrm>
            <a:off x="3090545" y="955040"/>
            <a:ext cx="2435860" cy="4263390"/>
          </a:xfrm>
          <a:prstGeom prst="rect">
            <a:avLst/>
          </a:prstGeom>
        </p:spPr>
      </p:pic>
      <p:pic>
        <p:nvPicPr>
          <p:cNvPr id="7" name="图片 6"/>
          <p:cNvPicPr>
            <a:picLocks noChangeAspect="1"/>
          </p:cNvPicPr>
          <p:nvPr/>
        </p:nvPicPr>
        <p:blipFill>
          <a:blip r:embed="rId3"/>
          <a:stretch>
            <a:fillRect/>
          </a:stretch>
        </p:blipFill>
        <p:spPr>
          <a:xfrm>
            <a:off x="5986145" y="955040"/>
            <a:ext cx="2521585" cy="4263390"/>
          </a:xfrm>
          <a:prstGeom prst="rect">
            <a:avLst/>
          </a:prstGeom>
        </p:spPr>
      </p:pic>
      <p:sp>
        <p:nvSpPr>
          <p:cNvPr id="8" name="文本框 7"/>
          <p:cNvSpPr txBox="1"/>
          <p:nvPr/>
        </p:nvSpPr>
        <p:spPr>
          <a:xfrm>
            <a:off x="340360" y="95885"/>
            <a:ext cx="8909050" cy="675640"/>
          </a:xfrm>
          <a:prstGeom prst="rect">
            <a:avLst/>
          </a:prstGeom>
          <a:noFill/>
        </p:spPr>
        <p:txBody>
          <a:bodyPr wrap="square" rtlCol="0">
            <a:spAutoFit/>
          </a:bodyPr>
          <a:p>
            <a:r>
              <a:rPr lang="en-US" altLang="zh-CN" sz="2000" b="1"/>
              <a:t>Linux</a:t>
            </a:r>
            <a:r>
              <a:rPr lang="en-US" altLang="zh-CN" sz="2000" b="1">
                <a:sym typeface="+mn-ea"/>
              </a:rPr>
              <a:t>   </a:t>
            </a:r>
            <a:endParaRPr lang="en-US" altLang="zh-CN" sz="2000" b="1"/>
          </a:p>
          <a:p>
            <a:r>
              <a:rPr kumimoji="1" lang="en-US" altLang="zh-CN" b="1" dirty="0">
                <a:solidFill>
                  <a:srgbClr val="FF0000"/>
                </a:solidFill>
                <a:latin typeface="+mn-ea"/>
                <a:sym typeface="+mn-ea"/>
              </a:rPr>
              <a:t>1</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①②</a:t>
            </a:r>
            <a:r>
              <a:rPr kumimoji="1" lang="zh-CN" altLang="en-US" b="1" dirty="0">
                <a:solidFill>
                  <a:srgbClr val="FF0000"/>
                </a:solidFill>
                <a:latin typeface="+mn-ea"/>
                <a:sym typeface="+mn-ea"/>
              </a:rPr>
              <a:t>全部注释</a:t>
            </a:r>
            <a:endParaRPr lang="en-US" altLang="zh-CN"/>
          </a:p>
        </p:txBody>
      </p:sp>
      <p:sp>
        <p:nvSpPr>
          <p:cNvPr id="9" name="文本框 8"/>
          <p:cNvSpPr txBox="1"/>
          <p:nvPr>
            <p:custDataLst>
              <p:tags r:id="rId4"/>
            </p:custDataLst>
          </p:nvPr>
        </p:nvSpPr>
        <p:spPr>
          <a:xfrm>
            <a:off x="2936875" y="403225"/>
            <a:ext cx="2436495" cy="368300"/>
          </a:xfrm>
          <a:prstGeom prst="rect">
            <a:avLst/>
          </a:prstGeom>
          <a:noFill/>
        </p:spPr>
        <p:txBody>
          <a:bodyPr wrap="square" rtlCol="0" anchor="t">
            <a:spAutoFit/>
          </a:bodyPr>
          <a:p>
            <a:r>
              <a:rPr kumimoji="1" lang="en-US" altLang="zh-CN" b="1" dirty="0">
                <a:solidFill>
                  <a:srgbClr val="FF0000"/>
                </a:solidFill>
                <a:latin typeface="+mn-ea"/>
                <a:sym typeface="+mn-ea"/>
              </a:rPr>
              <a:t>2</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a:t>
            </a:r>
            <a:r>
              <a:rPr kumimoji="1" lang="zh-CN" altLang="en-US" b="1" dirty="0">
                <a:solidFill>
                  <a:srgbClr val="FF0000"/>
                </a:solidFill>
                <a:latin typeface="+mn-ea"/>
                <a:sym typeface="+mn-ea"/>
              </a:rPr>
              <a:t>放开，</a:t>
            </a:r>
            <a:r>
              <a:rPr kumimoji="1" lang="en-US" altLang="zh-CN" b="1" dirty="0">
                <a:solidFill>
                  <a:srgbClr val="FF0000"/>
                </a:solidFill>
                <a:latin typeface="+mn-ea"/>
                <a:sym typeface="+mn-ea"/>
              </a:rPr>
              <a:t>②</a:t>
            </a:r>
            <a:r>
              <a:rPr kumimoji="1" lang="zh-CN" altLang="en-US" b="1" dirty="0">
                <a:solidFill>
                  <a:srgbClr val="FF0000"/>
                </a:solidFill>
                <a:latin typeface="+mn-ea"/>
                <a:sym typeface="+mn-ea"/>
              </a:rPr>
              <a:t>注释</a:t>
            </a:r>
            <a:endParaRPr kumimoji="1" lang="zh-CN" altLang="en-US" b="1" dirty="0">
              <a:solidFill>
                <a:srgbClr val="FF0000"/>
              </a:solidFill>
              <a:latin typeface="+mn-ea"/>
              <a:sym typeface="+mn-ea"/>
            </a:endParaRPr>
          </a:p>
        </p:txBody>
      </p:sp>
      <p:sp>
        <p:nvSpPr>
          <p:cNvPr id="10" name="文本框 9"/>
          <p:cNvSpPr txBox="1"/>
          <p:nvPr>
            <p:custDataLst>
              <p:tags r:id="rId5"/>
            </p:custDataLst>
          </p:nvPr>
        </p:nvSpPr>
        <p:spPr>
          <a:xfrm>
            <a:off x="5608955" y="403225"/>
            <a:ext cx="2467610" cy="368300"/>
          </a:xfrm>
          <a:prstGeom prst="rect">
            <a:avLst/>
          </a:prstGeom>
          <a:noFill/>
        </p:spPr>
        <p:txBody>
          <a:bodyPr wrap="square" rtlCol="0" anchor="t">
            <a:spAutoFit/>
          </a:bodyPr>
          <a:p>
            <a:r>
              <a:rPr kumimoji="1" lang="en-US" altLang="zh-CN" b="1" dirty="0">
                <a:solidFill>
                  <a:srgbClr val="FF0000"/>
                </a:solidFill>
                <a:latin typeface="+mn-ea"/>
                <a:sym typeface="+mn-ea"/>
              </a:rPr>
              <a:t>3</a:t>
            </a:r>
            <a:r>
              <a:rPr kumimoji="1" lang="zh-CN" altLang="en-US" b="1" dirty="0">
                <a:solidFill>
                  <a:srgbClr val="FF0000"/>
                </a:solidFill>
                <a:latin typeface="+mn-ea"/>
                <a:sym typeface="+mn-ea"/>
              </a:rPr>
              <a:t>、</a:t>
            </a:r>
            <a:r>
              <a:rPr kumimoji="1" lang="en-US" altLang="zh-CN" b="1" dirty="0">
                <a:solidFill>
                  <a:srgbClr val="FF0000"/>
                </a:solidFill>
                <a:latin typeface="+mn-ea"/>
                <a:sym typeface="+mn-ea"/>
              </a:rPr>
              <a:t>①</a:t>
            </a:r>
            <a:r>
              <a:rPr kumimoji="1" lang="en-US" altLang="zh-CN" b="1" dirty="0">
                <a:solidFill>
                  <a:srgbClr val="FF0000"/>
                </a:solidFill>
                <a:latin typeface="+mn-ea"/>
                <a:sym typeface="+mn-ea"/>
              </a:rPr>
              <a:t>②</a:t>
            </a:r>
            <a:r>
              <a:rPr kumimoji="1" lang="zh-CN" altLang="en-US" b="1" dirty="0">
                <a:solidFill>
                  <a:srgbClr val="FF0000"/>
                </a:solidFill>
                <a:latin typeface="+mn-ea"/>
                <a:sym typeface="+mn-ea"/>
              </a:rPr>
              <a:t>放开</a:t>
            </a:r>
            <a:endParaRPr kumimoji="1" lang="zh-CN" altLang="en-US" b="1" dirty="0">
              <a:solidFill>
                <a:srgbClr val="FF0000"/>
              </a:solidFill>
              <a:latin typeface="+mn-ea"/>
              <a:sym typeface="+mn-ea"/>
            </a:endParaRPr>
          </a:p>
        </p:txBody>
      </p:sp>
      <p:sp>
        <p:nvSpPr>
          <p:cNvPr id="12" name="文本框 11"/>
          <p:cNvSpPr txBox="1"/>
          <p:nvPr/>
        </p:nvSpPr>
        <p:spPr>
          <a:xfrm>
            <a:off x="408305" y="5650230"/>
            <a:ext cx="11579225" cy="368300"/>
          </a:xfrm>
          <a:prstGeom prst="rect">
            <a:avLst/>
          </a:prstGeom>
          <a:noFill/>
        </p:spPr>
        <p:txBody>
          <a:bodyPr wrap="square" rtlCol="0" anchor="t">
            <a:spAutoFit/>
          </a:bodyPr>
          <a:p>
            <a:r>
              <a:rPr lang="zh-CN" altLang="en-US" b="1">
                <a:solidFill>
                  <a:schemeClr val="accent2"/>
                </a:solidFill>
                <a:sym typeface="+mn-ea"/>
              </a:rPr>
              <a:t>结论：</a:t>
            </a:r>
            <a:r>
              <a:rPr lang="en-US" altLang="zh-CN" b="1">
                <a:solidFill>
                  <a:schemeClr val="accent2"/>
                </a:solidFill>
                <a:sym typeface="+mn-ea"/>
              </a:rPr>
              <a:t>Linux</a:t>
            </a:r>
            <a:r>
              <a:rPr lang="zh-CN" altLang="en-US">
                <a:solidFill>
                  <a:schemeClr val="accent2"/>
                </a:solidFill>
                <a:sym typeface="+mn-ea"/>
              </a:rPr>
              <a:t>模式下，不会因为数组的内存访问越界报错</a:t>
            </a:r>
            <a:r>
              <a:rPr lang="zh-CN" altLang="en-US">
                <a:solidFill>
                  <a:schemeClr val="accent2"/>
                </a:solidFill>
                <a:sym typeface="+mn-ea"/>
              </a:rPr>
              <a:t>。</a:t>
            </a:r>
            <a:endParaRPr lang="zh-CN" altLang="en-US">
              <a:solidFill>
                <a:schemeClr val="accent2"/>
              </a:solidFill>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subTitle" idx="1"/>
          </p:nvPr>
        </p:nvSpPr>
        <p:spPr>
          <a:xfrm>
            <a:off x="180086" y="162560"/>
            <a:ext cx="11880850" cy="6480810"/>
          </a:xfrm>
        </p:spPr>
        <p:txBody>
          <a:bodyPr/>
          <a:lstStyle/>
          <a:p>
            <a:r>
              <a:rPr lang="en-US" altLang="zh-CN" sz="2800" b="1" dirty="0">
                <a:latin typeface="+mn-ea"/>
              </a:rPr>
              <a:t>§.</a:t>
            </a:r>
            <a:r>
              <a:rPr lang="zh-CN" altLang="en-US" sz="2800" b="1" dirty="0">
                <a:latin typeface="+mn-ea"/>
              </a:rPr>
              <a:t>关于动态内存申请后越界访问的深度讨论</a:t>
            </a:r>
            <a:endParaRPr lang="zh-CN" altLang="en-US" sz="2800" b="1" dirty="0">
              <a:latin typeface="+mn-ea"/>
            </a:endParaRPr>
          </a:p>
          <a:p>
            <a:pPr algn="l"/>
            <a:endParaRPr lang="en-US" altLang="zh-CN" sz="1600" b="1" dirty="0">
              <a:latin typeface="+mn-ea"/>
            </a:endParaRPr>
          </a:p>
          <a:p>
            <a:pPr algn="l"/>
            <a:r>
              <a:rPr lang="en-US" altLang="zh-CN" sz="1600" b="1" dirty="0">
                <a:latin typeface="+mn-ea"/>
              </a:rPr>
              <a:t>★ </a:t>
            </a:r>
            <a:r>
              <a:rPr lang="zh-CN" altLang="en-US" sz="1600" b="1" dirty="0">
                <a:latin typeface="+mn-ea"/>
              </a:rPr>
              <a:t>最后一页：仔细总结本作业（多种形式的测试程序</a:t>
            </a:r>
            <a:r>
              <a:rPr lang="en-US" altLang="zh-CN" sz="1600" b="1" dirty="0">
                <a:latin typeface="+mn-ea"/>
              </a:rPr>
              <a:t>/</a:t>
            </a:r>
            <a:r>
              <a:rPr lang="zh-CN" altLang="en-US" sz="1600" b="1" dirty="0">
                <a:latin typeface="+mn-ea"/>
              </a:rPr>
              <a:t>多个编译器环境</a:t>
            </a:r>
            <a:r>
              <a:rPr lang="en-US" altLang="zh-CN" sz="1600" b="1" dirty="0">
                <a:latin typeface="+mn-ea"/>
              </a:rPr>
              <a:t>/</a:t>
            </a:r>
            <a:r>
              <a:rPr lang="zh-CN" altLang="en-US" sz="1600" b="1" dirty="0">
                <a:latin typeface="+mn-ea"/>
              </a:rPr>
              <a:t>不同结论），谈谈你对内存越界访问的整体理解</a:t>
            </a:r>
            <a:endParaRPr lang="en-US" altLang="zh-CN" sz="1600" b="1" dirty="0">
              <a:latin typeface="+mn-ea"/>
            </a:endParaRPr>
          </a:p>
          <a:p>
            <a:pPr algn="l"/>
            <a:r>
              <a:rPr lang="en-US" altLang="zh-CN" sz="1600" b="1" dirty="0">
                <a:latin typeface="+mn-ea"/>
              </a:rPr>
              <a:t>             </a:t>
            </a:r>
            <a:r>
              <a:rPr lang="zh-CN" altLang="en-US" sz="1600" b="1" dirty="0">
                <a:latin typeface="+mn-ea"/>
              </a:rPr>
              <a:t>包括但不限于操作系统</a:t>
            </a:r>
            <a:r>
              <a:rPr lang="en-US" altLang="zh-CN" sz="1600" b="1" dirty="0">
                <a:latin typeface="+mn-ea"/>
              </a:rPr>
              <a:t>/</a:t>
            </a:r>
            <a:r>
              <a:rPr lang="zh-CN" altLang="en-US" sz="1600" b="1" dirty="0">
                <a:latin typeface="+mn-ea"/>
              </a:rPr>
              <a:t>编译器如何防范越界、你应该养成怎样的使用习惯来尽量防范越界</a:t>
            </a:r>
            <a:endParaRPr lang="zh-CN" altLang="en-US" sz="1600" b="1" dirty="0">
              <a:latin typeface="+mn-ea"/>
            </a:endParaRPr>
          </a:p>
          <a:p>
            <a:pPr algn="l"/>
            <a:endParaRPr lang="zh-CN" altLang="en-US" sz="1600" b="1" dirty="0">
              <a:latin typeface="+mn-ea"/>
            </a:endParaRPr>
          </a:p>
          <a:p>
            <a:pPr algn="l"/>
            <a:endParaRPr lang="zh-CN" altLang="en-US" sz="1600" b="1" dirty="0">
              <a:solidFill>
                <a:schemeClr val="accent2"/>
              </a:solidFill>
              <a:latin typeface="+mn-ea"/>
            </a:endParaRPr>
          </a:p>
        </p:txBody>
      </p:sp>
      <p:sp>
        <p:nvSpPr>
          <p:cNvPr id="2" name="文本框 1"/>
          <p:cNvSpPr txBox="1"/>
          <p:nvPr/>
        </p:nvSpPr>
        <p:spPr>
          <a:xfrm>
            <a:off x="1818005" y="2241550"/>
            <a:ext cx="8006080" cy="3415030"/>
          </a:xfrm>
          <a:prstGeom prst="rect">
            <a:avLst/>
          </a:prstGeom>
          <a:noFill/>
        </p:spPr>
        <p:txBody>
          <a:bodyPr wrap="square" rtlCol="0" anchor="t">
            <a:spAutoFit/>
          </a:bodyPr>
          <a:p>
            <a:pPr algn="l"/>
            <a:r>
              <a:rPr lang="zh-CN" altLang="en-US" b="1" dirty="0">
                <a:solidFill>
                  <a:schemeClr val="accent2"/>
                </a:solidFill>
                <a:latin typeface="+mn-ea"/>
                <a:sym typeface="+mn-ea"/>
              </a:rPr>
              <a:t>总结：</a:t>
            </a:r>
            <a:endParaRPr lang="zh-CN" altLang="en-US" b="1" dirty="0">
              <a:solidFill>
                <a:schemeClr val="accent2"/>
              </a:solidFill>
              <a:latin typeface="+mn-ea"/>
            </a:endParaRPr>
          </a:p>
          <a:p>
            <a:pPr algn="l"/>
            <a:r>
              <a:rPr lang="zh-CN" altLang="en-US" b="1" dirty="0">
                <a:solidFill>
                  <a:schemeClr val="accent2"/>
                </a:solidFill>
                <a:latin typeface="+mn-ea"/>
                <a:sym typeface="+mn-ea"/>
              </a:rPr>
              <a:t> </a:t>
            </a:r>
            <a:r>
              <a:rPr lang="en-US" altLang="zh-CN" b="1" dirty="0">
                <a:solidFill>
                  <a:schemeClr val="accent2"/>
                </a:solidFill>
                <a:latin typeface="+mn-ea"/>
                <a:sym typeface="+mn-ea"/>
              </a:rPr>
              <a:t>   </a:t>
            </a:r>
            <a:r>
              <a:rPr lang="zh-CN" altLang="en-US" b="1" dirty="0">
                <a:solidFill>
                  <a:schemeClr val="accent2"/>
                </a:solidFill>
                <a:latin typeface="+mn-ea"/>
                <a:sym typeface="+mn-ea"/>
              </a:rPr>
              <a:t>部分操作系统或编译器有内存保护机制，防止程序访问未分配的内存区域。当程序尝试访问不属于它的内存时，操作系统会抛出异常，终止程序。这种机制有效地防止了某些类型的内存越界访问。在VS2022的x86/Debug模式下，编译器会在动态分配的内存块前后添加特定值，以检测越界访问。当访问这些特定值并且修改了它们时，程序会报错。而在其他模式下以及Linux环境下，编译器通常不会添加这些保护机制，因此越界访问不会引发错误，导致潜在的严重后果。</a:t>
            </a:r>
            <a:r>
              <a:rPr lang="en-US" altLang="zh-CN" b="1" dirty="0">
                <a:solidFill>
                  <a:schemeClr val="accent2"/>
                </a:solidFill>
                <a:latin typeface="+mn-ea"/>
                <a:sym typeface="+mn-ea"/>
              </a:rPr>
              <a:t> </a:t>
            </a:r>
            <a:endParaRPr lang="zh-CN" altLang="en-US" b="1" dirty="0">
              <a:solidFill>
                <a:schemeClr val="accent2"/>
              </a:solidFill>
              <a:latin typeface="+mn-ea"/>
            </a:endParaRPr>
          </a:p>
          <a:p>
            <a:pPr algn="l"/>
            <a:r>
              <a:rPr lang="en-US" altLang="zh-CN" b="1" dirty="0">
                <a:solidFill>
                  <a:schemeClr val="accent2"/>
                </a:solidFill>
                <a:latin typeface="+mn-ea"/>
                <a:sym typeface="+mn-ea"/>
              </a:rPr>
              <a:t>    为了尽量防范内存越界访问</a:t>
            </a:r>
            <a:r>
              <a:rPr lang="zh-CN" altLang="en-US" b="1" dirty="0">
                <a:solidFill>
                  <a:schemeClr val="accent2"/>
                </a:solidFill>
                <a:latin typeface="+mn-ea"/>
                <a:sym typeface="+mn-ea"/>
              </a:rPr>
              <a:t>，我们在编写代码时要了解各种操作系统和编译器在防范上采取的措施，机制的工作原理；同时要养成良好的编程习惯，以减少内存越界带来的风险。通过合理的内存管理、边界检查及使用合适的工具，可以有效预防和检测内存越界问题，提高程序的安全性和稳定性。</a:t>
            </a:r>
            <a:endParaRPr lang="zh-CN" altLang="en-US" b="1" dirty="0">
              <a:solidFill>
                <a:schemeClr val="accent2"/>
              </a:solidFill>
              <a:latin typeface="+mn-ea"/>
              <a:sym typeface="+mn-ea"/>
            </a:endParaRPr>
          </a:p>
        </p:txBody>
      </p:sp>
    </p:spTree>
  </p:cSld>
  <p:clrMapOvr>
    <a:masterClrMapping/>
  </p:clrMapOvr>
  <p:transition/>
</p:sld>
</file>

<file path=ppt/tags/tag1.xml><?xml version="1.0" encoding="utf-8"?>
<p:tagLst xmlns:p="http://schemas.openxmlformats.org/presentationml/2006/main">
  <p:tag name="KSO_WM_DIAGRAM_VIRTUALLY_FRAME" val="{&quot;height&quot;:361,&quot;left&quot;:231.25,&quot;top&quot;:31.75,&quot;width&quot;:612.1}"/>
</p:tagLst>
</file>

<file path=ppt/tags/tag2.xml><?xml version="1.0" encoding="utf-8"?>
<p:tagLst xmlns:p="http://schemas.openxmlformats.org/presentationml/2006/main">
  <p:tag name="KSO_WM_DIAGRAM_VIRTUALLY_FRAME" val="{&quot;height&quot;:361,&quot;left&quot;:231.25,&quot;top&quot;:31.75,&quot;width&quot;:612.1}"/>
</p:tagLst>
</file>

<file path=ppt/tags/tag3.xml><?xml version="1.0" encoding="utf-8"?>
<p:tagLst xmlns:p="http://schemas.openxmlformats.org/presentationml/2006/main">
  <p:tag name="KSO_WM_DIAGRAM_VIRTUALLY_FRAME" val="{&quot;height&quot;:361,&quot;left&quot;:231.25,&quot;top&quot;:31.75,&quot;width&quot;:612.1}"/>
</p:tagLst>
</file>

<file path=ppt/tags/tag4.xml><?xml version="1.0" encoding="utf-8"?>
<p:tagLst xmlns:p="http://schemas.openxmlformats.org/presentationml/2006/main">
  <p:tag name="KSO_WM_DIAGRAM_VIRTUALLY_FRAME" val="{&quot;height&quot;:361,&quot;left&quot;:231.25,&quot;top&quot;:31.75,&quot;width&quot;:612.1}"/>
</p:tagLst>
</file>

<file path=ppt/tags/tag5.xml><?xml version="1.0" encoding="utf-8"?>
<p:tagLst xmlns:p="http://schemas.openxmlformats.org/presentationml/2006/main">
  <p:tag name="KSO_WM_DIAGRAM_VIRTUALLY_FRAME" val="{&quot;height&quot;:361,&quot;left&quot;:231.25,&quot;top&quot;:31.75,&quot;width&quot;:612.1}"/>
</p:tagLst>
</file>

<file path=ppt/tags/tag6.xml><?xml version="1.0" encoding="utf-8"?>
<p:tagLst xmlns:p="http://schemas.openxmlformats.org/presentationml/2006/main">
  <p:tag name="KSO_WM_DIAGRAM_VIRTUALLY_FRAME" val="{&quot;height&quot;:361,&quot;left&quot;:231.25,&quot;top&quot;:31.75,&quot;width&quot;:612.1}"/>
</p:tagLst>
</file>

<file path=ppt/tags/tag7.xml><?xml version="1.0" encoding="utf-8"?>
<p:tagLst xmlns:p="http://schemas.openxmlformats.org/presentationml/2006/main">
  <p:tag name="KSO_WM_DIAGRAM_VIRTUALLY_FRAME" val="{&quot;height&quot;:403.5,&quot;left&quot;:231.25,&quot;top&quot;:31.75,&quot;width&quot;:452.3}"/>
</p:tagLst>
</file>

<file path=ppt/tags/tag8.xml><?xml version="1.0" encoding="utf-8"?>
<p:tagLst xmlns:p="http://schemas.openxmlformats.org/presentationml/2006/main">
  <p:tag name="KSO_WM_DIAGRAM_VIRTUALLY_FRAME" val="{&quot;height&quot;:403.5,&quot;left&quot;:231.25,&quot;top&quot;:31.75,&quot;width&quot;:452.3}"/>
</p:tagLst>
</file>

<file path=ppt/tags/tag9.xml><?xml version="1.0" encoding="utf-8"?>
<p:tagLst xmlns:p="http://schemas.openxmlformats.org/presentationml/2006/main">
  <p:tag name="KSO_WM_DIAGRAM_VIRTUALLY_FRAME" val="{&quot;height&quot;:361,&quot;left&quot;:231.25,&quot;top&quot;:31.75,&quot;width&quot;:612.1}"/>
</p:tagLst>
</file>

<file path=ppt/tags/tag10.xml><?xml version="1.0" encoding="utf-8"?>
<p:tagLst xmlns:p="http://schemas.openxmlformats.org/presentationml/2006/main">
  <p:tag name="KSO_WM_DIAGRAM_VIRTUALLY_FRAME" val="{&quot;height&quot;:361,&quot;left&quot;:231.25,&quot;top&quot;:31.75,&quot;width&quot;:612.1}"/>
</p:tagLst>
</file>

<file path=ppt/tags/tag11.xml><?xml version="1.0" encoding="utf-8"?>
<p:tagLst xmlns:p="http://schemas.openxmlformats.org/presentationml/2006/main">
  <p:tag name="KSO_WM_DIAGRAM_VIRTUALLY_FRAME" val="{&quot;height&quot;:361,&quot;left&quot;:231.25,&quot;top&quot;:31.75,&quot;width&quot;:612.1}"/>
</p:tagLst>
</file>

<file path=ppt/tags/tag12.xml><?xml version="1.0" encoding="utf-8"?>
<p:tagLst xmlns:p="http://schemas.openxmlformats.org/presentationml/2006/main">
  <p:tag name="KSO_WM_DIAGRAM_VIRTUALLY_FRAME" val="{&quot;height&quot;:361,&quot;left&quot;:231.25,&quot;top&quot;:31.75,&quot;width&quot;:612.1}"/>
</p:tagLst>
</file>

<file path=ppt/tags/tag13.xml><?xml version="1.0" encoding="utf-8"?>
<p:tagLst xmlns:p="http://schemas.openxmlformats.org/presentationml/2006/main">
  <p:tag name="commondata" val="eyJoZGlkIjoiZDc1ZjNmMDk0NWFhNjg2YWU2ZDlmOThlYjIyMWYxMzYifQ=="/>
</p:tagLst>
</file>

<file path=ppt/theme/theme1.xml><?xml version="1.0" encoding="utf-8"?>
<a:theme xmlns:a="http://schemas.openxmlformats.org/drawingml/2006/main" name="默认设计模板">
  <a:themeElements>
    <a:clrScheme name="自定义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FF0000"/>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6919</Words>
  <Application>WPS 演示</Application>
  <PresentationFormat>宽屏</PresentationFormat>
  <Paragraphs>401</Paragraphs>
  <Slides>24</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24</vt:i4>
      </vt:variant>
    </vt:vector>
  </HeadingPairs>
  <TitlesOfParts>
    <vt:vector size="33" baseType="lpstr">
      <vt:lpstr>Arial</vt:lpstr>
      <vt:lpstr>宋体</vt:lpstr>
      <vt:lpstr>Wingdings</vt:lpstr>
      <vt:lpstr>Times New Roman</vt:lpstr>
      <vt:lpstr>微软雅黑</vt:lpstr>
      <vt:lpstr>Arial Unicode MS</vt:lpstr>
      <vt:lpstr>等线</vt:lpstr>
      <vt:lpstr>Calibri</vt:lpstr>
      <vt:lpstr>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Larry</dc:creator>
  <cp:lastModifiedBy>染墨相思</cp:lastModifiedBy>
  <cp:revision>32</cp:revision>
  <dcterms:created xsi:type="dcterms:W3CDTF">2020-08-13T13:39:00Z</dcterms:created>
  <dcterms:modified xsi:type="dcterms:W3CDTF">2024-10-15T08:11:34Z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27D2D3056A7D4143BBF3274569DB09C3_12</vt:lpwstr>
  </property>
  <property fmtid="{D5CDD505-2E9C-101B-9397-08002B2CF9AE}" pid="3" name="KSOProductBuildVer">
    <vt:lpwstr>2052-12.1.0.18608</vt:lpwstr>
  </property>
</Properties>
</file>