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2" r:id="rId3"/>
    <p:sldId id="1237" r:id="rId4"/>
    <p:sldId id="643" r:id="rId6"/>
    <p:sldId id="558" r:id="rId7"/>
    <p:sldId id="1238" r:id="rId8"/>
    <p:sldId id="1251" r:id="rId9"/>
    <p:sldId id="1239" r:id="rId10"/>
    <p:sldId id="1244" r:id="rId11"/>
    <p:sldId id="1240" r:id="rId12"/>
    <p:sldId id="1241" r:id="rId13"/>
    <p:sldId id="1242" r:id="rId14"/>
    <p:sldId id="1243" r:id="rId15"/>
    <p:sldId id="1246" r:id="rId16"/>
    <p:sldId id="1247" r:id="rId17"/>
    <p:sldId id="1245" r:id="rId18"/>
    <p:sldId id="1248" r:id="rId19"/>
    <p:sldId id="1250" r:id="rId20"/>
    <p:sldId id="1249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功能：向标准输出设备输出一个字符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字符串常量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变量，输出长度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功能：向标准输出设备输出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超过串长，则输出串长）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706551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str[] = "Hello";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nn-NO" altLang="zh-CN" sz="1600" b="1" dirty="0">
                <a:latin typeface="+mn-ea"/>
              </a:rPr>
              <a:t>    for (i = 0; i &lt; 5; i++)</a:t>
            </a:r>
            <a:endParaRPr lang="nn-NO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(str[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]);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('H').put('e').put('l').put('l').put('o').put(0x0A);</a:t>
            </a:r>
            <a:endParaRPr lang="en-US" altLang="zh-CN" sz="1600" b="1" dirty="0"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运行结果：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305" y="5118735"/>
            <a:ext cx="1428750" cy="1019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用于字符输出的流成员函数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s1[] = "Hello";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(s1, 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s2[] = { 'H', 'e', 'l', 'l', 'o' };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cout.write</a:t>
            </a:r>
            <a:r>
              <a:rPr lang="en-US" altLang="zh-CN" sz="1600" b="1" dirty="0">
                <a:latin typeface="+mn-ea"/>
              </a:rPr>
              <a:t>(s2, 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cout.put</a:t>
            </a:r>
            <a:r>
              <a:rPr lang="en-US" altLang="zh-CN" sz="1600" b="1" dirty="0">
                <a:latin typeface="+mn-ea"/>
              </a:rPr>
              <a:t>('\n');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的参数是字符串</a:t>
            </a:r>
            <a:r>
              <a:rPr lang="en-US" altLang="zh-CN" sz="1600" b="1" dirty="0">
                <a:latin typeface="+mn-ea"/>
              </a:rPr>
              <a:t>(s1)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先输出字符串，接着输出未定义的内容直到达到规定长度。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当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的参数非字符串</a:t>
            </a:r>
            <a:r>
              <a:rPr lang="en-US" altLang="zh-CN" sz="1600" b="1" dirty="0">
                <a:latin typeface="+mn-ea"/>
              </a:rPr>
              <a:t>(s2)</a:t>
            </a:r>
            <a:r>
              <a:rPr lang="zh-CN" altLang="en-US" sz="1600" b="1" dirty="0">
                <a:latin typeface="+mn-ea"/>
              </a:rPr>
              <a:t>，且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要写的长度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超过字符串长度时的表现：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先输出字符串，接着输出未定义的内容直到达到规定长度。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结论：用</a:t>
            </a:r>
            <a:r>
              <a:rPr lang="en-US" altLang="zh-CN" sz="1600" b="1" dirty="0">
                <a:latin typeface="+mn-ea"/>
              </a:rPr>
              <a:t>write</a:t>
            </a:r>
            <a:r>
              <a:rPr lang="zh-CN" altLang="en-US" sz="1600" b="1" dirty="0">
                <a:latin typeface="+mn-ea"/>
              </a:rPr>
              <a:t>向标准输出设备输出指定个数的字符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时，输出缓冲区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__</a:t>
            </a:r>
            <a:r>
              <a:rPr lang="zh-CN" altLang="en-US" sz="1600" b="1" u="sng" dirty="0">
                <a:solidFill>
                  <a:schemeClr val="accent2"/>
                </a:solidFill>
                <a:latin typeface="+mn-ea"/>
              </a:rPr>
              <a:t>不要求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_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不要求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是字符串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8905" y="1014730"/>
            <a:ext cx="1285875" cy="11798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cout.unsetf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控制标记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功能：清除指定的控制标记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右表为常用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宽度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功能：设置指定的输出宽度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功能：设置填充字节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精度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功能：设置浮点数的输出精度</a:t>
            </a:r>
            <a:endParaRPr lang="zh-CN" altLang="en-US" sz="1600" b="1" dirty="0">
              <a:latin typeface="+mn-ea"/>
            </a:endParaRPr>
          </a:p>
        </p:txBody>
      </p:sp>
      <p:graphicFrame>
        <p:nvGraphicFramePr>
          <p:cNvPr id="5" name="表格 11"/>
          <p:cNvGraphicFramePr/>
          <p:nvPr/>
        </p:nvGraphicFramePr>
        <p:xfrm>
          <a:off x="4566084" y="1278106"/>
          <a:ext cx="7253585" cy="23988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7185"/>
                <a:gridCol w="5486400"/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控制标记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cin</a:t>
                      </a:r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，不适用于</a:t>
                      </a:r>
                      <a:r>
                        <a:rPr lang="en-US" altLang="zh-CN" sz="1600" b="1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cout</a:t>
                      </a:r>
                      <a:r>
                        <a:rPr lang="en-US" altLang="zh-CN" sz="16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s1[] = "Hello";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__setw(10)_</a:t>
            </a:r>
            <a:endParaRPr lang="en-US" altLang="zh-CN" sz="1600" b="1" u="sng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</a:t>
            </a:r>
            <a:r>
              <a:rPr lang="zh-CN" altLang="en-US" sz="1600" b="1" u="sng" dirty="0">
                <a:solidFill>
                  <a:schemeClr val="accent2"/>
                </a:solidFill>
                <a:latin typeface="+mn-ea"/>
                <a:sym typeface="+mn-ea"/>
              </a:rPr>
              <a:t>仅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  <a:sym typeface="+mn-ea"/>
              </a:rPr>
              <a:t>1</a:t>
            </a:r>
            <a:r>
              <a:rPr lang="zh-CN" altLang="en-US" sz="1600" b="1" u="sng" dirty="0">
                <a:solidFill>
                  <a:schemeClr val="accent2"/>
                </a:solidFill>
                <a:latin typeface="+mn-ea"/>
                <a:sym typeface="+mn-ea"/>
              </a:rPr>
              <a:t>次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9865" y="1031240"/>
            <a:ext cx="2800350" cy="1209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s1[] = "Hello";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('$');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(12);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(' ');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80074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___setfill()___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__</a:t>
            </a:r>
            <a:r>
              <a:rPr lang="zh-CN" altLang="en-US" sz="1600" b="1" u="sng" dirty="0">
                <a:solidFill>
                  <a:schemeClr val="accent2"/>
                </a:solidFill>
                <a:latin typeface="+mn-ea"/>
                <a:sym typeface="+mn-ea"/>
              </a:rPr>
              <a:t>始终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__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、默认的</a:t>
            </a:r>
            <a:r>
              <a:rPr lang="en-US" altLang="zh-CN" sz="1600" b="1" dirty="0" err="1">
                <a:latin typeface="+mn-ea"/>
              </a:rPr>
              <a:t>cout.fill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设置是哪个字符？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空格</a:t>
            </a:r>
            <a:endParaRPr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0" y="810895"/>
            <a:ext cx="2962275" cy="14573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s1[] = "Hello";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80355" y="1244600"/>
            <a:ext cx="6036945" cy="49682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setiosflags(left)</a:t>
            </a:r>
            <a:endParaRPr lang="en-US" altLang="zh-CN" sz="1600" b="1" u="sng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__</a:t>
            </a:r>
            <a:r>
              <a:rPr lang="zh-CN" altLang="en-US" sz="1600" b="1" u="sng" dirty="0">
                <a:solidFill>
                  <a:schemeClr val="accent2"/>
                </a:solidFill>
                <a:latin typeface="+mn-ea"/>
                <a:sym typeface="+mn-ea"/>
              </a:rPr>
              <a:t>始终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</a:rPr>
              <a:t>__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770" y="1019175"/>
            <a:ext cx="2676525" cy="12477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822049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s1[] = "Hello";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80355" y="1244600"/>
            <a:ext cx="6154420" cy="49682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  <a:sym typeface="+mn-ea"/>
              </a:rPr>
              <a:t>setiosflags(left)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 </a:t>
            </a:r>
            <a:r>
              <a:rPr lang="zh-CN" altLang="en-US" sz="1600" b="1" dirty="0">
                <a:latin typeface="+mn-ea"/>
              </a:rPr>
              <a:t>等价于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u="sng" dirty="0">
                <a:solidFill>
                  <a:schemeClr val="accent2"/>
                </a:solidFill>
                <a:latin typeface="+mn-ea"/>
                <a:sym typeface="+mn-ea"/>
              </a:rPr>
              <a:t>setiosflags(right)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设置后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始终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仅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始终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有效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、不设置默认是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右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对齐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left</a:t>
            </a:r>
            <a:r>
              <a:rPr lang="zh-CN" altLang="en-US" sz="1600" b="1" dirty="0">
                <a:latin typeface="+mn-ea"/>
              </a:rPr>
              <a:t>后设置</a:t>
            </a:r>
            <a:r>
              <a:rPr lang="en-US" altLang="zh-CN" sz="1600" b="1" dirty="0">
                <a:latin typeface="+mn-ea"/>
              </a:rPr>
              <a:t>right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无效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right</a:t>
            </a:r>
            <a:r>
              <a:rPr lang="zh-CN" altLang="en-US" sz="1600" b="1" dirty="0">
                <a:latin typeface="+mn-ea"/>
              </a:rPr>
              <a:t>后设置</a:t>
            </a:r>
            <a:r>
              <a:rPr lang="en-US" altLang="zh-CN" sz="1600" b="1" dirty="0">
                <a:latin typeface="+mn-ea"/>
              </a:rPr>
              <a:t>left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无效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_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有效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无效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035" y="897890"/>
            <a:ext cx="2800350" cy="14763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cont.unsetf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char s1[] = "Hello";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cout.width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cout.unsetf(ios::right);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s1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所用的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.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unsetf(ios::right)</a:t>
            </a:r>
            <a:r>
              <a:rPr lang="zh-CN" altLang="en-US" sz="1600" b="1" dirty="0">
                <a:latin typeface="+mn-ea"/>
              </a:rPr>
              <a:t>等价于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resetiosflags(ios::right);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0158" y="1681535"/>
            <a:ext cx="1609524" cy="6666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、不做任何设置的情况下，浮点数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默认为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小数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小数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指数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方式；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不设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的输出宽度默认为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、默认情况下，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设定的宽度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145" y="942975"/>
            <a:ext cx="2237740" cy="12287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::fixed);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600"/>
            <a:ext cx="4725035" cy="49682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默认的宽度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为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，设定的宽度是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____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1030" y="939800"/>
            <a:ext cx="2389505" cy="12414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cout.setf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ios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::scientific);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(3);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(5);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(20);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、加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</a:t>
            </a:r>
            <a:r>
              <a:rPr lang="en-US" altLang="zh-CN" sz="1600" b="1" dirty="0">
                <a:latin typeface="+mn-ea"/>
              </a:rPr>
              <a:t>precision</a:t>
            </a:r>
            <a:r>
              <a:rPr lang="zh-CN" altLang="en-US" sz="1600" b="1" dirty="0">
                <a:latin typeface="+mn-ea"/>
              </a:rPr>
              <a:t>默认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的宽度为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，设定的宽度是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全部数据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小数部分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、宽度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小数点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、如果宽度超过有效位数，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则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可以</a:t>
            </a:r>
            <a:r>
              <a:rPr lang="en-US" altLang="zh-CN" sz="1600" b="1" dirty="0">
                <a:latin typeface="+mn-ea"/>
              </a:rPr>
              <a:t>_____(</a:t>
            </a:r>
            <a:r>
              <a:rPr lang="zh-CN" altLang="en-US" sz="1600" b="1" dirty="0">
                <a:latin typeface="+mn-ea"/>
              </a:rPr>
              <a:t>可以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不可以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显示，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超出有效位数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可信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不可信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285" y="1003300"/>
            <a:ext cx="2410460" cy="12052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错误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1670" y="1118870"/>
            <a:ext cx="2819400" cy="990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结论：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先设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</a:t>
            </a:r>
            <a:r>
              <a:rPr lang="zh-CN" altLang="en-US" sz="1600" b="1" dirty="0">
                <a:latin typeface="+mn-ea"/>
              </a:rPr>
              <a:t>后，再设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，则输出显示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错误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2305" y="1193800"/>
            <a:ext cx="2847975" cy="9429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cout.unsetf(ios::fixed);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2714" y="1586576"/>
            <a:ext cx="1333333" cy="3238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用于字符输出控制的流成员函数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5385575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double d = 123.456789123456;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::scientific);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cout.unsetf(ios::scientific);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此处添句话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需用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函数名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cout.setf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::fixed);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cout.precision</a:t>
            </a:r>
            <a:r>
              <a:rPr lang="en-US" altLang="zh-CN" sz="1600" b="1" dirty="0">
                <a:latin typeface="+mn-ea"/>
              </a:rPr>
              <a:t>(10);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'*'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43600" y="1244870"/>
            <a:ext cx="4258523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b="1" dirty="0">
                <a:latin typeface="+mn-ea"/>
              </a:rPr>
              <a:t>将程序补充完整，得到期望的运行结果：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提示：回忆并参考第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章的作业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550" y="1564695"/>
            <a:ext cx="1352381" cy="342857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8308</Words>
  <Application>WPS 演示</Application>
  <PresentationFormat>宽屏</PresentationFormat>
  <Paragraphs>566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70</cp:revision>
  <dcterms:created xsi:type="dcterms:W3CDTF">2020-08-13T13:39:00Z</dcterms:created>
  <dcterms:modified xsi:type="dcterms:W3CDTF">2024-10-27T12:14:20Z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EE31FDBE2D4744A992FF216744FC4800_12</vt:lpwstr>
  </property>
  <property fmtid="{D5CDD505-2E9C-101B-9397-08002B2CF9AE}" pid="3" name="KSOProductBuildVer">
    <vt:lpwstr>2052-12.1.0.18608</vt:lpwstr>
  </property>
</Properties>
</file>