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552" r:id="rId3"/>
    <p:sldId id="1237" r:id="rId4"/>
    <p:sldId id="644" r:id="rId6"/>
    <p:sldId id="643" r:id="rId7"/>
    <p:sldId id="558" r:id="rId8"/>
    <p:sldId id="645" r:id="rId9"/>
    <p:sldId id="646" r:id="rId10"/>
    <p:sldId id="632" r:id="rId11"/>
    <p:sldId id="647" r:id="rId12"/>
    <p:sldId id="648" r:id="rId13"/>
    <p:sldId id="649" r:id="rId14"/>
    <p:sldId id="633" r:id="rId15"/>
    <p:sldId id="650" r:id="rId16"/>
    <p:sldId id="634" r:id="rId17"/>
    <p:sldId id="635" r:id="rId18"/>
    <p:sldId id="651" r:id="rId19"/>
    <p:sldId id="636" r:id="rId20"/>
    <p:sldId id="591" r:id="rId21"/>
    <p:sldId id="637" r:id="rId22"/>
    <p:sldId id="638" r:id="rId23"/>
    <p:sldId id="640" r:id="rId24"/>
    <p:sldId id="653" r:id="rId25"/>
    <p:sldId id="639" r:id="rId26"/>
    <p:sldId id="654" r:id="rId27"/>
    <p:sldId id="655" r:id="rId28"/>
    <p:sldId id="641" r:id="rId29"/>
    <p:sldId id="642" r:id="rId30"/>
    <p:sldId id="656" r:id="rId31"/>
    <p:sldId id="657" r:id="rId32"/>
    <p:sldId id="658" r:id="rId33"/>
  </p:sldIdLst>
  <p:sldSz cx="12192000" cy="6858000"/>
  <p:notesSz cx="6858000" cy="9144000"/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7" Type="http://schemas.openxmlformats.org/officeDocument/2006/relationships/tags" Target="tags/tag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65E6376-A889-419B-BC94-8D1A3A08F74E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6D9F12-298F-4BA9-885E-BCD438E8F58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C42DF3-6CE2-4BE7-9CDC-EAAC6AF6F41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33B832-CABD-439C-B200-DDE8714B0B3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DC15D7-5788-41E7-9CAD-BCD4FE0C0C0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29E1C2-8757-4943-BB0D-44D6A40AC3C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2EE0AD-AA26-4B0C-B2A5-065307B6925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B4B751-1B33-4FAC-96B1-4F4734F155A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FADDAC-226E-4E74-A9C7-8EDB750CC12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0F1364-7677-4F0D-B113-A10E8B7764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AEEE96-D9F8-4AA5-9180-644B18AD31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7B05AA-070D-443F-9B69-C3D4A9E3AB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43E456CB-F1D9-4742-BD7D-0EF249B6CED9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en-US" altLang="zh-CN" sz="28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、完成本文档中所有的测试程序并填写运行结果，从而体会这些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的流成员函数的用法及区别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、题目明确指定编译器外，缺省使用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★ </a:t>
            </a:r>
            <a:r>
              <a:rPr lang="zh-CN" altLang="en-US" sz="1600" b="1" dirty="0">
                <a:latin typeface="+mn-ea"/>
              </a:rPr>
              <a:t>如果要换成其他编译器，可能需要自行修改头文件适配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</a:t>
            </a: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部分代码编译时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有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，不影响概念理解，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可以忽略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10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31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</a:t>
            </a:r>
            <a:r>
              <a:rPr lang="zh-CN" altLang="en-US" sz="1600" b="1">
                <a:latin typeface="+mn-ea"/>
              </a:rPr>
              <a:t>提交）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注意：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，则观察源程序编辑窗口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>
              <a:spcBef>
                <a:spcPts val="385"/>
              </a:spcBef>
            </a:pPr>
            <a:endParaRPr lang="en-US" altLang="zh-CN" sz="1600" b="1" dirty="0">
              <a:latin typeface="+mn-ea"/>
            </a:endParaRPr>
          </a:p>
          <a:p>
            <a:pPr algn="l">
              <a:spcBef>
                <a:spcPts val="385"/>
              </a:spcBef>
            </a:pPr>
            <a:r>
              <a:rPr lang="zh-CN" altLang="en-US" sz="1600" b="1" dirty="0">
                <a:latin typeface="+mn-ea"/>
              </a:rPr>
              <a:t>基本概念：</a:t>
            </a:r>
            <a:endParaRPr lang="zh-CN" altLang="en-US" sz="1600" b="1" dirty="0">
              <a:latin typeface="+mn-ea"/>
            </a:endParaRPr>
          </a:p>
          <a:p>
            <a:pPr algn="l">
              <a:spcBef>
                <a:spcPts val="385"/>
              </a:spcBef>
            </a:pPr>
            <a:r>
              <a:rPr lang="zh-CN" altLang="en-US" sz="1600" b="1" dirty="0">
                <a:latin typeface="+mn-ea"/>
              </a:rPr>
              <a:t>文件结束符：表示文件结束的特殊标记</a:t>
            </a:r>
            <a:endParaRPr lang="zh-CN" altLang="en-US" sz="1600" b="1" dirty="0">
              <a:latin typeface="+mn-ea"/>
            </a:endParaRPr>
          </a:p>
          <a:p>
            <a:pPr algn="l">
              <a:spcBef>
                <a:spcPts val="385"/>
              </a:spcBef>
            </a:pPr>
            <a:r>
              <a:rPr lang="zh-CN" altLang="en-US" sz="1600" b="1" dirty="0">
                <a:latin typeface="+mn-ea"/>
              </a:rPr>
              <a:t>  ★ 一般用</a:t>
            </a:r>
            <a:r>
              <a:rPr lang="en-US" altLang="zh-CN" sz="1600" b="1" dirty="0">
                <a:latin typeface="+mn-ea"/>
              </a:rPr>
              <a:t>CTRL+Z</a:t>
            </a:r>
            <a:r>
              <a:rPr lang="zh-CN" altLang="en-US" sz="1600" b="1" dirty="0">
                <a:latin typeface="+mn-ea"/>
              </a:rPr>
              <a:t>表示键盘输入文件结束符</a:t>
            </a:r>
            <a:endParaRPr lang="zh-CN" altLang="en-US" sz="1600" b="1" dirty="0">
              <a:latin typeface="+mn-ea"/>
            </a:endParaRPr>
          </a:p>
          <a:p>
            <a:pPr algn="l">
              <a:spcBef>
                <a:spcPts val="385"/>
              </a:spcBef>
            </a:pPr>
            <a:endParaRPr lang="en-US" altLang="zh-CN" sz="1600" b="1" dirty="0">
              <a:latin typeface="+mn-ea"/>
            </a:endParaRPr>
          </a:p>
          <a:p>
            <a:pPr algn="l">
              <a:spcBef>
                <a:spcPts val="385"/>
              </a:spcBef>
            </a:pPr>
            <a:r>
              <a:rPr lang="zh-CN" altLang="en-US" sz="1600" b="1" dirty="0">
                <a:latin typeface="+mn-ea"/>
              </a:rPr>
              <a:t>文件结束标记：判断文件是否结束的标记，用宏定义</a:t>
            </a:r>
            <a:r>
              <a:rPr lang="en-US" altLang="zh-CN" sz="1600" b="1" dirty="0">
                <a:latin typeface="+mn-ea"/>
              </a:rPr>
              <a:t>EOF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End Of File</a:t>
            </a:r>
            <a:r>
              <a:rPr lang="zh-CN" altLang="en-US" sz="1600" b="1" dirty="0">
                <a:latin typeface="+mn-ea"/>
              </a:rPr>
              <a:t>）来表示</a:t>
            </a:r>
            <a:endParaRPr lang="zh-CN" altLang="en-US" sz="1600" b="1" dirty="0">
              <a:latin typeface="+mn-ea"/>
            </a:endParaRPr>
          </a:p>
          <a:p>
            <a:pPr algn="l" eaLnBrk="0" hangingPunct="0">
              <a:spcBef>
                <a:spcPts val="385"/>
              </a:spcBef>
            </a:pPr>
            <a:r>
              <a:rPr lang="zh-CN" altLang="en-US" sz="1600" b="1" dirty="0">
                <a:latin typeface="+mn-ea"/>
              </a:rPr>
              <a:t>  ★ 不同系统</a:t>
            </a:r>
            <a:r>
              <a:rPr lang="en-US" altLang="zh-CN" sz="1600" b="1" dirty="0">
                <a:latin typeface="+mn-ea"/>
              </a:rPr>
              <a:t>EOF</a:t>
            </a:r>
            <a:r>
              <a:rPr lang="zh-CN" altLang="en-US" sz="1600" b="1" dirty="0">
                <a:latin typeface="+mn-ea"/>
              </a:rPr>
              <a:t>的值（目前双编译器都是</a:t>
            </a:r>
            <a:r>
              <a:rPr lang="en-US" altLang="zh-CN" sz="1600" b="1" dirty="0">
                <a:latin typeface="+mn-ea"/>
              </a:rPr>
              <a:t>-1</a:t>
            </a:r>
            <a:r>
              <a:rPr lang="zh-CN" altLang="en-US" sz="1600" b="1" dirty="0">
                <a:latin typeface="+mn-ea"/>
              </a:rPr>
              <a:t>）可能不同，不必关心</a:t>
            </a:r>
            <a:endParaRPr lang="zh-CN" altLang="en-US" sz="1600" b="1" dirty="0">
              <a:latin typeface="+mn-ea"/>
            </a:endParaRPr>
          </a:p>
          <a:p>
            <a:pPr algn="l">
              <a:spcBef>
                <a:spcPts val="385"/>
              </a:spcBef>
            </a:pPr>
            <a:r>
              <a:rPr lang="zh-CN" altLang="en-US" sz="1600" b="1" dirty="0">
                <a:latin typeface="+mn-ea"/>
              </a:rPr>
              <a:t>  ★ 一般用于字符流输入的判断，对其它类型一般不用</a:t>
            </a:r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功能：从输入流中读一个字符并返回该字符</a:t>
            </a:r>
            <a:endParaRPr lang="zh-CN" altLang="en-US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功能：从输入流中读一个字符给字符变量，返回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流对象自身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字符数组，字符个数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功能：从输入流中读</a:t>
            </a:r>
            <a:r>
              <a:rPr lang="en-US" altLang="zh-CN" sz="1600" b="1" dirty="0">
                <a:latin typeface="+mn-ea"/>
              </a:rPr>
              <a:t>n-1</a:t>
            </a:r>
            <a:r>
              <a:rPr lang="zh-CN" altLang="en-US" sz="1600" b="1" dirty="0">
                <a:latin typeface="+mn-ea"/>
              </a:rPr>
              <a:t>个字符，若遇到中止字符，则提前结束，返回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流对象自身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cin.getline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字符数组，字符个数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功能：同三个参数的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470012" y="5223015"/>
            <a:ext cx="5162128" cy="133915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关于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cin.get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函数返回值的讨论：</a:t>
            </a:r>
            <a:endParaRPr kumimoji="1"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u="sng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http://bbs.bccn.net/thread-420985-1-1.html</a:t>
            </a:r>
            <a:endParaRPr kumimoji="1" lang="en-US" altLang="zh-CN" sz="1600" b="1" u="sng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u="sng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、看得懂就看，看不懂就放弃</a:t>
            </a:r>
            <a:endParaRPr kumimoji="1"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、说的不一定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正确，也许是一知半解，要有分辨能力</a:t>
            </a:r>
            <a:endParaRPr kumimoji="1" lang="zh-CN" altLang="en-US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输入一个字符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回车，输出：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输入一串字符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回车，输出：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3900" y="4125595"/>
            <a:ext cx="1093470" cy="10369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900" y="5311140"/>
            <a:ext cx="990600" cy="12573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while((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())!='\n')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输入一串字符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回车，输出：</a:t>
            </a: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2935" y="5007610"/>
            <a:ext cx="1095375" cy="10191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58025" y="1244870"/>
            <a:ext cx="6408712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while((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())!=EOF)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输入：连续多个一串字符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回车，串中可含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CTRL+Z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输入：连续多个一串字符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回车，最后一行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单独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CTRL+Z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575" y="3695700"/>
            <a:ext cx="1349375" cy="13493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145" y="4443095"/>
            <a:ext cx="1405890" cy="231076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int(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int(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输入一个字符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回车，输出：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输入一串字符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回车，输出：</a:t>
            </a: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8340" y="4102735"/>
            <a:ext cx="958215" cy="122999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05" y="5433695"/>
            <a:ext cx="933450" cy="12096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165" y="1244600"/>
            <a:ext cx="4620260" cy="524891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while(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)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输入：连续多个一串字符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+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回车，串中可含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CTRL+Z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（能否结束？）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输出：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不能结束</a:t>
            </a:r>
            <a:endParaRPr kumimoji="1" lang="zh-CN" altLang="en-US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输入：连续多个一串字符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+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回车，最后一行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单独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CTRL+Z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输出：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问：右侧为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P.7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的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get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无参例子，左右两个程序的输出是否相同？</a:t>
            </a:r>
            <a:endParaRPr kumimoji="1" lang="zh-CN" altLang="en-US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输出相同</a:t>
            </a:r>
            <a:endParaRPr kumimoji="1" lang="zh-CN" altLang="en-US" sz="12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chemeClr val="accent2"/>
              </a:solidFill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257613" y="1244870"/>
            <a:ext cx="4620031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while(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())!=EOF 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本题同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P.7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，不需要写结果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8612372" y="1244870"/>
            <a:ext cx="1265275" cy="40317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程序同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P.7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9405" y="3620770"/>
            <a:ext cx="843280" cy="1176655"/>
          </a:xfrm>
          <a:prstGeom prst="rect">
            <a:avLst/>
          </a:prstGeom>
        </p:spPr>
      </p:pic>
      <p:cxnSp>
        <p:nvCxnSpPr>
          <p:cNvPr id="4" name="直接箭头连接符 3"/>
          <p:cNvCxnSpPr/>
          <p:nvPr/>
        </p:nvCxnSpPr>
        <p:spPr>
          <a:xfrm flipV="1">
            <a:off x="1073785" y="4361815"/>
            <a:ext cx="1562735" cy="66675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7360" y="3792855"/>
            <a:ext cx="900430" cy="1065530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>
          <a:xfrm flipV="1">
            <a:off x="1141730" y="4628515"/>
            <a:ext cx="2990850" cy="106680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while((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))!='\n')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编译出错，为什么？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cin.get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的返回值是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cin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对象，与字符、整型等类型不匹配，不能和字符作比较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while((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))!=EOF)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编译出错，为什么？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cin.get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的返回值是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cin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对象，与字符、整型等类型不匹配，不能和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EOF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的值作比较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257613" y="1244870"/>
            <a:ext cx="4620031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while(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())!=EOF 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本题不需要写运行结果，回答问题即可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程序同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P.7/P.9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右，编译正确，为什么？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  <a:sym typeface="+mn-ea"/>
              </a:rPr>
              <a:t>ch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=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  <a:sym typeface="+mn-ea"/>
              </a:rPr>
              <a:t>cin.get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()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这个等式的返回值是字符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ch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，可以与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EOF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的值比较</a:t>
            </a:r>
            <a:endParaRPr kumimoji="1" lang="zh-CN" altLang="en-US" sz="1600" b="1" dirty="0">
              <a:solidFill>
                <a:schemeClr val="accent2"/>
              </a:solidFill>
              <a:latin typeface="+mn-ea"/>
              <a:sym typeface="+mn-ea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字符数组，字符个数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58165" y="1244600"/>
            <a:ext cx="5953760" cy="53987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[10];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10, '*');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输入多于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个的字符串，输出：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输入小于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个的字符串，输出：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buClrTx/>
              <a:buSzTx/>
              <a:buFontTx/>
            </a:pP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输入字符串，第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个及以前位置有*，输出：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输入字符串，第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个及以后位置有*，输出：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0745" y="3813175"/>
            <a:ext cx="1736725" cy="7569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745" y="4620260"/>
            <a:ext cx="1319530" cy="73088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740275" y="498284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（继续等待输入）</a:t>
            </a:r>
            <a:endParaRPr lang="zh-CN" altLang="en-US" sz="1600" b="1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190" y="5320030"/>
            <a:ext cx="871855" cy="70421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0275" y="6089650"/>
            <a:ext cx="1525270" cy="73723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9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字符数组，字符个数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[10];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10);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省略第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个参数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输入多于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个的字符串，输出：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输入小于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个的字符串，输出：</a:t>
            </a: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5990" y="4051935"/>
            <a:ext cx="2247900" cy="9906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015" y="5213350"/>
            <a:ext cx="1257300" cy="10001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cin.getline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字符数组，字符个数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58024" y="1244870"/>
            <a:ext cx="5953611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[10];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cin.getline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10, '*');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输入多于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个的字符串，输出：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输入小于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个的字符串，输出：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输入字符串，第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个及以前位置有*，输出：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输入字符串，第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个及以后位置有*，输出：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是否与三个参数的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cin.get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相同？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相同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4555" y="3591560"/>
            <a:ext cx="1721485" cy="6902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555" y="4371975"/>
            <a:ext cx="965200" cy="5492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345305" y="4476750"/>
            <a:ext cx="161480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>
                <a:sym typeface="+mn-ea"/>
              </a:rPr>
              <a:t>（继续等待输入）</a:t>
            </a:r>
            <a:endParaRPr lang="zh-CN" altLang="en-US" sz="1600" b="1"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890" y="4813935"/>
            <a:ext cx="974090" cy="5930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5965" y="5438140"/>
            <a:ext cx="1696720" cy="65976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11</a:t>
            </a:r>
            <a:r>
              <a:rPr lang="zh-CN" altLang="en-US" sz="1600" b="1" dirty="0">
                <a:latin typeface="+mn-ea"/>
              </a:rPr>
              <a:t>：三个参数的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cin.getline</a:t>
            </a:r>
            <a:r>
              <a:rPr lang="zh-CN" altLang="en-US" sz="1600" b="1" dirty="0">
                <a:latin typeface="+mn-ea"/>
              </a:rPr>
              <a:t>的使用区别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3" y="1244870"/>
            <a:ext cx="4711787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[20];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"enter a sentence:"; </a:t>
            </a:r>
            <a:r>
              <a:rPr kumimoji="1" lang="en-US" altLang="zh-CN" sz="12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不需要</a:t>
            </a:r>
            <a:r>
              <a:rPr kumimoji="1" lang="en-US" altLang="zh-CN" sz="1200" b="1" dirty="0" err="1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endParaRPr kumimoji="1" lang="en-US" altLang="zh-CN" sz="12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          </a:t>
            </a:r>
            <a:r>
              <a:rPr kumimoji="1" lang="en-US" altLang="zh-CN" sz="12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直接</a:t>
            </a:r>
            <a:r>
              <a:rPr kumimoji="1" lang="en-US" altLang="zh-CN" sz="1200" b="1" dirty="0" err="1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zh-CN" altLang="en-US" sz="12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，空格结束</a:t>
            </a:r>
            <a:endParaRPr kumimoji="1" lang="zh-CN" altLang="en-US" sz="12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"The string with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is:"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'#'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cin.getline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20, '/');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"The second part is:"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'#'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cin.getline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20); </a:t>
            </a:r>
            <a:r>
              <a:rPr kumimoji="1" lang="en-US" altLang="zh-CN" sz="12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缺省是回车结束</a:t>
            </a:r>
            <a:endParaRPr kumimoji="1" lang="zh-CN" altLang="en-US" sz="12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"The third part is:"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'#'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运行结果：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enter a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sentence:</a:t>
            </a:r>
            <a:r>
              <a:rPr kumimoji="1" lang="en-US" altLang="zh-CN" sz="1200" b="1" u="sng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u="sng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like C++./I study C++./I am happy.</a:t>
            </a:r>
            <a:endParaRPr kumimoji="1" lang="en-US" altLang="zh-CN" sz="1200" b="1" u="sng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The string with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is:I#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The second part is: like C++.#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The third part is:I study C++./I am h#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5394523" y="1244870"/>
            <a:ext cx="4711787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[20];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"enter a sentence:"; </a:t>
            </a:r>
            <a:r>
              <a:rPr kumimoji="1" lang="en-US" altLang="zh-CN" sz="12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不需要</a:t>
            </a:r>
            <a:r>
              <a:rPr kumimoji="1" lang="en-US" altLang="zh-CN" sz="1200" b="1" dirty="0" err="1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endParaRPr kumimoji="1" lang="en-US" altLang="zh-CN" sz="12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          </a:t>
            </a:r>
            <a:r>
              <a:rPr kumimoji="1" lang="en-US" altLang="zh-CN" sz="12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直接</a:t>
            </a:r>
            <a:r>
              <a:rPr kumimoji="1" lang="en-US" altLang="zh-CN" sz="1200" b="1" dirty="0" err="1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zh-CN" altLang="en-US" sz="12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，空格结束</a:t>
            </a:r>
            <a:endParaRPr kumimoji="1" lang="zh-CN" altLang="en-US" sz="12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"The string with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is:"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'#'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cin.getline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20, '/');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"The second part is:"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'#'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cin.getline</a:t>
            </a:r>
            <a:r>
              <a:rPr kumimoji="1" lang="en-US" altLang="zh-CN" sz="12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20, '/');</a:t>
            </a:r>
            <a:endParaRPr kumimoji="1" lang="zh-CN" altLang="en-US" sz="12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"The third part is:"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'#'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运行结果：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enter a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sentence:</a:t>
            </a:r>
            <a:r>
              <a:rPr kumimoji="1" lang="en-US" altLang="zh-CN" sz="1200" b="1" u="sng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u="sng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like C++./I study C++./I am happy.</a:t>
            </a:r>
            <a:endParaRPr kumimoji="1" lang="en-US" altLang="zh-CN" sz="1200" b="1" u="sng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The string with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is:I#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The second part is: like C++.#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The third part is:I study C++.#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5737642" y="3574500"/>
            <a:ext cx="1981593" cy="210691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12</a:t>
            </a:r>
            <a:r>
              <a:rPr lang="zh-CN" altLang="en-US" sz="1600" b="1" dirty="0">
                <a:latin typeface="+mn-ea"/>
              </a:rPr>
              <a:t>：三个参数的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cin.getline</a:t>
            </a:r>
            <a:r>
              <a:rPr lang="zh-CN" altLang="en-US" sz="1600" b="1" dirty="0">
                <a:latin typeface="+mn-ea"/>
              </a:rPr>
              <a:t>的使用区别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558024" y="5455990"/>
            <a:ext cx="4711786" cy="757432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getline</a:t>
            </a:r>
            <a:r>
              <a:rPr kumimoji="1" lang="zh-CN" altLang="en-US" sz="12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：遇见终止字符，跳过，下次读取终止字符之后的内容</a:t>
            </a:r>
            <a:endParaRPr kumimoji="1" lang="en-US" altLang="zh-CN" sz="12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    </a:t>
            </a:r>
            <a:r>
              <a:rPr kumimoji="1" lang="zh-CN" altLang="en-US" sz="12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：遇见终止字符，不跳过，下次继续读取终止字符</a:t>
            </a:r>
            <a:endParaRPr kumimoji="1" lang="zh-CN" altLang="en-US" sz="12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4" y="1244870"/>
            <a:ext cx="4711786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[20];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"enter a sentence:"; </a:t>
            </a:r>
            <a:r>
              <a:rPr kumimoji="1" lang="en-US" altLang="zh-CN" sz="1200" b="1" dirty="0">
                <a:solidFill>
                  <a:srgbClr val="FF3300"/>
                </a:solidFill>
                <a:latin typeface="+mn-ea"/>
              </a:rPr>
              <a:t>//</a:t>
            </a:r>
            <a:r>
              <a:rPr kumimoji="1" lang="zh-CN" altLang="en-US" sz="1200" b="1" dirty="0">
                <a:solidFill>
                  <a:srgbClr val="FF3300"/>
                </a:solidFill>
                <a:latin typeface="+mn-ea"/>
              </a:rPr>
              <a:t>不需要</a:t>
            </a:r>
            <a:r>
              <a:rPr kumimoji="1" lang="en-US" altLang="zh-CN" sz="1200" b="1" dirty="0" err="1">
                <a:solidFill>
                  <a:srgbClr val="FF3300"/>
                </a:solidFill>
                <a:latin typeface="+mn-ea"/>
              </a:rPr>
              <a:t>endl</a:t>
            </a:r>
            <a:endParaRPr kumimoji="1" lang="en-US" altLang="zh-CN" sz="1200" b="1" dirty="0">
              <a:solidFill>
                <a:srgbClr val="FF3300"/>
              </a:solidFill>
              <a:latin typeface="+mn-ea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&gt;&gt;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;           </a:t>
            </a:r>
            <a:r>
              <a:rPr kumimoji="1" lang="en-US" altLang="zh-CN" sz="1200" b="1" dirty="0">
                <a:solidFill>
                  <a:srgbClr val="FF3300"/>
                </a:solidFill>
                <a:latin typeface="+mn-ea"/>
              </a:rPr>
              <a:t>//</a:t>
            </a:r>
            <a:r>
              <a:rPr kumimoji="1" lang="zh-CN" altLang="en-US" sz="1200" b="1" dirty="0">
                <a:solidFill>
                  <a:srgbClr val="FF3300"/>
                </a:solidFill>
                <a:latin typeface="+mn-ea"/>
              </a:rPr>
              <a:t>直接</a:t>
            </a:r>
            <a:r>
              <a:rPr kumimoji="1" lang="en-US" altLang="zh-CN" sz="1200" b="1" dirty="0" err="1">
                <a:solidFill>
                  <a:srgbClr val="FF3300"/>
                </a:solidFill>
                <a:latin typeface="+mn-ea"/>
              </a:rPr>
              <a:t>cin</a:t>
            </a:r>
            <a:r>
              <a:rPr kumimoji="1" lang="zh-CN" altLang="en-US" sz="1200" b="1" dirty="0">
                <a:solidFill>
                  <a:srgbClr val="FF3300"/>
                </a:solidFill>
                <a:latin typeface="+mn-ea"/>
              </a:rPr>
              <a:t>，空格结束</a:t>
            </a:r>
            <a:endParaRPr kumimoji="1" lang="zh-CN" altLang="en-US" sz="1200" b="1" dirty="0">
              <a:solidFill>
                <a:srgbClr val="FF3300"/>
              </a:solidFill>
              <a:latin typeface="+mn-ea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"The string with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is:"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'#'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3333CC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3333CC"/>
                </a:solidFill>
                <a:latin typeface="+mn-ea"/>
              </a:rPr>
              <a:t>cin.get</a:t>
            </a:r>
            <a:r>
              <a:rPr kumimoji="1" lang="en-US" altLang="zh-CN" sz="1200" b="1" dirty="0">
                <a:solidFill>
                  <a:srgbClr val="3333CC"/>
                </a:solidFill>
                <a:latin typeface="+mn-ea"/>
              </a:rPr>
              <a:t>(</a:t>
            </a:r>
            <a:r>
              <a:rPr kumimoji="1" lang="en-US" altLang="zh-CN" sz="1200" b="1" dirty="0" err="1">
                <a:solidFill>
                  <a:srgbClr val="3333CC"/>
                </a:solidFill>
                <a:latin typeface="+mn-ea"/>
              </a:rPr>
              <a:t>ch</a:t>
            </a:r>
            <a:r>
              <a:rPr kumimoji="1" lang="en-US" altLang="zh-CN" sz="1200" b="1" dirty="0">
                <a:solidFill>
                  <a:srgbClr val="3333CC"/>
                </a:solidFill>
                <a:latin typeface="+mn-ea"/>
              </a:rPr>
              <a:t>, 20, '/');</a:t>
            </a:r>
            <a:endParaRPr kumimoji="1" lang="en-US" altLang="zh-CN" sz="1200" b="1" dirty="0">
              <a:solidFill>
                <a:srgbClr val="3333CC"/>
              </a:solidFill>
              <a:latin typeface="+mn-ea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"The second part is:"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'#'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3333CC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3333CC"/>
                </a:solidFill>
                <a:latin typeface="+mn-ea"/>
              </a:rPr>
              <a:t>cin.get</a:t>
            </a:r>
            <a:r>
              <a:rPr kumimoji="1" lang="en-US" altLang="zh-CN" sz="1200" b="1" dirty="0">
                <a:solidFill>
                  <a:srgbClr val="3333CC"/>
                </a:solidFill>
                <a:latin typeface="+mn-ea"/>
              </a:rPr>
              <a:t>(</a:t>
            </a:r>
            <a:r>
              <a:rPr kumimoji="1" lang="en-US" altLang="zh-CN" sz="1200" b="1" dirty="0" err="1">
                <a:solidFill>
                  <a:srgbClr val="3333CC"/>
                </a:solidFill>
                <a:latin typeface="+mn-ea"/>
              </a:rPr>
              <a:t>ch</a:t>
            </a:r>
            <a:r>
              <a:rPr kumimoji="1" lang="en-US" altLang="zh-CN" sz="1200" b="1" dirty="0">
                <a:solidFill>
                  <a:srgbClr val="3333CC"/>
                </a:solidFill>
                <a:latin typeface="+mn-ea"/>
              </a:rPr>
              <a:t>, 20, '/');</a:t>
            </a:r>
            <a:endParaRPr kumimoji="1" lang="en-US" altLang="zh-CN" sz="1200" b="1" dirty="0">
              <a:solidFill>
                <a:srgbClr val="3333CC"/>
              </a:solidFill>
              <a:latin typeface="+mn-ea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"The third part is:"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'#'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3333CC"/>
              </a:solidFill>
              <a:latin typeface="+mn-ea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3333CC"/>
                </a:solidFill>
                <a:latin typeface="+mn-ea"/>
              </a:rPr>
              <a:t>和上页的差别：两句蓝色语句从</a:t>
            </a:r>
            <a:r>
              <a:rPr kumimoji="1" lang="en-US" altLang="zh-CN" sz="1200" b="1" dirty="0" err="1">
                <a:solidFill>
                  <a:srgbClr val="3333CC"/>
                </a:solidFill>
                <a:latin typeface="+mn-ea"/>
              </a:rPr>
              <a:t>getline</a:t>
            </a:r>
            <a:r>
              <a:rPr kumimoji="1" lang="zh-CN" altLang="en-US" sz="1200" b="1" dirty="0">
                <a:solidFill>
                  <a:srgbClr val="3333CC"/>
                </a:solidFill>
                <a:latin typeface="+mn-ea"/>
              </a:rPr>
              <a:t>变为</a:t>
            </a:r>
            <a:r>
              <a:rPr kumimoji="1" lang="en-US" altLang="zh-CN" sz="1200" b="1" dirty="0">
                <a:solidFill>
                  <a:srgbClr val="3333CC"/>
                </a:solidFill>
                <a:latin typeface="+mn-ea"/>
              </a:rPr>
              <a:t>get</a:t>
            </a:r>
            <a:r>
              <a:rPr kumimoji="1" lang="zh-CN" altLang="en-US" sz="1200" b="1" dirty="0">
                <a:solidFill>
                  <a:srgbClr val="3333CC"/>
                </a:solidFill>
                <a:latin typeface="+mn-ea"/>
              </a:rPr>
              <a:t>，则结果：</a:t>
            </a:r>
            <a:endParaRPr kumimoji="1" lang="en-US" altLang="zh-CN" sz="1200" b="1" dirty="0">
              <a:solidFill>
                <a:srgbClr val="3333CC"/>
              </a:solidFill>
              <a:latin typeface="+mn-ea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enter a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sentence:</a:t>
            </a:r>
            <a:r>
              <a:rPr kumimoji="1" lang="en-US" altLang="zh-CN" sz="1200" b="1" u="sng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200" b="1" u="sng" dirty="0">
                <a:solidFill>
                  <a:srgbClr val="FF0000"/>
                </a:solidFill>
                <a:latin typeface="+mn-ea"/>
              </a:rPr>
              <a:t> like C++./I study C++./I am happy.</a:t>
            </a:r>
            <a:endParaRPr kumimoji="1" lang="en-US" altLang="zh-CN" sz="1200" b="1" u="sng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The string with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is:I#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The second part is: like C++.#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The third part is:#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13</a:t>
            </a:r>
            <a:r>
              <a:rPr lang="zh-CN" altLang="en-US" sz="1600" b="1" dirty="0">
                <a:latin typeface="+mn-ea"/>
              </a:rPr>
              <a:t>：三个参数的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cin.getline</a:t>
            </a:r>
            <a:r>
              <a:rPr lang="zh-CN" altLang="en-US" sz="1600" b="1" dirty="0">
                <a:latin typeface="+mn-ea"/>
              </a:rPr>
              <a:t>的使用区别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 ●</a:t>
            </a:r>
            <a:r>
              <a:rPr lang="zh-CN" altLang="en-US" sz="1600" b="1" dirty="0">
                <a:latin typeface="+mn-ea"/>
              </a:rPr>
              <a:t> 输入满：</a:t>
            </a:r>
            <a:r>
              <a:rPr lang="en-US" altLang="zh-CN" sz="1600" b="1" dirty="0">
                <a:latin typeface="+mn-ea"/>
              </a:rPr>
              <a:t>get</a:t>
            </a:r>
            <a:r>
              <a:rPr lang="zh-CN" altLang="en-US" sz="1600" b="1" dirty="0">
                <a:latin typeface="+mn-ea"/>
              </a:rPr>
              <a:t>满后</a:t>
            </a:r>
            <a:r>
              <a:rPr lang="en-US" altLang="zh-CN" sz="1600" b="1" dirty="0">
                <a:latin typeface="+mn-ea"/>
              </a:rPr>
              <a:t>_________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不再读取输入缓冲区中的字符</a:t>
            </a:r>
            <a:r>
              <a:rPr lang="en-US" altLang="zh-CN" sz="1600" b="1" dirty="0">
                <a:latin typeface="+mn-ea"/>
              </a:rPr>
              <a:t>__________________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          </a:t>
            </a:r>
            <a:r>
              <a:rPr lang="en-US" altLang="zh-CN" sz="1600" b="1" dirty="0" err="1">
                <a:latin typeface="+mn-ea"/>
              </a:rPr>
              <a:t>getline</a:t>
            </a:r>
            <a:r>
              <a:rPr lang="zh-CN" altLang="en-US" sz="1600" b="1" dirty="0">
                <a:latin typeface="+mn-ea"/>
              </a:rPr>
              <a:t>满后</a:t>
            </a:r>
            <a:r>
              <a:rPr lang="en-US" altLang="zh-CN" sz="1600" b="1" dirty="0">
                <a:latin typeface="+mn-ea"/>
              </a:rPr>
              <a:t>___________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仍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读取一整行的字符</a:t>
            </a:r>
            <a:r>
              <a:rPr lang="en-US" altLang="zh-CN" sz="1600" b="1" dirty="0">
                <a:latin typeface="+mn-ea"/>
              </a:rPr>
              <a:t>____________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</a:t>
            </a:r>
            <a:r>
              <a:rPr lang="zh-CN" altLang="en-US" sz="1600" b="1" dirty="0">
                <a:latin typeface="宋体" panose="02010600030101010101" pitchFamily="2" charset="-122"/>
              </a:rPr>
              <a:t>● </a:t>
            </a:r>
            <a:r>
              <a:rPr lang="zh-CN" altLang="en-US" sz="1600" b="1" dirty="0">
                <a:latin typeface="+mn-ea"/>
              </a:rPr>
              <a:t>遇中止字符：</a:t>
            </a:r>
            <a:r>
              <a:rPr lang="en-US" altLang="zh-CN" sz="1600" b="1" dirty="0">
                <a:latin typeface="+mn-ea"/>
              </a:rPr>
              <a:t>get</a:t>
            </a:r>
            <a:r>
              <a:rPr lang="zh-CN" altLang="en-US" sz="1600" b="1" dirty="0">
                <a:latin typeface="+mn-ea"/>
              </a:rPr>
              <a:t>遇中止字符，下一个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继续读取终止字符</a:t>
            </a:r>
            <a:r>
              <a:rPr lang="en-US" altLang="zh-CN" sz="1600" b="1" dirty="0">
                <a:latin typeface="+mn-ea"/>
              </a:rPr>
              <a:t>_________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              </a:t>
            </a:r>
            <a:r>
              <a:rPr lang="en-US" altLang="zh-CN" sz="1600" b="1" dirty="0" err="1">
                <a:latin typeface="+mn-ea"/>
              </a:rPr>
              <a:t>getline</a:t>
            </a:r>
            <a:r>
              <a:rPr lang="zh-CN" altLang="en-US" sz="1600" b="1" dirty="0">
                <a:latin typeface="+mn-ea"/>
              </a:rPr>
              <a:t>遇中止字符，下一个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跳过终止字符读取后面的字符</a:t>
            </a:r>
            <a:r>
              <a:rPr lang="en-US" altLang="zh-CN" sz="1600" b="1" dirty="0">
                <a:latin typeface="+mn-ea"/>
              </a:rPr>
              <a:t>______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宋体" panose="02010600030101010101" pitchFamily="2" charset="-122"/>
              </a:rPr>
              <a:t>  ●</a:t>
            </a:r>
            <a:r>
              <a:rPr lang="zh-CN" altLang="en-US" sz="1600" b="1" dirty="0">
                <a:latin typeface="+mn-ea"/>
              </a:rPr>
              <a:t> 未满遇回车：</a:t>
            </a:r>
            <a:r>
              <a:rPr lang="en-US" altLang="zh-CN" sz="1600" b="1" dirty="0">
                <a:latin typeface="+mn-ea"/>
              </a:rPr>
              <a:t>get</a:t>
            </a:r>
            <a:r>
              <a:rPr lang="zh-CN" altLang="en-US" sz="1600" b="1" dirty="0">
                <a:latin typeface="+mn-ea"/>
              </a:rPr>
              <a:t>把回车当一个普通字符读入至满，下一个</a:t>
            </a:r>
            <a:r>
              <a:rPr lang="en-US" altLang="zh-CN" sz="1600" b="1" dirty="0">
                <a:latin typeface="+mn-ea"/>
              </a:rPr>
              <a:t>_____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继续读取输入缓冲区的内容</a:t>
            </a:r>
            <a:r>
              <a:rPr lang="en-US" altLang="zh-CN" sz="1600" b="1" dirty="0">
                <a:latin typeface="+mn-ea"/>
              </a:rPr>
              <a:t>______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              </a:t>
            </a:r>
            <a:r>
              <a:rPr lang="en-US" altLang="zh-CN" sz="1600" b="1" dirty="0" err="1">
                <a:latin typeface="+mn-ea"/>
              </a:rPr>
              <a:t>getline</a:t>
            </a:r>
            <a:r>
              <a:rPr lang="zh-CN" altLang="en-US" sz="1600" b="1" dirty="0">
                <a:latin typeface="+mn-ea"/>
              </a:rPr>
              <a:t>把回车当一个普通字符读入至满，下一个</a:t>
            </a:r>
            <a:r>
              <a:rPr lang="en-US" altLang="zh-CN" sz="1600" b="1" dirty="0">
                <a:latin typeface="+mn-ea"/>
              </a:rPr>
              <a:t>_____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读取第二行的内容</a:t>
            </a:r>
            <a:r>
              <a:rPr lang="en-US" altLang="zh-CN" sz="1600" b="1" dirty="0">
                <a:latin typeface="+mn-ea"/>
              </a:rPr>
              <a:t>__</a:t>
            </a:r>
            <a:endParaRPr lang="zh-CN" altLang="en-US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4" y="1244869"/>
            <a:ext cx="4176464" cy="33917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   char ch1[10], ch2[10];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cin.get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(ch1, 10, '*'); </a:t>
            </a:r>
            <a:endParaRPr kumimoji="1" lang="en-US" altLang="zh-CN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ch1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cin.get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(ch2, 10, '*'); </a:t>
            </a:r>
            <a:endParaRPr kumimoji="1" lang="en-US" altLang="zh-CN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ch2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输入一串大于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个字符的字符串，输出：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输入一串字符串，每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个以内含*，输出：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输入一串小于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的字符串，加回车，输出：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6324428" y="1246140"/>
            <a:ext cx="4176464" cy="339178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   char ch1[10], ch2[10];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cin.getline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(ch1, 10, '*'); </a:t>
            </a:r>
            <a:endParaRPr kumimoji="1" lang="en-US" altLang="zh-CN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ch1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cin.getline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(ch2, 10, '*'); </a:t>
            </a:r>
            <a:endParaRPr kumimoji="1" lang="en-US" altLang="zh-CN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ch2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输入一串大于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个字符的字符串，输出：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输入一串字符串，每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个以内含*，输出：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输入一串小于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的字符串，加回车，输出：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1170" y="2048510"/>
            <a:ext cx="1873885" cy="66611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1170" y="2847340"/>
            <a:ext cx="1873250" cy="70231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445" y="3630295"/>
            <a:ext cx="793750" cy="7226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449445" y="4352925"/>
            <a:ext cx="161480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>
                <a:solidFill>
                  <a:schemeClr val="accent2"/>
                </a:solidFill>
                <a:sym typeface="+mn-ea"/>
              </a:rPr>
              <a:t>（继续等待输入）</a:t>
            </a:r>
            <a:endParaRPr lang="zh-CN" altLang="en-US" sz="1600" b="1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785" y="2227580"/>
            <a:ext cx="2531110" cy="7562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9680" y="3063240"/>
            <a:ext cx="1776730" cy="8051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2075" y="3947795"/>
            <a:ext cx="798830" cy="62484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0220325" y="4572635"/>
            <a:ext cx="161480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>
                <a:solidFill>
                  <a:schemeClr val="accent2"/>
                </a:solidFill>
                <a:sym typeface="+mn-ea"/>
              </a:rPr>
              <a:t>（继续等待输入）</a:t>
            </a:r>
            <a:endParaRPr lang="zh-CN" altLang="en-US" sz="1600" b="1">
              <a:solidFill>
                <a:schemeClr val="accent2"/>
              </a:solidFill>
              <a:sym typeface="+mn-ea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cin.eof</a:t>
            </a:r>
            <a:r>
              <a:rPr lang="en-US" altLang="zh-CN" sz="1600" b="1" dirty="0">
                <a:latin typeface="+mn-ea"/>
              </a:rPr>
              <a:t>()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功能：判断是否遇到了文件结束符</a:t>
            </a:r>
            <a:r>
              <a:rPr lang="en-US" altLang="zh-CN" sz="1600" b="1" dirty="0">
                <a:latin typeface="+mn-ea"/>
              </a:rPr>
              <a:t>EOF</a:t>
            </a:r>
            <a:r>
              <a:rPr lang="zh-CN" altLang="en-US" sz="1600" b="1" dirty="0">
                <a:latin typeface="+mn-ea"/>
              </a:rPr>
              <a:t>，返回逻辑值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遇到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EOF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为真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cin.peek</a:t>
            </a:r>
            <a:r>
              <a:rPr lang="en-US" altLang="zh-CN" sz="1600" b="1" dirty="0">
                <a:latin typeface="+mn-ea"/>
              </a:rPr>
              <a:t>()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功能：返回输入流中的下一个字符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不提取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遇见文件结束符则返回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EOF)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cin.putback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字符常量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功能：将字符变量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常量插入到输入流的头部</a:t>
            </a:r>
            <a:endParaRPr lang="zh-CN" altLang="en-US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cin.ignore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功能：跳过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个字符，或遇到中止字符时提前结束</a:t>
            </a:r>
            <a:endParaRPr lang="zh-CN" altLang="en-US" sz="1600" b="1" dirty="0">
              <a:latin typeface="+mn-ea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14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cin.eof</a:t>
            </a:r>
            <a:r>
              <a:rPr lang="en-US" altLang="zh-CN" sz="1600" b="1" dirty="0">
                <a:latin typeface="+mn-ea"/>
              </a:rPr>
              <a:t>()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58024" y="1244870"/>
            <a:ext cx="6552728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  //P.430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例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13.5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c;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while (!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cin.eof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if ((c=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())!=' ')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cout.put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(c);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输入：连续多个字符串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含空格及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CTRL+Z)+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回车，最后一行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单独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CTRL+Z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6980" y="4915535"/>
            <a:ext cx="2133600" cy="18859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14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cin.peek</a:t>
            </a:r>
            <a:r>
              <a:rPr lang="en-US" altLang="zh-CN" sz="1600" b="1" dirty="0">
                <a:latin typeface="+mn-ea"/>
              </a:rPr>
              <a:t>()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58024" y="1244870"/>
            <a:ext cx="6552728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cin.peek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int(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int(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>
                <a:solidFill>
                  <a:srgbClr val="FF0000"/>
                </a:solidFill>
                <a:latin typeface="+mn-ea"/>
              </a:rPr>
              <a:t>ab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zh-CN" altLang="en-US" sz="1600" b="1" dirty="0">
              <a:solidFill>
                <a:srgbClr val="FF33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>
                <a:solidFill>
                  <a:srgbClr val="FF0000"/>
                </a:solidFill>
                <a:latin typeface="+mn-ea"/>
              </a:rPr>
              <a:t>CTRL+Z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zh-CN" altLang="en-US" sz="1600" b="1" dirty="0">
              <a:solidFill>
                <a:srgbClr val="FF33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6385" y="4244340"/>
            <a:ext cx="923925" cy="10953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385" y="5519420"/>
            <a:ext cx="1123950" cy="11239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15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cin.putback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字符常量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 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//get()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一次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('H');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putback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()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一次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while((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())!='\n') 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cout.put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6965" y="5256530"/>
            <a:ext cx="1181100" cy="8477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cin.putback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字符常量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//get()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两次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('H');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//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putback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()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两次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('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');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while((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())!='\n') 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cout.put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8400" y="5175885"/>
            <a:ext cx="1123950" cy="9048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17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cin.putback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字符常量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948711" y="4917278"/>
            <a:ext cx="4032448" cy="129614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上两页的正确情况，本页的错误情况，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综合起来，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putback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使用时要注意什么问题？</a:t>
            </a:r>
            <a:endParaRPr kumimoji="1" lang="zh-CN" altLang="en-US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putback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的次数不能大于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的次数</a:t>
            </a:r>
            <a:endParaRPr kumimoji="1" lang="zh-CN" altLang="en-US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//get()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一次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('H');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putback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()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两次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('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');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while((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())!='\n') 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cout.put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abc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VS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Dev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一直打印空格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(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提示，光标一直在动，什么意思？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6735" y="4670425"/>
            <a:ext cx="941705" cy="61976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18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cin.putback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字符常量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4" y="1244870"/>
            <a:ext cx="6552728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('H');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('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');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while((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())!='\n') </a:t>
            </a:r>
            <a:endParaRPr kumimoji="1" lang="en-US" altLang="zh-CN" sz="1600" b="1" dirty="0">
              <a:solidFill>
                <a:srgbClr val="3333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int(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 &lt;&lt; ' ';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输出换为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int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abc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VS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Dev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一直打印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-1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（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EOF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的值）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8490" y="4488815"/>
            <a:ext cx="2000250" cy="8572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19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cin.putback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字符常量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58024" y="1244870"/>
            <a:ext cx="6552728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('H');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('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');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while((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())!=EOF)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判断条件换为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!=EOF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cout.put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abc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VS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Dev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5955" y="4317365"/>
            <a:ext cx="1228725" cy="10953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955" y="5537200"/>
            <a:ext cx="742950" cy="6762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20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cin.putback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字符常量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58023" y="1244870"/>
            <a:ext cx="7496085" cy="530371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   char c[20];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"please enter a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sentense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:"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cin.getline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(c, 15, '/');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"The first part is:"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cin.peek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"The next char(ASCII):"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(c[0]);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cin.getline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(c, 15, '/');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"The second part is:"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运行结果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红色为输入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please enter a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sentense: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u="sng" dirty="0">
                <a:solidFill>
                  <a:srgbClr val="FF0000"/>
                </a:solidFill>
                <a:latin typeface="+mn-ea"/>
              </a:rPr>
              <a:t> am a boy./ am a student.</a:t>
            </a:r>
            <a:endParaRPr kumimoji="1" lang="en-US" altLang="zh-CN" sz="1600" b="1" u="sng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The first part is:I am a boy.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The next char(ASCII):32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The second part is:I am a student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cin.ignore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cin.ignore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(5, 'A');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 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abcdefghijk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abcd</a:t>
            </a:r>
            <a:r>
              <a:rPr kumimoji="1" lang="en-US" altLang="zh-CN" sz="1600" b="1" u="sng" dirty="0" err="1">
                <a:solidFill>
                  <a:schemeClr val="accent2"/>
                </a:solidFill>
                <a:latin typeface="+mn-ea"/>
              </a:rPr>
              <a:t>A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fghijk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1510" y="4570095"/>
            <a:ext cx="1543050" cy="8001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185" y="5653405"/>
            <a:ext cx="1409700" cy="8096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cin.ignore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4" y="1244870"/>
            <a:ext cx="6552728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cin.ignore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 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缺省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个字符，中止字符为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EOF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 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abcdefghijk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abcd</a:t>
            </a:r>
            <a:r>
              <a:rPr kumimoji="1" lang="en-US" altLang="zh-CN" sz="1600" b="1" u="sng" dirty="0" err="1">
                <a:solidFill>
                  <a:schemeClr val="accent2"/>
                </a:solidFill>
                <a:latin typeface="+mn-ea"/>
              </a:rPr>
              <a:t>A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fghijk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6285" y="4767580"/>
            <a:ext cx="1333500" cy="8191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285" y="5702935"/>
            <a:ext cx="1866900" cy="8001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cin.ignore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58024" y="1244870"/>
            <a:ext cx="6552728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[20];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20, '/');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指针停留在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'/'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处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"The first part is:"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20, '/');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从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'/'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处取，为空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"The second part is:"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 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>
                <a:solidFill>
                  <a:srgbClr val="FF0000"/>
                </a:solidFill>
                <a:latin typeface="+mn-ea"/>
              </a:rPr>
              <a:t>I like C++./I study C++./I am happy.</a:t>
            </a:r>
            <a:endParaRPr kumimoji="1" lang="en-US" altLang="zh-CN" sz="1600" b="1" u="sng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0310" y="5164455"/>
            <a:ext cx="4305300" cy="12096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>
                <a:latin typeface="+mn-ea"/>
              </a:rPr>
              <a:t>24</a:t>
            </a:r>
            <a:r>
              <a:rPr lang="zh-CN" altLang="en-US" sz="1600" b="1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cin.ignore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58024" y="1244870"/>
            <a:ext cx="6552728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[20];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20, '/');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指针停留在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'/'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处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"The first part is:"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cin.ignore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();          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跳过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'/'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20, '/');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从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'/'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后取，非空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"The second part is:"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 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>
                <a:solidFill>
                  <a:srgbClr val="FF0000"/>
                </a:solidFill>
                <a:latin typeface="+mn-ea"/>
              </a:rPr>
              <a:t>I like C++./I study C++./I am happy.</a:t>
            </a:r>
            <a:endParaRPr kumimoji="1" lang="en-US" altLang="zh-CN" sz="1600" b="1" u="sng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3490" y="5263515"/>
            <a:ext cx="4276725" cy="1085850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commondata" val="eyJoZGlkIjoiZDc1ZjNmMDk0NWFhNjg2YWU2ZDlmOThlYjIyMWYxMzYifQ=="/>
</p:tagLst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11400</Words>
  <Application>WPS 演示</Application>
  <PresentationFormat>宽屏</PresentationFormat>
  <Paragraphs>780</Paragraphs>
  <Slides>30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9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染墨相思</cp:lastModifiedBy>
  <cp:revision>51</cp:revision>
  <dcterms:created xsi:type="dcterms:W3CDTF">2020-08-13T13:39:00Z</dcterms:created>
  <dcterms:modified xsi:type="dcterms:W3CDTF">2024-10-27T13:56:46Z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0FAC3EC3EFE540C48A376A7C5DBD2ACF_12</vt:lpwstr>
  </property>
  <property fmtid="{D5CDD505-2E9C-101B-9397-08002B2CF9AE}" pid="3" name="KSOProductBuildVer">
    <vt:lpwstr>2052-12.1.0.18608</vt:lpwstr>
  </property>
</Properties>
</file>