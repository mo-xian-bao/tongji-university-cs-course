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1236" r:id="rId3"/>
    <p:sldId id="1276" r:id="rId5"/>
    <p:sldId id="1237" r:id="rId6"/>
    <p:sldId id="492" r:id="rId7"/>
    <p:sldId id="1278" r:id="rId8"/>
    <p:sldId id="1280" r:id="rId9"/>
    <p:sldId id="1279" r:id="rId10"/>
    <p:sldId id="1291" r:id="rId11"/>
    <p:sldId id="1251" r:id="rId12"/>
    <p:sldId id="1281" r:id="rId13"/>
    <p:sldId id="1282" r:id="rId14"/>
    <p:sldId id="1283" r:id="rId15"/>
    <p:sldId id="1284" r:id="rId16"/>
    <p:sldId id="1285" r:id="rId17"/>
    <p:sldId id="1286" r:id="rId18"/>
    <p:sldId id="1287" r:id="rId19"/>
    <p:sldId id="1288" r:id="rId20"/>
    <p:sldId id="1289" r:id="rId21"/>
    <p:sldId id="1290" r:id="rId22"/>
    <p:sldId id="1292" r:id="rId23"/>
    <p:sldId id="1267" r:id="rId24"/>
  </p:sldIdLst>
  <p:sldSz cx="12192000" cy="6858000"/>
  <p:notesSz cx="6858000" cy="9144000"/>
  <p:custDataLst>
    <p:tags r:id="rId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arry" initials="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844" autoAdjust="0"/>
    <p:restoredTop sz="86411" autoAdjust="0"/>
  </p:normalViewPr>
  <p:slideViewPr>
    <p:cSldViewPr snapToGrid="0">
      <p:cViewPr varScale="1">
        <p:scale>
          <a:sx n="71" d="100"/>
          <a:sy n="71" d="100"/>
        </p:scale>
        <p:origin x="72" y="1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tags" Target="tags/tag1.xml"/><Relationship Id="rId28" Type="http://schemas.openxmlformats.org/officeDocument/2006/relationships/commentAuthors" Target="commentAuthors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115B22-8194-4FC8-9614-86C592EEABA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5F2CA6-A39B-48F7-84D1-AF91BD07D67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C41597-7941-4461-A03D-7D307C3317F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7E5104-8735-46A8-9820-8BD5C44B645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BB04D0-EC69-4E34-9026-1132273F6FE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34D7FE-E00D-4DCA-A0A7-A306174DC0C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E46EFE-F103-4F45-8883-0DE6C66B1B8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75AF18-52E2-4048-A908-642605843CB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2A61F9-4BE0-4887-A67C-4D288CA5699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7B2B09-852B-4EAA-A08A-0953A9F6334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CDC42-DFEF-458F-BD1B-2EFAEEF6801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>
              <a:defRPr/>
            </a:pPr>
            <a:fld id="{FF534AEE-0681-4001-91D8-DF8F111160F4}" type="slidenum">
              <a:rPr lang="en-US" altLang="zh-CN"/>
            </a:fld>
            <a:endParaRPr lang="en-US" altLang="zh-CN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new</a:t>
            </a:r>
            <a:r>
              <a:rPr lang="zh-CN" altLang="en-US" sz="2800" b="1" dirty="0">
                <a:latin typeface="+mn-ea"/>
              </a:rPr>
              <a:t>方式动态申请额初始化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要求：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、完成本文档中所有的题目并写出分析、运行结果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、无特殊说明，均使用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编译即可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、直接在本文件上作答，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写出答案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截图（不允许手写、手写拍照截图）</a:t>
            </a:r>
            <a:r>
              <a:rPr lang="zh-CN" altLang="en-US" sz="1600" b="1" dirty="0">
                <a:latin typeface="+mn-ea"/>
              </a:rPr>
              <a:t>即可；填写答案时，为适应所填内容或贴图，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允许调整</a:t>
            </a:r>
            <a:r>
              <a:rPr lang="zh-CN" altLang="en-US" sz="1600" b="1" dirty="0">
                <a:latin typeface="+mn-ea"/>
              </a:rPr>
              <a:t>页面的字体大小、颜色、文本框的位置等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贴图要有效部分即可，不需要全部内容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在保证一页一题的前提下，具体页面布局可以自行发挥，简单易读即可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不允许</a:t>
            </a:r>
            <a:r>
              <a:rPr lang="zh-CN" altLang="en-US" sz="1600" b="1" dirty="0">
                <a:latin typeface="+mn-ea"/>
              </a:rPr>
              <a:t>手写在纸上，再拍照贴图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</a:t>
            </a:r>
            <a:r>
              <a:rPr lang="zh-CN" altLang="en-US" sz="1600" b="1" dirty="0">
                <a:latin typeface="+mn-ea"/>
              </a:rPr>
              <a:t>在各种软件工具上完成（不含手写），再截图贴图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如果某题要求</a:t>
            </a:r>
            <a:r>
              <a:rPr lang="en-US" altLang="zh-CN" sz="1600" b="1" dirty="0" err="1">
                <a:latin typeface="+mn-ea"/>
              </a:rPr>
              <a:t>VS+Dev+LInux</a:t>
            </a:r>
            <a:r>
              <a:rPr lang="zh-CN" altLang="en-US" sz="1600" b="1" dirty="0">
                <a:latin typeface="+mn-ea"/>
              </a:rPr>
              <a:t>的，则如果多个编译器运行结果一致，贴</a:t>
            </a:r>
            <a:r>
              <a:rPr lang="en-US" altLang="zh-CN" sz="1600" b="1" dirty="0">
                <a:latin typeface="+mn-ea"/>
              </a:rPr>
              <a:t>VS</a:t>
            </a:r>
            <a:r>
              <a:rPr lang="zh-CN" altLang="en-US" sz="1600" b="1" dirty="0">
                <a:latin typeface="+mn-ea"/>
              </a:rPr>
              <a:t>的一张图即可，如果不一致，则两个图都要贴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、转换为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后提交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10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10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日前</a:t>
            </a:r>
            <a:r>
              <a:rPr lang="zh-CN" altLang="en-US" sz="1600" b="1" dirty="0">
                <a:latin typeface="+mn-ea"/>
              </a:rPr>
              <a:t>网上提交本次作业（在“文档作业”中提交）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new</a:t>
            </a:r>
            <a:r>
              <a:rPr lang="zh-CN" altLang="en-US" sz="2800" b="1" dirty="0">
                <a:latin typeface="+mn-ea"/>
              </a:rPr>
              <a:t>方式动态申请额初始化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贴图要求：只需要截取输出窗口中的有效部分即可，如果全部截取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截取过大，则视为无效贴图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 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例：无效贴图                                                                       例：有效贴图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853" y="1614221"/>
            <a:ext cx="8291512" cy="489989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5148" y="1614221"/>
            <a:ext cx="2257143" cy="60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new</a:t>
            </a:r>
            <a:r>
              <a:rPr lang="zh-CN" altLang="en-US" sz="2800" b="1" dirty="0">
                <a:latin typeface="+mn-ea"/>
              </a:rPr>
              <a:t>方式动态申请额初始化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附：用</a:t>
            </a:r>
            <a:r>
              <a:rPr lang="en-US" altLang="zh-CN" sz="1600" b="1" dirty="0">
                <a:latin typeface="+mn-ea"/>
              </a:rPr>
              <a:t>WPS</a:t>
            </a:r>
            <a:r>
              <a:rPr lang="zh-CN" altLang="en-US" sz="1600" b="1" dirty="0">
                <a:latin typeface="+mn-ea"/>
              </a:rPr>
              <a:t>等其他第三方软件打开</a:t>
            </a:r>
            <a:r>
              <a:rPr lang="en-US" altLang="zh-CN" sz="1600" b="1" dirty="0">
                <a:latin typeface="+mn-ea"/>
              </a:rPr>
              <a:t>PPT</a:t>
            </a:r>
            <a:r>
              <a:rPr lang="zh-CN" altLang="en-US" sz="1600" b="1" dirty="0">
                <a:latin typeface="+mn-ea"/>
              </a:rPr>
              <a:t>，将代码复制到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中后，如果出现类似下面的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编译报错</a:t>
            </a:r>
            <a:r>
              <a:rPr lang="zh-CN" altLang="en-US" sz="1600" b="1" dirty="0">
                <a:latin typeface="+mn-ea"/>
              </a:rPr>
              <a:t>，则观察源程序编辑窗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的右下角是否为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，如果是，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单击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，在弹出中选择</a:t>
            </a:r>
            <a:r>
              <a:rPr lang="en-US" altLang="zh-CN" sz="1600" b="1" dirty="0">
                <a:latin typeface="+mn-ea"/>
              </a:rPr>
              <a:t>CRLF</a:t>
            </a:r>
            <a:r>
              <a:rPr lang="zh-CN" altLang="en-US" sz="1600" b="1" dirty="0">
                <a:latin typeface="+mn-ea"/>
              </a:rPr>
              <a:t>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再次</a:t>
            </a:r>
            <a:r>
              <a:rPr lang="en-US" altLang="zh-CN" sz="1600" b="1" dirty="0">
                <a:latin typeface="+mn-ea"/>
              </a:rPr>
              <a:t>CTRL+F5</a:t>
            </a:r>
            <a:r>
              <a:rPr lang="zh-CN" altLang="en-US" sz="1600" b="1" dirty="0">
                <a:latin typeface="+mn-ea"/>
              </a:rPr>
              <a:t>运行即可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1635" y="3090983"/>
            <a:ext cx="2123810" cy="193333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958" y="1329084"/>
            <a:ext cx="7914286" cy="5314286"/>
          </a:xfrm>
          <a:prstGeom prst="rect">
            <a:avLst/>
          </a:prstGeom>
        </p:spPr>
      </p:pic>
      <p:sp>
        <p:nvSpPr>
          <p:cNvPr id="5" name="箭头: 右 4"/>
          <p:cNvSpPr/>
          <p:nvPr/>
        </p:nvSpPr>
        <p:spPr bwMode="auto">
          <a:xfrm>
            <a:off x="8023460" y="4571893"/>
            <a:ext cx="638175" cy="452423"/>
          </a:xfrm>
          <a:prstGeom prst="rightArrow">
            <a:avLst/>
          </a:prstGeom>
          <a:solidFill>
            <a:srgbClr val="FF0000">
              <a:alpha val="4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 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new</a:t>
            </a:r>
            <a:r>
              <a:rPr lang="zh-CN" altLang="en-US" sz="2800" b="1" dirty="0">
                <a:latin typeface="+mn-ea"/>
              </a:rPr>
              <a:t>方式动态申请额初始化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、一维数组方式的初始化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int *p;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p = new int[10] = {1,2,3,4,5,6,7,8,9,10};</a:t>
            </a:r>
            <a:endParaRPr lang="en-US" altLang="zh-CN" sz="1600" b="1" dirty="0"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6723528" y="1323975"/>
            <a:ext cx="411592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如果编译运行正确（因为屏幕无任何输出）则写“编译正确”，否则贴编译错误，包括</a:t>
            </a:r>
            <a:r>
              <a:rPr kumimoji="1" lang="en-US" altLang="zh-CN" sz="1600" b="1" dirty="0">
                <a:latin typeface="+mn-ea"/>
              </a:rPr>
              <a:t>VS</a:t>
            </a:r>
            <a:r>
              <a:rPr kumimoji="1" lang="zh-CN" altLang="en-US" sz="1600" b="1" dirty="0">
                <a:latin typeface="+mn-ea"/>
              </a:rPr>
              <a:t>的智能提示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编译错误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4500" y="2626995"/>
            <a:ext cx="3662045" cy="116649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4500" y="3899535"/>
            <a:ext cx="3662045" cy="38925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4500" y="4446270"/>
            <a:ext cx="3662045" cy="6997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 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new</a:t>
            </a:r>
            <a:r>
              <a:rPr lang="zh-CN" altLang="en-US" sz="2800" b="1" dirty="0">
                <a:latin typeface="+mn-ea"/>
              </a:rPr>
              <a:t>方式动态申请额初始化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、一维数组方式的初始化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int *p;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p = new int[10] {1,2,3,4,5,6,7,8,9,10,11};</a:t>
            </a:r>
            <a:endParaRPr lang="en-US" altLang="zh-CN" sz="1600" b="1" dirty="0"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6723528" y="1323975"/>
            <a:ext cx="411592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如果编译运行正确（因为屏幕无任何输出）则写“编译正确”，否则贴编译错误，包括</a:t>
            </a:r>
            <a:r>
              <a:rPr kumimoji="1" lang="en-US" altLang="zh-CN" sz="1600" b="1" dirty="0">
                <a:latin typeface="+mn-ea"/>
              </a:rPr>
              <a:t>VS</a:t>
            </a:r>
            <a:r>
              <a:rPr kumimoji="1" lang="zh-CN" altLang="en-US" sz="1600" b="1" dirty="0">
                <a:latin typeface="+mn-ea"/>
              </a:rPr>
              <a:t>的智能提示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编译错误</a:t>
            </a:r>
            <a:endParaRPr kumimoji="1" lang="zh-CN" altLang="en-US" sz="1600" b="1" dirty="0">
              <a:solidFill>
                <a:schemeClr val="accent2"/>
              </a:solidFill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4665" y="2637790"/>
            <a:ext cx="3695700" cy="12858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4665" y="4039235"/>
            <a:ext cx="3679825" cy="4533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4985" y="4608195"/>
            <a:ext cx="3675380" cy="6381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 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new</a:t>
            </a:r>
            <a:r>
              <a:rPr lang="zh-CN" altLang="en-US" sz="2800" b="1" dirty="0">
                <a:latin typeface="+mn-ea"/>
              </a:rPr>
              <a:t>方式动态申请额初始化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、一维数组方式的初始化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观察下列程序的运行结果，回答问题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int *p;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p = new int[] {1,2,3,4,5,6,7,8,9,10};</a:t>
            </a:r>
            <a:endParaRPr lang="en-US" altLang="zh-CN" sz="1600" b="1" dirty="0"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6723528" y="1323975"/>
            <a:ext cx="411592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如果编译运行正确（因为屏幕无任何输出）则写“编译正确”，否则贴编译错误，包括</a:t>
            </a:r>
            <a:r>
              <a:rPr kumimoji="1" lang="en-US" altLang="zh-CN" sz="1600" b="1" dirty="0">
                <a:latin typeface="+mn-ea"/>
              </a:rPr>
              <a:t>VS</a:t>
            </a:r>
            <a:r>
              <a:rPr kumimoji="1" lang="zh-CN" altLang="en-US" sz="1600" b="1" dirty="0">
                <a:latin typeface="+mn-ea"/>
              </a:rPr>
              <a:t>的智能提示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VS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编译正确</a:t>
            </a:r>
            <a:endParaRPr kumimoji="1" lang="zh-CN" altLang="en-US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Dev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和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Linux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编译错误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975" y="3232150"/>
            <a:ext cx="3968115" cy="6318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975" y="3942080"/>
            <a:ext cx="3973830" cy="8959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 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new</a:t>
            </a:r>
            <a:r>
              <a:rPr lang="zh-CN" altLang="en-US" sz="2800" b="1" dirty="0">
                <a:latin typeface="+mn-ea"/>
              </a:rPr>
              <a:t>方式动态申请额初始化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、一维数组方式的初始化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D.</a:t>
            </a:r>
            <a:r>
              <a:rPr lang="zh-CN" altLang="en-US" sz="1600" b="1" dirty="0">
                <a:latin typeface="+mn-ea"/>
              </a:rPr>
              <a:t>观察下列程序的运行结果，回答问题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char *s;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s = new char[6] {"Hello"};</a:t>
            </a:r>
            <a:endParaRPr lang="en-US" altLang="zh-CN" sz="1600" b="1" dirty="0"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6723528" y="1323975"/>
            <a:ext cx="411592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如果编译运行正确（因为屏幕无任何输出）则写“编译正确”，否则贴编译错误，包括</a:t>
            </a:r>
            <a:r>
              <a:rPr kumimoji="1" lang="en-US" altLang="zh-CN" sz="1600" b="1" dirty="0">
                <a:latin typeface="+mn-ea"/>
              </a:rPr>
              <a:t>VS</a:t>
            </a:r>
            <a:r>
              <a:rPr kumimoji="1" lang="zh-CN" altLang="en-US" sz="1600" b="1" dirty="0">
                <a:latin typeface="+mn-ea"/>
              </a:rPr>
              <a:t>的智能提示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VS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编译正确</a:t>
            </a:r>
            <a:endParaRPr kumimoji="1" lang="zh-CN" altLang="en-US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Dev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和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Linux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编译错误</a:t>
            </a:r>
            <a:endParaRPr kumimoji="1" lang="zh-CN" altLang="en-US" sz="1600" b="1" dirty="0">
              <a:solidFill>
                <a:schemeClr val="accent2"/>
              </a:solidFill>
              <a:latin typeface="+mn-ea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6090" y="3136265"/>
            <a:ext cx="3733800" cy="3048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6090" y="3573145"/>
            <a:ext cx="5137785" cy="5797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 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new</a:t>
            </a:r>
            <a:r>
              <a:rPr lang="zh-CN" altLang="en-US" sz="2800" b="1" dirty="0">
                <a:latin typeface="+mn-ea"/>
              </a:rPr>
              <a:t>方式动态申请额初始化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、一维数组方式的初始化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E.</a:t>
            </a:r>
            <a:r>
              <a:rPr lang="zh-CN" altLang="en-US" sz="1600" b="1" dirty="0">
                <a:latin typeface="+mn-ea"/>
              </a:rPr>
              <a:t>题目同</a:t>
            </a:r>
            <a:r>
              <a:rPr lang="en-US" altLang="zh-CN" sz="1600" b="1" dirty="0">
                <a:latin typeface="+mn-ea"/>
              </a:rPr>
              <a:t>1.D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char *s;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s = new char[6] {"Hello"};</a:t>
            </a:r>
            <a:endParaRPr lang="en-US" altLang="zh-CN" sz="1600" b="1" dirty="0"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6723528" y="1323975"/>
            <a:ext cx="411592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latin typeface="+mn-ea"/>
              </a:rPr>
              <a:t>能不能找到一种方式，使</a:t>
            </a:r>
            <a:r>
              <a:rPr lang="en-US" altLang="zh-CN" sz="1600" b="1" dirty="0">
                <a:latin typeface="+mn-ea"/>
              </a:rPr>
              <a:t>Dev/Linux</a:t>
            </a:r>
            <a:r>
              <a:rPr lang="zh-CN" altLang="en-US" sz="1600" b="1" dirty="0">
                <a:latin typeface="+mn-ea"/>
              </a:rPr>
              <a:t>下能用字符串形式初始化动态申请的一维字符数组</a:t>
            </a:r>
            <a:endParaRPr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能：贴你的程序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不能：回答“不能”即可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不能</a:t>
            </a:r>
            <a:endParaRPr kumimoji="1" lang="zh-CN" altLang="en-US" sz="1600" b="1" dirty="0">
              <a:solidFill>
                <a:schemeClr val="accent2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 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new</a:t>
            </a:r>
            <a:r>
              <a:rPr lang="zh-CN" altLang="en-US" sz="2800" b="1" dirty="0">
                <a:latin typeface="+mn-ea"/>
              </a:rPr>
              <a:t>方式动态申请额初始化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、二维数组方式的初始化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int (*p)[3];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p = new int[2][3] = {1,2,3,4,5,6};</a:t>
            </a:r>
            <a:endParaRPr lang="en-US" altLang="zh-CN" sz="1600" b="1" dirty="0"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6723528" y="1323975"/>
            <a:ext cx="411592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如果编译运行正确（因为屏幕无任何输出）则写“编译正确”，否则贴编译错误，包括</a:t>
            </a:r>
            <a:r>
              <a:rPr kumimoji="1" lang="en-US" altLang="zh-CN" sz="1600" b="1" dirty="0">
                <a:latin typeface="+mn-ea"/>
              </a:rPr>
              <a:t>VS</a:t>
            </a:r>
            <a:r>
              <a:rPr kumimoji="1" lang="zh-CN" altLang="en-US" sz="1600" b="1" dirty="0">
                <a:latin typeface="+mn-ea"/>
              </a:rPr>
              <a:t>的智能提示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编译错误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0" y="2653030"/>
            <a:ext cx="3799205" cy="101028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3803650"/>
            <a:ext cx="3799205" cy="40068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915" y="4385945"/>
            <a:ext cx="3798570" cy="7378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 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new</a:t>
            </a:r>
            <a:r>
              <a:rPr lang="zh-CN" altLang="en-US" sz="2800" b="1" dirty="0">
                <a:latin typeface="+mn-ea"/>
              </a:rPr>
              <a:t>方式动态申请额初始化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、二维数组方式的初始化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int (*p)[3];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p = new int[2][3] {1,2,3,4,5,6};</a:t>
            </a:r>
            <a:endParaRPr lang="en-US" altLang="zh-CN" sz="1600" b="1" dirty="0"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6723528" y="1323975"/>
            <a:ext cx="411592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如果编译运行正确（因为屏幕无任何输出）则写“编译正确”，否则贴编译错误，包括</a:t>
            </a:r>
            <a:r>
              <a:rPr kumimoji="1" lang="en-US" altLang="zh-CN" sz="1600" b="1" dirty="0">
                <a:latin typeface="+mn-ea"/>
              </a:rPr>
              <a:t>VS</a:t>
            </a:r>
            <a:r>
              <a:rPr kumimoji="1" lang="zh-CN" altLang="en-US" sz="1600" b="1" dirty="0">
                <a:latin typeface="+mn-ea"/>
              </a:rPr>
              <a:t>的智能提示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VS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编译正确</a:t>
            </a:r>
            <a:endParaRPr kumimoji="1" lang="zh-CN" altLang="en-US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Dev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和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Linux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编译错误</a:t>
            </a:r>
            <a:endParaRPr kumimoji="1" lang="zh-CN" altLang="en-US" sz="1600" b="1" dirty="0">
              <a:solidFill>
                <a:schemeClr val="accent2"/>
              </a:solidFill>
              <a:latin typeface="+mn-ea"/>
              <a:sym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7510" y="4429760"/>
            <a:ext cx="4029710" cy="13684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7510" y="2910205"/>
            <a:ext cx="4036695" cy="135826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 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new</a:t>
            </a:r>
            <a:r>
              <a:rPr lang="zh-CN" altLang="en-US" sz="2800" b="1" dirty="0">
                <a:latin typeface="+mn-ea"/>
              </a:rPr>
              <a:t>方式动态申请额初始化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、二维数组方式的初始化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观察下列程序的运行结果，回答问题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int (*p)[3];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p = new int[2][3] { {1,2,3},{4,5,6} };</a:t>
            </a:r>
            <a:endParaRPr lang="en-US" altLang="zh-CN" sz="1600" b="1" dirty="0"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6723528" y="1323975"/>
            <a:ext cx="411592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如果编译运行正确（因为屏幕无任何输出）则写“编译正确”，否则贴编译错误，包括</a:t>
            </a:r>
            <a:r>
              <a:rPr kumimoji="1" lang="en-US" altLang="zh-CN" sz="1600" b="1" dirty="0">
                <a:latin typeface="+mn-ea"/>
              </a:rPr>
              <a:t>VS</a:t>
            </a:r>
            <a:r>
              <a:rPr kumimoji="1" lang="zh-CN" altLang="en-US" sz="1600" b="1" dirty="0">
                <a:latin typeface="+mn-ea"/>
              </a:rPr>
              <a:t>的智能提示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VS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，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Dev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，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Linux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编译正确，但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Linux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有警告</a:t>
            </a:r>
            <a:endParaRPr kumimoji="1" lang="zh-CN" altLang="en-US" sz="1600" b="1" dirty="0">
              <a:solidFill>
                <a:schemeClr val="accent2"/>
              </a:solidFill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79260" y="2748915"/>
            <a:ext cx="5121910" cy="68008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 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new</a:t>
            </a:r>
            <a:r>
              <a:rPr lang="zh-CN" altLang="en-US" sz="2800" b="1" dirty="0">
                <a:latin typeface="+mn-ea"/>
              </a:rPr>
              <a:t>方式动态申请额初始化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、二维数组方式的初始化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D.</a:t>
            </a:r>
            <a:r>
              <a:rPr lang="zh-CN" altLang="en-US" sz="1600" b="1" dirty="0">
                <a:latin typeface="+mn-ea"/>
              </a:rPr>
              <a:t>观察下列程序的运行结果，回答问题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int (*p)[3];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p = new int[2][3] { {1,2},{3,4,5,6} };</a:t>
            </a:r>
            <a:endParaRPr lang="en-US" altLang="zh-CN" sz="1600" b="1" dirty="0"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6723528" y="1323975"/>
            <a:ext cx="411592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如果编译运行正确（因为屏幕无任何输出）则写“编译正确”，否则贴编译错误，包括</a:t>
            </a:r>
            <a:r>
              <a:rPr kumimoji="1" lang="en-US" altLang="zh-CN" sz="1600" b="1" dirty="0">
                <a:latin typeface="+mn-ea"/>
              </a:rPr>
              <a:t>VS</a:t>
            </a:r>
            <a:r>
              <a:rPr kumimoji="1" lang="zh-CN" altLang="en-US" sz="1600" b="1" dirty="0">
                <a:latin typeface="+mn-ea"/>
              </a:rPr>
              <a:t>的智能提示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编译错误</a:t>
            </a:r>
            <a:endParaRPr kumimoji="1" lang="zh-CN" altLang="en-US" sz="1600" b="1" dirty="0">
              <a:solidFill>
                <a:schemeClr val="accent2"/>
              </a:solidFill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4835" y="2837180"/>
            <a:ext cx="3009900" cy="10477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4835" y="4038600"/>
            <a:ext cx="3314700" cy="4095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885" y="4655820"/>
            <a:ext cx="3786505" cy="70548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 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new</a:t>
            </a:r>
            <a:r>
              <a:rPr lang="zh-CN" altLang="en-US" sz="2800" b="1" dirty="0">
                <a:latin typeface="+mn-ea"/>
              </a:rPr>
              <a:t>方式动态申请额初始化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、二维数组方式的初始化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E.</a:t>
            </a:r>
            <a:r>
              <a:rPr lang="zh-CN" altLang="en-US" sz="1600" b="1" dirty="0">
                <a:latin typeface="+mn-ea"/>
              </a:rPr>
              <a:t>观察下列程序的运行结果，回答问题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int (*p)[3];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p = new int[2][3] { 1,4 };</a:t>
            </a:r>
            <a:endParaRPr lang="en-US" altLang="zh-CN" sz="1600" b="1" dirty="0"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6723528" y="1323975"/>
            <a:ext cx="411592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如果编译运行正确（因为屏幕无任何输出）则写“编译正确”，否则贴编译错误，包括</a:t>
            </a:r>
            <a:r>
              <a:rPr kumimoji="1" lang="en-US" altLang="zh-CN" sz="1600" b="1" dirty="0">
                <a:latin typeface="+mn-ea"/>
              </a:rPr>
              <a:t>VS</a:t>
            </a:r>
            <a:r>
              <a:rPr kumimoji="1" lang="zh-CN" altLang="en-US" sz="1600" b="1" dirty="0">
                <a:latin typeface="+mn-ea"/>
              </a:rPr>
              <a:t>的智能提示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VS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编译正确</a:t>
            </a:r>
            <a:endParaRPr kumimoji="1" lang="zh-CN" altLang="en-US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Dev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和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Linux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编译错误</a:t>
            </a:r>
            <a:endParaRPr kumimoji="1" lang="zh-CN" altLang="en-US" sz="1600" b="1" dirty="0">
              <a:solidFill>
                <a:schemeClr val="accent2"/>
              </a:solidFill>
              <a:latin typeface="+mn-ea"/>
              <a:sym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0850" y="2945130"/>
            <a:ext cx="3982720" cy="69977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8625" y="3826510"/>
            <a:ext cx="4004945" cy="86423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 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new</a:t>
            </a:r>
            <a:r>
              <a:rPr lang="zh-CN" altLang="en-US" sz="2800" b="1" dirty="0">
                <a:latin typeface="+mn-ea"/>
              </a:rPr>
              <a:t>方式动态申请额初始化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、二维数组方式的初始化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F.</a:t>
            </a:r>
            <a:r>
              <a:rPr lang="zh-CN" altLang="en-US" sz="1600" b="1" dirty="0">
                <a:latin typeface="+mn-ea"/>
              </a:rPr>
              <a:t>观察下列程序的运行结果，回答问题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int (*p)[3];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p = new int[2][3] { {1}, {4} };</a:t>
            </a:r>
            <a:endParaRPr lang="en-US" altLang="zh-CN" sz="1600" b="1" dirty="0"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6723528" y="1323975"/>
            <a:ext cx="411592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如果编译运行正确（因为屏幕无任何输出）则写“编译正确”，否则贴编译错误，包括</a:t>
            </a:r>
            <a:r>
              <a:rPr kumimoji="1" lang="en-US" altLang="zh-CN" sz="1600" b="1" dirty="0">
                <a:latin typeface="+mn-ea"/>
              </a:rPr>
              <a:t>VS</a:t>
            </a:r>
            <a:r>
              <a:rPr kumimoji="1" lang="zh-CN" altLang="en-US" sz="1600" b="1" dirty="0">
                <a:latin typeface="+mn-ea"/>
              </a:rPr>
              <a:t>的智能提示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VS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，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Dev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，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Linux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编译正确，但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Linux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有警告</a:t>
            </a:r>
            <a:endParaRPr kumimoji="1" lang="zh-CN" altLang="en-US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6880" y="2648585"/>
            <a:ext cx="5201285" cy="68262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 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new</a:t>
            </a:r>
            <a:r>
              <a:rPr lang="zh-CN" altLang="en-US" sz="2800" b="1" dirty="0">
                <a:latin typeface="+mn-ea"/>
              </a:rPr>
              <a:t>方式动态申请额初始化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、二维数组方式的初始化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G.</a:t>
            </a:r>
            <a:r>
              <a:rPr lang="zh-CN" altLang="en-US" sz="1600" b="1" dirty="0">
                <a:latin typeface="+mn-ea"/>
              </a:rPr>
              <a:t>观察下列程序的运行结果，回答问题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char (*p)[6];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p = new char[2][6] {'A','B','C'};</a:t>
            </a:r>
            <a:endParaRPr lang="en-US" altLang="zh-CN" sz="1600" b="1" dirty="0"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6723528" y="1323975"/>
            <a:ext cx="411592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如果编译运行正确（因为屏幕无任何输出）则写“编译正确”，否则贴编译错误，包括</a:t>
            </a:r>
            <a:r>
              <a:rPr kumimoji="1" lang="en-US" altLang="zh-CN" sz="1600" b="1" dirty="0">
                <a:latin typeface="+mn-ea"/>
              </a:rPr>
              <a:t>VS</a:t>
            </a:r>
            <a:r>
              <a:rPr kumimoji="1" lang="zh-CN" altLang="en-US" sz="1600" b="1" dirty="0">
                <a:latin typeface="+mn-ea"/>
              </a:rPr>
              <a:t>的智能提示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VS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编译正确</a:t>
            </a:r>
            <a:endParaRPr kumimoji="1" lang="zh-CN" altLang="en-US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Dev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和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Linux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编译错误</a:t>
            </a:r>
            <a:endParaRPr kumimoji="1" lang="zh-CN" altLang="en-US" sz="1600" b="1" dirty="0">
              <a:solidFill>
                <a:schemeClr val="accent2"/>
              </a:solidFill>
              <a:latin typeface="+mn-ea"/>
              <a:sym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1645" y="2905760"/>
            <a:ext cx="3953510" cy="9620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8625" y="3923665"/>
            <a:ext cx="3986530" cy="9677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 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new</a:t>
            </a:r>
            <a:r>
              <a:rPr lang="zh-CN" altLang="en-US" sz="2800" b="1" dirty="0">
                <a:latin typeface="+mn-ea"/>
              </a:rPr>
              <a:t>方式动态申请额初始化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、二维数组方式的初始化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H.</a:t>
            </a:r>
            <a:r>
              <a:rPr lang="zh-CN" altLang="en-US" sz="1600" b="1" dirty="0">
                <a:latin typeface="+mn-ea"/>
              </a:rPr>
              <a:t>观察下列程序的运行结果，回答问题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char (*p)[6];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p = new char[2][6] { {'A'},{'B','C'} };</a:t>
            </a:r>
            <a:endParaRPr lang="en-US" altLang="zh-CN" sz="1600" b="1" dirty="0"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6723528" y="1323975"/>
            <a:ext cx="411592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如果编译运行正确（因为屏幕无任何输出）则写“编译正确”，否则贴编译错误，包括</a:t>
            </a:r>
            <a:r>
              <a:rPr kumimoji="1" lang="en-US" altLang="zh-CN" sz="1600" b="1" dirty="0">
                <a:latin typeface="+mn-ea"/>
              </a:rPr>
              <a:t>VS</a:t>
            </a:r>
            <a:r>
              <a:rPr kumimoji="1" lang="zh-CN" altLang="en-US" sz="1600" b="1" dirty="0">
                <a:latin typeface="+mn-ea"/>
              </a:rPr>
              <a:t>的智能提示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VS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，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Dev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，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Linux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编译正确，但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Linux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有警告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53860" y="2680970"/>
            <a:ext cx="5352415" cy="6731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 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new</a:t>
            </a:r>
            <a:r>
              <a:rPr lang="zh-CN" altLang="en-US" sz="2800" b="1" dirty="0">
                <a:latin typeface="+mn-ea"/>
              </a:rPr>
              <a:t>方式动态申请额初始化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、二维数组方式的初始化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I.</a:t>
            </a:r>
            <a:r>
              <a:rPr lang="zh-CN" altLang="en-US" sz="1600" b="1" dirty="0">
                <a:latin typeface="+mn-ea"/>
              </a:rPr>
              <a:t>观察下列程序的运行结果，回答问题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char (*p)[6];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p = new char[2][6] {"Hello", "China"};</a:t>
            </a:r>
            <a:endParaRPr lang="en-US" altLang="zh-CN" sz="1600" b="1" dirty="0"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6723528" y="1323975"/>
            <a:ext cx="411592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如果编译运行正确（因为屏幕无任何输出）则写“编译正确”，否则贴编译错误，包括</a:t>
            </a:r>
            <a:r>
              <a:rPr kumimoji="1" lang="en-US" altLang="zh-CN" sz="1600" b="1" dirty="0">
                <a:latin typeface="+mn-ea"/>
              </a:rPr>
              <a:t>VS</a:t>
            </a:r>
            <a:r>
              <a:rPr kumimoji="1" lang="zh-CN" altLang="en-US" sz="1600" b="1" dirty="0">
                <a:latin typeface="+mn-ea"/>
              </a:rPr>
              <a:t>的智能提示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VS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编译正确</a:t>
            </a:r>
            <a:endParaRPr kumimoji="1" lang="zh-CN" altLang="en-US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Dev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和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Linux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编译错误</a:t>
            </a:r>
            <a:endParaRPr kumimoji="1" lang="zh-CN" altLang="en-US" sz="1600" b="1" dirty="0">
              <a:solidFill>
                <a:schemeClr val="accent2"/>
              </a:solidFill>
              <a:latin typeface="+mn-ea"/>
              <a:sym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3380" y="2950210"/>
            <a:ext cx="4015740" cy="5283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1315" y="3610610"/>
            <a:ext cx="4027805" cy="75628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 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new</a:t>
            </a:r>
            <a:r>
              <a:rPr lang="zh-CN" altLang="en-US" sz="2800" b="1" dirty="0">
                <a:latin typeface="+mn-ea"/>
              </a:rPr>
              <a:t>方式动态申请额初始化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、二维数组方式的初始化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J.</a:t>
            </a:r>
            <a:r>
              <a:rPr lang="zh-CN" altLang="en-US" sz="1600" b="1" dirty="0">
                <a:latin typeface="+mn-ea"/>
              </a:rPr>
              <a:t>观察下列程序的运行结果，回答问题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char (*p)[6];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p = new char[2][6] {{"Hello"}, {"China"}};</a:t>
            </a:r>
            <a:endParaRPr lang="en-US" altLang="zh-CN" sz="1600" b="1" dirty="0"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6723528" y="1323975"/>
            <a:ext cx="411592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如果编译运行正确（因为屏幕无任何输出）则写“编译正确”，否则贴编译错误，包括</a:t>
            </a:r>
            <a:r>
              <a:rPr kumimoji="1" lang="en-US" altLang="zh-CN" sz="1600" b="1" dirty="0">
                <a:latin typeface="+mn-ea"/>
              </a:rPr>
              <a:t>VS</a:t>
            </a:r>
            <a:r>
              <a:rPr kumimoji="1" lang="zh-CN" altLang="en-US" sz="1600" b="1" dirty="0">
                <a:latin typeface="+mn-ea"/>
              </a:rPr>
              <a:t>的智能提示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VS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编译正确</a:t>
            </a:r>
            <a:endParaRPr kumimoji="1" lang="zh-CN" altLang="en-US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Dev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和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Linux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编译错误</a:t>
            </a:r>
            <a:endParaRPr kumimoji="1" lang="zh-CN" altLang="en-US" sz="1600" b="1" dirty="0">
              <a:solidFill>
                <a:schemeClr val="accent2"/>
              </a:solidFill>
              <a:latin typeface="+mn-ea"/>
              <a:sym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9735" y="2842260"/>
            <a:ext cx="4023360" cy="4635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1960" y="3429000"/>
            <a:ext cx="5226050" cy="77152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 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new</a:t>
            </a:r>
            <a:r>
              <a:rPr lang="zh-CN" altLang="en-US" sz="2800" b="1" dirty="0">
                <a:latin typeface="+mn-ea"/>
              </a:rPr>
              <a:t>方式动态申请额初始化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、二维数组方式的初始化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K.</a:t>
            </a:r>
            <a:r>
              <a:rPr lang="zh-CN" altLang="en-US" sz="1600" b="1" dirty="0">
                <a:latin typeface="+mn-ea"/>
              </a:rPr>
              <a:t>题目同</a:t>
            </a:r>
            <a:r>
              <a:rPr lang="en-US" altLang="zh-CN" sz="1600" b="1" dirty="0">
                <a:latin typeface="+mn-ea"/>
              </a:rPr>
              <a:t>2.J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char (*p)[6];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p = new char[2][6] {{"Hello"}, {"China"}};</a:t>
            </a:r>
            <a:endParaRPr lang="en-US" altLang="zh-CN" sz="1600" b="1" dirty="0"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6723528" y="1323975"/>
            <a:ext cx="411592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latin typeface="+mn-ea"/>
              </a:rPr>
              <a:t>能不能找到一种方式，使</a:t>
            </a:r>
            <a:r>
              <a:rPr lang="en-US" altLang="zh-CN" sz="1600" b="1" dirty="0">
                <a:latin typeface="+mn-ea"/>
              </a:rPr>
              <a:t>Dev/Linux</a:t>
            </a:r>
            <a:r>
              <a:rPr lang="zh-CN" altLang="en-US" sz="1600" b="1" dirty="0">
                <a:latin typeface="+mn-ea"/>
              </a:rPr>
              <a:t>下能用字符串形式初始化动态</a:t>
            </a:r>
            <a:r>
              <a:rPr lang="zh-CN" altLang="en-US" sz="1600" b="1">
                <a:latin typeface="+mn-ea"/>
              </a:rPr>
              <a:t>申请的二维</a:t>
            </a:r>
            <a:r>
              <a:rPr lang="zh-CN" altLang="en-US" sz="1600" b="1" dirty="0">
                <a:latin typeface="+mn-ea"/>
              </a:rPr>
              <a:t>字符数组</a:t>
            </a:r>
            <a:endParaRPr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能：贴你的程序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不能：回答“不能”即可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不能</a:t>
            </a:r>
            <a:endParaRPr kumimoji="1" lang="zh-CN" altLang="en-US" sz="1600" b="1" dirty="0">
              <a:solidFill>
                <a:schemeClr val="accent2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ZDc1ZjNmMDk0NWFhNjg2YWU2ZDlmOThlYjIyMWYxMzYifQ=="/>
</p:tagLst>
</file>

<file path=ppt/theme/theme1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4757</Words>
  <Application>WPS 演示</Application>
  <PresentationFormat>宽屏</PresentationFormat>
  <Paragraphs>362</Paragraphs>
  <Slides>21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0" baseType="lpstr">
      <vt:lpstr>Arial</vt:lpstr>
      <vt:lpstr>宋体</vt:lpstr>
      <vt:lpstr>Wingdings</vt:lpstr>
      <vt:lpstr>Times New Roman</vt:lpstr>
      <vt:lpstr>微软雅黑</vt:lpstr>
      <vt:lpstr>Arial Unicode MS</vt:lpstr>
      <vt:lpstr>等线</vt:lpstr>
      <vt:lpstr>Calibri</vt:lpstr>
      <vt:lpstr>1_默认设计模板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 Y</dc:creator>
  <cp:lastModifiedBy>染墨相思</cp:lastModifiedBy>
  <cp:revision>226</cp:revision>
  <dcterms:created xsi:type="dcterms:W3CDTF">2020-08-13T13:39:00Z</dcterms:created>
  <dcterms:modified xsi:type="dcterms:W3CDTF">2024-10-07T03:34:21Z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2A1E0DC966BD4252B1644CF56E1DC5D1_12</vt:lpwstr>
  </property>
  <property fmtid="{D5CDD505-2E9C-101B-9397-08002B2CF9AE}" pid="3" name="KSOProductBuildVer">
    <vt:lpwstr>2052-12.1.0.17827</vt:lpwstr>
  </property>
</Properties>
</file>