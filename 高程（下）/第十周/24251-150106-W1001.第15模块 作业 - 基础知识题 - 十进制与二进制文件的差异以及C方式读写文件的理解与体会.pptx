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730" r:id="rId3"/>
    <p:sldId id="1237" r:id="rId4"/>
    <p:sldId id="1238" r:id="rId6"/>
    <p:sldId id="814" r:id="rId7"/>
    <p:sldId id="800" r:id="rId8"/>
    <p:sldId id="801" r:id="rId9"/>
    <p:sldId id="802" r:id="rId10"/>
    <p:sldId id="803" r:id="rId11"/>
    <p:sldId id="804" r:id="rId12"/>
    <p:sldId id="805" r:id="rId13"/>
    <p:sldId id="806" r:id="rId14"/>
    <p:sldId id="807" r:id="rId15"/>
    <p:sldId id="809" r:id="rId16"/>
    <p:sldId id="810" r:id="rId17"/>
    <p:sldId id="1239" r:id="rId18"/>
    <p:sldId id="813" r:id="rId19"/>
    <p:sldId id="1240" r:id="rId20"/>
    <p:sldId id="815" r:id="rId21"/>
    <p:sldId id="816" r:id="rId22"/>
    <p:sldId id="817" r:id="rId23"/>
    <p:sldId id="831" r:id="rId24"/>
    <p:sldId id="835" r:id="rId25"/>
    <p:sldId id="832" r:id="rId26"/>
    <p:sldId id="836" r:id="rId27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1" Type="http://schemas.openxmlformats.org/officeDocument/2006/relationships/tags" Target="tags/tag4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F70F7F-BE43-4A8B-A1A7-C9743CA3AD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67A556-CD7F-4282-A801-91BB0424DFC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71AAC3-E1CF-43C0-B71B-89720A73C0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FFF43-CBE6-4A7F-B1EF-DF6F550F691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5AFF3C-36C8-4D4A-97AC-FE8408D9023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E2A3C-C663-4861-8DD7-8E4A7DB9719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837D0-5604-4489-852A-B7F5ECB6A9E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35EC8-801C-4779-A815-950E7AF273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B6DF2-D4C6-44B5-980B-436D58DBD7F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0E30D-6F2E-407D-BF81-F9815A518C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5E2E0-709F-4ED7-8411-7FDA611BDE6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smtClean="0"/>
            </a:lvl1pPr>
          </a:lstStyle>
          <a:p>
            <a:pPr>
              <a:defRPr/>
            </a:pPr>
            <a:fld id="{6E7D1CD2-4D70-4106-8549-A852E5E019D8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、安装</a:t>
            </a:r>
            <a:r>
              <a:rPr lang="en-US" altLang="zh-CN" sz="1600" b="1" dirty="0" err="1">
                <a:latin typeface="+mn-ea"/>
              </a:rPr>
              <a:t>UltraEdit</a:t>
            </a:r>
            <a:r>
              <a:rPr lang="zh-CN" altLang="en-US" sz="1600" b="1" dirty="0">
                <a:latin typeface="+mn-ea"/>
              </a:rPr>
              <a:t>软件（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附件已给，版本虽旧，但够用</a:t>
            </a:r>
            <a:r>
              <a:rPr lang="zh-CN" altLang="en-US" sz="1600" b="1" dirty="0">
                <a:latin typeface="+mn-ea"/>
              </a:rPr>
              <a:t>），学会使用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进制方式查看文件，并掌握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及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进制查看间的切换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已安装</a:t>
            </a:r>
            <a:r>
              <a:rPr lang="en-US" altLang="zh-CN" sz="1600" b="1" dirty="0" err="1">
                <a:latin typeface="+mn-ea"/>
              </a:rPr>
              <a:t>VSCode</a:t>
            </a:r>
            <a:r>
              <a:rPr lang="zh-CN" altLang="en-US" sz="1600" b="1" dirty="0">
                <a:latin typeface="+mn-ea"/>
              </a:rPr>
              <a:t>的也可通过相关插件进行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进制方式的查看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VSCode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某种情况下会自动做格式转换或字符集转换，要注意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!!!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★ 也可以使用其它编辑软件，但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不建议</a:t>
            </a:r>
            <a:r>
              <a:rPr lang="en-US" altLang="zh-CN" sz="1600" b="1" dirty="0" err="1">
                <a:latin typeface="+mn-ea"/>
              </a:rPr>
              <a:t>NotePad</a:t>
            </a:r>
            <a:r>
              <a:rPr lang="en-US" altLang="zh-CN" sz="1600" b="1" dirty="0">
                <a:latin typeface="+mn-ea"/>
              </a:rPr>
              <a:t>++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、完成本文档中所有的测试程序并填写运行结果，从而体会二进制与十进制文件的差异，掌握与文件有关的函数的正确用法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后缀必须为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.c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（不强制要求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Linux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，但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建议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试一试）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11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特别说明：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★ </a:t>
            </a:r>
            <a:r>
              <a:rPr lang="zh-CN" altLang="en-US" sz="1600" b="1" dirty="0">
                <a:latin typeface="+mn-ea"/>
              </a:rPr>
              <a:t>因为篇幅问题，打开文件后均省略了是否打开成功的判断，这在实际应用中是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的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：附件给出的</a:t>
            </a:r>
            <a:r>
              <a:rPr lang="en-US" altLang="zh-CN" sz="1600" b="1" dirty="0" err="1">
                <a:latin typeface="+mn-ea"/>
              </a:rPr>
              <a:t>UltraEdit</a:t>
            </a:r>
            <a:r>
              <a:rPr lang="zh-CN" altLang="en-US" sz="1600" b="1" dirty="0">
                <a:latin typeface="+mn-ea"/>
              </a:rPr>
              <a:t>查看文件的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进制形式的方法（三种）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695" y="1291666"/>
            <a:ext cx="6310305" cy="16741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95" y="3202945"/>
            <a:ext cx="6310305" cy="15633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r="69135" b="39911"/>
          <a:stretch>
            <a:fillRect/>
          </a:stretch>
        </p:blipFill>
        <p:spPr>
          <a:xfrm>
            <a:off x="7627197" y="1291666"/>
            <a:ext cx="3763108" cy="41208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矩形 7"/>
          <p:cNvSpPr/>
          <p:nvPr/>
        </p:nvSpPr>
        <p:spPr bwMode="auto">
          <a:xfrm>
            <a:off x="3432375" y="2418973"/>
            <a:ext cx="3195782" cy="39716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正常启动，建立文件，输入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Hello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2927926" y="4156984"/>
            <a:ext cx="3833091" cy="6093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方法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：选择快捷工具栏上的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16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进制按钮，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      可以相互切换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801695" y="5720347"/>
            <a:ext cx="4536923" cy="48446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方法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：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</a:rPr>
              <a:t>Ctrl + H 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快捷键可以相互切换</a:t>
            </a:r>
            <a:endParaRPr kumimoji="1" lang="zh-CN" altLang="en-US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527637" y="5495638"/>
            <a:ext cx="3862668" cy="8774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方法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编辑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 - "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十六进制功能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菜单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  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可以相互切换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：十进制方式写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64407" y="980728"/>
            <a:ext cx="8640960" cy="35283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64407" y="4509120"/>
            <a:ext cx="8640960" cy="20882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___7___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进制方式打开的贴图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55" y="4999355"/>
            <a:ext cx="8324850" cy="1009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：二进制方式写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64407" y="980728"/>
            <a:ext cx="8640960" cy="35283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FILE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("out.txt",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w</a:t>
            </a:r>
            <a:r>
              <a:rPr kumimoji="1"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fprintf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, "hello\n");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64407" y="4509120"/>
            <a:ext cx="8640960" cy="20882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___6___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字节，用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进制方式打开的贴图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5067300"/>
            <a:ext cx="8277225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：十进制方式写，十进制方式读，</a:t>
            </a:r>
            <a:r>
              <a:rPr lang="en-US" altLang="zh-CN" sz="1600" b="1" dirty="0">
                <a:latin typeface="+mn-ea"/>
              </a:rPr>
              <a:t>0D0A</a:t>
            </a:r>
            <a:r>
              <a:rPr lang="zh-CN" altLang="en-US" sz="1600" b="1" dirty="0">
                <a:latin typeface="+mn-ea"/>
              </a:rPr>
              <a:t>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64407" y="980728"/>
            <a:ext cx="8640960" cy="446449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"r");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 (!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 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("\n");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64407" y="5445224"/>
            <a:ext cx="8640960" cy="115212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说明：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0D 0A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在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的十进制方式下被当做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__1__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个字符处理，值是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___\n___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5520" y="5445125"/>
            <a:ext cx="349567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：十进制方式写，二进制方式读，</a:t>
            </a:r>
            <a:r>
              <a:rPr lang="en-US" altLang="zh-CN" sz="1600" b="1" dirty="0">
                <a:latin typeface="+mn-ea"/>
              </a:rPr>
              <a:t>0D0A</a:t>
            </a:r>
            <a:r>
              <a:rPr lang="zh-CN" altLang="en-US" sz="1600" b="1" dirty="0">
                <a:latin typeface="+mn-ea"/>
              </a:rPr>
              <a:t>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64407" y="980728"/>
            <a:ext cx="8640960" cy="446449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 (!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 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("\n");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64407" y="5445224"/>
            <a:ext cx="8640960" cy="115212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说明：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0D 0A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在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的二进制方式下被当做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__2__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个字符处理，值是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___\r\n___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2665" y="5327015"/>
            <a:ext cx="3609975" cy="7905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：十进制方式写，十进制方式读，不同读方式在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 bwMode="auto">
          <a:xfrm>
            <a:off x="767881" y="979448"/>
            <a:ext cx="428642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"r");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(fin, "%s",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 bwMode="auto">
          <a:xfrm>
            <a:off x="767881" y="5083904"/>
            <a:ext cx="4286420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还被留在缓冲区中，因此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 bwMode="auto">
          <a:xfrm>
            <a:off x="5054301" y="979448"/>
            <a:ext cx="435106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"r");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), fin); 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课上未讲，自行查阅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 bwMode="auto">
          <a:xfrm>
            <a:off x="5054301" y="5083905"/>
            <a:ext cx="435106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被读掉，因此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__EOF(-1)___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3455" y="4785360"/>
            <a:ext cx="885825" cy="10096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3525" y="4832985"/>
            <a:ext cx="714375" cy="962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：二进制方式写，十进制方式读，不同读方式在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 bwMode="auto">
          <a:xfrm>
            <a:off x="767881" y="5083904"/>
            <a:ext cx="4286420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还被留在缓冲区中，因此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 bwMode="auto">
          <a:xfrm>
            <a:off x="5054301" y="979448"/>
            <a:ext cx="435106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</a:t>
            </a:r>
            <a:r>
              <a:rPr kumimoji="1"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"r");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), fin); 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课上未讲，自行查阅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 bwMode="auto">
          <a:xfrm>
            <a:off x="5054301" y="5083905"/>
            <a:ext cx="435106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被读掉，因此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__EOF(-1)___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767881" y="979448"/>
            <a:ext cx="428642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</a:t>
            </a:r>
            <a:r>
              <a:rPr kumimoji="1"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"r");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(fin, "%s",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855" y="4885055"/>
            <a:ext cx="847725" cy="9334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9870" y="4866005"/>
            <a:ext cx="733425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：二进制方式写，二进制方式读，不同读方式在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 bwMode="auto">
          <a:xfrm>
            <a:off x="770766" y="979448"/>
            <a:ext cx="428642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</a:t>
            </a:r>
            <a:r>
              <a:rPr kumimoji="1"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(fin, "%s",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 bwMode="auto">
          <a:xfrm>
            <a:off x="770766" y="5083904"/>
            <a:ext cx="4286420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还被留在缓冲区中，因此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fgetc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__\n___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 bwMode="auto">
          <a:xfrm>
            <a:off x="5057186" y="979448"/>
            <a:ext cx="435106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</a:t>
            </a:r>
            <a:r>
              <a:rPr kumimoji="1"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), fin); 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课上未讲，自行查阅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 bwMode="auto">
          <a:xfrm>
            <a:off x="5057186" y="5083905"/>
            <a:ext cx="435106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fgets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被读掉，因此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fgetc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__EOF(-1)___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0760" y="4902835"/>
            <a:ext cx="647700" cy="8858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5260" y="4864735"/>
            <a:ext cx="657225" cy="962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：十进制方式写，二进制方式读，不同读方式在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下的表现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 bwMode="auto">
          <a:xfrm>
            <a:off x="767881" y="979448"/>
            <a:ext cx="428642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(fin, "%s",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 bwMode="auto">
          <a:xfrm>
            <a:off x="767881" y="5083904"/>
            <a:ext cx="4286420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__\r__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__\r__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还被留在缓冲区中，因此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__\r___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 bwMode="auto">
          <a:xfrm>
            <a:off x="5054301" y="979448"/>
            <a:ext cx="435106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"hello\n");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), fin); 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课上未讲，自行查阅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 bwMode="auto">
          <a:xfrm>
            <a:off x="5054301" y="5083905"/>
            <a:ext cx="435106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被读掉，因此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__EOF(-1)___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4090" y="4860925"/>
            <a:ext cx="809625" cy="9429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7165" y="4860925"/>
            <a:ext cx="66675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的文件，观察文件长度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64407" y="980728"/>
            <a:ext cx="863748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"ABC\0\x61\x62\x63");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64407" y="5085184"/>
            <a:ext cx="863748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__3___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向文件中输出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"ABC\0\x61\x62\x63"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这一字符串时，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\0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被视为字符串的终止标志。因此，字符串在遇到\0时即被视为结束，后面的字符不会被写入。因此，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out.txt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中只有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ABC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三个字符。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进制方式显示的截图：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3580" y="5945505"/>
            <a:ext cx="4276725" cy="5251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：用十进制方式写入含非图形字符</a:t>
            </a:r>
            <a:r>
              <a:rPr lang="en-US" altLang="zh-CN" sz="1600" b="1" dirty="0">
                <a:latin typeface="+mn-ea"/>
              </a:rPr>
              <a:t>(ASCII</a:t>
            </a:r>
            <a:r>
              <a:rPr lang="zh-CN" altLang="en-US" sz="1600" b="1" dirty="0">
                <a:latin typeface="+mn-ea"/>
              </a:rPr>
              <a:t>码</a:t>
            </a:r>
            <a:r>
              <a:rPr lang="en-US" altLang="zh-CN" sz="1600" b="1" dirty="0">
                <a:latin typeface="+mn-ea"/>
              </a:rPr>
              <a:t>32</a:t>
            </a:r>
            <a:r>
              <a:rPr lang="zh-CN" altLang="en-US" sz="1600" b="1" dirty="0">
                <a:latin typeface="+mn-ea"/>
              </a:rPr>
              <a:t>是空格，</a:t>
            </a:r>
            <a:r>
              <a:rPr lang="en-US" altLang="zh-CN" sz="1600" b="1" dirty="0">
                <a:latin typeface="+mn-ea"/>
              </a:rPr>
              <a:t>33-126</a:t>
            </a:r>
            <a:r>
              <a:rPr lang="zh-CN" altLang="en-US" sz="1600" b="1" dirty="0">
                <a:latin typeface="+mn-ea"/>
              </a:rPr>
              <a:t>为图形字符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，但不含</a:t>
            </a:r>
            <a:r>
              <a:rPr lang="en-US" altLang="zh-CN" sz="1600" b="1" dirty="0">
                <a:latin typeface="+mn-ea"/>
              </a:rPr>
              <a:t>\0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68771" y="980728"/>
            <a:ext cx="8637486" cy="338904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"ABC\x1\x2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\175()-=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68985" y="4370070"/>
            <a:ext cx="8637270" cy="231965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(VS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warning)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__18___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字节，为什么？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语言十进制方式写入字符串，中间没有尾零不会终止，字符串一共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18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个字符。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进制方式显示的截图：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waring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是：warning C4819: 该文件包含不能在当前代码页(936)中表示的字符。请将该文件保存为 Unicode 格式以防止数据丢失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的哪个字符导致了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warning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\xff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导致的</a:t>
            </a:r>
            <a:endParaRPr kumimoji="1"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6260" y="4955540"/>
            <a:ext cx="5473065" cy="6254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\x1A(</a:t>
            </a:r>
            <a:r>
              <a:rPr lang="zh-CN" altLang="en-US" sz="1600" b="1" dirty="0">
                <a:latin typeface="+mn-ea"/>
              </a:rPr>
              <a:t>十进制</a:t>
            </a:r>
            <a:r>
              <a:rPr lang="en-US" altLang="zh-CN" sz="1600" b="1" dirty="0">
                <a:latin typeface="+mn-ea"/>
              </a:rPr>
              <a:t>26=CTRL+Z)</a:t>
            </a:r>
            <a:r>
              <a:rPr lang="zh-CN" altLang="en-US" sz="1600" b="1" dirty="0">
                <a:latin typeface="+mn-ea"/>
              </a:rPr>
              <a:t>的文件，并用十进制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二进制方式读取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68771" y="980728"/>
            <a:ext cx="428642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"ABC\x1\x2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"r");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("c=%d\n", c);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68771" y="5085184"/>
            <a:ext cx="4286420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_____17______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_____6_____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 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0x1A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被认为是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EOF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文件结束标志，所以在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fgetc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\x1A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in.eof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为真，循环结束，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055235" y="980440"/>
            <a:ext cx="4617085" cy="410464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"ABC\x1\x2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("c=%d\n", c);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055235" y="5085080"/>
            <a:ext cx="4617085" cy="151193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_____17______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_____18_____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的大小比文件大小大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__1__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，原因是：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程序中第一个字符为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EOF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时，还没读取到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EOF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in.eof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为假，循环会多做一遍，直到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fgetc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EOF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才会终止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改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只允许修改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while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循环，使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"c=xx"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的输出（左侧：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\x1A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前字符数，右侧：与文件大小一致）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68771" y="980728"/>
            <a:ext cx="428642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"r");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("c=%d\n", c);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68771" y="5085184"/>
            <a:ext cx="4286420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_____17______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_____5_____</a:t>
            </a:r>
            <a:endParaRPr kumimoji="1" lang="en-US" altLang="zh-CN" sz="1600" b="1" strike="sngStrike" dirty="0">
              <a:solidFill>
                <a:srgbClr val="FFFF00"/>
              </a:solidFill>
              <a:highlight>
                <a:srgbClr val="008000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055191" y="980728"/>
            <a:ext cx="435106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("c=%d\n", c);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055191" y="5085185"/>
            <a:ext cx="435106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____17_______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___17_______</a:t>
            </a:r>
            <a:endParaRPr kumimoji="1" lang="en-US" altLang="zh-CN" sz="1600" b="1" strike="sngStrike" dirty="0">
              <a:solidFill>
                <a:srgbClr val="FFFF00"/>
              </a:solidFill>
              <a:highlight>
                <a:srgbClr val="008000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 bwMode="auto">
          <a:xfrm>
            <a:off x="2785742" y="3042138"/>
            <a:ext cx="2190703" cy="9319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改：</a:t>
            </a:r>
            <a:r>
              <a:rPr kumimoji="1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while (fgetc(fin) != EOF){</a:t>
            </a:r>
            <a:endParaRPr kumimoji="1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c++;</a:t>
            </a:r>
            <a:endParaRPr kumimoji="1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kumimoji="1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 bwMode="auto">
          <a:xfrm>
            <a:off x="1065380" y="3042138"/>
            <a:ext cx="1720362" cy="9319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 bwMode="auto">
          <a:xfrm>
            <a:off x="7072162" y="3042138"/>
            <a:ext cx="2190703" cy="9319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改：</a:t>
            </a:r>
            <a:r>
              <a:rPr kumimoji="1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while (fgetc(fin) != EOF){</a:t>
            </a:r>
            <a:endParaRPr kumimoji="1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c++;</a:t>
            </a:r>
            <a:endParaRPr kumimoji="1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}</a:t>
            </a:r>
            <a:endParaRPr kumimoji="1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 bwMode="auto">
          <a:xfrm>
            <a:off x="5351800" y="3042138"/>
            <a:ext cx="1720362" cy="9319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</a:t>
            </a:r>
            <a:r>
              <a:rPr lang="en-US" altLang="zh-CN" sz="1600" b="1" dirty="0" err="1">
                <a:latin typeface="+mn-ea"/>
              </a:rPr>
              <a:t>xFF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十进制</a:t>
            </a:r>
            <a:r>
              <a:rPr lang="en-US" altLang="zh-CN" sz="1600" b="1" dirty="0">
                <a:latin typeface="+mn-ea"/>
              </a:rPr>
              <a:t>255/-1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en-US" altLang="zh-CN" sz="1600" b="1" dirty="0">
                <a:latin typeface="+mn-ea"/>
              </a:rPr>
              <a:t>EOF</a:t>
            </a:r>
            <a:r>
              <a:rPr lang="zh-CN" altLang="en-US" sz="1600" b="1" dirty="0">
                <a:latin typeface="+mn-ea"/>
              </a:rPr>
              <a:t>的定义是</a:t>
            </a:r>
            <a:r>
              <a:rPr lang="en-US" altLang="zh-CN" sz="1600" b="1" dirty="0">
                <a:latin typeface="+mn-ea"/>
              </a:rPr>
              <a:t>-1)</a:t>
            </a:r>
            <a:r>
              <a:rPr lang="zh-CN" altLang="en-US" sz="1600" b="1" dirty="0">
                <a:latin typeface="+mn-ea"/>
              </a:rPr>
              <a:t>的文件，并用十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二进制读取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68771" y="980728"/>
            <a:ext cx="428642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"ABC\x1\x2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"r");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("c=%d\n", c);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68771" y="5085184"/>
            <a:ext cx="4286420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_____17______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____18______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055191" y="980728"/>
            <a:ext cx="435106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"ABC\x1\x2</a:t>
            </a:r>
            <a:r>
              <a:rPr kumimoji="1"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2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("c=%d\n", c);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055191" y="5085185"/>
            <a:ext cx="435106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_____17______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____18______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768771" y="6237312"/>
            <a:ext cx="8637486" cy="5760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综合例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11~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，结论：当文件中含字符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0x1A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0x1A/0xFF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）时，不能用十进制方式读取，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而当文件中含字符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0xFF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0x1A/0xFF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）时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，是可以用二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十进制方式正确读取的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改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只允许修改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while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循环，使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"c=xx"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的输出与文件大小一致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68771" y="980728"/>
            <a:ext cx="428642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"r");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("c=%d\n", c);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68771" y="5085184"/>
            <a:ext cx="4286420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_____17______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_____17_____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055191" y="980728"/>
            <a:ext cx="435106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("c=%d\n", c);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055191" y="5085185"/>
            <a:ext cx="4351066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____17_______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___17_______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>
            <p:custDataLst>
              <p:tags r:id="rId5"/>
            </p:custDataLst>
          </p:nvPr>
        </p:nvSpPr>
        <p:spPr bwMode="auto">
          <a:xfrm>
            <a:off x="2785742" y="3042138"/>
            <a:ext cx="2190703" cy="9319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改：</a:t>
            </a:r>
            <a:r>
              <a:rPr kumimoji="1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while (fgetc(fin) != EOF){</a:t>
            </a:r>
            <a:endParaRPr kumimoji="1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c++;</a:t>
            </a:r>
            <a:endParaRPr kumimoji="1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}</a:t>
            </a:r>
            <a:endParaRPr kumimoji="1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>
            <p:custDataLst>
              <p:tags r:id="rId6"/>
            </p:custDataLst>
          </p:nvPr>
        </p:nvSpPr>
        <p:spPr bwMode="auto">
          <a:xfrm>
            <a:off x="1065380" y="3042138"/>
            <a:ext cx="1720362" cy="9319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 bwMode="auto">
          <a:xfrm>
            <a:off x="7072162" y="3042138"/>
            <a:ext cx="2190703" cy="9319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改：</a:t>
            </a:r>
            <a:r>
              <a:rPr kumimoji="1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while (fgetc(fin) != EOF){</a:t>
            </a:r>
            <a:endParaRPr kumimoji="1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c++;</a:t>
            </a:r>
            <a:endParaRPr kumimoji="1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}</a:t>
            </a:r>
            <a:endParaRPr kumimoji="1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>
            <p:custDataLst>
              <p:tags r:id="rId8"/>
            </p:custDataLst>
          </p:nvPr>
        </p:nvSpPr>
        <p:spPr bwMode="auto">
          <a:xfrm>
            <a:off x="5351800" y="3042138"/>
            <a:ext cx="1720362" cy="9319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：比较格式化读和</a:t>
            </a:r>
            <a:r>
              <a:rPr lang="en-US" altLang="zh-CN" sz="1600" b="1" dirty="0">
                <a:latin typeface="+mn-ea"/>
              </a:rPr>
              <a:t>read()</a:t>
            </a:r>
            <a:r>
              <a:rPr lang="zh-CN" altLang="en-US" sz="1600" b="1" dirty="0">
                <a:latin typeface="+mn-ea"/>
              </a:rPr>
              <a:t>读的区别，并观察</a:t>
            </a:r>
            <a:r>
              <a:rPr lang="en-US" altLang="zh-CN" sz="1600" b="1" dirty="0" err="1">
                <a:latin typeface="+mn-ea"/>
              </a:rPr>
              <a:t>ftell</a:t>
            </a:r>
            <a:r>
              <a:rPr lang="zh-CN" altLang="en-US" sz="1600" b="1" dirty="0">
                <a:latin typeface="+mn-ea"/>
              </a:rPr>
              <a:t>在不同读入方式时值的差别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83565" y="980440"/>
            <a:ext cx="4471670" cy="410464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"ABCDEFGHIJKLMNOPQRSTUVWXYZ\n");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name[30];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fscanf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(fin, "%s", name);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("*%s*\n", name);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name[26]);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83565" y="5085080"/>
            <a:ext cx="4471670" cy="14039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_____28______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name[26]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____0_______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_______26_____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方式读入字符串时，和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方式相同，都是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___\n___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停止，并在数组最后加入一个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___\0___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055191" y="980728"/>
            <a:ext cx="435106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"ABCDEFGHIJKLMNOPQRSTUVWXYZ\n");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name[30];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(name), 1, 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("*%s*\n", name);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name[26]);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055235" y="5085080"/>
            <a:ext cx="4894580" cy="14039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_____28______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ABCDEFGHIJKLMNOPQRSTUVWXYZ+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乱码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name[26]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_____13______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________28____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读入时，是读到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___\n___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停止，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不在数组最后加入一个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___\0___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9578110" y="4405745"/>
            <a:ext cx="2482826" cy="67943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不要截图，手填，确定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乱码的地方可以填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乱码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：比较</a:t>
            </a:r>
            <a:r>
              <a:rPr lang="en-US" altLang="zh-CN" sz="1600" b="1" dirty="0">
                <a:latin typeface="+mn-ea"/>
              </a:rPr>
              <a:t>read()</a:t>
            </a:r>
            <a:r>
              <a:rPr lang="zh-CN" altLang="en-US" sz="1600" b="1" dirty="0">
                <a:latin typeface="+mn-ea"/>
              </a:rPr>
              <a:t>读超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不超过文件长度时的区别，并观察</a:t>
            </a:r>
            <a:r>
              <a:rPr lang="en-US" altLang="zh-CN" sz="1600" b="1" dirty="0" err="1">
                <a:latin typeface="+mn-ea"/>
              </a:rPr>
              <a:t>ftell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feof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的返回值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68771" y="980728"/>
            <a:ext cx="4286420" cy="435624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,"ABCDEFGHIJKLMNOPQRSTUVWXYZ");//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\n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name[30] = "00000000000000000000000000000";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20, 1, 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("*%s*\n", name);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name[20]);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68771" y="5336976"/>
            <a:ext cx="4286420" cy="126037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____26_______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ABCDEFGHIJKLMNOPQRST000000000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name[20]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_____48______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______20______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_______0______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055191" y="980728"/>
            <a:ext cx="4351066" cy="43562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,"ABCDEFGHIJKLMNOPQRSTUVWXYZ");//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\n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rb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name[30] = "00000000000000000000000000000";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1, 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("*%s*\n", name);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055191" y="5336974"/>
            <a:ext cx="4351066" cy="126037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_____26______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ABCDEFGHIJKLMNOPQRSTUVWXYZ000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_____26_______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feof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______1_______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15</a:t>
            </a:r>
            <a:r>
              <a:rPr lang="zh-CN" altLang="en-US" sz="1600" b="1" dirty="0">
                <a:latin typeface="+mn-ea"/>
              </a:rPr>
              <a:t>：使用</a:t>
            </a:r>
            <a:r>
              <a:rPr lang="en-US" altLang="zh-CN" sz="1600" b="1" dirty="0" err="1">
                <a:latin typeface="+mn-ea"/>
              </a:rPr>
              <a:t>fseek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移动文件指针，观察</a:t>
            </a:r>
            <a:r>
              <a:rPr lang="en-US" altLang="zh-CN" sz="1600" b="1" dirty="0" err="1">
                <a:latin typeface="+mn-ea"/>
              </a:rPr>
              <a:t>ftell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不同情况下的返回值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68985" y="980440"/>
            <a:ext cx="4841875" cy="432054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"ABCDEFGHIJKLMNOPQRSTUVWXYZ"); //</a:t>
            </a:r>
            <a:r>
              <a:rPr kumimoji="1"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rb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05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name[80];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10, 1, fin);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name[10]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("*%s*\n", name);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fseek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(fin, -5, SEEK_CUR);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10, 1, fin);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name[10]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("*%s*\n", name);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68985" y="5300980"/>
            <a:ext cx="4840605" cy="15055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下运行，输出依次是：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可截图，需对结果做分析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从文件中读取10个字符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ABCDEFGHIJ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到数组 name 中。此时，文件指针移动了10个字节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现在位于第10个字节处，输出为10。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给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第十个字符赋值为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，输出字符串打印前十个字符，即为ABCDEFGHIJ。将文件指针从当前位置向回移动5个字节，移动到第5个字节处，输出为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。再次读取10个字符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FGHIJKLMNO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到 name 数组中，文件指针随之移动了10个字节，输出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给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第十个字符赋值为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，输出字符串打印前十个字符，即为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FGHIJKLMNO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610860" y="980440"/>
            <a:ext cx="5100320" cy="432054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*fin;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"ABCDEFGHIJKLMNOPQRSTUVWXYZ"); //</a:t>
            </a:r>
            <a:r>
              <a:rPr kumimoji="1" lang="zh-CN" altLang="en-US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无换行符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fout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fin =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rb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");</a:t>
            </a:r>
            <a:endParaRPr kumimoji="1" lang="en-US" altLang="zh-CN" sz="105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name[80];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30, 1, fin);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name[30]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("*%s*\n", name);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fseek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(fin, 5, SEEK_SET);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(name, 30, 1, fin);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("%d\n",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ftell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name[30] = '\0';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("*%s*\n", name);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05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(fin);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5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05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610225" y="5300980"/>
            <a:ext cx="5100955" cy="15055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下运行，输出依次是：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可截图，需对结果做分析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从文件中读取30个字符到数组 name 中。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由于读取文件中只有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个字符，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文件指针移动了26个字节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现在位于第26个字节处，输出为26。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给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个字符赋值为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，输出字符串打印前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个字符，但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中第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26-29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个字符未赋值，所以会输出乱码，最终输出ABCDEFGHIJKLMNOPQRSTUVWXYZ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乱码。将文件指针从起始位置向后移动5个字节，移动到第5个字节处，输出为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。再次读取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个字符，文件指针为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，只能从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Z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，覆盖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name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个字符，其余与上相同，所以输出FGHIJKLMNOPQRSTUVWXYZVWXYZ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乱码。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9627140" y="1125167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1045" y="3671570"/>
            <a:ext cx="1551305" cy="15614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5930" y="3488690"/>
            <a:ext cx="3495675" cy="14782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fread</a:t>
            </a:r>
            <a:r>
              <a:rPr lang="zh-CN" altLang="en-US" sz="1600" b="1" dirty="0">
                <a:latin typeface="+mn-ea"/>
              </a:rPr>
              <a:t>的返回值理解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68771" y="980728"/>
            <a:ext cx="4286420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("in.txt", "r");       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26, 1,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("ret=%d\n",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055191" y="980728"/>
            <a:ext cx="4351066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准备工作：在当前目录下建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in.txt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文件，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写入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A..Z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个字母，不要加回车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确定文件大小为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!!!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2/3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26,1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ret=1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1,26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ret=23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13,2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ret=2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2,13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ret=13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80,1, ret=0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1,80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ret=26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15,2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ret=1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2,15, ret=13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61059" y="3212976"/>
            <a:ext cx="720080" cy="28803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fread</a:t>
            </a:r>
            <a:r>
              <a:rPr lang="zh-CN" altLang="en-US" sz="1600" b="1" dirty="0">
                <a:latin typeface="+mn-ea"/>
              </a:rPr>
              <a:t>用于二进制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十进制方式打开的文件时的返回值理解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68985" y="980440"/>
            <a:ext cx="4286250" cy="46907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("in.txt", "r");       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fread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1, 80,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("ret=%d\n",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055235" y="980440"/>
            <a:ext cx="4591685" cy="46913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准备工作：当前目录下建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in.txt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文件，写多行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123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注：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、考虑到字符集问题，不要中文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2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、文件总大小不超过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3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、最后一行加不加回车均可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文件编辑完成后，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右键菜单查看文件属性，能看到大小是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____13_____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运行左侧程序，打印的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ret=____11___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"r"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改为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，再次运行，打印的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ret=__13___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两次运行结果不一样的原因是：十进制方式读取时，将换行符的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0D 0A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看作是一个字节读入；二进制方式则看成两个字符。文件中共有两个换行符，所以十进制的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比二进制的少了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3352746" y="2958196"/>
            <a:ext cx="648072" cy="28803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fwrite</a:t>
            </a:r>
            <a:r>
              <a:rPr lang="zh-CN" altLang="en-US" sz="1600" b="1" dirty="0">
                <a:latin typeface="+mn-ea"/>
              </a:rPr>
              <a:t>返回值理解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71746" y="980728"/>
            <a:ext cx="5112568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[80]="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       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fwrite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26, 1,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("ret=%d\n",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884545" y="980440"/>
            <a:ext cx="4043680" cy="410464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fwrite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2/3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26,1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ret=__1__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，文件大小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__26__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1,26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ret=__26__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，文件大小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__26__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13,2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ret=__2__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，文件大小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__26__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2,13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ret=__13__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，文件大小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__26__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80,1, ret=__1__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，文件大小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__80__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1,80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ret=__80__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，文件大小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__80__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15,2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ret=__2__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，文件大小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__30__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2,15, ret=__15__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，文件大小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__30__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478519" y="3212976"/>
            <a:ext cx="720080" cy="28803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C</a:t>
            </a:r>
            <a:r>
              <a:rPr lang="zh-CN" altLang="en-US" sz="2800" b="1" dirty="0">
                <a:latin typeface="+mn-ea"/>
              </a:rPr>
              <a:t>语言的文件操作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fwrite</a:t>
            </a:r>
            <a:r>
              <a:rPr lang="zh-CN" altLang="en-US" sz="1600" b="1" dirty="0">
                <a:latin typeface="+mn-ea"/>
              </a:rPr>
              <a:t>用于二进制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十进制方式打开的文件时的返回值理解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68985" y="980440"/>
            <a:ext cx="5112385" cy="439547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FILE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[80]="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\n123\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\n";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fopen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("out.txt", "w");       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ret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fwrite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1,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("ret=%d\n",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881370" y="980440"/>
            <a:ext cx="3524885" cy="439483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运行左侧程序，打印的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ret=___12____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右键菜单查看文件属性，大小是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_____15____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"w"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改为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，再次运行，打印的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ret=___12__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右键菜单查看文件属性，大小是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____12_____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两次运行打印的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一样，但文件属性中看到的文件大小不一样的原因是：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十进制方式写入时，将换行符作为两个字节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0D 0A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写入；二进制方式则作为一个字符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写入。一共写入了三个换行符，所以十进制的文件大小比二进制的大了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。但一共都是写入了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个字符，所以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返回值都是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12.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496762" y="3204663"/>
            <a:ext cx="648072" cy="28803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2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3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4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5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6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7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8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9.xml><?xml version="1.0" encoding="utf-8"?>
<p:tagLst xmlns:p="http://schemas.openxmlformats.org/presentationml/2006/main">
  <p:tag name="KSO_WM_DIAGRAM_VIRTUALLY_FRAME" val="{&quot;height&quot;:442.253937007874,&quot;left&quot;:60.69023622047244,&quot;top&quot;:77.12188976377954,&quot;width&quot;:680.1170078740158}"/>
</p:tagLst>
</file>

<file path=ppt/tags/tag10.xml><?xml version="1.0" encoding="utf-8"?>
<p:tagLst xmlns:p="http://schemas.openxmlformats.org/presentationml/2006/main">
  <p:tag name="KSO_WM_DIAGRAM_VIRTUALLY_FRAME" val="{&quot;height&quot;:442.253937007874,&quot;left&quot;:60.69023622047244,&quot;top&quot;:77.12188976377954,&quot;width&quot;:680.1170078740158}"/>
</p:tagLst>
</file>

<file path=ppt/tags/tag11.xml><?xml version="1.0" encoding="utf-8"?>
<p:tagLst xmlns:p="http://schemas.openxmlformats.org/presentationml/2006/main">
  <p:tag name="KSO_WM_DIAGRAM_VIRTUALLY_FRAME" val="{&quot;height&quot;:442.253937007874,&quot;left&quot;:60.69023622047244,&quot;top&quot;:77.12188976377954,&quot;width&quot;:680.1170078740158}"/>
</p:tagLst>
</file>

<file path=ppt/tags/tag12.xml><?xml version="1.0" encoding="utf-8"?>
<p:tagLst xmlns:p="http://schemas.openxmlformats.org/presentationml/2006/main">
  <p:tag name="KSO_WM_DIAGRAM_VIRTUALLY_FRAME" val="{&quot;height&quot;:442.253937007874,&quot;left&quot;:60.69023622047244,&quot;top&quot;:77.12188976377954,&quot;width&quot;:680.1170078740158}"/>
</p:tagLst>
</file>

<file path=ppt/tags/tag13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14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15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16.xml><?xml version="1.0" encoding="utf-8"?>
<p:tagLst xmlns:p="http://schemas.openxmlformats.org/presentationml/2006/main">
  <p:tag name="KSO_WM_DIAGRAM_VIRTUALLY_FRAME" val="{&quot;height&quot;:442.253937007874,&quot;left&quot;:60.463070866141734,&quot;top&quot;:77.12188976377954,&quot;width&quot;:680.1170078740158}"/>
</p:tagLst>
</file>

<file path=ppt/tags/tag17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18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19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20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21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22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23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24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25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26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27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28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29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30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31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32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33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34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35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36.xml><?xml version="1.0" encoding="utf-8"?>
<p:tagLst xmlns:p="http://schemas.openxmlformats.org/presentationml/2006/main">
  <p:tag name="KSO_WM_DIAGRAM_VIRTUALLY_FRAME" val="{&quot;height&quot;:442.253937007874,&quot;left&quot;:60.533149606299204,&quot;top&quot;:77.22267716535433,&quot;width&quot;:680.1170078740157}"/>
</p:tagLst>
</file>

<file path=ppt/tags/tag37.xml><?xml version="1.0" encoding="utf-8"?>
<p:tagLst xmlns:p="http://schemas.openxmlformats.org/presentationml/2006/main">
  <p:tag name="KSO_WM_DIAGRAM_VIRTUALLY_FRAME" val="{&quot;height&quot;:442.25385826771645,&quot;left&quot;:60.533149606299204,&quot;top&quot;:77.22267716535433,&quot;width&quot;:680.1170078740157}"/>
</p:tagLst>
</file>

<file path=ppt/tags/tag38.xml><?xml version="1.0" encoding="utf-8"?>
<p:tagLst xmlns:p="http://schemas.openxmlformats.org/presentationml/2006/main">
  <p:tag name="KSO_WM_DIAGRAM_VIRTUALLY_FRAME" val="{&quot;height&quot;:442.25385826771645,&quot;left&quot;:60.533149606299204,&quot;top&quot;:77.22267716535433,&quot;width&quot;:680.1170078740157}"/>
</p:tagLst>
</file>

<file path=ppt/tags/tag39.xml><?xml version="1.0" encoding="utf-8"?>
<p:tagLst xmlns:p="http://schemas.openxmlformats.org/presentationml/2006/main">
  <p:tag name="KSO_WM_DIAGRAM_VIRTUALLY_FRAME" val="{&quot;height&quot;:442.25385826771645,&quot;left&quot;:60.533149606299204,&quot;top&quot;:77.22267716535433,&quot;width&quot;:680.1170078740157}"/>
</p:tagLst>
</file>

<file path=ppt/tags/tag40.xml><?xml version="1.0" encoding="utf-8"?>
<p:tagLst xmlns:p="http://schemas.openxmlformats.org/presentationml/2006/main">
  <p:tag name="KSO_WM_DIAGRAM_VIRTUALLY_FRAME" val="{&quot;height&quot;:442.25385826771645,&quot;left&quot;:60.533149606299204,&quot;top&quot;:77.22267716535433,&quot;width&quot;:680.1170078740157}"/>
</p:tagLst>
</file>

<file path=ppt/tags/tag41.xml><?xml version="1.0" encoding="utf-8"?>
<p:tagLst xmlns:p="http://schemas.openxmlformats.org/presentationml/2006/main">
  <p:tag name="commondata" val="eyJoZGlkIjoiZDc1ZjNmMDk0NWFhNjg2YWU2ZDlmOThlYjIyMWYxMzY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17471</Words>
  <Application>WPS 演示</Application>
  <PresentationFormat>宽屏</PresentationFormat>
  <Paragraphs>1004</Paragraphs>
  <Slides>24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染墨相思</cp:lastModifiedBy>
  <cp:revision>45</cp:revision>
  <dcterms:created xsi:type="dcterms:W3CDTF">2020-08-13T13:39:00Z</dcterms:created>
  <dcterms:modified xsi:type="dcterms:W3CDTF">2024-11-09T02:57:11Z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FD534150C5894E5B9386A31501A3C2ED_12</vt:lpwstr>
  </property>
  <property fmtid="{D5CDD505-2E9C-101B-9397-08002B2CF9AE}" pid="3" name="KSOProductBuildVer">
    <vt:lpwstr>2052-12.1.0.18608</vt:lpwstr>
  </property>
</Properties>
</file>