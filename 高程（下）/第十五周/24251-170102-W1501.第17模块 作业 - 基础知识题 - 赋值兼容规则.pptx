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838" r:id="rId3"/>
    <p:sldId id="839" r:id="rId4"/>
    <p:sldId id="841" r:id="rId5"/>
    <p:sldId id="842" r:id="rId6"/>
    <p:sldId id="845" r:id="rId7"/>
    <p:sldId id="846" r:id="rId8"/>
    <p:sldId id="847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2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F70F7F-BE43-4A8B-A1A7-C9743CA3AD5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67A556-CD7F-4282-A801-91BB0424DFC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71AAC3-E1CF-43C0-B71B-89720A73C05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5FFF43-CBE6-4A7F-B1EF-DF6F550F691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5AFF3C-36C8-4D4A-97AC-FE8408D9023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3E2A3C-C663-4861-8DD7-8E4A7DB9719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8837D0-5604-4489-852A-B7F5ECB6A9E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A35EC8-801C-4779-A815-950E7AF273F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1B6DF2-D4C6-44B5-980B-436D58DBD7F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F0E30D-6F2E-407D-BF81-F9815A518C4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65E2E0-709F-4ED7-8411-7FDA611BDE6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smtClean="0"/>
            </a:lvl1pPr>
          </a:lstStyle>
          <a:p>
            <a:pPr>
              <a:defRPr/>
            </a:pPr>
            <a:fld id="{6E7D1CD2-4D70-4106-8549-A852E5E019D8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§17.</a:t>
            </a:r>
            <a:r>
              <a:rPr lang="zh-CN" altLang="en-US" sz="2800" b="1" dirty="0">
                <a:latin typeface="+mn-ea"/>
              </a:rPr>
              <a:t>继承与派生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画内存图并分析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要求：分析下面的程序为什么在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下运行会出错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★ main</a:t>
            </a:r>
            <a:r>
              <a:rPr lang="zh-CN" altLang="en-US" sz="1600" b="1" dirty="0">
                <a:latin typeface="+mn-ea"/>
              </a:rPr>
              <a:t>函数中红色的三句，每句均要画出当前的内存图（为方便阅读，一句可以多页），分析为什么会出错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可参考第</a:t>
            </a:r>
            <a:r>
              <a:rPr lang="en-US" altLang="zh-CN" sz="1600" b="1" dirty="0">
                <a:latin typeface="+mn-ea"/>
              </a:rPr>
              <a:t>13</a:t>
            </a:r>
            <a:r>
              <a:rPr lang="zh-CN" altLang="en-US" sz="1600" b="1" dirty="0">
                <a:latin typeface="+mn-ea"/>
              </a:rPr>
              <a:t>模块 </a:t>
            </a:r>
            <a:r>
              <a:rPr lang="en-US" altLang="zh-CN" sz="1600" b="1" dirty="0">
                <a:latin typeface="+mn-ea"/>
              </a:rPr>
              <a:t>P.90-92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P.113-115</a:t>
            </a:r>
            <a:r>
              <a:rPr lang="zh-CN" altLang="en-US" sz="1600" b="1" dirty="0">
                <a:latin typeface="+mn-ea"/>
              </a:rPr>
              <a:t>，第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模块 </a:t>
            </a:r>
            <a:r>
              <a:rPr lang="en-US" altLang="zh-CN" sz="1600" b="1" dirty="0">
                <a:latin typeface="+mn-ea"/>
              </a:rPr>
              <a:t>P.8-P.14</a:t>
            </a:r>
            <a:endParaRPr lang="zh-CN" altLang="en-US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不允许手写、手写后贴图，转换为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后在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文档作业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中提交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（</a:t>
            </a:r>
            <a:r>
              <a:rPr lang="en-US" altLang="zh-CN" sz="1600" b="1">
                <a:solidFill>
                  <a:srgbClr val="FF0000"/>
                </a:solidFill>
                <a:latin typeface="+mn-ea"/>
              </a:rPr>
              <a:t>2024.12.19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前）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894668" y="981843"/>
            <a:ext cx="4729445" cy="48943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class A 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private: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char* s;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public: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int a;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A() { s = new char[20]; }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~A() 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"A</a:t>
            </a:r>
            <a:r>
              <a:rPr lang="zh-CN" altLang="en-US" sz="1200" b="1" dirty="0">
                <a:latin typeface="+mn-ea"/>
              </a:rPr>
              <a:t>析构</a:t>
            </a:r>
            <a:r>
              <a:rPr lang="en-US" altLang="zh-CN" sz="1200" b="1" dirty="0">
                <a:latin typeface="+mn-ea"/>
              </a:rPr>
              <a:t>"</a:t>
            </a:r>
            <a:r>
              <a:rPr lang="zh-CN" altLang="en-US" sz="1200" b="1" dirty="0">
                <a:latin typeface="+mn-ea"/>
              </a:rPr>
              <a:t> </a:t>
            </a:r>
            <a:r>
              <a:rPr lang="en-US" altLang="zh-CN" sz="1200" b="1" dirty="0">
                <a:latin typeface="+mn-ea"/>
              </a:rPr>
              <a:t>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delete s;</a:t>
            </a:r>
            <a:endParaRPr lang="en-US" altLang="zh-CN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</a:t>
            </a:r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class B :public A 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public: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int b;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~B() {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"B</a:t>
            </a:r>
            <a:r>
              <a:rPr lang="zh-CN" altLang="en-US" sz="1200" b="1" dirty="0">
                <a:latin typeface="+mn-ea"/>
              </a:rPr>
              <a:t>析构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 }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B </a:t>
            </a:r>
            <a:r>
              <a:rPr lang="en-US" altLang="zh-CN" sz="1200" b="1" dirty="0" err="1">
                <a:latin typeface="+mn-ea"/>
              </a:rPr>
              <a:t>b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b.a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= 15;</a:t>
            </a:r>
            <a:endParaRPr lang="en-US" altLang="zh-CN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A a1(b);   //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复制构造</a:t>
            </a:r>
            <a:endParaRPr lang="zh-CN" altLang="en-US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A a2;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a2 = b;    //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赋值</a:t>
            </a:r>
            <a:endParaRPr lang="zh-CN" altLang="en-US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 bwMode="auto">
          <a:xfrm>
            <a:off x="264748" y="1642878"/>
            <a:ext cx="4729445" cy="48943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p>
            <a:r>
              <a:rPr lang="en-US" altLang="zh-CN" sz="1200" b="1" dirty="0">
                <a:latin typeface="+mn-ea"/>
              </a:rPr>
              <a:t>#include &lt;iostream&gt;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class A 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private: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char* s;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public: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int a;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A() { s = new char[20]; }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~A() 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"A</a:t>
            </a:r>
            <a:r>
              <a:rPr lang="zh-CN" altLang="en-US" sz="1200" b="1" dirty="0">
                <a:latin typeface="+mn-ea"/>
              </a:rPr>
              <a:t>析构</a:t>
            </a:r>
            <a:r>
              <a:rPr lang="en-US" altLang="zh-CN" sz="1200" b="1" dirty="0">
                <a:latin typeface="+mn-ea"/>
              </a:rPr>
              <a:t>"</a:t>
            </a:r>
            <a:r>
              <a:rPr lang="zh-CN" altLang="en-US" sz="1200" b="1" dirty="0">
                <a:latin typeface="+mn-ea"/>
              </a:rPr>
              <a:t> </a:t>
            </a:r>
            <a:r>
              <a:rPr lang="en-US" altLang="zh-CN" sz="1200" b="1" dirty="0">
                <a:latin typeface="+mn-ea"/>
              </a:rPr>
              <a:t>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delete s;</a:t>
            </a:r>
            <a:endParaRPr lang="en-US" altLang="zh-CN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</a:t>
            </a:r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class B :public A 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public: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int b;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~B() {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"B</a:t>
            </a:r>
            <a:r>
              <a:rPr lang="zh-CN" altLang="en-US" sz="1200" b="1" dirty="0">
                <a:latin typeface="+mn-ea"/>
              </a:rPr>
              <a:t>析构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 }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B </a:t>
            </a:r>
            <a:r>
              <a:rPr lang="en-US" altLang="zh-CN" sz="1200" b="1" dirty="0" err="1">
                <a:latin typeface="+mn-ea"/>
              </a:rPr>
              <a:t>b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b.a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= 15;</a:t>
            </a:r>
            <a:endParaRPr lang="en-US" altLang="zh-CN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A a1(b);   //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复制构造</a:t>
            </a:r>
            <a:endParaRPr lang="zh-CN" altLang="en-US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A a2;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a2 = b;    //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赋值</a:t>
            </a:r>
            <a:endParaRPr lang="zh-CN" altLang="en-US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800090" y="1642745"/>
            <a:ext cx="1728470" cy="1470660"/>
            <a:chOff x="9363" y="1757"/>
            <a:chExt cx="2722" cy="2316"/>
          </a:xfrm>
        </p:grpSpPr>
        <p:sp>
          <p:nvSpPr>
            <p:cNvPr id="5" name="矩形 4"/>
            <p:cNvSpPr/>
            <p:nvPr/>
          </p:nvSpPr>
          <p:spPr>
            <a:xfrm>
              <a:off x="9363" y="1757"/>
              <a:ext cx="1214" cy="2316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10577" y="1757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3000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0577" y="3301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0577" y="2529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6000115" y="2254885"/>
            <a:ext cx="370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b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5851525" y="1703705"/>
            <a:ext cx="720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2000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5851525" y="2726690"/>
            <a:ext cx="641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2011</a:t>
            </a:r>
            <a:endParaRPr lang="en-US" altLang="zh-CN"/>
          </a:p>
        </p:txBody>
      </p:sp>
      <p:grpSp>
        <p:nvGrpSpPr>
          <p:cNvPr id="15" name="组合 14"/>
          <p:cNvGrpSpPr/>
          <p:nvPr/>
        </p:nvGrpSpPr>
        <p:grpSpPr>
          <a:xfrm>
            <a:off x="5770880" y="4036060"/>
            <a:ext cx="1728470" cy="1470660"/>
            <a:chOff x="9363" y="1757"/>
            <a:chExt cx="2722" cy="2316"/>
          </a:xfrm>
        </p:grpSpPr>
        <p:sp>
          <p:nvSpPr>
            <p:cNvPr id="16" name="矩形 15"/>
            <p:cNvSpPr/>
            <p:nvPr/>
          </p:nvSpPr>
          <p:spPr>
            <a:xfrm>
              <a:off x="9363" y="1757"/>
              <a:ext cx="1214" cy="2316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0577" y="1757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3000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577" y="3301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10577" y="2529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15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5970905" y="4648200"/>
            <a:ext cx="370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b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5822315" y="4097020"/>
            <a:ext cx="720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2000</a:t>
            </a:r>
            <a:endParaRPr lang="en-US" altLang="zh-CN"/>
          </a:p>
        </p:txBody>
      </p:sp>
      <p:sp>
        <p:nvSpPr>
          <p:cNvPr id="22" name="文本框 21"/>
          <p:cNvSpPr txBox="1"/>
          <p:nvPr/>
        </p:nvSpPr>
        <p:spPr>
          <a:xfrm>
            <a:off x="5822315" y="5120005"/>
            <a:ext cx="641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2011</a:t>
            </a:r>
            <a:endParaRPr lang="en-US" altLang="zh-CN"/>
          </a:p>
        </p:txBody>
      </p:sp>
      <p:grpSp>
        <p:nvGrpSpPr>
          <p:cNvPr id="23" name="组合 22"/>
          <p:cNvGrpSpPr/>
          <p:nvPr/>
        </p:nvGrpSpPr>
        <p:grpSpPr>
          <a:xfrm>
            <a:off x="8637905" y="1642745"/>
            <a:ext cx="1729105" cy="1470660"/>
            <a:chOff x="9363" y="1757"/>
            <a:chExt cx="2723" cy="2316"/>
          </a:xfrm>
        </p:grpSpPr>
        <p:sp>
          <p:nvSpPr>
            <p:cNvPr id="24" name="矩形 23"/>
            <p:cNvSpPr/>
            <p:nvPr/>
          </p:nvSpPr>
          <p:spPr>
            <a:xfrm>
              <a:off x="9363" y="1757"/>
              <a:ext cx="1214" cy="2316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0577" y="1757"/>
              <a:ext cx="1509" cy="2316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未知</a:t>
              </a: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8689340" y="1703705"/>
            <a:ext cx="720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3000</a:t>
            </a:r>
            <a:endParaRPr lang="en-US" altLang="zh-CN"/>
          </a:p>
        </p:txBody>
      </p:sp>
      <p:sp>
        <p:nvSpPr>
          <p:cNvPr id="30" name="文本框 29"/>
          <p:cNvSpPr txBox="1"/>
          <p:nvPr/>
        </p:nvSpPr>
        <p:spPr>
          <a:xfrm>
            <a:off x="8689340" y="2726690"/>
            <a:ext cx="641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3019</a:t>
            </a:r>
            <a:endParaRPr lang="en-US" altLang="zh-CN"/>
          </a:p>
        </p:txBody>
      </p:sp>
      <p:cxnSp>
        <p:nvCxnSpPr>
          <p:cNvPr id="31" name="直接箭头连接符 30"/>
          <p:cNvCxnSpPr/>
          <p:nvPr/>
        </p:nvCxnSpPr>
        <p:spPr>
          <a:xfrm flipV="1">
            <a:off x="1008380" y="2426335"/>
            <a:ext cx="4732020" cy="299847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32" name="直接箭头连接符 31"/>
          <p:cNvCxnSpPr/>
          <p:nvPr/>
        </p:nvCxnSpPr>
        <p:spPr>
          <a:xfrm flipV="1">
            <a:off x="1391285" y="4773930"/>
            <a:ext cx="4254500" cy="84772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33" name="文本框 32"/>
          <p:cNvSpPr txBox="1"/>
          <p:nvPr/>
        </p:nvSpPr>
        <p:spPr>
          <a:xfrm>
            <a:off x="5822315" y="87566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B</a:t>
            </a:r>
            <a:r>
              <a:rPr lang="zh-CN" altLang="en-US" b="1"/>
              <a:t>类定义对象时默认调用基类</a:t>
            </a:r>
            <a:r>
              <a:rPr lang="en-US" altLang="zh-CN" b="1"/>
              <a:t>A</a:t>
            </a:r>
            <a:r>
              <a:rPr lang="zh-CN" altLang="en-US" b="1"/>
              <a:t>的构造函数，给</a:t>
            </a:r>
            <a:r>
              <a:rPr lang="en-US" altLang="zh-CN" b="1"/>
              <a:t>char</a:t>
            </a:r>
            <a:r>
              <a:rPr lang="zh-CN" altLang="en-US" b="1"/>
              <a:t>指针</a:t>
            </a:r>
            <a:r>
              <a:rPr lang="en-US" altLang="zh-CN" b="1"/>
              <a:t>s</a:t>
            </a:r>
            <a:r>
              <a:rPr lang="zh-CN" altLang="en-US" b="1"/>
              <a:t>分配</a:t>
            </a:r>
            <a:r>
              <a:rPr lang="en-US" altLang="zh-CN" b="1"/>
              <a:t>20</a:t>
            </a:r>
            <a:r>
              <a:rPr lang="zh-CN" altLang="en-US" b="1"/>
              <a:t>字节的空间</a:t>
            </a:r>
            <a:endParaRPr lang="zh-CN" altLang="en-US" b="1"/>
          </a:p>
        </p:txBody>
      </p:sp>
      <p:sp>
        <p:nvSpPr>
          <p:cNvPr id="34" name="矩形 33"/>
          <p:cNvSpPr/>
          <p:nvPr/>
        </p:nvSpPr>
        <p:spPr>
          <a:xfrm>
            <a:off x="613410" y="2938145"/>
            <a:ext cx="2091690" cy="241300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35" name="直接箭头连接符 34"/>
          <p:cNvCxnSpPr>
            <a:endCxn id="33" idx="1"/>
          </p:cNvCxnSpPr>
          <p:nvPr/>
        </p:nvCxnSpPr>
        <p:spPr>
          <a:xfrm flipV="1">
            <a:off x="2778760" y="1198245"/>
            <a:ext cx="3043555" cy="182054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 bwMode="auto">
          <a:xfrm>
            <a:off x="264748" y="1642878"/>
            <a:ext cx="4729445" cy="48943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p>
            <a:r>
              <a:rPr lang="en-US" altLang="zh-CN" sz="1200" b="1" dirty="0">
                <a:latin typeface="+mn-ea"/>
              </a:rPr>
              <a:t>#include &lt;iostream&gt;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class A 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private: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char* s;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public: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int a;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A() { s = new char[20]; }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~A() 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"A</a:t>
            </a:r>
            <a:r>
              <a:rPr lang="zh-CN" altLang="en-US" sz="1200" b="1" dirty="0">
                <a:latin typeface="+mn-ea"/>
              </a:rPr>
              <a:t>析构</a:t>
            </a:r>
            <a:r>
              <a:rPr lang="en-US" altLang="zh-CN" sz="1200" b="1" dirty="0">
                <a:latin typeface="+mn-ea"/>
              </a:rPr>
              <a:t>"</a:t>
            </a:r>
            <a:r>
              <a:rPr lang="zh-CN" altLang="en-US" sz="1200" b="1" dirty="0">
                <a:latin typeface="+mn-ea"/>
              </a:rPr>
              <a:t> </a:t>
            </a:r>
            <a:r>
              <a:rPr lang="en-US" altLang="zh-CN" sz="1200" b="1" dirty="0">
                <a:latin typeface="+mn-ea"/>
              </a:rPr>
              <a:t>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delete s;</a:t>
            </a:r>
            <a:endParaRPr lang="en-US" altLang="zh-CN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</a:t>
            </a:r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class B :public A 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public: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int b;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~B() {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"B</a:t>
            </a:r>
            <a:r>
              <a:rPr lang="zh-CN" altLang="en-US" sz="1200" b="1" dirty="0">
                <a:latin typeface="+mn-ea"/>
              </a:rPr>
              <a:t>析构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 }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B </a:t>
            </a:r>
            <a:r>
              <a:rPr lang="en-US" altLang="zh-CN" sz="1200" b="1" dirty="0" err="1">
                <a:latin typeface="+mn-ea"/>
              </a:rPr>
              <a:t>b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b.a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= 15;</a:t>
            </a:r>
            <a:endParaRPr lang="en-US" altLang="zh-CN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A a1(b);   //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复制构造</a:t>
            </a:r>
            <a:endParaRPr lang="zh-CN" altLang="en-US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A a2;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a2 = b;    //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赋值</a:t>
            </a:r>
            <a:endParaRPr lang="zh-CN" altLang="en-US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5800090" y="2426335"/>
            <a:ext cx="1728470" cy="1470660"/>
            <a:chOff x="9363" y="1757"/>
            <a:chExt cx="2722" cy="2316"/>
          </a:xfrm>
        </p:grpSpPr>
        <p:sp>
          <p:nvSpPr>
            <p:cNvPr id="16" name="矩形 15"/>
            <p:cNvSpPr/>
            <p:nvPr/>
          </p:nvSpPr>
          <p:spPr>
            <a:xfrm>
              <a:off x="9363" y="1757"/>
              <a:ext cx="1214" cy="2316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0577" y="1757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3000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577" y="3301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10577" y="2529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15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6000115" y="3038475"/>
            <a:ext cx="370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b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5851525" y="2487295"/>
            <a:ext cx="720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2000</a:t>
            </a:r>
            <a:endParaRPr lang="en-US" altLang="zh-CN"/>
          </a:p>
        </p:txBody>
      </p:sp>
      <p:sp>
        <p:nvSpPr>
          <p:cNvPr id="22" name="文本框 21"/>
          <p:cNvSpPr txBox="1"/>
          <p:nvPr/>
        </p:nvSpPr>
        <p:spPr>
          <a:xfrm>
            <a:off x="5851525" y="3510280"/>
            <a:ext cx="641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2011</a:t>
            </a:r>
            <a:endParaRPr lang="en-US" altLang="zh-CN"/>
          </a:p>
        </p:txBody>
      </p:sp>
      <p:grpSp>
        <p:nvGrpSpPr>
          <p:cNvPr id="23" name="组合 22"/>
          <p:cNvGrpSpPr/>
          <p:nvPr/>
        </p:nvGrpSpPr>
        <p:grpSpPr>
          <a:xfrm>
            <a:off x="8637905" y="494665"/>
            <a:ext cx="1729105" cy="1470660"/>
            <a:chOff x="9363" y="1757"/>
            <a:chExt cx="2723" cy="2316"/>
          </a:xfrm>
        </p:grpSpPr>
        <p:sp>
          <p:nvSpPr>
            <p:cNvPr id="24" name="矩形 23"/>
            <p:cNvSpPr/>
            <p:nvPr/>
          </p:nvSpPr>
          <p:spPr>
            <a:xfrm>
              <a:off x="9363" y="1757"/>
              <a:ext cx="1214" cy="2316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0577" y="1757"/>
              <a:ext cx="1509" cy="2316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未知</a:t>
              </a: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8689340" y="555625"/>
            <a:ext cx="720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3000</a:t>
            </a:r>
            <a:endParaRPr lang="en-US" altLang="zh-CN"/>
          </a:p>
        </p:txBody>
      </p:sp>
      <p:sp>
        <p:nvSpPr>
          <p:cNvPr id="30" name="文本框 29"/>
          <p:cNvSpPr txBox="1"/>
          <p:nvPr/>
        </p:nvSpPr>
        <p:spPr>
          <a:xfrm>
            <a:off x="8689340" y="1578610"/>
            <a:ext cx="641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3019</a:t>
            </a:r>
            <a:endParaRPr lang="en-US" altLang="zh-CN"/>
          </a:p>
        </p:txBody>
      </p:sp>
      <p:cxnSp>
        <p:nvCxnSpPr>
          <p:cNvPr id="32" name="直接箭头连接符 31"/>
          <p:cNvCxnSpPr/>
          <p:nvPr/>
        </p:nvCxnSpPr>
        <p:spPr>
          <a:xfrm flipV="1">
            <a:off x="1391285" y="3150235"/>
            <a:ext cx="4319905" cy="247142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</p:spPr>
      </p:cxnSp>
      <p:grpSp>
        <p:nvGrpSpPr>
          <p:cNvPr id="2" name="组合 1"/>
          <p:cNvGrpSpPr/>
          <p:nvPr/>
        </p:nvGrpSpPr>
        <p:grpSpPr>
          <a:xfrm>
            <a:off x="5814695" y="4163060"/>
            <a:ext cx="1728470" cy="1470660"/>
            <a:chOff x="9363" y="1757"/>
            <a:chExt cx="2722" cy="2316"/>
          </a:xfrm>
        </p:grpSpPr>
        <p:sp>
          <p:nvSpPr>
            <p:cNvPr id="3" name="矩形 2"/>
            <p:cNvSpPr/>
            <p:nvPr/>
          </p:nvSpPr>
          <p:spPr>
            <a:xfrm>
              <a:off x="9363" y="1757"/>
              <a:ext cx="1214" cy="2316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10577" y="1757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3000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10577" y="3301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0577" y="2529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15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6014720" y="4775200"/>
            <a:ext cx="370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b</a:t>
            </a:r>
            <a:endParaRPr lang="en-US" altLang="zh-CN"/>
          </a:p>
        </p:txBody>
      </p:sp>
      <p:sp>
        <p:nvSpPr>
          <p:cNvPr id="28" name="文本框 27"/>
          <p:cNvSpPr txBox="1"/>
          <p:nvPr/>
        </p:nvSpPr>
        <p:spPr>
          <a:xfrm>
            <a:off x="5866130" y="4224020"/>
            <a:ext cx="720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2000</a:t>
            </a:r>
            <a:endParaRPr lang="en-US" altLang="zh-CN"/>
          </a:p>
        </p:txBody>
      </p:sp>
      <p:sp>
        <p:nvSpPr>
          <p:cNvPr id="33" name="文本框 32"/>
          <p:cNvSpPr txBox="1"/>
          <p:nvPr/>
        </p:nvSpPr>
        <p:spPr>
          <a:xfrm>
            <a:off x="5866130" y="5247005"/>
            <a:ext cx="641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2011</a:t>
            </a:r>
            <a:endParaRPr lang="en-US" altLang="zh-CN"/>
          </a:p>
        </p:txBody>
      </p:sp>
      <p:grpSp>
        <p:nvGrpSpPr>
          <p:cNvPr id="34" name="组合 33"/>
          <p:cNvGrpSpPr/>
          <p:nvPr/>
        </p:nvGrpSpPr>
        <p:grpSpPr>
          <a:xfrm>
            <a:off x="9140190" y="4188460"/>
            <a:ext cx="1730375" cy="980440"/>
            <a:chOff x="9363" y="1757"/>
            <a:chExt cx="2725" cy="1544"/>
          </a:xfrm>
        </p:grpSpPr>
        <p:sp>
          <p:nvSpPr>
            <p:cNvPr id="35" name="矩形 34"/>
            <p:cNvSpPr/>
            <p:nvPr/>
          </p:nvSpPr>
          <p:spPr>
            <a:xfrm>
              <a:off x="9363" y="1757"/>
              <a:ext cx="1214" cy="154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10577" y="1757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3000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10579" y="2529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15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9" name="文本框 38"/>
          <p:cNvSpPr txBox="1"/>
          <p:nvPr/>
        </p:nvSpPr>
        <p:spPr>
          <a:xfrm>
            <a:off x="9307830" y="4497705"/>
            <a:ext cx="492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a1</a:t>
            </a:r>
            <a:endParaRPr lang="en-US" altLang="zh-CN"/>
          </a:p>
        </p:txBody>
      </p:sp>
      <p:sp>
        <p:nvSpPr>
          <p:cNvPr id="40" name="文本框 39"/>
          <p:cNvSpPr txBox="1"/>
          <p:nvPr/>
        </p:nvSpPr>
        <p:spPr>
          <a:xfrm>
            <a:off x="9168130" y="4224020"/>
            <a:ext cx="720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2100</a:t>
            </a:r>
            <a:endParaRPr lang="en-US" altLang="zh-CN"/>
          </a:p>
        </p:txBody>
      </p:sp>
      <p:sp>
        <p:nvSpPr>
          <p:cNvPr id="41" name="文本框 40"/>
          <p:cNvSpPr txBox="1"/>
          <p:nvPr/>
        </p:nvSpPr>
        <p:spPr>
          <a:xfrm>
            <a:off x="9220200" y="4800600"/>
            <a:ext cx="641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2107</a:t>
            </a:r>
            <a:endParaRPr lang="en-US" altLang="zh-CN"/>
          </a:p>
        </p:txBody>
      </p:sp>
      <p:cxnSp>
        <p:nvCxnSpPr>
          <p:cNvPr id="42" name="直接箭头连接符 41"/>
          <p:cNvCxnSpPr/>
          <p:nvPr/>
        </p:nvCxnSpPr>
        <p:spPr>
          <a:xfrm flipV="1">
            <a:off x="2346960" y="5168900"/>
            <a:ext cx="3357245" cy="61468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43" name="直接箭头连接符 42"/>
          <p:cNvCxnSpPr/>
          <p:nvPr/>
        </p:nvCxnSpPr>
        <p:spPr>
          <a:xfrm flipV="1">
            <a:off x="7605395" y="4768850"/>
            <a:ext cx="1462405" cy="635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44" name="直接连接符 43"/>
          <p:cNvCxnSpPr/>
          <p:nvPr/>
        </p:nvCxnSpPr>
        <p:spPr>
          <a:xfrm>
            <a:off x="6442710" y="5365750"/>
            <a:ext cx="1244600" cy="0"/>
          </a:xfrm>
          <a:prstGeom prst="line">
            <a:avLst/>
          </a:prstGeom>
          <a:solidFill>
            <a:schemeClr val="accent1"/>
          </a:solidFill>
          <a:ln w="635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" name="文本框 45"/>
          <p:cNvSpPr txBox="1"/>
          <p:nvPr/>
        </p:nvSpPr>
        <p:spPr>
          <a:xfrm>
            <a:off x="7512050" y="4335780"/>
            <a:ext cx="16833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8</a:t>
            </a:r>
            <a:r>
              <a:rPr lang="zh-CN" altLang="en-US" b="1"/>
              <a:t>字节整体拷贝</a:t>
            </a:r>
            <a:endParaRPr lang="zh-CN" altLang="en-US" b="1"/>
          </a:p>
        </p:txBody>
      </p:sp>
      <p:sp>
        <p:nvSpPr>
          <p:cNvPr id="47" name="文本框 46"/>
          <p:cNvSpPr txBox="1"/>
          <p:nvPr/>
        </p:nvSpPr>
        <p:spPr>
          <a:xfrm>
            <a:off x="7846695" y="5247005"/>
            <a:ext cx="40640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accent2"/>
                </a:solidFill>
              </a:rPr>
              <a:t>赋值兼容规则生效，将派生类中基类对应成员拷贝给新的基类，其余部分丢弃。</a:t>
            </a:r>
            <a:endParaRPr lang="zh-CN" altLang="en-US" sz="1600" b="1">
              <a:solidFill>
                <a:schemeClr val="accent2"/>
              </a:solidFill>
            </a:endParaRPr>
          </a:p>
          <a:p>
            <a:r>
              <a:rPr lang="zh-CN" altLang="en-US" sz="1600" b="1">
                <a:solidFill>
                  <a:schemeClr val="accent2"/>
                </a:solidFill>
              </a:rPr>
              <a:t>同时，由于没有重载复制构造，系统调用默认复制构造函数（浅拷贝），只将指针的值拷贝过去，没有申请新的空间，两个指针指向同一个空间。</a:t>
            </a:r>
            <a:endParaRPr lang="zh-CN" altLang="en-US" sz="1600"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 bwMode="auto">
          <a:xfrm>
            <a:off x="264748" y="1642878"/>
            <a:ext cx="4729445" cy="48943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p>
            <a:r>
              <a:rPr lang="en-US" altLang="zh-CN" sz="1200" b="1" dirty="0">
                <a:latin typeface="+mn-ea"/>
              </a:rPr>
              <a:t>#include &lt;iostream&gt;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class A 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private: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char* s;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public: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int a;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A() { s = new char[20]; }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~A() 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"A</a:t>
            </a:r>
            <a:r>
              <a:rPr lang="zh-CN" altLang="en-US" sz="1200" b="1" dirty="0">
                <a:latin typeface="+mn-ea"/>
              </a:rPr>
              <a:t>析构</a:t>
            </a:r>
            <a:r>
              <a:rPr lang="en-US" altLang="zh-CN" sz="1200" b="1" dirty="0">
                <a:latin typeface="+mn-ea"/>
              </a:rPr>
              <a:t>"</a:t>
            </a:r>
            <a:r>
              <a:rPr lang="zh-CN" altLang="en-US" sz="1200" b="1" dirty="0">
                <a:latin typeface="+mn-ea"/>
              </a:rPr>
              <a:t> </a:t>
            </a:r>
            <a:r>
              <a:rPr lang="en-US" altLang="zh-CN" sz="1200" b="1" dirty="0">
                <a:latin typeface="+mn-ea"/>
              </a:rPr>
              <a:t>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delete s;</a:t>
            </a:r>
            <a:endParaRPr lang="en-US" altLang="zh-CN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</a:t>
            </a:r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class B :public A 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public: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int b;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~B() {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"B</a:t>
            </a:r>
            <a:r>
              <a:rPr lang="zh-CN" altLang="en-US" sz="1200" b="1" dirty="0">
                <a:latin typeface="+mn-ea"/>
              </a:rPr>
              <a:t>析构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 }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B </a:t>
            </a:r>
            <a:r>
              <a:rPr lang="en-US" altLang="zh-CN" sz="1200" b="1" dirty="0" err="1">
                <a:latin typeface="+mn-ea"/>
              </a:rPr>
              <a:t>b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b.a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= 15;</a:t>
            </a:r>
            <a:endParaRPr lang="en-US" altLang="zh-CN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A a1(b);   //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复制构造</a:t>
            </a:r>
            <a:endParaRPr lang="zh-CN" altLang="en-US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A a2;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a2 = b;    //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赋值</a:t>
            </a:r>
            <a:endParaRPr lang="zh-CN" altLang="en-US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5800090" y="1882775"/>
            <a:ext cx="1728470" cy="1470660"/>
            <a:chOff x="9363" y="1757"/>
            <a:chExt cx="2722" cy="2316"/>
          </a:xfrm>
        </p:grpSpPr>
        <p:sp>
          <p:nvSpPr>
            <p:cNvPr id="16" name="矩形 15"/>
            <p:cNvSpPr/>
            <p:nvPr/>
          </p:nvSpPr>
          <p:spPr>
            <a:xfrm>
              <a:off x="9363" y="1757"/>
              <a:ext cx="1214" cy="2316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0577" y="1757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3000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577" y="3301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10577" y="2529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15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6000115" y="2494915"/>
            <a:ext cx="370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b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5851525" y="1943735"/>
            <a:ext cx="720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2000</a:t>
            </a:r>
            <a:endParaRPr lang="en-US" altLang="zh-CN"/>
          </a:p>
        </p:txBody>
      </p:sp>
      <p:sp>
        <p:nvSpPr>
          <p:cNvPr id="22" name="文本框 21"/>
          <p:cNvSpPr txBox="1"/>
          <p:nvPr/>
        </p:nvSpPr>
        <p:spPr>
          <a:xfrm>
            <a:off x="5851525" y="2966720"/>
            <a:ext cx="641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2011</a:t>
            </a:r>
            <a:endParaRPr lang="en-US" altLang="zh-CN"/>
          </a:p>
        </p:txBody>
      </p:sp>
      <p:grpSp>
        <p:nvGrpSpPr>
          <p:cNvPr id="23" name="组合 22"/>
          <p:cNvGrpSpPr/>
          <p:nvPr/>
        </p:nvGrpSpPr>
        <p:grpSpPr>
          <a:xfrm>
            <a:off x="8637905" y="199390"/>
            <a:ext cx="1729105" cy="1470660"/>
            <a:chOff x="9363" y="1757"/>
            <a:chExt cx="2723" cy="2316"/>
          </a:xfrm>
        </p:grpSpPr>
        <p:sp>
          <p:nvSpPr>
            <p:cNvPr id="24" name="矩形 23"/>
            <p:cNvSpPr/>
            <p:nvPr/>
          </p:nvSpPr>
          <p:spPr>
            <a:xfrm>
              <a:off x="9363" y="1757"/>
              <a:ext cx="1214" cy="2316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0577" y="1757"/>
              <a:ext cx="1509" cy="2316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未知</a:t>
              </a: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8689340" y="260350"/>
            <a:ext cx="720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3000</a:t>
            </a:r>
            <a:endParaRPr lang="en-US" altLang="zh-CN" b="1"/>
          </a:p>
        </p:txBody>
      </p:sp>
      <p:sp>
        <p:nvSpPr>
          <p:cNvPr id="30" name="文本框 29"/>
          <p:cNvSpPr txBox="1"/>
          <p:nvPr/>
        </p:nvSpPr>
        <p:spPr>
          <a:xfrm>
            <a:off x="8689340" y="1283335"/>
            <a:ext cx="641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3019</a:t>
            </a:r>
            <a:endParaRPr lang="en-US" altLang="zh-CN"/>
          </a:p>
        </p:txBody>
      </p:sp>
      <p:cxnSp>
        <p:nvCxnSpPr>
          <p:cNvPr id="32" name="直接箭头连接符 31"/>
          <p:cNvCxnSpPr/>
          <p:nvPr/>
        </p:nvCxnSpPr>
        <p:spPr>
          <a:xfrm flipV="1">
            <a:off x="1391285" y="2572385"/>
            <a:ext cx="4319905" cy="304927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</p:spPr>
      </p:cxnSp>
      <p:grpSp>
        <p:nvGrpSpPr>
          <p:cNvPr id="2" name="组合 1"/>
          <p:cNvGrpSpPr/>
          <p:nvPr/>
        </p:nvGrpSpPr>
        <p:grpSpPr>
          <a:xfrm>
            <a:off x="5810250" y="5143500"/>
            <a:ext cx="1728470" cy="1470660"/>
            <a:chOff x="9363" y="1757"/>
            <a:chExt cx="2722" cy="2316"/>
          </a:xfrm>
        </p:grpSpPr>
        <p:sp>
          <p:nvSpPr>
            <p:cNvPr id="3" name="矩形 2"/>
            <p:cNvSpPr/>
            <p:nvPr/>
          </p:nvSpPr>
          <p:spPr>
            <a:xfrm>
              <a:off x="9363" y="1757"/>
              <a:ext cx="1214" cy="2316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10577" y="1757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3000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10577" y="3301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0577" y="2529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15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6010275" y="5755640"/>
            <a:ext cx="370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b</a:t>
            </a:r>
            <a:endParaRPr lang="en-US" altLang="zh-CN"/>
          </a:p>
        </p:txBody>
      </p:sp>
      <p:sp>
        <p:nvSpPr>
          <p:cNvPr id="28" name="文本框 27"/>
          <p:cNvSpPr txBox="1"/>
          <p:nvPr/>
        </p:nvSpPr>
        <p:spPr>
          <a:xfrm>
            <a:off x="5861685" y="5204460"/>
            <a:ext cx="720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2000</a:t>
            </a:r>
            <a:endParaRPr lang="en-US" altLang="zh-CN"/>
          </a:p>
        </p:txBody>
      </p:sp>
      <p:sp>
        <p:nvSpPr>
          <p:cNvPr id="33" name="文本框 32"/>
          <p:cNvSpPr txBox="1"/>
          <p:nvPr/>
        </p:nvSpPr>
        <p:spPr>
          <a:xfrm>
            <a:off x="5861685" y="6227445"/>
            <a:ext cx="641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2011</a:t>
            </a:r>
            <a:endParaRPr lang="en-US" altLang="zh-CN"/>
          </a:p>
        </p:txBody>
      </p:sp>
      <p:grpSp>
        <p:nvGrpSpPr>
          <p:cNvPr id="34" name="组合 33"/>
          <p:cNvGrpSpPr/>
          <p:nvPr/>
        </p:nvGrpSpPr>
        <p:grpSpPr>
          <a:xfrm>
            <a:off x="9135745" y="5168900"/>
            <a:ext cx="1730375" cy="980440"/>
            <a:chOff x="9363" y="1757"/>
            <a:chExt cx="2725" cy="1544"/>
          </a:xfrm>
        </p:grpSpPr>
        <p:sp>
          <p:nvSpPr>
            <p:cNvPr id="35" name="矩形 34"/>
            <p:cNvSpPr/>
            <p:nvPr/>
          </p:nvSpPr>
          <p:spPr>
            <a:xfrm>
              <a:off x="9363" y="1757"/>
              <a:ext cx="1214" cy="154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10577" y="1757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3000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10579" y="2529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15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9" name="文本框 38"/>
          <p:cNvSpPr txBox="1"/>
          <p:nvPr/>
        </p:nvSpPr>
        <p:spPr>
          <a:xfrm>
            <a:off x="9303385" y="5478145"/>
            <a:ext cx="492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a2</a:t>
            </a:r>
            <a:endParaRPr lang="en-US" altLang="zh-CN"/>
          </a:p>
        </p:txBody>
      </p:sp>
      <p:sp>
        <p:nvSpPr>
          <p:cNvPr id="40" name="文本框 39"/>
          <p:cNvSpPr txBox="1"/>
          <p:nvPr/>
        </p:nvSpPr>
        <p:spPr>
          <a:xfrm>
            <a:off x="9163685" y="5204460"/>
            <a:ext cx="720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2200</a:t>
            </a:r>
            <a:endParaRPr lang="en-US" altLang="zh-CN"/>
          </a:p>
        </p:txBody>
      </p:sp>
      <p:sp>
        <p:nvSpPr>
          <p:cNvPr id="41" name="文本框 40"/>
          <p:cNvSpPr txBox="1"/>
          <p:nvPr/>
        </p:nvSpPr>
        <p:spPr>
          <a:xfrm>
            <a:off x="9215755" y="5781040"/>
            <a:ext cx="641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2207</a:t>
            </a:r>
            <a:endParaRPr lang="en-US" altLang="zh-CN"/>
          </a:p>
        </p:txBody>
      </p:sp>
      <p:cxnSp>
        <p:nvCxnSpPr>
          <p:cNvPr id="42" name="直接箭头连接符 41"/>
          <p:cNvCxnSpPr/>
          <p:nvPr/>
        </p:nvCxnSpPr>
        <p:spPr>
          <a:xfrm flipV="1">
            <a:off x="2346960" y="4225290"/>
            <a:ext cx="3357245" cy="155829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43" name="直接箭头连接符 42"/>
          <p:cNvCxnSpPr/>
          <p:nvPr/>
        </p:nvCxnSpPr>
        <p:spPr>
          <a:xfrm flipV="1">
            <a:off x="7600950" y="5749290"/>
            <a:ext cx="1462405" cy="635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44" name="直接连接符 43"/>
          <p:cNvCxnSpPr/>
          <p:nvPr/>
        </p:nvCxnSpPr>
        <p:spPr>
          <a:xfrm>
            <a:off x="6438265" y="6346190"/>
            <a:ext cx="1244600" cy="0"/>
          </a:xfrm>
          <a:prstGeom prst="line">
            <a:avLst/>
          </a:prstGeom>
          <a:solidFill>
            <a:schemeClr val="accent1"/>
          </a:solidFill>
          <a:ln w="635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" name="文本框 45"/>
          <p:cNvSpPr txBox="1"/>
          <p:nvPr/>
        </p:nvSpPr>
        <p:spPr>
          <a:xfrm>
            <a:off x="7507605" y="5316220"/>
            <a:ext cx="16833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8</a:t>
            </a:r>
            <a:r>
              <a:rPr lang="zh-CN" altLang="en-US" b="1"/>
              <a:t>字节整体拷贝</a:t>
            </a:r>
            <a:endParaRPr lang="zh-CN" altLang="en-US" b="1"/>
          </a:p>
        </p:txBody>
      </p:sp>
      <p:sp>
        <p:nvSpPr>
          <p:cNvPr id="47" name="文本框 46"/>
          <p:cNvSpPr txBox="1"/>
          <p:nvPr/>
        </p:nvSpPr>
        <p:spPr>
          <a:xfrm>
            <a:off x="7941945" y="3429000"/>
            <a:ext cx="40640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accent2"/>
                </a:solidFill>
              </a:rPr>
              <a:t>赋值兼容规则生效，将派生类中基类对应成员拷贝给新的基类，其余部分丢弃。</a:t>
            </a:r>
            <a:endParaRPr lang="zh-CN" altLang="en-US" sz="1600" b="1">
              <a:solidFill>
                <a:schemeClr val="accent2"/>
              </a:solidFill>
            </a:endParaRPr>
          </a:p>
          <a:p>
            <a:r>
              <a:rPr lang="zh-CN" altLang="en-US" sz="1600" b="1">
                <a:solidFill>
                  <a:schemeClr val="accent2"/>
                </a:solidFill>
              </a:rPr>
              <a:t>同时，由于没有重载赋值运算符，系统调用默认赋值运算（浅拷贝），只将指针的值拷贝过去，没有申请新的空间，两个指针指向同一个空间。</a:t>
            </a:r>
            <a:endParaRPr lang="zh-CN" altLang="en-US" sz="1600" b="1">
              <a:solidFill>
                <a:schemeClr val="accent2"/>
              </a:solidFill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5777230" y="3672840"/>
            <a:ext cx="1730375" cy="980440"/>
            <a:chOff x="9363" y="1757"/>
            <a:chExt cx="2725" cy="1544"/>
          </a:xfrm>
        </p:grpSpPr>
        <p:sp>
          <p:nvSpPr>
            <p:cNvPr id="45" name="矩形 44"/>
            <p:cNvSpPr/>
            <p:nvPr/>
          </p:nvSpPr>
          <p:spPr>
            <a:xfrm>
              <a:off x="9363" y="1757"/>
              <a:ext cx="1214" cy="154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10577" y="1757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3000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>
              <a:off x="10579" y="2529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15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0" name="文本框 49"/>
          <p:cNvSpPr txBox="1"/>
          <p:nvPr/>
        </p:nvSpPr>
        <p:spPr>
          <a:xfrm>
            <a:off x="5944870" y="3982085"/>
            <a:ext cx="492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a1</a:t>
            </a:r>
            <a:endParaRPr lang="en-US" altLang="zh-CN"/>
          </a:p>
        </p:txBody>
      </p:sp>
      <p:sp>
        <p:nvSpPr>
          <p:cNvPr id="51" name="文本框 50"/>
          <p:cNvSpPr txBox="1"/>
          <p:nvPr/>
        </p:nvSpPr>
        <p:spPr>
          <a:xfrm>
            <a:off x="5805170" y="3708400"/>
            <a:ext cx="720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2100</a:t>
            </a:r>
            <a:endParaRPr lang="en-US" altLang="zh-CN"/>
          </a:p>
        </p:txBody>
      </p:sp>
      <p:sp>
        <p:nvSpPr>
          <p:cNvPr id="52" name="文本框 51"/>
          <p:cNvSpPr txBox="1"/>
          <p:nvPr/>
        </p:nvSpPr>
        <p:spPr>
          <a:xfrm>
            <a:off x="5857240" y="4284980"/>
            <a:ext cx="641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2107</a:t>
            </a:r>
            <a:endParaRPr lang="en-US" altLang="zh-CN"/>
          </a:p>
        </p:txBody>
      </p:sp>
      <p:cxnSp>
        <p:nvCxnSpPr>
          <p:cNvPr id="53" name="直接箭头连接符 52"/>
          <p:cNvCxnSpPr/>
          <p:nvPr/>
        </p:nvCxnSpPr>
        <p:spPr>
          <a:xfrm flipV="1">
            <a:off x="2068830" y="5973445"/>
            <a:ext cx="3642360" cy="19812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 bwMode="auto">
          <a:xfrm>
            <a:off x="264748" y="1642878"/>
            <a:ext cx="4729445" cy="48943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p>
            <a:r>
              <a:rPr lang="en-US" altLang="zh-CN" sz="1200" b="1" dirty="0">
                <a:latin typeface="+mn-ea"/>
              </a:rPr>
              <a:t>#include &lt;iostream&gt;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class A 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private: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char* s;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public: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int a;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A() { s = new char[20]; }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~A() 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"A</a:t>
            </a:r>
            <a:r>
              <a:rPr lang="zh-CN" altLang="en-US" sz="1200" b="1" dirty="0">
                <a:latin typeface="+mn-ea"/>
              </a:rPr>
              <a:t>析构</a:t>
            </a:r>
            <a:r>
              <a:rPr lang="en-US" altLang="zh-CN" sz="1200" b="1" dirty="0">
                <a:latin typeface="+mn-ea"/>
              </a:rPr>
              <a:t>"</a:t>
            </a:r>
            <a:r>
              <a:rPr lang="zh-CN" altLang="en-US" sz="1200" b="1" dirty="0">
                <a:latin typeface="+mn-ea"/>
              </a:rPr>
              <a:t> </a:t>
            </a:r>
            <a:r>
              <a:rPr lang="en-US" altLang="zh-CN" sz="1200" b="1" dirty="0">
                <a:latin typeface="+mn-ea"/>
              </a:rPr>
              <a:t>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delete s;</a:t>
            </a:r>
            <a:endParaRPr lang="en-US" altLang="zh-CN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</a:t>
            </a:r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class B :public A 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public: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int b;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~B() {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"B</a:t>
            </a:r>
            <a:r>
              <a:rPr lang="zh-CN" altLang="en-US" sz="1200" b="1" dirty="0">
                <a:latin typeface="+mn-ea"/>
              </a:rPr>
              <a:t>析构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 }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B </a:t>
            </a:r>
            <a:r>
              <a:rPr lang="en-US" altLang="zh-CN" sz="1200" b="1" dirty="0" err="1">
                <a:latin typeface="+mn-ea"/>
              </a:rPr>
              <a:t>b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b.a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= 15;</a:t>
            </a:r>
            <a:endParaRPr lang="en-US" altLang="zh-CN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A a1(b);   //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复制构造</a:t>
            </a:r>
            <a:endParaRPr lang="zh-CN" altLang="en-US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A a2;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a2 = b;    //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赋值</a:t>
            </a:r>
            <a:endParaRPr lang="zh-CN" altLang="en-US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5800090" y="1882775"/>
            <a:ext cx="1728470" cy="1470660"/>
            <a:chOff x="9363" y="1757"/>
            <a:chExt cx="2722" cy="2316"/>
          </a:xfrm>
        </p:grpSpPr>
        <p:sp>
          <p:nvSpPr>
            <p:cNvPr id="16" name="矩形 15"/>
            <p:cNvSpPr/>
            <p:nvPr/>
          </p:nvSpPr>
          <p:spPr>
            <a:xfrm>
              <a:off x="9363" y="1757"/>
              <a:ext cx="1214" cy="2316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0577" y="1757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？</a:t>
              </a: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577" y="3301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10577" y="2529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15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6000115" y="2494915"/>
            <a:ext cx="370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b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5851525" y="1943735"/>
            <a:ext cx="720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2000</a:t>
            </a:r>
            <a:endParaRPr lang="en-US" altLang="zh-CN"/>
          </a:p>
        </p:txBody>
      </p:sp>
      <p:sp>
        <p:nvSpPr>
          <p:cNvPr id="22" name="文本框 21"/>
          <p:cNvSpPr txBox="1"/>
          <p:nvPr/>
        </p:nvSpPr>
        <p:spPr>
          <a:xfrm>
            <a:off x="5851525" y="2966720"/>
            <a:ext cx="641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2011</a:t>
            </a:r>
            <a:endParaRPr lang="en-US" altLang="zh-CN"/>
          </a:p>
        </p:txBody>
      </p:sp>
      <p:grpSp>
        <p:nvGrpSpPr>
          <p:cNvPr id="23" name="组合 22"/>
          <p:cNvGrpSpPr/>
          <p:nvPr/>
        </p:nvGrpSpPr>
        <p:grpSpPr>
          <a:xfrm>
            <a:off x="8637905" y="199390"/>
            <a:ext cx="1729105" cy="1470660"/>
            <a:chOff x="9363" y="1757"/>
            <a:chExt cx="2723" cy="2316"/>
          </a:xfrm>
        </p:grpSpPr>
        <p:sp>
          <p:nvSpPr>
            <p:cNvPr id="24" name="矩形 23"/>
            <p:cNvSpPr/>
            <p:nvPr/>
          </p:nvSpPr>
          <p:spPr>
            <a:xfrm>
              <a:off x="9363" y="1757"/>
              <a:ext cx="1214" cy="2316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0577" y="1757"/>
              <a:ext cx="1509" cy="2316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未知</a:t>
              </a: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8689340" y="260350"/>
            <a:ext cx="720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3000</a:t>
            </a:r>
            <a:endParaRPr lang="en-US" altLang="zh-CN" b="1"/>
          </a:p>
        </p:txBody>
      </p:sp>
      <p:sp>
        <p:nvSpPr>
          <p:cNvPr id="30" name="文本框 29"/>
          <p:cNvSpPr txBox="1"/>
          <p:nvPr/>
        </p:nvSpPr>
        <p:spPr>
          <a:xfrm>
            <a:off x="8689340" y="1283335"/>
            <a:ext cx="641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3019</a:t>
            </a:r>
            <a:endParaRPr lang="en-US" altLang="zh-CN"/>
          </a:p>
        </p:txBody>
      </p:sp>
      <p:cxnSp>
        <p:nvCxnSpPr>
          <p:cNvPr id="32" name="直接箭头连接符 31"/>
          <p:cNvCxnSpPr/>
          <p:nvPr/>
        </p:nvCxnSpPr>
        <p:spPr>
          <a:xfrm flipV="1">
            <a:off x="1391285" y="2572385"/>
            <a:ext cx="4319905" cy="304927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</p:spPr>
      </p:cxnSp>
      <p:grpSp>
        <p:nvGrpSpPr>
          <p:cNvPr id="34" name="组合 33"/>
          <p:cNvGrpSpPr/>
          <p:nvPr/>
        </p:nvGrpSpPr>
        <p:grpSpPr>
          <a:xfrm>
            <a:off x="5777230" y="4934585"/>
            <a:ext cx="1730375" cy="980440"/>
            <a:chOff x="9363" y="1757"/>
            <a:chExt cx="2725" cy="1544"/>
          </a:xfrm>
        </p:grpSpPr>
        <p:sp>
          <p:nvSpPr>
            <p:cNvPr id="35" name="矩形 34"/>
            <p:cNvSpPr/>
            <p:nvPr/>
          </p:nvSpPr>
          <p:spPr>
            <a:xfrm>
              <a:off x="9363" y="1757"/>
              <a:ext cx="1214" cy="154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10577" y="1757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3000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10579" y="2529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15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9" name="文本框 38"/>
          <p:cNvSpPr txBox="1"/>
          <p:nvPr/>
        </p:nvSpPr>
        <p:spPr>
          <a:xfrm>
            <a:off x="5917565" y="5246370"/>
            <a:ext cx="492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a2</a:t>
            </a:r>
            <a:endParaRPr lang="en-US" altLang="zh-CN"/>
          </a:p>
        </p:txBody>
      </p:sp>
      <p:sp>
        <p:nvSpPr>
          <p:cNvPr id="40" name="文本框 39"/>
          <p:cNvSpPr txBox="1"/>
          <p:nvPr/>
        </p:nvSpPr>
        <p:spPr>
          <a:xfrm>
            <a:off x="5777865" y="4972685"/>
            <a:ext cx="720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2200</a:t>
            </a:r>
            <a:endParaRPr lang="en-US" altLang="zh-CN"/>
          </a:p>
        </p:txBody>
      </p:sp>
      <p:sp>
        <p:nvSpPr>
          <p:cNvPr id="41" name="文本框 40"/>
          <p:cNvSpPr txBox="1"/>
          <p:nvPr/>
        </p:nvSpPr>
        <p:spPr>
          <a:xfrm>
            <a:off x="5829935" y="5549265"/>
            <a:ext cx="641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2207</a:t>
            </a:r>
            <a:endParaRPr lang="en-US" altLang="zh-CN"/>
          </a:p>
        </p:txBody>
      </p:sp>
      <p:cxnSp>
        <p:nvCxnSpPr>
          <p:cNvPr id="42" name="直接箭头连接符 41"/>
          <p:cNvCxnSpPr/>
          <p:nvPr/>
        </p:nvCxnSpPr>
        <p:spPr>
          <a:xfrm flipV="1">
            <a:off x="2346960" y="4225290"/>
            <a:ext cx="3357245" cy="155829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</p:spPr>
      </p:cxnSp>
      <p:grpSp>
        <p:nvGrpSpPr>
          <p:cNvPr id="38" name="组合 37"/>
          <p:cNvGrpSpPr/>
          <p:nvPr/>
        </p:nvGrpSpPr>
        <p:grpSpPr>
          <a:xfrm>
            <a:off x="5777230" y="3672840"/>
            <a:ext cx="1730375" cy="980440"/>
            <a:chOff x="9363" y="1757"/>
            <a:chExt cx="2725" cy="1544"/>
          </a:xfrm>
        </p:grpSpPr>
        <p:sp>
          <p:nvSpPr>
            <p:cNvPr id="45" name="矩形 44"/>
            <p:cNvSpPr/>
            <p:nvPr/>
          </p:nvSpPr>
          <p:spPr>
            <a:xfrm>
              <a:off x="9363" y="1757"/>
              <a:ext cx="1214" cy="154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10577" y="1757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3000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>
              <a:off x="10579" y="2529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15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0" name="文本框 49"/>
          <p:cNvSpPr txBox="1"/>
          <p:nvPr/>
        </p:nvSpPr>
        <p:spPr>
          <a:xfrm>
            <a:off x="5944870" y="3982085"/>
            <a:ext cx="492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a1</a:t>
            </a:r>
            <a:endParaRPr lang="en-US" altLang="zh-CN"/>
          </a:p>
        </p:txBody>
      </p:sp>
      <p:sp>
        <p:nvSpPr>
          <p:cNvPr id="51" name="文本框 50"/>
          <p:cNvSpPr txBox="1"/>
          <p:nvPr/>
        </p:nvSpPr>
        <p:spPr>
          <a:xfrm>
            <a:off x="5805170" y="3708400"/>
            <a:ext cx="720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2100</a:t>
            </a:r>
            <a:endParaRPr lang="en-US" altLang="zh-CN"/>
          </a:p>
        </p:txBody>
      </p:sp>
      <p:sp>
        <p:nvSpPr>
          <p:cNvPr id="52" name="文本框 51"/>
          <p:cNvSpPr txBox="1"/>
          <p:nvPr/>
        </p:nvSpPr>
        <p:spPr>
          <a:xfrm>
            <a:off x="5857240" y="4284980"/>
            <a:ext cx="641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2107</a:t>
            </a:r>
            <a:endParaRPr lang="en-US" altLang="zh-CN"/>
          </a:p>
        </p:txBody>
      </p:sp>
      <p:cxnSp>
        <p:nvCxnSpPr>
          <p:cNvPr id="53" name="直接箭头连接符 52"/>
          <p:cNvCxnSpPr/>
          <p:nvPr/>
        </p:nvCxnSpPr>
        <p:spPr>
          <a:xfrm flipV="1">
            <a:off x="2068830" y="5468620"/>
            <a:ext cx="3620770" cy="70294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54" name="文本框 53"/>
          <p:cNvSpPr txBox="1"/>
          <p:nvPr/>
        </p:nvSpPr>
        <p:spPr>
          <a:xfrm>
            <a:off x="835660" y="1084580"/>
            <a:ext cx="35871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FF0000"/>
                </a:solidFill>
              </a:rPr>
              <a:t>程序结束，开始销毁变量</a:t>
            </a:r>
            <a:r>
              <a:rPr lang="en-US" altLang="zh-CN" sz="2000" b="1">
                <a:solidFill>
                  <a:srgbClr val="FF0000"/>
                </a:solidFill>
              </a:rPr>
              <a:t>/</a:t>
            </a:r>
            <a:r>
              <a:rPr lang="zh-CN" altLang="en-US" sz="2000" b="1">
                <a:solidFill>
                  <a:srgbClr val="FF0000"/>
                </a:solidFill>
              </a:rPr>
              <a:t>对象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584200" y="3107055"/>
            <a:ext cx="2281555" cy="817880"/>
          </a:xfrm>
          <a:prstGeom prst="rect">
            <a:avLst/>
          </a:prstGeom>
          <a:noFill/>
          <a:ln w="412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56" name="直接连接符 55"/>
          <p:cNvCxnSpPr/>
          <p:nvPr/>
        </p:nvCxnSpPr>
        <p:spPr>
          <a:xfrm>
            <a:off x="8336915" y="112395"/>
            <a:ext cx="2379980" cy="1548130"/>
          </a:xfrm>
          <a:prstGeom prst="line">
            <a:avLst/>
          </a:prstGeom>
          <a:solidFill>
            <a:schemeClr val="accent1"/>
          </a:solidFill>
          <a:ln w="635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" name="文本框 56"/>
          <p:cNvSpPr txBox="1"/>
          <p:nvPr/>
        </p:nvSpPr>
        <p:spPr>
          <a:xfrm>
            <a:off x="8073390" y="2966720"/>
            <a:ext cx="397700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/>
                </a:solidFill>
              </a:rPr>
              <a:t>首先销毁</a:t>
            </a:r>
            <a:r>
              <a:rPr lang="en-US" altLang="zh-CN" b="1">
                <a:solidFill>
                  <a:schemeClr val="accent2"/>
                </a:solidFill>
              </a:rPr>
              <a:t>b,</a:t>
            </a:r>
            <a:r>
              <a:rPr lang="zh-CN" altLang="en-US" b="1">
                <a:solidFill>
                  <a:schemeClr val="accent2"/>
                </a:solidFill>
              </a:rPr>
              <a:t>派生类对象在析构时会默认调用基类的析构函数。</a:t>
            </a:r>
            <a:r>
              <a:rPr lang="en-US" altLang="zh-CN" b="1">
                <a:solidFill>
                  <a:schemeClr val="accent2"/>
                </a:solidFill>
              </a:rPr>
              <a:t>A</a:t>
            </a:r>
            <a:r>
              <a:rPr lang="zh-CN" altLang="en-US" b="1">
                <a:solidFill>
                  <a:schemeClr val="accent2"/>
                </a:solidFill>
              </a:rPr>
              <a:t>类的析构函数会释放字符指针指向的空间。</a:t>
            </a:r>
            <a:endParaRPr lang="zh-CN" altLang="en-US" b="1">
              <a:solidFill>
                <a:schemeClr val="accent2"/>
              </a:solidFill>
            </a:endParaRPr>
          </a:p>
          <a:p>
            <a:r>
              <a:rPr lang="zh-CN" altLang="en-US" b="1">
                <a:solidFill>
                  <a:schemeClr val="accent2"/>
                </a:solidFill>
              </a:rPr>
              <a:t>在本例中，内存</a:t>
            </a:r>
            <a:r>
              <a:rPr lang="en-US" altLang="zh-CN" b="1">
                <a:solidFill>
                  <a:schemeClr val="accent2"/>
                </a:solidFill>
              </a:rPr>
              <a:t>3000-3019</a:t>
            </a:r>
            <a:r>
              <a:rPr lang="zh-CN" altLang="en-US" b="1">
                <a:solidFill>
                  <a:schemeClr val="accent2"/>
                </a:solidFill>
              </a:rPr>
              <a:t>的空间已经被释放。</a:t>
            </a:r>
            <a:endParaRPr lang="zh-CN" altLang="en-US" b="1">
              <a:solidFill>
                <a:schemeClr val="accent2"/>
              </a:solidFill>
            </a:endParaRPr>
          </a:p>
        </p:txBody>
      </p:sp>
      <p:cxnSp>
        <p:nvCxnSpPr>
          <p:cNvPr id="58" name="直接箭头连接符 57"/>
          <p:cNvCxnSpPr/>
          <p:nvPr/>
        </p:nvCxnSpPr>
        <p:spPr>
          <a:xfrm>
            <a:off x="2960370" y="3500120"/>
            <a:ext cx="4974590" cy="825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2" name="直接箭头连接符 1"/>
          <p:cNvCxnSpPr/>
          <p:nvPr/>
        </p:nvCxnSpPr>
        <p:spPr>
          <a:xfrm>
            <a:off x="7656830" y="2616200"/>
            <a:ext cx="534035" cy="29972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 bwMode="auto">
          <a:xfrm>
            <a:off x="264748" y="1642878"/>
            <a:ext cx="4729445" cy="48943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p>
            <a:r>
              <a:rPr lang="en-US" altLang="zh-CN" sz="1200" b="1" dirty="0">
                <a:latin typeface="+mn-ea"/>
              </a:rPr>
              <a:t>#include &lt;iostream&gt;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class A 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private: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char* s;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public: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int a;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A() { s = new char[20]; }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~A() 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"A</a:t>
            </a:r>
            <a:r>
              <a:rPr lang="zh-CN" altLang="en-US" sz="1200" b="1" dirty="0">
                <a:latin typeface="+mn-ea"/>
              </a:rPr>
              <a:t>析构</a:t>
            </a:r>
            <a:r>
              <a:rPr lang="en-US" altLang="zh-CN" sz="1200" b="1" dirty="0">
                <a:latin typeface="+mn-ea"/>
              </a:rPr>
              <a:t>"</a:t>
            </a:r>
            <a:r>
              <a:rPr lang="zh-CN" altLang="en-US" sz="1200" b="1" dirty="0">
                <a:latin typeface="+mn-ea"/>
              </a:rPr>
              <a:t> </a:t>
            </a:r>
            <a:r>
              <a:rPr lang="en-US" altLang="zh-CN" sz="1200" b="1" dirty="0">
                <a:latin typeface="+mn-ea"/>
              </a:rPr>
              <a:t>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delete s;</a:t>
            </a:r>
            <a:endParaRPr lang="en-US" altLang="zh-CN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</a:t>
            </a:r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class B :public A 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public: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int b;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~B() {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"B</a:t>
            </a:r>
            <a:r>
              <a:rPr lang="zh-CN" altLang="en-US" sz="1200" b="1" dirty="0">
                <a:latin typeface="+mn-ea"/>
              </a:rPr>
              <a:t>析构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 }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B </a:t>
            </a:r>
            <a:r>
              <a:rPr lang="en-US" altLang="zh-CN" sz="1200" b="1" dirty="0" err="1">
                <a:latin typeface="+mn-ea"/>
              </a:rPr>
              <a:t>b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b.a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= 15;</a:t>
            </a:r>
            <a:endParaRPr lang="en-US" altLang="zh-CN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A a1(b);   //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复制构造</a:t>
            </a:r>
            <a:endParaRPr lang="zh-CN" altLang="en-US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A a2;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a2 = b;    //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赋值</a:t>
            </a:r>
            <a:endParaRPr lang="zh-CN" altLang="en-US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5821680" y="848995"/>
            <a:ext cx="1728470" cy="1470660"/>
            <a:chOff x="9363" y="1757"/>
            <a:chExt cx="2722" cy="2316"/>
          </a:xfrm>
        </p:grpSpPr>
        <p:sp>
          <p:nvSpPr>
            <p:cNvPr id="16" name="矩形 15"/>
            <p:cNvSpPr/>
            <p:nvPr/>
          </p:nvSpPr>
          <p:spPr>
            <a:xfrm>
              <a:off x="9363" y="1757"/>
              <a:ext cx="1214" cy="2316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0577" y="1757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？</a:t>
              </a: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577" y="3301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10577" y="2529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15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6021705" y="1461135"/>
            <a:ext cx="370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b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5873115" y="909955"/>
            <a:ext cx="720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2000</a:t>
            </a:r>
            <a:endParaRPr lang="en-US" altLang="zh-CN"/>
          </a:p>
        </p:txBody>
      </p:sp>
      <p:sp>
        <p:nvSpPr>
          <p:cNvPr id="22" name="文本框 21"/>
          <p:cNvSpPr txBox="1"/>
          <p:nvPr/>
        </p:nvSpPr>
        <p:spPr>
          <a:xfrm>
            <a:off x="5873115" y="1932940"/>
            <a:ext cx="641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2011</a:t>
            </a:r>
            <a:endParaRPr lang="en-US" altLang="zh-CN"/>
          </a:p>
        </p:txBody>
      </p:sp>
      <p:grpSp>
        <p:nvGrpSpPr>
          <p:cNvPr id="23" name="组合 22"/>
          <p:cNvGrpSpPr/>
          <p:nvPr/>
        </p:nvGrpSpPr>
        <p:grpSpPr>
          <a:xfrm>
            <a:off x="8637905" y="199390"/>
            <a:ext cx="1729105" cy="1470660"/>
            <a:chOff x="9363" y="1757"/>
            <a:chExt cx="2723" cy="2316"/>
          </a:xfrm>
        </p:grpSpPr>
        <p:sp>
          <p:nvSpPr>
            <p:cNvPr id="24" name="矩形 23"/>
            <p:cNvSpPr/>
            <p:nvPr/>
          </p:nvSpPr>
          <p:spPr>
            <a:xfrm>
              <a:off x="9363" y="1757"/>
              <a:ext cx="1214" cy="2316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0577" y="1757"/>
              <a:ext cx="1509" cy="2316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未知</a:t>
              </a: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8689340" y="260350"/>
            <a:ext cx="720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3000</a:t>
            </a:r>
            <a:endParaRPr lang="en-US" altLang="zh-CN" b="1"/>
          </a:p>
        </p:txBody>
      </p:sp>
      <p:sp>
        <p:nvSpPr>
          <p:cNvPr id="30" name="文本框 29"/>
          <p:cNvSpPr txBox="1"/>
          <p:nvPr/>
        </p:nvSpPr>
        <p:spPr>
          <a:xfrm>
            <a:off x="8689340" y="1283335"/>
            <a:ext cx="641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3019</a:t>
            </a:r>
            <a:endParaRPr lang="en-US" altLang="zh-CN"/>
          </a:p>
        </p:txBody>
      </p:sp>
      <p:cxnSp>
        <p:nvCxnSpPr>
          <p:cNvPr id="32" name="直接箭头连接符 31"/>
          <p:cNvCxnSpPr/>
          <p:nvPr/>
        </p:nvCxnSpPr>
        <p:spPr>
          <a:xfrm flipV="1">
            <a:off x="1391285" y="1541145"/>
            <a:ext cx="4363720" cy="408051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</p:spPr>
      </p:cxnSp>
      <p:grpSp>
        <p:nvGrpSpPr>
          <p:cNvPr id="34" name="组合 33"/>
          <p:cNvGrpSpPr/>
          <p:nvPr/>
        </p:nvGrpSpPr>
        <p:grpSpPr>
          <a:xfrm>
            <a:off x="5777230" y="4934585"/>
            <a:ext cx="1730375" cy="980440"/>
            <a:chOff x="9363" y="1757"/>
            <a:chExt cx="2725" cy="1544"/>
          </a:xfrm>
        </p:grpSpPr>
        <p:sp>
          <p:nvSpPr>
            <p:cNvPr id="35" name="矩形 34"/>
            <p:cNvSpPr/>
            <p:nvPr/>
          </p:nvSpPr>
          <p:spPr>
            <a:xfrm>
              <a:off x="9363" y="1757"/>
              <a:ext cx="1214" cy="154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10577" y="1757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3000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10579" y="2529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15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9" name="文本框 38"/>
          <p:cNvSpPr txBox="1"/>
          <p:nvPr/>
        </p:nvSpPr>
        <p:spPr>
          <a:xfrm>
            <a:off x="5917565" y="5246370"/>
            <a:ext cx="492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a2</a:t>
            </a:r>
            <a:endParaRPr lang="en-US" altLang="zh-CN"/>
          </a:p>
        </p:txBody>
      </p:sp>
      <p:sp>
        <p:nvSpPr>
          <p:cNvPr id="40" name="文本框 39"/>
          <p:cNvSpPr txBox="1"/>
          <p:nvPr/>
        </p:nvSpPr>
        <p:spPr>
          <a:xfrm>
            <a:off x="5777865" y="4972685"/>
            <a:ext cx="720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2200</a:t>
            </a:r>
            <a:endParaRPr lang="en-US" altLang="zh-CN"/>
          </a:p>
        </p:txBody>
      </p:sp>
      <p:sp>
        <p:nvSpPr>
          <p:cNvPr id="41" name="文本框 40"/>
          <p:cNvSpPr txBox="1"/>
          <p:nvPr/>
        </p:nvSpPr>
        <p:spPr>
          <a:xfrm>
            <a:off x="5829935" y="5549265"/>
            <a:ext cx="641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2207</a:t>
            </a:r>
            <a:endParaRPr lang="en-US" altLang="zh-CN"/>
          </a:p>
        </p:txBody>
      </p:sp>
      <p:cxnSp>
        <p:nvCxnSpPr>
          <p:cNvPr id="42" name="直接箭头连接符 41"/>
          <p:cNvCxnSpPr/>
          <p:nvPr/>
        </p:nvCxnSpPr>
        <p:spPr>
          <a:xfrm flipV="1">
            <a:off x="2346960" y="4225290"/>
            <a:ext cx="3357245" cy="155829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</p:spPr>
      </p:cxnSp>
      <p:grpSp>
        <p:nvGrpSpPr>
          <p:cNvPr id="38" name="组合 37"/>
          <p:cNvGrpSpPr/>
          <p:nvPr/>
        </p:nvGrpSpPr>
        <p:grpSpPr>
          <a:xfrm>
            <a:off x="5777230" y="3672840"/>
            <a:ext cx="1730375" cy="980440"/>
            <a:chOff x="9363" y="1757"/>
            <a:chExt cx="2725" cy="1544"/>
          </a:xfrm>
        </p:grpSpPr>
        <p:sp>
          <p:nvSpPr>
            <p:cNvPr id="45" name="矩形 44"/>
            <p:cNvSpPr/>
            <p:nvPr/>
          </p:nvSpPr>
          <p:spPr>
            <a:xfrm>
              <a:off x="9363" y="1757"/>
              <a:ext cx="1214" cy="154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10577" y="1757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3000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>
              <a:off x="10579" y="2529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15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0" name="文本框 49"/>
          <p:cNvSpPr txBox="1"/>
          <p:nvPr/>
        </p:nvSpPr>
        <p:spPr>
          <a:xfrm>
            <a:off x="5944870" y="3982085"/>
            <a:ext cx="492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a1</a:t>
            </a:r>
            <a:endParaRPr lang="en-US" altLang="zh-CN"/>
          </a:p>
        </p:txBody>
      </p:sp>
      <p:sp>
        <p:nvSpPr>
          <p:cNvPr id="51" name="文本框 50"/>
          <p:cNvSpPr txBox="1"/>
          <p:nvPr/>
        </p:nvSpPr>
        <p:spPr>
          <a:xfrm>
            <a:off x="5805170" y="3708400"/>
            <a:ext cx="720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2100</a:t>
            </a:r>
            <a:endParaRPr lang="en-US" altLang="zh-CN"/>
          </a:p>
        </p:txBody>
      </p:sp>
      <p:sp>
        <p:nvSpPr>
          <p:cNvPr id="52" name="文本框 51"/>
          <p:cNvSpPr txBox="1"/>
          <p:nvPr/>
        </p:nvSpPr>
        <p:spPr>
          <a:xfrm>
            <a:off x="5857240" y="4284980"/>
            <a:ext cx="641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2107</a:t>
            </a:r>
            <a:endParaRPr lang="en-US" altLang="zh-CN"/>
          </a:p>
        </p:txBody>
      </p:sp>
      <p:cxnSp>
        <p:nvCxnSpPr>
          <p:cNvPr id="53" name="直接箭头连接符 52"/>
          <p:cNvCxnSpPr/>
          <p:nvPr/>
        </p:nvCxnSpPr>
        <p:spPr>
          <a:xfrm flipV="1">
            <a:off x="2068830" y="5468620"/>
            <a:ext cx="3620770" cy="70294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54" name="文本框 53"/>
          <p:cNvSpPr txBox="1"/>
          <p:nvPr/>
        </p:nvSpPr>
        <p:spPr>
          <a:xfrm>
            <a:off x="835660" y="1084580"/>
            <a:ext cx="35871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FF0000"/>
                </a:solidFill>
              </a:rPr>
              <a:t>程序结束，开始销毁变量</a:t>
            </a:r>
            <a:r>
              <a:rPr lang="en-US" altLang="zh-CN" sz="2000" b="1">
                <a:solidFill>
                  <a:srgbClr val="FF0000"/>
                </a:solidFill>
              </a:rPr>
              <a:t>/</a:t>
            </a:r>
            <a:r>
              <a:rPr lang="zh-CN" altLang="en-US" sz="2000" b="1">
                <a:solidFill>
                  <a:srgbClr val="FF0000"/>
                </a:solidFill>
              </a:rPr>
              <a:t>对象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584200" y="3107055"/>
            <a:ext cx="2281555" cy="817880"/>
          </a:xfrm>
          <a:prstGeom prst="rect">
            <a:avLst/>
          </a:prstGeom>
          <a:noFill/>
          <a:ln w="412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56" name="直接连接符 55"/>
          <p:cNvCxnSpPr/>
          <p:nvPr/>
        </p:nvCxnSpPr>
        <p:spPr>
          <a:xfrm>
            <a:off x="8336915" y="112395"/>
            <a:ext cx="2379980" cy="1548130"/>
          </a:xfrm>
          <a:prstGeom prst="line">
            <a:avLst/>
          </a:prstGeom>
          <a:solidFill>
            <a:schemeClr val="accent1"/>
          </a:solidFill>
          <a:ln w="635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" name="文本框 56"/>
          <p:cNvSpPr txBox="1"/>
          <p:nvPr/>
        </p:nvSpPr>
        <p:spPr>
          <a:xfrm>
            <a:off x="8073390" y="2966720"/>
            <a:ext cx="397700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b="1">
                <a:solidFill>
                  <a:schemeClr val="accent2"/>
                </a:solidFill>
              </a:rPr>
              <a:t>然后销毁</a:t>
            </a:r>
            <a:r>
              <a:rPr lang="en-US" altLang="zh-CN" b="1">
                <a:solidFill>
                  <a:schemeClr val="accent2"/>
                </a:solidFill>
              </a:rPr>
              <a:t>a1</a:t>
            </a:r>
            <a:r>
              <a:rPr lang="zh-CN" altLang="en-US" b="1">
                <a:solidFill>
                  <a:schemeClr val="accent2"/>
                </a:solidFill>
              </a:rPr>
              <a:t>。</a:t>
            </a:r>
            <a:endParaRPr lang="en-US" altLang="zh-CN" b="1">
              <a:solidFill>
                <a:schemeClr val="accent2"/>
              </a:solidFill>
            </a:endParaRPr>
          </a:p>
          <a:p>
            <a:r>
              <a:rPr lang="en-US" altLang="zh-CN" b="1">
                <a:solidFill>
                  <a:schemeClr val="accent2"/>
                </a:solidFill>
              </a:rPr>
              <a:t>a1</a:t>
            </a:r>
            <a:r>
              <a:rPr lang="zh-CN" altLang="en-US" b="1">
                <a:solidFill>
                  <a:schemeClr val="accent2"/>
                </a:solidFill>
              </a:rPr>
              <a:t>对象在销毁时，调用</a:t>
            </a:r>
            <a:r>
              <a:rPr lang="en-US" altLang="zh-CN" b="1">
                <a:solidFill>
                  <a:schemeClr val="accent2"/>
                </a:solidFill>
              </a:rPr>
              <a:t>A</a:t>
            </a:r>
            <a:r>
              <a:rPr lang="zh-CN" altLang="en-US" b="1">
                <a:solidFill>
                  <a:schemeClr val="accent2"/>
                </a:solidFill>
              </a:rPr>
              <a:t>类的析构函数，释放字符指针</a:t>
            </a:r>
            <a:r>
              <a:rPr lang="en-US" altLang="zh-CN" b="1">
                <a:solidFill>
                  <a:schemeClr val="accent2"/>
                </a:solidFill>
              </a:rPr>
              <a:t>s</a:t>
            </a:r>
            <a:r>
              <a:rPr lang="zh-CN" altLang="en-US" b="1">
                <a:solidFill>
                  <a:schemeClr val="accent2"/>
                </a:solidFill>
              </a:rPr>
              <a:t>指向的空间</a:t>
            </a:r>
            <a:r>
              <a:rPr lang="en-US" altLang="zh-CN" b="1">
                <a:solidFill>
                  <a:schemeClr val="accent2"/>
                </a:solidFill>
              </a:rPr>
              <a:t>3000-3019</a:t>
            </a:r>
            <a:r>
              <a:rPr lang="zh-CN" altLang="en-US" b="1">
                <a:solidFill>
                  <a:schemeClr val="accent2"/>
                </a:solidFill>
              </a:rPr>
              <a:t>。</a:t>
            </a:r>
            <a:endParaRPr lang="zh-CN" altLang="en-US" b="1">
              <a:solidFill>
                <a:schemeClr val="accent2"/>
              </a:solidFill>
            </a:endParaRPr>
          </a:p>
          <a:p>
            <a:r>
              <a:rPr lang="zh-CN" altLang="en-US" b="1">
                <a:solidFill>
                  <a:srgbClr val="FF0000"/>
                </a:solidFill>
              </a:rPr>
              <a:t>但是，在</a:t>
            </a:r>
            <a:r>
              <a:rPr lang="en-US" altLang="zh-CN" b="1">
                <a:solidFill>
                  <a:srgbClr val="FF0000"/>
                </a:solidFill>
              </a:rPr>
              <a:t>b</a:t>
            </a:r>
            <a:r>
              <a:rPr lang="zh-CN" altLang="en-US" b="1">
                <a:solidFill>
                  <a:srgbClr val="FF0000"/>
                </a:solidFill>
              </a:rPr>
              <a:t>销毁时，该空间已经被释放。再次释放同一块内存，程序错！</a:t>
            </a:r>
            <a:endParaRPr lang="zh-CN" altLang="en-US" b="1">
              <a:solidFill>
                <a:srgbClr val="FF0000"/>
              </a:solidFill>
            </a:endParaRPr>
          </a:p>
        </p:txBody>
      </p:sp>
      <p:cxnSp>
        <p:nvCxnSpPr>
          <p:cNvPr id="58" name="直接箭头连接符 57"/>
          <p:cNvCxnSpPr/>
          <p:nvPr/>
        </p:nvCxnSpPr>
        <p:spPr>
          <a:xfrm flipV="1">
            <a:off x="7576185" y="3603625"/>
            <a:ext cx="482600" cy="55562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3" name="直接连接符 2"/>
          <p:cNvCxnSpPr/>
          <p:nvPr/>
        </p:nvCxnSpPr>
        <p:spPr>
          <a:xfrm>
            <a:off x="5501640" y="777875"/>
            <a:ext cx="2379980" cy="1548130"/>
          </a:xfrm>
          <a:prstGeom prst="line">
            <a:avLst/>
          </a:prstGeom>
          <a:solidFill>
            <a:schemeClr val="accent1"/>
          </a:solidFill>
          <a:ln w="635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 bwMode="auto">
          <a:xfrm>
            <a:off x="264748" y="1642878"/>
            <a:ext cx="4729445" cy="48943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p>
            <a:r>
              <a:rPr lang="en-US" altLang="zh-CN" sz="1200" b="1" dirty="0">
                <a:latin typeface="+mn-ea"/>
              </a:rPr>
              <a:t>#include &lt;iostream&gt;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class A 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private: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char* s;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public: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int a;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A() { s = new char[20]; }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~A() 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"A</a:t>
            </a:r>
            <a:r>
              <a:rPr lang="zh-CN" altLang="en-US" sz="1200" b="1" dirty="0">
                <a:latin typeface="+mn-ea"/>
              </a:rPr>
              <a:t>析构</a:t>
            </a:r>
            <a:r>
              <a:rPr lang="en-US" altLang="zh-CN" sz="1200" b="1" dirty="0">
                <a:latin typeface="+mn-ea"/>
              </a:rPr>
              <a:t>"</a:t>
            </a:r>
            <a:r>
              <a:rPr lang="zh-CN" altLang="en-US" sz="1200" b="1" dirty="0">
                <a:latin typeface="+mn-ea"/>
              </a:rPr>
              <a:t> </a:t>
            </a:r>
            <a:r>
              <a:rPr lang="en-US" altLang="zh-CN" sz="1200" b="1" dirty="0">
                <a:latin typeface="+mn-ea"/>
              </a:rPr>
              <a:t>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delete s;</a:t>
            </a:r>
            <a:endParaRPr lang="en-US" altLang="zh-CN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</a:t>
            </a:r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class B :public A 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public: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int b;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~B() {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"B</a:t>
            </a:r>
            <a:r>
              <a:rPr lang="zh-CN" altLang="en-US" sz="1200" b="1" dirty="0">
                <a:latin typeface="+mn-ea"/>
              </a:rPr>
              <a:t>析构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 }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B </a:t>
            </a:r>
            <a:r>
              <a:rPr lang="en-US" altLang="zh-CN" sz="1200" b="1" dirty="0" err="1">
                <a:latin typeface="+mn-ea"/>
              </a:rPr>
              <a:t>b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b.a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= 15;</a:t>
            </a:r>
            <a:endParaRPr lang="en-US" altLang="zh-CN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A a1(b);   //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复制构造</a:t>
            </a:r>
            <a:endParaRPr lang="zh-CN" altLang="en-US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A a2;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a2 = b;    //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赋值</a:t>
            </a:r>
            <a:endParaRPr lang="zh-CN" altLang="en-US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5821680" y="848995"/>
            <a:ext cx="1728470" cy="1470660"/>
            <a:chOff x="9363" y="1757"/>
            <a:chExt cx="2722" cy="2316"/>
          </a:xfrm>
        </p:grpSpPr>
        <p:sp>
          <p:nvSpPr>
            <p:cNvPr id="16" name="矩形 15"/>
            <p:cNvSpPr/>
            <p:nvPr/>
          </p:nvSpPr>
          <p:spPr>
            <a:xfrm>
              <a:off x="9363" y="1757"/>
              <a:ext cx="1214" cy="2316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0577" y="1757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？</a:t>
              </a: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577" y="3301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10577" y="2529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15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6021705" y="1461135"/>
            <a:ext cx="370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b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5873115" y="909955"/>
            <a:ext cx="720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2000</a:t>
            </a:r>
            <a:endParaRPr lang="en-US" altLang="zh-CN"/>
          </a:p>
        </p:txBody>
      </p:sp>
      <p:sp>
        <p:nvSpPr>
          <p:cNvPr id="22" name="文本框 21"/>
          <p:cNvSpPr txBox="1"/>
          <p:nvPr/>
        </p:nvSpPr>
        <p:spPr>
          <a:xfrm>
            <a:off x="5873115" y="1932940"/>
            <a:ext cx="641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2011</a:t>
            </a:r>
            <a:endParaRPr lang="en-US" altLang="zh-CN"/>
          </a:p>
        </p:txBody>
      </p:sp>
      <p:grpSp>
        <p:nvGrpSpPr>
          <p:cNvPr id="23" name="组合 22"/>
          <p:cNvGrpSpPr/>
          <p:nvPr/>
        </p:nvGrpSpPr>
        <p:grpSpPr>
          <a:xfrm>
            <a:off x="8637905" y="199390"/>
            <a:ext cx="1729105" cy="1470660"/>
            <a:chOff x="9363" y="1757"/>
            <a:chExt cx="2723" cy="2316"/>
          </a:xfrm>
        </p:grpSpPr>
        <p:sp>
          <p:nvSpPr>
            <p:cNvPr id="24" name="矩形 23"/>
            <p:cNvSpPr/>
            <p:nvPr/>
          </p:nvSpPr>
          <p:spPr>
            <a:xfrm>
              <a:off x="9363" y="1757"/>
              <a:ext cx="1214" cy="2316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0577" y="1757"/>
              <a:ext cx="1509" cy="2316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未知</a:t>
              </a: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8689340" y="260350"/>
            <a:ext cx="720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3000</a:t>
            </a:r>
            <a:endParaRPr lang="en-US" altLang="zh-CN" b="1"/>
          </a:p>
        </p:txBody>
      </p:sp>
      <p:sp>
        <p:nvSpPr>
          <p:cNvPr id="30" name="文本框 29"/>
          <p:cNvSpPr txBox="1"/>
          <p:nvPr/>
        </p:nvSpPr>
        <p:spPr>
          <a:xfrm>
            <a:off x="8689340" y="1283335"/>
            <a:ext cx="641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3019</a:t>
            </a:r>
            <a:endParaRPr lang="en-US" altLang="zh-CN"/>
          </a:p>
        </p:txBody>
      </p:sp>
      <p:cxnSp>
        <p:nvCxnSpPr>
          <p:cNvPr id="32" name="直接箭头连接符 31"/>
          <p:cNvCxnSpPr/>
          <p:nvPr/>
        </p:nvCxnSpPr>
        <p:spPr>
          <a:xfrm flipV="1">
            <a:off x="1391285" y="1541145"/>
            <a:ext cx="4363720" cy="408051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</p:spPr>
      </p:cxnSp>
      <p:grpSp>
        <p:nvGrpSpPr>
          <p:cNvPr id="34" name="组合 33"/>
          <p:cNvGrpSpPr/>
          <p:nvPr/>
        </p:nvGrpSpPr>
        <p:grpSpPr>
          <a:xfrm>
            <a:off x="5777230" y="4934585"/>
            <a:ext cx="1730375" cy="980440"/>
            <a:chOff x="9363" y="1757"/>
            <a:chExt cx="2725" cy="1544"/>
          </a:xfrm>
        </p:grpSpPr>
        <p:sp>
          <p:nvSpPr>
            <p:cNvPr id="35" name="矩形 34"/>
            <p:cNvSpPr/>
            <p:nvPr/>
          </p:nvSpPr>
          <p:spPr>
            <a:xfrm>
              <a:off x="9363" y="1757"/>
              <a:ext cx="1214" cy="154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10577" y="1757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3000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10579" y="2529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15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9" name="文本框 38"/>
          <p:cNvSpPr txBox="1"/>
          <p:nvPr/>
        </p:nvSpPr>
        <p:spPr>
          <a:xfrm>
            <a:off x="5917565" y="5246370"/>
            <a:ext cx="492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a2</a:t>
            </a:r>
            <a:endParaRPr lang="en-US" altLang="zh-CN"/>
          </a:p>
        </p:txBody>
      </p:sp>
      <p:sp>
        <p:nvSpPr>
          <p:cNvPr id="40" name="文本框 39"/>
          <p:cNvSpPr txBox="1"/>
          <p:nvPr/>
        </p:nvSpPr>
        <p:spPr>
          <a:xfrm>
            <a:off x="5777865" y="4972685"/>
            <a:ext cx="720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2200</a:t>
            </a:r>
            <a:endParaRPr lang="en-US" altLang="zh-CN"/>
          </a:p>
        </p:txBody>
      </p:sp>
      <p:sp>
        <p:nvSpPr>
          <p:cNvPr id="41" name="文本框 40"/>
          <p:cNvSpPr txBox="1"/>
          <p:nvPr/>
        </p:nvSpPr>
        <p:spPr>
          <a:xfrm>
            <a:off x="5829935" y="5549265"/>
            <a:ext cx="641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2207</a:t>
            </a:r>
            <a:endParaRPr lang="en-US" altLang="zh-CN"/>
          </a:p>
        </p:txBody>
      </p:sp>
      <p:cxnSp>
        <p:nvCxnSpPr>
          <p:cNvPr id="42" name="直接箭头连接符 41"/>
          <p:cNvCxnSpPr/>
          <p:nvPr/>
        </p:nvCxnSpPr>
        <p:spPr>
          <a:xfrm flipV="1">
            <a:off x="2346960" y="3245485"/>
            <a:ext cx="3342640" cy="253809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</p:spPr>
      </p:cxnSp>
      <p:grpSp>
        <p:nvGrpSpPr>
          <p:cNvPr id="38" name="组合 37"/>
          <p:cNvGrpSpPr/>
          <p:nvPr/>
        </p:nvGrpSpPr>
        <p:grpSpPr>
          <a:xfrm>
            <a:off x="5828665" y="2729230"/>
            <a:ext cx="1730375" cy="980440"/>
            <a:chOff x="9363" y="1757"/>
            <a:chExt cx="2725" cy="1544"/>
          </a:xfrm>
        </p:grpSpPr>
        <p:sp>
          <p:nvSpPr>
            <p:cNvPr id="45" name="矩形 44"/>
            <p:cNvSpPr/>
            <p:nvPr/>
          </p:nvSpPr>
          <p:spPr>
            <a:xfrm>
              <a:off x="9363" y="1757"/>
              <a:ext cx="1214" cy="154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10577" y="1757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3000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>
              <a:off x="10579" y="2529"/>
              <a:ext cx="1509" cy="77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15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0" name="文本框 49"/>
          <p:cNvSpPr txBox="1"/>
          <p:nvPr/>
        </p:nvSpPr>
        <p:spPr>
          <a:xfrm>
            <a:off x="5996305" y="3038475"/>
            <a:ext cx="492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a1</a:t>
            </a:r>
            <a:endParaRPr lang="en-US" altLang="zh-CN"/>
          </a:p>
        </p:txBody>
      </p:sp>
      <p:sp>
        <p:nvSpPr>
          <p:cNvPr id="51" name="文本框 50"/>
          <p:cNvSpPr txBox="1"/>
          <p:nvPr/>
        </p:nvSpPr>
        <p:spPr>
          <a:xfrm>
            <a:off x="5856605" y="2764790"/>
            <a:ext cx="720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2100</a:t>
            </a:r>
            <a:endParaRPr lang="en-US" altLang="zh-CN"/>
          </a:p>
        </p:txBody>
      </p:sp>
      <p:sp>
        <p:nvSpPr>
          <p:cNvPr id="52" name="文本框 51"/>
          <p:cNvSpPr txBox="1"/>
          <p:nvPr/>
        </p:nvSpPr>
        <p:spPr>
          <a:xfrm>
            <a:off x="5908675" y="3341370"/>
            <a:ext cx="641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2107</a:t>
            </a:r>
            <a:endParaRPr lang="en-US" altLang="zh-CN"/>
          </a:p>
        </p:txBody>
      </p:sp>
      <p:cxnSp>
        <p:nvCxnSpPr>
          <p:cNvPr id="53" name="直接箭头连接符 52"/>
          <p:cNvCxnSpPr/>
          <p:nvPr/>
        </p:nvCxnSpPr>
        <p:spPr>
          <a:xfrm flipV="1">
            <a:off x="2068830" y="5468620"/>
            <a:ext cx="3620770" cy="70294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54" name="文本框 53"/>
          <p:cNvSpPr txBox="1"/>
          <p:nvPr/>
        </p:nvSpPr>
        <p:spPr>
          <a:xfrm>
            <a:off x="835660" y="1084580"/>
            <a:ext cx="35871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FF0000"/>
                </a:solidFill>
              </a:rPr>
              <a:t>程序结束，开始销毁变量</a:t>
            </a:r>
            <a:r>
              <a:rPr lang="en-US" altLang="zh-CN" sz="2000" b="1">
                <a:solidFill>
                  <a:srgbClr val="FF0000"/>
                </a:solidFill>
              </a:rPr>
              <a:t>/</a:t>
            </a:r>
            <a:r>
              <a:rPr lang="zh-CN" altLang="en-US" sz="2000" b="1">
                <a:solidFill>
                  <a:srgbClr val="FF0000"/>
                </a:solidFill>
              </a:rPr>
              <a:t>对象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584200" y="3107055"/>
            <a:ext cx="2281555" cy="817880"/>
          </a:xfrm>
          <a:prstGeom prst="rect">
            <a:avLst/>
          </a:prstGeom>
          <a:noFill/>
          <a:ln w="412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56" name="直接连接符 55"/>
          <p:cNvCxnSpPr/>
          <p:nvPr/>
        </p:nvCxnSpPr>
        <p:spPr>
          <a:xfrm>
            <a:off x="8336915" y="112395"/>
            <a:ext cx="2379980" cy="1548130"/>
          </a:xfrm>
          <a:prstGeom prst="line">
            <a:avLst/>
          </a:prstGeom>
          <a:solidFill>
            <a:schemeClr val="accent1"/>
          </a:solidFill>
          <a:ln w="635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" name="文本框 56"/>
          <p:cNvSpPr txBox="1"/>
          <p:nvPr/>
        </p:nvSpPr>
        <p:spPr>
          <a:xfrm>
            <a:off x="8073390" y="2966720"/>
            <a:ext cx="397700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b="1">
                <a:solidFill>
                  <a:schemeClr val="accent2"/>
                </a:solidFill>
              </a:rPr>
              <a:t>最后销毁</a:t>
            </a:r>
            <a:r>
              <a:rPr lang="en-US" altLang="zh-CN" b="1">
                <a:solidFill>
                  <a:schemeClr val="accent2"/>
                </a:solidFill>
              </a:rPr>
              <a:t>a2</a:t>
            </a:r>
            <a:r>
              <a:rPr lang="zh-CN" altLang="en-US" b="1">
                <a:solidFill>
                  <a:schemeClr val="accent2"/>
                </a:solidFill>
              </a:rPr>
              <a:t>。</a:t>
            </a:r>
            <a:endParaRPr lang="en-US" altLang="zh-CN" b="1">
              <a:solidFill>
                <a:schemeClr val="accent2"/>
              </a:solidFill>
            </a:endParaRPr>
          </a:p>
          <a:p>
            <a:r>
              <a:rPr lang="en-US" altLang="zh-CN" b="1">
                <a:solidFill>
                  <a:schemeClr val="accent2"/>
                </a:solidFill>
              </a:rPr>
              <a:t>a2</a:t>
            </a:r>
            <a:r>
              <a:rPr lang="zh-CN" altLang="en-US" b="1">
                <a:solidFill>
                  <a:schemeClr val="accent2"/>
                </a:solidFill>
              </a:rPr>
              <a:t>对象在销毁时，调用</a:t>
            </a:r>
            <a:r>
              <a:rPr lang="en-US" altLang="zh-CN" b="1">
                <a:solidFill>
                  <a:schemeClr val="accent2"/>
                </a:solidFill>
              </a:rPr>
              <a:t>A</a:t>
            </a:r>
            <a:r>
              <a:rPr lang="zh-CN" altLang="en-US" b="1">
                <a:solidFill>
                  <a:schemeClr val="accent2"/>
                </a:solidFill>
              </a:rPr>
              <a:t>类的析构函数，释放字符指针</a:t>
            </a:r>
            <a:r>
              <a:rPr lang="en-US" altLang="zh-CN" b="1">
                <a:solidFill>
                  <a:schemeClr val="accent2"/>
                </a:solidFill>
              </a:rPr>
              <a:t>s</a:t>
            </a:r>
            <a:r>
              <a:rPr lang="zh-CN" altLang="en-US" b="1">
                <a:solidFill>
                  <a:schemeClr val="accent2"/>
                </a:solidFill>
              </a:rPr>
              <a:t>指向的空间</a:t>
            </a:r>
            <a:r>
              <a:rPr lang="en-US" altLang="zh-CN" b="1">
                <a:solidFill>
                  <a:schemeClr val="accent2"/>
                </a:solidFill>
              </a:rPr>
              <a:t>3000-3019</a:t>
            </a:r>
            <a:r>
              <a:rPr lang="zh-CN" altLang="en-US" b="1">
                <a:solidFill>
                  <a:schemeClr val="accent2"/>
                </a:solidFill>
              </a:rPr>
              <a:t>。</a:t>
            </a:r>
            <a:endParaRPr lang="zh-CN" altLang="en-US" b="1">
              <a:solidFill>
                <a:schemeClr val="accent2"/>
              </a:solidFill>
            </a:endParaRPr>
          </a:p>
          <a:p>
            <a:r>
              <a:rPr lang="zh-CN" altLang="en-US" b="1">
                <a:solidFill>
                  <a:srgbClr val="FF0000"/>
                </a:solidFill>
              </a:rPr>
              <a:t>但是，在</a:t>
            </a:r>
            <a:r>
              <a:rPr lang="en-US" altLang="zh-CN" b="1">
                <a:solidFill>
                  <a:srgbClr val="FF0000"/>
                </a:solidFill>
              </a:rPr>
              <a:t>b</a:t>
            </a:r>
            <a:r>
              <a:rPr lang="zh-CN" altLang="en-US" b="1">
                <a:solidFill>
                  <a:srgbClr val="FF0000"/>
                </a:solidFill>
              </a:rPr>
              <a:t>销毁时，该空间已经被释放。再次释放同一块内存，程序错！</a:t>
            </a:r>
            <a:endParaRPr lang="zh-CN" altLang="en-US" b="1">
              <a:solidFill>
                <a:srgbClr val="FF0000"/>
              </a:solidFill>
            </a:endParaRPr>
          </a:p>
        </p:txBody>
      </p:sp>
      <p:cxnSp>
        <p:nvCxnSpPr>
          <p:cNvPr id="58" name="直接箭头连接符 57"/>
          <p:cNvCxnSpPr/>
          <p:nvPr/>
        </p:nvCxnSpPr>
        <p:spPr>
          <a:xfrm flipV="1">
            <a:off x="7590790" y="3603625"/>
            <a:ext cx="467995" cy="184340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3" name="直接连接符 2"/>
          <p:cNvCxnSpPr/>
          <p:nvPr/>
        </p:nvCxnSpPr>
        <p:spPr>
          <a:xfrm>
            <a:off x="5501640" y="777875"/>
            <a:ext cx="2379980" cy="1548130"/>
          </a:xfrm>
          <a:prstGeom prst="line">
            <a:avLst/>
          </a:prstGeom>
          <a:solidFill>
            <a:schemeClr val="accent1"/>
          </a:solidFill>
          <a:ln w="635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" name="直接连接符 1"/>
          <p:cNvCxnSpPr/>
          <p:nvPr/>
        </p:nvCxnSpPr>
        <p:spPr>
          <a:xfrm>
            <a:off x="5565140" y="2784475"/>
            <a:ext cx="2201545" cy="833755"/>
          </a:xfrm>
          <a:prstGeom prst="line">
            <a:avLst/>
          </a:prstGeom>
          <a:solidFill>
            <a:schemeClr val="accent1"/>
          </a:solidFill>
          <a:ln w="635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文本框 4"/>
          <p:cNvSpPr txBox="1"/>
          <p:nvPr/>
        </p:nvSpPr>
        <p:spPr>
          <a:xfrm>
            <a:off x="8011160" y="5180965"/>
            <a:ext cx="41948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（实际运行过程中，程序在执行到销毁</a:t>
            </a:r>
            <a:r>
              <a:rPr lang="en-US" altLang="zh-CN" b="1"/>
              <a:t>a1</a:t>
            </a:r>
            <a:r>
              <a:rPr lang="zh-CN" altLang="en-US" b="1"/>
              <a:t>，两次释放同一块空间时就会报错终止，不会执行到销毁</a:t>
            </a:r>
            <a:r>
              <a:rPr lang="en-US" altLang="zh-CN" b="1"/>
              <a:t>a2</a:t>
            </a:r>
            <a:r>
              <a:rPr lang="zh-CN" altLang="en-US" b="1"/>
              <a:t>这一步）</a:t>
            </a:r>
            <a:endParaRPr lang="zh-CN" altLang="en-US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3420</Words>
  <Application>WPS 演示</Application>
  <PresentationFormat>宽屏</PresentationFormat>
  <Paragraphs>477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Calibri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染墨相思</cp:lastModifiedBy>
  <cp:revision>39</cp:revision>
  <dcterms:created xsi:type="dcterms:W3CDTF">2020-08-13T13:39:00Z</dcterms:created>
  <dcterms:modified xsi:type="dcterms:W3CDTF">2024-12-14T16:23:57Z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A580F80F7B854B3BA258AAA116F1644D_12</vt:lpwstr>
  </property>
  <property fmtid="{D5CDD505-2E9C-101B-9397-08002B2CF9AE}" pid="3" name="KSOProductBuildVer">
    <vt:lpwstr>2052-12.1.0.19302</vt:lpwstr>
  </property>
</Properties>
</file>