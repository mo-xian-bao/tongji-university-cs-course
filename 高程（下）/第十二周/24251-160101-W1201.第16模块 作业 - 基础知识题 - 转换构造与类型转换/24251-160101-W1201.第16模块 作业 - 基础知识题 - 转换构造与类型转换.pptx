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449" r:id="rId3"/>
    <p:sldId id="1271" r:id="rId4"/>
    <p:sldId id="1266" r:id="rId5"/>
    <p:sldId id="994" r:id="rId7"/>
    <p:sldId id="1272" r:id="rId8"/>
    <p:sldId id="1273" r:id="rId9"/>
    <p:sldId id="1274" r:id="rId10"/>
    <p:sldId id="1275" r:id="rId11"/>
    <p:sldId id="1276" r:id="rId12"/>
    <p:sldId id="1277" r:id="rId13"/>
    <p:sldId id="1278" r:id="rId14"/>
    <p:sldId id="1279" r:id="rId15"/>
    <p:sldId id="128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arry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4" autoAdjust="0"/>
    <p:restoredTop sz="91986" autoAdjust="0"/>
  </p:normalViewPr>
  <p:slideViewPr>
    <p:cSldViewPr snapToGrid="0">
      <p:cViewPr varScale="1">
        <p:scale>
          <a:sx n="91" d="100"/>
          <a:sy n="91" d="100"/>
        </p:scale>
        <p:origin x="96" y="3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15B22-8194-4FC8-9614-86C592EEABA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F2CA6-A39B-48F7-84D1-AF91BD07D6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C41597-7941-4461-A03D-7D307C3317F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7E5104-8735-46A8-9820-8BD5C44B645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B04D0-EC69-4E34-9026-1132273F6FE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4D7FE-E00D-4DCA-A0A7-A306174DC0C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E46EFE-F103-4F45-8883-0DE6C66B1B8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5AF18-52E2-4048-A908-642605843C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2A61F9-4BE0-4887-A67C-4D288CA5699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7B2B09-852B-4EAA-A08A-0953A9F633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CDC42-DFEF-458F-BD1B-2EFAEEF6801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FF534AEE-0681-4001-91D8-DF8F111160F4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§16.</a:t>
            </a:r>
            <a:r>
              <a:rPr lang="zh-CN" altLang="en-US" sz="2800" b="1" dirty="0">
                <a:latin typeface="+mn-ea"/>
              </a:rPr>
              <a:t>运算符重载 </a:t>
            </a:r>
            <a:r>
              <a:rPr lang="en-US" altLang="zh-CN" sz="2800" b="1" dirty="0">
                <a:latin typeface="+mn-ea"/>
              </a:rPr>
              <a:t>– </a:t>
            </a:r>
            <a:r>
              <a:rPr lang="zh-CN" altLang="en-US" sz="2800" b="1" dirty="0">
                <a:latin typeface="+mn-ea"/>
              </a:rPr>
              <a:t>转换构造和类型转换函数的使用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、完成本文档中所有的题目并写出分析、运行结果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、无特殊说明，均使用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VS2022 + Linux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编译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截图（不允许手写、不允许手写拍照）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11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28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、为了保证一致性，先把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升级到最新版本后再做（截止</a:t>
            </a:r>
            <a:r>
              <a:rPr lang="en-US" altLang="zh-CN" sz="1600" b="1" dirty="0">
                <a:latin typeface="+mn-ea"/>
              </a:rPr>
              <a:t>2024-11-22</a:t>
            </a:r>
            <a:r>
              <a:rPr lang="zh-CN" altLang="en-US" sz="1600" b="1" dirty="0">
                <a:latin typeface="+mn-ea"/>
              </a:rPr>
              <a:t>的最新版本是</a:t>
            </a:r>
            <a:r>
              <a:rPr lang="en-US" altLang="zh-CN" sz="1600" b="1" dirty="0">
                <a:latin typeface="+mn-ea"/>
              </a:rPr>
              <a:t>17.11.6</a:t>
            </a:r>
            <a:r>
              <a:rPr lang="zh-CN" altLang="en-US" sz="1600" b="1" dirty="0">
                <a:latin typeface="+mn-ea"/>
              </a:rPr>
              <a:t>）</a:t>
            </a:r>
            <a:endParaRPr lang="en-US" altLang="zh-CN" sz="1600" b="1" dirty="0">
              <a:latin typeface="+mn-ea"/>
            </a:endParaRPr>
          </a:p>
          <a:p>
            <a:pPr algn="l"/>
            <a:endParaRPr lang="zh-CN" altLang="en-US" sz="1600" b="1" dirty="0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872" y="3743461"/>
            <a:ext cx="3448050" cy="2009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§16.</a:t>
            </a:r>
            <a:r>
              <a:rPr lang="zh-CN" altLang="en-US" sz="2800" b="1" dirty="0">
                <a:latin typeface="+mn-ea"/>
              </a:rPr>
              <a:t>运算符重载 </a:t>
            </a:r>
            <a:r>
              <a:rPr lang="en-US" altLang="zh-CN" sz="2800" b="1" dirty="0">
                <a:latin typeface="+mn-ea"/>
              </a:rPr>
              <a:t>– </a:t>
            </a:r>
            <a:r>
              <a:rPr lang="zh-CN" altLang="en-US" sz="2800" b="1" dirty="0">
                <a:latin typeface="+mn-ea"/>
              </a:rPr>
              <a:t>转换构造和类型转换函数的使用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填写要求：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、依次用</a:t>
            </a:r>
            <a:r>
              <a:rPr lang="en-US" altLang="zh-CN" sz="1600" b="1" dirty="0">
                <a:latin typeface="+mn-ea"/>
              </a:rPr>
              <a:t>VS2022/Linux</a:t>
            </a:r>
            <a:r>
              <a:rPr lang="zh-CN" altLang="en-US" sz="1600" b="1" dirty="0">
                <a:latin typeface="+mn-ea"/>
              </a:rPr>
              <a:t>编译指定的源程序文件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如果编译正确，则对应位置填写运行结果并给出得到此结果的原因解释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如果编译错误，则对应位置填写该行的编译错误提示及错误原因分析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、如果编译器报多个错误，填写源程序文件对应行的错误提示即可，示例如下，将红色框截图即可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、如果</a:t>
            </a:r>
            <a:r>
              <a:rPr lang="en-US" altLang="zh-CN" sz="1600" b="1" dirty="0">
                <a:latin typeface="+mn-ea"/>
              </a:rPr>
              <a:t>main</a:t>
            </a:r>
            <a:r>
              <a:rPr lang="zh-CN" altLang="en-US" sz="1600" b="1" dirty="0">
                <a:latin typeface="+mn-ea"/>
              </a:rPr>
              <a:t>函数中某一句错误，则将该句及下面的打印语句全部注释掉，继续观察其余正确语句的运行结果（示例见上图）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、用蓝色加粗字体填写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、不需要填写的部分可以删除（例如：某句正确，则错误部分不填，或填写</a:t>
            </a:r>
            <a:r>
              <a:rPr lang="en-US" altLang="zh-CN" sz="1600" b="1" dirty="0">
                <a:latin typeface="+mn-ea"/>
              </a:rPr>
              <a:t>"/"</a:t>
            </a:r>
            <a:r>
              <a:rPr lang="zh-CN" altLang="en-US" sz="1600" b="1" dirty="0">
                <a:latin typeface="+mn-ea"/>
              </a:rPr>
              <a:t>即可）</a:t>
            </a:r>
            <a:endParaRPr lang="zh-CN" altLang="en-US" sz="1600" b="1" dirty="0">
              <a:latin typeface="+mn-ea"/>
            </a:endParaRPr>
          </a:p>
          <a:p>
            <a:pPr algn="l"/>
            <a:endParaRPr lang="zh-CN" altLang="en-US" sz="1600" b="1" dirty="0">
              <a:latin typeface="+mn-ea"/>
            </a:endParaRPr>
          </a:p>
          <a:p>
            <a:pPr algn="l"/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</a:t>
            </a:r>
            <a:endParaRPr lang="zh-CN" altLang="en-US" sz="1600" b="1" dirty="0">
              <a:latin typeface="+mn-ea"/>
            </a:endParaRPr>
          </a:p>
          <a:p>
            <a:pPr algn="l"/>
            <a:endParaRPr lang="zh-CN" altLang="en-US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381" y="2167145"/>
            <a:ext cx="4895238" cy="34476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图片 17"/>
          <p:cNvPicPr/>
          <p:nvPr/>
        </p:nvPicPr>
        <p:blipFill>
          <a:blip r:embed="rId2"/>
          <a:stretch>
            <a:fillRect/>
          </a:stretch>
        </p:blipFill>
        <p:spPr>
          <a:xfrm>
            <a:off x="8448733" y="4188373"/>
            <a:ext cx="3181985" cy="457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图片 18"/>
          <p:cNvPicPr/>
          <p:nvPr/>
        </p:nvPicPr>
        <p:blipFill>
          <a:blip r:embed="rId3"/>
          <a:stretch>
            <a:fillRect/>
          </a:stretch>
        </p:blipFill>
        <p:spPr>
          <a:xfrm>
            <a:off x="8448733" y="5107446"/>
            <a:ext cx="2524125" cy="4381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右箭头 11"/>
          <p:cNvSpPr/>
          <p:nvPr/>
        </p:nvSpPr>
        <p:spPr>
          <a:xfrm rot="5400000">
            <a:off x="9201045" y="4776041"/>
            <a:ext cx="504825" cy="200025"/>
          </a:xfrm>
          <a:prstGeom prst="rightArrow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§16.</a:t>
            </a:r>
            <a:r>
              <a:rPr lang="zh-CN" altLang="en-US" sz="2800" b="1" dirty="0">
                <a:latin typeface="+mn-ea"/>
              </a:rPr>
              <a:t>运算符重载 </a:t>
            </a:r>
            <a:r>
              <a:rPr lang="en-US" altLang="zh-CN" sz="2800" b="1" dirty="0">
                <a:latin typeface="+mn-ea"/>
              </a:rPr>
              <a:t>– </a:t>
            </a:r>
            <a:r>
              <a:rPr lang="zh-CN" altLang="en-US" sz="2800" b="1" dirty="0">
                <a:latin typeface="+mn-ea"/>
              </a:rPr>
              <a:t>转换构造和类型转换函数的使用</a:t>
            </a:r>
            <a:endParaRPr lang="en-US" altLang="zh-CN" sz="2800" b="1" dirty="0">
              <a:latin typeface="+mn-ea"/>
            </a:endParaRPr>
          </a:p>
          <a:p>
            <a:pPr algn="l" eaLnBrk="1" hangingPunct="1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附：用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>
                <a:latin typeface="+mn-ea"/>
              </a:rPr>
              <a:t>§16.</a:t>
            </a:r>
            <a:r>
              <a:rPr lang="zh-CN" altLang="en-US" sz="2800" b="1">
                <a:latin typeface="+mn-ea"/>
              </a:rPr>
              <a:t>运算符重载 </a:t>
            </a:r>
            <a:r>
              <a:rPr lang="en-US" altLang="zh-CN" sz="2800" b="1">
                <a:latin typeface="+mn-ea"/>
              </a:rPr>
              <a:t>– </a:t>
            </a:r>
            <a:r>
              <a:rPr lang="zh-CN" altLang="en-US" sz="2800" b="1">
                <a:latin typeface="+mn-ea"/>
              </a:rPr>
              <a:t>转换构造和类型转换函数的使用</a:t>
            </a:r>
            <a:endParaRPr lang="zh-CN" altLang="en-US" sz="2800" b="1" dirty="0">
              <a:latin typeface="+mn-ea"/>
            </a:endParaRPr>
          </a:p>
          <a:p>
            <a:pPr lvl="0" algn="l"/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1.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无转换构造函数、无类型转换函数、友元方式实现复数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82904" y="987973"/>
            <a:ext cx="10527996" cy="5707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/>
            <a:r>
              <a:rPr lang="en-US" altLang="zh-CN" sz="1200" b="1" dirty="0">
                <a:latin typeface="+mn-ea"/>
              </a:rPr>
              <a:t>c3 = c1 + Complex(2.5)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没有从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转为复数的转换构造函数</a:t>
            </a:r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c1 + 2.5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无复数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+double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的重载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  2.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无复数转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double 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的类型转换函数，无法理解为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 double+  3.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无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转复数的转换构造函数，无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                       </a:t>
            </a:r>
            <a:endParaRPr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                        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法理解为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复数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复数的重载</a:t>
            </a:r>
            <a:endParaRPr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c3 = 2.5 + c1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无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+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复数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的重载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  2.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无复数转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 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的类型转换函数，无法理解为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 </a:t>
            </a:r>
            <a:endParaRPr lang="en-US" altLang="zh-CN" sz="12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/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                        double+  3.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无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转复数的转换构造函数，无法理解为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复数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复数的重载</a:t>
            </a:r>
            <a:endParaRPr lang="zh-CN" altLang="en-US" sz="12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l"/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                     </a:t>
            </a:r>
            <a:endParaRPr lang="en-US" altLang="zh-CN" sz="1200" b="1" dirty="0">
              <a:latin typeface="+mn-ea"/>
            </a:endParaRPr>
          </a:p>
          <a:p>
            <a:pPr algn="l"/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★ </a:t>
            </a:r>
            <a:r>
              <a:rPr lang="zh-CN" altLang="en-US" sz="1200" b="1" dirty="0">
                <a:latin typeface="+mn-ea"/>
              </a:rPr>
              <a:t>每个输出的不匹配项可删除（例：若本项编译正确，则编译错误的几行内容直接删除即可）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★ </a:t>
            </a:r>
            <a:r>
              <a:rPr lang="zh-CN" altLang="en-US" sz="1200" b="1" dirty="0">
                <a:latin typeface="+mn-ea"/>
              </a:rPr>
              <a:t>分析正确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错误原因时，仿课件</a:t>
            </a:r>
            <a:r>
              <a:rPr lang="en-US" altLang="zh-CN" sz="1200" b="1" dirty="0">
                <a:latin typeface="+mn-ea"/>
              </a:rPr>
              <a:t>P.45~46</a:t>
            </a:r>
            <a:r>
              <a:rPr lang="zh-CN" altLang="en-US" sz="1200" b="1" dirty="0">
                <a:latin typeface="+mn-ea"/>
              </a:rPr>
              <a:t>的样式，需要将正确</a:t>
            </a:r>
            <a:r>
              <a:rPr lang="en-US" altLang="zh-CN" sz="1200" b="1" dirty="0">
                <a:latin typeface="+mn-ea"/>
              </a:rPr>
              <a:t>/</a:t>
            </a:r>
            <a:r>
              <a:rPr lang="zh-CN" altLang="en-US" sz="1200" b="1" dirty="0">
                <a:latin typeface="+mn-ea"/>
              </a:rPr>
              <a:t>错误原因交待清楚</a:t>
            </a:r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★ </a:t>
            </a:r>
            <a:r>
              <a:rPr lang="zh-CN" altLang="en-US" sz="1200" b="1" dirty="0">
                <a:latin typeface="+mn-ea"/>
              </a:rPr>
              <a:t>后续页面要求相同</a:t>
            </a:r>
            <a:endParaRPr lang="zh-CN" altLang="zh-CN" sz="1200" b="1" dirty="0">
              <a:latin typeface="+mn-ea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8639810" y="4485640"/>
            <a:ext cx="2952115" cy="135826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编译错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!!!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、无 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double+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复数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的重载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、无 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复数转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double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的类型转换函数，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也无法理解为 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double+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、无 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double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转复数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的转换构造函数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及 复数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复数 的重载，也无法理解为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复数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8639810" y="5843905"/>
            <a:ext cx="2952115" cy="977265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2.5 + c1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因为没有定义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double+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复数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的重载，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因此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c1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被转换为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double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隐式调用类型转换函数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double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相加，得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5.5</a:t>
            </a:r>
            <a:endParaRPr kumimoji="1" lang="zh-CN" altLang="en-US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cxnSp>
        <p:nvCxnSpPr>
          <p:cNvPr id="4" name="直接箭头连接符 3"/>
          <p:cNvCxnSpPr/>
          <p:nvPr/>
        </p:nvCxnSpPr>
        <p:spPr bwMode="auto">
          <a:xfrm>
            <a:off x="6120511" y="6178266"/>
            <a:ext cx="2472690" cy="69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7720" y="1400810"/>
            <a:ext cx="4043045" cy="2336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720" y="1687830"/>
            <a:ext cx="4545330" cy="2774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720" y="2761615"/>
            <a:ext cx="8826500" cy="2305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7720" y="3040380"/>
            <a:ext cx="5485765" cy="3321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2635" y="4291965"/>
            <a:ext cx="8832850" cy="1936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635" y="4526280"/>
            <a:ext cx="6074410" cy="320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>
                <a:latin typeface="+mn-ea"/>
              </a:rPr>
              <a:t>§16.</a:t>
            </a:r>
            <a:r>
              <a:rPr lang="zh-CN" altLang="en-US" sz="2800" b="1">
                <a:latin typeface="+mn-ea"/>
              </a:rPr>
              <a:t>运算符重载 </a:t>
            </a:r>
            <a:r>
              <a:rPr lang="en-US" altLang="zh-CN" sz="2800" b="1">
                <a:latin typeface="+mn-ea"/>
              </a:rPr>
              <a:t>– </a:t>
            </a:r>
            <a:r>
              <a:rPr lang="zh-CN" altLang="en-US" sz="2800" b="1">
                <a:latin typeface="+mn-ea"/>
              </a:rPr>
              <a:t>转换构造和类型转换函数的使用</a:t>
            </a:r>
            <a:endParaRPr lang="zh-CN" altLang="en-US" sz="2800" b="1" dirty="0">
              <a:latin typeface="+mn-ea"/>
            </a:endParaRPr>
          </a:p>
          <a:p>
            <a:pPr lvl="0" algn="l"/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2.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无转换构造函数、无类型转换函数、成员方式实现复数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82904" y="987973"/>
            <a:ext cx="10527996" cy="5707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/>
            <a:r>
              <a:rPr lang="en-US" altLang="zh-CN" sz="1200" b="1" dirty="0">
                <a:latin typeface="+mn-ea"/>
              </a:rPr>
              <a:t>c3 = c1 + Complex(2.5)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没有从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转为复数的转换构造函数</a:t>
            </a:r>
            <a:endParaRPr lang="en-US" altLang="zh-CN" sz="1200" b="1" dirty="0">
              <a:latin typeface="+mn-ea"/>
            </a:endParaRPr>
          </a:p>
          <a:p>
            <a:pPr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c1 + 2.5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无复数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+double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的重载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  </a:t>
            </a:r>
            <a:endParaRPr lang="en-US" altLang="zh-CN" sz="12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/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                        2.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无复数转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的类型转换函数，无法理解为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double+  </a:t>
            </a:r>
            <a:endParaRPr lang="en-US" altLang="zh-CN" sz="12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/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                        3.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无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转复数的转换构造函数，无法理解为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复数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复数的重载</a:t>
            </a:r>
            <a:endParaRPr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c3 = 2.5 + c1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无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double+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复数的重载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  </a:t>
            </a:r>
            <a:endParaRPr lang="en-US" altLang="zh-CN" sz="12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/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                        2.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无复数转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的类型转换函数，无法理解为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double+  </a:t>
            </a:r>
            <a:endParaRPr lang="en-US" altLang="zh-CN" sz="12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/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                        3.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无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转复数的转换构造函数，无法理解为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复数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+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复数的重载</a:t>
            </a:r>
            <a:endParaRPr lang="en-US" altLang="zh-CN" sz="1200" b="1" dirty="0">
              <a:latin typeface="+mn-ea"/>
            </a:endParaRPr>
          </a:p>
          <a:p>
            <a:pPr algn="l"/>
            <a:endParaRPr lang="en-US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2480" y="1450340"/>
            <a:ext cx="7061835" cy="2101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480" y="1705610"/>
            <a:ext cx="5958205" cy="3879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480" y="3038475"/>
            <a:ext cx="8439785" cy="1936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2480" y="3250565"/>
            <a:ext cx="6579235" cy="3575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2960" y="4950460"/>
            <a:ext cx="8086090" cy="1936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2960" y="5198110"/>
            <a:ext cx="5976620" cy="345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>
                <a:latin typeface="+mn-ea"/>
              </a:rPr>
              <a:t>§16.</a:t>
            </a:r>
            <a:r>
              <a:rPr lang="zh-CN" altLang="en-US" sz="2800" b="1">
                <a:latin typeface="+mn-ea"/>
              </a:rPr>
              <a:t>运算符重载 </a:t>
            </a:r>
            <a:r>
              <a:rPr lang="en-US" altLang="zh-CN" sz="2800" b="1">
                <a:latin typeface="+mn-ea"/>
              </a:rPr>
              <a:t>– </a:t>
            </a:r>
            <a:r>
              <a:rPr lang="zh-CN" altLang="en-US" sz="2800" b="1">
                <a:latin typeface="+mn-ea"/>
              </a:rPr>
              <a:t>转换构造和类型转换函数的使用</a:t>
            </a:r>
            <a:endParaRPr lang="zh-CN" altLang="en-US" sz="2800" b="1" dirty="0">
              <a:latin typeface="+mn-ea"/>
            </a:endParaRPr>
          </a:p>
          <a:p>
            <a:pPr lvl="0" algn="l"/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3.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无转换构造函数、有类型转换函数、友元方式实现复数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82904" y="987973"/>
            <a:ext cx="10527996" cy="5707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/>
            <a:r>
              <a:rPr lang="en-US" altLang="zh-CN" sz="1200" b="1" dirty="0">
                <a:latin typeface="+mn-ea"/>
              </a:rPr>
              <a:t>c3 = c1 + Complex(2.5)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没有从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转为复数的转换构造函数</a:t>
            </a:r>
            <a:endParaRPr lang="zh-CN" altLang="zh-CN" sz="1200" b="1" dirty="0">
              <a:latin typeface="+mn-ea"/>
            </a:endParaRPr>
          </a:p>
          <a:p>
            <a:pPr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c1 + 2.5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endParaRPr lang="en-US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</a:rPr>
              <a:t>因为没有定义复数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+double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的重载，所以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c1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被转换为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double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隐式调用类型转换函数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=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右边结果为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。</a:t>
            </a:r>
            <a:endParaRPr lang="zh-CN" altLang="en-US" sz="1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              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但是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没有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定义复数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=double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的重载，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2.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也没有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从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转为复数的转换构造函数，赋值运算符无法匹配。</a:t>
            </a:r>
            <a:endParaRPr lang="zh-CN" altLang="zh-CN" sz="1200" b="1" dirty="0">
              <a:solidFill>
                <a:schemeClr val="accent2"/>
              </a:solidFill>
              <a:latin typeface="+mn-ea"/>
            </a:endParaRPr>
          </a:p>
          <a:p>
            <a:pPr algn="l"/>
            <a:endParaRPr lang="zh-CN" altLang="zh-CN" sz="1200" b="1" dirty="0">
              <a:solidFill>
                <a:schemeClr val="accent2"/>
              </a:solidFill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c3 = 2.5 + c1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因为没有定义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+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复数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的重载，所以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c1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被转换为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隐式调用类型转换函数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=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右边结果为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。</a:t>
            </a:r>
            <a:endParaRPr lang="zh-CN" altLang="en-US" sz="1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              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但是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没有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定义复数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=double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的重载，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2.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也没有从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转为复数的转换构造函数，赋值运算符无法匹配。</a:t>
            </a:r>
            <a:endParaRPr lang="zh-CN" altLang="zh-CN" sz="12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5020" y="1435735"/>
            <a:ext cx="7693660" cy="18859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020" y="2993390"/>
            <a:ext cx="7952105" cy="2000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020" y="4562475"/>
            <a:ext cx="8278495" cy="1962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5020" y="1670050"/>
            <a:ext cx="6384290" cy="3962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5020" y="3232150"/>
            <a:ext cx="6558280" cy="3733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5020" y="4831715"/>
            <a:ext cx="6759575" cy="3244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>
                <a:latin typeface="+mn-ea"/>
              </a:rPr>
              <a:t>§16.</a:t>
            </a:r>
            <a:r>
              <a:rPr lang="zh-CN" altLang="en-US" sz="2800" b="1">
                <a:latin typeface="+mn-ea"/>
              </a:rPr>
              <a:t>运算符重载 </a:t>
            </a:r>
            <a:r>
              <a:rPr lang="en-US" altLang="zh-CN" sz="2800" b="1">
                <a:latin typeface="+mn-ea"/>
              </a:rPr>
              <a:t>– </a:t>
            </a:r>
            <a:r>
              <a:rPr lang="zh-CN" altLang="en-US" sz="2800" b="1">
                <a:latin typeface="+mn-ea"/>
              </a:rPr>
              <a:t>转换构造和类型转换函数的使用</a:t>
            </a:r>
            <a:endParaRPr lang="zh-CN" altLang="en-US" sz="2800" b="1" dirty="0">
              <a:latin typeface="+mn-ea"/>
            </a:endParaRPr>
          </a:p>
          <a:p>
            <a:pPr lvl="0" algn="l"/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4.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无转换构造函数、有类型转换函数、成员方式实现复数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82904" y="987973"/>
            <a:ext cx="10527996" cy="5707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/>
            <a:r>
              <a:rPr lang="en-US" altLang="zh-CN" sz="1200" b="1" dirty="0">
                <a:latin typeface="+mn-ea"/>
              </a:rPr>
              <a:t>c3 = c1 + Complex(2.5)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没有从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转为复数的转换构造函数</a:t>
            </a:r>
            <a:endParaRPr lang="zh-CN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c1 + 2.5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因为没有定义复数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+double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的重载，所以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c1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被转换为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隐式调用类型转换函数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=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右边结果为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。</a:t>
            </a:r>
            <a:endParaRPr lang="zh-CN" altLang="en-US" sz="1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              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但是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没有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定义复数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=double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的重载，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2.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也没有从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转为复数的转换构造函数，赋值运算符无法匹配。</a:t>
            </a:r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2.5 + c1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因为没有定义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double+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复数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的重载，所以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c1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被转换为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(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隐式调用类型转换函数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)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，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=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右边结果为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。</a:t>
            </a:r>
            <a:endParaRPr lang="zh-CN" altLang="en-US" sz="1200" b="1" dirty="0">
              <a:solidFill>
                <a:schemeClr val="accent2"/>
              </a:solidFill>
              <a:latin typeface="宋体" panose="02010600030101010101" pitchFamily="2" charset="-122"/>
              <a:sym typeface="+mn-ea"/>
            </a:endParaRPr>
          </a:p>
          <a:p>
            <a:pPr algn="l"/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                        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但是</a:t>
            </a:r>
            <a:r>
              <a:rPr lang="en-US" altLang="zh-CN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latin typeface="宋体" panose="02010600030101010101" pitchFamily="2" charset="-122"/>
                <a:sym typeface="+mn-ea"/>
              </a:rPr>
              <a:t>没有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定义复数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=double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的重载，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2.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也没有从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转为复数的转换构造函数，赋值运算符无法匹配。</a:t>
            </a:r>
            <a:endParaRPr lang="zh-CN" altLang="zh-CN" sz="12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1449070"/>
            <a:ext cx="7704455" cy="23876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260" y="2963545"/>
            <a:ext cx="8815070" cy="2082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260" y="4492625"/>
            <a:ext cx="8815070" cy="2298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0260" y="1739900"/>
            <a:ext cx="5680075" cy="3587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0260" y="3223895"/>
            <a:ext cx="5724525" cy="3079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0260" y="4758690"/>
            <a:ext cx="5724525" cy="3111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>
                <a:latin typeface="+mn-ea"/>
              </a:rPr>
              <a:t>§16.</a:t>
            </a:r>
            <a:r>
              <a:rPr lang="zh-CN" altLang="en-US" sz="2800" b="1">
                <a:latin typeface="+mn-ea"/>
              </a:rPr>
              <a:t>运算符重载 </a:t>
            </a:r>
            <a:r>
              <a:rPr lang="en-US" altLang="zh-CN" sz="2800" b="1">
                <a:latin typeface="+mn-ea"/>
              </a:rPr>
              <a:t>– </a:t>
            </a:r>
            <a:r>
              <a:rPr lang="zh-CN" altLang="en-US" sz="2800" b="1">
                <a:latin typeface="+mn-ea"/>
              </a:rPr>
              <a:t>转换构造和类型转换函数的使用</a:t>
            </a:r>
            <a:endParaRPr lang="zh-CN" altLang="en-US" sz="2800" b="1" dirty="0">
              <a:latin typeface="+mn-ea"/>
            </a:endParaRPr>
          </a:p>
          <a:p>
            <a:pPr lvl="0" algn="l"/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5.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有转换构造函数、无类型转换函数、友元方式实现复数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82904" y="987973"/>
            <a:ext cx="10527996" cy="5707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/>
            <a:r>
              <a:rPr lang="en-US" altLang="zh-CN" sz="1200" b="1" dirty="0">
                <a:latin typeface="+mn-ea"/>
              </a:rPr>
              <a:t>c3 = c1 + Complex(2.5)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</a:rPr>
              <a:t>有转换构造函数，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2.5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被显式转换成复数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2.5+0i,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再和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c1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相加，有匹配的复数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+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复数的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					 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重载，得到的复数由系统默认的拷贝构造函数赋值给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c3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。</a:t>
            </a:r>
            <a:endParaRPr lang="zh-CN" altLang="zh-CN" sz="1200" b="1" dirty="0">
              <a:solidFill>
                <a:schemeClr val="accent2"/>
              </a:solidFill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c1 + 2.5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</a:rPr>
              <a:t>没有复数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+double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的重载，但是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有转换构造函数，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2.5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被隐式转换成复数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2.5+0i,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再和</a:t>
            </a:r>
            <a:endParaRPr lang="zh-CN" altLang="en-US" sz="12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/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 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                                                          c1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相加，有匹配的复数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+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复数的重载，得到的复数由系统默认的拷贝构造函数赋值给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c3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lang="zh-CN" altLang="zh-CN" sz="1200" b="1" dirty="0">
              <a:solidFill>
                <a:schemeClr val="accent2"/>
              </a:solidFill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2.5 + c1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没有复数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+double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的重载，但是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有转换构造函数，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2.5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被隐式转换成复数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2.5+0i,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再和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 </a:t>
            </a:r>
            <a:endParaRPr lang="en-US" altLang="zh-CN" sz="12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/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                                                        c1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相加，有匹配的复数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+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复数的重载，得到的复数由系统默认的拷贝构造函数赋值给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c3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lang="zh-CN" altLang="zh-CN" sz="12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7725" y="1158875"/>
            <a:ext cx="895350" cy="3238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7725" y="2479675"/>
            <a:ext cx="895350" cy="3238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7725" y="3970020"/>
            <a:ext cx="895350" cy="323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725" y="1444625"/>
            <a:ext cx="838200" cy="2762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725" y="2803525"/>
            <a:ext cx="838200" cy="2762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7725" y="4293870"/>
            <a:ext cx="838200" cy="2762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>
                <a:latin typeface="+mn-ea"/>
              </a:rPr>
              <a:t>§16.</a:t>
            </a:r>
            <a:r>
              <a:rPr lang="zh-CN" altLang="en-US" sz="2800" b="1">
                <a:latin typeface="+mn-ea"/>
              </a:rPr>
              <a:t>运算符重载 </a:t>
            </a:r>
            <a:r>
              <a:rPr lang="en-US" altLang="zh-CN" sz="2800" b="1">
                <a:latin typeface="+mn-ea"/>
              </a:rPr>
              <a:t>– </a:t>
            </a:r>
            <a:r>
              <a:rPr lang="zh-CN" altLang="en-US" sz="2800" b="1">
                <a:latin typeface="+mn-ea"/>
              </a:rPr>
              <a:t>转换构造和类型转换函数的使用</a:t>
            </a:r>
            <a:endParaRPr lang="zh-CN" altLang="en-US" sz="2800" b="1" dirty="0">
              <a:latin typeface="+mn-ea"/>
            </a:endParaRPr>
          </a:p>
          <a:p>
            <a:pPr lvl="0" algn="l"/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6.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有转换构造函数、无类型转换函数、成员方式实现复数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82904" y="987973"/>
            <a:ext cx="10527996" cy="5707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/>
            <a:r>
              <a:rPr lang="en-US" altLang="zh-CN" sz="1200" b="1" dirty="0">
                <a:latin typeface="+mn-ea"/>
              </a:rPr>
              <a:t>c3 = c1 + Complex(2.5)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有转换构造函数，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2.5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被显式转换成复数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2.5+0i,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再和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c1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相加，有匹配的复数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+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复数的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					 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重载，得到的复数由系统默认的拷贝构造函数赋值给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c3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lang="zh-CN" altLang="en-US" sz="12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c1 + 2.5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没有复数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+double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的重载，但是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有转换构造函数，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2.5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被式转换成复数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2.5+0i,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再和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c1					 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相加，有匹配的复数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+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复数的重载，得到的复数由系统默认的拷贝构造函数赋值给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c3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lang="zh-CN" altLang="en-US" sz="12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/>
            <a:endParaRPr lang="zh-CN" altLang="en-US" sz="12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/>
            <a:endParaRPr lang="zh-CN" altLang="en-US" sz="12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/>
            <a:endParaRPr lang="zh-CN" altLang="en-US" sz="12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/>
            <a:endParaRPr lang="zh-CN" altLang="en-US" sz="12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c3 = 2.5 + c1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r>
              <a:rPr lang="en-US" altLang="zh-CN" sz="1200" b="1" dirty="0">
                <a:latin typeface="+mn-ea"/>
              </a:rPr>
              <a:t>_____________________________________________________</a:t>
            </a:r>
            <a:r>
              <a:rPr lang="zh-CN" altLang="zh-CN" sz="1200" b="1" dirty="0">
                <a:latin typeface="+mn-ea"/>
              </a:rPr>
              <a:t>（可删除横线后贴图）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没有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定义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double+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复数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的重载</a:t>
            </a:r>
            <a:endParaRPr lang="zh-CN" altLang="en-US" sz="12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marL="1371600" lvl="3" indent="457200" algn="l"/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2.double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类型没有重载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operator+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复数的成员函数</a:t>
            </a:r>
            <a:endParaRPr lang="zh-CN" altLang="en-US" sz="1200" b="1" dirty="0">
              <a:solidFill>
                <a:schemeClr val="accent2"/>
              </a:solidFill>
              <a:latin typeface="+mn-ea"/>
            </a:endParaRPr>
          </a:p>
          <a:p>
            <a:pPr marL="1371600" lvl="3" indent="457200" algn="l"/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3.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也没有将复数转换为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的类型转换函数，无法理解为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double+double</a:t>
            </a:r>
            <a:endParaRPr lang="en-US" altLang="zh-CN" sz="12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9325" y="1082675"/>
            <a:ext cx="895350" cy="323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5" y="1406525"/>
            <a:ext cx="838200" cy="2762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175" y="2441575"/>
            <a:ext cx="895350" cy="323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175" y="2765425"/>
            <a:ext cx="838200" cy="2762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5175" y="4400550"/>
            <a:ext cx="8970010" cy="2095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5175" y="4655820"/>
            <a:ext cx="6661785" cy="3752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>
                <a:latin typeface="+mn-ea"/>
              </a:rPr>
              <a:t>§16.</a:t>
            </a:r>
            <a:r>
              <a:rPr lang="zh-CN" altLang="en-US" sz="2800" b="1">
                <a:latin typeface="+mn-ea"/>
              </a:rPr>
              <a:t>运算符重载 </a:t>
            </a:r>
            <a:r>
              <a:rPr lang="en-US" altLang="zh-CN" sz="2800" b="1">
                <a:latin typeface="+mn-ea"/>
              </a:rPr>
              <a:t>– </a:t>
            </a:r>
            <a:r>
              <a:rPr lang="zh-CN" altLang="en-US" sz="2800" b="1">
                <a:latin typeface="+mn-ea"/>
              </a:rPr>
              <a:t>转换构造和类型转换函数的使用</a:t>
            </a:r>
            <a:endParaRPr lang="zh-CN" altLang="en-US" sz="2800" b="1" dirty="0">
              <a:latin typeface="+mn-ea"/>
            </a:endParaRPr>
          </a:p>
          <a:p>
            <a:pPr lvl="0" algn="l"/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7.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有转换构造函数、有类型转换函数、友元方式实现复数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82904" y="987973"/>
            <a:ext cx="10527996" cy="5707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/>
            <a:r>
              <a:rPr lang="en-US" altLang="zh-CN" sz="1200" b="1" dirty="0">
                <a:latin typeface="+mn-ea"/>
              </a:rPr>
              <a:t>c3 = c1 + Complex(2.5)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有转换构造函数，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2.5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被显式转换成复数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2.5+0i,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再和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c1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相加，有匹配的复数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+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复数的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					 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重载，得到的复数由系统默认的拷贝构造函数赋值给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c3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lang="zh-CN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c1 + 2.5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没有重载的复数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+double</a:t>
            </a:r>
            <a:endParaRPr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marL="1371600" lvl="3" indent="457200" algn="l"/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2.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有复数转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的类型转换函数（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double+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系统默认），也有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转复数的转换构造函数和复数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+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的重载，有多种可匹配方</a:t>
            </a:r>
            <a:endParaRPr lang="zh-CN" altLang="en-US" sz="1200" b="1" dirty="0">
              <a:solidFill>
                <a:schemeClr val="accent2"/>
              </a:solidFill>
              <a:latin typeface="+mn-ea"/>
            </a:endParaRPr>
          </a:p>
          <a:p>
            <a:pPr marL="1371600" lvl="3" indent="457200" algn="l"/>
            <a:r>
              <a:rPr lang="en-US" altLang="zh-CN" sz="1200" b="1" dirty="0">
                <a:solidFill>
                  <a:schemeClr val="accent2"/>
                </a:solidFill>
                <a:latin typeface="+mn-ea"/>
              </a:rPr>
              <a:t>  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</a:rPr>
              <a:t>式，系统判断为重定义</a:t>
            </a:r>
            <a:endParaRPr lang="zh-CN" altLang="zh-CN" sz="1200" b="1" dirty="0">
              <a:solidFill>
                <a:schemeClr val="accent2"/>
              </a:solidFill>
              <a:latin typeface="+mn-ea"/>
            </a:endParaRPr>
          </a:p>
          <a:p>
            <a:pPr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2.5 + c1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没有重载的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+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复数</a:t>
            </a:r>
            <a:endParaRPr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marL="1371600" lvl="3" indent="457200" algn="l"/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2.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有复数转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的类型转换函数（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double+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系统默认），也有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转复数的转换构造函数和复数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+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的重载，有多种可匹配方</a:t>
            </a:r>
            <a:endParaRPr lang="zh-CN" altLang="en-US" sz="1200" b="1" dirty="0">
              <a:solidFill>
                <a:schemeClr val="accent2"/>
              </a:solidFill>
              <a:latin typeface="+mn-ea"/>
            </a:endParaRPr>
          </a:p>
          <a:p>
            <a:pPr marL="1371600" lvl="3" indent="457200" algn="l"/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  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式，系统判断为重定义</a:t>
            </a:r>
            <a:endParaRPr lang="zh-CN" altLang="zh-CN" sz="12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9325" y="1082675"/>
            <a:ext cx="895350" cy="323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5" y="1406525"/>
            <a:ext cx="838200" cy="2762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270" y="2943225"/>
            <a:ext cx="8277860" cy="254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3270" y="5132070"/>
            <a:ext cx="8277860" cy="2882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3270" y="3249295"/>
            <a:ext cx="6530340" cy="4933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3270" y="5461000"/>
            <a:ext cx="6530340" cy="4864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>
                <a:latin typeface="+mn-ea"/>
              </a:rPr>
              <a:t>§16.</a:t>
            </a:r>
            <a:r>
              <a:rPr lang="zh-CN" altLang="en-US" sz="2800" b="1">
                <a:latin typeface="+mn-ea"/>
              </a:rPr>
              <a:t>运算符重载 </a:t>
            </a:r>
            <a:r>
              <a:rPr lang="en-US" altLang="zh-CN" sz="2800" b="1">
                <a:latin typeface="+mn-ea"/>
              </a:rPr>
              <a:t>– </a:t>
            </a:r>
            <a:r>
              <a:rPr lang="zh-CN" altLang="en-US" sz="2800" b="1">
                <a:latin typeface="+mn-ea"/>
              </a:rPr>
              <a:t>转换构造和类型转换函数的使用</a:t>
            </a:r>
            <a:endParaRPr lang="zh-CN" altLang="en-US" sz="2800" b="1" dirty="0">
              <a:latin typeface="+mn-ea"/>
            </a:endParaRPr>
          </a:p>
          <a:p>
            <a:pPr lvl="0" algn="l"/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8.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有转换构造函数、有类型转换函数、成员方式实现复数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82904" y="987973"/>
            <a:ext cx="10527996" cy="5707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/>
            <a:r>
              <a:rPr lang="en-US" altLang="zh-CN" sz="1200" b="1" dirty="0">
                <a:latin typeface="+mn-ea"/>
              </a:rPr>
              <a:t>c3 = c1 + Complex(2.5)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zh-CN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有转换构造函数，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2.5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被显式转换成复数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2.5+0i,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再和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c1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相加，有匹配的复数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+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复数的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					 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重载，得到的复数由系统默认的拷贝构造函数赋值给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c3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lang="zh-CN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c1 + 2.5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编译错误，</a:t>
            </a:r>
            <a:r>
              <a:rPr lang="en-US" altLang="zh-CN" sz="1200" b="1" dirty="0">
                <a:latin typeface="+mn-ea"/>
              </a:rPr>
              <a:t>VS2022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Linux</a:t>
            </a:r>
            <a:r>
              <a:rPr lang="zh-CN" altLang="zh-CN" sz="1200" b="1" dirty="0">
                <a:latin typeface="+mn-ea"/>
              </a:rPr>
              <a:t>下：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  <a:p>
            <a:pPr algn="l"/>
            <a:r>
              <a:rPr lang="en-US" altLang="zh-CN" sz="1200" b="1" dirty="0">
                <a:latin typeface="+mn-ea"/>
              </a:rPr>
              <a:t>          </a:t>
            </a:r>
            <a:r>
              <a:rPr lang="zh-CN" altLang="zh-CN" sz="1200" b="1" dirty="0">
                <a:latin typeface="+mn-ea"/>
              </a:rPr>
              <a:t>错误原因分析：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没有重载的复数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+double</a:t>
            </a:r>
            <a:endParaRPr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marL="1371600" lvl="3" indent="457200" algn="l"/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2.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有复数转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的类型转换函数（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double+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系统默认），也有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转复数的转换构造函数和复数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+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的重载，有多种可匹配方</a:t>
            </a:r>
            <a:endParaRPr lang="zh-CN" altLang="en-US" sz="1200" b="1" dirty="0">
              <a:solidFill>
                <a:schemeClr val="accent2"/>
              </a:solidFill>
              <a:latin typeface="+mn-ea"/>
            </a:endParaRPr>
          </a:p>
          <a:p>
            <a:pPr marL="1371600" lvl="3" indent="457200" algn="l"/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  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式，系统判断为重定义</a:t>
            </a:r>
            <a:endParaRPr lang="zh-CN" altLang="zh-CN" sz="1200" b="1" dirty="0">
              <a:latin typeface="+mn-ea"/>
            </a:endParaRPr>
          </a:p>
          <a:p>
            <a:pPr lvl="0" algn="l"/>
            <a:endParaRPr lang="en-US" altLang="zh-CN" sz="1200" b="1" dirty="0">
              <a:latin typeface="+mn-ea"/>
            </a:endParaRPr>
          </a:p>
          <a:p>
            <a:pPr lvl="0" algn="l"/>
            <a:r>
              <a:rPr lang="en-US" altLang="zh-CN" sz="1200" b="1" dirty="0">
                <a:latin typeface="+mn-ea"/>
              </a:rPr>
              <a:t>c3 = 2.5 + c1</a:t>
            </a:r>
            <a:endParaRPr lang="zh-CN" altLang="zh-CN" sz="1200" b="1" dirty="0">
              <a:latin typeface="+mn-ea"/>
            </a:endParaRPr>
          </a:p>
          <a:p>
            <a:pPr algn="l"/>
            <a:r>
              <a:rPr lang="zh-CN" altLang="zh-CN" sz="1200" b="1" dirty="0">
                <a:latin typeface="+mn-ea"/>
              </a:rPr>
              <a:t>编译正确，运行结果：</a:t>
            </a:r>
            <a:r>
              <a:rPr lang="en-US" altLang="zh-CN" sz="1200" b="1" dirty="0">
                <a:latin typeface="+mn-ea"/>
              </a:rPr>
              <a:t>___________________</a:t>
            </a:r>
            <a:r>
              <a:rPr lang="zh-CN" altLang="zh-CN" sz="1200" b="1" dirty="0">
                <a:latin typeface="+mn-ea"/>
              </a:rPr>
              <a:t>，能得到此结果的原因：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1.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没有重载的复数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+double</a:t>
            </a:r>
            <a:endParaRPr lang="en-US" altLang="zh-CN" sz="1200" b="1" dirty="0">
              <a:solidFill>
                <a:schemeClr val="accent2"/>
              </a:solidFill>
              <a:latin typeface="+mn-ea"/>
            </a:endParaRPr>
          </a:p>
          <a:p>
            <a:pPr marL="1371600" lvl="3" indent="457200" algn="l"/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2.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类型没有重载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operator+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复数的成员函数，但是有复数转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的类型转换函数，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c1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被转换成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3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，相加得到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5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（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）</a:t>
            </a:r>
            <a:endParaRPr lang="en-US" altLang="zh-CN" sz="12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marL="1371600" lvl="3" indent="457200" algn="l"/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3.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没有重载的复数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=double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。但是有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转复数的转换构造函数，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5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被转换成复数的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5+0i,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理解为复数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=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复数，由系统默认的拷</a:t>
            </a:r>
            <a:endParaRPr lang="zh-CN" altLang="en-US" sz="12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marL="1371600" lvl="3" indent="457200" algn="l"/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  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贝构造函数赋值给</a:t>
            </a:r>
            <a:r>
              <a:rPr lang="en-US" altLang="zh-CN" sz="1200" b="1" dirty="0">
                <a:solidFill>
                  <a:schemeClr val="accent2"/>
                </a:solidFill>
                <a:latin typeface="+mn-ea"/>
                <a:sym typeface="+mn-ea"/>
              </a:rPr>
              <a:t>c3</a:t>
            </a:r>
            <a:r>
              <a:rPr lang="zh-CN" altLang="en-US" sz="12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lang="zh-CN" altLang="zh-CN" sz="1200" b="1" dirty="0">
              <a:latin typeface="+mn-ea"/>
            </a:endParaRPr>
          </a:p>
          <a:p>
            <a:pPr algn="l"/>
            <a:endParaRPr lang="zh-CN" altLang="zh-CN" sz="1200" b="1" dirty="0"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9325" y="1082675"/>
            <a:ext cx="895350" cy="323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325" y="1406525"/>
            <a:ext cx="838200" cy="2762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140" y="2952115"/>
            <a:ext cx="8554720" cy="2260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7230" y="3209290"/>
            <a:ext cx="7125970" cy="4000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560" y="4606290"/>
            <a:ext cx="762000" cy="2667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9560" y="4606290"/>
            <a:ext cx="85725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>
                <a:latin typeface="+mn-ea"/>
              </a:rPr>
              <a:t>§16.</a:t>
            </a:r>
            <a:r>
              <a:rPr lang="zh-CN" altLang="en-US" sz="2800" b="1">
                <a:latin typeface="+mn-ea"/>
              </a:rPr>
              <a:t>运算符重载 </a:t>
            </a:r>
            <a:r>
              <a:rPr lang="en-US" altLang="zh-CN" sz="2800" b="1">
                <a:latin typeface="+mn-ea"/>
              </a:rPr>
              <a:t>– </a:t>
            </a:r>
            <a:r>
              <a:rPr lang="zh-CN" altLang="en-US" sz="2800" b="1">
                <a:latin typeface="+mn-ea"/>
              </a:rPr>
              <a:t>转换构造和类型转换函数的使用</a:t>
            </a:r>
            <a:endParaRPr lang="zh-CN" altLang="en-US" sz="2800" b="1" dirty="0">
              <a:latin typeface="+mn-ea"/>
            </a:endParaRPr>
          </a:p>
          <a:p>
            <a:pPr lvl="0" algn="l"/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9.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有转换构造函数、有类型转换函数、成员方式实现复数</a:t>
            </a:r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+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、另有</a:t>
            </a:r>
            <a:r>
              <a:rPr lang="en-US" altLang="zh-CN" sz="1600" b="1" dirty="0" err="1">
                <a:solidFill>
                  <a:srgbClr val="000000"/>
                </a:solidFill>
                <a:latin typeface="+mn-ea"/>
              </a:rPr>
              <a:t>double+Complex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82904" y="981623"/>
            <a:ext cx="10527996" cy="5707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/>
            <a:r>
              <a:rPr lang="zh-CN" altLang="en-US" sz="1600" b="1" dirty="0">
                <a:latin typeface="+mn-ea"/>
              </a:rPr>
              <a:t>仅讨论语句</a:t>
            </a:r>
            <a:r>
              <a:rPr lang="en-US" altLang="zh-CN" sz="1600" b="1" dirty="0">
                <a:latin typeface="+mn-ea"/>
              </a:rPr>
              <a:t>c3 = 2.5 + c1</a:t>
            </a:r>
            <a:r>
              <a:rPr lang="zh-CN" altLang="en-US" sz="1600" b="1" dirty="0">
                <a:latin typeface="+mn-ea"/>
              </a:rPr>
              <a:t>，回答下列问题</a:t>
            </a:r>
            <a:endParaRPr lang="zh-CN" altLang="en-US" sz="1600" b="1" dirty="0">
              <a:latin typeface="+mn-ea"/>
            </a:endParaRPr>
          </a:p>
          <a:p>
            <a:pPr lvl="0"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>
                <a:latin typeface="+mn-ea"/>
              </a:rPr>
              <a:t>、为什么</a:t>
            </a:r>
            <a:r>
              <a:rPr lang="zh-CN" altLang="en-US" sz="1600" b="1" dirty="0">
                <a:latin typeface="+mn-ea"/>
              </a:rPr>
              <a:t>编译不错？</a:t>
            </a:r>
            <a:endParaRPr lang="zh-CN" altLang="en-US" sz="1600" b="1" dirty="0">
              <a:latin typeface="+mn-ea"/>
            </a:endParaRPr>
          </a:p>
          <a:p>
            <a:pPr lvl="0"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有完全匹配的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double+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复数重载，直接匹配，不再类型转换或者转换构造</a:t>
            </a:r>
            <a:endParaRPr lang="zh-CN" altLang="en-US" sz="1600" b="1" dirty="0">
              <a:latin typeface="+mn-ea"/>
            </a:endParaRPr>
          </a:p>
          <a:p>
            <a:pPr lvl="0"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、运行结果是多少？</a:t>
            </a:r>
            <a:endParaRPr lang="zh-CN" altLang="en-US" sz="1600" b="1" dirty="0">
              <a:latin typeface="+mn-ea"/>
            </a:endParaRPr>
          </a:p>
          <a:p>
            <a:pPr lvl="0" algn="l"/>
            <a:endParaRPr lang="zh-CN" altLang="en-US" sz="1600" b="1" dirty="0">
              <a:latin typeface="+mn-ea"/>
            </a:endParaRPr>
          </a:p>
          <a:p>
            <a:pPr lvl="0"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、为什么和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的结果不同？</a:t>
            </a:r>
            <a:endParaRPr lang="zh-CN" altLang="en-US" sz="1600" b="1" dirty="0">
              <a:latin typeface="+mn-ea"/>
            </a:endParaRPr>
          </a:p>
          <a:p>
            <a:pPr lvl="0" algn="l"/>
            <a:r>
              <a:rPr lang="en-US" altLang="zh-CN" sz="1600" b="1" dirty="0">
                <a:latin typeface="+mn-ea"/>
              </a:rPr>
              <a:t>   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1.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程序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9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有完全匹配的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double+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复数重载，直接匹配，不再类型转换或者转换构造。自定义的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double+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复数的规则</a:t>
            </a:r>
            <a:endParaRPr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lvl="0" algn="l"/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 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   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为复数的实部加上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的数，所以得到的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c3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结果为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5.5+4i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lvl="0" algn="l"/>
            <a:endParaRPr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lvl="0" algn="l"/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 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 2.1.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程序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8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没有完全匹配的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double+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复数重载，因此会继续尝试类型转换后能否匹配</a:t>
            </a:r>
            <a:endParaRPr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lvl="0" algn="l"/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   2.2.</a:t>
            </a:r>
            <a:r>
              <a:rPr lang="zh-CN" sz="1600" b="1" dirty="0">
                <a:solidFill>
                  <a:schemeClr val="accent2"/>
                </a:solidFill>
                <a:latin typeface="+mn-ea"/>
              </a:rPr>
              <a:t>但是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有复数转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的类型转换函数，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c1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被转换成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3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（自定义的忽略虚部的规则），相加得到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5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（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）</a:t>
            </a:r>
            <a:endParaRPr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lvl="0" algn="l"/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 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 2.3.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没有重载的复数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=double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。但是有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double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转复数的转换构造函数，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5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被转换成复数的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5+0i,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理解为复数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=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复数，</a:t>
            </a:r>
            <a:endParaRPr lang="zh-CN" altLang="en-US" sz="1600" b="1" dirty="0">
              <a:solidFill>
                <a:schemeClr val="accent2"/>
              </a:solidFill>
              <a:latin typeface="+mn-ea"/>
              <a:sym typeface="+mn-ea"/>
            </a:endParaRPr>
          </a:p>
          <a:p>
            <a:pPr lvl="0" algn="l"/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 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      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由系统默认的拷贝构造函数赋值给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c3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，得到的结果为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5.5+0i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。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5880" y="1981835"/>
            <a:ext cx="866775" cy="4572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655" y="2153285"/>
            <a:ext cx="87630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>
                <a:latin typeface="+mn-ea"/>
              </a:rPr>
              <a:t>§16.</a:t>
            </a:r>
            <a:r>
              <a:rPr lang="zh-CN" altLang="en-US" sz="2800" b="1">
                <a:latin typeface="+mn-ea"/>
              </a:rPr>
              <a:t>运算符重载 </a:t>
            </a:r>
            <a:r>
              <a:rPr lang="en-US" altLang="zh-CN" sz="2800" b="1">
                <a:latin typeface="+mn-ea"/>
              </a:rPr>
              <a:t>– </a:t>
            </a:r>
            <a:r>
              <a:rPr lang="zh-CN" altLang="en-US" sz="2800" b="1">
                <a:latin typeface="+mn-ea"/>
              </a:rPr>
              <a:t>转换构造和类型转换函数的使用</a:t>
            </a:r>
            <a:endParaRPr lang="zh-CN" altLang="en-US" sz="2800" b="1" dirty="0">
              <a:latin typeface="+mn-ea"/>
            </a:endParaRPr>
          </a:p>
          <a:p>
            <a:pPr lvl="0" algn="l"/>
            <a:r>
              <a:rPr lang="en-US" altLang="zh-CN" sz="1600" b="1" dirty="0">
                <a:solidFill>
                  <a:srgbClr val="000000"/>
                </a:solidFill>
                <a:latin typeface="+mn-ea"/>
              </a:rPr>
              <a:t>10.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单独讨论有类型转换的情况下，</a:t>
            </a:r>
            <a:r>
              <a:rPr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重载的输出结果与期望值不同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482904" y="987973"/>
            <a:ext cx="10527996" cy="57074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0" algn="l"/>
            <a:r>
              <a:rPr lang="zh-CN" altLang="en-US" sz="1600" b="1" dirty="0">
                <a:latin typeface="+mn-ea"/>
              </a:rPr>
              <a:t>目前</a:t>
            </a:r>
            <a:r>
              <a:rPr lang="en-US" altLang="zh-CN" sz="1600" b="1" dirty="0">
                <a:latin typeface="+mn-ea"/>
              </a:rPr>
              <a:t>main</a:t>
            </a:r>
            <a:r>
              <a:rPr lang="zh-CN" altLang="en-US" sz="1600" b="1" dirty="0">
                <a:latin typeface="+mn-ea"/>
              </a:rPr>
              <a:t>函数中第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个输出语句与期望值不同，原因是：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cout &lt;&lt; (a + b) &lt;&lt; endl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中，因为有复数转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double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的类型转换函数，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和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b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都被隐式转换成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double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类型，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a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转换成根号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2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，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b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转换成根号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8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，相加为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4.24264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lvl="0" algn="l"/>
            <a:endParaRPr lang="en-US" altLang="zh-CN" sz="1600" b="1" dirty="0">
              <a:latin typeface="+mn-ea"/>
            </a:endParaRPr>
          </a:p>
          <a:p>
            <a:pPr lvl="0" algn="l"/>
            <a:r>
              <a:rPr lang="zh-CN" altLang="en-US" sz="1600" b="1" dirty="0">
                <a:latin typeface="+mn-ea"/>
              </a:rPr>
              <a:t>仅允许改动两行，使程序输出与期望值相同：</a:t>
            </a:r>
            <a:endParaRPr lang="zh-CN" altLang="en-US" sz="1600" b="1" dirty="0">
              <a:latin typeface="+mn-ea"/>
            </a:endParaRPr>
          </a:p>
          <a:p>
            <a:pPr lvl="0" algn="l"/>
            <a:r>
              <a:rPr lang="zh-CN" altLang="en-US" sz="1600" b="1" dirty="0">
                <a:latin typeface="+mn-ea"/>
              </a:rPr>
              <a:t>改动第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33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zh-CN" altLang="en-US" sz="1600" b="1" dirty="0">
                <a:latin typeface="+mn-ea"/>
              </a:rPr>
              <a:t>行，原内容：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friend ostream &amp; operator&lt;&lt;(ostream &amp;out, Complex &amp;c);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lvl="0" algn="l"/>
            <a:r>
              <a:rPr lang="en-US" altLang="zh-CN" sz="1600" b="1" dirty="0">
                <a:latin typeface="+mn-ea"/>
              </a:rPr>
              <a:t>                      </a:t>
            </a:r>
            <a:r>
              <a:rPr lang="zh-CN" altLang="en-US" sz="1600" b="1" dirty="0">
                <a:latin typeface="+mn-ea"/>
              </a:rPr>
              <a:t>新内容：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friend ostream &amp; operator&lt;&lt;(ostream &amp;out, const Complex &amp;c);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lvl="0" algn="l"/>
            <a:r>
              <a:rPr lang="zh-CN" altLang="en-US" sz="1600" b="1" dirty="0">
                <a:latin typeface="+mn-ea"/>
              </a:rPr>
              <a:t>改动第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36</a:t>
            </a:r>
            <a:r>
              <a:rPr lang="en-US" altLang="zh-CN" sz="1600" b="1" dirty="0">
                <a:latin typeface="+mn-ea"/>
              </a:rPr>
              <a:t>_____</a:t>
            </a:r>
            <a:r>
              <a:rPr lang="zh-CN" altLang="en-US" sz="1600" b="1" dirty="0">
                <a:latin typeface="+mn-ea"/>
              </a:rPr>
              <a:t>行，原内容：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ostream &amp;operator&lt;&lt;(ostream &amp;out, Complex &amp;c)</a:t>
            </a:r>
            <a:endParaRPr lang="en-US" altLang="zh-CN" sz="1600" b="1" dirty="0">
              <a:latin typeface="+mn-ea"/>
            </a:endParaRPr>
          </a:p>
          <a:p>
            <a:pPr lvl="0" algn="l"/>
            <a:r>
              <a:rPr lang="en-US" altLang="zh-CN" sz="1600" b="1" dirty="0">
                <a:latin typeface="+mn-ea"/>
              </a:rPr>
              <a:t>                      </a:t>
            </a:r>
            <a:r>
              <a:rPr lang="zh-CN" altLang="en-US" sz="1600" b="1" dirty="0">
                <a:latin typeface="+mn-ea"/>
              </a:rPr>
              <a:t>新内容：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ostream &amp;operator&lt;&lt;(ostream &amp;out, const Complex &amp;c)</a:t>
            </a:r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6527</Words>
  <Application>WPS 演示</Application>
  <PresentationFormat>宽屏</PresentationFormat>
  <Paragraphs>299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 Y</dc:creator>
  <cp:lastModifiedBy>染墨相思</cp:lastModifiedBy>
  <cp:revision>236</cp:revision>
  <dcterms:created xsi:type="dcterms:W3CDTF">2020-08-13T13:39:00Z</dcterms:created>
  <dcterms:modified xsi:type="dcterms:W3CDTF">2024-11-24T09:03:19Z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04B79D5611674276B0D519B4A01F0785_12</vt:lpwstr>
  </property>
  <property fmtid="{D5CDD505-2E9C-101B-9397-08002B2CF9AE}" pid="3" name="KSOProductBuildVer">
    <vt:lpwstr>2052-12.1.0.19199</vt:lpwstr>
  </property>
</Properties>
</file>