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730" r:id="rId3"/>
    <p:sldId id="1237" r:id="rId4"/>
    <p:sldId id="1238" r:id="rId6"/>
    <p:sldId id="814" r:id="rId7"/>
    <p:sldId id="800" r:id="rId8"/>
    <p:sldId id="811" r:id="rId9"/>
    <p:sldId id="807" r:id="rId10"/>
    <p:sldId id="809" r:id="rId11"/>
    <p:sldId id="810" r:id="rId12"/>
    <p:sldId id="812" r:id="rId13"/>
    <p:sldId id="813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3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70F7F-BE43-4A8B-A1A7-C9743CA3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7A556-CD7F-4282-A801-91BB0424DF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1AAC3-E1CF-43C0-B71B-89720A73C0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FFF43-CBE6-4A7F-B1EF-DF6F550F69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AFF3C-36C8-4D4A-97AC-FE8408D902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E2A3C-C663-4861-8DD7-8E4A7DB9719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837D0-5604-4489-852A-B7F5ECB6A9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35EC8-801C-4779-A815-950E7AF273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B6DF2-D4C6-44B5-980B-436D58DBD7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0E30D-6F2E-407D-BF81-F9815A518C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5E2E0-709F-4ED7-8411-7FDA611BDE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6E7D1CD2-4D70-4106-8549-A852E5E019D8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、安装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软件（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附件已给，版本虽旧，但够用</a:t>
            </a:r>
            <a:r>
              <a:rPr lang="zh-CN" altLang="en-US" sz="1600" b="1" dirty="0">
                <a:latin typeface="+mn-ea"/>
              </a:rPr>
              <a:t>），学会使用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进制方式查看文件，并掌握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及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进制查看间的切换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已安装</a:t>
            </a:r>
            <a:r>
              <a:rPr lang="en-US" altLang="zh-CN" sz="1600" b="1" dirty="0" err="1">
                <a:latin typeface="+mn-ea"/>
              </a:rPr>
              <a:t>VSCode</a:t>
            </a:r>
            <a:r>
              <a:rPr lang="zh-CN" altLang="en-US" sz="1600" b="1" dirty="0">
                <a:latin typeface="+mn-ea"/>
              </a:rPr>
              <a:t>的也可通过相关插件进行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进制方式的查看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VSCode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某种情况下会自动做格式转换或字符集转换，要注意</a:t>
            </a:r>
            <a:r>
              <a:rPr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!!!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★ 也可以使用其它编辑软件，但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不建议</a:t>
            </a:r>
            <a:r>
              <a:rPr lang="en-US" altLang="zh-CN" sz="1600" b="1" dirty="0" err="1">
                <a:latin typeface="+mn-ea"/>
              </a:rPr>
              <a:t>NotePad</a:t>
            </a:r>
            <a:r>
              <a:rPr lang="en-US" altLang="zh-CN" sz="1600" b="1" dirty="0">
                <a:latin typeface="+mn-ea"/>
              </a:rPr>
              <a:t>++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、完成本文档中所有的测试程序并填写运行结果，从而掌握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Linux</a:t>
            </a:r>
            <a:r>
              <a:rPr lang="zh-CN" altLang="en-US" sz="1600" b="1" dirty="0">
                <a:latin typeface="+mn-ea"/>
              </a:rPr>
              <a:t>两个系统下的文本文件的差异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、题目明确指定编译器外，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编译，</a:t>
            </a:r>
            <a:r>
              <a:rPr lang="en-US" altLang="zh-CN" sz="1600" b="1" dirty="0">
                <a:latin typeface="+mn-ea"/>
              </a:rPr>
              <a:t>Linux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编译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如果两个编译器运行结果一致，贴其中一张图即可，如果不一致，则两个图都要贴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7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特别说明：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因为篇幅问题，打开文件后均省略了是否打开成功的判断，这在实际应用中是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的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：附件给出的</a:t>
            </a:r>
            <a:r>
              <a:rPr lang="en-US" altLang="zh-CN" sz="1600" b="1" dirty="0" err="1">
                <a:latin typeface="+mn-ea"/>
              </a:rPr>
              <a:t>UltraEdit</a:t>
            </a:r>
            <a:r>
              <a:rPr lang="zh-CN" altLang="en-US" sz="1600" b="1" dirty="0">
                <a:latin typeface="+mn-ea"/>
              </a:rPr>
              <a:t>查看文件的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进制形式的方法（三种）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695" y="1291666"/>
            <a:ext cx="6310305" cy="16741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95" y="3202945"/>
            <a:ext cx="6310305" cy="15633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69135" b="39911"/>
          <a:stretch>
            <a:fillRect/>
          </a:stretch>
        </p:blipFill>
        <p:spPr>
          <a:xfrm>
            <a:off x="7627197" y="1291666"/>
            <a:ext cx="3763108" cy="41208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 bwMode="auto">
          <a:xfrm>
            <a:off x="3432375" y="2418973"/>
            <a:ext cx="3195782" cy="39716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正常启动，建立文件，输入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Hello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927926" y="4156984"/>
            <a:ext cx="3833091" cy="6093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：选择快捷工具栏上的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16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进制按钮，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    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01695" y="5720347"/>
            <a:ext cx="4536923" cy="48446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方法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：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Ctrl + H 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快捷键可以相互切换</a:t>
            </a:r>
            <a:endParaRPr kumimoji="1"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527637" y="5495638"/>
            <a:ext cx="3862668" cy="8774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方法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编辑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- "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十六进制功能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菜单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可以相互切换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：十进制方式写，在</a:t>
            </a:r>
            <a:r>
              <a:rPr lang="en-US" altLang="zh-CN" sz="1600" b="1" dirty="0">
                <a:latin typeface="+mn-ea"/>
              </a:rPr>
              <a:t>Windows/Linux</a:t>
            </a:r>
            <a:r>
              <a:rPr lang="zh-CN" altLang="en-US" sz="1600" b="1" dirty="0">
                <a:latin typeface="+mn-ea"/>
              </a:rPr>
              <a:t>下的差别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4509120"/>
            <a:ext cx="9642757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___7___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___6___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05" y="4833620"/>
            <a:ext cx="4557395" cy="6648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" y="5840095"/>
            <a:ext cx="4509135" cy="539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：二进制方式写，在</a:t>
            </a:r>
            <a:r>
              <a:rPr lang="en-US" altLang="zh-CN" sz="1600" b="1" dirty="0">
                <a:latin typeface="+mn-ea"/>
              </a:rPr>
              <a:t>Windows/Linux</a:t>
            </a:r>
            <a:r>
              <a:rPr lang="zh-CN" altLang="en-US" sz="1600" b="1" dirty="0">
                <a:latin typeface="+mn-ea"/>
              </a:rPr>
              <a:t>下的差别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42757" cy="352839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4509120"/>
            <a:ext cx="9642757" cy="208823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___6___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___6___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进制方式打开的贴图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665" y="4796790"/>
            <a:ext cx="4845050" cy="7219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65" y="5806440"/>
            <a:ext cx="4845050" cy="726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：在</a:t>
            </a:r>
            <a:r>
              <a:rPr lang="en-US" altLang="zh-CN" sz="1600" b="1" dirty="0">
                <a:latin typeface="+mn-ea"/>
              </a:rPr>
              <a:t>Linux</a:t>
            </a:r>
            <a:r>
              <a:rPr lang="zh-CN" altLang="en-US" sz="1600" b="1" dirty="0">
                <a:latin typeface="+mn-ea"/>
              </a:rPr>
              <a:t>读取</a:t>
            </a:r>
            <a:r>
              <a:rPr lang="en-US" altLang="zh-CN" sz="1600" b="1" dirty="0">
                <a:latin typeface="+mn-ea"/>
              </a:rPr>
              <a:t>Windows</a:t>
            </a:r>
            <a:r>
              <a:rPr lang="zh-CN" altLang="en-US" sz="1600" b="1" dirty="0">
                <a:latin typeface="+mn-ea"/>
              </a:rPr>
              <a:t>下写的十进制文件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模拟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0250" y="5085184"/>
            <a:ext cx="4835769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-1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__EOF(-1)___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__6__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，最后一个字符是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_\r__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   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"hello"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[80];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80);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下运行，输出结果是：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-1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in.getline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就结束了，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__\n__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被读掉，因此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读到了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EOF(-1)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__5___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，最后一个字符是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_o__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367454" y="980728"/>
            <a:ext cx="2238566" cy="3600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下运行本程序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70250" y="4725144"/>
            <a:ext cx="9642756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本例说明，在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下读取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格式的文件，要注意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的处理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8174440" y="980727"/>
            <a:ext cx="2238566" cy="3600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下运行本程序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140" y="5157470"/>
            <a:ext cx="419100" cy="4000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465" y="5157470"/>
            <a:ext cx="4953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的文件，观察文件长度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723" y="980728"/>
            <a:ext cx="9639283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"ABC\0\x61\x62\x63"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723" y="5085184"/>
            <a:ext cx="9639283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__5___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__4___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标志字符串的结束，只有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被写入，占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字节（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相同）。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下，十进制方式写入文件时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0D0A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字节；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0A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字节。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：用十进制方式写入含非图形字符</a:t>
            </a:r>
            <a:r>
              <a:rPr lang="en-US" altLang="zh-CN" sz="1600" b="1" dirty="0">
                <a:latin typeface="+mn-ea"/>
              </a:rPr>
              <a:t>(ASCII</a:t>
            </a:r>
            <a:r>
              <a:rPr lang="zh-CN" altLang="en-US" sz="1600" b="1" dirty="0">
                <a:latin typeface="+mn-ea"/>
              </a:rPr>
              <a:t>码</a:t>
            </a:r>
            <a:r>
              <a:rPr lang="en-US" altLang="zh-CN" sz="1600" b="1" dirty="0">
                <a:latin typeface="+mn-ea"/>
              </a:rPr>
              <a:t>32</a:t>
            </a:r>
            <a:r>
              <a:rPr lang="zh-CN" altLang="en-US" sz="1600" b="1" dirty="0">
                <a:latin typeface="+mn-ea"/>
              </a:rPr>
              <a:t>是空格，</a:t>
            </a:r>
            <a:r>
              <a:rPr lang="en-US" altLang="zh-CN" sz="1600" b="1" dirty="0">
                <a:latin typeface="+mn-ea"/>
              </a:rPr>
              <a:t>33-126</a:t>
            </a:r>
            <a:r>
              <a:rPr lang="zh-CN" altLang="en-US" sz="1600" b="1" dirty="0">
                <a:latin typeface="+mn-ea"/>
              </a:rPr>
              <a:t>为图形字符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，但不含</a:t>
            </a:r>
            <a:r>
              <a:rPr lang="en-US" altLang="zh-CN" sz="1600" b="1" dirty="0">
                <a:latin typeface="+mn-ea"/>
              </a:rPr>
              <a:t>\0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73430" y="980440"/>
            <a:ext cx="9639300" cy="32639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73430" y="4244340"/>
            <a:ext cx="9639300" cy="23526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__20___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进制显示截图为：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out.txt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__19___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UltraEdit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进制显示截图为：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4593590"/>
            <a:ext cx="6268720" cy="7562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05" y="5750560"/>
            <a:ext cx="6269355" cy="8045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340" y="162560"/>
            <a:ext cx="11898630" cy="6632575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\x1A(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26=CTRL+Z)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\</a:t>
            </a:r>
            <a:r>
              <a:rPr lang="en-US" altLang="zh-CN" sz="1600" b="1" dirty="0" err="1">
                <a:latin typeface="+mn-ea"/>
              </a:rPr>
              <a:t>xFF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255/-1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的定义是</a:t>
            </a:r>
            <a:r>
              <a:rPr lang="en-US" altLang="zh-CN" sz="1600" b="1" dirty="0">
                <a:latin typeface="+mn-ea"/>
              </a:rPr>
              <a:t>-1)</a:t>
            </a:r>
            <a:r>
              <a:rPr lang="zh-CN" altLang="en-US" sz="1600" b="1" dirty="0">
                <a:latin typeface="+mn-ea"/>
              </a:rPr>
              <a:t>的文件，并用十进制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二进制方式读取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5" y="5085080"/>
            <a:ext cx="4835525" cy="17100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_____20______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____6______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____20______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十进制读取，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Windows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下运行时，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0x1A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被认为是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文件结束标志，所以在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in.get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\x1A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in.eof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为真，循环结束，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Linux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0x1A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不被认为是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|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while(!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in.eof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5780" y="5085080"/>
            <a:ext cx="4806950" cy="171005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_____20______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____21______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____20______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的大小比文件大小大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__1_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，原因是：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程序中第一个字符为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时，还没读取到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in.eof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为假，循环会多做一遍，直到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in.get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才会终止。</a:t>
            </a:r>
            <a:endParaRPr kumimoji="1" lang="zh-CN" altLang="en-US" sz="14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\x1A(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26=CTRL+Z)</a:t>
            </a:r>
            <a:r>
              <a:rPr lang="zh-CN" altLang="en-US" sz="1600" b="1" dirty="0">
                <a:latin typeface="+mn-ea"/>
              </a:rPr>
              <a:t>的文件，并用十进制不同方式读取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0" y="980728"/>
            <a:ext cx="4835769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5" y="5085080"/>
            <a:ext cx="4835525" cy="171513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____5______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_____18______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____18______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十进制读取，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Windows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下运行时，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0x1A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被认为是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文件结束标志，所以在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in.get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\x1A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时，循环结束，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Linux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0x1A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不被认为是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endParaRPr kumimoji="1" lang="en-US" altLang="zh-CN" sz="14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\x1A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signed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5780" y="5085080"/>
            <a:ext cx="4806950" cy="171513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____5______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_____18______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____18______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和左边相同，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in.get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的返回值就是读取到的字符，赋值给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，都是不超过</a:t>
            </a:r>
            <a:r>
              <a:rPr kumimoji="1"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zh-CN" altLang="en-US" sz="14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字节的正数，结果还是一样</a:t>
            </a:r>
            <a:endParaRPr kumimoji="1" lang="zh-CN" altLang="en-US" sz="14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4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§15.</a:t>
            </a:r>
            <a:r>
              <a:rPr lang="zh-CN" altLang="en-US" sz="2800" b="1" dirty="0">
                <a:latin typeface="+mn-ea"/>
              </a:rPr>
              <a:t>输入输出流 </a:t>
            </a:r>
            <a:r>
              <a:rPr lang="en-US" altLang="zh-CN" sz="2800" b="1" dirty="0">
                <a:latin typeface="+mn-ea"/>
              </a:rPr>
              <a:t>- Windows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>
                <a:latin typeface="+mn-ea"/>
              </a:rPr>
              <a:t>Linux</a:t>
            </a:r>
            <a:r>
              <a:rPr lang="zh-CN" altLang="en-US" sz="2800" b="1" dirty="0">
                <a:latin typeface="+mn-ea"/>
              </a:rPr>
              <a:t>的文件格式差别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：用十进制方式写入含</a:t>
            </a:r>
            <a:r>
              <a:rPr lang="en-US" altLang="zh-CN" sz="1600" b="1" dirty="0">
                <a:latin typeface="+mn-ea"/>
              </a:rPr>
              <a:t>\</a:t>
            </a:r>
            <a:r>
              <a:rPr lang="en-US" altLang="zh-CN" sz="1600" b="1" dirty="0" err="1">
                <a:latin typeface="+mn-ea"/>
              </a:rPr>
              <a:t>xFF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十进制</a:t>
            </a:r>
            <a:r>
              <a:rPr lang="en-US" altLang="zh-CN" sz="1600" b="1" dirty="0">
                <a:latin typeface="+mn-ea"/>
              </a:rPr>
              <a:t>255/-1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的定义是</a:t>
            </a:r>
            <a:r>
              <a:rPr lang="en-US" altLang="zh-CN" sz="1600" b="1" dirty="0">
                <a:latin typeface="+mn-ea"/>
              </a:rPr>
              <a:t>-1)</a:t>
            </a:r>
            <a:r>
              <a:rPr lang="zh-CN" altLang="en-US" sz="1600" b="1" dirty="0">
                <a:latin typeface="+mn-ea"/>
              </a:rPr>
              <a:t>的文件，并进行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正确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错误</a:t>
            </a:r>
            <a:r>
              <a:rPr lang="zh-CN" altLang="en-US" sz="1600" b="1" dirty="0">
                <a:latin typeface="+mn-ea"/>
              </a:rPr>
              <a:t>读取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8112224" y="152400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 bwMode="auto">
          <a:xfrm>
            <a:off x="770255" y="980440"/>
            <a:ext cx="4835525" cy="39192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 bwMode="auto">
          <a:xfrm>
            <a:off x="770255" y="4899025"/>
            <a:ext cx="4835525" cy="16979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______19_____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_____18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加</a:t>
            </a:r>
            <a:r>
              <a:rPr kumimoji="1" lang="en-US" altLang="zh-CN" sz="1200" b="1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ios</a:t>
            </a:r>
            <a:r>
              <a:rPr kumimoji="1"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::binary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</a:t>
            </a:r>
            <a:r>
              <a:rPr kumimoji="1"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19</a:t>
            </a:r>
            <a:r>
              <a:rPr kumimoji="1"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____18______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0xff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in.get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的返回值为无符号数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255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，不会被当成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Windows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下，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十进制读，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0D0A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当成一个字符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\n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比文件大小小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；二进制读，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0D0A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当成两字符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\r\n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和文件大小相同。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Linux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endl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0A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，只有一个字符，所以文件大小小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和文件大小相同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kumimoji="1"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606019" y="980728"/>
            <a:ext cx="4806987" cy="41044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out("out.txt",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::out);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out &lt;&lt; "ABC\x1\x2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\t\v\b\175()-=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in("out.txt",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::in);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可加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::binary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c=0;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signed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in.get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())!=EOF) {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c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in.close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606019" y="5085185"/>
            <a:ext cx="4806987" cy="151216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Windows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_____19______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____5______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下运行，文件大小：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_____18______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是：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____5______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为什么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读到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0xff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in.get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的返回值为无符号数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255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，赋值给有符号字符类型的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时，无符号的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255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转换成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-1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，被当成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EOF</a:t>
            </a:r>
            <a:r>
              <a:rPr kumimoji="1"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，循环直接结束</a:t>
            </a:r>
            <a:endParaRPr kumimoji="1"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774060" y="6497662"/>
            <a:ext cx="9642756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6~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，结论：当文件中含字符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__0x1A__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时，不能用十进制方式读取，而当文件中含字符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__0xFF___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时，是可以用二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十进制方式正确读取的</a:t>
            </a:r>
            <a:endParaRPr kumimoji="1" lang="zh-CN" altLang="en-US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2.82732283464566,&quot;left&quot;:60.6496062992126,&quot;top&quot;:77.22267716535433,&quot;width&quot;:759.2721259842519}"/>
</p:tagLst>
</file>

<file path=ppt/tags/tag2.xml><?xml version="1.0" encoding="utf-8"?>
<p:tagLst xmlns:p="http://schemas.openxmlformats.org/presentationml/2006/main">
  <p:tag name="KSO_WM_DIAGRAM_VIRTUALLY_FRAME" val="{&quot;height&quot;:462.82732283464566,&quot;left&quot;:60.6496062992126,&quot;top&quot;:77.22267716535433,&quot;width&quot;:759.2721259842519}"/>
</p:tagLst>
</file>

<file path=ppt/tags/tag3.xml><?xml version="1.0" encoding="utf-8"?>
<p:tagLst xmlns:p="http://schemas.openxmlformats.org/presentationml/2006/main">
  <p:tag name="KSO_WM_DIAGRAM_VIRTUALLY_FRAME" val="{&quot;height&quot;:462.82732283464566,&quot;left&quot;:60.6496062992126,&quot;top&quot;:77.22267716535433,&quot;width&quot;:759.2721259842519}"/>
</p:tagLst>
</file>

<file path=ppt/tags/tag4.xml><?xml version="1.0" encoding="utf-8"?>
<p:tagLst xmlns:p="http://schemas.openxmlformats.org/presentationml/2006/main">
  <p:tag name="KSO_WM_DIAGRAM_VIRTUALLY_FRAME" val="{&quot;height&quot;:462.82732283464566,&quot;left&quot;:60.6496062992126,&quot;top&quot;:77.22267716535433,&quot;width&quot;:759.2721259842519}"/>
</p:tagLst>
</file>

<file path=ppt/tags/tag5.xml><?xml version="1.0" encoding="utf-8"?>
<p:tagLst xmlns:p="http://schemas.openxmlformats.org/presentationml/2006/main">
  <p:tag name="KSO_WM_DIAGRAM_VIRTUALLY_FRAME" val="{&quot;height&quot;:458.22732283464563,&quot;left&quot;:60.6496062992126,&quot;top&quot;:77.22267716535433,&quot;width&quot;:759.2721259842519}"/>
</p:tagLst>
</file>

<file path=ppt/tags/tag6.xml><?xml version="1.0" encoding="utf-8"?>
<p:tagLst xmlns:p="http://schemas.openxmlformats.org/presentationml/2006/main">
  <p:tag name="KSO_WM_DIAGRAM_VIRTUALLY_FRAME" val="{&quot;height&quot;:458.22732283464563,&quot;left&quot;:60.6496062992126,&quot;top&quot;:77.22267716535433,&quot;width&quot;:759.2721259842519}"/>
</p:tagLst>
</file>

<file path=ppt/tags/tag7.xml><?xml version="1.0" encoding="utf-8"?>
<p:tagLst xmlns:p="http://schemas.openxmlformats.org/presentationml/2006/main">
  <p:tag name="KSO_WM_DIAGRAM_VIRTUALLY_FRAME" val="{&quot;height&quot;:458.22732283464563,&quot;left&quot;:60.6496062992126,&quot;top&quot;:77.22267716535433,&quot;width&quot;:759.2721259842519}"/>
</p:tagLst>
</file>

<file path=ppt/tags/tag8.xml><?xml version="1.0" encoding="utf-8"?>
<p:tagLst xmlns:p="http://schemas.openxmlformats.org/presentationml/2006/main">
  <p:tag name="KSO_WM_DIAGRAM_VIRTUALLY_FRAME" val="{&quot;height&quot;:458.22732283464563,&quot;left&quot;:60.6496062992126,&quot;top&quot;:77.22267716535433,&quot;width&quot;:759.2721259842519}"/>
</p:tagLst>
</file>

<file path=ppt/tags/tag9.xml><?xml version="1.0" encoding="utf-8"?>
<p:tagLst xmlns:p="http://schemas.openxmlformats.org/presentationml/2006/main">
  <p:tag name="KSO_WM_DIAGRAM_VIRTUALLY_FRAME" val="{&quot;height&quot;:460.2766141732283,&quot;left&quot;:60.6496062992126,&quot;top&quot;:77.2,&quot;width&quot;:759.2721259842519}"/>
</p:tagLst>
</file>

<file path=ppt/tags/tag10.xml><?xml version="1.0" encoding="utf-8"?>
<p:tagLst xmlns:p="http://schemas.openxmlformats.org/presentationml/2006/main">
  <p:tag name="KSO_WM_DIAGRAM_VIRTUALLY_FRAME" val="{&quot;height&quot;:460.2766141732283,&quot;left&quot;:60.6496062992126,&quot;top&quot;:77.2,&quot;width&quot;:759.2721259842519}"/>
</p:tagLst>
</file>

<file path=ppt/tags/tag11.xml><?xml version="1.0" encoding="utf-8"?>
<p:tagLst xmlns:p="http://schemas.openxmlformats.org/presentationml/2006/main">
  <p:tag name="KSO_WM_DIAGRAM_VIRTUALLY_FRAME" val="{&quot;height&quot;:460.2766141732283,&quot;left&quot;:60.6496062992126,&quot;top&quot;:77.2,&quot;width&quot;:759.2721259842519}"/>
</p:tagLst>
</file>

<file path=ppt/tags/tag12.xml><?xml version="1.0" encoding="utf-8"?>
<p:tagLst xmlns:p="http://schemas.openxmlformats.org/presentationml/2006/main">
  <p:tag name="KSO_WM_DIAGRAM_VIRTUALLY_FRAME" val="{&quot;height&quot;:460.2766141732283,&quot;left&quot;:60.6496062992126,&quot;top&quot;:77.2,&quot;width&quot;:759.2721259842519}"/>
</p:tagLst>
</file>

<file path=ppt/tags/tag13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7834</Words>
  <Application>WPS 演示</Application>
  <PresentationFormat>宽屏</PresentationFormat>
  <Paragraphs>404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36</cp:revision>
  <dcterms:created xsi:type="dcterms:W3CDTF">2020-08-13T13:39:00Z</dcterms:created>
  <dcterms:modified xsi:type="dcterms:W3CDTF">2024-11-03T09:28:32Z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3A8A7E1645D6454293FF9C01F924D354_12</vt:lpwstr>
  </property>
  <property fmtid="{D5CDD505-2E9C-101B-9397-08002B2CF9AE}" pid="3" name="KSOProductBuildVer">
    <vt:lpwstr>2052-12.1.0.18608</vt:lpwstr>
  </property>
</Properties>
</file>