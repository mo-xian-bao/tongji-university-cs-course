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9" r:id="rId3"/>
    <p:sldId id="318" r:id="rId4"/>
    <p:sldId id="304" r:id="rId5"/>
    <p:sldId id="310" r:id="rId6"/>
    <p:sldId id="268" r:id="rId7"/>
    <p:sldId id="269" r:id="rId8"/>
    <p:sldId id="311" r:id="rId9"/>
    <p:sldId id="270" r:id="rId10"/>
    <p:sldId id="271" r:id="rId11"/>
    <p:sldId id="257" r:id="rId12"/>
    <p:sldId id="303" r:id="rId13"/>
    <p:sldId id="302" r:id="rId14"/>
    <p:sldId id="258" r:id="rId15"/>
    <p:sldId id="259" r:id="rId16"/>
    <p:sldId id="261" r:id="rId17"/>
    <p:sldId id="260" r:id="rId18"/>
    <p:sldId id="306" r:id="rId19"/>
    <p:sldId id="262" r:id="rId20"/>
    <p:sldId id="321" r:id="rId21"/>
    <p:sldId id="264" r:id="rId22"/>
    <p:sldId id="307" r:id="rId23"/>
    <p:sldId id="265" r:id="rId24"/>
    <p:sldId id="266" r:id="rId25"/>
    <p:sldId id="308" r:id="rId26"/>
    <p:sldId id="267" r:id="rId27"/>
    <p:sldId id="272" r:id="rId28"/>
    <p:sldId id="273" r:id="rId29"/>
    <p:sldId id="312" r:id="rId30"/>
    <p:sldId id="274" r:id="rId31"/>
    <p:sldId id="275" r:id="rId32"/>
    <p:sldId id="276" r:id="rId33"/>
    <p:sldId id="313" r:id="rId34"/>
    <p:sldId id="314" r:id="rId35"/>
    <p:sldId id="278" r:id="rId36"/>
    <p:sldId id="279" r:id="rId37"/>
    <p:sldId id="280" r:id="rId38"/>
    <p:sldId id="315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316" r:id="rId49"/>
    <p:sldId id="292" r:id="rId50"/>
    <p:sldId id="317" r:id="rId51"/>
    <p:sldId id="293" r:id="rId52"/>
    <p:sldId id="294" r:id="rId53"/>
    <p:sldId id="297" r:id="rId54"/>
    <p:sldId id="298" r:id="rId55"/>
    <p:sldId id="305" r:id="rId5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00FFFF"/>
    <a:srgbClr val="00CC00"/>
    <a:srgbClr val="3399FF"/>
    <a:srgbClr val="3333FF"/>
    <a:srgbClr val="663300"/>
    <a:srgbClr val="808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7"/>
    <p:restoredTop sz="94588"/>
  </p:normalViewPr>
  <p:slideViewPr>
    <p:cSldViewPr showGuides="1">
      <p:cViewPr varScale="1">
        <p:scale>
          <a:sx n="107" d="100"/>
          <a:sy n="107" d="100"/>
        </p:scale>
        <p:origin x="-17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5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4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.wmf"/><Relationship Id="rId8" Type="http://schemas.openxmlformats.org/officeDocument/2006/relationships/image" Target="../media/image29.wmf"/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0" Type="http://schemas.openxmlformats.org/officeDocument/2006/relationships/image" Target="../media/image31.wmf"/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7" Type="http://schemas.openxmlformats.org/officeDocument/2006/relationships/image" Target="../media/image38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9.vml.rels><?xml version="1.0" encoding="UTF-8" standalone="yes"?>
<Relationships xmlns="http://schemas.openxmlformats.org/package/2006/relationships"><Relationship Id="rId7" Type="http://schemas.openxmlformats.org/officeDocument/2006/relationships/image" Target="../media/image49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58.wmf"/><Relationship Id="rId8" Type="http://schemas.openxmlformats.org/officeDocument/2006/relationships/image" Target="../media/image57.wmf"/><Relationship Id="rId7" Type="http://schemas.openxmlformats.org/officeDocument/2006/relationships/image" Target="../media/image56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1" Type="http://schemas.openxmlformats.org/officeDocument/2006/relationships/image" Target="../media/image60.wmf"/><Relationship Id="rId10" Type="http://schemas.openxmlformats.org/officeDocument/2006/relationships/image" Target="../media/image59.wmf"/><Relationship Id="rId1" Type="http://schemas.openxmlformats.org/officeDocument/2006/relationships/image" Target="../media/image50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3.vml.rels><?xml version="1.0" encoding="UTF-8" standalone="yes"?>
<Relationships xmlns="http://schemas.openxmlformats.org/package/2006/relationships"><Relationship Id="rId5" Type="http://schemas.openxmlformats.org/officeDocument/2006/relationships/image" Target="../media/image69.wmf"/><Relationship Id="rId4" Type="http://schemas.openxmlformats.org/officeDocument/2006/relationships/image" Target="../media/image68.wmf"/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78.wmf"/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9.vml.rels><?xml version="1.0" encoding="UTF-8" standalone="yes"?>
<Relationships xmlns="http://schemas.openxmlformats.org/package/2006/relationships"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20.vml.rels><?xml version="1.0" encoding="UTF-8" standalone="yes"?>
<Relationships xmlns="http://schemas.openxmlformats.org/package/2006/relationships"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21.vml.rels><?xml version="1.0" encoding="UTF-8" standalone="yes"?>
<Relationships xmlns="http://schemas.openxmlformats.org/package/2006/relationships"><Relationship Id="rId5" Type="http://schemas.openxmlformats.org/officeDocument/2006/relationships/image" Target="../media/image94.wmf"/><Relationship Id="rId4" Type="http://schemas.openxmlformats.org/officeDocument/2006/relationships/image" Target="../media/image93.wmf"/><Relationship Id="rId3" Type="http://schemas.openxmlformats.org/officeDocument/2006/relationships/image" Target="../media/image91.wmf"/><Relationship Id="rId2" Type="http://schemas.openxmlformats.org/officeDocument/2006/relationships/image" Target="../media/image92.jpeg"/><Relationship Id="rId1" Type="http://schemas.openxmlformats.org/officeDocument/2006/relationships/image" Target="../media/image9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7" Type="http://schemas.openxmlformats.org/officeDocument/2006/relationships/image" Target="../media/image101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wmf"/><Relationship Id="rId8" Type="http://schemas.openxmlformats.org/officeDocument/2006/relationships/image" Target="../media/image110.wmf"/><Relationship Id="rId7" Type="http://schemas.openxmlformats.org/officeDocument/2006/relationships/image" Target="../media/image109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1" Type="http://schemas.openxmlformats.org/officeDocument/2006/relationships/image" Target="../media/image113.wmf"/><Relationship Id="rId10" Type="http://schemas.openxmlformats.org/officeDocument/2006/relationships/image" Target="../media/image112.wmf"/><Relationship Id="rId1" Type="http://schemas.openxmlformats.org/officeDocument/2006/relationships/image" Target="../media/image103.wmf"/></Relationships>
</file>

<file path=ppt/drawings/_rels/vmlDrawing2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8.wmf"/><Relationship Id="rId4" Type="http://schemas.openxmlformats.org/officeDocument/2006/relationships/image" Target="../media/image117.wmf"/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drawings/_rels/vmlDrawing26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27.vml.rels><?xml version="1.0" encoding="UTF-8" standalone="yes"?>
<Relationships xmlns="http://schemas.openxmlformats.org/package/2006/relationships"><Relationship Id="rId5" Type="http://schemas.openxmlformats.org/officeDocument/2006/relationships/image" Target="../media/image132.wmf"/><Relationship Id="rId4" Type="http://schemas.openxmlformats.org/officeDocument/2006/relationships/image" Target="../media/image131.wmf"/><Relationship Id="rId3" Type="http://schemas.openxmlformats.org/officeDocument/2006/relationships/image" Target="../media/image130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/Relationships>
</file>

<file path=ppt/drawings/_rels/vmlDrawing2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8.wmf"/><Relationship Id="rId5" Type="http://schemas.openxmlformats.org/officeDocument/2006/relationships/image" Target="../media/image137.wmf"/><Relationship Id="rId4" Type="http://schemas.openxmlformats.org/officeDocument/2006/relationships/image" Target="../media/image136.wmf"/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3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51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wmf"/><Relationship Id="rId1" Type="http://schemas.openxmlformats.org/officeDocument/2006/relationships/image" Target="../media/image152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3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61.wmf"/><Relationship Id="rId4" Type="http://schemas.openxmlformats.org/officeDocument/2006/relationships/image" Target="../media/image160.wmf"/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/Relationships>
</file>

<file path=ppt/drawings/_rels/vmlDrawing3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0.wmf"/><Relationship Id="rId8" Type="http://schemas.openxmlformats.org/officeDocument/2006/relationships/image" Target="../media/image169.wmf"/><Relationship Id="rId7" Type="http://schemas.openxmlformats.org/officeDocument/2006/relationships/image" Target="../media/image168.wmf"/><Relationship Id="rId6" Type="http://schemas.openxmlformats.org/officeDocument/2006/relationships/image" Target="../media/image167.wmf"/><Relationship Id="rId5" Type="http://schemas.openxmlformats.org/officeDocument/2006/relationships/image" Target="../media/image166.wmf"/><Relationship Id="rId4" Type="http://schemas.openxmlformats.org/officeDocument/2006/relationships/image" Target="../media/image165.wmf"/><Relationship Id="rId3" Type="http://schemas.openxmlformats.org/officeDocument/2006/relationships/image" Target="../media/image164.wmf"/><Relationship Id="rId2" Type="http://schemas.openxmlformats.org/officeDocument/2006/relationships/image" Target="../media/image163.wmf"/><Relationship Id="rId12" Type="http://schemas.openxmlformats.org/officeDocument/2006/relationships/image" Target="../media/image173.wmf"/><Relationship Id="rId11" Type="http://schemas.openxmlformats.org/officeDocument/2006/relationships/image" Target="../media/image172.wmf"/><Relationship Id="rId10" Type="http://schemas.openxmlformats.org/officeDocument/2006/relationships/image" Target="../media/image171.wmf"/><Relationship Id="rId1" Type="http://schemas.openxmlformats.org/officeDocument/2006/relationships/image" Target="../media/image162.w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2.wmf"/><Relationship Id="rId8" Type="http://schemas.openxmlformats.org/officeDocument/2006/relationships/image" Target="../media/image181.wmf"/><Relationship Id="rId7" Type="http://schemas.openxmlformats.org/officeDocument/2006/relationships/image" Target="../media/image180.wmf"/><Relationship Id="rId6" Type="http://schemas.openxmlformats.org/officeDocument/2006/relationships/image" Target="../media/image179.wmf"/><Relationship Id="rId5" Type="http://schemas.openxmlformats.org/officeDocument/2006/relationships/image" Target="../media/image178.wmf"/><Relationship Id="rId4" Type="http://schemas.openxmlformats.org/officeDocument/2006/relationships/image" Target="../media/image177.wmf"/><Relationship Id="rId3" Type="http://schemas.openxmlformats.org/officeDocument/2006/relationships/image" Target="../media/image176.wmf"/><Relationship Id="rId2" Type="http://schemas.openxmlformats.org/officeDocument/2006/relationships/image" Target="../media/image175.wmf"/><Relationship Id="rId12" Type="http://schemas.openxmlformats.org/officeDocument/2006/relationships/image" Target="../media/image185.wmf"/><Relationship Id="rId11" Type="http://schemas.openxmlformats.org/officeDocument/2006/relationships/image" Target="../media/image184.wmf"/><Relationship Id="rId10" Type="http://schemas.openxmlformats.org/officeDocument/2006/relationships/image" Target="../media/image183.wmf"/><Relationship Id="rId1" Type="http://schemas.openxmlformats.org/officeDocument/2006/relationships/image" Target="../media/image174.wmf"/></Relationships>
</file>

<file path=ppt/drawings/_rels/vmlDrawing3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4.wmf"/><Relationship Id="rId8" Type="http://schemas.openxmlformats.org/officeDocument/2006/relationships/image" Target="../media/image193.wmf"/><Relationship Id="rId7" Type="http://schemas.openxmlformats.org/officeDocument/2006/relationships/image" Target="../media/image192.wmf"/><Relationship Id="rId6" Type="http://schemas.openxmlformats.org/officeDocument/2006/relationships/image" Target="../media/image191.wmf"/><Relationship Id="rId5" Type="http://schemas.openxmlformats.org/officeDocument/2006/relationships/image" Target="../media/image190.wmf"/><Relationship Id="rId4" Type="http://schemas.openxmlformats.org/officeDocument/2006/relationships/image" Target="../media/image189.wmf"/><Relationship Id="rId3" Type="http://schemas.openxmlformats.org/officeDocument/2006/relationships/image" Target="../media/image188.wmf"/><Relationship Id="rId2" Type="http://schemas.openxmlformats.org/officeDocument/2006/relationships/image" Target="../media/image187.wmf"/><Relationship Id="rId1" Type="http://schemas.openxmlformats.org/officeDocument/2006/relationships/image" Target="../media/image186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7" Type="http://schemas.openxmlformats.org/officeDocument/2006/relationships/image" Target="../media/image192.wmf"/><Relationship Id="rId6" Type="http://schemas.openxmlformats.org/officeDocument/2006/relationships/image" Target="../media/image191.wmf"/><Relationship Id="rId5" Type="http://schemas.openxmlformats.org/officeDocument/2006/relationships/image" Target="../media/image190.wmf"/><Relationship Id="rId4" Type="http://schemas.openxmlformats.org/officeDocument/2006/relationships/image" Target="../media/image189.wmf"/><Relationship Id="rId3" Type="http://schemas.openxmlformats.org/officeDocument/2006/relationships/image" Target="../media/image197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/Relationships>
</file>

<file path=ppt/drawings/_rels/vmlDrawing3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6.wmf"/><Relationship Id="rId8" Type="http://schemas.openxmlformats.org/officeDocument/2006/relationships/image" Target="../media/image205.wmf"/><Relationship Id="rId7" Type="http://schemas.openxmlformats.org/officeDocument/2006/relationships/image" Target="../media/image204.wmf"/><Relationship Id="rId6" Type="http://schemas.openxmlformats.org/officeDocument/2006/relationships/image" Target="../media/image203.wmf"/><Relationship Id="rId5" Type="http://schemas.openxmlformats.org/officeDocument/2006/relationships/image" Target="../media/image202.wmf"/><Relationship Id="rId4" Type="http://schemas.openxmlformats.org/officeDocument/2006/relationships/image" Target="../media/image201.wmf"/><Relationship Id="rId3" Type="http://schemas.openxmlformats.org/officeDocument/2006/relationships/image" Target="../media/image200.wmf"/><Relationship Id="rId2" Type="http://schemas.openxmlformats.org/officeDocument/2006/relationships/image" Target="../media/image199.wmf"/><Relationship Id="rId1" Type="http://schemas.openxmlformats.org/officeDocument/2006/relationships/image" Target="../media/image198.wmf"/></Relationships>
</file>

<file path=ppt/drawings/_rels/vmlDrawing4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5.wmf"/><Relationship Id="rId8" Type="http://schemas.openxmlformats.org/officeDocument/2006/relationships/image" Target="../media/image214.wmf"/><Relationship Id="rId7" Type="http://schemas.openxmlformats.org/officeDocument/2006/relationships/image" Target="../media/image213.wmf"/><Relationship Id="rId6" Type="http://schemas.openxmlformats.org/officeDocument/2006/relationships/image" Target="../media/image212.wmf"/><Relationship Id="rId5" Type="http://schemas.openxmlformats.org/officeDocument/2006/relationships/image" Target="../media/image211.wmf"/><Relationship Id="rId4" Type="http://schemas.openxmlformats.org/officeDocument/2006/relationships/image" Target="../media/image210.wmf"/><Relationship Id="rId3" Type="http://schemas.openxmlformats.org/officeDocument/2006/relationships/image" Target="../media/image209.wmf"/><Relationship Id="rId2" Type="http://schemas.openxmlformats.org/officeDocument/2006/relationships/image" Target="../media/image208.wmf"/><Relationship Id="rId11" Type="http://schemas.openxmlformats.org/officeDocument/2006/relationships/image" Target="../media/image217.wmf"/><Relationship Id="rId10" Type="http://schemas.openxmlformats.org/officeDocument/2006/relationships/image" Target="../media/image216.wmf"/><Relationship Id="rId1" Type="http://schemas.openxmlformats.org/officeDocument/2006/relationships/image" Target="../media/image207.wmf"/></Relationships>
</file>

<file path=ppt/drawings/_rels/vmlDrawing4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6.wmf"/><Relationship Id="rId8" Type="http://schemas.openxmlformats.org/officeDocument/2006/relationships/image" Target="../media/image225.wmf"/><Relationship Id="rId7" Type="http://schemas.openxmlformats.org/officeDocument/2006/relationships/image" Target="../media/image224.wmf"/><Relationship Id="rId6" Type="http://schemas.openxmlformats.org/officeDocument/2006/relationships/image" Target="../media/image223.wmf"/><Relationship Id="rId5" Type="http://schemas.openxmlformats.org/officeDocument/2006/relationships/image" Target="../media/image222.wmf"/><Relationship Id="rId4" Type="http://schemas.openxmlformats.org/officeDocument/2006/relationships/image" Target="../media/image221.wmf"/><Relationship Id="rId3" Type="http://schemas.openxmlformats.org/officeDocument/2006/relationships/image" Target="../media/image220.wmf"/><Relationship Id="rId2" Type="http://schemas.openxmlformats.org/officeDocument/2006/relationships/image" Target="../media/image219.wmf"/><Relationship Id="rId10" Type="http://schemas.openxmlformats.org/officeDocument/2006/relationships/image" Target="../media/image227.wmf"/><Relationship Id="rId1" Type="http://schemas.openxmlformats.org/officeDocument/2006/relationships/image" Target="../media/image218.wmf"/></Relationships>
</file>

<file path=ppt/drawings/_rels/vmlDrawing4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6.wmf"/><Relationship Id="rId8" Type="http://schemas.openxmlformats.org/officeDocument/2006/relationships/image" Target="../media/image235.wmf"/><Relationship Id="rId7" Type="http://schemas.openxmlformats.org/officeDocument/2006/relationships/image" Target="../media/image234.wmf"/><Relationship Id="rId6" Type="http://schemas.openxmlformats.org/officeDocument/2006/relationships/image" Target="../media/image233.wmf"/><Relationship Id="rId5" Type="http://schemas.openxmlformats.org/officeDocument/2006/relationships/image" Target="../media/image232.wmf"/><Relationship Id="rId4" Type="http://schemas.openxmlformats.org/officeDocument/2006/relationships/image" Target="../media/image231.wmf"/><Relationship Id="rId3" Type="http://schemas.openxmlformats.org/officeDocument/2006/relationships/image" Target="../media/image230.wmf"/><Relationship Id="rId2" Type="http://schemas.openxmlformats.org/officeDocument/2006/relationships/image" Target="../media/image229.wmf"/><Relationship Id="rId14" Type="http://schemas.openxmlformats.org/officeDocument/2006/relationships/image" Target="../media/image223.wmf"/><Relationship Id="rId13" Type="http://schemas.openxmlformats.org/officeDocument/2006/relationships/image" Target="../media/image222.wmf"/><Relationship Id="rId12" Type="http://schemas.openxmlformats.org/officeDocument/2006/relationships/image" Target="../media/image221.wmf"/><Relationship Id="rId11" Type="http://schemas.openxmlformats.org/officeDocument/2006/relationships/image" Target="../media/image220.wmf"/><Relationship Id="rId10" Type="http://schemas.openxmlformats.org/officeDocument/2006/relationships/image" Target="../media/image237.wmf"/><Relationship Id="rId1" Type="http://schemas.openxmlformats.org/officeDocument/2006/relationships/image" Target="../media/image228.wmf"/></Relationships>
</file>

<file path=ppt/drawings/_rels/vmlDrawing4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6.wmf"/><Relationship Id="rId8" Type="http://schemas.openxmlformats.org/officeDocument/2006/relationships/image" Target="../media/image245.wmf"/><Relationship Id="rId7" Type="http://schemas.openxmlformats.org/officeDocument/2006/relationships/image" Target="../media/image244.wmf"/><Relationship Id="rId6" Type="http://schemas.openxmlformats.org/officeDocument/2006/relationships/image" Target="../media/image243.wmf"/><Relationship Id="rId5" Type="http://schemas.openxmlformats.org/officeDocument/2006/relationships/image" Target="../media/image242.wmf"/><Relationship Id="rId4" Type="http://schemas.openxmlformats.org/officeDocument/2006/relationships/image" Target="../media/image241.wmf"/><Relationship Id="rId3" Type="http://schemas.openxmlformats.org/officeDocument/2006/relationships/image" Target="../media/image240.wmf"/><Relationship Id="rId2" Type="http://schemas.openxmlformats.org/officeDocument/2006/relationships/image" Target="../media/image239.wmf"/><Relationship Id="rId13" Type="http://schemas.openxmlformats.org/officeDocument/2006/relationships/image" Target="../media/image250.wmf"/><Relationship Id="rId12" Type="http://schemas.openxmlformats.org/officeDocument/2006/relationships/image" Target="../media/image249.wmf"/><Relationship Id="rId11" Type="http://schemas.openxmlformats.org/officeDocument/2006/relationships/image" Target="../media/image248.wmf"/><Relationship Id="rId10" Type="http://schemas.openxmlformats.org/officeDocument/2006/relationships/image" Target="../media/image247.wmf"/><Relationship Id="rId1" Type="http://schemas.openxmlformats.org/officeDocument/2006/relationships/image" Target="../media/image238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3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80513" cy="6884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058" name="Picture 7" descr="33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-26987"/>
            <a:ext cx="9180513" cy="6884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59" name="WordArt 8"/>
          <p:cNvSpPr>
            <a:spLocks noTextEdit="1"/>
          </p:cNvSpPr>
          <p:nvPr userDrawn="1"/>
        </p:nvSpPr>
        <p:spPr>
          <a:xfrm>
            <a:off x="6516688" y="88900"/>
            <a:ext cx="1582737" cy="3143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 eaLnBrk="0" hangingPunct="0"/>
            <a:r>
              <a:rPr lang="zh-CN" altLang="en-US" sz="2400" b="1" spc="48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相量法</a:t>
            </a:r>
            <a:endParaRPr lang="zh-CN" altLang="en-US" sz="2400" b="1" spc="480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slide" Target="slide37.xml"/><Relationship Id="rId7" Type="http://schemas.openxmlformats.org/officeDocument/2006/relationships/image" Target="../media/image5.png"/><Relationship Id="rId6" Type="http://schemas.openxmlformats.org/officeDocument/2006/relationships/slide" Target="slide25.xml"/><Relationship Id="rId5" Type="http://schemas.openxmlformats.org/officeDocument/2006/relationships/image" Target="../media/image4.png"/><Relationship Id="rId4" Type="http://schemas.openxmlformats.org/officeDocument/2006/relationships/slide" Target="slide10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7.png"/><Relationship Id="rId10" Type="http://schemas.openxmlformats.org/officeDocument/2006/relationships/slide" Target="slide2.xml"/><Relationship Id="rId1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12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9.wmf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5.bin"/><Relationship Id="rId10" Type="http://schemas.openxmlformats.org/officeDocument/2006/relationships/image" Target="../media/image13.jpeg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18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8.png"/><Relationship Id="rId5" Type="http://schemas.openxmlformats.org/officeDocument/2006/relationships/image" Target="../media/image17.w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16.wmf"/><Relationship Id="rId2" Type="http://schemas.openxmlformats.org/officeDocument/2006/relationships/oleObject" Target="../embeddings/oleObject6.bin"/><Relationship Id="rId12" Type="http://schemas.openxmlformats.org/officeDocument/2006/relationships/vmlDrawing" Target="../drawings/vmlDrawing2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9.wmf"/><Relationship Id="rId1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3.jpe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wmf"/><Relationship Id="rId8" Type="http://schemas.openxmlformats.org/officeDocument/2006/relationships/oleObject" Target="../embeddings/oleObject15.bin"/><Relationship Id="rId7" Type="http://schemas.openxmlformats.org/officeDocument/2006/relationships/image" Target="../media/image24.wmf"/><Relationship Id="rId6" Type="http://schemas.openxmlformats.org/officeDocument/2006/relationships/oleObject" Target="../embeddings/oleObject14.bin"/><Relationship Id="rId5" Type="http://schemas.openxmlformats.org/officeDocument/2006/relationships/image" Target="../media/image8.png"/><Relationship Id="rId4" Type="http://schemas.openxmlformats.org/officeDocument/2006/relationships/image" Target="../media/image23.wmf"/><Relationship Id="rId3" Type="http://schemas.openxmlformats.org/officeDocument/2006/relationships/oleObject" Target="../embeddings/oleObject13.bin"/><Relationship Id="rId23" Type="http://schemas.openxmlformats.org/officeDocument/2006/relationships/vmlDrawing" Target="../drawings/vmlDrawing4.v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31.wmf"/><Relationship Id="rId20" Type="http://schemas.openxmlformats.org/officeDocument/2006/relationships/oleObject" Target="../embeddings/oleObject21.bin"/><Relationship Id="rId2" Type="http://schemas.openxmlformats.org/officeDocument/2006/relationships/image" Target="../media/image22.wmf"/><Relationship Id="rId19" Type="http://schemas.openxmlformats.org/officeDocument/2006/relationships/image" Target="../media/image30.wmf"/><Relationship Id="rId18" Type="http://schemas.openxmlformats.org/officeDocument/2006/relationships/oleObject" Target="../embeddings/oleObject20.bin"/><Relationship Id="rId17" Type="http://schemas.openxmlformats.org/officeDocument/2006/relationships/image" Target="../media/image29.wmf"/><Relationship Id="rId16" Type="http://schemas.openxmlformats.org/officeDocument/2006/relationships/oleObject" Target="../embeddings/oleObject19.bin"/><Relationship Id="rId15" Type="http://schemas.openxmlformats.org/officeDocument/2006/relationships/image" Target="../media/image28.wmf"/><Relationship Id="rId14" Type="http://schemas.openxmlformats.org/officeDocument/2006/relationships/oleObject" Target="../embeddings/oleObject18.bin"/><Relationship Id="rId13" Type="http://schemas.openxmlformats.org/officeDocument/2006/relationships/image" Target="../media/image27.wmf"/><Relationship Id="rId12" Type="http://schemas.openxmlformats.org/officeDocument/2006/relationships/oleObject" Target="../embeddings/oleObject17.bin"/><Relationship Id="rId11" Type="http://schemas.openxmlformats.org/officeDocument/2006/relationships/image" Target="../media/image26.wmf"/><Relationship Id="rId10" Type="http://schemas.openxmlformats.org/officeDocument/2006/relationships/oleObject" Target="../embeddings/oleObject16.bin"/><Relationship Id="rId1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wmf"/><Relationship Id="rId8" Type="http://schemas.openxmlformats.org/officeDocument/2006/relationships/oleObject" Target="../embeddings/oleObject25.bin"/><Relationship Id="rId7" Type="http://schemas.openxmlformats.org/officeDocument/2006/relationships/image" Target="../media/image15.jpeg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32.wmf"/><Relationship Id="rId19" Type="http://schemas.openxmlformats.org/officeDocument/2006/relationships/vmlDrawing" Target="../drawings/vmlDrawing5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39.png"/><Relationship Id="rId16" Type="http://schemas.openxmlformats.org/officeDocument/2006/relationships/image" Target="../media/image8.png"/><Relationship Id="rId15" Type="http://schemas.openxmlformats.org/officeDocument/2006/relationships/image" Target="../media/image38.wmf"/><Relationship Id="rId14" Type="http://schemas.openxmlformats.org/officeDocument/2006/relationships/oleObject" Target="../embeddings/oleObject28.bin"/><Relationship Id="rId13" Type="http://schemas.openxmlformats.org/officeDocument/2006/relationships/image" Target="../media/image37.wmf"/><Relationship Id="rId12" Type="http://schemas.openxmlformats.org/officeDocument/2006/relationships/oleObject" Target="../embeddings/oleObject27.bin"/><Relationship Id="rId11" Type="http://schemas.openxmlformats.org/officeDocument/2006/relationships/image" Target="../media/image36.wmf"/><Relationship Id="rId10" Type="http://schemas.openxmlformats.org/officeDocument/2006/relationships/oleObject" Target="../embeddings/oleObject26.bin"/><Relationship Id="rId1" Type="http://schemas.openxmlformats.org/officeDocument/2006/relationships/oleObject" Target="../embeddings/oleObject22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jpeg"/><Relationship Id="rId3" Type="http://schemas.openxmlformats.org/officeDocument/2006/relationships/image" Target="../media/image8.png"/><Relationship Id="rId2" Type="http://schemas.openxmlformats.org/officeDocument/2006/relationships/image" Target="../media/image40.wmf"/><Relationship Id="rId1" Type="http://schemas.openxmlformats.org/officeDocument/2006/relationships/oleObject" Target="../embeddings/oleObject29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9.png"/><Relationship Id="rId3" Type="http://schemas.openxmlformats.org/officeDocument/2006/relationships/image" Target="../media/image8.png"/><Relationship Id="rId2" Type="http://schemas.openxmlformats.org/officeDocument/2006/relationships/image" Target="../media/image41.wmf"/><Relationship Id="rId1" Type="http://schemas.openxmlformats.org/officeDocument/2006/relationships/oleObject" Target="../embeddings/oleObject30.bin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42.wmf"/><Relationship Id="rId1" Type="http://schemas.openxmlformats.org/officeDocument/2006/relationships/oleObject" Target="../embeddings/oleObject3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.bin"/><Relationship Id="rId8" Type="http://schemas.openxmlformats.org/officeDocument/2006/relationships/image" Target="../media/image46.wmf"/><Relationship Id="rId7" Type="http://schemas.openxmlformats.org/officeDocument/2006/relationships/oleObject" Target="../embeddings/oleObject35.bin"/><Relationship Id="rId6" Type="http://schemas.openxmlformats.org/officeDocument/2006/relationships/image" Target="../media/image45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43.wmf"/><Relationship Id="rId17" Type="http://schemas.openxmlformats.org/officeDocument/2006/relationships/vmlDrawing" Target="../drawings/vmlDrawing9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8.png"/><Relationship Id="rId14" Type="http://schemas.openxmlformats.org/officeDocument/2006/relationships/image" Target="../media/image49.wmf"/><Relationship Id="rId13" Type="http://schemas.openxmlformats.org/officeDocument/2006/relationships/oleObject" Target="../embeddings/oleObject38.bin"/><Relationship Id="rId12" Type="http://schemas.openxmlformats.org/officeDocument/2006/relationships/image" Target="../media/image48.wmf"/><Relationship Id="rId11" Type="http://schemas.openxmlformats.org/officeDocument/2006/relationships/oleObject" Target="../embeddings/oleObject37.bin"/><Relationship Id="rId10" Type="http://schemas.openxmlformats.org/officeDocument/2006/relationships/image" Target="../media/image47.wmf"/><Relationship Id="rId1" Type="http://schemas.openxmlformats.org/officeDocument/2006/relationships/oleObject" Target="../embeddings/oleObject3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53.w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40.bin"/><Relationship Id="rId26" Type="http://schemas.openxmlformats.org/officeDocument/2006/relationships/vmlDrawing" Target="../drawings/vmlDrawing10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60.wmf"/><Relationship Id="rId23" Type="http://schemas.openxmlformats.org/officeDocument/2006/relationships/oleObject" Target="../embeddings/oleObject49.bin"/><Relationship Id="rId22" Type="http://schemas.openxmlformats.org/officeDocument/2006/relationships/image" Target="../media/image59.wmf"/><Relationship Id="rId21" Type="http://schemas.openxmlformats.org/officeDocument/2006/relationships/oleObject" Target="../embeddings/oleObject48.bin"/><Relationship Id="rId20" Type="http://schemas.openxmlformats.org/officeDocument/2006/relationships/image" Target="../media/image58.wmf"/><Relationship Id="rId2" Type="http://schemas.openxmlformats.org/officeDocument/2006/relationships/image" Target="../media/image50.wmf"/><Relationship Id="rId19" Type="http://schemas.openxmlformats.org/officeDocument/2006/relationships/oleObject" Target="../embeddings/oleObject47.bin"/><Relationship Id="rId18" Type="http://schemas.openxmlformats.org/officeDocument/2006/relationships/image" Target="../media/image57.wmf"/><Relationship Id="rId17" Type="http://schemas.openxmlformats.org/officeDocument/2006/relationships/oleObject" Target="../embeddings/oleObject46.bin"/><Relationship Id="rId16" Type="http://schemas.openxmlformats.org/officeDocument/2006/relationships/image" Target="../media/image56.wmf"/><Relationship Id="rId15" Type="http://schemas.openxmlformats.org/officeDocument/2006/relationships/oleObject" Target="../embeddings/oleObject45.bin"/><Relationship Id="rId14" Type="http://schemas.openxmlformats.org/officeDocument/2006/relationships/image" Target="../media/image55.wmf"/><Relationship Id="rId13" Type="http://schemas.openxmlformats.org/officeDocument/2006/relationships/oleObject" Target="../embeddings/oleObject44.bin"/><Relationship Id="rId12" Type="http://schemas.openxmlformats.org/officeDocument/2006/relationships/image" Target="../media/image39.png"/><Relationship Id="rId11" Type="http://schemas.openxmlformats.org/officeDocument/2006/relationships/image" Target="../media/image54.wmf"/><Relationship Id="rId10" Type="http://schemas.openxmlformats.org/officeDocument/2006/relationships/oleObject" Target="../embeddings/oleObject43.bin"/><Relationship Id="rId1" Type="http://schemas.openxmlformats.org/officeDocument/2006/relationships/oleObject" Target="../embeddings/oleObject39.bin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1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2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61.wmf"/><Relationship Id="rId1" Type="http://schemas.openxmlformats.org/officeDocument/2006/relationships/oleObject" Target="../embeddings/oleObject5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13.jpeg"/><Relationship Id="rId3" Type="http://schemas.openxmlformats.org/officeDocument/2006/relationships/image" Target="../media/image8.png"/><Relationship Id="rId2" Type="http://schemas.openxmlformats.org/officeDocument/2006/relationships/image" Target="../media/image63.wmf"/><Relationship Id="rId1" Type="http://schemas.openxmlformats.org/officeDocument/2006/relationships/oleObject" Target="../embeddings/oleObject52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8.bin"/><Relationship Id="rId8" Type="http://schemas.openxmlformats.org/officeDocument/2006/relationships/image" Target="../media/image68.wmf"/><Relationship Id="rId7" Type="http://schemas.openxmlformats.org/officeDocument/2006/relationships/oleObject" Target="../embeddings/oleObject57.bin"/><Relationship Id="rId6" Type="http://schemas.openxmlformats.org/officeDocument/2006/relationships/image" Target="../media/image67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66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65.wmf"/><Relationship Id="rId13" Type="http://schemas.openxmlformats.org/officeDocument/2006/relationships/vmlDrawing" Target="../drawings/vmlDrawing13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8.png"/><Relationship Id="rId10" Type="http://schemas.openxmlformats.org/officeDocument/2006/relationships/image" Target="../media/image69.wmf"/><Relationship Id="rId1" Type="http://schemas.openxmlformats.org/officeDocument/2006/relationships/oleObject" Target="../embeddings/oleObject54.bin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9.png"/><Relationship Id="rId3" Type="http://schemas.openxmlformats.org/officeDocument/2006/relationships/image" Target="../media/image8.png"/><Relationship Id="rId2" Type="http://schemas.openxmlformats.org/officeDocument/2006/relationships/image" Target="../media/image70.wmf"/><Relationship Id="rId1" Type="http://schemas.openxmlformats.org/officeDocument/2006/relationships/oleObject" Target="../embeddings/oleObject59.bin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1.wmf"/><Relationship Id="rId1" Type="http://schemas.openxmlformats.org/officeDocument/2006/relationships/oleObject" Target="../embeddings/oleObject60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6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.png"/><Relationship Id="rId6" Type="http://schemas.openxmlformats.org/officeDocument/2006/relationships/image" Target="../media/image74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73.w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72.wmf"/><Relationship Id="rId1" Type="http://schemas.openxmlformats.org/officeDocument/2006/relationships/oleObject" Target="../embeddings/oleObject61.bin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9.png"/><Relationship Id="rId2" Type="http://schemas.openxmlformats.org/officeDocument/2006/relationships/image" Target="../media/image13.jpeg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jpeg"/><Relationship Id="rId8" Type="http://schemas.openxmlformats.org/officeDocument/2006/relationships/image" Target="../media/image78.wmf"/><Relationship Id="rId7" Type="http://schemas.openxmlformats.org/officeDocument/2006/relationships/oleObject" Target="../embeddings/oleObject67.bin"/><Relationship Id="rId6" Type="http://schemas.openxmlformats.org/officeDocument/2006/relationships/image" Target="../media/image77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76.w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75.wmf"/><Relationship Id="rId13" Type="http://schemas.openxmlformats.org/officeDocument/2006/relationships/vmlDrawing" Target="../drawings/vmlDrawing17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9.png"/><Relationship Id="rId10" Type="http://schemas.openxmlformats.org/officeDocument/2006/relationships/image" Target="../media/image8.png"/><Relationship Id="rId1" Type="http://schemas.openxmlformats.org/officeDocument/2006/relationships/oleObject" Target="../embeddings/oleObject64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8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0.wmf"/><Relationship Id="rId6" Type="http://schemas.openxmlformats.org/officeDocument/2006/relationships/oleObject" Target="../embeddings/oleObject69.bin"/><Relationship Id="rId5" Type="http://schemas.openxmlformats.org/officeDocument/2006/relationships/image" Target="../media/image39.png"/><Relationship Id="rId4" Type="http://schemas.openxmlformats.org/officeDocument/2006/relationships/image" Target="../media/image13.jpeg"/><Relationship Id="rId3" Type="http://schemas.openxmlformats.org/officeDocument/2006/relationships/image" Target="../media/image8.png"/><Relationship Id="rId2" Type="http://schemas.openxmlformats.org/officeDocument/2006/relationships/image" Target="../media/image79.wmf"/><Relationship Id="rId1" Type="http://schemas.openxmlformats.org/officeDocument/2006/relationships/oleObject" Target="../embeddings/oleObject68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wmf"/><Relationship Id="rId8" Type="http://schemas.openxmlformats.org/officeDocument/2006/relationships/oleObject" Target="../embeddings/oleObject73.bin"/><Relationship Id="rId7" Type="http://schemas.openxmlformats.org/officeDocument/2006/relationships/image" Target="../media/image83.wmf"/><Relationship Id="rId6" Type="http://schemas.openxmlformats.org/officeDocument/2006/relationships/oleObject" Target="../embeddings/oleObject72.bin"/><Relationship Id="rId5" Type="http://schemas.openxmlformats.org/officeDocument/2006/relationships/image" Target="../media/image82.wmf"/><Relationship Id="rId4" Type="http://schemas.openxmlformats.org/officeDocument/2006/relationships/oleObject" Target="../embeddings/oleObject71.bin"/><Relationship Id="rId3" Type="http://schemas.openxmlformats.org/officeDocument/2006/relationships/image" Target="../media/image8.png"/><Relationship Id="rId2" Type="http://schemas.openxmlformats.org/officeDocument/2006/relationships/image" Target="../media/image81.wmf"/><Relationship Id="rId13" Type="http://schemas.openxmlformats.org/officeDocument/2006/relationships/vmlDrawing" Target="../drawings/vmlDrawing19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85.wmf"/><Relationship Id="rId10" Type="http://schemas.openxmlformats.org/officeDocument/2006/relationships/oleObject" Target="../embeddings/oleObject74.bin"/><Relationship Id="rId1" Type="http://schemas.openxmlformats.org/officeDocument/2006/relationships/oleObject" Target="../embeddings/oleObject70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wmf"/><Relationship Id="rId8" Type="http://schemas.openxmlformats.org/officeDocument/2006/relationships/oleObject" Target="../embeddings/oleObject78.bin"/><Relationship Id="rId7" Type="http://schemas.openxmlformats.org/officeDocument/2006/relationships/image" Target="../media/image88.wmf"/><Relationship Id="rId6" Type="http://schemas.openxmlformats.org/officeDocument/2006/relationships/oleObject" Target="../embeddings/oleObject77.bin"/><Relationship Id="rId5" Type="http://schemas.openxmlformats.org/officeDocument/2006/relationships/image" Target="../media/image87.wmf"/><Relationship Id="rId4" Type="http://schemas.openxmlformats.org/officeDocument/2006/relationships/oleObject" Target="../embeddings/oleObject76.bin"/><Relationship Id="rId3" Type="http://schemas.openxmlformats.org/officeDocument/2006/relationships/image" Target="../media/image86.wmf"/><Relationship Id="rId2" Type="http://schemas.openxmlformats.org/officeDocument/2006/relationships/oleObject" Target="../embeddings/oleObject75.bin"/><Relationship Id="rId11" Type="http://schemas.openxmlformats.org/officeDocument/2006/relationships/vmlDrawing" Target="../drawings/vmlDrawing20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8.png"/><Relationship Id="rId7" Type="http://schemas.openxmlformats.org/officeDocument/2006/relationships/image" Target="../media/image93.wmf"/><Relationship Id="rId6" Type="http://schemas.openxmlformats.org/officeDocument/2006/relationships/oleObject" Target="../embeddings/oleObject81.bin"/><Relationship Id="rId5" Type="http://schemas.openxmlformats.org/officeDocument/2006/relationships/image" Target="../media/image92.jpeg"/><Relationship Id="rId4" Type="http://schemas.openxmlformats.org/officeDocument/2006/relationships/image" Target="../media/image91.wmf"/><Relationship Id="rId3" Type="http://schemas.openxmlformats.org/officeDocument/2006/relationships/oleObject" Target="../embeddings/oleObject80.bin"/><Relationship Id="rId2" Type="http://schemas.openxmlformats.org/officeDocument/2006/relationships/image" Target="../media/image90.wmf"/><Relationship Id="rId13" Type="http://schemas.openxmlformats.org/officeDocument/2006/relationships/vmlDrawing" Target="../drawings/vmlDrawing21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94.wmf"/><Relationship Id="rId10" Type="http://schemas.openxmlformats.org/officeDocument/2006/relationships/oleObject" Target="../embeddings/oleObject82.bin"/><Relationship Id="rId1" Type="http://schemas.openxmlformats.org/officeDocument/2006/relationships/oleObject" Target="../embeddings/oleObject79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wmf"/><Relationship Id="rId8" Type="http://schemas.openxmlformats.org/officeDocument/2006/relationships/oleObject" Target="../embeddings/oleObject86.bin"/><Relationship Id="rId7" Type="http://schemas.openxmlformats.org/officeDocument/2006/relationships/image" Target="../media/image97.wmf"/><Relationship Id="rId6" Type="http://schemas.openxmlformats.org/officeDocument/2006/relationships/oleObject" Target="../embeddings/oleObject85.bin"/><Relationship Id="rId5" Type="http://schemas.openxmlformats.org/officeDocument/2006/relationships/image" Target="../media/image96.wmf"/><Relationship Id="rId4" Type="http://schemas.openxmlformats.org/officeDocument/2006/relationships/oleObject" Target="../embeddings/oleObject84.bin"/><Relationship Id="rId3" Type="http://schemas.openxmlformats.org/officeDocument/2006/relationships/image" Target="../media/image8.png"/><Relationship Id="rId2" Type="http://schemas.openxmlformats.org/officeDocument/2006/relationships/image" Target="../media/image95.wmf"/><Relationship Id="rId19" Type="http://schemas.openxmlformats.org/officeDocument/2006/relationships/vmlDrawing" Target="../drawings/vmlDrawing22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02.wmf"/><Relationship Id="rId16" Type="http://schemas.openxmlformats.org/officeDocument/2006/relationships/oleObject" Target="../embeddings/oleObject90.bin"/><Relationship Id="rId15" Type="http://schemas.openxmlformats.org/officeDocument/2006/relationships/image" Target="../media/image101.wmf"/><Relationship Id="rId14" Type="http://schemas.openxmlformats.org/officeDocument/2006/relationships/oleObject" Target="../embeddings/oleObject89.bin"/><Relationship Id="rId13" Type="http://schemas.openxmlformats.org/officeDocument/2006/relationships/image" Target="../media/image100.wmf"/><Relationship Id="rId12" Type="http://schemas.openxmlformats.org/officeDocument/2006/relationships/oleObject" Target="../embeddings/oleObject88.bin"/><Relationship Id="rId11" Type="http://schemas.openxmlformats.org/officeDocument/2006/relationships/image" Target="../media/image99.wmf"/><Relationship Id="rId10" Type="http://schemas.openxmlformats.org/officeDocument/2006/relationships/oleObject" Target="../embeddings/oleObject87.bin"/><Relationship Id="rId1" Type="http://schemas.openxmlformats.org/officeDocument/2006/relationships/oleObject" Target="../embeddings/oleObject83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wmf"/><Relationship Id="rId8" Type="http://schemas.openxmlformats.org/officeDocument/2006/relationships/oleObject" Target="../embeddings/oleObject94.bin"/><Relationship Id="rId7" Type="http://schemas.openxmlformats.org/officeDocument/2006/relationships/image" Target="../media/image105.wmf"/><Relationship Id="rId6" Type="http://schemas.openxmlformats.org/officeDocument/2006/relationships/oleObject" Target="../embeddings/oleObject93.bin"/><Relationship Id="rId5" Type="http://schemas.openxmlformats.org/officeDocument/2006/relationships/image" Target="../media/image104.wmf"/><Relationship Id="rId4" Type="http://schemas.openxmlformats.org/officeDocument/2006/relationships/oleObject" Target="../embeddings/oleObject92.bin"/><Relationship Id="rId3" Type="http://schemas.openxmlformats.org/officeDocument/2006/relationships/image" Target="../media/image103.wmf"/><Relationship Id="rId29" Type="http://schemas.openxmlformats.org/officeDocument/2006/relationships/vmlDrawing" Target="../drawings/vmlDrawing23.v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113.wmf"/><Relationship Id="rId26" Type="http://schemas.openxmlformats.org/officeDocument/2006/relationships/oleObject" Target="../embeddings/oleObject103.bin"/><Relationship Id="rId25" Type="http://schemas.openxmlformats.org/officeDocument/2006/relationships/oleObject" Target="../embeddings/oleObject102.bin"/><Relationship Id="rId24" Type="http://schemas.openxmlformats.org/officeDocument/2006/relationships/oleObject" Target="../embeddings/oleObject101.bin"/><Relationship Id="rId23" Type="http://schemas.openxmlformats.org/officeDocument/2006/relationships/image" Target="../media/image112.wmf"/><Relationship Id="rId22" Type="http://schemas.openxmlformats.org/officeDocument/2006/relationships/oleObject" Target="../embeddings/oleObject100.bin"/><Relationship Id="rId21" Type="http://schemas.openxmlformats.org/officeDocument/2006/relationships/image" Target="../media/image111.wmf"/><Relationship Id="rId20" Type="http://schemas.openxmlformats.org/officeDocument/2006/relationships/oleObject" Target="../embeddings/oleObject99.bin"/><Relationship Id="rId2" Type="http://schemas.openxmlformats.org/officeDocument/2006/relationships/oleObject" Target="../embeddings/oleObject91.bin"/><Relationship Id="rId19" Type="http://schemas.openxmlformats.org/officeDocument/2006/relationships/image" Target="../media/image110.wmf"/><Relationship Id="rId18" Type="http://schemas.openxmlformats.org/officeDocument/2006/relationships/oleObject" Target="../embeddings/oleObject98.bin"/><Relationship Id="rId17" Type="http://schemas.openxmlformats.org/officeDocument/2006/relationships/image" Target="../media/image109.wmf"/><Relationship Id="rId16" Type="http://schemas.openxmlformats.org/officeDocument/2006/relationships/oleObject" Target="../embeddings/oleObject97.bin"/><Relationship Id="rId15" Type="http://schemas.openxmlformats.org/officeDocument/2006/relationships/image" Target="../media/image8.png"/><Relationship Id="rId14" Type="http://schemas.openxmlformats.org/officeDocument/2006/relationships/image" Target="../media/image13.jpeg"/><Relationship Id="rId13" Type="http://schemas.openxmlformats.org/officeDocument/2006/relationships/image" Target="../media/image108.wmf"/><Relationship Id="rId12" Type="http://schemas.openxmlformats.org/officeDocument/2006/relationships/oleObject" Target="../embeddings/oleObject96.bin"/><Relationship Id="rId11" Type="http://schemas.openxmlformats.org/officeDocument/2006/relationships/image" Target="../media/image107.wmf"/><Relationship Id="rId10" Type="http://schemas.openxmlformats.org/officeDocument/2006/relationships/oleObject" Target="../embeddings/oleObject95.bin"/><Relationship Id="rId1" Type="http://schemas.openxmlformats.org/officeDocument/2006/relationships/image" Target="../media/image15.jpe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7.bin"/><Relationship Id="rId8" Type="http://schemas.openxmlformats.org/officeDocument/2006/relationships/image" Target="../media/image8.png"/><Relationship Id="rId7" Type="http://schemas.openxmlformats.org/officeDocument/2006/relationships/image" Target="../media/image116.wmf"/><Relationship Id="rId6" Type="http://schemas.openxmlformats.org/officeDocument/2006/relationships/oleObject" Target="../embeddings/oleObject106.bin"/><Relationship Id="rId5" Type="http://schemas.openxmlformats.org/officeDocument/2006/relationships/image" Target="../media/image15.jpeg"/><Relationship Id="rId4" Type="http://schemas.openxmlformats.org/officeDocument/2006/relationships/image" Target="../media/image115.wmf"/><Relationship Id="rId3" Type="http://schemas.openxmlformats.org/officeDocument/2006/relationships/oleObject" Target="../embeddings/oleObject105.bin"/><Relationship Id="rId2" Type="http://schemas.openxmlformats.org/officeDocument/2006/relationships/image" Target="../media/image114.wmf"/><Relationship Id="rId14" Type="http://schemas.openxmlformats.org/officeDocument/2006/relationships/vmlDrawing" Target="../drawings/vmlDrawing24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18.wmf"/><Relationship Id="rId11" Type="http://schemas.openxmlformats.org/officeDocument/2006/relationships/oleObject" Target="../embeddings/oleObject108.bin"/><Relationship Id="rId10" Type="http://schemas.openxmlformats.org/officeDocument/2006/relationships/image" Target="../media/image117.wmf"/><Relationship Id="rId1" Type="http://schemas.openxmlformats.org/officeDocument/2006/relationships/oleObject" Target="../embeddings/oleObject104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9.png"/><Relationship Id="rId7" Type="http://schemas.openxmlformats.org/officeDocument/2006/relationships/image" Target="../media/image8.png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120.wmf"/><Relationship Id="rId3" Type="http://schemas.openxmlformats.org/officeDocument/2006/relationships/oleObject" Target="../embeddings/oleObject110.bin"/><Relationship Id="rId2" Type="http://schemas.openxmlformats.org/officeDocument/2006/relationships/image" Target="../media/image119.wmf"/><Relationship Id="rId10" Type="http://schemas.openxmlformats.org/officeDocument/2006/relationships/vmlDrawing" Target="../drawings/vmlDrawing25.vml"/><Relationship Id="rId1" Type="http://schemas.openxmlformats.org/officeDocument/2006/relationships/oleObject" Target="../embeddings/oleObject109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jpeg"/><Relationship Id="rId2" Type="http://schemas.openxmlformats.org/officeDocument/2006/relationships/image" Target="../media/image39.png"/><Relationship Id="rId1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5.wmf"/><Relationship Id="rId8" Type="http://schemas.openxmlformats.org/officeDocument/2006/relationships/oleObject" Target="../embeddings/oleObject115.bin"/><Relationship Id="rId7" Type="http://schemas.openxmlformats.org/officeDocument/2006/relationships/image" Target="../media/image124.wmf"/><Relationship Id="rId6" Type="http://schemas.openxmlformats.org/officeDocument/2006/relationships/oleObject" Target="../embeddings/oleObject114.bin"/><Relationship Id="rId5" Type="http://schemas.openxmlformats.org/officeDocument/2006/relationships/image" Target="../media/image123.wmf"/><Relationship Id="rId4" Type="http://schemas.openxmlformats.org/officeDocument/2006/relationships/oleObject" Target="../embeddings/oleObject113.bin"/><Relationship Id="rId3" Type="http://schemas.openxmlformats.org/officeDocument/2006/relationships/image" Target="../media/image122.wmf"/><Relationship Id="rId2" Type="http://schemas.openxmlformats.org/officeDocument/2006/relationships/oleObject" Target="../embeddings/oleObject112.bin"/><Relationship Id="rId16" Type="http://schemas.openxmlformats.org/officeDocument/2006/relationships/vmlDrawing" Target="../drawings/vmlDrawing26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27.wmf"/><Relationship Id="rId13" Type="http://schemas.openxmlformats.org/officeDocument/2006/relationships/oleObject" Target="../embeddings/oleObject117.bin"/><Relationship Id="rId12" Type="http://schemas.openxmlformats.org/officeDocument/2006/relationships/image" Target="../media/image8.png"/><Relationship Id="rId11" Type="http://schemas.openxmlformats.org/officeDocument/2006/relationships/image" Target="../media/image126.wmf"/><Relationship Id="rId10" Type="http://schemas.openxmlformats.org/officeDocument/2006/relationships/oleObject" Target="../embeddings/oleObject116.bin"/><Relationship Id="rId1" Type="http://schemas.openxmlformats.org/officeDocument/2006/relationships/image" Target="../media/image15.jpe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wmf"/><Relationship Id="rId8" Type="http://schemas.openxmlformats.org/officeDocument/2006/relationships/oleObject" Target="../embeddings/oleObject121.bin"/><Relationship Id="rId7" Type="http://schemas.openxmlformats.org/officeDocument/2006/relationships/image" Target="../media/image130.wmf"/><Relationship Id="rId6" Type="http://schemas.openxmlformats.org/officeDocument/2006/relationships/oleObject" Target="../embeddings/oleObject120.bin"/><Relationship Id="rId5" Type="http://schemas.openxmlformats.org/officeDocument/2006/relationships/image" Target="../media/image129.wmf"/><Relationship Id="rId4" Type="http://schemas.openxmlformats.org/officeDocument/2006/relationships/oleObject" Target="../embeddings/oleObject119.bin"/><Relationship Id="rId3" Type="http://schemas.openxmlformats.org/officeDocument/2006/relationships/image" Target="../media/image128.wmf"/><Relationship Id="rId2" Type="http://schemas.openxmlformats.org/officeDocument/2006/relationships/oleObject" Target="../embeddings/oleObject118.bin"/><Relationship Id="rId15" Type="http://schemas.openxmlformats.org/officeDocument/2006/relationships/vmlDrawing" Target="../drawings/vmlDrawing27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8.png"/><Relationship Id="rId12" Type="http://schemas.openxmlformats.org/officeDocument/2006/relationships/image" Target="../media/image13.jpeg"/><Relationship Id="rId11" Type="http://schemas.openxmlformats.org/officeDocument/2006/relationships/image" Target="../media/image132.wmf"/><Relationship Id="rId10" Type="http://schemas.openxmlformats.org/officeDocument/2006/relationships/oleObject" Target="../embeddings/oleObject122.bin"/><Relationship Id="rId1" Type="http://schemas.openxmlformats.org/officeDocument/2006/relationships/image" Target="../media/image15.jpe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6.bin"/><Relationship Id="rId8" Type="http://schemas.openxmlformats.org/officeDocument/2006/relationships/image" Target="../media/image8.png"/><Relationship Id="rId7" Type="http://schemas.openxmlformats.org/officeDocument/2006/relationships/image" Target="../media/image135.wmf"/><Relationship Id="rId6" Type="http://schemas.openxmlformats.org/officeDocument/2006/relationships/oleObject" Target="../embeddings/oleObject125.bin"/><Relationship Id="rId5" Type="http://schemas.openxmlformats.org/officeDocument/2006/relationships/image" Target="../media/image15.jpeg"/><Relationship Id="rId4" Type="http://schemas.openxmlformats.org/officeDocument/2006/relationships/image" Target="../media/image134.wmf"/><Relationship Id="rId3" Type="http://schemas.openxmlformats.org/officeDocument/2006/relationships/oleObject" Target="../embeddings/oleObject124.bin"/><Relationship Id="rId2" Type="http://schemas.openxmlformats.org/officeDocument/2006/relationships/image" Target="../media/image133.wmf"/><Relationship Id="rId16" Type="http://schemas.openxmlformats.org/officeDocument/2006/relationships/vmlDrawing" Target="../drawings/vmlDrawing28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38.wmf"/><Relationship Id="rId13" Type="http://schemas.openxmlformats.org/officeDocument/2006/relationships/oleObject" Target="../embeddings/oleObject128.bin"/><Relationship Id="rId12" Type="http://schemas.openxmlformats.org/officeDocument/2006/relationships/image" Target="../media/image137.wmf"/><Relationship Id="rId11" Type="http://schemas.openxmlformats.org/officeDocument/2006/relationships/oleObject" Target="../embeddings/oleObject127.bin"/><Relationship Id="rId10" Type="http://schemas.openxmlformats.org/officeDocument/2006/relationships/image" Target="../media/image136.wmf"/><Relationship Id="rId1" Type="http://schemas.openxmlformats.org/officeDocument/2006/relationships/oleObject" Target="../embeddings/oleObject123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141.wmf"/><Relationship Id="rId6" Type="http://schemas.openxmlformats.org/officeDocument/2006/relationships/oleObject" Target="../embeddings/oleObject131.bin"/><Relationship Id="rId5" Type="http://schemas.openxmlformats.org/officeDocument/2006/relationships/image" Target="../media/image140.wmf"/><Relationship Id="rId4" Type="http://schemas.openxmlformats.org/officeDocument/2006/relationships/oleObject" Target="../embeddings/oleObject130.bin"/><Relationship Id="rId3" Type="http://schemas.openxmlformats.org/officeDocument/2006/relationships/image" Target="../media/image139.wmf"/><Relationship Id="rId2" Type="http://schemas.openxmlformats.org/officeDocument/2006/relationships/oleObject" Target="../embeddings/oleObject129.bin"/><Relationship Id="rId10" Type="http://schemas.openxmlformats.org/officeDocument/2006/relationships/vmlDrawing" Target="../drawings/vmlDrawing29.vml"/><Relationship Id="rId1" Type="http://schemas.openxmlformats.org/officeDocument/2006/relationships/image" Target="../media/image15.jpe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13.jpeg"/><Relationship Id="rId7" Type="http://schemas.openxmlformats.org/officeDocument/2006/relationships/image" Target="../media/image144.wmf"/><Relationship Id="rId6" Type="http://schemas.openxmlformats.org/officeDocument/2006/relationships/oleObject" Target="../embeddings/oleObject134.bin"/><Relationship Id="rId5" Type="http://schemas.openxmlformats.org/officeDocument/2006/relationships/image" Target="../media/image143.wmf"/><Relationship Id="rId4" Type="http://schemas.openxmlformats.org/officeDocument/2006/relationships/oleObject" Target="../embeddings/oleObject133.bin"/><Relationship Id="rId3" Type="http://schemas.openxmlformats.org/officeDocument/2006/relationships/image" Target="../media/image142.wmf"/><Relationship Id="rId2" Type="http://schemas.openxmlformats.org/officeDocument/2006/relationships/oleObject" Target="../embeddings/oleObject132.bin"/><Relationship Id="rId11" Type="http://schemas.openxmlformats.org/officeDocument/2006/relationships/vmlDrawing" Target="../drawings/vmlDrawing30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8.wmf"/><Relationship Id="rId8" Type="http://schemas.openxmlformats.org/officeDocument/2006/relationships/oleObject" Target="../embeddings/oleObject138.bin"/><Relationship Id="rId7" Type="http://schemas.openxmlformats.org/officeDocument/2006/relationships/image" Target="../media/image147.wmf"/><Relationship Id="rId6" Type="http://schemas.openxmlformats.org/officeDocument/2006/relationships/oleObject" Target="../embeddings/oleObject137.bin"/><Relationship Id="rId5" Type="http://schemas.openxmlformats.org/officeDocument/2006/relationships/image" Target="../media/image15.jpeg"/><Relationship Id="rId4" Type="http://schemas.openxmlformats.org/officeDocument/2006/relationships/image" Target="../media/image146.wmf"/><Relationship Id="rId3" Type="http://schemas.openxmlformats.org/officeDocument/2006/relationships/oleObject" Target="../embeddings/oleObject136.bin"/><Relationship Id="rId2" Type="http://schemas.openxmlformats.org/officeDocument/2006/relationships/image" Target="../media/image145.wmf"/><Relationship Id="rId18" Type="http://schemas.openxmlformats.org/officeDocument/2006/relationships/vmlDrawing" Target="../drawings/vmlDrawing31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51.wmf"/><Relationship Id="rId15" Type="http://schemas.openxmlformats.org/officeDocument/2006/relationships/oleObject" Target="../embeddings/oleObject141.bin"/><Relationship Id="rId14" Type="http://schemas.openxmlformats.org/officeDocument/2006/relationships/image" Target="../media/image8.png"/><Relationship Id="rId13" Type="http://schemas.openxmlformats.org/officeDocument/2006/relationships/image" Target="../media/image150.wmf"/><Relationship Id="rId12" Type="http://schemas.openxmlformats.org/officeDocument/2006/relationships/oleObject" Target="../embeddings/oleObject140.bin"/><Relationship Id="rId11" Type="http://schemas.openxmlformats.org/officeDocument/2006/relationships/image" Target="../media/image149.wmf"/><Relationship Id="rId10" Type="http://schemas.openxmlformats.org/officeDocument/2006/relationships/oleObject" Target="../embeddings/oleObject139.bin"/><Relationship Id="rId1" Type="http://schemas.openxmlformats.org/officeDocument/2006/relationships/oleObject" Target="../embeddings/oleObject135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8.png"/><Relationship Id="rId3" Type="http://schemas.openxmlformats.org/officeDocument/2006/relationships/image" Target="../media/image152.wmf"/><Relationship Id="rId2" Type="http://schemas.openxmlformats.org/officeDocument/2006/relationships/oleObject" Target="../embeddings/oleObject142.bin"/><Relationship Id="rId1" Type="http://schemas.openxmlformats.org/officeDocument/2006/relationships/image" Target="../media/image15.jpe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13.jpeg"/><Relationship Id="rId7" Type="http://schemas.openxmlformats.org/officeDocument/2006/relationships/image" Target="../media/image156.wmf"/><Relationship Id="rId6" Type="http://schemas.openxmlformats.org/officeDocument/2006/relationships/oleObject" Target="../embeddings/oleObject146.bin"/><Relationship Id="rId5" Type="http://schemas.openxmlformats.org/officeDocument/2006/relationships/image" Target="../media/image155.wmf"/><Relationship Id="rId4" Type="http://schemas.openxmlformats.org/officeDocument/2006/relationships/oleObject" Target="../embeddings/oleObject145.bin"/><Relationship Id="rId3" Type="http://schemas.openxmlformats.org/officeDocument/2006/relationships/image" Target="../media/image154.wmf"/><Relationship Id="rId2" Type="http://schemas.openxmlformats.org/officeDocument/2006/relationships/oleObject" Target="../embeddings/oleObject144.bin"/><Relationship Id="rId11" Type="http://schemas.openxmlformats.org/officeDocument/2006/relationships/vmlDrawing" Target="../drawings/vmlDrawing33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1.bin"/><Relationship Id="rId8" Type="http://schemas.openxmlformats.org/officeDocument/2006/relationships/image" Target="../media/image160.wmf"/><Relationship Id="rId7" Type="http://schemas.openxmlformats.org/officeDocument/2006/relationships/oleObject" Target="../embeddings/oleObject150.bin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149.bin"/><Relationship Id="rId4" Type="http://schemas.openxmlformats.org/officeDocument/2006/relationships/image" Target="../media/image158.wmf"/><Relationship Id="rId3" Type="http://schemas.openxmlformats.org/officeDocument/2006/relationships/oleObject" Target="../embeddings/oleObject148.bin"/><Relationship Id="rId2" Type="http://schemas.openxmlformats.org/officeDocument/2006/relationships/image" Target="../media/image157.wmf"/><Relationship Id="rId14" Type="http://schemas.openxmlformats.org/officeDocument/2006/relationships/vmlDrawing" Target="../drawings/vmlDrawing34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9.png"/><Relationship Id="rId11" Type="http://schemas.openxmlformats.org/officeDocument/2006/relationships/image" Target="../media/image8.png"/><Relationship Id="rId10" Type="http://schemas.openxmlformats.org/officeDocument/2006/relationships/image" Target="../media/image161.wmf"/><Relationship Id="rId1" Type="http://schemas.openxmlformats.org/officeDocument/2006/relationships/oleObject" Target="../embeddings/oleObject147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6.bin"/><Relationship Id="rId8" Type="http://schemas.openxmlformats.org/officeDocument/2006/relationships/image" Target="../media/image165.wmf"/><Relationship Id="rId7" Type="http://schemas.openxmlformats.org/officeDocument/2006/relationships/oleObject" Target="../embeddings/oleObject155.bin"/><Relationship Id="rId6" Type="http://schemas.openxmlformats.org/officeDocument/2006/relationships/image" Target="../media/image164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63.wmf"/><Relationship Id="rId3" Type="http://schemas.openxmlformats.org/officeDocument/2006/relationships/oleObject" Target="../embeddings/oleObject153.bin"/><Relationship Id="rId27" Type="http://schemas.openxmlformats.org/officeDocument/2006/relationships/vmlDrawing" Target="../drawings/vmlDrawing35.vml"/><Relationship Id="rId26" Type="http://schemas.openxmlformats.org/officeDocument/2006/relationships/slideLayout" Target="../slideLayouts/slideLayout7.xml"/><Relationship Id="rId25" Type="http://schemas.openxmlformats.org/officeDocument/2006/relationships/image" Target="../media/image8.png"/><Relationship Id="rId24" Type="http://schemas.openxmlformats.org/officeDocument/2006/relationships/image" Target="../media/image173.wmf"/><Relationship Id="rId23" Type="http://schemas.openxmlformats.org/officeDocument/2006/relationships/oleObject" Target="../embeddings/oleObject163.bin"/><Relationship Id="rId22" Type="http://schemas.openxmlformats.org/officeDocument/2006/relationships/image" Target="../media/image172.wmf"/><Relationship Id="rId21" Type="http://schemas.openxmlformats.org/officeDocument/2006/relationships/oleObject" Target="../embeddings/oleObject162.bin"/><Relationship Id="rId20" Type="http://schemas.openxmlformats.org/officeDocument/2006/relationships/image" Target="../media/image171.wmf"/><Relationship Id="rId2" Type="http://schemas.openxmlformats.org/officeDocument/2006/relationships/image" Target="../media/image162.wmf"/><Relationship Id="rId19" Type="http://schemas.openxmlformats.org/officeDocument/2006/relationships/oleObject" Target="../embeddings/oleObject161.bin"/><Relationship Id="rId18" Type="http://schemas.openxmlformats.org/officeDocument/2006/relationships/image" Target="../media/image170.wmf"/><Relationship Id="rId17" Type="http://schemas.openxmlformats.org/officeDocument/2006/relationships/oleObject" Target="../embeddings/oleObject160.bin"/><Relationship Id="rId16" Type="http://schemas.openxmlformats.org/officeDocument/2006/relationships/image" Target="../media/image169.wmf"/><Relationship Id="rId15" Type="http://schemas.openxmlformats.org/officeDocument/2006/relationships/oleObject" Target="../embeddings/oleObject159.bin"/><Relationship Id="rId14" Type="http://schemas.openxmlformats.org/officeDocument/2006/relationships/image" Target="../media/image168.wmf"/><Relationship Id="rId13" Type="http://schemas.openxmlformats.org/officeDocument/2006/relationships/oleObject" Target="../embeddings/oleObject158.bin"/><Relationship Id="rId12" Type="http://schemas.openxmlformats.org/officeDocument/2006/relationships/image" Target="../media/image167.wmf"/><Relationship Id="rId11" Type="http://schemas.openxmlformats.org/officeDocument/2006/relationships/oleObject" Target="../embeddings/oleObject157.bin"/><Relationship Id="rId10" Type="http://schemas.openxmlformats.org/officeDocument/2006/relationships/image" Target="../media/image166.wmf"/><Relationship Id="rId1" Type="http://schemas.openxmlformats.org/officeDocument/2006/relationships/oleObject" Target="../embeddings/oleObject152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7.wmf"/><Relationship Id="rId8" Type="http://schemas.openxmlformats.org/officeDocument/2006/relationships/oleObject" Target="../embeddings/oleObject167.bin"/><Relationship Id="rId7" Type="http://schemas.openxmlformats.org/officeDocument/2006/relationships/image" Target="../media/image176.wmf"/><Relationship Id="rId6" Type="http://schemas.openxmlformats.org/officeDocument/2006/relationships/oleObject" Target="../embeddings/oleObject166.bin"/><Relationship Id="rId5" Type="http://schemas.openxmlformats.org/officeDocument/2006/relationships/image" Target="../media/image175.wmf"/><Relationship Id="rId4" Type="http://schemas.openxmlformats.org/officeDocument/2006/relationships/oleObject" Target="../embeddings/oleObject165.bin"/><Relationship Id="rId3" Type="http://schemas.openxmlformats.org/officeDocument/2006/relationships/image" Target="../media/image174.wmf"/><Relationship Id="rId27" Type="http://schemas.openxmlformats.org/officeDocument/2006/relationships/vmlDrawing" Target="../drawings/vmlDrawing36.vml"/><Relationship Id="rId26" Type="http://schemas.openxmlformats.org/officeDocument/2006/relationships/slideLayout" Target="../slideLayouts/slideLayout7.xml"/><Relationship Id="rId25" Type="http://schemas.openxmlformats.org/officeDocument/2006/relationships/image" Target="../media/image185.wmf"/><Relationship Id="rId24" Type="http://schemas.openxmlformats.org/officeDocument/2006/relationships/oleObject" Target="../embeddings/oleObject175.bin"/><Relationship Id="rId23" Type="http://schemas.openxmlformats.org/officeDocument/2006/relationships/image" Target="../media/image184.wmf"/><Relationship Id="rId22" Type="http://schemas.openxmlformats.org/officeDocument/2006/relationships/oleObject" Target="../embeddings/oleObject174.bin"/><Relationship Id="rId21" Type="http://schemas.openxmlformats.org/officeDocument/2006/relationships/image" Target="../media/image183.wmf"/><Relationship Id="rId20" Type="http://schemas.openxmlformats.org/officeDocument/2006/relationships/oleObject" Target="../embeddings/oleObject173.bin"/><Relationship Id="rId2" Type="http://schemas.openxmlformats.org/officeDocument/2006/relationships/oleObject" Target="../embeddings/oleObject164.bin"/><Relationship Id="rId19" Type="http://schemas.openxmlformats.org/officeDocument/2006/relationships/image" Target="../media/image182.wmf"/><Relationship Id="rId18" Type="http://schemas.openxmlformats.org/officeDocument/2006/relationships/oleObject" Target="../embeddings/oleObject172.bin"/><Relationship Id="rId17" Type="http://schemas.openxmlformats.org/officeDocument/2006/relationships/image" Target="../media/image181.wmf"/><Relationship Id="rId16" Type="http://schemas.openxmlformats.org/officeDocument/2006/relationships/oleObject" Target="../embeddings/oleObject171.bin"/><Relationship Id="rId15" Type="http://schemas.openxmlformats.org/officeDocument/2006/relationships/image" Target="../media/image180.wmf"/><Relationship Id="rId14" Type="http://schemas.openxmlformats.org/officeDocument/2006/relationships/oleObject" Target="../embeddings/oleObject170.bin"/><Relationship Id="rId13" Type="http://schemas.openxmlformats.org/officeDocument/2006/relationships/image" Target="../media/image179.wmf"/><Relationship Id="rId12" Type="http://schemas.openxmlformats.org/officeDocument/2006/relationships/oleObject" Target="../embeddings/oleObject169.bin"/><Relationship Id="rId11" Type="http://schemas.openxmlformats.org/officeDocument/2006/relationships/image" Target="../media/image178.wmf"/><Relationship Id="rId10" Type="http://schemas.openxmlformats.org/officeDocument/2006/relationships/oleObject" Target="../embeddings/oleObject168.bin"/><Relationship Id="rId1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9.wmf"/><Relationship Id="rId8" Type="http://schemas.openxmlformats.org/officeDocument/2006/relationships/oleObject" Target="../embeddings/oleObject179.bin"/><Relationship Id="rId7" Type="http://schemas.openxmlformats.org/officeDocument/2006/relationships/image" Target="../media/image8.png"/><Relationship Id="rId6" Type="http://schemas.openxmlformats.org/officeDocument/2006/relationships/image" Target="../media/image188.wmf"/><Relationship Id="rId5" Type="http://schemas.openxmlformats.org/officeDocument/2006/relationships/oleObject" Target="../embeddings/oleObject178.bin"/><Relationship Id="rId4" Type="http://schemas.openxmlformats.org/officeDocument/2006/relationships/image" Target="../media/image187.wmf"/><Relationship Id="rId3" Type="http://schemas.openxmlformats.org/officeDocument/2006/relationships/oleObject" Target="../embeddings/oleObject177.bin"/><Relationship Id="rId21" Type="http://schemas.openxmlformats.org/officeDocument/2006/relationships/vmlDrawing" Target="../drawings/vmlDrawing37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186.wmf"/><Relationship Id="rId19" Type="http://schemas.openxmlformats.org/officeDocument/2006/relationships/image" Target="../media/image194.wmf"/><Relationship Id="rId18" Type="http://schemas.openxmlformats.org/officeDocument/2006/relationships/oleObject" Target="../embeddings/oleObject184.bin"/><Relationship Id="rId17" Type="http://schemas.openxmlformats.org/officeDocument/2006/relationships/image" Target="../media/image193.wmf"/><Relationship Id="rId16" Type="http://schemas.openxmlformats.org/officeDocument/2006/relationships/oleObject" Target="../embeddings/oleObject183.bin"/><Relationship Id="rId15" Type="http://schemas.openxmlformats.org/officeDocument/2006/relationships/image" Target="../media/image192.wmf"/><Relationship Id="rId14" Type="http://schemas.openxmlformats.org/officeDocument/2006/relationships/oleObject" Target="../embeddings/oleObject182.bin"/><Relationship Id="rId13" Type="http://schemas.openxmlformats.org/officeDocument/2006/relationships/image" Target="../media/image191.wmf"/><Relationship Id="rId12" Type="http://schemas.openxmlformats.org/officeDocument/2006/relationships/oleObject" Target="../embeddings/oleObject181.bin"/><Relationship Id="rId11" Type="http://schemas.openxmlformats.org/officeDocument/2006/relationships/image" Target="../media/image190.wmf"/><Relationship Id="rId10" Type="http://schemas.openxmlformats.org/officeDocument/2006/relationships/oleObject" Target="../embeddings/oleObject180.bin"/><Relationship Id="rId1" Type="http://schemas.openxmlformats.org/officeDocument/2006/relationships/oleObject" Target="../embeddings/oleObject176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9.wmf"/><Relationship Id="rId8" Type="http://schemas.openxmlformats.org/officeDocument/2006/relationships/oleObject" Target="../embeddings/oleObject188.bin"/><Relationship Id="rId7" Type="http://schemas.openxmlformats.org/officeDocument/2006/relationships/image" Target="../media/image197.wmf"/><Relationship Id="rId6" Type="http://schemas.openxmlformats.org/officeDocument/2006/relationships/oleObject" Target="../embeddings/oleObject187.bin"/><Relationship Id="rId5" Type="http://schemas.openxmlformats.org/officeDocument/2006/relationships/image" Target="../media/image196.wmf"/><Relationship Id="rId4" Type="http://schemas.openxmlformats.org/officeDocument/2006/relationships/oleObject" Target="../embeddings/oleObject186.bin"/><Relationship Id="rId3" Type="http://schemas.openxmlformats.org/officeDocument/2006/relationships/image" Target="../media/image8.png"/><Relationship Id="rId2" Type="http://schemas.openxmlformats.org/officeDocument/2006/relationships/image" Target="../media/image195.wmf"/><Relationship Id="rId19" Type="http://schemas.openxmlformats.org/officeDocument/2006/relationships/vmlDrawing" Target="../drawings/vmlDrawing38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93.wmf"/><Relationship Id="rId16" Type="http://schemas.openxmlformats.org/officeDocument/2006/relationships/oleObject" Target="../embeddings/oleObject192.bin"/><Relationship Id="rId15" Type="http://schemas.openxmlformats.org/officeDocument/2006/relationships/image" Target="../media/image192.wmf"/><Relationship Id="rId14" Type="http://schemas.openxmlformats.org/officeDocument/2006/relationships/oleObject" Target="../embeddings/oleObject191.bin"/><Relationship Id="rId13" Type="http://schemas.openxmlformats.org/officeDocument/2006/relationships/image" Target="../media/image191.wmf"/><Relationship Id="rId12" Type="http://schemas.openxmlformats.org/officeDocument/2006/relationships/oleObject" Target="../embeddings/oleObject190.bin"/><Relationship Id="rId11" Type="http://schemas.openxmlformats.org/officeDocument/2006/relationships/image" Target="../media/image190.wmf"/><Relationship Id="rId10" Type="http://schemas.openxmlformats.org/officeDocument/2006/relationships/oleObject" Target="../embeddings/oleObject189.bin"/><Relationship Id="rId1" Type="http://schemas.openxmlformats.org/officeDocument/2006/relationships/oleObject" Target="../embeddings/oleObject185.bin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201.wmf"/><Relationship Id="rId7" Type="http://schemas.openxmlformats.org/officeDocument/2006/relationships/oleObject" Target="../embeddings/oleObject196.bin"/><Relationship Id="rId6" Type="http://schemas.openxmlformats.org/officeDocument/2006/relationships/image" Target="../media/image200.wmf"/><Relationship Id="rId5" Type="http://schemas.openxmlformats.org/officeDocument/2006/relationships/oleObject" Target="../embeddings/oleObject195.bin"/><Relationship Id="rId4" Type="http://schemas.openxmlformats.org/officeDocument/2006/relationships/image" Target="../media/image199.wmf"/><Relationship Id="rId3" Type="http://schemas.openxmlformats.org/officeDocument/2006/relationships/oleObject" Target="../embeddings/oleObject194.bin"/><Relationship Id="rId21" Type="http://schemas.openxmlformats.org/officeDocument/2006/relationships/vmlDrawing" Target="../drawings/vmlDrawing39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198.wmf"/><Relationship Id="rId19" Type="http://schemas.openxmlformats.org/officeDocument/2006/relationships/image" Target="../media/image206.wmf"/><Relationship Id="rId18" Type="http://schemas.openxmlformats.org/officeDocument/2006/relationships/oleObject" Target="../embeddings/oleObject201.bin"/><Relationship Id="rId17" Type="http://schemas.openxmlformats.org/officeDocument/2006/relationships/image" Target="../media/image205.wmf"/><Relationship Id="rId16" Type="http://schemas.openxmlformats.org/officeDocument/2006/relationships/oleObject" Target="../embeddings/oleObject200.bin"/><Relationship Id="rId15" Type="http://schemas.openxmlformats.org/officeDocument/2006/relationships/image" Target="../media/image204.wmf"/><Relationship Id="rId14" Type="http://schemas.openxmlformats.org/officeDocument/2006/relationships/oleObject" Target="../embeddings/oleObject199.bin"/><Relationship Id="rId13" Type="http://schemas.openxmlformats.org/officeDocument/2006/relationships/image" Target="../media/image203.wmf"/><Relationship Id="rId12" Type="http://schemas.openxmlformats.org/officeDocument/2006/relationships/oleObject" Target="../embeddings/oleObject198.bin"/><Relationship Id="rId11" Type="http://schemas.openxmlformats.org/officeDocument/2006/relationships/image" Target="../media/image202.wmf"/><Relationship Id="rId10" Type="http://schemas.openxmlformats.org/officeDocument/2006/relationships/oleObject" Target="../embeddings/oleObject197.bin"/><Relationship Id="rId1" Type="http://schemas.openxmlformats.org/officeDocument/2006/relationships/oleObject" Target="../embeddings/oleObject193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6.bin"/><Relationship Id="rId8" Type="http://schemas.openxmlformats.org/officeDocument/2006/relationships/image" Target="../media/image210.wmf"/><Relationship Id="rId7" Type="http://schemas.openxmlformats.org/officeDocument/2006/relationships/oleObject" Target="../embeddings/oleObject205.bin"/><Relationship Id="rId6" Type="http://schemas.openxmlformats.org/officeDocument/2006/relationships/image" Target="../media/image209.wmf"/><Relationship Id="rId5" Type="http://schemas.openxmlformats.org/officeDocument/2006/relationships/oleObject" Target="../embeddings/oleObject204.bin"/><Relationship Id="rId4" Type="http://schemas.openxmlformats.org/officeDocument/2006/relationships/image" Target="../media/image208.wmf"/><Relationship Id="rId3" Type="http://schemas.openxmlformats.org/officeDocument/2006/relationships/oleObject" Target="../embeddings/oleObject203.bin"/><Relationship Id="rId25" Type="http://schemas.openxmlformats.org/officeDocument/2006/relationships/vmlDrawing" Target="../drawings/vmlDrawing40.vml"/><Relationship Id="rId24" Type="http://schemas.openxmlformats.org/officeDocument/2006/relationships/slideLayout" Target="../slideLayouts/slideLayout7.xml"/><Relationship Id="rId23" Type="http://schemas.openxmlformats.org/officeDocument/2006/relationships/image" Target="../media/image217.wmf"/><Relationship Id="rId22" Type="http://schemas.openxmlformats.org/officeDocument/2006/relationships/oleObject" Target="../embeddings/oleObject212.bin"/><Relationship Id="rId21" Type="http://schemas.openxmlformats.org/officeDocument/2006/relationships/image" Target="../media/image8.png"/><Relationship Id="rId20" Type="http://schemas.openxmlformats.org/officeDocument/2006/relationships/image" Target="../media/image216.wmf"/><Relationship Id="rId2" Type="http://schemas.openxmlformats.org/officeDocument/2006/relationships/image" Target="../media/image207.wmf"/><Relationship Id="rId19" Type="http://schemas.openxmlformats.org/officeDocument/2006/relationships/oleObject" Target="../embeddings/oleObject211.bin"/><Relationship Id="rId18" Type="http://schemas.openxmlformats.org/officeDocument/2006/relationships/image" Target="../media/image215.wmf"/><Relationship Id="rId17" Type="http://schemas.openxmlformats.org/officeDocument/2006/relationships/oleObject" Target="../embeddings/oleObject210.bin"/><Relationship Id="rId16" Type="http://schemas.openxmlformats.org/officeDocument/2006/relationships/image" Target="../media/image214.wmf"/><Relationship Id="rId15" Type="http://schemas.openxmlformats.org/officeDocument/2006/relationships/oleObject" Target="../embeddings/oleObject209.bin"/><Relationship Id="rId14" Type="http://schemas.openxmlformats.org/officeDocument/2006/relationships/image" Target="../media/image213.wmf"/><Relationship Id="rId13" Type="http://schemas.openxmlformats.org/officeDocument/2006/relationships/oleObject" Target="../embeddings/oleObject208.bin"/><Relationship Id="rId12" Type="http://schemas.openxmlformats.org/officeDocument/2006/relationships/image" Target="../media/image212.wmf"/><Relationship Id="rId11" Type="http://schemas.openxmlformats.org/officeDocument/2006/relationships/oleObject" Target="../embeddings/oleObject207.bin"/><Relationship Id="rId10" Type="http://schemas.openxmlformats.org/officeDocument/2006/relationships/image" Target="../media/image211.wmf"/><Relationship Id="rId1" Type="http://schemas.openxmlformats.org/officeDocument/2006/relationships/oleObject" Target="../embeddings/oleObject202.bin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1.wmf"/><Relationship Id="rId8" Type="http://schemas.openxmlformats.org/officeDocument/2006/relationships/oleObject" Target="../embeddings/oleObject216.bin"/><Relationship Id="rId7" Type="http://schemas.openxmlformats.org/officeDocument/2006/relationships/image" Target="../media/image220.wmf"/><Relationship Id="rId6" Type="http://schemas.openxmlformats.org/officeDocument/2006/relationships/oleObject" Target="../embeddings/oleObject215.bin"/><Relationship Id="rId5" Type="http://schemas.openxmlformats.org/officeDocument/2006/relationships/image" Target="../media/image8.png"/><Relationship Id="rId4" Type="http://schemas.openxmlformats.org/officeDocument/2006/relationships/image" Target="../media/image219.wmf"/><Relationship Id="rId3" Type="http://schemas.openxmlformats.org/officeDocument/2006/relationships/oleObject" Target="../embeddings/oleObject214.bin"/><Relationship Id="rId23" Type="http://schemas.openxmlformats.org/officeDocument/2006/relationships/vmlDrawing" Target="../drawings/vmlDrawing41.v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27.wmf"/><Relationship Id="rId20" Type="http://schemas.openxmlformats.org/officeDocument/2006/relationships/oleObject" Target="../embeddings/oleObject222.bin"/><Relationship Id="rId2" Type="http://schemas.openxmlformats.org/officeDocument/2006/relationships/image" Target="../media/image218.wmf"/><Relationship Id="rId19" Type="http://schemas.openxmlformats.org/officeDocument/2006/relationships/image" Target="../media/image226.wmf"/><Relationship Id="rId18" Type="http://schemas.openxmlformats.org/officeDocument/2006/relationships/oleObject" Target="../embeddings/oleObject221.bin"/><Relationship Id="rId17" Type="http://schemas.openxmlformats.org/officeDocument/2006/relationships/image" Target="../media/image225.wmf"/><Relationship Id="rId16" Type="http://schemas.openxmlformats.org/officeDocument/2006/relationships/oleObject" Target="../embeddings/oleObject220.bin"/><Relationship Id="rId15" Type="http://schemas.openxmlformats.org/officeDocument/2006/relationships/image" Target="../media/image224.wmf"/><Relationship Id="rId14" Type="http://schemas.openxmlformats.org/officeDocument/2006/relationships/oleObject" Target="../embeddings/oleObject219.bin"/><Relationship Id="rId13" Type="http://schemas.openxmlformats.org/officeDocument/2006/relationships/image" Target="../media/image223.wmf"/><Relationship Id="rId12" Type="http://schemas.openxmlformats.org/officeDocument/2006/relationships/oleObject" Target="../embeddings/oleObject218.bin"/><Relationship Id="rId11" Type="http://schemas.openxmlformats.org/officeDocument/2006/relationships/image" Target="../media/image222.wmf"/><Relationship Id="rId10" Type="http://schemas.openxmlformats.org/officeDocument/2006/relationships/oleObject" Target="../embeddings/oleObject217.bin"/><Relationship Id="rId1" Type="http://schemas.openxmlformats.org/officeDocument/2006/relationships/oleObject" Target="../embeddings/oleObject213.bin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7.bin"/><Relationship Id="rId8" Type="http://schemas.openxmlformats.org/officeDocument/2006/relationships/image" Target="../media/image231.wmf"/><Relationship Id="rId7" Type="http://schemas.openxmlformats.org/officeDocument/2006/relationships/oleObject" Target="../embeddings/oleObject226.bin"/><Relationship Id="rId6" Type="http://schemas.openxmlformats.org/officeDocument/2006/relationships/image" Target="../media/image230.wmf"/><Relationship Id="rId5" Type="http://schemas.openxmlformats.org/officeDocument/2006/relationships/oleObject" Target="../embeddings/oleObject225.bin"/><Relationship Id="rId4" Type="http://schemas.openxmlformats.org/officeDocument/2006/relationships/image" Target="../media/image229.wmf"/><Relationship Id="rId31" Type="http://schemas.openxmlformats.org/officeDocument/2006/relationships/vmlDrawing" Target="../drawings/vmlDrawing42.vml"/><Relationship Id="rId30" Type="http://schemas.openxmlformats.org/officeDocument/2006/relationships/slideLayout" Target="../slideLayouts/slideLayout7.xml"/><Relationship Id="rId3" Type="http://schemas.openxmlformats.org/officeDocument/2006/relationships/oleObject" Target="../embeddings/oleObject224.bin"/><Relationship Id="rId29" Type="http://schemas.openxmlformats.org/officeDocument/2006/relationships/image" Target="../media/image223.wmf"/><Relationship Id="rId28" Type="http://schemas.openxmlformats.org/officeDocument/2006/relationships/oleObject" Target="../embeddings/oleObject236.bin"/><Relationship Id="rId27" Type="http://schemas.openxmlformats.org/officeDocument/2006/relationships/image" Target="../media/image222.wmf"/><Relationship Id="rId26" Type="http://schemas.openxmlformats.org/officeDocument/2006/relationships/oleObject" Target="../embeddings/oleObject235.bin"/><Relationship Id="rId25" Type="http://schemas.openxmlformats.org/officeDocument/2006/relationships/image" Target="../media/image221.wmf"/><Relationship Id="rId24" Type="http://schemas.openxmlformats.org/officeDocument/2006/relationships/oleObject" Target="../embeddings/oleObject234.bin"/><Relationship Id="rId23" Type="http://schemas.openxmlformats.org/officeDocument/2006/relationships/image" Target="../media/image220.wmf"/><Relationship Id="rId22" Type="http://schemas.openxmlformats.org/officeDocument/2006/relationships/oleObject" Target="../embeddings/oleObject233.bin"/><Relationship Id="rId21" Type="http://schemas.openxmlformats.org/officeDocument/2006/relationships/image" Target="../media/image8.png"/><Relationship Id="rId20" Type="http://schemas.openxmlformats.org/officeDocument/2006/relationships/image" Target="../media/image237.wmf"/><Relationship Id="rId2" Type="http://schemas.openxmlformats.org/officeDocument/2006/relationships/image" Target="../media/image228.wmf"/><Relationship Id="rId19" Type="http://schemas.openxmlformats.org/officeDocument/2006/relationships/oleObject" Target="../embeddings/oleObject232.bin"/><Relationship Id="rId18" Type="http://schemas.openxmlformats.org/officeDocument/2006/relationships/image" Target="../media/image236.wmf"/><Relationship Id="rId17" Type="http://schemas.openxmlformats.org/officeDocument/2006/relationships/oleObject" Target="../embeddings/oleObject231.bin"/><Relationship Id="rId16" Type="http://schemas.openxmlformats.org/officeDocument/2006/relationships/image" Target="../media/image235.wmf"/><Relationship Id="rId15" Type="http://schemas.openxmlformats.org/officeDocument/2006/relationships/oleObject" Target="../embeddings/oleObject230.bin"/><Relationship Id="rId14" Type="http://schemas.openxmlformats.org/officeDocument/2006/relationships/image" Target="../media/image234.wmf"/><Relationship Id="rId13" Type="http://schemas.openxmlformats.org/officeDocument/2006/relationships/oleObject" Target="../embeddings/oleObject229.bin"/><Relationship Id="rId12" Type="http://schemas.openxmlformats.org/officeDocument/2006/relationships/image" Target="../media/image233.wmf"/><Relationship Id="rId11" Type="http://schemas.openxmlformats.org/officeDocument/2006/relationships/oleObject" Target="../embeddings/oleObject228.bin"/><Relationship Id="rId10" Type="http://schemas.openxmlformats.org/officeDocument/2006/relationships/image" Target="../media/image232.wmf"/><Relationship Id="rId1" Type="http://schemas.openxmlformats.org/officeDocument/2006/relationships/oleObject" Target="../embeddings/oleObject223.bin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1.bin"/><Relationship Id="rId8" Type="http://schemas.openxmlformats.org/officeDocument/2006/relationships/image" Target="../media/image241.wmf"/><Relationship Id="rId7" Type="http://schemas.openxmlformats.org/officeDocument/2006/relationships/oleObject" Target="../embeddings/oleObject240.bin"/><Relationship Id="rId6" Type="http://schemas.openxmlformats.org/officeDocument/2006/relationships/image" Target="../media/image240.wmf"/><Relationship Id="rId5" Type="http://schemas.openxmlformats.org/officeDocument/2006/relationships/oleObject" Target="../embeddings/oleObject239.bin"/><Relationship Id="rId4" Type="http://schemas.openxmlformats.org/officeDocument/2006/relationships/image" Target="../media/image239.wmf"/><Relationship Id="rId3" Type="http://schemas.openxmlformats.org/officeDocument/2006/relationships/oleObject" Target="../embeddings/oleObject238.bin"/><Relationship Id="rId29" Type="http://schemas.openxmlformats.org/officeDocument/2006/relationships/vmlDrawing" Target="../drawings/vmlDrawing43.v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250.wmf"/><Relationship Id="rId26" Type="http://schemas.openxmlformats.org/officeDocument/2006/relationships/oleObject" Target="../embeddings/oleObject249.bin"/><Relationship Id="rId25" Type="http://schemas.openxmlformats.org/officeDocument/2006/relationships/image" Target="../media/image249.wmf"/><Relationship Id="rId24" Type="http://schemas.openxmlformats.org/officeDocument/2006/relationships/oleObject" Target="../embeddings/oleObject248.bin"/><Relationship Id="rId23" Type="http://schemas.openxmlformats.org/officeDocument/2006/relationships/image" Target="../media/image248.wmf"/><Relationship Id="rId22" Type="http://schemas.openxmlformats.org/officeDocument/2006/relationships/oleObject" Target="../embeddings/oleObject247.bin"/><Relationship Id="rId21" Type="http://schemas.openxmlformats.org/officeDocument/2006/relationships/image" Target="../media/image8.png"/><Relationship Id="rId20" Type="http://schemas.openxmlformats.org/officeDocument/2006/relationships/image" Target="../media/image247.wmf"/><Relationship Id="rId2" Type="http://schemas.openxmlformats.org/officeDocument/2006/relationships/image" Target="../media/image238.wmf"/><Relationship Id="rId19" Type="http://schemas.openxmlformats.org/officeDocument/2006/relationships/oleObject" Target="../embeddings/oleObject246.bin"/><Relationship Id="rId18" Type="http://schemas.openxmlformats.org/officeDocument/2006/relationships/image" Target="../media/image246.wmf"/><Relationship Id="rId17" Type="http://schemas.openxmlformats.org/officeDocument/2006/relationships/oleObject" Target="../embeddings/oleObject245.bin"/><Relationship Id="rId16" Type="http://schemas.openxmlformats.org/officeDocument/2006/relationships/image" Target="../media/image245.wmf"/><Relationship Id="rId15" Type="http://schemas.openxmlformats.org/officeDocument/2006/relationships/oleObject" Target="../embeddings/oleObject244.bin"/><Relationship Id="rId14" Type="http://schemas.openxmlformats.org/officeDocument/2006/relationships/image" Target="../media/image244.wmf"/><Relationship Id="rId13" Type="http://schemas.openxmlformats.org/officeDocument/2006/relationships/oleObject" Target="../embeddings/oleObject243.bin"/><Relationship Id="rId12" Type="http://schemas.openxmlformats.org/officeDocument/2006/relationships/image" Target="../media/image243.wmf"/><Relationship Id="rId11" Type="http://schemas.openxmlformats.org/officeDocument/2006/relationships/oleObject" Target="../embeddings/oleObject242.bin"/><Relationship Id="rId10" Type="http://schemas.openxmlformats.org/officeDocument/2006/relationships/image" Target="../media/image242.wmf"/><Relationship Id="rId1" Type="http://schemas.openxmlformats.org/officeDocument/2006/relationships/oleObject" Target="../embeddings/oleObject23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2" name="Text Box 4"/>
          <p:cNvSpPr txBox="1"/>
          <p:nvPr/>
        </p:nvSpPr>
        <p:spPr>
          <a:xfrm>
            <a:off x="2051050" y="404813"/>
            <a:ext cx="5327650" cy="914400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7A8E99"/>
            </a:prstShdw>
          </a:effectLst>
        </p:spPr>
        <p:txBody>
          <a:bodyPr wrap="none">
            <a:spAutoFit/>
          </a:bodyPr>
          <a:p>
            <a:r>
              <a:rPr lang="zh-CN" altLang="zh-CN" sz="54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第八章</a:t>
            </a:r>
            <a:r>
              <a:rPr lang="zh-CN" altLang="en-US" sz="54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zh-CN" sz="54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54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相量法</a:t>
            </a:r>
            <a:r>
              <a:rPr lang="zh-CN" altLang="zh-CN" sz="54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endParaRPr lang="zh-CN" altLang="en-US" sz="5400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835150" y="2906713"/>
            <a:ext cx="5545138" cy="620712"/>
            <a:chOff x="1156" y="1831"/>
            <a:chExt cx="3402" cy="391"/>
          </a:xfrm>
        </p:grpSpPr>
        <p:pic>
          <p:nvPicPr>
            <p:cNvPr id="47130" name="Picture 6" descr="GEL Rounded Rectangle aquamarine">
              <a:hlinkClick r:id="rId1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4" y="1831"/>
              <a:ext cx="2704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31" name="Text Box 7">
              <a:hlinkClick r:id="rId1" action="ppaction://hlinksldjump"/>
            </p:cNvPr>
            <p:cNvSpPr txBox="1"/>
            <p:nvPr/>
          </p:nvSpPr>
          <p:spPr>
            <a:xfrm>
              <a:off x="2029" y="1860"/>
              <a:ext cx="235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复数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47132" name="Picture 8" descr="GEL Rounded Rectangle aquamarine">
              <a:hlinkClick r:id="rId1" action="ppaction://hlinksldjump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6" y="1831"/>
              <a:ext cx="771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33" name="Text Box 9">
              <a:hlinkClick r:id="rId1" action="ppaction://hlinksldjump"/>
            </p:cNvPr>
            <p:cNvSpPr txBox="1"/>
            <p:nvPr/>
          </p:nvSpPr>
          <p:spPr>
            <a:xfrm>
              <a:off x="1338" y="1861"/>
              <a:ext cx="4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8-1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1835150" y="3627438"/>
            <a:ext cx="5545138" cy="593725"/>
            <a:chOff x="1156" y="2285"/>
            <a:chExt cx="3402" cy="391"/>
          </a:xfrm>
        </p:grpSpPr>
        <p:pic>
          <p:nvPicPr>
            <p:cNvPr id="47126" name="Picture 11" descr="GEL Rounded Rectangle aquamarine">
              <a:hlinkClick r:id="rId4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4" y="2285"/>
              <a:ext cx="2704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27" name="Text Box 12">
              <a:hlinkClick r:id="rId4" action="ppaction://hlinksldjump"/>
            </p:cNvPr>
            <p:cNvSpPr txBox="1"/>
            <p:nvPr/>
          </p:nvSpPr>
          <p:spPr>
            <a:xfrm>
              <a:off x="2029" y="2314"/>
              <a:ext cx="2355" cy="3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正弦量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47128" name="Picture 13" descr="GEL Rounded Rectangle aquamarine">
              <a:hlinkClick r:id="rId4" action="ppaction://hlinksldjump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56" y="2285"/>
              <a:ext cx="771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29" name="Text Box 14">
              <a:hlinkClick r:id="rId4" action="ppaction://hlinksldjump"/>
            </p:cNvPr>
            <p:cNvSpPr txBox="1"/>
            <p:nvPr/>
          </p:nvSpPr>
          <p:spPr>
            <a:xfrm>
              <a:off x="1338" y="2315"/>
              <a:ext cx="412" cy="3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8-2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5"/>
          <p:cNvGrpSpPr/>
          <p:nvPr/>
        </p:nvGrpSpPr>
        <p:grpSpPr>
          <a:xfrm>
            <a:off x="1835150" y="4346575"/>
            <a:ext cx="5545138" cy="666750"/>
            <a:chOff x="1156" y="2738"/>
            <a:chExt cx="3402" cy="391"/>
          </a:xfrm>
        </p:grpSpPr>
        <p:pic>
          <p:nvPicPr>
            <p:cNvPr id="47122" name="Picture 16" descr="GEL Rounded Rectangle aquamarine">
              <a:hlinkClick r:id="rId6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4" y="2738"/>
              <a:ext cx="2704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23" name="Text Box 17">
              <a:hlinkClick r:id="rId6" action="ppaction://hlinksldjump"/>
            </p:cNvPr>
            <p:cNvSpPr txBox="1"/>
            <p:nvPr/>
          </p:nvSpPr>
          <p:spPr>
            <a:xfrm>
              <a:off x="2029" y="2767"/>
              <a:ext cx="2355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相量法的基础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47124" name="Picture 18" descr="GEL Rounded Rectangle aquamarine">
              <a:hlinkClick r:id="rId6" action="ppaction://hlinksldjump"/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56" y="2738"/>
              <a:ext cx="771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25" name="Text Box 19">
              <a:hlinkClick r:id="rId6" action="ppaction://hlinksldjump"/>
            </p:cNvPr>
            <p:cNvSpPr txBox="1"/>
            <p:nvPr/>
          </p:nvSpPr>
          <p:spPr>
            <a:xfrm>
              <a:off x="1338" y="2768"/>
              <a:ext cx="412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8-3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20"/>
          <p:cNvGrpSpPr/>
          <p:nvPr/>
        </p:nvGrpSpPr>
        <p:grpSpPr>
          <a:xfrm>
            <a:off x="1835150" y="5040313"/>
            <a:ext cx="5545138" cy="620712"/>
            <a:chOff x="1156" y="3175"/>
            <a:chExt cx="3402" cy="391"/>
          </a:xfrm>
        </p:grpSpPr>
        <p:pic>
          <p:nvPicPr>
            <p:cNvPr id="47118" name="Picture 21" descr="GEL Rounded Rectangle aquamarine">
              <a:hlinkClick r:id="rId8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4" y="3175"/>
              <a:ext cx="2704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19" name="Text Box 22">
              <a:hlinkClick r:id="rId8" action="ppaction://hlinksldjump"/>
            </p:cNvPr>
            <p:cNvSpPr txBox="1"/>
            <p:nvPr/>
          </p:nvSpPr>
          <p:spPr>
            <a:xfrm>
              <a:off x="2029" y="3204"/>
              <a:ext cx="235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电路定律的相量形式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47120" name="Picture 23" descr="GEL Rounded Rectangle aquamarine">
              <a:hlinkClick r:id="rId8" action="ppaction://hlinksldjump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6" y="3175"/>
              <a:ext cx="771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21" name="Text Box 24">
              <a:hlinkClick r:id="rId8" action="ppaction://hlinksldjump"/>
            </p:cNvPr>
            <p:cNvSpPr txBox="1"/>
            <p:nvPr/>
          </p:nvSpPr>
          <p:spPr>
            <a:xfrm>
              <a:off x="1338" y="3205"/>
              <a:ext cx="4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8-4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25"/>
          <p:cNvGrpSpPr/>
          <p:nvPr/>
        </p:nvGrpSpPr>
        <p:grpSpPr>
          <a:xfrm>
            <a:off x="7596188" y="6021388"/>
            <a:ext cx="1368425" cy="647700"/>
            <a:chOff x="2971" y="3113"/>
            <a:chExt cx="1043" cy="499"/>
          </a:xfrm>
        </p:grpSpPr>
        <p:sp>
          <p:nvSpPr>
            <p:cNvPr id="47116" name="Oval 26"/>
            <p:cNvSpPr/>
            <p:nvPr/>
          </p:nvSpPr>
          <p:spPr>
            <a:xfrm>
              <a:off x="2971" y="3113"/>
              <a:ext cx="1043" cy="499"/>
            </a:xfrm>
            <a:prstGeom prst="ellipse">
              <a:avLst/>
            </a:prstGeom>
            <a:gradFill rotWithShape="0">
              <a:gsLst>
                <a:gs pos="0">
                  <a:srgbClr val="3366FF"/>
                </a:gs>
                <a:gs pos="50000">
                  <a:srgbClr val="7799FF"/>
                </a:gs>
                <a:gs pos="100000">
                  <a:srgbClr val="3366FF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17" name="Oval 27">
              <a:hlinkClick r:id="" action="ppaction://hlinkshowjump?jump=endshow"/>
            </p:cNvPr>
            <p:cNvSpPr/>
            <p:nvPr/>
          </p:nvSpPr>
          <p:spPr>
            <a:xfrm>
              <a:off x="3016" y="3158"/>
              <a:ext cx="953" cy="408"/>
            </a:xfrm>
            <a:prstGeom prst="ellipse">
              <a:avLst/>
            </a:prstGeom>
            <a:gradFill rotWithShape="0">
              <a:gsLst>
                <a:gs pos="0">
                  <a:srgbClr val="0033CC"/>
                </a:gs>
                <a:gs pos="50000">
                  <a:srgbClr val="87DAED"/>
                </a:gs>
                <a:gs pos="100000">
                  <a:srgbClr val="0033CC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p>
              <a:pPr algn="ctr"/>
              <a:r>
                <a:rPr lang="zh-CN" altLang="en-US" dirty="0">
                  <a:solidFill>
                    <a:srgbClr val="CC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首 页</a:t>
              </a:r>
              <a:endParaRPr lang="zh-CN" altLang="en-US" dirty="0">
                <a:solidFill>
                  <a:srgbClr val="CC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7" name="Group 28"/>
          <p:cNvGrpSpPr/>
          <p:nvPr/>
        </p:nvGrpSpPr>
        <p:grpSpPr>
          <a:xfrm>
            <a:off x="3059113" y="1557338"/>
            <a:ext cx="3024187" cy="1079500"/>
            <a:chOff x="1928" y="890"/>
            <a:chExt cx="1905" cy="680"/>
          </a:xfrm>
        </p:grpSpPr>
        <p:pic>
          <p:nvPicPr>
            <p:cNvPr id="47113" name="Picture 29" descr="GEL Oval MS-blue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1928" y="890"/>
              <a:ext cx="1905" cy="68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114" name="Picture 30" descr="GEL Oval MS-yellow">
              <a:hlinkClick r:id="rId10" action="ppaction://hlinksldjump"/>
            </p:cNvPr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2018" y="981"/>
              <a:ext cx="1715" cy="4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15" name="Text Box 31" descr="斜纹布">
              <a:hlinkClick r:id="rId10" action="ppaction://hlinksldjump"/>
            </p:cNvPr>
            <p:cNvSpPr txBox="1"/>
            <p:nvPr/>
          </p:nvSpPr>
          <p:spPr>
            <a:xfrm>
              <a:off x="2291" y="1062"/>
              <a:ext cx="1238" cy="368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本章内容</a:t>
              </a:r>
              <a:endParaRPr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9" presetClass="entr" presetSubtype="0" decel="10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3" name="Text Box 3"/>
          <p:cNvSpPr txBox="1"/>
          <p:nvPr/>
        </p:nvSpPr>
        <p:spPr>
          <a:xfrm>
            <a:off x="1762125" y="3500438"/>
            <a:ext cx="5472113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20000"/>
              </a:spcBef>
            </a:pPr>
            <a:r>
              <a:rPr lang="en-US" altLang="zh-CN" sz="3600" dirty="0">
                <a:latin typeface="楷体_GB2312" pitchFamily="49" charset="-122"/>
              </a:rPr>
              <a:t>2. </a:t>
            </a:r>
            <a:r>
              <a:rPr lang="zh-CN" altLang="en-US" sz="3600" dirty="0">
                <a:latin typeface="楷体_GB2312" pitchFamily="49" charset="-122"/>
              </a:rPr>
              <a:t>正弦量的相量表示</a:t>
            </a:r>
            <a:endParaRPr lang="zh-CN" altLang="en-US" sz="3600" dirty="0">
              <a:latin typeface="楷体_GB2312" pitchFamily="49" charset="-122"/>
            </a:endParaRPr>
          </a:p>
        </p:txBody>
      </p:sp>
      <p:sp>
        <p:nvSpPr>
          <p:cNvPr id="76804" name="Text Box 4"/>
          <p:cNvSpPr txBox="1"/>
          <p:nvPr/>
        </p:nvSpPr>
        <p:spPr>
          <a:xfrm>
            <a:off x="1762125" y="4508500"/>
            <a:ext cx="604837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dirty="0">
                <a:latin typeface="楷体_GB2312" pitchFamily="49" charset="-122"/>
              </a:rPr>
              <a:t>3. </a:t>
            </a:r>
            <a:r>
              <a:rPr lang="zh-CN" altLang="en-US" sz="3600" dirty="0">
                <a:latin typeface="楷体_GB2312" pitchFamily="49" charset="-122"/>
                <a:sym typeface="Wingdings 3" panose="05040102010807070707" pitchFamily="18" charset="2"/>
              </a:rPr>
              <a:t>电路定理的相量形式</a:t>
            </a:r>
            <a:endParaRPr lang="zh-CN" altLang="en-US" sz="3600" dirty="0">
              <a:latin typeface="楷体_GB2312" pitchFamily="49" charset="-122"/>
            </a:endParaRPr>
          </a:p>
        </p:txBody>
      </p:sp>
      <p:sp>
        <p:nvSpPr>
          <p:cNvPr id="76805" name="Rectangle 5"/>
          <p:cNvSpPr/>
          <p:nvPr/>
        </p:nvSpPr>
        <p:spPr>
          <a:xfrm>
            <a:off x="755650" y="1274763"/>
            <a:ext cx="2125663" cy="641350"/>
          </a:xfrm>
          <a:prstGeom prst="rect">
            <a:avLst/>
          </a:prstGeom>
          <a:solidFill>
            <a:srgbClr val="FF3300"/>
          </a:solidFill>
          <a:ln w="12700">
            <a:noFill/>
          </a:ln>
        </p:spPr>
        <p:txBody>
          <a:bodyPr wrap="none">
            <a:spAutoFit/>
          </a:bodyPr>
          <a:p>
            <a:pPr eaLnBrk="0" hangingPunct="0">
              <a:buClr>
                <a:schemeClr val="bg1"/>
              </a:buClr>
              <a:buFont typeface="Wingdings" panose="05000000000000000000" pitchFamily="2" charset="2"/>
              <a:buChar char="l"/>
            </a:pPr>
            <a:r>
              <a:rPr lang="en-US" altLang="zh-CN" sz="3600" dirty="0">
                <a:solidFill>
                  <a:schemeClr val="bg1"/>
                </a:solidFill>
                <a:latin typeface="楷体_GB2312" pitchFamily="49" charset="-122"/>
                <a:sym typeface="Monotype Sorts" pitchFamily="2" charset="2"/>
              </a:rPr>
              <a:t> </a:t>
            </a:r>
            <a:r>
              <a:rPr lang="zh-CN" altLang="en-US" sz="3600" dirty="0">
                <a:solidFill>
                  <a:schemeClr val="bg1"/>
                </a:solidFill>
                <a:latin typeface="楷体_GB2312" pitchFamily="49" charset="-122"/>
              </a:rPr>
              <a:t>重点：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76806" name="Text Box 6"/>
          <p:cNvSpPr txBox="1"/>
          <p:nvPr/>
        </p:nvSpPr>
        <p:spPr>
          <a:xfrm>
            <a:off x="1762125" y="2492375"/>
            <a:ext cx="6049963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dirty="0">
                <a:latin typeface="楷体_GB2312" pitchFamily="49" charset="-122"/>
              </a:rPr>
              <a:t>1. </a:t>
            </a:r>
            <a:r>
              <a:rPr lang="zh-CN" altLang="en-US" sz="3600" dirty="0">
                <a:latin typeface="楷体_GB2312" pitchFamily="49" charset="-122"/>
              </a:rPr>
              <a:t>正弦量的表示、相位差</a:t>
            </a:r>
            <a:endParaRPr lang="zh-CN" altLang="en-US" sz="3600" dirty="0">
              <a:latin typeface="楷体_GB2312" pitchFamily="49" charset="-122"/>
            </a:endParaRPr>
          </a:p>
        </p:txBody>
      </p:sp>
      <p:grpSp>
        <p:nvGrpSpPr>
          <p:cNvPr id="48134" name="Group 10"/>
          <p:cNvGrpSpPr/>
          <p:nvPr/>
        </p:nvGrpSpPr>
        <p:grpSpPr>
          <a:xfrm>
            <a:off x="8316913" y="6446838"/>
            <a:ext cx="792162" cy="366712"/>
            <a:chOff x="4649" y="4020"/>
            <a:chExt cx="499" cy="231"/>
          </a:xfrm>
        </p:grpSpPr>
        <p:pic>
          <p:nvPicPr>
            <p:cNvPr id="48135" name="Picture 1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36" name="Text Box 1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/>
      <p:bldP spid="76804" grpId="0"/>
      <p:bldP spid="76805" grpId="0" animBg="1"/>
      <p:bldP spid="7680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Text Box 2"/>
          <p:cNvSpPr txBox="1"/>
          <p:nvPr/>
        </p:nvSpPr>
        <p:spPr>
          <a:xfrm>
            <a:off x="684213" y="1196975"/>
            <a:ext cx="3960812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复数的表示形式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aphicFrame>
        <p:nvGraphicFramePr>
          <p:cNvPr id="57347" name="Object 3"/>
          <p:cNvGraphicFramePr/>
          <p:nvPr/>
        </p:nvGraphicFramePr>
        <p:xfrm>
          <a:off x="971550" y="2565400"/>
          <a:ext cx="3519488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663700" imgH="279400" progId="Equation.3">
                  <p:embed/>
                </p:oleObj>
              </mc:Choice>
              <mc:Fallback>
                <p:oleObj name="" r:id="rId1" imgW="1663700" imgH="2794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2565400"/>
                        <a:ext cx="3519488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1"/>
          <p:cNvGrpSpPr/>
          <p:nvPr/>
        </p:nvGrpSpPr>
        <p:grpSpPr>
          <a:xfrm>
            <a:off x="5553075" y="765175"/>
            <a:ext cx="3197225" cy="2822575"/>
            <a:chOff x="3498" y="482"/>
            <a:chExt cx="2014" cy="1778"/>
          </a:xfrm>
        </p:grpSpPr>
        <p:sp>
          <p:nvSpPr>
            <p:cNvPr id="1049" name="Line 18"/>
            <p:cNvSpPr/>
            <p:nvPr/>
          </p:nvSpPr>
          <p:spPr>
            <a:xfrm>
              <a:off x="3524" y="1965"/>
              <a:ext cx="1842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50" name="Line 19"/>
            <p:cNvSpPr/>
            <p:nvPr/>
          </p:nvSpPr>
          <p:spPr>
            <a:xfrm flipV="1">
              <a:off x="3778" y="633"/>
              <a:ext cx="3" cy="1567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51" name="Line 20"/>
            <p:cNvSpPr/>
            <p:nvPr/>
          </p:nvSpPr>
          <p:spPr>
            <a:xfrm flipH="1" flipV="1">
              <a:off x="3778" y="1077"/>
              <a:ext cx="0" cy="87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52" name="Line 21"/>
            <p:cNvSpPr/>
            <p:nvPr/>
          </p:nvSpPr>
          <p:spPr>
            <a:xfrm>
              <a:off x="3778" y="1965"/>
              <a:ext cx="1016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53" name="Line 22"/>
            <p:cNvSpPr/>
            <p:nvPr/>
          </p:nvSpPr>
          <p:spPr>
            <a:xfrm>
              <a:off x="3778" y="1077"/>
              <a:ext cx="1016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054" name="Line 23"/>
            <p:cNvSpPr/>
            <p:nvPr/>
          </p:nvSpPr>
          <p:spPr>
            <a:xfrm flipV="1">
              <a:off x="4794" y="1077"/>
              <a:ext cx="0" cy="888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055" name="Line 24"/>
            <p:cNvSpPr/>
            <p:nvPr/>
          </p:nvSpPr>
          <p:spPr>
            <a:xfrm flipV="1">
              <a:off x="3776" y="1077"/>
              <a:ext cx="1018" cy="87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56" name="Text Box 25"/>
            <p:cNvSpPr txBox="1"/>
            <p:nvPr/>
          </p:nvSpPr>
          <p:spPr>
            <a:xfrm>
              <a:off x="4830" y="845"/>
              <a:ext cx="30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7" name="Text Box 26"/>
            <p:cNvSpPr txBox="1"/>
            <p:nvPr/>
          </p:nvSpPr>
          <p:spPr>
            <a:xfrm>
              <a:off x="3498" y="806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8" name="Text Box 27"/>
            <p:cNvSpPr txBox="1"/>
            <p:nvPr/>
          </p:nvSpPr>
          <p:spPr>
            <a:xfrm>
              <a:off x="5148" y="1933"/>
              <a:ext cx="36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9" name="Text Box 28"/>
            <p:cNvSpPr txBox="1"/>
            <p:nvPr/>
          </p:nvSpPr>
          <p:spPr>
            <a:xfrm>
              <a:off x="3833" y="482"/>
              <a:ext cx="3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Im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0" name="Text Box 29"/>
            <p:cNvSpPr txBox="1"/>
            <p:nvPr/>
          </p:nvSpPr>
          <p:spPr>
            <a:xfrm>
              <a:off x="4604" y="1888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1" name="Text Box 30"/>
            <p:cNvSpPr txBox="1"/>
            <p:nvPr/>
          </p:nvSpPr>
          <p:spPr>
            <a:xfrm>
              <a:off x="3560" y="1933"/>
              <a:ext cx="317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2" name="Arc 31"/>
            <p:cNvSpPr/>
            <p:nvPr/>
          </p:nvSpPr>
          <p:spPr>
            <a:xfrm>
              <a:off x="4040" y="1725"/>
              <a:ext cx="62" cy="240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0" y="3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63" name="Rectangle 32"/>
            <p:cNvSpPr/>
            <p:nvPr/>
          </p:nvSpPr>
          <p:spPr>
            <a:xfrm>
              <a:off x="4063" y="1572"/>
              <a:ext cx="5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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064" name="Text Box 33"/>
            <p:cNvSpPr txBox="1"/>
            <p:nvPr/>
          </p:nvSpPr>
          <p:spPr>
            <a:xfrm>
              <a:off x="4014" y="1207"/>
              <a:ext cx="43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|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F|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57378" name="Object 34"/>
          <p:cNvGraphicFramePr/>
          <p:nvPr/>
        </p:nvGraphicFramePr>
        <p:xfrm>
          <a:off x="854075" y="4508500"/>
          <a:ext cx="708818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2880360" imgH="254000" progId="Equation.3">
                  <p:embed/>
                </p:oleObj>
              </mc:Choice>
              <mc:Fallback>
                <p:oleObj name="" r:id="rId3" imgW="2880360" imgH="2540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4075" y="4508500"/>
                        <a:ext cx="7088188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81" name="Object 37"/>
          <p:cNvGraphicFramePr/>
          <p:nvPr/>
        </p:nvGraphicFramePr>
        <p:xfrm>
          <a:off x="954088" y="1844675"/>
          <a:ext cx="208915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774065" imgH="228600" progId="Equation.3">
                  <p:embed/>
                </p:oleObj>
              </mc:Choice>
              <mc:Fallback>
                <p:oleObj name="" r:id="rId5" imgW="774065" imgH="2286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54088" y="1844675"/>
                        <a:ext cx="2089150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83" name="Object 39"/>
          <p:cNvGraphicFramePr/>
          <p:nvPr/>
        </p:nvGraphicFramePr>
        <p:xfrm>
          <a:off x="939800" y="3357563"/>
          <a:ext cx="1955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7" imgW="774065" imgH="241300" progId="Equation.3">
                  <p:embed/>
                </p:oleObj>
              </mc:Choice>
              <mc:Fallback>
                <p:oleObj name="" r:id="rId7" imgW="774065" imgH="2413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39800" y="3357563"/>
                        <a:ext cx="19558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3" name="Group 4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47" name="Picture 45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48" name="Text Box 4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34" name="Group 4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45" name="Picture 48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46" name="Text Box 4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7400" name="AutoShape 56" descr="羊皮纸"/>
          <p:cNvSpPr/>
          <p:nvPr/>
        </p:nvSpPr>
        <p:spPr>
          <a:xfrm>
            <a:off x="3924300" y="1844675"/>
            <a:ext cx="1439863" cy="574675"/>
          </a:xfrm>
          <a:prstGeom prst="wedgeRoundRectCallout">
            <a:avLst>
              <a:gd name="adj1" fmla="val -114056"/>
              <a:gd name="adj2" fmla="val 8009"/>
              <a:gd name="adj3" fmla="val 16667"/>
            </a:avLst>
          </a:prstGeom>
          <a:blipFill rotWithShape="1">
            <a:blip r:embed="rId10"/>
          </a:blipFill>
          <a:ln w="9525">
            <a:noFill/>
          </a:ln>
        </p:spPr>
        <p:txBody>
          <a:bodyPr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代数式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7402" name="AutoShape 58" descr="羊皮纸"/>
          <p:cNvSpPr/>
          <p:nvPr/>
        </p:nvSpPr>
        <p:spPr>
          <a:xfrm>
            <a:off x="3779838" y="3357563"/>
            <a:ext cx="1368425" cy="574675"/>
          </a:xfrm>
          <a:prstGeom prst="wedgeRoundRectCallout">
            <a:avLst>
              <a:gd name="adj1" fmla="val -133875"/>
              <a:gd name="adj2" fmla="val 21269"/>
              <a:gd name="adj3" fmla="val 16667"/>
            </a:avLst>
          </a:prstGeom>
          <a:blipFill rotWithShape="1">
            <a:blip r:embed="rId10"/>
          </a:blipFill>
          <a:ln w="9525">
            <a:noFill/>
          </a:ln>
        </p:spPr>
        <p:txBody>
          <a:bodyPr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指数式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7403" name="AutoShape 59" descr="羊皮纸"/>
          <p:cNvSpPr/>
          <p:nvPr/>
        </p:nvSpPr>
        <p:spPr>
          <a:xfrm>
            <a:off x="5292725" y="5445125"/>
            <a:ext cx="1800225" cy="574675"/>
          </a:xfrm>
          <a:prstGeom prst="wedgeRoundRectCallout">
            <a:avLst>
              <a:gd name="adj1" fmla="val -104144"/>
              <a:gd name="adj2" fmla="val -30940"/>
              <a:gd name="adj3" fmla="val 16667"/>
            </a:avLst>
          </a:prstGeom>
          <a:blipFill rotWithShape="1">
            <a:blip r:embed="rId10"/>
          </a:blipFill>
          <a:ln w="9525">
            <a:noFill/>
          </a:ln>
        </p:spPr>
        <p:txBody>
          <a:bodyPr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极坐标式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7404" name="AutoShape 60" descr="羊皮纸"/>
          <p:cNvSpPr/>
          <p:nvPr/>
        </p:nvSpPr>
        <p:spPr>
          <a:xfrm>
            <a:off x="6227763" y="3716338"/>
            <a:ext cx="2339975" cy="574675"/>
          </a:xfrm>
          <a:prstGeom prst="wedgeRoundRectCallout">
            <a:avLst>
              <a:gd name="adj1" fmla="val -88264"/>
              <a:gd name="adj2" fmla="val 113537"/>
              <a:gd name="adj3" fmla="val 16667"/>
            </a:avLst>
          </a:prstGeom>
          <a:blipFill rotWithShape="1">
            <a:blip r:embed="rId10"/>
          </a:blipFill>
          <a:ln w="9525">
            <a:noFill/>
          </a:ln>
        </p:spPr>
        <p:txBody>
          <a:bodyPr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三角函数式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7406" name="Text Box 62"/>
          <p:cNvSpPr txBox="1"/>
          <p:nvPr/>
        </p:nvSpPr>
        <p:spPr>
          <a:xfrm>
            <a:off x="2700338" y="404813"/>
            <a:ext cx="3024187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40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8-1</a:t>
            </a:r>
            <a:r>
              <a:rPr lang="en-US" altLang="zh-CN" sz="4000" dirty="0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zh-CN" altLang="en-US" sz="4000" dirty="0">
                <a:solidFill>
                  <a:schemeClr val="bg1"/>
                </a:solidFill>
                <a:latin typeface="楷体_GB2312" pitchFamily="49" charset="-122"/>
              </a:rPr>
              <a:t>复数</a:t>
            </a:r>
            <a:endParaRPr lang="zh-CN" altLang="en-US" sz="40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pSp>
        <p:nvGrpSpPr>
          <p:cNvPr id="1040" name="Group 6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043" name="Picture 64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44" name="Text Box 6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67"/>
          <p:cNvGrpSpPr/>
          <p:nvPr/>
        </p:nvGrpSpPr>
        <p:grpSpPr>
          <a:xfrm>
            <a:off x="928688" y="5286375"/>
            <a:ext cx="3427412" cy="611188"/>
            <a:chOff x="585" y="3330"/>
            <a:chExt cx="2159" cy="385"/>
          </a:xfrm>
        </p:grpSpPr>
        <p:graphicFrame>
          <p:nvGraphicFramePr>
            <p:cNvPr id="1030" name="Object 38"/>
            <p:cNvGraphicFramePr/>
            <p:nvPr/>
          </p:nvGraphicFramePr>
          <p:xfrm>
            <a:off x="585" y="3330"/>
            <a:ext cx="2101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11" imgW="1383030" imgH="254000" progId="Equation.3">
                    <p:embed/>
                  </p:oleObj>
                </mc:Choice>
                <mc:Fallback>
                  <p:oleObj name="" r:id="rId11" imgW="1383030" imgH="2540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85" y="3330"/>
                          <a:ext cx="2101" cy="3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2" name="Line 66"/>
            <p:cNvSpPr/>
            <p:nvPr/>
          </p:nvSpPr>
          <p:spPr>
            <a:xfrm>
              <a:off x="2417" y="3657"/>
              <a:ext cx="327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5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2000"/>
                                        <p:tgtEl>
                                          <p:spTgt spid="5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1" dur="2000"/>
                                        <p:tgtEl>
                                          <p:spTgt spid="5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0" dur="2000"/>
                                        <p:tgtEl>
                                          <p:spTgt spid="5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9" dur="2000"/>
                                        <p:tgtEl>
                                          <p:spTgt spid="5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/>
      <p:bldP spid="57400" grpId="0" animBg="1"/>
      <p:bldP spid="57402" grpId="0" animBg="1"/>
      <p:bldP spid="57403" grpId="0" animBg="1"/>
      <p:bldP spid="57404" grpId="0" animBg="1"/>
      <p:bldP spid="5740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Text Box 2" descr="绿色大理石"/>
          <p:cNvSpPr txBox="1"/>
          <p:nvPr/>
        </p:nvSpPr>
        <p:spPr>
          <a:xfrm>
            <a:off x="827088" y="620713"/>
            <a:ext cx="3597275" cy="519112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wrap="none" lIns="198000" rIns="19800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几种表示法的关系：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7594" name="Object 10"/>
          <p:cNvGraphicFramePr/>
          <p:nvPr/>
        </p:nvGraphicFramePr>
        <p:xfrm>
          <a:off x="669925" y="2840038"/>
          <a:ext cx="2811463" cy="166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2" imgW="1218565" imgH="723900" progId="Equation.3">
                  <p:embed/>
                </p:oleObj>
              </mc:Choice>
              <mc:Fallback>
                <p:oleObj name="" r:id="rId2" imgW="1218565" imgH="7239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9925" y="2840038"/>
                        <a:ext cx="2811463" cy="1668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5" name="Text Box 11"/>
          <p:cNvSpPr txBox="1"/>
          <p:nvPr/>
        </p:nvSpPr>
        <p:spPr>
          <a:xfrm>
            <a:off x="3563938" y="3414713"/>
            <a:ext cx="5413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67596" name="Object 12"/>
          <p:cNvGraphicFramePr/>
          <p:nvPr/>
        </p:nvGraphicFramePr>
        <p:xfrm>
          <a:off x="4340225" y="3278188"/>
          <a:ext cx="2770188" cy="131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4" imgW="1091565" imgH="520700" progId="Equation.3">
                  <p:embed/>
                </p:oleObj>
              </mc:Choice>
              <mc:Fallback>
                <p:oleObj name="" r:id="rId4" imgW="1091565" imgH="5207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40225" y="3278188"/>
                        <a:ext cx="2770188" cy="1319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7" name="Text Box 13"/>
          <p:cNvSpPr txBox="1"/>
          <p:nvPr/>
        </p:nvSpPr>
        <p:spPr>
          <a:xfrm>
            <a:off x="755650" y="4652963"/>
            <a:ext cx="2520950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2.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复数运算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67599" name="Text Box 15"/>
          <p:cNvSpPr txBox="1"/>
          <p:nvPr/>
        </p:nvSpPr>
        <p:spPr>
          <a:xfrm>
            <a:off x="684213" y="5373688"/>
            <a:ext cx="55451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buAutoNum type="circleNumDbPlain"/>
            </a:pPr>
            <a:r>
              <a:rPr lang="zh-CN" altLang="en-US" dirty="0">
                <a:latin typeface="楷体_GB2312" pitchFamily="49" charset="-122"/>
              </a:rPr>
              <a:t>加减运算 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采用代数式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2058" name="Group 4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084" name="Picture 49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85" name="Text Box 5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59" name="Group 5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082" name="Picture 52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83" name="Text Box 5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" name="Group 54"/>
          <p:cNvGrpSpPr/>
          <p:nvPr/>
        </p:nvGrpSpPr>
        <p:grpSpPr>
          <a:xfrm>
            <a:off x="5364163" y="476250"/>
            <a:ext cx="2870200" cy="2670175"/>
            <a:chOff x="3498" y="482"/>
            <a:chExt cx="2067" cy="1801"/>
          </a:xfrm>
        </p:grpSpPr>
        <p:sp>
          <p:nvSpPr>
            <p:cNvPr id="2066" name="Line 55"/>
            <p:cNvSpPr/>
            <p:nvPr/>
          </p:nvSpPr>
          <p:spPr>
            <a:xfrm>
              <a:off x="3524" y="1965"/>
              <a:ext cx="1842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67" name="Line 56"/>
            <p:cNvSpPr/>
            <p:nvPr/>
          </p:nvSpPr>
          <p:spPr>
            <a:xfrm flipV="1">
              <a:off x="3778" y="633"/>
              <a:ext cx="3" cy="1567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68" name="Line 57"/>
            <p:cNvSpPr/>
            <p:nvPr/>
          </p:nvSpPr>
          <p:spPr>
            <a:xfrm flipH="1" flipV="1">
              <a:off x="3778" y="1077"/>
              <a:ext cx="0" cy="87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69" name="Line 58"/>
            <p:cNvSpPr/>
            <p:nvPr/>
          </p:nvSpPr>
          <p:spPr>
            <a:xfrm>
              <a:off x="3778" y="1965"/>
              <a:ext cx="1016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70" name="Line 59"/>
            <p:cNvSpPr/>
            <p:nvPr/>
          </p:nvSpPr>
          <p:spPr>
            <a:xfrm>
              <a:off x="3778" y="1077"/>
              <a:ext cx="1016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071" name="Line 60"/>
            <p:cNvSpPr/>
            <p:nvPr/>
          </p:nvSpPr>
          <p:spPr>
            <a:xfrm flipV="1">
              <a:off x="4794" y="1077"/>
              <a:ext cx="0" cy="888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072" name="Line 61"/>
            <p:cNvSpPr/>
            <p:nvPr/>
          </p:nvSpPr>
          <p:spPr>
            <a:xfrm flipV="1">
              <a:off x="3776" y="1077"/>
              <a:ext cx="1018" cy="87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73" name="Text Box 62"/>
            <p:cNvSpPr txBox="1"/>
            <p:nvPr/>
          </p:nvSpPr>
          <p:spPr>
            <a:xfrm>
              <a:off x="4831" y="845"/>
              <a:ext cx="307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74" name="Text Box 63"/>
            <p:cNvSpPr txBox="1"/>
            <p:nvPr/>
          </p:nvSpPr>
          <p:spPr>
            <a:xfrm>
              <a:off x="3498" y="806"/>
              <a:ext cx="261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75" name="Text Box 64"/>
            <p:cNvSpPr txBox="1"/>
            <p:nvPr/>
          </p:nvSpPr>
          <p:spPr>
            <a:xfrm>
              <a:off x="5149" y="1933"/>
              <a:ext cx="416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76" name="Text Box 65"/>
            <p:cNvSpPr txBox="1"/>
            <p:nvPr/>
          </p:nvSpPr>
          <p:spPr>
            <a:xfrm>
              <a:off x="3833" y="482"/>
              <a:ext cx="417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Im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77" name="Text Box 66"/>
            <p:cNvSpPr txBox="1"/>
            <p:nvPr/>
          </p:nvSpPr>
          <p:spPr>
            <a:xfrm>
              <a:off x="4604" y="1888"/>
              <a:ext cx="261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78" name="Text Box 67"/>
            <p:cNvSpPr txBox="1"/>
            <p:nvPr/>
          </p:nvSpPr>
          <p:spPr>
            <a:xfrm>
              <a:off x="3560" y="1934"/>
              <a:ext cx="318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79" name="Arc 68"/>
            <p:cNvSpPr/>
            <p:nvPr/>
          </p:nvSpPr>
          <p:spPr>
            <a:xfrm>
              <a:off x="4040" y="1725"/>
              <a:ext cx="62" cy="240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0" y="3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0" name="Rectangle 69"/>
            <p:cNvSpPr/>
            <p:nvPr/>
          </p:nvSpPr>
          <p:spPr>
            <a:xfrm>
              <a:off x="4062" y="1572"/>
              <a:ext cx="542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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081" name="Text Box 70"/>
            <p:cNvSpPr txBox="1"/>
            <p:nvPr/>
          </p:nvSpPr>
          <p:spPr>
            <a:xfrm>
              <a:off x="4014" y="1207"/>
              <a:ext cx="434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|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F|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67655" name="Object 71"/>
          <p:cNvGraphicFramePr/>
          <p:nvPr/>
        </p:nvGraphicFramePr>
        <p:xfrm>
          <a:off x="901700" y="1470025"/>
          <a:ext cx="208597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7" imgW="774065" imgH="228600" progId="Equation.3">
                  <p:embed/>
                </p:oleObj>
              </mc:Choice>
              <mc:Fallback>
                <p:oleObj name="" r:id="rId7" imgW="774065" imgH="2286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1700" y="1470025"/>
                        <a:ext cx="2085975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1" name="Group 76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064" name="Picture 77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65" name="Text Box 7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80"/>
          <p:cNvGrpSpPr/>
          <p:nvPr/>
        </p:nvGrpSpPr>
        <p:grpSpPr>
          <a:xfrm>
            <a:off x="887413" y="2103438"/>
            <a:ext cx="3397250" cy="611187"/>
            <a:chOff x="559" y="1325"/>
            <a:chExt cx="2140" cy="385"/>
          </a:xfrm>
        </p:grpSpPr>
        <p:graphicFrame>
          <p:nvGraphicFramePr>
            <p:cNvPr id="2053" name="Object 72"/>
            <p:cNvGraphicFramePr/>
            <p:nvPr/>
          </p:nvGraphicFramePr>
          <p:xfrm>
            <a:off x="559" y="1325"/>
            <a:ext cx="2100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9" imgW="1383030" imgH="254000" progId="Equation.3">
                    <p:embed/>
                  </p:oleObj>
                </mc:Choice>
                <mc:Fallback>
                  <p:oleObj name="" r:id="rId9" imgW="1383030" imgH="2540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59" y="1325"/>
                          <a:ext cx="2100" cy="3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3" name="Line 79"/>
            <p:cNvSpPr/>
            <p:nvPr/>
          </p:nvSpPr>
          <p:spPr>
            <a:xfrm>
              <a:off x="2381" y="1661"/>
              <a:ext cx="3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6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6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4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animBg="1"/>
      <p:bldP spid="67595" grpId="0"/>
      <p:bldP spid="67597" grpId="0"/>
      <p:bldP spid="6759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43" name="Text Box 15"/>
          <p:cNvSpPr txBox="1"/>
          <p:nvPr/>
        </p:nvSpPr>
        <p:spPr>
          <a:xfrm>
            <a:off x="1403350" y="1196975"/>
            <a:ext cx="53594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±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±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)+j(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±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45" name="Text Box 17"/>
          <p:cNvSpPr txBox="1"/>
          <p:nvPr/>
        </p:nvSpPr>
        <p:spPr>
          <a:xfrm>
            <a:off x="1403350" y="476250"/>
            <a:ext cx="47545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+j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+j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9156" name="Group 7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9199" name="Picture 7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200" name="Text Box 7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9157" name="Group 7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9197" name="Picture 7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98" name="Text Box 7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" name="Group 82"/>
          <p:cNvGrpSpPr/>
          <p:nvPr/>
        </p:nvGrpSpPr>
        <p:grpSpPr>
          <a:xfrm>
            <a:off x="395288" y="1989138"/>
            <a:ext cx="3697287" cy="3022600"/>
            <a:chOff x="701" y="1525"/>
            <a:chExt cx="2329" cy="1904"/>
          </a:xfrm>
        </p:grpSpPr>
        <p:sp>
          <p:nvSpPr>
            <p:cNvPr id="49184" name="Line 19"/>
            <p:cNvSpPr/>
            <p:nvPr/>
          </p:nvSpPr>
          <p:spPr>
            <a:xfrm>
              <a:off x="703" y="3113"/>
              <a:ext cx="2268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85" name="Line 20"/>
            <p:cNvSpPr/>
            <p:nvPr/>
          </p:nvSpPr>
          <p:spPr>
            <a:xfrm flipH="1" flipV="1">
              <a:off x="930" y="1797"/>
              <a:ext cx="2" cy="1508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86" name="Line 21"/>
            <p:cNvSpPr/>
            <p:nvPr/>
          </p:nvSpPr>
          <p:spPr>
            <a:xfrm flipV="1">
              <a:off x="932" y="2205"/>
              <a:ext cx="542" cy="90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87" name="Line 22"/>
            <p:cNvSpPr/>
            <p:nvPr/>
          </p:nvSpPr>
          <p:spPr>
            <a:xfrm flipV="1">
              <a:off x="932" y="2795"/>
              <a:ext cx="1540" cy="31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88" name="Line 23"/>
            <p:cNvSpPr/>
            <p:nvPr/>
          </p:nvSpPr>
          <p:spPr>
            <a:xfrm flipV="1">
              <a:off x="1474" y="1888"/>
              <a:ext cx="1406" cy="331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9189" name="Line 24"/>
            <p:cNvSpPr/>
            <p:nvPr/>
          </p:nvSpPr>
          <p:spPr>
            <a:xfrm flipV="1">
              <a:off x="2472" y="1888"/>
              <a:ext cx="408" cy="885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9190" name="Line 25"/>
            <p:cNvSpPr/>
            <p:nvPr/>
          </p:nvSpPr>
          <p:spPr>
            <a:xfrm flipV="1">
              <a:off x="932" y="1933"/>
              <a:ext cx="1903" cy="118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91" name="Text Box 26"/>
            <p:cNvSpPr txBox="1"/>
            <p:nvPr/>
          </p:nvSpPr>
          <p:spPr>
            <a:xfrm>
              <a:off x="2472" y="2659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92" name="Text Box 27"/>
            <p:cNvSpPr txBox="1"/>
            <p:nvPr/>
          </p:nvSpPr>
          <p:spPr>
            <a:xfrm>
              <a:off x="1202" y="1888"/>
              <a:ext cx="50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93" name="Text Box 28"/>
            <p:cNvSpPr txBox="1"/>
            <p:nvPr/>
          </p:nvSpPr>
          <p:spPr>
            <a:xfrm>
              <a:off x="2608" y="3067"/>
              <a:ext cx="36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94" name="Text Box 29"/>
            <p:cNvSpPr txBox="1"/>
            <p:nvPr/>
          </p:nvSpPr>
          <p:spPr>
            <a:xfrm>
              <a:off x="975" y="1706"/>
              <a:ext cx="3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Im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95" name="Text Box 30"/>
            <p:cNvSpPr txBox="1"/>
            <p:nvPr/>
          </p:nvSpPr>
          <p:spPr>
            <a:xfrm>
              <a:off x="701" y="3179"/>
              <a:ext cx="232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96" name="Text Box 81"/>
            <p:cNvSpPr txBox="1"/>
            <p:nvPr/>
          </p:nvSpPr>
          <p:spPr>
            <a:xfrm>
              <a:off x="2290" y="1525"/>
              <a:ext cx="740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106"/>
          <p:cNvGrpSpPr/>
          <p:nvPr/>
        </p:nvGrpSpPr>
        <p:grpSpPr>
          <a:xfrm>
            <a:off x="6659563" y="4005263"/>
            <a:ext cx="936625" cy="1500187"/>
            <a:chOff x="4195" y="2523"/>
            <a:chExt cx="552" cy="971"/>
          </a:xfrm>
        </p:grpSpPr>
        <p:sp>
          <p:nvSpPr>
            <p:cNvPr id="49182" name="Line 86"/>
            <p:cNvSpPr/>
            <p:nvPr/>
          </p:nvSpPr>
          <p:spPr>
            <a:xfrm flipV="1">
              <a:off x="4195" y="2523"/>
              <a:ext cx="452" cy="86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49183" name="Text Box 92"/>
            <p:cNvSpPr txBox="1"/>
            <p:nvPr/>
          </p:nvSpPr>
          <p:spPr>
            <a:xfrm>
              <a:off x="4241" y="3158"/>
              <a:ext cx="506" cy="33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97"/>
          <p:cNvGrpSpPr/>
          <p:nvPr/>
        </p:nvGrpSpPr>
        <p:grpSpPr>
          <a:xfrm>
            <a:off x="4427538" y="2133600"/>
            <a:ext cx="3821112" cy="2871788"/>
            <a:chOff x="2789" y="1344"/>
            <a:chExt cx="2407" cy="1809"/>
          </a:xfrm>
        </p:grpSpPr>
        <p:sp>
          <p:nvSpPr>
            <p:cNvPr id="49175" name="Line 84"/>
            <p:cNvSpPr/>
            <p:nvPr/>
          </p:nvSpPr>
          <p:spPr>
            <a:xfrm>
              <a:off x="2927" y="2841"/>
              <a:ext cx="2268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76" name="Line 85"/>
            <p:cNvSpPr/>
            <p:nvPr/>
          </p:nvSpPr>
          <p:spPr>
            <a:xfrm flipH="1" flipV="1">
              <a:off x="3154" y="1525"/>
              <a:ext cx="2" cy="1508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77" name="Line 87"/>
            <p:cNvSpPr/>
            <p:nvPr/>
          </p:nvSpPr>
          <p:spPr>
            <a:xfrm flipV="1">
              <a:off x="3156" y="2523"/>
              <a:ext cx="1540" cy="31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78" name="Text Box 91"/>
            <p:cNvSpPr txBox="1"/>
            <p:nvPr/>
          </p:nvSpPr>
          <p:spPr>
            <a:xfrm>
              <a:off x="4696" y="2387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79" name="Text Box 93"/>
            <p:cNvSpPr txBox="1"/>
            <p:nvPr/>
          </p:nvSpPr>
          <p:spPr>
            <a:xfrm>
              <a:off x="4832" y="2795"/>
              <a:ext cx="36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80" name="Text Box 94"/>
            <p:cNvSpPr txBox="1"/>
            <p:nvPr/>
          </p:nvSpPr>
          <p:spPr>
            <a:xfrm>
              <a:off x="3198" y="1344"/>
              <a:ext cx="3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Im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81" name="Text Box 95"/>
            <p:cNvSpPr txBox="1"/>
            <p:nvPr/>
          </p:nvSpPr>
          <p:spPr>
            <a:xfrm>
              <a:off x="2789" y="2903"/>
              <a:ext cx="232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107"/>
          <p:cNvGrpSpPr/>
          <p:nvPr/>
        </p:nvGrpSpPr>
        <p:grpSpPr>
          <a:xfrm>
            <a:off x="5010150" y="4510088"/>
            <a:ext cx="1703388" cy="1187450"/>
            <a:chOff x="3156" y="2841"/>
            <a:chExt cx="1106" cy="797"/>
          </a:xfrm>
        </p:grpSpPr>
        <p:sp>
          <p:nvSpPr>
            <p:cNvPr id="49173" name="Line 90"/>
            <p:cNvSpPr/>
            <p:nvPr/>
          </p:nvSpPr>
          <p:spPr>
            <a:xfrm>
              <a:off x="3156" y="2841"/>
              <a:ext cx="1085" cy="54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74" name="Text Box 96"/>
            <p:cNvSpPr txBox="1"/>
            <p:nvPr/>
          </p:nvSpPr>
          <p:spPr>
            <a:xfrm>
              <a:off x="3516" y="3249"/>
              <a:ext cx="746" cy="38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32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103"/>
          <p:cNvGrpSpPr/>
          <p:nvPr/>
        </p:nvGrpSpPr>
        <p:grpSpPr>
          <a:xfrm>
            <a:off x="5003800" y="2060575"/>
            <a:ext cx="3240088" cy="2447925"/>
            <a:chOff x="3152" y="1298"/>
            <a:chExt cx="2041" cy="1542"/>
          </a:xfrm>
        </p:grpSpPr>
        <p:sp>
          <p:nvSpPr>
            <p:cNvPr id="49171" name="Line 100"/>
            <p:cNvSpPr/>
            <p:nvPr/>
          </p:nvSpPr>
          <p:spPr>
            <a:xfrm flipV="1">
              <a:off x="3152" y="1616"/>
              <a:ext cx="2041" cy="1224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72" name="Text Box 101"/>
            <p:cNvSpPr txBox="1"/>
            <p:nvPr/>
          </p:nvSpPr>
          <p:spPr>
            <a:xfrm>
              <a:off x="4332" y="1298"/>
              <a:ext cx="72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32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105"/>
          <p:cNvGrpSpPr/>
          <p:nvPr/>
        </p:nvGrpSpPr>
        <p:grpSpPr>
          <a:xfrm>
            <a:off x="7451725" y="2565400"/>
            <a:ext cx="1296988" cy="1439863"/>
            <a:chOff x="4649" y="1616"/>
            <a:chExt cx="914" cy="908"/>
          </a:xfrm>
        </p:grpSpPr>
        <p:sp>
          <p:nvSpPr>
            <p:cNvPr id="49169" name="Line 99"/>
            <p:cNvSpPr/>
            <p:nvPr/>
          </p:nvSpPr>
          <p:spPr>
            <a:xfrm flipV="1">
              <a:off x="4649" y="1616"/>
              <a:ext cx="542" cy="90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70" name="Text Box 104"/>
            <p:cNvSpPr txBox="1"/>
            <p:nvPr/>
          </p:nvSpPr>
          <p:spPr>
            <a:xfrm>
              <a:off x="5057" y="1661"/>
              <a:ext cx="50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9164" name="Group 111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49167" name="Picture 11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68" name="Text Box 11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48" name="AutoShape 66" descr="羊皮纸"/>
          <p:cNvSpPr/>
          <p:nvPr/>
        </p:nvSpPr>
        <p:spPr>
          <a:xfrm>
            <a:off x="1143000" y="5643563"/>
            <a:ext cx="1870075" cy="1000125"/>
          </a:xfrm>
          <a:prstGeom prst="wedgeRoundRectCallout">
            <a:avLst>
              <a:gd name="adj1" fmla="val -1921"/>
              <a:gd name="adj2" fmla="val -182079"/>
              <a:gd name="adj3" fmla="val 16667"/>
            </a:avLst>
          </a:prstGeom>
          <a:blipFill rotWithShape="1">
            <a:blip r:embed="rId2"/>
          </a:blipFill>
          <a:ln w="9525">
            <a:noFill/>
          </a:ln>
        </p:spPr>
        <p:txBody>
          <a:bodyPr/>
          <a:p>
            <a:pPr algn="ctr"/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图解法</a:t>
            </a:r>
            <a:r>
              <a:rPr lang="en-US" altLang="zh-CN" sz="24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平行四边形法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9" name="AutoShape 66" descr="羊皮纸"/>
          <p:cNvSpPr/>
          <p:nvPr/>
        </p:nvSpPr>
        <p:spPr>
          <a:xfrm>
            <a:off x="3643313" y="5643563"/>
            <a:ext cx="1870075" cy="1000125"/>
          </a:xfrm>
          <a:prstGeom prst="wedgeRoundRectCallout">
            <a:avLst>
              <a:gd name="adj1" fmla="val 42227"/>
              <a:gd name="adj2" fmla="val -131486"/>
              <a:gd name="adj3" fmla="val 16667"/>
            </a:avLst>
          </a:prstGeom>
          <a:blipFill rotWithShape="1">
            <a:blip r:embed="rId2"/>
          </a:blipFill>
          <a:ln w="9525">
            <a:noFill/>
          </a:ln>
        </p:spPr>
        <p:txBody>
          <a:bodyPr/>
          <a:p>
            <a:pPr algn="ctr"/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图解法</a:t>
            </a:r>
            <a:r>
              <a:rPr lang="en-US" altLang="zh-CN" sz="24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三角形形法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6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0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3" grpId="0"/>
      <p:bldP spid="22545" grpId="0"/>
      <p:bldP spid="48" grpId="0" animBg="1"/>
      <p:bldP spid="4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/>
          <p:nvPr/>
        </p:nvSpPr>
        <p:spPr>
          <a:xfrm>
            <a:off x="611188" y="693738"/>
            <a:ext cx="60483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buAutoNum type="circleNumDbPlain" startAt="2"/>
            </a:pPr>
            <a:r>
              <a:rPr lang="zh-CN" altLang="en-US" dirty="0">
                <a:latin typeface="楷体_GB2312" pitchFamily="49" charset="-122"/>
              </a:rPr>
              <a:t>乘除运算 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采用极坐标式</a:t>
            </a:r>
            <a:endParaRPr lang="zh-CN" altLang="en-US" u="sng" dirty="0">
              <a:latin typeface="Arial" panose="020B0604020202020204" pitchFamily="34" charset="0"/>
            </a:endParaRPr>
          </a:p>
        </p:txBody>
      </p:sp>
      <p:grpSp>
        <p:nvGrpSpPr>
          <p:cNvPr id="2" name="Group 36"/>
          <p:cNvGrpSpPr/>
          <p:nvPr/>
        </p:nvGrpSpPr>
        <p:grpSpPr>
          <a:xfrm>
            <a:off x="900113" y="1270000"/>
            <a:ext cx="5761037" cy="596900"/>
            <a:chOff x="748" y="799"/>
            <a:chExt cx="3629" cy="376"/>
          </a:xfrm>
        </p:grpSpPr>
        <p:sp>
          <p:nvSpPr>
            <p:cNvPr id="3097" name="Text Box 4"/>
            <p:cNvSpPr txBox="1"/>
            <p:nvPr/>
          </p:nvSpPr>
          <p:spPr>
            <a:xfrm>
              <a:off x="748" y="799"/>
              <a:ext cx="362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若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=|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| 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 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     </a:t>
              </a:r>
              <a:r>
                <a:rPr lang="zh-CN" altLang="en-US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，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=|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| 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 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98" name="Freeform 5"/>
            <p:cNvSpPr/>
            <p:nvPr/>
          </p:nvSpPr>
          <p:spPr>
            <a:xfrm>
              <a:off x="2109" y="890"/>
              <a:ext cx="408" cy="285"/>
            </a:xfrm>
            <a:custGeom>
              <a:avLst/>
              <a:gdLst>
                <a:gd name="txL" fmla="*/ 0 w 336"/>
                <a:gd name="txT" fmla="*/ 0 h 240"/>
                <a:gd name="txR" fmla="*/ 336 w 336"/>
                <a:gd name="txB" fmla="*/ 240 h 240"/>
              </a:gdLst>
              <a:ahLst/>
              <a:cxnLst>
                <a:cxn ang="0">
                  <a:pos x="117" y="0"/>
                </a:cxn>
                <a:cxn ang="0">
                  <a:pos x="0" y="285"/>
                </a:cxn>
                <a:cxn ang="0">
                  <a:pos x="408" y="285"/>
                </a:cxn>
              </a:cxnLst>
              <a:rect l="txL" t="txT" r="txR" b="txB"/>
              <a:pathLst>
                <a:path w="336" h="240">
                  <a:moveTo>
                    <a:pt x="96" y="0"/>
                  </a:moveTo>
                  <a:lnTo>
                    <a:pt x="0" y="240"/>
                  </a:lnTo>
                  <a:lnTo>
                    <a:pt x="336" y="240"/>
                  </a:lnTo>
                </a:path>
              </a:pathLst>
            </a:custGeom>
            <a:noFill/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99" name="Freeform 6"/>
            <p:cNvSpPr/>
            <p:nvPr/>
          </p:nvSpPr>
          <p:spPr>
            <a:xfrm>
              <a:off x="3696" y="845"/>
              <a:ext cx="454" cy="317"/>
            </a:xfrm>
            <a:custGeom>
              <a:avLst/>
              <a:gdLst>
                <a:gd name="txL" fmla="*/ 0 w 336"/>
                <a:gd name="txT" fmla="*/ 0 h 240"/>
                <a:gd name="txR" fmla="*/ 336 w 336"/>
                <a:gd name="txB" fmla="*/ 240 h 240"/>
              </a:gdLst>
              <a:ahLst/>
              <a:cxnLst>
                <a:cxn ang="0">
                  <a:pos x="130" y="0"/>
                </a:cxn>
                <a:cxn ang="0">
                  <a:pos x="0" y="317"/>
                </a:cxn>
                <a:cxn ang="0">
                  <a:pos x="454" y="317"/>
                </a:cxn>
              </a:cxnLst>
              <a:rect l="txL" t="txT" r="txR" b="txB"/>
              <a:pathLst>
                <a:path w="336" h="240">
                  <a:moveTo>
                    <a:pt x="96" y="0"/>
                  </a:moveTo>
                  <a:lnTo>
                    <a:pt x="0" y="240"/>
                  </a:lnTo>
                  <a:lnTo>
                    <a:pt x="336" y="240"/>
                  </a:lnTo>
                </a:path>
              </a:pathLst>
            </a:custGeom>
            <a:noFill/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1517" name="Text Box 13"/>
          <p:cNvSpPr txBox="1"/>
          <p:nvPr/>
        </p:nvSpPr>
        <p:spPr>
          <a:xfrm>
            <a:off x="827088" y="2062163"/>
            <a:ext cx="541337" cy="519112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则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3079" name="Group 2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095" name="Picture 2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96" name="Text Box 2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80" name="Group 3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093" name="Picture 3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94" name="Text Box 3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1541" name="AutoShape 37" descr="羊皮纸"/>
          <p:cNvSpPr/>
          <p:nvPr/>
        </p:nvSpPr>
        <p:spPr>
          <a:xfrm>
            <a:off x="7092950" y="2565400"/>
            <a:ext cx="1512888" cy="1079500"/>
          </a:xfrm>
          <a:prstGeom prst="wedgeRoundRectCallout">
            <a:avLst>
              <a:gd name="adj1" fmla="val -159551"/>
              <a:gd name="adj2" fmla="val -2796"/>
              <a:gd name="adj3" fmla="val 16667"/>
            </a:avLst>
          </a:prstGeom>
          <a:blipFill rotWithShape="1">
            <a:blip r:embed="rId2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模相乘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角相加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542" name="AutoShape 38" descr="羊皮纸"/>
          <p:cNvSpPr/>
          <p:nvPr/>
        </p:nvSpPr>
        <p:spPr>
          <a:xfrm>
            <a:off x="7092950" y="4941888"/>
            <a:ext cx="1512888" cy="1079500"/>
          </a:xfrm>
          <a:prstGeom prst="wedgeRoundRectCallout">
            <a:avLst>
              <a:gd name="adj1" fmla="val -210968"/>
              <a:gd name="adj2" fmla="val -17500"/>
              <a:gd name="adj3" fmla="val 16667"/>
            </a:avLst>
          </a:prstGeom>
          <a:blipFill rotWithShape="1">
            <a:blip r:embed="rId2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模相除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角相减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3083" name="Group 42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091" name="Picture 4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92" name="Text Box 4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47"/>
          <p:cNvGrpSpPr/>
          <p:nvPr/>
        </p:nvGrpSpPr>
        <p:grpSpPr>
          <a:xfrm>
            <a:off x="1635125" y="2120900"/>
            <a:ext cx="5943600" cy="1249363"/>
            <a:chOff x="1030" y="1336"/>
            <a:chExt cx="3744" cy="787"/>
          </a:xfrm>
        </p:grpSpPr>
        <p:graphicFrame>
          <p:nvGraphicFramePr>
            <p:cNvPr id="3075" name="Object 14"/>
            <p:cNvGraphicFramePr/>
            <p:nvPr/>
          </p:nvGraphicFramePr>
          <p:xfrm>
            <a:off x="1030" y="1336"/>
            <a:ext cx="3744" cy="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3" imgW="2576830" imgH="520700" progId="Equation.3">
                    <p:embed/>
                  </p:oleObj>
                </mc:Choice>
                <mc:Fallback>
                  <p:oleObj name="" r:id="rId3" imgW="2576830" imgH="5207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30" y="1336"/>
                          <a:ext cx="3744" cy="7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0" name="Line 46"/>
            <p:cNvSpPr/>
            <p:nvPr/>
          </p:nvSpPr>
          <p:spPr>
            <a:xfrm>
              <a:off x="2653" y="2069"/>
              <a:ext cx="817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51"/>
          <p:cNvGrpSpPr/>
          <p:nvPr/>
        </p:nvGrpSpPr>
        <p:grpSpPr>
          <a:xfrm>
            <a:off x="1577975" y="3630613"/>
            <a:ext cx="6034088" cy="2227262"/>
            <a:chOff x="994" y="2287"/>
            <a:chExt cx="3801" cy="1403"/>
          </a:xfrm>
        </p:grpSpPr>
        <p:graphicFrame>
          <p:nvGraphicFramePr>
            <p:cNvPr id="3074" name="Object 8"/>
            <p:cNvGraphicFramePr/>
            <p:nvPr/>
          </p:nvGraphicFramePr>
          <p:xfrm>
            <a:off x="994" y="2287"/>
            <a:ext cx="3801" cy="1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5" imgW="2628900" imgH="977900" progId="Equation.3">
                    <p:embed/>
                  </p:oleObj>
                </mc:Choice>
                <mc:Fallback>
                  <p:oleObj name="" r:id="rId5" imgW="2628900" imgH="977900" progId="Equation.3">
                    <p:embed/>
                    <p:pic>
                      <p:nvPicPr>
                        <p:cNvPr id="0" name="图片 2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94" y="2287"/>
                          <a:ext cx="3801" cy="14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7" name="Line 45"/>
            <p:cNvSpPr/>
            <p:nvPr/>
          </p:nvSpPr>
          <p:spPr>
            <a:xfrm>
              <a:off x="2064" y="3466"/>
              <a:ext cx="81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8" name="Line 48"/>
            <p:cNvSpPr/>
            <p:nvPr/>
          </p:nvSpPr>
          <p:spPr>
            <a:xfrm>
              <a:off x="1973" y="2985"/>
              <a:ext cx="453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9" name="Line 49"/>
            <p:cNvSpPr/>
            <p:nvPr/>
          </p:nvSpPr>
          <p:spPr>
            <a:xfrm>
              <a:off x="1973" y="2614"/>
              <a:ext cx="317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7" name="Rectangle 2"/>
          <p:cNvSpPr/>
          <p:nvPr/>
        </p:nvSpPr>
        <p:spPr>
          <a:xfrm>
            <a:off x="357188" y="5929313"/>
            <a:ext cx="60483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/>
            <a:r>
              <a:rPr lang="zh-CN" altLang="en-US" dirty="0">
                <a:latin typeface="楷体_GB2312" pitchFamily="49" charset="-122"/>
              </a:rPr>
              <a:t>乘除运算也可以采用代数式。</a:t>
            </a:r>
            <a:endParaRPr lang="zh-CN" altLang="en-US" u="sng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2000"/>
                                        <p:tgtEl>
                                          <p:spTgt spid="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2000"/>
                                        <p:tgtEl>
                                          <p:spTgt spid="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17" grpId="0"/>
      <p:bldP spid="21541" grpId="0" animBg="1"/>
      <p:bldP spid="21542" grpId="0" animBg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9" name="Text Box 11"/>
          <p:cNvSpPr txBox="1"/>
          <p:nvPr/>
        </p:nvSpPr>
        <p:spPr>
          <a:xfrm>
            <a:off x="611188" y="549275"/>
            <a:ext cx="1233487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1-1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8624" name="Object 16"/>
          <p:cNvGraphicFramePr/>
          <p:nvPr/>
        </p:nvGraphicFramePr>
        <p:xfrm>
          <a:off x="1619250" y="1268413"/>
          <a:ext cx="63373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2918460" imgH="254000" progId="Equation.3">
                  <p:embed/>
                </p:oleObj>
              </mc:Choice>
              <mc:Fallback>
                <p:oleObj name="" r:id="rId1" imgW="2918460" imgH="2540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1268413"/>
                        <a:ext cx="6337300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5" name="Object 17"/>
          <p:cNvGraphicFramePr/>
          <p:nvPr/>
        </p:nvGraphicFramePr>
        <p:xfrm>
          <a:off x="2484438" y="1916113"/>
          <a:ext cx="258445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1193800" imgH="228600" progId="Equation.3">
                  <p:embed/>
                </p:oleObj>
              </mc:Choice>
              <mc:Fallback>
                <p:oleObj name="" r:id="rId3" imgW="1193800" imgH="2286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1916113"/>
                        <a:ext cx="2584450" cy="490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7" name="Text Box 19"/>
          <p:cNvSpPr txBox="1"/>
          <p:nvPr/>
        </p:nvSpPr>
        <p:spPr>
          <a:xfrm>
            <a:off x="611188" y="1341438"/>
            <a:ext cx="719137" cy="519112"/>
          </a:xfrm>
          <a:prstGeom prst="rect">
            <a:avLst/>
          </a:prstGeom>
          <a:solidFill>
            <a:srgbClr val="990033"/>
          </a:solidFill>
          <a:ln w="254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110" name="Group 2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134" name="Picture 21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35" name="Text Box 2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111" name="Group 2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132" name="Picture 2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33" name="Text Box 2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68634" name="Text Box 26"/>
          <p:cNvSpPr txBox="1"/>
          <p:nvPr/>
        </p:nvSpPr>
        <p:spPr>
          <a:xfrm>
            <a:off x="539750" y="2636838"/>
            <a:ext cx="1223963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1-2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36" name="Text Box 28"/>
          <p:cNvSpPr txBox="1"/>
          <p:nvPr/>
        </p:nvSpPr>
        <p:spPr>
          <a:xfrm>
            <a:off x="539750" y="3644900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8637" name="Object 29"/>
          <p:cNvGraphicFramePr/>
          <p:nvPr/>
        </p:nvGraphicFramePr>
        <p:xfrm>
          <a:off x="1187450" y="3716338"/>
          <a:ext cx="323691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6" imgW="1560830" imgH="254000" progId="Equation.3">
                  <p:embed/>
                </p:oleObj>
              </mc:Choice>
              <mc:Fallback>
                <p:oleObj name="" r:id="rId6" imgW="1560830" imgH="2540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3716338"/>
                        <a:ext cx="3236913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40" name="Object 32"/>
          <p:cNvGraphicFramePr/>
          <p:nvPr/>
        </p:nvGraphicFramePr>
        <p:xfrm>
          <a:off x="1979613" y="5300663"/>
          <a:ext cx="48958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8" imgW="2362200" imgH="228600" progId="Equation.3">
                  <p:embed/>
                </p:oleObj>
              </mc:Choice>
              <mc:Fallback>
                <p:oleObj name="" r:id="rId8" imgW="2362200" imgH="2286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9613" y="5300663"/>
                        <a:ext cx="4895850" cy="471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14" name="Group 37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4130" name="Picture 38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31" name="Text Box 3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43"/>
          <p:cNvGrpSpPr/>
          <p:nvPr/>
        </p:nvGrpSpPr>
        <p:grpSpPr>
          <a:xfrm>
            <a:off x="2017713" y="579438"/>
            <a:ext cx="3163887" cy="557212"/>
            <a:chOff x="1271" y="365"/>
            <a:chExt cx="1993" cy="351"/>
          </a:xfrm>
        </p:grpSpPr>
        <p:graphicFrame>
          <p:nvGraphicFramePr>
            <p:cNvPr id="4107" name="Object 15"/>
            <p:cNvGraphicFramePr/>
            <p:nvPr/>
          </p:nvGraphicFramePr>
          <p:xfrm>
            <a:off x="1271" y="365"/>
            <a:ext cx="1993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0" imgW="1433830" imgH="254000" progId="Equation.3">
                    <p:embed/>
                  </p:oleObj>
                </mc:Choice>
                <mc:Fallback>
                  <p:oleObj name="" r:id="rId10" imgW="1433830" imgH="2540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71" y="365"/>
                          <a:ext cx="1993" cy="3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28" name="Line 40"/>
            <p:cNvSpPr/>
            <p:nvPr/>
          </p:nvSpPr>
          <p:spPr>
            <a:xfrm>
              <a:off x="1429" y="672"/>
              <a:ext cx="36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29" name="Line 41"/>
            <p:cNvSpPr/>
            <p:nvPr/>
          </p:nvSpPr>
          <p:spPr>
            <a:xfrm>
              <a:off x="2290" y="672"/>
              <a:ext cx="545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44"/>
          <p:cNvGrpSpPr/>
          <p:nvPr/>
        </p:nvGrpSpPr>
        <p:grpSpPr>
          <a:xfrm>
            <a:off x="5160963" y="1803400"/>
            <a:ext cx="2506662" cy="563563"/>
            <a:chOff x="3251" y="1136"/>
            <a:chExt cx="1579" cy="355"/>
          </a:xfrm>
        </p:grpSpPr>
        <p:graphicFrame>
          <p:nvGraphicFramePr>
            <p:cNvPr id="4106" name="Object 18"/>
            <p:cNvGraphicFramePr/>
            <p:nvPr/>
          </p:nvGraphicFramePr>
          <p:xfrm>
            <a:off x="3251" y="1136"/>
            <a:ext cx="1571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12" imgW="1116330" imgH="254000" progId="Equation.3">
                    <p:embed/>
                  </p:oleObj>
                </mc:Choice>
                <mc:Fallback>
                  <p:oleObj name="" r:id="rId12" imgW="1116330" imgH="2540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51" y="1136"/>
                          <a:ext cx="1571" cy="3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27" name="Line 42"/>
            <p:cNvSpPr/>
            <p:nvPr/>
          </p:nvSpPr>
          <p:spPr>
            <a:xfrm>
              <a:off x="4014" y="1434"/>
              <a:ext cx="81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50"/>
          <p:cNvGrpSpPr/>
          <p:nvPr/>
        </p:nvGrpSpPr>
        <p:grpSpPr>
          <a:xfrm>
            <a:off x="1652588" y="2492375"/>
            <a:ext cx="4894262" cy="998538"/>
            <a:chOff x="1041" y="1570"/>
            <a:chExt cx="3083" cy="629"/>
          </a:xfrm>
        </p:grpSpPr>
        <p:graphicFrame>
          <p:nvGraphicFramePr>
            <p:cNvPr id="4105" name="Object 27"/>
            <p:cNvGraphicFramePr/>
            <p:nvPr/>
          </p:nvGraphicFramePr>
          <p:xfrm>
            <a:off x="1041" y="1570"/>
            <a:ext cx="3083" cy="6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14" imgW="2360930" imgH="482600" progId="Equation.3">
                    <p:embed/>
                  </p:oleObj>
                </mc:Choice>
                <mc:Fallback>
                  <p:oleObj name="" r:id="rId14" imgW="2360930" imgH="4826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41" y="1570"/>
                          <a:ext cx="3083" cy="6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26" name="Line 46"/>
            <p:cNvSpPr/>
            <p:nvPr/>
          </p:nvSpPr>
          <p:spPr>
            <a:xfrm>
              <a:off x="1610" y="1988"/>
              <a:ext cx="317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51"/>
          <p:cNvGrpSpPr/>
          <p:nvPr/>
        </p:nvGrpSpPr>
        <p:grpSpPr>
          <a:xfrm>
            <a:off x="4572000" y="3460750"/>
            <a:ext cx="4106863" cy="1054100"/>
            <a:chOff x="2880" y="2180"/>
            <a:chExt cx="2587" cy="664"/>
          </a:xfrm>
        </p:grpSpPr>
        <p:graphicFrame>
          <p:nvGraphicFramePr>
            <p:cNvPr id="4104" name="Object 30"/>
            <p:cNvGraphicFramePr/>
            <p:nvPr/>
          </p:nvGraphicFramePr>
          <p:xfrm>
            <a:off x="2880" y="2180"/>
            <a:ext cx="2587" cy="6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6" imgW="1981200" imgH="508000" progId="Equation.3">
                    <p:embed/>
                  </p:oleObj>
                </mc:Choice>
                <mc:Fallback>
                  <p:oleObj name="" r:id="rId16" imgW="1981200" imgH="5080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80" y="2180"/>
                          <a:ext cx="2587" cy="6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23" name="Line 47"/>
            <p:cNvSpPr/>
            <p:nvPr/>
          </p:nvSpPr>
          <p:spPr>
            <a:xfrm>
              <a:off x="4858" y="2469"/>
              <a:ext cx="499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24" name="Line 48"/>
            <p:cNvSpPr/>
            <p:nvPr/>
          </p:nvSpPr>
          <p:spPr>
            <a:xfrm>
              <a:off x="4195" y="2795"/>
              <a:ext cx="68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25" name="Line 49"/>
            <p:cNvSpPr/>
            <p:nvPr/>
          </p:nvSpPr>
          <p:spPr>
            <a:xfrm>
              <a:off x="3588" y="2469"/>
              <a:ext cx="54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54"/>
          <p:cNvGrpSpPr/>
          <p:nvPr/>
        </p:nvGrpSpPr>
        <p:grpSpPr>
          <a:xfrm>
            <a:off x="2032000" y="4581525"/>
            <a:ext cx="4916488" cy="527050"/>
            <a:chOff x="1280" y="2886"/>
            <a:chExt cx="3097" cy="332"/>
          </a:xfrm>
        </p:grpSpPr>
        <p:graphicFrame>
          <p:nvGraphicFramePr>
            <p:cNvPr id="4103" name="Object 31"/>
            <p:cNvGraphicFramePr/>
            <p:nvPr/>
          </p:nvGraphicFramePr>
          <p:xfrm>
            <a:off x="1280" y="2886"/>
            <a:ext cx="3097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18" imgW="2258695" imgH="254000" progId="Equation.3">
                    <p:embed/>
                  </p:oleObj>
                </mc:Choice>
                <mc:Fallback>
                  <p:oleObj name="" r:id="rId18" imgW="2258695" imgH="2540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80" y="2886"/>
                          <a:ext cx="3097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22" name="Line 52"/>
            <p:cNvSpPr/>
            <p:nvPr/>
          </p:nvSpPr>
          <p:spPr>
            <a:xfrm>
              <a:off x="3633" y="3176"/>
              <a:ext cx="68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55"/>
          <p:cNvGrpSpPr/>
          <p:nvPr/>
        </p:nvGrpSpPr>
        <p:grpSpPr>
          <a:xfrm>
            <a:off x="2036763" y="5876925"/>
            <a:ext cx="4210050" cy="528638"/>
            <a:chOff x="1283" y="3702"/>
            <a:chExt cx="2652" cy="333"/>
          </a:xfrm>
        </p:grpSpPr>
        <p:graphicFrame>
          <p:nvGraphicFramePr>
            <p:cNvPr id="4102" name="Object 33"/>
            <p:cNvGraphicFramePr/>
            <p:nvPr/>
          </p:nvGraphicFramePr>
          <p:xfrm>
            <a:off x="1283" y="3702"/>
            <a:ext cx="2652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20" imgW="2030095" imgH="254000" progId="Equation.3">
                    <p:embed/>
                  </p:oleObj>
                </mc:Choice>
                <mc:Fallback>
                  <p:oleObj name="" r:id="rId20" imgW="2030095" imgH="2540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83" y="3702"/>
                          <a:ext cx="2652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21" name="Line 53"/>
            <p:cNvSpPr/>
            <p:nvPr/>
          </p:nvSpPr>
          <p:spPr>
            <a:xfrm>
              <a:off x="3524" y="3983"/>
              <a:ext cx="363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8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8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8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8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8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8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6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8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8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8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8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8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8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8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8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6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6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9" grpId="0"/>
      <p:bldP spid="68627" grpId="0" animBg="1"/>
      <p:bldP spid="68634" grpId="0"/>
      <p:bldP spid="686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4" name="Text Box 4"/>
          <p:cNvSpPr txBox="1"/>
          <p:nvPr/>
        </p:nvSpPr>
        <p:spPr>
          <a:xfrm>
            <a:off x="827088" y="549275"/>
            <a:ext cx="27368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buAutoNum type="circleNumDbPlain" startAt="3"/>
            </a:pPr>
            <a:r>
              <a:rPr lang="zh-CN" altLang="en-US" dirty="0">
                <a:latin typeface="楷体_GB2312" pitchFamily="49" charset="-122"/>
              </a:rPr>
              <a:t>旋转因子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20486" name="Text Box 6"/>
          <p:cNvSpPr txBox="1"/>
          <p:nvPr/>
        </p:nvSpPr>
        <p:spPr>
          <a:xfrm>
            <a:off x="1258888" y="2133600"/>
            <a:ext cx="1584325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952500" indent="-952500" algn="just">
              <a:lnSpc>
                <a:spcPct val="120000"/>
              </a:lnSpc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• e</a:t>
            </a:r>
            <a:r>
              <a:rPr lang="en-US" altLang="zh-CN" sz="32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3200" b="0" i="1" baseline="3000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q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44"/>
          <p:cNvGrpSpPr/>
          <p:nvPr/>
        </p:nvGrpSpPr>
        <p:grpSpPr>
          <a:xfrm>
            <a:off x="2916238" y="1916113"/>
            <a:ext cx="3889375" cy="2608262"/>
            <a:chOff x="1837" y="1207"/>
            <a:chExt cx="2450" cy="1643"/>
          </a:xfrm>
        </p:grpSpPr>
        <p:sp>
          <p:nvSpPr>
            <p:cNvPr id="50196" name="Line 14"/>
            <p:cNvSpPr/>
            <p:nvPr/>
          </p:nvSpPr>
          <p:spPr>
            <a:xfrm flipV="1">
              <a:off x="1871" y="2523"/>
              <a:ext cx="2370" cy="11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197" name="Line 15"/>
            <p:cNvSpPr/>
            <p:nvPr/>
          </p:nvSpPr>
          <p:spPr>
            <a:xfrm flipH="1" flipV="1">
              <a:off x="2064" y="1298"/>
              <a:ext cx="20" cy="1428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198" name="Line 17"/>
            <p:cNvSpPr/>
            <p:nvPr/>
          </p:nvSpPr>
          <p:spPr>
            <a:xfrm flipV="1">
              <a:off x="2084" y="2115"/>
              <a:ext cx="1975" cy="419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199" name="Line 20"/>
            <p:cNvSpPr/>
            <p:nvPr/>
          </p:nvSpPr>
          <p:spPr>
            <a:xfrm flipV="1">
              <a:off x="2109" y="1298"/>
              <a:ext cx="1315" cy="1215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0" name="Text Box 21"/>
            <p:cNvSpPr txBox="1"/>
            <p:nvPr/>
          </p:nvSpPr>
          <p:spPr>
            <a:xfrm>
              <a:off x="3878" y="2160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01" name="Text Box 23"/>
            <p:cNvSpPr txBox="1"/>
            <p:nvPr/>
          </p:nvSpPr>
          <p:spPr>
            <a:xfrm>
              <a:off x="3923" y="2523"/>
              <a:ext cx="36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02" name="Text Box 24"/>
            <p:cNvSpPr txBox="1"/>
            <p:nvPr/>
          </p:nvSpPr>
          <p:spPr>
            <a:xfrm>
              <a:off x="2154" y="1253"/>
              <a:ext cx="3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Im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03" name="Text Box 25"/>
            <p:cNvSpPr txBox="1"/>
            <p:nvPr/>
          </p:nvSpPr>
          <p:spPr>
            <a:xfrm>
              <a:off x="1837" y="2586"/>
              <a:ext cx="232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04" name="Text Box 26"/>
            <p:cNvSpPr txBox="1"/>
            <p:nvPr/>
          </p:nvSpPr>
          <p:spPr>
            <a:xfrm>
              <a:off x="3379" y="1207"/>
              <a:ext cx="772" cy="38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marL="952500" indent="-952500" algn="just">
                <a:lnSpc>
                  <a:spcPct val="120000"/>
                </a:lnSpc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• e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en-US" altLang="zh-CN" b="0" i="1" baseline="3000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q</a:t>
              </a:r>
              <a:endPara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05" name="Freeform 27"/>
            <p:cNvSpPr/>
            <p:nvPr/>
          </p:nvSpPr>
          <p:spPr>
            <a:xfrm>
              <a:off x="2426" y="2205"/>
              <a:ext cx="159" cy="211"/>
            </a:xfrm>
            <a:custGeom>
              <a:avLst/>
              <a:gdLst>
                <a:gd name="txL" fmla="*/ 0 w 159"/>
                <a:gd name="txT" fmla="*/ 0 h 211"/>
                <a:gd name="txR" fmla="*/ 159 w 159"/>
                <a:gd name="txB" fmla="*/ 211 h 211"/>
              </a:gdLst>
              <a:ahLst/>
              <a:cxnLst>
                <a:cxn ang="0">
                  <a:pos x="0" y="30"/>
                </a:cxn>
                <a:cxn ang="0">
                  <a:pos x="136" y="30"/>
                </a:cxn>
                <a:cxn ang="0">
                  <a:pos x="136" y="211"/>
                </a:cxn>
              </a:cxnLst>
              <a:rect l="txL" t="txT" r="txR" b="txB"/>
              <a:pathLst>
                <a:path w="159" h="211">
                  <a:moveTo>
                    <a:pt x="0" y="30"/>
                  </a:moveTo>
                  <a:cubicBezTo>
                    <a:pt x="56" y="15"/>
                    <a:pt x="113" y="0"/>
                    <a:pt x="136" y="30"/>
                  </a:cubicBezTo>
                  <a:cubicBezTo>
                    <a:pt x="159" y="60"/>
                    <a:pt x="136" y="181"/>
                    <a:pt x="136" y="211"/>
                  </a:cubicBezTo>
                </a:path>
              </a:pathLst>
            </a:custGeom>
            <a:noFill/>
            <a:ln w="2857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0206" name="Text Box 28"/>
            <p:cNvSpPr txBox="1"/>
            <p:nvPr/>
          </p:nvSpPr>
          <p:spPr>
            <a:xfrm>
              <a:off x="2699" y="1979"/>
              <a:ext cx="40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  <a:sym typeface="Symbol" panose="05050102010706020507" pitchFamily="18" charset="2"/>
                </a:rPr>
                <a:t></a:t>
              </a:r>
              <a:endParaRPr lang="en-US" altLang="zh-CN" b="0" i="1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0181" name="Group 3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0194" name="Picture 3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195" name="Text Box 3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0182" name="Group 3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0192" name="Picture 3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193" name="Text Box 3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0528" name="AutoShape 48" descr="羊皮纸"/>
          <p:cNvSpPr/>
          <p:nvPr/>
        </p:nvSpPr>
        <p:spPr>
          <a:xfrm>
            <a:off x="827088" y="3573463"/>
            <a:ext cx="1944687" cy="576262"/>
          </a:xfrm>
          <a:prstGeom prst="wedgeRoundRectCallout">
            <a:avLst>
              <a:gd name="adj1" fmla="val 7468"/>
              <a:gd name="adj2" fmla="val -193250"/>
              <a:gd name="adj3" fmla="val 16667"/>
            </a:avLst>
          </a:prstGeom>
          <a:blipFill rotWithShape="1">
            <a:blip r:embed="rId2"/>
          </a:blipFill>
          <a:ln w="9525">
            <a:noFill/>
          </a:ln>
        </p:spPr>
        <p:txBody>
          <a:bodyPr/>
          <a:p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旋转因子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50184" name="Group 52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0190" name="Picture 5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191" name="Text Box 5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63"/>
          <p:cNvGrpSpPr/>
          <p:nvPr/>
        </p:nvGrpSpPr>
        <p:grpSpPr>
          <a:xfrm>
            <a:off x="971550" y="1196975"/>
            <a:ext cx="5616575" cy="579438"/>
            <a:chOff x="612" y="754"/>
            <a:chExt cx="3538" cy="365"/>
          </a:xfrm>
        </p:grpSpPr>
        <p:sp>
          <p:nvSpPr>
            <p:cNvPr id="50186" name="Text Box 5"/>
            <p:cNvSpPr txBox="1"/>
            <p:nvPr/>
          </p:nvSpPr>
          <p:spPr>
            <a:xfrm>
              <a:off x="612" y="754"/>
              <a:ext cx="353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复数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32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en-US" altLang="zh-CN" sz="3200" b="0" i="1" baseline="3000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q</a:t>
              </a:r>
              <a:r>
                <a:rPr lang="en-US" altLang="zh-CN" sz="3200" b="0" baseline="3000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 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=cos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q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+jsin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q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=1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q</a:t>
              </a:r>
              <a:endPara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grpSp>
          <p:nvGrpSpPr>
            <p:cNvPr id="50187" name="Group 62"/>
            <p:cNvGrpSpPr/>
            <p:nvPr/>
          </p:nvGrpSpPr>
          <p:grpSpPr>
            <a:xfrm>
              <a:off x="3425" y="844"/>
              <a:ext cx="317" cy="227"/>
              <a:chOff x="3379" y="799"/>
              <a:chExt cx="317" cy="227"/>
            </a:xfrm>
          </p:grpSpPr>
          <p:sp>
            <p:nvSpPr>
              <p:cNvPr id="50188" name="Line 60"/>
              <p:cNvSpPr/>
              <p:nvPr/>
            </p:nvSpPr>
            <p:spPr>
              <a:xfrm flipH="1">
                <a:off x="3379" y="799"/>
                <a:ext cx="91" cy="227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189" name="Line 61"/>
              <p:cNvSpPr/>
              <p:nvPr/>
            </p:nvSpPr>
            <p:spPr>
              <a:xfrm>
                <a:off x="3379" y="1026"/>
                <a:ext cx="317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20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86" grpId="0"/>
      <p:bldP spid="205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458" name="Object 2"/>
          <p:cNvGraphicFramePr/>
          <p:nvPr/>
        </p:nvGraphicFramePr>
        <p:xfrm>
          <a:off x="468313" y="1484313"/>
          <a:ext cx="5184775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2475230" imgH="444500" progId="Equation.3">
                  <p:embed/>
                </p:oleObj>
              </mc:Choice>
              <mc:Fallback>
                <p:oleObj name="" r:id="rId1" imgW="2475230" imgH="4445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1484313"/>
                        <a:ext cx="5184775" cy="931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/>
          <p:nvPr/>
        </p:nvGraphicFramePr>
        <p:xfrm>
          <a:off x="684213" y="3716338"/>
          <a:ext cx="662463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2970530" imgH="444500" progId="Equation.3">
                  <p:embed/>
                </p:oleObj>
              </mc:Choice>
              <mc:Fallback>
                <p:oleObj name="" r:id="rId3" imgW="2970530" imgH="4445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3716338"/>
                        <a:ext cx="6624637" cy="987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/>
          <p:nvPr/>
        </p:nvGraphicFramePr>
        <p:xfrm>
          <a:off x="684213" y="4797425"/>
          <a:ext cx="67691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5" imgW="2854960" imgH="254000" progId="Equation.3">
                  <p:embed/>
                </p:oleObj>
              </mc:Choice>
              <mc:Fallback>
                <p:oleObj name="" r:id="rId5" imgW="2854960" imgH="2540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4797425"/>
                        <a:ext cx="6769100" cy="601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5"/>
          <p:cNvSpPr txBox="1"/>
          <p:nvPr/>
        </p:nvSpPr>
        <p:spPr>
          <a:xfrm>
            <a:off x="1908175" y="5661025"/>
            <a:ext cx="54006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zh-CN" dirty="0">
                <a:latin typeface="楷体_GB2312" pitchFamily="49" charset="-122"/>
              </a:rPr>
              <a:t> </a:t>
            </a:r>
            <a:r>
              <a:rPr lang="zh-CN" altLang="zh-CN" b="0" dirty="0">
                <a:latin typeface="Times New Roman" panose="02020603050405020304" pitchFamily="18" charset="0"/>
              </a:rPr>
              <a:t>+</a:t>
            </a:r>
            <a:r>
              <a:rPr lang="en-US" altLang="zh-CN" b="0" dirty="0">
                <a:latin typeface="Times New Roman" panose="02020603050405020304" pitchFamily="18" charset="0"/>
              </a:rPr>
              <a:t>j, –j, 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b="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zh-CN" dirty="0">
                <a:latin typeface="楷体_GB2312" pitchFamily="49" charset="-122"/>
              </a:rPr>
              <a:t>都可以看成旋转因子。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19462" name="Text Box 6" descr="绿色大理石"/>
          <p:cNvSpPr txBox="1"/>
          <p:nvPr/>
        </p:nvSpPr>
        <p:spPr>
          <a:xfrm>
            <a:off x="827088" y="620713"/>
            <a:ext cx="2592387" cy="519112"/>
          </a:xfrm>
          <a:prstGeom prst="rect">
            <a:avLst/>
          </a:prstGeom>
          <a:blipFill rotWithShape="1">
            <a:blip r:embed="rId7"/>
          </a:blip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特殊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旋转因子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pSp>
        <p:nvGrpSpPr>
          <p:cNvPr id="2" name="Group 39"/>
          <p:cNvGrpSpPr/>
          <p:nvPr/>
        </p:nvGrpSpPr>
        <p:grpSpPr>
          <a:xfrm>
            <a:off x="5553075" y="476250"/>
            <a:ext cx="3411538" cy="3238500"/>
            <a:chOff x="2971" y="164"/>
            <a:chExt cx="2149" cy="2040"/>
          </a:xfrm>
        </p:grpSpPr>
        <p:sp>
          <p:nvSpPr>
            <p:cNvPr id="5150" name="Line 8"/>
            <p:cNvSpPr/>
            <p:nvPr/>
          </p:nvSpPr>
          <p:spPr>
            <a:xfrm>
              <a:off x="2971" y="1353"/>
              <a:ext cx="1988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1" name="Line 9"/>
            <p:cNvSpPr/>
            <p:nvPr/>
          </p:nvSpPr>
          <p:spPr>
            <a:xfrm flipV="1">
              <a:off x="3965" y="373"/>
              <a:ext cx="0" cy="1831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2" name="Line 10"/>
            <p:cNvSpPr/>
            <p:nvPr/>
          </p:nvSpPr>
          <p:spPr>
            <a:xfrm flipV="1">
              <a:off x="3965" y="618"/>
              <a:ext cx="729" cy="735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3" name="Text Box 11"/>
            <p:cNvSpPr txBox="1"/>
            <p:nvPr/>
          </p:nvSpPr>
          <p:spPr>
            <a:xfrm>
              <a:off x="4756" y="1312"/>
              <a:ext cx="36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54" name="Text Box 12"/>
            <p:cNvSpPr txBox="1"/>
            <p:nvPr/>
          </p:nvSpPr>
          <p:spPr>
            <a:xfrm>
              <a:off x="4014" y="164"/>
              <a:ext cx="3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Im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55" name="Text Box 13"/>
            <p:cNvSpPr txBox="1"/>
            <p:nvPr/>
          </p:nvSpPr>
          <p:spPr>
            <a:xfrm>
              <a:off x="3969" y="1407"/>
              <a:ext cx="232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28" name="Object 14"/>
            <p:cNvGraphicFramePr/>
            <p:nvPr/>
          </p:nvGraphicFramePr>
          <p:xfrm>
            <a:off x="4704" y="462"/>
            <a:ext cx="252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8" imgW="177800" imgH="177800" progId="Equation.3">
                    <p:embed/>
                  </p:oleObj>
                </mc:Choice>
                <mc:Fallback>
                  <p:oleObj name="" r:id="rId8" imgW="177800" imgH="1778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04" y="462"/>
                          <a:ext cx="252" cy="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8"/>
          <p:cNvGrpSpPr/>
          <p:nvPr/>
        </p:nvGrpSpPr>
        <p:grpSpPr>
          <a:xfrm>
            <a:off x="5438775" y="787400"/>
            <a:ext cx="1670050" cy="1582738"/>
            <a:chOff x="2899" y="372"/>
            <a:chExt cx="1052" cy="997"/>
          </a:xfrm>
        </p:grpSpPr>
        <p:sp>
          <p:nvSpPr>
            <p:cNvPr id="5149" name="Line 16"/>
            <p:cNvSpPr/>
            <p:nvPr/>
          </p:nvSpPr>
          <p:spPr>
            <a:xfrm rot="-5400000" flipV="1">
              <a:off x="3221" y="639"/>
              <a:ext cx="706" cy="753"/>
            </a:xfrm>
            <a:prstGeom prst="line">
              <a:avLst/>
            </a:prstGeom>
            <a:ln w="28575" cap="flat" cmpd="sng">
              <a:solidFill>
                <a:srgbClr val="CCFF99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5127" name="Object 17"/>
            <p:cNvGraphicFramePr/>
            <p:nvPr/>
          </p:nvGraphicFramePr>
          <p:xfrm>
            <a:off x="2899" y="372"/>
            <a:ext cx="50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10" imgW="368300" imgH="228600" progId="Equation.3">
                    <p:embed/>
                  </p:oleObj>
                </mc:Choice>
                <mc:Fallback>
                  <p:oleObj name="" r:id="rId10" imgW="368300" imgH="2286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99" y="372"/>
                          <a:ext cx="505" cy="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41"/>
          <p:cNvGrpSpPr/>
          <p:nvPr/>
        </p:nvGrpSpPr>
        <p:grpSpPr>
          <a:xfrm>
            <a:off x="7137400" y="2401888"/>
            <a:ext cx="1665288" cy="1079500"/>
            <a:chOff x="3969" y="1389"/>
            <a:chExt cx="1049" cy="680"/>
          </a:xfrm>
        </p:grpSpPr>
        <p:sp>
          <p:nvSpPr>
            <p:cNvPr id="5148" name="Line 19"/>
            <p:cNvSpPr/>
            <p:nvPr/>
          </p:nvSpPr>
          <p:spPr>
            <a:xfrm rot="5400000" flipV="1">
              <a:off x="3991" y="1366"/>
              <a:ext cx="680" cy="725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5126" name="Object 20"/>
            <p:cNvGraphicFramePr/>
            <p:nvPr/>
          </p:nvGraphicFramePr>
          <p:xfrm>
            <a:off x="4574" y="1775"/>
            <a:ext cx="444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12" imgW="368300" imgH="228600" progId="Equation.3">
                    <p:embed/>
                  </p:oleObj>
                </mc:Choice>
                <mc:Fallback>
                  <p:oleObj name="" r:id="rId12" imgW="368300" imgH="2286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74" y="1775"/>
                          <a:ext cx="444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51"/>
          <p:cNvGrpSpPr/>
          <p:nvPr/>
        </p:nvGrpSpPr>
        <p:grpSpPr>
          <a:xfrm>
            <a:off x="6011863" y="2349500"/>
            <a:ext cx="1131887" cy="1279525"/>
            <a:chOff x="3787" y="1480"/>
            <a:chExt cx="713" cy="806"/>
          </a:xfrm>
        </p:grpSpPr>
        <p:sp>
          <p:nvSpPr>
            <p:cNvPr id="5147" name="Line 22"/>
            <p:cNvSpPr/>
            <p:nvPr/>
          </p:nvSpPr>
          <p:spPr>
            <a:xfrm rot="-10800000" flipV="1">
              <a:off x="3787" y="1480"/>
              <a:ext cx="713" cy="725"/>
            </a:xfrm>
            <a:prstGeom prst="line">
              <a:avLst/>
            </a:prstGeom>
            <a:ln w="28575" cap="flat" cmpd="sng">
              <a:solidFill>
                <a:srgbClr val="FF66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5125" name="Object 23"/>
            <p:cNvGraphicFramePr/>
            <p:nvPr/>
          </p:nvGraphicFramePr>
          <p:xfrm>
            <a:off x="3923" y="2069"/>
            <a:ext cx="318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14" imgW="304165" imgH="177800" progId="Equation.3">
                    <p:embed/>
                  </p:oleObj>
                </mc:Choice>
                <mc:Fallback>
                  <p:oleObj name="" r:id="rId14" imgW="304165" imgH="1778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23" y="2069"/>
                          <a:ext cx="318" cy="2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5" name="Group 2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145" name="Picture 29" descr="78900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46" name="Text Box 3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136" name="Group 3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143" name="Picture 32" descr="78900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44" name="Text Box 3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" name="Group 42"/>
          <p:cNvGrpSpPr/>
          <p:nvPr/>
        </p:nvGrpSpPr>
        <p:grpSpPr>
          <a:xfrm>
            <a:off x="395288" y="5445125"/>
            <a:ext cx="1644650" cy="850900"/>
            <a:chOff x="385" y="3022"/>
            <a:chExt cx="1036" cy="536"/>
          </a:xfrm>
        </p:grpSpPr>
        <p:pic>
          <p:nvPicPr>
            <p:cNvPr id="5141" name="Picture 43" descr="123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42" name="Text Box 44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5138" name="Group 48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139" name="Picture 49" descr="78900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40" name="Text Box 5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/>
      <p:bldP spid="1946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8" name="Text Box 6"/>
          <p:cNvSpPr txBox="1"/>
          <p:nvPr/>
        </p:nvSpPr>
        <p:spPr>
          <a:xfrm>
            <a:off x="2627313" y="404813"/>
            <a:ext cx="403225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40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8-2</a:t>
            </a:r>
            <a:r>
              <a:rPr lang="en-US" altLang="zh-CN" sz="4000" dirty="0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zh-CN" altLang="en-US" sz="4000" dirty="0">
                <a:solidFill>
                  <a:schemeClr val="bg1"/>
                </a:solidFill>
                <a:latin typeface="楷体_GB2312" pitchFamily="49" charset="-122"/>
              </a:rPr>
              <a:t>正弦量</a:t>
            </a:r>
            <a:endParaRPr lang="zh-CN" altLang="en-US" sz="40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33799" name="Text Box 7"/>
          <p:cNvSpPr txBox="1"/>
          <p:nvPr/>
        </p:nvSpPr>
        <p:spPr>
          <a:xfrm>
            <a:off x="539750" y="1412875"/>
            <a:ext cx="28797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正弦量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33800" name="Text Box 8"/>
          <p:cNvSpPr txBox="1"/>
          <p:nvPr/>
        </p:nvSpPr>
        <p:spPr>
          <a:xfrm>
            <a:off x="684213" y="2060575"/>
            <a:ext cx="3024187" cy="547688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buSzPct val="85000"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9933"/>
                </a:solidFill>
                <a:latin typeface="楷体_GB2312" pitchFamily="49" charset="-122"/>
              </a:rPr>
              <a:t>瞬时值表达式</a:t>
            </a:r>
            <a:endParaRPr lang="zh-CN" altLang="en-US" dirty="0">
              <a:solidFill>
                <a:srgbClr val="FF9933"/>
              </a:solidFill>
              <a:latin typeface="楷体_GB2312" pitchFamily="49" charset="-122"/>
            </a:endParaRPr>
          </a:p>
        </p:txBody>
      </p:sp>
      <p:sp>
        <p:nvSpPr>
          <p:cNvPr id="33801" name="Text Box 9"/>
          <p:cNvSpPr txBox="1"/>
          <p:nvPr/>
        </p:nvSpPr>
        <p:spPr>
          <a:xfrm>
            <a:off x="755650" y="2781300"/>
            <a:ext cx="29972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cos(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3200" b="0" dirty="0">
              <a:solidFill>
                <a:schemeClr val="bg1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grpSp>
        <p:nvGrpSpPr>
          <p:cNvPr id="2" name="Group 69"/>
          <p:cNvGrpSpPr/>
          <p:nvPr/>
        </p:nvGrpSpPr>
        <p:grpSpPr>
          <a:xfrm>
            <a:off x="4140200" y="1052513"/>
            <a:ext cx="4465638" cy="2447925"/>
            <a:chOff x="3023" y="783"/>
            <a:chExt cx="2292" cy="1403"/>
          </a:xfrm>
        </p:grpSpPr>
        <p:sp>
          <p:nvSpPr>
            <p:cNvPr id="6170" name="Freeform 22"/>
            <p:cNvSpPr/>
            <p:nvPr/>
          </p:nvSpPr>
          <p:spPr>
            <a:xfrm>
              <a:off x="3295" y="1361"/>
              <a:ext cx="137" cy="284"/>
            </a:xfrm>
            <a:custGeom>
              <a:avLst/>
              <a:gdLst>
                <a:gd name="txL" fmla="*/ 0 w 118"/>
                <a:gd name="txT" fmla="*/ 0 h 274"/>
                <a:gd name="txR" fmla="*/ 118 w 118"/>
                <a:gd name="txB" fmla="*/ 274 h 274"/>
              </a:gdLst>
              <a:ahLst/>
              <a:cxnLst>
                <a:cxn ang="0">
                  <a:pos x="0" y="284"/>
                </a:cxn>
                <a:cxn ang="0">
                  <a:pos x="15" y="249"/>
                </a:cxn>
                <a:cxn ang="0">
                  <a:pos x="34" y="207"/>
                </a:cxn>
                <a:cxn ang="0">
                  <a:pos x="69" y="132"/>
                </a:cxn>
                <a:cxn ang="0">
                  <a:pos x="87" y="93"/>
                </a:cxn>
                <a:cxn ang="0">
                  <a:pos x="103" y="58"/>
                </a:cxn>
                <a:cxn ang="0">
                  <a:pos x="122" y="28"/>
                </a:cxn>
                <a:cxn ang="0">
                  <a:pos x="137" y="0"/>
                </a:cxn>
              </a:cxnLst>
              <a:rect l="txL" t="txT" r="txR" b="txB"/>
              <a:pathLst>
                <a:path w="118" h="274">
                  <a:moveTo>
                    <a:pt x="0" y="274"/>
                  </a:moveTo>
                  <a:lnTo>
                    <a:pt x="13" y="240"/>
                  </a:lnTo>
                  <a:lnTo>
                    <a:pt x="29" y="200"/>
                  </a:lnTo>
                  <a:lnTo>
                    <a:pt x="59" y="127"/>
                  </a:lnTo>
                  <a:lnTo>
                    <a:pt x="75" y="90"/>
                  </a:lnTo>
                  <a:lnTo>
                    <a:pt x="89" y="56"/>
                  </a:lnTo>
                  <a:lnTo>
                    <a:pt x="105" y="27"/>
                  </a:lnTo>
                  <a:lnTo>
                    <a:pt x="118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171" name="Freeform 23"/>
            <p:cNvSpPr/>
            <p:nvPr/>
          </p:nvSpPr>
          <p:spPr>
            <a:xfrm>
              <a:off x="3432" y="1244"/>
              <a:ext cx="135" cy="117"/>
            </a:xfrm>
            <a:custGeom>
              <a:avLst/>
              <a:gdLst>
                <a:gd name="txL" fmla="*/ 0 w 116"/>
                <a:gd name="txT" fmla="*/ 0 h 113"/>
                <a:gd name="txR" fmla="*/ 116 w 116"/>
                <a:gd name="txB" fmla="*/ 113 h 113"/>
              </a:gdLst>
              <a:ahLst/>
              <a:cxnLst>
                <a:cxn ang="0">
                  <a:pos x="0" y="117"/>
                </a:cxn>
                <a:cxn ang="0">
                  <a:pos x="16" y="91"/>
                </a:cxn>
                <a:cxn ang="0">
                  <a:pos x="35" y="71"/>
                </a:cxn>
                <a:cxn ang="0">
                  <a:pos x="51" y="51"/>
                </a:cxn>
                <a:cxn ang="0">
                  <a:pos x="66" y="33"/>
                </a:cxn>
                <a:cxn ang="0">
                  <a:pos x="85" y="21"/>
                </a:cxn>
                <a:cxn ang="0">
                  <a:pos x="101" y="8"/>
                </a:cxn>
                <a:cxn ang="0">
                  <a:pos x="120" y="3"/>
                </a:cxn>
                <a:cxn ang="0">
                  <a:pos x="135" y="0"/>
                </a:cxn>
              </a:cxnLst>
              <a:rect l="txL" t="txT" r="txR" b="txB"/>
              <a:pathLst>
                <a:path w="116" h="113">
                  <a:moveTo>
                    <a:pt x="0" y="113"/>
                  </a:moveTo>
                  <a:lnTo>
                    <a:pt x="14" y="88"/>
                  </a:lnTo>
                  <a:lnTo>
                    <a:pt x="30" y="69"/>
                  </a:lnTo>
                  <a:lnTo>
                    <a:pt x="44" y="49"/>
                  </a:lnTo>
                  <a:lnTo>
                    <a:pt x="57" y="32"/>
                  </a:lnTo>
                  <a:lnTo>
                    <a:pt x="73" y="20"/>
                  </a:lnTo>
                  <a:lnTo>
                    <a:pt x="87" y="8"/>
                  </a:lnTo>
                  <a:lnTo>
                    <a:pt x="103" y="3"/>
                  </a:lnTo>
                  <a:lnTo>
                    <a:pt x="116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172" name="Freeform 24"/>
            <p:cNvSpPr/>
            <p:nvPr/>
          </p:nvSpPr>
          <p:spPr>
            <a:xfrm>
              <a:off x="3567" y="1244"/>
              <a:ext cx="139" cy="117"/>
            </a:xfrm>
            <a:custGeom>
              <a:avLst/>
              <a:gdLst>
                <a:gd name="txL" fmla="*/ 0 w 119"/>
                <a:gd name="txT" fmla="*/ 0 h 113"/>
                <a:gd name="txR" fmla="*/ 119 w 119"/>
                <a:gd name="txB" fmla="*/ 113 h 113"/>
              </a:gdLst>
              <a:ahLst/>
              <a:cxnLst>
                <a:cxn ang="0">
                  <a:pos x="0" y="0"/>
                </a:cxn>
                <a:cxn ang="0">
                  <a:pos x="16" y="3"/>
                </a:cxn>
                <a:cxn ang="0">
                  <a:pos x="35" y="8"/>
                </a:cxn>
                <a:cxn ang="0">
                  <a:pos x="51" y="21"/>
                </a:cxn>
                <a:cxn ang="0">
                  <a:pos x="70" y="33"/>
                </a:cxn>
                <a:cxn ang="0">
                  <a:pos x="89" y="51"/>
                </a:cxn>
                <a:cxn ang="0">
                  <a:pos x="105" y="71"/>
                </a:cxn>
                <a:cxn ang="0">
                  <a:pos x="124" y="91"/>
                </a:cxn>
                <a:cxn ang="0">
                  <a:pos x="139" y="117"/>
                </a:cxn>
              </a:cxnLst>
              <a:rect l="txL" t="txT" r="txR" b="txB"/>
              <a:pathLst>
                <a:path w="119" h="113">
                  <a:moveTo>
                    <a:pt x="0" y="0"/>
                  </a:moveTo>
                  <a:lnTo>
                    <a:pt x="14" y="3"/>
                  </a:lnTo>
                  <a:lnTo>
                    <a:pt x="30" y="8"/>
                  </a:lnTo>
                  <a:lnTo>
                    <a:pt x="44" y="20"/>
                  </a:lnTo>
                  <a:lnTo>
                    <a:pt x="60" y="32"/>
                  </a:lnTo>
                  <a:lnTo>
                    <a:pt x="76" y="49"/>
                  </a:lnTo>
                  <a:lnTo>
                    <a:pt x="90" y="69"/>
                  </a:lnTo>
                  <a:lnTo>
                    <a:pt x="106" y="88"/>
                  </a:lnTo>
                  <a:lnTo>
                    <a:pt x="119" y="113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173" name="Freeform 25"/>
            <p:cNvSpPr/>
            <p:nvPr/>
          </p:nvSpPr>
          <p:spPr>
            <a:xfrm>
              <a:off x="3706" y="1361"/>
              <a:ext cx="135" cy="284"/>
            </a:xfrm>
            <a:custGeom>
              <a:avLst/>
              <a:gdLst>
                <a:gd name="txL" fmla="*/ 0 w 116"/>
                <a:gd name="txT" fmla="*/ 0 h 274"/>
                <a:gd name="txR" fmla="*/ 116 w 116"/>
                <a:gd name="txB" fmla="*/ 274 h 274"/>
              </a:gdLst>
              <a:ahLst/>
              <a:cxnLst>
                <a:cxn ang="0">
                  <a:pos x="0" y="0"/>
                </a:cxn>
                <a:cxn ang="0">
                  <a:pos x="16" y="28"/>
                </a:cxn>
                <a:cxn ang="0">
                  <a:pos x="35" y="58"/>
                </a:cxn>
                <a:cxn ang="0">
                  <a:pos x="50" y="93"/>
                </a:cxn>
                <a:cxn ang="0">
                  <a:pos x="66" y="132"/>
                </a:cxn>
                <a:cxn ang="0">
                  <a:pos x="101" y="210"/>
                </a:cxn>
                <a:cxn ang="0">
                  <a:pos x="120" y="249"/>
                </a:cxn>
                <a:cxn ang="0">
                  <a:pos x="135" y="284"/>
                </a:cxn>
              </a:cxnLst>
              <a:rect l="txL" t="txT" r="txR" b="txB"/>
              <a:pathLst>
                <a:path w="116" h="274">
                  <a:moveTo>
                    <a:pt x="0" y="0"/>
                  </a:moveTo>
                  <a:lnTo>
                    <a:pt x="14" y="27"/>
                  </a:lnTo>
                  <a:lnTo>
                    <a:pt x="30" y="56"/>
                  </a:lnTo>
                  <a:lnTo>
                    <a:pt x="43" y="90"/>
                  </a:lnTo>
                  <a:lnTo>
                    <a:pt x="57" y="127"/>
                  </a:lnTo>
                  <a:lnTo>
                    <a:pt x="87" y="203"/>
                  </a:lnTo>
                  <a:lnTo>
                    <a:pt x="103" y="240"/>
                  </a:lnTo>
                  <a:lnTo>
                    <a:pt x="116" y="274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174" name="Freeform 26"/>
            <p:cNvSpPr/>
            <p:nvPr/>
          </p:nvSpPr>
          <p:spPr>
            <a:xfrm>
              <a:off x="3841" y="1645"/>
              <a:ext cx="138" cy="280"/>
            </a:xfrm>
            <a:custGeom>
              <a:avLst/>
              <a:gdLst>
                <a:gd name="txL" fmla="*/ 0 w 119"/>
                <a:gd name="txT" fmla="*/ 0 h 271"/>
                <a:gd name="txR" fmla="*/ 119 w 119"/>
                <a:gd name="txB" fmla="*/ 271 h 271"/>
              </a:gdLst>
              <a:ahLst/>
              <a:cxnLst>
                <a:cxn ang="0">
                  <a:pos x="0" y="0"/>
                </a:cxn>
                <a:cxn ang="0">
                  <a:pos x="16" y="35"/>
                </a:cxn>
                <a:cxn ang="0">
                  <a:pos x="35" y="73"/>
                </a:cxn>
                <a:cxn ang="0">
                  <a:pos x="70" y="151"/>
                </a:cxn>
                <a:cxn ang="0">
                  <a:pos x="88" y="187"/>
                </a:cxn>
                <a:cxn ang="0">
                  <a:pos x="103" y="222"/>
                </a:cxn>
                <a:cxn ang="0">
                  <a:pos x="123" y="252"/>
                </a:cxn>
                <a:cxn ang="0">
                  <a:pos x="138" y="280"/>
                </a:cxn>
              </a:cxnLst>
              <a:rect l="txL" t="txT" r="txR" b="txB"/>
              <a:pathLst>
                <a:path w="119" h="271">
                  <a:moveTo>
                    <a:pt x="0" y="0"/>
                  </a:moveTo>
                  <a:lnTo>
                    <a:pt x="14" y="34"/>
                  </a:lnTo>
                  <a:lnTo>
                    <a:pt x="30" y="71"/>
                  </a:lnTo>
                  <a:lnTo>
                    <a:pt x="60" y="146"/>
                  </a:lnTo>
                  <a:lnTo>
                    <a:pt x="76" y="181"/>
                  </a:lnTo>
                  <a:lnTo>
                    <a:pt x="89" y="215"/>
                  </a:lnTo>
                  <a:lnTo>
                    <a:pt x="106" y="244"/>
                  </a:lnTo>
                  <a:lnTo>
                    <a:pt x="119" y="271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175" name="Freeform 27"/>
            <p:cNvSpPr/>
            <p:nvPr/>
          </p:nvSpPr>
          <p:spPr>
            <a:xfrm>
              <a:off x="3979" y="1925"/>
              <a:ext cx="136" cy="119"/>
            </a:xfrm>
            <a:custGeom>
              <a:avLst/>
              <a:gdLst>
                <a:gd name="txL" fmla="*/ 0 w 116"/>
                <a:gd name="txT" fmla="*/ 0 h 115"/>
                <a:gd name="txR" fmla="*/ 116 w 116"/>
                <a:gd name="txB" fmla="*/ 115 h 115"/>
              </a:gdLst>
              <a:ahLst/>
              <a:cxnLst>
                <a:cxn ang="0">
                  <a:pos x="0" y="0"/>
                </a:cxn>
                <a:cxn ang="0">
                  <a:pos x="16" y="26"/>
                </a:cxn>
                <a:cxn ang="0">
                  <a:pos x="35" y="46"/>
                </a:cxn>
                <a:cxn ang="0">
                  <a:pos x="50" y="66"/>
                </a:cxn>
                <a:cxn ang="0">
                  <a:pos x="67" y="84"/>
                </a:cxn>
                <a:cxn ang="0">
                  <a:pos x="86" y="99"/>
                </a:cxn>
                <a:cxn ang="0">
                  <a:pos x="102" y="109"/>
                </a:cxn>
                <a:cxn ang="0">
                  <a:pos x="121" y="117"/>
                </a:cxn>
                <a:cxn ang="0">
                  <a:pos x="136" y="119"/>
                </a:cxn>
              </a:cxnLst>
              <a:rect l="txL" t="txT" r="txR" b="txB"/>
              <a:pathLst>
                <a:path w="116" h="115">
                  <a:moveTo>
                    <a:pt x="0" y="0"/>
                  </a:moveTo>
                  <a:lnTo>
                    <a:pt x="14" y="25"/>
                  </a:lnTo>
                  <a:lnTo>
                    <a:pt x="30" y="44"/>
                  </a:lnTo>
                  <a:lnTo>
                    <a:pt x="43" y="64"/>
                  </a:lnTo>
                  <a:lnTo>
                    <a:pt x="57" y="81"/>
                  </a:lnTo>
                  <a:lnTo>
                    <a:pt x="73" y="96"/>
                  </a:lnTo>
                  <a:lnTo>
                    <a:pt x="87" y="105"/>
                  </a:lnTo>
                  <a:lnTo>
                    <a:pt x="103" y="113"/>
                  </a:lnTo>
                  <a:lnTo>
                    <a:pt x="116" y="115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176" name="Freeform 28"/>
            <p:cNvSpPr/>
            <p:nvPr/>
          </p:nvSpPr>
          <p:spPr>
            <a:xfrm>
              <a:off x="4115" y="1925"/>
              <a:ext cx="138" cy="119"/>
            </a:xfrm>
            <a:custGeom>
              <a:avLst/>
              <a:gdLst>
                <a:gd name="txL" fmla="*/ 0 w 119"/>
                <a:gd name="txT" fmla="*/ 0 h 115"/>
                <a:gd name="txR" fmla="*/ 119 w 119"/>
                <a:gd name="txB" fmla="*/ 115 h 115"/>
              </a:gdLst>
              <a:ahLst/>
              <a:cxnLst>
                <a:cxn ang="0">
                  <a:pos x="0" y="119"/>
                </a:cxn>
                <a:cxn ang="0">
                  <a:pos x="16" y="117"/>
                </a:cxn>
                <a:cxn ang="0">
                  <a:pos x="35" y="109"/>
                </a:cxn>
                <a:cxn ang="0">
                  <a:pos x="50" y="99"/>
                </a:cxn>
                <a:cxn ang="0">
                  <a:pos x="70" y="84"/>
                </a:cxn>
                <a:cxn ang="0">
                  <a:pos x="88" y="66"/>
                </a:cxn>
                <a:cxn ang="0">
                  <a:pos x="103" y="46"/>
                </a:cxn>
                <a:cxn ang="0">
                  <a:pos x="123" y="26"/>
                </a:cxn>
                <a:cxn ang="0">
                  <a:pos x="138" y="0"/>
                </a:cxn>
              </a:cxnLst>
              <a:rect l="txL" t="txT" r="txR" b="txB"/>
              <a:pathLst>
                <a:path w="119" h="115">
                  <a:moveTo>
                    <a:pt x="0" y="115"/>
                  </a:moveTo>
                  <a:lnTo>
                    <a:pt x="14" y="113"/>
                  </a:lnTo>
                  <a:lnTo>
                    <a:pt x="30" y="105"/>
                  </a:lnTo>
                  <a:lnTo>
                    <a:pt x="43" y="96"/>
                  </a:lnTo>
                  <a:lnTo>
                    <a:pt x="60" y="81"/>
                  </a:lnTo>
                  <a:lnTo>
                    <a:pt x="76" y="64"/>
                  </a:lnTo>
                  <a:lnTo>
                    <a:pt x="89" y="44"/>
                  </a:lnTo>
                  <a:lnTo>
                    <a:pt x="106" y="25"/>
                  </a:lnTo>
                  <a:lnTo>
                    <a:pt x="119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177" name="Freeform 29"/>
            <p:cNvSpPr/>
            <p:nvPr/>
          </p:nvSpPr>
          <p:spPr>
            <a:xfrm>
              <a:off x="4253" y="1645"/>
              <a:ext cx="135" cy="280"/>
            </a:xfrm>
            <a:custGeom>
              <a:avLst/>
              <a:gdLst>
                <a:gd name="txL" fmla="*/ 0 w 116"/>
                <a:gd name="txT" fmla="*/ 0 h 271"/>
                <a:gd name="txR" fmla="*/ 116 w 116"/>
                <a:gd name="txB" fmla="*/ 271 h 271"/>
              </a:gdLst>
              <a:ahLst/>
              <a:cxnLst>
                <a:cxn ang="0">
                  <a:pos x="0" y="280"/>
                </a:cxn>
                <a:cxn ang="0">
                  <a:pos x="16" y="252"/>
                </a:cxn>
                <a:cxn ang="0">
                  <a:pos x="35" y="222"/>
                </a:cxn>
                <a:cxn ang="0">
                  <a:pos x="50" y="187"/>
                </a:cxn>
                <a:cxn ang="0">
                  <a:pos x="66" y="151"/>
                </a:cxn>
                <a:cxn ang="0">
                  <a:pos x="100" y="73"/>
                </a:cxn>
                <a:cxn ang="0">
                  <a:pos x="120" y="35"/>
                </a:cxn>
                <a:cxn ang="0">
                  <a:pos x="135" y="0"/>
                </a:cxn>
              </a:cxnLst>
              <a:rect l="txL" t="txT" r="txR" b="txB"/>
              <a:pathLst>
                <a:path w="116" h="271">
                  <a:moveTo>
                    <a:pt x="0" y="271"/>
                  </a:moveTo>
                  <a:lnTo>
                    <a:pt x="14" y="244"/>
                  </a:lnTo>
                  <a:lnTo>
                    <a:pt x="30" y="215"/>
                  </a:lnTo>
                  <a:lnTo>
                    <a:pt x="43" y="181"/>
                  </a:lnTo>
                  <a:lnTo>
                    <a:pt x="57" y="146"/>
                  </a:lnTo>
                  <a:lnTo>
                    <a:pt x="86" y="71"/>
                  </a:lnTo>
                  <a:lnTo>
                    <a:pt x="103" y="34"/>
                  </a:lnTo>
                  <a:lnTo>
                    <a:pt x="116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178" name="Freeform 30"/>
            <p:cNvSpPr/>
            <p:nvPr/>
          </p:nvSpPr>
          <p:spPr>
            <a:xfrm>
              <a:off x="4388" y="1361"/>
              <a:ext cx="139" cy="284"/>
            </a:xfrm>
            <a:custGeom>
              <a:avLst/>
              <a:gdLst>
                <a:gd name="txL" fmla="*/ 0 w 119"/>
                <a:gd name="txT" fmla="*/ 0 h 274"/>
                <a:gd name="txR" fmla="*/ 119 w 119"/>
                <a:gd name="txB" fmla="*/ 274 h 274"/>
              </a:gdLst>
              <a:ahLst/>
              <a:cxnLst>
                <a:cxn ang="0">
                  <a:pos x="0" y="284"/>
                </a:cxn>
                <a:cxn ang="0">
                  <a:pos x="16" y="249"/>
                </a:cxn>
                <a:cxn ang="0">
                  <a:pos x="35" y="210"/>
                </a:cxn>
                <a:cxn ang="0">
                  <a:pos x="70" y="132"/>
                </a:cxn>
                <a:cxn ang="0">
                  <a:pos x="89" y="93"/>
                </a:cxn>
                <a:cxn ang="0">
                  <a:pos x="104" y="58"/>
                </a:cxn>
                <a:cxn ang="0">
                  <a:pos x="123" y="28"/>
                </a:cxn>
                <a:cxn ang="0">
                  <a:pos x="139" y="0"/>
                </a:cxn>
              </a:cxnLst>
              <a:rect l="txL" t="txT" r="txR" b="txB"/>
              <a:pathLst>
                <a:path w="119" h="274">
                  <a:moveTo>
                    <a:pt x="0" y="274"/>
                  </a:moveTo>
                  <a:lnTo>
                    <a:pt x="14" y="240"/>
                  </a:lnTo>
                  <a:lnTo>
                    <a:pt x="30" y="203"/>
                  </a:lnTo>
                  <a:lnTo>
                    <a:pt x="60" y="127"/>
                  </a:lnTo>
                  <a:lnTo>
                    <a:pt x="76" y="90"/>
                  </a:lnTo>
                  <a:lnTo>
                    <a:pt x="89" y="56"/>
                  </a:lnTo>
                  <a:lnTo>
                    <a:pt x="105" y="27"/>
                  </a:lnTo>
                  <a:lnTo>
                    <a:pt x="119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179" name="Freeform 31"/>
            <p:cNvSpPr/>
            <p:nvPr/>
          </p:nvSpPr>
          <p:spPr>
            <a:xfrm>
              <a:off x="4527" y="1244"/>
              <a:ext cx="135" cy="117"/>
            </a:xfrm>
            <a:custGeom>
              <a:avLst/>
              <a:gdLst>
                <a:gd name="txL" fmla="*/ 0 w 116"/>
                <a:gd name="txT" fmla="*/ 0 h 113"/>
                <a:gd name="txR" fmla="*/ 116 w 116"/>
                <a:gd name="txB" fmla="*/ 113 h 113"/>
              </a:gdLst>
              <a:ahLst/>
              <a:cxnLst>
                <a:cxn ang="0">
                  <a:pos x="0" y="117"/>
                </a:cxn>
                <a:cxn ang="0">
                  <a:pos x="15" y="91"/>
                </a:cxn>
                <a:cxn ang="0">
                  <a:pos x="35" y="71"/>
                </a:cxn>
                <a:cxn ang="0">
                  <a:pos x="50" y="51"/>
                </a:cxn>
                <a:cxn ang="0">
                  <a:pos x="66" y="33"/>
                </a:cxn>
                <a:cxn ang="0">
                  <a:pos x="85" y="21"/>
                </a:cxn>
                <a:cxn ang="0">
                  <a:pos x="100" y="8"/>
                </a:cxn>
                <a:cxn ang="0">
                  <a:pos x="120" y="3"/>
                </a:cxn>
                <a:cxn ang="0">
                  <a:pos x="135" y="0"/>
                </a:cxn>
              </a:cxnLst>
              <a:rect l="txL" t="txT" r="txR" b="txB"/>
              <a:pathLst>
                <a:path w="116" h="113">
                  <a:moveTo>
                    <a:pt x="0" y="113"/>
                  </a:moveTo>
                  <a:lnTo>
                    <a:pt x="13" y="88"/>
                  </a:lnTo>
                  <a:lnTo>
                    <a:pt x="30" y="69"/>
                  </a:lnTo>
                  <a:lnTo>
                    <a:pt x="43" y="49"/>
                  </a:lnTo>
                  <a:lnTo>
                    <a:pt x="57" y="32"/>
                  </a:lnTo>
                  <a:lnTo>
                    <a:pt x="73" y="20"/>
                  </a:lnTo>
                  <a:lnTo>
                    <a:pt x="86" y="8"/>
                  </a:lnTo>
                  <a:lnTo>
                    <a:pt x="103" y="3"/>
                  </a:lnTo>
                  <a:lnTo>
                    <a:pt x="116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180" name="Freeform 32"/>
            <p:cNvSpPr/>
            <p:nvPr/>
          </p:nvSpPr>
          <p:spPr>
            <a:xfrm>
              <a:off x="4662" y="1244"/>
              <a:ext cx="138" cy="117"/>
            </a:xfrm>
            <a:custGeom>
              <a:avLst/>
              <a:gdLst>
                <a:gd name="txL" fmla="*/ 0 w 119"/>
                <a:gd name="txT" fmla="*/ 0 h 113"/>
                <a:gd name="txR" fmla="*/ 119 w 119"/>
                <a:gd name="txB" fmla="*/ 113 h 113"/>
              </a:gdLst>
              <a:ahLst/>
              <a:cxnLst>
                <a:cxn ang="0">
                  <a:pos x="0" y="0"/>
                </a:cxn>
                <a:cxn ang="0">
                  <a:pos x="16" y="3"/>
                </a:cxn>
                <a:cxn ang="0">
                  <a:pos x="35" y="8"/>
                </a:cxn>
                <a:cxn ang="0">
                  <a:pos x="50" y="21"/>
                </a:cxn>
                <a:cxn ang="0">
                  <a:pos x="68" y="33"/>
                </a:cxn>
                <a:cxn ang="0">
                  <a:pos x="88" y="51"/>
                </a:cxn>
                <a:cxn ang="0">
                  <a:pos x="103" y="71"/>
                </a:cxn>
                <a:cxn ang="0">
                  <a:pos x="122" y="91"/>
                </a:cxn>
                <a:cxn ang="0">
                  <a:pos x="138" y="117"/>
                </a:cxn>
              </a:cxnLst>
              <a:rect l="txL" t="txT" r="txR" b="txB"/>
              <a:pathLst>
                <a:path w="119" h="113">
                  <a:moveTo>
                    <a:pt x="0" y="0"/>
                  </a:moveTo>
                  <a:lnTo>
                    <a:pt x="14" y="3"/>
                  </a:lnTo>
                  <a:lnTo>
                    <a:pt x="30" y="8"/>
                  </a:lnTo>
                  <a:lnTo>
                    <a:pt x="43" y="20"/>
                  </a:lnTo>
                  <a:lnTo>
                    <a:pt x="59" y="32"/>
                  </a:lnTo>
                  <a:lnTo>
                    <a:pt x="76" y="49"/>
                  </a:lnTo>
                  <a:lnTo>
                    <a:pt x="89" y="69"/>
                  </a:lnTo>
                  <a:lnTo>
                    <a:pt x="105" y="88"/>
                  </a:lnTo>
                  <a:lnTo>
                    <a:pt x="119" y="113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181" name="Freeform 33"/>
            <p:cNvSpPr/>
            <p:nvPr/>
          </p:nvSpPr>
          <p:spPr>
            <a:xfrm>
              <a:off x="4800" y="1361"/>
              <a:ext cx="135" cy="284"/>
            </a:xfrm>
            <a:custGeom>
              <a:avLst/>
              <a:gdLst>
                <a:gd name="txL" fmla="*/ 0 w 116"/>
                <a:gd name="txT" fmla="*/ 0 h 274"/>
                <a:gd name="txR" fmla="*/ 116 w 116"/>
                <a:gd name="txB" fmla="*/ 274 h 274"/>
              </a:gdLst>
              <a:ahLst/>
              <a:cxnLst>
                <a:cxn ang="0">
                  <a:pos x="0" y="0"/>
                </a:cxn>
                <a:cxn ang="0">
                  <a:pos x="15" y="28"/>
                </a:cxn>
                <a:cxn ang="0">
                  <a:pos x="35" y="58"/>
                </a:cxn>
                <a:cxn ang="0">
                  <a:pos x="50" y="93"/>
                </a:cxn>
                <a:cxn ang="0">
                  <a:pos x="66" y="132"/>
                </a:cxn>
                <a:cxn ang="0">
                  <a:pos x="100" y="210"/>
                </a:cxn>
                <a:cxn ang="0">
                  <a:pos x="119" y="249"/>
                </a:cxn>
                <a:cxn ang="0">
                  <a:pos x="135" y="284"/>
                </a:cxn>
              </a:cxnLst>
              <a:rect l="txL" t="txT" r="txR" b="txB"/>
              <a:pathLst>
                <a:path w="116" h="274">
                  <a:moveTo>
                    <a:pt x="0" y="0"/>
                  </a:moveTo>
                  <a:lnTo>
                    <a:pt x="13" y="27"/>
                  </a:lnTo>
                  <a:lnTo>
                    <a:pt x="30" y="56"/>
                  </a:lnTo>
                  <a:lnTo>
                    <a:pt x="43" y="90"/>
                  </a:lnTo>
                  <a:lnTo>
                    <a:pt x="57" y="127"/>
                  </a:lnTo>
                  <a:lnTo>
                    <a:pt x="86" y="203"/>
                  </a:lnTo>
                  <a:lnTo>
                    <a:pt x="102" y="240"/>
                  </a:lnTo>
                  <a:lnTo>
                    <a:pt x="116" y="274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182" name="Line 34"/>
            <p:cNvSpPr/>
            <p:nvPr/>
          </p:nvSpPr>
          <p:spPr>
            <a:xfrm>
              <a:off x="4935" y="1645"/>
              <a:ext cx="139" cy="28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3" name="Line 35"/>
            <p:cNvSpPr/>
            <p:nvPr/>
          </p:nvSpPr>
          <p:spPr>
            <a:xfrm>
              <a:off x="3023" y="1638"/>
              <a:ext cx="2292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stealth" w="sm" len="med"/>
            </a:ln>
          </p:spPr>
        </p:sp>
        <p:sp>
          <p:nvSpPr>
            <p:cNvPr id="6184" name="Line 36"/>
            <p:cNvSpPr/>
            <p:nvPr/>
          </p:nvSpPr>
          <p:spPr>
            <a:xfrm flipV="1">
              <a:off x="3415" y="944"/>
              <a:ext cx="0" cy="1242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stealth" w="sm" len="med"/>
            </a:ln>
          </p:spPr>
        </p:sp>
        <p:sp>
          <p:nvSpPr>
            <p:cNvPr id="6185" name="Text Box 37"/>
            <p:cNvSpPr txBox="1"/>
            <p:nvPr/>
          </p:nvSpPr>
          <p:spPr>
            <a:xfrm>
              <a:off x="5080" y="1528"/>
              <a:ext cx="153" cy="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86" name="Text Box 38"/>
            <p:cNvSpPr txBox="1"/>
            <p:nvPr/>
          </p:nvSpPr>
          <p:spPr>
            <a:xfrm>
              <a:off x="3162" y="783"/>
              <a:ext cx="153" cy="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87" name="Text Box 39"/>
            <p:cNvSpPr txBox="1"/>
            <p:nvPr/>
          </p:nvSpPr>
          <p:spPr>
            <a:xfrm>
              <a:off x="3107" y="1674"/>
              <a:ext cx="189" cy="2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88" name="Line 44"/>
            <p:cNvSpPr/>
            <p:nvPr/>
          </p:nvSpPr>
          <p:spPr>
            <a:xfrm>
              <a:off x="4519" y="1093"/>
              <a:ext cx="0" cy="547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6189" name="Line 45"/>
            <p:cNvSpPr/>
            <p:nvPr/>
          </p:nvSpPr>
          <p:spPr>
            <a:xfrm>
              <a:off x="3415" y="1193"/>
              <a:ext cx="111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6190" name="Text Box 46"/>
            <p:cNvSpPr txBox="1"/>
            <p:nvPr/>
          </p:nvSpPr>
          <p:spPr>
            <a:xfrm>
              <a:off x="3778" y="912"/>
              <a:ext cx="197" cy="29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3839" name="Text Box 47"/>
          <p:cNvSpPr txBox="1"/>
          <p:nvPr/>
        </p:nvSpPr>
        <p:spPr>
          <a:xfrm>
            <a:off x="682625" y="4365625"/>
            <a:ext cx="3240088" cy="547688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  <a:buSzPct val="85000"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9933"/>
                </a:solidFill>
                <a:latin typeface="楷体_GB2312" pitchFamily="49" charset="-122"/>
              </a:rPr>
              <a:t>周期</a:t>
            </a:r>
            <a:r>
              <a:rPr lang="en-US" altLang="zh-CN" b="0" i="1" dirty="0">
                <a:solidFill>
                  <a:srgbClr val="FF9933"/>
                </a:solidFill>
                <a:latin typeface="楷体_GB2312" pitchFamily="49" charset="-122"/>
              </a:rPr>
              <a:t>T</a:t>
            </a:r>
            <a:r>
              <a:rPr lang="en-US" altLang="zh-CN" i="1" dirty="0">
                <a:solidFill>
                  <a:srgbClr val="FF9933"/>
                </a:solidFill>
                <a:latin typeface="楷体_GB2312" pitchFamily="49" charset="-122"/>
              </a:rPr>
              <a:t> </a:t>
            </a:r>
            <a:r>
              <a:rPr lang="zh-CN" altLang="en-US" dirty="0">
                <a:solidFill>
                  <a:srgbClr val="FF9933"/>
                </a:solidFill>
                <a:latin typeface="楷体_GB2312" pitchFamily="49" charset="-122"/>
              </a:rPr>
              <a:t>和频率</a:t>
            </a:r>
            <a:r>
              <a:rPr lang="en-US" altLang="zh-CN" b="0" i="1" dirty="0">
                <a:solidFill>
                  <a:srgbClr val="FF9933"/>
                </a:solidFill>
                <a:latin typeface="Times New Roman" panose="02020603050405020304" pitchFamily="18" charset="0"/>
              </a:rPr>
              <a:t>f</a:t>
            </a:r>
            <a:endParaRPr lang="en-US" altLang="zh-CN" dirty="0">
              <a:solidFill>
                <a:srgbClr val="FF99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40" name="Text Box 48"/>
          <p:cNvSpPr txBox="1"/>
          <p:nvPr/>
        </p:nvSpPr>
        <p:spPr>
          <a:xfrm>
            <a:off x="935038" y="5641975"/>
            <a:ext cx="51133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频率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楷体_GB2312" pitchFamily="49" charset="-122"/>
              </a:rPr>
              <a:t>：每秒重复变化的次数。</a:t>
            </a:r>
            <a:endParaRPr lang="zh-CN" altLang="en-US" i="1" dirty="0">
              <a:latin typeface="楷体_GB2312" pitchFamily="49" charset="-122"/>
            </a:endParaRPr>
          </a:p>
        </p:txBody>
      </p:sp>
      <p:sp>
        <p:nvSpPr>
          <p:cNvPr id="33841" name="Text Box 49"/>
          <p:cNvSpPr txBox="1"/>
          <p:nvPr/>
        </p:nvSpPr>
        <p:spPr>
          <a:xfrm>
            <a:off x="935038" y="5065713"/>
            <a:ext cx="59055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周期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楷体_GB2312" pitchFamily="49" charset="-122"/>
              </a:rPr>
              <a:t>：重复变化一次所需的时间。</a:t>
            </a:r>
            <a:endParaRPr lang="zh-CN" altLang="en-US" i="1" dirty="0">
              <a:latin typeface="楷体_GB2312" pitchFamily="49" charset="-122"/>
            </a:endParaRPr>
          </a:p>
        </p:txBody>
      </p:sp>
      <p:sp>
        <p:nvSpPr>
          <p:cNvPr id="33842" name="AutoShape 50"/>
          <p:cNvSpPr/>
          <p:nvPr/>
        </p:nvSpPr>
        <p:spPr>
          <a:xfrm flipH="1">
            <a:off x="719138" y="5065713"/>
            <a:ext cx="301625" cy="1100137"/>
          </a:xfrm>
          <a:prstGeom prst="rightBrace">
            <a:avLst>
              <a:gd name="adj1" fmla="val 30394"/>
              <a:gd name="adj2" fmla="val 50000"/>
            </a:avLst>
          </a:prstGeom>
          <a:noFill/>
          <a:ln w="28575" cap="flat" cmpd="sng">
            <a:solidFill>
              <a:srgbClr val="FFFF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843" name="Rectangle 51"/>
          <p:cNvSpPr/>
          <p:nvPr/>
        </p:nvSpPr>
        <p:spPr>
          <a:xfrm>
            <a:off x="5759450" y="5591175"/>
            <a:ext cx="29892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单位</a:t>
            </a:r>
            <a:r>
              <a:rPr lang="en-US" altLang="zh-CN" dirty="0">
                <a:latin typeface="楷体_GB2312" pitchFamily="49" charset="-122"/>
              </a:rPr>
              <a:t>: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Hz </a:t>
            </a:r>
            <a:r>
              <a:rPr lang="en-US" altLang="zh-CN" dirty="0">
                <a:latin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</a:rPr>
              <a:t>赫兹</a:t>
            </a:r>
            <a:r>
              <a:rPr lang="en-US" altLang="zh-CN" dirty="0">
                <a:latin typeface="楷体_GB2312" pitchFamily="49" charset="-122"/>
              </a:rPr>
              <a:t>)</a:t>
            </a:r>
            <a:endParaRPr lang="en-US" altLang="zh-CN" dirty="0">
              <a:latin typeface="楷体_GB2312" pitchFamily="49" charset="-122"/>
            </a:endParaRPr>
          </a:p>
        </p:txBody>
      </p:sp>
      <p:sp>
        <p:nvSpPr>
          <p:cNvPr id="33844" name="Rectangle 52"/>
          <p:cNvSpPr/>
          <p:nvPr/>
        </p:nvSpPr>
        <p:spPr>
          <a:xfrm>
            <a:off x="6551613" y="5013325"/>
            <a:ext cx="2413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单位：</a:t>
            </a:r>
            <a:r>
              <a:rPr lang="en-US" altLang="zh-CN" b="0" dirty="0">
                <a:latin typeface="楷体_GB2312" pitchFamily="49" charset="-122"/>
              </a:rPr>
              <a:t>s(</a:t>
            </a:r>
            <a:r>
              <a:rPr lang="zh-CN" altLang="en-US" dirty="0">
                <a:latin typeface="楷体_GB2312" pitchFamily="49" charset="-122"/>
              </a:rPr>
              <a:t>秒</a:t>
            </a:r>
            <a:r>
              <a:rPr lang="en-US" altLang="zh-CN" dirty="0">
                <a:latin typeface="楷体_GB2312" pitchFamily="49" charset="-122"/>
              </a:rPr>
              <a:t>)</a:t>
            </a:r>
            <a:endParaRPr lang="en-US" altLang="zh-CN" dirty="0">
              <a:latin typeface="楷体_GB2312" pitchFamily="49" charset="-122"/>
            </a:endParaRPr>
          </a:p>
        </p:txBody>
      </p:sp>
      <p:graphicFrame>
        <p:nvGraphicFramePr>
          <p:cNvPr id="33845" name="Object 53"/>
          <p:cNvGraphicFramePr/>
          <p:nvPr/>
        </p:nvGraphicFramePr>
        <p:xfrm>
          <a:off x="6948488" y="3429000"/>
          <a:ext cx="1249362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482600" imgH="444500" progId="Equation.3">
                  <p:embed/>
                </p:oleObj>
              </mc:Choice>
              <mc:Fallback>
                <p:oleObj name="" r:id="rId1" imgW="482600" imgH="4445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48488" y="3429000"/>
                        <a:ext cx="1249362" cy="115093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accent1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49" name="Text Box 57"/>
          <p:cNvSpPr txBox="1"/>
          <p:nvPr/>
        </p:nvSpPr>
        <p:spPr>
          <a:xfrm>
            <a:off x="611188" y="3500438"/>
            <a:ext cx="5818187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正弦量为周期函数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T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=</a:t>
            </a:r>
            <a:endParaRPr lang="en-US" altLang="zh-CN" sz="3200" b="0" dirty="0">
              <a:solidFill>
                <a:schemeClr val="bg1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grpSp>
        <p:nvGrpSpPr>
          <p:cNvPr id="6159" name="Group 5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168" name="Picture 6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69" name="Text Box 6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160" name="Group 6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166" name="Picture 6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67" name="Text Box 6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3860" name="AutoShape 68" descr="羊皮纸"/>
          <p:cNvSpPr/>
          <p:nvPr/>
        </p:nvSpPr>
        <p:spPr>
          <a:xfrm>
            <a:off x="7740650" y="908050"/>
            <a:ext cx="1081088" cy="576263"/>
          </a:xfrm>
          <a:prstGeom prst="wedgeRoundRectCallout">
            <a:avLst>
              <a:gd name="adj1" fmla="val -76727"/>
              <a:gd name="adj2" fmla="val 122176"/>
              <a:gd name="adj3" fmla="val 16667"/>
            </a:avLst>
          </a:prstGeom>
          <a:blipFill rotWithShape="1">
            <a:blip r:embed="rId4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波形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6162" name="Group 7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6164" name="Picture 74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65" name="Text Box 7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6163" name="矩形 45"/>
          <p:cNvSpPr/>
          <p:nvPr/>
        </p:nvSpPr>
        <p:spPr>
          <a:xfrm>
            <a:off x="5786438" y="3500438"/>
            <a:ext cx="766762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3200" b="0" dirty="0">
              <a:solidFill>
                <a:schemeClr val="bg1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33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3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3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33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1" dur="2000"/>
                                        <p:tgtEl>
                                          <p:spTgt spid="3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/>
      <p:bldP spid="33799" grpId="0"/>
      <p:bldP spid="33800" grpId="0" animBg="1"/>
      <p:bldP spid="33801" grpId="0"/>
      <p:bldP spid="33839" grpId="0" animBg="1"/>
      <p:bldP spid="33840" grpId="0"/>
      <p:bldP spid="33841" grpId="0"/>
      <p:bldP spid="33842" grpId="0" animBg="1"/>
      <p:bldP spid="33843" grpId="0"/>
      <p:bldP spid="33844" grpId="0"/>
      <p:bldP spid="33849" grpId="0"/>
      <p:bldP spid="3386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Text Box 2"/>
          <p:cNvSpPr txBox="1"/>
          <p:nvPr/>
        </p:nvSpPr>
        <p:spPr>
          <a:xfrm>
            <a:off x="611188" y="620713"/>
            <a:ext cx="2881312" cy="523875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  <a:buSzPct val="85000"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9933"/>
                </a:solidFill>
                <a:latin typeface="楷体_GB2312" pitchFamily="49" charset="-122"/>
              </a:rPr>
              <a:t>正弦稳态电路</a:t>
            </a:r>
            <a:endParaRPr lang="zh-CN" altLang="en-US" dirty="0">
              <a:solidFill>
                <a:srgbClr val="FF9933"/>
              </a:solidFill>
              <a:latin typeface="楷体_GB2312" pitchFamily="49" charset="-122"/>
            </a:endParaRPr>
          </a:p>
        </p:txBody>
      </p:sp>
      <p:sp>
        <p:nvSpPr>
          <p:cNvPr id="56323" name="Text Box 3"/>
          <p:cNvSpPr txBox="1"/>
          <p:nvPr/>
        </p:nvSpPr>
        <p:spPr>
          <a:xfrm>
            <a:off x="611188" y="1268413"/>
            <a:ext cx="7848600" cy="1127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</a:rPr>
              <a:t>    </a:t>
            </a:r>
            <a:r>
              <a:rPr lang="zh-CN" altLang="en-US" dirty="0">
                <a:latin typeface="楷体_GB2312" pitchFamily="49" charset="-122"/>
              </a:rPr>
              <a:t>激励和响应均为同频率的正弦量的线性电路（正弦稳态电路）称为正弦稳态电路或交流电路。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56324" name="Line 4"/>
          <p:cNvSpPr/>
          <p:nvPr/>
        </p:nvSpPr>
        <p:spPr>
          <a:xfrm>
            <a:off x="3851275" y="981075"/>
            <a:ext cx="574675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6325" name="Text Box 5"/>
          <p:cNvSpPr txBox="1"/>
          <p:nvPr/>
        </p:nvSpPr>
        <p:spPr>
          <a:xfrm>
            <a:off x="936625" y="3213100"/>
            <a:ext cx="7272338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120000"/>
              </a:lnSpc>
              <a:buAutoNum type="arabicPeriod"/>
            </a:pPr>
            <a:r>
              <a:rPr lang="zh-CN" altLang="en-US" dirty="0">
                <a:latin typeface="楷体_GB2312" pitchFamily="49" charset="-122"/>
              </a:rPr>
              <a:t>正弦稳态电路在电力系统和电子技术领域占有十分重要的地位。</a:t>
            </a:r>
            <a:endParaRPr lang="zh-CN" altLang="en-US" i="1" dirty="0">
              <a:latin typeface="楷体_GB2312" pitchFamily="49" charset="-122"/>
            </a:endParaRPr>
          </a:p>
        </p:txBody>
      </p:sp>
      <p:sp>
        <p:nvSpPr>
          <p:cNvPr id="56329" name="Text Box 9"/>
          <p:cNvSpPr txBox="1"/>
          <p:nvPr/>
        </p:nvSpPr>
        <p:spPr>
          <a:xfrm>
            <a:off x="611188" y="2565400"/>
            <a:ext cx="4818062" cy="523875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  <a:buSzPct val="85000"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9933"/>
                </a:solidFill>
                <a:latin typeface="楷体_GB2312" pitchFamily="49" charset="-122"/>
              </a:rPr>
              <a:t>研究正弦稳态电路的意义</a:t>
            </a:r>
            <a:endParaRPr lang="zh-CN" altLang="en-US" dirty="0">
              <a:solidFill>
                <a:srgbClr val="FF9933"/>
              </a:solidFill>
              <a:latin typeface="楷体_GB2312" pitchFamily="49" charset="-122"/>
            </a:endParaRPr>
          </a:p>
        </p:txBody>
      </p:sp>
      <p:sp>
        <p:nvSpPr>
          <p:cNvPr id="56332" name="Text Box 12"/>
          <p:cNvSpPr txBox="1"/>
          <p:nvPr/>
        </p:nvSpPr>
        <p:spPr>
          <a:xfrm>
            <a:off x="1258888" y="4365625"/>
            <a:ext cx="7272337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120000"/>
              </a:lnSpc>
              <a:buAutoNum type="circleNumDbPlain"/>
            </a:pPr>
            <a:r>
              <a:rPr lang="zh-CN" altLang="en-US" dirty="0">
                <a:latin typeface="楷体_GB2312" pitchFamily="49" charset="-122"/>
              </a:rPr>
              <a:t>正弦函数是周期函数，其加、减、求导、积分运算后仍是同频率的正弦函数。</a:t>
            </a:r>
            <a:endParaRPr lang="zh-CN" altLang="en-US" i="1" dirty="0">
              <a:latin typeface="楷体_GB2312" pitchFamily="49" charset="-122"/>
            </a:endParaRPr>
          </a:p>
        </p:txBody>
      </p:sp>
      <p:sp>
        <p:nvSpPr>
          <p:cNvPr id="56334" name="Text Box 14"/>
          <p:cNvSpPr txBox="1"/>
          <p:nvPr/>
        </p:nvSpPr>
        <p:spPr>
          <a:xfrm>
            <a:off x="1258888" y="5516563"/>
            <a:ext cx="6553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buAutoNum type="circleNumDbPlain" startAt="2"/>
            </a:pPr>
            <a:r>
              <a:rPr lang="zh-CN" altLang="en-US" dirty="0">
                <a:latin typeface="楷体_GB2312" pitchFamily="49" charset="-122"/>
              </a:rPr>
              <a:t>正弦信号容易产生、传送和使用。</a:t>
            </a:r>
            <a:endParaRPr lang="zh-CN" altLang="en-US" i="1" dirty="0">
              <a:latin typeface="楷体_GB2312" pitchFamily="49" charset="-122"/>
            </a:endParaRPr>
          </a:p>
        </p:txBody>
      </p:sp>
      <p:grpSp>
        <p:nvGrpSpPr>
          <p:cNvPr id="51209" name="Group 1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1219" name="Picture 1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20" name="Text Box 1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1210" name="Group 1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1217" name="Picture 2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18" name="Text Box 2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" name="Group 25"/>
          <p:cNvGrpSpPr/>
          <p:nvPr/>
        </p:nvGrpSpPr>
        <p:grpSpPr>
          <a:xfrm>
            <a:off x="0" y="4221163"/>
            <a:ext cx="1238250" cy="1230312"/>
            <a:chOff x="385" y="3022"/>
            <a:chExt cx="780" cy="775"/>
          </a:xfrm>
        </p:grpSpPr>
        <p:pic>
          <p:nvPicPr>
            <p:cNvPr id="51215" name="Picture 26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16" name="Text Box 27"/>
            <p:cNvSpPr txBox="1"/>
            <p:nvPr/>
          </p:nvSpPr>
          <p:spPr>
            <a:xfrm>
              <a:off x="793" y="3125"/>
              <a:ext cx="372" cy="6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优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点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51212" name="Group 31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1213" name="Picture 3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14" name="Text Box 3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6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5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animBg="1"/>
      <p:bldP spid="56323" grpId="0"/>
      <p:bldP spid="56325" grpId="0"/>
      <p:bldP spid="56329" grpId="0" animBg="1"/>
      <p:bldP spid="56332" grpId="0"/>
      <p:bldP spid="563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343" name="Text Box 47"/>
          <p:cNvSpPr txBox="1"/>
          <p:nvPr/>
        </p:nvSpPr>
        <p:spPr>
          <a:xfrm>
            <a:off x="684213" y="620713"/>
            <a:ext cx="7775575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120000"/>
              </a:lnSpc>
              <a:buAutoNum type="arabicPeriod" startAt="2"/>
            </a:pPr>
            <a:r>
              <a:rPr lang="zh-CN" altLang="en-US" dirty="0">
                <a:latin typeface="楷体_GB2312" pitchFamily="49" charset="-122"/>
              </a:rPr>
              <a:t>正弦信号是一种基本信号，任何非正弦周期信号可以分解为按正弦规律变化的分量的叠加。</a:t>
            </a:r>
            <a:endParaRPr lang="zh-CN" altLang="en-US" i="1" dirty="0">
              <a:latin typeface="楷体_GB2312" pitchFamily="49" charset="-122"/>
            </a:endParaRPr>
          </a:p>
        </p:txBody>
      </p:sp>
      <p:graphicFrame>
        <p:nvGraphicFramePr>
          <p:cNvPr id="55345" name="Object 49"/>
          <p:cNvGraphicFramePr/>
          <p:nvPr/>
        </p:nvGraphicFramePr>
        <p:xfrm>
          <a:off x="1476375" y="1844675"/>
          <a:ext cx="5761038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828165" imgH="444500" progId="Equation.3">
                  <p:embed/>
                </p:oleObj>
              </mc:Choice>
              <mc:Fallback>
                <p:oleObj name="" r:id="rId1" imgW="1828165" imgH="4445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6375" y="1844675"/>
                        <a:ext cx="5761038" cy="14001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66FFFF"/>
                          </a:gs>
                          <a:gs pos="50000">
                            <a:schemeClr val="bg1"/>
                          </a:gs>
                          <a:gs pos="100000">
                            <a:srgbClr val="66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46" name="Text Box 50"/>
          <p:cNvSpPr txBox="1"/>
          <p:nvPr/>
        </p:nvSpPr>
        <p:spPr>
          <a:xfrm>
            <a:off x="1116013" y="4149725"/>
            <a:ext cx="67691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对正弦稳态电路的分析研究具有重要的理论价值和实际意义。</a:t>
            </a:r>
            <a:endParaRPr lang="zh-CN" altLang="en-US" i="1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pSp>
        <p:nvGrpSpPr>
          <p:cNvPr id="7173" name="Group 5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183" name="Picture 5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84" name="Text Box 5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174" name="Group 5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181" name="Picture 5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82" name="Text Box 5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" name="Group 61"/>
          <p:cNvGrpSpPr/>
          <p:nvPr/>
        </p:nvGrpSpPr>
        <p:grpSpPr>
          <a:xfrm>
            <a:off x="684213" y="3429000"/>
            <a:ext cx="1644650" cy="850900"/>
            <a:chOff x="385" y="3022"/>
            <a:chExt cx="1036" cy="536"/>
          </a:xfrm>
        </p:grpSpPr>
        <p:pic>
          <p:nvPicPr>
            <p:cNvPr id="7179" name="Picture 62" descr="1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80" name="Text Box 63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结论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7176" name="Group 67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7177" name="Picture 6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78" name="Text Box 6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5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5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5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5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5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43" grpId="0"/>
      <p:bldP spid="5534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818" name="Rectangle 50"/>
          <p:cNvSpPr/>
          <p:nvPr/>
        </p:nvSpPr>
        <p:spPr>
          <a:xfrm>
            <a:off x="611188" y="1557338"/>
            <a:ext cx="5832475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76250" indent="-476250" algn="just">
              <a:lnSpc>
                <a:spcPct val="120000"/>
              </a:lnSpc>
              <a:buAutoNum type="arabicParenBoth"/>
            </a:pP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zh-CN" dirty="0">
                <a:latin typeface="楷体_GB2312" pitchFamily="49" charset="-122"/>
              </a:rPr>
              <a:t>幅值</a:t>
            </a:r>
            <a:r>
              <a:rPr lang="zh-CN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en-US" altLang="zh-CN" dirty="0">
                <a:latin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</a:rPr>
              <a:t>振幅、最大值</a:t>
            </a:r>
            <a:r>
              <a:rPr lang="en-US" altLang="zh-CN" dirty="0">
                <a:latin typeface="楷体_GB2312" pitchFamily="49" charset="-122"/>
              </a:rPr>
              <a:t>)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m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32819" name="Text Box 51"/>
          <p:cNvSpPr txBox="1"/>
          <p:nvPr/>
        </p:nvSpPr>
        <p:spPr>
          <a:xfrm>
            <a:off x="611188" y="2636838"/>
            <a:ext cx="6265862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76250" indent="-476250" algn="just">
              <a:lnSpc>
                <a:spcPct val="120000"/>
              </a:lnSpc>
            </a:pPr>
            <a:r>
              <a:rPr lang="en-US" altLang="zh-CN" dirty="0">
                <a:latin typeface="楷体_GB2312" pitchFamily="49" charset="-122"/>
              </a:rPr>
              <a:t>(2) </a:t>
            </a:r>
            <a:r>
              <a:rPr lang="zh-CN" altLang="en-US" dirty="0">
                <a:latin typeface="楷体_GB2312" pitchFamily="49" charset="-122"/>
              </a:rPr>
              <a:t>角频率</a:t>
            </a:r>
            <a:r>
              <a:rPr lang="el-GR" altLang="zh-CN" sz="3200" b="0" i="1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ω</a:t>
            </a:r>
            <a:endParaRPr lang="el-GR" altLang="zh-CN" sz="3200" b="0" dirty="0">
              <a:solidFill>
                <a:schemeClr val="bg1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2820" name="Rectangle 52"/>
          <p:cNvSpPr/>
          <p:nvPr/>
        </p:nvSpPr>
        <p:spPr>
          <a:xfrm>
            <a:off x="468313" y="692150"/>
            <a:ext cx="4535487" cy="579438"/>
          </a:xfrm>
          <a:prstGeom prst="rect">
            <a:avLst/>
          </a:prstGeom>
          <a:noFill/>
          <a:ln w="9525">
            <a:noFill/>
          </a:ln>
        </p:spPr>
        <p:txBody>
          <a:bodyPr lIns="270000" rIns="27000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2.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正弦量的三要素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32847" name="Text Box 79"/>
          <p:cNvSpPr txBox="1"/>
          <p:nvPr/>
        </p:nvSpPr>
        <p:spPr>
          <a:xfrm>
            <a:off x="682625" y="4581525"/>
            <a:ext cx="4826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楷体_GB2312" pitchFamily="49" charset="-122"/>
              </a:rPr>
              <a:t>(3)</a:t>
            </a:r>
            <a:r>
              <a:rPr lang="en-US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初相位</a:t>
            </a:r>
            <a:r>
              <a:rPr lang="zh-CN" altLang="en-US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endParaRPr lang="zh-CN" altLang="en-US" sz="3200" b="0" dirty="0">
              <a:solidFill>
                <a:schemeClr val="bg1"/>
              </a:solidFill>
              <a:latin typeface="Symbol" panose="05050102010706020507" pitchFamily="18" charset="2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32855" name="Object 87"/>
          <p:cNvGraphicFramePr/>
          <p:nvPr/>
        </p:nvGraphicFramePr>
        <p:xfrm>
          <a:off x="1230313" y="3860800"/>
          <a:ext cx="2716212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167765" imgH="342900" progId="Equation.3">
                  <p:embed/>
                </p:oleObj>
              </mc:Choice>
              <mc:Fallback>
                <p:oleObj name="" r:id="rId1" imgW="1167765" imgH="3429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30313" y="3860800"/>
                        <a:ext cx="2716212" cy="793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56" name="Rectangle 88"/>
          <p:cNvSpPr/>
          <p:nvPr/>
        </p:nvSpPr>
        <p:spPr>
          <a:xfrm>
            <a:off x="4356100" y="4076700"/>
            <a:ext cx="4032250" cy="519113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单位：</a:t>
            </a:r>
            <a:r>
              <a:rPr lang="zh-CN" altLang="en-US" b="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rad/s</a:t>
            </a:r>
            <a:r>
              <a:rPr lang="en-US" altLang="zh-CN" b="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dirty="0">
                <a:latin typeface="楷体_GB2312" pitchFamily="49" charset="-122"/>
              </a:rPr>
              <a:t>弧度</a:t>
            </a:r>
            <a:r>
              <a:rPr lang="en-US" altLang="zh-CN" dirty="0">
                <a:latin typeface="楷体_GB2312" pitchFamily="49" charset="-122"/>
              </a:rPr>
              <a:t>/</a:t>
            </a:r>
            <a:r>
              <a:rPr lang="zh-CN" altLang="en-US" dirty="0">
                <a:latin typeface="楷体_GB2312" pitchFamily="49" charset="-122"/>
              </a:rPr>
              <a:t>秒</a:t>
            </a:r>
            <a:endParaRPr lang="zh-CN" altLang="en-US" baseline="30000" dirty="0">
              <a:latin typeface="楷体_GB2312" pitchFamily="49" charset="-122"/>
            </a:endParaRPr>
          </a:p>
        </p:txBody>
      </p:sp>
      <p:sp>
        <p:nvSpPr>
          <p:cNvPr id="32858" name="Line 90"/>
          <p:cNvSpPr/>
          <p:nvPr/>
        </p:nvSpPr>
        <p:spPr>
          <a:xfrm>
            <a:off x="1187450" y="2492375"/>
            <a:ext cx="576263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859" name="Rectangle 91"/>
          <p:cNvSpPr/>
          <p:nvPr/>
        </p:nvSpPr>
        <p:spPr>
          <a:xfrm>
            <a:off x="1908175" y="2205038"/>
            <a:ext cx="5616575" cy="519112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r>
              <a:rPr lang="zh-CN" altLang="zh-CN" dirty="0">
                <a:latin typeface="楷体_GB2312" pitchFamily="49" charset="-122"/>
              </a:rPr>
              <a:t>反映正弦量变化幅度的大小。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32860" name="Line 92"/>
          <p:cNvSpPr/>
          <p:nvPr/>
        </p:nvSpPr>
        <p:spPr>
          <a:xfrm>
            <a:off x="1116013" y="3644900"/>
            <a:ext cx="576262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861" name="Rectangle 93"/>
          <p:cNvSpPr/>
          <p:nvPr/>
        </p:nvSpPr>
        <p:spPr>
          <a:xfrm>
            <a:off x="1835150" y="3222625"/>
            <a:ext cx="6792913" cy="604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</a:rPr>
              <a:t>相位变化的速度，反映正弦量变化快慢。 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32862" name="Line 94"/>
          <p:cNvSpPr/>
          <p:nvPr/>
        </p:nvSpPr>
        <p:spPr>
          <a:xfrm>
            <a:off x="1042988" y="5516563"/>
            <a:ext cx="647700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863" name="Rectangle 95"/>
          <p:cNvSpPr/>
          <p:nvPr/>
        </p:nvSpPr>
        <p:spPr>
          <a:xfrm>
            <a:off x="1692275" y="5229225"/>
            <a:ext cx="7056438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</a:rPr>
              <a:t>反映正弦量的计时起点，常用角度表示。 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32864" name="Text Box 96"/>
          <p:cNvSpPr txBox="1">
            <a:spLocks noChangeArrowheads="1"/>
          </p:cNvSpPr>
          <p:nvPr/>
        </p:nvSpPr>
        <p:spPr bwMode="auto">
          <a:xfrm>
            <a:off x="4572000" y="692150"/>
            <a:ext cx="3968750" cy="701675"/>
          </a:xfrm>
          <a:prstGeom prst="rect">
            <a:avLst/>
          </a:prstGeom>
          <a:gradFill rotWithShape="1">
            <a:gsLst>
              <a:gs pos="0">
                <a:srgbClr val="66FFFF"/>
              </a:gs>
              <a:gs pos="50000">
                <a:schemeClr val="bg1"/>
              </a:gs>
              <a:gs pos="100000">
                <a:srgbClr val="66FFFF"/>
              </a:gs>
            </a:gsLst>
            <a:lin ang="5400000" scaled="1"/>
          </a:gra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4000" b="0" i="1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i</a:t>
            </a:r>
            <a:r>
              <a:rPr kumimoji="1" lang="en-US" altLang="zh-CN" sz="4000" b="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4000" b="0" i="1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4000" b="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)=</a:t>
            </a:r>
            <a:r>
              <a:rPr kumimoji="1" lang="en-US" altLang="zh-CN" sz="4000" b="0" i="1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4000" b="0" kern="1200" cap="none" spc="0" normalizeH="0" baseline="-2500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4000" b="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cos(</a:t>
            </a:r>
            <a:r>
              <a:rPr kumimoji="1" lang="en-US" altLang="zh-CN" sz="4000" b="0" i="1" kern="1200" cap="none" spc="0" normalizeH="0" baseline="0" noProof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w </a:t>
            </a:r>
            <a:r>
              <a:rPr kumimoji="1" lang="en-US" altLang="zh-CN" sz="4000" b="0" i="1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4000" b="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en-US" altLang="zh-CN" sz="4000" b="0" i="1" kern="1200" cap="none" spc="0" normalizeH="0" baseline="0" noProof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</a:t>
            </a:r>
            <a:r>
              <a:rPr kumimoji="1" lang="en-US" altLang="zh-CN" sz="4000" b="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</a:t>
            </a:r>
            <a:endParaRPr kumimoji="1" lang="en-US" altLang="zh-CN" sz="4000" b="0" kern="1200" cap="none" spc="0" normalizeH="0" baseline="0" noProof="0">
              <a:solidFill>
                <a:schemeClr val="tx1"/>
              </a:solidFill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207" name="Group 10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214" name="Picture 10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15" name="Text Box 10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208" name="Group 10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212" name="Picture 10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13" name="Text Box 10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209" name="Group 11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8210" name="Picture 114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11" name="Text Box 11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2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3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28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28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32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32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32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18" grpId="0"/>
      <p:bldP spid="32819" grpId="0"/>
      <p:bldP spid="32820" grpId="0"/>
      <p:bldP spid="32847" grpId="0"/>
      <p:bldP spid="32856" grpId="0"/>
      <p:bldP spid="32859" grpId="0"/>
      <p:bldP spid="32861" grpId="0"/>
      <p:bldP spid="32863" grpId="0"/>
      <p:bldP spid="3286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/>
          <p:nvPr/>
        </p:nvSpPr>
        <p:spPr>
          <a:xfrm>
            <a:off x="1908175" y="404813"/>
            <a:ext cx="6408738" cy="1117600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pPr algn="just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同一个正弦量，计时起点不同，初相位不同。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8"/>
          <p:cNvGrpSpPr/>
          <p:nvPr/>
        </p:nvGrpSpPr>
        <p:grpSpPr>
          <a:xfrm>
            <a:off x="2484438" y="1773238"/>
            <a:ext cx="2159000" cy="2849562"/>
            <a:chOff x="1565" y="845"/>
            <a:chExt cx="1360" cy="1795"/>
          </a:xfrm>
        </p:grpSpPr>
        <p:sp>
          <p:nvSpPr>
            <p:cNvPr id="52276" name="Line 23"/>
            <p:cNvSpPr/>
            <p:nvPr/>
          </p:nvSpPr>
          <p:spPr>
            <a:xfrm flipV="1">
              <a:off x="1565" y="1344"/>
              <a:ext cx="0" cy="1296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dash"/>
              <a:headEnd type="none" w="med" len="med"/>
              <a:tailEnd type="stealth" w="sm" len="med"/>
            </a:ln>
          </p:spPr>
        </p:sp>
        <p:sp>
          <p:nvSpPr>
            <p:cNvPr id="52277" name="AutoShape 29"/>
            <p:cNvSpPr/>
            <p:nvPr/>
          </p:nvSpPr>
          <p:spPr>
            <a:xfrm>
              <a:off x="2154" y="845"/>
              <a:ext cx="771" cy="408"/>
            </a:xfrm>
            <a:prstGeom prst="borderCallout2">
              <a:avLst>
                <a:gd name="adj1" fmla="val 17648"/>
                <a:gd name="adj2" fmla="val -6227"/>
                <a:gd name="adj3" fmla="val 17648"/>
                <a:gd name="adj4" fmla="val -6227"/>
                <a:gd name="adj5" fmla="val 189218"/>
                <a:gd name="adj6" fmla="val -78468"/>
              </a:avLst>
            </a:prstGeom>
            <a:solidFill>
              <a:srgbClr val="66FFFF"/>
            </a:solidFill>
            <a:ln w="28575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 </a:t>
              </a:r>
              <a:r>
                <a:rPr lang="en-US" altLang="zh-CN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=0</a:t>
              </a:r>
              <a:endPara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 algn="ctr"/>
              <a:endParaRPr lang="en-US" altLang="zh-CN" sz="32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3" name="Group 47"/>
          <p:cNvGrpSpPr/>
          <p:nvPr/>
        </p:nvGrpSpPr>
        <p:grpSpPr>
          <a:xfrm>
            <a:off x="3203575" y="2636838"/>
            <a:ext cx="3021013" cy="3455987"/>
            <a:chOff x="2018" y="1389"/>
            <a:chExt cx="1903" cy="2177"/>
          </a:xfrm>
        </p:grpSpPr>
        <p:sp>
          <p:nvSpPr>
            <p:cNvPr id="52274" name="Line 24"/>
            <p:cNvSpPr/>
            <p:nvPr/>
          </p:nvSpPr>
          <p:spPr>
            <a:xfrm flipV="1">
              <a:off x="2018" y="1389"/>
              <a:ext cx="0" cy="129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stealth" w="sm" len="med"/>
            </a:ln>
          </p:spPr>
        </p:sp>
        <p:sp>
          <p:nvSpPr>
            <p:cNvPr id="52275" name="AutoShape 30"/>
            <p:cNvSpPr/>
            <p:nvPr/>
          </p:nvSpPr>
          <p:spPr>
            <a:xfrm>
              <a:off x="3107" y="3158"/>
              <a:ext cx="814" cy="408"/>
            </a:xfrm>
            <a:prstGeom prst="borderCallout2">
              <a:avLst>
                <a:gd name="adj1" fmla="val 17648"/>
                <a:gd name="adj2" fmla="val -5898"/>
                <a:gd name="adj3" fmla="val 17648"/>
                <a:gd name="adj4" fmla="val -5898"/>
                <a:gd name="adj5" fmla="val -123528"/>
                <a:gd name="adj6" fmla="val -137593"/>
              </a:avLst>
            </a:prstGeom>
            <a:solidFill>
              <a:schemeClr val="bg1"/>
            </a:solidFill>
            <a:ln w="2857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  <a:sym typeface="Symbol" panose="05050102010706020507" pitchFamily="18" charset="2"/>
                </a:rPr>
                <a:t> </a:t>
              </a:r>
              <a:r>
                <a:rPr lang="en-US" altLang="zh-CN" b="0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  <a:sym typeface="Symbol" panose="05050102010706020507" pitchFamily="18" charset="2"/>
                </a:rPr>
                <a:t>=/2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endParaRPr>
            </a:p>
            <a:p>
              <a:pPr algn="ctr"/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4" name="Group 46"/>
          <p:cNvGrpSpPr/>
          <p:nvPr/>
        </p:nvGrpSpPr>
        <p:grpSpPr>
          <a:xfrm>
            <a:off x="1763713" y="2636838"/>
            <a:ext cx="2376487" cy="3600450"/>
            <a:chOff x="1111" y="1389"/>
            <a:chExt cx="1497" cy="2268"/>
          </a:xfrm>
        </p:grpSpPr>
        <p:sp>
          <p:nvSpPr>
            <p:cNvPr id="52272" name="Line 26"/>
            <p:cNvSpPr/>
            <p:nvPr/>
          </p:nvSpPr>
          <p:spPr>
            <a:xfrm flipV="1">
              <a:off x="1111" y="1389"/>
              <a:ext cx="0" cy="1296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dash"/>
              <a:headEnd type="none" w="med" len="med"/>
              <a:tailEnd type="stealth" w="sm" len="med"/>
            </a:ln>
          </p:spPr>
        </p:sp>
        <p:sp>
          <p:nvSpPr>
            <p:cNvPr id="52273" name="AutoShape 31"/>
            <p:cNvSpPr/>
            <p:nvPr/>
          </p:nvSpPr>
          <p:spPr>
            <a:xfrm>
              <a:off x="1429" y="3249"/>
              <a:ext cx="1179" cy="408"/>
            </a:xfrm>
            <a:prstGeom prst="borderCallout2">
              <a:avLst>
                <a:gd name="adj1" fmla="val 17648"/>
                <a:gd name="adj2" fmla="val -4069"/>
                <a:gd name="adj3" fmla="val 17648"/>
                <a:gd name="adj4" fmla="val -14421"/>
                <a:gd name="adj5" fmla="val -155884"/>
                <a:gd name="adj6" fmla="val -25106"/>
              </a:avLst>
            </a:prstGeom>
            <a:solidFill>
              <a:srgbClr val="008080"/>
            </a:solidFill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  <a:sym typeface="Symbol" panose="05050102010706020507" pitchFamily="18" charset="2"/>
                </a:rPr>
                <a:t> </a:t>
              </a:r>
              <a:r>
                <a:rPr lang="en-US" altLang="zh-CN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  <a:sym typeface="Symbol" panose="05050102010706020507" pitchFamily="18" charset="2"/>
                </a:rPr>
                <a:t>=</a:t>
              </a: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  <a:sym typeface="Symbol" panose="05050102010706020507" pitchFamily="18" charset="2"/>
                </a:rPr>
                <a:t>－</a:t>
              </a:r>
              <a:r>
                <a:rPr lang="en-US" altLang="zh-CN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  <a:sym typeface="Symbol" panose="05050102010706020507" pitchFamily="18" charset="2"/>
                </a:rPr>
                <a:t>/2</a:t>
              </a:r>
              <a:endParaRPr lang="en-US" altLang="zh-CN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  <a:p>
              <a:pPr algn="ctr"/>
              <a:endParaRPr lang="en-US" altLang="zh-CN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52230" name="Group 3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2270" name="Picture 3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71" name="Text Box 3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2231" name="Group 3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2268" name="Picture 4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69" name="Text Box 4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" name="Group 56"/>
          <p:cNvGrpSpPr/>
          <p:nvPr/>
        </p:nvGrpSpPr>
        <p:grpSpPr>
          <a:xfrm>
            <a:off x="1116013" y="2060575"/>
            <a:ext cx="6503987" cy="3127375"/>
            <a:chOff x="703" y="1041"/>
            <a:chExt cx="4097" cy="1970"/>
          </a:xfrm>
        </p:grpSpPr>
        <p:sp>
          <p:nvSpPr>
            <p:cNvPr id="52249" name="Freeform 4"/>
            <p:cNvSpPr/>
            <p:nvPr/>
          </p:nvSpPr>
          <p:spPr>
            <a:xfrm>
              <a:off x="1131" y="1851"/>
              <a:ext cx="217" cy="399"/>
            </a:xfrm>
            <a:custGeom>
              <a:avLst/>
              <a:gdLst>
                <a:gd name="txL" fmla="*/ 0 w 118"/>
                <a:gd name="txT" fmla="*/ 0 h 274"/>
                <a:gd name="txR" fmla="*/ 118 w 118"/>
                <a:gd name="txB" fmla="*/ 274 h 274"/>
              </a:gdLst>
              <a:ahLst/>
              <a:cxnLst>
                <a:cxn ang="0">
                  <a:pos x="0" y="399"/>
                </a:cxn>
                <a:cxn ang="0">
                  <a:pos x="24" y="349"/>
                </a:cxn>
                <a:cxn ang="0">
                  <a:pos x="53" y="291"/>
                </a:cxn>
                <a:cxn ang="0">
                  <a:pos x="109" y="185"/>
                </a:cxn>
                <a:cxn ang="0">
                  <a:pos x="138" y="131"/>
                </a:cxn>
                <a:cxn ang="0">
                  <a:pos x="164" y="82"/>
                </a:cxn>
                <a:cxn ang="0">
                  <a:pos x="193" y="39"/>
                </a:cxn>
                <a:cxn ang="0">
                  <a:pos x="217" y="0"/>
                </a:cxn>
              </a:cxnLst>
              <a:rect l="txL" t="txT" r="txR" b="txB"/>
              <a:pathLst>
                <a:path w="118" h="274">
                  <a:moveTo>
                    <a:pt x="0" y="274"/>
                  </a:moveTo>
                  <a:lnTo>
                    <a:pt x="13" y="240"/>
                  </a:lnTo>
                  <a:lnTo>
                    <a:pt x="29" y="200"/>
                  </a:lnTo>
                  <a:lnTo>
                    <a:pt x="59" y="127"/>
                  </a:lnTo>
                  <a:lnTo>
                    <a:pt x="75" y="90"/>
                  </a:lnTo>
                  <a:lnTo>
                    <a:pt x="89" y="56"/>
                  </a:lnTo>
                  <a:lnTo>
                    <a:pt x="105" y="27"/>
                  </a:lnTo>
                  <a:lnTo>
                    <a:pt x="118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50" name="Freeform 5"/>
            <p:cNvSpPr/>
            <p:nvPr/>
          </p:nvSpPr>
          <p:spPr>
            <a:xfrm>
              <a:off x="1348" y="1687"/>
              <a:ext cx="214" cy="164"/>
            </a:xfrm>
            <a:custGeom>
              <a:avLst/>
              <a:gdLst>
                <a:gd name="txL" fmla="*/ 0 w 116"/>
                <a:gd name="txT" fmla="*/ 0 h 113"/>
                <a:gd name="txR" fmla="*/ 116 w 116"/>
                <a:gd name="txB" fmla="*/ 113 h 113"/>
              </a:gdLst>
              <a:ahLst/>
              <a:cxnLst>
                <a:cxn ang="0">
                  <a:pos x="0" y="164"/>
                </a:cxn>
                <a:cxn ang="0">
                  <a:pos x="26" y="128"/>
                </a:cxn>
                <a:cxn ang="0">
                  <a:pos x="55" y="100"/>
                </a:cxn>
                <a:cxn ang="0">
                  <a:pos x="81" y="71"/>
                </a:cxn>
                <a:cxn ang="0">
                  <a:pos x="105" y="46"/>
                </a:cxn>
                <a:cxn ang="0">
                  <a:pos x="135" y="29"/>
                </a:cxn>
                <a:cxn ang="0">
                  <a:pos x="161" y="12"/>
                </a:cxn>
                <a:cxn ang="0">
                  <a:pos x="190" y="4"/>
                </a:cxn>
                <a:cxn ang="0">
                  <a:pos x="214" y="0"/>
                </a:cxn>
              </a:cxnLst>
              <a:rect l="txL" t="txT" r="txR" b="txB"/>
              <a:pathLst>
                <a:path w="116" h="113">
                  <a:moveTo>
                    <a:pt x="0" y="113"/>
                  </a:moveTo>
                  <a:lnTo>
                    <a:pt x="14" y="88"/>
                  </a:lnTo>
                  <a:lnTo>
                    <a:pt x="30" y="69"/>
                  </a:lnTo>
                  <a:lnTo>
                    <a:pt x="44" y="49"/>
                  </a:lnTo>
                  <a:lnTo>
                    <a:pt x="57" y="32"/>
                  </a:lnTo>
                  <a:lnTo>
                    <a:pt x="73" y="20"/>
                  </a:lnTo>
                  <a:lnTo>
                    <a:pt x="87" y="8"/>
                  </a:lnTo>
                  <a:lnTo>
                    <a:pt x="103" y="3"/>
                  </a:lnTo>
                  <a:lnTo>
                    <a:pt x="116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51" name="Freeform 6"/>
            <p:cNvSpPr/>
            <p:nvPr/>
          </p:nvSpPr>
          <p:spPr>
            <a:xfrm>
              <a:off x="1562" y="1687"/>
              <a:ext cx="218" cy="164"/>
            </a:xfrm>
            <a:custGeom>
              <a:avLst/>
              <a:gdLst>
                <a:gd name="txL" fmla="*/ 0 w 119"/>
                <a:gd name="txT" fmla="*/ 0 h 113"/>
                <a:gd name="txR" fmla="*/ 119 w 119"/>
                <a:gd name="txB" fmla="*/ 113 h 113"/>
              </a:gdLst>
              <a:ahLst/>
              <a:cxnLst>
                <a:cxn ang="0">
                  <a:pos x="0" y="0"/>
                </a:cxn>
                <a:cxn ang="0">
                  <a:pos x="26" y="4"/>
                </a:cxn>
                <a:cxn ang="0">
                  <a:pos x="55" y="12"/>
                </a:cxn>
                <a:cxn ang="0">
                  <a:pos x="81" y="29"/>
                </a:cxn>
                <a:cxn ang="0">
                  <a:pos x="110" y="46"/>
                </a:cxn>
                <a:cxn ang="0">
                  <a:pos x="139" y="71"/>
                </a:cxn>
                <a:cxn ang="0">
                  <a:pos x="165" y="100"/>
                </a:cxn>
                <a:cxn ang="0">
                  <a:pos x="194" y="128"/>
                </a:cxn>
                <a:cxn ang="0">
                  <a:pos x="218" y="164"/>
                </a:cxn>
              </a:cxnLst>
              <a:rect l="txL" t="txT" r="txR" b="txB"/>
              <a:pathLst>
                <a:path w="119" h="113">
                  <a:moveTo>
                    <a:pt x="0" y="0"/>
                  </a:moveTo>
                  <a:lnTo>
                    <a:pt x="14" y="3"/>
                  </a:lnTo>
                  <a:lnTo>
                    <a:pt x="30" y="8"/>
                  </a:lnTo>
                  <a:lnTo>
                    <a:pt x="44" y="20"/>
                  </a:lnTo>
                  <a:lnTo>
                    <a:pt x="60" y="32"/>
                  </a:lnTo>
                  <a:lnTo>
                    <a:pt x="76" y="49"/>
                  </a:lnTo>
                  <a:lnTo>
                    <a:pt x="90" y="69"/>
                  </a:lnTo>
                  <a:lnTo>
                    <a:pt x="106" y="88"/>
                  </a:lnTo>
                  <a:lnTo>
                    <a:pt x="119" y="113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52" name="Freeform 7"/>
            <p:cNvSpPr/>
            <p:nvPr/>
          </p:nvSpPr>
          <p:spPr>
            <a:xfrm>
              <a:off x="1780" y="1851"/>
              <a:ext cx="214" cy="399"/>
            </a:xfrm>
            <a:custGeom>
              <a:avLst/>
              <a:gdLst>
                <a:gd name="txL" fmla="*/ 0 w 116"/>
                <a:gd name="txT" fmla="*/ 0 h 274"/>
                <a:gd name="txR" fmla="*/ 116 w 116"/>
                <a:gd name="txB" fmla="*/ 274 h 274"/>
              </a:gdLst>
              <a:ahLst/>
              <a:cxnLst>
                <a:cxn ang="0">
                  <a:pos x="0" y="0"/>
                </a:cxn>
                <a:cxn ang="0">
                  <a:pos x="26" y="39"/>
                </a:cxn>
                <a:cxn ang="0">
                  <a:pos x="55" y="82"/>
                </a:cxn>
                <a:cxn ang="0">
                  <a:pos x="79" y="131"/>
                </a:cxn>
                <a:cxn ang="0">
                  <a:pos x="105" y="185"/>
                </a:cxn>
                <a:cxn ang="0">
                  <a:pos x="161" y="296"/>
                </a:cxn>
                <a:cxn ang="0">
                  <a:pos x="190" y="349"/>
                </a:cxn>
                <a:cxn ang="0">
                  <a:pos x="214" y="399"/>
                </a:cxn>
              </a:cxnLst>
              <a:rect l="txL" t="txT" r="txR" b="txB"/>
              <a:pathLst>
                <a:path w="116" h="274">
                  <a:moveTo>
                    <a:pt x="0" y="0"/>
                  </a:moveTo>
                  <a:lnTo>
                    <a:pt x="14" y="27"/>
                  </a:lnTo>
                  <a:lnTo>
                    <a:pt x="30" y="56"/>
                  </a:lnTo>
                  <a:lnTo>
                    <a:pt x="43" y="90"/>
                  </a:lnTo>
                  <a:lnTo>
                    <a:pt x="57" y="127"/>
                  </a:lnTo>
                  <a:lnTo>
                    <a:pt x="87" y="203"/>
                  </a:lnTo>
                  <a:lnTo>
                    <a:pt x="103" y="240"/>
                  </a:lnTo>
                  <a:lnTo>
                    <a:pt x="116" y="274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53" name="Freeform 8"/>
            <p:cNvSpPr/>
            <p:nvPr/>
          </p:nvSpPr>
          <p:spPr>
            <a:xfrm>
              <a:off x="1994" y="2250"/>
              <a:ext cx="218" cy="394"/>
            </a:xfrm>
            <a:custGeom>
              <a:avLst/>
              <a:gdLst>
                <a:gd name="txL" fmla="*/ 0 w 119"/>
                <a:gd name="txT" fmla="*/ 0 h 271"/>
                <a:gd name="txR" fmla="*/ 119 w 119"/>
                <a:gd name="txB" fmla="*/ 271 h 271"/>
              </a:gdLst>
              <a:ahLst/>
              <a:cxnLst>
                <a:cxn ang="0">
                  <a:pos x="0" y="0"/>
                </a:cxn>
                <a:cxn ang="0">
                  <a:pos x="26" y="49"/>
                </a:cxn>
                <a:cxn ang="0">
                  <a:pos x="55" y="103"/>
                </a:cxn>
                <a:cxn ang="0">
                  <a:pos x="110" y="212"/>
                </a:cxn>
                <a:cxn ang="0">
                  <a:pos x="139" y="263"/>
                </a:cxn>
                <a:cxn ang="0">
                  <a:pos x="163" y="313"/>
                </a:cxn>
                <a:cxn ang="0">
                  <a:pos x="194" y="355"/>
                </a:cxn>
                <a:cxn ang="0">
                  <a:pos x="218" y="394"/>
                </a:cxn>
              </a:cxnLst>
              <a:rect l="txL" t="txT" r="txR" b="txB"/>
              <a:pathLst>
                <a:path w="119" h="271">
                  <a:moveTo>
                    <a:pt x="0" y="0"/>
                  </a:moveTo>
                  <a:lnTo>
                    <a:pt x="14" y="34"/>
                  </a:lnTo>
                  <a:lnTo>
                    <a:pt x="30" y="71"/>
                  </a:lnTo>
                  <a:lnTo>
                    <a:pt x="60" y="146"/>
                  </a:lnTo>
                  <a:lnTo>
                    <a:pt x="76" y="181"/>
                  </a:lnTo>
                  <a:lnTo>
                    <a:pt x="89" y="215"/>
                  </a:lnTo>
                  <a:lnTo>
                    <a:pt x="106" y="244"/>
                  </a:lnTo>
                  <a:lnTo>
                    <a:pt x="119" y="271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54" name="Freeform 9"/>
            <p:cNvSpPr/>
            <p:nvPr/>
          </p:nvSpPr>
          <p:spPr>
            <a:xfrm>
              <a:off x="2212" y="2644"/>
              <a:ext cx="214" cy="168"/>
            </a:xfrm>
            <a:custGeom>
              <a:avLst/>
              <a:gdLst>
                <a:gd name="txL" fmla="*/ 0 w 116"/>
                <a:gd name="txT" fmla="*/ 0 h 115"/>
                <a:gd name="txR" fmla="*/ 116 w 116"/>
                <a:gd name="txB" fmla="*/ 115 h 115"/>
              </a:gdLst>
              <a:ahLst/>
              <a:cxnLst>
                <a:cxn ang="0">
                  <a:pos x="0" y="0"/>
                </a:cxn>
                <a:cxn ang="0">
                  <a:pos x="26" y="37"/>
                </a:cxn>
                <a:cxn ang="0">
                  <a:pos x="55" y="64"/>
                </a:cxn>
                <a:cxn ang="0">
                  <a:pos x="79" y="93"/>
                </a:cxn>
                <a:cxn ang="0">
                  <a:pos x="105" y="118"/>
                </a:cxn>
                <a:cxn ang="0">
                  <a:pos x="135" y="140"/>
                </a:cxn>
                <a:cxn ang="0">
                  <a:pos x="161" y="153"/>
                </a:cxn>
                <a:cxn ang="0">
                  <a:pos x="190" y="165"/>
                </a:cxn>
                <a:cxn ang="0">
                  <a:pos x="214" y="168"/>
                </a:cxn>
              </a:cxnLst>
              <a:rect l="txL" t="txT" r="txR" b="txB"/>
              <a:pathLst>
                <a:path w="116" h="115">
                  <a:moveTo>
                    <a:pt x="0" y="0"/>
                  </a:moveTo>
                  <a:lnTo>
                    <a:pt x="14" y="25"/>
                  </a:lnTo>
                  <a:lnTo>
                    <a:pt x="30" y="44"/>
                  </a:lnTo>
                  <a:lnTo>
                    <a:pt x="43" y="64"/>
                  </a:lnTo>
                  <a:lnTo>
                    <a:pt x="57" y="81"/>
                  </a:lnTo>
                  <a:lnTo>
                    <a:pt x="73" y="96"/>
                  </a:lnTo>
                  <a:lnTo>
                    <a:pt x="87" y="105"/>
                  </a:lnTo>
                  <a:lnTo>
                    <a:pt x="103" y="113"/>
                  </a:lnTo>
                  <a:lnTo>
                    <a:pt x="116" y="115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55" name="Freeform 10"/>
            <p:cNvSpPr/>
            <p:nvPr/>
          </p:nvSpPr>
          <p:spPr>
            <a:xfrm>
              <a:off x="2426" y="2644"/>
              <a:ext cx="218" cy="168"/>
            </a:xfrm>
            <a:custGeom>
              <a:avLst/>
              <a:gdLst>
                <a:gd name="txL" fmla="*/ 0 w 119"/>
                <a:gd name="txT" fmla="*/ 0 h 115"/>
                <a:gd name="txR" fmla="*/ 119 w 119"/>
                <a:gd name="txB" fmla="*/ 115 h 115"/>
              </a:gdLst>
              <a:ahLst/>
              <a:cxnLst>
                <a:cxn ang="0">
                  <a:pos x="0" y="168"/>
                </a:cxn>
                <a:cxn ang="0">
                  <a:pos x="26" y="165"/>
                </a:cxn>
                <a:cxn ang="0">
                  <a:pos x="55" y="153"/>
                </a:cxn>
                <a:cxn ang="0">
                  <a:pos x="79" y="140"/>
                </a:cxn>
                <a:cxn ang="0">
                  <a:pos x="110" y="118"/>
                </a:cxn>
                <a:cxn ang="0">
                  <a:pos x="139" y="93"/>
                </a:cxn>
                <a:cxn ang="0">
                  <a:pos x="163" y="64"/>
                </a:cxn>
                <a:cxn ang="0">
                  <a:pos x="194" y="37"/>
                </a:cxn>
                <a:cxn ang="0">
                  <a:pos x="218" y="0"/>
                </a:cxn>
              </a:cxnLst>
              <a:rect l="txL" t="txT" r="txR" b="txB"/>
              <a:pathLst>
                <a:path w="119" h="115">
                  <a:moveTo>
                    <a:pt x="0" y="115"/>
                  </a:moveTo>
                  <a:lnTo>
                    <a:pt x="14" y="113"/>
                  </a:lnTo>
                  <a:lnTo>
                    <a:pt x="30" y="105"/>
                  </a:lnTo>
                  <a:lnTo>
                    <a:pt x="43" y="96"/>
                  </a:lnTo>
                  <a:lnTo>
                    <a:pt x="60" y="81"/>
                  </a:lnTo>
                  <a:lnTo>
                    <a:pt x="76" y="64"/>
                  </a:lnTo>
                  <a:lnTo>
                    <a:pt x="89" y="44"/>
                  </a:lnTo>
                  <a:lnTo>
                    <a:pt x="106" y="25"/>
                  </a:lnTo>
                  <a:lnTo>
                    <a:pt x="119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56" name="Freeform 11"/>
            <p:cNvSpPr/>
            <p:nvPr/>
          </p:nvSpPr>
          <p:spPr>
            <a:xfrm>
              <a:off x="2644" y="2250"/>
              <a:ext cx="214" cy="394"/>
            </a:xfrm>
            <a:custGeom>
              <a:avLst/>
              <a:gdLst>
                <a:gd name="txL" fmla="*/ 0 w 116"/>
                <a:gd name="txT" fmla="*/ 0 h 271"/>
                <a:gd name="txR" fmla="*/ 116 w 116"/>
                <a:gd name="txB" fmla="*/ 271 h 271"/>
              </a:gdLst>
              <a:ahLst/>
              <a:cxnLst>
                <a:cxn ang="0">
                  <a:pos x="0" y="394"/>
                </a:cxn>
                <a:cxn ang="0">
                  <a:pos x="26" y="355"/>
                </a:cxn>
                <a:cxn ang="0">
                  <a:pos x="55" y="313"/>
                </a:cxn>
                <a:cxn ang="0">
                  <a:pos x="79" y="263"/>
                </a:cxn>
                <a:cxn ang="0">
                  <a:pos x="105" y="212"/>
                </a:cxn>
                <a:cxn ang="0">
                  <a:pos x="159" y="103"/>
                </a:cxn>
                <a:cxn ang="0">
                  <a:pos x="190" y="49"/>
                </a:cxn>
                <a:cxn ang="0">
                  <a:pos x="214" y="0"/>
                </a:cxn>
              </a:cxnLst>
              <a:rect l="txL" t="txT" r="txR" b="txB"/>
              <a:pathLst>
                <a:path w="116" h="271">
                  <a:moveTo>
                    <a:pt x="0" y="271"/>
                  </a:moveTo>
                  <a:lnTo>
                    <a:pt x="14" y="244"/>
                  </a:lnTo>
                  <a:lnTo>
                    <a:pt x="30" y="215"/>
                  </a:lnTo>
                  <a:lnTo>
                    <a:pt x="43" y="181"/>
                  </a:lnTo>
                  <a:lnTo>
                    <a:pt x="57" y="146"/>
                  </a:lnTo>
                  <a:lnTo>
                    <a:pt x="86" y="71"/>
                  </a:lnTo>
                  <a:lnTo>
                    <a:pt x="103" y="34"/>
                  </a:lnTo>
                  <a:lnTo>
                    <a:pt x="116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57" name="Freeform 12"/>
            <p:cNvSpPr/>
            <p:nvPr/>
          </p:nvSpPr>
          <p:spPr>
            <a:xfrm>
              <a:off x="2858" y="1851"/>
              <a:ext cx="218" cy="399"/>
            </a:xfrm>
            <a:custGeom>
              <a:avLst/>
              <a:gdLst>
                <a:gd name="txL" fmla="*/ 0 w 119"/>
                <a:gd name="txT" fmla="*/ 0 h 274"/>
                <a:gd name="txR" fmla="*/ 119 w 119"/>
                <a:gd name="txB" fmla="*/ 274 h 274"/>
              </a:gdLst>
              <a:ahLst/>
              <a:cxnLst>
                <a:cxn ang="0">
                  <a:pos x="0" y="399"/>
                </a:cxn>
                <a:cxn ang="0">
                  <a:pos x="26" y="349"/>
                </a:cxn>
                <a:cxn ang="0">
                  <a:pos x="55" y="296"/>
                </a:cxn>
                <a:cxn ang="0">
                  <a:pos x="110" y="185"/>
                </a:cxn>
                <a:cxn ang="0">
                  <a:pos x="139" y="131"/>
                </a:cxn>
                <a:cxn ang="0">
                  <a:pos x="163" y="82"/>
                </a:cxn>
                <a:cxn ang="0">
                  <a:pos x="192" y="39"/>
                </a:cxn>
                <a:cxn ang="0">
                  <a:pos x="218" y="0"/>
                </a:cxn>
              </a:cxnLst>
              <a:rect l="txL" t="txT" r="txR" b="txB"/>
              <a:pathLst>
                <a:path w="119" h="274">
                  <a:moveTo>
                    <a:pt x="0" y="274"/>
                  </a:moveTo>
                  <a:lnTo>
                    <a:pt x="14" y="240"/>
                  </a:lnTo>
                  <a:lnTo>
                    <a:pt x="30" y="203"/>
                  </a:lnTo>
                  <a:lnTo>
                    <a:pt x="60" y="127"/>
                  </a:lnTo>
                  <a:lnTo>
                    <a:pt x="76" y="90"/>
                  </a:lnTo>
                  <a:lnTo>
                    <a:pt x="89" y="56"/>
                  </a:lnTo>
                  <a:lnTo>
                    <a:pt x="105" y="27"/>
                  </a:lnTo>
                  <a:lnTo>
                    <a:pt x="119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58" name="Freeform 13"/>
            <p:cNvSpPr/>
            <p:nvPr/>
          </p:nvSpPr>
          <p:spPr>
            <a:xfrm>
              <a:off x="3076" y="1687"/>
              <a:ext cx="214" cy="164"/>
            </a:xfrm>
            <a:custGeom>
              <a:avLst/>
              <a:gdLst>
                <a:gd name="txL" fmla="*/ 0 w 116"/>
                <a:gd name="txT" fmla="*/ 0 h 113"/>
                <a:gd name="txR" fmla="*/ 116 w 116"/>
                <a:gd name="txB" fmla="*/ 113 h 113"/>
              </a:gdLst>
              <a:ahLst/>
              <a:cxnLst>
                <a:cxn ang="0">
                  <a:pos x="0" y="164"/>
                </a:cxn>
                <a:cxn ang="0">
                  <a:pos x="24" y="128"/>
                </a:cxn>
                <a:cxn ang="0">
                  <a:pos x="55" y="100"/>
                </a:cxn>
                <a:cxn ang="0">
                  <a:pos x="79" y="71"/>
                </a:cxn>
                <a:cxn ang="0">
                  <a:pos x="105" y="46"/>
                </a:cxn>
                <a:cxn ang="0">
                  <a:pos x="135" y="29"/>
                </a:cxn>
                <a:cxn ang="0">
                  <a:pos x="159" y="12"/>
                </a:cxn>
                <a:cxn ang="0">
                  <a:pos x="190" y="4"/>
                </a:cxn>
                <a:cxn ang="0">
                  <a:pos x="214" y="0"/>
                </a:cxn>
              </a:cxnLst>
              <a:rect l="txL" t="txT" r="txR" b="txB"/>
              <a:pathLst>
                <a:path w="116" h="113">
                  <a:moveTo>
                    <a:pt x="0" y="113"/>
                  </a:moveTo>
                  <a:lnTo>
                    <a:pt x="13" y="88"/>
                  </a:lnTo>
                  <a:lnTo>
                    <a:pt x="30" y="69"/>
                  </a:lnTo>
                  <a:lnTo>
                    <a:pt x="43" y="49"/>
                  </a:lnTo>
                  <a:lnTo>
                    <a:pt x="57" y="32"/>
                  </a:lnTo>
                  <a:lnTo>
                    <a:pt x="73" y="20"/>
                  </a:lnTo>
                  <a:lnTo>
                    <a:pt x="86" y="8"/>
                  </a:lnTo>
                  <a:lnTo>
                    <a:pt x="103" y="3"/>
                  </a:lnTo>
                  <a:lnTo>
                    <a:pt x="116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59" name="Freeform 14"/>
            <p:cNvSpPr/>
            <p:nvPr/>
          </p:nvSpPr>
          <p:spPr>
            <a:xfrm>
              <a:off x="3290" y="1687"/>
              <a:ext cx="218" cy="164"/>
            </a:xfrm>
            <a:custGeom>
              <a:avLst/>
              <a:gdLst>
                <a:gd name="txL" fmla="*/ 0 w 119"/>
                <a:gd name="txT" fmla="*/ 0 h 113"/>
                <a:gd name="txR" fmla="*/ 119 w 119"/>
                <a:gd name="txB" fmla="*/ 113 h 113"/>
              </a:gdLst>
              <a:ahLst/>
              <a:cxnLst>
                <a:cxn ang="0">
                  <a:pos x="0" y="0"/>
                </a:cxn>
                <a:cxn ang="0">
                  <a:pos x="26" y="4"/>
                </a:cxn>
                <a:cxn ang="0">
                  <a:pos x="55" y="12"/>
                </a:cxn>
                <a:cxn ang="0">
                  <a:pos x="79" y="29"/>
                </a:cxn>
                <a:cxn ang="0">
                  <a:pos x="108" y="46"/>
                </a:cxn>
                <a:cxn ang="0">
                  <a:pos x="139" y="71"/>
                </a:cxn>
                <a:cxn ang="0">
                  <a:pos x="163" y="100"/>
                </a:cxn>
                <a:cxn ang="0">
                  <a:pos x="192" y="128"/>
                </a:cxn>
                <a:cxn ang="0">
                  <a:pos x="218" y="164"/>
                </a:cxn>
              </a:cxnLst>
              <a:rect l="txL" t="txT" r="txR" b="txB"/>
              <a:pathLst>
                <a:path w="119" h="113">
                  <a:moveTo>
                    <a:pt x="0" y="0"/>
                  </a:moveTo>
                  <a:lnTo>
                    <a:pt x="14" y="3"/>
                  </a:lnTo>
                  <a:lnTo>
                    <a:pt x="30" y="8"/>
                  </a:lnTo>
                  <a:lnTo>
                    <a:pt x="43" y="20"/>
                  </a:lnTo>
                  <a:lnTo>
                    <a:pt x="59" y="32"/>
                  </a:lnTo>
                  <a:lnTo>
                    <a:pt x="76" y="49"/>
                  </a:lnTo>
                  <a:lnTo>
                    <a:pt x="89" y="69"/>
                  </a:lnTo>
                  <a:lnTo>
                    <a:pt x="105" y="88"/>
                  </a:lnTo>
                  <a:lnTo>
                    <a:pt x="119" y="113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60" name="Freeform 15"/>
            <p:cNvSpPr/>
            <p:nvPr/>
          </p:nvSpPr>
          <p:spPr>
            <a:xfrm>
              <a:off x="3508" y="1851"/>
              <a:ext cx="214" cy="399"/>
            </a:xfrm>
            <a:custGeom>
              <a:avLst/>
              <a:gdLst>
                <a:gd name="txL" fmla="*/ 0 w 116"/>
                <a:gd name="txT" fmla="*/ 0 h 274"/>
                <a:gd name="txR" fmla="*/ 116 w 116"/>
                <a:gd name="txB" fmla="*/ 274 h 274"/>
              </a:gdLst>
              <a:ahLst/>
              <a:cxnLst>
                <a:cxn ang="0">
                  <a:pos x="0" y="0"/>
                </a:cxn>
                <a:cxn ang="0">
                  <a:pos x="24" y="39"/>
                </a:cxn>
                <a:cxn ang="0">
                  <a:pos x="55" y="82"/>
                </a:cxn>
                <a:cxn ang="0">
                  <a:pos x="79" y="131"/>
                </a:cxn>
                <a:cxn ang="0">
                  <a:pos x="105" y="185"/>
                </a:cxn>
                <a:cxn ang="0">
                  <a:pos x="159" y="296"/>
                </a:cxn>
                <a:cxn ang="0">
                  <a:pos x="188" y="349"/>
                </a:cxn>
                <a:cxn ang="0">
                  <a:pos x="214" y="399"/>
                </a:cxn>
              </a:cxnLst>
              <a:rect l="txL" t="txT" r="txR" b="txB"/>
              <a:pathLst>
                <a:path w="116" h="274">
                  <a:moveTo>
                    <a:pt x="0" y="0"/>
                  </a:moveTo>
                  <a:lnTo>
                    <a:pt x="13" y="27"/>
                  </a:lnTo>
                  <a:lnTo>
                    <a:pt x="30" y="56"/>
                  </a:lnTo>
                  <a:lnTo>
                    <a:pt x="43" y="90"/>
                  </a:lnTo>
                  <a:lnTo>
                    <a:pt x="57" y="127"/>
                  </a:lnTo>
                  <a:lnTo>
                    <a:pt x="86" y="203"/>
                  </a:lnTo>
                  <a:lnTo>
                    <a:pt x="102" y="240"/>
                  </a:lnTo>
                  <a:lnTo>
                    <a:pt x="116" y="274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61" name="Line 16"/>
            <p:cNvSpPr/>
            <p:nvPr/>
          </p:nvSpPr>
          <p:spPr>
            <a:xfrm>
              <a:off x="3722" y="2250"/>
              <a:ext cx="218" cy="39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2" name="Line 17"/>
            <p:cNvSpPr/>
            <p:nvPr/>
          </p:nvSpPr>
          <p:spPr>
            <a:xfrm>
              <a:off x="703" y="2240"/>
              <a:ext cx="3618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63" name="Line 18"/>
            <p:cNvSpPr/>
            <p:nvPr/>
          </p:nvSpPr>
          <p:spPr>
            <a:xfrm flipV="1">
              <a:off x="1321" y="1265"/>
              <a:ext cx="0" cy="1746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64" name="Text Box 19"/>
            <p:cNvSpPr txBox="1"/>
            <p:nvPr/>
          </p:nvSpPr>
          <p:spPr>
            <a:xfrm>
              <a:off x="4368" y="2007"/>
              <a:ext cx="116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endParaRPr lang="zh-CN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65" name="Text Box 20"/>
            <p:cNvSpPr txBox="1"/>
            <p:nvPr/>
          </p:nvSpPr>
          <p:spPr>
            <a:xfrm>
              <a:off x="1383" y="1041"/>
              <a:ext cx="187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66" name="Text Box 21"/>
            <p:cNvSpPr txBox="1"/>
            <p:nvPr/>
          </p:nvSpPr>
          <p:spPr>
            <a:xfrm>
              <a:off x="1110" y="2268"/>
              <a:ext cx="232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67" name="Text Box 53"/>
            <p:cNvSpPr txBox="1"/>
            <p:nvPr/>
          </p:nvSpPr>
          <p:spPr>
            <a:xfrm>
              <a:off x="4241" y="2115"/>
              <a:ext cx="55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t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58"/>
          <p:cNvGrpSpPr/>
          <p:nvPr/>
        </p:nvGrpSpPr>
        <p:grpSpPr>
          <a:xfrm>
            <a:off x="1331913" y="2636838"/>
            <a:ext cx="2087562" cy="2030412"/>
            <a:chOff x="839" y="1389"/>
            <a:chExt cx="1315" cy="1279"/>
          </a:xfrm>
        </p:grpSpPr>
        <p:grpSp>
          <p:nvGrpSpPr>
            <p:cNvPr id="52243" name="Group 55"/>
            <p:cNvGrpSpPr/>
            <p:nvPr/>
          </p:nvGrpSpPr>
          <p:grpSpPr>
            <a:xfrm>
              <a:off x="839" y="2341"/>
              <a:ext cx="1315" cy="327"/>
              <a:chOff x="385" y="3748"/>
              <a:chExt cx="1315" cy="327"/>
            </a:xfrm>
          </p:grpSpPr>
          <p:grpSp>
            <p:nvGrpSpPr>
              <p:cNvPr id="52245" name="Group 54"/>
              <p:cNvGrpSpPr/>
              <p:nvPr/>
            </p:nvGrpSpPr>
            <p:grpSpPr>
              <a:xfrm>
                <a:off x="385" y="3929"/>
                <a:ext cx="1315" cy="0"/>
                <a:chOff x="839" y="2478"/>
                <a:chExt cx="1315" cy="0"/>
              </a:xfrm>
            </p:grpSpPr>
            <p:sp>
              <p:nvSpPr>
                <p:cNvPr id="52247" name="Line 50"/>
                <p:cNvSpPr/>
                <p:nvPr/>
              </p:nvSpPr>
              <p:spPr>
                <a:xfrm>
                  <a:off x="839" y="2478"/>
                  <a:ext cx="453" cy="0"/>
                </a:xfrm>
                <a:prstGeom prst="line">
                  <a:avLst/>
                </a:prstGeom>
                <a:ln w="28575" cap="flat" cmpd="sng">
                  <a:solidFill>
                    <a:srgbClr val="66FFFF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52248" name="Line 51"/>
                <p:cNvSpPr/>
                <p:nvPr/>
              </p:nvSpPr>
              <p:spPr>
                <a:xfrm flipH="1">
                  <a:off x="1610" y="2478"/>
                  <a:ext cx="544" cy="0"/>
                </a:xfrm>
                <a:prstGeom prst="line">
                  <a:avLst/>
                </a:prstGeom>
                <a:ln w="28575" cap="flat" cmpd="sng">
                  <a:solidFill>
                    <a:srgbClr val="66FFFF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52246" name="Text Box 52"/>
              <p:cNvSpPr txBox="1"/>
              <p:nvPr/>
            </p:nvSpPr>
            <p:spPr>
              <a:xfrm>
                <a:off x="839" y="3748"/>
                <a:ext cx="559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sym typeface="Symbol" panose="05050102010706020507" pitchFamily="18" charset="2"/>
                  </a:rPr>
                  <a:t>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52244" name="Line 57"/>
            <p:cNvSpPr/>
            <p:nvPr/>
          </p:nvSpPr>
          <p:spPr>
            <a:xfrm flipV="1">
              <a:off x="1565" y="1389"/>
              <a:ext cx="0" cy="127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triangle" w="med" len="med"/>
            </a:ln>
          </p:spPr>
        </p:sp>
      </p:grpSp>
      <p:grpSp>
        <p:nvGrpSpPr>
          <p:cNvPr id="11" name="Group 59"/>
          <p:cNvGrpSpPr/>
          <p:nvPr/>
        </p:nvGrpSpPr>
        <p:grpSpPr>
          <a:xfrm>
            <a:off x="468313" y="333375"/>
            <a:ext cx="1644650" cy="850900"/>
            <a:chOff x="385" y="3022"/>
            <a:chExt cx="1036" cy="536"/>
          </a:xfrm>
        </p:grpSpPr>
        <p:pic>
          <p:nvPicPr>
            <p:cNvPr id="52241" name="Picture 60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42" name="Text Box 61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52235" name="Group 65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2239" name="Picture 6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40" name="Text Box 6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3" name="Group 69"/>
          <p:cNvGrpSpPr/>
          <p:nvPr/>
        </p:nvGrpSpPr>
        <p:grpSpPr>
          <a:xfrm>
            <a:off x="5003800" y="1844675"/>
            <a:ext cx="3670300" cy="579438"/>
            <a:chOff x="3152" y="1162"/>
            <a:chExt cx="2312" cy="365"/>
          </a:xfrm>
        </p:grpSpPr>
        <p:sp>
          <p:nvSpPr>
            <p:cNvPr id="52237" name="Text Box 28"/>
            <p:cNvSpPr txBox="1"/>
            <p:nvPr/>
          </p:nvSpPr>
          <p:spPr>
            <a:xfrm>
              <a:off x="3152" y="1162"/>
              <a:ext cx="231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8000" rIns="19800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一般规定</a:t>
              </a:r>
              <a:r>
                <a: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|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|&lt;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。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38" name="Line 68"/>
            <p:cNvSpPr/>
            <p:nvPr/>
          </p:nvSpPr>
          <p:spPr>
            <a:xfrm>
              <a:off x="4722" y="1407"/>
              <a:ext cx="154" cy="73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Text Box 2"/>
          <p:cNvSpPr txBox="1"/>
          <p:nvPr/>
        </p:nvSpPr>
        <p:spPr>
          <a:xfrm>
            <a:off x="323850" y="476250"/>
            <a:ext cx="143986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2-1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25" name="Text Box 29"/>
          <p:cNvSpPr txBox="1"/>
          <p:nvPr/>
        </p:nvSpPr>
        <p:spPr>
          <a:xfrm>
            <a:off x="1258888" y="476250"/>
            <a:ext cx="7488237" cy="1189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</a:rPr>
              <a:t>已知正弦电流波形如图，</a:t>
            </a:r>
            <a:r>
              <a:rPr lang="zh-CN" altLang="en-US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lang="en-US" altLang="zh-CN" b="0" baseline="30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rad/s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，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楷体_GB2312" pitchFamily="49" charset="-122"/>
                <a:sym typeface="Symbol" panose="05050102010706020507" pitchFamily="18" charset="2"/>
              </a:rPr>
              <a:t>1.</a:t>
            </a:r>
            <a:r>
              <a:rPr lang="zh-CN" altLang="en-US" dirty="0">
                <a:latin typeface="楷体_GB2312" pitchFamily="49" charset="-122"/>
                <a:sym typeface="Symbol" panose="05050102010706020507" pitchFamily="18" charset="2"/>
              </a:rPr>
              <a:t>写出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sym typeface="Symbol" panose="05050102010706020507" pitchFamily="18" charset="2"/>
              </a:rPr>
              <a:t>表达式；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2.</a:t>
            </a:r>
            <a:r>
              <a:rPr lang="zh-CN" altLang="en-US" dirty="0">
                <a:latin typeface="楷体_GB2312" pitchFamily="49" charset="-122"/>
                <a:sym typeface="Symbol" panose="05050102010706020507" pitchFamily="18" charset="2"/>
              </a:rPr>
              <a:t>求最大值发生的时间</a:t>
            </a:r>
            <a:r>
              <a:rPr lang="en-US" altLang="zh-CN" sz="3200" b="0" i="1" dirty="0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baseline="-25000" dirty="0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1</a:t>
            </a:r>
            <a:r>
              <a:rPr lang="zh-CN" altLang="en-US" dirty="0">
                <a:latin typeface="楷体_GB2312" pitchFamily="49" charset="-122"/>
                <a:sym typeface="Symbol" panose="05050102010706020507" pitchFamily="18" charset="2"/>
              </a:rPr>
              <a:t>。</a:t>
            </a:r>
            <a:endParaRPr lang="zh-CN" altLang="en-US" dirty="0">
              <a:latin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" name="Group 58"/>
          <p:cNvGrpSpPr/>
          <p:nvPr/>
        </p:nvGrpSpPr>
        <p:grpSpPr>
          <a:xfrm>
            <a:off x="5956300" y="1844675"/>
            <a:ext cx="2792413" cy="3024188"/>
            <a:chOff x="3752" y="935"/>
            <a:chExt cx="1759" cy="1905"/>
          </a:xfrm>
        </p:grpSpPr>
        <p:sp>
          <p:nvSpPr>
            <p:cNvPr id="9242" name="Line 17"/>
            <p:cNvSpPr/>
            <p:nvPr/>
          </p:nvSpPr>
          <p:spPr>
            <a:xfrm>
              <a:off x="3787" y="2115"/>
              <a:ext cx="1724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43" name="Line 18"/>
            <p:cNvSpPr/>
            <p:nvPr/>
          </p:nvSpPr>
          <p:spPr>
            <a:xfrm flipV="1">
              <a:off x="4314" y="1158"/>
              <a:ext cx="0" cy="1682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44" name="Text Box 19"/>
            <p:cNvSpPr txBox="1"/>
            <p:nvPr/>
          </p:nvSpPr>
          <p:spPr>
            <a:xfrm>
              <a:off x="5329" y="1752"/>
              <a:ext cx="177" cy="32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45" name="Text Box 20"/>
            <p:cNvSpPr txBox="1"/>
            <p:nvPr/>
          </p:nvSpPr>
          <p:spPr>
            <a:xfrm>
              <a:off x="4422" y="935"/>
              <a:ext cx="17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46" name="Text Box 21"/>
            <p:cNvSpPr txBox="1"/>
            <p:nvPr/>
          </p:nvSpPr>
          <p:spPr>
            <a:xfrm>
              <a:off x="4069" y="2178"/>
              <a:ext cx="232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47" name="Text Box 23"/>
            <p:cNvSpPr txBox="1"/>
            <p:nvPr/>
          </p:nvSpPr>
          <p:spPr>
            <a:xfrm>
              <a:off x="3878" y="1071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100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9248" name="Text Box 24"/>
            <p:cNvSpPr txBox="1"/>
            <p:nvPr/>
          </p:nvSpPr>
          <p:spPr>
            <a:xfrm>
              <a:off x="3878" y="1570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9249" name="Freeform 4"/>
            <p:cNvSpPr/>
            <p:nvPr/>
          </p:nvSpPr>
          <p:spPr>
            <a:xfrm>
              <a:off x="4110" y="1598"/>
              <a:ext cx="263" cy="613"/>
            </a:xfrm>
            <a:custGeom>
              <a:avLst/>
              <a:gdLst>
                <a:gd name="txL" fmla="*/ 0 w 118"/>
                <a:gd name="txT" fmla="*/ 0 h 274"/>
                <a:gd name="txR" fmla="*/ 118 w 118"/>
                <a:gd name="txB" fmla="*/ 274 h 274"/>
              </a:gdLst>
              <a:ahLst/>
              <a:cxnLst>
                <a:cxn ang="0">
                  <a:pos x="0" y="613"/>
                </a:cxn>
                <a:cxn ang="0">
                  <a:pos x="29" y="537"/>
                </a:cxn>
                <a:cxn ang="0">
                  <a:pos x="65" y="447"/>
                </a:cxn>
                <a:cxn ang="0">
                  <a:pos x="132" y="284"/>
                </a:cxn>
                <a:cxn ang="0">
                  <a:pos x="167" y="201"/>
                </a:cxn>
                <a:cxn ang="0">
                  <a:pos x="198" y="125"/>
                </a:cxn>
                <a:cxn ang="0">
                  <a:pos x="234" y="60"/>
                </a:cxn>
                <a:cxn ang="0">
                  <a:pos x="263" y="0"/>
                </a:cxn>
              </a:cxnLst>
              <a:rect l="txL" t="txT" r="txR" b="txB"/>
              <a:pathLst>
                <a:path w="118" h="274">
                  <a:moveTo>
                    <a:pt x="0" y="274"/>
                  </a:moveTo>
                  <a:lnTo>
                    <a:pt x="13" y="240"/>
                  </a:lnTo>
                  <a:lnTo>
                    <a:pt x="29" y="200"/>
                  </a:lnTo>
                  <a:lnTo>
                    <a:pt x="59" y="127"/>
                  </a:lnTo>
                  <a:lnTo>
                    <a:pt x="75" y="90"/>
                  </a:lnTo>
                  <a:lnTo>
                    <a:pt x="89" y="56"/>
                  </a:lnTo>
                  <a:lnTo>
                    <a:pt x="105" y="27"/>
                  </a:lnTo>
                  <a:lnTo>
                    <a:pt x="118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50" name="Freeform 5"/>
            <p:cNvSpPr/>
            <p:nvPr/>
          </p:nvSpPr>
          <p:spPr>
            <a:xfrm>
              <a:off x="4373" y="1344"/>
              <a:ext cx="259" cy="254"/>
            </a:xfrm>
            <a:custGeom>
              <a:avLst/>
              <a:gdLst>
                <a:gd name="txL" fmla="*/ 0 w 116"/>
                <a:gd name="txT" fmla="*/ 0 h 113"/>
                <a:gd name="txR" fmla="*/ 116 w 116"/>
                <a:gd name="txB" fmla="*/ 113 h 113"/>
              </a:gdLst>
              <a:ahLst/>
              <a:cxnLst>
                <a:cxn ang="0">
                  <a:pos x="0" y="254"/>
                </a:cxn>
                <a:cxn ang="0">
                  <a:pos x="31" y="198"/>
                </a:cxn>
                <a:cxn ang="0">
                  <a:pos x="67" y="155"/>
                </a:cxn>
                <a:cxn ang="0">
                  <a:pos x="98" y="110"/>
                </a:cxn>
                <a:cxn ang="0">
                  <a:pos x="127" y="72"/>
                </a:cxn>
                <a:cxn ang="0">
                  <a:pos x="163" y="45"/>
                </a:cxn>
                <a:cxn ang="0">
                  <a:pos x="194" y="18"/>
                </a:cxn>
                <a:cxn ang="0">
                  <a:pos x="230" y="7"/>
                </a:cxn>
                <a:cxn ang="0">
                  <a:pos x="259" y="0"/>
                </a:cxn>
              </a:cxnLst>
              <a:rect l="txL" t="txT" r="txR" b="txB"/>
              <a:pathLst>
                <a:path w="116" h="113">
                  <a:moveTo>
                    <a:pt x="0" y="113"/>
                  </a:moveTo>
                  <a:lnTo>
                    <a:pt x="14" y="88"/>
                  </a:lnTo>
                  <a:lnTo>
                    <a:pt x="30" y="69"/>
                  </a:lnTo>
                  <a:lnTo>
                    <a:pt x="44" y="49"/>
                  </a:lnTo>
                  <a:lnTo>
                    <a:pt x="57" y="32"/>
                  </a:lnTo>
                  <a:lnTo>
                    <a:pt x="73" y="20"/>
                  </a:lnTo>
                  <a:lnTo>
                    <a:pt x="87" y="8"/>
                  </a:lnTo>
                  <a:lnTo>
                    <a:pt x="103" y="3"/>
                  </a:lnTo>
                  <a:lnTo>
                    <a:pt x="116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51" name="Freeform 6"/>
            <p:cNvSpPr/>
            <p:nvPr/>
          </p:nvSpPr>
          <p:spPr>
            <a:xfrm>
              <a:off x="4632" y="1344"/>
              <a:ext cx="265" cy="254"/>
            </a:xfrm>
            <a:custGeom>
              <a:avLst/>
              <a:gdLst>
                <a:gd name="txL" fmla="*/ 0 w 119"/>
                <a:gd name="txT" fmla="*/ 0 h 113"/>
                <a:gd name="txR" fmla="*/ 119 w 119"/>
                <a:gd name="txB" fmla="*/ 113 h 113"/>
              </a:gdLst>
              <a:ahLst/>
              <a:cxnLst>
                <a:cxn ang="0">
                  <a:pos x="0" y="0"/>
                </a:cxn>
                <a:cxn ang="0">
                  <a:pos x="31" y="7"/>
                </a:cxn>
                <a:cxn ang="0">
                  <a:pos x="67" y="18"/>
                </a:cxn>
                <a:cxn ang="0">
                  <a:pos x="98" y="45"/>
                </a:cxn>
                <a:cxn ang="0">
                  <a:pos x="134" y="72"/>
                </a:cxn>
                <a:cxn ang="0">
                  <a:pos x="169" y="110"/>
                </a:cxn>
                <a:cxn ang="0">
                  <a:pos x="200" y="155"/>
                </a:cxn>
                <a:cxn ang="0">
                  <a:pos x="236" y="198"/>
                </a:cxn>
                <a:cxn ang="0">
                  <a:pos x="265" y="254"/>
                </a:cxn>
              </a:cxnLst>
              <a:rect l="txL" t="txT" r="txR" b="txB"/>
              <a:pathLst>
                <a:path w="119" h="113">
                  <a:moveTo>
                    <a:pt x="0" y="0"/>
                  </a:moveTo>
                  <a:lnTo>
                    <a:pt x="14" y="3"/>
                  </a:lnTo>
                  <a:lnTo>
                    <a:pt x="30" y="8"/>
                  </a:lnTo>
                  <a:lnTo>
                    <a:pt x="44" y="20"/>
                  </a:lnTo>
                  <a:lnTo>
                    <a:pt x="60" y="32"/>
                  </a:lnTo>
                  <a:lnTo>
                    <a:pt x="76" y="49"/>
                  </a:lnTo>
                  <a:lnTo>
                    <a:pt x="90" y="69"/>
                  </a:lnTo>
                  <a:lnTo>
                    <a:pt x="106" y="88"/>
                  </a:lnTo>
                  <a:lnTo>
                    <a:pt x="119" y="113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52" name="Freeform 7"/>
            <p:cNvSpPr/>
            <p:nvPr/>
          </p:nvSpPr>
          <p:spPr>
            <a:xfrm>
              <a:off x="4897" y="1598"/>
              <a:ext cx="258" cy="613"/>
            </a:xfrm>
            <a:custGeom>
              <a:avLst/>
              <a:gdLst>
                <a:gd name="txL" fmla="*/ 0 w 116"/>
                <a:gd name="txT" fmla="*/ 0 h 274"/>
                <a:gd name="txR" fmla="*/ 116 w 116"/>
                <a:gd name="txB" fmla="*/ 274 h 274"/>
              </a:gdLst>
              <a:ahLst/>
              <a:cxnLst>
                <a:cxn ang="0">
                  <a:pos x="0" y="0"/>
                </a:cxn>
                <a:cxn ang="0">
                  <a:pos x="31" y="60"/>
                </a:cxn>
                <a:cxn ang="0">
                  <a:pos x="67" y="125"/>
                </a:cxn>
                <a:cxn ang="0">
                  <a:pos x="96" y="201"/>
                </a:cxn>
                <a:cxn ang="0">
                  <a:pos x="127" y="284"/>
                </a:cxn>
                <a:cxn ang="0">
                  <a:pos x="194" y="454"/>
                </a:cxn>
                <a:cxn ang="0">
                  <a:pos x="229" y="537"/>
                </a:cxn>
                <a:cxn ang="0">
                  <a:pos x="258" y="613"/>
                </a:cxn>
              </a:cxnLst>
              <a:rect l="txL" t="txT" r="txR" b="txB"/>
              <a:pathLst>
                <a:path w="116" h="274">
                  <a:moveTo>
                    <a:pt x="0" y="0"/>
                  </a:moveTo>
                  <a:lnTo>
                    <a:pt x="14" y="27"/>
                  </a:lnTo>
                  <a:lnTo>
                    <a:pt x="30" y="56"/>
                  </a:lnTo>
                  <a:lnTo>
                    <a:pt x="43" y="90"/>
                  </a:lnTo>
                  <a:lnTo>
                    <a:pt x="57" y="127"/>
                  </a:lnTo>
                  <a:lnTo>
                    <a:pt x="87" y="203"/>
                  </a:lnTo>
                  <a:lnTo>
                    <a:pt x="103" y="240"/>
                  </a:lnTo>
                  <a:lnTo>
                    <a:pt x="116" y="274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53" name="Freeform 8"/>
            <p:cNvSpPr/>
            <p:nvPr/>
          </p:nvSpPr>
          <p:spPr>
            <a:xfrm>
              <a:off x="5155" y="2211"/>
              <a:ext cx="265" cy="606"/>
            </a:xfrm>
            <a:custGeom>
              <a:avLst/>
              <a:gdLst>
                <a:gd name="txL" fmla="*/ 0 w 119"/>
                <a:gd name="txT" fmla="*/ 0 h 271"/>
                <a:gd name="txR" fmla="*/ 119 w 119"/>
                <a:gd name="txB" fmla="*/ 271 h 271"/>
              </a:gdLst>
              <a:ahLst/>
              <a:cxnLst>
                <a:cxn ang="0">
                  <a:pos x="0" y="0"/>
                </a:cxn>
                <a:cxn ang="0">
                  <a:pos x="31" y="76"/>
                </a:cxn>
                <a:cxn ang="0">
                  <a:pos x="67" y="159"/>
                </a:cxn>
                <a:cxn ang="0">
                  <a:pos x="134" y="326"/>
                </a:cxn>
                <a:cxn ang="0">
                  <a:pos x="169" y="405"/>
                </a:cxn>
                <a:cxn ang="0">
                  <a:pos x="198" y="481"/>
                </a:cxn>
                <a:cxn ang="0">
                  <a:pos x="236" y="546"/>
                </a:cxn>
                <a:cxn ang="0">
                  <a:pos x="265" y="606"/>
                </a:cxn>
              </a:cxnLst>
              <a:rect l="txL" t="txT" r="txR" b="txB"/>
              <a:pathLst>
                <a:path w="119" h="271">
                  <a:moveTo>
                    <a:pt x="0" y="0"/>
                  </a:moveTo>
                  <a:lnTo>
                    <a:pt x="14" y="34"/>
                  </a:lnTo>
                  <a:lnTo>
                    <a:pt x="30" y="71"/>
                  </a:lnTo>
                  <a:lnTo>
                    <a:pt x="60" y="146"/>
                  </a:lnTo>
                  <a:lnTo>
                    <a:pt x="76" y="181"/>
                  </a:lnTo>
                  <a:lnTo>
                    <a:pt x="89" y="215"/>
                  </a:lnTo>
                  <a:lnTo>
                    <a:pt x="106" y="244"/>
                  </a:lnTo>
                  <a:lnTo>
                    <a:pt x="119" y="271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54" name="Line 22"/>
            <p:cNvSpPr/>
            <p:nvPr/>
          </p:nvSpPr>
          <p:spPr>
            <a:xfrm>
              <a:off x="3752" y="1354"/>
              <a:ext cx="876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9255" name="Line 25"/>
            <p:cNvSpPr/>
            <p:nvPr/>
          </p:nvSpPr>
          <p:spPr>
            <a:xfrm>
              <a:off x="4230" y="1716"/>
              <a:ext cx="238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6" name="Line 30"/>
            <p:cNvSpPr/>
            <p:nvPr/>
          </p:nvSpPr>
          <p:spPr>
            <a:xfrm>
              <a:off x="4659" y="1344"/>
              <a:ext cx="0" cy="771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9257" name="Text Box 31"/>
            <p:cNvSpPr txBox="1"/>
            <p:nvPr/>
          </p:nvSpPr>
          <p:spPr>
            <a:xfrm>
              <a:off x="4569" y="2069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t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29729" name="Text Box 33"/>
          <p:cNvSpPr txBox="1"/>
          <p:nvPr/>
        </p:nvSpPr>
        <p:spPr>
          <a:xfrm>
            <a:off x="323850" y="1773238"/>
            <a:ext cx="647700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9730" name="Object 34"/>
          <p:cNvGraphicFramePr/>
          <p:nvPr/>
        </p:nvGraphicFramePr>
        <p:xfrm>
          <a:off x="1258888" y="1773238"/>
          <a:ext cx="3698875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611630" imgH="254000" progId="Equation.3">
                  <p:embed/>
                </p:oleObj>
              </mc:Choice>
              <mc:Fallback>
                <p:oleObj name="" r:id="rId1" imgW="1611630" imgH="2540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1773238"/>
                        <a:ext cx="3698875" cy="579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1" name="Object 35"/>
          <p:cNvGraphicFramePr/>
          <p:nvPr/>
        </p:nvGraphicFramePr>
        <p:xfrm>
          <a:off x="1160463" y="2492375"/>
          <a:ext cx="365601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560195" imgH="215900" progId="Equation.3">
                  <p:embed/>
                </p:oleObj>
              </mc:Choice>
              <mc:Fallback>
                <p:oleObj name="" r:id="rId3" imgW="1560195" imgH="2159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60463" y="2492375"/>
                        <a:ext cx="3656012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2" name="Line 36"/>
          <p:cNvSpPr/>
          <p:nvPr/>
        </p:nvSpPr>
        <p:spPr>
          <a:xfrm>
            <a:off x="1042988" y="3429000"/>
            <a:ext cx="720725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29733" name="Object 37"/>
          <p:cNvGraphicFramePr/>
          <p:nvPr/>
        </p:nvGraphicFramePr>
        <p:xfrm>
          <a:off x="2019300" y="3213100"/>
          <a:ext cx="14065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673100" imgH="241300" progId="Equation.3">
                  <p:embed/>
                </p:oleObj>
              </mc:Choice>
              <mc:Fallback>
                <p:oleObj name="" r:id="rId5" imgW="673100" imgH="2413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19300" y="3213100"/>
                        <a:ext cx="140652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4" name="Text Box 38"/>
          <p:cNvSpPr txBox="1"/>
          <p:nvPr/>
        </p:nvSpPr>
        <p:spPr>
          <a:xfrm>
            <a:off x="611188" y="3933825"/>
            <a:ext cx="54006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由于最大值发生在计时起点右侧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9735" name="Line 39"/>
          <p:cNvSpPr/>
          <p:nvPr/>
        </p:nvSpPr>
        <p:spPr>
          <a:xfrm>
            <a:off x="3779838" y="3502025"/>
            <a:ext cx="576262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29736" name="Object 40"/>
          <p:cNvGraphicFramePr/>
          <p:nvPr/>
        </p:nvGraphicFramePr>
        <p:xfrm>
          <a:off x="4454525" y="2997200"/>
          <a:ext cx="118745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7" imgW="558800" imgH="457200" progId="Equation.3">
                  <p:embed/>
                </p:oleObj>
              </mc:Choice>
              <mc:Fallback>
                <p:oleObj name="" r:id="rId7" imgW="558800" imgH="4572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54525" y="2997200"/>
                        <a:ext cx="1187450" cy="966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7" name="Object 41"/>
          <p:cNvGraphicFramePr/>
          <p:nvPr/>
        </p:nvGraphicFramePr>
        <p:xfrm>
          <a:off x="915988" y="4437063"/>
          <a:ext cx="394335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9" imgW="1638300" imgH="457200" progId="Equation.3">
                  <p:embed/>
                </p:oleObj>
              </mc:Choice>
              <mc:Fallback>
                <p:oleObj name="" r:id="rId9" imgW="1638300" imgH="4572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15988" y="4437063"/>
                        <a:ext cx="3943350" cy="101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8" name="Object 42"/>
          <p:cNvGraphicFramePr/>
          <p:nvPr/>
        </p:nvGraphicFramePr>
        <p:xfrm>
          <a:off x="493713" y="5516563"/>
          <a:ext cx="389731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1" imgW="1864995" imgH="254000" progId="Equation.3">
                  <p:embed/>
                </p:oleObj>
              </mc:Choice>
              <mc:Fallback>
                <p:oleObj name="" r:id="rId11" imgW="1864995" imgH="2540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3713" y="5516563"/>
                        <a:ext cx="3897312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9" name="Line 43"/>
          <p:cNvSpPr/>
          <p:nvPr/>
        </p:nvSpPr>
        <p:spPr>
          <a:xfrm>
            <a:off x="4643438" y="5805488"/>
            <a:ext cx="647700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29740" name="Object 44"/>
          <p:cNvGraphicFramePr/>
          <p:nvPr/>
        </p:nvGraphicFramePr>
        <p:xfrm>
          <a:off x="5345113" y="5302250"/>
          <a:ext cx="3262312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3" imgW="1384300" imgH="457200" progId="Equation.3">
                  <p:embed/>
                </p:oleObj>
              </mc:Choice>
              <mc:Fallback>
                <p:oleObj name="" r:id="rId13" imgW="1384300" imgH="4572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45113" y="5302250"/>
                        <a:ext cx="3262312" cy="1017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33" name="Group 4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9240" name="Picture 50" descr="7890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41" name="Text Box 5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234" name="Group 5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9238" name="Picture 53" descr="7890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39" name="Text Box 5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235" name="Group 62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9236" name="Picture 63" descr="7890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37" name="Text Box 6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97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7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9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2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2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5" dur="500"/>
                                        <p:tgtEl>
                                          <p:spTgt spid="29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725" grpId="0"/>
      <p:bldP spid="29729" grpId="0" animBg="1"/>
      <p:bldP spid="297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ext Box 2"/>
          <p:cNvSpPr txBox="1"/>
          <p:nvPr/>
        </p:nvSpPr>
        <p:spPr>
          <a:xfrm>
            <a:off x="395288" y="620713"/>
            <a:ext cx="5976937" cy="579437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3.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同频率正弦量的相位差</a:t>
            </a:r>
            <a:endParaRPr lang="zh-CN" altLang="en-US" sz="3200" b="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3" name="Text Box 3"/>
          <p:cNvSpPr txBox="1"/>
          <p:nvPr/>
        </p:nvSpPr>
        <p:spPr>
          <a:xfrm>
            <a:off x="684213" y="1341438"/>
            <a:ext cx="7285037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cos(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cos(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4" name="Text Box 4"/>
          <p:cNvSpPr txBox="1"/>
          <p:nvPr/>
        </p:nvSpPr>
        <p:spPr>
          <a:xfrm>
            <a:off x="611188" y="2060575"/>
            <a:ext cx="799941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相位差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：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j 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(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sz="3200" b="0" i="1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3253" name="Group 3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3264" name="Picture 3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265" name="Text Box 3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3254" name="Group 3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3262" name="Picture 3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263" name="Text Box 3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0761" name="AutoShape 41" descr="羊皮纸"/>
          <p:cNvSpPr/>
          <p:nvPr/>
        </p:nvSpPr>
        <p:spPr>
          <a:xfrm>
            <a:off x="5580063" y="3068638"/>
            <a:ext cx="2952750" cy="720725"/>
          </a:xfrm>
          <a:prstGeom prst="wedgeRoundRectCallout">
            <a:avLst>
              <a:gd name="adj1" fmla="val 5269"/>
              <a:gd name="adj2" fmla="val -127972"/>
              <a:gd name="adj3" fmla="val 16667"/>
            </a:avLst>
          </a:prstGeom>
          <a:blipFill rotWithShape="1">
            <a:blip r:embed="rId2"/>
          </a:blipFill>
          <a:ln w="9525">
            <a:noFill/>
          </a:ln>
        </p:spPr>
        <p:txBody>
          <a:bodyPr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等于初相位之差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53256" name="Group 45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3260" name="Picture 4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261" name="Text Box 4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49"/>
          <p:cNvGrpSpPr/>
          <p:nvPr/>
        </p:nvGrpSpPr>
        <p:grpSpPr>
          <a:xfrm>
            <a:off x="611188" y="3068638"/>
            <a:ext cx="4557712" cy="650875"/>
            <a:chOff x="385" y="1933"/>
            <a:chExt cx="2871" cy="410"/>
          </a:xfrm>
        </p:grpSpPr>
        <p:sp>
          <p:nvSpPr>
            <p:cNvPr id="53258" name="Rectangle 27"/>
            <p:cNvSpPr/>
            <p:nvPr/>
          </p:nvSpPr>
          <p:spPr>
            <a:xfrm>
              <a:off x="385" y="1933"/>
              <a:ext cx="2871" cy="410"/>
            </a:xfrm>
            <a:prstGeom prst="rect">
              <a:avLst/>
            </a:prstGeom>
            <a:gradFill rotWithShape="1">
              <a:gsLst>
                <a:gs pos="0">
                  <a:srgbClr val="66FFFF"/>
                </a:gs>
                <a:gs pos="50000">
                  <a:srgbClr val="FFFFFF"/>
                </a:gs>
                <a:gs pos="100000">
                  <a:srgbClr val="66FFFF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zh-CN" altLang="en-US" sz="3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规定</a:t>
              </a:r>
              <a:r>
                <a:rPr lang="zh-CN" alt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： </a:t>
              </a:r>
              <a:r>
                <a:rPr lang="en-US" altLang="zh-CN" sz="36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|</a:t>
              </a:r>
              <a:r>
                <a:rPr lang="en-US" altLang="zh-CN" sz="3600" b="0" i="1" dirty="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  <a:sym typeface="Symbol" panose="05050102010706020507" pitchFamily="18" charset="2"/>
                </a:rPr>
                <a:t></a:t>
              </a:r>
              <a:r>
                <a:rPr lang="en-US" altLang="zh-CN" sz="3600" b="0" i="1" dirty="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 </a:t>
              </a:r>
              <a:r>
                <a:rPr lang="en-US" altLang="zh-CN" sz="36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| </a:t>
              </a:r>
              <a:r>
                <a:rPr lang="en-US" altLang="zh-CN" sz="36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&lt;  (180°)</a:t>
              </a:r>
              <a:endPara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3259" name="Line 48"/>
            <p:cNvSpPr/>
            <p:nvPr/>
          </p:nvSpPr>
          <p:spPr>
            <a:xfrm>
              <a:off x="1791" y="2205"/>
              <a:ext cx="182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2000"/>
                                        <p:tgtEl>
                                          <p:spTgt spid="3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/>
      <p:bldP spid="30724" grpId="0"/>
      <p:bldP spid="3076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5" name="Rectangle 5"/>
          <p:cNvSpPr/>
          <p:nvPr/>
        </p:nvSpPr>
        <p:spPr>
          <a:xfrm>
            <a:off x="684213" y="620713"/>
            <a:ext cx="7742237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81000" indent="-381000" algn="just">
              <a:lnSpc>
                <a:spcPct val="120000"/>
              </a:lnSpc>
              <a:buSzPct val="80000"/>
              <a:buFont typeface="Wingdings" panose="05000000000000000000" pitchFamily="2" charset="2"/>
              <a:buChar char="l"/>
            </a:pPr>
            <a:r>
              <a:rPr lang="en-US" altLang="zh-CN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j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zh-CN" dirty="0">
                <a:latin typeface="Times New Roman" panose="02020603050405020304" pitchFamily="18" charset="0"/>
              </a:rPr>
              <a:t>超前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j</a:t>
            </a:r>
            <a:r>
              <a:rPr lang="en-US" altLang="zh-CN" b="0" i="1" dirty="0"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zh-CN" altLang="zh-CN" dirty="0">
                <a:latin typeface="Times New Roman" panose="02020603050405020304" pitchFamily="18" charset="0"/>
              </a:rPr>
              <a:t>角</a:t>
            </a:r>
            <a:r>
              <a:rPr lang="zh-CN" altLang="zh-CN" dirty="0">
                <a:latin typeface="Times New Roman" panose="02020603050405020304" pitchFamily="18" charset="0"/>
                <a:ea typeface="仿宋_GB2312" pitchFamily="49" charset="-122"/>
              </a:rPr>
              <a:t>，</a:t>
            </a:r>
            <a:r>
              <a:rPr lang="zh-CN" altLang="zh-CN" dirty="0">
                <a:latin typeface="Arial" panose="020B0604020202020204" pitchFamily="34" charset="0"/>
              </a:rPr>
              <a:t>或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zh-CN" altLang="zh-CN" b="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滞后</a:t>
            </a:r>
            <a:r>
              <a:rPr lang="zh-CN" altLang="zh-CN" b="0" dirty="0"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zh-CN" altLang="zh-CN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en-US" altLang="zh-CN" sz="2400" b="0" i="1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i="1" dirty="0"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zh-CN" altLang="zh-CN" dirty="0">
                <a:latin typeface="Arial" panose="020B0604020202020204" pitchFamily="34" charset="0"/>
                <a:ea typeface="仿宋_GB2312" pitchFamily="49" charset="-122"/>
              </a:rPr>
              <a:t>角</a:t>
            </a:r>
            <a:r>
              <a:rPr lang="zh-CN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比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zh-CN" altLang="en-US" dirty="0">
                <a:latin typeface="楷体_GB2312" pitchFamily="49" charset="-122"/>
              </a:rPr>
              <a:t>先到达最大值</a:t>
            </a:r>
            <a:r>
              <a:rPr lang="en-US" altLang="zh-CN" dirty="0">
                <a:latin typeface="仿宋_GB2312" pitchFamily="49" charset="-122"/>
                <a:ea typeface="仿宋_GB2312" pitchFamily="49" charset="-122"/>
              </a:rPr>
              <a:t>)</a:t>
            </a:r>
            <a:r>
              <a:rPr lang="zh-CN" altLang="en-US" dirty="0">
                <a:latin typeface="仿宋_GB2312" pitchFamily="49" charset="-122"/>
                <a:ea typeface="仿宋_GB2312" pitchFamily="49" charset="-122"/>
              </a:rPr>
              <a:t>。</a:t>
            </a:r>
            <a:endParaRPr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61446" name="Rectangle 6"/>
          <p:cNvSpPr/>
          <p:nvPr/>
        </p:nvSpPr>
        <p:spPr>
          <a:xfrm>
            <a:off x="755650" y="1773238"/>
            <a:ext cx="7920038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buSzPct val="80000"/>
              <a:buFont typeface="Wingdings" panose="05000000000000000000" pitchFamily="2" charset="2"/>
              <a:buChar char="l"/>
            </a:pPr>
            <a:r>
              <a:rPr lang="en-US" altLang="zh-CN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n-US" altLang="zh-CN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j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dirty="0">
                <a:latin typeface="Times New Roman" panose="02020603050405020304" pitchFamily="18" charset="0"/>
              </a:rPr>
              <a:t>超前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 </a:t>
            </a:r>
            <a:r>
              <a:rPr lang="en-US" altLang="zh-CN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j</a:t>
            </a:r>
            <a:r>
              <a:rPr lang="en-US" altLang="zh-CN" i="1" dirty="0"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zh-CN" altLang="zh-CN" dirty="0">
                <a:latin typeface="Times New Roman" panose="02020603050405020304" pitchFamily="18" charset="0"/>
              </a:rPr>
              <a:t>角，或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滞后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j</a:t>
            </a:r>
            <a:r>
              <a:rPr lang="en-US" altLang="zh-CN" i="1" dirty="0"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zh-CN" altLang="zh-CN" dirty="0">
                <a:latin typeface="Times New Roman" panose="02020603050405020304" pitchFamily="18" charset="0"/>
              </a:rPr>
              <a:t>角（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zh-CN" altLang="en-US" dirty="0">
                <a:latin typeface="Times New Roman" panose="02020603050405020304" pitchFamily="18" charset="0"/>
              </a:rPr>
              <a:t>比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先</a:t>
            </a:r>
            <a:endParaRPr lang="zh-CN" altLang="en-US" dirty="0">
              <a:latin typeface="楷体_GB2312" pitchFamily="49" charset="-122"/>
            </a:endParaRPr>
          </a:p>
          <a:p>
            <a:pPr>
              <a:lnSpc>
                <a:spcPct val="120000"/>
              </a:lnSpc>
              <a:buSzPct val="80000"/>
              <a:buFont typeface="Wingdings" panose="05000000000000000000" pitchFamily="2" charset="2"/>
            </a:pPr>
            <a:r>
              <a:rPr lang="zh-CN" altLang="en-US" dirty="0">
                <a:latin typeface="楷体_GB2312" pitchFamily="49" charset="-122"/>
              </a:rPr>
              <a:t>  到达最大值）。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54276" name="Group 2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4303" name="Picture 2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304" name="Text Box 2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4277" name="Group 3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4301" name="Picture 3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302" name="Text Box 3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4278" name="Group 39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4299" name="Picture 4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300" name="Text Box 4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47"/>
          <p:cNvGrpSpPr/>
          <p:nvPr/>
        </p:nvGrpSpPr>
        <p:grpSpPr>
          <a:xfrm>
            <a:off x="1789113" y="2997200"/>
            <a:ext cx="5732462" cy="3384550"/>
            <a:chOff x="1127" y="1888"/>
            <a:chExt cx="3611" cy="2132"/>
          </a:xfrm>
        </p:grpSpPr>
        <p:sp>
          <p:nvSpPr>
            <p:cNvPr id="54280" name="Line 9"/>
            <p:cNvSpPr/>
            <p:nvPr/>
          </p:nvSpPr>
          <p:spPr>
            <a:xfrm flipH="1" flipV="1">
              <a:off x="1738" y="1997"/>
              <a:ext cx="8" cy="1841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4281" name="Line 10"/>
            <p:cNvSpPr/>
            <p:nvPr/>
          </p:nvSpPr>
          <p:spPr>
            <a:xfrm flipV="1">
              <a:off x="1127" y="2873"/>
              <a:ext cx="3606" cy="8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4282" name="Text Box 11"/>
            <p:cNvSpPr txBox="1"/>
            <p:nvPr/>
          </p:nvSpPr>
          <p:spPr>
            <a:xfrm>
              <a:off x="4350" y="2835"/>
              <a:ext cx="38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83" name="Freeform 12"/>
            <p:cNvSpPr/>
            <p:nvPr/>
          </p:nvSpPr>
          <p:spPr>
            <a:xfrm>
              <a:off x="1474" y="2387"/>
              <a:ext cx="2880" cy="996"/>
            </a:xfrm>
            <a:custGeom>
              <a:avLst/>
              <a:gdLst>
                <a:gd name="txL" fmla="*/ 0 w 2262"/>
                <a:gd name="txT" fmla="*/ 0 h 1091"/>
                <a:gd name="txR" fmla="*/ 2262 w 2262"/>
                <a:gd name="txB" fmla="*/ 1091 h 1091"/>
              </a:gdLst>
              <a:ahLst/>
              <a:cxnLst>
                <a:cxn ang="0">
                  <a:pos x="0" y="501"/>
                </a:cxn>
                <a:cxn ang="0">
                  <a:pos x="122" y="329"/>
                </a:cxn>
                <a:cxn ang="0">
                  <a:pos x="233" y="186"/>
                </a:cxn>
                <a:cxn ang="0">
                  <a:pos x="374" y="60"/>
                </a:cxn>
                <a:cxn ang="0">
                  <a:pos x="535" y="3"/>
                </a:cxn>
                <a:cxn ang="0">
                  <a:pos x="733" y="74"/>
                </a:cxn>
                <a:cxn ang="0">
                  <a:pos x="932" y="282"/>
                </a:cxn>
                <a:cxn ang="0">
                  <a:pos x="1081" y="493"/>
                </a:cxn>
                <a:cxn ang="0">
                  <a:pos x="1249" y="720"/>
                </a:cxn>
                <a:cxn ang="0">
                  <a:pos x="1413" y="904"/>
                </a:cxn>
                <a:cxn ang="0">
                  <a:pos x="1642" y="989"/>
                </a:cxn>
                <a:cxn ang="0">
                  <a:pos x="1887" y="857"/>
                </a:cxn>
                <a:cxn ang="0">
                  <a:pos x="2166" y="507"/>
                </a:cxn>
                <a:cxn ang="0">
                  <a:pos x="2296" y="318"/>
                </a:cxn>
                <a:cxn ang="0">
                  <a:pos x="2521" y="77"/>
                </a:cxn>
                <a:cxn ang="0">
                  <a:pos x="2708" y="5"/>
                </a:cxn>
                <a:cxn ang="0">
                  <a:pos x="2880" y="60"/>
                </a:cxn>
              </a:cxnLst>
              <a:rect l="txL" t="txT" r="txR" b="txB"/>
              <a:pathLst>
                <a:path w="2262" h="1091">
                  <a:moveTo>
                    <a:pt x="0" y="549"/>
                  </a:moveTo>
                  <a:cubicBezTo>
                    <a:pt x="16" y="518"/>
                    <a:pt x="65" y="418"/>
                    <a:pt x="96" y="360"/>
                  </a:cubicBezTo>
                  <a:cubicBezTo>
                    <a:pt x="127" y="302"/>
                    <a:pt x="150" y="253"/>
                    <a:pt x="183" y="204"/>
                  </a:cubicBezTo>
                  <a:cubicBezTo>
                    <a:pt x="216" y="155"/>
                    <a:pt x="255" y="99"/>
                    <a:pt x="294" y="66"/>
                  </a:cubicBezTo>
                  <a:cubicBezTo>
                    <a:pt x="333" y="33"/>
                    <a:pt x="373" y="0"/>
                    <a:pt x="420" y="3"/>
                  </a:cubicBezTo>
                  <a:cubicBezTo>
                    <a:pt x="467" y="6"/>
                    <a:pt x="524" y="30"/>
                    <a:pt x="576" y="81"/>
                  </a:cubicBezTo>
                  <a:cubicBezTo>
                    <a:pt x="628" y="132"/>
                    <a:pt x="687" y="233"/>
                    <a:pt x="732" y="309"/>
                  </a:cubicBezTo>
                  <a:cubicBezTo>
                    <a:pt x="777" y="385"/>
                    <a:pt x="807" y="460"/>
                    <a:pt x="849" y="540"/>
                  </a:cubicBezTo>
                  <a:cubicBezTo>
                    <a:pt x="891" y="620"/>
                    <a:pt x="937" y="714"/>
                    <a:pt x="981" y="789"/>
                  </a:cubicBezTo>
                  <a:cubicBezTo>
                    <a:pt x="1025" y="864"/>
                    <a:pt x="1059" y="941"/>
                    <a:pt x="1110" y="990"/>
                  </a:cubicBezTo>
                  <a:cubicBezTo>
                    <a:pt x="1161" y="1039"/>
                    <a:pt x="1228" y="1091"/>
                    <a:pt x="1290" y="1083"/>
                  </a:cubicBezTo>
                  <a:cubicBezTo>
                    <a:pt x="1352" y="1075"/>
                    <a:pt x="1413" y="1027"/>
                    <a:pt x="1482" y="939"/>
                  </a:cubicBezTo>
                  <a:cubicBezTo>
                    <a:pt x="1551" y="851"/>
                    <a:pt x="1648" y="653"/>
                    <a:pt x="1701" y="555"/>
                  </a:cubicBezTo>
                  <a:cubicBezTo>
                    <a:pt x="1754" y="457"/>
                    <a:pt x="1757" y="426"/>
                    <a:pt x="1803" y="348"/>
                  </a:cubicBezTo>
                  <a:cubicBezTo>
                    <a:pt x="1849" y="270"/>
                    <a:pt x="1926" y="141"/>
                    <a:pt x="1980" y="84"/>
                  </a:cubicBezTo>
                  <a:cubicBezTo>
                    <a:pt x="2034" y="27"/>
                    <a:pt x="2080" y="9"/>
                    <a:pt x="2127" y="6"/>
                  </a:cubicBezTo>
                  <a:cubicBezTo>
                    <a:pt x="2174" y="3"/>
                    <a:pt x="2234" y="54"/>
                    <a:pt x="2262" y="6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84" name="Freeform 13"/>
            <p:cNvSpPr/>
            <p:nvPr/>
          </p:nvSpPr>
          <p:spPr>
            <a:xfrm>
              <a:off x="1494" y="2629"/>
              <a:ext cx="2880" cy="494"/>
            </a:xfrm>
            <a:custGeom>
              <a:avLst/>
              <a:gdLst>
                <a:gd name="txL" fmla="*/ 0 w 2262"/>
                <a:gd name="txT" fmla="*/ 0 h 541"/>
                <a:gd name="txR" fmla="*/ 2262 w 2262"/>
                <a:gd name="txB" fmla="*/ 541 h 541"/>
              </a:gdLst>
              <a:ahLst/>
              <a:cxnLst>
                <a:cxn ang="0">
                  <a:pos x="0" y="493"/>
                </a:cxn>
                <a:cxn ang="0">
                  <a:pos x="237" y="441"/>
                </a:cxn>
                <a:cxn ang="0">
                  <a:pos x="539" y="247"/>
                </a:cxn>
                <a:cxn ang="0">
                  <a:pos x="833" y="60"/>
                </a:cxn>
                <a:cxn ang="0">
                  <a:pos x="1100" y="3"/>
                </a:cxn>
                <a:cxn ang="0">
                  <a:pos x="1360" y="77"/>
                </a:cxn>
                <a:cxn ang="0">
                  <a:pos x="1623" y="249"/>
                </a:cxn>
                <a:cxn ang="0">
                  <a:pos x="1952" y="452"/>
                </a:cxn>
                <a:cxn ang="0">
                  <a:pos x="2162" y="493"/>
                </a:cxn>
                <a:cxn ang="0">
                  <a:pos x="2357" y="455"/>
                </a:cxn>
                <a:cxn ang="0">
                  <a:pos x="2578" y="334"/>
                </a:cxn>
                <a:cxn ang="0">
                  <a:pos x="2716" y="238"/>
                </a:cxn>
                <a:cxn ang="0">
                  <a:pos x="2880" y="129"/>
                </a:cxn>
              </a:cxnLst>
              <a:rect l="txL" t="txT" r="txR" b="txB"/>
              <a:pathLst>
                <a:path w="2262" h="541">
                  <a:moveTo>
                    <a:pt x="0" y="540"/>
                  </a:moveTo>
                  <a:cubicBezTo>
                    <a:pt x="31" y="531"/>
                    <a:pt x="115" y="528"/>
                    <a:pt x="186" y="483"/>
                  </a:cubicBezTo>
                  <a:cubicBezTo>
                    <a:pt x="257" y="438"/>
                    <a:pt x="345" y="339"/>
                    <a:pt x="423" y="270"/>
                  </a:cubicBezTo>
                  <a:cubicBezTo>
                    <a:pt x="501" y="201"/>
                    <a:pt x="581" y="110"/>
                    <a:pt x="654" y="66"/>
                  </a:cubicBezTo>
                  <a:cubicBezTo>
                    <a:pt x="727" y="22"/>
                    <a:pt x="795" y="0"/>
                    <a:pt x="864" y="3"/>
                  </a:cubicBezTo>
                  <a:cubicBezTo>
                    <a:pt x="933" y="6"/>
                    <a:pt x="1000" y="39"/>
                    <a:pt x="1068" y="84"/>
                  </a:cubicBezTo>
                  <a:cubicBezTo>
                    <a:pt x="1136" y="129"/>
                    <a:pt x="1198" y="205"/>
                    <a:pt x="1275" y="273"/>
                  </a:cubicBezTo>
                  <a:cubicBezTo>
                    <a:pt x="1352" y="341"/>
                    <a:pt x="1462" y="451"/>
                    <a:pt x="1533" y="495"/>
                  </a:cubicBezTo>
                  <a:cubicBezTo>
                    <a:pt x="1604" y="539"/>
                    <a:pt x="1645" y="539"/>
                    <a:pt x="1698" y="540"/>
                  </a:cubicBezTo>
                  <a:cubicBezTo>
                    <a:pt x="1751" y="541"/>
                    <a:pt x="1797" y="527"/>
                    <a:pt x="1851" y="498"/>
                  </a:cubicBezTo>
                  <a:cubicBezTo>
                    <a:pt x="1905" y="469"/>
                    <a:pt x="1978" y="405"/>
                    <a:pt x="2025" y="366"/>
                  </a:cubicBezTo>
                  <a:cubicBezTo>
                    <a:pt x="2072" y="327"/>
                    <a:pt x="2093" y="299"/>
                    <a:pt x="2133" y="261"/>
                  </a:cubicBezTo>
                  <a:cubicBezTo>
                    <a:pt x="2173" y="223"/>
                    <a:pt x="2235" y="166"/>
                    <a:pt x="2262" y="141"/>
                  </a:cubicBez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85" name="Text Box 14"/>
            <p:cNvSpPr txBox="1"/>
            <p:nvPr/>
          </p:nvSpPr>
          <p:spPr>
            <a:xfrm>
              <a:off x="1249" y="1888"/>
              <a:ext cx="40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86" name="Text Box 15"/>
            <p:cNvSpPr txBox="1"/>
            <p:nvPr/>
          </p:nvSpPr>
          <p:spPr>
            <a:xfrm>
              <a:off x="2041" y="2139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87" name="Text Box 16"/>
            <p:cNvSpPr txBox="1"/>
            <p:nvPr/>
          </p:nvSpPr>
          <p:spPr>
            <a:xfrm>
              <a:off x="2655" y="2402"/>
              <a:ext cx="23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88" name="Line 17"/>
            <p:cNvSpPr/>
            <p:nvPr/>
          </p:nvSpPr>
          <p:spPr>
            <a:xfrm>
              <a:off x="2562" y="2659"/>
              <a:ext cx="0" cy="1361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4289" name="Line 18"/>
            <p:cNvSpPr/>
            <p:nvPr/>
          </p:nvSpPr>
          <p:spPr>
            <a:xfrm>
              <a:off x="2018" y="2387"/>
              <a:ext cx="0" cy="1633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4290" name="Line 19"/>
            <p:cNvSpPr/>
            <p:nvPr/>
          </p:nvSpPr>
          <p:spPr>
            <a:xfrm>
              <a:off x="1429" y="3294"/>
              <a:ext cx="306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4291" name="Line 20"/>
            <p:cNvSpPr/>
            <p:nvPr/>
          </p:nvSpPr>
          <p:spPr>
            <a:xfrm flipH="1">
              <a:off x="2018" y="3294"/>
              <a:ext cx="305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4292" name="Line 21"/>
            <p:cNvSpPr/>
            <p:nvPr/>
          </p:nvSpPr>
          <p:spPr>
            <a:xfrm>
              <a:off x="2064" y="3838"/>
              <a:ext cx="498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4293" name="Text Box 22"/>
            <p:cNvSpPr txBox="1"/>
            <p:nvPr/>
          </p:nvSpPr>
          <p:spPr>
            <a:xfrm>
              <a:off x="1701" y="3113"/>
              <a:ext cx="30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94" name="Text Box 23"/>
            <p:cNvSpPr txBox="1"/>
            <p:nvPr/>
          </p:nvSpPr>
          <p:spPr>
            <a:xfrm>
              <a:off x="2018" y="3294"/>
              <a:ext cx="27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95" name="Text Box 24"/>
            <p:cNvSpPr txBox="1"/>
            <p:nvPr/>
          </p:nvSpPr>
          <p:spPr>
            <a:xfrm>
              <a:off x="2109" y="3521"/>
              <a:ext cx="4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j</a:t>
              </a:r>
              <a:endParaRPr lang="en-US" altLang="zh-CN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54296" name="Text Box 25"/>
            <p:cNvSpPr txBox="1"/>
            <p:nvPr/>
          </p:nvSpPr>
          <p:spPr>
            <a:xfrm>
              <a:off x="1519" y="2894"/>
              <a:ext cx="232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97" name="Line 42"/>
            <p:cNvSpPr/>
            <p:nvPr/>
          </p:nvSpPr>
          <p:spPr>
            <a:xfrm flipH="1">
              <a:off x="2562" y="3521"/>
              <a:ext cx="305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4298" name="Line 46"/>
            <p:cNvSpPr/>
            <p:nvPr/>
          </p:nvSpPr>
          <p:spPr>
            <a:xfrm>
              <a:off x="1429" y="3521"/>
              <a:ext cx="306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5" grpId="0"/>
      <p:bldP spid="614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Text Box 2"/>
          <p:cNvSpPr txBox="1"/>
          <p:nvPr/>
        </p:nvSpPr>
        <p:spPr>
          <a:xfrm>
            <a:off x="611188" y="1268413"/>
            <a:ext cx="3168650" cy="579437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j </a:t>
            </a:r>
            <a:r>
              <a:rPr lang="zh-CN" altLang="en-US" sz="32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＝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zh-CN" altLang="zh-CN" dirty="0">
                <a:latin typeface="Times New Roman" panose="02020603050405020304" pitchFamily="18" charset="0"/>
              </a:rPr>
              <a:t>同相</a:t>
            </a:r>
            <a:endParaRPr lang="zh-CN" altLang="en-US" dirty="0">
              <a:latin typeface="Symbol" panose="05050102010706020507" pitchFamily="18" charset="2"/>
            </a:endParaRPr>
          </a:p>
        </p:txBody>
      </p:sp>
      <p:sp>
        <p:nvSpPr>
          <p:cNvPr id="28675" name="Rectangle 3"/>
          <p:cNvSpPr/>
          <p:nvPr/>
        </p:nvSpPr>
        <p:spPr>
          <a:xfrm>
            <a:off x="4140200" y="620713"/>
            <a:ext cx="4608513" cy="579437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j 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  (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180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°</a:t>
            </a:r>
            <a:r>
              <a:rPr lang="en-US" altLang="zh-CN" sz="3200" b="0" baseline="5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3200" b="0" baseline="5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dirty="0">
                <a:latin typeface="Times New Roman" panose="02020603050405020304" pitchFamily="18" charset="0"/>
              </a:rPr>
              <a:t>反相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28677" name="Text Box 5"/>
          <p:cNvSpPr txBox="1"/>
          <p:nvPr/>
        </p:nvSpPr>
        <p:spPr>
          <a:xfrm>
            <a:off x="539750" y="620713"/>
            <a:ext cx="2952750" cy="557212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98000" rIns="198000"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9933"/>
                </a:solidFill>
                <a:latin typeface="Times New Roman" panose="02020603050405020304" pitchFamily="18" charset="0"/>
              </a:rPr>
              <a:t>特殊相位关系</a:t>
            </a:r>
            <a:endParaRPr lang="zh-CN" altLang="en-US" dirty="0">
              <a:solidFill>
                <a:srgbClr val="FF9933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51"/>
          <p:cNvGrpSpPr/>
          <p:nvPr/>
        </p:nvGrpSpPr>
        <p:grpSpPr>
          <a:xfrm>
            <a:off x="323850" y="1916113"/>
            <a:ext cx="4062413" cy="2290762"/>
            <a:chOff x="158" y="1248"/>
            <a:chExt cx="2559" cy="1443"/>
          </a:xfrm>
        </p:grpSpPr>
        <p:sp>
          <p:nvSpPr>
            <p:cNvPr id="55331" name="Line 7"/>
            <p:cNvSpPr/>
            <p:nvPr/>
          </p:nvSpPr>
          <p:spPr>
            <a:xfrm flipV="1">
              <a:off x="733" y="1248"/>
              <a:ext cx="0" cy="1443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5332" name="Line 8"/>
            <p:cNvSpPr/>
            <p:nvPr/>
          </p:nvSpPr>
          <p:spPr>
            <a:xfrm flipV="1">
              <a:off x="328" y="2088"/>
              <a:ext cx="2238" cy="7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5333" name="Text Box 9"/>
            <p:cNvSpPr txBox="1"/>
            <p:nvPr/>
          </p:nvSpPr>
          <p:spPr>
            <a:xfrm>
              <a:off x="2329" y="2050"/>
              <a:ext cx="38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34" name="Freeform 10"/>
            <p:cNvSpPr/>
            <p:nvPr/>
          </p:nvSpPr>
          <p:spPr>
            <a:xfrm>
              <a:off x="318" y="1626"/>
              <a:ext cx="1951" cy="932"/>
            </a:xfrm>
            <a:custGeom>
              <a:avLst/>
              <a:gdLst>
                <a:gd name="txL" fmla="*/ 0 w 2118"/>
                <a:gd name="txT" fmla="*/ 0 h 868"/>
                <a:gd name="txR" fmla="*/ 2118 w 2118"/>
                <a:gd name="txB" fmla="*/ 868 h 868"/>
              </a:gdLst>
              <a:ahLst/>
              <a:cxnLst>
                <a:cxn ang="0">
                  <a:pos x="0" y="788"/>
                </a:cxn>
                <a:cxn ang="0">
                  <a:pos x="239" y="307"/>
                </a:cxn>
                <a:cxn ang="0">
                  <a:pos x="309" y="174"/>
                </a:cxn>
                <a:cxn ang="0">
                  <a:pos x="396" y="57"/>
                </a:cxn>
                <a:cxn ang="0">
                  <a:pos x="496" y="2"/>
                </a:cxn>
                <a:cxn ang="0">
                  <a:pos x="619" y="69"/>
                </a:cxn>
                <a:cxn ang="0">
                  <a:pos x="742" y="264"/>
                </a:cxn>
                <a:cxn ang="0">
                  <a:pos x="835" y="462"/>
                </a:cxn>
                <a:cxn ang="0">
                  <a:pos x="939" y="674"/>
                </a:cxn>
                <a:cxn ang="0">
                  <a:pos x="1041" y="846"/>
                </a:cxn>
                <a:cxn ang="0">
                  <a:pos x="1183" y="926"/>
                </a:cxn>
                <a:cxn ang="0">
                  <a:pos x="1335" y="802"/>
                </a:cxn>
                <a:cxn ang="0">
                  <a:pos x="1508" y="475"/>
                </a:cxn>
                <a:cxn ang="0">
                  <a:pos x="1588" y="297"/>
                </a:cxn>
                <a:cxn ang="0">
                  <a:pos x="1728" y="72"/>
                </a:cxn>
                <a:cxn ang="0">
                  <a:pos x="1844" y="5"/>
                </a:cxn>
                <a:cxn ang="0">
                  <a:pos x="1951" y="57"/>
                </a:cxn>
              </a:cxnLst>
              <a:rect l="txL" t="txT" r="txR" b="txB"/>
              <a:pathLst>
                <a:path w="2118" h="868">
                  <a:moveTo>
                    <a:pt x="0" y="734"/>
                  </a:moveTo>
                  <a:cubicBezTo>
                    <a:pt x="43" y="660"/>
                    <a:pt x="204" y="381"/>
                    <a:pt x="260" y="286"/>
                  </a:cubicBezTo>
                  <a:cubicBezTo>
                    <a:pt x="316" y="191"/>
                    <a:pt x="307" y="201"/>
                    <a:pt x="335" y="162"/>
                  </a:cubicBezTo>
                  <a:cubicBezTo>
                    <a:pt x="363" y="123"/>
                    <a:pt x="397" y="79"/>
                    <a:pt x="430" y="53"/>
                  </a:cubicBezTo>
                  <a:cubicBezTo>
                    <a:pt x="464" y="26"/>
                    <a:pt x="498" y="0"/>
                    <a:pt x="538" y="2"/>
                  </a:cubicBezTo>
                  <a:cubicBezTo>
                    <a:pt x="579" y="5"/>
                    <a:pt x="627" y="24"/>
                    <a:pt x="672" y="64"/>
                  </a:cubicBezTo>
                  <a:cubicBezTo>
                    <a:pt x="717" y="105"/>
                    <a:pt x="767" y="185"/>
                    <a:pt x="806" y="246"/>
                  </a:cubicBezTo>
                  <a:cubicBezTo>
                    <a:pt x="844" y="306"/>
                    <a:pt x="870" y="366"/>
                    <a:pt x="906" y="430"/>
                  </a:cubicBezTo>
                  <a:cubicBezTo>
                    <a:pt x="942" y="493"/>
                    <a:pt x="982" y="568"/>
                    <a:pt x="1019" y="628"/>
                  </a:cubicBezTo>
                  <a:cubicBezTo>
                    <a:pt x="1057" y="687"/>
                    <a:pt x="1086" y="749"/>
                    <a:pt x="1130" y="788"/>
                  </a:cubicBezTo>
                  <a:cubicBezTo>
                    <a:pt x="1174" y="827"/>
                    <a:pt x="1231" y="868"/>
                    <a:pt x="1284" y="862"/>
                  </a:cubicBezTo>
                  <a:cubicBezTo>
                    <a:pt x="1338" y="855"/>
                    <a:pt x="1390" y="817"/>
                    <a:pt x="1449" y="747"/>
                  </a:cubicBezTo>
                  <a:cubicBezTo>
                    <a:pt x="1508" y="677"/>
                    <a:pt x="1591" y="520"/>
                    <a:pt x="1637" y="442"/>
                  </a:cubicBezTo>
                  <a:cubicBezTo>
                    <a:pt x="1682" y="364"/>
                    <a:pt x="1685" y="339"/>
                    <a:pt x="1724" y="277"/>
                  </a:cubicBezTo>
                  <a:cubicBezTo>
                    <a:pt x="1764" y="215"/>
                    <a:pt x="1830" y="112"/>
                    <a:pt x="1876" y="67"/>
                  </a:cubicBezTo>
                  <a:cubicBezTo>
                    <a:pt x="1922" y="21"/>
                    <a:pt x="1962" y="7"/>
                    <a:pt x="2002" y="5"/>
                  </a:cubicBezTo>
                  <a:cubicBezTo>
                    <a:pt x="2043" y="2"/>
                    <a:pt x="2094" y="43"/>
                    <a:pt x="2118" y="53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5335" name="Freeform 11"/>
            <p:cNvSpPr/>
            <p:nvPr/>
          </p:nvSpPr>
          <p:spPr>
            <a:xfrm>
              <a:off x="158" y="1859"/>
              <a:ext cx="2125" cy="464"/>
            </a:xfrm>
            <a:custGeom>
              <a:avLst/>
              <a:gdLst>
                <a:gd name="txL" fmla="*/ 0 w 2307"/>
                <a:gd name="txT" fmla="*/ 0 h 432"/>
                <a:gd name="txR" fmla="*/ 2307 w 2307"/>
                <a:gd name="txB" fmla="*/ 432 h 432"/>
              </a:gdLst>
              <a:ahLst/>
              <a:cxnLst>
                <a:cxn ang="0">
                  <a:pos x="0" y="462"/>
                </a:cxn>
                <a:cxn ang="0">
                  <a:pos x="147" y="414"/>
                </a:cxn>
                <a:cxn ang="0">
                  <a:pos x="334" y="231"/>
                </a:cxn>
                <a:cxn ang="0">
                  <a:pos x="517" y="57"/>
                </a:cxn>
                <a:cxn ang="0">
                  <a:pos x="683" y="2"/>
                </a:cxn>
                <a:cxn ang="0">
                  <a:pos x="844" y="72"/>
                </a:cxn>
                <a:cxn ang="0">
                  <a:pos x="1008" y="233"/>
                </a:cxn>
                <a:cxn ang="0">
                  <a:pos x="1208" y="414"/>
                </a:cxn>
                <a:cxn ang="0">
                  <a:pos x="1332" y="462"/>
                </a:cxn>
                <a:cxn ang="0">
                  <a:pos x="1463" y="426"/>
                </a:cxn>
                <a:cxn ang="0">
                  <a:pos x="1594" y="307"/>
                </a:cxn>
                <a:cxn ang="0">
                  <a:pos x="1686" y="220"/>
                </a:cxn>
                <a:cxn ang="0">
                  <a:pos x="1813" y="88"/>
                </a:cxn>
                <a:cxn ang="0">
                  <a:pos x="1970" y="14"/>
                </a:cxn>
                <a:cxn ang="0">
                  <a:pos x="2078" y="30"/>
                </a:cxn>
                <a:cxn ang="0">
                  <a:pos x="2125" y="56"/>
                </a:cxn>
              </a:cxnLst>
              <a:rect l="txL" t="txT" r="txR" b="txB"/>
              <a:pathLst>
                <a:path w="2307" h="432">
                  <a:moveTo>
                    <a:pt x="0" y="430"/>
                  </a:moveTo>
                  <a:cubicBezTo>
                    <a:pt x="27" y="423"/>
                    <a:pt x="99" y="421"/>
                    <a:pt x="160" y="385"/>
                  </a:cubicBezTo>
                  <a:cubicBezTo>
                    <a:pt x="220" y="349"/>
                    <a:pt x="296" y="270"/>
                    <a:pt x="363" y="215"/>
                  </a:cubicBezTo>
                  <a:cubicBezTo>
                    <a:pt x="430" y="160"/>
                    <a:pt x="498" y="88"/>
                    <a:pt x="561" y="53"/>
                  </a:cubicBezTo>
                  <a:cubicBezTo>
                    <a:pt x="624" y="18"/>
                    <a:pt x="682" y="0"/>
                    <a:pt x="741" y="2"/>
                  </a:cubicBezTo>
                  <a:cubicBezTo>
                    <a:pt x="800" y="5"/>
                    <a:pt x="858" y="31"/>
                    <a:pt x="916" y="67"/>
                  </a:cubicBezTo>
                  <a:cubicBezTo>
                    <a:pt x="974" y="103"/>
                    <a:pt x="1028" y="164"/>
                    <a:pt x="1094" y="217"/>
                  </a:cubicBezTo>
                  <a:cubicBezTo>
                    <a:pt x="1160" y="270"/>
                    <a:pt x="1252" y="349"/>
                    <a:pt x="1311" y="385"/>
                  </a:cubicBezTo>
                  <a:cubicBezTo>
                    <a:pt x="1370" y="421"/>
                    <a:pt x="1400" y="428"/>
                    <a:pt x="1446" y="430"/>
                  </a:cubicBezTo>
                  <a:cubicBezTo>
                    <a:pt x="1492" y="432"/>
                    <a:pt x="1540" y="421"/>
                    <a:pt x="1588" y="397"/>
                  </a:cubicBezTo>
                  <a:cubicBezTo>
                    <a:pt x="1636" y="373"/>
                    <a:pt x="1691" y="318"/>
                    <a:pt x="1731" y="286"/>
                  </a:cubicBezTo>
                  <a:cubicBezTo>
                    <a:pt x="1771" y="254"/>
                    <a:pt x="1791" y="239"/>
                    <a:pt x="1830" y="205"/>
                  </a:cubicBezTo>
                  <a:cubicBezTo>
                    <a:pt x="1869" y="171"/>
                    <a:pt x="1917" y="114"/>
                    <a:pt x="1968" y="82"/>
                  </a:cubicBezTo>
                  <a:cubicBezTo>
                    <a:pt x="2019" y="50"/>
                    <a:pt x="2091" y="22"/>
                    <a:pt x="2139" y="13"/>
                  </a:cubicBezTo>
                  <a:cubicBezTo>
                    <a:pt x="2187" y="4"/>
                    <a:pt x="2228" y="21"/>
                    <a:pt x="2256" y="28"/>
                  </a:cubicBezTo>
                  <a:cubicBezTo>
                    <a:pt x="2284" y="35"/>
                    <a:pt x="2297" y="47"/>
                    <a:pt x="2307" y="52"/>
                  </a:cubicBez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5336" name="Text Box 13"/>
            <p:cNvSpPr txBox="1"/>
            <p:nvPr/>
          </p:nvSpPr>
          <p:spPr>
            <a:xfrm>
              <a:off x="2262" y="1420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37" name="Text Box 14"/>
            <p:cNvSpPr txBox="1"/>
            <p:nvPr/>
          </p:nvSpPr>
          <p:spPr>
            <a:xfrm>
              <a:off x="2214" y="1729"/>
              <a:ext cx="23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38" name="Text Box 15"/>
            <p:cNvSpPr txBox="1"/>
            <p:nvPr/>
          </p:nvSpPr>
          <p:spPr>
            <a:xfrm>
              <a:off x="520" y="2069"/>
              <a:ext cx="228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52"/>
          <p:cNvGrpSpPr/>
          <p:nvPr/>
        </p:nvGrpSpPr>
        <p:grpSpPr>
          <a:xfrm>
            <a:off x="4500563" y="1196975"/>
            <a:ext cx="4143375" cy="2133600"/>
            <a:chOff x="2835" y="663"/>
            <a:chExt cx="2610" cy="1344"/>
          </a:xfrm>
        </p:grpSpPr>
        <p:sp>
          <p:nvSpPr>
            <p:cNvPr id="55323" name="Line 17"/>
            <p:cNvSpPr/>
            <p:nvPr/>
          </p:nvSpPr>
          <p:spPr>
            <a:xfrm flipV="1">
              <a:off x="3379" y="663"/>
              <a:ext cx="0" cy="1344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5324" name="Line 18"/>
            <p:cNvSpPr/>
            <p:nvPr/>
          </p:nvSpPr>
          <p:spPr>
            <a:xfrm flipV="1">
              <a:off x="2993" y="1480"/>
              <a:ext cx="2075" cy="7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5325" name="Text Box 19"/>
            <p:cNvSpPr txBox="1"/>
            <p:nvPr/>
          </p:nvSpPr>
          <p:spPr>
            <a:xfrm>
              <a:off x="5057" y="1434"/>
              <a:ext cx="38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26" name="Freeform 20"/>
            <p:cNvSpPr/>
            <p:nvPr/>
          </p:nvSpPr>
          <p:spPr>
            <a:xfrm>
              <a:off x="2984" y="1050"/>
              <a:ext cx="1809" cy="868"/>
            </a:xfrm>
            <a:custGeom>
              <a:avLst/>
              <a:gdLst>
                <a:gd name="txL" fmla="*/ 0 w 2118"/>
                <a:gd name="txT" fmla="*/ 0 h 868"/>
                <a:gd name="txR" fmla="*/ 2118 w 2118"/>
                <a:gd name="txB" fmla="*/ 868 h 868"/>
              </a:gdLst>
              <a:ahLst/>
              <a:cxnLst>
                <a:cxn ang="0">
                  <a:pos x="0" y="734"/>
                </a:cxn>
                <a:cxn ang="0">
                  <a:pos x="222" y="286"/>
                </a:cxn>
                <a:cxn ang="0">
                  <a:pos x="286" y="162"/>
                </a:cxn>
                <a:cxn ang="0">
                  <a:pos x="367" y="53"/>
                </a:cxn>
                <a:cxn ang="0">
                  <a:pos x="460" y="2"/>
                </a:cxn>
                <a:cxn ang="0">
                  <a:pos x="574" y="64"/>
                </a:cxn>
                <a:cxn ang="0">
                  <a:pos x="688" y="246"/>
                </a:cxn>
                <a:cxn ang="0">
                  <a:pos x="774" y="430"/>
                </a:cxn>
                <a:cxn ang="0">
                  <a:pos x="870" y="628"/>
                </a:cxn>
                <a:cxn ang="0">
                  <a:pos x="965" y="788"/>
                </a:cxn>
                <a:cxn ang="0">
                  <a:pos x="1097" y="862"/>
                </a:cxn>
                <a:cxn ang="0">
                  <a:pos x="1238" y="747"/>
                </a:cxn>
                <a:cxn ang="0">
                  <a:pos x="1398" y="442"/>
                </a:cxn>
                <a:cxn ang="0">
                  <a:pos x="1472" y="277"/>
                </a:cxn>
                <a:cxn ang="0">
                  <a:pos x="1602" y="67"/>
                </a:cxn>
                <a:cxn ang="0">
                  <a:pos x="1710" y="5"/>
                </a:cxn>
                <a:cxn ang="0">
                  <a:pos x="1809" y="53"/>
                </a:cxn>
              </a:cxnLst>
              <a:rect l="txL" t="txT" r="txR" b="txB"/>
              <a:pathLst>
                <a:path w="2118" h="868">
                  <a:moveTo>
                    <a:pt x="0" y="734"/>
                  </a:moveTo>
                  <a:cubicBezTo>
                    <a:pt x="43" y="660"/>
                    <a:pt x="204" y="381"/>
                    <a:pt x="260" y="286"/>
                  </a:cubicBezTo>
                  <a:cubicBezTo>
                    <a:pt x="316" y="191"/>
                    <a:pt x="307" y="201"/>
                    <a:pt x="335" y="162"/>
                  </a:cubicBezTo>
                  <a:cubicBezTo>
                    <a:pt x="363" y="123"/>
                    <a:pt x="397" y="79"/>
                    <a:pt x="430" y="53"/>
                  </a:cubicBezTo>
                  <a:cubicBezTo>
                    <a:pt x="464" y="26"/>
                    <a:pt x="498" y="0"/>
                    <a:pt x="538" y="2"/>
                  </a:cubicBezTo>
                  <a:cubicBezTo>
                    <a:pt x="579" y="5"/>
                    <a:pt x="627" y="24"/>
                    <a:pt x="672" y="64"/>
                  </a:cubicBezTo>
                  <a:cubicBezTo>
                    <a:pt x="717" y="105"/>
                    <a:pt x="767" y="185"/>
                    <a:pt x="806" y="246"/>
                  </a:cubicBezTo>
                  <a:cubicBezTo>
                    <a:pt x="844" y="306"/>
                    <a:pt x="870" y="366"/>
                    <a:pt x="906" y="430"/>
                  </a:cubicBezTo>
                  <a:cubicBezTo>
                    <a:pt x="942" y="493"/>
                    <a:pt x="982" y="568"/>
                    <a:pt x="1019" y="628"/>
                  </a:cubicBezTo>
                  <a:cubicBezTo>
                    <a:pt x="1057" y="687"/>
                    <a:pt x="1086" y="749"/>
                    <a:pt x="1130" y="788"/>
                  </a:cubicBezTo>
                  <a:cubicBezTo>
                    <a:pt x="1174" y="827"/>
                    <a:pt x="1231" y="868"/>
                    <a:pt x="1284" y="862"/>
                  </a:cubicBezTo>
                  <a:cubicBezTo>
                    <a:pt x="1338" y="855"/>
                    <a:pt x="1390" y="817"/>
                    <a:pt x="1449" y="747"/>
                  </a:cubicBezTo>
                  <a:cubicBezTo>
                    <a:pt x="1508" y="677"/>
                    <a:pt x="1591" y="520"/>
                    <a:pt x="1637" y="442"/>
                  </a:cubicBezTo>
                  <a:cubicBezTo>
                    <a:pt x="1682" y="364"/>
                    <a:pt x="1685" y="339"/>
                    <a:pt x="1724" y="277"/>
                  </a:cubicBezTo>
                  <a:cubicBezTo>
                    <a:pt x="1764" y="215"/>
                    <a:pt x="1830" y="112"/>
                    <a:pt x="1876" y="67"/>
                  </a:cubicBezTo>
                  <a:cubicBezTo>
                    <a:pt x="1922" y="21"/>
                    <a:pt x="1962" y="7"/>
                    <a:pt x="2002" y="5"/>
                  </a:cubicBezTo>
                  <a:cubicBezTo>
                    <a:pt x="2043" y="2"/>
                    <a:pt x="2094" y="43"/>
                    <a:pt x="2118" y="53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5327" name="Freeform 21"/>
            <p:cNvSpPr/>
            <p:nvPr/>
          </p:nvSpPr>
          <p:spPr>
            <a:xfrm flipV="1">
              <a:off x="2835" y="1207"/>
              <a:ext cx="1970" cy="575"/>
            </a:xfrm>
            <a:custGeom>
              <a:avLst/>
              <a:gdLst>
                <a:gd name="txL" fmla="*/ 0 w 2307"/>
                <a:gd name="txT" fmla="*/ 0 h 432"/>
                <a:gd name="txR" fmla="*/ 2307 w 2307"/>
                <a:gd name="txB" fmla="*/ 432 h 432"/>
              </a:gdLst>
              <a:ahLst/>
              <a:cxnLst>
                <a:cxn ang="0">
                  <a:pos x="0" y="572"/>
                </a:cxn>
                <a:cxn ang="0">
                  <a:pos x="137" y="512"/>
                </a:cxn>
                <a:cxn ang="0">
                  <a:pos x="310" y="286"/>
                </a:cxn>
                <a:cxn ang="0">
                  <a:pos x="479" y="71"/>
                </a:cxn>
                <a:cxn ang="0">
                  <a:pos x="633" y="3"/>
                </a:cxn>
                <a:cxn ang="0">
                  <a:pos x="782" y="89"/>
                </a:cxn>
                <a:cxn ang="0">
                  <a:pos x="934" y="289"/>
                </a:cxn>
                <a:cxn ang="0">
                  <a:pos x="1119" y="512"/>
                </a:cxn>
                <a:cxn ang="0">
                  <a:pos x="1235" y="572"/>
                </a:cxn>
                <a:cxn ang="0">
                  <a:pos x="1356" y="528"/>
                </a:cxn>
                <a:cxn ang="0">
                  <a:pos x="1478" y="381"/>
                </a:cxn>
                <a:cxn ang="0">
                  <a:pos x="1563" y="273"/>
                </a:cxn>
                <a:cxn ang="0">
                  <a:pos x="1681" y="109"/>
                </a:cxn>
                <a:cxn ang="0">
                  <a:pos x="1827" y="17"/>
                </a:cxn>
                <a:cxn ang="0">
                  <a:pos x="1926" y="37"/>
                </a:cxn>
                <a:cxn ang="0">
                  <a:pos x="1970" y="69"/>
                </a:cxn>
              </a:cxnLst>
              <a:rect l="txL" t="txT" r="txR" b="txB"/>
              <a:pathLst>
                <a:path w="2307" h="432">
                  <a:moveTo>
                    <a:pt x="0" y="430"/>
                  </a:moveTo>
                  <a:cubicBezTo>
                    <a:pt x="27" y="423"/>
                    <a:pt x="99" y="421"/>
                    <a:pt x="160" y="385"/>
                  </a:cubicBezTo>
                  <a:cubicBezTo>
                    <a:pt x="220" y="349"/>
                    <a:pt x="296" y="270"/>
                    <a:pt x="363" y="215"/>
                  </a:cubicBezTo>
                  <a:cubicBezTo>
                    <a:pt x="430" y="160"/>
                    <a:pt x="498" y="88"/>
                    <a:pt x="561" y="53"/>
                  </a:cubicBezTo>
                  <a:cubicBezTo>
                    <a:pt x="624" y="18"/>
                    <a:pt x="682" y="0"/>
                    <a:pt x="741" y="2"/>
                  </a:cubicBezTo>
                  <a:cubicBezTo>
                    <a:pt x="800" y="5"/>
                    <a:pt x="858" y="31"/>
                    <a:pt x="916" y="67"/>
                  </a:cubicBezTo>
                  <a:cubicBezTo>
                    <a:pt x="974" y="103"/>
                    <a:pt x="1028" y="164"/>
                    <a:pt x="1094" y="217"/>
                  </a:cubicBezTo>
                  <a:cubicBezTo>
                    <a:pt x="1160" y="270"/>
                    <a:pt x="1252" y="349"/>
                    <a:pt x="1311" y="385"/>
                  </a:cubicBezTo>
                  <a:cubicBezTo>
                    <a:pt x="1370" y="421"/>
                    <a:pt x="1400" y="428"/>
                    <a:pt x="1446" y="430"/>
                  </a:cubicBezTo>
                  <a:cubicBezTo>
                    <a:pt x="1492" y="432"/>
                    <a:pt x="1540" y="421"/>
                    <a:pt x="1588" y="397"/>
                  </a:cubicBezTo>
                  <a:cubicBezTo>
                    <a:pt x="1636" y="373"/>
                    <a:pt x="1691" y="318"/>
                    <a:pt x="1731" y="286"/>
                  </a:cubicBezTo>
                  <a:cubicBezTo>
                    <a:pt x="1771" y="254"/>
                    <a:pt x="1791" y="239"/>
                    <a:pt x="1830" y="205"/>
                  </a:cubicBezTo>
                  <a:cubicBezTo>
                    <a:pt x="1869" y="171"/>
                    <a:pt x="1917" y="114"/>
                    <a:pt x="1968" y="82"/>
                  </a:cubicBezTo>
                  <a:cubicBezTo>
                    <a:pt x="2019" y="50"/>
                    <a:pt x="2091" y="22"/>
                    <a:pt x="2139" y="13"/>
                  </a:cubicBezTo>
                  <a:cubicBezTo>
                    <a:pt x="2187" y="4"/>
                    <a:pt x="2228" y="21"/>
                    <a:pt x="2256" y="28"/>
                  </a:cubicBezTo>
                  <a:cubicBezTo>
                    <a:pt x="2284" y="35"/>
                    <a:pt x="2297" y="47"/>
                    <a:pt x="2307" y="52"/>
                  </a:cubicBez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5328" name="Text Box 23"/>
            <p:cNvSpPr txBox="1"/>
            <p:nvPr/>
          </p:nvSpPr>
          <p:spPr>
            <a:xfrm>
              <a:off x="4786" y="858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29" name="Text Box 24"/>
            <p:cNvSpPr txBox="1"/>
            <p:nvPr/>
          </p:nvSpPr>
          <p:spPr>
            <a:xfrm>
              <a:off x="4741" y="1482"/>
              <a:ext cx="23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30" name="Text Box 25"/>
            <p:cNvSpPr txBox="1"/>
            <p:nvPr/>
          </p:nvSpPr>
          <p:spPr>
            <a:xfrm>
              <a:off x="3379" y="1497"/>
              <a:ext cx="232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8698" name="Text Box 26"/>
          <p:cNvSpPr txBox="1"/>
          <p:nvPr/>
        </p:nvSpPr>
        <p:spPr>
          <a:xfrm>
            <a:off x="755650" y="4437063"/>
            <a:ext cx="453548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Font typeface="Symbol" panose="05050102010706020507" pitchFamily="18" charset="2"/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32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p/2</a:t>
            </a:r>
            <a:r>
              <a:rPr lang="zh-CN" altLang="en-US" sz="32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：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超先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32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p/2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Group 53"/>
          <p:cNvGrpSpPr/>
          <p:nvPr/>
        </p:nvGrpSpPr>
        <p:grpSpPr>
          <a:xfrm>
            <a:off x="4859338" y="3473450"/>
            <a:ext cx="3657600" cy="2220913"/>
            <a:chOff x="3061" y="2188"/>
            <a:chExt cx="2304" cy="1399"/>
          </a:xfrm>
        </p:grpSpPr>
        <p:sp>
          <p:nvSpPr>
            <p:cNvPr id="55315" name="Line 28"/>
            <p:cNvSpPr/>
            <p:nvPr/>
          </p:nvSpPr>
          <p:spPr>
            <a:xfrm flipV="1">
              <a:off x="3509" y="2188"/>
              <a:ext cx="0" cy="1399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5316" name="Line 29"/>
            <p:cNvSpPr/>
            <p:nvPr/>
          </p:nvSpPr>
          <p:spPr>
            <a:xfrm flipV="1">
              <a:off x="3061" y="3036"/>
              <a:ext cx="2144" cy="8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5317" name="Text Box 30"/>
            <p:cNvSpPr txBox="1"/>
            <p:nvPr/>
          </p:nvSpPr>
          <p:spPr>
            <a:xfrm>
              <a:off x="4977" y="3000"/>
              <a:ext cx="38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18" name="Freeform 31"/>
            <p:cNvSpPr/>
            <p:nvPr/>
          </p:nvSpPr>
          <p:spPr>
            <a:xfrm>
              <a:off x="3209" y="2559"/>
              <a:ext cx="1712" cy="963"/>
            </a:xfrm>
            <a:custGeom>
              <a:avLst/>
              <a:gdLst>
                <a:gd name="txL" fmla="*/ 0 w 2262"/>
                <a:gd name="txT" fmla="*/ 0 h 1091"/>
                <a:gd name="txR" fmla="*/ 2262 w 2262"/>
                <a:gd name="txB" fmla="*/ 1091 h 1091"/>
              </a:gdLst>
              <a:ahLst/>
              <a:cxnLst>
                <a:cxn ang="0">
                  <a:pos x="0" y="485"/>
                </a:cxn>
                <a:cxn ang="0">
                  <a:pos x="73" y="318"/>
                </a:cxn>
                <a:cxn ang="0">
                  <a:pos x="139" y="180"/>
                </a:cxn>
                <a:cxn ang="0">
                  <a:pos x="223" y="58"/>
                </a:cxn>
                <a:cxn ang="0">
                  <a:pos x="318" y="3"/>
                </a:cxn>
                <a:cxn ang="0">
                  <a:pos x="436" y="71"/>
                </a:cxn>
                <a:cxn ang="0">
                  <a:pos x="554" y="273"/>
                </a:cxn>
                <a:cxn ang="0">
                  <a:pos x="643" y="477"/>
                </a:cxn>
                <a:cxn ang="0">
                  <a:pos x="742" y="696"/>
                </a:cxn>
                <a:cxn ang="0">
                  <a:pos x="840" y="874"/>
                </a:cxn>
                <a:cxn ang="0">
                  <a:pos x="976" y="956"/>
                </a:cxn>
                <a:cxn ang="0">
                  <a:pos x="1122" y="829"/>
                </a:cxn>
                <a:cxn ang="0">
                  <a:pos x="1287" y="490"/>
                </a:cxn>
                <a:cxn ang="0">
                  <a:pos x="1365" y="307"/>
                </a:cxn>
                <a:cxn ang="0">
                  <a:pos x="1499" y="74"/>
                </a:cxn>
                <a:cxn ang="0">
                  <a:pos x="1610" y="5"/>
                </a:cxn>
                <a:cxn ang="0">
                  <a:pos x="1712" y="58"/>
                </a:cxn>
              </a:cxnLst>
              <a:rect l="txL" t="txT" r="txR" b="txB"/>
              <a:pathLst>
                <a:path w="2262" h="1091">
                  <a:moveTo>
                    <a:pt x="0" y="549"/>
                  </a:moveTo>
                  <a:cubicBezTo>
                    <a:pt x="16" y="518"/>
                    <a:pt x="65" y="418"/>
                    <a:pt x="96" y="360"/>
                  </a:cubicBezTo>
                  <a:cubicBezTo>
                    <a:pt x="127" y="302"/>
                    <a:pt x="150" y="253"/>
                    <a:pt x="183" y="204"/>
                  </a:cubicBezTo>
                  <a:cubicBezTo>
                    <a:pt x="216" y="155"/>
                    <a:pt x="255" y="99"/>
                    <a:pt x="294" y="66"/>
                  </a:cubicBezTo>
                  <a:cubicBezTo>
                    <a:pt x="333" y="33"/>
                    <a:pt x="373" y="0"/>
                    <a:pt x="420" y="3"/>
                  </a:cubicBezTo>
                  <a:cubicBezTo>
                    <a:pt x="467" y="6"/>
                    <a:pt x="524" y="30"/>
                    <a:pt x="576" y="81"/>
                  </a:cubicBezTo>
                  <a:cubicBezTo>
                    <a:pt x="628" y="132"/>
                    <a:pt x="687" y="233"/>
                    <a:pt x="732" y="309"/>
                  </a:cubicBezTo>
                  <a:cubicBezTo>
                    <a:pt x="777" y="385"/>
                    <a:pt x="807" y="460"/>
                    <a:pt x="849" y="540"/>
                  </a:cubicBezTo>
                  <a:cubicBezTo>
                    <a:pt x="891" y="620"/>
                    <a:pt x="937" y="714"/>
                    <a:pt x="981" y="789"/>
                  </a:cubicBezTo>
                  <a:cubicBezTo>
                    <a:pt x="1025" y="864"/>
                    <a:pt x="1059" y="941"/>
                    <a:pt x="1110" y="990"/>
                  </a:cubicBezTo>
                  <a:cubicBezTo>
                    <a:pt x="1161" y="1039"/>
                    <a:pt x="1228" y="1091"/>
                    <a:pt x="1290" y="1083"/>
                  </a:cubicBezTo>
                  <a:cubicBezTo>
                    <a:pt x="1352" y="1075"/>
                    <a:pt x="1413" y="1027"/>
                    <a:pt x="1482" y="939"/>
                  </a:cubicBezTo>
                  <a:cubicBezTo>
                    <a:pt x="1551" y="851"/>
                    <a:pt x="1648" y="653"/>
                    <a:pt x="1701" y="555"/>
                  </a:cubicBezTo>
                  <a:cubicBezTo>
                    <a:pt x="1754" y="457"/>
                    <a:pt x="1757" y="426"/>
                    <a:pt x="1803" y="348"/>
                  </a:cubicBezTo>
                  <a:cubicBezTo>
                    <a:pt x="1849" y="270"/>
                    <a:pt x="1926" y="141"/>
                    <a:pt x="1980" y="84"/>
                  </a:cubicBezTo>
                  <a:cubicBezTo>
                    <a:pt x="2034" y="27"/>
                    <a:pt x="2080" y="9"/>
                    <a:pt x="2127" y="6"/>
                  </a:cubicBezTo>
                  <a:cubicBezTo>
                    <a:pt x="2174" y="3"/>
                    <a:pt x="2234" y="54"/>
                    <a:pt x="2262" y="6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5319" name="Freeform 32"/>
            <p:cNvSpPr/>
            <p:nvPr/>
          </p:nvSpPr>
          <p:spPr>
            <a:xfrm>
              <a:off x="3186" y="2800"/>
              <a:ext cx="1712" cy="478"/>
            </a:xfrm>
            <a:custGeom>
              <a:avLst/>
              <a:gdLst>
                <a:gd name="txL" fmla="*/ 0 w 2262"/>
                <a:gd name="txT" fmla="*/ 0 h 541"/>
                <a:gd name="txR" fmla="*/ 2262 w 2262"/>
                <a:gd name="txB" fmla="*/ 541 h 541"/>
              </a:gdLst>
              <a:ahLst/>
              <a:cxnLst>
                <a:cxn ang="0">
                  <a:pos x="0" y="477"/>
                </a:cxn>
                <a:cxn ang="0">
                  <a:pos x="141" y="427"/>
                </a:cxn>
                <a:cxn ang="0">
                  <a:pos x="320" y="239"/>
                </a:cxn>
                <a:cxn ang="0">
                  <a:pos x="495" y="58"/>
                </a:cxn>
                <a:cxn ang="0">
                  <a:pos x="654" y="3"/>
                </a:cxn>
                <a:cxn ang="0">
                  <a:pos x="808" y="74"/>
                </a:cxn>
                <a:cxn ang="0">
                  <a:pos x="965" y="241"/>
                </a:cxn>
                <a:cxn ang="0">
                  <a:pos x="1160" y="437"/>
                </a:cxn>
                <a:cxn ang="0">
                  <a:pos x="1285" y="477"/>
                </a:cxn>
                <a:cxn ang="0">
                  <a:pos x="1401" y="440"/>
                </a:cxn>
                <a:cxn ang="0">
                  <a:pos x="1533" y="323"/>
                </a:cxn>
                <a:cxn ang="0">
                  <a:pos x="1614" y="231"/>
                </a:cxn>
                <a:cxn ang="0">
                  <a:pos x="1712" y="125"/>
                </a:cxn>
              </a:cxnLst>
              <a:rect l="txL" t="txT" r="txR" b="txB"/>
              <a:pathLst>
                <a:path w="2262" h="541">
                  <a:moveTo>
                    <a:pt x="0" y="540"/>
                  </a:moveTo>
                  <a:cubicBezTo>
                    <a:pt x="31" y="531"/>
                    <a:pt x="115" y="528"/>
                    <a:pt x="186" y="483"/>
                  </a:cubicBezTo>
                  <a:cubicBezTo>
                    <a:pt x="257" y="438"/>
                    <a:pt x="345" y="339"/>
                    <a:pt x="423" y="270"/>
                  </a:cubicBezTo>
                  <a:cubicBezTo>
                    <a:pt x="501" y="201"/>
                    <a:pt x="581" y="110"/>
                    <a:pt x="654" y="66"/>
                  </a:cubicBezTo>
                  <a:cubicBezTo>
                    <a:pt x="727" y="22"/>
                    <a:pt x="795" y="0"/>
                    <a:pt x="864" y="3"/>
                  </a:cubicBezTo>
                  <a:cubicBezTo>
                    <a:pt x="933" y="6"/>
                    <a:pt x="1000" y="39"/>
                    <a:pt x="1068" y="84"/>
                  </a:cubicBezTo>
                  <a:cubicBezTo>
                    <a:pt x="1136" y="129"/>
                    <a:pt x="1198" y="205"/>
                    <a:pt x="1275" y="273"/>
                  </a:cubicBezTo>
                  <a:cubicBezTo>
                    <a:pt x="1352" y="341"/>
                    <a:pt x="1462" y="451"/>
                    <a:pt x="1533" y="495"/>
                  </a:cubicBezTo>
                  <a:cubicBezTo>
                    <a:pt x="1604" y="539"/>
                    <a:pt x="1645" y="539"/>
                    <a:pt x="1698" y="540"/>
                  </a:cubicBezTo>
                  <a:cubicBezTo>
                    <a:pt x="1751" y="541"/>
                    <a:pt x="1797" y="527"/>
                    <a:pt x="1851" y="498"/>
                  </a:cubicBezTo>
                  <a:cubicBezTo>
                    <a:pt x="1905" y="469"/>
                    <a:pt x="1978" y="405"/>
                    <a:pt x="2025" y="366"/>
                  </a:cubicBezTo>
                  <a:cubicBezTo>
                    <a:pt x="2072" y="327"/>
                    <a:pt x="2093" y="299"/>
                    <a:pt x="2133" y="261"/>
                  </a:cubicBezTo>
                  <a:cubicBezTo>
                    <a:pt x="2173" y="223"/>
                    <a:pt x="2235" y="166"/>
                    <a:pt x="2262" y="141"/>
                  </a:cubicBez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5320" name="Text Box 34"/>
            <p:cNvSpPr txBox="1"/>
            <p:nvPr/>
          </p:nvSpPr>
          <p:spPr>
            <a:xfrm>
              <a:off x="3604" y="2326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21" name="Text Box 35"/>
            <p:cNvSpPr txBox="1"/>
            <p:nvPr/>
          </p:nvSpPr>
          <p:spPr>
            <a:xfrm>
              <a:off x="3969" y="2580"/>
              <a:ext cx="23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22" name="Text Box 36"/>
            <p:cNvSpPr txBox="1"/>
            <p:nvPr/>
          </p:nvSpPr>
          <p:spPr>
            <a:xfrm>
              <a:off x="3496" y="3058"/>
              <a:ext cx="232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8709" name="Text Box 37"/>
          <p:cNvSpPr txBox="1"/>
          <p:nvPr/>
        </p:nvSpPr>
        <p:spPr>
          <a:xfrm>
            <a:off x="971550" y="5734050"/>
            <a:ext cx="7183438" cy="519113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lIns="198000" rIns="19800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同样可比较两个电压或两个电流的相位差。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5306" name="Group 4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5313" name="Picture 4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14" name="Text Box 4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5307" name="Group 4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5311" name="Picture 4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12" name="Text Box 4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5308" name="Group 57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5309" name="Picture 5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10" name="Text Box 5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  <p:bldP spid="28675" grpId="0"/>
      <p:bldP spid="28677" grpId="0" animBg="1"/>
      <p:bldP spid="28698" grpId="0"/>
      <p:bldP spid="2870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Text Box 2"/>
          <p:cNvSpPr txBox="1"/>
          <p:nvPr/>
        </p:nvSpPr>
        <p:spPr>
          <a:xfrm>
            <a:off x="468313" y="549275"/>
            <a:ext cx="6477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endParaRPr lang="zh-CN" altLang="en-US" sz="32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899" name="Text Box 3"/>
          <p:cNvSpPr txBox="1"/>
          <p:nvPr/>
        </p:nvSpPr>
        <p:spPr>
          <a:xfrm>
            <a:off x="1476375" y="552450"/>
            <a:ext cx="568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计算下列两正弦量的相位差。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428750" y="1200150"/>
            <a:ext cx="4881563" cy="4826000"/>
            <a:chOff x="900" y="618"/>
            <a:chExt cx="3075" cy="3040"/>
          </a:xfrm>
        </p:grpSpPr>
        <p:graphicFrame>
          <p:nvGraphicFramePr>
            <p:cNvPr id="10249" name="Object 5"/>
            <p:cNvGraphicFramePr/>
            <p:nvPr/>
          </p:nvGraphicFramePr>
          <p:xfrm>
            <a:off x="947" y="1431"/>
            <a:ext cx="2981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1" imgW="2233930" imgH="482600" progId="Equation.3">
                    <p:embed/>
                  </p:oleObj>
                </mc:Choice>
                <mc:Fallback>
                  <p:oleObj name="" r:id="rId1" imgW="2233930" imgH="4826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47" y="1431"/>
                          <a:ext cx="2981" cy="6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0" name="Object 6"/>
            <p:cNvGraphicFramePr/>
            <p:nvPr/>
          </p:nvGraphicFramePr>
          <p:xfrm>
            <a:off x="909" y="618"/>
            <a:ext cx="3066" cy="6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3" imgW="2297430" imgH="520700" progId="Equation.3">
                    <p:embed/>
                  </p:oleObj>
                </mc:Choice>
                <mc:Fallback>
                  <p:oleObj name="" r:id="rId3" imgW="2297430" imgH="5207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09" y="618"/>
                          <a:ext cx="3066" cy="6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1" name="Object 7"/>
            <p:cNvGraphicFramePr/>
            <p:nvPr/>
          </p:nvGraphicFramePr>
          <p:xfrm>
            <a:off x="909" y="2247"/>
            <a:ext cx="3049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5" imgW="2284730" imgH="482600" progId="Equation.3">
                    <p:embed/>
                  </p:oleObj>
                </mc:Choice>
                <mc:Fallback>
                  <p:oleObj name="" r:id="rId5" imgW="2284730" imgH="4826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09" y="2247"/>
                          <a:ext cx="3049" cy="6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2" name="Object 8"/>
            <p:cNvGraphicFramePr/>
            <p:nvPr/>
          </p:nvGraphicFramePr>
          <p:xfrm>
            <a:off x="900" y="3018"/>
            <a:ext cx="2998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7" imgW="2246630" imgH="482600" progId="Equation.3">
                    <p:embed/>
                  </p:oleObj>
                </mc:Choice>
                <mc:Fallback>
                  <p:oleObj name="" r:id="rId7" imgW="2246630" imgH="4826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00" y="3018"/>
                          <a:ext cx="2998" cy="6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56" name="Group 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280" name="Picture 10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81" name="Text Box 1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257" name="Group 1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278" name="Picture 13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79" name="Text Box 1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80911" name="Text Box 15"/>
          <p:cNvSpPr txBox="1"/>
          <p:nvPr/>
        </p:nvSpPr>
        <p:spPr>
          <a:xfrm>
            <a:off x="468313" y="1412875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" name="Group 27"/>
          <p:cNvGrpSpPr/>
          <p:nvPr/>
        </p:nvGrpSpPr>
        <p:grpSpPr>
          <a:xfrm>
            <a:off x="6192838" y="3863975"/>
            <a:ext cx="2951162" cy="1055688"/>
            <a:chOff x="1565" y="1097"/>
            <a:chExt cx="1859" cy="665"/>
          </a:xfrm>
        </p:grpSpPr>
        <p:sp>
          <p:nvSpPr>
            <p:cNvPr id="10277" name="Text Box 28"/>
            <p:cNvSpPr txBox="1"/>
            <p:nvPr/>
          </p:nvSpPr>
          <p:spPr>
            <a:xfrm>
              <a:off x="1565" y="1435"/>
              <a:ext cx="18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</a:rPr>
                <a:t>不能比较相位差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10248" name="Object 29"/>
            <p:cNvGraphicFramePr/>
            <p:nvPr/>
          </p:nvGraphicFramePr>
          <p:xfrm>
            <a:off x="1908" y="1097"/>
            <a:ext cx="1092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10" imgW="546100" imgH="241300" progId="Equation.3">
                    <p:embed/>
                  </p:oleObj>
                </mc:Choice>
                <mc:Fallback>
                  <p:oleObj name="" r:id="rId10" imgW="546100" imgH="2413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08" y="1097"/>
                          <a:ext cx="1092" cy="3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6"/>
          <p:cNvGrpSpPr/>
          <p:nvPr/>
        </p:nvGrpSpPr>
        <p:grpSpPr>
          <a:xfrm>
            <a:off x="6588125" y="836613"/>
            <a:ext cx="1644650" cy="850900"/>
            <a:chOff x="385" y="3022"/>
            <a:chExt cx="1036" cy="536"/>
          </a:xfrm>
        </p:grpSpPr>
        <p:pic>
          <p:nvPicPr>
            <p:cNvPr id="10275" name="Picture 37" descr="12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76" name="Text Box 38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结论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0261" name="Group 39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0273" name="Picture 40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74" name="Text Box 4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" name="Group 45"/>
          <p:cNvGrpSpPr/>
          <p:nvPr/>
        </p:nvGrpSpPr>
        <p:grpSpPr>
          <a:xfrm>
            <a:off x="1403350" y="2279650"/>
            <a:ext cx="5618163" cy="1511300"/>
            <a:chOff x="1973" y="1344"/>
            <a:chExt cx="3493" cy="952"/>
          </a:xfrm>
        </p:grpSpPr>
        <p:grpSp>
          <p:nvGrpSpPr>
            <p:cNvPr id="10270" name="Group 46"/>
            <p:cNvGrpSpPr/>
            <p:nvPr/>
          </p:nvGrpSpPr>
          <p:grpSpPr>
            <a:xfrm>
              <a:off x="1973" y="1344"/>
              <a:ext cx="3493" cy="952"/>
              <a:chOff x="476" y="210"/>
              <a:chExt cx="3493" cy="952"/>
            </a:xfrm>
          </p:grpSpPr>
          <p:sp>
            <p:nvSpPr>
              <p:cNvPr id="10272" name="Rectangle 47"/>
              <p:cNvSpPr/>
              <p:nvPr/>
            </p:nvSpPr>
            <p:spPr>
              <a:xfrm>
                <a:off x="476" y="210"/>
                <a:ext cx="3493" cy="952"/>
              </a:xfrm>
              <a:prstGeom prst="rect">
                <a:avLst/>
              </a:prstGeom>
              <a:solidFill>
                <a:srgbClr val="B2B2B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0247" name="Object 48"/>
              <p:cNvGraphicFramePr/>
              <p:nvPr/>
            </p:nvGraphicFramePr>
            <p:xfrm>
              <a:off x="1097" y="391"/>
              <a:ext cx="2552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4" name="" r:id="rId13" imgW="2082165" imgH="241300" progId="Equation.3">
                      <p:embed/>
                    </p:oleObj>
                  </mc:Choice>
                  <mc:Fallback>
                    <p:oleObj name="" r:id="rId13" imgW="2082165" imgH="241300" progId="Equation.3">
                      <p:embed/>
                      <p:pic>
                        <p:nvPicPr>
                          <p:cNvPr id="0" name="图片 3093"/>
                          <p:cNvPicPr/>
                          <p:nvPr/>
                        </p:nvPicPr>
                        <p:blipFill>
                          <a:blip r:embed="rId14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097" y="391"/>
                            <a:ext cx="2552" cy="294"/>
                          </a:xfrm>
                          <a:prstGeom prst="rect">
                            <a:avLst/>
                          </a:prstGeom>
                          <a:solidFill>
                            <a:srgbClr val="B2B2B2"/>
                          </a:solidFill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271" name="Line 49"/>
            <p:cNvSpPr/>
            <p:nvPr/>
          </p:nvSpPr>
          <p:spPr>
            <a:xfrm>
              <a:off x="2653" y="2024"/>
              <a:ext cx="317" cy="0"/>
            </a:xfrm>
            <a:prstGeom prst="line">
              <a:avLst/>
            </a:prstGeom>
            <a:ln w="76200" cap="flat" cmpd="sng">
              <a:solidFill>
                <a:srgbClr val="FF99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0246" name="Object 50"/>
            <p:cNvGraphicFramePr/>
            <p:nvPr/>
          </p:nvGraphicFramePr>
          <p:xfrm>
            <a:off x="3105" y="1842"/>
            <a:ext cx="2023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15" imgW="1650365" imgH="241300" progId="Equation.3">
                    <p:embed/>
                  </p:oleObj>
                </mc:Choice>
                <mc:Fallback>
                  <p:oleObj name="" r:id="rId15" imgW="1650365" imgH="2413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05" y="1842"/>
                          <a:ext cx="2023" cy="294"/>
                        </a:xfrm>
                        <a:prstGeom prst="rect">
                          <a:avLst/>
                        </a:prstGeom>
                        <a:solidFill>
                          <a:srgbClr val="B2B2B2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51"/>
          <p:cNvGrpSpPr/>
          <p:nvPr/>
        </p:nvGrpSpPr>
        <p:grpSpPr>
          <a:xfrm>
            <a:off x="1403350" y="3789363"/>
            <a:ext cx="5616575" cy="1439862"/>
            <a:chOff x="884" y="754"/>
            <a:chExt cx="3448" cy="907"/>
          </a:xfrm>
        </p:grpSpPr>
        <p:sp>
          <p:nvSpPr>
            <p:cNvPr id="10268" name="Rectangle 52"/>
            <p:cNvSpPr/>
            <p:nvPr/>
          </p:nvSpPr>
          <p:spPr>
            <a:xfrm>
              <a:off x="884" y="754"/>
              <a:ext cx="3448" cy="907"/>
            </a:xfrm>
            <a:prstGeom prst="rect">
              <a:avLst/>
            </a:prstGeom>
            <a:solidFill>
              <a:srgbClr val="B2B2B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10244" name="Object 53"/>
            <p:cNvGraphicFramePr/>
            <p:nvPr/>
          </p:nvGraphicFramePr>
          <p:xfrm>
            <a:off x="1724" y="1253"/>
            <a:ext cx="2102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7" imgW="1713230" imgH="254000" progId="Equation.3">
                    <p:embed/>
                  </p:oleObj>
                </mc:Choice>
                <mc:Fallback>
                  <p:oleObj name="" r:id="rId17" imgW="1713230" imgH="2540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24" y="1253"/>
                          <a:ext cx="2102" cy="310"/>
                        </a:xfrm>
                        <a:prstGeom prst="rect">
                          <a:avLst/>
                        </a:prstGeom>
                        <a:solidFill>
                          <a:srgbClr val="B2B2B2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9" name="Line 54"/>
            <p:cNvSpPr/>
            <p:nvPr/>
          </p:nvSpPr>
          <p:spPr>
            <a:xfrm flipV="1">
              <a:off x="1202" y="1434"/>
              <a:ext cx="408" cy="0"/>
            </a:xfrm>
            <a:prstGeom prst="line">
              <a:avLst/>
            </a:prstGeom>
            <a:ln w="76200" cap="flat" cmpd="sng">
              <a:solidFill>
                <a:srgbClr val="FF99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0245" name="Object 55"/>
            <p:cNvGraphicFramePr/>
            <p:nvPr/>
          </p:nvGraphicFramePr>
          <p:xfrm>
            <a:off x="1334" y="816"/>
            <a:ext cx="2457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19" imgW="1663700" imgH="228600" progId="Equation.3">
                    <p:embed/>
                  </p:oleObj>
                </mc:Choice>
                <mc:Fallback>
                  <p:oleObj name="" r:id="rId19" imgW="1663700" imgH="2286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34" y="816"/>
                          <a:ext cx="2457" cy="309"/>
                        </a:xfrm>
                        <a:prstGeom prst="rect">
                          <a:avLst/>
                        </a:prstGeom>
                        <a:solidFill>
                          <a:srgbClr val="B2B2B2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56"/>
          <p:cNvGrpSpPr/>
          <p:nvPr/>
        </p:nvGrpSpPr>
        <p:grpSpPr>
          <a:xfrm>
            <a:off x="1403350" y="3573463"/>
            <a:ext cx="5616575" cy="1439862"/>
            <a:chOff x="839" y="1162"/>
            <a:chExt cx="3402" cy="907"/>
          </a:xfrm>
        </p:grpSpPr>
        <p:sp>
          <p:nvSpPr>
            <p:cNvPr id="10266" name="Rectangle 57"/>
            <p:cNvSpPr/>
            <p:nvPr/>
          </p:nvSpPr>
          <p:spPr>
            <a:xfrm>
              <a:off x="839" y="1162"/>
              <a:ext cx="3402" cy="907"/>
            </a:xfrm>
            <a:prstGeom prst="rect">
              <a:avLst/>
            </a:prstGeom>
            <a:solidFill>
              <a:srgbClr val="B2B2B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10242" name="Object 58"/>
            <p:cNvGraphicFramePr/>
            <p:nvPr/>
          </p:nvGraphicFramePr>
          <p:xfrm>
            <a:off x="1626" y="1661"/>
            <a:ext cx="2242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21" imgW="1827530" imgH="254000" progId="Equation.3">
                    <p:embed/>
                  </p:oleObj>
                </mc:Choice>
                <mc:Fallback>
                  <p:oleObj name="" r:id="rId21" imgW="1827530" imgH="2540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26" y="1661"/>
                          <a:ext cx="2242" cy="310"/>
                        </a:xfrm>
                        <a:prstGeom prst="rect">
                          <a:avLst/>
                        </a:prstGeom>
                        <a:solidFill>
                          <a:srgbClr val="B2B2B2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7" name="Line 59"/>
            <p:cNvSpPr/>
            <p:nvPr/>
          </p:nvSpPr>
          <p:spPr>
            <a:xfrm flipV="1">
              <a:off x="1247" y="1842"/>
              <a:ext cx="363" cy="0"/>
            </a:xfrm>
            <a:prstGeom prst="line">
              <a:avLst/>
            </a:prstGeom>
            <a:ln w="76200" cap="flat" cmpd="sng">
              <a:solidFill>
                <a:srgbClr val="FF99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0243" name="Object 60"/>
            <p:cNvGraphicFramePr/>
            <p:nvPr/>
          </p:nvGraphicFramePr>
          <p:xfrm>
            <a:off x="1429" y="1253"/>
            <a:ext cx="2484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23" imgW="1827530" imgH="254000" progId="Equation.3">
                    <p:embed/>
                  </p:oleObj>
                </mc:Choice>
                <mc:Fallback>
                  <p:oleObj name="" r:id="rId23" imgW="1827530" imgH="2540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29" y="1253"/>
                          <a:ext cx="2484" cy="344"/>
                        </a:xfrm>
                        <a:prstGeom prst="rect">
                          <a:avLst/>
                        </a:prstGeom>
                        <a:solidFill>
                          <a:srgbClr val="B2B2B2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0931" name="Text Box 35"/>
          <p:cNvSpPr txBox="1"/>
          <p:nvPr/>
        </p:nvSpPr>
        <p:spPr>
          <a:xfrm>
            <a:off x="6588125" y="1700213"/>
            <a:ext cx="2160588" cy="4194175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两个正弦量进行相位比较时应满足同频率、同函数、同符号，且在主值范围比较。 </a:t>
            </a:r>
            <a:endParaRPr lang="zh-CN" altLang="en-US" dirty="0"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09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09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0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0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0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0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0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/>
      <p:bldP spid="80899" grpId="0"/>
      <p:bldP spid="80911" grpId="0" animBg="1"/>
      <p:bldP spid="809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ext Box 2"/>
          <p:cNvSpPr txBox="1"/>
          <p:nvPr/>
        </p:nvSpPr>
        <p:spPr>
          <a:xfrm>
            <a:off x="539750" y="620713"/>
            <a:ext cx="7200900" cy="579437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4.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周期性电流、电压的有效值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26627" name="Text Box 3"/>
          <p:cNvSpPr txBox="1"/>
          <p:nvPr/>
        </p:nvSpPr>
        <p:spPr>
          <a:xfrm>
            <a:off x="684213" y="1268413"/>
            <a:ext cx="7704137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dirty="0">
                <a:latin typeface="楷体_GB2312" pitchFamily="49" charset="-122"/>
              </a:rPr>
              <a:t>    </a:t>
            </a:r>
            <a:r>
              <a:rPr lang="zh-CN" altLang="en-US" dirty="0">
                <a:latin typeface="楷体_GB2312" pitchFamily="49" charset="-122"/>
              </a:rPr>
              <a:t>周期性电流、电压的瞬时值随时间而变，为了衡量其平均效果</a:t>
            </a:r>
            <a:r>
              <a:rPr lang="en-US" altLang="zh-CN" dirty="0">
                <a:latin typeface="楷体_GB2312" pitchFamily="49" charset="-122"/>
              </a:rPr>
              <a:t>,</a:t>
            </a:r>
            <a:r>
              <a:rPr lang="zh-CN" altLang="en-US" dirty="0">
                <a:latin typeface="楷体_GB2312" pitchFamily="49" charset="-122"/>
              </a:rPr>
              <a:t>工程上采用有效值来表示。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26632" name="Text Box 8"/>
          <p:cNvSpPr txBox="1"/>
          <p:nvPr/>
        </p:nvSpPr>
        <p:spPr>
          <a:xfrm>
            <a:off x="611188" y="2492375"/>
            <a:ext cx="5472112" cy="547688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98000" rIns="198000">
            <a:spAutoFit/>
          </a:bodyPr>
          <a:p>
            <a:pPr>
              <a:spcBef>
                <a:spcPct val="50000"/>
              </a:spcBef>
              <a:buSzPct val="85000"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9933"/>
                </a:solidFill>
                <a:latin typeface="楷体_GB2312" pitchFamily="49" charset="-122"/>
              </a:rPr>
              <a:t>周期电流、电压有效值定义</a:t>
            </a:r>
            <a:endParaRPr lang="zh-CN" altLang="en-US" dirty="0">
              <a:solidFill>
                <a:srgbClr val="FF9933"/>
              </a:solidFill>
              <a:latin typeface="楷体_GB2312" pitchFamily="49" charset="-122"/>
            </a:endParaRPr>
          </a:p>
        </p:txBody>
      </p:sp>
      <p:graphicFrame>
        <p:nvGraphicFramePr>
          <p:cNvPr id="26647" name="Object 23"/>
          <p:cNvGraphicFramePr/>
          <p:nvPr/>
        </p:nvGraphicFramePr>
        <p:xfrm>
          <a:off x="4643438" y="4941888"/>
          <a:ext cx="32210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1078865" imgH="317500" progId="Equation.3">
                  <p:embed/>
                </p:oleObj>
              </mc:Choice>
              <mc:Fallback>
                <p:oleObj name="" r:id="rId1" imgW="1078865" imgH="3175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43438" y="4941888"/>
                        <a:ext cx="3221037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8"/>
          <p:cNvGrpSpPr/>
          <p:nvPr/>
        </p:nvGrpSpPr>
        <p:grpSpPr>
          <a:xfrm>
            <a:off x="4930775" y="3500438"/>
            <a:ext cx="2809875" cy="1512887"/>
            <a:chOff x="3106" y="2205"/>
            <a:chExt cx="1770" cy="953"/>
          </a:xfrm>
        </p:grpSpPr>
        <p:sp>
          <p:nvSpPr>
            <p:cNvPr id="11292" name="Line 17"/>
            <p:cNvSpPr/>
            <p:nvPr/>
          </p:nvSpPr>
          <p:spPr>
            <a:xfrm>
              <a:off x="3198" y="2614"/>
              <a:ext cx="167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1293" name="Rectangle 18"/>
            <p:cNvSpPr/>
            <p:nvPr/>
          </p:nvSpPr>
          <p:spPr>
            <a:xfrm>
              <a:off x="3787" y="2523"/>
              <a:ext cx="454" cy="181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94" name="Text Box 19"/>
            <p:cNvSpPr txBox="1"/>
            <p:nvPr/>
          </p:nvSpPr>
          <p:spPr>
            <a:xfrm>
              <a:off x="3878" y="2205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1295" name="Text Box 20"/>
            <p:cNvSpPr txBox="1"/>
            <p:nvPr/>
          </p:nvSpPr>
          <p:spPr>
            <a:xfrm>
              <a:off x="3106" y="2205"/>
              <a:ext cx="81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交流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1296" name="Line 21"/>
            <p:cNvSpPr/>
            <p:nvPr/>
          </p:nvSpPr>
          <p:spPr>
            <a:xfrm>
              <a:off x="3333" y="2614"/>
              <a:ext cx="363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97" name="Line 24"/>
            <p:cNvSpPr/>
            <p:nvPr/>
          </p:nvSpPr>
          <p:spPr>
            <a:xfrm>
              <a:off x="3923" y="2795"/>
              <a:ext cx="0" cy="363"/>
            </a:xfrm>
            <a:prstGeom prst="line">
              <a:avLst/>
            </a:prstGeom>
            <a:ln w="57150" cap="flat" cmpd="sng">
              <a:solidFill>
                <a:srgbClr val="3399FF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26649" name="Object 25"/>
          <p:cNvGraphicFramePr/>
          <p:nvPr/>
        </p:nvGraphicFramePr>
        <p:xfrm>
          <a:off x="1423988" y="5070475"/>
          <a:ext cx="19589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735330" imgH="215900" progId="Equation.3">
                  <p:embed/>
                </p:oleObj>
              </mc:Choice>
              <mc:Fallback>
                <p:oleObj name="" r:id="rId3" imgW="735330" imgH="2159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23988" y="5070475"/>
                        <a:ext cx="1958975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8"/>
          <p:cNvGrpSpPr/>
          <p:nvPr/>
        </p:nvGrpSpPr>
        <p:grpSpPr>
          <a:xfrm>
            <a:off x="3571875" y="5286375"/>
            <a:ext cx="863600" cy="215900"/>
            <a:chOff x="2336" y="2840"/>
            <a:chExt cx="544" cy="136"/>
          </a:xfrm>
        </p:grpSpPr>
        <p:sp>
          <p:nvSpPr>
            <p:cNvPr id="11290" name="Line 26"/>
            <p:cNvSpPr/>
            <p:nvPr/>
          </p:nvSpPr>
          <p:spPr>
            <a:xfrm>
              <a:off x="2336" y="2840"/>
              <a:ext cx="54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1" name="Line 27"/>
            <p:cNvSpPr/>
            <p:nvPr/>
          </p:nvSpPr>
          <p:spPr>
            <a:xfrm>
              <a:off x="2336" y="2976"/>
              <a:ext cx="54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57"/>
          <p:cNvGrpSpPr/>
          <p:nvPr/>
        </p:nvGrpSpPr>
        <p:grpSpPr>
          <a:xfrm>
            <a:off x="1619250" y="3500438"/>
            <a:ext cx="2808288" cy="1441450"/>
            <a:chOff x="1020" y="2205"/>
            <a:chExt cx="1769" cy="908"/>
          </a:xfrm>
        </p:grpSpPr>
        <p:sp>
          <p:nvSpPr>
            <p:cNvPr id="11284" name="Line 10"/>
            <p:cNvSpPr/>
            <p:nvPr/>
          </p:nvSpPr>
          <p:spPr>
            <a:xfrm>
              <a:off x="1111" y="2614"/>
              <a:ext cx="167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1285" name="Rectangle 11"/>
            <p:cNvSpPr/>
            <p:nvPr/>
          </p:nvSpPr>
          <p:spPr>
            <a:xfrm>
              <a:off x="1700" y="2523"/>
              <a:ext cx="454" cy="181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86" name="Text Box 12"/>
            <p:cNvSpPr txBox="1"/>
            <p:nvPr/>
          </p:nvSpPr>
          <p:spPr>
            <a:xfrm>
              <a:off x="1791" y="2205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1287" name="Text Box 13"/>
            <p:cNvSpPr txBox="1"/>
            <p:nvPr/>
          </p:nvSpPr>
          <p:spPr>
            <a:xfrm>
              <a:off x="1020" y="2241"/>
              <a:ext cx="8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</a:rPr>
                <a:t>直流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88" name="Line 14"/>
            <p:cNvSpPr/>
            <p:nvPr/>
          </p:nvSpPr>
          <p:spPr>
            <a:xfrm>
              <a:off x="1202" y="2614"/>
              <a:ext cx="363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89" name="Line 29"/>
            <p:cNvSpPr/>
            <p:nvPr/>
          </p:nvSpPr>
          <p:spPr>
            <a:xfrm>
              <a:off x="1882" y="2750"/>
              <a:ext cx="0" cy="363"/>
            </a:xfrm>
            <a:prstGeom prst="line">
              <a:avLst/>
            </a:prstGeom>
            <a:ln w="57150" cap="flat" cmpd="sng">
              <a:solidFill>
                <a:srgbClr val="3399FF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6661" name="Text Box 37"/>
          <p:cNvSpPr txBox="1"/>
          <p:nvPr/>
        </p:nvSpPr>
        <p:spPr>
          <a:xfrm>
            <a:off x="468313" y="3644900"/>
            <a:ext cx="503237" cy="180022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物理意义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11275" name="Group 4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282" name="Picture 43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83" name="Text Box 4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1276" name="Group 4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280" name="Picture 46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81" name="Text Box 4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1277" name="Group 54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1278" name="Picture 55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79" name="Text Box 5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/>
      <p:bldP spid="26632" grpId="0" animBg="1"/>
      <p:bldP spid="2666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3515" name="Object 27"/>
          <p:cNvGraphicFramePr/>
          <p:nvPr/>
        </p:nvGraphicFramePr>
        <p:xfrm>
          <a:off x="2916238" y="692150"/>
          <a:ext cx="4249737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1180465" imgH="482600" progId="Equation.3">
                  <p:embed/>
                </p:oleObj>
              </mc:Choice>
              <mc:Fallback>
                <p:oleObj name="" r:id="rId1" imgW="1180465" imgH="4826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16238" y="692150"/>
                        <a:ext cx="4249737" cy="14398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66FFFF"/>
                          </a:gs>
                          <a:gs pos="50000">
                            <a:srgbClr val="FFFFFF"/>
                          </a:gs>
                          <a:gs pos="100000">
                            <a:srgbClr val="66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  <a:effectLst>
                        <a:prstShdw prst="shdw17" dist="17961" dir="2699999">
                          <a:srgbClr val="66FFFF">
                            <a:gamma/>
                            <a:shade val="60000"/>
                            <a:invGamma/>
                          </a:srgbClr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2" name="Group 3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303" name="Picture 3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04" name="Text Box 3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2293" name="Group 3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2301" name="Picture 34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02" name="Text Box 3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63524" name="AutoShape 36" descr="羊皮纸"/>
          <p:cNvSpPr/>
          <p:nvPr/>
        </p:nvSpPr>
        <p:spPr>
          <a:xfrm>
            <a:off x="539750" y="981075"/>
            <a:ext cx="1800225" cy="576263"/>
          </a:xfrm>
          <a:prstGeom prst="wedgeRoundRectCallout">
            <a:avLst>
              <a:gd name="adj1" fmla="val 98060"/>
              <a:gd name="adj2" fmla="val 77824"/>
              <a:gd name="adj3" fmla="val 16667"/>
            </a:avLst>
          </a:prstGeom>
          <a:blipFill rotWithShape="1">
            <a:blip r:embed="rId4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均方根值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3525" name="Text Box 37"/>
          <p:cNvSpPr txBox="1"/>
          <p:nvPr/>
        </p:nvSpPr>
        <p:spPr>
          <a:xfrm>
            <a:off x="755650" y="1989138"/>
            <a:ext cx="3168650" cy="733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定义电压有效值：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63526" name="Object 38"/>
          <p:cNvGraphicFramePr/>
          <p:nvPr/>
        </p:nvGraphicFramePr>
        <p:xfrm>
          <a:off x="2843213" y="2781300"/>
          <a:ext cx="4176712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5" imgW="1269365" imgH="482600" progId="Equation.3">
                  <p:embed/>
                </p:oleObj>
              </mc:Choice>
              <mc:Fallback>
                <p:oleObj name="" r:id="rId5" imgW="1269365" imgH="4826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43213" y="2781300"/>
                        <a:ext cx="4176712" cy="150018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FF99"/>
                          </a:gs>
                          <a:gs pos="50000">
                            <a:srgbClr val="FFFFFF"/>
                          </a:gs>
                          <a:gs pos="100000">
                            <a:srgbClr val="FFFF99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  <a:effectLst>
                        <a:prstShdw prst="shdw17" dist="17961" dir="2699999">
                          <a:srgbClr val="FFFF99">
                            <a:gamma/>
                            <a:shade val="60000"/>
                            <a:invGamma/>
                          </a:srgbClr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28" name="Text Box 40"/>
          <p:cNvSpPr txBox="1"/>
          <p:nvPr/>
        </p:nvSpPr>
        <p:spPr>
          <a:xfrm>
            <a:off x="468313" y="4508500"/>
            <a:ext cx="5400675" cy="557213"/>
          </a:xfrm>
          <a:prstGeom prst="rect">
            <a:avLst/>
          </a:prstGeom>
          <a:noFill/>
          <a:ln w="38100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98000" rIns="198000">
            <a:spAutoFit/>
          </a:bodyPr>
          <a:p>
            <a:pPr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33"/>
                </a:solidFill>
                <a:latin typeface="楷体_GB2312" pitchFamily="49" charset="-122"/>
              </a:rPr>
              <a:t> </a:t>
            </a:r>
            <a:r>
              <a:rPr lang="zh-CN" altLang="en-US" dirty="0">
                <a:solidFill>
                  <a:srgbClr val="FF9933"/>
                </a:solidFill>
                <a:latin typeface="楷体_GB2312" pitchFamily="49" charset="-122"/>
              </a:rPr>
              <a:t>正弦电流、电压的有效值</a:t>
            </a:r>
            <a:endParaRPr lang="zh-CN" altLang="en-US" dirty="0">
              <a:solidFill>
                <a:srgbClr val="FF9933"/>
              </a:solidFill>
              <a:latin typeface="楷体_GB2312" pitchFamily="49" charset="-122"/>
            </a:endParaRPr>
          </a:p>
        </p:txBody>
      </p:sp>
      <p:sp>
        <p:nvSpPr>
          <p:cNvPr id="63529" name="Text Box 41"/>
          <p:cNvSpPr txBox="1"/>
          <p:nvPr/>
        </p:nvSpPr>
        <p:spPr>
          <a:xfrm>
            <a:off x="1908175" y="5229225"/>
            <a:ext cx="426878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cos(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 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  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2298" name="Group 45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2299" name="Picture 4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00" name="Text Box 4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63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6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6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6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24" grpId="0" animBg="1"/>
      <p:bldP spid="63525" grpId="0"/>
      <p:bldP spid="63528" grpId="0" animBg="1"/>
      <p:bldP spid="635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5611" name="Object 11"/>
          <p:cNvGraphicFramePr/>
          <p:nvPr/>
        </p:nvGraphicFramePr>
        <p:xfrm>
          <a:off x="1598613" y="404813"/>
          <a:ext cx="565467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2107565" imgH="482600" progId="Equation.3">
                  <p:embed/>
                </p:oleObj>
              </mc:Choice>
              <mc:Fallback>
                <p:oleObj name="" r:id="rId1" imgW="2107565" imgH="4826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98613" y="404813"/>
                        <a:ext cx="5654675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12"/>
          <p:cNvGraphicFramePr/>
          <p:nvPr/>
        </p:nvGraphicFramePr>
        <p:xfrm>
          <a:off x="1116013" y="1557338"/>
          <a:ext cx="7402512" cy="211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3" imgW="3262630" imgH="951865" progId="Equation.3">
                  <p:embed/>
                </p:oleObj>
              </mc:Choice>
              <mc:Fallback>
                <p:oleObj name="" r:id="rId3" imgW="3262630" imgH="951865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1557338"/>
                        <a:ext cx="7402512" cy="2119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13"/>
          <p:cNvGraphicFramePr/>
          <p:nvPr/>
        </p:nvGraphicFramePr>
        <p:xfrm>
          <a:off x="900113" y="3933825"/>
          <a:ext cx="5456237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5" imgW="2310130" imgH="495300" progId="Equation.3">
                  <p:embed/>
                </p:oleObj>
              </mc:Choice>
              <mc:Fallback>
                <p:oleObj name="" r:id="rId5" imgW="2310130" imgH="4953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3933825"/>
                        <a:ext cx="5456237" cy="116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14"/>
          <p:cNvGraphicFramePr/>
          <p:nvPr/>
        </p:nvGraphicFramePr>
        <p:xfrm>
          <a:off x="1062038" y="5300663"/>
          <a:ext cx="6983412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7" imgW="2933700" imgH="279400" progId="Equation.3">
                  <p:embed/>
                </p:oleObj>
              </mc:Choice>
              <mc:Fallback>
                <p:oleObj name="" r:id="rId7" imgW="2933700" imgH="2794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62038" y="5300663"/>
                        <a:ext cx="6983412" cy="658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16"/>
          <p:cNvGraphicFramePr/>
          <p:nvPr/>
        </p:nvGraphicFramePr>
        <p:xfrm>
          <a:off x="5003800" y="2636838"/>
          <a:ext cx="2755900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9" imgW="723900" imgH="279400" progId="Equation.3">
                  <p:embed/>
                </p:oleObj>
              </mc:Choice>
              <mc:Fallback>
                <p:oleObj name="" r:id="rId9" imgW="723900" imgH="2794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A50021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03800" y="2636838"/>
                        <a:ext cx="2755900" cy="106521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66FFFF"/>
                          </a:gs>
                          <a:gs pos="50000">
                            <a:schemeClr val="bg1"/>
                          </a:gs>
                          <a:gs pos="100000">
                            <a:srgbClr val="66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7" name="Line 17"/>
          <p:cNvSpPr/>
          <p:nvPr/>
        </p:nvSpPr>
        <p:spPr>
          <a:xfrm flipV="1">
            <a:off x="4787900" y="3860800"/>
            <a:ext cx="647700" cy="288925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3320" name="Group 2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329" name="Picture 23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30" name="Text Box 2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3321" name="Group 2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327" name="Picture 26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28" name="Text Box 2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3322" name="Group 35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3325" name="Picture 36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26" name="Text Box 3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5638" name="Text Box 38"/>
          <p:cNvSpPr txBox="1"/>
          <p:nvPr/>
        </p:nvSpPr>
        <p:spPr>
          <a:xfrm>
            <a:off x="395288" y="1773238"/>
            <a:ext cx="9366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因为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639" name="Text Box 39"/>
          <p:cNvSpPr txBox="1"/>
          <p:nvPr/>
        </p:nvSpPr>
        <p:spPr>
          <a:xfrm>
            <a:off x="323850" y="4221163"/>
            <a:ext cx="9366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所以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38" grpId="0"/>
      <p:bldP spid="2563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ext Box 2"/>
          <p:cNvSpPr txBox="1"/>
          <p:nvPr/>
        </p:nvSpPr>
        <p:spPr>
          <a:xfrm>
            <a:off x="755650" y="636588"/>
            <a:ext cx="697071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同理，可得正弦电压有效值与最大值的关系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579" name="Object 3"/>
          <p:cNvGraphicFramePr/>
          <p:nvPr/>
        </p:nvGraphicFramePr>
        <p:xfrm>
          <a:off x="1619250" y="1141413"/>
          <a:ext cx="53403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2425700" imgH="469900" progId="Equation.3">
                  <p:embed/>
                </p:oleObj>
              </mc:Choice>
              <mc:Fallback>
                <p:oleObj name="" r:id="rId1" imgW="2425700" imgH="4699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1141413"/>
                        <a:ext cx="5340350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Text Box 4"/>
          <p:cNvSpPr txBox="1"/>
          <p:nvPr/>
        </p:nvSpPr>
        <p:spPr>
          <a:xfrm>
            <a:off x="900113" y="2149475"/>
            <a:ext cx="7559675" cy="1163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20000"/>
              </a:spcBef>
            </a:pPr>
            <a:r>
              <a:rPr lang="zh-CN" altLang="en-US" dirty="0">
                <a:latin typeface="楷体_GB2312" pitchFamily="49" charset="-122"/>
              </a:rPr>
              <a:t>若交流电压有效值为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=220V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， 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=380V</a:t>
            </a:r>
            <a:r>
              <a:rPr lang="en-US" altLang="zh-CN" sz="2400" dirty="0">
                <a:latin typeface="Arial" panose="020B0604020202020204" pitchFamily="34" charset="0"/>
                <a:ea typeface="仿宋_GB2312" pitchFamily="49" charset="-122"/>
              </a:rPr>
              <a:t> </a:t>
            </a:r>
            <a:endParaRPr lang="en-US" altLang="zh-CN" dirty="0">
              <a:latin typeface="楷体_GB2312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dirty="0">
                <a:latin typeface="楷体_GB2312" pitchFamily="49" charset="-122"/>
              </a:rPr>
              <a:t>        </a:t>
            </a:r>
            <a:r>
              <a:rPr lang="zh-CN" altLang="en-US" dirty="0">
                <a:latin typeface="楷体_GB2312" pitchFamily="49" charset="-122"/>
              </a:rPr>
              <a:t>其最大值为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311V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m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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537V</a:t>
            </a:r>
            <a:endParaRPr lang="en-US" altLang="zh-CN" sz="2400" b="0" dirty="0">
              <a:solidFill>
                <a:schemeClr val="bg1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grpSp>
        <p:nvGrpSpPr>
          <p:cNvPr id="14341" name="Group 1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352" name="Picture 1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53" name="Text Box 1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4342" name="Group 1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4350" name="Picture 19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51" name="Text Box 2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" name="Group 24"/>
          <p:cNvGrpSpPr/>
          <p:nvPr/>
        </p:nvGrpSpPr>
        <p:grpSpPr>
          <a:xfrm>
            <a:off x="323850" y="2941638"/>
            <a:ext cx="1644650" cy="850900"/>
            <a:chOff x="385" y="3022"/>
            <a:chExt cx="1036" cy="536"/>
          </a:xfrm>
        </p:grpSpPr>
        <p:pic>
          <p:nvPicPr>
            <p:cNvPr id="14348" name="Picture 25" descr="1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49" name="Text Box 26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24603" name="Text Box 27"/>
          <p:cNvSpPr txBox="1"/>
          <p:nvPr/>
        </p:nvSpPr>
        <p:spPr>
          <a:xfrm>
            <a:off x="539750" y="3733800"/>
            <a:ext cx="8108950" cy="2143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571500" algn="just" defTabSz="914400">
              <a:lnSpc>
                <a:spcPct val="120000"/>
              </a:lnSpc>
              <a:buAutoNum type="circleNumDbPlain"/>
              <a:tabLst>
                <a:tab pos="476250" algn="l"/>
                <a:tab pos="571500" algn="l"/>
              </a:tabLst>
            </a:pPr>
            <a:r>
              <a:rPr lang="zh-CN" altLang="en-US" dirty="0">
                <a:latin typeface="楷体_GB2312" pitchFamily="49" charset="-122"/>
              </a:rPr>
              <a:t>工程上说的正弦电压、电流一般指有效值，如设备铭牌额定值、电网的电压等级等。但绝缘水平、耐压值指的是最大值。因此，在考虑电器设备的耐压水平时应按最大值考虑。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14345" name="Group 31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4346" name="Picture 3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47" name="Text Box 3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24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24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24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" fill="hold"/>
                                        <p:tgtEl>
                                          <p:spTgt spid="24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/>
      <p:bldP spid="24580" grpId="0"/>
      <p:bldP spid="2460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9" name="Text Box 7"/>
          <p:cNvSpPr txBox="1"/>
          <p:nvPr/>
        </p:nvSpPr>
        <p:spPr>
          <a:xfrm>
            <a:off x="684213" y="549275"/>
            <a:ext cx="7818437" cy="1117600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pPr marL="342900" indent="-342900">
              <a:lnSpc>
                <a:spcPct val="120000"/>
              </a:lnSpc>
              <a:buAutoNum type="circleNumDbPlain" startAt="2"/>
            </a:pPr>
            <a:r>
              <a:rPr lang="zh-CN" altLang="en-US" dirty="0">
                <a:latin typeface="楷体_GB2312" pitchFamily="49" charset="-122"/>
              </a:rPr>
              <a:t>测量中，交流测量仪表指示的电压、电流读数一般为有效值。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4520" name="Text Box 8"/>
          <p:cNvSpPr txBox="1"/>
          <p:nvPr/>
        </p:nvSpPr>
        <p:spPr>
          <a:xfrm>
            <a:off x="827088" y="1700213"/>
            <a:ext cx="7993062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120000"/>
              </a:lnSpc>
              <a:spcBef>
                <a:spcPct val="50000"/>
              </a:spcBef>
              <a:buAutoNum type="circleNumDbPlain" startAt="3"/>
            </a:pPr>
            <a:r>
              <a:rPr lang="zh-CN" altLang="en-US" dirty="0">
                <a:latin typeface="楷体_GB2312" pitchFamily="49" charset="-122"/>
              </a:rPr>
              <a:t>区分电压、电流的瞬时值、最大值、有效值的符号。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64521" name="Object 9"/>
          <p:cNvGraphicFramePr/>
          <p:nvPr/>
        </p:nvGraphicFramePr>
        <p:xfrm>
          <a:off x="1000125" y="3071813"/>
          <a:ext cx="574357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1420495" imgH="266065" progId="Equation.3">
                  <p:embed/>
                </p:oleObj>
              </mc:Choice>
              <mc:Fallback>
                <p:oleObj name="" r:id="rId1" imgW="1420495" imgH="266065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00125" y="3071813"/>
                        <a:ext cx="5743575" cy="93503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FFFF"/>
                          </a:gs>
                          <a:gs pos="50000">
                            <a:schemeClr val="bg1"/>
                          </a:gs>
                          <a:gs pos="100000">
                            <a:srgbClr val="00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5" name="Group 1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372" name="Picture 1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73" name="Text Box 1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5366" name="Group 1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370" name="Picture 1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71" name="Text Box 1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5367" name="Group 2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5368" name="Picture 24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69" name="Text Box 2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9" grpId="0"/>
      <p:bldP spid="645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87" name="Text Box 35"/>
          <p:cNvSpPr txBox="1"/>
          <p:nvPr/>
        </p:nvSpPr>
        <p:spPr>
          <a:xfrm>
            <a:off x="2411413" y="404813"/>
            <a:ext cx="4465637" cy="701675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7A8E99"/>
            </a:prstShdw>
          </a:effectLst>
        </p:spPr>
        <p:txBody>
          <a:bodyPr>
            <a:spAutoFit/>
          </a:bodyPr>
          <a:p>
            <a:r>
              <a:rPr lang="en-US" altLang="zh-CN" sz="40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8-3</a:t>
            </a:r>
            <a:r>
              <a:rPr lang="en-US" altLang="zh-CN" sz="40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4000" dirty="0">
                <a:solidFill>
                  <a:schemeClr val="bg1"/>
                </a:solidFill>
                <a:latin typeface="楷体_GB2312" pitchFamily="49" charset="-122"/>
              </a:rPr>
              <a:t>相量法的基础</a:t>
            </a:r>
            <a:endParaRPr lang="zh-CN" altLang="en-US" sz="40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23588" name="Text Box 36"/>
          <p:cNvSpPr txBox="1"/>
          <p:nvPr/>
        </p:nvSpPr>
        <p:spPr>
          <a:xfrm>
            <a:off x="827088" y="1341438"/>
            <a:ext cx="3167062" cy="579437"/>
          </a:xfrm>
          <a:prstGeom prst="rect">
            <a:avLst/>
          </a:prstGeom>
          <a:noFill/>
          <a:ln w="19050">
            <a:noFill/>
          </a:ln>
        </p:spPr>
        <p:txBody>
          <a:bodyPr lIns="198000" rIns="19800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问题的提出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23598" name="Text Box 46"/>
          <p:cNvSpPr txBox="1"/>
          <p:nvPr/>
        </p:nvSpPr>
        <p:spPr>
          <a:xfrm>
            <a:off x="827088" y="2060575"/>
            <a:ext cx="38163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电路方程是微分方程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599" name="Text Box 47"/>
          <p:cNvSpPr txBox="1"/>
          <p:nvPr/>
        </p:nvSpPr>
        <p:spPr>
          <a:xfrm>
            <a:off x="684213" y="4076700"/>
            <a:ext cx="77057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两个正弦量的相加，如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KCL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KVL</a:t>
            </a:r>
            <a:r>
              <a:rPr lang="zh-CN" altLang="en-US" dirty="0">
                <a:latin typeface="Times New Roman" panose="02020603050405020304" pitchFamily="18" charset="0"/>
              </a:rPr>
              <a:t>方程运算：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631" name="Object 79"/>
          <p:cNvGraphicFramePr/>
          <p:nvPr/>
        </p:nvGraphicFramePr>
        <p:xfrm>
          <a:off x="773113" y="2881313"/>
          <a:ext cx="4643437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1993265" imgH="444500" progId="Equation.DSMT4">
                  <p:embed/>
                </p:oleObj>
              </mc:Choice>
              <mc:Fallback>
                <p:oleObj name="" r:id="rId1" imgW="1993265" imgH="4445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73113" y="2881313"/>
                        <a:ext cx="4643437" cy="1038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5"/>
          <p:cNvGrpSpPr/>
          <p:nvPr/>
        </p:nvGrpSpPr>
        <p:grpSpPr>
          <a:xfrm>
            <a:off x="1203325" y="4797425"/>
            <a:ext cx="5529263" cy="1298575"/>
            <a:chOff x="758" y="3022"/>
            <a:chExt cx="3483" cy="818"/>
          </a:xfrm>
        </p:grpSpPr>
        <p:graphicFrame>
          <p:nvGraphicFramePr>
            <p:cNvPr id="16387" name="Object 83"/>
            <p:cNvGraphicFramePr/>
            <p:nvPr/>
          </p:nvGraphicFramePr>
          <p:xfrm>
            <a:off x="758" y="3022"/>
            <a:ext cx="2443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3" imgW="1549400" imgH="279400" progId="Equation.3">
                    <p:embed/>
                  </p:oleObj>
                </mc:Choice>
                <mc:Fallback>
                  <p:oleObj name="" r:id="rId3" imgW="1549400" imgH="27940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58" y="3022"/>
                          <a:ext cx="2443" cy="4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8" name="Object 84"/>
            <p:cNvGraphicFramePr/>
            <p:nvPr/>
          </p:nvGraphicFramePr>
          <p:xfrm>
            <a:off x="777" y="3430"/>
            <a:ext cx="2437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5" imgW="1600200" imgH="279400" progId="Equation.3">
                    <p:embed/>
                  </p:oleObj>
                </mc:Choice>
                <mc:Fallback>
                  <p:oleObj name="" r:id="rId5" imgW="1600200" imgH="279400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77" y="3430"/>
                          <a:ext cx="2437" cy="4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30" name="Line 85"/>
            <p:cNvSpPr/>
            <p:nvPr/>
          </p:nvSpPr>
          <p:spPr>
            <a:xfrm>
              <a:off x="3243" y="3204"/>
              <a:ext cx="547" cy="160"/>
            </a:xfrm>
            <a:prstGeom prst="line">
              <a:avLst/>
            </a:prstGeom>
            <a:ln w="38100" cap="flat" cmpd="sng">
              <a:solidFill>
                <a:srgbClr val="FFFF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31" name="Line 86"/>
            <p:cNvSpPr/>
            <p:nvPr/>
          </p:nvSpPr>
          <p:spPr>
            <a:xfrm flipV="1">
              <a:off x="3288" y="3383"/>
              <a:ext cx="499" cy="319"/>
            </a:xfrm>
            <a:prstGeom prst="line">
              <a:avLst/>
            </a:prstGeom>
            <a:ln w="38100" cap="flat" cmpd="sng">
              <a:solidFill>
                <a:srgbClr val="FFFF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32" name="Line 87"/>
            <p:cNvSpPr/>
            <p:nvPr/>
          </p:nvSpPr>
          <p:spPr>
            <a:xfrm>
              <a:off x="3859" y="3369"/>
              <a:ext cx="382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33" name="Line 88"/>
            <p:cNvSpPr/>
            <p:nvPr/>
          </p:nvSpPr>
          <p:spPr>
            <a:xfrm>
              <a:off x="4059" y="3158"/>
              <a:ext cx="0" cy="409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6394" name="Group 9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428" name="Picture 91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429" name="Text Box 9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6395" name="Group 9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426" name="Picture 94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427" name="Text Box 9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6396" name="Group 129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6424" name="Picture 130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425" name="Text Box 13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137"/>
          <p:cNvGrpSpPr/>
          <p:nvPr/>
        </p:nvGrpSpPr>
        <p:grpSpPr>
          <a:xfrm>
            <a:off x="5076825" y="1239838"/>
            <a:ext cx="3619500" cy="1830387"/>
            <a:chOff x="3198" y="781"/>
            <a:chExt cx="2280" cy="1153"/>
          </a:xfrm>
        </p:grpSpPr>
        <p:sp>
          <p:nvSpPr>
            <p:cNvPr id="16398" name="Oval 100"/>
            <p:cNvSpPr/>
            <p:nvPr/>
          </p:nvSpPr>
          <p:spPr>
            <a:xfrm>
              <a:off x="3198" y="111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6399" name="Group 101"/>
            <p:cNvGrpSpPr/>
            <p:nvPr/>
          </p:nvGrpSpPr>
          <p:grpSpPr>
            <a:xfrm>
              <a:off x="5149" y="1298"/>
              <a:ext cx="240" cy="90"/>
              <a:chOff x="4604" y="2478"/>
              <a:chExt cx="240" cy="90"/>
            </a:xfrm>
          </p:grpSpPr>
          <p:sp>
            <p:nvSpPr>
              <p:cNvPr id="16422" name="Line 102"/>
              <p:cNvSpPr/>
              <p:nvPr/>
            </p:nvSpPr>
            <p:spPr>
              <a:xfrm>
                <a:off x="4604" y="2478"/>
                <a:ext cx="240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23" name="Line 103"/>
              <p:cNvSpPr/>
              <p:nvPr/>
            </p:nvSpPr>
            <p:spPr>
              <a:xfrm>
                <a:off x="4604" y="2568"/>
                <a:ext cx="240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6400" name="Line 104"/>
            <p:cNvSpPr/>
            <p:nvPr/>
          </p:nvSpPr>
          <p:spPr>
            <a:xfrm>
              <a:off x="3380" y="845"/>
              <a:ext cx="0" cy="10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01" name="Line 105"/>
            <p:cNvSpPr/>
            <p:nvPr/>
          </p:nvSpPr>
          <p:spPr>
            <a:xfrm>
              <a:off x="3380" y="845"/>
              <a:ext cx="104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02" name="Freeform 106"/>
            <p:cNvSpPr/>
            <p:nvPr/>
          </p:nvSpPr>
          <p:spPr>
            <a:xfrm>
              <a:off x="4831" y="845"/>
              <a:ext cx="454" cy="453"/>
            </a:xfrm>
            <a:custGeom>
              <a:avLst/>
              <a:gdLst>
                <a:gd name="txL" fmla="*/ 0 w 337"/>
                <a:gd name="txT" fmla="*/ 0 h 346"/>
                <a:gd name="txR" fmla="*/ 337 w 337"/>
                <a:gd name="txB" fmla="*/ 346 h 346"/>
              </a:gdLst>
              <a:ahLst/>
              <a:cxnLst>
                <a:cxn ang="0">
                  <a:pos x="0" y="0"/>
                </a:cxn>
                <a:cxn ang="0">
                  <a:pos x="454" y="0"/>
                </a:cxn>
                <a:cxn ang="0">
                  <a:pos x="454" y="453"/>
                </a:cxn>
              </a:cxnLst>
              <a:rect l="txL" t="txT" r="txR" b="txB"/>
              <a:pathLst>
                <a:path w="337" h="346">
                  <a:moveTo>
                    <a:pt x="0" y="0"/>
                  </a:moveTo>
                  <a:lnTo>
                    <a:pt x="337" y="0"/>
                  </a:lnTo>
                  <a:lnTo>
                    <a:pt x="337" y="346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6403" name="Line 107"/>
            <p:cNvSpPr/>
            <p:nvPr/>
          </p:nvSpPr>
          <p:spPr>
            <a:xfrm>
              <a:off x="5285" y="1389"/>
              <a:ext cx="0" cy="5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04" name="Line 108"/>
            <p:cNvSpPr/>
            <p:nvPr/>
          </p:nvSpPr>
          <p:spPr>
            <a:xfrm>
              <a:off x="3380" y="1933"/>
              <a:ext cx="1899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05" name="Rectangle 109"/>
            <p:cNvSpPr/>
            <p:nvPr/>
          </p:nvSpPr>
          <p:spPr>
            <a:xfrm>
              <a:off x="3833" y="890"/>
              <a:ext cx="137" cy="26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06" name="Rectangle 110"/>
            <p:cNvSpPr/>
            <p:nvPr/>
          </p:nvSpPr>
          <p:spPr>
            <a:xfrm>
              <a:off x="4558" y="845"/>
              <a:ext cx="125" cy="26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07" name="Rectangle 111"/>
            <p:cNvSpPr/>
            <p:nvPr/>
          </p:nvSpPr>
          <p:spPr>
            <a:xfrm>
              <a:off x="5330" y="1435"/>
              <a:ext cx="148" cy="26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08" name="Rectangle 112"/>
            <p:cNvSpPr/>
            <p:nvPr/>
          </p:nvSpPr>
          <p:spPr>
            <a:xfrm>
              <a:off x="5058" y="981"/>
              <a:ext cx="126" cy="26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09" name="Rectangle 113"/>
            <p:cNvSpPr/>
            <p:nvPr/>
          </p:nvSpPr>
          <p:spPr>
            <a:xfrm>
              <a:off x="5012" y="1435"/>
              <a:ext cx="112" cy="26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410" name="Rectangle 114"/>
            <p:cNvSpPr/>
            <p:nvPr/>
          </p:nvSpPr>
          <p:spPr>
            <a:xfrm>
              <a:off x="4876" y="1208"/>
              <a:ext cx="249" cy="307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1" name="Line 115"/>
            <p:cNvSpPr/>
            <p:nvPr/>
          </p:nvSpPr>
          <p:spPr>
            <a:xfrm>
              <a:off x="4105" y="845"/>
              <a:ext cx="31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6412" name="Rectangle 116"/>
            <p:cNvSpPr/>
            <p:nvPr/>
          </p:nvSpPr>
          <p:spPr>
            <a:xfrm>
              <a:off x="4195" y="845"/>
              <a:ext cx="164" cy="30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3" name="Text Box 117"/>
            <p:cNvSpPr txBox="1"/>
            <p:nvPr/>
          </p:nvSpPr>
          <p:spPr>
            <a:xfrm>
              <a:off x="3561" y="1227"/>
              <a:ext cx="244" cy="36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414" name="Rectangle 122"/>
            <p:cNvSpPr/>
            <p:nvPr/>
          </p:nvSpPr>
          <p:spPr>
            <a:xfrm>
              <a:off x="3742" y="7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6415" name="Rectangle 123"/>
            <p:cNvSpPr/>
            <p:nvPr/>
          </p:nvSpPr>
          <p:spPr>
            <a:xfrm>
              <a:off x="3470" y="890"/>
              <a:ext cx="126" cy="26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6" name="Rectangle 124"/>
            <p:cNvSpPr/>
            <p:nvPr/>
          </p:nvSpPr>
          <p:spPr>
            <a:xfrm>
              <a:off x="3470" y="1480"/>
              <a:ext cx="112" cy="26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6417" name="Group 132"/>
            <p:cNvGrpSpPr/>
            <p:nvPr/>
          </p:nvGrpSpPr>
          <p:grpSpPr>
            <a:xfrm rot="5400000">
              <a:off x="4580" y="622"/>
              <a:ext cx="68" cy="385"/>
              <a:chOff x="1565" y="2614"/>
              <a:chExt cx="90" cy="486"/>
            </a:xfrm>
          </p:grpSpPr>
          <p:sp>
            <p:nvSpPr>
              <p:cNvPr id="16418" name="Arc 133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19" name="Arc 134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20" name="Arc 135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21" name="Arc 136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3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87" grpId="0"/>
      <p:bldP spid="23588" grpId="0"/>
      <p:bldP spid="23598" grpId="0"/>
      <p:bldP spid="2359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63"/>
          <p:cNvGrpSpPr/>
          <p:nvPr/>
        </p:nvGrpSpPr>
        <p:grpSpPr>
          <a:xfrm>
            <a:off x="2339975" y="549275"/>
            <a:ext cx="4545013" cy="601663"/>
            <a:chOff x="1474" y="346"/>
            <a:chExt cx="2863" cy="379"/>
          </a:xfrm>
        </p:grpSpPr>
        <p:sp>
          <p:nvSpPr>
            <p:cNvPr id="56372" name="Text Box 22"/>
            <p:cNvSpPr txBox="1"/>
            <p:nvPr/>
          </p:nvSpPr>
          <p:spPr>
            <a:xfrm>
              <a:off x="1474" y="346"/>
              <a:ext cx="349" cy="365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73" name="Text Box 3"/>
            <p:cNvSpPr txBox="1"/>
            <p:nvPr/>
          </p:nvSpPr>
          <p:spPr>
            <a:xfrm>
              <a:off x="3288" y="360"/>
              <a:ext cx="104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+i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74" name="Text Box 23"/>
            <p:cNvSpPr txBox="1"/>
            <p:nvPr/>
          </p:nvSpPr>
          <p:spPr>
            <a:xfrm>
              <a:off x="2472" y="346"/>
              <a:ext cx="271" cy="3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66"/>
          <p:cNvGrpSpPr/>
          <p:nvPr/>
        </p:nvGrpSpPr>
        <p:grpSpPr>
          <a:xfrm>
            <a:off x="971550" y="1341438"/>
            <a:ext cx="5287963" cy="601662"/>
            <a:chOff x="521" y="845"/>
            <a:chExt cx="3331" cy="379"/>
          </a:xfrm>
        </p:grpSpPr>
        <p:sp>
          <p:nvSpPr>
            <p:cNvPr id="56368" name="Text Box 5"/>
            <p:cNvSpPr txBox="1"/>
            <p:nvPr/>
          </p:nvSpPr>
          <p:spPr>
            <a:xfrm>
              <a:off x="1429" y="845"/>
              <a:ext cx="29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69" name="Text Box 6"/>
            <p:cNvSpPr txBox="1"/>
            <p:nvPr/>
          </p:nvSpPr>
          <p:spPr>
            <a:xfrm>
              <a:off x="2441" y="859"/>
              <a:ext cx="29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70" name="Text Box 7"/>
            <p:cNvSpPr txBox="1"/>
            <p:nvPr/>
          </p:nvSpPr>
          <p:spPr>
            <a:xfrm>
              <a:off x="3560" y="845"/>
              <a:ext cx="29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71" name="Text Box 18"/>
            <p:cNvSpPr txBox="1"/>
            <p:nvPr/>
          </p:nvSpPr>
          <p:spPr>
            <a:xfrm>
              <a:off x="521" y="890"/>
              <a:ext cx="104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角频率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8449" name="Text Box 17"/>
          <p:cNvSpPr txBox="1"/>
          <p:nvPr/>
        </p:nvSpPr>
        <p:spPr>
          <a:xfrm>
            <a:off x="468313" y="4221163"/>
            <a:ext cx="82804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666750" algn="just"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</a:rPr>
              <a:t>同频的正弦量相加仍得到同频的正弦量，所以，只需确定初相位和有效值。因此采用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4" name="Group 48"/>
          <p:cNvGrpSpPr/>
          <p:nvPr/>
        </p:nvGrpSpPr>
        <p:grpSpPr>
          <a:xfrm>
            <a:off x="1116013" y="5545138"/>
            <a:ext cx="4105275" cy="547687"/>
            <a:chOff x="657" y="3566"/>
            <a:chExt cx="2586" cy="445"/>
          </a:xfrm>
        </p:grpSpPr>
        <p:sp>
          <p:nvSpPr>
            <p:cNvPr id="56365" name="Text Box 38"/>
            <p:cNvSpPr txBox="1"/>
            <p:nvPr/>
          </p:nvSpPr>
          <p:spPr>
            <a:xfrm>
              <a:off x="657" y="3566"/>
              <a:ext cx="998" cy="445"/>
            </a:xfrm>
            <a:prstGeom prst="rect">
              <a:avLst/>
            </a:prstGeom>
            <a:noFill/>
            <a:ln w="28575" cap="flat" cmpd="sng">
              <a:solidFill>
                <a:srgbClr val="66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正弦量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66" name="AutoShape 39"/>
            <p:cNvSpPr/>
            <p:nvPr/>
          </p:nvSpPr>
          <p:spPr>
            <a:xfrm>
              <a:off x="1791" y="3611"/>
              <a:ext cx="726" cy="227"/>
            </a:xfrm>
            <a:prstGeom prst="leftRightArrow">
              <a:avLst>
                <a:gd name="adj1" fmla="val 50000"/>
                <a:gd name="adj2" fmla="val 63964"/>
              </a:avLst>
            </a:prstGeom>
            <a:solidFill>
              <a:srgbClr val="3399FF"/>
            </a:solidFill>
            <a:ln w="28575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367" name="Text Box 40"/>
            <p:cNvSpPr txBox="1"/>
            <p:nvPr/>
          </p:nvSpPr>
          <p:spPr>
            <a:xfrm>
              <a:off x="2608" y="3566"/>
              <a:ext cx="635" cy="445"/>
            </a:xfrm>
            <a:prstGeom prst="rect">
              <a:avLst/>
            </a:prstGeom>
            <a:noFill/>
            <a:ln w="28575" cap="flat" cmpd="sng">
              <a:solidFill>
                <a:srgbClr val="66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复数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6326" name="Group 5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6363" name="Picture 5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64" name="Text Box 5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6327" name="Group 5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6361" name="Picture 5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62" name="Text Box 5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" name="Group 67"/>
          <p:cNvGrpSpPr/>
          <p:nvPr/>
        </p:nvGrpSpPr>
        <p:grpSpPr>
          <a:xfrm>
            <a:off x="971550" y="2133600"/>
            <a:ext cx="5588000" cy="590550"/>
            <a:chOff x="612" y="1344"/>
            <a:chExt cx="3520" cy="372"/>
          </a:xfrm>
        </p:grpSpPr>
        <p:grpSp>
          <p:nvGrpSpPr>
            <p:cNvPr id="56356" name="Group 8"/>
            <p:cNvGrpSpPr/>
            <p:nvPr/>
          </p:nvGrpSpPr>
          <p:grpSpPr>
            <a:xfrm>
              <a:off x="1610" y="1389"/>
              <a:ext cx="2522" cy="327"/>
              <a:chOff x="2054" y="1335"/>
              <a:chExt cx="2522" cy="327"/>
            </a:xfrm>
          </p:grpSpPr>
          <p:sp>
            <p:nvSpPr>
              <p:cNvPr id="56358" name="Text Box 9"/>
              <p:cNvSpPr txBox="1"/>
              <p:nvPr/>
            </p:nvSpPr>
            <p:spPr>
              <a:xfrm>
                <a:off x="2054" y="1335"/>
                <a:ext cx="26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359" name="Text Box 10"/>
              <p:cNvSpPr txBox="1"/>
              <p:nvPr/>
            </p:nvSpPr>
            <p:spPr>
              <a:xfrm>
                <a:off x="2976" y="1335"/>
                <a:ext cx="26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360" name="Text Box 11"/>
              <p:cNvSpPr txBox="1"/>
              <p:nvPr/>
            </p:nvSpPr>
            <p:spPr>
              <a:xfrm>
                <a:off x="4309" y="1335"/>
                <a:ext cx="26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6357" name="Text Box 64"/>
            <p:cNvSpPr txBox="1"/>
            <p:nvPr/>
          </p:nvSpPr>
          <p:spPr>
            <a:xfrm>
              <a:off x="612" y="1344"/>
              <a:ext cx="104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有效值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68"/>
          <p:cNvGrpSpPr/>
          <p:nvPr/>
        </p:nvGrpSpPr>
        <p:grpSpPr>
          <a:xfrm>
            <a:off x="971550" y="2852738"/>
            <a:ext cx="5583238" cy="590550"/>
            <a:chOff x="612" y="1797"/>
            <a:chExt cx="3517" cy="372"/>
          </a:xfrm>
        </p:grpSpPr>
        <p:grpSp>
          <p:nvGrpSpPr>
            <p:cNvPr id="56351" name="Group 12"/>
            <p:cNvGrpSpPr/>
            <p:nvPr/>
          </p:nvGrpSpPr>
          <p:grpSpPr>
            <a:xfrm>
              <a:off x="1565" y="1842"/>
              <a:ext cx="2564" cy="327"/>
              <a:chOff x="2030" y="1648"/>
              <a:chExt cx="2564" cy="327"/>
            </a:xfrm>
          </p:grpSpPr>
          <p:sp>
            <p:nvSpPr>
              <p:cNvPr id="56353" name="Text Box 13"/>
              <p:cNvSpPr txBox="1"/>
              <p:nvPr/>
            </p:nvSpPr>
            <p:spPr>
              <a:xfrm>
                <a:off x="2030" y="1648"/>
                <a:ext cx="30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0" i="1" dirty="0">
                    <a:solidFill>
                      <a:schemeClr val="bg1"/>
                    </a:solidFill>
                    <a:latin typeface="Symbol" panose="05050102010706020507" pitchFamily="18" charset="2"/>
                    <a:ea typeface="宋体" panose="02010600030101010101" pitchFamily="2" charset="-122"/>
                    <a:sym typeface="Symbol" panose="05050102010706020507" pitchFamily="18" charset="2"/>
                  </a:rPr>
                  <a:t>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354" name="Text Box 14"/>
              <p:cNvSpPr txBox="1"/>
              <p:nvPr/>
            </p:nvSpPr>
            <p:spPr>
              <a:xfrm>
                <a:off x="2952" y="1648"/>
                <a:ext cx="34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0" i="1" dirty="0">
                    <a:solidFill>
                      <a:schemeClr val="bg1"/>
                    </a:solidFill>
                    <a:latin typeface="Symbol" panose="05050102010706020507" pitchFamily="18" charset="2"/>
                    <a:ea typeface="宋体" panose="02010600030101010101" pitchFamily="2" charset="-122"/>
                    <a:sym typeface="Symbol" panose="05050102010706020507" pitchFamily="18" charset="2"/>
                  </a:rPr>
                  <a:t>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2</a:t>
                </a:r>
                <a:endPara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355" name="Text Box 15"/>
              <p:cNvSpPr txBox="1"/>
              <p:nvPr/>
            </p:nvSpPr>
            <p:spPr>
              <a:xfrm>
                <a:off x="4285" y="1648"/>
                <a:ext cx="30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0" i="1" dirty="0">
                    <a:solidFill>
                      <a:schemeClr val="bg1"/>
                    </a:solidFill>
                    <a:latin typeface="Symbol" panose="05050102010706020507" pitchFamily="18" charset="2"/>
                    <a:ea typeface="宋体" panose="02010600030101010101" pitchFamily="2" charset="-122"/>
                    <a:sym typeface="Symbol" panose="05050102010706020507" pitchFamily="18" charset="2"/>
                  </a:rPr>
                  <a:t>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6352" name="Text Box 65"/>
            <p:cNvSpPr txBox="1"/>
            <p:nvPr/>
          </p:nvSpPr>
          <p:spPr>
            <a:xfrm>
              <a:off x="612" y="1797"/>
              <a:ext cx="104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初相位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8501" name="AutoShape 69" descr="羊皮纸"/>
          <p:cNvSpPr/>
          <p:nvPr/>
        </p:nvSpPr>
        <p:spPr>
          <a:xfrm>
            <a:off x="6300788" y="5400675"/>
            <a:ext cx="2232025" cy="649288"/>
          </a:xfrm>
          <a:prstGeom prst="wedgeRoundRectCallout">
            <a:avLst>
              <a:gd name="adj1" fmla="val -100426"/>
              <a:gd name="adj2" fmla="val 16259"/>
              <a:gd name="adj3" fmla="val 16667"/>
            </a:avLst>
          </a:prstGeom>
          <a:blipFill rotWithShape="1">
            <a:blip r:embed="rId2"/>
          </a:blipFill>
          <a:ln w="9525">
            <a:noFill/>
          </a:ln>
        </p:spPr>
        <p:txBody>
          <a:bodyPr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变换的思想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502" name="Rectangle 70"/>
          <p:cNvSpPr/>
          <p:nvPr/>
        </p:nvSpPr>
        <p:spPr>
          <a:xfrm>
            <a:off x="539750" y="476250"/>
            <a:ext cx="7848600" cy="31686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algn="ctr"/>
            <a:endParaRPr lang="zh-CN" altLang="zh-CN" sz="2400" dirty="0">
              <a:solidFill>
                <a:schemeClr val="tx1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grpSp>
        <p:nvGrpSpPr>
          <p:cNvPr id="11" name="Group 71"/>
          <p:cNvGrpSpPr/>
          <p:nvPr/>
        </p:nvGrpSpPr>
        <p:grpSpPr>
          <a:xfrm>
            <a:off x="2205038" y="620713"/>
            <a:ext cx="4238625" cy="2387600"/>
            <a:chOff x="1435" y="208"/>
            <a:chExt cx="2670" cy="1504"/>
          </a:xfrm>
        </p:grpSpPr>
        <p:sp>
          <p:nvSpPr>
            <p:cNvPr id="56342" name="Line 72"/>
            <p:cNvSpPr/>
            <p:nvPr/>
          </p:nvSpPr>
          <p:spPr>
            <a:xfrm flipV="1">
              <a:off x="1968" y="313"/>
              <a:ext cx="0" cy="13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sm" len="med"/>
            </a:ln>
          </p:spPr>
        </p:sp>
        <p:sp>
          <p:nvSpPr>
            <p:cNvPr id="56343" name="Line 73"/>
            <p:cNvSpPr/>
            <p:nvPr/>
          </p:nvSpPr>
          <p:spPr>
            <a:xfrm flipV="1">
              <a:off x="1435" y="1161"/>
              <a:ext cx="2553" cy="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sm" len="med"/>
            </a:ln>
          </p:spPr>
        </p:sp>
        <p:sp>
          <p:nvSpPr>
            <p:cNvPr id="56344" name="Text Box 74"/>
            <p:cNvSpPr txBox="1"/>
            <p:nvPr/>
          </p:nvSpPr>
          <p:spPr>
            <a:xfrm>
              <a:off x="3717" y="1125"/>
              <a:ext cx="38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45" name="Freeform 75"/>
            <p:cNvSpPr/>
            <p:nvPr/>
          </p:nvSpPr>
          <p:spPr>
            <a:xfrm>
              <a:off x="1611" y="684"/>
              <a:ext cx="2039" cy="963"/>
            </a:xfrm>
            <a:custGeom>
              <a:avLst/>
              <a:gdLst>
                <a:gd name="txL" fmla="*/ 0 w 2262"/>
                <a:gd name="txT" fmla="*/ 0 h 1091"/>
                <a:gd name="txR" fmla="*/ 2262 w 2262"/>
                <a:gd name="txB" fmla="*/ 1091 h 1091"/>
              </a:gdLst>
              <a:ahLst/>
              <a:cxnLst>
                <a:cxn ang="0">
                  <a:pos x="0" y="485"/>
                </a:cxn>
                <a:cxn ang="0">
                  <a:pos x="87" y="318"/>
                </a:cxn>
                <a:cxn ang="0">
                  <a:pos x="165" y="180"/>
                </a:cxn>
                <a:cxn ang="0">
                  <a:pos x="265" y="58"/>
                </a:cxn>
                <a:cxn ang="0">
                  <a:pos x="379" y="3"/>
                </a:cxn>
                <a:cxn ang="0">
                  <a:pos x="519" y="71"/>
                </a:cxn>
                <a:cxn ang="0">
                  <a:pos x="660" y="273"/>
                </a:cxn>
                <a:cxn ang="0">
                  <a:pos x="765" y="477"/>
                </a:cxn>
                <a:cxn ang="0">
                  <a:pos x="884" y="696"/>
                </a:cxn>
                <a:cxn ang="0">
                  <a:pos x="1001" y="874"/>
                </a:cxn>
                <a:cxn ang="0">
                  <a:pos x="1163" y="956"/>
                </a:cxn>
                <a:cxn ang="0">
                  <a:pos x="1336" y="829"/>
                </a:cxn>
                <a:cxn ang="0">
                  <a:pos x="1533" y="490"/>
                </a:cxn>
                <a:cxn ang="0">
                  <a:pos x="1625" y="307"/>
                </a:cxn>
                <a:cxn ang="0">
                  <a:pos x="1785" y="74"/>
                </a:cxn>
                <a:cxn ang="0">
                  <a:pos x="1917" y="5"/>
                </a:cxn>
                <a:cxn ang="0">
                  <a:pos x="2039" y="58"/>
                </a:cxn>
              </a:cxnLst>
              <a:rect l="txL" t="txT" r="txR" b="txB"/>
              <a:pathLst>
                <a:path w="2262" h="1091">
                  <a:moveTo>
                    <a:pt x="0" y="549"/>
                  </a:moveTo>
                  <a:cubicBezTo>
                    <a:pt x="16" y="518"/>
                    <a:pt x="65" y="418"/>
                    <a:pt x="96" y="360"/>
                  </a:cubicBezTo>
                  <a:cubicBezTo>
                    <a:pt x="127" y="302"/>
                    <a:pt x="150" y="253"/>
                    <a:pt x="183" y="204"/>
                  </a:cubicBezTo>
                  <a:cubicBezTo>
                    <a:pt x="216" y="155"/>
                    <a:pt x="255" y="99"/>
                    <a:pt x="294" y="66"/>
                  </a:cubicBezTo>
                  <a:cubicBezTo>
                    <a:pt x="333" y="33"/>
                    <a:pt x="373" y="0"/>
                    <a:pt x="420" y="3"/>
                  </a:cubicBezTo>
                  <a:cubicBezTo>
                    <a:pt x="467" y="6"/>
                    <a:pt x="524" y="30"/>
                    <a:pt x="576" y="81"/>
                  </a:cubicBezTo>
                  <a:cubicBezTo>
                    <a:pt x="628" y="132"/>
                    <a:pt x="687" y="233"/>
                    <a:pt x="732" y="309"/>
                  </a:cubicBezTo>
                  <a:cubicBezTo>
                    <a:pt x="777" y="385"/>
                    <a:pt x="807" y="460"/>
                    <a:pt x="849" y="540"/>
                  </a:cubicBezTo>
                  <a:cubicBezTo>
                    <a:pt x="891" y="620"/>
                    <a:pt x="937" y="714"/>
                    <a:pt x="981" y="789"/>
                  </a:cubicBezTo>
                  <a:cubicBezTo>
                    <a:pt x="1025" y="864"/>
                    <a:pt x="1059" y="941"/>
                    <a:pt x="1110" y="990"/>
                  </a:cubicBezTo>
                  <a:cubicBezTo>
                    <a:pt x="1161" y="1039"/>
                    <a:pt x="1228" y="1091"/>
                    <a:pt x="1290" y="1083"/>
                  </a:cubicBezTo>
                  <a:cubicBezTo>
                    <a:pt x="1352" y="1075"/>
                    <a:pt x="1413" y="1027"/>
                    <a:pt x="1482" y="939"/>
                  </a:cubicBezTo>
                  <a:cubicBezTo>
                    <a:pt x="1551" y="851"/>
                    <a:pt x="1648" y="653"/>
                    <a:pt x="1701" y="555"/>
                  </a:cubicBezTo>
                  <a:cubicBezTo>
                    <a:pt x="1754" y="457"/>
                    <a:pt x="1757" y="426"/>
                    <a:pt x="1803" y="348"/>
                  </a:cubicBezTo>
                  <a:cubicBezTo>
                    <a:pt x="1849" y="270"/>
                    <a:pt x="1926" y="141"/>
                    <a:pt x="1980" y="84"/>
                  </a:cubicBezTo>
                  <a:cubicBezTo>
                    <a:pt x="2034" y="27"/>
                    <a:pt x="2080" y="9"/>
                    <a:pt x="2127" y="6"/>
                  </a:cubicBezTo>
                  <a:cubicBezTo>
                    <a:pt x="2174" y="3"/>
                    <a:pt x="2234" y="54"/>
                    <a:pt x="2262" y="6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346" name="Freeform 76"/>
            <p:cNvSpPr/>
            <p:nvPr/>
          </p:nvSpPr>
          <p:spPr>
            <a:xfrm>
              <a:off x="1584" y="925"/>
              <a:ext cx="2039" cy="478"/>
            </a:xfrm>
            <a:custGeom>
              <a:avLst/>
              <a:gdLst>
                <a:gd name="txL" fmla="*/ 0 w 2262"/>
                <a:gd name="txT" fmla="*/ 0 h 541"/>
                <a:gd name="txR" fmla="*/ 2262 w 2262"/>
                <a:gd name="txB" fmla="*/ 541 h 541"/>
              </a:gdLst>
              <a:ahLst/>
              <a:cxnLst>
                <a:cxn ang="0">
                  <a:pos x="0" y="477"/>
                </a:cxn>
                <a:cxn ang="0">
                  <a:pos x="168" y="427"/>
                </a:cxn>
                <a:cxn ang="0">
                  <a:pos x="381" y="239"/>
                </a:cxn>
                <a:cxn ang="0">
                  <a:pos x="590" y="58"/>
                </a:cxn>
                <a:cxn ang="0">
                  <a:pos x="779" y="3"/>
                </a:cxn>
                <a:cxn ang="0">
                  <a:pos x="963" y="74"/>
                </a:cxn>
                <a:cxn ang="0">
                  <a:pos x="1149" y="241"/>
                </a:cxn>
                <a:cxn ang="0">
                  <a:pos x="1382" y="437"/>
                </a:cxn>
                <a:cxn ang="0">
                  <a:pos x="1531" y="477"/>
                </a:cxn>
                <a:cxn ang="0">
                  <a:pos x="1669" y="440"/>
                </a:cxn>
                <a:cxn ang="0">
                  <a:pos x="1825" y="323"/>
                </a:cxn>
                <a:cxn ang="0">
                  <a:pos x="1923" y="231"/>
                </a:cxn>
                <a:cxn ang="0">
                  <a:pos x="2039" y="125"/>
                </a:cxn>
              </a:cxnLst>
              <a:rect l="txL" t="txT" r="txR" b="txB"/>
              <a:pathLst>
                <a:path w="2262" h="541">
                  <a:moveTo>
                    <a:pt x="0" y="540"/>
                  </a:moveTo>
                  <a:cubicBezTo>
                    <a:pt x="31" y="531"/>
                    <a:pt x="115" y="528"/>
                    <a:pt x="186" y="483"/>
                  </a:cubicBezTo>
                  <a:cubicBezTo>
                    <a:pt x="257" y="438"/>
                    <a:pt x="345" y="339"/>
                    <a:pt x="423" y="270"/>
                  </a:cubicBezTo>
                  <a:cubicBezTo>
                    <a:pt x="501" y="201"/>
                    <a:pt x="581" y="110"/>
                    <a:pt x="654" y="66"/>
                  </a:cubicBezTo>
                  <a:cubicBezTo>
                    <a:pt x="727" y="22"/>
                    <a:pt x="795" y="0"/>
                    <a:pt x="864" y="3"/>
                  </a:cubicBezTo>
                  <a:cubicBezTo>
                    <a:pt x="933" y="6"/>
                    <a:pt x="1000" y="39"/>
                    <a:pt x="1068" y="84"/>
                  </a:cubicBezTo>
                  <a:cubicBezTo>
                    <a:pt x="1136" y="129"/>
                    <a:pt x="1198" y="205"/>
                    <a:pt x="1275" y="273"/>
                  </a:cubicBezTo>
                  <a:cubicBezTo>
                    <a:pt x="1352" y="341"/>
                    <a:pt x="1462" y="451"/>
                    <a:pt x="1533" y="495"/>
                  </a:cubicBezTo>
                  <a:cubicBezTo>
                    <a:pt x="1604" y="539"/>
                    <a:pt x="1645" y="539"/>
                    <a:pt x="1698" y="540"/>
                  </a:cubicBezTo>
                  <a:cubicBezTo>
                    <a:pt x="1751" y="541"/>
                    <a:pt x="1797" y="527"/>
                    <a:pt x="1851" y="498"/>
                  </a:cubicBezTo>
                  <a:cubicBezTo>
                    <a:pt x="1905" y="469"/>
                    <a:pt x="1978" y="405"/>
                    <a:pt x="2025" y="366"/>
                  </a:cubicBezTo>
                  <a:cubicBezTo>
                    <a:pt x="2072" y="327"/>
                    <a:pt x="2093" y="299"/>
                    <a:pt x="2133" y="261"/>
                  </a:cubicBezTo>
                  <a:cubicBezTo>
                    <a:pt x="2173" y="223"/>
                    <a:pt x="2235" y="166"/>
                    <a:pt x="2262" y="141"/>
                  </a:cubicBezTo>
                </a:path>
              </a:pathLst>
            </a:custGeom>
            <a:noFill/>
            <a:ln w="2857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347" name="Text Box 77"/>
            <p:cNvSpPr txBox="1"/>
            <p:nvPr/>
          </p:nvSpPr>
          <p:spPr>
            <a:xfrm>
              <a:off x="1559" y="208"/>
              <a:ext cx="4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48" name="Text Box 78"/>
            <p:cNvSpPr txBox="1"/>
            <p:nvPr/>
          </p:nvSpPr>
          <p:spPr>
            <a:xfrm>
              <a:off x="2083" y="451"/>
              <a:ext cx="2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49" name="Text Box 79"/>
            <p:cNvSpPr txBox="1"/>
            <p:nvPr/>
          </p:nvSpPr>
          <p:spPr>
            <a:xfrm>
              <a:off x="2517" y="705"/>
              <a:ext cx="31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0" name="Text Box 80"/>
            <p:cNvSpPr txBox="1"/>
            <p:nvPr/>
          </p:nvSpPr>
          <p:spPr>
            <a:xfrm>
              <a:off x="1953" y="1183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513" name="Freeform 81"/>
          <p:cNvSpPr/>
          <p:nvPr/>
        </p:nvSpPr>
        <p:spPr>
          <a:xfrm>
            <a:off x="2709863" y="1123950"/>
            <a:ext cx="3148012" cy="2128838"/>
          </a:xfrm>
          <a:custGeom>
            <a:avLst/>
            <a:gdLst>
              <a:gd name="txL" fmla="*/ 0 w 2262"/>
              <a:gd name="txT" fmla="*/ 0 h 1091"/>
              <a:gd name="txR" fmla="*/ 2262 w 2262"/>
              <a:gd name="txB" fmla="*/ 1091 h 1091"/>
            </a:gdLst>
            <a:ahLst/>
            <a:cxnLst>
              <a:cxn ang="0">
                <a:pos x="0" y="1071248"/>
              </a:cxn>
              <a:cxn ang="0">
                <a:pos x="133603" y="702458"/>
              </a:cxn>
              <a:cxn ang="0">
                <a:pos x="254680" y="398059"/>
              </a:cxn>
              <a:cxn ang="0">
                <a:pos x="409158" y="128784"/>
              </a:cxn>
              <a:cxn ang="0">
                <a:pos x="584511" y="5854"/>
              </a:cxn>
              <a:cxn ang="0">
                <a:pos x="801616" y="158053"/>
              </a:cxn>
              <a:cxn ang="0">
                <a:pos x="1018720" y="602943"/>
              </a:cxn>
              <a:cxn ang="0">
                <a:pos x="1181548" y="1053687"/>
              </a:cxn>
              <a:cxn ang="0">
                <a:pos x="1365252" y="1539554"/>
              </a:cxn>
              <a:cxn ang="0">
                <a:pos x="1544780" y="1931759"/>
              </a:cxn>
              <a:cxn ang="0">
                <a:pos x="1795285" y="2113228"/>
              </a:cxn>
              <a:cxn ang="0">
                <a:pos x="2062490" y="1832244"/>
              </a:cxn>
              <a:cxn ang="0">
                <a:pos x="2367271" y="1082956"/>
              </a:cxn>
              <a:cxn ang="0">
                <a:pos x="2509224" y="679043"/>
              </a:cxn>
              <a:cxn ang="0">
                <a:pos x="2755554" y="163907"/>
              </a:cxn>
              <a:cxn ang="0">
                <a:pos x="2960133" y="11708"/>
              </a:cxn>
              <a:cxn ang="0">
                <a:pos x="3148012" y="128784"/>
              </a:cxn>
            </a:cxnLst>
            <a:rect l="txL" t="txT" r="txR" b="txB"/>
            <a:pathLst>
              <a:path w="2262" h="1091">
                <a:moveTo>
                  <a:pt x="0" y="549"/>
                </a:moveTo>
                <a:cubicBezTo>
                  <a:pt x="16" y="518"/>
                  <a:pt x="65" y="418"/>
                  <a:pt x="96" y="360"/>
                </a:cubicBezTo>
                <a:cubicBezTo>
                  <a:pt x="127" y="302"/>
                  <a:pt x="150" y="253"/>
                  <a:pt x="183" y="204"/>
                </a:cubicBezTo>
                <a:cubicBezTo>
                  <a:pt x="216" y="155"/>
                  <a:pt x="255" y="99"/>
                  <a:pt x="294" y="66"/>
                </a:cubicBezTo>
                <a:cubicBezTo>
                  <a:pt x="333" y="33"/>
                  <a:pt x="373" y="0"/>
                  <a:pt x="420" y="3"/>
                </a:cubicBezTo>
                <a:cubicBezTo>
                  <a:pt x="467" y="6"/>
                  <a:pt x="524" y="30"/>
                  <a:pt x="576" y="81"/>
                </a:cubicBezTo>
                <a:cubicBezTo>
                  <a:pt x="628" y="132"/>
                  <a:pt x="687" y="233"/>
                  <a:pt x="732" y="309"/>
                </a:cubicBezTo>
                <a:cubicBezTo>
                  <a:pt x="777" y="385"/>
                  <a:pt x="807" y="460"/>
                  <a:pt x="849" y="540"/>
                </a:cubicBezTo>
                <a:cubicBezTo>
                  <a:pt x="891" y="620"/>
                  <a:pt x="937" y="714"/>
                  <a:pt x="981" y="789"/>
                </a:cubicBezTo>
                <a:cubicBezTo>
                  <a:pt x="1025" y="864"/>
                  <a:pt x="1059" y="941"/>
                  <a:pt x="1110" y="990"/>
                </a:cubicBezTo>
                <a:cubicBezTo>
                  <a:pt x="1161" y="1039"/>
                  <a:pt x="1228" y="1091"/>
                  <a:pt x="1290" y="1083"/>
                </a:cubicBezTo>
                <a:cubicBezTo>
                  <a:pt x="1352" y="1075"/>
                  <a:pt x="1413" y="1027"/>
                  <a:pt x="1482" y="939"/>
                </a:cubicBezTo>
                <a:cubicBezTo>
                  <a:pt x="1551" y="851"/>
                  <a:pt x="1648" y="653"/>
                  <a:pt x="1701" y="555"/>
                </a:cubicBezTo>
                <a:cubicBezTo>
                  <a:pt x="1754" y="457"/>
                  <a:pt x="1757" y="426"/>
                  <a:pt x="1803" y="348"/>
                </a:cubicBezTo>
                <a:cubicBezTo>
                  <a:pt x="1849" y="270"/>
                  <a:pt x="1926" y="141"/>
                  <a:pt x="1980" y="84"/>
                </a:cubicBezTo>
                <a:cubicBezTo>
                  <a:pt x="2034" y="27"/>
                  <a:pt x="2080" y="9"/>
                  <a:pt x="2127" y="6"/>
                </a:cubicBezTo>
                <a:cubicBezTo>
                  <a:pt x="2174" y="3"/>
                  <a:pt x="2234" y="54"/>
                  <a:pt x="2262" y="66"/>
                </a:cubicBez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514" name="Line 82"/>
          <p:cNvSpPr/>
          <p:nvPr/>
        </p:nvSpPr>
        <p:spPr>
          <a:xfrm>
            <a:off x="3276600" y="765175"/>
            <a:ext cx="0" cy="1943100"/>
          </a:xfrm>
          <a:prstGeom prst="line">
            <a:avLst/>
          </a:prstGeom>
          <a:ln w="28575" cap="flat" cmpd="sng">
            <a:solidFill>
              <a:srgbClr val="80008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8515" name="Text Box 83"/>
          <p:cNvSpPr txBox="1"/>
          <p:nvPr/>
        </p:nvSpPr>
        <p:spPr>
          <a:xfrm>
            <a:off x="5818188" y="990600"/>
            <a:ext cx="465137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b="0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2" name="Group 84"/>
          <p:cNvGrpSpPr/>
          <p:nvPr/>
        </p:nvGrpSpPr>
        <p:grpSpPr>
          <a:xfrm>
            <a:off x="468313" y="3644900"/>
            <a:ext cx="1644650" cy="850900"/>
            <a:chOff x="385" y="3022"/>
            <a:chExt cx="1036" cy="536"/>
          </a:xfrm>
        </p:grpSpPr>
        <p:pic>
          <p:nvPicPr>
            <p:cNvPr id="56340" name="Picture 85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41" name="Text Box 86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结论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56337" name="Group 90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6338" name="Picture 9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39" name="Text Box 9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8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1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1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6" dur="2000"/>
                                        <p:tgtEl>
                                          <p:spTgt spid="1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9" grpId="0"/>
      <p:bldP spid="18501" grpId="0" animBg="1"/>
      <p:bldP spid="18502" grpId="0" animBg="1"/>
      <p:bldP spid="18513" grpId="0" animBg="1"/>
      <p:bldP spid="185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83" name="Text Box 75"/>
          <p:cNvSpPr txBox="1"/>
          <p:nvPr/>
        </p:nvSpPr>
        <p:spPr>
          <a:xfrm>
            <a:off x="539750" y="1412875"/>
            <a:ext cx="28082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造一个复函数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7484" name="Object 76"/>
          <p:cNvGraphicFramePr/>
          <p:nvPr/>
        </p:nvGraphicFramePr>
        <p:xfrm>
          <a:off x="3151188" y="1341438"/>
          <a:ext cx="330993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1219200" imgH="279400" progId="Equation.3">
                  <p:embed/>
                </p:oleObj>
              </mc:Choice>
              <mc:Fallback>
                <p:oleObj name="" r:id="rId1" imgW="1219200" imgH="2794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51188" y="1341438"/>
                        <a:ext cx="3309937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86" name="Text Box 78"/>
          <p:cNvSpPr txBox="1"/>
          <p:nvPr/>
        </p:nvSpPr>
        <p:spPr>
          <a:xfrm>
            <a:off x="468313" y="2852738"/>
            <a:ext cx="324008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对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取实部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7488" name="Object 80"/>
          <p:cNvGraphicFramePr/>
          <p:nvPr/>
        </p:nvGraphicFramePr>
        <p:xfrm>
          <a:off x="2946400" y="2781300"/>
          <a:ext cx="562927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3" imgW="2425700" imgH="279400" progId="Equation.3">
                  <p:embed/>
                </p:oleObj>
              </mc:Choice>
              <mc:Fallback>
                <p:oleObj name="" r:id="rId3" imgW="2425700" imgH="2794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46400" y="2781300"/>
                        <a:ext cx="5629275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89" name="Text Box 81"/>
          <p:cNvSpPr txBox="1"/>
          <p:nvPr/>
        </p:nvSpPr>
        <p:spPr>
          <a:xfrm>
            <a:off x="395288" y="4149725"/>
            <a:ext cx="5761037" cy="1203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lnSpc>
                <a:spcPct val="130000"/>
              </a:lnSpc>
            </a:pPr>
            <a:r>
              <a:rPr lang="en-US" altLang="zh-CN" dirty="0">
                <a:latin typeface="楷体_GB2312" pitchFamily="49" charset="-122"/>
              </a:rPr>
              <a:t>    </a:t>
            </a:r>
            <a:r>
              <a:rPr lang="zh-CN" altLang="en-US" dirty="0">
                <a:latin typeface="楷体_GB2312" pitchFamily="49" charset="-122"/>
              </a:rPr>
              <a:t>任意一个正弦时间函数都有唯一与其对应的复数函数。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17490" name="Object 82"/>
          <p:cNvGraphicFramePr/>
          <p:nvPr/>
        </p:nvGraphicFramePr>
        <p:xfrm>
          <a:off x="1042988" y="5275263"/>
          <a:ext cx="702945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5" imgW="2628900" imgH="279400" progId="Equation.3">
                  <p:embed/>
                </p:oleObj>
              </mc:Choice>
              <mc:Fallback>
                <p:oleObj name="" r:id="rId5" imgW="2628900" imgH="2794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5275263"/>
                        <a:ext cx="7029450" cy="738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97" name="Object 89"/>
          <p:cNvGraphicFramePr/>
          <p:nvPr/>
        </p:nvGraphicFramePr>
        <p:xfrm>
          <a:off x="2584450" y="2133600"/>
          <a:ext cx="58959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7" imgW="2628900" imgH="279400" progId="Equation.3">
                  <p:embed/>
                </p:oleObj>
              </mc:Choice>
              <mc:Fallback>
                <p:oleObj name="" r:id="rId7" imgW="2628900" imgH="2794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84450" y="2133600"/>
                        <a:ext cx="5895975" cy="625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98" name="AutoShape 90" descr="羊皮纸"/>
          <p:cNvSpPr/>
          <p:nvPr/>
        </p:nvSpPr>
        <p:spPr>
          <a:xfrm>
            <a:off x="5724525" y="549275"/>
            <a:ext cx="2376488" cy="576263"/>
          </a:xfrm>
          <a:prstGeom prst="wedgeRoundRectCallout">
            <a:avLst>
              <a:gd name="adj1" fmla="val -119940"/>
              <a:gd name="adj2" fmla="val 127963"/>
              <a:gd name="adj3" fmla="val 16667"/>
            </a:avLst>
          </a:prstGeom>
          <a:blipFill rotWithShape="1">
            <a:blip r:embed="rId9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无物理意义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499" name="AutoShape 91" descr="羊皮纸"/>
          <p:cNvSpPr/>
          <p:nvPr/>
        </p:nvSpPr>
        <p:spPr>
          <a:xfrm>
            <a:off x="6227763" y="3573463"/>
            <a:ext cx="2376487" cy="935037"/>
          </a:xfrm>
          <a:prstGeom prst="wedgeRoundRectCallout">
            <a:avLst>
              <a:gd name="adj1" fmla="val -89681"/>
              <a:gd name="adj2" fmla="val -79032"/>
              <a:gd name="adj3" fmla="val 16667"/>
            </a:avLst>
          </a:prstGeom>
          <a:blipFill rotWithShape="1">
            <a:blip r:embed="rId9"/>
          </a:blipFill>
          <a:ln w="9525">
            <a:noFill/>
          </a:ln>
        </p:spPr>
        <p:txBody>
          <a:bodyPr/>
          <a:p>
            <a:pPr algn="ctr"/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是一个正弦量 有物理意义</a:t>
            </a:r>
            <a:endParaRPr lang="zh-CN" altLang="en-US" sz="2400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17503" name="Text Box 95"/>
          <p:cNvSpPr txBox="1"/>
          <p:nvPr/>
        </p:nvSpPr>
        <p:spPr>
          <a:xfrm>
            <a:off x="468313" y="620713"/>
            <a:ext cx="4895850" cy="579437"/>
          </a:xfrm>
          <a:prstGeom prst="rect">
            <a:avLst/>
          </a:prstGeom>
          <a:noFill/>
          <a:ln w="19050">
            <a:noFill/>
          </a:ln>
        </p:spPr>
        <p:txBody>
          <a:bodyPr lIns="198000" rIns="19800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3.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正弦量的相量表示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pSp>
        <p:nvGrpSpPr>
          <p:cNvPr id="17420" name="Group 9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430" name="Picture 98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31" name="Text Box 9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7421" name="Group 10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428" name="Picture 101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29" name="Text Box 10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" name="Group 106"/>
          <p:cNvGrpSpPr/>
          <p:nvPr/>
        </p:nvGrpSpPr>
        <p:grpSpPr>
          <a:xfrm>
            <a:off x="395288" y="3429000"/>
            <a:ext cx="1644650" cy="850900"/>
            <a:chOff x="385" y="3022"/>
            <a:chExt cx="1036" cy="536"/>
          </a:xfrm>
        </p:grpSpPr>
        <p:pic>
          <p:nvPicPr>
            <p:cNvPr id="17426" name="Picture 107" descr="12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27" name="Text Box 108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结论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7423" name="Group 112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7424" name="Picture 113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25" name="Text Box 11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7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17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7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2000"/>
                                        <p:tgtEl>
                                          <p:spTgt spid="17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7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7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83" grpId="0"/>
      <p:bldP spid="17486" grpId="0"/>
      <p:bldP spid="17489" grpId="0"/>
      <p:bldP spid="17498" grpId="0" animBg="1"/>
      <p:bldP spid="17499" grpId="0" animBg="1"/>
      <p:bldP spid="1750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40" name="Text Box 8"/>
          <p:cNvSpPr txBox="1"/>
          <p:nvPr/>
        </p:nvSpPr>
        <p:spPr>
          <a:xfrm>
            <a:off x="1476375" y="1989138"/>
            <a:ext cx="6192838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包含了三要素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 </a:t>
            </a:r>
            <a:r>
              <a:rPr lang="zh-CN" altLang="en-US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 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zh-CN" altLang="en-US" sz="240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，</a:t>
            </a:r>
            <a:endParaRPr lang="zh-CN" altLang="en-US" sz="2400" dirty="0">
              <a:solidFill>
                <a:schemeClr val="bg1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latin typeface="Symbol" panose="05050102010706020507" pitchFamily="18" charset="2"/>
              </a:rPr>
              <a:t>复常数包含了两个要素：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zh-CN" altLang="en-US" sz="32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。</a:t>
            </a:r>
            <a:endParaRPr lang="zh-CN" altLang="en-US" sz="3200" b="0" dirty="0">
              <a:solidFill>
                <a:schemeClr val="bg1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9641" name="Text Box 9"/>
          <p:cNvSpPr txBox="1"/>
          <p:nvPr/>
        </p:nvSpPr>
        <p:spPr>
          <a:xfrm>
            <a:off x="827088" y="620713"/>
            <a:ext cx="26130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还可以写成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69643" name="Object 11"/>
          <p:cNvGraphicFramePr/>
          <p:nvPr/>
        </p:nvGraphicFramePr>
        <p:xfrm>
          <a:off x="2046288" y="1247775"/>
          <a:ext cx="54959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1675765" imgH="241300" progId="Equation.3">
                  <p:embed/>
                </p:oleObj>
              </mc:Choice>
              <mc:Fallback>
                <p:oleObj name="" r:id="rId1" imgW="1675765" imgH="2413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46288" y="1247775"/>
                        <a:ext cx="5495925" cy="641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7"/>
          <p:cNvGrpSpPr/>
          <p:nvPr/>
        </p:nvGrpSpPr>
        <p:grpSpPr>
          <a:xfrm>
            <a:off x="3924300" y="549275"/>
            <a:ext cx="1255713" cy="649288"/>
            <a:chOff x="2472" y="436"/>
            <a:chExt cx="791" cy="409"/>
          </a:xfrm>
        </p:grpSpPr>
        <p:sp>
          <p:nvSpPr>
            <p:cNvPr id="18455" name="AutoShape 12"/>
            <p:cNvSpPr/>
            <p:nvPr/>
          </p:nvSpPr>
          <p:spPr>
            <a:xfrm rot="5400000" flipV="1">
              <a:off x="2834" y="618"/>
              <a:ext cx="46" cy="408"/>
            </a:xfrm>
            <a:prstGeom prst="leftBrace">
              <a:avLst>
                <a:gd name="adj1" fmla="val 73913"/>
                <a:gd name="adj2" fmla="val 49861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6" name="Rectangle 13"/>
            <p:cNvSpPr/>
            <p:nvPr/>
          </p:nvSpPr>
          <p:spPr>
            <a:xfrm>
              <a:off x="2472" y="436"/>
              <a:ext cx="791" cy="327"/>
            </a:xfrm>
            <a:prstGeom prst="rect">
              <a:avLst/>
            </a:prstGeom>
            <a:solidFill>
              <a:srgbClr val="FF9900"/>
            </a:solidFill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zh-CN" dirty="0">
                  <a:solidFill>
                    <a:schemeClr val="tx1"/>
                  </a:solidFill>
                  <a:latin typeface="Symbol" panose="05050102010706020507" pitchFamily="18" charset="2"/>
                </a:rPr>
                <a:t>复常数</a:t>
              </a:r>
              <a:endParaRPr lang="zh-CN" altLang="en-US" dirty="0">
                <a:solidFill>
                  <a:schemeClr val="tx1"/>
                </a:solidFill>
                <a:latin typeface="Symbol" panose="05050102010706020507" pitchFamily="18" charset="2"/>
              </a:endParaRPr>
            </a:p>
          </p:txBody>
        </p:sp>
      </p:grpSp>
      <p:grpSp>
        <p:nvGrpSpPr>
          <p:cNvPr id="18439" name="Group 1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453" name="Picture 19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54" name="Text Box 2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8440" name="Group 2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451" name="Picture 2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52" name="Text Box 2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69661" name="AutoShape 29" descr="羊皮纸"/>
          <p:cNvSpPr/>
          <p:nvPr/>
        </p:nvSpPr>
        <p:spPr>
          <a:xfrm>
            <a:off x="6948488" y="2276475"/>
            <a:ext cx="1944687" cy="1081088"/>
          </a:xfrm>
          <a:prstGeom prst="wedgeRoundRectCallout">
            <a:avLst>
              <a:gd name="adj1" fmla="val -43468"/>
              <a:gd name="adj2" fmla="val -84801"/>
              <a:gd name="adj3" fmla="val 16667"/>
            </a:avLst>
          </a:prstGeom>
          <a:blipFill rotWithShape="1">
            <a:blip r:embed="rId4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正弦量对应的相量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9663" name="Text Box 31"/>
          <p:cNvSpPr txBox="1"/>
          <p:nvPr/>
        </p:nvSpPr>
        <p:spPr>
          <a:xfrm>
            <a:off x="900113" y="5445125"/>
            <a:ext cx="5903912" cy="116046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42900" indent="-34290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</a:rPr>
              <a:t>相量的模表示正弦量的有效值。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342900" indent="-34290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</a:rPr>
              <a:t>相量的幅角表示正弦量的初相位。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5" name="Group 33"/>
          <p:cNvGrpSpPr/>
          <p:nvPr/>
        </p:nvGrpSpPr>
        <p:grpSpPr>
          <a:xfrm>
            <a:off x="250825" y="4652963"/>
            <a:ext cx="1644650" cy="850900"/>
            <a:chOff x="385" y="3022"/>
            <a:chExt cx="1036" cy="536"/>
          </a:xfrm>
        </p:grpSpPr>
        <p:pic>
          <p:nvPicPr>
            <p:cNvPr id="18449" name="Picture 34" descr="1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50" name="Text Box 35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8444" name="Group 41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8447" name="Picture 4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48" name="Text Box 4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" name="Group 45"/>
          <p:cNvGrpSpPr/>
          <p:nvPr/>
        </p:nvGrpSpPr>
        <p:grpSpPr>
          <a:xfrm>
            <a:off x="963613" y="3500438"/>
            <a:ext cx="7286625" cy="971550"/>
            <a:chOff x="607" y="2205"/>
            <a:chExt cx="4590" cy="612"/>
          </a:xfrm>
        </p:grpSpPr>
        <p:graphicFrame>
          <p:nvGraphicFramePr>
            <p:cNvPr id="18435" name="Object 30"/>
            <p:cNvGraphicFramePr/>
            <p:nvPr/>
          </p:nvGraphicFramePr>
          <p:xfrm>
            <a:off x="607" y="2205"/>
            <a:ext cx="4590" cy="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6" imgW="2653030" imgH="330200" progId="Equation.3">
                    <p:embed/>
                  </p:oleObj>
                </mc:Choice>
                <mc:Fallback>
                  <p:oleObj name="" r:id="rId6" imgW="2653030" imgH="3302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07" y="2205"/>
                          <a:ext cx="4590" cy="612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FFCC99"/>
                            </a:gs>
                            <a:gs pos="100000">
                              <a:schemeClr val="bg1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6" name="Line 44"/>
            <p:cNvSpPr/>
            <p:nvPr/>
          </p:nvSpPr>
          <p:spPr>
            <a:xfrm>
              <a:off x="4577" y="2750"/>
              <a:ext cx="3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6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6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0" grpId="0"/>
      <p:bldP spid="69641" grpId="0"/>
      <p:bldP spid="69661" grpId="0" animBg="1"/>
      <p:bldP spid="6966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95" name="Text Box 11"/>
          <p:cNvSpPr txBox="1"/>
          <p:nvPr/>
        </p:nvSpPr>
        <p:spPr>
          <a:xfrm>
            <a:off x="900113" y="549275"/>
            <a:ext cx="66135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同样可以建立正弦电压与相量的对应关系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396" name="Rectangle 12"/>
          <p:cNvSpPr/>
          <p:nvPr/>
        </p:nvSpPr>
        <p:spPr>
          <a:xfrm>
            <a:off x="1547813" y="1844675"/>
            <a:ext cx="714375" cy="427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已知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97" name="Rectangle 13"/>
          <p:cNvSpPr/>
          <p:nvPr/>
        </p:nvSpPr>
        <p:spPr>
          <a:xfrm>
            <a:off x="323850" y="1700213"/>
            <a:ext cx="1295400" cy="584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ctr">
              <a:lnSpc>
                <a:spcPct val="120000"/>
              </a:lnSpc>
              <a:spcBef>
                <a:spcPct val="50000"/>
              </a:spcBef>
              <a:spcAft>
                <a:spcPct val="25000"/>
              </a:spcAft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3-1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98" name="Text Box 14"/>
          <p:cNvSpPr txBox="1"/>
          <p:nvPr/>
        </p:nvSpPr>
        <p:spPr>
          <a:xfrm>
            <a:off x="2555875" y="2852738"/>
            <a:ext cx="320357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试用相量表示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dirty="0">
                <a:latin typeface="楷体_GB2312" pitchFamily="49" charset="-122"/>
              </a:rPr>
              <a:t>。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16399" name="Object 15"/>
          <p:cNvGraphicFramePr/>
          <p:nvPr/>
        </p:nvGraphicFramePr>
        <p:xfrm>
          <a:off x="2517775" y="1824038"/>
          <a:ext cx="393065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1955800" imgH="469900" progId="Equation.3">
                  <p:embed/>
                </p:oleObj>
              </mc:Choice>
              <mc:Fallback>
                <p:oleObj name="" r:id="rId1" imgW="1955800" imgH="4699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7775" y="1824038"/>
                        <a:ext cx="3930650" cy="941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0" name="Text Box 16"/>
          <p:cNvSpPr txBox="1"/>
          <p:nvPr/>
        </p:nvSpPr>
        <p:spPr>
          <a:xfrm>
            <a:off x="468313" y="3500438"/>
            <a:ext cx="792162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9468" name="Group 2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9485" name="Picture 2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86" name="Text Box 2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9469" name="Group 2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9483" name="Picture 2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84" name="Text Box 2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16421" name="Text Box 37"/>
          <p:cNvSpPr txBox="1"/>
          <p:nvPr/>
        </p:nvSpPr>
        <p:spPr>
          <a:xfrm>
            <a:off x="468313" y="4149725"/>
            <a:ext cx="1295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3-2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22" name="Text Box 38"/>
          <p:cNvSpPr txBox="1"/>
          <p:nvPr/>
        </p:nvSpPr>
        <p:spPr>
          <a:xfrm>
            <a:off x="1619250" y="4149725"/>
            <a:ext cx="6913563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                          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试写出电流的瞬时值表达式。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423" name="Text Box 39"/>
          <p:cNvSpPr txBox="1"/>
          <p:nvPr/>
        </p:nvSpPr>
        <p:spPr>
          <a:xfrm>
            <a:off x="539750" y="5445125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6424" name="Object 40"/>
          <p:cNvGraphicFramePr/>
          <p:nvPr/>
        </p:nvGraphicFramePr>
        <p:xfrm>
          <a:off x="1979613" y="5445125"/>
          <a:ext cx="44069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4" imgW="1879600" imgH="279400" progId="Equation.3">
                  <p:embed/>
                </p:oleObj>
              </mc:Choice>
              <mc:Fallback>
                <p:oleObj name="" r:id="rId4" imgW="1879600" imgH="2794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9613" y="5445125"/>
                        <a:ext cx="4406900" cy="649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73" name="Group 46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9481" name="Picture 4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82" name="Text Box 4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55"/>
          <p:cNvGrpSpPr/>
          <p:nvPr/>
        </p:nvGrpSpPr>
        <p:grpSpPr>
          <a:xfrm>
            <a:off x="1733550" y="4005263"/>
            <a:ext cx="4710113" cy="719137"/>
            <a:chOff x="1092" y="2523"/>
            <a:chExt cx="2967" cy="453"/>
          </a:xfrm>
        </p:grpSpPr>
        <p:graphicFrame>
          <p:nvGraphicFramePr>
            <p:cNvPr id="19462" name="Object 41"/>
            <p:cNvGraphicFramePr/>
            <p:nvPr/>
          </p:nvGraphicFramePr>
          <p:xfrm>
            <a:off x="1092" y="2523"/>
            <a:ext cx="2967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6" imgW="2233930" imgH="342900" progId="Equation.3">
                    <p:embed/>
                  </p:oleObj>
                </mc:Choice>
                <mc:Fallback>
                  <p:oleObj name="" r:id="rId6" imgW="2233930" imgH="342900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92" y="2523"/>
                          <a:ext cx="2967" cy="4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0" name="Line 49"/>
            <p:cNvSpPr/>
            <p:nvPr/>
          </p:nvSpPr>
          <p:spPr>
            <a:xfrm>
              <a:off x="2308" y="2931"/>
              <a:ext cx="3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54"/>
          <p:cNvGrpSpPr/>
          <p:nvPr/>
        </p:nvGrpSpPr>
        <p:grpSpPr>
          <a:xfrm>
            <a:off x="1681163" y="3271838"/>
            <a:ext cx="5132387" cy="719137"/>
            <a:chOff x="1059" y="2061"/>
            <a:chExt cx="3233" cy="453"/>
          </a:xfrm>
        </p:grpSpPr>
        <p:graphicFrame>
          <p:nvGraphicFramePr>
            <p:cNvPr id="19461" name="Object 17"/>
            <p:cNvGraphicFramePr/>
            <p:nvPr/>
          </p:nvGraphicFramePr>
          <p:xfrm>
            <a:off x="1059" y="2061"/>
            <a:ext cx="3233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8" imgW="2437130" imgH="342900" progId="Equation.3">
                    <p:embed/>
                  </p:oleObj>
                </mc:Choice>
                <mc:Fallback>
                  <p:oleObj name="" r:id="rId8" imgW="2437130" imgH="342900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59" y="2061"/>
                          <a:ext cx="3233" cy="4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8" name="Line 50"/>
            <p:cNvSpPr/>
            <p:nvPr/>
          </p:nvSpPr>
          <p:spPr>
            <a:xfrm>
              <a:off x="3470" y="2469"/>
              <a:ext cx="499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9" name="Line 51"/>
            <p:cNvSpPr/>
            <p:nvPr/>
          </p:nvSpPr>
          <p:spPr>
            <a:xfrm>
              <a:off x="1764" y="2469"/>
              <a:ext cx="363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53"/>
          <p:cNvGrpSpPr/>
          <p:nvPr/>
        </p:nvGrpSpPr>
        <p:grpSpPr>
          <a:xfrm>
            <a:off x="1087438" y="908050"/>
            <a:ext cx="6680200" cy="768350"/>
            <a:chOff x="685" y="572"/>
            <a:chExt cx="4208" cy="484"/>
          </a:xfrm>
        </p:grpSpPr>
        <p:graphicFrame>
          <p:nvGraphicFramePr>
            <p:cNvPr id="19460" name="Object 4"/>
            <p:cNvGraphicFramePr/>
            <p:nvPr/>
          </p:nvGraphicFramePr>
          <p:xfrm>
            <a:off x="685" y="572"/>
            <a:ext cx="4208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10" imgW="2856230" imgH="330200" progId="Equation.3">
                    <p:embed/>
                  </p:oleObj>
                </mc:Choice>
                <mc:Fallback>
                  <p:oleObj name="" r:id="rId10" imgW="2856230" imgH="330200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85" y="572"/>
                          <a:ext cx="4208" cy="4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7" name="Line 52"/>
            <p:cNvSpPr/>
            <p:nvPr/>
          </p:nvSpPr>
          <p:spPr>
            <a:xfrm>
              <a:off x="4359" y="999"/>
              <a:ext cx="227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6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6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6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6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6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6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5" grpId="0"/>
      <p:bldP spid="16396" grpId="0"/>
      <p:bldP spid="16397" grpId="0"/>
      <p:bldP spid="16398" grpId="0"/>
      <p:bldP spid="16400" grpId="0" animBg="1"/>
      <p:bldP spid="16421" grpId="0"/>
      <p:bldP spid="16422" grpId="0"/>
      <p:bldP spid="164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 Box 2"/>
          <p:cNvSpPr txBox="1"/>
          <p:nvPr/>
        </p:nvSpPr>
        <p:spPr>
          <a:xfrm>
            <a:off x="3276600" y="620713"/>
            <a:ext cx="5867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在复平面上用矢量表示相量的图。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80" name="Text Box 20"/>
          <p:cNvSpPr txBox="1"/>
          <p:nvPr/>
        </p:nvSpPr>
        <p:spPr>
          <a:xfrm>
            <a:off x="684213" y="620713"/>
            <a:ext cx="1800225" cy="557212"/>
          </a:xfrm>
          <a:prstGeom prst="rect">
            <a:avLst/>
          </a:prstGeom>
          <a:noFill/>
          <a:ln w="38100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  <a:buSzPct val="85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33"/>
                </a:solidFill>
                <a:latin typeface="楷体_GB2312" pitchFamily="49" charset="-122"/>
              </a:rPr>
              <a:t> </a:t>
            </a:r>
            <a:r>
              <a:rPr lang="zh-CN" altLang="en-US" dirty="0">
                <a:solidFill>
                  <a:srgbClr val="FF9933"/>
                </a:solidFill>
                <a:latin typeface="楷体_GB2312" pitchFamily="49" charset="-122"/>
              </a:rPr>
              <a:t>相量图</a:t>
            </a:r>
            <a:endParaRPr lang="zh-CN" altLang="en-US" dirty="0">
              <a:solidFill>
                <a:srgbClr val="FF9933"/>
              </a:solidFill>
              <a:latin typeface="楷体_GB2312" pitchFamily="49" charset="-122"/>
            </a:endParaRPr>
          </a:p>
        </p:txBody>
      </p:sp>
      <p:sp>
        <p:nvSpPr>
          <p:cNvPr id="15381" name="Line 21"/>
          <p:cNvSpPr/>
          <p:nvPr/>
        </p:nvSpPr>
        <p:spPr>
          <a:xfrm>
            <a:off x="2627313" y="908050"/>
            <a:ext cx="647700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0489" name="Group 2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0515" name="Picture 2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16" name="Text Box 3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490" name="Group 3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0513" name="Picture 3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14" name="Text Box 3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491" name="Group 4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0511" name="Picture 4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12" name="Text Box 4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47"/>
          <p:cNvGrpSpPr/>
          <p:nvPr/>
        </p:nvGrpSpPr>
        <p:grpSpPr>
          <a:xfrm>
            <a:off x="2698750" y="2852738"/>
            <a:ext cx="3671888" cy="2486025"/>
            <a:chOff x="1700" y="1797"/>
            <a:chExt cx="2313" cy="1566"/>
          </a:xfrm>
        </p:grpSpPr>
        <p:grpSp>
          <p:nvGrpSpPr>
            <p:cNvPr id="20497" name="Group 39"/>
            <p:cNvGrpSpPr/>
            <p:nvPr/>
          </p:nvGrpSpPr>
          <p:grpSpPr>
            <a:xfrm>
              <a:off x="1927" y="1797"/>
              <a:ext cx="2086" cy="1552"/>
              <a:chOff x="930" y="1797"/>
              <a:chExt cx="2086" cy="1552"/>
            </a:xfrm>
          </p:grpSpPr>
          <p:grpSp>
            <p:nvGrpSpPr>
              <p:cNvPr id="20499" name="Group 23"/>
              <p:cNvGrpSpPr/>
              <p:nvPr/>
            </p:nvGrpSpPr>
            <p:grpSpPr>
              <a:xfrm>
                <a:off x="930" y="1832"/>
                <a:ext cx="1497" cy="1445"/>
                <a:chOff x="567" y="2651"/>
                <a:chExt cx="1152" cy="1142"/>
              </a:xfrm>
            </p:grpSpPr>
            <p:grpSp>
              <p:nvGrpSpPr>
                <p:cNvPr id="20502" name="Group 5"/>
                <p:cNvGrpSpPr/>
                <p:nvPr/>
              </p:nvGrpSpPr>
              <p:grpSpPr>
                <a:xfrm>
                  <a:off x="567" y="2651"/>
                  <a:ext cx="1152" cy="1087"/>
                  <a:chOff x="384" y="2824"/>
                  <a:chExt cx="1152" cy="1087"/>
                </a:xfrm>
              </p:grpSpPr>
              <p:sp>
                <p:nvSpPr>
                  <p:cNvPr id="20504" name="Line 6"/>
                  <p:cNvSpPr/>
                  <p:nvPr/>
                </p:nvSpPr>
                <p:spPr>
                  <a:xfrm>
                    <a:off x="384" y="3892"/>
                    <a:ext cx="1152" cy="0"/>
                  </a:xfrm>
                  <a:prstGeom prst="line">
                    <a:avLst/>
                  </a:prstGeom>
                  <a:ln w="28575" cap="flat" cmpd="sng">
                    <a:solidFill>
                      <a:srgbClr val="FFFF00"/>
                    </a:solidFill>
                    <a:prstDash val="sysDot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05" name="Line 7"/>
                  <p:cNvSpPr/>
                  <p:nvPr/>
                </p:nvSpPr>
                <p:spPr>
                  <a:xfrm flipV="1">
                    <a:off x="384" y="3508"/>
                    <a:ext cx="960" cy="384"/>
                  </a:xfrm>
                  <a:prstGeom prst="line">
                    <a:avLst/>
                  </a:prstGeom>
                  <a:ln w="28575" cap="flat" cmpd="sng">
                    <a:solidFill>
                      <a:srgbClr val="66FFFF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20506" name="Freeform 8"/>
                  <p:cNvSpPr/>
                  <p:nvPr/>
                </p:nvSpPr>
                <p:spPr>
                  <a:xfrm>
                    <a:off x="708" y="3772"/>
                    <a:ext cx="16" cy="120"/>
                  </a:xfrm>
                  <a:custGeom>
                    <a:avLst/>
                    <a:gdLst>
                      <a:gd name="txL" fmla="*/ 0 w 16"/>
                      <a:gd name="txT" fmla="*/ 0 h 120"/>
                      <a:gd name="txR" fmla="*/ 16 w 16"/>
                      <a:gd name="txB" fmla="*/ 120 h 120"/>
                    </a:gdLst>
                    <a:ahLst/>
                    <a:cxnLst>
                      <a:cxn ang="0">
                        <a:pos x="0" y="12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6" h="120">
                        <a:moveTo>
                          <a:pt x="0" y="120"/>
                        </a:moveTo>
                        <a:cubicBezTo>
                          <a:pt x="16" y="71"/>
                          <a:pt x="0" y="49"/>
                          <a:pt x="0" y="0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rgbClr val="CCFF99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507" name="Text Box 9"/>
                  <p:cNvSpPr txBox="1"/>
                  <p:nvPr/>
                </p:nvSpPr>
                <p:spPr>
                  <a:xfrm>
                    <a:off x="712" y="3652"/>
                    <a:ext cx="392" cy="259"/>
                  </a:xfrm>
                  <a:prstGeom prst="rect">
                    <a:avLst/>
                  </a:prstGeom>
                  <a:noFill/>
                  <a:ln w="28575">
                    <a:noFill/>
                  </a:ln>
                </p:spPr>
                <p:txBody>
                  <a:bodyPr>
                    <a:spAutoFit/>
                  </a:bodyPr>
                  <a:p>
                    <a:r>
                      <a:rPr lang="en-US" altLang="zh-CN" b="0" i="1" dirty="0">
                        <a:solidFill>
                          <a:schemeClr val="bg1"/>
                        </a:solidFill>
                        <a:latin typeface="Symbol" panose="05050102010706020507" pitchFamily="18" charset="2"/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</a:t>
                    </a:r>
                    <a:endParaRPr lang="en-US" altLang="zh-CN" b="0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endParaRPr>
                  </a:p>
                </p:txBody>
              </p:sp>
              <p:sp>
                <p:nvSpPr>
                  <p:cNvPr id="20508" name="Line 10"/>
                  <p:cNvSpPr/>
                  <p:nvPr/>
                </p:nvSpPr>
                <p:spPr>
                  <a:xfrm flipV="1">
                    <a:off x="384" y="3028"/>
                    <a:ext cx="672" cy="864"/>
                  </a:xfrm>
                  <a:prstGeom prst="line">
                    <a:avLst/>
                  </a:prstGeom>
                  <a:ln w="28575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20509" name="Freeform 11"/>
                  <p:cNvSpPr/>
                  <p:nvPr/>
                </p:nvSpPr>
                <p:spPr>
                  <a:xfrm>
                    <a:off x="540" y="3700"/>
                    <a:ext cx="48" cy="192"/>
                  </a:xfrm>
                  <a:custGeom>
                    <a:avLst/>
                    <a:gdLst>
                      <a:gd name="txL" fmla="*/ 0 w 48"/>
                      <a:gd name="txT" fmla="*/ 0 h 192"/>
                      <a:gd name="txR" fmla="*/ 48 w 48"/>
                      <a:gd name="txB" fmla="*/ 192 h 192"/>
                    </a:gdLst>
                    <a:ahLst/>
                    <a:cxnLst>
                      <a:cxn ang="0">
                        <a:pos x="48" y="192"/>
                      </a:cxn>
                      <a:cxn ang="0">
                        <a:pos x="24" y="72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48" h="192">
                        <a:moveTo>
                          <a:pt x="48" y="192"/>
                        </a:moveTo>
                        <a:cubicBezTo>
                          <a:pt x="38" y="152"/>
                          <a:pt x="34" y="112"/>
                          <a:pt x="24" y="72"/>
                        </a:cubicBezTo>
                        <a:cubicBezTo>
                          <a:pt x="18" y="47"/>
                          <a:pt x="0" y="0"/>
                          <a:pt x="0" y="0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rgbClr val="CCFF99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510" name="Text Box 12"/>
                  <p:cNvSpPr txBox="1"/>
                  <p:nvPr/>
                </p:nvSpPr>
                <p:spPr>
                  <a:xfrm>
                    <a:off x="600" y="3450"/>
                    <a:ext cx="180" cy="259"/>
                  </a:xfrm>
                  <a:prstGeom prst="rect">
                    <a:avLst/>
                  </a:prstGeom>
                  <a:noFill/>
                  <a:ln w="28575">
                    <a:noFill/>
                  </a:ln>
                </p:spPr>
                <p:txBody>
                  <a:bodyPr wrap="none">
                    <a:spAutoFit/>
                  </a:bodyPr>
                  <a:p>
                    <a:r>
                      <a:rPr lang="en-US" altLang="zh-CN" b="0" dirty="0">
                        <a:solidFill>
                          <a:schemeClr val="bg1"/>
                        </a:solidFill>
                        <a:latin typeface="Symbol" panose="05050102010706020507" pitchFamily="18" charset="2"/>
                        <a:ea typeface="宋体" panose="02010600030101010101" pitchFamily="2" charset="-122"/>
                      </a:rPr>
                      <a:t>q</a:t>
                    </a:r>
                    <a:endPara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20484" name="Object 13"/>
                  <p:cNvGraphicFramePr/>
                  <p:nvPr/>
                </p:nvGraphicFramePr>
                <p:xfrm>
                  <a:off x="760" y="2824"/>
                  <a:ext cx="220" cy="36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17" name="" r:id="rId2" imgW="177800" imgH="291465" progId="Equation.3">
                          <p:embed/>
                        </p:oleObj>
                      </mc:Choice>
                      <mc:Fallback>
                        <p:oleObj name="" r:id="rId2" imgW="177800" imgH="291465" progId="Equation.3">
                          <p:embed/>
                          <p:pic>
                            <p:nvPicPr>
                              <p:cNvPr id="0" name="图片 3116"/>
                              <p:cNvPicPr/>
                              <p:nvPr/>
                            </p:nvPicPr>
                            <p:blipFill>
                              <a:blip r:embed="rId3">
                                <a:clrChange>
                                  <a:clrFrom>
                                    <a:srgbClr val="000000"/>
                                  </a:clrFrom>
                                  <a:clrTo>
                                    <a:srgbClr val="FFFFFF"/>
                                  </a:clrTo>
                                </a:clrChange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760" y="2824"/>
                                <a:ext cx="220" cy="365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20485" name="Object 14"/>
                  <p:cNvGraphicFramePr/>
                  <p:nvPr/>
                </p:nvGraphicFramePr>
                <p:xfrm>
                  <a:off x="1368" y="3304"/>
                  <a:ext cx="156" cy="347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18" name="" r:id="rId4" imgW="127000" imgH="278765" progId="Equation.3">
                          <p:embed/>
                        </p:oleObj>
                      </mc:Choice>
                      <mc:Fallback>
                        <p:oleObj name="" r:id="rId4" imgW="127000" imgH="278765" progId="Equation.3">
                          <p:embed/>
                          <p:pic>
                            <p:nvPicPr>
                              <p:cNvPr id="0" name="图片 3117"/>
                              <p:cNvPicPr/>
                              <p:nvPr/>
                            </p:nvPicPr>
                            <p:blipFill>
                              <a:blip r:embed="rId5">
                                <a:clrChange>
                                  <a:clrFrom>
                                    <a:srgbClr val="000000"/>
                                  </a:clrFrom>
                                  <a:clrTo>
                                    <a:srgbClr val="FFFFFF"/>
                                  </a:clrTo>
                                </a:clrChange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368" y="3304"/>
                                <a:ext cx="156" cy="347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20503" name="Line 22"/>
                <p:cNvSpPr/>
                <p:nvPr/>
              </p:nvSpPr>
              <p:spPr>
                <a:xfrm>
                  <a:off x="567" y="2659"/>
                  <a:ext cx="0" cy="1134"/>
                </a:xfrm>
                <a:prstGeom prst="line">
                  <a:avLst/>
                </a:prstGeom>
                <a:ln w="28575" cap="flat" cmpd="sng">
                  <a:solidFill>
                    <a:srgbClr val="FFFF00"/>
                  </a:solidFill>
                  <a:prstDash val="sysDot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0500" name="Text Box 37"/>
              <p:cNvSpPr txBox="1"/>
              <p:nvPr/>
            </p:nvSpPr>
            <p:spPr>
              <a:xfrm>
                <a:off x="2472" y="3022"/>
                <a:ext cx="544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+1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01" name="Text Box 38"/>
              <p:cNvSpPr txBox="1"/>
              <p:nvPr/>
            </p:nvSpPr>
            <p:spPr>
              <a:xfrm>
                <a:off x="930" y="1797"/>
                <a:ext cx="544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+j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498" name="Text Box 46"/>
            <p:cNvSpPr txBox="1"/>
            <p:nvPr/>
          </p:nvSpPr>
          <p:spPr>
            <a:xfrm>
              <a:off x="1700" y="3113"/>
              <a:ext cx="31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51"/>
          <p:cNvGrpSpPr/>
          <p:nvPr/>
        </p:nvGrpSpPr>
        <p:grpSpPr>
          <a:xfrm>
            <a:off x="1395413" y="2060575"/>
            <a:ext cx="6370637" cy="706438"/>
            <a:chOff x="879" y="1298"/>
            <a:chExt cx="4013" cy="445"/>
          </a:xfrm>
        </p:grpSpPr>
        <p:graphicFrame>
          <p:nvGraphicFramePr>
            <p:cNvPr id="20483" name="Object 4"/>
            <p:cNvGraphicFramePr/>
            <p:nvPr/>
          </p:nvGraphicFramePr>
          <p:xfrm>
            <a:off x="879" y="1298"/>
            <a:ext cx="4013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" r:id="rId6" imgW="2501900" imgH="279400" progId="Equation.3">
                    <p:embed/>
                  </p:oleObj>
                </mc:Choice>
                <mc:Fallback>
                  <p:oleObj name="" r:id="rId6" imgW="2501900" imgH="27940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79" y="1298"/>
                          <a:ext cx="4013" cy="4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6" name="Line 48"/>
            <p:cNvSpPr/>
            <p:nvPr/>
          </p:nvSpPr>
          <p:spPr>
            <a:xfrm>
              <a:off x="4595" y="1697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50"/>
          <p:cNvGrpSpPr/>
          <p:nvPr/>
        </p:nvGrpSpPr>
        <p:grpSpPr>
          <a:xfrm>
            <a:off x="1535113" y="1341438"/>
            <a:ext cx="5713412" cy="685800"/>
            <a:chOff x="967" y="845"/>
            <a:chExt cx="3599" cy="432"/>
          </a:xfrm>
        </p:grpSpPr>
        <p:graphicFrame>
          <p:nvGraphicFramePr>
            <p:cNvPr id="20482" name="Object 3"/>
            <p:cNvGraphicFramePr/>
            <p:nvPr/>
          </p:nvGraphicFramePr>
          <p:xfrm>
            <a:off x="967" y="845"/>
            <a:ext cx="3599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8" imgW="2311400" imgH="279400" progId="Equation.3">
                    <p:embed/>
                  </p:oleObj>
                </mc:Choice>
                <mc:Fallback>
                  <p:oleObj name="" r:id="rId8" imgW="2311400" imgH="279400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67" y="845"/>
                          <a:ext cx="3599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5" name="Line 49"/>
            <p:cNvSpPr/>
            <p:nvPr/>
          </p:nvSpPr>
          <p:spPr>
            <a:xfrm>
              <a:off x="4268" y="1234"/>
              <a:ext cx="27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1538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ext Box 2"/>
          <p:cNvSpPr txBox="1"/>
          <p:nvPr/>
        </p:nvSpPr>
        <p:spPr>
          <a:xfrm>
            <a:off x="468313" y="549275"/>
            <a:ext cx="410368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4.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相量法的应用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14339" name="Text Box 3"/>
          <p:cNvSpPr txBox="1"/>
          <p:nvPr/>
        </p:nvSpPr>
        <p:spPr>
          <a:xfrm>
            <a:off x="755650" y="1125538"/>
            <a:ext cx="43211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buAutoNum type="circleNumDbPlain"/>
            </a:pPr>
            <a:r>
              <a:rPr lang="zh-CN" altLang="en-US" dirty="0">
                <a:latin typeface="楷体_GB2312" pitchFamily="49" charset="-122"/>
              </a:rPr>
              <a:t>同频率正弦量的加减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14354" name="Object 18"/>
          <p:cNvGraphicFramePr/>
          <p:nvPr/>
        </p:nvGraphicFramePr>
        <p:xfrm>
          <a:off x="941388" y="1555750"/>
          <a:ext cx="6789737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" imgW="3136900" imgH="596900" progId="Equation.3">
                  <p:embed/>
                </p:oleObj>
              </mc:Choice>
              <mc:Fallback>
                <p:oleObj name="" r:id="rId1" imgW="3136900" imgH="5969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41388" y="1555750"/>
                        <a:ext cx="6789737" cy="1290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6" name="AutoShape 20"/>
          <p:cNvSpPr/>
          <p:nvPr/>
        </p:nvSpPr>
        <p:spPr>
          <a:xfrm rot="-5400000">
            <a:off x="7127875" y="3392488"/>
            <a:ext cx="71438" cy="1295400"/>
          </a:xfrm>
          <a:prstGeom prst="leftBrace">
            <a:avLst>
              <a:gd name="adj1" fmla="val 151110"/>
              <a:gd name="adj2" fmla="val 50000"/>
            </a:avLst>
          </a:prstGeom>
          <a:noFill/>
          <a:ln w="38100" cap="flat" cmpd="sng">
            <a:solidFill>
              <a:srgbClr val="66FFFF"/>
            </a:solidFill>
            <a:prstDash val="solid"/>
            <a:headEnd type="none" w="med" len="med"/>
            <a:tailEnd type="none" w="sm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4357" name="Object 21" descr="蓝色面巾纸"/>
          <p:cNvGraphicFramePr/>
          <p:nvPr/>
        </p:nvGraphicFramePr>
        <p:xfrm>
          <a:off x="6948488" y="4149725"/>
          <a:ext cx="4016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3" imgW="177800" imgH="227965" progId="Equation.3">
                  <p:embed/>
                </p:oleObj>
              </mc:Choice>
              <mc:Fallback>
                <p:oleObj name="" r:id="rId3" imgW="177800" imgH="227965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948488" y="4149725"/>
                        <a:ext cx="401637" cy="517525"/>
                      </a:xfrm>
                      <a:prstGeom prst="rect">
                        <a:avLst/>
                      </a:prstGeom>
                      <a:blipFill rotWithShape="1">
                        <a:blip r:embed="rId5"/>
                      </a:blip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8" name="Object 22"/>
          <p:cNvGraphicFramePr/>
          <p:nvPr/>
        </p:nvGraphicFramePr>
        <p:xfrm>
          <a:off x="3000375" y="4214813"/>
          <a:ext cx="23209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6" imgW="862330" imgH="266065" progId="Equation.3">
                  <p:embed/>
                </p:oleObj>
              </mc:Choice>
              <mc:Fallback>
                <p:oleObj name="" r:id="rId6" imgW="862330" imgH="266065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00375" y="4214813"/>
                        <a:ext cx="2320925" cy="7143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66FFFF"/>
                          </a:gs>
                          <a:gs pos="50000">
                            <a:schemeClr val="bg1"/>
                          </a:gs>
                          <a:gs pos="100000">
                            <a:srgbClr val="66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9" name="Text Box 23"/>
          <p:cNvSpPr txBox="1"/>
          <p:nvPr/>
        </p:nvSpPr>
        <p:spPr>
          <a:xfrm>
            <a:off x="611188" y="4221163"/>
            <a:ext cx="2592387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相量关系为：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1514" name="Group 2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1525" name="Picture 30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26" name="Text Box 3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1515" name="Group 3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1523" name="Picture 33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24" name="Text Box 3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" name="Group 38"/>
          <p:cNvGrpSpPr/>
          <p:nvPr/>
        </p:nvGrpSpPr>
        <p:grpSpPr>
          <a:xfrm>
            <a:off x="395288" y="4868863"/>
            <a:ext cx="1644650" cy="850900"/>
            <a:chOff x="385" y="3022"/>
            <a:chExt cx="1036" cy="536"/>
          </a:xfrm>
        </p:grpSpPr>
        <p:pic>
          <p:nvPicPr>
            <p:cNvPr id="21521" name="Picture 39" descr="12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22" name="Text Box 40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结论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14377" name="Text Box 41"/>
          <p:cNvSpPr txBox="1"/>
          <p:nvPr/>
        </p:nvSpPr>
        <p:spPr>
          <a:xfrm>
            <a:off x="971550" y="5084763"/>
            <a:ext cx="7273925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      </a:t>
            </a:r>
            <a:r>
              <a:rPr lang="zh-CN" altLang="en-US" dirty="0">
                <a:latin typeface="Times New Roman" panose="02020603050405020304" pitchFamily="18" charset="0"/>
              </a:rPr>
              <a:t>同频正弦量的加减运算变为对应相量的加减运算。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1518" name="Group 48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1519" name="Picture 49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20" name="Text Box 5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14416" name="Object 80"/>
          <p:cNvGraphicFramePr/>
          <p:nvPr/>
        </p:nvGraphicFramePr>
        <p:xfrm>
          <a:off x="827088" y="2781300"/>
          <a:ext cx="802005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0" imgW="3985895" imgH="622300" progId="Equation.3">
                  <p:embed/>
                </p:oleObj>
              </mc:Choice>
              <mc:Fallback>
                <p:oleObj name="" r:id="rId10" imgW="3985895" imgH="6223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2781300"/>
                        <a:ext cx="8020050" cy="1249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14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39" grpId="0"/>
      <p:bldP spid="14356" grpId="0" animBg="1"/>
      <p:bldP spid="14359" grpId="0"/>
      <p:bldP spid="1437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5"/>
          <p:cNvGrpSpPr/>
          <p:nvPr/>
        </p:nvGrpSpPr>
        <p:grpSpPr>
          <a:xfrm>
            <a:off x="2803525" y="592138"/>
            <a:ext cx="2316163" cy="1704975"/>
            <a:chOff x="3968" y="2991"/>
            <a:chExt cx="1459" cy="1074"/>
          </a:xfrm>
        </p:grpSpPr>
        <p:sp>
          <p:nvSpPr>
            <p:cNvPr id="22560" name="Text Box 6"/>
            <p:cNvSpPr txBox="1"/>
            <p:nvPr/>
          </p:nvSpPr>
          <p:spPr>
            <a:xfrm>
              <a:off x="4150" y="2991"/>
              <a:ext cx="127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 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 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 i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2537" name="Object 7"/>
            <p:cNvGraphicFramePr/>
            <p:nvPr/>
          </p:nvGraphicFramePr>
          <p:xfrm>
            <a:off x="3968" y="3637"/>
            <a:ext cx="1453" cy="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1" imgW="900430" imgH="266065" progId="Equation.3">
                    <p:embed/>
                  </p:oleObj>
                </mc:Choice>
                <mc:Fallback>
                  <p:oleObj name="" r:id="rId1" imgW="900430" imgH="266065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68" y="3637"/>
                          <a:ext cx="1453" cy="4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1" name="Line 8"/>
            <p:cNvSpPr/>
            <p:nvPr/>
          </p:nvSpPr>
          <p:spPr>
            <a:xfrm>
              <a:off x="4241" y="3339"/>
              <a:ext cx="0" cy="288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62" name="Line 9"/>
            <p:cNvSpPr/>
            <p:nvPr/>
          </p:nvSpPr>
          <p:spPr>
            <a:xfrm>
              <a:off x="4694" y="3339"/>
              <a:ext cx="0" cy="288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563" name="Line 10"/>
            <p:cNvSpPr/>
            <p:nvPr/>
          </p:nvSpPr>
          <p:spPr>
            <a:xfrm>
              <a:off x="5103" y="3339"/>
              <a:ext cx="0" cy="288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sp>
      </p:grpSp>
      <p:grpSp>
        <p:nvGrpSpPr>
          <p:cNvPr id="22539" name="Group 1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2558" name="Picture 1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59" name="Text Box 1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2540" name="Group 2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2556" name="Picture 2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57" name="Text Box 2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70682" name="Text Box 26"/>
          <p:cNvSpPr txBox="1"/>
          <p:nvPr/>
        </p:nvSpPr>
        <p:spPr>
          <a:xfrm>
            <a:off x="395288" y="2060575"/>
            <a:ext cx="13684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3-3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0683" name="Object 27"/>
          <p:cNvGraphicFramePr/>
          <p:nvPr/>
        </p:nvGraphicFramePr>
        <p:xfrm>
          <a:off x="1404938" y="2497138"/>
          <a:ext cx="3959225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4" imgW="1841500" imgH="508000" progId="Equation.3">
                  <p:embed/>
                </p:oleObj>
              </mc:Choice>
              <mc:Fallback>
                <p:oleObj name="" r:id="rId4" imgW="1841500" imgH="5080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4938" y="2497138"/>
                        <a:ext cx="3959225" cy="1093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85" name="Object 29"/>
          <p:cNvGraphicFramePr/>
          <p:nvPr/>
        </p:nvGraphicFramePr>
        <p:xfrm>
          <a:off x="1042988" y="5373688"/>
          <a:ext cx="7526337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6" imgW="3454400" imgH="279400" progId="Equation.3">
                  <p:embed/>
                </p:oleObj>
              </mc:Choice>
              <mc:Fallback>
                <p:oleObj name="" r:id="rId6" imgW="3454400" imgH="2794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5373688"/>
                        <a:ext cx="7526337" cy="604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86" name="AutoShape 30"/>
          <p:cNvSpPr/>
          <p:nvPr/>
        </p:nvSpPr>
        <p:spPr>
          <a:xfrm>
            <a:off x="5580063" y="2852738"/>
            <a:ext cx="533400" cy="215900"/>
          </a:xfrm>
          <a:prstGeom prst="rightArrow">
            <a:avLst>
              <a:gd name="adj1" fmla="val 50000"/>
              <a:gd name="adj2" fmla="val 61764"/>
            </a:avLst>
          </a:prstGeom>
          <a:solidFill>
            <a:srgbClr val="3399FF"/>
          </a:solidFill>
          <a:ln w="25400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0687" name="AutoShape 31"/>
          <p:cNvSpPr/>
          <p:nvPr/>
        </p:nvSpPr>
        <p:spPr>
          <a:xfrm>
            <a:off x="6156325" y="2536825"/>
            <a:ext cx="71438" cy="935038"/>
          </a:xfrm>
          <a:prstGeom prst="leftBrace">
            <a:avLst>
              <a:gd name="adj1" fmla="val 109073"/>
              <a:gd name="adj2" fmla="val 50000"/>
            </a:avLst>
          </a:prstGeom>
          <a:noFill/>
          <a:ln w="28575" cap="flat" cmpd="sng">
            <a:solidFill>
              <a:srgbClr val="FFFF00"/>
            </a:solidFill>
            <a:prstDash val="solid"/>
            <a:headEnd type="none" w="med" len="med"/>
            <a:tailEnd type="none" w="sm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70689" name="Object 33"/>
          <p:cNvGraphicFramePr/>
          <p:nvPr/>
        </p:nvGraphicFramePr>
        <p:xfrm>
          <a:off x="1684338" y="4337050"/>
          <a:ext cx="3392487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8" imgW="1587500" imgH="228600" progId="Equation.3">
                  <p:embed/>
                </p:oleObj>
              </mc:Choice>
              <mc:Fallback>
                <p:oleObj name="" r:id="rId8" imgW="1587500" imgH="2286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84338" y="4337050"/>
                        <a:ext cx="3392487" cy="484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90" name="Object 34"/>
          <p:cNvGraphicFramePr/>
          <p:nvPr/>
        </p:nvGraphicFramePr>
        <p:xfrm>
          <a:off x="5076825" y="4337050"/>
          <a:ext cx="22494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0" imgW="1028700" imgH="228600" progId="Equation.3">
                  <p:embed/>
                </p:oleObj>
              </mc:Choice>
              <mc:Fallback>
                <p:oleObj name="" r:id="rId10" imgW="1028700" imgH="2286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76825" y="4337050"/>
                        <a:ext cx="2249488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44" name="Group 39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2554" name="Picture 4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55" name="Text Box 4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47"/>
          <p:cNvGrpSpPr/>
          <p:nvPr/>
        </p:nvGrpSpPr>
        <p:grpSpPr>
          <a:xfrm>
            <a:off x="6516688" y="2463800"/>
            <a:ext cx="1992312" cy="1057275"/>
            <a:chOff x="4175" y="1591"/>
            <a:chExt cx="1115" cy="588"/>
          </a:xfrm>
        </p:grpSpPr>
        <p:graphicFrame>
          <p:nvGraphicFramePr>
            <p:cNvPr id="22536" name="Object 28"/>
            <p:cNvGraphicFramePr/>
            <p:nvPr/>
          </p:nvGraphicFramePr>
          <p:xfrm>
            <a:off x="4175" y="1591"/>
            <a:ext cx="1115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" r:id="rId12" imgW="1028065" imgH="546100" progId="Equation.3">
                    <p:embed/>
                  </p:oleObj>
                </mc:Choice>
                <mc:Fallback>
                  <p:oleObj name="" r:id="rId12" imgW="1028065" imgH="546100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75" y="1591"/>
                          <a:ext cx="1115" cy="5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2" name="Line 42"/>
            <p:cNvSpPr/>
            <p:nvPr/>
          </p:nvSpPr>
          <p:spPr>
            <a:xfrm>
              <a:off x="4649" y="1824"/>
              <a:ext cx="363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3" name="Line 43"/>
            <p:cNvSpPr/>
            <p:nvPr/>
          </p:nvSpPr>
          <p:spPr>
            <a:xfrm>
              <a:off x="4685" y="2178"/>
              <a:ext cx="3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49"/>
          <p:cNvGrpSpPr/>
          <p:nvPr/>
        </p:nvGrpSpPr>
        <p:grpSpPr>
          <a:xfrm>
            <a:off x="1711325" y="4795838"/>
            <a:ext cx="2503488" cy="576262"/>
            <a:chOff x="1041" y="3039"/>
            <a:chExt cx="1375" cy="327"/>
          </a:xfrm>
        </p:grpSpPr>
        <p:graphicFrame>
          <p:nvGraphicFramePr>
            <p:cNvPr id="22535" name="Object 35"/>
            <p:cNvGraphicFramePr/>
            <p:nvPr/>
          </p:nvGraphicFramePr>
          <p:xfrm>
            <a:off x="1041" y="3039"/>
            <a:ext cx="1375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2" name="" r:id="rId14" imgW="1091565" imgH="254000" progId="Equation.3">
                    <p:embed/>
                  </p:oleObj>
                </mc:Choice>
                <mc:Fallback>
                  <p:oleObj name="" r:id="rId14" imgW="1091565" imgH="254000" progId="Equation.3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41" y="3039"/>
                          <a:ext cx="1375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1" name="Line 44"/>
            <p:cNvSpPr/>
            <p:nvPr/>
          </p:nvSpPr>
          <p:spPr>
            <a:xfrm>
              <a:off x="1610" y="3339"/>
              <a:ext cx="499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51"/>
          <p:cNvGrpSpPr/>
          <p:nvPr/>
        </p:nvGrpSpPr>
        <p:grpSpPr>
          <a:xfrm>
            <a:off x="1258888" y="3694113"/>
            <a:ext cx="4321175" cy="598487"/>
            <a:chOff x="884" y="2260"/>
            <a:chExt cx="2722" cy="377"/>
          </a:xfrm>
        </p:grpSpPr>
        <p:graphicFrame>
          <p:nvGraphicFramePr>
            <p:cNvPr id="22534" name="Object 32"/>
            <p:cNvGraphicFramePr/>
            <p:nvPr/>
          </p:nvGraphicFramePr>
          <p:xfrm>
            <a:off x="884" y="2260"/>
            <a:ext cx="2722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3" name="" r:id="rId16" imgW="1752600" imgH="228600" progId="Equation.3">
                    <p:embed/>
                  </p:oleObj>
                </mc:Choice>
                <mc:Fallback>
                  <p:oleObj name="" r:id="rId16" imgW="1752600" imgH="228600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84" y="2260"/>
                          <a:ext cx="2722" cy="3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9" name="Line 45"/>
            <p:cNvSpPr/>
            <p:nvPr/>
          </p:nvSpPr>
          <p:spPr>
            <a:xfrm>
              <a:off x="3152" y="2614"/>
              <a:ext cx="40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0" name="Line 46"/>
            <p:cNvSpPr/>
            <p:nvPr/>
          </p:nvSpPr>
          <p:spPr>
            <a:xfrm>
              <a:off x="2389" y="2614"/>
              <a:ext cx="40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0706" name="AutoShape 50"/>
          <p:cNvSpPr/>
          <p:nvPr/>
        </p:nvSpPr>
        <p:spPr>
          <a:xfrm>
            <a:off x="539750" y="5589588"/>
            <a:ext cx="533400" cy="215900"/>
          </a:xfrm>
          <a:prstGeom prst="rightArrow">
            <a:avLst>
              <a:gd name="adj1" fmla="val 50000"/>
              <a:gd name="adj2" fmla="val 61764"/>
            </a:avLst>
          </a:prstGeom>
          <a:solidFill>
            <a:srgbClr val="3399FF"/>
          </a:solidFill>
          <a:ln w="25400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0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0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0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0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7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70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7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7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7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70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82" grpId="0"/>
      <p:bldP spid="70686" grpId="0" animBg="1"/>
      <p:bldP spid="70687" grpId="0" animBg="1"/>
      <p:bldP spid="7070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Text Box 2" descr="绿色大理石"/>
          <p:cNvSpPr txBox="1"/>
          <p:nvPr/>
        </p:nvSpPr>
        <p:spPr>
          <a:xfrm>
            <a:off x="684213" y="549275"/>
            <a:ext cx="3744912" cy="604838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  <a:effectLst>
            <a:prstShdw prst="shdw17" dist="17961" dir="2699999">
              <a:srgbClr val="003D00"/>
            </a:prstShdw>
          </a:effectLst>
        </p:spPr>
        <p:txBody>
          <a:bodyPr>
            <a:spAutoFit/>
          </a:bodyPr>
          <a:p>
            <a:pPr indent="571500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借助相量图计算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20"/>
          <p:cNvGrpSpPr/>
          <p:nvPr/>
        </p:nvGrpSpPr>
        <p:grpSpPr>
          <a:xfrm>
            <a:off x="684213" y="2351088"/>
            <a:ext cx="3032125" cy="2651125"/>
            <a:chOff x="480" y="2416"/>
            <a:chExt cx="1717" cy="1472"/>
          </a:xfrm>
        </p:grpSpPr>
        <p:sp>
          <p:nvSpPr>
            <p:cNvPr id="23611" name="Line 21"/>
            <p:cNvSpPr/>
            <p:nvPr/>
          </p:nvSpPr>
          <p:spPr>
            <a:xfrm flipH="1">
              <a:off x="480" y="3600"/>
              <a:ext cx="1632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3612" name="Line 22"/>
            <p:cNvSpPr/>
            <p:nvPr/>
          </p:nvSpPr>
          <p:spPr>
            <a:xfrm rot="-5400000">
              <a:off x="96" y="3216"/>
              <a:ext cx="1344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613" name="Text Box 23"/>
            <p:cNvSpPr txBox="1"/>
            <p:nvPr/>
          </p:nvSpPr>
          <p:spPr>
            <a:xfrm>
              <a:off x="1879" y="3568"/>
              <a:ext cx="31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14" name="Text Box 24"/>
            <p:cNvSpPr txBox="1"/>
            <p:nvPr/>
          </p:nvSpPr>
          <p:spPr>
            <a:xfrm>
              <a:off x="487" y="2416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+j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61"/>
          <p:cNvGrpSpPr/>
          <p:nvPr/>
        </p:nvGrpSpPr>
        <p:grpSpPr>
          <a:xfrm>
            <a:off x="1187450" y="3359150"/>
            <a:ext cx="1944688" cy="1150938"/>
            <a:chOff x="748" y="1979"/>
            <a:chExt cx="1225" cy="725"/>
          </a:xfrm>
        </p:grpSpPr>
        <p:sp>
          <p:nvSpPr>
            <p:cNvPr id="23609" name="Line 30"/>
            <p:cNvSpPr/>
            <p:nvPr/>
          </p:nvSpPr>
          <p:spPr>
            <a:xfrm flipV="1">
              <a:off x="748" y="2281"/>
              <a:ext cx="1207" cy="404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610" name="Freeform 31"/>
            <p:cNvSpPr/>
            <p:nvPr/>
          </p:nvSpPr>
          <p:spPr>
            <a:xfrm>
              <a:off x="1292" y="2478"/>
              <a:ext cx="46" cy="226"/>
            </a:xfrm>
            <a:custGeom>
              <a:avLst/>
              <a:gdLst>
                <a:gd name="txL" fmla="*/ 0 w 34"/>
                <a:gd name="txT" fmla="*/ 0 h 102"/>
                <a:gd name="txR" fmla="*/ 34 w 34"/>
                <a:gd name="txB" fmla="*/ 102 h 102"/>
              </a:gdLst>
              <a:ahLst/>
              <a:cxnLst>
                <a:cxn ang="0">
                  <a:pos x="24" y="226"/>
                </a:cxn>
                <a:cxn ang="0">
                  <a:pos x="0" y="0"/>
                </a:cxn>
              </a:cxnLst>
              <a:rect l="txL" t="txT" r="txR" b="txB"/>
              <a:pathLst>
                <a:path w="34" h="102">
                  <a:moveTo>
                    <a:pt x="18" y="102"/>
                  </a:moveTo>
                  <a:cubicBezTo>
                    <a:pt x="34" y="53"/>
                    <a:pt x="4" y="21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99FF99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23565" name="Object 32"/>
            <p:cNvGraphicFramePr/>
            <p:nvPr/>
          </p:nvGraphicFramePr>
          <p:xfrm>
            <a:off x="1383" y="2432"/>
            <a:ext cx="381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2" imgW="253365" imgH="215900" progId="Equation.3">
                    <p:embed/>
                  </p:oleObj>
                </mc:Choice>
                <mc:Fallback>
                  <p:oleObj name="" r:id="rId2" imgW="253365" imgH="21590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83" y="2432"/>
                          <a:ext cx="381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6" name="Object 34"/>
            <p:cNvGraphicFramePr/>
            <p:nvPr/>
          </p:nvGraphicFramePr>
          <p:xfrm>
            <a:off x="1654" y="1979"/>
            <a:ext cx="319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4" imgW="203200" imgH="266065" progId="Equation.3">
                    <p:embed/>
                  </p:oleObj>
                </mc:Choice>
                <mc:Fallback>
                  <p:oleObj name="" r:id="rId4" imgW="203200" imgH="266065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54" y="1979"/>
                          <a:ext cx="319" cy="3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3"/>
          <p:cNvGrpSpPr/>
          <p:nvPr/>
        </p:nvGrpSpPr>
        <p:grpSpPr>
          <a:xfrm>
            <a:off x="1187450" y="2998788"/>
            <a:ext cx="936625" cy="1511300"/>
            <a:chOff x="748" y="1752"/>
            <a:chExt cx="590" cy="952"/>
          </a:xfrm>
        </p:grpSpPr>
        <p:grpSp>
          <p:nvGrpSpPr>
            <p:cNvPr id="23606" name="Group 62"/>
            <p:cNvGrpSpPr/>
            <p:nvPr/>
          </p:nvGrpSpPr>
          <p:grpSpPr>
            <a:xfrm>
              <a:off x="748" y="2115"/>
              <a:ext cx="590" cy="589"/>
              <a:chOff x="748" y="2115"/>
              <a:chExt cx="590" cy="589"/>
            </a:xfrm>
          </p:grpSpPr>
          <p:sp>
            <p:nvSpPr>
              <p:cNvPr id="23607" name="Line 36"/>
              <p:cNvSpPr/>
              <p:nvPr/>
            </p:nvSpPr>
            <p:spPr>
              <a:xfrm flipV="1">
                <a:off x="748" y="2115"/>
                <a:ext cx="272" cy="538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3608" name="Freeform 37"/>
              <p:cNvSpPr/>
              <p:nvPr/>
            </p:nvSpPr>
            <p:spPr>
              <a:xfrm>
                <a:off x="884" y="2387"/>
                <a:ext cx="136" cy="317"/>
              </a:xfrm>
              <a:custGeom>
                <a:avLst/>
                <a:gdLst>
                  <a:gd name="txL" fmla="*/ 0 w 138"/>
                  <a:gd name="txT" fmla="*/ 0 h 198"/>
                  <a:gd name="txR" fmla="*/ 138 w 138"/>
                  <a:gd name="txB" fmla="*/ 198 h 198"/>
                </a:gdLst>
                <a:ahLst/>
                <a:cxnLst>
                  <a:cxn ang="0">
                    <a:pos x="0" y="0"/>
                  </a:cxn>
                  <a:cxn ang="0">
                    <a:pos x="103" y="125"/>
                  </a:cxn>
                  <a:cxn ang="0">
                    <a:pos x="136" y="317"/>
                  </a:cxn>
                </a:cxnLst>
                <a:rect l="txL" t="txT" r="txR" b="txB"/>
                <a:pathLst>
                  <a:path w="138" h="198">
                    <a:moveTo>
                      <a:pt x="0" y="0"/>
                    </a:moveTo>
                    <a:cubicBezTo>
                      <a:pt x="18" y="13"/>
                      <a:pt x="82" y="45"/>
                      <a:pt x="105" y="78"/>
                    </a:cubicBezTo>
                    <a:cubicBezTo>
                      <a:pt x="128" y="111"/>
                      <a:pt x="131" y="173"/>
                      <a:pt x="138" y="198"/>
                    </a:cubicBezTo>
                  </a:path>
                </a:pathLst>
              </a:custGeom>
              <a:noFill/>
              <a:ln w="28575" cap="flat" cmpd="sng">
                <a:solidFill>
                  <a:srgbClr val="99FF99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23564" name="Object 39"/>
              <p:cNvGraphicFramePr/>
              <p:nvPr/>
            </p:nvGraphicFramePr>
            <p:xfrm>
              <a:off x="1020" y="2160"/>
              <a:ext cx="318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6" name="" r:id="rId6" imgW="266065" imgH="215900" progId="Equation.3">
                      <p:embed/>
                    </p:oleObj>
                  </mc:Choice>
                  <mc:Fallback>
                    <p:oleObj name="" r:id="rId6" imgW="266065" imgH="215900" progId="Equation.3">
                      <p:embed/>
                      <p:pic>
                        <p:nvPicPr>
                          <p:cNvPr id="0" name="图片 3145"/>
                          <p:cNvPicPr/>
                          <p:nvPr/>
                        </p:nvPicPr>
                        <p:blipFill>
                          <a:blip r:embed="rId7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020" y="2160"/>
                            <a:ext cx="318" cy="25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3563" name="Object 40"/>
            <p:cNvGraphicFramePr/>
            <p:nvPr/>
          </p:nvGraphicFramePr>
          <p:xfrm>
            <a:off x="839" y="1752"/>
            <a:ext cx="27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8" imgW="215900" imgH="266065" progId="Equation.3">
                    <p:embed/>
                  </p:oleObj>
                </mc:Choice>
                <mc:Fallback>
                  <p:oleObj name="" r:id="rId8" imgW="215900" imgH="266065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39" y="1752"/>
                          <a:ext cx="27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64"/>
          <p:cNvGrpSpPr/>
          <p:nvPr/>
        </p:nvGrpSpPr>
        <p:grpSpPr>
          <a:xfrm>
            <a:off x="1187450" y="2638425"/>
            <a:ext cx="2913063" cy="1824038"/>
            <a:chOff x="748" y="1525"/>
            <a:chExt cx="1835" cy="1149"/>
          </a:xfrm>
        </p:grpSpPr>
        <p:sp>
          <p:nvSpPr>
            <p:cNvPr id="23602" name="Arc 26"/>
            <p:cNvSpPr/>
            <p:nvPr/>
          </p:nvSpPr>
          <p:spPr>
            <a:xfrm>
              <a:off x="1554" y="2161"/>
              <a:ext cx="192" cy="496"/>
            </a:xfrm>
            <a:custGeom>
              <a:avLst/>
              <a:gdLst>
                <a:gd name="txL" fmla="*/ 0 w 21600"/>
                <a:gd name="txT" fmla="*/ 0 h 33599"/>
                <a:gd name="txR" fmla="*/ 21600 w 21600"/>
                <a:gd name="txB" fmla="*/ 33599 h 33599"/>
              </a:gdLst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5"/>
                </a:cxn>
              </a:cxnLst>
              <a:rect l="txL" t="txT" r="txR" b="txB"/>
              <a:pathLst>
                <a:path w="21600" h="33599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871"/>
                    <a:pt x="20333" y="30047"/>
                    <a:pt x="17960" y="33599"/>
                  </a:cubicBezTo>
                </a:path>
                <a:path w="21600" h="33599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871"/>
                    <a:pt x="20333" y="30047"/>
                    <a:pt x="17960" y="33599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 cap="flat" cmpd="sng">
              <a:solidFill>
                <a:srgbClr val="99FF99"/>
              </a:solidFill>
              <a:prstDash val="solid"/>
              <a:round/>
              <a:headEnd type="triangle" w="sm" len="med"/>
              <a:tailEnd type="none" w="sm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23561" name="Object 28"/>
            <p:cNvGraphicFramePr/>
            <p:nvPr/>
          </p:nvGraphicFramePr>
          <p:xfrm>
            <a:off x="1791" y="2341"/>
            <a:ext cx="53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10" imgW="393065" imgH="215900" progId="Equation.3">
                    <p:embed/>
                  </p:oleObj>
                </mc:Choice>
                <mc:Fallback>
                  <p:oleObj name="" r:id="rId10" imgW="393065" imgH="21590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91" y="2341"/>
                          <a:ext cx="532" cy="2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03" name="Line 42"/>
            <p:cNvSpPr/>
            <p:nvPr/>
          </p:nvSpPr>
          <p:spPr>
            <a:xfrm flipV="1">
              <a:off x="1020" y="1661"/>
              <a:ext cx="1225" cy="475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sm" len="med"/>
            </a:ln>
          </p:spPr>
        </p:sp>
        <p:sp>
          <p:nvSpPr>
            <p:cNvPr id="23604" name="Line 43"/>
            <p:cNvSpPr/>
            <p:nvPr/>
          </p:nvSpPr>
          <p:spPr>
            <a:xfrm flipV="1">
              <a:off x="1927" y="1616"/>
              <a:ext cx="363" cy="674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sm" len="med"/>
            </a:ln>
          </p:spPr>
        </p:sp>
        <p:sp>
          <p:nvSpPr>
            <p:cNvPr id="23605" name="Line 44"/>
            <p:cNvSpPr/>
            <p:nvPr/>
          </p:nvSpPr>
          <p:spPr>
            <a:xfrm flipV="1">
              <a:off x="748" y="1616"/>
              <a:ext cx="1542" cy="1058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23562" name="Object 45"/>
            <p:cNvGraphicFramePr/>
            <p:nvPr/>
          </p:nvGraphicFramePr>
          <p:xfrm>
            <a:off x="2336" y="1525"/>
            <a:ext cx="247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12" imgW="177800" imgH="227965" progId="Equation.3">
                    <p:embed/>
                  </p:oleObj>
                </mc:Choice>
                <mc:Fallback>
                  <p:oleObj name="" r:id="rId12" imgW="177800" imgH="227965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36" y="1525"/>
                          <a:ext cx="247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33" name="AutoShape 53" descr="羊皮纸"/>
          <p:cNvSpPr/>
          <p:nvPr/>
        </p:nvSpPr>
        <p:spPr>
          <a:xfrm>
            <a:off x="5651500" y="5518150"/>
            <a:ext cx="2089150" cy="574675"/>
          </a:xfrm>
          <a:prstGeom prst="wedgeRoundRectCallout">
            <a:avLst>
              <a:gd name="adj1" fmla="val -1218"/>
              <a:gd name="adj2" fmla="val -195028"/>
              <a:gd name="adj3" fmla="val 16667"/>
            </a:avLst>
          </a:prstGeom>
          <a:blipFill rotWithShape="1">
            <a:blip r:embed="rId14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首尾相接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3573" name="Group 5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3600" name="Picture 55" descr="7890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601" name="Text Box 5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3574" name="Group 5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3598" name="Picture 58" descr="7890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99" name="Text Box 5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" name="Group 65"/>
          <p:cNvGrpSpPr/>
          <p:nvPr/>
        </p:nvGrpSpPr>
        <p:grpSpPr>
          <a:xfrm>
            <a:off x="4787900" y="2493963"/>
            <a:ext cx="3206750" cy="2579687"/>
            <a:chOff x="2928" y="2416"/>
            <a:chExt cx="1697" cy="1472"/>
          </a:xfrm>
        </p:grpSpPr>
        <p:sp>
          <p:nvSpPr>
            <p:cNvPr id="23594" name="Line 66"/>
            <p:cNvSpPr/>
            <p:nvPr/>
          </p:nvSpPr>
          <p:spPr>
            <a:xfrm flipH="1">
              <a:off x="2928" y="3600"/>
              <a:ext cx="1632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3595" name="Line 67"/>
            <p:cNvSpPr/>
            <p:nvPr/>
          </p:nvSpPr>
          <p:spPr>
            <a:xfrm rot="-5400000">
              <a:off x="2544" y="3216"/>
              <a:ext cx="1344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96" name="Text Box 68"/>
            <p:cNvSpPr txBox="1"/>
            <p:nvPr/>
          </p:nvSpPr>
          <p:spPr>
            <a:xfrm>
              <a:off x="4327" y="3568"/>
              <a:ext cx="298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7" name="Text Box 69"/>
            <p:cNvSpPr txBox="1"/>
            <p:nvPr/>
          </p:nvSpPr>
          <p:spPr>
            <a:xfrm>
              <a:off x="2935" y="2416"/>
              <a:ext cx="255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+j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Group 96"/>
          <p:cNvGrpSpPr/>
          <p:nvPr/>
        </p:nvGrpSpPr>
        <p:grpSpPr>
          <a:xfrm>
            <a:off x="5364163" y="2351088"/>
            <a:ext cx="2498725" cy="2232025"/>
            <a:chOff x="3379" y="1344"/>
            <a:chExt cx="1574" cy="1406"/>
          </a:xfrm>
        </p:grpSpPr>
        <p:sp>
          <p:nvSpPr>
            <p:cNvPr id="23592" name="Line 77"/>
            <p:cNvSpPr/>
            <p:nvPr/>
          </p:nvSpPr>
          <p:spPr>
            <a:xfrm flipV="1">
              <a:off x="3379" y="1616"/>
              <a:ext cx="1542" cy="1104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93" name="Arc 78"/>
            <p:cNvSpPr/>
            <p:nvPr/>
          </p:nvSpPr>
          <p:spPr>
            <a:xfrm>
              <a:off x="4105" y="2205"/>
              <a:ext cx="273" cy="545"/>
            </a:xfrm>
            <a:custGeom>
              <a:avLst/>
              <a:gdLst>
                <a:gd name="txL" fmla="*/ 0 w 30522"/>
                <a:gd name="txT" fmla="*/ 0 h 36882"/>
                <a:gd name="txR" fmla="*/ 30522 w 30522"/>
                <a:gd name="txB" fmla="*/ 36882 h 36882"/>
              </a:gdLst>
              <a:ahLst/>
              <a:cxnLst>
                <a:cxn ang="0">
                  <a:pos x="0" y="0"/>
                </a:cxn>
                <a:cxn ang="0">
                  <a:pos x="2" y="8"/>
                </a:cxn>
                <a:cxn ang="0">
                  <a:pos x="1" y="5"/>
                </a:cxn>
              </a:cxnLst>
              <a:rect l="txL" t="txT" r="txR" b="txB"/>
              <a:pathLst>
                <a:path w="30522" h="36882" fill="none">
                  <a:moveTo>
                    <a:pt x="-1" y="1928"/>
                  </a:moveTo>
                  <a:cubicBezTo>
                    <a:pt x="2802" y="657"/>
                    <a:pt x="5844" y="-1"/>
                    <a:pt x="8922" y="0"/>
                  </a:cubicBezTo>
                  <a:cubicBezTo>
                    <a:pt x="20851" y="0"/>
                    <a:pt x="30522" y="9670"/>
                    <a:pt x="30522" y="21600"/>
                  </a:cubicBezTo>
                  <a:cubicBezTo>
                    <a:pt x="30522" y="27332"/>
                    <a:pt x="28242" y="32830"/>
                    <a:pt x="24187" y="36882"/>
                  </a:cubicBezTo>
                </a:path>
                <a:path w="30522" h="36882" stroke="0">
                  <a:moveTo>
                    <a:pt x="-1" y="1928"/>
                  </a:moveTo>
                  <a:cubicBezTo>
                    <a:pt x="2802" y="657"/>
                    <a:pt x="5844" y="-1"/>
                    <a:pt x="8922" y="0"/>
                  </a:cubicBezTo>
                  <a:cubicBezTo>
                    <a:pt x="20851" y="0"/>
                    <a:pt x="30522" y="9670"/>
                    <a:pt x="30522" y="21600"/>
                  </a:cubicBezTo>
                  <a:cubicBezTo>
                    <a:pt x="30522" y="27332"/>
                    <a:pt x="28242" y="32830"/>
                    <a:pt x="24187" y="36882"/>
                  </a:cubicBezTo>
                  <a:lnTo>
                    <a:pt x="8922" y="21600"/>
                  </a:lnTo>
                  <a:close/>
                </a:path>
              </a:pathLst>
            </a:custGeom>
            <a:noFill/>
            <a:ln w="28575" cap="flat" cmpd="sng">
              <a:solidFill>
                <a:srgbClr val="99FF99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23559" name="Object 80"/>
            <p:cNvGraphicFramePr/>
            <p:nvPr/>
          </p:nvGraphicFramePr>
          <p:xfrm>
            <a:off x="4422" y="2432"/>
            <a:ext cx="531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" name="" r:id="rId16" imgW="393065" imgH="215900" progId="Equation.3">
                    <p:embed/>
                  </p:oleObj>
                </mc:Choice>
                <mc:Fallback>
                  <p:oleObj name="" r:id="rId16" imgW="393065" imgH="215900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22" y="2432"/>
                          <a:ext cx="531" cy="2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0" name="Object 81"/>
            <p:cNvGraphicFramePr/>
            <p:nvPr/>
          </p:nvGraphicFramePr>
          <p:xfrm>
            <a:off x="4649" y="1344"/>
            <a:ext cx="210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" r:id="rId18" imgW="177800" imgH="227965" progId="Equation.3">
                    <p:embed/>
                  </p:oleObj>
                </mc:Choice>
                <mc:Fallback>
                  <p:oleObj name="" r:id="rId18" imgW="177800" imgH="227965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49" y="1344"/>
                          <a:ext cx="210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94"/>
          <p:cNvGrpSpPr/>
          <p:nvPr/>
        </p:nvGrpSpPr>
        <p:grpSpPr>
          <a:xfrm>
            <a:off x="7235825" y="2782888"/>
            <a:ext cx="1152525" cy="1143000"/>
            <a:chOff x="4558" y="1616"/>
            <a:chExt cx="726" cy="720"/>
          </a:xfrm>
        </p:grpSpPr>
        <p:sp>
          <p:nvSpPr>
            <p:cNvPr id="23589" name="Line 83"/>
            <p:cNvSpPr/>
            <p:nvPr/>
          </p:nvSpPr>
          <p:spPr>
            <a:xfrm flipV="1">
              <a:off x="4558" y="1616"/>
              <a:ext cx="384" cy="72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90" name="Freeform 84"/>
            <p:cNvSpPr/>
            <p:nvPr/>
          </p:nvSpPr>
          <p:spPr>
            <a:xfrm>
              <a:off x="4648" y="2126"/>
              <a:ext cx="138" cy="198"/>
            </a:xfrm>
            <a:custGeom>
              <a:avLst/>
              <a:gdLst>
                <a:gd name="txL" fmla="*/ 0 w 138"/>
                <a:gd name="txT" fmla="*/ 0 h 198"/>
                <a:gd name="txR" fmla="*/ 138 w 138"/>
                <a:gd name="txB" fmla="*/ 198 h 198"/>
              </a:gdLst>
              <a:ahLst/>
              <a:cxnLst>
                <a:cxn ang="0">
                  <a:pos x="0" y="0"/>
                </a:cxn>
                <a:cxn ang="0">
                  <a:pos x="105" y="78"/>
                </a:cxn>
                <a:cxn ang="0">
                  <a:pos x="138" y="198"/>
                </a:cxn>
              </a:cxnLst>
              <a:rect l="txL" t="txT" r="txR" b="txB"/>
              <a:pathLst>
                <a:path w="138" h="198">
                  <a:moveTo>
                    <a:pt x="0" y="0"/>
                  </a:moveTo>
                  <a:cubicBezTo>
                    <a:pt x="18" y="13"/>
                    <a:pt x="82" y="45"/>
                    <a:pt x="105" y="78"/>
                  </a:cubicBezTo>
                  <a:cubicBezTo>
                    <a:pt x="128" y="111"/>
                    <a:pt x="131" y="173"/>
                    <a:pt x="138" y="198"/>
                  </a:cubicBezTo>
                </a:path>
              </a:pathLst>
            </a:custGeom>
            <a:noFill/>
            <a:ln w="28575" cap="flat" cmpd="sng">
              <a:solidFill>
                <a:srgbClr val="99FF99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23557" name="Object 85"/>
            <p:cNvGraphicFramePr/>
            <p:nvPr/>
          </p:nvGraphicFramePr>
          <p:xfrm>
            <a:off x="4876" y="2024"/>
            <a:ext cx="318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8" name="" r:id="rId20" imgW="266065" imgH="215900" progId="Equation.3">
                    <p:embed/>
                  </p:oleObj>
                </mc:Choice>
                <mc:Fallback>
                  <p:oleObj name="" r:id="rId20" imgW="266065" imgH="21590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76" y="2024"/>
                          <a:ext cx="318" cy="2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58" name="Object 86"/>
            <p:cNvGraphicFramePr/>
            <p:nvPr/>
          </p:nvGraphicFramePr>
          <p:xfrm>
            <a:off x="4838" y="1640"/>
            <a:ext cx="27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22" imgW="215900" imgH="266065" progId="Equation.3">
                    <p:embed/>
                  </p:oleObj>
                </mc:Choice>
                <mc:Fallback>
                  <p:oleObj name="" r:id="rId22" imgW="215900" imgH="266065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38" y="1640"/>
                          <a:ext cx="27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1" name="Line 87"/>
            <p:cNvSpPr/>
            <p:nvPr/>
          </p:nvSpPr>
          <p:spPr>
            <a:xfrm flipV="1">
              <a:off x="4558" y="2296"/>
              <a:ext cx="726" cy="16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dash"/>
              <a:headEnd type="none" w="med" len="med"/>
              <a:tailEnd type="none" w="sm" len="med"/>
            </a:ln>
          </p:spPr>
        </p:sp>
      </p:grpSp>
      <p:grpSp>
        <p:nvGrpSpPr>
          <p:cNvPr id="12" name="Group 89"/>
          <p:cNvGrpSpPr/>
          <p:nvPr/>
        </p:nvGrpSpPr>
        <p:grpSpPr>
          <a:xfrm>
            <a:off x="5364163" y="3430588"/>
            <a:ext cx="1944687" cy="1150937"/>
            <a:chOff x="748" y="1979"/>
            <a:chExt cx="1225" cy="725"/>
          </a:xfrm>
        </p:grpSpPr>
        <p:sp>
          <p:nvSpPr>
            <p:cNvPr id="23587" name="Line 90"/>
            <p:cNvSpPr/>
            <p:nvPr/>
          </p:nvSpPr>
          <p:spPr>
            <a:xfrm flipV="1">
              <a:off x="748" y="2281"/>
              <a:ext cx="1207" cy="404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88" name="Freeform 91"/>
            <p:cNvSpPr/>
            <p:nvPr/>
          </p:nvSpPr>
          <p:spPr>
            <a:xfrm>
              <a:off x="1292" y="2478"/>
              <a:ext cx="46" cy="226"/>
            </a:xfrm>
            <a:custGeom>
              <a:avLst/>
              <a:gdLst>
                <a:gd name="txL" fmla="*/ 0 w 34"/>
                <a:gd name="txT" fmla="*/ 0 h 102"/>
                <a:gd name="txR" fmla="*/ 34 w 34"/>
                <a:gd name="txB" fmla="*/ 102 h 102"/>
              </a:gdLst>
              <a:ahLst/>
              <a:cxnLst>
                <a:cxn ang="0">
                  <a:pos x="24" y="226"/>
                </a:cxn>
                <a:cxn ang="0">
                  <a:pos x="0" y="0"/>
                </a:cxn>
              </a:cxnLst>
              <a:rect l="txL" t="txT" r="txR" b="txB"/>
              <a:pathLst>
                <a:path w="34" h="102">
                  <a:moveTo>
                    <a:pt x="18" y="102"/>
                  </a:moveTo>
                  <a:cubicBezTo>
                    <a:pt x="34" y="53"/>
                    <a:pt x="4" y="21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99FF99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23555" name="Object 92"/>
            <p:cNvGraphicFramePr/>
            <p:nvPr/>
          </p:nvGraphicFramePr>
          <p:xfrm>
            <a:off x="1383" y="2432"/>
            <a:ext cx="381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9" name="" r:id="rId24" imgW="253365" imgH="215900" progId="Equation.3">
                    <p:embed/>
                  </p:oleObj>
                </mc:Choice>
                <mc:Fallback>
                  <p:oleObj name="" r:id="rId24" imgW="253365" imgH="215900" progId="Equation.3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83" y="2432"/>
                          <a:ext cx="381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56" name="Object 93"/>
            <p:cNvGraphicFramePr/>
            <p:nvPr/>
          </p:nvGraphicFramePr>
          <p:xfrm>
            <a:off x="1654" y="1979"/>
            <a:ext cx="319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25" imgW="203200" imgH="266065" progId="Equation.3">
                    <p:embed/>
                  </p:oleObj>
                </mc:Choice>
                <mc:Fallback>
                  <p:oleObj name="" r:id="rId25" imgW="203200" imgH="266065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54" y="1979"/>
                          <a:ext cx="319" cy="3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579" name="Group 100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3585" name="Picture 101" descr="7890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86" name="Text Box 10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71783" name="Text Box 103"/>
          <p:cNvSpPr txBox="1"/>
          <p:nvPr/>
        </p:nvSpPr>
        <p:spPr>
          <a:xfrm>
            <a:off x="827088" y="4437063"/>
            <a:ext cx="5032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O</a:t>
            </a:r>
            <a:endParaRPr lang="en-US" altLang="zh-CN" sz="2000" b="0" i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84" name="Text Box 104"/>
          <p:cNvSpPr txBox="1"/>
          <p:nvPr/>
        </p:nvSpPr>
        <p:spPr>
          <a:xfrm>
            <a:off x="4932363" y="4581525"/>
            <a:ext cx="5032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O</a:t>
            </a:r>
            <a:endParaRPr lang="en-US" altLang="zh-CN" sz="2000" b="0" i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" name="Group 108"/>
          <p:cNvGrpSpPr/>
          <p:nvPr/>
        </p:nvGrpSpPr>
        <p:grpSpPr>
          <a:xfrm>
            <a:off x="1638300" y="1570038"/>
            <a:ext cx="3870325" cy="466725"/>
            <a:chOff x="1032" y="989"/>
            <a:chExt cx="2438" cy="294"/>
          </a:xfrm>
        </p:grpSpPr>
        <p:graphicFrame>
          <p:nvGraphicFramePr>
            <p:cNvPr id="23554" name="Object 60"/>
            <p:cNvGraphicFramePr/>
            <p:nvPr/>
          </p:nvGraphicFramePr>
          <p:xfrm>
            <a:off x="1032" y="989"/>
            <a:ext cx="243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2" name="" r:id="rId26" imgW="1892300" imgH="228600" progId="Equation.3">
                    <p:embed/>
                  </p:oleObj>
                </mc:Choice>
                <mc:Fallback>
                  <p:oleObj name="" r:id="rId26" imgW="1892300" imgH="22860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32" y="989"/>
                          <a:ext cx="2438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83" name="Line 105"/>
            <p:cNvSpPr/>
            <p:nvPr/>
          </p:nvSpPr>
          <p:spPr>
            <a:xfrm>
              <a:off x="2925" y="1262"/>
              <a:ext cx="363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4" name="Line 106"/>
            <p:cNvSpPr/>
            <p:nvPr/>
          </p:nvSpPr>
          <p:spPr>
            <a:xfrm>
              <a:off x="1565" y="1262"/>
              <a:ext cx="317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4" dur="2000"/>
                                        <p:tgtEl>
                                          <p:spTgt spid="7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 animBg="1"/>
      <p:bldP spid="71733" grpId="0" animBg="1"/>
      <p:bldP spid="71783" grpId="0"/>
      <p:bldP spid="7178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 Box 2"/>
          <p:cNvSpPr txBox="1"/>
          <p:nvPr/>
        </p:nvSpPr>
        <p:spPr>
          <a:xfrm>
            <a:off x="611188" y="620713"/>
            <a:ext cx="44704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342900" indent="-342900">
              <a:buAutoNum type="circleNumDbPlain" startAt="2"/>
            </a:pPr>
            <a:r>
              <a:rPr lang="zh-CN" altLang="en-US" dirty="0">
                <a:latin typeface="楷体_GB2312" pitchFamily="49" charset="-122"/>
              </a:rPr>
              <a:t>正弦量的微分、积分运算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12292" name="Object 4"/>
          <p:cNvGraphicFramePr/>
          <p:nvPr/>
        </p:nvGraphicFramePr>
        <p:xfrm>
          <a:off x="2627313" y="2060575"/>
          <a:ext cx="5740400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1" imgW="2741930" imgH="673100" progId="Equation.3">
                  <p:embed/>
                </p:oleObj>
              </mc:Choice>
              <mc:Fallback>
                <p:oleObj name="" r:id="rId1" imgW="2741930" imgH="6731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27313" y="2060575"/>
                        <a:ext cx="5740400" cy="1408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5"/>
          <p:cNvGraphicFramePr/>
          <p:nvPr/>
        </p:nvGraphicFramePr>
        <p:xfrm>
          <a:off x="2484438" y="3140075"/>
          <a:ext cx="5983287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3" imgW="2818130" imgH="520700" progId="Equation.3">
                  <p:embed/>
                </p:oleObj>
              </mc:Choice>
              <mc:Fallback>
                <p:oleObj name="" r:id="rId3" imgW="2818130" imgH="5207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3140075"/>
                        <a:ext cx="5983287" cy="1106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 Box 8" descr="绿色大理石"/>
          <p:cNvSpPr txBox="1"/>
          <p:nvPr/>
        </p:nvSpPr>
        <p:spPr>
          <a:xfrm>
            <a:off x="611188" y="2205038"/>
            <a:ext cx="1800225" cy="519112"/>
          </a:xfrm>
          <a:prstGeom prst="rect">
            <a:avLst/>
          </a:prstGeom>
          <a:blipFill rotWithShape="1">
            <a:blip r:embed="rId5"/>
          </a:blipFill>
          <a:ln w="19050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微分运算  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12297" name="Text Box 9" descr="绿色大理石"/>
          <p:cNvSpPr txBox="1"/>
          <p:nvPr/>
        </p:nvSpPr>
        <p:spPr>
          <a:xfrm>
            <a:off x="539750" y="3357563"/>
            <a:ext cx="1800225" cy="519112"/>
          </a:xfrm>
          <a:prstGeom prst="rect">
            <a:avLst/>
          </a:prstGeom>
          <a:blipFill rotWithShape="1">
            <a:blip r:embed="rId5"/>
          </a:blipFill>
          <a:ln w="19050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积分运算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pSp>
        <p:nvGrpSpPr>
          <p:cNvPr id="2" name="Group 39"/>
          <p:cNvGrpSpPr/>
          <p:nvPr/>
        </p:nvGrpSpPr>
        <p:grpSpPr>
          <a:xfrm>
            <a:off x="4716463" y="4365625"/>
            <a:ext cx="4241800" cy="1152525"/>
            <a:chOff x="2806" y="2795"/>
            <a:chExt cx="2672" cy="726"/>
          </a:xfrm>
        </p:grpSpPr>
        <p:graphicFrame>
          <p:nvGraphicFramePr>
            <p:cNvPr id="24582" name="Object 7"/>
            <p:cNvGraphicFramePr/>
            <p:nvPr/>
          </p:nvGraphicFramePr>
          <p:xfrm>
            <a:off x="2806" y="2795"/>
            <a:ext cx="2672" cy="7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" name="" r:id="rId6" imgW="1993265" imgH="495300" progId="Equation.3">
                    <p:embed/>
                  </p:oleObj>
                </mc:Choice>
                <mc:Fallback>
                  <p:oleObj name="" r:id="rId6" imgW="1993265" imgH="49530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A50021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06" y="2795"/>
                          <a:ext cx="2672" cy="726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CCFFCC"/>
                            </a:gs>
                            <a:gs pos="50000">
                              <a:srgbClr val="FFFFFF"/>
                            </a:gs>
                            <a:gs pos="100000">
                              <a:srgbClr val="CCFFCC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0" name="Line 18"/>
            <p:cNvSpPr/>
            <p:nvPr/>
          </p:nvSpPr>
          <p:spPr>
            <a:xfrm>
              <a:off x="4513" y="3294"/>
              <a:ext cx="816" cy="0"/>
            </a:xfrm>
            <a:prstGeom prst="line">
              <a:avLst/>
            </a:prstGeom>
            <a:ln w="952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4587" name="Group 2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4598" name="Picture 25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99" name="Text Box 2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4588" name="Group 2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4596" name="Picture 28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97" name="Text Box 2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4589" name="Group 36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4594" name="Picture 37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95" name="Text Box 3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42"/>
          <p:cNvGrpSpPr/>
          <p:nvPr/>
        </p:nvGrpSpPr>
        <p:grpSpPr>
          <a:xfrm>
            <a:off x="549275" y="4365625"/>
            <a:ext cx="3951288" cy="1150938"/>
            <a:chOff x="346" y="2800"/>
            <a:chExt cx="2363" cy="625"/>
          </a:xfrm>
        </p:grpSpPr>
        <p:graphicFrame>
          <p:nvGraphicFramePr>
            <p:cNvPr id="24581" name="Object 6"/>
            <p:cNvGraphicFramePr/>
            <p:nvPr/>
          </p:nvGraphicFramePr>
          <p:xfrm>
            <a:off x="346" y="2800"/>
            <a:ext cx="2363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9" imgW="1751965" imgH="393700" progId="Equation.3">
                    <p:embed/>
                  </p:oleObj>
                </mc:Choice>
                <mc:Fallback>
                  <p:oleObj name="" r:id="rId9" imgW="1751965" imgH="39370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A50021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6" y="2800"/>
                          <a:ext cx="2363" cy="6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00FFFF"/>
                            </a:gs>
                            <a:gs pos="50000">
                              <a:schemeClr val="bg1"/>
                            </a:gs>
                            <a:gs pos="100000">
                              <a:srgbClr val="00FFFF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3" name="Line 41"/>
            <p:cNvSpPr/>
            <p:nvPr/>
          </p:nvSpPr>
          <p:spPr>
            <a:xfrm>
              <a:off x="1837" y="3249"/>
              <a:ext cx="725" cy="0"/>
            </a:xfrm>
            <a:prstGeom prst="line">
              <a:avLst/>
            </a:prstGeom>
            <a:ln w="9525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44"/>
          <p:cNvGrpSpPr/>
          <p:nvPr/>
        </p:nvGrpSpPr>
        <p:grpSpPr>
          <a:xfrm>
            <a:off x="1116013" y="1268413"/>
            <a:ext cx="5503862" cy="639762"/>
            <a:chOff x="703" y="799"/>
            <a:chExt cx="3467" cy="403"/>
          </a:xfrm>
        </p:grpSpPr>
        <p:graphicFrame>
          <p:nvGraphicFramePr>
            <p:cNvPr id="24580" name="Object 3"/>
            <p:cNvGraphicFramePr/>
            <p:nvPr/>
          </p:nvGraphicFramePr>
          <p:xfrm>
            <a:off x="703" y="799"/>
            <a:ext cx="3467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8" name="" r:id="rId11" imgW="2387600" imgH="279400" progId="Equation.DSMT4">
                    <p:embed/>
                  </p:oleObj>
                </mc:Choice>
                <mc:Fallback>
                  <p:oleObj name="" r:id="rId11" imgW="2387600" imgH="279400" progId="Equation.DSMT4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03" y="799"/>
                          <a:ext cx="3467" cy="4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2" name="Line 43"/>
            <p:cNvSpPr/>
            <p:nvPr/>
          </p:nvSpPr>
          <p:spPr>
            <a:xfrm>
              <a:off x="3651" y="1162"/>
              <a:ext cx="363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2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20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6" grpId="0" animBg="1"/>
      <p:bldP spid="1229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ext Box 2"/>
          <p:cNvSpPr txBox="1"/>
          <p:nvPr/>
        </p:nvSpPr>
        <p:spPr>
          <a:xfrm>
            <a:off x="468313" y="549275"/>
            <a:ext cx="113347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3-4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293" name="Object 29"/>
          <p:cNvGraphicFramePr/>
          <p:nvPr/>
        </p:nvGraphicFramePr>
        <p:xfrm>
          <a:off x="3752850" y="836613"/>
          <a:ext cx="403066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1" imgW="1727200" imgH="279400" progId="Equation.3">
                  <p:embed/>
                </p:oleObj>
              </mc:Choice>
              <mc:Fallback>
                <p:oleObj name="" r:id="rId1" imgW="1727200" imgH="2794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52850" y="836613"/>
                        <a:ext cx="4030663" cy="646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4" name="Object 30"/>
          <p:cNvGraphicFramePr/>
          <p:nvPr/>
        </p:nvGraphicFramePr>
        <p:xfrm>
          <a:off x="3635375" y="1484313"/>
          <a:ext cx="4465638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3" imgW="1790700" imgH="457200" progId="Equation.3">
                  <p:embed/>
                </p:oleObj>
              </mc:Choice>
              <mc:Fallback>
                <p:oleObj name="" r:id="rId3" imgW="1790700" imgH="4572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35375" y="1484313"/>
                        <a:ext cx="4465638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7" name="Text Box 33"/>
          <p:cNvSpPr txBox="1"/>
          <p:nvPr/>
        </p:nvSpPr>
        <p:spPr>
          <a:xfrm>
            <a:off x="1042988" y="3213100"/>
            <a:ext cx="25209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用相量运算：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1298" name="Object 34"/>
          <p:cNvGraphicFramePr/>
          <p:nvPr/>
        </p:nvGraphicFramePr>
        <p:xfrm>
          <a:off x="3779838" y="2636838"/>
          <a:ext cx="4176712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5" imgW="1701165" imgH="495300" progId="Equation.3">
                  <p:embed/>
                </p:oleObj>
              </mc:Choice>
              <mc:Fallback>
                <p:oleObj name="" r:id="rId5" imgW="1701165" imgH="4953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79838" y="2636838"/>
                        <a:ext cx="4176712" cy="111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0" name="Text Box 36"/>
          <p:cNvSpPr txBox="1"/>
          <p:nvPr/>
        </p:nvSpPr>
        <p:spPr>
          <a:xfrm>
            <a:off x="827088" y="4484688"/>
            <a:ext cx="56165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</a:rPr>
              <a:t>把时域问题变为复数问题。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11301" name="Text Box 37"/>
          <p:cNvSpPr txBox="1"/>
          <p:nvPr/>
        </p:nvSpPr>
        <p:spPr>
          <a:xfrm>
            <a:off x="827088" y="5054600"/>
            <a:ext cx="78168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buAutoNum type="circleNumDbPlain" startAt="2"/>
            </a:pPr>
            <a:r>
              <a:rPr lang="zh-CN" altLang="en-US" dirty="0">
                <a:latin typeface="楷体_GB2312" pitchFamily="49" charset="-122"/>
              </a:rPr>
              <a:t>把微积分方程的运算变为复数代数方程运算。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11302" name="Text Box 38"/>
          <p:cNvSpPr txBox="1"/>
          <p:nvPr/>
        </p:nvSpPr>
        <p:spPr>
          <a:xfrm>
            <a:off x="827088" y="5573713"/>
            <a:ext cx="81375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buAutoNum type="circleNumDbPlain" startAt="3"/>
            </a:pPr>
            <a:r>
              <a:rPr lang="zh-CN" altLang="en-US" dirty="0">
                <a:latin typeface="楷体_GB2312" pitchFamily="49" charset="-122"/>
              </a:rPr>
              <a:t>可以把直流电路的分析方法直接用于交流电路。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25610" name="Group 4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5643" name="Picture 44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44" name="Text Box 4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5611" name="Group 4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5641" name="Picture 47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42" name="Text Box 4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5612" name="Text Box 58"/>
          <p:cNvSpPr txBox="1"/>
          <p:nvPr/>
        </p:nvSpPr>
        <p:spPr>
          <a:xfrm>
            <a:off x="971550" y="981075"/>
            <a:ext cx="619125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p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Group 74"/>
          <p:cNvGrpSpPr/>
          <p:nvPr/>
        </p:nvGrpSpPr>
        <p:grpSpPr>
          <a:xfrm>
            <a:off x="755650" y="3692525"/>
            <a:ext cx="3270250" cy="850900"/>
            <a:chOff x="385" y="3022"/>
            <a:chExt cx="2060" cy="536"/>
          </a:xfrm>
        </p:grpSpPr>
        <p:pic>
          <p:nvPicPr>
            <p:cNvPr id="25639" name="Picture 75" descr="12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40" name="Text Box 76"/>
            <p:cNvSpPr txBox="1"/>
            <p:nvPr/>
          </p:nvSpPr>
          <p:spPr>
            <a:xfrm>
              <a:off x="793" y="3125"/>
              <a:ext cx="16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相量法的优点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25614" name="Group 80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5637" name="Picture 81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38" name="Text Box 8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88"/>
          <p:cNvGrpSpPr/>
          <p:nvPr/>
        </p:nvGrpSpPr>
        <p:grpSpPr>
          <a:xfrm>
            <a:off x="900113" y="1441450"/>
            <a:ext cx="2014537" cy="1673225"/>
            <a:chOff x="567" y="908"/>
            <a:chExt cx="1269" cy="1054"/>
          </a:xfrm>
        </p:grpSpPr>
        <p:sp>
          <p:nvSpPr>
            <p:cNvPr id="25616" name="Freeform 53"/>
            <p:cNvSpPr/>
            <p:nvPr/>
          </p:nvSpPr>
          <p:spPr>
            <a:xfrm>
              <a:off x="1746" y="981"/>
              <a:ext cx="46" cy="227"/>
            </a:xfrm>
            <a:custGeom>
              <a:avLst/>
              <a:gdLst>
                <a:gd name="txL" fmla="*/ 0 w 1"/>
                <a:gd name="txT" fmla="*/ 0 h 123"/>
                <a:gd name="txR" fmla="*/ 1 w 1"/>
                <a:gd name="txB" fmla="*/ 123 h 123"/>
              </a:gdLst>
              <a:ahLst/>
              <a:cxnLst>
                <a:cxn ang="0">
                  <a:pos x="0" y="227"/>
                </a:cxn>
                <a:cxn ang="0">
                  <a:pos x="0" y="0"/>
                </a:cxn>
              </a:cxnLst>
              <a:rect l="txL" t="txT" r="txR" b="txB"/>
              <a:pathLst>
                <a:path w="1" h="123">
                  <a:moveTo>
                    <a:pt x="0" y="123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617" name="Freeform 54"/>
            <p:cNvSpPr/>
            <p:nvPr/>
          </p:nvSpPr>
          <p:spPr>
            <a:xfrm flipH="1">
              <a:off x="1701" y="1570"/>
              <a:ext cx="45" cy="273"/>
            </a:xfrm>
            <a:custGeom>
              <a:avLst/>
              <a:gdLst>
                <a:gd name="txL" fmla="*/ 0 w 1"/>
                <a:gd name="txT" fmla="*/ 0 h 123"/>
                <a:gd name="txR" fmla="*/ 1 w 1"/>
                <a:gd name="txB" fmla="*/ 123 h 123"/>
              </a:gdLst>
              <a:ahLst/>
              <a:cxnLst>
                <a:cxn ang="0">
                  <a:pos x="0" y="0"/>
                </a:cxn>
                <a:cxn ang="0">
                  <a:pos x="0" y="273"/>
                </a:cxn>
              </a:cxnLst>
              <a:rect l="txL" t="txT" r="txR" b="txB"/>
              <a:pathLst>
                <a:path w="1" h="123">
                  <a:moveTo>
                    <a:pt x="0" y="0"/>
                  </a:moveTo>
                  <a:lnTo>
                    <a:pt x="0" y="123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618" name="Line 55"/>
            <p:cNvSpPr/>
            <p:nvPr/>
          </p:nvSpPr>
          <p:spPr>
            <a:xfrm>
              <a:off x="658" y="981"/>
              <a:ext cx="10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5619" name="Text Box 56"/>
            <p:cNvSpPr txBox="1"/>
            <p:nvPr/>
          </p:nvSpPr>
          <p:spPr>
            <a:xfrm>
              <a:off x="1066" y="981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0" name="Line 57"/>
            <p:cNvSpPr/>
            <p:nvPr/>
          </p:nvSpPr>
          <p:spPr>
            <a:xfrm>
              <a:off x="703" y="981"/>
              <a:ext cx="28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21" name="Text Box 59"/>
            <p:cNvSpPr txBox="1"/>
            <p:nvPr/>
          </p:nvSpPr>
          <p:spPr>
            <a:xfrm>
              <a:off x="567" y="1253"/>
              <a:ext cx="44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2" name="Text Box 60"/>
            <p:cNvSpPr txBox="1"/>
            <p:nvPr/>
          </p:nvSpPr>
          <p:spPr>
            <a:xfrm>
              <a:off x="1519" y="1207"/>
              <a:ext cx="2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3" name="Text Box 61"/>
            <p:cNvSpPr txBox="1"/>
            <p:nvPr/>
          </p:nvSpPr>
          <p:spPr>
            <a:xfrm>
              <a:off x="567" y="981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4" name="Text Box 62"/>
            <p:cNvSpPr txBox="1"/>
            <p:nvPr/>
          </p:nvSpPr>
          <p:spPr>
            <a:xfrm>
              <a:off x="567" y="1525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5" name="Line 63"/>
            <p:cNvSpPr/>
            <p:nvPr/>
          </p:nvSpPr>
          <p:spPr>
            <a:xfrm flipH="1">
              <a:off x="658" y="1843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5626" name="Line 64"/>
            <p:cNvSpPr/>
            <p:nvPr/>
          </p:nvSpPr>
          <p:spPr>
            <a:xfrm>
              <a:off x="1247" y="1843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7" name="Text Box 65"/>
            <p:cNvSpPr txBox="1"/>
            <p:nvPr/>
          </p:nvSpPr>
          <p:spPr>
            <a:xfrm>
              <a:off x="1066" y="1480"/>
              <a:ext cx="31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C</a:t>
              </a:r>
              <a:endPara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28" name="Rectangle 66"/>
            <p:cNvSpPr/>
            <p:nvPr/>
          </p:nvSpPr>
          <p:spPr>
            <a:xfrm>
              <a:off x="1047" y="90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5629" name="Group 71"/>
            <p:cNvGrpSpPr/>
            <p:nvPr/>
          </p:nvGrpSpPr>
          <p:grpSpPr>
            <a:xfrm rot="5400000">
              <a:off x="1066" y="1797"/>
              <a:ext cx="240" cy="90"/>
              <a:chOff x="4604" y="2478"/>
              <a:chExt cx="240" cy="90"/>
            </a:xfrm>
          </p:grpSpPr>
          <p:sp>
            <p:nvSpPr>
              <p:cNvPr id="25635" name="Line 72"/>
              <p:cNvSpPr/>
              <p:nvPr/>
            </p:nvSpPr>
            <p:spPr>
              <a:xfrm>
                <a:off x="4604" y="2478"/>
                <a:ext cx="240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36" name="Line 73"/>
              <p:cNvSpPr/>
              <p:nvPr/>
            </p:nvSpPr>
            <p:spPr>
              <a:xfrm>
                <a:off x="4604" y="2568"/>
                <a:ext cx="240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5630" name="Group 83"/>
            <p:cNvGrpSpPr/>
            <p:nvPr/>
          </p:nvGrpSpPr>
          <p:grpSpPr>
            <a:xfrm rot="10800000">
              <a:off x="1746" y="1207"/>
              <a:ext cx="90" cy="363"/>
              <a:chOff x="1565" y="2614"/>
              <a:chExt cx="90" cy="486"/>
            </a:xfrm>
          </p:grpSpPr>
          <p:sp>
            <p:nvSpPr>
              <p:cNvPr id="25631" name="Arc 84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632" name="Arc 85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633" name="Arc 86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634" name="Arc 87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97" grpId="0"/>
      <p:bldP spid="11300" grpId="0"/>
      <p:bldP spid="11301" grpId="0"/>
      <p:bldP spid="1130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60"/>
          <p:cNvGrpSpPr/>
          <p:nvPr/>
        </p:nvGrpSpPr>
        <p:grpSpPr>
          <a:xfrm>
            <a:off x="2268538" y="692150"/>
            <a:ext cx="4564062" cy="1093788"/>
            <a:chOff x="748" y="709"/>
            <a:chExt cx="2875" cy="689"/>
          </a:xfrm>
        </p:grpSpPr>
        <p:sp>
          <p:nvSpPr>
            <p:cNvPr id="57390" name="Text Box 4"/>
            <p:cNvSpPr txBox="1"/>
            <p:nvPr/>
          </p:nvSpPr>
          <p:spPr>
            <a:xfrm>
              <a:off x="748" y="709"/>
              <a:ext cx="11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楷体_GB2312" pitchFamily="49" charset="-122"/>
                </a:rPr>
                <a:t>① </a:t>
              </a:r>
              <a:r>
                <a:rPr lang="zh-CN" altLang="en-US" dirty="0">
                  <a:latin typeface="楷体_GB2312" pitchFamily="49" charset="-122"/>
                </a:rPr>
                <a:t>正弦量</a:t>
              </a:r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7391" name="Rectangle 5"/>
            <p:cNvSpPr/>
            <p:nvPr/>
          </p:nvSpPr>
          <p:spPr>
            <a:xfrm>
              <a:off x="2744" y="709"/>
              <a:ext cx="5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楷体_GB2312" pitchFamily="49" charset="-122"/>
                </a:rPr>
                <a:t>相量</a:t>
              </a:r>
              <a:endParaRPr lang="zh-CN" altLang="en-US" dirty="0">
                <a:latin typeface="楷体_GB2312" pitchFamily="49" charset="-122"/>
              </a:endParaRPr>
            </a:p>
          </p:txBody>
        </p:sp>
        <p:grpSp>
          <p:nvGrpSpPr>
            <p:cNvPr id="57392" name="Group 6"/>
            <p:cNvGrpSpPr/>
            <p:nvPr/>
          </p:nvGrpSpPr>
          <p:grpSpPr>
            <a:xfrm>
              <a:off x="2064" y="845"/>
              <a:ext cx="492" cy="72"/>
              <a:chOff x="2580" y="768"/>
              <a:chExt cx="492" cy="72"/>
            </a:xfrm>
          </p:grpSpPr>
          <p:sp>
            <p:nvSpPr>
              <p:cNvPr id="57395" name="Line 7"/>
              <p:cNvSpPr/>
              <p:nvPr/>
            </p:nvSpPr>
            <p:spPr>
              <a:xfrm>
                <a:off x="2592" y="768"/>
                <a:ext cx="480" cy="0"/>
              </a:xfrm>
              <a:prstGeom prst="line">
                <a:avLst/>
              </a:prstGeom>
              <a:ln w="57150" cap="flat" cmpd="sng">
                <a:solidFill>
                  <a:srgbClr val="3399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7396" name="Line 8"/>
              <p:cNvSpPr/>
              <p:nvPr/>
            </p:nvSpPr>
            <p:spPr>
              <a:xfrm flipH="1">
                <a:off x="2580" y="840"/>
                <a:ext cx="480" cy="0"/>
              </a:xfrm>
              <a:prstGeom prst="line">
                <a:avLst/>
              </a:prstGeom>
              <a:ln w="57150" cap="flat" cmpd="sng">
                <a:solidFill>
                  <a:srgbClr val="3399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57393" name="Text Box 9"/>
            <p:cNvSpPr txBox="1"/>
            <p:nvPr/>
          </p:nvSpPr>
          <p:spPr>
            <a:xfrm>
              <a:off x="1156" y="1071"/>
              <a:ext cx="90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dirty="0">
                  <a:latin typeface="楷体_GB2312" pitchFamily="49" charset="-122"/>
                </a:rPr>
                <a:t>时域 </a:t>
              </a:r>
              <a:endParaRPr lang="zh-CN" altLang="en-US" dirty="0">
                <a:latin typeface="楷体_GB2312" pitchFamily="49" charset="-122"/>
              </a:endParaRPr>
            </a:p>
          </p:txBody>
        </p:sp>
        <p:sp>
          <p:nvSpPr>
            <p:cNvPr id="57394" name="Rectangle 10"/>
            <p:cNvSpPr/>
            <p:nvPr/>
          </p:nvSpPr>
          <p:spPr>
            <a:xfrm>
              <a:off x="2699" y="1071"/>
              <a:ext cx="9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dirty="0">
                  <a:latin typeface="楷体_GB2312" pitchFamily="49" charset="-122"/>
                </a:rPr>
                <a:t>频域</a:t>
              </a:r>
              <a:endParaRPr lang="zh-CN" altLang="en-US" dirty="0">
                <a:latin typeface="楷体_GB2312" pitchFamily="49" charset="-122"/>
              </a:endParaRPr>
            </a:p>
          </p:txBody>
        </p:sp>
      </p:grpSp>
      <p:sp>
        <p:nvSpPr>
          <p:cNvPr id="10251" name="Rectangle 11"/>
          <p:cNvSpPr/>
          <p:nvPr/>
        </p:nvSpPr>
        <p:spPr>
          <a:xfrm>
            <a:off x="971550" y="2420938"/>
            <a:ext cx="7343775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120000"/>
              </a:lnSpc>
              <a:buAutoNum type="circleNumDbPlain" startAt="2"/>
            </a:pPr>
            <a:r>
              <a:rPr lang="zh-CN" altLang="en-US" dirty="0">
                <a:latin typeface="楷体_GB2312" pitchFamily="49" charset="-122"/>
              </a:rPr>
              <a:t>相量法只适用于激励为同频正弦量的时不变线性电路。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10252" name="Rectangle 12"/>
          <p:cNvSpPr/>
          <p:nvPr/>
        </p:nvSpPr>
        <p:spPr>
          <a:xfrm>
            <a:off x="971550" y="5373688"/>
            <a:ext cx="6769100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81000" indent="-381000" algn="just">
              <a:lnSpc>
                <a:spcPct val="120000"/>
              </a:lnSpc>
            </a:pPr>
            <a:r>
              <a:rPr lang="en-US" altLang="zh-CN" dirty="0">
                <a:latin typeface="楷体_GB2312" pitchFamily="49" charset="-122"/>
              </a:rPr>
              <a:t>③</a:t>
            </a:r>
            <a:r>
              <a:rPr lang="zh-CN" altLang="en-US" dirty="0">
                <a:latin typeface="楷体_GB2312" pitchFamily="49" charset="-122"/>
              </a:rPr>
              <a:t>相量法用来分析正弦稳态电路。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4" name="Group 38"/>
          <p:cNvGrpSpPr/>
          <p:nvPr/>
        </p:nvGrpSpPr>
        <p:grpSpPr>
          <a:xfrm>
            <a:off x="2627313" y="1773238"/>
            <a:ext cx="4227512" cy="595312"/>
            <a:chOff x="1200" y="1263"/>
            <a:chExt cx="2663" cy="375"/>
          </a:xfrm>
        </p:grpSpPr>
        <p:sp>
          <p:nvSpPr>
            <p:cNvPr id="57385" name="Text Box 39"/>
            <p:cNvSpPr txBox="1"/>
            <p:nvPr/>
          </p:nvSpPr>
          <p:spPr>
            <a:xfrm>
              <a:off x="1200" y="1263"/>
              <a:ext cx="1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正弦波形图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7386" name="Rectangle 40"/>
            <p:cNvSpPr/>
            <p:nvPr/>
          </p:nvSpPr>
          <p:spPr>
            <a:xfrm>
              <a:off x="3072" y="1311"/>
              <a:ext cx="7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相量图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57387" name="Group 41"/>
            <p:cNvGrpSpPr/>
            <p:nvPr/>
          </p:nvGrpSpPr>
          <p:grpSpPr>
            <a:xfrm>
              <a:off x="2400" y="1440"/>
              <a:ext cx="492" cy="72"/>
              <a:chOff x="2580" y="768"/>
              <a:chExt cx="492" cy="72"/>
            </a:xfrm>
          </p:grpSpPr>
          <p:sp>
            <p:nvSpPr>
              <p:cNvPr id="57388" name="Line 42"/>
              <p:cNvSpPr/>
              <p:nvPr/>
            </p:nvSpPr>
            <p:spPr>
              <a:xfrm>
                <a:off x="2592" y="768"/>
                <a:ext cx="480" cy="0"/>
              </a:xfrm>
              <a:prstGeom prst="line">
                <a:avLst/>
              </a:prstGeom>
              <a:ln w="57150" cap="flat" cmpd="sng">
                <a:solidFill>
                  <a:srgbClr val="3399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7389" name="Line 43"/>
              <p:cNvSpPr/>
              <p:nvPr/>
            </p:nvSpPr>
            <p:spPr>
              <a:xfrm flipH="1">
                <a:off x="2580" y="840"/>
                <a:ext cx="480" cy="0"/>
              </a:xfrm>
              <a:prstGeom prst="line">
                <a:avLst/>
              </a:prstGeom>
              <a:ln w="57150" cap="flat" cmpd="sng">
                <a:solidFill>
                  <a:srgbClr val="3399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57350" name="Group 4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7383" name="Picture 4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84" name="Text Box 5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7351" name="Group 5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7381" name="Picture 5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82" name="Text Box 5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" name="Group 57"/>
          <p:cNvGrpSpPr/>
          <p:nvPr/>
        </p:nvGrpSpPr>
        <p:grpSpPr>
          <a:xfrm>
            <a:off x="468313" y="476250"/>
            <a:ext cx="1644650" cy="850900"/>
            <a:chOff x="385" y="3022"/>
            <a:chExt cx="1036" cy="536"/>
          </a:xfrm>
        </p:grpSpPr>
        <p:pic>
          <p:nvPicPr>
            <p:cNvPr id="57379" name="Picture 58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80" name="Text Box 59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10302" name="AutoShape 62" descr="羊皮纸"/>
          <p:cNvSpPr/>
          <p:nvPr/>
        </p:nvSpPr>
        <p:spPr>
          <a:xfrm>
            <a:off x="8027988" y="2997200"/>
            <a:ext cx="612775" cy="1439863"/>
          </a:xfrm>
          <a:prstGeom prst="wedgeRoundRectCallout">
            <a:avLst>
              <a:gd name="adj1" fmla="val -553884"/>
              <a:gd name="adj2" fmla="val -10088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不适用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9" name="Group 61"/>
          <p:cNvGrpSpPr/>
          <p:nvPr/>
        </p:nvGrpSpPr>
        <p:grpSpPr>
          <a:xfrm>
            <a:off x="971550" y="3500438"/>
            <a:ext cx="5905500" cy="1798637"/>
            <a:chOff x="839" y="2115"/>
            <a:chExt cx="3720" cy="1133"/>
          </a:xfrm>
        </p:grpSpPr>
        <p:grpSp>
          <p:nvGrpSpPr>
            <p:cNvPr id="57358" name="Group 14"/>
            <p:cNvGrpSpPr/>
            <p:nvPr/>
          </p:nvGrpSpPr>
          <p:grpSpPr>
            <a:xfrm>
              <a:off x="839" y="2296"/>
              <a:ext cx="1224" cy="952"/>
              <a:chOff x="1248" y="2400"/>
              <a:chExt cx="864" cy="624"/>
            </a:xfrm>
          </p:grpSpPr>
          <p:sp>
            <p:nvSpPr>
              <p:cNvPr id="57368" name="Rectangle 15"/>
              <p:cNvSpPr/>
              <p:nvPr/>
            </p:nvSpPr>
            <p:spPr>
              <a:xfrm>
                <a:off x="1728" y="2400"/>
                <a:ext cx="384" cy="624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latin typeface="楷体_GB2312" pitchFamily="49" charset="-122"/>
                  </a:rPr>
                  <a:t>线</a:t>
                </a:r>
                <a:endParaRPr lang="zh-CN" altLang="en-US" dirty="0">
                  <a:solidFill>
                    <a:schemeClr val="bg1"/>
                  </a:solidFill>
                  <a:latin typeface="楷体_GB2312" pitchFamily="49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latin typeface="楷体_GB2312" pitchFamily="49" charset="-122"/>
                  </a:rPr>
                  <a:t>性</a:t>
                </a:r>
                <a:endParaRPr lang="zh-CN" altLang="en-US" dirty="0">
                  <a:solidFill>
                    <a:schemeClr val="bg1"/>
                  </a:solidFill>
                  <a:latin typeface="楷体_GB2312" pitchFamily="49" charset="-122"/>
                </a:endParaRPr>
              </a:p>
            </p:txBody>
          </p:sp>
          <p:sp>
            <p:nvSpPr>
              <p:cNvPr id="57369" name="Line 16"/>
              <p:cNvSpPr/>
              <p:nvPr/>
            </p:nvSpPr>
            <p:spPr>
              <a:xfrm>
                <a:off x="1344" y="2736"/>
                <a:ext cx="384" cy="0"/>
              </a:xfrm>
              <a:prstGeom prst="line">
                <a:avLst/>
              </a:prstGeom>
              <a:ln w="57150" cap="flat" cmpd="sng">
                <a:solidFill>
                  <a:srgbClr val="009999"/>
                </a:solidFill>
                <a:prstDash val="solid"/>
                <a:headEnd type="none" w="med" len="med"/>
                <a:tailEnd type="triangle" w="med" len="med"/>
              </a:ln>
            </p:spPr>
          </p:sp>
          <p:grpSp>
            <p:nvGrpSpPr>
              <p:cNvPr id="57370" name="Group 17"/>
              <p:cNvGrpSpPr/>
              <p:nvPr/>
            </p:nvGrpSpPr>
            <p:grpSpPr>
              <a:xfrm>
                <a:off x="1248" y="2544"/>
                <a:ext cx="384" cy="108"/>
                <a:chOff x="2352" y="2400"/>
                <a:chExt cx="1152" cy="480"/>
              </a:xfrm>
            </p:grpSpPr>
            <p:sp>
              <p:nvSpPr>
                <p:cNvPr id="57371" name="Line 18"/>
                <p:cNvSpPr/>
                <p:nvPr/>
              </p:nvSpPr>
              <p:spPr>
                <a:xfrm>
                  <a:off x="2352" y="2400"/>
                  <a:ext cx="288" cy="0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372" name="Line 19"/>
                <p:cNvSpPr/>
                <p:nvPr/>
              </p:nvSpPr>
              <p:spPr>
                <a:xfrm>
                  <a:off x="2640" y="2400"/>
                  <a:ext cx="0" cy="48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373" name="Line 20"/>
                <p:cNvSpPr/>
                <p:nvPr/>
              </p:nvSpPr>
              <p:spPr>
                <a:xfrm>
                  <a:off x="2640" y="2880"/>
                  <a:ext cx="288" cy="0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374" name="Line 21"/>
                <p:cNvSpPr/>
                <p:nvPr/>
              </p:nvSpPr>
              <p:spPr>
                <a:xfrm>
                  <a:off x="2928" y="2400"/>
                  <a:ext cx="0" cy="48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375" name="Line 22"/>
                <p:cNvSpPr/>
                <p:nvPr/>
              </p:nvSpPr>
              <p:spPr>
                <a:xfrm>
                  <a:off x="2928" y="2400"/>
                  <a:ext cx="288" cy="0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376" name="Line 23"/>
                <p:cNvSpPr/>
                <p:nvPr/>
              </p:nvSpPr>
              <p:spPr>
                <a:xfrm>
                  <a:off x="3216" y="2400"/>
                  <a:ext cx="0" cy="48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377" name="Line 24"/>
                <p:cNvSpPr/>
                <p:nvPr/>
              </p:nvSpPr>
              <p:spPr>
                <a:xfrm>
                  <a:off x="3216" y="2880"/>
                  <a:ext cx="288" cy="0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378" name="Line 25"/>
                <p:cNvSpPr/>
                <p:nvPr/>
              </p:nvSpPr>
              <p:spPr>
                <a:xfrm>
                  <a:off x="3504" y="2400"/>
                  <a:ext cx="0" cy="48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57359" name="Rectangle 27"/>
            <p:cNvSpPr/>
            <p:nvPr/>
          </p:nvSpPr>
          <p:spPr>
            <a:xfrm>
              <a:off x="2800" y="2305"/>
              <a:ext cx="534" cy="943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线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性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0" name="Line 28"/>
            <p:cNvSpPr/>
            <p:nvPr/>
          </p:nvSpPr>
          <p:spPr>
            <a:xfrm>
              <a:off x="2200" y="2595"/>
              <a:ext cx="600" cy="0"/>
            </a:xfrm>
            <a:prstGeom prst="line">
              <a:avLst/>
            </a:prstGeom>
            <a:ln w="57150" cap="flat" cmpd="sng">
              <a:solidFill>
                <a:srgbClr val="0099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7361" name="Line 29"/>
            <p:cNvSpPr/>
            <p:nvPr/>
          </p:nvSpPr>
          <p:spPr>
            <a:xfrm>
              <a:off x="2200" y="3030"/>
              <a:ext cx="600" cy="0"/>
            </a:xfrm>
            <a:prstGeom prst="line">
              <a:avLst/>
            </a:prstGeom>
            <a:ln w="57150" cap="flat" cmpd="sng">
              <a:solidFill>
                <a:srgbClr val="0099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7362" name="Text Box 30"/>
            <p:cNvSpPr txBox="1"/>
            <p:nvPr/>
          </p:nvSpPr>
          <p:spPr>
            <a:xfrm>
              <a:off x="2290" y="2264"/>
              <a:ext cx="3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363" name="Text Box 31"/>
            <p:cNvSpPr txBox="1"/>
            <p:nvPr/>
          </p:nvSpPr>
          <p:spPr>
            <a:xfrm>
              <a:off x="2290" y="2672"/>
              <a:ext cx="3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364" name="Rectangle 33"/>
            <p:cNvSpPr/>
            <p:nvPr/>
          </p:nvSpPr>
          <p:spPr>
            <a:xfrm>
              <a:off x="4068" y="2251"/>
              <a:ext cx="491" cy="947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非</a:t>
              </a:r>
              <a:endParaRPr lang="en-US" altLang="en-US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线性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5" name="Line 34"/>
            <p:cNvSpPr/>
            <p:nvPr/>
          </p:nvSpPr>
          <p:spPr>
            <a:xfrm>
              <a:off x="3515" y="2761"/>
              <a:ext cx="553" cy="0"/>
            </a:xfrm>
            <a:prstGeom prst="line">
              <a:avLst/>
            </a:prstGeom>
            <a:ln w="57150" cap="flat" cmpd="sng">
              <a:solidFill>
                <a:srgbClr val="0099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7366" name="Text Box 35"/>
            <p:cNvSpPr txBox="1"/>
            <p:nvPr/>
          </p:nvSpPr>
          <p:spPr>
            <a:xfrm>
              <a:off x="3651" y="2400"/>
              <a:ext cx="27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367" name="AutoShape 36"/>
            <p:cNvSpPr/>
            <p:nvPr/>
          </p:nvSpPr>
          <p:spPr>
            <a:xfrm rot="5400000" flipV="1">
              <a:off x="3039" y="867"/>
              <a:ext cx="90" cy="2586"/>
            </a:xfrm>
            <a:prstGeom prst="leftBrace">
              <a:avLst>
                <a:gd name="adj1" fmla="val 239444"/>
                <a:gd name="adj2" fmla="val 49949"/>
              </a:avLst>
            </a:prstGeom>
            <a:noFill/>
            <a:ln w="38100" cap="flat" cmpd="sng">
              <a:solidFill>
                <a:srgbClr val="00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7355" name="Group 66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7356" name="Picture 6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57" name="Text Box 6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1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1" grpId="0"/>
      <p:bldP spid="10252" grpId="0"/>
      <p:bldP spid="1030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Text Box 2"/>
          <p:cNvSpPr txBox="1"/>
          <p:nvPr/>
        </p:nvSpPr>
        <p:spPr>
          <a:xfrm>
            <a:off x="1116013" y="476250"/>
            <a:ext cx="7058025" cy="701675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7A8E99"/>
            </a:prstShdw>
          </a:effectLst>
        </p:spPr>
        <p:txBody>
          <a:bodyPr>
            <a:spAutoFit/>
          </a:bodyPr>
          <a:p>
            <a:pPr marL="1333500" indent="-1333500" algn="just"/>
            <a:r>
              <a:rPr lang="en-US" altLang="zh-CN" sz="40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8-4</a:t>
            </a:r>
            <a:r>
              <a:rPr lang="en-US" altLang="zh-CN" sz="4000" dirty="0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zh-CN" altLang="en-US" sz="4000" dirty="0">
                <a:solidFill>
                  <a:schemeClr val="bg1"/>
                </a:solidFill>
                <a:latin typeface="楷体_GB2312" pitchFamily="49" charset="-122"/>
              </a:rPr>
              <a:t>电路定律的相量形式</a:t>
            </a:r>
            <a:endParaRPr lang="zh-CN" altLang="en-US" sz="40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72707" name="Text Box 3"/>
          <p:cNvSpPr txBox="1"/>
          <p:nvPr/>
        </p:nvSpPr>
        <p:spPr>
          <a:xfrm>
            <a:off x="684213" y="1268413"/>
            <a:ext cx="57594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电阻元件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VCR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的相量形式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72708" name="Text Box 4"/>
          <p:cNvSpPr txBox="1"/>
          <p:nvPr/>
        </p:nvSpPr>
        <p:spPr>
          <a:xfrm>
            <a:off x="2268538" y="1916113"/>
            <a:ext cx="23034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时域形式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709" name="Text Box 5"/>
          <p:cNvSpPr txBox="1"/>
          <p:nvPr/>
        </p:nvSpPr>
        <p:spPr>
          <a:xfrm>
            <a:off x="2268538" y="3500438"/>
            <a:ext cx="22320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相量形式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711" name="Text Box 7" descr="绿色大理石"/>
          <p:cNvSpPr txBox="1"/>
          <p:nvPr/>
        </p:nvSpPr>
        <p:spPr>
          <a:xfrm>
            <a:off x="468313" y="5589588"/>
            <a:ext cx="1655762" cy="519112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相量模型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2712" name="Object 8"/>
          <p:cNvGraphicFramePr/>
          <p:nvPr/>
        </p:nvGraphicFramePr>
        <p:xfrm>
          <a:off x="4383088" y="1844675"/>
          <a:ext cx="394335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2" imgW="1625600" imgH="279400" progId="Equation.3">
                  <p:embed/>
                </p:oleObj>
              </mc:Choice>
              <mc:Fallback>
                <p:oleObj name="" r:id="rId2" imgW="1625600" imgH="2794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83088" y="1844675"/>
                        <a:ext cx="3943350" cy="671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3" name="Object 9"/>
          <p:cNvGraphicFramePr/>
          <p:nvPr/>
        </p:nvGraphicFramePr>
        <p:xfrm>
          <a:off x="2832100" y="2420938"/>
          <a:ext cx="5668963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4" imgW="2374900" imgH="279400" progId="Equation.3">
                  <p:embed/>
                </p:oleObj>
              </mc:Choice>
              <mc:Fallback>
                <p:oleObj name="" r:id="rId4" imgW="2374900" imgH="2794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32100" y="2420938"/>
                        <a:ext cx="5668963" cy="661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3"/>
          <p:cNvGrpSpPr/>
          <p:nvPr/>
        </p:nvGrpSpPr>
        <p:grpSpPr>
          <a:xfrm>
            <a:off x="611188" y="1916113"/>
            <a:ext cx="1646237" cy="1741487"/>
            <a:chOff x="385" y="1207"/>
            <a:chExt cx="1037" cy="1097"/>
          </a:xfrm>
        </p:grpSpPr>
        <p:sp>
          <p:nvSpPr>
            <p:cNvPr id="26675" name="Line 11"/>
            <p:cNvSpPr/>
            <p:nvPr/>
          </p:nvSpPr>
          <p:spPr>
            <a:xfrm>
              <a:off x="1102" y="1542"/>
              <a:ext cx="0" cy="72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76" name="Rectangle 12"/>
            <p:cNvSpPr/>
            <p:nvPr/>
          </p:nvSpPr>
          <p:spPr>
            <a:xfrm>
              <a:off x="1042" y="1734"/>
              <a:ext cx="120" cy="28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677" name="Line 13"/>
            <p:cNvSpPr/>
            <p:nvPr/>
          </p:nvSpPr>
          <p:spPr>
            <a:xfrm>
              <a:off x="526" y="1542"/>
              <a:ext cx="57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78" name="Line 14"/>
            <p:cNvSpPr/>
            <p:nvPr/>
          </p:nvSpPr>
          <p:spPr>
            <a:xfrm>
              <a:off x="526" y="2262"/>
              <a:ext cx="57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79" name="Text Box 15"/>
            <p:cNvSpPr txBox="1"/>
            <p:nvPr/>
          </p:nvSpPr>
          <p:spPr>
            <a:xfrm>
              <a:off x="385" y="1738"/>
              <a:ext cx="53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80" name="Line 16"/>
            <p:cNvSpPr/>
            <p:nvPr/>
          </p:nvSpPr>
          <p:spPr>
            <a:xfrm>
              <a:off x="612" y="1543"/>
              <a:ext cx="288" cy="0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81" name="Text Box 17"/>
            <p:cNvSpPr txBox="1"/>
            <p:nvPr/>
          </p:nvSpPr>
          <p:spPr>
            <a:xfrm>
              <a:off x="657" y="1207"/>
              <a:ext cx="3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82" name="Text Box 18"/>
            <p:cNvSpPr txBox="1"/>
            <p:nvPr/>
          </p:nvSpPr>
          <p:spPr>
            <a:xfrm>
              <a:off x="1169" y="1702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83" name="Oval 19"/>
            <p:cNvSpPr/>
            <p:nvPr/>
          </p:nvSpPr>
          <p:spPr>
            <a:xfrm>
              <a:off x="490" y="2250"/>
              <a:ext cx="48" cy="4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684" name="Oval 20"/>
            <p:cNvSpPr/>
            <p:nvPr/>
          </p:nvSpPr>
          <p:spPr>
            <a:xfrm>
              <a:off x="490" y="1530"/>
              <a:ext cx="48" cy="4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685" name="Text Box 21"/>
            <p:cNvSpPr txBox="1"/>
            <p:nvPr/>
          </p:nvSpPr>
          <p:spPr>
            <a:xfrm>
              <a:off x="431" y="1480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86" name="Text Box 22"/>
            <p:cNvSpPr txBox="1"/>
            <p:nvPr/>
          </p:nvSpPr>
          <p:spPr>
            <a:xfrm>
              <a:off x="422" y="1977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727" name="Text Box 23"/>
          <p:cNvSpPr txBox="1"/>
          <p:nvPr/>
        </p:nvSpPr>
        <p:spPr>
          <a:xfrm>
            <a:off x="5508625" y="5229225"/>
            <a:ext cx="31686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有效值关系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728" name="Text Box 24"/>
          <p:cNvSpPr txBox="1"/>
          <p:nvPr/>
        </p:nvSpPr>
        <p:spPr>
          <a:xfrm>
            <a:off x="5508625" y="5805488"/>
            <a:ext cx="25923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相位关系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" name="Group 64"/>
          <p:cNvGrpSpPr/>
          <p:nvPr/>
        </p:nvGrpSpPr>
        <p:grpSpPr>
          <a:xfrm>
            <a:off x="611188" y="3644900"/>
            <a:ext cx="1600200" cy="1809750"/>
            <a:chOff x="385" y="2296"/>
            <a:chExt cx="1008" cy="1140"/>
          </a:xfrm>
        </p:grpSpPr>
        <p:sp>
          <p:nvSpPr>
            <p:cNvPr id="26665" name="Line 26"/>
            <p:cNvSpPr/>
            <p:nvPr/>
          </p:nvSpPr>
          <p:spPr>
            <a:xfrm>
              <a:off x="1074" y="2618"/>
              <a:ext cx="0" cy="7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6" name="Rectangle 27"/>
            <p:cNvSpPr/>
            <p:nvPr/>
          </p:nvSpPr>
          <p:spPr>
            <a:xfrm>
              <a:off x="1014" y="2826"/>
              <a:ext cx="119" cy="311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667" name="Line 28"/>
            <p:cNvSpPr/>
            <p:nvPr/>
          </p:nvSpPr>
          <p:spPr>
            <a:xfrm>
              <a:off x="500" y="2618"/>
              <a:ext cx="57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8" name="Line 29"/>
            <p:cNvSpPr/>
            <p:nvPr/>
          </p:nvSpPr>
          <p:spPr>
            <a:xfrm>
              <a:off x="500" y="3397"/>
              <a:ext cx="57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9" name="Line 30"/>
            <p:cNvSpPr/>
            <p:nvPr/>
          </p:nvSpPr>
          <p:spPr>
            <a:xfrm>
              <a:off x="612" y="2614"/>
              <a:ext cx="287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70" name="Text Box 31"/>
            <p:cNvSpPr txBox="1"/>
            <p:nvPr/>
          </p:nvSpPr>
          <p:spPr>
            <a:xfrm>
              <a:off x="1140" y="2794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71" name="Oval 32"/>
            <p:cNvSpPr/>
            <p:nvPr/>
          </p:nvSpPr>
          <p:spPr>
            <a:xfrm>
              <a:off x="465" y="3384"/>
              <a:ext cx="47" cy="52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672" name="Oval 33"/>
            <p:cNvSpPr/>
            <p:nvPr/>
          </p:nvSpPr>
          <p:spPr>
            <a:xfrm>
              <a:off x="465" y="2605"/>
              <a:ext cx="47" cy="52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673" name="Text Box 34"/>
            <p:cNvSpPr txBox="1"/>
            <p:nvPr/>
          </p:nvSpPr>
          <p:spPr>
            <a:xfrm>
              <a:off x="385" y="2605"/>
              <a:ext cx="22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74" name="Text Box 35"/>
            <p:cNvSpPr txBox="1"/>
            <p:nvPr/>
          </p:nvSpPr>
          <p:spPr>
            <a:xfrm>
              <a:off x="397" y="3124"/>
              <a:ext cx="21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6630" name="Object 36"/>
            <p:cNvGraphicFramePr/>
            <p:nvPr/>
          </p:nvGraphicFramePr>
          <p:xfrm>
            <a:off x="392" y="2867"/>
            <a:ext cx="253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" name="" r:id="rId6" imgW="254000" imgH="292100" progId="Equation.3">
                    <p:embed/>
                  </p:oleObj>
                </mc:Choice>
                <mc:Fallback>
                  <p:oleObj name="" r:id="rId6" imgW="254000" imgH="292100" progId="Equation.3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2" y="2867"/>
                          <a:ext cx="253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1" name="Object 37"/>
            <p:cNvGraphicFramePr/>
            <p:nvPr/>
          </p:nvGraphicFramePr>
          <p:xfrm>
            <a:off x="657" y="2296"/>
            <a:ext cx="139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8" imgW="139700" imgH="279400" progId="Equation.3">
                    <p:embed/>
                  </p:oleObj>
                </mc:Choice>
                <mc:Fallback>
                  <p:oleObj name="" r:id="rId8" imgW="139700" imgH="279400" progId="Equation.3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57" y="2296"/>
                          <a:ext cx="139" cy="3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8"/>
          <p:cNvGrpSpPr/>
          <p:nvPr/>
        </p:nvGrpSpPr>
        <p:grpSpPr>
          <a:xfrm>
            <a:off x="5867400" y="2997200"/>
            <a:ext cx="588963" cy="519113"/>
            <a:chOff x="3802" y="2468"/>
            <a:chExt cx="371" cy="327"/>
          </a:xfrm>
        </p:grpSpPr>
        <p:sp>
          <p:nvSpPr>
            <p:cNvPr id="26663" name="AutoShape 39"/>
            <p:cNvSpPr/>
            <p:nvPr/>
          </p:nvSpPr>
          <p:spPr>
            <a:xfrm rot="-5400000">
              <a:off x="3925" y="2376"/>
              <a:ext cx="60" cy="259"/>
            </a:xfrm>
            <a:prstGeom prst="leftBrace">
              <a:avLst>
                <a:gd name="adj1" fmla="val 35972"/>
                <a:gd name="adj2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664" name="Text Box 40"/>
            <p:cNvSpPr txBox="1"/>
            <p:nvPr/>
          </p:nvSpPr>
          <p:spPr>
            <a:xfrm>
              <a:off x="3802" y="2468"/>
              <a:ext cx="371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41"/>
          <p:cNvGrpSpPr/>
          <p:nvPr/>
        </p:nvGrpSpPr>
        <p:grpSpPr>
          <a:xfrm>
            <a:off x="7812088" y="3048000"/>
            <a:ext cx="792162" cy="596900"/>
            <a:chOff x="4737" y="2076"/>
            <a:chExt cx="499" cy="376"/>
          </a:xfrm>
        </p:grpSpPr>
        <p:sp>
          <p:nvSpPr>
            <p:cNvPr id="26661" name="AutoShape 42"/>
            <p:cNvSpPr/>
            <p:nvPr/>
          </p:nvSpPr>
          <p:spPr>
            <a:xfrm rot="5400000" flipH="1" flipV="1">
              <a:off x="4938" y="1969"/>
              <a:ext cx="45" cy="259"/>
            </a:xfrm>
            <a:prstGeom prst="leftBrace">
              <a:avLst>
                <a:gd name="adj1" fmla="val 47962"/>
                <a:gd name="adj2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662" name="Text Box 43"/>
            <p:cNvSpPr txBox="1"/>
            <p:nvPr/>
          </p:nvSpPr>
          <p:spPr>
            <a:xfrm>
              <a:off x="4737" y="2087"/>
              <a:ext cx="499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748" name="Text Box 44"/>
          <p:cNvSpPr txBox="1"/>
          <p:nvPr/>
        </p:nvSpPr>
        <p:spPr>
          <a:xfrm>
            <a:off x="2268538" y="4292600"/>
            <a:ext cx="2232025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相量关系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2749" name="Object 45"/>
          <p:cNvGraphicFramePr/>
          <p:nvPr/>
        </p:nvGraphicFramePr>
        <p:xfrm>
          <a:off x="4427538" y="4149725"/>
          <a:ext cx="20891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10" imgW="647065" imgH="266065" progId="Equation.3">
                  <p:embed/>
                </p:oleObj>
              </mc:Choice>
              <mc:Fallback>
                <p:oleObj name="" r:id="rId10" imgW="647065" imgH="266065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A50021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27538" y="4149725"/>
                        <a:ext cx="2089150" cy="8572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FFFF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46"/>
          <p:cNvGrpSpPr/>
          <p:nvPr/>
        </p:nvGrpSpPr>
        <p:grpSpPr>
          <a:xfrm>
            <a:off x="3995738" y="5205413"/>
            <a:ext cx="1487487" cy="1176337"/>
            <a:chOff x="3941" y="3222"/>
            <a:chExt cx="740" cy="806"/>
          </a:xfrm>
        </p:grpSpPr>
        <p:sp>
          <p:nvSpPr>
            <p:cNvPr id="26658" name="AutoShape 47"/>
            <p:cNvSpPr/>
            <p:nvPr/>
          </p:nvSpPr>
          <p:spPr>
            <a:xfrm>
              <a:off x="3941" y="3333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659" name="Text Box 48"/>
            <p:cNvSpPr txBox="1"/>
            <p:nvPr/>
          </p:nvSpPr>
          <p:spPr>
            <a:xfrm>
              <a:off x="4058" y="3222"/>
              <a:ext cx="623" cy="3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RI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60" name="Text Box 49"/>
            <p:cNvSpPr txBox="1"/>
            <p:nvPr/>
          </p:nvSpPr>
          <p:spPr>
            <a:xfrm>
              <a:off x="3997" y="3631"/>
              <a:ext cx="678" cy="39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endPara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72754" name="AutoShape 50"/>
          <p:cNvSpPr/>
          <p:nvPr/>
        </p:nvSpPr>
        <p:spPr>
          <a:xfrm>
            <a:off x="3059113" y="5589588"/>
            <a:ext cx="711200" cy="144462"/>
          </a:xfrm>
          <a:prstGeom prst="rightArrow">
            <a:avLst>
              <a:gd name="adj1" fmla="val 50000"/>
              <a:gd name="adj2" fmla="val 123077"/>
            </a:avLst>
          </a:prstGeom>
          <a:solidFill>
            <a:srgbClr val="3399FF"/>
          </a:solidFill>
          <a:ln w="19050" cap="flat" cmpd="sng">
            <a:solidFill>
              <a:srgbClr val="33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6646" name="Group 5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6656" name="Picture 52" descr="7890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57" name="Text Box 5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6647" name="Group 5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6654" name="Picture 55" descr="7890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55" name="Text Box 5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6648" name="Group 60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6652" name="Picture 61" descr="7890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53" name="Text Box 6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" name="Group 67"/>
          <p:cNvGrpSpPr/>
          <p:nvPr/>
        </p:nvGrpSpPr>
        <p:grpSpPr>
          <a:xfrm>
            <a:off x="4297363" y="3573463"/>
            <a:ext cx="3357562" cy="546100"/>
            <a:chOff x="2707" y="2251"/>
            <a:chExt cx="2115" cy="344"/>
          </a:xfrm>
        </p:grpSpPr>
        <p:graphicFrame>
          <p:nvGraphicFramePr>
            <p:cNvPr id="26629" name="Object 6"/>
            <p:cNvGraphicFramePr/>
            <p:nvPr/>
          </p:nvGraphicFramePr>
          <p:xfrm>
            <a:off x="2707" y="2251"/>
            <a:ext cx="2115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13" imgW="1636395" imgH="266065" progId="Equation.3">
                    <p:embed/>
                  </p:oleObj>
                </mc:Choice>
                <mc:Fallback>
                  <p:oleObj name="" r:id="rId13" imgW="1636395" imgH="266065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07" y="2251"/>
                          <a:ext cx="2115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0" name="Line 65"/>
            <p:cNvSpPr/>
            <p:nvPr/>
          </p:nvSpPr>
          <p:spPr>
            <a:xfrm>
              <a:off x="3180" y="2559"/>
              <a:ext cx="22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1" name="Line 66"/>
            <p:cNvSpPr/>
            <p:nvPr/>
          </p:nvSpPr>
          <p:spPr>
            <a:xfrm>
              <a:off x="4477" y="2559"/>
              <a:ext cx="22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2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2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2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2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7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2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2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2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2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  <p:bldP spid="72707" grpId="0"/>
      <p:bldP spid="72708" grpId="0"/>
      <p:bldP spid="72709" grpId="0"/>
      <p:bldP spid="72711" grpId="0" animBg="1"/>
      <p:bldP spid="72727" grpId="0"/>
      <p:bldP spid="72728" grpId="0"/>
      <p:bldP spid="72748" grpId="0"/>
      <p:bldP spid="7275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ext Box 2" descr="绿色大理石"/>
          <p:cNvSpPr txBox="1"/>
          <p:nvPr/>
        </p:nvSpPr>
        <p:spPr>
          <a:xfrm>
            <a:off x="468313" y="4076700"/>
            <a:ext cx="1612900" cy="519113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瞬时功率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195" name="Object 3"/>
          <p:cNvGraphicFramePr/>
          <p:nvPr/>
        </p:nvGraphicFramePr>
        <p:xfrm>
          <a:off x="2484438" y="3860800"/>
          <a:ext cx="158432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2" imgW="609600" imgH="241300" progId="Equation.3">
                  <p:embed/>
                </p:oleObj>
              </mc:Choice>
              <mc:Fallback>
                <p:oleObj name="" r:id="rId2" imgW="609600" imgH="2413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3860800"/>
                        <a:ext cx="1584325" cy="620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Text Box 4" descr="绿色大理石"/>
          <p:cNvSpPr txBox="1"/>
          <p:nvPr/>
        </p:nvSpPr>
        <p:spPr>
          <a:xfrm>
            <a:off x="539750" y="620713"/>
            <a:ext cx="2879725" cy="519112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波形图及相量图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219200" y="2441575"/>
            <a:ext cx="3390900" cy="925513"/>
            <a:chOff x="1585" y="994"/>
            <a:chExt cx="2136" cy="583"/>
          </a:xfrm>
        </p:grpSpPr>
        <p:sp>
          <p:nvSpPr>
            <p:cNvPr id="27690" name="Freeform 6"/>
            <p:cNvSpPr/>
            <p:nvPr/>
          </p:nvSpPr>
          <p:spPr>
            <a:xfrm>
              <a:off x="1585" y="1145"/>
              <a:ext cx="1977" cy="432"/>
            </a:xfrm>
            <a:custGeom>
              <a:avLst/>
              <a:gdLst>
                <a:gd name="txL" fmla="*/ 0 w 1977"/>
                <a:gd name="txT" fmla="*/ 0 h 432"/>
                <a:gd name="txR" fmla="*/ 1977 w 1977"/>
                <a:gd name="txB" fmla="*/ 432 h 432"/>
              </a:gdLst>
              <a:ahLst/>
              <a:cxnLst>
                <a:cxn ang="0">
                  <a:pos x="24" y="217"/>
                </a:cxn>
                <a:cxn ang="0">
                  <a:pos x="30" y="217"/>
                </a:cxn>
                <a:cxn ang="0">
                  <a:pos x="33" y="215"/>
                </a:cxn>
                <a:cxn ang="0">
                  <a:pos x="231" y="53"/>
                </a:cxn>
                <a:cxn ang="0">
                  <a:pos x="411" y="2"/>
                </a:cxn>
                <a:cxn ang="0">
                  <a:pos x="586" y="67"/>
                </a:cxn>
                <a:cxn ang="0">
                  <a:pos x="764" y="217"/>
                </a:cxn>
                <a:cxn ang="0">
                  <a:pos x="981" y="385"/>
                </a:cxn>
                <a:cxn ang="0">
                  <a:pos x="1116" y="430"/>
                </a:cxn>
                <a:cxn ang="0">
                  <a:pos x="1258" y="397"/>
                </a:cxn>
                <a:cxn ang="0">
                  <a:pos x="1401" y="286"/>
                </a:cxn>
                <a:cxn ang="0">
                  <a:pos x="1500" y="205"/>
                </a:cxn>
                <a:cxn ang="0">
                  <a:pos x="1638" y="82"/>
                </a:cxn>
                <a:cxn ang="0">
                  <a:pos x="1809" y="13"/>
                </a:cxn>
                <a:cxn ang="0">
                  <a:pos x="1926" y="28"/>
                </a:cxn>
                <a:cxn ang="0">
                  <a:pos x="1977" y="52"/>
                </a:cxn>
              </a:cxnLst>
              <a:rect l="txL" t="txT" r="txR" b="txB"/>
              <a:pathLst>
                <a:path w="1977" h="432">
                  <a:moveTo>
                    <a:pt x="24" y="217"/>
                  </a:moveTo>
                  <a:cubicBezTo>
                    <a:pt x="24" y="217"/>
                    <a:pt x="29" y="217"/>
                    <a:pt x="30" y="217"/>
                  </a:cubicBezTo>
                  <a:cubicBezTo>
                    <a:pt x="31" y="217"/>
                    <a:pt x="0" y="242"/>
                    <a:pt x="33" y="215"/>
                  </a:cubicBezTo>
                  <a:cubicBezTo>
                    <a:pt x="66" y="188"/>
                    <a:pt x="168" y="88"/>
                    <a:pt x="231" y="53"/>
                  </a:cubicBezTo>
                  <a:cubicBezTo>
                    <a:pt x="294" y="18"/>
                    <a:pt x="352" y="0"/>
                    <a:pt x="411" y="2"/>
                  </a:cubicBezTo>
                  <a:cubicBezTo>
                    <a:pt x="470" y="5"/>
                    <a:pt x="528" y="31"/>
                    <a:pt x="586" y="67"/>
                  </a:cubicBezTo>
                  <a:cubicBezTo>
                    <a:pt x="644" y="103"/>
                    <a:pt x="698" y="164"/>
                    <a:pt x="764" y="217"/>
                  </a:cubicBezTo>
                  <a:cubicBezTo>
                    <a:pt x="830" y="270"/>
                    <a:pt x="922" y="349"/>
                    <a:pt x="981" y="385"/>
                  </a:cubicBezTo>
                  <a:cubicBezTo>
                    <a:pt x="1040" y="421"/>
                    <a:pt x="1070" y="428"/>
                    <a:pt x="1116" y="430"/>
                  </a:cubicBezTo>
                  <a:cubicBezTo>
                    <a:pt x="1162" y="432"/>
                    <a:pt x="1210" y="421"/>
                    <a:pt x="1258" y="397"/>
                  </a:cubicBezTo>
                  <a:cubicBezTo>
                    <a:pt x="1306" y="373"/>
                    <a:pt x="1361" y="318"/>
                    <a:pt x="1401" y="286"/>
                  </a:cubicBezTo>
                  <a:cubicBezTo>
                    <a:pt x="1441" y="254"/>
                    <a:pt x="1461" y="239"/>
                    <a:pt x="1500" y="205"/>
                  </a:cubicBezTo>
                  <a:cubicBezTo>
                    <a:pt x="1539" y="171"/>
                    <a:pt x="1587" y="114"/>
                    <a:pt x="1638" y="82"/>
                  </a:cubicBezTo>
                  <a:cubicBezTo>
                    <a:pt x="1689" y="50"/>
                    <a:pt x="1761" y="22"/>
                    <a:pt x="1809" y="13"/>
                  </a:cubicBezTo>
                  <a:cubicBezTo>
                    <a:pt x="1857" y="4"/>
                    <a:pt x="1898" y="21"/>
                    <a:pt x="1926" y="28"/>
                  </a:cubicBezTo>
                  <a:cubicBezTo>
                    <a:pt x="1954" y="35"/>
                    <a:pt x="1967" y="47"/>
                    <a:pt x="1977" y="52"/>
                  </a:cubicBez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691" name="Text Box 7"/>
            <p:cNvSpPr txBox="1"/>
            <p:nvPr/>
          </p:nvSpPr>
          <p:spPr>
            <a:xfrm>
              <a:off x="3486" y="994"/>
              <a:ext cx="235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971550" y="1268413"/>
            <a:ext cx="4062413" cy="2667000"/>
            <a:chOff x="1440" y="240"/>
            <a:chExt cx="2559" cy="1680"/>
          </a:xfrm>
        </p:grpSpPr>
        <p:sp>
          <p:nvSpPr>
            <p:cNvPr id="27686" name="Line 9"/>
            <p:cNvSpPr/>
            <p:nvPr/>
          </p:nvSpPr>
          <p:spPr>
            <a:xfrm flipV="1">
              <a:off x="1879" y="240"/>
              <a:ext cx="0" cy="1680"/>
            </a:xfrm>
            <a:prstGeom prst="line">
              <a:avLst/>
            </a:prstGeom>
            <a:ln w="19050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87" name="Line 10"/>
            <p:cNvSpPr/>
            <p:nvPr/>
          </p:nvSpPr>
          <p:spPr>
            <a:xfrm flipV="1">
              <a:off x="1440" y="1358"/>
              <a:ext cx="2429" cy="7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88" name="Text Box 11"/>
            <p:cNvSpPr txBox="1"/>
            <p:nvPr/>
          </p:nvSpPr>
          <p:spPr>
            <a:xfrm>
              <a:off x="3611" y="1323"/>
              <a:ext cx="38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9" name="Text Box 12"/>
            <p:cNvSpPr txBox="1"/>
            <p:nvPr/>
          </p:nvSpPr>
          <p:spPr>
            <a:xfrm>
              <a:off x="1591" y="1375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1247775" y="2032000"/>
            <a:ext cx="3614738" cy="1682750"/>
            <a:chOff x="1603" y="736"/>
            <a:chExt cx="2277" cy="1060"/>
          </a:xfrm>
        </p:grpSpPr>
        <p:sp>
          <p:nvSpPr>
            <p:cNvPr id="27684" name="Freeform 14"/>
            <p:cNvSpPr/>
            <p:nvPr/>
          </p:nvSpPr>
          <p:spPr>
            <a:xfrm>
              <a:off x="1603" y="928"/>
              <a:ext cx="1944" cy="868"/>
            </a:xfrm>
            <a:custGeom>
              <a:avLst/>
              <a:gdLst>
                <a:gd name="txL" fmla="*/ 0 w 1944"/>
                <a:gd name="txT" fmla="*/ 0 h 868"/>
                <a:gd name="txR" fmla="*/ 1944 w 1944"/>
                <a:gd name="txB" fmla="*/ 868 h 868"/>
              </a:gdLst>
              <a:ahLst/>
              <a:cxnLst>
                <a:cxn ang="0">
                  <a:pos x="0" y="440"/>
                </a:cxn>
                <a:cxn ang="0">
                  <a:pos x="86" y="286"/>
                </a:cxn>
                <a:cxn ang="0">
                  <a:pos x="161" y="162"/>
                </a:cxn>
                <a:cxn ang="0">
                  <a:pos x="256" y="53"/>
                </a:cxn>
                <a:cxn ang="0">
                  <a:pos x="364" y="2"/>
                </a:cxn>
                <a:cxn ang="0">
                  <a:pos x="498" y="64"/>
                </a:cxn>
                <a:cxn ang="0">
                  <a:pos x="632" y="246"/>
                </a:cxn>
                <a:cxn ang="0">
                  <a:pos x="732" y="430"/>
                </a:cxn>
                <a:cxn ang="0">
                  <a:pos x="845" y="628"/>
                </a:cxn>
                <a:cxn ang="0">
                  <a:pos x="956" y="788"/>
                </a:cxn>
                <a:cxn ang="0">
                  <a:pos x="1110" y="862"/>
                </a:cxn>
                <a:cxn ang="0">
                  <a:pos x="1275" y="747"/>
                </a:cxn>
                <a:cxn ang="0">
                  <a:pos x="1463" y="442"/>
                </a:cxn>
                <a:cxn ang="0">
                  <a:pos x="1550" y="277"/>
                </a:cxn>
                <a:cxn ang="0">
                  <a:pos x="1702" y="67"/>
                </a:cxn>
                <a:cxn ang="0">
                  <a:pos x="1828" y="5"/>
                </a:cxn>
                <a:cxn ang="0">
                  <a:pos x="1944" y="53"/>
                </a:cxn>
              </a:cxnLst>
              <a:rect l="txL" t="txT" r="txR" b="txB"/>
              <a:pathLst>
                <a:path w="1944" h="868">
                  <a:moveTo>
                    <a:pt x="0" y="440"/>
                  </a:moveTo>
                  <a:cubicBezTo>
                    <a:pt x="14" y="413"/>
                    <a:pt x="59" y="332"/>
                    <a:pt x="86" y="286"/>
                  </a:cubicBezTo>
                  <a:cubicBezTo>
                    <a:pt x="113" y="240"/>
                    <a:pt x="133" y="201"/>
                    <a:pt x="161" y="162"/>
                  </a:cubicBezTo>
                  <a:cubicBezTo>
                    <a:pt x="189" y="123"/>
                    <a:pt x="223" y="79"/>
                    <a:pt x="256" y="53"/>
                  </a:cubicBezTo>
                  <a:cubicBezTo>
                    <a:pt x="290" y="26"/>
                    <a:pt x="324" y="0"/>
                    <a:pt x="364" y="2"/>
                  </a:cubicBezTo>
                  <a:cubicBezTo>
                    <a:pt x="405" y="5"/>
                    <a:pt x="453" y="24"/>
                    <a:pt x="498" y="64"/>
                  </a:cubicBezTo>
                  <a:cubicBezTo>
                    <a:pt x="543" y="105"/>
                    <a:pt x="593" y="185"/>
                    <a:pt x="632" y="246"/>
                  </a:cubicBezTo>
                  <a:cubicBezTo>
                    <a:pt x="670" y="306"/>
                    <a:pt x="696" y="366"/>
                    <a:pt x="732" y="430"/>
                  </a:cubicBezTo>
                  <a:cubicBezTo>
                    <a:pt x="768" y="493"/>
                    <a:pt x="808" y="568"/>
                    <a:pt x="845" y="628"/>
                  </a:cubicBezTo>
                  <a:cubicBezTo>
                    <a:pt x="883" y="687"/>
                    <a:pt x="912" y="749"/>
                    <a:pt x="956" y="788"/>
                  </a:cubicBezTo>
                  <a:cubicBezTo>
                    <a:pt x="1000" y="827"/>
                    <a:pt x="1057" y="868"/>
                    <a:pt x="1110" y="862"/>
                  </a:cubicBezTo>
                  <a:cubicBezTo>
                    <a:pt x="1164" y="855"/>
                    <a:pt x="1216" y="817"/>
                    <a:pt x="1275" y="747"/>
                  </a:cubicBezTo>
                  <a:cubicBezTo>
                    <a:pt x="1334" y="677"/>
                    <a:pt x="1417" y="520"/>
                    <a:pt x="1463" y="442"/>
                  </a:cubicBezTo>
                  <a:cubicBezTo>
                    <a:pt x="1508" y="364"/>
                    <a:pt x="1511" y="339"/>
                    <a:pt x="1550" y="277"/>
                  </a:cubicBezTo>
                  <a:cubicBezTo>
                    <a:pt x="1590" y="215"/>
                    <a:pt x="1656" y="112"/>
                    <a:pt x="1702" y="67"/>
                  </a:cubicBezTo>
                  <a:cubicBezTo>
                    <a:pt x="1748" y="21"/>
                    <a:pt x="1788" y="7"/>
                    <a:pt x="1828" y="5"/>
                  </a:cubicBezTo>
                  <a:cubicBezTo>
                    <a:pt x="1869" y="2"/>
                    <a:pt x="1920" y="43"/>
                    <a:pt x="1944" y="53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685" name="Text Box 15"/>
            <p:cNvSpPr txBox="1"/>
            <p:nvPr/>
          </p:nvSpPr>
          <p:spPr>
            <a:xfrm>
              <a:off x="3559" y="736"/>
              <a:ext cx="32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1228725" y="1549400"/>
            <a:ext cx="3646488" cy="1463675"/>
            <a:chOff x="1591" y="432"/>
            <a:chExt cx="2297" cy="922"/>
          </a:xfrm>
        </p:grpSpPr>
        <p:sp>
          <p:nvSpPr>
            <p:cNvPr id="27681" name="Freeform 17"/>
            <p:cNvSpPr/>
            <p:nvPr/>
          </p:nvSpPr>
          <p:spPr>
            <a:xfrm flipH="1" flipV="1">
              <a:off x="1591" y="480"/>
              <a:ext cx="912" cy="874"/>
            </a:xfrm>
            <a:custGeom>
              <a:avLst/>
              <a:gdLst>
                <a:gd name="txL" fmla="*/ 0 w 1852"/>
                <a:gd name="txT" fmla="*/ 0 h 874"/>
                <a:gd name="txR" fmla="*/ 1852 w 1852"/>
                <a:gd name="txB" fmla="*/ 874 h 874"/>
              </a:gdLst>
              <a:ahLst/>
              <a:cxnLst>
                <a:cxn ang="0">
                  <a:pos x="0" y="446"/>
                </a:cxn>
                <a:cxn ang="0">
                  <a:pos x="42" y="292"/>
                </a:cxn>
                <a:cxn ang="0">
                  <a:pos x="79" y="168"/>
                </a:cxn>
                <a:cxn ang="0">
                  <a:pos x="126" y="59"/>
                </a:cxn>
                <a:cxn ang="0">
                  <a:pos x="179" y="8"/>
                </a:cxn>
                <a:cxn ang="0">
                  <a:pos x="245" y="70"/>
                </a:cxn>
                <a:cxn ang="0">
                  <a:pos x="311" y="252"/>
                </a:cxn>
                <a:cxn ang="0">
                  <a:pos x="360" y="436"/>
                </a:cxn>
                <a:cxn ang="0">
                  <a:pos x="416" y="634"/>
                </a:cxn>
                <a:cxn ang="0">
                  <a:pos x="471" y="794"/>
                </a:cxn>
                <a:cxn ang="0">
                  <a:pos x="547" y="868"/>
                </a:cxn>
                <a:cxn ang="0">
                  <a:pos x="628" y="753"/>
                </a:cxn>
                <a:cxn ang="0">
                  <a:pos x="720" y="448"/>
                </a:cxn>
                <a:cxn ang="0">
                  <a:pos x="763" y="283"/>
                </a:cxn>
                <a:cxn ang="0">
                  <a:pos x="838" y="73"/>
                </a:cxn>
                <a:cxn ang="0">
                  <a:pos x="900" y="11"/>
                </a:cxn>
                <a:cxn ang="0">
                  <a:pos x="910" y="6"/>
                </a:cxn>
              </a:cxnLst>
              <a:rect l="txL" t="txT" r="txR" b="txB"/>
              <a:pathLst>
                <a:path w="1852" h="874">
                  <a:moveTo>
                    <a:pt x="0" y="446"/>
                  </a:moveTo>
                  <a:cubicBezTo>
                    <a:pt x="14" y="419"/>
                    <a:pt x="59" y="338"/>
                    <a:pt x="86" y="292"/>
                  </a:cubicBezTo>
                  <a:cubicBezTo>
                    <a:pt x="113" y="246"/>
                    <a:pt x="133" y="207"/>
                    <a:pt x="161" y="168"/>
                  </a:cubicBezTo>
                  <a:cubicBezTo>
                    <a:pt x="189" y="129"/>
                    <a:pt x="223" y="85"/>
                    <a:pt x="256" y="59"/>
                  </a:cubicBezTo>
                  <a:cubicBezTo>
                    <a:pt x="290" y="32"/>
                    <a:pt x="324" y="6"/>
                    <a:pt x="364" y="8"/>
                  </a:cubicBezTo>
                  <a:cubicBezTo>
                    <a:pt x="405" y="11"/>
                    <a:pt x="453" y="30"/>
                    <a:pt x="498" y="70"/>
                  </a:cubicBezTo>
                  <a:cubicBezTo>
                    <a:pt x="543" y="111"/>
                    <a:pt x="593" y="191"/>
                    <a:pt x="632" y="252"/>
                  </a:cubicBezTo>
                  <a:cubicBezTo>
                    <a:pt x="670" y="312"/>
                    <a:pt x="696" y="372"/>
                    <a:pt x="732" y="436"/>
                  </a:cubicBezTo>
                  <a:cubicBezTo>
                    <a:pt x="768" y="499"/>
                    <a:pt x="808" y="574"/>
                    <a:pt x="845" y="634"/>
                  </a:cubicBezTo>
                  <a:cubicBezTo>
                    <a:pt x="883" y="693"/>
                    <a:pt x="912" y="755"/>
                    <a:pt x="956" y="794"/>
                  </a:cubicBezTo>
                  <a:cubicBezTo>
                    <a:pt x="1000" y="833"/>
                    <a:pt x="1057" y="874"/>
                    <a:pt x="1110" y="868"/>
                  </a:cubicBezTo>
                  <a:cubicBezTo>
                    <a:pt x="1164" y="861"/>
                    <a:pt x="1216" y="823"/>
                    <a:pt x="1275" y="753"/>
                  </a:cubicBezTo>
                  <a:cubicBezTo>
                    <a:pt x="1334" y="683"/>
                    <a:pt x="1417" y="526"/>
                    <a:pt x="1463" y="448"/>
                  </a:cubicBezTo>
                  <a:cubicBezTo>
                    <a:pt x="1508" y="370"/>
                    <a:pt x="1511" y="345"/>
                    <a:pt x="1550" y="283"/>
                  </a:cubicBezTo>
                  <a:cubicBezTo>
                    <a:pt x="1590" y="221"/>
                    <a:pt x="1656" y="118"/>
                    <a:pt x="1702" y="73"/>
                  </a:cubicBezTo>
                  <a:cubicBezTo>
                    <a:pt x="1748" y="27"/>
                    <a:pt x="1804" y="22"/>
                    <a:pt x="1828" y="11"/>
                  </a:cubicBezTo>
                  <a:cubicBezTo>
                    <a:pt x="1852" y="0"/>
                    <a:pt x="1844" y="7"/>
                    <a:pt x="1848" y="6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682" name="Freeform 18"/>
            <p:cNvSpPr/>
            <p:nvPr/>
          </p:nvSpPr>
          <p:spPr>
            <a:xfrm>
              <a:off x="2497" y="528"/>
              <a:ext cx="1014" cy="820"/>
            </a:xfrm>
            <a:custGeom>
              <a:avLst/>
              <a:gdLst>
                <a:gd name="txL" fmla="*/ 0 w 1944"/>
                <a:gd name="txT" fmla="*/ 0 h 868"/>
                <a:gd name="txR" fmla="*/ 1944 w 1944"/>
                <a:gd name="txB" fmla="*/ 868 h 868"/>
              </a:gdLst>
              <a:ahLst/>
              <a:cxnLst>
                <a:cxn ang="0">
                  <a:pos x="0" y="416"/>
                </a:cxn>
                <a:cxn ang="0">
                  <a:pos x="45" y="270"/>
                </a:cxn>
                <a:cxn ang="0">
                  <a:pos x="84" y="153"/>
                </a:cxn>
                <a:cxn ang="0">
                  <a:pos x="134" y="50"/>
                </a:cxn>
                <a:cxn ang="0">
                  <a:pos x="190" y="2"/>
                </a:cxn>
                <a:cxn ang="0">
                  <a:pos x="260" y="60"/>
                </a:cxn>
                <a:cxn ang="0">
                  <a:pos x="330" y="232"/>
                </a:cxn>
                <a:cxn ang="0">
                  <a:pos x="382" y="406"/>
                </a:cxn>
                <a:cxn ang="0">
                  <a:pos x="441" y="593"/>
                </a:cxn>
                <a:cxn ang="0">
                  <a:pos x="499" y="744"/>
                </a:cxn>
                <a:cxn ang="0">
                  <a:pos x="579" y="814"/>
                </a:cxn>
                <a:cxn ang="0">
                  <a:pos x="665" y="706"/>
                </a:cxn>
                <a:cxn ang="0">
                  <a:pos x="763" y="418"/>
                </a:cxn>
                <a:cxn ang="0">
                  <a:pos x="808" y="262"/>
                </a:cxn>
                <a:cxn ang="0">
                  <a:pos x="888" y="63"/>
                </a:cxn>
                <a:cxn ang="0">
                  <a:pos x="953" y="5"/>
                </a:cxn>
                <a:cxn ang="0">
                  <a:pos x="1014" y="50"/>
                </a:cxn>
              </a:cxnLst>
              <a:rect l="txL" t="txT" r="txR" b="txB"/>
              <a:pathLst>
                <a:path w="1944" h="868">
                  <a:moveTo>
                    <a:pt x="0" y="440"/>
                  </a:moveTo>
                  <a:cubicBezTo>
                    <a:pt x="14" y="413"/>
                    <a:pt x="59" y="332"/>
                    <a:pt x="86" y="286"/>
                  </a:cubicBezTo>
                  <a:cubicBezTo>
                    <a:pt x="113" y="240"/>
                    <a:pt x="133" y="201"/>
                    <a:pt x="161" y="162"/>
                  </a:cubicBezTo>
                  <a:cubicBezTo>
                    <a:pt x="189" y="123"/>
                    <a:pt x="223" y="79"/>
                    <a:pt x="256" y="53"/>
                  </a:cubicBezTo>
                  <a:cubicBezTo>
                    <a:pt x="290" y="26"/>
                    <a:pt x="324" y="0"/>
                    <a:pt x="364" y="2"/>
                  </a:cubicBezTo>
                  <a:cubicBezTo>
                    <a:pt x="405" y="5"/>
                    <a:pt x="453" y="24"/>
                    <a:pt x="498" y="64"/>
                  </a:cubicBezTo>
                  <a:cubicBezTo>
                    <a:pt x="543" y="105"/>
                    <a:pt x="593" y="185"/>
                    <a:pt x="632" y="246"/>
                  </a:cubicBezTo>
                  <a:cubicBezTo>
                    <a:pt x="670" y="306"/>
                    <a:pt x="696" y="366"/>
                    <a:pt x="732" y="430"/>
                  </a:cubicBezTo>
                  <a:cubicBezTo>
                    <a:pt x="768" y="493"/>
                    <a:pt x="808" y="568"/>
                    <a:pt x="845" y="628"/>
                  </a:cubicBezTo>
                  <a:cubicBezTo>
                    <a:pt x="883" y="687"/>
                    <a:pt x="912" y="749"/>
                    <a:pt x="956" y="788"/>
                  </a:cubicBezTo>
                  <a:cubicBezTo>
                    <a:pt x="1000" y="827"/>
                    <a:pt x="1057" y="868"/>
                    <a:pt x="1110" y="862"/>
                  </a:cubicBezTo>
                  <a:cubicBezTo>
                    <a:pt x="1164" y="855"/>
                    <a:pt x="1216" y="817"/>
                    <a:pt x="1275" y="747"/>
                  </a:cubicBezTo>
                  <a:cubicBezTo>
                    <a:pt x="1334" y="677"/>
                    <a:pt x="1417" y="520"/>
                    <a:pt x="1463" y="442"/>
                  </a:cubicBezTo>
                  <a:cubicBezTo>
                    <a:pt x="1508" y="364"/>
                    <a:pt x="1511" y="339"/>
                    <a:pt x="1550" y="277"/>
                  </a:cubicBezTo>
                  <a:cubicBezTo>
                    <a:pt x="1590" y="215"/>
                    <a:pt x="1656" y="112"/>
                    <a:pt x="1702" y="67"/>
                  </a:cubicBezTo>
                  <a:cubicBezTo>
                    <a:pt x="1748" y="21"/>
                    <a:pt x="1788" y="7"/>
                    <a:pt x="1828" y="5"/>
                  </a:cubicBezTo>
                  <a:cubicBezTo>
                    <a:pt x="1869" y="2"/>
                    <a:pt x="1920" y="43"/>
                    <a:pt x="1944" y="53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683" name="Text Box 19"/>
            <p:cNvSpPr txBox="1"/>
            <p:nvPr/>
          </p:nvSpPr>
          <p:spPr>
            <a:xfrm>
              <a:off x="3509" y="432"/>
              <a:ext cx="37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20"/>
          <p:cNvGrpSpPr/>
          <p:nvPr/>
        </p:nvGrpSpPr>
        <p:grpSpPr>
          <a:xfrm>
            <a:off x="5364163" y="692150"/>
            <a:ext cx="2087562" cy="2003425"/>
            <a:chOff x="4080" y="2113"/>
            <a:chExt cx="1065" cy="1103"/>
          </a:xfrm>
        </p:grpSpPr>
        <p:sp>
          <p:nvSpPr>
            <p:cNvPr id="27676" name="Freeform 21"/>
            <p:cNvSpPr/>
            <p:nvPr/>
          </p:nvSpPr>
          <p:spPr>
            <a:xfrm>
              <a:off x="4128" y="2592"/>
              <a:ext cx="624" cy="624"/>
            </a:xfrm>
            <a:custGeom>
              <a:avLst/>
              <a:gdLst>
                <a:gd name="txL" fmla="*/ 0 w 624"/>
                <a:gd name="txT" fmla="*/ 0 h 624"/>
                <a:gd name="txR" fmla="*/ 624 w 624"/>
                <a:gd name="txB" fmla="*/ 624 h 624"/>
              </a:gdLst>
              <a:ahLst/>
              <a:cxnLst>
                <a:cxn ang="0">
                  <a:pos x="0" y="624"/>
                </a:cxn>
                <a:cxn ang="0">
                  <a:pos x="624" y="0"/>
                </a:cxn>
              </a:cxnLst>
              <a:rect l="txL" t="txT" r="txR" b="txB"/>
              <a:pathLst>
                <a:path w="624" h="624">
                  <a:moveTo>
                    <a:pt x="0" y="624"/>
                  </a:moveTo>
                  <a:lnTo>
                    <a:pt x="624" y="0"/>
                  </a:ln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677" name="Line 22"/>
            <p:cNvSpPr/>
            <p:nvPr/>
          </p:nvSpPr>
          <p:spPr>
            <a:xfrm flipV="1">
              <a:off x="4080" y="2400"/>
              <a:ext cx="816" cy="81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27653" name="Object 23"/>
            <p:cNvGraphicFramePr/>
            <p:nvPr/>
          </p:nvGraphicFramePr>
          <p:xfrm>
            <a:off x="4848" y="2113"/>
            <a:ext cx="297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4" imgW="241300" imgH="266065" progId="Equation.3">
                    <p:embed/>
                  </p:oleObj>
                </mc:Choice>
                <mc:Fallback>
                  <p:oleObj name="" r:id="rId4" imgW="241300" imgH="266065" progId="Equation.3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48" y="2113"/>
                          <a:ext cx="297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4" name="Object 24"/>
            <p:cNvGraphicFramePr/>
            <p:nvPr/>
          </p:nvGraphicFramePr>
          <p:xfrm>
            <a:off x="4752" y="2528"/>
            <a:ext cx="164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6" imgW="127000" imgH="215265" progId="Equation.3">
                    <p:embed/>
                  </p:oleObj>
                </mc:Choice>
                <mc:Fallback>
                  <p:oleObj name="" r:id="rId6" imgW="127000" imgH="215265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52" y="2528"/>
                          <a:ext cx="164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8" name="Line 25"/>
            <p:cNvSpPr/>
            <p:nvPr/>
          </p:nvSpPr>
          <p:spPr>
            <a:xfrm>
              <a:off x="4080" y="3216"/>
              <a:ext cx="912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9" name="Freeform 26"/>
            <p:cNvSpPr/>
            <p:nvPr/>
          </p:nvSpPr>
          <p:spPr>
            <a:xfrm>
              <a:off x="4257" y="3087"/>
              <a:ext cx="82" cy="129"/>
            </a:xfrm>
            <a:custGeom>
              <a:avLst/>
              <a:gdLst>
                <a:gd name="txL" fmla="*/ 0 w 82"/>
                <a:gd name="txT" fmla="*/ 0 h 129"/>
                <a:gd name="txR" fmla="*/ 82 w 82"/>
                <a:gd name="txB" fmla="*/ 129 h 129"/>
              </a:gdLst>
              <a:ahLst/>
              <a:cxnLst>
                <a:cxn ang="0">
                  <a:pos x="0" y="0"/>
                </a:cxn>
                <a:cxn ang="0">
                  <a:pos x="39" y="24"/>
                </a:cxn>
                <a:cxn ang="0">
                  <a:pos x="75" y="72"/>
                </a:cxn>
                <a:cxn ang="0">
                  <a:pos x="81" y="129"/>
                </a:cxn>
              </a:cxnLst>
              <a:rect l="txL" t="txT" r="txR" b="txB"/>
              <a:pathLst>
                <a:path w="82" h="129">
                  <a:moveTo>
                    <a:pt x="0" y="0"/>
                  </a:moveTo>
                  <a:cubicBezTo>
                    <a:pt x="6" y="4"/>
                    <a:pt x="26" y="12"/>
                    <a:pt x="39" y="24"/>
                  </a:cubicBezTo>
                  <a:cubicBezTo>
                    <a:pt x="52" y="36"/>
                    <a:pt x="68" y="54"/>
                    <a:pt x="75" y="72"/>
                  </a:cubicBezTo>
                  <a:cubicBezTo>
                    <a:pt x="82" y="90"/>
                    <a:pt x="80" y="117"/>
                    <a:pt x="81" y="129"/>
                  </a:cubicBezTo>
                </a:path>
              </a:pathLst>
            </a:custGeom>
            <a:noFill/>
            <a:ln w="38100" cap="flat" cmpd="sng">
              <a:solidFill>
                <a:srgbClr val="99FF99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680" name="Text Box 27"/>
            <p:cNvSpPr txBox="1"/>
            <p:nvPr/>
          </p:nvSpPr>
          <p:spPr>
            <a:xfrm>
              <a:off x="4320" y="2880"/>
              <a:ext cx="817" cy="2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7" name="Group 28"/>
          <p:cNvGrpSpPr/>
          <p:nvPr/>
        </p:nvGrpSpPr>
        <p:grpSpPr>
          <a:xfrm>
            <a:off x="923925" y="1873250"/>
            <a:ext cx="4179888" cy="519113"/>
            <a:chOff x="703" y="2292"/>
            <a:chExt cx="2633" cy="327"/>
          </a:xfrm>
        </p:grpSpPr>
        <p:sp>
          <p:nvSpPr>
            <p:cNvPr id="27674" name="Line 29"/>
            <p:cNvSpPr/>
            <p:nvPr/>
          </p:nvSpPr>
          <p:spPr>
            <a:xfrm>
              <a:off x="816" y="2580"/>
              <a:ext cx="2520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7675" name="Text Box 30"/>
            <p:cNvSpPr txBox="1"/>
            <p:nvPr/>
          </p:nvSpPr>
          <p:spPr>
            <a:xfrm>
              <a:off x="703" y="2292"/>
              <a:ext cx="51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223" name="Text Box 31" descr="羊皮纸"/>
          <p:cNvSpPr txBox="1"/>
          <p:nvPr/>
        </p:nvSpPr>
        <p:spPr>
          <a:xfrm>
            <a:off x="971550" y="5157788"/>
            <a:ext cx="6913563" cy="11176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</a:rPr>
              <a:t>    </a:t>
            </a:r>
            <a:r>
              <a:rPr lang="zh-CN" altLang="en-US" dirty="0">
                <a:latin typeface="楷体_GB2312" pitchFamily="49" charset="-122"/>
              </a:rPr>
              <a:t>瞬时功率以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dirty="0">
                <a:latin typeface="楷体_GB2312" pitchFamily="49" charset="-122"/>
                <a:sym typeface="Symbol" panose="05050102010706020507" pitchFamily="18" charset="2"/>
              </a:rPr>
              <a:t>交变，始终大于零，表明电阻始终吸收功率。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8224" name="Object 32"/>
          <p:cNvGraphicFramePr/>
          <p:nvPr/>
        </p:nvGraphicFramePr>
        <p:xfrm>
          <a:off x="4154488" y="3789363"/>
          <a:ext cx="441325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8" imgW="1828800" imgH="279400" progId="Equation.3">
                  <p:embed/>
                </p:oleObj>
              </mc:Choice>
              <mc:Fallback>
                <p:oleObj name="" r:id="rId8" imgW="1828800" imgH="2794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54488" y="3789363"/>
                        <a:ext cx="4413250" cy="668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5" name="Object 33"/>
          <p:cNvGraphicFramePr/>
          <p:nvPr/>
        </p:nvGraphicFramePr>
        <p:xfrm>
          <a:off x="3054350" y="4508500"/>
          <a:ext cx="41767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10" imgW="1726565" imgH="241300" progId="Equation.3">
                  <p:embed/>
                </p:oleObj>
              </mc:Choice>
              <mc:Fallback>
                <p:oleObj name="" r:id="rId10" imgW="1726565" imgH="24130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54350" y="4508500"/>
                        <a:ext cx="4176713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6" name="AutoShape 34" descr="羊皮纸"/>
          <p:cNvSpPr/>
          <p:nvPr/>
        </p:nvSpPr>
        <p:spPr>
          <a:xfrm>
            <a:off x="7956550" y="908050"/>
            <a:ext cx="647700" cy="1512888"/>
          </a:xfrm>
          <a:prstGeom prst="wedgeRoundRectCallout">
            <a:avLst>
              <a:gd name="adj1" fmla="val -175736"/>
              <a:gd name="adj2" fmla="val 35102"/>
              <a:gd name="adj3" fmla="val 16667"/>
            </a:avLst>
          </a:prstGeom>
          <a:blipFill rotWithShape="1">
            <a:blip r:embed="rId12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同相位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7665" name="Group 3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7672" name="Picture 40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73" name="Text Box 4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7666" name="Group 4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7670" name="Picture 43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71" name="Text Box 4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7667" name="Group 51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7668" name="Picture 52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69" name="Text Box 5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nimBg="1"/>
      <p:bldP spid="8196" grpId="0" animBg="1"/>
      <p:bldP spid="8223" grpId="0"/>
      <p:bldP spid="822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1" name="Text Box 3"/>
          <p:cNvSpPr txBox="1"/>
          <p:nvPr/>
        </p:nvSpPr>
        <p:spPr>
          <a:xfrm>
            <a:off x="2241550" y="1196975"/>
            <a:ext cx="16129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时域形式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90" name="Text Box 22"/>
          <p:cNvSpPr txBox="1"/>
          <p:nvPr/>
        </p:nvSpPr>
        <p:spPr>
          <a:xfrm>
            <a:off x="2268538" y="2997200"/>
            <a:ext cx="16129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相量形式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192" name="Object 24"/>
          <p:cNvGraphicFramePr/>
          <p:nvPr/>
        </p:nvGraphicFramePr>
        <p:xfrm>
          <a:off x="4398963" y="1125538"/>
          <a:ext cx="377031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1" imgW="1663700" imgH="279400" progId="Equation.3">
                  <p:embed/>
                </p:oleObj>
              </mc:Choice>
              <mc:Fallback>
                <p:oleObj name="" r:id="rId1" imgW="1663700" imgH="2794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98963" y="1125538"/>
                        <a:ext cx="3770312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3" name="Object 25"/>
          <p:cNvGraphicFramePr/>
          <p:nvPr/>
        </p:nvGraphicFramePr>
        <p:xfrm>
          <a:off x="2555875" y="1700213"/>
          <a:ext cx="6081713" cy="172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3" imgW="2818130" imgH="799465" progId="Equation.3">
                  <p:embed/>
                </p:oleObj>
              </mc:Choice>
              <mc:Fallback>
                <p:oleObj name="" r:id="rId3" imgW="2818130" imgH="799465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55875" y="1700213"/>
                        <a:ext cx="6081713" cy="1722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4" name="Text Box 26" descr="绿色大理石"/>
          <p:cNvSpPr txBox="1"/>
          <p:nvPr/>
        </p:nvSpPr>
        <p:spPr>
          <a:xfrm>
            <a:off x="539750" y="5157788"/>
            <a:ext cx="1612900" cy="519112"/>
          </a:xfrm>
          <a:prstGeom prst="rect">
            <a:avLst/>
          </a:prstGeom>
          <a:blipFill rotWithShape="1">
            <a:blip r:embed="rId5"/>
          </a:blipFill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相量模型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22" name="Text Box 54"/>
          <p:cNvSpPr txBox="1"/>
          <p:nvPr/>
        </p:nvSpPr>
        <p:spPr>
          <a:xfrm>
            <a:off x="2268538" y="4349750"/>
            <a:ext cx="2087562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相量关系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223" name="Object 55"/>
          <p:cNvGraphicFramePr/>
          <p:nvPr/>
        </p:nvGraphicFramePr>
        <p:xfrm>
          <a:off x="4356100" y="4221163"/>
          <a:ext cx="3671888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6" imgW="1331595" imgH="266065" progId="Equation.3">
                  <p:embed/>
                </p:oleObj>
              </mc:Choice>
              <mc:Fallback>
                <p:oleObj name="" r:id="rId6" imgW="1331595" imgH="266065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A50021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56100" y="4221163"/>
                        <a:ext cx="3671888" cy="73501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FFFF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29" name="Text Box 61"/>
          <p:cNvSpPr txBox="1"/>
          <p:nvPr/>
        </p:nvSpPr>
        <p:spPr>
          <a:xfrm>
            <a:off x="395288" y="573088"/>
            <a:ext cx="530701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电感元件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VCR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的相量形式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pSp>
        <p:nvGrpSpPr>
          <p:cNvPr id="28685" name="Group 6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8733" name="Picture 70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734" name="Text Box 7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8686" name="Group 7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8731" name="Picture 73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732" name="Text Box 7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" name="Group 80"/>
          <p:cNvGrpSpPr/>
          <p:nvPr/>
        </p:nvGrpSpPr>
        <p:grpSpPr>
          <a:xfrm>
            <a:off x="3082925" y="5084763"/>
            <a:ext cx="5567363" cy="1152525"/>
            <a:chOff x="1882" y="3203"/>
            <a:chExt cx="3507" cy="726"/>
          </a:xfrm>
        </p:grpSpPr>
        <p:sp>
          <p:nvSpPr>
            <p:cNvPr id="28728" name="Text Box 57"/>
            <p:cNvSpPr txBox="1"/>
            <p:nvPr/>
          </p:nvSpPr>
          <p:spPr>
            <a:xfrm>
              <a:off x="1940" y="3203"/>
              <a:ext cx="284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有效值关系</a:t>
              </a:r>
              <a:r>
                <a: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 I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9" name="Text Box 58"/>
            <p:cNvSpPr txBox="1"/>
            <p:nvPr/>
          </p:nvSpPr>
          <p:spPr>
            <a:xfrm>
              <a:off x="1950" y="3552"/>
              <a:ext cx="343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相位关系    </a:t>
              </a:r>
              <a:r>
                <a:rPr lang="zh-CN" altLang="en-US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 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+90°</a:t>
              </a:r>
              <a:r>
                <a:rPr lang="en-US" altLang="zh-CN" sz="24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                  </a:t>
              </a:r>
              <a:endPara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0" name="AutoShape 79"/>
            <p:cNvSpPr/>
            <p:nvPr/>
          </p:nvSpPr>
          <p:spPr>
            <a:xfrm>
              <a:off x="1882" y="3249"/>
              <a:ext cx="45" cy="680"/>
            </a:xfrm>
            <a:prstGeom prst="leftBrace">
              <a:avLst>
                <a:gd name="adj1" fmla="val 125925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8688" name="Group 118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8726" name="Picture 119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727" name="Text Box 12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132"/>
          <p:cNvGrpSpPr/>
          <p:nvPr/>
        </p:nvGrpSpPr>
        <p:grpSpPr>
          <a:xfrm>
            <a:off x="539750" y="3284538"/>
            <a:ext cx="2284413" cy="1608137"/>
            <a:chOff x="340" y="2069"/>
            <a:chExt cx="1439" cy="1013"/>
          </a:xfrm>
        </p:grpSpPr>
        <p:sp>
          <p:nvSpPr>
            <p:cNvPr id="28711" name="Freeform 99"/>
            <p:cNvSpPr/>
            <p:nvPr/>
          </p:nvSpPr>
          <p:spPr>
            <a:xfrm>
              <a:off x="1086" y="2332"/>
              <a:ext cx="1" cy="168"/>
            </a:xfrm>
            <a:custGeom>
              <a:avLst/>
              <a:gdLst>
                <a:gd name="txL" fmla="*/ 0 w 1"/>
                <a:gd name="txT" fmla="*/ 0 h 168"/>
                <a:gd name="txR" fmla="*/ 1 w 1"/>
                <a:gd name="txB" fmla="*/ 168 h 168"/>
              </a:gdLst>
              <a:ahLst/>
              <a:cxnLst>
                <a:cxn ang="0">
                  <a:pos x="0" y="168"/>
                </a:cxn>
                <a:cxn ang="0">
                  <a:pos x="0" y="0"/>
                </a:cxn>
              </a:cxnLst>
              <a:rect l="txL" t="txT" r="txR" b="txB"/>
              <a:pathLst>
                <a:path w="1" h="168">
                  <a:moveTo>
                    <a:pt x="0" y="168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12" name="Freeform 100"/>
            <p:cNvSpPr/>
            <p:nvPr/>
          </p:nvSpPr>
          <p:spPr>
            <a:xfrm>
              <a:off x="1080" y="2840"/>
              <a:ext cx="44" cy="218"/>
            </a:xfrm>
            <a:custGeom>
              <a:avLst/>
              <a:gdLst>
                <a:gd name="txL" fmla="*/ 0 w 1"/>
                <a:gd name="txT" fmla="*/ 0 h 174"/>
                <a:gd name="txR" fmla="*/ 1 w 1"/>
                <a:gd name="txB" fmla="*/ 174 h 174"/>
              </a:gdLst>
              <a:ahLst/>
              <a:cxnLst>
                <a:cxn ang="0">
                  <a:pos x="0" y="0"/>
                </a:cxn>
                <a:cxn ang="0">
                  <a:pos x="0" y="218"/>
                </a:cxn>
              </a:cxnLst>
              <a:rect l="txL" t="txT" r="txR" b="txB"/>
              <a:pathLst>
                <a:path w="1" h="174">
                  <a:moveTo>
                    <a:pt x="0" y="0"/>
                  </a:moveTo>
                  <a:lnTo>
                    <a:pt x="0" y="174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13" name="Freeform 101"/>
            <p:cNvSpPr/>
            <p:nvPr/>
          </p:nvSpPr>
          <p:spPr>
            <a:xfrm>
              <a:off x="510" y="2332"/>
              <a:ext cx="576" cy="6"/>
            </a:xfrm>
            <a:custGeom>
              <a:avLst/>
              <a:gdLst>
                <a:gd name="txL" fmla="*/ 0 w 576"/>
                <a:gd name="txT" fmla="*/ 0 h 6"/>
                <a:gd name="txR" fmla="*/ 576 w 576"/>
                <a:gd name="txB" fmla="*/ 6 h 6"/>
              </a:gdLst>
              <a:ahLst/>
              <a:cxnLst>
                <a:cxn ang="0">
                  <a:pos x="0" y="6"/>
                </a:cxn>
                <a:cxn ang="0">
                  <a:pos x="576" y="0"/>
                </a:cxn>
              </a:cxnLst>
              <a:rect l="txL" t="txT" r="txR" b="txB"/>
              <a:pathLst>
                <a:path w="576" h="6">
                  <a:moveTo>
                    <a:pt x="0" y="6"/>
                  </a:moveTo>
                  <a:lnTo>
                    <a:pt x="576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14" name="Freeform 102"/>
            <p:cNvSpPr/>
            <p:nvPr/>
          </p:nvSpPr>
          <p:spPr>
            <a:xfrm>
              <a:off x="507" y="3052"/>
              <a:ext cx="570" cy="3"/>
            </a:xfrm>
            <a:custGeom>
              <a:avLst/>
              <a:gdLst>
                <a:gd name="txL" fmla="*/ 0 w 570"/>
                <a:gd name="txT" fmla="*/ 0 h 3"/>
                <a:gd name="txR" fmla="*/ 570 w 570"/>
                <a:gd name="txB" fmla="*/ 3 h 3"/>
              </a:gdLst>
              <a:ahLst/>
              <a:cxnLst>
                <a:cxn ang="0">
                  <a:pos x="0" y="3"/>
                </a:cxn>
                <a:cxn ang="0">
                  <a:pos x="570" y="0"/>
                </a:cxn>
              </a:cxnLst>
              <a:rect l="txL" t="txT" r="txR" b="txB"/>
              <a:pathLst>
                <a:path w="570" h="3">
                  <a:moveTo>
                    <a:pt x="0" y="3"/>
                  </a:moveTo>
                  <a:lnTo>
                    <a:pt x="570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15" name="Line 103"/>
            <p:cNvSpPr/>
            <p:nvPr/>
          </p:nvSpPr>
          <p:spPr>
            <a:xfrm>
              <a:off x="612" y="2341"/>
              <a:ext cx="28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716" name="Text Box 104"/>
            <p:cNvSpPr txBox="1"/>
            <p:nvPr/>
          </p:nvSpPr>
          <p:spPr>
            <a:xfrm>
              <a:off x="1156" y="2522"/>
              <a:ext cx="62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7" name="Oval 105"/>
            <p:cNvSpPr/>
            <p:nvPr/>
          </p:nvSpPr>
          <p:spPr>
            <a:xfrm>
              <a:off x="456" y="3028"/>
              <a:ext cx="48" cy="48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18" name="Oval 106"/>
            <p:cNvSpPr/>
            <p:nvPr/>
          </p:nvSpPr>
          <p:spPr>
            <a:xfrm>
              <a:off x="456" y="2308"/>
              <a:ext cx="48" cy="48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19" name="Text Box 107"/>
            <p:cNvSpPr txBox="1"/>
            <p:nvPr/>
          </p:nvSpPr>
          <p:spPr>
            <a:xfrm>
              <a:off x="375" y="2324"/>
              <a:ext cx="2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0" name="Text Box 108"/>
            <p:cNvSpPr txBox="1"/>
            <p:nvPr/>
          </p:nvSpPr>
          <p:spPr>
            <a:xfrm>
              <a:off x="388" y="275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8678" name="Object 109"/>
            <p:cNvGraphicFramePr/>
            <p:nvPr/>
          </p:nvGraphicFramePr>
          <p:xfrm>
            <a:off x="340" y="2549"/>
            <a:ext cx="282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3" name="" r:id="rId9" imgW="241300" imgH="292100" progId="Equation.3">
                    <p:embed/>
                  </p:oleObj>
                </mc:Choice>
                <mc:Fallback>
                  <p:oleObj name="" r:id="rId9" imgW="241300" imgH="292100" progId="Equation.3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0" y="2549"/>
                          <a:ext cx="282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9" name="Object 110"/>
            <p:cNvGraphicFramePr/>
            <p:nvPr/>
          </p:nvGraphicFramePr>
          <p:xfrm>
            <a:off x="657" y="2069"/>
            <a:ext cx="16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" name="" r:id="rId11" imgW="127000" imgH="215265" progId="Equation.3">
                    <p:embed/>
                  </p:oleObj>
                </mc:Choice>
                <mc:Fallback>
                  <p:oleObj name="" r:id="rId11" imgW="127000" imgH="215265" progId="Equation.3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57" y="2069"/>
                          <a:ext cx="16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721" name="Group 121"/>
            <p:cNvGrpSpPr/>
            <p:nvPr/>
          </p:nvGrpSpPr>
          <p:grpSpPr>
            <a:xfrm rot="10800000">
              <a:off x="1075" y="2487"/>
              <a:ext cx="90" cy="363"/>
              <a:chOff x="1565" y="2614"/>
              <a:chExt cx="90" cy="486"/>
            </a:xfrm>
          </p:grpSpPr>
          <p:sp>
            <p:nvSpPr>
              <p:cNvPr id="28722" name="Arc 122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23" name="Arc 123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24" name="Arc 124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25" name="Arc 125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Group 131"/>
          <p:cNvGrpSpPr/>
          <p:nvPr/>
        </p:nvGrpSpPr>
        <p:grpSpPr>
          <a:xfrm>
            <a:off x="611188" y="1196975"/>
            <a:ext cx="1679575" cy="1812925"/>
            <a:chOff x="385" y="754"/>
            <a:chExt cx="1058" cy="1142"/>
          </a:xfrm>
        </p:grpSpPr>
        <p:sp>
          <p:nvSpPr>
            <p:cNvPr id="28694" name="Freeform 86"/>
            <p:cNvSpPr/>
            <p:nvPr/>
          </p:nvSpPr>
          <p:spPr>
            <a:xfrm>
              <a:off x="1134" y="1117"/>
              <a:ext cx="1" cy="168"/>
            </a:xfrm>
            <a:custGeom>
              <a:avLst/>
              <a:gdLst>
                <a:gd name="txL" fmla="*/ 0 w 1"/>
                <a:gd name="txT" fmla="*/ 0 h 168"/>
                <a:gd name="txR" fmla="*/ 1 w 1"/>
                <a:gd name="txB" fmla="*/ 168 h 168"/>
              </a:gdLst>
              <a:ahLst/>
              <a:cxnLst>
                <a:cxn ang="0">
                  <a:pos x="0" y="168"/>
                </a:cxn>
                <a:cxn ang="0">
                  <a:pos x="0" y="0"/>
                </a:cxn>
              </a:cxnLst>
              <a:rect l="txL" t="txT" r="txR" b="txB"/>
              <a:pathLst>
                <a:path w="1" h="168">
                  <a:moveTo>
                    <a:pt x="0" y="168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695" name="Freeform 87"/>
            <p:cNvSpPr/>
            <p:nvPr/>
          </p:nvSpPr>
          <p:spPr>
            <a:xfrm>
              <a:off x="1128" y="1661"/>
              <a:ext cx="44" cy="211"/>
            </a:xfrm>
            <a:custGeom>
              <a:avLst/>
              <a:gdLst>
                <a:gd name="txL" fmla="*/ 0 w 1"/>
                <a:gd name="txT" fmla="*/ 0 h 174"/>
                <a:gd name="txR" fmla="*/ 1 w 1"/>
                <a:gd name="txB" fmla="*/ 174 h 174"/>
              </a:gdLst>
              <a:ahLst/>
              <a:cxnLst>
                <a:cxn ang="0">
                  <a:pos x="0" y="0"/>
                </a:cxn>
                <a:cxn ang="0">
                  <a:pos x="0" y="211"/>
                </a:cxn>
              </a:cxnLst>
              <a:rect l="txL" t="txT" r="txR" b="txB"/>
              <a:pathLst>
                <a:path w="1" h="174">
                  <a:moveTo>
                    <a:pt x="0" y="0"/>
                  </a:moveTo>
                  <a:lnTo>
                    <a:pt x="0" y="174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696" name="Freeform 88"/>
            <p:cNvSpPr/>
            <p:nvPr/>
          </p:nvSpPr>
          <p:spPr>
            <a:xfrm>
              <a:off x="558" y="1117"/>
              <a:ext cx="576" cy="6"/>
            </a:xfrm>
            <a:custGeom>
              <a:avLst/>
              <a:gdLst>
                <a:gd name="txL" fmla="*/ 0 w 576"/>
                <a:gd name="txT" fmla="*/ 0 h 6"/>
                <a:gd name="txR" fmla="*/ 576 w 576"/>
                <a:gd name="txB" fmla="*/ 6 h 6"/>
              </a:gdLst>
              <a:ahLst/>
              <a:cxnLst>
                <a:cxn ang="0">
                  <a:pos x="0" y="6"/>
                </a:cxn>
                <a:cxn ang="0">
                  <a:pos x="576" y="0"/>
                </a:cxn>
              </a:cxnLst>
              <a:rect l="txL" t="txT" r="txR" b="txB"/>
              <a:pathLst>
                <a:path w="576" h="6">
                  <a:moveTo>
                    <a:pt x="0" y="6"/>
                  </a:moveTo>
                  <a:lnTo>
                    <a:pt x="576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697" name="Freeform 89"/>
            <p:cNvSpPr/>
            <p:nvPr/>
          </p:nvSpPr>
          <p:spPr>
            <a:xfrm>
              <a:off x="555" y="1866"/>
              <a:ext cx="570" cy="3"/>
            </a:xfrm>
            <a:custGeom>
              <a:avLst/>
              <a:gdLst>
                <a:gd name="txL" fmla="*/ 0 w 570"/>
                <a:gd name="txT" fmla="*/ 0 h 3"/>
                <a:gd name="txR" fmla="*/ 570 w 570"/>
                <a:gd name="txB" fmla="*/ 3 h 3"/>
              </a:gdLst>
              <a:ahLst/>
              <a:cxnLst>
                <a:cxn ang="0">
                  <a:pos x="0" y="3"/>
                </a:cxn>
                <a:cxn ang="0">
                  <a:pos x="570" y="0"/>
                </a:cxn>
              </a:cxnLst>
              <a:rect l="txL" t="txT" r="txR" b="txB"/>
              <a:pathLst>
                <a:path w="570" h="3">
                  <a:moveTo>
                    <a:pt x="0" y="3"/>
                  </a:moveTo>
                  <a:lnTo>
                    <a:pt x="570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698" name="Line 90"/>
            <p:cNvSpPr/>
            <p:nvPr/>
          </p:nvSpPr>
          <p:spPr>
            <a:xfrm>
              <a:off x="657" y="1117"/>
              <a:ext cx="28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99" name="Text Box 91"/>
            <p:cNvSpPr txBox="1"/>
            <p:nvPr/>
          </p:nvSpPr>
          <p:spPr>
            <a:xfrm>
              <a:off x="567" y="754"/>
              <a:ext cx="3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0" name="Text Box 92"/>
            <p:cNvSpPr txBox="1"/>
            <p:nvPr/>
          </p:nvSpPr>
          <p:spPr>
            <a:xfrm>
              <a:off x="385" y="1362"/>
              <a:ext cx="48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1" name="Text Box 93"/>
            <p:cNvSpPr txBox="1"/>
            <p:nvPr/>
          </p:nvSpPr>
          <p:spPr>
            <a:xfrm>
              <a:off x="1202" y="1330"/>
              <a:ext cx="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2" name="Oval 94"/>
            <p:cNvSpPr/>
            <p:nvPr/>
          </p:nvSpPr>
          <p:spPr>
            <a:xfrm>
              <a:off x="504" y="1842"/>
              <a:ext cx="48" cy="48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03" name="Oval 95"/>
            <p:cNvSpPr/>
            <p:nvPr/>
          </p:nvSpPr>
          <p:spPr>
            <a:xfrm>
              <a:off x="504" y="1122"/>
              <a:ext cx="48" cy="48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04" name="Text Box 96"/>
            <p:cNvSpPr txBox="1"/>
            <p:nvPr/>
          </p:nvSpPr>
          <p:spPr>
            <a:xfrm>
              <a:off x="423" y="1138"/>
              <a:ext cx="2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5" name="Text Box 97"/>
            <p:cNvSpPr txBox="1"/>
            <p:nvPr/>
          </p:nvSpPr>
          <p:spPr>
            <a:xfrm>
              <a:off x="436" y="156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8706" name="Group 126"/>
            <p:cNvGrpSpPr/>
            <p:nvPr/>
          </p:nvGrpSpPr>
          <p:grpSpPr>
            <a:xfrm rot="10800000">
              <a:off x="1120" y="1289"/>
              <a:ext cx="90" cy="363"/>
              <a:chOff x="1565" y="2614"/>
              <a:chExt cx="90" cy="486"/>
            </a:xfrm>
          </p:grpSpPr>
          <p:sp>
            <p:nvSpPr>
              <p:cNvPr id="28707" name="Arc 127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08" name="Arc 128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09" name="Arc 129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10" name="Arc 130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134"/>
          <p:cNvGrpSpPr/>
          <p:nvPr/>
        </p:nvGrpSpPr>
        <p:grpSpPr>
          <a:xfrm>
            <a:off x="3935413" y="3500438"/>
            <a:ext cx="4729162" cy="587375"/>
            <a:chOff x="2479" y="2205"/>
            <a:chExt cx="2979" cy="370"/>
          </a:xfrm>
        </p:grpSpPr>
        <p:graphicFrame>
          <p:nvGraphicFramePr>
            <p:cNvPr id="28677" name="Object 23"/>
            <p:cNvGraphicFramePr/>
            <p:nvPr/>
          </p:nvGraphicFramePr>
          <p:xfrm>
            <a:off x="2479" y="2205"/>
            <a:ext cx="2979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" name="" r:id="rId13" imgW="2143760" imgH="266065" progId="Equation.3">
                    <p:embed/>
                  </p:oleObj>
                </mc:Choice>
                <mc:Fallback>
                  <p:oleObj name="" r:id="rId13" imgW="2143760" imgH="266065" progId="Equation.3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79" y="2205"/>
                          <a:ext cx="2979" cy="3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2" name="Line 63"/>
            <p:cNvSpPr/>
            <p:nvPr/>
          </p:nvSpPr>
          <p:spPr>
            <a:xfrm>
              <a:off x="4459" y="2541"/>
              <a:ext cx="81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93" name="Line 133"/>
            <p:cNvSpPr/>
            <p:nvPr/>
          </p:nvSpPr>
          <p:spPr>
            <a:xfrm>
              <a:off x="2989" y="2541"/>
              <a:ext cx="227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20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/>
      <p:bldP spid="7190" grpId="0"/>
      <p:bldP spid="7194" grpId="0" animBg="1"/>
      <p:bldP spid="7222" grpId="0"/>
      <p:bldP spid="72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ext Box 2" descr="绿色大理石"/>
          <p:cNvSpPr txBox="1"/>
          <p:nvPr/>
        </p:nvSpPr>
        <p:spPr>
          <a:xfrm>
            <a:off x="611188" y="2420938"/>
            <a:ext cx="2232025" cy="519112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感抗的性质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" name="Text Box 3" descr="横虚线"/>
          <p:cNvSpPr txBox="1"/>
          <p:nvPr/>
        </p:nvSpPr>
        <p:spPr>
          <a:xfrm>
            <a:off x="3635375" y="2349500"/>
            <a:ext cx="51117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buAutoNum type="circleNumDbPlain"/>
            </a:pPr>
            <a:r>
              <a:rPr lang="zh-CN" altLang="en-US" dirty="0">
                <a:latin typeface="楷体_GB2312" pitchFamily="49" charset="-122"/>
              </a:rPr>
              <a:t>表示限制电流的能力。</a:t>
            </a:r>
            <a:endParaRPr lang="zh-CN" altLang="en-US" i="1" dirty="0">
              <a:latin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6148" name="Text Box 4" descr="横虚线"/>
          <p:cNvSpPr txBox="1"/>
          <p:nvPr/>
        </p:nvSpPr>
        <p:spPr>
          <a:xfrm>
            <a:off x="3636963" y="2924175"/>
            <a:ext cx="43195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buAutoNum type="circleNumDbPlain" startAt="2"/>
            </a:pPr>
            <a:r>
              <a:rPr lang="zh-CN" altLang="en-US" dirty="0">
                <a:latin typeface="楷体_GB2312" pitchFamily="49" charset="-122"/>
              </a:rPr>
              <a:t>感抗和频率成正比。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6155" name="Text Box 11" descr="绿色大理石"/>
          <p:cNvSpPr txBox="1"/>
          <p:nvPr/>
        </p:nvSpPr>
        <p:spPr>
          <a:xfrm>
            <a:off x="684213" y="5084763"/>
            <a:ext cx="1970087" cy="604837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相量表达式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6156" name="Text Box 12"/>
          <p:cNvSpPr txBox="1"/>
          <p:nvPr/>
        </p:nvSpPr>
        <p:spPr>
          <a:xfrm>
            <a:off x="468313" y="1052513"/>
            <a:ext cx="8675687" cy="1163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spcBef>
                <a:spcPct val="2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L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=2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fL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dirty="0">
                <a:latin typeface="楷体_GB2312" pitchFamily="49" charset="-122"/>
                <a:sym typeface="Symbol" panose="05050102010706020507" pitchFamily="18" charset="2"/>
              </a:rPr>
              <a:t>称为感抗，单位为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zh-CN" altLang="en-US" b="0" dirty="0">
                <a:latin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楷体_GB2312" pitchFamily="49" charset="-122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楷体_GB2312" pitchFamily="49" charset="-122"/>
                <a:sym typeface="Symbol" panose="05050102010706020507" pitchFamily="18" charset="2"/>
              </a:rPr>
              <a:t>欧</a:t>
            </a:r>
            <a:r>
              <a:rPr lang="en-US" altLang="zh-CN" b="0" dirty="0">
                <a:latin typeface="楷体_GB2312" pitchFamily="49" charset="-122"/>
                <a:sym typeface="Symbol" panose="05050102010706020507" pitchFamily="18" charset="2"/>
              </a:rPr>
              <a:t>[</a:t>
            </a:r>
            <a:r>
              <a:rPr lang="zh-CN" altLang="en-US" dirty="0">
                <a:latin typeface="楷体_GB2312" pitchFamily="49" charset="-122"/>
                <a:sym typeface="Symbol" panose="05050102010706020507" pitchFamily="18" charset="2"/>
              </a:rPr>
              <a:t>姆</a:t>
            </a:r>
            <a:r>
              <a:rPr lang="en-US" altLang="zh-CN" b="0" dirty="0">
                <a:latin typeface="楷体_GB2312" pitchFamily="49" charset="-122"/>
                <a:sym typeface="Symbol" panose="05050102010706020507" pitchFamily="18" charset="2"/>
              </a:rPr>
              <a:t>]</a:t>
            </a:r>
            <a:r>
              <a:rPr lang="en-US" altLang="zh-CN" dirty="0">
                <a:latin typeface="楷体_GB2312" pitchFamily="49" charset="-122"/>
                <a:sym typeface="Symbol" panose="05050102010706020507" pitchFamily="18" charset="2"/>
              </a:rPr>
              <a:t>)</a:t>
            </a:r>
            <a:endParaRPr lang="en-US" altLang="zh-CN" dirty="0">
              <a:latin typeface="楷体_GB2312" pitchFamily="49" charset="-122"/>
              <a:sym typeface="Symbol" panose="05050102010706020507" pitchFamily="18" charset="2"/>
            </a:endParaRPr>
          </a:p>
          <a:p>
            <a:pPr algn="just">
              <a:spcBef>
                <a:spcPct val="2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 L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1/2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fL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称为</a:t>
            </a:r>
            <a:r>
              <a:rPr lang="zh-CN" altLang="en-US" dirty="0">
                <a:latin typeface="楷体_GB2312" pitchFamily="49" charset="-122"/>
                <a:sym typeface="Symbol" panose="05050102010706020507" pitchFamily="18" charset="2"/>
              </a:rPr>
              <a:t>感纳，单位为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西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门子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])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i="1" dirty="0">
              <a:solidFill>
                <a:schemeClr val="bg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157" name="Text Box 13" descr="绿色大理石"/>
          <p:cNvSpPr txBox="1"/>
          <p:nvPr/>
        </p:nvSpPr>
        <p:spPr>
          <a:xfrm>
            <a:off x="468313" y="549275"/>
            <a:ext cx="2447925" cy="519113"/>
          </a:xfrm>
          <a:prstGeom prst="rect">
            <a:avLst/>
          </a:prstGeom>
          <a:blipFill rotWithShape="1">
            <a:blip r:embed="rId1"/>
          </a:blipFill>
          <a:ln w="1905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感抗和感纳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aphicFrame>
        <p:nvGraphicFramePr>
          <p:cNvPr id="6158" name="Object 14"/>
          <p:cNvGraphicFramePr/>
          <p:nvPr/>
        </p:nvGraphicFramePr>
        <p:xfrm>
          <a:off x="3851275" y="4581525"/>
          <a:ext cx="34575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2" imgW="1534795" imgH="266065" progId="Equation.3">
                  <p:embed/>
                </p:oleObj>
              </mc:Choice>
              <mc:Fallback>
                <p:oleObj name="" r:id="rId2" imgW="1534795" imgH="266065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51275" y="4581525"/>
                        <a:ext cx="3457575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9" name="Object 15"/>
          <p:cNvGraphicFramePr/>
          <p:nvPr/>
        </p:nvGraphicFramePr>
        <p:xfrm>
          <a:off x="3851275" y="3573463"/>
          <a:ext cx="3995738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4" imgW="2019300" imgH="469900" progId="Equation.3">
                  <p:embed/>
                </p:oleObj>
              </mc:Choice>
              <mc:Fallback>
                <p:oleObj name="" r:id="rId4" imgW="2019300" imgH="4699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51275" y="3573463"/>
                        <a:ext cx="3995738" cy="928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0" name="Object 16"/>
          <p:cNvGraphicFramePr/>
          <p:nvPr/>
        </p:nvGraphicFramePr>
        <p:xfrm>
          <a:off x="3779838" y="5157788"/>
          <a:ext cx="4176712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6" imgW="1955165" imgH="482600" progId="Equation.3">
                  <p:embed/>
                </p:oleObj>
              </mc:Choice>
              <mc:Fallback>
                <p:oleObj name="" r:id="rId6" imgW="1955165" imgH="4826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79838" y="5157788"/>
                        <a:ext cx="4176712" cy="1027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7" name="Group 2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9722" name="Picture 22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23" name="Text Box 2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9708" name="Group 2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9720" name="Picture 25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21" name="Text Box 2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9709" name="Group 3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9718" name="Picture 34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9" name="Text Box 3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37"/>
          <p:cNvGrpSpPr/>
          <p:nvPr/>
        </p:nvGrpSpPr>
        <p:grpSpPr>
          <a:xfrm>
            <a:off x="611188" y="3068638"/>
            <a:ext cx="2409825" cy="1884362"/>
            <a:chOff x="385" y="1933"/>
            <a:chExt cx="1518" cy="1187"/>
          </a:xfrm>
        </p:grpSpPr>
        <p:grpSp>
          <p:nvGrpSpPr>
            <p:cNvPr id="29711" name="Group 5"/>
            <p:cNvGrpSpPr/>
            <p:nvPr/>
          </p:nvGrpSpPr>
          <p:grpSpPr>
            <a:xfrm>
              <a:off x="385" y="1933"/>
              <a:ext cx="1518" cy="1187"/>
              <a:chOff x="1680" y="1796"/>
              <a:chExt cx="1518" cy="1187"/>
            </a:xfrm>
          </p:grpSpPr>
          <p:sp>
            <p:nvSpPr>
              <p:cNvPr id="29713" name="Line 6"/>
              <p:cNvSpPr/>
              <p:nvPr/>
            </p:nvSpPr>
            <p:spPr>
              <a:xfrm flipV="1">
                <a:off x="2016" y="1972"/>
                <a:ext cx="0" cy="768"/>
              </a:xfrm>
              <a:prstGeom prst="line">
                <a:avLst/>
              </a:prstGeom>
              <a:ln w="28575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9714" name="Line 7"/>
              <p:cNvSpPr/>
              <p:nvPr/>
            </p:nvSpPr>
            <p:spPr>
              <a:xfrm>
                <a:off x="2016" y="2740"/>
                <a:ext cx="960" cy="0"/>
              </a:xfrm>
              <a:prstGeom prst="line">
                <a:avLst/>
              </a:prstGeom>
              <a:ln w="28575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9715" name="Line 8"/>
              <p:cNvSpPr/>
              <p:nvPr/>
            </p:nvSpPr>
            <p:spPr>
              <a:xfrm flipV="1">
                <a:off x="2016" y="2260"/>
                <a:ext cx="864" cy="48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16" name="Text Box 9"/>
              <p:cNvSpPr txBox="1"/>
              <p:nvPr/>
            </p:nvSpPr>
            <p:spPr>
              <a:xfrm>
                <a:off x="2928" y="2656"/>
                <a:ext cx="270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0" i="1" dirty="0">
                    <a:solidFill>
                      <a:schemeClr val="bg1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w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17" name="Rectangle 10"/>
              <p:cNvSpPr/>
              <p:nvPr/>
            </p:nvSpPr>
            <p:spPr>
              <a:xfrm>
                <a:off x="1680" y="1796"/>
                <a:ext cx="33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712" name="Text Box 36"/>
            <p:cNvSpPr txBox="1"/>
            <p:nvPr/>
          </p:nvSpPr>
          <p:spPr>
            <a:xfrm>
              <a:off x="521" y="2840"/>
              <a:ext cx="2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  <p:bldP spid="6147" grpId="0"/>
      <p:bldP spid="6148" grpId="0"/>
      <p:bldP spid="6155" grpId="0" animBg="1"/>
      <p:bldP spid="6156" grpId="0"/>
      <p:bldP spid="615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ext Box 2" descr="绿色大理石"/>
          <p:cNvSpPr txBox="1"/>
          <p:nvPr/>
        </p:nvSpPr>
        <p:spPr>
          <a:xfrm>
            <a:off x="611188" y="3860800"/>
            <a:ext cx="898525" cy="519113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功率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123" name="Object 3"/>
          <p:cNvGraphicFramePr/>
          <p:nvPr/>
        </p:nvGraphicFramePr>
        <p:xfrm>
          <a:off x="2049463" y="3846513"/>
          <a:ext cx="6364287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2" imgW="2832100" imgH="469900" progId="Equation.3">
                  <p:embed/>
                </p:oleObj>
              </mc:Choice>
              <mc:Fallback>
                <p:oleObj name="" r:id="rId2" imgW="2832100" imgH="4699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49463" y="3846513"/>
                        <a:ext cx="6364287" cy="1055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0"/>
          <p:cNvGrpSpPr/>
          <p:nvPr/>
        </p:nvGrpSpPr>
        <p:grpSpPr>
          <a:xfrm>
            <a:off x="684213" y="1125538"/>
            <a:ext cx="4392612" cy="2286000"/>
            <a:chOff x="431" y="709"/>
            <a:chExt cx="2524" cy="1440"/>
          </a:xfrm>
        </p:grpSpPr>
        <p:sp>
          <p:nvSpPr>
            <p:cNvPr id="30761" name="Line 6"/>
            <p:cNvSpPr/>
            <p:nvPr/>
          </p:nvSpPr>
          <p:spPr>
            <a:xfrm flipV="1">
              <a:off x="719" y="709"/>
              <a:ext cx="0" cy="144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62" name="Line 7"/>
            <p:cNvSpPr/>
            <p:nvPr/>
          </p:nvSpPr>
          <p:spPr>
            <a:xfrm flipV="1">
              <a:off x="431" y="1587"/>
              <a:ext cx="2429" cy="7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63" name="Text Box 8"/>
            <p:cNvSpPr txBox="1"/>
            <p:nvPr/>
          </p:nvSpPr>
          <p:spPr>
            <a:xfrm>
              <a:off x="2602" y="1552"/>
              <a:ext cx="35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64" name="Freeform 9"/>
            <p:cNvSpPr/>
            <p:nvPr/>
          </p:nvSpPr>
          <p:spPr>
            <a:xfrm flipH="1">
              <a:off x="575" y="1152"/>
              <a:ext cx="1850" cy="873"/>
            </a:xfrm>
            <a:custGeom>
              <a:avLst/>
              <a:gdLst>
                <a:gd name="txL" fmla="*/ 0 w 1850"/>
                <a:gd name="txT" fmla="*/ 0 h 873"/>
                <a:gd name="txR" fmla="*/ 1850 w 1850"/>
                <a:gd name="txB" fmla="*/ 873 h 873"/>
              </a:gdLst>
              <a:ahLst/>
              <a:cxnLst>
                <a:cxn ang="0">
                  <a:pos x="0" y="445"/>
                </a:cxn>
                <a:cxn ang="0">
                  <a:pos x="86" y="291"/>
                </a:cxn>
                <a:cxn ang="0">
                  <a:pos x="161" y="167"/>
                </a:cxn>
                <a:cxn ang="0">
                  <a:pos x="256" y="58"/>
                </a:cxn>
                <a:cxn ang="0">
                  <a:pos x="364" y="7"/>
                </a:cxn>
                <a:cxn ang="0">
                  <a:pos x="498" y="69"/>
                </a:cxn>
                <a:cxn ang="0">
                  <a:pos x="632" y="251"/>
                </a:cxn>
                <a:cxn ang="0">
                  <a:pos x="732" y="435"/>
                </a:cxn>
                <a:cxn ang="0">
                  <a:pos x="845" y="633"/>
                </a:cxn>
                <a:cxn ang="0">
                  <a:pos x="956" y="793"/>
                </a:cxn>
                <a:cxn ang="0">
                  <a:pos x="1110" y="867"/>
                </a:cxn>
                <a:cxn ang="0">
                  <a:pos x="1275" y="752"/>
                </a:cxn>
                <a:cxn ang="0">
                  <a:pos x="1463" y="447"/>
                </a:cxn>
                <a:cxn ang="0">
                  <a:pos x="1550" y="282"/>
                </a:cxn>
                <a:cxn ang="0">
                  <a:pos x="1702" y="72"/>
                </a:cxn>
                <a:cxn ang="0">
                  <a:pos x="1828" y="10"/>
                </a:cxn>
                <a:cxn ang="0">
                  <a:pos x="1835" y="13"/>
                </a:cxn>
              </a:cxnLst>
              <a:rect l="txL" t="txT" r="txR" b="txB"/>
              <a:pathLst>
                <a:path w="1850" h="873">
                  <a:moveTo>
                    <a:pt x="0" y="445"/>
                  </a:moveTo>
                  <a:cubicBezTo>
                    <a:pt x="14" y="418"/>
                    <a:pt x="59" y="337"/>
                    <a:pt x="86" y="291"/>
                  </a:cubicBezTo>
                  <a:cubicBezTo>
                    <a:pt x="113" y="245"/>
                    <a:pt x="133" y="206"/>
                    <a:pt x="161" y="167"/>
                  </a:cubicBezTo>
                  <a:cubicBezTo>
                    <a:pt x="189" y="128"/>
                    <a:pt x="223" y="84"/>
                    <a:pt x="256" y="58"/>
                  </a:cubicBezTo>
                  <a:cubicBezTo>
                    <a:pt x="290" y="31"/>
                    <a:pt x="324" y="5"/>
                    <a:pt x="364" y="7"/>
                  </a:cubicBezTo>
                  <a:cubicBezTo>
                    <a:pt x="405" y="10"/>
                    <a:pt x="453" y="29"/>
                    <a:pt x="498" y="69"/>
                  </a:cubicBezTo>
                  <a:cubicBezTo>
                    <a:pt x="543" y="110"/>
                    <a:pt x="593" y="190"/>
                    <a:pt x="632" y="251"/>
                  </a:cubicBezTo>
                  <a:cubicBezTo>
                    <a:pt x="670" y="311"/>
                    <a:pt x="696" y="371"/>
                    <a:pt x="732" y="435"/>
                  </a:cubicBezTo>
                  <a:cubicBezTo>
                    <a:pt x="768" y="498"/>
                    <a:pt x="808" y="573"/>
                    <a:pt x="845" y="633"/>
                  </a:cubicBezTo>
                  <a:cubicBezTo>
                    <a:pt x="883" y="692"/>
                    <a:pt x="912" y="754"/>
                    <a:pt x="956" y="793"/>
                  </a:cubicBezTo>
                  <a:cubicBezTo>
                    <a:pt x="1000" y="832"/>
                    <a:pt x="1057" y="873"/>
                    <a:pt x="1110" y="867"/>
                  </a:cubicBezTo>
                  <a:cubicBezTo>
                    <a:pt x="1164" y="860"/>
                    <a:pt x="1216" y="822"/>
                    <a:pt x="1275" y="752"/>
                  </a:cubicBezTo>
                  <a:cubicBezTo>
                    <a:pt x="1334" y="682"/>
                    <a:pt x="1417" y="525"/>
                    <a:pt x="1463" y="447"/>
                  </a:cubicBezTo>
                  <a:cubicBezTo>
                    <a:pt x="1508" y="369"/>
                    <a:pt x="1511" y="344"/>
                    <a:pt x="1550" y="282"/>
                  </a:cubicBezTo>
                  <a:cubicBezTo>
                    <a:pt x="1590" y="220"/>
                    <a:pt x="1656" y="117"/>
                    <a:pt x="1702" y="72"/>
                  </a:cubicBezTo>
                  <a:cubicBezTo>
                    <a:pt x="1748" y="26"/>
                    <a:pt x="1806" y="20"/>
                    <a:pt x="1828" y="10"/>
                  </a:cubicBezTo>
                  <a:cubicBezTo>
                    <a:pt x="1850" y="0"/>
                    <a:pt x="1834" y="13"/>
                    <a:pt x="1835" y="13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65" name="Freeform 10"/>
            <p:cNvSpPr/>
            <p:nvPr/>
          </p:nvSpPr>
          <p:spPr>
            <a:xfrm>
              <a:off x="566" y="1374"/>
              <a:ext cx="1977" cy="432"/>
            </a:xfrm>
            <a:custGeom>
              <a:avLst/>
              <a:gdLst>
                <a:gd name="txL" fmla="*/ 0 w 1977"/>
                <a:gd name="txT" fmla="*/ 0 h 432"/>
                <a:gd name="txR" fmla="*/ 1977 w 1977"/>
                <a:gd name="txB" fmla="*/ 432 h 432"/>
              </a:gdLst>
              <a:ahLst/>
              <a:cxnLst>
                <a:cxn ang="0">
                  <a:pos x="24" y="217"/>
                </a:cxn>
                <a:cxn ang="0">
                  <a:pos x="30" y="217"/>
                </a:cxn>
                <a:cxn ang="0">
                  <a:pos x="33" y="215"/>
                </a:cxn>
                <a:cxn ang="0">
                  <a:pos x="231" y="53"/>
                </a:cxn>
                <a:cxn ang="0">
                  <a:pos x="411" y="2"/>
                </a:cxn>
                <a:cxn ang="0">
                  <a:pos x="586" y="67"/>
                </a:cxn>
                <a:cxn ang="0">
                  <a:pos x="764" y="217"/>
                </a:cxn>
                <a:cxn ang="0">
                  <a:pos x="981" y="385"/>
                </a:cxn>
                <a:cxn ang="0">
                  <a:pos x="1116" y="430"/>
                </a:cxn>
                <a:cxn ang="0">
                  <a:pos x="1258" y="397"/>
                </a:cxn>
                <a:cxn ang="0">
                  <a:pos x="1401" y="286"/>
                </a:cxn>
                <a:cxn ang="0">
                  <a:pos x="1500" y="205"/>
                </a:cxn>
                <a:cxn ang="0">
                  <a:pos x="1638" y="82"/>
                </a:cxn>
                <a:cxn ang="0">
                  <a:pos x="1809" y="13"/>
                </a:cxn>
                <a:cxn ang="0">
                  <a:pos x="1926" y="28"/>
                </a:cxn>
                <a:cxn ang="0">
                  <a:pos x="1977" y="52"/>
                </a:cxn>
              </a:cxnLst>
              <a:rect l="txL" t="txT" r="txR" b="txB"/>
              <a:pathLst>
                <a:path w="1977" h="432">
                  <a:moveTo>
                    <a:pt x="24" y="217"/>
                  </a:moveTo>
                  <a:cubicBezTo>
                    <a:pt x="24" y="217"/>
                    <a:pt x="29" y="217"/>
                    <a:pt x="30" y="217"/>
                  </a:cubicBezTo>
                  <a:cubicBezTo>
                    <a:pt x="31" y="217"/>
                    <a:pt x="0" y="242"/>
                    <a:pt x="33" y="215"/>
                  </a:cubicBezTo>
                  <a:cubicBezTo>
                    <a:pt x="66" y="188"/>
                    <a:pt x="168" y="88"/>
                    <a:pt x="231" y="53"/>
                  </a:cubicBezTo>
                  <a:cubicBezTo>
                    <a:pt x="294" y="18"/>
                    <a:pt x="352" y="0"/>
                    <a:pt x="411" y="2"/>
                  </a:cubicBezTo>
                  <a:cubicBezTo>
                    <a:pt x="470" y="5"/>
                    <a:pt x="528" y="31"/>
                    <a:pt x="586" y="67"/>
                  </a:cubicBezTo>
                  <a:cubicBezTo>
                    <a:pt x="644" y="103"/>
                    <a:pt x="698" y="164"/>
                    <a:pt x="764" y="217"/>
                  </a:cubicBezTo>
                  <a:cubicBezTo>
                    <a:pt x="830" y="270"/>
                    <a:pt x="922" y="349"/>
                    <a:pt x="981" y="385"/>
                  </a:cubicBezTo>
                  <a:cubicBezTo>
                    <a:pt x="1040" y="421"/>
                    <a:pt x="1070" y="428"/>
                    <a:pt x="1116" y="430"/>
                  </a:cubicBezTo>
                  <a:cubicBezTo>
                    <a:pt x="1162" y="432"/>
                    <a:pt x="1210" y="421"/>
                    <a:pt x="1258" y="397"/>
                  </a:cubicBezTo>
                  <a:cubicBezTo>
                    <a:pt x="1306" y="373"/>
                    <a:pt x="1361" y="318"/>
                    <a:pt x="1401" y="286"/>
                  </a:cubicBezTo>
                  <a:cubicBezTo>
                    <a:pt x="1441" y="254"/>
                    <a:pt x="1461" y="239"/>
                    <a:pt x="1500" y="205"/>
                  </a:cubicBezTo>
                  <a:cubicBezTo>
                    <a:pt x="1539" y="171"/>
                    <a:pt x="1587" y="114"/>
                    <a:pt x="1638" y="82"/>
                  </a:cubicBezTo>
                  <a:cubicBezTo>
                    <a:pt x="1689" y="50"/>
                    <a:pt x="1761" y="22"/>
                    <a:pt x="1809" y="13"/>
                  </a:cubicBezTo>
                  <a:cubicBezTo>
                    <a:pt x="1857" y="4"/>
                    <a:pt x="1898" y="21"/>
                    <a:pt x="1926" y="28"/>
                  </a:cubicBezTo>
                  <a:cubicBezTo>
                    <a:pt x="1954" y="35"/>
                    <a:pt x="1967" y="47"/>
                    <a:pt x="1977" y="52"/>
                  </a:cubicBez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66" name="Text Box 11"/>
            <p:cNvSpPr txBox="1"/>
            <p:nvPr/>
          </p:nvSpPr>
          <p:spPr>
            <a:xfrm>
              <a:off x="2477" y="1253"/>
              <a:ext cx="21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67" name="Text Box 12"/>
            <p:cNvSpPr txBox="1"/>
            <p:nvPr/>
          </p:nvSpPr>
          <p:spPr>
            <a:xfrm>
              <a:off x="464" y="1652"/>
              <a:ext cx="21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68" name="Text Box 13"/>
            <p:cNvSpPr txBox="1"/>
            <p:nvPr/>
          </p:nvSpPr>
          <p:spPr>
            <a:xfrm>
              <a:off x="1823" y="821"/>
              <a:ext cx="2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41"/>
          <p:cNvGrpSpPr/>
          <p:nvPr/>
        </p:nvGrpSpPr>
        <p:grpSpPr>
          <a:xfrm>
            <a:off x="900113" y="1125538"/>
            <a:ext cx="3743325" cy="2349500"/>
            <a:chOff x="567" y="709"/>
            <a:chExt cx="2102" cy="1480"/>
          </a:xfrm>
        </p:grpSpPr>
        <p:sp>
          <p:nvSpPr>
            <p:cNvPr id="30758" name="Freeform 14"/>
            <p:cNvSpPr/>
            <p:nvPr/>
          </p:nvSpPr>
          <p:spPr>
            <a:xfrm>
              <a:off x="1519" y="981"/>
              <a:ext cx="890" cy="1200"/>
            </a:xfrm>
            <a:custGeom>
              <a:avLst/>
              <a:gdLst>
                <a:gd name="txL" fmla="*/ 0 w 890"/>
                <a:gd name="txT" fmla="*/ 0 h 1248"/>
                <a:gd name="txR" fmla="*/ 890 w 890"/>
                <a:gd name="txB" fmla="*/ 1248 h 1248"/>
              </a:gdLst>
              <a:ahLst/>
              <a:cxnLst>
                <a:cxn ang="0">
                  <a:pos x="890" y="571"/>
                </a:cxn>
                <a:cxn ang="0">
                  <a:pos x="860" y="407"/>
                </a:cxn>
                <a:cxn ang="0">
                  <a:pos x="821" y="231"/>
                </a:cxn>
                <a:cxn ang="0">
                  <a:pos x="764" y="78"/>
                </a:cxn>
                <a:cxn ang="0">
                  <a:pos x="710" y="12"/>
                </a:cxn>
                <a:cxn ang="0">
                  <a:pos x="653" y="61"/>
                </a:cxn>
                <a:cxn ang="0">
                  <a:pos x="575" y="332"/>
                </a:cxn>
                <a:cxn ang="0">
                  <a:pos x="524" y="583"/>
                </a:cxn>
                <a:cxn ang="0">
                  <a:pos x="479" y="870"/>
                </a:cxn>
                <a:cxn ang="0">
                  <a:pos x="427" y="1090"/>
                </a:cxn>
                <a:cxn ang="0">
                  <a:pos x="355" y="1191"/>
                </a:cxn>
                <a:cxn ang="0">
                  <a:pos x="278" y="1034"/>
                </a:cxn>
                <a:cxn ang="0">
                  <a:pos x="171" y="577"/>
                </a:cxn>
                <a:cxn ang="0">
                  <a:pos x="135" y="363"/>
                </a:cxn>
                <a:cxn ang="0">
                  <a:pos x="59" y="63"/>
                </a:cxn>
                <a:cxn ang="0">
                  <a:pos x="8" y="9"/>
                </a:cxn>
                <a:cxn ang="0">
                  <a:pos x="11" y="9"/>
                </a:cxn>
              </a:cxnLst>
              <a:rect l="txL" t="txT" r="txR" b="txB"/>
              <a:pathLst>
                <a:path w="890" h="1248">
                  <a:moveTo>
                    <a:pt x="890" y="594"/>
                  </a:moveTo>
                  <a:cubicBezTo>
                    <a:pt x="885" y="566"/>
                    <a:pt x="871" y="482"/>
                    <a:pt x="860" y="423"/>
                  </a:cubicBezTo>
                  <a:cubicBezTo>
                    <a:pt x="849" y="364"/>
                    <a:pt x="837" y="297"/>
                    <a:pt x="821" y="240"/>
                  </a:cubicBezTo>
                  <a:cubicBezTo>
                    <a:pt x="805" y="183"/>
                    <a:pt x="782" y="119"/>
                    <a:pt x="764" y="81"/>
                  </a:cubicBezTo>
                  <a:cubicBezTo>
                    <a:pt x="746" y="43"/>
                    <a:pt x="728" y="15"/>
                    <a:pt x="710" y="12"/>
                  </a:cubicBezTo>
                  <a:cubicBezTo>
                    <a:pt x="692" y="9"/>
                    <a:pt x="675" y="8"/>
                    <a:pt x="653" y="63"/>
                  </a:cubicBezTo>
                  <a:cubicBezTo>
                    <a:pt x="631" y="118"/>
                    <a:pt x="596" y="255"/>
                    <a:pt x="575" y="345"/>
                  </a:cubicBezTo>
                  <a:cubicBezTo>
                    <a:pt x="554" y="435"/>
                    <a:pt x="540" y="513"/>
                    <a:pt x="524" y="606"/>
                  </a:cubicBezTo>
                  <a:cubicBezTo>
                    <a:pt x="508" y="699"/>
                    <a:pt x="495" y="817"/>
                    <a:pt x="479" y="905"/>
                  </a:cubicBezTo>
                  <a:cubicBezTo>
                    <a:pt x="463" y="993"/>
                    <a:pt x="448" y="1078"/>
                    <a:pt x="427" y="1134"/>
                  </a:cubicBezTo>
                  <a:cubicBezTo>
                    <a:pt x="406" y="1189"/>
                    <a:pt x="380" y="1248"/>
                    <a:pt x="355" y="1239"/>
                  </a:cubicBezTo>
                  <a:cubicBezTo>
                    <a:pt x="330" y="1229"/>
                    <a:pt x="309" y="1181"/>
                    <a:pt x="278" y="1075"/>
                  </a:cubicBezTo>
                  <a:cubicBezTo>
                    <a:pt x="247" y="969"/>
                    <a:pt x="195" y="716"/>
                    <a:pt x="171" y="600"/>
                  </a:cubicBezTo>
                  <a:cubicBezTo>
                    <a:pt x="147" y="484"/>
                    <a:pt x="154" y="467"/>
                    <a:pt x="135" y="378"/>
                  </a:cubicBezTo>
                  <a:cubicBezTo>
                    <a:pt x="116" y="289"/>
                    <a:pt x="80" y="127"/>
                    <a:pt x="59" y="66"/>
                  </a:cubicBezTo>
                  <a:cubicBezTo>
                    <a:pt x="38" y="5"/>
                    <a:pt x="16" y="18"/>
                    <a:pt x="8" y="9"/>
                  </a:cubicBezTo>
                  <a:cubicBezTo>
                    <a:pt x="0" y="0"/>
                    <a:pt x="11" y="9"/>
                    <a:pt x="11" y="9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59" name="Freeform 15"/>
            <p:cNvSpPr/>
            <p:nvPr/>
          </p:nvSpPr>
          <p:spPr>
            <a:xfrm>
              <a:off x="567" y="981"/>
              <a:ext cx="966" cy="1208"/>
            </a:xfrm>
            <a:custGeom>
              <a:avLst/>
              <a:gdLst>
                <a:gd name="txL" fmla="*/ 0 w 966"/>
                <a:gd name="txT" fmla="*/ 0 h 1208"/>
                <a:gd name="txR" fmla="*/ 966 w 966"/>
                <a:gd name="txB" fmla="*/ 1208 h 1208"/>
              </a:gdLst>
              <a:ahLst/>
              <a:cxnLst>
                <a:cxn ang="0">
                  <a:pos x="0" y="616"/>
                </a:cxn>
                <a:cxn ang="0">
                  <a:pos x="45" y="403"/>
                </a:cxn>
                <a:cxn ang="0">
                  <a:pos x="84" y="232"/>
                </a:cxn>
                <a:cxn ang="0">
                  <a:pos x="134" y="81"/>
                </a:cxn>
                <a:cxn ang="0">
                  <a:pos x="190" y="11"/>
                </a:cxn>
                <a:cxn ang="0">
                  <a:pos x="260" y="96"/>
                </a:cxn>
                <a:cxn ang="0">
                  <a:pos x="330" y="348"/>
                </a:cxn>
                <a:cxn ang="0">
                  <a:pos x="382" y="602"/>
                </a:cxn>
                <a:cxn ang="0">
                  <a:pos x="441" y="876"/>
                </a:cxn>
                <a:cxn ang="0">
                  <a:pos x="499" y="1097"/>
                </a:cxn>
                <a:cxn ang="0">
                  <a:pos x="579" y="1200"/>
                </a:cxn>
                <a:cxn ang="0">
                  <a:pos x="665" y="1041"/>
                </a:cxn>
                <a:cxn ang="0">
                  <a:pos x="763" y="619"/>
                </a:cxn>
                <a:cxn ang="0">
                  <a:pos x="808" y="391"/>
                </a:cxn>
                <a:cxn ang="0">
                  <a:pos x="888" y="101"/>
                </a:cxn>
                <a:cxn ang="0">
                  <a:pos x="954" y="14"/>
                </a:cxn>
                <a:cxn ang="0">
                  <a:pos x="957" y="20"/>
                </a:cxn>
              </a:cxnLst>
              <a:rect l="txL" t="txT" r="txR" b="txB"/>
              <a:pathLst>
                <a:path w="966" h="1208">
                  <a:moveTo>
                    <a:pt x="0" y="616"/>
                  </a:moveTo>
                  <a:cubicBezTo>
                    <a:pt x="7" y="579"/>
                    <a:pt x="31" y="467"/>
                    <a:pt x="45" y="403"/>
                  </a:cubicBezTo>
                  <a:cubicBezTo>
                    <a:pt x="59" y="340"/>
                    <a:pt x="69" y="286"/>
                    <a:pt x="84" y="232"/>
                  </a:cubicBezTo>
                  <a:cubicBezTo>
                    <a:pt x="99" y="178"/>
                    <a:pt x="116" y="117"/>
                    <a:pt x="134" y="81"/>
                  </a:cubicBezTo>
                  <a:cubicBezTo>
                    <a:pt x="151" y="44"/>
                    <a:pt x="169" y="8"/>
                    <a:pt x="190" y="11"/>
                  </a:cubicBezTo>
                  <a:cubicBezTo>
                    <a:pt x="211" y="15"/>
                    <a:pt x="236" y="41"/>
                    <a:pt x="260" y="96"/>
                  </a:cubicBezTo>
                  <a:cubicBezTo>
                    <a:pt x="283" y="153"/>
                    <a:pt x="309" y="264"/>
                    <a:pt x="330" y="348"/>
                  </a:cubicBezTo>
                  <a:cubicBezTo>
                    <a:pt x="349" y="431"/>
                    <a:pt x="363" y="514"/>
                    <a:pt x="382" y="602"/>
                  </a:cubicBezTo>
                  <a:cubicBezTo>
                    <a:pt x="401" y="690"/>
                    <a:pt x="421" y="793"/>
                    <a:pt x="441" y="876"/>
                  </a:cubicBezTo>
                  <a:cubicBezTo>
                    <a:pt x="461" y="958"/>
                    <a:pt x="476" y="1043"/>
                    <a:pt x="499" y="1097"/>
                  </a:cubicBezTo>
                  <a:cubicBezTo>
                    <a:pt x="522" y="1151"/>
                    <a:pt x="551" y="1208"/>
                    <a:pt x="579" y="1200"/>
                  </a:cubicBezTo>
                  <a:cubicBezTo>
                    <a:pt x="607" y="1190"/>
                    <a:pt x="634" y="1137"/>
                    <a:pt x="665" y="1041"/>
                  </a:cubicBezTo>
                  <a:cubicBezTo>
                    <a:pt x="696" y="944"/>
                    <a:pt x="739" y="727"/>
                    <a:pt x="763" y="619"/>
                  </a:cubicBezTo>
                  <a:cubicBezTo>
                    <a:pt x="787" y="511"/>
                    <a:pt x="788" y="477"/>
                    <a:pt x="808" y="391"/>
                  </a:cubicBezTo>
                  <a:cubicBezTo>
                    <a:pt x="829" y="305"/>
                    <a:pt x="864" y="164"/>
                    <a:pt x="888" y="101"/>
                  </a:cubicBezTo>
                  <a:cubicBezTo>
                    <a:pt x="912" y="38"/>
                    <a:pt x="942" y="28"/>
                    <a:pt x="954" y="14"/>
                  </a:cubicBezTo>
                  <a:cubicBezTo>
                    <a:pt x="966" y="0"/>
                    <a:pt x="957" y="19"/>
                    <a:pt x="957" y="20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60" name="Text Box 16"/>
            <p:cNvSpPr txBox="1"/>
            <p:nvPr/>
          </p:nvSpPr>
          <p:spPr>
            <a:xfrm>
              <a:off x="2290" y="709"/>
              <a:ext cx="37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55"/>
          <p:cNvGrpSpPr/>
          <p:nvPr/>
        </p:nvGrpSpPr>
        <p:grpSpPr>
          <a:xfrm>
            <a:off x="1116013" y="1341438"/>
            <a:ext cx="3221037" cy="2160587"/>
            <a:chOff x="3107" y="2478"/>
            <a:chExt cx="2029" cy="1361"/>
          </a:xfrm>
        </p:grpSpPr>
        <p:grpSp>
          <p:nvGrpSpPr>
            <p:cNvPr id="30748" name="Group 18"/>
            <p:cNvGrpSpPr/>
            <p:nvPr/>
          </p:nvGrpSpPr>
          <p:grpSpPr>
            <a:xfrm>
              <a:off x="3957" y="2728"/>
              <a:ext cx="188" cy="158"/>
              <a:chOff x="3303" y="1716"/>
              <a:chExt cx="168" cy="168"/>
            </a:xfrm>
          </p:grpSpPr>
          <p:sp>
            <p:nvSpPr>
              <p:cNvPr id="30756" name="Line 19"/>
              <p:cNvSpPr/>
              <p:nvPr/>
            </p:nvSpPr>
            <p:spPr>
              <a:xfrm>
                <a:off x="3303" y="1812"/>
                <a:ext cx="168" cy="0"/>
              </a:xfrm>
              <a:prstGeom prst="line">
                <a:avLst/>
              </a:prstGeom>
              <a:ln w="38100" cap="flat" cmpd="sng">
                <a:solidFill>
                  <a:srgbClr val="99FF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7" name="Line 20"/>
              <p:cNvSpPr/>
              <p:nvPr/>
            </p:nvSpPr>
            <p:spPr>
              <a:xfrm rot="-5400000">
                <a:off x="3303" y="1800"/>
                <a:ext cx="168" cy="0"/>
              </a:xfrm>
              <a:prstGeom prst="line">
                <a:avLst/>
              </a:prstGeom>
              <a:ln w="38100" cap="flat" cmpd="sng">
                <a:solidFill>
                  <a:srgbClr val="99FF99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749" name="Line 21"/>
            <p:cNvSpPr/>
            <p:nvPr/>
          </p:nvSpPr>
          <p:spPr>
            <a:xfrm>
              <a:off x="3519" y="3631"/>
              <a:ext cx="189" cy="0"/>
            </a:xfrm>
            <a:prstGeom prst="line">
              <a:avLst/>
            </a:prstGeom>
            <a:ln w="38100" cap="flat" cmpd="sng">
              <a:solidFill>
                <a:srgbClr val="99FF99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0750" name="Group 22"/>
            <p:cNvGrpSpPr/>
            <p:nvPr/>
          </p:nvGrpSpPr>
          <p:grpSpPr>
            <a:xfrm>
              <a:off x="3107" y="2728"/>
              <a:ext cx="188" cy="158"/>
              <a:chOff x="3303" y="1716"/>
              <a:chExt cx="168" cy="168"/>
            </a:xfrm>
          </p:grpSpPr>
          <p:sp>
            <p:nvSpPr>
              <p:cNvPr id="30754" name="Line 23"/>
              <p:cNvSpPr/>
              <p:nvPr/>
            </p:nvSpPr>
            <p:spPr>
              <a:xfrm>
                <a:off x="3303" y="1812"/>
                <a:ext cx="168" cy="0"/>
              </a:xfrm>
              <a:prstGeom prst="line">
                <a:avLst/>
              </a:prstGeom>
              <a:ln w="38100" cap="flat" cmpd="sng">
                <a:solidFill>
                  <a:srgbClr val="99FF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5" name="Line 24"/>
              <p:cNvSpPr/>
              <p:nvPr/>
            </p:nvSpPr>
            <p:spPr>
              <a:xfrm rot="-5400000">
                <a:off x="3303" y="1800"/>
                <a:ext cx="168" cy="0"/>
              </a:xfrm>
              <a:prstGeom prst="line">
                <a:avLst/>
              </a:prstGeom>
              <a:ln w="38100" cap="flat" cmpd="sng">
                <a:solidFill>
                  <a:srgbClr val="99FF99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751" name="Line 25"/>
            <p:cNvSpPr/>
            <p:nvPr/>
          </p:nvSpPr>
          <p:spPr>
            <a:xfrm>
              <a:off x="4367" y="3631"/>
              <a:ext cx="188" cy="0"/>
            </a:xfrm>
            <a:prstGeom prst="line">
              <a:avLst/>
            </a:prstGeom>
            <a:ln w="38100" cap="flat" cmpd="sng">
              <a:solidFill>
                <a:srgbClr val="99FF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2" name="Line 26"/>
            <p:cNvSpPr/>
            <p:nvPr/>
          </p:nvSpPr>
          <p:spPr>
            <a:xfrm>
              <a:off x="4758" y="2478"/>
              <a:ext cx="0" cy="1361"/>
            </a:xfrm>
            <a:prstGeom prst="line">
              <a:avLst/>
            </a:prstGeom>
            <a:ln w="31750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0753" name="Text Box 27"/>
            <p:cNvSpPr txBox="1"/>
            <p:nvPr/>
          </p:nvSpPr>
          <p:spPr>
            <a:xfrm>
              <a:off x="4785" y="3203"/>
              <a:ext cx="351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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48" name="Text Box 28" descr="羊皮纸"/>
          <p:cNvSpPr txBox="1"/>
          <p:nvPr/>
        </p:nvSpPr>
        <p:spPr>
          <a:xfrm>
            <a:off x="755650" y="4941888"/>
            <a:ext cx="7777163" cy="11176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</a:rPr>
              <a:t>    </a:t>
            </a:r>
            <a:r>
              <a:rPr lang="zh-CN" altLang="en-US" dirty="0">
                <a:latin typeface="楷体_GB2312" pitchFamily="49" charset="-122"/>
              </a:rPr>
              <a:t>瞬时功率以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dirty="0">
                <a:latin typeface="楷体_GB2312" pitchFamily="49" charset="-122"/>
                <a:sym typeface="Symbol" panose="05050102010706020507" pitchFamily="18" charset="2"/>
              </a:rPr>
              <a:t>交变，有正有负，一周期内刚好互相抵消，表明电感只储能不耗能。</a:t>
            </a:r>
            <a:endParaRPr lang="zh-CN" altLang="en-US" dirty="0">
              <a:latin typeface="楷体_GB2312" pitchFamily="49" charset="-122"/>
            </a:endParaRPr>
          </a:p>
        </p:txBody>
      </p:sp>
      <p:grpSp>
        <p:nvGrpSpPr>
          <p:cNvPr id="7" name="Group 29"/>
          <p:cNvGrpSpPr/>
          <p:nvPr/>
        </p:nvGrpSpPr>
        <p:grpSpPr>
          <a:xfrm>
            <a:off x="5364163" y="1412875"/>
            <a:ext cx="2879725" cy="1836738"/>
            <a:chOff x="3792" y="3024"/>
            <a:chExt cx="1728" cy="1008"/>
          </a:xfrm>
        </p:grpSpPr>
        <p:graphicFrame>
          <p:nvGraphicFramePr>
            <p:cNvPr id="30723" name="Object 30"/>
            <p:cNvGraphicFramePr/>
            <p:nvPr/>
          </p:nvGraphicFramePr>
          <p:xfrm>
            <a:off x="3848" y="3024"/>
            <a:ext cx="281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" name="" r:id="rId4" imgW="228600" imgH="266065" progId="Equation.3">
                    <p:embed/>
                  </p:oleObj>
                </mc:Choice>
                <mc:Fallback>
                  <p:oleObj name="" r:id="rId4" imgW="228600" imgH="266065" progId="Equation.3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48" y="3024"/>
                          <a:ext cx="281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2" name="Freeform 31"/>
            <p:cNvSpPr/>
            <p:nvPr/>
          </p:nvSpPr>
          <p:spPr>
            <a:xfrm>
              <a:off x="4608" y="3399"/>
              <a:ext cx="624" cy="632"/>
            </a:xfrm>
            <a:custGeom>
              <a:avLst/>
              <a:gdLst>
                <a:gd name="txL" fmla="*/ 0 w 624"/>
                <a:gd name="txT" fmla="*/ 0 h 624"/>
                <a:gd name="txR" fmla="*/ 624 w 624"/>
                <a:gd name="txB" fmla="*/ 624 h 624"/>
              </a:gdLst>
              <a:ahLst/>
              <a:cxnLst>
                <a:cxn ang="0">
                  <a:pos x="0" y="632"/>
                </a:cxn>
                <a:cxn ang="0">
                  <a:pos x="624" y="0"/>
                </a:cxn>
              </a:cxnLst>
              <a:rect l="txL" t="txT" r="txR" b="txB"/>
              <a:pathLst>
                <a:path w="624" h="624">
                  <a:moveTo>
                    <a:pt x="0" y="624"/>
                  </a:moveTo>
                  <a:lnTo>
                    <a:pt x="624" y="0"/>
                  </a:ln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43" name="Line 32"/>
            <p:cNvSpPr/>
            <p:nvPr/>
          </p:nvSpPr>
          <p:spPr>
            <a:xfrm rot="-5400000" flipV="1">
              <a:off x="3787" y="3210"/>
              <a:ext cx="826" cy="81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0724" name="Object 33"/>
            <p:cNvGraphicFramePr/>
            <p:nvPr/>
          </p:nvGraphicFramePr>
          <p:xfrm>
            <a:off x="5232" y="3340"/>
            <a:ext cx="16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" name="" r:id="rId6" imgW="127000" imgH="215265" progId="Equation.3">
                    <p:embed/>
                  </p:oleObj>
                </mc:Choice>
                <mc:Fallback>
                  <p:oleObj name="" r:id="rId6" imgW="127000" imgH="215265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32" y="3340"/>
                          <a:ext cx="166" cy="2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4" name="Line 34"/>
            <p:cNvSpPr/>
            <p:nvPr/>
          </p:nvSpPr>
          <p:spPr>
            <a:xfrm>
              <a:off x="4608" y="4031"/>
              <a:ext cx="912" cy="1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5" name="Freeform 35"/>
            <p:cNvSpPr/>
            <p:nvPr/>
          </p:nvSpPr>
          <p:spPr>
            <a:xfrm>
              <a:off x="4737" y="3900"/>
              <a:ext cx="82" cy="131"/>
            </a:xfrm>
            <a:custGeom>
              <a:avLst/>
              <a:gdLst>
                <a:gd name="txL" fmla="*/ 0 w 82"/>
                <a:gd name="txT" fmla="*/ 0 h 129"/>
                <a:gd name="txR" fmla="*/ 82 w 82"/>
                <a:gd name="txB" fmla="*/ 129 h 129"/>
              </a:gdLst>
              <a:ahLst/>
              <a:cxnLst>
                <a:cxn ang="0">
                  <a:pos x="0" y="0"/>
                </a:cxn>
                <a:cxn ang="0">
                  <a:pos x="39" y="24"/>
                </a:cxn>
                <a:cxn ang="0">
                  <a:pos x="75" y="73"/>
                </a:cxn>
                <a:cxn ang="0">
                  <a:pos x="81" y="131"/>
                </a:cxn>
              </a:cxnLst>
              <a:rect l="txL" t="txT" r="txR" b="txB"/>
              <a:pathLst>
                <a:path w="82" h="129">
                  <a:moveTo>
                    <a:pt x="0" y="0"/>
                  </a:moveTo>
                  <a:cubicBezTo>
                    <a:pt x="6" y="4"/>
                    <a:pt x="26" y="12"/>
                    <a:pt x="39" y="24"/>
                  </a:cubicBezTo>
                  <a:cubicBezTo>
                    <a:pt x="52" y="36"/>
                    <a:pt x="68" y="54"/>
                    <a:pt x="75" y="72"/>
                  </a:cubicBezTo>
                  <a:cubicBezTo>
                    <a:pt x="82" y="90"/>
                    <a:pt x="80" y="117"/>
                    <a:pt x="81" y="129"/>
                  </a:cubicBezTo>
                </a:path>
              </a:pathLst>
            </a:custGeom>
            <a:noFill/>
            <a:ln w="28575" cap="flat" cmpd="sng">
              <a:solidFill>
                <a:srgbClr val="99FF99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46" name="Text Box 36"/>
            <p:cNvSpPr txBox="1"/>
            <p:nvPr/>
          </p:nvSpPr>
          <p:spPr>
            <a:xfrm>
              <a:off x="4800" y="3691"/>
              <a:ext cx="384" cy="28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47" name="Freeform 37"/>
            <p:cNvSpPr/>
            <p:nvPr/>
          </p:nvSpPr>
          <p:spPr>
            <a:xfrm>
              <a:off x="4512" y="3830"/>
              <a:ext cx="192" cy="97"/>
            </a:xfrm>
            <a:custGeom>
              <a:avLst/>
              <a:gdLst>
                <a:gd name="txL" fmla="*/ 0 w 192"/>
                <a:gd name="txT" fmla="*/ 0 h 96"/>
                <a:gd name="txR" fmla="*/ 192 w 192"/>
                <a:gd name="txB" fmla="*/ 96 h 96"/>
              </a:gdLst>
              <a:ahLst/>
              <a:cxnLst>
                <a:cxn ang="0">
                  <a:pos x="0" y="97"/>
                </a:cxn>
                <a:cxn ang="0">
                  <a:pos x="96" y="0"/>
                </a:cxn>
                <a:cxn ang="0">
                  <a:pos x="192" y="97"/>
                </a:cxn>
              </a:cxnLst>
              <a:rect l="txL" t="txT" r="txR" b="txB"/>
              <a:pathLst>
                <a:path w="192" h="96">
                  <a:moveTo>
                    <a:pt x="0" y="96"/>
                  </a:moveTo>
                  <a:lnTo>
                    <a:pt x="96" y="0"/>
                  </a:lnTo>
                  <a:lnTo>
                    <a:pt x="192" y="96"/>
                  </a:lnTo>
                </a:path>
              </a:pathLst>
            </a:custGeom>
            <a:noFill/>
            <a:ln w="28575" cap="flat" cmpd="sng">
              <a:solidFill>
                <a:srgbClr val="99FF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5158" name="Text Box 38" descr="绿色大理石"/>
          <p:cNvSpPr txBox="1"/>
          <p:nvPr/>
        </p:nvSpPr>
        <p:spPr>
          <a:xfrm>
            <a:off x="468313" y="549275"/>
            <a:ext cx="2684462" cy="519113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波形图及相量图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59" name="AutoShape 39" descr="羊皮纸"/>
          <p:cNvSpPr/>
          <p:nvPr/>
        </p:nvSpPr>
        <p:spPr>
          <a:xfrm>
            <a:off x="6588125" y="620713"/>
            <a:ext cx="1800225" cy="1008062"/>
          </a:xfrm>
          <a:prstGeom prst="wedgeRoundRectCallout">
            <a:avLst>
              <a:gd name="adj1" fmla="val -67903"/>
              <a:gd name="adj2" fmla="val 95199"/>
              <a:gd name="adj3" fmla="val 16667"/>
            </a:avLst>
          </a:prstGeom>
          <a:blipFill rotWithShape="1">
            <a:blip r:embed="rId8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电压超前电流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90</a:t>
            </a:r>
            <a:r>
              <a:rPr lang="en-US" altLang="zh-CN" b="0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°</a:t>
            </a:r>
            <a:endParaRPr lang="en-US" altLang="zh-CN" b="0" baseline="30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0733" name="Group 4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0740" name="Picture 47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41" name="Text Box 4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734" name="Group 4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0738" name="Picture 50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39" name="Text Box 5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735" name="Group 59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0736" name="Picture 60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37" name="Text Box 6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48" grpId="0"/>
      <p:bldP spid="5158" grpId="0" animBg="1"/>
      <p:bldP spid="515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5" name="Text Box 3"/>
          <p:cNvSpPr txBox="1"/>
          <p:nvPr/>
        </p:nvSpPr>
        <p:spPr>
          <a:xfrm>
            <a:off x="2268538" y="1125538"/>
            <a:ext cx="16129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时域形式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4036" name="Text Box 4"/>
          <p:cNvSpPr txBox="1"/>
          <p:nvPr/>
        </p:nvSpPr>
        <p:spPr>
          <a:xfrm>
            <a:off x="2268538" y="3068638"/>
            <a:ext cx="16129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相量形式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4038" name="Object 6"/>
          <p:cNvGraphicFramePr/>
          <p:nvPr/>
        </p:nvGraphicFramePr>
        <p:xfrm>
          <a:off x="4254500" y="1052513"/>
          <a:ext cx="393223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1" imgW="1739900" imgH="279400" progId="Equation.3">
                  <p:embed/>
                </p:oleObj>
              </mc:Choice>
              <mc:Fallback>
                <p:oleObj name="" r:id="rId1" imgW="1739900" imgH="2794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54500" y="1052513"/>
                        <a:ext cx="3932238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7"/>
          <p:cNvGraphicFramePr/>
          <p:nvPr/>
        </p:nvGraphicFramePr>
        <p:xfrm>
          <a:off x="2484438" y="1700213"/>
          <a:ext cx="6218237" cy="177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3" imgW="2792730" imgH="799465" progId="Equation.3">
                  <p:embed/>
                </p:oleObj>
              </mc:Choice>
              <mc:Fallback>
                <p:oleObj name="" r:id="rId3" imgW="2792730" imgH="799465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1700213"/>
                        <a:ext cx="6218237" cy="177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0" name="Text Box 8" descr="绿色大理石"/>
          <p:cNvSpPr txBox="1"/>
          <p:nvPr/>
        </p:nvSpPr>
        <p:spPr>
          <a:xfrm>
            <a:off x="395288" y="5445125"/>
            <a:ext cx="1612900" cy="519113"/>
          </a:xfrm>
          <a:prstGeom prst="rect">
            <a:avLst/>
          </a:prstGeom>
          <a:blipFill rotWithShape="1">
            <a:blip r:embed="rId5"/>
          </a:blipFill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相量模型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81"/>
          <p:cNvGrpSpPr/>
          <p:nvPr/>
        </p:nvGrpSpPr>
        <p:grpSpPr>
          <a:xfrm>
            <a:off x="611188" y="1557338"/>
            <a:ext cx="1717675" cy="1762125"/>
            <a:chOff x="340" y="935"/>
            <a:chExt cx="1082" cy="1110"/>
          </a:xfrm>
        </p:grpSpPr>
        <p:sp>
          <p:nvSpPr>
            <p:cNvPr id="31787" name="Freeform 21"/>
            <p:cNvSpPr/>
            <p:nvPr/>
          </p:nvSpPr>
          <p:spPr>
            <a:xfrm>
              <a:off x="1089" y="1295"/>
              <a:ext cx="1" cy="306"/>
            </a:xfrm>
            <a:custGeom>
              <a:avLst/>
              <a:gdLst>
                <a:gd name="txL" fmla="*/ 0 w 1"/>
                <a:gd name="txT" fmla="*/ 0 h 306"/>
                <a:gd name="txR" fmla="*/ 1 w 1"/>
                <a:gd name="txB" fmla="*/ 306 h 306"/>
              </a:gdLst>
              <a:ahLst/>
              <a:cxnLst>
                <a:cxn ang="0">
                  <a:pos x="1" y="306"/>
                </a:cxn>
                <a:cxn ang="0">
                  <a:pos x="0" y="0"/>
                </a:cxn>
              </a:cxnLst>
              <a:rect l="txL" t="txT" r="txR" b="txB"/>
              <a:pathLst>
                <a:path w="1" h="306">
                  <a:moveTo>
                    <a:pt x="1" y="306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88" name="Freeform 22"/>
            <p:cNvSpPr/>
            <p:nvPr/>
          </p:nvSpPr>
          <p:spPr>
            <a:xfrm>
              <a:off x="1083" y="1709"/>
              <a:ext cx="1" cy="312"/>
            </a:xfrm>
            <a:custGeom>
              <a:avLst/>
              <a:gdLst>
                <a:gd name="txL" fmla="*/ 0 w 1"/>
                <a:gd name="txT" fmla="*/ 0 h 312"/>
                <a:gd name="txR" fmla="*/ 1 w 1"/>
                <a:gd name="txB" fmla="*/ 312 h 312"/>
              </a:gdLst>
              <a:ahLst/>
              <a:cxnLst>
                <a:cxn ang="0">
                  <a:pos x="1" y="0"/>
                </a:cxn>
                <a:cxn ang="0">
                  <a:pos x="0" y="312"/>
                </a:cxn>
              </a:cxnLst>
              <a:rect l="txL" t="txT" r="txR" b="txB"/>
              <a:pathLst>
                <a:path w="1" h="312">
                  <a:moveTo>
                    <a:pt x="1" y="0"/>
                  </a:moveTo>
                  <a:lnTo>
                    <a:pt x="0" y="312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89" name="Freeform 23"/>
            <p:cNvSpPr/>
            <p:nvPr/>
          </p:nvSpPr>
          <p:spPr>
            <a:xfrm>
              <a:off x="513" y="1295"/>
              <a:ext cx="576" cy="6"/>
            </a:xfrm>
            <a:custGeom>
              <a:avLst/>
              <a:gdLst>
                <a:gd name="txL" fmla="*/ 0 w 576"/>
                <a:gd name="txT" fmla="*/ 0 h 6"/>
                <a:gd name="txR" fmla="*/ 576 w 576"/>
                <a:gd name="txB" fmla="*/ 6 h 6"/>
              </a:gdLst>
              <a:ahLst/>
              <a:cxnLst>
                <a:cxn ang="0">
                  <a:pos x="0" y="6"/>
                </a:cxn>
                <a:cxn ang="0">
                  <a:pos x="576" y="0"/>
                </a:cxn>
              </a:cxnLst>
              <a:rect l="txL" t="txT" r="txR" b="txB"/>
              <a:pathLst>
                <a:path w="576" h="6">
                  <a:moveTo>
                    <a:pt x="0" y="6"/>
                  </a:moveTo>
                  <a:lnTo>
                    <a:pt x="576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90" name="Freeform 24"/>
            <p:cNvSpPr/>
            <p:nvPr/>
          </p:nvSpPr>
          <p:spPr>
            <a:xfrm>
              <a:off x="510" y="2015"/>
              <a:ext cx="570" cy="3"/>
            </a:xfrm>
            <a:custGeom>
              <a:avLst/>
              <a:gdLst>
                <a:gd name="txL" fmla="*/ 0 w 570"/>
                <a:gd name="txT" fmla="*/ 0 h 3"/>
                <a:gd name="txR" fmla="*/ 570 w 570"/>
                <a:gd name="txB" fmla="*/ 3 h 3"/>
              </a:gdLst>
              <a:ahLst/>
              <a:cxnLst>
                <a:cxn ang="0">
                  <a:pos x="0" y="3"/>
                </a:cxn>
                <a:cxn ang="0">
                  <a:pos x="570" y="0"/>
                </a:cxn>
              </a:cxnLst>
              <a:rect l="txL" t="txT" r="txR" b="txB"/>
              <a:pathLst>
                <a:path w="570" h="3">
                  <a:moveTo>
                    <a:pt x="0" y="3"/>
                  </a:moveTo>
                  <a:lnTo>
                    <a:pt x="570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91" name="Line 25"/>
            <p:cNvSpPr/>
            <p:nvPr/>
          </p:nvSpPr>
          <p:spPr>
            <a:xfrm>
              <a:off x="612" y="1298"/>
              <a:ext cx="28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792" name="Text Box 26"/>
            <p:cNvSpPr txBox="1"/>
            <p:nvPr/>
          </p:nvSpPr>
          <p:spPr>
            <a:xfrm>
              <a:off x="521" y="935"/>
              <a:ext cx="4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93" name="Text Box 27"/>
            <p:cNvSpPr txBox="1"/>
            <p:nvPr/>
          </p:nvSpPr>
          <p:spPr>
            <a:xfrm>
              <a:off x="340" y="1511"/>
              <a:ext cx="48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94" name="Text Box 28"/>
            <p:cNvSpPr txBox="1"/>
            <p:nvPr/>
          </p:nvSpPr>
          <p:spPr>
            <a:xfrm>
              <a:off x="1157" y="1479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95" name="Oval 29"/>
            <p:cNvSpPr/>
            <p:nvPr/>
          </p:nvSpPr>
          <p:spPr>
            <a:xfrm>
              <a:off x="459" y="1991"/>
              <a:ext cx="48" cy="48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96" name="Oval 30"/>
            <p:cNvSpPr/>
            <p:nvPr/>
          </p:nvSpPr>
          <p:spPr>
            <a:xfrm>
              <a:off x="459" y="1271"/>
              <a:ext cx="48" cy="48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97" name="Text Box 31"/>
            <p:cNvSpPr txBox="1"/>
            <p:nvPr/>
          </p:nvSpPr>
          <p:spPr>
            <a:xfrm>
              <a:off x="378" y="1287"/>
              <a:ext cx="2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98" name="Text Box 32"/>
            <p:cNvSpPr txBox="1"/>
            <p:nvPr/>
          </p:nvSpPr>
          <p:spPr>
            <a:xfrm>
              <a:off x="391" y="1718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99" name="Line 33"/>
            <p:cNvSpPr/>
            <p:nvPr/>
          </p:nvSpPr>
          <p:spPr>
            <a:xfrm>
              <a:off x="964" y="1607"/>
              <a:ext cx="240" cy="0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00" name="Line 34"/>
            <p:cNvSpPr/>
            <p:nvPr/>
          </p:nvSpPr>
          <p:spPr>
            <a:xfrm>
              <a:off x="964" y="1703"/>
              <a:ext cx="240" cy="0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82"/>
          <p:cNvGrpSpPr/>
          <p:nvPr/>
        </p:nvGrpSpPr>
        <p:grpSpPr>
          <a:xfrm>
            <a:off x="539750" y="3357563"/>
            <a:ext cx="1866900" cy="1897062"/>
            <a:chOff x="340" y="2115"/>
            <a:chExt cx="1176" cy="1195"/>
          </a:xfrm>
        </p:grpSpPr>
        <p:graphicFrame>
          <p:nvGraphicFramePr>
            <p:cNvPr id="31750" name="Object 36"/>
            <p:cNvGraphicFramePr/>
            <p:nvPr/>
          </p:nvGraphicFramePr>
          <p:xfrm>
            <a:off x="340" y="2712"/>
            <a:ext cx="222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" name="" r:id="rId6" imgW="177800" imgH="304165" progId="Equation.3">
                    <p:embed/>
                  </p:oleObj>
                </mc:Choice>
                <mc:Fallback>
                  <p:oleObj name="" r:id="rId6" imgW="177800" imgH="304165" progId="Equation.3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0" y="2712"/>
                          <a:ext cx="222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1" name="Object 37"/>
            <p:cNvGraphicFramePr/>
            <p:nvPr/>
          </p:nvGraphicFramePr>
          <p:xfrm>
            <a:off x="574" y="2115"/>
            <a:ext cx="254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4" name="" r:id="rId8" imgW="203200" imgH="330200" progId="Equation.3">
                    <p:embed/>
                  </p:oleObj>
                </mc:Choice>
                <mc:Fallback>
                  <p:oleObj name="" r:id="rId8" imgW="203200" imgH="330200" progId="Equation.3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74" y="2115"/>
                          <a:ext cx="254" cy="4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6" name="Freeform 38"/>
            <p:cNvSpPr/>
            <p:nvPr/>
          </p:nvSpPr>
          <p:spPr>
            <a:xfrm>
              <a:off x="1059" y="2546"/>
              <a:ext cx="1" cy="306"/>
            </a:xfrm>
            <a:custGeom>
              <a:avLst/>
              <a:gdLst>
                <a:gd name="txL" fmla="*/ 0 w 1"/>
                <a:gd name="txT" fmla="*/ 0 h 306"/>
                <a:gd name="txR" fmla="*/ 1 w 1"/>
                <a:gd name="txB" fmla="*/ 306 h 306"/>
              </a:gdLst>
              <a:ahLst/>
              <a:cxnLst>
                <a:cxn ang="0">
                  <a:pos x="1" y="306"/>
                </a:cxn>
                <a:cxn ang="0">
                  <a:pos x="0" y="0"/>
                </a:cxn>
              </a:cxnLst>
              <a:rect l="txL" t="txT" r="txR" b="txB"/>
              <a:pathLst>
                <a:path w="1" h="306">
                  <a:moveTo>
                    <a:pt x="1" y="306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77" name="Freeform 39"/>
            <p:cNvSpPr/>
            <p:nvPr/>
          </p:nvSpPr>
          <p:spPr>
            <a:xfrm>
              <a:off x="1053" y="2960"/>
              <a:ext cx="1" cy="312"/>
            </a:xfrm>
            <a:custGeom>
              <a:avLst/>
              <a:gdLst>
                <a:gd name="txL" fmla="*/ 0 w 1"/>
                <a:gd name="txT" fmla="*/ 0 h 312"/>
                <a:gd name="txR" fmla="*/ 1 w 1"/>
                <a:gd name="txB" fmla="*/ 312 h 312"/>
              </a:gdLst>
              <a:ahLst/>
              <a:cxnLst>
                <a:cxn ang="0">
                  <a:pos x="1" y="0"/>
                </a:cxn>
                <a:cxn ang="0">
                  <a:pos x="0" y="312"/>
                </a:cxn>
              </a:cxnLst>
              <a:rect l="txL" t="txT" r="txR" b="txB"/>
              <a:pathLst>
                <a:path w="1" h="312">
                  <a:moveTo>
                    <a:pt x="1" y="0"/>
                  </a:moveTo>
                  <a:lnTo>
                    <a:pt x="0" y="312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78" name="Freeform 40"/>
            <p:cNvSpPr/>
            <p:nvPr/>
          </p:nvSpPr>
          <p:spPr>
            <a:xfrm>
              <a:off x="483" y="2546"/>
              <a:ext cx="576" cy="6"/>
            </a:xfrm>
            <a:custGeom>
              <a:avLst/>
              <a:gdLst>
                <a:gd name="txL" fmla="*/ 0 w 576"/>
                <a:gd name="txT" fmla="*/ 0 h 6"/>
                <a:gd name="txR" fmla="*/ 576 w 576"/>
                <a:gd name="txB" fmla="*/ 6 h 6"/>
              </a:gdLst>
              <a:ahLst/>
              <a:cxnLst>
                <a:cxn ang="0">
                  <a:pos x="0" y="6"/>
                </a:cxn>
                <a:cxn ang="0">
                  <a:pos x="576" y="0"/>
                </a:cxn>
              </a:cxnLst>
              <a:rect l="txL" t="txT" r="txR" b="txB"/>
              <a:pathLst>
                <a:path w="576" h="6">
                  <a:moveTo>
                    <a:pt x="0" y="6"/>
                  </a:moveTo>
                  <a:lnTo>
                    <a:pt x="576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79" name="Freeform 41"/>
            <p:cNvSpPr/>
            <p:nvPr/>
          </p:nvSpPr>
          <p:spPr>
            <a:xfrm>
              <a:off x="480" y="3266"/>
              <a:ext cx="570" cy="3"/>
            </a:xfrm>
            <a:custGeom>
              <a:avLst/>
              <a:gdLst>
                <a:gd name="txL" fmla="*/ 0 w 570"/>
                <a:gd name="txT" fmla="*/ 0 h 3"/>
                <a:gd name="txR" fmla="*/ 570 w 570"/>
                <a:gd name="txB" fmla="*/ 3 h 3"/>
              </a:gdLst>
              <a:ahLst/>
              <a:cxnLst>
                <a:cxn ang="0">
                  <a:pos x="0" y="3"/>
                </a:cxn>
                <a:cxn ang="0">
                  <a:pos x="570" y="0"/>
                </a:cxn>
              </a:cxnLst>
              <a:rect l="txL" t="txT" r="txR" b="txB"/>
              <a:pathLst>
                <a:path w="570" h="3">
                  <a:moveTo>
                    <a:pt x="0" y="3"/>
                  </a:moveTo>
                  <a:lnTo>
                    <a:pt x="570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80" name="Line 42"/>
            <p:cNvSpPr/>
            <p:nvPr/>
          </p:nvSpPr>
          <p:spPr>
            <a:xfrm>
              <a:off x="567" y="2550"/>
              <a:ext cx="28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781" name="Oval 43"/>
            <p:cNvSpPr/>
            <p:nvPr/>
          </p:nvSpPr>
          <p:spPr>
            <a:xfrm>
              <a:off x="429" y="3242"/>
              <a:ext cx="48" cy="48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82" name="Oval 44"/>
            <p:cNvSpPr/>
            <p:nvPr/>
          </p:nvSpPr>
          <p:spPr>
            <a:xfrm>
              <a:off x="429" y="2522"/>
              <a:ext cx="48" cy="48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83" name="Text Box 45"/>
            <p:cNvSpPr txBox="1"/>
            <p:nvPr/>
          </p:nvSpPr>
          <p:spPr>
            <a:xfrm>
              <a:off x="348" y="2570"/>
              <a:ext cx="22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84" name="Text Box 46"/>
            <p:cNvSpPr txBox="1"/>
            <p:nvPr/>
          </p:nvSpPr>
          <p:spPr>
            <a:xfrm>
              <a:off x="340" y="3022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85" name="Line 47"/>
            <p:cNvSpPr/>
            <p:nvPr/>
          </p:nvSpPr>
          <p:spPr>
            <a:xfrm>
              <a:off x="934" y="2858"/>
              <a:ext cx="240" cy="0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6" name="Line 48"/>
            <p:cNvSpPr/>
            <p:nvPr/>
          </p:nvSpPr>
          <p:spPr>
            <a:xfrm>
              <a:off x="934" y="2954"/>
              <a:ext cx="240" cy="0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31752" name="Object 49"/>
            <p:cNvGraphicFramePr/>
            <p:nvPr/>
          </p:nvGraphicFramePr>
          <p:xfrm>
            <a:off x="1119" y="2342"/>
            <a:ext cx="397" cy="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" r:id="rId10" imgW="393700" imgH="482600" progId="Equation.3">
                    <p:embed/>
                  </p:oleObj>
                </mc:Choice>
                <mc:Fallback>
                  <p:oleObj name="" r:id="rId10" imgW="393700" imgH="482600" progId="Equation.3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19" y="2342"/>
                          <a:ext cx="397" cy="4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083" name="Text Box 51"/>
          <p:cNvSpPr txBox="1"/>
          <p:nvPr/>
        </p:nvSpPr>
        <p:spPr>
          <a:xfrm>
            <a:off x="2314575" y="4221163"/>
            <a:ext cx="1612900" cy="519112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相量关系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4084" name="Object 52"/>
          <p:cNvGraphicFramePr/>
          <p:nvPr/>
        </p:nvGraphicFramePr>
        <p:xfrm>
          <a:off x="4483100" y="4221163"/>
          <a:ext cx="3160713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2" imgW="1422400" imgH="457200" progId="Equation.3">
                  <p:embed/>
                </p:oleObj>
              </mc:Choice>
              <mc:Fallback>
                <p:oleObj name="" r:id="rId12" imgW="1422400" imgH="45720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83100" y="4221163"/>
                        <a:ext cx="3160713" cy="10128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FFFF"/>
                          </a:gs>
                          <a:gs pos="50000">
                            <a:schemeClr val="bg1"/>
                          </a:gs>
                          <a:gs pos="100000">
                            <a:srgbClr val="00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85" name="Text Box 53"/>
          <p:cNvSpPr txBox="1"/>
          <p:nvPr/>
        </p:nvSpPr>
        <p:spPr>
          <a:xfrm>
            <a:off x="395288" y="501650"/>
            <a:ext cx="60483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3.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电容元件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VCR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的相量形式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pSp>
        <p:nvGrpSpPr>
          <p:cNvPr id="31760" name="Group 6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1774" name="Picture 63" descr="7890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75" name="Text Box 6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1761" name="Group 6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1772" name="Picture 66" descr="7890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73" name="Text Box 6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73"/>
          <p:cNvGrpSpPr/>
          <p:nvPr/>
        </p:nvGrpSpPr>
        <p:grpSpPr>
          <a:xfrm>
            <a:off x="2987675" y="5300663"/>
            <a:ext cx="4968875" cy="1084262"/>
            <a:chOff x="1882" y="3339"/>
            <a:chExt cx="3130" cy="683"/>
          </a:xfrm>
        </p:grpSpPr>
        <p:sp>
          <p:nvSpPr>
            <p:cNvPr id="31769" name="Text Box 9"/>
            <p:cNvSpPr txBox="1"/>
            <p:nvPr/>
          </p:nvSpPr>
          <p:spPr>
            <a:xfrm>
              <a:off x="1927" y="3339"/>
              <a:ext cx="308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有效值关系</a:t>
              </a:r>
              <a:r>
                <a: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CU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0" name="Text Box 10"/>
            <p:cNvSpPr txBox="1"/>
            <p:nvPr/>
          </p:nvSpPr>
          <p:spPr>
            <a:xfrm>
              <a:off x="1973" y="3657"/>
              <a:ext cx="255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相位关系     </a:t>
              </a:r>
              <a:r>
                <a:rPr lang="zh-CN" altLang="en-US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+90°</a:t>
              </a:r>
              <a:r>
                <a:rPr lang="en-US" altLang="zh-CN" sz="24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</a:t>
              </a:r>
              <a:endPara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1" name="AutoShape 72"/>
            <p:cNvSpPr/>
            <p:nvPr/>
          </p:nvSpPr>
          <p:spPr>
            <a:xfrm>
              <a:off x="1882" y="3385"/>
              <a:ext cx="45" cy="635"/>
            </a:xfrm>
            <a:prstGeom prst="leftBrace">
              <a:avLst>
                <a:gd name="adj1" fmla="val 117592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1763" name="Group 78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1767" name="Picture 79" descr="7890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68" name="Text Box 8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" name="Group 84"/>
          <p:cNvGrpSpPr/>
          <p:nvPr/>
        </p:nvGrpSpPr>
        <p:grpSpPr>
          <a:xfrm>
            <a:off x="3621088" y="3357563"/>
            <a:ext cx="5081587" cy="720725"/>
            <a:chOff x="2281" y="2115"/>
            <a:chExt cx="3201" cy="454"/>
          </a:xfrm>
        </p:grpSpPr>
        <p:graphicFrame>
          <p:nvGraphicFramePr>
            <p:cNvPr id="31749" name="Object 5"/>
            <p:cNvGraphicFramePr/>
            <p:nvPr/>
          </p:nvGraphicFramePr>
          <p:xfrm>
            <a:off x="2281" y="2115"/>
            <a:ext cx="3201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" name="" r:id="rId15" imgW="2220595" imgH="355600" progId="Equation.3">
                    <p:embed/>
                  </p:oleObj>
                </mc:Choice>
                <mc:Fallback>
                  <p:oleObj name="" r:id="rId15" imgW="2220595" imgH="355600" progId="Equation.3">
                    <p:embed/>
                    <p:pic>
                      <p:nvPicPr>
                        <p:cNvPr id="0" name="图片 3185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81" y="2115"/>
                          <a:ext cx="3201" cy="4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5" name="Line 55"/>
            <p:cNvSpPr/>
            <p:nvPr/>
          </p:nvSpPr>
          <p:spPr>
            <a:xfrm>
              <a:off x="4540" y="2541"/>
              <a:ext cx="86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6" name="Line 83"/>
            <p:cNvSpPr/>
            <p:nvPr/>
          </p:nvSpPr>
          <p:spPr>
            <a:xfrm>
              <a:off x="2934" y="2541"/>
              <a:ext cx="3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4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4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2000"/>
                                        <p:tgtEl>
                                          <p:spTgt spid="4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/>
      <p:bldP spid="44036" grpId="0"/>
      <p:bldP spid="44083" grpId="0"/>
      <p:bldP spid="4408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Text Box 2"/>
          <p:cNvSpPr txBox="1"/>
          <p:nvPr/>
        </p:nvSpPr>
        <p:spPr>
          <a:xfrm>
            <a:off x="1258888" y="1125538"/>
            <a:ext cx="7226300" cy="1260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1/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称为容抗，单位为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zh-CN" b="0" dirty="0">
                <a:latin typeface="楷体_GB2312" pitchFamily="49" charset="-122"/>
              </a:rPr>
              <a:t>(</a:t>
            </a:r>
            <a:r>
              <a:rPr lang="zh-CN" altLang="zh-CN" dirty="0">
                <a:latin typeface="楷体_GB2312" pitchFamily="49" charset="-122"/>
              </a:rPr>
              <a:t>欧</a:t>
            </a:r>
            <a:r>
              <a:rPr lang="en-US" altLang="zh-CN" b="0" dirty="0">
                <a:latin typeface="楷体_GB2312" pitchFamily="49" charset="-122"/>
              </a:rPr>
              <a:t>[</a:t>
            </a:r>
            <a:r>
              <a:rPr lang="zh-CN" altLang="zh-CN" dirty="0">
                <a:latin typeface="楷体_GB2312" pitchFamily="49" charset="-122"/>
              </a:rPr>
              <a:t>姆</a:t>
            </a:r>
            <a:r>
              <a:rPr lang="en-US" altLang="zh-CN" b="0" dirty="0">
                <a:latin typeface="楷体_GB2312" pitchFamily="49" charset="-122"/>
              </a:rPr>
              <a:t>]</a:t>
            </a:r>
            <a:r>
              <a:rPr lang="zh-CN" altLang="zh-CN" b="0" dirty="0">
                <a:latin typeface="楷体_GB2312" pitchFamily="49" charset="-122"/>
              </a:rPr>
              <a:t>)</a:t>
            </a:r>
            <a:endParaRPr lang="en-US" altLang="zh-CN" b="0" dirty="0">
              <a:latin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B 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latin typeface="楷体_GB2312" pitchFamily="49" charset="-122"/>
              </a:rPr>
              <a:t>称为容纳，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单位为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0" dirty="0"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西</a:t>
            </a:r>
            <a:r>
              <a:rPr lang="en-US" altLang="zh-CN" b="0" dirty="0">
                <a:latin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门子</a:t>
            </a:r>
            <a:r>
              <a:rPr lang="en-US" altLang="zh-CN" b="0" dirty="0">
                <a:latin typeface="Arial" panose="020B0604020202020204" pitchFamily="34" charset="0"/>
                <a:sym typeface="Symbol" panose="05050102010706020507" pitchFamily="18" charset="2"/>
              </a:rPr>
              <a:t>])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zh-CN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3011" name="Text Box 3"/>
          <p:cNvSpPr txBox="1"/>
          <p:nvPr/>
        </p:nvSpPr>
        <p:spPr>
          <a:xfrm>
            <a:off x="2857500" y="2357438"/>
            <a:ext cx="6121400" cy="179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</a:rPr>
              <a:t>容抗和频率成反比。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Symbol" panose="05050102010706020507" pitchFamily="18" charset="2"/>
            </a:pP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sz="32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 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lang="en-US" altLang="zh-CN" sz="32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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楷体_GB2312" pitchFamily="49" charset="-122"/>
              </a:rPr>
              <a:t>直流相当于开路</a:t>
            </a:r>
            <a:r>
              <a:rPr lang="en-US" altLang="zh-CN" sz="2400" b="0" dirty="0">
                <a:latin typeface="楷体_GB2312" pitchFamily="49" charset="-122"/>
              </a:rPr>
              <a:t>(</a:t>
            </a:r>
            <a:r>
              <a:rPr lang="zh-CN" altLang="en-US" sz="2400" dirty="0">
                <a:latin typeface="楷体_GB2312" pitchFamily="49" charset="-122"/>
              </a:rPr>
              <a:t>隔直</a:t>
            </a:r>
            <a:r>
              <a:rPr lang="en-US" altLang="zh-CN" sz="2400" b="0" dirty="0">
                <a:latin typeface="楷体_GB2312" pitchFamily="49" charset="-122"/>
              </a:rPr>
              <a:t>)</a:t>
            </a:r>
            <a:r>
              <a:rPr lang="zh-CN" altLang="en-US" sz="2400" dirty="0">
                <a:latin typeface="楷体_GB2312" pitchFamily="49" charset="-122"/>
              </a:rPr>
              <a:t>。</a:t>
            </a:r>
            <a:endParaRPr lang="zh-CN" altLang="en-US" sz="2400" dirty="0">
              <a:latin typeface="楷体_GB2312" pitchFamily="49" charset="-122"/>
            </a:endParaRPr>
          </a:p>
          <a:p>
            <a:pPr>
              <a:lnSpc>
                <a:spcPct val="120000"/>
              </a:lnSpc>
              <a:buFont typeface="Symbol" panose="05050102010706020507" pitchFamily="18" charset="2"/>
            </a:pPr>
            <a:r>
              <a:rPr lang="en-US" altLang="zh-CN" sz="32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 </a:t>
            </a:r>
            <a:r>
              <a:rPr lang="en-US" altLang="zh-CN" sz="32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 </a:t>
            </a:r>
            <a:r>
              <a:rPr lang="zh-CN" altLang="en-US" sz="32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lang="en-US" altLang="zh-CN" sz="32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0</a:t>
            </a:r>
            <a:r>
              <a:rPr lang="en-US" altLang="zh-CN" sz="240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latin typeface="楷体_GB2312" pitchFamily="49" charset="-122"/>
                <a:sym typeface="Symbol" panose="05050102010706020507" pitchFamily="18" charset="2"/>
              </a:rPr>
              <a:t>高频趋于短路。</a:t>
            </a:r>
            <a:endParaRPr lang="zh-CN" altLang="en-US" sz="2400" dirty="0">
              <a:latin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43033" name="Text Box 25" descr="绿色大理石"/>
          <p:cNvSpPr txBox="1"/>
          <p:nvPr/>
        </p:nvSpPr>
        <p:spPr>
          <a:xfrm>
            <a:off x="684213" y="620713"/>
            <a:ext cx="1970087" cy="519112"/>
          </a:xfrm>
          <a:prstGeom prst="rect">
            <a:avLst/>
          </a:prstGeom>
          <a:blipFill rotWithShape="1">
            <a:blip r:embed="rId1"/>
          </a:blipFill>
          <a:ln w="19050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容抗与容纳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46" name="Text Box 38" descr="绿色大理石"/>
          <p:cNvSpPr txBox="1"/>
          <p:nvPr/>
        </p:nvSpPr>
        <p:spPr>
          <a:xfrm>
            <a:off x="684213" y="5084763"/>
            <a:ext cx="1970087" cy="604837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相量表达式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aphicFrame>
        <p:nvGraphicFramePr>
          <p:cNvPr id="43047" name="Object 39"/>
          <p:cNvGraphicFramePr/>
          <p:nvPr/>
        </p:nvGraphicFramePr>
        <p:xfrm>
          <a:off x="4214813" y="5572125"/>
          <a:ext cx="394017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2" imgW="1714500" imgH="749300" progId="Equation.DSMT4">
                  <p:embed/>
                </p:oleObj>
              </mc:Choice>
              <mc:Fallback>
                <p:oleObj name="" r:id="rId2" imgW="1714500" imgH="749300" progId="Equation.DSMT4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rcRect t="62254"/>
                      <a:stretch>
                        <a:fillRect/>
                      </a:stretch>
                    </p:blipFill>
                    <p:spPr>
                      <a:xfrm>
                        <a:off x="4214813" y="5572125"/>
                        <a:ext cx="3940175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776" name="Group 4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2791" name="Picture 45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92" name="Text Box 4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2777" name="Group 4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2789" name="Picture 48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90" name="Text Box 4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2778" name="Group 56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2787" name="Picture 57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88" name="Text Box 5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43067" name="Object 59"/>
          <p:cNvGraphicFramePr/>
          <p:nvPr/>
        </p:nvGraphicFramePr>
        <p:xfrm>
          <a:off x="4429125" y="4572000"/>
          <a:ext cx="3286125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5" imgW="1574800" imgH="457200" progId="Equation.3">
                  <p:embed/>
                </p:oleObj>
              </mc:Choice>
              <mc:Fallback>
                <p:oleObj name="" r:id="rId5" imgW="1574800" imgH="45720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29125" y="4572000"/>
                        <a:ext cx="3286125" cy="954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61"/>
          <p:cNvGrpSpPr/>
          <p:nvPr/>
        </p:nvGrpSpPr>
        <p:grpSpPr>
          <a:xfrm>
            <a:off x="468313" y="2657475"/>
            <a:ext cx="2895600" cy="1976438"/>
            <a:chOff x="295" y="1674"/>
            <a:chExt cx="1824" cy="1245"/>
          </a:xfrm>
        </p:grpSpPr>
        <p:grpSp>
          <p:nvGrpSpPr>
            <p:cNvPr id="32780" name="Group 4"/>
            <p:cNvGrpSpPr/>
            <p:nvPr/>
          </p:nvGrpSpPr>
          <p:grpSpPr>
            <a:xfrm>
              <a:off x="295" y="1674"/>
              <a:ext cx="1824" cy="1245"/>
              <a:chOff x="1344" y="1936"/>
              <a:chExt cx="1824" cy="1245"/>
            </a:xfrm>
          </p:grpSpPr>
          <p:sp>
            <p:nvSpPr>
              <p:cNvPr id="32782" name="Line 5"/>
              <p:cNvSpPr/>
              <p:nvPr/>
            </p:nvSpPr>
            <p:spPr>
              <a:xfrm flipV="1">
                <a:off x="1776" y="2064"/>
                <a:ext cx="0" cy="912"/>
              </a:xfrm>
              <a:prstGeom prst="line">
                <a:avLst/>
              </a:prstGeom>
              <a:ln w="28575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783" name="Line 6"/>
              <p:cNvSpPr/>
              <p:nvPr/>
            </p:nvSpPr>
            <p:spPr>
              <a:xfrm>
                <a:off x="1778" y="2976"/>
                <a:ext cx="1056" cy="0"/>
              </a:xfrm>
              <a:prstGeom prst="line">
                <a:avLst/>
              </a:prstGeom>
              <a:ln w="28575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784" name="Text Box 7"/>
              <p:cNvSpPr txBox="1"/>
              <p:nvPr/>
            </p:nvSpPr>
            <p:spPr>
              <a:xfrm>
                <a:off x="2824" y="2854"/>
                <a:ext cx="344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p>
                <a:r>
                  <a:rPr lang="en-US" altLang="zh-CN" b="0" i="1" dirty="0">
                    <a:solidFill>
                      <a:schemeClr val="bg1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w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85" name="Rectangle 8"/>
              <p:cNvSpPr/>
              <p:nvPr/>
            </p:nvSpPr>
            <p:spPr>
              <a:xfrm>
                <a:off x="1344" y="1936"/>
                <a:ext cx="444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|</a:t>
                </a: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|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86" name="Freeform 9"/>
              <p:cNvSpPr/>
              <p:nvPr/>
            </p:nvSpPr>
            <p:spPr>
              <a:xfrm>
                <a:off x="1806" y="2208"/>
                <a:ext cx="807" cy="753"/>
              </a:xfrm>
              <a:custGeom>
                <a:avLst/>
                <a:gdLst>
                  <a:gd name="txL" fmla="*/ 0 w 807"/>
                  <a:gd name="txT" fmla="*/ 0 h 753"/>
                  <a:gd name="txR" fmla="*/ 807 w 807"/>
                  <a:gd name="txB" fmla="*/ 753 h 753"/>
                </a:gdLst>
                <a:ahLst/>
                <a:cxnLst>
                  <a:cxn ang="0">
                    <a:pos x="0" y="0"/>
                  </a:cxn>
                  <a:cxn ang="0">
                    <a:pos x="57" y="429"/>
                  </a:cxn>
                  <a:cxn ang="0">
                    <a:pos x="294" y="699"/>
                  </a:cxn>
                  <a:cxn ang="0">
                    <a:pos x="807" y="750"/>
                  </a:cxn>
                </a:cxnLst>
                <a:rect l="txL" t="txT" r="txR" b="txB"/>
                <a:pathLst>
                  <a:path w="807" h="753">
                    <a:moveTo>
                      <a:pt x="0" y="0"/>
                    </a:moveTo>
                    <a:cubicBezTo>
                      <a:pt x="10" y="72"/>
                      <a:pt x="8" y="312"/>
                      <a:pt x="57" y="429"/>
                    </a:cubicBezTo>
                    <a:cubicBezTo>
                      <a:pt x="106" y="546"/>
                      <a:pt x="169" y="645"/>
                      <a:pt x="294" y="699"/>
                    </a:cubicBezTo>
                    <a:cubicBezTo>
                      <a:pt x="419" y="753"/>
                      <a:pt x="700" y="740"/>
                      <a:pt x="807" y="75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2781" name="Text Box 60"/>
            <p:cNvSpPr txBox="1"/>
            <p:nvPr/>
          </p:nvSpPr>
          <p:spPr>
            <a:xfrm>
              <a:off x="521" y="2659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10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3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3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4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43011" grpId="0"/>
      <p:bldP spid="43033" grpId="0" animBg="1"/>
      <p:bldP spid="4304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92" name="Text Box 8" descr="绿色大理石"/>
          <p:cNvSpPr txBox="1"/>
          <p:nvPr/>
        </p:nvSpPr>
        <p:spPr>
          <a:xfrm>
            <a:off x="539750" y="4005263"/>
            <a:ext cx="898525" cy="519112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功率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1993" name="Object 9"/>
          <p:cNvGraphicFramePr/>
          <p:nvPr/>
        </p:nvGraphicFramePr>
        <p:xfrm>
          <a:off x="1649413" y="3933825"/>
          <a:ext cx="6626225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2" imgW="2907030" imgH="520700" progId="Equation.3">
                  <p:embed/>
                </p:oleObj>
              </mc:Choice>
              <mc:Fallback>
                <p:oleObj name="" r:id="rId2" imgW="2907030" imgH="520700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49413" y="3933825"/>
                        <a:ext cx="6626225" cy="1189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3"/>
          <p:cNvGrpSpPr/>
          <p:nvPr/>
        </p:nvGrpSpPr>
        <p:grpSpPr>
          <a:xfrm>
            <a:off x="684213" y="1270000"/>
            <a:ext cx="4640262" cy="2446338"/>
            <a:chOff x="385" y="346"/>
            <a:chExt cx="2503" cy="1440"/>
          </a:xfrm>
        </p:grpSpPr>
        <p:sp>
          <p:nvSpPr>
            <p:cNvPr id="33833" name="Line 11"/>
            <p:cNvSpPr/>
            <p:nvPr/>
          </p:nvSpPr>
          <p:spPr>
            <a:xfrm flipV="1">
              <a:off x="673" y="346"/>
              <a:ext cx="0" cy="144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3834" name="Line 12"/>
            <p:cNvSpPr/>
            <p:nvPr/>
          </p:nvSpPr>
          <p:spPr>
            <a:xfrm flipV="1">
              <a:off x="385" y="1224"/>
              <a:ext cx="2429" cy="7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3835" name="Text Box 13"/>
            <p:cNvSpPr txBox="1"/>
            <p:nvPr/>
          </p:nvSpPr>
          <p:spPr>
            <a:xfrm>
              <a:off x="2556" y="1189"/>
              <a:ext cx="332" cy="30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36" name="Freeform 14"/>
            <p:cNvSpPr/>
            <p:nvPr/>
          </p:nvSpPr>
          <p:spPr>
            <a:xfrm flipH="1">
              <a:off x="529" y="998"/>
              <a:ext cx="1850" cy="452"/>
            </a:xfrm>
            <a:custGeom>
              <a:avLst/>
              <a:gdLst>
                <a:gd name="txL" fmla="*/ 0 w 1850"/>
                <a:gd name="txT" fmla="*/ 0 h 873"/>
                <a:gd name="txR" fmla="*/ 1850 w 1850"/>
                <a:gd name="txB" fmla="*/ 873 h 873"/>
              </a:gdLst>
              <a:ahLst/>
              <a:cxnLst>
                <a:cxn ang="0">
                  <a:pos x="0" y="230"/>
                </a:cxn>
                <a:cxn ang="0">
                  <a:pos x="86" y="151"/>
                </a:cxn>
                <a:cxn ang="0">
                  <a:pos x="161" y="86"/>
                </a:cxn>
                <a:cxn ang="0">
                  <a:pos x="256" y="30"/>
                </a:cxn>
                <a:cxn ang="0">
                  <a:pos x="364" y="4"/>
                </a:cxn>
                <a:cxn ang="0">
                  <a:pos x="498" y="36"/>
                </a:cxn>
                <a:cxn ang="0">
                  <a:pos x="632" y="130"/>
                </a:cxn>
                <a:cxn ang="0">
                  <a:pos x="732" y="225"/>
                </a:cxn>
                <a:cxn ang="0">
                  <a:pos x="845" y="328"/>
                </a:cxn>
                <a:cxn ang="0">
                  <a:pos x="956" y="411"/>
                </a:cxn>
                <a:cxn ang="0">
                  <a:pos x="1110" y="449"/>
                </a:cxn>
                <a:cxn ang="0">
                  <a:pos x="1275" y="389"/>
                </a:cxn>
                <a:cxn ang="0">
                  <a:pos x="1463" y="231"/>
                </a:cxn>
                <a:cxn ang="0">
                  <a:pos x="1550" y="146"/>
                </a:cxn>
                <a:cxn ang="0">
                  <a:pos x="1702" y="37"/>
                </a:cxn>
                <a:cxn ang="0">
                  <a:pos x="1828" y="5"/>
                </a:cxn>
                <a:cxn ang="0">
                  <a:pos x="1835" y="7"/>
                </a:cxn>
              </a:cxnLst>
              <a:rect l="txL" t="txT" r="txR" b="txB"/>
              <a:pathLst>
                <a:path w="1850" h="873">
                  <a:moveTo>
                    <a:pt x="0" y="445"/>
                  </a:moveTo>
                  <a:cubicBezTo>
                    <a:pt x="14" y="418"/>
                    <a:pt x="59" y="337"/>
                    <a:pt x="86" y="291"/>
                  </a:cubicBezTo>
                  <a:cubicBezTo>
                    <a:pt x="113" y="245"/>
                    <a:pt x="133" y="206"/>
                    <a:pt x="161" y="167"/>
                  </a:cubicBezTo>
                  <a:cubicBezTo>
                    <a:pt x="189" y="128"/>
                    <a:pt x="223" y="84"/>
                    <a:pt x="256" y="58"/>
                  </a:cubicBezTo>
                  <a:cubicBezTo>
                    <a:pt x="290" y="31"/>
                    <a:pt x="324" y="5"/>
                    <a:pt x="364" y="7"/>
                  </a:cubicBezTo>
                  <a:cubicBezTo>
                    <a:pt x="405" y="10"/>
                    <a:pt x="453" y="29"/>
                    <a:pt x="498" y="69"/>
                  </a:cubicBezTo>
                  <a:cubicBezTo>
                    <a:pt x="543" y="110"/>
                    <a:pt x="593" y="190"/>
                    <a:pt x="632" y="251"/>
                  </a:cubicBezTo>
                  <a:cubicBezTo>
                    <a:pt x="670" y="311"/>
                    <a:pt x="696" y="371"/>
                    <a:pt x="732" y="435"/>
                  </a:cubicBezTo>
                  <a:cubicBezTo>
                    <a:pt x="768" y="498"/>
                    <a:pt x="808" y="573"/>
                    <a:pt x="845" y="633"/>
                  </a:cubicBezTo>
                  <a:cubicBezTo>
                    <a:pt x="883" y="692"/>
                    <a:pt x="912" y="754"/>
                    <a:pt x="956" y="793"/>
                  </a:cubicBezTo>
                  <a:cubicBezTo>
                    <a:pt x="1000" y="832"/>
                    <a:pt x="1057" y="873"/>
                    <a:pt x="1110" y="867"/>
                  </a:cubicBezTo>
                  <a:cubicBezTo>
                    <a:pt x="1164" y="860"/>
                    <a:pt x="1216" y="822"/>
                    <a:pt x="1275" y="752"/>
                  </a:cubicBezTo>
                  <a:cubicBezTo>
                    <a:pt x="1334" y="682"/>
                    <a:pt x="1417" y="525"/>
                    <a:pt x="1463" y="447"/>
                  </a:cubicBezTo>
                  <a:cubicBezTo>
                    <a:pt x="1508" y="369"/>
                    <a:pt x="1511" y="344"/>
                    <a:pt x="1550" y="282"/>
                  </a:cubicBezTo>
                  <a:cubicBezTo>
                    <a:pt x="1590" y="220"/>
                    <a:pt x="1656" y="117"/>
                    <a:pt x="1702" y="72"/>
                  </a:cubicBezTo>
                  <a:cubicBezTo>
                    <a:pt x="1748" y="26"/>
                    <a:pt x="1806" y="20"/>
                    <a:pt x="1828" y="10"/>
                  </a:cubicBezTo>
                  <a:cubicBezTo>
                    <a:pt x="1850" y="0"/>
                    <a:pt x="1834" y="13"/>
                    <a:pt x="1835" y="13"/>
                  </a:cubicBez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837" name="Freeform 15"/>
            <p:cNvSpPr/>
            <p:nvPr/>
          </p:nvSpPr>
          <p:spPr>
            <a:xfrm>
              <a:off x="505" y="874"/>
              <a:ext cx="2016" cy="672"/>
            </a:xfrm>
            <a:custGeom>
              <a:avLst/>
              <a:gdLst>
                <a:gd name="txL" fmla="*/ 0 w 1977"/>
                <a:gd name="txT" fmla="*/ 0 h 432"/>
                <a:gd name="txR" fmla="*/ 1977 w 1977"/>
                <a:gd name="txB" fmla="*/ 432 h 432"/>
              </a:gdLst>
              <a:ahLst/>
              <a:cxnLst>
                <a:cxn ang="0">
                  <a:pos x="24" y="338"/>
                </a:cxn>
                <a:cxn ang="0">
                  <a:pos x="31" y="338"/>
                </a:cxn>
                <a:cxn ang="0">
                  <a:pos x="34" y="334"/>
                </a:cxn>
                <a:cxn ang="0">
                  <a:pos x="236" y="82"/>
                </a:cxn>
                <a:cxn ang="0">
                  <a:pos x="419" y="3"/>
                </a:cxn>
                <a:cxn ang="0">
                  <a:pos x="598" y="104"/>
                </a:cxn>
                <a:cxn ang="0">
                  <a:pos x="779" y="338"/>
                </a:cxn>
                <a:cxn ang="0">
                  <a:pos x="1000" y="599"/>
                </a:cxn>
                <a:cxn ang="0">
                  <a:pos x="1138" y="669"/>
                </a:cxn>
                <a:cxn ang="0">
                  <a:pos x="1283" y="618"/>
                </a:cxn>
                <a:cxn ang="0">
                  <a:pos x="1429" y="445"/>
                </a:cxn>
                <a:cxn ang="0">
                  <a:pos x="1530" y="319"/>
                </a:cxn>
                <a:cxn ang="0">
                  <a:pos x="1670" y="128"/>
                </a:cxn>
                <a:cxn ang="0">
                  <a:pos x="1845" y="20"/>
                </a:cxn>
                <a:cxn ang="0">
                  <a:pos x="1964" y="44"/>
                </a:cxn>
                <a:cxn ang="0">
                  <a:pos x="2016" y="81"/>
                </a:cxn>
              </a:cxnLst>
              <a:rect l="txL" t="txT" r="txR" b="txB"/>
              <a:pathLst>
                <a:path w="1977" h="432">
                  <a:moveTo>
                    <a:pt x="24" y="217"/>
                  </a:moveTo>
                  <a:cubicBezTo>
                    <a:pt x="24" y="217"/>
                    <a:pt x="29" y="217"/>
                    <a:pt x="30" y="217"/>
                  </a:cubicBezTo>
                  <a:cubicBezTo>
                    <a:pt x="31" y="217"/>
                    <a:pt x="0" y="242"/>
                    <a:pt x="33" y="215"/>
                  </a:cubicBezTo>
                  <a:cubicBezTo>
                    <a:pt x="66" y="188"/>
                    <a:pt x="168" y="88"/>
                    <a:pt x="231" y="53"/>
                  </a:cubicBezTo>
                  <a:cubicBezTo>
                    <a:pt x="294" y="18"/>
                    <a:pt x="352" y="0"/>
                    <a:pt x="411" y="2"/>
                  </a:cubicBezTo>
                  <a:cubicBezTo>
                    <a:pt x="470" y="5"/>
                    <a:pt x="528" y="31"/>
                    <a:pt x="586" y="67"/>
                  </a:cubicBezTo>
                  <a:cubicBezTo>
                    <a:pt x="644" y="103"/>
                    <a:pt x="698" y="164"/>
                    <a:pt x="764" y="217"/>
                  </a:cubicBezTo>
                  <a:cubicBezTo>
                    <a:pt x="830" y="270"/>
                    <a:pt x="922" y="349"/>
                    <a:pt x="981" y="385"/>
                  </a:cubicBezTo>
                  <a:cubicBezTo>
                    <a:pt x="1040" y="421"/>
                    <a:pt x="1070" y="428"/>
                    <a:pt x="1116" y="430"/>
                  </a:cubicBezTo>
                  <a:cubicBezTo>
                    <a:pt x="1162" y="432"/>
                    <a:pt x="1210" y="421"/>
                    <a:pt x="1258" y="397"/>
                  </a:cubicBezTo>
                  <a:cubicBezTo>
                    <a:pt x="1306" y="373"/>
                    <a:pt x="1361" y="318"/>
                    <a:pt x="1401" y="286"/>
                  </a:cubicBezTo>
                  <a:cubicBezTo>
                    <a:pt x="1441" y="254"/>
                    <a:pt x="1461" y="239"/>
                    <a:pt x="1500" y="205"/>
                  </a:cubicBezTo>
                  <a:cubicBezTo>
                    <a:pt x="1539" y="171"/>
                    <a:pt x="1587" y="114"/>
                    <a:pt x="1638" y="82"/>
                  </a:cubicBezTo>
                  <a:cubicBezTo>
                    <a:pt x="1689" y="50"/>
                    <a:pt x="1761" y="22"/>
                    <a:pt x="1809" y="13"/>
                  </a:cubicBezTo>
                  <a:cubicBezTo>
                    <a:pt x="1857" y="4"/>
                    <a:pt x="1898" y="21"/>
                    <a:pt x="1926" y="28"/>
                  </a:cubicBezTo>
                  <a:cubicBezTo>
                    <a:pt x="1954" y="35"/>
                    <a:pt x="1967" y="47"/>
                    <a:pt x="1977" y="52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838" name="Text Box 16"/>
            <p:cNvSpPr txBox="1"/>
            <p:nvPr/>
          </p:nvSpPr>
          <p:spPr>
            <a:xfrm>
              <a:off x="1655" y="436"/>
              <a:ext cx="302" cy="30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39" name="Text Box 17"/>
            <p:cNvSpPr txBox="1"/>
            <p:nvPr/>
          </p:nvSpPr>
          <p:spPr>
            <a:xfrm>
              <a:off x="418" y="1285"/>
              <a:ext cx="199" cy="23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40" name="Text Box 18"/>
            <p:cNvSpPr txBox="1"/>
            <p:nvPr/>
          </p:nvSpPr>
          <p:spPr>
            <a:xfrm>
              <a:off x="2521" y="794"/>
              <a:ext cx="196" cy="30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44"/>
          <p:cNvGrpSpPr/>
          <p:nvPr/>
        </p:nvGrpSpPr>
        <p:grpSpPr>
          <a:xfrm>
            <a:off x="900113" y="1341438"/>
            <a:ext cx="4032250" cy="2303462"/>
            <a:chOff x="521" y="391"/>
            <a:chExt cx="2103" cy="1389"/>
          </a:xfrm>
        </p:grpSpPr>
        <p:sp>
          <p:nvSpPr>
            <p:cNvPr id="33830" name="Freeform 19"/>
            <p:cNvSpPr/>
            <p:nvPr/>
          </p:nvSpPr>
          <p:spPr>
            <a:xfrm>
              <a:off x="1474" y="572"/>
              <a:ext cx="890" cy="1200"/>
            </a:xfrm>
            <a:custGeom>
              <a:avLst/>
              <a:gdLst>
                <a:gd name="txL" fmla="*/ 0 w 890"/>
                <a:gd name="txT" fmla="*/ 0 h 1248"/>
                <a:gd name="txR" fmla="*/ 890 w 890"/>
                <a:gd name="txB" fmla="*/ 1248 h 1248"/>
              </a:gdLst>
              <a:ahLst/>
              <a:cxnLst>
                <a:cxn ang="0">
                  <a:pos x="890" y="571"/>
                </a:cxn>
                <a:cxn ang="0">
                  <a:pos x="860" y="407"/>
                </a:cxn>
                <a:cxn ang="0">
                  <a:pos x="821" y="231"/>
                </a:cxn>
                <a:cxn ang="0">
                  <a:pos x="764" y="78"/>
                </a:cxn>
                <a:cxn ang="0">
                  <a:pos x="710" y="12"/>
                </a:cxn>
                <a:cxn ang="0">
                  <a:pos x="653" y="61"/>
                </a:cxn>
                <a:cxn ang="0">
                  <a:pos x="575" y="332"/>
                </a:cxn>
                <a:cxn ang="0">
                  <a:pos x="524" y="583"/>
                </a:cxn>
                <a:cxn ang="0">
                  <a:pos x="479" y="870"/>
                </a:cxn>
                <a:cxn ang="0">
                  <a:pos x="427" y="1090"/>
                </a:cxn>
                <a:cxn ang="0">
                  <a:pos x="355" y="1191"/>
                </a:cxn>
                <a:cxn ang="0">
                  <a:pos x="278" y="1034"/>
                </a:cxn>
                <a:cxn ang="0">
                  <a:pos x="171" y="577"/>
                </a:cxn>
                <a:cxn ang="0">
                  <a:pos x="135" y="363"/>
                </a:cxn>
                <a:cxn ang="0">
                  <a:pos x="59" y="63"/>
                </a:cxn>
                <a:cxn ang="0">
                  <a:pos x="8" y="9"/>
                </a:cxn>
                <a:cxn ang="0">
                  <a:pos x="11" y="9"/>
                </a:cxn>
              </a:cxnLst>
              <a:rect l="txL" t="txT" r="txR" b="txB"/>
              <a:pathLst>
                <a:path w="890" h="1248">
                  <a:moveTo>
                    <a:pt x="890" y="594"/>
                  </a:moveTo>
                  <a:cubicBezTo>
                    <a:pt x="885" y="566"/>
                    <a:pt x="871" y="482"/>
                    <a:pt x="860" y="423"/>
                  </a:cubicBezTo>
                  <a:cubicBezTo>
                    <a:pt x="849" y="364"/>
                    <a:pt x="837" y="297"/>
                    <a:pt x="821" y="240"/>
                  </a:cubicBezTo>
                  <a:cubicBezTo>
                    <a:pt x="805" y="183"/>
                    <a:pt x="782" y="119"/>
                    <a:pt x="764" y="81"/>
                  </a:cubicBezTo>
                  <a:cubicBezTo>
                    <a:pt x="746" y="43"/>
                    <a:pt x="728" y="15"/>
                    <a:pt x="710" y="12"/>
                  </a:cubicBezTo>
                  <a:cubicBezTo>
                    <a:pt x="692" y="9"/>
                    <a:pt x="675" y="8"/>
                    <a:pt x="653" y="63"/>
                  </a:cubicBezTo>
                  <a:cubicBezTo>
                    <a:pt x="631" y="118"/>
                    <a:pt x="596" y="255"/>
                    <a:pt x="575" y="345"/>
                  </a:cubicBezTo>
                  <a:cubicBezTo>
                    <a:pt x="554" y="435"/>
                    <a:pt x="540" y="513"/>
                    <a:pt x="524" y="606"/>
                  </a:cubicBezTo>
                  <a:cubicBezTo>
                    <a:pt x="508" y="699"/>
                    <a:pt x="495" y="817"/>
                    <a:pt x="479" y="905"/>
                  </a:cubicBezTo>
                  <a:cubicBezTo>
                    <a:pt x="463" y="993"/>
                    <a:pt x="448" y="1078"/>
                    <a:pt x="427" y="1134"/>
                  </a:cubicBezTo>
                  <a:cubicBezTo>
                    <a:pt x="406" y="1189"/>
                    <a:pt x="380" y="1248"/>
                    <a:pt x="355" y="1239"/>
                  </a:cubicBezTo>
                  <a:cubicBezTo>
                    <a:pt x="330" y="1229"/>
                    <a:pt x="309" y="1181"/>
                    <a:pt x="278" y="1075"/>
                  </a:cubicBezTo>
                  <a:cubicBezTo>
                    <a:pt x="247" y="969"/>
                    <a:pt x="195" y="716"/>
                    <a:pt x="171" y="600"/>
                  </a:cubicBezTo>
                  <a:cubicBezTo>
                    <a:pt x="147" y="484"/>
                    <a:pt x="154" y="467"/>
                    <a:pt x="135" y="378"/>
                  </a:cubicBezTo>
                  <a:cubicBezTo>
                    <a:pt x="116" y="289"/>
                    <a:pt x="80" y="127"/>
                    <a:pt x="59" y="66"/>
                  </a:cubicBezTo>
                  <a:cubicBezTo>
                    <a:pt x="38" y="5"/>
                    <a:pt x="16" y="18"/>
                    <a:pt x="8" y="9"/>
                  </a:cubicBezTo>
                  <a:cubicBezTo>
                    <a:pt x="0" y="0"/>
                    <a:pt x="11" y="9"/>
                    <a:pt x="11" y="9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831" name="Freeform 20"/>
            <p:cNvSpPr/>
            <p:nvPr/>
          </p:nvSpPr>
          <p:spPr>
            <a:xfrm>
              <a:off x="521" y="572"/>
              <a:ext cx="966" cy="1208"/>
            </a:xfrm>
            <a:custGeom>
              <a:avLst/>
              <a:gdLst>
                <a:gd name="txL" fmla="*/ 0 w 966"/>
                <a:gd name="txT" fmla="*/ 0 h 1208"/>
                <a:gd name="txR" fmla="*/ 966 w 966"/>
                <a:gd name="txB" fmla="*/ 1208 h 1208"/>
              </a:gdLst>
              <a:ahLst/>
              <a:cxnLst>
                <a:cxn ang="0">
                  <a:pos x="0" y="616"/>
                </a:cxn>
                <a:cxn ang="0">
                  <a:pos x="45" y="403"/>
                </a:cxn>
                <a:cxn ang="0">
                  <a:pos x="84" y="232"/>
                </a:cxn>
                <a:cxn ang="0">
                  <a:pos x="134" y="81"/>
                </a:cxn>
                <a:cxn ang="0">
                  <a:pos x="190" y="11"/>
                </a:cxn>
                <a:cxn ang="0">
                  <a:pos x="260" y="96"/>
                </a:cxn>
                <a:cxn ang="0">
                  <a:pos x="330" y="348"/>
                </a:cxn>
                <a:cxn ang="0">
                  <a:pos x="382" y="602"/>
                </a:cxn>
                <a:cxn ang="0">
                  <a:pos x="441" y="876"/>
                </a:cxn>
                <a:cxn ang="0">
                  <a:pos x="499" y="1097"/>
                </a:cxn>
                <a:cxn ang="0">
                  <a:pos x="579" y="1200"/>
                </a:cxn>
                <a:cxn ang="0">
                  <a:pos x="665" y="1041"/>
                </a:cxn>
                <a:cxn ang="0">
                  <a:pos x="763" y="619"/>
                </a:cxn>
                <a:cxn ang="0">
                  <a:pos x="808" y="391"/>
                </a:cxn>
                <a:cxn ang="0">
                  <a:pos x="888" y="101"/>
                </a:cxn>
                <a:cxn ang="0">
                  <a:pos x="954" y="14"/>
                </a:cxn>
                <a:cxn ang="0">
                  <a:pos x="957" y="20"/>
                </a:cxn>
              </a:cxnLst>
              <a:rect l="txL" t="txT" r="txR" b="txB"/>
              <a:pathLst>
                <a:path w="966" h="1208">
                  <a:moveTo>
                    <a:pt x="0" y="616"/>
                  </a:moveTo>
                  <a:cubicBezTo>
                    <a:pt x="7" y="579"/>
                    <a:pt x="31" y="467"/>
                    <a:pt x="45" y="403"/>
                  </a:cubicBezTo>
                  <a:cubicBezTo>
                    <a:pt x="59" y="340"/>
                    <a:pt x="69" y="286"/>
                    <a:pt x="84" y="232"/>
                  </a:cubicBezTo>
                  <a:cubicBezTo>
                    <a:pt x="99" y="178"/>
                    <a:pt x="116" y="117"/>
                    <a:pt x="134" y="81"/>
                  </a:cubicBezTo>
                  <a:cubicBezTo>
                    <a:pt x="151" y="44"/>
                    <a:pt x="169" y="8"/>
                    <a:pt x="190" y="11"/>
                  </a:cubicBezTo>
                  <a:cubicBezTo>
                    <a:pt x="211" y="15"/>
                    <a:pt x="236" y="41"/>
                    <a:pt x="260" y="96"/>
                  </a:cubicBezTo>
                  <a:cubicBezTo>
                    <a:pt x="283" y="153"/>
                    <a:pt x="309" y="264"/>
                    <a:pt x="330" y="348"/>
                  </a:cubicBezTo>
                  <a:cubicBezTo>
                    <a:pt x="349" y="431"/>
                    <a:pt x="363" y="514"/>
                    <a:pt x="382" y="602"/>
                  </a:cubicBezTo>
                  <a:cubicBezTo>
                    <a:pt x="401" y="690"/>
                    <a:pt x="421" y="793"/>
                    <a:pt x="441" y="876"/>
                  </a:cubicBezTo>
                  <a:cubicBezTo>
                    <a:pt x="461" y="958"/>
                    <a:pt x="476" y="1043"/>
                    <a:pt x="499" y="1097"/>
                  </a:cubicBezTo>
                  <a:cubicBezTo>
                    <a:pt x="522" y="1151"/>
                    <a:pt x="551" y="1208"/>
                    <a:pt x="579" y="1200"/>
                  </a:cubicBezTo>
                  <a:cubicBezTo>
                    <a:pt x="607" y="1190"/>
                    <a:pt x="634" y="1137"/>
                    <a:pt x="665" y="1041"/>
                  </a:cubicBezTo>
                  <a:cubicBezTo>
                    <a:pt x="696" y="944"/>
                    <a:pt x="739" y="727"/>
                    <a:pt x="763" y="619"/>
                  </a:cubicBezTo>
                  <a:cubicBezTo>
                    <a:pt x="787" y="511"/>
                    <a:pt x="788" y="477"/>
                    <a:pt x="808" y="391"/>
                  </a:cubicBezTo>
                  <a:cubicBezTo>
                    <a:pt x="829" y="305"/>
                    <a:pt x="864" y="164"/>
                    <a:pt x="888" y="101"/>
                  </a:cubicBezTo>
                  <a:cubicBezTo>
                    <a:pt x="912" y="38"/>
                    <a:pt x="942" y="28"/>
                    <a:pt x="954" y="14"/>
                  </a:cubicBezTo>
                  <a:cubicBezTo>
                    <a:pt x="966" y="0"/>
                    <a:pt x="957" y="19"/>
                    <a:pt x="957" y="20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832" name="Text Box 21"/>
            <p:cNvSpPr txBox="1"/>
            <p:nvPr/>
          </p:nvSpPr>
          <p:spPr>
            <a:xfrm>
              <a:off x="2245" y="391"/>
              <a:ext cx="379" cy="31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2017" name="Text Box 33" descr="羊皮纸"/>
          <p:cNvSpPr txBox="1"/>
          <p:nvPr/>
        </p:nvSpPr>
        <p:spPr>
          <a:xfrm>
            <a:off x="971550" y="5157788"/>
            <a:ext cx="7200900" cy="9461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</a:rPr>
              <a:t>    </a:t>
            </a:r>
            <a:r>
              <a:rPr lang="zh-CN" altLang="en-US" dirty="0">
                <a:latin typeface="楷体_GB2312" pitchFamily="49" charset="-122"/>
              </a:rPr>
              <a:t>瞬时功率以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dirty="0">
                <a:latin typeface="楷体_GB2312" pitchFamily="49" charset="-122"/>
                <a:sym typeface="Symbol" panose="05050102010706020507" pitchFamily="18" charset="2"/>
              </a:rPr>
              <a:t>交变，有正有负，一周期内刚好互相抵消，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表明电容只储能不耗能。</a:t>
            </a:r>
            <a:endParaRPr lang="zh-CN" altLang="en-US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4" name="Group 60"/>
          <p:cNvGrpSpPr/>
          <p:nvPr/>
        </p:nvGrpSpPr>
        <p:grpSpPr>
          <a:xfrm>
            <a:off x="5651500" y="1484313"/>
            <a:ext cx="2735263" cy="1800225"/>
            <a:chOff x="3535" y="845"/>
            <a:chExt cx="1723" cy="1134"/>
          </a:xfrm>
        </p:grpSpPr>
        <p:graphicFrame>
          <p:nvGraphicFramePr>
            <p:cNvPr id="33795" name="Object 35"/>
            <p:cNvGraphicFramePr/>
            <p:nvPr/>
          </p:nvGraphicFramePr>
          <p:xfrm>
            <a:off x="5012" y="845"/>
            <a:ext cx="246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4" imgW="177800" imgH="227965" progId="Equation.3">
                    <p:embed/>
                  </p:oleObj>
                </mc:Choice>
                <mc:Fallback>
                  <p:oleObj name="" r:id="rId4" imgW="177800" imgH="227965" progId="Equation.3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12" y="845"/>
                          <a:ext cx="246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4" name="Freeform 36"/>
            <p:cNvSpPr/>
            <p:nvPr/>
          </p:nvSpPr>
          <p:spPr>
            <a:xfrm>
              <a:off x="4082" y="1040"/>
              <a:ext cx="877" cy="938"/>
            </a:xfrm>
            <a:custGeom>
              <a:avLst/>
              <a:gdLst>
                <a:gd name="txL" fmla="*/ 0 w 624"/>
                <a:gd name="txT" fmla="*/ 0 h 624"/>
                <a:gd name="txR" fmla="*/ 624 w 624"/>
                <a:gd name="txB" fmla="*/ 624 h 624"/>
              </a:gdLst>
              <a:ahLst/>
              <a:cxnLst>
                <a:cxn ang="0">
                  <a:pos x="0" y="938"/>
                </a:cxn>
                <a:cxn ang="0">
                  <a:pos x="877" y="0"/>
                </a:cxn>
              </a:cxnLst>
              <a:rect l="txL" t="txT" r="txR" b="txB"/>
              <a:pathLst>
                <a:path w="624" h="624">
                  <a:moveTo>
                    <a:pt x="0" y="624"/>
                  </a:moveTo>
                  <a:lnTo>
                    <a:pt x="624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825" name="Line 37"/>
            <p:cNvSpPr/>
            <p:nvPr/>
          </p:nvSpPr>
          <p:spPr>
            <a:xfrm rot="-5400000" flipV="1">
              <a:off x="3515" y="1411"/>
              <a:ext cx="586" cy="54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3796" name="Object 38"/>
            <p:cNvGraphicFramePr/>
            <p:nvPr/>
          </p:nvGraphicFramePr>
          <p:xfrm>
            <a:off x="3551" y="1026"/>
            <a:ext cx="286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" name="" r:id="rId6" imgW="190500" imgH="266065" progId="Equation.3">
                    <p:embed/>
                  </p:oleObj>
                </mc:Choice>
                <mc:Fallback>
                  <p:oleObj name="" r:id="rId6" imgW="190500" imgH="266065" progId="Equation.3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51" y="1026"/>
                          <a:ext cx="286" cy="4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6" name="Line 39"/>
            <p:cNvSpPr/>
            <p:nvPr/>
          </p:nvSpPr>
          <p:spPr>
            <a:xfrm>
              <a:off x="4082" y="1978"/>
              <a:ext cx="1041" cy="1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7" name="Freeform 40"/>
            <p:cNvSpPr/>
            <p:nvPr/>
          </p:nvSpPr>
          <p:spPr>
            <a:xfrm>
              <a:off x="4230" y="1818"/>
              <a:ext cx="93" cy="160"/>
            </a:xfrm>
            <a:custGeom>
              <a:avLst/>
              <a:gdLst>
                <a:gd name="txL" fmla="*/ 0 w 82"/>
                <a:gd name="txT" fmla="*/ 0 h 129"/>
                <a:gd name="txR" fmla="*/ 82 w 82"/>
                <a:gd name="txB" fmla="*/ 129 h 129"/>
              </a:gdLst>
              <a:ahLst/>
              <a:cxnLst>
                <a:cxn ang="0">
                  <a:pos x="0" y="0"/>
                </a:cxn>
                <a:cxn ang="0">
                  <a:pos x="44" y="30"/>
                </a:cxn>
                <a:cxn ang="0">
                  <a:pos x="85" y="89"/>
                </a:cxn>
                <a:cxn ang="0">
                  <a:pos x="92" y="160"/>
                </a:cxn>
              </a:cxnLst>
              <a:rect l="txL" t="txT" r="txR" b="txB"/>
              <a:pathLst>
                <a:path w="82" h="129">
                  <a:moveTo>
                    <a:pt x="0" y="0"/>
                  </a:moveTo>
                  <a:cubicBezTo>
                    <a:pt x="6" y="4"/>
                    <a:pt x="26" y="12"/>
                    <a:pt x="39" y="24"/>
                  </a:cubicBezTo>
                  <a:cubicBezTo>
                    <a:pt x="52" y="36"/>
                    <a:pt x="68" y="54"/>
                    <a:pt x="75" y="72"/>
                  </a:cubicBezTo>
                  <a:cubicBezTo>
                    <a:pt x="82" y="90"/>
                    <a:pt x="80" y="117"/>
                    <a:pt x="81" y="129"/>
                  </a:cubicBezTo>
                </a:path>
              </a:pathLst>
            </a:custGeom>
            <a:noFill/>
            <a:ln w="28575" cap="flat" cmpd="sng">
              <a:solidFill>
                <a:srgbClr val="99FF99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828" name="Text Box 41"/>
            <p:cNvSpPr txBox="1"/>
            <p:nvPr/>
          </p:nvSpPr>
          <p:spPr>
            <a:xfrm>
              <a:off x="4301" y="1562"/>
              <a:ext cx="43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3829" name="Freeform 42"/>
            <p:cNvSpPr/>
            <p:nvPr/>
          </p:nvSpPr>
          <p:spPr>
            <a:xfrm>
              <a:off x="3973" y="1732"/>
              <a:ext cx="219" cy="119"/>
            </a:xfrm>
            <a:custGeom>
              <a:avLst/>
              <a:gdLst>
                <a:gd name="txL" fmla="*/ 0 w 192"/>
                <a:gd name="txT" fmla="*/ 0 h 96"/>
                <a:gd name="txR" fmla="*/ 192 w 192"/>
                <a:gd name="txB" fmla="*/ 96 h 96"/>
              </a:gdLst>
              <a:ahLst/>
              <a:cxnLst>
                <a:cxn ang="0">
                  <a:pos x="0" y="119"/>
                </a:cxn>
                <a:cxn ang="0">
                  <a:pos x="110" y="0"/>
                </a:cxn>
                <a:cxn ang="0">
                  <a:pos x="219" y="119"/>
                </a:cxn>
              </a:cxnLst>
              <a:rect l="txL" t="txT" r="txR" b="txB"/>
              <a:pathLst>
                <a:path w="192" h="96">
                  <a:moveTo>
                    <a:pt x="0" y="96"/>
                  </a:moveTo>
                  <a:lnTo>
                    <a:pt x="96" y="0"/>
                  </a:lnTo>
                  <a:lnTo>
                    <a:pt x="192" y="96"/>
                  </a:lnTo>
                </a:path>
              </a:pathLst>
            </a:custGeom>
            <a:noFill/>
            <a:ln w="28575" cap="flat" cmpd="sng">
              <a:solidFill>
                <a:srgbClr val="99FF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2029" name="Text Box 45" descr="绿色大理石"/>
          <p:cNvSpPr txBox="1"/>
          <p:nvPr/>
        </p:nvSpPr>
        <p:spPr>
          <a:xfrm>
            <a:off x="611188" y="549275"/>
            <a:ext cx="2684462" cy="519113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波形图及相量图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30" name="AutoShape 46" descr="羊皮纸"/>
          <p:cNvSpPr/>
          <p:nvPr/>
        </p:nvSpPr>
        <p:spPr>
          <a:xfrm>
            <a:off x="6572250" y="500063"/>
            <a:ext cx="1800225" cy="1006475"/>
          </a:xfrm>
          <a:prstGeom prst="wedgeRoundRectCallout">
            <a:avLst>
              <a:gd name="adj1" fmla="val -63935"/>
              <a:gd name="adj2" fmla="val 102759"/>
              <a:gd name="adj3" fmla="val 16667"/>
            </a:avLst>
          </a:prstGeom>
          <a:blipFill rotWithShape="1">
            <a:blip r:embed="rId8"/>
          </a:blipFill>
          <a:ln w="9525">
            <a:noFill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电流超前电压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90</a:t>
            </a:r>
            <a:r>
              <a:rPr lang="en-US" altLang="zh-CN" b="0" baseline="30000" dirty="0">
                <a:solidFill>
                  <a:schemeClr val="tx1"/>
                </a:solidFill>
                <a:latin typeface="楷体_GB2312" pitchFamily="49" charset="-122"/>
              </a:rPr>
              <a:t>°</a:t>
            </a:r>
            <a:endParaRPr lang="en-US" altLang="zh-CN" b="0" baseline="30000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grpSp>
        <p:nvGrpSpPr>
          <p:cNvPr id="33804" name="Group 5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3822" name="Picture 52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23" name="Text Box 5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3805" name="Group 5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3820" name="Picture 55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21" name="Text Box 5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" name="Group 61"/>
          <p:cNvGrpSpPr/>
          <p:nvPr/>
        </p:nvGrpSpPr>
        <p:grpSpPr>
          <a:xfrm>
            <a:off x="1116013" y="1484313"/>
            <a:ext cx="3400425" cy="2160587"/>
            <a:chOff x="3107" y="2478"/>
            <a:chExt cx="2007" cy="1361"/>
          </a:xfrm>
        </p:grpSpPr>
        <p:grpSp>
          <p:nvGrpSpPr>
            <p:cNvPr id="33810" name="Group 62"/>
            <p:cNvGrpSpPr/>
            <p:nvPr/>
          </p:nvGrpSpPr>
          <p:grpSpPr>
            <a:xfrm>
              <a:off x="3957" y="2728"/>
              <a:ext cx="188" cy="158"/>
              <a:chOff x="3303" y="1716"/>
              <a:chExt cx="168" cy="168"/>
            </a:xfrm>
          </p:grpSpPr>
          <p:sp>
            <p:nvSpPr>
              <p:cNvPr id="33818" name="Line 63"/>
              <p:cNvSpPr/>
              <p:nvPr/>
            </p:nvSpPr>
            <p:spPr>
              <a:xfrm>
                <a:off x="3303" y="1812"/>
                <a:ext cx="168" cy="0"/>
              </a:xfrm>
              <a:prstGeom prst="line">
                <a:avLst/>
              </a:prstGeom>
              <a:ln w="38100" cap="flat" cmpd="sng">
                <a:solidFill>
                  <a:srgbClr val="99FF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19" name="Line 64"/>
              <p:cNvSpPr/>
              <p:nvPr/>
            </p:nvSpPr>
            <p:spPr>
              <a:xfrm rot="-5400000">
                <a:off x="3303" y="1800"/>
                <a:ext cx="168" cy="0"/>
              </a:xfrm>
              <a:prstGeom prst="line">
                <a:avLst/>
              </a:prstGeom>
              <a:ln w="38100" cap="flat" cmpd="sng">
                <a:solidFill>
                  <a:srgbClr val="99FF99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3811" name="Line 65"/>
            <p:cNvSpPr/>
            <p:nvPr/>
          </p:nvSpPr>
          <p:spPr>
            <a:xfrm>
              <a:off x="3519" y="3631"/>
              <a:ext cx="189" cy="0"/>
            </a:xfrm>
            <a:prstGeom prst="line">
              <a:avLst/>
            </a:prstGeom>
            <a:ln w="38100" cap="flat" cmpd="sng">
              <a:solidFill>
                <a:srgbClr val="99FF99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3812" name="Group 66"/>
            <p:cNvGrpSpPr/>
            <p:nvPr/>
          </p:nvGrpSpPr>
          <p:grpSpPr>
            <a:xfrm>
              <a:off x="3107" y="2728"/>
              <a:ext cx="188" cy="158"/>
              <a:chOff x="3303" y="1716"/>
              <a:chExt cx="168" cy="168"/>
            </a:xfrm>
          </p:grpSpPr>
          <p:sp>
            <p:nvSpPr>
              <p:cNvPr id="33816" name="Line 67"/>
              <p:cNvSpPr/>
              <p:nvPr/>
            </p:nvSpPr>
            <p:spPr>
              <a:xfrm>
                <a:off x="3303" y="1812"/>
                <a:ext cx="168" cy="0"/>
              </a:xfrm>
              <a:prstGeom prst="line">
                <a:avLst/>
              </a:prstGeom>
              <a:ln w="38100" cap="flat" cmpd="sng">
                <a:solidFill>
                  <a:srgbClr val="99FF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17" name="Line 68"/>
              <p:cNvSpPr/>
              <p:nvPr/>
            </p:nvSpPr>
            <p:spPr>
              <a:xfrm rot="-5400000">
                <a:off x="3303" y="1800"/>
                <a:ext cx="168" cy="0"/>
              </a:xfrm>
              <a:prstGeom prst="line">
                <a:avLst/>
              </a:prstGeom>
              <a:ln w="38100" cap="flat" cmpd="sng">
                <a:solidFill>
                  <a:srgbClr val="99FF99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3813" name="Line 69"/>
            <p:cNvSpPr/>
            <p:nvPr/>
          </p:nvSpPr>
          <p:spPr>
            <a:xfrm>
              <a:off x="4367" y="3631"/>
              <a:ext cx="188" cy="0"/>
            </a:xfrm>
            <a:prstGeom prst="line">
              <a:avLst/>
            </a:prstGeom>
            <a:ln w="38100" cap="flat" cmpd="sng">
              <a:solidFill>
                <a:srgbClr val="99FF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14" name="Line 70"/>
            <p:cNvSpPr/>
            <p:nvPr/>
          </p:nvSpPr>
          <p:spPr>
            <a:xfrm>
              <a:off x="4758" y="2478"/>
              <a:ext cx="0" cy="1361"/>
            </a:xfrm>
            <a:prstGeom prst="line">
              <a:avLst/>
            </a:prstGeom>
            <a:ln w="31750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3815" name="Text Box 71"/>
            <p:cNvSpPr txBox="1"/>
            <p:nvPr/>
          </p:nvSpPr>
          <p:spPr>
            <a:xfrm>
              <a:off x="4785" y="3203"/>
              <a:ext cx="32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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3807" name="Group 75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3808" name="Picture 76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09" name="Text Box 7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4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4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2" grpId="0" animBg="1"/>
      <p:bldP spid="42017" grpId="0"/>
      <p:bldP spid="42029" grpId="0" animBg="1"/>
      <p:bldP spid="4203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Text Box 2"/>
          <p:cNvSpPr txBox="1"/>
          <p:nvPr/>
        </p:nvSpPr>
        <p:spPr>
          <a:xfrm>
            <a:off x="539750" y="476250"/>
            <a:ext cx="5976938" cy="579438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</a:rPr>
              <a:t>4.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</a:rPr>
              <a:t>基尔霍夫定律的相量形式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aphicFrame>
        <p:nvGraphicFramePr>
          <p:cNvPr id="40964" name="Object 4"/>
          <p:cNvGraphicFramePr/>
          <p:nvPr/>
        </p:nvGraphicFramePr>
        <p:xfrm>
          <a:off x="776288" y="2794000"/>
          <a:ext cx="163512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1" imgW="723900" imgH="241300" progId="Equation.3">
                  <p:embed/>
                </p:oleObj>
              </mc:Choice>
              <mc:Fallback>
                <p:oleObj name="" r:id="rId1" imgW="723900" imgH="241300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76288" y="2794000"/>
                        <a:ext cx="1635125" cy="544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Text Box 5"/>
          <p:cNvSpPr txBox="1"/>
          <p:nvPr/>
        </p:nvSpPr>
        <p:spPr>
          <a:xfrm>
            <a:off x="611188" y="981075"/>
            <a:ext cx="7696200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571500"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同频率的正弦量加减可以用对应的相量形式来进行计算。因此，在正弦电流电路中，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KCL</a:t>
            </a:r>
            <a:r>
              <a:rPr lang="zh-CN" altLang="en-US" dirty="0">
                <a:latin typeface="楷体_GB2312" pitchFamily="49" charset="-122"/>
              </a:rPr>
              <a:t>和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KVL</a:t>
            </a:r>
            <a:r>
              <a:rPr lang="zh-CN" altLang="en-US" dirty="0">
                <a:latin typeface="楷体_GB2312" pitchFamily="49" charset="-122"/>
              </a:rPr>
              <a:t>可用相应的相量形式表示为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40966" name="Text Box 6"/>
          <p:cNvSpPr txBox="1"/>
          <p:nvPr/>
        </p:nvSpPr>
        <p:spPr>
          <a:xfrm>
            <a:off x="971550" y="4652963"/>
            <a:ext cx="7696200" cy="1630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666750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流入某一节点的所有正弦电流用相量表示时仍满足</a:t>
            </a:r>
            <a:r>
              <a:rPr lang="en-US" altLang="zh-CN" b="0" dirty="0">
                <a:latin typeface="Times New Roman" panose="02020603050405020304" pitchFamily="18" charset="0"/>
              </a:rPr>
              <a:t>KCL</a:t>
            </a:r>
            <a:r>
              <a:rPr lang="zh-CN" altLang="en-US" dirty="0">
                <a:latin typeface="楷体_GB2312" pitchFamily="49" charset="-122"/>
              </a:rPr>
              <a:t>；而任一回路所有支路正弦电压用相量表示时仍满足</a:t>
            </a:r>
            <a:r>
              <a:rPr lang="en-US" altLang="zh-CN" b="0" dirty="0">
                <a:latin typeface="Times New Roman" panose="02020603050405020304" pitchFamily="18" charset="0"/>
              </a:rPr>
              <a:t>KVL</a:t>
            </a:r>
            <a:r>
              <a:rPr lang="zh-CN" altLang="en-US" b="0" dirty="0">
                <a:latin typeface="楷体_GB2312" pitchFamily="49" charset="-122"/>
              </a:rPr>
              <a:t>。</a:t>
            </a:r>
            <a:endParaRPr lang="zh-CN" altLang="en-US" b="0" dirty="0">
              <a:latin typeface="楷体_GB2312" pitchFamily="49" charset="-122"/>
            </a:endParaRPr>
          </a:p>
        </p:txBody>
      </p:sp>
      <p:sp>
        <p:nvSpPr>
          <p:cNvPr id="40967" name="Line 7"/>
          <p:cNvSpPr/>
          <p:nvPr/>
        </p:nvSpPr>
        <p:spPr>
          <a:xfrm>
            <a:off x="2484438" y="3068638"/>
            <a:ext cx="647700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40968" name="Object 8"/>
          <p:cNvGraphicFramePr/>
          <p:nvPr/>
        </p:nvGraphicFramePr>
        <p:xfrm>
          <a:off x="3132138" y="2781300"/>
          <a:ext cx="56737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3" imgW="2616200" imgH="279400" progId="Equation.3">
                  <p:embed/>
                </p:oleObj>
              </mc:Choice>
              <mc:Fallback>
                <p:oleObj name="" r:id="rId3" imgW="2616200" imgH="27940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32138" y="2781300"/>
                        <a:ext cx="5673725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9" name="Line 9"/>
          <p:cNvSpPr/>
          <p:nvPr/>
        </p:nvSpPr>
        <p:spPr>
          <a:xfrm>
            <a:off x="3132138" y="3716338"/>
            <a:ext cx="792162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40970" name="Object 10"/>
          <p:cNvGraphicFramePr/>
          <p:nvPr/>
        </p:nvGraphicFramePr>
        <p:xfrm>
          <a:off x="4067175" y="3429000"/>
          <a:ext cx="11461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5" imgW="570865" imgH="266065" progId="Equation.DSMT4">
                  <p:embed/>
                </p:oleObj>
              </mc:Choice>
              <mc:Fallback>
                <p:oleObj name="" r:id="rId5" imgW="570865" imgH="266065" progId="Equation.DSMT4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67175" y="3429000"/>
                        <a:ext cx="1146175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Object 11"/>
          <p:cNvGraphicFramePr/>
          <p:nvPr/>
        </p:nvGraphicFramePr>
        <p:xfrm>
          <a:off x="827088" y="4076700"/>
          <a:ext cx="1928812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7" imgW="761365" imgH="241300" progId="Equation.3">
                  <p:embed/>
                </p:oleObj>
              </mc:Choice>
              <mc:Fallback>
                <p:oleObj name="" r:id="rId7" imgW="761365" imgH="241300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4076700"/>
                        <a:ext cx="1928812" cy="608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2" name="Object 12"/>
          <p:cNvGraphicFramePr/>
          <p:nvPr/>
        </p:nvGraphicFramePr>
        <p:xfrm>
          <a:off x="4140200" y="4149725"/>
          <a:ext cx="12461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9" imgW="621665" imgH="266065" progId="Equation.3">
                  <p:embed/>
                </p:oleObj>
              </mc:Choice>
              <mc:Fallback>
                <p:oleObj name="" r:id="rId9" imgW="621665" imgH="266065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40200" y="4149725"/>
                        <a:ext cx="1246188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3" name="Line 13"/>
          <p:cNvSpPr/>
          <p:nvPr/>
        </p:nvSpPr>
        <p:spPr>
          <a:xfrm>
            <a:off x="3132138" y="4365625"/>
            <a:ext cx="792162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4829" name="Group 1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4839" name="Picture 19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40" name="Text Box 2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4830" name="Group 2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4837" name="Picture 22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8" name="Text Box 2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" name="Group 27"/>
          <p:cNvGrpSpPr/>
          <p:nvPr/>
        </p:nvGrpSpPr>
        <p:grpSpPr>
          <a:xfrm>
            <a:off x="250825" y="4581525"/>
            <a:ext cx="1644650" cy="850900"/>
            <a:chOff x="385" y="3022"/>
            <a:chExt cx="1036" cy="536"/>
          </a:xfrm>
        </p:grpSpPr>
        <p:pic>
          <p:nvPicPr>
            <p:cNvPr id="34835" name="Picture 28" descr="12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6" name="Text Box 29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34832" name="Group 3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4833" name="Picture 34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4" name="Text Box 3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3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40965" grpId="0"/>
      <p:bldP spid="4096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9945" name="Object 9"/>
          <p:cNvGraphicFramePr/>
          <p:nvPr/>
        </p:nvGraphicFramePr>
        <p:xfrm>
          <a:off x="5003800" y="1341438"/>
          <a:ext cx="2798763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1" imgW="1168400" imgH="508000" progId="Equation.3">
                  <p:embed/>
                </p:oleObj>
              </mc:Choice>
              <mc:Fallback>
                <p:oleObj name="" r:id="rId1" imgW="1168400" imgH="5080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03800" y="1341438"/>
                        <a:ext cx="2798763" cy="1212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8" name="Text Box 2"/>
          <p:cNvSpPr txBox="1"/>
          <p:nvPr/>
        </p:nvSpPr>
        <p:spPr>
          <a:xfrm>
            <a:off x="395288" y="549275"/>
            <a:ext cx="141922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4-1</a:t>
            </a:r>
            <a:endParaRPr lang="en-US" altLang="zh-CN" sz="3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940" name="Text Box 4"/>
          <p:cNvSpPr txBox="1"/>
          <p:nvPr/>
        </p:nvSpPr>
        <p:spPr>
          <a:xfrm>
            <a:off x="1547813" y="549275"/>
            <a:ext cx="55435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试判断下列表达式的正、误。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9941" name="Object 5"/>
          <p:cNvGraphicFramePr/>
          <p:nvPr/>
        </p:nvGraphicFramePr>
        <p:xfrm>
          <a:off x="684213" y="1557338"/>
          <a:ext cx="19589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3" imgW="812165" imgH="190500" progId="Equation.3">
                  <p:embed/>
                </p:oleObj>
              </mc:Choice>
              <mc:Fallback>
                <p:oleObj name="" r:id="rId3" imgW="812165" imgH="190500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1557338"/>
                        <a:ext cx="1958975" cy="458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/>
          <p:nvPr/>
        </p:nvGraphicFramePr>
        <p:xfrm>
          <a:off x="625475" y="2205038"/>
          <a:ext cx="37861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5" imgW="1598295" imgH="215900" progId="Equation.3">
                  <p:embed/>
                </p:oleObj>
              </mc:Choice>
              <mc:Fallback>
                <p:oleObj name="" r:id="rId5" imgW="1598295" imgH="2159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5475" y="2205038"/>
                        <a:ext cx="3786188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/>
          <p:cNvGraphicFramePr/>
          <p:nvPr/>
        </p:nvGraphicFramePr>
        <p:xfrm>
          <a:off x="611188" y="3182938"/>
          <a:ext cx="2738437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7" imgW="1141730" imgH="266065" progId="Equation.3">
                  <p:embed/>
                </p:oleObj>
              </mc:Choice>
              <mc:Fallback>
                <p:oleObj name="" r:id="rId7" imgW="1141730" imgH="266065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3182938"/>
                        <a:ext cx="2738437" cy="636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/>
          <p:cNvGraphicFramePr/>
          <p:nvPr/>
        </p:nvGraphicFramePr>
        <p:xfrm>
          <a:off x="611188" y="4005263"/>
          <a:ext cx="2198687" cy="129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9" imgW="862965" imgH="508000" progId="Equation.3">
                  <p:embed/>
                </p:oleObj>
              </mc:Choice>
              <mc:Fallback>
                <p:oleObj name="" r:id="rId9" imgW="862965" imgH="5080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4005263"/>
                        <a:ext cx="2198687" cy="1293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10"/>
          <p:cNvGraphicFramePr/>
          <p:nvPr/>
        </p:nvGraphicFramePr>
        <p:xfrm>
          <a:off x="5164138" y="3092450"/>
          <a:ext cx="277653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11" imgW="1078230" imgH="266065" progId="Equation.3">
                  <p:embed/>
                </p:oleObj>
              </mc:Choice>
              <mc:Fallback>
                <p:oleObj name="" r:id="rId11" imgW="1078230" imgH="266065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64138" y="3092450"/>
                        <a:ext cx="2776537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7" name="Object 11"/>
          <p:cNvGraphicFramePr/>
          <p:nvPr/>
        </p:nvGraphicFramePr>
        <p:xfrm>
          <a:off x="5219700" y="4087813"/>
          <a:ext cx="201612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13" imgW="825500" imgH="457200" progId="Equation.3">
                  <p:embed/>
                </p:oleObj>
              </mc:Choice>
              <mc:Fallback>
                <p:oleObj name="" r:id="rId13" imgW="825500" imgH="45720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19700" y="4087813"/>
                        <a:ext cx="2016125" cy="1114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/>
          <p:cNvGrpSpPr/>
          <p:nvPr/>
        </p:nvGrpSpPr>
        <p:grpSpPr>
          <a:xfrm>
            <a:off x="3059113" y="1484313"/>
            <a:ext cx="720725" cy="647700"/>
            <a:chOff x="2245" y="3249"/>
            <a:chExt cx="454" cy="408"/>
          </a:xfrm>
        </p:grpSpPr>
        <p:sp>
          <p:nvSpPr>
            <p:cNvPr id="35886" name="Line 13"/>
            <p:cNvSpPr/>
            <p:nvPr/>
          </p:nvSpPr>
          <p:spPr>
            <a:xfrm>
              <a:off x="2290" y="3249"/>
              <a:ext cx="363" cy="40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7" name="Line 14"/>
            <p:cNvSpPr/>
            <p:nvPr/>
          </p:nvSpPr>
          <p:spPr>
            <a:xfrm flipH="1">
              <a:off x="2245" y="3249"/>
              <a:ext cx="454" cy="40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60"/>
          <p:cNvGrpSpPr/>
          <p:nvPr/>
        </p:nvGrpSpPr>
        <p:grpSpPr>
          <a:xfrm>
            <a:off x="1116013" y="1535113"/>
            <a:ext cx="1631950" cy="469900"/>
            <a:chOff x="703" y="967"/>
            <a:chExt cx="1028" cy="296"/>
          </a:xfrm>
        </p:grpSpPr>
        <p:graphicFrame>
          <p:nvGraphicFramePr>
            <p:cNvPr id="35852" name="Object 18"/>
            <p:cNvGraphicFramePr/>
            <p:nvPr/>
          </p:nvGraphicFramePr>
          <p:xfrm>
            <a:off x="703" y="1006"/>
            <a:ext cx="238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" name="" r:id="rId15" imgW="177800" imgH="189865" progId="Equation.3">
                    <p:embed/>
                  </p:oleObj>
                </mc:Choice>
                <mc:Fallback>
                  <p:oleObj name="" r:id="rId15" imgW="177800" imgH="189865" progId="Equation.3">
                    <p:embed/>
                    <p:pic>
                      <p:nvPicPr>
                        <p:cNvPr id="0" name="图片 3201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03" y="1006"/>
                          <a:ext cx="238" cy="255"/>
                        </a:xfrm>
                        <a:prstGeom prst="rect">
                          <a:avLst/>
                        </a:prstGeom>
                        <a:solidFill>
                          <a:srgbClr val="80808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3" name="Object 19"/>
            <p:cNvGraphicFramePr/>
            <p:nvPr/>
          </p:nvGraphicFramePr>
          <p:xfrm>
            <a:off x="1519" y="967"/>
            <a:ext cx="21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" name="" r:id="rId17" imgW="127000" imgH="177165" progId="Equation.3">
                    <p:embed/>
                  </p:oleObj>
                </mc:Choice>
                <mc:Fallback>
                  <p:oleObj name="" r:id="rId17" imgW="127000" imgH="177165" progId="Equation.3">
                    <p:embed/>
                    <p:pic>
                      <p:nvPicPr>
                        <p:cNvPr id="0" name="图片 3206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19" y="967"/>
                          <a:ext cx="212" cy="296"/>
                        </a:xfrm>
                        <a:prstGeom prst="rect">
                          <a:avLst/>
                        </a:prstGeom>
                        <a:solidFill>
                          <a:srgbClr val="80808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57" name="Line 21"/>
          <p:cNvSpPr/>
          <p:nvPr/>
        </p:nvSpPr>
        <p:spPr>
          <a:xfrm flipV="1">
            <a:off x="3203575" y="2347913"/>
            <a:ext cx="215900" cy="360362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" name="Group 22"/>
          <p:cNvGrpSpPr/>
          <p:nvPr/>
        </p:nvGrpSpPr>
        <p:grpSpPr>
          <a:xfrm>
            <a:off x="3348038" y="3213100"/>
            <a:ext cx="720725" cy="647700"/>
            <a:chOff x="2245" y="3249"/>
            <a:chExt cx="454" cy="408"/>
          </a:xfrm>
        </p:grpSpPr>
        <p:sp>
          <p:nvSpPr>
            <p:cNvPr id="35884" name="Line 23"/>
            <p:cNvSpPr/>
            <p:nvPr/>
          </p:nvSpPr>
          <p:spPr>
            <a:xfrm>
              <a:off x="2290" y="3249"/>
              <a:ext cx="363" cy="40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5" name="Line 24"/>
            <p:cNvSpPr/>
            <p:nvPr/>
          </p:nvSpPr>
          <p:spPr>
            <a:xfrm flipH="1">
              <a:off x="2245" y="3249"/>
              <a:ext cx="454" cy="40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39961" name="Object 25"/>
          <p:cNvGraphicFramePr/>
          <p:nvPr/>
        </p:nvGraphicFramePr>
        <p:xfrm>
          <a:off x="2771775" y="3213100"/>
          <a:ext cx="59213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19" imgW="241300" imgH="266065" progId="Equation.3">
                  <p:embed/>
                </p:oleObj>
              </mc:Choice>
              <mc:Fallback>
                <p:oleObj name="" r:id="rId19" imgW="241300" imgH="266065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71775" y="3213100"/>
                        <a:ext cx="592138" cy="654050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8"/>
          <p:cNvGrpSpPr/>
          <p:nvPr/>
        </p:nvGrpSpPr>
        <p:grpSpPr>
          <a:xfrm>
            <a:off x="3779838" y="4365625"/>
            <a:ext cx="720725" cy="647700"/>
            <a:chOff x="2245" y="3249"/>
            <a:chExt cx="454" cy="408"/>
          </a:xfrm>
        </p:grpSpPr>
        <p:sp>
          <p:nvSpPr>
            <p:cNvPr id="35882" name="Line 29"/>
            <p:cNvSpPr/>
            <p:nvPr/>
          </p:nvSpPr>
          <p:spPr>
            <a:xfrm>
              <a:off x="2290" y="3249"/>
              <a:ext cx="363" cy="40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3" name="Line 30"/>
            <p:cNvSpPr/>
            <p:nvPr/>
          </p:nvSpPr>
          <p:spPr>
            <a:xfrm flipH="1">
              <a:off x="2245" y="3249"/>
              <a:ext cx="454" cy="40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33"/>
          <p:cNvGrpSpPr/>
          <p:nvPr/>
        </p:nvGrpSpPr>
        <p:grpSpPr>
          <a:xfrm>
            <a:off x="2124075" y="4005263"/>
            <a:ext cx="1611313" cy="1277937"/>
            <a:chOff x="1261" y="2573"/>
            <a:chExt cx="1015" cy="805"/>
          </a:xfrm>
        </p:grpSpPr>
        <p:sp>
          <p:nvSpPr>
            <p:cNvPr id="35881" name="Rectangle 31"/>
            <p:cNvSpPr/>
            <p:nvPr/>
          </p:nvSpPr>
          <p:spPr>
            <a:xfrm>
              <a:off x="1292" y="2614"/>
              <a:ext cx="545" cy="725"/>
            </a:xfrm>
            <a:prstGeom prst="rect">
              <a:avLst/>
            </a:prstGeom>
            <a:solidFill>
              <a:srgbClr val="808080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35851" name="Object 32"/>
            <p:cNvGraphicFramePr/>
            <p:nvPr/>
          </p:nvGraphicFramePr>
          <p:xfrm>
            <a:off x="1261" y="2573"/>
            <a:ext cx="1015" cy="8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9" name="" r:id="rId21" imgW="622300" imgH="495300" progId="Equation.3">
                    <p:embed/>
                  </p:oleObj>
                </mc:Choice>
                <mc:Fallback>
                  <p:oleObj name="" r:id="rId21" imgW="622300" imgH="495300" progId="Equation.3">
                    <p:embed/>
                    <p:pic>
                      <p:nvPicPr>
                        <p:cNvPr id="0" name="图片 3208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61" y="2573"/>
                          <a:ext cx="1015" cy="805"/>
                        </a:xfrm>
                        <a:prstGeom prst="rect">
                          <a:avLst/>
                        </a:prstGeom>
                        <a:solidFill>
                          <a:srgbClr val="80808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34"/>
          <p:cNvGrpSpPr/>
          <p:nvPr/>
        </p:nvGrpSpPr>
        <p:grpSpPr>
          <a:xfrm>
            <a:off x="8027988" y="1700213"/>
            <a:ext cx="720725" cy="647700"/>
            <a:chOff x="2245" y="3249"/>
            <a:chExt cx="454" cy="408"/>
          </a:xfrm>
        </p:grpSpPr>
        <p:sp>
          <p:nvSpPr>
            <p:cNvPr id="35879" name="Line 35"/>
            <p:cNvSpPr/>
            <p:nvPr/>
          </p:nvSpPr>
          <p:spPr>
            <a:xfrm>
              <a:off x="2290" y="3249"/>
              <a:ext cx="363" cy="40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0" name="Line 36"/>
            <p:cNvSpPr/>
            <p:nvPr/>
          </p:nvSpPr>
          <p:spPr>
            <a:xfrm flipH="1">
              <a:off x="2245" y="3249"/>
              <a:ext cx="454" cy="40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39973" name="Object 37"/>
          <p:cNvGraphicFramePr/>
          <p:nvPr/>
        </p:nvGraphicFramePr>
        <p:xfrm>
          <a:off x="6338888" y="1273175"/>
          <a:ext cx="1052512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23" imgW="393700" imgH="482600" progId="Equation.3">
                  <p:embed/>
                </p:oleObj>
              </mc:Choice>
              <mc:Fallback>
                <p:oleObj name="" r:id="rId23" imgW="393700" imgH="4826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38888" y="1273175"/>
                        <a:ext cx="1052512" cy="1289050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42"/>
          <p:cNvGrpSpPr/>
          <p:nvPr/>
        </p:nvGrpSpPr>
        <p:grpSpPr>
          <a:xfrm>
            <a:off x="7596188" y="3357563"/>
            <a:ext cx="863600" cy="649287"/>
            <a:chOff x="3334" y="3475"/>
            <a:chExt cx="544" cy="409"/>
          </a:xfrm>
        </p:grpSpPr>
        <p:sp>
          <p:nvSpPr>
            <p:cNvPr id="35877" name="Line 40"/>
            <p:cNvSpPr/>
            <p:nvPr/>
          </p:nvSpPr>
          <p:spPr>
            <a:xfrm>
              <a:off x="3334" y="3748"/>
              <a:ext cx="136" cy="13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8" name="Line 41"/>
            <p:cNvSpPr/>
            <p:nvPr/>
          </p:nvSpPr>
          <p:spPr>
            <a:xfrm flipV="1">
              <a:off x="3470" y="3475"/>
              <a:ext cx="408" cy="409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43"/>
          <p:cNvGrpSpPr/>
          <p:nvPr/>
        </p:nvGrpSpPr>
        <p:grpSpPr>
          <a:xfrm>
            <a:off x="7524750" y="4365625"/>
            <a:ext cx="720725" cy="647700"/>
            <a:chOff x="2245" y="3249"/>
            <a:chExt cx="454" cy="408"/>
          </a:xfrm>
        </p:grpSpPr>
        <p:sp>
          <p:nvSpPr>
            <p:cNvPr id="35875" name="Line 44"/>
            <p:cNvSpPr/>
            <p:nvPr/>
          </p:nvSpPr>
          <p:spPr>
            <a:xfrm>
              <a:off x="2290" y="3249"/>
              <a:ext cx="363" cy="40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6" name="Line 45"/>
            <p:cNvSpPr/>
            <p:nvPr/>
          </p:nvSpPr>
          <p:spPr>
            <a:xfrm flipH="1">
              <a:off x="2245" y="3249"/>
              <a:ext cx="454" cy="40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9982" name="Rectangle 46"/>
          <p:cNvSpPr/>
          <p:nvPr/>
        </p:nvSpPr>
        <p:spPr>
          <a:xfrm>
            <a:off x="6372225" y="4365625"/>
            <a:ext cx="360363" cy="4318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L</a:t>
            </a:r>
            <a:endParaRPr lang="en-US" altLang="zh-CN" sz="3200" b="0" i="1" dirty="0">
              <a:solidFill>
                <a:schemeClr val="bg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5866" name="Group 5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5873" name="Picture 52" descr="7890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74" name="Text Box 5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5867" name="Group 5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5871" name="Picture 55" descr="7890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72" name="Text Box 5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5868" name="Group 64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5869" name="Picture 65" descr="7890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70" name="Text Box 6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9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9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39940" grpId="0"/>
      <p:bldP spid="3998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Text Box 2"/>
          <p:cNvSpPr txBox="1"/>
          <p:nvPr/>
        </p:nvSpPr>
        <p:spPr>
          <a:xfrm>
            <a:off x="114300" y="476250"/>
            <a:ext cx="13462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4-2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747" name="Text Box 19"/>
          <p:cNvSpPr txBox="1"/>
          <p:nvPr/>
        </p:nvSpPr>
        <p:spPr>
          <a:xfrm>
            <a:off x="1258888" y="476250"/>
            <a:ext cx="32400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已知电流表读数：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" name="Group 72"/>
          <p:cNvGrpSpPr/>
          <p:nvPr/>
        </p:nvGrpSpPr>
        <p:grpSpPr>
          <a:xfrm>
            <a:off x="4140200" y="476250"/>
            <a:ext cx="2160588" cy="576263"/>
            <a:chOff x="1837" y="935"/>
            <a:chExt cx="1361" cy="363"/>
          </a:xfrm>
        </p:grpSpPr>
        <p:sp>
          <p:nvSpPr>
            <p:cNvPr id="36932" name="Oval 22"/>
            <p:cNvSpPr/>
            <p:nvPr/>
          </p:nvSpPr>
          <p:spPr>
            <a:xfrm>
              <a:off x="1837" y="93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99FF"/>
                </a:gs>
                <a:gs pos="100000">
                  <a:srgbClr val="184776"/>
                </a:gs>
              </a:gsLst>
              <a:path path="shape">
                <a:fillToRect l="50000" t="50000" r="50000" b="50000"/>
              </a:path>
              <a:tileRect/>
            </a:gradFill>
            <a:ln w="2857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r>
                <a:rPr lang="en-US" altLang="zh-CN" sz="24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sz="24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33" name="Text Box 23"/>
            <p:cNvSpPr txBox="1"/>
            <p:nvPr/>
          </p:nvSpPr>
          <p:spPr>
            <a:xfrm>
              <a:off x="2109" y="935"/>
              <a:ext cx="10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latin typeface="Times New Roman" panose="02020603050405020304" pitchFamily="18" charset="0"/>
                  <a:ea typeface="仿宋_GB2312" pitchFamily="49" charset="-122"/>
                </a:rPr>
                <a:t>＝</a:t>
              </a:r>
              <a:r>
                <a:rPr lang="en-US" altLang="zh-CN" b="0" dirty="0">
                  <a:latin typeface="Times New Roman" panose="02020603050405020304" pitchFamily="18" charset="0"/>
                  <a:ea typeface="仿宋_GB2312" pitchFamily="49" charset="-122"/>
                </a:rPr>
                <a:t>8A</a:t>
              </a:r>
              <a:r>
                <a:rPr lang="zh-CN" altLang="en-US" b="0" dirty="0">
                  <a:latin typeface="Times New Roman" panose="02020603050405020304" pitchFamily="18" charset="0"/>
                  <a:ea typeface="仿宋_GB2312" pitchFamily="49" charset="-122"/>
                </a:rPr>
                <a:t>，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6881" name="Group 6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6930" name="Picture 6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931" name="Text Box 6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6882" name="Group 6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6928" name="Picture 6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929" name="Text Box 6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73"/>
          <p:cNvGrpSpPr/>
          <p:nvPr/>
        </p:nvGrpSpPr>
        <p:grpSpPr>
          <a:xfrm>
            <a:off x="5795963" y="476250"/>
            <a:ext cx="1943100" cy="576263"/>
            <a:chOff x="3470" y="255"/>
            <a:chExt cx="1224" cy="363"/>
          </a:xfrm>
        </p:grpSpPr>
        <p:sp>
          <p:nvSpPr>
            <p:cNvPr id="36926" name="Text Box 26"/>
            <p:cNvSpPr txBox="1"/>
            <p:nvPr/>
          </p:nvSpPr>
          <p:spPr>
            <a:xfrm>
              <a:off x="3742" y="255"/>
              <a:ext cx="9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latin typeface="Times New Roman" panose="02020603050405020304" pitchFamily="18" charset="0"/>
                  <a:ea typeface="仿宋_GB2312" pitchFamily="49" charset="-122"/>
                </a:rPr>
                <a:t>＝</a:t>
              </a:r>
              <a:r>
                <a:rPr lang="en-US" altLang="zh-CN" b="0" dirty="0">
                  <a:latin typeface="Times New Roman" panose="02020603050405020304" pitchFamily="18" charset="0"/>
                  <a:ea typeface="仿宋_GB2312" pitchFamily="49" charset="-122"/>
                </a:rPr>
                <a:t>6A</a:t>
              </a:r>
              <a:r>
                <a:rPr lang="zh-CN" altLang="en-US" b="0" dirty="0">
                  <a:latin typeface="Times New Roman" panose="02020603050405020304" pitchFamily="18" charset="0"/>
                  <a:ea typeface="仿宋_GB2312" pitchFamily="49" charset="-122"/>
                </a:rPr>
                <a:t>。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27" name="Oval 71"/>
            <p:cNvSpPr/>
            <p:nvPr/>
          </p:nvSpPr>
          <p:spPr>
            <a:xfrm>
              <a:off x="3470" y="25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99FF"/>
                </a:gs>
                <a:gs pos="100000">
                  <a:srgbClr val="184776"/>
                </a:gs>
              </a:gsLst>
              <a:path path="shape">
                <a:fillToRect l="50000" t="50000" r="50000" b="50000"/>
              </a:path>
              <a:tileRect/>
            </a:gradFill>
            <a:ln w="2857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r>
                <a:rPr lang="en-US" altLang="zh-CN" sz="24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sz="24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6" name="Group 147"/>
          <p:cNvGrpSpPr/>
          <p:nvPr/>
        </p:nvGrpSpPr>
        <p:grpSpPr>
          <a:xfrm>
            <a:off x="5903913" y="981075"/>
            <a:ext cx="3240087" cy="2089150"/>
            <a:chOff x="3651" y="618"/>
            <a:chExt cx="2041" cy="1316"/>
          </a:xfrm>
        </p:grpSpPr>
        <p:sp>
          <p:nvSpPr>
            <p:cNvPr id="36912" name="Line 75"/>
            <p:cNvSpPr/>
            <p:nvPr/>
          </p:nvSpPr>
          <p:spPr>
            <a:xfrm>
              <a:off x="3931" y="799"/>
              <a:ext cx="136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13" name="Line 76"/>
            <p:cNvSpPr/>
            <p:nvPr/>
          </p:nvSpPr>
          <p:spPr>
            <a:xfrm>
              <a:off x="3931" y="1888"/>
              <a:ext cx="136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14" name="Line 77"/>
            <p:cNvSpPr/>
            <p:nvPr/>
          </p:nvSpPr>
          <p:spPr>
            <a:xfrm>
              <a:off x="5292" y="799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15" name="Line 78"/>
            <p:cNvSpPr/>
            <p:nvPr/>
          </p:nvSpPr>
          <p:spPr>
            <a:xfrm>
              <a:off x="4566" y="799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6916" name="Oval 79"/>
            <p:cNvSpPr/>
            <p:nvPr/>
          </p:nvSpPr>
          <p:spPr>
            <a:xfrm>
              <a:off x="3840" y="754"/>
              <a:ext cx="91" cy="91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17" name="Oval 80"/>
            <p:cNvSpPr/>
            <p:nvPr/>
          </p:nvSpPr>
          <p:spPr>
            <a:xfrm>
              <a:off x="3840" y="1843"/>
              <a:ext cx="91" cy="91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18" name="Line 81"/>
            <p:cNvSpPr/>
            <p:nvPr/>
          </p:nvSpPr>
          <p:spPr>
            <a:xfrm>
              <a:off x="3931" y="935"/>
              <a:ext cx="0" cy="771"/>
            </a:xfrm>
            <a:prstGeom prst="line">
              <a:avLst/>
            </a:prstGeom>
            <a:ln w="38100" cap="flat" cmpd="sng">
              <a:solidFill>
                <a:srgbClr val="00CC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9" name="Oval 82"/>
            <p:cNvSpPr/>
            <p:nvPr/>
          </p:nvSpPr>
          <p:spPr>
            <a:xfrm>
              <a:off x="4384" y="143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99FF"/>
                </a:gs>
                <a:gs pos="100000">
                  <a:srgbClr val="18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20" name="Oval 83"/>
            <p:cNvSpPr/>
            <p:nvPr/>
          </p:nvSpPr>
          <p:spPr>
            <a:xfrm>
              <a:off x="4021" y="61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99FF"/>
                </a:gs>
                <a:gs pos="100000">
                  <a:srgbClr val="18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0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21" name="Text Box 84"/>
            <p:cNvSpPr txBox="1"/>
            <p:nvPr/>
          </p:nvSpPr>
          <p:spPr>
            <a:xfrm>
              <a:off x="4657" y="1026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Z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22" name="Text Box 85"/>
            <p:cNvSpPr txBox="1"/>
            <p:nvPr/>
          </p:nvSpPr>
          <p:spPr>
            <a:xfrm>
              <a:off x="5360" y="981"/>
              <a:ext cx="3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Z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aphicFrame>
          <p:nvGraphicFramePr>
            <p:cNvPr id="36877" name="Object 86"/>
            <p:cNvGraphicFramePr/>
            <p:nvPr/>
          </p:nvGraphicFramePr>
          <p:xfrm>
            <a:off x="3651" y="1191"/>
            <a:ext cx="23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1" name="" r:id="rId2" imgW="177800" imgH="227965" progId="Equation.3">
                    <p:embed/>
                  </p:oleObj>
                </mc:Choice>
                <mc:Fallback>
                  <p:oleObj name="" r:id="rId2" imgW="177800" imgH="227965" progId="Equation.3">
                    <p:embed/>
                    <p:pic>
                      <p:nvPicPr>
                        <p:cNvPr id="0" name="图片 3210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51" y="1191"/>
                          <a:ext cx="238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23" name="Rectangle 87"/>
            <p:cNvSpPr/>
            <p:nvPr/>
          </p:nvSpPr>
          <p:spPr>
            <a:xfrm>
              <a:off x="4520" y="98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24" name="Rectangle 88"/>
            <p:cNvSpPr/>
            <p:nvPr/>
          </p:nvSpPr>
          <p:spPr>
            <a:xfrm>
              <a:off x="5201" y="98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25" name="Oval 89"/>
            <p:cNvSpPr/>
            <p:nvPr/>
          </p:nvSpPr>
          <p:spPr>
            <a:xfrm>
              <a:off x="5110" y="143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99FF"/>
                </a:gs>
                <a:gs pos="100000">
                  <a:srgbClr val="18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aphicFrame>
        <p:nvGraphicFramePr>
          <p:cNvPr id="73818" name="Object 90"/>
          <p:cNvGraphicFramePr/>
          <p:nvPr/>
        </p:nvGraphicFramePr>
        <p:xfrm>
          <a:off x="633413" y="1052513"/>
          <a:ext cx="37877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4" imgW="1890395" imgH="254000" progId="Equation.3">
                  <p:embed/>
                </p:oleObj>
              </mc:Choice>
              <mc:Fallback>
                <p:oleObj name="" r:id="rId4" imgW="1890395" imgH="2540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3413" y="1052513"/>
                        <a:ext cx="3787775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101"/>
          <p:cNvGrpSpPr/>
          <p:nvPr/>
        </p:nvGrpSpPr>
        <p:grpSpPr>
          <a:xfrm>
            <a:off x="4643438" y="1052513"/>
            <a:ext cx="1512887" cy="576262"/>
            <a:chOff x="930" y="1071"/>
            <a:chExt cx="953" cy="363"/>
          </a:xfrm>
        </p:grpSpPr>
        <p:sp>
          <p:nvSpPr>
            <p:cNvPr id="36910" name="Oval 92"/>
            <p:cNvSpPr/>
            <p:nvPr/>
          </p:nvSpPr>
          <p:spPr>
            <a:xfrm>
              <a:off x="930" y="107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99FF"/>
                </a:gs>
                <a:gs pos="100000">
                  <a:srgbClr val="18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0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11" name="Text Box 93"/>
            <p:cNvSpPr txBox="1"/>
            <p:nvPr/>
          </p:nvSpPr>
          <p:spPr>
            <a:xfrm>
              <a:off x="1293" y="1071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仿宋_GB2312" pitchFamily="49" charset="-122"/>
                </a:rPr>
                <a:t>＝</a:t>
              </a:r>
              <a:r>
                <a:rPr lang="en-US" altLang="zh-CN" b="0" dirty="0">
                  <a:latin typeface="Times New Roman" panose="02020603050405020304" pitchFamily="18" charset="0"/>
                  <a:ea typeface="仿宋_GB2312" pitchFamily="49" charset="-122"/>
                </a:rPr>
                <a:t>?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aphicFrame>
        <p:nvGraphicFramePr>
          <p:cNvPr id="73822" name="Object 94"/>
          <p:cNvGraphicFramePr/>
          <p:nvPr/>
        </p:nvGraphicFramePr>
        <p:xfrm>
          <a:off x="439738" y="1628775"/>
          <a:ext cx="41608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6" imgW="2143760" imgH="266065" progId="Equation.3">
                  <p:embed/>
                </p:oleObj>
              </mc:Choice>
              <mc:Fallback>
                <p:oleObj name="" r:id="rId6" imgW="2143760" imgH="266065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9738" y="1628775"/>
                        <a:ext cx="4160837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02"/>
          <p:cNvGrpSpPr/>
          <p:nvPr/>
        </p:nvGrpSpPr>
        <p:grpSpPr>
          <a:xfrm>
            <a:off x="1403350" y="2205038"/>
            <a:ext cx="2232025" cy="579437"/>
            <a:chOff x="930" y="2024"/>
            <a:chExt cx="1406" cy="365"/>
          </a:xfrm>
        </p:grpSpPr>
        <p:sp>
          <p:nvSpPr>
            <p:cNvPr id="36908" name="Text Box 97"/>
            <p:cNvSpPr txBox="1"/>
            <p:nvPr/>
          </p:nvSpPr>
          <p:spPr>
            <a:xfrm>
              <a:off x="1248" y="2024"/>
              <a:ext cx="108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3200" b="0" dirty="0">
                  <a:latin typeface="Times New Roman" panose="02020603050405020304" pitchFamily="18" charset="0"/>
                  <a:ea typeface="仿宋_GB2312" pitchFamily="49" charset="-122"/>
                </a:rPr>
                <a:t>＝</a:t>
              </a:r>
              <a:r>
                <a:rPr lang="en-US" altLang="zh-CN" sz="3200" b="0" i="1" dirty="0"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sz="3200" b="0" baseline="-25000" dirty="0">
                  <a:latin typeface="Times New Roman" panose="02020603050405020304" pitchFamily="18" charset="0"/>
                  <a:ea typeface="仿宋_GB2312" pitchFamily="49" charset="-122"/>
                </a:rPr>
                <a:t>0max</a:t>
              </a:r>
              <a:r>
                <a:rPr lang="en-US" altLang="zh-CN" sz="3200" b="0" dirty="0">
                  <a:latin typeface="Times New Roman" panose="02020603050405020304" pitchFamily="18" charset="0"/>
                  <a:ea typeface="仿宋_GB2312" pitchFamily="49" charset="-122"/>
                </a:rPr>
                <a:t>=?</a:t>
              </a:r>
              <a:endParaRPr lang="en-US" altLang="zh-CN" sz="3200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09" name="Oval 99"/>
            <p:cNvSpPr/>
            <p:nvPr/>
          </p:nvSpPr>
          <p:spPr>
            <a:xfrm>
              <a:off x="930" y="202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99FF"/>
                </a:gs>
                <a:gs pos="100000">
                  <a:srgbClr val="18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0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aphicFrame>
        <p:nvGraphicFramePr>
          <p:cNvPr id="73831" name="Object 103"/>
          <p:cNvGraphicFramePr/>
          <p:nvPr/>
        </p:nvGraphicFramePr>
        <p:xfrm>
          <a:off x="719138" y="2852738"/>
          <a:ext cx="4033837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" r:id="rId8" imgW="2105660" imgH="266065" progId="Equation.3">
                  <p:embed/>
                </p:oleObj>
              </mc:Choice>
              <mc:Fallback>
                <p:oleObj name="" r:id="rId8" imgW="2105660" imgH="266065" progId="Equation.3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9138" y="2852738"/>
                        <a:ext cx="4033837" cy="509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17"/>
          <p:cNvGrpSpPr/>
          <p:nvPr/>
        </p:nvGrpSpPr>
        <p:grpSpPr>
          <a:xfrm>
            <a:off x="4859338" y="2852738"/>
            <a:ext cx="2160587" cy="647700"/>
            <a:chOff x="3651" y="2160"/>
            <a:chExt cx="1361" cy="408"/>
          </a:xfrm>
        </p:grpSpPr>
        <p:sp>
          <p:nvSpPr>
            <p:cNvPr id="36906" name="Oval 98"/>
            <p:cNvSpPr/>
            <p:nvPr/>
          </p:nvSpPr>
          <p:spPr>
            <a:xfrm>
              <a:off x="3651" y="220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99FF"/>
                </a:gs>
                <a:gs pos="100000">
                  <a:srgbClr val="18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0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07" name="Text Box 106"/>
            <p:cNvSpPr txBox="1"/>
            <p:nvPr/>
          </p:nvSpPr>
          <p:spPr>
            <a:xfrm>
              <a:off x="3924" y="2160"/>
              <a:ext cx="108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3200" b="0" dirty="0">
                  <a:latin typeface="Times New Roman" panose="02020603050405020304" pitchFamily="18" charset="0"/>
                  <a:ea typeface="仿宋_GB2312" pitchFamily="49" charset="-122"/>
                </a:rPr>
                <a:t>＝</a:t>
              </a:r>
              <a:r>
                <a:rPr lang="en-US" altLang="zh-CN" sz="3200" b="0" i="1" dirty="0"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sz="3200" b="0" baseline="-25000" dirty="0">
                  <a:latin typeface="Times New Roman" panose="02020603050405020304" pitchFamily="18" charset="0"/>
                  <a:ea typeface="仿宋_GB2312" pitchFamily="49" charset="-122"/>
                </a:rPr>
                <a:t>0min</a:t>
              </a:r>
              <a:r>
                <a:rPr lang="en-US" altLang="zh-CN" sz="3200" b="0" dirty="0">
                  <a:latin typeface="Times New Roman" panose="02020603050405020304" pitchFamily="18" charset="0"/>
                  <a:ea typeface="仿宋_GB2312" pitchFamily="49" charset="-122"/>
                </a:rPr>
                <a:t>=?</a:t>
              </a:r>
              <a:endParaRPr lang="en-US" altLang="zh-CN" sz="32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10" name="Group 148"/>
          <p:cNvGrpSpPr/>
          <p:nvPr/>
        </p:nvGrpSpPr>
        <p:grpSpPr>
          <a:xfrm>
            <a:off x="635000" y="3573463"/>
            <a:ext cx="7754938" cy="579437"/>
            <a:chOff x="400" y="2251"/>
            <a:chExt cx="4885" cy="365"/>
          </a:xfrm>
        </p:grpSpPr>
        <p:graphicFrame>
          <p:nvGraphicFramePr>
            <p:cNvPr id="36876" name="Object 107"/>
            <p:cNvGraphicFramePr/>
            <p:nvPr/>
          </p:nvGraphicFramePr>
          <p:xfrm>
            <a:off x="400" y="2251"/>
            <a:ext cx="2602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4" name="" r:id="rId10" imgW="2118360" imgH="266065" progId="Equation.3">
                    <p:embed/>
                  </p:oleObj>
                </mc:Choice>
                <mc:Fallback>
                  <p:oleObj name="" r:id="rId10" imgW="2118360" imgH="266065" progId="Equation.3">
                    <p:embed/>
                    <p:pic>
                      <p:nvPicPr>
                        <p:cNvPr id="0" name="图片 3213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0" y="2251"/>
                          <a:ext cx="2602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6900" name="Group 120"/>
            <p:cNvGrpSpPr/>
            <p:nvPr/>
          </p:nvGrpSpPr>
          <p:grpSpPr>
            <a:xfrm>
              <a:off x="4377" y="2251"/>
              <a:ext cx="908" cy="365"/>
              <a:chOff x="4332" y="3113"/>
              <a:chExt cx="908" cy="365"/>
            </a:xfrm>
          </p:grpSpPr>
          <p:sp>
            <p:nvSpPr>
              <p:cNvPr id="36904" name="Text Box 116"/>
              <p:cNvSpPr txBox="1"/>
              <p:nvPr/>
            </p:nvSpPr>
            <p:spPr>
              <a:xfrm>
                <a:off x="4650" y="3113"/>
                <a:ext cx="59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3200" b="0" dirty="0">
                    <a:latin typeface="Times New Roman" panose="02020603050405020304" pitchFamily="18" charset="0"/>
                    <a:ea typeface="仿宋_GB2312" pitchFamily="49" charset="-122"/>
                  </a:rPr>
                  <a:t>＝</a:t>
                </a:r>
                <a:r>
                  <a:rPr lang="en-US" altLang="zh-CN" sz="3200" b="0" dirty="0">
                    <a:latin typeface="Times New Roman" panose="02020603050405020304" pitchFamily="18" charset="0"/>
                    <a:ea typeface="仿宋_GB2312" pitchFamily="49" charset="-122"/>
                  </a:rPr>
                  <a:t>?</a:t>
                </a:r>
                <a:endParaRPr lang="en-US" altLang="zh-CN" sz="32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6905" name="Oval 118"/>
              <p:cNvSpPr/>
              <p:nvPr/>
            </p:nvSpPr>
            <p:spPr>
              <a:xfrm>
                <a:off x="4332" y="3113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3399FF"/>
                  </a:gs>
                  <a:gs pos="100000">
                    <a:srgbClr val="18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A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2</a:t>
                </a:r>
                <a:endPara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</p:grpSp>
        <p:sp>
          <p:nvSpPr>
            <p:cNvPr id="36901" name="Oval 100"/>
            <p:cNvSpPr/>
            <p:nvPr/>
          </p:nvSpPr>
          <p:spPr>
            <a:xfrm>
              <a:off x="3107" y="225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99FF"/>
                </a:gs>
                <a:gs pos="100000">
                  <a:srgbClr val="18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0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02" name="Text Box 112"/>
            <p:cNvSpPr txBox="1"/>
            <p:nvPr/>
          </p:nvSpPr>
          <p:spPr>
            <a:xfrm>
              <a:off x="3424" y="2251"/>
              <a:ext cx="131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3200" b="0" dirty="0">
                  <a:latin typeface="Times New Roman" panose="02020603050405020304" pitchFamily="18" charset="0"/>
                  <a:ea typeface="仿宋_GB2312" pitchFamily="49" charset="-122"/>
                </a:rPr>
                <a:t>＝      ？ </a:t>
              </a:r>
              <a:endParaRPr lang="zh-CN" altLang="en-US" sz="32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903" name="Oval 119"/>
            <p:cNvSpPr/>
            <p:nvPr/>
          </p:nvSpPr>
          <p:spPr>
            <a:xfrm>
              <a:off x="3697" y="225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99FF"/>
                </a:gs>
                <a:gs pos="100000">
                  <a:srgbClr val="18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73849" name="Text Box 121"/>
          <p:cNvSpPr txBox="1"/>
          <p:nvPr/>
        </p:nvSpPr>
        <p:spPr>
          <a:xfrm>
            <a:off x="468313" y="4221163"/>
            <a:ext cx="576262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3850" name="Object 122"/>
          <p:cNvGraphicFramePr/>
          <p:nvPr/>
        </p:nvGraphicFramePr>
        <p:xfrm>
          <a:off x="850900" y="4149725"/>
          <a:ext cx="394017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12" imgW="1853565" imgH="292100" progId="Equation.3">
                  <p:embed/>
                </p:oleObj>
              </mc:Choice>
              <mc:Fallback>
                <p:oleObj name="" r:id="rId12" imgW="1853565" imgH="292100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0900" y="4149725"/>
                        <a:ext cx="3940175" cy="620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62" name="Object 134"/>
          <p:cNvGraphicFramePr/>
          <p:nvPr/>
        </p:nvGraphicFramePr>
        <p:xfrm>
          <a:off x="712788" y="4868863"/>
          <a:ext cx="4932362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14" imgW="2538730" imgH="241300" progId="Equation.3">
                  <p:embed/>
                </p:oleObj>
              </mc:Choice>
              <mc:Fallback>
                <p:oleObj name="" r:id="rId14" imgW="2538730" imgH="24130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2788" y="4868863"/>
                        <a:ext cx="4932362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63" name="Object 135"/>
          <p:cNvGraphicFramePr/>
          <p:nvPr/>
        </p:nvGraphicFramePr>
        <p:xfrm>
          <a:off x="688975" y="5445125"/>
          <a:ext cx="51498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16" imgW="2653030" imgH="241300" progId="Equation.3">
                  <p:embed/>
                </p:oleObj>
              </mc:Choice>
              <mc:Fallback>
                <p:oleObj name="" r:id="rId16" imgW="2653030" imgH="241300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8975" y="5445125"/>
                        <a:ext cx="5149850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64" name="Object 136"/>
          <p:cNvGraphicFramePr/>
          <p:nvPr/>
        </p:nvGraphicFramePr>
        <p:xfrm>
          <a:off x="684213" y="5949950"/>
          <a:ext cx="59372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18" imgW="2792730" imgH="241300" progId="Equation.3">
                  <p:embed/>
                </p:oleObj>
              </mc:Choice>
              <mc:Fallback>
                <p:oleObj name="" r:id="rId18" imgW="2792730" imgH="2413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5949950"/>
                        <a:ext cx="5937250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40"/>
          <p:cNvGrpSpPr/>
          <p:nvPr/>
        </p:nvGrpSpPr>
        <p:grpSpPr>
          <a:xfrm>
            <a:off x="6227763" y="4437063"/>
            <a:ext cx="2303462" cy="1528762"/>
            <a:chOff x="3696" y="2795"/>
            <a:chExt cx="1451" cy="963"/>
          </a:xfrm>
        </p:grpSpPr>
        <p:graphicFrame>
          <p:nvGraphicFramePr>
            <p:cNvPr id="36873" name="Object 124"/>
            <p:cNvGraphicFramePr/>
            <p:nvPr/>
          </p:nvGraphicFramePr>
          <p:xfrm>
            <a:off x="4785" y="3475"/>
            <a:ext cx="362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9" name="" r:id="rId20" imgW="342265" imgH="266065" progId="Equation.3">
                    <p:embed/>
                  </p:oleObj>
                </mc:Choice>
                <mc:Fallback>
                  <p:oleObj name="" r:id="rId20" imgW="342265" imgH="266065" progId="Equation.3">
                    <p:embed/>
                    <p:pic>
                      <p:nvPicPr>
                        <p:cNvPr id="0" name="图片 3218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85" y="3475"/>
                          <a:ext cx="362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4" name="Object 127"/>
            <p:cNvGraphicFramePr/>
            <p:nvPr/>
          </p:nvGraphicFramePr>
          <p:xfrm>
            <a:off x="3750" y="2925"/>
            <a:ext cx="217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" name="" r:id="rId22" imgW="165100" imgH="266065" progId="Equation.3">
                    <p:embed/>
                  </p:oleObj>
                </mc:Choice>
                <mc:Fallback>
                  <p:oleObj name="" r:id="rId22" imgW="165100" imgH="266065" progId="Equation.3">
                    <p:embed/>
                    <p:pic>
                      <p:nvPicPr>
                        <p:cNvPr id="0" name="图片 3222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50" y="2925"/>
                          <a:ext cx="217" cy="3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4" name="Freeform 128"/>
            <p:cNvSpPr/>
            <p:nvPr/>
          </p:nvSpPr>
          <p:spPr>
            <a:xfrm rot="2550627">
              <a:off x="3697" y="3403"/>
              <a:ext cx="192" cy="97"/>
            </a:xfrm>
            <a:custGeom>
              <a:avLst/>
              <a:gdLst>
                <a:gd name="txL" fmla="*/ 0 w 192"/>
                <a:gd name="txT" fmla="*/ 0 h 96"/>
                <a:gd name="txR" fmla="*/ 192 w 192"/>
                <a:gd name="txB" fmla="*/ 96 h 96"/>
              </a:gdLst>
              <a:ahLst/>
              <a:cxnLst>
                <a:cxn ang="0">
                  <a:pos x="0" y="97"/>
                </a:cxn>
                <a:cxn ang="0">
                  <a:pos x="96" y="0"/>
                </a:cxn>
                <a:cxn ang="0">
                  <a:pos x="192" y="97"/>
                </a:cxn>
              </a:cxnLst>
              <a:rect l="txL" t="txT" r="txR" b="txB"/>
              <a:pathLst>
                <a:path w="192" h="96">
                  <a:moveTo>
                    <a:pt x="0" y="96"/>
                  </a:moveTo>
                  <a:lnTo>
                    <a:pt x="96" y="0"/>
                  </a:lnTo>
                  <a:lnTo>
                    <a:pt x="192" y="96"/>
                  </a:lnTo>
                </a:path>
              </a:pathLst>
            </a:custGeom>
            <a:noFill/>
            <a:ln w="28575" cap="flat" cmpd="sng">
              <a:solidFill>
                <a:srgbClr val="99FF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895" name="Line 129"/>
            <p:cNvSpPr/>
            <p:nvPr/>
          </p:nvSpPr>
          <p:spPr>
            <a:xfrm flipV="1">
              <a:off x="3697" y="2931"/>
              <a:ext cx="1043" cy="19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6896" name="Line 131"/>
            <p:cNvSpPr/>
            <p:nvPr/>
          </p:nvSpPr>
          <p:spPr>
            <a:xfrm flipV="1">
              <a:off x="3696" y="2931"/>
              <a:ext cx="1043" cy="681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6875" name="Object 132"/>
            <p:cNvGraphicFramePr/>
            <p:nvPr/>
          </p:nvGraphicFramePr>
          <p:xfrm>
            <a:off x="4740" y="2795"/>
            <a:ext cx="196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2" name="" r:id="rId24" imgW="165100" imgH="266065" progId="Equation.3">
                    <p:embed/>
                  </p:oleObj>
                </mc:Choice>
                <mc:Fallback>
                  <p:oleObj name="" r:id="rId24" imgW="165100" imgH="266065" progId="Equation.3">
                    <p:embed/>
                    <p:pic>
                      <p:nvPicPr>
                        <p:cNvPr id="0" name="图片 3221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40" y="2795"/>
                          <a:ext cx="196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7" name="Line 137"/>
            <p:cNvSpPr/>
            <p:nvPr/>
          </p:nvSpPr>
          <p:spPr>
            <a:xfrm>
              <a:off x="3696" y="3612"/>
              <a:ext cx="1044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98" name="Line 138"/>
            <p:cNvSpPr/>
            <p:nvPr/>
          </p:nvSpPr>
          <p:spPr>
            <a:xfrm flipV="1">
              <a:off x="3696" y="2931"/>
              <a:ext cx="0" cy="681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99" name="Line 139"/>
            <p:cNvSpPr/>
            <p:nvPr/>
          </p:nvSpPr>
          <p:spPr>
            <a:xfrm>
              <a:off x="4694" y="2931"/>
              <a:ext cx="0" cy="681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36891" name="Group 144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6892" name="Picture 14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893" name="Text Box 14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7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7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38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38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3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3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7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7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7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7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73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/>
      <p:bldP spid="73747" grpId="0"/>
      <p:bldP spid="7384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Text Box 2"/>
          <p:cNvSpPr txBox="1"/>
          <p:nvPr/>
        </p:nvSpPr>
        <p:spPr>
          <a:xfrm>
            <a:off x="323850" y="549275"/>
            <a:ext cx="13462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4-3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7892" name="Object 4"/>
          <p:cNvGraphicFramePr/>
          <p:nvPr/>
        </p:nvGraphicFramePr>
        <p:xfrm>
          <a:off x="1573213" y="549275"/>
          <a:ext cx="49307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1" imgW="2463800" imgH="279400" progId="Equation.3">
                  <p:embed/>
                </p:oleObj>
              </mc:Choice>
              <mc:Fallback>
                <p:oleObj name="" r:id="rId1" imgW="2463800" imgH="279400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73213" y="549275"/>
                        <a:ext cx="4930775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39" name="Text Box 51"/>
          <p:cNvSpPr txBox="1"/>
          <p:nvPr/>
        </p:nvSpPr>
        <p:spPr>
          <a:xfrm>
            <a:off x="684213" y="3500438"/>
            <a:ext cx="576262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7941" name="Object 53"/>
          <p:cNvGraphicFramePr/>
          <p:nvPr/>
        </p:nvGraphicFramePr>
        <p:xfrm>
          <a:off x="1185863" y="4292600"/>
          <a:ext cx="324485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3" imgW="1548765" imgH="241300" progId="Equation.3">
                  <p:embed/>
                </p:oleObj>
              </mc:Choice>
              <mc:Fallback>
                <p:oleObj name="" r:id="rId3" imgW="1548765" imgH="241300" progId="Equation.3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5863" y="4292600"/>
                        <a:ext cx="3244850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42" name="Object 54"/>
          <p:cNvGraphicFramePr/>
          <p:nvPr/>
        </p:nvGraphicFramePr>
        <p:xfrm>
          <a:off x="1171575" y="4868863"/>
          <a:ext cx="4421188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5" imgW="2019300" imgH="457200" progId="Equation.3">
                  <p:embed/>
                </p:oleObj>
              </mc:Choice>
              <mc:Fallback>
                <p:oleObj name="" r:id="rId5" imgW="2019300" imgH="457200" progId="Equation.3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71575" y="4868863"/>
                        <a:ext cx="4421188" cy="1008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1"/>
          <p:cNvGrpSpPr/>
          <p:nvPr/>
        </p:nvGrpSpPr>
        <p:grpSpPr>
          <a:xfrm>
            <a:off x="3851275" y="1844675"/>
            <a:ext cx="1839913" cy="646113"/>
            <a:chOff x="3127" y="1163"/>
            <a:chExt cx="1159" cy="407"/>
          </a:xfrm>
        </p:grpSpPr>
        <p:sp>
          <p:nvSpPr>
            <p:cNvPr id="37968" name="Line 81"/>
            <p:cNvSpPr/>
            <p:nvPr/>
          </p:nvSpPr>
          <p:spPr>
            <a:xfrm>
              <a:off x="3198" y="1570"/>
              <a:ext cx="816" cy="0"/>
            </a:xfrm>
            <a:prstGeom prst="line">
              <a:avLst/>
            </a:prstGeom>
            <a:ln w="76200" cap="flat" cmpd="sng">
              <a:solidFill>
                <a:srgbClr val="3399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69" name="Text Box 82"/>
            <p:cNvSpPr txBox="1"/>
            <p:nvPr/>
          </p:nvSpPr>
          <p:spPr>
            <a:xfrm>
              <a:off x="3127" y="1163"/>
              <a:ext cx="11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</a:rPr>
                <a:t>相量模型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7902" name="Group 9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7966" name="Picture 98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67" name="Text Box 9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7903" name="Group 10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7964" name="Picture 101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65" name="Text Box 10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7904" name="Group 167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7962" name="Picture 168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63" name="Text Box 16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" name="Group 181"/>
          <p:cNvGrpSpPr/>
          <p:nvPr/>
        </p:nvGrpSpPr>
        <p:grpSpPr>
          <a:xfrm>
            <a:off x="539750" y="1168400"/>
            <a:ext cx="3209925" cy="1973263"/>
            <a:chOff x="340" y="736"/>
            <a:chExt cx="2022" cy="1243"/>
          </a:xfrm>
        </p:grpSpPr>
        <p:sp>
          <p:nvSpPr>
            <p:cNvPr id="37937" name="Oval 107"/>
            <p:cNvSpPr/>
            <p:nvPr/>
          </p:nvSpPr>
          <p:spPr>
            <a:xfrm>
              <a:off x="340" y="120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938" name="Text Box 108"/>
            <p:cNvSpPr txBox="1"/>
            <p:nvPr/>
          </p:nvSpPr>
          <p:spPr>
            <a:xfrm>
              <a:off x="622" y="1045"/>
              <a:ext cx="22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" name="Text Box 109"/>
            <p:cNvSpPr txBox="1"/>
            <p:nvPr/>
          </p:nvSpPr>
          <p:spPr>
            <a:xfrm>
              <a:off x="567" y="1362"/>
              <a:ext cx="21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7940" name="Line 110"/>
            <p:cNvSpPr/>
            <p:nvPr/>
          </p:nvSpPr>
          <p:spPr>
            <a:xfrm flipV="1">
              <a:off x="2122" y="1248"/>
              <a:ext cx="240" cy="3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" name="Line 111"/>
            <p:cNvSpPr/>
            <p:nvPr/>
          </p:nvSpPr>
          <p:spPr>
            <a:xfrm>
              <a:off x="2122" y="1343"/>
              <a:ext cx="240" cy="1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" name="Line 112"/>
            <p:cNvSpPr/>
            <p:nvPr/>
          </p:nvSpPr>
          <p:spPr>
            <a:xfrm>
              <a:off x="530" y="799"/>
              <a:ext cx="176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3" name="Line 113"/>
            <p:cNvSpPr/>
            <p:nvPr/>
          </p:nvSpPr>
          <p:spPr>
            <a:xfrm>
              <a:off x="522" y="1979"/>
              <a:ext cx="176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4" name="Line 114"/>
            <p:cNvSpPr/>
            <p:nvPr/>
          </p:nvSpPr>
          <p:spPr>
            <a:xfrm>
              <a:off x="522" y="799"/>
              <a:ext cx="8" cy="116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5" name="Text Box 115"/>
            <p:cNvSpPr txBox="1"/>
            <p:nvPr/>
          </p:nvSpPr>
          <p:spPr>
            <a:xfrm>
              <a:off x="1139" y="1090"/>
              <a:ext cx="45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r>
                <a:rPr lang="en-US" altLang="zh-CN" sz="2400" b="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46" name="Line 116"/>
            <p:cNvSpPr/>
            <p:nvPr/>
          </p:nvSpPr>
          <p:spPr>
            <a:xfrm>
              <a:off x="729" y="800"/>
              <a:ext cx="240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47" name="Line 117"/>
            <p:cNvSpPr/>
            <p:nvPr/>
          </p:nvSpPr>
          <p:spPr>
            <a:xfrm>
              <a:off x="1138" y="799"/>
              <a:ext cx="0" cy="118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7948" name="Line 118"/>
            <p:cNvSpPr/>
            <p:nvPr/>
          </p:nvSpPr>
          <p:spPr>
            <a:xfrm flipH="1">
              <a:off x="1610" y="799"/>
              <a:ext cx="14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7949" name="Line 119"/>
            <p:cNvSpPr/>
            <p:nvPr/>
          </p:nvSpPr>
          <p:spPr>
            <a:xfrm>
              <a:off x="1610" y="1525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7950" name="Line 120"/>
            <p:cNvSpPr/>
            <p:nvPr/>
          </p:nvSpPr>
          <p:spPr>
            <a:xfrm>
              <a:off x="2272" y="799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1" name="Line 121"/>
            <p:cNvSpPr/>
            <p:nvPr/>
          </p:nvSpPr>
          <p:spPr>
            <a:xfrm>
              <a:off x="2272" y="1344"/>
              <a:ext cx="0" cy="6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2" name="Text Box 122"/>
            <p:cNvSpPr txBox="1"/>
            <p:nvPr/>
          </p:nvSpPr>
          <p:spPr>
            <a:xfrm>
              <a:off x="748" y="1253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53" name="Text Box 123"/>
            <p:cNvSpPr txBox="1"/>
            <p:nvPr/>
          </p:nvSpPr>
          <p:spPr>
            <a:xfrm>
              <a:off x="1266" y="1499"/>
              <a:ext cx="351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4H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54" name="Text Box 124"/>
            <p:cNvSpPr txBox="1"/>
            <p:nvPr/>
          </p:nvSpPr>
          <p:spPr>
            <a:xfrm>
              <a:off x="1695" y="954"/>
              <a:ext cx="559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0.02F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55" name="Text Box 125"/>
            <p:cNvSpPr txBox="1"/>
            <p:nvPr/>
          </p:nvSpPr>
          <p:spPr>
            <a:xfrm>
              <a:off x="748" y="736"/>
              <a:ext cx="1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56" name="Rectangle 126"/>
            <p:cNvSpPr/>
            <p:nvPr/>
          </p:nvSpPr>
          <p:spPr>
            <a:xfrm>
              <a:off x="1066" y="12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7957" name="Group 170"/>
            <p:cNvGrpSpPr/>
            <p:nvPr/>
          </p:nvGrpSpPr>
          <p:grpSpPr>
            <a:xfrm rot="10800000">
              <a:off x="1610" y="1162"/>
              <a:ext cx="90" cy="363"/>
              <a:chOff x="1565" y="2614"/>
              <a:chExt cx="90" cy="486"/>
            </a:xfrm>
          </p:grpSpPr>
          <p:sp>
            <p:nvSpPr>
              <p:cNvPr id="37958" name="Arc 171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959" name="Arc 172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960" name="Arc 173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961" name="Arc 174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1" name="Group 180"/>
          <p:cNvGrpSpPr/>
          <p:nvPr/>
        </p:nvGrpSpPr>
        <p:grpSpPr>
          <a:xfrm>
            <a:off x="5435600" y="1268413"/>
            <a:ext cx="3209925" cy="1873250"/>
            <a:chOff x="3424" y="799"/>
            <a:chExt cx="2022" cy="1180"/>
          </a:xfrm>
        </p:grpSpPr>
        <p:sp>
          <p:nvSpPr>
            <p:cNvPr id="37911" name="Line 157"/>
            <p:cNvSpPr/>
            <p:nvPr/>
          </p:nvSpPr>
          <p:spPr>
            <a:xfrm>
              <a:off x="5356" y="1344"/>
              <a:ext cx="0" cy="6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2" name="Line 155"/>
            <p:cNvSpPr/>
            <p:nvPr/>
          </p:nvSpPr>
          <p:spPr>
            <a:xfrm>
              <a:off x="4694" y="1525"/>
              <a:ext cx="14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7913" name="Line 153"/>
            <p:cNvSpPr/>
            <p:nvPr/>
          </p:nvSpPr>
          <p:spPr>
            <a:xfrm>
              <a:off x="4222" y="799"/>
              <a:ext cx="0" cy="118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graphicFrame>
          <p:nvGraphicFramePr>
            <p:cNvPr id="37894" name="Object 133"/>
            <p:cNvGraphicFramePr/>
            <p:nvPr/>
          </p:nvGraphicFramePr>
          <p:xfrm>
            <a:off x="3832" y="1252"/>
            <a:ext cx="20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" name="" r:id="rId8" imgW="177800" imgH="227965" progId="Equation.3">
                    <p:embed/>
                  </p:oleObj>
                </mc:Choice>
                <mc:Fallback>
                  <p:oleObj name="" r:id="rId8" imgW="177800" imgH="227965" progId="Equation.3">
                    <p:embed/>
                    <p:pic>
                      <p:nvPicPr>
                        <p:cNvPr id="0" name="图片 3225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32" y="1252"/>
                          <a:ext cx="209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4" name="Text Box 134"/>
            <p:cNvSpPr txBox="1"/>
            <p:nvPr/>
          </p:nvSpPr>
          <p:spPr>
            <a:xfrm>
              <a:off x="4818" y="1317"/>
              <a:ext cx="5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j20</a:t>
              </a:r>
              <a:r>
                <a:rPr lang="en-US" altLang="zh-CN" sz="2400" b="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15" name="Text Box 135"/>
            <p:cNvSpPr txBox="1"/>
            <p:nvPr/>
          </p:nvSpPr>
          <p:spPr>
            <a:xfrm>
              <a:off x="4735" y="909"/>
              <a:ext cx="60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j10</a:t>
              </a:r>
              <a:r>
                <a:rPr lang="en-US" altLang="zh-CN" sz="2400" b="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7895" name="Object 136"/>
            <p:cNvGraphicFramePr/>
            <p:nvPr/>
          </p:nvGraphicFramePr>
          <p:xfrm>
            <a:off x="4014" y="1616"/>
            <a:ext cx="185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7" name="" r:id="rId10" imgW="152400" imgH="266065" progId="Equation.3">
                    <p:embed/>
                  </p:oleObj>
                </mc:Choice>
                <mc:Fallback>
                  <p:oleObj name="" r:id="rId10" imgW="152400" imgH="266065" progId="Equation.3">
                    <p:embed/>
                    <p:pic>
                      <p:nvPicPr>
                        <p:cNvPr id="0" name="图片 3226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14" y="1616"/>
                          <a:ext cx="185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6" name="Object 137"/>
            <p:cNvGraphicFramePr/>
            <p:nvPr/>
          </p:nvGraphicFramePr>
          <p:xfrm>
            <a:off x="4468" y="1616"/>
            <a:ext cx="212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5" name="" r:id="rId12" imgW="165100" imgH="266065" progId="Equation.3">
                    <p:embed/>
                  </p:oleObj>
                </mc:Choice>
                <mc:Fallback>
                  <p:oleObj name="" r:id="rId12" imgW="165100" imgH="266065" progId="Equation.3">
                    <p:embed/>
                    <p:pic>
                      <p:nvPicPr>
                        <p:cNvPr id="0" name="图片 3224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8" y="1616"/>
                          <a:ext cx="212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7" name="Object 138"/>
            <p:cNvGraphicFramePr/>
            <p:nvPr/>
          </p:nvGraphicFramePr>
          <p:xfrm>
            <a:off x="5148" y="1616"/>
            <a:ext cx="212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8" name="" r:id="rId14" imgW="165100" imgH="266065" progId="Equation.3">
                    <p:embed/>
                  </p:oleObj>
                </mc:Choice>
                <mc:Fallback>
                  <p:oleObj name="" r:id="rId14" imgW="165100" imgH="266065" progId="Equation.3">
                    <p:embed/>
                    <p:pic>
                      <p:nvPicPr>
                        <p:cNvPr id="0" name="图片 3227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48" y="1616"/>
                          <a:ext cx="212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8" name="Object 139"/>
            <p:cNvGraphicFramePr/>
            <p:nvPr/>
          </p:nvGraphicFramePr>
          <p:xfrm>
            <a:off x="3878" y="799"/>
            <a:ext cx="163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9" name="" r:id="rId16" imgW="127000" imgH="215265" progId="Equation.3">
                    <p:embed/>
                  </p:oleObj>
                </mc:Choice>
                <mc:Fallback>
                  <p:oleObj name="" r:id="rId16" imgW="127000" imgH="215265" progId="Equation.3">
                    <p:embed/>
                    <p:pic>
                      <p:nvPicPr>
                        <p:cNvPr id="0" name="图片 3228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78" y="799"/>
                          <a:ext cx="163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6" name="Line 140"/>
            <p:cNvSpPr/>
            <p:nvPr/>
          </p:nvSpPr>
          <p:spPr>
            <a:xfrm>
              <a:off x="4223" y="1661"/>
              <a:ext cx="0" cy="22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17" name="Line 141"/>
            <p:cNvSpPr/>
            <p:nvPr/>
          </p:nvSpPr>
          <p:spPr>
            <a:xfrm>
              <a:off x="4712" y="1661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18" name="Line 142"/>
            <p:cNvSpPr/>
            <p:nvPr/>
          </p:nvSpPr>
          <p:spPr>
            <a:xfrm>
              <a:off x="5357" y="1661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19" name="Oval 143"/>
            <p:cNvSpPr/>
            <p:nvPr/>
          </p:nvSpPr>
          <p:spPr>
            <a:xfrm>
              <a:off x="3424" y="120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920" name="Text Box 144"/>
            <p:cNvSpPr txBox="1"/>
            <p:nvPr/>
          </p:nvSpPr>
          <p:spPr>
            <a:xfrm>
              <a:off x="3706" y="1045"/>
              <a:ext cx="22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7921" name="Text Box 145"/>
            <p:cNvSpPr txBox="1"/>
            <p:nvPr/>
          </p:nvSpPr>
          <p:spPr>
            <a:xfrm>
              <a:off x="3651" y="1362"/>
              <a:ext cx="21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7922" name="Line 146"/>
            <p:cNvSpPr/>
            <p:nvPr/>
          </p:nvSpPr>
          <p:spPr>
            <a:xfrm flipV="1">
              <a:off x="5206" y="1248"/>
              <a:ext cx="240" cy="3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3" name="Line 147"/>
            <p:cNvSpPr/>
            <p:nvPr/>
          </p:nvSpPr>
          <p:spPr>
            <a:xfrm>
              <a:off x="5206" y="1343"/>
              <a:ext cx="240" cy="1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4" name="Line 148"/>
            <p:cNvSpPr/>
            <p:nvPr/>
          </p:nvSpPr>
          <p:spPr>
            <a:xfrm>
              <a:off x="3614" y="799"/>
              <a:ext cx="176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5" name="Line 149"/>
            <p:cNvSpPr/>
            <p:nvPr/>
          </p:nvSpPr>
          <p:spPr>
            <a:xfrm>
              <a:off x="3606" y="1979"/>
              <a:ext cx="176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6" name="Line 150"/>
            <p:cNvSpPr/>
            <p:nvPr/>
          </p:nvSpPr>
          <p:spPr>
            <a:xfrm>
              <a:off x="3606" y="799"/>
              <a:ext cx="8" cy="116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7" name="Text Box 151"/>
            <p:cNvSpPr txBox="1"/>
            <p:nvPr/>
          </p:nvSpPr>
          <p:spPr>
            <a:xfrm>
              <a:off x="4223" y="1090"/>
              <a:ext cx="45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r>
                <a:rPr lang="en-US" altLang="zh-CN" sz="2400" b="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28" name="Line 152"/>
            <p:cNvSpPr/>
            <p:nvPr/>
          </p:nvSpPr>
          <p:spPr>
            <a:xfrm>
              <a:off x="3833" y="799"/>
              <a:ext cx="240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29" name="Line 154"/>
            <p:cNvSpPr/>
            <p:nvPr/>
          </p:nvSpPr>
          <p:spPr>
            <a:xfrm flipH="1">
              <a:off x="4694" y="799"/>
              <a:ext cx="14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7930" name="Line 156"/>
            <p:cNvSpPr/>
            <p:nvPr/>
          </p:nvSpPr>
          <p:spPr>
            <a:xfrm>
              <a:off x="5356" y="799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31" name="Rectangle 158"/>
            <p:cNvSpPr/>
            <p:nvPr/>
          </p:nvSpPr>
          <p:spPr>
            <a:xfrm>
              <a:off x="4150" y="12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7932" name="Group 175"/>
            <p:cNvGrpSpPr/>
            <p:nvPr/>
          </p:nvGrpSpPr>
          <p:grpSpPr>
            <a:xfrm rot="10800000">
              <a:off x="4694" y="1162"/>
              <a:ext cx="90" cy="363"/>
              <a:chOff x="1565" y="2614"/>
              <a:chExt cx="90" cy="486"/>
            </a:xfrm>
          </p:grpSpPr>
          <p:sp>
            <p:nvSpPr>
              <p:cNvPr id="37933" name="Arc 176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934" name="Arc 177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935" name="Arc 178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936" name="Arc 179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3" name="Group 186"/>
          <p:cNvGrpSpPr/>
          <p:nvPr/>
        </p:nvGrpSpPr>
        <p:grpSpPr>
          <a:xfrm>
            <a:off x="1492250" y="3429000"/>
            <a:ext cx="1927225" cy="590550"/>
            <a:chOff x="895" y="2160"/>
            <a:chExt cx="1214" cy="372"/>
          </a:xfrm>
        </p:grpSpPr>
        <p:graphicFrame>
          <p:nvGraphicFramePr>
            <p:cNvPr id="37893" name="Object 52"/>
            <p:cNvGraphicFramePr/>
            <p:nvPr/>
          </p:nvGraphicFramePr>
          <p:xfrm>
            <a:off x="895" y="2160"/>
            <a:ext cx="1214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" name="" r:id="rId18" imgW="749300" imgH="228600" progId="Equation.DSMT4">
                    <p:embed/>
                  </p:oleObj>
                </mc:Choice>
                <mc:Fallback>
                  <p:oleObj name="" r:id="rId18" imgW="749300" imgH="228600" progId="Equation.DSMT4">
                    <p:embed/>
                    <p:pic>
                      <p:nvPicPr>
                        <p:cNvPr id="0" name="图片 3230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95" y="2160"/>
                          <a:ext cx="1214" cy="3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7908" name="Group 185"/>
            <p:cNvGrpSpPr/>
            <p:nvPr/>
          </p:nvGrpSpPr>
          <p:grpSpPr>
            <a:xfrm>
              <a:off x="1701" y="2205"/>
              <a:ext cx="408" cy="273"/>
              <a:chOff x="1701" y="2205"/>
              <a:chExt cx="408" cy="273"/>
            </a:xfrm>
          </p:grpSpPr>
          <p:sp>
            <p:nvSpPr>
              <p:cNvPr id="37909" name="Line 183"/>
              <p:cNvSpPr/>
              <p:nvPr/>
            </p:nvSpPr>
            <p:spPr>
              <a:xfrm flipH="1">
                <a:off x="1701" y="2205"/>
                <a:ext cx="136" cy="273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10" name="Line 184"/>
              <p:cNvSpPr/>
              <p:nvPr/>
            </p:nvSpPr>
            <p:spPr>
              <a:xfrm>
                <a:off x="1701" y="2478"/>
                <a:ext cx="408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7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7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7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3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93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4797" name="Object 45"/>
          <p:cNvGraphicFramePr/>
          <p:nvPr/>
        </p:nvGraphicFramePr>
        <p:xfrm>
          <a:off x="1271588" y="3644900"/>
          <a:ext cx="464026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1" imgW="2108200" imgH="279400" progId="Equation.3">
                  <p:embed/>
                </p:oleObj>
              </mc:Choice>
              <mc:Fallback>
                <p:oleObj name="" r:id="rId1" imgW="2108200" imgH="279400" progId="Equation.3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71588" y="3644900"/>
                        <a:ext cx="4640262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22" name="Group 4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8958" name="Picture 4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59" name="Text Box 4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8923" name="Group 4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8956" name="Picture 5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57" name="Text Box 5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74829" name="Object 77"/>
          <p:cNvGraphicFramePr/>
          <p:nvPr/>
        </p:nvGraphicFramePr>
        <p:xfrm>
          <a:off x="1476375" y="620713"/>
          <a:ext cx="5262563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4" imgW="2362200" imgH="508000" progId="Equation.3">
                  <p:embed/>
                </p:oleObj>
              </mc:Choice>
              <mc:Fallback>
                <p:oleObj name="" r:id="rId4" imgW="2362200" imgH="508000" progId="Equation.3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6375" y="620713"/>
                        <a:ext cx="5262563" cy="1131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24" name="Group 112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8954" name="Picture 11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55" name="Text Box 11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116"/>
          <p:cNvGrpSpPr/>
          <p:nvPr/>
        </p:nvGrpSpPr>
        <p:grpSpPr>
          <a:xfrm>
            <a:off x="1692275" y="1773238"/>
            <a:ext cx="5510213" cy="1562100"/>
            <a:chOff x="1066" y="1117"/>
            <a:chExt cx="3471" cy="984"/>
          </a:xfrm>
        </p:grpSpPr>
        <p:graphicFrame>
          <p:nvGraphicFramePr>
            <p:cNvPr id="38921" name="Object 44"/>
            <p:cNvGraphicFramePr/>
            <p:nvPr/>
          </p:nvGraphicFramePr>
          <p:xfrm>
            <a:off x="1066" y="1117"/>
            <a:ext cx="3471" cy="9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0" name="" r:id="rId6" imgW="2957830" imgH="799465" progId="Equation.3">
                    <p:embed/>
                  </p:oleObj>
                </mc:Choice>
                <mc:Fallback>
                  <p:oleObj name="" r:id="rId6" imgW="2957830" imgH="799465" progId="Equation.3">
                    <p:embed/>
                    <p:pic>
                      <p:nvPicPr>
                        <p:cNvPr id="0" name="图片 3229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66" y="1117"/>
                          <a:ext cx="3471" cy="9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53" name="Line 115"/>
            <p:cNvSpPr/>
            <p:nvPr/>
          </p:nvSpPr>
          <p:spPr>
            <a:xfrm>
              <a:off x="3824" y="2060"/>
              <a:ext cx="40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8926" name="Group 117"/>
          <p:cNvGrpSpPr/>
          <p:nvPr/>
        </p:nvGrpSpPr>
        <p:grpSpPr>
          <a:xfrm>
            <a:off x="2700338" y="4508500"/>
            <a:ext cx="3209925" cy="1873250"/>
            <a:chOff x="3424" y="799"/>
            <a:chExt cx="2022" cy="1180"/>
          </a:xfrm>
        </p:grpSpPr>
        <p:sp>
          <p:nvSpPr>
            <p:cNvPr id="38927" name="Line 118"/>
            <p:cNvSpPr/>
            <p:nvPr/>
          </p:nvSpPr>
          <p:spPr>
            <a:xfrm>
              <a:off x="5356" y="1344"/>
              <a:ext cx="0" cy="6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8" name="Line 119"/>
            <p:cNvSpPr/>
            <p:nvPr/>
          </p:nvSpPr>
          <p:spPr>
            <a:xfrm>
              <a:off x="4694" y="1525"/>
              <a:ext cx="14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8929" name="Line 120"/>
            <p:cNvSpPr/>
            <p:nvPr/>
          </p:nvSpPr>
          <p:spPr>
            <a:xfrm>
              <a:off x="4222" y="799"/>
              <a:ext cx="0" cy="118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graphicFrame>
          <p:nvGraphicFramePr>
            <p:cNvPr id="38916" name="Object 121"/>
            <p:cNvGraphicFramePr/>
            <p:nvPr/>
          </p:nvGraphicFramePr>
          <p:xfrm>
            <a:off x="3832" y="1252"/>
            <a:ext cx="20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4" name="" r:id="rId8" imgW="177800" imgH="227965" progId="Equation.3">
                    <p:embed/>
                  </p:oleObj>
                </mc:Choice>
                <mc:Fallback>
                  <p:oleObj name="" r:id="rId8" imgW="177800" imgH="227965" progId="Equation.3">
                    <p:embed/>
                    <p:pic>
                      <p:nvPicPr>
                        <p:cNvPr id="0" name="图片 3233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32" y="1252"/>
                          <a:ext cx="209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0" name="Text Box 122"/>
            <p:cNvSpPr txBox="1"/>
            <p:nvPr/>
          </p:nvSpPr>
          <p:spPr>
            <a:xfrm>
              <a:off x="4818" y="1317"/>
              <a:ext cx="5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j20</a:t>
              </a:r>
              <a:r>
                <a:rPr lang="en-US" altLang="zh-CN" sz="2400" b="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31" name="Text Box 123"/>
            <p:cNvSpPr txBox="1"/>
            <p:nvPr/>
          </p:nvSpPr>
          <p:spPr>
            <a:xfrm>
              <a:off x="4735" y="909"/>
              <a:ext cx="60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j10</a:t>
              </a:r>
              <a:r>
                <a:rPr lang="en-US" altLang="zh-CN" sz="2400" b="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8917" name="Object 124"/>
            <p:cNvGraphicFramePr/>
            <p:nvPr/>
          </p:nvGraphicFramePr>
          <p:xfrm>
            <a:off x="4014" y="1616"/>
            <a:ext cx="185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8" name="" r:id="rId10" imgW="152400" imgH="266065" progId="Equation.3">
                    <p:embed/>
                  </p:oleObj>
                </mc:Choice>
                <mc:Fallback>
                  <p:oleObj name="" r:id="rId10" imgW="152400" imgH="266065" progId="Equation.3">
                    <p:embed/>
                    <p:pic>
                      <p:nvPicPr>
                        <p:cNvPr id="0" name="图片 3237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14" y="1616"/>
                          <a:ext cx="185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18" name="Object 125"/>
            <p:cNvGraphicFramePr/>
            <p:nvPr/>
          </p:nvGraphicFramePr>
          <p:xfrm>
            <a:off x="4468" y="1616"/>
            <a:ext cx="212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7" name="" r:id="rId12" imgW="165100" imgH="266065" progId="Equation.3">
                    <p:embed/>
                  </p:oleObj>
                </mc:Choice>
                <mc:Fallback>
                  <p:oleObj name="" r:id="rId12" imgW="165100" imgH="266065" progId="Equation.3">
                    <p:embed/>
                    <p:pic>
                      <p:nvPicPr>
                        <p:cNvPr id="0" name="图片 3236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8" y="1616"/>
                          <a:ext cx="212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19" name="Object 126"/>
            <p:cNvGraphicFramePr/>
            <p:nvPr/>
          </p:nvGraphicFramePr>
          <p:xfrm>
            <a:off x="5148" y="1616"/>
            <a:ext cx="212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" name="" r:id="rId14" imgW="165100" imgH="266065" progId="Equation.3">
                    <p:embed/>
                  </p:oleObj>
                </mc:Choice>
                <mc:Fallback>
                  <p:oleObj name="" r:id="rId14" imgW="165100" imgH="266065" progId="Equation.3">
                    <p:embed/>
                    <p:pic>
                      <p:nvPicPr>
                        <p:cNvPr id="0" name="图片 3235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48" y="1616"/>
                          <a:ext cx="212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0" name="Object 127"/>
            <p:cNvGraphicFramePr/>
            <p:nvPr/>
          </p:nvGraphicFramePr>
          <p:xfrm>
            <a:off x="3878" y="799"/>
            <a:ext cx="163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5" name="" r:id="rId16" imgW="127000" imgH="215265" progId="Equation.3">
                    <p:embed/>
                  </p:oleObj>
                </mc:Choice>
                <mc:Fallback>
                  <p:oleObj name="" r:id="rId16" imgW="127000" imgH="215265" progId="Equation.3">
                    <p:embed/>
                    <p:pic>
                      <p:nvPicPr>
                        <p:cNvPr id="0" name="图片 3234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78" y="799"/>
                          <a:ext cx="163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2" name="Line 128"/>
            <p:cNvSpPr/>
            <p:nvPr/>
          </p:nvSpPr>
          <p:spPr>
            <a:xfrm>
              <a:off x="4223" y="1661"/>
              <a:ext cx="0" cy="22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3" name="Line 129"/>
            <p:cNvSpPr/>
            <p:nvPr/>
          </p:nvSpPr>
          <p:spPr>
            <a:xfrm>
              <a:off x="4712" y="1661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4" name="Line 130"/>
            <p:cNvSpPr/>
            <p:nvPr/>
          </p:nvSpPr>
          <p:spPr>
            <a:xfrm>
              <a:off x="5357" y="1661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5" name="Oval 131"/>
            <p:cNvSpPr/>
            <p:nvPr/>
          </p:nvSpPr>
          <p:spPr>
            <a:xfrm>
              <a:off x="3424" y="120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8936" name="Text Box 132"/>
            <p:cNvSpPr txBox="1"/>
            <p:nvPr/>
          </p:nvSpPr>
          <p:spPr>
            <a:xfrm>
              <a:off x="3706" y="1045"/>
              <a:ext cx="22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8937" name="Text Box 133"/>
            <p:cNvSpPr txBox="1"/>
            <p:nvPr/>
          </p:nvSpPr>
          <p:spPr>
            <a:xfrm>
              <a:off x="3651" y="1362"/>
              <a:ext cx="21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8938" name="Line 134"/>
            <p:cNvSpPr/>
            <p:nvPr/>
          </p:nvSpPr>
          <p:spPr>
            <a:xfrm flipV="1">
              <a:off x="5206" y="1248"/>
              <a:ext cx="240" cy="3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9" name="Line 135"/>
            <p:cNvSpPr/>
            <p:nvPr/>
          </p:nvSpPr>
          <p:spPr>
            <a:xfrm>
              <a:off x="5206" y="1343"/>
              <a:ext cx="240" cy="1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0" name="Line 136"/>
            <p:cNvSpPr/>
            <p:nvPr/>
          </p:nvSpPr>
          <p:spPr>
            <a:xfrm>
              <a:off x="3614" y="799"/>
              <a:ext cx="176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1" name="Line 137"/>
            <p:cNvSpPr/>
            <p:nvPr/>
          </p:nvSpPr>
          <p:spPr>
            <a:xfrm>
              <a:off x="3606" y="1979"/>
              <a:ext cx="176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2" name="Line 138"/>
            <p:cNvSpPr/>
            <p:nvPr/>
          </p:nvSpPr>
          <p:spPr>
            <a:xfrm>
              <a:off x="3606" y="799"/>
              <a:ext cx="8" cy="116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3" name="Text Box 139"/>
            <p:cNvSpPr txBox="1"/>
            <p:nvPr/>
          </p:nvSpPr>
          <p:spPr>
            <a:xfrm>
              <a:off x="4223" y="1090"/>
              <a:ext cx="45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r>
                <a:rPr lang="en-US" altLang="zh-CN" sz="2400" b="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44" name="Line 140"/>
            <p:cNvSpPr/>
            <p:nvPr/>
          </p:nvSpPr>
          <p:spPr>
            <a:xfrm>
              <a:off x="3833" y="799"/>
              <a:ext cx="240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45" name="Line 141"/>
            <p:cNvSpPr/>
            <p:nvPr/>
          </p:nvSpPr>
          <p:spPr>
            <a:xfrm flipH="1">
              <a:off x="4694" y="799"/>
              <a:ext cx="14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8946" name="Line 142"/>
            <p:cNvSpPr/>
            <p:nvPr/>
          </p:nvSpPr>
          <p:spPr>
            <a:xfrm>
              <a:off x="5356" y="799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7" name="Rectangle 143"/>
            <p:cNvSpPr/>
            <p:nvPr/>
          </p:nvSpPr>
          <p:spPr>
            <a:xfrm>
              <a:off x="4150" y="12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8948" name="Group 144"/>
            <p:cNvGrpSpPr/>
            <p:nvPr/>
          </p:nvGrpSpPr>
          <p:grpSpPr>
            <a:xfrm rot="10800000">
              <a:off x="4694" y="1162"/>
              <a:ext cx="90" cy="363"/>
              <a:chOff x="1565" y="2614"/>
              <a:chExt cx="90" cy="486"/>
            </a:xfrm>
          </p:grpSpPr>
          <p:sp>
            <p:nvSpPr>
              <p:cNvPr id="38949" name="Arc 145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950" name="Arc 146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951" name="Arc 147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952" name="Arc 148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4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Text Box 2"/>
          <p:cNvSpPr txBox="1"/>
          <p:nvPr/>
        </p:nvSpPr>
        <p:spPr>
          <a:xfrm>
            <a:off x="250825" y="476250"/>
            <a:ext cx="13462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4-4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6867" name="Object 3"/>
          <p:cNvGraphicFramePr/>
          <p:nvPr/>
        </p:nvGraphicFramePr>
        <p:xfrm>
          <a:off x="1881188" y="503238"/>
          <a:ext cx="54991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1" imgW="2538095" imgH="254000" progId="Equation.3">
                  <p:embed/>
                </p:oleObj>
              </mc:Choice>
              <mc:Fallback>
                <p:oleObj name="" r:id="rId1" imgW="2538095" imgH="254000" progId="Equation.3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81188" y="503238"/>
                        <a:ext cx="5499100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98" name="Text Box 34"/>
          <p:cNvSpPr txBox="1"/>
          <p:nvPr/>
        </p:nvSpPr>
        <p:spPr>
          <a:xfrm>
            <a:off x="539750" y="3213100"/>
            <a:ext cx="576263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6900" name="Object 36"/>
          <p:cNvGraphicFramePr/>
          <p:nvPr/>
        </p:nvGraphicFramePr>
        <p:xfrm>
          <a:off x="669925" y="3789363"/>
          <a:ext cx="48799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3" imgW="2413000" imgH="457200" progId="Equation.3">
                  <p:embed/>
                </p:oleObj>
              </mc:Choice>
              <mc:Fallback>
                <p:oleObj name="" r:id="rId3" imgW="2413000" imgH="457200" progId="Equation.3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9925" y="3789363"/>
                        <a:ext cx="4879975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5"/>
          <p:cNvGrpSpPr/>
          <p:nvPr/>
        </p:nvGrpSpPr>
        <p:grpSpPr>
          <a:xfrm>
            <a:off x="5867400" y="3390900"/>
            <a:ext cx="2036763" cy="830263"/>
            <a:chOff x="884" y="2363"/>
            <a:chExt cx="1283" cy="523"/>
          </a:xfrm>
        </p:grpSpPr>
        <p:sp>
          <p:nvSpPr>
            <p:cNvPr id="40007" name="Line 62"/>
            <p:cNvSpPr/>
            <p:nvPr/>
          </p:nvSpPr>
          <p:spPr>
            <a:xfrm flipV="1">
              <a:off x="884" y="2705"/>
              <a:ext cx="1088" cy="181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008" name="Line 64"/>
            <p:cNvSpPr/>
            <p:nvPr/>
          </p:nvSpPr>
          <p:spPr>
            <a:xfrm>
              <a:off x="884" y="2886"/>
              <a:ext cx="816" cy="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dash"/>
              <a:headEnd type="none" w="med" len="med"/>
              <a:tailEnd type="none" w="med" len="med"/>
            </a:ln>
          </p:spPr>
        </p:sp>
        <p:graphicFrame>
          <p:nvGraphicFramePr>
            <p:cNvPr id="39946" name="Object 67"/>
            <p:cNvGraphicFramePr/>
            <p:nvPr/>
          </p:nvGraphicFramePr>
          <p:xfrm>
            <a:off x="1692" y="2363"/>
            <a:ext cx="475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2" name="" r:id="rId5" imgW="380365" imgH="266065" progId="Equation.3">
                    <p:embed/>
                  </p:oleObj>
                </mc:Choice>
                <mc:Fallback>
                  <p:oleObj name="" r:id="rId5" imgW="380365" imgH="266065" progId="Equation.3">
                    <p:embed/>
                    <p:pic>
                      <p:nvPicPr>
                        <p:cNvPr id="0" name="图片 3241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92" y="2363"/>
                          <a:ext cx="475" cy="3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33"/>
          <p:cNvGrpSpPr/>
          <p:nvPr/>
        </p:nvGrpSpPr>
        <p:grpSpPr>
          <a:xfrm>
            <a:off x="7572375" y="3933825"/>
            <a:ext cx="684213" cy="1727200"/>
            <a:chOff x="4740" y="2341"/>
            <a:chExt cx="478" cy="1089"/>
          </a:xfrm>
        </p:grpSpPr>
        <p:sp>
          <p:nvSpPr>
            <p:cNvPr id="40006" name="Line 68"/>
            <p:cNvSpPr/>
            <p:nvPr/>
          </p:nvSpPr>
          <p:spPr>
            <a:xfrm>
              <a:off x="4740" y="2341"/>
              <a:ext cx="227" cy="1089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9945" name="Object 72"/>
            <p:cNvGraphicFramePr/>
            <p:nvPr/>
          </p:nvGraphicFramePr>
          <p:xfrm>
            <a:off x="4913" y="2704"/>
            <a:ext cx="305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" name="" r:id="rId7" imgW="241300" imgH="266065" progId="Equation.3">
                    <p:embed/>
                  </p:oleObj>
                </mc:Choice>
                <mc:Fallback>
                  <p:oleObj name="" r:id="rId7" imgW="241300" imgH="266065" progId="Equation.3">
                    <p:embed/>
                    <p:pic>
                      <p:nvPicPr>
                        <p:cNvPr id="0" name="图片 3238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13" y="2704"/>
                          <a:ext cx="305" cy="3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951" name="Group 8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0004" name="Picture 85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005" name="Text Box 8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9952" name="Group 8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0002" name="Picture 88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003" name="Text Box 8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141"/>
          <p:cNvGrpSpPr/>
          <p:nvPr/>
        </p:nvGrpSpPr>
        <p:grpSpPr>
          <a:xfrm>
            <a:off x="827088" y="965200"/>
            <a:ext cx="2324100" cy="2032000"/>
            <a:chOff x="521" y="608"/>
            <a:chExt cx="1464" cy="1280"/>
          </a:xfrm>
        </p:grpSpPr>
        <p:sp>
          <p:nvSpPr>
            <p:cNvPr id="39985" name="Line 109"/>
            <p:cNvSpPr/>
            <p:nvPr/>
          </p:nvSpPr>
          <p:spPr>
            <a:xfrm>
              <a:off x="702" y="935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9986" name="Group 94"/>
            <p:cNvGrpSpPr/>
            <p:nvPr/>
          </p:nvGrpSpPr>
          <p:grpSpPr>
            <a:xfrm>
              <a:off x="1745" y="1344"/>
              <a:ext cx="240" cy="90"/>
              <a:chOff x="4604" y="2478"/>
              <a:chExt cx="240" cy="90"/>
            </a:xfrm>
          </p:grpSpPr>
          <p:sp>
            <p:nvSpPr>
              <p:cNvPr id="40000" name="Line 95"/>
              <p:cNvSpPr/>
              <p:nvPr/>
            </p:nvSpPr>
            <p:spPr>
              <a:xfrm>
                <a:off x="4604" y="2478"/>
                <a:ext cx="240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001" name="Line 96"/>
              <p:cNvSpPr/>
              <p:nvPr/>
            </p:nvSpPr>
            <p:spPr>
              <a:xfrm>
                <a:off x="4604" y="2568"/>
                <a:ext cx="240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9987" name="Oval 97"/>
            <p:cNvSpPr/>
            <p:nvPr/>
          </p:nvSpPr>
          <p:spPr>
            <a:xfrm>
              <a:off x="521" y="120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88" name="Text Box 98"/>
            <p:cNvSpPr txBox="1"/>
            <p:nvPr/>
          </p:nvSpPr>
          <p:spPr>
            <a:xfrm>
              <a:off x="797" y="1032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9989" name="Text Box 99"/>
            <p:cNvSpPr txBox="1"/>
            <p:nvPr/>
          </p:nvSpPr>
          <p:spPr>
            <a:xfrm>
              <a:off x="793" y="1525"/>
              <a:ext cx="2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9990" name="Line 100"/>
            <p:cNvSpPr/>
            <p:nvPr/>
          </p:nvSpPr>
          <p:spPr>
            <a:xfrm flipH="1">
              <a:off x="702" y="936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1" name="Text Box 101"/>
            <p:cNvSpPr txBox="1"/>
            <p:nvPr/>
          </p:nvSpPr>
          <p:spPr>
            <a:xfrm>
              <a:off x="1201" y="936"/>
              <a:ext cx="40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92" name="Line 102"/>
            <p:cNvSpPr/>
            <p:nvPr/>
          </p:nvSpPr>
          <p:spPr>
            <a:xfrm>
              <a:off x="930" y="935"/>
              <a:ext cx="240" cy="0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93" name="Line 103"/>
            <p:cNvSpPr/>
            <p:nvPr/>
          </p:nvSpPr>
          <p:spPr>
            <a:xfrm>
              <a:off x="1881" y="936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4" name="Line 104"/>
            <p:cNvSpPr/>
            <p:nvPr/>
          </p:nvSpPr>
          <p:spPr>
            <a:xfrm>
              <a:off x="1881" y="1435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5" name="Text Box 105"/>
            <p:cNvSpPr txBox="1"/>
            <p:nvPr/>
          </p:nvSpPr>
          <p:spPr>
            <a:xfrm>
              <a:off x="857" y="1253"/>
              <a:ext cx="31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96" name="Text Box 106"/>
            <p:cNvSpPr txBox="1"/>
            <p:nvPr/>
          </p:nvSpPr>
          <p:spPr>
            <a:xfrm>
              <a:off x="1202" y="1389"/>
              <a:ext cx="65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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97" name="Text Box 107"/>
            <p:cNvSpPr txBox="1"/>
            <p:nvPr/>
          </p:nvSpPr>
          <p:spPr>
            <a:xfrm>
              <a:off x="930" y="608"/>
              <a:ext cx="187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98" name="Line 108"/>
            <p:cNvSpPr/>
            <p:nvPr/>
          </p:nvSpPr>
          <p:spPr>
            <a:xfrm>
              <a:off x="702" y="1888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9" name="Rectangle 110"/>
            <p:cNvSpPr/>
            <p:nvPr/>
          </p:nvSpPr>
          <p:spPr>
            <a:xfrm>
              <a:off x="1246" y="86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111"/>
          <p:cNvGrpSpPr/>
          <p:nvPr/>
        </p:nvGrpSpPr>
        <p:grpSpPr>
          <a:xfrm>
            <a:off x="3348038" y="1844675"/>
            <a:ext cx="1839912" cy="646113"/>
            <a:chOff x="3127" y="1163"/>
            <a:chExt cx="1159" cy="407"/>
          </a:xfrm>
        </p:grpSpPr>
        <p:sp>
          <p:nvSpPr>
            <p:cNvPr id="39983" name="Line 112"/>
            <p:cNvSpPr/>
            <p:nvPr/>
          </p:nvSpPr>
          <p:spPr>
            <a:xfrm>
              <a:off x="3198" y="1570"/>
              <a:ext cx="816" cy="0"/>
            </a:xfrm>
            <a:prstGeom prst="line">
              <a:avLst/>
            </a:prstGeom>
            <a:ln w="76200" cap="flat" cmpd="sng">
              <a:solidFill>
                <a:srgbClr val="3399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84" name="Text Box 113"/>
            <p:cNvSpPr txBox="1"/>
            <p:nvPr/>
          </p:nvSpPr>
          <p:spPr>
            <a:xfrm>
              <a:off x="3127" y="1163"/>
              <a:ext cx="11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</a:rPr>
                <a:t>相量模型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oup 142"/>
          <p:cNvGrpSpPr/>
          <p:nvPr/>
        </p:nvGrpSpPr>
        <p:grpSpPr>
          <a:xfrm>
            <a:off x="5148263" y="1125538"/>
            <a:ext cx="2324100" cy="2016125"/>
            <a:chOff x="3243" y="709"/>
            <a:chExt cx="1464" cy="1270"/>
          </a:xfrm>
        </p:grpSpPr>
        <p:sp>
          <p:nvSpPr>
            <p:cNvPr id="39968" name="Line 127"/>
            <p:cNvSpPr/>
            <p:nvPr/>
          </p:nvSpPr>
          <p:spPr>
            <a:xfrm>
              <a:off x="3424" y="1026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9969" name="Group 115"/>
            <p:cNvGrpSpPr/>
            <p:nvPr/>
          </p:nvGrpSpPr>
          <p:grpSpPr>
            <a:xfrm>
              <a:off x="4467" y="1435"/>
              <a:ext cx="240" cy="90"/>
              <a:chOff x="4604" y="2478"/>
              <a:chExt cx="240" cy="90"/>
            </a:xfrm>
          </p:grpSpPr>
          <p:sp>
            <p:nvSpPr>
              <p:cNvPr id="39981" name="Line 116"/>
              <p:cNvSpPr/>
              <p:nvPr/>
            </p:nvSpPr>
            <p:spPr>
              <a:xfrm>
                <a:off x="4604" y="2478"/>
                <a:ext cx="240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82" name="Line 117"/>
              <p:cNvSpPr/>
              <p:nvPr/>
            </p:nvSpPr>
            <p:spPr>
              <a:xfrm>
                <a:off x="4604" y="2568"/>
                <a:ext cx="240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9970" name="Oval 118"/>
            <p:cNvSpPr/>
            <p:nvPr/>
          </p:nvSpPr>
          <p:spPr>
            <a:xfrm>
              <a:off x="3243" y="129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71" name="Text Box 119"/>
            <p:cNvSpPr txBox="1"/>
            <p:nvPr/>
          </p:nvSpPr>
          <p:spPr>
            <a:xfrm>
              <a:off x="3519" y="1123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9972" name="Text Box 120"/>
            <p:cNvSpPr txBox="1"/>
            <p:nvPr/>
          </p:nvSpPr>
          <p:spPr>
            <a:xfrm>
              <a:off x="3515" y="1616"/>
              <a:ext cx="2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9973" name="Line 121"/>
            <p:cNvSpPr/>
            <p:nvPr/>
          </p:nvSpPr>
          <p:spPr>
            <a:xfrm flipH="1">
              <a:off x="3424" y="1027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4" name="Text Box 122"/>
            <p:cNvSpPr txBox="1"/>
            <p:nvPr/>
          </p:nvSpPr>
          <p:spPr>
            <a:xfrm>
              <a:off x="3923" y="1027"/>
              <a:ext cx="40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75" name="Line 123"/>
            <p:cNvSpPr/>
            <p:nvPr/>
          </p:nvSpPr>
          <p:spPr>
            <a:xfrm>
              <a:off x="3651" y="1026"/>
              <a:ext cx="240" cy="0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76" name="Line 124"/>
            <p:cNvSpPr/>
            <p:nvPr/>
          </p:nvSpPr>
          <p:spPr>
            <a:xfrm>
              <a:off x="4603" y="1027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7" name="Line 125"/>
            <p:cNvSpPr/>
            <p:nvPr/>
          </p:nvSpPr>
          <p:spPr>
            <a:xfrm>
              <a:off x="4603" y="1526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8" name="Line 126"/>
            <p:cNvSpPr/>
            <p:nvPr/>
          </p:nvSpPr>
          <p:spPr>
            <a:xfrm>
              <a:off x="3424" y="1979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9" name="Rectangle 128"/>
            <p:cNvSpPr/>
            <p:nvPr/>
          </p:nvSpPr>
          <p:spPr>
            <a:xfrm>
              <a:off x="3968" y="96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39943" name="Object 129"/>
            <p:cNvGraphicFramePr/>
            <p:nvPr/>
          </p:nvGraphicFramePr>
          <p:xfrm>
            <a:off x="3651" y="709"/>
            <a:ext cx="234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4" name="" r:id="rId10" imgW="127000" imgH="215265" progId="Equation.3">
                    <p:embed/>
                  </p:oleObj>
                </mc:Choice>
                <mc:Fallback>
                  <p:oleObj name="" r:id="rId10" imgW="127000" imgH="215265" progId="Equation.3">
                    <p:embed/>
                    <p:pic>
                      <p:nvPicPr>
                        <p:cNvPr id="0" name="图片 3243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51" y="709"/>
                          <a:ext cx="234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80" name="Text Box 130"/>
            <p:cNvSpPr txBox="1"/>
            <p:nvPr/>
          </p:nvSpPr>
          <p:spPr>
            <a:xfrm>
              <a:off x="4059" y="1526"/>
              <a:ext cx="56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-j5</a:t>
              </a:r>
              <a:r>
                <a:rPr lang="en-US" altLang="zh-CN" b="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aphicFrame>
          <p:nvGraphicFramePr>
            <p:cNvPr id="39944" name="Object 131"/>
            <p:cNvGraphicFramePr/>
            <p:nvPr/>
          </p:nvGraphicFramePr>
          <p:xfrm>
            <a:off x="3606" y="1435"/>
            <a:ext cx="21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5" name="" r:id="rId12" imgW="177800" imgH="227965" progId="Equation.3">
                    <p:embed/>
                  </p:oleObj>
                </mc:Choice>
                <mc:Fallback>
                  <p:oleObj name="" r:id="rId12" imgW="177800" imgH="227965" progId="Equation.3">
                    <p:embed/>
                    <p:pic>
                      <p:nvPicPr>
                        <p:cNvPr id="0" name="图片 3244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06" y="1435"/>
                          <a:ext cx="211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34"/>
          <p:cNvGrpSpPr/>
          <p:nvPr/>
        </p:nvGrpSpPr>
        <p:grpSpPr>
          <a:xfrm>
            <a:off x="5867400" y="4221163"/>
            <a:ext cx="2436813" cy="1728787"/>
            <a:chOff x="3696" y="2523"/>
            <a:chExt cx="1535" cy="1108"/>
          </a:xfrm>
        </p:grpSpPr>
        <p:sp>
          <p:nvSpPr>
            <p:cNvPr id="39967" name="Line 69"/>
            <p:cNvSpPr/>
            <p:nvPr/>
          </p:nvSpPr>
          <p:spPr>
            <a:xfrm>
              <a:off x="3696" y="2523"/>
              <a:ext cx="1271" cy="907"/>
            </a:xfrm>
            <a:prstGeom prst="line">
              <a:avLst/>
            </a:prstGeom>
            <a:ln w="28575" cap="flat" cmpd="sng">
              <a:solidFill>
                <a:srgbClr val="66FF66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9942" name="Object 132"/>
            <p:cNvGraphicFramePr/>
            <p:nvPr/>
          </p:nvGraphicFramePr>
          <p:xfrm>
            <a:off x="4975" y="3294"/>
            <a:ext cx="256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6" name="" r:id="rId14" imgW="203200" imgH="266065" progId="Equation.3">
                    <p:embed/>
                  </p:oleObj>
                </mc:Choice>
                <mc:Fallback>
                  <p:oleObj name="" r:id="rId14" imgW="203200" imgH="266065" progId="Equation.3">
                    <p:embed/>
                    <p:pic>
                      <p:nvPicPr>
                        <p:cNvPr id="0" name="图片 3245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75" y="3294"/>
                          <a:ext cx="256" cy="3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957" name="Group 138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9965" name="Picture 139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66" name="Text Box 14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3" name="Group 147"/>
          <p:cNvGrpSpPr/>
          <p:nvPr/>
        </p:nvGrpSpPr>
        <p:grpSpPr>
          <a:xfrm>
            <a:off x="782638" y="4741863"/>
            <a:ext cx="6067425" cy="1271587"/>
            <a:chOff x="493" y="2987"/>
            <a:chExt cx="3822" cy="801"/>
          </a:xfrm>
        </p:grpSpPr>
        <p:graphicFrame>
          <p:nvGraphicFramePr>
            <p:cNvPr id="39941" name="Object 37"/>
            <p:cNvGraphicFramePr/>
            <p:nvPr/>
          </p:nvGraphicFramePr>
          <p:xfrm>
            <a:off x="493" y="2987"/>
            <a:ext cx="3822" cy="8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8" name="" r:id="rId16" imgW="2741930" imgH="571500" progId="Equation.3">
                    <p:embed/>
                  </p:oleObj>
                </mc:Choice>
                <mc:Fallback>
                  <p:oleObj name="" r:id="rId16" imgW="2741930" imgH="571500" progId="Equation.3">
                    <p:embed/>
                    <p:pic>
                      <p:nvPicPr>
                        <p:cNvPr id="0" name="图片 3247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3" y="2987"/>
                          <a:ext cx="3822" cy="8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1" name="Line 143"/>
            <p:cNvSpPr/>
            <p:nvPr/>
          </p:nvSpPr>
          <p:spPr>
            <a:xfrm>
              <a:off x="1855" y="3748"/>
              <a:ext cx="499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2" name="Line 144"/>
            <p:cNvSpPr/>
            <p:nvPr/>
          </p:nvSpPr>
          <p:spPr>
            <a:xfrm>
              <a:off x="2163" y="3330"/>
              <a:ext cx="36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3" name="Line 145"/>
            <p:cNvSpPr/>
            <p:nvPr/>
          </p:nvSpPr>
          <p:spPr>
            <a:xfrm>
              <a:off x="821" y="3748"/>
              <a:ext cx="317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4" name="Line 146"/>
            <p:cNvSpPr/>
            <p:nvPr/>
          </p:nvSpPr>
          <p:spPr>
            <a:xfrm>
              <a:off x="3470" y="3748"/>
              <a:ext cx="54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" name="Group 149"/>
          <p:cNvGrpSpPr/>
          <p:nvPr/>
        </p:nvGrpSpPr>
        <p:grpSpPr>
          <a:xfrm>
            <a:off x="1450975" y="3171825"/>
            <a:ext cx="1778000" cy="577850"/>
            <a:chOff x="914" y="1998"/>
            <a:chExt cx="1120" cy="364"/>
          </a:xfrm>
        </p:grpSpPr>
        <p:graphicFrame>
          <p:nvGraphicFramePr>
            <p:cNvPr id="39940" name="Object 35"/>
            <p:cNvGraphicFramePr/>
            <p:nvPr/>
          </p:nvGraphicFramePr>
          <p:xfrm>
            <a:off x="914" y="1998"/>
            <a:ext cx="1120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3" name="" r:id="rId18" imgW="824230" imgH="266065" progId="Equation.3">
                    <p:embed/>
                  </p:oleObj>
                </mc:Choice>
                <mc:Fallback>
                  <p:oleObj name="" r:id="rId18" imgW="824230" imgH="266065" progId="Equation.3">
                    <p:embed/>
                    <p:pic>
                      <p:nvPicPr>
                        <p:cNvPr id="0" name="图片 3242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14" y="1998"/>
                          <a:ext cx="1120" cy="3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0" name="Line 148"/>
            <p:cNvSpPr/>
            <p:nvPr/>
          </p:nvSpPr>
          <p:spPr>
            <a:xfrm>
              <a:off x="1420" y="2314"/>
              <a:ext cx="317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6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6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  <p:bldP spid="3689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Text Box 2"/>
          <p:cNvSpPr txBox="1"/>
          <p:nvPr/>
        </p:nvSpPr>
        <p:spPr>
          <a:xfrm>
            <a:off x="468313" y="476250"/>
            <a:ext cx="13684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4-5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5843" name="Object 3"/>
          <p:cNvGraphicFramePr/>
          <p:nvPr/>
        </p:nvGraphicFramePr>
        <p:xfrm>
          <a:off x="1619250" y="549275"/>
          <a:ext cx="602456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" name="" r:id="rId1" imgW="3135630" imgH="241300" progId="Equation.3">
                  <p:embed/>
                </p:oleObj>
              </mc:Choice>
              <mc:Fallback>
                <p:oleObj name="" r:id="rId1" imgW="3135630" imgH="241300" progId="Equation.3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549275"/>
                        <a:ext cx="6024563" cy="506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97" name="Text Box 57"/>
          <p:cNvSpPr txBox="1"/>
          <p:nvPr/>
        </p:nvSpPr>
        <p:spPr>
          <a:xfrm>
            <a:off x="395288" y="3284538"/>
            <a:ext cx="576262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5898" name="Object 58"/>
          <p:cNvGraphicFramePr/>
          <p:nvPr/>
        </p:nvGraphicFramePr>
        <p:xfrm>
          <a:off x="1331913" y="3213100"/>
          <a:ext cx="44688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" r:id="rId3" imgW="2118995" imgH="304800" progId="Equation.3">
                  <p:embed/>
                </p:oleObj>
              </mc:Choice>
              <mc:Fallback>
                <p:oleObj name="" r:id="rId3" imgW="2118995" imgH="304800" progId="Equation.3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3213100"/>
                        <a:ext cx="4468812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99" name="Line 59"/>
          <p:cNvSpPr/>
          <p:nvPr/>
        </p:nvSpPr>
        <p:spPr>
          <a:xfrm>
            <a:off x="827088" y="4149725"/>
            <a:ext cx="792162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35900" name="Object 60"/>
          <p:cNvGraphicFramePr/>
          <p:nvPr/>
        </p:nvGraphicFramePr>
        <p:xfrm>
          <a:off x="1763713" y="3933825"/>
          <a:ext cx="505936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" name="" r:id="rId5" imgW="2195830" imgH="241300" progId="Equation.3">
                  <p:embed/>
                </p:oleObj>
              </mc:Choice>
              <mc:Fallback>
                <p:oleObj name="" r:id="rId5" imgW="2195830" imgH="241300" progId="Equation.3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3933825"/>
                        <a:ext cx="5059362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01" name="Object 61"/>
          <p:cNvGraphicFramePr/>
          <p:nvPr/>
        </p:nvGraphicFramePr>
        <p:xfrm>
          <a:off x="1476375" y="4581525"/>
          <a:ext cx="51117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" name="" r:id="rId7" imgW="2284095" imgH="304800" progId="Equation.3">
                  <p:embed/>
                </p:oleObj>
              </mc:Choice>
              <mc:Fallback>
                <p:oleObj name="" r:id="rId7" imgW="2284095" imgH="304800" progId="Equation.3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6375" y="4581525"/>
                        <a:ext cx="511175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02" name="Line 62"/>
          <p:cNvSpPr/>
          <p:nvPr/>
        </p:nvSpPr>
        <p:spPr>
          <a:xfrm>
            <a:off x="755650" y="5805488"/>
            <a:ext cx="647700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35903" name="Object 63"/>
          <p:cNvGraphicFramePr/>
          <p:nvPr/>
        </p:nvGraphicFramePr>
        <p:xfrm>
          <a:off x="1547813" y="5373688"/>
          <a:ext cx="53879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" r:id="rId9" imgW="2296795" imgH="355600" progId="Equation.DSMT4">
                  <p:embed/>
                </p:oleObj>
              </mc:Choice>
              <mc:Fallback>
                <p:oleObj name="" r:id="rId9" imgW="2296795" imgH="355600" progId="Equation.DSMT4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5373688"/>
                        <a:ext cx="5387975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1"/>
          <p:cNvGrpSpPr/>
          <p:nvPr/>
        </p:nvGrpSpPr>
        <p:grpSpPr>
          <a:xfrm>
            <a:off x="5854700" y="1803400"/>
            <a:ext cx="741363" cy="1622425"/>
            <a:chOff x="3688" y="957"/>
            <a:chExt cx="467" cy="1022"/>
          </a:xfrm>
        </p:grpSpPr>
        <p:sp>
          <p:nvSpPr>
            <p:cNvPr id="41021" name="Line 65"/>
            <p:cNvSpPr/>
            <p:nvPr/>
          </p:nvSpPr>
          <p:spPr>
            <a:xfrm flipV="1">
              <a:off x="4150" y="1162"/>
              <a:ext cx="0" cy="817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0972" name="Object 70"/>
            <p:cNvGraphicFramePr/>
            <p:nvPr/>
          </p:nvGraphicFramePr>
          <p:xfrm>
            <a:off x="3688" y="957"/>
            <a:ext cx="467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4" name="" r:id="rId11" imgW="367665" imgH="266065" progId="Equation.3">
                    <p:embed/>
                  </p:oleObj>
                </mc:Choice>
                <mc:Fallback>
                  <p:oleObj name="" r:id="rId11" imgW="367665" imgH="266065" progId="Equation.3">
                    <p:embed/>
                    <p:pic>
                      <p:nvPicPr>
                        <p:cNvPr id="0" name="图片 3253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88" y="957"/>
                          <a:ext cx="467" cy="3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0"/>
          <p:cNvGrpSpPr/>
          <p:nvPr/>
        </p:nvGrpSpPr>
        <p:grpSpPr>
          <a:xfrm>
            <a:off x="6588125" y="3400425"/>
            <a:ext cx="1525588" cy="460375"/>
            <a:chOff x="4150" y="1963"/>
            <a:chExt cx="961" cy="290"/>
          </a:xfrm>
        </p:grpSpPr>
        <p:sp>
          <p:nvSpPr>
            <p:cNvPr id="41020" name="Line 64"/>
            <p:cNvSpPr/>
            <p:nvPr/>
          </p:nvSpPr>
          <p:spPr>
            <a:xfrm>
              <a:off x="4150" y="1979"/>
              <a:ext cx="680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0971" name="Object 71"/>
            <p:cNvGraphicFramePr/>
            <p:nvPr/>
          </p:nvGraphicFramePr>
          <p:xfrm>
            <a:off x="4724" y="1963"/>
            <a:ext cx="387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0" name="" r:id="rId13" imgW="304800" imgH="228600" progId="Equation.3">
                    <p:embed/>
                  </p:oleObj>
                </mc:Choice>
                <mc:Fallback>
                  <p:oleObj name="" r:id="rId13" imgW="304800" imgH="228600" progId="Equation.3">
                    <p:embed/>
                    <p:pic>
                      <p:nvPicPr>
                        <p:cNvPr id="0" name="图片 3249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24" y="1963"/>
                          <a:ext cx="387" cy="2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83"/>
          <p:cNvGrpSpPr/>
          <p:nvPr/>
        </p:nvGrpSpPr>
        <p:grpSpPr>
          <a:xfrm>
            <a:off x="6588125" y="1095375"/>
            <a:ext cx="733425" cy="1033463"/>
            <a:chOff x="4150" y="511"/>
            <a:chExt cx="462" cy="651"/>
          </a:xfrm>
        </p:grpSpPr>
        <p:sp>
          <p:nvSpPr>
            <p:cNvPr id="41019" name="Line 66"/>
            <p:cNvSpPr/>
            <p:nvPr/>
          </p:nvSpPr>
          <p:spPr>
            <a:xfrm flipV="1">
              <a:off x="4150" y="709"/>
              <a:ext cx="0" cy="453"/>
            </a:xfrm>
            <a:prstGeom prst="line">
              <a:avLst/>
            </a:prstGeom>
            <a:ln w="28575" cap="flat" cmpd="sng">
              <a:solidFill>
                <a:srgbClr val="66FF66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0970" name="Object 72"/>
            <p:cNvGraphicFramePr/>
            <p:nvPr/>
          </p:nvGraphicFramePr>
          <p:xfrm>
            <a:off x="4241" y="511"/>
            <a:ext cx="371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7" name="" r:id="rId15" imgW="291465" imgH="266065" progId="Equation.3">
                    <p:embed/>
                  </p:oleObj>
                </mc:Choice>
                <mc:Fallback>
                  <p:oleObj name="" r:id="rId15" imgW="291465" imgH="266065" progId="Equation.3">
                    <p:embed/>
                    <p:pic>
                      <p:nvPicPr>
                        <p:cNvPr id="0" name="图片 3256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41" y="511"/>
                          <a:ext cx="371" cy="3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82"/>
          <p:cNvGrpSpPr/>
          <p:nvPr/>
        </p:nvGrpSpPr>
        <p:grpSpPr>
          <a:xfrm>
            <a:off x="6588125" y="2200275"/>
            <a:ext cx="1584325" cy="1225550"/>
            <a:chOff x="4150" y="1207"/>
            <a:chExt cx="998" cy="772"/>
          </a:xfrm>
        </p:grpSpPr>
        <p:sp>
          <p:nvSpPr>
            <p:cNvPr id="41018" name="Line 67"/>
            <p:cNvSpPr/>
            <p:nvPr/>
          </p:nvSpPr>
          <p:spPr>
            <a:xfrm flipV="1">
              <a:off x="4150" y="1207"/>
              <a:ext cx="590" cy="7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0969" name="Object 73"/>
            <p:cNvGraphicFramePr/>
            <p:nvPr/>
          </p:nvGraphicFramePr>
          <p:xfrm>
            <a:off x="4740" y="1227"/>
            <a:ext cx="408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6" name="" r:id="rId17" imgW="291465" imgH="266065" progId="Equation.3">
                    <p:embed/>
                  </p:oleObj>
                </mc:Choice>
                <mc:Fallback>
                  <p:oleObj name="" r:id="rId17" imgW="291465" imgH="266065" progId="Equation.3">
                    <p:embed/>
                    <p:pic>
                      <p:nvPicPr>
                        <p:cNvPr id="0" name="图片 3255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40" y="1227"/>
                          <a:ext cx="408" cy="3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914" name="Line 74"/>
          <p:cNvSpPr/>
          <p:nvPr/>
        </p:nvSpPr>
        <p:spPr>
          <a:xfrm flipV="1">
            <a:off x="6588125" y="1481138"/>
            <a:ext cx="1008063" cy="1944687"/>
          </a:xfrm>
          <a:prstGeom prst="line">
            <a:avLst/>
          </a:prstGeom>
          <a:ln w="28575" cap="flat" cmpd="sng">
            <a:solidFill>
              <a:srgbClr val="FFCC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35915" name="Object 75"/>
          <p:cNvGraphicFramePr/>
          <p:nvPr/>
        </p:nvGraphicFramePr>
        <p:xfrm>
          <a:off x="7667625" y="1455738"/>
          <a:ext cx="58737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" r:id="rId19" imgW="291465" imgH="266065" progId="Equation.3">
                  <p:embed/>
                </p:oleObj>
              </mc:Choice>
              <mc:Fallback>
                <p:oleObj name="" r:id="rId19" imgW="291465" imgH="266065" progId="Equation.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667625" y="1455738"/>
                        <a:ext cx="587375" cy="534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82" name="Group 8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1016" name="Picture 86" descr="7890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17" name="Text Box 8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0983" name="Group 8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1014" name="Picture 89" descr="7890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15" name="Text Box 9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0984" name="Group 120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41012" name="Picture 121" descr="7890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13" name="Text Box 12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" name="Group 133"/>
          <p:cNvGrpSpPr/>
          <p:nvPr/>
        </p:nvGrpSpPr>
        <p:grpSpPr>
          <a:xfrm>
            <a:off x="1187450" y="981075"/>
            <a:ext cx="3598863" cy="2174875"/>
            <a:chOff x="748" y="618"/>
            <a:chExt cx="2267" cy="1370"/>
          </a:xfrm>
        </p:grpSpPr>
        <p:sp>
          <p:nvSpPr>
            <p:cNvPr id="40986" name="Text Box 95"/>
            <p:cNvSpPr txBox="1"/>
            <p:nvPr/>
          </p:nvSpPr>
          <p:spPr>
            <a:xfrm>
              <a:off x="1882" y="618"/>
              <a:ext cx="57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j40</a:t>
              </a:r>
              <a:r>
                <a:rPr lang="en-US" altLang="zh-CN" b="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87" name="Text Box 96"/>
            <p:cNvSpPr txBox="1"/>
            <p:nvPr/>
          </p:nvSpPr>
          <p:spPr>
            <a:xfrm>
              <a:off x="2358" y="1253"/>
              <a:ext cx="40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88" name="Text Box 97"/>
            <p:cNvSpPr txBox="1"/>
            <p:nvPr/>
          </p:nvSpPr>
          <p:spPr>
            <a:xfrm>
              <a:off x="1202" y="663"/>
              <a:ext cx="5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  <a:r>
                <a:rPr lang="en-US" altLang="zh-CN" b="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89" name="Line 98"/>
            <p:cNvSpPr/>
            <p:nvPr/>
          </p:nvSpPr>
          <p:spPr>
            <a:xfrm flipV="1">
              <a:off x="1117" y="1026"/>
              <a:ext cx="8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0" name="Line 99"/>
            <p:cNvSpPr/>
            <p:nvPr/>
          </p:nvSpPr>
          <p:spPr>
            <a:xfrm>
              <a:off x="1072" y="1843"/>
              <a:ext cx="167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1" name="Line 100"/>
            <p:cNvSpPr/>
            <p:nvPr/>
          </p:nvSpPr>
          <p:spPr>
            <a:xfrm>
              <a:off x="2744" y="1525"/>
              <a:ext cx="6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2" name="Line 101"/>
            <p:cNvSpPr/>
            <p:nvPr/>
          </p:nvSpPr>
          <p:spPr>
            <a:xfrm>
              <a:off x="2342" y="1026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3" name="Line 102"/>
            <p:cNvSpPr/>
            <p:nvPr/>
          </p:nvSpPr>
          <p:spPr>
            <a:xfrm>
              <a:off x="2750" y="1026"/>
              <a:ext cx="0" cy="13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4" name="Oval 103"/>
            <p:cNvSpPr/>
            <p:nvPr/>
          </p:nvSpPr>
          <p:spPr>
            <a:xfrm>
              <a:off x="1026" y="98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995" name="Oval 104"/>
            <p:cNvSpPr/>
            <p:nvPr/>
          </p:nvSpPr>
          <p:spPr>
            <a:xfrm>
              <a:off x="981" y="179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0996" name="Text Box 105"/>
            <p:cNvSpPr txBox="1"/>
            <p:nvPr/>
          </p:nvSpPr>
          <p:spPr>
            <a:xfrm>
              <a:off x="754" y="1661"/>
              <a:ext cx="2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97" name="Text Box 106"/>
            <p:cNvSpPr txBox="1"/>
            <p:nvPr/>
          </p:nvSpPr>
          <p:spPr>
            <a:xfrm>
              <a:off x="2750" y="800"/>
              <a:ext cx="2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98" name="Text Box 107"/>
            <p:cNvSpPr txBox="1"/>
            <p:nvPr/>
          </p:nvSpPr>
          <p:spPr>
            <a:xfrm>
              <a:off x="748" y="845"/>
              <a:ext cx="2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0999" name="Group 56"/>
            <p:cNvGrpSpPr/>
            <p:nvPr/>
          </p:nvGrpSpPr>
          <p:grpSpPr>
            <a:xfrm>
              <a:off x="1565" y="1026"/>
              <a:ext cx="318" cy="302"/>
              <a:chOff x="3606" y="1117"/>
              <a:chExt cx="318" cy="302"/>
            </a:xfrm>
          </p:grpSpPr>
          <p:sp>
            <p:nvSpPr>
              <p:cNvPr id="41011" name="Line 53"/>
              <p:cNvSpPr/>
              <p:nvPr/>
            </p:nvSpPr>
            <p:spPr>
              <a:xfrm>
                <a:off x="3606" y="1117"/>
                <a:ext cx="318" cy="0"/>
              </a:xfrm>
              <a:prstGeom prst="line">
                <a:avLst/>
              </a:prstGeom>
              <a:ln w="38100" cap="flat" cmpd="sng">
                <a:solidFill>
                  <a:srgbClr val="66FFFF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40968" name="Object 55"/>
              <p:cNvGraphicFramePr/>
              <p:nvPr/>
            </p:nvGraphicFramePr>
            <p:xfrm>
              <a:off x="3696" y="1146"/>
              <a:ext cx="161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60" name="" r:id="rId22" imgW="127000" imgH="215265" progId="Equation.3">
                      <p:embed/>
                    </p:oleObj>
                  </mc:Choice>
                  <mc:Fallback>
                    <p:oleObj name="" r:id="rId22" imgW="127000" imgH="215265" progId="Equation.3">
                      <p:embed/>
                      <p:pic>
                        <p:nvPicPr>
                          <p:cNvPr id="0" name="图片 3259"/>
                          <p:cNvPicPr/>
                          <p:nvPr/>
                        </p:nvPicPr>
                        <p:blipFill>
                          <a:blip r:embed="rId23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696" y="1146"/>
                            <a:ext cx="161" cy="2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1000" name="Rectangle 112"/>
            <p:cNvSpPr/>
            <p:nvPr/>
          </p:nvSpPr>
          <p:spPr>
            <a:xfrm>
              <a:off x="1299" y="96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41001" name="Group 123"/>
            <p:cNvGrpSpPr/>
            <p:nvPr/>
          </p:nvGrpSpPr>
          <p:grpSpPr>
            <a:xfrm rot="10800000">
              <a:off x="2744" y="1162"/>
              <a:ext cx="90" cy="363"/>
              <a:chOff x="1565" y="2614"/>
              <a:chExt cx="90" cy="486"/>
            </a:xfrm>
          </p:grpSpPr>
          <p:sp>
            <p:nvSpPr>
              <p:cNvPr id="41007" name="Arc 124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08" name="Arc 125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09" name="Arc 126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10" name="Arc 127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1002" name="Group 128"/>
            <p:cNvGrpSpPr/>
            <p:nvPr/>
          </p:nvGrpSpPr>
          <p:grpSpPr>
            <a:xfrm rot="5400000">
              <a:off x="2086" y="776"/>
              <a:ext cx="91" cy="409"/>
              <a:chOff x="1565" y="2614"/>
              <a:chExt cx="90" cy="486"/>
            </a:xfrm>
          </p:grpSpPr>
          <p:sp>
            <p:nvSpPr>
              <p:cNvPr id="41003" name="Arc 129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04" name="Arc 130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05" name="Arc 131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06" name="Arc 132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5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35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35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3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5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3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3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9" dur="500"/>
                                        <p:tgtEl>
                                          <p:spTgt spid="35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35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3589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Text Box 2"/>
          <p:cNvSpPr txBox="1"/>
          <p:nvPr/>
        </p:nvSpPr>
        <p:spPr>
          <a:xfrm>
            <a:off x="250825" y="476250"/>
            <a:ext cx="13462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4-6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2" name="Text Box 4"/>
          <p:cNvSpPr txBox="1"/>
          <p:nvPr/>
        </p:nvSpPr>
        <p:spPr>
          <a:xfrm>
            <a:off x="1331913" y="404813"/>
            <a:ext cx="7488237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图示电路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=5A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，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＝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50V</a:t>
            </a: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，</a:t>
            </a:r>
            <a:r>
              <a:rPr lang="zh-CN" altLang="en-US" dirty="0">
                <a:latin typeface="Arial" panose="020B0604020202020204" pitchFamily="34" charset="0"/>
              </a:rPr>
              <a:t>总电压与总电流同相位，求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zh-CN" altLang="en-US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R</a:t>
            </a:r>
            <a:r>
              <a:rPr lang="zh-CN" altLang="en-US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X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C</a:t>
            </a:r>
            <a:r>
              <a:rPr lang="zh-CN" altLang="en-US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X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L</a:t>
            </a:r>
            <a:r>
              <a:rPr lang="zh-CN" altLang="en-US" i="1" dirty="0">
                <a:latin typeface="Times New Roman" panose="02020603050405020304" pitchFamily="18" charset="0"/>
                <a:ea typeface="仿宋_GB2312" pitchFamily="49" charset="-122"/>
              </a:rPr>
              <a:t>。</a:t>
            </a:r>
            <a:endParaRPr lang="zh-CN" altLang="en-US" i="1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53321" name="Text Box 73"/>
          <p:cNvSpPr txBox="1"/>
          <p:nvPr/>
        </p:nvSpPr>
        <p:spPr>
          <a:xfrm>
            <a:off x="395288" y="1557338"/>
            <a:ext cx="1152525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326" name="AutoShape 78"/>
          <p:cNvSpPr/>
          <p:nvPr/>
        </p:nvSpPr>
        <p:spPr>
          <a:xfrm>
            <a:off x="1258888" y="4868863"/>
            <a:ext cx="73025" cy="1439862"/>
          </a:xfrm>
          <a:prstGeom prst="leftBrace">
            <a:avLst>
              <a:gd name="adj1" fmla="val 164311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53327" name="Object 79"/>
          <p:cNvGraphicFramePr/>
          <p:nvPr/>
        </p:nvGraphicFramePr>
        <p:xfrm>
          <a:off x="1476375" y="4868863"/>
          <a:ext cx="403860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" r:id="rId1" imgW="1930400" imgH="279400" progId="Equation.3">
                  <p:embed/>
                </p:oleObj>
              </mc:Choice>
              <mc:Fallback>
                <p:oleObj name="" r:id="rId1" imgW="1930400" imgH="279400" progId="Equation.3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6375" y="4868863"/>
                        <a:ext cx="4038600" cy="588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28" name="Object 80"/>
          <p:cNvGraphicFramePr/>
          <p:nvPr/>
        </p:nvGraphicFramePr>
        <p:xfrm>
          <a:off x="1352550" y="5445125"/>
          <a:ext cx="717391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" r:id="rId3" imgW="3429000" imgH="469900" progId="Equation.3">
                  <p:embed/>
                </p:oleObj>
              </mc:Choice>
              <mc:Fallback>
                <p:oleObj name="" r:id="rId3" imgW="3429000" imgH="469900" progId="Equation.3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52550" y="5445125"/>
                        <a:ext cx="7173913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31" name="Text Box 83"/>
          <p:cNvSpPr txBox="1"/>
          <p:nvPr/>
        </p:nvSpPr>
        <p:spPr>
          <a:xfrm>
            <a:off x="827088" y="4221163"/>
            <a:ext cx="741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令等式两边实部等于实部，虚部等于虚部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2001" name="Group 8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2046" name="Picture 89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47" name="Text Box 9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2002" name="Group 9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2044" name="Picture 92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45" name="Text Box 9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2003" name="Group 132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42042" name="Picture 133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43" name="Text Box 13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140"/>
          <p:cNvGrpSpPr/>
          <p:nvPr/>
        </p:nvGrpSpPr>
        <p:grpSpPr>
          <a:xfrm>
            <a:off x="5003800" y="1557338"/>
            <a:ext cx="3708400" cy="1727200"/>
            <a:chOff x="3152" y="981"/>
            <a:chExt cx="2336" cy="1088"/>
          </a:xfrm>
        </p:grpSpPr>
        <p:sp>
          <p:nvSpPr>
            <p:cNvPr id="42014" name="Line 115"/>
            <p:cNvSpPr/>
            <p:nvPr/>
          </p:nvSpPr>
          <p:spPr>
            <a:xfrm>
              <a:off x="3333" y="1071"/>
              <a:ext cx="45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5" name="Oval 98"/>
            <p:cNvSpPr/>
            <p:nvPr/>
          </p:nvSpPr>
          <p:spPr>
            <a:xfrm>
              <a:off x="3152" y="143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41992" name="Object 99"/>
            <p:cNvGraphicFramePr/>
            <p:nvPr/>
          </p:nvGraphicFramePr>
          <p:xfrm>
            <a:off x="3560" y="1480"/>
            <a:ext cx="20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1" name="" r:id="rId6" imgW="177800" imgH="227965" progId="Equation.3">
                    <p:embed/>
                  </p:oleObj>
                </mc:Choice>
                <mc:Fallback>
                  <p:oleObj name="" r:id="rId6" imgW="177800" imgH="227965" progId="Equation.3">
                    <p:embed/>
                    <p:pic>
                      <p:nvPicPr>
                        <p:cNvPr id="0" name="图片 3260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60" y="1480"/>
                          <a:ext cx="209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6" name="Text Box 100"/>
            <p:cNvSpPr txBox="1"/>
            <p:nvPr/>
          </p:nvSpPr>
          <p:spPr>
            <a:xfrm>
              <a:off x="4694" y="1162"/>
              <a:ext cx="371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sz="24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1993" name="Object 101"/>
            <p:cNvGraphicFramePr/>
            <p:nvPr/>
          </p:nvGraphicFramePr>
          <p:xfrm>
            <a:off x="4286" y="1706"/>
            <a:ext cx="186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2" name="" r:id="rId8" imgW="152400" imgH="266065" progId="Equation.3">
                    <p:embed/>
                  </p:oleObj>
                </mc:Choice>
                <mc:Fallback>
                  <p:oleObj name="" r:id="rId8" imgW="152400" imgH="266065" progId="Equation.3">
                    <p:embed/>
                    <p:pic>
                      <p:nvPicPr>
                        <p:cNvPr id="0" name="图片 3261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86" y="1706"/>
                          <a:ext cx="186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4" name="Object 102"/>
            <p:cNvGraphicFramePr/>
            <p:nvPr/>
          </p:nvGraphicFramePr>
          <p:xfrm>
            <a:off x="4876" y="1706"/>
            <a:ext cx="212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3" name="" r:id="rId10" imgW="165100" imgH="266065" progId="Equation.3">
                    <p:embed/>
                  </p:oleObj>
                </mc:Choice>
                <mc:Fallback>
                  <p:oleObj name="" r:id="rId10" imgW="165100" imgH="266065" progId="Equation.3">
                    <p:embed/>
                    <p:pic>
                      <p:nvPicPr>
                        <p:cNvPr id="0" name="图片 3262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76" y="1706"/>
                          <a:ext cx="212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7" name="Text Box 103"/>
            <p:cNvSpPr txBox="1"/>
            <p:nvPr/>
          </p:nvSpPr>
          <p:spPr>
            <a:xfrm>
              <a:off x="3333" y="1208"/>
              <a:ext cx="22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2018" name="Text Box 104"/>
            <p:cNvSpPr txBox="1"/>
            <p:nvPr/>
          </p:nvSpPr>
          <p:spPr>
            <a:xfrm>
              <a:off x="3333" y="1706"/>
              <a:ext cx="21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2019" name="Line 105"/>
            <p:cNvSpPr/>
            <p:nvPr/>
          </p:nvSpPr>
          <p:spPr>
            <a:xfrm>
              <a:off x="3333" y="2069"/>
              <a:ext cx="176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0" name="Line 106"/>
            <p:cNvSpPr/>
            <p:nvPr/>
          </p:nvSpPr>
          <p:spPr>
            <a:xfrm>
              <a:off x="3333" y="1071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1" name="Text Box 107"/>
            <p:cNvSpPr txBox="1"/>
            <p:nvPr/>
          </p:nvSpPr>
          <p:spPr>
            <a:xfrm>
              <a:off x="4200" y="1389"/>
              <a:ext cx="233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2" name="Line 108"/>
            <p:cNvSpPr/>
            <p:nvPr/>
          </p:nvSpPr>
          <p:spPr>
            <a:xfrm>
              <a:off x="3470" y="1071"/>
              <a:ext cx="240" cy="0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23" name="Line 109"/>
            <p:cNvSpPr/>
            <p:nvPr/>
          </p:nvSpPr>
          <p:spPr>
            <a:xfrm flipH="1">
              <a:off x="4467" y="1071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2024" name="Line 110"/>
            <p:cNvSpPr/>
            <p:nvPr/>
          </p:nvSpPr>
          <p:spPr>
            <a:xfrm>
              <a:off x="5102" y="1071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5" name="Line 111"/>
            <p:cNvSpPr/>
            <p:nvPr/>
          </p:nvSpPr>
          <p:spPr>
            <a:xfrm flipH="1">
              <a:off x="5102" y="1616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41995" name="Object 112"/>
            <p:cNvGraphicFramePr/>
            <p:nvPr/>
          </p:nvGraphicFramePr>
          <p:xfrm>
            <a:off x="3515" y="1071"/>
            <a:ext cx="15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" name="" r:id="rId12" imgW="127000" imgH="215265" progId="Equation.3">
                    <p:embed/>
                  </p:oleObj>
                </mc:Choice>
                <mc:Fallback>
                  <p:oleObj name="" r:id="rId12" imgW="127000" imgH="215265" progId="Equation.3">
                    <p:embed/>
                    <p:pic>
                      <p:nvPicPr>
                        <p:cNvPr id="0" name="图片 3264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15" y="1071"/>
                          <a:ext cx="15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6" name="Line 113"/>
            <p:cNvSpPr/>
            <p:nvPr/>
          </p:nvSpPr>
          <p:spPr>
            <a:xfrm>
              <a:off x="4468" y="1797"/>
              <a:ext cx="0" cy="22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27" name="Line 114"/>
            <p:cNvSpPr/>
            <p:nvPr/>
          </p:nvSpPr>
          <p:spPr>
            <a:xfrm>
              <a:off x="5103" y="1752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28" name="Line 116"/>
            <p:cNvSpPr/>
            <p:nvPr/>
          </p:nvSpPr>
          <p:spPr>
            <a:xfrm>
              <a:off x="4195" y="1071"/>
              <a:ext cx="90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9" name="Text Box 117"/>
            <p:cNvSpPr txBox="1"/>
            <p:nvPr/>
          </p:nvSpPr>
          <p:spPr>
            <a:xfrm>
              <a:off x="3849" y="1026"/>
              <a:ext cx="357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sz="24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4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0" name="Text Box 118"/>
            <p:cNvSpPr txBox="1"/>
            <p:nvPr/>
          </p:nvSpPr>
          <p:spPr>
            <a:xfrm>
              <a:off x="5148" y="1434"/>
              <a:ext cx="340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4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1" name="Text Box 119"/>
            <p:cNvSpPr txBox="1"/>
            <p:nvPr/>
          </p:nvSpPr>
          <p:spPr>
            <a:xfrm>
              <a:off x="5102" y="1163"/>
              <a:ext cx="22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2" name="Text Box 120"/>
            <p:cNvSpPr txBox="1"/>
            <p:nvPr/>
          </p:nvSpPr>
          <p:spPr>
            <a:xfrm>
              <a:off x="5102" y="1752"/>
              <a:ext cx="21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2033" name="Group 121"/>
            <p:cNvGrpSpPr/>
            <p:nvPr/>
          </p:nvGrpSpPr>
          <p:grpSpPr>
            <a:xfrm>
              <a:off x="4966" y="1525"/>
              <a:ext cx="240" cy="93"/>
              <a:chOff x="3787" y="2478"/>
              <a:chExt cx="240" cy="93"/>
            </a:xfrm>
          </p:grpSpPr>
          <p:sp>
            <p:nvSpPr>
              <p:cNvPr id="42040" name="Line 122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41" name="Line 123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2034" name="Rectangle 124"/>
            <p:cNvSpPr/>
            <p:nvPr/>
          </p:nvSpPr>
          <p:spPr>
            <a:xfrm>
              <a:off x="4395" y="138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42035" name="Group 135"/>
            <p:cNvGrpSpPr/>
            <p:nvPr/>
          </p:nvGrpSpPr>
          <p:grpSpPr>
            <a:xfrm rot="5400000">
              <a:off x="3946" y="822"/>
              <a:ext cx="91" cy="409"/>
              <a:chOff x="1565" y="2614"/>
              <a:chExt cx="90" cy="486"/>
            </a:xfrm>
          </p:grpSpPr>
          <p:sp>
            <p:nvSpPr>
              <p:cNvPr id="42036" name="Arc 136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2037" name="Arc 137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2038" name="Arc 138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2039" name="Arc 139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Group 149"/>
          <p:cNvGrpSpPr/>
          <p:nvPr/>
        </p:nvGrpSpPr>
        <p:grpSpPr>
          <a:xfrm>
            <a:off x="900113" y="2781300"/>
            <a:ext cx="3959225" cy="590550"/>
            <a:chOff x="567" y="1752"/>
            <a:chExt cx="2494" cy="372"/>
          </a:xfrm>
        </p:grpSpPr>
        <p:graphicFrame>
          <p:nvGraphicFramePr>
            <p:cNvPr id="41991" name="Object 76"/>
            <p:cNvGraphicFramePr/>
            <p:nvPr/>
          </p:nvGraphicFramePr>
          <p:xfrm>
            <a:off x="567" y="1752"/>
            <a:ext cx="2494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6" name="" r:id="rId14" imgW="1892300" imgH="279400" progId="Equation.3">
                    <p:embed/>
                  </p:oleObj>
                </mc:Choice>
                <mc:Fallback>
                  <p:oleObj name="" r:id="rId14" imgW="1892300" imgH="279400" progId="Equation.3">
                    <p:embed/>
                    <p:pic>
                      <p:nvPicPr>
                        <p:cNvPr id="0" name="图片 3265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67" y="1752"/>
                          <a:ext cx="2494" cy="3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3" name="Line 143"/>
            <p:cNvSpPr/>
            <p:nvPr/>
          </p:nvSpPr>
          <p:spPr>
            <a:xfrm>
              <a:off x="2426" y="2088"/>
              <a:ext cx="363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148"/>
          <p:cNvGrpSpPr/>
          <p:nvPr/>
        </p:nvGrpSpPr>
        <p:grpSpPr>
          <a:xfrm>
            <a:off x="539750" y="2133600"/>
            <a:ext cx="4214813" cy="612775"/>
            <a:chOff x="340" y="1344"/>
            <a:chExt cx="2655" cy="386"/>
          </a:xfrm>
        </p:grpSpPr>
        <p:sp>
          <p:nvSpPr>
            <p:cNvPr id="42011" name="Line 74"/>
            <p:cNvSpPr/>
            <p:nvPr/>
          </p:nvSpPr>
          <p:spPr>
            <a:xfrm>
              <a:off x="340" y="1525"/>
              <a:ext cx="363" cy="0"/>
            </a:xfrm>
            <a:prstGeom prst="line">
              <a:avLst/>
            </a:prstGeom>
            <a:ln w="76200" cap="flat" cmpd="sng">
              <a:solidFill>
                <a:srgbClr val="3399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1990" name="Object 75"/>
            <p:cNvGraphicFramePr/>
            <p:nvPr/>
          </p:nvGraphicFramePr>
          <p:xfrm>
            <a:off x="793" y="1344"/>
            <a:ext cx="2202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4" name="" r:id="rId16" imgW="1445895" imgH="266065" progId="Equation.3">
                    <p:embed/>
                  </p:oleObj>
                </mc:Choice>
                <mc:Fallback>
                  <p:oleObj name="" r:id="rId16" imgW="1445895" imgH="266065" progId="Equation.3">
                    <p:embed/>
                    <p:pic>
                      <p:nvPicPr>
                        <p:cNvPr id="0" name="图片 3263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93" y="1344"/>
                          <a:ext cx="2202" cy="3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2" name="Line 144"/>
            <p:cNvSpPr/>
            <p:nvPr/>
          </p:nvSpPr>
          <p:spPr>
            <a:xfrm>
              <a:off x="1411" y="1670"/>
              <a:ext cx="22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147"/>
          <p:cNvGrpSpPr/>
          <p:nvPr/>
        </p:nvGrpSpPr>
        <p:grpSpPr>
          <a:xfrm>
            <a:off x="1717675" y="1557338"/>
            <a:ext cx="2541588" cy="544512"/>
            <a:chOff x="1082" y="981"/>
            <a:chExt cx="1601" cy="343"/>
          </a:xfrm>
        </p:grpSpPr>
        <p:graphicFrame>
          <p:nvGraphicFramePr>
            <p:cNvPr id="41989" name="Object 5"/>
            <p:cNvGraphicFramePr/>
            <p:nvPr/>
          </p:nvGraphicFramePr>
          <p:xfrm>
            <a:off x="1082" y="981"/>
            <a:ext cx="1601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7" name="" r:id="rId18" imgW="1255395" imgH="266065" progId="Equation.3">
                    <p:embed/>
                  </p:oleObj>
                </mc:Choice>
                <mc:Fallback>
                  <p:oleObj name="" r:id="rId18" imgW="1255395" imgH="266065" progId="Equation.3">
                    <p:embed/>
                    <p:pic>
                      <p:nvPicPr>
                        <p:cNvPr id="0" name="图片 3266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82" y="981"/>
                          <a:ext cx="1601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0" name="Line 145"/>
            <p:cNvSpPr/>
            <p:nvPr/>
          </p:nvSpPr>
          <p:spPr>
            <a:xfrm>
              <a:off x="2381" y="1298"/>
              <a:ext cx="227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" name="Group 150"/>
          <p:cNvGrpSpPr/>
          <p:nvPr/>
        </p:nvGrpSpPr>
        <p:grpSpPr>
          <a:xfrm>
            <a:off x="904875" y="3357563"/>
            <a:ext cx="6856413" cy="990600"/>
            <a:chOff x="570" y="2115"/>
            <a:chExt cx="4319" cy="624"/>
          </a:xfrm>
        </p:grpSpPr>
        <p:graphicFrame>
          <p:nvGraphicFramePr>
            <p:cNvPr id="41988" name="Object 77"/>
            <p:cNvGraphicFramePr/>
            <p:nvPr/>
          </p:nvGraphicFramePr>
          <p:xfrm>
            <a:off x="570" y="2115"/>
            <a:ext cx="4319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1" name="" r:id="rId20" imgW="3276600" imgH="469900" progId="Equation.3">
                    <p:embed/>
                  </p:oleObj>
                </mc:Choice>
                <mc:Fallback>
                  <p:oleObj name="" r:id="rId20" imgW="3276600" imgH="469900" progId="Equation.3">
                    <p:embed/>
                    <p:pic>
                      <p:nvPicPr>
                        <p:cNvPr id="0" name="图片 3270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70" y="2115"/>
                          <a:ext cx="4319" cy="6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9" name="Line 146"/>
            <p:cNvSpPr/>
            <p:nvPr/>
          </p:nvSpPr>
          <p:spPr>
            <a:xfrm>
              <a:off x="1247" y="2532"/>
              <a:ext cx="363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3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3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3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5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5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/>
      <p:bldP spid="53252" grpId="0"/>
      <p:bldP spid="53321" grpId="0" animBg="1"/>
      <p:bldP spid="53326" grpId="0" animBg="1"/>
      <p:bldP spid="5333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2268" name="Object 44"/>
          <p:cNvGraphicFramePr/>
          <p:nvPr/>
        </p:nvGraphicFramePr>
        <p:xfrm>
          <a:off x="2398713" y="1601788"/>
          <a:ext cx="3587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4" name="" r:id="rId1" imgW="177800" imgH="227965" progId="Equation.3">
                  <p:embed/>
                </p:oleObj>
              </mc:Choice>
              <mc:Fallback>
                <p:oleObj name="" r:id="rId1" imgW="177800" imgH="227965" progId="Equation.3">
                  <p:embed/>
                  <p:pic>
                    <p:nvPicPr>
                      <p:cNvPr id="0" name="图片 327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98713" y="1601788"/>
                        <a:ext cx="35877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5"/>
          <p:cNvGrpSpPr/>
          <p:nvPr/>
        </p:nvGrpSpPr>
        <p:grpSpPr>
          <a:xfrm>
            <a:off x="827088" y="2251075"/>
            <a:ext cx="1584325" cy="1465263"/>
            <a:chOff x="1111" y="2689"/>
            <a:chExt cx="998" cy="923"/>
          </a:xfrm>
        </p:grpSpPr>
        <p:graphicFrame>
          <p:nvGraphicFramePr>
            <p:cNvPr id="43023" name="Object 38"/>
            <p:cNvGraphicFramePr/>
            <p:nvPr/>
          </p:nvGraphicFramePr>
          <p:xfrm>
            <a:off x="1171" y="2689"/>
            <a:ext cx="742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2" name="" r:id="rId3" imgW="609600" imgH="241300" progId="Equation.3">
                    <p:embed/>
                  </p:oleObj>
                </mc:Choice>
                <mc:Fallback>
                  <p:oleObj name="" r:id="rId3" imgW="609600" imgH="241300" progId="Equation.3">
                    <p:embed/>
                    <p:pic>
                      <p:nvPicPr>
                        <p:cNvPr id="0" name="图片 3271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71" y="2689"/>
                          <a:ext cx="742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76" name="Line 46"/>
            <p:cNvSpPr/>
            <p:nvPr/>
          </p:nvSpPr>
          <p:spPr>
            <a:xfrm flipV="1">
              <a:off x="1111" y="2704"/>
              <a:ext cx="998" cy="90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" name="Group 53"/>
          <p:cNvGrpSpPr/>
          <p:nvPr/>
        </p:nvGrpSpPr>
        <p:grpSpPr>
          <a:xfrm>
            <a:off x="827088" y="3689350"/>
            <a:ext cx="3930650" cy="590550"/>
            <a:chOff x="1111" y="3595"/>
            <a:chExt cx="2476" cy="372"/>
          </a:xfrm>
        </p:grpSpPr>
        <p:sp>
          <p:nvSpPr>
            <p:cNvPr id="43075" name="Line 51"/>
            <p:cNvSpPr/>
            <p:nvPr/>
          </p:nvSpPr>
          <p:spPr>
            <a:xfrm>
              <a:off x="1111" y="3612"/>
              <a:ext cx="2087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3022" name="Object 47"/>
            <p:cNvGraphicFramePr/>
            <p:nvPr/>
          </p:nvGraphicFramePr>
          <p:xfrm>
            <a:off x="2718" y="3595"/>
            <a:ext cx="869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6" name="" r:id="rId5" imgW="621665" imgH="266065" progId="Equation.3">
                    <p:embed/>
                  </p:oleObj>
                </mc:Choice>
                <mc:Fallback>
                  <p:oleObj name="" r:id="rId5" imgW="621665" imgH="266065" progId="Equation.3">
                    <p:embed/>
                    <p:pic>
                      <p:nvPicPr>
                        <p:cNvPr id="0" name="图片 3275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18" y="3595"/>
                          <a:ext cx="869" cy="3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54"/>
          <p:cNvGrpSpPr/>
          <p:nvPr/>
        </p:nvGrpSpPr>
        <p:grpSpPr>
          <a:xfrm>
            <a:off x="377825" y="1746250"/>
            <a:ext cx="449263" cy="1970088"/>
            <a:chOff x="828" y="2371"/>
            <a:chExt cx="283" cy="1241"/>
          </a:xfrm>
        </p:grpSpPr>
        <p:sp>
          <p:nvSpPr>
            <p:cNvPr id="43074" name="Line 37"/>
            <p:cNvSpPr/>
            <p:nvPr/>
          </p:nvSpPr>
          <p:spPr>
            <a:xfrm flipV="1">
              <a:off x="1111" y="2568"/>
              <a:ext cx="0" cy="1044"/>
            </a:xfrm>
            <a:prstGeom prst="line">
              <a:avLst/>
            </a:prstGeom>
            <a:ln w="28575" cap="flat" cmpd="sng">
              <a:solidFill>
                <a:srgbClr val="66FF66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3021" name="Object 49"/>
            <p:cNvGraphicFramePr/>
            <p:nvPr/>
          </p:nvGraphicFramePr>
          <p:xfrm>
            <a:off x="828" y="2371"/>
            <a:ext cx="210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0" name="" r:id="rId7" imgW="165100" imgH="266065" progId="Equation.3">
                    <p:embed/>
                  </p:oleObj>
                </mc:Choice>
                <mc:Fallback>
                  <p:oleObj name="" r:id="rId7" imgW="165100" imgH="266065" progId="Equation.3">
                    <p:embed/>
                    <p:pic>
                      <p:nvPicPr>
                        <p:cNvPr id="0" name="图片 3269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28" y="2371"/>
                          <a:ext cx="210" cy="3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52"/>
          <p:cNvGrpSpPr/>
          <p:nvPr/>
        </p:nvGrpSpPr>
        <p:grpSpPr>
          <a:xfrm>
            <a:off x="827088" y="3716338"/>
            <a:ext cx="1831975" cy="568325"/>
            <a:chOff x="1111" y="3612"/>
            <a:chExt cx="1154" cy="358"/>
          </a:xfrm>
        </p:grpSpPr>
        <p:sp>
          <p:nvSpPr>
            <p:cNvPr id="43073" name="Line 35"/>
            <p:cNvSpPr/>
            <p:nvPr/>
          </p:nvSpPr>
          <p:spPr>
            <a:xfrm>
              <a:off x="1111" y="3612"/>
              <a:ext cx="1089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3020" name="Object 41"/>
            <p:cNvGraphicFramePr/>
            <p:nvPr/>
          </p:nvGraphicFramePr>
          <p:xfrm>
            <a:off x="2072" y="3633"/>
            <a:ext cx="193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5" name="" r:id="rId9" imgW="152400" imgH="266065" progId="Equation.3">
                    <p:embed/>
                  </p:oleObj>
                </mc:Choice>
                <mc:Fallback>
                  <p:oleObj name="" r:id="rId9" imgW="152400" imgH="266065" progId="Equation.3">
                    <p:embed/>
                    <p:pic>
                      <p:nvPicPr>
                        <p:cNvPr id="0" name="图片 3274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72" y="3633"/>
                          <a:ext cx="193" cy="3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280" name="Line 56"/>
          <p:cNvSpPr/>
          <p:nvPr/>
        </p:nvSpPr>
        <p:spPr>
          <a:xfrm flipV="1">
            <a:off x="827088" y="2058988"/>
            <a:ext cx="1800225" cy="1657350"/>
          </a:xfrm>
          <a:prstGeom prst="line">
            <a:avLst/>
          </a:prstGeom>
          <a:ln w="28575" cap="flat" cmpd="sng">
            <a:solidFill>
              <a:srgbClr val="FFCC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" name="Group 64"/>
          <p:cNvGrpSpPr/>
          <p:nvPr/>
        </p:nvGrpSpPr>
        <p:grpSpPr>
          <a:xfrm>
            <a:off x="1258888" y="3198813"/>
            <a:ext cx="741362" cy="517525"/>
            <a:chOff x="1428" y="3014"/>
            <a:chExt cx="467" cy="326"/>
          </a:xfrm>
        </p:grpSpPr>
        <p:sp>
          <p:nvSpPr>
            <p:cNvPr id="43072" name="Freeform 57"/>
            <p:cNvSpPr/>
            <p:nvPr/>
          </p:nvSpPr>
          <p:spPr>
            <a:xfrm>
              <a:off x="1428" y="3113"/>
              <a:ext cx="91" cy="227"/>
            </a:xfrm>
            <a:custGeom>
              <a:avLst/>
              <a:gdLst>
                <a:gd name="txL" fmla="*/ 0 w 106"/>
                <a:gd name="txT" fmla="*/ 0 h 181"/>
                <a:gd name="txR" fmla="*/ 106 w 106"/>
                <a:gd name="txB" fmla="*/ 181 h 181"/>
              </a:gdLst>
              <a:ahLst/>
              <a:cxnLst>
                <a:cxn ang="0">
                  <a:pos x="0" y="0"/>
                </a:cxn>
                <a:cxn ang="0">
                  <a:pos x="78" y="56"/>
                </a:cxn>
                <a:cxn ang="0">
                  <a:pos x="78" y="227"/>
                </a:cxn>
              </a:cxnLst>
              <a:rect l="txL" t="txT" r="txR" b="txB"/>
              <a:pathLst>
                <a:path w="106" h="181">
                  <a:moveTo>
                    <a:pt x="0" y="0"/>
                  </a:moveTo>
                  <a:cubicBezTo>
                    <a:pt x="38" y="7"/>
                    <a:pt x="76" y="15"/>
                    <a:pt x="91" y="45"/>
                  </a:cubicBezTo>
                  <a:cubicBezTo>
                    <a:pt x="106" y="75"/>
                    <a:pt x="91" y="151"/>
                    <a:pt x="91" y="181"/>
                  </a:cubicBez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43019" name="Object 58"/>
            <p:cNvGraphicFramePr/>
            <p:nvPr/>
          </p:nvGraphicFramePr>
          <p:xfrm>
            <a:off x="1556" y="3014"/>
            <a:ext cx="33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9" name="" r:id="rId11" imgW="266065" imgH="215900" progId="Equation.3">
                    <p:embed/>
                  </p:oleObj>
                </mc:Choice>
                <mc:Fallback>
                  <p:oleObj name="" r:id="rId11" imgW="266065" imgH="215900" progId="Equation.3">
                    <p:embed/>
                    <p:pic>
                      <p:nvPicPr>
                        <p:cNvPr id="0" name="图片 3268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56" y="3014"/>
                          <a:ext cx="339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60"/>
          <p:cNvGrpSpPr/>
          <p:nvPr/>
        </p:nvGrpSpPr>
        <p:grpSpPr>
          <a:xfrm>
            <a:off x="2627313" y="2060575"/>
            <a:ext cx="1439862" cy="1584325"/>
            <a:chOff x="2245" y="2614"/>
            <a:chExt cx="907" cy="998"/>
          </a:xfrm>
        </p:grpSpPr>
        <p:sp>
          <p:nvSpPr>
            <p:cNvPr id="43071" name="Line 48"/>
            <p:cNvSpPr/>
            <p:nvPr/>
          </p:nvSpPr>
          <p:spPr>
            <a:xfrm>
              <a:off x="2245" y="2614"/>
              <a:ext cx="907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triangle" w="med" len="med"/>
              <a:tailEnd type="none" w="med" len="med"/>
            </a:ln>
          </p:spPr>
        </p:sp>
        <p:graphicFrame>
          <p:nvGraphicFramePr>
            <p:cNvPr id="43018" name="Object 59"/>
            <p:cNvGraphicFramePr/>
            <p:nvPr/>
          </p:nvGraphicFramePr>
          <p:xfrm>
            <a:off x="2659" y="2800"/>
            <a:ext cx="29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" name="" r:id="rId13" imgW="228600" imgH="266065" progId="Equation.3">
                    <p:embed/>
                  </p:oleObj>
                </mc:Choice>
                <mc:Fallback>
                  <p:oleObj name="" r:id="rId13" imgW="228600" imgH="266065" progId="Equation.3">
                    <p:embed/>
                    <p:pic>
                      <p:nvPicPr>
                        <p:cNvPr id="0" name="图片 3277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59" y="2800"/>
                          <a:ext cx="291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285" name="Object 61"/>
          <p:cNvGraphicFramePr/>
          <p:nvPr/>
        </p:nvGraphicFramePr>
        <p:xfrm>
          <a:off x="5508625" y="2997200"/>
          <a:ext cx="20764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" name="" r:id="rId15" imgW="1028065" imgH="241300" progId="Equation.3">
                  <p:embed/>
                </p:oleObj>
              </mc:Choice>
              <mc:Fallback>
                <p:oleObj name="" r:id="rId15" imgW="1028065" imgH="241300" progId="Equation.3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08625" y="2997200"/>
                        <a:ext cx="207645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86" name="Object 62"/>
          <p:cNvGraphicFramePr/>
          <p:nvPr/>
        </p:nvGraphicFramePr>
        <p:xfrm>
          <a:off x="5351463" y="3644900"/>
          <a:ext cx="279558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3" name="" r:id="rId17" imgW="1384300" imgH="469900" progId="Equation.3">
                  <p:embed/>
                </p:oleObj>
              </mc:Choice>
              <mc:Fallback>
                <p:oleObj name="" r:id="rId17" imgW="1384300" imgH="469900" progId="Equation.3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51463" y="3644900"/>
                        <a:ext cx="2795587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87" name="Object 63"/>
          <p:cNvGraphicFramePr/>
          <p:nvPr/>
        </p:nvGraphicFramePr>
        <p:xfrm>
          <a:off x="4584700" y="4724400"/>
          <a:ext cx="4102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" r:id="rId19" imgW="2031365" imgH="482600" progId="Equation.3">
                  <p:embed/>
                </p:oleObj>
              </mc:Choice>
              <mc:Fallback>
                <p:oleObj name="" r:id="rId19" imgW="2031365" imgH="482600" progId="Equation.3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84700" y="4724400"/>
                        <a:ext cx="41021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31" name="Group 6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3069" name="Picture 67" descr="7890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70" name="Text Box 6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3032" name="Group 6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3067" name="Picture 70" descr="7890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68" name="Text Box 7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2299" name="Text Box 75"/>
          <p:cNvSpPr txBox="1"/>
          <p:nvPr/>
        </p:nvSpPr>
        <p:spPr>
          <a:xfrm>
            <a:off x="1763713" y="620713"/>
            <a:ext cx="30956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画相量图计算。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2332" name="Text Box 108"/>
          <p:cNvSpPr txBox="1"/>
          <p:nvPr/>
        </p:nvSpPr>
        <p:spPr>
          <a:xfrm>
            <a:off x="468313" y="620713"/>
            <a:ext cx="1152525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3035" name="Group 112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43065" name="Picture 113" descr="7890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66" name="Text Box 11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1" name="Group 115"/>
          <p:cNvGrpSpPr/>
          <p:nvPr/>
        </p:nvGrpSpPr>
        <p:grpSpPr>
          <a:xfrm>
            <a:off x="4859338" y="692150"/>
            <a:ext cx="3708400" cy="1727200"/>
            <a:chOff x="3152" y="981"/>
            <a:chExt cx="2336" cy="1088"/>
          </a:xfrm>
        </p:grpSpPr>
        <p:sp>
          <p:nvSpPr>
            <p:cNvPr id="43037" name="Line 116"/>
            <p:cNvSpPr/>
            <p:nvPr/>
          </p:nvSpPr>
          <p:spPr>
            <a:xfrm>
              <a:off x="3333" y="1071"/>
              <a:ext cx="45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8" name="Oval 117"/>
            <p:cNvSpPr/>
            <p:nvPr/>
          </p:nvSpPr>
          <p:spPr>
            <a:xfrm>
              <a:off x="3152" y="143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43014" name="Object 118"/>
            <p:cNvGraphicFramePr/>
            <p:nvPr/>
          </p:nvGraphicFramePr>
          <p:xfrm>
            <a:off x="3560" y="1480"/>
            <a:ext cx="20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8" name="" r:id="rId22" imgW="177800" imgH="227965" progId="Equation.3">
                    <p:embed/>
                  </p:oleObj>
                </mc:Choice>
                <mc:Fallback>
                  <p:oleObj name="" r:id="rId22" imgW="177800" imgH="227965" progId="Equation.3">
                    <p:embed/>
                    <p:pic>
                      <p:nvPicPr>
                        <p:cNvPr id="0" name="图片 3267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60" y="1480"/>
                          <a:ext cx="209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9" name="Text Box 119"/>
            <p:cNvSpPr txBox="1"/>
            <p:nvPr/>
          </p:nvSpPr>
          <p:spPr>
            <a:xfrm>
              <a:off x="4694" y="1162"/>
              <a:ext cx="371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sz="24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3015" name="Object 120"/>
            <p:cNvGraphicFramePr/>
            <p:nvPr/>
          </p:nvGraphicFramePr>
          <p:xfrm>
            <a:off x="4286" y="1706"/>
            <a:ext cx="186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" name="" r:id="rId24" imgW="152400" imgH="266065" progId="Equation.3">
                    <p:embed/>
                  </p:oleObj>
                </mc:Choice>
                <mc:Fallback>
                  <p:oleObj name="" r:id="rId24" imgW="152400" imgH="266065" progId="Equation.3">
                    <p:embed/>
                    <p:pic>
                      <p:nvPicPr>
                        <p:cNvPr id="0" name="图片 3279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86" y="1706"/>
                          <a:ext cx="186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6" name="Object 121"/>
            <p:cNvGraphicFramePr/>
            <p:nvPr/>
          </p:nvGraphicFramePr>
          <p:xfrm>
            <a:off x="4876" y="1706"/>
            <a:ext cx="212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1" name="" r:id="rId26" imgW="165100" imgH="266065" progId="Equation.3">
                    <p:embed/>
                  </p:oleObj>
                </mc:Choice>
                <mc:Fallback>
                  <p:oleObj name="" r:id="rId26" imgW="165100" imgH="266065" progId="Equation.3">
                    <p:embed/>
                    <p:pic>
                      <p:nvPicPr>
                        <p:cNvPr id="0" name="图片 3280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76" y="1706"/>
                          <a:ext cx="212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40" name="Text Box 122"/>
            <p:cNvSpPr txBox="1"/>
            <p:nvPr/>
          </p:nvSpPr>
          <p:spPr>
            <a:xfrm>
              <a:off x="3333" y="1208"/>
              <a:ext cx="22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41" name="Text Box 123"/>
            <p:cNvSpPr txBox="1"/>
            <p:nvPr/>
          </p:nvSpPr>
          <p:spPr>
            <a:xfrm>
              <a:off x="3333" y="1706"/>
              <a:ext cx="21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42" name="Line 124"/>
            <p:cNvSpPr/>
            <p:nvPr/>
          </p:nvSpPr>
          <p:spPr>
            <a:xfrm>
              <a:off x="3333" y="2069"/>
              <a:ext cx="176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3" name="Line 125"/>
            <p:cNvSpPr/>
            <p:nvPr/>
          </p:nvSpPr>
          <p:spPr>
            <a:xfrm>
              <a:off x="3333" y="1071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4" name="Text Box 126"/>
            <p:cNvSpPr txBox="1"/>
            <p:nvPr/>
          </p:nvSpPr>
          <p:spPr>
            <a:xfrm>
              <a:off x="4200" y="1389"/>
              <a:ext cx="233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5" name="Line 127"/>
            <p:cNvSpPr/>
            <p:nvPr/>
          </p:nvSpPr>
          <p:spPr>
            <a:xfrm>
              <a:off x="3470" y="1071"/>
              <a:ext cx="240" cy="0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46" name="Line 128"/>
            <p:cNvSpPr/>
            <p:nvPr/>
          </p:nvSpPr>
          <p:spPr>
            <a:xfrm flipH="1">
              <a:off x="4467" y="1071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3047" name="Line 129"/>
            <p:cNvSpPr/>
            <p:nvPr/>
          </p:nvSpPr>
          <p:spPr>
            <a:xfrm>
              <a:off x="5102" y="1071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8" name="Line 130"/>
            <p:cNvSpPr/>
            <p:nvPr/>
          </p:nvSpPr>
          <p:spPr>
            <a:xfrm flipH="1">
              <a:off x="5102" y="1616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43017" name="Object 131"/>
            <p:cNvGraphicFramePr/>
            <p:nvPr/>
          </p:nvGraphicFramePr>
          <p:xfrm>
            <a:off x="3515" y="1071"/>
            <a:ext cx="15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2" name="" r:id="rId28" imgW="127000" imgH="215265" progId="Equation.3">
                    <p:embed/>
                  </p:oleObj>
                </mc:Choice>
                <mc:Fallback>
                  <p:oleObj name="" r:id="rId28" imgW="127000" imgH="215265" progId="Equation.3">
                    <p:embed/>
                    <p:pic>
                      <p:nvPicPr>
                        <p:cNvPr id="0" name="图片 3281"/>
                        <p:cNvPicPr/>
                        <p:nvPr/>
                      </p:nvPicPr>
                      <p:blipFill>
                        <a:blip r:embed="rId2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15" y="1071"/>
                          <a:ext cx="15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49" name="Line 132"/>
            <p:cNvSpPr/>
            <p:nvPr/>
          </p:nvSpPr>
          <p:spPr>
            <a:xfrm>
              <a:off x="4468" y="1797"/>
              <a:ext cx="0" cy="22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50" name="Line 133"/>
            <p:cNvSpPr/>
            <p:nvPr/>
          </p:nvSpPr>
          <p:spPr>
            <a:xfrm>
              <a:off x="5103" y="1752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51" name="Line 134"/>
            <p:cNvSpPr/>
            <p:nvPr/>
          </p:nvSpPr>
          <p:spPr>
            <a:xfrm>
              <a:off x="4195" y="1071"/>
              <a:ext cx="90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2" name="Text Box 135"/>
            <p:cNvSpPr txBox="1"/>
            <p:nvPr/>
          </p:nvSpPr>
          <p:spPr>
            <a:xfrm>
              <a:off x="3849" y="1026"/>
              <a:ext cx="357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sz="24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4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3" name="Text Box 136"/>
            <p:cNvSpPr txBox="1"/>
            <p:nvPr/>
          </p:nvSpPr>
          <p:spPr>
            <a:xfrm>
              <a:off x="5148" y="1434"/>
              <a:ext cx="340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4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4" name="Text Box 137"/>
            <p:cNvSpPr txBox="1"/>
            <p:nvPr/>
          </p:nvSpPr>
          <p:spPr>
            <a:xfrm>
              <a:off x="5102" y="1163"/>
              <a:ext cx="22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5" name="Text Box 138"/>
            <p:cNvSpPr txBox="1"/>
            <p:nvPr/>
          </p:nvSpPr>
          <p:spPr>
            <a:xfrm>
              <a:off x="5102" y="1752"/>
              <a:ext cx="21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3056" name="Group 139"/>
            <p:cNvGrpSpPr/>
            <p:nvPr/>
          </p:nvGrpSpPr>
          <p:grpSpPr>
            <a:xfrm>
              <a:off x="4966" y="1525"/>
              <a:ext cx="240" cy="93"/>
              <a:chOff x="3787" y="2478"/>
              <a:chExt cx="240" cy="93"/>
            </a:xfrm>
          </p:grpSpPr>
          <p:sp>
            <p:nvSpPr>
              <p:cNvPr id="43063" name="Line 140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64" name="Line 141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3057" name="Rectangle 142"/>
            <p:cNvSpPr/>
            <p:nvPr/>
          </p:nvSpPr>
          <p:spPr>
            <a:xfrm>
              <a:off x="4395" y="138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43058" name="Group 143"/>
            <p:cNvGrpSpPr/>
            <p:nvPr/>
          </p:nvGrpSpPr>
          <p:grpSpPr>
            <a:xfrm rot="5400000">
              <a:off x="3946" y="822"/>
              <a:ext cx="91" cy="409"/>
              <a:chOff x="1565" y="2614"/>
              <a:chExt cx="90" cy="486"/>
            </a:xfrm>
          </p:grpSpPr>
          <p:sp>
            <p:nvSpPr>
              <p:cNvPr id="43059" name="Arc 144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3060" name="Arc 145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3061" name="Arc 146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3062" name="Arc 147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2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2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5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1000"/>
                                        <p:tgtEl>
                                          <p:spTgt spid="5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52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52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5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2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99" grpId="0"/>
      <p:bldP spid="5233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Text Box 2"/>
          <p:cNvSpPr txBox="1"/>
          <p:nvPr/>
        </p:nvSpPr>
        <p:spPr>
          <a:xfrm>
            <a:off x="395288" y="549275"/>
            <a:ext cx="13462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4-7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395" name="Text Box 3"/>
          <p:cNvSpPr txBox="1"/>
          <p:nvPr/>
        </p:nvSpPr>
        <p:spPr>
          <a:xfrm>
            <a:off x="1331913" y="476250"/>
            <a:ext cx="7488237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</a:rPr>
              <a:t>   </a:t>
            </a:r>
            <a:r>
              <a:rPr lang="zh-CN" altLang="en-US" dirty="0">
                <a:latin typeface="楷体_GB2312" pitchFamily="49" charset="-122"/>
              </a:rPr>
              <a:t>图示电路为阻容移项装置，如要求电容电压滞后于电源电压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/3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，问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i="1" dirty="0">
                <a:solidFill>
                  <a:schemeClr val="bg1"/>
                </a:solidFill>
                <a:latin typeface="楷体_GB2312" pitchFamily="49" charset="-122"/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楷体_GB2312" pitchFamily="49" charset="-122"/>
              </a:rPr>
              <a:t>应如何选择</a:t>
            </a:r>
            <a:r>
              <a:rPr lang="zh-CN" altLang="en-US" i="1" dirty="0">
                <a:latin typeface="楷体_GB2312" pitchFamily="49" charset="-122"/>
              </a:rPr>
              <a:t>。</a:t>
            </a:r>
            <a:endParaRPr lang="zh-CN" altLang="en-US" i="1" dirty="0">
              <a:latin typeface="楷体_GB2312" pitchFamily="49" charset="-122"/>
            </a:endParaRPr>
          </a:p>
        </p:txBody>
      </p:sp>
      <p:graphicFrame>
        <p:nvGraphicFramePr>
          <p:cNvPr id="59396" name="Object 4"/>
          <p:cNvGraphicFramePr/>
          <p:nvPr/>
        </p:nvGraphicFramePr>
        <p:xfrm>
          <a:off x="1258888" y="1628775"/>
          <a:ext cx="26860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" name="" r:id="rId1" imgW="1280795" imgH="266065" progId="Equation.3">
                  <p:embed/>
                </p:oleObj>
              </mc:Choice>
              <mc:Fallback>
                <p:oleObj name="" r:id="rId1" imgW="1280795" imgH="266065" progId="Equation.3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1628775"/>
                        <a:ext cx="2686050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30" name="Text Box 38"/>
          <p:cNvSpPr txBox="1"/>
          <p:nvPr/>
        </p:nvSpPr>
        <p:spPr>
          <a:xfrm>
            <a:off x="611188" y="1628775"/>
            <a:ext cx="930275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wrap="none" lIns="198000" rIns="19800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9432" name="Object 40"/>
          <p:cNvGraphicFramePr/>
          <p:nvPr/>
        </p:nvGraphicFramePr>
        <p:xfrm>
          <a:off x="1055688" y="2160588"/>
          <a:ext cx="4630737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" name="" r:id="rId3" imgW="2259330" imgH="482600" progId="Equation.DSMT4">
                  <p:embed/>
                </p:oleObj>
              </mc:Choice>
              <mc:Fallback>
                <p:oleObj name="" r:id="rId3" imgW="2259330" imgH="482600" progId="Equation.DSMT4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55688" y="2160588"/>
                        <a:ext cx="4630737" cy="1023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4" name="Object 42"/>
          <p:cNvGraphicFramePr/>
          <p:nvPr/>
        </p:nvGraphicFramePr>
        <p:xfrm>
          <a:off x="611188" y="3141663"/>
          <a:ext cx="2284412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" name="" r:id="rId5" imgW="1091565" imgH="508000" progId="Equation.3">
                  <p:embed/>
                </p:oleObj>
              </mc:Choice>
              <mc:Fallback>
                <p:oleObj name="" r:id="rId5" imgW="1091565" imgH="508000" progId="Equation.3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3141663"/>
                        <a:ext cx="2284412" cy="1069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38" name="Text Box 46"/>
          <p:cNvSpPr txBox="1"/>
          <p:nvPr/>
        </p:nvSpPr>
        <p:spPr>
          <a:xfrm>
            <a:off x="1763713" y="4205288"/>
            <a:ext cx="30956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画相量图计算。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9447" name="Line 55"/>
          <p:cNvSpPr/>
          <p:nvPr/>
        </p:nvSpPr>
        <p:spPr>
          <a:xfrm>
            <a:off x="3059113" y="3644900"/>
            <a:ext cx="504825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59448" name="Object 56"/>
          <p:cNvGraphicFramePr/>
          <p:nvPr/>
        </p:nvGraphicFramePr>
        <p:xfrm>
          <a:off x="3563938" y="3357563"/>
          <a:ext cx="30019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" name="" r:id="rId7" imgW="1433830" imgH="254000" progId="Equation.3">
                  <p:embed/>
                </p:oleObj>
              </mc:Choice>
              <mc:Fallback>
                <p:oleObj name="" r:id="rId7" imgW="1433830" imgH="254000" progId="Equation.3">
                  <p:embed/>
                  <p:pic>
                    <p:nvPicPr>
                      <p:cNvPr id="0" name="图片 328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63938" y="3357563"/>
                        <a:ext cx="3001962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71" name="Object 79"/>
          <p:cNvGraphicFramePr/>
          <p:nvPr/>
        </p:nvGraphicFramePr>
        <p:xfrm>
          <a:off x="336550" y="4797425"/>
          <a:ext cx="5129213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" name="" r:id="rId9" imgW="2449830" imgH="495300" progId="Equation.3">
                  <p:embed/>
                </p:oleObj>
              </mc:Choice>
              <mc:Fallback>
                <p:oleObj name="" r:id="rId9" imgW="2449830" imgH="495300" progId="Equation.3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6550" y="4797425"/>
                        <a:ext cx="5129213" cy="104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2"/>
          <p:cNvGrpSpPr/>
          <p:nvPr/>
        </p:nvGrpSpPr>
        <p:grpSpPr>
          <a:xfrm>
            <a:off x="5435600" y="3573463"/>
            <a:ext cx="3463925" cy="2716212"/>
            <a:chOff x="3152" y="2181"/>
            <a:chExt cx="2182" cy="1711"/>
          </a:xfrm>
        </p:grpSpPr>
        <p:grpSp>
          <p:nvGrpSpPr>
            <p:cNvPr id="44077" name="Group 78"/>
            <p:cNvGrpSpPr/>
            <p:nvPr/>
          </p:nvGrpSpPr>
          <p:grpSpPr>
            <a:xfrm>
              <a:off x="3152" y="2181"/>
              <a:ext cx="2182" cy="1711"/>
              <a:chOff x="2971" y="2165"/>
              <a:chExt cx="2182" cy="1711"/>
            </a:xfrm>
          </p:grpSpPr>
          <p:graphicFrame>
            <p:nvGraphicFramePr>
              <p:cNvPr id="44043" name="Object 58"/>
              <p:cNvGraphicFramePr/>
              <p:nvPr/>
            </p:nvGraphicFramePr>
            <p:xfrm>
              <a:off x="3921" y="2165"/>
              <a:ext cx="307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0" name="" r:id="rId11" imgW="241300" imgH="266065" progId="Equation.3">
                      <p:embed/>
                    </p:oleObj>
                  </mc:Choice>
                  <mc:Fallback>
                    <p:oleObj name="" r:id="rId11" imgW="241300" imgH="266065" progId="Equation.3">
                      <p:embed/>
                      <p:pic>
                        <p:nvPicPr>
                          <p:cNvPr id="0" name="图片 3289"/>
                          <p:cNvPicPr/>
                          <p:nvPr/>
                        </p:nvPicPr>
                        <p:blipFill>
                          <a:blip r:embed="rId12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921" y="2165"/>
                            <a:ext cx="307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079" name="Line 63"/>
              <p:cNvSpPr/>
              <p:nvPr/>
            </p:nvSpPr>
            <p:spPr>
              <a:xfrm>
                <a:off x="2971" y="3521"/>
                <a:ext cx="2087" cy="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44044" name="Object 64"/>
              <p:cNvGraphicFramePr/>
              <p:nvPr/>
            </p:nvGraphicFramePr>
            <p:xfrm>
              <a:off x="4868" y="3503"/>
              <a:ext cx="285" cy="3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86" name="" r:id="rId13" imgW="203200" imgH="266065" progId="Equation.3">
                      <p:embed/>
                    </p:oleObj>
                  </mc:Choice>
                  <mc:Fallback>
                    <p:oleObj name="" r:id="rId13" imgW="203200" imgH="266065" progId="Equation.3">
                      <p:embed/>
                      <p:pic>
                        <p:nvPicPr>
                          <p:cNvPr id="0" name="图片 3285"/>
                          <p:cNvPicPr/>
                          <p:nvPr/>
                        </p:nvPicPr>
                        <p:blipFill>
                          <a:blip r:embed="rId14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868" y="3503"/>
                            <a:ext cx="285" cy="3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45" name="Object 67"/>
              <p:cNvGraphicFramePr/>
              <p:nvPr/>
            </p:nvGraphicFramePr>
            <p:xfrm>
              <a:off x="3606" y="2598"/>
              <a:ext cx="161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2" name="" r:id="rId15" imgW="127000" imgH="215265" progId="Equation.3">
                      <p:embed/>
                    </p:oleObj>
                  </mc:Choice>
                  <mc:Fallback>
                    <p:oleObj name="" r:id="rId15" imgW="127000" imgH="215265" progId="Equation.3">
                      <p:embed/>
                      <p:pic>
                        <p:nvPicPr>
                          <p:cNvPr id="0" name="图片 3291"/>
                          <p:cNvPicPr/>
                          <p:nvPr/>
                        </p:nvPicPr>
                        <p:blipFill>
                          <a:blip r:embed="rId16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606" y="2598"/>
                            <a:ext cx="161" cy="2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080" name="Line 71"/>
              <p:cNvSpPr/>
              <p:nvPr/>
            </p:nvSpPr>
            <p:spPr>
              <a:xfrm flipV="1">
                <a:off x="2971" y="2477"/>
                <a:ext cx="1134" cy="1044"/>
              </a:xfrm>
              <a:prstGeom prst="line">
                <a:avLst/>
              </a:prstGeom>
              <a:ln w="28575" cap="flat" cmpd="sng">
                <a:solidFill>
                  <a:srgbClr val="FFCC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4081" name="Line 76"/>
              <p:cNvSpPr/>
              <p:nvPr/>
            </p:nvSpPr>
            <p:spPr>
              <a:xfrm>
                <a:off x="4093" y="2523"/>
                <a:ext cx="907" cy="998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44046" name="Object 77"/>
              <p:cNvGraphicFramePr/>
              <p:nvPr/>
            </p:nvGraphicFramePr>
            <p:xfrm>
              <a:off x="4499" y="2709"/>
              <a:ext cx="307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3" name="" r:id="rId17" imgW="241300" imgH="266065" progId="Equation.3">
                      <p:embed/>
                    </p:oleObj>
                  </mc:Choice>
                  <mc:Fallback>
                    <p:oleObj name="" r:id="rId17" imgW="241300" imgH="266065" progId="Equation.3">
                      <p:embed/>
                      <p:pic>
                        <p:nvPicPr>
                          <p:cNvPr id="0" name="图片 3292"/>
                          <p:cNvPicPr/>
                          <p:nvPr/>
                        </p:nvPicPr>
                        <p:blipFill>
                          <a:blip r:embed="rId18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499" y="2709"/>
                            <a:ext cx="307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4078" name="Freeform 80"/>
            <p:cNvSpPr/>
            <p:nvPr/>
          </p:nvSpPr>
          <p:spPr>
            <a:xfrm>
              <a:off x="4815" y="3294"/>
              <a:ext cx="106" cy="227"/>
            </a:xfrm>
            <a:custGeom>
              <a:avLst/>
              <a:gdLst>
                <a:gd name="txL" fmla="*/ 0 w 106"/>
                <a:gd name="txT" fmla="*/ 0 h 227"/>
                <a:gd name="txR" fmla="*/ 106 w 106"/>
                <a:gd name="txB" fmla="*/ 227 h 227"/>
              </a:gdLst>
              <a:ahLst/>
              <a:cxnLst>
                <a:cxn ang="0">
                  <a:pos x="106" y="0"/>
                </a:cxn>
                <a:cxn ang="0">
                  <a:pos x="15" y="45"/>
                </a:cxn>
                <a:cxn ang="0">
                  <a:pos x="15" y="227"/>
                </a:cxn>
              </a:cxnLst>
              <a:rect l="txL" t="txT" r="txR" b="txB"/>
              <a:pathLst>
                <a:path w="106" h="227">
                  <a:moveTo>
                    <a:pt x="106" y="0"/>
                  </a:moveTo>
                  <a:cubicBezTo>
                    <a:pt x="68" y="3"/>
                    <a:pt x="30" y="7"/>
                    <a:pt x="15" y="45"/>
                  </a:cubicBezTo>
                  <a:cubicBezTo>
                    <a:pt x="0" y="83"/>
                    <a:pt x="15" y="197"/>
                    <a:pt x="15" y="227"/>
                  </a:cubicBez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44042" name="Object 81"/>
            <p:cNvGraphicFramePr/>
            <p:nvPr/>
          </p:nvGraphicFramePr>
          <p:xfrm>
            <a:off x="4460" y="3195"/>
            <a:ext cx="352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" name="" r:id="rId19" imgW="266065" imgH="215900" progId="Equation.3">
                    <p:embed/>
                  </p:oleObj>
                </mc:Choice>
                <mc:Fallback>
                  <p:oleObj name="" r:id="rId19" imgW="266065" imgH="215900" progId="Equation.3">
                    <p:embed/>
                    <p:pic>
                      <p:nvPicPr>
                        <p:cNvPr id="0" name="图片 3284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0" y="3195"/>
                          <a:ext cx="352" cy="2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053" name="Group 87"/>
          <p:cNvGrpSpPr/>
          <p:nvPr/>
        </p:nvGrpSpPr>
        <p:grpSpPr>
          <a:xfrm>
            <a:off x="8316913" y="6446838"/>
            <a:ext cx="792162" cy="366712"/>
            <a:chOff x="4649" y="4020"/>
            <a:chExt cx="499" cy="231"/>
          </a:xfrm>
        </p:grpSpPr>
        <p:pic>
          <p:nvPicPr>
            <p:cNvPr id="44075" name="Picture 88" descr="7890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76" name="Text Box 8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120"/>
          <p:cNvGrpSpPr/>
          <p:nvPr/>
        </p:nvGrpSpPr>
        <p:grpSpPr>
          <a:xfrm>
            <a:off x="6300788" y="1657350"/>
            <a:ext cx="2524125" cy="1771650"/>
            <a:chOff x="3969" y="1044"/>
            <a:chExt cx="1590" cy="1116"/>
          </a:xfrm>
        </p:grpSpPr>
        <p:sp>
          <p:nvSpPr>
            <p:cNvPr id="44059" name="Line 107"/>
            <p:cNvSpPr/>
            <p:nvPr/>
          </p:nvSpPr>
          <p:spPr>
            <a:xfrm>
              <a:off x="4150" y="1117"/>
              <a:ext cx="9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0" name="Oval 94"/>
            <p:cNvSpPr/>
            <p:nvPr/>
          </p:nvSpPr>
          <p:spPr>
            <a:xfrm>
              <a:off x="3969" y="147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44039" name="Object 95"/>
            <p:cNvGraphicFramePr/>
            <p:nvPr/>
          </p:nvGraphicFramePr>
          <p:xfrm>
            <a:off x="4325" y="1554"/>
            <a:ext cx="20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" name="" r:id="rId22" imgW="177800" imgH="227965" progId="Equation.3">
                    <p:embed/>
                  </p:oleObj>
                </mc:Choice>
                <mc:Fallback>
                  <p:oleObj name="" r:id="rId22" imgW="177800" imgH="227965" progId="Equation.3">
                    <p:embed/>
                    <p:pic>
                      <p:nvPicPr>
                        <p:cNvPr id="0" name="图片 3290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25" y="1554"/>
                          <a:ext cx="209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61" name="Text Box 96"/>
            <p:cNvSpPr txBox="1"/>
            <p:nvPr/>
          </p:nvSpPr>
          <p:spPr>
            <a:xfrm>
              <a:off x="4660" y="1661"/>
              <a:ext cx="41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62" name="Text Box 97"/>
            <p:cNvSpPr txBox="1"/>
            <p:nvPr/>
          </p:nvSpPr>
          <p:spPr>
            <a:xfrm>
              <a:off x="4232" y="1252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3" name="Text Box 98"/>
            <p:cNvSpPr txBox="1"/>
            <p:nvPr/>
          </p:nvSpPr>
          <p:spPr>
            <a:xfrm>
              <a:off x="4150" y="1752"/>
              <a:ext cx="2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4" name="Line 99"/>
            <p:cNvSpPr/>
            <p:nvPr/>
          </p:nvSpPr>
          <p:spPr>
            <a:xfrm flipV="1">
              <a:off x="4999" y="1565"/>
              <a:ext cx="240" cy="3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5" name="Line 100"/>
            <p:cNvSpPr/>
            <p:nvPr/>
          </p:nvSpPr>
          <p:spPr>
            <a:xfrm>
              <a:off x="4999" y="1660"/>
              <a:ext cx="240" cy="1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6" name="Line 101"/>
            <p:cNvSpPr/>
            <p:nvPr/>
          </p:nvSpPr>
          <p:spPr>
            <a:xfrm>
              <a:off x="4150" y="1116"/>
              <a:ext cx="0" cy="10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7" name="Text Box 102"/>
            <p:cNvSpPr txBox="1"/>
            <p:nvPr/>
          </p:nvSpPr>
          <p:spPr>
            <a:xfrm>
              <a:off x="4604" y="1116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68" name="Line 103"/>
            <p:cNvSpPr/>
            <p:nvPr/>
          </p:nvSpPr>
          <p:spPr>
            <a:xfrm>
              <a:off x="4195" y="1117"/>
              <a:ext cx="240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69" name="Line 104"/>
            <p:cNvSpPr/>
            <p:nvPr/>
          </p:nvSpPr>
          <p:spPr>
            <a:xfrm>
              <a:off x="5103" y="1116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0" name="Line 105"/>
            <p:cNvSpPr/>
            <p:nvPr/>
          </p:nvSpPr>
          <p:spPr>
            <a:xfrm flipH="1">
              <a:off x="5103" y="1661"/>
              <a:ext cx="0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44040" name="Object 106"/>
            <p:cNvGraphicFramePr/>
            <p:nvPr/>
          </p:nvGraphicFramePr>
          <p:xfrm>
            <a:off x="4241" y="1100"/>
            <a:ext cx="163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5" name="" r:id="rId24" imgW="127000" imgH="215265" progId="Equation.3">
                    <p:embed/>
                  </p:oleObj>
                </mc:Choice>
                <mc:Fallback>
                  <p:oleObj name="" r:id="rId24" imgW="127000" imgH="215265" progId="Equation.3">
                    <p:embed/>
                    <p:pic>
                      <p:nvPicPr>
                        <p:cNvPr id="0" name="图片 3294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41" y="1100"/>
                          <a:ext cx="163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71" name="Text Box 108"/>
            <p:cNvSpPr txBox="1"/>
            <p:nvPr/>
          </p:nvSpPr>
          <p:spPr>
            <a:xfrm>
              <a:off x="5148" y="1207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72" name="Text Box 109"/>
            <p:cNvSpPr txBox="1"/>
            <p:nvPr/>
          </p:nvSpPr>
          <p:spPr>
            <a:xfrm>
              <a:off x="5095" y="1778"/>
              <a:ext cx="2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4041" name="Object 110"/>
            <p:cNvGraphicFramePr/>
            <p:nvPr/>
          </p:nvGraphicFramePr>
          <p:xfrm>
            <a:off x="5277" y="1479"/>
            <a:ext cx="282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4" name="" r:id="rId26" imgW="241300" imgH="266065" progId="Equation.3">
                    <p:embed/>
                  </p:oleObj>
                </mc:Choice>
                <mc:Fallback>
                  <p:oleObj name="" r:id="rId26" imgW="241300" imgH="266065" progId="Equation.3">
                    <p:embed/>
                    <p:pic>
                      <p:nvPicPr>
                        <p:cNvPr id="0" name="图片 3293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77" y="1479"/>
                          <a:ext cx="282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73" name="Line 111"/>
            <p:cNvSpPr/>
            <p:nvPr/>
          </p:nvSpPr>
          <p:spPr>
            <a:xfrm>
              <a:off x="4150" y="2160"/>
              <a:ext cx="95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4" name="Rectangle 112"/>
            <p:cNvSpPr/>
            <p:nvPr/>
          </p:nvSpPr>
          <p:spPr>
            <a:xfrm>
              <a:off x="4513" y="104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59505" name="Text Box 113"/>
          <p:cNvSpPr txBox="1"/>
          <p:nvPr/>
        </p:nvSpPr>
        <p:spPr>
          <a:xfrm>
            <a:off x="688975" y="4221163"/>
            <a:ext cx="930275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wrap="none" lIns="198000" rIns="19800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4056" name="Group 117"/>
          <p:cNvGrpSpPr/>
          <p:nvPr/>
        </p:nvGrpSpPr>
        <p:grpSpPr>
          <a:xfrm>
            <a:off x="7451725" y="6446838"/>
            <a:ext cx="792163" cy="366712"/>
            <a:chOff x="4649" y="4020"/>
            <a:chExt cx="499" cy="231"/>
          </a:xfrm>
        </p:grpSpPr>
        <p:pic>
          <p:nvPicPr>
            <p:cNvPr id="44057" name="Picture 118" descr="7890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58" name="Text Box 11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9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9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9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9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5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5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5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5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9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9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9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9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5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/>
      <p:bldP spid="59395" grpId="0"/>
      <p:bldP spid="59430" grpId="0" animBg="1"/>
      <p:bldP spid="59438" grpId="0"/>
      <p:bldP spid="59505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4213</Words>
  <Application>WPS 演示</Application>
  <PresentationFormat>全屏显示(4:3)</PresentationFormat>
  <Paragraphs>1360</Paragraphs>
  <Slides>54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249</vt:i4>
      </vt:variant>
      <vt:variant>
        <vt:lpstr>幻灯片标题</vt:lpstr>
      </vt:variant>
      <vt:variant>
        <vt:i4>54</vt:i4>
      </vt:variant>
    </vt:vector>
  </HeadingPairs>
  <TitlesOfParts>
    <vt:vector size="321" baseType="lpstr">
      <vt:lpstr>Arial</vt:lpstr>
      <vt:lpstr>宋体</vt:lpstr>
      <vt:lpstr>Wingdings</vt:lpstr>
      <vt:lpstr>楷体_GB2312</vt:lpstr>
      <vt:lpstr>新宋体</vt:lpstr>
      <vt:lpstr>Calibri</vt:lpstr>
      <vt:lpstr>隶书</vt:lpstr>
      <vt:lpstr>Times New Roman</vt:lpstr>
      <vt:lpstr>Wingdings 3</vt:lpstr>
      <vt:lpstr>Monotype Sorts</vt:lpstr>
      <vt:lpstr>Wingdings</vt:lpstr>
      <vt:lpstr>Symbol</vt:lpstr>
      <vt:lpstr>仿宋_GB2312</vt:lpstr>
      <vt:lpstr>仿宋</vt:lpstr>
      <vt:lpstr>华文行楷</vt:lpstr>
      <vt:lpstr>微软雅黑</vt:lpstr>
      <vt:lpstr>Arial Unicode MS</vt:lpstr>
      <vt:lpstr>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wzy</dc:creator>
  <cp:lastModifiedBy>染墨相思</cp:lastModifiedBy>
  <cp:revision>308</cp:revision>
  <dcterms:created xsi:type="dcterms:W3CDTF">2002-08-23T05:36:01Z</dcterms:created>
  <dcterms:modified xsi:type="dcterms:W3CDTF">2024-06-19T06:33:03Z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E9C478D1F11942FBA2E6A12565D5054D_13</vt:lpwstr>
  </property>
  <property fmtid="{D5CDD505-2E9C-101B-9397-08002B2CF9AE}" pid="3" name="KSOProductBuildVer">
    <vt:lpwstr>2052-12.1.0.16729</vt:lpwstr>
  </property>
</Properties>
</file>