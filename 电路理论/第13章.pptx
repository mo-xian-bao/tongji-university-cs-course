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0" r:id="rId3"/>
    <p:sldId id="319" r:id="rId4"/>
    <p:sldId id="258" r:id="rId5"/>
    <p:sldId id="260" r:id="rId6"/>
    <p:sldId id="263" r:id="rId7"/>
    <p:sldId id="262" r:id="rId8"/>
    <p:sldId id="264" r:id="rId9"/>
    <p:sldId id="309" r:id="rId10"/>
    <p:sldId id="265" r:id="rId11"/>
    <p:sldId id="266" r:id="rId12"/>
    <p:sldId id="267" r:id="rId13"/>
    <p:sldId id="311" r:id="rId14"/>
    <p:sldId id="281" r:id="rId15"/>
    <p:sldId id="282" r:id="rId16"/>
    <p:sldId id="284" r:id="rId17"/>
    <p:sldId id="285" r:id="rId18"/>
    <p:sldId id="283" r:id="rId19"/>
    <p:sldId id="304" r:id="rId20"/>
    <p:sldId id="272" r:id="rId21"/>
    <p:sldId id="273" r:id="rId22"/>
    <p:sldId id="276" r:id="rId23"/>
    <p:sldId id="310" r:id="rId24"/>
    <p:sldId id="286" r:id="rId25"/>
    <p:sldId id="287" r:id="rId26"/>
    <p:sldId id="274" r:id="rId27"/>
    <p:sldId id="288" r:id="rId28"/>
    <p:sldId id="259" r:id="rId29"/>
    <p:sldId id="298" r:id="rId30"/>
    <p:sldId id="299" r:id="rId31"/>
    <p:sldId id="306" r:id="rId32"/>
    <p:sldId id="301" r:id="rId33"/>
    <p:sldId id="300" r:id="rId34"/>
    <p:sldId id="302" r:id="rId35"/>
    <p:sldId id="303" r:id="rId36"/>
    <p:sldId id="269" r:id="rId37"/>
    <p:sldId id="296" r:id="rId38"/>
    <p:sldId id="277" r:id="rId39"/>
    <p:sldId id="278" r:id="rId40"/>
    <p:sldId id="279" r:id="rId41"/>
    <p:sldId id="280" r:id="rId42"/>
    <p:sldId id="307" r:id="rId43"/>
    <p:sldId id="290" r:id="rId44"/>
    <p:sldId id="308" r:id="rId45"/>
    <p:sldId id="291" r:id="rId46"/>
    <p:sldId id="292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22" r:id="rId55"/>
    <p:sldId id="324" r:id="rId56"/>
    <p:sldId id="325" r:id="rId57"/>
    <p:sldId id="326" r:id="rId58"/>
    <p:sldId id="328" r:id="rId59"/>
    <p:sldId id="323" r:id="rId60"/>
    <p:sldId id="329" r:id="rId61"/>
    <p:sldId id="330" r:id="rId62"/>
    <p:sldId id="331" r:id="rId6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楷体_GB2312" pitchFamily="49" charset="-122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楷体_GB2312" pitchFamily="49" charset="-122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楷体_GB2312" pitchFamily="49" charset="-122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楷体_GB2312" pitchFamily="49" charset="-122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楷体_GB2312" pitchFamily="49" charset="-122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楷体_GB2312" pitchFamily="49" charset="-122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楷体_GB2312" pitchFamily="49" charset="-122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楷体_GB2312" pitchFamily="49" charset="-122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3300"/>
    <a:srgbClr val="3399FF"/>
    <a:srgbClr val="FFCC00"/>
    <a:srgbClr val="FF9900"/>
    <a:srgbClr val="00FFFF"/>
    <a:srgbClr val="FFFF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704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0" Type="http://schemas.openxmlformats.org/officeDocument/2006/relationships/image" Target="../media/image36.wmf"/><Relationship Id="rId1" Type="http://schemas.openxmlformats.org/officeDocument/2006/relationships/image" Target="../media/image8.jpeg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50.jpeg"/><Relationship Id="rId1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5.vml.rels><?xml version="1.0" encoding="UTF-8" standalone="yes"?>
<Relationships xmlns="http://schemas.openxmlformats.org/package/2006/relationships"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0.vml.rels><?xml version="1.0" encoding="UTF-8" standalone="yes"?>
<Relationships xmlns="http://schemas.openxmlformats.org/package/2006/relationships"><Relationship Id="rId7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9.wmf"/><Relationship Id="rId4" Type="http://schemas.openxmlformats.org/officeDocument/2006/relationships/image" Target="../media/image78.wmf"/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2.vml.rels><?xml version="1.0" encoding="UTF-8" standalone="yes"?>
<Relationships xmlns="http://schemas.openxmlformats.org/package/2006/relationships"><Relationship Id="rId7" Type="http://schemas.openxmlformats.org/officeDocument/2006/relationships/image" Target="../media/image73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89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4.vml.rels><?xml version="1.0" encoding="UTF-8" standalone="yes"?>
<Relationships xmlns="http://schemas.openxmlformats.org/package/2006/relationships"><Relationship Id="rId7" Type="http://schemas.openxmlformats.org/officeDocument/2006/relationships/image" Target="../media/image94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5.vml.rels><?xml version="1.0" encoding="UTF-8" standalone="yes"?>
<Relationships xmlns="http://schemas.openxmlformats.org/package/2006/relationships"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wmf"/><Relationship Id="rId8" Type="http://schemas.openxmlformats.org/officeDocument/2006/relationships/image" Target="../media/image113.wmf"/><Relationship Id="rId7" Type="http://schemas.openxmlformats.org/officeDocument/2006/relationships/image" Target="../media/image112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wmf"/><Relationship Id="rId8" Type="http://schemas.openxmlformats.org/officeDocument/2006/relationships/image" Target="../media/image122.wmf"/><Relationship Id="rId7" Type="http://schemas.openxmlformats.org/officeDocument/2006/relationships/image" Target="../media/image121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/Relationships>
</file>

<file path=ppt/drawings/_rels/vmlDrawing3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8.wmf"/><Relationship Id="rId4" Type="http://schemas.openxmlformats.org/officeDocument/2006/relationships/image" Target="../media/image127.wmf"/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3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5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wmf"/><Relationship Id="rId8" Type="http://schemas.openxmlformats.org/officeDocument/2006/relationships/image" Target="../media/image143.wmf"/><Relationship Id="rId7" Type="http://schemas.openxmlformats.org/officeDocument/2006/relationships/image" Target="../media/image142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4" Type="http://schemas.openxmlformats.org/officeDocument/2006/relationships/image" Target="../media/image149.wmf"/><Relationship Id="rId13" Type="http://schemas.openxmlformats.org/officeDocument/2006/relationships/image" Target="../media/image148.wmf"/><Relationship Id="rId12" Type="http://schemas.openxmlformats.org/officeDocument/2006/relationships/image" Target="../media/image147.wmf"/><Relationship Id="rId11" Type="http://schemas.openxmlformats.org/officeDocument/2006/relationships/image" Target="../media/image146.wmf"/><Relationship Id="rId10" Type="http://schemas.openxmlformats.org/officeDocument/2006/relationships/image" Target="../media/image145.wmf"/><Relationship Id="rId1" Type="http://schemas.openxmlformats.org/officeDocument/2006/relationships/image" Target="../media/image136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wmf"/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1" Type="http://schemas.openxmlformats.org/officeDocument/2006/relationships/image" Target="../media/image160.wmf"/><Relationship Id="rId10" Type="http://schemas.openxmlformats.org/officeDocument/2006/relationships/image" Target="../media/image159.wmf"/><Relationship Id="rId1" Type="http://schemas.openxmlformats.org/officeDocument/2006/relationships/image" Target="../media/image150.wmf"/></Relationships>
</file>

<file path=ppt/drawings/_rels/vmlDrawing3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/Relationships>
</file>

<file path=ppt/drawings/_rels/vmlDrawing3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6.wmf"/><Relationship Id="rId6" Type="http://schemas.openxmlformats.org/officeDocument/2006/relationships/image" Target="../media/image165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4.wmf"/><Relationship Id="rId8" Type="http://schemas.openxmlformats.org/officeDocument/2006/relationships/image" Target="../media/image166.wmf"/><Relationship Id="rId7" Type="http://schemas.openxmlformats.org/officeDocument/2006/relationships/image" Target="../media/image175.wmf"/><Relationship Id="rId6" Type="http://schemas.openxmlformats.org/officeDocument/2006/relationships/image" Target="../media/image163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2" Type="http://schemas.openxmlformats.org/officeDocument/2006/relationships/image" Target="../media/image177.wmf"/><Relationship Id="rId11" Type="http://schemas.openxmlformats.org/officeDocument/2006/relationships/image" Target="../media/image176.wmf"/><Relationship Id="rId10" Type="http://schemas.openxmlformats.org/officeDocument/2006/relationships/image" Target="../media/image165.wmf"/><Relationship Id="rId1" Type="http://schemas.openxmlformats.org/officeDocument/2006/relationships/image" Target="../media/image170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/Relationships>
</file>

<file path=ppt/drawings/_rels/vmlDrawing3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8.wmf"/><Relationship Id="rId4" Type="http://schemas.openxmlformats.org/officeDocument/2006/relationships/image" Target="../media/image187.wmf"/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/Relationships>
</file>

<file path=ppt/drawings/_rels/vmlDrawing4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0.wmf"/><Relationship Id="rId8" Type="http://schemas.openxmlformats.org/officeDocument/2006/relationships/image" Target="../media/image199.wmf"/><Relationship Id="rId7" Type="http://schemas.openxmlformats.org/officeDocument/2006/relationships/image" Target="../media/image198.w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0" Type="http://schemas.openxmlformats.org/officeDocument/2006/relationships/image" Target="../media/image201.wmf"/><Relationship Id="rId1" Type="http://schemas.openxmlformats.org/officeDocument/2006/relationships/image" Target="../media/image192.w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5.wmf"/><Relationship Id="rId8" Type="http://schemas.openxmlformats.org/officeDocument/2006/relationships/image" Target="../media/image194.wmf"/><Relationship Id="rId7" Type="http://schemas.openxmlformats.org/officeDocument/2006/relationships/image" Target="../media/image193.wmf"/><Relationship Id="rId6" Type="http://schemas.openxmlformats.org/officeDocument/2006/relationships/image" Target="../media/image192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Relationship Id="rId3" Type="http://schemas.openxmlformats.org/officeDocument/2006/relationships/image" Target="../media/image204.wmf"/><Relationship Id="rId2" Type="http://schemas.openxmlformats.org/officeDocument/2006/relationships/image" Target="../media/image203.wmf"/><Relationship Id="rId12" Type="http://schemas.openxmlformats.org/officeDocument/2006/relationships/image" Target="../media/image207.wmf"/><Relationship Id="rId11" Type="http://schemas.openxmlformats.org/officeDocument/2006/relationships/image" Target="../media/image197.wmf"/><Relationship Id="rId10" Type="http://schemas.openxmlformats.org/officeDocument/2006/relationships/image" Target="../media/image196.wmf"/><Relationship Id="rId1" Type="http://schemas.openxmlformats.org/officeDocument/2006/relationships/image" Target="../media/image202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wmf"/><Relationship Id="rId1" Type="http://schemas.openxmlformats.org/officeDocument/2006/relationships/image" Target="../media/image208.wmf"/></Relationships>
</file>

<file path=ppt/drawings/_rels/vmlDrawing4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5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216.wmf"/></Relationships>
</file>

<file path=ppt/drawings/_rels/vmlDrawing4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21.wmf"/><Relationship Id="rId5" Type="http://schemas.openxmlformats.org/officeDocument/2006/relationships/image" Target="../media/image220.wmf"/><Relationship Id="rId4" Type="http://schemas.openxmlformats.org/officeDocument/2006/relationships/image" Target="../media/image219.wmf"/><Relationship Id="rId3" Type="http://schemas.openxmlformats.org/officeDocument/2006/relationships/image" Target="../media/image218.wmf"/><Relationship Id="rId2" Type="http://schemas.openxmlformats.org/officeDocument/2006/relationships/image" Target="../media/image217.wmf"/><Relationship Id="rId1" Type="http://schemas.openxmlformats.org/officeDocument/2006/relationships/image" Target="../media/image213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2.wmf"/></Relationships>
</file>

<file path=ppt/drawings/_rels/vmlDrawing4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6.wmf"/><Relationship Id="rId3" Type="http://schemas.openxmlformats.org/officeDocument/2006/relationships/image" Target="../media/image225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wmf"/><Relationship Id="rId1" Type="http://schemas.openxmlformats.org/officeDocument/2006/relationships/image" Target="../media/image227.wmf"/></Relationships>
</file>

<file path=ppt/drawings/_rels/vmlDrawing50.vml.rels><?xml version="1.0" encoding="UTF-8" standalone="yes"?>
<Relationships xmlns="http://schemas.openxmlformats.org/package/2006/relationships"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Relationship Id="rId3" Type="http://schemas.openxmlformats.org/officeDocument/2006/relationships/image" Target="../media/image230.wmf"/><Relationship Id="rId2" Type="http://schemas.openxmlformats.org/officeDocument/2006/relationships/image" Target="../media/image227.wmf"/><Relationship Id="rId1" Type="http://schemas.openxmlformats.org/officeDocument/2006/relationships/image" Target="../media/image229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wmf"/><Relationship Id="rId1" Type="http://schemas.openxmlformats.org/officeDocument/2006/relationships/image" Target="../media/image234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3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3250" name="Picture 7" descr="333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1" name="WordArt 8"/>
          <p:cNvSpPr>
            <a:spLocks noTextEdit="1"/>
          </p:cNvSpPr>
          <p:nvPr userDrawn="1"/>
        </p:nvSpPr>
        <p:spPr>
          <a:xfrm>
            <a:off x="3997325" y="44450"/>
            <a:ext cx="3887788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/>
          </a:bodyPr>
          <a:p>
            <a:pPr algn="ctr"/>
            <a:r>
              <a:rPr lang="zh-CN" altLang="en-US" sz="2400" b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非正弦周期电流电路和信号的频谱</a:t>
            </a:r>
            <a:endParaRPr lang="zh-CN" altLang="en-US" sz="2400" b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" Target="slide46.xml"/><Relationship Id="rId8" Type="http://schemas.openxmlformats.org/officeDocument/2006/relationships/slide" Target="slide27.xml"/><Relationship Id="rId7" Type="http://schemas.openxmlformats.org/officeDocument/2006/relationships/slide" Target="slide19.xml"/><Relationship Id="rId6" Type="http://schemas.openxmlformats.org/officeDocument/2006/relationships/slide" Target="slide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2" Type="http://schemas.openxmlformats.org/officeDocument/2006/relationships/slideLayout" Target="../slideLayouts/slideLayout1.xml"/><Relationship Id="rId11" Type="http://schemas.openxmlformats.org/officeDocument/2006/relationships/slide" Target="slide58.xml"/><Relationship Id="rId10" Type="http://schemas.openxmlformats.org/officeDocument/2006/relationships/slide" Target="slide5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png"/><Relationship Id="rId3" Type="http://schemas.openxmlformats.org/officeDocument/2006/relationships/image" Target="../media/image8.jpeg"/><Relationship Id="rId2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oleObject" Target="../embeddings/oleObject5.bin"/><Relationship Id="rId7" Type="http://schemas.openxmlformats.org/officeDocument/2006/relationships/image" Target="../media/image14.wmf"/><Relationship Id="rId6" Type="http://schemas.openxmlformats.org/officeDocument/2006/relationships/oleObject" Target="../embeddings/oleObject4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png"/><Relationship Id="rId11" Type="http://schemas.openxmlformats.org/officeDocument/2006/relationships/image" Target="../media/image16.wmf"/><Relationship Id="rId10" Type="http://schemas.openxmlformats.org/officeDocument/2006/relationships/oleObject" Target="../embeddings/oleObject6.bin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6" Type="http://schemas.openxmlformats.org/officeDocument/2006/relationships/image" Target="../media/image1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png"/><Relationship Id="rId7" Type="http://schemas.openxmlformats.org/officeDocument/2006/relationships/image" Target="../media/image10.png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21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6.wmf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5.bin"/><Relationship Id="rId3" Type="http://schemas.openxmlformats.org/officeDocument/2006/relationships/image" Target="../media/image6.png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7.wmf"/><Relationship Id="rId15" Type="http://schemas.openxmlformats.org/officeDocument/2006/relationships/vmlDrawing" Target="../drawings/vmlDrawing8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6.png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17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36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33.wmf"/><Relationship Id="rId11" Type="http://schemas.openxmlformats.org/officeDocument/2006/relationships/vmlDrawing" Target="../drawings/vmlDrawing9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23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6.png"/><Relationship Id="rId7" Type="http://schemas.openxmlformats.org/officeDocument/2006/relationships/image" Target="../media/image39.wmf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8.bin"/><Relationship Id="rId3" Type="http://schemas.openxmlformats.org/officeDocument/2006/relationships/image" Target="../media/image37.wmf"/><Relationship Id="rId22" Type="http://schemas.openxmlformats.org/officeDocument/2006/relationships/vmlDrawing" Target="../drawings/vmlDrawing10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6.wmf"/><Relationship Id="rId2" Type="http://schemas.openxmlformats.org/officeDocument/2006/relationships/oleObject" Target="../embeddings/oleObject27.bin"/><Relationship Id="rId19" Type="http://schemas.openxmlformats.org/officeDocument/2006/relationships/oleObject" Target="../embeddings/oleObject35.bin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34.bin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33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32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31.bin"/><Relationship Id="rId10" Type="http://schemas.openxmlformats.org/officeDocument/2006/relationships/image" Target="../media/image40.wmf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45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6.png"/><Relationship Id="rId13" Type="http://schemas.openxmlformats.org/officeDocument/2006/relationships/vmlDrawing" Target="../drawings/vmlDrawing11.vml"/><Relationship Id="rId12" Type="http://schemas.openxmlformats.org/officeDocument/2006/relationships/slideLayout" Target="../slideLayouts/slideLayout7.xml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6.wmf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7.wmf"/><Relationship Id="rId4" Type="http://schemas.openxmlformats.org/officeDocument/2006/relationships/oleObject" Target="../embeddings/oleObject42.bin"/><Relationship Id="rId3" Type="http://schemas.openxmlformats.org/officeDocument/2006/relationships/image" Target="../media/image8.jpeg"/><Relationship Id="rId2" Type="http://schemas.openxmlformats.org/officeDocument/2006/relationships/image" Target="../media/image46.wmf"/><Relationship Id="rId1" Type="http://schemas.openxmlformats.org/officeDocument/2006/relationships/oleObject" Target="../embeddings/oleObject4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0.jpeg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8.wmf"/><Relationship Id="rId1" Type="http://schemas.openxmlformats.org/officeDocument/2006/relationships/oleObject" Target="../embeddings/oleObject43.bin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2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51.wmf"/><Relationship Id="rId1" Type="http://schemas.openxmlformats.org/officeDocument/2006/relationships/oleObject" Target="../embeddings/oleObject45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3.wmf"/><Relationship Id="rId15" Type="http://schemas.openxmlformats.org/officeDocument/2006/relationships/vmlDrawing" Target="../drawings/vmlDrawing15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6.png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4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60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59.wmf"/><Relationship Id="rId1" Type="http://schemas.openxmlformats.org/officeDocument/2006/relationships/oleObject" Target="../embeddings/oleObject53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64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61.wmf"/><Relationship Id="rId11" Type="http://schemas.openxmlformats.org/officeDocument/2006/relationships/vmlDrawing" Target="../drawings/vmlDrawing17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55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68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65.wmf"/><Relationship Id="rId11" Type="http://schemas.openxmlformats.org/officeDocument/2006/relationships/vmlDrawing" Target="../drawings/vmlDrawing18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59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10.png"/><Relationship Id="rId2" Type="http://schemas.openxmlformats.org/officeDocument/2006/relationships/image" Target="../media/image69.wmf"/><Relationship Id="rId1" Type="http://schemas.openxmlformats.org/officeDocument/2006/relationships/oleObject" Target="../embeddings/oleObject63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oleObject" Target="../embeddings/oleObject67.bin"/><Relationship Id="rId7" Type="http://schemas.openxmlformats.org/officeDocument/2006/relationships/image" Target="../media/image72.wmf"/><Relationship Id="rId6" Type="http://schemas.openxmlformats.org/officeDocument/2006/relationships/oleObject" Target="../embeddings/oleObject66.bin"/><Relationship Id="rId5" Type="http://schemas.openxmlformats.org/officeDocument/2006/relationships/image" Target="../media/image6.png"/><Relationship Id="rId4" Type="http://schemas.openxmlformats.org/officeDocument/2006/relationships/image" Target="../media/image71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70.wmf"/><Relationship Id="rId17" Type="http://schemas.openxmlformats.org/officeDocument/2006/relationships/vmlDrawing" Target="../drawings/vmlDrawing20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74.wmf"/><Relationship Id="rId14" Type="http://schemas.openxmlformats.org/officeDocument/2006/relationships/oleObject" Target="../embeddings/oleObject70.bin"/><Relationship Id="rId13" Type="http://schemas.openxmlformats.org/officeDocument/2006/relationships/image" Target="../media/image73.wmf"/><Relationship Id="rId12" Type="http://schemas.openxmlformats.org/officeDocument/2006/relationships/oleObject" Target="../embeddings/oleObject69.bin"/><Relationship Id="rId11" Type="http://schemas.openxmlformats.org/officeDocument/2006/relationships/image" Target="../media/image44.wmf"/><Relationship Id="rId10" Type="http://schemas.openxmlformats.org/officeDocument/2006/relationships/oleObject" Target="../embeddings/oleObject68.bin"/><Relationship Id="rId1" Type="http://schemas.openxmlformats.org/officeDocument/2006/relationships/oleObject" Target="../embeddings/oleObject64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78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6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75.wmf"/><Relationship Id="rId13" Type="http://schemas.openxmlformats.org/officeDocument/2006/relationships/vmlDrawing" Target="../drawings/vmlDrawing2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6.png"/><Relationship Id="rId10" Type="http://schemas.openxmlformats.org/officeDocument/2006/relationships/image" Target="../media/image79.wmf"/><Relationship Id="rId1" Type="http://schemas.openxmlformats.org/officeDocument/2006/relationships/oleObject" Target="../embeddings/oleObject71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83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82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80.wmf"/><Relationship Id="rId17" Type="http://schemas.openxmlformats.org/officeDocument/2006/relationships/vmlDrawing" Target="../drawings/vmlDrawing22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73.wmf"/><Relationship Id="rId14" Type="http://schemas.openxmlformats.org/officeDocument/2006/relationships/oleObject" Target="../embeddings/oleObject82.bin"/><Relationship Id="rId13" Type="http://schemas.openxmlformats.org/officeDocument/2006/relationships/image" Target="../media/image6.png"/><Relationship Id="rId12" Type="http://schemas.openxmlformats.org/officeDocument/2006/relationships/image" Target="../media/image85.wmf"/><Relationship Id="rId11" Type="http://schemas.openxmlformats.org/officeDocument/2006/relationships/oleObject" Target="../embeddings/oleObject81.bin"/><Relationship Id="rId10" Type="http://schemas.openxmlformats.org/officeDocument/2006/relationships/image" Target="../media/image84.wmf"/><Relationship Id="rId1" Type="http://schemas.openxmlformats.org/officeDocument/2006/relationships/oleObject" Target="../embeddings/oleObject76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6.png"/><Relationship Id="rId7" Type="http://schemas.openxmlformats.org/officeDocument/2006/relationships/image" Target="../media/image8.jpeg"/><Relationship Id="rId6" Type="http://schemas.openxmlformats.org/officeDocument/2006/relationships/image" Target="../media/image88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86.wmf"/><Relationship Id="rId16" Type="http://schemas.openxmlformats.org/officeDocument/2006/relationships/vmlDrawing" Target="../drawings/vmlDrawing23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9.wmf"/><Relationship Id="rId13" Type="http://schemas.openxmlformats.org/officeDocument/2006/relationships/oleObject" Target="../embeddings/oleObject88.bin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87.bin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83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oleObject" Target="../embeddings/oleObject92.bin"/><Relationship Id="rId7" Type="http://schemas.openxmlformats.org/officeDocument/2006/relationships/image" Target="../media/image73.wmf"/><Relationship Id="rId6" Type="http://schemas.openxmlformats.org/officeDocument/2006/relationships/oleObject" Target="../embeddings/oleObject91.bin"/><Relationship Id="rId5" Type="http://schemas.openxmlformats.org/officeDocument/2006/relationships/image" Target="../media/image6.png"/><Relationship Id="rId4" Type="http://schemas.openxmlformats.org/officeDocument/2006/relationships/image" Target="../media/image91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90.wmf"/><Relationship Id="rId17" Type="http://schemas.openxmlformats.org/officeDocument/2006/relationships/vmlDrawing" Target="../drawings/vmlDrawing24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94.wmf"/><Relationship Id="rId14" Type="http://schemas.openxmlformats.org/officeDocument/2006/relationships/oleObject" Target="../embeddings/oleObject95.bin"/><Relationship Id="rId13" Type="http://schemas.openxmlformats.org/officeDocument/2006/relationships/image" Target="../media/image93.wmf"/><Relationship Id="rId12" Type="http://schemas.openxmlformats.org/officeDocument/2006/relationships/oleObject" Target="../embeddings/oleObject94.bin"/><Relationship Id="rId11" Type="http://schemas.openxmlformats.org/officeDocument/2006/relationships/image" Target="../media/image92.wmf"/><Relationship Id="rId10" Type="http://schemas.openxmlformats.org/officeDocument/2006/relationships/oleObject" Target="../embeddings/oleObject93.bin"/><Relationship Id="rId1" Type="http://schemas.openxmlformats.org/officeDocument/2006/relationships/oleObject" Target="../embeddings/oleObject89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oleObject" Target="../embeddings/oleObject99.bin"/><Relationship Id="rId7" Type="http://schemas.openxmlformats.org/officeDocument/2006/relationships/image" Target="../media/image73.wmf"/><Relationship Id="rId6" Type="http://schemas.openxmlformats.org/officeDocument/2006/relationships/oleObject" Target="../embeddings/oleObject98.bin"/><Relationship Id="rId5" Type="http://schemas.openxmlformats.org/officeDocument/2006/relationships/image" Target="../media/image6.png"/><Relationship Id="rId4" Type="http://schemas.openxmlformats.org/officeDocument/2006/relationships/image" Target="../media/image96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95.wmf"/><Relationship Id="rId15" Type="http://schemas.openxmlformats.org/officeDocument/2006/relationships/vmlDrawing" Target="../drawings/vmlDrawing25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98.wmf"/><Relationship Id="rId12" Type="http://schemas.openxmlformats.org/officeDocument/2006/relationships/oleObject" Target="../embeddings/oleObject101.bin"/><Relationship Id="rId11" Type="http://schemas.openxmlformats.org/officeDocument/2006/relationships/image" Target="../media/image97.wmf"/><Relationship Id="rId10" Type="http://schemas.openxmlformats.org/officeDocument/2006/relationships/oleObject" Target="../embeddings/oleObject100.bin"/><Relationship Id="rId1" Type="http://schemas.openxmlformats.org/officeDocument/2006/relationships/oleObject" Target="../embeddings/oleObject96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wmf"/><Relationship Id="rId8" Type="http://schemas.openxmlformats.org/officeDocument/2006/relationships/oleObject" Target="../embeddings/oleObject105.bin"/><Relationship Id="rId7" Type="http://schemas.openxmlformats.org/officeDocument/2006/relationships/image" Target="../media/image101.wmf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103.bin"/><Relationship Id="rId3" Type="http://schemas.openxmlformats.org/officeDocument/2006/relationships/image" Target="../media/image6.png"/><Relationship Id="rId2" Type="http://schemas.openxmlformats.org/officeDocument/2006/relationships/image" Target="../media/image99.wmf"/><Relationship Id="rId13" Type="http://schemas.openxmlformats.org/officeDocument/2006/relationships/vmlDrawing" Target="../drawings/vmlDrawing26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03.wmf"/><Relationship Id="rId10" Type="http://schemas.openxmlformats.org/officeDocument/2006/relationships/oleObject" Target="../embeddings/oleObject106.bin"/><Relationship Id="rId1" Type="http://schemas.openxmlformats.org/officeDocument/2006/relationships/oleObject" Target="../embeddings/oleObject102.bin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5.jpeg"/><Relationship Id="rId3" Type="http://schemas.openxmlformats.org/officeDocument/2006/relationships/image" Target="../media/image6.png"/><Relationship Id="rId2" Type="http://schemas.openxmlformats.org/officeDocument/2006/relationships/image" Target="../media/image104.wmf"/><Relationship Id="rId1" Type="http://schemas.openxmlformats.org/officeDocument/2006/relationships/oleObject" Target="../embeddings/oleObject107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1.bin"/><Relationship Id="rId8" Type="http://schemas.openxmlformats.org/officeDocument/2006/relationships/image" Target="../media/image108.wmf"/><Relationship Id="rId7" Type="http://schemas.openxmlformats.org/officeDocument/2006/relationships/oleObject" Target="../embeddings/oleObject110.bin"/><Relationship Id="rId6" Type="http://schemas.openxmlformats.org/officeDocument/2006/relationships/image" Target="../media/image6.png"/><Relationship Id="rId5" Type="http://schemas.openxmlformats.org/officeDocument/2006/relationships/image" Target="../media/image8.jpeg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109.bin"/><Relationship Id="rId22" Type="http://schemas.openxmlformats.org/officeDocument/2006/relationships/vmlDrawing" Target="../drawings/vmlDrawing28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14.wmf"/><Relationship Id="rId2" Type="http://schemas.openxmlformats.org/officeDocument/2006/relationships/image" Target="../media/image106.wmf"/><Relationship Id="rId19" Type="http://schemas.openxmlformats.org/officeDocument/2006/relationships/oleObject" Target="../embeddings/oleObject116.bin"/><Relationship Id="rId18" Type="http://schemas.openxmlformats.org/officeDocument/2006/relationships/image" Target="../media/image113.wmf"/><Relationship Id="rId17" Type="http://schemas.openxmlformats.org/officeDocument/2006/relationships/oleObject" Target="../embeddings/oleObject115.bin"/><Relationship Id="rId16" Type="http://schemas.openxmlformats.org/officeDocument/2006/relationships/image" Target="../media/image112.wmf"/><Relationship Id="rId15" Type="http://schemas.openxmlformats.org/officeDocument/2006/relationships/oleObject" Target="../embeddings/oleObject114.bin"/><Relationship Id="rId14" Type="http://schemas.openxmlformats.org/officeDocument/2006/relationships/image" Target="../media/image111.wmf"/><Relationship Id="rId13" Type="http://schemas.openxmlformats.org/officeDocument/2006/relationships/oleObject" Target="../embeddings/oleObject113.bin"/><Relationship Id="rId12" Type="http://schemas.openxmlformats.org/officeDocument/2006/relationships/image" Target="../media/image110.wmf"/><Relationship Id="rId11" Type="http://schemas.openxmlformats.org/officeDocument/2006/relationships/oleObject" Target="../embeddings/oleObject112.bin"/><Relationship Id="rId10" Type="http://schemas.openxmlformats.org/officeDocument/2006/relationships/image" Target="../media/image109.wmf"/><Relationship Id="rId1" Type="http://schemas.openxmlformats.org/officeDocument/2006/relationships/oleObject" Target="../embeddings/oleObject108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0.bin"/><Relationship Id="rId8" Type="http://schemas.openxmlformats.org/officeDocument/2006/relationships/image" Target="../media/image117.wmf"/><Relationship Id="rId7" Type="http://schemas.openxmlformats.org/officeDocument/2006/relationships/oleObject" Target="../embeddings/oleObject119.bin"/><Relationship Id="rId6" Type="http://schemas.openxmlformats.org/officeDocument/2006/relationships/image" Target="../media/image6.png"/><Relationship Id="rId5" Type="http://schemas.openxmlformats.org/officeDocument/2006/relationships/image" Target="../media/image8.jpeg"/><Relationship Id="rId4" Type="http://schemas.openxmlformats.org/officeDocument/2006/relationships/image" Target="../media/image116.wmf"/><Relationship Id="rId3" Type="http://schemas.openxmlformats.org/officeDocument/2006/relationships/oleObject" Target="../embeddings/oleObject118.bin"/><Relationship Id="rId22" Type="http://schemas.openxmlformats.org/officeDocument/2006/relationships/vmlDrawing" Target="../drawings/vmlDrawing29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23.wmf"/><Relationship Id="rId2" Type="http://schemas.openxmlformats.org/officeDocument/2006/relationships/image" Target="../media/image115.wmf"/><Relationship Id="rId19" Type="http://schemas.openxmlformats.org/officeDocument/2006/relationships/oleObject" Target="../embeddings/oleObject125.bin"/><Relationship Id="rId18" Type="http://schemas.openxmlformats.org/officeDocument/2006/relationships/image" Target="../media/image122.wmf"/><Relationship Id="rId17" Type="http://schemas.openxmlformats.org/officeDocument/2006/relationships/oleObject" Target="../embeddings/oleObject124.bin"/><Relationship Id="rId16" Type="http://schemas.openxmlformats.org/officeDocument/2006/relationships/image" Target="../media/image121.wmf"/><Relationship Id="rId15" Type="http://schemas.openxmlformats.org/officeDocument/2006/relationships/oleObject" Target="../embeddings/oleObject123.bin"/><Relationship Id="rId14" Type="http://schemas.openxmlformats.org/officeDocument/2006/relationships/image" Target="../media/image120.wmf"/><Relationship Id="rId13" Type="http://schemas.openxmlformats.org/officeDocument/2006/relationships/oleObject" Target="../embeddings/oleObject122.bin"/><Relationship Id="rId12" Type="http://schemas.openxmlformats.org/officeDocument/2006/relationships/image" Target="../media/image119.wmf"/><Relationship Id="rId11" Type="http://schemas.openxmlformats.org/officeDocument/2006/relationships/oleObject" Target="../embeddings/oleObject121.bin"/><Relationship Id="rId10" Type="http://schemas.openxmlformats.org/officeDocument/2006/relationships/image" Target="../media/image118.wmf"/><Relationship Id="rId1" Type="http://schemas.openxmlformats.org/officeDocument/2006/relationships/oleObject" Target="../embeddings/oleObject117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0.bin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124.wmf"/><Relationship Id="rId13" Type="http://schemas.openxmlformats.org/officeDocument/2006/relationships/vmlDrawing" Target="../drawings/vmlDrawing30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6.png"/><Relationship Id="rId10" Type="http://schemas.openxmlformats.org/officeDocument/2006/relationships/image" Target="../media/image128.wmf"/><Relationship Id="rId1" Type="http://schemas.openxmlformats.org/officeDocument/2006/relationships/oleObject" Target="../embeddings/oleObject126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34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30.wmf"/><Relationship Id="rId3" Type="http://schemas.openxmlformats.org/officeDocument/2006/relationships/oleObject" Target="../embeddings/oleObject132.bin"/><Relationship Id="rId2" Type="http://schemas.openxmlformats.org/officeDocument/2006/relationships/image" Target="../media/image129.wmf"/><Relationship Id="rId17" Type="http://schemas.openxmlformats.org/officeDocument/2006/relationships/vmlDrawing" Target="../drawings/vmlDrawing31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35.wmf"/><Relationship Id="rId14" Type="http://schemas.openxmlformats.org/officeDocument/2006/relationships/oleObject" Target="../embeddings/oleObject137.bin"/><Relationship Id="rId13" Type="http://schemas.openxmlformats.org/officeDocument/2006/relationships/image" Target="../media/image134.wmf"/><Relationship Id="rId12" Type="http://schemas.openxmlformats.org/officeDocument/2006/relationships/oleObject" Target="../embeddings/oleObject136.bin"/><Relationship Id="rId11" Type="http://schemas.openxmlformats.org/officeDocument/2006/relationships/image" Target="../media/image133.wmf"/><Relationship Id="rId10" Type="http://schemas.openxmlformats.org/officeDocument/2006/relationships/oleObject" Target="../embeddings/oleObject135.bin"/><Relationship Id="rId1" Type="http://schemas.openxmlformats.org/officeDocument/2006/relationships/oleObject" Target="../embeddings/oleObject131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2.bin"/><Relationship Id="rId8" Type="http://schemas.openxmlformats.org/officeDocument/2006/relationships/image" Target="../media/image139.wmf"/><Relationship Id="rId7" Type="http://schemas.openxmlformats.org/officeDocument/2006/relationships/oleObject" Target="../embeddings/oleObject141.bin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37.wmf"/><Relationship Id="rId33" Type="http://schemas.openxmlformats.org/officeDocument/2006/relationships/vmlDrawing" Target="../drawings/vmlDrawing32.vml"/><Relationship Id="rId32" Type="http://schemas.openxmlformats.org/officeDocument/2006/relationships/slideLayout" Target="../slideLayouts/slideLayout7.xml"/><Relationship Id="rId31" Type="http://schemas.openxmlformats.org/officeDocument/2006/relationships/image" Target="../media/image149.wmf"/><Relationship Id="rId30" Type="http://schemas.openxmlformats.org/officeDocument/2006/relationships/oleObject" Target="../embeddings/oleObject152.bin"/><Relationship Id="rId3" Type="http://schemas.openxmlformats.org/officeDocument/2006/relationships/oleObject" Target="../embeddings/oleObject139.bin"/><Relationship Id="rId29" Type="http://schemas.openxmlformats.org/officeDocument/2006/relationships/image" Target="../media/image148.wmf"/><Relationship Id="rId28" Type="http://schemas.openxmlformats.org/officeDocument/2006/relationships/oleObject" Target="../embeddings/oleObject151.bin"/><Relationship Id="rId27" Type="http://schemas.openxmlformats.org/officeDocument/2006/relationships/image" Target="../media/image8.jpeg"/><Relationship Id="rId26" Type="http://schemas.openxmlformats.org/officeDocument/2006/relationships/image" Target="../media/image6.png"/><Relationship Id="rId25" Type="http://schemas.openxmlformats.org/officeDocument/2006/relationships/image" Target="../media/image147.wmf"/><Relationship Id="rId24" Type="http://schemas.openxmlformats.org/officeDocument/2006/relationships/oleObject" Target="../embeddings/oleObject150.bin"/><Relationship Id="rId23" Type="http://schemas.openxmlformats.org/officeDocument/2006/relationships/image" Target="../media/image146.wmf"/><Relationship Id="rId22" Type="http://schemas.openxmlformats.org/officeDocument/2006/relationships/oleObject" Target="../embeddings/oleObject149.bin"/><Relationship Id="rId21" Type="http://schemas.openxmlformats.org/officeDocument/2006/relationships/image" Target="../media/image145.wmf"/><Relationship Id="rId20" Type="http://schemas.openxmlformats.org/officeDocument/2006/relationships/oleObject" Target="../embeddings/oleObject148.bin"/><Relationship Id="rId2" Type="http://schemas.openxmlformats.org/officeDocument/2006/relationships/image" Target="../media/image136.wmf"/><Relationship Id="rId19" Type="http://schemas.openxmlformats.org/officeDocument/2006/relationships/image" Target="../media/image144.wmf"/><Relationship Id="rId18" Type="http://schemas.openxmlformats.org/officeDocument/2006/relationships/oleObject" Target="../embeddings/oleObject147.bin"/><Relationship Id="rId17" Type="http://schemas.openxmlformats.org/officeDocument/2006/relationships/image" Target="../media/image143.wmf"/><Relationship Id="rId16" Type="http://schemas.openxmlformats.org/officeDocument/2006/relationships/oleObject" Target="../embeddings/oleObject146.bin"/><Relationship Id="rId15" Type="http://schemas.openxmlformats.org/officeDocument/2006/relationships/image" Target="../media/image142.wmf"/><Relationship Id="rId14" Type="http://schemas.openxmlformats.org/officeDocument/2006/relationships/oleObject" Target="../embeddings/oleObject145.bin"/><Relationship Id="rId13" Type="http://schemas.openxmlformats.org/officeDocument/2006/relationships/image" Target="../media/image141.wmf"/><Relationship Id="rId12" Type="http://schemas.openxmlformats.org/officeDocument/2006/relationships/oleObject" Target="../embeddings/oleObject144.bin"/><Relationship Id="rId11" Type="http://schemas.openxmlformats.org/officeDocument/2006/relationships/oleObject" Target="../embeddings/oleObject143.bin"/><Relationship Id="rId10" Type="http://schemas.openxmlformats.org/officeDocument/2006/relationships/image" Target="../media/image140.wmf"/><Relationship Id="rId1" Type="http://schemas.openxmlformats.org/officeDocument/2006/relationships/oleObject" Target="../embeddings/oleObject138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53.wmf"/><Relationship Id="rId7" Type="http://schemas.openxmlformats.org/officeDocument/2006/relationships/oleObject" Target="../embeddings/oleObject156.bin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51.wmf"/><Relationship Id="rId3" Type="http://schemas.openxmlformats.org/officeDocument/2006/relationships/oleObject" Target="../embeddings/oleObject154.bin"/><Relationship Id="rId26" Type="http://schemas.openxmlformats.org/officeDocument/2006/relationships/vmlDrawing" Target="../drawings/vmlDrawing33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60.wmf"/><Relationship Id="rId23" Type="http://schemas.openxmlformats.org/officeDocument/2006/relationships/oleObject" Target="../embeddings/oleObject163.bin"/><Relationship Id="rId22" Type="http://schemas.openxmlformats.org/officeDocument/2006/relationships/image" Target="../media/image159.wmf"/><Relationship Id="rId21" Type="http://schemas.openxmlformats.org/officeDocument/2006/relationships/oleObject" Target="../embeddings/oleObject162.bin"/><Relationship Id="rId20" Type="http://schemas.openxmlformats.org/officeDocument/2006/relationships/image" Target="../media/image158.wmf"/><Relationship Id="rId2" Type="http://schemas.openxmlformats.org/officeDocument/2006/relationships/image" Target="../media/image150.wmf"/><Relationship Id="rId19" Type="http://schemas.openxmlformats.org/officeDocument/2006/relationships/oleObject" Target="../embeddings/oleObject161.bin"/><Relationship Id="rId18" Type="http://schemas.openxmlformats.org/officeDocument/2006/relationships/image" Target="../media/image157.wmf"/><Relationship Id="rId17" Type="http://schemas.openxmlformats.org/officeDocument/2006/relationships/oleObject" Target="../embeddings/oleObject160.bin"/><Relationship Id="rId16" Type="http://schemas.openxmlformats.org/officeDocument/2006/relationships/image" Target="../media/image156.wmf"/><Relationship Id="rId15" Type="http://schemas.openxmlformats.org/officeDocument/2006/relationships/oleObject" Target="../embeddings/oleObject159.bin"/><Relationship Id="rId14" Type="http://schemas.openxmlformats.org/officeDocument/2006/relationships/image" Target="../media/image105.jpeg"/><Relationship Id="rId13" Type="http://schemas.openxmlformats.org/officeDocument/2006/relationships/image" Target="../media/image155.wmf"/><Relationship Id="rId12" Type="http://schemas.openxmlformats.org/officeDocument/2006/relationships/oleObject" Target="../embeddings/oleObject158.bin"/><Relationship Id="rId11" Type="http://schemas.openxmlformats.org/officeDocument/2006/relationships/image" Target="../media/image154.wmf"/><Relationship Id="rId10" Type="http://schemas.openxmlformats.org/officeDocument/2006/relationships/oleObject" Target="../embeddings/oleObject157.bin"/><Relationship Id="rId1" Type="http://schemas.openxmlformats.org/officeDocument/2006/relationships/oleObject" Target="../embeddings/oleObject153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4.wmf"/><Relationship Id="rId8" Type="http://schemas.openxmlformats.org/officeDocument/2006/relationships/oleObject" Target="../embeddings/oleObject167.bin"/><Relationship Id="rId7" Type="http://schemas.openxmlformats.org/officeDocument/2006/relationships/image" Target="../media/image163.wmf"/><Relationship Id="rId6" Type="http://schemas.openxmlformats.org/officeDocument/2006/relationships/oleObject" Target="../embeddings/oleObject166.bin"/><Relationship Id="rId5" Type="http://schemas.openxmlformats.org/officeDocument/2006/relationships/image" Target="../media/image6.png"/><Relationship Id="rId4" Type="http://schemas.openxmlformats.org/officeDocument/2006/relationships/image" Target="../media/image162.wmf"/><Relationship Id="rId3" Type="http://schemas.openxmlformats.org/officeDocument/2006/relationships/oleObject" Target="../embeddings/oleObject165.bin"/><Relationship Id="rId2" Type="http://schemas.openxmlformats.org/officeDocument/2006/relationships/image" Target="../media/image161.wmf"/><Relationship Id="rId15" Type="http://schemas.openxmlformats.org/officeDocument/2006/relationships/vmlDrawing" Target="../drawings/vmlDrawing34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66.wmf"/><Relationship Id="rId12" Type="http://schemas.openxmlformats.org/officeDocument/2006/relationships/oleObject" Target="../embeddings/oleObject169.bin"/><Relationship Id="rId11" Type="http://schemas.openxmlformats.org/officeDocument/2006/relationships/image" Target="../media/image165.wmf"/><Relationship Id="rId10" Type="http://schemas.openxmlformats.org/officeDocument/2006/relationships/oleObject" Target="../embeddings/oleObject168.bin"/><Relationship Id="rId1" Type="http://schemas.openxmlformats.org/officeDocument/2006/relationships/oleObject" Target="../embeddings/oleObject164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3.wmf"/><Relationship Id="rId8" Type="http://schemas.openxmlformats.org/officeDocument/2006/relationships/oleObject" Target="../embeddings/oleObject173.bin"/><Relationship Id="rId7" Type="http://schemas.openxmlformats.org/officeDocument/2006/relationships/image" Target="../media/image6.png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72.bin"/><Relationship Id="rId4" Type="http://schemas.openxmlformats.org/officeDocument/2006/relationships/image" Target="../media/image168.wmf"/><Relationship Id="rId3" Type="http://schemas.openxmlformats.org/officeDocument/2006/relationships/oleObject" Target="../embeddings/oleObject171.bin"/><Relationship Id="rId2" Type="http://schemas.openxmlformats.org/officeDocument/2006/relationships/image" Target="../media/image167.wmf"/><Relationship Id="rId17" Type="http://schemas.openxmlformats.org/officeDocument/2006/relationships/vmlDrawing" Target="../drawings/vmlDrawing35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66.wmf"/><Relationship Id="rId14" Type="http://schemas.openxmlformats.org/officeDocument/2006/relationships/oleObject" Target="../embeddings/oleObject176.bin"/><Relationship Id="rId13" Type="http://schemas.openxmlformats.org/officeDocument/2006/relationships/image" Target="../media/image165.wmf"/><Relationship Id="rId12" Type="http://schemas.openxmlformats.org/officeDocument/2006/relationships/oleObject" Target="../embeddings/oleObject175.bin"/><Relationship Id="rId11" Type="http://schemas.openxmlformats.org/officeDocument/2006/relationships/image" Target="../media/image164.wmf"/><Relationship Id="rId10" Type="http://schemas.openxmlformats.org/officeDocument/2006/relationships/oleObject" Target="../embeddings/oleObject174.bin"/><Relationship Id="rId1" Type="http://schemas.openxmlformats.org/officeDocument/2006/relationships/oleObject" Target="../embeddings/oleObject170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3.wmf"/><Relationship Id="rId8" Type="http://schemas.openxmlformats.org/officeDocument/2006/relationships/oleObject" Target="../embeddings/oleObject180.bin"/><Relationship Id="rId7" Type="http://schemas.openxmlformats.org/officeDocument/2006/relationships/image" Target="../media/image6.png"/><Relationship Id="rId6" Type="http://schemas.openxmlformats.org/officeDocument/2006/relationships/image" Target="../media/image172.wmf"/><Relationship Id="rId5" Type="http://schemas.openxmlformats.org/officeDocument/2006/relationships/oleObject" Target="../embeddings/oleObject179.bin"/><Relationship Id="rId4" Type="http://schemas.openxmlformats.org/officeDocument/2006/relationships/image" Target="../media/image171.wmf"/><Relationship Id="rId3" Type="http://schemas.openxmlformats.org/officeDocument/2006/relationships/oleObject" Target="../embeddings/oleObject178.bin"/><Relationship Id="rId29" Type="http://schemas.openxmlformats.org/officeDocument/2006/relationships/vmlDrawing" Target="../drawings/vmlDrawing36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177.wmf"/><Relationship Id="rId26" Type="http://schemas.openxmlformats.org/officeDocument/2006/relationships/oleObject" Target="../embeddings/oleObject190.bin"/><Relationship Id="rId25" Type="http://schemas.openxmlformats.org/officeDocument/2006/relationships/image" Target="../media/image176.wmf"/><Relationship Id="rId24" Type="http://schemas.openxmlformats.org/officeDocument/2006/relationships/oleObject" Target="../embeddings/oleObject189.bin"/><Relationship Id="rId23" Type="http://schemas.openxmlformats.org/officeDocument/2006/relationships/oleObject" Target="../embeddings/oleObject188.bin"/><Relationship Id="rId22" Type="http://schemas.openxmlformats.org/officeDocument/2006/relationships/image" Target="../media/image165.wmf"/><Relationship Id="rId21" Type="http://schemas.openxmlformats.org/officeDocument/2006/relationships/oleObject" Target="../embeddings/oleObject187.bin"/><Relationship Id="rId20" Type="http://schemas.openxmlformats.org/officeDocument/2006/relationships/image" Target="../media/image164.wmf"/><Relationship Id="rId2" Type="http://schemas.openxmlformats.org/officeDocument/2006/relationships/image" Target="../media/image170.wmf"/><Relationship Id="rId19" Type="http://schemas.openxmlformats.org/officeDocument/2006/relationships/oleObject" Target="../embeddings/oleObject186.bin"/><Relationship Id="rId18" Type="http://schemas.openxmlformats.org/officeDocument/2006/relationships/oleObject" Target="../embeddings/oleObject185.bin"/><Relationship Id="rId17" Type="http://schemas.openxmlformats.org/officeDocument/2006/relationships/image" Target="../media/image166.wmf"/><Relationship Id="rId16" Type="http://schemas.openxmlformats.org/officeDocument/2006/relationships/oleObject" Target="../embeddings/oleObject184.bin"/><Relationship Id="rId15" Type="http://schemas.openxmlformats.org/officeDocument/2006/relationships/image" Target="../media/image175.wmf"/><Relationship Id="rId14" Type="http://schemas.openxmlformats.org/officeDocument/2006/relationships/oleObject" Target="../embeddings/oleObject183.bin"/><Relationship Id="rId13" Type="http://schemas.openxmlformats.org/officeDocument/2006/relationships/image" Target="../media/image163.wmf"/><Relationship Id="rId12" Type="http://schemas.openxmlformats.org/officeDocument/2006/relationships/oleObject" Target="../embeddings/oleObject182.bin"/><Relationship Id="rId11" Type="http://schemas.openxmlformats.org/officeDocument/2006/relationships/image" Target="../media/image174.wmf"/><Relationship Id="rId10" Type="http://schemas.openxmlformats.org/officeDocument/2006/relationships/oleObject" Target="../embeddings/oleObject181.bin"/><Relationship Id="rId1" Type="http://schemas.openxmlformats.org/officeDocument/2006/relationships/oleObject" Target="../embeddings/oleObject177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80.wmf"/><Relationship Id="rId7" Type="http://schemas.openxmlformats.org/officeDocument/2006/relationships/oleObject" Target="../embeddings/oleObject194.bin"/><Relationship Id="rId6" Type="http://schemas.openxmlformats.org/officeDocument/2006/relationships/image" Target="../media/image6.png"/><Relationship Id="rId5" Type="http://schemas.openxmlformats.org/officeDocument/2006/relationships/oleObject" Target="../embeddings/oleObject193.bin"/><Relationship Id="rId4" Type="http://schemas.openxmlformats.org/officeDocument/2006/relationships/image" Target="../media/image179.wmf"/><Relationship Id="rId3" Type="http://schemas.openxmlformats.org/officeDocument/2006/relationships/oleObject" Target="../embeddings/oleObject192.bin"/><Relationship Id="rId2" Type="http://schemas.openxmlformats.org/officeDocument/2006/relationships/image" Target="../media/image178.wmf"/><Relationship Id="rId10" Type="http://schemas.openxmlformats.org/officeDocument/2006/relationships/vmlDrawing" Target="../drawings/vmlDrawing37.vml"/><Relationship Id="rId1" Type="http://schemas.openxmlformats.org/officeDocument/2006/relationships/oleObject" Target="../embeddings/oleObject191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83.wmf"/><Relationship Id="rId7" Type="http://schemas.openxmlformats.org/officeDocument/2006/relationships/oleObject" Target="../embeddings/oleObject197.bin"/><Relationship Id="rId6" Type="http://schemas.openxmlformats.org/officeDocument/2006/relationships/image" Target="../media/image182.w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81.wmf"/><Relationship Id="rId3" Type="http://schemas.openxmlformats.org/officeDocument/2006/relationships/oleObject" Target="../embeddings/oleObject195.bin"/><Relationship Id="rId2" Type="http://schemas.openxmlformats.org/officeDocument/2006/relationships/image" Target="../media/image6.png"/><Relationship Id="rId10" Type="http://schemas.openxmlformats.org/officeDocument/2006/relationships/vmlDrawing" Target="../drawings/vmlDrawing38.vml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2.bin"/><Relationship Id="rId8" Type="http://schemas.openxmlformats.org/officeDocument/2006/relationships/oleObject" Target="../embeddings/oleObject201.bin"/><Relationship Id="rId7" Type="http://schemas.openxmlformats.org/officeDocument/2006/relationships/image" Target="../media/image186.wmf"/><Relationship Id="rId6" Type="http://schemas.openxmlformats.org/officeDocument/2006/relationships/oleObject" Target="../embeddings/oleObject200.bin"/><Relationship Id="rId5" Type="http://schemas.openxmlformats.org/officeDocument/2006/relationships/image" Target="../media/image185.wmf"/><Relationship Id="rId4" Type="http://schemas.openxmlformats.org/officeDocument/2006/relationships/oleObject" Target="../embeddings/oleObject199.bin"/><Relationship Id="rId3" Type="http://schemas.openxmlformats.org/officeDocument/2006/relationships/image" Target="../media/image184.wmf"/><Relationship Id="rId2" Type="http://schemas.openxmlformats.org/officeDocument/2006/relationships/oleObject" Target="../embeddings/oleObject198.bin"/><Relationship Id="rId14" Type="http://schemas.openxmlformats.org/officeDocument/2006/relationships/vmlDrawing" Target="../drawings/vmlDrawing3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88.wmf"/><Relationship Id="rId11" Type="http://schemas.openxmlformats.org/officeDocument/2006/relationships/oleObject" Target="../embeddings/oleObject203.bin"/><Relationship Id="rId10" Type="http://schemas.openxmlformats.org/officeDocument/2006/relationships/image" Target="../media/image187.wmf"/><Relationship Id="rId1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91.wmf"/><Relationship Id="rId7" Type="http://schemas.openxmlformats.org/officeDocument/2006/relationships/oleObject" Target="../embeddings/oleObject206.bin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205.bin"/><Relationship Id="rId4" Type="http://schemas.openxmlformats.org/officeDocument/2006/relationships/image" Target="../media/image189.wmf"/><Relationship Id="rId3" Type="http://schemas.openxmlformats.org/officeDocument/2006/relationships/oleObject" Target="../embeddings/oleObject204.bin"/><Relationship Id="rId2" Type="http://schemas.openxmlformats.org/officeDocument/2006/relationships/image" Target="../media/image6.png"/><Relationship Id="rId10" Type="http://schemas.openxmlformats.org/officeDocument/2006/relationships/vmlDrawing" Target="../drawings/vmlDrawing40.vml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1.bin"/><Relationship Id="rId8" Type="http://schemas.openxmlformats.org/officeDocument/2006/relationships/image" Target="../media/image195.wmf"/><Relationship Id="rId7" Type="http://schemas.openxmlformats.org/officeDocument/2006/relationships/oleObject" Target="../embeddings/oleObject210.bin"/><Relationship Id="rId6" Type="http://schemas.openxmlformats.org/officeDocument/2006/relationships/image" Target="../media/image194.wmf"/><Relationship Id="rId5" Type="http://schemas.openxmlformats.org/officeDocument/2006/relationships/oleObject" Target="../embeddings/oleObject209.bin"/><Relationship Id="rId4" Type="http://schemas.openxmlformats.org/officeDocument/2006/relationships/image" Target="../media/image193.wmf"/><Relationship Id="rId3" Type="http://schemas.openxmlformats.org/officeDocument/2006/relationships/oleObject" Target="../embeddings/oleObject208.bin"/><Relationship Id="rId24" Type="http://schemas.openxmlformats.org/officeDocument/2006/relationships/vmlDrawing" Target="../drawings/vmlDrawing41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201.wmf"/><Relationship Id="rId21" Type="http://schemas.openxmlformats.org/officeDocument/2006/relationships/oleObject" Target="../embeddings/oleObject216.bin"/><Relationship Id="rId20" Type="http://schemas.openxmlformats.org/officeDocument/2006/relationships/image" Target="../media/image200.wmf"/><Relationship Id="rId2" Type="http://schemas.openxmlformats.org/officeDocument/2006/relationships/image" Target="../media/image192.wmf"/><Relationship Id="rId19" Type="http://schemas.openxmlformats.org/officeDocument/2006/relationships/oleObject" Target="../embeddings/oleObject215.bin"/><Relationship Id="rId18" Type="http://schemas.openxmlformats.org/officeDocument/2006/relationships/image" Target="../media/image199.wmf"/><Relationship Id="rId17" Type="http://schemas.openxmlformats.org/officeDocument/2006/relationships/oleObject" Target="../embeddings/oleObject214.bin"/><Relationship Id="rId16" Type="http://schemas.openxmlformats.org/officeDocument/2006/relationships/image" Target="../media/image6.png"/><Relationship Id="rId15" Type="http://schemas.openxmlformats.org/officeDocument/2006/relationships/image" Target="../media/image10.png"/><Relationship Id="rId14" Type="http://schemas.openxmlformats.org/officeDocument/2006/relationships/image" Target="../media/image198.wmf"/><Relationship Id="rId13" Type="http://schemas.openxmlformats.org/officeDocument/2006/relationships/oleObject" Target="../embeddings/oleObject213.bin"/><Relationship Id="rId12" Type="http://schemas.openxmlformats.org/officeDocument/2006/relationships/image" Target="../media/image197.wmf"/><Relationship Id="rId11" Type="http://schemas.openxmlformats.org/officeDocument/2006/relationships/oleObject" Target="../embeddings/oleObject212.bin"/><Relationship Id="rId10" Type="http://schemas.openxmlformats.org/officeDocument/2006/relationships/image" Target="../media/image196.wmf"/><Relationship Id="rId1" Type="http://schemas.openxmlformats.org/officeDocument/2006/relationships/oleObject" Target="../embeddings/oleObject207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5.wmf"/><Relationship Id="rId8" Type="http://schemas.openxmlformats.org/officeDocument/2006/relationships/oleObject" Target="../embeddings/oleObject220.bin"/><Relationship Id="rId7" Type="http://schemas.openxmlformats.org/officeDocument/2006/relationships/image" Target="../media/image10.png"/><Relationship Id="rId6" Type="http://schemas.openxmlformats.org/officeDocument/2006/relationships/image" Target="../media/image204.wmf"/><Relationship Id="rId5" Type="http://schemas.openxmlformats.org/officeDocument/2006/relationships/oleObject" Target="../embeddings/oleObject219.bin"/><Relationship Id="rId4" Type="http://schemas.openxmlformats.org/officeDocument/2006/relationships/image" Target="../media/image203.wmf"/><Relationship Id="rId3" Type="http://schemas.openxmlformats.org/officeDocument/2006/relationships/oleObject" Target="../embeddings/oleObject218.bin"/><Relationship Id="rId28" Type="http://schemas.openxmlformats.org/officeDocument/2006/relationships/vmlDrawing" Target="../drawings/vmlDrawing42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6.png"/><Relationship Id="rId25" Type="http://schemas.openxmlformats.org/officeDocument/2006/relationships/image" Target="../media/image207.wmf"/><Relationship Id="rId24" Type="http://schemas.openxmlformats.org/officeDocument/2006/relationships/oleObject" Target="../embeddings/oleObject228.bin"/><Relationship Id="rId23" Type="http://schemas.openxmlformats.org/officeDocument/2006/relationships/image" Target="../media/image197.wmf"/><Relationship Id="rId22" Type="http://schemas.openxmlformats.org/officeDocument/2006/relationships/oleObject" Target="../embeddings/oleObject227.bin"/><Relationship Id="rId21" Type="http://schemas.openxmlformats.org/officeDocument/2006/relationships/image" Target="../media/image196.wmf"/><Relationship Id="rId20" Type="http://schemas.openxmlformats.org/officeDocument/2006/relationships/oleObject" Target="../embeddings/oleObject226.bin"/><Relationship Id="rId2" Type="http://schemas.openxmlformats.org/officeDocument/2006/relationships/image" Target="../media/image202.wmf"/><Relationship Id="rId19" Type="http://schemas.openxmlformats.org/officeDocument/2006/relationships/image" Target="../media/image195.wmf"/><Relationship Id="rId18" Type="http://schemas.openxmlformats.org/officeDocument/2006/relationships/oleObject" Target="../embeddings/oleObject225.bin"/><Relationship Id="rId17" Type="http://schemas.openxmlformats.org/officeDocument/2006/relationships/image" Target="../media/image194.wmf"/><Relationship Id="rId16" Type="http://schemas.openxmlformats.org/officeDocument/2006/relationships/oleObject" Target="../embeddings/oleObject224.bin"/><Relationship Id="rId15" Type="http://schemas.openxmlformats.org/officeDocument/2006/relationships/image" Target="../media/image193.wmf"/><Relationship Id="rId14" Type="http://schemas.openxmlformats.org/officeDocument/2006/relationships/oleObject" Target="../embeddings/oleObject223.bin"/><Relationship Id="rId13" Type="http://schemas.openxmlformats.org/officeDocument/2006/relationships/image" Target="../media/image192.wmf"/><Relationship Id="rId12" Type="http://schemas.openxmlformats.org/officeDocument/2006/relationships/oleObject" Target="../embeddings/oleObject222.bin"/><Relationship Id="rId11" Type="http://schemas.openxmlformats.org/officeDocument/2006/relationships/image" Target="../media/image206.wmf"/><Relationship Id="rId10" Type="http://schemas.openxmlformats.org/officeDocument/2006/relationships/oleObject" Target="../embeddings/oleObject221.bin"/><Relationship Id="rId1" Type="http://schemas.openxmlformats.org/officeDocument/2006/relationships/oleObject" Target="../embeddings/oleObject217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png"/><Relationship Id="rId4" Type="http://schemas.openxmlformats.org/officeDocument/2006/relationships/image" Target="../media/image209.wmf"/><Relationship Id="rId3" Type="http://schemas.openxmlformats.org/officeDocument/2006/relationships/oleObject" Target="../embeddings/oleObject230.bin"/><Relationship Id="rId2" Type="http://schemas.openxmlformats.org/officeDocument/2006/relationships/image" Target="../media/image208.wmf"/><Relationship Id="rId1" Type="http://schemas.openxmlformats.org/officeDocument/2006/relationships/oleObject" Target="../embeddings/oleObject229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4.bin"/><Relationship Id="rId8" Type="http://schemas.openxmlformats.org/officeDocument/2006/relationships/image" Target="../media/image212.wmf"/><Relationship Id="rId7" Type="http://schemas.openxmlformats.org/officeDocument/2006/relationships/oleObject" Target="../embeddings/oleObject233.bin"/><Relationship Id="rId6" Type="http://schemas.openxmlformats.org/officeDocument/2006/relationships/image" Target="../media/image211.wmf"/><Relationship Id="rId5" Type="http://schemas.openxmlformats.org/officeDocument/2006/relationships/oleObject" Target="../embeddings/oleObject232.bin"/><Relationship Id="rId4" Type="http://schemas.openxmlformats.org/officeDocument/2006/relationships/image" Target="../media/image8.jpeg"/><Relationship Id="rId3" Type="http://schemas.openxmlformats.org/officeDocument/2006/relationships/image" Target="../media/image6.png"/><Relationship Id="rId2" Type="http://schemas.openxmlformats.org/officeDocument/2006/relationships/image" Target="../media/image210.wmf"/><Relationship Id="rId16" Type="http://schemas.openxmlformats.org/officeDocument/2006/relationships/vmlDrawing" Target="../drawings/vmlDrawing44.vml"/><Relationship Id="rId15" Type="http://schemas.openxmlformats.org/officeDocument/2006/relationships/slideLayout" Target="../slideLayouts/slideLayout4.xml"/><Relationship Id="rId14" Type="http://schemas.openxmlformats.org/officeDocument/2006/relationships/image" Target="../media/image215.wmf"/><Relationship Id="rId13" Type="http://schemas.openxmlformats.org/officeDocument/2006/relationships/oleObject" Target="../embeddings/oleObject236.bin"/><Relationship Id="rId12" Type="http://schemas.openxmlformats.org/officeDocument/2006/relationships/image" Target="../media/image214.wmf"/><Relationship Id="rId11" Type="http://schemas.openxmlformats.org/officeDocument/2006/relationships/oleObject" Target="../embeddings/oleObject235.bin"/><Relationship Id="rId10" Type="http://schemas.openxmlformats.org/officeDocument/2006/relationships/image" Target="../media/image213.wmf"/><Relationship Id="rId1" Type="http://schemas.openxmlformats.org/officeDocument/2006/relationships/oleObject" Target="../embeddings/oleObject231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5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38.bin"/><Relationship Id="rId4" Type="http://schemas.openxmlformats.org/officeDocument/2006/relationships/image" Target="../media/image216.wmf"/><Relationship Id="rId3" Type="http://schemas.openxmlformats.org/officeDocument/2006/relationships/oleObject" Target="../embeddings/oleObject237.bin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9.wmf"/><Relationship Id="rId8" Type="http://schemas.openxmlformats.org/officeDocument/2006/relationships/oleObject" Target="../embeddings/oleObject242.bin"/><Relationship Id="rId7" Type="http://schemas.openxmlformats.org/officeDocument/2006/relationships/image" Target="../media/image218.wmf"/><Relationship Id="rId6" Type="http://schemas.openxmlformats.org/officeDocument/2006/relationships/oleObject" Target="../embeddings/oleObject241.bin"/><Relationship Id="rId5" Type="http://schemas.openxmlformats.org/officeDocument/2006/relationships/image" Target="../media/image217.wmf"/><Relationship Id="rId4" Type="http://schemas.openxmlformats.org/officeDocument/2006/relationships/oleObject" Target="../embeddings/oleObject240.bin"/><Relationship Id="rId3" Type="http://schemas.openxmlformats.org/officeDocument/2006/relationships/image" Target="../media/image213.wmf"/><Relationship Id="rId2" Type="http://schemas.openxmlformats.org/officeDocument/2006/relationships/oleObject" Target="../embeddings/oleObject239.bin"/><Relationship Id="rId15" Type="http://schemas.openxmlformats.org/officeDocument/2006/relationships/vmlDrawing" Target="../drawings/vmlDrawing46.vml"/><Relationship Id="rId14" Type="http://schemas.openxmlformats.org/officeDocument/2006/relationships/slideLayout" Target="../slideLayouts/slideLayout13.xml"/><Relationship Id="rId13" Type="http://schemas.openxmlformats.org/officeDocument/2006/relationships/image" Target="../media/image221.wmf"/><Relationship Id="rId12" Type="http://schemas.openxmlformats.org/officeDocument/2006/relationships/oleObject" Target="../embeddings/oleObject244.bin"/><Relationship Id="rId11" Type="http://schemas.openxmlformats.org/officeDocument/2006/relationships/image" Target="../media/image220.wmf"/><Relationship Id="rId10" Type="http://schemas.openxmlformats.org/officeDocument/2006/relationships/oleObject" Target="../embeddings/oleObject243.bin"/><Relationship Id="rId1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7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8.jpeg"/><Relationship Id="rId4" Type="http://schemas.openxmlformats.org/officeDocument/2006/relationships/oleObject" Target="../embeddings/oleObject246.bin"/><Relationship Id="rId3" Type="http://schemas.openxmlformats.org/officeDocument/2006/relationships/image" Target="../media/image6.png"/><Relationship Id="rId2" Type="http://schemas.openxmlformats.org/officeDocument/2006/relationships/image" Target="../media/image222.wmf"/><Relationship Id="rId1" Type="http://schemas.openxmlformats.org/officeDocument/2006/relationships/oleObject" Target="../embeddings/oleObject245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0.bin"/><Relationship Id="rId8" Type="http://schemas.openxmlformats.org/officeDocument/2006/relationships/image" Target="../media/image10.png"/><Relationship Id="rId7" Type="http://schemas.openxmlformats.org/officeDocument/2006/relationships/image" Target="../media/image225.wmf"/><Relationship Id="rId6" Type="http://schemas.openxmlformats.org/officeDocument/2006/relationships/oleObject" Target="../embeddings/oleObject249.bin"/><Relationship Id="rId5" Type="http://schemas.openxmlformats.org/officeDocument/2006/relationships/image" Target="../media/image224.wmf"/><Relationship Id="rId4" Type="http://schemas.openxmlformats.org/officeDocument/2006/relationships/oleObject" Target="../embeddings/oleObject248.bin"/><Relationship Id="rId3" Type="http://schemas.openxmlformats.org/officeDocument/2006/relationships/image" Target="../media/image223.wmf"/><Relationship Id="rId2" Type="http://schemas.openxmlformats.org/officeDocument/2006/relationships/oleObject" Target="../embeddings/oleObject247.bin"/><Relationship Id="rId12" Type="http://schemas.openxmlformats.org/officeDocument/2006/relationships/vmlDrawing" Target="../drawings/vmlDrawing48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26.wmf"/><Relationship Id="rId1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228.wmf"/><Relationship Id="rId4" Type="http://schemas.openxmlformats.org/officeDocument/2006/relationships/oleObject" Target="../embeddings/oleObject252.bin"/><Relationship Id="rId3" Type="http://schemas.openxmlformats.org/officeDocument/2006/relationships/image" Target="../media/image227.wmf"/><Relationship Id="rId2" Type="http://schemas.openxmlformats.org/officeDocument/2006/relationships/oleObject" Target="../embeddings/oleObject251.bin"/><Relationship Id="rId1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1.wmf"/><Relationship Id="rId8" Type="http://schemas.openxmlformats.org/officeDocument/2006/relationships/oleObject" Target="../embeddings/oleObject256.bin"/><Relationship Id="rId7" Type="http://schemas.openxmlformats.org/officeDocument/2006/relationships/image" Target="../media/image230.wmf"/><Relationship Id="rId6" Type="http://schemas.openxmlformats.org/officeDocument/2006/relationships/oleObject" Target="../embeddings/oleObject255.bin"/><Relationship Id="rId5" Type="http://schemas.openxmlformats.org/officeDocument/2006/relationships/image" Target="../media/image227.wmf"/><Relationship Id="rId4" Type="http://schemas.openxmlformats.org/officeDocument/2006/relationships/oleObject" Target="../embeddings/oleObject254.bin"/><Relationship Id="rId3" Type="http://schemas.openxmlformats.org/officeDocument/2006/relationships/image" Target="../media/image229.wmf"/><Relationship Id="rId2" Type="http://schemas.openxmlformats.org/officeDocument/2006/relationships/oleObject" Target="../embeddings/oleObject253.bin"/><Relationship Id="rId16" Type="http://schemas.openxmlformats.org/officeDocument/2006/relationships/vmlDrawing" Target="../drawings/vmlDrawing50.vml"/><Relationship Id="rId15" Type="http://schemas.openxmlformats.org/officeDocument/2006/relationships/slideLayout" Target="../slideLayouts/slideLayout4.xml"/><Relationship Id="rId14" Type="http://schemas.openxmlformats.org/officeDocument/2006/relationships/image" Target="../media/image8.jpeg"/><Relationship Id="rId13" Type="http://schemas.openxmlformats.org/officeDocument/2006/relationships/image" Target="../media/image233.wmf"/><Relationship Id="rId12" Type="http://schemas.openxmlformats.org/officeDocument/2006/relationships/oleObject" Target="../embeddings/oleObject258.bin"/><Relationship Id="rId11" Type="http://schemas.openxmlformats.org/officeDocument/2006/relationships/image" Target="../media/image232.wmf"/><Relationship Id="rId10" Type="http://schemas.openxmlformats.org/officeDocument/2006/relationships/oleObject" Target="../embeddings/oleObject257.bin"/><Relationship Id="rId1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1.v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10.png"/><Relationship Id="rId6" Type="http://schemas.openxmlformats.org/officeDocument/2006/relationships/image" Target="../media/image8.jpeg"/><Relationship Id="rId5" Type="http://schemas.openxmlformats.org/officeDocument/2006/relationships/image" Target="../media/image235.wmf"/><Relationship Id="rId4" Type="http://schemas.openxmlformats.org/officeDocument/2006/relationships/oleObject" Target="../embeddings/oleObject260.bin"/><Relationship Id="rId3" Type="http://schemas.openxmlformats.org/officeDocument/2006/relationships/image" Target="../media/image234.wmf"/><Relationship Id="rId2" Type="http://schemas.openxmlformats.org/officeDocument/2006/relationships/oleObject" Target="../embeddings/oleObject259.bin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8" name="Text Box 4"/>
          <p:cNvSpPr txBox="1"/>
          <p:nvPr/>
        </p:nvSpPr>
        <p:spPr>
          <a:xfrm>
            <a:off x="250825" y="320675"/>
            <a:ext cx="8604250" cy="701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zh-CN" altLang="en-US" sz="40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第十三章 非正弦周期电流电路</a:t>
            </a:r>
            <a:endParaRPr lang="zh-CN" altLang="en-US" sz="4000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30"/>
          <p:cNvGrpSpPr/>
          <p:nvPr/>
        </p:nvGrpSpPr>
        <p:grpSpPr>
          <a:xfrm>
            <a:off x="7380288" y="6092825"/>
            <a:ext cx="1584325" cy="576263"/>
            <a:chOff x="2971" y="3113"/>
            <a:chExt cx="1043" cy="499"/>
          </a:xfrm>
        </p:grpSpPr>
        <p:sp>
          <p:nvSpPr>
            <p:cNvPr id="55340" name="Oval 31"/>
            <p:cNvSpPr/>
            <p:nvPr/>
          </p:nvSpPr>
          <p:spPr>
            <a:xfrm>
              <a:off x="2971" y="3113"/>
              <a:ext cx="1043" cy="499"/>
            </a:xfrm>
            <a:prstGeom prst="ellipse">
              <a:avLst/>
            </a:prstGeom>
            <a:gradFill rotWithShape="0">
              <a:gsLst>
                <a:gs pos="0">
                  <a:srgbClr val="3366FF"/>
                </a:gs>
                <a:gs pos="50000">
                  <a:srgbClr val="7799FF"/>
                </a:gs>
                <a:gs pos="100000">
                  <a:srgbClr val="3366FF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5341" name="Oval 32">
              <a:hlinkClick r:id="" action="ppaction://hlinkshowjump?jump=endshow"/>
            </p:cNvPr>
            <p:cNvSpPr/>
            <p:nvPr/>
          </p:nvSpPr>
          <p:spPr>
            <a:xfrm>
              <a:off x="3016" y="3158"/>
              <a:ext cx="953" cy="408"/>
            </a:xfrm>
            <a:prstGeom prst="ellipse">
              <a:avLst/>
            </a:prstGeom>
            <a:gradFill rotWithShape="0">
              <a:gsLst>
                <a:gs pos="0">
                  <a:srgbClr val="0033CC"/>
                </a:gs>
                <a:gs pos="50000">
                  <a:srgbClr val="87DAED"/>
                </a:gs>
                <a:gs pos="100000">
                  <a:srgbClr val="0033CC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 algn="ctr"/>
              <a:r>
                <a:rPr lang="zh-CN" altLang="en-US" sz="2600" dirty="0">
                  <a:solidFill>
                    <a:srgbClr val="CC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首 页</a:t>
              </a:r>
              <a:endParaRPr lang="zh-CN" altLang="en-US" sz="2600" dirty="0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3" name="Group 33"/>
          <p:cNvGrpSpPr/>
          <p:nvPr/>
        </p:nvGrpSpPr>
        <p:grpSpPr>
          <a:xfrm>
            <a:off x="3635375" y="1484313"/>
            <a:ext cx="2663825" cy="935037"/>
            <a:chOff x="1928" y="890"/>
            <a:chExt cx="1905" cy="680"/>
          </a:xfrm>
        </p:grpSpPr>
        <p:pic>
          <p:nvPicPr>
            <p:cNvPr id="55337" name="Picture 34" descr="GEL Oval MS-blue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1928" y="890"/>
              <a:ext cx="1905" cy="6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8" name="Picture 35" descr="GEL Oval MS-yellow">
              <a:hlinkClick r:id="rId2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018" y="981"/>
              <a:ext cx="1715" cy="4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39" name="Text Box 36" descr="斜纹布">
              <a:hlinkClick r:id="rId2" action="ppaction://hlinksldjump"/>
            </p:cNvPr>
            <p:cNvSpPr txBox="1"/>
            <p:nvPr/>
          </p:nvSpPr>
          <p:spPr>
            <a:xfrm>
              <a:off x="2291" y="1062"/>
              <a:ext cx="1238" cy="381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本章内容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2741" name="Text Box 37"/>
          <p:cNvSpPr txBox="1"/>
          <p:nvPr/>
        </p:nvSpPr>
        <p:spPr>
          <a:xfrm>
            <a:off x="3059113" y="836613"/>
            <a:ext cx="5545137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40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和信号的频谱</a:t>
            </a:r>
            <a:endParaRPr lang="zh-CN" altLang="en-US" sz="4000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4" name="Group 82"/>
          <p:cNvGrpSpPr/>
          <p:nvPr/>
        </p:nvGrpSpPr>
        <p:grpSpPr>
          <a:xfrm>
            <a:off x="1127125" y="2492375"/>
            <a:ext cx="7069138" cy="512763"/>
            <a:chOff x="846" y="1570"/>
            <a:chExt cx="4453" cy="323"/>
          </a:xfrm>
        </p:grpSpPr>
        <p:pic>
          <p:nvPicPr>
            <p:cNvPr id="55333" name="Picture 45" descr="GEL Rounded Rectangle aquamarine">
              <a:hlinkClick r:id="" action="ppaction://noaction"/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580" y="1580"/>
              <a:ext cx="371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34" name="Text Box 46">
              <a:hlinkClick r:id="" action="ppaction://noaction"/>
            </p:cNvPr>
            <p:cNvSpPr txBox="1"/>
            <p:nvPr/>
          </p:nvSpPr>
          <p:spPr>
            <a:xfrm>
              <a:off x="1809" y="1570"/>
              <a:ext cx="3237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非正弦周期信号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55335" name="Picture 47" descr="GEL Rounded Rectangle aquamarine">
              <a:hlinkClick r:id="" action="ppaction://noaction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" y="1580"/>
              <a:ext cx="82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36" name="Text Box 48">
              <a:hlinkClick r:id="" action="ppaction://noaction"/>
            </p:cNvPr>
            <p:cNvSpPr txBox="1"/>
            <p:nvPr/>
          </p:nvSpPr>
          <p:spPr>
            <a:xfrm>
              <a:off x="900" y="1580"/>
              <a:ext cx="64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 13-1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83"/>
          <p:cNvGrpSpPr/>
          <p:nvPr/>
        </p:nvGrpSpPr>
        <p:grpSpPr>
          <a:xfrm>
            <a:off x="1127125" y="2987675"/>
            <a:ext cx="7069138" cy="512763"/>
            <a:chOff x="846" y="1882"/>
            <a:chExt cx="4453" cy="323"/>
          </a:xfrm>
        </p:grpSpPr>
        <p:pic>
          <p:nvPicPr>
            <p:cNvPr id="55329" name="Picture 50" descr="GEL Rounded Rectangle aquamarine">
              <a:hlinkClick r:id="" action="ppaction://noaction"/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580" y="1892"/>
              <a:ext cx="371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30" name="Text Box 51">
              <a:hlinkClick r:id="rId6" action="ppaction://hlinksldjump"/>
            </p:cNvPr>
            <p:cNvSpPr txBox="1"/>
            <p:nvPr/>
          </p:nvSpPr>
          <p:spPr>
            <a:xfrm>
              <a:off x="1809" y="1882"/>
              <a:ext cx="3251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非正弦周期函数分解为傅里叶级数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55331" name="Picture 52" descr="GEL Rounded Rectangle aquamarine">
              <a:hlinkClick r:id="" action="ppaction://noaction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" y="1892"/>
              <a:ext cx="82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32" name="Text Box 53">
              <a:hlinkClick r:id="rId6" action="ppaction://hlinksldjump"/>
            </p:cNvPr>
            <p:cNvSpPr txBox="1"/>
            <p:nvPr/>
          </p:nvSpPr>
          <p:spPr>
            <a:xfrm>
              <a:off x="900" y="1892"/>
              <a:ext cx="64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 13-2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84"/>
          <p:cNvGrpSpPr/>
          <p:nvPr/>
        </p:nvGrpSpPr>
        <p:grpSpPr>
          <a:xfrm>
            <a:off x="1116013" y="3502025"/>
            <a:ext cx="7081837" cy="512763"/>
            <a:chOff x="839" y="2206"/>
            <a:chExt cx="4461" cy="323"/>
          </a:xfrm>
        </p:grpSpPr>
        <p:pic>
          <p:nvPicPr>
            <p:cNvPr id="55325" name="Picture 55" descr="GEL Rounded Rectangle aquamarine">
              <a:hlinkClick r:id="rId7" action="ppaction://hlinksldjump"/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581" y="2216"/>
              <a:ext cx="371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26" name="Text Box 56">
              <a:hlinkClick r:id="rId7" action="ppaction://hlinksldjump"/>
            </p:cNvPr>
            <p:cNvSpPr txBox="1"/>
            <p:nvPr/>
          </p:nvSpPr>
          <p:spPr>
            <a:xfrm>
              <a:off x="1810" y="2206"/>
              <a:ext cx="262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有效值、平均值和平均功率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55327" name="Picture 57" descr="GEL Rounded Rectangle aquamarine">
              <a:hlinkClick r:id="" action="ppaction://noaction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9" y="2210"/>
              <a:ext cx="82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28" name="Text Box 58">
              <a:hlinkClick r:id="rId7" action="ppaction://hlinksldjump"/>
            </p:cNvPr>
            <p:cNvSpPr txBox="1"/>
            <p:nvPr/>
          </p:nvSpPr>
          <p:spPr>
            <a:xfrm>
              <a:off x="914" y="2210"/>
              <a:ext cx="601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 13-3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85"/>
          <p:cNvGrpSpPr/>
          <p:nvPr/>
        </p:nvGrpSpPr>
        <p:grpSpPr>
          <a:xfrm>
            <a:off x="1117600" y="3995738"/>
            <a:ext cx="7054850" cy="512762"/>
            <a:chOff x="840" y="2517"/>
            <a:chExt cx="4444" cy="323"/>
          </a:xfrm>
        </p:grpSpPr>
        <p:pic>
          <p:nvPicPr>
            <p:cNvPr id="55321" name="Picture 60" descr="GEL Rounded Rectangle aquamarine">
              <a:hlinkClick r:id="" action="ppaction://noaction"/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565" y="2527"/>
              <a:ext cx="371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22" name="Text Box 61">
              <a:hlinkClick r:id="rId8" action="ppaction://hlinksldjump"/>
            </p:cNvPr>
            <p:cNvSpPr txBox="1"/>
            <p:nvPr/>
          </p:nvSpPr>
          <p:spPr>
            <a:xfrm>
              <a:off x="1794" y="2517"/>
              <a:ext cx="3237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非正弦周期电流电路的计算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55323" name="Picture 62" descr="GEL Rounded Rectangle aquamarine">
              <a:hlinkClick r:id="" action="ppaction://noaction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0" y="2527"/>
              <a:ext cx="82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24" name="Text Box 63">
              <a:hlinkClick r:id="rId8" action="ppaction://hlinksldjump"/>
            </p:cNvPr>
            <p:cNvSpPr txBox="1"/>
            <p:nvPr/>
          </p:nvSpPr>
          <p:spPr>
            <a:xfrm>
              <a:off x="894" y="2527"/>
              <a:ext cx="64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 13-4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86"/>
          <p:cNvGrpSpPr/>
          <p:nvPr/>
        </p:nvGrpSpPr>
        <p:grpSpPr>
          <a:xfrm>
            <a:off x="1116013" y="4500563"/>
            <a:ext cx="7054850" cy="512762"/>
            <a:chOff x="839" y="2835"/>
            <a:chExt cx="4444" cy="323"/>
          </a:xfrm>
        </p:grpSpPr>
        <p:pic>
          <p:nvPicPr>
            <p:cNvPr id="55317" name="Picture 65" descr="GEL Rounded Rectangle aquamarine">
              <a:hlinkClick r:id="" action="ppaction://noaction"/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564" y="2845"/>
              <a:ext cx="371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8" name="Text Box 66">
              <a:hlinkClick r:id="rId9" action="ppaction://hlinksldjump"/>
            </p:cNvPr>
            <p:cNvSpPr txBox="1"/>
            <p:nvPr/>
          </p:nvSpPr>
          <p:spPr>
            <a:xfrm>
              <a:off x="1793" y="2835"/>
              <a:ext cx="3237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对称三相电路中的高次谐波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55319" name="Picture 67" descr="GEL Rounded Rectangle aquamarine">
              <a:hlinkClick r:id="" action="ppaction://noaction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9" y="2845"/>
              <a:ext cx="82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20" name="Text Box 68">
              <a:hlinkClick r:id="rId9" action="ppaction://hlinksldjump"/>
            </p:cNvPr>
            <p:cNvSpPr txBox="1"/>
            <p:nvPr/>
          </p:nvSpPr>
          <p:spPr>
            <a:xfrm>
              <a:off x="893" y="2845"/>
              <a:ext cx="64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*13-5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87"/>
          <p:cNvGrpSpPr/>
          <p:nvPr/>
        </p:nvGrpSpPr>
        <p:grpSpPr>
          <a:xfrm>
            <a:off x="1116013" y="5003800"/>
            <a:ext cx="7054850" cy="512763"/>
            <a:chOff x="839" y="3152"/>
            <a:chExt cx="4444" cy="323"/>
          </a:xfrm>
        </p:grpSpPr>
        <p:pic>
          <p:nvPicPr>
            <p:cNvPr id="55313" name="Picture 70" descr="GEL Rounded Rectangle aquamarine">
              <a:hlinkClick r:id="" action="ppaction://noaction"/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564" y="3162"/>
              <a:ext cx="371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4" name="Text Box 71">
              <a:hlinkClick r:id="rId10" action="ppaction://hlinksldjump"/>
            </p:cNvPr>
            <p:cNvSpPr txBox="1"/>
            <p:nvPr/>
          </p:nvSpPr>
          <p:spPr>
            <a:xfrm>
              <a:off x="1793" y="3152"/>
              <a:ext cx="3237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傅里叶级数的指数形式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55315" name="Picture 72" descr="GEL Rounded Rectangle aquamarine">
              <a:hlinkClick r:id="" action="ppaction://noaction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9" y="3162"/>
              <a:ext cx="82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6" name="Text Box 73">
              <a:hlinkClick r:id="rId10" action="ppaction://hlinksldjump"/>
            </p:cNvPr>
            <p:cNvSpPr txBox="1"/>
            <p:nvPr/>
          </p:nvSpPr>
          <p:spPr>
            <a:xfrm>
              <a:off x="893" y="3162"/>
              <a:ext cx="64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*13-6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88"/>
          <p:cNvGrpSpPr/>
          <p:nvPr/>
        </p:nvGrpSpPr>
        <p:grpSpPr>
          <a:xfrm>
            <a:off x="1116013" y="5516563"/>
            <a:ext cx="7054850" cy="512762"/>
            <a:chOff x="839" y="3470"/>
            <a:chExt cx="4444" cy="323"/>
          </a:xfrm>
        </p:grpSpPr>
        <p:pic>
          <p:nvPicPr>
            <p:cNvPr id="55309" name="Picture 75" descr="GEL Rounded Rectangle aquamarine">
              <a:hlinkClick r:id="" action="ppaction://noaction"/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564" y="3480"/>
              <a:ext cx="371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0" name="Text Box 76">
              <a:hlinkClick r:id="rId11" action="ppaction://hlinksldjump"/>
            </p:cNvPr>
            <p:cNvSpPr txBox="1"/>
            <p:nvPr/>
          </p:nvSpPr>
          <p:spPr>
            <a:xfrm>
              <a:off x="1793" y="3470"/>
              <a:ext cx="3237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傅里叶积分简介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55311" name="Picture 77" descr="GEL Rounded Rectangle aquamarine">
              <a:hlinkClick r:id="" action="ppaction://noaction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9" y="3480"/>
              <a:ext cx="829" cy="3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2" name="Text Box 78">
              <a:hlinkClick r:id="rId11" action="ppaction://hlinksldjump"/>
            </p:cNvPr>
            <p:cNvSpPr txBox="1"/>
            <p:nvPr/>
          </p:nvSpPr>
          <p:spPr>
            <a:xfrm>
              <a:off x="893" y="3480"/>
              <a:ext cx="64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*13-7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49" presetClass="entr" presetSubtype="0" decel="10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build="p"/>
      <p:bldP spid="727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9" name="Text Box 3"/>
          <p:cNvSpPr txBox="1"/>
          <p:nvPr/>
        </p:nvSpPr>
        <p:spPr>
          <a:xfrm>
            <a:off x="900113" y="3425825"/>
            <a:ext cx="8243887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3200" dirty="0">
                <a:latin typeface="楷体_GB2312" pitchFamily="49" charset="-122"/>
              </a:rPr>
              <a:t>2. </a:t>
            </a:r>
            <a:r>
              <a:rPr lang="zh-CN" altLang="en-US" sz="3200" dirty="0">
                <a:latin typeface="楷体_GB2312" pitchFamily="49" charset="-122"/>
              </a:rPr>
              <a:t>非正弦周期函数的有效值和平均功率</a:t>
            </a:r>
            <a:endParaRPr lang="zh-CN" altLang="en-US" sz="3200" dirty="0">
              <a:latin typeface="楷体_GB2312" pitchFamily="49" charset="-122"/>
            </a:endParaRPr>
          </a:p>
        </p:txBody>
      </p:sp>
      <p:sp>
        <p:nvSpPr>
          <p:cNvPr id="70660" name="Text Box 4"/>
          <p:cNvSpPr txBox="1"/>
          <p:nvPr/>
        </p:nvSpPr>
        <p:spPr>
          <a:xfrm>
            <a:off x="684213" y="1196975"/>
            <a:ext cx="1662112" cy="579438"/>
          </a:xfrm>
          <a:prstGeom prst="rect">
            <a:avLst/>
          </a:prstGeom>
          <a:solidFill>
            <a:srgbClr val="FF3300"/>
          </a:solidFill>
          <a:ln w="9525">
            <a:noFill/>
          </a:ln>
        </p:spPr>
        <p:txBody>
          <a:bodyPr anchor="ctr" anchorCtr="0">
            <a:spAutoFit/>
          </a:bodyPr>
          <a:p>
            <a:pPr algn="ctr">
              <a:buFont typeface="Wingdings" panose="05000000000000000000" pitchFamily="2" charset="2"/>
              <a:buChar char="l"/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重点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70661" name="Text Box 5"/>
          <p:cNvSpPr txBox="1"/>
          <p:nvPr/>
        </p:nvSpPr>
        <p:spPr>
          <a:xfrm>
            <a:off x="900113" y="4365625"/>
            <a:ext cx="56705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dirty="0">
                <a:latin typeface="楷体_GB2312" pitchFamily="49" charset="-122"/>
              </a:rPr>
              <a:t>3. </a:t>
            </a:r>
            <a:r>
              <a:rPr lang="zh-CN" altLang="en-US" sz="3200" dirty="0">
                <a:latin typeface="楷体_GB2312" pitchFamily="49" charset="-122"/>
              </a:rPr>
              <a:t>非正弦周期电流电路的计算</a:t>
            </a:r>
            <a:endParaRPr lang="zh-CN" altLang="en-US" sz="3200" dirty="0">
              <a:latin typeface="楷体_GB2312" pitchFamily="49" charset="-122"/>
            </a:endParaRPr>
          </a:p>
        </p:txBody>
      </p:sp>
      <p:sp>
        <p:nvSpPr>
          <p:cNvPr id="70662" name="Text Box 6"/>
          <p:cNvSpPr txBox="1"/>
          <p:nvPr/>
        </p:nvSpPr>
        <p:spPr>
          <a:xfrm>
            <a:off x="960438" y="2562225"/>
            <a:ext cx="5694362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dirty="0">
                <a:latin typeface="楷体_GB2312" pitchFamily="49" charset="-122"/>
              </a:rPr>
              <a:t>1. </a:t>
            </a:r>
            <a:r>
              <a:rPr lang="zh-CN" altLang="en-US" sz="3200" dirty="0">
                <a:latin typeface="楷体_GB2312" pitchFamily="49" charset="-122"/>
              </a:rPr>
              <a:t>周期函数分解为傅里叶级数</a:t>
            </a:r>
            <a:endParaRPr lang="zh-CN" altLang="en-US" sz="3200" dirty="0">
              <a:latin typeface="楷体_GB2312" pitchFamily="49" charset="-122"/>
            </a:endParaRPr>
          </a:p>
        </p:txBody>
      </p:sp>
      <p:grpSp>
        <p:nvGrpSpPr>
          <p:cNvPr id="56326" name="Group 17"/>
          <p:cNvGrpSpPr/>
          <p:nvPr/>
        </p:nvGrpSpPr>
        <p:grpSpPr>
          <a:xfrm>
            <a:off x="8316913" y="6445250"/>
            <a:ext cx="792162" cy="366713"/>
            <a:chOff x="4649" y="4020"/>
            <a:chExt cx="499" cy="231"/>
          </a:xfrm>
        </p:grpSpPr>
        <p:pic>
          <p:nvPicPr>
            <p:cNvPr id="56327" name="Picture 1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28" name="Text Box 1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066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065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066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  <p:bldP spid="70660" grpId="0" animBg="1"/>
      <p:bldP spid="70661" grpId="0" build="p"/>
      <p:bldP spid="7066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/>
          <p:nvPr/>
        </p:nvSpPr>
        <p:spPr>
          <a:xfrm>
            <a:off x="1547813" y="476250"/>
            <a:ext cx="61928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sz="44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13-1</a:t>
            </a:r>
            <a:r>
              <a:rPr lang="en-US" altLang="zh-CN" sz="4400" dirty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 sz="4400" dirty="0">
                <a:solidFill>
                  <a:schemeClr val="bg1"/>
                </a:solidFill>
                <a:latin typeface="楷体_GB2312" pitchFamily="49" charset="-122"/>
              </a:rPr>
              <a:t>非正弦周期信号</a:t>
            </a:r>
            <a:endParaRPr lang="zh-CN" altLang="en-US" sz="44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25603" name="Text Box 3"/>
          <p:cNvSpPr txBox="1"/>
          <p:nvPr/>
        </p:nvSpPr>
        <p:spPr>
          <a:xfrm>
            <a:off x="755650" y="1214438"/>
            <a:ext cx="7920038" cy="214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</a:rPr>
              <a:t>生产实际中，经常会遇到非正弦周期电流电路。在电子技术、自动控制、计算机和无线电技术等方面，电压和电流往往都是周期性的非正弦波形。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25604" name="Rectangle 4"/>
          <p:cNvSpPr/>
          <p:nvPr/>
        </p:nvSpPr>
        <p:spPr>
          <a:xfrm>
            <a:off x="755650" y="3592513"/>
            <a:ext cx="5832475" cy="557212"/>
          </a:xfrm>
          <a:prstGeom prst="rect">
            <a:avLst/>
          </a:prstGeom>
          <a:noFill/>
          <a:ln w="38100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>
            <a:spAutoFit/>
          </a:bodyPr>
          <a:p>
            <a:pPr eaLnBrk="0" hangingPunct="0">
              <a:buFont typeface="Wingdings" panose="05000000000000000000" pitchFamily="2" charset="2"/>
              <a:buChar char="l"/>
            </a:pPr>
            <a:r>
              <a:rPr lang="en-US" altLang="zh-CN" dirty="0">
                <a:latin typeface="楷体_GB2312" pitchFamily="49" charset="-122"/>
              </a:rPr>
              <a:t>  </a:t>
            </a:r>
            <a:r>
              <a:rPr lang="zh-CN" altLang="en-US" dirty="0">
                <a:latin typeface="楷体_GB2312" pitchFamily="49" charset="-122"/>
              </a:rPr>
              <a:t>非正弦周期交流信号的特点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25607" name="Text Box 7"/>
          <p:cNvSpPr txBox="1"/>
          <p:nvPr/>
        </p:nvSpPr>
        <p:spPr>
          <a:xfrm>
            <a:off x="900113" y="4435475"/>
            <a:ext cx="2862262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r>
              <a:rPr lang="en-US" altLang="zh-CN" b="0" dirty="0">
                <a:latin typeface="楷体_GB2312" pitchFamily="49" charset="-122"/>
              </a:rPr>
              <a:t>(1)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不是正弦波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25610" name="Text Box 10"/>
          <p:cNvSpPr txBox="1"/>
          <p:nvPr/>
        </p:nvSpPr>
        <p:spPr>
          <a:xfrm>
            <a:off x="900113" y="5030788"/>
            <a:ext cx="3600450" cy="5191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r>
              <a:rPr lang="en-US" altLang="zh-CN" b="0" dirty="0">
                <a:latin typeface="楷体_GB2312" pitchFamily="49" charset="-122"/>
              </a:rPr>
              <a:t>(2)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按周期规律变化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25623" name="Line 23"/>
          <p:cNvSpPr/>
          <p:nvPr/>
        </p:nvSpPr>
        <p:spPr>
          <a:xfrm>
            <a:off x="4284663" y="5299075"/>
            <a:ext cx="792162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25624" name="Object 24"/>
          <p:cNvGraphicFramePr/>
          <p:nvPr/>
        </p:nvGraphicFramePr>
        <p:xfrm>
          <a:off x="5133975" y="5083175"/>
          <a:ext cx="29083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06500" imgH="228600" progId="Equation.3">
                  <p:embed/>
                </p:oleObj>
              </mc:Choice>
              <mc:Fallback>
                <p:oleObj name="" r:id="rId1" imgW="12065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33975" y="5083175"/>
                        <a:ext cx="290830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3" name="Group 2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40" name="Picture 3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41" name="Text Box 3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34" name="Group 3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38" name="Picture 3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9" name="Text Box 3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35" name="Group 3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036" name="Picture 3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7" name="Text Box 4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  <p:bldP spid="25603" grpId="0"/>
      <p:bldP spid="25604" grpId="0" animBg="1"/>
      <p:bldP spid="25607" grpId="0"/>
      <p:bldP spid="256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"/>
          <p:cNvGrpSpPr/>
          <p:nvPr/>
        </p:nvGrpSpPr>
        <p:grpSpPr>
          <a:xfrm>
            <a:off x="611188" y="1412875"/>
            <a:ext cx="1819275" cy="1143000"/>
            <a:chOff x="2064" y="528"/>
            <a:chExt cx="1776" cy="529"/>
          </a:xfrm>
        </p:grpSpPr>
        <p:grpSp>
          <p:nvGrpSpPr>
            <p:cNvPr id="57412" name="Group 4"/>
            <p:cNvGrpSpPr/>
            <p:nvPr/>
          </p:nvGrpSpPr>
          <p:grpSpPr>
            <a:xfrm>
              <a:off x="2064" y="528"/>
              <a:ext cx="960" cy="529"/>
              <a:chOff x="2064" y="528"/>
              <a:chExt cx="960" cy="529"/>
            </a:xfrm>
          </p:grpSpPr>
          <p:sp>
            <p:nvSpPr>
              <p:cNvPr id="57418" name="Line 5"/>
              <p:cNvSpPr/>
              <p:nvPr/>
            </p:nvSpPr>
            <p:spPr>
              <a:xfrm>
                <a:off x="2064" y="792"/>
                <a:ext cx="960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57419" name="Group 6"/>
              <p:cNvGrpSpPr/>
              <p:nvPr/>
            </p:nvGrpSpPr>
            <p:grpSpPr>
              <a:xfrm>
                <a:off x="2122" y="528"/>
                <a:ext cx="816" cy="529"/>
                <a:chOff x="2122" y="528"/>
                <a:chExt cx="816" cy="529"/>
              </a:xfrm>
            </p:grpSpPr>
            <p:sp>
              <p:nvSpPr>
                <p:cNvPr id="57420" name="Freeform 7"/>
                <p:cNvSpPr/>
                <p:nvPr/>
              </p:nvSpPr>
              <p:spPr>
                <a:xfrm>
                  <a:off x="2122" y="528"/>
                  <a:ext cx="408" cy="265"/>
                </a:xfrm>
                <a:custGeom>
                  <a:avLst/>
                  <a:gdLst>
                    <a:gd name="txL" fmla="*/ 0 w 408"/>
                    <a:gd name="txT" fmla="*/ 0 h 265"/>
                    <a:gd name="txR" fmla="*/ 408 w 408"/>
                    <a:gd name="txB" fmla="*/ 265 h 265"/>
                  </a:gdLst>
                  <a:ahLst/>
                  <a:cxnLst>
                    <a:cxn ang="0">
                      <a:pos x="0" y="264"/>
                    </a:cxn>
                    <a:cxn ang="0">
                      <a:pos x="34" y="192"/>
                    </a:cxn>
                    <a:cxn ang="0">
                      <a:pos x="68" y="129"/>
                    </a:cxn>
                    <a:cxn ang="0">
                      <a:pos x="103" y="76"/>
                    </a:cxn>
                    <a:cxn ang="0">
                      <a:pos x="137" y="31"/>
                    </a:cxn>
                    <a:cxn ang="0">
                      <a:pos x="166" y="8"/>
                    </a:cxn>
                    <a:cxn ang="0">
                      <a:pos x="200" y="0"/>
                    </a:cxn>
                    <a:cxn ang="0">
                      <a:pos x="235" y="8"/>
                    </a:cxn>
                    <a:cxn ang="0">
                      <a:pos x="269" y="31"/>
                    </a:cxn>
                    <a:cxn ang="0">
                      <a:pos x="303" y="76"/>
                    </a:cxn>
                    <a:cxn ang="0">
                      <a:pos x="338" y="129"/>
                    </a:cxn>
                    <a:cxn ang="0">
                      <a:pos x="372" y="196"/>
                    </a:cxn>
                    <a:cxn ang="0">
                      <a:pos x="407" y="264"/>
                    </a:cxn>
                  </a:cxnLst>
                  <a:rect l="txL" t="txT" r="txR" b="txB"/>
                  <a:pathLst>
                    <a:path w="408" h="265">
                      <a:moveTo>
                        <a:pt x="0" y="264"/>
                      </a:moveTo>
                      <a:lnTo>
                        <a:pt x="34" y="192"/>
                      </a:lnTo>
                      <a:lnTo>
                        <a:pt x="68" y="129"/>
                      </a:lnTo>
                      <a:lnTo>
                        <a:pt x="103" y="76"/>
                      </a:lnTo>
                      <a:lnTo>
                        <a:pt x="137" y="31"/>
                      </a:lnTo>
                      <a:lnTo>
                        <a:pt x="166" y="8"/>
                      </a:lnTo>
                      <a:lnTo>
                        <a:pt x="200" y="0"/>
                      </a:lnTo>
                      <a:lnTo>
                        <a:pt x="235" y="8"/>
                      </a:lnTo>
                      <a:lnTo>
                        <a:pt x="269" y="31"/>
                      </a:lnTo>
                      <a:lnTo>
                        <a:pt x="303" y="76"/>
                      </a:lnTo>
                      <a:lnTo>
                        <a:pt x="338" y="129"/>
                      </a:lnTo>
                      <a:lnTo>
                        <a:pt x="372" y="196"/>
                      </a:lnTo>
                      <a:lnTo>
                        <a:pt x="407" y="264"/>
                      </a:lnTo>
                    </a:path>
                  </a:pathLst>
                </a:custGeom>
                <a:noFill/>
                <a:ln w="28575" cap="rnd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  <p:sp>
              <p:nvSpPr>
                <p:cNvPr id="57421" name="Freeform 8"/>
                <p:cNvSpPr/>
                <p:nvPr/>
              </p:nvSpPr>
              <p:spPr>
                <a:xfrm>
                  <a:off x="2529" y="792"/>
                  <a:ext cx="409" cy="265"/>
                </a:xfrm>
                <a:custGeom>
                  <a:avLst/>
                  <a:gdLst>
                    <a:gd name="txL" fmla="*/ 0 w 409"/>
                    <a:gd name="txT" fmla="*/ 0 h 265"/>
                    <a:gd name="txR" fmla="*/ 409 w 409"/>
                    <a:gd name="txB" fmla="*/ 265 h 265"/>
                  </a:gdLst>
                  <a:ahLst/>
                  <a:cxnLst>
                    <a:cxn ang="0">
                      <a:pos x="408" y="0"/>
                    </a:cxn>
                    <a:cxn ang="0">
                      <a:pos x="373" y="71"/>
                    </a:cxn>
                    <a:cxn ang="0">
                      <a:pos x="339" y="134"/>
                    </a:cxn>
                    <a:cxn ang="0">
                      <a:pos x="304" y="187"/>
                    </a:cxn>
                    <a:cxn ang="0">
                      <a:pos x="270" y="232"/>
                    </a:cxn>
                    <a:cxn ang="0">
                      <a:pos x="241" y="255"/>
                    </a:cxn>
                    <a:cxn ang="0">
                      <a:pos x="206" y="264"/>
                    </a:cxn>
                    <a:cxn ang="0">
                      <a:pos x="172" y="255"/>
                    </a:cxn>
                    <a:cxn ang="0">
                      <a:pos x="137" y="232"/>
                    </a:cxn>
                    <a:cxn ang="0">
                      <a:pos x="103" y="187"/>
                    </a:cxn>
                    <a:cxn ang="0">
                      <a:pos x="68" y="134"/>
                    </a:cxn>
                    <a:cxn ang="0">
                      <a:pos x="34" y="6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09" h="265">
                      <a:moveTo>
                        <a:pt x="408" y="0"/>
                      </a:moveTo>
                      <a:lnTo>
                        <a:pt x="373" y="71"/>
                      </a:lnTo>
                      <a:lnTo>
                        <a:pt x="339" y="134"/>
                      </a:lnTo>
                      <a:lnTo>
                        <a:pt x="304" y="187"/>
                      </a:lnTo>
                      <a:lnTo>
                        <a:pt x="270" y="232"/>
                      </a:lnTo>
                      <a:lnTo>
                        <a:pt x="241" y="255"/>
                      </a:lnTo>
                      <a:lnTo>
                        <a:pt x="206" y="264"/>
                      </a:lnTo>
                      <a:lnTo>
                        <a:pt x="172" y="255"/>
                      </a:lnTo>
                      <a:lnTo>
                        <a:pt x="137" y="232"/>
                      </a:lnTo>
                      <a:lnTo>
                        <a:pt x="103" y="187"/>
                      </a:lnTo>
                      <a:lnTo>
                        <a:pt x="68" y="134"/>
                      </a:lnTo>
                      <a:lnTo>
                        <a:pt x="34" y="6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</p:grpSp>
        </p:grpSp>
        <p:grpSp>
          <p:nvGrpSpPr>
            <p:cNvPr id="57413" name="Group 9"/>
            <p:cNvGrpSpPr/>
            <p:nvPr/>
          </p:nvGrpSpPr>
          <p:grpSpPr>
            <a:xfrm>
              <a:off x="2880" y="528"/>
              <a:ext cx="960" cy="529"/>
              <a:chOff x="2880" y="528"/>
              <a:chExt cx="960" cy="529"/>
            </a:xfrm>
          </p:grpSpPr>
          <p:sp>
            <p:nvSpPr>
              <p:cNvPr id="57414" name="Line 10"/>
              <p:cNvSpPr/>
              <p:nvPr/>
            </p:nvSpPr>
            <p:spPr>
              <a:xfrm>
                <a:off x="2880" y="792"/>
                <a:ext cx="960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57415" name="Group 11"/>
              <p:cNvGrpSpPr/>
              <p:nvPr/>
            </p:nvGrpSpPr>
            <p:grpSpPr>
              <a:xfrm>
                <a:off x="2938" y="528"/>
                <a:ext cx="816" cy="529"/>
                <a:chOff x="2938" y="528"/>
                <a:chExt cx="816" cy="529"/>
              </a:xfrm>
            </p:grpSpPr>
            <p:sp>
              <p:nvSpPr>
                <p:cNvPr id="57416" name="Freeform 12"/>
                <p:cNvSpPr/>
                <p:nvPr/>
              </p:nvSpPr>
              <p:spPr>
                <a:xfrm>
                  <a:off x="2938" y="528"/>
                  <a:ext cx="408" cy="265"/>
                </a:xfrm>
                <a:custGeom>
                  <a:avLst/>
                  <a:gdLst>
                    <a:gd name="txL" fmla="*/ 0 w 408"/>
                    <a:gd name="txT" fmla="*/ 0 h 265"/>
                    <a:gd name="txR" fmla="*/ 408 w 408"/>
                    <a:gd name="txB" fmla="*/ 265 h 265"/>
                  </a:gdLst>
                  <a:ahLst/>
                  <a:cxnLst>
                    <a:cxn ang="0">
                      <a:pos x="0" y="264"/>
                    </a:cxn>
                    <a:cxn ang="0">
                      <a:pos x="34" y="192"/>
                    </a:cxn>
                    <a:cxn ang="0">
                      <a:pos x="68" y="129"/>
                    </a:cxn>
                    <a:cxn ang="0">
                      <a:pos x="103" y="76"/>
                    </a:cxn>
                    <a:cxn ang="0">
                      <a:pos x="137" y="31"/>
                    </a:cxn>
                    <a:cxn ang="0">
                      <a:pos x="166" y="8"/>
                    </a:cxn>
                    <a:cxn ang="0">
                      <a:pos x="200" y="0"/>
                    </a:cxn>
                    <a:cxn ang="0">
                      <a:pos x="235" y="8"/>
                    </a:cxn>
                    <a:cxn ang="0">
                      <a:pos x="269" y="31"/>
                    </a:cxn>
                    <a:cxn ang="0">
                      <a:pos x="303" y="76"/>
                    </a:cxn>
                    <a:cxn ang="0">
                      <a:pos x="338" y="129"/>
                    </a:cxn>
                    <a:cxn ang="0">
                      <a:pos x="372" y="196"/>
                    </a:cxn>
                    <a:cxn ang="0">
                      <a:pos x="407" y="264"/>
                    </a:cxn>
                  </a:cxnLst>
                  <a:rect l="txL" t="txT" r="txR" b="txB"/>
                  <a:pathLst>
                    <a:path w="408" h="265">
                      <a:moveTo>
                        <a:pt x="0" y="264"/>
                      </a:moveTo>
                      <a:lnTo>
                        <a:pt x="34" y="192"/>
                      </a:lnTo>
                      <a:lnTo>
                        <a:pt x="68" y="129"/>
                      </a:lnTo>
                      <a:lnTo>
                        <a:pt x="103" y="76"/>
                      </a:lnTo>
                      <a:lnTo>
                        <a:pt x="137" y="31"/>
                      </a:lnTo>
                      <a:lnTo>
                        <a:pt x="166" y="8"/>
                      </a:lnTo>
                      <a:lnTo>
                        <a:pt x="200" y="0"/>
                      </a:lnTo>
                      <a:lnTo>
                        <a:pt x="235" y="8"/>
                      </a:lnTo>
                      <a:lnTo>
                        <a:pt x="269" y="31"/>
                      </a:lnTo>
                      <a:lnTo>
                        <a:pt x="303" y="76"/>
                      </a:lnTo>
                      <a:lnTo>
                        <a:pt x="338" y="129"/>
                      </a:lnTo>
                      <a:lnTo>
                        <a:pt x="372" y="196"/>
                      </a:lnTo>
                      <a:lnTo>
                        <a:pt x="407" y="264"/>
                      </a:lnTo>
                    </a:path>
                  </a:pathLst>
                </a:custGeom>
                <a:noFill/>
                <a:ln w="28575" cap="rnd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  <p:sp>
              <p:nvSpPr>
                <p:cNvPr id="57417" name="Freeform 13"/>
                <p:cNvSpPr/>
                <p:nvPr/>
              </p:nvSpPr>
              <p:spPr>
                <a:xfrm>
                  <a:off x="3345" y="792"/>
                  <a:ext cx="409" cy="265"/>
                </a:xfrm>
                <a:custGeom>
                  <a:avLst/>
                  <a:gdLst>
                    <a:gd name="txL" fmla="*/ 0 w 409"/>
                    <a:gd name="txT" fmla="*/ 0 h 265"/>
                    <a:gd name="txR" fmla="*/ 409 w 409"/>
                    <a:gd name="txB" fmla="*/ 265 h 265"/>
                  </a:gdLst>
                  <a:ahLst/>
                  <a:cxnLst>
                    <a:cxn ang="0">
                      <a:pos x="408" y="0"/>
                    </a:cxn>
                    <a:cxn ang="0">
                      <a:pos x="373" y="71"/>
                    </a:cxn>
                    <a:cxn ang="0">
                      <a:pos x="339" y="134"/>
                    </a:cxn>
                    <a:cxn ang="0">
                      <a:pos x="304" y="187"/>
                    </a:cxn>
                    <a:cxn ang="0">
                      <a:pos x="270" y="232"/>
                    </a:cxn>
                    <a:cxn ang="0">
                      <a:pos x="241" y="255"/>
                    </a:cxn>
                    <a:cxn ang="0">
                      <a:pos x="206" y="264"/>
                    </a:cxn>
                    <a:cxn ang="0">
                      <a:pos x="172" y="255"/>
                    </a:cxn>
                    <a:cxn ang="0">
                      <a:pos x="137" y="232"/>
                    </a:cxn>
                    <a:cxn ang="0">
                      <a:pos x="103" y="187"/>
                    </a:cxn>
                    <a:cxn ang="0">
                      <a:pos x="68" y="134"/>
                    </a:cxn>
                    <a:cxn ang="0">
                      <a:pos x="34" y="6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09" h="265">
                      <a:moveTo>
                        <a:pt x="408" y="0"/>
                      </a:moveTo>
                      <a:lnTo>
                        <a:pt x="373" y="71"/>
                      </a:lnTo>
                      <a:lnTo>
                        <a:pt x="339" y="134"/>
                      </a:lnTo>
                      <a:lnTo>
                        <a:pt x="304" y="187"/>
                      </a:lnTo>
                      <a:lnTo>
                        <a:pt x="270" y="232"/>
                      </a:lnTo>
                      <a:lnTo>
                        <a:pt x="241" y="255"/>
                      </a:lnTo>
                      <a:lnTo>
                        <a:pt x="206" y="264"/>
                      </a:lnTo>
                      <a:lnTo>
                        <a:pt x="172" y="255"/>
                      </a:lnTo>
                      <a:lnTo>
                        <a:pt x="137" y="232"/>
                      </a:lnTo>
                      <a:lnTo>
                        <a:pt x="103" y="187"/>
                      </a:lnTo>
                      <a:lnTo>
                        <a:pt x="68" y="134"/>
                      </a:lnTo>
                      <a:lnTo>
                        <a:pt x="34" y="6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</p:grpSp>
        </p:grpSp>
      </p:grpSp>
      <p:sp>
        <p:nvSpPr>
          <p:cNvPr id="23578" name="AutoShape 26"/>
          <p:cNvSpPr/>
          <p:nvPr/>
        </p:nvSpPr>
        <p:spPr>
          <a:xfrm>
            <a:off x="2700338" y="1844675"/>
            <a:ext cx="719137" cy="215900"/>
          </a:xfrm>
          <a:prstGeom prst="rightArrow">
            <a:avLst>
              <a:gd name="adj1" fmla="val 50000"/>
              <a:gd name="adj2" fmla="val 83272"/>
            </a:avLst>
          </a:prstGeom>
          <a:solidFill>
            <a:srgbClr val="3399FF"/>
          </a:solidFill>
          <a:ln w="28575">
            <a:noFill/>
          </a:ln>
        </p:spPr>
        <p:txBody>
          <a:bodyPr wrap="none" anchor="ctr" anchorCtr="0"/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23579" name="AutoShape 27"/>
          <p:cNvSpPr/>
          <p:nvPr/>
        </p:nvSpPr>
        <p:spPr>
          <a:xfrm>
            <a:off x="5867400" y="1844675"/>
            <a:ext cx="792163" cy="215900"/>
          </a:xfrm>
          <a:prstGeom prst="rightArrow">
            <a:avLst>
              <a:gd name="adj1" fmla="val 50000"/>
              <a:gd name="adj2" fmla="val 91727"/>
            </a:avLst>
          </a:prstGeom>
          <a:solidFill>
            <a:srgbClr val="3399FF"/>
          </a:solidFill>
          <a:ln w="28575">
            <a:noFill/>
          </a:ln>
        </p:spPr>
        <p:txBody>
          <a:bodyPr wrap="none" anchor="ctr" anchorCtr="0"/>
          <a:p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7" name="Group 28"/>
          <p:cNvGrpSpPr/>
          <p:nvPr/>
        </p:nvGrpSpPr>
        <p:grpSpPr>
          <a:xfrm>
            <a:off x="6516688" y="1628775"/>
            <a:ext cx="2209800" cy="736600"/>
            <a:chOff x="4512" y="1440"/>
            <a:chExt cx="912" cy="240"/>
          </a:xfrm>
        </p:grpSpPr>
        <p:sp>
          <p:nvSpPr>
            <p:cNvPr id="57409" name="Line 29"/>
            <p:cNvSpPr/>
            <p:nvPr/>
          </p:nvSpPr>
          <p:spPr>
            <a:xfrm>
              <a:off x="4512" y="1680"/>
              <a:ext cx="91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0" name="Freeform 30"/>
            <p:cNvSpPr/>
            <p:nvPr/>
          </p:nvSpPr>
          <p:spPr>
            <a:xfrm>
              <a:off x="5040" y="1440"/>
              <a:ext cx="192" cy="240"/>
            </a:xfrm>
            <a:custGeom>
              <a:avLst/>
              <a:gdLst>
                <a:gd name="txL" fmla="*/ 0 w 192"/>
                <a:gd name="txT" fmla="*/ 0 h 240"/>
                <a:gd name="txR" fmla="*/ 192 w 192"/>
                <a:gd name="txB" fmla="*/ 240 h 240"/>
              </a:gdLst>
              <a:ahLst/>
              <a:cxnLst>
                <a:cxn ang="0">
                  <a:pos x="0" y="240"/>
                </a:cxn>
                <a:cxn ang="0">
                  <a:pos x="96" y="0"/>
                </a:cxn>
                <a:cxn ang="0">
                  <a:pos x="192" y="240"/>
                </a:cxn>
              </a:cxnLst>
              <a:rect l="txL" t="txT" r="txR" b="txB"/>
              <a:pathLst>
                <a:path w="192" h="240">
                  <a:moveTo>
                    <a:pt x="0" y="240"/>
                  </a:moveTo>
                  <a:cubicBezTo>
                    <a:pt x="32" y="120"/>
                    <a:pt x="64" y="0"/>
                    <a:pt x="96" y="0"/>
                  </a:cubicBezTo>
                  <a:cubicBezTo>
                    <a:pt x="128" y="0"/>
                    <a:pt x="160" y="120"/>
                    <a:pt x="192" y="24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7411" name="Freeform 31"/>
            <p:cNvSpPr/>
            <p:nvPr/>
          </p:nvSpPr>
          <p:spPr>
            <a:xfrm>
              <a:off x="4608" y="1440"/>
              <a:ext cx="192" cy="240"/>
            </a:xfrm>
            <a:custGeom>
              <a:avLst/>
              <a:gdLst>
                <a:gd name="txL" fmla="*/ 0 w 192"/>
                <a:gd name="txT" fmla="*/ 0 h 240"/>
                <a:gd name="txR" fmla="*/ 192 w 192"/>
                <a:gd name="txB" fmla="*/ 240 h 240"/>
              </a:gdLst>
              <a:ahLst/>
              <a:cxnLst>
                <a:cxn ang="0">
                  <a:pos x="0" y="240"/>
                </a:cxn>
                <a:cxn ang="0">
                  <a:pos x="96" y="0"/>
                </a:cxn>
                <a:cxn ang="0">
                  <a:pos x="192" y="240"/>
                </a:cxn>
              </a:cxnLst>
              <a:rect l="txL" t="txT" r="txR" b="txB"/>
              <a:pathLst>
                <a:path w="192" h="240">
                  <a:moveTo>
                    <a:pt x="0" y="240"/>
                  </a:moveTo>
                  <a:cubicBezTo>
                    <a:pt x="32" y="120"/>
                    <a:pt x="64" y="0"/>
                    <a:pt x="96" y="0"/>
                  </a:cubicBezTo>
                  <a:cubicBezTo>
                    <a:pt x="128" y="0"/>
                    <a:pt x="160" y="120"/>
                    <a:pt x="192" y="24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</p:grpSp>
      <p:sp>
        <p:nvSpPr>
          <p:cNvPr id="23595" name="Rectangle 43"/>
          <p:cNvSpPr/>
          <p:nvPr/>
        </p:nvSpPr>
        <p:spPr>
          <a:xfrm>
            <a:off x="611188" y="2997200"/>
            <a:ext cx="1512887" cy="579438"/>
          </a:xfrm>
          <a:prstGeom prst="rect">
            <a:avLst/>
          </a:prstGeom>
          <a:noFill/>
          <a:ln w="38100">
            <a:noFill/>
          </a:ln>
        </p:spPr>
        <p:txBody>
          <a:bodyPr lIns="92075" tIns="46038" rIns="92075" bIns="46038">
            <a:spAutoFit/>
          </a:bodyPr>
          <a:p>
            <a:pPr eaLnBrk="0" hangingPunct="0"/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1-2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96" name="Text Box 44"/>
          <p:cNvSpPr txBox="1"/>
          <p:nvPr/>
        </p:nvSpPr>
        <p:spPr>
          <a:xfrm>
            <a:off x="1619250" y="2997200"/>
            <a:ext cx="54006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示波器内的水平扫描电压。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8" name="Group 79"/>
          <p:cNvGrpSpPr/>
          <p:nvPr/>
        </p:nvGrpSpPr>
        <p:grpSpPr>
          <a:xfrm>
            <a:off x="3108325" y="3786188"/>
            <a:ext cx="3984625" cy="2667000"/>
            <a:chOff x="1958" y="1977"/>
            <a:chExt cx="3125" cy="2096"/>
          </a:xfrm>
        </p:grpSpPr>
        <p:sp>
          <p:nvSpPr>
            <p:cNvPr id="57374" name="Line 19"/>
            <p:cNvSpPr/>
            <p:nvPr/>
          </p:nvSpPr>
          <p:spPr>
            <a:xfrm>
              <a:off x="3648" y="2618"/>
              <a:ext cx="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5" name="Line 45"/>
            <p:cNvSpPr/>
            <p:nvPr/>
          </p:nvSpPr>
          <p:spPr>
            <a:xfrm>
              <a:off x="2006" y="1986"/>
              <a:ext cx="18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6" name="Line 46"/>
            <p:cNvSpPr/>
            <p:nvPr/>
          </p:nvSpPr>
          <p:spPr>
            <a:xfrm>
              <a:off x="2006" y="3433"/>
              <a:ext cx="18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7" name="AutoShape 47"/>
            <p:cNvSpPr/>
            <p:nvPr/>
          </p:nvSpPr>
          <p:spPr>
            <a:xfrm>
              <a:off x="1958" y="3385"/>
              <a:ext cx="48" cy="47"/>
            </a:xfrm>
            <a:prstGeom prst="flowChartConnector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7378" name="AutoShape 48"/>
            <p:cNvSpPr/>
            <p:nvPr/>
          </p:nvSpPr>
          <p:spPr>
            <a:xfrm>
              <a:off x="1958" y="1977"/>
              <a:ext cx="48" cy="47"/>
            </a:xfrm>
            <a:prstGeom prst="flowChartConnector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7379" name="AutoShape 49"/>
            <p:cNvSpPr/>
            <p:nvPr/>
          </p:nvSpPr>
          <p:spPr>
            <a:xfrm>
              <a:off x="3288" y="2227"/>
              <a:ext cx="1037" cy="976"/>
            </a:xfrm>
            <a:prstGeom prst="flowChartConnector">
              <a:avLst/>
            </a:prstGeom>
            <a:gradFill rotWithShape="1">
              <a:gsLst>
                <a:gs pos="0">
                  <a:srgbClr val="184776"/>
                </a:gs>
                <a:gs pos="100000">
                  <a:srgbClr val="3399FF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57380" name="Group 50"/>
            <p:cNvGrpSpPr/>
            <p:nvPr/>
          </p:nvGrpSpPr>
          <p:grpSpPr>
            <a:xfrm>
              <a:off x="3536" y="2588"/>
              <a:ext cx="584" cy="252"/>
              <a:chOff x="3106" y="1651"/>
              <a:chExt cx="584" cy="252"/>
            </a:xfrm>
          </p:grpSpPr>
          <p:sp>
            <p:nvSpPr>
              <p:cNvPr id="57406" name="Freeform 51"/>
              <p:cNvSpPr/>
              <p:nvPr/>
            </p:nvSpPr>
            <p:spPr>
              <a:xfrm>
                <a:off x="3106" y="1651"/>
                <a:ext cx="292" cy="126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126"/>
                  </a:cxn>
                  <a:cxn ang="0">
                    <a:pos x="146" y="0"/>
                  </a:cxn>
                  <a:cxn ang="0">
                    <a:pos x="292" y="126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solidFill>
                <a:srgbClr val="FFFFCC"/>
              </a:solidFill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57407" name="Freeform 52"/>
              <p:cNvSpPr/>
              <p:nvPr/>
            </p:nvSpPr>
            <p:spPr>
              <a:xfrm rot="10800000">
                <a:off x="3398" y="1777"/>
                <a:ext cx="292" cy="126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126"/>
                  </a:cxn>
                  <a:cxn ang="0">
                    <a:pos x="146" y="0"/>
                  </a:cxn>
                  <a:cxn ang="0">
                    <a:pos x="292" y="126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solidFill>
                <a:srgbClr val="FFFFCC"/>
              </a:solidFill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57408" name="Line 53"/>
              <p:cNvSpPr/>
              <p:nvPr/>
            </p:nvSpPr>
            <p:spPr>
              <a:xfrm>
                <a:off x="3106" y="1777"/>
                <a:ext cx="584" cy="1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7381" name="Line 54"/>
            <p:cNvSpPr/>
            <p:nvPr/>
          </p:nvSpPr>
          <p:spPr>
            <a:xfrm rot="-5400000">
              <a:off x="3840" y="2311"/>
              <a:ext cx="0" cy="2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2" name="Line 55"/>
            <p:cNvSpPr/>
            <p:nvPr/>
          </p:nvSpPr>
          <p:spPr>
            <a:xfrm rot="-5400000">
              <a:off x="3840" y="2890"/>
              <a:ext cx="0" cy="2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3" name="Line 56"/>
            <p:cNvSpPr/>
            <p:nvPr/>
          </p:nvSpPr>
          <p:spPr>
            <a:xfrm rot="10800000">
              <a:off x="3396" y="2573"/>
              <a:ext cx="0" cy="2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4" name="Line 57"/>
            <p:cNvSpPr/>
            <p:nvPr/>
          </p:nvSpPr>
          <p:spPr>
            <a:xfrm rot="10800000">
              <a:off x="4260" y="2573"/>
              <a:ext cx="0" cy="2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5" name="Line 58"/>
            <p:cNvSpPr/>
            <p:nvPr/>
          </p:nvSpPr>
          <p:spPr>
            <a:xfrm>
              <a:off x="3828" y="1986"/>
              <a:ext cx="0" cy="43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6" name="Line 59"/>
            <p:cNvSpPr/>
            <p:nvPr/>
          </p:nvSpPr>
          <p:spPr>
            <a:xfrm>
              <a:off x="2436" y="2669"/>
              <a:ext cx="96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7" name="Line 60"/>
            <p:cNvSpPr/>
            <p:nvPr/>
          </p:nvSpPr>
          <p:spPr>
            <a:xfrm rot="5400000" flipH="1">
              <a:off x="2101" y="2993"/>
              <a:ext cx="672" cy="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8" name="Arc 61"/>
            <p:cNvSpPr/>
            <p:nvPr/>
          </p:nvSpPr>
          <p:spPr>
            <a:xfrm>
              <a:off x="2417" y="3294"/>
              <a:ext cx="201" cy="336"/>
            </a:xfrm>
            <a:custGeom>
              <a:avLst/>
              <a:gdLst>
                <a:gd name="txL" fmla="*/ 0 w 22649"/>
                <a:gd name="txT" fmla="*/ 0 h 43200"/>
                <a:gd name="txR" fmla="*/ 22649 w 22649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1"/>
                </a:cxn>
              </a:cxnLst>
              <a:rect l="txL" t="txT" r="txR" b="txB"/>
              <a:pathLst>
                <a:path w="22649" h="43200" fill="none">
                  <a:moveTo>
                    <a:pt x="1048" y="0"/>
                  </a:moveTo>
                  <a:cubicBezTo>
                    <a:pt x="12978" y="0"/>
                    <a:pt x="22649" y="9670"/>
                    <a:pt x="22649" y="21600"/>
                  </a:cubicBezTo>
                  <a:cubicBezTo>
                    <a:pt x="22649" y="33529"/>
                    <a:pt x="12978" y="43200"/>
                    <a:pt x="1049" y="43200"/>
                  </a:cubicBezTo>
                  <a:cubicBezTo>
                    <a:pt x="699" y="43200"/>
                    <a:pt x="349" y="43191"/>
                    <a:pt x="0" y="43174"/>
                  </a:cubicBezTo>
                </a:path>
                <a:path w="22649" h="43200" stroke="0">
                  <a:moveTo>
                    <a:pt x="1048" y="0"/>
                  </a:moveTo>
                  <a:cubicBezTo>
                    <a:pt x="12978" y="0"/>
                    <a:pt x="22649" y="9670"/>
                    <a:pt x="22649" y="21600"/>
                  </a:cubicBezTo>
                  <a:cubicBezTo>
                    <a:pt x="22649" y="33529"/>
                    <a:pt x="12978" y="43200"/>
                    <a:pt x="1049" y="43200"/>
                  </a:cubicBezTo>
                  <a:cubicBezTo>
                    <a:pt x="699" y="43200"/>
                    <a:pt x="349" y="43191"/>
                    <a:pt x="0" y="43174"/>
                  </a:cubicBezTo>
                  <a:lnTo>
                    <a:pt x="1049" y="21600"/>
                  </a:lnTo>
                  <a:close/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7389" name="Line 62"/>
            <p:cNvSpPr/>
            <p:nvPr/>
          </p:nvSpPr>
          <p:spPr>
            <a:xfrm>
              <a:off x="2438" y="3612"/>
              <a:ext cx="1" cy="26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0" name="Line 63"/>
            <p:cNvSpPr/>
            <p:nvPr/>
          </p:nvSpPr>
          <p:spPr>
            <a:xfrm>
              <a:off x="2439" y="3884"/>
              <a:ext cx="3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1" name="AutoShape 64"/>
            <p:cNvSpPr/>
            <p:nvPr/>
          </p:nvSpPr>
          <p:spPr>
            <a:xfrm>
              <a:off x="4503" y="3884"/>
              <a:ext cx="48" cy="47"/>
            </a:xfrm>
            <a:prstGeom prst="flowChartConnector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7392" name="AutoShape 65"/>
            <p:cNvSpPr/>
            <p:nvPr/>
          </p:nvSpPr>
          <p:spPr>
            <a:xfrm>
              <a:off x="2832" y="3882"/>
              <a:ext cx="48" cy="47"/>
            </a:xfrm>
            <a:prstGeom prst="flowChartConnector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7393" name="Line 66"/>
            <p:cNvSpPr/>
            <p:nvPr/>
          </p:nvSpPr>
          <p:spPr>
            <a:xfrm>
              <a:off x="4563" y="3929"/>
              <a:ext cx="52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4" name="Line 67"/>
            <p:cNvSpPr/>
            <p:nvPr/>
          </p:nvSpPr>
          <p:spPr>
            <a:xfrm>
              <a:off x="3828" y="2998"/>
              <a:ext cx="0" cy="43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5" name="Line 68"/>
            <p:cNvSpPr/>
            <p:nvPr/>
          </p:nvSpPr>
          <p:spPr>
            <a:xfrm>
              <a:off x="4260" y="2669"/>
              <a:ext cx="8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6" name="Line 69"/>
            <p:cNvSpPr/>
            <p:nvPr/>
          </p:nvSpPr>
          <p:spPr>
            <a:xfrm flipH="1">
              <a:off x="5057" y="2659"/>
              <a:ext cx="11" cy="125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7397" name="Group 70"/>
            <p:cNvGrpSpPr/>
            <p:nvPr/>
          </p:nvGrpSpPr>
          <p:grpSpPr>
            <a:xfrm>
              <a:off x="2880" y="3612"/>
              <a:ext cx="1432" cy="461"/>
              <a:chOff x="2921" y="2910"/>
              <a:chExt cx="961" cy="336"/>
            </a:xfrm>
          </p:grpSpPr>
          <p:sp>
            <p:nvSpPr>
              <p:cNvPr id="57398" name="Line 71"/>
              <p:cNvSpPr/>
              <p:nvPr/>
            </p:nvSpPr>
            <p:spPr>
              <a:xfrm flipV="1">
                <a:off x="2921" y="2911"/>
                <a:ext cx="240" cy="335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99" name="Line 72"/>
              <p:cNvSpPr/>
              <p:nvPr/>
            </p:nvSpPr>
            <p:spPr>
              <a:xfrm>
                <a:off x="3161" y="2911"/>
                <a:ext cx="1" cy="335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400" name="Line 73"/>
              <p:cNvSpPr/>
              <p:nvPr/>
            </p:nvSpPr>
            <p:spPr>
              <a:xfrm flipV="1">
                <a:off x="3161" y="2911"/>
                <a:ext cx="240" cy="335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401" name="Line 74"/>
              <p:cNvSpPr/>
              <p:nvPr/>
            </p:nvSpPr>
            <p:spPr>
              <a:xfrm>
                <a:off x="3401" y="2911"/>
                <a:ext cx="1" cy="335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402" name="Line 75"/>
              <p:cNvSpPr/>
              <p:nvPr/>
            </p:nvSpPr>
            <p:spPr>
              <a:xfrm flipV="1">
                <a:off x="3401" y="2910"/>
                <a:ext cx="240" cy="335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403" name="Line 76"/>
              <p:cNvSpPr/>
              <p:nvPr/>
            </p:nvSpPr>
            <p:spPr>
              <a:xfrm>
                <a:off x="3641" y="2910"/>
                <a:ext cx="1" cy="335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404" name="Line 77"/>
              <p:cNvSpPr/>
              <p:nvPr/>
            </p:nvSpPr>
            <p:spPr>
              <a:xfrm flipV="1">
                <a:off x="3641" y="2911"/>
                <a:ext cx="240" cy="335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405" name="Line 78"/>
              <p:cNvSpPr/>
              <p:nvPr/>
            </p:nvSpPr>
            <p:spPr>
              <a:xfrm>
                <a:off x="3881" y="2911"/>
                <a:ext cx="1" cy="33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23632" name="AutoShape 80" descr="羊皮纸"/>
          <p:cNvSpPr/>
          <p:nvPr/>
        </p:nvSpPr>
        <p:spPr>
          <a:xfrm>
            <a:off x="468313" y="4221163"/>
            <a:ext cx="2444750" cy="679450"/>
          </a:xfrm>
          <a:prstGeom prst="wedgeRoundRectCallout">
            <a:avLst>
              <a:gd name="adj1" fmla="val 129741"/>
              <a:gd name="adj2" fmla="val 228736"/>
              <a:gd name="adj3" fmla="val 16667"/>
            </a:avLst>
          </a:prstGeom>
          <a:blipFill rotWithShape="1">
            <a:blip r:embed="rId1"/>
          </a:blipFill>
          <a:ln w="57150">
            <a:noFill/>
          </a:ln>
        </p:spPr>
        <p:txBody>
          <a:bodyPr wrap="none" anchor="ctr" anchorCtr="0"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周期性锯齿波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7354" name="Group 10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7372" name="Picture 10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73" name="Text Box 10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7355" name="Group 10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7370" name="Picture 110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71" name="Text Box 11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3667" name="Rectangle 115"/>
          <p:cNvSpPr/>
          <p:nvPr/>
        </p:nvSpPr>
        <p:spPr>
          <a:xfrm>
            <a:off x="539750" y="458788"/>
            <a:ext cx="1655763" cy="579437"/>
          </a:xfrm>
          <a:prstGeom prst="rect">
            <a:avLst/>
          </a:prstGeom>
          <a:noFill/>
          <a:ln w="38100">
            <a:noFill/>
          </a:ln>
        </p:spPr>
        <p:txBody>
          <a:bodyPr lIns="92075" tIns="46038" rIns="92075" bIns="46038">
            <a:spAutoFit/>
          </a:bodyPr>
          <a:p>
            <a:pPr eaLnBrk="0" hangingPunct="0"/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1-1</a:t>
            </a:r>
            <a:endParaRPr lang="en-US" altLang="zh-CN" sz="3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668" name="Rectangle 116"/>
          <p:cNvSpPr/>
          <p:nvPr/>
        </p:nvSpPr>
        <p:spPr>
          <a:xfrm>
            <a:off x="1692275" y="549275"/>
            <a:ext cx="5153025" cy="4857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p>
            <a:pPr eaLnBrk="0" hangingPunct="0">
              <a:lnSpc>
                <a:spcPct val="80000"/>
              </a:lnSpc>
            </a:pPr>
            <a:r>
              <a:rPr lang="zh-CN" altLang="en-US" dirty="0">
                <a:latin typeface="楷体_GB2312" pitchFamily="49" charset="-122"/>
              </a:rPr>
              <a:t>半波整流电路的输出信号。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57358" name="Group 11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7368" name="Picture 11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69" name="Text Box 11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4" name="Group 120"/>
          <p:cNvGrpSpPr/>
          <p:nvPr/>
        </p:nvGrpSpPr>
        <p:grpSpPr>
          <a:xfrm>
            <a:off x="3348038" y="1123950"/>
            <a:ext cx="2449512" cy="1657350"/>
            <a:chOff x="2109" y="708"/>
            <a:chExt cx="1543" cy="1044"/>
          </a:xfrm>
        </p:grpSpPr>
        <p:sp>
          <p:nvSpPr>
            <p:cNvPr id="57360" name="Line 96"/>
            <p:cNvSpPr/>
            <p:nvPr/>
          </p:nvSpPr>
          <p:spPr>
            <a:xfrm>
              <a:off x="2835" y="890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7361" name="Line 97"/>
            <p:cNvSpPr/>
            <p:nvPr/>
          </p:nvSpPr>
          <p:spPr>
            <a:xfrm>
              <a:off x="3425" y="890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62" name="Line 98"/>
            <p:cNvSpPr/>
            <p:nvPr/>
          </p:nvSpPr>
          <p:spPr>
            <a:xfrm>
              <a:off x="2109" y="1752"/>
              <a:ext cx="154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grpSp>
          <p:nvGrpSpPr>
            <p:cNvPr id="57363" name="Group 99"/>
            <p:cNvGrpSpPr/>
            <p:nvPr/>
          </p:nvGrpSpPr>
          <p:grpSpPr>
            <a:xfrm rot="-5400000">
              <a:off x="2562" y="753"/>
              <a:ext cx="363" cy="272"/>
              <a:chOff x="657" y="935"/>
              <a:chExt cx="363" cy="272"/>
            </a:xfrm>
          </p:grpSpPr>
          <p:sp>
            <p:nvSpPr>
              <p:cNvPr id="57366" name="Line 100"/>
              <p:cNvSpPr/>
              <p:nvPr/>
            </p:nvSpPr>
            <p:spPr>
              <a:xfrm>
                <a:off x="657" y="1207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53" name="AutoShape 101"/>
              <p:cNvSpPr>
                <a:spLocks noChangeArrowheads="1"/>
              </p:cNvSpPr>
              <p:nvPr/>
            </p:nvSpPr>
            <p:spPr bwMode="auto">
              <a:xfrm rot="10800000">
                <a:off x="657" y="935"/>
                <a:ext cx="363" cy="272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</p:txBody>
          </p:sp>
        </p:grpSp>
        <p:sp>
          <p:nvSpPr>
            <p:cNvPr id="57364" name="Rectangle 102"/>
            <p:cNvSpPr/>
            <p:nvPr/>
          </p:nvSpPr>
          <p:spPr>
            <a:xfrm>
              <a:off x="3361" y="116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7365" name="Line 95"/>
            <p:cNvSpPr/>
            <p:nvPr/>
          </p:nvSpPr>
          <p:spPr>
            <a:xfrm>
              <a:off x="2109" y="890"/>
              <a:ext cx="8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2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8" dur="2000"/>
                                        <p:tgtEl>
                                          <p:spTgt spid="2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8" grpId="0" animBg="1"/>
      <p:bldP spid="23579" grpId="0" animBg="1"/>
      <p:bldP spid="23595" grpId="0"/>
      <p:bldP spid="23596" grpId="0"/>
      <p:bldP spid="23632" grpId="0" animBg="1"/>
      <p:bldP spid="23667" grpId="0"/>
      <p:bldP spid="236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2"/>
          <p:cNvSpPr txBox="1"/>
          <p:nvPr/>
        </p:nvSpPr>
        <p:spPr>
          <a:xfrm>
            <a:off x="1547813" y="620713"/>
            <a:ext cx="4895850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脉冲电路中的脉冲信号。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1258888" y="1341438"/>
            <a:ext cx="6858000" cy="3733800"/>
            <a:chOff x="864" y="1296"/>
            <a:chExt cx="4320" cy="2352"/>
          </a:xfrm>
        </p:grpSpPr>
        <p:sp>
          <p:nvSpPr>
            <p:cNvPr id="58382" name="Line 3"/>
            <p:cNvSpPr/>
            <p:nvPr/>
          </p:nvSpPr>
          <p:spPr>
            <a:xfrm>
              <a:off x="864" y="1296"/>
              <a:ext cx="0" cy="1824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8383" name="Line 5"/>
            <p:cNvSpPr/>
            <p:nvPr/>
          </p:nvSpPr>
          <p:spPr>
            <a:xfrm>
              <a:off x="884" y="3113"/>
              <a:ext cx="399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84" name="Line 7"/>
            <p:cNvSpPr/>
            <p:nvPr/>
          </p:nvSpPr>
          <p:spPr>
            <a:xfrm>
              <a:off x="864" y="1920"/>
              <a:ext cx="52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5" name="Line 8"/>
            <p:cNvSpPr/>
            <p:nvPr/>
          </p:nvSpPr>
          <p:spPr>
            <a:xfrm>
              <a:off x="1392" y="1920"/>
              <a:ext cx="0" cy="119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6" name="Line 9"/>
            <p:cNvSpPr/>
            <p:nvPr/>
          </p:nvSpPr>
          <p:spPr>
            <a:xfrm>
              <a:off x="2976" y="1920"/>
              <a:ext cx="52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7" name="Line 10"/>
            <p:cNvSpPr/>
            <p:nvPr/>
          </p:nvSpPr>
          <p:spPr>
            <a:xfrm>
              <a:off x="1920" y="1920"/>
              <a:ext cx="52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8" name="Line 11"/>
            <p:cNvSpPr/>
            <p:nvPr/>
          </p:nvSpPr>
          <p:spPr>
            <a:xfrm>
              <a:off x="4032" y="1922"/>
              <a:ext cx="52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9" name="Line 12"/>
            <p:cNvSpPr/>
            <p:nvPr/>
          </p:nvSpPr>
          <p:spPr>
            <a:xfrm>
              <a:off x="1920" y="1920"/>
              <a:ext cx="0" cy="119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0" name="Line 13"/>
            <p:cNvSpPr/>
            <p:nvPr/>
          </p:nvSpPr>
          <p:spPr>
            <a:xfrm>
              <a:off x="2448" y="1922"/>
              <a:ext cx="0" cy="119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1" name="Line 14"/>
            <p:cNvSpPr/>
            <p:nvPr/>
          </p:nvSpPr>
          <p:spPr>
            <a:xfrm>
              <a:off x="2976" y="1922"/>
              <a:ext cx="0" cy="119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2" name="Line 15"/>
            <p:cNvSpPr/>
            <p:nvPr/>
          </p:nvSpPr>
          <p:spPr>
            <a:xfrm>
              <a:off x="3504" y="1922"/>
              <a:ext cx="0" cy="119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3" name="Line 16"/>
            <p:cNvSpPr/>
            <p:nvPr/>
          </p:nvSpPr>
          <p:spPr>
            <a:xfrm>
              <a:off x="4560" y="1922"/>
              <a:ext cx="0" cy="119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4" name="Line 17"/>
            <p:cNvSpPr/>
            <p:nvPr/>
          </p:nvSpPr>
          <p:spPr>
            <a:xfrm>
              <a:off x="4032" y="1922"/>
              <a:ext cx="0" cy="119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5" name="Line 18"/>
            <p:cNvSpPr/>
            <p:nvPr/>
          </p:nvSpPr>
          <p:spPr>
            <a:xfrm>
              <a:off x="864" y="3264"/>
              <a:ext cx="0" cy="384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6" name="Line 19"/>
            <p:cNvSpPr/>
            <p:nvPr/>
          </p:nvSpPr>
          <p:spPr>
            <a:xfrm>
              <a:off x="1920" y="3264"/>
              <a:ext cx="0" cy="384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7" name="Line 20"/>
            <p:cNvSpPr/>
            <p:nvPr/>
          </p:nvSpPr>
          <p:spPr>
            <a:xfrm>
              <a:off x="1680" y="3456"/>
              <a:ext cx="24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8" name="Line 21"/>
            <p:cNvSpPr/>
            <p:nvPr/>
          </p:nvSpPr>
          <p:spPr>
            <a:xfrm flipH="1">
              <a:off x="865" y="3456"/>
              <a:ext cx="24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9" name="Text Box 22"/>
            <p:cNvSpPr txBox="1"/>
            <p:nvPr/>
          </p:nvSpPr>
          <p:spPr>
            <a:xfrm>
              <a:off x="1105" y="3129"/>
              <a:ext cx="575" cy="44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4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T</a:t>
              </a:r>
              <a:endPara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00" name="Text Box 23"/>
            <p:cNvSpPr txBox="1"/>
            <p:nvPr/>
          </p:nvSpPr>
          <p:spPr>
            <a:xfrm>
              <a:off x="4848" y="2784"/>
              <a:ext cx="336" cy="44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4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04" name="Rectangle 24"/>
          <p:cNvSpPr/>
          <p:nvPr/>
        </p:nvSpPr>
        <p:spPr>
          <a:xfrm>
            <a:off x="395288" y="620713"/>
            <a:ext cx="1223962" cy="579437"/>
          </a:xfrm>
          <a:prstGeom prst="rect">
            <a:avLst/>
          </a:prstGeom>
          <a:noFill/>
          <a:ln w="38100">
            <a:noFill/>
          </a:ln>
        </p:spPr>
        <p:txBody>
          <a:bodyPr lIns="92075" tIns="46038" rIns="92075" bIns="46038">
            <a:spAutoFit/>
          </a:bodyPr>
          <a:p>
            <a:pPr eaLnBrk="0" hangingPunct="0"/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1-3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8373" name="Group 5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8380" name="Picture 5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81" name="Text Box 5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8374" name="Group 5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8378" name="Picture 5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79" name="Text Box 5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8375" name="Group 60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8376" name="Picture 6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77" name="Text Box 6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5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/>
          <p:nvPr/>
        </p:nvSpPr>
        <p:spPr>
          <a:xfrm>
            <a:off x="1476375" y="404813"/>
            <a:ext cx="3597275" cy="895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dirty="0">
                <a:latin typeface="Times New Roman" panose="02020603050405020304" pitchFamily="18" charset="0"/>
              </a:rPr>
              <a:t>交、直流共存电路。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85"/>
          <p:cNvGrpSpPr/>
          <p:nvPr/>
        </p:nvGrpSpPr>
        <p:grpSpPr>
          <a:xfrm>
            <a:off x="6443663" y="1700213"/>
            <a:ext cx="2414587" cy="1974850"/>
            <a:chOff x="4080" y="756"/>
            <a:chExt cx="1521" cy="1244"/>
          </a:xfrm>
        </p:grpSpPr>
        <p:sp>
          <p:nvSpPr>
            <p:cNvPr id="59452" name="Line 5"/>
            <p:cNvSpPr/>
            <p:nvPr/>
          </p:nvSpPr>
          <p:spPr>
            <a:xfrm flipH="1" flipV="1">
              <a:off x="4377" y="1389"/>
              <a:ext cx="952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59453" name="Group 7"/>
            <p:cNvGrpSpPr/>
            <p:nvPr/>
          </p:nvGrpSpPr>
          <p:grpSpPr>
            <a:xfrm>
              <a:off x="4422" y="1117"/>
              <a:ext cx="893" cy="509"/>
              <a:chOff x="4996" y="2811"/>
              <a:chExt cx="591" cy="229"/>
            </a:xfrm>
          </p:grpSpPr>
          <p:sp>
            <p:nvSpPr>
              <p:cNvPr id="59457" name="Freeform 8"/>
              <p:cNvSpPr/>
              <p:nvPr/>
            </p:nvSpPr>
            <p:spPr>
              <a:xfrm flipH="1">
                <a:off x="5439" y="2811"/>
                <a:ext cx="148" cy="115"/>
              </a:xfrm>
              <a:custGeom>
                <a:avLst/>
                <a:gdLst>
                  <a:gd name="txL" fmla="*/ 0 w 408"/>
                  <a:gd name="txT" fmla="*/ 0 h 265"/>
                  <a:gd name="txR" fmla="*/ 408 w 408"/>
                  <a:gd name="txB" fmla="*/ 265 h 265"/>
                </a:gdLst>
                <a:ahLst/>
                <a:cxnLst>
                  <a:cxn ang="0">
                    <a:pos x="0" y="115"/>
                  </a:cxn>
                  <a:cxn ang="0">
                    <a:pos x="12" y="83"/>
                  </a:cxn>
                  <a:cxn ang="0">
                    <a:pos x="25" y="56"/>
                  </a:cxn>
                  <a:cxn ang="0">
                    <a:pos x="37" y="33"/>
                  </a:cxn>
                  <a:cxn ang="0">
                    <a:pos x="50" y="13"/>
                  </a:cxn>
                  <a:cxn ang="0">
                    <a:pos x="60" y="3"/>
                  </a:cxn>
                  <a:cxn ang="0">
                    <a:pos x="73" y="0"/>
                  </a:cxn>
                  <a:cxn ang="0">
                    <a:pos x="85" y="3"/>
                  </a:cxn>
                  <a:cxn ang="0">
                    <a:pos x="98" y="13"/>
                  </a:cxn>
                  <a:cxn ang="0">
                    <a:pos x="110" y="33"/>
                  </a:cxn>
                  <a:cxn ang="0">
                    <a:pos x="123" y="56"/>
                  </a:cxn>
                  <a:cxn ang="0">
                    <a:pos x="135" y="85"/>
                  </a:cxn>
                  <a:cxn ang="0">
                    <a:pos x="148" y="115"/>
                  </a:cxn>
                </a:cxnLst>
                <a:rect l="txL" t="txT" r="txR" b="txB"/>
                <a:pathLst>
                  <a:path w="408" h="265">
                    <a:moveTo>
                      <a:pt x="0" y="264"/>
                    </a:moveTo>
                    <a:lnTo>
                      <a:pt x="34" y="192"/>
                    </a:lnTo>
                    <a:lnTo>
                      <a:pt x="68" y="129"/>
                    </a:lnTo>
                    <a:lnTo>
                      <a:pt x="103" y="76"/>
                    </a:lnTo>
                    <a:lnTo>
                      <a:pt x="137" y="31"/>
                    </a:lnTo>
                    <a:lnTo>
                      <a:pt x="166" y="8"/>
                    </a:lnTo>
                    <a:lnTo>
                      <a:pt x="200" y="0"/>
                    </a:lnTo>
                    <a:lnTo>
                      <a:pt x="235" y="8"/>
                    </a:lnTo>
                    <a:lnTo>
                      <a:pt x="269" y="31"/>
                    </a:lnTo>
                    <a:lnTo>
                      <a:pt x="303" y="76"/>
                    </a:lnTo>
                    <a:lnTo>
                      <a:pt x="338" y="129"/>
                    </a:lnTo>
                    <a:lnTo>
                      <a:pt x="372" y="196"/>
                    </a:lnTo>
                    <a:lnTo>
                      <a:pt x="407" y="264"/>
                    </a:lnTo>
                  </a:path>
                </a:pathLst>
              </a:custGeom>
              <a:noFill/>
              <a:ln w="28575" cap="rnd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59458" name="Freeform 9"/>
              <p:cNvSpPr/>
              <p:nvPr/>
            </p:nvSpPr>
            <p:spPr>
              <a:xfrm flipH="1">
                <a:off x="5291" y="2925"/>
                <a:ext cx="148" cy="115"/>
              </a:xfrm>
              <a:custGeom>
                <a:avLst/>
                <a:gdLst>
                  <a:gd name="txL" fmla="*/ 0 w 409"/>
                  <a:gd name="txT" fmla="*/ 0 h 265"/>
                  <a:gd name="txR" fmla="*/ 409 w 409"/>
                  <a:gd name="txB" fmla="*/ 265 h 265"/>
                </a:gdLst>
                <a:ahLst/>
                <a:cxnLst>
                  <a:cxn ang="0">
                    <a:pos x="148" y="0"/>
                  </a:cxn>
                  <a:cxn ang="0">
                    <a:pos x="135" y="31"/>
                  </a:cxn>
                  <a:cxn ang="0">
                    <a:pos x="123" y="58"/>
                  </a:cxn>
                  <a:cxn ang="0">
                    <a:pos x="110" y="81"/>
                  </a:cxn>
                  <a:cxn ang="0">
                    <a:pos x="98" y="101"/>
                  </a:cxn>
                  <a:cxn ang="0">
                    <a:pos x="87" y="111"/>
                  </a:cxn>
                  <a:cxn ang="0">
                    <a:pos x="75" y="115"/>
                  </a:cxn>
                  <a:cxn ang="0">
                    <a:pos x="62" y="111"/>
                  </a:cxn>
                  <a:cxn ang="0">
                    <a:pos x="50" y="101"/>
                  </a:cxn>
                  <a:cxn ang="0">
                    <a:pos x="37" y="81"/>
                  </a:cxn>
                  <a:cxn ang="0">
                    <a:pos x="25" y="58"/>
                  </a:cxn>
                  <a:cxn ang="0">
                    <a:pos x="12" y="29"/>
                  </a:cxn>
                  <a:cxn ang="0">
                    <a:pos x="0" y="0"/>
                  </a:cxn>
                </a:cxnLst>
                <a:rect l="txL" t="txT" r="txR" b="txB"/>
                <a:pathLst>
                  <a:path w="409" h="265">
                    <a:moveTo>
                      <a:pt x="408" y="0"/>
                    </a:moveTo>
                    <a:lnTo>
                      <a:pt x="373" y="71"/>
                    </a:lnTo>
                    <a:lnTo>
                      <a:pt x="339" y="134"/>
                    </a:lnTo>
                    <a:lnTo>
                      <a:pt x="304" y="187"/>
                    </a:lnTo>
                    <a:lnTo>
                      <a:pt x="270" y="232"/>
                    </a:lnTo>
                    <a:lnTo>
                      <a:pt x="241" y="255"/>
                    </a:lnTo>
                    <a:lnTo>
                      <a:pt x="206" y="264"/>
                    </a:lnTo>
                    <a:lnTo>
                      <a:pt x="172" y="255"/>
                    </a:lnTo>
                    <a:lnTo>
                      <a:pt x="137" y="232"/>
                    </a:lnTo>
                    <a:lnTo>
                      <a:pt x="103" y="187"/>
                    </a:lnTo>
                    <a:lnTo>
                      <a:pt x="68" y="134"/>
                    </a:lnTo>
                    <a:lnTo>
                      <a:pt x="34" y="6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59459" name="Freeform 10"/>
              <p:cNvSpPr/>
              <p:nvPr/>
            </p:nvSpPr>
            <p:spPr>
              <a:xfrm flipH="1">
                <a:off x="5144" y="2811"/>
                <a:ext cx="148" cy="115"/>
              </a:xfrm>
              <a:custGeom>
                <a:avLst/>
                <a:gdLst>
                  <a:gd name="txL" fmla="*/ 0 w 408"/>
                  <a:gd name="txT" fmla="*/ 0 h 265"/>
                  <a:gd name="txR" fmla="*/ 408 w 408"/>
                  <a:gd name="txB" fmla="*/ 265 h 265"/>
                </a:gdLst>
                <a:ahLst/>
                <a:cxnLst>
                  <a:cxn ang="0">
                    <a:pos x="0" y="115"/>
                  </a:cxn>
                  <a:cxn ang="0">
                    <a:pos x="12" y="83"/>
                  </a:cxn>
                  <a:cxn ang="0">
                    <a:pos x="25" y="56"/>
                  </a:cxn>
                  <a:cxn ang="0">
                    <a:pos x="37" y="33"/>
                  </a:cxn>
                  <a:cxn ang="0">
                    <a:pos x="50" y="13"/>
                  </a:cxn>
                  <a:cxn ang="0">
                    <a:pos x="60" y="3"/>
                  </a:cxn>
                  <a:cxn ang="0">
                    <a:pos x="73" y="0"/>
                  </a:cxn>
                  <a:cxn ang="0">
                    <a:pos x="85" y="3"/>
                  </a:cxn>
                  <a:cxn ang="0">
                    <a:pos x="98" y="13"/>
                  </a:cxn>
                  <a:cxn ang="0">
                    <a:pos x="110" y="33"/>
                  </a:cxn>
                  <a:cxn ang="0">
                    <a:pos x="123" y="56"/>
                  </a:cxn>
                  <a:cxn ang="0">
                    <a:pos x="135" y="85"/>
                  </a:cxn>
                  <a:cxn ang="0">
                    <a:pos x="148" y="115"/>
                  </a:cxn>
                </a:cxnLst>
                <a:rect l="txL" t="txT" r="txR" b="txB"/>
                <a:pathLst>
                  <a:path w="408" h="265">
                    <a:moveTo>
                      <a:pt x="0" y="264"/>
                    </a:moveTo>
                    <a:lnTo>
                      <a:pt x="34" y="192"/>
                    </a:lnTo>
                    <a:lnTo>
                      <a:pt x="68" y="129"/>
                    </a:lnTo>
                    <a:lnTo>
                      <a:pt x="103" y="76"/>
                    </a:lnTo>
                    <a:lnTo>
                      <a:pt x="137" y="31"/>
                    </a:lnTo>
                    <a:lnTo>
                      <a:pt x="166" y="8"/>
                    </a:lnTo>
                    <a:lnTo>
                      <a:pt x="200" y="0"/>
                    </a:lnTo>
                    <a:lnTo>
                      <a:pt x="235" y="8"/>
                    </a:lnTo>
                    <a:lnTo>
                      <a:pt x="269" y="31"/>
                    </a:lnTo>
                    <a:lnTo>
                      <a:pt x="303" y="76"/>
                    </a:lnTo>
                    <a:lnTo>
                      <a:pt x="338" y="129"/>
                    </a:lnTo>
                    <a:lnTo>
                      <a:pt x="372" y="196"/>
                    </a:lnTo>
                    <a:lnTo>
                      <a:pt x="407" y="264"/>
                    </a:lnTo>
                  </a:path>
                </a:pathLst>
              </a:custGeom>
              <a:noFill/>
              <a:ln w="28575" cap="rnd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59460" name="Freeform 11"/>
              <p:cNvSpPr/>
              <p:nvPr/>
            </p:nvSpPr>
            <p:spPr>
              <a:xfrm flipH="1">
                <a:off x="4996" y="2925"/>
                <a:ext cx="148" cy="115"/>
              </a:xfrm>
              <a:custGeom>
                <a:avLst/>
                <a:gdLst>
                  <a:gd name="txL" fmla="*/ 0 w 409"/>
                  <a:gd name="txT" fmla="*/ 0 h 265"/>
                  <a:gd name="txR" fmla="*/ 409 w 409"/>
                  <a:gd name="txB" fmla="*/ 265 h 265"/>
                </a:gdLst>
                <a:ahLst/>
                <a:cxnLst>
                  <a:cxn ang="0">
                    <a:pos x="148" y="0"/>
                  </a:cxn>
                  <a:cxn ang="0">
                    <a:pos x="135" y="31"/>
                  </a:cxn>
                  <a:cxn ang="0">
                    <a:pos x="123" y="58"/>
                  </a:cxn>
                  <a:cxn ang="0">
                    <a:pos x="110" y="81"/>
                  </a:cxn>
                  <a:cxn ang="0">
                    <a:pos x="98" y="101"/>
                  </a:cxn>
                  <a:cxn ang="0">
                    <a:pos x="87" y="111"/>
                  </a:cxn>
                  <a:cxn ang="0">
                    <a:pos x="75" y="115"/>
                  </a:cxn>
                  <a:cxn ang="0">
                    <a:pos x="62" y="111"/>
                  </a:cxn>
                  <a:cxn ang="0">
                    <a:pos x="50" y="101"/>
                  </a:cxn>
                  <a:cxn ang="0">
                    <a:pos x="37" y="81"/>
                  </a:cxn>
                  <a:cxn ang="0">
                    <a:pos x="25" y="58"/>
                  </a:cxn>
                  <a:cxn ang="0">
                    <a:pos x="12" y="29"/>
                  </a:cxn>
                  <a:cxn ang="0">
                    <a:pos x="0" y="0"/>
                  </a:cxn>
                </a:cxnLst>
                <a:rect l="txL" t="txT" r="txR" b="txB"/>
                <a:pathLst>
                  <a:path w="409" h="265">
                    <a:moveTo>
                      <a:pt x="408" y="0"/>
                    </a:moveTo>
                    <a:lnTo>
                      <a:pt x="373" y="71"/>
                    </a:lnTo>
                    <a:lnTo>
                      <a:pt x="339" y="134"/>
                    </a:lnTo>
                    <a:lnTo>
                      <a:pt x="304" y="187"/>
                    </a:lnTo>
                    <a:lnTo>
                      <a:pt x="270" y="232"/>
                    </a:lnTo>
                    <a:lnTo>
                      <a:pt x="241" y="255"/>
                    </a:lnTo>
                    <a:lnTo>
                      <a:pt x="206" y="264"/>
                    </a:lnTo>
                    <a:lnTo>
                      <a:pt x="172" y="255"/>
                    </a:lnTo>
                    <a:lnTo>
                      <a:pt x="137" y="232"/>
                    </a:lnTo>
                    <a:lnTo>
                      <a:pt x="103" y="187"/>
                    </a:lnTo>
                    <a:lnTo>
                      <a:pt x="68" y="134"/>
                    </a:lnTo>
                    <a:lnTo>
                      <a:pt x="34" y="6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59454" name="Line 13"/>
            <p:cNvSpPr/>
            <p:nvPr/>
          </p:nvSpPr>
          <p:spPr>
            <a:xfrm flipH="1" flipV="1">
              <a:off x="4368" y="935"/>
              <a:ext cx="9" cy="953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55" name="Line 15"/>
            <p:cNvSpPr/>
            <p:nvPr/>
          </p:nvSpPr>
          <p:spPr>
            <a:xfrm>
              <a:off x="4368" y="1847"/>
              <a:ext cx="1056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56" name="AutoShape 16"/>
            <p:cNvSpPr/>
            <p:nvPr/>
          </p:nvSpPr>
          <p:spPr>
            <a:xfrm>
              <a:off x="4080" y="756"/>
              <a:ext cx="1521" cy="1244"/>
            </a:xfrm>
            <a:prstGeom prst="wedgeRoundRectCallout">
              <a:avLst>
                <a:gd name="adj1" fmla="val -121861"/>
                <a:gd name="adj2" fmla="val 48713"/>
                <a:gd name="adj3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574" name="Rectangle 70"/>
          <p:cNvSpPr/>
          <p:nvPr/>
        </p:nvSpPr>
        <p:spPr>
          <a:xfrm>
            <a:off x="395288" y="549275"/>
            <a:ext cx="1366837" cy="579438"/>
          </a:xfrm>
          <a:prstGeom prst="rect">
            <a:avLst/>
          </a:prstGeom>
          <a:noFill/>
          <a:ln w="38100">
            <a:noFill/>
          </a:ln>
        </p:spPr>
        <p:txBody>
          <a:bodyPr lIns="92075" tIns="46038" rIns="92075" bIns="46038">
            <a:spAutoFit/>
          </a:bodyPr>
          <a:p>
            <a:pPr eaLnBrk="0" hangingPunct="0"/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1-4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134"/>
          <p:cNvGrpSpPr/>
          <p:nvPr/>
        </p:nvGrpSpPr>
        <p:grpSpPr>
          <a:xfrm>
            <a:off x="539750" y="1341438"/>
            <a:ext cx="5305425" cy="3625850"/>
            <a:chOff x="340" y="845"/>
            <a:chExt cx="3342" cy="2284"/>
          </a:xfrm>
        </p:grpSpPr>
        <p:sp>
          <p:nvSpPr>
            <p:cNvPr id="59407" name="Oval 87"/>
            <p:cNvSpPr/>
            <p:nvPr/>
          </p:nvSpPr>
          <p:spPr>
            <a:xfrm>
              <a:off x="702" y="238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9408" name="Text Box 88"/>
            <p:cNvSpPr txBox="1"/>
            <p:nvPr/>
          </p:nvSpPr>
          <p:spPr>
            <a:xfrm>
              <a:off x="3242" y="845"/>
              <a:ext cx="4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9" name="Line 89"/>
            <p:cNvSpPr/>
            <p:nvPr/>
          </p:nvSpPr>
          <p:spPr>
            <a:xfrm>
              <a:off x="657" y="2387"/>
              <a:ext cx="0" cy="446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9410" name="Line 90"/>
            <p:cNvSpPr/>
            <p:nvPr/>
          </p:nvSpPr>
          <p:spPr>
            <a:xfrm>
              <a:off x="879" y="2113"/>
              <a:ext cx="821" cy="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1" name="Line 91"/>
            <p:cNvSpPr/>
            <p:nvPr/>
          </p:nvSpPr>
          <p:spPr>
            <a:xfrm flipV="1">
              <a:off x="1790" y="2115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2" name="AutoShape 93"/>
            <p:cNvSpPr/>
            <p:nvPr/>
          </p:nvSpPr>
          <p:spPr>
            <a:xfrm>
              <a:off x="2185" y="2064"/>
              <a:ext cx="38" cy="35"/>
            </a:xfrm>
            <a:prstGeom prst="flowChartConnector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9413" name="Line 94"/>
            <p:cNvSpPr/>
            <p:nvPr/>
          </p:nvSpPr>
          <p:spPr>
            <a:xfrm>
              <a:off x="2183" y="990"/>
              <a:ext cx="104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4" name="Line 95"/>
            <p:cNvSpPr/>
            <p:nvPr/>
          </p:nvSpPr>
          <p:spPr>
            <a:xfrm flipH="1">
              <a:off x="2879" y="990"/>
              <a:ext cx="4" cy="9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5" name="Line 96"/>
            <p:cNvSpPr/>
            <p:nvPr/>
          </p:nvSpPr>
          <p:spPr>
            <a:xfrm>
              <a:off x="2847" y="2272"/>
              <a:ext cx="0" cy="83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6" name="Line 97"/>
            <p:cNvSpPr/>
            <p:nvPr/>
          </p:nvSpPr>
          <p:spPr>
            <a:xfrm flipV="1">
              <a:off x="883" y="3113"/>
              <a:ext cx="254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7" name="Line 98"/>
            <p:cNvSpPr/>
            <p:nvPr/>
          </p:nvSpPr>
          <p:spPr>
            <a:xfrm>
              <a:off x="3242" y="1828"/>
              <a:ext cx="22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8" name="Line 99"/>
            <p:cNvSpPr/>
            <p:nvPr/>
          </p:nvSpPr>
          <p:spPr>
            <a:xfrm rot="-5400000">
              <a:off x="2796" y="2457"/>
              <a:ext cx="1283" cy="2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9" name="Line 100"/>
            <p:cNvSpPr/>
            <p:nvPr/>
          </p:nvSpPr>
          <p:spPr>
            <a:xfrm rot="5400000" flipV="1">
              <a:off x="3455" y="2703"/>
              <a:ext cx="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9420" name="Group 102"/>
            <p:cNvGrpSpPr/>
            <p:nvPr/>
          </p:nvGrpSpPr>
          <p:grpSpPr>
            <a:xfrm>
              <a:off x="1155" y="2432"/>
              <a:ext cx="653" cy="379"/>
              <a:chOff x="2064" y="528"/>
              <a:chExt cx="1776" cy="529"/>
            </a:xfrm>
          </p:grpSpPr>
          <p:grpSp>
            <p:nvGrpSpPr>
              <p:cNvPr id="59442" name="Group 103"/>
              <p:cNvGrpSpPr/>
              <p:nvPr/>
            </p:nvGrpSpPr>
            <p:grpSpPr>
              <a:xfrm>
                <a:off x="2064" y="528"/>
                <a:ext cx="960" cy="529"/>
                <a:chOff x="2064" y="528"/>
                <a:chExt cx="960" cy="529"/>
              </a:xfrm>
            </p:grpSpPr>
            <p:sp>
              <p:nvSpPr>
                <p:cNvPr id="59448" name="Line 104"/>
                <p:cNvSpPr/>
                <p:nvPr/>
              </p:nvSpPr>
              <p:spPr>
                <a:xfrm>
                  <a:off x="2064" y="792"/>
                  <a:ext cx="960" cy="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59449" name="Group 105"/>
                <p:cNvGrpSpPr/>
                <p:nvPr/>
              </p:nvGrpSpPr>
              <p:grpSpPr>
                <a:xfrm>
                  <a:off x="2122" y="528"/>
                  <a:ext cx="816" cy="529"/>
                  <a:chOff x="2122" y="528"/>
                  <a:chExt cx="816" cy="529"/>
                </a:xfrm>
              </p:grpSpPr>
              <p:sp>
                <p:nvSpPr>
                  <p:cNvPr id="59450" name="Freeform 106"/>
                  <p:cNvSpPr/>
                  <p:nvPr/>
                </p:nvSpPr>
                <p:spPr>
                  <a:xfrm>
                    <a:off x="2122" y="528"/>
                    <a:ext cx="408" cy="265"/>
                  </a:xfrm>
                  <a:custGeom>
                    <a:avLst/>
                    <a:gdLst>
                      <a:gd name="txL" fmla="*/ 0 w 408"/>
                      <a:gd name="txT" fmla="*/ 0 h 265"/>
                      <a:gd name="txR" fmla="*/ 408 w 408"/>
                      <a:gd name="txB" fmla="*/ 265 h 265"/>
                    </a:gdLst>
                    <a:ahLst/>
                    <a:cxnLst>
                      <a:cxn ang="0">
                        <a:pos x="0" y="264"/>
                      </a:cxn>
                      <a:cxn ang="0">
                        <a:pos x="34" y="192"/>
                      </a:cxn>
                      <a:cxn ang="0">
                        <a:pos x="68" y="129"/>
                      </a:cxn>
                      <a:cxn ang="0">
                        <a:pos x="103" y="76"/>
                      </a:cxn>
                      <a:cxn ang="0">
                        <a:pos x="137" y="31"/>
                      </a:cxn>
                      <a:cxn ang="0">
                        <a:pos x="166" y="8"/>
                      </a:cxn>
                      <a:cxn ang="0">
                        <a:pos x="200" y="0"/>
                      </a:cxn>
                      <a:cxn ang="0">
                        <a:pos x="235" y="8"/>
                      </a:cxn>
                      <a:cxn ang="0">
                        <a:pos x="269" y="31"/>
                      </a:cxn>
                      <a:cxn ang="0">
                        <a:pos x="303" y="76"/>
                      </a:cxn>
                      <a:cxn ang="0">
                        <a:pos x="338" y="129"/>
                      </a:cxn>
                      <a:cxn ang="0">
                        <a:pos x="372" y="196"/>
                      </a:cxn>
                      <a:cxn ang="0">
                        <a:pos x="407" y="264"/>
                      </a:cxn>
                    </a:cxnLst>
                    <a:rect l="txL" t="txT" r="txR" b="txB"/>
                    <a:pathLst>
                      <a:path w="408" h="265">
                        <a:moveTo>
                          <a:pt x="0" y="264"/>
                        </a:moveTo>
                        <a:lnTo>
                          <a:pt x="34" y="192"/>
                        </a:lnTo>
                        <a:lnTo>
                          <a:pt x="68" y="129"/>
                        </a:lnTo>
                        <a:lnTo>
                          <a:pt x="103" y="76"/>
                        </a:lnTo>
                        <a:lnTo>
                          <a:pt x="137" y="31"/>
                        </a:lnTo>
                        <a:lnTo>
                          <a:pt x="166" y="8"/>
                        </a:lnTo>
                        <a:lnTo>
                          <a:pt x="200" y="0"/>
                        </a:lnTo>
                        <a:lnTo>
                          <a:pt x="235" y="8"/>
                        </a:lnTo>
                        <a:lnTo>
                          <a:pt x="269" y="31"/>
                        </a:lnTo>
                        <a:lnTo>
                          <a:pt x="303" y="76"/>
                        </a:lnTo>
                        <a:lnTo>
                          <a:pt x="338" y="129"/>
                        </a:lnTo>
                        <a:lnTo>
                          <a:pt x="372" y="196"/>
                        </a:lnTo>
                        <a:lnTo>
                          <a:pt x="407" y="264"/>
                        </a:lnTo>
                      </a:path>
                    </a:pathLst>
                  </a:custGeom>
                  <a:noFill/>
                  <a:ln w="28575" cap="rnd" cmpd="sng">
                    <a:solidFill>
                      <a:srgbClr val="FF33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  <p:sp>
                <p:nvSpPr>
                  <p:cNvPr id="59451" name="Freeform 107"/>
                  <p:cNvSpPr/>
                  <p:nvPr/>
                </p:nvSpPr>
                <p:spPr>
                  <a:xfrm>
                    <a:off x="2529" y="792"/>
                    <a:ext cx="409" cy="265"/>
                  </a:xfrm>
                  <a:custGeom>
                    <a:avLst/>
                    <a:gdLst>
                      <a:gd name="txL" fmla="*/ 0 w 409"/>
                      <a:gd name="txT" fmla="*/ 0 h 265"/>
                      <a:gd name="txR" fmla="*/ 409 w 409"/>
                      <a:gd name="txB" fmla="*/ 265 h 265"/>
                    </a:gdLst>
                    <a:ahLst/>
                    <a:cxnLst>
                      <a:cxn ang="0">
                        <a:pos x="408" y="0"/>
                      </a:cxn>
                      <a:cxn ang="0">
                        <a:pos x="373" y="71"/>
                      </a:cxn>
                      <a:cxn ang="0">
                        <a:pos x="339" y="134"/>
                      </a:cxn>
                      <a:cxn ang="0">
                        <a:pos x="304" y="187"/>
                      </a:cxn>
                      <a:cxn ang="0">
                        <a:pos x="270" y="232"/>
                      </a:cxn>
                      <a:cxn ang="0">
                        <a:pos x="241" y="255"/>
                      </a:cxn>
                      <a:cxn ang="0">
                        <a:pos x="206" y="264"/>
                      </a:cxn>
                      <a:cxn ang="0">
                        <a:pos x="172" y="255"/>
                      </a:cxn>
                      <a:cxn ang="0">
                        <a:pos x="137" y="232"/>
                      </a:cxn>
                      <a:cxn ang="0">
                        <a:pos x="103" y="187"/>
                      </a:cxn>
                      <a:cxn ang="0">
                        <a:pos x="68" y="134"/>
                      </a:cxn>
                      <a:cxn ang="0">
                        <a:pos x="34" y="67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409" h="265">
                        <a:moveTo>
                          <a:pt x="408" y="0"/>
                        </a:moveTo>
                        <a:lnTo>
                          <a:pt x="373" y="71"/>
                        </a:lnTo>
                        <a:lnTo>
                          <a:pt x="339" y="134"/>
                        </a:lnTo>
                        <a:lnTo>
                          <a:pt x="304" y="187"/>
                        </a:lnTo>
                        <a:lnTo>
                          <a:pt x="270" y="232"/>
                        </a:lnTo>
                        <a:lnTo>
                          <a:pt x="241" y="255"/>
                        </a:lnTo>
                        <a:lnTo>
                          <a:pt x="206" y="264"/>
                        </a:lnTo>
                        <a:lnTo>
                          <a:pt x="172" y="255"/>
                        </a:lnTo>
                        <a:lnTo>
                          <a:pt x="137" y="232"/>
                        </a:lnTo>
                        <a:lnTo>
                          <a:pt x="103" y="187"/>
                        </a:lnTo>
                        <a:lnTo>
                          <a:pt x="68" y="134"/>
                        </a:lnTo>
                        <a:lnTo>
                          <a:pt x="34" y="6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rnd" cmpd="sng">
                    <a:solidFill>
                      <a:srgbClr val="FF33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</p:grpSp>
          </p:grpSp>
          <p:grpSp>
            <p:nvGrpSpPr>
              <p:cNvPr id="59443" name="Group 108"/>
              <p:cNvGrpSpPr/>
              <p:nvPr/>
            </p:nvGrpSpPr>
            <p:grpSpPr>
              <a:xfrm>
                <a:off x="2880" y="528"/>
                <a:ext cx="960" cy="529"/>
                <a:chOff x="2880" y="528"/>
                <a:chExt cx="960" cy="529"/>
              </a:xfrm>
            </p:grpSpPr>
            <p:sp>
              <p:nvSpPr>
                <p:cNvPr id="59444" name="Line 109"/>
                <p:cNvSpPr/>
                <p:nvPr/>
              </p:nvSpPr>
              <p:spPr>
                <a:xfrm>
                  <a:off x="2880" y="792"/>
                  <a:ext cx="960" cy="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59445" name="Group 110"/>
                <p:cNvGrpSpPr/>
                <p:nvPr/>
              </p:nvGrpSpPr>
              <p:grpSpPr>
                <a:xfrm>
                  <a:off x="2938" y="528"/>
                  <a:ext cx="816" cy="529"/>
                  <a:chOff x="2938" y="528"/>
                  <a:chExt cx="816" cy="529"/>
                </a:xfrm>
              </p:grpSpPr>
              <p:sp>
                <p:nvSpPr>
                  <p:cNvPr id="59446" name="Freeform 111"/>
                  <p:cNvSpPr/>
                  <p:nvPr/>
                </p:nvSpPr>
                <p:spPr>
                  <a:xfrm>
                    <a:off x="2938" y="528"/>
                    <a:ext cx="408" cy="265"/>
                  </a:xfrm>
                  <a:custGeom>
                    <a:avLst/>
                    <a:gdLst>
                      <a:gd name="txL" fmla="*/ 0 w 408"/>
                      <a:gd name="txT" fmla="*/ 0 h 265"/>
                      <a:gd name="txR" fmla="*/ 408 w 408"/>
                      <a:gd name="txB" fmla="*/ 265 h 265"/>
                    </a:gdLst>
                    <a:ahLst/>
                    <a:cxnLst>
                      <a:cxn ang="0">
                        <a:pos x="0" y="264"/>
                      </a:cxn>
                      <a:cxn ang="0">
                        <a:pos x="34" y="192"/>
                      </a:cxn>
                      <a:cxn ang="0">
                        <a:pos x="68" y="129"/>
                      </a:cxn>
                      <a:cxn ang="0">
                        <a:pos x="103" y="76"/>
                      </a:cxn>
                      <a:cxn ang="0">
                        <a:pos x="137" y="31"/>
                      </a:cxn>
                      <a:cxn ang="0">
                        <a:pos x="166" y="8"/>
                      </a:cxn>
                      <a:cxn ang="0">
                        <a:pos x="200" y="0"/>
                      </a:cxn>
                      <a:cxn ang="0">
                        <a:pos x="235" y="8"/>
                      </a:cxn>
                      <a:cxn ang="0">
                        <a:pos x="269" y="31"/>
                      </a:cxn>
                      <a:cxn ang="0">
                        <a:pos x="303" y="76"/>
                      </a:cxn>
                      <a:cxn ang="0">
                        <a:pos x="338" y="129"/>
                      </a:cxn>
                      <a:cxn ang="0">
                        <a:pos x="372" y="196"/>
                      </a:cxn>
                      <a:cxn ang="0">
                        <a:pos x="407" y="264"/>
                      </a:cxn>
                    </a:cxnLst>
                    <a:rect l="txL" t="txT" r="txR" b="txB"/>
                    <a:pathLst>
                      <a:path w="408" h="265">
                        <a:moveTo>
                          <a:pt x="0" y="264"/>
                        </a:moveTo>
                        <a:lnTo>
                          <a:pt x="34" y="192"/>
                        </a:lnTo>
                        <a:lnTo>
                          <a:pt x="68" y="129"/>
                        </a:lnTo>
                        <a:lnTo>
                          <a:pt x="103" y="76"/>
                        </a:lnTo>
                        <a:lnTo>
                          <a:pt x="137" y="31"/>
                        </a:lnTo>
                        <a:lnTo>
                          <a:pt x="166" y="8"/>
                        </a:lnTo>
                        <a:lnTo>
                          <a:pt x="200" y="0"/>
                        </a:lnTo>
                        <a:lnTo>
                          <a:pt x="235" y="8"/>
                        </a:lnTo>
                        <a:lnTo>
                          <a:pt x="269" y="31"/>
                        </a:lnTo>
                        <a:lnTo>
                          <a:pt x="303" y="76"/>
                        </a:lnTo>
                        <a:lnTo>
                          <a:pt x="338" y="129"/>
                        </a:lnTo>
                        <a:lnTo>
                          <a:pt x="372" y="196"/>
                        </a:lnTo>
                        <a:lnTo>
                          <a:pt x="407" y="264"/>
                        </a:lnTo>
                      </a:path>
                    </a:pathLst>
                  </a:custGeom>
                  <a:noFill/>
                  <a:ln w="28575" cap="rnd" cmpd="sng">
                    <a:solidFill>
                      <a:srgbClr val="FF33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  <p:sp>
                <p:nvSpPr>
                  <p:cNvPr id="59447" name="Freeform 112"/>
                  <p:cNvSpPr/>
                  <p:nvPr/>
                </p:nvSpPr>
                <p:spPr>
                  <a:xfrm>
                    <a:off x="3345" y="792"/>
                    <a:ext cx="409" cy="265"/>
                  </a:xfrm>
                  <a:custGeom>
                    <a:avLst/>
                    <a:gdLst>
                      <a:gd name="txL" fmla="*/ 0 w 409"/>
                      <a:gd name="txT" fmla="*/ 0 h 265"/>
                      <a:gd name="txR" fmla="*/ 409 w 409"/>
                      <a:gd name="txB" fmla="*/ 265 h 265"/>
                    </a:gdLst>
                    <a:ahLst/>
                    <a:cxnLst>
                      <a:cxn ang="0">
                        <a:pos x="408" y="0"/>
                      </a:cxn>
                      <a:cxn ang="0">
                        <a:pos x="373" y="71"/>
                      </a:cxn>
                      <a:cxn ang="0">
                        <a:pos x="339" y="134"/>
                      </a:cxn>
                      <a:cxn ang="0">
                        <a:pos x="304" y="187"/>
                      </a:cxn>
                      <a:cxn ang="0">
                        <a:pos x="270" y="232"/>
                      </a:cxn>
                      <a:cxn ang="0">
                        <a:pos x="241" y="255"/>
                      </a:cxn>
                      <a:cxn ang="0">
                        <a:pos x="206" y="264"/>
                      </a:cxn>
                      <a:cxn ang="0">
                        <a:pos x="172" y="255"/>
                      </a:cxn>
                      <a:cxn ang="0">
                        <a:pos x="137" y="232"/>
                      </a:cxn>
                      <a:cxn ang="0">
                        <a:pos x="103" y="187"/>
                      </a:cxn>
                      <a:cxn ang="0">
                        <a:pos x="68" y="134"/>
                      </a:cxn>
                      <a:cxn ang="0">
                        <a:pos x="34" y="67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409" h="265">
                        <a:moveTo>
                          <a:pt x="408" y="0"/>
                        </a:moveTo>
                        <a:lnTo>
                          <a:pt x="373" y="71"/>
                        </a:lnTo>
                        <a:lnTo>
                          <a:pt x="339" y="134"/>
                        </a:lnTo>
                        <a:lnTo>
                          <a:pt x="304" y="187"/>
                        </a:lnTo>
                        <a:lnTo>
                          <a:pt x="270" y="232"/>
                        </a:lnTo>
                        <a:lnTo>
                          <a:pt x="241" y="255"/>
                        </a:lnTo>
                        <a:lnTo>
                          <a:pt x="206" y="264"/>
                        </a:lnTo>
                        <a:lnTo>
                          <a:pt x="172" y="255"/>
                        </a:lnTo>
                        <a:lnTo>
                          <a:pt x="137" y="232"/>
                        </a:lnTo>
                        <a:lnTo>
                          <a:pt x="103" y="187"/>
                        </a:lnTo>
                        <a:lnTo>
                          <a:pt x="68" y="134"/>
                        </a:lnTo>
                        <a:lnTo>
                          <a:pt x="34" y="6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rnd" cmpd="sng">
                    <a:solidFill>
                      <a:srgbClr val="FF33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</p:grpSp>
          </p:grpSp>
        </p:grpSp>
        <p:sp>
          <p:nvSpPr>
            <p:cNvPr id="59421" name="Oval 113"/>
            <p:cNvSpPr/>
            <p:nvPr/>
          </p:nvSpPr>
          <p:spPr>
            <a:xfrm>
              <a:off x="2823" y="3057"/>
              <a:ext cx="72" cy="72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9422" name="Oval 114"/>
            <p:cNvSpPr/>
            <p:nvPr/>
          </p:nvSpPr>
          <p:spPr>
            <a:xfrm>
              <a:off x="2153" y="3057"/>
              <a:ext cx="72" cy="72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9423" name="Line 115"/>
            <p:cNvSpPr/>
            <p:nvPr/>
          </p:nvSpPr>
          <p:spPr>
            <a:xfrm>
              <a:off x="2587" y="1943"/>
              <a:ext cx="0" cy="339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9424" name="Line 116"/>
            <p:cNvSpPr/>
            <p:nvPr/>
          </p:nvSpPr>
          <p:spPr>
            <a:xfrm flipV="1">
              <a:off x="2587" y="1921"/>
              <a:ext cx="311" cy="156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9425" name="Line 117"/>
            <p:cNvSpPr/>
            <p:nvPr/>
          </p:nvSpPr>
          <p:spPr>
            <a:xfrm>
              <a:off x="2587" y="2160"/>
              <a:ext cx="311" cy="154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59426" name="Line 118"/>
            <p:cNvSpPr/>
            <p:nvPr/>
          </p:nvSpPr>
          <p:spPr>
            <a:xfrm>
              <a:off x="2879" y="1843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27" name="Oval 119"/>
            <p:cNvSpPr/>
            <p:nvPr/>
          </p:nvSpPr>
          <p:spPr>
            <a:xfrm>
              <a:off x="2834" y="1816"/>
              <a:ext cx="72" cy="72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9428" name="Line 120"/>
            <p:cNvSpPr/>
            <p:nvPr/>
          </p:nvSpPr>
          <p:spPr>
            <a:xfrm>
              <a:off x="2199" y="981"/>
              <a:ext cx="1" cy="208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29" name="Line 121"/>
            <p:cNvSpPr/>
            <p:nvPr/>
          </p:nvSpPr>
          <p:spPr>
            <a:xfrm>
              <a:off x="883" y="2115"/>
              <a:ext cx="8" cy="98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9430" name="Group 122"/>
            <p:cNvGrpSpPr/>
            <p:nvPr/>
          </p:nvGrpSpPr>
          <p:grpSpPr>
            <a:xfrm rot="5400000">
              <a:off x="1626" y="2052"/>
              <a:ext cx="240" cy="93"/>
              <a:chOff x="3787" y="2478"/>
              <a:chExt cx="240" cy="93"/>
            </a:xfrm>
          </p:grpSpPr>
          <p:sp>
            <p:nvSpPr>
              <p:cNvPr id="59440" name="Line 123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41" name="Line 124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9431" name="Group 125"/>
            <p:cNvGrpSpPr/>
            <p:nvPr/>
          </p:nvGrpSpPr>
          <p:grpSpPr>
            <a:xfrm rot="5400000">
              <a:off x="3060" y="1767"/>
              <a:ext cx="240" cy="93"/>
              <a:chOff x="3787" y="2478"/>
              <a:chExt cx="240" cy="93"/>
            </a:xfrm>
          </p:grpSpPr>
          <p:sp>
            <p:nvSpPr>
              <p:cNvPr id="59438" name="Line 126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39" name="Line 127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9432" name="Rectangle 128"/>
            <p:cNvSpPr/>
            <p:nvPr/>
          </p:nvSpPr>
          <p:spPr>
            <a:xfrm>
              <a:off x="3378" y="234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9433" name="Rectangle 129"/>
            <p:cNvSpPr/>
            <p:nvPr/>
          </p:nvSpPr>
          <p:spPr>
            <a:xfrm>
              <a:off x="2834" y="120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9434" name="Rectangle 130"/>
            <p:cNvSpPr/>
            <p:nvPr/>
          </p:nvSpPr>
          <p:spPr>
            <a:xfrm>
              <a:off x="2153" y="12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9435" name="Rectangle 131"/>
            <p:cNvSpPr/>
            <p:nvPr/>
          </p:nvSpPr>
          <p:spPr>
            <a:xfrm>
              <a:off x="1155" y="202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9436" name="Text Box 132"/>
            <p:cNvSpPr txBox="1"/>
            <p:nvPr/>
          </p:nvSpPr>
          <p:spPr>
            <a:xfrm>
              <a:off x="340" y="2795"/>
              <a:ext cx="670" cy="327"/>
            </a:xfrm>
            <a:prstGeom prst="rect">
              <a:avLst/>
            </a:prstGeom>
            <a:noFill/>
            <a:ln w="571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7" name="Rectangle 133"/>
            <p:cNvSpPr/>
            <p:nvPr/>
          </p:nvSpPr>
          <p:spPr>
            <a:xfrm>
              <a:off x="2154" y="243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</p:grpSp>
      <p:grpSp>
        <p:nvGrpSpPr>
          <p:cNvPr id="59398" name="Group 1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9405" name="Picture 13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06" name="Text Box 1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9399" name="Group 14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9403" name="Picture 14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04" name="Text Box 14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9400" name="Group 14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9401" name="Picture 14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02" name="Text Box 14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Rectangle 4"/>
          <p:cNvSpPr/>
          <p:nvPr/>
        </p:nvSpPr>
        <p:spPr>
          <a:xfrm>
            <a:off x="465138" y="4067175"/>
            <a:ext cx="1333500" cy="6397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4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endParaRPr lang="en-US" altLang="zh-CN" sz="36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Text Box 7"/>
          <p:cNvSpPr txBox="1"/>
          <p:nvPr/>
        </p:nvSpPr>
        <p:spPr>
          <a:xfrm>
            <a:off x="9588500" y="168275"/>
            <a:ext cx="184150" cy="641350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endParaRPr lang="zh-CN" altLang="zh-CN" sz="36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06" name="Rectangle 50"/>
          <p:cNvSpPr/>
          <p:nvPr/>
        </p:nvSpPr>
        <p:spPr>
          <a:xfrm>
            <a:off x="0" y="549275"/>
            <a:ext cx="8893175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13-2</a:t>
            </a:r>
            <a:r>
              <a:rPr lang="en-US" altLang="zh-CN" sz="36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3600" dirty="0">
                <a:solidFill>
                  <a:schemeClr val="bg1"/>
                </a:solidFill>
                <a:latin typeface="楷体_GB2312" pitchFamily="49" charset="-122"/>
              </a:rPr>
              <a:t>非正弦周期函数分解为傅里叶级数</a:t>
            </a:r>
            <a:endParaRPr lang="zh-CN" altLang="en-US" sz="36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19509" name="Object 53"/>
          <p:cNvGraphicFramePr/>
          <p:nvPr/>
        </p:nvGraphicFramePr>
        <p:xfrm>
          <a:off x="2257425" y="3719513"/>
          <a:ext cx="27463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913765" imgH="330200" progId="Equation.DSMT4">
                  <p:embed/>
                </p:oleObj>
              </mc:Choice>
              <mc:Fallback>
                <p:oleObj name="" r:id="rId1" imgW="913765" imgH="330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57425" y="3719513"/>
                        <a:ext cx="2746375" cy="84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10" name="Text Box 54"/>
          <p:cNvSpPr txBox="1"/>
          <p:nvPr/>
        </p:nvSpPr>
        <p:spPr>
          <a:xfrm>
            <a:off x="900113" y="1268413"/>
            <a:ext cx="5689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若周期函数满足狄里赫利条件：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524" name="Text Box 68"/>
          <p:cNvSpPr txBox="1"/>
          <p:nvPr/>
        </p:nvSpPr>
        <p:spPr>
          <a:xfrm>
            <a:off x="971550" y="1916113"/>
            <a:ext cx="73453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Arial" panose="020B0604020202020204" pitchFamily="34" charset="0"/>
              </a:rPr>
              <a:t>周期函数极值点的数目为有限个。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525" name="Text Box 69"/>
          <p:cNvSpPr txBox="1"/>
          <p:nvPr/>
        </p:nvSpPr>
        <p:spPr>
          <a:xfrm>
            <a:off x="971550" y="2563813"/>
            <a:ext cx="5689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Arial" panose="020B0604020202020204" pitchFamily="34" charset="0"/>
              </a:rPr>
              <a:t>间断点的数目为有限个。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526" name="Text Box 70"/>
          <p:cNvSpPr txBox="1"/>
          <p:nvPr/>
        </p:nvSpPr>
        <p:spPr>
          <a:xfrm>
            <a:off x="971550" y="3140075"/>
            <a:ext cx="568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Arial" panose="020B0604020202020204" pitchFamily="34" charset="0"/>
              </a:rPr>
              <a:t>在一个周期内绝对可积，即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527" name="AutoShape 71" descr="羊皮纸"/>
          <p:cNvSpPr/>
          <p:nvPr/>
        </p:nvSpPr>
        <p:spPr>
          <a:xfrm>
            <a:off x="3203575" y="4672013"/>
            <a:ext cx="4679950" cy="611187"/>
          </a:xfrm>
          <a:prstGeom prst="wedgeRoundRectCallout">
            <a:avLst>
              <a:gd name="adj1" fmla="val -51935"/>
              <a:gd name="adj2" fmla="val -96231"/>
              <a:gd name="adj3" fmla="val 16667"/>
            </a:avLst>
          </a:prstGeom>
          <a:blipFill rotWithShape="1">
            <a:blip r:embed="rId3"/>
          </a:blipFill>
          <a:ln w="57150">
            <a:noFill/>
          </a:ln>
        </p:spPr>
        <p:txBody>
          <a:bodyPr wrap="none" anchor="ctr" anchorCtr="0"/>
          <a:p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可展开成收敛的傅里叶级数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grpSp>
        <p:nvGrpSpPr>
          <p:cNvPr id="2" name="Group 72"/>
          <p:cNvGrpSpPr/>
          <p:nvPr/>
        </p:nvGrpSpPr>
        <p:grpSpPr>
          <a:xfrm>
            <a:off x="395288" y="5013325"/>
            <a:ext cx="1644650" cy="850900"/>
            <a:chOff x="385" y="3022"/>
            <a:chExt cx="1036" cy="536"/>
          </a:xfrm>
        </p:grpSpPr>
        <p:pic>
          <p:nvPicPr>
            <p:cNvPr id="2070" name="Picture 73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71" name="Text Box 74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9531" name="Text Box 75"/>
          <p:cNvSpPr txBox="1"/>
          <p:nvPr/>
        </p:nvSpPr>
        <p:spPr>
          <a:xfrm>
            <a:off x="971550" y="5229225"/>
            <a:ext cx="7272338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           </a:t>
            </a:r>
            <a:r>
              <a:rPr lang="zh-CN" altLang="en-US" dirty="0">
                <a:latin typeface="Arial" panose="020B0604020202020204" pitchFamily="34" charset="0"/>
              </a:rPr>
              <a:t>一般电工里遇到的周期函数都能满足狄里赫利条件。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061" name="Group 7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068" name="Picture 80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69" name="Text Box 8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62" name="Group 8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066" name="Picture 83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67" name="Text Box 8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63" name="Group 8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064" name="Picture 8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65" name="Text Box 9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6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06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06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06" grpId="0" build="p"/>
      <p:bldP spid="19510" grpId="0"/>
      <p:bldP spid="19524" grpId="0"/>
      <p:bldP spid="19525" grpId="0"/>
      <p:bldP spid="19526" grpId="0"/>
      <p:bldP spid="195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AutoShape 2" descr="羊皮纸"/>
          <p:cNvSpPr/>
          <p:nvPr/>
        </p:nvSpPr>
        <p:spPr>
          <a:xfrm>
            <a:off x="5508625" y="623888"/>
            <a:ext cx="1905000" cy="611187"/>
          </a:xfrm>
          <a:prstGeom prst="wedgeRoundRectCallout">
            <a:avLst>
              <a:gd name="adj1" fmla="val -228333"/>
              <a:gd name="adj2" fmla="val 140907"/>
              <a:gd name="adj3" fmla="val 16667"/>
            </a:avLst>
          </a:prstGeom>
          <a:blipFill rotWithShape="1">
            <a:blip r:embed="rId1"/>
          </a:blipFill>
          <a:ln w="57150">
            <a:noFill/>
          </a:ln>
        </p:spPr>
        <p:txBody>
          <a:bodyPr wrap="none" anchor="ctr" anchorCtr="0"/>
          <a:p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直流分量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58371" name="AutoShape 3" descr="粉色面巾纸"/>
          <p:cNvSpPr/>
          <p:nvPr/>
        </p:nvSpPr>
        <p:spPr>
          <a:xfrm>
            <a:off x="6877050" y="1271588"/>
            <a:ext cx="1927225" cy="966787"/>
          </a:xfrm>
          <a:prstGeom prst="wedgeRoundRectCallout">
            <a:avLst>
              <a:gd name="adj1" fmla="val -131218"/>
              <a:gd name="adj2" fmla="val 21431"/>
              <a:gd name="adj3" fmla="val 16667"/>
            </a:avLst>
          </a:prstGeom>
          <a:blipFill rotWithShape="1">
            <a:blip r:embed="rId2"/>
          </a:blipFill>
          <a:ln w="57150">
            <a:noFill/>
          </a:ln>
        </p:spPr>
        <p:txBody>
          <a:bodyPr wrap="none" anchor="ctr" anchorCtr="0"/>
          <a:p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基波（和原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函数同频）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58372" name="AutoShape 4"/>
          <p:cNvSpPr/>
          <p:nvPr/>
        </p:nvSpPr>
        <p:spPr>
          <a:xfrm>
            <a:off x="6877050" y="2422525"/>
            <a:ext cx="1847850" cy="904875"/>
          </a:xfrm>
          <a:prstGeom prst="wedgeRoundRectCallout">
            <a:avLst>
              <a:gd name="adj1" fmla="val -167181"/>
              <a:gd name="adj2" fmla="val 14560"/>
              <a:gd name="adj3" fmla="val 16667"/>
            </a:avLst>
          </a:prstGeom>
          <a:solidFill>
            <a:srgbClr val="FF9900"/>
          </a:solidFill>
          <a:ln w="57150">
            <a:noFill/>
          </a:ln>
        </p:spPr>
        <p:txBody>
          <a:bodyPr wrap="none" anchor="ctr" anchorCtr="0"/>
          <a:p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二次谐波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（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倍频）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3081" name="Rectangle 5"/>
          <p:cNvSpPr/>
          <p:nvPr/>
        </p:nvSpPr>
        <p:spPr>
          <a:xfrm>
            <a:off x="465138" y="3690938"/>
            <a:ext cx="1333500" cy="6397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4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endParaRPr lang="en-US" altLang="zh-CN" sz="36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374" name="AutoShape 6" descr="新闻纸"/>
          <p:cNvSpPr/>
          <p:nvPr/>
        </p:nvSpPr>
        <p:spPr>
          <a:xfrm>
            <a:off x="6948488" y="3575050"/>
            <a:ext cx="1655762" cy="647700"/>
          </a:xfrm>
          <a:prstGeom prst="wedgeRoundRectCallout">
            <a:avLst>
              <a:gd name="adj1" fmla="val -189787"/>
              <a:gd name="adj2" fmla="val -8579"/>
              <a:gd name="adj3" fmla="val 16667"/>
            </a:avLst>
          </a:prstGeom>
          <a:blipFill rotWithShape="1">
            <a:blip r:embed="rId3"/>
          </a:blipFill>
          <a:ln w="57150">
            <a:noFill/>
          </a:ln>
        </p:spPr>
        <p:txBody>
          <a:bodyPr wrap="none" anchor="ctr" anchorCtr="0"/>
          <a:p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高次谐波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3083" name="Text Box 7"/>
          <p:cNvSpPr txBox="1"/>
          <p:nvPr/>
        </p:nvSpPr>
        <p:spPr>
          <a:xfrm>
            <a:off x="9588500" y="168275"/>
            <a:ext cx="184150" cy="641350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endParaRPr lang="zh-CN" altLang="zh-CN" sz="36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8376" name="Object 8"/>
          <p:cNvGraphicFramePr/>
          <p:nvPr/>
        </p:nvGraphicFramePr>
        <p:xfrm>
          <a:off x="863600" y="4365625"/>
          <a:ext cx="6626225" cy="136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4" imgW="2324100" imgH="457200" progId="Equation.3">
                  <p:embed/>
                </p:oleObj>
              </mc:Choice>
              <mc:Fallback>
                <p:oleObj name="" r:id="rId4" imgW="2324100" imgH="457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3600" y="4365625"/>
                        <a:ext cx="6626225" cy="13668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99FF"/>
                          </a:gs>
                          <a:gs pos="50000">
                            <a:schemeClr val="bg1"/>
                          </a:gs>
                          <a:gs pos="100000">
                            <a:srgbClr val="3399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8" name="Object 10"/>
          <p:cNvGraphicFramePr/>
          <p:nvPr/>
        </p:nvGraphicFramePr>
        <p:xfrm>
          <a:off x="539750" y="1628775"/>
          <a:ext cx="49276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6" imgW="2120265" imgH="241300" progId="Equation.3">
                  <p:embed/>
                </p:oleObj>
              </mc:Choice>
              <mc:Fallback>
                <p:oleObj name="" r:id="rId6" imgW="2120265" imgH="241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1628775"/>
                        <a:ext cx="4927600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9" name="Object 11"/>
          <p:cNvGraphicFramePr/>
          <p:nvPr/>
        </p:nvGraphicFramePr>
        <p:xfrm>
          <a:off x="1547813" y="2492375"/>
          <a:ext cx="368776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8" imgW="1612265" imgH="241300" progId="Equation.3">
                  <p:embed/>
                </p:oleObj>
              </mc:Choice>
              <mc:Fallback>
                <p:oleObj name="" r:id="rId8" imgW="1612265" imgH="2413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2492375"/>
                        <a:ext cx="3687762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0" name="Object 12"/>
          <p:cNvGraphicFramePr/>
          <p:nvPr/>
        </p:nvGraphicFramePr>
        <p:xfrm>
          <a:off x="1393825" y="3357563"/>
          <a:ext cx="34036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0" imgW="1447165" imgH="241300" progId="Equation.3">
                  <p:embed/>
                </p:oleObj>
              </mc:Choice>
              <mc:Fallback>
                <p:oleObj name="" r:id="rId10" imgW="1447165" imgH="2413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93825" y="3357563"/>
                        <a:ext cx="3403600" cy="595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1" name="Text Box 13"/>
          <p:cNvSpPr txBox="1"/>
          <p:nvPr/>
        </p:nvSpPr>
        <p:spPr>
          <a:xfrm>
            <a:off x="611188" y="620713"/>
            <a:ext cx="51133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周期函数展开成傅里叶级数：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085" name="Group 2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092" name="Picture 24" descr="789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3" name="Text Box 2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86" name="Group 2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090" name="Picture 27" descr="789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1" name="Text Box 2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87" name="Group 32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088" name="Picture 33" descr="789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89" name="Text Box 3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nimBg="1"/>
      <p:bldP spid="58372" grpId="0" animBg="1"/>
      <p:bldP spid="58374" grpId="0" animBg="1"/>
      <p:bldP spid="583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34" name="Object 2"/>
          <p:cNvGraphicFramePr/>
          <p:nvPr/>
        </p:nvGraphicFramePr>
        <p:xfrm>
          <a:off x="366713" y="1577975"/>
          <a:ext cx="8555037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2881630" imgH="431800" progId="Equation.3">
                  <p:embed/>
                </p:oleObj>
              </mc:Choice>
              <mc:Fallback>
                <p:oleObj name="" r:id="rId1" imgW="2881630" imgH="431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6713" y="1577975"/>
                        <a:ext cx="8555037" cy="13970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99FF"/>
                          </a:gs>
                          <a:gs pos="50000">
                            <a:schemeClr val="bg1"/>
                          </a:gs>
                          <a:gs pos="100000">
                            <a:srgbClr val="3399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/>
          <p:nvPr/>
        </p:nvGraphicFramePr>
        <p:xfrm>
          <a:off x="1042988" y="908050"/>
          <a:ext cx="69850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3262630" imgH="241300" progId="Equation.3">
                  <p:embed/>
                </p:oleObj>
              </mc:Choice>
              <mc:Fallback>
                <p:oleObj name="" r:id="rId3" imgW="3262630" imgH="2413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908050"/>
                        <a:ext cx="6985000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7"/>
          <p:cNvSpPr txBox="1"/>
          <p:nvPr/>
        </p:nvSpPr>
        <p:spPr>
          <a:xfrm>
            <a:off x="755650" y="476250"/>
            <a:ext cx="24479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也可表示成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8450" name="Object 18"/>
          <p:cNvGraphicFramePr/>
          <p:nvPr/>
        </p:nvGraphicFramePr>
        <p:xfrm>
          <a:off x="2916238" y="3789363"/>
          <a:ext cx="5313362" cy="280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2171700" imgH="1193800" progId="Equation.DSMT4">
                  <p:embed/>
                </p:oleObj>
              </mc:Choice>
              <mc:Fallback>
                <p:oleObj name="" r:id="rId5" imgW="2171700" imgH="11938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3789363"/>
                        <a:ext cx="5313362" cy="2809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AutoShape 19"/>
          <p:cNvSpPr/>
          <p:nvPr/>
        </p:nvSpPr>
        <p:spPr>
          <a:xfrm>
            <a:off x="2268538" y="3860800"/>
            <a:ext cx="431800" cy="2519363"/>
          </a:xfrm>
          <a:prstGeom prst="leftBrace">
            <a:avLst>
              <a:gd name="adj1" fmla="val 48621"/>
              <a:gd name="adj2" fmla="val 50000"/>
            </a:avLst>
          </a:prstGeom>
          <a:noFill/>
          <a:ln w="28575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18452" name="Text Box 20"/>
          <p:cNvSpPr txBox="1"/>
          <p:nvPr/>
        </p:nvSpPr>
        <p:spPr>
          <a:xfrm>
            <a:off x="539750" y="3141663"/>
            <a:ext cx="41036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系数之间的关系为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104" name="Group 3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111" name="Picture 38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12" name="Text Box 3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105" name="Group 4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109" name="Picture 41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10" name="Text Box 4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106" name="Group 46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107" name="Picture 47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8" name="Text Box 4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20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/>
      <p:bldP spid="18451" grpId="0" animBg="1"/>
      <p:bldP spid="184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410" name="Object 2"/>
          <p:cNvGraphicFramePr/>
          <p:nvPr/>
        </p:nvGraphicFramePr>
        <p:xfrm>
          <a:off x="1036638" y="954088"/>
          <a:ext cx="5535612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159000" imgH="1397000" progId="Equation.3">
                  <p:embed/>
                </p:oleObj>
              </mc:Choice>
              <mc:Fallback>
                <p:oleObj name="" r:id="rId1" imgW="2159000" imgH="13970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36638" y="954088"/>
                        <a:ext cx="5535612" cy="3609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Text Box 8"/>
          <p:cNvSpPr txBox="1"/>
          <p:nvPr/>
        </p:nvSpPr>
        <p:spPr>
          <a:xfrm>
            <a:off x="755650" y="4675188"/>
            <a:ext cx="7505700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楷体_GB2312" pitchFamily="49" charset="-122"/>
              </a:rPr>
              <a:t>求出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楷体_GB2312" pitchFamily="49" charset="-122"/>
              </a:rPr>
              <a:t>便可得到原函数</a:t>
            </a:r>
            <a:r>
              <a:rPr lang="zh-CN" altLang="en-US" dirty="0">
                <a:latin typeface="楷体_GB2312" pitchFamily="49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楷体_GB2312" pitchFamily="49" charset="-122"/>
              </a:rPr>
              <a:t>的展开式。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17420" name="Text Box 12"/>
          <p:cNvSpPr txBox="1"/>
          <p:nvPr/>
        </p:nvSpPr>
        <p:spPr>
          <a:xfrm>
            <a:off x="684213" y="549275"/>
            <a:ext cx="23764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系数的计算：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5125" name="Group 3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32" name="Picture 3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3" name="Text Box 3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6" name="Group 3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130" name="Picture 3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1" name="Text Box 3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7" name="Group 3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128" name="Picture 4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9" name="Text Box 4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6" grpId="0"/>
      <p:bldP spid="174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98" name="Text Box 114"/>
          <p:cNvSpPr txBox="1"/>
          <p:nvPr/>
        </p:nvSpPr>
        <p:spPr>
          <a:xfrm>
            <a:off x="1979613" y="549275"/>
            <a:ext cx="66246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利用函数的对称性可使系数的确定简化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499" name="Text Box 115"/>
          <p:cNvSpPr txBox="1"/>
          <p:nvPr/>
        </p:nvSpPr>
        <p:spPr>
          <a:xfrm>
            <a:off x="682625" y="1268413"/>
            <a:ext cx="2160588" cy="547687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偶函数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16525" name="Object 141"/>
          <p:cNvGraphicFramePr/>
          <p:nvPr/>
        </p:nvGraphicFramePr>
        <p:xfrm>
          <a:off x="684213" y="2060575"/>
          <a:ext cx="332263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548765" imgH="241300" progId="Equation.3">
                  <p:embed/>
                </p:oleObj>
              </mc:Choice>
              <mc:Fallback>
                <p:oleObj name="" r:id="rId1" imgW="1548765" imgH="2413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2060575"/>
                        <a:ext cx="3322637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47" name="Object 163"/>
          <p:cNvGraphicFramePr/>
          <p:nvPr/>
        </p:nvGraphicFramePr>
        <p:xfrm>
          <a:off x="644525" y="3702050"/>
          <a:ext cx="335121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1561465" imgH="241300" progId="Equation.3">
                  <p:embed/>
                </p:oleObj>
              </mc:Choice>
              <mc:Fallback>
                <p:oleObj name="" r:id="rId3" imgW="1561465" imgH="2413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4525" y="3702050"/>
                        <a:ext cx="3351213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48" name="Text Box 164"/>
          <p:cNvSpPr txBox="1"/>
          <p:nvPr/>
        </p:nvSpPr>
        <p:spPr>
          <a:xfrm>
            <a:off x="682625" y="2924175"/>
            <a:ext cx="2016125" cy="547688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Arial" panose="020B0604020202020204" pitchFamily="34" charset="0"/>
              </a:rPr>
              <a:t>奇函数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549" name="Text Box 165"/>
          <p:cNvSpPr txBox="1"/>
          <p:nvPr/>
        </p:nvSpPr>
        <p:spPr>
          <a:xfrm>
            <a:off x="682625" y="4537075"/>
            <a:ext cx="2808288" cy="547688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Arial" panose="020B0604020202020204" pitchFamily="34" charset="0"/>
              </a:rPr>
              <a:t>奇谐波函数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550" name="Object 166"/>
          <p:cNvGraphicFramePr/>
          <p:nvPr/>
        </p:nvGraphicFramePr>
        <p:xfrm>
          <a:off x="606425" y="5151438"/>
          <a:ext cx="490220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" imgW="2284730" imgH="444500" progId="Equation.3">
                  <p:embed/>
                </p:oleObj>
              </mc:Choice>
              <mc:Fallback>
                <p:oleObj name="" r:id="rId5" imgW="2284730" imgH="4445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6425" y="5151438"/>
                        <a:ext cx="4902200" cy="1014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5"/>
          <p:cNvGrpSpPr/>
          <p:nvPr/>
        </p:nvGrpSpPr>
        <p:grpSpPr>
          <a:xfrm>
            <a:off x="468313" y="333375"/>
            <a:ext cx="1644650" cy="850900"/>
            <a:chOff x="385" y="3022"/>
            <a:chExt cx="1036" cy="536"/>
          </a:xfrm>
        </p:grpSpPr>
        <p:pic>
          <p:nvPicPr>
            <p:cNvPr id="6211" name="Picture 196" descr="1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12" name="Text Box 197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3" name="Group 243"/>
          <p:cNvGrpSpPr/>
          <p:nvPr/>
        </p:nvGrpSpPr>
        <p:grpSpPr>
          <a:xfrm>
            <a:off x="4643438" y="981075"/>
            <a:ext cx="3663950" cy="1947863"/>
            <a:chOff x="2925" y="618"/>
            <a:chExt cx="2308" cy="1227"/>
          </a:xfrm>
        </p:grpSpPr>
        <p:sp>
          <p:nvSpPr>
            <p:cNvPr id="6194" name="Line 199"/>
            <p:cNvSpPr/>
            <p:nvPr/>
          </p:nvSpPr>
          <p:spPr>
            <a:xfrm>
              <a:off x="3895" y="823"/>
              <a:ext cx="0" cy="1022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6195" name="Line 200"/>
            <p:cNvSpPr/>
            <p:nvPr/>
          </p:nvSpPr>
          <p:spPr>
            <a:xfrm>
              <a:off x="2952" y="1418"/>
              <a:ext cx="2144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96" name="Line 201"/>
            <p:cNvSpPr/>
            <p:nvPr/>
          </p:nvSpPr>
          <p:spPr>
            <a:xfrm>
              <a:off x="2970" y="1797"/>
              <a:ext cx="63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7" name="Line 202"/>
            <p:cNvSpPr/>
            <p:nvPr/>
          </p:nvSpPr>
          <p:spPr>
            <a:xfrm flipH="1">
              <a:off x="2970" y="1071"/>
              <a:ext cx="1" cy="73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8" name="Line 203"/>
            <p:cNvSpPr/>
            <p:nvPr/>
          </p:nvSpPr>
          <p:spPr>
            <a:xfrm>
              <a:off x="4784" y="1026"/>
              <a:ext cx="363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9" name="Line 204"/>
            <p:cNvSpPr/>
            <p:nvPr/>
          </p:nvSpPr>
          <p:spPr>
            <a:xfrm>
              <a:off x="3605" y="1026"/>
              <a:ext cx="54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0" name="Line 205"/>
            <p:cNvSpPr/>
            <p:nvPr/>
          </p:nvSpPr>
          <p:spPr>
            <a:xfrm flipV="1">
              <a:off x="4152" y="1797"/>
              <a:ext cx="632" cy="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1" name="Line 206"/>
            <p:cNvSpPr/>
            <p:nvPr/>
          </p:nvSpPr>
          <p:spPr>
            <a:xfrm flipH="1">
              <a:off x="3605" y="1026"/>
              <a:ext cx="1" cy="77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2" name="Line 207"/>
            <p:cNvSpPr/>
            <p:nvPr/>
          </p:nvSpPr>
          <p:spPr>
            <a:xfrm flipH="1">
              <a:off x="4149" y="1026"/>
              <a:ext cx="1" cy="78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3" name="Line 208"/>
            <p:cNvSpPr/>
            <p:nvPr/>
          </p:nvSpPr>
          <p:spPr>
            <a:xfrm flipH="1">
              <a:off x="4784" y="1026"/>
              <a:ext cx="1" cy="77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4" name="Text Box 209"/>
            <p:cNvSpPr txBox="1"/>
            <p:nvPr/>
          </p:nvSpPr>
          <p:spPr>
            <a:xfrm>
              <a:off x="2925" y="1389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T/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05" name="Text Box 210"/>
            <p:cNvSpPr txBox="1"/>
            <p:nvPr/>
          </p:nvSpPr>
          <p:spPr>
            <a:xfrm>
              <a:off x="5011" y="1435"/>
              <a:ext cx="22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06" name="Text Box 211"/>
            <p:cNvSpPr txBox="1"/>
            <p:nvPr/>
          </p:nvSpPr>
          <p:spPr>
            <a:xfrm>
              <a:off x="4240" y="1389"/>
              <a:ext cx="47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T/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07" name="Line 212"/>
            <p:cNvSpPr/>
            <p:nvPr/>
          </p:nvSpPr>
          <p:spPr>
            <a:xfrm>
              <a:off x="4512" y="1348"/>
              <a:ext cx="0" cy="7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8" name="Line 213"/>
            <p:cNvSpPr/>
            <p:nvPr/>
          </p:nvSpPr>
          <p:spPr>
            <a:xfrm>
              <a:off x="3287" y="1348"/>
              <a:ext cx="0" cy="7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9" name="Text Box 214"/>
            <p:cNvSpPr txBox="1"/>
            <p:nvPr/>
          </p:nvSpPr>
          <p:spPr>
            <a:xfrm>
              <a:off x="3968" y="618"/>
              <a:ext cx="47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10" name="Text Box 242"/>
            <p:cNvSpPr txBox="1"/>
            <p:nvPr/>
          </p:nvSpPr>
          <p:spPr>
            <a:xfrm>
              <a:off x="3606" y="1379"/>
              <a:ext cx="771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245"/>
          <p:cNvGrpSpPr/>
          <p:nvPr/>
        </p:nvGrpSpPr>
        <p:grpSpPr>
          <a:xfrm>
            <a:off x="4716463" y="2924175"/>
            <a:ext cx="3232150" cy="1704975"/>
            <a:chOff x="2971" y="1842"/>
            <a:chExt cx="2036" cy="1074"/>
          </a:xfrm>
        </p:grpSpPr>
        <p:sp>
          <p:nvSpPr>
            <p:cNvPr id="6181" name="Line 216"/>
            <p:cNvSpPr/>
            <p:nvPr/>
          </p:nvSpPr>
          <p:spPr>
            <a:xfrm>
              <a:off x="3904" y="2011"/>
              <a:ext cx="0" cy="905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6182" name="Line 217"/>
            <p:cNvSpPr/>
            <p:nvPr/>
          </p:nvSpPr>
          <p:spPr>
            <a:xfrm>
              <a:off x="2971" y="2432"/>
              <a:ext cx="1996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83" name="Line 218"/>
            <p:cNvSpPr/>
            <p:nvPr/>
          </p:nvSpPr>
          <p:spPr>
            <a:xfrm flipV="1">
              <a:off x="3288" y="2794"/>
              <a:ext cx="635" cy="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4" name="Line 219"/>
            <p:cNvSpPr/>
            <p:nvPr/>
          </p:nvSpPr>
          <p:spPr>
            <a:xfrm flipH="1">
              <a:off x="3288" y="2114"/>
              <a:ext cx="0" cy="67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5" name="Line 220"/>
            <p:cNvSpPr/>
            <p:nvPr/>
          </p:nvSpPr>
          <p:spPr>
            <a:xfrm flipV="1">
              <a:off x="3923" y="2114"/>
              <a:ext cx="59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6" name="Line 221"/>
            <p:cNvSpPr/>
            <p:nvPr/>
          </p:nvSpPr>
          <p:spPr>
            <a:xfrm>
              <a:off x="4513" y="2794"/>
              <a:ext cx="40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7" name="Line 222"/>
            <p:cNvSpPr/>
            <p:nvPr/>
          </p:nvSpPr>
          <p:spPr>
            <a:xfrm flipH="1">
              <a:off x="4513" y="2114"/>
              <a:ext cx="4" cy="68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8" name="Text Box 223"/>
            <p:cNvSpPr txBox="1"/>
            <p:nvPr/>
          </p:nvSpPr>
          <p:spPr>
            <a:xfrm>
              <a:off x="3152" y="2377"/>
              <a:ext cx="770" cy="327"/>
            </a:xfrm>
            <a:prstGeom prst="rect">
              <a:avLst/>
            </a:prstGeom>
            <a:noFill/>
            <a:ln w="571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T/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89" name="Text Box 224"/>
            <p:cNvSpPr txBox="1"/>
            <p:nvPr/>
          </p:nvSpPr>
          <p:spPr>
            <a:xfrm>
              <a:off x="4785" y="2386"/>
              <a:ext cx="22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90" name="Text Box 225"/>
            <p:cNvSpPr txBox="1"/>
            <p:nvPr/>
          </p:nvSpPr>
          <p:spPr>
            <a:xfrm>
              <a:off x="4468" y="2160"/>
              <a:ext cx="470" cy="596"/>
            </a:xfrm>
            <a:prstGeom prst="rect">
              <a:avLst/>
            </a:prstGeom>
            <a:noFill/>
            <a:ln w="571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T/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91" name="Text Box 226"/>
            <p:cNvSpPr txBox="1"/>
            <p:nvPr/>
          </p:nvSpPr>
          <p:spPr>
            <a:xfrm>
              <a:off x="3470" y="1842"/>
              <a:ext cx="47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(t)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92" name="Line 227"/>
            <p:cNvSpPr/>
            <p:nvPr/>
          </p:nvSpPr>
          <p:spPr>
            <a:xfrm>
              <a:off x="3061" y="2114"/>
              <a:ext cx="227" cy="1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3" name="Text Box 244"/>
            <p:cNvSpPr txBox="1"/>
            <p:nvPr/>
          </p:nvSpPr>
          <p:spPr>
            <a:xfrm>
              <a:off x="3833" y="2387"/>
              <a:ext cx="770" cy="250"/>
            </a:xfrm>
            <a:prstGeom prst="rect">
              <a:avLst/>
            </a:prstGeom>
            <a:noFill/>
            <a:ln w="571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247"/>
          <p:cNvGrpSpPr/>
          <p:nvPr/>
        </p:nvGrpSpPr>
        <p:grpSpPr>
          <a:xfrm>
            <a:off x="5724525" y="4581525"/>
            <a:ext cx="3240088" cy="1871663"/>
            <a:chOff x="3606" y="2886"/>
            <a:chExt cx="2041" cy="1179"/>
          </a:xfrm>
        </p:grpSpPr>
        <p:grpSp>
          <p:nvGrpSpPr>
            <p:cNvPr id="6166" name="Group 228"/>
            <p:cNvGrpSpPr/>
            <p:nvPr/>
          </p:nvGrpSpPr>
          <p:grpSpPr>
            <a:xfrm>
              <a:off x="3606" y="2886"/>
              <a:ext cx="2041" cy="1179"/>
              <a:chOff x="2426" y="1071"/>
              <a:chExt cx="2041" cy="1179"/>
            </a:xfrm>
          </p:grpSpPr>
          <p:grpSp>
            <p:nvGrpSpPr>
              <p:cNvPr id="6168" name="Group 229"/>
              <p:cNvGrpSpPr/>
              <p:nvPr/>
            </p:nvGrpSpPr>
            <p:grpSpPr>
              <a:xfrm>
                <a:off x="2426" y="1071"/>
                <a:ext cx="2041" cy="1179"/>
                <a:chOff x="3424" y="2886"/>
                <a:chExt cx="2041" cy="1179"/>
              </a:xfrm>
            </p:grpSpPr>
            <p:sp>
              <p:nvSpPr>
                <p:cNvPr id="6171" name="Line 230"/>
                <p:cNvSpPr/>
                <p:nvPr/>
              </p:nvSpPr>
              <p:spPr>
                <a:xfrm>
                  <a:off x="3424" y="3566"/>
                  <a:ext cx="1769" cy="0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172" name="Line 231"/>
                <p:cNvSpPr/>
                <p:nvPr/>
              </p:nvSpPr>
              <p:spPr>
                <a:xfrm flipV="1">
                  <a:off x="3696" y="2976"/>
                  <a:ext cx="0" cy="1089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173" name="Line 232"/>
                <p:cNvSpPr/>
                <p:nvPr/>
              </p:nvSpPr>
              <p:spPr>
                <a:xfrm flipV="1">
                  <a:off x="3696" y="3158"/>
                  <a:ext cx="499" cy="408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74" name="Line 233"/>
                <p:cNvSpPr/>
                <p:nvPr/>
              </p:nvSpPr>
              <p:spPr>
                <a:xfrm>
                  <a:off x="4195" y="3158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75" name="Line 234"/>
                <p:cNvSpPr/>
                <p:nvPr/>
              </p:nvSpPr>
              <p:spPr>
                <a:xfrm>
                  <a:off x="4195" y="3566"/>
                  <a:ext cx="499" cy="408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76" name="Line 235"/>
                <p:cNvSpPr/>
                <p:nvPr/>
              </p:nvSpPr>
              <p:spPr>
                <a:xfrm flipV="1">
                  <a:off x="4694" y="3566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77" name="Text Box 236"/>
                <p:cNvSpPr txBox="1"/>
                <p:nvPr/>
              </p:nvSpPr>
              <p:spPr>
                <a:xfrm>
                  <a:off x="5193" y="3430"/>
                  <a:ext cx="272" cy="32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仿宋_GB2312" pitchFamily="49" charset="-122"/>
                    </a:rPr>
                    <a:t>t</a:t>
                  </a:r>
                  <a:endPara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endParaRPr>
                </a:p>
              </p:txBody>
            </p:sp>
            <p:sp>
              <p:nvSpPr>
                <p:cNvPr id="6178" name="Text Box 237"/>
                <p:cNvSpPr txBox="1"/>
                <p:nvPr/>
              </p:nvSpPr>
              <p:spPr>
                <a:xfrm>
                  <a:off x="3696" y="2886"/>
                  <a:ext cx="454" cy="32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仿宋_GB2312" pitchFamily="49" charset="-122"/>
                    </a:rPr>
                    <a:t>f </a:t>
                  </a: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仿宋_GB2312" pitchFamily="49" charset="-122"/>
                    </a:rPr>
                    <a:t>(t)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endParaRPr>
                </a:p>
              </p:txBody>
            </p:sp>
            <p:sp>
              <p:nvSpPr>
                <p:cNvPr id="6179" name="Line 238"/>
                <p:cNvSpPr/>
                <p:nvPr/>
              </p:nvSpPr>
              <p:spPr>
                <a:xfrm flipV="1">
                  <a:off x="4195" y="3158"/>
                  <a:ext cx="499" cy="408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180" name="Line 239"/>
                <p:cNvSpPr/>
                <p:nvPr/>
              </p:nvSpPr>
              <p:spPr>
                <a:xfrm>
                  <a:off x="4694" y="3158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169" name="Text Box 240"/>
              <p:cNvSpPr txBox="1"/>
              <p:nvPr/>
            </p:nvSpPr>
            <p:spPr>
              <a:xfrm>
                <a:off x="2880" y="1752"/>
                <a:ext cx="635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T/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2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6170" name="Text Box 241"/>
              <p:cNvSpPr txBox="1"/>
              <p:nvPr/>
            </p:nvSpPr>
            <p:spPr>
              <a:xfrm>
                <a:off x="3650" y="1706"/>
                <a:ext cx="45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T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  <p:sp>
          <p:nvSpPr>
            <p:cNvPr id="6167" name="Text Box 246"/>
            <p:cNvSpPr txBox="1"/>
            <p:nvPr/>
          </p:nvSpPr>
          <p:spPr>
            <a:xfrm>
              <a:off x="3651" y="3521"/>
              <a:ext cx="1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6157" name="Group 25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164" name="Picture 252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65" name="Text Box 25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58" name="Group 25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162" name="Picture 255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63" name="Text Box 25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59" name="Group 260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160" name="Picture 261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61" name="Text Box 26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6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98" grpId="0"/>
      <p:bldP spid="16499" grpId="0" animBg="1"/>
      <p:bldP spid="16548" grpId="0" animBg="1"/>
      <p:bldP spid="165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51" name="Text Box 35"/>
          <p:cNvSpPr txBox="1"/>
          <p:nvPr/>
        </p:nvSpPr>
        <p:spPr>
          <a:xfrm>
            <a:off x="468313" y="549275"/>
            <a:ext cx="4032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周期函数的频谱图：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4" name="Rectangle 37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0455" name="Rectangle 39"/>
          <p:cNvSpPr/>
          <p:nvPr/>
        </p:nvSpPr>
        <p:spPr>
          <a:xfrm>
            <a:off x="539750" y="1254125"/>
            <a:ext cx="1820863" cy="547688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楷体_GB2312" pitchFamily="49" charset="-122"/>
              </a:rPr>
              <a:t>幅度频谱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0456" name="Line 40"/>
          <p:cNvSpPr/>
          <p:nvPr/>
        </p:nvSpPr>
        <p:spPr>
          <a:xfrm>
            <a:off x="2555875" y="1557338"/>
            <a:ext cx="720725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" name="Group 47"/>
          <p:cNvGrpSpPr/>
          <p:nvPr/>
        </p:nvGrpSpPr>
        <p:grpSpPr>
          <a:xfrm>
            <a:off x="1619250" y="1844675"/>
            <a:ext cx="5689600" cy="3097213"/>
            <a:chOff x="1383" y="1071"/>
            <a:chExt cx="3584" cy="1951"/>
          </a:xfrm>
        </p:grpSpPr>
        <p:grpSp>
          <p:nvGrpSpPr>
            <p:cNvPr id="7194" name="Group 46"/>
            <p:cNvGrpSpPr/>
            <p:nvPr/>
          </p:nvGrpSpPr>
          <p:grpSpPr>
            <a:xfrm>
              <a:off x="1383" y="1071"/>
              <a:ext cx="3357" cy="1951"/>
              <a:chOff x="1383" y="1071"/>
              <a:chExt cx="3357" cy="1951"/>
            </a:xfrm>
          </p:grpSpPr>
          <p:sp>
            <p:nvSpPr>
              <p:cNvPr id="7199" name="Line 4"/>
              <p:cNvSpPr/>
              <p:nvPr/>
            </p:nvSpPr>
            <p:spPr>
              <a:xfrm>
                <a:off x="1474" y="2704"/>
                <a:ext cx="3266" cy="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00" name="Line 5"/>
              <p:cNvSpPr/>
              <p:nvPr/>
            </p:nvSpPr>
            <p:spPr>
              <a:xfrm flipV="1">
                <a:off x="1610" y="1162"/>
                <a:ext cx="0" cy="1723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7172" name="Object 6">
                <a:hlinkClick r:id="" action="ppaction://ole?verb="/>
              </p:cNvPr>
              <p:cNvGraphicFramePr/>
              <p:nvPr/>
            </p:nvGraphicFramePr>
            <p:xfrm>
              <a:off x="1927" y="2704"/>
              <a:ext cx="1622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" name="" r:id="rId1" imgW="1472565" imgH="241300" progId="Equation.3">
                      <p:embed/>
                    </p:oleObj>
                  </mc:Choice>
                  <mc:Fallback>
                    <p:oleObj name="" r:id="rId1" imgW="1472565" imgH="241300" progId="Equation.3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2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927" y="2704"/>
                            <a:ext cx="1622" cy="31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01" name="Line 7"/>
              <p:cNvSpPr/>
              <p:nvPr/>
            </p:nvSpPr>
            <p:spPr>
              <a:xfrm>
                <a:off x="2018" y="1616"/>
                <a:ext cx="0" cy="1089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02" name="Line 8"/>
              <p:cNvSpPr/>
              <p:nvPr/>
            </p:nvSpPr>
            <p:spPr>
              <a:xfrm>
                <a:off x="2472" y="1842"/>
                <a:ext cx="0" cy="862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03" name="Line 9"/>
              <p:cNvSpPr/>
              <p:nvPr/>
            </p:nvSpPr>
            <p:spPr>
              <a:xfrm>
                <a:off x="2925" y="2160"/>
                <a:ext cx="0" cy="545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04" name="Line 10"/>
              <p:cNvSpPr/>
              <p:nvPr/>
            </p:nvSpPr>
            <p:spPr>
              <a:xfrm>
                <a:off x="3379" y="1842"/>
                <a:ext cx="0" cy="862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05" name="Text Box 11"/>
              <p:cNvSpPr txBox="1"/>
              <p:nvPr/>
            </p:nvSpPr>
            <p:spPr>
              <a:xfrm>
                <a:off x="1701" y="1071"/>
                <a:ext cx="63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A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km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7206" name="Text Box 12"/>
              <p:cNvSpPr txBox="1"/>
              <p:nvPr/>
            </p:nvSpPr>
            <p:spPr>
              <a:xfrm>
                <a:off x="1383" y="2659"/>
                <a:ext cx="45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O</a:t>
                </a:r>
                <a:endParaRPr lang="en-US" altLang="zh-CN" sz="20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  <p:sp>
          <p:nvSpPr>
            <p:cNvPr id="7195" name="Freeform 42"/>
            <p:cNvSpPr/>
            <p:nvPr/>
          </p:nvSpPr>
          <p:spPr>
            <a:xfrm>
              <a:off x="1610" y="1547"/>
              <a:ext cx="2585" cy="794"/>
            </a:xfrm>
            <a:custGeom>
              <a:avLst/>
              <a:gdLst>
                <a:gd name="txL" fmla="*/ 0 w 2585"/>
                <a:gd name="txT" fmla="*/ 0 h 794"/>
                <a:gd name="txR" fmla="*/ 2585 w 2585"/>
                <a:gd name="txB" fmla="*/ 794 h 794"/>
              </a:gdLst>
              <a:ahLst/>
              <a:cxnLst>
                <a:cxn ang="0">
                  <a:pos x="0" y="23"/>
                </a:cxn>
                <a:cxn ang="0">
                  <a:pos x="317" y="23"/>
                </a:cxn>
                <a:cxn ang="0">
                  <a:pos x="680" y="159"/>
                </a:cxn>
                <a:cxn ang="0">
                  <a:pos x="1134" y="522"/>
                </a:cxn>
                <a:cxn ang="0">
                  <a:pos x="1406" y="568"/>
                </a:cxn>
                <a:cxn ang="0">
                  <a:pos x="1860" y="205"/>
                </a:cxn>
                <a:cxn ang="0">
                  <a:pos x="2086" y="159"/>
                </a:cxn>
                <a:cxn ang="0">
                  <a:pos x="2268" y="386"/>
                </a:cxn>
                <a:cxn ang="0">
                  <a:pos x="2585" y="794"/>
                </a:cxn>
              </a:cxnLst>
              <a:rect l="txL" t="txT" r="txR" b="txB"/>
              <a:pathLst>
                <a:path w="2585" h="794">
                  <a:moveTo>
                    <a:pt x="0" y="23"/>
                  </a:moveTo>
                  <a:cubicBezTo>
                    <a:pt x="102" y="11"/>
                    <a:pt x="204" y="0"/>
                    <a:pt x="317" y="23"/>
                  </a:cubicBezTo>
                  <a:cubicBezTo>
                    <a:pt x="430" y="46"/>
                    <a:pt x="544" y="76"/>
                    <a:pt x="680" y="159"/>
                  </a:cubicBezTo>
                  <a:cubicBezTo>
                    <a:pt x="816" y="242"/>
                    <a:pt x="1013" y="454"/>
                    <a:pt x="1134" y="522"/>
                  </a:cubicBezTo>
                  <a:cubicBezTo>
                    <a:pt x="1255" y="590"/>
                    <a:pt x="1285" y="621"/>
                    <a:pt x="1406" y="568"/>
                  </a:cubicBezTo>
                  <a:cubicBezTo>
                    <a:pt x="1527" y="515"/>
                    <a:pt x="1747" y="273"/>
                    <a:pt x="1860" y="205"/>
                  </a:cubicBezTo>
                  <a:cubicBezTo>
                    <a:pt x="1973" y="137"/>
                    <a:pt x="2018" y="129"/>
                    <a:pt x="2086" y="159"/>
                  </a:cubicBezTo>
                  <a:cubicBezTo>
                    <a:pt x="2154" y="189"/>
                    <a:pt x="2185" y="280"/>
                    <a:pt x="2268" y="386"/>
                  </a:cubicBezTo>
                  <a:cubicBezTo>
                    <a:pt x="2351" y="492"/>
                    <a:pt x="2532" y="726"/>
                    <a:pt x="2585" y="794"/>
                  </a:cubicBezTo>
                </a:path>
              </a:pathLst>
            </a:custGeom>
            <a:noFill/>
            <a:ln w="28575" cap="flat" cmpd="sng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7196" name="Text Box 43"/>
            <p:cNvSpPr txBox="1"/>
            <p:nvPr/>
          </p:nvSpPr>
          <p:spPr>
            <a:xfrm>
              <a:off x="4332" y="2659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  <a:buNone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k</a:t>
              </a:r>
              <a:r>
                <a:rPr lang="el-GR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ω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7197" name="Line 44"/>
            <p:cNvSpPr/>
            <p:nvPr/>
          </p:nvSpPr>
          <p:spPr>
            <a:xfrm>
              <a:off x="3787" y="1842"/>
              <a:ext cx="0" cy="86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8" name="Line 45"/>
            <p:cNvSpPr/>
            <p:nvPr/>
          </p:nvSpPr>
          <p:spPr>
            <a:xfrm>
              <a:off x="4195" y="2341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0468" name="Rectangle 52"/>
          <p:cNvSpPr/>
          <p:nvPr/>
        </p:nvSpPr>
        <p:spPr>
          <a:xfrm>
            <a:off x="539750" y="5013325"/>
            <a:ext cx="1820863" cy="547688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楷体_GB2312" pitchFamily="49" charset="-122"/>
              </a:rPr>
              <a:t>相位频谱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0469" name="Line 53"/>
          <p:cNvSpPr/>
          <p:nvPr/>
        </p:nvSpPr>
        <p:spPr>
          <a:xfrm>
            <a:off x="2555875" y="5300663"/>
            <a:ext cx="720725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80" name="Rectangle 55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7181" name="Group 6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192" name="Picture 6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93" name="Text Box 6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182" name="Group 6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190" name="Picture 6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91" name="Text Box 6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183" name="Group 6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7188" name="Picture 7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89" name="Text Box 7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" name="Group 76"/>
          <p:cNvGrpSpPr/>
          <p:nvPr/>
        </p:nvGrpSpPr>
        <p:grpSpPr>
          <a:xfrm>
            <a:off x="3419475" y="1268413"/>
            <a:ext cx="2947988" cy="563562"/>
            <a:chOff x="2154" y="799"/>
            <a:chExt cx="1857" cy="355"/>
          </a:xfrm>
        </p:grpSpPr>
        <p:sp>
          <p:nvSpPr>
            <p:cNvPr id="7187" name="Rectangle 38"/>
            <p:cNvSpPr/>
            <p:nvPr/>
          </p:nvSpPr>
          <p:spPr>
            <a:xfrm>
              <a:off x="3107" y="799"/>
              <a:ext cx="9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zh-CN" altLang="en-US" dirty="0">
                  <a:latin typeface="楷体_GB2312" pitchFamily="49" charset="-122"/>
                </a:rPr>
                <a:t>的图形 </a:t>
              </a:r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7171" name="Object 72"/>
            <p:cNvGraphicFramePr/>
            <p:nvPr/>
          </p:nvGraphicFramePr>
          <p:xfrm>
            <a:off x="2154" y="799"/>
            <a:ext cx="1015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4" imgW="685800" imgH="228600" progId="Equation.3">
                    <p:embed/>
                  </p:oleObj>
                </mc:Choice>
                <mc:Fallback>
                  <p:oleObj name="" r:id="rId4" imgW="685800" imgH="2286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54" y="799"/>
                          <a:ext cx="1015" cy="3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74"/>
          <p:cNvGrpSpPr/>
          <p:nvPr/>
        </p:nvGrpSpPr>
        <p:grpSpPr>
          <a:xfrm>
            <a:off x="3419475" y="5084763"/>
            <a:ext cx="2732088" cy="563562"/>
            <a:chOff x="2154" y="3203"/>
            <a:chExt cx="1721" cy="355"/>
          </a:xfrm>
        </p:grpSpPr>
        <p:sp>
          <p:nvSpPr>
            <p:cNvPr id="7186" name="Rectangle 51"/>
            <p:cNvSpPr/>
            <p:nvPr/>
          </p:nvSpPr>
          <p:spPr>
            <a:xfrm>
              <a:off x="2971" y="3203"/>
              <a:ext cx="9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zh-CN" altLang="en-US" dirty="0">
                  <a:latin typeface="楷体_GB2312" pitchFamily="49" charset="-122"/>
                </a:rPr>
                <a:t>的图形 </a:t>
              </a:r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7170" name="Object 73"/>
            <p:cNvGraphicFramePr/>
            <p:nvPr/>
          </p:nvGraphicFramePr>
          <p:xfrm>
            <a:off x="2154" y="3203"/>
            <a:ext cx="902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6" imgW="609600" imgH="228600" progId="Equation.3">
                    <p:embed/>
                  </p:oleObj>
                </mc:Choice>
                <mc:Fallback>
                  <p:oleObj name="" r:id="rId6" imgW="609600" imgH="2286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54" y="3203"/>
                          <a:ext cx="902" cy="3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0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1000"/>
                                        <p:tgtEl>
                                          <p:spTgt spid="6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1000"/>
                                        <p:tgtEl>
                                          <p:spTgt spid="6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51" grpId="0"/>
      <p:bldP spid="60455" grpId="0" animBg="1"/>
      <p:bldP spid="6046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63" name="Text Box 15"/>
          <p:cNvSpPr txBox="1"/>
          <p:nvPr/>
        </p:nvSpPr>
        <p:spPr>
          <a:xfrm>
            <a:off x="1476375" y="404813"/>
            <a:ext cx="4248150" cy="5191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周期性方波信号的分解。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64" name="Text Box 16"/>
          <p:cNvSpPr txBox="1"/>
          <p:nvPr/>
        </p:nvSpPr>
        <p:spPr>
          <a:xfrm>
            <a:off x="395288" y="404813"/>
            <a:ext cx="11525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2-1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65" name="Text Box 17"/>
          <p:cNvSpPr txBox="1"/>
          <p:nvPr/>
        </p:nvSpPr>
        <p:spPr>
          <a:xfrm>
            <a:off x="539750" y="270827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66" name="Text Box 18"/>
          <p:cNvSpPr txBox="1"/>
          <p:nvPr/>
        </p:nvSpPr>
        <p:spPr>
          <a:xfrm>
            <a:off x="1476375" y="2781300"/>
            <a:ext cx="7127875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图示矩形波电流在一个周期内的表达式为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7667" name="Object 19"/>
          <p:cNvGraphicFramePr/>
          <p:nvPr/>
        </p:nvGraphicFramePr>
        <p:xfrm>
          <a:off x="4656138" y="539750"/>
          <a:ext cx="3846512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1930400" imgH="927100" progId="Equation.3">
                  <p:embed/>
                </p:oleObj>
              </mc:Choice>
              <mc:Fallback>
                <p:oleObj name="" r:id="rId1" imgW="1930400" imgH="9271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56138" y="539750"/>
                        <a:ext cx="3846512" cy="197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20"/>
          <p:cNvGraphicFramePr/>
          <p:nvPr/>
        </p:nvGraphicFramePr>
        <p:xfrm>
          <a:off x="2373313" y="3357563"/>
          <a:ext cx="633253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2360930" imgH="444500" progId="Equation.3">
                  <p:embed/>
                </p:oleObj>
              </mc:Choice>
              <mc:Fallback>
                <p:oleObj name="" r:id="rId3" imgW="2360930" imgH="4445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73313" y="3357563"/>
                        <a:ext cx="6332537" cy="1023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9" name="Text Box 21"/>
          <p:cNvSpPr txBox="1"/>
          <p:nvPr/>
        </p:nvSpPr>
        <p:spPr>
          <a:xfrm>
            <a:off x="323850" y="3500438"/>
            <a:ext cx="2808288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defTabSz="762000" eaLnBrk="0" hangingPunct="0"/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直流分量：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27670" name="Rectangle 22"/>
          <p:cNvSpPr/>
          <p:nvPr/>
        </p:nvSpPr>
        <p:spPr>
          <a:xfrm>
            <a:off x="468313" y="4581525"/>
            <a:ext cx="2232025" cy="51593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谐波分量：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672" name="Object 24"/>
          <p:cNvGraphicFramePr/>
          <p:nvPr/>
        </p:nvGraphicFramePr>
        <p:xfrm>
          <a:off x="2379663" y="4365625"/>
          <a:ext cx="52863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2082800" imgH="457200" progId="Equation.3">
                  <p:embed/>
                </p:oleObj>
              </mc:Choice>
              <mc:Fallback>
                <p:oleObj name="" r:id="rId5" imgW="2082800" imgH="4572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79663" y="4365625"/>
                        <a:ext cx="5286375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"/>
          <p:cNvGrpSpPr/>
          <p:nvPr/>
        </p:nvGrpSpPr>
        <p:grpSpPr>
          <a:xfrm>
            <a:off x="1441450" y="5145088"/>
            <a:ext cx="6950075" cy="1341437"/>
            <a:chOff x="908" y="3286"/>
            <a:chExt cx="4378" cy="845"/>
          </a:xfrm>
        </p:grpSpPr>
        <p:sp>
          <p:nvSpPr>
            <p:cNvPr id="8228" name="Rectangle 25"/>
            <p:cNvSpPr/>
            <p:nvPr/>
          </p:nvSpPr>
          <p:spPr>
            <a:xfrm>
              <a:off x="3923" y="3339"/>
              <a:ext cx="1363" cy="32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latin typeface="Times New Roman" panose="02020603050405020304" pitchFamily="18" charset="0"/>
                </a:rPr>
                <a:t>k</a:t>
              </a:r>
              <a:r>
                <a:rPr lang="zh-CN" altLang="en-US" dirty="0">
                  <a:latin typeface="楷体_GB2312" pitchFamily="49" charset="-122"/>
                </a:rPr>
                <a:t>为偶数</a:t>
              </a:r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8229" name="Rectangle 26"/>
            <p:cNvSpPr/>
            <p:nvPr/>
          </p:nvSpPr>
          <p:spPr>
            <a:xfrm>
              <a:off x="3969" y="3793"/>
              <a:ext cx="1227" cy="32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latin typeface="Times New Roman" panose="02020603050405020304" pitchFamily="18" charset="0"/>
                  <a:ea typeface="仿宋_GB2312" pitchFamily="49" charset="-122"/>
                </a:rPr>
                <a:t>k</a:t>
              </a:r>
              <a:r>
                <a:rPr lang="zh-CN" altLang="en-US" dirty="0">
                  <a:latin typeface="楷体_GB2312" pitchFamily="49" charset="-122"/>
                </a:rPr>
                <a:t>为奇数</a:t>
              </a:r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8199" name="Object 27"/>
            <p:cNvGraphicFramePr/>
            <p:nvPr/>
          </p:nvGraphicFramePr>
          <p:xfrm>
            <a:off x="908" y="3286"/>
            <a:ext cx="3100" cy="8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7" imgW="2018665" imgH="660400" progId="Equation.DSMT4">
                    <p:embed/>
                  </p:oleObj>
                </mc:Choice>
                <mc:Fallback>
                  <p:oleObj name="" r:id="rId7" imgW="2018665" imgH="660400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08" y="3286"/>
                          <a:ext cx="3100" cy="8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3"/>
          <p:cNvGrpSpPr/>
          <p:nvPr/>
        </p:nvGrpSpPr>
        <p:grpSpPr>
          <a:xfrm>
            <a:off x="1025525" y="782638"/>
            <a:ext cx="3328988" cy="2011362"/>
            <a:chOff x="782" y="583"/>
            <a:chExt cx="2097" cy="1267"/>
          </a:xfrm>
        </p:grpSpPr>
        <p:sp>
          <p:nvSpPr>
            <p:cNvPr id="8217" name="Line 3"/>
            <p:cNvSpPr/>
            <p:nvPr/>
          </p:nvSpPr>
          <p:spPr>
            <a:xfrm>
              <a:off x="1148" y="1549"/>
              <a:ext cx="164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18" name="Line 4"/>
            <p:cNvSpPr/>
            <p:nvPr/>
          </p:nvSpPr>
          <p:spPr>
            <a:xfrm flipV="1">
              <a:off x="1132" y="734"/>
              <a:ext cx="0" cy="953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19" name="Line 5"/>
            <p:cNvSpPr/>
            <p:nvPr/>
          </p:nvSpPr>
          <p:spPr>
            <a:xfrm>
              <a:off x="1148" y="1050"/>
              <a:ext cx="329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0" name="Line 6"/>
            <p:cNvSpPr/>
            <p:nvPr/>
          </p:nvSpPr>
          <p:spPr>
            <a:xfrm>
              <a:off x="1477" y="1038"/>
              <a:ext cx="0" cy="49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1" name="Line 7"/>
            <p:cNvSpPr/>
            <p:nvPr/>
          </p:nvSpPr>
          <p:spPr>
            <a:xfrm>
              <a:off x="1870" y="1055"/>
              <a:ext cx="0" cy="47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2" name="Rectangle 8"/>
            <p:cNvSpPr/>
            <p:nvPr/>
          </p:nvSpPr>
          <p:spPr>
            <a:xfrm>
              <a:off x="2586" y="1136"/>
              <a:ext cx="293" cy="402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sz="36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23" name="Rectangle 9"/>
            <p:cNvSpPr/>
            <p:nvPr/>
          </p:nvSpPr>
          <p:spPr>
            <a:xfrm>
              <a:off x="1247" y="1525"/>
              <a:ext cx="441" cy="325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24" name="Rectangle 10"/>
            <p:cNvSpPr/>
            <p:nvPr/>
          </p:nvSpPr>
          <p:spPr>
            <a:xfrm>
              <a:off x="1791" y="1525"/>
              <a:ext cx="342" cy="325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197" name="Object 11"/>
            <p:cNvGraphicFramePr/>
            <p:nvPr/>
          </p:nvGraphicFramePr>
          <p:xfrm>
            <a:off x="1156" y="583"/>
            <a:ext cx="279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9" imgW="139700" imgH="228600" progId="Equation.3">
                    <p:embed/>
                  </p:oleObj>
                </mc:Choice>
                <mc:Fallback>
                  <p:oleObj name="" r:id="rId9" imgW="139700" imgH="2286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56" y="583"/>
                          <a:ext cx="279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8" name="Object 12"/>
            <p:cNvGraphicFramePr/>
            <p:nvPr/>
          </p:nvGraphicFramePr>
          <p:xfrm>
            <a:off x="782" y="890"/>
            <a:ext cx="351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11" imgW="190500" imgH="228600" progId="Equation.3">
                    <p:embed/>
                  </p:oleObj>
                </mc:Choice>
                <mc:Fallback>
                  <p:oleObj name="" r:id="rId11" imgW="190500" imgH="2286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82" y="890"/>
                          <a:ext cx="351" cy="3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5" name="Line 13"/>
            <p:cNvSpPr/>
            <p:nvPr/>
          </p:nvSpPr>
          <p:spPr>
            <a:xfrm>
              <a:off x="1870" y="1057"/>
              <a:ext cx="32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6" name="Line 14"/>
            <p:cNvSpPr/>
            <p:nvPr/>
          </p:nvSpPr>
          <p:spPr>
            <a:xfrm>
              <a:off x="2198" y="1038"/>
              <a:ext cx="0" cy="51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7" name="Rectangle 42"/>
            <p:cNvSpPr/>
            <p:nvPr/>
          </p:nvSpPr>
          <p:spPr>
            <a:xfrm>
              <a:off x="905" y="1472"/>
              <a:ext cx="342" cy="248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208" name="Group 4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215" name="Picture 49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6" name="Text Box 5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209" name="Group 5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213" name="Picture 52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4" name="Text Box 5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210" name="Group 5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8211" name="Picture 58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2" name="Text Box 5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766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767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3" grpId="0"/>
      <p:bldP spid="27664" grpId="0"/>
      <p:bldP spid="27665" grpId="0" animBg="1"/>
      <p:bldP spid="27666" grpId="0"/>
      <p:bldP spid="27669" grpId="0" build="p"/>
      <p:bldP spid="2767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2" name="Line 10"/>
          <p:cNvSpPr/>
          <p:nvPr/>
        </p:nvSpPr>
        <p:spPr>
          <a:xfrm>
            <a:off x="147638" y="2938463"/>
            <a:ext cx="9064625" cy="0"/>
          </a:xfrm>
          <a:prstGeom prst="line">
            <a:avLst/>
          </a:prstGeom>
          <a:ln w="28575">
            <a:noFill/>
          </a:ln>
        </p:spPr>
      </p:sp>
      <p:sp>
        <p:nvSpPr>
          <p:cNvPr id="9223" name="Line 11"/>
          <p:cNvSpPr/>
          <p:nvPr/>
        </p:nvSpPr>
        <p:spPr>
          <a:xfrm>
            <a:off x="193675" y="6794500"/>
            <a:ext cx="9018588" cy="0"/>
          </a:xfrm>
          <a:prstGeom prst="line">
            <a:avLst/>
          </a:prstGeom>
          <a:ln w="28575">
            <a:noFill/>
          </a:ln>
        </p:spPr>
      </p:sp>
      <p:sp>
        <p:nvSpPr>
          <p:cNvPr id="9224" name="Line 12"/>
          <p:cNvSpPr/>
          <p:nvPr/>
        </p:nvSpPr>
        <p:spPr>
          <a:xfrm>
            <a:off x="147638" y="2938463"/>
            <a:ext cx="0" cy="3856037"/>
          </a:xfrm>
          <a:prstGeom prst="line">
            <a:avLst/>
          </a:prstGeom>
          <a:ln w="28575">
            <a:noFill/>
          </a:ln>
        </p:spPr>
      </p:sp>
      <p:sp>
        <p:nvSpPr>
          <p:cNvPr id="9225" name="Line 13"/>
          <p:cNvSpPr/>
          <p:nvPr/>
        </p:nvSpPr>
        <p:spPr>
          <a:xfrm>
            <a:off x="9212263" y="2938463"/>
            <a:ext cx="0" cy="3856037"/>
          </a:xfrm>
          <a:prstGeom prst="line">
            <a:avLst/>
          </a:prstGeom>
          <a:ln w="28575">
            <a:noFill/>
          </a:ln>
        </p:spPr>
      </p:sp>
      <p:graphicFrame>
        <p:nvGraphicFramePr>
          <p:cNvPr id="29710" name="Object 14"/>
          <p:cNvGraphicFramePr/>
          <p:nvPr/>
        </p:nvGraphicFramePr>
        <p:xfrm>
          <a:off x="1152525" y="549275"/>
          <a:ext cx="5132388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2120265" imgH="901065" progId="Equation.3">
                  <p:embed/>
                </p:oleObj>
              </mc:Choice>
              <mc:Fallback>
                <p:oleObj name="" r:id="rId1" imgW="2120265" imgH="90106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2525" y="549275"/>
                        <a:ext cx="5132388" cy="1871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5"/>
          <p:cNvGrpSpPr/>
          <p:nvPr/>
        </p:nvGrpSpPr>
        <p:grpSpPr>
          <a:xfrm>
            <a:off x="1146175" y="2420938"/>
            <a:ext cx="7108825" cy="1008062"/>
            <a:chOff x="761" y="1344"/>
            <a:chExt cx="4478" cy="635"/>
          </a:xfrm>
        </p:grpSpPr>
        <p:graphicFrame>
          <p:nvGraphicFramePr>
            <p:cNvPr id="9221" name="Object 17"/>
            <p:cNvGraphicFramePr/>
            <p:nvPr/>
          </p:nvGraphicFramePr>
          <p:xfrm>
            <a:off x="761" y="1344"/>
            <a:ext cx="2703" cy="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3" imgW="1778000" imgH="457200" progId="Equation.3">
                    <p:embed/>
                  </p:oleObj>
                </mc:Choice>
                <mc:Fallback>
                  <p:oleObj name="" r:id="rId3" imgW="1778000" imgH="4572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61" y="1344"/>
                          <a:ext cx="2703" cy="6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2" name="Rectangle 18"/>
            <p:cNvSpPr/>
            <p:nvPr/>
          </p:nvSpPr>
          <p:spPr>
            <a:xfrm>
              <a:off x="3621" y="1562"/>
              <a:ext cx="1618" cy="32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zh-CN" altLang="en-US" dirty="0">
                  <a:latin typeface="楷体_GB2312" pitchFamily="49" charset="-122"/>
                </a:rPr>
                <a:t>（</a:t>
              </a:r>
              <a:r>
                <a:rPr lang="en-US" altLang="zh-CN" b="0" i="1" dirty="0">
                  <a:latin typeface="Times New Roman" panose="02020603050405020304" pitchFamily="18" charset="0"/>
                </a:rPr>
                <a:t>k</a:t>
              </a:r>
              <a:r>
                <a:rPr lang="zh-CN" altLang="en-US" dirty="0">
                  <a:latin typeface="楷体_GB2312" pitchFamily="49" charset="-122"/>
                </a:rPr>
                <a:t>为奇数）</a:t>
              </a:r>
              <a:endParaRPr lang="zh-CN" altLang="en-US" dirty="0">
                <a:latin typeface="楷体_GB2312" pitchFamily="49" charset="-122"/>
              </a:endParaRPr>
            </a:p>
          </p:txBody>
        </p:sp>
      </p:grpSp>
      <p:sp>
        <p:nvSpPr>
          <p:cNvPr id="9227" name="Line 19"/>
          <p:cNvSpPr/>
          <p:nvPr/>
        </p:nvSpPr>
        <p:spPr>
          <a:xfrm>
            <a:off x="652463" y="2420938"/>
            <a:ext cx="7904162" cy="0"/>
          </a:xfrm>
          <a:prstGeom prst="line">
            <a:avLst/>
          </a:prstGeom>
          <a:ln w="28575">
            <a:noFill/>
          </a:ln>
        </p:spPr>
      </p:sp>
      <p:sp>
        <p:nvSpPr>
          <p:cNvPr id="9228" name="Line 20"/>
          <p:cNvSpPr/>
          <p:nvPr/>
        </p:nvSpPr>
        <p:spPr>
          <a:xfrm>
            <a:off x="611188" y="3660775"/>
            <a:ext cx="7966075" cy="0"/>
          </a:xfrm>
          <a:prstGeom prst="line">
            <a:avLst/>
          </a:prstGeom>
          <a:ln w="28575">
            <a:noFill/>
          </a:ln>
        </p:spPr>
      </p:sp>
      <p:sp>
        <p:nvSpPr>
          <p:cNvPr id="9229" name="Line 21"/>
          <p:cNvSpPr/>
          <p:nvPr/>
        </p:nvSpPr>
        <p:spPr>
          <a:xfrm>
            <a:off x="611188" y="2420938"/>
            <a:ext cx="0" cy="1239837"/>
          </a:xfrm>
          <a:prstGeom prst="line">
            <a:avLst/>
          </a:prstGeom>
          <a:ln w="28575">
            <a:noFill/>
          </a:ln>
        </p:spPr>
      </p:sp>
      <p:sp>
        <p:nvSpPr>
          <p:cNvPr id="9230" name="Line 22"/>
          <p:cNvSpPr/>
          <p:nvPr/>
        </p:nvSpPr>
        <p:spPr>
          <a:xfrm>
            <a:off x="8577263" y="2420938"/>
            <a:ext cx="0" cy="1239837"/>
          </a:xfrm>
          <a:prstGeom prst="line">
            <a:avLst/>
          </a:prstGeom>
          <a:ln w="28575">
            <a:noFill/>
          </a:ln>
        </p:spPr>
      </p:sp>
      <p:grpSp>
        <p:nvGrpSpPr>
          <p:cNvPr id="3" name="Group 28"/>
          <p:cNvGrpSpPr/>
          <p:nvPr/>
        </p:nvGrpSpPr>
        <p:grpSpPr>
          <a:xfrm>
            <a:off x="727075" y="3308350"/>
            <a:ext cx="2432050" cy="857250"/>
            <a:chOff x="3043" y="391"/>
            <a:chExt cx="1532" cy="540"/>
          </a:xfrm>
        </p:grpSpPr>
        <p:graphicFrame>
          <p:nvGraphicFramePr>
            <p:cNvPr id="9220" name="Object 29"/>
            <p:cNvGraphicFramePr/>
            <p:nvPr/>
          </p:nvGraphicFramePr>
          <p:xfrm>
            <a:off x="3043" y="391"/>
            <a:ext cx="396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5" imgW="139700" imgH="228600" progId="Equation.3">
                    <p:embed/>
                  </p:oleObj>
                </mc:Choice>
                <mc:Fallback>
                  <p:oleObj name="" r:id="rId5" imgW="139700" imgH="2286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43" y="391"/>
                          <a:ext cx="396" cy="5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1" name="Text Box 30"/>
            <p:cNvSpPr txBox="1"/>
            <p:nvPr/>
          </p:nvSpPr>
          <p:spPr>
            <a:xfrm>
              <a:off x="3334" y="517"/>
              <a:ext cx="124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的展开式为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9727" name="Object 31"/>
          <p:cNvGraphicFramePr/>
          <p:nvPr/>
        </p:nvGraphicFramePr>
        <p:xfrm>
          <a:off x="468313" y="4221163"/>
          <a:ext cx="818991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7" imgW="3632200" imgH="457200" progId="Equation.3">
                  <p:embed/>
                </p:oleObj>
              </mc:Choice>
              <mc:Fallback>
                <p:oleObj name="" r:id="rId7" imgW="3632200" imgH="4572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4221163"/>
                        <a:ext cx="8189912" cy="1008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2" name="Group 4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239" name="Picture 5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40" name="Text Box 5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233" name="Group 5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237" name="Picture 53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8" name="Text Box 5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234" name="Group 5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9235" name="Picture 59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6" name="Text Box 6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7" name="Line 3"/>
          <p:cNvSpPr/>
          <p:nvPr/>
        </p:nvSpPr>
        <p:spPr>
          <a:xfrm flipV="1">
            <a:off x="701675" y="2420938"/>
            <a:ext cx="22860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4"/>
          <p:cNvGrpSpPr/>
          <p:nvPr/>
        </p:nvGrpSpPr>
        <p:grpSpPr>
          <a:xfrm>
            <a:off x="5570538" y="3284538"/>
            <a:ext cx="2530475" cy="839787"/>
            <a:chOff x="2064" y="528"/>
            <a:chExt cx="1776" cy="529"/>
          </a:xfrm>
        </p:grpSpPr>
        <p:grpSp>
          <p:nvGrpSpPr>
            <p:cNvPr id="60509" name="Group 5"/>
            <p:cNvGrpSpPr/>
            <p:nvPr/>
          </p:nvGrpSpPr>
          <p:grpSpPr>
            <a:xfrm>
              <a:off x="2064" y="528"/>
              <a:ext cx="960" cy="529"/>
              <a:chOff x="2064" y="528"/>
              <a:chExt cx="960" cy="529"/>
            </a:xfrm>
          </p:grpSpPr>
          <p:sp>
            <p:nvSpPr>
              <p:cNvPr id="60515" name="Line 6"/>
              <p:cNvSpPr/>
              <p:nvPr/>
            </p:nvSpPr>
            <p:spPr>
              <a:xfrm>
                <a:off x="2064" y="792"/>
                <a:ext cx="960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60516" name="Group 7"/>
              <p:cNvGrpSpPr/>
              <p:nvPr/>
            </p:nvGrpSpPr>
            <p:grpSpPr>
              <a:xfrm>
                <a:off x="2122" y="528"/>
                <a:ext cx="816" cy="529"/>
                <a:chOff x="2122" y="528"/>
                <a:chExt cx="816" cy="529"/>
              </a:xfrm>
            </p:grpSpPr>
            <p:sp>
              <p:nvSpPr>
                <p:cNvPr id="60517" name="Freeform 8"/>
                <p:cNvSpPr/>
                <p:nvPr/>
              </p:nvSpPr>
              <p:spPr>
                <a:xfrm>
                  <a:off x="2122" y="528"/>
                  <a:ext cx="408" cy="265"/>
                </a:xfrm>
                <a:custGeom>
                  <a:avLst/>
                  <a:gdLst>
                    <a:gd name="txL" fmla="*/ 0 w 408"/>
                    <a:gd name="txT" fmla="*/ 0 h 265"/>
                    <a:gd name="txR" fmla="*/ 408 w 408"/>
                    <a:gd name="txB" fmla="*/ 265 h 265"/>
                  </a:gdLst>
                  <a:ahLst/>
                  <a:cxnLst>
                    <a:cxn ang="0">
                      <a:pos x="0" y="264"/>
                    </a:cxn>
                    <a:cxn ang="0">
                      <a:pos x="34" y="192"/>
                    </a:cxn>
                    <a:cxn ang="0">
                      <a:pos x="68" y="129"/>
                    </a:cxn>
                    <a:cxn ang="0">
                      <a:pos x="103" y="76"/>
                    </a:cxn>
                    <a:cxn ang="0">
                      <a:pos x="137" y="31"/>
                    </a:cxn>
                    <a:cxn ang="0">
                      <a:pos x="166" y="8"/>
                    </a:cxn>
                    <a:cxn ang="0">
                      <a:pos x="200" y="0"/>
                    </a:cxn>
                    <a:cxn ang="0">
                      <a:pos x="235" y="8"/>
                    </a:cxn>
                    <a:cxn ang="0">
                      <a:pos x="269" y="31"/>
                    </a:cxn>
                    <a:cxn ang="0">
                      <a:pos x="303" y="76"/>
                    </a:cxn>
                    <a:cxn ang="0">
                      <a:pos x="338" y="129"/>
                    </a:cxn>
                    <a:cxn ang="0">
                      <a:pos x="372" y="196"/>
                    </a:cxn>
                    <a:cxn ang="0">
                      <a:pos x="407" y="264"/>
                    </a:cxn>
                  </a:cxnLst>
                  <a:rect l="txL" t="txT" r="txR" b="txB"/>
                  <a:pathLst>
                    <a:path w="408" h="265">
                      <a:moveTo>
                        <a:pt x="0" y="264"/>
                      </a:moveTo>
                      <a:lnTo>
                        <a:pt x="34" y="192"/>
                      </a:lnTo>
                      <a:lnTo>
                        <a:pt x="68" y="129"/>
                      </a:lnTo>
                      <a:lnTo>
                        <a:pt x="103" y="76"/>
                      </a:lnTo>
                      <a:lnTo>
                        <a:pt x="137" y="31"/>
                      </a:lnTo>
                      <a:lnTo>
                        <a:pt x="166" y="8"/>
                      </a:lnTo>
                      <a:lnTo>
                        <a:pt x="200" y="0"/>
                      </a:lnTo>
                      <a:lnTo>
                        <a:pt x="235" y="8"/>
                      </a:lnTo>
                      <a:lnTo>
                        <a:pt x="269" y="31"/>
                      </a:lnTo>
                      <a:lnTo>
                        <a:pt x="303" y="76"/>
                      </a:lnTo>
                      <a:lnTo>
                        <a:pt x="338" y="129"/>
                      </a:lnTo>
                      <a:lnTo>
                        <a:pt x="372" y="196"/>
                      </a:lnTo>
                      <a:lnTo>
                        <a:pt x="407" y="264"/>
                      </a:lnTo>
                    </a:path>
                  </a:pathLst>
                </a:custGeom>
                <a:noFill/>
                <a:ln w="28575" cap="rnd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  <p:sp>
              <p:nvSpPr>
                <p:cNvPr id="60518" name="Freeform 9"/>
                <p:cNvSpPr/>
                <p:nvPr/>
              </p:nvSpPr>
              <p:spPr>
                <a:xfrm>
                  <a:off x="2529" y="792"/>
                  <a:ext cx="409" cy="265"/>
                </a:xfrm>
                <a:custGeom>
                  <a:avLst/>
                  <a:gdLst>
                    <a:gd name="txL" fmla="*/ 0 w 409"/>
                    <a:gd name="txT" fmla="*/ 0 h 265"/>
                    <a:gd name="txR" fmla="*/ 409 w 409"/>
                    <a:gd name="txB" fmla="*/ 265 h 265"/>
                  </a:gdLst>
                  <a:ahLst/>
                  <a:cxnLst>
                    <a:cxn ang="0">
                      <a:pos x="408" y="0"/>
                    </a:cxn>
                    <a:cxn ang="0">
                      <a:pos x="373" y="71"/>
                    </a:cxn>
                    <a:cxn ang="0">
                      <a:pos x="339" y="134"/>
                    </a:cxn>
                    <a:cxn ang="0">
                      <a:pos x="304" y="187"/>
                    </a:cxn>
                    <a:cxn ang="0">
                      <a:pos x="270" y="232"/>
                    </a:cxn>
                    <a:cxn ang="0">
                      <a:pos x="241" y="255"/>
                    </a:cxn>
                    <a:cxn ang="0">
                      <a:pos x="206" y="264"/>
                    </a:cxn>
                    <a:cxn ang="0">
                      <a:pos x="172" y="255"/>
                    </a:cxn>
                    <a:cxn ang="0">
                      <a:pos x="137" y="232"/>
                    </a:cxn>
                    <a:cxn ang="0">
                      <a:pos x="103" y="187"/>
                    </a:cxn>
                    <a:cxn ang="0">
                      <a:pos x="68" y="134"/>
                    </a:cxn>
                    <a:cxn ang="0">
                      <a:pos x="34" y="6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09" h="265">
                      <a:moveTo>
                        <a:pt x="408" y="0"/>
                      </a:moveTo>
                      <a:lnTo>
                        <a:pt x="373" y="71"/>
                      </a:lnTo>
                      <a:lnTo>
                        <a:pt x="339" y="134"/>
                      </a:lnTo>
                      <a:lnTo>
                        <a:pt x="304" y="187"/>
                      </a:lnTo>
                      <a:lnTo>
                        <a:pt x="270" y="232"/>
                      </a:lnTo>
                      <a:lnTo>
                        <a:pt x="241" y="255"/>
                      </a:lnTo>
                      <a:lnTo>
                        <a:pt x="206" y="264"/>
                      </a:lnTo>
                      <a:lnTo>
                        <a:pt x="172" y="255"/>
                      </a:lnTo>
                      <a:lnTo>
                        <a:pt x="137" y="232"/>
                      </a:lnTo>
                      <a:lnTo>
                        <a:pt x="103" y="187"/>
                      </a:lnTo>
                      <a:lnTo>
                        <a:pt x="68" y="134"/>
                      </a:lnTo>
                      <a:lnTo>
                        <a:pt x="34" y="6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</p:grpSp>
        </p:grpSp>
        <p:grpSp>
          <p:nvGrpSpPr>
            <p:cNvPr id="60510" name="Group 10"/>
            <p:cNvGrpSpPr/>
            <p:nvPr/>
          </p:nvGrpSpPr>
          <p:grpSpPr>
            <a:xfrm>
              <a:off x="2880" y="528"/>
              <a:ext cx="960" cy="529"/>
              <a:chOff x="2880" y="528"/>
              <a:chExt cx="960" cy="529"/>
            </a:xfrm>
          </p:grpSpPr>
          <p:sp>
            <p:nvSpPr>
              <p:cNvPr id="60511" name="Line 11"/>
              <p:cNvSpPr/>
              <p:nvPr/>
            </p:nvSpPr>
            <p:spPr>
              <a:xfrm>
                <a:off x="2880" y="792"/>
                <a:ext cx="960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60512" name="Group 12"/>
              <p:cNvGrpSpPr/>
              <p:nvPr/>
            </p:nvGrpSpPr>
            <p:grpSpPr>
              <a:xfrm>
                <a:off x="2938" y="528"/>
                <a:ext cx="816" cy="529"/>
                <a:chOff x="2938" y="528"/>
                <a:chExt cx="816" cy="529"/>
              </a:xfrm>
            </p:grpSpPr>
            <p:sp>
              <p:nvSpPr>
                <p:cNvPr id="60513" name="Freeform 13"/>
                <p:cNvSpPr/>
                <p:nvPr/>
              </p:nvSpPr>
              <p:spPr>
                <a:xfrm>
                  <a:off x="2938" y="528"/>
                  <a:ext cx="408" cy="265"/>
                </a:xfrm>
                <a:custGeom>
                  <a:avLst/>
                  <a:gdLst>
                    <a:gd name="txL" fmla="*/ 0 w 408"/>
                    <a:gd name="txT" fmla="*/ 0 h 265"/>
                    <a:gd name="txR" fmla="*/ 408 w 408"/>
                    <a:gd name="txB" fmla="*/ 265 h 265"/>
                  </a:gdLst>
                  <a:ahLst/>
                  <a:cxnLst>
                    <a:cxn ang="0">
                      <a:pos x="0" y="264"/>
                    </a:cxn>
                    <a:cxn ang="0">
                      <a:pos x="34" y="192"/>
                    </a:cxn>
                    <a:cxn ang="0">
                      <a:pos x="68" y="129"/>
                    </a:cxn>
                    <a:cxn ang="0">
                      <a:pos x="103" y="76"/>
                    </a:cxn>
                    <a:cxn ang="0">
                      <a:pos x="137" y="31"/>
                    </a:cxn>
                    <a:cxn ang="0">
                      <a:pos x="166" y="8"/>
                    </a:cxn>
                    <a:cxn ang="0">
                      <a:pos x="200" y="0"/>
                    </a:cxn>
                    <a:cxn ang="0">
                      <a:pos x="235" y="8"/>
                    </a:cxn>
                    <a:cxn ang="0">
                      <a:pos x="269" y="31"/>
                    </a:cxn>
                    <a:cxn ang="0">
                      <a:pos x="303" y="76"/>
                    </a:cxn>
                    <a:cxn ang="0">
                      <a:pos x="338" y="129"/>
                    </a:cxn>
                    <a:cxn ang="0">
                      <a:pos x="372" y="196"/>
                    </a:cxn>
                    <a:cxn ang="0">
                      <a:pos x="407" y="264"/>
                    </a:cxn>
                  </a:cxnLst>
                  <a:rect l="txL" t="txT" r="txR" b="txB"/>
                  <a:pathLst>
                    <a:path w="408" h="265">
                      <a:moveTo>
                        <a:pt x="0" y="264"/>
                      </a:moveTo>
                      <a:lnTo>
                        <a:pt x="34" y="192"/>
                      </a:lnTo>
                      <a:lnTo>
                        <a:pt x="68" y="129"/>
                      </a:lnTo>
                      <a:lnTo>
                        <a:pt x="103" y="76"/>
                      </a:lnTo>
                      <a:lnTo>
                        <a:pt x="137" y="31"/>
                      </a:lnTo>
                      <a:lnTo>
                        <a:pt x="166" y="8"/>
                      </a:lnTo>
                      <a:lnTo>
                        <a:pt x="200" y="0"/>
                      </a:lnTo>
                      <a:lnTo>
                        <a:pt x="235" y="8"/>
                      </a:lnTo>
                      <a:lnTo>
                        <a:pt x="269" y="31"/>
                      </a:lnTo>
                      <a:lnTo>
                        <a:pt x="303" y="76"/>
                      </a:lnTo>
                      <a:lnTo>
                        <a:pt x="338" y="129"/>
                      </a:lnTo>
                      <a:lnTo>
                        <a:pt x="372" y="196"/>
                      </a:lnTo>
                      <a:lnTo>
                        <a:pt x="407" y="264"/>
                      </a:lnTo>
                    </a:path>
                  </a:pathLst>
                </a:custGeom>
                <a:noFill/>
                <a:ln w="28575" cap="rnd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  <p:sp>
              <p:nvSpPr>
                <p:cNvPr id="60514" name="Freeform 14"/>
                <p:cNvSpPr/>
                <p:nvPr/>
              </p:nvSpPr>
              <p:spPr>
                <a:xfrm>
                  <a:off x="3345" y="792"/>
                  <a:ext cx="409" cy="265"/>
                </a:xfrm>
                <a:custGeom>
                  <a:avLst/>
                  <a:gdLst>
                    <a:gd name="txL" fmla="*/ 0 w 409"/>
                    <a:gd name="txT" fmla="*/ 0 h 265"/>
                    <a:gd name="txR" fmla="*/ 409 w 409"/>
                    <a:gd name="txB" fmla="*/ 265 h 265"/>
                  </a:gdLst>
                  <a:ahLst/>
                  <a:cxnLst>
                    <a:cxn ang="0">
                      <a:pos x="408" y="0"/>
                    </a:cxn>
                    <a:cxn ang="0">
                      <a:pos x="373" y="71"/>
                    </a:cxn>
                    <a:cxn ang="0">
                      <a:pos x="339" y="134"/>
                    </a:cxn>
                    <a:cxn ang="0">
                      <a:pos x="304" y="187"/>
                    </a:cxn>
                    <a:cxn ang="0">
                      <a:pos x="270" y="232"/>
                    </a:cxn>
                    <a:cxn ang="0">
                      <a:pos x="241" y="255"/>
                    </a:cxn>
                    <a:cxn ang="0">
                      <a:pos x="206" y="264"/>
                    </a:cxn>
                    <a:cxn ang="0">
                      <a:pos x="172" y="255"/>
                    </a:cxn>
                    <a:cxn ang="0">
                      <a:pos x="137" y="232"/>
                    </a:cxn>
                    <a:cxn ang="0">
                      <a:pos x="103" y="187"/>
                    </a:cxn>
                    <a:cxn ang="0">
                      <a:pos x="68" y="134"/>
                    </a:cxn>
                    <a:cxn ang="0">
                      <a:pos x="34" y="6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09" h="265">
                      <a:moveTo>
                        <a:pt x="408" y="0"/>
                      </a:moveTo>
                      <a:lnTo>
                        <a:pt x="373" y="71"/>
                      </a:lnTo>
                      <a:lnTo>
                        <a:pt x="339" y="134"/>
                      </a:lnTo>
                      <a:lnTo>
                        <a:pt x="304" y="187"/>
                      </a:lnTo>
                      <a:lnTo>
                        <a:pt x="270" y="232"/>
                      </a:lnTo>
                      <a:lnTo>
                        <a:pt x="241" y="255"/>
                      </a:lnTo>
                      <a:lnTo>
                        <a:pt x="206" y="264"/>
                      </a:lnTo>
                      <a:lnTo>
                        <a:pt x="172" y="255"/>
                      </a:lnTo>
                      <a:lnTo>
                        <a:pt x="137" y="232"/>
                      </a:lnTo>
                      <a:lnTo>
                        <a:pt x="103" y="187"/>
                      </a:lnTo>
                      <a:lnTo>
                        <a:pt x="68" y="134"/>
                      </a:lnTo>
                      <a:lnTo>
                        <a:pt x="34" y="6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</p:grpSp>
        </p:grpSp>
      </p:grpSp>
      <p:grpSp>
        <p:nvGrpSpPr>
          <p:cNvPr id="7" name="Group 25"/>
          <p:cNvGrpSpPr/>
          <p:nvPr/>
        </p:nvGrpSpPr>
        <p:grpSpPr>
          <a:xfrm>
            <a:off x="633413" y="5394325"/>
            <a:ext cx="2209800" cy="266700"/>
            <a:chOff x="294" y="3660"/>
            <a:chExt cx="1392" cy="168"/>
          </a:xfrm>
        </p:grpSpPr>
        <p:grpSp>
          <p:nvGrpSpPr>
            <p:cNvPr id="60473" name="Group 26"/>
            <p:cNvGrpSpPr/>
            <p:nvPr/>
          </p:nvGrpSpPr>
          <p:grpSpPr>
            <a:xfrm>
              <a:off x="294" y="3684"/>
              <a:ext cx="1392" cy="144"/>
              <a:chOff x="432" y="1728"/>
              <a:chExt cx="1728" cy="529"/>
            </a:xfrm>
          </p:grpSpPr>
          <p:grpSp>
            <p:nvGrpSpPr>
              <p:cNvPr id="60476" name="Group 27"/>
              <p:cNvGrpSpPr/>
              <p:nvPr/>
            </p:nvGrpSpPr>
            <p:grpSpPr>
              <a:xfrm>
                <a:off x="432" y="1728"/>
                <a:ext cx="609" cy="529"/>
                <a:chOff x="432" y="1728"/>
                <a:chExt cx="609" cy="529"/>
              </a:xfrm>
            </p:grpSpPr>
            <p:grpSp>
              <p:nvGrpSpPr>
                <p:cNvPr id="60499" name="Group 28"/>
                <p:cNvGrpSpPr/>
                <p:nvPr/>
              </p:nvGrpSpPr>
              <p:grpSpPr>
                <a:xfrm>
                  <a:off x="432" y="1728"/>
                  <a:ext cx="329" cy="529"/>
                  <a:chOff x="432" y="1728"/>
                  <a:chExt cx="329" cy="529"/>
                </a:xfrm>
              </p:grpSpPr>
              <p:sp>
                <p:nvSpPr>
                  <p:cNvPr id="60505" name="Line 29"/>
                  <p:cNvSpPr/>
                  <p:nvPr/>
                </p:nvSpPr>
                <p:spPr>
                  <a:xfrm>
                    <a:off x="432" y="1992"/>
                    <a:ext cx="329" cy="0"/>
                  </a:xfrm>
                  <a:prstGeom prst="line">
                    <a:avLst/>
                  </a:prstGeom>
                  <a:ln w="28575" cap="flat" cmpd="sng">
                    <a:solidFill>
                      <a:srgbClr val="FF3300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grpSp>
                <p:nvGrpSpPr>
                  <p:cNvPr id="60506" name="Group 30"/>
                  <p:cNvGrpSpPr/>
                  <p:nvPr/>
                </p:nvGrpSpPr>
                <p:grpSpPr>
                  <a:xfrm>
                    <a:off x="452" y="1728"/>
                    <a:ext cx="280" cy="529"/>
                    <a:chOff x="452" y="1728"/>
                    <a:chExt cx="280" cy="529"/>
                  </a:xfrm>
                </p:grpSpPr>
                <p:sp>
                  <p:nvSpPr>
                    <p:cNvPr id="60507" name="Freeform 31"/>
                    <p:cNvSpPr/>
                    <p:nvPr/>
                  </p:nvSpPr>
                  <p:spPr>
                    <a:xfrm>
                      <a:off x="452" y="1728"/>
                      <a:ext cx="140" cy="265"/>
                    </a:xfrm>
                    <a:custGeom>
                      <a:avLst/>
                      <a:gdLst>
                        <a:gd name="txL" fmla="*/ 0 w 140"/>
                        <a:gd name="txT" fmla="*/ 0 h 265"/>
                        <a:gd name="txR" fmla="*/ 140 w 140"/>
                        <a:gd name="txB" fmla="*/ 265 h 265"/>
                      </a:gdLst>
                      <a:ahLst/>
                      <a:cxnLst>
                        <a:cxn ang="0">
                          <a:pos x="0" y="264"/>
                        </a:cxn>
                        <a:cxn ang="0">
                          <a:pos x="11" y="192"/>
                        </a:cxn>
                        <a:cxn ang="0">
                          <a:pos x="23" y="129"/>
                        </a:cxn>
                        <a:cxn ang="0">
                          <a:pos x="35" y="76"/>
                        </a:cxn>
                        <a:cxn ang="0">
                          <a:pos x="46" y="31"/>
                        </a:cxn>
                        <a:cxn ang="0">
                          <a:pos x="56" y="8"/>
                        </a:cxn>
                        <a:cxn ang="0">
                          <a:pos x="68" y="0"/>
                        </a:cxn>
                        <a:cxn ang="0">
                          <a:pos x="80" y="8"/>
                        </a:cxn>
                        <a:cxn ang="0">
                          <a:pos x="92" y="31"/>
                        </a:cxn>
                        <a:cxn ang="0">
                          <a:pos x="103" y="76"/>
                        </a:cxn>
                        <a:cxn ang="0">
                          <a:pos x="115" y="129"/>
                        </a:cxn>
                        <a:cxn ang="0">
                          <a:pos x="127" y="196"/>
                        </a:cxn>
                        <a:cxn ang="0">
                          <a:pos x="139" y="264"/>
                        </a:cxn>
                      </a:cxnLst>
                      <a:rect l="txL" t="txT" r="txR" b="txB"/>
                      <a:pathLst>
                        <a:path w="140" h="265">
                          <a:moveTo>
                            <a:pt x="0" y="264"/>
                          </a:moveTo>
                          <a:lnTo>
                            <a:pt x="11" y="192"/>
                          </a:lnTo>
                          <a:lnTo>
                            <a:pt x="23" y="129"/>
                          </a:lnTo>
                          <a:lnTo>
                            <a:pt x="35" y="76"/>
                          </a:lnTo>
                          <a:lnTo>
                            <a:pt x="46" y="31"/>
                          </a:lnTo>
                          <a:lnTo>
                            <a:pt x="56" y="8"/>
                          </a:lnTo>
                          <a:lnTo>
                            <a:pt x="68" y="0"/>
                          </a:lnTo>
                          <a:lnTo>
                            <a:pt x="80" y="8"/>
                          </a:lnTo>
                          <a:lnTo>
                            <a:pt x="92" y="31"/>
                          </a:lnTo>
                          <a:lnTo>
                            <a:pt x="103" y="76"/>
                          </a:lnTo>
                          <a:lnTo>
                            <a:pt x="115" y="129"/>
                          </a:lnTo>
                          <a:lnTo>
                            <a:pt x="127" y="196"/>
                          </a:lnTo>
                          <a:lnTo>
                            <a:pt x="139" y="264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  <p:sp>
                  <p:nvSpPr>
                    <p:cNvPr id="60508" name="Freeform 32"/>
                    <p:cNvSpPr/>
                    <p:nvPr/>
                  </p:nvSpPr>
                  <p:spPr>
                    <a:xfrm>
                      <a:off x="591" y="1992"/>
                      <a:ext cx="141" cy="265"/>
                    </a:xfrm>
                    <a:custGeom>
                      <a:avLst/>
                      <a:gdLst>
                        <a:gd name="txL" fmla="*/ 0 w 141"/>
                        <a:gd name="txT" fmla="*/ 0 h 265"/>
                        <a:gd name="txR" fmla="*/ 141 w 141"/>
                        <a:gd name="txB" fmla="*/ 265 h 265"/>
                      </a:gdLst>
                      <a:ahLst/>
                      <a:cxnLst>
                        <a:cxn ang="0">
                          <a:pos x="140" y="0"/>
                        </a:cxn>
                        <a:cxn ang="0">
                          <a:pos x="128" y="71"/>
                        </a:cxn>
                        <a:cxn ang="0">
                          <a:pos x="116" y="134"/>
                        </a:cxn>
                        <a:cxn ang="0">
                          <a:pos x="104" y="187"/>
                        </a:cxn>
                        <a:cxn ang="0">
                          <a:pos x="92" y="232"/>
                        </a:cxn>
                        <a:cxn ang="0">
                          <a:pos x="82" y="255"/>
                        </a:cxn>
                        <a:cxn ang="0">
                          <a:pos x="71" y="264"/>
                        </a:cxn>
                        <a:cxn ang="0">
                          <a:pos x="59" y="255"/>
                        </a:cxn>
                        <a:cxn ang="0">
                          <a:pos x="47" y="232"/>
                        </a:cxn>
                        <a:cxn ang="0">
                          <a:pos x="35" y="187"/>
                        </a:cxn>
                        <a:cxn ang="0">
                          <a:pos x="23" y="134"/>
                        </a:cxn>
                        <a:cxn ang="0">
                          <a:pos x="11" y="67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41" h="265">
                          <a:moveTo>
                            <a:pt x="140" y="0"/>
                          </a:moveTo>
                          <a:lnTo>
                            <a:pt x="128" y="71"/>
                          </a:lnTo>
                          <a:lnTo>
                            <a:pt x="116" y="134"/>
                          </a:lnTo>
                          <a:lnTo>
                            <a:pt x="104" y="187"/>
                          </a:lnTo>
                          <a:lnTo>
                            <a:pt x="92" y="232"/>
                          </a:lnTo>
                          <a:lnTo>
                            <a:pt x="82" y="255"/>
                          </a:lnTo>
                          <a:lnTo>
                            <a:pt x="71" y="264"/>
                          </a:lnTo>
                          <a:lnTo>
                            <a:pt x="59" y="255"/>
                          </a:lnTo>
                          <a:lnTo>
                            <a:pt x="47" y="232"/>
                          </a:lnTo>
                          <a:lnTo>
                            <a:pt x="35" y="187"/>
                          </a:lnTo>
                          <a:lnTo>
                            <a:pt x="23" y="134"/>
                          </a:lnTo>
                          <a:lnTo>
                            <a:pt x="11" y="67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60500" name="Group 33"/>
                <p:cNvGrpSpPr/>
                <p:nvPr/>
              </p:nvGrpSpPr>
              <p:grpSpPr>
                <a:xfrm>
                  <a:off x="712" y="1728"/>
                  <a:ext cx="329" cy="529"/>
                  <a:chOff x="712" y="1728"/>
                  <a:chExt cx="329" cy="529"/>
                </a:xfrm>
              </p:grpSpPr>
              <p:sp>
                <p:nvSpPr>
                  <p:cNvPr id="60501" name="Line 34"/>
                  <p:cNvSpPr/>
                  <p:nvPr/>
                </p:nvSpPr>
                <p:spPr>
                  <a:xfrm>
                    <a:off x="712" y="1992"/>
                    <a:ext cx="329" cy="0"/>
                  </a:xfrm>
                  <a:prstGeom prst="line">
                    <a:avLst/>
                  </a:prstGeom>
                  <a:ln w="28575" cap="flat" cmpd="sng">
                    <a:solidFill>
                      <a:srgbClr val="FF3300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grpSp>
                <p:nvGrpSpPr>
                  <p:cNvPr id="60502" name="Group 35"/>
                  <p:cNvGrpSpPr/>
                  <p:nvPr/>
                </p:nvGrpSpPr>
                <p:grpSpPr>
                  <a:xfrm>
                    <a:off x="732" y="1728"/>
                    <a:ext cx="280" cy="529"/>
                    <a:chOff x="732" y="1728"/>
                    <a:chExt cx="280" cy="529"/>
                  </a:xfrm>
                </p:grpSpPr>
                <p:sp>
                  <p:nvSpPr>
                    <p:cNvPr id="60503" name="Freeform 36"/>
                    <p:cNvSpPr/>
                    <p:nvPr/>
                  </p:nvSpPr>
                  <p:spPr>
                    <a:xfrm>
                      <a:off x="732" y="1728"/>
                      <a:ext cx="140" cy="265"/>
                    </a:xfrm>
                    <a:custGeom>
                      <a:avLst/>
                      <a:gdLst>
                        <a:gd name="txL" fmla="*/ 0 w 140"/>
                        <a:gd name="txT" fmla="*/ 0 h 265"/>
                        <a:gd name="txR" fmla="*/ 140 w 140"/>
                        <a:gd name="txB" fmla="*/ 265 h 265"/>
                      </a:gdLst>
                      <a:ahLst/>
                      <a:cxnLst>
                        <a:cxn ang="0">
                          <a:pos x="0" y="264"/>
                        </a:cxn>
                        <a:cxn ang="0">
                          <a:pos x="11" y="192"/>
                        </a:cxn>
                        <a:cxn ang="0">
                          <a:pos x="23" y="129"/>
                        </a:cxn>
                        <a:cxn ang="0">
                          <a:pos x="35" y="76"/>
                        </a:cxn>
                        <a:cxn ang="0">
                          <a:pos x="46" y="31"/>
                        </a:cxn>
                        <a:cxn ang="0">
                          <a:pos x="56" y="8"/>
                        </a:cxn>
                        <a:cxn ang="0">
                          <a:pos x="68" y="0"/>
                        </a:cxn>
                        <a:cxn ang="0">
                          <a:pos x="80" y="8"/>
                        </a:cxn>
                        <a:cxn ang="0">
                          <a:pos x="92" y="31"/>
                        </a:cxn>
                        <a:cxn ang="0">
                          <a:pos x="103" y="76"/>
                        </a:cxn>
                        <a:cxn ang="0">
                          <a:pos x="115" y="129"/>
                        </a:cxn>
                        <a:cxn ang="0">
                          <a:pos x="127" y="196"/>
                        </a:cxn>
                        <a:cxn ang="0">
                          <a:pos x="139" y="264"/>
                        </a:cxn>
                      </a:cxnLst>
                      <a:rect l="txL" t="txT" r="txR" b="txB"/>
                      <a:pathLst>
                        <a:path w="140" h="265">
                          <a:moveTo>
                            <a:pt x="0" y="264"/>
                          </a:moveTo>
                          <a:lnTo>
                            <a:pt x="11" y="192"/>
                          </a:lnTo>
                          <a:lnTo>
                            <a:pt x="23" y="129"/>
                          </a:lnTo>
                          <a:lnTo>
                            <a:pt x="35" y="76"/>
                          </a:lnTo>
                          <a:lnTo>
                            <a:pt x="46" y="31"/>
                          </a:lnTo>
                          <a:lnTo>
                            <a:pt x="56" y="8"/>
                          </a:lnTo>
                          <a:lnTo>
                            <a:pt x="68" y="0"/>
                          </a:lnTo>
                          <a:lnTo>
                            <a:pt x="80" y="8"/>
                          </a:lnTo>
                          <a:lnTo>
                            <a:pt x="92" y="31"/>
                          </a:lnTo>
                          <a:lnTo>
                            <a:pt x="103" y="76"/>
                          </a:lnTo>
                          <a:lnTo>
                            <a:pt x="115" y="129"/>
                          </a:lnTo>
                          <a:lnTo>
                            <a:pt x="127" y="196"/>
                          </a:lnTo>
                          <a:lnTo>
                            <a:pt x="139" y="264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  <p:sp>
                  <p:nvSpPr>
                    <p:cNvPr id="60504" name="Freeform 37"/>
                    <p:cNvSpPr/>
                    <p:nvPr/>
                  </p:nvSpPr>
                  <p:spPr>
                    <a:xfrm>
                      <a:off x="871" y="1992"/>
                      <a:ext cx="141" cy="265"/>
                    </a:xfrm>
                    <a:custGeom>
                      <a:avLst/>
                      <a:gdLst>
                        <a:gd name="txL" fmla="*/ 0 w 141"/>
                        <a:gd name="txT" fmla="*/ 0 h 265"/>
                        <a:gd name="txR" fmla="*/ 141 w 141"/>
                        <a:gd name="txB" fmla="*/ 265 h 265"/>
                      </a:gdLst>
                      <a:ahLst/>
                      <a:cxnLst>
                        <a:cxn ang="0">
                          <a:pos x="140" y="0"/>
                        </a:cxn>
                        <a:cxn ang="0">
                          <a:pos x="128" y="71"/>
                        </a:cxn>
                        <a:cxn ang="0">
                          <a:pos x="116" y="134"/>
                        </a:cxn>
                        <a:cxn ang="0">
                          <a:pos x="104" y="187"/>
                        </a:cxn>
                        <a:cxn ang="0">
                          <a:pos x="92" y="232"/>
                        </a:cxn>
                        <a:cxn ang="0">
                          <a:pos x="82" y="255"/>
                        </a:cxn>
                        <a:cxn ang="0">
                          <a:pos x="71" y="264"/>
                        </a:cxn>
                        <a:cxn ang="0">
                          <a:pos x="59" y="255"/>
                        </a:cxn>
                        <a:cxn ang="0">
                          <a:pos x="47" y="232"/>
                        </a:cxn>
                        <a:cxn ang="0">
                          <a:pos x="35" y="187"/>
                        </a:cxn>
                        <a:cxn ang="0">
                          <a:pos x="23" y="134"/>
                        </a:cxn>
                        <a:cxn ang="0">
                          <a:pos x="11" y="67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41" h="265">
                          <a:moveTo>
                            <a:pt x="140" y="0"/>
                          </a:moveTo>
                          <a:lnTo>
                            <a:pt x="128" y="71"/>
                          </a:lnTo>
                          <a:lnTo>
                            <a:pt x="116" y="134"/>
                          </a:lnTo>
                          <a:lnTo>
                            <a:pt x="104" y="187"/>
                          </a:lnTo>
                          <a:lnTo>
                            <a:pt x="92" y="232"/>
                          </a:lnTo>
                          <a:lnTo>
                            <a:pt x="82" y="255"/>
                          </a:lnTo>
                          <a:lnTo>
                            <a:pt x="71" y="264"/>
                          </a:lnTo>
                          <a:lnTo>
                            <a:pt x="59" y="255"/>
                          </a:lnTo>
                          <a:lnTo>
                            <a:pt x="47" y="232"/>
                          </a:lnTo>
                          <a:lnTo>
                            <a:pt x="35" y="187"/>
                          </a:lnTo>
                          <a:lnTo>
                            <a:pt x="23" y="134"/>
                          </a:lnTo>
                          <a:lnTo>
                            <a:pt x="11" y="67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60477" name="Group 38"/>
              <p:cNvGrpSpPr/>
              <p:nvPr/>
            </p:nvGrpSpPr>
            <p:grpSpPr>
              <a:xfrm>
                <a:off x="992" y="1728"/>
                <a:ext cx="608" cy="529"/>
                <a:chOff x="992" y="1728"/>
                <a:chExt cx="608" cy="529"/>
              </a:xfrm>
            </p:grpSpPr>
            <p:grpSp>
              <p:nvGrpSpPr>
                <p:cNvPr id="60489" name="Group 39"/>
                <p:cNvGrpSpPr/>
                <p:nvPr/>
              </p:nvGrpSpPr>
              <p:grpSpPr>
                <a:xfrm>
                  <a:off x="992" y="1728"/>
                  <a:ext cx="329" cy="529"/>
                  <a:chOff x="992" y="1728"/>
                  <a:chExt cx="329" cy="529"/>
                </a:xfrm>
              </p:grpSpPr>
              <p:sp>
                <p:nvSpPr>
                  <p:cNvPr id="60495" name="Line 40"/>
                  <p:cNvSpPr/>
                  <p:nvPr/>
                </p:nvSpPr>
                <p:spPr>
                  <a:xfrm>
                    <a:off x="992" y="1992"/>
                    <a:ext cx="329" cy="0"/>
                  </a:xfrm>
                  <a:prstGeom prst="line">
                    <a:avLst/>
                  </a:prstGeom>
                  <a:ln w="28575" cap="flat" cmpd="sng">
                    <a:solidFill>
                      <a:srgbClr val="FF3300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grpSp>
                <p:nvGrpSpPr>
                  <p:cNvPr id="60496" name="Group 41"/>
                  <p:cNvGrpSpPr/>
                  <p:nvPr/>
                </p:nvGrpSpPr>
                <p:grpSpPr>
                  <a:xfrm>
                    <a:off x="1011" y="1728"/>
                    <a:ext cx="281" cy="529"/>
                    <a:chOff x="1011" y="1728"/>
                    <a:chExt cx="281" cy="529"/>
                  </a:xfrm>
                </p:grpSpPr>
                <p:sp>
                  <p:nvSpPr>
                    <p:cNvPr id="60497" name="Freeform 42"/>
                    <p:cNvSpPr/>
                    <p:nvPr/>
                  </p:nvSpPr>
                  <p:spPr>
                    <a:xfrm>
                      <a:off x="1011" y="1728"/>
                      <a:ext cx="141" cy="265"/>
                    </a:xfrm>
                    <a:custGeom>
                      <a:avLst/>
                      <a:gdLst>
                        <a:gd name="txL" fmla="*/ 0 w 141"/>
                        <a:gd name="txT" fmla="*/ 0 h 265"/>
                        <a:gd name="txR" fmla="*/ 141 w 141"/>
                        <a:gd name="txB" fmla="*/ 265 h 265"/>
                      </a:gdLst>
                      <a:ahLst/>
                      <a:cxnLst>
                        <a:cxn ang="0">
                          <a:pos x="0" y="264"/>
                        </a:cxn>
                        <a:cxn ang="0">
                          <a:pos x="11" y="192"/>
                        </a:cxn>
                        <a:cxn ang="0">
                          <a:pos x="23" y="129"/>
                        </a:cxn>
                        <a:cxn ang="0">
                          <a:pos x="35" y="76"/>
                        </a:cxn>
                        <a:cxn ang="0">
                          <a:pos x="47" y="31"/>
                        </a:cxn>
                        <a:cxn ang="0">
                          <a:pos x="57" y="8"/>
                        </a:cxn>
                        <a:cxn ang="0">
                          <a:pos x="69" y="0"/>
                        </a:cxn>
                        <a:cxn ang="0">
                          <a:pos x="80" y="8"/>
                        </a:cxn>
                        <a:cxn ang="0">
                          <a:pos x="92" y="31"/>
                        </a:cxn>
                        <a:cxn ang="0">
                          <a:pos x="104" y="76"/>
                        </a:cxn>
                        <a:cxn ang="0">
                          <a:pos x="116" y="129"/>
                        </a:cxn>
                        <a:cxn ang="0">
                          <a:pos x="128" y="196"/>
                        </a:cxn>
                        <a:cxn ang="0">
                          <a:pos x="140" y="264"/>
                        </a:cxn>
                      </a:cxnLst>
                      <a:rect l="txL" t="txT" r="txR" b="txB"/>
                      <a:pathLst>
                        <a:path w="141" h="265">
                          <a:moveTo>
                            <a:pt x="0" y="264"/>
                          </a:moveTo>
                          <a:lnTo>
                            <a:pt x="11" y="192"/>
                          </a:lnTo>
                          <a:lnTo>
                            <a:pt x="23" y="129"/>
                          </a:lnTo>
                          <a:lnTo>
                            <a:pt x="35" y="76"/>
                          </a:lnTo>
                          <a:lnTo>
                            <a:pt x="47" y="31"/>
                          </a:lnTo>
                          <a:lnTo>
                            <a:pt x="57" y="8"/>
                          </a:lnTo>
                          <a:lnTo>
                            <a:pt x="69" y="0"/>
                          </a:lnTo>
                          <a:lnTo>
                            <a:pt x="80" y="8"/>
                          </a:lnTo>
                          <a:lnTo>
                            <a:pt x="92" y="31"/>
                          </a:lnTo>
                          <a:lnTo>
                            <a:pt x="104" y="76"/>
                          </a:lnTo>
                          <a:lnTo>
                            <a:pt x="116" y="129"/>
                          </a:lnTo>
                          <a:lnTo>
                            <a:pt x="128" y="196"/>
                          </a:lnTo>
                          <a:lnTo>
                            <a:pt x="140" y="264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  <p:sp>
                  <p:nvSpPr>
                    <p:cNvPr id="60498" name="Freeform 43"/>
                    <p:cNvSpPr/>
                    <p:nvPr/>
                  </p:nvSpPr>
                  <p:spPr>
                    <a:xfrm>
                      <a:off x="1151" y="1992"/>
                      <a:ext cx="141" cy="265"/>
                    </a:xfrm>
                    <a:custGeom>
                      <a:avLst/>
                      <a:gdLst>
                        <a:gd name="txL" fmla="*/ 0 w 141"/>
                        <a:gd name="txT" fmla="*/ 0 h 265"/>
                        <a:gd name="txR" fmla="*/ 141 w 141"/>
                        <a:gd name="txB" fmla="*/ 265 h 265"/>
                      </a:gdLst>
                      <a:ahLst/>
                      <a:cxnLst>
                        <a:cxn ang="0">
                          <a:pos x="140" y="0"/>
                        </a:cxn>
                        <a:cxn ang="0">
                          <a:pos x="128" y="71"/>
                        </a:cxn>
                        <a:cxn ang="0">
                          <a:pos x="116" y="134"/>
                        </a:cxn>
                        <a:cxn ang="0">
                          <a:pos x="104" y="187"/>
                        </a:cxn>
                        <a:cxn ang="0">
                          <a:pos x="92" y="232"/>
                        </a:cxn>
                        <a:cxn ang="0">
                          <a:pos x="82" y="255"/>
                        </a:cxn>
                        <a:cxn ang="0">
                          <a:pos x="71" y="264"/>
                        </a:cxn>
                        <a:cxn ang="0">
                          <a:pos x="59" y="255"/>
                        </a:cxn>
                        <a:cxn ang="0">
                          <a:pos x="47" y="232"/>
                        </a:cxn>
                        <a:cxn ang="0">
                          <a:pos x="35" y="187"/>
                        </a:cxn>
                        <a:cxn ang="0">
                          <a:pos x="23" y="134"/>
                        </a:cxn>
                        <a:cxn ang="0">
                          <a:pos x="11" y="67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41" h="265">
                          <a:moveTo>
                            <a:pt x="140" y="0"/>
                          </a:moveTo>
                          <a:lnTo>
                            <a:pt x="128" y="71"/>
                          </a:lnTo>
                          <a:lnTo>
                            <a:pt x="116" y="134"/>
                          </a:lnTo>
                          <a:lnTo>
                            <a:pt x="104" y="187"/>
                          </a:lnTo>
                          <a:lnTo>
                            <a:pt x="92" y="232"/>
                          </a:lnTo>
                          <a:lnTo>
                            <a:pt x="82" y="255"/>
                          </a:lnTo>
                          <a:lnTo>
                            <a:pt x="71" y="264"/>
                          </a:lnTo>
                          <a:lnTo>
                            <a:pt x="59" y="255"/>
                          </a:lnTo>
                          <a:lnTo>
                            <a:pt x="47" y="232"/>
                          </a:lnTo>
                          <a:lnTo>
                            <a:pt x="35" y="187"/>
                          </a:lnTo>
                          <a:lnTo>
                            <a:pt x="23" y="134"/>
                          </a:lnTo>
                          <a:lnTo>
                            <a:pt x="11" y="67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60490" name="Group 44"/>
                <p:cNvGrpSpPr/>
                <p:nvPr/>
              </p:nvGrpSpPr>
              <p:grpSpPr>
                <a:xfrm>
                  <a:off x="1271" y="1728"/>
                  <a:ext cx="329" cy="529"/>
                  <a:chOff x="1271" y="1728"/>
                  <a:chExt cx="329" cy="529"/>
                </a:xfrm>
              </p:grpSpPr>
              <p:sp>
                <p:nvSpPr>
                  <p:cNvPr id="60491" name="Line 45"/>
                  <p:cNvSpPr/>
                  <p:nvPr/>
                </p:nvSpPr>
                <p:spPr>
                  <a:xfrm>
                    <a:off x="1271" y="1992"/>
                    <a:ext cx="329" cy="0"/>
                  </a:xfrm>
                  <a:prstGeom prst="line">
                    <a:avLst/>
                  </a:prstGeom>
                  <a:ln w="28575" cap="flat" cmpd="sng">
                    <a:solidFill>
                      <a:srgbClr val="FF3300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grpSp>
                <p:nvGrpSpPr>
                  <p:cNvPr id="60492" name="Group 46"/>
                  <p:cNvGrpSpPr/>
                  <p:nvPr/>
                </p:nvGrpSpPr>
                <p:grpSpPr>
                  <a:xfrm>
                    <a:off x="1291" y="1728"/>
                    <a:ext cx="281" cy="529"/>
                    <a:chOff x="1291" y="1728"/>
                    <a:chExt cx="281" cy="529"/>
                  </a:xfrm>
                </p:grpSpPr>
                <p:sp>
                  <p:nvSpPr>
                    <p:cNvPr id="60493" name="Freeform 47"/>
                    <p:cNvSpPr/>
                    <p:nvPr/>
                  </p:nvSpPr>
                  <p:spPr>
                    <a:xfrm>
                      <a:off x="1291" y="1728"/>
                      <a:ext cx="141" cy="265"/>
                    </a:xfrm>
                    <a:custGeom>
                      <a:avLst/>
                      <a:gdLst>
                        <a:gd name="txL" fmla="*/ 0 w 141"/>
                        <a:gd name="txT" fmla="*/ 0 h 265"/>
                        <a:gd name="txR" fmla="*/ 141 w 141"/>
                        <a:gd name="txB" fmla="*/ 265 h 265"/>
                      </a:gdLst>
                      <a:ahLst/>
                      <a:cxnLst>
                        <a:cxn ang="0">
                          <a:pos x="0" y="264"/>
                        </a:cxn>
                        <a:cxn ang="0">
                          <a:pos x="11" y="192"/>
                        </a:cxn>
                        <a:cxn ang="0">
                          <a:pos x="23" y="129"/>
                        </a:cxn>
                        <a:cxn ang="0">
                          <a:pos x="35" y="76"/>
                        </a:cxn>
                        <a:cxn ang="0">
                          <a:pos x="47" y="31"/>
                        </a:cxn>
                        <a:cxn ang="0">
                          <a:pos x="57" y="8"/>
                        </a:cxn>
                        <a:cxn ang="0">
                          <a:pos x="69" y="0"/>
                        </a:cxn>
                        <a:cxn ang="0">
                          <a:pos x="80" y="8"/>
                        </a:cxn>
                        <a:cxn ang="0">
                          <a:pos x="92" y="31"/>
                        </a:cxn>
                        <a:cxn ang="0">
                          <a:pos x="104" y="76"/>
                        </a:cxn>
                        <a:cxn ang="0">
                          <a:pos x="116" y="129"/>
                        </a:cxn>
                        <a:cxn ang="0">
                          <a:pos x="128" y="196"/>
                        </a:cxn>
                        <a:cxn ang="0">
                          <a:pos x="140" y="264"/>
                        </a:cxn>
                      </a:cxnLst>
                      <a:rect l="txL" t="txT" r="txR" b="txB"/>
                      <a:pathLst>
                        <a:path w="141" h="265">
                          <a:moveTo>
                            <a:pt x="0" y="264"/>
                          </a:moveTo>
                          <a:lnTo>
                            <a:pt x="11" y="192"/>
                          </a:lnTo>
                          <a:lnTo>
                            <a:pt x="23" y="129"/>
                          </a:lnTo>
                          <a:lnTo>
                            <a:pt x="35" y="76"/>
                          </a:lnTo>
                          <a:lnTo>
                            <a:pt x="47" y="31"/>
                          </a:lnTo>
                          <a:lnTo>
                            <a:pt x="57" y="8"/>
                          </a:lnTo>
                          <a:lnTo>
                            <a:pt x="69" y="0"/>
                          </a:lnTo>
                          <a:lnTo>
                            <a:pt x="80" y="8"/>
                          </a:lnTo>
                          <a:lnTo>
                            <a:pt x="92" y="31"/>
                          </a:lnTo>
                          <a:lnTo>
                            <a:pt x="104" y="76"/>
                          </a:lnTo>
                          <a:lnTo>
                            <a:pt x="116" y="129"/>
                          </a:lnTo>
                          <a:lnTo>
                            <a:pt x="128" y="196"/>
                          </a:lnTo>
                          <a:lnTo>
                            <a:pt x="140" y="264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  <p:sp>
                  <p:nvSpPr>
                    <p:cNvPr id="60494" name="Freeform 48"/>
                    <p:cNvSpPr/>
                    <p:nvPr/>
                  </p:nvSpPr>
                  <p:spPr>
                    <a:xfrm>
                      <a:off x="1431" y="1992"/>
                      <a:ext cx="141" cy="265"/>
                    </a:xfrm>
                    <a:custGeom>
                      <a:avLst/>
                      <a:gdLst>
                        <a:gd name="txL" fmla="*/ 0 w 141"/>
                        <a:gd name="txT" fmla="*/ 0 h 265"/>
                        <a:gd name="txR" fmla="*/ 141 w 141"/>
                        <a:gd name="txB" fmla="*/ 265 h 265"/>
                      </a:gdLst>
                      <a:ahLst/>
                      <a:cxnLst>
                        <a:cxn ang="0">
                          <a:pos x="140" y="0"/>
                        </a:cxn>
                        <a:cxn ang="0">
                          <a:pos x="128" y="71"/>
                        </a:cxn>
                        <a:cxn ang="0">
                          <a:pos x="116" y="134"/>
                        </a:cxn>
                        <a:cxn ang="0">
                          <a:pos x="104" y="187"/>
                        </a:cxn>
                        <a:cxn ang="0">
                          <a:pos x="92" y="232"/>
                        </a:cxn>
                        <a:cxn ang="0">
                          <a:pos x="82" y="255"/>
                        </a:cxn>
                        <a:cxn ang="0">
                          <a:pos x="71" y="264"/>
                        </a:cxn>
                        <a:cxn ang="0">
                          <a:pos x="59" y="255"/>
                        </a:cxn>
                        <a:cxn ang="0">
                          <a:pos x="47" y="232"/>
                        </a:cxn>
                        <a:cxn ang="0">
                          <a:pos x="35" y="187"/>
                        </a:cxn>
                        <a:cxn ang="0">
                          <a:pos x="23" y="134"/>
                        </a:cxn>
                        <a:cxn ang="0">
                          <a:pos x="11" y="67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41" h="265">
                          <a:moveTo>
                            <a:pt x="140" y="0"/>
                          </a:moveTo>
                          <a:lnTo>
                            <a:pt x="128" y="71"/>
                          </a:lnTo>
                          <a:lnTo>
                            <a:pt x="116" y="134"/>
                          </a:lnTo>
                          <a:lnTo>
                            <a:pt x="104" y="187"/>
                          </a:lnTo>
                          <a:lnTo>
                            <a:pt x="92" y="232"/>
                          </a:lnTo>
                          <a:lnTo>
                            <a:pt x="82" y="255"/>
                          </a:lnTo>
                          <a:lnTo>
                            <a:pt x="71" y="264"/>
                          </a:lnTo>
                          <a:lnTo>
                            <a:pt x="59" y="255"/>
                          </a:lnTo>
                          <a:lnTo>
                            <a:pt x="47" y="232"/>
                          </a:lnTo>
                          <a:lnTo>
                            <a:pt x="35" y="187"/>
                          </a:lnTo>
                          <a:lnTo>
                            <a:pt x="23" y="134"/>
                          </a:lnTo>
                          <a:lnTo>
                            <a:pt x="11" y="67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60478" name="Group 49"/>
              <p:cNvGrpSpPr/>
              <p:nvPr/>
            </p:nvGrpSpPr>
            <p:grpSpPr>
              <a:xfrm>
                <a:off x="1551" y="1728"/>
                <a:ext cx="609" cy="529"/>
                <a:chOff x="1551" y="1728"/>
                <a:chExt cx="609" cy="529"/>
              </a:xfrm>
            </p:grpSpPr>
            <p:grpSp>
              <p:nvGrpSpPr>
                <p:cNvPr id="60479" name="Group 50"/>
                <p:cNvGrpSpPr/>
                <p:nvPr/>
              </p:nvGrpSpPr>
              <p:grpSpPr>
                <a:xfrm>
                  <a:off x="1551" y="1728"/>
                  <a:ext cx="329" cy="529"/>
                  <a:chOff x="1551" y="1728"/>
                  <a:chExt cx="329" cy="529"/>
                </a:xfrm>
              </p:grpSpPr>
              <p:sp>
                <p:nvSpPr>
                  <p:cNvPr id="60485" name="Line 51"/>
                  <p:cNvSpPr/>
                  <p:nvPr/>
                </p:nvSpPr>
                <p:spPr>
                  <a:xfrm>
                    <a:off x="1551" y="1992"/>
                    <a:ext cx="329" cy="0"/>
                  </a:xfrm>
                  <a:prstGeom prst="line">
                    <a:avLst/>
                  </a:prstGeom>
                  <a:ln w="28575" cap="flat" cmpd="sng">
                    <a:solidFill>
                      <a:srgbClr val="FF3300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grpSp>
                <p:nvGrpSpPr>
                  <p:cNvPr id="60486" name="Group 52"/>
                  <p:cNvGrpSpPr/>
                  <p:nvPr/>
                </p:nvGrpSpPr>
                <p:grpSpPr>
                  <a:xfrm>
                    <a:off x="1571" y="1728"/>
                    <a:ext cx="280" cy="529"/>
                    <a:chOff x="1571" y="1728"/>
                    <a:chExt cx="280" cy="529"/>
                  </a:xfrm>
                </p:grpSpPr>
                <p:sp>
                  <p:nvSpPr>
                    <p:cNvPr id="60487" name="Freeform 53"/>
                    <p:cNvSpPr/>
                    <p:nvPr/>
                  </p:nvSpPr>
                  <p:spPr>
                    <a:xfrm>
                      <a:off x="1571" y="1728"/>
                      <a:ext cx="141" cy="265"/>
                    </a:xfrm>
                    <a:custGeom>
                      <a:avLst/>
                      <a:gdLst>
                        <a:gd name="txL" fmla="*/ 0 w 141"/>
                        <a:gd name="txT" fmla="*/ 0 h 265"/>
                        <a:gd name="txR" fmla="*/ 141 w 141"/>
                        <a:gd name="txB" fmla="*/ 265 h 265"/>
                      </a:gdLst>
                      <a:ahLst/>
                      <a:cxnLst>
                        <a:cxn ang="0">
                          <a:pos x="0" y="264"/>
                        </a:cxn>
                        <a:cxn ang="0">
                          <a:pos x="11" y="192"/>
                        </a:cxn>
                        <a:cxn ang="0">
                          <a:pos x="23" y="129"/>
                        </a:cxn>
                        <a:cxn ang="0">
                          <a:pos x="35" y="76"/>
                        </a:cxn>
                        <a:cxn ang="0">
                          <a:pos x="47" y="31"/>
                        </a:cxn>
                        <a:cxn ang="0">
                          <a:pos x="57" y="8"/>
                        </a:cxn>
                        <a:cxn ang="0">
                          <a:pos x="69" y="0"/>
                        </a:cxn>
                        <a:cxn ang="0">
                          <a:pos x="80" y="8"/>
                        </a:cxn>
                        <a:cxn ang="0">
                          <a:pos x="92" y="31"/>
                        </a:cxn>
                        <a:cxn ang="0">
                          <a:pos x="104" y="76"/>
                        </a:cxn>
                        <a:cxn ang="0">
                          <a:pos x="116" y="129"/>
                        </a:cxn>
                        <a:cxn ang="0">
                          <a:pos x="128" y="196"/>
                        </a:cxn>
                        <a:cxn ang="0">
                          <a:pos x="140" y="264"/>
                        </a:cxn>
                      </a:cxnLst>
                      <a:rect l="txL" t="txT" r="txR" b="txB"/>
                      <a:pathLst>
                        <a:path w="141" h="265">
                          <a:moveTo>
                            <a:pt x="0" y="264"/>
                          </a:moveTo>
                          <a:lnTo>
                            <a:pt x="11" y="192"/>
                          </a:lnTo>
                          <a:lnTo>
                            <a:pt x="23" y="129"/>
                          </a:lnTo>
                          <a:lnTo>
                            <a:pt x="35" y="76"/>
                          </a:lnTo>
                          <a:lnTo>
                            <a:pt x="47" y="31"/>
                          </a:lnTo>
                          <a:lnTo>
                            <a:pt x="57" y="8"/>
                          </a:lnTo>
                          <a:lnTo>
                            <a:pt x="69" y="0"/>
                          </a:lnTo>
                          <a:lnTo>
                            <a:pt x="80" y="8"/>
                          </a:lnTo>
                          <a:lnTo>
                            <a:pt x="92" y="31"/>
                          </a:lnTo>
                          <a:lnTo>
                            <a:pt x="104" y="76"/>
                          </a:lnTo>
                          <a:lnTo>
                            <a:pt x="116" y="129"/>
                          </a:lnTo>
                          <a:lnTo>
                            <a:pt x="128" y="196"/>
                          </a:lnTo>
                          <a:lnTo>
                            <a:pt x="140" y="264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  <p:sp>
                  <p:nvSpPr>
                    <p:cNvPr id="60488" name="Freeform 54"/>
                    <p:cNvSpPr/>
                    <p:nvPr/>
                  </p:nvSpPr>
                  <p:spPr>
                    <a:xfrm>
                      <a:off x="1711" y="1992"/>
                      <a:ext cx="140" cy="265"/>
                    </a:xfrm>
                    <a:custGeom>
                      <a:avLst/>
                      <a:gdLst>
                        <a:gd name="txL" fmla="*/ 0 w 140"/>
                        <a:gd name="txT" fmla="*/ 0 h 265"/>
                        <a:gd name="txR" fmla="*/ 140 w 140"/>
                        <a:gd name="txB" fmla="*/ 265 h 265"/>
                      </a:gdLst>
                      <a:ahLst/>
                      <a:cxnLst>
                        <a:cxn ang="0">
                          <a:pos x="139" y="0"/>
                        </a:cxn>
                        <a:cxn ang="0">
                          <a:pos x="127" y="71"/>
                        </a:cxn>
                        <a:cxn ang="0">
                          <a:pos x="115" y="134"/>
                        </a:cxn>
                        <a:cxn ang="0">
                          <a:pos x="103" y="187"/>
                        </a:cxn>
                        <a:cxn ang="0">
                          <a:pos x="92" y="232"/>
                        </a:cxn>
                        <a:cxn ang="0">
                          <a:pos x="82" y="255"/>
                        </a:cxn>
                        <a:cxn ang="0">
                          <a:pos x="70" y="264"/>
                        </a:cxn>
                        <a:cxn ang="0">
                          <a:pos x="58" y="255"/>
                        </a:cxn>
                        <a:cxn ang="0">
                          <a:pos x="46" y="232"/>
                        </a:cxn>
                        <a:cxn ang="0">
                          <a:pos x="35" y="187"/>
                        </a:cxn>
                        <a:cxn ang="0">
                          <a:pos x="23" y="134"/>
                        </a:cxn>
                        <a:cxn ang="0">
                          <a:pos x="11" y="67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40" h="265">
                          <a:moveTo>
                            <a:pt x="139" y="0"/>
                          </a:moveTo>
                          <a:lnTo>
                            <a:pt x="127" y="71"/>
                          </a:lnTo>
                          <a:lnTo>
                            <a:pt x="115" y="134"/>
                          </a:lnTo>
                          <a:lnTo>
                            <a:pt x="103" y="187"/>
                          </a:lnTo>
                          <a:lnTo>
                            <a:pt x="92" y="232"/>
                          </a:lnTo>
                          <a:lnTo>
                            <a:pt x="82" y="255"/>
                          </a:lnTo>
                          <a:lnTo>
                            <a:pt x="70" y="264"/>
                          </a:lnTo>
                          <a:lnTo>
                            <a:pt x="58" y="255"/>
                          </a:lnTo>
                          <a:lnTo>
                            <a:pt x="46" y="232"/>
                          </a:lnTo>
                          <a:lnTo>
                            <a:pt x="35" y="187"/>
                          </a:lnTo>
                          <a:lnTo>
                            <a:pt x="23" y="134"/>
                          </a:lnTo>
                          <a:lnTo>
                            <a:pt x="11" y="67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60480" name="Group 55"/>
                <p:cNvGrpSpPr/>
                <p:nvPr/>
              </p:nvGrpSpPr>
              <p:grpSpPr>
                <a:xfrm>
                  <a:off x="1831" y="1728"/>
                  <a:ext cx="329" cy="529"/>
                  <a:chOff x="1831" y="1728"/>
                  <a:chExt cx="329" cy="529"/>
                </a:xfrm>
              </p:grpSpPr>
              <p:sp>
                <p:nvSpPr>
                  <p:cNvPr id="60481" name="Line 56"/>
                  <p:cNvSpPr/>
                  <p:nvPr/>
                </p:nvSpPr>
                <p:spPr>
                  <a:xfrm>
                    <a:off x="1831" y="1992"/>
                    <a:ext cx="329" cy="0"/>
                  </a:xfrm>
                  <a:prstGeom prst="line">
                    <a:avLst/>
                  </a:prstGeom>
                  <a:ln w="28575" cap="flat" cmpd="sng">
                    <a:solidFill>
                      <a:srgbClr val="FF3300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grpSp>
                <p:nvGrpSpPr>
                  <p:cNvPr id="60482" name="Group 57"/>
                  <p:cNvGrpSpPr/>
                  <p:nvPr/>
                </p:nvGrpSpPr>
                <p:grpSpPr>
                  <a:xfrm>
                    <a:off x="1851" y="1728"/>
                    <a:ext cx="280" cy="529"/>
                    <a:chOff x="1851" y="1728"/>
                    <a:chExt cx="280" cy="529"/>
                  </a:xfrm>
                </p:grpSpPr>
                <p:sp>
                  <p:nvSpPr>
                    <p:cNvPr id="60483" name="Freeform 58"/>
                    <p:cNvSpPr/>
                    <p:nvPr/>
                  </p:nvSpPr>
                  <p:spPr>
                    <a:xfrm>
                      <a:off x="1851" y="1728"/>
                      <a:ext cx="140" cy="265"/>
                    </a:xfrm>
                    <a:custGeom>
                      <a:avLst/>
                      <a:gdLst>
                        <a:gd name="txL" fmla="*/ 0 w 140"/>
                        <a:gd name="txT" fmla="*/ 0 h 265"/>
                        <a:gd name="txR" fmla="*/ 140 w 140"/>
                        <a:gd name="txB" fmla="*/ 265 h 265"/>
                      </a:gdLst>
                      <a:ahLst/>
                      <a:cxnLst>
                        <a:cxn ang="0">
                          <a:pos x="0" y="264"/>
                        </a:cxn>
                        <a:cxn ang="0">
                          <a:pos x="11" y="192"/>
                        </a:cxn>
                        <a:cxn ang="0">
                          <a:pos x="23" y="129"/>
                        </a:cxn>
                        <a:cxn ang="0">
                          <a:pos x="35" y="76"/>
                        </a:cxn>
                        <a:cxn ang="0">
                          <a:pos x="46" y="31"/>
                        </a:cxn>
                        <a:cxn ang="0">
                          <a:pos x="56" y="8"/>
                        </a:cxn>
                        <a:cxn ang="0">
                          <a:pos x="68" y="0"/>
                        </a:cxn>
                        <a:cxn ang="0">
                          <a:pos x="80" y="8"/>
                        </a:cxn>
                        <a:cxn ang="0">
                          <a:pos x="92" y="31"/>
                        </a:cxn>
                        <a:cxn ang="0">
                          <a:pos x="103" y="76"/>
                        </a:cxn>
                        <a:cxn ang="0">
                          <a:pos x="115" y="129"/>
                        </a:cxn>
                        <a:cxn ang="0">
                          <a:pos x="127" y="196"/>
                        </a:cxn>
                        <a:cxn ang="0">
                          <a:pos x="139" y="264"/>
                        </a:cxn>
                      </a:cxnLst>
                      <a:rect l="txL" t="txT" r="txR" b="txB"/>
                      <a:pathLst>
                        <a:path w="140" h="265">
                          <a:moveTo>
                            <a:pt x="0" y="264"/>
                          </a:moveTo>
                          <a:lnTo>
                            <a:pt x="11" y="192"/>
                          </a:lnTo>
                          <a:lnTo>
                            <a:pt x="23" y="129"/>
                          </a:lnTo>
                          <a:lnTo>
                            <a:pt x="35" y="76"/>
                          </a:lnTo>
                          <a:lnTo>
                            <a:pt x="46" y="31"/>
                          </a:lnTo>
                          <a:lnTo>
                            <a:pt x="56" y="8"/>
                          </a:lnTo>
                          <a:lnTo>
                            <a:pt x="68" y="0"/>
                          </a:lnTo>
                          <a:lnTo>
                            <a:pt x="80" y="8"/>
                          </a:lnTo>
                          <a:lnTo>
                            <a:pt x="92" y="31"/>
                          </a:lnTo>
                          <a:lnTo>
                            <a:pt x="103" y="76"/>
                          </a:lnTo>
                          <a:lnTo>
                            <a:pt x="115" y="129"/>
                          </a:lnTo>
                          <a:lnTo>
                            <a:pt x="127" y="196"/>
                          </a:lnTo>
                          <a:lnTo>
                            <a:pt x="139" y="264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  <p:sp>
                  <p:nvSpPr>
                    <p:cNvPr id="60484" name="Freeform 59"/>
                    <p:cNvSpPr/>
                    <p:nvPr/>
                  </p:nvSpPr>
                  <p:spPr>
                    <a:xfrm>
                      <a:off x="1990" y="1992"/>
                      <a:ext cx="141" cy="265"/>
                    </a:xfrm>
                    <a:custGeom>
                      <a:avLst/>
                      <a:gdLst>
                        <a:gd name="txL" fmla="*/ 0 w 141"/>
                        <a:gd name="txT" fmla="*/ 0 h 265"/>
                        <a:gd name="txR" fmla="*/ 141 w 141"/>
                        <a:gd name="txB" fmla="*/ 265 h 265"/>
                      </a:gdLst>
                      <a:ahLst/>
                      <a:cxnLst>
                        <a:cxn ang="0">
                          <a:pos x="140" y="0"/>
                        </a:cxn>
                        <a:cxn ang="0">
                          <a:pos x="128" y="71"/>
                        </a:cxn>
                        <a:cxn ang="0">
                          <a:pos x="116" y="134"/>
                        </a:cxn>
                        <a:cxn ang="0">
                          <a:pos x="104" y="187"/>
                        </a:cxn>
                        <a:cxn ang="0">
                          <a:pos x="92" y="232"/>
                        </a:cxn>
                        <a:cxn ang="0">
                          <a:pos x="82" y="255"/>
                        </a:cxn>
                        <a:cxn ang="0">
                          <a:pos x="71" y="264"/>
                        </a:cxn>
                        <a:cxn ang="0">
                          <a:pos x="59" y="255"/>
                        </a:cxn>
                        <a:cxn ang="0">
                          <a:pos x="47" y="232"/>
                        </a:cxn>
                        <a:cxn ang="0">
                          <a:pos x="35" y="187"/>
                        </a:cxn>
                        <a:cxn ang="0">
                          <a:pos x="23" y="134"/>
                        </a:cxn>
                        <a:cxn ang="0">
                          <a:pos x="11" y="67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41" h="265">
                          <a:moveTo>
                            <a:pt x="140" y="0"/>
                          </a:moveTo>
                          <a:lnTo>
                            <a:pt x="128" y="71"/>
                          </a:lnTo>
                          <a:lnTo>
                            <a:pt x="116" y="134"/>
                          </a:lnTo>
                          <a:lnTo>
                            <a:pt x="104" y="187"/>
                          </a:lnTo>
                          <a:lnTo>
                            <a:pt x="92" y="232"/>
                          </a:lnTo>
                          <a:lnTo>
                            <a:pt x="82" y="255"/>
                          </a:lnTo>
                          <a:lnTo>
                            <a:pt x="71" y="264"/>
                          </a:lnTo>
                          <a:lnTo>
                            <a:pt x="59" y="255"/>
                          </a:lnTo>
                          <a:lnTo>
                            <a:pt x="47" y="232"/>
                          </a:lnTo>
                          <a:lnTo>
                            <a:pt x="35" y="187"/>
                          </a:lnTo>
                          <a:lnTo>
                            <a:pt x="23" y="134"/>
                          </a:lnTo>
                          <a:lnTo>
                            <a:pt x="11" y="67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28575" cap="rnd" cmpd="sng">
                      <a:solidFill>
                        <a:srgbClr val="FF33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楷体_GB2312" pitchFamily="49" charset="-122"/>
                      </a:endParaRPr>
                    </a:p>
                  </p:txBody>
                </p:sp>
              </p:grpSp>
            </p:grpSp>
          </p:grpSp>
        </p:grpSp>
        <p:sp>
          <p:nvSpPr>
            <p:cNvPr id="60474" name="Line 60"/>
            <p:cNvSpPr/>
            <p:nvPr/>
          </p:nvSpPr>
          <p:spPr>
            <a:xfrm>
              <a:off x="1013" y="3660"/>
              <a:ext cx="1" cy="96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75" name="Line 61"/>
            <p:cNvSpPr/>
            <p:nvPr/>
          </p:nvSpPr>
          <p:spPr>
            <a:xfrm>
              <a:off x="1398" y="3661"/>
              <a:ext cx="1" cy="96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4" name="Group 62"/>
          <p:cNvGrpSpPr/>
          <p:nvPr/>
        </p:nvGrpSpPr>
        <p:grpSpPr>
          <a:xfrm>
            <a:off x="611188" y="1484313"/>
            <a:ext cx="7994650" cy="4646612"/>
            <a:chOff x="294" y="1201"/>
            <a:chExt cx="5036" cy="2927"/>
          </a:xfrm>
        </p:grpSpPr>
        <p:grpSp>
          <p:nvGrpSpPr>
            <p:cNvPr id="60441" name="Group 63"/>
            <p:cNvGrpSpPr/>
            <p:nvPr/>
          </p:nvGrpSpPr>
          <p:grpSpPr>
            <a:xfrm>
              <a:off x="346" y="1201"/>
              <a:ext cx="4984" cy="1771"/>
              <a:chOff x="346" y="1201"/>
              <a:chExt cx="4984" cy="1771"/>
            </a:xfrm>
          </p:grpSpPr>
          <p:grpSp>
            <p:nvGrpSpPr>
              <p:cNvPr id="60451" name="Group 64"/>
              <p:cNvGrpSpPr/>
              <p:nvPr/>
            </p:nvGrpSpPr>
            <p:grpSpPr>
              <a:xfrm>
                <a:off x="346" y="1201"/>
                <a:ext cx="1824" cy="998"/>
                <a:chOff x="346" y="1201"/>
                <a:chExt cx="1824" cy="998"/>
              </a:xfrm>
            </p:grpSpPr>
            <p:sp>
              <p:nvSpPr>
                <p:cNvPr id="60463" name="Line 65"/>
                <p:cNvSpPr/>
                <p:nvPr/>
              </p:nvSpPr>
              <p:spPr>
                <a:xfrm flipV="1">
                  <a:off x="346" y="1201"/>
                  <a:ext cx="1" cy="948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0464" name="Line 66"/>
                <p:cNvSpPr/>
                <p:nvPr/>
              </p:nvSpPr>
              <p:spPr>
                <a:xfrm>
                  <a:off x="346" y="1603"/>
                  <a:ext cx="336" cy="0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65" name="Line 67"/>
                <p:cNvSpPr/>
                <p:nvPr/>
              </p:nvSpPr>
              <p:spPr>
                <a:xfrm>
                  <a:off x="682" y="1603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66" name="Line 68"/>
                <p:cNvSpPr/>
                <p:nvPr/>
              </p:nvSpPr>
              <p:spPr>
                <a:xfrm flipV="1">
                  <a:off x="1066" y="1603"/>
                  <a:ext cx="0" cy="384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67" name="Line 69"/>
                <p:cNvSpPr/>
                <p:nvPr/>
              </p:nvSpPr>
              <p:spPr>
                <a:xfrm>
                  <a:off x="1066" y="1603"/>
                  <a:ext cx="384" cy="0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68" name="Line 70"/>
                <p:cNvSpPr/>
                <p:nvPr/>
              </p:nvSpPr>
              <p:spPr>
                <a:xfrm>
                  <a:off x="1450" y="1603"/>
                  <a:ext cx="0" cy="384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69" name="Line 71"/>
                <p:cNvSpPr/>
                <p:nvPr/>
              </p:nvSpPr>
              <p:spPr>
                <a:xfrm>
                  <a:off x="346" y="2011"/>
                  <a:ext cx="1632" cy="0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0470" name="Line 72"/>
                <p:cNvSpPr/>
                <p:nvPr/>
              </p:nvSpPr>
              <p:spPr>
                <a:xfrm>
                  <a:off x="1065" y="1915"/>
                  <a:ext cx="1" cy="96"/>
                </a:xfrm>
                <a:prstGeom prst="line">
                  <a:avLst/>
                </a:prstGeom>
                <a:ln w="28575" cap="flat" cmpd="sng">
                  <a:solidFill>
                    <a:schemeClr val="accent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71" name="Line 73"/>
                <p:cNvSpPr/>
                <p:nvPr/>
              </p:nvSpPr>
              <p:spPr>
                <a:xfrm>
                  <a:off x="1450" y="1916"/>
                  <a:ext cx="1" cy="96"/>
                </a:xfrm>
                <a:prstGeom prst="line">
                  <a:avLst/>
                </a:prstGeom>
                <a:ln w="28575" cap="flat" cmpd="sng">
                  <a:solidFill>
                    <a:schemeClr val="accent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72" name="Text Box 74"/>
                <p:cNvSpPr txBox="1"/>
                <p:nvPr/>
              </p:nvSpPr>
              <p:spPr>
                <a:xfrm>
                  <a:off x="1974" y="1795"/>
                  <a:ext cx="196" cy="40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600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endParaRPr lang="en-US" altLang="zh-CN" sz="36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0452" name="Group 75"/>
              <p:cNvGrpSpPr/>
              <p:nvPr/>
            </p:nvGrpSpPr>
            <p:grpSpPr>
              <a:xfrm>
                <a:off x="3447" y="1790"/>
                <a:ext cx="1883" cy="1182"/>
                <a:chOff x="3447" y="1790"/>
                <a:chExt cx="1883" cy="1182"/>
              </a:xfrm>
            </p:grpSpPr>
            <p:sp>
              <p:nvSpPr>
                <p:cNvPr id="60453" name="Line 76"/>
                <p:cNvSpPr/>
                <p:nvPr/>
              </p:nvSpPr>
              <p:spPr>
                <a:xfrm flipV="1">
                  <a:off x="3447" y="1790"/>
                  <a:ext cx="1" cy="1182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0454" name="Line 77"/>
                <p:cNvSpPr/>
                <p:nvPr/>
              </p:nvSpPr>
              <p:spPr>
                <a:xfrm>
                  <a:off x="3447" y="2192"/>
                  <a:ext cx="336" cy="0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55" name="Line 78"/>
                <p:cNvSpPr/>
                <p:nvPr/>
              </p:nvSpPr>
              <p:spPr>
                <a:xfrm>
                  <a:off x="3783" y="2192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56" name="Line 79"/>
                <p:cNvSpPr/>
                <p:nvPr/>
              </p:nvSpPr>
              <p:spPr>
                <a:xfrm flipV="1">
                  <a:off x="4167" y="2192"/>
                  <a:ext cx="0" cy="384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57" name="Line 80"/>
                <p:cNvSpPr/>
                <p:nvPr/>
              </p:nvSpPr>
              <p:spPr>
                <a:xfrm>
                  <a:off x="4167" y="2192"/>
                  <a:ext cx="384" cy="0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58" name="Line 81"/>
                <p:cNvSpPr/>
                <p:nvPr/>
              </p:nvSpPr>
              <p:spPr>
                <a:xfrm>
                  <a:off x="4551" y="2192"/>
                  <a:ext cx="0" cy="384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59" name="Line 82"/>
                <p:cNvSpPr/>
                <p:nvPr/>
              </p:nvSpPr>
              <p:spPr>
                <a:xfrm>
                  <a:off x="3447" y="2600"/>
                  <a:ext cx="1632" cy="0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0460" name="Line 83"/>
                <p:cNvSpPr/>
                <p:nvPr/>
              </p:nvSpPr>
              <p:spPr>
                <a:xfrm>
                  <a:off x="4166" y="2504"/>
                  <a:ext cx="1" cy="96"/>
                </a:xfrm>
                <a:prstGeom prst="line">
                  <a:avLst/>
                </a:prstGeom>
                <a:ln w="28575" cap="flat" cmpd="sng">
                  <a:solidFill>
                    <a:schemeClr val="accent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61" name="Line 84"/>
                <p:cNvSpPr/>
                <p:nvPr/>
              </p:nvSpPr>
              <p:spPr>
                <a:xfrm>
                  <a:off x="4551" y="2505"/>
                  <a:ext cx="1" cy="96"/>
                </a:xfrm>
                <a:prstGeom prst="line">
                  <a:avLst/>
                </a:prstGeom>
                <a:ln w="28575" cap="flat" cmpd="sng">
                  <a:solidFill>
                    <a:schemeClr val="accent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62" name="Text Box 85"/>
                <p:cNvSpPr txBox="1"/>
                <p:nvPr/>
              </p:nvSpPr>
              <p:spPr>
                <a:xfrm>
                  <a:off x="5134" y="2384"/>
                  <a:ext cx="196" cy="40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600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endParaRPr lang="en-US" altLang="zh-CN" sz="36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60442" name="Group 86"/>
            <p:cNvGrpSpPr/>
            <p:nvPr/>
          </p:nvGrpSpPr>
          <p:grpSpPr>
            <a:xfrm>
              <a:off x="294" y="2946"/>
              <a:ext cx="1876" cy="1182"/>
              <a:chOff x="294" y="2946"/>
              <a:chExt cx="1876" cy="1182"/>
            </a:xfrm>
          </p:grpSpPr>
          <p:sp>
            <p:nvSpPr>
              <p:cNvPr id="60443" name="Line 87"/>
              <p:cNvSpPr/>
              <p:nvPr/>
            </p:nvSpPr>
            <p:spPr>
              <a:xfrm flipV="1">
                <a:off x="295" y="2946"/>
                <a:ext cx="0" cy="1182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0444" name="Line 88"/>
              <p:cNvSpPr/>
              <p:nvPr/>
            </p:nvSpPr>
            <p:spPr>
              <a:xfrm>
                <a:off x="294" y="3348"/>
                <a:ext cx="336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445" name="Line 89"/>
              <p:cNvSpPr/>
              <p:nvPr/>
            </p:nvSpPr>
            <p:spPr>
              <a:xfrm>
                <a:off x="649" y="3348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446" name="Line 90"/>
              <p:cNvSpPr/>
              <p:nvPr/>
            </p:nvSpPr>
            <p:spPr>
              <a:xfrm flipV="1">
                <a:off x="1014" y="3348"/>
                <a:ext cx="0" cy="384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447" name="Line 91"/>
              <p:cNvSpPr/>
              <p:nvPr/>
            </p:nvSpPr>
            <p:spPr>
              <a:xfrm>
                <a:off x="1014" y="3348"/>
                <a:ext cx="384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448" name="Line 92"/>
              <p:cNvSpPr/>
              <p:nvPr/>
            </p:nvSpPr>
            <p:spPr>
              <a:xfrm>
                <a:off x="1398" y="3348"/>
                <a:ext cx="0" cy="384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449" name="Line 93"/>
              <p:cNvSpPr/>
              <p:nvPr/>
            </p:nvSpPr>
            <p:spPr>
              <a:xfrm>
                <a:off x="294" y="3756"/>
                <a:ext cx="1632" cy="0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0450" name="Text Box 94"/>
              <p:cNvSpPr txBox="1"/>
              <p:nvPr/>
            </p:nvSpPr>
            <p:spPr>
              <a:xfrm>
                <a:off x="1974" y="3613"/>
                <a:ext cx="196" cy="40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6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36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1839" name="AutoShape 95"/>
          <p:cNvSpPr/>
          <p:nvPr/>
        </p:nvSpPr>
        <p:spPr>
          <a:xfrm>
            <a:off x="6084888" y="2098675"/>
            <a:ext cx="1222375" cy="723900"/>
          </a:xfrm>
          <a:prstGeom prst="wedgeEllipseCallout">
            <a:avLst>
              <a:gd name="adj1" fmla="val -21343"/>
              <a:gd name="adj2" fmla="val 113088"/>
            </a:avLst>
          </a:prstGeom>
          <a:noFill/>
          <a:ln w="28575" cap="flat" cmpd="sng">
            <a:solidFill>
              <a:srgbClr val="FF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基波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9" name="Group 96"/>
          <p:cNvGrpSpPr/>
          <p:nvPr/>
        </p:nvGrpSpPr>
        <p:grpSpPr>
          <a:xfrm>
            <a:off x="2411413" y="1196975"/>
            <a:ext cx="1790700" cy="946150"/>
            <a:chOff x="1379" y="961"/>
            <a:chExt cx="1128" cy="596"/>
          </a:xfrm>
        </p:grpSpPr>
        <p:sp>
          <p:nvSpPr>
            <p:cNvPr id="60439" name="Text Box 97"/>
            <p:cNvSpPr txBox="1"/>
            <p:nvPr/>
          </p:nvSpPr>
          <p:spPr>
            <a:xfrm>
              <a:off x="1451" y="1086"/>
              <a:ext cx="105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直流分量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0440" name="AutoShape 98"/>
            <p:cNvSpPr/>
            <p:nvPr/>
          </p:nvSpPr>
          <p:spPr>
            <a:xfrm>
              <a:off x="1379" y="961"/>
              <a:ext cx="1128" cy="596"/>
            </a:xfrm>
            <a:prstGeom prst="wedgeEllipseCallout">
              <a:avLst>
                <a:gd name="adj1" fmla="val -17907"/>
                <a:gd name="adj2" fmla="val 93120"/>
              </a:avLst>
            </a:prstGeom>
            <a:noFill/>
            <a:ln w="28575" cap="flat" cmpd="sng">
              <a:solidFill>
                <a:srgbClr val="FFCC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0" name="Group 99"/>
          <p:cNvGrpSpPr/>
          <p:nvPr/>
        </p:nvGrpSpPr>
        <p:grpSpPr>
          <a:xfrm>
            <a:off x="1998663" y="3684588"/>
            <a:ext cx="2058987" cy="946150"/>
            <a:chOff x="1324" y="2647"/>
            <a:chExt cx="1297" cy="596"/>
          </a:xfrm>
        </p:grpSpPr>
        <p:sp>
          <p:nvSpPr>
            <p:cNvPr id="60437" name="AutoShape 100"/>
            <p:cNvSpPr/>
            <p:nvPr/>
          </p:nvSpPr>
          <p:spPr>
            <a:xfrm>
              <a:off x="1324" y="2647"/>
              <a:ext cx="1297" cy="596"/>
            </a:xfrm>
            <a:prstGeom prst="wedgeEllipseCallout">
              <a:avLst>
                <a:gd name="adj1" fmla="val -35657"/>
                <a:gd name="adj2" fmla="val 118792"/>
              </a:avLst>
            </a:prstGeom>
            <a:noFill/>
            <a:ln w="28575" cap="flat" cmpd="sng">
              <a:solidFill>
                <a:srgbClr val="FFCC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0438" name="Text Box 101"/>
            <p:cNvSpPr txBox="1"/>
            <p:nvPr/>
          </p:nvSpPr>
          <p:spPr>
            <a:xfrm>
              <a:off x="1502" y="2783"/>
              <a:ext cx="101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三次谐波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846" name="AutoShape 102"/>
          <p:cNvSpPr/>
          <p:nvPr/>
        </p:nvSpPr>
        <p:spPr>
          <a:xfrm>
            <a:off x="4211638" y="4724400"/>
            <a:ext cx="2016125" cy="1079500"/>
          </a:xfrm>
          <a:prstGeom prst="cloudCallout">
            <a:avLst>
              <a:gd name="adj1" fmla="val 25593"/>
              <a:gd name="adj2" fmla="val -4116"/>
            </a:avLst>
          </a:prstGeom>
          <a:noFill/>
          <a:ln w="28575" cap="flat" cmpd="sng">
            <a:solidFill>
              <a:srgbClr val="FFCC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五次谐波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847" name="AutoShape 103"/>
          <p:cNvSpPr/>
          <p:nvPr/>
        </p:nvSpPr>
        <p:spPr>
          <a:xfrm>
            <a:off x="6659563" y="4437063"/>
            <a:ext cx="2151062" cy="1062037"/>
          </a:xfrm>
          <a:prstGeom prst="cloudCallout">
            <a:avLst>
              <a:gd name="adj1" fmla="val 28227"/>
              <a:gd name="adj2" fmla="val 2019"/>
            </a:avLst>
          </a:prstGeom>
          <a:noFill/>
          <a:ln w="28575" cap="flat" cmpd="sng">
            <a:solidFill>
              <a:srgbClr val="FFCC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七次谐波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851" name="Text Box 107"/>
          <p:cNvSpPr txBox="1"/>
          <p:nvPr/>
        </p:nvSpPr>
        <p:spPr>
          <a:xfrm>
            <a:off x="468313" y="549275"/>
            <a:ext cx="4679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6600"/>
                </a:solidFill>
                <a:latin typeface="Arial" panose="020B0604020202020204" pitchFamily="34" charset="0"/>
              </a:rPr>
              <a:t>周期性方波波形分解</a:t>
            </a:r>
            <a:endParaRPr lang="zh-CN" altLang="en-US" dirty="0">
              <a:solidFill>
                <a:srgbClr val="FF6600"/>
              </a:solidFill>
              <a:latin typeface="Arial" panose="020B0604020202020204" pitchFamily="34" charset="0"/>
            </a:endParaRPr>
          </a:p>
        </p:txBody>
      </p:sp>
      <p:grpSp>
        <p:nvGrpSpPr>
          <p:cNvPr id="60428" name="Group 12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0435" name="Picture 12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36" name="Text Box 12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0429" name="Group 12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0433" name="Picture 12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34" name="Text Box 12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0430" name="Group 133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0431" name="Picture 13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32" name="Text Box 13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39" grpId="0" animBg="1"/>
      <p:bldP spid="31846" grpId="0" animBg="1"/>
      <p:bldP spid="31847" grpId="0" animBg="1"/>
      <p:bldP spid="318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573088" y="5194300"/>
            <a:ext cx="4181475" cy="261938"/>
            <a:chOff x="432" y="1728"/>
            <a:chExt cx="1728" cy="529"/>
          </a:xfrm>
        </p:grpSpPr>
        <p:grpSp>
          <p:nvGrpSpPr>
            <p:cNvPr id="61530" name="Group 3"/>
            <p:cNvGrpSpPr/>
            <p:nvPr/>
          </p:nvGrpSpPr>
          <p:grpSpPr>
            <a:xfrm>
              <a:off x="432" y="1728"/>
              <a:ext cx="609" cy="529"/>
              <a:chOff x="432" y="1728"/>
              <a:chExt cx="609" cy="529"/>
            </a:xfrm>
          </p:grpSpPr>
          <p:grpSp>
            <p:nvGrpSpPr>
              <p:cNvPr id="61553" name="Group 4"/>
              <p:cNvGrpSpPr/>
              <p:nvPr/>
            </p:nvGrpSpPr>
            <p:grpSpPr>
              <a:xfrm>
                <a:off x="432" y="1728"/>
                <a:ext cx="329" cy="529"/>
                <a:chOff x="432" y="1728"/>
                <a:chExt cx="329" cy="529"/>
              </a:xfrm>
            </p:grpSpPr>
            <p:sp>
              <p:nvSpPr>
                <p:cNvPr id="61559" name="Line 5"/>
                <p:cNvSpPr/>
                <p:nvPr/>
              </p:nvSpPr>
              <p:spPr>
                <a:xfrm>
                  <a:off x="432" y="1992"/>
                  <a:ext cx="329" cy="0"/>
                </a:xfrm>
                <a:prstGeom prst="line">
                  <a:avLst/>
                </a:prstGeom>
                <a:ln w="28575" cap="flat" cmpd="sng">
                  <a:solidFill>
                    <a:srgbClr val="FFCCFF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61560" name="Group 6"/>
                <p:cNvGrpSpPr/>
                <p:nvPr/>
              </p:nvGrpSpPr>
              <p:grpSpPr>
                <a:xfrm>
                  <a:off x="452" y="1728"/>
                  <a:ext cx="280" cy="529"/>
                  <a:chOff x="452" y="1728"/>
                  <a:chExt cx="280" cy="529"/>
                </a:xfrm>
              </p:grpSpPr>
              <p:sp>
                <p:nvSpPr>
                  <p:cNvPr id="61561" name="Freeform 7"/>
                  <p:cNvSpPr/>
                  <p:nvPr/>
                </p:nvSpPr>
                <p:spPr>
                  <a:xfrm>
                    <a:off x="452" y="1728"/>
                    <a:ext cx="140" cy="265"/>
                  </a:xfrm>
                  <a:custGeom>
                    <a:avLst/>
                    <a:gdLst>
                      <a:gd name="txL" fmla="*/ 0 w 140"/>
                      <a:gd name="txT" fmla="*/ 0 h 265"/>
                      <a:gd name="txR" fmla="*/ 140 w 140"/>
                      <a:gd name="txB" fmla="*/ 265 h 265"/>
                    </a:gdLst>
                    <a:ahLst/>
                    <a:cxnLst>
                      <a:cxn ang="0">
                        <a:pos x="0" y="264"/>
                      </a:cxn>
                      <a:cxn ang="0">
                        <a:pos x="11" y="192"/>
                      </a:cxn>
                      <a:cxn ang="0">
                        <a:pos x="23" y="129"/>
                      </a:cxn>
                      <a:cxn ang="0">
                        <a:pos x="35" y="76"/>
                      </a:cxn>
                      <a:cxn ang="0">
                        <a:pos x="46" y="31"/>
                      </a:cxn>
                      <a:cxn ang="0">
                        <a:pos x="56" y="8"/>
                      </a:cxn>
                      <a:cxn ang="0">
                        <a:pos x="68" y="0"/>
                      </a:cxn>
                      <a:cxn ang="0">
                        <a:pos x="80" y="8"/>
                      </a:cxn>
                      <a:cxn ang="0">
                        <a:pos x="92" y="31"/>
                      </a:cxn>
                      <a:cxn ang="0">
                        <a:pos x="103" y="76"/>
                      </a:cxn>
                      <a:cxn ang="0">
                        <a:pos x="115" y="129"/>
                      </a:cxn>
                      <a:cxn ang="0">
                        <a:pos x="127" y="196"/>
                      </a:cxn>
                      <a:cxn ang="0">
                        <a:pos x="139" y="264"/>
                      </a:cxn>
                    </a:cxnLst>
                    <a:rect l="txL" t="txT" r="txR" b="txB"/>
                    <a:pathLst>
                      <a:path w="140" h="265">
                        <a:moveTo>
                          <a:pt x="0" y="264"/>
                        </a:moveTo>
                        <a:lnTo>
                          <a:pt x="11" y="192"/>
                        </a:lnTo>
                        <a:lnTo>
                          <a:pt x="23" y="129"/>
                        </a:lnTo>
                        <a:lnTo>
                          <a:pt x="35" y="76"/>
                        </a:lnTo>
                        <a:lnTo>
                          <a:pt x="46" y="31"/>
                        </a:lnTo>
                        <a:lnTo>
                          <a:pt x="56" y="8"/>
                        </a:lnTo>
                        <a:lnTo>
                          <a:pt x="68" y="0"/>
                        </a:lnTo>
                        <a:lnTo>
                          <a:pt x="80" y="8"/>
                        </a:lnTo>
                        <a:lnTo>
                          <a:pt x="92" y="31"/>
                        </a:lnTo>
                        <a:lnTo>
                          <a:pt x="103" y="76"/>
                        </a:lnTo>
                        <a:lnTo>
                          <a:pt x="115" y="129"/>
                        </a:lnTo>
                        <a:lnTo>
                          <a:pt x="127" y="196"/>
                        </a:lnTo>
                        <a:lnTo>
                          <a:pt x="139" y="264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  <p:sp>
                <p:nvSpPr>
                  <p:cNvPr id="61562" name="Freeform 8"/>
                  <p:cNvSpPr/>
                  <p:nvPr/>
                </p:nvSpPr>
                <p:spPr>
                  <a:xfrm>
                    <a:off x="591" y="1992"/>
                    <a:ext cx="141" cy="265"/>
                  </a:xfrm>
                  <a:custGeom>
                    <a:avLst/>
                    <a:gdLst>
                      <a:gd name="txL" fmla="*/ 0 w 141"/>
                      <a:gd name="txT" fmla="*/ 0 h 265"/>
                      <a:gd name="txR" fmla="*/ 141 w 141"/>
                      <a:gd name="txB" fmla="*/ 265 h 265"/>
                    </a:gdLst>
                    <a:ahLst/>
                    <a:cxnLst>
                      <a:cxn ang="0">
                        <a:pos x="140" y="0"/>
                      </a:cxn>
                      <a:cxn ang="0">
                        <a:pos x="128" y="71"/>
                      </a:cxn>
                      <a:cxn ang="0">
                        <a:pos x="116" y="134"/>
                      </a:cxn>
                      <a:cxn ang="0">
                        <a:pos x="104" y="187"/>
                      </a:cxn>
                      <a:cxn ang="0">
                        <a:pos x="92" y="232"/>
                      </a:cxn>
                      <a:cxn ang="0">
                        <a:pos x="82" y="255"/>
                      </a:cxn>
                      <a:cxn ang="0">
                        <a:pos x="71" y="264"/>
                      </a:cxn>
                      <a:cxn ang="0">
                        <a:pos x="59" y="255"/>
                      </a:cxn>
                      <a:cxn ang="0">
                        <a:pos x="47" y="232"/>
                      </a:cxn>
                      <a:cxn ang="0">
                        <a:pos x="35" y="187"/>
                      </a:cxn>
                      <a:cxn ang="0">
                        <a:pos x="23" y="134"/>
                      </a:cxn>
                      <a:cxn ang="0">
                        <a:pos x="11" y="67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41" h="265">
                        <a:moveTo>
                          <a:pt x="140" y="0"/>
                        </a:moveTo>
                        <a:lnTo>
                          <a:pt x="128" y="71"/>
                        </a:lnTo>
                        <a:lnTo>
                          <a:pt x="116" y="134"/>
                        </a:lnTo>
                        <a:lnTo>
                          <a:pt x="104" y="187"/>
                        </a:lnTo>
                        <a:lnTo>
                          <a:pt x="92" y="232"/>
                        </a:lnTo>
                        <a:lnTo>
                          <a:pt x="82" y="255"/>
                        </a:lnTo>
                        <a:lnTo>
                          <a:pt x="71" y="264"/>
                        </a:lnTo>
                        <a:lnTo>
                          <a:pt x="59" y="255"/>
                        </a:lnTo>
                        <a:lnTo>
                          <a:pt x="47" y="232"/>
                        </a:lnTo>
                        <a:lnTo>
                          <a:pt x="35" y="187"/>
                        </a:lnTo>
                        <a:lnTo>
                          <a:pt x="23" y="134"/>
                        </a:lnTo>
                        <a:lnTo>
                          <a:pt x="11" y="6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</p:grpSp>
          </p:grpSp>
          <p:grpSp>
            <p:nvGrpSpPr>
              <p:cNvPr id="61554" name="Group 9"/>
              <p:cNvGrpSpPr/>
              <p:nvPr/>
            </p:nvGrpSpPr>
            <p:grpSpPr>
              <a:xfrm>
                <a:off x="712" y="1728"/>
                <a:ext cx="329" cy="529"/>
                <a:chOff x="712" y="1728"/>
                <a:chExt cx="329" cy="529"/>
              </a:xfrm>
            </p:grpSpPr>
            <p:sp>
              <p:nvSpPr>
                <p:cNvPr id="61555" name="Line 10"/>
                <p:cNvSpPr/>
                <p:nvPr/>
              </p:nvSpPr>
              <p:spPr>
                <a:xfrm>
                  <a:off x="712" y="1992"/>
                  <a:ext cx="329" cy="0"/>
                </a:xfrm>
                <a:prstGeom prst="line">
                  <a:avLst/>
                </a:prstGeom>
                <a:ln w="28575" cap="flat" cmpd="sng">
                  <a:solidFill>
                    <a:srgbClr val="FFCCFF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61556" name="Group 11"/>
                <p:cNvGrpSpPr/>
                <p:nvPr/>
              </p:nvGrpSpPr>
              <p:grpSpPr>
                <a:xfrm>
                  <a:off x="732" y="1728"/>
                  <a:ext cx="280" cy="529"/>
                  <a:chOff x="732" y="1728"/>
                  <a:chExt cx="280" cy="529"/>
                </a:xfrm>
              </p:grpSpPr>
              <p:sp>
                <p:nvSpPr>
                  <p:cNvPr id="61557" name="Freeform 12"/>
                  <p:cNvSpPr/>
                  <p:nvPr/>
                </p:nvSpPr>
                <p:spPr>
                  <a:xfrm>
                    <a:off x="732" y="1728"/>
                    <a:ext cx="140" cy="265"/>
                  </a:xfrm>
                  <a:custGeom>
                    <a:avLst/>
                    <a:gdLst>
                      <a:gd name="txL" fmla="*/ 0 w 140"/>
                      <a:gd name="txT" fmla="*/ 0 h 265"/>
                      <a:gd name="txR" fmla="*/ 140 w 140"/>
                      <a:gd name="txB" fmla="*/ 265 h 265"/>
                    </a:gdLst>
                    <a:ahLst/>
                    <a:cxnLst>
                      <a:cxn ang="0">
                        <a:pos x="0" y="264"/>
                      </a:cxn>
                      <a:cxn ang="0">
                        <a:pos x="11" y="192"/>
                      </a:cxn>
                      <a:cxn ang="0">
                        <a:pos x="23" y="129"/>
                      </a:cxn>
                      <a:cxn ang="0">
                        <a:pos x="35" y="76"/>
                      </a:cxn>
                      <a:cxn ang="0">
                        <a:pos x="46" y="31"/>
                      </a:cxn>
                      <a:cxn ang="0">
                        <a:pos x="56" y="8"/>
                      </a:cxn>
                      <a:cxn ang="0">
                        <a:pos x="68" y="0"/>
                      </a:cxn>
                      <a:cxn ang="0">
                        <a:pos x="80" y="8"/>
                      </a:cxn>
                      <a:cxn ang="0">
                        <a:pos x="92" y="31"/>
                      </a:cxn>
                      <a:cxn ang="0">
                        <a:pos x="103" y="76"/>
                      </a:cxn>
                      <a:cxn ang="0">
                        <a:pos x="115" y="129"/>
                      </a:cxn>
                      <a:cxn ang="0">
                        <a:pos x="127" y="196"/>
                      </a:cxn>
                      <a:cxn ang="0">
                        <a:pos x="139" y="264"/>
                      </a:cxn>
                    </a:cxnLst>
                    <a:rect l="txL" t="txT" r="txR" b="txB"/>
                    <a:pathLst>
                      <a:path w="140" h="265">
                        <a:moveTo>
                          <a:pt x="0" y="264"/>
                        </a:moveTo>
                        <a:lnTo>
                          <a:pt x="11" y="192"/>
                        </a:lnTo>
                        <a:lnTo>
                          <a:pt x="23" y="129"/>
                        </a:lnTo>
                        <a:lnTo>
                          <a:pt x="35" y="76"/>
                        </a:lnTo>
                        <a:lnTo>
                          <a:pt x="46" y="31"/>
                        </a:lnTo>
                        <a:lnTo>
                          <a:pt x="56" y="8"/>
                        </a:lnTo>
                        <a:lnTo>
                          <a:pt x="68" y="0"/>
                        </a:lnTo>
                        <a:lnTo>
                          <a:pt x="80" y="8"/>
                        </a:lnTo>
                        <a:lnTo>
                          <a:pt x="92" y="31"/>
                        </a:lnTo>
                        <a:lnTo>
                          <a:pt x="103" y="76"/>
                        </a:lnTo>
                        <a:lnTo>
                          <a:pt x="115" y="129"/>
                        </a:lnTo>
                        <a:lnTo>
                          <a:pt x="127" y="196"/>
                        </a:lnTo>
                        <a:lnTo>
                          <a:pt x="139" y="264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  <p:sp>
                <p:nvSpPr>
                  <p:cNvPr id="61558" name="Freeform 13"/>
                  <p:cNvSpPr/>
                  <p:nvPr/>
                </p:nvSpPr>
                <p:spPr>
                  <a:xfrm>
                    <a:off x="871" y="1992"/>
                    <a:ext cx="141" cy="265"/>
                  </a:xfrm>
                  <a:custGeom>
                    <a:avLst/>
                    <a:gdLst>
                      <a:gd name="txL" fmla="*/ 0 w 141"/>
                      <a:gd name="txT" fmla="*/ 0 h 265"/>
                      <a:gd name="txR" fmla="*/ 141 w 141"/>
                      <a:gd name="txB" fmla="*/ 265 h 265"/>
                    </a:gdLst>
                    <a:ahLst/>
                    <a:cxnLst>
                      <a:cxn ang="0">
                        <a:pos x="140" y="0"/>
                      </a:cxn>
                      <a:cxn ang="0">
                        <a:pos x="128" y="71"/>
                      </a:cxn>
                      <a:cxn ang="0">
                        <a:pos x="116" y="134"/>
                      </a:cxn>
                      <a:cxn ang="0">
                        <a:pos x="104" y="187"/>
                      </a:cxn>
                      <a:cxn ang="0">
                        <a:pos x="92" y="232"/>
                      </a:cxn>
                      <a:cxn ang="0">
                        <a:pos x="82" y="255"/>
                      </a:cxn>
                      <a:cxn ang="0">
                        <a:pos x="71" y="264"/>
                      </a:cxn>
                      <a:cxn ang="0">
                        <a:pos x="59" y="255"/>
                      </a:cxn>
                      <a:cxn ang="0">
                        <a:pos x="47" y="232"/>
                      </a:cxn>
                      <a:cxn ang="0">
                        <a:pos x="35" y="187"/>
                      </a:cxn>
                      <a:cxn ang="0">
                        <a:pos x="23" y="134"/>
                      </a:cxn>
                      <a:cxn ang="0">
                        <a:pos x="11" y="67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41" h="265">
                        <a:moveTo>
                          <a:pt x="140" y="0"/>
                        </a:moveTo>
                        <a:lnTo>
                          <a:pt x="128" y="71"/>
                        </a:lnTo>
                        <a:lnTo>
                          <a:pt x="116" y="134"/>
                        </a:lnTo>
                        <a:lnTo>
                          <a:pt x="104" y="187"/>
                        </a:lnTo>
                        <a:lnTo>
                          <a:pt x="92" y="232"/>
                        </a:lnTo>
                        <a:lnTo>
                          <a:pt x="82" y="255"/>
                        </a:lnTo>
                        <a:lnTo>
                          <a:pt x="71" y="264"/>
                        </a:lnTo>
                        <a:lnTo>
                          <a:pt x="59" y="255"/>
                        </a:lnTo>
                        <a:lnTo>
                          <a:pt x="47" y="232"/>
                        </a:lnTo>
                        <a:lnTo>
                          <a:pt x="35" y="187"/>
                        </a:lnTo>
                        <a:lnTo>
                          <a:pt x="23" y="134"/>
                        </a:lnTo>
                        <a:lnTo>
                          <a:pt x="11" y="6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</p:grpSp>
          </p:grpSp>
        </p:grpSp>
        <p:grpSp>
          <p:nvGrpSpPr>
            <p:cNvPr id="61531" name="Group 14"/>
            <p:cNvGrpSpPr/>
            <p:nvPr/>
          </p:nvGrpSpPr>
          <p:grpSpPr>
            <a:xfrm>
              <a:off x="992" y="1728"/>
              <a:ext cx="608" cy="529"/>
              <a:chOff x="992" y="1728"/>
              <a:chExt cx="608" cy="529"/>
            </a:xfrm>
          </p:grpSpPr>
          <p:grpSp>
            <p:nvGrpSpPr>
              <p:cNvPr id="61543" name="Group 15"/>
              <p:cNvGrpSpPr/>
              <p:nvPr/>
            </p:nvGrpSpPr>
            <p:grpSpPr>
              <a:xfrm>
                <a:off x="992" y="1728"/>
                <a:ext cx="329" cy="529"/>
                <a:chOff x="992" y="1728"/>
                <a:chExt cx="329" cy="529"/>
              </a:xfrm>
            </p:grpSpPr>
            <p:sp>
              <p:nvSpPr>
                <p:cNvPr id="61549" name="Line 16"/>
                <p:cNvSpPr/>
                <p:nvPr/>
              </p:nvSpPr>
              <p:spPr>
                <a:xfrm>
                  <a:off x="992" y="1992"/>
                  <a:ext cx="329" cy="0"/>
                </a:xfrm>
                <a:prstGeom prst="line">
                  <a:avLst/>
                </a:prstGeom>
                <a:ln w="28575" cap="flat" cmpd="sng">
                  <a:solidFill>
                    <a:srgbClr val="FFCCFF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61550" name="Group 17"/>
                <p:cNvGrpSpPr/>
                <p:nvPr/>
              </p:nvGrpSpPr>
              <p:grpSpPr>
                <a:xfrm>
                  <a:off x="1011" y="1728"/>
                  <a:ext cx="281" cy="529"/>
                  <a:chOff x="1011" y="1728"/>
                  <a:chExt cx="281" cy="529"/>
                </a:xfrm>
              </p:grpSpPr>
              <p:sp>
                <p:nvSpPr>
                  <p:cNvPr id="61551" name="Freeform 18"/>
                  <p:cNvSpPr/>
                  <p:nvPr/>
                </p:nvSpPr>
                <p:spPr>
                  <a:xfrm>
                    <a:off x="1011" y="1728"/>
                    <a:ext cx="141" cy="265"/>
                  </a:xfrm>
                  <a:custGeom>
                    <a:avLst/>
                    <a:gdLst>
                      <a:gd name="txL" fmla="*/ 0 w 141"/>
                      <a:gd name="txT" fmla="*/ 0 h 265"/>
                      <a:gd name="txR" fmla="*/ 141 w 141"/>
                      <a:gd name="txB" fmla="*/ 265 h 265"/>
                    </a:gdLst>
                    <a:ahLst/>
                    <a:cxnLst>
                      <a:cxn ang="0">
                        <a:pos x="0" y="264"/>
                      </a:cxn>
                      <a:cxn ang="0">
                        <a:pos x="11" y="192"/>
                      </a:cxn>
                      <a:cxn ang="0">
                        <a:pos x="23" y="129"/>
                      </a:cxn>
                      <a:cxn ang="0">
                        <a:pos x="35" y="76"/>
                      </a:cxn>
                      <a:cxn ang="0">
                        <a:pos x="47" y="31"/>
                      </a:cxn>
                      <a:cxn ang="0">
                        <a:pos x="57" y="8"/>
                      </a:cxn>
                      <a:cxn ang="0">
                        <a:pos x="69" y="0"/>
                      </a:cxn>
                      <a:cxn ang="0">
                        <a:pos x="80" y="8"/>
                      </a:cxn>
                      <a:cxn ang="0">
                        <a:pos x="92" y="31"/>
                      </a:cxn>
                      <a:cxn ang="0">
                        <a:pos x="104" y="76"/>
                      </a:cxn>
                      <a:cxn ang="0">
                        <a:pos x="116" y="129"/>
                      </a:cxn>
                      <a:cxn ang="0">
                        <a:pos x="128" y="196"/>
                      </a:cxn>
                      <a:cxn ang="0">
                        <a:pos x="140" y="264"/>
                      </a:cxn>
                    </a:cxnLst>
                    <a:rect l="txL" t="txT" r="txR" b="txB"/>
                    <a:pathLst>
                      <a:path w="141" h="265">
                        <a:moveTo>
                          <a:pt x="0" y="264"/>
                        </a:moveTo>
                        <a:lnTo>
                          <a:pt x="11" y="192"/>
                        </a:lnTo>
                        <a:lnTo>
                          <a:pt x="23" y="129"/>
                        </a:lnTo>
                        <a:lnTo>
                          <a:pt x="35" y="76"/>
                        </a:lnTo>
                        <a:lnTo>
                          <a:pt x="47" y="31"/>
                        </a:lnTo>
                        <a:lnTo>
                          <a:pt x="57" y="8"/>
                        </a:lnTo>
                        <a:lnTo>
                          <a:pt x="69" y="0"/>
                        </a:lnTo>
                        <a:lnTo>
                          <a:pt x="80" y="8"/>
                        </a:lnTo>
                        <a:lnTo>
                          <a:pt x="92" y="31"/>
                        </a:lnTo>
                        <a:lnTo>
                          <a:pt x="104" y="76"/>
                        </a:lnTo>
                        <a:lnTo>
                          <a:pt x="116" y="129"/>
                        </a:lnTo>
                        <a:lnTo>
                          <a:pt x="128" y="196"/>
                        </a:lnTo>
                        <a:lnTo>
                          <a:pt x="140" y="264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  <p:sp>
                <p:nvSpPr>
                  <p:cNvPr id="61552" name="Freeform 19"/>
                  <p:cNvSpPr/>
                  <p:nvPr/>
                </p:nvSpPr>
                <p:spPr>
                  <a:xfrm>
                    <a:off x="1151" y="1992"/>
                    <a:ext cx="141" cy="265"/>
                  </a:xfrm>
                  <a:custGeom>
                    <a:avLst/>
                    <a:gdLst>
                      <a:gd name="txL" fmla="*/ 0 w 141"/>
                      <a:gd name="txT" fmla="*/ 0 h 265"/>
                      <a:gd name="txR" fmla="*/ 141 w 141"/>
                      <a:gd name="txB" fmla="*/ 265 h 265"/>
                    </a:gdLst>
                    <a:ahLst/>
                    <a:cxnLst>
                      <a:cxn ang="0">
                        <a:pos x="140" y="0"/>
                      </a:cxn>
                      <a:cxn ang="0">
                        <a:pos x="128" y="71"/>
                      </a:cxn>
                      <a:cxn ang="0">
                        <a:pos x="116" y="134"/>
                      </a:cxn>
                      <a:cxn ang="0">
                        <a:pos x="104" y="187"/>
                      </a:cxn>
                      <a:cxn ang="0">
                        <a:pos x="92" y="232"/>
                      </a:cxn>
                      <a:cxn ang="0">
                        <a:pos x="82" y="255"/>
                      </a:cxn>
                      <a:cxn ang="0">
                        <a:pos x="71" y="264"/>
                      </a:cxn>
                      <a:cxn ang="0">
                        <a:pos x="59" y="255"/>
                      </a:cxn>
                      <a:cxn ang="0">
                        <a:pos x="47" y="232"/>
                      </a:cxn>
                      <a:cxn ang="0">
                        <a:pos x="35" y="187"/>
                      </a:cxn>
                      <a:cxn ang="0">
                        <a:pos x="23" y="134"/>
                      </a:cxn>
                      <a:cxn ang="0">
                        <a:pos x="11" y="67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41" h="265">
                        <a:moveTo>
                          <a:pt x="140" y="0"/>
                        </a:moveTo>
                        <a:lnTo>
                          <a:pt x="128" y="71"/>
                        </a:lnTo>
                        <a:lnTo>
                          <a:pt x="116" y="134"/>
                        </a:lnTo>
                        <a:lnTo>
                          <a:pt x="104" y="187"/>
                        </a:lnTo>
                        <a:lnTo>
                          <a:pt x="92" y="232"/>
                        </a:lnTo>
                        <a:lnTo>
                          <a:pt x="82" y="255"/>
                        </a:lnTo>
                        <a:lnTo>
                          <a:pt x="71" y="264"/>
                        </a:lnTo>
                        <a:lnTo>
                          <a:pt x="59" y="255"/>
                        </a:lnTo>
                        <a:lnTo>
                          <a:pt x="47" y="232"/>
                        </a:lnTo>
                        <a:lnTo>
                          <a:pt x="35" y="187"/>
                        </a:lnTo>
                        <a:lnTo>
                          <a:pt x="23" y="134"/>
                        </a:lnTo>
                        <a:lnTo>
                          <a:pt x="11" y="6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</p:grpSp>
          </p:grpSp>
          <p:grpSp>
            <p:nvGrpSpPr>
              <p:cNvPr id="61544" name="Group 20"/>
              <p:cNvGrpSpPr/>
              <p:nvPr/>
            </p:nvGrpSpPr>
            <p:grpSpPr>
              <a:xfrm>
                <a:off x="1271" y="1728"/>
                <a:ext cx="329" cy="529"/>
                <a:chOff x="1271" y="1728"/>
                <a:chExt cx="329" cy="529"/>
              </a:xfrm>
            </p:grpSpPr>
            <p:sp>
              <p:nvSpPr>
                <p:cNvPr id="61545" name="Line 21"/>
                <p:cNvSpPr/>
                <p:nvPr/>
              </p:nvSpPr>
              <p:spPr>
                <a:xfrm>
                  <a:off x="1271" y="1992"/>
                  <a:ext cx="329" cy="0"/>
                </a:xfrm>
                <a:prstGeom prst="line">
                  <a:avLst/>
                </a:prstGeom>
                <a:ln w="28575" cap="flat" cmpd="sng">
                  <a:solidFill>
                    <a:srgbClr val="FFCCFF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61546" name="Group 22"/>
                <p:cNvGrpSpPr/>
                <p:nvPr/>
              </p:nvGrpSpPr>
              <p:grpSpPr>
                <a:xfrm>
                  <a:off x="1291" y="1728"/>
                  <a:ext cx="281" cy="529"/>
                  <a:chOff x="1291" y="1728"/>
                  <a:chExt cx="281" cy="529"/>
                </a:xfrm>
              </p:grpSpPr>
              <p:sp>
                <p:nvSpPr>
                  <p:cNvPr id="61547" name="Freeform 23"/>
                  <p:cNvSpPr/>
                  <p:nvPr/>
                </p:nvSpPr>
                <p:spPr>
                  <a:xfrm>
                    <a:off x="1291" y="1728"/>
                    <a:ext cx="141" cy="265"/>
                  </a:xfrm>
                  <a:custGeom>
                    <a:avLst/>
                    <a:gdLst>
                      <a:gd name="txL" fmla="*/ 0 w 141"/>
                      <a:gd name="txT" fmla="*/ 0 h 265"/>
                      <a:gd name="txR" fmla="*/ 141 w 141"/>
                      <a:gd name="txB" fmla="*/ 265 h 265"/>
                    </a:gdLst>
                    <a:ahLst/>
                    <a:cxnLst>
                      <a:cxn ang="0">
                        <a:pos x="0" y="264"/>
                      </a:cxn>
                      <a:cxn ang="0">
                        <a:pos x="11" y="192"/>
                      </a:cxn>
                      <a:cxn ang="0">
                        <a:pos x="23" y="129"/>
                      </a:cxn>
                      <a:cxn ang="0">
                        <a:pos x="35" y="76"/>
                      </a:cxn>
                      <a:cxn ang="0">
                        <a:pos x="47" y="31"/>
                      </a:cxn>
                      <a:cxn ang="0">
                        <a:pos x="57" y="8"/>
                      </a:cxn>
                      <a:cxn ang="0">
                        <a:pos x="69" y="0"/>
                      </a:cxn>
                      <a:cxn ang="0">
                        <a:pos x="80" y="8"/>
                      </a:cxn>
                      <a:cxn ang="0">
                        <a:pos x="92" y="31"/>
                      </a:cxn>
                      <a:cxn ang="0">
                        <a:pos x="104" y="76"/>
                      </a:cxn>
                      <a:cxn ang="0">
                        <a:pos x="116" y="129"/>
                      </a:cxn>
                      <a:cxn ang="0">
                        <a:pos x="128" y="196"/>
                      </a:cxn>
                      <a:cxn ang="0">
                        <a:pos x="140" y="264"/>
                      </a:cxn>
                    </a:cxnLst>
                    <a:rect l="txL" t="txT" r="txR" b="txB"/>
                    <a:pathLst>
                      <a:path w="141" h="265">
                        <a:moveTo>
                          <a:pt x="0" y="264"/>
                        </a:moveTo>
                        <a:lnTo>
                          <a:pt x="11" y="192"/>
                        </a:lnTo>
                        <a:lnTo>
                          <a:pt x="23" y="129"/>
                        </a:lnTo>
                        <a:lnTo>
                          <a:pt x="35" y="76"/>
                        </a:lnTo>
                        <a:lnTo>
                          <a:pt x="47" y="31"/>
                        </a:lnTo>
                        <a:lnTo>
                          <a:pt x="57" y="8"/>
                        </a:lnTo>
                        <a:lnTo>
                          <a:pt x="69" y="0"/>
                        </a:lnTo>
                        <a:lnTo>
                          <a:pt x="80" y="8"/>
                        </a:lnTo>
                        <a:lnTo>
                          <a:pt x="92" y="31"/>
                        </a:lnTo>
                        <a:lnTo>
                          <a:pt x="104" y="76"/>
                        </a:lnTo>
                        <a:lnTo>
                          <a:pt x="116" y="129"/>
                        </a:lnTo>
                        <a:lnTo>
                          <a:pt x="128" y="196"/>
                        </a:lnTo>
                        <a:lnTo>
                          <a:pt x="140" y="264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  <p:sp>
                <p:nvSpPr>
                  <p:cNvPr id="61548" name="Freeform 24"/>
                  <p:cNvSpPr/>
                  <p:nvPr/>
                </p:nvSpPr>
                <p:spPr>
                  <a:xfrm>
                    <a:off x="1431" y="1992"/>
                    <a:ext cx="141" cy="265"/>
                  </a:xfrm>
                  <a:custGeom>
                    <a:avLst/>
                    <a:gdLst>
                      <a:gd name="txL" fmla="*/ 0 w 141"/>
                      <a:gd name="txT" fmla="*/ 0 h 265"/>
                      <a:gd name="txR" fmla="*/ 141 w 141"/>
                      <a:gd name="txB" fmla="*/ 265 h 265"/>
                    </a:gdLst>
                    <a:ahLst/>
                    <a:cxnLst>
                      <a:cxn ang="0">
                        <a:pos x="140" y="0"/>
                      </a:cxn>
                      <a:cxn ang="0">
                        <a:pos x="128" y="71"/>
                      </a:cxn>
                      <a:cxn ang="0">
                        <a:pos x="116" y="134"/>
                      </a:cxn>
                      <a:cxn ang="0">
                        <a:pos x="104" y="187"/>
                      </a:cxn>
                      <a:cxn ang="0">
                        <a:pos x="92" y="232"/>
                      </a:cxn>
                      <a:cxn ang="0">
                        <a:pos x="82" y="255"/>
                      </a:cxn>
                      <a:cxn ang="0">
                        <a:pos x="71" y="264"/>
                      </a:cxn>
                      <a:cxn ang="0">
                        <a:pos x="59" y="255"/>
                      </a:cxn>
                      <a:cxn ang="0">
                        <a:pos x="47" y="232"/>
                      </a:cxn>
                      <a:cxn ang="0">
                        <a:pos x="35" y="187"/>
                      </a:cxn>
                      <a:cxn ang="0">
                        <a:pos x="23" y="134"/>
                      </a:cxn>
                      <a:cxn ang="0">
                        <a:pos x="11" y="67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41" h="265">
                        <a:moveTo>
                          <a:pt x="140" y="0"/>
                        </a:moveTo>
                        <a:lnTo>
                          <a:pt x="128" y="71"/>
                        </a:lnTo>
                        <a:lnTo>
                          <a:pt x="116" y="134"/>
                        </a:lnTo>
                        <a:lnTo>
                          <a:pt x="104" y="187"/>
                        </a:lnTo>
                        <a:lnTo>
                          <a:pt x="92" y="232"/>
                        </a:lnTo>
                        <a:lnTo>
                          <a:pt x="82" y="255"/>
                        </a:lnTo>
                        <a:lnTo>
                          <a:pt x="71" y="264"/>
                        </a:lnTo>
                        <a:lnTo>
                          <a:pt x="59" y="255"/>
                        </a:lnTo>
                        <a:lnTo>
                          <a:pt x="47" y="232"/>
                        </a:lnTo>
                        <a:lnTo>
                          <a:pt x="35" y="187"/>
                        </a:lnTo>
                        <a:lnTo>
                          <a:pt x="23" y="134"/>
                        </a:lnTo>
                        <a:lnTo>
                          <a:pt x="11" y="6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</p:grpSp>
          </p:grpSp>
        </p:grpSp>
        <p:grpSp>
          <p:nvGrpSpPr>
            <p:cNvPr id="61532" name="Group 25"/>
            <p:cNvGrpSpPr/>
            <p:nvPr/>
          </p:nvGrpSpPr>
          <p:grpSpPr>
            <a:xfrm>
              <a:off x="1551" y="1728"/>
              <a:ext cx="609" cy="529"/>
              <a:chOff x="1551" y="1728"/>
              <a:chExt cx="609" cy="529"/>
            </a:xfrm>
          </p:grpSpPr>
          <p:grpSp>
            <p:nvGrpSpPr>
              <p:cNvPr id="61533" name="Group 26"/>
              <p:cNvGrpSpPr/>
              <p:nvPr/>
            </p:nvGrpSpPr>
            <p:grpSpPr>
              <a:xfrm>
                <a:off x="1551" y="1728"/>
                <a:ext cx="329" cy="529"/>
                <a:chOff x="1551" y="1728"/>
                <a:chExt cx="329" cy="529"/>
              </a:xfrm>
            </p:grpSpPr>
            <p:sp>
              <p:nvSpPr>
                <p:cNvPr id="61539" name="Line 27"/>
                <p:cNvSpPr/>
                <p:nvPr/>
              </p:nvSpPr>
              <p:spPr>
                <a:xfrm>
                  <a:off x="1551" y="1992"/>
                  <a:ext cx="329" cy="0"/>
                </a:xfrm>
                <a:prstGeom prst="line">
                  <a:avLst/>
                </a:prstGeom>
                <a:ln w="28575" cap="flat" cmpd="sng">
                  <a:solidFill>
                    <a:srgbClr val="FFCCFF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61540" name="Group 28"/>
                <p:cNvGrpSpPr/>
                <p:nvPr/>
              </p:nvGrpSpPr>
              <p:grpSpPr>
                <a:xfrm>
                  <a:off x="1571" y="1728"/>
                  <a:ext cx="280" cy="529"/>
                  <a:chOff x="1571" y="1728"/>
                  <a:chExt cx="280" cy="529"/>
                </a:xfrm>
              </p:grpSpPr>
              <p:sp>
                <p:nvSpPr>
                  <p:cNvPr id="61541" name="Freeform 29"/>
                  <p:cNvSpPr/>
                  <p:nvPr/>
                </p:nvSpPr>
                <p:spPr>
                  <a:xfrm>
                    <a:off x="1571" y="1728"/>
                    <a:ext cx="141" cy="265"/>
                  </a:xfrm>
                  <a:custGeom>
                    <a:avLst/>
                    <a:gdLst>
                      <a:gd name="txL" fmla="*/ 0 w 141"/>
                      <a:gd name="txT" fmla="*/ 0 h 265"/>
                      <a:gd name="txR" fmla="*/ 141 w 141"/>
                      <a:gd name="txB" fmla="*/ 265 h 265"/>
                    </a:gdLst>
                    <a:ahLst/>
                    <a:cxnLst>
                      <a:cxn ang="0">
                        <a:pos x="0" y="264"/>
                      </a:cxn>
                      <a:cxn ang="0">
                        <a:pos x="11" y="192"/>
                      </a:cxn>
                      <a:cxn ang="0">
                        <a:pos x="23" y="129"/>
                      </a:cxn>
                      <a:cxn ang="0">
                        <a:pos x="35" y="76"/>
                      </a:cxn>
                      <a:cxn ang="0">
                        <a:pos x="47" y="31"/>
                      </a:cxn>
                      <a:cxn ang="0">
                        <a:pos x="57" y="8"/>
                      </a:cxn>
                      <a:cxn ang="0">
                        <a:pos x="69" y="0"/>
                      </a:cxn>
                      <a:cxn ang="0">
                        <a:pos x="80" y="8"/>
                      </a:cxn>
                      <a:cxn ang="0">
                        <a:pos x="92" y="31"/>
                      </a:cxn>
                      <a:cxn ang="0">
                        <a:pos x="104" y="76"/>
                      </a:cxn>
                      <a:cxn ang="0">
                        <a:pos x="116" y="129"/>
                      </a:cxn>
                      <a:cxn ang="0">
                        <a:pos x="128" y="196"/>
                      </a:cxn>
                      <a:cxn ang="0">
                        <a:pos x="140" y="264"/>
                      </a:cxn>
                    </a:cxnLst>
                    <a:rect l="txL" t="txT" r="txR" b="txB"/>
                    <a:pathLst>
                      <a:path w="141" h="265">
                        <a:moveTo>
                          <a:pt x="0" y="264"/>
                        </a:moveTo>
                        <a:lnTo>
                          <a:pt x="11" y="192"/>
                        </a:lnTo>
                        <a:lnTo>
                          <a:pt x="23" y="129"/>
                        </a:lnTo>
                        <a:lnTo>
                          <a:pt x="35" y="76"/>
                        </a:lnTo>
                        <a:lnTo>
                          <a:pt x="47" y="31"/>
                        </a:lnTo>
                        <a:lnTo>
                          <a:pt x="57" y="8"/>
                        </a:lnTo>
                        <a:lnTo>
                          <a:pt x="69" y="0"/>
                        </a:lnTo>
                        <a:lnTo>
                          <a:pt x="80" y="8"/>
                        </a:lnTo>
                        <a:lnTo>
                          <a:pt x="92" y="31"/>
                        </a:lnTo>
                        <a:lnTo>
                          <a:pt x="104" y="76"/>
                        </a:lnTo>
                        <a:lnTo>
                          <a:pt x="116" y="129"/>
                        </a:lnTo>
                        <a:lnTo>
                          <a:pt x="128" y="196"/>
                        </a:lnTo>
                        <a:lnTo>
                          <a:pt x="140" y="264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  <p:sp>
                <p:nvSpPr>
                  <p:cNvPr id="61542" name="Freeform 30"/>
                  <p:cNvSpPr/>
                  <p:nvPr/>
                </p:nvSpPr>
                <p:spPr>
                  <a:xfrm>
                    <a:off x="1711" y="1992"/>
                    <a:ext cx="140" cy="265"/>
                  </a:xfrm>
                  <a:custGeom>
                    <a:avLst/>
                    <a:gdLst>
                      <a:gd name="txL" fmla="*/ 0 w 140"/>
                      <a:gd name="txT" fmla="*/ 0 h 265"/>
                      <a:gd name="txR" fmla="*/ 140 w 140"/>
                      <a:gd name="txB" fmla="*/ 265 h 265"/>
                    </a:gdLst>
                    <a:ahLst/>
                    <a:cxnLst>
                      <a:cxn ang="0">
                        <a:pos x="139" y="0"/>
                      </a:cxn>
                      <a:cxn ang="0">
                        <a:pos x="127" y="71"/>
                      </a:cxn>
                      <a:cxn ang="0">
                        <a:pos x="115" y="134"/>
                      </a:cxn>
                      <a:cxn ang="0">
                        <a:pos x="103" y="187"/>
                      </a:cxn>
                      <a:cxn ang="0">
                        <a:pos x="92" y="232"/>
                      </a:cxn>
                      <a:cxn ang="0">
                        <a:pos x="82" y="255"/>
                      </a:cxn>
                      <a:cxn ang="0">
                        <a:pos x="70" y="264"/>
                      </a:cxn>
                      <a:cxn ang="0">
                        <a:pos x="58" y="255"/>
                      </a:cxn>
                      <a:cxn ang="0">
                        <a:pos x="46" y="232"/>
                      </a:cxn>
                      <a:cxn ang="0">
                        <a:pos x="35" y="187"/>
                      </a:cxn>
                      <a:cxn ang="0">
                        <a:pos x="23" y="134"/>
                      </a:cxn>
                      <a:cxn ang="0">
                        <a:pos x="11" y="67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40" h="265">
                        <a:moveTo>
                          <a:pt x="139" y="0"/>
                        </a:moveTo>
                        <a:lnTo>
                          <a:pt x="127" y="71"/>
                        </a:lnTo>
                        <a:lnTo>
                          <a:pt x="115" y="134"/>
                        </a:lnTo>
                        <a:lnTo>
                          <a:pt x="103" y="187"/>
                        </a:lnTo>
                        <a:lnTo>
                          <a:pt x="92" y="232"/>
                        </a:lnTo>
                        <a:lnTo>
                          <a:pt x="82" y="255"/>
                        </a:lnTo>
                        <a:lnTo>
                          <a:pt x="70" y="264"/>
                        </a:lnTo>
                        <a:lnTo>
                          <a:pt x="58" y="255"/>
                        </a:lnTo>
                        <a:lnTo>
                          <a:pt x="46" y="232"/>
                        </a:lnTo>
                        <a:lnTo>
                          <a:pt x="35" y="187"/>
                        </a:lnTo>
                        <a:lnTo>
                          <a:pt x="23" y="134"/>
                        </a:lnTo>
                        <a:lnTo>
                          <a:pt x="11" y="6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</p:grpSp>
          </p:grpSp>
          <p:grpSp>
            <p:nvGrpSpPr>
              <p:cNvPr id="61534" name="Group 31"/>
              <p:cNvGrpSpPr/>
              <p:nvPr/>
            </p:nvGrpSpPr>
            <p:grpSpPr>
              <a:xfrm>
                <a:off x="1831" y="1728"/>
                <a:ext cx="329" cy="529"/>
                <a:chOff x="1831" y="1728"/>
                <a:chExt cx="329" cy="529"/>
              </a:xfrm>
            </p:grpSpPr>
            <p:sp>
              <p:nvSpPr>
                <p:cNvPr id="61535" name="Line 32"/>
                <p:cNvSpPr/>
                <p:nvPr/>
              </p:nvSpPr>
              <p:spPr>
                <a:xfrm>
                  <a:off x="1831" y="1992"/>
                  <a:ext cx="329" cy="0"/>
                </a:xfrm>
                <a:prstGeom prst="line">
                  <a:avLst/>
                </a:prstGeom>
                <a:ln w="28575" cap="flat" cmpd="sng">
                  <a:solidFill>
                    <a:srgbClr val="FFCCFF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61536" name="Group 33"/>
                <p:cNvGrpSpPr/>
                <p:nvPr/>
              </p:nvGrpSpPr>
              <p:grpSpPr>
                <a:xfrm>
                  <a:off x="1851" y="1728"/>
                  <a:ext cx="280" cy="529"/>
                  <a:chOff x="1851" y="1728"/>
                  <a:chExt cx="280" cy="529"/>
                </a:xfrm>
              </p:grpSpPr>
              <p:sp>
                <p:nvSpPr>
                  <p:cNvPr id="61537" name="Freeform 34"/>
                  <p:cNvSpPr/>
                  <p:nvPr/>
                </p:nvSpPr>
                <p:spPr>
                  <a:xfrm>
                    <a:off x="1851" y="1728"/>
                    <a:ext cx="140" cy="265"/>
                  </a:xfrm>
                  <a:custGeom>
                    <a:avLst/>
                    <a:gdLst>
                      <a:gd name="txL" fmla="*/ 0 w 140"/>
                      <a:gd name="txT" fmla="*/ 0 h 265"/>
                      <a:gd name="txR" fmla="*/ 140 w 140"/>
                      <a:gd name="txB" fmla="*/ 265 h 265"/>
                    </a:gdLst>
                    <a:ahLst/>
                    <a:cxnLst>
                      <a:cxn ang="0">
                        <a:pos x="0" y="264"/>
                      </a:cxn>
                      <a:cxn ang="0">
                        <a:pos x="11" y="192"/>
                      </a:cxn>
                      <a:cxn ang="0">
                        <a:pos x="23" y="129"/>
                      </a:cxn>
                      <a:cxn ang="0">
                        <a:pos x="35" y="76"/>
                      </a:cxn>
                      <a:cxn ang="0">
                        <a:pos x="46" y="31"/>
                      </a:cxn>
                      <a:cxn ang="0">
                        <a:pos x="56" y="8"/>
                      </a:cxn>
                      <a:cxn ang="0">
                        <a:pos x="68" y="0"/>
                      </a:cxn>
                      <a:cxn ang="0">
                        <a:pos x="80" y="8"/>
                      </a:cxn>
                      <a:cxn ang="0">
                        <a:pos x="92" y="31"/>
                      </a:cxn>
                      <a:cxn ang="0">
                        <a:pos x="103" y="76"/>
                      </a:cxn>
                      <a:cxn ang="0">
                        <a:pos x="115" y="129"/>
                      </a:cxn>
                      <a:cxn ang="0">
                        <a:pos x="127" y="196"/>
                      </a:cxn>
                      <a:cxn ang="0">
                        <a:pos x="139" y="264"/>
                      </a:cxn>
                    </a:cxnLst>
                    <a:rect l="txL" t="txT" r="txR" b="txB"/>
                    <a:pathLst>
                      <a:path w="140" h="265">
                        <a:moveTo>
                          <a:pt x="0" y="264"/>
                        </a:moveTo>
                        <a:lnTo>
                          <a:pt x="11" y="192"/>
                        </a:lnTo>
                        <a:lnTo>
                          <a:pt x="23" y="129"/>
                        </a:lnTo>
                        <a:lnTo>
                          <a:pt x="35" y="76"/>
                        </a:lnTo>
                        <a:lnTo>
                          <a:pt x="46" y="31"/>
                        </a:lnTo>
                        <a:lnTo>
                          <a:pt x="56" y="8"/>
                        </a:lnTo>
                        <a:lnTo>
                          <a:pt x="68" y="0"/>
                        </a:lnTo>
                        <a:lnTo>
                          <a:pt x="80" y="8"/>
                        </a:lnTo>
                        <a:lnTo>
                          <a:pt x="92" y="31"/>
                        </a:lnTo>
                        <a:lnTo>
                          <a:pt x="103" y="76"/>
                        </a:lnTo>
                        <a:lnTo>
                          <a:pt x="115" y="129"/>
                        </a:lnTo>
                        <a:lnTo>
                          <a:pt x="127" y="196"/>
                        </a:lnTo>
                        <a:lnTo>
                          <a:pt x="139" y="264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  <p:sp>
                <p:nvSpPr>
                  <p:cNvPr id="61538" name="Freeform 35"/>
                  <p:cNvSpPr/>
                  <p:nvPr/>
                </p:nvSpPr>
                <p:spPr>
                  <a:xfrm>
                    <a:off x="1990" y="1992"/>
                    <a:ext cx="141" cy="265"/>
                  </a:xfrm>
                  <a:custGeom>
                    <a:avLst/>
                    <a:gdLst>
                      <a:gd name="txL" fmla="*/ 0 w 141"/>
                      <a:gd name="txT" fmla="*/ 0 h 265"/>
                      <a:gd name="txR" fmla="*/ 141 w 141"/>
                      <a:gd name="txB" fmla="*/ 265 h 265"/>
                    </a:gdLst>
                    <a:ahLst/>
                    <a:cxnLst>
                      <a:cxn ang="0">
                        <a:pos x="140" y="0"/>
                      </a:cxn>
                      <a:cxn ang="0">
                        <a:pos x="128" y="71"/>
                      </a:cxn>
                      <a:cxn ang="0">
                        <a:pos x="116" y="134"/>
                      </a:cxn>
                      <a:cxn ang="0">
                        <a:pos x="104" y="187"/>
                      </a:cxn>
                      <a:cxn ang="0">
                        <a:pos x="92" y="232"/>
                      </a:cxn>
                      <a:cxn ang="0">
                        <a:pos x="82" y="255"/>
                      </a:cxn>
                      <a:cxn ang="0">
                        <a:pos x="71" y="264"/>
                      </a:cxn>
                      <a:cxn ang="0">
                        <a:pos x="59" y="255"/>
                      </a:cxn>
                      <a:cxn ang="0">
                        <a:pos x="47" y="232"/>
                      </a:cxn>
                      <a:cxn ang="0">
                        <a:pos x="35" y="187"/>
                      </a:cxn>
                      <a:cxn ang="0">
                        <a:pos x="23" y="134"/>
                      </a:cxn>
                      <a:cxn ang="0">
                        <a:pos x="11" y="67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41" h="265">
                        <a:moveTo>
                          <a:pt x="140" y="0"/>
                        </a:moveTo>
                        <a:lnTo>
                          <a:pt x="128" y="71"/>
                        </a:lnTo>
                        <a:lnTo>
                          <a:pt x="116" y="134"/>
                        </a:lnTo>
                        <a:lnTo>
                          <a:pt x="104" y="187"/>
                        </a:lnTo>
                        <a:lnTo>
                          <a:pt x="92" y="232"/>
                        </a:lnTo>
                        <a:lnTo>
                          <a:pt x="82" y="255"/>
                        </a:lnTo>
                        <a:lnTo>
                          <a:pt x="71" y="264"/>
                        </a:lnTo>
                        <a:lnTo>
                          <a:pt x="59" y="255"/>
                        </a:lnTo>
                        <a:lnTo>
                          <a:pt x="47" y="232"/>
                        </a:lnTo>
                        <a:lnTo>
                          <a:pt x="35" y="187"/>
                        </a:lnTo>
                        <a:lnTo>
                          <a:pt x="23" y="134"/>
                        </a:lnTo>
                        <a:lnTo>
                          <a:pt x="11" y="6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FFCC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楷体_GB2312" pitchFamily="49" charset="-122"/>
                    </a:endParaRPr>
                  </a:p>
                </p:txBody>
              </p:sp>
            </p:grpSp>
          </p:grpSp>
        </p:grpSp>
      </p:grpSp>
      <p:sp>
        <p:nvSpPr>
          <p:cNvPr id="61443" name="Line 36"/>
          <p:cNvSpPr/>
          <p:nvPr/>
        </p:nvSpPr>
        <p:spPr>
          <a:xfrm flipV="1">
            <a:off x="1403350" y="765175"/>
            <a:ext cx="0" cy="2125663"/>
          </a:xfrm>
          <a:prstGeom prst="line">
            <a:avLst/>
          </a:prstGeom>
          <a:ln w="28575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61444" name="Line 37"/>
          <p:cNvSpPr/>
          <p:nvPr/>
        </p:nvSpPr>
        <p:spPr>
          <a:xfrm>
            <a:off x="1049338" y="2408238"/>
            <a:ext cx="5070475" cy="0"/>
          </a:xfrm>
          <a:prstGeom prst="line">
            <a:avLst/>
          </a:prstGeom>
          <a:ln w="28575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grpSp>
        <p:nvGrpSpPr>
          <p:cNvPr id="18" name="Group 38"/>
          <p:cNvGrpSpPr/>
          <p:nvPr/>
        </p:nvGrpSpPr>
        <p:grpSpPr>
          <a:xfrm>
            <a:off x="1431925" y="862013"/>
            <a:ext cx="4116388" cy="1738312"/>
            <a:chOff x="1432" y="753"/>
            <a:chExt cx="2593" cy="1095"/>
          </a:xfrm>
        </p:grpSpPr>
        <p:grpSp>
          <p:nvGrpSpPr>
            <p:cNvPr id="61524" name="Group 39"/>
            <p:cNvGrpSpPr/>
            <p:nvPr/>
          </p:nvGrpSpPr>
          <p:grpSpPr>
            <a:xfrm>
              <a:off x="1432" y="753"/>
              <a:ext cx="1296" cy="1095"/>
              <a:chOff x="2122" y="528"/>
              <a:chExt cx="816" cy="529"/>
            </a:xfrm>
          </p:grpSpPr>
          <p:sp>
            <p:nvSpPr>
              <p:cNvPr id="61528" name="Freeform 40"/>
              <p:cNvSpPr/>
              <p:nvPr/>
            </p:nvSpPr>
            <p:spPr>
              <a:xfrm>
                <a:off x="2122" y="528"/>
                <a:ext cx="408" cy="265"/>
              </a:xfrm>
              <a:custGeom>
                <a:avLst/>
                <a:gdLst>
                  <a:gd name="txL" fmla="*/ 0 w 408"/>
                  <a:gd name="txT" fmla="*/ 0 h 265"/>
                  <a:gd name="txR" fmla="*/ 408 w 408"/>
                  <a:gd name="txB" fmla="*/ 265 h 265"/>
                </a:gdLst>
                <a:ahLst/>
                <a:cxnLst>
                  <a:cxn ang="0">
                    <a:pos x="0" y="264"/>
                  </a:cxn>
                  <a:cxn ang="0">
                    <a:pos x="34" y="192"/>
                  </a:cxn>
                  <a:cxn ang="0">
                    <a:pos x="68" y="129"/>
                  </a:cxn>
                  <a:cxn ang="0">
                    <a:pos x="103" y="76"/>
                  </a:cxn>
                  <a:cxn ang="0">
                    <a:pos x="137" y="31"/>
                  </a:cxn>
                  <a:cxn ang="0">
                    <a:pos x="166" y="8"/>
                  </a:cxn>
                  <a:cxn ang="0">
                    <a:pos x="200" y="0"/>
                  </a:cxn>
                  <a:cxn ang="0">
                    <a:pos x="235" y="8"/>
                  </a:cxn>
                  <a:cxn ang="0">
                    <a:pos x="269" y="31"/>
                  </a:cxn>
                  <a:cxn ang="0">
                    <a:pos x="303" y="76"/>
                  </a:cxn>
                  <a:cxn ang="0">
                    <a:pos x="338" y="129"/>
                  </a:cxn>
                  <a:cxn ang="0">
                    <a:pos x="372" y="196"/>
                  </a:cxn>
                  <a:cxn ang="0">
                    <a:pos x="407" y="264"/>
                  </a:cxn>
                </a:cxnLst>
                <a:rect l="txL" t="txT" r="txR" b="txB"/>
                <a:pathLst>
                  <a:path w="408" h="265">
                    <a:moveTo>
                      <a:pt x="0" y="264"/>
                    </a:moveTo>
                    <a:lnTo>
                      <a:pt x="34" y="192"/>
                    </a:lnTo>
                    <a:lnTo>
                      <a:pt x="68" y="129"/>
                    </a:lnTo>
                    <a:lnTo>
                      <a:pt x="103" y="76"/>
                    </a:lnTo>
                    <a:lnTo>
                      <a:pt x="137" y="31"/>
                    </a:lnTo>
                    <a:lnTo>
                      <a:pt x="166" y="8"/>
                    </a:lnTo>
                    <a:lnTo>
                      <a:pt x="200" y="0"/>
                    </a:lnTo>
                    <a:lnTo>
                      <a:pt x="235" y="8"/>
                    </a:lnTo>
                    <a:lnTo>
                      <a:pt x="269" y="31"/>
                    </a:lnTo>
                    <a:lnTo>
                      <a:pt x="303" y="76"/>
                    </a:lnTo>
                    <a:lnTo>
                      <a:pt x="338" y="129"/>
                    </a:lnTo>
                    <a:lnTo>
                      <a:pt x="372" y="196"/>
                    </a:lnTo>
                    <a:lnTo>
                      <a:pt x="407" y="264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1529" name="Freeform 41"/>
              <p:cNvSpPr/>
              <p:nvPr/>
            </p:nvSpPr>
            <p:spPr>
              <a:xfrm>
                <a:off x="2529" y="792"/>
                <a:ext cx="409" cy="265"/>
              </a:xfrm>
              <a:custGeom>
                <a:avLst/>
                <a:gdLst>
                  <a:gd name="txL" fmla="*/ 0 w 409"/>
                  <a:gd name="txT" fmla="*/ 0 h 265"/>
                  <a:gd name="txR" fmla="*/ 409 w 409"/>
                  <a:gd name="txB" fmla="*/ 265 h 265"/>
                </a:gdLst>
                <a:ahLst/>
                <a:cxnLst>
                  <a:cxn ang="0">
                    <a:pos x="408" y="0"/>
                  </a:cxn>
                  <a:cxn ang="0">
                    <a:pos x="373" y="71"/>
                  </a:cxn>
                  <a:cxn ang="0">
                    <a:pos x="339" y="134"/>
                  </a:cxn>
                  <a:cxn ang="0">
                    <a:pos x="304" y="187"/>
                  </a:cxn>
                  <a:cxn ang="0">
                    <a:pos x="270" y="232"/>
                  </a:cxn>
                  <a:cxn ang="0">
                    <a:pos x="241" y="255"/>
                  </a:cxn>
                  <a:cxn ang="0">
                    <a:pos x="206" y="264"/>
                  </a:cxn>
                  <a:cxn ang="0">
                    <a:pos x="172" y="255"/>
                  </a:cxn>
                  <a:cxn ang="0">
                    <a:pos x="137" y="232"/>
                  </a:cxn>
                  <a:cxn ang="0">
                    <a:pos x="103" y="187"/>
                  </a:cxn>
                  <a:cxn ang="0">
                    <a:pos x="68" y="134"/>
                  </a:cxn>
                  <a:cxn ang="0">
                    <a:pos x="34" y="67"/>
                  </a:cxn>
                  <a:cxn ang="0">
                    <a:pos x="0" y="0"/>
                  </a:cxn>
                </a:cxnLst>
                <a:rect l="txL" t="txT" r="txR" b="txB"/>
                <a:pathLst>
                  <a:path w="409" h="265">
                    <a:moveTo>
                      <a:pt x="408" y="0"/>
                    </a:moveTo>
                    <a:lnTo>
                      <a:pt x="373" y="71"/>
                    </a:lnTo>
                    <a:lnTo>
                      <a:pt x="339" y="134"/>
                    </a:lnTo>
                    <a:lnTo>
                      <a:pt x="304" y="187"/>
                    </a:lnTo>
                    <a:lnTo>
                      <a:pt x="270" y="232"/>
                    </a:lnTo>
                    <a:lnTo>
                      <a:pt x="241" y="255"/>
                    </a:lnTo>
                    <a:lnTo>
                      <a:pt x="206" y="264"/>
                    </a:lnTo>
                    <a:lnTo>
                      <a:pt x="172" y="255"/>
                    </a:lnTo>
                    <a:lnTo>
                      <a:pt x="137" y="232"/>
                    </a:lnTo>
                    <a:lnTo>
                      <a:pt x="103" y="187"/>
                    </a:lnTo>
                    <a:lnTo>
                      <a:pt x="68" y="134"/>
                    </a:lnTo>
                    <a:lnTo>
                      <a:pt x="34" y="6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61525" name="Group 42"/>
            <p:cNvGrpSpPr/>
            <p:nvPr/>
          </p:nvGrpSpPr>
          <p:grpSpPr>
            <a:xfrm>
              <a:off x="2729" y="753"/>
              <a:ext cx="1296" cy="1095"/>
              <a:chOff x="2938" y="528"/>
              <a:chExt cx="816" cy="529"/>
            </a:xfrm>
          </p:grpSpPr>
          <p:sp>
            <p:nvSpPr>
              <p:cNvPr id="61526" name="Freeform 43"/>
              <p:cNvSpPr/>
              <p:nvPr/>
            </p:nvSpPr>
            <p:spPr>
              <a:xfrm>
                <a:off x="2938" y="528"/>
                <a:ext cx="408" cy="265"/>
              </a:xfrm>
              <a:custGeom>
                <a:avLst/>
                <a:gdLst>
                  <a:gd name="txL" fmla="*/ 0 w 408"/>
                  <a:gd name="txT" fmla="*/ 0 h 265"/>
                  <a:gd name="txR" fmla="*/ 408 w 408"/>
                  <a:gd name="txB" fmla="*/ 265 h 265"/>
                </a:gdLst>
                <a:ahLst/>
                <a:cxnLst>
                  <a:cxn ang="0">
                    <a:pos x="0" y="264"/>
                  </a:cxn>
                  <a:cxn ang="0">
                    <a:pos x="34" y="192"/>
                  </a:cxn>
                  <a:cxn ang="0">
                    <a:pos x="68" y="129"/>
                  </a:cxn>
                  <a:cxn ang="0">
                    <a:pos x="103" y="76"/>
                  </a:cxn>
                  <a:cxn ang="0">
                    <a:pos x="137" y="31"/>
                  </a:cxn>
                  <a:cxn ang="0">
                    <a:pos x="166" y="8"/>
                  </a:cxn>
                  <a:cxn ang="0">
                    <a:pos x="200" y="0"/>
                  </a:cxn>
                  <a:cxn ang="0">
                    <a:pos x="235" y="8"/>
                  </a:cxn>
                  <a:cxn ang="0">
                    <a:pos x="269" y="31"/>
                  </a:cxn>
                  <a:cxn ang="0">
                    <a:pos x="303" y="76"/>
                  </a:cxn>
                  <a:cxn ang="0">
                    <a:pos x="338" y="129"/>
                  </a:cxn>
                  <a:cxn ang="0">
                    <a:pos x="372" y="196"/>
                  </a:cxn>
                  <a:cxn ang="0">
                    <a:pos x="407" y="264"/>
                  </a:cxn>
                </a:cxnLst>
                <a:rect l="txL" t="txT" r="txR" b="txB"/>
                <a:pathLst>
                  <a:path w="408" h="265">
                    <a:moveTo>
                      <a:pt x="0" y="264"/>
                    </a:moveTo>
                    <a:lnTo>
                      <a:pt x="34" y="192"/>
                    </a:lnTo>
                    <a:lnTo>
                      <a:pt x="68" y="129"/>
                    </a:lnTo>
                    <a:lnTo>
                      <a:pt x="103" y="76"/>
                    </a:lnTo>
                    <a:lnTo>
                      <a:pt x="137" y="31"/>
                    </a:lnTo>
                    <a:lnTo>
                      <a:pt x="166" y="8"/>
                    </a:lnTo>
                    <a:lnTo>
                      <a:pt x="200" y="0"/>
                    </a:lnTo>
                    <a:lnTo>
                      <a:pt x="235" y="8"/>
                    </a:lnTo>
                    <a:lnTo>
                      <a:pt x="269" y="31"/>
                    </a:lnTo>
                    <a:lnTo>
                      <a:pt x="303" y="76"/>
                    </a:lnTo>
                    <a:lnTo>
                      <a:pt x="338" y="129"/>
                    </a:lnTo>
                    <a:lnTo>
                      <a:pt x="372" y="196"/>
                    </a:lnTo>
                    <a:lnTo>
                      <a:pt x="407" y="264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1527" name="Freeform 44"/>
              <p:cNvSpPr/>
              <p:nvPr/>
            </p:nvSpPr>
            <p:spPr>
              <a:xfrm>
                <a:off x="3345" y="792"/>
                <a:ext cx="409" cy="265"/>
              </a:xfrm>
              <a:custGeom>
                <a:avLst/>
                <a:gdLst>
                  <a:gd name="txL" fmla="*/ 0 w 409"/>
                  <a:gd name="txT" fmla="*/ 0 h 265"/>
                  <a:gd name="txR" fmla="*/ 409 w 409"/>
                  <a:gd name="txB" fmla="*/ 265 h 265"/>
                </a:gdLst>
                <a:ahLst/>
                <a:cxnLst>
                  <a:cxn ang="0">
                    <a:pos x="408" y="0"/>
                  </a:cxn>
                  <a:cxn ang="0">
                    <a:pos x="373" y="71"/>
                  </a:cxn>
                  <a:cxn ang="0">
                    <a:pos x="339" y="134"/>
                  </a:cxn>
                  <a:cxn ang="0">
                    <a:pos x="304" y="187"/>
                  </a:cxn>
                  <a:cxn ang="0">
                    <a:pos x="270" y="232"/>
                  </a:cxn>
                  <a:cxn ang="0">
                    <a:pos x="241" y="255"/>
                  </a:cxn>
                  <a:cxn ang="0">
                    <a:pos x="206" y="264"/>
                  </a:cxn>
                  <a:cxn ang="0">
                    <a:pos x="172" y="255"/>
                  </a:cxn>
                  <a:cxn ang="0">
                    <a:pos x="137" y="232"/>
                  </a:cxn>
                  <a:cxn ang="0">
                    <a:pos x="103" y="187"/>
                  </a:cxn>
                  <a:cxn ang="0">
                    <a:pos x="68" y="134"/>
                  </a:cxn>
                  <a:cxn ang="0">
                    <a:pos x="34" y="67"/>
                  </a:cxn>
                  <a:cxn ang="0">
                    <a:pos x="0" y="0"/>
                  </a:cxn>
                </a:cxnLst>
                <a:rect l="txL" t="txT" r="txR" b="txB"/>
                <a:pathLst>
                  <a:path w="409" h="265">
                    <a:moveTo>
                      <a:pt x="408" y="0"/>
                    </a:moveTo>
                    <a:lnTo>
                      <a:pt x="373" y="71"/>
                    </a:lnTo>
                    <a:lnTo>
                      <a:pt x="339" y="134"/>
                    </a:lnTo>
                    <a:lnTo>
                      <a:pt x="304" y="187"/>
                    </a:lnTo>
                    <a:lnTo>
                      <a:pt x="270" y="232"/>
                    </a:lnTo>
                    <a:lnTo>
                      <a:pt x="241" y="255"/>
                    </a:lnTo>
                    <a:lnTo>
                      <a:pt x="206" y="264"/>
                    </a:lnTo>
                    <a:lnTo>
                      <a:pt x="172" y="255"/>
                    </a:lnTo>
                    <a:lnTo>
                      <a:pt x="137" y="232"/>
                    </a:lnTo>
                    <a:lnTo>
                      <a:pt x="103" y="187"/>
                    </a:lnTo>
                    <a:lnTo>
                      <a:pt x="68" y="134"/>
                    </a:lnTo>
                    <a:lnTo>
                      <a:pt x="34" y="6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</p:grpSp>
      <p:sp>
        <p:nvSpPr>
          <p:cNvPr id="61446" name="Line 45"/>
          <p:cNvSpPr/>
          <p:nvPr/>
        </p:nvSpPr>
        <p:spPr>
          <a:xfrm>
            <a:off x="3490913" y="1728788"/>
            <a:ext cx="0" cy="679450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47" name="Line 46"/>
          <p:cNvSpPr/>
          <p:nvPr/>
        </p:nvSpPr>
        <p:spPr>
          <a:xfrm>
            <a:off x="4518025" y="1728788"/>
            <a:ext cx="0" cy="679450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48" name="Line 47"/>
          <p:cNvSpPr/>
          <p:nvPr/>
        </p:nvSpPr>
        <p:spPr>
          <a:xfrm>
            <a:off x="3490913" y="1055688"/>
            <a:ext cx="0" cy="677862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49" name="Line 48"/>
          <p:cNvSpPr/>
          <p:nvPr/>
        </p:nvSpPr>
        <p:spPr>
          <a:xfrm>
            <a:off x="4518025" y="1055688"/>
            <a:ext cx="0" cy="677862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0" name="Line 49"/>
          <p:cNvSpPr/>
          <p:nvPr/>
        </p:nvSpPr>
        <p:spPr>
          <a:xfrm>
            <a:off x="3490913" y="1055688"/>
            <a:ext cx="1027112" cy="0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1" name="Line 50"/>
          <p:cNvSpPr/>
          <p:nvPr/>
        </p:nvSpPr>
        <p:spPr>
          <a:xfrm>
            <a:off x="2462213" y="1050925"/>
            <a:ext cx="0" cy="677863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2" name="Line 51"/>
          <p:cNvSpPr/>
          <p:nvPr/>
        </p:nvSpPr>
        <p:spPr>
          <a:xfrm>
            <a:off x="2462213" y="1733550"/>
            <a:ext cx="0" cy="677863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3" name="Line 52"/>
          <p:cNvSpPr/>
          <p:nvPr/>
        </p:nvSpPr>
        <p:spPr>
          <a:xfrm>
            <a:off x="1435100" y="1050925"/>
            <a:ext cx="1027113" cy="0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1" name="Group 53"/>
          <p:cNvGrpSpPr/>
          <p:nvPr/>
        </p:nvGrpSpPr>
        <p:grpSpPr>
          <a:xfrm>
            <a:off x="458788" y="3894138"/>
            <a:ext cx="4479925" cy="1562100"/>
            <a:chOff x="2064" y="528"/>
            <a:chExt cx="1776" cy="529"/>
          </a:xfrm>
        </p:grpSpPr>
        <p:grpSp>
          <p:nvGrpSpPr>
            <p:cNvPr id="61514" name="Group 54"/>
            <p:cNvGrpSpPr/>
            <p:nvPr/>
          </p:nvGrpSpPr>
          <p:grpSpPr>
            <a:xfrm>
              <a:off x="2064" y="528"/>
              <a:ext cx="960" cy="529"/>
              <a:chOff x="2064" y="528"/>
              <a:chExt cx="960" cy="529"/>
            </a:xfrm>
          </p:grpSpPr>
          <p:sp>
            <p:nvSpPr>
              <p:cNvPr id="61520" name="Line 55"/>
              <p:cNvSpPr/>
              <p:nvPr/>
            </p:nvSpPr>
            <p:spPr>
              <a:xfrm>
                <a:off x="2064" y="792"/>
                <a:ext cx="960" cy="0"/>
              </a:xfrm>
              <a:prstGeom prst="line">
                <a:avLst/>
              </a:prstGeom>
              <a:ln w="38100">
                <a:noFill/>
              </a:ln>
            </p:spPr>
          </p:sp>
          <p:grpSp>
            <p:nvGrpSpPr>
              <p:cNvPr id="61521" name="Group 56"/>
              <p:cNvGrpSpPr/>
              <p:nvPr/>
            </p:nvGrpSpPr>
            <p:grpSpPr>
              <a:xfrm>
                <a:off x="2122" y="528"/>
                <a:ext cx="816" cy="529"/>
                <a:chOff x="2122" y="528"/>
                <a:chExt cx="816" cy="529"/>
              </a:xfrm>
            </p:grpSpPr>
            <p:sp>
              <p:nvSpPr>
                <p:cNvPr id="61522" name="Freeform 57"/>
                <p:cNvSpPr/>
                <p:nvPr/>
              </p:nvSpPr>
              <p:spPr>
                <a:xfrm>
                  <a:off x="2122" y="528"/>
                  <a:ext cx="408" cy="265"/>
                </a:xfrm>
                <a:custGeom>
                  <a:avLst/>
                  <a:gdLst>
                    <a:gd name="txL" fmla="*/ 0 w 408"/>
                    <a:gd name="txT" fmla="*/ 0 h 265"/>
                    <a:gd name="txR" fmla="*/ 408 w 408"/>
                    <a:gd name="txB" fmla="*/ 265 h 265"/>
                  </a:gdLst>
                  <a:ahLst/>
                  <a:cxnLst>
                    <a:cxn ang="0">
                      <a:pos x="0" y="264"/>
                    </a:cxn>
                    <a:cxn ang="0">
                      <a:pos x="34" y="192"/>
                    </a:cxn>
                    <a:cxn ang="0">
                      <a:pos x="68" y="129"/>
                    </a:cxn>
                    <a:cxn ang="0">
                      <a:pos x="103" y="76"/>
                    </a:cxn>
                    <a:cxn ang="0">
                      <a:pos x="137" y="31"/>
                    </a:cxn>
                    <a:cxn ang="0">
                      <a:pos x="166" y="8"/>
                    </a:cxn>
                    <a:cxn ang="0">
                      <a:pos x="200" y="0"/>
                    </a:cxn>
                    <a:cxn ang="0">
                      <a:pos x="235" y="8"/>
                    </a:cxn>
                    <a:cxn ang="0">
                      <a:pos x="269" y="31"/>
                    </a:cxn>
                    <a:cxn ang="0">
                      <a:pos x="303" y="76"/>
                    </a:cxn>
                    <a:cxn ang="0">
                      <a:pos x="338" y="129"/>
                    </a:cxn>
                    <a:cxn ang="0">
                      <a:pos x="372" y="196"/>
                    </a:cxn>
                    <a:cxn ang="0">
                      <a:pos x="407" y="264"/>
                    </a:cxn>
                  </a:cxnLst>
                  <a:rect l="txL" t="txT" r="txR" b="txB"/>
                  <a:pathLst>
                    <a:path w="408" h="265">
                      <a:moveTo>
                        <a:pt x="0" y="264"/>
                      </a:moveTo>
                      <a:lnTo>
                        <a:pt x="34" y="192"/>
                      </a:lnTo>
                      <a:lnTo>
                        <a:pt x="68" y="129"/>
                      </a:lnTo>
                      <a:lnTo>
                        <a:pt x="103" y="76"/>
                      </a:lnTo>
                      <a:lnTo>
                        <a:pt x="137" y="31"/>
                      </a:lnTo>
                      <a:lnTo>
                        <a:pt x="166" y="8"/>
                      </a:lnTo>
                      <a:lnTo>
                        <a:pt x="200" y="0"/>
                      </a:lnTo>
                      <a:lnTo>
                        <a:pt x="235" y="8"/>
                      </a:lnTo>
                      <a:lnTo>
                        <a:pt x="269" y="31"/>
                      </a:lnTo>
                      <a:lnTo>
                        <a:pt x="303" y="76"/>
                      </a:lnTo>
                      <a:lnTo>
                        <a:pt x="338" y="129"/>
                      </a:lnTo>
                      <a:lnTo>
                        <a:pt x="372" y="196"/>
                      </a:lnTo>
                      <a:lnTo>
                        <a:pt x="407" y="264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  <p:sp>
              <p:nvSpPr>
                <p:cNvPr id="61523" name="Freeform 58"/>
                <p:cNvSpPr/>
                <p:nvPr/>
              </p:nvSpPr>
              <p:spPr>
                <a:xfrm>
                  <a:off x="2529" y="792"/>
                  <a:ext cx="409" cy="265"/>
                </a:xfrm>
                <a:custGeom>
                  <a:avLst/>
                  <a:gdLst>
                    <a:gd name="txL" fmla="*/ 0 w 409"/>
                    <a:gd name="txT" fmla="*/ 0 h 265"/>
                    <a:gd name="txR" fmla="*/ 409 w 409"/>
                    <a:gd name="txB" fmla="*/ 265 h 265"/>
                  </a:gdLst>
                  <a:ahLst/>
                  <a:cxnLst>
                    <a:cxn ang="0">
                      <a:pos x="408" y="0"/>
                    </a:cxn>
                    <a:cxn ang="0">
                      <a:pos x="373" y="71"/>
                    </a:cxn>
                    <a:cxn ang="0">
                      <a:pos x="339" y="134"/>
                    </a:cxn>
                    <a:cxn ang="0">
                      <a:pos x="304" y="187"/>
                    </a:cxn>
                    <a:cxn ang="0">
                      <a:pos x="270" y="232"/>
                    </a:cxn>
                    <a:cxn ang="0">
                      <a:pos x="241" y="255"/>
                    </a:cxn>
                    <a:cxn ang="0">
                      <a:pos x="206" y="264"/>
                    </a:cxn>
                    <a:cxn ang="0">
                      <a:pos x="172" y="255"/>
                    </a:cxn>
                    <a:cxn ang="0">
                      <a:pos x="137" y="232"/>
                    </a:cxn>
                    <a:cxn ang="0">
                      <a:pos x="103" y="187"/>
                    </a:cxn>
                    <a:cxn ang="0">
                      <a:pos x="68" y="134"/>
                    </a:cxn>
                    <a:cxn ang="0">
                      <a:pos x="34" y="6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09" h="265">
                      <a:moveTo>
                        <a:pt x="408" y="0"/>
                      </a:moveTo>
                      <a:lnTo>
                        <a:pt x="373" y="71"/>
                      </a:lnTo>
                      <a:lnTo>
                        <a:pt x="339" y="134"/>
                      </a:lnTo>
                      <a:lnTo>
                        <a:pt x="304" y="187"/>
                      </a:lnTo>
                      <a:lnTo>
                        <a:pt x="270" y="232"/>
                      </a:lnTo>
                      <a:lnTo>
                        <a:pt x="241" y="255"/>
                      </a:lnTo>
                      <a:lnTo>
                        <a:pt x="206" y="264"/>
                      </a:lnTo>
                      <a:lnTo>
                        <a:pt x="172" y="255"/>
                      </a:lnTo>
                      <a:lnTo>
                        <a:pt x="137" y="232"/>
                      </a:lnTo>
                      <a:lnTo>
                        <a:pt x="103" y="187"/>
                      </a:lnTo>
                      <a:lnTo>
                        <a:pt x="68" y="134"/>
                      </a:lnTo>
                      <a:lnTo>
                        <a:pt x="34" y="6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</p:grpSp>
        </p:grpSp>
        <p:grpSp>
          <p:nvGrpSpPr>
            <p:cNvPr id="61515" name="Group 59"/>
            <p:cNvGrpSpPr/>
            <p:nvPr/>
          </p:nvGrpSpPr>
          <p:grpSpPr>
            <a:xfrm>
              <a:off x="2880" y="528"/>
              <a:ext cx="960" cy="529"/>
              <a:chOff x="2880" y="528"/>
              <a:chExt cx="960" cy="529"/>
            </a:xfrm>
          </p:grpSpPr>
          <p:sp>
            <p:nvSpPr>
              <p:cNvPr id="61516" name="Line 60"/>
              <p:cNvSpPr/>
              <p:nvPr/>
            </p:nvSpPr>
            <p:spPr>
              <a:xfrm>
                <a:off x="2880" y="792"/>
                <a:ext cx="960" cy="0"/>
              </a:xfrm>
              <a:prstGeom prst="line">
                <a:avLst/>
              </a:prstGeom>
              <a:ln w="38100">
                <a:noFill/>
              </a:ln>
            </p:spPr>
          </p:sp>
          <p:grpSp>
            <p:nvGrpSpPr>
              <p:cNvPr id="61517" name="Group 61"/>
              <p:cNvGrpSpPr/>
              <p:nvPr/>
            </p:nvGrpSpPr>
            <p:grpSpPr>
              <a:xfrm>
                <a:off x="2938" y="528"/>
                <a:ext cx="816" cy="529"/>
                <a:chOff x="2938" y="528"/>
                <a:chExt cx="816" cy="529"/>
              </a:xfrm>
            </p:grpSpPr>
            <p:sp>
              <p:nvSpPr>
                <p:cNvPr id="61518" name="Freeform 62"/>
                <p:cNvSpPr/>
                <p:nvPr/>
              </p:nvSpPr>
              <p:spPr>
                <a:xfrm>
                  <a:off x="2938" y="528"/>
                  <a:ext cx="408" cy="265"/>
                </a:xfrm>
                <a:custGeom>
                  <a:avLst/>
                  <a:gdLst>
                    <a:gd name="txL" fmla="*/ 0 w 408"/>
                    <a:gd name="txT" fmla="*/ 0 h 265"/>
                    <a:gd name="txR" fmla="*/ 408 w 408"/>
                    <a:gd name="txB" fmla="*/ 265 h 265"/>
                  </a:gdLst>
                  <a:ahLst/>
                  <a:cxnLst>
                    <a:cxn ang="0">
                      <a:pos x="0" y="264"/>
                    </a:cxn>
                    <a:cxn ang="0">
                      <a:pos x="34" y="192"/>
                    </a:cxn>
                    <a:cxn ang="0">
                      <a:pos x="68" y="129"/>
                    </a:cxn>
                    <a:cxn ang="0">
                      <a:pos x="103" y="76"/>
                    </a:cxn>
                    <a:cxn ang="0">
                      <a:pos x="137" y="31"/>
                    </a:cxn>
                    <a:cxn ang="0">
                      <a:pos x="166" y="8"/>
                    </a:cxn>
                    <a:cxn ang="0">
                      <a:pos x="200" y="0"/>
                    </a:cxn>
                    <a:cxn ang="0">
                      <a:pos x="235" y="8"/>
                    </a:cxn>
                    <a:cxn ang="0">
                      <a:pos x="269" y="31"/>
                    </a:cxn>
                    <a:cxn ang="0">
                      <a:pos x="303" y="76"/>
                    </a:cxn>
                    <a:cxn ang="0">
                      <a:pos x="338" y="129"/>
                    </a:cxn>
                    <a:cxn ang="0">
                      <a:pos x="372" y="196"/>
                    </a:cxn>
                    <a:cxn ang="0">
                      <a:pos x="407" y="264"/>
                    </a:cxn>
                  </a:cxnLst>
                  <a:rect l="txL" t="txT" r="txR" b="txB"/>
                  <a:pathLst>
                    <a:path w="408" h="265">
                      <a:moveTo>
                        <a:pt x="0" y="264"/>
                      </a:moveTo>
                      <a:lnTo>
                        <a:pt x="34" y="192"/>
                      </a:lnTo>
                      <a:lnTo>
                        <a:pt x="68" y="129"/>
                      </a:lnTo>
                      <a:lnTo>
                        <a:pt x="103" y="76"/>
                      </a:lnTo>
                      <a:lnTo>
                        <a:pt x="137" y="31"/>
                      </a:lnTo>
                      <a:lnTo>
                        <a:pt x="166" y="8"/>
                      </a:lnTo>
                      <a:lnTo>
                        <a:pt x="200" y="0"/>
                      </a:lnTo>
                      <a:lnTo>
                        <a:pt x="235" y="8"/>
                      </a:lnTo>
                      <a:lnTo>
                        <a:pt x="269" y="31"/>
                      </a:lnTo>
                      <a:lnTo>
                        <a:pt x="303" y="76"/>
                      </a:lnTo>
                      <a:lnTo>
                        <a:pt x="338" y="129"/>
                      </a:lnTo>
                      <a:lnTo>
                        <a:pt x="372" y="196"/>
                      </a:lnTo>
                      <a:lnTo>
                        <a:pt x="407" y="264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  <p:sp>
              <p:nvSpPr>
                <p:cNvPr id="61519" name="Freeform 63"/>
                <p:cNvSpPr/>
                <p:nvPr/>
              </p:nvSpPr>
              <p:spPr>
                <a:xfrm>
                  <a:off x="3345" y="792"/>
                  <a:ext cx="409" cy="265"/>
                </a:xfrm>
                <a:custGeom>
                  <a:avLst/>
                  <a:gdLst>
                    <a:gd name="txL" fmla="*/ 0 w 409"/>
                    <a:gd name="txT" fmla="*/ 0 h 265"/>
                    <a:gd name="txR" fmla="*/ 409 w 409"/>
                    <a:gd name="txB" fmla="*/ 265 h 265"/>
                  </a:gdLst>
                  <a:ahLst/>
                  <a:cxnLst>
                    <a:cxn ang="0">
                      <a:pos x="408" y="0"/>
                    </a:cxn>
                    <a:cxn ang="0">
                      <a:pos x="373" y="71"/>
                    </a:cxn>
                    <a:cxn ang="0">
                      <a:pos x="339" y="134"/>
                    </a:cxn>
                    <a:cxn ang="0">
                      <a:pos x="304" y="187"/>
                    </a:cxn>
                    <a:cxn ang="0">
                      <a:pos x="270" y="232"/>
                    </a:cxn>
                    <a:cxn ang="0">
                      <a:pos x="241" y="255"/>
                    </a:cxn>
                    <a:cxn ang="0">
                      <a:pos x="206" y="264"/>
                    </a:cxn>
                    <a:cxn ang="0">
                      <a:pos x="172" y="255"/>
                    </a:cxn>
                    <a:cxn ang="0">
                      <a:pos x="137" y="232"/>
                    </a:cxn>
                    <a:cxn ang="0">
                      <a:pos x="103" y="187"/>
                    </a:cxn>
                    <a:cxn ang="0">
                      <a:pos x="68" y="134"/>
                    </a:cxn>
                    <a:cxn ang="0">
                      <a:pos x="34" y="6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09" h="265">
                      <a:moveTo>
                        <a:pt x="408" y="0"/>
                      </a:moveTo>
                      <a:lnTo>
                        <a:pt x="373" y="71"/>
                      </a:lnTo>
                      <a:lnTo>
                        <a:pt x="339" y="134"/>
                      </a:lnTo>
                      <a:lnTo>
                        <a:pt x="304" y="187"/>
                      </a:lnTo>
                      <a:lnTo>
                        <a:pt x="270" y="232"/>
                      </a:lnTo>
                      <a:lnTo>
                        <a:pt x="241" y="255"/>
                      </a:lnTo>
                      <a:lnTo>
                        <a:pt x="206" y="264"/>
                      </a:lnTo>
                      <a:lnTo>
                        <a:pt x="172" y="255"/>
                      </a:lnTo>
                      <a:lnTo>
                        <a:pt x="137" y="232"/>
                      </a:lnTo>
                      <a:lnTo>
                        <a:pt x="103" y="187"/>
                      </a:lnTo>
                      <a:lnTo>
                        <a:pt x="68" y="134"/>
                      </a:lnTo>
                      <a:lnTo>
                        <a:pt x="34" y="6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</p:grpSp>
        </p:grpSp>
      </p:grpSp>
      <p:grpSp>
        <p:nvGrpSpPr>
          <p:cNvPr id="26" name="Group 64"/>
          <p:cNvGrpSpPr/>
          <p:nvPr/>
        </p:nvGrpSpPr>
        <p:grpSpPr>
          <a:xfrm>
            <a:off x="255588" y="3694113"/>
            <a:ext cx="5070475" cy="2125662"/>
            <a:chOff x="-1576" y="3452"/>
            <a:chExt cx="3194" cy="1339"/>
          </a:xfrm>
        </p:grpSpPr>
        <p:sp>
          <p:nvSpPr>
            <p:cNvPr id="61504" name="Line 65"/>
            <p:cNvSpPr/>
            <p:nvPr/>
          </p:nvSpPr>
          <p:spPr>
            <a:xfrm>
              <a:off x="-38" y="4059"/>
              <a:ext cx="0" cy="42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05" name="Line 66"/>
            <p:cNvSpPr/>
            <p:nvPr/>
          </p:nvSpPr>
          <p:spPr>
            <a:xfrm>
              <a:off x="609" y="4059"/>
              <a:ext cx="0" cy="428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06" name="Line 67"/>
            <p:cNvSpPr/>
            <p:nvPr/>
          </p:nvSpPr>
          <p:spPr>
            <a:xfrm>
              <a:off x="-686" y="3632"/>
              <a:ext cx="0" cy="4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07" name="Line 68"/>
            <p:cNvSpPr/>
            <p:nvPr/>
          </p:nvSpPr>
          <p:spPr>
            <a:xfrm flipV="1">
              <a:off x="-1353" y="3452"/>
              <a:ext cx="0" cy="1339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61508" name="Line 69"/>
            <p:cNvSpPr/>
            <p:nvPr/>
          </p:nvSpPr>
          <p:spPr>
            <a:xfrm>
              <a:off x="-1576" y="4487"/>
              <a:ext cx="3194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61509" name="Line 70"/>
            <p:cNvSpPr/>
            <p:nvPr/>
          </p:nvSpPr>
          <p:spPr>
            <a:xfrm>
              <a:off x="-38" y="3635"/>
              <a:ext cx="0" cy="427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10" name="Line 71"/>
            <p:cNvSpPr/>
            <p:nvPr/>
          </p:nvSpPr>
          <p:spPr>
            <a:xfrm>
              <a:off x="609" y="3635"/>
              <a:ext cx="0" cy="4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11" name="Line 72"/>
            <p:cNvSpPr/>
            <p:nvPr/>
          </p:nvSpPr>
          <p:spPr>
            <a:xfrm>
              <a:off x="-38" y="3635"/>
              <a:ext cx="64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12" name="Line 73"/>
            <p:cNvSpPr/>
            <p:nvPr/>
          </p:nvSpPr>
          <p:spPr>
            <a:xfrm>
              <a:off x="-686" y="4062"/>
              <a:ext cx="0" cy="4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13" name="Line 74"/>
            <p:cNvSpPr/>
            <p:nvPr/>
          </p:nvSpPr>
          <p:spPr>
            <a:xfrm>
              <a:off x="-1333" y="3632"/>
              <a:ext cx="64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" name="Group 75"/>
          <p:cNvGrpSpPr/>
          <p:nvPr/>
        </p:nvGrpSpPr>
        <p:grpSpPr>
          <a:xfrm>
            <a:off x="1331913" y="1484313"/>
            <a:ext cx="6264275" cy="1717675"/>
            <a:chOff x="748" y="936"/>
            <a:chExt cx="3764" cy="1142"/>
          </a:xfrm>
        </p:grpSpPr>
        <p:grpSp>
          <p:nvGrpSpPr>
            <p:cNvPr id="61496" name="Group 76"/>
            <p:cNvGrpSpPr/>
            <p:nvPr/>
          </p:nvGrpSpPr>
          <p:grpSpPr>
            <a:xfrm>
              <a:off x="748" y="936"/>
              <a:ext cx="2593" cy="1095"/>
              <a:chOff x="1432" y="753"/>
              <a:chExt cx="2593" cy="1095"/>
            </a:xfrm>
          </p:grpSpPr>
          <p:grpSp>
            <p:nvGrpSpPr>
              <p:cNvPr id="61498" name="Group 77"/>
              <p:cNvGrpSpPr/>
              <p:nvPr/>
            </p:nvGrpSpPr>
            <p:grpSpPr>
              <a:xfrm>
                <a:off x="1432" y="753"/>
                <a:ext cx="1296" cy="1095"/>
                <a:chOff x="2122" y="528"/>
                <a:chExt cx="816" cy="529"/>
              </a:xfrm>
            </p:grpSpPr>
            <p:sp>
              <p:nvSpPr>
                <p:cNvPr id="61502" name="Freeform 78"/>
                <p:cNvSpPr/>
                <p:nvPr/>
              </p:nvSpPr>
              <p:spPr>
                <a:xfrm>
                  <a:off x="2122" y="528"/>
                  <a:ext cx="408" cy="265"/>
                </a:xfrm>
                <a:custGeom>
                  <a:avLst/>
                  <a:gdLst>
                    <a:gd name="txL" fmla="*/ 0 w 408"/>
                    <a:gd name="txT" fmla="*/ 0 h 265"/>
                    <a:gd name="txR" fmla="*/ 408 w 408"/>
                    <a:gd name="txB" fmla="*/ 265 h 265"/>
                  </a:gdLst>
                  <a:ahLst/>
                  <a:cxnLst>
                    <a:cxn ang="0">
                      <a:pos x="0" y="264"/>
                    </a:cxn>
                    <a:cxn ang="0">
                      <a:pos x="34" y="192"/>
                    </a:cxn>
                    <a:cxn ang="0">
                      <a:pos x="68" y="129"/>
                    </a:cxn>
                    <a:cxn ang="0">
                      <a:pos x="103" y="76"/>
                    </a:cxn>
                    <a:cxn ang="0">
                      <a:pos x="137" y="31"/>
                    </a:cxn>
                    <a:cxn ang="0">
                      <a:pos x="166" y="8"/>
                    </a:cxn>
                    <a:cxn ang="0">
                      <a:pos x="200" y="0"/>
                    </a:cxn>
                    <a:cxn ang="0">
                      <a:pos x="235" y="8"/>
                    </a:cxn>
                    <a:cxn ang="0">
                      <a:pos x="269" y="31"/>
                    </a:cxn>
                    <a:cxn ang="0">
                      <a:pos x="303" y="76"/>
                    </a:cxn>
                    <a:cxn ang="0">
                      <a:pos x="338" y="129"/>
                    </a:cxn>
                    <a:cxn ang="0">
                      <a:pos x="372" y="196"/>
                    </a:cxn>
                    <a:cxn ang="0">
                      <a:pos x="407" y="264"/>
                    </a:cxn>
                  </a:cxnLst>
                  <a:rect l="txL" t="txT" r="txR" b="txB"/>
                  <a:pathLst>
                    <a:path w="408" h="265">
                      <a:moveTo>
                        <a:pt x="0" y="264"/>
                      </a:moveTo>
                      <a:lnTo>
                        <a:pt x="34" y="192"/>
                      </a:lnTo>
                      <a:lnTo>
                        <a:pt x="68" y="129"/>
                      </a:lnTo>
                      <a:lnTo>
                        <a:pt x="103" y="76"/>
                      </a:lnTo>
                      <a:lnTo>
                        <a:pt x="137" y="31"/>
                      </a:lnTo>
                      <a:lnTo>
                        <a:pt x="166" y="8"/>
                      </a:lnTo>
                      <a:lnTo>
                        <a:pt x="200" y="0"/>
                      </a:lnTo>
                      <a:lnTo>
                        <a:pt x="235" y="8"/>
                      </a:lnTo>
                      <a:lnTo>
                        <a:pt x="269" y="31"/>
                      </a:lnTo>
                      <a:lnTo>
                        <a:pt x="303" y="76"/>
                      </a:lnTo>
                      <a:lnTo>
                        <a:pt x="338" y="129"/>
                      </a:lnTo>
                      <a:lnTo>
                        <a:pt x="372" y="196"/>
                      </a:lnTo>
                      <a:lnTo>
                        <a:pt x="407" y="264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9900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  <p:sp>
              <p:nvSpPr>
                <p:cNvPr id="61503" name="Freeform 79"/>
                <p:cNvSpPr/>
                <p:nvPr/>
              </p:nvSpPr>
              <p:spPr>
                <a:xfrm>
                  <a:off x="2529" y="792"/>
                  <a:ext cx="409" cy="265"/>
                </a:xfrm>
                <a:custGeom>
                  <a:avLst/>
                  <a:gdLst>
                    <a:gd name="txL" fmla="*/ 0 w 409"/>
                    <a:gd name="txT" fmla="*/ 0 h 265"/>
                    <a:gd name="txR" fmla="*/ 409 w 409"/>
                    <a:gd name="txB" fmla="*/ 265 h 265"/>
                  </a:gdLst>
                  <a:ahLst/>
                  <a:cxnLst>
                    <a:cxn ang="0">
                      <a:pos x="408" y="0"/>
                    </a:cxn>
                    <a:cxn ang="0">
                      <a:pos x="373" y="71"/>
                    </a:cxn>
                    <a:cxn ang="0">
                      <a:pos x="339" y="134"/>
                    </a:cxn>
                    <a:cxn ang="0">
                      <a:pos x="304" y="187"/>
                    </a:cxn>
                    <a:cxn ang="0">
                      <a:pos x="270" y="232"/>
                    </a:cxn>
                    <a:cxn ang="0">
                      <a:pos x="241" y="255"/>
                    </a:cxn>
                    <a:cxn ang="0">
                      <a:pos x="206" y="264"/>
                    </a:cxn>
                    <a:cxn ang="0">
                      <a:pos x="172" y="255"/>
                    </a:cxn>
                    <a:cxn ang="0">
                      <a:pos x="137" y="232"/>
                    </a:cxn>
                    <a:cxn ang="0">
                      <a:pos x="103" y="187"/>
                    </a:cxn>
                    <a:cxn ang="0">
                      <a:pos x="68" y="134"/>
                    </a:cxn>
                    <a:cxn ang="0">
                      <a:pos x="34" y="6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09" h="265">
                      <a:moveTo>
                        <a:pt x="408" y="0"/>
                      </a:moveTo>
                      <a:lnTo>
                        <a:pt x="373" y="71"/>
                      </a:lnTo>
                      <a:lnTo>
                        <a:pt x="339" y="134"/>
                      </a:lnTo>
                      <a:lnTo>
                        <a:pt x="304" y="187"/>
                      </a:lnTo>
                      <a:lnTo>
                        <a:pt x="270" y="232"/>
                      </a:lnTo>
                      <a:lnTo>
                        <a:pt x="241" y="255"/>
                      </a:lnTo>
                      <a:lnTo>
                        <a:pt x="206" y="264"/>
                      </a:lnTo>
                      <a:lnTo>
                        <a:pt x="172" y="255"/>
                      </a:lnTo>
                      <a:lnTo>
                        <a:pt x="137" y="232"/>
                      </a:lnTo>
                      <a:lnTo>
                        <a:pt x="103" y="187"/>
                      </a:lnTo>
                      <a:lnTo>
                        <a:pt x="68" y="134"/>
                      </a:lnTo>
                      <a:lnTo>
                        <a:pt x="34" y="6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9900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</p:grpSp>
          <p:grpSp>
            <p:nvGrpSpPr>
              <p:cNvPr id="61499" name="Group 80"/>
              <p:cNvGrpSpPr/>
              <p:nvPr/>
            </p:nvGrpSpPr>
            <p:grpSpPr>
              <a:xfrm>
                <a:off x="2729" y="753"/>
                <a:ext cx="1296" cy="1095"/>
                <a:chOff x="2938" y="528"/>
                <a:chExt cx="816" cy="529"/>
              </a:xfrm>
            </p:grpSpPr>
            <p:sp>
              <p:nvSpPr>
                <p:cNvPr id="61500" name="Freeform 81"/>
                <p:cNvSpPr/>
                <p:nvPr/>
              </p:nvSpPr>
              <p:spPr>
                <a:xfrm>
                  <a:off x="2938" y="528"/>
                  <a:ext cx="408" cy="265"/>
                </a:xfrm>
                <a:custGeom>
                  <a:avLst/>
                  <a:gdLst>
                    <a:gd name="txL" fmla="*/ 0 w 408"/>
                    <a:gd name="txT" fmla="*/ 0 h 265"/>
                    <a:gd name="txR" fmla="*/ 408 w 408"/>
                    <a:gd name="txB" fmla="*/ 265 h 265"/>
                  </a:gdLst>
                  <a:ahLst/>
                  <a:cxnLst>
                    <a:cxn ang="0">
                      <a:pos x="0" y="264"/>
                    </a:cxn>
                    <a:cxn ang="0">
                      <a:pos x="34" y="192"/>
                    </a:cxn>
                    <a:cxn ang="0">
                      <a:pos x="68" y="129"/>
                    </a:cxn>
                    <a:cxn ang="0">
                      <a:pos x="103" y="76"/>
                    </a:cxn>
                    <a:cxn ang="0">
                      <a:pos x="137" y="31"/>
                    </a:cxn>
                    <a:cxn ang="0">
                      <a:pos x="166" y="8"/>
                    </a:cxn>
                    <a:cxn ang="0">
                      <a:pos x="200" y="0"/>
                    </a:cxn>
                    <a:cxn ang="0">
                      <a:pos x="235" y="8"/>
                    </a:cxn>
                    <a:cxn ang="0">
                      <a:pos x="269" y="31"/>
                    </a:cxn>
                    <a:cxn ang="0">
                      <a:pos x="303" y="76"/>
                    </a:cxn>
                    <a:cxn ang="0">
                      <a:pos x="338" y="129"/>
                    </a:cxn>
                    <a:cxn ang="0">
                      <a:pos x="372" y="196"/>
                    </a:cxn>
                    <a:cxn ang="0">
                      <a:pos x="407" y="264"/>
                    </a:cxn>
                  </a:cxnLst>
                  <a:rect l="txL" t="txT" r="txR" b="txB"/>
                  <a:pathLst>
                    <a:path w="408" h="265">
                      <a:moveTo>
                        <a:pt x="0" y="264"/>
                      </a:moveTo>
                      <a:lnTo>
                        <a:pt x="34" y="192"/>
                      </a:lnTo>
                      <a:lnTo>
                        <a:pt x="68" y="129"/>
                      </a:lnTo>
                      <a:lnTo>
                        <a:pt x="103" y="76"/>
                      </a:lnTo>
                      <a:lnTo>
                        <a:pt x="137" y="31"/>
                      </a:lnTo>
                      <a:lnTo>
                        <a:pt x="166" y="8"/>
                      </a:lnTo>
                      <a:lnTo>
                        <a:pt x="200" y="0"/>
                      </a:lnTo>
                      <a:lnTo>
                        <a:pt x="235" y="8"/>
                      </a:lnTo>
                      <a:lnTo>
                        <a:pt x="269" y="31"/>
                      </a:lnTo>
                      <a:lnTo>
                        <a:pt x="303" y="76"/>
                      </a:lnTo>
                      <a:lnTo>
                        <a:pt x="338" y="129"/>
                      </a:lnTo>
                      <a:lnTo>
                        <a:pt x="372" y="196"/>
                      </a:lnTo>
                      <a:lnTo>
                        <a:pt x="407" y="264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9900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  <p:sp>
              <p:nvSpPr>
                <p:cNvPr id="61501" name="Freeform 82"/>
                <p:cNvSpPr/>
                <p:nvPr/>
              </p:nvSpPr>
              <p:spPr>
                <a:xfrm>
                  <a:off x="3345" y="792"/>
                  <a:ext cx="409" cy="265"/>
                </a:xfrm>
                <a:custGeom>
                  <a:avLst/>
                  <a:gdLst>
                    <a:gd name="txL" fmla="*/ 0 w 409"/>
                    <a:gd name="txT" fmla="*/ 0 h 265"/>
                    <a:gd name="txR" fmla="*/ 409 w 409"/>
                    <a:gd name="txB" fmla="*/ 265 h 265"/>
                  </a:gdLst>
                  <a:ahLst/>
                  <a:cxnLst>
                    <a:cxn ang="0">
                      <a:pos x="408" y="0"/>
                    </a:cxn>
                    <a:cxn ang="0">
                      <a:pos x="373" y="71"/>
                    </a:cxn>
                    <a:cxn ang="0">
                      <a:pos x="339" y="134"/>
                    </a:cxn>
                    <a:cxn ang="0">
                      <a:pos x="304" y="187"/>
                    </a:cxn>
                    <a:cxn ang="0">
                      <a:pos x="270" y="232"/>
                    </a:cxn>
                    <a:cxn ang="0">
                      <a:pos x="241" y="255"/>
                    </a:cxn>
                    <a:cxn ang="0">
                      <a:pos x="206" y="264"/>
                    </a:cxn>
                    <a:cxn ang="0">
                      <a:pos x="172" y="255"/>
                    </a:cxn>
                    <a:cxn ang="0">
                      <a:pos x="137" y="232"/>
                    </a:cxn>
                    <a:cxn ang="0">
                      <a:pos x="103" y="187"/>
                    </a:cxn>
                    <a:cxn ang="0">
                      <a:pos x="68" y="134"/>
                    </a:cxn>
                    <a:cxn ang="0">
                      <a:pos x="34" y="6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09" h="265">
                      <a:moveTo>
                        <a:pt x="408" y="0"/>
                      </a:moveTo>
                      <a:lnTo>
                        <a:pt x="373" y="71"/>
                      </a:lnTo>
                      <a:lnTo>
                        <a:pt x="339" y="134"/>
                      </a:lnTo>
                      <a:lnTo>
                        <a:pt x="304" y="187"/>
                      </a:lnTo>
                      <a:lnTo>
                        <a:pt x="270" y="232"/>
                      </a:lnTo>
                      <a:lnTo>
                        <a:pt x="241" y="255"/>
                      </a:lnTo>
                      <a:lnTo>
                        <a:pt x="206" y="264"/>
                      </a:lnTo>
                      <a:lnTo>
                        <a:pt x="172" y="255"/>
                      </a:lnTo>
                      <a:lnTo>
                        <a:pt x="137" y="232"/>
                      </a:lnTo>
                      <a:lnTo>
                        <a:pt x="103" y="187"/>
                      </a:lnTo>
                      <a:lnTo>
                        <a:pt x="68" y="134"/>
                      </a:lnTo>
                      <a:lnTo>
                        <a:pt x="34" y="6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9900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</p:grpSp>
        </p:grpSp>
        <p:sp>
          <p:nvSpPr>
            <p:cNvPr id="61497" name="AutoShape 83"/>
            <p:cNvSpPr/>
            <p:nvPr/>
          </p:nvSpPr>
          <p:spPr>
            <a:xfrm>
              <a:off x="3840" y="1632"/>
              <a:ext cx="672" cy="446"/>
            </a:xfrm>
            <a:prstGeom prst="wedgeEllipseCallout">
              <a:avLst>
                <a:gd name="adj1" fmla="val -130208"/>
                <a:gd name="adj2" fmla="val -33407"/>
              </a:avLst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dirty="0">
                  <a:latin typeface="Times New Roman" panose="02020603050405020304" pitchFamily="18" charset="0"/>
                </a:rPr>
                <a:t>基波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" name="Group 84"/>
          <p:cNvGrpSpPr/>
          <p:nvPr/>
        </p:nvGrpSpPr>
        <p:grpSpPr>
          <a:xfrm>
            <a:off x="1331913" y="1484313"/>
            <a:ext cx="6958012" cy="866775"/>
            <a:chOff x="674" y="936"/>
            <a:chExt cx="4126" cy="546"/>
          </a:xfrm>
        </p:grpSpPr>
        <p:sp>
          <p:nvSpPr>
            <p:cNvPr id="61493" name="Line 85"/>
            <p:cNvSpPr/>
            <p:nvPr/>
          </p:nvSpPr>
          <p:spPr>
            <a:xfrm>
              <a:off x="674" y="1083"/>
              <a:ext cx="1525" cy="0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61494" name="Line 86"/>
            <p:cNvSpPr/>
            <p:nvPr/>
          </p:nvSpPr>
          <p:spPr>
            <a:xfrm>
              <a:off x="1971" y="1083"/>
              <a:ext cx="1525" cy="0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61495" name="AutoShape 87"/>
            <p:cNvSpPr/>
            <p:nvPr/>
          </p:nvSpPr>
          <p:spPr>
            <a:xfrm>
              <a:off x="3905" y="936"/>
              <a:ext cx="895" cy="546"/>
            </a:xfrm>
            <a:prstGeom prst="wedgeEllipseCallout">
              <a:avLst>
                <a:gd name="adj1" fmla="val -86648"/>
                <a:gd name="adj2" fmla="val -16667"/>
              </a:avLst>
            </a:prstGeom>
            <a:noFill/>
            <a:ln w="28575" cap="flat" cmpd="sng">
              <a:solidFill>
                <a:srgbClr val="66FF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dirty="0">
                  <a:latin typeface="Times New Roman" panose="02020603050405020304" pitchFamily="18" charset="0"/>
                </a:rPr>
                <a:t>直流分量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808" name="AutoShape 88"/>
          <p:cNvSpPr/>
          <p:nvPr/>
        </p:nvSpPr>
        <p:spPr>
          <a:xfrm>
            <a:off x="5148263" y="404813"/>
            <a:ext cx="2725737" cy="866775"/>
          </a:xfrm>
          <a:prstGeom prst="wedgeEllipseCallout">
            <a:avLst>
              <a:gd name="adj1" fmla="val -75741"/>
              <a:gd name="adj2" fmla="val 65935"/>
            </a:avLst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98000" rIns="198000" anchor="ctr" anchorCtr="0"/>
          <a:p>
            <a:pPr algn="ctr"/>
            <a:r>
              <a:rPr lang="zh-CN" altLang="en-US" dirty="0">
                <a:latin typeface="楷体_GB2312" pitchFamily="49" charset="-122"/>
              </a:rPr>
              <a:t>直流分量</a:t>
            </a:r>
            <a:r>
              <a:rPr lang="en-US" altLang="zh-CN" dirty="0">
                <a:latin typeface="楷体_GB2312" pitchFamily="49" charset="-122"/>
              </a:rPr>
              <a:t>+</a:t>
            </a:r>
            <a:r>
              <a:rPr lang="zh-CN" altLang="en-US" dirty="0">
                <a:latin typeface="楷体_GB2312" pitchFamily="49" charset="-122"/>
              </a:rPr>
              <a:t>基波</a:t>
            </a:r>
            <a:endParaRPr lang="zh-CN" altLang="en-US" sz="2400" dirty="0">
              <a:latin typeface="楷体_GB2312" pitchFamily="49" charset="-122"/>
            </a:endParaRPr>
          </a:p>
        </p:txBody>
      </p:sp>
      <p:sp>
        <p:nvSpPr>
          <p:cNvPr id="30809" name="AutoShape 89"/>
          <p:cNvSpPr/>
          <p:nvPr/>
        </p:nvSpPr>
        <p:spPr>
          <a:xfrm>
            <a:off x="5292725" y="5456238"/>
            <a:ext cx="1655763" cy="866775"/>
          </a:xfrm>
          <a:prstGeom prst="wedgeEllipseCallout">
            <a:avLst>
              <a:gd name="adj1" fmla="val -92185"/>
              <a:gd name="adj2" fmla="val -54579"/>
            </a:avLst>
          </a:prstGeom>
          <a:noFill/>
          <a:ln w="28575" cap="flat" cmpd="sng">
            <a:solidFill>
              <a:srgbClr val="FF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98000" rIns="198000" anchor="ctr" anchorCtr="0"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三次谐波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1440" name="Group 90"/>
          <p:cNvGrpSpPr/>
          <p:nvPr/>
        </p:nvGrpSpPr>
        <p:grpSpPr>
          <a:xfrm>
            <a:off x="608013" y="3894138"/>
            <a:ext cx="3989387" cy="1584325"/>
            <a:chOff x="1434" y="2544"/>
            <a:chExt cx="2513" cy="998"/>
          </a:xfrm>
        </p:grpSpPr>
        <p:sp>
          <p:nvSpPr>
            <p:cNvPr id="61471" name="Freeform 91"/>
            <p:cNvSpPr/>
            <p:nvPr/>
          </p:nvSpPr>
          <p:spPr>
            <a:xfrm>
              <a:off x="1434" y="2619"/>
              <a:ext cx="54" cy="413"/>
            </a:xfrm>
            <a:custGeom>
              <a:avLst/>
              <a:gdLst>
                <a:gd name="txL" fmla="*/ 0 w 48"/>
                <a:gd name="txT" fmla="*/ 0 h 240"/>
                <a:gd name="txR" fmla="*/ 48 w 48"/>
                <a:gd name="txB" fmla="*/ 240 h 240"/>
              </a:gdLst>
              <a:ahLst/>
              <a:cxnLst>
                <a:cxn ang="0">
                  <a:pos x="0" y="413"/>
                </a:cxn>
                <a:cxn ang="0">
                  <a:pos x="54" y="0"/>
                </a:cxn>
              </a:cxnLst>
              <a:rect l="txL" t="txT" r="txR" b="txB"/>
              <a:pathLst>
                <a:path w="48" h="240">
                  <a:moveTo>
                    <a:pt x="0" y="240"/>
                  </a:moveTo>
                  <a:cubicBezTo>
                    <a:pt x="0" y="240"/>
                    <a:pt x="24" y="120"/>
                    <a:pt x="48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61472" name="Group 92"/>
            <p:cNvGrpSpPr/>
            <p:nvPr/>
          </p:nvGrpSpPr>
          <p:grpSpPr>
            <a:xfrm>
              <a:off x="1488" y="2544"/>
              <a:ext cx="556" cy="135"/>
              <a:chOff x="233" y="2344"/>
              <a:chExt cx="321" cy="135"/>
            </a:xfrm>
          </p:grpSpPr>
          <p:sp>
            <p:nvSpPr>
              <p:cNvPr id="61490" name="Freeform 93"/>
              <p:cNvSpPr/>
              <p:nvPr/>
            </p:nvSpPr>
            <p:spPr>
              <a:xfrm>
                <a:off x="233" y="2344"/>
                <a:ext cx="108" cy="68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68"/>
                  </a:cxn>
                  <a:cxn ang="0">
                    <a:pos x="54" y="0"/>
                  </a:cxn>
                  <a:cxn ang="0">
                    <a:pos x="108" y="68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1491" name="Freeform 94"/>
              <p:cNvSpPr/>
              <p:nvPr/>
            </p:nvSpPr>
            <p:spPr>
              <a:xfrm>
                <a:off x="447" y="2344"/>
                <a:ext cx="107" cy="68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68"/>
                  </a:cxn>
                  <a:cxn ang="0">
                    <a:pos x="54" y="0"/>
                  </a:cxn>
                  <a:cxn ang="0">
                    <a:pos x="107" y="68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1492" name="Freeform 95"/>
              <p:cNvSpPr/>
              <p:nvPr/>
            </p:nvSpPr>
            <p:spPr>
              <a:xfrm flipV="1">
                <a:off x="340" y="2412"/>
                <a:ext cx="108" cy="67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67"/>
                  </a:cxn>
                  <a:cxn ang="0">
                    <a:pos x="54" y="0"/>
                  </a:cxn>
                  <a:cxn ang="0">
                    <a:pos x="108" y="67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61473" name="Freeform 96"/>
            <p:cNvSpPr/>
            <p:nvPr/>
          </p:nvSpPr>
          <p:spPr>
            <a:xfrm flipV="1">
              <a:off x="2023" y="2619"/>
              <a:ext cx="106" cy="826"/>
            </a:xfrm>
            <a:custGeom>
              <a:avLst/>
              <a:gdLst>
                <a:gd name="txL" fmla="*/ 0 w 48"/>
                <a:gd name="txT" fmla="*/ 0 h 240"/>
                <a:gd name="txR" fmla="*/ 48 w 48"/>
                <a:gd name="txB" fmla="*/ 240 h 240"/>
              </a:gdLst>
              <a:ahLst/>
              <a:cxnLst>
                <a:cxn ang="0">
                  <a:pos x="0" y="826"/>
                </a:cxn>
                <a:cxn ang="0">
                  <a:pos x="106" y="0"/>
                </a:cxn>
              </a:cxnLst>
              <a:rect l="txL" t="txT" r="txR" b="txB"/>
              <a:pathLst>
                <a:path w="48" h="240">
                  <a:moveTo>
                    <a:pt x="0" y="240"/>
                  </a:moveTo>
                  <a:cubicBezTo>
                    <a:pt x="0" y="240"/>
                    <a:pt x="24" y="120"/>
                    <a:pt x="48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1474" name="Freeform 97"/>
            <p:cNvSpPr/>
            <p:nvPr/>
          </p:nvSpPr>
          <p:spPr>
            <a:xfrm flipV="1">
              <a:off x="3304" y="2619"/>
              <a:ext cx="53" cy="413"/>
            </a:xfrm>
            <a:custGeom>
              <a:avLst/>
              <a:gdLst>
                <a:gd name="txL" fmla="*/ 0 w 48"/>
                <a:gd name="txT" fmla="*/ 0 h 240"/>
                <a:gd name="txR" fmla="*/ 48 w 48"/>
                <a:gd name="txB" fmla="*/ 240 h 240"/>
              </a:gdLst>
              <a:ahLst/>
              <a:cxnLst>
                <a:cxn ang="0">
                  <a:pos x="0" y="413"/>
                </a:cxn>
                <a:cxn ang="0">
                  <a:pos x="53" y="0"/>
                </a:cxn>
              </a:cxnLst>
              <a:rect l="txL" t="txT" r="txR" b="txB"/>
              <a:pathLst>
                <a:path w="48" h="240">
                  <a:moveTo>
                    <a:pt x="0" y="240"/>
                  </a:moveTo>
                  <a:cubicBezTo>
                    <a:pt x="0" y="240"/>
                    <a:pt x="24" y="120"/>
                    <a:pt x="48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1475" name="Freeform 98"/>
            <p:cNvSpPr/>
            <p:nvPr/>
          </p:nvSpPr>
          <p:spPr>
            <a:xfrm rot="10800000">
              <a:off x="2716" y="2619"/>
              <a:ext cx="54" cy="413"/>
            </a:xfrm>
            <a:custGeom>
              <a:avLst/>
              <a:gdLst>
                <a:gd name="txL" fmla="*/ 0 w 48"/>
                <a:gd name="txT" fmla="*/ 0 h 240"/>
                <a:gd name="txR" fmla="*/ 48 w 48"/>
                <a:gd name="txB" fmla="*/ 240 h 240"/>
              </a:gdLst>
              <a:ahLst/>
              <a:cxnLst>
                <a:cxn ang="0">
                  <a:pos x="0" y="413"/>
                </a:cxn>
                <a:cxn ang="0">
                  <a:pos x="54" y="0"/>
                </a:cxn>
              </a:cxnLst>
              <a:rect l="txL" t="txT" r="txR" b="txB"/>
              <a:pathLst>
                <a:path w="48" h="240">
                  <a:moveTo>
                    <a:pt x="0" y="240"/>
                  </a:moveTo>
                  <a:cubicBezTo>
                    <a:pt x="0" y="240"/>
                    <a:pt x="24" y="120"/>
                    <a:pt x="48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1476" name="Freeform 99"/>
            <p:cNvSpPr/>
            <p:nvPr/>
          </p:nvSpPr>
          <p:spPr>
            <a:xfrm>
              <a:off x="2663" y="3032"/>
              <a:ext cx="53" cy="413"/>
            </a:xfrm>
            <a:custGeom>
              <a:avLst/>
              <a:gdLst>
                <a:gd name="txL" fmla="*/ 0 w 48"/>
                <a:gd name="txT" fmla="*/ 0 h 240"/>
                <a:gd name="txR" fmla="*/ 48 w 48"/>
                <a:gd name="txB" fmla="*/ 240 h 240"/>
              </a:gdLst>
              <a:ahLst/>
              <a:cxnLst>
                <a:cxn ang="0">
                  <a:pos x="0" y="413"/>
                </a:cxn>
                <a:cxn ang="0">
                  <a:pos x="53" y="0"/>
                </a:cxn>
              </a:cxnLst>
              <a:rect l="txL" t="txT" r="txR" b="txB"/>
              <a:pathLst>
                <a:path w="48" h="240">
                  <a:moveTo>
                    <a:pt x="0" y="240"/>
                  </a:moveTo>
                  <a:cubicBezTo>
                    <a:pt x="0" y="240"/>
                    <a:pt x="24" y="120"/>
                    <a:pt x="48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1477" name="Freeform 100"/>
            <p:cNvSpPr/>
            <p:nvPr/>
          </p:nvSpPr>
          <p:spPr>
            <a:xfrm flipV="1">
              <a:off x="3357" y="3032"/>
              <a:ext cx="54" cy="413"/>
            </a:xfrm>
            <a:custGeom>
              <a:avLst/>
              <a:gdLst>
                <a:gd name="txL" fmla="*/ 0 w 48"/>
                <a:gd name="txT" fmla="*/ 0 h 240"/>
                <a:gd name="txR" fmla="*/ 48 w 48"/>
                <a:gd name="txB" fmla="*/ 240 h 240"/>
              </a:gdLst>
              <a:ahLst/>
              <a:cxnLst>
                <a:cxn ang="0">
                  <a:pos x="0" y="413"/>
                </a:cxn>
                <a:cxn ang="0">
                  <a:pos x="54" y="0"/>
                </a:cxn>
              </a:cxnLst>
              <a:rect l="txL" t="txT" r="txR" b="txB"/>
              <a:pathLst>
                <a:path w="48" h="240">
                  <a:moveTo>
                    <a:pt x="0" y="240"/>
                  </a:moveTo>
                  <a:cubicBezTo>
                    <a:pt x="0" y="240"/>
                    <a:pt x="24" y="120"/>
                    <a:pt x="48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61478" name="Group 101"/>
            <p:cNvGrpSpPr/>
            <p:nvPr/>
          </p:nvGrpSpPr>
          <p:grpSpPr>
            <a:xfrm>
              <a:off x="2107" y="3363"/>
              <a:ext cx="536" cy="165"/>
              <a:chOff x="4264" y="2598"/>
              <a:chExt cx="323" cy="165"/>
            </a:xfrm>
          </p:grpSpPr>
          <p:sp>
            <p:nvSpPr>
              <p:cNvPr id="61487" name="Freeform 102"/>
              <p:cNvSpPr/>
              <p:nvPr/>
            </p:nvSpPr>
            <p:spPr>
              <a:xfrm flipV="1">
                <a:off x="4264" y="2681"/>
                <a:ext cx="108" cy="82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82"/>
                  </a:cxn>
                  <a:cxn ang="0">
                    <a:pos x="54" y="0"/>
                  </a:cxn>
                  <a:cxn ang="0">
                    <a:pos x="108" y="82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1488" name="Freeform 103"/>
              <p:cNvSpPr/>
              <p:nvPr/>
            </p:nvSpPr>
            <p:spPr>
              <a:xfrm flipV="1">
                <a:off x="4479" y="2681"/>
                <a:ext cx="108" cy="82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82"/>
                  </a:cxn>
                  <a:cxn ang="0">
                    <a:pos x="54" y="0"/>
                  </a:cxn>
                  <a:cxn ang="0">
                    <a:pos x="108" y="82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1489" name="Freeform 104"/>
              <p:cNvSpPr/>
              <p:nvPr/>
            </p:nvSpPr>
            <p:spPr>
              <a:xfrm>
                <a:off x="4372" y="2598"/>
                <a:ext cx="108" cy="83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83"/>
                  </a:cxn>
                  <a:cxn ang="0">
                    <a:pos x="54" y="0"/>
                  </a:cxn>
                  <a:cxn ang="0">
                    <a:pos x="108" y="83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61479" name="Group 105"/>
            <p:cNvGrpSpPr/>
            <p:nvPr/>
          </p:nvGrpSpPr>
          <p:grpSpPr>
            <a:xfrm>
              <a:off x="2770" y="2544"/>
              <a:ext cx="556" cy="135"/>
              <a:chOff x="233" y="2344"/>
              <a:chExt cx="321" cy="135"/>
            </a:xfrm>
          </p:grpSpPr>
          <p:sp>
            <p:nvSpPr>
              <p:cNvPr id="61484" name="Freeform 106"/>
              <p:cNvSpPr/>
              <p:nvPr/>
            </p:nvSpPr>
            <p:spPr>
              <a:xfrm>
                <a:off x="233" y="2344"/>
                <a:ext cx="108" cy="68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68"/>
                  </a:cxn>
                  <a:cxn ang="0">
                    <a:pos x="54" y="0"/>
                  </a:cxn>
                  <a:cxn ang="0">
                    <a:pos x="108" y="68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1485" name="Freeform 107"/>
              <p:cNvSpPr/>
              <p:nvPr/>
            </p:nvSpPr>
            <p:spPr>
              <a:xfrm>
                <a:off x="447" y="2344"/>
                <a:ext cx="107" cy="68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68"/>
                  </a:cxn>
                  <a:cxn ang="0">
                    <a:pos x="54" y="0"/>
                  </a:cxn>
                  <a:cxn ang="0">
                    <a:pos x="107" y="68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1486" name="Freeform 108"/>
              <p:cNvSpPr/>
              <p:nvPr/>
            </p:nvSpPr>
            <p:spPr>
              <a:xfrm flipV="1">
                <a:off x="340" y="2412"/>
                <a:ext cx="108" cy="67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67"/>
                  </a:cxn>
                  <a:cxn ang="0">
                    <a:pos x="54" y="0"/>
                  </a:cxn>
                  <a:cxn ang="0">
                    <a:pos x="108" y="67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61480" name="Group 109"/>
            <p:cNvGrpSpPr/>
            <p:nvPr/>
          </p:nvGrpSpPr>
          <p:grpSpPr>
            <a:xfrm>
              <a:off x="3411" y="3377"/>
              <a:ext cx="536" cy="165"/>
              <a:chOff x="4264" y="2598"/>
              <a:chExt cx="323" cy="165"/>
            </a:xfrm>
          </p:grpSpPr>
          <p:sp>
            <p:nvSpPr>
              <p:cNvPr id="61481" name="Freeform 110"/>
              <p:cNvSpPr/>
              <p:nvPr/>
            </p:nvSpPr>
            <p:spPr>
              <a:xfrm flipV="1">
                <a:off x="4264" y="2681"/>
                <a:ext cx="108" cy="82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82"/>
                  </a:cxn>
                  <a:cxn ang="0">
                    <a:pos x="54" y="0"/>
                  </a:cxn>
                  <a:cxn ang="0">
                    <a:pos x="108" y="82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1482" name="Freeform 111"/>
              <p:cNvSpPr/>
              <p:nvPr/>
            </p:nvSpPr>
            <p:spPr>
              <a:xfrm flipV="1">
                <a:off x="4479" y="2681"/>
                <a:ext cx="108" cy="82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82"/>
                  </a:cxn>
                  <a:cxn ang="0">
                    <a:pos x="54" y="0"/>
                  </a:cxn>
                  <a:cxn ang="0">
                    <a:pos x="108" y="82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1483" name="Freeform 112"/>
              <p:cNvSpPr/>
              <p:nvPr/>
            </p:nvSpPr>
            <p:spPr>
              <a:xfrm>
                <a:off x="4372" y="2598"/>
                <a:ext cx="108" cy="83"/>
              </a:xfrm>
              <a:custGeom>
                <a:avLst/>
                <a:gdLst>
                  <a:gd name="txL" fmla="*/ 0 w 192"/>
                  <a:gd name="txT" fmla="*/ 0 h 240"/>
                  <a:gd name="txR" fmla="*/ 192 w 192"/>
                  <a:gd name="txB" fmla="*/ 240 h 240"/>
                </a:gdLst>
                <a:ahLst/>
                <a:cxnLst>
                  <a:cxn ang="0">
                    <a:pos x="0" y="83"/>
                  </a:cxn>
                  <a:cxn ang="0">
                    <a:pos x="54" y="0"/>
                  </a:cxn>
                  <a:cxn ang="0">
                    <a:pos x="108" y="83"/>
                  </a:cxn>
                </a:cxnLst>
                <a:rect l="txL" t="txT" r="txR" b="txB"/>
                <a:pathLst>
                  <a:path w="192" h="240">
                    <a:moveTo>
                      <a:pt x="0" y="240"/>
                    </a:moveTo>
                    <a:cubicBezTo>
                      <a:pt x="32" y="120"/>
                      <a:pt x="64" y="0"/>
                      <a:pt x="96" y="0"/>
                    </a:cubicBezTo>
                    <a:cubicBezTo>
                      <a:pt x="128" y="0"/>
                      <a:pt x="160" y="120"/>
                      <a:pt x="192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</p:grpSp>
      <p:sp>
        <p:nvSpPr>
          <p:cNvPr id="30833" name="AutoShape 113"/>
          <p:cNvSpPr/>
          <p:nvPr/>
        </p:nvSpPr>
        <p:spPr>
          <a:xfrm>
            <a:off x="4316413" y="3429000"/>
            <a:ext cx="4576762" cy="946150"/>
          </a:xfrm>
          <a:prstGeom prst="wedgeEllipseCallout">
            <a:avLst>
              <a:gd name="adj1" fmla="val -64153"/>
              <a:gd name="adj2" fmla="val 44630"/>
            </a:avLst>
          </a:prstGeom>
          <a:noFill/>
          <a:ln w="28575" cap="flat" cmpd="sng">
            <a:solidFill>
              <a:srgbClr val="FF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98000" rIns="198000" anchor="ctr" anchorCtr="0"/>
          <a:p>
            <a:pPr algn="ctr"/>
            <a:r>
              <a:rPr lang="zh-CN" altLang="en-US" dirty="0">
                <a:latin typeface="楷体_GB2312" pitchFamily="49" charset="-122"/>
              </a:rPr>
              <a:t>直流分量</a:t>
            </a:r>
            <a:r>
              <a:rPr lang="en-US" altLang="zh-CN" dirty="0">
                <a:latin typeface="楷体_GB2312" pitchFamily="49" charset="-122"/>
              </a:rPr>
              <a:t>+</a:t>
            </a:r>
            <a:r>
              <a:rPr lang="zh-CN" altLang="en-US" dirty="0">
                <a:latin typeface="楷体_GB2312" pitchFamily="49" charset="-122"/>
              </a:rPr>
              <a:t>基波</a:t>
            </a:r>
            <a:r>
              <a:rPr lang="en-US" altLang="zh-CN" dirty="0">
                <a:latin typeface="楷体_GB2312" pitchFamily="49" charset="-122"/>
              </a:rPr>
              <a:t>+</a:t>
            </a:r>
            <a:r>
              <a:rPr lang="zh-CN" altLang="en-US" dirty="0">
                <a:latin typeface="楷体_GB2312" pitchFamily="49" charset="-122"/>
              </a:rPr>
              <a:t>三次谐波</a:t>
            </a:r>
            <a:endParaRPr lang="zh-CN" altLang="en-US" sz="2400" dirty="0">
              <a:latin typeface="楷体_GB2312" pitchFamily="49" charset="-122"/>
            </a:endParaRPr>
          </a:p>
        </p:txBody>
      </p:sp>
      <p:grpSp>
        <p:nvGrpSpPr>
          <p:cNvPr id="61462" name="Group 13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1469" name="Picture 13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70" name="Text Box 13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463" name="Group 13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1467" name="Picture 13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68" name="Text Box 13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464" name="Group 13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1465" name="Picture 14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66" name="Text Box 14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6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08" grpId="0" animBg="1"/>
      <p:bldP spid="30809" grpId="0" animBg="1"/>
      <p:bldP spid="308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712" name="AutoShape 40"/>
          <p:cNvSpPr/>
          <p:nvPr/>
        </p:nvSpPr>
        <p:spPr>
          <a:xfrm rot="-1207089">
            <a:off x="2411413" y="620713"/>
            <a:ext cx="1917700" cy="657225"/>
          </a:xfrm>
          <a:prstGeom prst="curvedDownArrow">
            <a:avLst>
              <a:gd name="adj1" fmla="val 53362"/>
              <a:gd name="adj2" fmla="val 116714"/>
              <a:gd name="adj3" fmla="val 54736"/>
            </a:avLst>
          </a:prstGeom>
          <a:solidFill>
            <a:srgbClr val="3399FF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2" name="Group 75"/>
          <p:cNvGrpSpPr/>
          <p:nvPr/>
        </p:nvGrpSpPr>
        <p:grpSpPr>
          <a:xfrm>
            <a:off x="1187450" y="4605338"/>
            <a:ext cx="5994400" cy="947737"/>
            <a:chOff x="748" y="2991"/>
            <a:chExt cx="3776" cy="597"/>
          </a:xfrm>
        </p:grpSpPr>
        <p:sp>
          <p:nvSpPr>
            <p:cNvPr id="10305" name="Text Box 71" descr="羊皮纸"/>
            <p:cNvSpPr txBox="1"/>
            <p:nvPr/>
          </p:nvSpPr>
          <p:spPr>
            <a:xfrm>
              <a:off x="748" y="3113"/>
              <a:ext cx="377" cy="365"/>
            </a:xfrm>
            <a:prstGeom prst="rect">
              <a:avLst/>
            </a:prstGeom>
            <a:blipFill rotWithShape="1">
              <a:blip r:embed="rId1"/>
            </a:blipFill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S0</a:t>
              </a:r>
              <a:endPara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0248" name="Object 72" descr="羊皮纸"/>
            <p:cNvGraphicFramePr/>
            <p:nvPr/>
          </p:nvGraphicFramePr>
          <p:xfrm>
            <a:off x="1988" y="3038"/>
            <a:ext cx="369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2" imgW="152400" imgH="215900" progId="Equation.3">
                    <p:embed/>
                  </p:oleObj>
                </mc:Choice>
                <mc:Fallback>
                  <p:oleObj name="" r:id="rId2" imgW="152400" imgH="2159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988" y="3038"/>
                          <a:ext cx="369" cy="550"/>
                        </a:xfrm>
                        <a:prstGeom prst="rect">
                          <a:avLst/>
                        </a:prstGeom>
                        <a:blipFill rotWithShape="1">
                          <a:blip r:embed="rId1"/>
                        </a:blip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9" name="Object 73" descr="羊皮纸"/>
            <p:cNvGraphicFramePr/>
            <p:nvPr/>
          </p:nvGraphicFramePr>
          <p:xfrm>
            <a:off x="3076" y="3038"/>
            <a:ext cx="368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4" imgW="152400" imgH="215900" progId="Equation.3">
                    <p:embed/>
                  </p:oleObj>
                </mc:Choice>
                <mc:Fallback>
                  <p:oleObj name="" r:id="rId4" imgW="152400" imgH="2159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076" y="3038"/>
                          <a:ext cx="368" cy="550"/>
                        </a:xfrm>
                        <a:prstGeom prst="rect">
                          <a:avLst/>
                        </a:prstGeom>
                        <a:blipFill rotWithShape="1">
                          <a:blip r:embed="rId1"/>
                        </a:blip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0" name="Object 74" descr="羊皮纸"/>
            <p:cNvGraphicFramePr/>
            <p:nvPr/>
          </p:nvGraphicFramePr>
          <p:xfrm>
            <a:off x="4178" y="2991"/>
            <a:ext cx="346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6" imgW="152400" imgH="215900" progId="Equation.3">
                    <p:embed/>
                  </p:oleObj>
                </mc:Choice>
                <mc:Fallback>
                  <p:oleObj name="" r:id="rId6" imgW="152400" imgH="2159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178" y="2991"/>
                          <a:ext cx="346" cy="514"/>
                        </a:xfrm>
                        <a:prstGeom prst="rect">
                          <a:avLst/>
                        </a:prstGeom>
                        <a:blipFill rotWithShape="1">
                          <a:blip r:embed="rId1"/>
                        </a:blip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53" name="Group 12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303" name="Picture 123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04" name="Text Box 12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254" name="Group 12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301" name="Picture 126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02" name="Text Box 12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136"/>
          <p:cNvGrpSpPr/>
          <p:nvPr/>
        </p:nvGrpSpPr>
        <p:grpSpPr>
          <a:xfrm>
            <a:off x="3971925" y="476250"/>
            <a:ext cx="4416425" cy="2700338"/>
            <a:chOff x="2502" y="300"/>
            <a:chExt cx="2782" cy="1701"/>
          </a:xfrm>
        </p:grpSpPr>
        <p:sp>
          <p:nvSpPr>
            <p:cNvPr id="10274" name="Line 90"/>
            <p:cNvSpPr/>
            <p:nvPr/>
          </p:nvSpPr>
          <p:spPr>
            <a:xfrm>
              <a:off x="2699" y="708"/>
              <a:ext cx="0" cy="129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5" name="Line 91"/>
            <p:cNvSpPr/>
            <p:nvPr/>
          </p:nvSpPr>
          <p:spPr>
            <a:xfrm>
              <a:off x="4558" y="708"/>
              <a:ext cx="0" cy="129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0276" name="Line 92"/>
            <p:cNvSpPr/>
            <p:nvPr/>
          </p:nvSpPr>
          <p:spPr>
            <a:xfrm>
              <a:off x="3919" y="708"/>
              <a:ext cx="0" cy="129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0277" name="Line 93"/>
            <p:cNvSpPr/>
            <p:nvPr/>
          </p:nvSpPr>
          <p:spPr>
            <a:xfrm>
              <a:off x="3280" y="708"/>
              <a:ext cx="8" cy="129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0278" name="Line 94"/>
            <p:cNvSpPr/>
            <p:nvPr/>
          </p:nvSpPr>
          <p:spPr>
            <a:xfrm>
              <a:off x="2682" y="708"/>
              <a:ext cx="24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9" name="Line 95"/>
            <p:cNvSpPr/>
            <p:nvPr/>
          </p:nvSpPr>
          <p:spPr>
            <a:xfrm>
              <a:off x="2682" y="2001"/>
              <a:ext cx="24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80" name="Text Box 99"/>
            <p:cNvSpPr txBox="1"/>
            <p:nvPr/>
          </p:nvSpPr>
          <p:spPr>
            <a:xfrm>
              <a:off x="2749" y="842"/>
              <a:ext cx="378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S0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0245" name="Object 100"/>
            <p:cNvGraphicFramePr/>
            <p:nvPr/>
          </p:nvGraphicFramePr>
          <p:xfrm>
            <a:off x="3422" y="823"/>
            <a:ext cx="284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9" imgW="152400" imgH="215900" progId="Equation.3">
                    <p:embed/>
                  </p:oleObj>
                </mc:Choice>
                <mc:Fallback>
                  <p:oleObj name="" r:id="rId9" imgW="152400" imgH="2159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22" y="823"/>
                          <a:ext cx="284" cy="4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6" name="Object 101"/>
            <p:cNvGraphicFramePr/>
            <p:nvPr/>
          </p:nvGraphicFramePr>
          <p:xfrm>
            <a:off x="4050" y="825"/>
            <a:ext cx="311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1" imgW="152400" imgH="215900" progId="Equation.3">
                    <p:embed/>
                  </p:oleObj>
                </mc:Choice>
                <mc:Fallback>
                  <p:oleObj name="" r:id="rId11" imgW="152400" imgH="2159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50" y="825"/>
                          <a:ext cx="311" cy="4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7" name="Object 102"/>
            <p:cNvGraphicFramePr/>
            <p:nvPr/>
          </p:nvGraphicFramePr>
          <p:xfrm>
            <a:off x="4661" y="869"/>
            <a:ext cx="282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3" imgW="152400" imgH="215900" progId="Equation.3">
                    <p:embed/>
                  </p:oleObj>
                </mc:Choice>
                <mc:Fallback>
                  <p:oleObj name="" r:id="rId13" imgW="152400" imgH="2159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61" y="869"/>
                          <a:ext cx="282" cy="4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1" name="Oval 103"/>
            <p:cNvSpPr/>
            <p:nvPr/>
          </p:nvSpPr>
          <p:spPr>
            <a:xfrm>
              <a:off x="4905" y="1252"/>
              <a:ext cx="58" cy="48"/>
            </a:xfrm>
            <a:prstGeom prst="ellipse">
              <a:avLst/>
            </a:prstGeom>
            <a:solidFill>
              <a:srgbClr val="FFCC00"/>
            </a:solidFill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10282" name="Oval 104"/>
            <p:cNvSpPr/>
            <p:nvPr/>
          </p:nvSpPr>
          <p:spPr>
            <a:xfrm>
              <a:off x="5063" y="1253"/>
              <a:ext cx="59" cy="48"/>
            </a:xfrm>
            <a:prstGeom prst="ellipse">
              <a:avLst/>
            </a:prstGeom>
            <a:solidFill>
              <a:srgbClr val="FFCC00"/>
            </a:solidFill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0283" name="Oval 105"/>
            <p:cNvSpPr/>
            <p:nvPr/>
          </p:nvSpPr>
          <p:spPr>
            <a:xfrm>
              <a:off x="5226" y="1253"/>
              <a:ext cx="58" cy="48"/>
            </a:xfrm>
            <a:prstGeom prst="ellipse">
              <a:avLst/>
            </a:prstGeom>
            <a:solidFill>
              <a:srgbClr val="FFCC00"/>
            </a:solidFill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10284" name="Text Box 109"/>
            <p:cNvSpPr txBox="1"/>
            <p:nvPr/>
          </p:nvSpPr>
          <p:spPr>
            <a:xfrm>
              <a:off x="2850" y="300"/>
              <a:ext cx="119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98000" rIns="19800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等效电源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85" name="Line 131"/>
            <p:cNvSpPr/>
            <p:nvPr/>
          </p:nvSpPr>
          <p:spPr>
            <a:xfrm flipV="1">
              <a:off x="2699" y="890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0286" name="Group 96"/>
            <p:cNvGrpSpPr/>
            <p:nvPr/>
          </p:nvGrpSpPr>
          <p:grpSpPr>
            <a:xfrm>
              <a:off x="2502" y="1253"/>
              <a:ext cx="378" cy="363"/>
              <a:chOff x="1519" y="2523"/>
              <a:chExt cx="363" cy="363"/>
            </a:xfrm>
          </p:grpSpPr>
          <p:sp>
            <p:nvSpPr>
              <p:cNvPr id="10299" name="Oval 97"/>
              <p:cNvSpPr/>
              <p:nvPr/>
            </p:nvSpPr>
            <p:spPr>
              <a:xfrm>
                <a:off x="1519" y="2523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0300" name="Line 98"/>
              <p:cNvSpPr/>
              <p:nvPr/>
            </p:nvSpPr>
            <p:spPr>
              <a:xfrm>
                <a:off x="1519" y="2704"/>
                <a:ext cx="363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287" name="Line 132"/>
            <p:cNvSpPr/>
            <p:nvPr/>
          </p:nvSpPr>
          <p:spPr>
            <a:xfrm flipV="1">
              <a:off x="3288" y="890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88" name="Line 133"/>
            <p:cNvSpPr/>
            <p:nvPr/>
          </p:nvSpPr>
          <p:spPr>
            <a:xfrm flipV="1">
              <a:off x="3923" y="890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89" name="Line 134"/>
            <p:cNvSpPr/>
            <p:nvPr/>
          </p:nvSpPr>
          <p:spPr>
            <a:xfrm flipV="1">
              <a:off x="4558" y="890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0290" name="Group 110"/>
            <p:cNvGrpSpPr/>
            <p:nvPr/>
          </p:nvGrpSpPr>
          <p:grpSpPr>
            <a:xfrm>
              <a:off x="3086" y="1253"/>
              <a:ext cx="378" cy="363"/>
              <a:chOff x="1519" y="2523"/>
              <a:chExt cx="363" cy="363"/>
            </a:xfrm>
          </p:grpSpPr>
          <p:sp>
            <p:nvSpPr>
              <p:cNvPr id="10297" name="Oval 111"/>
              <p:cNvSpPr/>
              <p:nvPr/>
            </p:nvSpPr>
            <p:spPr>
              <a:xfrm>
                <a:off x="1519" y="2523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0298" name="Line 112"/>
              <p:cNvSpPr/>
              <p:nvPr/>
            </p:nvSpPr>
            <p:spPr>
              <a:xfrm>
                <a:off x="1519" y="2704"/>
                <a:ext cx="363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291" name="Group 113"/>
            <p:cNvGrpSpPr/>
            <p:nvPr/>
          </p:nvGrpSpPr>
          <p:grpSpPr>
            <a:xfrm>
              <a:off x="3727" y="1253"/>
              <a:ext cx="378" cy="363"/>
              <a:chOff x="1519" y="2523"/>
              <a:chExt cx="363" cy="363"/>
            </a:xfrm>
          </p:grpSpPr>
          <p:sp>
            <p:nvSpPr>
              <p:cNvPr id="10295" name="Oval 114"/>
              <p:cNvSpPr/>
              <p:nvPr/>
            </p:nvSpPr>
            <p:spPr>
              <a:xfrm>
                <a:off x="1519" y="2523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0296" name="Line 115"/>
              <p:cNvSpPr/>
              <p:nvPr/>
            </p:nvSpPr>
            <p:spPr>
              <a:xfrm>
                <a:off x="1519" y="2704"/>
                <a:ext cx="363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292" name="Group 116"/>
            <p:cNvGrpSpPr/>
            <p:nvPr/>
          </p:nvGrpSpPr>
          <p:grpSpPr>
            <a:xfrm>
              <a:off x="4362" y="1253"/>
              <a:ext cx="378" cy="363"/>
              <a:chOff x="1519" y="2523"/>
              <a:chExt cx="363" cy="363"/>
            </a:xfrm>
          </p:grpSpPr>
          <p:sp>
            <p:nvSpPr>
              <p:cNvPr id="10293" name="Oval 117"/>
              <p:cNvSpPr/>
              <p:nvPr/>
            </p:nvSpPr>
            <p:spPr>
              <a:xfrm>
                <a:off x="1519" y="2523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0294" name="Line 118"/>
              <p:cNvSpPr/>
              <p:nvPr/>
            </p:nvSpPr>
            <p:spPr>
              <a:xfrm>
                <a:off x="1519" y="2704"/>
                <a:ext cx="363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256" name="Group 13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0272" name="Picture 138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73" name="Text Box 13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" name="Group 142"/>
          <p:cNvGrpSpPr/>
          <p:nvPr/>
        </p:nvGrpSpPr>
        <p:grpSpPr>
          <a:xfrm>
            <a:off x="414338" y="925513"/>
            <a:ext cx="3303587" cy="2166937"/>
            <a:chOff x="261" y="583"/>
            <a:chExt cx="2081" cy="1365"/>
          </a:xfrm>
        </p:grpSpPr>
        <p:grpSp>
          <p:nvGrpSpPr>
            <p:cNvPr id="10258" name="Group 25"/>
            <p:cNvGrpSpPr/>
            <p:nvPr/>
          </p:nvGrpSpPr>
          <p:grpSpPr>
            <a:xfrm>
              <a:off x="261" y="583"/>
              <a:ext cx="2081" cy="1365"/>
              <a:chOff x="276" y="321"/>
              <a:chExt cx="2081" cy="1365"/>
            </a:xfrm>
          </p:grpSpPr>
          <p:sp>
            <p:nvSpPr>
              <p:cNvPr id="10260" name="Line 26"/>
              <p:cNvSpPr/>
              <p:nvPr/>
            </p:nvSpPr>
            <p:spPr>
              <a:xfrm>
                <a:off x="649" y="1360"/>
                <a:ext cx="1535" cy="0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261" name="Line 27"/>
              <p:cNvSpPr/>
              <p:nvPr/>
            </p:nvSpPr>
            <p:spPr>
              <a:xfrm flipV="1">
                <a:off x="631" y="555"/>
                <a:ext cx="0" cy="819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grpSp>
            <p:nvGrpSpPr>
              <p:cNvPr id="10262" name="Group 28"/>
              <p:cNvGrpSpPr/>
              <p:nvPr/>
            </p:nvGrpSpPr>
            <p:grpSpPr>
              <a:xfrm>
                <a:off x="649" y="920"/>
                <a:ext cx="356" cy="425"/>
                <a:chOff x="746" y="1419"/>
                <a:chExt cx="356" cy="592"/>
              </a:xfrm>
            </p:grpSpPr>
            <p:sp>
              <p:nvSpPr>
                <p:cNvPr id="10270" name="Line 29"/>
                <p:cNvSpPr/>
                <p:nvPr/>
              </p:nvSpPr>
              <p:spPr>
                <a:xfrm>
                  <a:off x="746" y="1419"/>
                  <a:ext cx="356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271" name="Line 30"/>
                <p:cNvSpPr/>
                <p:nvPr/>
              </p:nvSpPr>
              <p:spPr>
                <a:xfrm>
                  <a:off x="1102" y="1419"/>
                  <a:ext cx="0" cy="592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263" name="Line 31"/>
              <p:cNvSpPr/>
              <p:nvPr/>
            </p:nvSpPr>
            <p:spPr>
              <a:xfrm>
                <a:off x="1431" y="935"/>
                <a:ext cx="0" cy="41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4" name="Rectangle 32"/>
              <p:cNvSpPr/>
              <p:nvPr/>
            </p:nvSpPr>
            <p:spPr>
              <a:xfrm>
                <a:off x="2039" y="1004"/>
                <a:ext cx="318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5" name="Rectangle 33"/>
              <p:cNvSpPr/>
              <p:nvPr/>
            </p:nvSpPr>
            <p:spPr>
              <a:xfrm>
                <a:off x="739" y="1361"/>
                <a:ext cx="478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/2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6" name="Rectangle 34"/>
              <p:cNvSpPr/>
              <p:nvPr/>
            </p:nvSpPr>
            <p:spPr>
              <a:xfrm>
                <a:off x="1326" y="1358"/>
                <a:ext cx="371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0243" name="Object 35"/>
              <p:cNvGraphicFramePr/>
              <p:nvPr/>
            </p:nvGraphicFramePr>
            <p:xfrm>
              <a:off x="682" y="321"/>
              <a:ext cx="307" cy="3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7" name="" r:id="rId15" imgW="114300" imgH="215265" progId="Equation.3">
                      <p:embed/>
                    </p:oleObj>
                  </mc:Choice>
                  <mc:Fallback>
                    <p:oleObj name="" r:id="rId15" imgW="114300" imgH="215265" progId="Equation.3">
                      <p:embed/>
                      <p:pic>
                        <p:nvPicPr>
                          <p:cNvPr id="0" name="图片 3106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682" y="321"/>
                            <a:ext cx="307" cy="39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4" name="Object 36"/>
              <p:cNvGraphicFramePr/>
              <p:nvPr/>
            </p:nvGraphicFramePr>
            <p:xfrm>
              <a:off x="276" y="801"/>
              <a:ext cx="33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8" name="" r:id="rId17" imgW="165100" imgH="215900" progId="Equation.3">
                      <p:embed/>
                    </p:oleObj>
                  </mc:Choice>
                  <mc:Fallback>
                    <p:oleObj name="" r:id="rId17" imgW="165100" imgH="215900" progId="Equation.3">
                      <p:embed/>
                      <p:pic>
                        <p:nvPicPr>
                          <p:cNvPr id="0" name="图片 3107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76" y="801"/>
                            <a:ext cx="330" cy="29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0267" name="Group 37"/>
              <p:cNvGrpSpPr/>
              <p:nvPr/>
            </p:nvGrpSpPr>
            <p:grpSpPr>
              <a:xfrm>
                <a:off x="1431" y="937"/>
                <a:ext cx="356" cy="425"/>
                <a:chOff x="746" y="1419"/>
                <a:chExt cx="356" cy="592"/>
              </a:xfrm>
            </p:grpSpPr>
            <p:sp>
              <p:nvSpPr>
                <p:cNvPr id="10268" name="Line 38"/>
                <p:cNvSpPr/>
                <p:nvPr/>
              </p:nvSpPr>
              <p:spPr>
                <a:xfrm>
                  <a:off x="746" y="1419"/>
                  <a:ext cx="356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269" name="Line 39"/>
                <p:cNvSpPr/>
                <p:nvPr/>
              </p:nvSpPr>
              <p:spPr>
                <a:xfrm>
                  <a:off x="1102" y="1419"/>
                  <a:ext cx="0" cy="592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0259" name="Text Box 141"/>
            <p:cNvSpPr txBox="1"/>
            <p:nvPr/>
          </p:nvSpPr>
          <p:spPr>
            <a:xfrm>
              <a:off x="385" y="1570"/>
              <a:ext cx="5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8815" name="Object 143"/>
          <p:cNvGraphicFramePr/>
          <p:nvPr/>
        </p:nvGraphicFramePr>
        <p:xfrm>
          <a:off x="539750" y="3429000"/>
          <a:ext cx="818991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9" imgW="3632200" imgH="457200" progId="Equation.3">
                  <p:embed/>
                </p:oleObj>
              </mc:Choice>
              <mc:Fallback>
                <p:oleObj name="" r:id="rId19" imgW="3632200" imgH="457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3429000"/>
                        <a:ext cx="8189913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67" name="AutoShape 67" descr="羊皮纸"/>
          <p:cNvSpPr/>
          <p:nvPr/>
        </p:nvSpPr>
        <p:spPr>
          <a:xfrm>
            <a:off x="6588125" y="620713"/>
            <a:ext cx="2160588" cy="1008062"/>
          </a:xfrm>
          <a:prstGeom prst="wedgeRoundRectCallout">
            <a:avLst>
              <a:gd name="adj1" fmla="val -99375"/>
              <a:gd name="adj2" fmla="val 67167"/>
              <a:gd name="adj3" fmla="val 16667"/>
            </a:avLst>
          </a:prstGeom>
          <a:blipFill rotWithShape="1">
            <a:blip r:embed="rId1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矩形波的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幅度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频谱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1310" name="AutoShape 110" descr="羊皮纸"/>
          <p:cNvSpPr/>
          <p:nvPr/>
        </p:nvSpPr>
        <p:spPr>
          <a:xfrm>
            <a:off x="6443663" y="5157788"/>
            <a:ext cx="2160587" cy="1008062"/>
          </a:xfrm>
          <a:prstGeom prst="wedgeRoundRectCallout">
            <a:avLst>
              <a:gd name="adj1" fmla="val -114806"/>
              <a:gd name="adj2" fmla="val -11102"/>
              <a:gd name="adj3" fmla="val 16667"/>
            </a:avLst>
          </a:prstGeom>
          <a:blipFill rotWithShape="1">
            <a:blip r:embed="rId1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矩形波的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相位频谱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1273" name="Group 11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318" name="Picture 11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319" name="Text Box 11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274" name="Group 11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316" name="Picture 11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317" name="Text Box 11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275" name="Group 123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1314" name="Picture 12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315" name="Text Box 12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276" name="Group 126"/>
          <p:cNvGrpSpPr/>
          <p:nvPr/>
        </p:nvGrpSpPr>
        <p:grpSpPr>
          <a:xfrm>
            <a:off x="539750" y="549275"/>
            <a:ext cx="3303588" cy="2166938"/>
            <a:chOff x="261" y="583"/>
            <a:chExt cx="2081" cy="1365"/>
          </a:xfrm>
        </p:grpSpPr>
        <p:grpSp>
          <p:nvGrpSpPr>
            <p:cNvPr id="11300" name="Group 127"/>
            <p:cNvGrpSpPr/>
            <p:nvPr/>
          </p:nvGrpSpPr>
          <p:grpSpPr>
            <a:xfrm>
              <a:off x="261" y="583"/>
              <a:ext cx="2081" cy="1365"/>
              <a:chOff x="276" y="321"/>
              <a:chExt cx="2081" cy="1365"/>
            </a:xfrm>
          </p:grpSpPr>
          <p:sp>
            <p:nvSpPr>
              <p:cNvPr id="11302" name="Line 128"/>
              <p:cNvSpPr/>
              <p:nvPr/>
            </p:nvSpPr>
            <p:spPr>
              <a:xfrm>
                <a:off x="649" y="1360"/>
                <a:ext cx="1535" cy="0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1303" name="Line 129"/>
              <p:cNvSpPr/>
              <p:nvPr/>
            </p:nvSpPr>
            <p:spPr>
              <a:xfrm flipV="1">
                <a:off x="631" y="555"/>
                <a:ext cx="0" cy="819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grpSp>
            <p:nvGrpSpPr>
              <p:cNvPr id="11304" name="Group 130"/>
              <p:cNvGrpSpPr/>
              <p:nvPr/>
            </p:nvGrpSpPr>
            <p:grpSpPr>
              <a:xfrm>
                <a:off x="649" y="920"/>
                <a:ext cx="356" cy="425"/>
                <a:chOff x="746" y="1419"/>
                <a:chExt cx="356" cy="592"/>
              </a:xfrm>
            </p:grpSpPr>
            <p:sp>
              <p:nvSpPr>
                <p:cNvPr id="11312" name="Line 131"/>
                <p:cNvSpPr/>
                <p:nvPr/>
              </p:nvSpPr>
              <p:spPr>
                <a:xfrm>
                  <a:off x="746" y="1419"/>
                  <a:ext cx="356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13" name="Line 132"/>
                <p:cNvSpPr/>
                <p:nvPr/>
              </p:nvSpPr>
              <p:spPr>
                <a:xfrm>
                  <a:off x="1102" y="1419"/>
                  <a:ext cx="0" cy="592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1305" name="Line 133"/>
              <p:cNvSpPr/>
              <p:nvPr/>
            </p:nvSpPr>
            <p:spPr>
              <a:xfrm>
                <a:off x="1431" y="935"/>
                <a:ext cx="0" cy="41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06" name="Rectangle 134"/>
              <p:cNvSpPr/>
              <p:nvPr/>
            </p:nvSpPr>
            <p:spPr>
              <a:xfrm>
                <a:off x="2039" y="1004"/>
                <a:ext cx="318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07" name="Rectangle 135"/>
              <p:cNvSpPr/>
              <p:nvPr/>
            </p:nvSpPr>
            <p:spPr>
              <a:xfrm>
                <a:off x="739" y="1361"/>
                <a:ext cx="478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/2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08" name="Rectangle 136"/>
              <p:cNvSpPr/>
              <p:nvPr/>
            </p:nvSpPr>
            <p:spPr>
              <a:xfrm>
                <a:off x="1326" y="1358"/>
                <a:ext cx="371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1269" name="Object 137"/>
              <p:cNvGraphicFramePr/>
              <p:nvPr/>
            </p:nvGraphicFramePr>
            <p:xfrm>
              <a:off x="682" y="321"/>
              <a:ext cx="307" cy="3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4" name="" r:id="rId3" imgW="114300" imgH="215265" progId="Equation.3">
                      <p:embed/>
                    </p:oleObj>
                  </mc:Choice>
                  <mc:Fallback>
                    <p:oleObj name="" r:id="rId3" imgW="114300" imgH="215265" progId="Equation.3">
                      <p:embed/>
                      <p:pic>
                        <p:nvPicPr>
                          <p:cNvPr id="0" name="图片 3113"/>
                          <p:cNvPicPr/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682" y="321"/>
                            <a:ext cx="307" cy="39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70" name="Object 138"/>
              <p:cNvGraphicFramePr/>
              <p:nvPr/>
            </p:nvGraphicFramePr>
            <p:xfrm>
              <a:off x="276" y="801"/>
              <a:ext cx="33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" name="" r:id="rId5" imgW="165100" imgH="215900" progId="Equation.3">
                      <p:embed/>
                    </p:oleObj>
                  </mc:Choice>
                  <mc:Fallback>
                    <p:oleObj name="" r:id="rId5" imgW="165100" imgH="215900" progId="Equation.3">
                      <p:embed/>
                      <p:pic>
                        <p:nvPicPr>
                          <p:cNvPr id="0" name="图片 3110"/>
                          <p:cNvPicPr/>
                          <p:nvPr/>
                        </p:nvPicPr>
                        <p:blipFill>
                          <a:blip r:embed="rId6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76" y="801"/>
                            <a:ext cx="330" cy="29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309" name="Group 139"/>
              <p:cNvGrpSpPr/>
              <p:nvPr/>
            </p:nvGrpSpPr>
            <p:grpSpPr>
              <a:xfrm>
                <a:off x="1431" y="937"/>
                <a:ext cx="356" cy="425"/>
                <a:chOff x="746" y="1419"/>
                <a:chExt cx="356" cy="592"/>
              </a:xfrm>
            </p:grpSpPr>
            <p:sp>
              <p:nvSpPr>
                <p:cNvPr id="11310" name="Line 140"/>
                <p:cNvSpPr/>
                <p:nvPr/>
              </p:nvSpPr>
              <p:spPr>
                <a:xfrm>
                  <a:off x="746" y="1419"/>
                  <a:ext cx="356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311" name="Line 141"/>
                <p:cNvSpPr/>
                <p:nvPr/>
              </p:nvSpPr>
              <p:spPr>
                <a:xfrm>
                  <a:off x="1102" y="1419"/>
                  <a:ext cx="0" cy="592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1301" name="Text Box 142"/>
            <p:cNvSpPr txBox="1"/>
            <p:nvPr/>
          </p:nvSpPr>
          <p:spPr>
            <a:xfrm>
              <a:off x="385" y="1570"/>
              <a:ext cx="5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144"/>
          <p:cNvGrpSpPr/>
          <p:nvPr/>
        </p:nvGrpSpPr>
        <p:grpSpPr>
          <a:xfrm>
            <a:off x="3924300" y="333375"/>
            <a:ext cx="4679950" cy="2813050"/>
            <a:chOff x="2472" y="210"/>
            <a:chExt cx="2948" cy="1772"/>
          </a:xfrm>
        </p:grpSpPr>
        <p:grpSp>
          <p:nvGrpSpPr>
            <p:cNvPr id="11290" name="Group 93"/>
            <p:cNvGrpSpPr/>
            <p:nvPr/>
          </p:nvGrpSpPr>
          <p:grpSpPr>
            <a:xfrm>
              <a:off x="2472" y="210"/>
              <a:ext cx="2404" cy="1772"/>
              <a:chOff x="2517" y="210"/>
              <a:chExt cx="2404" cy="1772"/>
            </a:xfrm>
          </p:grpSpPr>
          <p:sp>
            <p:nvSpPr>
              <p:cNvPr id="11292" name="Line 57"/>
              <p:cNvSpPr/>
              <p:nvPr/>
            </p:nvSpPr>
            <p:spPr>
              <a:xfrm>
                <a:off x="2608" y="1661"/>
                <a:ext cx="2313" cy="0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1293" name="Line 58"/>
              <p:cNvSpPr/>
              <p:nvPr/>
            </p:nvSpPr>
            <p:spPr>
              <a:xfrm flipV="1">
                <a:off x="2744" y="346"/>
                <a:ext cx="0" cy="1496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11268" name="Object 59">
                <a:hlinkClick r:id="" action="ppaction://ole?verb="/>
              </p:cNvPr>
              <p:cNvGraphicFramePr/>
              <p:nvPr/>
            </p:nvGraphicFramePr>
            <p:xfrm>
              <a:off x="2888" y="1614"/>
              <a:ext cx="1799" cy="3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3" name="" r:id="rId7" imgW="1510665" imgH="241300" progId="Equation.3">
                      <p:embed/>
                    </p:oleObj>
                  </mc:Choice>
                  <mc:Fallback>
                    <p:oleObj name="" r:id="rId7" imgW="1510665" imgH="241300" progId="Equation.3">
                      <p:embed/>
                      <p:pic>
                        <p:nvPicPr>
                          <p:cNvPr id="0" name="图片 3112"/>
                          <p:cNvPicPr/>
                          <p:nvPr/>
                        </p:nvPicPr>
                        <p:blipFill>
                          <a:blip r:embed="rId8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888" y="1614"/>
                            <a:ext cx="1799" cy="3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94" name="Line 60"/>
              <p:cNvSpPr/>
              <p:nvPr/>
            </p:nvSpPr>
            <p:spPr>
              <a:xfrm>
                <a:off x="3061" y="572"/>
                <a:ext cx="0" cy="1089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5" name="Line 61"/>
              <p:cNvSpPr/>
              <p:nvPr/>
            </p:nvSpPr>
            <p:spPr>
              <a:xfrm>
                <a:off x="3515" y="1253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6" name="Line 62"/>
              <p:cNvSpPr/>
              <p:nvPr/>
            </p:nvSpPr>
            <p:spPr>
              <a:xfrm>
                <a:off x="3969" y="1434"/>
                <a:ext cx="0" cy="227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7" name="Line 63"/>
              <p:cNvSpPr/>
              <p:nvPr/>
            </p:nvSpPr>
            <p:spPr>
              <a:xfrm>
                <a:off x="4468" y="1480"/>
                <a:ext cx="0" cy="181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8" name="Text Box 64"/>
              <p:cNvSpPr txBox="1"/>
              <p:nvPr/>
            </p:nvSpPr>
            <p:spPr>
              <a:xfrm>
                <a:off x="2744" y="210"/>
                <a:ext cx="63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A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k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m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11299" name="Text Box 65"/>
              <p:cNvSpPr txBox="1"/>
              <p:nvPr/>
            </p:nvSpPr>
            <p:spPr>
              <a:xfrm>
                <a:off x="2517" y="1616"/>
                <a:ext cx="45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O</a:t>
                </a:r>
                <a:endParaRPr lang="en-US" altLang="zh-CN" sz="20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  <p:sp>
          <p:nvSpPr>
            <p:cNvPr id="11291" name="Text Box 143"/>
            <p:cNvSpPr txBox="1"/>
            <p:nvPr/>
          </p:nvSpPr>
          <p:spPr>
            <a:xfrm>
              <a:off x="4921" y="1480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11266" name="Object 145"/>
          <p:cNvGraphicFramePr/>
          <p:nvPr/>
        </p:nvGraphicFramePr>
        <p:xfrm>
          <a:off x="539750" y="3068638"/>
          <a:ext cx="8189913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9" imgW="3632200" imgH="457200" progId="Equation.3">
                  <p:embed/>
                </p:oleObj>
              </mc:Choice>
              <mc:Fallback>
                <p:oleObj name="" r:id="rId9" imgW="3632200" imgH="4572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3068638"/>
                        <a:ext cx="8189913" cy="1008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47"/>
          <p:cNvGrpSpPr/>
          <p:nvPr/>
        </p:nvGrpSpPr>
        <p:grpSpPr>
          <a:xfrm>
            <a:off x="1258888" y="4005263"/>
            <a:ext cx="4967287" cy="2589212"/>
            <a:chOff x="793" y="2523"/>
            <a:chExt cx="3129" cy="1631"/>
          </a:xfrm>
        </p:grpSpPr>
        <p:sp>
          <p:nvSpPr>
            <p:cNvPr id="11279" name="Line 95"/>
            <p:cNvSpPr/>
            <p:nvPr/>
          </p:nvSpPr>
          <p:spPr>
            <a:xfrm>
              <a:off x="1246" y="3157"/>
              <a:ext cx="2313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80" name="Line 96"/>
            <p:cNvSpPr/>
            <p:nvPr/>
          </p:nvSpPr>
          <p:spPr>
            <a:xfrm flipV="1">
              <a:off x="1382" y="2658"/>
              <a:ext cx="0" cy="1496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1267" name="Object 97">
              <a:hlinkClick r:id="" action="ppaction://ole?verb="/>
            </p:cNvPr>
            <p:cNvGraphicFramePr/>
            <p:nvPr/>
          </p:nvGraphicFramePr>
          <p:xfrm>
            <a:off x="1564" y="2840"/>
            <a:ext cx="172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11" imgW="1510665" imgH="241300" progId="Equation.3">
                    <p:embed/>
                  </p:oleObj>
                </mc:Choice>
                <mc:Fallback>
                  <p:oleObj name="" r:id="rId11" imgW="1510665" imgH="2413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64" y="2840"/>
                          <a:ext cx="1724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1" name="Line 98"/>
            <p:cNvSpPr/>
            <p:nvPr/>
          </p:nvSpPr>
          <p:spPr>
            <a:xfrm>
              <a:off x="1700" y="3157"/>
              <a:ext cx="0" cy="635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2" name="Line 99"/>
            <p:cNvSpPr/>
            <p:nvPr/>
          </p:nvSpPr>
          <p:spPr>
            <a:xfrm>
              <a:off x="2153" y="3157"/>
              <a:ext cx="0" cy="635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3" name="Line 100"/>
            <p:cNvSpPr/>
            <p:nvPr/>
          </p:nvSpPr>
          <p:spPr>
            <a:xfrm>
              <a:off x="2607" y="3157"/>
              <a:ext cx="0" cy="635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4" name="Line 101"/>
            <p:cNvSpPr/>
            <p:nvPr/>
          </p:nvSpPr>
          <p:spPr>
            <a:xfrm>
              <a:off x="3106" y="3157"/>
              <a:ext cx="0" cy="635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5" name="Text Box 102"/>
            <p:cNvSpPr txBox="1"/>
            <p:nvPr/>
          </p:nvSpPr>
          <p:spPr>
            <a:xfrm>
              <a:off x="3287" y="3112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  <a:buNone/>
              </a:pPr>
              <a:r>
                <a:rPr lang="el-GR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kω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1286" name="Text Box 103"/>
            <p:cNvSpPr txBox="1"/>
            <p:nvPr/>
          </p:nvSpPr>
          <p:spPr>
            <a:xfrm>
              <a:off x="1155" y="3112"/>
              <a:ext cx="4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</a:t>
              </a:r>
              <a:endParaRPr lang="en-US" altLang="zh-CN" sz="20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1287" name="Text Box 104"/>
            <p:cNvSpPr txBox="1"/>
            <p:nvPr/>
          </p:nvSpPr>
          <p:spPr>
            <a:xfrm>
              <a:off x="793" y="3611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  <a:buNone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-</a:t>
              </a:r>
              <a:r>
                <a:rPr lang="el-GR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π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/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l-GR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1288" name="Line 105"/>
            <p:cNvSpPr/>
            <p:nvPr/>
          </p:nvSpPr>
          <p:spPr>
            <a:xfrm>
              <a:off x="1382" y="3792"/>
              <a:ext cx="186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1289" name="Text Box 146"/>
            <p:cNvSpPr txBox="1"/>
            <p:nvPr/>
          </p:nvSpPr>
          <p:spPr>
            <a:xfrm>
              <a:off x="1383" y="2523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5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5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7" grpId="0" animBg="1"/>
      <p:bldP spid="513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269" name="Object 5"/>
          <p:cNvGraphicFramePr/>
          <p:nvPr/>
        </p:nvGraphicFramePr>
        <p:xfrm>
          <a:off x="900113" y="2708275"/>
          <a:ext cx="689768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2487295" imgH="317500" progId="Equation.3">
                  <p:embed/>
                </p:oleObj>
              </mc:Choice>
              <mc:Fallback>
                <p:oleObj name="" r:id="rId1" imgW="2487295" imgH="3175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2708275"/>
                        <a:ext cx="6897687" cy="823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" name="Rectangle 20"/>
          <p:cNvSpPr/>
          <p:nvPr/>
        </p:nvSpPr>
        <p:spPr>
          <a:xfrm>
            <a:off x="468313" y="506413"/>
            <a:ext cx="8497887" cy="701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13-3</a:t>
            </a:r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</a:rPr>
              <a:t>有效值、平均值和平均功率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1286" name="Text Box 22"/>
          <p:cNvSpPr txBox="1"/>
          <p:nvPr/>
        </p:nvSpPr>
        <p:spPr>
          <a:xfrm>
            <a:off x="539750" y="1341438"/>
            <a:ext cx="43211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三角函数的性质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2294" name="Rectangle 23"/>
          <p:cNvSpPr/>
          <p:nvPr/>
        </p:nvSpPr>
        <p:spPr>
          <a:xfrm flipV="1">
            <a:off x="611188" y="2132013"/>
            <a:ext cx="7129462" cy="457200"/>
          </a:xfrm>
          <a:prstGeom prst="rect">
            <a:avLst/>
          </a:prstGeom>
          <a:noFill/>
          <a:ln w="9525">
            <a:noFill/>
          </a:ln>
        </p:spPr>
        <p:txBody>
          <a:bodyPr rot="10800000" lIns="92075" tIns="46038" rIns="92075" bIns="46038" anchor="ctr" anchorCtr="0"/>
          <a:p>
            <a:pPr marL="342900" indent="-342900" eaLnBrk="0" hangingPunct="0"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正弦、余弦信号一个周期内的积分为</a:t>
            </a:r>
            <a:r>
              <a:rPr lang="en-US" altLang="zh-CN" b="0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11289" name="AutoShape 25" descr="羊皮纸"/>
          <p:cNvSpPr/>
          <p:nvPr/>
        </p:nvSpPr>
        <p:spPr>
          <a:xfrm>
            <a:off x="7164388" y="3716338"/>
            <a:ext cx="1295400" cy="576262"/>
          </a:xfrm>
          <a:prstGeom prst="wedgeRoundRectCallout">
            <a:avLst>
              <a:gd name="adj1" fmla="val -132352"/>
              <a:gd name="adj2" fmla="val -121352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>
              <a:spcBef>
                <a:spcPct val="50000"/>
              </a:spcBef>
            </a:pP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整数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12296" name="Rectangle 26"/>
          <p:cNvSpPr/>
          <p:nvPr/>
        </p:nvSpPr>
        <p:spPr>
          <a:xfrm flipV="1">
            <a:off x="611188" y="3789363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 rot="10800000" lIns="92075" tIns="46038" rIns="92075" bIns="46038" anchor="ctr" anchorCtr="0"/>
          <a:p>
            <a:pPr marL="342900" indent="-342900" eaLnBrk="0" hangingPunct="0">
              <a:buAutoNum type="circleNumDbPlain" startAt="2"/>
            </a:pP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en-US" altLang="zh-CN" b="0" dirty="0">
                <a:latin typeface="Times New Roman" panose="02020603050405020304" pitchFamily="18" charset="0"/>
              </a:rPr>
              <a:t>sin</a:t>
            </a:r>
            <a:r>
              <a:rPr lang="en-US" altLang="zh-CN" b="0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b="0" dirty="0">
                <a:latin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</a:rPr>
              <a:t>cos</a:t>
            </a:r>
            <a:r>
              <a:rPr lang="en-US" altLang="zh-CN" b="0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在一个周期内的积分为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zh-CN" altLang="en-US" dirty="0">
                <a:latin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11291" name="Object 27"/>
          <p:cNvGraphicFramePr/>
          <p:nvPr/>
        </p:nvGraphicFramePr>
        <p:xfrm>
          <a:off x="900113" y="4508500"/>
          <a:ext cx="723423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4" imgW="2664460" imgH="317500" progId="Equation.3">
                  <p:embed/>
                </p:oleObj>
              </mc:Choice>
              <mc:Fallback>
                <p:oleObj name="" r:id="rId4" imgW="2664460" imgH="3175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4508500"/>
                        <a:ext cx="7234237" cy="865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7" name="Group 4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304" name="Picture 45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5" name="Text Box 4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298" name="Group 4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302" name="Picture 48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3" name="Text Box 4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299" name="Group 53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2300" name="Picture 54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1" name="Text Box 5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8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8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" grpId="0" build="p"/>
      <p:bldP spid="11286" grpId="0"/>
      <p:bldP spid="12294" grpId="0"/>
      <p:bldP spid="11289" grpId="0" animBg="1"/>
      <p:bldP spid="1229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266" name="Object 26"/>
          <p:cNvGraphicFramePr/>
          <p:nvPr/>
        </p:nvGraphicFramePr>
        <p:xfrm>
          <a:off x="1281113" y="1228725"/>
          <a:ext cx="5883275" cy="247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2070100" imgH="927100" progId="Equation.3">
                  <p:embed/>
                </p:oleObj>
              </mc:Choice>
              <mc:Fallback>
                <p:oleObj name="" r:id="rId1" imgW="2070100" imgH="9271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81113" y="1228725"/>
                        <a:ext cx="5883275" cy="2478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7" name="Object 27" descr="蓝色面巾纸"/>
          <p:cNvGraphicFramePr/>
          <p:nvPr/>
        </p:nvGraphicFramePr>
        <p:xfrm>
          <a:off x="3132138" y="3644900"/>
          <a:ext cx="1520825" cy="1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469900" imgH="584200" progId="Equation.3">
                  <p:embed/>
                </p:oleObj>
              </mc:Choice>
              <mc:Fallback>
                <p:oleObj name="" r:id="rId3" imgW="469900" imgH="5842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2138" y="3644900"/>
                        <a:ext cx="1520825" cy="1792288"/>
                      </a:xfrm>
                      <a:prstGeom prst="rect">
                        <a:avLst/>
                      </a:prstGeom>
                      <a:blipFill rotWithShape="1">
                        <a:blip r:embed="rId5"/>
                      </a:blip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" name="Rectangle 41"/>
          <p:cNvSpPr/>
          <p:nvPr/>
        </p:nvSpPr>
        <p:spPr>
          <a:xfrm>
            <a:off x="827088" y="620713"/>
            <a:ext cx="37560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342900" indent="-342900">
              <a:buAutoNum type="circleNumDbPlain" startAt="3"/>
            </a:pPr>
            <a:r>
              <a:rPr lang="zh-CN" altLang="en-US" dirty="0">
                <a:latin typeface="Arial" panose="020B0604020202020204" pitchFamily="34" charset="0"/>
              </a:rPr>
              <a:t>三角函数的正交性。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317" name="Group 4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324" name="Picture 46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5" name="Text Box 4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318" name="Group 4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322" name="Picture 49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3" name="Text Box 5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319" name="Group 54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3320" name="Picture 55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1" name="Text Box 5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20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 Box 2"/>
          <p:cNvSpPr txBox="1"/>
          <p:nvPr/>
        </p:nvSpPr>
        <p:spPr>
          <a:xfrm>
            <a:off x="611188" y="549275"/>
            <a:ext cx="5905500" cy="579438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2.</a:t>
            </a: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非正弦周期函数的有效值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7172" name="Object 4"/>
          <p:cNvGraphicFramePr/>
          <p:nvPr/>
        </p:nvGraphicFramePr>
        <p:xfrm>
          <a:off x="1603375" y="1282700"/>
          <a:ext cx="536257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" imgW="2107565" imgH="431800" progId="Equation.3">
                  <p:embed/>
                </p:oleObj>
              </mc:Choice>
              <mc:Fallback>
                <p:oleObj name="" r:id="rId1" imgW="2107565" imgH="4318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03375" y="1282700"/>
                        <a:ext cx="5362575" cy="1052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5"/>
          <p:cNvSpPr txBox="1"/>
          <p:nvPr/>
        </p:nvSpPr>
        <p:spPr>
          <a:xfrm>
            <a:off x="684213" y="1484313"/>
            <a:ext cx="590550" cy="5191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5" name="Text Box 7"/>
          <p:cNvSpPr txBox="1"/>
          <p:nvPr/>
        </p:nvSpPr>
        <p:spPr>
          <a:xfrm>
            <a:off x="684213" y="2420938"/>
            <a:ext cx="2025650" cy="5191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则有效值</a:t>
            </a:r>
            <a:r>
              <a:rPr lang="en-US" altLang="zh-CN" dirty="0">
                <a:latin typeface="楷体_GB2312" pitchFamily="49" charset="-122"/>
              </a:rPr>
              <a:t>:</a:t>
            </a:r>
            <a:endParaRPr lang="en-US" altLang="zh-CN" dirty="0">
              <a:latin typeface="楷体_GB2312" pitchFamily="49" charset="-122"/>
            </a:endParaRPr>
          </a:p>
        </p:txBody>
      </p:sp>
      <p:graphicFrame>
        <p:nvGraphicFramePr>
          <p:cNvPr id="7176" name="Object 8"/>
          <p:cNvGraphicFramePr/>
          <p:nvPr/>
        </p:nvGraphicFramePr>
        <p:xfrm>
          <a:off x="1039813" y="2895600"/>
          <a:ext cx="6705600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3" imgW="2743200" imgH="1028700" progId="Equation.3">
                  <p:embed/>
                </p:oleObj>
              </mc:Choice>
              <mc:Fallback>
                <p:oleObj name="" r:id="rId3" imgW="2743200" imgH="10287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39813" y="2895600"/>
                        <a:ext cx="6705600" cy="241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3" name="Group 2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350" name="Picture 26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51" name="Text Box 2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4344" name="Group 2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348" name="Picture 2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9" name="Text Box 3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4345" name="Group 34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4346" name="Picture 35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7" name="Text Box 3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3" grpId="0"/>
      <p:bldP spid="717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362" name="Object 6"/>
          <p:cNvGraphicFramePr/>
          <p:nvPr/>
        </p:nvGraphicFramePr>
        <p:xfrm>
          <a:off x="971550" y="476250"/>
          <a:ext cx="649922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2741930" imgH="533400" progId="Equation.3">
                  <p:embed/>
                </p:oleObj>
              </mc:Choice>
              <mc:Fallback>
                <p:oleObj name="" r:id="rId1" imgW="2741930" imgH="5334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476250"/>
                        <a:ext cx="6499225" cy="1216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5" name="Object 13"/>
          <p:cNvGraphicFramePr/>
          <p:nvPr/>
        </p:nvGraphicFramePr>
        <p:xfrm>
          <a:off x="1301750" y="2708275"/>
          <a:ext cx="51736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2145665" imgH="444500" progId="Equation.3">
                  <p:embed/>
                </p:oleObj>
              </mc:Choice>
              <mc:Fallback>
                <p:oleObj name="" r:id="rId3" imgW="2145665" imgH="4445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01750" y="2708275"/>
                        <a:ext cx="5173663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6" name="Object 14"/>
          <p:cNvGraphicFramePr/>
          <p:nvPr/>
        </p:nvGraphicFramePr>
        <p:xfrm>
          <a:off x="1331913" y="1700213"/>
          <a:ext cx="2808287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5" imgW="1180465" imgH="444500" progId="Equation.3">
                  <p:embed/>
                </p:oleObj>
              </mc:Choice>
              <mc:Fallback>
                <p:oleObj name="" r:id="rId5" imgW="1180465" imgH="4445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1700213"/>
                        <a:ext cx="2808287" cy="995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7" name="Object 15"/>
          <p:cNvGraphicFramePr/>
          <p:nvPr/>
        </p:nvGraphicFramePr>
        <p:xfrm>
          <a:off x="1244600" y="3789363"/>
          <a:ext cx="4783138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7" imgW="1993265" imgH="444500" progId="Equation.3">
                  <p:embed/>
                </p:oleObj>
              </mc:Choice>
              <mc:Fallback>
                <p:oleObj name="" r:id="rId7" imgW="1993265" imgH="4445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44600" y="3789363"/>
                        <a:ext cx="4783138" cy="1001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8" name="Object 16"/>
          <p:cNvGraphicFramePr/>
          <p:nvPr/>
        </p:nvGraphicFramePr>
        <p:xfrm>
          <a:off x="684213" y="4724400"/>
          <a:ext cx="7974012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9" imgW="3249930" imgH="444500" progId="Equation.3">
                  <p:embed/>
                </p:oleObj>
              </mc:Choice>
              <mc:Fallback>
                <p:oleObj name="" r:id="rId9" imgW="3249930" imgH="4445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4724400"/>
                        <a:ext cx="7974012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9" name="Object 17"/>
          <p:cNvGraphicFramePr/>
          <p:nvPr/>
        </p:nvGraphicFramePr>
        <p:xfrm>
          <a:off x="3419475" y="5734050"/>
          <a:ext cx="120491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1" imgW="520700" imgH="241300" progId="Equation.3">
                  <p:embed/>
                </p:oleObj>
              </mc:Choice>
              <mc:Fallback>
                <p:oleObj name="" r:id="rId11" imgW="520700" imgH="2413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9475" y="5734050"/>
                        <a:ext cx="1204913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8" name="Group 2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375" name="Picture 22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76" name="Text Box 2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5369" name="Group 2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373" name="Picture 25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74" name="Text Box 2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5370" name="Group 30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5371" name="Picture 31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72" name="Text Box 3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20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20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20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9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9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794" name="Object 2"/>
          <p:cNvGraphicFramePr/>
          <p:nvPr/>
        </p:nvGraphicFramePr>
        <p:xfrm>
          <a:off x="1763713" y="476250"/>
          <a:ext cx="4392612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1346200" imgH="508000" progId="Equation.3">
                  <p:embed/>
                </p:oleObj>
              </mc:Choice>
              <mc:Fallback>
                <p:oleObj name="" r:id="rId1" imgW="1346200" imgH="5080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476250"/>
                        <a:ext cx="4392612" cy="1319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Text Box 3"/>
          <p:cNvSpPr txBox="1"/>
          <p:nvPr/>
        </p:nvSpPr>
        <p:spPr>
          <a:xfrm>
            <a:off x="1619250" y="3141663"/>
            <a:ext cx="6551613" cy="1203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</a:pPr>
            <a:r>
              <a:rPr lang="en-US" altLang="zh-CN" dirty="0">
                <a:latin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</a:rPr>
              <a:t>周期函数的有效值为直流分量及各次谐波分量有效值平方和的方根。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33797" name="Object 5"/>
          <p:cNvGraphicFramePr/>
          <p:nvPr/>
        </p:nvGraphicFramePr>
        <p:xfrm>
          <a:off x="1116013" y="1989138"/>
          <a:ext cx="687546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3" imgW="2042795" imgH="304800" progId="Equation.3">
                  <p:embed/>
                </p:oleObj>
              </mc:Choice>
              <mc:Fallback>
                <p:oleObj name="" r:id="rId3" imgW="2042795" imgH="3048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1989138"/>
                        <a:ext cx="6875462" cy="96043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99FF"/>
                          </a:gs>
                          <a:gs pos="50000">
                            <a:schemeClr val="bg1"/>
                          </a:gs>
                          <a:gs pos="100000">
                            <a:srgbClr val="3399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/>
          <p:nvPr/>
        </p:nvGrpSpPr>
        <p:grpSpPr>
          <a:xfrm>
            <a:off x="539750" y="3070225"/>
            <a:ext cx="1644650" cy="850900"/>
            <a:chOff x="385" y="3022"/>
            <a:chExt cx="1036" cy="536"/>
          </a:xfrm>
        </p:grpSpPr>
        <p:pic>
          <p:nvPicPr>
            <p:cNvPr id="16399" name="Picture 21" descr="1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00" name="Text Box 22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6390" name="Group 2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397" name="Picture 27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98" name="Text Box 2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6391" name="Group 2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395" name="Picture 30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96" name="Text Box 3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6392" name="Group 3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6393" name="Picture 36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94" name="Text Box 3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20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684213" y="549275"/>
            <a:ext cx="5491162" cy="579438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3.</a:t>
            </a: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非正弦周期函数的平均值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32774" name="Object 6"/>
          <p:cNvGraphicFramePr/>
          <p:nvPr/>
        </p:nvGraphicFramePr>
        <p:xfrm>
          <a:off x="2987675" y="2276475"/>
          <a:ext cx="4837113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" imgW="1396365" imgH="444500" progId="Equation.3">
                  <p:embed/>
                </p:oleObj>
              </mc:Choice>
              <mc:Fallback>
                <p:oleObj name="" r:id="rId1" imgW="1396365" imgH="4445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87675" y="2276475"/>
                        <a:ext cx="4837113" cy="11715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99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Text Box 8"/>
          <p:cNvSpPr txBox="1"/>
          <p:nvPr/>
        </p:nvSpPr>
        <p:spPr>
          <a:xfrm>
            <a:off x="611188" y="2636838"/>
            <a:ext cx="2819400" cy="5191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其直流值为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2795" name="Object 27"/>
          <p:cNvGraphicFramePr/>
          <p:nvPr/>
        </p:nvGraphicFramePr>
        <p:xfrm>
          <a:off x="1676400" y="1211263"/>
          <a:ext cx="5362575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3" imgW="2107565" imgH="431800" progId="Equation.3">
                  <p:embed/>
                </p:oleObj>
              </mc:Choice>
              <mc:Fallback>
                <p:oleObj name="" r:id="rId3" imgW="2107565" imgH="4318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76400" y="1211263"/>
                        <a:ext cx="5362575" cy="1052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6" name="Text Box 28"/>
          <p:cNvSpPr txBox="1"/>
          <p:nvPr/>
        </p:nvSpPr>
        <p:spPr>
          <a:xfrm>
            <a:off x="755650" y="1412875"/>
            <a:ext cx="590550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797" name="Text Box 29"/>
          <p:cNvSpPr txBox="1"/>
          <p:nvPr/>
        </p:nvSpPr>
        <p:spPr>
          <a:xfrm>
            <a:off x="611188" y="3716338"/>
            <a:ext cx="2819400" cy="5191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其平均值为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2798" name="Object 30"/>
          <p:cNvGraphicFramePr/>
          <p:nvPr/>
        </p:nvGraphicFramePr>
        <p:xfrm>
          <a:off x="2987675" y="3573463"/>
          <a:ext cx="4824413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5" imgW="1243965" imgH="444500" progId="Equation.3">
                  <p:embed/>
                </p:oleObj>
              </mc:Choice>
              <mc:Fallback>
                <p:oleObj name="" r:id="rId5" imgW="1243965" imgH="4445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87675" y="3573463"/>
                        <a:ext cx="4824413" cy="13112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99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9" name="Text Box 31"/>
          <p:cNvSpPr txBox="1"/>
          <p:nvPr/>
        </p:nvSpPr>
        <p:spPr>
          <a:xfrm>
            <a:off x="684213" y="4941888"/>
            <a:ext cx="4032250" cy="5191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正弦量的平均值为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2800" name="Object 32"/>
          <p:cNvGraphicFramePr/>
          <p:nvPr/>
        </p:nvGraphicFramePr>
        <p:xfrm>
          <a:off x="1757363" y="5373688"/>
          <a:ext cx="55705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7" imgW="2310130" imgH="444500" progId="Equation.3">
                  <p:embed/>
                </p:oleObj>
              </mc:Choice>
              <mc:Fallback>
                <p:oleObj name="" r:id="rId7" imgW="2310130" imgH="4445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57363" y="5373688"/>
                        <a:ext cx="5570537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9" name="Group 3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426" name="Picture 37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7" name="Text Box 3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7420" name="Group 3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424" name="Picture 4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5" name="Text Box 4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7421" name="Group 4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7422" name="Picture 46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3" name="Text Box 4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20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3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3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3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20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6" grpId="0"/>
      <p:bldP spid="32796" grpId="0"/>
      <p:bldP spid="32797" grpId="0"/>
      <p:bldP spid="3279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/>
          <p:nvPr/>
        </p:nvSpPr>
        <p:spPr>
          <a:xfrm>
            <a:off x="539750" y="476250"/>
            <a:ext cx="6696075" cy="579438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4.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非正弦周期交流电路的平均功率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9219" name="Object 3">
            <a:hlinkClick r:id="" action="ppaction://ole?verb="/>
          </p:cNvPr>
          <p:cNvGraphicFramePr/>
          <p:nvPr/>
        </p:nvGraphicFramePr>
        <p:xfrm>
          <a:off x="1116013" y="2924175"/>
          <a:ext cx="318770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" imgW="1015365" imgH="444500" progId="Equation.3">
                  <p:embed/>
                </p:oleObj>
              </mc:Choice>
              <mc:Fallback>
                <p:oleObj name="" r:id="rId1" imgW="1015365" imgH="4445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2924175"/>
                        <a:ext cx="3187700" cy="1214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/>
          <p:cNvGraphicFramePr/>
          <p:nvPr/>
        </p:nvGraphicFramePr>
        <p:xfrm>
          <a:off x="1187450" y="1066800"/>
          <a:ext cx="6192838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" imgW="2284730" imgH="431800" progId="Equation.3">
                  <p:embed/>
                </p:oleObj>
              </mc:Choice>
              <mc:Fallback>
                <p:oleObj name="" r:id="rId3" imgW="2284730" imgH="4318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1066800"/>
                        <a:ext cx="6192838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6"/>
          <p:cNvGraphicFramePr/>
          <p:nvPr/>
        </p:nvGraphicFramePr>
        <p:xfrm>
          <a:off x="1169988" y="1931988"/>
          <a:ext cx="601345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5" imgW="2132965" imgH="431800" progId="Equation.3">
                  <p:embed/>
                </p:oleObj>
              </mc:Choice>
              <mc:Fallback>
                <p:oleObj name="" r:id="rId5" imgW="2132965" imgH="4318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69988" y="1931988"/>
                        <a:ext cx="6013450" cy="1052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AutoShape 7"/>
          <p:cNvSpPr/>
          <p:nvPr/>
        </p:nvSpPr>
        <p:spPr>
          <a:xfrm>
            <a:off x="827088" y="1341438"/>
            <a:ext cx="288925" cy="1439862"/>
          </a:xfrm>
          <a:prstGeom prst="leftBrace">
            <a:avLst>
              <a:gd name="adj1" fmla="val 41529"/>
              <a:gd name="adj2" fmla="val 50000"/>
            </a:avLst>
          </a:prstGeom>
          <a:noFill/>
          <a:ln w="28575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9224" name="Text Box 8"/>
          <p:cNvSpPr txBox="1"/>
          <p:nvPr/>
        </p:nvSpPr>
        <p:spPr>
          <a:xfrm>
            <a:off x="933450" y="4076700"/>
            <a:ext cx="44704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利用三角函数的正交性，得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25" name="Object 9">
            <a:hlinkClick r:id="" action="ppaction://ole?verb="/>
          </p:cNvPr>
          <p:cNvGraphicFramePr/>
          <p:nvPr/>
        </p:nvGraphicFramePr>
        <p:xfrm>
          <a:off x="827088" y="4581525"/>
          <a:ext cx="7488237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7" imgW="3046730" imgH="673100" progId="Equation.3">
                  <p:embed/>
                </p:oleObj>
              </mc:Choice>
              <mc:Fallback>
                <p:oleObj name="" r:id="rId7" imgW="3046730" imgH="6731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4581525"/>
                        <a:ext cx="7488237" cy="1584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1" name="Group 2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448" name="Picture 27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9" name="Text Box 2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442" name="Group 2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446" name="Picture 3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7" name="Text Box 3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443" name="Group 3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8444" name="Picture 36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5" name="Text Box 3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20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23" grpId="0" animBg="1"/>
      <p:bldP spid="92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/>
          <p:nvPr/>
        </p:nvSpPr>
        <p:spPr>
          <a:xfrm>
            <a:off x="590550" y="2349500"/>
            <a:ext cx="8553450" cy="51593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平均功率＝直流分量的功率＋各次谐波的平均功率                              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34819" name="Object 3">
            <a:hlinkClick r:id="" action="ppaction://ole?verb="/>
          </p:cNvPr>
          <p:cNvGraphicFramePr/>
          <p:nvPr/>
        </p:nvGraphicFramePr>
        <p:xfrm>
          <a:off x="1038225" y="712788"/>
          <a:ext cx="73501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" imgW="2552700" imgH="228600" progId="Equation.DSMT4">
                  <p:embed/>
                </p:oleObj>
              </mc:Choice>
              <mc:Fallback>
                <p:oleObj name="" r:id="rId1" imgW="2552700" imgH="2286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38225" y="712788"/>
                        <a:ext cx="7350125" cy="8445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99FF"/>
                          </a:gs>
                          <a:gs pos="50000">
                            <a:schemeClr val="bg1"/>
                          </a:gs>
                          <a:gs pos="100000">
                            <a:srgbClr val="3399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/>
          <p:cNvSpPr txBox="1"/>
          <p:nvPr/>
        </p:nvSpPr>
        <p:spPr>
          <a:xfrm>
            <a:off x="822325" y="244475"/>
            <a:ext cx="1841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endParaRPr lang="zh-CN" altLang="zh-CN" sz="32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684213" y="1628775"/>
            <a:ext cx="1644650" cy="850900"/>
            <a:chOff x="385" y="3022"/>
            <a:chExt cx="1036" cy="536"/>
          </a:xfrm>
        </p:grpSpPr>
        <p:pic>
          <p:nvPicPr>
            <p:cNvPr id="19471" name="Picture 21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72" name="Text Box 22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9462" name="Group 2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9469" name="Picture 30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70" name="Text Box 3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463" name="Group 3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9467" name="Picture 33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8" name="Text Box 3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464" name="Group 3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9465" name="Picture 39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6" name="Text Box 4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4818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818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818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88" name="Rectangle 12"/>
          <p:cNvSpPr/>
          <p:nvPr/>
        </p:nvSpPr>
        <p:spPr>
          <a:xfrm>
            <a:off x="0" y="476250"/>
            <a:ext cx="9072563" cy="7016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 algn="ctr" eaLnBrk="0" hangingPunct="0"/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13-4</a:t>
            </a:r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</a:rPr>
              <a:t>非正弦周期电流电路</a:t>
            </a:r>
            <a:r>
              <a:rPr lang="zh-CN" altLang="zh-CN" sz="4000" dirty="0">
                <a:solidFill>
                  <a:schemeClr val="bg1"/>
                </a:solidFill>
                <a:latin typeface="楷体_GB2312" pitchFamily="49" charset="-122"/>
              </a:rPr>
              <a:t>的计算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24589" name="Text Box 13"/>
          <p:cNvSpPr txBox="1"/>
          <p:nvPr/>
        </p:nvSpPr>
        <p:spPr>
          <a:xfrm>
            <a:off x="755650" y="1327150"/>
            <a:ext cx="3311525" cy="579438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计算步骤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24590" name="Text Box 14"/>
          <p:cNvSpPr txBox="1"/>
          <p:nvPr/>
        </p:nvSpPr>
        <p:spPr>
          <a:xfrm>
            <a:off x="539750" y="3167063"/>
            <a:ext cx="8135938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对各次谐波分别应用相量法计算。（注意</a:t>
            </a:r>
            <a:r>
              <a:rPr lang="en-US" altLang="zh-CN" dirty="0">
                <a:latin typeface="楷体_GB2312" pitchFamily="49" charset="-122"/>
              </a:rPr>
              <a:t>:</a:t>
            </a:r>
            <a:r>
              <a:rPr lang="zh-CN" altLang="en-US" dirty="0">
                <a:latin typeface="楷体_GB2312" pitchFamily="49" charset="-122"/>
              </a:rPr>
              <a:t>交流各谐波的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楷体_GB2312" pitchFamily="49" charset="-122"/>
              </a:rPr>
              <a:t>不同，对直流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i="1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相当于开路、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 </a:t>
            </a:r>
            <a:r>
              <a:rPr lang="zh-CN" altLang="en-US" dirty="0">
                <a:latin typeface="楷体_GB2312" pitchFamily="49" charset="-122"/>
              </a:rPr>
              <a:t>相于短路。）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24591" name="Text Box 15"/>
          <p:cNvSpPr txBox="1"/>
          <p:nvPr/>
        </p:nvSpPr>
        <p:spPr>
          <a:xfrm>
            <a:off x="539750" y="1903413"/>
            <a:ext cx="7920038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利用傅里叶级数，将非正弦周期函数展开成若干种频率的谐波信号。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24593" name="Text Box 17"/>
          <p:cNvSpPr txBox="1"/>
          <p:nvPr/>
        </p:nvSpPr>
        <p:spPr>
          <a:xfrm>
            <a:off x="539750" y="4926013"/>
            <a:ext cx="64087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0" hangingPunct="0"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</a:rPr>
              <a:t>将以上计算结果转换为瞬时值叠加。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62471" name="Group 3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2478" name="Picture 3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479" name="Text Box 3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2472" name="Group 3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2476" name="Picture 4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477" name="Text Box 4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2473" name="Group 4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2474" name="Picture 4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475" name="Text Box 4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8" grpId="0"/>
      <p:bldP spid="24589" grpId="0"/>
      <p:bldP spid="24590" grpId="0"/>
      <p:bldP spid="24591" grpId="0"/>
      <p:bldP spid="2459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ext Box 2"/>
          <p:cNvSpPr txBox="1"/>
          <p:nvPr/>
        </p:nvSpPr>
        <p:spPr>
          <a:xfrm>
            <a:off x="468313" y="549275"/>
            <a:ext cx="2447925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2.</a:t>
            </a: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计算举例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45059" name="Text Box 3"/>
          <p:cNvSpPr txBox="1"/>
          <p:nvPr/>
        </p:nvSpPr>
        <p:spPr>
          <a:xfrm>
            <a:off x="323850" y="1052513"/>
            <a:ext cx="1417638" cy="579437"/>
          </a:xfrm>
          <a:prstGeom prst="rect">
            <a:avLst/>
          </a:prstGeom>
          <a:noFill/>
          <a:ln w="19050">
            <a:noFill/>
          </a:ln>
        </p:spPr>
        <p:txBody>
          <a:bodyPr wrap="none" lIns="198000" rIns="198000" anchor="ctr" anchorCtr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4-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060" name="Rectangle 4"/>
          <p:cNvSpPr/>
          <p:nvPr/>
        </p:nvSpPr>
        <p:spPr>
          <a:xfrm>
            <a:off x="1547813" y="1125538"/>
            <a:ext cx="5976937" cy="515937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方波信号激励的电路，求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u,</a:t>
            </a:r>
            <a:r>
              <a:rPr lang="en-US" altLang="zh-CN" i="1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已知：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5062" name="Object 6"/>
          <p:cNvGraphicFramePr/>
          <p:nvPr/>
        </p:nvGraphicFramePr>
        <p:xfrm>
          <a:off x="900113" y="1773238"/>
          <a:ext cx="4824412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2451100" imgH="469900" progId="Equation.3">
                  <p:embed/>
                </p:oleObj>
              </mc:Choice>
              <mc:Fallback>
                <p:oleObj name="" r:id="rId1" imgW="2451100" imgH="4699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1773238"/>
                        <a:ext cx="4824412" cy="925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07" name="Text Box 51"/>
          <p:cNvSpPr txBox="1"/>
          <p:nvPr/>
        </p:nvSpPr>
        <p:spPr>
          <a:xfrm>
            <a:off x="323850" y="2997200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108" name="Rectangle 52"/>
          <p:cNvSpPr/>
          <p:nvPr/>
        </p:nvSpPr>
        <p:spPr>
          <a:xfrm>
            <a:off x="1116013" y="2997200"/>
            <a:ext cx="4824412" cy="51593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en-US" altLang="zh-CN" b="0" dirty="0">
                <a:latin typeface="楷体_GB2312" pitchFamily="49" charset="-122"/>
              </a:rPr>
              <a:t>(1)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方波信号的展开式为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5111" name="Object 55">
            <a:hlinkClick r:id="" action="ppaction://ole?verb="/>
          </p:cNvPr>
          <p:cNvGraphicFramePr/>
          <p:nvPr/>
        </p:nvGraphicFramePr>
        <p:xfrm>
          <a:off x="3765550" y="5661025"/>
          <a:ext cx="45656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3" imgW="1917065" imgH="241300" progId="Equation.3">
                  <p:embed/>
                </p:oleObj>
              </mc:Choice>
              <mc:Fallback>
                <p:oleObj name="" r:id="rId3" imgW="1917065" imgH="2413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65550" y="5661025"/>
                        <a:ext cx="4565650" cy="576263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00FF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12" name="Text Box 56"/>
          <p:cNvSpPr txBox="1"/>
          <p:nvPr/>
        </p:nvSpPr>
        <p:spPr>
          <a:xfrm>
            <a:off x="539750" y="5661025"/>
            <a:ext cx="2897188" cy="519113"/>
          </a:xfrm>
          <a:prstGeom prst="rect">
            <a:avLst/>
          </a:prstGeom>
          <a:noFill/>
          <a:ln w="38100">
            <a:noFill/>
          </a:ln>
        </p:spPr>
        <p:txBody>
          <a:bodyPr lIns="198000" rIns="198000"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代入已知数据：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0495" name="Group 10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0543" name="Picture 10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44" name="Text Box 10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496" name="Group 10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0541" name="Picture 10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42" name="Text Box 10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497" name="Group 114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0539" name="Picture 115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40" name="Text Box 11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45173" name="Object 117"/>
          <p:cNvGraphicFramePr/>
          <p:nvPr/>
        </p:nvGraphicFramePr>
        <p:xfrm>
          <a:off x="323850" y="3644900"/>
          <a:ext cx="5699125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6" imgW="2526030" imgH="901065" progId="Equation.3">
                  <p:embed/>
                </p:oleObj>
              </mc:Choice>
              <mc:Fallback>
                <p:oleObj name="" r:id="rId6" imgW="2526030" imgH="901065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3644900"/>
                        <a:ext cx="5699125" cy="1987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18"/>
          <p:cNvGrpSpPr/>
          <p:nvPr/>
        </p:nvGrpSpPr>
        <p:grpSpPr>
          <a:xfrm>
            <a:off x="6084888" y="3429000"/>
            <a:ext cx="3059112" cy="2166938"/>
            <a:chOff x="261" y="583"/>
            <a:chExt cx="2081" cy="1365"/>
          </a:xfrm>
        </p:grpSpPr>
        <p:grpSp>
          <p:nvGrpSpPr>
            <p:cNvPr id="20525" name="Group 119"/>
            <p:cNvGrpSpPr/>
            <p:nvPr/>
          </p:nvGrpSpPr>
          <p:grpSpPr>
            <a:xfrm>
              <a:off x="261" y="583"/>
              <a:ext cx="2081" cy="1365"/>
              <a:chOff x="276" y="321"/>
              <a:chExt cx="2081" cy="1365"/>
            </a:xfrm>
          </p:grpSpPr>
          <p:sp>
            <p:nvSpPr>
              <p:cNvPr id="20527" name="Line 120"/>
              <p:cNvSpPr/>
              <p:nvPr/>
            </p:nvSpPr>
            <p:spPr>
              <a:xfrm>
                <a:off x="649" y="1360"/>
                <a:ext cx="1535" cy="0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0528" name="Line 121"/>
              <p:cNvSpPr/>
              <p:nvPr/>
            </p:nvSpPr>
            <p:spPr>
              <a:xfrm flipV="1">
                <a:off x="631" y="555"/>
                <a:ext cx="0" cy="819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grpSp>
            <p:nvGrpSpPr>
              <p:cNvPr id="20529" name="Group 122"/>
              <p:cNvGrpSpPr/>
              <p:nvPr/>
            </p:nvGrpSpPr>
            <p:grpSpPr>
              <a:xfrm>
                <a:off x="649" y="920"/>
                <a:ext cx="356" cy="425"/>
                <a:chOff x="746" y="1419"/>
                <a:chExt cx="356" cy="592"/>
              </a:xfrm>
            </p:grpSpPr>
            <p:sp>
              <p:nvSpPr>
                <p:cNvPr id="20537" name="Line 123"/>
                <p:cNvSpPr/>
                <p:nvPr/>
              </p:nvSpPr>
              <p:spPr>
                <a:xfrm>
                  <a:off x="746" y="1419"/>
                  <a:ext cx="356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38" name="Line 124"/>
                <p:cNvSpPr/>
                <p:nvPr/>
              </p:nvSpPr>
              <p:spPr>
                <a:xfrm>
                  <a:off x="1102" y="1419"/>
                  <a:ext cx="0" cy="592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0530" name="Line 125"/>
              <p:cNvSpPr/>
              <p:nvPr/>
            </p:nvSpPr>
            <p:spPr>
              <a:xfrm>
                <a:off x="1431" y="935"/>
                <a:ext cx="0" cy="41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31" name="Rectangle 126"/>
              <p:cNvSpPr/>
              <p:nvPr/>
            </p:nvSpPr>
            <p:spPr>
              <a:xfrm>
                <a:off x="2039" y="1004"/>
                <a:ext cx="318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32" name="Rectangle 127"/>
              <p:cNvSpPr/>
              <p:nvPr/>
            </p:nvSpPr>
            <p:spPr>
              <a:xfrm>
                <a:off x="739" y="1361"/>
                <a:ext cx="478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/2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33" name="Rectangle 128"/>
              <p:cNvSpPr/>
              <p:nvPr/>
            </p:nvSpPr>
            <p:spPr>
              <a:xfrm>
                <a:off x="1326" y="1358"/>
                <a:ext cx="371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0487" name="Object 129"/>
              <p:cNvGraphicFramePr/>
              <p:nvPr/>
            </p:nvGraphicFramePr>
            <p:xfrm>
              <a:off x="682" y="321"/>
              <a:ext cx="307" cy="3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4" name="" r:id="rId8" imgW="114300" imgH="215265" progId="Equation.3">
                      <p:embed/>
                    </p:oleObj>
                  </mc:Choice>
                  <mc:Fallback>
                    <p:oleObj name="" r:id="rId8" imgW="114300" imgH="215265" progId="Equation.3">
                      <p:embed/>
                      <p:pic>
                        <p:nvPicPr>
                          <p:cNvPr id="0" name="图片 3143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682" y="321"/>
                            <a:ext cx="307" cy="39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8" name="Object 130"/>
              <p:cNvGraphicFramePr/>
              <p:nvPr/>
            </p:nvGraphicFramePr>
            <p:xfrm>
              <a:off x="276" y="801"/>
              <a:ext cx="33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1" name="" r:id="rId10" imgW="165100" imgH="215900" progId="Equation.3">
                      <p:embed/>
                    </p:oleObj>
                  </mc:Choice>
                  <mc:Fallback>
                    <p:oleObj name="" r:id="rId10" imgW="165100" imgH="215900" progId="Equation.3">
                      <p:embed/>
                      <p:pic>
                        <p:nvPicPr>
                          <p:cNvPr id="0" name="图片 3140"/>
                          <p:cNvPicPr/>
                          <p:nvPr/>
                        </p:nvPicPr>
                        <p:blipFill>
                          <a:blip r:embed="rId11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76" y="801"/>
                            <a:ext cx="330" cy="29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0534" name="Group 131"/>
              <p:cNvGrpSpPr/>
              <p:nvPr/>
            </p:nvGrpSpPr>
            <p:grpSpPr>
              <a:xfrm>
                <a:off x="1431" y="937"/>
                <a:ext cx="356" cy="425"/>
                <a:chOff x="746" y="1419"/>
                <a:chExt cx="356" cy="592"/>
              </a:xfrm>
            </p:grpSpPr>
            <p:sp>
              <p:nvSpPr>
                <p:cNvPr id="20535" name="Line 132"/>
                <p:cNvSpPr/>
                <p:nvPr/>
              </p:nvSpPr>
              <p:spPr>
                <a:xfrm>
                  <a:off x="746" y="1419"/>
                  <a:ext cx="356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36" name="Line 133"/>
                <p:cNvSpPr/>
                <p:nvPr/>
              </p:nvSpPr>
              <p:spPr>
                <a:xfrm>
                  <a:off x="1102" y="1419"/>
                  <a:ext cx="0" cy="592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0526" name="Text Box 134"/>
            <p:cNvSpPr txBox="1"/>
            <p:nvPr/>
          </p:nvSpPr>
          <p:spPr>
            <a:xfrm>
              <a:off x="385" y="1570"/>
              <a:ext cx="5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142"/>
          <p:cNvGrpSpPr/>
          <p:nvPr/>
        </p:nvGrpSpPr>
        <p:grpSpPr>
          <a:xfrm>
            <a:off x="5940425" y="1628775"/>
            <a:ext cx="2684463" cy="2027238"/>
            <a:chOff x="3878" y="981"/>
            <a:chExt cx="1691" cy="1277"/>
          </a:xfrm>
        </p:grpSpPr>
        <p:sp>
          <p:nvSpPr>
            <p:cNvPr id="20500" name="Line 72"/>
            <p:cNvSpPr/>
            <p:nvPr/>
          </p:nvSpPr>
          <p:spPr>
            <a:xfrm>
              <a:off x="4060" y="1026"/>
              <a:ext cx="0" cy="1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1" name="Line 74"/>
            <p:cNvSpPr/>
            <p:nvPr/>
          </p:nvSpPr>
          <p:spPr>
            <a:xfrm flipV="1">
              <a:off x="4604" y="1662"/>
              <a:ext cx="0" cy="4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0502" name="Line 75"/>
            <p:cNvSpPr/>
            <p:nvPr/>
          </p:nvSpPr>
          <p:spPr>
            <a:xfrm flipV="1">
              <a:off x="4604" y="1026"/>
              <a:ext cx="0" cy="54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0503" name="Line 76"/>
            <p:cNvSpPr/>
            <p:nvPr/>
          </p:nvSpPr>
          <p:spPr>
            <a:xfrm>
              <a:off x="5194" y="1026"/>
              <a:ext cx="0" cy="59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4" name="Line 77"/>
            <p:cNvSpPr/>
            <p:nvPr/>
          </p:nvSpPr>
          <p:spPr>
            <a:xfrm flipH="1" flipV="1">
              <a:off x="5194" y="1979"/>
              <a:ext cx="0" cy="2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5" name="Line 78"/>
            <p:cNvSpPr/>
            <p:nvPr/>
          </p:nvSpPr>
          <p:spPr>
            <a:xfrm flipH="1">
              <a:off x="4060" y="1026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6" name="Line 79"/>
            <p:cNvSpPr/>
            <p:nvPr/>
          </p:nvSpPr>
          <p:spPr>
            <a:xfrm flipH="1">
              <a:off x="4060" y="2160"/>
              <a:ext cx="115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7" name="Line 81"/>
            <p:cNvSpPr/>
            <p:nvPr/>
          </p:nvSpPr>
          <p:spPr>
            <a:xfrm>
              <a:off x="4059" y="1116"/>
              <a:ext cx="0" cy="409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508" name="Rectangle 83"/>
            <p:cNvSpPr/>
            <p:nvPr/>
          </p:nvSpPr>
          <p:spPr>
            <a:xfrm>
              <a:off x="4921" y="1163"/>
              <a:ext cx="311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9" name="Rectangle 84"/>
            <p:cNvSpPr/>
            <p:nvPr/>
          </p:nvSpPr>
          <p:spPr>
            <a:xfrm>
              <a:off x="4967" y="1661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0" name="Rectangle 85"/>
            <p:cNvSpPr/>
            <p:nvPr/>
          </p:nvSpPr>
          <p:spPr>
            <a:xfrm>
              <a:off x="4695" y="1435"/>
              <a:ext cx="311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485" name="Object 86"/>
            <p:cNvGraphicFramePr/>
            <p:nvPr/>
          </p:nvGraphicFramePr>
          <p:xfrm>
            <a:off x="5329" y="1525"/>
            <a:ext cx="24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2" imgW="139700" imgH="152400" progId="Equation.3">
                    <p:embed/>
                  </p:oleObj>
                </mc:Choice>
                <mc:Fallback>
                  <p:oleObj name="" r:id="rId12" imgW="139700" imgH="1524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29" y="1525"/>
                          <a:ext cx="240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511" name="Group 88"/>
            <p:cNvGrpSpPr/>
            <p:nvPr/>
          </p:nvGrpSpPr>
          <p:grpSpPr>
            <a:xfrm>
              <a:off x="4477" y="1571"/>
              <a:ext cx="240" cy="93"/>
              <a:chOff x="3787" y="2478"/>
              <a:chExt cx="240" cy="93"/>
            </a:xfrm>
          </p:grpSpPr>
          <p:sp>
            <p:nvSpPr>
              <p:cNvPr id="20523" name="Line 89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24" name="Line 90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512" name="Rectangle 95"/>
            <p:cNvSpPr/>
            <p:nvPr/>
          </p:nvSpPr>
          <p:spPr>
            <a:xfrm>
              <a:off x="5130" y="11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20486" name="Object 87"/>
            <p:cNvGraphicFramePr/>
            <p:nvPr/>
          </p:nvGraphicFramePr>
          <p:xfrm>
            <a:off x="4163" y="1114"/>
            <a:ext cx="259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14" imgW="139700" imgH="228600" progId="Equation.3">
                    <p:embed/>
                  </p:oleObj>
                </mc:Choice>
                <mc:Fallback>
                  <p:oleObj name="" r:id="rId14" imgW="139700" imgH="2286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63" y="1114"/>
                          <a:ext cx="259" cy="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513" name="Group 112"/>
            <p:cNvGrpSpPr/>
            <p:nvPr/>
          </p:nvGrpSpPr>
          <p:grpSpPr>
            <a:xfrm>
              <a:off x="3878" y="1479"/>
              <a:ext cx="363" cy="363"/>
              <a:chOff x="3878" y="1389"/>
              <a:chExt cx="363" cy="363"/>
            </a:xfrm>
          </p:grpSpPr>
          <p:sp>
            <p:nvSpPr>
              <p:cNvPr id="20521" name="Oval 73"/>
              <p:cNvSpPr/>
              <p:nvPr/>
            </p:nvSpPr>
            <p:spPr>
              <a:xfrm>
                <a:off x="3878" y="138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0522" name="Line 80"/>
              <p:cNvSpPr/>
              <p:nvPr/>
            </p:nvSpPr>
            <p:spPr>
              <a:xfrm>
                <a:off x="3878" y="1571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14" name="Group 135"/>
            <p:cNvGrpSpPr/>
            <p:nvPr/>
          </p:nvGrpSpPr>
          <p:grpSpPr>
            <a:xfrm rot="10800000">
              <a:off x="5193" y="1616"/>
              <a:ext cx="90" cy="363"/>
              <a:chOff x="1565" y="2614"/>
              <a:chExt cx="90" cy="486"/>
            </a:xfrm>
          </p:grpSpPr>
          <p:sp>
            <p:nvSpPr>
              <p:cNvPr id="20517" name="Arc 136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0518" name="Arc 137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0519" name="Arc 138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0520" name="Arc 139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20515" name="Rectangle 140"/>
            <p:cNvSpPr/>
            <p:nvPr/>
          </p:nvSpPr>
          <p:spPr>
            <a:xfrm>
              <a:off x="5239" y="1933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516" name="Rectangle 141"/>
            <p:cNvSpPr/>
            <p:nvPr/>
          </p:nvSpPr>
          <p:spPr>
            <a:xfrm>
              <a:off x="5239" y="981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5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5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4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4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5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5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059" grpId="0"/>
      <p:bldP spid="45060" grpId="0"/>
      <p:bldP spid="45107" grpId="0" animBg="1"/>
      <p:bldP spid="45108" grpId="0"/>
      <p:bldP spid="451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3" name="Rectangle 3"/>
          <p:cNvSpPr/>
          <p:nvPr/>
        </p:nvSpPr>
        <p:spPr>
          <a:xfrm>
            <a:off x="827088" y="549275"/>
            <a:ext cx="2087562" cy="515938"/>
          </a:xfrm>
          <a:prstGeom prst="rect">
            <a:avLst/>
          </a:prstGeom>
          <a:noFill/>
          <a:ln w="57150">
            <a:noFill/>
          </a:ln>
        </p:spPr>
        <p:txBody>
          <a:bodyPr lIns="90488" tIns="44450" rIns="90488" bIns="4445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直流分量：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6084" name="Object 4">
            <a:hlinkClick r:id="" action="ppaction://ole?verb="/>
          </p:cNvPr>
          <p:cNvGraphicFramePr/>
          <p:nvPr/>
        </p:nvGraphicFramePr>
        <p:xfrm>
          <a:off x="3348038" y="476250"/>
          <a:ext cx="427672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" imgW="1942465" imgH="444500" progId="Equation.3">
                  <p:embed/>
                </p:oleObj>
              </mc:Choice>
              <mc:Fallback>
                <p:oleObj name="" r:id="rId1" imgW="1942465" imgH="4445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476250"/>
                        <a:ext cx="4276725" cy="877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>
            <a:hlinkClick r:id="" action="ppaction://ole?verb="/>
          </p:cNvPr>
          <p:cNvGraphicFramePr/>
          <p:nvPr/>
        </p:nvGraphicFramePr>
        <p:xfrm>
          <a:off x="3348038" y="1484313"/>
          <a:ext cx="4813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" imgW="2349500" imgH="457200" progId="Equation.3">
                  <p:embed/>
                </p:oleObj>
              </mc:Choice>
              <mc:Fallback>
                <p:oleObj name="" r:id="rId3" imgW="2349500" imgH="4572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1484313"/>
                        <a:ext cx="48133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Rectangle 7"/>
          <p:cNvSpPr/>
          <p:nvPr/>
        </p:nvSpPr>
        <p:spPr>
          <a:xfrm>
            <a:off x="684213" y="1628775"/>
            <a:ext cx="2519362" cy="51593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基波最大值：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6093" name="Object 13">
            <a:hlinkClick r:id="" action="ppaction://ole?verb="/>
          </p:cNvPr>
          <p:cNvGraphicFramePr/>
          <p:nvPr/>
        </p:nvGraphicFramePr>
        <p:xfrm>
          <a:off x="3476625" y="3284538"/>
          <a:ext cx="334486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5" imgW="1333500" imgH="457200" progId="Equation.3">
                  <p:embed/>
                </p:oleObj>
              </mc:Choice>
              <mc:Fallback>
                <p:oleObj name="" r:id="rId5" imgW="1333500" imgH="4572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76625" y="3284538"/>
                        <a:ext cx="3344863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Rectangle 15"/>
          <p:cNvSpPr/>
          <p:nvPr/>
        </p:nvSpPr>
        <p:spPr>
          <a:xfrm>
            <a:off x="395288" y="3500438"/>
            <a:ext cx="3384550" cy="515937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五次谐波最大值：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6091" name="Object 11">
            <a:hlinkClick r:id="" action="ppaction://ole?verb="/>
          </p:cNvPr>
          <p:cNvGraphicFramePr/>
          <p:nvPr/>
        </p:nvGraphicFramePr>
        <p:xfrm>
          <a:off x="2555875" y="4292600"/>
          <a:ext cx="6192838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7" imgW="2641600" imgH="457200" progId="Equation.DSMT4">
                  <p:embed/>
                </p:oleObj>
              </mc:Choice>
              <mc:Fallback>
                <p:oleObj name="" r:id="rId7" imgW="2641600" imgH="4572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4292600"/>
                        <a:ext cx="6192838" cy="97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6" name="Text Box 16"/>
          <p:cNvSpPr txBox="1"/>
          <p:nvPr/>
        </p:nvSpPr>
        <p:spPr>
          <a:xfrm>
            <a:off x="827088" y="4581525"/>
            <a:ext cx="2016125" cy="519113"/>
          </a:xfrm>
          <a:prstGeom prst="rect">
            <a:avLst/>
          </a:prstGeom>
          <a:noFill/>
          <a:ln w="38100">
            <a:noFill/>
          </a:ln>
        </p:spPr>
        <p:txBody>
          <a:bodyPr lIns="198000" rIns="19800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角频率：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6094" name="Rectangle 14"/>
          <p:cNvSpPr/>
          <p:nvPr/>
        </p:nvSpPr>
        <p:spPr>
          <a:xfrm>
            <a:off x="395288" y="2565400"/>
            <a:ext cx="3240087" cy="51593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三次谐波最大值：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6098" name="Object 18">
            <a:hlinkClick r:id="" action="ppaction://ole?verb="/>
          </p:cNvPr>
          <p:cNvGraphicFramePr/>
          <p:nvPr/>
        </p:nvGraphicFramePr>
        <p:xfrm>
          <a:off x="3476625" y="2349500"/>
          <a:ext cx="34718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9" imgW="1447800" imgH="457200" progId="Equation.3">
                  <p:embed/>
                </p:oleObj>
              </mc:Choice>
              <mc:Fallback>
                <p:oleObj name="" r:id="rId9" imgW="1447800" imgH="4572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76625" y="2349500"/>
                        <a:ext cx="3471863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6" name="Group 4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1523" name="Picture 47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4" name="Text Box 4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1517" name="Group 4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1521" name="Picture 50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2" name="Text Box 5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1518" name="Group 5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1519" name="Picture 56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0" name="Text Box 5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087" grpId="0"/>
      <p:bldP spid="46095" grpId="0"/>
      <p:bldP spid="46096" grpId="0"/>
      <p:bldP spid="4609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3262" name="Object 14"/>
          <p:cNvGraphicFramePr/>
          <p:nvPr/>
        </p:nvGraphicFramePr>
        <p:xfrm>
          <a:off x="1071563" y="981075"/>
          <a:ext cx="21828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" imgW="989965" imgH="241300" progId="Equation.3">
                  <p:embed/>
                </p:oleObj>
              </mc:Choice>
              <mc:Fallback>
                <p:oleObj name="" r:id="rId1" imgW="989965" imgH="2413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71563" y="981075"/>
                        <a:ext cx="2182812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3" name="Text Box 15"/>
          <p:cNvSpPr txBox="1"/>
          <p:nvPr/>
        </p:nvSpPr>
        <p:spPr>
          <a:xfrm>
            <a:off x="684213" y="404813"/>
            <a:ext cx="4649787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电流源</a:t>
            </a:r>
            <a:r>
              <a:rPr lang="zh-CN" altLang="zh-CN" dirty="0">
                <a:latin typeface="楷体_GB2312" pitchFamily="49" charset="-122"/>
              </a:rPr>
              <a:t>各频率的谐波分量为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53264" name="Object 16"/>
          <p:cNvGraphicFramePr/>
          <p:nvPr/>
        </p:nvGraphicFramePr>
        <p:xfrm>
          <a:off x="3478213" y="981075"/>
          <a:ext cx="31972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3" imgW="1395730" imgH="254000" progId="Equation.3">
                  <p:embed/>
                </p:oleObj>
              </mc:Choice>
              <mc:Fallback>
                <p:oleObj name="" r:id="rId3" imgW="1395730" imgH="2540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78213" y="981075"/>
                        <a:ext cx="3197225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5" name="Object 17"/>
          <p:cNvGraphicFramePr/>
          <p:nvPr/>
        </p:nvGraphicFramePr>
        <p:xfrm>
          <a:off x="1030288" y="1557338"/>
          <a:ext cx="322262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5" imgW="1612900" imgH="457200" progId="Equation.3">
                  <p:embed/>
                </p:oleObj>
              </mc:Choice>
              <mc:Fallback>
                <p:oleObj name="" r:id="rId5" imgW="1612900" imgH="4572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30288" y="1557338"/>
                        <a:ext cx="3222625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6" name="Object 18"/>
          <p:cNvGraphicFramePr/>
          <p:nvPr/>
        </p:nvGraphicFramePr>
        <p:xfrm>
          <a:off x="4500563" y="1484313"/>
          <a:ext cx="33115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7" imgW="1600200" imgH="457200" progId="Equation.3">
                  <p:embed/>
                </p:oleObj>
              </mc:Choice>
              <mc:Fallback>
                <p:oleObj name="" r:id="rId7" imgW="1600200" imgH="4572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00563" y="1484313"/>
                        <a:ext cx="3311525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3" name="Text Box 25"/>
          <p:cNvSpPr txBox="1"/>
          <p:nvPr/>
        </p:nvSpPr>
        <p:spPr>
          <a:xfrm>
            <a:off x="539750" y="2492375"/>
            <a:ext cx="5930900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198000" rIns="198000">
            <a:spAutoFit/>
          </a:bodyPr>
          <a:p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b="0" dirty="0">
                <a:latin typeface="楷体_GB2312" pitchFamily="49" charset="-122"/>
              </a:rPr>
              <a:t>（</a:t>
            </a:r>
            <a:r>
              <a:rPr lang="en-US" altLang="zh-CN" b="0" dirty="0">
                <a:latin typeface="楷体_GB2312" pitchFamily="49" charset="-122"/>
              </a:rPr>
              <a:t>2</a:t>
            </a:r>
            <a:r>
              <a:rPr lang="zh-CN" altLang="en-US" b="0" dirty="0">
                <a:latin typeface="楷体_GB2312" pitchFamily="49" charset="-122"/>
              </a:rPr>
              <a:t>）</a:t>
            </a:r>
            <a:r>
              <a:rPr lang="zh-CN" altLang="en-US" dirty="0">
                <a:latin typeface="楷体_GB2312" pitchFamily="49" charset="-122"/>
              </a:rPr>
              <a:t> 对</a:t>
            </a:r>
            <a:r>
              <a:rPr lang="zh-CN" altLang="zh-CN" dirty="0">
                <a:latin typeface="楷体_GB2312" pitchFamily="49" charset="-122"/>
              </a:rPr>
              <a:t>各次谐波分量单独计算：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53274" name="Text Box 26"/>
          <p:cNvSpPr txBox="1"/>
          <p:nvPr/>
        </p:nvSpPr>
        <p:spPr>
          <a:xfrm>
            <a:off x="1258888" y="3213100"/>
            <a:ext cx="4752975" cy="519113"/>
          </a:xfrm>
          <a:prstGeom prst="rect">
            <a:avLst/>
          </a:prstGeom>
          <a:noFill/>
          <a:ln w="38100">
            <a:noFill/>
          </a:ln>
        </p:spPr>
        <p:txBody>
          <a:bodyPr lIns="198000" rIns="198000">
            <a:spAutoFit/>
          </a:bodyPr>
          <a:p>
            <a:r>
              <a:rPr lang="zh-CN" altLang="en-US" dirty="0">
                <a:latin typeface="楷体_GB2312" pitchFamily="49" charset="-122"/>
              </a:rPr>
              <a:t>（</a:t>
            </a:r>
            <a:r>
              <a:rPr lang="en-US" altLang="zh-CN" dirty="0">
                <a:latin typeface="楷体_GB2312" pitchFamily="49" charset="-122"/>
              </a:rPr>
              <a:t>a) </a:t>
            </a:r>
            <a:r>
              <a:rPr lang="zh-CN" altLang="en-US" dirty="0">
                <a:latin typeface="楷体_GB2312" pitchFamily="49" charset="-122"/>
              </a:rPr>
              <a:t>直流分量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S0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作用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53301" name="Object 53"/>
          <p:cNvGraphicFramePr/>
          <p:nvPr/>
        </p:nvGraphicFramePr>
        <p:xfrm>
          <a:off x="1993900" y="3803650"/>
          <a:ext cx="21320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9" imgW="939165" imgH="241300" progId="Equation.3">
                  <p:embed/>
                </p:oleObj>
              </mc:Choice>
              <mc:Fallback>
                <p:oleObj name="" r:id="rId9" imgW="939165" imgH="2413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93900" y="3803650"/>
                        <a:ext cx="2132013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02" name="Text Box 54"/>
          <p:cNvSpPr txBox="1"/>
          <p:nvPr/>
        </p:nvSpPr>
        <p:spPr>
          <a:xfrm>
            <a:off x="1474788" y="4452938"/>
            <a:ext cx="3455987" cy="604837"/>
          </a:xfrm>
          <a:prstGeom prst="rect">
            <a:avLst/>
          </a:prstGeom>
          <a:solidFill>
            <a:schemeClr val="hlink"/>
          </a:solidFill>
          <a:ln w="38100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电容断路，电感短路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53303" name="Object 55"/>
          <p:cNvGraphicFramePr/>
          <p:nvPr/>
        </p:nvGraphicFramePr>
        <p:xfrm>
          <a:off x="1619250" y="5286375"/>
          <a:ext cx="597693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1" imgW="2437130" imgH="241300" progId="Equation.DSMT4">
                  <p:embed/>
                </p:oleObj>
              </mc:Choice>
              <mc:Fallback>
                <p:oleObj name="" r:id="rId11" imgW="2437130" imgH="2413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5286375"/>
                        <a:ext cx="5976938" cy="66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41" name="Group 5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2563" name="Picture 60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64" name="Text Box 6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2542" name="Group 6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2561" name="Picture 63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62" name="Text Box 6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2543" name="Group 70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2559" name="Picture 71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60" name="Text Box 7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78"/>
          <p:cNvGrpSpPr/>
          <p:nvPr/>
        </p:nvGrpSpPr>
        <p:grpSpPr>
          <a:xfrm>
            <a:off x="6011863" y="2708275"/>
            <a:ext cx="2654300" cy="1889125"/>
            <a:chOff x="3787" y="1706"/>
            <a:chExt cx="1672" cy="1190"/>
          </a:xfrm>
        </p:grpSpPr>
        <p:grpSp>
          <p:nvGrpSpPr>
            <p:cNvPr id="22545" name="Group 77"/>
            <p:cNvGrpSpPr/>
            <p:nvPr/>
          </p:nvGrpSpPr>
          <p:grpSpPr>
            <a:xfrm>
              <a:off x="3969" y="1706"/>
              <a:ext cx="1490" cy="1190"/>
              <a:chOff x="3969" y="1706"/>
              <a:chExt cx="1490" cy="1190"/>
            </a:xfrm>
          </p:grpSpPr>
          <p:sp>
            <p:nvSpPr>
              <p:cNvPr id="22549" name="Line 28"/>
              <p:cNvSpPr/>
              <p:nvPr/>
            </p:nvSpPr>
            <p:spPr>
              <a:xfrm>
                <a:off x="3969" y="1752"/>
                <a:ext cx="0" cy="1144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0" name="Line 32"/>
              <p:cNvSpPr/>
              <p:nvPr/>
            </p:nvSpPr>
            <p:spPr>
              <a:xfrm>
                <a:off x="5103" y="1752"/>
                <a:ext cx="0" cy="1134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1" name="Line 34"/>
              <p:cNvSpPr/>
              <p:nvPr/>
            </p:nvSpPr>
            <p:spPr>
              <a:xfrm flipH="1">
                <a:off x="3969" y="1752"/>
                <a:ext cx="113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2" name="Line 35"/>
              <p:cNvSpPr/>
              <p:nvPr/>
            </p:nvSpPr>
            <p:spPr>
              <a:xfrm flipH="1">
                <a:off x="3969" y="2886"/>
                <a:ext cx="115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3" name="Line 37"/>
              <p:cNvSpPr/>
              <p:nvPr/>
            </p:nvSpPr>
            <p:spPr>
              <a:xfrm>
                <a:off x="3969" y="1842"/>
                <a:ext cx="0" cy="454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22554" name="Rectangle 39"/>
              <p:cNvSpPr/>
              <p:nvPr/>
            </p:nvSpPr>
            <p:spPr>
              <a:xfrm>
                <a:off x="4785" y="2160"/>
                <a:ext cx="311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2536" name="Object 42"/>
              <p:cNvGraphicFramePr/>
              <p:nvPr/>
            </p:nvGraphicFramePr>
            <p:xfrm>
              <a:off x="5193" y="2205"/>
              <a:ext cx="240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9" name="" r:id="rId14" imgW="139700" imgH="152400" progId="Equation.3">
                      <p:embed/>
                    </p:oleObj>
                  </mc:Choice>
                  <mc:Fallback>
                    <p:oleObj name="" r:id="rId14" imgW="139700" imgH="152400" progId="Equation.3">
                      <p:embed/>
                      <p:pic>
                        <p:nvPicPr>
                          <p:cNvPr id="0" name="图片 3158"/>
                          <p:cNvPicPr/>
                          <p:nvPr/>
                        </p:nvPicPr>
                        <p:blipFill>
                          <a:blip r:embed="rId15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193" y="2205"/>
                            <a:ext cx="240" cy="2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55" name="Rectangle 51"/>
              <p:cNvSpPr/>
              <p:nvPr/>
            </p:nvSpPr>
            <p:spPr>
              <a:xfrm>
                <a:off x="5039" y="2160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2556" name="Rectangle 73"/>
              <p:cNvSpPr/>
              <p:nvPr/>
            </p:nvSpPr>
            <p:spPr>
              <a:xfrm>
                <a:off x="5148" y="2568"/>
                <a:ext cx="311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2557" name="Rectangle 74"/>
              <p:cNvSpPr/>
              <p:nvPr/>
            </p:nvSpPr>
            <p:spPr>
              <a:xfrm>
                <a:off x="5103" y="1706"/>
                <a:ext cx="311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58" name="Rectangle 76"/>
              <p:cNvSpPr/>
              <p:nvPr/>
            </p:nvSpPr>
            <p:spPr>
              <a:xfrm>
                <a:off x="4014" y="1842"/>
                <a:ext cx="590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488" tIns="44450" rIns="90488" bIns="44450">
                <a:spAutoFit/>
              </a:bodyPr>
              <a:p>
                <a:pPr defTabSz="762000" eaLnBrk="0" hangingPunct="0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S0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46" name="Group 68"/>
            <p:cNvGrpSpPr/>
            <p:nvPr/>
          </p:nvGrpSpPr>
          <p:grpSpPr>
            <a:xfrm>
              <a:off x="3787" y="2205"/>
              <a:ext cx="363" cy="363"/>
              <a:chOff x="3787" y="2115"/>
              <a:chExt cx="363" cy="363"/>
            </a:xfrm>
          </p:grpSpPr>
          <p:sp>
            <p:nvSpPr>
              <p:cNvPr id="22547" name="Oval 29"/>
              <p:cNvSpPr/>
              <p:nvPr/>
            </p:nvSpPr>
            <p:spPr>
              <a:xfrm>
                <a:off x="3787" y="2115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2548" name="Line 36"/>
              <p:cNvSpPr/>
              <p:nvPr/>
            </p:nvSpPr>
            <p:spPr>
              <a:xfrm>
                <a:off x="3787" y="2297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3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3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3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3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5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63" grpId="0"/>
      <p:bldP spid="53273" grpId="0"/>
      <p:bldP spid="53274" grpId="0"/>
      <p:bldP spid="5330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81" name="Text Box 53"/>
          <p:cNvSpPr txBox="1"/>
          <p:nvPr/>
        </p:nvSpPr>
        <p:spPr>
          <a:xfrm>
            <a:off x="539750" y="549275"/>
            <a:ext cx="3311525" cy="519113"/>
          </a:xfrm>
          <a:prstGeom prst="rect">
            <a:avLst/>
          </a:prstGeom>
          <a:noFill/>
          <a:ln w="38100">
            <a:noFill/>
          </a:ln>
        </p:spPr>
        <p:txBody>
          <a:bodyPr lIns="198000" rIns="198000">
            <a:spAutoFit/>
          </a:bodyPr>
          <a:p>
            <a:r>
              <a:rPr lang="zh-CN" altLang="en-US" b="0" dirty="0">
                <a:latin typeface="楷体_GB2312" pitchFamily="49" charset="-122"/>
              </a:rPr>
              <a:t>（</a:t>
            </a:r>
            <a:r>
              <a:rPr lang="en-US" altLang="zh-CN" b="0" dirty="0">
                <a:latin typeface="楷体_GB2312" pitchFamily="49" charset="-122"/>
              </a:rPr>
              <a:t>b)</a:t>
            </a:r>
            <a:r>
              <a:rPr lang="zh-CN" altLang="en-US" dirty="0">
                <a:latin typeface="楷体_GB2312" pitchFamily="49" charset="-122"/>
              </a:rPr>
              <a:t>基波作用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8182" name="Object 54"/>
          <p:cNvGraphicFramePr/>
          <p:nvPr/>
        </p:nvGraphicFramePr>
        <p:xfrm>
          <a:off x="3521075" y="549275"/>
          <a:ext cx="34893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" imgW="1535430" imgH="254000" progId="Equation.3">
                  <p:embed/>
                </p:oleObj>
              </mc:Choice>
              <mc:Fallback>
                <p:oleObj name="" r:id="rId1" imgW="1535430" imgH="2540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21075" y="549275"/>
                        <a:ext cx="3489325" cy="573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86" name="Object 58">
            <a:hlinkClick r:id="" action="ppaction://ole?verb="/>
          </p:cNvPr>
          <p:cNvGraphicFramePr/>
          <p:nvPr/>
        </p:nvGraphicFramePr>
        <p:xfrm>
          <a:off x="395288" y="1196975"/>
          <a:ext cx="5357812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3" imgW="2564130" imgH="761365" progId="Equation.3">
                  <p:embed/>
                </p:oleObj>
              </mc:Choice>
              <mc:Fallback>
                <p:oleObj name="" r:id="rId3" imgW="2564130" imgH="761365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1196975"/>
                        <a:ext cx="5357812" cy="168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15" name="Object 87">
            <a:hlinkClick r:id="" action="ppaction://ole?verb="/>
          </p:cNvPr>
          <p:cNvGraphicFramePr/>
          <p:nvPr/>
        </p:nvGraphicFramePr>
        <p:xfrm>
          <a:off x="757238" y="3644900"/>
          <a:ext cx="78359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5" imgW="3478530" imgH="495300" progId="Equation.3">
                  <p:embed/>
                </p:oleObj>
              </mc:Choice>
              <mc:Fallback>
                <p:oleObj name="" r:id="rId5" imgW="3478530" imgH="4953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7238" y="3644900"/>
                        <a:ext cx="7835900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19" name="AutoShape 91" descr="羊皮纸"/>
          <p:cNvSpPr/>
          <p:nvPr/>
        </p:nvSpPr>
        <p:spPr>
          <a:xfrm>
            <a:off x="4572000" y="2852738"/>
            <a:ext cx="1368425" cy="576262"/>
          </a:xfrm>
          <a:prstGeom prst="wedgeRoundRectCallout">
            <a:avLst>
              <a:gd name="adj1" fmla="val -130046"/>
              <a:gd name="adj2" fmla="val 86639"/>
              <a:gd name="adj3" fmla="val 16667"/>
            </a:avLst>
          </a:prstGeom>
          <a:blipFill rotWithShape="1">
            <a:blip r:embed="rId7"/>
          </a:blipFill>
          <a:ln w="9525">
            <a:noFill/>
          </a:ln>
        </p:spPr>
        <p:txBody>
          <a:bodyPr/>
          <a:p>
            <a:pPr algn="ctr"/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X</a:t>
            </a:r>
            <a:r>
              <a:rPr lang="en-US" altLang="zh-CN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L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&gt;&gt;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endParaRPr lang="en-US" altLang="zh-CN" b="0" i="1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23562" name="Group 13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3599" name="Picture 136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600" name="Text Box 13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563" name="Group 13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3597" name="Picture 139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98" name="Text Box 14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564" name="Group 170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3595" name="Picture 171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96" name="Text Box 17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173"/>
          <p:cNvGrpSpPr/>
          <p:nvPr/>
        </p:nvGrpSpPr>
        <p:grpSpPr>
          <a:xfrm>
            <a:off x="6011863" y="1125538"/>
            <a:ext cx="2684462" cy="2027237"/>
            <a:chOff x="3878" y="981"/>
            <a:chExt cx="1691" cy="1277"/>
          </a:xfrm>
        </p:grpSpPr>
        <p:sp>
          <p:nvSpPr>
            <p:cNvPr id="23570" name="Line 174"/>
            <p:cNvSpPr/>
            <p:nvPr/>
          </p:nvSpPr>
          <p:spPr>
            <a:xfrm>
              <a:off x="4060" y="1026"/>
              <a:ext cx="0" cy="1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1" name="Line 175"/>
            <p:cNvSpPr/>
            <p:nvPr/>
          </p:nvSpPr>
          <p:spPr>
            <a:xfrm flipV="1">
              <a:off x="4604" y="1662"/>
              <a:ext cx="0" cy="4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3572" name="Line 176"/>
            <p:cNvSpPr/>
            <p:nvPr/>
          </p:nvSpPr>
          <p:spPr>
            <a:xfrm flipV="1">
              <a:off x="4604" y="1026"/>
              <a:ext cx="0" cy="54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3573" name="Line 177"/>
            <p:cNvSpPr/>
            <p:nvPr/>
          </p:nvSpPr>
          <p:spPr>
            <a:xfrm>
              <a:off x="5194" y="1026"/>
              <a:ext cx="0" cy="59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4" name="Line 178"/>
            <p:cNvSpPr/>
            <p:nvPr/>
          </p:nvSpPr>
          <p:spPr>
            <a:xfrm flipH="1" flipV="1">
              <a:off x="5194" y="1979"/>
              <a:ext cx="0" cy="2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5" name="Line 179"/>
            <p:cNvSpPr/>
            <p:nvPr/>
          </p:nvSpPr>
          <p:spPr>
            <a:xfrm flipH="1">
              <a:off x="4060" y="1026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6" name="Line 180"/>
            <p:cNvSpPr/>
            <p:nvPr/>
          </p:nvSpPr>
          <p:spPr>
            <a:xfrm flipH="1">
              <a:off x="4060" y="2160"/>
              <a:ext cx="115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7" name="Line 181"/>
            <p:cNvSpPr/>
            <p:nvPr/>
          </p:nvSpPr>
          <p:spPr>
            <a:xfrm>
              <a:off x="4059" y="1116"/>
              <a:ext cx="0" cy="409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3578" name="Rectangle 182"/>
            <p:cNvSpPr/>
            <p:nvPr/>
          </p:nvSpPr>
          <p:spPr>
            <a:xfrm>
              <a:off x="4921" y="1163"/>
              <a:ext cx="311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9" name="Rectangle 183"/>
            <p:cNvSpPr/>
            <p:nvPr/>
          </p:nvSpPr>
          <p:spPr>
            <a:xfrm>
              <a:off x="4967" y="1661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0" name="Rectangle 184"/>
            <p:cNvSpPr/>
            <p:nvPr/>
          </p:nvSpPr>
          <p:spPr>
            <a:xfrm>
              <a:off x="4695" y="1435"/>
              <a:ext cx="311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3558" name="Object 185"/>
            <p:cNvGraphicFramePr/>
            <p:nvPr/>
          </p:nvGraphicFramePr>
          <p:xfrm>
            <a:off x="5329" y="1525"/>
            <a:ext cx="24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9" imgW="139700" imgH="152400" progId="Equation.3">
                    <p:embed/>
                  </p:oleObj>
                </mc:Choice>
                <mc:Fallback>
                  <p:oleObj name="" r:id="rId9" imgW="139700" imgH="15240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29" y="1525"/>
                          <a:ext cx="240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81" name="Group 186"/>
            <p:cNvGrpSpPr/>
            <p:nvPr/>
          </p:nvGrpSpPr>
          <p:grpSpPr>
            <a:xfrm>
              <a:off x="4477" y="1571"/>
              <a:ext cx="240" cy="93"/>
              <a:chOff x="3787" y="2478"/>
              <a:chExt cx="240" cy="93"/>
            </a:xfrm>
          </p:grpSpPr>
          <p:sp>
            <p:nvSpPr>
              <p:cNvPr id="23593" name="Line 187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594" name="Line 188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3582" name="Rectangle 189"/>
            <p:cNvSpPr/>
            <p:nvPr/>
          </p:nvSpPr>
          <p:spPr>
            <a:xfrm>
              <a:off x="5130" y="11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23559" name="Object 190"/>
            <p:cNvGraphicFramePr/>
            <p:nvPr/>
          </p:nvGraphicFramePr>
          <p:xfrm>
            <a:off x="4163" y="1114"/>
            <a:ext cx="259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11" imgW="139700" imgH="228600" progId="Equation.3">
                    <p:embed/>
                  </p:oleObj>
                </mc:Choice>
                <mc:Fallback>
                  <p:oleObj name="" r:id="rId11" imgW="139700" imgH="2286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63" y="1114"/>
                          <a:ext cx="259" cy="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83" name="Group 191"/>
            <p:cNvGrpSpPr/>
            <p:nvPr/>
          </p:nvGrpSpPr>
          <p:grpSpPr>
            <a:xfrm>
              <a:off x="3878" y="1479"/>
              <a:ext cx="363" cy="363"/>
              <a:chOff x="3878" y="1389"/>
              <a:chExt cx="363" cy="363"/>
            </a:xfrm>
          </p:grpSpPr>
          <p:sp>
            <p:nvSpPr>
              <p:cNvPr id="23591" name="Oval 192"/>
              <p:cNvSpPr/>
              <p:nvPr/>
            </p:nvSpPr>
            <p:spPr>
              <a:xfrm>
                <a:off x="3878" y="138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3592" name="Line 193"/>
              <p:cNvSpPr/>
              <p:nvPr/>
            </p:nvSpPr>
            <p:spPr>
              <a:xfrm>
                <a:off x="3878" y="1571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584" name="Group 194"/>
            <p:cNvGrpSpPr/>
            <p:nvPr/>
          </p:nvGrpSpPr>
          <p:grpSpPr>
            <a:xfrm rot="10800000">
              <a:off x="5193" y="1616"/>
              <a:ext cx="90" cy="363"/>
              <a:chOff x="1565" y="2614"/>
              <a:chExt cx="90" cy="486"/>
            </a:xfrm>
          </p:grpSpPr>
          <p:sp>
            <p:nvSpPr>
              <p:cNvPr id="23587" name="Arc 195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3588" name="Arc 196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3589" name="Arc 197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3590" name="Arc 198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23585" name="Rectangle 199"/>
            <p:cNvSpPr/>
            <p:nvPr/>
          </p:nvSpPr>
          <p:spPr>
            <a:xfrm>
              <a:off x="5239" y="1933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86" name="Rectangle 200"/>
            <p:cNvSpPr/>
            <p:nvPr/>
          </p:nvSpPr>
          <p:spPr>
            <a:xfrm>
              <a:off x="5239" y="981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204"/>
          <p:cNvGrpSpPr/>
          <p:nvPr/>
        </p:nvGrpSpPr>
        <p:grpSpPr>
          <a:xfrm>
            <a:off x="473075" y="4868863"/>
            <a:ext cx="8342313" cy="1152525"/>
            <a:chOff x="298" y="3067"/>
            <a:chExt cx="5255" cy="726"/>
          </a:xfrm>
        </p:grpSpPr>
        <p:graphicFrame>
          <p:nvGraphicFramePr>
            <p:cNvPr id="23557" name="Object 131">
              <a:hlinkClick r:id="" action="ppaction://ole?verb="/>
            </p:cNvPr>
            <p:cNvGraphicFramePr/>
            <p:nvPr/>
          </p:nvGraphicFramePr>
          <p:xfrm>
            <a:off x="298" y="3067"/>
            <a:ext cx="5255" cy="7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13" imgW="3998595" imgH="482600" progId="Equation.3">
                    <p:embed/>
                  </p:oleObj>
                </mc:Choice>
                <mc:Fallback>
                  <p:oleObj name="" r:id="rId13" imgW="3998595" imgH="4826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8" y="3067"/>
                          <a:ext cx="5255" cy="7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7" name="Line 201"/>
            <p:cNvSpPr/>
            <p:nvPr/>
          </p:nvSpPr>
          <p:spPr>
            <a:xfrm>
              <a:off x="4830" y="3566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8" name="Line 202"/>
            <p:cNvSpPr/>
            <p:nvPr/>
          </p:nvSpPr>
          <p:spPr>
            <a:xfrm>
              <a:off x="3624" y="3566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9" name="Line 203"/>
            <p:cNvSpPr/>
            <p:nvPr/>
          </p:nvSpPr>
          <p:spPr>
            <a:xfrm flipV="1">
              <a:off x="4840" y="3249"/>
              <a:ext cx="81" cy="317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8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2000"/>
                                        <p:tgtEl>
                                          <p:spTgt spid="4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4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4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81" grpId="0"/>
      <p:bldP spid="482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204" name="Text Box 100"/>
          <p:cNvSpPr txBox="1"/>
          <p:nvPr/>
        </p:nvSpPr>
        <p:spPr>
          <a:xfrm>
            <a:off x="684213" y="549275"/>
            <a:ext cx="3455987" cy="519113"/>
          </a:xfrm>
          <a:prstGeom prst="rect">
            <a:avLst/>
          </a:prstGeom>
          <a:noFill/>
          <a:ln w="38100">
            <a:noFill/>
          </a:ln>
        </p:spPr>
        <p:txBody>
          <a:bodyPr lIns="198000" rIns="198000">
            <a:spAutoFit/>
          </a:bodyPr>
          <a:p>
            <a:r>
              <a:rPr lang="en-US" altLang="zh-CN" b="0" dirty="0">
                <a:latin typeface="楷体_GB2312" pitchFamily="49" charset="-122"/>
              </a:rPr>
              <a:t>(c)</a:t>
            </a:r>
            <a:r>
              <a:rPr lang="zh-CN" altLang="en-US" dirty="0">
                <a:latin typeface="楷体_GB2312" pitchFamily="49" charset="-122"/>
              </a:rPr>
              <a:t>三次谐波作用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7205" name="Object 101"/>
          <p:cNvGraphicFramePr/>
          <p:nvPr/>
        </p:nvGraphicFramePr>
        <p:xfrm>
          <a:off x="3879850" y="442913"/>
          <a:ext cx="314007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" imgW="1536065" imgH="393700" progId="Equation.DSMT4">
                  <p:embed/>
                </p:oleObj>
              </mc:Choice>
              <mc:Fallback>
                <p:oleObj name="" r:id="rId1" imgW="1536065" imgH="3937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79850" y="442913"/>
                        <a:ext cx="3140075" cy="804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40" name="Object 136">
            <a:hlinkClick r:id="" action="ppaction://ole?verb="/>
          </p:cNvPr>
          <p:cNvGraphicFramePr/>
          <p:nvPr/>
        </p:nvGraphicFramePr>
        <p:xfrm>
          <a:off x="323850" y="1184275"/>
          <a:ext cx="6029325" cy="160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3" imgW="2868930" imgH="774065" progId="Equation.DSMT4">
                  <p:embed/>
                </p:oleObj>
              </mc:Choice>
              <mc:Fallback>
                <p:oleObj name="" r:id="rId3" imgW="2868930" imgH="774065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1184275"/>
                        <a:ext cx="6029325" cy="1601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Rectangle 138"/>
          <p:cNvSpPr/>
          <p:nvPr/>
        </p:nvSpPr>
        <p:spPr>
          <a:xfrm>
            <a:off x="684213" y="2565400"/>
            <a:ext cx="8016875" cy="35782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/>
          <a:p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24587" name="Group 18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4627" name="Picture 18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28" name="Text Box 18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588" name="Group 18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4625" name="Picture 187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26" name="Text Box 18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589" name="Group 21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4623" name="Picture 21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24" name="Text Box 22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221"/>
          <p:cNvGrpSpPr/>
          <p:nvPr/>
        </p:nvGrpSpPr>
        <p:grpSpPr>
          <a:xfrm>
            <a:off x="6227763" y="1268413"/>
            <a:ext cx="2684462" cy="2027237"/>
            <a:chOff x="3878" y="981"/>
            <a:chExt cx="1691" cy="1277"/>
          </a:xfrm>
        </p:grpSpPr>
        <p:sp>
          <p:nvSpPr>
            <p:cNvPr id="24598" name="Line 222"/>
            <p:cNvSpPr/>
            <p:nvPr/>
          </p:nvSpPr>
          <p:spPr>
            <a:xfrm>
              <a:off x="4060" y="1026"/>
              <a:ext cx="0" cy="1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9" name="Line 223"/>
            <p:cNvSpPr/>
            <p:nvPr/>
          </p:nvSpPr>
          <p:spPr>
            <a:xfrm flipV="1">
              <a:off x="4604" y="1662"/>
              <a:ext cx="0" cy="4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00" name="Line 224"/>
            <p:cNvSpPr/>
            <p:nvPr/>
          </p:nvSpPr>
          <p:spPr>
            <a:xfrm flipV="1">
              <a:off x="4604" y="1026"/>
              <a:ext cx="0" cy="54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4601" name="Line 225"/>
            <p:cNvSpPr/>
            <p:nvPr/>
          </p:nvSpPr>
          <p:spPr>
            <a:xfrm>
              <a:off x="5194" y="1026"/>
              <a:ext cx="0" cy="59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2" name="Line 226"/>
            <p:cNvSpPr/>
            <p:nvPr/>
          </p:nvSpPr>
          <p:spPr>
            <a:xfrm flipH="1" flipV="1">
              <a:off x="5194" y="1979"/>
              <a:ext cx="0" cy="2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3" name="Line 227"/>
            <p:cNvSpPr/>
            <p:nvPr/>
          </p:nvSpPr>
          <p:spPr>
            <a:xfrm flipH="1">
              <a:off x="4060" y="1026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4" name="Line 228"/>
            <p:cNvSpPr/>
            <p:nvPr/>
          </p:nvSpPr>
          <p:spPr>
            <a:xfrm flipH="1">
              <a:off x="4060" y="2160"/>
              <a:ext cx="115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5" name="Line 229"/>
            <p:cNvSpPr/>
            <p:nvPr/>
          </p:nvSpPr>
          <p:spPr>
            <a:xfrm>
              <a:off x="4059" y="1116"/>
              <a:ext cx="0" cy="409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4606" name="Rectangle 230"/>
            <p:cNvSpPr/>
            <p:nvPr/>
          </p:nvSpPr>
          <p:spPr>
            <a:xfrm>
              <a:off x="4921" y="1163"/>
              <a:ext cx="311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7" name="Rectangle 231"/>
            <p:cNvSpPr/>
            <p:nvPr/>
          </p:nvSpPr>
          <p:spPr>
            <a:xfrm>
              <a:off x="4967" y="1661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8" name="Rectangle 232"/>
            <p:cNvSpPr/>
            <p:nvPr/>
          </p:nvSpPr>
          <p:spPr>
            <a:xfrm>
              <a:off x="4695" y="1435"/>
              <a:ext cx="311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4583" name="Object 233"/>
            <p:cNvGraphicFramePr/>
            <p:nvPr/>
          </p:nvGraphicFramePr>
          <p:xfrm>
            <a:off x="5329" y="1525"/>
            <a:ext cx="24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6" imgW="139700" imgH="152400" progId="Equation.3">
                    <p:embed/>
                  </p:oleObj>
                </mc:Choice>
                <mc:Fallback>
                  <p:oleObj name="" r:id="rId6" imgW="139700" imgH="1524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29" y="1525"/>
                          <a:ext cx="240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609" name="Group 234"/>
            <p:cNvGrpSpPr/>
            <p:nvPr/>
          </p:nvGrpSpPr>
          <p:grpSpPr>
            <a:xfrm>
              <a:off x="4477" y="1571"/>
              <a:ext cx="240" cy="93"/>
              <a:chOff x="3787" y="2478"/>
              <a:chExt cx="240" cy="93"/>
            </a:xfrm>
          </p:grpSpPr>
          <p:sp>
            <p:nvSpPr>
              <p:cNvPr id="24621" name="Line 235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622" name="Line 236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610" name="Rectangle 237"/>
            <p:cNvSpPr/>
            <p:nvPr/>
          </p:nvSpPr>
          <p:spPr>
            <a:xfrm>
              <a:off x="5130" y="11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24584" name="Object 238"/>
            <p:cNvGraphicFramePr/>
            <p:nvPr/>
          </p:nvGraphicFramePr>
          <p:xfrm>
            <a:off x="4163" y="1114"/>
            <a:ext cx="259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8" imgW="139700" imgH="228600" progId="Equation.3">
                    <p:embed/>
                  </p:oleObj>
                </mc:Choice>
                <mc:Fallback>
                  <p:oleObj name="" r:id="rId8" imgW="139700" imgH="22860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63" y="1114"/>
                          <a:ext cx="259" cy="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611" name="Group 239"/>
            <p:cNvGrpSpPr/>
            <p:nvPr/>
          </p:nvGrpSpPr>
          <p:grpSpPr>
            <a:xfrm>
              <a:off x="3878" y="1479"/>
              <a:ext cx="363" cy="363"/>
              <a:chOff x="3878" y="1389"/>
              <a:chExt cx="363" cy="363"/>
            </a:xfrm>
          </p:grpSpPr>
          <p:sp>
            <p:nvSpPr>
              <p:cNvPr id="24619" name="Oval 240"/>
              <p:cNvSpPr/>
              <p:nvPr/>
            </p:nvSpPr>
            <p:spPr>
              <a:xfrm>
                <a:off x="3878" y="138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4620" name="Line 241"/>
              <p:cNvSpPr/>
              <p:nvPr/>
            </p:nvSpPr>
            <p:spPr>
              <a:xfrm>
                <a:off x="3878" y="1571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12" name="Group 242"/>
            <p:cNvGrpSpPr/>
            <p:nvPr/>
          </p:nvGrpSpPr>
          <p:grpSpPr>
            <a:xfrm rot="10800000">
              <a:off x="5193" y="1616"/>
              <a:ext cx="90" cy="363"/>
              <a:chOff x="1565" y="2614"/>
              <a:chExt cx="90" cy="486"/>
            </a:xfrm>
          </p:grpSpPr>
          <p:sp>
            <p:nvSpPr>
              <p:cNvPr id="24615" name="Arc 243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4616" name="Arc 244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4617" name="Arc 245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4618" name="Arc 246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24613" name="Rectangle 247"/>
            <p:cNvSpPr/>
            <p:nvPr/>
          </p:nvSpPr>
          <p:spPr>
            <a:xfrm>
              <a:off x="5239" y="1933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614" name="Rectangle 248"/>
            <p:cNvSpPr/>
            <p:nvPr/>
          </p:nvSpPr>
          <p:spPr>
            <a:xfrm>
              <a:off x="5239" y="981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256"/>
          <p:cNvGrpSpPr/>
          <p:nvPr/>
        </p:nvGrpSpPr>
        <p:grpSpPr>
          <a:xfrm>
            <a:off x="669925" y="4149725"/>
            <a:ext cx="7142163" cy="1044575"/>
            <a:chOff x="422" y="2614"/>
            <a:chExt cx="4499" cy="658"/>
          </a:xfrm>
        </p:grpSpPr>
        <p:graphicFrame>
          <p:nvGraphicFramePr>
            <p:cNvPr id="24582" name="Object 139">
              <a:hlinkClick r:id="" action="ppaction://ole?verb="/>
            </p:cNvPr>
            <p:cNvGraphicFramePr/>
            <p:nvPr/>
          </p:nvGraphicFramePr>
          <p:xfrm>
            <a:off x="422" y="2614"/>
            <a:ext cx="4499" cy="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" r:id="rId10" imgW="3084830" imgH="444500" progId="Equation.DSMT4">
                    <p:embed/>
                  </p:oleObj>
                </mc:Choice>
                <mc:Fallback>
                  <p:oleObj name="" r:id="rId10" imgW="3084830" imgH="444500" progId="Equation.DSMT4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2" y="2614"/>
                          <a:ext cx="4499" cy="6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7" name="Line 249"/>
            <p:cNvSpPr/>
            <p:nvPr/>
          </p:nvSpPr>
          <p:spPr>
            <a:xfrm>
              <a:off x="3878" y="3077"/>
              <a:ext cx="89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253"/>
          <p:cNvGrpSpPr/>
          <p:nvPr/>
        </p:nvGrpSpPr>
        <p:grpSpPr>
          <a:xfrm>
            <a:off x="1201738" y="3068638"/>
            <a:ext cx="6161087" cy="936625"/>
            <a:chOff x="757" y="1933"/>
            <a:chExt cx="3881" cy="590"/>
          </a:xfrm>
        </p:grpSpPr>
        <p:graphicFrame>
          <p:nvGraphicFramePr>
            <p:cNvPr id="24581" name="Object 133">
              <a:hlinkClick r:id="" action="ppaction://ole?verb="/>
            </p:cNvPr>
            <p:cNvGraphicFramePr/>
            <p:nvPr/>
          </p:nvGraphicFramePr>
          <p:xfrm>
            <a:off x="757" y="1933"/>
            <a:ext cx="3881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12" imgW="2768600" imgH="419100" progId="Equation.DSMT4">
                    <p:embed/>
                  </p:oleObj>
                </mc:Choice>
                <mc:Fallback>
                  <p:oleObj name="" r:id="rId12" imgW="2768600" imgH="419100" progId="Equation.DSMT4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57" y="1933"/>
                          <a:ext cx="3881" cy="5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6" name="Line 251"/>
            <p:cNvSpPr/>
            <p:nvPr/>
          </p:nvSpPr>
          <p:spPr>
            <a:xfrm>
              <a:off x="3645" y="2340"/>
              <a:ext cx="81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255"/>
          <p:cNvGrpSpPr/>
          <p:nvPr/>
        </p:nvGrpSpPr>
        <p:grpSpPr>
          <a:xfrm>
            <a:off x="1116013" y="5157788"/>
            <a:ext cx="2800350" cy="935037"/>
            <a:chOff x="703" y="3249"/>
            <a:chExt cx="1764" cy="589"/>
          </a:xfrm>
        </p:grpSpPr>
        <p:graphicFrame>
          <p:nvGraphicFramePr>
            <p:cNvPr id="24580" name="Object 140">
              <a:hlinkClick r:id="" action="ppaction://ole?verb="/>
            </p:cNvPr>
            <p:cNvGraphicFramePr/>
            <p:nvPr/>
          </p:nvGraphicFramePr>
          <p:xfrm>
            <a:off x="703" y="3249"/>
            <a:ext cx="1764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14" imgW="1435100" imgH="469900" progId="Equation.3">
                    <p:embed/>
                  </p:oleObj>
                </mc:Choice>
                <mc:Fallback>
                  <p:oleObj name="" r:id="rId14" imgW="1435100" imgH="4699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03" y="3249"/>
                          <a:ext cx="1764" cy="5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4" name="Line 250"/>
            <p:cNvSpPr/>
            <p:nvPr/>
          </p:nvSpPr>
          <p:spPr>
            <a:xfrm>
              <a:off x="1429" y="3657"/>
              <a:ext cx="635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5" name="Line 252"/>
            <p:cNvSpPr/>
            <p:nvPr/>
          </p:nvSpPr>
          <p:spPr>
            <a:xfrm flipV="1">
              <a:off x="1429" y="3430"/>
              <a:ext cx="91" cy="227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2000"/>
                                        <p:tgtEl>
                                          <p:spTgt spid="4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6" name="Text Box 4"/>
          <p:cNvSpPr txBox="1"/>
          <p:nvPr/>
        </p:nvSpPr>
        <p:spPr>
          <a:xfrm>
            <a:off x="468313" y="619125"/>
            <a:ext cx="3887787" cy="519113"/>
          </a:xfrm>
          <a:prstGeom prst="rect">
            <a:avLst/>
          </a:prstGeom>
          <a:noFill/>
          <a:ln w="38100">
            <a:noFill/>
          </a:ln>
        </p:spPr>
        <p:txBody>
          <a:bodyPr lIns="198000" rIns="198000">
            <a:spAutoFit/>
          </a:bodyPr>
          <a:p>
            <a:r>
              <a:rPr lang="en-US" altLang="zh-CN" b="0" dirty="0">
                <a:latin typeface="楷体_GB2312" pitchFamily="49" charset="-122"/>
              </a:rPr>
              <a:t>(d)</a:t>
            </a:r>
            <a:r>
              <a:rPr lang="zh-CN" altLang="en-US" dirty="0">
                <a:latin typeface="楷体_GB2312" pitchFamily="49" charset="-122"/>
              </a:rPr>
              <a:t>五次谐波作用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9157" name="Object 5"/>
          <p:cNvGraphicFramePr/>
          <p:nvPr/>
        </p:nvGraphicFramePr>
        <p:xfrm>
          <a:off x="3582988" y="476250"/>
          <a:ext cx="3509962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" imgW="1701800" imgH="457200" progId="Equation.3">
                  <p:embed/>
                </p:oleObj>
              </mc:Choice>
              <mc:Fallback>
                <p:oleObj name="" r:id="rId1" imgW="1701800" imgH="4572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82988" y="476250"/>
                        <a:ext cx="3509962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9" name="Object 37">
            <a:hlinkClick r:id="" action="ppaction://ole?verb="/>
          </p:cNvPr>
          <p:cNvGraphicFramePr/>
          <p:nvPr/>
        </p:nvGraphicFramePr>
        <p:xfrm>
          <a:off x="465138" y="1339850"/>
          <a:ext cx="5353050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3" imgW="2792730" imgH="774065" progId="Equation.3">
                  <p:embed/>
                </p:oleObj>
              </mc:Choice>
              <mc:Fallback>
                <p:oleObj name="" r:id="rId3" imgW="2792730" imgH="774065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5138" y="1339850"/>
                        <a:ext cx="5353050" cy="1520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9" name="Group 8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5648" name="Picture 8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49" name="Text Box 8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610" name="Group 8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5646" name="Picture 8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47" name="Text Box 8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611" name="Group 11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5644" name="Picture 116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45" name="Text Box 11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118"/>
          <p:cNvGrpSpPr/>
          <p:nvPr/>
        </p:nvGrpSpPr>
        <p:grpSpPr>
          <a:xfrm>
            <a:off x="6227763" y="1268413"/>
            <a:ext cx="2684462" cy="2027237"/>
            <a:chOff x="3878" y="981"/>
            <a:chExt cx="1691" cy="1277"/>
          </a:xfrm>
        </p:grpSpPr>
        <p:sp>
          <p:nvSpPr>
            <p:cNvPr id="25619" name="Line 119"/>
            <p:cNvSpPr/>
            <p:nvPr/>
          </p:nvSpPr>
          <p:spPr>
            <a:xfrm>
              <a:off x="4060" y="1026"/>
              <a:ext cx="0" cy="1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0" name="Line 120"/>
            <p:cNvSpPr/>
            <p:nvPr/>
          </p:nvSpPr>
          <p:spPr>
            <a:xfrm flipV="1">
              <a:off x="4604" y="1662"/>
              <a:ext cx="0" cy="4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5621" name="Line 121"/>
            <p:cNvSpPr/>
            <p:nvPr/>
          </p:nvSpPr>
          <p:spPr>
            <a:xfrm flipV="1">
              <a:off x="4604" y="1026"/>
              <a:ext cx="0" cy="54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5622" name="Line 122"/>
            <p:cNvSpPr/>
            <p:nvPr/>
          </p:nvSpPr>
          <p:spPr>
            <a:xfrm>
              <a:off x="5194" y="1026"/>
              <a:ext cx="0" cy="59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3" name="Line 123"/>
            <p:cNvSpPr/>
            <p:nvPr/>
          </p:nvSpPr>
          <p:spPr>
            <a:xfrm flipH="1" flipV="1">
              <a:off x="5194" y="1979"/>
              <a:ext cx="0" cy="2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4" name="Line 124"/>
            <p:cNvSpPr/>
            <p:nvPr/>
          </p:nvSpPr>
          <p:spPr>
            <a:xfrm flipH="1">
              <a:off x="4060" y="1026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5" name="Line 125"/>
            <p:cNvSpPr/>
            <p:nvPr/>
          </p:nvSpPr>
          <p:spPr>
            <a:xfrm flipH="1">
              <a:off x="4060" y="2160"/>
              <a:ext cx="115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6" name="Line 126"/>
            <p:cNvSpPr/>
            <p:nvPr/>
          </p:nvSpPr>
          <p:spPr>
            <a:xfrm>
              <a:off x="4059" y="1116"/>
              <a:ext cx="0" cy="409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5627" name="Rectangle 127"/>
            <p:cNvSpPr/>
            <p:nvPr/>
          </p:nvSpPr>
          <p:spPr>
            <a:xfrm>
              <a:off x="4921" y="1163"/>
              <a:ext cx="311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8" name="Rectangle 128"/>
            <p:cNvSpPr/>
            <p:nvPr/>
          </p:nvSpPr>
          <p:spPr>
            <a:xfrm>
              <a:off x="4967" y="1661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9" name="Rectangle 129"/>
            <p:cNvSpPr/>
            <p:nvPr/>
          </p:nvSpPr>
          <p:spPr>
            <a:xfrm>
              <a:off x="4695" y="1435"/>
              <a:ext cx="311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5606" name="Object 130"/>
            <p:cNvGraphicFramePr/>
            <p:nvPr/>
          </p:nvGraphicFramePr>
          <p:xfrm>
            <a:off x="5329" y="1525"/>
            <a:ext cx="24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6" imgW="139700" imgH="152400" progId="Equation.3">
                    <p:embed/>
                  </p:oleObj>
                </mc:Choice>
                <mc:Fallback>
                  <p:oleObj name="" r:id="rId6" imgW="139700" imgH="15240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29" y="1525"/>
                          <a:ext cx="240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30" name="Group 131"/>
            <p:cNvGrpSpPr/>
            <p:nvPr/>
          </p:nvGrpSpPr>
          <p:grpSpPr>
            <a:xfrm>
              <a:off x="4477" y="1571"/>
              <a:ext cx="240" cy="93"/>
              <a:chOff x="3787" y="2478"/>
              <a:chExt cx="240" cy="93"/>
            </a:xfrm>
          </p:grpSpPr>
          <p:sp>
            <p:nvSpPr>
              <p:cNvPr id="25642" name="Line 132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43" name="Line 133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5631" name="Rectangle 134"/>
            <p:cNvSpPr/>
            <p:nvPr/>
          </p:nvSpPr>
          <p:spPr>
            <a:xfrm>
              <a:off x="5130" y="11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25607" name="Object 135"/>
            <p:cNvGraphicFramePr/>
            <p:nvPr/>
          </p:nvGraphicFramePr>
          <p:xfrm>
            <a:off x="4163" y="1114"/>
            <a:ext cx="259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8" imgW="139700" imgH="228600" progId="Equation.3">
                    <p:embed/>
                  </p:oleObj>
                </mc:Choice>
                <mc:Fallback>
                  <p:oleObj name="" r:id="rId8" imgW="139700" imgH="2286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63" y="1114"/>
                          <a:ext cx="259" cy="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32" name="Group 136"/>
            <p:cNvGrpSpPr/>
            <p:nvPr/>
          </p:nvGrpSpPr>
          <p:grpSpPr>
            <a:xfrm>
              <a:off x="3878" y="1479"/>
              <a:ext cx="363" cy="363"/>
              <a:chOff x="3878" y="1389"/>
              <a:chExt cx="363" cy="363"/>
            </a:xfrm>
          </p:grpSpPr>
          <p:sp>
            <p:nvSpPr>
              <p:cNvPr id="25640" name="Oval 137"/>
              <p:cNvSpPr/>
              <p:nvPr/>
            </p:nvSpPr>
            <p:spPr>
              <a:xfrm>
                <a:off x="3878" y="138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5641" name="Line 138"/>
              <p:cNvSpPr/>
              <p:nvPr/>
            </p:nvSpPr>
            <p:spPr>
              <a:xfrm>
                <a:off x="3878" y="1571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5633" name="Group 139"/>
            <p:cNvGrpSpPr/>
            <p:nvPr/>
          </p:nvGrpSpPr>
          <p:grpSpPr>
            <a:xfrm rot="10800000">
              <a:off x="5193" y="1616"/>
              <a:ext cx="90" cy="363"/>
              <a:chOff x="1565" y="2614"/>
              <a:chExt cx="90" cy="486"/>
            </a:xfrm>
          </p:grpSpPr>
          <p:sp>
            <p:nvSpPr>
              <p:cNvPr id="25636" name="Arc 140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5637" name="Arc 141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5638" name="Arc 142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5639" name="Arc 143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25634" name="Rectangle 144"/>
            <p:cNvSpPr/>
            <p:nvPr/>
          </p:nvSpPr>
          <p:spPr>
            <a:xfrm>
              <a:off x="5239" y="1933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635" name="Rectangle 145"/>
            <p:cNvSpPr/>
            <p:nvPr/>
          </p:nvSpPr>
          <p:spPr>
            <a:xfrm>
              <a:off x="5239" y="981"/>
              <a:ext cx="310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488" tIns="44450" rIns="90488" bIns="44450">
              <a:spAutoFit/>
            </a:bodyPr>
            <a:p>
              <a:pPr defTabSz="762000" eaLnBrk="0" hangingPunct="0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151"/>
          <p:cNvGrpSpPr/>
          <p:nvPr/>
        </p:nvGrpSpPr>
        <p:grpSpPr>
          <a:xfrm>
            <a:off x="1023938" y="3209925"/>
            <a:ext cx="6303962" cy="901700"/>
            <a:chOff x="645" y="2022"/>
            <a:chExt cx="3971" cy="568"/>
          </a:xfrm>
        </p:grpSpPr>
        <p:graphicFrame>
          <p:nvGraphicFramePr>
            <p:cNvPr id="25605" name="Object 6">
              <a:hlinkClick r:id="" action="ppaction://ole?verb="/>
            </p:cNvPr>
            <p:cNvGraphicFramePr/>
            <p:nvPr/>
          </p:nvGraphicFramePr>
          <p:xfrm>
            <a:off x="645" y="2022"/>
            <a:ext cx="3971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0" imgW="2870200" imgH="419100" progId="Equation.DSMT4">
                    <p:embed/>
                  </p:oleObj>
                </mc:Choice>
                <mc:Fallback>
                  <p:oleObj name="" r:id="rId10" imgW="2870200" imgH="419100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45" y="2022"/>
                          <a:ext cx="3971" cy="5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8" name="Line 147"/>
            <p:cNvSpPr/>
            <p:nvPr/>
          </p:nvSpPr>
          <p:spPr>
            <a:xfrm>
              <a:off x="3600" y="2430"/>
              <a:ext cx="81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150"/>
          <p:cNvGrpSpPr/>
          <p:nvPr/>
        </p:nvGrpSpPr>
        <p:grpSpPr>
          <a:xfrm>
            <a:off x="684213" y="4365625"/>
            <a:ext cx="7439025" cy="1874838"/>
            <a:chOff x="431" y="2750"/>
            <a:chExt cx="4686" cy="1181"/>
          </a:xfrm>
        </p:grpSpPr>
        <p:graphicFrame>
          <p:nvGraphicFramePr>
            <p:cNvPr id="25604" name="Object 38">
              <a:hlinkClick r:id="" action="ppaction://ole?verb="/>
            </p:cNvPr>
            <p:cNvGraphicFramePr/>
            <p:nvPr/>
          </p:nvGraphicFramePr>
          <p:xfrm>
            <a:off x="431" y="2750"/>
            <a:ext cx="4686" cy="1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2" imgW="3429000" imgH="876300" progId="Equation.3">
                    <p:embed/>
                  </p:oleObj>
                </mc:Choice>
                <mc:Fallback>
                  <p:oleObj name="" r:id="rId12" imgW="3429000" imgH="8763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1" y="2750"/>
                          <a:ext cx="4686" cy="11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5" name="Line 146"/>
            <p:cNvSpPr/>
            <p:nvPr/>
          </p:nvSpPr>
          <p:spPr>
            <a:xfrm>
              <a:off x="4005" y="3122"/>
              <a:ext cx="81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6" name="Line 148"/>
            <p:cNvSpPr/>
            <p:nvPr/>
          </p:nvSpPr>
          <p:spPr>
            <a:xfrm flipV="1">
              <a:off x="1547" y="3430"/>
              <a:ext cx="91" cy="318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7" name="Line 149"/>
            <p:cNvSpPr/>
            <p:nvPr/>
          </p:nvSpPr>
          <p:spPr>
            <a:xfrm>
              <a:off x="1556" y="3748"/>
              <a:ext cx="72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ext Box 2"/>
          <p:cNvSpPr txBox="1"/>
          <p:nvPr/>
        </p:nvSpPr>
        <p:spPr>
          <a:xfrm>
            <a:off x="468313" y="549275"/>
            <a:ext cx="5897562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楷体_GB2312" pitchFamily="49" charset="-122"/>
              </a:rPr>
              <a:t> </a:t>
            </a:r>
            <a:r>
              <a:rPr lang="en-US" altLang="zh-CN" b="0" dirty="0">
                <a:latin typeface="楷体_GB2312" pitchFamily="49" charset="-122"/>
              </a:rPr>
              <a:t>(3)</a:t>
            </a:r>
            <a:r>
              <a:rPr lang="zh-CN" altLang="en-US" dirty="0">
                <a:latin typeface="楷体_GB2312" pitchFamily="49" charset="-122"/>
              </a:rPr>
              <a:t>各</a:t>
            </a:r>
            <a:r>
              <a:rPr lang="zh-CN" altLang="zh-CN" dirty="0">
                <a:latin typeface="楷体_GB2312" pitchFamily="49" charset="-122"/>
              </a:rPr>
              <a:t>谐波分量计算结果瞬时值叠加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50179" name="Object 3"/>
          <p:cNvGraphicFramePr/>
          <p:nvPr/>
        </p:nvGraphicFramePr>
        <p:xfrm>
          <a:off x="1187450" y="2997200"/>
          <a:ext cx="5888038" cy="234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2246630" imgH="1002665" progId="Equation.3">
                  <p:embed/>
                </p:oleObj>
              </mc:Choice>
              <mc:Fallback>
                <p:oleObj name="" r:id="rId1" imgW="2246630" imgH="1002665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2997200"/>
                        <a:ext cx="5888038" cy="2341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2" name="Group 2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6647" name="Picture 2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8" name="Text Box 2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33" name="Group 2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6645" name="Picture 2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6" name="Text Box 3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34" name="Group 34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6643" name="Picture 3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4" name="Text Box 3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43"/>
          <p:cNvGrpSpPr/>
          <p:nvPr/>
        </p:nvGrpSpPr>
        <p:grpSpPr>
          <a:xfrm>
            <a:off x="539750" y="1125538"/>
            <a:ext cx="6829425" cy="1871662"/>
            <a:chOff x="340" y="709"/>
            <a:chExt cx="4302" cy="1179"/>
          </a:xfrm>
        </p:grpSpPr>
        <p:grpSp>
          <p:nvGrpSpPr>
            <p:cNvPr id="26636" name="Group 8"/>
            <p:cNvGrpSpPr/>
            <p:nvPr/>
          </p:nvGrpSpPr>
          <p:grpSpPr>
            <a:xfrm>
              <a:off x="340" y="709"/>
              <a:ext cx="4302" cy="1179"/>
              <a:chOff x="181" y="447"/>
              <a:chExt cx="4691" cy="1344"/>
            </a:xfrm>
          </p:grpSpPr>
          <p:graphicFrame>
            <p:nvGraphicFramePr>
              <p:cNvPr id="26627" name="Object 4"/>
              <p:cNvGraphicFramePr/>
              <p:nvPr/>
            </p:nvGraphicFramePr>
            <p:xfrm>
              <a:off x="437" y="517"/>
              <a:ext cx="1485" cy="4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1" name="" r:id="rId4" imgW="1002665" imgH="241300" progId="Equation.3">
                      <p:embed/>
                    </p:oleObj>
                  </mc:Choice>
                  <mc:Fallback>
                    <p:oleObj name="" r:id="rId4" imgW="1002665" imgH="241300" progId="Equation.3">
                      <p:embed/>
                      <p:pic>
                        <p:nvPicPr>
                          <p:cNvPr id="0" name="图片 3100"/>
                          <p:cNvPicPr/>
                          <p:nvPr/>
                        </p:nvPicPr>
                        <p:blipFill>
                          <a:blip r:embed="rId5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37" y="517"/>
                            <a:ext cx="1485" cy="40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28" name="Object 5"/>
              <p:cNvGraphicFramePr/>
              <p:nvPr/>
            </p:nvGraphicFramePr>
            <p:xfrm>
              <a:off x="2338" y="447"/>
              <a:ext cx="2534" cy="6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2" name="" r:id="rId6" imgW="1651000" imgH="469900" progId="Equation.3">
                      <p:embed/>
                    </p:oleObj>
                  </mc:Choice>
                  <mc:Fallback>
                    <p:oleObj name="" r:id="rId6" imgW="1651000" imgH="469900" progId="Equation.3">
                      <p:embed/>
                      <p:pic>
                        <p:nvPicPr>
                          <p:cNvPr id="0" name="图片 3101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338" y="447"/>
                            <a:ext cx="2534" cy="66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29" name="Object 6"/>
              <p:cNvGraphicFramePr/>
              <p:nvPr/>
            </p:nvGraphicFramePr>
            <p:xfrm>
              <a:off x="181" y="945"/>
              <a:ext cx="2087" cy="6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3" name="" r:id="rId8" imgW="1257300" imgH="469900" progId="Equation.3">
                      <p:embed/>
                    </p:oleObj>
                  </mc:Choice>
                  <mc:Fallback>
                    <p:oleObj name="" r:id="rId8" imgW="1257300" imgH="469900" progId="Equation.3">
                      <p:embed/>
                      <p:pic>
                        <p:nvPicPr>
                          <p:cNvPr id="0" name="图片 3102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81" y="945"/>
                            <a:ext cx="2087" cy="66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0" name="Object 7"/>
              <p:cNvGraphicFramePr/>
              <p:nvPr/>
            </p:nvGraphicFramePr>
            <p:xfrm>
              <a:off x="2345" y="1078"/>
              <a:ext cx="2431" cy="7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4" name="" r:id="rId10" imgW="1701800" imgH="469900" progId="Equation.3">
                      <p:embed/>
                    </p:oleObj>
                  </mc:Choice>
                  <mc:Fallback>
                    <p:oleObj name="" r:id="rId10" imgW="1701800" imgH="469900" progId="Equation.3">
                      <p:embed/>
                      <p:pic>
                        <p:nvPicPr>
                          <p:cNvPr id="0" name="图片 3103"/>
                          <p:cNvPicPr/>
                          <p:nvPr/>
                        </p:nvPicPr>
                        <p:blipFill>
                          <a:blip r:embed="rId11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345" y="1078"/>
                            <a:ext cx="2431" cy="71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637" name="Line 37"/>
            <p:cNvSpPr/>
            <p:nvPr/>
          </p:nvSpPr>
          <p:spPr>
            <a:xfrm flipV="1">
              <a:off x="1474" y="1253"/>
              <a:ext cx="91" cy="27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8" name="Line 38"/>
            <p:cNvSpPr/>
            <p:nvPr/>
          </p:nvSpPr>
          <p:spPr>
            <a:xfrm>
              <a:off x="1474" y="1525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9" name="Line 39"/>
            <p:cNvSpPr/>
            <p:nvPr/>
          </p:nvSpPr>
          <p:spPr>
            <a:xfrm flipV="1">
              <a:off x="3379" y="1434"/>
              <a:ext cx="45" cy="27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0" name="Line 40"/>
            <p:cNvSpPr/>
            <p:nvPr/>
          </p:nvSpPr>
          <p:spPr>
            <a:xfrm>
              <a:off x="3379" y="1706"/>
              <a:ext cx="771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1" name="Line 41"/>
            <p:cNvSpPr/>
            <p:nvPr/>
          </p:nvSpPr>
          <p:spPr>
            <a:xfrm flipV="1">
              <a:off x="3452" y="845"/>
              <a:ext cx="91" cy="27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2" name="Line 42"/>
            <p:cNvSpPr/>
            <p:nvPr/>
          </p:nvSpPr>
          <p:spPr>
            <a:xfrm>
              <a:off x="3452" y="1117"/>
              <a:ext cx="635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20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388" name="Object 52"/>
          <p:cNvGraphicFramePr/>
          <p:nvPr/>
        </p:nvGraphicFramePr>
        <p:xfrm>
          <a:off x="671513" y="1052513"/>
          <a:ext cx="79470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3884295" imgH="444500" progId="Equation.3">
                  <p:embed/>
                </p:oleObj>
              </mc:Choice>
              <mc:Fallback>
                <p:oleObj name="" r:id="rId1" imgW="3884295" imgH="4445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1513" y="1052513"/>
                        <a:ext cx="7947025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89" name="Text Box 53"/>
          <p:cNvSpPr txBox="1"/>
          <p:nvPr/>
        </p:nvSpPr>
        <p:spPr>
          <a:xfrm>
            <a:off x="1619250" y="620713"/>
            <a:ext cx="518477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求电路中各表读数</a:t>
            </a:r>
            <a:r>
              <a:rPr lang="en-US" altLang="zh-CN" dirty="0">
                <a:latin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</a:rPr>
              <a:t>有效值</a:t>
            </a:r>
            <a:r>
              <a:rPr lang="en-US" altLang="zh-CN" dirty="0">
                <a:latin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</a:rPr>
              <a:t>，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14520" name="Text Box 184"/>
          <p:cNvSpPr txBox="1"/>
          <p:nvPr/>
        </p:nvSpPr>
        <p:spPr>
          <a:xfrm>
            <a:off x="250825" y="620713"/>
            <a:ext cx="12969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7653" name="Group 27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7725" name="Picture 27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726" name="Text Box 27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654" name="Group 27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7723" name="Picture 27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724" name="Text Box 27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655" name="Group 280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7721" name="Picture 28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722" name="Text Box 28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293"/>
          <p:cNvGrpSpPr/>
          <p:nvPr/>
        </p:nvGrpSpPr>
        <p:grpSpPr>
          <a:xfrm>
            <a:off x="836613" y="2060575"/>
            <a:ext cx="6926262" cy="3360738"/>
            <a:chOff x="527" y="1298"/>
            <a:chExt cx="4363" cy="2117"/>
          </a:xfrm>
        </p:grpSpPr>
        <p:sp>
          <p:nvSpPr>
            <p:cNvPr id="27657" name="Line 205"/>
            <p:cNvSpPr/>
            <p:nvPr/>
          </p:nvSpPr>
          <p:spPr>
            <a:xfrm>
              <a:off x="648" y="1994"/>
              <a:ext cx="0" cy="9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8" name="Line 206"/>
            <p:cNvSpPr/>
            <p:nvPr/>
          </p:nvSpPr>
          <p:spPr>
            <a:xfrm>
              <a:off x="1155" y="2003"/>
              <a:ext cx="2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9" name="Line 207"/>
            <p:cNvSpPr/>
            <p:nvPr/>
          </p:nvSpPr>
          <p:spPr>
            <a:xfrm>
              <a:off x="1433" y="1784"/>
              <a:ext cx="0" cy="4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0" name="Line 208"/>
            <p:cNvSpPr/>
            <p:nvPr/>
          </p:nvSpPr>
          <p:spPr>
            <a:xfrm>
              <a:off x="1656" y="2117"/>
              <a:ext cx="0" cy="252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1" name="Line 209"/>
            <p:cNvSpPr/>
            <p:nvPr/>
          </p:nvSpPr>
          <p:spPr>
            <a:xfrm>
              <a:off x="1740" y="2117"/>
              <a:ext cx="0" cy="252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2" name="Line 210"/>
            <p:cNvSpPr/>
            <p:nvPr/>
          </p:nvSpPr>
          <p:spPr>
            <a:xfrm>
              <a:off x="2250" y="2237"/>
              <a:ext cx="18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3" name="Line 211"/>
            <p:cNvSpPr/>
            <p:nvPr/>
          </p:nvSpPr>
          <p:spPr>
            <a:xfrm flipV="1">
              <a:off x="2129" y="1797"/>
              <a:ext cx="3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4" name="Line 212"/>
            <p:cNvSpPr/>
            <p:nvPr/>
          </p:nvSpPr>
          <p:spPr>
            <a:xfrm>
              <a:off x="2430" y="1787"/>
              <a:ext cx="0" cy="45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5" name="Line 213"/>
            <p:cNvSpPr/>
            <p:nvPr/>
          </p:nvSpPr>
          <p:spPr>
            <a:xfrm>
              <a:off x="2446" y="2024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666" name="Line 214"/>
            <p:cNvSpPr/>
            <p:nvPr/>
          </p:nvSpPr>
          <p:spPr>
            <a:xfrm flipH="1">
              <a:off x="3127" y="1790"/>
              <a:ext cx="0" cy="43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7" name="Line 215"/>
            <p:cNvSpPr/>
            <p:nvPr/>
          </p:nvSpPr>
          <p:spPr>
            <a:xfrm>
              <a:off x="3120" y="1781"/>
              <a:ext cx="1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8" name="Line 216"/>
            <p:cNvSpPr/>
            <p:nvPr/>
          </p:nvSpPr>
          <p:spPr>
            <a:xfrm flipV="1">
              <a:off x="3123" y="2225"/>
              <a:ext cx="37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9" name="Line 217"/>
            <p:cNvSpPr/>
            <p:nvPr/>
          </p:nvSpPr>
          <p:spPr>
            <a:xfrm>
              <a:off x="3498" y="2093"/>
              <a:ext cx="0" cy="252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0" name="Line 218"/>
            <p:cNvSpPr/>
            <p:nvPr/>
          </p:nvSpPr>
          <p:spPr>
            <a:xfrm>
              <a:off x="3588" y="2090"/>
              <a:ext cx="0" cy="252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1" name="Line 219"/>
            <p:cNvSpPr/>
            <p:nvPr/>
          </p:nvSpPr>
          <p:spPr>
            <a:xfrm flipV="1">
              <a:off x="3597" y="2216"/>
              <a:ext cx="753" cy="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2" name="Line 220"/>
            <p:cNvSpPr/>
            <p:nvPr/>
          </p:nvSpPr>
          <p:spPr>
            <a:xfrm flipH="1">
              <a:off x="4350" y="1797"/>
              <a:ext cx="2" cy="4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3" name="Line 221"/>
            <p:cNvSpPr/>
            <p:nvPr/>
          </p:nvSpPr>
          <p:spPr>
            <a:xfrm>
              <a:off x="4350" y="1982"/>
              <a:ext cx="3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4" name="Line 222"/>
            <p:cNvSpPr/>
            <p:nvPr/>
          </p:nvSpPr>
          <p:spPr>
            <a:xfrm flipH="1">
              <a:off x="4740" y="1981"/>
              <a:ext cx="0" cy="101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5" name="Line 223"/>
            <p:cNvSpPr/>
            <p:nvPr/>
          </p:nvSpPr>
          <p:spPr>
            <a:xfrm flipV="1">
              <a:off x="3716" y="1797"/>
              <a:ext cx="63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6" name="Line 224"/>
            <p:cNvSpPr/>
            <p:nvPr/>
          </p:nvSpPr>
          <p:spPr>
            <a:xfrm flipV="1">
              <a:off x="1431" y="2237"/>
              <a:ext cx="222" cy="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7" name="Line 225"/>
            <p:cNvSpPr/>
            <p:nvPr/>
          </p:nvSpPr>
          <p:spPr>
            <a:xfrm flipV="1">
              <a:off x="1740" y="2246"/>
              <a:ext cx="21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8" name="Line 226"/>
            <p:cNvSpPr/>
            <p:nvPr/>
          </p:nvSpPr>
          <p:spPr>
            <a:xfrm>
              <a:off x="1440" y="1784"/>
              <a:ext cx="2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9" name="Line 227"/>
            <p:cNvSpPr/>
            <p:nvPr/>
          </p:nvSpPr>
          <p:spPr>
            <a:xfrm flipV="1">
              <a:off x="1284" y="2003"/>
              <a:ext cx="0" cy="6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sm" len="med"/>
            </a:ln>
          </p:spPr>
        </p:sp>
        <p:sp>
          <p:nvSpPr>
            <p:cNvPr id="27680" name="Line 228"/>
            <p:cNvSpPr/>
            <p:nvPr/>
          </p:nvSpPr>
          <p:spPr>
            <a:xfrm>
              <a:off x="1281" y="2654"/>
              <a:ext cx="1743" cy="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1" name="Line 229"/>
            <p:cNvSpPr/>
            <p:nvPr/>
          </p:nvSpPr>
          <p:spPr>
            <a:xfrm flipV="1">
              <a:off x="3036" y="2024"/>
              <a:ext cx="0" cy="6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sm" len="med"/>
            </a:ln>
          </p:spPr>
        </p:sp>
        <p:sp>
          <p:nvSpPr>
            <p:cNvPr id="27682" name="Line 230"/>
            <p:cNvSpPr/>
            <p:nvPr/>
          </p:nvSpPr>
          <p:spPr>
            <a:xfrm>
              <a:off x="2556" y="1469"/>
              <a:ext cx="0" cy="55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sm" len="med"/>
            </a:ln>
          </p:spPr>
        </p:sp>
        <p:sp>
          <p:nvSpPr>
            <p:cNvPr id="27683" name="Line 231"/>
            <p:cNvSpPr/>
            <p:nvPr/>
          </p:nvSpPr>
          <p:spPr>
            <a:xfrm>
              <a:off x="2556" y="1469"/>
              <a:ext cx="199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4" name="Line 232"/>
            <p:cNvSpPr/>
            <p:nvPr/>
          </p:nvSpPr>
          <p:spPr>
            <a:xfrm flipH="1">
              <a:off x="4543" y="1473"/>
              <a:ext cx="0" cy="51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sm" len="med"/>
            </a:ln>
          </p:spPr>
        </p:sp>
        <p:sp>
          <p:nvSpPr>
            <p:cNvPr id="27685" name="Text Box 233"/>
            <p:cNvSpPr txBox="1"/>
            <p:nvPr/>
          </p:nvSpPr>
          <p:spPr>
            <a:xfrm>
              <a:off x="1852" y="2479"/>
              <a:ext cx="3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6" name="Text Box 234"/>
            <p:cNvSpPr txBox="1"/>
            <p:nvPr/>
          </p:nvSpPr>
          <p:spPr>
            <a:xfrm>
              <a:off x="1585" y="1389"/>
              <a:ext cx="31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7" name="Text Box 235"/>
            <p:cNvSpPr txBox="1"/>
            <p:nvPr/>
          </p:nvSpPr>
          <p:spPr>
            <a:xfrm>
              <a:off x="1484" y="1815"/>
              <a:ext cx="4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8" name="Text Box 236"/>
            <p:cNvSpPr txBox="1"/>
            <p:nvPr/>
          </p:nvSpPr>
          <p:spPr>
            <a:xfrm>
              <a:off x="3196" y="2176"/>
              <a:ext cx="3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9" name="Text Box 237"/>
            <p:cNvSpPr txBox="1"/>
            <p:nvPr/>
          </p:nvSpPr>
          <p:spPr>
            <a:xfrm>
              <a:off x="3036" y="1470"/>
              <a:ext cx="31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0" name="Text Box 238"/>
            <p:cNvSpPr txBox="1"/>
            <p:nvPr/>
          </p:nvSpPr>
          <p:spPr>
            <a:xfrm>
              <a:off x="1857" y="1389"/>
              <a:ext cx="6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40mH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1" name="Text Box 239"/>
            <p:cNvSpPr txBox="1"/>
            <p:nvPr/>
          </p:nvSpPr>
          <p:spPr>
            <a:xfrm>
              <a:off x="3218" y="1752"/>
              <a:ext cx="6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10mH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2" name="Oval 240"/>
            <p:cNvSpPr/>
            <p:nvPr/>
          </p:nvSpPr>
          <p:spPr>
            <a:xfrm>
              <a:off x="612" y="2984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27693" name="Text Box 241"/>
            <p:cNvSpPr txBox="1"/>
            <p:nvPr/>
          </p:nvSpPr>
          <p:spPr>
            <a:xfrm>
              <a:off x="2646" y="287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4" name="Text Box 242"/>
            <p:cNvSpPr txBox="1"/>
            <p:nvPr/>
          </p:nvSpPr>
          <p:spPr>
            <a:xfrm>
              <a:off x="749" y="2866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5" name="Text Box 243"/>
            <p:cNvSpPr txBox="1"/>
            <p:nvPr/>
          </p:nvSpPr>
          <p:spPr>
            <a:xfrm>
              <a:off x="4314" y="278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6" name="Line 244"/>
            <p:cNvSpPr/>
            <p:nvPr/>
          </p:nvSpPr>
          <p:spPr>
            <a:xfrm>
              <a:off x="651" y="1997"/>
              <a:ext cx="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7" name="Text Box 245"/>
            <p:cNvSpPr txBox="1"/>
            <p:nvPr/>
          </p:nvSpPr>
          <p:spPr>
            <a:xfrm>
              <a:off x="3562" y="2206"/>
              <a:ext cx="59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8" name="Text Box 246"/>
            <p:cNvSpPr txBox="1"/>
            <p:nvPr/>
          </p:nvSpPr>
          <p:spPr>
            <a:xfrm>
              <a:off x="1402" y="2290"/>
              <a:ext cx="59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9" name="Text Box 247"/>
            <p:cNvSpPr txBox="1"/>
            <p:nvPr/>
          </p:nvSpPr>
          <p:spPr>
            <a:xfrm>
              <a:off x="2582" y="1706"/>
              <a:ext cx="5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0" name="Oval 248"/>
            <p:cNvSpPr/>
            <p:nvPr/>
          </p:nvSpPr>
          <p:spPr>
            <a:xfrm>
              <a:off x="4710" y="2984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27701" name="Text Box 249"/>
            <p:cNvSpPr txBox="1"/>
            <p:nvPr/>
          </p:nvSpPr>
          <p:spPr>
            <a:xfrm>
              <a:off x="4662" y="308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2" name="Text Box 250"/>
            <p:cNvSpPr txBox="1"/>
            <p:nvPr/>
          </p:nvSpPr>
          <p:spPr>
            <a:xfrm>
              <a:off x="2446" y="1979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3" name="Text Box 251"/>
            <p:cNvSpPr txBox="1"/>
            <p:nvPr/>
          </p:nvSpPr>
          <p:spPr>
            <a:xfrm>
              <a:off x="2855" y="2024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4" name="Oval 252" descr="信纸"/>
            <p:cNvSpPr/>
            <p:nvPr/>
          </p:nvSpPr>
          <p:spPr>
            <a:xfrm>
              <a:off x="3905" y="1615"/>
              <a:ext cx="317" cy="317"/>
            </a:xfrm>
            <a:prstGeom prst="ellipse">
              <a:avLst/>
            </a:prstGeom>
            <a:blipFill rotWithShape="1">
              <a:blip r:embed="rId4"/>
            </a:blip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endPara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05" name="Oval 253" descr="信纸"/>
            <p:cNvSpPr/>
            <p:nvPr/>
          </p:nvSpPr>
          <p:spPr>
            <a:xfrm>
              <a:off x="1954" y="2069"/>
              <a:ext cx="317" cy="317"/>
            </a:xfrm>
            <a:prstGeom prst="ellipse">
              <a:avLst/>
            </a:prstGeom>
            <a:blipFill rotWithShape="1">
              <a:blip r:embed="rId4"/>
            </a:blip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06" name="Oval 254" descr="信纸"/>
            <p:cNvSpPr/>
            <p:nvPr/>
          </p:nvSpPr>
          <p:spPr>
            <a:xfrm>
              <a:off x="3361" y="1298"/>
              <a:ext cx="317" cy="317"/>
            </a:xfrm>
            <a:prstGeom prst="ellipse">
              <a:avLst/>
            </a:prstGeom>
            <a:blipFill rotWithShape="1">
              <a:blip r:embed="rId4"/>
            </a:blip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V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07" name="Oval 255" descr="信纸"/>
            <p:cNvSpPr/>
            <p:nvPr/>
          </p:nvSpPr>
          <p:spPr>
            <a:xfrm>
              <a:off x="1909" y="2477"/>
              <a:ext cx="317" cy="317"/>
            </a:xfrm>
            <a:prstGeom prst="ellipse">
              <a:avLst/>
            </a:prstGeom>
            <a:blipFill rotWithShape="1">
              <a:blip r:embed="rId4"/>
            </a:blip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V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08" name="Oval 256" descr="信纸"/>
            <p:cNvSpPr/>
            <p:nvPr/>
          </p:nvSpPr>
          <p:spPr>
            <a:xfrm>
              <a:off x="866" y="1842"/>
              <a:ext cx="317" cy="317"/>
            </a:xfrm>
            <a:prstGeom prst="ellipse">
              <a:avLst/>
            </a:prstGeom>
            <a:blipFill rotWithShape="1">
              <a:blip r:embed="rId4"/>
            </a:blip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09" name="Rectangle 261"/>
            <p:cNvSpPr/>
            <p:nvPr/>
          </p:nvSpPr>
          <p:spPr>
            <a:xfrm>
              <a:off x="2628" y="197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27710" name="Text Box 266"/>
            <p:cNvSpPr txBox="1"/>
            <p:nvPr/>
          </p:nvSpPr>
          <p:spPr>
            <a:xfrm>
              <a:off x="527" y="3067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7711" name="Group 283"/>
            <p:cNvGrpSpPr/>
            <p:nvPr/>
          </p:nvGrpSpPr>
          <p:grpSpPr>
            <a:xfrm rot="5400000">
              <a:off x="3453" y="1541"/>
              <a:ext cx="113" cy="408"/>
              <a:chOff x="1565" y="2614"/>
              <a:chExt cx="90" cy="486"/>
            </a:xfrm>
          </p:grpSpPr>
          <p:sp>
            <p:nvSpPr>
              <p:cNvPr id="27717" name="Arc 284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7718" name="Arc 285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7719" name="Arc 286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7720" name="Arc 287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27712" name="Group 288"/>
            <p:cNvGrpSpPr/>
            <p:nvPr/>
          </p:nvGrpSpPr>
          <p:grpSpPr>
            <a:xfrm rot="5400000">
              <a:off x="1875" y="1540"/>
              <a:ext cx="113" cy="408"/>
              <a:chOff x="1565" y="2614"/>
              <a:chExt cx="90" cy="486"/>
            </a:xfrm>
          </p:grpSpPr>
          <p:sp>
            <p:nvSpPr>
              <p:cNvPr id="27713" name="Arc 289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7714" name="Arc 290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7715" name="Arc 291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7716" name="Arc 292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89" grpId="0"/>
      <p:bldP spid="145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900" name="Text Box 60"/>
          <p:cNvSpPr txBox="1"/>
          <p:nvPr/>
        </p:nvSpPr>
        <p:spPr>
          <a:xfrm>
            <a:off x="468313" y="692150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901" name="Text Box 61"/>
          <p:cNvSpPr txBox="1"/>
          <p:nvPr/>
        </p:nvSpPr>
        <p:spPr>
          <a:xfrm>
            <a:off x="395288" y="3284538"/>
            <a:ext cx="82550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latin typeface="楷体_GB2312" pitchFamily="49" charset="-122"/>
              </a:rPr>
              <a:t>(1)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=30V</a:t>
            </a:r>
            <a:r>
              <a:rPr lang="zh-CN" altLang="en-US" dirty="0">
                <a:latin typeface="楷体_GB2312" pitchFamily="49" charset="-122"/>
              </a:rPr>
              <a:t>作用于电路，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楷体_GB2312" pitchFamily="49" charset="-122"/>
              </a:rPr>
              <a:t>短路，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楷体_GB2312" pitchFamily="49" charset="-122"/>
              </a:rPr>
              <a:t>开路。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35944" name="Rectangle 104"/>
          <p:cNvSpPr/>
          <p:nvPr/>
        </p:nvSpPr>
        <p:spPr>
          <a:xfrm>
            <a:off x="1835150" y="4005263"/>
            <a:ext cx="5689600" cy="1311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L2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=30/30A=1A, 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945" name="Rectangle 105"/>
          <p:cNvSpPr/>
          <p:nvPr/>
        </p:nvSpPr>
        <p:spPr>
          <a:xfrm>
            <a:off x="1751013" y="5373688"/>
            <a:ext cx="366077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cb0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=30V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3494" name="Group 22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3602" name="Picture 22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603" name="Text Box 22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3495" name="Group 22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3600" name="Picture 22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601" name="Text Box 22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3496" name="Group 232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3598" name="Picture 23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599" name="Text Box 23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245"/>
          <p:cNvGrpSpPr/>
          <p:nvPr/>
        </p:nvGrpSpPr>
        <p:grpSpPr>
          <a:xfrm>
            <a:off x="1331913" y="620713"/>
            <a:ext cx="6122987" cy="2463800"/>
            <a:chOff x="839" y="200"/>
            <a:chExt cx="3857" cy="1552"/>
          </a:xfrm>
        </p:grpSpPr>
        <p:sp>
          <p:nvSpPr>
            <p:cNvPr id="63540" name="Line 127"/>
            <p:cNvSpPr/>
            <p:nvPr/>
          </p:nvSpPr>
          <p:spPr>
            <a:xfrm flipH="1">
              <a:off x="1111" y="790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41" name="Text Box 120"/>
            <p:cNvSpPr txBox="1"/>
            <p:nvPr/>
          </p:nvSpPr>
          <p:spPr>
            <a:xfrm>
              <a:off x="839" y="1425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42" name="Line 121"/>
            <p:cNvSpPr/>
            <p:nvPr/>
          </p:nvSpPr>
          <p:spPr>
            <a:xfrm flipV="1">
              <a:off x="1111" y="981"/>
              <a:ext cx="0" cy="43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43" name="Text Box 122"/>
            <p:cNvSpPr txBox="1"/>
            <p:nvPr/>
          </p:nvSpPr>
          <p:spPr>
            <a:xfrm>
              <a:off x="1093" y="1071"/>
              <a:ext cx="16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44" name="Text Box 124"/>
            <p:cNvSpPr txBox="1"/>
            <p:nvPr/>
          </p:nvSpPr>
          <p:spPr>
            <a:xfrm>
              <a:off x="1973" y="663"/>
              <a:ext cx="39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45" name="Text Box 126"/>
            <p:cNvSpPr txBox="1"/>
            <p:nvPr/>
          </p:nvSpPr>
          <p:spPr>
            <a:xfrm>
              <a:off x="3061" y="554"/>
              <a:ext cx="39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46" name="Line 128"/>
            <p:cNvSpPr/>
            <p:nvPr/>
          </p:nvSpPr>
          <p:spPr>
            <a:xfrm flipV="1">
              <a:off x="1112" y="789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63547" name="Line 129"/>
            <p:cNvSpPr/>
            <p:nvPr/>
          </p:nvSpPr>
          <p:spPr>
            <a:xfrm flipH="1">
              <a:off x="1384" y="595"/>
              <a:ext cx="4" cy="4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48" name="Line 130"/>
            <p:cNvSpPr/>
            <p:nvPr/>
          </p:nvSpPr>
          <p:spPr>
            <a:xfrm flipV="1">
              <a:off x="2084" y="608"/>
              <a:ext cx="3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49" name="Line 131"/>
            <p:cNvSpPr/>
            <p:nvPr/>
          </p:nvSpPr>
          <p:spPr>
            <a:xfrm>
              <a:off x="2385" y="598"/>
              <a:ext cx="0" cy="45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50" name="Line 132"/>
            <p:cNvSpPr/>
            <p:nvPr/>
          </p:nvSpPr>
          <p:spPr>
            <a:xfrm>
              <a:off x="2401" y="835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3551" name="Line 133"/>
            <p:cNvSpPr/>
            <p:nvPr/>
          </p:nvSpPr>
          <p:spPr>
            <a:xfrm flipH="1">
              <a:off x="3082" y="601"/>
              <a:ext cx="0" cy="43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52" name="Line 134"/>
            <p:cNvSpPr/>
            <p:nvPr/>
          </p:nvSpPr>
          <p:spPr>
            <a:xfrm flipV="1">
              <a:off x="3062" y="608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53" name="Line 135"/>
            <p:cNvSpPr/>
            <p:nvPr/>
          </p:nvSpPr>
          <p:spPr>
            <a:xfrm flipV="1">
              <a:off x="3062" y="1061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54" name="Line 136"/>
            <p:cNvSpPr/>
            <p:nvPr/>
          </p:nvSpPr>
          <p:spPr>
            <a:xfrm>
              <a:off x="3516" y="1061"/>
              <a:ext cx="5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55" name="Line 137"/>
            <p:cNvSpPr/>
            <p:nvPr/>
          </p:nvSpPr>
          <p:spPr>
            <a:xfrm>
              <a:off x="4060" y="608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56" name="Line 138"/>
            <p:cNvSpPr/>
            <p:nvPr/>
          </p:nvSpPr>
          <p:spPr>
            <a:xfrm>
              <a:off x="4060" y="789"/>
              <a:ext cx="362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63557" name="Line 139"/>
            <p:cNvSpPr/>
            <p:nvPr/>
          </p:nvSpPr>
          <p:spPr>
            <a:xfrm flipH="1">
              <a:off x="4422" y="790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58" name="Line 140"/>
            <p:cNvSpPr/>
            <p:nvPr/>
          </p:nvSpPr>
          <p:spPr>
            <a:xfrm flipV="1">
              <a:off x="3833" y="608"/>
              <a:ext cx="22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59" name="Line 141"/>
            <p:cNvSpPr/>
            <p:nvPr/>
          </p:nvSpPr>
          <p:spPr>
            <a:xfrm flipV="1">
              <a:off x="1384" y="1016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60" name="Line 142"/>
            <p:cNvSpPr/>
            <p:nvPr/>
          </p:nvSpPr>
          <p:spPr>
            <a:xfrm flipV="1">
              <a:off x="1883" y="1016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61" name="Line 143"/>
            <p:cNvSpPr/>
            <p:nvPr/>
          </p:nvSpPr>
          <p:spPr>
            <a:xfrm>
              <a:off x="1395" y="595"/>
              <a:ext cx="2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62" name="Text Box 144"/>
            <p:cNvSpPr txBox="1"/>
            <p:nvPr/>
          </p:nvSpPr>
          <p:spPr>
            <a:xfrm>
              <a:off x="1540" y="200"/>
              <a:ext cx="31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63" name="Text Box 145"/>
            <p:cNvSpPr txBox="1"/>
            <p:nvPr/>
          </p:nvSpPr>
          <p:spPr>
            <a:xfrm>
              <a:off x="1338" y="981"/>
              <a:ext cx="4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64" name="Text Box 146"/>
            <p:cNvSpPr txBox="1"/>
            <p:nvPr/>
          </p:nvSpPr>
          <p:spPr>
            <a:xfrm>
              <a:off x="3107" y="1062"/>
              <a:ext cx="3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65" name="Text Box 147"/>
            <p:cNvSpPr txBox="1"/>
            <p:nvPr/>
          </p:nvSpPr>
          <p:spPr>
            <a:xfrm>
              <a:off x="3108" y="245"/>
              <a:ext cx="31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66" name="Text Box 148"/>
            <p:cNvSpPr txBox="1"/>
            <p:nvPr/>
          </p:nvSpPr>
          <p:spPr>
            <a:xfrm>
              <a:off x="1791" y="210"/>
              <a:ext cx="6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40mH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67" name="Text Box 149"/>
            <p:cNvSpPr txBox="1"/>
            <p:nvPr/>
          </p:nvSpPr>
          <p:spPr>
            <a:xfrm>
              <a:off x="3516" y="245"/>
              <a:ext cx="6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10mH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68" name="Oval 150"/>
            <p:cNvSpPr/>
            <p:nvPr/>
          </p:nvSpPr>
          <p:spPr>
            <a:xfrm>
              <a:off x="1066" y="1561"/>
              <a:ext cx="68" cy="6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3569" name="Text Box 151"/>
            <p:cNvSpPr txBox="1"/>
            <p:nvPr/>
          </p:nvSpPr>
          <p:spPr>
            <a:xfrm>
              <a:off x="2653" y="1379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70" name="Text Box 152"/>
            <p:cNvSpPr txBox="1"/>
            <p:nvPr/>
          </p:nvSpPr>
          <p:spPr>
            <a:xfrm>
              <a:off x="1156" y="1425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71" name="Text Box 153"/>
            <p:cNvSpPr txBox="1"/>
            <p:nvPr/>
          </p:nvSpPr>
          <p:spPr>
            <a:xfrm>
              <a:off x="4105" y="1334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72" name="Text Box 154"/>
            <p:cNvSpPr txBox="1"/>
            <p:nvPr/>
          </p:nvSpPr>
          <p:spPr>
            <a:xfrm>
              <a:off x="3515" y="1016"/>
              <a:ext cx="59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73" name="Text Box 155"/>
            <p:cNvSpPr txBox="1"/>
            <p:nvPr/>
          </p:nvSpPr>
          <p:spPr>
            <a:xfrm>
              <a:off x="1837" y="1016"/>
              <a:ext cx="59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74" name="Text Box 156"/>
            <p:cNvSpPr txBox="1"/>
            <p:nvPr/>
          </p:nvSpPr>
          <p:spPr>
            <a:xfrm>
              <a:off x="2537" y="517"/>
              <a:ext cx="5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75" name="Oval 157"/>
            <p:cNvSpPr/>
            <p:nvPr/>
          </p:nvSpPr>
          <p:spPr>
            <a:xfrm>
              <a:off x="4377" y="1561"/>
              <a:ext cx="68" cy="6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3576" name="Text Box 158"/>
            <p:cNvSpPr txBox="1"/>
            <p:nvPr/>
          </p:nvSpPr>
          <p:spPr>
            <a:xfrm>
              <a:off x="4468" y="1425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77" name="Text Box 159"/>
            <p:cNvSpPr txBox="1"/>
            <p:nvPr/>
          </p:nvSpPr>
          <p:spPr>
            <a:xfrm>
              <a:off x="2401" y="790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78" name="Text Box 160"/>
            <p:cNvSpPr txBox="1"/>
            <p:nvPr/>
          </p:nvSpPr>
          <p:spPr>
            <a:xfrm>
              <a:off x="2881" y="789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79" name="Rectangle 165"/>
            <p:cNvSpPr/>
            <p:nvPr/>
          </p:nvSpPr>
          <p:spPr>
            <a:xfrm>
              <a:off x="2583" y="79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63580" name="Group 170"/>
            <p:cNvGrpSpPr/>
            <p:nvPr/>
          </p:nvGrpSpPr>
          <p:grpSpPr>
            <a:xfrm rot="5400000">
              <a:off x="1718" y="953"/>
              <a:ext cx="240" cy="93"/>
              <a:chOff x="3787" y="2478"/>
              <a:chExt cx="240" cy="93"/>
            </a:xfrm>
          </p:grpSpPr>
          <p:sp>
            <p:nvSpPr>
              <p:cNvPr id="63596" name="Line 171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97" name="Line 172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3581" name="Group 173"/>
            <p:cNvGrpSpPr/>
            <p:nvPr/>
          </p:nvGrpSpPr>
          <p:grpSpPr>
            <a:xfrm rot="5400000">
              <a:off x="3351" y="998"/>
              <a:ext cx="240" cy="93"/>
              <a:chOff x="3787" y="2478"/>
              <a:chExt cx="240" cy="93"/>
            </a:xfrm>
          </p:grpSpPr>
          <p:sp>
            <p:nvSpPr>
              <p:cNvPr id="63594" name="Line 174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95" name="Line 175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3582" name="Group 235"/>
            <p:cNvGrpSpPr/>
            <p:nvPr/>
          </p:nvGrpSpPr>
          <p:grpSpPr>
            <a:xfrm rot="5400000">
              <a:off x="1839" y="352"/>
              <a:ext cx="113" cy="408"/>
              <a:chOff x="1565" y="2614"/>
              <a:chExt cx="90" cy="486"/>
            </a:xfrm>
          </p:grpSpPr>
          <p:sp>
            <p:nvSpPr>
              <p:cNvPr id="63590" name="Arc 236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3591" name="Arc 237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3592" name="Arc 238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3593" name="Arc 239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63583" name="Group 240"/>
            <p:cNvGrpSpPr/>
            <p:nvPr/>
          </p:nvGrpSpPr>
          <p:grpSpPr>
            <a:xfrm rot="5400000">
              <a:off x="3571" y="361"/>
              <a:ext cx="113" cy="408"/>
              <a:chOff x="1565" y="2614"/>
              <a:chExt cx="90" cy="486"/>
            </a:xfrm>
          </p:grpSpPr>
          <p:sp>
            <p:nvSpPr>
              <p:cNvPr id="63586" name="Arc 241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3587" name="Arc 242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3588" name="Arc 243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63589" name="Arc 244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63584" name="Line 125"/>
            <p:cNvSpPr/>
            <p:nvPr/>
          </p:nvSpPr>
          <p:spPr>
            <a:xfrm rot="5400000" flipV="1">
              <a:off x="3251" y="465"/>
              <a:ext cx="0" cy="28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85" name="Line 123"/>
            <p:cNvSpPr/>
            <p:nvPr/>
          </p:nvSpPr>
          <p:spPr>
            <a:xfrm rot="5400000" flipV="1">
              <a:off x="2163" y="872"/>
              <a:ext cx="0" cy="28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" name="Group 246"/>
          <p:cNvGrpSpPr/>
          <p:nvPr/>
        </p:nvGrpSpPr>
        <p:grpSpPr>
          <a:xfrm>
            <a:off x="1331913" y="620713"/>
            <a:ext cx="6553200" cy="2663825"/>
            <a:chOff x="975" y="2115"/>
            <a:chExt cx="4128" cy="1678"/>
          </a:xfrm>
        </p:grpSpPr>
        <p:sp>
          <p:nvSpPr>
            <p:cNvPr id="63499" name="Rectangle 247"/>
            <p:cNvSpPr/>
            <p:nvPr/>
          </p:nvSpPr>
          <p:spPr>
            <a:xfrm>
              <a:off x="975" y="2115"/>
              <a:ext cx="4128" cy="1678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3500" name="Line 248"/>
            <p:cNvSpPr/>
            <p:nvPr/>
          </p:nvSpPr>
          <p:spPr>
            <a:xfrm flipH="1">
              <a:off x="1338" y="2705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01" name="Text Box 249"/>
            <p:cNvSpPr txBox="1"/>
            <p:nvPr/>
          </p:nvSpPr>
          <p:spPr>
            <a:xfrm>
              <a:off x="1066" y="3340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02" name="Line 250"/>
            <p:cNvSpPr/>
            <p:nvPr/>
          </p:nvSpPr>
          <p:spPr>
            <a:xfrm flipV="1">
              <a:off x="1338" y="2886"/>
              <a:ext cx="0" cy="43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03" name="Text Box 251"/>
            <p:cNvSpPr txBox="1"/>
            <p:nvPr/>
          </p:nvSpPr>
          <p:spPr>
            <a:xfrm>
              <a:off x="2154" y="2568"/>
              <a:ext cx="54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04" name="Text Box 252"/>
            <p:cNvSpPr txBox="1"/>
            <p:nvPr/>
          </p:nvSpPr>
          <p:spPr>
            <a:xfrm>
              <a:off x="3334" y="2477"/>
              <a:ext cx="39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05" name="Line 253"/>
            <p:cNvSpPr/>
            <p:nvPr/>
          </p:nvSpPr>
          <p:spPr>
            <a:xfrm flipV="1">
              <a:off x="1339" y="2704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63506" name="Line 254"/>
            <p:cNvSpPr/>
            <p:nvPr/>
          </p:nvSpPr>
          <p:spPr>
            <a:xfrm flipH="1">
              <a:off x="1611" y="2510"/>
              <a:ext cx="4" cy="4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07" name="Line 255"/>
            <p:cNvSpPr/>
            <p:nvPr/>
          </p:nvSpPr>
          <p:spPr>
            <a:xfrm flipV="1">
              <a:off x="1611" y="2524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08" name="Line 256"/>
            <p:cNvSpPr/>
            <p:nvPr/>
          </p:nvSpPr>
          <p:spPr>
            <a:xfrm>
              <a:off x="2612" y="2513"/>
              <a:ext cx="0" cy="45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09" name="Line 257"/>
            <p:cNvSpPr/>
            <p:nvPr/>
          </p:nvSpPr>
          <p:spPr>
            <a:xfrm>
              <a:off x="2619" y="2750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3510" name="Line 258"/>
            <p:cNvSpPr/>
            <p:nvPr/>
          </p:nvSpPr>
          <p:spPr>
            <a:xfrm flipH="1">
              <a:off x="3300" y="2516"/>
              <a:ext cx="0" cy="43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1" name="Line 259"/>
            <p:cNvSpPr/>
            <p:nvPr/>
          </p:nvSpPr>
          <p:spPr>
            <a:xfrm>
              <a:off x="3289" y="2523"/>
              <a:ext cx="998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2" name="Line 260"/>
            <p:cNvSpPr/>
            <p:nvPr/>
          </p:nvSpPr>
          <p:spPr>
            <a:xfrm flipV="1">
              <a:off x="3289" y="2967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3" name="Line 261"/>
            <p:cNvSpPr/>
            <p:nvPr/>
          </p:nvSpPr>
          <p:spPr>
            <a:xfrm flipV="1">
              <a:off x="3969" y="2976"/>
              <a:ext cx="318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4" name="Line 262"/>
            <p:cNvSpPr/>
            <p:nvPr/>
          </p:nvSpPr>
          <p:spPr>
            <a:xfrm>
              <a:off x="4287" y="2523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5" name="Line 263"/>
            <p:cNvSpPr/>
            <p:nvPr/>
          </p:nvSpPr>
          <p:spPr>
            <a:xfrm>
              <a:off x="4287" y="2704"/>
              <a:ext cx="362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63516" name="Line 264"/>
            <p:cNvSpPr/>
            <p:nvPr/>
          </p:nvSpPr>
          <p:spPr>
            <a:xfrm flipH="1">
              <a:off x="4649" y="2705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7" name="Line 265"/>
            <p:cNvSpPr/>
            <p:nvPr/>
          </p:nvSpPr>
          <p:spPr>
            <a:xfrm>
              <a:off x="1611" y="2931"/>
              <a:ext cx="362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8" name="Line 266"/>
            <p:cNvSpPr/>
            <p:nvPr/>
          </p:nvSpPr>
          <p:spPr>
            <a:xfrm flipV="1">
              <a:off x="2200" y="2931"/>
              <a:ext cx="36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9" name="Text Box 267"/>
            <p:cNvSpPr txBox="1"/>
            <p:nvPr/>
          </p:nvSpPr>
          <p:spPr>
            <a:xfrm>
              <a:off x="1928" y="2161"/>
              <a:ext cx="31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0" name="Text Box 268"/>
            <p:cNvSpPr txBox="1"/>
            <p:nvPr/>
          </p:nvSpPr>
          <p:spPr>
            <a:xfrm>
              <a:off x="1883" y="2977"/>
              <a:ext cx="4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1" name="Text Box 269"/>
            <p:cNvSpPr txBox="1"/>
            <p:nvPr/>
          </p:nvSpPr>
          <p:spPr>
            <a:xfrm>
              <a:off x="3652" y="2886"/>
              <a:ext cx="3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2" name="Text Box 270"/>
            <p:cNvSpPr txBox="1"/>
            <p:nvPr/>
          </p:nvSpPr>
          <p:spPr>
            <a:xfrm>
              <a:off x="3606" y="2160"/>
              <a:ext cx="31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3" name="Oval 271"/>
            <p:cNvSpPr/>
            <p:nvPr/>
          </p:nvSpPr>
          <p:spPr>
            <a:xfrm>
              <a:off x="1302" y="348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3524" name="Text Box 272"/>
            <p:cNvSpPr txBox="1"/>
            <p:nvPr/>
          </p:nvSpPr>
          <p:spPr>
            <a:xfrm>
              <a:off x="1383" y="3340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5" name="Text Box 273"/>
            <p:cNvSpPr txBox="1"/>
            <p:nvPr/>
          </p:nvSpPr>
          <p:spPr>
            <a:xfrm>
              <a:off x="4332" y="3249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6" name="Text Box 274"/>
            <p:cNvSpPr txBox="1"/>
            <p:nvPr/>
          </p:nvSpPr>
          <p:spPr>
            <a:xfrm>
              <a:off x="2744" y="2414"/>
              <a:ext cx="5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7" name="Oval 275"/>
            <p:cNvSpPr/>
            <p:nvPr/>
          </p:nvSpPr>
          <p:spPr>
            <a:xfrm>
              <a:off x="4622" y="348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3528" name="Text Box 276"/>
            <p:cNvSpPr txBox="1"/>
            <p:nvPr/>
          </p:nvSpPr>
          <p:spPr>
            <a:xfrm>
              <a:off x="4695" y="3340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9" name="Text Box 277"/>
            <p:cNvSpPr txBox="1"/>
            <p:nvPr/>
          </p:nvSpPr>
          <p:spPr>
            <a:xfrm>
              <a:off x="2590" y="2686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30" name="Text Box 278"/>
            <p:cNvSpPr txBox="1"/>
            <p:nvPr/>
          </p:nvSpPr>
          <p:spPr>
            <a:xfrm>
              <a:off x="3108" y="2704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31" name="Rectangle 279"/>
            <p:cNvSpPr/>
            <p:nvPr/>
          </p:nvSpPr>
          <p:spPr>
            <a:xfrm>
              <a:off x="2810" y="269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3532" name="Text Box 280"/>
            <p:cNvSpPr txBox="1"/>
            <p:nvPr/>
          </p:nvSpPr>
          <p:spPr>
            <a:xfrm>
              <a:off x="2720" y="3295"/>
              <a:ext cx="3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33" name="Text Box 281"/>
            <p:cNvSpPr txBox="1"/>
            <p:nvPr/>
          </p:nvSpPr>
          <p:spPr>
            <a:xfrm>
              <a:off x="1265" y="2976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34" name="Oval 282"/>
            <p:cNvSpPr/>
            <p:nvPr/>
          </p:nvSpPr>
          <p:spPr>
            <a:xfrm>
              <a:off x="3906" y="2941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3535" name="Oval 283"/>
            <p:cNvSpPr/>
            <p:nvPr/>
          </p:nvSpPr>
          <p:spPr>
            <a:xfrm>
              <a:off x="3638" y="2941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3536" name="Oval 284"/>
            <p:cNvSpPr/>
            <p:nvPr/>
          </p:nvSpPr>
          <p:spPr>
            <a:xfrm>
              <a:off x="2142" y="289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3537" name="Oval 285"/>
            <p:cNvSpPr/>
            <p:nvPr/>
          </p:nvSpPr>
          <p:spPr>
            <a:xfrm>
              <a:off x="1960" y="289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63538" name="Line 286"/>
            <p:cNvSpPr/>
            <p:nvPr/>
          </p:nvSpPr>
          <p:spPr>
            <a:xfrm rot="5400000" flipV="1">
              <a:off x="2452" y="2787"/>
              <a:ext cx="0" cy="288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39" name="Line 287"/>
            <p:cNvSpPr/>
            <p:nvPr/>
          </p:nvSpPr>
          <p:spPr>
            <a:xfrm rot="5400000" flipV="1">
              <a:off x="3524" y="2379"/>
              <a:ext cx="0" cy="28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5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3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00" grpId="0" animBg="1"/>
      <p:bldP spid="35901" grpId="0"/>
      <p:bldP spid="35944" grpId="0"/>
      <p:bldP spid="3594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91" name="Text Box 47"/>
          <p:cNvSpPr txBox="1"/>
          <p:nvPr/>
        </p:nvSpPr>
        <p:spPr>
          <a:xfrm>
            <a:off x="755650" y="476250"/>
            <a:ext cx="4600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=120cos(1 000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)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作用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92" name="Object 48"/>
          <p:cNvGraphicFramePr/>
          <p:nvPr/>
        </p:nvGraphicFramePr>
        <p:xfrm>
          <a:off x="650875" y="984250"/>
          <a:ext cx="780891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" imgW="4254500" imgH="749300" progId="Equation.3">
                  <p:embed/>
                </p:oleObj>
              </mc:Choice>
              <mc:Fallback>
                <p:oleObj name="" r:id="rId1" imgW="4254500" imgH="7493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0875" y="984250"/>
                        <a:ext cx="7808913" cy="1428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" name="Object 105"/>
          <p:cNvGraphicFramePr/>
          <p:nvPr/>
        </p:nvGraphicFramePr>
        <p:xfrm>
          <a:off x="827088" y="3576638"/>
          <a:ext cx="180022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3" imgW="837565" imgH="520700" progId="Equation.3">
                  <p:embed/>
                </p:oleObj>
              </mc:Choice>
              <mc:Fallback>
                <p:oleObj name="" r:id="rId3" imgW="837565" imgH="5207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3576638"/>
                        <a:ext cx="1800225" cy="1111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4" name="Text Box 156"/>
          <p:cNvSpPr txBox="1"/>
          <p:nvPr/>
        </p:nvSpPr>
        <p:spPr>
          <a:xfrm>
            <a:off x="8316913" y="4292600"/>
            <a:ext cx="361950" cy="519113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18" name="AutoShape 174" descr="羊皮纸"/>
          <p:cNvSpPr/>
          <p:nvPr/>
        </p:nvSpPr>
        <p:spPr>
          <a:xfrm>
            <a:off x="6588125" y="4945063"/>
            <a:ext cx="1871663" cy="576262"/>
          </a:xfrm>
          <a:prstGeom prst="wedgeRoundRectCallout">
            <a:avLst>
              <a:gd name="adj1" fmla="val -123111"/>
              <a:gd name="adj2" fmla="val -275069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r>
              <a:rPr lang="zh-CN" altLang="zh-CN" dirty="0">
                <a:solidFill>
                  <a:schemeClr val="tx1"/>
                </a:solidFill>
                <a:latin typeface="Arial" panose="020B0604020202020204" pitchFamily="34" charset="0"/>
              </a:rPr>
              <a:t>并联谐振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8686" name="Group 17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8750" name="Picture 179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51" name="Text Box 18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87" name="Group 18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8748" name="Picture 182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49" name="Text Box 18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88" name="Group 18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8746" name="Picture 188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47" name="Text Box 18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200"/>
          <p:cNvGrpSpPr/>
          <p:nvPr/>
        </p:nvGrpSpPr>
        <p:grpSpPr>
          <a:xfrm>
            <a:off x="3419475" y="2136775"/>
            <a:ext cx="5364163" cy="2549525"/>
            <a:chOff x="2154" y="1346"/>
            <a:chExt cx="3379" cy="1606"/>
          </a:xfrm>
        </p:grpSpPr>
        <p:sp>
          <p:nvSpPr>
            <p:cNvPr id="28697" name="Line 149"/>
            <p:cNvSpPr/>
            <p:nvPr/>
          </p:nvSpPr>
          <p:spPr>
            <a:xfrm flipV="1">
              <a:off x="2971" y="2217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8" name="Line 141"/>
            <p:cNvSpPr/>
            <p:nvPr/>
          </p:nvSpPr>
          <p:spPr>
            <a:xfrm flipV="1">
              <a:off x="4150" y="1800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8679" name="Object 122"/>
            <p:cNvGraphicFramePr/>
            <p:nvPr/>
          </p:nvGraphicFramePr>
          <p:xfrm>
            <a:off x="3650" y="2616"/>
            <a:ext cx="25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7" imgW="203200" imgH="266065" progId="Equation.3">
                    <p:embed/>
                  </p:oleObj>
                </mc:Choice>
                <mc:Fallback>
                  <p:oleObj name="" r:id="rId7" imgW="203200" imgH="266065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50" y="2616"/>
                          <a:ext cx="254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" name="Object 123"/>
            <p:cNvGraphicFramePr/>
            <p:nvPr/>
          </p:nvGraphicFramePr>
          <p:xfrm>
            <a:off x="2245" y="2251"/>
            <a:ext cx="19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9" imgW="152400" imgH="266065" progId="Equation.3">
                    <p:embed/>
                  </p:oleObj>
                </mc:Choice>
                <mc:Fallback>
                  <p:oleObj name="" r:id="rId9" imgW="152400" imgH="266065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45" y="2251"/>
                          <a:ext cx="191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1" name="Object 124"/>
            <p:cNvGraphicFramePr/>
            <p:nvPr/>
          </p:nvGraphicFramePr>
          <p:xfrm>
            <a:off x="3061" y="1869"/>
            <a:ext cx="336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1" imgW="266065" imgH="266065" progId="Equation.3">
                    <p:embed/>
                  </p:oleObj>
                </mc:Choice>
                <mc:Fallback>
                  <p:oleObj name="" r:id="rId11" imgW="266065" imgH="266065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61" y="1869"/>
                          <a:ext cx="336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125"/>
            <p:cNvGraphicFramePr/>
            <p:nvPr/>
          </p:nvGraphicFramePr>
          <p:xfrm>
            <a:off x="4150" y="1434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13" imgW="266065" imgH="266065" progId="Equation.3">
                    <p:embed/>
                  </p:oleObj>
                </mc:Choice>
                <mc:Fallback>
                  <p:oleObj name="" r:id="rId13" imgW="266065" imgH="266065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50" y="1434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9" name="Text Box 126"/>
            <p:cNvSpPr txBox="1"/>
            <p:nvPr/>
          </p:nvSpPr>
          <p:spPr>
            <a:xfrm>
              <a:off x="2698" y="1392"/>
              <a:ext cx="57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j40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0" name="Text Box 127"/>
            <p:cNvSpPr txBox="1"/>
            <p:nvPr/>
          </p:nvSpPr>
          <p:spPr>
            <a:xfrm>
              <a:off x="2652" y="2254"/>
              <a:ext cx="69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j40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1" name="Text Box 128"/>
            <p:cNvSpPr txBox="1"/>
            <p:nvPr/>
          </p:nvSpPr>
          <p:spPr>
            <a:xfrm>
              <a:off x="4421" y="2344"/>
              <a:ext cx="69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j40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2" name="Text Box 129"/>
            <p:cNvSpPr txBox="1"/>
            <p:nvPr/>
          </p:nvSpPr>
          <p:spPr>
            <a:xfrm>
              <a:off x="4467" y="1346"/>
              <a:ext cx="57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3" name="Text Box 130"/>
            <p:cNvSpPr txBox="1"/>
            <p:nvPr/>
          </p:nvSpPr>
          <p:spPr>
            <a:xfrm>
              <a:off x="2245" y="2614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4" name="Line 132"/>
            <p:cNvSpPr/>
            <p:nvPr/>
          </p:nvSpPr>
          <p:spPr>
            <a:xfrm rot="5400000" flipV="1">
              <a:off x="3251" y="2064"/>
              <a:ext cx="0" cy="28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05" name="Line 133"/>
            <p:cNvSpPr/>
            <p:nvPr/>
          </p:nvSpPr>
          <p:spPr>
            <a:xfrm rot="5400000" flipV="1">
              <a:off x="4385" y="1653"/>
              <a:ext cx="0" cy="28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06" name="Line 134"/>
            <p:cNvSpPr/>
            <p:nvPr/>
          </p:nvSpPr>
          <p:spPr>
            <a:xfrm flipH="1">
              <a:off x="2199" y="1982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7" name="Line 135"/>
            <p:cNvSpPr/>
            <p:nvPr/>
          </p:nvSpPr>
          <p:spPr>
            <a:xfrm flipV="1">
              <a:off x="2200" y="1981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8708" name="Line 136"/>
            <p:cNvSpPr/>
            <p:nvPr/>
          </p:nvSpPr>
          <p:spPr>
            <a:xfrm flipH="1">
              <a:off x="2472" y="1787"/>
              <a:ext cx="4" cy="4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9" name="Line 137"/>
            <p:cNvSpPr/>
            <p:nvPr/>
          </p:nvSpPr>
          <p:spPr>
            <a:xfrm flipV="1">
              <a:off x="3172" y="1800"/>
              <a:ext cx="3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0" name="Line 138"/>
            <p:cNvSpPr/>
            <p:nvPr/>
          </p:nvSpPr>
          <p:spPr>
            <a:xfrm>
              <a:off x="3473" y="1790"/>
              <a:ext cx="0" cy="45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1" name="Line 139"/>
            <p:cNvSpPr/>
            <p:nvPr/>
          </p:nvSpPr>
          <p:spPr>
            <a:xfrm>
              <a:off x="3471" y="2027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712" name="Line 140"/>
            <p:cNvSpPr/>
            <p:nvPr/>
          </p:nvSpPr>
          <p:spPr>
            <a:xfrm flipH="1">
              <a:off x="4152" y="1793"/>
              <a:ext cx="0" cy="43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3" name="Line 142"/>
            <p:cNvSpPr/>
            <p:nvPr/>
          </p:nvSpPr>
          <p:spPr>
            <a:xfrm flipV="1">
              <a:off x="4150" y="2253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4" name="Line 143"/>
            <p:cNvSpPr/>
            <p:nvPr/>
          </p:nvSpPr>
          <p:spPr>
            <a:xfrm>
              <a:off x="4604" y="2253"/>
              <a:ext cx="5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5" name="Line 144"/>
            <p:cNvSpPr/>
            <p:nvPr/>
          </p:nvSpPr>
          <p:spPr>
            <a:xfrm>
              <a:off x="5148" y="1800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6" name="Line 145"/>
            <p:cNvSpPr/>
            <p:nvPr/>
          </p:nvSpPr>
          <p:spPr>
            <a:xfrm>
              <a:off x="5148" y="1981"/>
              <a:ext cx="362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8717" name="Line 146"/>
            <p:cNvSpPr/>
            <p:nvPr/>
          </p:nvSpPr>
          <p:spPr>
            <a:xfrm flipH="1">
              <a:off x="5510" y="1982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8" name="Line 147"/>
            <p:cNvSpPr/>
            <p:nvPr/>
          </p:nvSpPr>
          <p:spPr>
            <a:xfrm flipV="1">
              <a:off x="4921" y="1800"/>
              <a:ext cx="22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9" name="Line 148"/>
            <p:cNvSpPr/>
            <p:nvPr/>
          </p:nvSpPr>
          <p:spPr>
            <a:xfrm flipV="1">
              <a:off x="2472" y="2208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0" name="Line 150"/>
            <p:cNvSpPr/>
            <p:nvPr/>
          </p:nvSpPr>
          <p:spPr>
            <a:xfrm>
              <a:off x="2483" y="1787"/>
              <a:ext cx="2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1" name="Oval 151"/>
            <p:cNvSpPr/>
            <p:nvPr/>
          </p:nvSpPr>
          <p:spPr>
            <a:xfrm>
              <a:off x="2154" y="2753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28722" name="Text Box 152"/>
            <p:cNvSpPr txBox="1"/>
            <p:nvPr/>
          </p:nvSpPr>
          <p:spPr>
            <a:xfrm>
              <a:off x="2336" y="2478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3" name="Text Box 153"/>
            <p:cNvSpPr txBox="1"/>
            <p:nvPr/>
          </p:nvSpPr>
          <p:spPr>
            <a:xfrm>
              <a:off x="5193" y="243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4" name="Text Box 154"/>
            <p:cNvSpPr txBox="1"/>
            <p:nvPr/>
          </p:nvSpPr>
          <p:spPr>
            <a:xfrm>
              <a:off x="3607" y="1691"/>
              <a:ext cx="5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5" name="Oval 155"/>
            <p:cNvSpPr/>
            <p:nvPr/>
          </p:nvSpPr>
          <p:spPr>
            <a:xfrm>
              <a:off x="5465" y="2753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28726" name="Text Box 157"/>
            <p:cNvSpPr txBox="1"/>
            <p:nvPr/>
          </p:nvSpPr>
          <p:spPr>
            <a:xfrm>
              <a:off x="3471" y="1982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7" name="Text Box 158"/>
            <p:cNvSpPr txBox="1"/>
            <p:nvPr/>
          </p:nvSpPr>
          <p:spPr>
            <a:xfrm>
              <a:off x="3951" y="1981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8" name="Rectangle 163"/>
            <p:cNvSpPr/>
            <p:nvPr/>
          </p:nvSpPr>
          <p:spPr>
            <a:xfrm>
              <a:off x="3653" y="196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28729" name="Group 168"/>
            <p:cNvGrpSpPr/>
            <p:nvPr/>
          </p:nvGrpSpPr>
          <p:grpSpPr>
            <a:xfrm rot="5400000">
              <a:off x="2806" y="2154"/>
              <a:ext cx="240" cy="93"/>
              <a:chOff x="3787" y="2478"/>
              <a:chExt cx="240" cy="93"/>
            </a:xfrm>
          </p:grpSpPr>
          <p:sp>
            <p:nvSpPr>
              <p:cNvPr id="28744" name="Line 169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5" name="Line 170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8730" name="Group 171"/>
            <p:cNvGrpSpPr/>
            <p:nvPr/>
          </p:nvGrpSpPr>
          <p:grpSpPr>
            <a:xfrm rot="5400000">
              <a:off x="4439" y="2190"/>
              <a:ext cx="240" cy="93"/>
              <a:chOff x="3787" y="2478"/>
              <a:chExt cx="240" cy="93"/>
            </a:xfrm>
          </p:grpSpPr>
          <p:sp>
            <p:nvSpPr>
              <p:cNvPr id="28742" name="Line 172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43" name="Line 173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8731" name="Group 190"/>
            <p:cNvGrpSpPr/>
            <p:nvPr/>
          </p:nvGrpSpPr>
          <p:grpSpPr>
            <a:xfrm rot="5400000">
              <a:off x="4669" y="1549"/>
              <a:ext cx="113" cy="408"/>
              <a:chOff x="1565" y="2614"/>
              <a:chExt cx="90" cy="486"/>
            </a:xfrm>
          </p:grpSpPr>
          <p:sp>
            <p:nvSpPr>
              <p:cNvPr id="28738" name="Arc 191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8739" name="Arc 192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8740" name="Arc 193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8741" name="Arc 194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28732" name="Group 195"/>
            <p:cNvGrpSpPr/>
            <p:nvPr/>
          </p:nvGrpSpPr>
          <p:grpSpPr>
            <a:xfrm rot="5400000">
              <a:off x="2918" y="1540"/>
              <a:ext cx="113" cy="408"/>
              <a:chOff x="1565" y="2614"/>
              <a:chExt cx="90" cy="486"/>
            </a:xfrm>
          </p:grpSpPr>
          <p:sp>
            <p:nvSpPr>
              <p:cNvPr id="28734" name="Arc 196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8735" name="Arc 197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8736" name="Arc 198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8737" name="Arc 199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28733" name="Line 131"/>
            <p:cNvSpPr/>
            <p:nvPr/>
          </p:nvSpPr>
          <p:spPr>
            <a:xfrm flipV="1">
              <a:off x="2200" y="2160"/>
              <a:ext cx="0" cy="43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" name="Group 205"/>
          <p:cNvGrpSpPr/>
          <p:nvPr/>
        </p:nvGrpSpPr>
        <p:grpSpPr>
          <a:xfrm>
            <a:off x="822325" y="2784475"/>
            <a:ext cx="2101850" cy="558800"/>
            <a:chOff x="518" y="1754"/>
            <a:chExt cx="1324" cy="352"/>
          </a:xfrm>
        </p:grpSpPr>
        <p:graphicFrame>
          <p:nvGraphicFramePr>
            <p:cNvPr id="28678" name="Object 104"/>
            <p:cNvGraphicFramePr/>
            <p:nvPr/>
          </p:nvGraphicFramePr>
          <p:xfrm>
            <a:off x="518" y="1754"/>
            <a:ext cx="1324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15" imgW="1002030" imgH="266065" progId="Equation.3">
                    <p:embed/>
                  </p:oleObj>
                </mc:Choice>
                <mc:Fallback>
                  <p:oleObj name="" r:id="rId15" imgW="1002030" imgH="266065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8" y="1754"/>
                          <a:ext cx="1324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6" name="Line 201"/>
            <p:cNvSpPr/>
            <p:nvPr/>
          </p:nvSpPr>
          <p:spPr>
            <a:xfrm>
              <a:off x="1329" y="2060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206"/>
          <p:cNvGrpSpPr/>
          <p:nvPr/>
        </p:nvGrpSpPr>
        <p:grpSpPr>
          <a:xfrm>
            <a:off x="841375" y="4872038"/>
            <a:ext cx="3252788" cy="600075"/>
            <a:chOff x="530" y="3069"/>
            <a:chExt cx="2049" cy="378"/>
          </a:xfrm>
        </p:grpSpPr>
        <p:graphicFrame>
          <p:nvGraphicFramePr>
            <p:cNvPr id="28677" name="Object 107"/>
            <p:cNvGraphicFramePr/>
            <p:nvPr/>
          </p:nvGraphicFramePr>
          <p:xfrm>
            <a:off x="530" y="3069"/>
            <a:ext cx="2049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17" imgW="1433195" imgH="266065" progId="Equation.3">
                    <p:embed/>
                  </p:oleObj>
                </mc:Choice>
                <mc:Fallback>
                  <p:oleObj name="" r:id="rId17" imgW="1433195" imgH="266065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0" y="3069"/>
                          <a:ext cx="2049" cy="3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5" name="Line 202"/>
            <p:cNvSpPr/>
            <p:nvPr/>
          </p:nvSpPr>
          <p:spPr>
            <a:xfrm>
              <a:off x="2046" y="3394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207"/>
          <p:cNvGrpSpPr/>
          <p:nvPr/>
        </p:nvGrpSpPr>
        <p:grpSpPr>
          <a:xfrm>
            <a:off x="684213" y="5445125"/>
            <a:ext cx="5400675" cy="1076325"/>
            <a:chOff x="431" y="3430"/>
            <a:chExt cx="3402" cy="678"/>
          </a:xfrm>
        </p:grpSpPr>
        <p:graphicFrame>
          <p:nvGraphicFramePr>
            <p:cNvPr id="28676" name="Object 106"/>
            <p:cNvGraphicFramePr/>
            <p:nvPr/>
          </p:nvGraphicFramePr>
          <p:xfrm>
            <a:off x="431" y="3430"/>
            <a:ext cx="3402" cy="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19" imgW="2475230" imgH="495300" progId="Equation.3">
                    <p:embed/>
                  </p:oleObj>
                </mc:Choice>
                <mc:Fallback>
                  <p:oleObj name="" r:id="rId19" imgW="2475230" imgH="4953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1" y="3430"/>
                          <a:ext cx="3402" cy="6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3" name="Line 203"/>
            <p:cNvSpPr/>
            <p:nvPr/>
          </p:nvSpPr>
          <p:spPr>
            <a:xfrm>
              <a:off x="2317" y="3739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4" name="Line 204"/>
            <p:cNvSpPr/>
            <p:nvPr/>
          </p:nvSpPr>
          <p:spPr>
            <a:xfrm>
              <a:off x="3198" y="3884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2000"/>
                                        <p:tgtEl>
                                          <p:spTgt spid="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1" grpId="0"/>
      <p:bldP spid="63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79" name="Text Box 59"/>
          <p:cNvSpPr txBox="1"/>
          <p:nvPr/>
        </p:nvSpPr>
        <p:spPr>
          <a:xfrm>
            <a:off x="539750" y="476250"/>
            <a:ext cx="51339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=60cos(2 000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t+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 /4)V</a:t>
            </a:r>
            <a:r>
              <a:rPr lang="zh-CN" altLang="en-US" dirty="0">
                <a:latin typeface="Times New Roman" panose="02020603050405020304" pitchFamily="18" charset="0"/>
              </a:rPr>
              <a:t>作用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80" name="Object 60"/>
          <p:cNvGraphicFramePr/>
          <p:nvPr/>
        </p:nvGraphicFramePr>
        <p:xfrm>
          <a:off x="300038" y="981075"/>
          <a:ext cx="8474075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1" imgW="4711700" imgH="749300" progId="Equation.3">
                  <p:embed/>
                </p:oleObj>
              </mc:Choice>
              <mc:Fallback>
                <p:oleObj name="" r:id="rId1" imgW="4711700" imgH="7493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0038" y="981075"/>
                        <a:ext cx="8474075" cy="1495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8" name="Object 118"/>
          <p:cNvGraphicFramePr/>
          <p:nvPr/>
        </p:nvGraphicFramePr>
        <p:xfrm>
          <a:off x="684213" y="3357563"/>
          <a:ext cx="1909762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3" imgW="862330" imgH="266065" progId="Equation.3">
                  <p:embed/>
                </p:oleObj>
              </mc:Choice>
              <mc:Fallback>
                <p:oleObj name="" r:id="rId3" imgW="862330" imgH="266065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3357563"/>
                        <a:ext cx="1909762" cy="585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06" name="AutoShape 186" descr="羊皮纸"/>
          <p:cNvSpPr/>
          <p:nvPr/>
        </p:nvSpPr>
        <p:spPr>
          <a:xfrm>
            <a:off x="6588125" y="5300663"/>
            <a:ext cx="1871663" cy="576262"/>
          </a:xfrm>
          <a:prstGeom prst="wedgeRoundRectCallout">
            <a:avLst>
              <a:gd name="adj1" fmla="val -27778"/>
              <a:gd name="adj2" fmla="val -286639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r>
              <a:rPr lang="zh-CN" altLang="zh-CN" dirty="0">
                <a:solidFill>
                  <a:schemeClr val="tx1"/>
                </a:solidFill>
                <a:latin typeface="Arial" panose="020B0604020202020204" pitchFamily="34" charset="0"/>
              </a:rPr>
              <a:t>并联谐振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9709" name="Group 19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9773" name="Picture 191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74" name="Text Box 19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9710" name="Group 19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9771" name="Picture 194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72" name="Text Box 19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9711" name="Group 19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9769" name="Picture 200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70" name="Text Box 20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202"/>
          <p:cNvGrpSpPr/>
          <p:nvPr/>
        </p:nvGrpSpPr>
        <p:grpSpPr>
          <a:xfrm>
            <a:off x="3419475" y="2133600"/>
            <a:ext cx="5364163" cy="2536825"/>
            <a:chOff x="2154" y="1346"/>
            <a:chExt cx="3379" cy="1598"/>
          </a:xfrm>
        </p:grpSpPr>
        <p:sp>
          <p:nvSpPr>
            <p:cNvPr id="29720" name="Line 203"/>
            <p:cNvSpPr/>
            <p:nvPr/>
          </p:nvSpPr>
          <p:spPr>
            <a:xfrm flipV="1">
              <a:off x="2971" y="2217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1" name="Line 204"/>
            <p:cNvSpPr/>
            <p:nvPr/>
          </p:nvSpPr>
          <p:spPr>
            <a:xfrm flipV="1">
              <a:off x="4150" y="1800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9703" name="Object 205"/>
            <p:cNvGraphicFramePr/>
            <p:nvPr/>
          </p:nvGraphicFramePr>
          <p:xfrm>
            <a:off x="3642" y="2624"/>
            <a:ext cx="27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7" imgW="215900" imgH="253365" progId="Equation.3">
                    <p:embed/>
                  </p:oleObj>
                </mc:Choice>
                <mc:Fallback>
                  <p:oleObj name="" r:id="rId7" imgW="215900" imgH="253365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42" y="2624"/>
                          <a:ext cx="270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4" name="Object 206"/>
            <p:cNvGraphicFramePr/>
            <p:nvPr/>
          </p:nvGraphicFramePr>
          <p:xfrm>
            <a:off x="2237" y="2259"/>
            <a:ext cx="20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" name="" r:id="rId9" imgW="165100" imgH="253365" progId="Equation.3">
                    <p:embed/>
                  </p:oleObj>
                </mc:Choice>
                <mc:Fallback>
                  <p:oleObj name="" r:id="rId9" imgW="165100" imgH="253365" progId="Equation.3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37" y="2259"/>
                          <a:ext cx="207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5" name="Object 207"/>
            <p:cNvGraphicFramePr/>
            <p:nvPr/>
          </p:nvGraphicFramePr>
          <p:xfrm>
            <a:off x="3053" y="1877"/>
            <a:ext cx="35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" name="" r:id="rId11" imgW="279400" imgH="254000" progId="Equation.3">
                    <p:embed/>
                  </p:oleObj>
                </mc:Choice>
                <mc:Fallback>
                  <p:oleObj name="" r:id="rId11" imgW="279400" imgH="25400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53" y="1877"/>
                          <a:ext cx="352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6" name="Object 208"/>
            <p:cNvGraphicFramePr/>
            <p:nvPr/>
          </p:nvGraphicFramePr>
          <p:xfrm>
            <a:off x="4142" y="1442"/>
            <a:ext cx="35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7" name="" r:id="rId13" imgW="279400" imgH="254000" progId="Equation.3">
                    <p:embed/>
                  </p:oleObj>
                </mc:Choice>
                <mc:Fallback>
                  <p:oleObj name="" r:id="rId13" imgW="279400" imgH="254000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42" y="1442"/>
                          <a:ext cx="352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2" name="Text Box 209"/>
            <p:cNvSpPr txBox="1"/>
            <p:nvPr/>
          </p:nvSpPr>
          <p:spPr>
            <a:xfrm>
              <a:off x="2698" y="1392"/>
              <a:ext cx="57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j80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3" name="Text Box 210"/>
            <p:cNvSpPr txBox="1"/>
            <p:nvPr/>
          </p:nvSpPr>
          <p:spPr>
            <a:xfrm>
              <a:off x="2652" y="2254"/>
              <a:ext cx="69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j20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4" name="Text Box 211"/>
            <p:cNvSpPr txBox="1"/>
            <p:nvPr/>
          </p:nvSpPr>
          <p:spPr>
            <a:xfrm>
              <a:off x="4421" y="2344"/>
              <a:ext cx="69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j20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5" name="Text Box 212"/>
            <p:cNvSpPr txBox="1"/>
            <p:nvPr/>
          </p:nvSpPr>
          <p:spPr>
            <a:xfrm>
              <a:off x="4467" y="1346"/>
              <a:ext cx="57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j20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6" name="Text Box 213"/>
            <p:cNvSpPr txBox="1"/>
            <p:nvPr/>
          </p:nvSpPr>
          <p:spPr>
            <a:xfrm>
              <a:off x="2245" y="2614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7" name="Line 214"/>
            <p:cNvSpPr/>
            <p:nvPr/>
          </p:nvSpPr>
          <p:spPr>
            <a:xfrm rot="5400000" flipV="1">
              <a:off x="3251" y="2064"/>
              <a:ext cx="0" cy="28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8" name="Line 215"/>
            <p:cNvSpPr/>
            <p:nvPr/>
          </p:nvSpPr>
          <p:spPr>
            <a:xfrm rot="5400000" flipV="1">
              <a:off x="4385" y="1653"/>
              <a:ext cx="0" cy="28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9" name="Line 216"/>
            <p:cNvSpPr/>
            <p:nvPr/>
          </p:nvSpPr>
          <p:spPr>
            <a:xfrm flipH="1">
              <a:off x="2199" y="1982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0" name="Line 217"/>
            <p:cNvSpPr/>
            <p:nvPr/>
          </p:nvSpPr>
          <p:spPr>
            <a:xfrm flipV="1">
              <a:off x="2200" y="1981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9731" name="Line 218"/>
            <p:cNvSpPr/>
            <p:nvPr/>
          </p:nvSpPr>
          <p:spPr>
            <a:xfrm flipH="1">
              <a:off x="2472" y="1787"/>
              <a:ext cx="4" cy="4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2" name="Line 219"/>
            <p:cNvSpPr/>
            <p:nvPr/>
          </p:nvSpPr>
          <p:spPr>
            <a:xfrm flipV="1">
              <a:off x="3172" y="1800"/>
              <a:ext cx="3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3" name="Line 220"/>
            <p:cNvSpPr/>
            <p:nvPr/>
          </p:nvSpPr>
          <p:spPr>
            <a:xfrm>
              <a:off x="3473" y="1790"/>
              <a:ext cx="0" cy="45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4" name="Line 221"/>
            <p:cNvSpPr/>
            <p:nvPr/>
          </p:nvSpPr>
          <p:spPr>
            <a:xfrm>
              <a:off x="3471" y="2027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735" name="Line 222"/>
            <p:cNvSpPr/>
            <p:nvPr/>
          </p:nvSpPr>
          <p:spPr>
            <a:xfrm flipH="1">
              <a:off x="4152" y="1793"/>
              <a:ext cx="0" cy="43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6" name="Line 223"/>
            <p:cNvSpPr/>
            <p:nvPr/>
          </p:nvSpPr>
          <p:spPr>
            <a:xfrm flipV="1">
              <a:off x="4150" y="2253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7" name="Line 224"/>
            <p:cNvSpPr/>
            <p:nvPr/>
          </p:nvSpPr>
          <p:spPr>
            <a:xfrm>
              <a:off x="4604" y="2253"/>
              <a:ext cx="5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8" name="Line 225"/>
            <p:cNvSpPr/>
            <p:nvPr/>
          </p:nvSpPr>
          <p:spPr>
            <a:xfrm>
              <a:off x="5148" y="1800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9" name="Line 226"/>
            <p:cNvSpPr/>
            <p:nvPr/>
          </p:nvSpPr>
          <p:spPr>
            <a:xfrm>
              <a:off x="5148" y="1981"/>
              <a:ext cx="362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9740" name="Line 227"/>
            <p:cNvSpPr/>
            <p:nvPr/>
          </p:nvSpPr>
          <p:spPr>
            <a:xfrm flipH="1">
              <a:off x="5510" y="1982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1" name="Line 228"/>
            <p:cNvSpPr/>
            <p:nvPr/>
          </p:nvSpPr>
          <p:spPr>
            <a:xfrm flipV="1">
              <a:off x="4921" y="1800"/>
              <a:ext cx="22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2" name="Line 229"/>
            <p:cNvSpPr/>
            <p:nvPr/>
          </p:nvSpPr>
          <p:spPr>
            <a:xfrm flipV="1">
              <a:off x="2472" y="2208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3" name="Line 230"/>
            <p:cNvSpPr/>
            <p:nvPr/>
          </p:nvSpPr>
          <p:spPr>
            <a:xfrm>
              <a:off x="2483" y="1787"/>
              <a:ext cx="2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4" name="Oval 231"/>
            <p:cNvSpPr/>
            <p:nvPr/>
          </p:nvSpPr>
          <p:spPr>
            <a:xfrm>
              <a:off x="2154" y="2753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29745" name="Text Box 232"/>
            <p:cNvSpPr txBox="1"/>
            <p:nvPr/>
          </p:nvSpPr>
          <p:spPr>
            <a:xfrm>
              <a:off x="2336" y="2478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46" name="Text Box 233"/>
            <p:cNvSpPr txBox="1"/>
            <p:nvPr/>
          </p:nvSpPr>
          <p:spPr>
            <a:xfrm>
              <a:off x="5193" y="243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47" name="Text Box 234"/>
            <p:cNvSpPr txBox="1"/>
            <p:nvPr/>
          </p:nvSpPr>
          <p:spPr>
            <a:xfrm>
              <a:off x="3607" y="1691"/>
              <a:ext cx="5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48" name="Oval 235"/>
            <p:cNvSpPr/>
            <p:nvPr/>
          </p:nvSpPr>
          <p:spPr>
            <a:xfrm>
              <a:off x="5465" y="2753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29749" name="Text Box 236"/>
            <p:cNvSpPr txBox="1"/>
            <p:nvPr/>
          </p:nvSpPr>
          <p:spPr>
            <a:xfrm>
              <a:off x="3471" y="1982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50" name="Text Box 237"/>
            <p:cNvSpPr txBox="1"/>
            <p:nvPr/>
          </p:nvSpPr>
          <p:spPr>
            <a:xfrm>
              <a:off x="3951" y="1981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51" name="Rectangle 238"/>
            <p:cNvSpPr/>
            <p:nvPr/>
          </p:nvSpPr>
          <p:spPr>
            <a:xfrm>
              <a:off x="3653" y="196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29752" name="Group 239"/>
            <p:cNvGrpSpPr/>
            <p:nvPr/>
          </p:nvGrpSpPr>
          <p:grpSpPr>
            <a:xfrm rot="5400000">
              <a:off x="2806" y="2154"/>
              <a:ext cx="240" cy="93"/>
              <a:chOff x="3787" y="2478"/>
              <a:chExt cx="240" cy="93"/>
            </a:xfrm>
          </p:grpSpPr>
          <p:sp>
            <p:nvSpPr>
              <p:cNvPr id="29767" name="Line 240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68" name="Line 241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53" name="Group 242"/>
            <p:cNvGrpSpPr/>
            <p:nvPr/>
          </p:nvGrpSpPr>
          <p:grpSpPr>
            <a:xfrm rot="5400000">
              <a:off x="4439" y="2190"/>
              <a:ext cx="240" cy="93"/>
              <a:chOff x="3787" y="2478"/>
              <a:chExt cx="240" cy="93"/>
            </a:xfrm>
          </p:grpSpPr>
          <p:sp>
            <p:nvSpPr>
              <p:cNvPr id="29765" name="Line 243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66" name="Line 244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54" name="Group 245"/>
            <p:cNvGrpSpPr/>
            <p:nvPr/>
          </p:nvGrpSpPr>
          <p:grpSpPr>
            <a:xfrm rot="5400000">
              <a:off x="4669" y="1549"/>
              <a:ext cx="113" cy="408"/>
              <a:chOff x="1565" y="2614"/>
              <a:chExt cx="90" cy="486"/>
            </a:xfrm>
          </p:grpSpPr>
          <p:sp>
            <p:nvSpPr>
              <p:cNvPr id="29761" name="Arc 246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9762" name="Arc 247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9763" name="Arc 248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9764" name="Arc 249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29755" name="Group 250"/>
            <p:cNvGrpSpPr/>
            <p:nvPr/>
          </p:nvGrpSpPr>
          <p:grpSpPr>
            <a:xfrm rot="5400000">
              <a:off x="2918" y="1540"/>
              <a:ext cx="113" cy="408"/>
              <a:chOff x="1565" y="2614"/>
              <a:chExt cx="90" cy="486"/>
            </a:xfrm>
          </p:grpSpPr>
          <p:sp>
            <p:nvSpPr>
              <p:cNvPr id="29757" name="Arc 251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9758" name="Arc 252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9759" name="Arc 253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29760" name="Arc 254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29756" name="Line 255"/>
            <p:cNvSpPr/>
            <p:nvPr/>
          </p:nvSpPr>
          <p:spPr>
            <a:xfrm flipV="1">
              <a:off x="2200" y="2160"/>
              <a:ext cx="0" cy="43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" name="Group 260"/>
          <p:cNvGrpSpPr/>
          <p:nvPr/>
        </p:nvGrpSpPr>
        <p:grpSpPr>
          <a:xfrm>
            <a:off x="750888" y="2708275"/>
            <a:ext cx="2201862" cy="561975"/>
            <a:chOff x="473" y="1706"/>
            <a:chExt cx="1387" cy="354"/>
          </a:xfrm>
        </p:grpSpPr>
        <p:graphicFrame>
          <p:nvGraphicFramePr>
            <p:cNvPr id="29702" name="Object 116"/>
            <p:cNvGraphicFramePr/>
            <p:nvPr/>
          </p:nvGraphicFramePr>
          <p:xfrm>
            <a:off x="473" y="1706"/>
            <a:ext cx="1387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" name="" r:id="rId15" imgW="1040130" imgH="266065" progId="Equation.3">
                    <p:embed/>
                  </p:oleObj>
                </mc:Choice>
                <mc:Fallback>
                  <p:oleObj name="" r:id="rId15" imgW="1040130" imgH="266065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3" y="1706"/>
                          <a:ext cx="1387" cy="3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9" name="Line 256"/>
            <p:cNvSpPr/>
            <p:nvPr/>
          </p:nvSpPr>
          <p:spPr>
            <a:xfrm>
              <a:off x="1229" y="2015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261"/>
          <p:cNvGrpSpPr/>
          <p:nvPr/>
        </p:nvGrpSpPr>
        <p:grpSpPr>
          <a:xfrm>
            <a:off x="395288" y="4005263"/>
            <a:ext cx="3602037" cy="1155700"/>
            <a:chOff x="249" y="2523"/>
            <a:chExt cx="2269" cy="728"/>
          </a:xfrm>
        </p:grpSpPr>
        <p:graphicFrame>
          <p:nvGraphicFramePr>
            <p:cNvPr id="29701" name="Object 119"/>
            <p:cNvGraphicFramePr/>
            <p:nvPr/>
          </p:nvGraphicFramePr>
          <p:xfrm>
            <a:off x="249" y="2523"/>
            <a:ext cx="2269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" name="" r:id="rId17" imgW="1612265" imgH="520700" progId="Equation.3">
                    <p:embed/>
                  </p:oleObj>
                </mc:Choice>
                <mc:Fallback>
                  <p:oleObj name="" r:id="rId17" imgW="1612265" imgH="520700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9" y="2523"/>
                          <a:ext cx="2269" cy="7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8" name="Line 257"/>
            <p:cNvSpPr/>
            <p:nvPr/>
          </p:nvSpPr>
          <p:spPr>
            <a:xfrm flipV="1">
              <a:off x="1846" y="3212"/>
              <a:ext cx="40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262"/>
          <p:cNvGrpSpPr/>
          <p:nvPr/>
        </p:nvGrpSpPr>
        <p:grpSpPr>
          <a:xfrm>
            <a:off x="596900" y="5313363"/>
            <a:ext cx="5316538" cy="1020762"/>
            <a:chOff x="376" y="3347"/>
            <a:chExt cx="3349" cy="643"/>
          </a:xfrm>
        </p:grpSpPr>
        <p:graphicFrame>
          <p:nvGraphicFramePr>
            <p:cNvPr id="29700" name="Object 117"/>
            <p:cNvGraphicFramePr/>
            <p:nvPr/>
          </p:nvGraphicFramePr>
          <p:xfrm>
            <a:off x="376" y="3347"/>
            <a:ext cx="3349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" name="" r:id="rId19" imgW="2576830" imgH="495300" progId="Equation.3">
                    <p:embed/>
                  </p:oleObj>
                </mc:Choice>
                <mc:Fallback>
                  <p:oleObj name="" r:id="rId19" imgW="2576830" imgH="495300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6" y="3347"/>
                          <a:ext cx="3349" cy="6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6" name="Line 258"/>
            <p:cNvSpPr/>
            <p:nvPr/>
          </p:nvSpPr>
          <p:spPr>
            <a:xfrm>
              <a:off x="2925" y="3784"/>
              <a:ext cx="499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7" name="Line 259"/>
            <p:cNvSpPr/>
            <p:nvPr/>
          </p:nvSpPr>
          <p:spPr>
            <a:xfrm>
              <a:off x="2009" y="3621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2000"/>
                                        <p:tgtEl>
                                          <p:spTgt spid="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2000"/>
                                        <p:tgtEl>
                                          <p:spTgt spid="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9" grpId="0"/>
      <p:bldP spid="530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55" name="Rectangle 59"/>
          <p:cNvSpPr/>
          <p:nvPr/>
        </p:nvSpPr>
        <p:spPr>
          <a:xfrm>
            <a:off x="600075" y="836613"/>
            <a:ext cx="30226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i=I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=1A 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56" name="Text Box 60"/>
          <p:cNvSpPr txBox="1"/>
          <p:nvPr/>
        </p:nvSpPr>
        <p:spPr>
          <a:xfrm>
            <a:off x="755650" y="404813"/>
            <a:ext cx="4451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所求电压、电流的瞬时值为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57" name="Text Box 61"/>
          <p:cNvSpPr txBox="1"/>
          <p:nvPr/>
        </p:nvSpPr>
        <p:spPr>
          <a:xfrm>
            <a:off x="555625" y="1341438"/>
            <a:ext cx="674687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=3cos(1000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90</a:t>
            </a:r>
            <a:r>
              <a:rPr lang="en-US" altLang="zh-CN" sz="3200" b="0" baseline="2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A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58" name="Text Box 62"/>
          <p:cNvSpPr txBox="1"/>
          <p:nvPr/>
        </p:nvSpPr>
        <p:spPr>
          <a:xfrm>
            <a:off x="539750" y="1916113"/>
            <a:ext cx="73787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=[1+3cos(2000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 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45</a:t>
            </a:r>
            <a:r>
              <a:rPr lang="en-US" altLang="zh-CN" sz="3200" b="0" baseline="2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)] A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59" name="Text Box 63"/>
          <p:cNvSpPr txBox="1"/>
          <p:nvPr/>
        </p:nvSpPr>
        <p:spPr>
          <a:xfrm>
            <a:off x="611188" y="2565400"/>
            <a:ext cx="7669212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=[30+120cos(1000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)] </a:t>
            </a:r>
            <a:r>
              <a:rPr lang="en-US" altLang="zh-TW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60" name="Text Box 64"/>
          <p:cNvSpPr txBox="1"/>
          <p:nvPr/>
        </p:nvSpPr>
        <p:spPr>
          <a:xfrm>
            <a:off x="611188" y="3141663"/>
            <a:ext cx="8253412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cb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cb0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cb1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cb2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=[30+60cos(2000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45</a:t>
            </a:r>
            <a:r>
              <a:rPr lang="en-US" altLang="zh-CN" sz="3200" b="0" baseline="2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]</a:t>
            </a:r>
            <a:r>
              <a:rPr lang="en-US" altLang="zh-TW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61" name="Object 65"/>
          <p:cNvGraphicFramePr/>
          <p:nvPr/>
        </p:nvGraphicFramePr>
        <p:xfrm>
          <a:off x="2916238" y="3933825"/>
          <a:ext cx="10779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" imgW="532765" imgH="177800" progId="Equation.3">
                  <p:embed/>
                </p:oleObj>
              </mc:Choice>
              <mc:Fallback>
                <p:oleObj name="" r:id="rId1" imgW="532765" imgH="1778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3933825"/>
                        <a:ext cx="1077912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2" name="Text Box 66"/>
          <p:cNvSpPr txBox="1"/>
          <p:nvPr/>
        </p:nvSpPr>
        <p:spPr>
          <a:xfrm>
            <a:off x="539750" y="3860800"/>
            <a:ext cx="2560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表</a:t>
            </a:r>
            <a:r>
              <a:rPr lang="en-US" altLang="zh-CN" b="0" dirty="0">
                <a:latin typeface="Times New Roman" panose="02020603050405020304" pitchFamily="18" charset="0"/>
              </a:rPr>
              <a:t>A</a:t>
            </a:r>
            <a:r>
              <a:rPr lang="en-US" altLang="zh-CN" b="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楷体_GB2312" pitchFamily="49" charset="-122"/>
              </a:rPr>
              <a:t>的读数：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163" name="Object 67"/>
          <p:cNvGraphicFramePr/>
          <p:nvPr/>
        </p:nvGraphicFramePr>
        <p:xfrm>
          <a:off x="6443663" y="3789363"/>
          <a:ext cx="21288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3" imgW="1053465" imgH="241300" progId="Equation.3">
                  <p:embed/>
                </p:oleObj>
              </mc:Choice>
              <mc:Fallback>
                <p:oleObj name="" r:id="rId3" imgW="1053465" imgH="2413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43663" y="3789363"/>
                        <a:ext cx="2128837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4" name="Text Box 68"/>
          <p:cNvSpPr txBox="1"/>
          <p:nvPr/>
        </p:nvSpPr>
        <p:spPr>
          <a:xfrm>
            <a:off x="4211638" y="3789363"/>
            <a:ext cx="25606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表</a:t>
            </a:r>
            <a:r>
              <a:rPr lang="en-US" altLang="zh-CN" b="0" dirty="0">
                <a:latin typeface="Times New Roman" panose="02020603050405020304" pitchFamily="18" charset="0"/>
              </a:rPr>
              <a:t>A</a:t>
            </a:r>
            <a:r>
              <a:rPr lang="en-US" altLang="zh-CN" b="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楷体_GB2312" pitchFamily="49" charset="-122"/>
              </a:rPr>
              <a:t>的读数：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165" name="Object 69"/>
          <p:cNvGraphicFramePr/>
          <p:nvPr/>
        </p:nvGraphicFramePr>
        <p:xfrm>
          <a:off x="2916238" y="4437063"/>
          <a:ext cx="33861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5" imgW="1675130" imgH="317500" progId="Equation.3">
                  <p:embed/>
                </p:oleObj>
              </mc:Choice>
              <mc:Fallback>
                <p:oleObj name="" r:id="rId5" imgW="1675130" imgH="3175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4437063"/>
                        <a:ext cx="3386137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6" name="Text Box 70"/>
          <p:cNvSpPr txBox="1"/>
          <p:nvPr/>
        </p:nvSpPr>
        <p:spPr>
          <a:xfrm>
            <a:off x="539750" y="4508500"/>
            <a:ext cx="2560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表</a:t>
            </a:r>
            <a:r>
              <a:rPr lang="en-US" altLang="zh-CN" b="0" dirty="0">
                <a:latin typeface="Times New Roman" panose="02020603050405020304" pitchFamily="18" charset="0"/>
              </a:rPr>
              <a:t>A</a:t>
            </a:r>
            <a:r>
              <a:rPr lang="en-US" altLang="zh-CN" b="0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楷体_GB2312" pitchFamily="49" charset="-122"/>
              </a:rPr>
              <a:t>的读数：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167" name="Object 71"/>
          <p:cNvGraphicFramePr/>
          <p:nvPr/>
        </p:nvGraphicFramePr>
        <p:xfrm>
          <a:off x="2916238" y="5084763"/>
          <a:ext cx="3668712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7" imgW="1814830" imgH="317500" progId="Equation.3">
                  <p:embed/>
                </p:oleObj>
              </mc:Choice>
              <mc:Fallback>
                <p:oleObj name="" r:id="rId7" imgW="1814830" imgH="3175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5084763"/>
                        <a:ext cx="3668712" cy="639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8" name="Text Box 72"/>
          <p:cNvSpPr txBox="1"/>
          <p:nvPr/>
        </p:nvSpPr>
        <p:spPr>
          <a:xfrm>
            <a:off x="539750" y="5084763"/>
            <a:ext cx="2560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表</a:t>
            </a:r>
            <a:r>
              <a:rPr lang="en-US" altLang="zh-CN" b="0" dirty="0">
                <a:latin typeface="Times New Roman" panose="02020603050405020304" pitchFamily="18" charset="0"/>
              </a:rPr>
              <a:t>V</a:t>
            </a:r>
            <a:r>
              <a:rPr lang="en-US" altLang="zh-CN" b="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楷体_GB2312" pitchFamily="49" charset="-122"/>
              </a:rPr>
              <a:t>的读数：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169" name="Object 73"/>
          <p:cNvGraphicFramePr/>
          <p:nvPr/>
        </p:nvGraphicFramePr>
        <p:xfrm>
          <a:off x="2843213" y="5805488"/>
          <a:ext cx="37973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9" imgW="1877695" imgH="317500" progId="Equation.3">
                  <p:embed/>
                </p:oleObj>
              </mc:Choice>
              <mc:Fallback>
                <p:oleObj name="" r:id="rId9" imgW="1877695" imgH="3175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3213" y="5805488"/>
                        <a:ext cx="3797300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0" name="Text Box 74"/>
          <p:cNvSpPr txBox="1"/>
          <p:nvPr/>
        </p:nvSpPr>
        <p:spPr>
          <a:xfrm>
            <a:off x="539750" y="5734050"/>
            <a:ext cx="2560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表</a:t>
            </a:r>
            <a:r>
              <a:rPr lang="en-US" altLang="zh-CN" b="0" dirty="0">
                <a:latin typeface="Times New Roman" panose="02020603050405020304" pitchFamily="18" charset="0"/>
              </a:rPr>
              <a:t>V</a:t>
            </a:r>
            <a:r>
              <a:rPr lang="en-US" altLang="zh-CN" b="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楷体_GB2312" pitchFamily="49" charset="-122"/>
              </a:rPr>
              <a:t>的读数：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30738" name="Group 9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0745" name="Picture 92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46" name="Text Box 9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39" name="Group 9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0743" name="Picture 95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44" name="Text Box 9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40" name="Group 100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0741" name="Picture 101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42" name="Text Box 10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2000"/>
                                        <p:tgtEl>
                                          <p:spTgt spid="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2000"/>
                                        <p:tgtEl>
                                          <p:spTgt spid="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2000"/>
                                        <p:tgtEl>
                                          <p:spTgt spid="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2000"/>
                                        <p:tgtEl>
                                          <p:spTgt spid="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3" dur="2000"/>
                                        <p:tgtEl>
                                          <p:spTgt spid="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5" grpId="0"/>
      <p:bldP spid="4156" grpId="0"/>
      <p:bldP spid="4157" grpId="0"/>
      <p:bldP spid="4158" grpId="0"/>
      <p:bldP spid="4159" grpId="0"/>
      <p:bldP spid="4160" grpId="0"/>
      <p:bldP spid="4162" grpId="0"/>
      <p:bldP spid="4164" grpId="0"/>
      <p:bldP spid="4166" grpId="0"/>
      <p:bldP spid="4168" grpId="0"/>
      <p:bldP spid="417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53" name="Text Box 14"/>
          <p:cNvSpPr txBox="1"/>
          <p:nvPr/>
        </p:nvSpPr>
        <p:spPr>
          <a:xfrm>
            <a:off x="8045450" y="1036638"/>
            <a:ext cx="1098550" cy="6413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sz="3600" b="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en-US" altLang="zh-CN" sz="3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89" name="Text Box 17"/>
          <p:cNvSpPr txBox="1"/>
          <p:nvPr/>
        </p:nvSpPr>
        <p:spPr>
          <a:xfrm>
            <a:off x="468313" y="476250"/>
            <a:ext cx="1295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0" name="Text Box 18"/>
          <p:cNvSpPr txBox="1"/>
          <p:nvPr/>
        </p:nvSpPr>
        <p:spPr>
          <a:xfrm>
            <a:off x="1619250" y="333375"/>
            <a:ext cx="7200900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已知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楷体_GB2312" pitchFamily="49" charset="-122"/>
              </a:rPr>
              <a:t>是周期函数，波形如图，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=1/2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 H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=125/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 F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楷体_GB2312" pitchFamily="49" charset="-122"/>
              </a:rPr>
              <a:t>求理想变压器一次电流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(t)</a:t>
            </a:r>
            <a:r>
              <a:rPr lang="zh-CN" altLang="en-US" dirty="0">
                <a:latin typeface="楷体_GB2312" pitchFamily="49" charset="-122"/>
              </a:rPr>
              <a:t>及输出电压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楷体_GB2312" pitchFamily="49" charset="-122"/>
              </a:rPr>
              <a:t>的有效值。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2" name="Group 94"/>
          <p:cNvGrpSpPr/>
          <p:nvPr/>
        </p:nvGrpSpPr>
        <p:grpSpPr>
          <a:xfrm>
            <a:off x="4427538" y="3475038"/>
            <a:ext cx="4498975" cy="2762250"/>
            <a:chOff x="2744" y="2205"/>
            <a:chExt cx="2834" cy="1740"/>
          </a:xfrm>
        </p:grpSpPr>
        <p:sp>
          <p:nvSpPr>
            <p:cNvPr id="31819" name="Line 73"/>
            <p:cNvSpPr/>
            <p:nvPr/>
          </p:nvSpPr>
          <p:spPr>
            <a:xfrm>
              <a:off x="3107" y="3612"/>
              <a:ext cx="2268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820" name="Line 74"/>
            <p:cNvSpPr/>
            <p:nvPr/>
          </p:nvSpPr>
          <p:spPr>
            <a:xfrm flipV="1">
              <a:off x="3152" y="2341"/>
              <a:ext cx="0" cy="1316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31821" name="Group 76"/>
            <p:cNvGrpSpPr/>
            <p:nvPr/>
          </p:nvGrpSpPr>
          <p:grpSpPr>
            <a:xfrm>
              <a:off x="2835" y="2523"/>
              <a:ext cx="2593" cy="1095"/>
              <a:chOff x="1432" y="753"/>
              <a:chExt cx="2593" cy="1095"/>
            </a:xfrm>
          </p:grpSpPr>
          <p:grpSp>
            <p:nvGrpSpPr>
              <p:cNvPr id="31828" name="Group 77"/>
              <p:cNvGrpSpPr/>
              <p:nvPr/>
            </p:nvGrpSpPr>
            <p:grpSpPr>
              <a:xfrm>
                <a:off x="1432" y="753"/>
                <a:ext cx="1296" cy="1095"/>
                <a:chOff x="2122" y="528"/>
                <a:chExt cx="816" cy="529"/>
              </a:xfrm>
            </p:grpSpPr>
            <p:sp>
              <p:nvSpPr>
                <p:cNvPr id="31832" name="Freeform 78"/>
                <p:cNvSpPr/>
                <p:nvPr/>
              </p:nvSpPr>
              <p:spPr>
                <a:xfrm>
                  <a:off x="2122" y="528"/>
                  <a:ext cx="408" cy="265"/>
                </a:xfrm>
                <a:custGeom>
                  <a:avLst/>
                  <a:gdLst>
                    <a:gd name="txL" fmla="*/ 0 w 408"/>
                    <a:gd name="txT" fmla="*/ 0 h 265"/>
                    <a:gd name="txR" fmla="*/ 408 w 408"/>
                    <a:gd name="txB" fmla="*/ 265 h 265"/>
                  </a:gdLst>
                  <a:ahLst/>
                  <a:cxnLst>
                    <a:cxn ang="0">
                      <a:pos x="0" y="264"/>
                    </a:cxn>
                    <a:cxn ang="0">
                      <a:pos x="34" y="192"/>
                    </a:cxn>
                    <a:cxn ang="0">
                      <a:pos x="68" y="129"/>
                    </a:cxn>
                    <a:cxn ang="0">
                      <a:pos x="103" y="76"/>
                    </a:cxn>
                    <a:cxn ang="0">
                      <a:pos x="137" y="31"/>
                    </a:cxn>
                    <a:cxn ang="0">
                      <a:pos x="166" y="8"/>
                    </a:cxn>
                    <a:cxn ang="0">
                      <a:pos x="200" y="0"/>
                    </a:cxn>
                    <a:cxn ang="0">
                      <a:pos x="235" y="8"/>
                    </a:cxn>
                    <a:cxn ang="0">
                      <a:pos x="269" y="31"/>
                    </a:cxn>
                    <a:cxn ang="0">
                      <a:pos x="303" y="76"/>
                    </a:cxn>
                    <a:cxn ang="0">
                      <a:pos x="338" y="129"/>
                    </a:cxn>
                    <a:cxn ang="0">
                      <a:pos x="372" y="196"/>
                    </a:cxn>
                    <a:cxn ang="0">
                      <a:pos x="407" y="264"/>
                    </a:cxn>
                  </a:cxnLst>
                  <a:rect l="txL" t="txT" r="txR" b="txB"/>
                  <a:pathLst>
                    <a:path w="408" h="265">
                      <a:moveTo>
                        <a:pt x="0" y="264"/>
                      </a:moveTo>
                      <a:lnTo>
                        <a:pt x="34" y="192"/>
                      </a:lnTo>
                      <a:lnTo>
                        <a:pt x="68" y="129"/>
                      </a:lnTo>
                      <a:lnTo>
                        <a:pt x="103" y="76"/>
                      </a:lnTo>
                      <a:lnTo>
                        <a:pt x="137" y="31"/>
                      </a:lnTo>
                      <a:lnTo>
                        <a:pt x="166" y="8"/>
                      </a:lnTo>
                      <a:lnTo>
                        <a:pt x="200" y="0"/>
                      </a:lnTo>
                      <a:lnTo>
                        <a:pt x="235" y="8"/>
                      </a:lnTo>
                      <a:lnTo>
                        <a:pt x="269" y="31"/>
                      </a:lnTo>
                      <a:lnTo>
                        <a:pt x="303" y="76"/>
                      </a:lnTo>
                      <a:lnTo>
                        <a:pt x="338" y="129"/>
                      </a:lnTo>
                      <a:lnTo>
                        <a:pt x="372" y="196"/>
                      </a:lnTo>
                      <a:lnTo>
                        <a:pt x="407" y="264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  <p:sp>
              <p:nvSpPr>
                <p:cNvPr id="31833" name="Freeform 79"/>
                <p:cNvSpPr/>
                <p:nvPr/>
              </p:nvSpPr>
              <p:spPr>
                <a:xfrm>
                  <a:off x="2529" y="792"/>
                  <a:ext cx="409" cy="265"/>
                </a:xfrm>
                <a:custGeom>
                  <a:avLst/>
                  <a:gdLst>
                    <a:gd name="txL" fmla="*/ 0 w 409"/>
                    <a:gd name="txT" fmla="*/ 0 h 265"/>
                    <a:gd name="txR" fmla="*/ 409 w 409"/>
                    <a:gd name="txB" fmla="*/ 265 h 265"/>
                  </a:gdLst>
                  <a:ahLst/>
                  <a:cxnLst>
                    <a:cxn ang="0">
                      <a:pos x="408" y="0"/>
                    </a:cxn>
                    <a:cxn ang="0">
                      <a:pos x="373" y="71"/>
                    </a:cxn>
                    <a:cxn ang="0">
                      <a:pos x="339" y="134"/>
                    </a:cxn>
                    <a:cxn ang="0">
                      <a:pos x="304" y="187"/>
                    </a:cxn>
                    <a:cxn ang="0">
                      <a:pos x="270" y="232"/>
                    </a:cxn>
                    <a:cxn ang="0">
                      <a:pos x="241" y="255"/>
                    </a:cxn>
                    <a:cxn ang="0">
                      <a:pos x="206" y="264"/>
                    </a:cxn>
                    <a:cxn ang="0">
                      <a:pos x="172" y="255"/>
                    </a:cxn>
                    <a:cxn ang="0">
                      <a:pos x="137" y="232"/>
                    </a:cxn>
                    <a:cxn ang="0">
                      <a:pos x="103" y="187"/>
                    </a:cxn>
                    <a:cxn ang="0">
                      <a:pos x="68" y="134"/>
                    </a:cxn>
                    <a:cxn ang="0">
                      <a:pos x="34" y="6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09" h="265">
                      <a:moveTo>
                        <a:pt x="408" y="0"/>
                      </a:moveTo>
                      <a:lnTo>
                        <a:pt x="373" y="71"/>
                      </a:lnTo>
                      <a:lnTo>
                        <a:pt x="339" y="134"/>
                      </a:lnTo>
                      <a:lnTo>
                        <a:pt x="304" y="187"/>
                      </a:lnTo>
                      <a:lnTo>
                        <a:pt x="270" y="232"/>
                      </a:lnTo>
                      <a:lnTo>
                        <a:pt x="241" y="255"/>
                      </a:lnTo>
                      <a:lnTo>
                        <a:pt x="206" y="264"/>
                      </a:lnTo>
                      <a:lnTo>
                        <a:pt x="172" y="255"/>
                      </a:lnTo>
                      <a:lnTo>
                        <a:pt x="137" y="232"/>
                      </a:lnTo>
                      <a:lnTo>
                        <a:pt x="103" y="187"/>
                      </a:lnTo>
                      <a:lnTo>
                        <a:pt x="68" y="134"/>
                      </a:lnTo>
                      <a:lnTo>
                        <a:pt x="34" y="6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</p:grpSp>
          <p:grpSp>
            <p:nvGrpSpPr>
              <p:cNvPr id="31829" name="Group 80"/>
              <p:cNvGrpSpPr/>
              <p:nvPr/>
            </p:nvGrpSpPr>
            <p:grpSpPr>
              <a:xfrm>
                <a:off x="2729" y="753"/>
                <a:ext cx="1296" cy="1095"/>
                <a:chOff x="2938" y="528"/>
                <a:chExt cx="816" cy="529"/>
              </a:xfrm>
            </p:grpSpPr>
            <p:sp>
              <p:nvSpPr>
                <p:cNvPr id="31830" name="Freeform 81"/>
                <p:cNvSpPr/>
                <p:nvPr/>
              </p:nvSpPr>
              <p:spPr>
                <a:xfrm>
                  <a:off x="2938" y="528"/>
                  <a:ext cx="408" cy="265"/>
                </a:xfrm>
                <a:custGeom>
                  <a:avLst/>
                  <a:gdLst>
                    <a:gd name="txL" fmla="*/ 0 w 408"/>
                    <a:gd name="txT" fmla="*/ 0 h 265"/>
                    <a:gd name="txR" fmla="*/ 408 w 408"/>
                    <a:gd name="txB" fmla="*/ 265 h 265"/>
                  </a:gdLst>
                  <a:ahLst/>
                  <a:cxnLst>
                    <a:cxn ang="0">
                      <a:pos x="0" y="264"/>
                    </a:cxn>
                    <a:cxn ang="0">
                      <a:pos x="34" y="192"/>
                    </a:cxn>
                    <a:cxn ang="0">
                      <a:pos x="68" y="129"/>
                    </a:cxn>
                    <a:cxn ang="0">
                      <a:pos x="103" y="76"/>
                    </a:cxn>
                    <a:cxn ang="0">
                      <a:pos x="137" y="31"/>
                    </a:cxn>
                    <a:cxn ang="0">
                      <a:pos x="166" y="8"/>
                    </a:cxn>
                    <a:cxn ang="0">
                      <a:pos x="200" y="0"/>
                    </a:cxn>
                    <a:cxn ang="0">
                      <a:pos x="235" y="8"/>
                    </a:cxn>
                    <a:cxn ang="0">
                      <a:pos x="269" y="31"/>
                    </a:cxn>
                    <a:cxn ang="0">
                      <a:pos x="303" y="76"/>
                    </a:cxn>
                    <a:cxn ang="0">
                      <a:pos x="338" y="129"/>
                    </a:cxn>
                    <a:cxn ang="0">
                      <a:pos x="372" y="196"/>
                    </a:cxn>
                    <a:cxn ang="0">
                      <a:pos x="407" y="264"/>
                    </a:cxn>
                  </a:cxnLst>
                  <a:rect l="txL" t="txT" r="txR" b="txB"/>
                  <a:pathLst>
                    <a:path w="408" h="265">
                      <a:moveTo>
                        <a:pt x="0" y="264"/>
                      </a:moveTo>
                      <a:lnTo>
                        <a:pt x="34" y="192"/>
                      </a:lnTo>
                      <a:lnTo>
                        <a:pt x="68" y="129"/>
                      </a:lnTo>
                      <a:lnTo>
                        <a:pt x="103" y="76"/>
                      </a:lnTo>
                      <a:lnTo>
                        <a:pt x="137" y="31"/>
                      </a:lnTo>
                      <a:lnTo>
                        <a:pt x="166" y="8"/>
                      </a:lnTo>
                      <a:lnTo>
                        <a:pt x="200" y="0"/>
                      </a:lnTo>
                      <a:lnTo>
                        <a:pt x="235" y="8"/>
                      </a:lnTo>
                      <a:lnTo>
                        <a:pt x="269" y="31"/>
                      </a:lnTo>
                      <a:lnTo>
                        <a:pt x="303" y="76"/>
                      </a:lnTo>
                      <a:lnTo>
                        <a:pt x="338" y="129"/>
                      </a:lnTo>
                      <a:lnTo>
                        <a:pt x="372" y="196"/>
                      </a:lnTo>
                      <a:lnTo>
                        <a:pt x="407" y="264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  <p:sp>
              <p:nvSpPr>
                <p:cNvPr id="31831" name="Freeform 82"/>
                <p:cNvSpPr/>
                <p:nvPr/>
              </p:nvSpPr>
              <p:spPr>
                <a:xfrm>
                  <a:off x="3345" y="792"/>
                  <a:ext cx="409" cy="265"/>
                </a:xfrm>
                <a:custGeom>
                  <a:avLst/>
                  <a:gdLst>
                    <a:gd name="txL" fmla="*/ 0 w 409"/>
                    <a:gd name="txT" fmla="*/ 0 h 265"/>
                    <a:gd name="txR" fmla="*/ 409 w 409"/>
                    <a:gd name="txB" fmla="*/ 265 h 265"/>
                  </a:gdLst>
                  <a:ahLst/>
                  <a:cxnLst>
                    <a:cxn ang="0">
                      <a:pos x="408" y="0"/>
                    </a:cxn>
                    <a:cxn ang="0">
                      <a:pos x="373" y="71"/>
                    </a:cxn>
                    <a:cxn ang="0">
                      <a:pos x="339" y="134"/>
                    </a:cxn>
                    <a:cxn ang="0">
                      <a:pos x="304" y="187"/>
                    </a:cxn>
                    <a:cxn ang="0">
                      <a:pos x="270" y="232"/>
                    </a:cxn>
                    <a:cxn ang="0">
                      <a:pos x="241" y="255"/>
                    </a:cxn>
                    <a:cxn ang="0">
                      <a:pos x="206" y="264"/>
                    </a:cxn>
                    <a:cxn ang="0">
                      <a:pos x="172" y="255"/>
                    </a:cxn>
                    <a:cxn ang="0">
                      <a:pos x="137" y="232"/>
                    </a:cxn>
                    <a:cxn ang="0">
                      <a:pos x="103" y="187"/>
                    </a:cxn>
                    <a:cxn ang="0">
                      <a:pos x="68" y="134"/>
                    </a:cxn>
                    <a:cxn ang="0">
                      <a:pos x="34" y="6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09" h="265">
                      <a:moveTo>
                        <a:pt x="408" y="0"/>
                      </a:moveTo>
                      <a:lnTo>
                        <a:pt x="373" y="71"/>
                      </a:lnTo>
                      <a:lnTo>
                        <a:pt x="339" y="134"/>
                      </a:lnTo>
                      <a:lnTo>
                        <a:pt x="304" y="187"/>
                      </a:lnTo>
                      <a:lnTo>
                        <a:pt x="270" y="232"/>
                      </a:lnTo>
                      <a:lnTo>
                        <a:pt x="241" y="255"/>
                      </a:lnTo>
                      <a:lnTo>
                        <a:pt x="206" y="264"/>
                      </a:lnTo>
                      <a:lnTo>
                        <a:pt x="172" y="255"/>
                      </a:lnTo>
                      <a:lnTo>
                        <a:pt x="137" y="232"/>
                      </a:lnTo>
                      <a:lnTo>
                        <a:pt x="103" y="187"/>
                      </a:lnTo>
                      <a:lnTo>
                        <a:pt x="68" y="134"/>
                      </a:lnTo>
                      <a:lnTo>
                        <a:pt x="34" y="6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楷体_GB2312" pitchFamily="49" charset="-122"/>
                  </a:endParaRPr>
                </a:p>
              </p:txBody>
            </p:sp>
          </p:grpSp>
        </p:grpSp>
        <p:sp>
          <p:nvSpPr>
            <p:cNvPr id="31822" name="Text Box 84"/>
            <p:cNvSpPr txBox="1"/>
            <p:nvPr/>
          </p:nvSpPr>
          <p:spPr>
            <a:xfrm>
              <a:off x="2744" y="2387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24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1823" name="Text Box 85"/>
            <p:cNvSpPr txBox="1"/>
            <p:nvPr/>
          </p:nvSpPr>
          <p:spPr>
            <a:xfrm>
              <a:off x="4377" y="3612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1824" name="Text Box 86"/>
            <p:cNvSpPr txBox="1"/>
            <p:nvPr/>
          </p:nvSpPr>
          <p:spPr>
            <a:xfrm>
              <a:off x="3606" y="3657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0.5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1825" name="Text Box 87"/>
            <p:cNvSpPr txBox="1"/>
            <p:nvPr/>
          </p:nvSpPr>
          <p:spPr>
            <a:xfrm>
              <a:off x="3198" y="2205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u/V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1826" name="Text Box 88"/>
            <p:cNvSpPr txBox="1"/>
            <p:nvPr/>
          </p:nvSpPr>
          <p:spPr>
            <a:xfrm>
              <a:off x="5057" y="3657"/>
              <a:ext cx="5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t/</a:t>
              </a: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ms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1827" name="Line 89"/>
            <p:cNvSpPr/>
            <p:nvPr/>
          </p:nvSpPr>
          <p:spPr>
            <a:xfrm>
              <a:off x="4468" y="2523"/>
              <a:ext cx="0" cy="1134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6" name="Group 117"/>
          <p:cNvGrpSpPr/>
          <p:nvPr/>
        </p:nvGrpSpPr>
        <p:grpSpPr>
          <a:xfrm>
            <a:off x="4498975" y="4699000"/>
            <a:ext cx="3816350" cy="519113"/>
            <a:chOff x="2971" y="2795"/>
            <a:chExt cx="2404" cy="327"/>
          </a:xfrm>
        </p:grpSpPr>
        <p:sp>
          <p:nvSpPr>
            <p:cNvPr id="31817" name="Line 90"/>
            <p:cNvSpPr/>
            <p:nvPr/>
          </p:nvSpPr>
          <p:spPr>
            <a:xfrm>
              <a:off x="3379" y="2932"/>
              <a:ext cx="1996" cy="0"/>
            </a:xfrm>
            <a:prstGeom prst="line">
              <a:avLst/>
            </a:prstGeom>
            <a:ln w="9525" cap="flat" cmpd="sng">
              <a:solidFill>
                <a:srgbClr val="00FF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818" name="Text Box 91"/>
            <p:cNvSpPr txBox="1"/>
            <p:nvPr/>
          </p:nvSpPr>
          <p:spPr>
            <a:xfrm>
              <a:off x="2971" y="2795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167" name="Text Box 95"/>
          <p:cNvSpPr txBox="1"/>
          <p:nvPr/>
        </p:nvSpPr>
        <p:spPr>
          <a:xfrm>
            <a:off x="468313" y="209232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168" name="Object 96"/>
          <p:cNvGraphicFramePr/>
          <p:nvPr/>
        </p:nvGraphicFramePr>
        <p:xfrm>
          <a:off x="1187450" y="2092325"/>
          <a:ext cx="36687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" imgW="1813560" imgH="215900" progId="Equation.3">
                  <p:embed/>
                </p:oleObj>
              </mc:Choice>
              <mc:Fallback>
                <p:oleObj name="" r:id="rId1" imgW="1813560" imgH="2159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2092325"/>
                        <a:ext cx="3668713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9" name="Object 97"/>
          <p:cNvGraphicFramePr/>
          <p:nvPr/>
        </p:nvGraphicFramePr>
        <p:xfrm>
          <a:off x="827088" y="2852738"/>
          <a:ext cx="35433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3" imgW="1562100" imgH="228600" progId="Equation.3">
                  <p:embed/>
                </p:oleObj>
              </mc:Choice>
              <mc:Fallback>
                <p:oleObj name="" r:id="rId3" imgW="1562100" imgH="2286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2852738"/>
                        <a:ext cx="354330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0" name="Object 98"/>
          <p:cNvGraphicFramePr/>
          <p:nvPr/>
        </p:nvGraphicFramePr>
        <p:xfrm>
          <a:off x="798513" y="4914900"/>
          <a:ext cx="29400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5" imgW="1282700" imgH="228600" progId="Equation.3">
                  <p:embed/>
                </p:oleObj>
              </mc:Choice>
              <mc:Fallback>
                <p:oleObj name="" r:id="rId5" imgW="1282700" imgH="2286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8513" y="4914900"/>
                        <a:ext cx="294005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1" name="Text Box 99"/>
          <p:cNvSpPr txBox="1"/>
          <p:nvPr/>
        </p:nvSpPr>
        <p:spPr>
          <a:xfrm>
            <a:off x="539750" y="3533775"/>
            <a:ext cx="3960813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当</a:t>
            </a:r>
            <a:r>
              <a:rPr lang="en-US" altLang="zh-CN" b="0" i="1" dirty="0">
                <a:latin typeface="Times New Roman" panose="02020603050405020304" pitchFamily="18" charset="0"/>
              </a:rPr>
              <a:t>u</a:t>
            </a:r>
            <a:r>
              <a:rPr lang="en-US" altLang="zh-CN" b="0" dirty="0">
                <a:latin typeface="Times New Roman" panose="02020603050405020304" pitchFamily="18" charset="0"/>
              </a:rPr>
              <a:t>=12V</a:t>
            </a:r>
            <a:r>
              <a:rPr lang="zh-CN" altLang="en-US" dirty="0">
                <a:latin typeface="楷体_GB2312" pitchFamily="49" charset="-122"/>
              </a:rPr>
              <a:t>作用时，电容开路、电感短路，有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3172" name="Object 100"/>
          <p:cNvGraphicFramePr/>
          <p:nvPr/>
        </p:nvGraphicFramePr>
        <p:xfrm>
          <a:off x="971550" y="5476875"/>
          <a:ext cx="11652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7" imgW="457200" imgH="241300" progId="Equation.3">
                  <p:embed/>
                </p:oleObj>
              </mc:Choice>
              <mc:Fallback>
                <p:oleObj name="" r:id="rId7" imgW="457200" imgH="2413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5476875"/>
                        <a:ext cx="1165225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7" name="Text Box 165"/>
          <p:cNvSpPr txBox="1"/>
          <p:nvPr/>
        </p:nvSpPr>
        <p:spPr>
          <a:xfrm>
            <a:off x="4716463" y="5516563"/>
            <a:ext cx="2873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O</a:t>
            </a:r>
            <a:endParaRPr lang="en-US" altLang="zh-CN" sz="2000" b="0" i="1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1761" name="Group 16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1815" name="Picture 17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816" name="Text Box 17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1762" name="Group 17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1813" name="Picture 173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814" name="Text Box 17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1763" name="Group 17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1811" name="Picture 179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812" name="Text Box 18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" name="Group 196"/>
          <p:cNvGrpSpPr/>
          <p:nvPr/>
        </p:nvGrpSpPr>
        <p:grpSpPr>
          <a:xfrm>
            <a:off x="5003800" y="1484313"/>
            <a:ext cx="3790950" cy="2030412"/>
            <a:chOff x="3152" y="935"/>
            <a:chExt cx="2388" cy="1279"/>
          </a:xfrm>
        </p:grpSpPr>
        <p:sp>
          <p:nvSpPr>
            <p:cNvPr id="31765" name="Oval 119"/>
            <p:cNvSpPr/>
            <p:nvPr/>
          </p:nvSpPr>
          <p:spPr>
            <a:xfrm>
              <a:off x="3152" y="147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1766" name="Line 120"/>
            <p:cNvSpPr/>
            <p:nvPr/>
          </p:nvSpPr>
          <p:spPr>
            <a:xfrm>
              <a:off x="4468" y="1887"/>
              <a:ext cx="5" cy="2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7" name="Line 121"/>
            <p:cNvSpPr/>
            <p:nvPr/>
          </p:nvSpPr>
          <p:spPr>
            <a:xfrm flipH="1">
              <a:off x="4468" y="1298"/>
              <a:ext cx="5" cy="2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8" name="Line 122"/>
            <p:cNvSpPr/>
            <p:nvPr/>
          </p:nvSpPr>
          <p:spPr>
            <a:xfrm>
              <a:off x="3334" y="1298"/>
              <a:ext cx="113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9" name="Line 123"/>
            <p:cNvSpPr/>
            <p:nvPr/>
          </p:nvSpPr>
          <p:spPr>
            <a:xfrm flipV="1">
              <a:off x="4785" y="2114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0" name="Text Box 125"/>
            <p:cNvSpPr txBox="1"/>
            <p:nvPr/>
          </p:nvSpPr>
          <p:spPr>
            <a:xfrm>
              <a:off x="4285" y="1388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1" name="Text Box 126"/>
            <p:cNvSpPr txBox="1"/>
            <p:nvPr/>
          </p:nvSpPr>
          <p:spPr>
            <a:xfrm>
              <a:off x="3742" y="1706"/>
              <a:ext cx="26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1772" name="Line 128"/>
            <p:cNvSpPr/>
            <p:nvPr/>
          </p:nvSpPr>
          <p:spPr>
            <a:xfrm>
              <a:off x="4785" y="1298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1750" name="Object 129"/>
            <p:cNvGraphicFramePr/>
            <p:nvPr/>
          </p:nvGraphicFramePr>
          <p:xfrm>
            <a:off x="4150" y="935"/>
            <a:ext cx="193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" r:id="rId10" imgW="114300" imgH="240665" progId="Equation.3">
                    <p:embed/>
                  </p:oleObj>
                </mc:Choice>
                <mc:Fallback>
                  <p:oleObj name="" r:id="rId10" imgW="114300" imgH="240665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50" y="935"/>
                          <a:ext cx="193" cy="3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1" name="Object 130"/>
            <p:cNvGraphicFramePr/>
            <p:nvPr/>
          </p:nvGraphicFramePr>
          <p:xfrm>
            <a:off x="4967" y="980"/>
            <a:ext cx="18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" name="" r:id="rId12" imgW="139700" imgH="241300" progId="Equation.3">
                    <p:embed/>
                  </p:oleObj>
                </mc:Choice>
                <mc:Fallback>
                  <p:oleObj name="" r:id="rId12" imgW="139700" imgH="24130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67" y="980"/>
                          <a:ext cx="188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3" name="Line 131"/>
            <p:cNvSpPr/>
            <p:nvPr/>
          </p:nvSpPr>
          <p:spPr>
            <a:xfrm flipH="1" flipV="1">
              <a:off x="3334" y="2114"/>
              <a:ext cx="113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4" name="Text Box 132"/>
            <p:cNvSpPr txBox="1"/>
            <p:nvPr/>
          </p:nvSpPr>
          <p:spPr>
            <a:xfrm>
              <a:off x="5239" y="1207"/>
              <a:ext cx="27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5" name="Text Box 133"/>
            <p:cNvSpPr txBox="1"/>
            <p:nvPr/>
          </p:nvSpPr>
          <p:spPr>
            <a:xfrm>
              <a:off x="5239" y="1887"/>
              <a:ext cx="25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1752" name="Object 134"/>
            <p:cNvGraphicFramePr/>
            <p:nvPr/>
          </p:nvGraphicFramePr>
          <p:xfrm>
            <a:off x="5352" y="1565"/>
            <a:ext cx="18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5" name="" r:id="rId14" imgW="165100" imgH="241300" progId="Equation.3">
                    <p:embed/>
                  </p:oleObj>
                </mc:Choice>
                <mc:Fallback>
                  <p:oleObj name="" r:id="rId14" imgW="165100" imgH="241300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52" y="1565"/>
                          <a:ext cx="188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6" name="Text Box 135"/>
            <p:cNvSpPr txBox="1"/>
            <p:nvPr/>
          </p:nvSpPr>
          <p:spPr>
            <a:xfrm>
              <a:off x="3379" y="1252"/>
              <a:ext cx="26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7" name="Text Box 136"/>
            <p:cNvSpPr txBox="1"/>
            <p:nvPr/>
          </p:nvSpPr>
          <p:spPr>
            <a:xfrm>
              <a:off x="3379" y="1797"/>
              <a:ext cx="26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8" name="Line 137"/>
            <p:cNvSpPr/>
            <p:nvPr/>
          </p:nvSpPr>
          <p:spPr>
            <a:xfrm>
              <a:off x="4046" y="1751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1779" name="Text Box 138"/>
            <p:cNvSpPr txBox="1"/>
            <p:nvPr/>
          </p:nvSpPr>
          <p:spPr>
            <a:xfrm>
              <a:off x="4377" y="980"/>
              <a:ext cx="51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: 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0" name="Line 139"/>
            <p:cNvSpPr/>
            <p:nvPr/>
          </p:nvSpPr>
          <p:spPr>
            <a:xfrm>
              <a:off x="3334" y="1298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1" name="Rectangle 140"/>
            <p:cNvSpPr/>
            <p:nvPr/>
          </p:nvSpPr>
          <p:spPr>
            <a:xfrm>
              <a:off x="3515" y="935"/>
              <a:ext cx="4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8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1782" name="Line 141"/>
            <p:cNvSpPr/>
            <p:nvPr/>
          </p:nvSpPr>
          <p:spPr>
            <a:xfrm>
              <a:off x="5193" y="1298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3" name="Line 142"/>
            <p:cNvSpPr/>
            <p:nvPr/>
          </p:nvSpPr>
          <p:spPr>
            <a:xfrm>
              <a:off x="5193" y="1887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4" name="Text Box 143"/>
            <p:cNvSpPr txBox="1"/>
            <p:nvPr/>
          </p:nvSpPr>
          <p:spPr>
            <a:xfrm>
              <a:off x="4967" y="1570"/>
              <a:ext cx="24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1785" name="Text Box 144"/>
            <p:cNvSpPr txBox="1"/>
            <p:nvPr/>
          </p:nvSpPr>
          <p:spPr>
            <a:xfrm>
              <a:off x="3515" y="147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1786" name="Line 149"/>
            <p:cNvSpPr/>
            <p:nvPr/>
          </p:nvSpPr>
          <p:spPr>
            <a:xfrm>
              <a:off x="4046" y="1298"/>
              <a:ext cx="0" cy="3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grpSp>
          <p:nvGrpSpPr>
            <p:cNvPr id="31787" name="Group 150"/>
            <p:cNvGrpSpPr/>
            <p:nvPr/>
          </p:nvGrpSpPr>
          <p:grpSpPr>
            <a:xfrm>
              <a:off x="3928" y="1660"/>
              <a:ext cx="240" cy="93"/>
              <a:chOff x="3787" y="2478"/>
              <a:chExt cx="240" cy="93"/>
            </a:xfrm>
          </p:grpSpPr>
          <p:sp>
            <p:nvSpPr>
              <p:cNvPr id="31809" name="Line 151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10" name="Line 152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1788" name="Rectangle 153"/>
            <p:cNvSpPr/>
            <p:nvPr/>
          </p:nvSpPr>
          <p:spPr>
            <a:xfrm>
              <a:off x="3561" y="123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31789" name="Line 154"/>
            <p:cNvSpPr/>
            <p:nvPr/>
          </p:nvSpPr>
          <p:spPr>
            <a:xfrm>
              <a:off x="4785" y="1887"/>
              <a:ext cx="5" cy="2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0" name="Line 155"/>
            <p:cNvSpPr/>
            <p:nvPr/>
          </p:nvSpPr>
          <p:spPr>
            <a:xfrm flipH="1">
              <a:off x="4785" y="1298"/>
              <a:ext cx="5" cy="2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1" name="Text Box 156"/>
            <p:cNvSpPr txBox="1"/>
            <p:nvPr/>
          </p:nvSpPr>
          <p:spPr>
            <a:xfrm>
              <a:off x="4740" y="1388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1792" name="Group 181"/>
            <p:cNvGrpSpPr/>
            <p:nvPr/>
          </p:nvGrpSpPr>
          <p:grpSpPr>
            <a:xfrm>
              <a:off x="4694" y="1525"/>
              <a:ext cx="91" cy="363"/>
              <a:chOff x="1565" y="2614"/>
              <a:chExt cx="90" cy="486"/>
            </a:xfrm>
          </p:grpSpPr>
          <p:sp>
            <p:nvSpPr>
              <p:cNvPr id="31805" name="Arc 182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1806" name="Arc 183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1807" name="Arc 184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1808" name="Arc 185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31793" name="Group 186"/>
            <p:cNvGrpSpPr/>
            <p:nvPr/>
          </p:nvGrpSpPr>
          <p:grpSpPr>
            <a:xfrm rot="10800000">
              <a:off x="4468" y="1525"/>
              <a:ext cx="90" cy="363"/>
              <a:chOff x="1565" y="2614"/>
              <a:chExt cx="90" cy="486"/>
            </a:xfrm>
          </p:grpSpPr>
          <p:sp>
            <p:nvSpPr>
              <p:cNvPr id="31801" name="Arc 187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1802" name="Arc 188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1803" name="Arc 189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1804" name="Arc 190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31794" name="Group 191"/>
            <p:cNvGrpSpPr/>
            <p:nvPr/>
          </p:nvGrpSpPr>
          <p:grpSpPr>
            <a:xfrm rot="10800000">
              <a:off x="5193" y="1525"/>
              <a:ext cx="90" cy="363"/>
              <a:chOff x="1565" y="2614"/>
              <a:chExt cx="90" cy="486"/>
            </a:xfrm>
          </p:grpSpPr>
          <p:sp>
            <p:nvSpPr>
              <p:cNvPr id="31797" name="Arc 192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1798" name="Arc 193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1799" name="Arc 194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1800" name="Arc 195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31795" name="Line 124"/>
            <p:cNvSpPr/>
            <p:nvPr/>
          </p:nvSpPr>
          <p:spPr>
            <a:xfrm rot="5400000">
              <a:off x="5004" y="1170"/>
              <a:ext cx="0" cy="256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1796" name="Line 127"/>
            <p:cNvSpPr/>
            <p:nvPr/>
          </p:nvSpPr>
          <p:spPr>
            <a:xfrm>
              <a:off x="4150" y="1298"/>
              <a:ext cx="240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20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2000"/>
                                        <p:tgtEl>
                                          <p:spTgt spid="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2000"/>
                                        <p:tgtEl>
                                          <p:spTgt spid="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2000"/>
                                        <p:tgtEl>
                                          <p:spTgt spid="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2000"/>
                                        <p:tgtEl>
                                          <p:spTgt spid="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2000"/>
                                        <p:tgtEl>
                                          <p:spTgt spid="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9" grpId="0"/>
      <p:bldP spid="3090" grpId="0"/>
      <p:bldP spid="3167" grpId="0" animBg="1"/>
      <p:bldP spid="3171" grpId="0"/>
      <p:bldP spid="323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93"/>
          <p:cNvGrpSpPr/>
          <p:nvPr/>
        </p:nvGrpSpPr>
        <p:grpSpPr>
          <a:xfrm>
            <a:off x="4284663" y="2997200"/>
            <a:ext cx="4471987" cy="2030413"/>
            <a:chOff x="2789" y="2115"/>
            <a:chExt cx="2817" cy="1279"/>
          </a:xfrm>
        </p:grpSpPr>
        <p:sp>
          <p:nvSpPr>
            <p:cNvPr id="32827" name="Text Box 194"/>
            <p:cNvSpPr txBox="1"/>
            <p:nvPr/>
          </p:nvSpPr>
          <p:spPr>
            <a:xfrm>
              <a:off x="3651" y="2750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j4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2781" name="Object 195"/>
            <p:cNvGraphicFramePr/>
            <p:nvPr/>
          </p:nvGraphicFramePr>
          <p:xfrm>
            <a:off x="5375" y="2659"/>
            <a:ext cx="231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0" name="" r:id="rId1" imgW="203200" imgH="279400" progId="Equation.3">
                    <p:embed/>
                  </p:oleObj>
                </mc:Choice>
                <mc:Fallback>
                  <p:oleObj name="" r:id="rId1" imgW="203200" imgH="279400" progId="Equation.3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75" y="2659"/>
                          <a:ext cx="231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8" name="Text Box 196"/>
            <p:cNvSpPr txBox="1"/>
            <p:nvPr/>
          </p:nvSpPr>
          <p:spPr>
            <a:xfrm>
              <a:off x="4967" y="2750"/>
              <a:ext cx="35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j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2782" name="Object 197"/>
            <p:cNvGraphicFramePr/>
            <p:nvPr/>
          </p:nvGraphicFramePr>
          <p:xfrm>
            <a:off x="2789" y="2659"/>
            <a:ext cx="494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" name="" r:id="rId3" imgW="418465" imgH="254000" progId="Equation.3">
                    <p:embed/>
                  </p:oleObj>
                </mc:Choice>
                <mc:Fallback>
                  <p:oleObj name="" r:id="rId3" imgW="418465" imgH="254000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89" y="2659"/>
                          <a:ext cx="494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3" name="Object 198"/>
            <p:cNvGraphicFramePr/>
            <p:nvPr/>
          </p:nvGraphicFramePr>
          <p:xfrm>
            <a:off x="4241" y="2142"/>
            <a:ext cx="206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" r:id="rId5" imgW="152400" imgH="266065" progId="Equation.3">
                    <p:embed/>
                  </p:oleObj>
                </mc:Choice>
                <mc:Fallback>
                  <p:oleObj name="" r:id="rId5" imgW="152400" imgH="266065" progId="Equation.3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41" y="2142"/>
                          <a:ext cx="206" cy="3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4" name="Object 199"/>
            <p:cNvGraphicFramePr/>
            <p:nvPr/>
          </p:nvGraphicFramePr>
          <p:xfrm>
            <a:off x="4967" y="2142"/>
            <a:ext cx="22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8" name="" r:id="rId7" imgW="165100" imgH="266065" progId="Equation.3">
                    <p:embed/>
                  </p:oleObj>
                </mc:Choice>
                <mc:Fallback>
                  <p:oleObj name="" r:id="rId7" imgW="165100" imgH="266065" progId="Equation.3">
                    <p:embed/>
                    <p:pic>
                      <p:nvPicPr>
                        <p:cNvPr id="0" name="图片 3217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67" y="2142"/>
                          <a:ext cx="223" cy="3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9" name="Oval 200"/>
            <p:cNvSpPr/>
            <p:nvPr/>
          </p:nvSpPr>
          <p:spPr>
            <a:xfrm>
              <a:off x="3243" y="265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830" name="Line 201"/>
            <p:cNvSpPr/>
            <p:nvPr/>
          </p:nvSpPr>
          <p:spPr>
            <a:xfrm>
              <a:off x="4559" y="3067"/>
              <a:ext cx="5" cy="2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1" name="Line 202"/>
            <p:cNvSpPr/>
            <p:nvPr/>
          </p:nvSpPr>
          <p:spPr>
            <a:xfrm flipH="1">
              <a:off x="4559" y="2478"/>
              <a:ext cx="5" cy="2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2" name="Line 203"/>
            <p:cNvSpPr/>
            <p:nvPr/>
          </p:nvSpPr>
          <p:spPr>
            <a:xfrm>
              <a:off x="3425" y="2478"/>
              <a:ext cx="113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3" name="Line 204"/>
            <p:cNvSpPr/>
            <p:nvPr/>
          </p:nvSpPr>
          <p:spPr>
            <a:xfrm flipV="1">
              <a:off x="4876" y="3294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4" name="Text Box 205"/>
            <p:cNvSpPr txBox="1"/>
            <p:nvPr/>
          </p:nvSpPr>
          <p:spPr>
            <a:xfrm>
              <a:off x="4376" y="2568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5" name="Line 206"/>
            <p:cNvSpPr/>
            <p:nvPr/>
          </p:nvSpPr>
          <p:spPr>
            <a:xfrm>
              <a:off x="4876" y="2478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6" name="Line 207"/>
            <p:cNvSpPr/>
            <p:nvPr/>
          </p:nvSpPr>
          <p:spPr>
            <a:xfrm flipH="1" flipV="1">
              <a:off x="3425" y="3294"/>
              <a:ext cx="113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7" name="Text Box 208"/>
            <p:cNvSpPr txBox="1"/>
            <p:nvPr/>
          </p:nvSpPr>
          <p:spPr>
            <a:xfrm>
              <a:off x="5330" y="2387"/>
              <a:ext cx="27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8" name="Text Box 209"/>
            <p:cNvSpPr txBox="1"/>
            <p:nvPr/>
          </p:nvSpPr>
          <p:spPr>
            <a:xfrm>
              <a:off x="5330" y="3067"/>
              <a:ext cx="25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9" name="Text Box 210"/>
            <p:cNvSpPr txBox="1"/>
            <p:nvPr/>
          </p:nvSpPr>
          <p:spPr>
            <a:xfrm>
              <a:off x="3198" y="2341"/>
              <a:ext cx="26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0" name="Text Box 211"/>
            <p:cNvSpPr txBox="1"/>
            <p:nvPr/>
          </p:nvSpPr>
          <p:spPr>
            <a:xfrm>
              <a:off x="3198" y="2976"/>
              <a:ext cx="26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1" name="Line 212"/>
            <p:cNvSpPr/>
            <p:nvPr/>
          </p:nvSpPr>
          <p:spPr>
            <a:xfrm>
              <a:off x="4137" y="2931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42" name="Text Box 213"/>
            <p:cNvSpPr txBox="1"/>
            <p:nvPr/>
          </p:nvSpPr>
          <p:spPr>
            <a:xfrm>
              <a:off x="4468" y="2160"/>
              <a:ext cx="51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: 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3" name="Line 214"/>
            <p:cNvSpPr/>
            <p:nvPr/>
          </p:nvSpPr>
          <p:spPr>
            <a:xfrm>
              <a:off x="3425" y="2478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4" name="Rectangle 215"/>
            <p:cNvSpPr/>
            <p:nvPr/>
          </p:nvSpPr>
          <p:spPr>
            <a:xfrm>
              <a:off x="3606" y="2115"/>
              <a:ext cx="4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8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2845" name="Line 216"/>
            <p:cNvSpPr/>
            <p:nvPr/>
          </p:nvSpPr>
          <p:spPr>
            <a:xfrm>
              <a:off x="5284" y="2478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6" name="Line 217"/>
            <p:cNvSpPr/>
            <p:nvPr/>
          </p:nvSpPr>
          <p:spPr>
            <a:xfrm>
              <a:off x="5284" y="3067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7" name="Line 218"/>
            <p:cNvSpPr/>
            <p:nvPr/>
          </p:nvSpPr>
          <p:spPr>
            <a:xfrm>
              <a:off x="4137" y="2478"/>
              <a:ext cx="0" cy="3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grpSp>
          <p:nvGrpSpPr>
            <p:cNvPr id="32848" name="Group 219"/>
            <p:cNvGrpSpPr/>
            <p:nvPr/>
          </p:nvGrpSpPr>
          <p:grpSpPr>
            <a:xfrm>
              <a:off x="4019" y="2840"/>
              <a:ext cx="240" cy="93"/>
              <a:chOff x="3787" y="2478"/>
              <a:chExt cx="240" cy="93"/>
            </a:xfrm>
          </p:grpSpPr>
          <p:sp>
            <p:nvSpPr>
              <p:cNvPr id="32871" name="Line 220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72" name="Line 221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849" name="Rectangle 222"/>
            <p:cNvSpPr/>
            <p:nvPr/>
          </p:nvSpPr>
          <p:spPr>
            <a:xfrm>
              <a:off x="3652" y="241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32850" name="Line 223"/>
            <p:cNvSpPr/>
            <p:nvPr/>
          </p:nvSpPr>
          <p:spPr>
            <a:xfrm>
              <a:off x="4876" y="3067"/>
              <a:ext cx="5" cy="2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51" name="Line 224"/>
            <p:cNvSpPr/>
            <p:nvPr/>
          </p:nvSpPr>
          <p:spPr>
            <a:xfrm flipH="1">
              <a:off x="4876" y="2478"/>
              <a:ext cx="5" cy="2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52" name="Text Box 225"/>
            <p:cNvSpPr txBox="1"/>
            <p:nvPr/>
          </p:nvSpPr>
          <p:spPr>
            <a:xfrm>
              <a:off x="4831" y="2568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2853" name="Group 226"/>
            <p:cNvGrpSpPr/>
            <p:nvPr/>
          </p:nvGrpSpPr>
          <p:grpSpPr>
            <a:xfrm>
              <a:off x="4785" y="2705"/>
              <a:ext cx="91" cy="363"/>
              <a:chOff x="1565" y="2614"/>
              <a:chExt cx="90" cy="486"/>
            </a:xfrm>
          </p:grpSpPr>
          <p:sp>
            <p:nvSpPr>
              <p:cNvPr id="32867" name="Arc 227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68" name="Arc 228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69" name="Arc 229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70" name="Arc 230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32854" name="Group 231"/>
            <p:cNvGrpSpPr/>
            <p:nvPr/>
          </p:nvGrpSpPr>
          <p:grpSpPr>
            <a:xfrm rot="10800000">
              <a:off x="4559" y="2705"/>
              <a:ext cx="90" cy="363"/>
              <a:chOff x="1565" y="2614"/>
              <a:chExt cx="90" cy="486"/>
            </a:xfrm>
          </p:grpSpPr>
          <p:sp>
            <p:nvSpPr>
              <p:cNvPr id="32863" name="Arc 232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64" name="Arc 233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65" name="Arc 234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66" name="Arc 235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grpSp>
          <p:nvGrpSpPr>
            <p:cNvPr id="32855" name="Group 236"/>
            <p:cNvGrpSpPr/>
            <p:nvPr/>
          </p:nvGrpSpPr>
          <p:grpSpPr>
            <a:xfrm rot="10800000">
              <a:off x="5284" y="2705"/>
              <a:ext cx="90" cy="363"/>
              <a:chOff x="1565" y="2614"/>
              <a:chExt cx="90" cy="486"/>
            </a:xfrm>
          </p:grpSpPr>
          <p:sp>
            <p:nvSpPr>
              <p:cNvPr id="32859" name="Arc 237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60" name="Arc 238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61" name="Arc 239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62" name="Arc 240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32856" name="Line 241"/>
            <p:cNvSpPr/>
            <p:nvPr/>
          </p:nvSpPr>
          <p:spPr>
            <a:xfrm rot="5400000">
              <a:off x="5095" y="2350"/>
              <a:ext cx="0" cy="256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2857" name="Line 242"/>
            <p:cNvSpPr/>
            <p:nvPr/>
          </p:nvSpPr>
          <p:spPr>
            <a:xfrm>
              <a:off x="4241" y="2478"/>
              <a:ext cx="240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58" name="Line 243"/>
            <p:cNvSpPr/>
            <p:nvPr/>
          </p:nvSpPr>
          <p:spPr>
            <a:xfrm>
              <a:off x="3007" y="2931"/>
              <a:ext cx="22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244"/>
          <p:cNvGrpSpPr/>
          <p:nvPr/>
        </p:nvGrpSpPr>
        <p:grpSpPr>
          <a:xfrm>
            <a:off x="3348038" y="2997200"/>
            <a:ext cx="5580062" cy="2374900"/>
            <a:chOff x="1202" y="2205"/>
            <a:chExt cx="3515" cy="1496"/>
          </a:xfrm>
        </p:grpSpPr>
        <p:sp>
          <p:nvSpPr>
            <p:cNvPr id="32801" name="Rectangle 245"/>
            <p:cNvSpPr/>
            <p:nvPr/>
          </p:nvSpPr>
          <p:spPr>
            <a:xfrm>
              <a:off x="1202" y="2205"/>
              <a:ext cx="3515" cy="1496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32778" name="Object 246"/>
            <p:cNvGraphicFramePr/>
            <p:nvPr/>
          </p:nvGraphicFramePr>
          <p:xfrm>
            <a:off x="2146" y="2864"/>
            <a:ext cx="494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9" imgW="418465" imgH="254000" progId="Equation.3">
                    <p:embed/>
                  </p:oleObj>
                </mc:Choice>
                <mc:Fallback>
                  <p:oleObj name="" r:id="rId9" imgW="418465" imgH="25400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46" y="2864"/>
                          <a:ext cx="494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2" name="Oval 247"/>
            <p:cNvSpPr/>
            <p:nvPr/>
          </p:nvSpPr>
          <p:spPr>
            <a:xfrm>
              <a:off x="2699" y="279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803" name="Line 248"/>
            <p:cNvSpPr/>
            <p:nvPr/>
          </p:nvSpPr>
          <p:spPr>
            <a:xfrm>
              <a:off x="4151" y="3202"/>
              <a:ext cx="5" cy="2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4" name="Line 249"/>
            <p:cNvSpPr/>
            <p:nvPr/>
          </p:nvSpPr>
          <p:spPr>
            <a:xfrm flipH="1">
              <a:off x="4151" y="2613"/>
              <a:ext cx="5" cy="2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5" name="Line 250"/>
            <p:cNvSpPr/>
            <p:nvPr/>
          </p:nvSpPr>
          <p:spPr>
            <a:xfrm>
              <a:off x="2881" y="2613"/>
              <a:ext cx="127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6" name="Line 251"/>
            <p:cNvSpPr/>
            <p:nvPr/>
          </p:nvSpPr>
          <p:spPr>
            <a:xfrm>
              <a:off x="3696" y="2614"/>
              <a:ext cx="240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2779" name="Object 252"/>
            <p:cNvGraphicFramePr/>
            <p:nvPr/>
          </p:nvGraphicFramePr>
          <p:xfrm>
            <a:off x="3652" y="2250"/>
            <a:ext cx="206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11" imgW="152400" imgH="266065" progId="Equation.3">
                    <p:embed/>
                  </p:oleObj>
                </mc:Choice>
                <mc:Fallback>
                  <p:oleObj name="" r:id="rId11" imgW="152400" imgH="266065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52" y="2250"/>
                          <a:ext cx="206" cy="3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7" name="Line 253"/>
            <p:cNvSpPr/>
            <p:nvPr/>
          </p:nvSpPr>
          <p:spPr>
            <a:xfrm flipH="1" flipV="1">
              <a:off x="2881" y="3429"/>
              <a:ext cx="127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8" name="Text Box 254"/>
            <p:cNvSpPr txBox="1"/>
            <p:nvPr/>
          </p:nvSpPr>
          <p:spPr>
            <a:xfrm>
              <a:off x="2563" y="2522"/>
              <a:ext cx="26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9" name="Text Box 255"/>
            <p:cNvSpPr txBox="1"/>
            <p:nvPr/>
          </p:nvSpPr>
          <p:spPr>
            <a:xfrm>
              <a:off x="2609" y="3202"/>
              <a:ext cx="26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0" name="Line 256"/>
            <p:cNvSpPr/>
            <p:nvPr/>
          </p:nvSpPr>
          <p:spPr>
            <a:xfrm>
              <a:off x="3593" y="3066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2811" name="Line 257"/>
            <p:cNvSpPr/>
            <p:nvPr/>
          </p:nvSpPr>
          <p:spPr>
            <a:xfrm>
              <a:off x="2881" y="2613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2" name="Rectangle 258"/>
            <p:cNvSpPr/>
            <p:nvPr/>
          </p:nvSpPr>
          <p:spPr>
            <a:xfrm>
              <a:off x="3061" y="2251"/>
              <a:ext cx="4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8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32813" name="Group 259"/>
            <p:cNvGrpSpPr/>
            <p:nvPr/>
          </p:nvGrpSpPr>
          <p:grpSpPr>
            <a:xfrm>
              <a:off x="4151" y="2839"/>
              <a:ext cx="91" cy="363"/>
              <a:chOff x="2744" y="2931"/>
              <a:chExt cx="57" cy="283"/>
            </a:xfrm>
          </p:grpSpPr>
          <p:sp>
            <p:nvSpPr>
              <p:cNvPr id="32824" name="Arc 260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25" name="Arc 261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2826" name="Arc 262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  <p:sp>
          <p:nvSpPr>
            <p:cNvPr id="32814" name="Line 263"/>
            <p:cNvSpPr/>
            <p:nvPr/>
          </p:nvSpPr>
          <p:spPr>
            <a:xfrm>
              <a:off x="3593" y="2613"/>
              <a:ext cx="0" cy="3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grpSp>
          <p:nvGrpSpPr>
            <p:cNvPr id="32815" name="Group 264"/>
            <p:cNvGrpSpPr/>
            <p:nvPr/>
          </p:nvGrpSpPr>
          <p:grpSpPr>
            <a:xfrm>
              <a:off x="3475" y="2975"/>
              <a:ext cx="240" cy="93"/>
              <a:chOff x="3787" y="2478"/>
              <a:chExt cx="240" cy="93"/>
            </a:xfrm>
          </p:grpSpPr>
          <p:sp>
            <p:nvSpPr>
              <p:cNvPr id="32822" name="Line 265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3" name="Line 266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816" name="Rectangle 267"/>
            <p:cNvSpPr/>
            <p:nvPr/>
          </p:nvSpPr>
          <p:spPr>
            <a:xfrm>
              <a:off x="3108" y="254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32817" name="Rectangle 268"/>
            <p:cNvSpPr/>
            <p:nvPr/>
          </p:nvSpPr>
          <p:spPr>
            <a:xfrm>
              <a:off x="3697" y="2885"/>
              <a:ext cx="4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j4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2818" name="Rectangle 269"/>
            <p:cNvSpPr/>
            <p:nvPr/>
          </p:nvSpPr>
          <p:spPr>
            <a:xfrm>
              <a:off x="3016" y="3067"/>
              <a:ext cx="57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j4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2819" name="Text Box 270"/>
            <p:cNvSpPr txBox="1"/>
            <p:nvPr/>
          </p:nvSpPr>
          <p:spPr>
            <a:xfrm>
              <a:off x="4196" y="2522"/>
              <a:ext cx="26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20" name="Text Box 271"/>
            <p:cNvSpPr txBox="1"/>
            <p:nvPr/>
          </p:nvSpPr>
          <p:spPr>
            <a:xfrm>
              <a:off x="4242" y="3157"/>
              <a:ext cx="25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2780" name="Object 272"/>
            <p:cNvGraphicFramePr/>
            <p:nvPr/>
          </p:nvGraphicFramePr>
          <p:xfrm>
            <a:off x="4287" y="2885"/>
            <a:ext cx="23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12" imgW="203200" imgH="279400" progId="Equation.3">
                    <p:embed/>
                  </p:oleObj>
                </mc:Choice>
                <mc:Fallback>
                  <p:oleObj name="" r:id="rId12" imgW="203200" imgH="279400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7" y="2885"/>
                          <a:ext cx="232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1" name="Line 273"/>
            <p:cNvSpPr/>
            <p:nvPr/>
          </p:nvSpPr>
          <p:spPr>
            <a:xfrm>
              <a:off x="2372" y="3122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54308" name="Object 36"/>
          <p:cNvGraphicFramePr/>
          <p:nvPr/>
        </p:nvGraphicFramePr>
        <p:xfrm>
          <a:off x="755650" y="476250"/>
          <a:ext cx="3887788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4" imgW="1839595" imgH="254000" progId="Equation.3">
                  <p:embed/>
                </p:oleObj>
              </mc:Choice>
              <mc:Fallback>
                <p:oleObj name="" r:id="rId14" imgW="1839595" imgH="2540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476250"/>
                        <a:ext cx="3887788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9" name="Object 37"/>
          <p:cNvGraphicFramePr/>
          <p:nvPr/>
        </p:nvGraphicFramePr>
        <p:xfrm>
          <a:off x="803275" y="981075"/>
          <a:ext cx="528478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16" imgW="2781300" imgH="457200" progId="Equation.3">
                  <p:embed/>
                </p:oleObj>
              </mc:Choice>
              <mc:Fallback>
                <p:oleObj name="" r:id="rId16" imgW="2781300" imgH="4572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3275" y="981075"/>
                        <a:ext cx="5284788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10" name="Object 38"/>
          <p:cNvGraphicFramePr/>
          <p:nvPr/>
        </p:nvGraphicFramePr>
        <p:xfrm>
          <a:off x="827088" y="1844675"/>
          <a:ext cx="52451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8" imgW="2527300" imgH="457200" progId="Equation.3">
                  <p:embed/>
                </p:oleObj>
              </mc:Choice>
              <mc:Fallback>
                <p:oleObj name="" r:id="rId18" imgW="2527300" imgH="4572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1844675"/>
                        <a:ext cx="5245100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94" name="Object 122"/>
          <p:cNvGraphicFramePr/>
          <p:nvPr/>
        </p:nvGraphicFramePr>
        <p:xfrm>
          <a:off x="827088" y="2708275"/>
          <a:ext cx="343693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20" imgW="1421765" imgH="495300" progId="Equation.3">
                  <p:embed/>
                </p:oleObj>
              </mc:Choice>
              <mc:Fallback>
                <p:oleObj name="" r:id="rId20" imgW="1421765" imgH="4953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2708275"/>
                        <a:ext cx="3436937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97" name="Object 125"/>
          <p:cNvGraphicFramePr/>
          <p:nvPr/>
        </p:nvGraphicFramePr>
        <p:xfrm>
          <a:off x="503238" y="5229225"/>
          <a:ext cx="360203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22" imgW="1511300" imgH="469900" progId="Equation.3">
                  <p:embed/>
                </p:oleObj>
              </mc:Choice>
              <mc:Fallback>
                <p:oleObj name="" r:id="rId22" imgW="1511300" imgH="4699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3238" y="5229225"/>
                        <a:ext cx="3602037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98" name="Object 126"/>
          <p:cNvGraphicFramePr/>
          <p:nvPr/>
        </p:nvGraphicFramePr>
        <p:xfrm>
          <a:off x="4356100" y="5445125"/>
          <a:ext cx="44323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24" imgW="1928495" imgH="254000" progId="Equation.3">
                  <p:embed/>
                </p:oleObj>
              </mc:Choice>
              <mc:Fallback>
                <p:oleObj name="" r:id="rId24" imgW="1928495" imgH="2540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5445125"/>
                        <a:ext cx="4432300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87" name="Group 13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2799" name="Picture 131" descr="78900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800" name="Text Box 13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88" name="Group 13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2797" name="Picture 134" descr="78900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98" name="Text Box 13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89" name="Group 13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2795" name="Picture 140" descr="78900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96" name="Text Box 14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4414" name="AutoShape 142" descr="羊皮纸"/>
          <p:cNvSpPr/>
          <p:nvPr/>
        </p:nvSpPr>
        <p:spPr>
          <a:xfrm>
            <a:off x="6372225" y="1844675"/>
            <a:ext cx="1728788" cy="574675"/>
          </a:xfrm>
          <a:prstGeom prst="wedgeRoundRectCallout">
            <a:avLst>
              <a:gd name="adj1" fmla="val -175620"/>
              <a:gd name="adj2" fmla="val 177903"/>
              <a:gd name="adj3" fmla="val 16667"/>
            </a:avLst>
          </a:prstGeom>
          <a:blipFill rotWithShape="1">
            <a:blip r:embed="rId27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振幅相量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grpSp>
        <p:nvGrpSpPr>
          <p:cNvPr id="13" name="Group 277"/>
          <p:cNvGrpSpPr/>
          <p:nvPr/>
        </p:nvGrpSpPr>
        <p:grpSpPr>
          <a:xfrm>
            <a:off x="825500" y="4292600"/>
            <a:ext cx="2954338" cy="1014413"/>
            <a:chOff x="520" y="2704"/>
            <a:chExt cx="1861" cy="639"/>
          </a:xfrm>
        </p:grpSpPr>
        <p:graphicFrame>
          <p:nvGraphicFramePr>
            <p:cNvPr id="32777" name="Object 124"/>
            <p:cNvGraphicFramePr/>
            <p:nvPr/>
          </p:nvGraphicFramePr>
          <p:xfrm>
            <a:off x="520" y="2704"/>
            <a:ext cx="1861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28" imgW="1333500" imgH="457200" progId="Equation.3">
                    <p:embed/>
                  </p:oleObj>
                </mc:Choice>
                <mc:Fallback>
                  <p:oleObj name="" r:id="rId28" imgW="1333500" imgH="457200" progId="Equation.3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0" y="2704"/>
                          <a:ext cx="1861" cy="6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4" name="Line 274"/>
            <p:cNvSpPr/>
            <p:nvPr/>
          </p:nvSpPr>
          <p:spPr>
            <a:xfrm>
              <a:off x="1846" y="3158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" name="Group 276"/>
          <p:cNvGrpSpPr/>
          <p:nvPr/>
        </p:nvGrpSpPr>
        <p:grpSpPr>
          <a:xfrm>
            <a:off x="898525" y="3789363"/>
            <a:ext cx="2784475" cy="608012"/>
            <a:chOff x="566" y="2387"/>
            <a:chExt cx="1754" cy="383"/>
          </a:xfrm>
        </p:grpSpPr>
        <p:graphicFrame>
          <p:nvGraphicFramePr>
            <p:cNvPr id="32776" name="Object 123"/>
            <p:cNvGraphicFramePr/>
            <p:nvPr/>
          </p:nvGraphicFramePr>
          <p:xfrm>
            <a:off x="566" y="2387"/>
            <a:ext cx="1754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30" imgW="1217930" imgH="266065" progId="Equation.3">
                    <p:embed/>
                  </p:oleObj>
                </mc:Choice>
                <mc:Fallback>
                  <p:oleObj name="" r:id="rId30" imgW="1217930" imgH="266065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66" y="2387"/>
                          <a:ext cx="1754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3" name="Line 275"/>
            <p:cNvSpPr/>
            <p:nvPr/>
          </p:nvSpPr>
          <p:spPr>
            <a:xfrm>
              <a:off x="1782" y="2722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5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2000"/>
                                        <p:tgtEl>
                                          <p:spTgt spid="5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1000"/>
                                        <p:tgtEl>
                                          <p:spTgt spid="5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2000"/>
                                        <p:tgtEl>
                                          <p:spTgt spid="5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2000"/>
                                        <p:tgtEl>
                                          <p:spTgt spid="5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014" name="Text Box 30"/>
          <p:cNvSpPr txBox="1"/>
          <p:nvPr/>
        </p:nvSpPr>
        <p:spPr>
          <a:xfrm>
            <a:off x="323850" y="476250"/>
            <a:ext cx="13684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015" name="Text Box 31"/>
          <p:cNvSpPr txBox="1"/>
          <p:nvPr/>
        </p:nvSpPr>
        <p:spPr>
          <a:xfrm>
            <a:off x="900113" y="1412875"/>
            <a:ext cx="56880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求</a:t>
            </a:r>
            <a:r>
              <a:rPr lang="en-US" altLang="zh-CN" b="0" i="1" dirty="0">
                <a:latin typeface="Times New Roman" panose="02020603050405020304" pitchFamily="18" charset="0"/>
              </a:rPr>
              <a:t>U</a:t>
            </a:r>
            <a:r>
              <a:rPr lang="en-US" altLang="zh-CN" b="0" baseline="-25000" dirty="0">
                <a:latin typeface="Times New Roman" panose="02020603050405020304" pitchFamily="18" charset="0"/>
              </a:rPr>
              <a:t>ab</a:t>
            </a:r>
            <a:r>
              <a:rPr lang="zh-CN" altLang="en-US" b="0" dirty="0"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latin typeface="Times New Roman" panose="02020603050405020304" pitchFamily="18" charset="0"/>
              </a:rPr>
              <a:t>i</a:t>
            </a:r>
            <a:r>
              <a:rPr lang="zh-CN" altLang="en-US" b="0" i="1" dirty="0">
                <a:latin typeface="Times New Roman" panose="02020603050405020304" pitchFamily="18" charset="0"/>
              </a:rPr>
              <a:t>、</a:t>
            </a:r>
            <a:r>
              <a:rPr lang="zh-CN" altLang="en-US" dirty="0">
                <a:latin typeface="楷体_GB2312" pitchFamily="49" charset="-122"/>
              </a:rPr>
              <a:t>及功率表的读数。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2033" name="Object 49"/>
          <p:cNvGraphicFramePr/>
          <p:nvPr/>
        </p:nvGraphicFramePr>
        <p:xfrm>
          <a:off x="1868488" y="404813"/>
          <a:ext cx="6488112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1" imgW="3048000" imgH="508000" progId="Equation.DSMT4">
                  <p:embed/>
                </p:oleObj>
              </mc:Choice>
              <mc:Fallback>
                <p:oleObj name="" r:id="rId1" imgW="3048000" imgH="5080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68488" y="404813"/>
                        <a:ext cx="6488112" cy="1084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4" name="Text Box 50"/>
          <p:cNvSpPr txBox="1"/>
          <p:nvPr/>
        </p:nvSpPr>
        <p:spPr>
          <a:xfrm>
            <a:off x="468313" y="2060575"/>
            <a:ext cx="576262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035" name="Text Box 51"/>
          <p:cNvSpPr txBox="1"/>
          <p:nvPr/>
        </p:nvSpPr>
        <p:spPr>
          <a:xfrm>
            <a:off x="611188" y="2636838"/>
            <a:ext cx="30972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一次谐波作用：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2039" name="Text Box 55"/>
          <p:cNvSpPr txBox="1"/>
          <p:nvPr/>
        </p:nvSpPr>
        <p:spPr>
          <a:xfrm>
            <a:off x="539750" y="4076700"/>
            <a:ext cx="30972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三次谐波作用：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2042" name="Object 58"/>
          <p:cNvGraphicFramePr/>
          <p:nvPr/>
        </p:nvGraphicFramePr>
        <p:xfrm>
          <a:off x="1187450" y="1989138"/>
          <a:ext cx="46212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3" imgW="2311400" imgH="279400" progId="Equation.3">
                  <p:embed/>
                </p:oleObj>
              </mc:Choice>
              <mc:Fallback>
                <p:oleObj name="" r:id="rId3" imgW="2311400" imgH="2794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1989138"/>
                        <a:ext cx="4621213" cy="582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43" name="Object 59"/>
          <p:cNvGraphicFramePr/>
          <p:nvPr/>
        </p:nvGraphicFramePr>
        <p:xfrm>
          <a:off x="584200" y="5516563"/>
          <a:ext cx="78676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5" imgW="3784600" imgH="279400" progId="Equation.3">
                  <p:embed/>
                </p:oleObj>
              </mc:Choice>
              <mc:Fallback>
                <p:oleObj name="" r:id="rId5" imgW="3784600" imgH="2794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4200" y="5516563"/>
                        <a:ext cx="786765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44" name="Object 60"/>
          <p:cNvGraphicFramePr/>
          <p:nvPr/>
        </p:nvGraphicFramePr>
        <p:xfrm>
          <a:off x="571500" y="6165850"/>
          <a:ext cx="56356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7" imgW="2716530" imgH="190500" progId="Equation.3">
                  <p:embed/>
                </p:oleObj>
              </mc:Choice>
              <mc:Fallback>
                <p:oleObj name="" r:id="rId7" imgW="2716530" imgH="190500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1500" y="6165850"/>
                        <a:ext cx="5635625" cy="395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46" name="AutoShape 62"/>
          <p:cNvSpPr/>
          <p:nvPr/>
        </p:nvSpPr>
        <p:spPr>
          <a:xfrm>
            <a:off x="6948488" y="4149725"/>
            <a:ext cx="1944687" cy="1008063"/>
          </a:xfrm>
          <a:prstGeom prst="wedgeRoundRectCallout">
            <a:avLst>
              <a:gd name="adj1" fmla="val -139634"/>
              <a:gd name="adj2" fmla="val 156301"/>
              <a:gd name="adj3" fmla="val 16667"/>
            </a:avLst>
          </a:prstGeom>
          <a:solidFill>
            <a:srgbClr val="FFCCFF"/>
          </a:solid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测的是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的功率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grpSp>
        <p:nvGrpSpPr>
          <p:cNvPr id="33811" name="Group 11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3856" name="Picture 111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57" name="Text Box 11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812" name="Group 11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3854" name="Picture 114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55" name="Text Box 11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813" name="Group 11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3852" name="Picture 12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53" name="Text Box 12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127"/>
          <p:cNvGrpSpPr/>
          <p:nvPr/>
        </p:nvGrpSpPr>
        <p:grpSpPr>
          <a:xfrm>
            <a:off x="6011863" y="1484313"/>
            <a:ext cx="2735262" cy="2860675"/>
            <a:chOff x="3787" y="935"/>
            <a:chExt cx="1723" cy="1802"/>
          </a:xfrm>
        </p:grpSpPr>
        <p:sp>
          <p:nvSpPr>
            <p:cNvPr id="33824" name="Oval 77"/>
            <p:cNvSpPr/>
            <p:nvPr/>
          </p:nvSpPr>
          <p:spPr>
            <a:xfrm>
              <a:off x="4059" y="202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5" name="Oval 78"/>
            <p:cNvSpPr/>
            <p:nvPr/>
          </p:nvSpPr>
          <p:spPr>
            <a:xfrm>
              <a:off x="4059" y="138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6" name="Line 79"/>
            <p:cNvSpPr/>
            <p:nvPr/>
          </p:nvSpPr>
          <p:spPr>
            <a:xfrm>
              <a:off x="5420" y="2069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7" name="Line 80"/>
            <p:cNvSpPr/>
            <p:nvPr/>
          </p:nvSpPr>
          <p:spPr>
            <a:xfrm flipH="1">
              <a:off x="5420" y="1208"/>
              <a:ext cx="5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8" name="Line 81"/>
            <p:cNvSpPr/>
            <p:nvPr/>
          </p:nvSpPr>
          <p:spPr>
            <a:xfrm>
              <a:off x="5420" y="2160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3802" name="Object 82"/>
            <p:cNvGraphicFramePr/>
            <p:nvPr/>
          </p:nvGraphicFramePr>
          <p:xfrm>
            <a:off x="5193" y="2160"/>
            <a:ext cx="16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" name="" r:id="rId10" imgW="127000" imgH="215265" progId="Equation.3">
                    <p:embed/>
                  </p:oleObj>
                </mc:Choice>
                <mc:Fallback>
                  <p:oleObj name="" r:id="rId10" imgW="127000" imgH="215265" progId="Equation.3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93" y="2160"/>
                          <a:ext cx="168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9" name="Line 83"/>
            <p:cNvSpPr/>
            <p:nvPr/>
          </p:nvSpPr>
          <p:spPr>
            <a:xfrm flipH="1">
              <a:off x="4241" y="2523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0" name="Text Box 84"/>
            <p:cNvSpPr txBox="1"/>
            <p:nvPr/>
          </p:nvSpPr>
          <p:spPr>
            <a:xfrm>
              <a:off x="3923" y="1852"/>
              <a:ext cx="26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1" name="Text Box 85"/>
            <p:cNvSpPr txBox="1"/>
            <p:nvPr/>
          </p:nvSpPr>
          <p:spPr>
            <a:xfrm>
              <a:off x="3969" y="2260"/>
              <a:ext cx="26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2" name="Line 86"/>
            <p:cNvSpPr/>
            <p:nvPr/>
          </p:nvSpPr>
          <p:spPr>
            <a:xfrm>
              <a:off x="4241" y="1217"/>
              <a:ext cx="0" cy="13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3" name="Rectangle 87"/>
            <p:cNvSpPr/>
            <p:nvPr/>
          </p:nvSpPr>
          <p:spPr>
            <a:xfrm>
              <a:off x="4830" y="1253"/>
              <a:ext cx="5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60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3834" name="Rectangle 88"/>
            <p:cNvSpPr/>
            <p:nvPr/>
          </p:nvSpPr>
          <p:spPr>
            <a:xfrm>
              <a:off x="4830" y="1752"/>
              <a:ext cx="57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j20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3835" name="Text Box 89"/>
            <p:cNvSpPr txBox="1"/>
            <p:nvPr/>
          </p:nvSpPr>
          <p:spPr>
            <a:xfrm>
              <a:off x="3969" y="1162"/>
              <a:ext cx="26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6" name="Text Box 90"/>
            <p:cNvSpPr txBox="1"/>
            <p:nvPr/>
          </p:nvSpPr>
          <p:spPr>
            <a:xfrm>
              <a:off x="3969" y="1671"/>
              <a:ext cx="25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3803" name="Object 91"/>
            <p:cNvGraphicFramePr/>
            <p:nvPr/>
          </p:nvGraphicFramePr>
          <p:xfrm>
            <a:off x="3833" y="1480"/>
            <a:ext cx="23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8" name="" r:id="rId12" imgW="203200" imgH="279400" progId="Equation.3">
                    <p:embed/>
                  </p:oleObj>
                </mc:Choice>
                <mc:Fallback>
                  <p:oleObj name="" r:id="rId12" imgW="203200" imgH="279400" progId="Equation.3">
                    <p:embed/>
                    <p:pic>
                      <p:nvPicPr>
                        <p:cNvPr id="0" name="图片 3227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33" y="1480"/>
                          <a:ext cx="232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7" name="Line 92"/>
            <p:cNvSpPr/>
            <p:nvPr/>
          </p:nvSpPr>
          <p:spPr>
            <a:xfrm flipV="1">
              <a:off x="4241" y="1208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8" name="Oval 93" descr="信纸"/>
            <p:cNvSpPr/>
            <p:nvPr/>
          </p:nvSpPr>
          <p:spPr>
            <a:xfrm>
              <a:off x="4513" y="1081"/>
              <a:ext cx="272" cy="273"/>
            </a:xfrm>
            <a:prstGeom prst="ellipse">
              <a:avLst/>
            </a:prstGeom>
            <a:blipFill rotWithShape="1">
              <a:blip r:embed="rId14"/>
            </a:blip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W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3839" name="Freeform 94"/>
            <p:cNvSpPr/>
            <p:nvPr/>
          </p:nvSpPr>
          <p:spPr>
            <a:xfrm>
              <a:off x="4332" y="952"/>
              <a:ext cx="362" cy="265"/>
            </a:xfrm>
            <a:custGeom>
              <a:avLst/>
              <a:gdLst>
                <a:gd name="txL" fmla="*/ 0 w 362"/>
                <a:gd name="txT" fmla="*/ 0 h 265"/>
                <a:gd name="txR" fmla="*/ 362 w 362"/>
                <a:gd name="txB" fmla="*/ 265 h 265"/>
              </a:gdLst>
              <a:ahLst/>
              <a:cxnLst>
                <a:cxn ang="0">
                  <a:pos x="45" y="265"/>
                </a:cxn>
                <a:cxn ang="0">
                  <a:pos x="45" y="38"/>
                </a:cxn>
                <a:cxn ang="0">
                  <a:pos x="317" y="38"/>
                </a:cxn>
                <a:cxn ang="0">
                  <a:pos x="317" y="129"/>
                </a:cxn>
              </a:cxnLst>
              <a:rect l="txL" t="txT" r="txR" b="txB"/>
              <a:pathLst>
                <a:path w="362" h="265">
                  <a:moveTo>
                    <a:pt x="45" y="265"/>
                  </a:moveTo>
                  <a:cubicBezTo>
                    <a:pt x="22" y="170"/>
                    <a:pt x="0" y="76"/>
                    <a:pt x="45" y="38"/>
                  </a:cubicBezTo>
                  <a:cubicBezTo>
                    <a:pt x="90" y="0"/>
                    <a:pt x="272" y="23"/>
                    <a:pt x="317" y="38"/>
                  </a:cubicBezTo>
                  <a:cubicBezTo>
                    <a:pt x="362" y="53"/>
                    <a:pt x="317" y="114"/>
                    <a:pt x="317" y="129"/>
                  </a:cubicBez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33840" name="Line 95"/>
            <p:cNvSpPr/>
            <p:nvPr/>
          </p:nvSpPr>
          <p:spPr>
            <a:xfrm>
              <a:off x="4241" y="1897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3841" name="Line 96"/>
            <p:cNvSpPr/>
            <p:nvPr/>
          </p:nvSpPr>
          <p:spPr>
            <a:xfrm>
              <a:off x="4649" y="1353"/>
              <a:ext cx="0" cy="5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42" name="Rectangle 97"/>
            <p:cNvSpPr/>
            <p:nvPr/>
          </p:nvSpPr>
          <p:spPr>
            <a:xfrm>
              <a:off x="4059" y="945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3843" name="Rectangle 98"/>
            <p:cNvSpPr/>
            <p:nvPr/>
          </p:nvSpPr>
          <p:spPr>
            <a:xfrm>
              <a:off x="4059" y="241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3804" name="Object 99"/>
            <p:cNvGraphicFramePr/>
            <p:nvPr/>
          </p:nvGraphicFramePr>
          <p:xfrm>
            <a:off x="3787" y="2069"/>
            <a:ext cx="246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0" name="" r:id="rId15" imgW="215900" imgH="278765" progId="Equation.3">
                    <p:embed/>
                  </p:oleObj>
                </mc:Choice>
                <mc:Fallback>
                  <p:oleObj name="" r:id="rId15" imgW="215900" imgH="278765" progId="Equation.3">
                    <p:embed/>
                    <p:pic>
                      <p:nvPicPr>
                        <p:cNvPr id="0" name="图片 3229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87" y="2069"/>
                          <a:ext cx="246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44" name="Text Box 100"/>
            <p:cNvSpPr txBox="1"/>
            <p:nvPr/>
          </p:nvSpPr>
          <p:spPr>
            <a:xfrm>
              <a:off x="4694" y="935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*</a:t>
              </a:r>
              <a:endParaRPr lang="en-US" altLang="zh-CN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45" name="Text Box 101"/>
            <p:cNvSpPr txBox="1"/>
            <p:nvPr/>
          </p:nvSpPr>
          <p:spPr>
            <a:xfrm>
              <a:off x="4332" y="1026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*</a:t>
              </a:r>
              <a:endParaRPr lang="en-US" altLang="zh-CN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46" name="Rectangle 102"/>
            <p:cNvSpPr/>
            <p:nvPr/>
          </p:nvSpPr>
          <p:spPr>
            <a:xfrm>
              <a:off x="4921" y="11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33847" name="Group 122"/>
            <p:cNvGrpSpPr/>
            <p:nvPr/>
          </p:nvGrpSpPr>
          <p:grpSpPr>
            <a:xfrm rot="10800000">
              <a:off x="5420" y="1706"/>
              <a:ext cx="90" cy="363"/>
              <a:chOff x="1565" y="2614"/>
              <a:chExt cx="90" cy="486"/>
            </a:xfrm>
          </p:grpSpPr>
          <p:sp>
            <p:nvSpPr>
              <p:cNvPr id="33848" name="Arc 123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3849" name="Arc 124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3850" name="Arc 125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3851" name="Arc 126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</p:grpSp>
      <p:grpSp>
        <p:nvGrpSpPr>
          <p:cNvPr id="7" name="Group 134"/>
          <p:cNvGrpSpPr/>
          <p:nvPr/>
        </p:nvGrpSpPr>
        <p:grpSpPr>
          <a:xfrm>
            <a:off x="900113" y="4581525"/>
            <a:ext cx="4335462" cy="971550"/>
            <a:chOff x="567" y="2886"/>
            <a:chExt cx="2731" cy="612"/>
          </a:xfrm>
        </p:grpSpPr>
        <p:graphicFrame>
          <p:nvGraphicFramePr>
            <p:cNvPr id="33801" name="Object 57"/>
            <p:cNvGraphicFramePr/>
            <p:nvPr/>
          </p:nvGraphicFramePr>
          <p:xfrm>
            <a:off x="567" y="2886"/>
            <a:ext cx="2731" cy="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" name="" r:id="rId17" imgW="2208530" imgH="495300" progId="Equation.3">
                    <p:embed/>
                  </p:oleObj>
                </mc:Choice>
                <mc:Fallback>
                  <p:oleObj name="" r:id="rId17" imgW="2208530" imgH="495300" progId="Equation.3">
                    <p:embed/>
                    <p:pic>
                      <p:nvPicPr>
                        <p:cNvPr id="0" name="图片 3235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67" y="2886"/>
                          <a:ext cx="2731" cy="6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2" name="Line 128"/>
            <p:cNvSpPr/>
            <p:nvPr/>
          </p:nvSpPr>
          <p:spPr>
            <a:xfrm>
              <a:off x="1411" y="3158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3" name="Line 129"/>
            <p:cNvSpPr/>
            <p:nvPr/>
          </p:nvSpPr>
          <p:spPr>
            <a:xfrm>
              <a:off x="2581" y="3303"/>
              <a:ext cx="45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133"/>
          <p:cNvGrpSpPr/>
          <p:nvPr/>
        </p:nvGrpSpPr>
        <p:grpSpPr>
          <a:xfrm>
            <a:off x="3203575" y="4076700"/>
            <a:ext cx="2744788" cy="606425"/>
            <a:chOff x="2018" y="2568"/>
            <a:chExt cx="1729" cy="382"/>
          </a:xfrm>
        </p:grpSpPr>
        <p:graphicFrame>
          <p:nvGraphicFramePr>
            <p:cNvPr id="33800" name="Object 56"/>
            <p:cNvGraphicFramePr/>
            <p:nvPr/>
          </p:nvGraphicFramePr>
          <p:xfrm>
            <a:off x="2018" y="2568"/>
            <a:ext cx="1729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3" name="" r:id="rId19" imgW="1269365" imgH="279400" progId="Equation.3">
                    <p:embed/>
                  </p:oleObj>
                </mc:Choice>
                <mc:Fallback>
                  <p:oleObj name="" r:id="rId19" imgW="1269365" imgH="279400" progId="Equation.3">
                    <p:embed/>
                    <p:pic>
                      <p:nvPicPr>
                        <p:cNvPr id="0" name="图片 3232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18" y="2568"/>
                          <a:ext cx="1729" cy="3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1" name="Line 130"/>
            <p:cNvSpPr/>
            <p:nvPr/>
          </p:nvSpPr>
          <p:spPr>
            <a:xfrm>
              <a:off x="3107" y="2886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135"/>
          <p:cNvGrpSpPr/>
          <p:nvPr/>
        </p:nvGrpSpPr>
        <p:grpSpPr>
          <a:xfrm>
            <a:off x="3198813" y="2578100"/>
            <a:ext cx="2530475" cy="593725"/>
            <a:chOff x="2015" y="1624"/>
            <a:chExt cx="1594" cy="374"/>
          </a:xfrm>
        </p:grpSpPr>
        <p:graphicFrame>
          <p:nvGraphicFramePr>
            <p:cNvPr id="33799" name="Object 53"/>
            <p:cNvGraphicFramePr/>
            <p:nvPr/>
          </p:nvGraphicFramePr>
          <p:xfrm>
            <a:off x="2015" y="1624"/>
            <a:ext cx="1594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5" name="" r:id="rId21" imgW="1193800" imgH="279400" progId="Equation.3">
                    <p:embed/>
                  </p:oleObj>
                </mc:Choice>
                <mc:Fallback>
                  <p:oleObj name="" r:id="rId21" imgW="1193800" imgH="279400" progId="Equation.3">
                    <p:embed/>
                    <p:pic>
                      <p:nvPicPr>
                        <p:cNvPr id="0" name="图片 3234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15" y="1624"/>
                          <a:ext cx="1594" cy="3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0" name="Line 131"/>
            <p:cNvSpPr/>
            <p:nvPr/>
          </p:nvSpPr>
          <p:spPr>
            <a:xfrm>
              <a:off x="3098" y="1933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136"/>
          <p:cNvGrpSpPr/>
          <p:nvPr/>
        </p:nvGrpSpPr>
        <p:grpSpPr>
          <a:xfrm>
            <a:off x="923925" y="3141663"/>
            <a:ext cx="4416425" cy="908050"/>
            <a:chOff x="582" y="1979"/>
            <a:chExt cx="2782" cy="572"/>
          </a:xfrm>
        </p:grpSpPr>
        <p:graphicFrame>
          <p:nvGraphicFramePr>
            <p:cNvPr id="33798" name="Object 54"/>
            <p:cNvGraphicFramePr/>
            <p:nvPr/>
          </p:nvGraphicFramePr>
          <p:xfrm>
            <a:off x="582" y="1979"/>
            <a:ext cx="2782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7" name="" r:id="rId23" imgW="2348230" imgH="482600" progId="Equation.3">
                    <p:embed/>
                  </p:oleObj>
                </mc:Choice>
                <mc:Fallback>
                  <p:oleObj name="" r:id="rId23" imgW="2348230" imgH="482600" progId="Equation.3">
                    <p:embed/>
                    <p:pic>
                      <p:nvPicPr>
                        <p:cNvPr id="0" name="图片 3236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82" y="1979"/>
                          <a:ext cx="2782" cy="5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9" name="Line 132"/>
            <p:cNvSpPr/>
            <p:nvPr/>
          </p:nvSpPr>
          <p:spPr>
            <a:xfrm>
              <a:off x="2508" y="2360"/>
              <a:ext cx="5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4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20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2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2000"/>
                                        <p:tgtEl>
                                          <p:spTgt spid="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2000"/>
                                        <p:tgtEl>
                                          <p:spTgt spid="4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2000"/>
                                        <p:tgtEl>
                                          <p:spTgt spid="4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2000"/>
                                        <p:tgtEl>
                                          <p:spTgt spid="4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9" dur="2000"/>
                                        <p:tgtEl>
                                          <p:spTgt spid="4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14" grpId="0"/>
      <p:bldP spid="42015" grpId="0"/>
      <p:bldP spid="42034" grpId="0" animBg="1"/>
      <p:bldP spid="42035" grpId="0"/>
      <p:bldP spid="42039" grpId="0"/>
      <p:bldP spid="4204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Text Box 2"/>
          <p:cNvSpPr txBox="1"/>
          <p:nvPr/>
        </p:nvSpPr>
        <p:spPr>
          <a:xfrm>
            <a:off x="250825" y="476250"/>
            <a:ext cx="129698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47" name="Text Box 3"/>
          <p:cNvSpPr txBox="1"/>
          <p:nvPr/>
        </p:nvSpPr>
        <p:spPr>
          <a:xfrm>
            <a:off x="1331913" y="765175"/>
            <a:ext cx="74882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b="0" i="1" dirty="0">
                <a:latin typeface="Times New Roman" panose="02020603050405020304" pitchFamily="18" charset="0"/>
              </a:rPr>
              <a:t>L</a:t>
            </a:r>
            <a:r>
              <a:rPr lang="en-US" altLang="zh-CN" b="0" dirty="0">
                <a:latin typeface="Times New Roman" panose="02020603050405020304" pitchFamily="18" charset="0"/>
              </a:rPr>
              <a:t>=0.1H</a:t>
            </a:r>
            <a:r>
              <a:rPr lang="zh-CN" altLang="en-US" b="0" dirty="0">
                <a:latin typeface="Times New Roman" panose="02020603050405020304" pitchFamily="18" charset="0"/>
              </a:rPr>
              <a:t>，</a:t>
            </a:r>
            <a:r>
              <a:rPr lang="en-US" altLang="zh-CN" b="0" i="1" dirty="0"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b="0" dirty="0">
                <a:latin typeface="Times New Roman" panose="02020603050405020304" pitchFamily="18" charset="0"/>
              </a:rPr>
              <a:t>＝</a:t>
            </a:r>
            <a:r>
              <a:rPr lang="en-US" altLang="zh-CN" b="0" dirty="0">
                <a:latin typeface="Times New Roman" panose="02020603050405020304" pitchFamily="18" charset="0"/>
              </a:rPr>
              <a:t>1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CN" b="0" dirty="0">
                <a:latin typeface="Times New Roman" panose="02020603050405020304" pitchFamily="18" charset="0"/>
              </a:rPr>
              <a:t>F</a:t>
            </a:r>
            <a:r>
              <a:rPr lang="zh-CN" altLang="en-US" b="0" dirty="0">
                <a:latin typeface="Times New Roman" panose="02020603050405020304" pitchFamily="18" charset="0"/>
              </a:rPr>
              <a:t>，</a:t>
            </a:r>
            <a:r>
              <a:rPr lang="en-US" altLang="zh-CN" b="0" i="1" dirty="0"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楷体_GB2312" pitchFamily="49" charset="-122"/>
              </a:rPr>
              <a:t>中只有基波电流，</a:t>
            </a:r>
            <a:r>
              <a:rPr lang="en-US" altLang="zh-CN" b="0" i="1" dirty="0"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lang="en-US" altLang="zh-CN" b="0" baseline="-25000" dirty="0">
                <a:latin typeface="Times New Roman" panose="02020603050405020304" pitchFamily="18" charset="0"/>
                <a:ea typeface="仿宋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</a:rPr>
              <a:t>中只有三次谐波电流，求</a:t>
            </a:r>
            <a:r>
              <a:rPr lang="en-US" altLang="zh-CN" b="0" i="1" dirty="0"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0" dirty="0"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楷体_GB2312" pitchFamily="49" charset="-122"/>
              </a:rPr>
              <a:t>和各支路电流。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57348" name="Object 4"/>
          <p:cNvGraphicFramePr/>
          <p:nvPr/>
        </p:nvGraphicFramePr>
        <p:xfrm>
          <a:off x="1403350" y="404813"/>
          <a:ext cx="73072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" imgW="3311525" imgH="254000" progId="Equation.3">
                  <p:embed/>
                </p:oleObj>
              </mc:Choice>
              <mc:Fallback>
                <p:oleObj name="" r:id="rId1" imgW="3311525" imgH="254000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404813"/>
                        <a:ext cx="7307263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Text Box 5"/>
          <p:cNvSpPr txBox="1"/>
          <p:nvPr/>
        </p:nvSpPr>
        <p:spPr>
          <a:xfrm>
            <a:off x="468313" y="4437063"/>
            <a:ext cx="576262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7350" name="Object 6"/>
          <p:cNvGraphicFramePr/>
          <p:nvPr/>
        </p:nvGraphicFramePr>
        <p:xfrm>
          <a:off x="4102100" y="5084763"/>
          <a:ext cx="299085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3" imgW="1473200" imgH="457200" progId="Equation.3">
                  <p:embed/>
                </p:oleObj>
              </mc:Choice>
              <mc:Fallback>
                <p:oleObj name="" r:id="rId3" imgW="1473200" imgH="45720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02100" y="5084763"/>
                        <a:ext cx="2990850" cy="931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Text Box 8"/>
          <p:cNvSpPr txBox="1"/>
          <p:nvPr/>
        </p:nvSpPr>
        <p:spPr>
          <a:xfrm>
            <a:off x="971550" y="4365625"/>
            <a:ext cx="7704138" cy="1117600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楷体_GB2312" pitchFamily="49" charset="-122"/>
              </a:rPr>
              <a:t>中只有基波电流，说明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楷体_GB2312" pitchFamily="49" charset="-122"/>
              </a:rPr>
              <a:t>和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楷体_GB2312" pitchFamily="49" charset="-122"/>
              </a:rPr>
              <a:t>对三次谐波发生并联谐振。即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34828" name="Group 6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4878" name="Picture 67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79" name="Text Box 6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829" name="Group 6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4876" name="Picture 70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77" name="Text Box 7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830" name="Group 7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4874" name="Picture 7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75" name="Text Box 7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85"/>
          <p:cNvGrpSpPr/>
          <p:nvPr/>
        </p:nvGrpSpPr>
        <p:grpSpPr>
          <a:xfrm>
            <a:off x="2124075" y="1916113"/>
            <a:ext cx="4806950" cy="2279650"/>
            <a:chOff x="1338" y="1207"/>
            <a:chExt cx="3028" cy="1436"/>
          </a:xfrm>
        </p:grpSpPr>
        <p:sp>
          <p:nvSpPr>
            <p:cNvPr id="34832" name="Line 19"/>
            <p:cNvSpPr/>
            <p:nvPr/>
          </p:nvSpPr>
          <p:spPr>
            <a:xfrm>
              <a:off x="1519" y="1253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3" name="Line 21"/>
            <p:cNvSpPr/>
            <p:nvPr/>
          </p:nvSpPr>
          <p:spPr>
            <a:xfrm>
              <a:off x="3697" y="1842"/>
              <a:ext cx="0" cy="80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4" name="Line 22"/>
            <p:cNvSpPr/>
            <p:nvPr/>
          </p:nvSpPr>
          <p:spPr>
            <a:xfrm flipH="1">
              <a:off x="2563" y="1842"/>
              <a:ext cx="5" cy="2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5" name="Line 23"/>
            <p:cNvSpPr/>
            <p:nvPr/>
          </p:nvSpPr>
          <p:spPr>
            <a:xfrm>
              <a:off x="1519" y="1253"/>
              <a:ext cx="217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6" name="Line 24"/>
            <p:cNvSpPr/>
            <p:nvPr/>
          </p:nvSpPr>
          <p:spPr>
            <a:xfrm flipV="1">
              <a:off x="1519" y="1389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4820" name="Object 25"/>
            <p:cNvGraphicFramePr/>
            <p:nvPr/>
          </p:nvGraphicFramePr>
          <p:xfrm>
            <a:off x="2218" y="1298"/>
            <a:ext cx="18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" name="" r:id="rId6" imgW="114300" imgH="240665" progId="Equation.3">
                    <p:embed/>
                  </p:oleObj>
                </mc:Choice>
                <mc:Fallback>
                  <p:oleObj name="" r:id="rId6" imgW="114300" imgH="240665" progId="Equation.3">
                    <p:embed/>
                    <p:pic>
                      <p:nvPicPr>
                        <p:cNvPr id="0" name="图片 3238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18" y="1298"/>
                          <a:ext cx="184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7" name="Line 26"/>
            <p:cNvSpPr/>
            <p:nvPr/>
          </p:nvSpPr>
          <p:spPr>
            <a:xfrm flipH="1" flipV="1">
              <a:off x="1519" y="2613"/>
              <a:ext cx="217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8" name="Line 27"/>
            <p:cNvSpPr/>
            <p:nvPr/>
          </p:nvSpPr>
          <p:spPr>
            <a:xfrm>
              <a:off x="2789" y="1665"/>
              <a:ext cx="3" cy="17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4839" name="Line 28"/>
            <p:cNvSpPr/>
            <p:nvPr/>
          </p:nvSpPr>
          <p:spPr>
            <a:xfrm flipH="1">
              <a:off x="2789" y="1253"/>
              <a:ext cx="0" cy="31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4840" name="Rectangle 29"/>
            <p:cNvSpPr/>
            <p:nvPr/>
          </p:nvSpPr>
          <p:spPr>
            <a:xfrm>
              <a:off x="1610" y="2014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100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4841" name="Rectangle 30"/>
            <p:cNvSpPr/>
            <p:nvPr/>
          </p:nvSpPr>
          <p:spPr>
            <a:xfrm>
              <a:off x="2336" y="2069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4842" name="Rectangle 31"/>
            <p:cNvSpPr/>
            <p:nvPr/>
          </p:nvSpPr>
          <p:spPr>
            <a:xfrm>
              <a:off x="3787" y="1616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4843" name="Line 33"/>
            <p:cNvSpPr/>
            <p:nvPr/>
          </p:nvSpPr>
          <p:spPr>
            <a:xfrm flipH="1">
              <a:off x="3062" y="2296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4844" name="Line 34"/>
            <p:cNvSpPr/>
            <p:nvPr/>
          </p:nvSpPr>
          <p:spPr>
            <a:xfrm flipH="1">
              <a:off x="3062" y="1842"/>
              <a:ext cx="0" cy="36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5" name="Line 35"/>
            <p:cNvSpPr/>
            <p:nvPr/>
          </p:nvSpPr>
          <p:spPr>
            <a:xfrm flipH="1">
              <a:off x="3697" y="1253"/>
              <a:ext cx="0" cy="50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6" name="Line 36"/>
            <p:cNvSpPr/>
            <p:nvPr/>
          </p:nvSpPr>
          <p:spPr>
            <a:xfrm>
              <a:off x="2563" y="1842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7" name="Line 37"/>
            <p:cNvSpPr/>
            <p:nvPr/>
          </p:nvSpPr>
          <p:spPr>
            <a:xfrm>
              <a:off x="2200" y="1253"/>
              <a:ext cx="0" cy="13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4848" name="Line 38"/>
            <p:cNvSpPr/>
            <p:nvPr/>
          </p:nvSpPr>
          <p:spPr>
            <a:xfrm>
              <a:off x="2563" y="2432"/>
              <a:ext cx="0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4849" name="Rectangle 39"/>
            <p:cNvSpPr/>
            <p:nvPr/>
          </p:nvSpPr>
          <p:spPr>
            <a:xfrm>
              <a:off x="3152" y="2114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4850" name="Rectangle 40"/>
            <p:cNvSpPr/>
            <p:nvPr/>
          </p:nvSpPr>
          <p:spPr>
            <a:xfrm>
              <a:off x="2925" y="1525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4851" name="Rectangle 41"/>
            <p:cNvSpPr/>
            <p:nvPr/>
          </p:nvSpPr>
          <p:spPr>
            <a:xfrm>
              <a:off x="3742" y="2069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200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4821" name="Object 42"/>
            <p:cNvGraphicFramePr/>
            <p:nvPr/>
          </p:nvGraphicFramePr>
          <p:xfrm>
            <a:off x="1540" y="1398"/>
            <a:ext cx="225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0" name="" r:id="rId8" imgW="139700" imgH="228600" progId="Equation.3">
                    <p:embed/>
                  </p:oleObj>
                </mc:Choice>
                <mc:Fallback>
                  <p:oleObj name="" r:id="rId8" imgW="139700" imgH="228600" progId="Equation.3">
                    <p:embed/>
                    <p:pic>
                      <p:nvPicPr>
                        <p:cNvPr id="0" name="图片 3239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40" y="1398"/>
                          <a:ext cx="225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2" name="Object 43"/>
            <p:cNvGraphicFramePr/>
            <p:nvPr/>
          </p:nvGraphicFramePr>
          <p:xfrm>
            <a:off x="2816" y="1253"/>
            <a:ext cx="185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" name="" r:id="rId10" imgW="139700" imgH="241300" progId="Equation.3">
                    <p:embed/>
                  </p:oleObj>
                </mc:Choice>
                <mc:Fallback>
                  <p:oleObj name="" r:id="rId10" imgW="139700" imgH="241300" progId="Equation.3">
                    <p:embed/>
                    <p:pic>
                      <p:nvPicPr>
                        <p:cNvPr id="0" name="图片 3237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16" y="1253"/>
                          <a:ext cx="185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3" name="Object 44"/>
            <p:cNvGraphicFramePr/>
            <p:nvPr/>
          </p:nvGraphicFramePr>
          <p:xfrm>
            <a:off x="3334" y="1207"/>
            <a:ext cx="20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1" name="" r:id="rId12" imgW="127000" imgH="240665" progId="Equation.3">
                    <p:embed/>
                  </p:oleObj>
                </mc:Choice>
                <mc:Fallback>
                  <p:oleObj name="" r:id="rId12" imgW="127000" imgH="240665" progId="Equation.3">
                    <p:embed/>
                    <p:pic>
                      <p:nvPicPr>
                        <p:cNvPr id="0" name="图片 3240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34" y="1207"/>
                          <a:ext cx="203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2" name="Line 45"/>
            <p:cNvSpPr/>
            <p:nvPr/>
          </p:nvSpPr>
          <p:spPr>
            <a:xfrm>
              <a:off x="2200" y="1344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53" name="Line 46"/>
            <p:cNvSpPr/>
            <p:nvPr/>
          </p:nvSpPr>
          <p:spPr>
            <a:xfrm>
              <a:off x="2789" y="1298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54" name="Line 47"/>
            <p:cNvSpPr/>
            <p:nvPr/>
          </p:nvSpPr>
          <p:spPr>
            <a:xfrm flipV="1">
              <a:off x="3288" y="1253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55" name="Rectangle 48"/>
            <p:cNvSpPr/>
            <p:nvPr/>
          </p:nvSpPr>
          <p:spPr>
            <a:xfrm>
              <a:off x="2127" y="170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34856" name="Group 53"/>
            <p:cNvGrpSpPr/>
            <p:nvPr/>
          </p:nvGrpSpPr>
          <p:grpSpPr>
            <a:xfrm>
              <a:off x="2943" y="2205"/>
              <a:ext cx="240" cy="93"/>
              <a:chOff x="3787" y="2478"/>
              <a:chExt cx="240" cy="93"/>
            </a:xfrm>
          </p:grpSpPr>
          <p:sp>
            <p:nvSpPr>
              <p:cNvPr id="34872" name="Line 54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73" name="Line 55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4857" name="Group 56"/>
            <p:cNvGrpSpPr/>
            <p:nvPr/>
          </p:nvGrpSpPr>
          <p:grpSpPr>
            <a:xfrm>
              <a:off x="2667" y="1570"/>
              <a:ext cx="240" cy="93"/>
              <a:chOff x="3787" y="2478"/>
              <a:chExt cx="240" cy="93"/>
            </a:xfrm>
          </p:grpSpPr>
          <p:sp>
            <p:nvSpPr>
              <p:cNvPr id="34870" name="Line 57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71" name="Line 58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4858" name="Rectangle 59"/>
            <p:cNvSpPr/>
            <p:nvPr/>
          </p:nvSpPr>
          <p:spPr>
            <a:xfrm>
              <a:off x="3633" y="206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34859" name="Group 60"/>
            <p:cNvGrpSpPr/>
            <p:nvPr/>
          </p:nvGrpSpPr>
          <p:grpSpPr>
            <a:xfrm>
              <a:off x="3560" y="1752"/>
              <a:ext cx="240" cy="93"/>
              <a:chOff x="3787" y="2478"/>
              <a:chExt cx="240" cy="93"/>
            </a:xfrm>
          </p:grpSpPr>
          <p:sp>
            <p:nvSpPr>
              <p:cNvPr id="34868" name="Line 61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69" name="Line 62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4860" name="Group 75"/>
            <p:cNvGrpSpPr/>
            <p:nvPr/>
          </p:nvGrpSpPr>
          <p:grpSpPr>
            <a:xfrm>
              <a:off x="1338" y="1752"/>
              <a:ext cx="363" cy="363"/>
              <a:chOff x="1338" y="1706"/>
              <a:chExt cx="363" cy="363"/>
            </a:xfrm>
          </p:grpSpPr>
          <p:sp>
            <p:nvSpPr>
              <p:cNvPr id="34866" name="Oval 20"/>
              <p:cNvSpPr/>
              <p:nvPr/>
            </p:nvSpPr>
            <p:spPr>
              <a:xfrm>
                <a:off x="1338" y="1706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4867" name="Line 32"/>
              <p:cNvSpPr/>
              <p:nvPr/>
            </p:nvSpPr>
            <p:spPr>
              <a:xfrm>
                <a:off x="1338" y="1888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4861" name="Group 80"/>
            <p:cNvGrpSpPr/>
            <p:nvPr/>
          </p:nvGrpSpPr>
          <p:grpSpPr>
            <a:xfrm rot="10800000">
              <a:off x="2562" y="2069"/>
              <a:ext cx="90" cy="363"/>
              <a:chOff x="1565" y="2614"/>
              <a:chExt cx="90" cy="486"/>
            </a:xfrm>
          </p:grpSpPr>
          <p:sp>
            <p:nvSpPr>
              <p:cNvPr id="34862" name="Arc 81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4863" name="Arc 82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4864" name="Arc 83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4865" name="Arc 84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20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20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57347" grpId="0"/>
      <p:bldP spid="57349" grpId="0" animBg="1"/>
      <p:bldP spid="5735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1019" name="Object 59"/>
          <p:cNvGraphicFramePr/>
          <p:nvPr/>
        </p:nvGraphicFramePr>
        <p:xfrm>
          <a:off x="971550" y="4227513"/>
          <a:ext cx="4103688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1" imgW="1853565" imgH="495300" progId="Equation.3">
                  <p:embed/>
                </p:oleObj>
              </mc:Choice>
              <mc:Fallback>
                <p:oleObj name="" r:id="rId1" imgW="1853565" imgH="4953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4227513"/>
                        <a:ext cx="4103688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1" name="Text Box 61"/>
          <p:cNvSpPr txBox="1"/>
          <p:nvPr/>
        </p:nvSpPr>
        <p:spPr>
          <a:xfrm>
            <a:off x="755650" y="3074988"/>
            <a:ext cx="78486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b="0" i="1" dirty="0">
                <a:latin typeface="Times New Roman" panose="02020603050405020304" pitchFamily="18" charset="0"/>
              </a:rPr>
              <a:t>     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楷体_GB2312" pitchFamily="49" charset="-122"/>
              </a:rPr>
              <a:t>中只有三次谐波电流，说明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楷体_GB2312" pitchFamily="49" charset="-122"/>
              </a:rPr>
              <a:t>对一次谐波发生串联谐振。即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41022" name="Line 62"/>
          <p:cNvSpPr/>
          <p:nvPr/>
        </p:nvSpPr>
        <p:spPr>
          <a:xfrm>
            <a:off x="5292725" y="4732338"/>
            <a:ext cx="647700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41025" name="Object 65"/>
          <p:cNvGraphicFramePr/>
          <p:nvPr/>
        </p:nvGraphicFramePr>
        <p:xfrm>
          <a:off x="6057900" y="4227513"/>
          <a:ext cx="2366963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3" imgW="965200" imgH="457200" progId="Equation.3">
                  <p:embed/>
                </p:oleObj>
              </mc:Choice>
              <mc:Fallback>
                <p:oleObj name="" r:id="rId3" imgW="965200" imgH="457200" progId="Equation.3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57900" y="4227513"/>
                        <a:ext cx="2366963" cy="946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86" name="Text Box 126"/>
          <p:cNvSpPr txBox="1"/>
          <p:nvPr/>
        </p:nvSpPr>
        <p:spPr>
          <a:xfrm>
            <a:off x="611188" y="5595938"/>
            <a:ext cx="22320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直流作用：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1087" name="Object 127"/>
          <p:cNvGraphicFramePr/>
          <p:nvPr/>
        </p:nvGraphicFramePr>
        <p:xfrm>
          <a:off x="2484438" y="5667375"/>
          <a:ext cx="19621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5" imgW="799465" imgH="241300" progId="Equation.3">
                  <p:embed/>
                </p:oleObj>
              </mc:Choice>
              <mc:Fallback>
                <p:oleObj name="" r:id="rId5" imgW="799465" imgH="24130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5667375"/>
                        <a:ext cx="196215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52" name="Group 13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5903" name="Picture 132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904" name="Text Box 13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853" name="Group 13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5901" name="Picture 135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902" name="Text Box 13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854" name="Group 18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5899" name="Picture 188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900" name="Text Box 18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855" name="Group 190"/>
          <p:cNvGrpSpPr/>
          <p:nvPr/>
        </p:nvGrpSpPr>
        <p:grpSpPr>
          <a:xfrm>
            <a:off x="2124075" y="692150"/>
            <a:ext cx="4806950" cy="2279650"/>
            <a:chOff x="1338" y="1207"/>
            <a:chExt cx="3028" cy="1436"/>
          </a:xfrm>
        </p:grpSpPr>
        <p:sp>
          <p:nvSpPr>
            <p:cNvPr id="35857" name="Line 191"/>
            <p:cNvSpPr/>
            <p:nvPr/>
          </p:nvSpPr>
          <p:spPr>
            <a:xfrm>
              <a:off x="1519" y="1253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8" name="Line 192"/>
            <p:cNvSpPr/>
            <p:nvPr/>
          </p:nvSpPr>
          <p:spPr>
            <a:xfrm>
              <a:off x="3697" y="1842"/>
              <a:ext cx="0" cy="80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9" name="Line 193"/>
            <p:cNvSpPr/>
            <p:nvPr/>
          </p:nvSpPr>
          <p:spPr>
            <a:xfrm flipH="1">
              <a:off x="2563" y="1842"/>
              <a:ext cx="5" cy="2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0" name="Line 194"/>
            <p:cNvSpPr/>
            <p:nvPr/>
          </p:nvSpPr>
          <p:spPr>
            <a:xfrm>
              <a:off x="1519" y="1253"/>
              <a:ext cx="217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1" name="Line 195"/>
            <p:cNvSpPr/>
            <p:nvPr/>
          </p:nvSpPr>
          <p:spPr>
            <a:xfrm flipV="1">
              <a:off x="1519" y="1389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5845" name="Object 196"/>
            <p:cNvGraphicFramePr/>
            <p:nvPr/>
          </p:nvGraphicFramePr>
          <p:xfrm>
            <a:off x="2218" y="1298"/>
            <a:ext cx="18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4" name="" r:id="rId8" imgW="114300" imgH="240665" progId="Equation.3">
                    <p:embed/>
                  </p:oleObj>
                </mc:Choice>
                <mc:Fallback>
                  <p:oleObj name="" r:id="rId8" imgW="114300" imgH="240665" progId="Equation.3">
                    <p:embed/>
                    <p:pic>
                      <p:nvPicPr>
                        <p:cNvPr id="0" name="图片 3243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18" y="1298"/>
                          <a:ext cx="184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2" name="Line 197"/>
            <p:cNvSpPr/>
            <p:nvPr/>
          </p:nvSpPr>
          <p:spPr>
            <a:xfrm flipH="1" flipV="1">
              <a:off x="1519" y="2613"/>
              <a:ext cx="217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3" name="Line 198"/>
            <p:cNvSpPr/>
            <p:nvPr/>
          </p:nvSpPr>
          <p:spPr>
            <a:xfrm>
              <a:off x="2789" y="1665"/>
              <a:ext cx="3" cy="17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5864" name="Line 199"/>
            <p:cNvSpPr/>
            <p:nvPr/>
          </p:nvSpPr>
          <p:spPr>
            <a:xfrm flipH="1">
              <a:off x="2789" y="1253"/>
              <a:ext cx="0" cy="31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5865" name="Rectangle 200"/>
            <p:cNvSpPr/>
            <p:nvPr/>
          </p:nvSpPr>
          <p:spPr>
            <a:xfrm>
              <a:off x="1610" y="2014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100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5866" name="Rectangle 201"/>
            <p:cNvSpPr/>
            <p:nvPr/>
          </p:nvSpPr>
          <p:spPr>
            <a:xfrm>
              <a:off x="2336" y="2069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5867" name="Rectangle 202"/>
            <p:cNvSpPr/>
            <p:nvPr/>
          </p:nvSpPr>
          <p:spPr>
            <a:xfrm>
              <a:off x="3787" y="1616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5868" name="Line 203"/>
            <p:cNvSpPr/>
            <p:nvPr/>
          </p:nvSpPr>
          <p:spPr>
            <a:xfrm flipH="1">
              <a:off x="3062" y="2296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5869" name="Line 204"/>
            <p:cNvSpPr/>
            <p:nvPr/>
          </p:nvSpPr>
          <p:spPr>
            <a:xfrm flipH="1">
              <a:off x="3062" y="1842"/>
              <a:ext cx="0" cy="36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0" name="Line 205"/>
            <p:cNvSpPr/>
            <p:nvPr/>
          </p:nvSpPr>
          <p:spPr>
            <a:xfrm flipH="1">
              <a:off x="3697" y="1253"/>
              <a:ext cx="0" cy="50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1" name="Line 206"/>
            <p:cNvSpPr/>
            <p:nvPr/>
          </p:nvSpPr>
          <p:spPr>
            <a:xfrm>
              <a:off x="2563" y="1842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2" name="Line 207"/>
            <p:cNvSpPr/>
            <p:nvPr/>
          </p:nvSpPr>
          <p:spPr>
            <a:xfrm>
              <a:off x="2200" y="1253"/>
              <a:ext cx="0" cy="13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5873" name="Line 208"/>
            <p:cNvSpPr/>
            <p:nvPr/>
          </p:nvSpPr>
          <p:spPr>
            <a:xfrm>
              <a:off x="2563" y="2432"/>
              <a:ext cx="0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5874" name="Rectangle 209"/>
            <p:cNvSpPr/>
            <p:nvPr/>
          </p:nvSpPr>
          <p:spPr>
            <a:xfrm>
              <a:off x="3152" y="2114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5875" name="Rectangle 210"/>
            <p:cNvSpPr/>
            <p:nvPr/>
          </p:nvSpPr>
          <p:spPr>
            <a:xfrm>
              <a:off x="2925" y="1525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5876" name="Rectangle 211"/>
            <p:cNvSpPr/>
            <p:nvPr/>
          </p:nvSpPr>
          <p:spPr>
            <a:xfrm>
              <a:off x="3742" y="2069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200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5846" name="Object 212"/>
            <p:cNvGraphicFramePr/>
            <p:nvPr/>
          </p:nvGraphicFramePr>
          <p:xfrm>
            <a:off x="1540" y="1398"/>
            <a:ext cx="225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8" name="" r:id="rId10" imgW="139700" imgH="228600" progId="Equation.3">
                    <p:embed/>
                  </p:oleObj>
                </mc:Choice>
                <mc:Fallback>
                  <p:oleObj name="" r:id="rId10" imgW="139700" imgH="228600" progId="Equation.3">
                    <p:embed/>
                    <p:pic>
                      <p:nvPicPr>
                        <p:cNvPr id="0" name="图片 3247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40" y="1398"/>
                          <a:ext cx="225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7" name="Object 213"/>
            <p:cNvGraphicFramePr/>
            <p:nvPr/>
          </p:nvGraphicFramePr>
          <p:xfrm>
            <a:off x="2816" y="1253"/>
            <a:ext cx="185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6" name="" r:id="rId12" imgW="139700" imgH="241300" progId="Equation.3">
                    <p:embed/>
                  </p:oleObj>
                </mc:Choice>
                <mc:Fallback>
                  <p:oleObj name="" r:id="rId12" imgW="139700" imgH="241300" progId="Equation.3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16" y="1253"/>
                          <a:ext cx="185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8" name="Object 214"/>
            <p:cNvGraphicFramePr/>
            <p:nvPr/>
          </p:nvGraphicFramePr>
          <p:xfrm>
            <a:off x="3334" y="1207"/>
            <a:ext cx="20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" name="" r:id="rId14" imgW="127000" imgH="240665" progId="Equation.3">
                    <p:embed/>
                  </p:oleObj>
                </mc:Choice>
                <mc:Fallback>
                  <p:oleObj name="" r:id="rId14" imgW="127000" imgH="240665" progId="Equation.3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34" y="1207"/>
                          <a:ext cx="203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7" name="Line 215"/>
            <p:cNvSpPr/>
            <p:nvPr/>
          </p:nvSpPr>
          <p:spPr>
            <a:xfrm>
              <a:off x="2200" y="1344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78" name="Line 216"/>
            <p:cNvSpPr/>
            <p:nvPr/>
          </p:nvSpPr>
          <p:spPr>
            <a:xfrm>
              <a:off x="2789" y="1298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79" name="Line 217"/>
            <p:cNvSpPr/>
            <p:nvPr/>
          </p:nvSpPr>
          <p:spPr>
            <a:xfrm flipV="1">
              <a:off x="3288" y="1253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80" name="Rectangle 218"/>
            <p:cNvSpPr/>
            <p:nvPr/>
          </p:nvSpPr>
          <p:spPr>
            <a:xfrm>
              <a:off x="2127" y="170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35881" name="Group 219"/>
            <p:cNvGrpSpPr/>
            <p:nvPr/>
          </p:nvGrpSpPr>
          <p:grpSpPr>
            <a:xfrm>
              <a:off x="2943" y="2205"/>
              <a:ext cx="240" cy="93"/>
              <a:chOff x="3787" y="2478"/>
              <a:chExt cx="240" cy="93"/>
            </a:xfrm>
          </p:grpSpPr>
          <p:sp>
            <p:nvSpPr>
              <p:cNvPr id="35897" name="Line 220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898" name="Line 221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5882" name="Group 222"/>
            <p:cNvGrpSpPr/>
            <p:nvPr/>
          </p:nvGrpSpPr>
          <p:grpSpPr>
            <a:xfrm>
              <a:off x="2667" y="1570"/>
              <a:ext cx="240" cy="93"/>
              <a:chOff x="3787" y="2478"/>
              <a:chExt cx="240" cy="93"/>
            </a:xfrm>
          </p:grpSpPr>
          <p:sp>
            <p:nvSpPr>
              <p:cNvPr id="35895" name="Line 223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896" name="Line 224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5883" name="Rectangle 225"/>
            <p:cNvSpPr/>
            <p:nvPr/>
          </p:nvSpPr>
          <p:spPr>
            <a:xfrm>
              <a:off x="3633" y="206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35884" name="Group 226"/>
            <p:cNvGrpSpPr/>
            <p:nvPr/>
          </p:nvGrpSpPr>
          <p:grpSpPr>
            <a:xfrm>
              <a:off x="3560" y="1752"/>
              <a:ext cx="240" cy="93"/>
              <a:chOff x="3787" y="2478"/>
              <a:chExt cx="240" cy="93"/>
            </a:xfrm>
          </p:grpSpPr>
          <p:sp>
            <p:nvSpPr>
              <p:cNvPr id="35893" name="Line 227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894" name="Line 228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5885" name="Group 229"/>
            <p:cNvGrpSpPr/>
            <p:nvPr/>
          </p:nvGrpSpPr>
          <p:grpSpPr>
            <a:xfrm>
              <a:off x="1338" y="1752"/>
              <a:ext cx="363" cy="363"/>
              <a:chOff x="1338" y="1706"/>
              <a:chExt cx="363" cy="363"/>
            </a:xfrm>
          </p:grpSpPr>
          <p:sp>
            <p:nvSpPr>
              <p:cNvPr id="35891" name="Oval 230"/>
              <p:cNvSpPr/>
              <p:nvPr/>
            </p:nvSpPr>
            <p:spPr>
              <a:xfrm>
                <a:off x="1338" y="1706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5892" name="Line 231"/>
              <p:cNvSpPr/>
              <p:nvPr/>
            </p:nvSpPr>
            <p:spPr>
              <a:xfrm>
                <a:off x="1338" y="1888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5886" name="Group 232"/>
            <p:cNvGrpSpPr/>
            <p:nvPr/>
          </p:nvGrpSpPr>
          <p:grpSpPr>
            <a:xfrm rot="10800000">
              <a:off x="2562" y="2069"/>
              <a:ext cx="90" cy="363"/>
              <a:chOff x="1565" y="2614"/>
              <a:chExt cx="90" cy="486"/>
            </a:xfrm>
          </p:grpSpPr>
          <p:sp>
            <p:nvSpPr>
              <p:cNvPr id="35887" name="Arc 233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5888" name="Arc 234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5889" name="Arc 235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5890" name="Arc 236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</p:grpSp>
      <p:sp>
        <p:nvSpPr>
          <p:cNvPr id="41084" name="Rectangle 124"/>
          <p:cNvSpPr/>
          <p:nvPr/>
        </p:nvSpPr>
        <p:spPr>
          <a:xfrm>
            <a:off x="3779838" y="620713"/>
            <a:ext cx="3455987" cy="2447925"/>
          </a:xfrm>
          <a:prstGeom prst="rect">
            <a:avLst/>
          </a:prstGeom>
          <a:gradFill rotWithShape="1">
            <a:gsLst>
              <a:gs pos="0">
                <a:srgbClr val="000099"/>
              </a:gs>
              <a:gs pos="50000">
                <a:srgbClr val="000047"/>
              </a:gs>
              <a:gs pos="100000">
                <a:srgbClr val="000099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4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4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2000"/>
                                        <p:tgtEl>
                                          <p:spTgt spid="4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4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2000"/>
                                        <p:tgtEl>
                                          <p:spTgt spid="4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1" grpId="0"/>
      <p:bldP spid="41086" grpId="0"/>
      <p:bldP spid="4108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9977" name="Object 41"/>
          <p:cNvGraphicFramePr/>
          <p:nvPr/>
        </p:nvGraphicFramePr>
        <p:xfrm>
          <a:off x="3651250" y="3049588"/>
          <a:ext cx="43751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1" imgW="1942465" imgH="241300" progId="Equation.3">
                  <p:embed/>
                </p:oleObj>
              </mc:Choice>
              <mc:Fallback>
                <p:oleObj name="" r:id="rId1" imgW="1942465" imgH="241300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51250" y="3049588"/>
                        <a:ext cx="4375150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74" name="Text Box 138"/>
          <p:cNvSpPr txBox="1"/>
          <p:nvPr/>
        </p:nvSpPr>
        <p:spPr>
          <a:xfrm>
            <a:off x="827088" y="3049588"/>
            <a:ext cx="29511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一次谐波作用：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076" name="Text Box 140"/>
          <p:cNvSpPr txBox="1"/>
          <p:nvPr/>
        </p:nvSpPr>
        <p:spPr>
          <a:xfrm>
            <a:off x="827088" y="3698875"/>
            <a:ext cx="27003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三次谐波作用：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0079" name="Object 143"/>
          <p:cNvGraphicFramePr/>
          <p:nvPr/>
        </p:nvGraphicFramePr>
        <p:xfrm>
          <a:off x="1055688" y="5330825"/>
          <a:ext cx="56753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3" imgW="2449195" imgH="254000" progId="Equation.3">
                  <p:embed/>
                </p:oleObj>
              </mc:Choice>
              <mc:Fallback>
                <p:oleObj name="" r:id="rId3" imgW="2449195" imgH="2540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55688" y="5330825"/>
                        <a:ext cx="5675312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80" name="Object 144"/>
          <p:cNvGraphicFramePr/>
          <p:nvPr/>
        </p:nvGraphicFramePr>
        <p:xfrm>
          <a:off x="1101725" y="5907088"/>
          <a:ext cx="4927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5" imgW="2144395" imgH="254000" progId="Equation.3">
                  <p:embed/>
                </p:oleObj>
              </mc:Choice>
              <mc:Fallback>
                <p:oleObj name="" r:id="rId5" imgW="2144395" imgH="25400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1725" y="5907088"/>
                        <a:ext cx="49276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82" name="Group 27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6968" name="Picture 271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69" name="Text Box 27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6883" name="Group 27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6966" name="Picture 274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67" name="Text Box 27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379"/>
          <p:cNvGrpSpPr/>
          <p:nvPr/>
        </p:nvGrpSpPr>
        <p:grpSpPr>
          <a:xfrm>
            <a:off x="5651500" y="717550"/>
            <a:ext cx="1525588" cy="2160588"/>
            <a:chOff x="3560" y="452"/>
            <a:chExt cx="961" cy="1361"/>
          </a:xfrm>
        </p:grpSpPr>
        <p:sp>
          <p:nvSpPr>
            <p:cNvPr id="36957" name="Line 231"/>
            <p:cNvSpPr/>
            <p:nvPr/>
          </p:nvSpPr>
          <p:spPr>
            <a:xfrm>
              <a:off x="4240" y="452"/>
              <a:ext cx="0" cy="13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6878" name="Object 222"/>
            <p:cNvGraphicFramePr/>
            <p:nvPr/>
          </p:nvGraphicFramePr>
          <p:xfrm>
            <a:off x="4286" y="573"/>
            <a:ext cx="235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5" name="" r:id="rId8" imgW="139700" imgH="241300" progId="Equation.3">
                    <p:embed/>
                  </p:oleObj>
                </mc:Choice>
                <mc:Fallback>
                  <p:oleObj name="" r:id="rId8" imgW="139700" imgH="241300" progId="Equation.3">
                    <p:embed/>
                    <p:pic>
                      <p:nvPicPr>
                        <p:cNvPr id="0" name="图片 3254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6" y="573"/>
                          <a:ext cx="235" cy="3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58" name="Line 223"/>
            <p:cNvSpPr/>
            <p:nvPr/>
          </p:nvSpPr>
          <p:spPr>
            <a:xfrm>
              <a:off x="4241" y="935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59" name="Line 225"/>
            <p:cNvSpPr/>
            <p:nvPr/>
          </p:nvSpPr>
          <p:spPr>
            <a:xfrm>
              <a:off x="3741" y="452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0" name="Line 227"/>
            <p:cNvSpPr/>
            <p:nvPr/>
          </p:nvSpPr>
          <p:spPr>
            <a:xfrm>
              <a:off x="3741" y="452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1" name="Line 228"/>
            <p:cNvSpPr/>
            <p:nvPr/>
          </p:nvSpPr>
          <p:spPr>
            <a:xfrm flipV="1">
              <a:off x="3742" y="573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62" name="Line 229"/>
            <p:cNvSpPr/>
            <p:nvPr/>
          </p:nvSpPr>
          <p:spPr>
            <a:xfrm flipH="1" flipV="1">
              <a:off x="3741" y="1812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6879" name="Object 232"/>
            <p:cNvGraphicFramePr/>
            <p:nvPr/>
          </p:nvGraphicFramePr>
          <p:xfrm>
            <a:off x="3834" y="581"/>
            <a:ext cx="225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0" name="" r:id="rId10" imgW="139700" imgH="228600" progId="Equation.3">
                    <p:embed/>
                  </p:oleObj>
                </mc:Choice>
                <mc:Fallback>
                  <p:oleObj name="" r:id="rId10" imgW="139700" imgH="228600" progId="Equation.3">
                    <p:embed/>
                    <p:pic>
                      <p:nvPicPr>
                        <p:cNvPr id="0" name="图片 3249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34" y="581"/>
                          <a:ext cx="225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6963" name="Group 325"/>
            <p:cNvGrpSpPr/>
            <p:nvPr/>
          </p:nvGrpSpPr>
          <p:grpSpPr>
            <a:xfrm>
              <a:off x="3560" y="935"/>
              <a:ext cx="363" cy="363"/>
              <a:chOff x="3560" y="905"/>
              <a:chExt cx="363" cy="363"/>
            </a:xfrm>
          </p:grpSpPr>
          <p:sp>
            <p:nvSpPr>
              <p:cNvPr id="36964" name="Oval 226"/>
              <p:cNvSpPr/>
              <p:nvPr/>
            </p:nvSpPr>
            <p:spPr>
              <a:xfrm>
                <a:off x="3560" y="905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6965" name="Line 230"/>
              <p:cNvSpPr/>
              <p:nvPr/>
            </p:nvSpPr>
            <p:spPr>
              <a:xfrm>
                <a:off x="3560" y="1087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6885" name="Group 380"/>
          <p:cNvGrpSpPr/>
          <p:nvPr/>
        </p:nvGrpSpPr>
        <p:grpSpPr>
          <a:xfrm>
            <a:off x="5580063" y="549275"/>
            <a:ext cx="3024187" cy="2592388"/>
            <a:chOff x="3515" y="2296"/>
            <a:chExt cx="1905" cy="1633"/>
          </a:xfrm>
        </p:grpSpPr>
        <p:sp>
          <p:nvSpPr>
            <p:cNvPr id="36936" name="Rectangle 234"/>
            <p:cNvSpPr/>
            <p:nvPr/>
          </p:nvSpPr>
          <p:spPr>
            <a:xfrm>
              <a:off x="3515" y="2296"/>
              <a:ext cx="1905" cy="1633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36937" name="Line 236"/>
            <p:cNvSpPr/>
            <p:nvPr/>
          </p:nvSpPr>
          <p:spPr>
            <a:xfrm>
              <a:off x="3832" y="2432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8" name="Line 238"/>
            <p:cNvSpPr/>
            <p:nvPr/>
          </p:nvSpPr>
          <p:spPr>
            <a:xfrm>
              <a:off x="5159" y="3021"/>
              <a:ext cx="0" cy="80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9" name="Line 239"/>
            <p:cNvSpPr/>
            <p:nvPr/>
          </p:nvSpPr>
          <p:spPr>
            <a:xfrm>
              <a:off x="3832" y="2432"/>
              <a:ext cx="13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40" name="Line 240"/>
            <p:cNvSpPr/>
            <p:nvPr/>
          </p:nvSpPr>
          <p:spPr>
            <a:xfrm flipV="1">
              <a:off x="3832" y="2568"/>
              <a:ext cx="0" cy="409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6875" name="Object 241"/>
            <p:cNvGraphicFramePr/>
            <p:nvPr/>
          </p:nvGraphicFramePr>
          <p:xfrm>
            <a:off x="4286" y="2477"/>
            <a:ext cx="18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" name="" r:id="rId12" imgW="114300" imgH="240665" progId="Equation.3">
                    <p:embed/>
                  </p:oleObj>
                </mc:Choice>
                <mc:Fallback>
                  <p:oleObj name="" r:id="rId12" imgW="114300" imgH="240665" progId="Equation.3">
                    <p:embed/>
                    <p:pic>
                      <p:nvPicPr>
                        <p:cNvPr id="0" name="图片 3248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6" y="2477"/>
                          <a:ext cx="184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41" name="Line 242"/>
            <p:cNvSpPr/>
            <p:nvPr/>
          </p:nvSpPr>
          <p:spPr>
            <a:xfrm flipH="1" flipV="1">
              <a:off x="3832" y="3792"/>
              <a:ext cx="1316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42" name="Rectangle 243"/>
            <p:cNvSpPr/>
            <p:nvPr/>
          </p:nvSpPr>
          <p:spPr>
            <a:xfrm>
              <a:off x="3923" y="3112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100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943" name="Rectangle 244"/>
            <p:cNvSpPr/>
            <p:nvPr/>
          </p:nvSpPr>
          <p:spPr>
            <a:xfrm>
              <a:off x="4694" y="2840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944" name="Line 246"/>
            <p:cNvSpPr/>
            <p:nvPr/>
          </p:nvSpPr>
          <p:spPr>
            <a:xfrm flipH="1">
              <a:off x="5159" y="2432"/>
              <a:ext cx="0" cy="50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45" name="Line 247"/>
            <p:cNvSpPr/>
            <p:nvPr/>
          </p:nvSpPr>
          <p:spPr>
            <a:xfrm>
              <a:off x="4513" y="2432"/>
              <a:ext cx="0" cy="13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6946" name="Rectangle 248"/>
            <p:cNvSpPr/>
            <p:nvPr/>
          </p:nvSpPr>
          <p:spPr>
            <a:xfrm>
              <a:off x="4513" y="3339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200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6876" name="Object 249"/>
            <p:cNvGraphicFramePr/>
            <p:nvPr/>
          </p:nvGraphicFramePr>
          <p:xfrm>
            <a:off x="3880" y="2577"/>
            <a:ext cx="225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" name="" r:id="rId14" imgW="139700" imgH="228600" progId="Equation.3">
                    <p:embed/>
                  </p:oleObj>
                </mc:Choice>
                <mc:Fallback>
                  <p:oleObj name="" r:id="rId14" imgW="139700" imgH="228600" progId="Equation.3">
                    <p:embed/>
                    <p:pic>
                      <p:nvPicPr>
                        <p:cNvPr id="0" name="图片 3250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80" y="2577"/>
                          <a:ext cx="225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7" name="Object 250"/>
            <p:cNvGraphicFramePr/>
            <p:nvPr/>
          </p:nvGraphicFramePr>
          <p:xfrm>
            <a:off x="4694" y="2387"/>
            <a:ext cx="20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6" name="" r:id="rId16" imgW="127000" imgH="240665" progId="Equation.3">
                    <p:embed/>
                  </p:oleObj>
                </mc:Choice>
                <mc:Fallback>
                  <p:oleObj name="" r:id="rId16" imgW="127000" imgH="240665" progId="Equation.3">
                    <p:embed/>
                    <p:pic>
                      <p:nvPicPr>
                        <p:cNvPr id="0" name="图片 3255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94" y="2387"/>
                          <a:ext cx="203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47" name="Line 251"/>
            <p:cNvSpPr/>
            <p:nvPr/>
          </p:nvSpPr>
          <p:spPr>
            <a:xfrm>
              <a:off x="4513" y="2523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48" name="Line 252"/>
            <p:cNvSpPr/>
            <p:nvPr/>
          </p:nvSpPr>
          <p:spPr>
            <a:xfrm flipV="1">
              <a:off x="4694" y="2432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49" name="Rectangle 253"/>
            <p:cNvSpPr/>
            <p:nvPr/>
          </p:nvSpPr>
          <p:spPr>
            <a:xfrm>
              <a:off x="4449" y="288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36950" name="Rectangle 254"/>
            <p:cNvSpPr/>
            <p:nvPr/>
          </p:nvSpPr>
          <p:spPr>
            <a:xfrm>
              <a:off x="5095" y="324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36951" name="Group 255"/>
            <p:cNvGrpSpPr/>
            <p:nvPr/>
          </p:nvGrpSpPr>
          <p:grpSpPr>
            <a:xfrm>
              <a:off x="5040" y="2931"/>
              <a:ext cx="240" cy="93"/>
              <a:chOff x="3787" y="2478"/>
              <a:chExt cx="240" cy="93"/>
            </a:xfrm>
          </p:grpSpPr>
          <p:sp>
            <p:nvSpPr>
              <p:cNvPr id="36955" name="Line 256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56" name="Line 257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6952" name="Group 327"/>
            <p:cNvGrpSpPr/>
            <p:nvPr/>
          </p:nvGrpSpPr>
          <p:grpSpPr>
            <a:xfrm>
              <a:off x="3651" y="2931"/>
              <a:ext cx="363" cy="363"/>
              <a:chOff x="5783" y="889"/>
              <a:chExt cx="363" cy="363"/>
            </a:xfrm>
          </p:grpSpPr>
          <p:sp>
            <p:nvSpPr>
              <p:cNvPr id="36953" name="Oval 237"/>
              <p:cNvSpPr/>
              <p:nvPr/>
            </p:nvSpPr>
            <p:spPr>
              <a:xfrm>
                <a:off x="5783" y="88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6954" name="Line 245"/>
              <p:cNvSpPr/>
              <p:nvPr/>
            </p:nvSpPr>
            <p:spPr>
              <a:xfrm>
                <a:off x="5783" y="1071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6886" name="Group 32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6934" name="Picture 330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35" name="Text Box 33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6887" name="Group 332"/>
          <p:cNvGrpSpPr/>
          <p:nvPr/>
        </p:nvGrpSpPr>
        <p:grpSpPr>
          <a:xfrm>
            <a:off x="755650" y="549275"/>
            <a:ext cx="4806950" cy="2279650"/>
            <a:chOff x="1338" y="1207"/>
            <a:chExt cx="3028" cy="1436"/>
          </a:xfrm>
        </p:grpSpPr>
        <p:sp>
          <p:nvSpPr>
            <p:cNvPr id="36892" name="Line 333"/>
            <p:cNvSpPr/>
            <p:nvPr/>
          </p:nvSpPr>
          <p:spPr>
            <a:xfrm>
              <a:off x="1519" y="1253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3" name="Line 334"/>
            <p:cNvSpPr/>
            <p:nvPr/>
          </p:nvSpPr>
          <p:spPr>
            <a:xfrm>
              <a:off x="3697" y="1842"/>
              <a:ext cx="0" cy="80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4" name="Line 335"/>
            <p:cNvSpPr/>
            <p:nvPr/>
          </p:nvSpPr>
          <p:spPr>
            <a:xfrm flipH="1">
              <a:off x="2563" y="1842"/>
              <a:ext cx="5" cy="22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5" name="Line 336"/>
            <p:cNvSpPr/>
            <p:nvPr/>
          </p:nvSpPr>
          <p:spPr>
            <a:xfrm>
              <a:off x="1519" y="1253"/>
              <a:ext cx="217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6" name="Line 337"/>
            <p:cNvSpPr/>
            <p:nvPr/>
          </p:nvSpPr>
          <p:spPr>
            <a:xfrm flipV="1">
              <a:off x="1519" y="1389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6871" name="Object 338"/>
            <p:cNvGraphicFramePr/>
            <p:nvPr/>
          </p:nvGraphicFramePr>
          <p:xfrm>
            <a:off x="2218" y="1298"/>
            <a:ext cx="18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7" name="" r:id="rId18" imgW="114300" imgH="240665" progId="Equation.3">
                    <p:embed/>
                  </p:oleObj>
                </mc:Choice>
                <mc:Fallback>
                  <p:oleObj name="" r:id="rId18" imgW="114300" imgH="240665" progId="Equation.3">
                    <p:embed/>
                    <p:pic>
                      <p:nvPicPr>
                        <p:cNvPr id="0" name="图片 3256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18" y="1298"/>
                          <a:ext cx="184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7" name="Line 339"/>
            <p:cNvSpPr/>
            <p:nvPr/>
          </p:nvSpPr>
          <p:spPr>
            <a:xfrm flipH="1" flipV="1">
              <a:off x="1519" y="2613"/>
              <a:ext cx="217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8" name="Line 340"/>
            <p:cNvSpPr/>
            <p:nvPr/>
          </p:nvSpPr>
          <p:spPr>
            <a:xfrm>
              <a:off x="2789" y="1665"/>
              <a:ext cx="3" cy="17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6899" name="Line 341"/>
            <p:cNvSpPr/>
            <p:nvPr/>
          </p:nvSpPr>
          <p:spPr>
            <a:xfrm flipH="1">
              <a:off x="2789" y="1253"/>
              <a:ext cx="0" cy="31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6900" name="Rectangle 342"/>
            <p:cNvSpPr/>
            <p:nvPr/>
          </p:nvSpPr>
          <p:spPr>
            <a:xfrm>
              <a:off x="1610" y="2014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100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901" name="Rectangle 343"/>
            <p:cNvSpPr/>
            <p:nvPr/>
          </p:nvSpPr>
          <p:spPr>
            <a:xfrm>
              <a:off x="2336" y="2069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902" name="Rectangle 344"/>
            <p:cNvSpPr/>
            <p:nvPr/>
          </p:nvSpPr>
          <p:spPr>
            <a:xfrm>
              <a:off x="3787" y="1616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903" name="Line 345"/>
            <p:cNvSpPr/>
            <p:nvPr/>
          </p:nvSpPr>
          <p:spPr>
            <a:xfrm flipH="1">
              <a:off x="3062" y="2296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6904" name="Line 346"/>
            <p:cNvSpPr/>
            <p:nvPr/>
          </p:nvSpPr>
          <p:spPr>
            <a:xfrm flipH="1">
              <a:off x="3062" y="1842"/>
              <a:ext cx="0" cy="36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5" name="Line 347"/>
            <p:cNvSpPr/>
            <p:nvPr/>
          </p:nvSpPr>
          <p:spPr>
            <a:xfrm flipH="1">
              <a:off x="3697" y="1253"/>
              <a:ext cx="0" cy="50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6" name="Line 348"/>
            <p:cNvSpPr/>
            <p:nvPr/>
          </p:nvSpPr>
          <p:spPr>
            <a:xfrm>
              <a:off x="2563" y="1842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7" name="Line 349"/>
            <p:cNvSpPr/>
            <p:nvPr/>
          </p:nvSpPr>
          <p:spPr>
            <a:xfrm>
              <a:off x="2200" y="1253"/>
              <a:ext cx="0" cy="13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6908" name="Line 350"/>
            <p:cNvSpPr/>
            <p:nvPr/>
          </p:nvSpPr>
          <p:spPr>
            <a:xfrm>
              <a:off x="2563" y="2432"/>
              <a:ext cx="0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6909" name="Rectangle 351"/>
            <p:cNvSpPr/>
            <p:nvPr/>
          </p:nvSpPr>
          <p:spPr>
            <a:xfrm>
              <a:off x="3152" y="2114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910" name="Rectangle 352"/>
            <p:cNvSpPr/>
            <p:nvPr/>
          </p:nvSpPr>
          <p:spPr>
            <a:xfrm>
              <a:off x="2925" y="1525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911" name="Rectangle 353"/>
            <p:cNvSpPr/>
            <p:nvPr/>
          </p:nvSpPr>
          <p:spPr>
            <a:xfrm>
              <a:off x="3742" y="2069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200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6872" name="Object 354"/>
            <p:cNvGraphicFramePr/>
            <p:nvPr/>
          </p:nvGraphicFramePr>
          <p:xfrm>
            <a:off x="1540" y="1398"/>
            <a:ext cx="225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" name="" r:id="rId19" imgW="139700" imgH="228600" progId="Equation.3">
                    <p:embed/>
                  </p:oleObj>
                </mc:Choice>
                <mc:Fallback>
                  <p:oleObj name="" r:id="rId19" imgW="139700" imgH="228600" progId="Equation.3">
                    <p:embed/>
                    <p:pic>
                      <p:nvPicPr>
                        <p:cNvPr id="0" name="图片 3263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40" y="1398"/>
                          <a:ext cx="225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3" name="Object 355"/>
            <p:cNvGraphicFramePr/>
            <p:nvPr/>
          </p:nvGraphicFramePr>
          <p:xfrm>
            <a:off x="2816" y="1253"/>
            <a:ext cx="185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0" name="" r:id="rId21" imgW="139700" imgH="241300" progId="Equation.3">
                    <p:embed/>
                  </p:oleObj>
                </mc:Choice>
                <mc:Fallback>
                  <p:oleObj name="" r:id="rId21" imgW="139700" imgH="241300" progId="Equation.3">
                    <p:embed/>
                    <p:pic>
                      <p:nvPicPr>
                        <p:cNvPr id="0" name="图片 3259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16" y="1253"/>
                          <a:ext cx="185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4" name="Object 356"/>
            <p:cNvGraphicFramePr/>
            <p:nvPr/>
          </p:nvGraphicFramePr>
          <p:xfrm>
            <a:off x="3334" y="1207"/>
            <a:ext cx="20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3" name="" r:id="rId23" imgW="127000" imgH="240665" progId="Equation.3">
                    <p:embed/>
                  </p:oleObj>
                </mc:Choice>
                <mc:Fallback>
                  <p:oleObj name="" r:id="rId23" imgW="127000" imgH="240665" progId="Equation.3">
                    <p:embed/>
                    <p:pic>
                      <p:nvPicPr>
                        <p:cNvPr id="0" name="图片 3262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34" y="1207"/>
                          <a:ext cx="203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2" name="Line 357"/>
            <p:cNvSpPr/>
            <p:nvPr/>
          </p:nvSpPr>
          <p:spPr>
            <a:xfrm>
              <a:off x="2200" y="1344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3" name="Line 358"/>
            <p:cNvSpPr/>
            <p:nvPr/>
          </p:nvSpPr>
          <p:spPr>
            <a:xfrm>
              <a:off x="2789" y="1298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4" name="Line 359"/>
            <p:cNvSpPr/>
            <p:nvPr/>
          </p:nvSpPr>
          <p:spPr>
            <a:xfrm flipV="1">
              <a:off x="3288" y="1253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5" name="Rectangle 360"/>
            <p:cNvSpPr/>
            <p:nvPr/>
          </p:nvSpPr>
          <p:spPr>
            <a:xfrm>
              <a:off x="2127" y="170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36916" name="Group 361"/>
            <p:cNvGrpSpPr/>
            <p:nvPr/>
          </p:nvGrpSpPr>
          <p:grpSpPr>
            <a:xfrm>
              <a:off x="2943" y="2205"/>
              <a:ext cx="240" cy="93"/>
              <a:chOff x="3787" y="2478"/>
              <a:chExt cx="240" cy="93"/>
            </a:xfrm>
          </p:grpSpPr>
          <p:sp>
            <p:nvSpPr>
              <p:cNvPr id="36932" name="Line 362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33" name="Line 363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6917" name="Group 364"/>
            <p:cNvGrpSpPr/>
            <p:nvPr/>
          </p:nvGrpSpPr>
          <p:grpSpPr>
            <a:xfrm>
              <a:off x="2667" y="1570"/>
              <a:ext cx="240" cy="93"/>
              <a:chOff x="3787" y="2478"/>
              <a:chExt cx="240" cy="93"/>
            </a:xfrm>
          </p:grpSpPr>
          <p:sp>
            <p:nvSpPr>
              <p:cNvPr id="36930" name="Line 365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31" name="Line 366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6918" name="Rectangle 367"/>
            <p:cNvSpPr/>
            <p:nvPr/>
          </p:nvSpPr>
          <p:spPr>
            <a:xfrm>
              <a:off x="3633" y="206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36919" name="Group 368"/>
            <p:cNvGrpSpPr/>
            <p:nvPr/>
          </p:nvGrpSpPr>
          <p:grpSpPr>
            <a:xfrm>
              <a:off x="3560" y="1752"/>
              <a:ext cx="240" cy="93"/>
              <a:chOff x="3787" y="2478"/>
              <a:chExt cx="240" cy="93"/>
            </a:xfrm>
          </p:grpSpPr>
          <p:sp>
            <p:nvSpPr>
              <p:cNvPr id="36928" name="Line 369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29" name="Line 370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6920" name="Group 371"/>
            <p:cNvGrpSpPr/>
            <p:nvPr/>
          </p:nvGrpSpPr>
          <p:grpSpPr>
            <a:xfrm>
              <a:off x="1338" y="1752"/>
              <a:ext cx="363" cy="363"/>
              <a:chOff x="1338" y="1706"/>
              <a:chExt cx="363" cy="363"/>
            </a:xfrm>
          </p:grpSpPr>
          <p:sp>
            <p:nvSpPr>
              <p:cNvPr id="36926" name="Oval 372"/>
              <p:cNvSpPr/>
              <p:nvPr/>
            </p:nvSpPr>
            <p:spPr>
              <a:xfrm>
                <a:off x="1338" y="1706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6927" name="Line 373"/>
              <p:cNvSpPr/>
              <p:nvPr/>
            </p:nvSpPr>
            <p:spPr>
              <a:xfrm>
                <a:off x="1338" y="1888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6921" name="Group 374"/>
            <p:cNvGrpSpPr/>
            <p:nvPr/>
          </p:nvGrpSpPr>
          <p:grpSpPr>
            <a:xfrm rot="10800000">
              <a:off x="2562" y="2069"/>
              <a:ext cx="90" cy="363"/>
              <a:chOff x="1565" y="2614"/>
              <a:chExt cx="90" cy="486"/>
            </a:xfrm>
          </p:grpSpPr>
          <p:sp>
            <p:nvSpPr>
              <p:cNvPr id="36922" name="Arc 375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6923" name="Arc 376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6924" name="Arc 377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  <p:sp>
            <p:nvSpPr>
              <p:cNvPr id="36925" name="Arc 378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楷体_GB2312" pitchFamily="49" charset="-122"/>
                </a:endParaRPr>
              </a:p>
            </p:txBody>
          </p:sp>
        </p:grpSp>
      </p:grpSp>
      <p:grpSp>
        <p:nvGrpSpPr>
          <p:cNvPr id="16" name="Group 383"/>
          <p:cNvGrpSpPr/>
          <p:nvPr/>
        </p:nvGrpSpPr>
        <p:grpSpPr>
          <a:xfrm>
            <a:off x="3276600" y="3500438"/>
            <a:ext cx="5616575" cy="984250"/>
            <a:chOff x="2064" y="2205"/>
            <a:chExt cx="3538" cy="620"/>
          </a:xfrm>
        </p:grpSpPr>
        <p:graphicFrame>
          <p:nvGraphicFramePr>
            <p:cNvPr id="36870" name="Object 141"/>
            <p:cNvGraphicFramePr/>
            <p:nvPr/>
          </p:nvGraphicFramePr>
          <p:xfrm>
            <a:off x="2064" y="2205"/>
            <a:ext cx="3538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" name="" r:id="rId24" imgW="2868930" imgH="495300" progId="Equation.3">
                    <p:embed/>
                  </p:oleObj>
                </mc:Choice>
                <mc:Fallback>
                  <p:oleObj name="" r:id="rId24" imgW="2868930" imgH="495300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4" y="2205"/>
                          <a:ext cx="3538" cy="6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1" name="Line 381"/>
            <p:cNvSpPr/>
            <p:nvPr/>
          </p:nvSpPr>
          <p:spPr>
            <a:xfrm>
              <a:off x="5012" y="2614"/>
              <a:ext cx="31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" name="Group 384"/>
          <p:cNvGrpSpPr/>
          <p:nvPr/>
        </p:nvGrpSpPr>
        <p:grpSpPr>
          <a:xfrm>
            <a:off x="1052513" y="4418013"/>
            <a:ext cx="6183312" cy="955675"/>
            <a:chOff x="663" y="2783"/>
            <a:chExt cx="3895" cy="602"/>
          </a:xfrm>
        </p:grpSpPr>
        <p:graphicFrame>
          <p:nvGraphicFramePr>
            <p:cNvPr id="36869" name="Object 142"/>
            <p:cNvGraphicFramePr/>
            <p:nvPr/>
          </p:nvGraphicFramePr>
          <p:xfrm>
            <a:off x="663" y="2783"/>
            <a:ext cx="3895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8" name="" r:id="rId26" imgW="3288030" imgH="482600" progId="Equation.3">
                    <p:embed/>
                  </p:oleObj>
                </mc:Choice>
                <mc:Fallback>
                  <p:oleObj name="" r:id="rId26" imgW="3288030" imgH="482600" progId="Equation.3">
                    <p:embed/>
                    <p:pic>
                      <p:nvPicPr>
                        <p:cNvPr id="0" name="图片 3257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63" y="2783"/>
                          <a:ext cx="3895" cy="6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0" name="Line 382"/>
            <p:cNvSpPr/>
            <p:nvPr/>
          </p:nvSpPr>
          <p:spPr>
            <a:xfrm flipV="1">
              <a:off x="3887" y="3176"/>
              <a:ext cx="45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4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74" grpId="0"/>
      <p:bldP spid="4007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/>
          <p:nvPr/>
        </p:nvSpPr>
        <p:spPr>
          <a:xfrm>
            <a:off x="71438" y="404813"/>
            <a:ext cx="9072562" cy="7016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 eaLnBrk="0" hangingPunct="0"/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en-US" altLang="zh-CN" sz="4000" baseline="30000" dirty="0">
                <a:solidFill>
                  <a:schemeClr val="bg1"/>
                </a:solidFill>
                <a:latin typeface="楷体_GB2312" pitchFamily="49" charset="-122"/>
              </a:rPr>
              <a:t>*</a:t>
            </a:r>
            <a:r>
              <a: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13-5</a:t>
            </a:r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</a:rPr>
              <a:t>对称三相电路中的高次谐波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395288" y="1989138"/>
            <a:ext cx="7848600" cy="1066800"/>
            <a:chOff x="249" y="1434"/>
            <a:chExt cx="4944" cy="672"/>
          </a:xfrm>
        </p:grpSpPr>
        <p:graphicFrame>
          <p:nvGraphicFramePr>
            <p:cNvPr id="37891" name="Object 14"/>
            <p:cNvGraphicFramePr/>
            <p:nvPr/>
          </p:nvGraphicFramePr>
          <p:xfrm>
            <a:off x="748" y="1570"/>
            <a:ext cx="1134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1" name="" r:id="rId1" imgW="609600" imgH="215900" progId="Equation.3">
                    <p:embed/>
                  </p:oleObj>
                </mc:Choice>
                <mc:Fallback>
                  <p:oleObj name="" r:id="rId1" imgW="609600" imgH="215900" progId="Equation.3">
                    <p:embed/>
                    <p:pic>
                      <p:nvPicPr>
                        <p:cNvPr id="0" name="图片 3260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8" y="1570"/>
                          <a:ext cx="1134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2" name="Object 13"/>
            <p:cNvGraphicFramePr/>
            <p:nvPr/>
          </p:nvGraphicFramePr>
          <p:xfrm>
            <a:off x="2064" y="1480"/>
            <a:ext cx="1315" cy="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2" name="" r:id="rId3" imgW="2070100" imgH="393700" progId="Equation.3">
                    <p:embed/>
                  </p:oleObj>
                </mc:Choice>
                <mc:Fallback>
                  <p:oleObj name="" r:id="rId3" imgW="2070100" imgH="393700" progId="Equation.3">
                    <p:embed/>
                    <p:pic>
                      <p:nvPicPr>
                        <p:cNvPr id="0" name="图片 3261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rcRect r="60324"/>
                        <a:stretch>
                          <a:fillRect/>
                        </a:stretch>
                      </p:blipFill>
                      <p:spPr>
                        <a:xfrm>
                          <a:off x="2064" y="1480"/>
                          <a:ext cx="1315" cy="6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3" name="Object 17"/>
            <p:cNvGraphicFramePr/>
            <p:nvPr/>
          </p:nvGraphicFramePr>
          <p:xfrm>
            <a:off x="3606" y="1434"/>
            <a:ext cx="1587" cy="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" name="" r:id="rId5" imgW="2070100" imgH="393700" progId="Equation.3">
                    <p:embed/>
                  </p:oleObj>
                </mc:Choice>
                <mc:Fallback>
                  <p:oleObj name="" r:id="rId5" imgW="2070100" imgH="393700" progId="Equation.3">
                    <p:embed/>
                    <p:pic>
                      <p:nvPicPr>
                        <p:cNvPr id="0" name="图片 3258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rcRect l="54391"/>
                        <a:stretch>
                          <a:fillRect/>
                        </a:stretch>
                      </p:blipFill>
                      <p:spPr>
                        <a:xfrm>
                          <a:off x="3606" y="1434"/>
                          <a:ext cx="1587" cy="6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3" name="Text Box 18"/>
            <p:cNvSpPr txBox="1"/>
            <p:nvPr/>
          </p:nvSpPr>
          <p:spPr>
            <a:xfrm>
              <a:off x="249" y="1570"/>
              <a:ext cx="499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dirty="0">
                  <a:latin typeface="楷体_GB2312" pitchFamily="49" charset="-122"/>
                </a:rPr>
                <a:t>设</a:t>
              </a:r>
              <a:endParaRPr lang="zh-CN" altLang="en-US" dirty="0">
                <a:latin typeface="楷体_GB2312" pitchFamily="49" charset="-122"/>
              </a:endParaRPr>
            </a:p>
          </p:txBody>
        </p:sp>
      </p:grpSp>
      <p:sp>
        <p:nvSpPr>
          <p:cNvPr id="61460" name="Rectangle 20"/>
          <p:cNvSpPr/>
          <p:nvPr/>
        </p:nvSpPr>
        <p:spPr>
          <a:xfrm>
            <a:off x="468313" y="3068638"/>
            <a:ext cx="59658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楷体_GB2312" pitchFamily="49" charset="-122"/>
              </a:rPr>
              <a:t>展开成傅里叶级数</a:t>
            </a:r>
            <a:r>
              <a:rPr lang="en-US" altLang="zh-CN" b="0" dirty="0">
                <a:latin typeface="楷体_GB2312" pitchFamily="49" charset="-12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楷体_GB2312" pitchFamily="49" charset="-122"/>
              </a:rPr>
              <a:t>为奇数</a:t>
            </a:r>
            <a:r>
              <a:rPr lang="en-US" altLang="zh-CN" b="0" dirty="0">
                <a:latin typeface="楷体_GB2312" pitchFamily="49" charset="-122"/>
              </a:rPr>
              <a:t>)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，则有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3" name="Group 32"/>
          <p:cNvGrpSpPr/>
          <p:nvPr/>
        </p:nvGrpSpPr>
        <p:grpSpPr>
          <a:xfrm>
            <a:off x="7164388" y="3933825"/>
            <a:ext cx="863600" cy="2247900"/>
            <a:chOff x="4513" y="2523"/>
            <a:chExt cx="544" cy="1416"/>
          </a:xfrm>
        </p:grpSpPr>
        <p:sp>
          <p:nvSpPr>
            <p:cNvPr id="37910" name="Rectangle 29"/>
            <p:cNvSpPr/>
            <p:nvPr/>
          </p:nvSpPr>
          <p:spPr>
            <a:xfrm>
              <a:off x="4513" y="2523"/>
              <a:ext cx="544" cy="327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FF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p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相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  <p:sp>
          <p:nvSpPr>
            <p:cNvPr id="37911" name="Rectangle 30"/>
            <p:cNvSpPr/>
            <p:nvPr/>
          </p:nvSpPr>
          <p:spPr>
            <a:xfrm>
              <a:off x="4513" y="3067"/>
              <a:ext cx="544" cy="327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FF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p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相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  <p:sp>
          <p:nvSpPr>
            <p:cNvPr id="37912" name="Rectangle 31"/>
            <p:cNvSpPr/>
            <p:nvPr/>
          </p:nvSpPr>
          <p:spPr>
            <a:xfrm>
              <a:off x="4513" y="3612"/>
              <a:ext cx="544" cy="327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FF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p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相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</p:grpSp>
      <p:sp>
        <p:nvSpPr>
          <p:cNvPr id="61473" name="Rectangle 33"/>
          <p:cNvSpPr/>
          <p:nvPr/>
        </p:nvSpPr>
        <p:spPr>
          <a:xfrm>
            <a:off x="71438" y="1268413"/>
            <a:ext cx="7237412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 eaLnBrk="0" hangingPunct="0"/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  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对称三相电路中的高次谐波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37899" name="Group 3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7908" name="Picture 38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09" name="Text Box 3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900" name="Group 4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7906" name="Picture 41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07" name="Text Box 4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901" name="Group 46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7904" name="Picture 47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05" name="Text Box 4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" name="Group 53"/>
          <p:cNvGrpSpPr/>
          <p:nvPr/>
        </p:nvGrpSpPr>
        <p:grpSpPr>
          <a:xfrm>
            <a:off x="900113" y="3789363"/>
            <a:ext cx="5759450" cy="2582862"/>
            <a:chOff x="567" y="2387"/>
            <a:chExt cx="3628" cy="1627"/>
          </a:xfrm>
        </p:grpSpPr>
        <p:graphicFrame>
          <p:nvGraphicFramePr>
            <p:cNvPr id="37890" name="Object 50"/>
            <p:cNvGraphicFramePr/>
            <p:nvPr/>
          </p:nvGraphicFramePr>
          <p:xfrm>
            <a:off x="839" y="2387"/>
            <a:ext cx="3356" cy="16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6" name="" r:id="rId7" imgW="2336800" imgH="1104900" progId="Equation.3">
                    <p:embed/>
                  </p:oleObj>
                </mc:Choice>
                <mc:Fallback>
                  <p:oleObj name="" r:id="rId7" imgW="2336800" imgH="1104900" progId="Equation.3">
                    <p:embed/>
                    <p:pic>
                      <p:nvPicPr>
                        <p:cNvPr id="0" name="图片 326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39" y="2387"/>
                          <a:ext cx="3356" cy="16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3" name="AutoShape 52"/>
            <p:cNvSpPr/>
            <p:nvPr/>
          </p:nvSpPr>
          <p:spPr>
            <a:xfrm>
              <a:off x="567" y="2478"/>
              <a:ext cx="182" cy="1406"/>
            </a:xfrm>
            <a:prstGeom prst="leftBrace">
              <a:avLst>
                <a:gd name="adj1" fmla="val 64377"/>
                <a:gd name="adj2" fmla="val 49361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60" grpId="0"/>
      <p:bldP spid="6147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7" name="Text Box 3"/>
          <p:cNvSpPr txBox="1"/>
          <p:nvPr/>
        </p:nvSpPr>
        <p:spPr>
          <a:xfrm>
            <a:off x="468313" y="1125538"/>
            <a:ext cx="8351837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令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k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=6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+1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=0,1,2,</a:t>
            </a:r>
            <a:r>
              <a:rPr lang="en-US" altLang="zh-CN" sz="4400" b="0" baseline="20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即：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=1,7,13,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800" b="0" baseline="20000" dirty="0">
                <a:solidFill>
                  <a:schemeClr val="bg1"/>
                </a:solidFill>
                <a:latin typeface="Arial" panose="020B0604020202020204" pitchFamily="34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8918" name="Rectangle 16"/>
          <p:cNvSpPr/>
          <p:nvPr/>
        </p:nvSpPr>
        <p:spPr>
          <a:xfrm>
            <a:off x="0" y="2674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2" name="Group 26"/>
          <p:cNvGrpSpPr/>
          <p:nvPr/>
        </p:nvGrpSpPr>
        <p:grpSpPr>
          <a:xfrm>
            <a:off x="468313" y="404813"/>
            <a:ext cx="1644650" cy="850900"/>
            <a:chOff x="385" y="3022"/>
            <a:chExt cx="1036" cy="536"/>
          </a:xfrm>
        </p:grpSpPr>
        <p:pic>
          <p:nvPicPr>
            <p:cNvPr id="38938" name="Picture 27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39" name="Text Box 2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讨论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62500" name="Rectangle 36"/>
          <p:cNvSpPr/>
          <p:nvPr/>
        </p:nvSpPr>
        <p:spPr>
          <a:xfrm>
            <a:off x="611188" y="1844675"/>
            <a:ext cx="32210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楷体_GB2312" pitchFamily="49" charset="-122"/>
              </a:rPr>
              <a:t>各相的初相分别为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2510" name="AutoShape 46"/>
          <p:cNvSpPr/>
          <p:nvPr/>
        </p:nvSpPr>
        <p:spPr>
          <a:xfrm>
            <a:off x="6659563" y="2708275"/>
            <a:ext cx="1944687" cy="1008063"/>
          </a:xfrm>
          <a:prstGeom prst="wedgeRoundRectCallout">
            <a:avLst>
              <a:gd name="adj1" fmla="val -93838"/>
              <a:gd name="adj2" fmla="val 98819"/>
              <a:gd name="adj3" fmla="val 16667"/>
            </a:avLst>
          </a:prstGeom>
          <a:solidFill>
            <a:srgbClr val="FFCCFF"/>
          </a:solid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正序对称三相电源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62511" name="Text Box 47"/>
          <p:cNvSpPr txBox="1"/>
          <p:nvPr/>
        </p:nvSpPr>
        <p:spPr>
          <a:xfrm>
            <a:off x="539750" y="5013325"/>
            <a:ext cx="7920038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令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k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=6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+3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即：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=3,9,15,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b="0" baseline="20000" dirty="0">
                <a:solidFill>
                  <a:schemeClr val="bg1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4000" baseline="20000" dirty="0">
                <a:latin typeface="Times New Roman" panose="02020603050405020304" pitchFamily="18" charset="0"/>
              </a:rPr>
              <a:t> </a:t>
            </a:r>
            <a:endParaRPr lang="en-US" altLang="zh-CN" sz="4000" baseline="20000" dirty="0">
              <a:latin typeface="Times New Roman" panose="02020603050405020304" pitchFamily="18" charset="0"/>
            </a:endParaRPr>
          </a:p>
        </p:txBody>
      </p:sp>
      <p:grpSp>
        <p:nvGrpSpPr>
          <p:cNvPr id="38923" name="Group 4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8936" name="Picture 49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37" name="Text Box 5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8924" name="Group 5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8934" name="Picture 52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35" name="Text Box 5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8925" name="Group 5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8932" name="Picture 5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33" name="Text Box 5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62"/>
          <p:cNvGrpSpPr/>
          <p:nvPr/>
        </p:nvGrpSpPr>
        <p:grpSpPr>
          <a:xfrm>
            <a:off x="1187450" y="2436813"/>
            <a:ext cx="4321175" cy="2454275"/>
            <a:chOff x="748" y="1535"/>
            <a:chExt cx="2722" cy="1546"/>
          </a:xfrm>
        </p:grpSpPr>
        <p:grpSp>
          <p:nvGrpSpPr>
            <p:cNvPr id="38927" name="Group 22"/>
            <p:cNvGrpSpPr/>
            <p:nvPr/>
          </p:nvGrpSpPr>
          <p:grpSpPr>
            <a:xfrm>
              <a:off x="748" y="1616"/>
              <a:ext cx="544" cy="1416"/>
              <a:chOff x="4513" y="2523"/>
              <a:chExt cx="544" cy="1416"/>
            </a:xfrm>
          </p:grpSpPr>
          <p:sp>
            <p:nvSpPr>
              <p:cNvPr id="38929" name="Rectangle 23"/>
              <p:cNvSpPr/>
              <p:nvPr/>
            </p:nvSpPr>
            <p:spPr>
              <a:xfrm>
                <a:off x="4513" y="2523"/>
                <a:ext cx="544" cy="327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9966F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anchor="ctr" anchorCtr="0">
                <a:spAutoFit/>
              </a:bodyPr>
              <a:p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chemeClr val="tx1"/>
                    </a:solidFill>
                    <a:latin typeface="楷体_GB2312" pitchFamily="49" charset="-122"/>
                  </a:rPr>
                  <a:t>相</a:t>
                </a:r>
                <a:endParaRPr lang="zh-CN" altLang="en-US" dirty="0">
                  <a:solidFill>
                    <a:schemeClr val="tx1"/>
                  </a:solidFill>
                  <a:latin typeface="楷体_GB2312" pitchFamily="49" charset="-122"/>
                </a:endParaRPr>
              </a:p>
            </p:txBody>
          </p:sp>
          <p:sp>
            <p:nvSpPr>
              <p:cNvPr id="38930" name="Rectangle 24"/>
              <p:cNvSpPr/>
              <p:nvPr/>
            </p:nvSpPr>
            <p:spPr>
              <a:xfrm>
                <a:off x="4513" y="3067"/>
                <a:ext cx="544" cy="327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9966F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anchor="ctr" anchorCtr="0">
                <a:spAutoFit/>
              </a:bodyPr>
              <a:p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zh-CN" altLang="en-US" dirty="0">
                    <a:solidFill>
                      <a:schemeClr val="tx1"/>
                    </a:solidFill>
                    <a:latin typeface="楷体_GB2312" pitchFamily="49" charset="-122"/>
                  </a:rPr>
                  <a:t>相</a:t>
                </a:r>
                <a:endParaRPr lang="zh-CN" altLang="en-US" dirty="0">
                  <a:solidFill>
                    <a:schemeClr val="tx1"/>
                  </a:solidFill>
                  <a:latin typeface="楷体_GB2312" pitchFamily="49" charset="-122"/>
                </a:endParaRPr>
              </a:p>
            </p:txBody>
          </p:sp>
          <p:sp>
            <p:nvSpPr>
              <p:cNvPr id="38931" name="Rectangle 25"/>
              <p:cNvSpPr/>
              <p:nvPr/>
            </p:nvSpPr>
            <p:spPr>
              <a:xfrm>
                <a:off x="4513" y="3612"/>
                <a:ext cx="544" cy="327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9966F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anchor="ctr" anchorCtr="0">
                <a:spAutoFit/>
              </a:bodyPr>
              <a:p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zh-CN" altLang="en-US" dirty="0">
                    <a:solidFill>
                      <a:schemeClr val="tx1"/>
                    </a:solidFill>
                    <a:latin typeface="楷体_GB2312" pitchFamily="49" charset="-122"/>
                  </a:rPr>
                  <a:t>相</a:t>
                </a:r>
                <a:endParaRPr lang="zh-CN" altLang="en-US" dirty="0">
                  <a:solidFill>
                    <a:schemeClr val="tx1"/>
                  </a:solidFill>
                  <a:latin typeface="楷体_GB2312" pitchFamily="49" charset="-122"/>
                </a:endParaRPr>
              </a:p>
            </p:txBody>
          </p:sp>
        </p:grpSp>
        <p:graphicFrame>
          <p:nvGraphicFramePr>
            <p:cNvPr id="38914" name="Object 37"/>
            <p:cNvGraphicFramePr/>
            <p:nvPr/>
          </p:nvGraphicFramePr>
          <p:xfrm>
            <a:off x="1990" y="1535"/>
            <a:ext cx="293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7" name="" r:id="rId3" imgW="190500" imgH="228600" progId="Equation.3">
                    <p:embed/>
                  </p:oleObj>
                </mc:Choice>
                <mc:Fallback>
                  <p:oleObj name="" r:id="rId3" imgW="190500" imgH="2286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90" y="1535"/>
                          <a:ext cx="293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8" name="AutoShape 43"/>
            <p:cNvSpPr/>
            <p:nvPr/>
          </p:nvSpPr>
          <p:spPr>
            <a:xfrm>
              <a:off x="1746" y="1570"/>
              <a:ext cx="91" cy="1406"/>
            </a:xfrm>
            <a:prstGeom prst="leftBrace">
              <a:avLst>
                <a:gd name="adj1" fmla="val 128754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38915" name="Object 60"/>
            <p:cNvGraphicFramePr/>
            <p:nvPr/>
          </p:nvGraphicFramePr>
          <p:xfrm>
            <a:off x="1973" y="1842"/>
            <a:ext cx="1497" cy="6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4" name="" r:id="rId5" imgW="1040765" imgH="457200" progId="Equation.3">
                    <p:embed/>
                  </p:oleObj>
                </mc:Choice>
                <mc:Fallback>
                  <p:oleObj name="" r:id="rId5" imgW="1040765" imgH="457200" progId="Equation.3">
                    <p:embed/>
                    <p:pic>
                      <p:nvPicPr>
                        <p:cNvPr id="0" name="图片 327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73" y="1842"/>
                          <a:ext cx="1497" cy="6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6" name="Object 61"/>
            <p:cNvGraphicFramePr/>
            <p:nvPr/>
          </p:nvGraphicFramePr>
          <p:xfrm>
            <a:off x="1973" y="2432"/>
            <a:ext cx="1497" cy="6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5" name="" r:id="rId7" imgW="1040765" imgH="457200" progId="Equation.3">
                    <p:embed/>
                  </p:oleObj>
                </mc:Choice>
                <mc:Fallback>
                  <p:oleObj name="" r:id="rId7" imgW="1040765" imgH="457200" progId="Equation.3">
                    <p:embed/>
                    <p:pic>
                      <p:nvPicPr>
                        <p:cNvPr id="0" name="图片 3274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73" y="2432"/>
                          <a:ext cx="1497" cy="6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6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6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/>
      <p:bldP spid="62500" grpId="0"/>
      <p:bldP spid="62510" grpId="0" animBg="1"/>
      <p:bldP spid="625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44" name="Rectangle 9"/>
          <p:cNvSpPr/>
          <p:nvPr/>
        </p:nvSpPr>
        <p:spPr>
          <a:xfrm>
            <a:off x="0" y="2674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3501" name="Rectangle 13"/>
          <p:cNvSpPr/>
          <p:nvPr/>
        </p:nvSpPr>
        <p:spPr>
          <a:xfrm>
            <a:off x="539750" y="404813"/>
            <a:ext cx="322103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楷体_GB2312" pitchFamily="49" charset="-122"/>
              </a:rPr>
              <a:t>各相的初相分别为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3513" name="AutoShape 25"/>
          <p:cNvSpPr/>
          <p:nvPr/>
        </p:nvSpPr>
        <p:spPr>
          <a:xfrm>
            <a:off x="6156325" y="1052513"/>
            <a:ext cx="1944688" cy="1008062"/>
          </a:xfrm>
          <a:prstGeom prst="wedgeRoundRectCallout">
            <a:avLst>
              <a:gd name="adj1" fmla="val -93838"/>
              <a:gd name="adj2" fmla="val 98819"/>
              <a:gd name="adj3" fmla="val 16667"/>
            </a:avLst>
          </a:prstGeom>
          <a:solidFill>
            <a:srgbClr val="FFCCFF"/>
          </a:solid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零序对称三相电源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63514" name="Text Box 26"/>
          <p:cNvSpPr txBox="1"/>
          <p:nvPr/>
        </p:nvSpPr>
        <p:spPr>
          <a:xfrm>
            <a:off x="539750" y="2997200"/>
            <a:ext cx="7920038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</a:rPr>
              <a:t>令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k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=6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+5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即：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=5,11,17,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b="0" baseline="20000" dirty="0">
                <a:solidFill>
                  <a:schemeClr val="bg1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4000" baseline="20000" dirty="0">
                <a:latin typeface="Times New Roman" panose="02020603050405020304" pitchFamily="18" charset="0"/>
              </a:rPr>
              <a:t> </a:t>
            </a:r>
            <a:endParaRPr lang="en-US" altLang="zh-CN" sz="4000" baseline="20000" dirty="0">
              <a:latin typeface="Times New Roman" panose="02020603050405020304" pitchFamily="18" charset="0"/>
            </a:endParaRPr>
          </a:p>
        </p:txBody>
      </p:sp>
      <p:sp>
        <p:nvSpPr>
          <p:cNvPr id="63533" name="Rectangle 45"/>
          <p:cNvSpPr/>
          <p:nvPr/>
        </p:nvSpPr>
        <p:spPr>
          <a:xfrm>
            <a:off x="684213" y="3573463"/>
            <a:ext cx="32210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楷体_GB2312" pitchFamily="49" charset="-122"/>
              </a:rPr>
              <a:t>各相的初相分别为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3534" name="AutoShape 46"/>
          <p:cNvSpPr/>
          <p:nvPr/>
        </p:nvSpPr>
        <p:spPr>
          <a:xfrm>
            <a:off x="6300788" y="3141663"/>
            <a:ext cx="1944687" cy="1008062"/>
          </a:xfrm>
          <a:prstGeom prst="wedgeRoundRectCallout">
            <a:avLst>
              <a:gd name="adj1" fmla="val -88366"/>
              <a:gd name="adj2" fmla="val 109843"/>
              <a:gd name="adj3" fmla="val 16667"/>
            </a:avLst>
          </a:prstGeom>
          <a:solidFill>
            <a:srgbClr val="FFCCFF"/>
          </a:solid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负序对称三相电源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grpSp>
        <p:nvGrpSpPr>
          <p:cNvPr id="39950" name="Group 4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9967" name="Picture 4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68" name="Text Box 4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9951" name="Group 5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9965" name="Picture 5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66" name="Text Box 5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9952" name="Group 56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9963" name="Picture 5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64" name="Text Box 5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68"/>
          <p:cNvGrpSpPr/>
          <p:nvPr/>
        </p:nvGrpSpPr>
        <p:grpSpPr>
          <a:xfrm>
            <a:off x="1187450" y="903288"/>
            <a:ext cx="3849688" cy="1965325"/>
            <a:chOff x="748" y="569"/>
            <a:chExt cx="2425" cy="1238"/>
          </a:xfrm>
        </p:grpSpPr>
        <p:sp>
          <p:nvSpPr>
            <p:cNvPr id="39959" name="Rectangle 61"/>
            <p:cNvSpPr/>
            <p:nvPr/>
          </p:nvSpPr>
          <p:spPr>
            <a:xfrm>
              <a:off x="748" y="572"/>
              <a:ext cx="526" cy="327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FF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p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相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  <p:sp>
          <p:nvSpPr>
            <p:cNvPr id="39960" name="Rectangle 62"/>
            <p:cNvSpPr/>
            <p:nvPr/>
          </p:nvSpPr>
          <p:spPr>
            <a:xfrm>
              <a:off x="748" y="1026"/>
              <a:ext cx="526" cy="327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FF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p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相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  <p:sp>
          <p:nvSpPr>
            <p:cNvPr id="39961" name="Rectangle 63"/>
            <p:cNvSpPr/>
            <p:nvPr/>
          </p:nvSpPr>
          <p:spPr>
            <a:xfrm>
              <a:off x="748" y="1480"/>
              <a:ext cx="526" cy="327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FF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p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相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  <p:graphicFrame>
          <p:nvGraphicFramePr>
            <p:cNvPr id="39941" name="Object 64"/>
            <p:cNvGraphicFramePr/>
            <p:nvPr/>
          </p:nvGraphicFramePr>
          <p:xfrm>
            <a:off x="1714" y="581"/>
            <a:ext cx="28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" name="" r:id="rId2" imgW="190500" imgH="228600" progId="Equation.3">
                    <p:embed/>
                  </p:oleObj>
                </mc:Choice>
                <mc:Fallback>
                  <p:oleObj name="" r:id="rId2" imgW="190500" imgH="228600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14" y="581"/>
                          <a:ext cx="284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2" name="AutoShape 65"/>
            <p:cNvSpPr/>
            <p:nvPr/>
          </p:nvSpPr>
          <p:spPr>
            <a:xfrm>
              <a:off x="1532" y="569"/>
              <a:ext cx="78" cy="1183"/>
            </a:xfrm>
            <a:prstGeom prst="leftBrace">
              <a:avLst>
                <a:gd name="adj1" fmla="val 126388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39942" name="Object 66"/>
            <p:cNvGraphicFramePr/>
            <p:nvPr/>
          </p:nvGraphicFramePr>
          <p:xfrm>
            <a:off x="1655" y="1026"/>
            <a:ext cx="1518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9" name="" r:id="rId4" imgW="1091565" imgH="241300" progId="Equation.3">
                    <p:embed/>
                  </p:oleObj>
                </mc:Choice>
                <mc:Fallback>
                  <p:oleObj name="" r:id="rId4" imgW="1091565" imgH="241300" progId="Equation.3">
                    <p:embed/>
                    <p:pic>
                      <p:nvPicPr>
                        <p:cNvPr id="0" name="图片 3268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55" y="1026"/>
                          <a:ext cx="1518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3" name="Object 67"/>
            <p:cNvGraphicFramePr/>
            <p:nvPr/>
          </p:nvGraphicFramePr>
          <p:xfrm>
            <a:off x="1655" y="1480"/>
            <a:ext cx="151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0" name="" r:id="rId6" imgW="1091565" imgH="241300" progId="Equation.3">
                    <p:embed/>
                  </p:oleObj>
                </mc:Choice>
                <mc:Fallback>
                  <p:oleObj name="" r:id="rId6" imgW="1091565" imgH="241300" progId="Equation.3">
                    <p:embed/>
                    <p:pic>
                      <p:nvPicPr>
                        <p:cNvPr id="0" name="图片 326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55" y="1480"/>
                          <a:ext cx="1518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78"/>
          <p:cNvGrpSpPr/>
          <p:nvPr/>
        </p:nvGrpSpPr>
        <p:grpSpPr>
          <a:xfrm>
            <a:off x="1042988" y="4149725"/>
            <a:ext cx="4848225" cy="2325688"/>
            <a:chOff x="657" y="2614"/>
            <a:chExt cx="3054" cy="1465"/>
          </a:xfrm>
        </p:grpSpPr>
        <p:sp>
          <p:nvSpPr>
            <p:cNvPr id="39955" name="Rectangle 70"/>
            <p:cNvSpPr/>
            <p:nvPr/>
          </p:nvSpPr>
          <p:spPr>
            <a:xfrm>
              <a:off x="657" y="2662"/>
              <a:ext cx="526" cy="327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FF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p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相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  <p:sp>
          <p:nvSpPr>
            <p:cNvPr id="39956" name="Rectangle 71"/>
            <p:cNvSpPr/>
            <p:nvPr/>
          </p:nvSpPr>
          <p:spPr>
            <a:xfrm>
              <a:off x="657" y="3116"/>
              <a:ext cx="526" cy="327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FF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p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相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  <p:sp>
          <p:nvSpPr>
            <p:cNvPr id="39957" name="Rectangle 72"/>
            <p:cNvSpPr/>
            <p:nvPr/>
          </p:nvSpPr>
          <p:spPr>
            <a:xfrm>
              <a:off x="657" y="3570"/>
              <a:ext cx="526" cy="327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FF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p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相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  <p:graphicFrame>
          <p:nvGraphicFramePr>
            <p:cNvPr id="39938" name="Object 73"/>
            <p:cNvGraphicFramePr/>
            <p:nvPr/>
          </p:nvGraphicFramePr>
          <p:xfrm>
            <a:off x="1610" y="2614"/>
            <a:ext cx="28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" name="" r:id="rId8" imgW="190500" imgH="228600" progId="Equation.3">
                    <p:embed/>
                  </p:oleObj>
                </mc:Choice>
                <mc:Fallback>
                  <p:oleObj name="" r:id="rId8" imgW="190500" imgH="228600" progId="Equation.3">
                    <p:embed/>
                    <p:pic>
                      <p:nvPicPr>
                        <p:cNvPr id="0" name="图片 3270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10" y="2614"/>
                          <a:ext cx="284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8" name="AutoShape 74"/>
            <p:cNvSpPr/>
            <p:nvPr/>
          </p:nvSpPr>
          <p:spPr>
            <a:xfrm>
              <a:off x="1441" y="2659"/>
              <a:ext cx="78" cy="1183"/>
            </a:xfrm>
            <a:prstGeom prst="leftBrace">
              <a:avLst>
                <a:gd name="adj1" fmla="val 126388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39939" name="Object 75"/>
            <p:cNvGraphicFramePr/>
            <p:nvPr/>
          </p:nvGraphicFramePr>
          <p:xfrm>
            <a:off x="1610" y="2886"/>
            <a:ext cx="2101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3" name="" r:id="rId9" imgW="1511300" imgH="457200" progId="Equation.3">
                    <p:embed/>
                  </p:oleObj>
                </mc:Choice>
                <mc:Fallback>
                  <p:oleObj name="" r:id="rId9" imgW="1511300" imgH="457200" progId="Equation.3">
                    <p:embed/>
                    <p:pic>
                      <p:nvPicPr>
                        <p:cNvPr id="0" name="图片 3272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10" y="2886"/>
                          <a:ext cx="2101" cy="6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0" name="Object 77"/>
            <p:cNvGraphicFramePr/>
            <p:nvPr/>
          </p:nvGraphicFramePr>
          <p:xfrm>
            <a:off x="1610" y="3475"/>
            <a:ext cx="2101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2" name="" r:id="rId11" imgW="1511300" imgH="457200" progId="Equation.3">
                    <p:embed/>
                  </p:oleObj>
                </mc:Choice>
                <mc:Fallback>
                  <p:oleObj name="" r:id="rId11" imgW="1511300" imgH="457200" progId="Equation.3">
                    <p:embed/>
                    <p:pic>
                      <p:nvPicPr>
                        <p:cNvPr id="0" name="图片 3271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10" y="3475"/>
                          <a:ext cx="2101" cy="6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6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6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1" grpId="0"/>
      <p:bldP spid="63513" grpId="0" animBg="1"/>
      <p:bldP spid="63514" grpId="0"/>
      <p:bldP spid="63533" grpId="0"/>
      <p:bldP spid="6353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9"/>
          <p:cNvSpPr/>
          <p:nvPr/>
        </p:nvSpPr>
        <p:spPr>
          <a:xfrm>
            <a:off x="0" y="2674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468313" y="404813"/>
            <a:ext cx="1644650" cy="850900"/>
            <a:chOff x="385" y="3022"/>
            <a:chExt cx="1036" cy="536"/>
          </a:xfrm>
        </p:grpSpPr>
        <p:pic>
          <p:nvPicPr>
            <p:cNvPr id="64529" name="Picture 11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30" name="Text Box 12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65549" name="Rectangle 13"/>
          <p:cNvSpPr/>
          <p:nvPr/>
        </p:nvSpPr>
        <p:spPr>
          <a:xfrm>
            <a:off x="684213" y="1125538"/>
            <a:ext cx="7991475" cy="16303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三相对称的非正弦周期量（奇谐波）可分解为</a:t>
            </a:r>
            <a:r>
              <a:rPr lang="en-US" altLang="zh-CN" dirty="0">
                <a:latin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</a:rPr>
              <a:t>类对称组，即正序对称组、负序对称组和零序对称组。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5563" name="Rectangle 27"/>
          <p:cNvSpPr/>
          <p:nvPr/>
        </p:nvSpPr>
        <p:spPr>
          <a:xfrm>
            <a:off x="611188" y="2636838"/>
            <a:ext cx="82804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在上述对称的非正弦周期电压源作用下的对称三相电路的分析计算，按</a:t>
            </a:r>
            <a:r>
              <a:rPr lang="en-US" altLang="zh-CN" dirty="0">
                <a:latin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</a:rPr>
              <a:t>类对称组分别进行。对于正序和负序对称组，可直接引用第十二章的方法和有关结论。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5564" name="Rectangle 28"/>
          <p:cNvSpPr/>
          <p:nvPr/>
        </p:nvSpPr>
        <p:spPr>
          <a:xfrm>
            <a:off x="250825" y="4868863"/>
            <a:ext cx="5580063" cy="5794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 eaLnBrk="0" hangingPunct="0"/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  2.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零序组分量的响应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65565" name="Rectangle 29"/>
          <p:cNvSpPr/>
          <p:nvPr/>
        </p:nvSpPr>
        <p:spPr>
          <a:xfrm>
            <a:off x="755650" y="5516563"/>
            <a:ext cx="5580063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 marL="342900" indent="-342900" eaLnBrk="0" hangingPunct="0">
              <a:buAutoNum type="circleNumDbPlain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</a:rPr>
              <a:t>对称的三角形电源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</a:endParaRPr>
          </a:p>
        </p:txBody>
      </p:sp>
      <p:grpSp>
        <p:nvGrpSpPr>
          <p:cNvPr id="64520" name="Group 3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4527" name="Picture 3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28" name="Text Box 3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4521" name="Group 3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4525" name="Picture 3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26" name="Text Box 3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4522" name="Group 3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4523" name="Picture 40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24" name="Text Box 4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9" grpId="0"/>
      <p:bldP spid="65563" grpId="0"/>
      <p:bldP spid="65564" grpId="0"/>
      <p:bldP spid="6556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5" name="Rectangle 8"/>
          <p:cNvSpPr/>
          <p:nvPr/>
        </p:nvSpPr>
        <p:spPr>
          <a:xfrm>
            <a:off x="0" y="2674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6573" name="Rectangle 13"/>
          <p:cNvSpPr/>
          <p:nvPr/>
        </p:nvSpPr>
        <p:spPr>
          <a:xfrm>
            <a:off x="611188" y="476250"/>
            <a:ext cx="5616575" cy="6048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零序组电压源是等幅同相的电源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6576" name="Rectangle 16"/>
          <p:cNvSpPr/>
          <p:nvPr/>
        </p:nvSpPr>
        <p:spPr>
          <a:xfrm>
            <a:off x="468313" y="1773238"/>
            <a:ext cx="8243887" cy="6048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在三角形电源的回路中将产生零序环流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40968" name="Rectangle 1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40969" name="Rectangle 20"/>
          <p:cNvSpPr/>
          <p:nvPr/>
        </p:nvSpPr>
        <p:spPr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40970" name="Rectangle 2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539750" y="4149725"/>
            <a:ext cx="1644650" cy="850900"/>
            <a:chOff x="385" y="3022"/>
            <a:chExt cx="1036" cy="536"/>
          </a:xfrm>
        </p:grpSpPr>
        <p:pic>
          <p:nvPicPr>
            <p:cNvPr id="40986" name="Picture 26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87" name="Text Box 27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66588" name="Rectangle 28"/>
          <p:cNvSpPr/>
          <p:nvPr/>
        </p:nvSpPr>
        <p:spPr>
          <a:xfrm>
            <a:off x="2124075" y="5013325"/>
            <a:ext cx="6335713" cy="1373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整个系统中除电源中有零序组环流外，其余部分的电压、电流中将不含零序组分量。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6589" name="Rectangle 29"/>
          <p:cNvSpPr/>
          <p:nvPr/>
        </p:nvSpPr>
        <p:spPr>
          <a:xfrm>
            <a:off x="2124075" y="4365625"/>
            <a:ext cx="60785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marL="342900" indent="-342900"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在环流的作用下零序线电压为零。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6590" name="AutoShape 30"/>
          <p:cNvSpPr/>
          <p:nvPr/>
        </p:nvSpPr>
        <p:spPr>
          <a:xfrm>
            <a:off x="7165975" y="2276475"/>
            <a:ext cx="1727200" cy="574675"/>
          </a:xfrm>
          <a:prstGeom prst="wedgeRoundRectCallout">
            <a:avLst>
              <a:gd name="adj1" fmla="val -41546"/>
              <a:gd name="adj2" fmla="val 189778"/>
              <a:gd name="adj3" fmla="val 16667"/>
            </a:avLst>
          </a:prstGeom>
          <a:solidFill>
            <a:srgbClr val="FFCCFF"/>
          </a:solid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电源内阻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grpSp>
        <p:nvGrpSpPr>
          <p:cNvPr id="40975" name="Group 3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0984" name="Picture 32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85" name="Text Box 3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0976" name="Group 3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0982" name="Picture 3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83" name="Text Box 3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0977" name="Group 40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0980" name="Picture 4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81" name="Text Box 4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66604" name="Object 44"/>
          <p:cNvGraphicFramePr/>
          <p:nvPr/>
        </p:nvGraphicFramePr>
        <p:xfrm>
          <a:off x="1619250" y="1125538"/>
          <a:ext cx="431958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" r:id="rId3" imgW="1828800" imgH="279400" progId="Equation.3">
                  <p:embed/>
                </p:oleObj>
              </mc:Choice>
              <mc:Fallback>
                <p:oleObj name="" r:id="rId3" imgW="1828800" imgH="279400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1125538"/>
                        <a:ext cx="4319588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08" name="Object 48"/>
          <p:cNvGraphicFramePr/>
          <p:nvPr/>
        </p:nvGraphicFramePr>
        <p:xfrm>
          <a:off x="971550" y="2420938"/>
          <a:ext cx="4968875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" r:id="rId5" imgW="2349500" imgH="508000" progId="Equation.3">
                  <p:embed/>
                </p:oleObj>
              </mc:Choice>
              <mc:Fallback>
                <p:oleObj name="" r:id="rId5" imgW="2349500" imgH="508000" progId="Equation.3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2420938"/>
                        <a:ext cx="4968875" cy="1090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0"/>
          <p:cNvGrpSpPr/>
          <p:nvPr/>
        </p:nvGrpSpPr>
        <p:grpSpPr>
          <a:xfrm>
            <a:off x="395288" y="3500438"/>
            <a:ext cx="8177212" cy="742950"/>
            <a:chOff x="249" y="2205"/>
            <a:chExt cx="5151" cy="468"/>
          </a:xfrm>
        </p:grpSpPr>
        <p:sp>
          <p:nvSpPr>
            <p:cNvPr id="40979" name="Rectangle 23"/>
            <p:cNvSpPr/>
            <p:nvPr/>
          </p:nvSpPr>
          <p:spPr>
            <a:xfrm>
              <a:off x="249" y="2205"/>
              <a:ext cx="952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marL="342900" indent="-342900">
                <a:lnSpc>
                  <a:spcPct val="120000"/>
                </a:lnSpc>
              </a:pPr>
              <a:r>
                <a:rPr lang="zh-CN" altLang="en-US" dirty="0">
                  <a:latin typeface="楷体_GB2312" pitchFamily="49" charset="-122"/>
                </a:rPr>
                <a:t>线电压 </a:t>
              </a:r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40964" name="Object 49"/>
            <p:cNvGraphicFramePr/>
            <p:nvPr/>
          </p:nvGraphicFramePr>
          <p:xfrm>
            <a:off x="1111" y="2251"/>
            <a:ext cx="4289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" name="" r:id="rId7" imgW="2882900" imgH="279400" progId="Equation.3">
                    <p:embed/>
                  </p:oleObj>
                </mc:Choice>
                <mc:Fallback>
                  <p:oleObj name="" r:id="rId7" imgW="2882900" imgH="279400" progId="Equation.3">
                    <p:embed/>
                    <p:pic>
                      <p:nvPicPr>
                        <p:cNvPr id="0" name="图片 3276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11" y="2251"/>
                          <a:ext cx="4289" cy="4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66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6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3" grpId="0"/>
      <p:bldP spid="66576" grpId="0"/>
      <p:bldP spid="66588" grpId="0"/>
      <p:bldP spid="66589" grpId="0"/>
      <p:bldP spid="6659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96" name="Rectangle 8"/>
          <p:cNvSpPr/>
          <p:nvPr/>
        </p:nvSpPr>
        <p:spPr>
          <a:xfrm>
            <a:off x="0" y="2674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7599" name="Rectangle 15"/>
          <p:cNvSpPr/>
          <p:nvPr/>
        </p:nvSpPr>
        <p:spPr>
          <a:xfrm>
            <a:off x="468313" y="476250"/>
            <a:ext cx="65532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 marL="342900" indent="-342900" eaLnBrk="0" hangingPunct="0">
              <a:buAutoNum type="circleNumDbPlain" startAt="2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</a:rPr>
              <a:t>星形对称电源（无中性线对称系统） 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</a:endParaRPr>
          </a:p>
        </p:txBody>
      </p:sp>
      <p:grpSp>
        <p:nvGrpSpPr>
          <p:cNvPr id="2" name="Group 82"/>
          <p:cNvGrpSpPr/>
          <p:nvPr/>
        </p:nvGrpSpPr>
        <p:grpSpPr>
          <a:xfrm>
            <a:off x="395288" y="1063625"/>
            <a:ext cx="4427537" cy="3387725"/>
            <a:chOff x="249" y="670"/>
            <a:chExt cx="2789" cy="2134"/>
          </a:xfrm>
        </p:grpSpPr>
        <p:sp>
          <p:nvSpPr>
            <p:cNvPr id="42012" name="Text Box 17"/>
            <p:cNvSpPr txBox="1"/>
            <p:nvPr/>
          </p:nvSpPr>
          <p:spPr>
            <a:xfrm>
              <a:off x="1973" y="869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13" name="Line 18"/>
            <p:cNvSpPr/>
            <p:nvPr/>
          </p:nvSpPr>
          <p:spPr>
            <a:xfrm>
              <a:off x="2518" y="1208"/>
              <a:ext cx="0" cy="13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4" name="Text Box 20"/>
            <p:cNvSpPr txBox="1"/>
            <p:nvPr/>
          </p:nvSpPr>
          <p:spPr>
            <a:xfrm>
              <a:off x="2018" y="1550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15" name="Text Box 21"/>
            <p:cNvSpPr txBox="1"/>
            <p:nvPr/>
          </p:nvSpPr>
          <p:spPr>
            <a:xfrm>
              <a:off x="2018" y="2185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16" name="Text Box 22"/>
            <p:cNvSpPr txBox="1"/>
            <p:nvPr/>
          </p:nvSpPr>
          <p:spPr>
            <a:xfrm>
              <a:off x="2517" y="1752"/>
              <a:ext cx="5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N'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17" name="Oval 23"/>
            <p:cNvSpPr/>
            <p:nvPr/>
          </p:nvSpPr>
          <p:spPr>
            <a:xfrm>
              <a:off x="794" y="10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2018" name="Oval 24"/>
            <p:cNvSpPr/>
            <p:nvPr/>
          </p:nvSpPr>
          <p:spPr>
            <a:xfrm>
              <a:off x="749" y="170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2019" name="Oval 25"/>
            <p:cNvSpPr/>
            <p:nvPr/>
          </p:nvSpPr>
          <p:spPr>
            <a:xfrm>
              <a:off x="749" y="234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2020" name="Line 26"/>
            <p:cNvSpPr/>
            <p:nvPr/>
          </p:nvSpPr>
          <p:spPr>
            <a:xfrm rot="5400000" flipH="1">
              <a:off x="1542" y="232"/>
              <a:ext cx="0" cy="19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1" name="Text Box 27"/>
            <p:cNvSpPr txBox="1"/>
            <p:nvPr/>
          </p:nvSpPr>
          <p:spPr>
            <a:xfrm rot="5400000">
              <a:off x="1234" y="891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2" name="Text Box 28"/>
            <p:cNvSpPr txBox="1"/>
            <p:nvPr/>
          </p:nvSpPr>
          <p:spPr>
            <a:xfrm>
              <a:off x="567" y="879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3" name="Text Box 29"/>
            <p:cNvSpPr txBox="1"/>
            <p:nvPr/>
          </p:nvSpPr>
          <p:spPr>
            <a:xfrm>
              <a:off x="1383" y="1162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4" name="Text Box 30"/>
            <p:cNvSpPr txBox="1"/>
            <p:nvPr/>
          </p:nvSpPr>
          <p:spPr>
            <a:xfrm>
              <a:off x="249" y="1752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5" name="Line 31"/>
            <p:cNvSpPr/>
            <p:nvPr/>
          </p:nvSpPr>
          <p:spPr>
            <a:xfrm rot="5400000" flipH="1">
              <a:off x="1542" y="912"/>
              <a:ext cx="0" cy="19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2026" name="Text Box 32"/>
            <p:cNvSpPr txBox="1"/>
            <p:nvPr/>
          </p:nvSpPr>
          <p:spPr>
            <a:xfrm rot="5400000">
              <a:off x="1189" y="1572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7" name="Text Box 33"/>
            <p:cNvSpPr txBox="1"/>
            <p:nvPr/>
          </p:nvSpPr>
          <p:spPr>
            <a:xfrm>
              <a:off x="567" y="1559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8" name="Text Box 34"/>
            <p:cNvSpPr txBox="1"/>
            <p:nvPr/>
          </p:nvSpPr>
          <p:spPr>
            <a:xfrm>
              <a:off x="1428" y="1842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9" name="Line 35"/>
            <p:cNvSpPr/>
            <p:nvPr/>
          </p:nvSpPr>
          <p:spPr>
            <a:xfrm rot="5400000" flipH="1">
              <a:off x="1542" y="1547"/>
              <a:ext cx="0" cy="19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0" name="Text Box 36"/>
            <p:cNvSpPr txBox="1"/>
            <p:nvPr/>
          </p:nvSpPr>
          <p:spPr>
            <a:xfrm rot="5400000">
              <a:off x="1189" y="2207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1" name="Text Box 37"/>
            <p:cNvSpPr txBox="1"/>
            <p:nvPr/>
          </p:nvSpPr>
          <p:spPr>
            <a:xfrm>
              <a:off x="567" y="2239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2" name="Text Box 38"/>
            <p:cNvSpPr txBox="1"/>
            <p:nvPr/>
          </p:nvSpPr>
          <p:spPr>
            <a:xfrm>
              <a:off x="1383" y="2477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3" name="Line 39"/>
            <p:cNvSpPr/>
            <p:nvPr/>
          </p:nvSpPr>
          <p:spPr>
            <a:xfrm>
              <a:off x="567" y="1208"/>
              <a:ext cx="0" cy="13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1990" name="Object 41"/>
            <p:cNvGraphicFramePr/>
            <p:nvPr/>
          </p:nvGraphicFramePr>
          <p:xfrm>
            <a:off x="744" y="670"/>
            <a:ext cx="474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" name="" r:id="rId1" imgW="380365" imgH="304800" progId="Equation.3">
                    <p:embed/>
                  </p:oleObj>
                </mc:Choice>
                <mc:Fallback>
                  <p:oleObj name="" r:id="rId1" imgW="380365" imgH="304800" progId="Equation.3">
                    <p:embed/>
                    <p:pic>
                      <p:nvPicPr>
                        <p:cNvPr id="0" name="图片 3286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4" y="670"/>
                          <a:ext cx="474" cy="3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1" name="Object 42"/>
            <p:cNvGraphicFramePr/>
            <p:nvPr/>
          </p:nvGraphicFramePr>
          <p:xfrm>
            <a:off x="740" y="1306"/>
            <a:ext cx="460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" name="" r:id="rId3" imgW="367665" imgH="304800" progId="Equation.3">
                    <p:embed/>
                  </p:oleObj>
                </mc:Choice>
                <mc:Fallback>
                  <p:oleObj name="" r:id="rId3" imgW="367665" imgH="304800" progId="Equation.3">
                    <p:embed/>
                    <p:pic>
                      <p:nvPicPr>
                        <p:cNvPr id="0" name="图片 328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0" y="1306"/>
                          <a:ext cx="460" cy="3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2" name="Object 43"/>
            <p:cNvGraphicFramePr/>
            <p:nvPr/>
          </p:nvGraphicFramePr>
          <p:xfrm>
            <a:off x="740" y="1975"/>
            <a:ext cx="45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" name="" r:id="rId5" imgW="367665" imgH="304800" progId="Equation.3">
                    <p:embed/>
                  </p:oleObj>
                </mc:Choice>
                <mc:Fallback>
                  <p:oleObj name="" r:id="rId5" imgW="367665" imgH="304800" progId="Equation.3">
                    <p:embed/>
                    <p:pic>
                      <p:nvPicPr>
                        <p:cNvPr id="0" name="图片 328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0" y="1975"/>
                          <a:ext cx="459" cy="3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4" name="Rectangle 44"/>
            <p:cNvSpPr/>
            <p:nvPr/>
          </p:nvSpPr>
          <p:spPr>
            <a:xfrm>
              <a:off x="1973" y="24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42035" name="Rectangle 45"/>
            <p:cNvSpPr/>
            <p:nvPr/>
          </p:nvSpPr>
          <p:spPr>
            <a:xfrm>
              <a:off x="1973" y="18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42036" name="Rectangle 46"/>
            <p:cNvSpPr/>
            <p:nvPr/>
          </p:nvSpPr>
          <p:spPr>
            <a:xfrm>
              <a:off x="1928" y="116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42037" name="Line 50"/>
            <p:cNvSpPr/>
            <p:nvPr/>
          </p:nvSpPr>
          <p:spPr>
            <a:xfrm>
              <a:off x="1610" y="2523"/>
              <a:ext cx="31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38" name="Line 51"/>
            <p:cNvSpPr/>
            <p:nvPr/>
          </p:nvSpPr>
          <p:spPr>
            <a:xfrm>
              <a:off x="1565" y="1207"/>
              <a:ext cx="31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39" name="Line 52"/>
            <p:cNvSpPr/>
            <p:nvPr/>
          </p:nvSpPr>
          <p:spPr>
            <a:xfrm>
              <a:off x="1610" y="1888"/>
              <a:ext cx="31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1993" name="Object 53"/>
            <p:cNvGraphicFramePr/>
            <p:nvPr/>
          </p:nvGraphicFramePr>
          <p:xfrm>
            <a:off x="1549" y="753"/>
            <a:ext cx="469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" name="" r:id="rId7" imgW="330200" imgH="304800" progId="Equation.3">
                    <p:embed/>
                  </p:oleObj>
                </mc:Choice>
                <mc:Fallback>
                  <p:oleObj name="" r:id="rId7" imgW="330200" imgH="304800" progId="Equation.3">
                    <p:embed/>
                    <p:pic>
                      <p:nvPicPr>
                        <p:cNvPr id="0" name="图片 3284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49" y="753"/>
                          <a:ext cx="469" cy="4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4" name="Object 54"/>
            <p:cNvGraphicFramePr/>
            <p:nvPr/>
          </p:nvGraphicFramePr>
          <p:xfrm>
            <a:off x="1602" y="1469"/>
            <a:ext cx="462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2" name="" r:id="rId9" imgW="317500" imgH="304800" progId="Equation.3">
                    <p:embed/>
                  </p:oleObj>
                </mc:Choice>
                <mc:Fallback>
                  <p:oleObj name="" r:id="rId9" imgW="317500" imgH="304800" progId="Equation.3">
                    <p:embed/>
                    <p:pic>
                      <p:nvPicPr>
                        <p:cNvPr id="0" name="图片 328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02" y="1469"/>
                          <a:ext cx="462" cy="4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5" name="Object 55"/>
            <p:cNvGraphicFramePr/>
            <p:nvPr/>
          </p:nvGraphicFramePr>
          <p:xfrm>
            <a:off x="1575" y="2102"/>
            <a:ext cx="462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" name="" r:id="rId11" imgW="317500" imgH="304800" progId="Equation.3">
                    <p:embed/>
                  </p:oleObj>
                </mc:Choice>
                <mc:Fallback>
                  <p:oleObj name="" r:id="rId11" imgW="317500" imgH="304800" progId="Equation.3">
                    <p:embed/>
                    <p:pic>
                      <p:nvPicPr>
                        <p:cNvPr id="0" name="图片 3287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75" y="2102"/>
                          <a:ext cx="462" cy="4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7641" name="Object 57"/>
          <p:cNvGraphicFramePr/>
          <p:nvPr/>
        </p:nvGraphicFramePr>
        <p:xfrm>
          <a:off x="4716463" y="3429000"/>
          <a:ext cx="28797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13" imgW="1167765" imgH="254000" progId="Equation.3">
                  <p:embed/>
                </p:oleObj>
              </mc:Choice>
              <mc:Fallback>
                <p:oleObj name="" r:id="rId13" imgW="1167765" imgH="254000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16463" y="3429000"/>
                        <a:ext cx="2879725" cy="63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5"/>
          <p:cNvGrpSpPr/>
          <p:nvPr/>
        </p:nvGrpSpPr>
        <p:grpSpPr>
          <a:xfrm>
            <a:off x="250825" y="4365625"/>
            <a:ext cx="1644650" cy="850900"/>
            <a:chOff x="385" y="3022"/>
            <a:chExt cx="1036" cy="536"/>
          </a:xfrm>
        </p:grpSpPr>
        <p:pic>
          <p:nvPicPr>
            <p:cNvPr id="42010" name="Picture 66" descr="123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11" name="Text Box 67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67653" name="Rectangle 69"/>
          <p:cNvSpPr/>
          <p:nvPr/>
        </p:nvSpPr>
        <p:spPr>
          <a:xfrm>
            <a:off x="755650" y="4437063"/>
            <a:ext cx="7777163" cy="16303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</a:rPr>
              <a:t>        </a:t>
            </a:r>
            <a:r>
              <a:rPr lang="zh-CN" altLang="en-US" dirty="0">
                <a:latin typeface="楷体_GB2312" pitchFamily="49" charset="-122"/>
              </a:rPr>
              <a:t>除了中点电压和电源相电压中含有零序组电压分量外，系统的其余部分的电压、电流都不含零序组分量。 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42001" name="Group 7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2008" name="Picture 71" descr="7890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09" name="Text Box 7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2002" name="Group 7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2006" name="Picture 74" descr="7890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07" name="Text Box 7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2003" name="Group 7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2004" name="Picture 80" descr="7890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05" name="Text Box 8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67667" name="Object 83"/>
          <p:cNvGraphicFramePr/>
          <p:nvPr/>
        </p:nvGraphicFramePr>
        <p:xfrm>
          <a:off x="4500563" y="1052513"/>
          <a:ext cx="41783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" r:id="rId17" imgW="1892300" imgH="279400" progId="Equation.3">
                  <p:embed/>
                </p:oleObj>
              </mc:Choice>
              <mc:Fallback>
                <p:oleObj name="" r:id="rId17" imgW="1892300" imgH="279400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00563" y="1052513"/>
                        <a:ext cx="4178300" cy="627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68" name="Object 84"/>
          <p:cNvGraphicFramePr/>
          <p:nvPr/>
        </p:nvGraphicFramePr>
        <p:xfrm>
          <a:off x="4427538" y="1700213"/>
          <a:ext cx="43926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" r:id="rId19" imgW="2438400" imgH="469900" progId="Equation.3">
                  <p:embed/>
                </p:oleObj>
              </mc:Choice>
              <mc:Fallback>
                <p:oleObj name="" r:id="rId19" imgW="2438400" imgH="469900" progId="Equation.3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1700213"/>
                        <a:ext cx="4392612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70" name="Object 86"/>
          <p:cNvGraphicFramePr/>
          <p:nvPr/>
        </p:nvGraphicFramePr>
        <p:xfrm>
          <a:off x="4643438" y="2636838"/>
          <a:ext cx="38163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" r:id="rId21" imgW="1689100" imgH="279400" progId="Equation.3">
                  <p:embed/>
                </p:oleObj>
              </mc:Choice>
              <mc:Fallback>
                <p:oleObj name="" r:id="rId21" imgW="1689100" imgH="279400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3438" y="2636838"/>
                        <a:ext cx="3816350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9" grpId="0"/>
      <p:bldP spid="6765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7" name="Rectangle 9"/>
          <p:cNvSpPr/>
          <p:nvPr/>
        </p:nvSpPr>
        <p:spPr>
          <a:xfrm>
            <a:off x="468313" y="476250"/>
            <a:ext cx="4967287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 marL="342900" indent="-342900" eaLnBrk="0" hangingPunct="0">
              <a:buAutoNum type="circleNumDbPlain" startAt="3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</a:rPr>
              <a:t>三相四线制对称系统 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</a:endParaRPr>
          </a:p>
        </p:txBody>
      </p:sp>
      <p:sp>
        <p:nvSpPr>
          <p:cNvPr id="43023" name="Rectangle 49"/>
          <p:cNvSpPr/>
          <p:nvPr/>
        </p:nvSpPr>
        <p:spPr>
          <a:xfrm>
            <a:off x="0" y="2719388"/>
            <a:ext cx="29273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sz="1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	</a:t>
            </a:r>
            <a:endParaRPr lang="en-US" altLang="zh-CN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8677" name="Object 69"/>
          <p:cNvGraphicFramePr/>
          <p:nvPr/>
        </p:nvGraphicFramePr>
        <p:xfrm>
          <a:off x="539750" y="3933825"/>
          <a:ext cx="5256213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1" imgW="2005965" imgH="254000" progId="Equation.3">
                  <p:embed/>
                </p:oleObj>
              </mc:Choice>
              <mc:Fallback>
                <p:oleObj name="" r:id="rId1" imgW="2005965" imgH="254000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3933825"/>
                        <a:ext cx="5256213" cy="706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75" name="Object 67"/>
          <p:cNvGraphicFramePr/>
          <p:nvPr/>
        </p:nvGraphicFramePr>
        <p:xfrm>
          <a:off x="684213" y="3068638"/>
          <a:ext cx="230346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" name="" r:id="rId3" imgW="825500" imgH="254000" progId="Equation.3">
                  <p:embed/>
                </p:oleObj>
              </mc:Choice>
              <mc:Fallback>
                <p:oleObj name="" r:id="rId3" imgW="825500" imgH="254000" progId="Equation.3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3068638"/>
                        <a:ext cx="2303462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74" name="Object 66"/>
          <p:cNvGraphicFramePr/>
          <p:nvPr/>
        </p:nvGraphicFramePr>
        <p:xfrm>
          <a:off x="539750" y="4724400"/>
          <a:ext cx="4176713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" name="" r:id="rId5" imgW="1688465" imgH="254000" progId="Equation.3">
                  <p:embed/>
                </p:oleObj>
              </mc:Choice>
              <mc:Fallback>
                <p:oleObj name="" r:id="rId5" imgW="1688465" imgH="254000" progId="Equation.3">
                  <p:embed/>
                  <p:pic>
                    <p:nvPicPr>
                      <p:cNvPr id="0" name="图片 329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724400"/>
                        <a:ext cx="4176713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6"/>
          <p:cNvGrpSpPr/>
          <p:nvPr/>
        </p:nvGrpSpPr>
        <p:grpSpPr>
          <a:xfrm>
            <a:off x="323850" y="5229225"/>
            <a:ext cx="1644650" cy="850900"/>
            <a:chOff x="385" y="3022"/>
            <a:chExt cx="1036" cy="536"/>
          </a:xfrm>
        </p:grpSpPr>
        <p:pic>
          <p:nvPicPr>
            <p:cNvPr id="43073" name="Picture 77" descr="1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74" name="Text Box 7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68687" name="Rectangle 79"/>
          <p:cNvSpPr/>
          <p:nvPr/>
        </p:nvSpPr>
        <p:spPr>
          <a:xfrm>
            <a:off x="900113" y="5300663"/>
            <a:ext cx="7777162" cy="1117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</a:rPr>
              <a:t>      </a:t>
            </a:r>
            <a:r>
              <a:rPr lang="zh-CN" altLang="en-US" dirty="0">
                <a:latin typeface="楷体_GB2312" pitchFamily="49" charset="-122"/>
              </a:rPr>
              <a:t>除线电压外，电路中其余部分的电压、电流中都含零序组分量。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68700" name="Object 92"/>
          <p:cNvGraphicFramePr/>
          <p:nvPr/>
        </p:nvGraphicFramePr>
        <p:xfrm>
          <a:off x="539750" y="981075"/>
          <a:ext cx="403225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" name="" r:id="rId8" imgW="1968500" imgH="508000" progId="Equation.3">
                  <p:embed/>
                </p:oleObj>
              </mc:Choice>
              <mc:Fallback>
                <p:oleObj name="" r:id="rId8" imgW="1968500" imgH="508000" progId="Equation.3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981075"/>
                        <a:ext cx="4032250" cy="112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8"/>
          <p:cNvGrpSpPr/>
          <p:nvPr/>
        </p:nvGrpSpPr>
        <p:grpSpPr>
          <a:xfrm>
            <a:off x="4716463" y="333375"/>
            <a:ext cx="4427537" cy="4119563"/>
            <a:chOff x="2971" y="210"/>
            <a:chExt cx="2789" cy="2595"/>
          </a:xfrm>
        </p:grpSpPr>
        <p:sp>
          <p:nvSpPr>
            <p:cNvPr id="43036" name="Text Box 23"/>
            <p:cNvSpPr txBox="1"/>
            <p:nvPr/>
          </p:nvSpPr>
          <p:spPr>
            <a:xfrm>
              <a:off x="2971" y="1072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7" name="Text Box 31"/>
            <p:cNvSpPr txBox="1"/>
            <p:nvPr/>
          </p:nvSpPr>
          <p:spPr>
            <a:xfrm>
              <a:off x="4105" y="2024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8" name="Line 56"/>
            <p:cNvSpPr/>
            <p:nvPr/>
          </p:nvSpPr>
          <p:spPr>
            <a:xfrm>
              <a:off x="2971" y="1435"/>
              <a:ext cx="3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9" name="Line 57"/>
            <p:cNvSpPr/>
            <p:nvPr/>
          </p:nvSpPr>
          <p:spPr>
            <a:xfrm>
              <a:off x="5239" y="1435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0" name="Line 58"/>
            <p:cNvSpPr/>
            <p:nvPr/>
          </p:nvSpPr>
          <p:spPr>
            <a:xfrm>
              <a:off x="2971" y="2433"/>
              <a:ext cx="263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1" name="Line 59"/>
            <p:cNvSpPr/>
            <p:nvPr/>
          </p:nvSpPr>
          <p:spPr>
            <a:xfrm>
              <a:off x="2971" y="1435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2" name="Line 60"/>
            <p:cNvSpPr/>
            <p:nvPr/>
          </p:nvSpPr>
          <p:spPr>
            <a:xfrm>
              <a:off x="5601" y="1435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3" name="Rectangle 61"/>
            <p:cNvSpPr/>
            <p:nvPr/>
          </p:nvSpPr>
          <p:spPr>
            <a:xfrm>
              <a:off x="4286" y="236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graphicFrame>
          <p:nvGraphicFramePr>
            <p:cNvPr id="43015" name="Object 62"/>
            <p:cNvGraphicFramePr/>
            <p:nvPr/>
          </p:nvGraphicFramePr>
          <p:xfrm>
            <a:off x="5219" y="2077"/>
            <a:ext cx="236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9" name="" r:id="rId10" imgW="190500" imgH="304800" progId="Equation.3">
                    <p:embed/>
                  </p:oleObj>
                </mc:Choice>
                <mc:Fallback>
                  <p:oleObj name="" r:id="rId10" imgW="190500" imgH="304800" progId="Equation.3">
                    <p:embed/>
                    <p:pic>
                      <p:nvPicPr>
                        <p:cNvPr id="0" name="图片 3288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19" y="2077"/>
                          <a:ext cx="236" cy="3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44" name="Line 63"/>
            <p:cNvSpPr/>
            <p:nvPr/>
          </p:nvSpPr>
          <p:spPr>
            <a:xfrm>
              <a:off x="5193" y="2432"/>
              <a:ext cx="31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45" name="Text Box 64"/>
            <p:cNvSpPr txBox="1"/>
            <p:nvPr/>
          </p:nvSpPr>
          <p:spPr>
            <a:xfrm>
              <a:off x="4286" y="2478"/>
              <a:ext cx="4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6" name="Text Box 94"/>
            <p:cNvSpPr txBox="1"/>
            <p:nvPr/>
          </p:nvSpPr>
          <p:spPr>
            <a:xfrm>
              <a:off x="4695" y="409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7" name="Line 95"/>
            <p:cNvSpPr/>
            <p:nvPr/>
          </p:nvSpPr>
          <p:spPr>
            <a:xfrm>
              <a:off x="5240" y="748"/>
              <a:ext cx="0" cy="13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8" name="Text Box 96"/>
            <p:cNvSpPr txBox="1"/>
            <p:nvPr/>
          </p:nvSpPr>
          <p:spPr>
            <a:xfrm>
              <a:off x="4740" y="1090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9" name="Text Box 97"/>
            <p:cNvSpPr txBox="1"/>
            <p:nvPr/>
          </p:nvSpPr>
          <p:spPr>
            <a:xfrm>
              <a:off x="4740" y="1725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0" name="Text Box 98"/>
            <p:cNvSpPr txBox="1"/>
            <p:nvPr/>
          </p:nvSpPr>
          <p:spPr>
            <a:xfrm>
              <a:off x="5239" y="1117"/>
              <a:ext cx="5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  <a:buNone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N'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1" name="Oval 99"/>
            <p:cNvSpPr/>
            <p:nvPr/>
          </p:nvSpPr>
          <p:spPr>
            <a:xfrm>
              <a:off x="3516" y="56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3052" name="Oval 100"/>
            <p:cNvSpPr/>
            <p:nvPr/>
          </p:nvSpPr>
          <p:spPr>
            <a:xfrm>
              <a:off x="3471" y="124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3053" name="Oval 101"/>
            <p:cNvSpPr/>
            <p:nvPr/>
          </p:nvSpPr>
          <p:spPr>
            <a:xfrm>
              <a:off x="3471" y="188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3054" name="Line 102"/>
            <p:cNvSpPr/>
            <p:nvPr/>
          </p:nvSpPr>
          <p:spPr>
            <a:xfrm rot="5400000" flipH="1">
              <a:off x="4264" y="-227"/>
              <a:ext cx="0" cy="19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5" name="Text Box 103"/>
            <p:cNvSpPr txBox="1"/>
            <p:nvPr/>
          </p:nvSpPr>
          <p:spPr>
            <a:xfrm rot="5400000">
              <a:off x="3956" y="431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6" name="Text Box 104"/>
            <p:cNvSpPr txBox="1"/>
            <p:nvPr/>
          </p:nvSpPr>
          <p:spPr>
            <a:xfrm>
              <a:off x="3289" y="419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7" name="Text Box 105"/>
            <p:cNvSpPr txBox="1"/>
            <p:nvPr/>
          </p:nvSpPr>
          <p:spPr>
            <a:xfrm>
              <a:off x="4105" y="702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8" name="Line 107"/>
            <p:cNvSpPr/>
            <p:nvPr/>
          </p:nvSpPr>
          <p:spPr>
            <a:xfrm rot="5400000" flipH="1">
              <a:off x="4264" y="452"/>
              <a:ext cx="0" cy="19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3059" name="Text Box 108"/>
            <p:cNvSpPr txBox="1"/>
            <p:nvPr/>
          </p:nvSpPr>
          <p:spPr>
            <a:xfrm rot="5400000">
              <a:off x="3911" y="1112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0" name="Text Box 109"/>
            <p:cNvSpPr txBox="1"/>
            <p:nvPr/>
          </p:nvSpPr>
          <p:spPr>
            <a:xfrm>
              <a:off x="3289" y="1099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1" name="Text Box 110"/>
            <p:cNvSpPr txBox="1"/>
            <p:nvPr/>
          </p:nvSpPr>
          <p:spPr>
            <a:xfrm>
              <a:off x="4150" y="1382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2" name="Line 111"/>
            <p:cNvSpPr/>
            <p:nvPr/>
          </p:nvSpPr>
          <p:spPr>
            <a:xfrm rot="5400000" flipH="1">
              <a:off x="4264" y="1087"/>
              <a:ext cx="0" cy="19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3" name="Text Box 112"/>
            <p:cNvSpPr txBox="1"/>
            <p:nvPr/>
          </p:nvSpPr>
          <p:spPr>
            <a:xfrm rot="5400000">
              <a:off x="3911" y="1747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4" name="Text Box 113"/>
            <p:cNvSpPr txBox="1"/>
            <p:nvPr/>
          </p:nvSpPr>
          <p:spPr>
            <a:xfrm>
              <a:off x="3289" y="1779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5" name="Text Box 114"/>
            <p:cNvSpPr txBox="1"/>
            <p:nvPr/>
          </p:nvSpPr>
          <p:spPr>
            <a:xfrm>
              <a:off x="4105" y="2017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6" name="Line 115"/>
            <p:cNvSpPr/>
            <p:nvPr/>
          </p:nvSpPr>
          <p:spPr>
            <a:xfrm>
              <a:off x="3289" y="748"/>
              <a:ext cx="0" cy="13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3016" name="Object 116"/>
            <p:cNvGraphicFramePr/>
            <p:nvPr/>
          </p:nvGraphicFramePr>
          <p:xfrm>
            <a:off x="3466" y="210"/>
            <a:ext cx="474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" name="" r:id="rId12" imgW="380365" imgH="304800" progId="Equation.3">
                    <p:embed/>
                  </p:oleObj>
                </mc:Choice>
                <mc:Fallback>
                  <p:oleObj name="" r:id="rId12" imgW="380365" imgH="304800" progId="Equation.3">
                    <p:embed/>
                    <p:pic>
                      <p:nvPicPr>
                        <p:cNvPr id="0" name="图片 3220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66" y="210"/>
                          <a:ext cx="474" cy="3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7" name="Object 117"/>
            <p:cNvGraphicFramePr/>
            <p:nvPr/>
          </p:nvGraphicFramePr>
          <p:xfrm>
            <a:off x="3462" y="846"/>
            <a:ext cx="460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" r:id="rId14" imgW="367665" imgH="304800" progId="Equation.3">
                    <p:embed/>
                  </p:oleObj>
                </mc:Choice>
                <mc:Fallback>
                  <p:oleObj name="" r:id="rId14" imgW="367665" imgH="304800" progId="Equation.3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62" y="846"/>
                          <a:ext cx="460" cy="3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8" name="Object 118"/>
            <p:cNvGraphicFramePr/>
            <p:nvPr/>
          </p:nvGraphicFramePr>
          <p:xfrm>
            <a:off x="3462" y="1515"/>
            <a:ext cx="45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" name="" r:id="rId16" imgW="367665" imgH="304800" progId="Equation.3">
                    <p:embed/>
                  </p:oleObj>
                </mc:Choice>
                <mc:Fallback>
                  <p:oleObj name="" r:id="rId16" imgW="367665" imgH="304800" progId="Equation.3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62" y="1515"/>
                          <a:ext cx="459" cy="3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7" name="Rectangle 119"/>
            <p:cNvSpPr/>
            <p:nvPr/>
          </p:nvSpPr>
          <p:spPr>
            <a:xfrm>
              <a:off x="4695" y="200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43068" name="Rectangle 120"/>
            <p:cNvSpPr/>
            <p:nvPr/>
          </p:nvSpPr>
          <p:spPr>
            <a:xfrm>
              <a:off x="4695" y="136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43069" name="Rectangle 121"/>
            <p:cNvSpPr/>
            <p:nvPr/>
          </p:nvSpPr>
          <p:spPr>
            <a:xfrm>
              <a:off x="4650" y="70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43070" name="Line 122"/>
            <p:cNvSpPr/>
            <p:nvPr/>
          </p:nvSpPr>
          <p:spPr>
            <a:xfrm>
              <a:off x="4332" y="2063"/>
              <a:ext cx="31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71" name="Line 123"/>
            <p:cNvSpPr/>
            <p:nvPr/>
          </p:nvSpPr>
          <p:spPr>
            <a:xfrm>
              <a:off x="4287" y="747"/>
              <a:ext cx="31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72" name="Line 124"/>
            <p:cNvSpPr/>
            <p:nvPr/>
          </p:nvSpPr>
          <p:spPr>
            <a:xfrm>
              <a:off x="4332" y="1428"/>
              <a:ext cx="31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3019" name="Object 125"/>
            <p:cNvGraphicFramePr/>
            <p:nvPr/>
          </p:nvGraphicFramePr>
          <p:xfrm>
            <a:off x="4271" y="293"/>
            <a:ext cx="469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2" name="" r:id="rId18" imgW="330200" imgH="304800" progId="Equation.3">
                    <p:embed/>
                  </p:oleObj>
                </mc:Choice>
                <mc:Fallback>
                  <p:oleObj name="" r:id="rId18" imgW="330200" imgH="304800" progId="Equation.3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71" y="293"/>
                          <a:ext cx="469" cy="4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0" name="Object 126"/>
            <p:cNvGraphicFramePr/>
            <p:nvPr/>
          </p:nvGraphicFramePr>
          <p:xfrm>
            <a:off x="4324" y="1009"/>
            <a:ext cx="462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" name="" r:id="rId20" imgW="317500" imgH="304800" progId="Equation.3">
                    <p:embed/>
                  </p:oleObj>
                </mc:Choice>
                <mc:Fallback>
                  <p:oleObj name="" r:id="rId20" imgW="317500" imgH="304800" progId="Equation.3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24" y="1009"/>
                          <a:ext cx="462" cy="4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1" name="Object 127"/>
            <p:cNvGraphicFramePr/>
            <p:nvPr/>
          </p:nvGraphicFramePr>
          <p:xfrm>
            <a:off x="4297" y="1642"/>
            <a:ext cx="462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" name="" r:id="rId22" imgW="317500" imgH="304800" progId="Equation.3">
                    <p:embed/>
                  </p:oleObj>
                </mc:Choice>
                <mc:Fallback>
                  <p:oleObj name="" r:id="rId22" imgW="317500" imgH="304800" progId="Equation.3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97" y="1642"/>
                          <a:ext cx="462" cy="4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737" name="Object 129"/>
          <p:cNvGraphicFramePr/>
          <p:nvPr/>
        </p:nvGraphicFramePr>
        <p:xfrm>
          <a:off x="611188" y="1916113"/>
          <a:ext cx="2236787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24" imgW="1091565" imgH="508000" progId="Equation.3">
                  <p:embed/>
                </p:oleObj>
              </mc:Choice>
              <mc:Fallback>
                <p:oleObj name="" r:id="rId24" imgW="1091565" imgH="508000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1916113"/>
                        <a:ext cx="2236787" cy="1122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27" name="Group 13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3034" name="Picture 131" descr="78900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35" name="Text Box 13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3028" name="Group 13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3032" name="Picture 134" descr="78900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33" name="Text Box 13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3029" name="Group 136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3030" name="Picture 137" descr="78900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31" name="Text Box 13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6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7" grpId="0"/>
      <p:bldP spid="6868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5" name="Rectangle 5"/>
          <p:cNvSpPr/>
          <p:nvPr/>
        </p:nvSpPr>
        <p:spPr>
          <a:xfrm>
            <a:off x="755650" y="404813"/>
            <a:ext cx="8029575" cy="7016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 eaLnBrk="0" hangingPunct="0"/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en-US" altLang="zh-CN" sz="4000" baseline="30000" dirty="0">
                <a:solidFill>
                  <a:schemeClr val="bg1"/>
                </a:solidFill>
                <a:latin typeface="楷体_GB2312" pitchFamily="49" charset="-122"/>
              </a:rPr>
              <a:t>*</a:t>
            </a:r>
            <a:r>
              <a: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13-6</a:t>
            </a:r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</a:rPr>
              <a:t>傅里叶级数的指数形式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76806" name="Rectangle 6"/>
          <p:cNvSpPr/>
          <p:nvPr/>
        </p:nvSpPr>
        <p:spPr>
          <a:xfrm>
            <a:off x="611188" y="1196975"/>
            <a:ext cx="48577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傅里叶级数的指数形式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44038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76807" name="Object 7"/>
          <p:cNvGraphicFramePr/>
          <p:nvPr/>
        </p:nvGraphicFramePr>
        <p:xfrm>
          <a:off x="1476375" y="1773238"/>
          <a:ext cx="5903913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" name="" r:id="rId1" imgW="2348230" imgH="495300" progId="Equation.DSMT4">
                  <p:embed/>
                </p:oleObj>
              </mc:Choice>
              <mc:Fallback>
                <p:oleObj name="" r:id="rId1" imgW="2348230" imgH="495300" progId="Equation.DSMT4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1773238"/>
                        <a:ext cx="5903913" cy="1200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9" name="Rectangle 9"/>
          <p:cNvSpPr/>
          <p:nvPr/>
        </p:nvSpPr>
        <p:spPr>
          <a:xfrm>
            <a:off x="684213" y="2997200"/>
            <a:ext cx="2673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楷体_GB2312" pitchFamily="49" charset="-122"/>
              </a:rPr>
              <a:t>利用欧拉公式有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76810" name="Object 10"/>
          <p:cNvGraphicFramePr/>
          <p:nvPr/>
        </p:nvGraphicFramePr>
        <p:xfrm>
          <a:off x="468313" y="3500438"/>
          <a:ext cx="8675687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" name="" r:id="rId3" imgW="3124200" imgH="1054100" progId="Equation.DSMT4">
                  <p:embed/>
                </p:oleObj>
              </mc:Choice>
              <mc:Fallback>
                <p:oleObj name="" r:id="rId3" imgW="3124200" imgH="1054100" progId="Equation.DSMT4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3500438"/>
                        <a:ext cx="8675687" cy="293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40" name="Group 1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4048" name="Picture 15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9" name="Text Box 1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4041" name="Group 1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4046" name="Picture 1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7" name="Text Box 1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4042" name="Group 20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4044" name="Picture 2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5" name="Text Box 2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76823" name="AutoShape 23" descr="羊皮纸"/>
          <p:cNvSpPr/>
          <p:nvPr/>
        </p:nvSpPr>
        <p:spPr>
          <a:xfrm>
            <a:off x="6227763" y="1268413"/>
            <a:ext cx="1873250" cy="647700"/>
          </a:xfrm>
          <a:prstGeom prst="wedgeRoundRectCallout">
            <a:avLst>
              <a:gd name="adj1" fmla="val -60931"/>
              <a:gd name="adj2" fmla="val 83333"/>
              <a:gd name="adj3" fmla="val 16667"/>
            </a:avLst>
          </a:prstGeom>
          <a:blipFill rotWithShape="1">
            <a:blip r:embed="rId6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三角形式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7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10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/>
      <p:bldP spid="76806" grpId="0"/>
      <p:bldP spid="76809" grpId="0"/>
      <p:bldP spid="768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6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45058" name="Object 9"/>
          <p:cNvGraphicFramePr/>
          <p:nvPr/>
        </p:nvGraphicFramePr>
        <p:xfrm>
          <a:off x="611188" y="620713"/>
          <a:ext cx="799147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" name="" r:id="rId1" imgW="2107565" imgH="431800" progId="Equation.DSMT4">
                  <p:embed/>
                </p:oleObj>
              </mc:Choice>
              <mc:Fallback>
                <p:oleObj name="" r:id="rId1" imgW="2107565" imgH="431800" progId="Equation.DSMT4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620713"/>
                        <a:ext cx="7991475" cy="13112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99FF"/>
                          </a:gs>
                          <a:gs pos="50000">
                            <a:schemeClr val="bg1"/>
                          </a:gs>
                          <a:gs pos="100000">
                            <a:srgbClr val="3399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65" name="Group 1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5076" name="Picture 1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77" name="Text Box 1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5066" name="Group 1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5074" name="Picture 2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75" name="Text Box 2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5067" name="Group 22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5072" name="Picture 2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73" name="Text Box 2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78873" name="AutoShape 25" descr="羊皮纸"/>
          <p:cNvSpPr/>
          <p:nvPr/>
        </p:nvSpPr>
        <p:spPr>
          <a:xfrm>
            <a:off x="6877050" y="2133600"/>
            <a:ext cx="1873250" cy="647700"/>
          </a:xfrm>
          <a:prstGeom prst="wedgeRoundRectCallout">
            <a:avLst>
              <a:gd name="adj1" fmla="val -122713"/>
              <a:gd name="adj2" fmla="val -103921"/>
              <a:gd name="adj3" fmla="val 16667"/>
            </a:avLst>
          </a:prstGeom>
          <a:blipFill rotWithShape="1">
            <a:blip r:embed="rId4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指数形式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78874" name="Rectangle 26"/>
          <p:cNvSpPr/>
          <p:nvPr/>
        </p:nvSpPr>
        <p:spPr>
          <a:xfrm>
            <a:off x="468313" y="2133600"/>
            <a:ext cx="1944687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楷体_GB2312" pitchFamily="49" charset="-122"/>
              </a:rPr>
              <a:t>确定系数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78875" name="Rectangle 27"/>
          <p:cNvSpPr/>
          <p:nvPr/>
        </p:nvSpPr>
        <p:spPr>
          <a:xfrm>
            <a:off x="468313" y="2636838"/>
            <a:ext cx="194468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楷体_GB2312" pitchFamily="49" charset="-122"/>
              </a:rPr>
              <a:t>因为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78876" name="Object 28"/>
          <p:cNvGraphicFramePr/>
          <p:nvPr/>
        </p:nvGraphicFramePr>
        <p:xfrm>
          <a:off x="1763713" y="2636838"/>
          <a:ext cx="24479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" r:id="rId5" imgW="914400" imgH="228600" progId="Equation.DSMT4">
                  <p:embed/>
                </p:oleObj>
              </mc:Choice>
              <mc:Fallback>
                <p:oleObj name="" r:id="rId5" imgW="914400" imgH="228600" progId="Equation.DSMT4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2636838"/>
                        <a:ext cx="2447925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8" name="Object 30"/>
          <p:cNvGraphicFramePr/>
          <p:nvPr/>
        </p:nvGraphicFramePr>
        <p:xfrm>
          <a:off x="4643438" y="2636838"/>
          <a:ext cx="23764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" name="" r:id="rId7" imgW="965200" imgH="228600" progId="Equation.DSMT4">
                  <p:embed/>
                </p:oleObj>
              </mc:Choice>
              <mc:Fallback>
                <p:oleObj name="" r:id="rId7" imgW="965200" imgH="228600" progId="Equation.DSMT4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3438" y="2636838"/>
                        <a:ext cx="2376487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81" name="Line 33"/>
          <p:cNvSpPr/>
          <p:nvPr/>
        </p:nvSpPr>
        <p:spPr>
          <a:xfrm>
            <a:off x="250825" y="4581525"/>
            <a:ext cx="647700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78882" name="Object 34"/>
          <p:cNvGraphicFramePr/>
          <p:nvPr/>
        </p:nvGraphicFramePr>
        <p:xfrm>
          <a:off x="1763713" y="3429000"/>
          <a:ext cx="2808287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" name="" r:id="rId9" imgW="1066800" imgH="241300" progId="Equation.DSMT4">
                  <p:embed/>
                </p:oleObj>
              </mc:Choice>
              <mc:Fallback>
                <p:oleObj name="" r:id="rId9" imgW="1066800" imgH="241300" progId="Equation.DSMT4">
                  <p:embed/>
                  <p:pic>
                    <p:nvPicPr>
                      <p:cNvPr id="0" name="图片 329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3429000"/>
                        <a:ext cx="2808287" cy="627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84" name="Object 36"/>
          <p:cNvGraphicFramePr>
            <a:graphicFrameLocks noGrp="1"/>
          </p:cNvGraphicFramePr>
          <p:nvPr>
            <p:ph sz="half" idx="1"/>
          </p:nvPr>
        </p:nvGraphicFramePr>
        <p:xfrm>
          <a:off x="827088" y="4076700"/>
          <a:ext cx="810101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" name="" r:id="rId11" imgW="3097530" imgH="393700" progId="Equation.DSMT4">
                  <p:embed/>
                </p:oleObj>
              </mc:Choice>
              <mc:Fallback>
                <p:oleObj name="" r:id="rId11" imgW="3097530" imgH="393700" progId="Equation.DSMT4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7088" y="4076700"/>
                        <a:ext cx="8101012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89" name="Object 41"/>
          <p:cNvGraphicFramePr>
            <a:graphicFrameLocks noGrp="1"/>
          </p:cNvGraphicFramePr>
          <p:nvPr>
            <p:ph sz="half" idx="2"/>
          </p:nvPr>
        </p:nvGraphicFramePr>
        <p:xfrm>
          <a:off x="1258888" y="5157788"/>
          <a:ext cx="5903912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" name="" r:id="rId13" imgW="2272030" imgH="393700" progId="Equation.DSMT4">
                  <p:embed/>
                </p:oleObj>
              </mc:Choice>
              <mc:Fallback>
                <p:oleObj name="" r:id="rId13" imgW="2272030" imgH="393700" progId="Equation.DSMT4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8888" y="5157788"/>
                        <a:ext cx="5903912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7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7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7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73" grpId="0" animBg="1"/>
      <p:bldP spid="78874" grpId="0"/>
      <p:bldP spid="7887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46085" name="Group 1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6125" name="Picture 1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26" name="Text Box 1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6086" name="Group 1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6123" name="Picture 1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24" name="Text Box 1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6087" name="Group 1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6121" name="Picture 1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22" name="Text Box 2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79899" name="Rectangle 27"/>
          <p:cNvSpPr/>
          <p:nvPr/>
        </p:nvSpPr>
        <p:spPr>
          <a:xfrm>
            <a:off x="1979613" y="620713"/>
            <a:ext cx="5162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画傅里叶级数指数形式的频谱时</a:t>
            </a:r>
            <a:endParaRPr lang="zh-CN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grpSp>
        <p:nvGrpSpPr>
          <p:cNvPr id="5" name="Group 34"/>
          <p:cNvGrpSpPr/>
          <p:nvPr/>
        </p:nvGrpSpPr>
        <p:grpSpPr>
          <a:xfrm>
            <a:off x="395288" y="476250"/>
            <a:ext cx="1644650" cy="850900"/>
            <a:chOff x="385" y="3022"/>
            <a:chExt cx="1036" cy="536"/>
          </a:xfrm>
        </p:grpSpPr>
        <p:pic>
          <p:nvPicPr>
            <p:cNvPr id="46119" name="Picture 35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20" name="Text Box 36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6" name="Group 74"/>
          <p:cNvGrpSpPr/>
          <p:nvPr/>
        </p:nvGrpSpPr>
        <p:grpSpPr>
          <a:xfrm>
            <a:off x="539750" y="1125538"/>
            <a:ext cx="8316913" cy="1630362"/>
            <a:chOff x="340" y="709"/>
            <a:chExt cx="5239" cy="1027"/>
          </a:xfrm>
        </p:grpSpPr>
        <p:sp>
          <p:nvSpPr>
            <p:cNvPr id="46116" name="Rectangle 37"/>
            <p:cNvSpPr/>
            <p:nvPr/>
          </p:nvSpPr>
          <p:spPr>
            <a:xfrm>
              <a:off x="340" y="709"/>
              <a:ext cx="5239" cy="10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marL="342900" indent="-342900">
                <a:lnSpc>
                  <a:spcPct val="120000"/>
                </a:lnSpc>
                <a:buAutoNum type="circleNumDbPlain"/>
              </a:pP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画出 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 </a:t>
              </a:r>
              <a:r>
                <a:rPr lang="en-US" altLang="zh-CN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楷体_GB2312" pitchFamily="49" charset="-122"/>
                  <a:cs typeface="Times New Roman" panose="02020603050405020304" pitchFamily="18" charset="0"/>
                </a:rPr>
                <a:t>对正、负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 </a:t>
              </a:r>
              <a:r>
                <a:rPr lang="zh-CN" altLang="en-US" dirty="0">
                  <a:latin typeface="楷体_GB2312" pitchFamily="49" charset="-122"/>
                  <a:cs typeface="Times New Roman" panose="02020603050405020304" pitchFamily="18" charset="0"/>
                </a:rPr>
                <a:t>的关系，频谱图对于纵轴对</a:t>
              </a:r>
              <a:endParaRPr lang="zh-CN" altLang="en-US" dirty="0">
                <a:latin typeface="楷体_GB2312" pitchFamily="49" charset="-122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20000"/>
                </a:lnSpc>
                <a:buNone/>
              </a:pPr>
              <a:r>
                <a:rPr lang="zh-CN" altLang="en-US" dirty="0">
                  <a:latin typeface="楷体_GB2312" pitchFamily="49" charset="-122"/>
                  <a:cs typeface="Times New Roman" panose="02020603050405020304" pitchFamily="18" charset="0"/>
                </a:rPr>
                <a:t>  称，只要研究</a:t>
              </a:r>
              <a:r>
                <a:rPr lang="zh-CN" altLang="en-US" dirty="0">
                  <a:latin typeface="Arial" panose="020B0604020202020204" pitchFamily="34" charset="0"/>
                  <a:cs typeface="Times New Roman" panose="02020603050405020304" pitchFamily="18" charset="0"/>
                </a:rPr>
                <a:t>“</a:t>
              </a:r>
              <a:r>
                <a:rPr lang="zh-CN" altLang="en-US" dirty="0">
                  <a:latin typeface="楷体_GB2312" pitchFamily="49" charset="-122"/>
                  <a:cs typeface="Times New Roman" panose="02020603050405020304" pitchFamily="18" charset="0"/>
                </a:rPr>
                <a:t>正半边</a:t>
              </a:r>
              <a:r>
                <a:rPr lang="zh-CN" altLang="en-US" dirty="0">
                  <a:latin typeface="Arial" panose="020B0604020202020204" pitchFamily="34" charset="0"/>
                  <a:cs typeface="Times New Roman" panose="02020603050405020304" pitchFamily="18" charset="0"/>
                </a:rPr>
                <a:t>”</a:t>
              </a:r>
              <a:r>
                <a:rPr lang="zh-CN" altLang="en-US" dirty="0">
                  <a:latin typeface="楷体_GB2312" pitchFamily="49" charset="-122"/>
                  <a:cs typeface="Times New Roman" panose="02020603050405020304" pitchFamily="18" charset="0"/>
                </a:rPr>
                <a:t>即可，其线谱</a:t>
              </a:r>
              <a:r>
                <a:rPr lang="zh-CN" altLang="en-US" dirty="0">
                  <a:latin typeface="Arial" panose="020B0604020202020204" pitchFamily="34" charset="0"/>
                  <a:cs typeface="Times New Roman" panose="02020603050405020304" pitchFamily="18" charset="0"/>
                </a:rPr>
                <a:t>“</a:t>
              </a:r>
              <a:r>
                <a:rPr lang="zh-CN" altLang="en-US" dirty="0">
                  <a:latin typeface="楷体_GB2312" pitchFamily="49" charset="-122"/>
                  <a:cs typeface="Times New Roman" panose="02020603050405020304" pitchFamily="18" charset="0"/>
                </a:rPr>
                <a:t>高度</a:t>
              </a:r>
              <a:r>
                <a:rPr lang="zh-CN" altLang="en-US" dirty="0">
                  <a:latin typeface="Arial" panose="020B0604020202020204" pitchFamily="34" charset="0"/>
                  <a:cs typeface="Times New Roman" panose="02020603050405020304" pitchFamily="18" charset="0"/>
                </a:rPr>
                <a:t>”</a:t>
              </a:r>
              <a:r>
                <a:rPr lang="zh-CN" altLang="en-US" dirty="0">
                  <a:latin typeface="楷体_GB2312" pitchFamily="49" charset="-122"/>
                  <a:cs typeface="Times New Roman" panose="02020603050405020304" pitchFamily="18" charset="0"/>
                </a:rPr>
                <a:t>是傅氏频谱的一半。</a:t>
              </a:r>
              <a:endParaRPr lang="zh-CN" altLang="en-US" dirty="0">
                <a:latin typeface="楷体_GB2312" pitchFamily="49" charset="-122"/>
                <a:ea typeface="Times New Roman" panose="02020603050405020304" pitchFamily="18" charset="0"/>
              </a:endParaRPr>
            </a:p>
          </p:txBody>
        </p:sp>
        <p:sp>
          <p:nvSpPr>
            <p:cNvPr id="46117" name="Line 38"/>
            <p:cNvSpPr/>
            <p:nvPr/>
          </p:nvSpPr>
          <p:spPr>
            <a:xfrm>
              <a:off x="1111" y="845"/>
              <a:ext cx="0" cy="181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8" name="Line 39"/>
            <p:cNvSpPr/>
            <p:nvPr/>
          </p:nvSpPr>
          <p:spPr>
            <a:xfrm>
              <a:off x="1429" y="845"/>
              <a:ext cx="0" cy="181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9913" name="Rectangle 41"/>
          <p:cNvSpPr/>
          <p:nvPr/>
        </p:nvSpPr>
        <p:spPr>
          <a:xfrm>
            <a:off x="539750" y="2781300"/>
            <a:ext cx="8316913" cy="6048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画出 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的辐角与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的关系得相位频谱</a:t>
            </a:r>
            <a:endParaRPr lang="zh-CN" altLang="en-US" dirty="0">
              <a:latin typeface="楷体_GB2312" pitchFamily="49" charset="-122"/>
              <a:ea typeface="Times New Roman" panose="02020603050405020304" pitchFamily="18" charset="0"/>
            </a:endParaRPr>
          </a:p>
        </p:txBody>
      </p:sp>
      <p:sp>
        <p:nvSpPr>
          <p:cNvPr id="79915" name="Text Box 43"/>
          <p:cNvSpPr txBox="1"/>
          <p:nvPr/>
        </p:nvSpPr>
        <p:spPr>
          <a:xfrm>
            <a:off x="323850" y="3573463"/>
            <a:ext cx="12969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6-1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916" name="Rectangle 44"/>
          <p:cNvSpPr/>
          <p:nvPr/>
        </p:nvSpPr>
        <p:spPr>
          <a:xfrm>
            <a:off x="1473200" y="3500438"/>
            <a:ext cx="7670800" cy="1117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试将矩形波展开为指数形式的傅氏级数，并画出幅度频谱和相位频谱。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7" name="Group 71"/>
          <p:cNvGrpSpPr/>
          <p:nvPr/>
        </p:nvGrpSpPr>
        <p:grpSpPr>
          <a:xfrm>
            <a:off x="4284663" y="4149725"/>
            <a:ext cx="4568825" cy="2276475"/>
            <a:chOff x="2699" y="2614"/>
            <a:chExt cx="2878" cy="1434"/>
          </a:xfrm>
        </p:grpSpPr>
        <p:grpSp>
          <p:nvGrpSpPr>
            <p:cNvPr id="46096" name="Group 69"/>
            <p:cNvGrpSpPr/>
            <p:nvPr/>
          </p:nvGrpSpPr>
          <p:grpSpPr>
            <a:xfrm>
              <a:off x="2699" y="2614"/>
              <a:ext cx="2878" cy="1434"/>
              <a:chOff x="2699" y="2614"/>
              <a:chExt cx="2878" cy="1434"/>
            </a:xfrm>
          </p:grpSpPr>
          <p:graphicFrame>
            <p:nvGraphicFramePr>
              <p:cNvPr id="46082" name="Object 55"/>
              <p:cNvGraphicFramePr/>
              <p:nvPr/>
            </p:nvGraphicFramePr>
            <p:xfrm>
              <a:off x="3334" y="2840"/>
              <a:ext cx="353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3" name="" r:id="rId3" imgW="228600" imgH="241300" progId="Equation.DSMT4">
                      <p:embed/>
                    </p:oleObj>
                  </mc:Choice>
                  <mc:Fallback>
                    <p:oleObj name="" r:id="rId3" imgW="228600" imgH="241300" progId="Equation.DSMT4">
                      <p:embed/>
                      <p:pic>
                        <p:nvPicPr>
                          <p:cNvPr id="0" name="图片 3302"/>
                          <p:cNvPicPr/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334" y="2840"/>
                            <a:ext cx="353" cy="31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6098" name="Group 68"/>
              <p:cNvGrpSpPr/>
              <p:nvPr/>
            </p:nvGrpSpPr>
            <p:grpSpPr>
              <a:xfrm>
                <a:off x="2699" y="2614"/>
                <a:ext cx="2878" cy="1434"/>
                <a:chOff x="431" y="2886"/>
                <a:chExt cx="2878" cy="1434"/>
              </a:xfrm>
            </p:grpSpPr>
            <p:sp>
              <p:nvSpPr>
                <p:cNvPr id="46099" name="Line 46"/>
                <p:cNvSpPr/>
                <p:nvPr/>
              </p:nvSpPr>
              <p:spPr>
                <a:xfrm>
                  <a:off x="431" y="3612"/>
                  <a:ext cx="2594" cy="0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6100" name="Line 47"/>
                <p:cNvSpPr/>
                <p:nvPr/>
              </p:nvSpPr>
              <p:spPr>
                <a:xfrm flipH="1" flipV="1">
                  <a:off x="1370" y="3037"/>
                  <a:ext cx="13" cy="1283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6101" name="Line 48"/>
                <p:cNvSpPr/>
                <p:nvPr/>
              </p:nvSpPr>
              <p:spPr>
                <a:xfrm>
                  <a:off x="1386" y="3353"/>
                  <a:ext cx="329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6102" name="Line 49"/>
                <p:cNvSpPr/>
                <p:nvPr/>
              </p:nvSpPr>
              <p:spPr>
                <a:xfrm>
                  <a:off x="1715" y="3341"/>
                  <a:ext cx="0" cy="49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6103" name="Line 50"/>
                <p:cNvSpPr/>
                <p:nvPr/>
              </p:nvSpPr>
              <p:spPr>
                <a:xfrm>
                  <a:off x="2108" y="3358"/>
                  <a:ext cx="0" cy="477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6104" name="Rectangle 51"/>
                <p:cNvSpPr/>
                <p:nvPr/>
              </p:nvSpPr>
              <p:spPr>
                <a:xfrm>
                  <a:off x="3016" y="3385"/>
                  <a:ext cx="293" cy="402"/>
                </a:xfrm>
                <a:prstGeom prst="rect">
                  <a:avLst/>
                </a:prstGeom>
                <a:noFill/>
                <a:ln w="57150">
                  <a:noFill/>
                </a:ln>
              </p:spPr>
              <p:txBody>
                <a:bodyPr lIns="90488" tIns="44450" rIns="90488" bIns="44450">
                  <a:spAutoFit/>
                </a:bodyPr>
                <a:p>
                  <a:pPr defTabSz="762000" eaLnBrk="0" hangingPunct="0">
                    <a:spcBef>
                      <a:spcPct val="50000"/>
                    </a:spcBef>
                  </a:pPr>
                  <a:r>
                    <a:rPr lang="en-US" altLang="zh-CN" sz="3600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endParaRPr lang="en-US" altLang="zh-CN" sz="36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5" name="Rectangle 52"/>
                <p:cNvSpPr/>
                <p:nvPr/>
              </p:nvSpPr>
              <p:spPr>
                <a:xfrm>
                  <a:off x="1485" y="3828"/>
                  <a:ext cx="441" cy="325"/>
                </a:xfrm>
                <a:prstGeom prst="rect">
                  <a:avLst/>
                </a:prstGeom>
                <a:noFill/>
                <a:ln w="57150">
                  <a:noFill/>
                </a:ln>
              </p:spPr>
              <p:txBody>
                <a:bodyPr lIns="90488" tIns="44450" rIns="90488" bIns="44450">
                  <a:spAutoFit/>
                </a:bodyPr>
                <a:p>
                  <a:pPr defTabSz="762000" eaLnBrk="0" hangingPunct="0">
                    <a:spcBef>
                      <a:spcPct val="50000"/>
                    </a:spcBef>
                  </a:pPr>
                  <a:r>
                    <a:rPr lang="en-US" altLang="zh-CN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/2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6" name="Rectangle 53"/>
                <p:cNvSpPr/>
                <p:nvPr/>
              </p:nvSpPr>
              <p:spPr>
                <a:xfrm>
                  <a:off x="2029" y="3828"/>
                  <a:ext cx="342" cy="325"/>
                </a:xfrm>
                <a:prstGeom prst="rect">
                  <a:avLst/>
                </a:prstGeom>
                <a:noFill/>
                <a:ln w="57150">
                  <a:noFill/>
                </a:ln>
              </p:spPr>
              <p:txBody>
                <a:bodyPr lIns="90488" tIns="44450" rIns="90488" bIns="44450">
                  <a:spAutoFit/>
                </a:bodyPr>
                <a:p>
                  <a:pPr defTabSz="762000" eaLnBrk="0" hangingPunct="0">
                    <a:spcBef>
                      <a:spcPct val="50000"/>
                    </a:spcBef>
                  </a:pPr>
                  <a:r>
                    <a:rPr lang="en-US" altLang="zh-CN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46083" name="Object 54"/>
                <p:cNvGraphicFramePr/>
                <p:nvPr/>
              </p:nvGraphicFramePr>
              <p:xfrm>
                <a:off x="1394" y="2886"/>
                <a:ext cx="279" cy="3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02" name="" r:id="rId5" imgW="139700" imgH="228600" progId="Equation.3">
                        <p:embed/>
                      </p:oleObj>
                    </mc:Choice>
                    <mc:Fallback>
                      <p:oleObj name="" r:id="rId5" imgW="139700" imgH="228600" progId="Equation.3">
                        <p:embed/>
                        <p:pic>
                          <p:nvPicPr>
                            <p:cNvPr id="0" name="图片 3301"/>
                            <p:cNvPicPr/>
                            <p:nvPr/>
                          </p:nvPicPr>
                          <p:blipFill>
                            <a:blip r:embed="rId6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FFFFFF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94" y="2886"/>
                              <a:ext cx="279" cy="38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6107" name="Line 56"/>
                <p:cNvSpPr/>
                <p:nvPr/>
              </p:nvSpPr>
              <p:spPr>
                <a:xfrm>
                  <a:off x="2108" y="3360"/>
                  <a:ext cx="328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6108" name="Line 57"/>
                <p:cNvSpPr/>
                <p:nvPr/>
              </p:nvSpPr>
              <p:spPr>
                <a:xfrm>
                  <a:off x="2436" y="3341"/>
                  <a:ext cx="0" cy="51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6109" name="Rectangle 58"/>
                <p:cNvSpPr/>
                <p:nvPr/>
              </p:nvSpPr>
              <p:spPr>
                <a:xfrm>
                  <a:off x="1111" y="3566"/>
                  <a:ext cx="342" cy="248"/>
                </a:xfrm>
                <a:prstGeom prst="rect">
                  <a:avLst/>
                </a:prstGeom>
                <a:noFill/>
                <a:ln w="57150">
                  <a:noFill/>
                </a:ln>
              </p:spPr>
              <p:txBody>
                <a:bodyPr lIns="90488" tIns="44450" rIns="90488" bIns="44450">
                  <a:spAutoFit/>
                </a:bodyPr>
                <a:p>
                  <a:pPr defTabSz="762000" eaLnBrk="0" hangingPunct="0">
                    <a:spcBef>
                      <a:spcPct val="50000"/>
                    </a:spcBef>
                  </a:pPr>
                  <a:r>
                    <a:rPr lang="en-US" altLang="zh-CN" sz="2000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O</a:t>
                  </a:r>
                  <a:endPara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10" name="Line 59"/>
                <p:cNvSpPr/>
                <p:nvPr/>
              </p:nvSpPr>
              <p:spPr>
                <a:xfrm>
                  <a:off x="1701" y="3838"/>
                  <a:ext cx="408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6111" name="Line 60"/>
                <p:cNvSpPr/>
                <p:nvPr/>
              </p:nvSpPr>
              <p:spPr>
                <a:xfrm>
                  <a:off x="2426" y="3847"/>
                  <a:ext cx="328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6112" name="Line 61"/>
                <p:cNvSpPr/>
                <p:nvPr/>
              </p:nvSpPr>
              <p:spPr>
                <a:xfrm>
                  <a:off x="1020" y="3838"/>
                  <a:ext cx="374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6113" name="Line 62"/>
                <p:cNvSpPr/>
                <p:nvPr/>
              </p:nvSpPr>
              <p:spPr>
                <a:xfrm>
                  <a:off x="1020" y="3339"/>
                  <a:ext cx="0" cy="51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6114" name="Line 63"/>
                <p:cNvSpPr/>
                <p:nvPr/>
              </p:nvSpPr>
              <p:spPr>
                <a:xfrm>
                  <a:off x="703" y="3339"/>
                  <a:ext cx="329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6115" name="Line 64"/>
                <p:cNvSpPr/>
                <p:nvPr/>
              </p:nvSpPr>
              <p:spPr>
                <a:xfrm>
                  <a:off x="1374" y="3339"/>
                  <a:ext cx="0" cy="51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46097" name="Text Box 70"/>
            <p:cNvSpPr txBox="1"/>
            <p:nvPr/>
          </p:nvSpPr>
          <p:spPr>
            <a:xfrm>
              <a:off x="3198" y="3521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9945" name="Text Box 73"/>
          <p:cNvSpPr txBox="1"/>
          <p:nvPr/>
        </p:nvSpPr>
        <p:spPr>
          <a:xfrm>
            <a:off x="539750" y="479742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9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9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9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9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9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9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9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99" grpId="0"/>
      <p:bldP spid="79913" grpId="0"/>
      <p:bldP spid="79915" grpId="0"/>
      <p:bldP spid="79916" grpId="0"/>
      <p:bldP spid="7994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1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47113" name="Group 1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7122" name="Picture 1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3" name="Text Box 1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7114" name="Group 1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7120" name="Picture 1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1" name="Text Box 1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7115" name="Group 16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7118" name="Picture 1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19" name="Text Box 1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80915" name="Object 19"/>
          <p:cNvGraphicFramePr>
            <a:graphicFrameLocks noGrp="1"/>
          </p:cNvGraphicFramePr>
          <p:nvPr>
            <p:ph sz="half" idx="1"/>
          </p:nvPr>
        </p:nvGraphicFramePr>
        <p:xfrm>
          <a:off x="539750" y="620713"/>
          <a:ext cx="28082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" name="" r:id="rId2" imgW="1066800" imgH="241300" progId="Equation.DSMT4">
                  <p:embed/>
                </p:oleObj>
              </mc:Choice>
              <mc:Fallback>
                <p:oleObj name="" r:id="rId2" imgW="1066800" imgH="241300" progId="Equation.DSMT4">
                  <p:embed/>
                  <p:pic>
                    <p:nvPicPr>
                      <p:cNvPr id="0" name="图片 3309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620713"/>
                        <a:ext cx="2808288" cy="63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7" name="Object 21"/>
          <p:cNvGraphicFramePr>
            <a:graphicFrameLocks noGrp="1"/>
          </p:cNvGraphicFramePr>
          <p:nvPr>
            <p:ph sz="quarter" idx="2"/>
          </p:nvPr>
        </p:nvGraphicFramePr>
        <p:xfrm>
          <a:off x="3348038" y="476250"/>
          <a:ext cx="3024187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" name="" r:id="rId4" imgW="1193165" imgH="393700" progId="Equation.DSMT4">
                  <p:embed/>
                </p:oleObj>
              </mc:Choice>
              <mc:Fallback>
                <p:oleObj name="" r:id="rId4" imgW="1193165" imgH="393700" progId="Equation.DSMT4">
                  <p:embed/>
                  <p:pic>
                    <p:nvPicPr>
                      <p:cNvPr id="0" name="图片 330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48038" y="476250"/>
                        <a:ext cx="3024187" cy="998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0" name="Object 24"/>
          <p:cNvGraphicFramePr/>
          <p:nvPr/>
        </p:nvGraphicFramePr>
        <p:xfrm>
          <a:off x="611188" y="1628775"/>
          <a:ext cx="6624637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" name="" r:id="rId6" imgW="2413000" imgH="419100" progId="Equation.DSMT4">
                  <p:embed/>
                </p:oleObj>
              </mc:Choice>
              <mc:Fallback>
                <p:oleObj name="" r:id="rId6" imgW="2413000" imgH="419100" progId="Equation.DSMT4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1628775"/>
                        <a:ext cx="6624637" cy="1154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2" name="Object 26"/>
          <p:cNvGraphicFramePr>
            <a:graphicFrameLocks noGrp="1"/>
          </p:cNvGraphicFramePr>
          <p:nvPr>
            <p:ph sz="quarter" idx="3"/>
          </p:nvPr>
        </p:nvGraphicFramePr>
        <p:xfrm>
          <a:off x="6372225" y="476250"/>
          <a:ext cx="24796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" name="" r:id="rId8" imgW="1016000" imgH="419100" progId="Equation.DSMT4">
                  <p:embed/>
                </p:oleObj>
              </mc:Choice>
              <mc:Fallback>
                <p:oleObj name="" r:id="rId8" imgW="1016000" imgH="419100" progId="Equation.DSMT4">
                  <p:embed/>
                  <p:pic>
                    <p:nvPicPr>
                      <p:cNvPr id="0" name="图片 3307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72225" y="476250"/>
                        <a:ext cx="2479675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6" name="Rectangle 30"/>
          <p:cNvSpPr/>
          <p:nvPr/>
        </p:nvSpPr>
        <p:spPr>
          <a:xfrm>
            <a:off x="0" y="30861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80925" name="Object 29"/>
          <p:cNvGraphicFramePr/>
          <p:nvPr/>
        </p:nvGraphicFramePr>
        <p:xfrm>
          <a:off x="755650" y="2997200"/>
          <a:ext cx="6337300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" name="" r:id="rId10" imgW="2501900" imgH="685800" progId="Equation.DSMT4">
                  <p:embed/>
                </p:oleObj>
              </mc:Choice>
              <mc:Fallback>
                <p:oleObj name="" r:id="rId10" imgW="2501900" imgH="685800" progId="Equation.DSMT4">
                  <p:embed/>
                  <p:pic>
                    <p:nvPicPr>
                      <p:cNvPr id="0" name="图片 3308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2997200"/>
                        <a:ext cx="6337300" cy="173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7" name="Rectangle 32"/>
          <p:cNvSpPr/>
          <p:nvPr/>
        </p:nvSpPr>
        <p:spPr>
          <a:xfrm>
            <a:off x="0" y="30241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80927" name="Object 31"/>
          <p:cNvGraphicFramePr/>
          <p:nvPr/>
        </p:nvGraphicFramePr>
        <p:xfrm>
          <a:off x="900113" y="4652963"/>
          <a:ext cx="5616575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" name="" r:id="rId12" imgW="2335530" imgH="812165" progId="Equation.DSMT4">
                  <p:embed/>
                </p:oleObj>
              </mc:Choice>
              <mc:Fallback>
                <p:oleObj name="" r:id="rId12" imgW="2335530" imgH="812165" progId="Equation.DSMT4">
                  <p:embed/>
                  <p:pic>
                    <p:nvPicPr>
                      <p:cNvPr id="0" name="图片 3305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4652963"/>
                        <a:ext cx="5616575" cy="1946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0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0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0131" name="Object 19"/>
          <p:cNvGraphicFramePr>
            <a:graphicFrameLocks noGrp="1"/>
          </p:cNvGraphicFramePr>
          <p:nvPr>
            <p:ph/>
          </p:nvPr>
        </p:nvGraphicFramePr>
        <p:xfrm>
          <a:off x="755650" y="3573463"/>
          <a:ext cx="6929438" cy="269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" r:id="rId1" imgW="3439160" imgH="3539490" progId="Visio.Drawing.6">
                  <p:embed/>
                </p:oleObj>
              </mc:Choice>
              <mc:Fallback>
                <p:oleObj name="" r:id="rId1" imgW="3439160" imgH="3539490" progId="Visio.Drawing.6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2"/>
                      <a:srcRect t="46471" b="5678"/>
                      <a:stretch>
                        <a:fillRect/>
                      </a:stretch>
                    </p:blipFill>
                    <p:spPr>
                      <a:xfrm>
                        <a:off x="755650" y="3573463"/>
                        <a:ext cx="6929438" cy="26908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48133" name="Rectangle 3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48134" name="Group 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8144" name="Picture 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45" name="Text Box 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8135" name="Group 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8142" name="Picture 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43" name="Text Box 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8136" name="Group 10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8140" name="Picture 1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41" name="Text Box 1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8137" name="Rectangle 14"/>
          <p:cNvSpPr/>
          <p:nvPr/>
        </p:nvSpPr>
        <p:spPr>
          <a:xfrm>
            <a:off x="0" y="16573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90125" name="Object 13"/>
          <p:cNvGraphicFramePr/>
          <p:nvPr/>
        </p:nvGraphicFramePr>
        <p:xfrm>
          <a:off x="755650" y="692150"/>
          <a:ext cx="6913563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" name="" r:id="rId4" imgW="3439160" imgH="3539490" progId="Visio.Drawing.6">
                  <p:embed/>
                </p:oleObj>
              </mc:Choice>
              <mc:Fallback>
                <p:oleObj name="" r:id="rId4" imgW="3439160" imgH="3539490" progId="Visio.Drawing.6">
                  <p:embed/>
                  <p:pic>
                    <p:nvPicPr>
                      <p:cNvPr id="0" name="图片 3314"/>
                      <p:cNvPicPr/>
                      <p:nvPr/>
                    </p:nvPicPr>
                    <p:blipFill>
                      <a:blip r:embed="rId2"/>
                      <a:srcRect b="57394"/>
                      <a:stretch>
                        <a:fillRect/>
                      </a:stretch>
                    </p:blipFill>
                    <p:spPr>
                      <a:xfrm>
                        <a:off x="755650" y="692150"/>
                        <a:ext cx="6913563" cy="23050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7" name="AutoShape 15" descr="羊皮纸"/>
          <p:cNvSpPr/>
          <p:nvPr/>
        </p:nvSpPr>
        <p:spPr>
          <a:xfrm>
            <a:off x="7092950" y="908050"/>
            <a:ext cx="1873250" cy="647700"/>
          </a:xfrm>
          <a:prstGeom prst="wedgeRoundRectCallout">
            <a:avLst>
              <a:gd name="adj1" fmla="val -143727"/>
              <a:gd name="adj2" fmla="val 85296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幅度频谱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90128" name="AutoShape 16" descr="羊皮纸"/>
          <p:cNvSpPr/>
          <p:nvPr/>
        </p:nvSpPr>
        <p:spPr>
          <a:xfrm>
            <a:off x="6948488" y="3429000"/>
            <a:ext cx="1873250" cy="647700"/>
          </a:xfrm>
          <a:prstGeom prst="wedgeRoundRectCallout">
            <a:avLst>
              <a:gd name="adj1" fmla="val -144574"/>
              <a:gd name="adj2" fmla="val 45343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相位频谱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9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7" grpId="0" animBg="1"/>
      <p:bldP spid="901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9" name="Rectangle 5"/>
          <p:cNvSpPr/>
          <p:nvPr/>
        </p:nvSpPr>
        <p:spPr>
          <a:xfrm>
            <a:off x="1331913" y="549275"/>
            <a:ext cx="6013450" cy="7016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 eaLnBrk="0" hangingPunct="0"/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en-US" altLang="zh-CN" sz="4000" baseline="30000" dirty="0">
                <a:solidFill>
                  <a:schemeClr val="bg1"/>
                </a:solidFill>
                <a:latin typeface="楷体_GB2312" pitchFamily="49" charset="-122"/>
              </a:rPr>
              <a:t>*</a:t>
            </a:r>
            <a:r>
              <a: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13-7</a:t>
            </a:r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</a:rPr>
              <a:t>傅里叶积分简介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49159" name="Group 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9171" name="Picture 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72" name="Text Box 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160" name="Group 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9169" name="Picture 1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70" name="Text Box 1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161" name="Group 12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9167" name="Picture 1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68" name="Text Box 1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77841" name="Rectangle 17"/>
          <p:cNvSpPr/>
          <p:nvPr/>
        </p:nvSpPr>
        <p:spPr>
          <a:xfrm>
            <a:off x="971550" y="4575175"/>
            <a:ext cx="7488238" cy="1117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上式表述的频谱函数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是离散的线状频谱，</a:t>
            </a:r>
            <a:endParaRPr lang="zh-CN" altLang="en-US" dirty="0">
              <a:latin typeface="楷体_GB2312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None/>
            </a:pP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  相邻谱线之间的频差</a:t>
            </a:r>
            <a:endParaRPr lang="zh-CN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graphicFrame>
        <p:nvGraphicFramePr>
          <p:cNvPr id="77844" name="Object 20"/>
          <p:cNvGraphicFramePr/>
          <p:nvPr/>
        </p:nvGraphicFramePr>
        <p:xfrm>
          <a:off x="1601788" y="1719263"/>
          <a:ext cx="3059112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" name="" r:id="rId2" imgW="1091565" imgH="431800" progId="Equation.DSMT4">
                  <p:embed/>
                </p:oleObj>
              </mc:Choice>
              <mc:Fallback>
                <p:oleObj name="" r:id="rId2" imgW="1091565" imgH="431800" progId="Equation.DSMT4">
                  <p:embed/>
                  <p:pic>
                    <p:nvPicPr>
                      <p:cNvPr id="0" name="图片 3310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01788" y="1719263"/>
                        <a:ext cx="3059112" cy="1204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6" name="Object 22"/>
          <p:cNvGraphicFramePr/>
          <p:nvPr/>
        </p:nvGraphicFramePr>
        <p:xfrm>
          <a:off x="611188" y="2852738"/>
          <a:ext cx="424973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" name="" r:id="rId4" imgW="1548765" imgH="393700" progId="Equation.DSMT4">
                  <p:embed/>
                </p:oleObj>
              </mc:Choice>
              <mc:Fallback>
                <p:oleObj name="" r:id="rId4" imgW="1548765" imgH="393700" progId="Equation.DSMT4">
                  <p:embed/>
                  <p:pic>
                    <p:nvPicPr>
                      <p:cNvPr id="0" name="图片 3311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2852738"/>
                        <a:ext cx="4249737" cy="1069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8" name="Object 24"/>
          <p:cNvGraphicFramePr/>
          <p:nvPr/>
        </p:nvGraphicFramePr>
        <p:xfrm>
          <a:off x="4356100" y="2781300"/>
          <a:ext cx="3744913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" r:id="rId6" imgW="1333500" imgH="457200" progId="Equation.DSMT4">
                  <p:embed/>
                </p:oleObj>
              </mc:Choice>
              <mc:Fallback>
                <p:oleObj name="" r:id="rId6" imgW="1333500" imgH="457200" progId="Equation.DSMT4">
                  <p:embed/>
                  <p:pic>
                    <p:nvPicPr>
                      <p:cNvPr id="0" name="图片 331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2781300"/>
                        <a:ext cx="3744913" cy="1284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6"/>
          <p:cNvGrpSpPr/>
          <p:nvPr/>
        </p:nvGrpSpPr>
        <p:grpSpPr>
          <a:xfrm>
            <a:off x="395288" y="3927475"/>
            <a:ext cx="1644650" cy="850900"/>
            <a:chOff x="385" y="3022"/>
            <a:chExt cx="1036" cy="536"/>
          </a:xfrm>
        </p:grpSpPr>
        <p:pic>
          <p:nvPicPr>
            <p:cNvPr id="49165" name="Picture 27" descr="1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66" name="Text Box 2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aphicFrame>
        <p:nvGraphicFramePr>
          <p:cNvPr id="77853" name="Object 29"/>
          <p:cNvGraphicFramePr/>
          <p:nvPr/>
        </p:nvGraphicFramePr>
        <p:xfrm>
          <a:off x="5148263" y="5222875"/>
          <a:ext cx="2303462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" r:id="rId9" imgW="888365" imgH="393700" progId="Equation.DSMT4">
                  <p:embed/>
                </p:oleObj>
              </mc:Choice>
              <mc:Fallback>
                <p:oleObj name="" r:id="rId9" imgW="888365" imgH="393700" progId="Equation.DSMT4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48263" y="5222875"/>
                        <a:ext cx="2303462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5" name="Rectangle 31"/>
          <p:cNvSpPr/>
          <p:nvPr/>
        </p:nvSpPr>
        <p:spPr>
          <a:xfrm>
            <a:off x="611188" y="1196975"/>
            <a:ext cx="5976937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傅里叶级数积分（正变换）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9" grpId="0"/>
      <p:bldP spid="77841" grpId="0"/>
      <p:bldP spid="7785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180" name="Group 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0193" name="Picture 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94" name="Text Box 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181" name="Group 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0191" name="Picture 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92" name="Text Box 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182" name="Group 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0189" name="Picture 1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90" name="Text Box 1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96286" name="Rectangle 30"/>
          <p:cNvSpPr/>
          <p:nvPr/>
        </p:nvSpPr>
        <p:spPr>
          <a:xfrm>
            <a:off x="684213" y="428625"/>
            <a:ext cx="8064500" cy="11890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lang="zh-CN" altLang="en-US" b="0" dirty="0">
                <a:solidFill>
                  <a:schemeClr val="bg1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离散的线状频谱将变为连续的频谱，即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变为</a:t>
            </a:r>
            <a:r>
              <a:rPr lang="zh-CN" altLang="en-US" b="0" i="1" dirty="0">
                <a:solidFill>
                  <a:schemeClr val="bg1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连续函数。</a:t>
            </a:r>
            <a:endParaRPr lang="zh-CN" altLang="en-US" dirty="0">
              <a:latin typeface="楷体_GB2312" pitchFamily="49" charset="-122"/>
              <a:ea typeface="Times New Roman" panose="02020603050405020304" pitchFamily="18" charset="0"/>
            </a:endParaRPr>
          </a:p>
        </p:txBody>
      </p:sp>
      <p:sp>
        <p:nvSpPr>
          <p:cNvPr id="96297" name="Rectangle 41"/>
          <p:cNvSpPr/>
          <p:nvPr/>
        </p:nvSpPr>
        <p:spPr>
          <a:xfrm>
            <a:off x="611188" y="1557338"/>
            <a:ext cx="8064500" cy="11890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3"/>
            </a:pP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在周期内的积分有界（满足狄里赫利条件）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在全频域内是一个无限小的连续函数。 </a:t>
            </a:r>
            <a:endParaRPr lang="zh-CN" altLang="en-US" dirty="0">
              <a:latin typeface="楷体_GB2312" pitchFamily="49" charset="-122"/>
              <a:ea typeface="Times New Roman" panose="02020603050405020304" pitchFamily="18" charset="0"/>
            </a:endParaRPr>
          </a:p>
        </p:txBody>
      </p:sp>
      <p:sp>
        <p:nvSpPr>
          <p:cNvPr id="96298" name="Rectangle 42"/>
          <p:cNvSpPr/>
          <p:nvPr/>
        </p:nvSpPr>
        <p:spPr>
          <a:xfrm>
            <a:off x="611188" y="2924175"/>
            <a:ext cx="1944687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楷体_GB2312" pitchFamily="49" charset="-122"/>
              </a:rPr>
              <a:t>定义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50186" name="Rectangle 44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96299" name="Object 43"/>
          <p:cNvGraphicFramePr/>
          <p:nvPr/>
        </p:nvGraphicFramePr>
        <p:xfrm>
          <a:off x="1692275" y="2708275"/>
          <a:ext cx="6408738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" name="" r:id="rId2" imgW="2501900" imgH="457200" progId="Equation.DSMT4">
                  <p:embed/>
                </p:oleObj>
              </mc:Choice>
              <mc:Fallback>
                <p:oleObj name="" r:id="rId2" imgW="2501900" imgH="457200" progId="Equation.DSMT4">
                  <p:embed/>
                  <p:pic>
                    <p:nvPicPr>
                      <p:cNvPr id="0" name="图片 332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2708275"/>
                        <a:ext cx="6408738" cy="1169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7" name="Rectangle 46"/>
          <p:cNvSpPr/>
          <p:nvPr/>
        </p:nvSpPr>
        <p:spPr>
          <a:xfrm>
            <a:off x="0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96301" name="Object 45"/>
          <p:cNvGraphicFramePr/>
          <p:nvPr/>
        </p:nvGraphicFramePr>
        <p:xfrm>
          <a:off x="809625" y="3933825"/>
          <a:ext cx="7032625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" name="" r:id="rId4" imgW="2475230" imgH="533400" progId="Equation.DSMT4">
                  <p:embed/>
                </p:oleObj>
              </mc:Choice>
              <mc:Fallback>
                <p:oleObj name="" r:id="rId4" imgW="2475230" imgH="533400" progId="Equation.DSMT4">
                  <p:embed/>
                  <p:pic>
                    <p:nvPicPr>
                      <p:cNvPr id="0" name="图片 331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9625" y="3933825"/>
                        <a:ext cx="7032625" cy="1525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303" name="AutoShape 47" descr="羊皮纸"/>
          <p:cNvSpPr/>
          <p:nvPr/>
        </p:nvSpPr>
        <p:spPr>
          <a:xfrm>
            <a:off x="2411413" y="5373688"/>
            <a:ext cx="3384550" cy="576262"/>
          </a:xfrm>
          <a:prstGeom prst="wedgeRoundRectCallout">
            <a:avLst>
              <a:gd name="adj1" fmla="val 30440"/>
              <a:gd name="adj2" fmla="val -161569"/>
              <a:gd name="adj3" fmla="val 16667"/>
            </a:avLst>
          </a:prstGeom>
          <a:blipFill rotWithShape="1">
            <a:blip r:embed="rId6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傅里叶正变换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6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96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86" grpId="0"/>
      <p:bldP spid="96297" grpId="0"/>
      <p:bldP spid="96298" grpId="0"/>
      <p:bldP spid="9630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1208" name="Group 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219" name="Picture 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20" name="Text Box 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09" name="Group 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1217" name="Picture 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8" name="Text Box 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10" name="Group 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1215" name="Picture 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6" name="Text Box 1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97299" name="Rectangle 19"/>
          <p:cNvSpPr/>
          <p:nvPr/>
        </p:nvSpPr>
        <p:spPr>
          <a:xfrm>
            <a:off x="611188" y="620713"/>
            <a:ext cx="5976937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傅里叶逆变换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51212" name="Rectangle 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97300" name="Object 20"/>
          <p:cNvGraphicFramePr/>
          <p:nvPr/>
        </p:nvGraphicFramePr>
        <p:xfrm>
          <a:off x="1835150" y="2420938"/>
          <a:ext cx="439261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2" name="" r:id="rId2" imgW="1701800" imgH="393700" progId="Equation.DSMT4">
                  <p:embed/>
                </p:oleObj>
              </mc:Choice>
              <mc:Fallback>
                <p:oleObj name="" r:id="rId2" imgW="1701800" imgH="393700" progId="Equation.DSMT4">
                  <p:embed/>
                  <p:pic>
                    <p:nvPicPr>
                      <p:cNvPr id="0" name="图片 3321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2420938"/>
                        <a:ext cx="4392613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2" name="Object 22"/>
          <p:cNvGraphicFramePr>
            <a:graphicFrameLocks noGrp="1"/>
          </p:cNvGraphicFramePr>
          <p:nvPr>
            <p:ph sz="half" idx="1"/>
          </p:nvPr>
        </p:nvGraphicFramePr>
        <p:xfrm>
          <a:off x="1258888" y="1196975"/>
          <a:ext cx="6192837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6" name="" r:id="rId4" imgW="2501900" imgH="457200" progId="Equation.DSMT4">
                  <p:embed/>
                </p:oleObj>
              </mc:Choice>
              <mc:Fallback>
                <p:oleObj name="" r:id="rId4" imgW="2501900" imgH="457200" progId="Equation.DSMT4">
                  <p:embed/>
                  <p:pic>
                    <p:nvPicPr>
                      <p:cNvPr id="0" name="图片 331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1196975"/>
                        <a:ext cx="6192837" cy="1131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04" name="Line 24"/>
          <p:cNvSpPr/>
          <p:nvPr/>
        </p:nvSpPr>
        <p:spPr>
          <a:xfrm>
            <a:off x="1042988" y="2924175"/>
            <a:ext cx="647700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97305" name="Object 25"/>
          <p:cNvGraphicFramePr/>
          <p:nvPr/>
        </p:nvGraphicFramePr>
        <p:xfrm>
          <a:off x="1004888" y="3429000"/>
          <a:ext cx="3316287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" name="" r:id="rId6" imgW="1116965" imgH="431800" progId="Equation.DSMT4">
                  <p:embed/>
                </p:oleObj>
              </mc:Choice>
              <mc:Fallback>
                <p:oleObj name="" r:id="rId6" imgW="1116965" imgH="431800" progId="Equation.DSMT4">
                  <p:embed/>
                  <p:pic>
                    <p:nvPicPr>
                      <p:cNvPr id="0" name="图片 3318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04888" y="3429000"/>
                        <a:ext cx="3316287" cy="1112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7" name="Object 27"/>
          <p:cNvGraphicFramePr/>
          <p:nvPr/>
        </p:nvGraphicFramePr>
        <p:xfrm>
          <a:off x="4195763" y="3429000"/>
          <a:ext cx="38481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" name="" r:id="rId8" imgW="1497965" imgH="431800" progId="Equation.DSMT4">
                  <p:embed/>
                </p:oleObj>
              </mc:Choice>
              <mc:Fallback>
                <p:oleObj name="" r:id="rId8" imgW="1497965" imgH="431800" progId="Equation.DSMT4">
                  <p:embed/>
                  <p:pic>
                    <p:nvPicPr>
                      <p:cNvPr id="0" name="图片 331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95763" y="3429000"/>
                        <a:ext cx="3848100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12" name="Object 32"/>
          <p:cNvGraphicFramePr>
            <a:graphicFrameLocks noGrp="1"/>
          </p:cNvGraphicFramePr>
          <p:nvPr>
            <p:ph sz="half" idx="2"/>
          </p:nvPr>
        </p:nvGraphicFramePr>
        <p:xfrm>
          <a:off x="900113" y="4657725"/>
          <a:ext cx="48958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0" name="" r:id="rId10" imgW="2082800" imgH="228600" progId="Equation.DSMT4">
                  <p:embed/>
                </p:oleObj>
              </mc:Choice>
              <mc:Fallback>
                <p:oleObj name="" r:id="rId10" imgW="2082800" imgH="228600" progId="Equation.DSMT4">
                  <p:embed/>
                  <p:pic>
                    <p:nvPicPr>
                      <p:cNvPr id="0" name="图片 3319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4657725"/>
                        <a:ext cx="4895850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15" name="Object 35"/>
          <p:cNvGraphicFramePr/>
          <p:nvPr/>
        </p:nvGraphicFramePr>
        <p:xfrm>
          <a:off x="882650" y="5157788"/>
          <a:ext cx="4932363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" name="" r:id="rId12" imgW="1790065" imgH="393700" progId="Equation.DSMT4">
                  <p:embed/>
                </p:oleObj>
              </mc:Choice>
              <mc:Fallback>
                <p:oleObj name="" r:id="rId12" imgW="1790065" imgH="393700" progId="Equation.DSMT4">
                  <p:embed/>
                  <p:pic>
                    <p:nvPicPr>
                      <p:cNvPr id="0" name="图片 3320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82650" y="5157788"/>
                        <a:ext cx="4932363" cy="1074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17" name="AutoShape 37" descr="羊皮纸"/>
          <p:cNvSpPr/>
          <p:nvPr/>
        </p:nvSpPr>
        <p:spPr>
          <a:xfrm>
            <a:off x="6227763" y="5589588"/>
            <a:ext cx="2592387" cy="576262"/>
          </a:xfrm>
          <a:prstGeom prst="wedgeRoundRectCallout">
            <a:avLst>
              <a:gd name="adj1" fmla="val -104500"/>
              <a:gd name="adj2" fmla="val 4546"/>
              <a:gd name="adj3" fmla="val 16667"/>
            </a:avLst>
          </a:prstGeom>
          <a:blipFill rotWithShape="1">
            <a:blip r:embed="rId14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傅里叶逆变换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9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7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99" grpId="0"/>
      <p:bldP spid="9731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2228" name="Group 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2243" name="Picture 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44" name="Text Box 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2229" name="Group 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2241" name="Picture 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42" name="Text Box 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2230" name="Group 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2239" name="Picture 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40" name="Text Box 1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2231" name="Rectangle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52232" name="Rectangle 16"/>
          <p:cNvSpPr/>
          <p:nvPr/>
        </p:nvSpPr>
        <p:spPr>
          <a:xfrm>
            <a:off x="0" y="29956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100375" name="Object 23"/>
          <p:cNvGraphicFramePr>
            <a:graphicFrameLocks noGrp="1"/>
          </p:cNvGraphicFramePr>
          <p:nvPr>
            <p:ph sz="half" idx="1"/>
          </p:nvPr>
        </p:nvGraphicFramePr>
        <p:xfrm>
          <a:off x="1763713" y="552450"/>
          <a:ext cx="38877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" name="" r:id="rId2" imgW="1485265" imgH="330200" progId="Equation.DSMT4">
                  <p:embed/>
                </p:oleObj>
              </mc:Choice>
              <mc:Fallback>
                <p:oleObj name="" r:id="rId2" imgW="1485265" imgH="330200" progId="Equation.DSMT4">
                  <p:embed/>
                  <p:pic>
                    <p:nvPicPr>
                      <p:cNvPr id="0" name="图片 332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552450"/>
                        <a:ext cx="3887787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7" name="Object 25"/>
          <p:cNvGraphicFramePr>
            <a:graphicFrameLocks noGrp="1"/>
          </p:cNvGraphicFramePr>
          <p:nvPr>
            <p:ph sz="half" idx="2"/>
          </p:nvPr>
        </p:nvGraphicFramePr>
        <p:xfrm>
          <a:off x="1763713" y="1416050"/>
          <a:ext cx="43926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" name="" r:id="rId4" imgW="1790065" imgH="393700" progId="Equation.DSMT4">
                  <p:embed/>
                </p:oleObj>
              </mc:Choice>
              <mc:Fallback>
                <p:oleObj name="" r:id="rId4" imgW="1790065" imgH="393700" progId="Equation.DSMT4">
                  <p:embed/>
                  <p:pic>
                    <p:nvPicPr>
                      <p:cNvPr id="0" name="图片 332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1416050"/>
                        <a:ext cx="4392612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0" name="AutoShape 28"/>
          <p:cNvSpPr/>
          <p:nvPr/>
        </p:nvSpPr>
        <p:spPr>
          <a:xfrm>
            <a:off x="6300788" y="620713"/>
            <a:ext cx="144462" cy="1728787"/>
          </a:xfrm>
          <a:prstGeom prst="rightBrace">
            <a:avLst>
              <a:gd name="adj1" fmla="val 99725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100381" name="AutoShape 29" descr="羊皮纸"/>
          <p:cNvSpPr/>
          <p:nvPr/>
        </p:nvSpPr>
        <p:spPr>
          <a:xfrm>
            <a:off x="6551613" y="1052513"/>
            <a:ext cx="1981200" cy="1008062"/>
          </a:xfrm>
          <a:prstGeom prst="wedgeRoundRectCallout">
            <a:avLst>
              <a:gd name="adj1" fmla="val -85579"/>
              <a:gd name="adj2" fmla="val 3699"/>
              <a:gd name="adj3" fmla="val 16667"/>
            </a:avLst>
          </a:prstGeom>
          <a:blipFill rotWithShape="1">
            <a:blip r:embed="rId6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傅里叶逆变换对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grpSp>
        <p:nvGrpSpPr>
          <p:cNvPr id="5" name="Group 30"/>
          <p:cNvGrpSpPr/>
          <p:nvPr/>
        </p:nvGrpSpPr>
        <p:grpSpPr>
          <a:xfrm>
            <a:off x="900113" y="2349500"/>
            <a:ext cx="1644650" cy="850900"/>
            <a:chOff x="385" y="3022"/>
            <a:chExt cx="1036" cy="536"/>
          </a:xfrm>
        </p:grpSpPr>
        <p:pic>
          <p:nvPicPr>
            <p:cNvPr id="52237" name="Picture 31" descr="1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38" name="Text Box 32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00387" name="Rectangle 35"/>
          <p:cNvSpPr/>
          <p:nvPr/>
        </p:nvSpPr>
        <p:spPr>
          <a:xfrm>
            <a:off x="684213" y="2420938"/>
            <a:ext cx="8280400" cy="2655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  <a:cs typeface="Times New Roman" panose="02020603050405020304" pitchFamily="18" charset="0"/>
              </a:rPr>
              <a:t>          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任一非周期信号都可以看作周期为无限长的周期信号，所以傅里叶变换对为分析研究任意信号奠定了理论基础。在线性电路中，任一形式激励的零状态响应，都可以通过傅里叶变换对，用谐波分析法进行分析研究。 </a:t>
            </a:r>
            <a:endParaRPr lang="zh-CN" altLang="en-US" dirty="0">
              <a:latin typeface="楷体_GB2312" pitchFamily="49" charset="-122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10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80" grpId="0" animBg="1"/>
      <p:bldP spid="100381" grpId="0" animBg="1"/>
      <p:bldP spid="100387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4131</Words>
  <Application>WPS 演示</Application>
  <PresentationFormat>全屏显示(4:3)</PresentationFormat>
  <Paragraphs>1367</Paragraphs>
  <Slides>61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260</vt:i4>
      </vt:variant>
      <vt:variant>
        <vt:lpstr>幻灯片标题</vt:lpstr>
      </vt:variant>
      <vt:variant>
        <vt:i4>61</vt:i4>
      </vt:variant>
    </vt:vector>
  </HeadingPairs>
  <TitlesOfParts>
    <vt:vector size="336" baseType="lpstr">
      <vt:lpstr>Arial</vt:lpstr>
      <vt:lpstr>宋体</vt:lpstr>
      <vt:lpstr>Wingdings</vt:lpstr>
      <vt:lpstr>楷体_GB2312</vt:lpstr>
      <vt:lpstr>新宋体</vt:lpstr>
      <vt:lpstr>Calibri</vt:lpstr>
      <vt:lpstr>隶书</vt:lpstr>
      <vt:lpstr>Times New Roman</vt:lpstr>
      <vt:lpstr>仿宋_GB2312</vt:lpstr>
      <vt:lpstr>仿宋</vt:lpstr>
      <vt:lpstr>华文行楷</vt:lpstr>
      <vt:lpstr>Symbol</vt:lpstr>
      <vt:lpstr>微软雅黑</vt:lpstr>
      <vt:lpstr>Arial Unicode MS</vt:lpstr>
      <vt:lpstr>默认设计模板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Visio.Drawing.6</vt:lpstr>
      <vt:lpstr>Visio.Drawing.6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染墨相思</cp:lastModifiedBy>
  <cp:revision>237</cp:revision>
  <dcterms:created xsi:type="dcterms:W3CDTF">2002-10-26T03:58:49Z</dcterms:created>
  <dcterms:modified xsi:type="dcterms:W3CDTF">2024-06-19T04:36:26Z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30B1BB4BDFC34028812BC8CB6C25C0FE_13</vt:lpwstr>
  </property>
  <property fmtid="{D5CDD505-2E9C-101B-9397-08002B2CF9AE}" pid="3" name="KSOProductBuildVer">
    <vt:lpwstr>2052-12.1.0.16729</vt:lpwstr>
  </property>
</Properties>
</file>