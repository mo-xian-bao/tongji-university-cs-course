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0" r:id="rId3"/>
    <p:sldId id="339" r:id="rId4"/>
    <p:sldId id="308" r:id="rId5"/>
    <p:sldId id="316" r:id="rId6"/>
    <p:sldId id="311" r:id="rId7"/>
    <p:sldId id="312" r:id="rId8"/>
    <p:sldId id="309" r:id="rId9"/>
    <p:sldId id="313" r:id="rId10"/>
    <p:sldId id="317" r:id="rId11"/>
    <p:sldId id="257" r:id="rId12"/>
    <p:sldId id="258" r:id="rId13"/>
    <p:sldId id="321" r:id="rId14"/>
    <p:sldId id="319" r:id="rId15"/>
    <p:sldId id="298" r:id="rId16"/>
    <p:sldId id="318" r:id="rId17"/>
    <p:sldId id="261" r:id="rId18"/>
    <p:sldId id="266" r:id="rId19"/>
    <p:sldId id="262" r:id="rId20"/>
    <p:sldId id="263" r:id="rId21"/>
    <p:sldId id="264" r:id="rId22"/>
    <p:sldId id="280" r:id="rId23"/>
    <p:sldId id="341" r:id="rId24"/>
    <p:sldId id="299" r:id="rId25"/>
    <p:sldId id="267" r:id="rId26"/>
    <p:sldId id="268" r:id="rId27"/>
    <p:sldId id="269" r:id="rId28"/>
    <p:sldId id="303" r:id="rId29"/>
    <p:sldId id="272" r:id="rId30"/>
    <p:sldId id="273" r:id="rId31"/>
    <p:sldId id="286" r:id="rId32"/>
    <p:sldId id="274" r:id="rId33"/>
    <p:sldId id="322" r:id="rId34"/>
    <p:sldId id="275" r:id="rId35"/>
    <p:sldId id="277" r:id="rId36"/>
    <p:sldId id="278" r:id="rId37"/>
    <p:sldId id="279" r:id="rId38"/>
    <p:sldId id="301" r:id="rId39"/>
    <p:sldId id="281" r:id="rId40"/>
    <p:sldId id="282" r:id="rId41"/>
    <p:sldId id="283" r:id="rId42"/>
    <p:sldId id="284" r:id="rId43"/>
    <p:sldId id="285" r:id="rId44"/>
    <p:sldId id="323" r:id="rId45"/>
    <p:sldId id="325" r:id="rId46"/>
    <p:sldId id="324" r:id="rId47"/>
    <p:sldId id="326" r:id="rId48"/>
    <p:sldId id="335" r:id="rId49"/>
    <p:sldId id="328" r:id="rId50"/>
    <p:sldId id="336" r:id="rId51"/>
    <p:sldId id="337" r:id="rId52"/>
    <p:sldId id="338" r:id="rId53"/>
    <p:sldId id="329" r:id="rId54"/>
    <p:sldId id="330" r:id="rId55"/>
    <p:sldId id="331" r:id="rId56"/>
    <p:sldId id="291" r:id="rId57"/>
    <p:sldId id="292" r:id="rId58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rgbClr val="FFFF00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rgbClr val="FFFF00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rgbClr val="FFFF00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rgbClr val="FFFF00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rgbClr val="FFFF00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rgbClr val="FFFF00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rgbClr val="FFFF00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rgbClr val="FFFF00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rgbClr val="FFFF00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FFFF"/>
    <a:srgbClr val="FFFF00"/>
    <a:srgbClr val="33CCFF"/>
    <a:srgbClr val="FF9900"/>
    <a:srgbClr val="FFCC00"/>
    <a:srgbClr val="000099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14"/>
  </p:normalViewPr>
  <p:slideViewPr>
    <p:cSldViewPr showGuides="1">
      <p:cViewPr varScale="1">
        <p:scale>
          <a:sx n="74" d="100"/>
          <a:sy n="74" d="100"/>
        </p:scale>
        <p:origin x="164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slide" Target="slides/slide4.xml"/><Relationship Id="rId59" Type="http://schemas.openxmlformats.org/officeDocument/2006/relationships/presProps" Target="presProps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7" Type="http://schemas.openxmlformats.org/officeDocument/2006/relationships/image" Target="../media/image16.emf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7" Type="http://schemas.openxmlformats.org/officeDocument/2006/relationships/image" Target="../media/image24.emf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8.emf"/><Relationship Id="rId8" Type="http://schemas.openxmlformats.org/officeDocument/2006/relationships/image" Target="../media/image37.emf"/><Relationship Id="rId7" Type="http://schemas.openxmlformats.org/officeDocument/2006/relationships/image" Target="../media/image36.emf"/><Relationship Id="rId6" Type="http://schemas.openxmlformats.org/officeDocument/2006/relationships/image" Target="../media/image35.emf"/><Relationship Id="rId5" Type="http://schemas.openxmlformats.org/officeDocument/2006/relationships/image" Target="../media/image34.emf"/><Relationship Id="rId4" Type="http://schemas.openxmlformats.org/officeDocument/2006/relationships/image" Target="../media/image33.emf"/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2" Type="http://schemas.openxmlformats.org/officeDocument/2006/relationships/image" Target="../media/image41.emf"/><Relationship Id="rId11" Type="http://schemas.openxmlformats.org/officeDocument/2006/relationships/image" Target="../media/image40.emf"/><Relationship Id="rId10" Type="http://schemas.openxmlformats.org/officeDocument/2006/relationships/image" Target="../media/image39.emf"/><Relationship Id="rId1" Type="http://schemas.openxmlformats.org/officeDocument/2006/relationships/image" Target="../media/image29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drawings/_rels/vmlDrawing8.vml.rels><?xml version="1.0" encoding="UTF-8" standalone="yes"?>
<Relationships xmlns="http://schemas.openxmlformats.org/package/2006/relationships"><Relationship Id="rId7" Type="http://schemas.openxmlformats.org/officeDocument/2006/relationships/image" Target="../media/image53.emf"/><Relationship Id="rId6" Type="http://schemas.openxmlformats.org/officeDocument/2006/relationships/image" Target="../media/image52.emf"/><Relationship Id="rId5" Type="http://schemas.openxmlformats.org/officeDocument/2006/relationships/image" Target="../media/image51.emf"/><Relationship Id="rId4" Type="http://schemas.openxmlformats.org/officeDocument/2006/relationships/image" Target="../media/image50.emf"/><Relationship Id="rId3" Type="http://schemas.openxmlformats.org/officeDocument/2006/relationships/image" Target="../media/image49.wmf"/><Relationship Id="rId2" Type="http://schemas.openxmlformats.org/officeDocument/2006/relationships/image" Target="../media/image48.emf"/><Relationship Id="rId1" Type="http://schemas.openxmlformats.org/officeDocument/2006/relationships/image" Target="../media/image4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image" Target="../media/image55.e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66.emf"/><Relationship Id="rId8" Type="http://schemas.openxmlformats.org/officeDocument/2006/relationships/image" Target="../media/image65.emf"/><Relationship Id="rId7" Type="http://schemas.openxmlformats.org/officeDocument/2006/relationships/image" Target="../media/image64.emf"/><Relationship Id="rId6" Type="http://schemas.openxmlformats.org/officeDocument/2006/relationships/image" Target="../media/image63.emf"/><Relationship Id="rId5" Type="http://schemas.openxmlformats.org/officeDocument/2006/relationships/image" Target="../media/image62.emf"/><Relationship Id="rId4" Type="http://schemas.openxmlformats.org/officeDocument/2006/relationships/image" Target="../media/image61.emf"/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2" Type="http://schemas.openxmlformats.org/officeDocument/2006/relationships/image" Target="../media/image69.emf"/><Relationship Id="rId11" Type="http://schemas.openxmlformats.org/officeDocument/2006/relationships/image" Target="../media/image68.emf"/><Relationship Id="rId10" Type="http://schemas.openxmlformats.org/officeDocument/2006/relationships/image" Target="../media/image67.emf"/><Relationship Id="rId1" Type="http://schemas.openxmlformats.org/officeDocument/2006/relationships/image" Target="../media/image58.e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78.emf"/><Relationship Id="rId8" Type="http://schemas.openxmlformats.org/officeDocument/2006/relationships/image" Target="../media/image77.emf"/><Relationship Id="rId7" Type="http://schemas.openxmlformats.org/officeDocument/2006/relationships/image" Target="../media/image76.emf"/><Relationship Id="rId6" Type="http://schemas.openxmlformats.org/officeDocument/2006/relationships/image" Target="../media/image75.emf"/><Relationship Id="rId5" Type="http://schemas.openxmlformats.org/officeDocument/2006/relationships/image" Target="../media/image74.emf"/><Relationship Id="rId4" Type="http://schemas.openxmlformats.org/officeDocument/2006/relationships/image" Target="../media/image73.emf"/><Relationship Id="rId3" Type="http://schemas.openxmlformats.org/officeDocument/2006/relationships/image" Target="../media/image72.emf"/><Relationship Id="rId2" Type="http://schemas.openxmlformats.org/officeDocument/2006/relationships/image" Target="../media/image71.emf"/><Relationship Id="rId13" Type="http://schemas.openxmlformats.org/officeDocument/2006/relationships/image" Target="../media/image82.emf"/><Relationship Id="rId12" Type="http://schemas.openxmlformats.org/officeDocument/2006/relationships/image" Target="../media/image81.emf"/><Relationship Id="rId11" Type="http://schemas.openxmlformats.org/officeDocument/2006/relationships/image" Target="../media/image80.emf"/><Relationship Id="rId10" Type="http://schemas.openxmlformats.org/officeDocument/2006/relationships/image" Target="../media/image79.emf"/><Relationship Id="rId1" Type="http://schemas.openxmlformats.org/officeDocument/2006/relationships/image" Target="../media/image70.e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86.emf"/><Relationship Id="rId3" Type="http://schemas.openxmlformats.org/officeDocument/2006/relationships/image" Target="../media/image85.emf"/><Relationship Id="rId2" Type="http://schemas.openxmlformats.org/officeDocument/2006/relationships/image" Target="../media/image84.emf"/><Relationship Id="rId1" Type="http://schemas.openxmlformats.org/officeDocument/2006/relationships/image" Target="../media/image83.emf"/></Relationships>
</file>

<file path=ppt/drawings/_rels/vmlDrawing14.vml.rels><?xml version="1.0" encoding="UTF-8" standalone="yes"?>
<Relationships xmlns="http://schemas.openxmlformats.org/package/2006/relationships"><Relationship Id="rId4" Type="http://schemas.openxmlformats.org/officeDocument/2006/relationships/image" Target="../media/image90.emf"/><Relationship Id="rId3" Type="http://schemas.openxmlformats.org/officeDocument/2006/relationships/image" Target="../media/image89.emf"/><Relationship Id="rId2" Type="http://schemas.openxmlformats.org/officeDocument/2006/relationships/image" Target="../media/image88.emf"/><Relationship Id="rId1" Type="http://schemas.openxmlformats.org/officeDocument/2006/relationships/image" Target="../media/image87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2.emf"/><Relationship Id="rId1" Type="http://schemas.openxmlformats.org/officeDocument/2006/relationships/image" Target="../media/image91.emf"/></Relationships>
</file>

<file path=ppt/drawings/_rels/vmlDrawing16.vml.rels><?xml version="1.0" encoding="UTF-8" standalone="yes"?>
<Relationships xmlns="http://schemas.openxmlformats.org/package/2006/relationships"><Relationship Id="rId5" Type="http://schemas.openxmlformats.org/officeDocument/2006/relationships/image" Target="../media/image97.emf"/><Relationship Id="rId4" Type="http://schemas.openxmlformats.org/officeDocument/2006/relationships/image" Target="../media/image96.emf"/><Relationship Id="rId3" Type="http://schemas.openxmlformats.org/officeDocument/2006/relationships/image" Target="../media/image95.emf"/><Relationship Id="rId2" Type="http://schemas.openxmlformats.org/officeDocument/2006/relationships/image" Target="../media/image94.emf"/><Relationship Id="rId1" Type="http://schemas.openxmlformats.org/officeDocument/2006/relationships/image" Target="../media/image93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99.emf"/><Relationship Id="rId1" Type="http://schemas.openxmlformats.org/officeDocument/2006/relationships/image" Target="../media/image98.emf"/></Relationships>
</file>

<file path=ppt/drawings/_rels/vmlDrawing18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4.emf"/><Relationship Id="rId3" Type="http://schemas.openxmlformats.org/officeDocument/2006/relationships/image" Target="../media/image103.emf"/><Relationship Id="rId2" Type="http://schemas.openxmlformats.org/officeDocument/2006/relationships/image" Target="../media/image102.emf"/><Relationship Id="rId1" Type="http://schemas.openxmlformats.org/officeDocument/2006/relationships/image" Target="../media/image101.emf"/></Relationships>
</file>

<file path=ppt/drawings/_rels/vmlDrawing19.vml.rels><?xml version="1.0" encoding="UTF-8" standalone="yes"?>
<Relationships xmlns="http://schemas.openxmlformats.org/package/2006/relationships"><Relationship Id="rId7" Type="http://schemas.openxmlformats.org/officeDocument/2006/relationships/image" Target="../media/image111.emf"/><Relationship Id="rId6" Type="http://schemas.openxmlformats.org/officeDocument/2006/relationships/image" Target="../media/image110.emf"/><Relationship Id="rId5" Type="http://schemas.openxmlformats.org/officeDocument/2006/relationships/image" Target="../media/image109.emf"/><Relationship Id="rId4" Type="http://schemas.openxmlformats.org/officeDocument/2006/relationships/image" Target="../media/image108.emf"/><Relationship Id="rId3" Type="http://schemas.openxmlformats.org/officeDocument/2006/relationships/image" Target="../media/image107.emf"/><Relationship Id="rId2" Type="http://schemas.openxmlformats.org/officeDocument/2006/relationships/image" Target="../media/image106.emf"/><Relationship Id="rId1" Type="http://schemas.openxmlformats.org/officeDocument/2006/relationships/image" Target="../media/image105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emf"/><Relationship Id="rId2" Type="http://schemas.openxmlformats.org/officeDocument/2006/relationships/image" Target="../media/image113.emf"/><Relationship Id="rId1" Type="http://schemas.openxmlformats.org/officeDocument/2006/relationships/image" Target="../media/image112.emf"/></Relationships>
</file>

<file path=ppt/drawings/_rels/vmlDrawing21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9.emf"/><Relationship Id="rId4" Type="http://schemas.openxmlformats.org/officeDocument/2006/relationships/image" Target="../media/image118.emf"/><Relationship Id="rId3" Type="http://schemas.openxmlformats.org/officeDocument/2006/relationships/image" Target="../media/image117.emf"/><Relationship Id="rId2" Type="http://schemas.openxmlformats.org/officeDocument/2006/relationships/image" Target="../media/image116.emf"/><Relationship Id="rId1" Type="http://schemas.openxmlformats.org/officeDocument/2006/relationships/image" Target="../media/image115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emf"/><Relationship Id="rId2" Type="http://schemas.openxmlformats.org/officeDocument/2006/relationships/image" Target="../media/image121.emf"/><Relationship Id="rId1" Type="http://schemas.openxmlformats.org/officeDocument/2006/relationships/image" Target="../media/image120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emf"/><Relationship Id="rId1" Type="http://schemas.openxmlformats.org/officeDocument/2006/relationships/image" Target="../media/image123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5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emf"/><Relationship Id="rId1" Type="http://schemas.openxmlformats.org/officeDocument/2006/relationships/image" Target="../media/image126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emf"/><Relationship Id="rId2" Type="http://schemas.openxmlformats.org/officeDocument/2006/relationships/image" Target="../media/image129.emf"/><Relationship Id="rId1" Type="http://schemas.openxmlformats.org/officeDocument/2006/relationships/image" Target="../media/image128.emf"/></Relationships>
</file>

<file path=ppt/drawings/_rels/vmlDrawing27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4.emf"/><Relationship Id="rId3" Type="http://schemas.openxmlformats.org/officeDocument/2006/relationships/image" Target="../media/image133.emf"/><Relationship Id="rId2" Type="http://schemas.openxmlformats.org/officeDocument/2006/relationships/image" Target="../media/image132.emf"/><Relationship Id="rId1" Type="http://schemas.openxmlformats.org/officeDocument/2006/relationships/image" Target="../media/image131.e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3.emf"/><Relationship Id="rId8" Type="http://schemas.openxmlformats.org/officeDocument/2006/relationships/image" Target="../media/image142.emf"/><Relationship Id="rId7" Type="http://schemas.openxmlformats.org/officeDocument/2006/relationships/image" Target="../media/image141.emf"/><Relationship Id="rId6" Type="http://schemas.openxmlformats.org/officeDocument/2006/relationships/image" Target="../media/image140.emf"/><Relationship Id="rId5" Type="http://schemas.openxmlformats.org/officeDocument/2006/relationships/image" Target="../media/image139.emf"/><Relationship Id="rId4" Type="http://schemas.openxmlformats.org/officeDocument/2006/relationships/image" Target="../media/image138.emf"/><Relationship Id="rId3" Type="http://schemas.openxmlformats.org/officeDocument/2006/relationships/image" Target="../media/image137.emf"/><Relationship Id="rId2" Type="http://schemas.openxmlformats.org/officeDocument/2006/relationships/image" Target="../media/image136.emf"/><Relationship Id="rId13" Type="http://schemas.openxmlformats.org/officeDocument/2006/relationships/image" Target="../media/image147.emf"/><Relationship Id="rId12" Type="http://schemas.openxmlformats.org/officeDocument/2006/relationships/image" Target="../media/image146.emf"/><Relationship Id="rId11" Type="http://schemas.openxmlformats.org/officeDocument/2006/relationships/image" Target="../media/image145.emf"/><Relationship Id="rId10" Type="http://schemas.openxmlformats.org/officeDocument/2006/relationships/image" Target="../media/image144.emf"/><Relationship Id="rId1" Type="http://schemas.openxmlformats.org/officeDocument/2006/relationships/image" Target="../media/image135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emf"/><Relationship Id="rId2" Type="http://schemas.openxmlformats.org/officeDocument/2006/relationships/image" Target="../media/image149.emf"/><Relationship Id="rId1" Type="http://schemas.openxmlformats.org/officeDocument/2006/relationships/image" Target="../media/image148.emf"/></Relationships>
</file>

<file path=ppt/drawings/_rels/vmlDrawing30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4.emf"/><Relationship Id="rId3" Type="http://schemas.openxmlformats.org/officeDocument/2006/relationships/image" Target="../media/image153.emf"/><Relationship Id="rId2" Type="http://schemas.openxmlformats.org/officeDocument/2006/relationships/image" Target="../media/image152.emf"/><Relationship Id="rId1" Type="http://schemas.openxmlformats.org/officeDocument/2006/relationships/image" Target="../media/image151.e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emf"/><Relationship Id="rId7" Type="http://schemas.openxmlformats.org/officeDocument/2006/relationships/image" Target="../media/image161.emf"/><Relationship Id="rId6" Type="http://schemas.openxmlformats.org/officeDocument/2006/relationships/image" Target="../media/image160.emf"/><Relationship Id="rId5" Type="http://schemas.openxmlformats.org/officeDocument/2006/relationships/image" Target="../media/image159.emf"/><Relationship Id="rId4" Type="http://schemas.openxmlformats.org/officeDocument/2006/relationships/image" Target="../media/image158.emf"/><Relationship Id="rId3" Type="http://schemas.openxmlformats.org/officeDocument/2006/relationships/image" Target="../media/image157.emf"/><Relationship Id="rId2" Type="http://schemas.openxmlformats.org/officeDocument/2006/relationships/image" Target="../media/image156.emf"/><Relationship Id="rId1" Type="http://schemas.openxmlformats.org/officeDocument/2006/relationships/image" Target="../media/image155.emf"/></Relationships>
</file>

<file path=ppt/drawings/_rels/vmlDrawing32.vml.rels><?xml version="1.0" encoding="UTF-8" standalone="yes"?>
<Relationships xmlns="http://schemas.openxmlformats.org/package/2006/relationships"><Relationship Id="rId5" Type="http://schemas.openxmlformats.org/officeDocument/2006/relationships/image" Target="../media/image167.emf"/><Relationship Id="rId4" Type="http://schemas.openxmlformats.org/officeDocument/2006/relationships/image" Target="../media/image166.emf"/><Relationship Id="rId3" Type="http://schemas.openxmlformats.org/officeDocument/2006/relationships/image" Target="../media/image165.emf"/><Relationship Id="rId2" Type="http://schemas.openxmlformats.org/officeDocument/2006/relationships/image" Target="../media/image164.emf"/><Relationship Id="rId1" Type="http://schemas.openxmlformats.org/officeDocument/2006/relationships/image" Target="../media/image163.emf"/></Relationships>
</file>

<file path=ppt/drawings/_rels/vmlDrawing33.vml.rels><?xml version="1.0" encoding="UTF-8" standalone="yes"?>
<Relationships xmlns="http://schemas.openxmlformats.org/package/2006/relationships"><Relationship Id="rId5" Type="http://schemas.openxmlformats.org/officeDocument/2006/relationships/image" Target="../media/image172.wmf"/><Relationship Id="rId4" Type="http://schemas.openxmlformats.org/officeDocument/2006/relationships/image" Target="../media/image171.emf"/><Relationship Id="rId3" Type="http://schemas.openxmlformats.org/officeDocument/2006/relationships/image" Target="../media/image170.emf"/><Relationship Id="rId2" Type="http://schemas.openxmlformats.org/officeDocument/2006/relationships/image" Target="../media/image169.emf"/><Relationship Id="rId1" Type="http://schemas.openxmlformats.org/officeDocument/2006/relationships/image" Target="../media/image168.e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emf"/><Relationship Id="rId2" Type="http://schemas.openxmlformats.org/officeDocument/2006/relationships/image" Target="../media/image174.emf"/><Relationship Id="rId1" Type="http://schemas.openxmlformats.org/officeDocument/2006/relationships/image" Target="../media/image173.e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wmf"/><Relationship Id="rId2" Type="http://schemas.openxmlformats.org/officeDocument/2006/relationships/image" Target="../media/image177.emf"/><Relationship Id="rId1" Type="http://schemas.openxmlformats.org/officeDocument/2006/relationships/image" Target="../media/image176.e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emf"/><Relationship Id="rId7" Type="http://schemas.openxmlformats.org/officeDocument/2006/relationships/image" Target="../media/image185.emf"/><Relationship Id="rId6" Type="http://schemas.openxmlformats.org/officeDocument/2006/relationships/image" Target="../media/image184.emf"/><Relationship Id="rId5" Type="http://schemas.openxmlformats.org/officeDocument/2006/relationships/image" Target="../media/image183.emf"/><Relationship Id="rId4" Type="http://schemas.openxmlformats.org/officeDocument/2006/relationships/image" Target="../media/image182.emf"/><Relationship Id="rId3" Type="http://schemas.openxmlformats.org/officeDocument/2006/relationships/image" Target="../media/image181.emf"/><Relationship Id="rId2" Type="http://schemas.openxmlformats.org/officeDocument/2006/relationships/image" Target="../media/image180.emf"/><Relationship Id="rId1" Type="http://schemas.openxmlformats.org/officeDocument/2006/relationships/image" Target="../media/image179.emf"/></Relationships>
</file>

<file path=ppt/drawings/_rels/vmlDrawing37.vml.rels><?xml version="1.0" encoding="UTF-8" standalone="yes"?>
<Relationships xmlns="http://schemas.openxmlformats.org/package/2006/relationships"><Relationship Id="rId5" Type="http://schemas.openxmlformats.org/officeDocument/2006/relationships/image" Target="../media/image191.emf"/><Relationship Id="rId4" Type="http://schemas.openxmlformats.org/officeDocument/2006/relationships/image" Target="../media/image190.emf"/><Relationship Id="rId3" Type="http://schemas.openxmlformats.org/officeDocument/2006/relationships/image" Target="../media/image189.emf"/><Relationship Id="rId2" Type="http://schemas.openxmlformats.org/officeDocument/2006/relationships/image" Target="../media/image188.emf"/><Relationship Id="rId1" Type="http://schemas.openxmlformats.org/officeDocument/2006/relationships/image" Target="../media/image187.emf"/></Relationships>
</file>

<file path=ppt/drawings/_rels/vmlDrawing38.vml.rels><?xml version="1.0" encoding="UTF-8" standalone="yes"?>
<Relationships xmlns="http://schemas.openxmlformats.org/package/2006/relationships"><Relationship Id="rId7" Type="http://schemas.openxmlformats.org/officeDocument/2006/relationships/image" Target="../media/image198.emf"/><Relationship Id="rId6" Type="http://schemas.openxmlformats.org/officeDocument/2006/relationships/image" Target="../media/image197.emf"/><Relationship Id="rId5" Type="http://schemas.openxmlformats.org/officeDocument/2006/relationships/image" Target="../media/image196.emf"/><Relationship Id="rId4" Type="http://schemas.openxmlformats.org/officeDocument/2006/relationships/image" Target="../media/image195.emf"/><Relationship Id="rId3" Type="http://schemas.openxmlformats.org/officeDocument/2006/relationships/image" Target="../media/image194.emf"/><Relationship Id="rId2" Type="http://schemas.openxmlformats.org/officeDocument/2006/relationships/image" Target="../media/image193.emf"/><Relationship Id="rId1" Type="http://schemas.openxmlformats.org/officeDocument/2006/relationships/image" Target="../media/image192.e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emf"/><Relationship Id="rId1" Type="http://schemas.openxmlformats.org/officeDocument/2006/relationships/image" Target="../media/image199.e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wmf"/><Relationship Id="rId1" Type="http://schemas.openxmlformats.org/officeDocument/2006/relationships/image" Target="../media/image201.emf"/></Relationships>
</file>

<file path=ppt/drawings/_rels/vmlDrawing41.vml.rels><?xml version="1.0" encoding="UTF-8" standalone="yes"?>
<Relationships xmlns="http://schemas.openxmlformats.org/package/2006/relationships"><Relationship Id="rId4" Type="http://schemas.openxmlformats.org/officeDocument/2006/relationships/image" Target="../media/image206.emf"/><Relationship Id="rId3" Type="http://schemas.openxmlformats.org/officeDocument/2006/relationships/image" Target="../media/image205.emf"/><Relationship Id="rId2" Type="http://schemas.openxmlformats.org/officeDocument/2006/relationships/image" Target="../media/image204.wmf"/><Relationship Id="rId1" Type="http://schemas.openxmlformats.org/officeDocument/2006/relationships/image" Target="../media/image203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7.emf"/></Relationships>
</file>

<file path=ppt/drawings/_rels/vmlDrawing43.vml.rels><?xml version="1.0" encoding="UTF-8" standalone="yes"?>
<Relationships xmlns="http://schemas.openxmlformats.org/package/2006/relationships"><Relationship Id="rId4" Type="http://schemas.openxmlformats.org/officeDocument/2006/relationships/image" Target="../media/image211.emf"/><Relationship Id="rId3" Type="http://schemas.openxmlformats.org/officeDocument/2006/relationships/image" Target="../media/image210.emf"/><Relationship Id="rId2" Type="http://schemas.openxmlformats.org/officeDocument/2006/relationships/image" Target="../media/image209.emf"/><Relationship Id="rId1" Type="http://schemas.openxmlformats.org/officeDocument/2006/relationships/image" Target="../media/image208.emf"/></Relationships>
</file>

<file path=ppt/drawings/_rels/vmlDrawing4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0.emf"/><Relationship Id="rId8" Type="http://schemas.openxmlformats.org/officeDocument/2006/relationships/image" Target="../media/image219.emf"/><Relationship Id="rId7" Type="http://schemas.openxmlformats.org/officeDocument/2006/relationships/image" Target="../media/image218.emf"/><Relationship Id="rId6" Type="http://schemas.openxmlformats.org/officeDocument/2006/relationships/image" Target="../media/image217.emf"/><Relationship Id="rId5" Type="http://schemas.openxmlformats.org/officeDocument/2006/relationships/image" Target="../media/image216.emf"/><Relationship Id="rId4" Type="http://schemas.openxmlformats.org/officeDocument/2006/relationships/image" Target="../media/image215.emf"/><Relationship Id="rId3" Type="http://schemas.openxmlformats.org/officeDocument/2006/relationships/image" Target="../media/image214.emf"/><Relationship Id="rId2" Type="http://schemas.openxmlformats.org/officeDocument/2006/relationships/image" Target="../media/image213.emf"/><Relationship Id="rId16" Type="http://schemas.openxmlformats.org/officeDocument/2006/relationships/image" Target="../media/image227.emf"/><Relationship Id="rId15" Type="http://schemas.openxmlformats.org/officeDocument/2006/relationships/image" Target="../media/image226.emf"/><Relationship Id="rId14" Type="http://schemas.openxmlformats.org/officeDocument/2006/relationships/image" Target="../media/image225.emf"/><Relationship Id="rId13" Type="http://schemas.openxmlformats.org/officeDocument/2006/relationships/image" Target="../media/image224.emf"/><Relationship Id="rId12" Type="http://schemas.openxmlformats.org/officeDocument/2006/relationships/image" Target="../media/image223.emf"/><Relationship Id="rId11" Type="http://schemas.openxmlformats.org/officeDocument/2006/relationships/image" Target="../media/image222.emf"/><Relationship Id="rId10" Type="http://schemas.openxmlformats.org/officeDocument/2006/relationships/image" Target="../media/image221.emf"/><Relationship Id="rId1" Type="http://schemas.openxmlformats.org/officeDocument/2006/relationships/image" Target="../media/image212.emf"/></Relationships>
</file>

<file path=ppt/drawings/_rels/vmlDrawing4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6.emf"/><Relationship Id="rId8" Type="http://schemas.openxmlformats.org/officeDocument/2006/relationships/image" Target="../media/image235.emf"/><Relationship Id="rId7" Type="http://schemas.openxmlformats.org/officeDocument/2006/relationships/image" Target="../media/image234.emf"/><Relationship Id="rId6" Type="http://schemas.openxmlformats.org/officeDocument/2006/relationships/image" Target="../media/image233.emf"/><Relationship Id="rId5" Type="http://schemas.openxmlformats.org/officeDocument/2006/relationships/image" Target="../media/image232.emf"/><Relationship Id="rId4" Type="http://schemas.openxmlformats.org/officeDocument/2006/relationships/image" Target="../media/image231.emf"/><Relationship Id="rId3" Type="http://schemas.openxmlformats.org/officeDocument/2006/relationships/image" Target="../media/image230.emf"/><Relationship Id="rId2" Type="http://schemas.openxmlformats.org/officeDocument/2006/relationships/image" Target="../media/image229.emf"/><Relationship Id="rId16" Type="http://schemas.openxmlformats.org/officeDocument/2006/relationships/image" Target="../media/image243.emf"/><Relationship Id="rId15" Type="http://schemas.openxmlformats.org/officeDocument/2006/relationships/image" Target="../media/image242.emf"/><Relationship Id="rId14" Type="http://schemas.openxmlformats.org/officeDocument/2006/relationships/image" Target="../media/image241.emf"/><Relationship Id="rId13" Type="http://schemas.openxmlformats.org/officeDocument/2006/relationships/image" Target="../media/image240.emf"/><Relationship Id="rId12" Type="http://schemas.openxmlformats.org/officeDocument/2006/relationships/image" Target="../media/image239.emf"/><Relationship Id="rId11" Type="http://schemas.openxmlformats.org/officeDocument/2006/relationships/image" Target="../media/image238.emf"/><Relationship Id="rId10" Type="http://schemas.openxmlformats.org/officeDocument/2006/relationships/image" Target="../media/image237.emf"/><Relationship Id="rId1" Type="http://schemas.openxmlformats.org/officeDocument/2006/relationships/image" Target="../media/image228.emf"/></Relationships>
</file>

<file path=ppt/drawings/_rels/vmlDrawing46.vml.rels><?xml version="1.0" encoding="UTF-8" standalone="yes"?>
<Relationships xmlns="http://schemas.openxmlformats.org/package/2006/relationships"><Relationship Id="rId6" Type="http://schemas.openxmlformats.org/officeDocument/2006/relationships/image" Target="../media/image249.emf"/><Relationship Id="rId5" Type="http://schemas.openxmlformats.org/officeDocument/2006/relationships/image" Target="../media/image248.emf"/><Relationship Id="rId4" Type="http://schemas.openxmlformats.org/officeDocument/2006/relationships/image" Target="../media/image247.emf"/><Relationship Id="rId3" Type="http://schemas.openxmlformats.org/officeDocument/2006/relationships/image" Target="../media/image246.emf"/><Relationship Id="rId2" Type="http://schemas.openxmlformats.org/officeDocument/2006/relationships/image" Target="../media/image245.emf"/><Relationship Id="rId1" Type="http://schemas.openxmlformats.org/officeDocument/2006/relationships/image" Target="../media/image244.emf"/></Relationships>
</file>

<file path=ppt/drawings/_rels/vmlDrawing4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8.emf"/><Relationship Id="rId8" Type="http://schemas.openxmlformats.org/officeDocument/2006/relationships/image" Target="../media/image257.emf"/><Relationship Id="rId7" Type="http://schemas.openxmlformats.org/officeDocument/2006/relationships/image" Target="../media/image256.emf"/><Relationship Id="rId6" Type="http://schemas.openxmlformats.org/officeDocument/2006/relationships/image" Target="../media/image255.emf"/><Relationship Id="rId5" Type="http://schemas.openxmlformats.org/officeDocument/2006/relationships/image" Target="../media/image254.emf"/><Relationship Id="rId4" Type="http://schemas.openxmlformats.org/officeDocument/2006/relationships/image" Target="../media/image253.emf"/><Relationship Id="rId3" Type="http://schemas.openxmlformats.org/officeDocument/2006/relationships/image" Target="../media/image252.emf"/><Relationship Id="rId2" Type="http://schemas.openxmlformats.org/officeDocument/2006/relationships/image" Target="../media/image251.emf"/><Relationship Id="rId12" Type="http://schemas.openxmlformats.org/officeDocument/2006/relationships/image" Target="../media/image261.emf"/><Relationship Id="rId11" Type="http://schemas.openxmlformats.org/officeDocument/2006/relationships/image" Target="../media/image260.emf"/><Relationship Id="rId10" Type="http://schemas.openxmlformats.org/officeDocument/2006/relationships/image" Target="../media/image259.emf"/><Relationship Id="rId1" Type="http://schemas.openxmlformats.org/officeDocument/2006/relationships/image" Target="../media/image250.emf"/></Relationships>
</file>

<file path=ppt/drawings/_rels/vmlDrawing48.vml.rels><?xml version="1.0" encoding="UTF-8" standalone="yes"?>
<Relationships xmlns="http://schemas.openxmlformats.org/package/2006/relationships"><Relationship Id="rId6" Type="http://schemas.openxmlformats.org/officeDocument/2006/relationships/image" Target="../media/image267.emf"/><Relationship Id="rId5" Type="http://schemas.openxmlformats.org/officeDocument/2006/relationships/image" Target="../media/image266.emf"/><Relationship Id="rId4" Type="http://schemas.openxmlformats.org/officeDocument/2006/relationships/image" Target="../media/image265.emf"/><Relationship Id="rId3" Type="http://schemas.openxmlformats.org/officeDocument/2006/relationships/image" Target="../media/image264.emf"/><Relationship Id="rId2" Type="http://schemas.openxmlformats.org/officeDocument/2006/relationships/image" Target="../media/image263.emf"/><Relationship Id="rId1" Type="http://schemas.openxmlformats.org/officeDocument/2006/relationships/image" Target="../media/image262.emf"/></Relationships>
</file>

<file path=ppt/drawings/_rels/vmlDrawing4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6.emf"/><Relationship Id="rId8" Type="http://schemas.openxmlformats.org/officeDocument/2006/relationships/image" Target="../media/image275.emf"/><Relationship Id="rId7" Type="http://schemas.openxmlformats.org/officeDocument/2006/relationships/image" Target="../media/image274.emf"/><Relationship Id="rId6" Type="http://schemas.openxmlformats.org/officeDocument/2006/relationships/image" Target="../media/image273.emf"/><Relationship Id="rId5" Type="http://schemas.openxmlformats.org/officeDocument/2006/relationships/image" Target="../media/image272.emf"/><Relationship Id="rId4" Type="http://schemas.openxmlformats.org/officeDocument/2006/relationships/image" Target="../media/image271.emf"/><Relationship Id="rId3" Type="http://schemas.openxmlformats.org/officeDocument/2006/relationships/image" Target="../media/image270.emf"/><Relationship Id="rId2" Type="http://schemas.openxmlformats.org/officeDocument/2006/relationships/image" Target="../media/image269.emf"/><Relationship Id="rId1" Type="http://schemas.openxmlformats.org/officeDocument/2006/relationships/image" Target="../media/image268.emf"/></Relationships>
</file>

<file path=ppt/drawings/_rels/vmlDrawing5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8.emf"/><Relationship Id="rId1" Type="http://schemas.openxmlformats.org/officeDocument/2006/relationships/image" Target="../media/image277.e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33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80513" cy="6884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7" descr="333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9180513" cy="6884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WordArt 8"/>
          <p:cNvSpPr>
            <a:spLocks noTextEdit="1"/>
          </p:cNvSpPr>
          <p:nvPr userDrawn="1"/>
        </p:nvSpPr>
        <p:spPr>
          <a:xfrm>
            <a:off x="5429250" y="44450"/>
            <a:ext cx="2455863" cy="3143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37"/>
              </a:avLst>
            </a:prstTxWarp>
            <a:normAutofit/>
          </a:bodyPr>
          <a:p>
            <a:pPr algn="ctr"/>
            <a:r>
              <a:rPr lang="zh-CN" altLang="en-US" sz="2400" b="1" spc="480" normalizeH="1">
                <a:gradFill rotWithShape="1">
                  <a:gsLst>
                    <a:gs pos="0">
                      <a:srgbClr val="AAAAAA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effectLst>
                  <a:outerShdw dist="45791" dir="3378595" algn="ctr" rotWithShape="0">
                    <a:srgbClr val="4D4D4D">
                      <a:alpha val="79999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电路的频率响应</a:t>
            </a:r>
            <a:endParaRPr lang="zh-CN" altLang="en-US" sz="2400" b="1" spc="480" normalizeH="1">
              <a:gradFill rotWithShape="1">
                <a:gsLst>
                  <a:gs pos="0">
                    <a:srgbClr val="AAAAAA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effectLst>
                <a:outerShdw dist="45791" dir="3378595" algn="ctr" rotWithShape="0">
                  <a:srgbClr val="4D4D4D">
                    <a:alpha val="79999"/>
                  </a:srgbClr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slide" Target="slide46.xml"/><Relationship Id="rId7" Type="http://schemas.openxmlformats.org/officeDocument/2006/relationships/slide" Target="slide43.xml"/><Relationship Id="rId6" Type="http://schemas.openxmlformats.org/officeDocument/2006/relationships/slide" Target="slide34.xml"/><Relationship Id="rId5" Type="http://schemas.openxmlformats.org/officeDocument/2006/relationships/slide" Target="slide23.xml"/><Relationship Id="rId4" Type="http://schemas.openxmlformats.org/officeDocument/2006/relationships/slide" Target="slide10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5.png"/><Relationship Id="rId10" Type="http://schemas.openxmlformats.org/officeDocument/2006/relationships/slide" Target="slide2.xml"/><Relationship Id="rId1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9.e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6.png"/><Relationship Id="rId2" Type="http://schemas.openxmlformats.org/officeDocument/2006/relationships/image" Target="../media/image7.e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emf"/><Relationship Id="rId8" Type="http://schemas.openxmlformats.org/officeDocument/2006/relationships/oleObject" Target="../embeddings/oleObject7.bin"/><Relationship Id="rId7" Type="http://schemas.openxmlformats.org/officeDocument/2006/relationships/image" Target="../media/image12.emf"/><Relationship Id="rId6" Type="http://schemas.openxmlformats.org/officeDocument/2006/relationships/oleObject" Target="../embeddings/oleObject6.bin"/><Relationship Id="rId5" Type="http://schemas.openxmlformats.org/officeDocument/2006/relationships/image" Target="../media/image6.png"/><Relationship Id="rId4" Type="http://schemas.openxmlformats.org/officeDocument/2006/relationships/image" Target="../media/image11.e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10.emf"/><Relationship Id="rId19" Type="http://schemas.openxmlformats.org/officeDocument/2006/relationships/vmlDrawing" Target="../drawings/vmlDrawing2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17.emf"/><Relationship Id="rId16" Type="http://schemas.openxmlformats.org/officeDocument/2006/relationships/oleObject" Target="../embeddings/oleObject11.bin"/><Relationship Id="rId15" Type="http://schemas.openxmlformats.org/officeDocument/2006/relationships/image" Target="../media/image16.emf"/><Relationship Id="rId14" Type="http://schemas.openxmlformats.org/officeDocument/2006/relationships/oleObject" Target="../embeddings/oleObject10.bin"/><Relationship Id="rId13" Type="http://schemas.openxmlformats.org/officeDocument/2006/relationships/image" Target="../media/image15.emf"/><Relationship Id="rId12" Type="http://schemas.openxmlformats.org/officeDocument/2006/relationships/oleObject" Target="../embeddings/oleObject9.bin"/><Relationship Id="rId11" Type="http://schemas.openxmlformats.org/officeDocument/2006/relationships/image" Target="../media/image14.emf"/><Relationship Id="rId10" Type="http://schemas.openxmlformats.org/officeDocument/2006/relationships/oleObject" Target="../embeddings/oleObject8.bin"/><Relationship Id="rId1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21.emf"/><Relationship Id="rId7" Type="http://schemas.openxmlformats.org/officeDocument/2006/relationships/oleObject" Target="../embeddings/oleObject15.bin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9.e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8.emf"/><Relationship Id="rId19" Type="http://schemas.openxmlformats.org/officeDocument/2006/relationships/vmlDrawing" Target="../drawings/vmlDrawing3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25.emf"/><Relationship Id="rId16" Type="http://schemas.openxmlformats.org/officeDocument/2006/relationships/oleObject" Target="../embeddings/oleObject19.bin"/><Relationship Id="rId15" Type="http://schemas.openxmlformats.org/officeDocument/2006/relationships/image" Target="../media/image24.emf"/><Relationship Id="rId14" Type="http://schemas.openxmlformats.org/officeDocument/2006/relationships/oleObject" Target="../embeddings/oleObject18.bin"/><Relationship Id="rId13" Type="http://schemas.openxmlformats.org/officeDocument/2006/relationships/image" Target="../media/image23.emf"/><Relationship Id="rId12" Type="http://schemas.openxmlformats.org/officeDocument/2006/relationships/oleObject" Target="../embeddings/oleObject17.bin"/><Relationship Id="rId11" Type="http://schemas.openxmlformats.org/officeDocument/2006/relationships/image" Target="../media/image22.emf"/><Relationship Id="rId10" Type="http://schemas.openxmlformats.org/officeDocument/2006/relationships/oleObject" Target="../embeddings/oleObject16.bin"/><Relationship Id="rId1" Type="http://schemas.openxmlformats.org/officeDocument/2006/relationships/oleObject" Target="../embeddings/oleObject1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8.emf"/><Relationship Id="rId4" Type="http://schemas.openxmlformats.org/officeDocument/2006/relationships/oleObject" Target="../embeddings/oleObject21.bin"/><Relationship Id="rId3" Type="http://schemas.openxmlformats.org/officeDocument/2006/relationships/image" Target="../media/image27.emf"/><Relationship Id="rId2" Type="http://schemas.openxmlformats.org/officeDocument/2006/relationships/oleObject" Target="../embeddings/oleObject20.bin"/><Relationship Id="rId1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.bin"/><Relationship Id="rId8" Type="http://schemas.openxmlformats.org/officeDocument/2006/relationships/image" Target="../media/image32.e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31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6.png"/><Relationship Id="rId3" Type="http://schemas.openxmlformats.org/officeDocument/2006/relationships/image" Target="../media/image30.jpeg"/><Relationship Id="rId28" Type="http://schemas.openxmlformats.org/officeDocument/2006/relationships/vmlDrawing" Target="../drawings/vmlDrawing5.vml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41.emf"/><Relationship Id="rId25" Type="http://schemas.openxmlformats.org/officeDocument/2006/relationships/oleObject" Target="../embeddings/oleObject33.bin"/><Relationship Id="rId24" Type="http://schemas.openxmlformats.org/officeDocument/2006/relationships/image" Target="../media/image40.emf"/><Relationship Id="rId23" Type="http://schemas.openxmlformats.org/officeDocument/2006/relationships/oleObject" Target="../embeddings/oleObject32.bin"/><Relationship Id="rId22" Type="http://schemas.openxmlformats.org/officeDocument/2006/relationships/image" Target="../media/image39.emf"/><Relationship Id="rId21" Type="http://schemas.openxmlformats.org/officeDocument/2006/relationships/oleObject" Target="../embeddings/oleObject31.bin"/><Relationship Id="rId20" Type="http://schemas.openxmlformats.org/officeDocument/2006/relationships/image" Target="../media/image38.emf"/><Relationship Id="rId2" Type="http://schemas.openxmlformats.org/officeDocument/2006/relationships/image" Target="../media/image29.emf"/><Relationship Id="rId19" Type="http://schemas.openxmlformats.org/officeDocument/2006/relationships/oleObject" Target="../embeddings/oleObject30.bin"/><Relationship Id="rId18" Type="http://schemas.openxmlformats.org/officeDocument/2006/relationships/image" Target="../media/image37.emf"/><Relationship Id="rId17" Type="http://schemas.openxmlformats.org/officeDocument/2006/relationships/oleObject" Target="../embeddings/oleObject29.bin"/><Relationship Id="rId16" Type="http://schemas.openxmlformats.org/officeDocument/2006/relationships/image" Target="../media/image36.emf"/><Relationship Id="rId15" Type="http://schemas.openxmlformats.org/officeDocument/2006/relationships/oleObject" Target="../embeddings/oleObject28.bin"/><Relationship Id="rId14" Type="http://schemas.openxmlformats.org/officeDocument/2006/relationships/image" Target="../media/image35.emf"/><Relationship Id="rId13" Type="http://schemas.openxmlformats.org/officeDocument/2006/relationships/oleObject" Target="../embeddings/oleObject27.bin"/><Relationship Id="rId12" Type="http://schemas.openxmlformats.org/officeDocument/2006/relationships/image" Target="../media/image34.emf"/><Relationship Id="rId11" Type="http://schemas.openxmlformats.org/officeDocument/2006/relationships/oleObject" Target="../embeddings/oleObject26.bin"/><Relationship Id="rId10" Type="http://schemas.openxmlformats.org/officeDocument/2006/relationships/image" Target="../media/image33.emf"/><Relationship Id="rId1" Type="http://schemas.openxmlformats.org/officeDocument/2006/relationships/oleObject" Target="../embeddings/oleObject2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3.emf"/><Relationship Id="rId4" Type="http://schemas.openxmlformats.org/officeDocument/2006/relationships/oleObject" Target="../embeddings/oleObject35.bin"/><Relationship Id="rId3" Type="http://schemas.openxmlformats.org/officeDocument/2006/relationships/image" Target="../media/image26.png"/><Relationship Id="rId2" Type="http://schemas.openxmlformats.org/officeDocument/2006/relationships/image" Target="../media/image42.emf"/><Relationship Id="rId1" Type="http://schemas.openxmlformats.org/officeDocument/2006/relationships/oleObject" Target="../embeddings/oleObject34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6.e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45.e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6.png"/><Relationship Id="rId3" Type="http://schemas.openxmlformats.org/officeDocument/2006/relationships/image" Target="../media/image30.jpeg"/><Relationship Id="rId2" Type="http://schemas.openxmlformats.org/officeDocument/2006/relationships/image" Target="../media/image44.emf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36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jpeg"/><Relationship Id="rId8" Type="http://schemas.openxmlformats.org/officeDocument/2006/relationships/image" Target="../media/image50.emf"/><Relationship Id="rId7" Type="http://schemas.openxmlformats.org/officeDocument/2006/relationships/oleObject" Target="../embeddings/oleObject42.bin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8.e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47.wmf"/><Relationship Id="rId18" Type="http://schemas.openxmlformats.org/officeDocument/2006/relationships/vmlDrawing" Target="../drawings/vmlDrawing8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53.emf"/><Relationship Id="rId15" Type="http://schemas.openxmlformats.org/officeDocument/2006/relationships/oleObject" Target="../embeddings/oleObject45.bin"/><Relationship Id="rId14" Type="http://schemas.openxmlformats.org/officeDocument/2006/relationships/image" Target="../media/image52.emf"/><Relationship Id="rId13" Type="http://schemas.openxmlformats.org/officeDocument/2006/relationships/oleObject" Target="../embeddings/oleObject44.bin"/><Relationship Id="rId12" Type="http://schemas.openxmlformats.org/officeDocument/2006/relationships/image" Target="../media/image51.emf"/><Relationship Id="rId11" Type="http://schemas.openxmlformats.org/officeDocument/2006/relationships/oleObject" Target="../embeddings/oleObject43.bin"/><Relationship Id="rId10" Type="http://schemas.openxmlformats.org/officeDocument/2006/relationships/image" Target="../media/image6.png"/><Relationship Id="rId1" Type="http://schemas.openxmlformats.org/officeDocument/2006/relationships/oleObject" Target="../embeddings/oleObject39.bin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4.emf"/><Relationship Id="rId2" Type="http://schemas.openxmlformats.org/officeDocument/2006/relationships/oleObject" Target="../embeddings/oleObject46.bin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0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6.png"/><Relationship Id="rId6" Type="http://schemas.openxmlformats.org/officeDocument/2006/relationships/image" Target="../media/image30.jpeg"/><Relationship Id="rId5" Type="http://schemas.openxmlformats.org/officeDocument/2006/relationships/image" Target="../media/image57.jpeg"/><Relationship Id="rId4" Type="http://schemas.openxmlformats.org/officeDocument/2006/relationships/image" Target="../media/image56.e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55.emf"/><Relationship Id="rId1" Type="http://schemas.openxmlformats.org/officeDocument/2006/relationships/oleObject" Target="../embeddings/oleObject47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.bin"/><Relationship Id="rId8" Type="http://schemas.openxmlformats.org/officeDocument/2006/relationships/image" Target="../media/image61.e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60.e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9.emf"/><Relationship Id="rId3" Type="http://schemas.openxmlformats.org/officeDocument/2006/relationships/oleObject" Target="../embeddings/oleObject50.bin"/><Relationship Id="rId27" Type="http://schemas.openxmlformats.org/officeDocument/2006/relationships/vmlDrawing" Target="../drawings/vmlDrawing11.vml"/><Relationship Id="rId26" Type="http://schemas.openxmlformats.org/officeDocument/2006/relationships/slideLayout" Target="../slideLayouts/slideLayout7.xml"/><Relationship Id="rId25" Type="http://schemas.openxmlformats.org/officeDocument/2006/relationships/image" Target="../media/image6.png"/><Relationship Id="rId24" Type="http://schemas.openxmlformats.org/officeDocument/2006/relationships/image" Target="../media/image69.emf"/><Relationship Id="rId23" Type="http://schemas.openxmlformats.org/officeDocument/2006/relationships/oleObject" Target="../embeddings/oleObject60.bin"/><Relationship Id="rId22" Type="http://schemas.openxmlformats.org/officeDocument/2006/relationships/image" Target="../media/image68.emf"/><Relationship Id="rId21" Type="http://schemas.openxmlformats.org/officeDocument/2006/relationships/oleObject" Target="../embeddings/oleObject59.bin"/><Relationship Id="rId20" Type="http://schemas.openxmlformats.org/officeDocument/2006/relationships/image" Target="../media/image67.emf"/><Relationship Id="rId2" Type="http://schemas.openxmlformats.org/officeDocument/2006/relationships/image" Target="../media/image58.emf"/><Relationship Id="rId19" Type="http://schemas.openxmlformats.org/officeDocument/2006/relationships/oleObject" Target="../embeddings/oleObject58.bin"/><Relationship Id="rId18" Type="http://schemas.openxmlformats.org/officeDocument/2006/relationships/image" Target="../media/image66.emf"/><Relationship Id="rId17" Type="http://schemas.openxmlformats.org/officeDocument/2006/relationships/oleObject" Target="../embeddings/oleObject57.bin"/><Relationship Id="rId16" Type="http://schemas.openxmlformats.org/officeDocument/2006/relationships/image" Target="../media/image65.emf"/><Relationship Id="rId15" Type="http://schemas.openxmlformats.org/officeDocument/2006/relationships/oleObject" Target="../embeddings/oleObject56.bin"/><Relationship Id="rId14" Type="http://schemas.openxmlformats.org/officeDocument/2006/relationships/image" Target="../media/image64.emf"/><Relationship Id="rId13" Type="http://schemas.openxmlformats.org/officeDocument/2006/relationships/oleObject" Target="../embeddings/oleObject55.bin"/><Relationship Id="rId12" Type="http://schemas.openxmlformats.org/officeDocument/2006/relationships/image" Target="../media/image63.emf"/><Relationship Id="rId11" Type="http://schemas.openxmlformats.org/officeDocument/2006/relationships/oleObject" Target="../embeddings/oleObject54.bin"/><Relationship Id="rId10" Type="http://schemas.openxmlformats.org/officeDocument/2006/relationships/image" Target="../media/image62.emf"/><Relationship Id="rId1" Type="http://schemas.openxmlformats.org/officeDocument/2006/relationships/oleObject" Target="../embeddings/oleObject49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5.bin"/><Relationship Id="rId8" Type="http://schemas.openxmlformats.org/officeDocument/2006/relationships/image" Target="../media/image73.emf"/><Relationship Id="rId7" Type="http://schemas.openxmlformats.org/officeDocument/2006/relationships/oleObject" Target="../embeddings/oleObject64.bin"/><Relationship Id="rId6" Type="http://schemas.openxmlformats.org/officeDocument/2006/relationships/image" Target="../media/image72.e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71.emf"/><Relationship Id="rId3" Type="http://schemas.openxmlformats.org/officeDocument/2006/relationships/oleObject" Target="../embeddings/oleObject62.bin"/><Relationship Id="rId29" Type="http://schemas.openxmlformats.org/officeDocument/2006/relationships/vmlDrawing" Target="../drawings/vmlDrawing12.vml"/><Relationship Id="rId28" Type="http://schemas.openxmlformats.org/officeDocument/2006/relationships/slideLayout" Target="../slideLayouts/slideLayout7.xml"/><Relationship Id="rId27" Type="http://schemas.openxmlformats.org/officeDocument/2006/relationships/image" Target="../media/image82.emf"/><Relationship Id="rId26" Type="http://schemas.openxmlformats.org/officeDocument/2006/relationships/oleObject" Target="../embeddings/oleObject73.bin"/><Relationship Id="rId25" Type="http://schemas.openxmlformats.org/officeDocument/2006/relationships/image" Target="../media/image6.png"/><Relationship Id="rId24" Type="http://schemas.openxmlformats.org/officeDocument/2006/relationships/image" Target="../media/image81.emf"/><Relationship Id="rId23" Type="http://schemas.openxmlformats.org/officeDocument/2006/relationships/oleObject" Target="../embeddings/oleObject72.bin"/><Relationship Id="rId22" Type="http://schemas.openxmlformats.org/officeDocument/2006/relationships/image" Target="../media/image80.emf"/><Relationship Id="rId21" Type="http://schemas.openxmlformats.org/officeDocument/2006/relationships/oleObject" Target="../embeddings/oleObject71.bin"/><Relationship Id="rId20" Type="http://schemas.openxmlformats.org/officeDocument/2006/relationships/image" Target="../media/image79.emf"/><Relationship Id="rId2" Type="http://schemas.openxmlformats.org/officeDocument/2006/relationships/image" Target="../media/image70.emf"/><Relationship Id="rId19" Type="http://schemas.openxmlformats.org/officeDocument/2006/relationships/oleObject" Target="../embeddings/oleObject70.bin"/><Relationship Id="rId18" Type="http://schemas.openxmlformats.org/officeDocument/2006/relationships/image" Target="../media/image78.emf"/><Relationship Id="rId17" Type="http://schemas.openxmlformats.org/officeDocument/2006/relationships/oleObject" Target="../embeddings/oleObject69.bin"/><Relationship Id="rId16" Type="http://schemas.openxmlformats.org/officeDocument/2006/relationships/image" Target="../media/image77.emf"/><Relationship Id="rId15" Type="http://schemas.openxmlformats.org/officeDocument/2006/relationships/oleObject" Target="../embeddings/oleObject68.bin"/><Relationship Id="rId14" Type="http://schemas.openxmlformats.org/officeDocument/2006/relationships/image" Target="../media/image76.emf"/><Relationship Id="rId13" Type="http://schemas.openxmlformats.org/officeDocument/2006/relationships/oleObject" Target="../embeddings/oleObject67.bin"/><Relationship Id="rId12" Type="http://schemas.openxmlformats.org/officeDocument/2006/relationships/image" Target="../media/image75.emf"/><Relationship Id="rId11" Type="http://schemas.openxmlformats.org/officeDocument/2006/relationships/oleObject" Target="../embeddings/oleObject66.bin"/><Relationship Id="rId10" Type="http://schemas.openxmlformats.org/officeDocument/2006/relationships/image" Target="../media/image74.emf"/><Relationship Id="rId1" Type="http://schemas.openxmlformats.org/officeDocument/2006/relationships/oleObject" Target="../embeddings/oleObject61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jpeg"/><Relationship Id="rId8" Type="http://schemas.openxmlformats.org/officeDocument/2006/relationships/image" Target="../media/image86.emf"/><Relationship Id="rId7" Type="http://schemas.openxmlformats.org/officeDocument/2006/relationships/oleObject" Target="../embeddings/oleObject77.bin"/><Relationship Id="rId6" Type="http://schemas.openxmlformats.org/officeDocument/2006/relationships/image" Target="../media/image85.e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84.emf"/><Relationship Id="rId3" Type="http://schemas.openxmlformats.org/officeDocument/2006/relationships/oleObject" Target="../embeddings/oleObject75.bin"/><Relationship Id="rId2" Type="http://schemas.openxmlformats.org/officeDocument/2006/relationships/image" Target="../media/image83.emf"/><Relationship Id="rId12" Type="http://schemas.openxmlformats.org/officeDocument/2006/relationships/vmlDrawing" Target="../drawings/vmlDrawing13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6.png"/><Relationship Id="rId1" Type="http://schemas.openxmlformats.org/officeDocument/2006/relationships/oleObject" Target="../embeddings/oleObject74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90.emf"/><Relationship Id="rId7" Type="http://schemas.openxmlformats.org/officeDocument/2006/relationships/oleObject" Target="../embeddings/oleObject81.bin"/><Relationship Id="rId6" Type="http://schemas.openxmlformats.org/officeDocument/2006/relationships/image" Target="../media/image89.e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88.emf"/><Relationship Id="rId3" Type="http://schemas.openxmlformats.org/officeDocument/2006/relationships/oleObject" Target="../embeddings/oleObject79.bin"/><Relationship Id="rId2" Type="http://schemas.openxmlformats.org/officeDocument/2006/relationships/image" Target="../media/image87.emf"/><Relationship Id="rId11" Type="http://schemas.openxmlformats.org/officeDocument/2006/relationships/vmlDrawing" Target="../drawings/vmlDrawing14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7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6.png"/><Relationship Id="rId4" Type="http://schemas.openxmlformats.org/officeDocument/2006/relationships/image" Target="../media/image92.emf"/><Relationship Id="rId3" Type="http://schemas.openxmlformats.org/officeDocument/2006/relationships/oleObject" Target="../embeddings/oleObject83.bin"/><Relationship Id="rId2" Type="http://schemas.openxmlformats.org/officeDocument/2006/relationships/image" Target="../media/image91.emf"/><Relationship Id="rId1" Type="http://schemas.openxmlformats.org/officeDocument/2006/relationships/oleObject" Target="../embeddings/oleObject82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8.bin"/><Relationship Id="rId8" Type="http://schemas.openxmlformats.org/officeDocument/2006/relationships/image" Target="../media/image96.emf"/><Relationship Id="rId7" Type="http://schemas.openxmlformats.org/officeDocument/2006/relationships/oleObject" Target="../embeddings/oleObject87.bin"/><Relationship Id="rId6" Type="http://schemas.openxmlformats.org/officeDocument/2006/relationships/image" Target="../media/image95.e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94.emf"/><Relationship Id="rId3" Type="http://schemas.openxmlformats.org/officeDocument/2006/relationships/oleObject" Target="../embeddings/oleObject85.bin"/><Relationship Id="rId2" Type="http://schemas.openxmlformats.org/officeDocument/2006/relationships/image" Target="../media/image93.emf"/><Relationship Id="rId14" Type="http://schemas.openxmlformats.org/officeDocument/2006/relationships/vmlDrawing" Target="../drawings/vmlDrawing16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.png"/><Relationship Id="rId11" Type="http://schemas.openxmlformats.org/officeDocument/2006/relationships/image" Target="../media/image26.png"/><Relationship Id="rId10" Type="http://schemas.openxmlformats.org/officeDocument/2006/relationships/image" Target="../media/image97.emf"/><Relationship Id="rId1" Type="http://schemas.openxmlformats.org/officeDocument/2006/relationships/oleObject" Target="../embeddings/oleObject84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7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00.wmf"/><Relationship Id="rId6" Type="http://schemas.openxmlformats.org/officeDocument/2006/relationships/oleObject" Target="../embeddings/oleObject91.bin"/><Relationship Id="rId5" Type="http://schemas.openxmlformats.org/officeDocument/2006/relationships/image" Target="../media/image99.emf"/><Relationship Id="rId4" Type="http://schemas.openxmlformats.org/officeDocument/2006/relationships/oleObject" Target="../embeddings/oleObject90.bin"/><Relationship Id="rId3" Type="http://schemas.openxmlformats.org/officeDocument/2006/relationships/image" Target="../media/image6.png"/><Relationship Id="rId2" Type="http://schemas.openxmlformats.org/officeDocument/2006/relationships/image" Target="../media/image98.emf"/><Relationship Id="rId1" Type="http://schemas.openxmlformats.org/officeDocument/2006/relationships/oleObject" Target="../embeddings/oleObject89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104.emf"/><Relationship Id="rId7" Type="http://schemas.openxmlformats.org/officeDocument/2006/relationships/oleObject" Target="../embeddings/oleObject95.bin"/><Relationship Id="rId6" Type="http://schemas.openxmlformats.org/officeDocument/2006/relationships/image" Target="../media/image103.e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102.emf"/><Relationship Id="rId3" Type="http://schemas.openxmlformats.org/officeDocument/2006/relationships/oleObject" Target="../embeddings/oleObject93.bin"/><Relationship Id="rId2" Type="http://schemas.openxmlformats.org/officeDocument/2006/relationships/image" Target="../media/image101.emf"/><Relationship Id="rId12" Type="http://schemas.openxmlformats.org/officeDocument/2006/relationships/vmlDrawing" Target="../drawings/vmlDrawing18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7.jpeg"/><Relationship Id="rId1" Type="http://schemas.openxmlformats.org/officeDocument/2006/relationships/oleObject" Target="../embeddings/oleObject92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8.emf"/><Relationship Id="rId8" Type="http://schemas.openxmlformats.org/officeDocument/2006/relationships/oleObject" Target="../embeddings/oleObject99.bin"/><Relationship Id="rId7" Type="http://schemas.openxmlformats.org/officeDocument/2006/relationships/image" Target="../media/image6.png"/><Relationship Id="rId6" Type="http://schemas.openxmlformats.org/officeDocument/2006/relationships/image" Target="../media/image107.emf"/><Relationship Id="rId5" Type="http://schemas.openxmlformats.org/officeDocument/2006/relationships/oleObject" Target="../embeddings/oleObject98.bin"/><Relationship Id="rId4" Type="http://schemas.openxmlformats.org/officeDocument/2006/relationships/image" Target="../media/image106.emf"/><Relationship Id="rId3" Type="http://schemas.openxmlformats.org/officeDocument/2006/relationships/oleObject" Target="../embeddings/oleObject97.bin"/><Relationship Id="rId2" Type="http://schemas.openxmlformats.org/officeDocument/2006/relationships/image" Target="../media/image105.emf"/><Relationship Id="rId17" Type="http://schemas.openxmlformats.org/officeDocument/2006/relationships/vmlDrawing" Target="../drawings/vmlDrawing19.v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111.emf"/><Relationship Id="rId14" Type="http://schemas.openxmlformats.org/officeDocument/2006/relationships/oleObject" Target="../embeddings/oleObject102.bin"/><Relationship Id="rId13" Type="http://schemas.openxmlformats.org/officeDocument/2006/relationships/image" Target="../media/image110.emf"/><Relationship Id="rId12" Type="http://schemas.openxmlformats.org/officeDocument/2006/relationships/oleObject" Target="../embeddings/oleObject101.bin"/><Relationship Id="rId11" Type="http://schemas.openxmlformats.org/officeDocument/2006/relationships/image" Target="../media/image109.emf"/><Relationship Id="rId10" Type="http://schemas.openxmlformats.org/officeDocument/2006/relationships/oleObject" Target="../embeddings/oleObject100.bin"/><Relationship Id="rId1" Type="http://schemas.openxmlformats.org/officeDocument/2006/relationships/oleObject" Target="../embeddings/oleObject96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0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6.png"/><Relationship Id="rId6" Type="http://schemas.openxmlformats.org/officeDocument/2006/relationships/image" Target="../media/image114.emf"/><Relationship Id="rId5" Type="http://schemas.openxmlformats.org/officeDocument/2006/relationships/oleObject" Target="../embeddings/oleObject105.bin"/><Relationship Id="rId4" Type="http://schemas.openxmlformats.org/officeDocument/2006/relationships/image" Target="../media/image113.emf"/><Relationship Id="rId3" Type="http://schemas.openxmlformats.org/officeDocument/2006/relationships/oleObject" Target="../embeddings/oleObject104.bin"/><Relationship Id="rId2" Type="http://schemas.openxmlformats.org/officeDocument/2006/relationships/image" Target="../media/image112.emf"/><Relationship Id="rId1" Type="http://schemas.openxmlformats.org/officeDocument/2006/relationships/oleObject" Target="../embeddings/oleObject103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8.emf"/><Relationship Id="rId8" Type="http://schemas.openxmlformats.org/officeDocument/2006/relationships/oleObject" Target="../embeddings/oleObject109.bin"/><Relationship Id="rId7" Type="http://schemas.openxmlformats.org/officeDocument/2006/relationships/image" Target="../media/image117.emf"/><Relationship Id="rId6" Type="http://schemas.openxmlformats.org/officeDocument/2006/relationships/oleObject" Target="../embeddings/oleObject108.bin"/><Relationship Id="rId5" Type="http://schemas.openxmlformats.org/officeDocument/2006/relationships/image" Target="../media/image6.png"/><Relationship Id="rId4" Type="http://schemas.openxmlformats.org/officeDocument/2006/relationships/image" Target="../media/image116.emf"/><Relationship Id="rId3" Type="http://schemas.openxmlformats.org/officeDocument/2006/relationships/oleObject" Target="../embeddings/oleObject107.bin"/><Relationship Id="rId2" Type="http://schemas.openxmlformats.org/officeDocument/2006/relationships/image" Target="../media/image115.emf"/><Relationship Id="rId13" Type="http://schemas.openxmlformats.org/officeDocument/2006/relationships/vmlDrawing" Target="../drawings/vmlDrawing21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19.emf"/><Relationship Id="rId10" Type="http://schemas.openxmlformats.org/officeDocument/2006/relationships/oleObject" Target="../embeddings/oleObject110.bin"/><Relationship Id="rId1" Type="http://schemas.openxmlformats.org/officeDocument/2006/relationships/oleObject" Target="../embeddings/oleObject106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2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22.emf"/><Relationship Id="rId6" Type="http://schemas.openxmlformats.org/officeDocument/2006/relationships/oleObject" Target="../embeddings/oleObject113.bin"/><Relationship Id="rId5" Type="http://schemas.openxmlformats.org/officeDocument/2006/relationships/image" Target="../media/image6.png"/><Relationship Id="rId4" Type="http://schemas.openxmlformats.org/officeDocument/2006/relationships/image" Target="../media/image121.emf"/><Relationship Id="rId3" Type="http://schemas.openxmlformats.org/officeDocument/2006/relationships/oleObject" Target="../embeddings/oleObject112.bin"/><Relationship Id="rId2" Type="http://schemas.openxmlformats.org/officeDocument/2006/relationships/image" Target="../media/image120.emf"/><Relationship Id="rId1" Type="http://schemas.openxmlformats.org/officeDocument/2006/relationships/oleObject" Target="../embeddings/oleObject111.bin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3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24.emf"/><Relationship Id="rId3" Type="http://schemas.openxmlformats.org/officeDocument/2006/relationships/oleObject" Target="../embeddings/oleObject115.bin"/><Relationship Id="rId2" Type="http://schemas.openxmlformats.org/officeDocument/2006/relationships/image" Target="../media/image123.emf"/><Relationship Id="rId1" Type="http://schemas.openxmlformats.org/officeDocument/2006/relationships/oleObject" Target="../embeddings/oleObject114.bin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4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125.emf"/><Relationship Id="rId1" Type="http://schemas.openxmlformats.org/officeDocument/2006/relationships/oleObject" Target="../embeddings/oleObject116.bin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5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27.emf"/><Relationship Id="rId3" Type="http://schemas.openxmlformats.org/officeDocument/2006/relationships/oleObject" Target="../embeddings/oleObject118.bin"/><Relationship Id="rId2" Type="http://schemas.openxmlformats.org/officeDocument/2006/relationships/image" Target="../media/image126.emf"/><Relationship Id="rId1" Type="http://schemas.openxmlformats.org/officeDocument/2006/relationships/oleObject" Target="../embeddings/oleObject117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6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6.png"/><Relationship Id="rId6" Type="http://schemas.openxmlformats.org/officeDocument/2006/relationships/image" Target="../media/image130.emf"/><Relationship Id="rId5" Type="http://schemas.openxmlformats.org/officeDocument/2006/relationships/oleObject" Target="../embeddings/oleObject121.bin"/><Relationship Id="rId4" Type="http://schemas.openxmlformats.org/officeDocument/2006/relationships/image" Target="../media/image129.emf"/><Relationship Id="rId3" Type="http://schemas.openxmlformats.org/officeDocument/2006/relationships/oleObject" Target="../embeddings/oleObject120.bin"/><Relationship Id="rId2" Type="http://schemas.openxmlformats.org/officeDocument/2006/relationships/image" Target="../media/image128.emf"/><Relationship Id="rId1" Type="http://schemas.openxmlformats.org/officeDocument/2006/relationships/oleObject" Target="../embeddings/oleObject119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134.emf"/><Relationship Id="rId7" Type="http://schemas.openxmlformats.org/officeDocument/2006/relationships/oleObject" Target="../embeddings/oleObject125.bin"/><Relationship Id="rId6" Type="http://schemas.openxmlformats.org/officeDocument/2006/relationships/image" Target="../media/image133.e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132.emf"/><Relationship Id="rId3" Type="http://schemas.openxmlformats.org/officeDocument/2006/relationships/oleObject" Target="../embeddings/oleObject123.bin"/><Relationship Id="rId2" Type="http://schemas.openxmlformats.org/officeDocument/2006/relationships/image" Target="../media/image131.emf"/><Relationship Id="rId11" Type="http://schemas.openxmlformats.org/officeDocument/2006/relationships/vmlDrawing" Target="../drawings/vmlDrawing27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122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0.bin"/><Relationship Id="rId8" Type="http://schemas.openxmlformats.org/officeDocument/2006/relationships/image" Target="../media/image138.emf"/><Relationship Id="rId7" Type="http://schemas.openxmlformats.org/officeDocument/2006/relationships/oleObject" Target="../embeddings/oleObject129.bin"/><Relationship Id="rId6" Type="http://schemas.openxmlformats.org/officeDocument/2006/relationships/image" Target="../media/image137.emf"/><Relationship Id="rId5" Type="http://schemas.openxmlformats.org/officeDocument/2006/relationships/oleObject" Target="../embeddings/oleObject128.bin"/><Relationship Id="rId4" Type="http://schemas.openxmlformats.org/officeDocument/2006/relationships/image" Target="../media/image136.emf"/><Relationship Id="rId3" Type="http://schemas.openxmlformats.org/officeDocument/2006/relationships/oleObject" Target="../embeddings/oleObject127.bin"/><Relationship Id="rId29" Type="http://schemas.openxmlformats.org/officeDocument/2006/relationships/vmlDrawing" Target="../drawings/vmlDrawing28.vml"/><Relationship Id="rId28" Type="http://schemas.openxmlformats.org/officeDocument/2006/relationships/slideLayout" Target="../slideLayouts/slideLayout7.xml"/><Relationship Id="rId27" Type="http://schemas.openxmlformats.org/officeDocument/2006/relationships/image" Target="../media/image6.png"/><Relationship Id="rId26" Type="http://schemas.openxmlformats.org/officeDocument/2006/relationships/image" Target="../media/image147.emf"/><Relationship Id="rId25" Type="http://schemas.openxmlformats.org/officeDocument/2006/relationships/oleObject" Target="../embeddings/oleObject138.bin"/><Relationship Id="rId24" Type="http://schemas.openxmlformats.org/officeDocument/2006/relationships/image" Target="../media/image146.emf"/><Relationship Id="rId23" Type="http://schemas.openxmlformats.org/officeDocument/2006/relationships/oleObject" Target="../embeddings/oleObject137.bin"/><Relationship Id="rId22" Type="http://schemas.openxmlformats.org/officeDocument/2006/relationships/image" Target="../media/image145.emf"/><Relationship Id="rId21" Type="http://schemas.openxmlformats.org/officeDocument/2006/relationships/oleObject" Target="../embeddings/oleObject136.bin"/><Relationship Id="rId20" Type="http://schemas.openxmlformats.org/officeDocument/2006/relationships/image" Target="../media/image144.emf"/><Relationship Id="rId2" Type="http://schemas.openxmlformats.org/officeDocument/2006/relationships/image" Target="../media/image135.emf"/><Relationship Id="rId19" Type="http://schemas.openxmlformats.org/officeDocument/2006/relationships/oleObject" Target="../embeddings/oleObject135.bin"/><Relationship Id="rId18" Type="http://schemas.openxmlformats.org/officeDocument/2006/relationships/image" Target="../media/image143.emf"/><Relationship Id="rId17" Type="http://schemas.openxmlformats.org/officeDocument/2006/relationships/oleObject" Target="../embeddings/oleObject134.bin"/><Relationship Id="rId16" Type="http://schemas.openxmlformats.org/officeDocument/2006/relationships/image" Target="../media/image142.emf"/><Relationship Id="rId15" Type="http://schemas.openxmlformats.org/officeDocument/2006/relationships/oleObject" Target="../embeddings/oleObject133.bin"/><Relationship Id="rId14" Type="http://schemas.openxmlformats.org/officeDocument/2006/relationships/image" Target="../media/image141.emf"/><Relationship Id="rId13" Type="http://schemas.openxmlformats.org/officeDocument/2006/relationships/oleObject" Target="../embeddings/oleObject132.bin"/><Relationship Id="rId12" Type="http://schemas.openxmlformats.org/officeDocument/2006/relationships/image" Target="../media/image140.emf"/><Relationship Id="rId11" Type="http://schemas.openxmlformats.org/officeDocument/2006/relationships/oleObject" Target="../embeddings/oleObject131.bin"/><Relationship Id="rId10" Type="http://schemas.openxmlformats.org/officeDocument/2006/relationships/image" Target="../media/image139.emf"/><Relationship Id="rId1" Type="http://schemas.openxmlformats.org/officeDocument/2006/relationships/oleObject" Target="../embeddings/oleObject126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png"/><Relationship Id="rId7" Type="http://schemas.openxmlformats.org/officeDocument/2006/relationships/image" Target="../media/image150.emf"/><Relationship Id="rId6" Type="http://schemas.openxmlformats.org/officeDocument/2006/relationships/oleObject" Target="../embeddings/oleObject141.bin"/><Relationship Id="rId5" Type="http://schemas.openxmlformats.org/officeDocument/2006/relationships/image" Target="../media/image149.emf"/><Relationship Id="rId4" Type="http://schemas.openxmlformats.org/officeDocument/2006/relationships/oleObject" Target="../embeddings/oleObject140.bin"/><Relationship Id="rId3" Type="http://schemas.openxmlformats.org/officeDocument/2006/relationships/image" Target="../media/image26.png"/><Relationship Id="rId2" Type="http://schemas.openxmlformats.org/officeDocument/2006/relationships/image" Target="../media/image148.emf"/><Relationship Id="rId10" Type="http://schemas.openxmlformats.org/officeDocument/2006/relationships/vmlDrawing" Target="../drawings/vmlDrawing29.vml"/><Relationship Id="rId1" Type="http://schemas.openxmlformats.org/officeDocument/2006/relationships/oleObject" Target="../embeddings/oleObject139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4.emf"/><Relationship Id="rId8" Type="http://schemas.openxmlformats.org/officeDocument/2006/relationships/oleObject" Target="../embeddings/oleObject145.bin"/><Relationship Id="rId7" Type="http://schemas.openxmlformats.org/officeDocument/2006/relationships/image" Target="../media/image153.emf"/><Relationship Id="rId6" Type="http://schemas.openxmlformats.org/officeDocument/2006/relationships/oleObject" Target="../embeddings/oleObject144.bin"/><Relationship Id="rId5" Type="http://schemas.openxmlformats.org/officeDocument/2006/relationships/image" Target="../media/image6.png"/><Relationship Id="rId4" Type="http://schemas.openxmlformats.org/officeDocument/2006/relationships/image" Target="../media/image152.emf"/><Relationship Id="rId3" Type="http://schemas.openxmlformats.org/officeDocument/2006/relationships/oleObject" Target="../embeddings/oleObject143.bin"/><Relationship Id="rId2" Type="http://schemas.openxmlformats.org/officeDocument/2006/relationships/image" Target="../media/image151.emf"/><Relationship Id="rId11" Type="http://schemas.openxmlformats.org/officeDocument/2006/relationships/vmlDrawing" Target="../drawings/vmlDrawing30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142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0.bin"/><Relationship Id="rId8" Type="http://schemas.openxmlformats.org/officeDocument/2006/relationships/image" Target="../media/image158.emf"/><Relationship Id="rId7" Type="http://schemas.openxmlformats.org/officeDocument/2006/relationships/oleObject" Target="../embeddings/oleObject149.bin"/><Relationship Id="rId6" Type="http://schemas.openxmlformats.org/officeDocument/2006/relationships/image" Target="../media/image157.emf"/><Relationship Id="rId5" Type="http://schemas.openxmlformats.org/officeDocument/2006/relationships/oleObject" Target="../embeddings/oleObject148.bin"/><Relationship Id="rId4" Type="http://schemas.openxmlformats.org/officeDocument/2006/relationships/image" Target="../media/image156.emf"/><Relationship Id="rId3" Type="http://schemas.openxmlformats.org/officeDocument/2006/relationships/oleObject" Target="../embeddings/oleObject147.bin"/><Relationship Id="rId2" Type="http://schemas.openxmlformats.org/officeDocument/2006/relationships/image" Target="../media/image155.emf"/><Relationship Id="rId19" Type="http://schemas.openxmlformats.org/officeDocument/2006/relationships/vmlDrawing" Target="../drawings/vmlDrawing31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162.emf"/><Relationship Id="rId16" Type="http://schemas.openxmlformats.org/officeDocument/2006/relationships/oleObject" Target="../embeddings/oleObject153.bin"/><Relationship Id="rId15" Type="http://schemas.openxmlformats.org/officeDocument/2006/relationships/image" Target="../media/image161.emf"/><Relationship Id="rId14" Type="http://schemas.openxmlformats.org/officeDocument/2006/relationships/oleObject" Target="../embeddings/oleObject152.bin"/><Relationship Id="rId13" Type="http://schemas.openxmlformats.org/officeDocument/2006/relationships/image" Target="../media/image6.png"/><Relationship Id="rId12" Type="http://schemas.openxmlformats.org/officeDocument/2006/relationships/image" Target="../media/image160.emf"/><Relationship Id="rId11" Type="http://schemas.openxmlformats.org/officeDocument/2006/relationships/oleObject" Target="../embeddings/oleObject151.bin"/><Relationship Id="rId10" Type="http://schemas.openxmlformats.org/officeDocument/2006/relationships/image" Target="../media/image159.emf"/><Relationship Id="rId1" Type="http://schemas.openxmlformats.org/officeDocument/2006/relationships/oleObject" Target="../embeddings/oleObject146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166.emf"/><Relationship Id="rId7" Type="http://schemas.openxmlformats.org/officeDocument/2006/relationships/oleObject" Target="../embeddings/oleObject157.bin"/><Relationship Id="rId6" Type="http://schemas.openxmlformats.org/officeDocument/2006/relationships/image" Target="../media/image165.emf"/><Relationship Id="rId5" Type="http://schemas.openxmlformats.org/officeDocument/2006/relationships/oleObject" Target="../embeddings/oleObject156.bin"/><Relationship Id="rId4" Type="http://schemas.openxmlformats.org/officeDocument/2006/relationships/image" Target="../media/image164.emf"/><Relationship Id="rId3" Type="http://schemas.openxmlformats.org/officeDocument/2006/relationships/oleObject" Target="../embeddings/oleObject155.bin"/><Relationship Id="rId2" Type="http://schemas.openxmlformats.org/officeDocument/2006/relationships/image" Target="../media/image163.emf"/><Relationship Id="rId13" Type="http://schemas.openxmlformats.org/officeDocument/2006/relationships/vmlDrawing" Target="../drawings/vmlDrawing32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67.emf"/><Relationship Id="rId10" Type="http://schemas.openxmlformats.org/officeDocument/2006/relationships/oleObject" Target="../embeddings/oleObject158.bin"/><Relationship Id="rId1" Type="http://schemas.openxmlformats.org/officeDocument/2006/relationships/oleObject" Target="../embeddings/oleObject154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3.bin"/><Relationship Id="rId8" Type="http://schemas.openxmlformats.org/officeDocument/2006/relationships/image" Target="../media/image171.emf"/><Relationship Id="rId7" Type="http://schemas.openxmlformats.org/officeDocument/2006/relationships/oleObject" Target="../embeddings/oleObject162.bin"/><Relationship Id="rId6" Type="http://schemas.openxmlformats.org/officeDocument/2006/relationships/image" Target="../media/image170.emf"/><Relationship Id="rId5" Type="http://schemas.openxmlformats.org/officeDocument/2006/relationships/oleObject" Target="../embeddings/oleObject161.bin"/><Relationship Id="rId4" Type="http://schemas.openxmlformats.org/officeDocument/2006/relationships/image" Target="../media/image169.emf"/><Relationship Id="rId3" Type="http://schemas.openxmlformats.org/officeDocument/2006/relationships/oleObject" Target="../embeddings/oleObject160.bin"/><Relationship Id="rId2" Type="http://schemas.openxmlformats.org/officeDocument/2006/relationships/image" Target="../media/image168.emf"/><Relationship Id="rId13" Type="http://schemas.openxmlformats.org/officeDocument/2006/relationships/vmlDrawing" Target="../drawings/vmlDrawing33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6.png"/><Relationship Id="rId10" Type="http://schemas.openxmlformats.org/officeDocument/2006/relationships/image" Target="../media/image172.wmf"/><Relationship Id="rId1" Type="http://schemas.openxmlformats.org/officeDocument/2006/relationships/oleObject" Target="../embeddings/oleObject159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png"/><Relationship Id="rId7" Type="http://schemas.openxmlformats.org/officeDocument/2006/relationships/image" Target="../media/image175.emf"/><Relationship Id="rId6" Type="http://schemas.openxmlformats.org/officeDocument/2006/relationships/oleObject" Target="../embeddings/oleObject166.bin"/><Relationship Id="rId5" Type="http://schemas.openxmlformats.org/officeDocument/2006/relationships/image" Target="../media/image174.emf"/><Relationship Id="rId4" Type="http://schemas.openxmlformats.org/officeDocument/2006/relationships/oleObject" Target="../embeddings/oleObject165.bin"/><Relationship Id="rId3" Type="http://schemas.openxmlformats.org/officeDocument/2006/relationships/image" Target="../media/image173.emf"/><Relationship Id="rId2" Type="http://schemas.openxmlformats.org/officeDocument/2006/relationships/oleObject" Target="../embeddings/oleObject164.bin"/><Relationship Id="rId10" Type="http://schemas.openxmlformats.org/officeDocument/2006/relationships/vmlDrawing" Target="../drawings/vmlDrawing34.vml"/><Relationship Id="rId1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png"/><Relationship Id="rId7" Type="http://schemas.openxmlformats.org/officeDocument/2006/relationships/image" Target="../media/image178.wmf"/><Relationship Id="rId6" Type="http://schemas.openxmlformats.org/officeDocument/2006/relationships/oleObject" Target="../embeddings/oleObject169.bin"/><Relationship Id="rId5" Type="http://schemas.openxmlformats.org/officeDocument/2006/relationships/image" Target="../media/image30.jpeg"/><Relationship Id="rId4" Type="http://schemas.openxmlformats.org/officeDocument/2006/relationships/image" Target="../media/image177.emf"/><Relationship Id="rId3" Type="http://schemas.openxmlformats.org/officeDocument/2006/relationships/oleObject" Target="../embeddings/oleObject168.bin"/><Relationship Id="rId2" Type="http://schemas.openxmlformats.org/officeDocument/2006/relationships/image" Target="../media/image176.emf"/><Relationship Id="rId10" Type="http://schemas.openxmlformats.org/officeDocument/2006/relationships/vmlDrawing" Target="../drawings/vmlDrawing35.vml"/><Relationship Id="rId1" Type="http://schemas.openxmlformats.org/officeDocument/2006/relationships/oleObject" Target="../embeddings/oleObject167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4.bin"/><Relationship Id="rId8" Type="http://schemas.openxmlformats.org/officeDocument/2006/relationships/image" Target="../media/image182.emf"/><Relationship Id="rId7" Type="http://schemas.openxmlformats.org/officeDocument/2006/relationships/oleObject" Target="../embeddings/oleObject173.bin"/><Relationship Id="rId6" Type="http://schemas.openxmlformats.org/officeDocument/2006/relationships/image" Target="../media/image181.emf"/><Relationship Id="rId5" Type="http://schemas.openxmlformats.org/officeDocument/2006/relationships/oleObject" Target="../embeddings/oleObject172.bin"/><Relationship Id="rId4" Type="http://schemas.openxmlformats.org/officeDocument/2006/relationships/image" Target="../media/image180.emf"/><Relationship Id="rId3" Type="http://schemas.openxmlformats.org/officeDocument/2006/relationships/oleObject" Target="../embeddings/oleObject171.bin"/><Relationship Id="rId2" Type="http://schemas.openxmlformats.org/officeDocument/2006/relationships/image" Target="../media/image179.emf"/><Relationship Id="rId19" Type="http://schemas.openxmlformats.org/officeDocument/2006/relationships/vmlDrawing" Target="../drawings/vmlDrawing36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6.png"/><Relationship Id="rId16" Type="http://schemas.openxmlformats.org/officeDocument/2006/relationships/image" Target="../media/image186.emf"/><Relationship Id="rId15" Type="http://schemas.openxmlformats.org/officeDocument/2006/relationships/oleObject" Target="../embeddings/oleObject177.bin"/><Relationship Id="rId14" Type="http://schemas.openxmlformats.org/officeDocument/2006/relationships/image" Target="../media/image185.emf"/><Relationship Id="rId13" Type="http://schemas.openxmlformats.org/officeDocument/2006/relationships/oleObject" Target="../embeddings/oleObject176.bin"/><Relationship Id="rId12" Type="http://schemas.openxmlformats.org/officeDocument/2006/relationships/image" Target="../media/image184.emf"/><Relationship Id="rId11" Type="http://schemas.openxmlformats.org/officeDocument/2006/relationships/oleObject" Target="../embeddings/oleObject175.bin"/><Relationship Id="rId10" Type="http://schemas.openxmlformats.org/officeDocument/2006/relationships/image" Target="../media/image183.emf"/><Relationship Id="rId1" Type="http://schemas.openxmlformats.org/officeDocument/2006/relationships/oleObject" Target="../embeddings/oleObject170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2.bin"/><Relationship Id="rId8" Type="http://schemas.openxmlformats.org/officeDocument/2006/relationships/image" Target="../media/image190.emf"/><Relationship Id="rId7" Type="http://schemas.openxmlformats.org/officeDocument/2006/relationships/oleObject" Target="../embeddings/oleObject181.bin"/><Relationship Id="rId6" Type="http://schemas.openxmlformats.org/officeDocument/2006/relationships/image" Target="../media/image189.emf"/><Relationship Id="rId5" Type="http://schemas.openxmlformats.org/officeDocument/2006/relationships/oleObject" Target="../embeddings/oleObject180.bin"/><Relationship Id="rId4" Type="http://schemas.openxmlformats.org/officeDocument/2006/relationships/image" Target="../media/image188.emf"/><Relationship Id="rId3" Type="http://schemas.openxmlformats.org/officeDocument/2006/relationships/oleObject" Target="../embeddings/oleObject179.bin"/><Relationship Id="rId2" Type="http://schemas.openxmlformats.org/officeDocument/2006/relationships/image" Target="../media/image187.emf"/><Relationship Id="rId13" Type="http://schemas.openxmlformats.org/officeDocument/2006/relationships/vmlDrawing" Target="../drawings/vmlDrawing37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6.png"/><Relationship Id="rId10" Type="http://schemas.openxmlformats.org/officeDocument/2006/relationships/image" Target="../media/image191.emf"/><Relationship Id="rId1" Type="http://schemas.openxmlformats.org/officeDocument/2006/relationships/oleObject" Target="../embeddings/oleObject178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7.bin"/><Relationship Id="rId8" Type="http://schemas.openxmlformats.org/officeDocument/2006/relationships/image" Target="../media/image195.emf"/><Relationship Id="rId7" Type="http://schemas.openxmlformats.org/officeDocument/2006/relationships/oleObject" Target="../embeddings/oleObject186.bin"/><Relationship Id="rId6" Type="http://schemas.openxmlformats.org/officeDocument/2006/relationships/image" Target="../media/image194.emf"/><Relationship Id="rId5" Type="http://schemas.openxmlformats.org/officeDocument/2006/relationships/oleObject" Target="../embeddings/oleObject185.bin"/><Relationship Id="rId4" Type="http://schemas.openxmlformats.org/officeDocument/2006/relationships/image" Target="../media/image193.emf"/><Relationship Id="rId3" Type="http://schemas.openxmlformats.org/officeDocument/2006/relationships/oleObject" Target="../embeddings/oleObject184.bin"/><Relationship Id="rId2" Type="http://schemas.openxmlformats.org/officeDocument/2006/relationships/image" Target="../media/image192.emf"/><Relationship Id="rId17" Type="http://schemas.openxmlformats.org/officeDocument/2006/relationships/vmlDrawing" Target="../drawings/vmlDrawing38.v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6.png"/><Relationship Id="rId14" Type="http://schemas.openxmlformats.org/officeDocument/2006/relationships/image" Target="../media/image198.emf"/><Relationship Id="rId13" Type="http://schemas.openxmlformats.org/officeDocument/2006/relationships/oleObject" Target="../embeddings/oleObject189.bin"/><Relationship Id="rId12" Type="http://schemas.openxmlformats.org/officeDocument/2006/relationships/image" Target="../media/image197.emf"/><Relationship Id="rId11" Type="http://schemas.openxmlformats.org/officeDocument/2006/relationships/oleObject" Target="../embeddings/oleObject188.bin"/><Relationship Id="rId10" Type="http://schemas.openxmlformats.org/officeDocument/2006/relationships/image" Target="../media/image196.emf"/><Relationship Id="rId1" Type="http://schemas.openxmlformats.org/officeDocument/2006/relationships/oleObject" Target="../embeddings/oleObject183.bin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9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00.emf"/><Relationship Id="rId4" Type="http://schemas.openxmlformats.org/officeDocument/2006/relationships/oleObject" Target="../embeddings/oleObject191.bin"/><Relationship Id="rId3" Type="http://schemas.openxmlformats.org/officeDocument/2006/relationships/image" Target="../media/image6.png"/><Relationship Id="rId2" Type="http://schemas.openxmlformats.org/officeDocument/2006/relationships/image" Target="../media/image199.emf"/><Relationship Id="rId1" Type="http://schemas.openxmlformats.org/officeDocument/2006/relationships/oleObject" Target="../embeddings/oleObject190.bin"/></Relationships>
</file>

<file path=ppt/slides/_rels/slide4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0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02.wmf"/><Relationship Id="rId4" Type="http://schemas.openxmlformats.org/officeDocument/2006/relationships/oleObject" Target="../embeddings/oleObject193.bin"/><Relationship Id="rId3" Type="http://schemas.openxmlformats.org/officeDocument/2006/relationships/image" Target="../media/image6.png"/><Relationship Id="rId2" Type="http://schemas.openxmlformats.org/officeDocument/2006/relationships/image" Target="../media/image201.emf"/><Relationship Id="rId1" Type="http://schemas.openxmlformats.org/officeDocument/2006/relationships/oleObject" Target="../embeddings/oleObject192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6.emf"/><Relationship Id="rId8" Type="http://schemas.openxmlformats.org/officeDocument/2006/relationships/oleObject" Target="../embeddings/oleObject197.bin"/><Relationship Id="rId7" Type="http://schemas.openxmlformats.org/officeDocument/2006/relationships/image" Target="../media/image205.emf"/><Relationship Id="rId6" Type="http://schemas.openxmlformats.org/officeDocument/2006/relationships/oleObject" Target="../embeddings/oleObject196.bin"/><Relationship Id="rId5" Type="http://schemas.openxmlformats.org/officeDocument/2006/relationships/image" Target="../media/image204.wmf"/><Relationship Id="rId4" Type="http://schemas.openxmlformats.org/officeDocument/2006/relationships/oleObject" Target="../embeddings/oleObject195.bin"/><Relationship Id="rId3" Type="http://schemas.openxmlformats.org/officeDocument/2006/relationships/image" Target="../media/image203.emf"/><Relationship Id="rId2" Type="http://schemas.openxmlformats.org/officeDocument/2006/relationships/oleObject" Target="../embeddings/oleObject194.bin"/><Relationship Id="rId11" Type="http://schemas.openxmlformats.org/officeDocument/2006/relationships/vmlDrawing" Target="../drawings/vmlDrawing41.v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2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207.emf"/><Relationship Id="rId1" Type="http://schemas.openxmlformats.org/officeDocument/2006/relationships/oleObject" Target="../embeddings/oleObject198.bin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211.emf"/><Relationship Id="rId7" Type="http://schemas.openxmlformats.org/officeDocument/2006/relationships/oleObject" Target="../embeddings/oleObject202.bin"/><Relationship Id="rId6" Type="http://schemas.openxmlformats.org/officeDocument/2006/relationships/image" Target="../media/image210.emf"/><Relationship Id="rId5" Type="http://schemas.openxmlformats.org/officeDocument/2006/relationships/oleObject" Target="../embeddings/oleObject201.bin"/><Relationship Id="rId4" Type="http://schemas.openxmlformats.org/officeDocument/2006/relationships/image" Target="../media/image209.emf"/><Relationship Id="rId3" Type="http://schemas.openxmlformats.org/officeDocument/2006/relationships/oleObject" Target="../embeddings/oleObject200.bin"/><Relationship Id="rId2" Type="http://schemas.openxmlformats.org/officeDocument/2006/relationships/image" Target="../media/image208.emf"/><Relationship Id="rId11" Type="http://schemas.openxmlformats.org/officeDocument/2006/relationships/vmlDrawing" Target="../drawings/vmlDrawing43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199.bin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5.emf"/><Relationship Id="rId8" Type="http://schemas.openxmlformats.org/officeDocument/2006/relationships/oleObject" Target="../embeddings/oleObject206.bin"/><Relationship Id="rId7" Type="http://schemas.openxmlformats.org/officeDocument/2006/relationships/image" Target="../media/image214.emf"/><Relationship Id="rId6" Type="http://schemas.openxmlformats.org/officeDocument/2006/relationships/oleObject" Target="../embeddings/oleObject205.bin"/><Relationship Id="rId5" Type="http://schemas.openxmlformats.org/officeDocument/2006/relationships/image" Target="../media/image213.emf"/><Relationship Id="rId4" Type="http://schemas.openxmlformats.org/officeDocument/2006/relationships/oleObject" Target="../embeddings/oleObject204.bin"/><Relationship Id="rId35" Type="http://schemas.openxmlformats.org/officeDocument/2006/relationships/vmlDrawing" Target="../drawings/vmlDrawing44.vml"/><Relationship Id="rId34" Type="http://schemas.openxmlformats.org/officeDocument/2006/relationships/slideLayout" Target="../slideLayouts/slideLayout7.xml"/><Relationship Id="rId33" Type="http://schemas.openxmlformats.org/officeDocument/2006/relationships/image" Target="../media/image227.emf"/><Relationship Id="rId32" Type="http://schemas.openxmlformats.org/officeDocument/2006/relationships/oleObject" Target="../embeddings/oleObject218.bin"/><Relationship Id="rId31" Type="http://schemas.openxmlformats.org/officeDocument/2006/relationships/image" Target="../media/image226.emf"/><Relationship Id="rId30" Type="http://schemas.openxmlformats.org/officeDocument/2006/relationships/oleObject" Target="../embeddings/oleObject217.bin"/><Relationship Id="rId3" Type="http://schemas.openxmlformats.org/officeDocument/2006/relationships/image" Target="../media/image212.emf"/><Relationship Id="rId29" Type="http://schemas.openxmlformats.org/officeDocument/2006/relationships/image" Target="../media/image225.emf"/><Relationship Id="rId28" Type="http://schemas.openxmlformats.org/officeDocument/2006/relationships/oleObject" Target="../embeddings/oleObject216.bin"/><Relationship Id="rId27" Type="http://schemas.openxmlformats.org/officeDocument/2006/relationships/image" Target="../media/image224.emf"/><Relationship Id="rId26" Type="http://schemas.openxmlformats.org/officeDocument/2006/relationships/oleObject" Target="../embeddings/oleObject215.bin"/><Relationship Id="rId25" Type="http://schemas.openxmlformats.org/officeDocument/2006/relationships/image" Target="../media/image223.emf"/><Relationship Id="rId24" Type="http://schemas.openxmlformats.org/officeDocument/2006/relationships/oleObject" Target="../embeddings/oleObject214.bin"/><Relationship Id="rId23" Type="http://schemas.openxmlformats.org/officeDocument/2006/relationships/image" Target="../media/image222.emf"/><Relationship Id="rId22" Type="http://schemas.openxmlformats.org/officeDocument/2006/relationships/oleObject" Target="../embeddings/oleObject213.bin"/><Relationship Id="rId21" Type="http://schemas.openxmlformats.org/officeDocument/2006/relationships/image" Target="../media/image221.emf"/><Relationship Id="rId20" Type="http://schemas.openxmlformats.org/officeDocument/2006/relationships/oleObject" Target="../embeddings/oleObject212.bin"/><Relationship Id="rId2" Type="http://schemas.openxmlformats.org/officeDocument/2006/relationships/oleObject" Target="../embeddings/oleObject203.bin"/><Relationship Id="rId19" Type="http://schemas.openxmlformats.org/officeDocument/2006/relationships/image" Target="../media/image220.emf"/><Relationship Id="rId18" Type="http://schemas.openxmlformats.org/officeDocument/2006/relationships/oleObject" Target="../embeddings/oleObject211.bin"/><Relationship Id="rId17" Type="http://schemas.openxmlformats.org/officeDocument/2006/relationships/image" Target="../media/image219.emf"/><Relationship Id="rId16" Type="http://schemas.openxmlformats.org/officeDocument/2006/relationships/oleObject" Target="../embeddings/oleObject210.bin"/><Relationship Id="rId15" Type="http://schemas.openxmlformats.org/officeDocument/2006/relationships/image" Target="../media/image218.emf"/><Relationship Id="rId14" Type="http://schemas.openxmlformats.org/officeDocument/2006/relationships/oleObject" Target="../embeddings/oleObject209.bin"/><Relationship Id="rId13" Type="http://schemas.openxmlformats.org/officeDocument/2006/relationships/image" Target="../media/image217.emf"/><Relationship Id="rId12" Type="http://schemas.openxmlformats.org/officeDocument/2006/relationships/oleObject" Target="../embeddings/oleObject208.bin"/><Relationship Id="rId11" Type="http://schemas.openxmlformats.org/officeDocument/2006/relationships/image" Target="../media/image216.emf"/><Relationship Id="rId10" Type="http://schemas.openxmlformats.org/officeDocument/2006/relationships/oleObject" Target="../embeddings/oleObject207.bin"/><Relationship Id="rId1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1.emf"/><Relationship Id="rId8" Type="http://schemas.openxmlformats.org/officeDocument/2006/relationships/oleObject" Target="../embeddings/oleObject222.bin"/><Relationship Id="rId7" Type="http://schemas.openxmlformats.org/officeDocument/2006/relationships/image" Target="../media/image230.emf"/><Relationship Id="rId6" Type="http://schemas.openxmlformats.org/officeDocument/2006/relationships/oleObject" Target="../embeddings/oleObject221.bin"/><Relationship Id="rId5" Type="http://schemas.openxmlformats.org/officeDocument/2006/relationships/image" Target="../media/image229.emf"/><Relationship Id="rId4" Type="http://schemas.openxmlformats.org/officeDocument/2006/relationships/oleObject" Target="../embeddings/oleObject220.bin"/><Relationship Id="rId35" Type="http://schemas.openxmlformats.org/officeDocument/2006/relationships/vmlDrawing" Target="../drawings/vmlDrawing45.vml"/><Relationship Id="rId34" Type="http://schemas.openxmlformats.org/officeDocument/2006/relationships/slideLayout" Target="../slideLayouts/slideLayout7.xml"/><Relationship Id="rId33" Type="http://schemas.openxmlformats.org/officeDocument/2006/relationships/image" Target="../media/image243.emf"/><Relationship Id="rId32" Type="http://schemas.openxmlformats.org/officeDocument/2006/relationships/oleObject" Target="../embeddings/oleObject234.bin"/><Relationship Id="rId31" Type="http://schemas.openxmlformats.org/officeDocument/2006/relationships/image" Target="../media/image242.emf"/><Relationship Id="rId30" Type="http://schemas.openxmlformats.org/officeDocument/2006/relationships/oleObject" Target="../embeddings/oleObject233.bin"/><Relationship Id="rId3" Type="http://schemas.openxmlformats.org/officeDocument/2006/relationships/image" Target="../media/image228.emf"/><Relationship Id="rId29" Type="http://schemas.openxmlformats.org/officeDocument/2006/relationships/image" Target="../media/image241.emf"/><Relationship Id="rId28" Type="http://schemas.openxmlformats.org/officeDocument/2006/relationships/oleObject" Target="../embeddings/oleObject232.bin"/><Relationship Id="rId27" Type="http://schemas.openxmlformats.org/officeDocument/2006/relationships/image" Target="../media/image240.emf"/><Relationship Id="rId26" Type="http://schemas.openxmlformats.org/officeDocument/2006/relationships/oleObject" Target="../embeddings/oleObject231.bin"/><Relationship Id="rId25" Type="http://schemas.openxmlformats.org/officeDocument/2006/relationships/image" Target="../media/image239.emf"/><Relationship Id="rId24" Type="http://schemas.openxmlformats.org/officeDocument/2006/relationships/oleObject" Target="../embeddings/oleObject230.bin"/><Relationship Id="rId23" Type="http://schemas.openxmlformats.org/officeDocument/2006/relationships/image" Target="../media/image238.emf"/><Relationship Id="rId22" Type="http://schemas.openxmlformats.org/officeDocument/2006/relationships/oleObject" Target="../embeddings/oleObject229.bin"/><Relationship Id="rId21" Type="http://schemas.openxmlformats.org/officeDocument/2006/relationships/image" Target="../media/image237.emf"/><Relationship Id="rId20" Type="http://schemas.openxmlformats.org/officeDocument/2006/relationships/oleObject" Target="../embeddings/oleObject228.bin"/><Relationship Id="rId2" Type="http://schemas.openxmlformats.org/officeDocument/2006/relationships/oleObject" Target="../embeddings/oleObject219.bin"/><Relationship Id="rId19" Type="http://schemas.openxmlformats.org/officeDocument/2006/relationships/image" Target="../media/image236.emf"/><Relationship Id="rId18" Type="http://schemas.openxmlformats.org/officeDocument/2006/relationships/oleObject" Target="../embeddings/oleObject227.bin"/><Relationship Id="rId17" Type="http://schemas.openxmlformats.org/officeDocument/2006/relationships/image" Target="../media/image235.emf"/><Relationship Id="rId16" Type="http://schemas.openxmlformats.org/officeDocument/2006/relationships/oleObject" Target="../embeddings/oleObject226.bin"/><Relationship Id="rId15" Type="http://schemas.openxmlformats.org/officeDocument/2006/relationships/image" Target="../media/image234.emf"/><Relationship Id="rId14" Type="http://schemas.openxmlformats.org/officeDocument/2006/relationships/oleObject" Target="../embeddings/oleObject225.bin"/><Relationship Id="rId13" Type="http://schemas.openxmlformats.org/officeDocument/2006/relationships/image" Target="../media/image233.emf"/><Relationship Id="rId12" Type="http://schemas.openxmlformats.org/officeDocument/2006/relationships/oleObject" Target="../embeddings/oleObject224.bin"/><Relationship Id="rId11" Type="http://schemas.openxmlformats.org/officeDocument/2006/relationships/image" Target="../media/image232.emf"/><Relationship Id="rId10" Type="http://schemas.openxmlformats.org/officeDocument/2006/relationships/oleObject" Target="../embeddings/oleObject223.bin"/><Relationship Id="rId1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7.emf"/><Relationship Id="rId8" Type="http://schemas.openxmlformats.org/officeDocument/2006/relationships/oleObject" Target="../embeddings/oleObject238.bin"/><Relationship Id="rId7" Type="http://schemas.openxmlformats.org/officeDocument/2006/relationships/image" Target="../media/image246.emf"/><Relationship Id="rId6" Type="http://schemas.openxmlformats.org/officeDocument/2006/relationships/oleObject" Target="../embeddings/oleObject237.bin"/><Relationship Id="rId5" Type="http://schemas.openxmlformats.org/officeDocument/2006/relationships/image" Target="../media/image245.emf"/><Relationship Id="rId4" Type="http://schemas.openxmlformats.org/officeDocument/2006/relationships/oleObject" Target="../embeddings/oleObject236.bin"/><Relationship Id="rId3" Type="http://schemas.openxmlformats.org/officeDocument/2006/relationships/image" Target="../media/image244.emf"/><Relationship Id="rId2" Type="http://schemas.openxmlformats.org/officeDocument/2006/relationships/oleObject" Target="../embeddings/oleObject235.bin"/><Relationship Id="rId15" Type="http://schemas.openxmlformats.org/officeDocument/2006/relationships/vmlDrawing" Target="../drawings/vmlDrawing46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49.emf"/><Relationship Id="rId12" Type="http://schemas.openxmlformats.org/officeDocument/2006/relationships/oleObject" Target="../embeddings/oleObject240.bin"/><Relationship Id="rId11" Type="http://schemas.openxmlformats.org/officeDocument/2006/relationships/image" Target="../media/image248.emf"/><Relationship Id="rId10" Type="http://schemas.openxmlformats.org/officeDocument/2006/relationships/oleObject" Target="../embeddings/oleObject239.bin"/><Relationship Id="rId1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5.bin"/><Relationship Id="rId8" Type="http://schemas.openxmlformats.org/officeDocument/2006/relationships/image" Target="../media/image253.emf"/><Relationship Id="rId7" Type="http://schemas.openxmlformats.org/officeDocument/2006/relationships/oleObject" Target="../embeddings/oleObject244.bin"/><Relationship Id="rId6" Type="http://schemas.openxmlformats.org/officeDocument/2006/relationships/image" Target="../media/image252.emf"/><Relationship Id="rId5" Type="http://schemas.openxmlformats.org/officeDocument/2006/relationships/oleObject" Target="../embeddings/oleObject243.bin"/><Relationship Id="rId4" Type="http://schemas.openxmlformats.org/officeDocument/2006/relationships/image" Target="../media/image251.emf"/><Relationship Id="rId3" Type="http://schemas.openxmlformats.org/officeDocument/2006/relationships/oleObject" Target="../embeddings/oleObject242.bin"/><Relationship Id="rId27" Type="http://schemas.openxmlformats.org/officeDocument/2006/relationships/vmlDrawing" Target="../drawings/vmlDrawing47.vml"/><Relationship Id="rId26" Type="http://schemas.openxmlformats.org/officeDocument/2006/relationships/slideLayout" Target="../slideLayouts/slideLayout7.xml"/><Relationship Id="rId25" Type="http://schemas.openxmlformats.org/officeDocument/2006/relationships/image" Target="../media/image6.png"/><Relationship Id="rId24" Type="http://schemas.openxmlformats.org/officeDocument/2006/relationships/image" Target="../media/image261.emf"/><Relationship Id="rId23" Type="http://schemas.openxmlformats.org/officeDocument/2006/relationships/oleObject" Target="../embeddings/oleObject252.bin"/><Relationship Id="rId22" Type="http://schemas.openxmlformats.org/officeDocument/2006/relationships/image" Target="../media/image260.emf"/><Relationship Id="rId21" Type="http://schemas.openxmlformats.org/officeDocument/2006/relationships/oleObject" Target="../embeddings/oleObject251.bin"/><Relationship Id="rId20" Type="http://schemas.openxmlformats.org/officeDocument/2006/relationships/image" Target="../media/image259.emf"/><Relationship Id="rId2" Type="http://schemas.openxmlformats.org/officeDocument/2006/relationships/image" Target="../media/image250.emf"/><Relationship Id="rId19" Type="http://schemas.openxmlformats.org/officeDocument/2006/relationships/oleObject" Target="../embeddings/oleObject250.bin"/><Relationship Id="rId18" Type="http://schemas.openxmlformats.org/officeDocument/2006/relationships/image" Target="../media/image258.emf"/><Relationship Id="rId17" Type="http://schemas.openxmlformats.org/officeDocument/2006/relationships/oleObject" Target="../embeddings/oleObject249.bin"/><Relationship Id="rId16" Type="http://schemas.openxmlformats.org/officeDocument/2006/relationships/image" Target="../media/image257.emf"/><Relationship Id="rId15" Type="http://schemas.openxmlformats.org/officeDocument/2006/relationships/oleObject" Target="../embeddings/oleObject248.bin"/><Relationship Id="rId14" Type="http://schemas.openxmlformats.org/officeDocument/2006/relationships/image" Target="../media/image256.emf"/><Relationship Id="rId13" Type="http://schemas.openxmlformats.org/officeDocument/2006/relationships/oleObject" Target="../embeddings/oleObject247.bin"/><Relationship Id="rId12" Type="http://schemas.openxmlformats.org/officeDocument/2006/relationships/image" Target="../media/image255.emf"/><Relationship Id="rId11" Type="http://schemas.openxmlformats.org/officeDocument/2006/relationships/oleObject" Target="../embeddings/oleObject246.bin"/><Relationship Id="rId10" Type="http://schemas.openxmlformats.org/officeDocument/2006/relationships/image" Target="../media/image254.emf"/><Relationship Id="rId1" Type="http://schemas.openxmlformats.org/officeDocument/2006/relationships/oleObject" Target="../embeddings/oleObject241.bin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7.bin"/><Relationship Id="rId8" Type="http://schemas.openxmlformats.org/officeDocument/2006/relationships/image" Target="../media/image265.emf"/><Relationship Id="rId7" Type="http://schemas.openxmlformats.org/officeDocument/2006/relationships/oleObject" Target="../embeddings/oleObject256.bin"/><Relationship Id="rId6" Type="http://schemas.openxmlformats.org/officeDocument/2006/relationships/image" Target="../media/image264.emf"/><Relationship Id="rId5" Type="http://schemas.openxmlformats.org/officeDocument/2006/relationships/oleObject" Target="../embeddings/oleObject255.bin"/><Relationship Id="rId4" Type="http://schemas.openxmlformats.org/officeDocument/2006/relationships/image" Target="../media/image263.emf"/><Relationship Id="rId3" Type="http://schemas.openxmlformats.org/officeDocument/2006/relationships/oleObject" Target="../embeddings/oleObject254.bin"/><Relationship Id="rId2" Type="http://schemas.openxmlformats.org/officeDocument/2006/relationships/image" Target="../media/image262.emf"/><Relationship Id="rId15" Type="http://schemas.openxmlformats.org/officeDocument/2006/relationships/vmlDrawing" Target="../drawings/vmlDrawing48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6.png"/><Relationship Id="rId12" Type="http://schemas.openxmlformats.org/officeDocument/2006/relationships/image" Target="../media/image267.emf"/><Relationship Id="rId11" Type="http://schemas.openxmlformats.org/officeDocument/2006/relationships/oleObject" Target="../embeddings/oleObject258.bin"/><Relationship Id="rId10" Type="http://schemas.openxmlformats.org/officeDocument/2006/relationships/image" Target="../media/image266.emf"/><Relationship Id="rId1" Type="http://schemas.openxmlformats.org/officeDocument/2006/relationships/oleObject" Target="../embeddings/oleObject253.bin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3.bin"/><Relationship Id="rId8" Type="http://schemas.openxmlformats.org/officeDocument/2006/relationships/image" Target="../media/image271.emf"/><Relationship Id="rId7" Type="http://schemas.openxmlformats.org/officeDocument/2006/relationships/oleObject" Target="../embeddings/oleObject262.bin"/><Relationship Id="rId6" Type="http://schemas.openxmlformats.org/officeDocument/2006/relationships/image" Target="../media/image270.emf"/><Relationship Id="rId5" Type="http://schemas.openxmlformats.org/officeDocument/2006/relationships/oleObject" Target="../embeddings/oleObject261.bin"/><Relationship Id="rId4" Type="http://schemas.openxmlformats.org/officeDocument/2006/relationships/image" Target="../media/image269.emf"/><Relationship Id="rId3" Type="http://schemas.openxmlformats.org/officeDocument/2006/relationships/oleObject" Target="../embeddings/oleObject260.bin"/><Relationship Id="rId21" Type="http://schemas.openxmlformats.org/officeDocument/2006/relationships/vmlDrawing" Target="../drawings/vmlDrawing49.vml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268.emf"/><Relationship Id="rId19" Type="http://schemas.openxmlformats.org/officeDocument/2006/relationships/image" Target="../media/image276.emf"/><Relationship Id="rId18" Type="http://schemas.openxmlformats.org/officeDocument/2006/relationships/oleObject" Target="../embeddings/oleObject267.bin"/><Relationship Id="rId17" Type="http://schemas.openxmlformats.org/officeDocument/2006/relationships/image" Target="../media/image6.png"/><Relationship Id="rId16" Type="http://schemas.openxmlformats.org/officeDocument/2006/relationships/image" Target="../media/image275.emf"/><Relationship Id="rId15" Type="http://schemas.openxmlformats.org/officeDocument/2006/relationships/oleObject" Target="../embeddings/oleObject266.bin"/><Relationship Id="rId14" Type="http://schemas.openxmlformats.org/officeDocument/2006/relationships/image" Target="../media/image274.emf"/><Relationship Id="rId13" Type="http://schemas.openxmlformats.org/officeDocument/2006/relationships/oleObject" Target="../embeddings/oleObject265.bin"/><Relationship Id="rId12" Type="http://schemas.openxmlformats.org/officeDocument/2006/relationships/image" Target="../media/image273.emf"/><Relationship Id="rId11" Type="http://schemas.openxmlformats.org/officeDocument/2006/relationships/oleObject" Target="../embeddings/oleObject264.bin"/><Relationship Id="rId10" Type="http://schemas.openxmlformats.org/officeDocument/2006/relationships/image" Target="../media/image272.emf"/><Relationship Id="rId1" Type="http://schemas.openxmlformats.org/officeDocument/2006/relationships/oleObject" Target="../embeddings/oleObject259.bin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0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6.png"/><Relationship Id="rId4" Type="http://schemas.openxmlformats.org/officeDocument/2006/relationships/image" Target="../media/image278.emf"/><Relationship Id="rId3" Type="http://schemas.openxmlformats.org/officeDocument/2006/relationships/oleObject" Target="../embeddings/oleObject269.bin"/><Relationship Id="rId2" Type="http://schemas.openxmlformats.org/officeDocument/2006/relationships/image" Target="../media/image277.emf"/><Relationship Id="rId1" Type="http://schemas.openxmlformats.org/officeDocument/2006/relationships/oleObject" Target="../embeddings/oleObject26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4" name="Text Box 4"/>
          <p:cNvSpPr txBox="1"/>
          <p:nvPr/>
        </p:nvSpPr>
        <p:spPr>
          <a:xfrm>
            <a:off x="857250" y="333375"/>
            <a:ext cx="7572375" cy="823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480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第十一章 电路的频率响应</a:t>
            </a:r>
            <a:endParaRPr lang="zh-CN" altLang="en-US" sz="4800" dirty="0">
              <a:solidFill>
                <a:schemeClr val="bg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1331913" y="2487613"/>
            <a:ext cx="6553200" cy="581025"/>
            <a:chOff x="839" y="1567"/>
            <a:chExt cx="4128" cy="366"/>
          </a:xfrm>
        </p:grpSpPr>
        <p:pic>
          <p:nvPicPr>
            <p:cNvPr id="3108" name="Picture 6" descr="GEL Rounded Rectangle aquamarine">
              <a:hlinkClick r:id="rId1" action="ppaction://hlinksldjump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2" y="1567"/>
              <a:ext cx="3175" cy="36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09" name="Text Box 7">
              <a:hlinkClick r:id="rId1" action="ppaction://hlinksldjump"/>
            </p:cNvPr>
            <p:cNvSpPr txBox="1"/>
            <p:nvPr/>
          </p:nvSpPr>
          <p:spPr>
            <a:xfrm>
              <a:off x="1998" y="1594"/>
              <a:ext cx="27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网络函数</a:t>
              </a:r>
              <a:endPara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3110" name="Picture 8" descr="GEL Rounded Rectangle aquamarine">
              <a:hlinkClick r:id="rId1" action="ppaction://hlinksldjump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" y="1567"/>
              <a:ext cx="1044" cy="36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11" name="Text Box 9">
              <a:hlinkClick r:id="rId1" action="ppaction://hlinksldjump"/>
            </p:cNvPr>
            <p:cNvSpPr txBox="1"/>
            <p:nvPr/>
          </p:nvSpPr>
          <p:spPr>
            <a:xfrm>
              <a:off x="1066" y="1606"/>
              <a:ext cx="6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11-1</a:t>
              </a:r>
              <a:endPara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1331913" y="3063875"/>
            <a:ext cx="6553200" cy="581025"/>
            <a:chOff x="839" y="1930"/>
            <a:chExt cx="4128" cy="366"/>
          </a:xfrm>
        </p:grpSpPr>
        <p:pic>
          <p:nvPicPr>
            <p:cNvPr id="3104" name="Picture 11" descr="GEL Rounded Rectangle aquamarine">
              <a:hlinkClick r:id="rId4" action="ppaction://hlinksldjump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2" y="1930"/>
              <a:ext cx="3175" cy="36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05" name="Text Box 12">
              <a:hlinkClick r:id="rId4" action="ppaction://hlinksldjump"/>
            </p:cNvPr>
            <p:cNvSpPr txBox="1"/>
            <p:nvPr/>
          </p:nvSpPr>
          <p:spPr>
            <a:xfrm>
              <a:off x="1998" y="1957"/>
              <a:ext cx="27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RLC</a:t>
              </a:r>
              <a:r>
                <a:rPr lang="zh-CN" altLang="en-US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串联电路的谐振</a:t>
              </a:r>
              <a:endPara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3106" name="Picture 13" descr="GEL Rounded Rectangle aquamarine">
              <a:hlinkClick r:id="rId4" action="ppaction://hlinksldjump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" y="1930"/>
              <a:ext cx="1044" cy="36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07" name="Text Box 14">
              <a:hlinkClick r:id="rId4" action="ppaction://hlinksldjump"/>
            </p:cNvPr>
            <p:cNvSpPr txBox="1"/>
            <p:nvPr/>
          </p:nvSpPr>
          <p:spPr>
            <a:xfrm>
              <a:off x="1066" y="1969"/>
              <a:ext cx="6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11-2</a:t>
              </a:r>
              <a:endPara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5"/>
          <p:cNvGrpSpPr/>
          <p:nvPr/>
        </p:nvGrpSpPr>
        <p:grpSpPr>
          <a:xfrm>
            <a:off x="1331913" y="3636963"/>
            <a:ext cx="6553200" cy="581025"/>
            <a:chOff x="839" y="2291"/>
            <a:chExt cx="4128" cy="366"/>
          </a:xfrm>
        </p:grpSpPr>
        <p:pic>
          <p:nvPicPr>
            <p:cNvPr id="3100" name="Picture 16" descr="GEL Rounded Rectangle aquamarine">
              <a:hlinkClick r:id="rId5" action="ppaction://hlinksldjump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2" y="2291"/>
              <a:ext cx="3175" cy="36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01" name="Text Box 17">
              <a:hlinkClick r:id="rId5" action="ppaction://hlinksldjump"/>
            </p:cNvPr>
            <p:cNvSpPr txBox="1"/>
            <p:nvPr/>
          </p:nvSpPr>
          <p:spPr>
            <a:xfrm>
              <a:off x="1998" y="2318"/>
              <a:ext cx="27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RLC</a:t>
              </a:r>
              <a:r>
                <a:rPr lang="zh-CN" altLang="en-US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串联电路的频率响应</a:t>
              </a:r>
              <a:endPara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3102" name="Picture 18" descr="GEL Rounded Rectangle aquamarine">
              <a:hlinkClick r:id="rId5" action="ppaction://hlinksldjump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" y="2291"/>
              <a:ext cx="1044" cy="36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03" name="Text Box 19">
              <a:hlinkClick r:id="rId5" action="ppaction://hlinksldjump"/>
            </p:cNvPr>
            <p:cNvSpPr txBox="1"/>
            <p:nvPr/>
          </p:nvSpPr>
          <p:spPr>
            <a:xfrm>
              <a:off x="1066" y="2330"/>
              <a:ext cx="6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11-3</a:t>
              </a:r>
              <a:endPara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pic>
        <p:nvPicPr>
          <p:cNvPr id="97300" name="Picture 20" descr="GEL Rounded Rectangle aquamarine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4213225"/>
            <a:ext cx="5040313" cy="57943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" name="Group 21"/>
          <p:cNvGrpSpPr/>
          <p:nvPr/>
        </p:nvGrpSpPr>
        <p:grpSpPr>
          <a:xfrm>
            <a:off x="1331913" y="4213225"/>
            <a:ext cx="6227762" cy="581025"/>
            <a:chOff x="839" y="2654"/>
            <a:chExt cx="3923" cy="366"/>
          </a:xfrm>
        </p:grpSpPr>
        <p:sp>
          <p:nvSpPr>
            <p:cNvPr id="3097" name="Text Box 22">
              <a:hlinkClick r:id="rId6" action="ppaction://hlinksldjump"/>
            </p:cNvPr>
            <p:cNvSpPr txBox="1"/>
            <p:nvPr/>
          </p:nvSpPr>
          <p:spPr>
            <a:xfrm>
              <a:off x="1998" y="2681"/>
              <a:ext cx="27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RLC</a:t>
              </a:r>
              <a:r>
                <a:rPr lang="zh-CN" altLang="en-US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并联谐振电路</a:t>
              </a:r>
              <a:endPara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3098" name="Picture 23" descr="GEL Rounded Rectangle aquamarine">
              <a:hlinkClick r:id="rId6" action="ppaction://hlinksldjump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" y="2654"/>
              <a:ext cx="1044" cy="36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99" name="Text Box 24">
              <a:hlinkClick r:id="rId6" action="ppaction://hlinksldjump"/>
            </p:cNvPr>
            <p:cNvSpPr txBox="1"/>
            <p:nvPr/>
          </p:nvSpPr>
          <p:spPr>
            <a:xfrm>
              <a:off x="1066" y="2693"/>
              <a:ext cx="6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11-4</a:t>
              </a:r>
              <a:endPara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25"/>
          <p:cNvGrpSpPr/>
          <p:nvPr/>
        </p:nvGrpSpPr>
        <p:grpSpPr>
          <a:xfrm>
            <a:off x="1331913" y="4789488"/>
            <a:ext cx="6553200" cy="581025"/>
            <a:chOff x="839" y="3017"/>
            <a:chExt cx="4128" cy="366"/>
          </a:xfrm>
        </p:grpSpPr>
        <p:pic>
          <p:nvPicPr>
            <p:cNvPr id="3093" name="Picture 26" descr="GEL Rounded Rectangle aquamarine">
              <a:hlinkClick r:id="rId7" action="ppaction://hlinksldjump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2" y="3017"/>
              <a:ext cx="3175" cy="36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94" name="Text Box 27">
              <a:hlinkClick r:id="rId7" action="ppaction://hlinksldjump"/>
            </p:cNvPr>
            <p:cNvSpPr txBox="1"/>
            <p:nvPr/>
          </p:nvSpPr>
          <p:spPr>
            <a:xfrm>
              <a:off x="1998" y="3044"/>
              <a:ext cx="27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波特图</a:t>
              </a:r>
              <a:endPara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3095" name="Picture 28" descr="GEL Rounded Rectangle aquamarine">
              <a:hlinkClick r:id="rId7" action="ppaction://hlinksldjump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" y="3017"/>
              <a:ext cx="1044" cy="36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96" name="Text Box 29">
              <a:hlinkClick r:id="rId7" action="ppaction://hlinksldjump"/>
            </p:cNvPr>
            <p:cNvSpPr txBox="1"/>
            <p:nvPr/>
          </p:nvSpPr>
          <p:spPr>
            <a:xfrm>
              <a:off x="1066" y="3056"/>
              <a:ext cx="6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11-5</a:t>
              </a:r>
              <a:endPara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30"/>
          <p:cNvGrpSpPr/>
          <p:nvPr/>
        </p:nvGrpSpPr>
        <p:grpSpPr>
          <a:xfrm>
            <a:off x="1331913" y="5365750"/>
            <a:ext cx="6553200" cy="581025"/>
            <a:chOff x="839" y="3380"/>
            <a:chExt cx="4128" cy="366"/>
          </a:xfrm>
        </p:grpSpPr>
        <p:pic>
          <p:nvPicPr>
            <p:cNvPr id="3089" name="Picture 31" descr="GEL Rounded Rectangle aquamarine">
              <a:hlinkClick r:id="rId8" action="ppaction://hlinksldjump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2" y="3380"/>
              <a:ext cx="3175" cy="36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90" name="Text Box 32">
              <a:hlinkClick r:id="rId8" action="ppaction://hlinksldjump"/>
            </p:cNvPr>
            <p:cNvSpPr txBox="1"/>
            <p:nvPr/>
          </p:nvSpPr>
          <p:spPr>
            <a:xfrm>
              <a:off x="1998" y="3407"/>
              <a:ext cx="27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滤波器简介</a:t>
              </a:r>
              <a:endPara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pic>
          <p:nvPicPr>
            <p:cNvPr id="3091" name="Picture 33" descr="GEL Rounded Rectangle aquamarine">
              <a:hlinkClick r:id="rId8" action="ppaction://hlinksldjump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" y="3380"/>
              <a:ext cx="1044" cy="36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92" name="Text Box 34">
              <a:hlinkClick r:id="rId8" action="ppaction://hlinksldjump"/>
            </p:cNvPr>
            <p:cNvSpPr txBox="1"/>
            <p:nvPr/>
          </p:nvSpPr>
          <p:spPr>
            <a:xfrm>
              <a:off x="1066" y="3419"/>
              <a:ext cx="6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11-6</a:t>
              </a:r>
              <a:endPara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38"/>
          <p:cNvGrpSpPr/>
          <p:nvPr/>
        </p:nvGrpSpPr>
        <p:grpSpPr>
          <a:xfrm>
            <a:off x="3203575" y="1270000"/>
            <a:ext cx="3024188" cy="1079500"/>
            <a:chOff x="1928" y="890"/>
            <a:chExt cx="1905" cy="680"/>
          </a:xfrm>
        </p:grpSpPr>
        <p:pic>
          <p:nvPicPr>
            <p:cNvPr id="3086" name="Picture 39" descr="GEL Oval MS-blue"/>
            <p:cNvPicPr preferRelativeResize="0"/>
            <p:nvPr/>
          </p:nvPicPr>
          <p:blipFill>
            <a:blip r:embed="rId9"/>
            <a:stretch>
              <a:fillRect/>
            </a:stretch>
          </p:blipFill>
          <p:spPr>
            <a:xfrm>
              <a:off x="1928" y="890"/>
              <a:ext cx="1905" cy="68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87" name="Picture 40" descr="GEL Oval MS-yellow">
              <a:hlinkClick r:id="rId10" action="ppaction://hlinksldjump"/>
            </p:cNvPr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2018" y="981"/>
              <a:ext cx="1715" cy="49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88" name="Text Box 41" descr="斜纹布">
              <a:hlinkClick r:id="rId10" action="ppaction://hlinksldjump"/>
            </p:cNvPr>
            <p:cNvSpPr txBox="1"/>
            <p:nvPr/>
          </p:nvSpPr>
          <p:spPr>
            <a:xfrm>
              <a:off x="2291" y="1062"/>
              <a:ext cx="1238" cy="368"/>
            </a:xfrm>
            <a:prstGeom prst="rect">
              <a:avLst/>
            </a:prstGeom>
            <a:noFill/>
            <a:ln w="28575">
              <a:noFill/>
            </a:ln>
            <a:effectLst>
              <a:prstShdw prst="shdw17" dist="17961" dir="2699999">
                <a:schemeClr val="bg2"/>
              </a:prstShdw>
            </a:effectLst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本章内容</a:t>
              </a:r>
              <a:endParaRPr lang="en-US" altLang="zh-CN" dirty="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48"/>
          <p:cNvGrpSpPr/>
          <p:nvPr/>
        </p:nvGrpSpPr>
        <p:grpSpPr>
          <a:xfrm>
            <a:off x="7596188" y="6021388"/>
            <a:ext cx="1368425" cy="647700"/>
            <a:chOff x="2971" y="3113"/>
            <a:chExt cx="1043" cy="499"/>
          </a:xfrm>
        </p:grpSpPr>
        <p:sp>
          <p:nvSpPr>
            <p:cNvPr id="3084" name="Oval 49"/>
            <p:cNvSpPr/>
            <p:nvPr/>
          </p:nvSpPr>
          <p:spPr>
            <a:xfrm>
              <a:off x="2971" y="3113"/>
              <a:ext cx="1043" cy="499"/>
            </a:xfrm>
            <a:prstGeom prst="ellipse">
              <a:avLst/>
            </a:prstGeom>
            <a:gradFill rotWithShape="0">
              <a:gsLst>
                <a:gs pos="0">
                  <a:srgbClr val="3366FF"/>
                </a:gs>
                <a:gs pos="50000">
                  <a:srgbClr val="7799FF"/>
                </a:gs>
                <a:gs pos="100000">
                  <a:srgbClr val="3366FF"/>
                </a:gs>
              </a:gsLst>
              <a:lin ang="5400000" scaled="1"/>
              <a:tileRect/>
            </a:gradFill>
            <a:ln w="28575" cap="sq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85" name="Oval 50">
              <a:hlinkClick r:id="" action="ppaction://hlinkshowjump?jump=endshow"/>
            </p:cNvPr>
            <p:cNvSpPr/>
            <p:nvPr/>
          </p:nvSpPr>
          <p:spPr>
            <a:xfrm>
              <a:off x="3016" y="3158"/>
              <a:ext cx="953" cy="408"/>
            </a:xfrm>
            <a:prstGeom prst="ellipse">
              <a:avLst/>
            </a:prstGeom>
            <a:gradFill rotWithShape="0">
              <a:gsLst>
                <a:gs pos="0">
                  <a:srgbClr val="0033CC"/>
                </a:gs>
                <a:gs pos="50000">
                  <a:srgbClr val="87DAED"/>
                </a:gs>
                <a:gs pos="100000">
                  <a:srgbClr val="0033CC"/>
                </a:gs>
              </a:gsLst>
              <a:lin ang="5400000" scaled="1"/>
              <a:tileRect/>
            </a:gradFill>
            <a:ln w="28575" cap="sq" cmpd="sng">
              <a:solidFill>
                <a:srgbClr val="0033CC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2699999">
                <a:schemeClr val="bg2"/>
              </a:prstShdw>
            </a:effectLst>
          </p:spPr>
          <p:txBody>
            <a:bodyPr wrap="none" anchor="ctr" anchorCtr="0"/>
            <a:p>
              <a:pPr algn="ctr" eaLnBrk="1" hangingPunct="1"/>
              <a:r>
                <a:rPr lang="zh-CN" altLang="en-US" sz="2800" dirty="0">
                  <a:solidFill>
                    <a:srgbClr val="CC0000"/>
                  </a:solidFill>
                  <a:latin typeface="Arial" panose="020B0604020202020204" pitchFamily="34" charset="0"/>
                  <a:ea typeface="隶书" panose="02010509060101010101" pitchFamily="49" charset="-122"/>
                </a:rPr>
                <a:t>首 页</a:t>
              </a:r>
              <a:endParaRPr lang="zh-CN" altLang="en-US" sz="2800" dirty="0">
                <a:solidFill>
                  <a:srgbClr val="CC0000"/>
                </a:solidFill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7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7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49" presetClass="entr" presetSubtype="0" decel="10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5" name="Text Box 3"/>
          <p:cNvSpPr txBox="1"/>
          <p:nvPr/>
        </p:nvSpPr>
        <p:spPr>
          <a:xfrm>
            <a:off x="971550" y="1196975"/>
            <a:ext cx="1468438" cy="579438"/>
          </a:xfrm>
          <a:prstGeom prst="rect">
            <a:avLst/>
          </a:prstGeom>
          <a:solidFill>
            <a:srgbClr val="FF3300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重点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95236" name="Text Box 4"/>
          <p:cNvSpPr txBox="1"/>
          <p:nvPr/>
        </p:nvSpPr>
        <p:spPr>
          <a:xfrm>
            <a:off x="1403350" y="2420938"/>
            <a:ext cx="645953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latin typeface="楷体_GB2312" pitchFamily="49" charset="-122"/>
              </a:rPr>
              <a:t> 1. </a:t>
            </a:r>
            <a:r>
              <a:rPr lang="zh-CN" altLang="en-US" sz="3600" dirty="0">
                <a:latin typeface="楷体_GB2312" pitchFamily="49" charset="-122"/>
              </a:rPr>
              <a:t>网络函数</a:t>
            </a:r>
            <a:endParaRPr lang="zh-CN" altLang="en-US" sz="3600" dirty="0">
              <a:latin typeface="楷体_GB2312" pitchFamily="49" charset="-122"/>
            </a:endParaRPr>
          </a:p>
        </p:txBody>
      </p:sp>
      <p:sp>
        <p:nvSpPr>
          <p:cNvPr id="95240" name="Text Box 8"/>
          <p:cNvSpPr txBox="1"/>
          <p:nvPr/>
        </p:nvSpPr>
        <p:spPr>
          <a:xfrm>
            <a:off x="1619250" y="3068638"/>
            <a:ext cx="6697663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latin typeface="楷体_GB2312" pitchFamily="49" charset="-122"/>
              </a:rPr>
              <a:t>2. </a:t>
            </a:r>
            <a:r>
              <a:rPr lang="zh-CN" altLang="en-US" sz="3600" dirty="0">
                <a:latin typeface="楷体_GB2312" pitchFamily="49" charset="-122"/>
                <a:sym typeface="Wingdings 3" panose="05040102010807070707" pitchFamily="18" charset="2"/>
              </a:rPr>
              <a:t>串、并联谐振的概念</a:t>
            </a:r>
            <a:endParaRPr lang="zh-CN" altLang="en-US" sz="3600" dirty="0">
              <a:latin typeface="楷体_GB2312" pitchFamily="49" charset="-122"/>
            </a:endParaRPr>
          </a:p>
        </p:txBody>
      </p:sp>
      <p:grpSp>
        <p:nvGrpSpPr>
          <p:cNvPr id="4101" name="Group 9"/>
          <p:cNvGrpSpPr/>
          <p:nvPr/>
        </p:nvGrpSpPr>
        <p:grpSpPr>
          <a:xfrm>
            <a:off x="8316913" y="6446838"/>
            <a:ext cx="792162" cy="366712"/>
            <a:chOff x="4695" y="4061"/>
            <a:chExt cx="499" cy="231"/>
          </a:xfrm>
        </p:grpSpPr>
        <p:pic>
          <p:nvPicPr>
            <p:cNvPr id="4102" name="Picture 1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03" name="Text Box 11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9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animBg="1"/>
      <p:bldP spid="95236" grpId="0"/>
      <p:bldP spid="952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Text Box 2"/>
          <p:cNvSpPr txBox="1"/>
          <p:nvPr/>
        </p:nvSpPr>
        <p:spPr>
          <a:xfrm>
            <a:off x="2051050" y="450850"/>
            <a:ext cx="5111750" cy="762000"/>
          </a:xfrm>
          <a:prstGeom prst="rect">
            <a:avLst/>
          </a:prstGeom>
          <a:noFill/>
          <a:ln w="9525">
            <a:noFill/>
          </a:ln>
          <a:effectLst>
            <a:prstShdw prst="shdw17" dist="17961" dir="2699999">
              <a:srgbClr val="999900"/>
            </a:prstShdw>
          </a:effectLst>
        </p:spPr>
        <p:txBody>
          <a:bodyPr>
            <a:spAutoFit/>
          </a:bodyPr>
          <a:p>
            <a:pPr eaLnBrk="1" hangingPunct="1"/>
            <a:r>
              <a:rPr lang="en-US" altLang="zh-CN" sz="44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11-1</a:t>
            </a:r>
            <a:r>
              <a:rPr lang="en-US" altLang="zh-CN" sz="4400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sz="4400" dirty="0">
                <a:solidFill>
                  <a:schemeClr val="bg1"/>
                </a:solidFill>
                <a:latin typeface="Times New Roman" panose="02020603050405020304" pitchFamily="18" charset="0"/>
              </a:rPr>
              <a:t>网络函数</a:t>
            </a:r>
            <a:endParaRPr lang="zh-CN" altLang="en-US" sz="44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58371" name="Text Box 3"/>
          <p:cNvSpPr txBox="1"/>
          <p:nvPr/>
        </p:nvSpPr>
        <p:spPr>
          <a:xfrm>
            <a:off x="395288" y="1169988"/>
            <a:ext cx="8242300" cy="197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571500" algn="just" eaLnBrk="1" hangingPunct="1"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当电路中激励源的频率变化时，电路中的感抗、容抗将跟随频率变化，从而导致电路的工作状态亦跟随频率变化。因此，分析研究电路和系统的频率特性就显得格外重要。 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5124" name="Group 2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136" name="Picture 2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37" name="Text Box 2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125" name="Group 23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5134" name="Picture 24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35" name="Text Box 25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5126" name="Rectangle 29"/>
          <p:cNvSpPr/>
          <p:nvPr/>
        </p:nvSpPr>
        <p:spPr>
          <a:xfrm>
            <a:off x="0" y="31908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8399" name="Rectangle 31"/>
          <p:cNvSpPr/>
          <p:nvPr/>
        </p:nvSpPr>
        <p:spPr>
          <a:xfrm>
            <a:off x="611188" y="3284538"/>
            <a:ext cx="1641475" cy="547687"/>
          </a:xfrm>
          <a:prstGeom prst="rect">
            <a:avLst/>
          </a:prstGeom>
          <a:noFill/>
          <a:ln w="28575" cap="flat" cmpd="sng">
            <a:solidFill>
              <a:srgbClr val="33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频率特性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400" name="Line 32"/>
          <p:cNvSpPr/>
          <p:nvPr/>
        </p:nvSpPr>
        <p:spPr>
          <a:xfrm>
            <a:off x="2484438" y="3644900"/>
            <a:ext cx="719137" cy="0"/>
          </a:xfrm>
          <a:prstGeom prst="line">
            <a:avLst/>
          </a:prstGeom>
          <a:ln w="57150" cap="flat" cmpd="sng">
            <a:solidFill>
              <a:srgbClr val="33CC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8401" name="Rectangle 33"/>
          <p:cNvSpPr/>
          <p:nvPr/>
        </p:nvSpPr>
        <p:spPr>
          <a:xfrm>
            <a:off x="684213" y="4076700"/>
            <a:ext cx="8208962" cy="946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       </a:t>
            </a:r>
            <a:r>
              <a:rPr lang="zh-CN" altLang="en-US" sz="2800" dirty="0">
                <a:latin typeface="Times New Roman" panose="02020603050405020304" pitchFamily="18" charset="0"/>
              </a:rPr>
              <a:t>电路和系统的工作状态跟随频率而变化的现象，称为电路和系统的频率特性，又称频率响应。 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8402" name="Text Box 34"/>
          <p:cNvSpPr txBox="1"/>
          <p:nvPr/>
        </p:nvSpPr>
        <p:spPr>
          <a:xfrm>
            <a:off x="468313" y="5157788"/>
            <a:ext cx="5327650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网络函数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(j</a:t>
            </a:r>
            <a:r>
              <a:rPr lang="el-GR" altLang="zh-CN" b="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的定义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131" name="Group 35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5132" name="Picture 3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33" name="Text Box 37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8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58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8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8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8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/>
      <p:bldP spid="58371" grpId="0"/>
      <p:bldP spid="58399" grpId="0" animBg="1"/>
      <p:bldP spid="58401" grpId="0"/>
      <p:bldP spid="5840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95" name="Text Box 11"/>
          <p:cNvSpPr txBox="1"/>
          <p:nvPr/>
        </p:nvSpPr>
        <p:spPr>
          <a:xfrm>
            <a:off x="468313" y="549275"/>
            <a:ext cx="7920037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dirty="0">
                <a:latin typeface="Times New Roman" panose="02020603050405020304" pitchFamily="18" charset="0"/>
              </a:rPr>
              <a:t>在线性正弦稳态网络中，当只有一个独立激励源作用时，网络中某一处的响应（电压或电流）与网络输入之比，称为该响应的网络函数。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7597" name="Object 13"/>
          <p:cNvGraphicFramePr>
            <a:graphicFrameLocks noChangeAspect="1"/>
          </p:cNvGraphicFramePr>
          <p:nvPr/>
        </p:nvGraphicFramePr>
        <p:xfrm>
          <a:off x="2700338" y="2205038"/>
          <a:ext cx="2778125" cy="11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985520" imgH="418465" progId="Equation.DSMT4">
                  <p:embed/>
                </p:oleObj>
              </mc:Choice>
              <mc:Fallback>
                <p:oleObj name="" r:id="rId1" imgW="985520" imgH="418465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CC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00338" y="2205038"/>
                        <a:ext cx="2778125" cy="1176337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CCFF"/>
                          </a:gs>
                          <a:gs pos="50000">
                            <a:schemeClr val="bg1"/>
                          </a:gs>
                          <a:gs pos="100000">
                            <a:srgbClr val="33CC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8" name="Text Box 14"/>
          <p:cNvSpPr txBox="1"/>
          <p:nvPr/>
        </p:nvSpPr>
        <p:spPr>
          <a:xfrm>
            <a:off x="468313" y="3573463"/>
            <a:ext cx="6767512" cy="579437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</a:rPr>
              <a:t>.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网络函数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(j</a:t>
            </a:r>
            <a:r>
              <a:rPr lang="el-GR" altLang="zh-CN" b="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的物理意义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599" name="Text Box 15"/>
          <p:cNvSpPr txBox="1"/>
          <p:nvPr/>
        </p:nvSpPr>
        <p:spPr>
          <a:xfrm>
            <a:off x="611188" y="4581525"/>
            <a:ext cx="2333625" cy="547688"/>
          </a:xfrm>
          <a:prstGeom prst="rect">
            <a:avLst/>
          </a:prstGeom>
          <a:noFill/>
          <a:ln w="28575" cap="flat" cmpd="sng">
            <a:solidFill>
              <a:srgbClr val="33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marL="342900" indent="-342900" eaLnBrk="1" hangingPunct="1">
              <a:buSzPct val="85000"/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FF9900"/>
                </a:solidFill>
                <a:latin typeface="Times New Roman" panose="02020603050405020304" pitchFamily="18" charset="0"/>
              </a:rPr>
              <a:t>驱动点函数</a:t>
            </a:r>
            <a:endParaRPr lang="zh-CN" altLang="en-US" sz="28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150" name="Group 3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6168" name="Picture 34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69" name="Text Box 3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151" name="Group 36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6166" name="Picture 37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67" name="Text Box 38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152" name="Group 42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6164" name="Picture 43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65" name="Text Box 44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51"/>
          <p:cNvGrpSpPr/>
          <p:nvPr/>
        </p:nvGrpSpPr>
        <p:grpSpPr>
          <a:xfrm>
            <a:off x="3779838" y="4365625"/>
            <a:ext cx="3187700" cy="1598613"/>
            <a:chOff x="2381" y="2750"/>
            <a:chExt cx="2008" cy="1007"/>
          </a:xfrm>
        </p:grpSpPr>
        <p:sp>
          <p:nvSpPr>
            <p:cNvPr id="6154" name="Line 17"/>
            <p:cNvSpPr/>
            <p:nvPr/>
          </p:nvSpPr>
          <p:spPr>
            <a:xfrm>
              <a:off x="2979" y="2915"/>
              <a:ext cx="79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5" name="Line 18"/>
            <p:cNvSpPr/>
            <p:nvPr/>
          </p:nvSpPr>
          <p:spPr>
            <a:xfrm>
              <a:off x="2955" y="3599"/>
              <a:ext cx="80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6" name="Line 19"/>
            <p:cNvSpPr/>
            <p:nvPr/>
          </p:nvSpPr>
          <p:spPr>
            <a:xfrm flipV="1">
              <a:off x="3198" y="2913"/>
              <a:ext cx="272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57" name="Rectangle 21"/>
            <p:cNvSpPr/>
            <p:nvPr/>
          </p:nvSpPr>
          <p:spPr>
            <a:xfrm>
              <a:off x="3729" y="2795"/>
              <a:ext cx="660" cy="960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2857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zh-CN" altLang="en-US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线性</a:t>
              </a:r>
              <a:endPara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zh-CN" altLang="en-US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网络</a:t>
              </a:r>
              <a:endPara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158" name="Object 22"/>
            <p:cNvGraphicFramePr>
              <a:graphicFrameLocks noChangeAspect="1"/>
            </p:cNvGraphicFramePr>
            <p:nvPr/>
          </p:nvGraphicFramePr>
          <p:xfrm>
            <a:off x="3061" y="2931"/>
            <a:ext cx="589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4" imgW="386080" imgH="225425" progId="Equation.3">
                    <p:embed/>
                  </p:oleObj>
                </mc:Choice>
                <mc:Fallback>
                  <p:oleObj name="" r:id="rId4" imgW="386080" imgH="225425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61" y="2931"/>
                          <a:ext cx="589" cy="3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9" name="Object 23"/>
            <p:cNvGraphicFramePr>
              <a:graphicFrameLocks noChangeAspect="1"/>
            </p:cNvGraphicFramePr>
            <p:nvPr/>
          </p:nvGraphicFramePr>
          <p:xfrm>
            <a:off x="2381" y="3067"/>
            <a:ext cx="654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6" imgW="431165" imgH="225425" progId="Equation.3">
                    <p:embed/>
                  </p:oleObj>
                </mc:Choice>
                <mc:Fallback>
                  <p:oleObj name="" r:id="rId6" imgW="431165" imgH="225425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81" y="3067"/>
                          <a:ext cx="654" cy="3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60" name="Oval 47"/>
            <p:cNvSpPr/>
            <p:nvPr/>
          </p:nvSpPr>
          <p:spPr>
            <a:xfrm>
              <a:off x="2898" y="3566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161" name="Oval 48"/>
            <p:cNvSpPr/>
            <p:nvPr/>
          </p:nvSpPr>
          <p:spPr>
            <a:xfrm>
              <a:off x="2907" y="2877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162" name="Text Box 49"/>
            <p:cNvSpPr txBox="1"/>
            <p:nvPr/>
          </p:nvSpPr>
          <p:spPr>
            <a:xfrm>
              <a:off x="2653" y="2750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63" name="Text Box 50"/>
            <p:cNvSpPr txBox="1"/>
            <p:nvPr/>
          </p:nvSpPr>
          <p:spPr>
            <a:xfrm>
              <a:off x="2653" y="3430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7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7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7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5" grpId="0"/>
      <p:bldP spid="67598" grpId="0"/>
      <p:bldP spid="6759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1444" name="Object 4"/>
          <p:cNvGraphicFramePr>
            <a:graphicFrameLocks noChangeAspect="1"/>
          </p:cNvGraphicFramePr>
          <p:nvPr/>
        </p:nvGraphicFramePr>
        <p:xfrm>
          <a:off x="468313" y="1412875"/>
          <a:ext cx="2333625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010920" imgH="418465" progId="Equation.3">
                  <p:embed/>
                </p:oleObj>
              </mc:Choice>
              <mc:Fallback>
                <p:oleObj name="" r:id="rId1" imgW="1010920" imgH="418465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1412875"/>
                        <a:ext cx="2333625" cy="966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6" name="Text Box 6"/>
          <p:cNvSpPr txBox="1"/>
          <p:nvPr/>
        </p:nvSpPr>
        <p:spPr>
          <a:xfrm>
            <a:off x="3708400" y="1700213"/>
            <a:ext cx="26638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驱动点阻抗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7" name="Text Box 7"/>
          <p:cNvSpPr txBox="1"/>
          <p:nvPr/>
        </p:nvSpPr>
        <p:spPr>
          <a:xfrm>
            <a:off x="3851275" y="3357563"/>
            <a:ext cx="30257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驱动点导纳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57" name="Text Box 17"/>
          <p:cNvSpPr txBox="1"/>
          <p:nvPr/>
        </p:nvSpPr>
        <p:spPr>
          <a:xfrm>
            <a:off x="395288" y="620713"/>
            <a:ext cx="525621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/>
            <a:r>
              <a:rPr lang="zh-CN" altLang="en-US" sz="2800" dirty="0">
                <a:latin typeface="Times New Roman" panose="02020603050405020304" pitchFamily="18" charset="0"/>
              </a:rPr>
              <a:t>激励是电流源，响应是电压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1458" name="Text Box 18"/>
          <p:cNvSpPr txBox="1"/>
          <p:nvPr/>
        </p:nvSpPr>
        <p:spPr>
          <a:xfrm>
            <a:off x="468313" y="2492375"/>
            <a:ext cx="44704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342900" indent="-342900" eaLnBrk="1" hangingPunct="1"/>
            <a:r>
              <a:rPr lang="zh-CN" altLang="en-US" sz="2800" dirty="0">
                <a:latin typeface="Times New Roman" panose="02020603050405020304" pitchFamily="18" charset="0"/>
              </a:rPr>
              <a:t>激励是电压源，响应是电流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1472" name="Line 32"/>
          <p:cNvSpPr/>
          <p:nvPr/>
        </p:nvSpPr>
        <p:spPr>
          <a:xfrm>
            <a:off x="2987675" y="1916113"/>
            <a:ext cx="719138" cy="0"/>
          </a:xfrm>
          <a:prstGeom prst="line">
            <a:avLst/>
          </a:prstGeom>
          <a:ln w="57150" cap="flat" cmpd="sng">
            <a:solidFill>
              <a:srgbClr val="33CC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61473" name="Object 33"/>
          <p:cNvGraphicFramePr>
            <a:graphicFrameLocks noChangeAspect="1"/>
          </p:cNvGraphicFramePr>
          <p:nvPr/>
        </p:nvGraphicFramePr>
        <p:xfrm>
          <a:off x="539750" y="3068638"/>
          <a:ext cx="2520950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1010920" imgH="418465" progId="Equation.3">
                  <p:embed/>
                </p:oleObj>
              </mc:Choice>
              <mc:Fallback>
                <p:oleObj name="" r:id="rId3" imgW="1010920" imgH="418465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3068638"/>
                        <a:ext cx="2520950" cy="1044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4" name="Line 34"/>
          <p:cNvSpPr/>
          <p:nvPr/>
        </p:nvSpPr>
        <p:spPr>
          <a:xfrm>
            <a:off x="3132138" y="3644900"/>
            <a:ext cx="719137" cy="0"/>
          </a:xfrm>
          <a:prstGeom prst="line">
            <a:avLst/>
          </a:prstGeom>
          <a:ln w="57150" cap="flat" cmpd="sng">
            <a:solidFill>
              <a:srgbClr val="33CC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83" name="Text Box 43"/>
          <p:cNvSpPr txBox="1"/>
          <p:nvPr/>
        </p:nvSpPr>
        <p:spPr>
          <a:xfrm>
            <a:off x="323850" y="4221163"/>
            <a:ext cx="3771900" cy="547687"/>
          </a:xfrm>
          <a:prstGeom prst="rect">
            <a:avLst/>
          </a:prstGeom>
          <a:noFill/>
          <a:ln w="28575" cap="flat" cmpd="sng">
            <a:solidFill>
              <a:srgbClr val="33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marL="342900" indent="-342900" eaLnBrk="1" hangingPunct="1">
              <a:buSzPct val="85000"/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FF9900"/>
                </a:solidFill>
                <a:latin typeface="楷体_GB2312" pitchFamily="49" charset="-122"/>
              </a:rPr>
              <a:t>转移函数</a:t>
            </a:r>
            <a:r>
              <a:rPr lang="en-US" altLang="zh-CN" sz="2800" dirty="0">
                <a:solidFill>
                  <a:srgbClr val="FF9900"/>
                </a:solidFill>
                <a:latin typeface="楷体_GB2312" pitchFamily="49" charset="-122"/>
              </a:rPr>
              <a:t>(</a:t>
            </a:r>
            <a:r>
              <a:rPr lang="zh-CN" altLang="en-US" sz="2800" dirty="0">
                <a:solidFill>
                  <a:srgbClr val="FF9900"/>
                </a:solidFill>
                <a:latin typeface="楷体_GB2312" pitchFamily="49" charset="-122"/>
              </a:rPr>
              <a:t>传递函数</a:t>
            </a:r>
            <a:r>
              <a:rPr lang="en-US" altLang="zh-CN" sz="2800" dirty="0">
                <a:solidFill>
                  <a:srgbClr val="FF9900"/>
                </a:solidFill>
                <a:latin typeface="楷体_GB2312" pitchFamily="49" charset="-122"/>
              </a:rPr>
              <a:t>)</a:t>
            </a:r>
            <a:endParaRPr lang="en-US" altLang="zh-CN" sz="2800" dirty="0">
              <a:solidFill>
                <a:srgbClr val="FF9900"/>
              </a:solidFill>
              <a:latin typeface="楷体_GB2312" pitchFamily="49" charset="-122"/>
            </a:endParaRPr>
          </a:p>
        </p:txBody>
      </p:sp>
      <p:grpSp>
        <p:nvGrpSpPr>
          <p:cNvPr id="7179" name="Group 6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7217" name="Picture 63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218" name="Text Box 6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180" name="Group 65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7215" name="Picture 66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216" name="Text Box 67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181" name="Group 71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7213" name="Picture 72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214" name="Text Box 73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74"/>
          <p:cNvGrpSpPr/>
          <p:nvPr/>
        </p:nvGrpSpPr>
        <p:grpSpPr>
          <a:xfrm>
            <a:off x="5508625" y="620713"/>
            <a:ext cx="3240088" cy="1725612"/>
            <a:chOff x="2381" y="2750"/>
            <a:chExt cx="2008" cy="1005"/>
          </a:xfrm>
        </p:grpSpPr>
        <p:sp>
          <p:nvSpPr>
            <p:cNvPr id="7203" name="Line 75"/>
            <p:cNvSpPr/>
            <p:nvPr/>
          </p:nvSpPr>
          <p:spPr>
            <a:xfrm>
              <a:off x="2979" y="2915"/>
              <a:ext cx="79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4" name="Line 76"/>
            <p:cNvSpPr/>
            <p:nvPr/>
          </p:nvSpPr>
          <p:spPr>
            <a:xfrm>
              <a:off x="2955" y="3599"/>
              <a:ext cx="80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5" name="Line 77"/>
            <p:cNvSpPr/>
            <p:nvPr/>
          </p:nvSpPr>
          <p:spPr>
            <a:xfrm flipV="1">
              <a:off x="3198" y="2913"/>
              <a:ext cx="272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06" name="Rectangle 78"/>
            <p:cNvSpPr/>
            <p:nvPr/>
          </p:nvSpPr>
          <p:spPr>
            <a:xfrm>
              <a:off x="3729" y="2795"/>
              <a:ext cx="660" cy="960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2857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zh-CN" altLang="en-US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线性</a:t>
              </a:r>
              <a:endPara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zh-CN" altLang="en-US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网络</a:t>
              </a:r>
              <a:endPara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207" name="Object 79"/>
            <p:cNvGraphicFramePr>
              <a:graphicFrameLocks noChangeAspect="1"/>
            </p:cNvGraphicFramePr>
            <p:nvPr/>
          </p:nvGraphicFramePr>
          <p:xfrm>
            <a:off x="3061" y="2931"/>
            <a:ext cx="589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6" imgW="386080" imgH="225425" progId="Equation.3">
                    <p:embed/>
                  </p:oleObj>
                </mc:Choice>
                <mc:Fallback>
                  <p:oleObj name="" r:id="rId6" imgW="386080" imgH="225425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61" y="2931"/>
                          <a:ext cx="589" cy="3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8" name="Object 80"/>
            <p:cNvGraphicFramePr>
              <a:graphicFrameLocks noChangeAspect="1"/>
            </p:cNvGraphicFramePr>
            <p:nvPr/>
          </p:nvGraphicFramePr>
          <p:xfrm>
            <a:off x="2381" y="3067"/>
            <a:ext cx="654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8" imgW="431165" imgH="225425" progId="Equation.3">
                    <p:embed/>
                  </p:oleObj>
                </mc:Choice>
                <mc:Fallback>
                  <p:oleObj name="" r:id="rId8" imgW="431165" imgH="225425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81" y="3067"/>
                          <a:ext cx="654" cy="3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09" name="Oval 81"/>
            <p:cNvSpPr/>
            <p:nvPr/>
          </p:nvSpPr>
          <p:spPr>
            <a:xfrm>
              <a:off x="2898" y="3566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210" name="Oval 82"/>
            <p:cNvSpPr/>
            <p:nvPr/>
          </p:nvSpPr>
          <p:spPr>
            <a:xfrm>
              <a:off x="2907" y="2877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211" name="Text Box 83"/>
            <p:cNvSpPr txBox="1"/>
            <p:nvPr/>
          </p:nvSpPr>
          <p:spPr>
            <a:xfrm>
              <a:off x="2653" y="2750"/>
              <a:ext cx="589" cy="3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12" name="Text Box 84"/>
            <p:cNvSpPr txBox="1"/>
            <p:nvPr/>
          </p:nvSpPr>
          <p:spPr>
            <a:xfrm>
              <a:off x="2653" y="3430"/>
              <a:ext cx="589" cy="3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93"/>
          <p:cNvGrpSpPr/>
          <p:nvPr/>
        </p:nvGrpSpPr>
        <p:grpSpPr>
          <a:xfrm>
            <a:off x="3419475" y="4365625"/>
            <a:ext cx="4953000" cy="2049463"/>
            <a:chOff x="2154" y="2750"/>
            <a:chExt cx="3120" cy="1291"/>
          </a:xfrm>
        </p:grpSpPr>
        <p:graphicFrame>
          <p:nvGraphicFramePr>
            <p:cNvPr id="7184" name="Object 45"/>
            <p:cNvGraphicFramePr>
              <a:graphicFrameLocks noChangeAspect="1"/>
            </p:cNvGraphicFramePr>
            <p:nvPr/>
          </p:nvGraphicFramePr>
          <p:xfrm>
            <a:off x="2154" y="3339"/>
            <a:ext cx="700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0" imgW="463550" imgH="225425" progId="Equation.3">
                    <p:embed/>
                  </p:oleObj>
                </mc:Choice>
                <mc:Fallback>
                  <p:oleObj name="" r:id="rId10" imgW="463550" imgH="225425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54" y="3339"/>
                          <a:ext cx="700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5" name="Line 46"/>
            <p:cNvSpPr/>
            <p:nvPr/>
          </p:nvSpPr>
          <p:spPr>
            <a:xfrm>
              <a:off x="2630" y="3117"/>
              <a:ext cx="72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6" name="Line 47"/>
            <p:cNvSpPr/>
            <p:nvPr/>
          </p:nvSpPr>
          <p:spPr>
            <a:xfrm>
              <a:off x="2617" y="3933"/>
              <a:ext cx="72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7" name="Line 48"/>
            <p:cNvSpPr/>
            <p:nvPr/>
          </p:nvSpPr>
          <p:spPr>
            <a:xfrm>
              <a:off x="4059" y="3111"/>
              <a:ext cx="67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8" name="Line 49"/>
            <p:cNvSpPr/>
            <p:nvPr/>
          </p:nvSpPr>
          <p:spPr>
            <a:xfrm>
              <a:off x="4059" y="3928"/>
              <a:ext cx="70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9" name="Line 52"/>
            <p:cNvSpPr/>
            <p:nvPr/>
          </p:nvSpPr>
          <p:spPr>
            <a:xfrm>
              <a:off x="2789" y="3113"/>
              <a:ext cx="263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90" name="Line 53"/>
            <p:cNvSpPr/>
            <p:nvPr/>
          </p:nvSpPr>
          <p:spPr>
            <a:xfrm>
              <a:off x="4241" y="3113"/>
              <a:ext cx="275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91" name="Rectangle 54"/>
            <p:cNvSpPr/>
            <p:nvPr/>
          </p:nvSpPr>
          <p:spPr>
            <a:xfrm>
              <a:off x="3344" y="3021"/>
              <a:ext cx="751" cy="1020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2857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zh-CN" altLang="en-US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线性</a:t>
              </a:r>
              <a:endPara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zh-CN" altLang="en-US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网络</a:t>
              </a:r>
              <a:endPara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7192" name="Object 59"/>
            <p:cNvGraphicFramePr>
              <a:graphicFrameLocks noChangeAspect="1"/>
            </p:cNvGraphicFramePr>
            <p:nvPr/>
          </p:nvGraphicFramePr>
          <p:xfrm>
            <a:off x="4558" y="3339"/>
            <a:ext cx="71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12" imgW="469900" imgH="225425" progId="Equation.3">
                    <p:embed/>
                  </p:oleObj>
                </mc:Choice>
                <mc:Fallback>
                  <p:oleObj name="" r:id="rId12" imgW="469900" imgH="225425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558" y="3339"/>
                          <a:ext cx="716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3" name="Object 60"/>
            <p:cNvGraphicFramePr>
              <a:graphicFrameLocks noChangeAspect="1"/>
            </p:cNvGraphicFramePr>
            <p:nvPr/>
          </p:nvGraphicFramePr>
          <p:xfrm>
            <a:off x="2699" y="2750"/>
            <a:ext cx="635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14" imgW="418465" imgH="225425" progId="Equation.3">
                    <p:embed/>
                  </p:oleObj>
                </mc:Choice>
                <mc:Fallback>
                  <p:oleObj name="" r:id="rId14" imgW="418465" imgH="225425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99" y="2750"/>
                          <a:ext cx="635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4" name="Object 61"/>
            <p:cNvGraphicFramePr>
              <a:graphicFrameLocks noChangeAspect="1"/>
            </p:cNvGraphicFramePr>
            <p:nvPr/>
          </p:nvGraphicFramePr>
          <p:xfrm>
            <a:off x="4105" y="2750"/>
            <a:ext cx="652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16" imgW="431165" imgH="225425" progId="Equation.3">
                    <p:embed/>
                  </p:oleObj>
                </mc:Choice>
                <mc:Fallback>
                  <p:oleObj name="" r:id="rId16" imgW="431165" imgH="225425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05" y="2750"/>
                          <a:ext cx="652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5" name="Oval 85"/>
            <p:cNvSpPr/>
            <p:nvPr/>
          </p:nvSpPr>
          <p:spPr>
            <a:xfrm>
              <a:off x="4758" y="3893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196" name="Oval 86"/>
            <p:cNvSpPr/>
            <p:nvPr/>
          </p:nvSpPr>
          <p:spPr>
            <a:xfrm>
              <a:off x="4721" y="3077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197" name="Oval 87"/>
            <p:cNvSpPr/>
            <p:nvPr/>
          </p:nvSpPr>
          <p:spPr>
            <a:xfrm>
              <a:off x="2562" y="3902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198" name="Oval 88"/>
            <p:cNvSpPr/>
            <p:nvPr/>
          </p:nvSpPr>
          <p:spPr>
            <a:xfrm>
              <a:off x="2562" y="3085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199" name="Text Box 89"/>
            <p:cNvSpPr txBox="1"/>
            <p:nvPr/>
          </p:nvSpPr>
          <p:spPr>
            <a:xfrm>
              <a:off x="4604" y="3067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200" name="Text Box 90"/>
            <p:cNvSpPr txBox="1"/>
            <p:nvPr/>
          </p:nvSpPr>
          <p:spPr>
            <a:xfrm>
              <a:off x="2472" y="3067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201" name="Text Box 91"/>
            <p:cNvSpPr txBox="1"/>
            <p:nvPr/>
          </p:nvSpPr>
          <p:spPr>
            <a:xfrm>
              <a:off x="4604" y="3612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202" name="Text Box 92"/>
            <p:cNvSpPr txBox="1"/>
            <p:nvPr/>
          </p:nvSpPr>
          <p:spPr>
            <a:xfrm>
              <a:off x="2472" y="3612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61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1446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1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61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1447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6" grpId="0" build="p"/>
      <p:bldP spid="61447" grpId="0" advAuto="1000" build="p"/>
      <p:bldP spid="61457" grpId="0"/>
      <p:bldP spid="61458" grpId="0"/>
      <p:bldP spid="6148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71" name="Text Box 7"/>
          <p:cNvSpPr txBox="1"/>
          <p:nvPr/>
        </p:nvSpPr>
        <p:spPr>
          <a:xfrm>
            <a:off x="3348038" y="3429000"/>
            <a:ext cx="898525" cy="94615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转移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导纳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2" name="Text Box 8"/>
          <p:cNvSpPr txBox="1"/>
          <p:nvPr/>
        </p:nvSpPr>
        <p:spPr>
          <a:xfrm>
            <a:off x="7740650" y="3429000"/>
            <a:ext cx="1009650" cy="94615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转移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阻抗</a:t>
            </a:r>
            <a:endParaRPr lang="zh-CN" altLang="en-US" sz="2800" b="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3" name="Text Box 9"/>
          <p:cNvSpPr txBox="1"/>
          <p:nvPr/>
        </p:nvSpPr>
        <p:spPr>
          <a:xfrm>
            <a:off x="3276600" y="4868863"/>
            <a:ext cx="1255713" cy="94615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转移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电压比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4" name="Text Box 10"/>
          <p:cNvSpPr txBox="1"/>
          <p:nvPr/>
        </p:nvSpPr>
        <p:spPr>
          <a:xfrm>
            <a:off x="7667625" y="4797425"/>
            <a:ext cx="1262063" cy="94615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转移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电流比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5" name="Text Box 11"/>
          <p:cNvSpPr txBox="1"/>
          <p:nvPr/>
        </p:nvSpPr>
        <p:spPr>
          <a:xfrm>
            <a:off x="1116013" y="2593975"/>
            <a:ext cx="2447925" cy="547688"/>
          </a:xfrm>
          <a:prstGeom prst="rect">
            <a:avLst/>
          </a:prstGeom>
          <a:noFill/>
          <a:ln w="28575" cap="flat" cmpd="sng">
            <a:solidFill>
              <a:srgbClr val="33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marL="342900" indent="-342900" eaLnBrk="1" hangingPunct="1"/>
            <a:r>
              <a:rPr lang="zh-CN" altLang="en-US" sz="2800" dirty="0">
                <a:latin typeface="Times New Roman" panose="02020603050405020304" pitchFamily="18" charset="0"/>
              </a:rPr>
              <a:t>激励是电压源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2490" name="Text Box 26"/>
          <p:cNvSpPr txBox="1"/>
          <p:nvPr/>
        </p:nvSpPr>
        <p:spPr>
          <a:xfrm>
            <a:off x="5672138" y="2565400"/>
            <a:ext cx="2355850" cy="547688"/>
          </a:xfrm>
          <a:prstGeom prst="rect">
            <a:avLst/>
          </a:prstGeom>
          <a:noFill/>
          <a:ln w="28575" cap="flat" cmpd="sng">
            <a:solidFill>
              <a:srgbClr val="33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marL="342900" indent="-342900" eaLnBrk="1" hangingPunct="1"/>
            <a:r>
              <a:rPr lang="zh-CN" altLang="en-US" sz="2800" dirty="0">
                <a:latin typeface="Times New Roman" panose="02020603050405020304" pitchFamily="18" charset="0"/>
              </a:rPr>
              <a:t>激励是电流源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2537" name="Object 73"/>
          <p:cNvGraphicFramePr>
            <a:graphicFrameLocks noChangeAspect="1"/>
          </p:cNvGraphicFramePr>
          <p:nvPr/>
        </p:nvGraphicFramePr>
        <p:xfrm>
          <a:off x="5076825" y="3429000"/>
          <a:ext cx="2352675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1049655" imgH="431165" progId="Equation.3">
                  <p:embed/>
                </p:oleObj>
              </mc:Choice>
              <mc:Fallback>
                <p:oleObj name="" r:id="rId1" imgW="1049655" imgH="431165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76825" y="3429000"/>
                        <a:ext cx="2352675" cy="960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538" name="Object 74"/>
          <p:cNvGraphicFramePr>
            <a:graphicFrameLocks noChangeAspect="1"/>
          </p:cNvGraphicFramePr>
          <p:nvPr/>
        </p:nvGraphicFramePr>
        <p:xfrm>
          <a:off x="611188" y="3284538"/>
          <a:ext cx="2519362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3" imgW="1030605" imgH="431165" progId="Equation.3">
                  <p:embed/>
                </p:oleObj>
              </mc:Choice>
              <mc:Fallback>
                <p:oleObj name="" r:id="rId3" imgW="1030605" imgH="431165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3284538"/>
                        <a:ext cx="2519362" cy="1047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539" name="Object 75"/>
          <p:cNvGraphicFramePr>
            <a:graphicFrameLocks noChangeAspect="1"/>
          </p:cNvGraphicFramePr>
          <p:nvPr/>
        </p:nvGraphicFramePr>
        <p:xfrm>
          <a:off x="539750" y="4797425"/>
          <a:ext cx="2628900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5" imgW="1049655" imgH="431165" progId="Equation.3">
                  <p:embed/>
                </p:oleObj>
              </mc:Choice>
              <mc:Fallback>
                <p:oleObj name="" r:id="rId5" imgW="1049655" imgH="431165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4797425"/>
                        <a:ext cx="2628900" cy="1071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540" name="Object 76"/>
          <p:cNvGraphicFramePr>
            <a:graphicFrameLocks noChangeAspect="1"/>
          </p:cNvGraphicFramePr>
          <p:nvPr/>
        </p:nvGraphicFramePr>
        <p:xfrm>
          <a:off x="4932363" y="4724400"/>
          <a:ext cx="2447925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7" imgW="1010920" imgH="431165" progId="Equation.3">
                  <p:embed/>
                </p:oleObj>
              </mc:Choice>
              <mc:Fallback>
                <p:oleObj name="" r:id="rId7" imgW="1010920" imgH="431165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32363" y="4724400"/>
                        <a:ext cx="2447925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04" name="Group 7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8231" name="Picture 79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32" name="Text Box 8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205" name="Group 81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8229" name="Picture 82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30" name="Text Box 83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206" name="Group 87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8227" name="Picture 88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228" name="Text Box 89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207" name="Group 90"/>
          <p:cNvGrpSpPr/>
          <p:nvPr/>
        </p:nvGrpSpPr>
        <p:grpSpPr>
          <a:xfrm>
            <a:off x="1908175" y="476250"/>
            <a:ext cx="4953000" cy="2049463"/>
            <a:chOff x="2154" y="2750"/>
            <a:chExt cx="3120" cy="1291"/>
          </a:xfrm>
        </p:grpSpPr>
        <p:graphicFrame>
          <p:nvGraphicFramePr>
            <p:cNvPr id="8208" name="Object 91"/>
            <p:cNvGraphicFramePr>
              <a:graphicFrameLocks noChangeAspect="1"/>
            </p:cNvGraphicFramePr>
            <p:nvPr/>
          </p:nvGraphicFramePr>
          <p:xfrm>
            <a:off x="2154" y="3339"/>
            <a:ext cx="700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10" imgW="463550" imgH="225425" progId="Equation.3">
                    <p:embed/>
                  </p:oleObj>
                </mc:Choice>
                <mc:Fallback>
                  <p:oleObj name="" r:id="rId10" imgW="463550" imgH="225425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54" y="3339"/>
                          <a:ext cx="700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9" name="Line 92"/>
            <p:cNvSpPr/>
            <p:nvPr/>
          </p:nvSpPr>
          <p:spPr>
            <a:xfrm>
              <a:off x="2630" y="3117"/>
              <a:ext cx="72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0" name="Line 93"/>
            <p:cNvSpPr/>
            <p:nvPr/>
          </p:nvSpPr>
          <p:spPr>
            <a:xfrm>
              <a:off x="2617" y="3933"/>
              <a:ext cx="72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1" name="Line 94"/>
            <p:cNvSpPr/>
            <p:nvPr/>
          </p:nvSpPr>
          <p:spPr>
            <a:xfrm>
              <a:off x="4059" y="3111"/>
              <a:ext cx="67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2" name="Line 95"/>
            <p:cNvSpPr/>
            <p:nvPr/>
          </p:nvSpPr>
          <p:spPr>
            <a:xfrm>
              <a:off x="4059" y="3928"/>
              <a:ext cx="70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13" name="Line 96"/>
            <p:cNvSpPr/>
            <p:nvPr/>
          </p:nvSpPr>
          <p:spPr>
            <a:xfrm>
              <a:off x="2789" y="3113"/>
              <a:ext cx="263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14" name="Line 97"/>
            <p:cNvSpPr/>
            <p:nvPr/>
          </p:nvSpPr>
          <p:spPr>
            <a:xfrm>
              <a:off x="4241" y="3113"/>
              <a:ext cx="275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15" name="Rectangle 98"/>
            <p:cNvSpPr/>
            <p:nvPr/>
          </p:nvSpPr>
          <p:spPr>
            <a:xfrm>
              <a:off x="3344" y="3021"/>
              <a:ext cx="751" cy="1020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2857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zh-CN" altLang="en-US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线性</a:t>
              </a:r>
              <a:endPara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zh-CN" altLang="en-US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网络</a:t>
              </a:r>
              <a:endPara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8216" name="Object 99"/>
            <p:cNvGraphicFramePr>
              <a:graphicFrameLocks noChangeAspect="1"/>
            </p:cNvGraphicFramePr>
            <p:nvPr/>
          </p:nvGraphicFramePr>
          <p:xfrm>
            <a:off x="4558" y="3339"/>
            <a:ext cx="71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12" imgW="469900" imgH="225425" progId="Equation.3">
                    <p:embed/>
                  </p:oleObj>
                </mc:Choice>
                <mc:Fallback>
                  <p:oleObj name="" r:id="rId12" imgW="469900" imgH="225425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558" y="3339"/>
                          <a:ext cx="716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7" name="Object 100"/>
            <p:cNvGraphicFramePr>
              <a:graphicFrameLocks noChangeAspect="1"/>
            </p:cNvGraphicFramePr>
            <p:nvPr/>
          </p:nvGraphicFramePr>
          <p:xfrm>
            <a:off x="2699" y="2750"/>
            <a:ext cx="635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14" imgW="418465" imgH="225425" progId="Equation.3">
                    <p:embed/>
                  </p:oleObj>
                </mc:Choice>
                <mc:Fallback>
                  <p:oleObj name="" r:id="rId14" imgW="418465" imgH="225425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99" y="2750"/>
                          <a:ext cx="635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8" name="Object 101"/>
            <p:cNvGraphicFramePr>
              <a:graphicFrameLocks noChangeAspect="1"/>
            </p:cNvGraphicFramePr>
            <p:nvPr/>
          </p:nvGraphicFramePr>
          <p:xfrm>
            <a:off x="4105" y="2750"/>
            <a:ext cx="652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16" imgW="431165" imgH="225425" progId="Equation.3">
                    <p:embed/>
                  </p:oleObj>
                </mc:Choice>
                <mc:Fallback>
                  <p:oleObj name="" r:id="rId16" imgW="431165" imgH="225425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05" y="2750"/>
                          <a:ext cx="652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9" name="Oval 102"/>
            <p:cNvSpPr/>
            <p:nvPr/>
          </p:nvSpPr>
          <p:spPr>
            <a:xfrm>
              <a:off x="4758" y="3893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220" name="Oval 103"/>
            <p:cNvSpPr/>
            <p:nvPr/>
          </p:nvSpPr>
          <p:spPr>
            <a:xfrm>
              <a:off x="4721" y="3077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221" name="Oval 104"/>
            <p:cNvSpPr/>
            <p:nvPr/>
          </p:nvSpPr>
          <p:spPr>
            <a:xfrm>
              <a:off x="2562" y="3902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222" name="Oval 105"/>
            <p:cNvSpPr/>
            <p:nvPr/>
          </p:nvSpPr>
          <p:spPr>
            <a:xfrm>
              <a:off x="2562" y="3085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223" name="Text Box 106"/>
            <p:cNvSpPr txBox="1"/>
            <p:nvPr/>
          </p:nvSpPr>
          <p:spPr>
            <a:xfrm>
              <a:off x="4604" y="3067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24" name="Text Box 107"/>
            <p:cNvSpPr txBox="1"/>
            <p:nvPr/>
          </p:nvSpPr>
          <p:spPr>
            <a:xfrm>
              <a:off x="2472" y="3067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25" name="Text Box 108"/>
            <p:cNvSpPr txBox="1"/>
            <p:nvPr/>
          </p:nvSpPr>
          <p:spPr>
            <a:xfrm>
              <a:off x="4604" y="3612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226" name="Text Box 109"/>
            <p:cNvSpPr txBox="1"/>
            <p:nvPr/>
          </p:nvSpPr>
          <p:spPr>
            <a:xfrm>
              <a:off x="2472" y="3612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2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1" grpId="0" animBg="1"/>
      <p:bldP spid="62472" grpId="0" animBg="1"/>
      <p:bldP spid="62473" grpId="0" animBg="1"/>
      <p:bldP spid="62474" grpId="0" animBg="1"/>
      <p:bldP spid="62475" grpId="0" animBg="1"/>
      <p:bldP spid="6249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7"/>
          <p:cNvGrpSpPr/>
          <p:nvPr/>
        </p:nvGrpSpPr>
        <p:grpSpPr>
          <a:xfrm>
            <a:off x="468313" y="333375"/>
            <a:ext cx="1847850" cy="850900"/>
            <a:chOff x="385" y="3022"/>
            <a:chExt cx="1164" cy="536"/>
          </a:xfrm>
        </p:grpSpPr>
        <p:pic>
          <p:nvPicPr>
            <p:cNvPr id="9241" name="Picture 18" descr="1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42" name="Text Box 19"/>
            <p:cNvSpPr txBox="1"/>
            <p:nvPr/>
          </p:nvSpPr>
          <p:spPr>
            <a:xfrm>
              <a:off x="793" y="3116"/>
              <a:ext cx="75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  </a:t>
              </a:r>
              <a:endParaRPr lang="zh-CN" altLang="en-US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59412" name="Text Box 20"/>
          <p:cNvSpPr txBox="1"/>
          <p:nvPr/>
        </p:nvSpPr>
        <p:spPr>
          <a:xfrm>
            <a:off x="539750" y="981075"/>
            <a:ext cx="8353425" cy="2143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sym typeface="Wingdings 2" panose="05020102010507070707" pitchFamily="18" charset="2"/>
              </a:rPr>
              <a:t>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(j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</a:rPr>
              <a:t>与网络的结构、参数值有关，与输入、输出变量的类型以及端口对的相互位置有关，与输入、输出幅值无关。因此网络函数是网络性质的一种体现。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9416" name="Text Box 24"/>
          <p:cNvSpPr txBox="1"/>
          <p:nvPr/>
        </p:nvSpPr>
        <p:spPr>
          <a:xfrm>
            <a:off x="503238" y="3068638"/>
            <a:ext cx="8532812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sym typeface="Wingdings" panose="05000000000000000000" pitchFamily="2" charset="2"/>
              </a:rPr>
              <a:t></a:t>
            </a:r>
            <a:r>
              <a:rPr lang="en-US" altLang="zh-CN" sz="2800" b="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(j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0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是一个复数，它的频率特性分为两个部分：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3" name="Group 28"/>
          <p:cNvGrpSpPr/>
          <p:nvPr/>
        </p:nvGrpSpPr>
        <p:grpSpPr>
          <a:xfrm>
            <a:off x="3851275" y="3759200"/>
            <a:ext cx="4845050" cy="549275"/>
            <a:chOff x="567" y="2413"/>
            <a:chExt cx="3052" cy="346"/>
          </a:xfrm>
        </p:grpSpPr>
        <p:sp>
          <p:nvSpPr>
            <p:cNvPr id="9239" name="Rectangle 25"/>
            <p:cNvSpPr/>
            <p:nvPr/>
          </p:nvSpPr>
          <p:spPr>
            <a:xfrm>
              <a:off x="567" y="2432"/>
              <a:ext cx="174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模与频率的关系 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240" name="Object 26"/>
            <p:cNvGraphicFramePr>
              <a:graphicFrameLocks noChangeAspect="1"/>
            </p:cNvGraphicFramePr>
            <p:nvPr/>
          </p:nvGraphicFramePr>
          <p:xfrm>
            <a:off x="2278" y="2413"/>
            <a:ext cx="1341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2" imgW="740410" imgH="193040" progId="Equation.3">
                    <p:embed/>
                  </p:oleObj>
                </mc:Choice>
                <mc:Fallback>
                  <p:oleObj name="" r:id="rId2" imgW="740410" imgH="19304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78" y="2413"/>
                          <a:ext cx="1341" cy="3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421" name="Rectangle 29"/>
          <p:cNvSpPr/>
          <p:nvPr/>
        </p:nvSpPr>
        <p:spPr>
          <a:xfrm>
            <a:off x="971550" y="3789363"/>
            <a:ext cx="1730375" cy="547687"/>
          </a:xfrm>
          <a:prstGeom prst="rect">
            <a:avLst/>
          </a:prstGeom>
          <a:noFill/>
          <a:ln w="28575" cap="flat" cmpd="sng">
            <a:solidFill>
              <a:srgbClr val="33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幅频特性 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422" name="Line 30"/>
          <p:cNvSpPr/>
          <p:nvPr/>
        </p:nvSpPr>
        <p:spPr>
          <a:xfrm>
            <a:off x="2843213" y="4076700"/>
            <a:ext cx="792162" cy="0"/>
          </a:xfrm>
          <a:prstGeom prst="line">
            <a:avLst/>
          </a:prstGeom>
          <a:ln w="57150" cap="flat" cmpd="sng">
            <a:solidFill>
              <a:srgbClr val="33CCFF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4" name="Group 36"/>
          <p:cNvGrpSpPr/>
          <p:nvPr/>
        </p:nvGrpSpPr>
        <p:grpSpPr>
          <a:xfrm>
            <a:off x="3708400" y="4652963"/>
            <a:ext cx="4686300" cy="519112"/>
            <a:chOff x="2336" y="2931"/>
            <a:chExt cx="2952" cy="327"/>
          </a:xfrm>
        </p:grpSpPr>
        <p:sp>
          <p:nvSpPr>
            <p:cNvPr id="9237" name="Rectangle 32"/>
            <p:cNvSpPr/>
            <p:nvPr/>
          </p:nvSpPr>
          <p:spPr>
            <a:xfrm>
              <a:off x="2336" y="2931"/>
              <a:ext cx="19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幅角与频率的关系 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238" name="Object 33"/>
            <p:cNvGraphicFramePr>
              <a:graphicFrameLocks noChangeAspect="1"/>
            </p:cNvGraphicFramePr>
            <p:nvPr/>
          </p:nvGraphicFramePr>
          <p:xfrm>
            <a:off x="4265" y="2931"/>
            <a:ext cx="1023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4" imgW="624840" imgH="193040" progId="Equation.3">
                    <p:embed/>
                  </p:oleObj>
                </mc:Choice>
                <mc:Fallback>
                  <p:oleObj name="" r:id="rId4" imgW="624840" imgH="19304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65" y="2931"/>
                          <a:ext cx="1023" cy="3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426" name="Rectangle 34"/>
          <p:cNvSpPr/>
          <p:nvPr/>
        </p:nvSpPr>
        <p:spPr>
          <a:xfrm>
            <a:off x="971550" y="4652963"/>
            <a:ext cx="1730375" cy="547687"/>
          </a:xfrm>
          <a:prstGeom prst="rect">
            <a:avLst/>
          </a:prstGeom>
          <a:noFill/>
          <a:ln w="28575" cap="flat" cmpd="sng">
            <a:solidFill>
              <a:srgbClr val="33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相频特性 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427" name="Line 35"/>
          <p:cNvSpPr/>
          <p:nvPr/>
        </p:nvSpPr>
        <p:spPr>
          <a:xfrm>
            <a:off x="2843213" y="4941888"/>
            <a:ext cx="792162" cy="0"/>
          </a:xfrm>
          <a:prstGeom prst="line">
            <a:avLst/>
          </a:prstGeom>
          <a:ln w="57150" cap="flat" cmpd="sng">
            <a:solidFill>
              <a:srgbClr val="33CC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9429" name="Rectangle 37"/>
          <p:cNvSpPr/>
          <p:nvPr/>
        </p:nvSpPr>
        <p:spPr>
          <a:xfrm>
            <a:off x="538163" y="5373688"/>
            <a:ext cx="8605837" cy="5191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1" hangingPunct="1"/>
            <a:r>
              <a:rPr lang="en-US" altLang="zh-CN" sz="2800" dirty="0">
                <a:latin typeface="Times New Roman" panose="02020603050405020304" pitchFamily="18" charset="0"/>
                <a:sym typeface="Wingdings" panose="05000000000000000000" pitchFamily="2" charset="2"/>
              </a:rPr>
              <a:t> </a:t>
            </a:r>
            <a:r>
              <a:rPr lang="zh-CN" altLang="en-US" sz="2800" dirty="0">
                <a:latin typeface="Times New Roman" panose="02020603050405020304" pitchFamily="18" charset="0"/>
              </a:rPr>
              <a:t>网络函数可以用相量法中任一分析求解方法获得。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9228" name="Group 3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9235" name="Picture 39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36" name="Text Box 4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9229" name="Group 41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9233" name="Picture 42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34" name="Text Box 43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9230" name="Group 47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9231" name="Picture 48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32" name="Text Box 49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5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59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5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9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59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9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9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12" grpId="0"/>
      <p:bldP spid="59416" grpId="0"/>
      <p:bldP spid="59421" grpId="0" animBg="1"/>
      <p:bldP spid="59426" grpId="0" animBg="1"/>
      <p:bldP spid="594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5" name="Text Box 7"/>
          <p:cNvSpPr txBox="1"/>
          <p:nvPr/>
        </p:nvSpPr>
        <p:spPr>
          <a:xfrm>
            <a:off x="323850" y="476250"/>
            <a:ext cx="11525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1-1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3607" name="Text Box 119"/>
          <p:cNvSpPr txBox="1"/>
          <p:nvPr/>
        </p:nvSpPr>
        <p:spPr>
          <a:xfrm>
            <a:off x="395288" y="3357563"/>
            <a:ext cx="647700" cy="579437"/>
          </a:xfrm>
          <a:prstGeom prst="rect">
            <a:avLst/>
          </a:prstGeom>
          <a:solidFill>
            <a:srgbClr val="993300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123"/>
          <p:cNvGrpSpPr/>
          <p:nvPr/>
        </p:nvGrpSpPr>
        <p:grpSpPr>
          <a:xfrm>
            <a:off x="1042988" y="3357563"/>
            <a:ext cx="3503612" cy="576262"/>
            <a:chOff x="657" y="2115"/>
            <a:chExt cx="2207" cy="363"/>
          </a:xfrm>
        </p:grpSpPr>
        <p:sp>
          <p:nvSpPr>
            <p:cNvPr id="10302" name="Rectangle 120"/>
            <p:cNvSpPr/>
            <p:nvPr/>
          </p:nvSpPr>
          <p:spPr>
            <a:xfrm>
              <a:off x="657" y="2115"/>
              <a:ext cx="19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列网孔方程解电流 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303" name="Object 121"/>
            <p:cNvGraphicFramePr>
              <a:graphicFrameLocks noChangeAspect="1"/>
            </p:cNvGraphicFramePr>
            <p:nvPr/>
          </p:nvGraphicFramePr>
          <p:xfrm>
            <a:off x="2608" y="2115"/>
            <a:ext cx="256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1" imgW="141605" imgH="193040" progId="Equation.3">
                    <p:embed/>
                  </p:oleObj>
                </mc:Choice>
                <mc:Fallback>
                  <p:oleObj name="" r:id="rId1" imgW="141605" imgH="19304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08" y="2115"/>
                          <a:ext cx="256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3624" name="AutoShape 136" descr="羊皮纸"/>
          <p:cNvSpPr/>
          <p:nvPr/>
        </p:nvSpPr>
        <p:spPr>
          <a:xfrm>
            <a:off x="6804025" y="2636838"/>
            <a:ext cx="1835150" cy="503237"/>
          </a:xfrm>
          <a:prstGeom prst="wedgeRoundRectCallout">
            <a:avLst>
              <a:gd name="adj1" fmla="val -81745"/>
              <a:gd name="adj2" fmla="val 171449"/>
              <a:gd name="adj3" fmla="val 16667"/>
            </a:avLst>
          </a:prstGeom>
          <a:blipFill rotWithShape="1">
            <a:blip r:embed="rId3"/>
          </a:blipFill>
          <a:ln w="9525">
            <a:noFill/>
          </a:ln>
        </p:spPr>
        <p:txBody>
          <a:bodyPr/>
          <a:p>
            <a:pPr algn="ctr" eaLnBrk="1" hangingPunct="1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转移导纳 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625" name="AutoShape 137" descr="羊皮纸"/>
          <p:cNvSpPr/>
          <p:nvPr/>
        </p:nvSpPr>
        <p:spPr>
          <a:xfrm>
            <a:off x="5435600" y="5805488"/>
            <a:ext cx="2592388" cy="503237"/>
          </a:xfrm>
          <a:prstGeom prst="wedgeRoundRectCallout">
            <a:avLst>
              <a:gd name="adj1" fmla="val -44000"/>
              <a:gd name="adj2" fmla="val -142745"/>
              <a:gd name="adj3" fmla="val 16667"/>
            </a:avLst>
          </a:prstGeom>
          <a:blipFill rotWithShape="1">
            <a:blip r:embed="rId3"/>
          </a:blipFill>
          <a:ln w="9525">
            <a:noFill/>
          </a:ln>
        </p:spPr>
        <p:txBody>
          <a:bodyPr/>
          <a:p>
            <a:pPr algn="ctr" eaLnBrk="1" hangingPunct="1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转移电压比 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247" name="Group 13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0300" name="Picture 139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301" name="Text Box 14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0248" name="Group 141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10298" name="Picture 142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99" name="Text Box 143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0249" name="Group 147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10296" name="Picture 148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97" name="Text Box 149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" name="Group 163"/>
          <p:cNvGrpSpPr/>
          <p:nvPr/>
        </p:nvGrpSpPr>
        <p:grpSpPr>
          <a:xfrm>
            <a:off x="1692275" y="830263"/>
            <a:ext cx="5141913" cy="2289175"/>
            <a:chOff x="1066" y="523"/>
            <a:chExt cx="3239" cy="1442"/>
          </a:xfrm>
        </p:grpSpPr>
        <p:graphicFrame>
          <p:nvGraphicFramePr>
            <p:cNvPr id="10260" name="Object 85"/>
            <p:cNvGraphicFramePr>
              <a:graphicFrameLocks noChangeAspect="1"/>
            </p:cNvGraphicFramePr>
            <p:nvPr/>
          </p:nvGraphicFramePr>
          <p:xfrm>
            <a:off x="3107" y="890"/>
            <a:ext cx="300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5" imgW="206375" imgH="244475" progId="Equation.3">
                    <p:embed/>
                  </p:oleObj>
                </mc:Choice>
                <mc:Fallback>
                  <p:oleObj name="" r:id="rId5" imgW="206375" imgH="244475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07" y="890"/>
                          <a:ext cx="300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1" name="Line 86"/>
            <p:cNvSpPr/>
            <p:nvPr/>
          </p:nvSpPr>
          <p:spPr>
            <a:xfrm>
              <a:off x="2155" y="936"/>
              <a:ext cx="86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2" name="Line 87"/>
            <p:cNvSpPr/>
            <p:nvPr/>
          </p:nvSpPr>
          <p:spPr>
            <a:xfrm>
              <a:off x="1157" y="936"/>
              <a:ext cx="59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3" name="Line 88"/>
            <p:cNvSpPr/>
            <p:nvPr/>
          </p:nvSpPr>
          <p:spPr>
            <a:xfrm>
              <a:off x="3425" y="936"/>
              <a:ext cx="45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4" name="Line 89"/>
            <p:cNvSpPr/>
            <p:nvPr/>
          </p:nvSpPr>
          <p:spPr>
            <a:xfrm>
              <a:off x="1157" y="1934"/>
              <a:ext cx="272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5" name="Line 90"/>
            <p:cNvSpPr/>
            <p:nvPr/>
          </p:nvSpPr>
          <p:spPr>
            <a:xfrm>
              <a:off x="3878" y="936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6" name="Line 99"/>
            <p:cNvSpPr/>
            <p:nvPr/>
          </p:nvSpPr>
          <p:spPr>
            <a:xfrm>
              <a:off x="2518" y="936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10267" name="Rectangle 100"/>
            <p:cNvSpPr/>
            <p:nvPr/>
          </p:nvSpPr>
          <p:spPr>
            <a:xfrm>
              <a:off x="2454" y="125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268" name="Rectangle 101"/>
            <p:cNvSpPr/>
            <p:nvPr/>
          </p:nvSpPr>
          <p:spPr>
            <a:xfrm>
              <a:off x="3815" y="125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269" name="Object 102"/>
            <p:cNvGraphicFramePr>
              <a:graphicFrameLocks noChangeAspect="1"/>
            </p:cNvGraphicFramePr>
            <p:nvPr/>
          </p:nvGraphicFramePr>
          <p:xfrm>
            <a:off x="1066" y="1298"/>
            <a:ext cx="243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7" imgW="173990" imgH="225425" progId="Equation.3">
                    <p:embed/>
                  </p:oleObj>
                </mc:Choice>
                <mc:Fallback>
                  <p:oleObj name="" r:id="rId7" imgW="173990" imgH="225425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66" y="1298"/>
                          <a:ext cx="243" cy="3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70" name="Text Box 103"/>
            <p:cNvSpPr txBox="1"/>
            <p:nvPr/>
          </p:nvSpPr>
          <p:spPr>
            <a:xfrm>
              <a:off x="2545" y="1253"/>
              <a:ext cx="40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0271" name="Text Box 104"/>
            <p:cNvSpPr txBox="1"/>
            <p:nvPr/>
          </p:nvSpPr>
          <p:spPr>
            <a:xfrm>
              <a:off x="1792" y="523"/>
              <a:ext cx="33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>
                <a:buNone/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r>
                <a:rPr lang="el-GR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</a:t>
              </a:r>
              <a:endParaRPr lang="el-GR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0272" name="Text Box 105"/>
            <p:cNvSpPr txBox="1"/>
            <p:nvPr/>
          </p:nvSpPr>
          <p:spPr>
            <a:xfrm>
              <a:off x="1066" y="936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73" name="Text Box 106"/>
            <p:cNvSpPr txBox="1"/>
            <p:nvPr/>
          </p:nvSpPr>
          <p:spPr>
            <a:xfrm>
              <a:off x="1066" y="1525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74" name="Text Box 107"/>
            <p:cNvSpPr txBox="1"/>
            <p:nvPr/>
          </p:nvSpPr>
          <p:spPr>
            <a:xfrm>
              <a:off x="2744" y="890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75" name="Text Box 108"/>
            <p:cNvSpPr txBox="1"/>
            <p:nvPr/>
          </p:nvSpPr>
          <p:spPr>
            <a:xfrm>
              <a:off x="3379" y="754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76" name="Text Box 111"/>
            <p:cNvSpPr txBox="1"/>
            <p:nvPr/>
          </p:nvSpPr>
          <p:spPr>
            <a:xfrm>
              <a:off x="3017" y="523"/>
              <a:ext cx="33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>
                <a:buNone/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r>
                <a:rPr lang="el-GR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</a:t>
              </a:r>
              <a:endParaRPr lang="el-GR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0277" name="Text Box 112"/>
            <p:cNvSpPr txBox="1"/>
            <p:nvPr/>
          </p:nvSpPr>
          <p:spPr>
            <a:xfrm>
              <a:off x="3905" y="1253"/>
              <a:ext cx="40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0278" name="Freeform 113"/>
            <p:cNvSpPr/>
            <p:nvPr/>
          </p:nvSpPr>
          <p:spPr>
            <a:xfrm>
              <a:off x="1610" y="1208"/>
              <a:ext cx="514" cy="590"/>
            </a:xfrm>
            <a:custGeom>
              <a:avLst/>
              <a:gdLst>
                <a:gd name="txL" fmla="*/ 0 w 514"/>
                <a:gd name="txT" fmla="*/ 0 h 590"/>
                <a:gd name="txR" fmla="*/ 514 w 514"/>
                <a:gd name="txB" fmla="*/ 590 h 590"/>
              </a:gdLst>
              <a:ahLst/>
              <a:cxnLst>
                <a:cxn ang="0">
                  <a:pos x="45" y="106"/>
                </a:cxn>
                <a:cxn ang="0">
                  <a:pos x="136" y="15"/>
                </a:cxn>
                <a:cxn ang="0">
                  <a:pos x="272" y="15"/>
                </a:cxn>
                <a:cxn ang="0">
                  <a:pos x="408" y="15"/>
                </a:cxn>
                <a:cxn ang="0">
                  <a:pos x="499" y="106"/>
                </a:cxn>
                <a:cxn ang="0">
                  <a:pos x="499" y="242"/>
                </a:cxn>
                <a:cxn ang="0">
                  <a:pos x="499" y="424"/>
                </a:cxn>
                <a:cxn ang="0">
                  <a:pos x="454" y="514"/>
                </a:cxn>
                <a:cxn ang="0">
                  <a:pos x="318" y="560"/>
                </a:cxn>
                <a:cxn ang="0">
                  <a:pos x="91" y="560"/>
                </a:cxn>
                <a:cxn ang="0">
                  <a:pos x="0" y="378"/>
                </a:cxn>
              </a:cxnLst>
              <a:rect l="txL" t="txT" r="txR" b="txB"/>
              <a:pathLst>
                <a:path w="514" h="590">
                  <a:moveTo>
                    <a:pt x="45" y="106"/>
                  </a:moveTo>
                  <a:cubicBezTo>
                    <a:pt x="71" y="68"/>
                    <a:pt x="98" y="30"/>
                    <a:pt x="136" y="15"/>
                  </a:cubicBezTo>
                  <a:cubicBezTo>
                    <a:pt x="174" y="0"/>
                    <a:pt x="227" y="15"/>
                    <a:pt x="272" y="15"/>
                  </a:cubicBezTo>
                  <a:cubicBezTo>
                    <a:pt x="317" y="15"/>
                    <a:pt x="370" y="0"/>
                    <a:pt x="408" y="15"/>
                  </a:cubicBezTo>
                  <a:cubicBezTo>
                    <a:pt x="446" y="30"/>
                    <a:pt x="484" y="68"/>
                    <a:pt x="499" y="106"/>
                  </a:cubicBezTo>
                  <a:cubicBezTo>
                    <a:pt x="514" y="144"/>
                    <a:pt x="499" y="189"/>
                    <a:pt x="499" y="242"/>
                  </a:cubicBezTo>
                  <a:cubicBezTo>
                    <a:pt x="499" y="295"/>
                    <a:pt x="506" y="379"/>
                    <a:pt x="499" y="424"/>
                  </a:cubicBezTo>
                  <a:cubicBezTo>
                    <a:pt x="492" y="469"/>
                    <a:pt x="484" y="491"/>
                    <a:pt x="454" y="514"/>
                  </a:cubicBezTo>
                  <a:cubicBezTo>
                    <a:pt x="424" y="537"/>
                    <a:pt x="378" y="552"/>
                    <a:pt x="318" y="560"/>
                  </a:cubicBezTo>
                  <a:cubicBezTo>
                    <a:pt x="258" y="568"/>
                    <a:pt x="144" y="590"/>
                    <a:pt x="91" y="560"/>
                  </a:cubicBezTo>
                  <a:cubicBezTo>
                    <a:pt x="38" y="530"/>
                    <a:pt x="15" y="408"/>
                    <a:pt x="0" y="378"/>
                  </a:cubicBez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79" name="Freeform 114"/>
            <p:cNvSpPr/>
            <p:nvPr/>
          </p:nvSpPr>
          <p:spPr>
            <a:xfrm>
              <a:off x="3062" y="1253"/>
              <a:ext cx="514" cy="590"/>
            </a:xfrm>
            <a:custGeom>
              <a:avLst/>
              <a:gdLst>
                <a:gd name="txL" fmla="*/ 0 w 514"/>
                <a:gd name="txT" fmla="*/ 0 h 590"/>
                <a:gd name="txR" fmla="*/ 514 w 514"/>
                <a:gd name="txB" fmla="*/ 590 h 590"/>
              </a:gdLst>
              <a:ahLst/>
              <a:cxnLst>
                <a:cxn ang="0">
                  <a:pos x="45" y="106"/>
                </a:cxn>
                <a:cxn ang="0">
                  <a:pos x="136" y="15"/>
                </a:cxn>
                <a:cxn ang="0">
                  <a:pos x="272" y="15"/>
                </a:cxn>
                <a:cxn ang="0">
                  <a:pos x="408" y="15"/>
                </a:cxn>
                <a:cxn ang="0">
                  <a:pos x="499" y="106"/>
                </a:cxn>
                <a:cxn ang="0">
                  <a:pos x="499" y="242"/>
                </a:cxn>
                <a:cxn ang="0">
                  <a:pos x="499" y="424"/>
                </a:cxn>
                <a:cxn ang="0">
                  <a:pos x="454" y="514"/>
                </a:cxn>
                <a:cxn ang="0">
                  <a:pos x="318" y="560"/>
                </a:cxn>
                <a:cxn ang="0">
                  <a:pos x="91" y="560"/>
                </a:cxn>
                <a:cxn ang="0">
                  <a:pos x="0" y="378"/>
                </a:cxn>
              </a:cxnLst>
              <a:rect l="txL" t="txT" r="txR" b="txB"/>
              <a:pathLst>
                <a:path w="514" h="590">
                  <a:moveTo>
                    <a:pt x="45" y="106"/>
                  </a:moveTo>
                  <a:cubicBezTo>
                    <a:pt x="71" y="68"/>
                    <a:pt x="98" y="30"/>
                    <a:pt x="136" y="15"/>
                  </a:cubicBezTo>
                  <a:cubicBezTo>
                    <a:pt x="174" y="0"/>
                    <a:pt x="227" y="15"/>
                    <a:pt x="272" y="15"/>
                  </a:cubicBezTo>
                  <a:cubicBezTo>
                    <a:pt x="317" y="15"/>
                    <a:pt x="370" y="0"/>
                    <a:pt x="408" y="15"/>
                  </a:cubicBezTo>
                  <a:cubicBezTo>
                    <a:pt x="446" y="30"/>
                    <a:pt x="484" y="68"/>
                    <a:pt x="499" y="106"/>
                  </a:cubicBezTo>
                  <a:cubicBezTo>
                    <a:pt x="514" y="144"/>
                    <a:pt x="499" y="189"/>
                    <a:pt x="499" y="242"/>
                  </a:cubicBezTo>
                  <a:cubicBezTo>
                    <a:pt x="499" y="295"/>
                    <a:pt x="506" y="379"/>
                    <a:pt x="499" y="424"/>
                  </a:cubicBezTo>
                  <a:cubicBezTo>
                    <a:pt x="492" y="469"/>
                    <a:pt x="484" y="491"/>
                    <a:pt x="454" y="514"/>
                  </a:cubicBezTo>
                  <a:cubicBezTo>
                    <a:pt x="424" y="537"/>
                    <a:pt x="378" y="552"/>
                    <a:pt x="318" y="560"/>
                  </a:cubicBezTo>
                  <a:cubicBezTo>
                    <a:pt x="258" y="568"/>
                    <a:pt x="144" y="590"/>
                    <a:pt x="91" y="560"/>
                  </a:cubicBezTo>
                  <a:cubicBezTo>
                    <a:pt x="38" y="530"/>
                    <a:pt x="15" y="408"/>
                    <a:pt x="0" y="378"/>
                  </a:cubicBez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10280" name="Object 115"/>
            <p:cNvGraphicFramePr>
              <a:graphicFrameLocks noChangeAspect="1"/>
            </p:cNvGraphicFramePr>
            <p:nvPr/>
          </p:nvGraphicFramePr>
          <p:xfrm>
            <a:off x="3198" y="1298"/>
            <a:ext cx="258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9" imgW="141605" imgH="225425" progId="Equation.3">
                    <p:embed/>
                  </p:oleObj>
                </mc:Choice>
                <mc:Fallback>
                  <p:oleObj name="" r:id="rId9" imgW="141605" imgH="225425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98" y="1298"/>
                          <a:ext cx="258" cy="4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81" name="Object 116"/>
            <p:cNvGraphicFramePr>
              <a:graphicFrameLocks noChangeAspect="1"/>
            </p:cNvGraphicFramePr>
            <p:nvPr/>
          </p:nvGraphicFramePr>
          <p:xfrm>
            <a:off x="1726" y="1257"/>
            <a:ext cx="238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11" imgW="128905" imgH="225425" progId="Equation.3">
                    <p:embed/>
                  </p:oleObj>
                </mc:Choice>
                <mc:Fallback>
                  <p:oleObj name="" r:id="rId11" imgW="128905" imgH="225425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26" y="1257"/>
                          <a:ext cx="238" cy="4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82" name="Object 117"/>
            <p:cNvGraphicFramePr>
              <a:graphicFrameLocks noChangeAspect="1"/>
            </p:cNvGraphicFramePr>
            <p:nvPr/>
          </p:nvGraphicFramePr>
          <p:xfrm>
            <a:off x="3905" y="890"/>
            <a:ext cx="232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13" imgW="141605" imgH="225425" progId="Equation.3">
                    <p:embed/>
                  </p:oleObj>
                </mc:Choice>
                <mc:Fallback>
                  <p:oleObj name="" r:id="rId13" imgW="141605" imgH="225425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05" y="890"/>
                          <a:ext cx="232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83" name="Line 118"/>
            <p:cNvSpPr/>
            <p:nvPr/>
          </p:nvSpPr>
          <p:spPr>
            <a:xfrm>
              <a:off x="3878" y="935"/>
              <a:ext cx="0" cy="27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10284" name="Group 151"/>
            <p:cNvGrpSpPr/>
            <p:nvPr/>
          </p:nvGrpSpPr>
          <p:grpSpPr>
            <a:xfrm rot="5400000">
              <a:off x="1904" y="686"/>
              <a:ext cx="91" cy="408"/>
              <a:chOff x="1565" y="2614"/>
              <a:chExt cx="90" cy="486"/>
            </a:xfrm>
          </p:grpSpPr>
          <p:sp>
            <p:nvSpPr>
              <p:cNvPr id="10292" name="Arc 152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293" name="Arc 153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294" name="Arc 154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295" name="Arc 155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0285" name="Group 156"/>
            <p:cNvGrpSpPr/>
            <p:nvPr/>
          </p:nvGrpSpPr>
          <p:grpSpPr>
            <a:xfrm rot="5400000">
              <a:off x="3174" y="686"/>
              <a:ext cx="91" cy="408"/>
              <a:chOff x="1565" y="2614"/>
              <a:chExt cx="90" cy="486"/>
            </a:xfrm>
          </p:grpSpPr>
          <p:sp>
            <p:nvSpPr>
              <p:cNvPr id="10288" name="Arc 157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289" name="Arc 158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290" name="Arc 159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291" name="Arc 160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0286" name="Oval 161"/>
            <p:cNvSpPr/>
            <p:nvPr/>
          </p:nvSpPr>
          <p:spPr>
            <a:xfrm>
              <a:off x="1102" y="1897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287" name="Oval 162"/>
            <p:cNvSpPr/>
            <p:nvPr/>
          </p:nvSpPr>
          <p:spPr>
            <a:xfrm>
              <a:off x="1093" y="899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63652" name="Object 164"/>
          <p:cNvGraphicFramePr>
            <a:graphicFrameLocks noChangeAspect="1"/>
          </p:cNvGraphicFramePr>
          <p:nvPr/>
        </p:nvGraphicFramePr>
        <p:xfrm>
          <a:off x="827088" y="4005263"/>
          <a:ext cx="3600450" cy="1262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5" imgW="1371600" imgH="483235" progId="Equation.3">
                  <p:embed/>
                </p:oleObj>
              </mc:Choice>
              <mc:Fallback>
                <p:oleObj name="" r:id="rId15" imgW="1371600" imgH="483235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4005263"/>
                        <a:ext cx="3600450" cy="1262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53" name="Object 165"/>
          <p:cNvGraphicFramePr>
            <a:graphicFrameLocks noChangeAspect="1"/>
          </p:cNvGraphicFramePr>
          <p:nvPr/>
        </p:nvGraphicFramePr>
        <p:xfrm>
          <a:off x="827088" y="5229225"/>
          <a:ext cx="3263900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7" imgW="1242695" imgH="418465" progId="Equation.3">
                  <p:embed/>
                </p:oleObj>
              </mc:Choice>
              <mc:Fallback>
                <p:oleObj name="" r:id="rId17" imgW="1242695" imgH="418465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5229225"/>
                        <a:ext cx="3263900" cy="1093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55" name="Object 167"/>
          <p:cNvGraphicFramePr>
            <a:graphicFrameLocks noChangeAspect="1"/>
          </p:cNvGraphicFramePr>
          <p:nvPr/>
        </p:nvGraphicFramePr>
        <p:xfrm>
          <a:off x="5083175" y="3414713"/>
          <a:ext cx="3373438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9" imgW="1300480" imgH="431165" progId="Equation.3">
                  <p:embed/>
                </p:oleObj>
              </mc:Choice>
              <mc:Fallback>
                <p:oleObj name="" r:id="rId19" imgW="1300480" imgH="431165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83175" y="3414713"/>
                        <a:ext cx="3373438" cy="1112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57" name="Object 169"/>
          <p:cNvGraphicFramePr>
            <a:graphicFrameLocks noChangeAspect="1"/>
          </p:cNvGraphicFramePr>
          <p:nvPr/>
        </p:nvGraphicFramePr>
        <p:xfrm>
          <a:off x="5219700" y="4581525"/>
          <a:ext cx="3008313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21" imgW="1146175" imgH="431165" progId="Equation.3">
                  <p:embed/>
                </p:oleObj>
              </mc:Choice>
              <mc:Fallback>
                <p:oleObj name="" r:id="rId21" imgW="1146175" imgH="431165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19700" y="4581525"/>
                        <a:ext cx="3008313" cy="1122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172"/>
          <p:cNvGrpSpPr/>
          <p:nvPr/>
        </p:nvGrpSpPr>
        <p:grpSpPr>
          <a:xfrm>
            <a:off x="1331913" y="476250"/>
            <a:ext cx="6323012" cy="587375"/>
            <a:chOff x="839" y="300"/>
            <a:chExt cx="3983" cy="370"/>
          </a:xfrm>
        </p:grpSpPr>
        <p:sp>
          <p:nvSpPr>
            <p:cNvPr id="10256" name="Rectangle 79"/>
            <p:cNvSpPr/>
            <p:nvPr/>
          </p:nvSpPr>
          <p:spPr>
            <a:xfrm>
              <a:off x="839" y="300"/>
              <a:ext cx="28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eaLnBrk="1" hangingPunct="1"/>
              <a:r>
                <a:rPr lang="zh-CN" altLang="en-US" sz="2800" dirty="0">
                  <a:latin typeface="楷体_GB2312" pitchFamily="49" charset="-122"/>
                </a:rPr>
                <a:t>求图示电路的网络函数</a:t>
              </a:r>
              <a:endParaRPr lang="zh-CN" altLang="en-US" sz="2800" dirty="0">
                <a:latin typeface="楷体_GB2312" pitchFamily="49" charset="-122"/>
              </a:endParaRPr>
            </a:p>
          </p:txBody>
        </p:sp>
        <p:sp>
          <p:nvSpPr>
            <p:cNvPr id="10257" name="Rectangle 80"/>
            <p:cNvSpPr/>
            <p:nvPr/>
          </p:nvSpPr>
          <p:spPr>
            <a:xfrm>
              <a:off x="3787" y="322"/>
              <a:ext cx="90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和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10258" name="Object 170"/>
            <p:cNvGraphicFramePr>
              <a:graphicFrameLocks noChangeAspect="1"/>
            </p:cNvGraphicFramePr>
            <p:nvPr/>
          </p:nvGraphicFramePr>
          <p:xfrm>
            <a:off x="3198" y="346"/>
            <a:ext cx="545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" name="" r:id="rId23" imgW="340995" imgH="206375" progId="Equation.3">
                    <p:embed/>
                  </p:oleObj>
                </mc:Choice>
                <mc:Fallback>
                  <p:oleObj name="" r:id="rId23" imgW="340995" imgH="206375" progId="Equation.3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98" y="346"/>
                          <a:ext cx="545" cy="3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9" name="Object 171"/>
            <p:cNvGraphicFramePr>
              <a:graphicFrameLocks noChangeAspect="1"/>
            </p:cNvGraphicFramePr>
            <p:nvPr/>
          </p:nvGraphicFramePr>
          <p:xfrm>
            <a:off x="4108" y="346"/>
            <a:ext cx="714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name="" r:id="rId25" imgW="450850" imgH="206375" progId="Equation.3">
                    <p:embed/>
                  </p:oleObj>
                </mc:Choice>
                <mc:Fallback>
                  <p:oleObj name="" r:id="rId25" imgW="450850" imgH="206375" progId="Equation.3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2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08" y="346"/>
                          <a:ext cx="714" cy="3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3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3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3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3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3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3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9" dur="2000"/>
                                        <p:tgtEl>
                                          <p:spTgt spid="63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3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8" dur="1000"/>
                                        <p:tgtEl>
                                          <p:spTgt spid="63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5" grpId="0"/>
      <p:bldP spid="63607" grpId="0" animBg="1"/>
      <p:bldP spid="63624" grpId="0" animBg="1"/>
      <p:bldP spid="636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1" name="Text Box 3"/>
          <p:cNvSpPr txBox="1"/>
          <p:nvPr/>
        </p:nvSpPr>
        <p:spPr>
          <a:xfrm>
            <a:off x="1547813" y="404813"/>
            <a:ext cx="7297737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lnSpc>
                <a:spcPct val="120000"/>
              </a:lnSpc>
              <a:buAutoNum type="circleNumDbPlain"/>
            </a:pPr>
            <a:r>
              <a:rPr lang="zh-CN" altLang="en-US" sz="2800" dirty="0">
                <a:latin typeface="Times New Roman" panose="02020603050405020304" pitchFamily="18" charset="0"/>
              </a:rPr>
              <a:t>以网络函数中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j</a:t>
            </a:r>
            <a:r>
              <a:rPr lang="el-GR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zh-CN" altLang="en-US" sz="2800" dirty="0">
                <a:latin typeface="Times New Roman" panose="02020603050405020304" pitchFamily="18" charset="0"/>
              </a:rPr>
              <a:t>的最高次方的次数定义网络函数的阶数。 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8613" name="Object 5"/>
          <p:cNvGraphicFramePr>
            <a:graphicFrameLocks noChangeAspect="1"/>
          </p:cNvGraphicFramePr>
          <p:nvPr/>
        </p:nvGraphicFramePr>
        <p:xfrm>
          <a:off x="5364163" y="3030538"/>
          <a:ext cx="30575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" imgW="1352550" imgH="193040" progId="Equation.3">
                  <p:embed/>
                </p:oleObj>
              </mc:Choice>
              <mc:Fallback>
                <p:oleObj name="" r:id="rId1" imgW="1352550" imgH="19304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64163" y="3030538"/>
                        <a:ext cx="3057525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4" name="Line 6"/>
          <p:cNvSpPr/>
          <p:nvPr/>
        </p:nvSpPr>
        <p:spPr>
          <a:xfrm>
            <a:off x="4427538" y="3211513"/>
            <a:ext cx="720725" cy="0"/>
          </a:xfrm>
          <a:prstGeom prst="line">
            <a:avLst/>
          </a:prstGeom>
          <a:ln w="57150" cap="flat" cmpd="sng">
            <a:solidFill>
              <a:srgbClr val="33CCFF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" name="Group 77"/>
          <p:cNvGrpSpPr/>
          <p:nvPr/>
        </p:nvGrpSpPr>
        <p:grpSpPr>
          <a:xfrm>
            <a:off x="0" y="260350"/>
            <a:ext cx="1847850" cy="850900"/>
            <a:chOff x="385" y="3022"/>
            <a:chExt cx="1164" cy="536"/>
          </a:xfrm>
        </p:grpSpPr>
        <p:pic>
          <p:nvPicPr>
            <p:cNvPr id="11281" name="Picture 78" descr="1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282" name="Text Box 79"/>
            <p:cNvSpPr txBox="1"/>
            <p:nvPr/>
          </p:nvSpPr>
          <p:spPr>
            <a:xfrm>
              <a:off x="793" y="3116"/>
              <a:ext cx="75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  </a:t>
              </a:r>
              <a:endParaRPr lang="zh-CN" altLang="en-US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68688" name="Text Box 80"/>
          <p:cNvSpPr txBox="1"/>
          <p:nvPr/>
        </p:nvSpPr>
        <p:spPr>
          <a:xfrm>
            <a:off x="1547813" y="1412875"/>
            <a:ext cx="7199312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lnSpc>
                <a:spcPct val="120000"/>
              </a:lnSpc>
              <a:buAutoNum type="circleNumDbPlain" startAt="2"/>
            </a:pPr>
            <a:r>
              <a:rPr lang="zh-CN" altLang="en-US" sz="2800" dirty="0">
                <a:latin typeface="Times New Roman" panose="02020603050405020304" pitchFamily="18" charset="0"/>
              </a:rPr>
              <a:t>由网络函数能求得网络在任意正弦输入时的端口正弦响应，即有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8689" name="Object 81"/>
          <p:cNvGraphicFramePr>
            <a:graphicFrameLocks noChangeAspect="1"/>
          </p:cNvGraphicFramePr>
          <p:nvPr/>
        </p:nvGraphicFramePr>
        <p:xfrm>
          <a:off x="1692275" y="2720975"/>
          <a:ext cx="2390775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4" imgW="998220" imgH="405765" progId="Equation.3">
                  <p:embed/>
                </p:oleObj>
              </mc:Choice>
              <mc:Fallback>
                <p:oleObj name="" r:id="rId4" imgW="998220" imgH="405765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92275" y="2720975"/>
                        <a:ext cx="2390775" cy="976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72" name="Group 8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1279" name="Picture 83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280" name="Text Box 8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1273" name="Group 85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11277" name="Picture 86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278" name="Text Box 87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1274" name="Group 91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11275" name="Picture 92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276" name="Text Box 93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68611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88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8688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/>
      <p:bldP spid="68688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Text Box 2"/>
          <p:cNvSpPr txBox="1"/>
          <p:nvPr/>
        </p:nvSpPr>
        <p:spPr>
          <a:xfrm>
            <a:off x="900113" y="333375"/>
            <a:ext cx="7056437" cy="762000"/>
          </a:xfrm>
          <a:prstGeom prst="rect">
            <a:avLst/>
          </a:prstGeom>
          <a:noFill/>
          <a:ln w="9525">
            <a:noFill/>
          </a:ln>
          <a:effectLst>
            <a:prstShdw prst="shdw17" dist="17961" dir="2699999">
              <a:srgbClr val="999900"/>
            </a:prstShdw>
          </a:effectLst>
        </p:spPr>
        <p:txBody>
          <a:bodyPr>
            <a:spAutoFit/>
          </a:bodyPr>
          <a:p>
            <a:pPr eaLnBrk="1" hangingPunct="1"/>
            <a:r>
              <a:rPr lang="en-US" altLang="zh-CN" sz="44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11-2</a:t>
            </a:r>
            <a:r>
              <a:rPr lang="en-US" altLang="zh-CN" sz="4400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en-US" altLang="zh-CN" sz="44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RLC</a:t>
            </a:r>
            <a:r>
              <a:rPr lang="zh-CN" altLang="en-US" sz="4400" dirty="0">
                <a:solidFill>
                  <a:schemeClr val="bg1"/>
                </a:solidFill>
                <a:latin typeface="楷体_GB2312" pitchFamily="49" charset="-122"/>
              </a:rPr>
              <a:t>串联电路的谐振</a:t>
            </a:r>
            <a:endParaRPr lang="zh-CN" altLang="en-US" sz="44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32774" name="Text Box 6"/>
          <p:cNvSpPr txBox="1"/>
          <p:nvPr/>
        </p:nvSpPr>
        <p:spPr>
          <a:xfrm>
            <a:off x="468313" y="1052513"/>
            <a:ext cx="8242300" cy="1501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571500" algn="just" eaLnBrk="1" hangingPunct="1">
              <a:lnSpc>
                <a:spcPct val="110000"/>
              </a:lnSpc>
            </a:pPr>
            <a:r>
              <a:rPr lang="zh-CN" altLang="en-US" sz="2800" dirty="0">
                <a:latin typeface="楷体_GB2312" pitchFamily="49" charset="-122"/>
              </a:rPr>
              <a:t>谐振是正弦电路在特定条件下产生的一种特殊物理现象。谐振现象在无线电和电工技术中得到广泛应用，研究电路中的谐振现象有重要实际意义。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32776" name="Text Box 8"/>
          <p:cNvSpPr txBox="1"/>
          <p:nvPr/>
        </p:nvSpPr>
        <p:spPr>
          <a:xfrm>
            <a:off x="395288" y="3213100"/>
            <a:ext cx="8424862" cy="1073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15000"/>
              </a:lnSpc>
            </a:pPr>
            <a:r>
              <a:rPr lang="en-US" altLang="zh-CN" sz="2800" dirty="0">
                <a:latin typeface="仿宋_GB2312" pitchFamily="49" charset="-122"/>
                <a:ea typeface="仿宋_GB2312" pitchFamily="49" charset="-122"/>
              </a:rPr>
              <a:t>   </a:t>
            </a:r>
            <a:r>
              <a:rPr lang="zh-CN" altLang="en-US" sz="2800" dirty="0">
                <a:latin typeface="楷体_GB2312" pitchFamily="49" charset="-122"/>
              </a:rPr>
              <a:t>含</a:t>
            </a:r>
            <a:r>
              <a:rPr lang="en-US" altLang="zh-CN" sz="2800" b="0" i="1" dirty="0">
                <a:latin typeface="Times New Roman" panose="02020603050405020304" pitchFamily="18" charset="0"/>
                <a:ea typeface="仿宋_GB2312" pitchFamily="49" charset="-122"/>
              </a:rPr>
              <a:t>R</a:t>
            </a:r>
            <a:r>
              <a:rPr lang="zh-CN" altLang="en-US" sz="2800" b="0" dirty="0">
                <a:latin typeface="Times New Roman" panose="02020603050405020304" pitchFamily="18" charset="0"/>
                <a:ea typeface="仿宋_GB2312" pitchFamily="49" charset="-122"/>
              </a:rPr>
              <a:t>、</a:t>
            </a:r>
            <a:r>
              <a:rPr lang="en-US" altLang="zh-CN" sz="2800" b="0" i="1" dirty="0">
                <a:latin typeface="Times New Roman" panose="02020603050405020304" pitchFamily="18" charset="0"/>
                <a:ea typeface="仿宋_GB2312" pitchFamily="49" charset="-122"/>
              </a:rPr>
              <a:t>L</a:t>
            </a:r>
            <a:r>
              <a:rPr lang="zh-CN" altLang="en-US" sz="2800" b="0" i="1" dirty="0">
                <a:latin typeface="Times New Roman" panose="02020603050405020304" pitchFamily="18" charset="0"/>
                <a:ea typeface="仿宋_GB2312" pitchFamily="49" charset="-122"/>
              </a:rPr>
              <a:t>、</a:t>
            </a:r>
            <a:r>
              <a:rPr lang="en-US" altLang="zh-CN" sz="2800" b="0" i="1" dirty="0">
                <a:latin typeface="Times New Roman" panose="02020603050405020304" pitchFamily="18" charset="0"/>
                <a:ea typeface="仿宋_GB2312" pitchFamily="49" charset="-122"/>
              </a:rPr>
              <a:t>C</a:t>
            </a:r>
            <a:r>
              <a:rPr lang="zh-CN" altLang="en-US" sz="2800" dirty="0">
                <a:latin typeface="楷体_GB2312" pitchFamily="49" charset="-122"/>
              </a:rPr>
              <a:t>的一端口电路，在特定条件下出现端口电压、电流同相位的现象时，称电路发生了谐振。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32777" name="Text Box 9"/>
          <p:cNvSpPr txBox="1"/>
          <p:nvPr/>
        </p:nvSpPr>
        <p:spPr>
          <a:xfrm>
            <a:off x="323850" y="2636838"/>
            <a:ext cx="3529013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</a:rPr>
              <a:t>1.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谐振的定义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aphicFrame>
        <p:nvGraphicFramePr>
          <p:cNvPr id="32791" name="Object 23"/>
          <p:cNvGraphicFramePr>
            <a:graphicFrameLocks noChangeAspect="1"/>
          </p:cNvGraphicFramePr>
          <p:nvPr/>
        </p:nvGraphicFramePr>
        <p:xfrm>
          <a:off x="4211638" y="4652963"/>
          <a:ext cx="2305050" cy="131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" imgW="676275" imgH="386080" progId="Equation.3">
                  <p:embed/>
                </p:oleObj>
              </mc:Choice>
              <mc:Fallback>
                <p:oleObj name="" r:id="rId1" imgW="676275" imgH="38608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11638" y="4652963"/>
                        <a:ext cx="2305050" cy="1316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2" name="AutoShape 24" descr="羊皮纸"/>
          <p:cNvSpPr/>
          <p:nvPr/>
        </p:nvSpPr>
        <p:spPr>
          <a:xfrm>
            <a:off x="7524750" y="4699000"/>
            <a:ext cx="1150938" cy="1152525"/>
          </a:xfrm>
          <a:prstGeom prst="wedgeRoundRectCallout">
            <a:avLst>
              <a:gd name="adj1" fmla="val -131241"/>
              <a:gd name="adj2" fmla="val 5787"/>
              <a:gd name="adj3" fmla="val 16667"/>
            </a:avLst>
          </a:prstGeom>
          <a:blipFill rotWithShape="1">
            <a:blip r:embed="rId3"/>
          </a:blipFill>
          <a:ln w="9525">
            <a:noFill/>
          </a:ln>
        </p:spPr>
        <p:txBody>
          <a:bodyPr/>
          <a:p>
            <a:pPr algn="ctr" eaLnBrk="1" hangingPunct="1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发生谐振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12296" name="Group 3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2315" name="Picture 40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16" name="Text Box 4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2297" name="Group 42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12313" name="Picture 43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14" name="Text Box 44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2298" name="Group 48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12311" name="Picture 49" descr="7890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312" name="Text Box 50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55"/>
          <p:cNvGrpSpPr/>
          <p:nvPr/>
        </p:nvGrpSpPr>
        <p:grpSpPr>
          <a:xfrm>
            <a:off x="1258888" y="4365625"/>
            <a:ext cx="2233612" cy="1943100"/>
            <a:chOff x="793" y="2750"/>
            <a:chExt cx="1407" cy="1224"/>
          </a:xfrm>
        </p:grpSpPr>
        <p:sp>
          <p:nvSpPr>
            <p:cNvPr id="12300" name="Rectangle 11"/>
            <p:cNvSpPr/>
            <p:nvPr/>
          </p:nvSpPr>
          <p:spPr>
            <a:xfrm>
              <a:off x="1452" y="2946"/>
              <a:ext cx="748" cy="1028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38100">
              <a:noFill/>
            </a:ln>
          </p:spPr>
          <p:txBody>
            <a:bodyPr anchor="ctr" anchorCtr="0">
              <a:spAutoFit/>
            </a:bodyPr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301" name="Line 12"/>
            <p:cNvSpPr/>
            <p:nvPr/>
          </p:nvSpPr>
          <p:spPr>
            <a:xfrm>
              <a:off x="877" y="3059"/>
              <a:ext cx="57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2" name="Line 13"/>
            <p:cNvSpPr/>
            <p:nvPr/>
          </p:nvSpPr>
          <p:spPr>
            <a:xfrm>
              <a:off x="877" y="3861"/>
              <a:ext cx="57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3" name="Text Box 14"/>
            <p:cNvSpPr txBox="1"/>
            <p:nvPr/>
          </p:nvSpPr>
          <p:spPr>
            <a:xfrm>
              <a:off x="1528" y="3182"/>
              <a:ext cx="566" cy="596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RLC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1" hangingPunct="1"/>
              <a:r>
                <a:rPr lang="zh-CN" altLang="en-US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电路</a:t>
              </a:r>
              <a:endParaRPr lang="zh-CN" altLang="en-US" sz="2800" i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2304" name="Object 18"/>
            <p:cNvGraphicFramePr>
              <a:graphicFrameLocks noChangeAspect="1"/>
            </p:cNvGraphicFramePr>
            <p:nvPr/>
          </p:nvGraphicFramePr>
          <p:xfrm>
            <a:off x="793" y="3249"/>
            <a:ext cx="254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" r:id="rId5" imgW="147955" imgH="193040" progId="Equation.3">
                    <p:embed/>
                  </p:oleObj>
                </mc:Choice>
                <mc:Fallback>
                  <p:oleObj name="" r:id="rId5" imgW="147955" imgH="193040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93" y="3249"/>
                          <a:ext cx="254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5" name="Line 20"/>
            <p:cNvSpPr/>
            <p:nvPr/>
          </p:nvSpPr>
          <p:spPr>
            <a:xfrm>
              <a:off x="948" y="3063"/>
              <a:ext cx="343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12306" name="Object 21"/>
            <p:cNvGraphicFramePr>
              <a:graphicFrameLocks noChangeAspect="1"/>
            </p:cNvGraphicFramePr>
            <p:nvPr/>
          </p:nvGraphicFramePr>
          <p:xfrm>
            <a:off x="975" y="2750"/>
            <a:ext cx="190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7" imgW="109220" imgH="180340" progId="Equation.3">
                    <p:embed/>
                  </p:oleObj>
                </mc:Choice>
                <mc:Fallback>
                  <p:oleObj name="" r:id="rId7" imgW="109220" imgH="18034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75" y="2750"/>
                          <a:ext cx="190" cy="2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7" name="Oval 51"/>
            <p:cNvSpPr/>
            <p:nvPr/>
          </p:nvSpPr>
          <p:spPr>
            <a:xfrm>
              <a:off x="811" y="3022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308" name="Oval 52"/>
            <p:cNvSpPr/>
            <p:nvPr/>
          </p:nvSpPr>
          <p:spPr>
            <a:xfrm>
              <a:off x="811" y="3820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309" name="Text Box 53"/>
            <p:cNvSpPr txBox="1"/>
            <p:nvPr/>
          </p:nvSpPr>
          <p:spPr>
            <a:xfrm>
              <a:off x="793" y="2976"/>
              <a:ext cx="36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310" name="Text Box 54"/>
            <p:cNvSpPr txBox="1"/>
            <p:nvPr/>
          </p:nvSpPr>
          <p:spPr>
            <a:xfrm>
              <a:off x="793" y="3521"/>
              <a:ext cx="36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3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8" dur="2000"/>
                                        <p:tgtEl>
                                          <p:spTgt spid="3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4" grpId="0"/>
      <p:bldP spid="32776" grpId="0"/>
      <p:bldP spid="32777" grpId="0"/>
      <p:bldP spid="3279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1776" name="Object 32"/>
          <p:cNvGraphicFramePr>
            <a:graphicFrameLocks noChangeAspect="1"/>
          </p:cNvGraphicFramePr>
          <p:nvPr/>
        </p:nvGraphicFramePr>
        <p:xfrm>
          <a:off x="611188" y="3573463"/>
          <a:ext cx="208915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" imgW="787400" imgH="419100" progId="Equation.3">
                  <p:embed/>
                </p:oleObj>
              </mc:Choice>
              <mc:Fallback>
                <p:oleObj name="" r:id="rId1" imgW="787400" imgH="4191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1188" y="3573463"/>
                        <a:ext cx="2089150" cy="111125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CCFF"/>
                          </a:gs>
                          <a:gs pos="50000">
                            <a:srgbClr val="FFFFFF"/>
                          </a:gs>
                          <a:gs pos="100000">
                            <a:srgbClr val="33CC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  <a:effectLst>
                        <a:prstShdw prst="shdw17" dist="17961" dir="2699999">
                          <a:srgbClr val="1F7A99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407988" y="1125538"/>
          <a:ext cx="5672137" cy="1357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3" imgW="2286000" imgH="547370" progId="Equation.3">
                  <p:embed/>
                </p:oleObj>
              </mc:Choice>
              <mc:Fallback>
                <p:oleObj name="" r:id="rId3" imgW="2286000" imgH="54737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7988" y="1125538"/>
                        <a:ext cx="5672137" cy="1357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4" name="Text Box 30"/>
          <p:cNvSpPr txBox="1"/>
          <p:nvPr/>
        </p:nvSpPr>
        <p:spPr>
          <a:xfrm>
            <a:off x="323850" y="404813"/>
            <a:ext cx="3671888" cy="579437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</a:rPr>
              <a:t>.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串联谐振的条件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31775" name="Rectangle 31"/>
          <p:cNvSpPr/>
          <p:nvPr/>
        </p:nvSpPr>
        <p:spPr>
          <a:xfrm>
            <a:off x="2843213" y="3860800"/>
            <a:ext cx="19621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谐振角频率</a:t>
            </a:r>
            <a:endParaRPr lang="zh-CN" altLang="en-US" sz="28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77" name="Rectangle 33"/>
          <p:cNvSpPr/>
          <p:nvPr/>
        </p:nvSpPr>
        <p:spPr>
          <a:xfrm>
            <a:off x="3059113" y="5300663"/>
            <a:ext cx="16065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谐振频率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1778" name="Object 34"/>
          <p:cNvGraphicFramePr>
            <a:graphicFrameLocks noChangeAspect="1"/>
          </p:cNvGraphicFramePr>
          <p:nvPr/>
        </p:nvGraphicFramePr>
        <p:xfrm>
          <a:off x="539750" y="5084763"/>
          <a:ext cx="2287588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5" imgW="951865" imgH="419100" progId="Equation.3">
                  <p:embed/>
                </p:oleObj>
              </mc:Choice>
              <mc:Fallback>
                <p:oleObj name="" r:id="rId5" imgW="951865" imgH="4191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9750" y="5084763"/>
                        <a:ext cx="2287588" cy="1001712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99"/>
                          </a:gs>
                          <a:gs pos="50000">
                            <a:srgbClr val="FFFFFF"/>
                          </a:gs>
                          <a:gs pos="100000">
                            <a:srgbClr val="FFCC99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  <a:effectLst>
                        <a:prstShdw prst="shdw17" dist="17961" dir="2699999">
                          <a:srgbClr val="997A5C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1" name="Object 37"/>
          <p:cNvGraphicFramePr>
            <a:graphicFrameLocks noChangeAspect="1"/>
          </p:cNvGraphicFramePr>
          <p:nvPr/>
        </p:nvGraphicFramePr>
        <p:xfrm>
          <a:off x="708025" y="2565400"/>
          <a:ext cx="76708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7" imgW="3103880" imgH="354330" progId="Equation.3">
                  <p:embed/>
                </p:oleObj>
              </mc:Choice>
              <mc:Fallback>
                <p:oleObj name="" r:id="rId7" imgW="3103880" imgH="35433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08025" y="2565400"/>
                        <a:ext cx="7670800" cy="882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82" name="Rectangle 38"/>
          <p:cNvSpPr/>
          <p:nvPr/>
        </p:nvSpPr>
        <p:spPr>
          <a:xfrm>
            <a:off x="2771775" y="2492375"/>
            <a:ext cx="2160588" cy="1008063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1783" name="AutoShape 39" descr="羊皮纸"/>
          <p:cNvSpPr/>
          <p:nvPr/>
        </p:nvSpPr>
        <p:spPr>
          <a:xfrm>
            <a:off x="6011863" y="3284538"/>
            <a:ext cx="1800225" cy="504825"/>
          </a:xfrm>
          <a:prstGeom prst="wedgeRoundRectCallout">
            <a:avLst>
              <a:gd name="adj1" fmla="val -120546"/>
              <a:gd name="adj2" fmla="val -73898"/>
              <a:gd name="adj3" fmla="val 16667"/>
            </a:avLst>
          </a:prstGeom>
          <a:blipFill rotWithShape="1">
            <a:blip r:embed="rId9"/>
          </a:blipFill>
          <a:ln w="9525">
            <a:noFill/>
          </a:ln>
        </p:spPr>
        <p:txBody>
          <a:bodyPr/>
          <a:p>
            <a:pPr algn="ctr" eaLnBrk="1" hangingPunct="1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谐振条件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1784" name="AutoShape 40" descr="羊皮纸"/>
          <p:cNvSpPr/>
          <p:nvPr/>
        </p:nvSpPr>
        <p:spPr>
          <a:xfrm>
            <a:off x="4572000" y="4652963"/>
            <a:ext cx="3384550" cy="576262"/>
          </a:xfrm>
          <a:prstGeom prst="wedgeRoundRectCallout">
            <a:avLst>
              <a:gd name="adj1" fmla="val -115903"/>
              <a:gd name="adj2" fmla="val -81681"/>
              <a:gd name="adj3" fmla="val 16667"/>
            </a:avLst>
          </a:prstGeom>
          <a:blipFill rotWithShape="1">
            <a:blip r:embed="rId9"/>
          </a:blipFill>
          <a:ln w="9525">
            <a:noFill/>
          </a:ln>
        </p:spPr>
        <p:txBody>
          <a:bodyPr/>
          <a:p>
            <a:pPr algn="ctr" eaLnBrk="1" hangingPunct="1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仅与电路参数有关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13324" name="Group 7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3356" name="Picture 79" descr="789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57" name="Text Box 8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3325" name="Group 81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13354" name="Picture 82" descr="789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55" name="Text Box 83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3326" name="Group 87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13352" name="Picture 88" descr="789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53" name="Text Box 89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95"/>
          <p:cNvGrpSpPr/>
          <p:nvPr/>
        </p:nvGrpSpPr>
        <p:grpSpPr>
          <a:xfrm>
            <a:off x="6372225" y="520700"/>
            <a:ext cx="2271713" cy="1985963"/>
            <a:chOff x="4014" y="328"/>
            <a:chExt cx="1431" cy="1251"/>
          </a:xfrm>
        </p:grpSpPr>
        <p:grpSp>
          <p:nvGrpSpPr>
            <p:cNvPr id="13328" name="Group 55"/>
            <p:cNvGrpSpPr/>
            <p:nvPr/>
          </p:nvGrpSpPr>
          <p:grpSpPr>
            <a:xfrm>
              <a:off x="5187" y="1276"/>
              <a:ext cx="258" cy="91"/>
              <a:chOff x="1351" y="3976"/>
              <a:chExt cx="174" cy="93"/>
            </a:xfrm>
          </p:grpSpPr>
          <p:sp>
            <p:nvSpPr>
              <p:cNvPr id="13350" name="Line 56"/>
              <p:cNvSpPr/>
              <p:nvPr/>
            </p:nvSpPr>
            <p:spPr>
              <a:xfrm>
                <a:off x="1351" y="3976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351" name="Line 57"/>
              <p:cNvSpPr/>
              <p:nvPr/>
            </p:nvSpPr>
            <p:spPr>
              <a:xfrm>
                <a:off x="1351" y="4068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3329" name="Line 58"/>
            <p:cNvSpPr/>
            <p:nvPr/>
          </p:nvSpPr>
          <p:spPr>
            <a:xfrm flipH="1">
              <a:off x="5320" y="990"/>
              <a:ext cx="0" cy="2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0" name="Line 59"/>
            <p:cNvSpPr/>
            <p:nvPr/>
          </p:nvSpPr>
          <p:spPr>
            <a:xfrm>
              <a:off x="5310" y="1366"/>
              <a:ext cx="0" cy="19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1" name="Line 60"/>
            <p:cNvSpPr/>
            <p:nvPr/>
          </p:nvSpPr>
          <p:spPr>
            <a:xfrm>
              <a:off x="4195" y="468"/>
              <a:ext cx="113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32" name="Line 61"/>
            <p:cNvSpPr/>
            <p:nvPr/>
          </p:nvSpPr>
          <p:spPr>
            <a:xfrm flipV="1">
              <a:off x="5320" y="468"/>
              <a:ext cx="0" cy="18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13333" name="Object 62"/>
            <p:cNvGraphicFramePr>
              <a:graphicFrameLocks noChangeAspect="1"/>
            </p:cNvGraphicFramePr>
            <p:nvPr/>
          </p:nvGraphicFramePr>
          <p:xfrm>
            <a:off x="4286" y="328"/>
            <a:ext cx="159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6" name="" r:id="rId11" imgW="109220" imgH="289560" progId="Equation.3">
                    <p:embed/>
                  </p:oleObj>
                </mc:Choice>
                <mc:Fallback>
                  <p:oleObj name="" r:id="rId11" imgW="109220" imgH="289560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86" y="328"/>
                          <a:ext cx="159" cy="4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4" name="Text Box 63"/>
            <p:cNvSpPr txBox="1"/>
            <p:nvPr/>
          </p:nvSpPr>
          <p:spPr>
            <a:xfrm>
              <a:off x="4558" y="468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35" name="Text Box 64"/>
            <p:cNvSpPr txBox="1"/>
            <p:nvPr/>
          </p:nvSpPr>
          <p:spPr>
            <a:xfrm>
              <a:off x="4885" y="618"/>
              <a:ext cx="45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36" name="Line 65"/>
            <p:cNvSpPr/>
            <p:nvPr/>
          </p:nvSpPr>
          <p:spPr>
            <a:xfrm>
              <a:off x="4241" y="473"/>
              <a:ext cx="288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337" name="Text Box 66"/>
            <p:cNvSpPr txBox="1"/>
            <p:nvPr/>
          </p:nvSpPr>
          <p:spPr>
            <a:xfrm>
              <a:off x="4024" y="437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38" name="Text Box 67"/>
            <p:cNvSpPr txBox="1"/>
            <p:nvPr/>
          </p:nvSpPr>
          <p:spPr>
            <a:xfrm>
              <a:off x="4014" y="1110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39" name="Oval 68"/>
            <p:cNvSpPr/>
            <p:nvPr/>
          </p:nvSpPr>
          <p:spPr>
            <a:xfrm>
              <a:off x="4109" y="1531"/>
              <a:ext cx="48" cy="4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zh-CN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3340" name="Oval 69"/>
            <p:cNvSpPr/>
            <p:nvPr/>
          </p:nvSpPr>
          <p:spPr>
            <a:xfrm>
              <a:off x="4147" y="447"/>
              <a:ext cx="48" cy="4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341" name="Object 70"/>
            <p:cNvGraphicFramePr>
              <a:graphicFrameLocks noChangeAspect="1"/>
            </p:cNvGraphicFramePr>
            <p:nvPr/>
          </p:nvGraphicFramePr>
          <p:xfrm>
            <a:off x="4694" y="922"/>
            <a:ext cx="508" cy="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13" imgW="334645" imgH="405765" progId="Equation.3">
                    <p:embed/>
                  </p:oleObj>
                </mc:Choice>
                <mc:Fallback>
                  <p:oleObj name="" r:id="rId13" imgW="334645" imgH="405765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94" y="922"/>
                          <a:ext cx="508" cy="6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2" name="Object 71"/>
            <p:cNvGraphicFramePr>
              <a:graphicFrameLocks noChangeAspect="1"/>
            </p:cNvGraphicFramePr>
            <p:nvPr/>
          </p:nvGraphicFramePr>
          <p:xfrm>
            <a:off x="4059" y="663"/>
            <a:ext cx="248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7" name="" r:id="rId15" imgW="147955" imgH="302895" progId="Equation.3">
                    <p:embed/>
                  </p:oleObj>
                </mc:Choice>
                <mc:Fallback>
                  <p:oleObj name="" r:id="rId15" imgW="147955" imgH="302895" progId="Equation.3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59" y="663"/>
                          <a:ext cx="248" cy="4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3" name="Rectangle 76"/>
            <p:cNvSpPr/>
            <p:nvPr/>
          </p:nvSpPr>
          <p:spPr>
            <a:xfrm>
              <a:off x="4558" y="39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3344" name="Line 77"/>
            <p:cNvSpPr/>
            <p:nvPr/>
          </p:nvSpPr>
          <p:spPr>
            <a:xfrm>
              <a:off x="4150" y="1557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3345" name="Group 90"/>
            <p:cNvGrpSpPr/>
            <p:nvPr/>
          </p:nvGrpSpPr>
          <p:grpSpPr>
            <a:xfrm rot="10800000">
              <a:off x="5311" y="645"/>
              <a:ext cx="90" cy="363"/>
              <a:chOff x="1565" y="2614"/>
              <a:chExt cx="90" cy="486"/>
            </a:xfrm>
          </p:grpSpPr>
          <p:sp>
            <p:nvSpPr>
              <p:cNvPr id="13346" name="Arc 91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3347" name="Arc 92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3348" name="Arc 93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3349" name="Arc 94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10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3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3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2000"/>
                                        <p:tgtEl>
                                          <p:spTgt spid="3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8" dur="2000"/>
                                        <p:tgtEl>
                                          <p:spTgt spid="3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2000"/>
                                        <p:tgtEl>
                                          <p:spTgt spid="3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1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1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74" grpId="0"/>
      <p:bldP spid="31775" grpId="0"/>
      <p:bldP spid="31777" grpId="0"/>
      <p:bldP spid="31782" grpId="0" animBg="1"/>
      <p:bldP spid="31783" grpId="0" animBg="1"/>
      <p:bldP spid="3178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Text Box 2"/>
          <p:cNvSpPr txBox="1"/>
          <p:nvPr/>
        </p:nvSpPr>
        <p:spPr>
          <a:xfrm>
            <a:off x="468313" y="476250"/>
            <a:ext cx="49688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rgbClr val="FF9900"/>
                </a:solidFill>
                <a:latin typeface="Times New Roman" panose="02020603050405020304" pitchFamily="18" charset="0"/>
              </a:rPr>
              <a:t>串联电路实现谐振的方式：</a:t>
            </a:r>
            <a:endParaRPr lang="zh-CN" altLang="en-US" sz="28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1" name="Text Box 3"/>
          <p:cNvSpPr txBox="1"/>
          <p:nvPr/>
        </p:nvSpPr>
        <p:spPr>
          <a:xfrm>
            <a:off x="539750" y="981075"/>
            <a:ext cx="4292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/>
            <a:r>
              <a:rPr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r>
              <a:rPr lang="en-US" altLang="zh-CN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 C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不变，改变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endParaRPr lang="en-US" altLang="zh-CN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732" name="Rectangle 4"/>
          <p:cNvSpPr/>
          <p:nvPr/>
        </p:nvSpPr>
        <p:spPr>
          <a:xfrm>
            <a:off x="539750" y="3213100"/>
            <a:ext cx="77771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0" dirty="0">
                <a:latin typeface="仿宋_GB2312" pitchFamily="49" charset="-122"/>
                <a:ea typeface="仿宋_GB2312" pitchFamily="49" charset="-122"/>
              </a:rPr>
              <a:t>(2)</a:t>
            </a:r>
            <a:r>
              <a:rPr lang="zh-CN" altLang="en-US" sz="2800" dirty="0">
                <a:latin typeface="楷体_GB2312" pitchFamily="49" charset="-122"/>
              </a:rPr>
              <a:t>电源频率不变，改变</a:t>
            </a:r>
            <a:r>
              <a:rPr lang="zh-CN" altLang="en-US" sz="2800" b="0" dirty="0">
                <a:latin typeface="Times New Roman" panose="02020603050405020304" pitchFamily="18" charset="0"/>
              </a:rPr>
              <a:t>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800" i="1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楷体_GB2312" pitchFamily="49" charset="-122"/>
              </a:rPr>
              <a:t>或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0" i="1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楷体_GB2312" pitchFamily="49" charset="-122"/>
              </a:rPr>
              <a:t>( </a:t>
            </a:r>
            <a:r>
              <a:rPr lang="zh-CN" altLang="en-US" sz="2800" dirty="0">
                <a:latin typeface="楷体_GB2312" pitchFamily="49" charset="-122"/>
              </a:rPr>
              <a:t>常改变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C</a:t>
            </a:r>
            <a:r>
              <a:rPr lang="en-US" altLang="zh-CN" sz="2800" i="1" dirty="0"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2800" dirty="0">
                <a:latin typeface="仿宋_GB2312" pitchFamily="49" charset="-122"/>
                <a:ea typeface="仿宋_GB2312" pitchFamily="49" charset="-122"/>
              </a:rPr>
              <a:t>)</a:t>
            </a:r>
            <a:endParaRPr lang="en-US" altLang="zh-CN" sz="2800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73733" name="Text Box 5"/>
          <p:cNvSpPr txBox="1"/>
          <p:nvPr/>
        </p:nvSpPr>
        <p:spPr>
          <a:xfrm>
            <a:off x="395288" y="1484313"/>
            <a:ext cx="8208962" cy="16303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</a:pPr>
            <a:r>
              <a:rPr lang="en-US" altLang="zh-CN" sz="2800" i="1" dirty="0">
                <a:latin typeface="楷体_GB2312" pitchFamily="49" charset="-122"/>
                <a:sym typeface="Symbol" panose="05050102010706020507" pitchFamily="18" charset="2"/>
              </a:rPr>
              <a:t>   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baseline="-25000" dirty="0">
                <a:solidFill>
                  <a:schemeClr val="bg1"/>
                </a:solidFill>
                <a:latin typeface="楷体_GB2312" pitchFamily="49" charset="-122"/>
              </a:rPr>
              <a:t>0</a:t>
            </a:r>
            <a:r>
              <a:rPr lang="zh-CN" altLang="en-US" sz="2800" dirty="0">
                <a:latin typeface="楷体_GB2312" pitchFamily="49" charset="-122"/>
              </a:rPr>
              <a:t>由电路参数决定，一个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R L C</a:t>
            </a:r>
            <a:r>
              <a:rPr lang="zh-CN" altLang="en-US" sz="2800" dirty="0">
                <a:latin typeface="楷体_GB2312" pitchFamily="49" charset="-122"/>
              </a:rPr>
              <a:t>串联电路只有一个对应的</a:t>
            </a:r>
            <a:r>
              <a:rPr lang="zh-CN" altLang="en-US" sz="28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800" baseline="-25000" dirty="0">
                <a:latin typeface="楷体_GB2312" pitchFamily="49" charset="-122"/>
              </a:rPr>
              <a:t> </a:t>
            </a:r>
            <a:r>
              <a:rPr lang="en-US" altLang="zh-CN" sz="2800" dirty="0">
                <a:latin typeface="楷体_GB2312" pitchFamily="49" charset="-122"/>
              </a:rPr>
              <a:t>, </a:t>
            </a:r>
            <a:r>
              <a:rPr lang="zh-CN" altLang="en-US" sz="2800" dirty="0">
                <a:latin typeface="楷体_GB2312" pitchFamily="49" charset="-122"/>
              </a:rPr>
              <a:t>当外加电源频率等于谐振频率时，电路发生谐振。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73734" name="Text Box 6"/>
          <p:cNvSpPr txBox="1"/>
          <p:nvPr/>
        </p:nvSpPr>
        <p:spPr>
          <a:xfrm>
            <a:off x="468313" y="3860800"/>
            <a:ext cx="63373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</a:rPr>
              <a:t>3.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RLC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串联电路谐振时的特点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73745" name="Text Box 17"/>
          <p:cNvSpPr txBox="1"/>
          <p:nvPr/>
        </p:nvSpPr>
        <p:spPr>
          <a:xfrm>
            <a:off x="755650" y="4581525"/>
            <a:ext cx="3671888" cy="519113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>
            <a:spAutoFit/>
          </a:bodyPr>
          <a:p>
            <a:pPr marL="342900" indent="-342900" eaLnBrk="1" hangingPunct="1"/>
            <a:r>
              <a:rPr lang="zh-CN" altLang="en-US" sz="2800" dirty="0">
                <a:solidFill>
                  <a:srgbClr val="FF9900"/>
                </a:solidFill>
                <a:latin typeface="楷体_GB2312" pitchFamily="49" charset="-122"/>
              </a:rPr>
              <a:t>阻抗的频率特性</a:t>
            </a:r>
            <a:endParaRPr lang="zh-CN" altLang="en-US" sz="2800" dirty="0">
              <a:solidFill>
                <a:srgbClr val="FF9900"/>
              </a:solidFill>
              <a:latin typeface="楷体_GB2312" pitchFamily="49" charset="-122"/>
            </a:endParaRPr>
          </a:p>
        </p:txBody>
      </p:sp>
      <p:grpSp>
        <p:nvGrpSpPr>
          <p:cNvPr id="14344" name="Group 1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4356" name="Picture 2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57" name="Text Box 2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4345" name="Group 22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14354" name="Picture 2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55" name="Text Box 24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4346" name="Group 28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14352" name="Picture 2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4353" name="Text Box 30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35"/>
          <p:cNvGrpSpPr/>
          <p:nvPr/>
        </p:nvGrpSpPr>
        <p:grpSpPr>
          <a:xfrm>
            <a:off x="1333500" y="5157788"/>
            <a:ext cx="5110163" cy="838200"/>
            <a:chOff x="840" y="3320"/>
            <a:chExt cx="3087" cy="457"/>
          </a:xfrm>
        </p:grpSpPr>
        <p:graphicFrame>
          <p:nvGraphicFramePr>
            <p:cNvPr id="14348" name="Object 18"/>
            <p:cNvGraphicFramePr>
              <a:graphicFrameLocks noChangeAspect="1"/>
            </p:cNvGraphicFramePr>
            <p:nvPr/>
          </p:nvGraphicFramePr>
          <p:xfrm>
            <a:off x="840" y="3320"/>
            <a:ext cx="3087" cy="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2" imgW="1880235" imgH="276860" progId="Equation.DSMT4">
                    <p:embed/>
                  </p:oleObj>
                </mc:Choice>
                <mc:Fallback>
                  <p:oleObj name="" r:id="rId2" imgW="1880235" imgH="276860" progId="Equation.DSMT4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40" y="3320"/>
                          <a:ext cx="3087" cy="4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49" name="Group 34"/>
            <p:cNvGrpSpPr/>
            <p:nvPr/>
          </p:nvGrpSpPr>
          <p:grpSpPr>
            <a:xfrm>
              <a:off x="3334" y="3430"/>
              <a:ext cx="589" cy="227"/>
              <a:chOff x="3334" y="3430"/>
              <a:chExt cx="589" cy="227"/>
            </a:xfrm>
          </p:grpSpPr>
          <p:sp>
            <p:nvSpPr>
              <p:cNvPr id="14350" name="Line 32"/>
              <p:cNvSpPr/>
              <p:nvPr/>
            </p:nvSpPr>
            <p:spPr>
              <a:xfrm flipH="1">
                <a:off x="3334" y="3430"/>
                <a:ext cx="151" cy="227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351" name="Line 33"/>
              <p:cNvSpPr/>
              <p:nvPr/>
            </p:nvSpPr>
            <p:spPr>
              <a:xfrm>
                <a:off x="3334" y="3657"/>
                <a:ext cx="589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" dur="10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10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3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3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3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3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/>
      <p:bldP spid="73731" grpId="0"/>
      <p:bldP spid="73732" grpId="0"/>
      <p:bldP spid="73733" grpId="0"/>
      <p:bldP spid="73734" grpId="0"/>
      <p:bldP spid="7374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1684" name="Object 4"/>
          <p:cNvGraphicFramePr>
            <a:graphicFrameLocks noChangeAspect="1"/>
          </p:cNvGraphicFramePr>
          <p:nvPr/>
        </p:nvGraphicFramePr>
        <p:xfrm>
          <a:off x="395288" y="1557338"/>
          <a:ext cx="838200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" imgW="3464560" imgH="463550" progId="Equation.3">
                  <p:embed/>
                </p:oleObj>
              </mc:Choice>
              <mc:Fallback>
                <p:oleObj name="" r:id="rId1" imgW="3464560" imgH="46355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288" y="1557338"/>
                        <a:ext cx="8382000" cy="1152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6" name="Object 6"/>
          <p:cNvGraphicFramePr>
            <a:graphicFrameLocks noChangeAspect="1"/>
          </p:cNvGraphicFramePr>
          <p:nvPr/>
        </p:nvGraphicFramePr>
        <p:xfrm>
          <a:off x="395288" y="549275"/>
          <a:ext cx="8135937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3" imgW="3651250" imgH="354330" progId="Equation.3">
                  <p:embed/>
                </p:oleObj>
              </mc:Choice>
              <mc:Fallback>
                <p:oleObj name="" r:id="rId3" imgW="3651250" imgH="35433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288" y="549275"/>
                        <a:ext cx="8135937" cy="827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8" name="AutoShape 8" descr="信纸"/>
          <p:cNvSpPr/>
          <p:nvPr/>
        </p:nvSpPr>
        <p:spPr>
          <a:xfrm>
            <a:off x="6948488" y="1341438"/>
            <a:ext cx="1800225" cy="576262"/>
          </a:xfrm>
          <a:prstGeom prst="wedgeRoundRectCallout">
            <a:avLst>
              <a:gd name="adj1" fmla="val -136157"/>
              <a:gd name="adj2" fmla="val -48347"/>
              <a:gd name="adj3" fmla="val 16667"/>
            </a:avLst>
          </a:prstGeom>
          <a:blipFill rotWithShape="1">
            <a:blip r:embed="rId5"/>
          </a:blipFill>
          <a:ln w="9525">
            <a:noFill/>
          </a:ln>
        </p:spPr>
        <p:txBody>
          <a:bodyPr/>
          <a:p>
            <a:pPr algn="ctr" eaLnBrk="1" hangingPunct="1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幅频特性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689" name="AutoShape 9" descr="信纸"/>
          <p:cNvSpPr/>
          <p:nvPr/>
        </p:nvSpPr>
        <p:spPr>
          <a:xfrm>
            <a:off x="6732588" y="2852738"/>
            <a:ext cx="1871662" cy="576262"/>
          </a:xfrm>
          <a:prstGeom prst="wedgeRoundRectCallout">
            <a:avLst>
              <a:gd name="adj1" fmla="val -67134"/>
              <a:gd name="adj2" fmla="val -100139"/>
              <a:gd name="adj3" fmla="val 16667"/>
            </a:avLst>
          </a:prstGeom>
          <a:blipFill rotWithShape="1">
            <a:blip r:embed="rId5"/>
          </a:blipFill>
          <a:ln w="9525">
            <a:noFill/>
          </a:ln>
        </p:spPr>
        <p:txBody>
          <a:bodyPr/>
          <a:p>
            <a:pPr algn="ctr" eaLnBrk="1" hangingPunct="1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相频特性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696" name="Line 16"/>
          <p:cNvSpPr/>
          <p:nvPr/>
        </p:nvSpPr>
        <p:spPr>
          <a:xfrm>
            <a:off x="2179638" y="4276725"/>
            <a:ext cx="0" cy="863600"/>
          </a:xfrm>
          <a:prstGeom prst="line">
            <a:avLst/>
          </a:prstGeom>
          <a:ln w="28575" cap="flat" cmpd="sng">
            <a:solidFill>
              <a:schemeClr val="bg1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2" name="Group 17"/>
          <p:cNvGrpSpPr/>
          <p:nvPr/>
        </p:nvGrpSpPr>
        <p:grpSpPr>
          <a:xfrm>
            <a:off x="1470025" y="3614738"/>
            <a:ext cx="2989263" cy="2212975"/>
            <a:chOff x="3431" y="564"/>
            <a:chExt cx="1883" cy="1394"/>
          </a:xfrm>
        </p:grpSpPr>
        <p:sp>
          <p:nvSpPr>
            <p:cNvPr id="15409" name="Freeform 18"/>
            <p:cNvSpPr/>
            <p:nvPr/>
          </p:nvSpPr>
          <p:spPr>
            <a:xfrm>
              <a:off x="3431" y="564"/>
              <a:ext cx="1446" cy="1394"/>
            </a:xfrm>
            <a:custGeom>
              <a:avLst/>
              <a:gdLst>
                <a:gd name="txL" fmla="*/ 0 w 1446"/>
                <a:gd name="txT" fmla="*/ 0 h 1968"/>
                <a:gd name="txR" fmla="*/ 1446 w 1446"/>
                <a:gd name="txB" fmla="*/ 1968 h 1968"/>
              </a:gdLst>
              <a:ahLst/>
              <a:cxnLst>
                <a:cxn ang="0">
                  <a:pos x="0" y="987"/>
                </a:cxn>
                <a:cxn ang="0">
                  <a:pos x="192" y="659"/>
                </a:cxn>
                <a:cxn ang="0">
                  <a:pos x="606" y="376"/>
                </a:cxn>
                <a:cxn ang="0">
                  <a:pos x="1020" y="171"/>
                </a:cxn>
                <a:cxn ang="0">
                  <a:pos x="1446" y="0"/>
                </a:cxn>
              </a:cxnLst>
              <a:rect l="txL" t="txT" r="txR" b="txB"/>
              <a:pathLst>
                <a:path w="1446" h="1968">
                  <a:moveTo>
                    <a:pt x="0" y="1968"/>
                  </a:moveTo>
                  <a:cubicBezTo>
                    <a:pt x="32" y="1859"/>
                    <a:pt x="91" y="1517"/>
                    <a:pt x="192" y="1314"/>
                  </a:cubicBezTo>
                  <a:cubicBezTo>
                    <a:pt x="293" y="1111"/>
                    <a:pt x="468" y="912"/>
                    <a:pt x="606" y="750"/>
                  </a:cubicBezTo>
                  <a:cubicBezTo>
                    <a:pt x="744" y="588"/>
                    <a:pt x="880" y="467"/>
                    <a:pt x="1020" y="342"/>
                  </a:cubicBezTo>
                  <a:cubicBezTo>
                    <a:pt x="1160" y="217"/>
                    <a:pt x="1357" y="71"/>
                    <a:pt x="1446" y="0"/>
                  </a:cubicBezTo>
                </a:path>
              </a:pathLst>
            </a:custGeom>
            <a:noFill/>
            <a:ln w="28575" cap="flat" cmpd="sng">
              <a:solidFill>
                <a:srgbClr val="FF66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410" name="Text Box 19"/>
            <p:cNvSpPr txBox="1"/>
            <p:nvPr/>
          </p:nvSpPr>
          <p:spPr>
            <a:xfrm>
              <a:off x="4701" y="604"/>
              <a:ext cx="613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X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)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20"/>
          <p:cNvGrpSpPr/>
          <p:nvPr/>
        </p:nvGrpSpPr>
        <p:grpSpPr>
          <a:xfrm>
            <a:off x="1387475" y="2949575"/>
            <a:ext cx="2571750" cy="1512888"/>
            <a:chOff x="3379" y="145"/>
            <a:chExt cx="1620" cy="953"/>
          </a:xfrm>
        </p:grpSpPr>
        <p:sp>
          <p:nvSpPr>
            <p:cNvPr id="15407" name="Freeform 21"/>
            <p:cNvSpPr/>
            <p:nvPr/>
          </p:nvSpPr>
          <p:spPr>
            <a:xfrm>
              <a:off x="3379" y="300"/>
              <a:ext cx="1620" cy="798"/>
            </a:xfrm>
            <a:custGeom>
              <a:avLst/>
              <a:gdLst>
                <a:gd name="txL" fmla="*/ 0 w 1620"/>
                <a:gd name="txT" fmla="*/ 0 h 1126"/>
                <a:gd name="txR" fmla="*/ 1620 w 1620"/>
                <a:gd name="txB" fmla="*/ 1126 h 1126"/>
              </a:gdLst>
              <a:ahLst/>
              <a:cxnLst>
                <a:cxn ang="0">
                  <a:pos x="0" y="0"/>
                </a:cxn>
                <a:cxn ang="0">
                  <a:pos x="192" y="298"/>
                </a:cxn>
                <a:cxn ang="0">
                  <a:pos x="408" y="524"/>
                </a:cxn>
                <a:cxn ang="0">
                  <a:pos x="576" y="546"/>
                </a:cxn>
                <a:cxn ang="0">
                  <a:pos x="834" y="416"/>
                </a:cxn>
                <a:cxn ang="0">
                  <a:pos x="1104" y="292"/>
                </a:cxn>
                <a:cxn ang="0">
                  <a:pos x="1494" y="147"/>
                </a:cxn>
                <a:cxn ang="0">
                  <a:pos x="1620" y="99"/>
                </a:cxn>
              </a:cxnLst>
              <a:rect l="txL" t="txT" r="txR" b="txB"/>
              <a:pathLst>
                <a:path w="1620" h="1126">
                  <a:moveTo>
                    <a:pt x="0" y="0"/>
                  </a:moveTo>
                  <a:cubicBezTo>
                    <a:pt x="62" y="210"/>
                    <a:pt x="124" y="420"/>
                    <a:pt x="192" y="594"/>
                  </a:cubicBezTo>
                  <a:cubicBezTo>
                    <a:pt x="260" y="768"/>
                    <a:pt x="344" y="962"/>
                    <a:pt x="408" y="1044"/>
                  </a:cubicBezTo>
                  <a:cubicBezTo>
                    <a:pt x="472" y="1126"/>
                    <a:pt x="505" y="1122"/>
                    <a:pt x="576" y="1086"/>
                  </a:cubicBezTo>
                  <a:cubicBezTo>
                    <a:pt x="647" y="1050"/>
                    <a:pt x="746" y="912"/>
                    <a:pt x="834" y="828"/>
                  </a:cubicBezTo>
                  <a:cubicBezTo>
                    <a:pt x="922" y="744"/>
                    <a:pt x="994" y="671"/>
                    <a:pt x="1104" y="582"/>
                  </a:cubicBezTo>
                  <a:cubicBezTo>
                    <a:pt x="1214" y="493"/>
                    <a:pt x="1408" y="358"/>
                    <a:pt x="1494" y="294"/>
                  </a:cubicBezTo>
                  <a:cubicBezTo>
                    <a:pt x="1580" y="230"/>
                    <a:pt x="1594" y="218"/>
                    <a:pt x="1620" y="198"/>
                  </a:cubicBez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408" name="Text Box 22"/>
            <p:cNvSpPr txBox="1"/>
            <p:nvPr/>
          </p:nvSpPr>
          <p:spPr>
            <a:xfrm>
              <a:off x="3382" y="145"/>
              <a:ext cx="70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|Z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)|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23"/>
          <p:cNvGrpSpPr/>
          <p:nvPr/>
        </p:nvGrpSpPr>
        <p:grpSpPr>
          <a:xfrm>
            <a:off x="1247775" y="3119438"/>
            <a:ext cx="2800350" cy="1539875"/>
            <a:chOff x="3291" y="252"/>
            <a:chExt cx="1764" cy="970"/>
          </a:xfrm>
        </p:grpSpPr>
        <p:sp>
          <p:nvSpPr>
            <p:cNvPr id="15405" name="Line 24"/>
            <p:cNvSpPr/>
            <p:nvPr/>
          </p:nvSpPr>
          <p:spPr>
            <a:xfrm flipV="1">
              <a:off x="3291" y="410"/>
              <a:ext cx="1764" cy="812"/>
            </a:xfrm>
            <a:prstGeom prst="line">
              <a:avLst/>
            </a:prstGeom>
            <a:ln w="28575" cap="flat" cmpd="sng">
              <a:solidFill>
                <a:srgbClr val="66FF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406" name="Text Box 25"/>
            <p:cNvSpPr txBox="1"/>
            <p:nvPr/>
          </p:nvSpPr>
          <p:spPr>
            <a:xfrm>
              <a:off x="4159" y="252"/>
              <a:ext cx="70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X</a:t>
              </a:r>
              <a:r>
                <a:rPr lang="en-US" altLang="zh-CN" sz="28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L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)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26"/>
          <p:cNvGrpSpPr/>
          <p:nvPr/>
        </p:nvGrpSpPr>
        <p:grpSpPr>
          <a:xfrm>
            <a:off x="1603375" y="4757738"/>
            <a:ext cx="2595563" cy="1119187"/>
            <a:chOff x="3478" y="1279"/>
            <a:chExt cx="1635" cy="705"/>
          </a:xfrm>
        </p:grpSpPr>
        <p:sp>
          <p:nvSpPr>
            <p:cNvPr id="15403" name="Freeform 27"/>
            <p:cNvSpPr/>
            <p:nvPr/>
          </p:nvSpPr>
          <p:spPr>
            <a:xfrm>
              <a:off x="3478" y="1293"/>
              <a:ext cx="1488" cy="691"/>
            </a:xfrm>
            <a:custGeom>
              <a:avLst/>
              <a:gdLst>
                <a:gd name="txL" fmla="*/ 0 w 1488"/>
                <a:gd name="txT" fmla="*/ 0 h 691"/>
                <a:gd name="txR" fmla="*/ 1488 w 1488"/>
                <a:gd name="txB" fmla="*/ 691 h 691"/>
              </a:gdLst>
              <a:ahLst/>
              <a:cxnLst>
                <a:cxn ang="0">
                  <a:pos x="0" y="691"/>
                </a:cxn>
                <a:cxn ang="0">
                  <a:pos x="216" y="307"/>
                </a:cxn>
                <a:cxn ang="0">
                  <a:pos x="768" y="77"/>
                </a:cxn>
                <a:cxn ang="0">
                  <a:pos x="1488" y="0"/>
                </a:cxn>
              </a:cxnLst>
              <a:rect l="txL" t="txT" r="txR" b="txB"/>
              <a:pathLst>
                <a:path w="1488" h="691">
                  <a:moveTo>
                    <a:pt x="0" y="691"/>
                  </a:moveTo>
                  <a:cubicBezTo>
                    <a:pt x="35" y="627"/>
                    <a:pt x="88" y="409"/>
                    <a:pt x="216" y="307"/>
                  </a:cubicBezTo>
                  <a:cubicBezTo>
                    <a:pt x="344" y="205"/>
                    <a:pt x="556" y="128"/>
                    <a:pt x="768" y="77"/>
                  </a:cubicBezTo>
                  <a:cubicBezTo>
                    <a:pt x="980" y="26"/>
                    <a:pt x="1338" y="16"/>
                    <a:pt x="1488" y="0"/>
                  </a:cubicBezTo>
                </a:path>
              </a:pathLst>
            </a:custGeom>
            <a:noFill/>
            <a:ln w="28575" cap="flat" cmpd="sng">
              <a:solidFill>
                <a:srgbClr val="00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404" name="Text Box 28"/>
            <p:cNvSpPr txBox="1"/>
            <p:nvPr/>
          </p:nvSpPr>
          <p:spPr>
            <a:xfrm>
              <a:off x="4468" y="1279"/>
              <a:ext cx="64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X</a:t>
              </a:r>
              <a:r>
                <a:rPr lang="en-US" altLang="zh-CN" sz="28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C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)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29"/>
          <p:cNvGrpSpPr/>
          <p:nvPr/>
        </p:nvGrpSpPr>
        <p:grpSpPr>
          <a:xfrm>
            <a:off x="825500" y="4149725"/>
            <a:ext cx="2581275" cy="519113"/>
            <a:chOff x="3025" y="901"/>
            <a:chExt cx="1626" cy="327"/>
          </a:xfrm>
        </p:grpSpPr>
        <p:sp>
          <p:nvSpPr>
            <p:cNvPr id="15401" name="Line 30"/>
            <p:cNvSpPr/>
            <p:nvPr/>
          </p:nvSpPr>
          <p:spPr>
            <a:xfrm>
              <a:off x="3295" y="1105"/>
              <a:ext cx="1356" cy="0"/>
            </a:xfrm>
            <a:prstGeom prst="line">
              <a:avLst/>
            </a:prstGeom>
            <a:ln w="28575" cap="flat" cmpd="sng">
              <a:solidFill>
                <a:srgbClr val="FF99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5402" name="Text Box 31"/>
            <p:cNvSpPr txBox="1"/>
            <p:nvPr/>
          </p:nvSpPr>
          <p:spPr>
            <a:xfrm>
              <a:off x="3025" y="901"/>
              <a:ext cx="253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32"/>
          <p:cNvGrpSpPr/>
          <p:nvPr/>
        </p:nvGrpSpPr>
        <p:grpSpPr>
          <a:xfrm>
            <a:off x="179388" y="2997200"/>
            <a:ext cx="4767262" cy="2795588"/>
            <a:chOff x="228" y="209"/>
            <a:chExt cx="3003" cy="1761"/>
          </a:xfrm>
        </p:grpSpPr>
        <p:sp>
          <p:nvSpPr>
            <p:cNvPr id="15395" name="Line 33"/>
            <p:cNvSpPr/>
            <p:nvPr/>
          </p:nvSpPr>
          <p:spPr>
            <a:xfrm>
              <a:off x="569" y="1256"/>
              <a:ext cx="2532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5396" name="Line 34"/>
            <p:cNvSpPr/>
            <p:nvPr/>
          </p:nvSpPr>
          <p:spPr>
            <a:xfrm flipV="1">
              <a:off x="905" y="228"/>
              <a:ext cx="0" cy="1742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5397" name="Text Box 35"/>
            <p:cNvSpPr txBox="1"/>
            <p:nvPr/>
          </p:nvSpPr>
          <p:spPr>
            <a:xfrm>
              <a:off x="1469" y="1139"/>
              <a:ext cx="40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0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98" name="Text Box 36"/>
            <p:cNvSpPr txBox="1"/>
            <p:nvPr/>
          </p:nvSpPr>
          <p:spPr>
            <a:xfrm>
              <a:off x="2905" y="1176"/>
              <a:ext cx="326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99" name="Text Box 37"/>
            <p:cNvSpPr txBox="1"/>
            <p:nvPr/>
          </p:nvSpPr>
          <p:spPr>
            <a:xfrm>
              <a:off x="228" y="209"/>
              <a:ext cx="791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Z 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)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5400" name="Text Box 38"/>
            <p:cNvSpPr txBox="1"/>
            <p:nvPr/>
          </p:nvSpPr>
          <p:spPr>
            <a:xfrm>
              <a:off x="652" y="1266"/>
              <a:ext cx="232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1719" name="AutoShape 39" descr="羊皮纸"/>
          <p:cNvSpPr/>
          <p:nvPr/>
        </p:nvSpPr>
        <p:spPr>
          <a:xfrm>
            <a:off x="539750" y="5949950"/>
            <a:ext cx="3384550" cy="576263"/>
          </a:xfrm>
          <a:prstGeom prst="wedgeRoundRectCallout">
            <a:avLst>
              <a:gd name="adj1" fmla="val 421"/>
              <a:gd name="adj2" fmla="val -175894"/>
              <a:gd name="adj3" fmla="val 16667"/>
            </a:avLst>
          </a:prstGeom>
          <a:blipFill rotWithShape="1">
            <a:blip r:embed="rId6"/>
          </a:blipFill>
          <a:ln w="9525">
            <a:noFill/>
          </a:ln>
        </p:spPr>
        <p:txBody>
          <a:bodyPr/>
          <a:p>
            <a:pPr algn="ctr" eaLnBrk="1" hangingPunct="1"/>
            <a:r>
              <a:rPr lang="en-US" altLang="zh-CN" sz="2800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(j</a:t>
            </a:r>
            <a:r>
              <a:rPr lang="el-GR" altLang="zh-CN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频响曲线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20" name="Freeform 40"/>
          <p:cNvSpPr/>
          <p:nvPr/>
        </p:nvSpPr>
        <p:spPr>
          <a:xfrm>
            <a:off x="5602288" y="3948113"/>
            <a:ext cx="2455862" cy="1636712"/>
          </a:xfrm>
          <a:custGeom>
            <a:avLst/>
            <a:gdLst>
              <a:gd name="txL" fmla="*/ 0 w 1547"/>
              <a:gd name="txT" fmla="*/ 0 h 1037"/>
              <a:gd name="txR" fmla="*/ 1547 w 1547"/>
              <a:gd name="txB" fmla="*/ 1037 h 1037"/>
            </a:gdLst>
            <a:ahLst/>
            <a:cxnLst>
              <a:cxn ang="0">
                <a:pos x="57962788" y="2147483646"/>
              </a:cxn>
              <a:cxn ang="0">
                <a:pos x="178930264" y="2147483646"/>
              </a:cxn>
              <a:cxn ang="0">
                <a:pos x="1131549132" y="2147483646"/>
              </a:cxn>
              <a:cxn ang="0">
                <a:pos x="1449088755" y="1674002834"/>
              </a:cxn>
              <a:cxn ang="0">
                <a:pos x="1570056230" y="1120983575"/>
              </a:cxn>
              <a:cxn ang="0">
                <a:pos x="2084168001" y="179358067"/>
              </a:cxn>
              <a:cxn ang="0">
                <a:pos x="2147483646" y="44839911"/>
              </a:cxn>
            </a:cxnLst>
            <a:rect l="txL" t="txT" r="txR" b="txB"/>
            <a:pathLst>
              <a:path w="1547" h="1037">
                <a:moveTo>
                  <a:pt x="23" y="1026"/>
                </a:moveTo>
                <a:cubicBezTo>
                  <a:pt x="14" y="1028"/>
                  <a:pt x="0" y="1037"/>
                  <a:pt x="71" y="1026"/>
                </a:cubicBezTo>
                <a:cubicBezTo>
                  <a:pt x="142" y="1015"/>
                  <a:pt x="365" y="1019"/>
                  <a:pt x="449" y="960"/>
                </a:cubicBezTo>
                <a:cubicBezTo>
                  <a:pt x="533" y="901"/>
                  <a:pt x="546" y="757"/>
                  <a:pt x="575" y="672"/>
                </a:cubicBezTo>
                <a:cubicBezTo>
                  <a:pt x="604" y="587"/>
                  <a:pt x="581" y="550"/>
                  <a:pt x="623" y="450"/>
                </a:cubicBezTo>
                <a:cubicBezTo>
                  <a:pt x="665" y="350"/>
                  <a:pt x="673" y="144"/>
                  <a:pt x="827" y="72"/>
                </a:cubicBezTo>
                <a:cubicBezTo>
                  <a:pt x="981" y="0"/>
                  <a:pt x="1397" y="29"/>
                  <a:pt x="1547" y="18"/>
                </a:cubicBezTo>
              </a:path>
            </a:pathLst>
          </a:custGeom>
          <a:noFill/>
          <a:ln w="28575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8" name="Group 41"/>
          <p:cNvGrpSpPr/>
          <p:nvPr/>
        </p:nvGrpSpPr>
        <p:grpSpPr>
          <a:xfrm>
            <a:off x="4567238" y="3287713"/>
            <a:ext cx="4343400" cy="2662237"/>
            <a:chOff x="2968" y="334"/>
            <a:chExt cx="2736" cy="1677"/>
          </a:xfrm>
        </p:grpSpPr>
        <p:sp>
          <p:nvSpPr>
            <p:cNvPr id="15385" name="Text Box 42"/>
            <p:cNvSpPr txBox="1"/>
            <p:nvPr/>
          </p:nvSpPr>
          <p:spPr>
            <a:xfrm>
              <a:off x="2968" y="334"/>
              <a:ext cx="647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 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)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5386" name="Line 43"/>
            <p:cNvSpPr/>
            <p:nvPr/>
          </p:nvSpPr>
          <p:spPr>
            <a:xfrm>
              <a:off x="3316" y="1276"/>
              <a:ext cx="2255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5387" name="Freeform 44"/>
            <p:cNvSpPr/>
            <p:nvPr/>
          </p:nvSpPr>
          <p:spPr>
            <a:xfrm>
              <a:off x="3612" y="474"/>
              <a:ext cx="3" cy="1537"/>
            </a:xfrm>
            <a:custGeom>
              <a:avLst/>
              <a:gdLst>
                <a:gd name="txL" fmla="*/ 0 w 3"/>
                <a:gd name="txT" fmla="*/ 0 h 1537"/>
                <a:gd name="txR" fmla="*/ 3 w 3"/>
                <a:gd name="txB" fmla="*/ 1537 h 1537"/>
              </a:gdLst>
              <a:ahLst/>
              <a:cxnLst>
                <a:cxn ang="0">
                  <a:pos x="3" y="1537"/>
                </a:cxn>
                <a:cxn ang="0">
                  <a:pos x="0" y="0"/>
                </a:cxn>
              </a:cxnLst>
              <a:rect l="txL" t="txT" r="txR" b="txB"/>
              <a:pathLst>
                <a:path w="3" h="1537">
                  <a:moveTo>
                    <a:pt x="3" y="1537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FFFF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388" name="Text Box 45"/>
            <p:cNvSpPr txBox="1"/>
            <p:nvPr/>
          </p:nvSpPr>
          <p:spPr>
            <a:xfrm>
              <a:off x="4096" y="1159"/>
              <a:ext cx="40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0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89" name="Text Box 46"/>
            <p:cNvSpPr txBox="1"/>
            <p:nvPr/>
          </p:nvSpPr>
          <p:spPr>
            <a:xfrm>
              <a:off x="5378" y="1196"/>
              <a:ext cx="326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90" name="Text Box 47"/>
            <p:cNvSpPr txBox="1"/>
            <p:nvPr/>
          </p:nvSpPr>
          <p:spPr>
            <a:xfrm>
              <a:off x="3377" y="1286"/>
              <a:ext cx="232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91" name="Text Box 48"/>
            <p:cNvSpPr txBox="1"/>
            <p:nvPr/>
          </p:nvSpPr>
          <p:spPr>
            <a:xfrm>
              <a:off x="3136" y="1601"/>
              <a:ext cx="525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–/2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92" name="Line 49"/>
            <p:cNvSpPr/>
            <p:nvPr/>
          </p:nvSpPr>
          <p:spPr>
            <a:xfrm flipV="1">
              <a:off x="3612" y="1771"/>
              <a:ext cx="1703" cy="6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5393" name="Line 50"/>
            <p:cNvSpPr/>
            <p:nvPr/>
          </p:nvSpPr>
          <p:spPr>
            <a:xfrm>
              <a:off x="3620" y="744"/>
              <a:ext cx="1583" cy="6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5394" name="Text Box 51"/>
            <p:cNvSpPr txBox="1"/>
            <p:nvPr/>
          </p:nvSpPr>
          <p:spPr>
            <a:xfrm>
              <a:off x="3204" y="593"/>
              <a:ext cx="413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/2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376" name="Group 5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5383" name="Picture 54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84" name="Text Box 5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5377" name="Group 56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15381" name="Picture 57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82" name="Text Box 58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5378" name="Group 62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15379" name="Picture 63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380" name="Text Box 64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10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7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10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2000"/>
                                        <p:tgtEl>
                                          <p:spTgt spid="7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3" dur="500"/>
                                        <p:tgtEl>
                                          <p:spTgt spid="7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7" dur="2000"/>
                                        <p:tgtEl>
                                          <p:spTgt spid="71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71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8" grpId="0" animBg="1"/>
      <p:bldP spid="71689" grpId="0" animBg="1"/>
      <p:bldP spid="71719" grpId="0" animBg="1"/>
      <p:bldP spid="717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229" name="Rectangle 125"/>
          <p:cNvSpPr/>
          <p:nvPr/>
        </p:nvSpPr>
        <p:spPr>
          <a:xfrm>
            <a:off x="539750" y="425450"/>
            <a:ext cx="80645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(j</a:t>
            </a:r>
            <a:r>
              <a:rPr lang="el-GR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频响曲线表明阻抗特性可分三个区域描述：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145"/>
          <p:cNvGrpSpPr/>
          <p:nvPr/>
        </p:nvGrpSpPr>
        <p:grpSpPr>
          <a:xfrm>
            <a:off x="1042988" y="928688"/>
            <a:ext cx="7005637" cy="3455987"/>
            <a:chOff x="657" y="754"/>
            <a:chExt cx="4413" cy="2359"/>
          </a:xfrm>
        </p:grpSpPr>
        <p:sp>
          <p:nvSpPr>
            <p:cNvPr id="16415" name="Line 126"/>
            <p:cNvSpPr/>
            <p:nvPr/>
          </p:nvSpPr>
          <p:spPr>
            <a:xfrm>
              <a:off x="2064" y="890"/>
              <a:ext cx="0" cy="2177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6416" name="Line 127"/>
            <p:cNvSpPr/>
            <p:nvPr/>
          </p:nvSpPr>
          <p:spPr>
            <a:xfrm>
              <a:off x="3878" y="890"/>
              <a:ext cx="0" cy="2223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6417" name="Rectangle 134"/>
            <p:cNvSpPr/>
            <p:nvPr/>
          </p:nvSpPr>
          <p:spPr>
            <a:xfrm>
              <a:off x="657" y="800"/>
              <a:ext cx="952" cy="354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容性区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6418" name="Rectangle 135"/>
            <p:cNvSpPr/>
            <p:nvPr/>
          </p:nvSpPr>
          <p:spPr>
            <a:xfrm>
              <a:off x="4118" y="754"/>
              <a:ext cx="952" cy="354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感性区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6419" name="Rectangle 136"/>
            <p:cNvSpPr/>
            <p:nvPr/>
          </p:nvSpPr>
          <p:spPr>
            <a:xfrm>
              <a:off x="2426" y="800"/>
              <a:ext cx="952" cy="354"/>
            </a:xfrm>
            <a:prstGeom prst="rect">
              <a:avLst/>
            </a:prstGeom>
            <a:solidFill>
              <a:schemeClr val="hlink"/>
            </a:solidFill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电阻性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76"/>
          <p:cNvGrpSpPr/>
          <p:nvPr/>
        </p:nvGrpSpPr>
        <p:grpSpPr>
          <a:xfrm>
            <a:off x="511175" y="1503363"/>
            <a:ext cx="2447925" cy="2921000"/>
            <a:chOff x="322" y="947"/>
            <a:chExt cx="1542" cy="1840"/>
          </a:xfrm>
        </p:grpSpPr>
        <p:graphicFrame>
          <p:nvGraphicFramePr>
            <p:cNvPr id="16411" name="Object 147"/>
            <p:cNvGraphicFramePr>
              <a:graphicFrameLocks noChangeAspect="1"/>
            </p:cNvGraphicFramePr>
            <p:nvPr/>
          </p:nvGraphicFramePr>
          <p:xfrm>
            <a:off x="566" y="947"/>
            <a:ext cx="719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1" imgW="463550" imgH="206375" progId="Equation.3">
                    <p:embed/>
                  </p:oleObj>
                </mc:Choice>
                <mc:Fallback>
                  <p:oleObj name="" r:id="rId1" imgW="463550" imgH="206375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66" y="947"/>
                          <a:ext cx="719" cy="3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2" name="Object 148"/>
            <p:cNvGraphicFramePr>
              <a:graphicFrameLocks noChangeAspect="1"/>
            </p:cNvGraphicFramePr>
            <p:nvPr/>
          </p:nvGraphicFramePr>
          <p:xfrm>
            <a:off x="521" y="1309"/>
            <a:ext cx="1179" cy="6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3" imgW="772795" imgH="418465" progId="Equation.3">
                    <p:embed/>
                  </p:oleObj>
                </mc:Choice>
                <mc:Fallback>
                  <p:oleObj name="" r:id="rId3" imgW="772795" imgH="418465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1" y="1309"/>
                          <a:ext cx="1179" cy="6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3" name="Object 149"/>
            <p:cNvGraphicFramePr>
              <a:graphicFrameLocks noChangeAspect="1"/>
            </p:cNvGraphicFramePr>
            <p:nvPr/>
          </p:nvGraphicFramePr>
          <p:xfrm>
            <a:off x="476" y="1994"/>
            <a:ext cx="1243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5" imgW="708025" imgH="212725" progId="Equation.3">
                    <p:embed/>
                  </p:oleObj>
                </mc:Choice>
                <mc:Fallback>
                  <p:oleObj name="" r:id="rId5" imgW="708025" imgH="212725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6" y="1994"/>
                          <a:ext cx="1243" cy="3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4" name="Object 150"/>
            <p:cNvGraphicFramePr>
              <a:graphicFrameLocks noChangeAspect="1"/>
            </p:cNvGraphicFramePr>
            <p:nvPr/>
          </p:nvGraphicFramePr>
          <p:xfrm>
            <a:off x="322" y="2406"/>
            <a:ext cx="1542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7" imgW="1010920" imgH="244475" progId="Equation.DSMT4">
                    <p:embed/>
                  </p:oleObj>
                </mc:Choice>
                <mc:Fallback>
                  <p:oleObj name="" r:id="rId7" imgW="1010920" imgH="244475" progId="Equation.DSMT4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2" y="2406"/>
                          <a:ext cx="1542" cy="3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51"/>
          <p:cNvGrpSpPr/>
          <p:nvPr/>
        </p:nvGrpSpPr>
        <p:grpSpPr>
          <a:xfrm>
            <a:off x="3767138" y="1503363"/>
            <a:ext cx="1898650" cy="2357437"/>
            <a:chOff x="2274" y="2160"/>
            <a:chExt cx="1196" cy="1485"/>
          </a:xfrm>
        </p:grpSpPr>
        <p:graphicFrame>
          <p:nvGraphicFramePr>
            <p:cNvPr id="16408" name="Object 152"/>
            <p:cNvGraphicFramePr>
              <a:graphicFrameLocks noChangeAspect="1"/>
            </p:cNvGraphicFramePr>
            <p:nvPr/>
          </p:nvGraphicFramePr>
          <p:xfrm>
            <a:off x="2426" y="2160"/>
            <a:ext cx="719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9" imgW="463550" imgH="206375" progId="Equation.3">
                    <p:embed/>
                  </p:oleObj>
                </mc:Choice>
                <mc:Fallback>
                  <p:oleObj name="" r:id="rId9" imgW="463550" imgH="206375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26" y="2160"/>
                          <a:ext cx="719" cy="3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9" name="Object 153"/>
            <p:cNvGraphicFramePr>
              <a:graphicFrameLocks noChangeAspect="1"/>
            </p:cNvGraphicFramePr>
            <p:nvPr/>
          </p:nvGraphicFramePr>
          <p:xfrm>
            <a:off x="2290" y="2568"/>
            <a:ext cx="1179" cy="6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11" imgW="772795" imgH="418465" progId="Equation.3">
                    <p:embed/>
                  </p:oleObj>
                </mc:Choice>
                <mc:Fallback>
                  <p:oleObj name="" r:id="rId11" imgW="772795" imgH="418465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90" y="2568"/>
                          <a:ext cx="1179" cy="6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0" name="Object 154"/>
            <p:cNvGraphicFramePr>
              <a:graphicFrameLocks noChangeAspect="1"/>
            </p:cNvGraphicFramePr>
            <p:nvPr/>
          </p:nvGraphicFramePr>
          <p:xfrm>
            <a:off x="2274" y="3331"/>
            <a:ext cx="1196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13" imgW="785495" imgH="206375" progId="Equation.3">
                    <p:embed/>
                  </p:oleObj>
                </mc:Choice>
                <mc:Fallback>
                  <p:oleObj name="" r:id="rId13" imgW="785495" imgH="206375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74" y="3331"/>
                          <a:ext cx="1196" cy="3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55"/>
          <p:cNvGrpSpPr/>
          <p:nvPr/>
        </p:nvGrpSpPr>
        <p:grpSpPr>
          <a:xfrm>
            <a:off x="6254750" y="1431925"/>
            <a:ext cx="2419350" cy="2847975"/>
            <a:chOff x="3850" y="2205"/>
            <a:chExt cx="1524" cy="1794"/>
          </a:xfrm>
        </p:grpSpPr>
        <p:graphicFrame>
          <p:nvGraphicFramePr>
            <p:cNvPr id="16404" name="Object 156"/>
            <p:cNvGraphicFramePr>
              <a:graphicFrameLocks noChangeAspect="1"/>
            </p:cNvGraphicFramePr>
            <p:nvPr/>
          </p:nvGraphicFramePr>
          <p:xfrm>
            <a:off x="4118" y="2205"/>
            <a:ext cx="719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15" imgW="463550" imgH="206375" progId="Equation.3">
                    <p:embed/>
                  </p:oleObj>
                </mc:Choice>
                <mc:Fallback>
                  <p:oleObj name="" r:id="rId15" imgW="463550" imgH="206375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18" y="2205"/>
                          <a:ext cx="719" cy="3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5" name="Object 157"/>
            <p:cNvGraphicFramePr>
              <a:graphicFrameLocks noChangeAspect="1"/>
            </p:cNvGraphicFramePr>
            <p:nvPr/>
          </p:nvGraphicFramePr>
          <p:xfrm>
            <a:off x="4028" y="2523"/>
            <a:ext cx="1179" cy="6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17" imgW="772795" imgH="418465" progId="Equation.3">
                    <p:embed/>
                  </p:oleObj>
                </mc:Choice>
                <mc:Fallback>
                  <p:oleObj name="" r:id="rId17" imgW="772795" imgH="418465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28" y="2523"/>
                          <a:ext cx="1179" cy="6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6" name="Object 158"/>
            <p:cNvGraphicFramePr>
              <a:graphicFrameLocks noChangeAspect="1"/>
            </p:cNvGraphicFramePr>
            <p:nvPr/>
          </p:nvGraphicFramePr>
          <p:xfrm>
            <a:off x="4020" y="3203"/>
            <a:ext cx="1245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19" imgW="817880" imgH="225425" progId="Equation.3">
                    <p:embed/>
                  </p:oleObj>
                </mc:Choice>
                <mc:Fallback>
                  <p:oleObj name="" r:id="rId19" imgW="817880" imgH="225425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20" y="3203"/>
                          <a:ext cx="1245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7" name="Object 159"/>
            <p:cNvGraphicFramePr>
              <a:graphicFrameLocks noChangeAspect="1"/>
            </p:cNvGraphicFramePr>
            <p:nvPr/>
          </p:nvGraphicFramePr>
          <p:xfrm>
            <a:off x="3850" y="3619"/>
            <a:ext cx="1524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21" imgW="998220" imgH="244475" progId="Equation.DSMT4">
                    <p:embed/>
                  </p:oleObj>
                </mc:Choice>
                <mc:Fallback>
                  <p:oleObj name="" r:id="rId21" imgW="998220" imgH="244475" progId="Equation.DSMT4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50" y="3619"/>
                          <a:ext cx="1524" cy="3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7264" name="Object 160"/>
          <p:cNvGraphicFramePr>
            <a:graphicFrameLocks noChangeAspect="1"/>
          </p:cNvGraphicFramePr>
          <p:nvPr/>
        </p:nvGraphicFramePr>
        <p:xfrm>
          <a:off x="563563" y="4376738"/>
          <a:ext cx="3306762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23" imgW="1435735" imgH="302895" progId="Equation.3">
                  <p:embed/>
                </p:oleObj>
              </mc:Choice>
              <mc:Fallback>
                <p:oleObj name="" r:id="rId23" imgW="1435735" imgH="302895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3563" y="4376738"/>
                        <a:ext cx="3306762" cy="688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265" name="Text Box 161"/>
          <p:cNvSpPr txBox="1"/>
          <p:nvPr/>
        </p:nvSpPr>
        <p:spPr>
          <a:xfrm>
            <a:off x="611188" y="5084763"/>
            <a:ext cx="8066087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楷体_GB2312" pitchFamily="49" charset="-122"/>
              </a:rPr>
              <a:t>输入</a:t>
            </a:r>
            <a:r>
              <a:rPr lang="zh-CN" altLang="zh-CN" sz="2800" dirty="0">
                <a:latin typeface="楷体_GB2312" pitchFamily="49" charset="-122"/>
              </a:rPr>
              <a:t>阻抗为</a:t>
            </a:r>
            <a:r>
              <a:rPr lang="zh-CN" altLang="en-US" sz="2800" dirty="0">
                <a:latin typeface="楷体_GB2312" pitchFamily="49" charset="-122"/>
              </a:rPr>
              <a:t>纯电阻，即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楷体_GB2312" pitchFamily="49" charset="-122"/>
              </a:rPr>
              <a:t>，阻抗值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|</a:t>
            </a:r>
            <a:r>
              <a:rPr lang="zh-CN" altLang="en-US" sz="2800" dirty="0">
                <a:latin typeface="楷体_GB2312" pitchFamily="49" charset="-122"/>
              </a:rPr>
              <a:t>最小。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47266" name="Text Box 162"/>
          <p:cNvSpPr txBox="1"/>
          <p:nvPr/>
        </p:nvSpPr>
        <p:spPr>
          <a:xfrm>
            <a:off x="468313" y="5734050"/>
            <a:ext cx="83883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楷体_GB2312" pitchFamily="49" charset="-122"/>
              </a:rPr>
              <a:t>电流</a:t>
            </a:r>
            <a:r>
              <a:rPr lang="en-US" altLang="zh-CN" sz="2800" b="0" i="1" dirty="0">
                <a:solidFill>
                  <a:schemeClr val="bg1"/>
                </a:solidFill>
                <a:latin typeface="楷体_GB2312" pitchFamily="49" charset="-122"/>
              </a:rPr>
              <a:t>I</a:t>
            </a:r>
            <a:r>
              <a:rPr lang="en-US" altLang="zh-CN" sz="2800" b="0" i="1" dirty="0">
                <a:latin typeface="楷体_GB2312" pitchFamily="49" charset="-122"/>
              </a:rPr>
              <a:t> </a:t>
            </a:r>
            <a:r>
              <a:rPr lang="zh-CN" altLang="en-US" sz="2800" dirty="0">
                <a:latin typeface="楷体_GB2312" pitchFamily="49" charset="-122"/>
              </a:rPr>
              <a:t>和电阻电压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楷体_GB2312" pitchFamily="49" charset="-122"/>
              </a:rPr>
              <a:t>达到最大值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/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R  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sz="2800" dirty="0">
                <a:solidFill>
                  <a:schemeClr val="bg1"/>
                </a:solidFill>
                <a:latin typeface="楷体_GB2312" pitchFamily="49" charset="-122"/>
              </a:rPr>
              <a:t>一定</a:t>
            </a:r>
            <a:r>
              <a:rPr lang="en-US" altLang="zh-CN" sz="2800" dirty="0">
                <a:solidFill>
                  <a:schemeClr val="bg1"/>
                </a:solidFill>
                <a:latin typeface="楷体_GB2312" pitchFamily="49" charset="-122"/>
              </a:rPr>
              <a:t>)</a:t>
            </a:r>
            <a:r>
              <a:rPr lang="zh-CN" altLang="en-US" sz="2800" dirty="0">
                <a:latin typeface="楷体_GB2312" pitchFamily="49" charset="-122"/>
              </a:rPr>
              <a:t>。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47267" name="Line 163"/>
          <p:cNvSpPr/>
          <p:nvPr/>
        </p:nvSpPr>
        <p:spPr>
          <a:xfrm>
            <a:off x="4211638" y="4797425"/>
            <a:ext cx="865187" cy="0"/>
          </a:xfrm>
          <a:prstGeom prst="line">
            <a:avLst/>
          </a:prstGeom>
          <a:ln w="76200" cap="flat" cmpd="sng">
            <a:solidFill>
              <a:srgbClr val="33CCFF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6395" name="Group 16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6402" name="Picture 165" descr="78900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403" name="Text Box 16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6396" name="Group 167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16400" name="Picture 168" descr="78900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401" name="Text Box 169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6397" name="Group 173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16398" name="Picture 174" descr="78900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399" name="Text Box 175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47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47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47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47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29" grpId="0"/>
      <p:bldP spid="47265" grpId="0"/>
      <p:bldP spid="4726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01"/>
          <p:cNvGrpSpPr/>
          <p:nvPr/>
        </p:nvGrpSpPr>
        <p:grpSpPr>
          <a:xfrm>
            <a:off x="900113" y="433388"/>
            <a:ext cx="3181350" cy="2476500"/>
            <a:chOff x="567" y="273"/>
            <a:chExt cx="2004" cy="1560"/>
          </a:xfrm>
        </p:grpSpPr>
        <p:sp>
          <p:nvSpPr>
            <p:cNvPr id="17439" name="Text Box 24"/>
            <p:cNvSpPr txBox="1"/>
            <p:nvPr/>
          </p:nvSpPr>
          <p:spPr>
            <a:xfrm>
              <a:off x="839" y="545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40" name="Text Box 25"/>
            <p:cNvSpPr txBox="1"/>
            <p:nvPr/>
          </p:nvSpPr>
          <p:spPr>
            <a:xfrm>
              <a:off x="1687" y="545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41" name="Text Box 26"/>
            <p:cNvSpPr txBox="1"/>
            <p:nvPr/>
          </p:nvSpPr>
          <p:spPr>
            <a:xfrm>
              <a:off x="1687" y="1134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42" name="Text Box 27"/>
            <p:cNvSpPr txBox="1"/>
            <p:nvPr/>
          </p:nvSpPr>
          <p:spPr>
            <a:xfrm>
              <a:off x="1383" y="454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43" name="Text Box 28"/>
            <p:cNvSpPr txBox="1"/>
            <p:nvPr/>
          </p:nvSpPr>
          <p:spPr>
            <a:xfrm>
              <a:off x="1687" y="908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44" name="Text Box 29"/>
            <p:cNvSpPr txBox="1"/>
            <p:nvPr/>
          </p:nvSpPr>
          <p:spPr>
            <a:xfrm>
              <a:off x="1687" y="1483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7445" name="Object 30"/>
            <p:cNvGraphicFramePr>
              <a:graphicFrameLocks noChangeAspect="1"/>
            </p:cNvGraphicFramePr>
            <p:nvPr/>
          </p:nvGraphicFramePr>
          <p:xfrm>
            <a:off x="1111" y="545"/>
            <a:ext cx="271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1" imgW="180340" imgH="321945" progId="Equation.3">
                    <p:embed/>
                  </p:oleObj>
                </mc:Choice>
                <mc:Fallback>
                  <p:oleObj name="" r:id="rId1" imgW="180340" imgH="321945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11" y="545"/>
                          <a:ext cx="271" cy="4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6" name="Object 31"/>
            <p:cNvGraphicFramePr>
              <a:graphicFrameLocks noChangeAspect="1"/>
            </p:cNvGraphicFramePr>
            <p:nvPr/>
          </p:nvGraphicFramePr>
          <p:xfrm>
            <a:off x="1641" y="636"/>
            <a:ext cx="255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3" imgW="173990" imgH="321945" progId="Equation.3">
                    <p:embed/>
                  </p:oleObj>
                </mc:Choice>
                <mc:Fallback>
                  <p:oleObj name="" r:id="rId3" imgW="173990" imgH="321945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41" y="636"/>
                          <a:ext cx="255" cy="4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7" name="Object 32"/>
            <p:cNvGraphicFramePr>
              <a:graphicFrameLocks noChangeAspect="1"/>
            </p:cNvGraphicFramePr>
            <p:nvPr/>
          </p:nvGraphicFramePr>
          <p:xfrm>
            <a:off x="1596" y="1180"/>
            <a:ext cx="270" cy="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5" imgW="180340" imgH="321945" progId="Equation.3">
                    <p:embed/>
                  </p:oleObj>
                </mc:Choice>
                <mc:Fallback>
                  <p:oleObj name="" r:id="rId5" imgW="180340" imgH="321945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96" y="1180"/>
                          <a:ext cx="270" cy="4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48" name="Line 33"/>
            <p:cNvSpPr/>
            <p:nvPr/>
          </p:nvSpPr>
          <p:spPr>
            <a:xfrm flipH="1">
              <a:off x="2004" y="1180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49" name="Line 34"/>
            <p:cNvSpPr/>
            <p:nvPr/>
          </p:nvSpPr>
          <p:spPr>
            <a:xfrm flipV="1">
              <a:off x="748" y="590"/>
              <a:ext cx="1270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50" name="Line 35"/>
            <p:cNvSpPr/>
            <p:nvPr/>
          </p:nvSpPr>
          <p:spPr>
            <a:xfrm flipV="1">
              <a:off x="2009" y="581"/>
              <a:ext cx="0" cy="22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51" name="Text Box 37"/>
            <p:cNvSpPr txBox="1"/>
            <p:nvPr/>
          </p:nvSpPr>
          <p:spPr>
            <a:xfrm>
              <a:off x="1156" y="273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52" name="Text Box 38"/>
            <p:cNvSpPr txBox="1"/>
            <p:nvPr/>
          </p:nvSpPr>
          <p:spPr>
            <a:xfrm>
              <a:off x="2063" y="772"/>
              <a:ext cx="45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53" name="Line 39"/>
            <p:cNvSpPr/>
            <p:nvPr/>
          </p:nvSpPr>
          <p:spPr>
            <a:xfrm>
              <a:off x="793" y="590"/>
              <a:ext cx="288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54" name="Text Box 40"/>
            <p:cNvSpPr txBox="1"/>
            <p:nvPr/>
          </p:nvSpPr>
          <p:spPr>
            <a:xfrm>
              <a:off x="567" y="636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55" name="Text Box 41"/>
            <p:cNvSpPr txBox="1"/>
            <p:nvPr/>
          </p:nvSpPr>
          <p:spPr>
            <a:xfrm>
              <a:off x="567" y="1361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456" name="Oval 42"/>
            <p:cNvSpPr/>
            <p:nvPr/>
          </p:nvSpPr>
          <p:spPr>
            <a:xfrm>
              <a:off x="689" y="1785"/>
              <a:ext cx="48" cy="4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zh-CN" altLang="zh-CN" sz="28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17457" name="Oval 43"/>
            <p:cNvSpPr/>
            <p:nvPr/>
          </p:nvSpPr>
          <p:spPr>
            <a:xfrm>
              <a:off x="691" y="561"/>
              <a:ext cx="48" cy="4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7458" name="Object 44"/>
            <p:cNvGraphicFramePr>
              <a:graphicFrameLocks noChangeAspect="1"/>
            </p:cNvGraphicFramePr>
            <p:nvPr/>
          </p:nvGraphicFramePr>
          <p:xfrm>
            <a:off x="2063" y="1134"/>
            <a:ext cx="508" cy="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7" imgW="334645" imgH="405765" progId="Equation.3">
                    <p:embed/>
                  </p:oleObj>
                </mc:Choice>
                <mc:Fallback>
                  <p:oleObj name="" r:id="rId7" imgW="334645" imgH="405765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63" y="1134"/>
                          <a:ext cx="508" cy="62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59" name="Object 45"/>
            <p:cNvGraphicFramePr>
              <a:graphicFrameLocks noChangeAspect="1"/>
            </p:cNvGraphicFramePr>
            <p:nvPr/>
          </p:nvGraphicFramePr>
          <p:xfrm>
            <a:off x="612" y="890"/>
            <a:ext cx="248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9" imgW="147955" imgH="302895" progId="Equation.3">
                    <p:embed/>
                  </p:oleObj>
                </mc:Choice>
                <mc:Fallback>
                  <p:oleObj name="" r:id="rId9" imgW="147955" imgH="302895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12" y="890"/>
                          <a:ext cx="248" cy="4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60" name="Rectangle 50"/>
            <p:cNvSpPr/>
            <p:nvPr/>
          </p:nvSpPr>
          <p:spPr>
            <a:xfrm>
              <a:off x="1111" y="54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7461" name="Group 51"/>
            <p:cNvGrpSpPr/>
            <p:nvPr/>
          </p:nvGrpSpPr>
          <p:grpSpPr>
            <a:xfrm>
              <a:off x="1871" y="1521"/>
              <a:ext cx="258" cy="91"/>
              <a:chOff x="1351" y="3976"/>
              <a:chExt cx="174" cy="93"/>
            </a:xfrm>
          </p:grpSpPr>
          <p:sp>
            <p:nvSpPr>
              <p:cNvPr id="17469" name="Line 52"/>
              <p:cNvSpPr/>
              <p:nvPr/>
            </p:nvSpPr>
            <p:spPr>
              <a:xfrm>
                <a:off x="1351" y="3976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70" name="Line 53"/>
              <p:cNvSpPr/>
              <p:nvPr/>
            </p:nvSpPr>
            <p:spPr>
              <a:xfrm>
                <a:off x="1351" y="4068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7462" name="Line 54"/>
            <p:cNvSpPr/>
            <p:nvPr/>
          </p:nvSpPr>
          <p:spPr>
            <a:xfrm>
              <a:off x="730" y="1815"/>
              <a:ext cx="127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63" name="Line 55"/>
            <p:cNvSpPr/>
            <p:nvPr/>
          </p:nvSpPr>
          <p:spPr>
            <a:xfrm>
              <a:off x="2000" y="1633"/>
              <a:ext cx="0" cy="1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7464" name="Group 96"/>
            <p:cNvGrpSpPr/>
            <p:nvPr/>
          </p:nvGrpSpPr>
          <p:grpSpPr>
            <a:xfrm rot="10800000">
              <a:off x="1991" y="808"/>
              <a:ext cx="90" cy="363"/>
              <a:chOff x="1565" y="2614"/>
              <a:chExt cx="90" cy="486"/>
            </a:xfrm>
          </p:grpSpPr>
          <p:sp>
            <p:nvSpPr>
              <p:cNvPr id="17465" name="Arc 97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7466" name="Arc 98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7467" name="Arc 99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7468" name="Arc 100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aphicFrame>
        <p:nvGraphicFramePr>
          <p:cNvPr id="69634" name="Object 2"/>
          <p:cNvGraphicFramePr>
            <a:graphicFrameLocks noChangeAspect="1"/>
          </p:cNvGraphicFramePr>
          <p:nvPr/>
        </p:nvGraphicFramePr>
        <p:xfrm>
          <a:off x="1331913" y="4292600"/>
          <a:ext cx="4562475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1" imgW="1918970" imgH="321945" progId="Equation.3">
                  <p:embed/>
                </p:oleObj>
              </mc:Choice>
              <mc:Fallback>
                <p:oleObj name="" r:id="rId11" imgW="1918970" imgH="321945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4292600"/>
                        <a:ext cx="4562475" cy="766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5" name="Text Box 3"/>
          <p:cNvSpPr txBox="1"/>
          <p:nvPr/>
        </p:nvSpPr>
        <p:spPr>
          <a:xfrm>
            <a:off x="611188" y="3213100"/>
            <a:ext cx="8086725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81000" indent="-381000" algn="just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) 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en-US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2800" dirty="0">
                <a:latin typeface="Times New Roman" panose="02020603050405020304" pitchFamily="18" charset="0"/>
              </a:rPr>
              <a:t>上</a:t>
            </a:r>
            <a:r>
              <a:rPr lang="zh-CN" altLang="en-US" sz="2800" dirty="0">
                <a:latin typeface="Times New Roman" panose="02020603050405020304" pitchFamily="18" charset="0"/>
              </a:rPr>
              <a:t>的电压大小相等，相位相反，</a:t>
            </a:r>
            <a:r>
              <a:rPr lang="zh-CN" altLang="zh-CN" sz="2800" dirty="0">
                <a:latin typeface="Times New Roman" panose="02020603050405020304" pitchFamily="18" charset="0"/>
              </a:rPr>
              <a:t>串联总电压为零，</a:t>
            </a:r>
            <a:r>
              <a:rPr lang="zh-CN" altLang="en-US" sz="2800" dirty="0">
                <a:latin typeface="Times New Roman" panose="02020603050405020304" pitchFamily="18" charset="0"/>
              </a:rPr>
              <a:t>也称电压谐振，即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69636" name="Object 4"/>
          <p:cNvGraphicFramePr>
            <a:graphicFrameLocks noChangeAspect="1"/>
          </p:cNvGraphicFramePr>
          <p:nvPr/>
        </p:nvGraphicFramePr>
        <p:xfrm>
          <a:off x="1863725" y="5195888"/>
          <a:ext cx="483870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3" imgW="1964055" imgH="193040" progId="Equation.3">
                  <p:embed/>
                </p:oleObj>
              </mc:Choice>
              <mc:Fallback>
                <p:oleObj name="" r:id="rId13" imgW="1964055" imgH="19304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63725" y="5195888"/>
                        <a:ext cx="4838700" cy="452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6215063" y="449263"/>
            <a:ext cx="1593850" cy="2665412"/>
            <a:chOff x="3618" y="282"/>
            <a:chExt cx="1004" cy="1679"/>
          </a:xfrm>
        </p:grpSpPr>
        <p:sp>
          <p:nvSpPr>
            <p:cNvPr id="17431" name="Line 6"/>
            <p:cNvSpPr/>
            <p:nvPr/>
          </p:nvSpPr>
          <p:spPr>
            <a:xfrm>
              <a:off x="3924" y="1140"/>
              <a:ext cx="696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32" name="Line 7"/>
            <p:cNvSpPr/>
            <p:nvPr/>
          </p:nvSpPr>
          <p:spPr>
            <a:xfrm>
              <a:off x="3924" y="1140"/>
              <a:ext cx="288" cy="0"/>
            </a:xfrm>
            <a:prstGeom prst="line">
              <a:avLst/>
            </a:prstGeom>
            <a:ln w="38100" cap="flat" cmpd="sng">
              <a:solidFill>
                <a:srgbClr val="66FF33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33" name="Line 8"/>
            <p:cNvSpPr/>
            <p:nvPr/>
          </p:nvSpPr>
          <p:spPr>
            <a:xfrm flipV="1">
              <a:off x="3924" y="420"/>
              <a:ext cx="0" cy="793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34" name="Line 9"/>
            <p:cNvSpPr/>
            <p:nvPr/>
          </p:nvSpPr>
          <p:spPr>
            <a:xfrm>
              <a:off x="3924" y="1140"/>
              <a:ext cx="0" cy="793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17435" name="Object 10"/>
            <p:cNvGraphicFramePr>
              <a:graphicFrameLocks noChangeAspect="1"/>
            </p:cNvGraphicFramePr>
            <p:nvPr/>
          </p:nvGraphicFramePr>
          <p:xfrm>
            <a:off x="3635" y="282"/>
            <a:ext cx="306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15" imgW="193040" imgH="276860" progId="Equation.3">
                    <p:embed/>
                  </p:oleObj>
                </mc:Choice>
                <mc:Fallback>
                  <p:oleObj name="" r:id="rId15" imgW="193040" imgH="27686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35" y="282"/>
                          <a:ext cx="306" cy="4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6" name="Object 11"/>
            <p:cNvGraphicFramePr>
              <a:graphicFrameLocks noChangeAspect="1"/>
            </p:cNvGraphicFramePr>
            <p:nvPr/>
          </p:nvGraphicFramePr>
          <p:xfrm>
            <a:off x="3618" y="1517"/>
            <a:ext cx="289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17" imgW="180340" imgH="276860" progId="Equation.3">
                    <p:embed/>
                  </p:oleObj>
                </mc:Choice>
                <mc:Fallback>
                  <p:oleObj name="" r:id="rId17" imgW="180340" imgH="27686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18" y="1517"/>
                          <a:ext cx="289" cy="4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7" name="Object 12"/>
            <p:cNvGraphicFramePr>
              <a:graphicFrameLocks noChangeAspect="1"/>
            </p:cNvGraphicFramePr>
            <p:nvPr/>
          </p:nvGraphicFramePr>
          <p:xfrm>
            <a:off x="4013" y="1077"/>
            <a:ext cx="308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19" imgW="193040" imgH="276860" progId="Equation.3">
                    <p:embed/>
                  </p:oleObj>
                </mc:Choice>
                <mc:Fallback>
                  <p:oleObj name="" r:id="rId19" imgW="193040" imgH="27686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13" y="1077"/>
                          <a:ext cx="308" cy="4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8" name="Object 13"/>
            <p:cNvGraphicFramePr>
              <a:graphicFrameLocks noChangeAspect="1"/>
            </p:cNvGraphicFramePr>
            <p:nvPr/>
          </p:nvGraphicFramePr>
          <p:xfrm>
            <a:off x="4453" y="1077"/>
            <a:ext cx="169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21" imgW="109220" imgH="244475" progId="Equation.3">
                    <p:embed/>
                  </p:oleObj>
                </mc:Choice>
                <mc:Fallback>
                  <p:oleObj name="" r:id="rId21" imgW="109220" imgH="244475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53" y="1077"/>
                          <a:ext cx="169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415" name="Object 36"/>
          <p:cNvGraphicFramePr>
            <a:graphicFrameLocks noChangeAspect="1"/>
          </p:cNvGraphicFramePr>
          <p:nvPr/>
        </p:nvGraphicFramePr>
        <p:xfrm>
          <a:off x="1331913" y="231775"/>
          <a:ext cx="252412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23" imgW="109220" imgH="289560" progId="Equation.3">
                  <p:embed/>
                </p:oleObj>
              </mc:Choice>
              <mc:Fallback>
                <p:oleObj name="" r:id="rId23" imgW="109220" imgH="28956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231775"/>
                        <a:ext cx="252412" cy="690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6"/>
          <p:cNvGrpSpPr/>
          <p:nvPr/>
        </p:nvGrpSpPr>
        <p:grpSpPr>
          <a:xfrm>
            <a:off x="2554288" y="620713"/>
            <a:ext cx="1512887" cy="2592387"/>
            <a:chOff x="1655" y="482"/>
            <a:chExt cx="953" cy="1451"/>
          </a:xfrm>
        </p:grpSpPr>
        <p:sp>
          <p:nvSpPr>
            <p:cNvPr id="17429" name="Rectangle 57"/>
            <p:cNvSpPr/>
            <p:nvPr/>
          </p:nvSpPr>
          <p:spPr>
            <a:xfrm>
              <a:off x="1655" y="482"/>
              <a:ext cx="953" cy="1451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7430" name="Freeform 58"/>
            <p:cNvSpPr/>
            <p:nvPr/>
          </p:nvSpPr>
          <p:spPr>
            <a:xfrm>
              <a:off x="1655" y="663"/>
              <a:ext cx="590" cy="1089"/>
            </a:xfrm>
            <a:custGeom>
              <a:avLst/>
              <a:gdLst>
                <a:gd name="txL" fmla="*/ 0 w 545"/>
                <a:gd name="txT" fmla="*/ 0 h 1043"/>
                <a:gd name="txR" fmla="*/ 545 w 545"/>
                <a:gd name="txB" fmla="*/ 1043 h 1043"/>
              </a:gdLst>
              <a:ahLst/>
              <a:cxnLst>
                <a:cxn ang="0">
                  <a:pos x="0" y="0"/>
                </a:cxn>
                <a:cxn ang="0">
                  <a:pos x="639" y="495"/>
                </a:cxn>
                <a:cxn ang="0">
                  <a:pos x="0" y="1137"/>
                </a:cxn>
              </a:cxnLst>
              <a:rect l="txL" t="txT" r="txR" b="txB"/>
              <a:pathLst>
                <a:path w="545" h="1043">
                  <a:moveTo>
                    <a:pt x="0" y="0"/>
                  </a:moveTo>
                  <a:cubicBezTo>
                    <a:pt x="272" y="140"/>
                    <a:pt x="545" y="280"/>
                    <a:pt x="545" y="454"/>
                  </a:cubicBezTo>
                  <a:cubicBezTo>
                    <a:pt x="545" y="628"/>
                    <a:pt x="91" y="945"/>
                    <a:pt x="0" y="1043"/>
                  </a:cubicBezTo>
                </a:path>
              </a:pathLst>
            </a:custGeom>
            <a:solidFill>
              <a:srgbClr val="000066">
                <a:alpha val="100000"/>
              </a:srgbClr>
            </a:solidFill>
            <a:ln w="28575" cap="flat" cmpd="sng">
              <a:solidFill>
                <a:srgbClr val="FFCC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7417" name="Group 5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7427" name="Picture 60" descr="78900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28" name="Text Box 6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7418" name="Group 62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17425" name="Picture 63" descr="78900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26" name="Text Box 64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7419" name="Group 68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17423" name="Picture 69" descr="78900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424" name="Text Box 70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0" name="Group 14"/>
          <p:cNvGrpSpPr/>
          <p:nvPr/>
        </p:nvGrpSpPr>
        <p:grpSpPr>
          <a:xfrm>
            <a:off x="4067175" y="981075"/>
            <a:ext cx="1935163" cy="1944688"/>
            <a:chOff x="2597" y="618"/>
            <a:chExt cx="1219" cy="1225"/>
          </a:xfrm>
        </p:grpSpPr>
        <p:sp>
          <p:nvSpPr>
            <p:cNvPr id="17421" name="AutoShape 15"/>
            <p:cNvSpPr/>
            <p:nvPr/>
          </p:nvSpPr>
          <p:spPr>
            <a:xfrm>
              <a:off x="2608" y="618"/>
              <a:ext cx="181" cy="1225"/>
            </a:xfrm>
            <a:prstGeom prst="rightBrace">
              <a:avLst>
                <a:gd name="adj1" fmla="val 56399"/>
                <a:gd name="adj2" fmla="val 50000"/>
              </a:avLst>
            </a:prstGeom>
            <a:noFill/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zh-CN" altLang="zh-CN" sz="240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aphicFrame>
          <p:nvGraphicFramePr>
            <p:cNvPr id="17422" name="Object 16"/>
            <p:cNvGraphicFramePr>
              <a:graphicFrameLocks noChangeAspect="1"/>
            </p:cNvGraphicFramePr>
            <p:nvPr/>
          </p:nvGraphicFramePr>
          <p:xfrm>
            <a:off x="2597" y="805"/>
            <a:ext cx="1219" cy="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name="" r:id="rId26" imgW="817880" imgH="528320" progId="Equation.3">
                    <p:embed/>
                  </p:oleObj>
                </mc:Choice>
                <mc:Fallback>
                  <p:oleObj name="" r:id="rId26" imgW="817880" imgH="528320" progId="Equation.3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2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597" y="805"/>
                          <a:ext cx="1219" cy="7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8674" name="Object 2"/>
          <p:cNvGraphicFramePr>
            <a:graphicFrameLocks noChangeAspect="1"/>
          </p:cNvGraphicFramePr>
          <p:nvPr/>
        </p:nvGraphicFramePr>
        <p:xfrm>
          <a:off x="481013" y="231775"/>
          <a:ext cx="5197475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1912620" imgH="405765" progId="Equation.3">
                  <p:embed/>
                </p:oleObj>
              </mc:Choice>
              <mc:Fallback>
                <p:oleObj name="" r:id="rId1" imgW="1912620" imgH="405765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81013" y="231775"/>
                        <a:ext cx="5197475" cy="1112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5" name="Object 3"/>
          <p:cNvGraphicFramePr>
            <a:graphicFrameLocks noChangeAspect="1"/>
          </p:cNvGraphicFramePr>
          <p:nvPr/>
        </p:nvGraphicFramePr>
        <p:xfrm>
          <a:off x="539750" y="1196975"/>
          <a:ext cx="5721350" cy="123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3" imgW="2105660" imgH="450850" progId="Equation.3">
                  <p:embed/>
                </p:oleObj>
              </mc:Choice>
              <mc:Fallback>
                <p:oleObj name="" r:id="rId3" imgW="2105660" imgH="45085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1196975"/>
                        <a:ext cx="5721350" cy="1230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684213" y="2420938"/>
          <a:ext cx="2890837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5" imgW="1062355" imgH="270510" progId="Equation.3">
                  <p:embed/>
                </p:oleObj>
              </mc:Choice>
              <mc:Fallback>
                <p:oleObj name="" r:id="rId5" imgW="1062355" imgH="27051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2420938"/>
                        <a:ext cx="2890837" cy="731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2627313" y="3141663"/>
          <a:ext cx="3736975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7" imgW="1461770" imgH="418465" progId="Equation.3">
                  <p:embed/>
                </p:oleObj>
              </mc:Choice>
              <mc:Fallback>
                <p:oleObj name="" r:id="rId7" imgW="1461770" imgH="418465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27313" y="3141663"/>
                        <a:ext cx="3736975" cy="1074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AutoShape 6" descr="信纸"/>
          <p:cNvSpPr/>
          <p:nvPr/>
        </p:nvSpPr>
        <p:spPr>
          <a:xfrm>
            <a:off x="6948488" y="2492375"/>
            <a:ext cx="1800225" cy="504825"/>
          </a:xfrm>
          <a:prstGeom prst="wedgeRoundRectCallout">
            <a:avLst>
              <a:gd name="adj1" fmla="val -84125"/>
              <a:gd name="adj2" fmla="val 138366"/>
              <a:gd name="adj3" fmla="val 16667"/>
            </a:avLst>
          </a:prstGeom>
          <a:blipFill rotWithShape="1">
            <a:blip r:embed="rId9"/>
          </a:blipFill>
          <a:ln w="9525">
            <a:noFill/>
          </a:ln>
        </p:spPr>
        <p:txBody>
          <a:bodyPr/>
          <a:p>
            <a:pPr algn="ctr" eaLnBrk="1" hangingPunct="1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特性阻抗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8679" name="AutoShape 7" descr="信纸"/>
          <p:cNvSpPr/>
          <p:nvPr/>
        </p:nvSpPr>
        <p:spPr>
          <a:xfrm>
            <a:off x="395288" y="3357563"/>
            <a:ext cx="1800225" cy="504825"/>
          </a:xfrm>
          <a:prstGeom prst="wedgeRoundRectCallout">
            <a:avLst>
              <a:gd name="adj1" fmla="val 82097"/>
              <a:gd name="adj2" fmla="val 33648"/>
              <a:gd name="adj3" fmla="val 16667"/>
            </a:avLst>
          </a:prstGeom>
          <a:blipFill rotWithShape="1">
            <a:blip r:embed="rId9"/>
          </a:blipFill>
          <a:ln w="9525">
            <a:noFill/>
          </a:ln>
        </p:spPr>
        <p:txBody>
          <a:bodyPr/>
          <a:p>
            <a:pPr algn="ctr" eaLnBrk="1" hangingPunct="1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品质因数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8680" name="Text Box 8"/>
          <p:cNvSpPr txBox="1"/>
          <p:nvPr/>
        </p:nvSpPr>
        <p:spPr>
          <a:xfrm>
            <a:off x="900113" y="4724400"/>
            <a:ext cx="6911975" cy="1260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81000" indent="-381000" algn="just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当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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＝</a:t>
            </a:r>
            <a:r>
              <a:rPr lang="en-US" altLang="zh-CN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=1/(</a:t>
            </a:r>
            <a:r>
              <a:rPr lang="en-US" altLang="zh-CN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)&gt;&gt;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时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&gt;&gt;1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81000" indent="-381000" algn="just"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U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=QU</a:t>
            </a:r>
            <a:r>
              <a:rPr lang="en-US" altLang="zh-CN" sz="280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&gt;&gt;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endParaRPr lang="en-US" altLang="zh-CN" b="0" i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84" name="Text Box 12"/>
          <p:cNvSpPr txBox="1"/>
          <p:nvPr/>
        </p:nvSpPr>
        <p:spPr>
          <a:xfrm>
            <a:off x="539750" y="4149725"/>
            <a:ext cx="43195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/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b="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</a:rPr>
              <a:t>谐振时出现过电压</a:t>
            </a:r>
            <a:endParaRPr lang="zh-CN" altLang="en-US" sz="2800" dirty="0">
              <a:latin typeface="Arial" panose="020B0604020202020204" pitchFamily="34" charset="0"/>
              <a:ea typeface="仿宋_GB2312" pitchFamily="49" charset="-122"/>
            </a:endParaRPr>
          </a:p>
        </p:txBody>
      </p:sp>
      <p:grpSp>
        <p:nvGrpSpPr>
          <p:cNvPr id="18442" name="Group 2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8449" name="Picture 24" descr="789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50" name="Text Box 2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8443" name="Group 26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18447" name="Picture 27" descr="789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48" name="Text Box 28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8444" name="Group 32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18445" name="Picture 33" descr="7890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446" name="Text Box 34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6" dur="20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20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" grpId="0" animBg="1"/>
      <p:bldP spid="28679" grpId="0" animBg="1"/>
      <p:bldP spid="28680" grpId="0"/>
      <p:bldP spid="2868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5" name="Text Box 3"/>
          <p:cNvSpPr txBox="1"/>
          <p:nvPr/>
        </p:nvSpPr>
        <p:spPr>
          <a:xfrm>
            <a:off x="250825" y="476250"/>
            <a:ext cx="1512888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2-1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6" name="Text Box 4"/>
          <p:cNvSpPr txBox="1"/>
          <p:nvPr/>
        </p:nvSpPr>
        <p:spPr>
          <a:xfrm>
            <a:off x="1187450" y="404813"/>
            <a:ext cx="7777163" cy="1971675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>
            <a:spAutoFit/>
          </a:bodyPr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latin typeface="楷体_GB2312" pitchFamily="49" charset="-122"/>
              </a:rPr>
              <a:t>某收音机输入回路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=0.3mH</a:t>
            </a:r>
            <a:r>
              <a:rPr lang="zh-CN" altLang="en-US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=10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zh-CN" altLang="en-US" sz="2800" dirty="0">
                <a:latin typeface="楷体_GB2312" pitchFamily="49" charset="-122"/>
                <a:sym typeface="Symbol" panose="05050102010706020507" pitchFamily="18" charset="2"/>
              </a:rPr>
              <a:t>，为收到中央电台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560kHz</a:t>
            </a:r>
            <a:r>
              <a:rPr lang="zh-CN" altLang="en-US" sz="2800" dirty="0">
                <a:latin typeface="楷体_GB2312" pitchFamily="49" charset="-122"/>
                <a:sym typeface="Symbol" panose="05050102010706020507" pitchFamily="18" charset="2"/>
              </a:rPr>
              <a:t>信号，求：</a:t>
            </a:r>
            <a:r>
              <a:rPr lang="en-US" altLang="zh-CN" sz="2800" dirty="0">
                <a:latin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800" b="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楷体_GB2312" pitchFamily="49" charset="-122"/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latin typeface="楷体_GB2312" pitchFamily="49" charset="-122"/>
                <a:sym typeface="Symbol" panose="05050102010706020507" pitchFamily="18" charset="2"/>
              </a:rPr>
              <a:t>调谐电容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zh-CN" altLang="en-US" sz="2800" dirty="0">
                <a:latin typeface="楷体_GB2312" pitchFamily="49" charset="-122"/>
                <a:sym typeface="Symbol" panose="05050102010706020507" pitchFamily="18" charset="2"/>
              </a:rPr>
              <a:t>值；</a:t>
            </a:r>
            <a:endParaRPr lang="zh-CN" altLang="en-US" sz="2800" dirty="0">
              <a:latin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dirty="0">
                <a:latin typeface="楷体_GB2312" pitchFamily="49" charset="-122"/>
                <a:sym typeface="Symbol" panose="05050102010706020507" pitchFamily="18" charset="2"/>
              </a:rPr>
              <a:t>(</a:t>
            </a:r>
            <a:r>
              <a:rPr lang="en-US" altLang="zh-CN" sz="2800" b="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楷体_GB2312" pitchFamily="49" charset="-122"/>
                <a:sym typeface="Symbol" panose="05050102010706020507" pitchFamily="18" charset="2"/>
              </a:rPr>
              <a:t>) </a:t>
            </a:r>
            <a:r>
              <a:rPr lang="zh-CN" altLang="en-US" sz="2800" dirty="0">
                <a:latin typeface="楷体_GB2312" pitchFamily="49" charset="-122"/>
                <a:sym typeface="Symbol" panose="05050102010706020507" pitchFamily="18" charset="2"/>
              </a:rPr>
              <a:t>如输入电压为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1.5V</a:t>
            </a:r>
            <a:r>
              <a:rPr lang="en-US" altLang="zh-CN" sz="2800" dirty="0">
                <a:latin typeface="楷体_GB2312" pitchFamily="49" charset="-122"/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latin typeface="楷体_GB2312" pitchFamily="49" charset="-122"/>
                <a:sym typeface="Symbol" panose="05050102010706020507" pitchFamily="18" charset="2"/>
              </a:rPr>
              <a:t>求谐振电流和此时的电容电压。</a:t>
            </a:r>
            <a:endParaRPr lang="zh-CN" altLang="en-US" sz="2800" dirty="0">
              <a:latin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23559" name="Object 7"/>
          <p:cNvGraphicFramePr>
            <a:graphicFrameLocks noChangeAspect="1"/>
          </p:cNvGraphicFramePr>
          <p:nvPr/>
        </p:nvGraphicFramePr>
        <p:xfrm>
          <a:off x="1042988" y="3429000"/>
          <a:ext cx="453707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880235" imgH="386080" progId="Equation.3">
                  <p:embed/>
                </p:oleObj>
              </mc:Choice>
              <mc:Fallback>
                <p:oleObj name="" r:id="rId1" imgW="1880235" imgH="38608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3429000"/>
                        <a:ext cx="4537075" cy="93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/>
        </p:nvGraphicFramePr>
        <p:xfrm>
          <a:off x="1103313" y="2349500"/>
          <a:ext cx="4160837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1751330" imgH="405765" progId="Equation.3">
                  <p:embed/>
                </p:oleObj>
              </mc:Choice>
              <mc:Fallback>
                <p:oleObj name="" r:id="rId3" imgW="1751330" imgH="405765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03313" y="2349500"/>
                        <a:ext cx="4160837" cy="966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94" name="Text Box 42"/>
          <p:cNvSpPr txBox="1"/>
          <p:nvPr/>
        </p:nvSpPr>
        <p:spPr>
          <a:xfrm>
            <a:off x="468313" y="2492375"/>
            <a:ext cx="542925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3595" name="Object 43"/>
          <p:cNvGraphicFramePr>
            <a:graphicFrameLocks noChangeAspect="1"/>
          </p:cNvGraphicFramePr>
          <p:nvPr/>
        </p:nvGraphicFramePr>
        <p:xfrm>
          <a:off x="1692275" y="4652963"/>
          <a:ext cx="46450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1951355" imgH="206375" progId="Equation.3">
                  <p:embed/>
                </p:oleObj>
              </mc:Choice>
              <mc:Fallback>
                <p:oleObj name="" r:id="rId5" imgW="1951355" imgH="206375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92275" y="4652963"/>
                        <a:ext cx="4645025" cy="484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96" name="Object 44"/>
          <p:cNvGraphicFramePr>
            <a:graphicFrameLocks noChangeAspect="1"/>
          </p:cNvGraphicFramePr>
          <p:nvPr/>
        </p:nvGraphicFramePr>
        <p:xfrm>
          <a:off x="1692275" y="5229225"/>
          <a:ext cx="300037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7" imgW="1236345" imgH="334645" progId="Equation.DSMT4">
                  <p:embed/>
                </p:oleObj>
              </mc:Choice>
              <mc:Fallback>
                <p:oleObj name="" r:id="rId7" imgW="1236345" imgH="334645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rcRect l="16309"/>
                      <a:stretch>
                        <a:fillRect/>
                      </a:stretch>
                    </p:blipFill>
                    <p:spPr>
                      <a:xfrm>
                        <a:off x="1692275" y="5229225"/>
                        <a:ext cx="3000375" cy="962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65" name="Group 8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19499" name="Picture 82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500" name="Text Box 8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9466" name="Group 84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19497" name="Picture 85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98" name="Text Box 86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19467" name="Group 90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19495" name="Picture 91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96" name="Text Box 92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23645" name="Text Box 93"/>
          <p:cNvSpPr txBox="1"/>
          <p:nvPr/>
        </p:nvSpPr>
        <p:spPr>
          <a:xfrm>
            <a:off x="971550" y="5373688"/>
            <a:ext cx="6477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或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5" name="Group 101"/>
          <p:cNvGrpSpPr/>
          <p:nvPr/>
        </p:nvGrpSpPr>
        <p:grpSpPr>
          <a:xfrm>
            <a:off x="5867400" y="2176463"/>
            <a:ext cx="2447925" cy="2274887"/>
            <a:chOff x="3696" y="1371"/>
            <a:chExt cx="1542" cy="1433"/>
          </a:xfrm>
        </p:grpSpPr>
        <p:sp>
          <p:nvSpPr>
            <p:cNvPr id="19470" name="Oval 59"/>
            <p:cNvSpPr/>
            <p:nvPr/>
          </p:nvSpPr>
          <p:spPr>
            <a:xfrm>
              <a:off x="3696" y="195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71" name="Text Box 60"/>
            <p:cNvSpPr txBox="1"/>
            <p:nvPr/>
          </p:nvSpPr>
          <p:spPr>
            <a:xfrm>
              <a:off x="3969" y="1706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9472" name="Text Box 61"/>
            <p:cNvSpPr txBox="1"/>
            <p:nvPr/>
          </p:nvSpPr>
          <p:spPr>
            <a:xfrm>
              <a:off x="3958" y="2150"/>
              <a:ext cx="18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19473" name="Group 62"/>
            <p:cNvGrpSpPr/>
            <p:nvPr/>
          </p:nvGrpSpPr>
          <p:grpSpPr>
            <a:xfrm>
              <a:off x="4966" y="2478"/>
              <a:ext cx="262" cy="99"/>
              <a:chOff x="1351" y="3976"/>
              <a:chExt cx="174" cy="93"/>
            </a:xfrm>
          </p:grpSpPr>
          <p:sp>
            <p:nvSpPr>
              <p:cNvPr id="19493" name="Line 63"/>
              <p:cNvSpPr/>
              <p:nvPr/>
            </p:nvSpPr>
            <p:spPr>
              <a:xfrm>
                <a:off x="1351" y="3976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494" name="Line 64"/>
              <p:cNvSpPr/>
              <p:nvPr/>
            </p:nvSpPr>
            <p:spPr>
              <a:xfrm>
                <a:off x="1351" y="4068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9474" name="Line 65"/>
            <p:cNvSpPr/>
            <p:nvPr/>
          </p:nvSpPr>
          <p:spPr>
            <a:xfrm>
              <a:off x="3878" y="1435"/>
              <a:ext cx="122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5" name="Line 66"/>
            <p:cNvSpPr/>
            <p:nvPr/>
          </p:nvSpPr>
          <p:spPr>
            <a:xfrm flipH="1">
              <a:off x="3867" y="1449"/>
              <a:ext cx="3" cy="135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6" name="Line 67"/>
            <p:cNvSpPr/>
            <p:nvPr/>
          </p:nvSpPr>
          <p:spPr>
            <a:xfrm>
              <a:off x="5102" y="1435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7" name="Line 68"/>
            <p:cNvSpPr/>
            <p:nvPr/>
          </p:nvSpPr>
          <p:spPr>
            <a:xfrm flipH="1">
              <a:off x="5102" y="2160"/>
              <a:ext cx="1" cy="31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8" name="Line 69"/>
            <p:cNvSpPr/>
            <p:nvPr/>
          </p:nvSpPr>
          <p:spPr>
            <a:xfrm>
              <a:off x="5102" y="2569"/>
              <a:ext cx="0" cy="22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9" name="Line 70"/>
            <p:cNvSpPr/>
            <p:nvPr/>
          </p:nvSpPr>
          <p:spPr>
            <a:xfrm flipV="1">
              <a:off x="5012" y="2297"/>
              <a:ext cx="226" cy="384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480" name="Text Box 71"/>
            <p:cNvSpPr txBox="1"/>
            <p:nvPr/>
          </p:nvSpPr>
          <p:spPr>
            <a:xfrm>
              <a:off x="4853" y="1807"/>
              <a:ext cx="2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81" name="Text Box 72"/>
            <p:cNvSpPr txBox="1"/>
            <p:nvPr/>
          </p:nvSpPr>
          <p:spPr>
            <a:xfrm>
              <a:off x="4717" y="2306"/>
              <a:ext cx="2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82" name="Text Box 73"/>
            <p:cNvSpPr txBox="1"/>
            <p:nvPr/>
          </p:nvSpPr>
          <p:spPr>
            <a:xfrm>
              <a:off x="4364" y="1435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83" name="Text Box 74"/>
            <p:cNvSpPr txBox="1"/>
            <p:nvPr/>
          </p:nvSpPr>
          <p:spPr>
            <a:xfrm>
              <a:off x="4059" y="1933"/>
              <a:ext cx="244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84" name="Line 75"/>
            <p:cNvSpPr/>
            <p:nvPr/>
          </p:nvSpPr>
          <p:spPr>
            <a:xfrm>
              <a:off x="3867" y="2804"/>
              <a:ext cx="125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5" name="Rectangle 76"/>
            <p:cNvSpPr/>
            <p:nvPr/>
          </p:nvSpPr>
          <p:spPr>
            <a:xfrm>
              <a:off x="4331" y="1371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9486" name="Group 94"/>
            <p:cNvGrpSpPr/>
            <p:nvPr/>
          </p:nvGrpSpPr>
          <p:grpSpPr>
            <a:xfrm rot="10800000">
              <a:off x="5103" y="1797"/>
              <a:ext cx="90" cy="363"/>
              <a:chOff x="1565" y="2614"/>
              <a:chExt cx="90" cy="486"/>
            </a:xfrm>
          </p:grpSpPr>
          <p:sp>
            <p:nvSpPr>
              <p:cNvPr id="19489" name="Arc 95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9490" name="Arc 96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9491" name="Arc 97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9492" name="Arc 98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9487" name="Line 99"/>
            <p:cNvSpPr/>
            <p:nvPr/>
          </p:nvSpPr>
          <p:spPr>
            <a:xfrm>
              <a:off x="3969" y="1434"/>
              <a:ext cx="272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488" name="Text Box 100"/>
            <p:cNvSpPr txBox="1"/>
            <p:nvPr/>
          </p:nvSpPr>
          <p:spPr>
            <a:xfrm>
              <a:off x="3923" y="1389"/>
              <a:ext cx="4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20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0" baseline="-250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20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23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3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1000"/>
                                        <p:tgtEl>
                                          <p:spTgt spid="23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/>
      <p:bldP spid="23556" grpId="0"/>
      <p:bldP spid="23594" grpId="0" animBg="1"/>
      <p:bldP spid="2364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ext Box 2"/>
          <p:cNvSpPr txBox="1"/>
          <p:nvPr/>
        </p:nvSpPr>
        <p:spPr>
          <a:xfrm>
            <a:off x="684213" y="476250"/>
            <a:ext cx="40322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楷体_GB2312" pitchFamily="49" charset="-122"/>
              </a:rPr>
              <a:t>(</a:t>
            </a:r>
            <a:r>
              <a:rPr lang="en-US" altLang="zh-CN" sz="2800" b="0" dirty="0">
                <a:latin typeface="Times New Roman" panose="02020603050405020304" pitchFamily="18" charset="0"/>
              </a:rPr>
              <a:t>4</a:t>
            </a:r>
            <a:r>
              <a:rPr lang="en-US" altLang="zh-CN" sz="2800" dirty="0">
                <a:latin typeface="楷体_GB2312" pitchFamily="49" charset="-122"/>
              </a:rPr>
              <a:t>) </a:t>
            </a:r>
            <a:r>
              <a:rPr lang="zh-CN" altLang="en-US" sz="2800" dirty="0">
                <a:latin typeface="楷体_GB2312" pitchFamily="49" charset="-122"/>
              </a:rPr>
              <a:t>谐振时的功率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27651" name="Text Box 3"/>
          <p:cNvSpPr txBox="1"/>
          <p:nvPr/>
        </p:nvSpPr>
        <p:spPr>
          <a:xfrm>
            <a:off x="503238" y="981075"/>
            <a:ext cx="8389937" cy="1092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20000"/>
              </a:spcBef>
            </a:pP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       P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UI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cos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＝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UI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RI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0" baseline="30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b="0" baseline="30000" dirty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</a:rPr>
              <a:t>/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2800" dirty="0">
                <a:latin typeface="楷体_GB2312" pitchFamily="49" charset="-122"/>
              </a:rPr>
              <a:t>电源向电路输送电阻消耗的功率，电阻功率达最大。</a:t>
            </a:r>
            <a:endParaRPr lang="zh-CN" altLang="en-US" sz="2800" dirty="0">
              <a:latin typeface="楷体_GB2312" pitchFamily="49" charset="-122"/>
            </a:endParaRPr>
          </a:p>
        </p:txBody>
      </p:sp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971550" y="2133600"/>
          <a:ext cx="4183063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1590675" imgH="206375" progId="Equation.3">
                  <p:embed/>
                </p:oleObj>
              </mc:Choice>
              <mc:Fallback>
                <p:oleObj name="" r:id="rId1" imgW="1590675" imgH="206375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2133600"/>
                        <a:ext cx="4183063" cy="534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912813" y="2565400"/>
          <a:ext cx="5878512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2266950" imgH="418465" progId="Equation.3">
                  <p:embed/>
                </p:oleObj>
              </mc:Choice>
              <mc:Fallback>
                <p:oleObj name="" r:id="rId3" imgW="2266950" imgH="418465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12813" y="2565400"/>
                        <a:ext cx="5878512" cy="1082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Text Box 7"/>
          <p:cNvSpPr txBox="1"/>
          <p:nvPr/>
        </p:nvSpPr>
        <p:spPr>
          <a:xfrm>
            <a:off x="900113" y="3716338"/>
            <a:ext cx="4321175" cy="2655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2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电源不向电路输送无功功率。电感中的无功功率与电容中的无功功率大小相等，互相补偿，彼此进行能量交换。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72"/>
          <p:cNvGrpSpPr/>
          <p:nvPr/>
        </p:nvGrpSpPr>
        <p:grpSpPr>
          <a:xfrm>
            <a:off x="323850" y="3500438"/>
            <a:ext cx="1847850" cy="850900"/>
            <a:chOff x="385" y="3022"/>
            <a:chExt cx="1164" cy="536"/>
          </a:xfrm>
        </p:grpSpPr>
        <p:pic>
          <p:nvPicPr>
            <p:cNvPr id="20523" name="Picture 73" descr="1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24" name="Text Box 74"/>
            <p:cNvSpPr txBox="1"/>
            <p:nvPr/>
          </p:nvSpPr>
          <p:spPr>
            <a:xfrm>
              <a:off x="793" y="3116"/>
              <a:ext cx="75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  </a:t>
              </a:r>
              <a:endParaRPr lang="zh-CN" altLang="en-US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20488" name="Group 7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0521" name="Picture 76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22" name="Text Box 7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0489" name="Group 78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20519" name="Picture 79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20" name="Text Box 80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0490" name="Group 84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20517" name="Picture 85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18" name="Text Box 86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" name="Group 92"/>
          <p:cNvGrpSpPr/>
          <p:nvPr/>
        </p:nvGrpSpPr>
        <p:grpSpPr>
          <a:xfrm>
            <a:off x="5364163" y="3429000"/>
            <a:ext cx="3281362" cy="2413000"/>
            <a:chOff x="3379" y="2160"/>
            <a:chExt cx="2067" cy="1520"/>
          </a:xfrm>
        </p:grpSpPr>
        <p:sp>
          <p:nvSpPr>
            <p:cNvPr id="20492" name="Oval 48"/>
            <p:cNvSpPr/>
            <p:nvPr/>
          </p:nvSpPr>
          <p:spPr>
            <a:xfrm>
              <a:off x="3470" y="291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0493" name="Text Box 49"/>
            <p:cNvSpPr txBox="1"/>
            <p:nvPr/>
          </p:nvSpPr>
          <p:spPr>
            <a:xfrm>
              <a:off x="3379" y="2646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0494" name="Text Box 50"/>
            <p:cNvSpPr txBox="1"/>
            <p:nvPr/>
          </p:nvSpPr>
          <p:spPr>
            <a:xfrm>
              <a:off x="3379" y="3145"/>
              <a:ext cx="2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20495" name="Group 51"/>
            <p:cNvGrpSpPr/>
            <p:nvPr/>
          </p:nvGrpSpPr>
          <p:grpSpPr>
            <a:xfrm>
              <a:off x="4740" y="2419"/>
              <a:ext cx="84" cy="270"/>
              <a:chOff x="625" y="3889"/>
              <a:chExt cx="93" cy="174"/>
            </a:xfrm>
          </p:grpSpPr>
          <p:sp>
            <p:nvSpPr>
              <p:cNvPr id="20515" name="Line 52"/>
              <p:cNvSpPr/>
              <p:nvPr/>
            </p:nvSpPr>
            <p:spPr>
              <a:xfrm rot="-5400000">
                <a:off x="538" y="3975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516" name="Line 53"/>
              <p:cNvSpPr/>
              <p:nvPr/>
            </p:nvSpPr>
            <p:spPr>
              <a:xfrm rot="-5400000">
                <a:off x="630" y="3975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0496" name="Line 54"/>
            <p:cNvSpPr/>
            <p:nvPr/>
          </p:nvSpPr>
          <p:spPr>
            <a:xfrm>
              <a:off x="4422" y="2555"/>
              <a:ext cx="31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7" name="Line 55"/>
            <p:cNvSpPr/>
            <p:nvPr/>
          </p:nvSpPr>
          <p:spPr>
            <a:xfrm>
              <a:off x="4831" y="2555"/>
              <a:ext cx="33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8" name="Line 56"/>
            <p:cNvSpPr/>
            <p:nvPr/>
          </p:nvSpPr>
          <p:spPr>
            <a:xfrm flipH="1">
              <a:off x="3651" y="2555"/>
              <a:ext cx="34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499" name="Line 57"/>
            <p:cNvSpPr/>
            <p:nvPr/>
          </p:nvSpPr>
          <p:spPr>
            <a:xfrm flipH="1">
              <a:off x="5143" y="2555"/>
              <a:ext cx="5" cy="11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0" name="Line 58"/>
            <p:cNvSpPr/>
            <p:nvPr/>
          </p:nvSpPr>
          <p:spPr>
            <a:xfrm flipH="1">
              <a:off x="3655" y="3674"/>
              <a:ext cx="14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1" name="Line 59"/>
            <p:cNvSpPr/>
            <p:nvPr/>
          </p:nvSpPr>
          <p:spPr>
            <a:xfrm>
              <a:off x="3651" y="2555"/>
              <a:ext cx="4" cy="11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502" name="Line 60"/>
            <p:cNvSpPr/>
            <p:nvPr/>
          </p:nvSpPr>
          <p:spPr>
            <a:xfrm>
              <a:off x="3878" y="3145"/>
              <a:ext cx="1104" cy="0"/>
            </a:xfrm>
            <a:prstGeom prst="line">
              <a:avLst/>
            </a:prstGeom>
            <a:ln w="38100" cap="flat" cmpd="sng">
              <a:solidFill>
                <a:srgbClr val="33CC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503" name="Text Box 61"/>
            <p:cNvSpPr txBox="1"/>
            <p:nvPr/>
          </p:nvSpPr>
          <p:spPr>
            <a:xfrm>
              <a:off x="4333" y="3156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04" name="Arc 62"/>
            <p:cNvSpPr/>
            <p:nvPr/>
          </p:nvSpPr>
          <p:spPr>
            <a:xfrm rot="8055901">
              <a:off x="4225" y="2489"/>
              <a:ext cx="376" cy="361"/>
            </a:xfrm>
            <a:custGeom>
              <a:avLst/>
              <a:gdLst>
                <a:gd name="txL" fmla="*/ 0 w 24197"/>
                <a:gd name="txT" fmla="*/ 0 h 23163"/>
                <a:gd name="txR" fmla="*/ 24197 w 24197"/>
                <a:gd name="txB" fmla="*/ 23163 h 2316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4197" h="23163" fill="none">
                  <a:moveTo>
                    <a:pt x="-1" y="156"/>
                  </a:moveTo>
                  <a:cubicBezTo>
                    <a:pt x="861" y="52"/>
                    <a:pt x="1728" y="-1"/>
                    <a:pt x="2597" y="0"/>
                  </a:cubicBezTo>
                  <a:cubicBezTo>
                    <a:pt x="14526" y="0"/>
                    <a:pt x="24197" y="9670"/>
                    <a:pt x="24197" y="21600"/>
                  </a:cubicBezTo>
                  <a:cubicBezTo>
                    <a:pt x="24197" y="22121"/>
                    <a:pt x="24178" y="22642"/>
                    <a:pt x="24140" y="23163"/>
                  </a:cubicBezTo>
                </a:path>
                <a:path w="24197" h="23163" stroke="0">
                  <a:moveTo>
                    <a:pt x="-1" y="156"/>
                  </a:moveTo>
                  <a:cubicBezTo>
                    <a:pt x="861" y="52"/>
                    <a:pt x="1728" y="-1"/>
                    <a:pt x="2597" y="0"/>
                  </a:cubicBezTo>
                  <a:cubicBezTo>
                    <a:pt x="14526" y="0"/>
                    <a:pt x="24197" y="9670"/>
                    <a:pt x="24197" y="21600"/>
                  </a:cubicBezTo>
                  <a:cubicBezTo>
                    <a:pt x="24197" y="22121"/>
                    <a:pt x="24178" y="22642"/>
                    <a:pt x="24140" y="23163"/>
                  </a:cubicBezTo>
                  <a:lnTo>
                    <a:pt x="2597" y="21600"/>
                  </a:lnTo>
                  <a:lnTo>
                    <a:pt x="-1" y="156"/>
                  </a:lnTo>
                  <a:close/>
                </a:path>
              </a:pathLst>
            </a:custGeom>
            <a:noFill/>
            <a:ln w="28575" cap="flat" cmpd="sng">
              <a:solidFill>
                <a:srgbClr val="66FF33">
                  <a:alpha val="100000"/>
                </a:srgbClr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5" name="Text Box 63"/>
            <p:cNvSpPr txBox="1"/>
            <p:nvPr/>
          </p:nvSpPr>
          <p:spPr>
            <a:xfrm>
              <a:off x="4286" y="2737"/>
              <a:ext cx="2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06" name="Text Box 64"/>
            <p:cNvSpPr txBox="1"/>
            <p:nvPr/>
          </p:nvSpPr>
          <p:spPr>
            <a:xfrm>
              <a:off x="4135" y="2196"/>
              <a:ext cx="2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07" name="Text Box 65"/>
            <p:cNvSpPr txBox="1"/>
            <p:nvPr/>
          </p:nvSpPr>
          <p:spPr>
            <a:xfrm>
              <a:off x="4645" y="2160"/>
              <a:ext cx="2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08" name="Text Box 66"/>
            <p:cNvSpPr txBox="1"/>
            <p:nvPr/>
          </p:nvSpPr>
          <p:spPr>
            <a:xfrm>
              <a:off x="5193" y="2886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09" name="Rectangle 67"/>
            <p:cNvSpPr/>
            <p:nvPr/>
          </p:nvSpPr>
          <p:spPr>
            <a:xfrm>
              <a:off x="5084" y="291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0510" name="Group 87"/>
            <p:cNvGrpSpPr/>
            <p:nvPr/>
          </p:nvGrpSpPr>
          <p:grpSpPr>
            <a:xfrm rot="5400000">
              <a:off x="4163" y="2319"/>
              <a:ext cx="91" cy="408"/>
              <a:chOff x="1565" y="2614"/>
              <a:chExt cx="90" cy="486"/>
            </a:xfrm>
          </p:grpSpPr>
          <p:sp>
            <p:nvSpPr>
              <p:cNvPr id="20511" name="Arc 88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12" name="Arc 89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13" name="Arc 90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514" name="Arc 91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  <p:bldP spid="27651" grpId="0"/>
      <p:bldP spid="2765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ext Box 2"/>
          <p:cNvSpPr txBox="1"/>
          <p:nvPr/>
        </p:nvSpPr>
        <p:spPr>
          <a:xfrm>
            <a:off x="611188" y="430213"/>
            <a:ext cx="396081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dirty="0">
                <a:latin typeface="楷体_GB2312" pitchFamily="49" charset="-122"/>
              </a:rPr>
              <a:t>(</a:t>
            </a:r>
            <a:r>
              <a:rPr lang="en-US" altLang="zh-CN" sz="2800" b="0" dirty="0">
                <a:latin typeface="楷体_GB2312" pitchFamily="49" charset="-122"/>
              </a:rPr>
              <a:t>5</a:t>
            </a:r>
            <a:r>
              <a:rPr lang="en-US" altLang="zh-CN" sz="2800" dirty="0">
                <a:latin typeface="楷体_GB2312" pitchFamily="49" charset="-122"/>
              </a:rPr>
              <a:t>) </a:t>
            </a:r>
            <a:r>
              <a:rPr lang="zh-CN" altLang="en-US" sz="2800" dirty="0">
                <a:latin typeface="楷体_GB2312" pitchFamily="49" charset="-122"/>
              </a:rPr>
              <a:t>谐振时的能量关系</a:t>
            </a:r>
            <a:endParaRPr lang="zh-CN" altLang="en-US" sz="2800" dirty="0">
              <a:latin typeface="楷体_GB2312" pitchFamily="49" charset="-122"/>
            </a:endParaRPr>
          </a:p>
        </p:txBody>
      </p:sp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827088" y="2565400"/>
          <a:ext cx="475932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1" imgW="1757680" imgH="309245" progId="Equation.3">
                  <p:embed/>
                </p:oleObj>
              </mc:Choice>
              <mc:Fallback>
                <p:oleObj name="" r:id="rId1" imgW="1757680" imgH="309245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2565400"/>
                        <a:ext cx="4759325" cy="835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1187450" y="1557338"/>
          <a:ext cx="6624638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3" imgW="2511425" imgH="399415" progId="Equation.3">
                  <p:embed/>
                </p:oleObj>
              </mc:Choice>
              <mc:Fallback>
                <p:oleObj name="" r:id="rId3" imgW="2511425" imgH="399415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1557338"/>
                        <a:ext cx="6624638" cy="1044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900113" y="3357563"/>
          <a:ext cx="4635500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5" imgW="1674495" imgH="309245" progId="Equation.3">
                  <p:embed/>
                </p:oleObj>
              </mc:Choice>
              <mc:Fallback>
                <p:oleObj name="" r:id="rId5" imgW="1674495" imgH="309245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3357563"/>
                        <a:ext cx="4635500" cy="858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1214438" y="1004888"/>
          <a:ext cx="25400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7" imgW="920750" imgH="206375" progId="Equation.3">
                  <p:embed/>
                </p:oleObj>
              </mc:Choice>
              <mc:Fallback>
                <p:oleObj name="" r:id="rId7" imgW="920750" imgH="206375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14438" y="1004888"/>
                        <a:ext cx="2540000" cy="560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Text Box 7"/>
          <p:cNvSpPr txBox="1"/>
          <p:nvPr/>
        </p:nvSpPr>
        <p:spPr>
          <a:xfrm>
            <a:off x="684213" y="1025525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设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632" name="Object 8"/>
          <p:cNvGraphicFramePr>
            <a:graphicFrameLocks noChangeAspect="1"/>
          </p:cNvGraphicFramePr>
          <p:nvPr/>
        </p:nvGraphicFramePr>
        <p:xfrm>
          <a:off x="4427538" y="765175"/>
          <a:ext cx="4408487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9" imgW="1674495" imgH="354330" progId="Equation.3">
                  <p:embed/>
                </p:oleObj>
              </mc:Choice>
              <mc:Fallback>
                <p:oleObj name="" r:id="rId9" imgW="1674495" imgH="35433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27538" y="765175"/>
                        <a:ext cx="4408487" cy="881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Text Box 9"/>
          <p:cNvSpPr txBox="1"/>
          <p:nvPr/>
        </p:nvSpPr>
        <p:spPr>
          <a:xfrm>
            <a:off x="3924300" y="952500"/>
            <a:ext cx="5413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则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6634" name="Text Box 10"/>
          <p:cNvSpPr txBox="1"/>
          <p:nvPr/>
        </p:nvSpPr>
        <p:spPr>
          <a:xfrm>
            <a:off x="6372225" y="2636838"/>
            <a:ext cx="19446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电场能量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6635" name="Text Box 11"/>
          <p:cNvSpPr txBox="1"/>
          <p:nvPr/>
        </p:nvSpPr>
        <p:spPr>
          <a:xfrm>
            <a:off x="6443663" y="3500438"/>
            <a:ext cx="19431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磁场能量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6636" name="Text Box 12"/>
          <p:cNvSpPr txBox="1"/>
          <p:nvPr/>
        </p:nvSpPr>
        <p:spPr>
          <a:xfrm>
            <a:off x="755650" y="4678363"/>
            <a:ext cx="7777163" cy="16303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lnSpc>
                <a:spcPct val="120000"/>
              </a:lnSpc>
              <a:buAutoNum type="circleNumDbPlain"/>
            </a:pPr>
            <a:r>
              <a:rPr lang="zh-CN" altLang="en-US" sz="2800" dirty="0">
                <a:latin typeface="Times New Roman" panose="02020603050405020304" pitchFamily="18" charset="0"/>
              </a:rPr>
              <a:t>电感和电容能量按正弦规律变化，最大值相等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L</a:t>
            </a:r>
            <a:r>
              <a:rPr lang="zh-CN" altLang="en-US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、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C</a:t>
            </a:r>
            <a:r>
              <a:rPr lang="zh-CN" altLang="en-US" sz="2800" dirty="0">
                <a:latin typeface="Arial" panose="020B0604020202020204" pitchFamily="34" charset="0"/>
              </a:rPr>
              <a:t>的电场能量和磁场能量作周期振荡性的交换，而不与电源进行能量交换。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39" name="Line 15"/>
          <p:cNvSpPr/>
          <p:nvPr/>
        </p:nvSpPr>
        <p:spPr>
          <a:xfrm>
            <a:off x="5724525" y="2949575"/>
            <a:ext cx="576263" cy="0"/>
          </a:xfrm>
          <a:prstGeom prst="line">
            <a:avLst/>
          </a:prstGeom>
          <a:ln w="76200" cap="flat" cmpd="sng">
            <a:solidFill>
              <a:srgbClr val="33CC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640" name="Line 16"/>
          <p:cNvSpPr/>
          <p:nvPr/>
        </p:nvSpPr>
        <p:spPr>
          <a:xfrm>
            <a:off x="5724525" y="3789363"/>
            <a:ext cx="576263" cy="0"/>
          </a:xfrm>
          <a:prstGeom prst="line">
            <a:avLst/>
          </a:prstGeom>
          <a:ln w="76200" cap="flat" cmpd="sng">
            <a:solidFill>
              <a:srgbClr val="33CCFF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" name="Group 32"/>
          <p:cNvGrpSpPr/>
          <p:nvPr/>
        </p:nvGrpSpPr>
        <p:grpSpPr>
          <a:xfrm>
            <a:off x="395288" y="4030663"/>
            <a:ext cx="1847850" cy="850900"/>
            <a:chOff x="385" y="3022"/>
            <a:chExt cx="1164" cy="536"/>
          </a:xfrm>
        </p:grpSpPr>
        <p:pic>
          <p:nvPicPr>
            <p:cNvPr id="21529" name="Picture 33" descr="12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30" name="Text Box 34"/>
            <p:cNvSpPr txBox="1"/>
            <p:nvPr/>
          </p:nvSpPr>
          <p:spPr>
            <a:xfrm>
              <a:off x="793" y="3116"/>
              <a:ext cx="75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表明  </a:t>
              </a:r>
              <a:endParaRPr lang="zh-CN" altLang="en-US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21520" name="Group 3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1527" name="Picture 36" descr="7890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28" name="Text Box 3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1521" name="Group 38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21525" name="Picture 39" descr="7890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26" name="Text Box 40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1522" name="Group 44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21523" name="Picture 45" descr="7890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1524" name="Text Box 46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2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6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20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31" grpId="0"/>
      <p:bldP spid="26633" grpId="0"/>
      <p:bldP spid="26634" grpId="0"/>
      <p:bldP spid="26635" grpId="0"/>
      <p:bldP spid="2663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Text Box 2"/>
          <p:cNvSpPr txBox="1"/>
          <p:nvPr/>
        </p:nvSpPr>
        <p:spPr>
          <a:xfrm>
            <a:off x="468313" y="404813"/>
            <a:ext cx="825500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198000" rIns="198000">
            <a:spAutoFit/>
          </a:bodyPr>
          <a:p>
            <a:pPr marL="342900" indent="-342900" eaLnBrk="1" hangingPunct="1">
              <a:buAutoNum type="circleNumDbPlain" startAt="2"/>
            </a:pPr>
            <a:r>
              <a:rPr lang="zh-CN" altLang="en-US" sz="2800" dirty="0">
                <a:latin typeface="楷体_GB2312" pitchFamily="49" charset="-122"/>
              </a:rPr>
              <a:t>总能量是不随时间变化的常量，且等于最大值。</a:t>
            </a:r>
            <a:endParaRPr lang="zh-CN" altLang="en-US" sz="2800" dirty="0">
              <a:latin typeface="楷体_GB2312" pitchFamily="49" charset="-122"/>
            </a:endParaRPr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827088" y="836613"/>
          <a:ext cx="71897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" imgW="2498725" imgH="309245" progId="Equation.3">
                  <p:embed/>
                </p:oleObj>
              </mc:Choice>
              <mc:Fallback>
                <p:oleObj name="" r:id="rId1" imgW="2498725" imgH="309245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836613"/>
                        <a:ext cx="7189787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Text Box 4"/>
          <p:cNvSpPr txBox="1"/>
          <p:nvPr/>
        </p:nvSpPr>
        <p:spPr>
          <a:xfrm>
            <a:off x="755650" y="1773238"/>
            <a:ext cx="7416800" cy="519112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lIns="198000" rIns="198000">
            <a:spAutoFit/>
          </a:bodyPr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电感、电容储能的总值与品质因数的关系：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2" name="Text Box 12"/>
          <p:cNvSpPr txBox="1"/>
          <p:nvPr/>
        </p:nvSpPr>
        <p:spPr>
          <a:xfrm>
            <a:off x="323850" y="4365625"/>
            <a:ext cx="8497888" cy="2143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571500" algn="just" eaLnBrk="1" hangingPunct="1">
              <a:lnSpc>
                <a:spcPct val="120000"/>
              </a:lnSpc>
            </a:pP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Q</a:t>
            </a:r>
            <a:r>
              <a:rPr lang="zh-CN" altLang="en-US" sz="2800" dirty="0">
                <a:latin typeface="楷体_GB2312" pitchFamily="49" charset="-122"/>
              </a:rPr>
              <a:t>是反映谐振回路中电磁振荡程度的量，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楷体_GB2312" pitchFamily="49" charset="-122"/>
              </a:rPr>
              <a:t>越大，总能量就越大，维持振荡所消耗的能量愈小，振荡程度越剧烈。则振荡电路的“品质”愈好。一般在要求发生谐振的回路中希望尽可能提高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楷体_GB2312" pitchFamily="49" charset="-122"/>
              </a:rPr>
              <a:t>值。</a:t>
            </a:r>
            <a:endParaRPr lang="zh-CN" altLang="en-US" sz="2800" dirty="0">
              <a:latin typeface="楷体_GB2312" pitchFamily="49" charset="-122"/>
            </a:endParaRPr>
          </a:p>
        </p:txBody>
      </p:sp>
      <p:grpSp>
        <p:nvGrpSpPr>
          <p:cNvPr id="22534" name="Group 2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2548" name="Picture 27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49" name="Text Box 2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2535" name="Group 29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22546" name="Picture 3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47" name="Text Box 31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2536" name="Group 35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22544" name="Picture 36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45" name="Text Box 37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45"/>
          <p:cNvGrpSpPr/>
          <p:nvPr/>
        </p:nvGrpSpPr>
        <p:grpSpPr>
          <a:xfrm>
            <a:off x="2051050" y="2349500"/>
            <a:ext cx="5834063" cy="2016125"/>
            <a:chOff x="1292" y="1480"/>
            <a:chExt cx="3675" cy="1270"/>
          </a:xfrm>
        </p:grpSpPr>
        <p:graphicFrame>
          <p:nvGraphicFramePr>
            <p:cNvPr id="22538" name="Object 11"/>
            <p:cNvGraphicFramePr>
              <a:graphicFrameLocks noChangeAspect="1"/>
            </p:cNvGraphicFramePr>
            <p:nvPr/>
          </p:nvGraphicFramePr>
          <p:xfrm>
            <a:off x="1292" y="1480"/>
            <a:ext cx="2830" cy="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4" imgW="1661160" imgH="386080" progId="Equation.DSMT4">
                    <p:embed/>
                  </p:oleObj>
                </mc:Choice>
                <mc:Fallback>
                  <p:oleObj name="" r:id="rId4" imgW="1661160" imgH="386080" progId="Equation.DSMT4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92" y="1480"/>
                          <a:ext cx="2830" cy="6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539" name="Group 44"/>
            <p:cNvGrpSpPr/>
            <p:nvPr/>
          </p:nvGrpSpPr>
          <p:grpSpPr>
            <a:xfrm>
              <a:off x="1474" y="2099"/>
              <a:ext cx="3493" cy="651"/>
              <a:chOff x="1474" y="2099"/>
              <a:chExt cx="3493" cy="651"/>
            </a:xfrm>
          </p:grpSpPr>
          <p:graphicFrame>
            <p:nvGraphicFramePr>
              <p:cNvPr id="22540" name="Object 39"/>
              <p:cNvGraphicFramePr>
                <a:graphicFrameLocks noChangeAspect="1"/>
              </p:cNvGraphicFramePr>
              <p:nvPr/>
            </p:nvGraphicFramePr>
            <p:xfrm>
              <a:off x="1474" y="2272"/>
              <a:ext cx="467" cy="2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6" name="" r:id="rId6" imgW="330200" imgH="177800" progId="Equation.DSMT4">
                      <p:embed/>
                    </p:oleObj>
                  </mc:Choice>
                  <mc:Fallback>
                    <p:oleObj name="" r:id="rId6" imgW="330200" imgH="177800" progId="Equation.DSMT4">
                      <p:embed/>
                      <p:pic>
                        <p:nvPicPr>
                          <p:cNvPr id="0" name="图片 3125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1474" y="2272"/>
                            <a:ext cx="467" cy="25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541" name="Text Box 41"/>
              <p:cNvSpPr txBox="1"/>
              <p:nvPr/>
            </p:nvSpPr>
            <p:spPr>
              <a:xfrm>
                <a:off x="2109" y="2099"/>
                <a:ext cx="2631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谐振时电路中电磁场的总储能</a:t>
                </a:r>
                <a:endPara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42" name="Text Box 42"/>
              <p:cNvSpPr txBox="1"/>
              <p:nvPr/>
            </p:nvSpPr>
            <p:spPr>
              <a:xfrm>
                <a:off x="2018" y="2462"/>
                <a:ext cx="2949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谐振时一周期内电路消耗的能量</a:t>
                </a:r>
                <a:endPara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43" name="Line 43"/>
              <p:cNvSpPr/>
              <p:nvPr/>
            </p:nvSpPr>
            <p:spPr>
              <a:xfrm>
                <a:off x="1973" y="2432"/>
                <a:ext cx="2903" cy="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20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/>
      <p:bldP spid="25604" grpId="0" animBg="1"/>
      <p:bldP spid="256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2"/>
          <p:cNvSpPr txBox="1"/>
          <p:nvPr/>
        </p:nvSpPr>
        <p:spPr>
          <a:xfrm>
            <a:off x="323850" y="476250"/>
            <a:ext cx="1223963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2-2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9" name="Text Box 3"/>
          <p:cNvSpPr txBox="1"/>
          <p:nvPr/>
        </p:nvSpPr>
        <p:spPr>
          <a:xfrm>
            <a:off x="684213" y="476250"/>
            <a:ext cx="8137525" cy="163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         </a:t>
            </a:r>
            <a:r>
              <a:rPr lang="zh-CN" altLang="en-US" sz="2800" dirty="0">
                <a:latin typeface="Times New Roman" panose="02020603050405020304" pitchFamily="18" charset="0"/>
              </a:rPr>
              <a:t>一接收器的电路参数为</a:t>
            </a: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</a:rPr>
              <a:t>：</a:t>
            </a:r>
            <a:r>
              <a:rPr lang="zh-CN" altLang="en-US" sz="28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=5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CN" sz="2800" b="0" baseline="30000" dirty="0">
                <a:solidFill>
                  <a:schemeClr val="bg1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 rad/s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=10V</a:t>
            </a:r>
            <a:r>
              <a:rPr lang="zh-CN" altLang="en-US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</a:rPr>
              <a:t>调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800" dirty="0">
                <a:latin typeface="Times New Roman" panose="02020603050405020304" pitchFamily="18" charset="0"/>
              </a:rPr>
              <a:t>使电路中的电流最大，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max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=200mA</a:t>
            </a:r>
            <a:r>
              <a:rPr lang="zh-CN" altLang="en-US" sz="2800" dirty="0">
                <a:latin typeface="Times New Roman" panose="02020603050405020304" pitchFamily="18" charset="0"/>
              </a:rPr>
              <a:t>，测得电容电压为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600V</a:t>
            </a:r>
            <a:r>
              <a:rPr lang="zh-CN" altLang="en-US" sz="2800" dirty="0">
                <a:latin typeface="Times New Roman" panose="02020603050405020304" pitchFamily="18" charset="0"/>
              </a:rPr>
              <a:t>，求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800" dirty="0">
                <a:latin typeface="Times New Roman" panose="02020603050405020304" pitchFamily="18" charset="0"/>
              </a:rPr>
              <a:t>及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2800" b="0" dirty="0">
                <a:latin typeface="Times New Roman" panose="02020603050405020304" pitchFamily="18" charset="0"/>
              </a:rPr>
              <a:t>。</a:t>
            </a:r>
            <a:endParaRPr lang="zh-CN" altLang="en-US" sz="2800" b="0" dirty="0">
              <a:solidFill>
                <a:schemeClr val="bg1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9258" name="Text Box 42"/>
          <p:cNvSpPr txBox="1"/>
          <p:nvPr/>
        </p:nvSpPr>
        <p:spPr>
          <a:xfrm>
            <a:off x="611188" y="2276475"/>
            <a:ext cx="620712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 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259" name="Object 43"/>
          <p:cNvGraphicFramePr>
            <a:graphicFrameLocks noChangeAspect="1"/>
          </p:cNvGraphicFramePr>
          <p:nvPr/>
        </p:nvGraphicFramePr>
        <p:xfrm>
          <a:off x="1403350" y="2205038"/>
          <a:ext cx="41275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1" imgW="1706245" imgH="399415" progId="Equation.3">
                  <p:embed/>
                </p:oleObj>
              </mc:Choice>
              <mc:Fallback>
                <p:oleObj name="" r:id="rId1" imgW="1706245" imgH="399415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2205038"/>
                        <a:ext cx="4127500" cy="962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0" name="Object 44"/>
          <p:cNvGraphicFramePr>
            <a:graphicFrameLocks noChangeAspect="1"/>
          </p:cNvGraphicFramePr>
          <p:nvPr/>
        </p:nvGraphicFramePr>
        <p:xfrm>
          <a:off x="900113" y="3213100"/>
          <a:ext cx="4824412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3" imgW="1931670" imgH="386080" progId="Equation.3">
                  <p:embed/>
                </p:oleObj>
              </mc:Choice>
              <mc:Fallback>
                <p:oleObj name="" r:id="rId3" imgW="1931670" imgH="38608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3213100"/>
                        <a:ext cx="4824412" cy="966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1" name="Object 45"/>
          <p:cNvGraphicFramePr>
            <a:graphicFrameLocks noChangeAspect="1"/>
          </p:cNvGraphicFramePr>
          <p:nvPr/>
        </p:nvGraphicFramePr>
        <p:xfrm>
          <a:off x="827088" y="4149725"/>
          <a:ext cx="4452937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5" imgW="1783715" imgH="418465" progId="Equation.3">
                  <p:embed/>
                </p:oleObj>
              </mc:Choice>
              <mc:Fallback>
                <p:oleObj name="" r:id="rId5" imgW="1783715" imgH="418465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4149725"/>
                        <a:ext cx="4452937" cy="1044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62" name="Object 46"/>
          <p:cNvGraphicFramePr>
            <a:graphicFrameLocks noChangeAspect="1"/>
          </p:cNvGraphicFramePr>
          <p:nvPr/>
        </p:nvGraphicFramePr>
        <p:xfrm>
          <a:off x="715963" y="5118100"/>
          <a:ext cx="3135312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7" imgW="1043305" imgH="367030" progId="Equation.DSMT4">
                  <p:embed/>
                </p:oleObj>
              </mc:Choice>
              <mc:Fallback>
                <p:oleObj name="" r:id="rId7" imgW="1043305" imgH="36703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5963" y="5118100"/>
                        <a:ext cx="3135312" cy="1047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61" name="Group 8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3596" name="Picture 88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97" name="Text Box 8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3562" name="Group 90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23594" name="Picture 91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95" name="Text Box 92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3563" name="Group 96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23592" name="Picture 97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593" name="Text Box 98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104"/>
          <p:cNvGrpSpPr/>
          <p:nvPr/>
        </p:nvGrpSpPr>
        <p:grpSpPr>
          <a:xfrm>
            <a:off x="6227763" y="2133600"/>
            <a:ext cx="2432050" cy="2516188"/>
            <a:chOff x="3923" y="1344"/>
            <a:chExt cx="1532" cy="1585"/>
          </a:xfrm>
        </p:grpSpPr>
        <p:sp>
          <p:nvSpPr>
            <p:cNvPr id="23565" name="Oval 61"/>
            <p:cNvSpPr/>
            <p:nvPr/>
          </p:nvSpPr>
          <p:spPr>
            <a:xfrm>
              <a:off x="3923" y="196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3566" name="Text Box 62"/>
            <p:cNvSpPr txBox="1"/>
            <p:nvPr/>
          </p:nvSpPr>
          <p:spPr>
            <a:xfrm>
              <a:off x="4536" y="1344"/>
              <a:ext cx="11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endParaRPr lang="zh-CN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67" name="Text Box 63"/>
            <p:cNvSpPr txBox="1"/>
            <p:nvPr/>
          </p:nvSpPr>
          <p:spPr>
            <a:xfrm>
              <a:off x="4104" y="1559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23568" name="Text Box 64"/>
            <p:cNvSpPr txBox="1"/>
            <p:nvPr/>
          </p:nvSpPr>
          <p:spPr>
            <a:xfrm>
              <a:off x="4150" y="2251"/>
              <a:ext cx="18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23569" name="Group 65"/>
            <p:cNvGrpSpPr/>
            <p:nvPr/>
          </p:nvGrpSpPr>
          <p:grpSpPr>
            <a:xfrm>
              <a:off x="5193" y="2466"/>
              <a:ext cx="262" cy="99"/>
              <a:chOff x="1351" y="3976"/>
              <a:chExt cx="174" cy="93"/>
            </a:xfrm>
          </p:grpSpPr>
          <p:sp>
            <p:nvSpPr>
              <p:cNvPr id="23590" name="Line 66"/>
              <p:cNvSpPr/>
              <p:nvPr/>
            </p:nvSpPr>
            <p:spPr>
              <a:xfrm>
                <a:off x="1351" y="3976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3591" name="Line 67"/>
              <p:cNvSpPr/>
              <p:nvPr/>
            </p:nvSpPr>
            <p:spPr>
              <a:xfrm>
                <a:off x="1351" y="4068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3570" name="Line 68"/>
            <p:cNvSpPr/>
            <p:nvPr/>
          </p:nvSpPr>
          <p:spPr>
            <a:xfrm>
              <a:off x="4095" y="1461"/>
              <a:ext cx="125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1" name="Line 69"/>
            <p:cNvSpPr/>
            <p:nvPr/>
          </p:nvSpPr>
          <p:spPr>
            <a:xfrm>
              <a:off x="4104" y="1468"/>
              <a:ext cx="0" cy="145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2" name="Line 70"/>
            <p:cNvSpPr/>
            <p:nvPr/>
          </p:nvSpPr>
          <p:spPr>
            <a:xfrm>
              <a:off x="5329" y="1468"/>
              <a:ext cx="0" cy="22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3" name="Line 71"/>
            <p:cNvSpPr/>
            <p:nvPr/>
          </p:nvSpPr>
          <p:spPr>
            <a:xfrm>
              <a:off x="5329" y="2069"/>
              <a:ext cx="0" cy="39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4" name="Line 72"/>
            <p:cNvSpPr/>
            <p:nvPr/>
          </p:nvSpPr>
          <p:spPr>
            <a:xfrm>
              <a:off x="5329" y="2557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75" name="Line 73"/>
            <p:cNvSpPr/>
            <p:nvPr/>
          </p:nvSpPr>
          <p:spPr>
            <a:xfrm flipV="1">
              <a:off x="5193" y="2375"/>
              <a:ext cx="257" cy="29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3576" name="Text Box 74"/>
            <p:cNvSpPr txBox="1"/>
            <p:nvPr/>
          </p:nvSpPr>
          <p:spPr>
            <a:xfrm>
              <a:off x="5103" y="1706"/>
              <a:ext cx="2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77" name="Text Box 75"/>
            <p:cNvSpPr txBox="1"/>
            <p:nvPr/>
          </p:nvSpPr>
          <p:spPr>
            <a:xfrm>
              <a:off x="5011" y="2602"/>
              <a:ext cx="2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78" name="Text Box 76"/>
            <p:cNvSpPr txBox="1"/>
            <p:nvPr/>
          </p:nvSpPr>
          <p:spPr>
            <a:xfrm>
              <a:off x="4558" y="1480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79" name="Text Box 77"/>
            <p:cNvSpPr txBox="1"/>
            <p:nvPr/>
          </p:nvSpPr>
          <p:spPr>
            <a:xfrm>
              <a:off x="4286" y="1933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0" name="Line 78"/>
            <p:cNvSpPr/>
            <p:nvPr/>
          </p:nvSpPr>
          <p:spPr>
            <a:xfrm>
              <a:off x="4100" y="2920"/>
              <a:ext cx="122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1" name="Line 79"/>
            <p:cNvSpPr/>
            <p:nvPr/>
          </p:nvSpPr>
          <p:spPr>
            <a:xfrm flipV="1">
              <a:off x="4830" y="2285"/>
              <a:ext cx="49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3582" name="Line 80"/>
            <p:cNvSpPr/>
            <p:nvPr/>
          </p:nvSpPr>
          <p:spPr>
            <a:xfrm>
              <a:off x="4830" y="2285"/>
              <a:ext cx="0" cy="63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3583" name="Oval 81" descr="信纸"/>
            <p:cNvSpPr/>
            <p:nvPr/>
          </p:nvSpPr>
          <p:spPr>
            <a:xfrm>
              <a:off x="4694" y="2421"/>
              <a:ext cx="317" cy="317"/>
            </a:xfrm>
            <a:prstGeom prst="ellipse">
              <a:avLst/>
            </a:prstGeom>
            <a:blipFill rotWithShape="1">
              <a:blip r:embed="rId10"/>
            </a:blip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V</a:t>
              </a:r>
              <a:endParaRPr lang="en-US" altLang="zh-CN" sz="2800" b="0" dirty="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3584" name="Rectangle 82"/>
            <p:cNvSpPr/>
            <p:nvPr/>
          </p:nvSpPr>
          <p:spPr>
            <a:xfrm>
              <a:off x="4558" y="1404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3585" name="Group 99"/>
            <p:cNvGrpSpPr/>
            <p:nvPr/>
          </p:nvGrpSpPr>
          <p:grpSpPr>
            <a:xfrm rot="10800000">
              <a:off x="5320" y="1697"/>
              <a:ext cx="90" cy="363"/>
              <a:chOff x="1565" y="2614"/>
              <a:chExt cx="90" cy="486"/>
            </a:xfrm>
          </p:grpSpPr>
          <p:sp>
            <p:nvSpPr>
              <p:cNvPr id="23586" name="Arc 100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3587" name="Arc 101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3588" name="Arc 102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3589" name="Arc 103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9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2000"/>
                                        <p:tgtEl>
                                          <p:spTgt spid="9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2000"/>
                                        <p:tgtEl>
                                          <p:spTgt spid="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9" grpId="0"/>
      <p:bldP spid="925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Text Box 2"/>
          <p:cNvSpPr txBox="1"/>
          <p:nvPr/>
        </p:nvSpPr>
        <p:spPr>
          <a:xfrm>
            <a:off x="323850" y="404813"/>
            <a:ext cx="1511300" cy="579437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2-3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0355" name="Text Box 3"/>
          <p:cNvSpPr txBox="1"/>
          <p:nvPr/>
        </p:nvSpPr>
        <p:spPr>
          <a:xfrm>
            <a:off x="1476375" y="476250"/>
            <a:ext cx="6048375" cy="519113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楷体_GB2312" pitchFamily="49" charset="-122"/>
              </a:rPr>
              <a:t>要使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=0</a:t>
            </a:r>
            <a:r>
              <a:rPr lang="zh-CN" altLang="en-US" sz="2800" dirty="0">
                <a:latin typeface="楷体_GB2312" pitchFamily="49" charset="-122"/>
              </a:rPr>
              <a:t>，问电源的角频率为多少？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100356" name="Line 4"/>
          <p:cNvSpPr/>
          <p:nvPr/>
        </p:nvSpPr>
        <p:spPr>
          <a:xfrm>
            <a:off x="3348038" y="3573463"/>
            <a:ext cx="0" cy="576262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0357" name="Line 5"/>
          <p:cNvSpPr/>
          <p:nvPr/>
        </p:nvSpPr>
        <p:spPr>
          <a:xfrm>
            <a:off x="4500563" y="4868863"/>
            <a:ext cx="576262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0358" name="Text Box 6"/>
          <p:cNvSpPr txBox="1"/>
          <p:nvPr/>
        </p:nvSpPr>
        <p:spPr>
          <a:xfrm>
            <a:off x="5435600" y="1125538"/>
            <a:ext cx="576263" cy="519112"/>
          </a:xfrm>
          <a:prstGeom prst="rect">
            <a:avLst/>
          </a:prstGeom>
          <a:solidFill>
            <a:srgbClr val="990033"/>
          </a:solidFill>
          <a:ln w="19050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sz="2800" b="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00359" name="Object 7"/>
          <p:cNvGraphicFramePr>
            <a:graphicFrameLocks noChangeAspect="1"/>
          </p:cNvGraphicFramePr>
          <p:nvPr/>
        </p:nvGraphicFramePr>
        <p:xfrm>
          <a:off x="5795963" y="981075"/>
          <a:ext cx="2316162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1" imgW="1017270" imgH="386080" progId="Equation.3">
                  <p:embed/>
                </p:oleObj>
              </mc:Choice>
              <mc:Fallback>
                <p:oleObj name="" r:id="rId1" imgW="1017270" imgH="38608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95963" y="981075"/>
                        <a:ext cx="2316162" cy="87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0" name="Object 8"/>
          <p:cNvGraphicFramePr>
            <a:graphicFrameLocks noChangeAspect="1"/>
          </p:cNvGraphicFramePr>
          <p:nvPr/>
        </p:nvGraphicFramePr>
        <p:xfrm>
          <a:off x="6443663" y="1916113"/>
          <a:ext cx="172720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3" imgW="727710" imgH="399415" progId="Equation.3">
                  <p:embed/>
                </p:oleObj>
              </mc:Choice>
              <mc:Fallback>
                <p:oleObj name="" r:id="rId3" imgW="727710" imgH="399415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43663" y="1916113"/>
                        <a:ext cx="1727200" cy="935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1" name="Line 9"/>
          <p:cNvSpPr/>
          <p:nvPr/>
        </p:nvSpPr>
        <p:spPr>
          <a:xfrm>
            <a:off x="5940425" y="2420938"/>
            <a:ext cx="647700" cy="0"/>
          </a:xfrm>
          <a:prstGeom prst="line">
            <a:avLst/>
          </a:prstGeom>
          <a:ln w="76200" cap="flat" cmpd="sng">
            <a:solidFill>
              <a:srgbClr val="3399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100362" name="Object 10"/>
          <p:cNvGraphicFramePr>
            <a:graphicFrameLocks noChangeAspect="1"/>
          </p:cNvGraphicFramePr>
          <p:nvPr/>
        </p:nvGraphicFramePr>
        <p:xfrm>
          <a:off x="6588125" y="2852738"/>
          <a:ext cx="6477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5" imgW="334645" imgH="193040" progId="Equation.3">
                  <p:embed/>
                </p:oleObj>
              </mc:Choice>
              <mc:Fallback>
                <p:oleObj name="" r:id="rId5" imgW="334645" imgH="19304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88125" y="2852738"/>
                        <a:ext cx="647700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587" name="Group 1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4710" name="Picture 12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711" name="Text Box 1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4588" name="Group 14"/>
          <p:cNvGrpSpPr/>
          <p:nvPr/>
        </p:nvGrpSpPr>
        <p:grpSpPr>
          <a:xfrm>
            <a:off x="7453313" y="6446838"/>
            <a:ext cx="792162" cy="366712"/>
            <a:chOff x="4649" y="4020"/>
            <a:chExt cx="499" cy="231"/>
          </a:xfrm>
        </p:grpSpPr>
        <p:pic>
          <p:nvPicPr>
            <p:cNvPr id="24708" name="Picture 15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709" name="Text Box 16">
              <a:hlinkClick r:id="" action="ppaction://hlinkshowjump?jump=previous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" name="Group 131"/>
          <p:cNvGrpSpPr/>
          <p:nvPr/>
        </p:nvGrpSpPr>
        <p:grpSpPr>
          <a:xfrm>
            <a:off x="395288" y="908050"/>
            <a:ext cx="4751387" cy="2606675"/>
            <a:chOff x="249" y="527"/>
            <a:chExt cx="2993" cy="1642"/>
          </a:xfrm>
        </p:grpSpPr>
        <p:sp>
          <p:nvSpPr>
            <p:cNvPr id="24673" name="Oval 18"/>
            <p:cNvSpPr/>
            <p:nvPr/>
          </p:nvSpPr>
          <p:spPr>
            <a:xfrm>
              <a:off x="249" y="152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4674" name="Rectangle 19"/>
            <p:cNvSpPr/>
            <p:nvPr/>
          </p:nvSpPr>
          <p:spPr>
            <a:xfrm>
              <a:off x="1111" y="935"/>
              <a:ext cx="1723" cy="182"/>
            </a:xfrm>
            <a:prstGeom prst="rect">
              <a:avLst/>
            </a:prstGeom>
            <a:solidFill>
              <a:srgbClr val="990033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675" name="Line 20"/>
            <p:cNvSpPr/>
            <p:nvPr/>
          </p:nvSpPr>
          <p:spPr>
            <a:xfrm>
              <a:off x="1791" y="1434"/>
              <a:ext cx="68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4676" name="Group 21"/>
            <p:cNvGrpSpPr/>
            <p:nvPr/>
          </p:nvGrpSpPr>
          <p:grpSpPr>
            <a:xfrm>
              <a:off x="1945" y="1751"/>
              <a:ext cx="318" cy="91"/>
              <a:chOff x="2789" y="1706"/>
              <a:chExt cx="318" cy="91"/>
            </a:xfrm>
          </p:grpSpPr>
          <p:sp>
            <p:nvSpPr>
              <p:cNvPr id="24706" name="Line 22"/>
              <p:cNvSpPr/>
              <p:nvPr/>
            </p:nvSpPr>
            <p:spPr>
              <a:xfrm>
                <a:off x="2789" y="1706"/>
                <a:ext cx="318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4707" name="Line 23"/>
              <p:cNvSpPr/>
              <p:nvPr/>
            </p:nvSpPr>
            <p:spPr>
              <a:xfrm>
                <a:off x="2789" y="1797"/>
                <a:ext cx="318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4677" name="Line 24"/>
            <p:cNvSpPr/>
            <p:nvPr/>
          </p:nvSpPr>
          <p:spPr>
            <a:xfrm>
              <a:off x="2109" y="1434"/>
              <a:ext cx="0" cy="3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4678" name="Line 25"/>
            <p:cNvSpPr/>
            <p:nvPr/>
          </p:nvSpPr>
          <p:spPr>
            <a:xfrm>
              <a:off x="2109" y="1842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4679" name="Line 26"/>
            <p:cNvSpPr/>
            <p:nvPr/>
          </p:nvSpPr>
          <p:spPr>
            <a:xfrm>
              <a:off x="431" y="2114"/>
              <a:ext cx="272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80" name="Line 27"/>
            <p:cNvSpPr/>
            <p:nvPr/>
          </p:nvSpPr>
          <p:spPr>
            <a:xfrm>
              <a:off x="430" y="1343"/>
              <a:ext cx="0" cy="77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81" name="Line 28"/>
            <p:cNvSpPr/>
            <p:nvPr/>
          </p:nvSpPr>
          <p:spPr>
            <a:xfrm>
              <a:off x="431" y="1343"/>
              <a:ext cx="81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82" name="Line 29"/>
            <p:cNvSpPr/>
            <p:nvPr/>
          </p:nvSpPr>
          <p:spPr>
            <a:xfrm>
              <a:off x="2018" y="663"/>
              <a:ext cx="113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83" name="Line 30"/>
            <p:cNvSpPr/>
            <p:nvPr/>
          </p:nvSpPr>
          <p:spPr>
            <a:xfrm>
              <a:off x="3151" y="663"/>
              <a:ext cx="0" cy="145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84" name="Freeform 31"/>
            <p:cNvSpPr/>
            <p:nvPr/>
          </p:nvSpPr>
          <p:spPr>
            <a:xfrm>
              <a:off x="1292" y="860"/>
              <a:ext cx="227" cy="293"/>
            </a:xfrm>
            <a:custGeom>
              <a:avLst/>
              <a:gdLst>
                <a:gd name="txL" fmla="*/ 0 w 227"/>
                <a:gd name="txT" fmla="*/ 0 h 293"/>
                <a:gd name="txR" fmla="*/ 227 w 227"/>
                <a:gd name="txB" fmla="*/ 293 h 293"/>
              </a:gdLst>
              <a:ahLst/>
              <a:cxnLst>
                <a:cxn ang="0">
                  <a:pos x="0" y="75"/>
                </a:cxn>
                <a:cxn ang="0">
                  <a:pos x="91" y="30"/>
                </a:cxn>
                <a:cxn ang="0">
                  <a:pos x="136" y="256"/>
                </a:cxn>
                <a:cxn ang="0">
                  <a:pos x="227" y="256"/>
                </a:cxn>
              </a:cxnLst>
              <a:rect l="txL" t="txT" r="txR" b="txB"/>
              <a:pathLst>
                <a:path w="227" h="293">
                  <a:moveTo>
                    <a:pt x="0" y="75"/>
                  </a:moveTo>
                  <a:cubicBezTo>
                    <a:pt x="34" y="37"/>
                    <a:pt x="68" y="0"/>
                    <a:pt x="91" y="30"/>
                  </a:cubicBezTo>
                  <a:cubicBezTo>
                    <a:pt x="114" y="60"/>
                    <a:pt x="113" y="219"/>
                    <a:pt x="136" y="256"/>
                  </a:cubicBezTo>
                  <a:cubicBezTo>
                    <a:pt x="159" y="293"/>
                    <a:pt x="212" y="256"/>
                    <a:pt x="227" y="256"/>
                  </a:cubicBezTo>
                </a:path>
              </a:pathLst>
            </a:custGeom>
            <a:noFill/>
            <a:ln w="28575" cap="flat" cmpd="sng">
              <a:solidFill>
                <a:srgbClr val="FFCC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685" name="Line 32"/>
            <p:cNvSpPr/>
            <p:nvPr/>
          </p:nvSpPr>
          <p:spPr>
            <a:xfrm>
              <a:off x="1247" y="1116"/>
              <a:ext cx="0" cy="22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86" name="Freeform 33"/>
            <p:cNvSpPr/>
            <p:nvPr/>
          </p:nvSpPr>
          <p:spPr>
            <a:xfrm>
              <a:off x="1519" y="807"/>
              <a:ext cx="272" cy="627"/>
            </a:xfrm>
            <a:custGeom>
              <a:avLst/>
              <a:gdLst>
                <a:gd name="txL" fmla="*/ 0 w 272"/>
                <a:gd name="txT" fmla="*/ 0 h 627"/>
                <a:gd name="txR" fmla="*/ 272 w 272"/>
                <a:gd name="txB" fmla="*/ 627 h 627"/>
              </a:gdLst>
              <a:ahLst/>
              <a:cxnLst>
                <a:cxn ang="0">
                  <a:pos x="0" y="128"/>
                </a:cxn>
                <a:cxn ang="0">
                  <a:pos x="91" y="83"/>
                </a:cxn>
                <a:cxn ang="0">
                  <a:pos x="272" y="627"/>
                </a:cxn>
              </a:cxnLst>
              <a:rect l="txL" t="txT" r="txR" b="txB"/>
              <a:pathLst>
                <a:path w="272" h="627">
                  <a:moveTo>
                    <a:pt x="0" y="128"/>
                  </a:moveTo>
                  <a:cubicBezTo>
                    <a:pt x="23" y="64"/>
                    <a:pt x="46" y="0"/>
                    <a:pt x="91" y="83"/>
                  </a:cubicBezTo>
                  <a:cubicBezTo>
                    <a:pt x="136" y="166"/>
                    <a:pt x="242" y="536"/>
                    <a:pt x="272" y="627"/>
                  </a:cubicBezTo>
                </a:path>
              </a:pathLst>
            </a:custGeom>
            <a:noFill/>
            <a:ln w="28575" cap="flat" cmpd="sng">
              <a:solidFill>
                <a:srgbClr val="FFCC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687" name="Freeform 34"/>
            <p:cNvSpPr/>
            <p:nvPr/>
          </p:nvSpPr>
          <p:spPr>
            <a:xfrm>
              <a:off x="1973" y="663"/>
              <a:ext cx="106" cy="619"/>
            </a:xfrm>
            <a:custGeom>
              <a:avLst/>
              <a:gdLst>
                <a:gd name="txL" fmla="*/ 0 w 106"/>
                <a:gd name="txT" fmla="*/ 0 h 619"/>
                <a:gd name="txR" fmla="*/ 106 w 106"/>
                <a:gd name="txB" fmla="*/ 619 h 619"/>
              </a:gdLst>
              <a:ahLst/>
              <a:cxnLst>
                <a:cxn ang="0">
                  <a:pos x="15" y="0"/>
                </a:cxn>
                <a:cxn ang="0">
                  <a:pos x="15" y="544"/>
                </a:cxn>
                <a:cxn ang="0">
                  <a:pos x="106" y="453"/>
                </a:cxn>
              </a:cxnLst>
              <a:rect l="txL" t="txT" r="txR" b="txB"/>
              <a:pathLst>
                <a:path w="106" h="619">
                  <a:moveTo>
                    <a:pt x="15" y="0"/>
                  </a:moveTo>
                  <a:cubicBezTo>
                    <a:pt x="7" y="234"/>
                    <a:pt x="0" y="469"/>
                    <a:pt x="15" y="544"/>
                  </a:cubicBezTo>
                  <a:cubicBezTo>
                    <a:pt x="30" y="619"/>
                    <a:pt x="68" y="536"/>
                    <a:pt x="106" y="453"/>
                  </a:cubicBezTo>
                </a:path>
              </a:pathLst>
            </a:custGeom>
            <a:noFill/>
            <a:ln w="28575" cap="flat" cmpd="sng">
              <a:solidFill>
                <a:srgbClr val="FFCC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688" name="Freeform 35"/>
            <p:cNvSpPr/>
            <p:nvPr/>
          </p:nvSpPr>
          <p:spPr>
            <a:xfrm>
              <a:off x="2124" y="844"/>
              <a:ext cx="227" cy="393"/>
            </a:xfrm>
            <a:custGeom>
              <a:avLst/>
              <a:gdLst>
                <a:gd name="txL" fmla="*/ 0 w 227"/>
                <a:gd name="txT" fmla="*/ 0 h 393"/>
                <a:gd name="txR" fmla="*/ 227 w 227"/>
                <a:gd name="txB" fmla="*/ 393 h 393"/>
              </a:gdLst>
              <a:ahLst/>
              <a:cxnLst>
                <a:cxn ang="0">
                  <a:pos x="0" y="91"/>
                </a:cxn>
                <a:cxn ang="0">
                  <a:pos x="91" y="0"/>
                </a:cxn>
                <a:cxn ang="0">
                  <a:pos x="136" y="91"/>
                </a:cxn>
                <a:cxn ang="0">
                  <a:pos x="136" y="363"/>
                </a:cxn>
                <a:cxn ang="0">
                  <a:pos x="227" y="272"/>
                </a:cxn>
              </a:cxnLst>
              <a:rect l="txL" t="txT" r="txR" b="txB"/>
              <a:pathLst>
                <a:path w="227" h="393">
                  <a:moveTo>
                    <a:pt x="0" y="91"/>
                  </a:moveTo>
                  <a:cubicBezTo>
                    <a:pt x="34" y="45"/>
                    <a:pt x="68" y="0"/>
                    <a:pt x="91" y="0"/>
                  </a:cubicBezTo>
                  <a:cubicBezTo>
                    <a:pt x="114" y="0"/>
                    <a:pt x="128" y="31"/>
                    <a:pt x="136" y="91"/>
                  </a:cubicBezTo>
                  <a:cubicBezTo>
                    <a:pt x="144" y="151"/>
                    <a:pt x="121" y="333"/>
                    <a:pt x="136" y="363"/>
                  </a:cubicBezTo>
                  <a:cubicBezTo>
                    <a:pt x="151" y="393"/>
                    <a:pt x="212" y="287"/>
                    <a:pt x="227" y="272"/>
                  </a:cubicBezTo>
                </a:path>
              </a:pathLst>
            </a:custGeom>
            <a:noFill/>
            <a:ln w="28575" cap="flat" cmpd="sng">
              <a:solidFill>
                <a:srgbClr val="FFCC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689" name="Freeform 36"/>
            <p:cNvSpPr/>
            <p:nvPr/>
          </p:nvSpPr>
          <p:spPr>
            <a:xfrm>
              <a:off x="2396" y="761"/>
              <a:ext cx="99" cy="673"/>
            </a:xfrm>
            <a:custGeom>
              <a:avLst/>
              <a:gdLst>
                <a:gd name="txL" fmla="*/ 0 w 99"/>
                <a:gd name="txT" fmla="*/ 0 h 673"/>
                <a:gd name="txR" fmla="*/ 99 w 99"/>
                <a:gd name="txB" fmla="*/ 673 h 673"/>
              </a:gdLst>
              <a:ahLst/>
              <a:cxnLst>
                <a:cxn ang="0">
                  <a:pos x="0" y="174"/>
                </a:cxn>
                <a:cxn ang="0">
                  <a:pos x="91" y="83"/>
                </a:cxn>
                <a:cxn ang="0">
                  <a:pos x="46" y="673"/>
                </a:cxn>
              </a:cxnLst>
              <a:rect l="txL" t="txT" r="txR" b="txB"/>
              <a:pathLst>
                <a:path w="99" h="673">
                  <a:moveTo>
                    <a:pt x="0" y="174"/>
                  </a:moveTo>
                  <a:cubicBezTo>
                    <a:pt x="41" y="87"/>
                    <a:pt x="83" y="0"/>
                    <a:pt x="91" y="83"/>
                  </a:cubicBezTo>
                  <a:cubicBezTo>
                    <a:pt x="99" y="166"/>
                    <a:pt x="53" y="575"/>
                    <a:pt x="46" y="673"/>
                  </a:cubicBezTo>
                </a:path>
              </a:pathLst>
            </a:custGeom>
            <a:noFill/>
            <a:ln w="28575" cap="flat" cmpd="sng">
              <a:solidFill>
                <a:srgbClr val="FFCC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690" name="Line 37"/>
            <p:cNvSpPr/>
            <p:nvPr/>
          </p:nvSpPr>
          <p:spPr>
            <a:xfrm flipV="1">
              <a:off x="2018" y="1615"/>
              <a:ext cx="227" cy="318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91" name="Line 38"/>
            <p:cNvSpPr/>
            <p:nvPr/>
          </p:nvSpPr>
          <p:spPr>
            <a:xfrm>
              <a:off x="3152" y="845"/>
              <a:ext cx="0" cy="363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4692" name="Text Box 39"/>
            <p:cNvSpPr txBox="1"/>
            <p:nvPr/>
          </p:nvSpPr>
          <p:spPr>
            <a:xfrm>
              <a:off x="2880" y="1344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Z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693" name="Text Box 40"/>
            <p:cNvSpPr txBox="1"/>
            <p:nvPr/>
          </p:nvSpPr>
          <p:spPr>
            <a:xfrm>
              <a:off x="748" y="981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R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694" name="Text Box 41"/>
            <p:cNvSpPr txBox="1"/>
            <p:nvPr/>
          </p:nvSpPr>
          <p:spPr>
            <a:xfrm>
              <a:off x="2245" y="1661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C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695" name="Text Box 42"/>
            <p:cNvSpPr txBox="1"/>
            <p:nvPr/>
          </p:nvSpPr>
          <p:spPr>
            <a:xfrm>
              <a:off x="431" y="1842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endParaRPr lang="zh-CN" altLang="en-US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696" name="Text Box 43"/>
            <p:cNvSpPr txBox="1"/>
            <p:nvPr/>
          </p:nvSpPr>
          <p:spPr>
            <a:xfrm>
              <a:off x="1338" y="1116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L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697" name="Text Box 44"/>
            <p:cNvSpPr txBox="1"/>
            <p:nvPr/>
          </p:nvSpPr>
          <p:spPr>
            <a:xfrm>
              <a:off x="2033" y="1117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L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698" name="Text Box 45"/>
            <p:cNvSpPr txBox="1"/>
            <p:nvPr/>
          </p:nvSpPr>
          <p:spPr>
            <a:xfrm>
              <a:off x="1610" y="527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M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699" name="Arc 46"/>
            <p:cNvSpPr/>
            <p:nvPr/>
          </p:nvSpPr>
          <p:spPr>
            <a:xfrm>
              <a:off x="1882" y="663"/>
              <a:ext cx="181" cy="90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700" name="Arc 47"/>
            <p:cNvSpPr/>
            <p:nvPr/>
          </p:nvSpPr>
          <p:spPr>
            <a:xfrm flipH="1">
              <a:off x="1383" y="663"/>
              <a:ext cx="181" cy="136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701" name="Text Box 48"/>
            <p:cNvSpPr txBox="1"/>
            <p:nvPr/>
          </p:nvSpPr>
          <p:spPr>
            <a:xfrm>
              <a:off x="2925" y="845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702" name="Text Box 49"/>
            <p:cNvSpPr txBox="1"/>
            <p:nvPr/>
          </p:nvSpPr>
          <p:spPr>
            <a:xfrm>
              <a:off x="612" y="1570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S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703" name="Text Box 50"/>
            <p:cNvSpPr txBox="1"/>
            <p:nvPr/>
          </p:nvSpPr>
          <p:spPr>
            <a:xfrm>
              <a:off x="476" y="1343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+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704" name="Rectangle 51"/>
            <p:cNvSpPr/>
            <p:nvPr/>
          </p:nvSpPr>
          <p:spPr>
            <a:xfrm>
              <a:off x="3088" y="134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705" name="Rectangle 52"/>
            <p:cNvSpPr/>
            <p:nvPr/>
          </p:nvSpPr>
          <p:spPr>
            <a:xfrm>
              <a:off x="703" y="128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4590" name="Group 128"/>
          <p:cNvGrpSpPr/>
          <p:nvPr/>
        </p:nvGrpSpPr>
        <p:grpSpPr>
          <a:xfrm>
            <a:off x="6588125" y="6446838"/>
            <a:ext cx="792163" cy="366712"/>
            <a:chOff x="4649" y="4020"/>
            <a:chExt cx="499" cy="231"/>
          </a:xfrm>
        </p:grpSpPr>
        <p:pic>
          <p:nvPicPr>
            <p:cNvPr id="24671" name="Picture 129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9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672" name="Text Box 130">
              <a:hlinkClick r:id="" action="ppaction://hlinkshowjump?jump=firstslide"/>
            </p:cNvPr>
            <p:cNvSpPr txBox="1"/>
            <p:nvPr/>
          </p:nvSpPr>
          <p:spPr>
            <a:xfrm>
              <a:off x="4672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" name="Group 142"/>
          <p:cNvGrpSpPr/>
          <p:nvPr/>
        </p:nvGrpSpPr>
        <p:grpSpPr>
          <a:xfrm>
            <a:off x="468313" y="3716338"/>
            <a:ext cx="3833812" cy="2449512"/>
            <a:chOff x="295" y="2341"/>
            <a:chExt cx="2415" cy="1543"/>
          </a:xfrm>
        </p:grpSpPr>
        <p:sp>
          <p:nvSpPr>
            <p:cNvPr id="24633" name="Line 77"/>
            <p:cNvSpPr/>
            <p:nvPr/>
          </p:nvSpPr>
          <p:spPr>
            <a:xfrm>
              <a:off x="2608" y="2795"/>
              <a:ext cx="0" cy="108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34" name="Oval 54"/>
            <p:cNvSpPr/>
            <p:nvPr/>
          </p:nvSpPr>
          <p:spPr>
            <a:xfrm>
              <a:off x="295" y="315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4635" name="Line 55"/>
            <p:cNvSpPr/>
            <p:nvPr/>
          </p:nvSpPr>
          <p:spPr>
            <a:xfrm>
              <a:off x="1510" y="2798"/>
              <a:ext cx="34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36" name="Line 56"/>
            <p:cNvSpPr/>
            <p:nvPr/>
          </p:nvSpPr>
          <p:spPr>
            <a:xfrm flipH="1">
              <a:off x="1657" y="2796"/>
              <a:ext cx="3" cy="49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4637" name="Line 57"/>
            <p:cNvSpPr/>
            <p:nvPr/>
          </p:nvSpPr>
          <p:spPr>
            <a:xfrm flipV="1">
              <a:off x="2260" y="2794"/>
              <a:ext cx="349" cy="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38" name="Line 58"/>
            <p:cNvSpPr/>
            <p:nvPr/>
          </p:nvSpPr>
          <p:spPr>
            <a:xfrm>
              <a:off x="477" y="2795"/>
              <a:ext cx="625" cy="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39" name="Line 59"/>
            <p:cNvSpPr/>
            <p:nvPr/>
          </p:nvSpPr>
          <p:spPr>
            <a:xfrm>
              <a:off x="1655" y="3385"/>
              <a:ext cx="1" cy="49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4640" name="Text Box 60"/>
            <p:cNvSpPr txBox="1"/>
            <p:nvPr/>
          </p:nvSpPr>
          <p:spPr>
            <a:xfrm>
              <a:off x="1156" y="2750"/>
              <a:ext cx="355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41" name="Text Box 61"/>
            <p:cNvSpPr txBox="1"/>
            <p:nvPr/>
          </p:nvSpPr>
          <p:spPr>
            <a:xfrm>
              <a:off x="1927" y="2750"/>
              <a:ext cx="37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42" name="Text Box 62"/>
            <p:cNvSpPr txBox="1"/>
            <p:nvPr/>
          </p:nvSpPr>
          <p:spPr>
            <a:xfrm>
              <a:off x="1838" y="3216"/>
              <a:ext cx="30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43" name="Line 63"/>
            <p:cNvSpPr/>
            <p:nvPr/>
          </p:nvSpPr>
          <p:spPr>
            <a:xfrm>
              <a:off x="477" y="2795"/>
              <a:ext cx="0" cy="10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44" name="Line 64"/>
            <p:cNvSpPr/>
            <p:nvPr/>
          </p:nvSpPr>
          <p:spPr>
            <a:xfrm>
              <a:off x="477" y="3883"/>
              <a:ext cx="213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45" name="Text Box 65"/>
            <p:cNvSpPr txBox="1"/>
            <p:nvPr/>
          </p:nvSpPr>
          <p:spPr>
            <a:xfrm>
              <a:off x="612" y="2432"/>
              <a:ext cx="291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46" name="Text Box 66"/>
            <p:cNvSpPr txBox="1"/>
            <p:nvPr/>
          </p:nvSpPr>
          <p:spPr>
            <a:xfrm>
              <a:off x="567" y="2886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47" name="Text Box 67"/>
            <p:cNvSpPr txBox="1"/>
            <p:nvPr/>
          </p:nvSpPr>
          <p:spPr>
            <a:xfrm>
              <a:off x="522" y="3430"/>
              <a:ext cx="26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4648" name="Object 68"/>
            <p:cNvGraphicFramePr>
              <a:graphicFrameLocks noChangeAspect="1"/>
            </p:cNvGraphicFramePr>
            <p:nvPr/>
          </p:nvGraphicFramePr>
          <p:xfrm>
            <a:off x="712" y="3158"/>
            <a:ext cx="291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1" name="" r:id="rId8" imgW="173990" imgH="225425" progId="Equation.3">
                    <p:embed/>
                  </p:oleObj>
                </mc:Choice>
                <mc:Fallback>
                  <p:oleObj name="" r:id="rId8" imgW="173990" imgH="225425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12" y="3158"/>
                          <a:ext cx="291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49" name="Line 69"/>
            <p:cNvSpPr/>
            <p:nvPr/>
          </p:nvSpPr>
          <p:spPr>
            <a:xfrm>
              <a:off x="2608" y="2840"/>
              <a:ext cx="0" cy="31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24650" name="Object 70"/>
            <p:cNvGraphicFramePr>
              <a:graphicFrameLocks noChangeAspect="1"/>
            </p:cNvGraphicFramePr>
            <p:nvPr/>
          </p:nvGraphicFramePr>
          <p:xfrm>
            <a:off x="2381" y="2840"/>
            <a:ext cx="177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0" name="" r:id="rId10" imgW="109220" imgH="180340" progId="Equation.3">
                    <p:embed/>
                  </p:oleObj>
                </mc:Choice>
                <mc:Fallback>
                  <p:oleObj name="" r:id="rId10" imgW="109220" imgH="180340" progId="Equation.3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81" y="2840"/>
                          <a:ext cx="177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51" name="Line 71"/>
            <p:cNvSpPr/>
            <p:nvPr/>
          </p:nvSpPr>
          <p:spPr>
            <a:xfrm flipV="1">
              <a:off x="1519" y="3293"/>
              <a:ext cx="274" cy="1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52" name="Line 72"/>
            <p:cNvSpPr/>
            <p:nvPr/>
          </p:nvSpPr>
          <p:spPr>
            <a:xfrm flipV="1">
              <a:off x="1519" y="3384"/>
              <a:ext cx="274" cy="1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53" name="Text Box 73"/>
            <p:cNvSpPr txBox="1"/>
            <p:nvPr/>
          </p:nvSpPr>
          <p:spPr>
            <a:xfrm>
              <a:off x="1566" y="2341"/>
              <a:ext cx="37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54" name="Arc 74"/>
            <p:cNvSpPr/>
            <p:nvPr/>
          </p:nvSpPr>
          <p:spPr>
            <a:xfrm>
              <a:off x="1838" y="2522"/>
              <a:ext cx="136" cy="136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655" name="Arc 75"/>
            <p:cNvSpPr/>
            <p:nvPr/>
          </p:nvSpPr>
          <p:spPr>
            <a:xfrm flipH="1">
              <a:off x="1339" y="2522"/>
              <a:ext cx="227" cy="136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656" name="Text Box 76"/>
            <p:cNvSpPr txBox="1"/>
            <p:nvPr/>
          </p:nvSpPr>
          <p:spPr>
            <a:xfrm>
              <a:off x="2336" y="3203"/>
              <a:ext cx="37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57" name="Text Box 78"/>
            <p:cNvSpPr txBox="1"/>
            <p:nvPr/>
          </p:nvSpPr>
          <p:spPr>
            <a:xfrm>
              <a:off x="884" y="2568"/>
              <a:ext cx="27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58" name="Text Box 79"/>
            <p:cNvSpPr txBox="1"/>
            <p:nvPr/>
          </p:nvSpPr>
          <p:spPr>
            <a:xfrm>
              <a:off x="2200" y="2568"/>
              <a:ext cx="27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59" name="Rectangle 88"/>
            <p:cNvSpPr/>
            <p:nvPr/>
          </p:nvSpPr>
          <p:spPr>
            <a:xfrm>
              <a:off x="612" y="273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660" name="Rectangle 89"/>
            <p:cNvSpPr/>
            <p:nvPr/>
          </p:nvSpPr>
          <p:spPr>
            <a:xfrm>
              <a:off x="2545" y="320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4661" name="Group 132"/>
            <p:cNvGrpSpPr/>
            <p:nvPr/>
          </p:nvGrpSpPr>
          <p:grpSpPr>
            <a:xfrm rot="5400000">
              <a:off x="2004" y="2554"/>
              <a:ext cx="91" cy="408"/>
              <a:chOff x="1565" y="2614"/>
              <a:chExt cx="90" cy="486"/>
            </a:xfrm>
          </p:grpSpPr>
          <p:sp>
            <p:nvSpPr>
              <p:cNvPr id="24667" name="Arc 133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68" name="Arc 134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69" name="Arc 135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70" name="Arc 136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24662" name="Group 137"/>
            <p:cNvGrpSpPr/>
            <p:nvPr/>
          </p:nvGrpSpPr>
          <p:grpSpPr>
            <a:xfrm rot="5400000">
              <a:off x="1269" y="2545"/>
              <a:ext cx="91" cy="408"/>
              <a:chOff x="1565" y="2614"/>
              <a:chExt cx="90" cy="486"/>
            </a:xfrm>
          </p:grpSpPr>
          <p:sp>
            <p:nvSpPr>
              <p:cNvPr id="24663" name="Arc 138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64" name="Arc 139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65" name="Arc 140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66" name="Arc 141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10" name="Group 158"/>
          <p:cNvGrpSpPr/>
          <p:nvPr/>
        </p:nvGrpSpPr>
        <p:grpSpPr>
          <a:xfrm>
            <a:off x="5003800" y="3687763"/>
            <a:ext cx="3887788" cy="2406650"/>
            <a:chOff x="3152" y="2323"/>
            <a:chExt cx="2449" cy="1516"/>
          </a:xfrm>
        </p:grpSpPr>
        <p:sp>
          <p:nvSpPr>
            <p:cNvPr id="24593" name="Line 112"/>
            <p:cNvSpPr/>
            <p:nvPr/>
          </p:nvSpPr>
          <p:spPr>
            <a:xfrm>
              <a:off x="5465" y="2750"/>
              <a:ext cx="0" cy="108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4" name="Text Box 91"/>
            <p:cNvSpPr txBox="1"/>
            <p:nvPr/>
          </p:nvSpPr>
          <p:spPr>
            <a:xfrm>
              <a:off x="3877" y="2323"/>
              <a:ext cx="70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20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95" name="Text Box 92"/>
            <p:cNvSpPr txBox="1"/>
            <p:nvPr/>
          </p:nvSpPr>
          <p:spPr>
            <a:xfrm>
              <a:off x="4603" y="2332"/>
              <a:ext cx="998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20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96" name="Text Box 93"/>
            <p:cNvSpPr txBox="1"/>
            <p:nvPr/>
          </p:nvSpPr>
          <p:spPr>
            <a:xfrm>
              <a:off x="4604" y="2886"/>
              <a:ext cx="30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97" name="Oval 94"/>
            <p:cNvSpPr/>
            <p:nvPr/>
          </p:nvSpPr>
          <p:spPr>
            <a:xfrm>
              <a:off x="3152" y="311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24598" name="Line 95"/>
            <p:cNvSpPr/>
            <p:nvPr/>
          </p:nvSpPr>
          <p:spPr>
            <a:xfrm>
              <a:off x="4367" y="2753"/>
              <a:ext cx="34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9" name="Line 96"/>
            <p:cNvSpPr/>
            <p:nvPr/>
          </p:nvSpPr>
          <p:spPr>
            <a:xfrm flipH="1">
              <a:off x="4512" y="2751"/>
              <a:ext cx="5" cy="18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24600" name="Line 97"/>
            <p:cNvSpPr/>
            <p:nvPr/>
          </p:nvSpPr>
          <p:spPr>
            <a:xfrm flipV="1">
              <a:off x="5117" y="2749"/>
              <a:ext cx="349" cy="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1" name="Line 98"/>
            <p:cNvSpPr/>
            <p:nvPr/>
          </p:nvSpPr>
          <p:spPr>
            <a:xfrm>
              <a:off x="3334" y="2750"/>
              <a:ext cx="625" cy="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2" name="Line 99"/>
            <p:cNvSpPr/>
            <p:nvPr/>
          </p:nvSpPr>
          <p:spPr>
            <a:xfrm>
              <a:off x="4512" y="3567"/>
              <a:ext cx="1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24603" name="Text Box 100"/>
            <p:cNvSpPr txBox="1"/>
            <p:nvPr/>
          </p:nvSpPr>
          <p:spPr>
            <a:xfrm>
              <a:off x="4649" y="3339"/>
              <a:ext cx="303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04" name="Line 101"/>
            <p:cNvSpPr/>
            <p:nvPr/>
          </p:nvSpPr>
          <p:spPr>
            <a:xfrm>
              <a:off x="3334" y="2750"/>
              <a:ext cx="0" cy="10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5" name="Line 102"/>
            <p:cNvSpPr/>
            <p:nvPr/>
          </p:nvSpPr>
          <p:spPr>
            <a:xfrm>
              <a:off x="3334" y="3838"/>
              <a:ext cx="213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6" name="Text Box 103"/>
            <p:cNvSpPr txBox="1"/>
            <p:nvPr/>
          </p:nvSpPr>
          <p:spPr>
            <a:xfrm>
              <a:off x="3470" y="2405"/>
              <a:ext cx="291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07" name="Text Box 104"/>
            <p:cNvSpPr txBox="1"/>
            <p:nvPr/>
          </p:nvSpPr>
          <p:spPr>
            <a:xfrm>
              <a:off x="3424" y="2841"/>
              <a:ext cx="242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08" name="Text Box 105"/>
            <p:cNvSpPr txBox="1"/>
            <p:nvPr/>
          </p:nvSpPr>
          <p:spPr>
            <a:xfrm>
              <a:off x="3379" y="3385"/>
              <a:ext cx="266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4609" name="Object 106"/>
            <p:cNvGraphicFramePr>
              <a:graphicFrameLocks noChangeAspect="1"/>
            </p:cNvGraphicFramePr>
            <p:nvPr/>
          </p:nvGraphicFramePr>
          <p:xfrm>
            <a:off x="3560" y="3113"/>
            <a:ext cx="292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3" name="" r:id="rId12" imgW="173990" imgH="225425" progId="Equation.3">
                    <p:embed/>
                  </p:oleObj>
                </mc:Choice>
                <mc:Fallback>
                  <p:oleObj name="" r:id="rId12" imgW="173990" imgH="225425" progId="Equation.3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60" y="3113"/>
                          <a:ext cx="292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10" name="Line 107"/>
            <p:cNvSpPr/>
            <p:nvPr/>
          </p:nvSpPr>
          <p:spPr>
            <a:xfrm>
              <a:off x="5465" y="2795"/>
              <a:ext cx="0" cy="31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24611" name="Object 108"/>
            <p:cNvGraphicFramePr>
              <a:graphicFrameLocks noChangeAspect="1"/>
            </p:cNvGraphicFramePr>
            <p:nvPr/>
          </p:nvGraphicFramePr>
          <p:xfrm>
            <a:off x="5239" y="2795"/>
            <a:ext cx="177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2" name="" r:id="rId14" imgW="109220" imgH="180340" progId="Equation.3">
                    <p:embed/>
                  </p:oleObj>
                </mc:Choice>
                <mc:Fallback>
                  <p:oleObj name="" r:id="rId14" imgW="109220" imgH="180340" progId="Equation.3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39" y="2795"/>
                          <a:ext cx="177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12" name="Line 109"/>
            <p:cNvSpPr/>
            <p:nvPr/>
          </p:nvSpPr>
          <p:spPr>
            <a:xfrm flipV="1">
              <a:off x="4376" y="3475"/>
              <a:ext cx="274" cy="1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3" name="Line 110"/>
            <p:cNvSpPr/>
            <p:nvPr/>
          </p:nvSpPr>
          <p:spPr>
            <a:xfrm flipV="1">
              <a:off x="4376" y="3566"/>
              <a:ext cx="274" cy="1"/>
            </a:xfrm>
            <a:prstGeom prst="line">
              <a:avLst/>
            </a:prstGeom>
            <a:ln w="5715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4" name="Text Box 111"/>
            <p:cNvSpPr txBox="1"/>
            <p:nvPr/>
          </p:nvSpPr>
          <p:spPr>
            <a:xfrm>
              <a:off x="5193" y="3158"/>
              <a:ext cx="374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15" name="Rectangle 121"/>
            <p:cNvSpPr/>
            <p:nvPr/>
          </p:nvSpPr>
          <p:spPr>
            <a:xfrm>
              <a:off x="3469" y="2687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616" name="Rectangle 122"/>
            <p:cNvSpPr/>
            <p:nvPr/>
          </p:nvSpPr>
          <p:spPr>
            <a:xfrm>
              <a:off x="5402" y="315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24617" name="Line 127"/>
            <p:cNvSpPr/>
            <p:nvPr/>
          </p:nvSpPr>
          <p:spPr>
            <a:xfrm>
              <a:off x="4512" y="3294"/>
              <a:ext cx="0" cy="1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4618" name="Group 143"/>
            <p:cNvGrpSpPr/>
            <p:nvPr/>
          </p:nvGrpSpPr>
          <p:grpSpPr>
            <a:xfrm rot="5400000">
              <a:off x="4861" y="2509"/>
              <a:ext cx="91" cy="408"/>
              <a:chOff x="1565" y="2614"/>
              <a:chExt cx="90" cy="486"/>
            </a:xfrm>
          </p:grpSpPr>
          <p:sp>
            <p:nvSpPr>
              <p:cNvPr id="24629" name="Arc 144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30" name="Arc 145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31" name="Arc 146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32" name="Arc 147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24619" name="Group 148"/>
            <p:cNvGrpSpPr/>
            <p:nvPr/>
          </p:nvGrpSpPr>
          <p:grpSpPr>
            <a:xfrm rot="5400000">
              <a:off x="4127" y="2500"/>
              <a:ext cx="91" cy="408"/>
              <a:chOff x="1565" y="2614"/>
              <a:chExt cx="90" cy="486"/>
            </a:xfrm>
          </p:grpSpPr>
          <p:sp>
            <p:nvSpPr>
              <p:cNvPr id="24625" name="Arc 149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26" name="Arc 150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27" name="Arc 151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28" name="Arc 152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24620" name="Group 153"/>
            <p:cNvGrpSpPr/>
            <p:nvPr/>
          </p:nvGrpSpPr>
          <p:grpSpPr>
            <a:xfrm rot="10800000">
              <a:off x="4513" y="2931"/>
              <a:ext cx="90" cy="363"/>
              <a:chOff x="1565" y="2614"/>
              <a:chExt cx="90" cy="486"/>
            </a:xfrm>
          </p:grpSpPr>
          <p:sp>
            <p:nvSpPr>
              <p:cNvPr id="24621" name="Arc 154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22" name="Arc 155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23" name="Arc 156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4624" name="Arc 157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5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100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100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10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100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/>
      <p:bldP spid="100355" grpId="0"/>
      <p:bldP spid="10035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Text Box 2"/>
          <p:cNvSpPr txBox="1"/>
          <p:nvPr/>
        </p:nvSpPr>
        <p:spPr>
          <a:xfrm>
            <a:off x="539750" y="476250"/>
            <a:ext cx="8208963" cy="701675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>
            <a:spAutoFit/>
          </a:bodyPr>
          <a:p>
            <a:pPr eaLnBrk="1" hangingPunct="1"/>
            <a:r>
              <a:rPr lang="en-US" altLang="zh-CN" sz="40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11-3</a:t>
            </a:r>
            <a:r>
              <a:rPr lang="en-US" altLang="zh-CN" sz="4000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lang="en-US" altLang="zh-CN" sz="40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RLC</a:t>
            </a:r>
            <a:r>
              <a:rPr lang="zh-CN" altLang="en-US" sz="4000" dirty="0">
                <a:solidFill>
                  <a:schemeClr val="bg1"/>
                </a:solidFill>
                <a:latin typeface="楷体_GB2312" pitchFamily="49" charset="-122"/>
              </a:rPr>
              <a:t>串联电路的频率响应</a:t>
            </a:r>
            <a:endParaRPr lang="zh-CN" altLang="en-US" sz="40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48137" name="Text Box 9"/>
          <p:cNvSpPr txBox="1"/>
          <p:nvPr/>
        </p:nvSpPr>
        <p:spPr>
          <a:xfrm>
            <a:off x="468313" y="1125538"/>
            <a:ext cx="8135937" cy="1117600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>
            <a:spAutoFit/>
          </a:bodyPr>
          <a:p>
            <a:pPr eaLnBrk="1" hangingPunct="1">
              <a:lnSpc>
                <a:spcPct val="12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       </a:t>
            </a:r>
            <a:r>
              <a:rPr lang="zh-CN" altLang="en-US" sz="2800" dirty="0">
                <a:latin typeface="Times New Roman" panose="02020603050405020304" pitchFamily="18" charset="0"/>
              </a:rPr>
              <a:t>研究物理量与频率关系的图形（谐振曲线）可以加深对谐振现象的认识。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5604" name="Text Box 25"/>
          <p:cNvSpPr txBox="1"/>
          <p:nvPr/>
        </p:nvSpPr>
        <p:spPr>
          <a:xfrm>
            <a:off x="900113" y="2349500"/>
            <a:ext cx="7848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buAutoNum type="circleNumDbPlain"/>
            </a:pPr>
            <a:r>
              <a:rPr lang="en-US" altLang="zh-CN" sz="2800" dirty="0">
                <a:solidFill>
                  <a:srgbClr val="FF9900"/>
                </a:solidFill>
                <a:latin typeface="楷体_GB2312" pitchFamily="49" charset="-122"/>
              </a:rPr>
              <a:t>                                      </a:t>
            </a:r>
            <a:r>
              <a:rPr lang="zh-CN" altLang="en-US" sz="2800" dirty="0">
                <a:solidFill>
                  <a:srgbClr val="FF9900"/>
                </a:solidFill>
                <a:latin typeface="楷体_GB2312" pitchFamily="49" charset="-122"/>
              </a:rPr>
              <a:t>的频率响应</a:t>
            </a:r>
            <a:endParaRPr lang="zh-CN" altLang="en-US" sz="2800" dirty="0">
              <a:solidFill>
                <a:srgbClr val="FF9900"/>
              </a:solidFill>
              <a:latin typeface="楷体_GB2312" pitchFamily="49" charset="-122"/>
            </a:endParaRPr>
          </a:p>
        </p:txBody>
      </p:sp>
      <p:graphicFrame>
        <p:nvGraphicFramePr>
          <p:cNvPr id="25605" name="Object 26"/>
          <p:cNvGraphicFramePr>
            <a:graphicFrameLocks noChangeAspect="1"/>
          </p:cNvGraphicFramePr>
          <p:nvPr/>
        </p:nvGraphicFramePr>
        <p:xfrm>
          <a:off x="1500188" y="2349500"/>
          <a:ext cx="35687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1" imgW="1532890" imgH="225425" progId="Equation.3">
                  <p:embed/>
                </p:oleObj>
              </mc:Choice>
              <mc:Fallback>
                <p:oleObj name="" r:id="rId1" imgW="1532890" imgH="225425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00188" y="2349500"/>
                        <a:ext cx="3568700" cy="525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9" name="Object 31"/>
          <p:cNvGraphicFramePr>
            <a:graphicFrameLocks noChangeAspect="1"/>
          </p:cNvGraphicFramePr>
          <p:nvPr/>
        </p:nvGraphicFramePr>
        <p:xfrm>
          <a:off x="1130300" y="3068638"/>
          <a:ext cx="5803900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3" imgW="2169795" imgH="579755" progId="Equation.3">
                  <p:embed/>
                </p:oleObj>
              </mc:Choice>
              <mc:Fallback>
                <p:oleObj name="" r:id="rId3" imgW="2169795" imgH="579755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30300" y="3068638"/>
                        <a:ext cx="5803900" cy="1555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60" name="Text Box 32"/>
          <p:cNvSpPr txBox="1"/>
          <p:nvPr/>
        </p:nvSpPr>
        <p:spPr>
          <a:xfrm>
            <a:off x="323850" y="4437063"/>
            <a:ext cx="5976938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571500"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为比较不同谐振回路，令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48161" name="Object 33"/>
          <p:cNvGraphicFramePr>
            <a:graphicFrameLocks noChangeAspect="1"/>
          </p:cNvGraphicFramePr>
          <p:nvPr/>
        </p:nvGraphicFramePr>
        <p:xfrm>
          <a:off x="2987675" y="5084763"/>
          <a:ext cx="2016125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5" imgW="740410" imgH="354330" progId="Equation.3">
                  <p:embed/>
                </p:oleObj>
              </mc:Choice>
              <mc:Fallback>
                <p:oleObj name="" r:id="rId5" imgW="740410" imgH="35433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87675" y="5084763"/>
                        <a:ext cx="2016125" cy="960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09" name="Group 3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5616" name="Picture 35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17" name="Text Box 3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5610" name="Group 37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25614" name="Picture 38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15" name="Text Box 39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5611" name="Group 43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25612" name="Picture 44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13" name="Text Box 45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48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48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48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/>
      <p:bldP spid="48137" grpId="0"/>
      <p:bldP spid="4816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9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627" name="Rectangle 100"/>
          <p:cNvSpPr/>
          <p:nvPr/>
        </p:nvSpPr>
        <p:spPr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630" name="Rectangle 102"/>
          <p:cNvSpPr/>
          <p:nvPr/>
        </p:nvSpPr>
        <p:spPr>
          <a:xfrm>
            <a:off x="5724525" y="2420938"/>
            <a:ext cx="1871663" cy="519112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幅频特性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631" name="Rectangle 103"/>
          <p:cNvSpPr/>
          <p:nvPr/>
        </p:nvSpPr>
        <p:spPr>
          <a:xfrm>
            <a:off x="5724525" y="1700213"/>
            <a:ext cx="1871663" cy="519112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相频特性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122"/>
          <p:cNvGrpSpPr/>
          <p:nvPr/>
        </p:nvGrpSpPr>
        <p:grpSpPr>
          <a:xfrm>
            <a:off x="1476375" y="2903538"/>
            <a:ext cx="5980113" cy="3694112"/>
            <a:chOff x="930" y="1874"/>
            <a:chExt cx="3767" cy="2327"/>
          </a:xfrm>
        </p:grpSpPr>
        <p:sp>
          <p:nvSpPr>
            <p:cNvPr id="26643" name="Text Box 105"/>
            <p:cNvSpPr txBox="1"/>
            <p:nvPr/>
          </p:nvSpPr>
          <p:spPr>
            <a:xfrm>
              <a:off x="4013" y="3527"/>
              <a:ext cx="6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=10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4" name="Text Box 106"/>
            <p:cNvSpPr txBox="1"/>
            <p:nvPr/>
          </p:nvSpPr>
          <p:spPr>
            <a:xfrm>
              <a:off x="4013" y="3188"/>
              <a:ext cx="5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=1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5" name="Text Box 107"/>
            <p:cNvSpPr txBox="1"/>
            <p:nvPr/>
          </p:nvSpPr>
          <p:spPr>
            <a:xfrm>
              <a:off x="4013" y="2807"/>
              <a:ext cx="6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=0.5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6" name="Freeform 108"/>
            <p:cNvSpPr/>
            <p:nvPr/>
          </p:nvSpPr>
          <p:spPr>
            <a:xfrm>
              <a:off x="1791" y="2087"/>
              <a:ext cx="2184" cy="1761"/>
            </a:xfrm>
            <a:custGeom>
              <a:avLst/>
              <a:gdLst>
                <a:gd name="txL" fmla="*/ 0 w 2337"/>
                <a:gd name="txT" fmla="*/ 0 h 1884"/>
                <a:gd name="txR" fmla="*/ 2337 w 2337"/>
                <a:gd name="txB" fmla="*/ 1884 h 1884"/>
              </a:gdLst>
              <a:ahLst/>
              <a:cxnLst>
                <a:cxn ang="0">
                  <a:pos x="0" y="1646"/>
                </a:cxn>
                <a:cxn ang="0">
                  <a:pos x="367" y="451"/>
                </a:cxn>
                <a:cxn ang="0">
                  <a:pos x="603" y="55"/>
                </a:cxn>
                <a:cxn ang="0">
                  <a:pos x="851" y="121"/>
                </a:cxn>
                <a:cxn ang="0">
                  <a:pos x="1177" y="404"/>
                </a:cxn>
                <a:cxn ang="0">
                  <a:pos x="1405" y="577"/>
                </a:cxn>
                <a:cxn ang="0">
                  <a:pos x="1663" y="734"/>
                </a:cxn>
                <a:cxn ang="0">
                  <a:pos x="2041" y="896"/>
                </a:cxn>
              </a:cxnLst>
              <a:rect l="txL" t="txT" r="txR" b="txB"/>
              <a:pathLst>
                <a:path w="2337" h="1884">
                  <a:moveTo>
                    <a:pt x="0" y="1884"/>
                  </a:moveTo>
                  <a:cubicBezTo>
                    <a:pt x="70" y="1656"/>
                    <a:pt x="305" y="820"/>
                    <a:pt x="420" y="516"/>
                  </a:cubicBezTo>
                  <a:cubicBezTo>
                    <a:pt x="535" y="212"/>
                    <a:pt x="597" y="126"/>
                    <a:pt x="690" y="63"/>
                  </a:cubicBezTo>
                  <a:cubicBezTo>
                    <a:pt x="783" y="0"/>
                    <a:pt x="866" y="72"/>
                    <a:pt x="975" y="138"/>
                  </a:cubicBezTo>
                  <a:cubicBezTo>
                    <a:pt x="1084" y="204"/>
                    <a:pt x="1242" y="375"/>
                    <a:pt x="1347" y="462"/>
                  </a:cubicBezTo>
                  <a:cubicBezTo>
                    <a:pt x="1452" y="549"/>
                    <a:pt x="1515" y="597"/>
                    <a:pt x="1608" y="660"/>
                  </a:cubicBezTo>
                  <a:cubicBezTo>
                    <a:pt x="1701" y="723"/>
                    <a:pt x="1784" y="779"/>
                    <a:pt x="1905" y="840"/>
                  </a:cubicBezTo>
                  <a:cubicBezTo>
                    <a:pt x="2026" y="901"/>
                    <a:pt x="2247" y="987"/>
                    <a:pt x="2337" y="1026"/>
                  </a:cubicBez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47" name="Freeform 109"/>
            <p:cNvSpPr/>
            <p:nvPr/>
          </p:nvSpPr>
          <p:spPr>
            <a:xfrm>
              <a:off x="1788" y="2120"/>
              <a:ext cx="2192" cy="1733"/>
            </a:xfrm>
            <a:custGeom>
              <a:avLst/>
              <a:gdLst>
                <a:gd name="txL" fmla="*/ 0 w 2346"/>
                <a:gd name="txT" fmla="*/ 0 h 1855"/>
                <a:gd name="txR" fmla="*/ 2346 w 2346"/>
                <a:gd name="txB" fmla="*/ 1855 h 1855"/>
              </a:gdLst>
              <a:ahLst/>
              <a:cxnLst>
                <a:cxn ang="0">
                  <a:pos x="0" y="1619"/>
                </a:cxn>
                <a:cxn ang="0">
                  <a:pos x="215" y="1074"/>
                </a:cxn>
                <a:cxn ang="0">
                  <a:pos x="461" y="336"/>
                </a:cxn>
                <a:cxn ang="0">
                  <a:pos x="587" y="69"/>
                </a:cxn>
                <a:cxn ang="0">
                  <a:pos x="697" y="8"/>
                </a:cxn>
                <a:cxn ang="0">
                  <a:pos x="828" y="124"/>
                </a:cxn>
                <a:cxn ang="0">
                  <a:pos x="1037" y="415"/>
                </a:cxn>
                <a:cxn ang="0">
                  <a:pos x="1273" y="666"/>
                </a:cxn>
                <a:cxn ang="0">
                  <a:pos x="1640" y="907"/>
                </a:cxn>
                <a:cxn ang="0">
                  <a:pos x="2048" y="1058"/>
                </a:cxn>
              </a:cxnLst>
              <a:rect l="txL" t="txT" r="txR" b="txB"/>
              <a:pathLst>
                <a:path w="2346" h="1855">
                  <a:moveTo>
                    <a:pt x="0" y="1855"/>
                  </a:moveTo>
                  <a:cubicBezTo>
                    <a:pt x="41" y="1751"/>
                    <a:pt x="158" y="1476"/>
                    <a:pt x="246" y="1231"/>
                  </a:cubicBezTo>
                  <a:cubicBezTo>
                    <a:pt x="334" y="986"/>
                    <a:pt x="457" y="577"/>
                    <a:pt x="528" y="385"/>
                  </a:cubicBezTo>
                  <a:cubicBezTo>
                    <a:pt x="599" y="193"/>
                    <a:pt x="627" y="141"/>
                    <a:pt x="672" y="79"/>
                  </a:cubicBezTo>
                  <a:cubicBezTo>
                    <a:pt x="717" y="17"/>
                    <a:pt x="752" y="0"/>
                    <a:pt x="798" y="10"/>
                  </a:cubicBezTo>
                  <a:cubicBezTo>
                    <a:pt x="844" y="20"/>
                    <a:pt x="883" y="65"/>
                    <a:pt x="948" y="142"/>
                  </a:cubicBezTo>
                  <a:cubicBezTo>
                    <a:pt x="1013" y="219"/>
                    <a:pt x="1103" y="372"/>
                    <a:pt x="1188" y="475"/>
                  </a:cubicBezTo>
                  <a:cubicBezTo>
                    <a:pt x="1273" y="578"/>
                    <a:pt x="1343" y="669"/>
                    <a:pt x="1458" y="763"/>
                  </a:cubicBezTo>
                  <a:cubicBezTo>
                    <a:pt x="1573" y="857"/>
                    <a:pt x="1730" y="964"/>
                    <a:pt x="1878" y="1039"/>
                  </a:cubicBezTo>
                  <a:cubicBezTo>
                    <a:pt x="2026" y="1114"/>
                    <a:pt x="2249" y="1177"/>
                    <a:pt x="2346" y="1213"/>
                  </a:cubicBezTo>
                </a:path>
              </a:pathLst>
            </a:custGeom>
            <a:noFill/>
            <a:ln w="28575" cap="flat" cmpd="sng">
              <a:solidFill>
                <a:srgbClr val="00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48" name="Freeform 110"/>
            <p:cNvSpPr/>
            <p:nvPr/>
          </p:nvSpPr>
          <p:spPr>
            <a:xfrm>
              <a:off x="1788" y="2121"/>
              <a:ext cx="2181" cy="1738"/>
            </a:xfrm>
            <a:custGeom>
              <a:avLst/>
              <a:gdLst>
                <a:gd name="txL" fmla="*/ 0 w 2334"/>
                <a:gd name="txT" fmla="*/ 0 h 1859"/>
                <a:gd name="txR" fmla="*/ 2334 w 2334"/>
                <a:gd name="txB" fmla="*/ 1859 h 1859"/>
              </a:gdLst>
              <a:ahLst/>
              <a:cxnLst>
                <a:cxn ang="0">
                  <a:pos x="0" y="1625"/>
                </a:cxn>
                <a:cxn ang="0">
                  <a:pos x="404" y="1471"/>
                </a:cxn>
                <a:cxn ang="0">
                  <a:pos x="563" y="1174"/>
                </a:cxn>
                <a:cxn ang="0">
                  <a:pos x="623" y="744"/>
                </a:cxn>
                <a:cxn ang="0">
                  <a:pos x="652" y="211"/>
                </a:cxn>
                <a:cxn ang="0">
                  <a:pos x="673" y="7"/>
                </a:cxn>
                <a:cxn ang="0">
                  <a:pos x="697" y="256"/>
                </a:cxn>
                <a:cxn ang="0">
                  <a:pos x="747" y="909"/>
                </a:cxn>
                <a:cxn ang="0">
                  <a:pos x="891" y="1342"/>
                </a:cxn>
                <a:cxn ang="0">
                  <a:pos x="1333" y="1515"/>
                </a:cxn>
                <a:cxn ang="0">
                  <a:pos x="2038" y="1562"/>
                </a:cxn>
              </a:cxnLst>
              <a:rect l="txL" t="txT" r="txR" b="txB"/>
              <a:pathLst>
                <a:path w="2334" h="1859">
                  <a:moveTo>
                    <a:pt x="0" y="1859"/>
                  </a:moveTo>
                  <a:cubicBezTo>
                    <a:pt x="77" y="1830"/>
                    <a:pt x="355" y="1768"/>
                    <a:pt x="462" y="1682"/>
                  </a:cubicBezTo>
                  <a:cubicBezTo>
                    <a:pt x="569" y="1596"/>
                    <a:pt x="603" y="1481"/>
                    <a:pt x="645" y="1343"/>
                  </a:cubicBezTo>
                  <a:cubicBezTo>
                    <a:pt x="687" y="1205"/>
                    <a:pt x="697" y="1034"/>
                    <a:pt x="714" y="851"/>
                  </a:cubicBezTo>
                  <a:cubicBezTo>
                    <a:pt x="731" y="668"/>
                    <a:pt x="738" y="382"/>
                    <a:pt x="747" y="242"/>
                  </a:cubicBezTo>
                  <a:cubicBezTo>
                    <a:pt x="756" y="102"/>
                    <a:pt x="763" y="0"/>
                    <a:pt x="771" y="8"/>
                  </a:cubicBezTo>
                  <a:cubicBezTo>
                    <a:pt x="779" y="16"/>
                    <a:pt x="784" y="121"/>
                    <a:pt x="798" y="293"/>
                  </a:cubicBezTo>
                  <a:cubicBezTo>
                    <a:pt x="812" y="465"/>
                    <a:pt x="818" y="833"/>
                    <a:pt x="855" y="1040"/>
                  </a:cubicBezTo>
                  <a:cubicBezTo>
                    <a:pt x="892" y="1247"/>
                    <a:pt x="908" y="1419"/>
                    <a:pt x="1020" y="1535"/>
                  </a:cubicBezTo>
                  <a:cubicBezTo>
                    <a:pt x="1132" y="1651"/>
                    <a:pt x="1308" y="1691"/>
                    <a:pt x="1527" y="1733"/>
                  </a:cubicBezTo>
                  <a:cubicBezTo>
                    <a:pt x="1746" y="1775"/>
                    <a:pt x="2166" y="1776"/>
                    <a:pt x="2334" y="1787"/>
                  </a:cubicBez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49" name="Line 111"/>
            <p:cNvSpPr/>
            <p:nvPr/>
          </p:nvSpPr>
          <p:spPr>
            <a:xfrm>
              <a:off x="2506" y="2144"/>
              <a:ext cx="0" cy="1732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6650" name="Line 112"/>
            <p:cNvSpPr/>
            <p:nvPr/>
          </p:nvSpPr>
          <p:spPr>
            <a:xfrm flipV="1">
              <a:off x="1606" y="3848"/>
              <a:ext cx="2677" cy="5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651" name="Line 113"/>
            <p:cNvSpPr/>
            <p:nvPr/>
          </p:nvSpPr>
          <p:spPr>
            <a:xfrm flipV="1">
              <a:off x="1782" y="1907"/>
              <a:ext cx="3" cy="2182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652" name="Text Box 114"/>
            <p:cNvSpPr txBox="1"/>
            <p:nvPr/>
          </p:nvSpPr>
          <p:spPr>
            <a:xfrm>
              <a:off x="2395" y="3820"/>
              <a:ext cx="22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6653" name="Object 115"/>
            <p:cNvGraphicFramePr>
              <a:graphicFrameLocks noChangeAspect="1"/>
            </p:cNvGraphicFramePr>
            <p:nvPr/>
          </p:nvGraphicFramePr>
          <p:xfrm>
            <a:off x="930" y="1933"/>
            <a:ext cx="698" cy="6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" name="" r:id="rId1" imgW="469900" imgH="418465" progId="Equation.3">
                    <p:embed/>
                  </p:oleObj>
                </mc:Choice>
                <mc:Fallback>
                  <p:oleObj name="" r:id="rId1" imgW="469900" imgH="418465" progId="Equation.3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30" y="1933"/>
                          <a:ext cx="698" cy="6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4" name="Text Box 116"/>
            <p:cNvSpPr txBox="1"/>
            <p:nvPr/>
          </p:nvSpPr>
          <p:spPr>
            <a:xfrm>
              <a:off x="1567" y="3841"/>
              <a:ext cx="232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55" name="Text Box 117"/>
            <p:cNvSpPr txBox="1"/>
            <p:nvPr/>
          </p:nvSpPr>
          <p:spPr>
            <a:xfrm>
              <a:off x="4138" y="3771"/>
              <a:ext cx="27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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6656" name="Group 118"/>
            <p:cNvGrpSpPr/>
            <p:nvPr/>
          </p:nvGrpSpPr>
          <p:grpSpPr>
            <a:xfrm>
              <a:off x="2706" y="1874"/>
              <a:ext cx="216" cy="2327"/>
              <a:chOff x="3206" y="258"/>
              <a:chExt cx="233" cy="2490"/>
            </a:xfrm>
          </p:grpSpPr>
          <p:sp>
            <p:nvSpPr>
              <p:cNvPr id="26657" name="Line 119"/>
              <p:cNvSpPr/>
              <p:nvPr/>
            </p:nvSpPr>
            <p:spPr>
              <a:xfrm>
                <a:off x="3206" y="258"/>
                <a:ext cx="0" cy="2490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dash"/>
                <a:headEnd type="none" w="med" len="med"/>
                <a:tailEnd type="none" w="med" len="med"/>
              </a:ln>
            </p:spPr>
          </p:sp>
          <p:graphicFrame>
            <p:nvGraphicFramePr>
              <p:cNvPr id="26658" name="Object 120"/>
              <p:cNvGraphicFramePr>
                <a:graphicFrameLocks noChangeAspect="1"/>
              </p:cNvGraphicFramePr>
              <p:nvPr/>
            </p:nvGraphicFramePr>
            <p:xfrm>
              <a:off x="3242" y="2332"/>
              <a:ext cx="197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9" name="" r:id="rId3" imgW="141605" imgH="206375" progId="Equation.3">
                      <p:embed/>
                    </p:oleObj>
                  </mc:Choice>
                  <mc:Fallback>
                    <p:oleObj name="" r:id="rId3" imgW="141605" imgH="206375" progId="Equation.3">
                      <p:embed/>
                      <p:pic>
                        <p:nvPicPr>
                          <p:cNvPr id="0" name="图片 3148"/>
                          <p:cNvPicPr/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000000"/>
                              </a:clrFrom>
                              <a:clrTo>
                                <a:srgbClr val="FF00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242" y="2332"/>
                            <a:ext cx="197" cy="2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6631" name="Group 13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6641" name="Picture 133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42" name="Text Box 13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6632" name="Group 135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26639" name="Picture 136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40" name="Text Box 137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6633" name="Group 141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26637" name="Picture 142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38" name="Text Box 143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22672" name="Object 144"/>
          <p:cNvGraphicFramePr>
            <a:graphicFrameLocks noChangeAspect="1"/>
          </p:cNvGraphicFramePr>
          <p:nvPr/>
        </p:nvGraphicFramePr>
        <p:xfrm>
          <a:off x="755650" y="404813"/>
          <a:ext cx="7416800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6" imgW="3187700" imgH="598805" progId="Equation.3">
                  <p:embed/>
                </p:oleObj>
              </mc:Choice>
              <mc:Fallback>
                <p:oleObj name="" r:id="rId6" imgW="3187700" imgH="598805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5650" y="404813"/>
                        <a:ext cx="7416800" cy="1403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73" name="Object 145"/>
          <p:cNvGraphicFramePr>
            <a:graphicFrameLocks noChangeAspect="1"/>
          </p:cNvGraphicFramePr>
          <p:nvPr/>
        </p:nvGraphicFramePr>
        <p:xfrm>
          <a:off x="830263" y="1628775"/>
          <a:ext cx="446087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8" imgW="1719580" imgH="206375" progId="Equation.3">
                  <p:embed/>
                </p:oleObj>
              </mc:Choice>
              <mc:Fallback>
                <p:oleObj name="" r:id="rId8" imgW="1719580" imgH="206375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30263" y="1628775"/>
                        <a:ext cx="4460875" cy="531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74" name="Object 146"/>
          <p:cNvGraphicFramePr>
            <a:graphicFrameLocks noChangeAspect="1"/>
          </p:cNvGraphicFramePr>
          <p:nvPr/>
        </p:nvGraphicFramePr>
        <p:xfrm>
          <a:off x="900113" y="2276475"/>
          <a:ext cx="32893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10" imgW="1268730" imgH="225425" progId="Equation.3">
                  <p:embed/>
                </p:oleObj>
              </mc:Choice>
              <mc:Fallback>
                <p:oleObj name="" r:id="rId10" imgW="1268730" imgH="225425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2276475"/>
                        <a:ext cx="3289300" cy="588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2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22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22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2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" grpId="0" animBg="1"/>
      <p:bldP spid="2263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21" name="Text Box 17"/>
          <p:cNvSpPr txBox="1"/>
          <p:nvPr/>
        </p:nvSpPr>
        <p:spPr>
          <a:xfrm>
            <a:off x="468313" y="1484313"/>
            <a:ext cx="7988300" cy="2655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666750" algn="just" eaLnBrk="1" hangingPunct="1">
              <a:lnSpc>
                <a:spcPct val="120000"/>
              </a:lnSpc>
            </a:pPr>
            <a:r>
              <a:rPr lang="zh-CN" altLang="en-US" sz="2800" dirty="0">
                <a:latin typeface="楷体_GB2312" pitchFamily="49" charset="-122"/>
              </a:rPr>
              <a:t>在谐振点响应出现峰值，当</a:t>
            </a:r>
            <a:r>
              <a:rPr lang="zh-CN" altLang="en-US" sz="2800" b="0" i="1" dirty="0">
                <a:solidFill>
                  <a:schemeClr val="bg1"/>
                </a:solidFill>
                <a:latin typeface="楷体_GB2312" pitchFamily="49" charset="-122"/>
                <a:sym typeface="Symbol" panose="05050102010706020507" pitchFamily="18" charset="2"/>
              </a:rPr>
              <a:t></a:t>
            </a:r>
            <a:r>
              <a:rPr lang="zh-CN" altLang="en-US" sz="2800" i="1" dirty="0">
                <a:latin typeface="楷体_GB2312" pitchFamily="49" charset="-122"/>
              </a:rPr>
              <a:t> </a:t>
            </a:r>
            <a:r>
              <a:rPr lang="zh-CN" altLang="en-US" sz="2800" dirty="0">
                <a:latin typeface="楷体_GB2312" pitchFamily="49" charset="-122"/>
              </a:rPr>
              <a:t>偏离</a:t>
            </a:r>
            <a:r>
              <a:rPr lang="zh-CN" altLang="en-US" sz="2800" b="0" i="1" dirty="0">
                <a:solidFill>
                  <a:schemeClr val="bg1"/>
                </a:solidFill>
                <a:latin typeface="楷体_GB2312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 b="0" baseline="-25000" dirty="0">
                <a:solidFill>
                  <a:schemeClr val="bg1"/>
                </a:solidFill>
                <a:latin typeface="楷体_GB2312" pitchFamily="49" charset="-122"/>
              </a:rPr>
              <a:t>0</a:t>
            </a:r>
            <a:r>
              <a:rPr lang="zh-CN" altLang="en-US" sz="2800" dirty="0">
                <a:latin typeface="楷体_GB2312" pitchFamily="49" charset="-122"/>
              </a:rPr>
              <a:t>时，输出下降。即串联谐振电路对不同频率信号有不同的响应，对谐振信号最突出</a:t>
            </a:r>
            <a:r>
              <a:rPr lang="en-US" altLang="zh-CN" sz="2800" dirty="0">
                <a:latin typeface="楷体_GB2312" pitchFamily="49" charset="-122"/>
              </a:rPr>
              <a:t>(</a:t>
            </a:r>
            <a:r>
              <a:rPr lang="zh-CN" altLang="en-US" sz="2800" dirty="0">
                <a:latin typeface="楷体_GB2312" pitchFamily="49" charset="-122"/>
              </a:rPr>
              <a:t>响应最大</a:t>
            </a:r>
            <a:r>
              <a:rPr lang="en-US" altLang="zh-CN" sz="2800" dirty="0">
                <a:latin typeface="楷体_GB2312" pitchFamily="49" charset="-122"/>
              </a:rPr>
              <a:t>)</a:t>
            </a:r>
            <a:r>
              <a:rPr lang="zh-CN" altLang="en-US" sz="2800" dirty="0">
                <a:latin typeface="楷体_GB2312" pitchFamily="49" charset="-122"/>
              </a:rPr>
              <a:t>，而对远离谐振频率的信号具有抑制能力。这种对不同输入信号的选择能力称为“选择性”。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21523" name="Text Box 19"/>
          <p:cNvSpPr txBox="1"/>
          <p:nvPr/>
        </p:nvSpPr>
        <p:spPr>
          <a:xfrm>
            <a:off x="539750" y="1052513"/>
            <a:ext cx="3844925" cy="519112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marL="342900" indent="-342900" algn="ctr" eaLnBrk="1" hangingPunct="1">
              <a:spcBef>
                <a:spcPct val="10000"/>
              </a:spcBef>
              <a:buFont typeface="Wingdings" panose="05000000000000000000" pitchFamily="2" charset="2"/>
              <a:buAutoNum type="circleNumDbPlain"/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谐振电路具有选择性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34"/>
          <p:cNvGrpSpPr/>
          <p:nvPr/>
        </p:nvGrpSpPr>
        <p:grpSpPr>
          <a:xfrm>
            <a:off x="323850" y="333375"/>
            <a:ext cx="1847850" cy="850900"/>
            <a:chOff x="385" y="3022"/>
            <a:chExt cx="1164" cy="536"/>
          </a:xfrm>
        </p:grpSpPr>
        <p:pic>
          <p:nvPicPr>
            <p:cNvPr id="27664" name="Picture 35" descr="1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665" name="Text Box 36"/>
            <p:cNvSpPr txBox="1"/>
            <p:nvPr/>
          </p:nvSpPr>
          <p:spPr>
            <a:xfrm>
              <a:off x="793" y="3116"/>
              <a:ext cx="75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表明  </a:t>
              </a:r>
              <a:endParaRPr lang="zh-CN" altLang="en-US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sp>
        <p:nvSpPr>
          <p:cNvPr id="21541" name="Text Box 37"/>
          <p:cNvSpPr txBox="1"/>
          <p:nvPr/>
        </p:nvSpPr>
        <p:spPr>
          <a:xfrm>
            <a:off x="611188" y="4221163"/>
            <a:ext cx="5173662" cy="519112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marL="342900" indent="-342900" algn="ctr" eaLnBrk="1" hangingPunct="1">
              <a:spcBef>
                <a:spcPct val="10000"/>
              </a:spcBef>
              <a:buFont typeface="Wingdings" panose="05000000000000000000" pitchFamily="2" charset="2"/>
              <a:buAutoNum type="circleNumDbPlain" startAt="2"/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谐振电路的选择性与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成正比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42" name="Text Box 38"/>
          <p:cNvSpPr txBox="1"/>
          <p:nvPr/>
        </p:nvSpPr>
        <p:spPr>
          <a:xfrm>
            <a:off x="395288" y="4724400"/>
            <a:ext cx="8286750" cy="163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571500" algn="just" eaLnBrk="1" hangingPunct="1">
              <a:lnSpc>
                <a:spcPct val="120000"/>
              </a:lnSpc>
            </a:pP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楷体_GB2312" pitchFamily="49" charset="-122"/>
              </a:rPr>
              <a:t>越大，谐振曲线越陡，电路对非谐振频率的信号具有越强的抑制能力，所以选择性越好。因此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楷体_GB2312" pitchFamily="49" charset="-122"/>
              </a:rPr>
              <a:t>是反映谐振电路性质的一个重要指标。</a:t>
            </a:r>
            <a:endParaRPr lang="zh-CN" altLang="en-US" sz="2800" dirty="0">
              <a:latin typeface="楷体_GB2312" pitchFamily="49" charset="-122"/>
            </a:endParaRPr>
          </a:p>
        </p:txBody>
      </p:sp>
      <p:grpSp>
        <p:nvGrpSpPr>
          <p:cNvPr id="27655" name="Group 3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7662" name="Picture 40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663" name="Text Box 4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7656" name="Group 42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27660" name="Picture 43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661" name="Text Box 44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7657" name="Group 48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27658" name="Picture 49" descr="789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7659" name="Text Box 50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1000"/>
                                        <p:tgtEl>
                                          <p:spTgt spid="2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1" grpId="0"/>
      <p:bldP spid="21523" grpId="0"/>
      <p:bldP spid="21541" grpId="0"/>
      <p:bldP spid="2154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1" name="Text Box 21"/>
          <p:cNvSpPr txBox="1"/>
          <p:nvPr/>
        </p:nvSpPr>
        <p:spPr>
          <a:xfrm>
            <a:off x="479425" y="476250"/>
            <a:ext cx="4540250" cy="519113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marL="342900" indent="-342900" algn="ctr" eaLnBrk="1" hangingPunct="1">
              <a:spcBef>
                <a:spcPct val="10000"/>
              </a:spcBef>
              <a:buFont typeface="Wingdings" panose="05000000000000000000" pitchFamily="2" charset="2"/>
              <a:buAutoNum type="circleNumDbPlain" startAt="3"/>
            </a:pP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谐振电路的有效工作频段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02" name="Text Box 22"/>
          <p:cNvSpPr txBox="1"/>
          <p:nvPr/>
        </p:nvSpPr>
        <p:spPr>
          <a:xfrm>
            <a:off x="684213" y="1196975"/>
            <a:ext cx="1943100" cy="519113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lIns="198000" rIns="19800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半功率点</a:t>
            </a:r>
            <a:endParaRPr lang="zh-CN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0503" name="Text Box 23"/>
          <p:cNvSpPr txBox="1"/>
          <p:nvPr/>
        </p:nvSpPr>
        <p:spPr>
          <a:xfrm>
            <a:off x="2700338" y="981075"/>
            <a:ext cx="6192837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latin typeface="楷体_GB2312" pitchFamily="49" charset="-122"/>
              </a:rPr>
              <a:t>声学研究表明，如信号功率不低于原有最大值一半，人的听觉辨别不出。</a:t>
            </a:r>
            <a:endParaRPr lang="zh-CN" altLang="en-US" sz="2800" dirty="0">
              <a:latin typeface="楷体_GB2312" pitchFamily="49" charset="-122"/>
            </a:endParaRPr>
          </a:p>
        </p:txBody>
      </p:sp>
      <p:graphicFrame>
        <p:nvGraphicFramePr>
          <p:cNvPr id="20521" name="Object 41"/>
          <p:cNvGraphicFramePr>
            <a:graphicFrameLocks noChangeAspect="1"/>
          </p:cNvGraphicFramePr>
          <p:nvPr/>
        </p:nvGraphicFramePr>
        <p:xfrm>
          <a:off x="6967538" y="2924175"/>
          <a:ext cx="1525587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1" imgW="631190" imgH="1082040" progId="Equation.3">
                  <p:embed/>
                </p:oleObj>
              </mc:Choice>
              <mc:Fallback>
                <p:oleObj name="" r:id="rId1" imgW="631190" imgH="108204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967538" y="2924175"/>
                        <a:ext cx="1525587" cy="2771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2"/>
          <p:cNvGrpSpPr/>
          <p:nvPr/>
        </p:nvGrpSpPr>
        <p:grpSpPr>
          <a:xfrm>
            <a:off x="588963" y="3116263"/>
            <a:ext cx="3870325" cy="2805112"/>
            <a:chOff x="793" y="1577"/>
            <a:chExt cx="2438" cy="1767"/>
          </a:xfrm>
        </p:grpSpPr>
        <p:sp>
          <p:nvSpPr>
            <p:cNvPr id="28708" name="Line 43"/>
            <p:cNvSpPr/>
            <p:nvPr/>
          </p:nvSpPr>
          <p:spPr>
            <a:xfrm>
              <a:off x="1382" y="1734"/>
              <a:ext cx="1541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709" name="Line 44"/>
            <p:cNvSpPr/>
            <p:nvPr/>
          </p:nvSpPr>
          <p:spPr>
            <a:xfrm>
              <a:off x="1858" y="1734"/>
              <a:ext cx="0" cy="1314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710" name="Line 45"/>
            <p:cNvSpPr/>
            <p:nvPr/>
          </p:nvSpPr>
          <p:spPr>
            <a:xfrm>
              <a:off x="2636" y="1734"/>
              <a:ext cx="0" cy="1314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711" name="Text Box 46"/>
            <p:cNvSpPr txBox="1"/>
            <p:nvPr/>
          </p:nvSpPr>
          <p:spPr>
            <a:xfrm>
              <a:off x="2044" y="3017"/>
              <a:ext cx="226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12" name="Text Box 47"/>
            <p:cNvSpPr txBox="1"/>
            <p:nvPr/>
          </p:nvSpPr>
          <p:spPr>
            <a:xfrm>
              <a:off x="2596" y="3011"/>
              <a:ext cx="635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ctr" anchorCtr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</a:t>
              </a:r>
              <a:r>
                <a:rPr lang="en-US" altLang="zh-CN" sz="28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13" name="Text Box 48"/>
            <p:cNvSpPr txBox="1"/>
            <p:nvPr/>
          </p:nvSpPr>
          <p:spPr>
            <a:xfrm>
              <a:off x="1643" y="3011"/>
              <a:ext cx="492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</a:t>
              </a:r>
              <a:r>
                <a:rPr lang="en-US" altLang="zh-CN" sz="280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14" name="Text Box 49"/>
            <p:cNvSpPr txBox="1"/>
            <p:nvPr/>
          </p:nvSpPr>
          <p:spPr>
            <a:xfrm>
              <a:off x="793" y="1577"/>
              <a:ext cx="620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0.707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64"/>
          <p:cNvGrpSpPr/>
          <p:nvPr/>
        </p:nvGrpSpPr>
        <p:grpSpPr>
          <a:xfrm>
            <a:off x="323850" y="1989138"/>
            <a:ext cx="6084888" cy="3889375"/>
            <a:chOff x="204" y="1253"/>
            <a:chExt cx="3833" cy="2450"/>
          </a:xfrm>
        </p:grpSpPr>
        <p:graphicFrame>
          <p:nvGraphicFramePr>
            <p:cNvPr id="28696" name="Object 65"/>
            <p:cNvGraphicFramePr>
              <a:graphicFrameLocks noChangeAspect="1"/>
            </p:cNvGraphicFramePr>
            <p:nvPr/>
          </p:nvGraphicFramePr>
          <p:xfrm>
            <a:off x="204" y="1253"/>
            <a:ext cx="698" cy="6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3" name="" r:id="rId3" imgW="469900" imgH="418465" progId="Equation.3">
                    <p:embed/>
                  </p:oleObj>
                </mc:Choice>
                <mc:Fallback>
                  <p:oleObj name="" r:id="rId3" imgW="469900" imgH="418465" progId="Equation.3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4" y="1253"/>
                          <a:ext cx="698" cy="6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7" name="Text Box 66"/>
            <p:cNvSpPr txBox="1"/>
            <p:nvPr/>
          </p:nvSpPr>
          <p:spPr>
            <a:xfrm>
              <a:off x="3353" y="3086"/>
              <a:ext cx="6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=10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8" name="Text Box 67"/>
            <p:cNvSpPr txBox="1"/>
            <p:nvPr/>
          </p:nvSpPr>
          <p:spPr>
            <a:xfrm>
              <a:off x="3353" y="2723"/>
              <a:ext cx="5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=1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9" name="Text Box 68"/>
            <p:cNvSpPr txBox="1"/>
            <p:nvPr/>
          </p:nvSpPr>
          <p:spPr>
            <a:xfrm>
              <a:off x="3353" y="2315"/>
              <a:ext cx="6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=0.5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0" name="Freeform 69"/>
            <p:cNvSpPr/>
            <p:nvPr/>
          </p:nvSpPr>
          <p:spPr>
            <a:xfrm>
              <a:off x="963" y="1545"/>
              <a:ext cx="2349" cy="1884"/>
            </a:xfrm>
            <a:custGeom>
              <a:avLst/>
              <a:gdLst>
                <a:gd name="txL" fmla="*/ 0 w 2337"/>
                <a:gd name="txT" fmla="*/ 0 h 1884"/>
                <a:gd name="txR" fmla="*/ 2337 w 2337"/>
                <a:gd name="txB" fmla="*/ 1884 h 1884"/>
              </a:gdLst>
              <a:ahLst/>
              <a:cxnLst>
                <a:cxn ang="0">
                  <a:pos x="0" y="1884"/>
                </a:cxn>
                <a:cxn ang="0">
                  <a:pos x="424" y="516"/>
                </a:cxn>
                <a:cxn ang="0">
                  <a:pos x="698" y="63"/>
                </a:cxn>
                <a:cxn ang="0">
                  <a:pos x="985" y="138"/>
                </a:cxn>
                <a:cxn ang="0">
                  <a:pos x="1361" y="462"/>
                </a:cxn>
                <a:cxn ang="0">
                  <a:pos x="1624" y="660"/>
                </a:cxn>
                <a:cxn ang="0">
                  <a:pos x="1925" y="840"/>
                </a:cxn>
                <a:cxn ang="0">
                  <a:pos x="2361" y="1026"/>
                </a:cxn>
              </a:cxnLst>
              <a:rect l="txL" t="txT" r="txR" b="txB"/>
              <a:pathLst>
                <a:path w="2337" h="1884">
                  <a:moveTo>
                    <a:pt x="0" y="1884"/>
                  </a:moveTo>
                  <a:cubicBezTo>
                    <a:pt x="70" y="1656"/>
                    <a:pt x="305" y="820"/>
                    <a:pt x="420" y="516"/>
                  </a:cubicBezTo>
                  <a:cubicBezTo>
                    <a:pt x="535" y="212"/>
                    <a:pt x="597" y="126"/>
                    <a:pt x="690" y="63"/>
                  </a:cubicBezTo>
                  <a:cubicBezTo>
                    <a:pt x="783" y="0"/>
                    <a:pt x="866" y="72"/>
                    <a:pt x="975" y="138"/>
                  </a:cubicBezTo>
                  <a:cubicBezTo>
                    <a:pt x="1084" y="204"/>
                    <a:pt x="1242" y="375"/>
                    <a:pt x="1347" y="462"/>
                  </a:cubicBezTo>
                  <a:cubicBezTo>
                    <a:pt x="1452" y="549"/>
                    <a:pt x="1515" y="597"/>
                    <a:pt x="1608" y="660"/>
                  </a:cubicBezTo>
                  <a:cubicBezTo>
                    <a:pt x="1701" y="723"/>
                    <a:pt x="1784" y="779"/>
                    <a:pt x="1905" y="840"/>
                  </a:cubicBezTo>
                  <a:cubicBezTo>
                    <a:pt x="2026" y="901"/>
                    <a:pt x="2247" y="987"/>
                    <a:pt x="2337" y="1026"/>
                  </a:cubicBez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701" name="Freeform 70"/>
            <p:cNvSpPr/>
            <p:nvPr/>
          </p:nvSpPr>
          <p:spPr>
            <a:xfrm>
              <a:off x="960" y="1580"/>
              <a:ext cx="2358" cy="1855"/>
            </a:xfrm>
            <a:custGeom>
              <a:avLst/>
              <a:gdLst>
                <a:gd name="txL" fmla="*/ 0 w 2346"/>
                <a:gd name="txT" fmla="*/ 0 h 1855"/>
                <a:gd name="txR" fmla="*/ 2346 w 2346"/>
                <a:gd name="txB" fmla="*/ 1855 h 1855"/>
              </a:gdLst>
              <a:ahLst/>
              <a:cxnLst>
                <a:cxn ang="0">
                  <a:pos x="0" y="1855"/>
                </a:cxn>
                <a:cxn ang="0">
                  <a:pos x="248" y="1231"/>
                </a:cxn>
                <a:cxn ang="0">
                  <a:pos x="534" y="385"/>
                </a:cxn>
                <a:cxn ang="0">
                  <a:pos x="678" y="79"/>
                </a:cxn>
                <a:cxn ang="0">
                  <a:pos x="806" y="10"/>
                </a:cxn>
                <a:cxn ang="0">
                  <a:pos x="958" y="142"/>
                </a:cxn>
                <a:cxn ang="0">
                  <a:pos x="1200" y="475"/>
                </a:cxn>
                <a:cxn ang="0">
                  <a:pos x="1472" y="763"/>
                </a:cxn>
                <a:cxn ang="0">
                  <a:pos x="1898" y="1039"/>
                </a:cxn>
                <a:cxn ang="0">
                  <a:pos x="2370" y="1213"/>
                </a:cxn>
              </a:cxnLst>
              <a:rect l="txL" t="txT" r="txR" b="txB"/>
              <a:pathLst>
                <a:path w="2346" h="1855">
                  <a:moveTo>
                    <a:pt x="0" y="1855"/>
                  </a:moveTo>
                  <a:cubicBezTo>
                    <a:pt x="41" y="1751"/>
                    <a:pt x="158" y="1476"/>
                    <a:pt x="246" y="1231"/>
                  </a:cubicBezTo>
                  <a:cubicBezTo>
                    <a:pt x="334" y="986"/>
                    <a:pt x="457" y="577"/>
                    <a:pt x="528" y="385"/>
                  </a:cubicBezTo>
                  <a:cubicBezTo>
                    <a:pt x="599" y="193"/>
                    <a:pt x="627" y="141"/>
                    <a:pt x="672" y="79"/>
                  </a:cubicBezTo>
                  <a:cubicBezTo>
                    <a:pt x="717" y="17"/>
                    <a:pt x="752" y="0"/>
                    <a:pt x="798" y="10"/>
                  </a:cubicBezTo>
                  <a:cubicBezTo>
                    <a:pt x="844" y="20"/>
                    <a:pt x="883" y="65"/>
                    <a:pt x="948" y="142"/>
                  </a:cubicBezTo>
                  <a:cubicBezTo>
                    <a:pt x="1013" y="219"/>
                    <a:pt x="1103" y="372"/>
                    <a:pt x="1188" y="475"/>
                  </a:cubicBezTo>
                  <a:cubicBezTo>
                    <a:pt x="1273" y="578"/>
                    <a:pt x="1343" y="669"/>
                    <a:pt x="1458" y="763"/>
                  </a:cubicBezTo>
                  <a:cubicBezTo>
                    <a:pt x="1573" y="857"/>
                    <a:pt x="1730" y="964"/>
                    <a:pt x="1878" y="1039"/>
                  </a:cubicBezTo>
                  <a:cubicBezTo>
                    <a:pt x="2026" y="1114"/>
                    <a:pt x="2249" y="1177"/>
                    <a:pt x="2346" y="1213"/>
                  </a:cubicBezTo>
                </a:path>
              </a:pathLst>
            </a:custGeom>
            <a:noFill/>
            <a:ln w="28575" cap="flat" cmpd="sng">
              <a:solidFill>
                <a:srgbClr val="00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702" name="Freeform 71"/>
            <p:cNvSpPr/>
            <p:nvPr/>
          </p:nvSpPr>
          <p:spPr>
            <a:xfrm>
              <a:off x="960" y="1582"/>
              <a:ext cx="2346" cy="1859"/>
            </a:xfrm>
            <a:custGeom>
              <a:avLst/>
              <a:gdLst>
                <a:gd name="txL" fmla="*/ 0 w 2334"/>
                <a:gd name="txT" fmla="*/ 0 h 1859"/>
                <a:gd name="txR" fmla="*/ 2334 w 2334"/>
                <a:gd name="txB" fmla="*/ 1859 h 1859"/>
              </a:gdLst>
              <a:ahLst/>
              <a:cxnLst>
                <a:cxn ang="0">
                  <a:pos x="0" y="1859"/>
                </a:cxn>
                <a:cxn ang="0">
                  <a:pos x="466" y="1682"/>
                </a:cxn>
                <a:cxn ang="0">
                  <a:pos x="651" y="1343"/>
                </a:cxn>
                <a:cxn ang="0">
                  <a:pos x="722" y="851"/>
                </a:cxn>
                <a:cxn ang="0">
                  <a:pos x="755" y="242"/>
                </a:cxn>
                <a:cxn ang="0">
                  <a:pos x="779" y="8"/>
                </a:cxn>
                <a:cxn ang="0">
                  <a:pos x="806" y="293"/>
                </a:cxn>
                <a:cxn ang="0">
                  <a:pos x="863" y="1040"/>
                </a:cxn>
                <a:cxn ang="0">
                  <a:pos x="1030" y="1535"/>
                </a:cxn>
                <a:cxn ang="0">
                  <a:pos x="1543" y="1733"/>
                </a:cxn>
                <a:cxn ang="0">
                  <a:pos x="2358" y="1787"/>
                </a:cxn>
              </a:cxnLst>
              <a:rect l="txL" t="txT" r="txR" b="txB"/>
              <a:pathLst>
                <a:path w="2334" h="1859">
                  <a:moveTo>
                    <a:pt x="0" y="1859"/>
                  </a:moveTo>
                  <a:cubicBezTo>
                    <a:pt x="77" y="1830"/>
                    <a:pt x="355" y="1768"/>
                    <a:pt x="462" y="1682"/>
                  </a:cubicBezTo>
                  <a:cubicBezTo>
                    <a:pt x="569" y="1596"/>
                    <a:pt x="603" y="1481"/>
                    <a:pt x="645" y="1343"/>
                  </a:cubicBezTo>
                  <a:cubicBezTo>
                    <a:pt x="687" y="1205"/>
                    <a:pt x="697" y="1034"/>
                    <a:pt x="714" y="851"/>
                  </a:cubicBezTo>
                  <a:cubicBezTo>
                    <a:pt x="731" y="668"/>
                    <a:pt x="738" y="382"/>
                    <a:pt x="747" y="242"/>
                  </a:cubicBezTo>
                  <a:cubicBezTo>
                    <a:pt x="756" y="102"/>
                    <a:pt x="763" y="0"/>
                    <a:pt x="771" y="8"/>
                  </a:cubicBezTo>
                  <a:cubicBezTo>
                    <a:pt x="779" y="16"/>
                    <a:pt x="784" y="121"/>
                    <a:pt x="798" y="293"/>
                  </a:cubicBezTo>
                  <a:cubicBezTo>
                    <a:pt x="812" y="465"/>
                    <a:pt x="818" y="833"/>
                    <a:pt x="855" y="1040"/>
                  </a:cubicBezTo>
                  <a:cubicBezTo>
                    <a:pt x="892" y="1247"/>
                    <a:pt x="908" y="1419"/>
                    <a:pt x="1020" y="1535"/>
                  </a:cubicBezTo>
                  <a:cubicBezTo>
                    <a:pt x="1132" y="1651"/>
                    <a:pt x="1308" y="1691"/>
                    <a:pt x="1527" y="1733"/>
                  </a:cubicBezTo>
                  <a:cubicBezTo>
                    <a:pt x="1746" y="1775"/>
                    <a:pt x="2166" y="1776"/>
                    <a:pt x="2334" y="1787"/>
                  </a:cubicBez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703" name="Line 72"/>
            <p:cNvSpPr/>
            <p:nvPr/>
          </p:nvSpPr>
          <p:spPr>
            <a:xfrm>
              <a:off x="1732" y="1606"/>
              <a:ext cx="0" cy="1853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704" name="Line 73"/>
            <p:cNvSpPr/>
            <p:nvPr/>
          </p:nvSpPr>
          <p:spPr>
            <a:xfrm flipV="1">
              <a:off x="764" y="3429"/>
              <a:ext cx="2880" cy="6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705" name="Line 74"/>
            <p:cNvSpPr/>
            <p:nvPr/>
          </p:nvSpPr>
          <p:spPr>
            <a:xfrm flipV="1">
              <a:off x="954" y="1353"/>
              <a:ext cx="3" cy="2334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706" name="Text Box 75"/>
            <p:cNvSpPr txBox="1"/>
            <p:nvPr/>
          </p:nvSpPr>
          <p:spPr>
            <a:xfrm>
              <a:off x="687" y="3453"/>
              <a:ext cx="232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7" name="Text Box 76"/>
            <p:cNvSpPr txBox="1"/>
            <p:nvPr/>
          </p:nvSpPr>
          <p:spPr>
            <a:xfrm>
              <a:off x="3489" y="3358"/>
              <a:ext cx="29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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77"/>
          <p:cNvGrpSpPr/>
          <p:nvPr/>
        </p:nvGrpSpPr>
        <p:grpSpPr>
          <a:xfrm>
            <a:off x="2124075" y="5857875"/>
            <a:ext cx="1835150" cy="836613"/>
            <a:chOff x="1338" y="3463"/>
            <a:chExt cx="982" cy="527"/>
          </a:xfrm>
        </p:grpSpPr>
        <p:sp>
          <p:nvSpPr>
            <p:cNvPr id="28693" name="Text Box 78"/>
            <p:cNvSpPr txBox="1"/>
            <p:nvPr/>
          </p:nvSpPr>
          <p:spPr>
            <a:xfrm>
              <a:off x="1338" y="3657"/>
              <a:ext cx="982" cy="333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FFCC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198000" rIns="19800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tx1"/>
                  </a:solidFill>
                  <a:latin typeface="Arial" panose="020B0604020202020204" pitchFamily="34" charset="0"/>
                </a:rPr>
                <a:t>半功率点</a:t>
              </a:r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8694" name="Line 79"/>
            <p:cNvSpPr/>
            <p:nvPr/>
          </p:nvSpPr>
          <p:spPr>
            <a:xfrm flipH="1" flipV="1">
              <a:off x="1539" y="3508"/>
              <a:ext cx="207" cy="149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8695" name="Line 80"/>
            <p:cNvSpPr/>
            <p:nvPr/>
          </p:nvSpPr>
          <p:spPr>
            <a:xfrm flipV="1">
              <a:off x="1845" y="3463"/>
              <a:ext cx="272" cy="272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8681" name="Group 8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8691" name="Picture 82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692" name="Text Box 8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8682" name="Group 84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28689" name="Picture 85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690" name="Text Box 86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8683" name="Group 90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28687" name="Picture 91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8688" name="Text Box 92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8" name="Group 94"/>
          <p:cNvGrpSpPr/>
          <p:nvPr/>
        </p:nvGrpSpPr>
        <p:grpSpPr>
          <a:xfrm>
            <a:off x="4427538" y="2205038"/>
            <a:ext cx="3992562" cy="666750"/>
            <a:chOff x="2789" y="1389"/>
            <a:chExt cx="2515" cy="420"/>
          </a:xfrm>
        </p:grpSpPr>
        <p:graphicFrame>
          <p:nvGraphicFramePr>
            <p:cNvPr id="28685" name="Object 63"/>
            <p:cNvGraphicFramePr>
              <a:graphicFrameLocks noChangeAspect="1"/>
            </p:cNvGraphicFramePr>
            <p:nvPr/>
          </p:nvGraphicFramePr>
          <p:xfrm>
            <a:off x="2789" y="1389"/>
            <a:ext cx="2515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8" name="" r:id="rId6" imgW="1480820" imgH="244475" progId="Equation.3">
                    <p:embed/>
                  </p:oleObj>
                </mc:Choice>
                <mc:Fallback>
                  <p:oleObj name="" r:id="rId6" imgW="1480820" imgH="244475" progId="Equation.3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89" y="1389"/>
                          <a:ext cx="2515" cy="4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6" name="Line 93"/>
            <p:cNvSpPr/>
            <p:nvPr/>
          </p:nvSpPr>
          <p:spPr>
            <a:xfrm flipV="1">
              <a:off x="3742" y="1661"/>
              <a:ext cx="136" cy="45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"/>
                                        <p:tgtEl>
                                          <p:spTgt spid="2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1" grpId="0"/>
      <p:bldP spid="20502" grpId="0" animBg="1"/>
      <p:bldP spid="2050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2714625" y="549275"/>
          <a:ext cx="1338263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1" imgW="483235" imgH="206375" progId="Equation.3">
                  <p:embed/>
                </p:oleObj>
              </mc:Choice>
              <mc:Fallback>
                <p:oleObj name="" r:id="rId1" imgW="483235" imgH="206375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14625" y="549275"/>
                        <a:ext cx="1338263" cy="560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9" name="Text Box 5"/>
          <p:cNvSpPr txBox="1"/>
          <p:nvPr/>
        </p:nvSpPr>
        <p:spPr>
          <a:xfrm>
            <a:off x="539750" y="3789363"/>
            <a:ext cx="7993063" cy="1117600"/>
          </a:xfrm>
          <a:prstGeom prst="rect">
            <a:avLst/>
          </a:prstGeom>
          <a:noFill/>
          <a:ln w="19050">
            <a:noFill/>
          </a:ln>
        </p:spPr>
        <p:txBody>
          <a:bodyPr lIns="198000" rIns="198000"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         </a:t>
            </a:r>
            <a:r>
              <a:rPr lang="zh-CN" altLang="en-US" sz="2800" dirty="0">
                <a:latin typeface="Times New Roman" panose="02020603050405020304" pitchFamily="18" charset="0"/>
              </a:rPr>
              <a:t>通频带规定了谐振电路允许通过信号的频率范围。是比较和设计谐振电路的指标。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2248" name="Text Box 24"/>
          <p:cNvSpPr txBox="1"/>
          <p:nvPr/>
        </p:nvSpPr>
        <p:spPr>
          <a:xfrm>
            <a:off x="395288" y="620713"/>
            <a:ext cx="1612900" cy="519112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lIns="198000" rIns="198000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通频带</a:t>
            </a:r>
            <a:endParaRPr lang="zh-CN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2259" name="Text Box 35"/>
          <p:cNvSpPr txBox="1"/>
          <p:nvPr/>
        </p:nvSpPr>
        <p:spPr>
          <a:xfrm>
            <a:off x="468313" y="1412875"/>
            <a:ext cx="2232025" cy="519113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可以证明：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2260" name="Object 36"/>
          <p:cNvGraphicFramePr>
            <a:graphicFrameLocks noChangeAspect="1"/>
          </p:cNvGraphicFramePr>
          <p:nvPr/>
        </p:nvGraphicFramePr>
        <p:xfrm>
          <a:off x="2463800" y="1125538"/>
          <a:ext cx="4217988" cy="110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3" imgW="1687195" imgH="418465" progId="Equation.3">
                  <p:embed/>
                </p:oleObj>
              </mc:Choice>
              <mc:Fallback>
                <p:oleObj name="" r:id="rId3" imgW="1687195" imgH="418465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63800" y="1125538"/>
                        <a:ext cx="4217988" cy="1106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62" name="Text Box 38"/>
          <p:cNvSpPr txBox="1"/>
          <p:nvPr/>
        </p:nvSpPr>
        <p:spPr>
          <a:xfrm>
            <a:off x="2627313" y="2349500"/>
            <a:ext cx="5616575" cy="519113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dB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20lg[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</a:t>
            </a:r>
            <a:r>
              <a:rPr lang="zh-CN" altLang="en-US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zh-CN" altLang="en-US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j1</a:t>
            </a:r>
            <a:r>
              <a:rPr lang="zh-CN" altLang="en-US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endParaRPr lang="en-US" altLang="zh-CN" sz="28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263" name="Text Box 39"/>
          <p:cNvSpPr txBox="1"/>
          <p:nvPr/>
        </p:nvSpPr>
        <p:spPr>
          <a:xfrm>
            <a:off x="2627313" y="3068638"/>
            <a:ext cx="3167062" cy="519112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20lg0.707 = –3 dB</a:t>
            </a:r>
            <a:endParaRPr lang="en-US" altLang="zh-CN" sz="28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2269" name="Text Box 45"/>
          <p:cNvSpPr txBox="1"/>
          <p:nvPr/>
        </p:nvSpPr>
        <p:spPr>
          <a:xfrm>
            <a:off x="755650" y="2276475"/>
            <a:ext cx="15113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</a:rPr>
              <a:t>定义：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52270" name="Line 46"/>
          <p:cNvSpPr/>
          <p:nvPr/>
        </p:nvSpPr>
        <p:spPr>
          <a:xfrm>
            <a:off x="2195513" y="765175"/>
            <a:ext cx="576262" cy="0"/>
          </a:xfrm>
          <a:prstGeom prst="line">
            <a:avLst/>
          </a:prstGeom>
          <a:ln w="76200" cap="flat" cmpd="sng">
            <a:solidFill>
              <a:srgbClr val="33CC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2271" name="Rectangle 47"/>
          <p:cNvSpPr/>
          <p:nvPr/>
        </p:nvSpPr>
        <p:spPr>
          <a:xfrm>
            <a:off x="4284663" y="549275"/>
            <a:ext cx="35274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分贝频率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29708" name="Group 4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29715" name="Picture 49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16" name="Text Box 5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9709" name="Group 51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29713" name="Picture 52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14" name="Text Box 53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29710" name="Group 57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29711" name="Picture 58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9712" name="Text Box 59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5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2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5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2000"/>
                                        <p:tgtEl>
                                          <p:spTgt spid="5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2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52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6" dur="500"/>
                                        <p:tgtEl>
                                          <p:spTgt spid="5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/>
      <p:bldP spid="52248" grpId="0" animBg="1"/>
      <p:bldP spid="52259" grpId="0"/>
      <p:bldP spid="52262" grpId="0"/>
      <p:bldP spid="52263" grpId="0"/>
      <p:bldP spid="52269" grpId="0"/>
      <p:bldP spid="5227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2"/>
          <p:cNvSpPr txBox="1"/>
          <p:nvPr/>
        </p:nvSpPr>
        <p:spPr>
          <a:xfrm>
            <a:off x="250825" y="549275"/>
            <a:ext cx="11525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3-1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1" name="Text Box 3"/>
          <p:cNvSpPr txBox="1"/>
          <p:nvPr/>
        </p:nvSpPr>
        <p:spPr>
          <a:xfrm>
            <a:off x="3779838" y="549275"/>
            <a:ext cx="5076825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讨论一接收器的输出电压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U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endParaRPr lang="zh-CN" altLang="en-US" sz="2800" b="0" i="1" baseline="-250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参数为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7412" name="Text Box 4"/>
          <p:cNvSpPr txBox="1"/>
          <p:nvPr/>
        </p:nvSpPr>
        <p:spPr>
          <a:xfrm>
            <a:off x="3851275" y="1341438"/>
            <a:ext cx="5078413" cy="16430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20000"/>
              </a:lnSpc>
            </a:pP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=10</a:t>
            </a:r>
            <a:r>
              <a:rPr lang="en-US" altLang="zh-CN" sz="2800" b="0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m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V, </a:t>
            </a:r>
            <a:endParaRPr lang="en-US" altLang="zh-CN" sz="28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当电容调至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=150.7pF</a:t>
            </a:r>
            <a:r>
              <a:rPr lang="zh-CN" altLang="en-US" sz="2800" dirty="0">
                <a:latin typeface="Times New Roman" panose="02020603050405020304" pitchFamily="18" charset="0"/>
              </a:rPr>
              <a:t>时谐振。</a:t>
            </a:r>
            <a:r>
              <a:rPr lang="zh-CN" altLang="en-US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8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en-US" altLang="zh-CN" sz="28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=5.152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en-US" altLang="zh-CN" sz="28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rad/s,   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=820 kHz</a:t>
            </a:r>
            <a:endParaRPr lang="en-US" altLang="zh-CN" sz="28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38"/>
          <p:cNvGrpSpPr/>
          <p:nvPr/>
        </p:nvGrpSpPr>
        <p:grpSpPr>
          <a:xfrm>
            <a:off x="684213" y="3500438"/>
            <a:ext cx="7826375" cy="2759075"/>
            <a:chOff x="580" y="2065"/>
            <a:chExt cx="4930" cy="1738"/>
          </a:xfrm>
        </p:grpSpPr>
        <p:sp>
          <p:nvSpPr>
            <p:cNvPr id="30770" name="Text Box 39"/>
            <p:cNvSpPr txBox="1"/>
            <p:nvPr/>
          </p:nvSpPr>
          <p:spPr>
            <a:xfrm>
              <a:off x="822" y="2366"/>
              <a:ext cx="75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 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(kHz)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71" name="Text Box 40"/>
            <p:cNvSpPr txBox="1"/>
            <p:nvPr/>
          </p:nvSpPr>
          <p:spPr>
            <a:xfrm>
              <a:off x="1840" y="2077"/>
              <a:ext cx="7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北京台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30772" name="Text Box 41"/>
            <p:cNvSpPr txBox="1"/>
            <p:nvPr/>
          </p:nvSpPr>
          <p:spPr>
            <a:xfrm>
              <a:off x="2992" y="2065"/>
              <a:ext cx="7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中央台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30773" name="Text Box 42"/>
            <p:cNvSpPr txBox="1"/>
            <p:nvPr/>
          </p:nvSpPr>
          <p:spPr>
            <a:xfrm>
              <a:off x="4269" y="2077"/>
              <a:ext cx="1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北京经济台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30774" name="Text Box 43"/>
            <p:cNvSpPr txBox="1"/>
            <p:nvPr/>
          </p:nvSpPr>
          <p:spPr>
            <a:xfrm>
              <a:off x="952" y="2630"/>
              <a:ext cx="45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75" name="Text Box 44"/>
            <p:cNvSpPr txBox="1"/>
            <p:nvPr/>
          </p:nvSpPr>
          <p:spPr>
            <a:xfrm>
              <a:off x="1984" y="2366"/>
              <a:ext cx="45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820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76" name="Text Box 45"/>
            <p:cNvSpPr txBox="1"/>
            <p:nvPr/>
          </p:nvSpPr>
          <p:spPr>
            <a:xfrm>
              <a:off x="3136" y="2366"/>
              <a:ext cx="45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640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77" name="Text Box 46"/>
            <p:cNvSpPr txBox="1"/>
            <p:nvPr/>
          </p:nvSpPr>
          <p:spPr>
            <a:xfrm>
              <a:off x="4557" y="2366"/>
              <a:ext cx="5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1026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78" name="Text Box 47"/>
            <p:cNvSpPr txBox="1"/>
            <p:nvPr/>
          </p:nvSpPr>
          <p:spPr>
            <a:xfrm>
              <a:off x="1072" y="3230"/>
              <a:ext cx="2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79" name="Text Box 48"/>
            <p:cNvSpPr txBox="1"/>
            <p:nvPr/>
          </p:nvSpPr>
          <p:spPr>
            <a:xfrm>
              <a:off x="1936" y="2966"/>
              <a:ext cx="682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1288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80" name="Text Box 49"/>
            <p:cNvSpPr txBox="1"/>
            <p:nvPr/>
          </p:nvSpPr>
          <p:spPr>
            <a:xfrm>
              <a:off x="3056" y="2966"/>
              <a:ext cx="682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–1650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81" name="Text Box 50"/>
            <p:cNvSpPr txBox="1"/>
            <p:nvPr/>
          </p:nvSpPr>
          <p:spPr>
            <a:xfrm>
              <a:off x="4557" y="2966"/>
              <a:ext cx="682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1029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82" name="Text Box 51"/>
            <p:cNvSpPr txBox="1"/>
            <p:nvPr/>
          </p:nvSpPr>
          <p:spPr>
            <a:xfrm>
              <a:off x="2080" y="3230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83" name="Text Box 52"/>
            <p:cNvSpPr txBox="1"/>
            <p:nvPr/>
          </p:nvSpPr>
          <p:spPr>
            <a:xfrm>
              <a:off x="3080" y="3230"/>
              <a:ext cx="625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– 645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84" name="Text Box 53"/>
            <p:cNvSpPr txBox="1"/>
            <p:nvPr/>
          </p:nvSpPr>
          <p:spPr>
            <a:xfrm>
              <a:off x="4653" y="3230"/>
              <a:ext cx="45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582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85" name="Text Box 54"/>
            <p:cNvSpPr txBox="1"/>
            <p:nvPr/>
          </p:nvSpPr>
          <p:spPr>
            <a:xfrm>
              <a:off x="1936" y="2662"/>
              <a:ext cx="569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1288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86" name="Text Box 55"/>
            <p:cNvSpPr txBox="1"/>
            <p:nvPr/>
          </p:nvSpPr>
          <p:spPr>
            <a:xfrm>
              <a:off x="3088" y="2662"/>
              <a:ext cx="569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1005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87" name="Text Box 56"/>
            <p:cNvSpPr txBox="1"/>
            <p:nvPr/>
          </p:nvSpPr>
          <p:spPr>
            <a:xfrm>
              <a:off x="4557" y="2662"/>
              <a:ext cx="5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1611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88" name="Text Box 57"/>
            <p:cNvSpPr txBox="1"/>
            <p:nvPr/>
          </p:nvSpPr>
          <p:spPr>
            <a:xfrm>
              <a:off x="1890" y="3472"/>
              <a:ext cx="79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=10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89" name="Text Box 58"/>
            <p:cNvSpPr txBox="1"/>
            <p:nvPr/>
          </p:nvSpPr>
          <p:spPr>
            <a:xfrm>
              <a:off x="2946" y="3472"/>
              <a:ext cx="1084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=0.310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90" name="Text Box 59"/>
            <p:cNvSpPr txBox="1"/>
            <p:nvPr/>
          </p:nvSpPr>
          <p:spPr>
            <a:xfrm>
              <a:off x="4415" y="3472"/>
              <a:ext cx="1084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=0.344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91" name="Text Box 60"/>
            <p:cNvSpPr txBox="1"/>
            <p:nvPr/>
          </p:nvSpPr>
          <p:spPr>
            <a:xfrm>
              <a:off x="580" y="3476"/>
              <a:ext cx="11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=UR/|Z|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0792" name="Object 61"/>
            <p:cNvGraphicFramePr>
              <a:graphicFrameLocks noChangeAspect="1"/>
            </p:cNvGraphicFramePr>
            <p:nvPr/>
          </p:nvGraphicFramePr>
          <p:xfrm>
            <a:off x="1031" y="2893"/>
            <a:ext cx="300" cy="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" name="" r:id="rId1" imgW="244475" imgH="340995" progId="Equation.3">
                    <p:embed/>
                  </p:oleObj>
                </mc:Choice>
                <mc:Fallback>
                  <p:oleObj name="" r:id="rId1" imgW="244475" imgH="340995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31" y="2893"/>
                          <a:ext cx="300" cy="4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726" name="Group 10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0768" name="Picture 108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69" name="Text Box 10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0727" name="Group 110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30766" name="Picture 111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67" name="Text Box 112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0728" name="Group 116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30764" name="Picture 117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65" name="Text Box 118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" name="Group 124"/>
          <p:cNvGrpSpPr/>
          <p:nvPr/>
        </p:nvGrpSpPr>
        <p:grpSpPr>
          <a:xfrm>
            <a:off x="1116013" y="620713"/>
            <a:ext cx="2492375" cy="2754312"/>
            <a:chOff x="839" y="343"/>
            <a:chExt cx="1570" cy="1735"/>
          </a:xfrm>
        </p:grpSpPr>
        <p:sp>
          <p:nvSpPr>
            <p:cNvPr id="30732" name="Text Box 6"/>
            <p:cNvSpPr txBox="1"/>
            <p:nvPr/>
          </p:nvSpPr>
          <p:spPr>
            <a:xfrm>
              <a:off x="1282" y="343"/>
              <a:ext cx="116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endParaRPr lang="zh-CN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33" name="Oval 77"/>
            <p:cNvSpPr/>
            <p:nvPr/>
          </p:nvSpPr>
          <p:spPr>
            <a:xfrm>
              <a:off x="839" y="152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734" name="Oval 78"/>
            <p:cNvSpPr/>
            <p:nvPr/>
          </p:nvSpPr>
          <p:spPr>
            <a:xfrm>
              <a:off x="839" y="107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735" name="Oval 79"/>
            <p:cNvSpPr/>
            <p:nvPr/>
          </p:nvSpPr>
          <p:spPr>
            <a:xfrm>
              <a:off x="839" y="57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736" name="Text Box 80"/>
            <p:cNvSpPr txBox="1"/>
            <p:nvPr/>
          </p:nvSpPr>
          <p:spPr>
            <a:xfrm>
              <a:off x="1157" y="436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0737" name="Text Box 81"/>
            <p:cNvSpPr txBox="1"/>
            <p:nvPr/>
          </p:nvSpPr>
          <p:spPr>
            <a:xfrm>
              <a:off x="1157" y="708"/>
              <a:ext cx="18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30738" name="Group 82"/>
            <p:cNvGrpSpPr/>
            <p:nvPr/>
          </p:nvGrpSpPr>
          <p:grpSpPr>
            <a:xfrm>
              <a:off x="2147" y="1500"/>
              <a:ext cx="262" cy="99"/>
              <a:chOff x="1351" y="3976"/>
              <a:chExt cx="174" cy="93"/>
            </a:xfrm>
          </p:grpSpPr>
          <p:sp>
            <p:nvSpPr>
              <p:cNvPr id="30762" name="Line 83"/>
              <p:cNvSpPr/>
              <p:nvPr/>
            </p:nvSpPr>
            <p:spPr>
              <a:xfrm>
                <a:off x="1351" y="3976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63" name="Line 84"/>
              <p:cNvSpPr/>
              <p:nvPr/>
            </p:nvSpPr>
            <p:spPr>
              <a:xfrm>
                <a:off x="1351" y="4068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739" name="Line 85"/>
            <p:cNvSpPr/>
            <p:nvPr/>
          </p:nvSpPr>
          <p:spPr>
            <a:xfrm>
              <a:off x="1023" y="486"/>
              <a:ext cx="125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0" name="Text Box 86"/>
            <p:cNvSpPr txBox="1"/>
            <p:nvPr/>
          </p:nvSpPr>
          <p:spPr>
            <a:xfrm>
              <a:off x="1157" y="935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0741" name="Text Box 87"/>
            <p:cNvSpPr txBox="1"/>
            <p:nvPr/>
          </p:nvSpPr>
          <p:spPr>
            <a:xfrm>
              <a:off x="1157" y="1161"/>
              <a:ext cx="18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0742" name="Text Box 88"/>
            <p:cNvSpPr txBox="1"/>
            <p:nvPr/>
          </p:nvSpPr>
          <p:spPr>
            <a:xfrm>
              <a:off x="1157" y="1388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0743" name="Line 89"/>
            <p:cNvSpPr/>
            <p:nvPr/>
          </p:nvSpPr>
          <p:spPr>
            <a:xfrm>
              <a:off x="1021" y="481"/>
              <a:ext cx="0" cy="158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4" name="Line 90"/>
            <p:cNvSpPr/>
            <p:nvPr/>
          </p:nvSpPr>
          <p:spPr>
            <a:xfrm>
              <a:off x="2291" y="481"/>
              <a:ext cx="0" cy="31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5" name="Line 91"/>
            <p:cNvSpPr/>
            <p:nvPr/>
          </p:nvSpPr>
          <p:spPr>
            <a:xfrm flipH="1">
              <a:off x="2278" y="1162"/>
              <a:ext cx="12" cy="3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6" name="Line 92"/>
            <p:cNvSpPr/>
            <p:nvPr/>
          </p:nvSpPr>
          <p:spPr>
            <a:xfrm>
              <a:off x="2278" y="1590"/>
              <a:ext cx="0" cy="48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7" name="Line 93"/>
            <p:cNvSpPr/>
            <p:nvPr/>
          </p:nvSpPr>
          <p:spPr>
            <a:xfrm flipV="1">
              <a:off x="2152" y="1368"/>
              <a:ext cx="257" cy="29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0748" name="Text Box 94"/>
            <p:cNvSpPr txBox="1"/>
            <p:nvPr/>
          </p:nvSpPr>
          <p:spPr>
            <a:xfrm>
              <a:off x="2064" y="845"/>
              <a:ext cx="2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49" name="Text Box 95"/>
            <p:cNvSpPr txBox="1"/>
            <p:nvPr/>
          </p:nvSpPr>
          <p:spPr>
            <a:xfrm>
              <a:off x="1928" y="1297"/>
              <a:ext cx="2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50" name="Text Box 96"/>
            <p:cNvSpPr txBox="1"/>
            <p:nvPr/>
          </p:nvSpPr>
          <p:spPr>
            <a:xfrm>
              <a:off x="1565" y="527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51" name="Text Box 97"/>
            <p:cNvSpPr txBox="1"/>
            <p:nvPr/>
          </p:nvSpPr>
          <p:spPr>
            <a:xfrm>
              <a:off x="1202" y="572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52" name="Text Box 98"/>
            <p:cNvSpPr txBox="1"/>
            <p:nvPr/>
          </p:nvSpPr>
          <p:spPr>
            <a:xfrm>
              <a:off x="1216" y="1071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53" name="Text Box 99"/>
            <p:cNvSpPr txBox="1"/>
            <p:nvPr/>
          </p:nvSpPr>
          <p:spPr>
            <a:xfrm>
              <a:off x="1202" y="1615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54" name="Line 100"/>
            <p:cNvSpPr/>
            <p:nvPr/>
          </p:nvSpPr>
          <p:spPr>
            <a:xfrm>
              <a:off x="1028" y="2070"/>
              <a:ext cx="125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5" name="Text Box 101"/>
            <p:cNvSpPr txBox="1"/>
            <p:nvPr/>
          </p:nvSpPr>
          <p:spPr>
            <a:xfrm>
              <a:off x="1157" y="1751"/>
              <a:ext cx="18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0756" name="Rectangle 102"/>
            <p:cNvSpPr/>
            <p:nvPr/>
          </p:nvSpPr>
          <p:spPr>
            <a:xfrm>
              <a:off x="1565" y="43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0757" name="Group 119"/>
            <p:cNvGrpSpPr/>
            <p:nvPr/>
          </p:nvGrpSpPr>
          <p:grpSpPr>
            <a:xfrm rot="10800000">
              <a:off x="2281" y="808"/>
              <a:ext cx="90" cy="363"/>
              <a:chOff x="1565" y="2614"/>
              <a:chExt cx="90" cy="486"/>
            </a:xfrm>
          </p:grpSpPr>
          <p:sp>
            <p:nvSpPr>
              <p:cNvPr id="30758" name="Arc 120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59" name="Arc 121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60" name="Arc 122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0761" name="Arc 123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17533" name="Text Box 125"/>
          <p:cNvSpPr txBox="1"/>
          <p:nvPr/>
        </p:nvSpPr>
        <p:spPr>
          <a:xfrm>
            <a:off x="5003800" y="908050"/>
            <a:ext cx="3814763" cy="604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20000"/>
              </a:lnSpc>
            </a:pP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L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=250</a:t>
            </a:r>
            <a:r>
              <a:rPr lang="en-US" altLang="zh-CN" sz="2800" b="0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m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H, 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=20</a:t>
            </a:r>
            <a:r>
              <a:rPr lang="en-US" altLang="zh-CN" sz="2800" b="0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W,</a:t>
            </a:r>
            <a:endParaRPr lang="en-US" altLang="zh-CN" sz="28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534" name="Text Box 126"/>
          <p:cNvSpPr txBox="1"/>
          <p:nvPr/>
        </p:nvSpPr>
        <p:spPr>
          <a:xfrm>
            <a:off x="611188" y="3500438"/>
            <a:ext cx="576262" cy="519112"/>
          </a:xfrm>
          <a:prstGeom prst="rect">
            <a:avLst/>
          </a:prstGeom>
          <a:solidFill>
            <a:srgbClr val="990033"/>
          </a:solidFill>
          <a:ln w="19050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zh-CN" altLang="en-US" sz="2800" b="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2000"/>
                                        <p:tgtEl>
                                          <p:spTgt spid="17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500"/>
                            </p:stCondLst>
                            <p:childTnLst>
                              <p:par>
                                <p:cTn id="2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20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  <p:bldP spid="17411" grpId="0"/>
      <p:bldP spid="17412" grpId="0"/>
      <p:bldP spid="17533" grpId="0"/>
      <p:bldP spid="1753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Text Box 3"/>
          <p:cNvSpPr txBox="1"/>
          <p:nvPr/>
        </p:nvSpPr>
        <p:spPr>
          <a:xfrm>
            <a:off x="3228975" y="1057275"/>
            <a:ext cx="12652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=10</a:t>
            </a:r>
            <a:endParaRPr lang="en-US" altLang="zh-CN" sz="28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7" name="Text Box 4"/>
          <p:cNvSpPr txBox="1"/>
          <p:nvPr/>
        </p:nvSpPr>
        <p:spPr>
          <a:xfrm>
            <a:off x="4572000" y="1036638"/>
            <a:ext cx="172085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=0.310</a:t>
            </a:r>
            <a:endParaRPr lang="en-US" altLang="zh-CN" sz="28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8" name="Text Box 5"/>
          <p:cNvSpPr txBox="1"/>
          <p:nvPr/>
        </p:nvSpPr>
        <p:spPr>
          <a:xfrm>
            <a:off x="6516688" y="1036638"/>
            <a:ext cx="172085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=0.344</a:t>
            </a:r>
            <a:endParaRPr lang="en-US" altLang="zh-CN" sz="28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9" name="Text Box 6"/>
          <p:cNvSpPr txBox="1"/>
          <p:nvPr/>
        </p:nvSpPr>
        <p:spPr>
          <a:xfrm>
            <a:off x="611188" y="1036638"/>
            <a:ext cx="25860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=UR/|Z| 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b="0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m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A)</a:t>
            </a:r>
            <a:endParaRPr lang="en-US" altLang="zh-CN" sz="2800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6391" name="Object 7"/>
          <p:cNvGraphicFramePr>
            <a:graphicFrameLocks noChangeAspect="1"/>
          </p:cNvGraphicFramePr>
          <p:nvPr/>
        </p:nvGraphicFramePr>
        <p:xfrm>
          <a:off x="4062413" y="1895475"/>
          <a:ext cx="16637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1" imgW="656590" imgH="340995" progId="Equation.DSMT4">
                  <p:embed/>
                </p:oleObj>
              </mc:Choice>
              <mc:Fallback>
                <p:oleObj name="" r:id="rId1" imgW="656590" imgH="340995" progId="Equation.DSMT4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062413" y="1895475"/>
                        <a:ext cx="1663700" cy="873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Text Box 9"/>
          <p:cNvSpPr txBox="1"/>
          <p:nvPr/>
        </p:nvSpPr>
        <p:spPr>
          <a:xfrm>
            <a:off x="3924300" y="2981325"/>
            <a:ext cx="45243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楷体_GB2312" pitchFamily="49" charset="-122"/>
              </a:rPr>
              <a:t>收到北京台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820kHz</a:t>
            </a:r>
            <a:r>
              <a:rPr lang="zh-CN" altLang="en-US" sz="2800" dirty="0">
                <a:latin typeface="楷体_GB2312" pitchFamily="49" charset="-122"/>
              </a:rPr>
              <a:t>的节目。</a:t>
            </a:r>
            <a:endParaRPr lang="zh-CN" altLang="en-US" sz="2800" dirty="0">
              <a:latin typeface="楷体_GB2312" pitchFamily="49" charset="-122"/>
            </a:endParaRPr>
          </a:p>
        </p:txBody>
      </p:sp>
      <p:grpSp>
        <p:nvGrpSpPr>
          <p:cNvPr id="2" name="Group 10"/>
          <p:cNvGrpSpPr/>
          <p:nvPr/>
        </p:nvGrpSpPr>
        <p:grpSpPr>
          <a:xfrm>
            <a:off x="611188" y="2405063"/>
            <a:ext cx="4794250" cy="3184525"/>
            <a:chOff x="288" y="556"/>
            <a:chExt cx="2735" cy="1738"/>
          </a:xfrm>
        </p:grpSpPr>
        <p:sp>
          <p:nvSpPr>
            <p:cNvPr id="31763" name="Line 11"/>
            <p:cNvSpPr/>
            <p:nvPr/>
          </p:nvSpPr>
          <p:spPr>
            <a:xfrm>
              <a:off x="528" y="2028"/>
              <a:ext cx="1920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764" name="Line 12"/>
            <p:cNvSpPr/>
            <p:nvPr/>
          </p:nvSpPr>
          <p:spPr>
            <a:xfrm flipV="1">
              <a:off x="672" y="684"/>
              <a:ext cx="0" cy="161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1765" name="Freeform 13"/>
            <p:cNvSpPr/>
            <p:nvPr/>
          </p:nvSpPr>
          <p:spPr>
            <a:xfrm>
              <a:off x="678" y="764"/>
              <a:ext cx="1722" cy="1258"/>
            </a:xfrm>
            <a:custGeom>
              <a:avLst/>
              <a:gdLst>
                <a:gd name="txL" fmla="*/ 0 w 1722"/>
                <a:gd name="txT" fmla="*/ 0 h 1258"/>
                <a:gd name="txR" fmla="*/ 1722 w 1722"/>
                <a:gd name="txB" fmla="*/ 1258 h 1258"/>
              </a:gdLst>
              <a:ahLst/>
              <a:cxnLst>
                <a:cxn ang="0">
                  <a:pos x="0" y="1258"/>
                </a:cxn>
                <a:cxn ang="0">
                  <a:pos x="402" y="1162"/>
                </a:cxn>
                <a:cxn ang="0">
                  <a:pos x="570" y="1042"/>
                </a:cxn>
                <a:cxn ang="0">
                  <a:pos x="666" y="880"/>
                </a:cxn>
                <a:cxn ang="0">
                  <a:pos x="714" y="592"/>
                </a:cxn>
                <a:cxn ang="0">
                  <a:pos x="774" y="268"/>
                </a:cxn>
                <a:cxn ang="0">
                  <a:pos x="810" y="112"/>
                </a:cxn>
                <a:cxn ang="0">
                  <a:pos x="858" y="16"/>
                </a:cxn>
                <a:cxn ang="0">
                  <a:pos x="954" y="16"/>
                </a:cxn>
                <a:cxn ang="0">
                  <a:pos x="1002" y="112"/>
                </a:cxn>
                <a:cxn ang="0">
                  <a:pos x="1050" y="364"/>
                </a:cxn>
                <a:cxn ang="0">
                  <a:pos x="1098" y="736"/>
                </a:cxn>
                <a:cxn ang="0">
                  <a:pos x="1146" y="928"/>
                </a:cxn>
                <a:cxn ang="0">
                  <a:pos x="1242" y="1072"/>
                </a:cxn>
                <a:cxn ang="0">
                  <a:pos x="1338" y="1120"/>
                </a:cxn>
                <a:cxn ang="0">
                  <a:pos x="1530" y="1168"/>
                </a:cxn>
                <a:cxn ang="0">
                  <a:pos x="1722" y="1168"/>
                </a:cxn>
              </a:cxnLst>
              <a:rect l="txL" t="txT" r="txR" b="txB"/>
              <a:pathLst>
                <a:path w="1722" h="1258">
                  <a:moveTo>
                    <a:pt x="0" y="1258"/>
                  </a:moveTo>
                  <a:cubicBezTo>
                    <a:pt x="67" y="1242"/>
                    <a:pt x="307" y="1198"/>
                    <a:pt x="402" y="1162"/>
                  </a:cubicBezTo>
                  <a:cubicBezTo>
                    <a:pt x="497" y="1126"/>
                    <a:pt x="526" y="1089"/>
                    <a:pt x="570" y="1042"/>
                  </a:cubicBezTo>
                  <a:cubicBezTo>
                    <a:pt x="614" y="995"/>
                    <a:pt x="642" y="955"/>
                    <a:pt x="666" y="880"/>
                  </a:cubicBezTo>
                  <a:cubicBezTo>
                    <a:pt x="690" y="805"/>
                    <a:pt x="696" y="694"/>
                    <a:pt x="714" y="592"/>
                  </a:cubicBezTo>
                  <a:cubicBezTo>
                    <a:pt x="732" y="490"/>
                    <a:pt x="758" y="348"/>
                    <a:pt x="774" y="268"/>
                  </a:cubicBezTo>
                  <a:cubicBezTo>
                    <a:pt x="790" y="188"/>
                    <a:pt x="796" y="154"/>
                    <a:pt x="810" y="112"/>
                  </a:cubicBezTo>
                  <a:cubicBezTo>
                    <a:pt x="824" y="70"/>
                    <a:pt x="834" y="32"/>
                    <a:pt x="858" y="16"/>
                  </a:cubicBezTo>
                  <a:cubicBezTo>
                    <a:pt x="882" y="0"/>
                    <a:pt x="930" y="0"/>
                    <a:pt x="954" y="16"/>
                  </a:cubicBezTo>
                  <a:cubicBezTo>
                    <a:pt x="978" y="32"/>
                    <a:pt x="986" y="54"/>
                    <a:pt x="1002" y="112"/>
                  </a:cubicBezTo>
                  <a:cubicBezTo>
                    <a:pt x="1018" y="170"/>
                    <a:pt x="1034" y="260"/>
                    <a:pt x="1050" y="364"/>
                  </a:cubicBezTo>
                  <a:cubicBezTo>
                    <a:pt x="1066" y="468"/>
                    <a:pt x="1082" y="642"/>
                    <a:pt x="1098" y="736"/>
                  </a:cubicBezTo>
                  <a:cubicBezTo>
                    <a:pt x="1114" y="830"/>
                    <a:pt x="1122" y="872"/>
                    <a:pt x="1146" y="928"/>
                  </a:cubicBezTo>
                  <a:cubicBezTo>
                    <a:pt x="1170" y="984"/>
                    <a:pt x="1210" y="1040"/>
                    <a:pt x="1242" y="1072"/>
                  </a:cubicBezTo>
                  <a:cubicBezTo>
                    <a:pt x="1274" y="1104"/>
                    <a:pt x="1290" y="1104"/>
                    <a:pt x="1338" y="1120"/>
                  </a:cubicBezTo>
                  <a:cubicBezTo>
                    <a:pt x="1386" y="1136"/>
                    <a:pt x="1466" y="1160"/>
                    <a:pt x="1530" y="1168"/>
                  </a:cubicBezTo>
                  <a:cubicBezTo>
                    <a:pt x="1594" y="1176"/>
                    <a:pt x="1658" y="1172"/>
                    <a:pt x="1722" y="1168"/>
                  </a:cubicBezTo>
                </a:path>
              </a:pathLst>
            </a:custGeom>
            <a:noFill/>
            <a:ln w="38100" cap="flat" cmpd="sng">
              <a:solidFill>
                <a:srgbClr val="FF3300">
                  <a:alpha val="100000"/>
                </a:srgbClr>
              </a:solidFill>
              <a:prstDash val="sysDot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766" name="Line 14"/>
            <p:cNvSpPr/>
            <p:nvPr/>
          </p:nvSpPr>
          <p:spPr>
            <a:xfrm>
              <a:off x="1584" y="780"/>
              <a:ext cx="0" cy="124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1767" name="Line 15"/>
            <p:cNvSpPr/>
            <p:nvPr/>
          </p:nvSpPr>
          <p:spPr>
            <a:xfrm>
              <a:off x="1248" y="1788"/>
              <a:ext cx="0" cy="24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31768" name="Line 16"/>
            <p:cNvSpPr/>
            <p:nvPr/>
          </p:nvSpPr>
          <p:spPr>
            <a:xfrm>
              <a:off x="2148" y="1932"/>
              <a:ext cx="0" cy="96"/>
            </a:xfrm>
            <a:prstGeom prst="line">
              <a:avLst/>
            </a:prstGeom>
            <a:ln w="28575" cap="rnd" cmpd="sng">
              <a:solidFill>
                <a:schemeClr val="bg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31769" name="Text Box 17"/>
            <p:cNvSpPr txBox="1"/>
            <p:nvPr/>
          </p:nvSpPr>
          <p:spPr>
            <a:xfrm>
              <a:off x="1392" y="1996"/>
              <a:ext cx="409" cy="2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820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0" name="Text Box 18"/>
            <p:cNvSpPr txBox="1"/>
            <p:nvPr/>
          </p:nvSpPr>
          <p:spPr>
            <a:xfrm>
              <a:off x="1046" y="1998"/>
              <a:ext cx="409" cy="2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640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1" name="Text Box 19"/>
            <p:cNvSpPr txBox="1"/>
            <p:nvPr/>
          </p:nvSpPr>
          <p:spPr>
            <a:xfrm>
              <a:off x="1884" y="1986"/>
              <a:ext cx="566" cy="2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1 026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2" name="Text Box 20"/>
            <p:cNvSpPr txBox="1"/>
            <p:nvPr/>
          </p:nvSpPr>
          <p:spPr>
            <a:xfrm>
              <a:off x="288" y="556"/>
              <a:ext cx="579" cy="2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 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3" name="Text Box 21"/>
            <p:cNvSpPr txBox="1"/>
            <p:nvPr/>
          </p:nvSpPr>
          <p:spPr>
            <a:xfrm>
              <a:off x="2367" y="1974"/>
              <a:ext cx="656" cy="2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f /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kHz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74" name="Text Box 22"/>
            <p:cNvSpPr txBox="1"/>
            <p:nvPr/>
          </p:nvSpPr>
          <p:spPr>
            <a:xfrm>
              <a:off x="484" y="2052"/>
              <a:ext cx="210" cy="2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6407" name="Object 23"/>
          <p:cNvGraphicFramePr>
            <a:graphicFrameLocks noChangeAspect="1"/>
          </p:cNvGraphicFramePr>
          <p:nvPr/>
        </p:nvGraphicFramePr>
        <p:xfrm>
          <a:off x="6415088" y="1890713"/>
          <a:ext cx="170180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3" imgW="721360" imgH="367030" progId="Equation.DSMT4">
                  <p:embed/>
                </p:oleObj>
              </mc:Choice>
              <mc:Fallback>
                <p:oleObj name="" r:id="rId3" imgW="721360" imgH="367030" progId="Equation.DSMT4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15088" y="1890713"/>
                        <a:ext cx="1701800" cy="862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54" name="Group 3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1761" name="Picture 39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62" name="Text Box 4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1755" name="Group 41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31759" name="Picture 42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60" name="Text Box 43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1756" name="Group 47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31757" name="Picture 48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1758" name="Text Box 49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Text Box 2"/>
          <p:cNvSpPr txBox="1"/>
          <p:nvPr/>
        </p:nvSpPr>
        <p:spPr>
          <a:xfrm>
            <a:off x="539750" y="620713"/>
            <a:ext cx="1728788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3-2 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829" name="Text Box 37"/>
          <p:cNvSpPr txBox="1"/>
          <p:nvPr/>
        </p:nvSpPr>
        <p:spPr>
          <a:xfrm>
            <a:off x="1763713" y="620713"/>
            <a:ext cx="7056437" cy="16303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</a:rPr>
              <a:t>一信号源与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R</a:t>
            </a:r>
            <a:r>
              <a:rPr lang="zh-CN" altLang="en-US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、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L</a:t>
            </a:r>
            <a:r>
              <a:rPr lang="zh-CN" altLang="en-US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、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C</a:t>
            </a:r>
            <a:r>
              <a:rPr lang="zh-CN" altLang="en-US" sz="2800" dirty="0">
                <a:latin typeface="Arial" panose="020B0604020202020204" pitchFamily="34" charset="0"/>
              </a:rPr>
              <a:t>电路串联，要求</a:t>
            </a:r>
            <a:r>
              <a:rPr lang="zh-CN" altLang="en-US" sz="2800" dirty="0">
                <a:latin typeface="Arial" panose="020B0604020202020204" pitchFamily="34" charset="0"/>
                <a:ea typeface="仿宋_GB2312" pitchFamily="49" charset="-122"/>
              </a:rPr>
              <a:t>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f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0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=10</a:t>
            </a:r>
            <a:r>
              <a:rPr lang="en-US" altLang="zh-CN" sz="28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4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Hz</a:t>
            </a:r>
            <a:r>
              <a:rPr lang="zh-CN" altLang="en-US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，</a:t>
            </a:r>
            <a:r>
              <a:rPr lang="zh-CN" altLang="en-US" sz="2800" b="0" dirty="0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△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f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=100Hz</a:t>
            </a:r>
            <a:r>
              <a:rPr lang="zh-CN" altLang="en-US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，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R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rPr>
              <a:t>=15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</a:t>
            </a:r>
            <a:r>
              <a:rPr lang="zh-CN" altLang="en-US" sz="2800" dirty="0"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请设计一个线性电路。</a:t>
            </a:r>
            <a:endParaRPr lang="zh-CN" altLang="en-US" sz="28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3830" name="Text Box 38"/>
          <p:cNvSpPr txBox="1"/>
          <p:nvPr/>
        </p:nvSpPr>
        <p:spPr>
          <a:xfrm>
            <a:off x="539750" y="2349500"/>
            <a:ext cx="620713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3831" name="Object 39"/>
          <p:cNvGraphicFramePr>
            <a:graphicFrameLocks noChangeAspect="1"/>
          </p:cNvGraphicFramePr>
          <p:nvPr/>
        </p:nvGraphicFramePr>
        <p:xfrm>
          <a:off x="1403350" y="2276475"/>
          <a:ext cx="41275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1" imgW="1622425" imgH="418465" progId="Equation.3">
                  <p:embed/>
                </p:oleObj>
              </mc:Choice>
              <mc:Fallback>
                <p:oleObj name="" r:id="rId1" imgW="1622425" imgH="418465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2276475"/>
                        <a:ext cx="4127500" cy="1063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2" name="Object 40"/>
          <p:cNvGraphicFramePr>
            <a:graphicFrameLocks noChangeAspect="1"/>
          </p:cNvGraphicFramePr>
          <p:nvPr/>
        </p:nvGraphicFramePr>
        <p:xfrm>
          <a:off x="1116013" y="3573463"/>
          <a:ext cx="5143500" cy="110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3" imgW="1945005" imgH="418465" progId="Equation.3">
                  <p:embed/>
                </p:oleObj>
              </mc:Choice>
              <mc:Fallback>
                <p:oleObj name="" r:id="rId3" imgW="1945005" imgH="418465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3573463"/>
                        <a:ext cx="5143500" cy="1106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33" name="Object 41"/>
          <p:cNvGraphicFramePr>
            <a:graphicFrameLocks noChangeAspect="1"/>
          </p:cNvGraphicFramePr>
          <p:nvPr/>
        </p:nvGraphicFramePr>
        <p:xfrm>
          <a:off x="1085850" y="4868863"/>
          <a:ext cx="342265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5" imgW="1236345" imgH="418465" progId="Equation.3">
                  <p:embed/>
                </p:oleObj>
              </mc:Choice>
              <mc:Fallback>
                <p:oleObj name="" r:id="rId5" imgW="1236345" imgH="418465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85850" y="4868863"/>
                        <a:ext cx="3422650" cy="1104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776" name="Group 81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2808" name="Picture 82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809" name="Text Box 83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2777" name="Group 84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32806" name="Picture 85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807" name="Text Box 86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2778" name="Group 90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32804" name="Picture 91" descr="7890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2805" name="Text Box 92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98"/>
          <p:cNvGrpSpPr/>
          <p:nvPr/>
        </p:nvGrpSpPr>
        <p:grpSpPr>
          <a:xfrm>
            <a:off x="6084888" y="2032000"/>
            <a:ext cx="2482850" cy="2333625"/>
            <a:chOff x="3833" y="1280"/>
            <a:chExt cx="1564" cy="1470"/>
          </a:xfrm>
        </p:grpSpPr>
        <p:sp>
          <p:nvSpPr>
            <p:cNvPr id="32780" name="Oval 58"/>
            <p:cNvSpPr/>
            <p:nvPr/>
          </p:nvSpPr>
          <p:spPr>
            <a:xfrm>
              <a:off x="3833" y="1570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781" name="Text Box 59"/>
            <p:cNvSpPr txBox="1"/>
            <p:nvPr/>
          </p:nvSpPr>
          <p:spPr>
            <a:xfrm>
              <a:off x="4059" y="1298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782" name="Text Box 60"/>
            <p:cNvSpPr txBox="1"/>
            <p:nvPr/>
          </p:nvSpPr>
          <p:spPr>
            <a:xfrm>
              <a:off x="4105" y="1751"/>
              <a:ext cx="18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2783" name="Line 61"/>
            <p:cNvSpPr/>
            <p:nvPr/>
          </p:nvSpPr>
          <p:spPr>
            <a:xfrm>
              <a:off x="4014" y="1343"/>
              <a:ext cx="127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4" name="Line 62"/>
            <p:cNvSpPr/>
            <p:nvPr/>
          </p:nvSpPr>
          <p:spPr>
            <a:xfrm flipH="1">
              <a:off x="4014" y="1343"/>
              <a:ext cx="2" cy="140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5" name="Line 63"/>
            <p:cNvSpPr/>
            <p:nvPr/>
          </p:nvSpPr>
          <p:spPr>
            <a:xfrm>
              <a:off x="5284" y="2024"/>
              <a:ext cx="0" cy="30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6" name="Line 64"/>
            <p:cNvSpPr/>
            <p:nvPr/>
          </p:nvSpPr>
          <p:spPr>
            <a:xfrm>
              <a:off x="5284" y="2432"/>
              <a:ext cx="0" cy="31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7" name="Text Box 65"/>
            <p:cNvSpPr txBox="1"/>
            <p:nvPr/>
          </p:nvSpPr>
          <p:spPr>
            <a:xfrm>
              <a:off x="5057" y="1661"/>
              <a:ext cx="2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88" name="Text Box 66"/>
            <p:cNvSpPr txBox="1"/>
            <p:nvPr/>
          </p:nvSpPr>
          <p:spPr>
            <a:xfrm>
              <a:off x="4876" y="2205"/>
              <a:ext cx="2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89" name="Text Box 67"/>
            <p:cNvSpPr txBox="1"/>
            <p:nvPr/>
          </p:nvSpPr>
          <p:spPr>
            <a:xfrm>
              <a:off x="4513" y="1344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90" name="Text Box 68"/>
            <p:cNvSpPr txBox="1"/>
            <p:nvPr/>
          </p:nvSpPr>
          <p:spPr>
            <a:xfrm>
              <a:off x="4195" y="1570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791" name="Line 69"/>
            <p:cNvSpPr/>
            <p:nvPr/>
          </p:nvSpPr>
          <p:spPr>
            <a:xfrm>
              <a:off x="4014" y="2749"/>
              <a:ext cx="125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92" name="Text Box 70"/>
            <p:cNvSpPr txBox="1"/>
            <p:nvPr/>
          </p:nvSpPr>
          <p:spPr>
            <a:xfrm>
              <a:off x="4014" y="2160"/>
              <a:ext cx="5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10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grpSp>
          <p:nvGrpSpPr>
            <p:cNvPr id="32793" name="Group 75"/>
            <p:cNvGrpSpPr/>
            <p:nvPr/>
          </p:nvGrpSpPr>
          <p:grpSpPr>
            <a:xfrm>
              <a:off x="5157" y="2341"/>
              <a:ext cx="240" cy="93"/>
              <a:chOff x="3787" y="2478"/>
              <a:chExt cx="240" cy="93"/>
            </a:xfrm>
          </p:grpSpPr>
          <p:sp>
            <p:nvSpPr>
              <p:cNvPr id="32802" name="Line 76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03" name="Line 77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2794" name="Rectangle 78"/>
            <p:cNvSpPr/>
            <p:nvPr/>
          </p:nvSpPr>
          <p:spPr>
            <a:xfrm>
              <a:off x="4468" y="128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795" name="Rectangle 79"/>
            <p:cNvSpPr/>
            <p:nvPr/>
          </p:nvSpPr>
          <p:spPr>
            <a:xfrm>
              <a:off x="3951" y="21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2796" name="Line 80"/>
            <p:cNvSpPr/>
            <p:nvPr/>
          </p:nvSpPr>
          <p:spPr>
            <a:xfrm>
              <a:off x="5284" y="1343"/>
              <a:ext cx="0" cy="31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2797" name="Group 93"/>
            <p:cNvGrpSpPr/>
            <p:nvPr/>
          </p:nvGrpSpPr>
          <p:grpSpPr>
            <a:xfrm rot="10800000">
              <a:off x="5284" y="1661"/>
              <a:ext cx="90" cy="363"/>
              <a:chOff x="1565" y="2614"/>
              <a:chExt cx="90" cy="486"/>
            </a:xfrm>
          </p:grpSpPr>
          <p:sp>
            <p:nvSpPr>
              <p:cNvPr id="32798" name="Arc 94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2799" name="Arc 95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2800" name="Arc 96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2801" name="Arc 97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2000"/>
                                        <p:tgtEl>
                                          <p:spTgt spid="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38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38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3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3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2000"/>
                                        <p:tgtEl>
                                          <p:spTgt spid="33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2000"/>
                                        <p:tgtEl>
                                          <p:spTgt spid="33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2000"/>
                                        <p:tgtEl>
                                          <p:spTgt spid="33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/>
      <p:bldP spid="33829" grpId="0"/>
      <p:bldP spid="3383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ext Box 2"/>
          <p:cNvSpPr txBox="1"/>
          <p:nvPr/>
        </p:nvSpPr>
        <p:spPr>
          <a:xfrm>
            <a:off x="539750" y="549275"/>
            <a:ext cx="82089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buAutoNum type="circleNumDbPlain" startAt="2"/>
            </a:pPr>
            <a:r>
              <a:rPr lang="en-US" altLang="zh-CN" sz="2800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以</a:t>
            </a:r>
            <a:r>
              <a:rPr lang="en-US" altLang="zh-CN" sz="2800" b="0" i="1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i="1" baseline="-25000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800" b="0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b="0" i="1" dirty="0">
                <a:solidFill>
                  <a:srgbClr val="FF99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 </a:t>
            </a:r>
            <a:r>
              <a:rPr lang="en-US" altLang="zh-CN" sz="2800" b="0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800" dirty="0">
                <a:solidFill>
                  <a:srgbClr val="FF9900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 sz="2800" b="0" i="1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i="1" baseline="-25000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800" b="0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b="0" i="1" dirty="0">
                <a:solidFill>
                  <a:srgbClr val="FF99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 </a:t>
            </a:r>
            <a:r>
              <a:rPr lang="en-US" altLang="zh-CN" sz="2800" b="0" dirty="0">
                <a:solidFill>
                  <a:srgbClr val="FF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800" dirty="0">
                <a:solidFill>
                  <a:srgbClr val="FF9900"/>
                </a:solidFill>
                <a:latin typeface="Times New Roman" panose="02020603050405020304" pitchFamily="18" charset="0"/>
              </a:rPr>
              <a:t>为输出的</a:t>
            </a:r>
            <a:r>
              <a:rPr lang="en-US" altLang="zh-CN" sz="2800" b="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8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el-GR" altLang="zh-CN" sz="2800" b="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ω</a:t>
            </a:r>
            <a:r>
              <a:rPr lang="en-US" altLang="zh-CN" sz="2800" b="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0" dirty="0">
                <a:solidFill>
                  <a:srgbClr val="FF99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dirty="0">
                <a:solidFill>
                  <a:srgbClr val="FF9900"/>
                </a:solidFill>
                <a:latin typeface="Times New Roman" panose="02020603050405020304" pitchFamily="18" charset="0"/>
              </a:rPr>
              <a:t>频率特性</a:t>
            </a:r>
            <a:endParaRPr lang="zh-CN" altLang="en-US" sz="28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1030288" y="3860800"/>
          <a:ext cx="7478712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1" imgW="3007360" imgH="534670" progId="Equation.3">
                  <p:embed/>
                </p:oleObj>
              </mc:Choice>
              <mc:Fallback>
                <p:oleObj name="" r:id="rId1" imgW="3007360" imgH="534670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30288" y="3860800"/>
                        <a:ext cx="7478712" cy="1336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1187450" y="1125538"/>
          <a:ext cx="6391275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3" imgW="2626995" imgH="534670" progId="Equation.3">
                  <p:embed/>
                </p:oleObj>
              </mc:Choice>
              <mc:Fallback>
                <p:oleObj name="" r:id="rId3" imgW="2626995" imgH="534670" progId="Equation.3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1125538"/>
                        <a:ext cx="6391275" cy="1301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00" name="Object 40"/>
          <p:cNvGraphicFramePr>
            <a:graphicFrameLocks noChangeAspect="1"/>
          </p:cNvGraphicFramePr>
          <p:nvPr/>
        </p:nvGraphicFramePr>
        <p:xfrm>
          <a:off x="1116013" y="2276475"/>
          <a:ext cx="4016375" cy="150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5" imgW="1654810" imgH="624840" progId="Equation.3">
                  <p:embed/>
                </p:oleObj>
              </mc:Choice>
              <mc:Fallback>
                <p:oleObj name="" r:id="rId5" imgW="1654810" imgH="624840" progId="Equation.3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2276475"/>
                        <a:ext cx="4016375" cy="1509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01" name="Object 41"/>
          <p:cNvGraphicFramePr>
            <a:graphicFrameLocks noChangeAspect="1"/>
          </p:cNvGraphicFramePr>
          <p:nvPr/>
        </p:nvGraphicFramePr>
        <p:xfrm>
          <a:off x="1042988" y="5084763"/>
          <a:ext cx="4032250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7" imgW="1622425" imgH="431165" progId="Equation.3">
                  <p:embed/>
                </p:oleObj>
              </mc:Choice>
              <mc:Fallback>
                <p:oleObj name="" r:id="rId7" imgW="1622425" imgH="431165" progId="Equation.3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5084763"/>
                        <a:ext cx="4032250" cy="1068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799" name="Group 42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3806" name="Picture 43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07" name="Text Box 44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3800" name="Group 45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33804" name="Picture 46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05" name="Text Box 47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3801" name="Group 51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33802" name="Picture 52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3803" name="Text Box 53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10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1000"/>
                                        <p:tgtEl>
                                          <p:spTgt spid="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10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1000"/>
                                        <p:tgtEl>
                                          <p:spTgt spid="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4755" name="Object 3"/>
          <p:cNvGraphicFramePr>
            <a:graphicFrameLocks noChangeAspect="1"/>
          </p:cNvGraphicFramePr>
          <p:nvPr/>
        </p:nvGraphicFramePr>
        <p:xfrm>
          <a:off x="2182813" y="1412875"/>
          <a:ext cx="17637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1" imgW="708025" imgH="206375" progId="Equation.3">
                  <p:embed/>
                </p:oleObj>
              </mc:Choice>
              <mc:Fallback>
                <p:oleObj name="" r:id="rId1" imgW="708025" imgH="206375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82813" y="1412875"/>
                        <a:ext cx="1763712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3" name="Object 11"/>
          <p:cNvGraphicFramePr>
            <a:graphicFrameLocks noChangeAspect="1"/>
          </p:cNvGraphicFramePr>
          <p:nvPr/>
        </p:nvGraphicFramePr>
        <p:xfrm>
          <a:off x="611188" y="1412875"/>
          <a:ext cx="1042987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3" imgW="431165" imgH="206375" progId="Equation.3">
                  <p:embed/>
                </p:oleObj>
              </mc:Choice>
              <mc:Fallback>
                <p:oleObj name="" r:id="rId3" imgW="431165" imgH="206375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1412875"/>
                        <a:ext cx="1042987" cy="493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4" name="Object 12"/>
          <p:cNvGraphicFramePr>
            <a:graphicFrameLocks noChangeAspect="1"/>
          </p:cNvGraphicFramePr>
          <p:nvPr/>
        </p:nvGraphicFramePr>
        <p:xfrm>
          <a:off x="3322638" y="2205038"/>
          <a:ext cx="5235575" cy="147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5" imgW="2208530" imgH="624840" progId="Equation.3">
                  <p:embed/>
                </p:oleObj>
              </mc:Choice>
              <mc:Fallback>
                <p:oleObj name="" r:id="rId5" imgW="2208530" imgH="624840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322638" y="2205038"/>
                        <a:ext cx="5235575" cy="1474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8"/>
          <p:cNvGrpSpPr/>
          <p:nvPr/>
        </p:nvGrpSpPr>
        <p:grpSpPr>
          <a:xfrm>
            <a:off x="250825" y="549275"/>
            <a:ext cx="8280400" cy="915988"/>
            <a:chOff x="113" y="210"/>
            <a:chExt cx="5216" cy="577"/>
          </a:xfrm>
        </p:grpSpPr>
        <p:graphicFrame>
          <p:nvGraphicFramePr>
            <p:cNvPr id="34840" name="Object 4"/>
            <p:cNvGraphicFramePr>
              <a:graphicFrameLocks noChangeAspect="1"/>
            </p:cNvGraphicFramePr>
            <p:nvPr/>
          </p:nvGraphicFramePr>
          <p:xfrm>
            <a:off x="3016" y="210"/>
            <a:ext cx="2313" cy="5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" name="" r:id="rId7" imgW="1629410" imgH="405765" progId="Equation.3">
                    <p:embed/>
                  </p:oleObj>
                </mc:Choice>
                <mc:Fallback>
                  <p:oleObj name="" r:id="rId7" imgW="1629410" imgH="405765" progId="Equation.3">
                    <p:embed/>
                    <p:pic>
                      <p:nvPicPr>
                        <p:cNvPr id="0" name="图片 3178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16" y="210"/>
                          <a:ext cx="2313" cy="5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1" name="Text Box 14"/>
            <p:cNvSpPr txBox="1"/>
            <p:nvPr/>
          </p:nvSpPr>
          <p:spPr>
            <a:xfrm>
              <a:off x="113" y="300"/>
              <a:ext cx="517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342900" indent="-342900" eaLnBrk="1" hangingPunct="1"/>
              <a:r>
                <a:rPr lang="en-US" altLang="zh-CN" sz="2800" b="0" i="1" dirty="0">
                  <a:solidFill>
                    <a:srgbClr val="FF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r>
                <a:rPr lang="en-US" altLang="zh-CN" sz="2800" b="0" i="1" baseline="-25000" dirty="0">
                  <a:solidFill>
                    <a:srgbClr val="FF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sz="2800" b="0" dirty="0">
                  <a:solidFill>
                    <a:srgbClr val="FF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800" b="0" i="1" dirty="0">
                  <a:solidFill>
                    <a:srgbClr val="FF9900"/>
                  </a:solidFill>
                  <a:latin typeface="Symbol" panose="05050102010706020507" pitchFamily="18" charset="2"/>
                  <a:ea typeface="宋体" panose="02010600030101010101" pitchFamily="2" charset="-122"/>
                  <a:sym typeface="Symbol" panose="05050102010706020507" pitchFamily="18" charset="2"/>
                </a:rPr>
                <a:t></a:t>
              </a:r>
              <a:r>
                <a:rPr lang="en-US" altLang="zh-CN" sz="2800" b="0" i="1" dirty="0">
                  <a:solidFill>
                    <a:srgbClr val="FF99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 </a:t>
              </a:r>
              <a:r>
                <a:rPr lang="en-US" altLang="zh-CN" sz="2800" b="0" dirty="0">
                  <a:solidFill>
                    <a:srgbClr val="FF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r>
                <a:rPr lang="zh-CN" altLang="en-US" sz="2800" dirty="0">
                  <a:solidFill>
                    <a:srgbClr val="FF9900"/>
                  </a:solidFill>
                  <a:latin typeface="Times New Roman" panose="02020603050405020304" pitchFamily="18" charset="0"/>
                </a:rPr>
                <a:t>与</a:t>
              </a:r>
              <a:r>
                <a:rPr lang="en-US" altLang="zh-CN" sz="2800" b="0" i="1" dirty="0">
                  <a:solidFill>
                    <a:srgbClr val="FF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r>
                <a:rPr lang="en-US" altLang="zh-CN" sz="2800" b="0" i="1" baseline="-25000" dirty="0">
                  <a:solidFill>
                    <a:srgbClr val="FF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800" b="0" dirty="0">
                  <a:solidFill>
                    <a:srgbClr val="FF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800" b="0" i="1" dirty="0">
                  <a:solidFill>
                    <a:srgbClr val="FF9900"/>
                  </a:solidFill>
                  <a:latin typeface="Symbol" panose="05050102010706020507" pitchFamily="18" charset="2"/>
                  <a:ea typeface="宋体" panose="02010600030101010101" pitchFamily="2" charset="-122"/>
                  <a:sym typeface="Symbol" panose="05050102010706020507" pitchFamily="18" charset="2"/>
                </a:rPr>
                <a:t></a:t>
              </a:r>
              <a:r>
                <a:rPr lang="en-US" altLang="zh-CN" sz="2800" b="0" i="1" dirty="0">
                  <a:solidFill>
                    <a:srgbClr val="FF99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 </a:t>
              </a:r>
              <a:r>
                <a:rPr lang="en-US" altLang="zh-CN" sz="2800" b="0" dirty="0">
                  <a:solidFill>
                    <a:srgbClr val="FF99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r>
                <a:rPr lang="zh-CN" altLang="en-US" sz="2800" dirty="0">
                  <a:solidFill>
                    <a:srgbClr val="FF9900"/>
                  </a:solidFill>
                  <a:latin typeface="Times New Roman" panose="02020603050405020304" pitchFamily="18" charset="0"/>
                </a:rPr>
                <a:t>的极值点：令</a:t>
              </a:r>
              <a:endParaRPr lang="zh-CN" altLang="en-US" sz="2800" dirty="0">
                <a:solidFill>
                  <a:srgbClr val="FF9900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74767" name="Object 15"/>
          <p:cNvGraphicFramePr>
            <a:graphicFrameLocks noChangeAspect="1"/>
          </p:cNvGraphicFramePr>
          <p:nvPr/>
        </p:nvGraphicFramePr>
        <p:xfrm>
          <a:off x="598488" y="2276475"/>
          <a:ext cx="2233612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9" imgW="933450" imgH="438150" progId="Equation.3">
                  <p:embed/>
                </p:oleObj>
              </mc:Choice>
              <mc:Fallback>
                <p:oleObj name="" r:id="rId9" imgW="933450" imgH="43815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8488" y="2276475"/>
                        <a:ext cx="2233612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8" name="Object 16"/>
          <p:cNvGraphicFramePr>
            <a:graphicFrameLocks noChangeAspect="1"/>
          </p:cNvGraphicFramePr>
          <p:nvPr/>
        </p:nvGraphicFramePr>
        <p:xfrm>
          <a:off x="4559300" y="1412875"/>
          <a:ext cx="117316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11" imgW="483235" imgH="206375" progId="Equation.3">
                  <p:embed/>
                </p:oleObj>
              </mc:Choice>
              <mc:Fallback>
                <p:oleObj name="" r:id="rId11" imgW="483235" imgH="206375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59300" y="1412875"/>
                        <a:ext cx="1173163" cy="493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9" name="Object 17"/>
          <p:cNvGraphicFramePr>
            <a:graphicFrameLocks noChangeAspect="1"/>
          </p:cNvGraphicFramePr>
          <p:nvPr/>
        </p:nvGraphicFramePr>
        <p:xfrm>
          <a:off x="5999163" y="1412875"/>
          <a:ext cx="184308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13" imgW="740410" imgH="206375" progId="Equation.3">
                  <p:embed/>
                </p:oleObj>
              </mc:Choice>
              <mc:Fallback>
                <p:oleObj name="" r:id="rId13" imgW="740410" imgH="206375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99163" y="1412875"/>
                        <a:ext cx="1843087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1" name="Object 19"/>
          <p:cNvGraphicFramePr>
            <a:graphicFrameLocks noChangeAspect="1"/>
          </p:cNvGraphicFramePr>
          <p:nvPr/>
        </p:nvGraphicFramePr>
        <p:xfrm>
          <a:off x="598488" y="3644900"/>
          <a:ext cx="190500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15" imgW="785495" imgH="418465" progId="Equation.3">
                  <p:embed/>
                </p:oleObj>
              </mc:Choice>
              <mc:Fallback>
                <p:oleObj name="" r:id="rId15" imgW="785495" imgH="418465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8488" y="3644900"/>
                        <a:ext cx="1905000" cy="1012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2" name="Object 20"/>
          <p:cNvGraphicFramePr>
            <a:graphicFrameLocks noChangeAspect="1"/>
          </p:cNvGraphicFramePr>
          <p:nvPr/>
        </p:nvGraphicFramePr>
        <p:xfrm>
          <a:off x="2843213" y="3860800"/>
          <a:ext cx="17891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17" imgW="721360" imgH="206375" progId="Equation.3">
                  <p:embed/>
                </p:oleObj>
              </mc:Choice>
              <mc:Fallback>
                <p:oleObj name="" r:id="rId17" imgW="721360" imgH="206375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43213" y="3860800"/>
                        <a:ext cx="1789112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3" name="Object 21"/>
          <p:cNvGraphicFramePr>
            <a:graphicFrameLocks noChangeAspect="1"/>
          </p:cNvGraphicFramePr>
          <p:nvPr/>
        </p:nvGraphicFramePr>
        <p:xfrm>
          <a:off x="684213" y="4724400"/>
          <a:ext cx="307975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19" imgW="1287780" imgH="438150" progId="Equation.3">
                  <p:embed/>
                </p:oleObj>
              </mc:Choice>
              <mc:Fallback>
                <p:oleObj name="" r:id="rId19" imgW="1287780" imgH="438150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4724400"/>
                        <a:ext cx="3079750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4" name="Object 22"/>
          <p:cNvGraphicFramePr>
            <a:graphicFrameLocks noChangeAspect="1"/>
          </p:cNvGraphicFramePr>
          <p:nvPr/>
        </p:nvGraphicFramePr>
        <p:xfrm>
          <a:off x="4643438" y="5084763"/>
          <a:ext cx="3227387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21" imgW="1146175" imgH="206375" progId="Equation.3">
                  <p:embed/>
                </p:oleObj>
              </mc:Choice>
              <mc:Fallback>
                <p:oleObj name="" r:id="rId21" imgW="1146175" imgH="206375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43438" y="5084763"/>
                        <a:ext cx="3227387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5" name="Object 23"/>
          <p:cNvGraphicFramePr>
            <a:graphicFrameLocks noChangeAspect="1"/>
          </p:cNvGraphicFramePr>
          <p:nvPr/>
        </p:nvGraphicFramePr>
        <p:xfrm>
          <a:off x="4991100" y="3644900"/>
          <a:ext cx="1982788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23" imgW="817880" imgH="418465" progId="Equation.3">
                  <p:embed/>
                </p:oleObj>
              </mc:Choice>
              <mc:Fallback>
                <p:oleObj name="" r:id="rId23" imgW="817880" imgH="418465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91100" y="3644900"/>
                        <a:ext cx="1982788" cy="1012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6" name="Object 24"/>
          <p:cNvGraphicFramePr>
            <a:graphicFrameLocks noChangeAspect="1"/>
          </p:cNvGraphicFramePr>
          <p:nvPr/>
        </p:nvGraphicFramePr>
        <p:xfrm>
          <a:off x="7092950" y="3860800"/>
          <a:ext cx="173513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25" imgW="695325" imgH="206375" progId="Equation.3">
                  <p:embed/>
                </p:oleObj>
              </mc:Choice>
              <mc:Fallback>
                <p:oleObj name="" r:id="rId25" imgW="695325" imgH="206375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092950" y="3860800"/>
                        <a:ext cx="1735138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31" name="Group 2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4838" name="Picture 26" descr="78900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39" name="Text Box 2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4832" name="Group 28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34836" name="Picture 29" descr="78900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37" name="Text Box 30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4833" name="Group 34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34834" name="Picture 35" descr="78900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4835" name="Text Box 36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1000"/>
                                        <p:tgtEl>
                                          <p:spTgt spid="7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10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2000"/>
                                        <p:tgtEl>
                                          <p:spTgt spid="7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1000"/>
                                        <p:tgtEl>
                                          <p:spTgt spid="7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1000"/>
                                        <p:tgtEl>
                                          <p:spTgt spid="7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1000"/>
                                        <p:tgtEl>
                                          <p:spTgt spid="7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1000"/>
                                        <p:tgtEl>
                                          <p:spTgt spid="7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1000"/>
                                        <p:tgtEl>
                                          <p:spTgt spid="7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2000"/>
                                        <p:tgtEl>
                                          <p:spTgt spid="7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1000"/>
                                        <p:tgtEl>
                                          <p:spTgt spid="74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1000"/>
                                        <p:tgtEl>
                                          <p:spTgt spid="7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1000"/>
                                        <p:tgtEl>
                                          <p:spTgt spid="74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44"/>
          <p:cNvGrpSpPr/>
          <p:nvPr/>
        </p:nvGrpSpPr>
        <p:grpSpPr>
          <a:xfrm>
            <a:off x="1547813" y="333375"/>
            <a:ext cx="6435725" cy="3579813"/>
            <a:chOff x="975" y="255"/>
            <a:chExt cx="4054" cy="2255"/>
          </a:xfrm>
        </p:grpSpPr>
        <p:sp>
          <p:nvSpPr>
            <p:cNvPr id="35863" name="Line 3"/>
            <p:cNvSpPr/>
            <p:nvPr/>
          </p:nvSpPr>
          <p:spPr>
            <a:xfrm>
              <a:off x="1776" y="1135"/>
              <a:ext cx="2448" cy="0"/>
            </a:xfrm>
            <a:prstGeom prst="line">
              <a:avLst/>
            </a:prstGeom>
            <a:ln w="28575" cap="flat" cmpd="sng">
              <a:solidFill>
                <a:srgbClr val="CCFF66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5864" name="Line 4"/>
            <p:cNvSpPr/>
            <p:nvPr/>
          </p:nvSpPr>
          <p:spPr>
            <a:xfrm>
              <a:off x="2588" y="851"/>
              <a:ext cx="0" cy="1344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5865" name="Text Box 5"/>
            <p:cNvSpPr txBox="1"/>
            <p:nvPr/>
          </p:nvSpPr>
          <p:spPr>
            <a:xfrm>
              <a:off x="1519" y="981"/>
              <a:ext cx="2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66" name="Freeform 6"/>
            <p:cNvSpPr/>
            <p:nvPr/>
          </p:nvSpPr>
          <p:spPr>
            <a:xfrm>
              <a:off x="1782" y="730"/>
              <a:ext cx="2418" cy="1469"/>
            </a:xfrm>
            <a:custGeom>
              <a:avLst/>
              <a:gdLst>
                <a:gd name="txL" fmla="*/ 0 w 2418"/>
                <a:gd name="txT" fmla="*/ 0 h 1469"/>
                <a:gd name="txR" fmla="*/ 2418 w 2418"/>
                <a:gd name="txB" fmla="*/ 1469 h 1469"/>
              </a:gdLst>
              <a:ahLst/>
              <a:cxnLst>
                <a:cxn ang="0">
                  <a:pos x="0" y="1467"/>
                </a:cxn>
                <a:cxn ang="0">
                  <a:pos x="198" y="1401"/>
                </a:cxn>
                <a:cxn ang="0">
                  <a:pos x="450" y="1062"/>
                </a:cxn>
                <a:cxn ang="0">
                  <a:pos x="759" y="231"/>
                </a:cxn>
                <a:cxn ang="0">
                  <a:pos x="966" y="15"/>
                </a:cxn>
                <a:cxn ang="0">
                  <a:pos x="1350" y="141"/>
                </a:cxn>
                <a:cxn ang="0">
                  <a:pos x="1677" y="228"/>
                </a:cxn>
                <a:cxn ang="0">
                  <a:pos x="2025" y="288"/>
                </a:cxn>
                <a:cxn ang="0">
                  <a:pos x="2418" y="321"/>
                </a:cxn>
              </a:cxnLst>
              <a:rect l="txL" t="txT" r="txR" b="txB"/>
              <a:pathLst>
                <a:path w="2418" h="1469">
                  <a:moveTo>
                    <a:pt x="0" y="1467"/>
                  </a:moveTo>
                  <a:cubicBezTo>
                    <a:pt x="33" y="1456"/>
                    <a:pt x="123" y="1469"/>
                    <a:pt x="198" y="1401"/>
                  </a:cubicBezTo>
                  <a:cubicBezTo>
                    <a:pt x="273" y="1333"/>
                    <a:pt x="356" y="1257"/>
                    <a:pt x="450" y="1062"/>
                  </a:cubicBezTo>
                  <a:cubicBezTo>
                    <a:pt x="544" y="867"/>
                    <a:pt x="673" y="405"/>
                    <a:pt x="759" y="231"/>
                  </a:cubicBezTo>
                  <a:cubicBezTo>
                    <a:pt x="845" y="57"/>
                    <a:pt x="868" y="30"/>
                    <a:pt x="966" y="15"/>
                  </a:cubicBezTo>
                  <a:cubicBezTo>
                    <a:pt x="1064" y="0"/>
                    <a:pt x="1232" y="106"/>
                    <a:pt x="1350" y="141"/>
                  </a:cubicBezTo>
                  <a:cubicBezTo>
                    <a:pt x="1468" y="176"/>
                    <a:pt x="1565" y="204"/>
                    <a:pt x="1677" y="228"/>
                  </a:cubicBezTo>
                  <a:cubicBezTo>
                    <a:pt x="1789" y="252"/>
                    <a:pt x="1902" y="273"/>
                    <a:pt x="2025" y="288"/>
                  </a:cubicBezTo>
                  <a:cubicBezTo>
                    <a:pt x="2148" y="303"/>
                    <a:pt x="2336" y="314"/>
                    <a:pt x="2418" y="321"/>
                  </a:cubicBez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867" name="Freeform 7"/>
            <p:cNvSpPr/>
            <p:nvPr/>
          </p:nvSpPr>
          <p:spPr>
            <a:xfrm>
              <a:off x="1788" y="743"/>
              <a:ext cx="2418" cy="1328"/>
            </a:xfrm>
            <a:custGeom>
              <a:avLst/>
              <a:gdLst>
                <a:gd name="txL" fmla="*/ 0 w 2418"/>
                <a:gd name="txT" fmla="*/ 0 h 1328"/>
                <a:gd name="txR" fmla="*/ 2418 w 2418"/>
                <a:gd name="txB" fmla="*/ 1328 h 1328"/>
              </a:gdLst>
              <a:ahLst/>
              <a:cxnLst>
                <a:cxn ang="0">
                  <a:pos x="0" y="386"/>
                </a:cxn>
                <a:cxn ang="0">
                  <a:pos x="144" y="365"/>
                </a:cxn>
                <a:cxn ang="0">
                  <a:pos x="300" y="287"/>
                </a:cxn>
                <a:cxn ang="0">
                  <a:pos x="528" y="80"/>
                </a:cxn>
                <a:cxn ang="0">
                  <a:pos x="663" y="5"/>
                </a:cxn>
                <a:cxn ang="0">
                  <a:pos x="795" y="110"/>
                </a:cxn>
                <a:cxn ang="0">
                  <a:pos x="1068" y="635"/>
                </a:cxn>
                <a:cxn ang="0">
                  <a:pos x="1335" y="974"/>
                </a:cxn>
                <a:cxn ang="0">
                  <a:pos x="1686" y="1172"/>
                </a:cxn>
                <a:cxn ang="0">
                  <a:pos x="1986" y="1256"/>
                </a:cxn>
                <a:cxn ang="0">
                  <a:pos x="2418" y="1328"/>
                </a:cxn>
              </a:cxnLst>
              <a:rect l="txL" t="txT" r="txR" b="txB"/>
              <a:pathLst>
                <a:path w="2418" h="1328">
                  <a:moveTo>
                    <a:pt x="0" y="386"/>
                  </a:moveTo>
                  <a:cubicBezTo>
                    <a:pt x="24" y="383"/>
                    <a:pt x="94" y="381"/>
                    <a:pt x="144" y="365"/>
                  </a:cubicBezTo>
                  <a:cubicBezTo>
                    <a:pt x="194" y="349"/>
                    <a:pt x="236" y="334"/>
                    <a:pt x="300" y="287"/>
                  </a:cubicBezTo>
                  <a:cubicBezTo>
                    <a:pt x="364" y="240"/>
                    <a:pt x="468" y="127"/>
                    <a:pt x="528" y="80"/>
                  </a:cubicBezTo>
                  <a:cubicBezTo>
                    <a:pt x="588" y="33"/>
                    <a:pt x="619" y="0"/>
                    <a:pt x="663" y="5"/>
                  </a:cubicBezTo>
                  <a:cubicBezTo>
                    <a:pt x="707" y="10"/>
                    <a:pt x="728" y="5"/>
                    <a:pt x="795" y="110"/>
                  </a:cubicBezTo>
                  <a:cubicBezTo>
                    <a:pt x="862" y="215"/>
                    <a:pt x="978" y="491"/>
                    <a:pt x="1068" y="635"/>
                  </a:cubicBezTo>
                  <a:cubicBezTo>
                    <a:pt x="1158" y="779"/>
                    <a:pt x="1232" y="885"/>
                    <a:pt x="1335" y="974"/>
                  </a:cubicBezTo>
                  <a:cubicBezTo>
                    <a:pt x="1438" y="1063"/>
                    <a:pt x="1578" y="1125"/>
                    <a:pt x="1686" y="1172"/>
                  </a:cubicBezTo>
                  <a:cubicBezTo>
                    <a:pt x="1794" y="1219"/>
                    <a:pt x="1864" y="1230"/>
                    <a:pt x="1986" y="1256"/>
                  </a:cubicBezTo>
                  <a:cubicBezTo>
                    <a:pt x="2108" y="1282"/>
                    <a:pt x="2328" y="1313"/>
                    <a:pt x="2418" y="1328"/>
                  </a:cubicBezTo>
                </a:path>
              </a:pathLst>
            </a:custGeom>
            <a:noFill/>
            <a:ln w="28575" cap="flat" cmpd="sng">
              <a:solidFill>
                <a:srgbClr val="00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868" name="Line 8"/>
            <p:cNvSpPr/>
            <p:nvPr/>
          </p:nvSpPr>
          <p:spPr>
            <a:xfrm flipV="1">
              <a:off x="1626" y="2195"/>
              <a:ext cx="2916" cy="4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5869" name="Line 9"/>
            <p:cNvSpPr/>
            <p:nvPr/>
          </p:nvSpPr>
          <p:spPr>
            <a:xfrm rot="5400000" flipH="1" flipV="1">
              <a:off x="688" y="1372"/>
              <a:ext cx="2187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5870" name="Line 10"/>
            <p:cNvSpPr/>
            <p:nvPr/>
          </p:nvSpPr>
          <p:spPr>
            <a:xfrm>
              <a:off x="2732" y="767"/>
              <a:ext cx="0" cy="1442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5871" name="Line 11"/>
            <p:cNvSpPr/>
            <p:nvPr/>
          </p:nvSpPr>
          <p:spPr>
            <a:xfrm>
              <a:off x="2448" y="779"/>
              <a:ext cx="0" cy="1442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5872" name="Line 12"/>
            <p:cNvSpPr/>
            <p:nvPr/>
          </p:nvSpPr>
          <p:spPr>
            <a:xfrm flipV="1">
              <a:off x="1782" y="736"/>
              <a:ext cx="980" cy="13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5873" name="Line 14"/>
            <p:cNvSpPr/>
            <p:nvPr/>
          </p:nvSpPr>
          <p:spPr>
            <a:xfrm flipV="1">
              <a:off x="1782" y="880"/>
              <a:ext cx="980" cy="13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5874" name="Text Box 16"/>
            <p:cNvSpPr txBox="1"/>
            <p:nvPr/>
          </p:nvSpPr>
          <p:spPr>
            <a:xfrm>
              <a:off x="2130" y="2100"/>
              <a:ext cx="42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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C2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5875" name="Text Box 17"/>
            <p:cNvSpPr txBox="1"/>
            <p:nvPr/>
          </p:nvSpPr>
          <p:spPr>
            <a:xfrm>
              <a:off x="2716" y="2145"/>
              <a:ext cx="420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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L2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5876" name="Text Box 18"/>
            <p:cNvSpPr txBox="1"/>
            <p:nvPr/>
          </p:nvSpPr>
          <p:spPr>
            <a:xfrm>
              <a:off x="4358" y="2154"/>
              <a:ext cx="251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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5877" name="Text Box 19"/>
            <p:cNvSpPr txBox="1"/>
            <p:nvPr/>
          </p:nvSpPr>
          <p:spPr>
            <a:xfrm>
              <a:off x="1561" y="2234"/>
              <a:ext cx="232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78" name="Rectangle 20"/>
            <p:cNvSpPr/>
            <p:nvPr/>
          </p:nvSpPr>
          <p:spPr>
            <a:xfrm>
              <a:off x="4150" y="830"/>
              <a:ext cx="879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sz="28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L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/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5879" name="Rectangle 21"/>
            <p:cNvSpPr/>
            <p:nvPr/>
          </p:nvSpPr>
          <p:spPr>
            <a:xfrm>
              <a:off x="4195" y="1782"/>
              <a:ext cx="780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sz="28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C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/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5880" name="Text Box 23"/>
            <p:cNvSpPr txBox="1"/>
            <p:nvPr/>
          </p:nvSpPr>
          <p:spPr>
            <a:xfrm>
              <a:off x="2492" y="2183"/>
              <a:ext cx="228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881" name="Rectangle 41"/>
            <p:cNvSpPr/>
            <p:nvPr/>
          </p:nvSpPr>
          <p:spPr>
            <a:xfrm>
              <a:off x="975" y="255"/>
              <a:ext cx="879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sz="28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L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/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5882" name="Rectangle 42"/>
            <p:cNvSpPr/>
            <p:nvPr/>
          </p:nvSpPr>
          <p:spPr>
            <a:xfrm>
              <a:off x="1701" y="255"/>
              <a:ext cx="780" cy="327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sz="28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C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/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14381" name="Text Box 45"/>
          <p:cNvSpPr txBox="1"/>
          <p:nvPr/>
        </p:nvSpPr>
        <p:spPr>
          <a:xfrm>
            <a:off x="395288" y="4005263"/>
            <a:ext cx="84582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</a:pP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  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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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获最大值；</a:t>
            </a:r>
            <a:r>
              <a:rPr lang="zh-CN" altLang="en-US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 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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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获最大值。且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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C2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)=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U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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800" b="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zh-CN" altLang="en-US" sz="2800" b="0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14382" name="Object 46"/>
          <p:cNvGraphicFramePr>
            <a:graphicFrameLocks noChangeAspect="1"/>
          </p:cNvGraphicFramePr>
          <p:nvPr/>
        </p:nvGraphicFramePr>
        <p:xfrm>
          <a:off x="468313" y="3573463"/>
          <a:ext cx="151288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1" imgW="740410" imgH="238125" progId="Equation.3">
                  <p:embed/>
                </p:oleObj>
              </mc:Choice>
              <mc:Fallback>
                <p:oleObj name="" r:id="rId1" imgW="740410" imgH="238125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3573463"/>
                        <a:ext cx="1512887" cy="47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83" name="Text Box 47"/>
          <p:cNvSpPr txBox="1"/>
          <p:nvPr/>
        </p:nvSpPr>
        <p:spPr>
          <a:xfrm>
            <a:off x="1258888" y="5789613"/>
            <a:ext cx="76676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</a:rPr>
              <a:t>越高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8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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和</a:t>
            </a:r>
            <a:r>
              <a:rPr lang="zh-CN" altLang="en-US" sz="28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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</a:rPr>
              <a:t>越靠近</a:t>
            </a:r>
            <a:r>
              <a:rPr lang="zh-CN" altLang="en-US" sz="28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</a:t>
            </a:r>
            <a:r>
              <a:rPr lang="en-US" altLang="zh-CN" sz="2800" b="0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=1</a:t>
            </a:r>
            <a:r>
              <a:rPr lang="zh-CN" altLang="en-US" sz="2800" b="0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 sz="2800" dirty="0">
                <a:latin typeface="Symbol" panose="05050102010706020507" pitchFamily="18" charset="2"/>
                <a:sym typeface="Symbol" panose="05050102010706020507" pitchFamily="18" charset="2"/>
              </a:rPr>
              <a:t>同时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峰值增高。 </a:t>
            </a:r>
            <a:endParaRPr lang="zh-CN" altLang="en-US" sz="28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3" name="Group 48"/>
          <p:cNvGrpSpPr/>
          <p:nvPr/>
        </p:nvGrpSpPr>
        <p:grpSpPr>
          <a:xfrm>
            <a:off x="0" y="5013325"/>
            <a:ext cx="1847850" cy="850900"/>
            <a:chOff x="385" y="3022"/>
            <a:chExt cx="1164" cy="536"/>
          </a:xfrm>
        </p:grpSpPr>
        <p:pic>
          <p:nvPicPr>
            <p:cNvPr id="35861" name="Picture 49" descr="1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862" name="Text Box 50"/>
            <p:cNvSpPr txBox="1"/>
            <p:nvPr/>
          </p:nvSpPr>
          <p:spPr>
            <a:xfrm>
              <a:off x="793" y="3116"/>
              <a:ext cx="75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  </a:t>
              </a:r>
              <a:endParaRPr lang="zh-CN" altLang="en-US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4" name="Group 51"/>
          <p:cNvGrpSpPr/>
          <p:nvPr/>
        </p:nvGrpSpPr>
        <p:grpSpPr>
          <a:xfrm>
            <a:off x="1811338" y="5157788"/>
            <a:ext cx="6864350" cy="636587"/>
            <a:chOff x="1292" y="391"/>
            <a:chExt cx="4324" cy="401"/>
          </a:xfrm>
        </p:grpSpPr>
        <p:graphicFrame>
          <p:nvGraphicFramePr>
            <p:cNvPr id="35857" name="Object 52"/>
            <p:cNvGraphicFramePr>
              <a:graphicFrameLocks noChangeAspect="1"/>
            </p:cNvGraphicFramePr>
            <p:nvPr/>
          </p:nvGraphicFramePr>
          <p:xfrm>
            <a:off x="1292" y="436"/>
            <a:ext cx="816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2" name="" r:id="rId4" imgW="438150" imgH="193040" progId="Equation.DSMT4">
                    <p:embed/>
                  </p:oleObj>
                </mc:Choice>
                <mc:Fallback>
                  <p:oleObj name="" r:id="rId4" imgW="438150" imgH="193040" progId="Equation.DSMT4">
                    <p:embed/>
                    <p:pic>
                      <p:nvPicPr>
                        <p:cNvPr id="0" name="图片 3181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92" y="436"/>
                          <a:ext cx="816" cy="3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8" name="Object 53"/>
            <p:cNvGraphicFramePr>
              <a:graphicFrameLocks noChangeAspect="1"/>
            </p:cNvGraphicFramePr>
            <p:nvPr/>
          </p:nvGraphicFramePr>
          <p:xfrm>
            <a:off x="3424" y="391"/>
            <a:ext cx="771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4" name="" r:id="rId6" imgW="431165" imgH="193040" progId="Equation.DSMT4">
                    <p:embed/>
                  </p:oleObj>
                </mc:Choice>
                <mc:Fallback>
                  <p:oleObj name="" r:id="rId6" imgW="431165" imgH="193040" progId="Equation.DSMT4">
                    <p:embed/>
                    <p:pic>
                      <p:nvPicPr>
                        <p:cNvPr id="0" name="图片 3183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24" y="391"/>
                          <a:ext cx="771" cy="3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59" name="Rectangle 54"/>
            <p:cNvSpPr/>
            <p:nvPr/>
          </p:nvSpPr>
          <p:spPr>
            <a:xfrm>
              <a:off x="2109" y="391"/>
              <a:ext cx="14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marL="342900" indent="-342900" eaLnBrk="1" hangingPunct="1"/>
              <a:r>
                <a:rPr lang="zh-CN" altLang="en-US" sz="2800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为低通函数，</a:t>
              </a:r>
              <a:endParaRPr lang="zh-CN" altLang="en-US" sz="2800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  <p:sp>
          <p:nvSpPr>
            <p:cNvPr id="35860" name="Rectangle 55"/>
            <p:cNvSpPr/>
            <p:nvPr/>
          </p:nvSpPr>
          <p:spPr>
            <a:xfrm>
              <a:off x="4150" y="391"/>
              <a:ext cx="14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eaLnBrk="1" hangingPunct="1"/>
              <a:r>
                <a:rPr lang="zh-CN" altLang="en-US" sz="2800" dirty="0">
                  <a:latin typeface="宋体" panose="02010600030101010101" pitchFamily="2" charset="-122"/>
                  <a:cs typeface="Times New Roman" panose="02020603050405020304" pitchFamily="18" charset="0"/>
                </a:rPr>
                <a:t>为高通函数；</a:t>
              </a:r>
              <a:endParaRPr lang="zh-CN" altLang="en-US" sz="2800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35848" name="Group 5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5855" name="Picture 57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856" name="Text Box 5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5849" name="Group 59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35853" name="Picture 60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854" name="Text Box 61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5850" name="Group 65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35851" name="Picture 66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852" name="Text Box 67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2000"/>
                                        <p:tgtEl>
                                          <p:spTgt spid="14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81" grpId="0"/>
      <p:bldP spid="1438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ext Box 2"/>
          <p:cNvSpPr txBox="1"/>
          <p:nvPr/>
        </p:nvSpPr>
        <p:spPr>
          <a:xfrm>
            <a:off x="395288" y="1268413"/>
            <a:ext cx="46799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</a:rPr>
              <a:t>1.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GCL</a:t>
            </a:r>
            <a:r>
              <a:rPr lang="en-US" altLang="zh-CN" i="1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并联电路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graphicFrame>
        <p:nvGraphicFramePr>
          <p:cNvPr id="12294" name="Object 6"/>
          <p:cNvGraphicFramePr>
            <a:graphicFrameLocks noChangeAspect="1"/>
          </p:cNvGraphicFramePr>
          <p:nvPr/>
        </p:nvGraphicFramePr>
        <p:xfrm>
          <a:off x="2484438" y="2924175"/>
          <a:ext cx="1654175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1" imgW="663575" imgH="354330" progId="Equation.3">
                  <p:embed/>
                </p:oleObj>
              </mc:Choice>
              <mc:Fallback>
                <p:oleObj name="" r:id="rId1" imgW="663575" imgH="354330" progId="Equation.3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84438" y="2924175"/>
                        <a:ext cx="1654175" cy="881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1128713" y="1989138"/>
          <a:ext cx="28813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3" imgW="1236345" imgH="309245" progId="Equation.3">
                  <p:embed/>
                </p:oleObj>
              </mc:Choice>
              <mc:Fallback>
                <p:oleObj name="" r:id="rId3" imgW="1236345" imgH="309245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28713" y="1989138"/>
                        <a:ext cx="2881312" cy="72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Text Box 9" descr="新闻纸"/>
          <p:cNvSpPr txBox="1"/>
          <p:nvPr/>
        </p:nvSpPr>
        <p:spPr>
          <a:xfrm>
            <a:off x="1403350" y="404813"/>
            <a:ext cx="6840538" cy="762000"/>
          </a:xfrm>
          <a:prstGeom prst="rect">
            <a:avLst/>
          </a:prstGeom>
          <a:noFill/>
          <a:ln w="9525">
            <a:noFill/>
          </a:ln>
          <a:effectLst>
            <a:prstShdw prst="shdw17" dist="17961" dir="2699999">
              <a:srgbClr val="959595"/>
            </a:prstShdw>
          </a:effectLst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44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11-4</a:t>
            </a:r>
            <a:r>
              <a:rPr lang="en-US" altLang="zh-CN" sz="4400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en-US" altLang="zh-CN" sz="44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RLC</a:t>
            </a:r>
            <a:r>
              <a:rPr lang="zh-CN" altLang="en-US" sz="4400" dirty="0">
                <a:solidFill>
                  <a:schemeClr val="bg1"/>
                </a:solidFill>
                <a:latin typeface="楷体_GB2312" pitchFamily="49" charset="-122"/>
              </a:rPr>
              <a:t>并联谐振电路</a:t>
            </a:r>
            <a:endParaRPr lang="zh-CN" altLang="en-US" sz="44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12327" name="Text Box 39"/>
          <p:cNvSpPr txBox="1"/>
          <p:nvPr/>
        </p:nvSpPr>
        <p:spPr>
          <a:xfrm>
            <a:off x="323850" y="3068638"/>
            <a:ext cx="21605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</a:rPr>
              <a:t>谐振角频率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grpSp>
        <p:nvGrpSpPr>
          <p:cNvPr id="2" name="Group 80"/>
          <p:cNvGrpSpPr/>
          <p:nvPr/>
        </p:nvGrpSpPr>
        <p:grpSpPr>
          <a:xfrm>
            <a:off x="5651500" y="2997200"/>
            <a:ext cx="2890838" cy="1909763"/>
            <a:chOff x="3074" y="520"/>
            <a:chExt cx="1591" cy="1001"/>
          </a:xfrm>
        </p:grpSpPr>
        <p:sp>
          <p:nvSpPr>
            <p:cNvPr id="36912" name="Line 81"/>
            <p:cNvSpPr/>
            <p:nvPr/>
          </p:nvSpPr>
          <p:spPr>
            <a:xfrm>
              <a:off x="3148" y="1269"/>
              <a:ext cx="1510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13" name="Line 82"/>
            <p:cNvSpPr/>
            <p:nvPr/>
          </p:nvSpPr>
          <p:spPr>
            <a:xfrm flipV="1">
              <a:off x="3377" y="592"/>
              <a:ext cx="0" cy="837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14" name="Freeform 83"/>
            <p:cNvSpPr/>
            <p:nvPr/>
          </p:nvSpPr>
          <p:spPr>
            <a:xfrm>
              <a:off x="3578" y="600"/>
              <a:ext cx="914" cy="508"/>
            </a:xfrm>
            <a:custGeom>
              <a:avLst/>
              <a:gdLst>
                <a:gd name="txL" fmla="*/ 0 w 914"/>
                <a:gd name="txT" fmla="*/ 0 h 508"/>
                <a:gd name="txR" fmla="*/ 914 w 914"/>
                <a:gd name="txB" fmla="*/ 508 h 508"/>
              </a:gdLst>
              <a:ahLst/>
              <a:cxnLst>
                <a:cxn ang="0">
                  <a:pos x="0" y="95"/>
                </a:cxn>
                <a:cxn ang="0">
                  <a:pos x="189" y="364"/>
                </a:cxn>
                <a:cxn ang="0">
                  <a:pos x="378" y="503"/>
                </a:cxn>
                <a:cxn ang="0">
                  <a:pos x="554" y="336"/>
                </a:cxn>
                <a:cxn ang="0">
                  <a:pos x="734" y="132"/>
                </a:cxn>
                <a:cxn ang="0">
                  <a:pos x="914" y="0"/>
                </a:cxn>
              </a:cxnLst>
              <a:rect l="txL" t="txT" r="txR" b="txB"/>
              <a:pathLst>
                <a:path w="914" h="508">
                  <a:moveTo>
                    <a:pt x="0" y="95"/>
                  </a:moveTo>
                  <a:cubicBezTo>
                    <a:pt x="31" y="140"/>
                    <a:pt x="126" y="295"/>
                    <a:pt x="189" y="364"/>
                  </a:cubicBezTo>
                  <a:cubicBezTo>
                    <a:pt x="252" y="432"/>
                    <a:pt x="317" y="508"/>
                    <a:pt x="378" y="503"/>
                  </a:cubicBezTo>
                  <a:cubicBezTo>
                    <a:pt x="439" y="498"/>
                    <a:pt x="495" y="398"/>
                    <a:pt x="554" y="336"/>
                  </a:cubicBezTo>
                  <a:cubicBezTo>
                    <a:pt x="613" y="274"/>
                    <a:pt x="674" y="188"/>
                    <a:pt x="734" y="132"/>
                  </a:cubicBezTo>
                  <a:cubicBezTo>
                    <a:pt x="794" y="76"/>
                    <a:pt x="876" y="28"/>
                    <a:pt x="914" y="0"/>
                  </a:cubicBez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6915" name="Line 84"/>
            <p:cNvSpPr/>
            <p:nvPr/>
          </p:nvSpPr>
          <p:spPr>
            <a:xfrm>
              <a:off x="3949" y="1120"/>
              <a:ext cx="0" cy="159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36916" name="Text Box 85"/>
            <p:cNvSpPr txBox="1"/>
            <p:nvPr/>
          </p:nvSpPr>
          <p:spPr>
            <a:xfrm>
              <a:off x="3074" y="520"/>
              <a:ext cx="319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|Y|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917" name="Text Box 86"/>
            <p:cNvSpPr txBox="1"/>
            <p:nvPr/>
          </p:nvSpPr>
          <p:spPr>
            <a:xfrm>
              <a:off x="4429" y="1197"/>
              <a:ext cx="236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918" name="Text Box 87"/>
            <p:cNvSpPr txBox="1"/>
            <p:nvPr/>
          </p:nvSpPr>
          <p:spPr>
            <a:xfrm>
              <a:off x="3789" y="1197"/>
              <a:ext cx="346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w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0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919" name="Text Box 88"/>
            <p:cNvSpPr txBox="1"/>
            <p:nvPr/>
          </p:nvSpPr>
          <p:spPr>
            <a:xfrm>
              <a:off x="3120" y="1249"/>
              <a:ext cx="327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o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920" name="Line 89"/>
            <p:cNvSpPr/>
            <p:nvPr/>
          </p:nvSpPr>
          <p:spPr>
            <a:xfrm>
              <a:off x="3377" y="1118"/>
              <a:ext cx="572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6921" name="Text Box 90"/>
            <p:cNvSpPr txBox="1"/>
            <p:nvPr/>
          </p:nvSpPr>
          <p:spPr>
            <a:xfrm>
              <a:off x="3131" y="973"/>
              <a:ext cx="258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379" name="Text Box 91"/>
          <p:cNvSpPr txBox="1"/>
          <p:nvPr/>
        </p:nvSpPr>
        <p:spPr>
          <a:xfrm>
            <a:off x="468313" y="4076700"/>
            <a:ext cx="2087562" cy="547688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FF9900"/>
                </a:solidFill>
                <a:latin typeface="Arial" panose="020B0604020202020204" pitchFamily="34" charset="0"/>
              </a:rPr>
              <a:t>谐振特点：</a:t>
            </a:r>
            <a:endParaRPr lang="zh-CN" altLang="en-US" sz="2800" dirty="0">
              <a:solidFill>
                <a:srgbClr val="FF9900"/>
              </a:solidFill>
              <a:latin typeface="Arial" panose="020B0604020202020204" pitchFamily="34" charset="0"/>
            </a:endParaRPr>
          </a:p>
        </p:txBody>
      </p:sp>
      <p:sp>
        <p:nvSpPr>
          <p:cNvPr id="12381" name="Text Box 93"/>
          <p:cNvSpPr txBox="1"/>
          <p:nvPr/>
        </p:nvSpPr>
        <p:spPr>
          <a:xfrm>
            <a:off x="323850" y="5141913"/>
            <a:ext cx="88201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buAutoNum type="circleNumDbPlain"/>
            </a:pPr>
            <a:r>
              <a:rPr lang="zh-CN" altLang="zh-CN" sz="2800" dirty="0">
                <a:latin typeface="楷体_GB2312" pitchFamily="49" charset="-122"/>
              </a:rPr>
              <a:t>输入导纳为</a:t>
            </a:r>
            <a:r>
              <a:rPr lang="zh-CN" altLang="en-US" sz="2800" dirty="0">
                <a:latin typeface="楷体_GB2312" pitchFamily="49" charset="-122"/>
              </a:rPr>
              <a:t>纯电导，导纳值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|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|</a:t>
            </a:r>
            <a:r>
              <a:rPr lang="zh-CN" altLang="en-US" sz="2800" dirty="0">
                <a:latin typeface="楷体_GB2312" pitchFamily="49" charset="-122"/>
              </a:rPr>
              <a:t>最小，</a:t>
            </a:r>
            <a:r>
              <a:rPr lang="zh-CN" altLang="en-US" sz="2800" dirty="0">
                <a:latin typeface="Times New Roman" panose="02020603050405020304" pitchFamily="18" charset="0"/>
              </a:rPr>
              <a:t>端电压达最大</a:t>
            </a:r>
            <a:r>
              <a:rPr lang="zh-CN" altLang="en-US" sz="2800" dirty="0">
                <a:latin typeface="楷体_GB2312" pitchFamily="49" charset="-122"/>
              </a:rPr>
              <a:t>。</a:t>
            </a:r>
            <a:endParaRPr lang="zh-CN" altLang="en-US" sz="2800" dirty="0">
              <a:latin typeface="楷体_GB2312" pitchFamily="49" charset="-122"/>
            </a:endParaRPr>
          </a:p>
        </p:txBody>
      </p:sp>
      <p:grpSp>
        <p:nvGrpSpPr>
          <p:cNvPr id="36874" name="Group 9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6910" name="Picture 96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911" name="Text Box 9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6875" name="Group 98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36908" name="Picture 99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909" name="Text Box 100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6876" name="Group 106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36906" name="Picture 107" descr="789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907" name="Text Box 108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" name="Group 114"/>
          <p:cNvGrpSpPr/>
          <p:nvPr/>
        </p:nvGrpSpPr>
        <p:grpSpPr>
          <a:xfrm>
            <a:off x="5497513" y="1279525"/>
            <a:ext cx="3230562" cy="1512888"/>
            <a:chOff x="3463" y="806"/>
            <a:chExt cx="2035" cy="953"/>
          </a:xfrm>
        </p:grpSpPr>
        <p:sp>
          <p:nvSpPr>
            <p:cNvPr id="36878" name="Line 54"/>
            <p:cNvSpPr/>
            <p:nvPr/>
          </p:nvSpPr>
          <p:spPr>
            <a:xfrm>
              <a:off x="3697" y="834"/>
              <a:ext cx="0" cy="91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79" name="Text Box 56"/>
            <p:cNvSpPr txBox="1"/>
            <p:nvPr/>
          </p:nvSpPr>
          <p:spPr>
            <a:xfrm>
              <a:off x="3976" y="815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6880" name="Text Box 57"/>
            <p:cNvSpPr txBox="1"/>
            <p:nvPr/>
          </p:nvSpPr>
          <p:spPr>
            <a:xfrm>
              <a:off x="3991" y="1307"/>
              <a:ext cx="2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36881" name="Group 58"/>
            <p:cNvGrpSpPr/>
            <p:nvPr/>
          </p:nvGrpSpPr>
          <p:grpSpPr>
            <a:xfrm>
              <a:off x="4597" y="1224"/>
              <a:ext cx="258" cy="93"/>
              <a:chOff x="1351" y="3976"/>
              <a:chExt cx="174" cy="93"/>
            </a:xfrm>
          </p:grpSpPr>
          <p:sp>
            <p:nvSpPr>
              <p:cNvPr id="36904" name="Line 59"/>
              <p:cNvSpPr/>
              <p:nvPr/>
            </p:nvSpPr>
            <p:spPr>
              <a:xfrm>
                <a:off x="1351" y="3976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905" name="Line 60"/>
              <p:cNvSpPr/>
              <p:nvPr/>
            </p:nvSpPr>
            <p:spPr>
              <a:xfrm>
                <a:off x="1351" y="4068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6882" name="Line 61"/>
            <p:cNvSpPr/>
            <p:nvPr/>
          </p:nvSpPr>
          <p:spPr>
            <a:xfrm flipV="1">
              <a:off x="5185" y="834"/>
              <a:ext cx="0" cy="25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83" name="Line 62"/>
            <p:cNvSpPr/>
            <p:nvPr/>
          </p:nvSpPr>
          <p:spPr>
            <a:xfrm>
              <a:off x="5193" y="1452"/>
              <a:ext cx="1" cy="30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84" name="Line 63"/>
            <p:cNvSpPr/>
            <p:nvPr/>
          </p:nvSpPr>
          <p:spPr>
            <a:xfrm flipH="1">
              <a:off x="3697" y="1746"/>
              <a:ext cx="14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85" name="Line 64"/>
            <p:cNvSpPr/>
            <p:nvPr/>
          </p:nvSpPr>
          <p:spPr>
            <a:xfrm flipH="1">
              <a:off x="3697" y="834"/>
              <a:ext cx="14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86" name="Line 65"/>
            <p:cNvSpPr/>
            <p:nvPr/>
          </p:nvSpPr>
          <p:spPr>
            <a:xfrm>
              <a:off x="4729" y="1316"/>
              <a:ext cx="0" cy="43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87" name="Line 66"/>
            <p:cNvSpPr/>
            <p:nvPr/>
          </p:nvSpPr>
          <p:spPr>
            <a:xfrm flipV="1">
              <a:off x="4729" y="834"/>
              <a:ext cx="0" cy="39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88" name="Line 67"/>
            <p:cNvSpPr/>
            <p:nvPr/>
          </p:nvSpPr>
          <p:spPr>
            <a:xfrm>
              <a:off x="4261" y="834"/>
              <a:ext cx="0" cy="91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36889" name="Object 69"/>
            <p:cNvGraphicFramePr>
              <a:graphicFrameLocks noChangeAspect="1"/>
            </p:cNvGraphicFramePr>
            <p:nvPr/>
          </p:nvGraphicFramePr>
          <p:xfrm>
            <a:off x="3463" y="806"/>
            <a:ext cx="205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" name="" r:id="rId6" imgW="147955" imgH="244475" progId="Equation.3">
                    <p:embed/>
                  </p:oleObj>
                </mc:Choice>
                <mc:Fallback>
                  <p:oleObj name="" r:id="rId6" imgW="147955" imgH="244475" progId="Equation.3">
                    <p:embed/>
                    <p:pic>
                      <p:nvPicPr>
                        <p:cNvPr id="0" name="图片 3186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63" y="806"/>
                          <a:ext cx="205" cy="3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0" name="Line 70"/>
            <p:cNvSpPr/>
            <p:nvPr/>
          </p:nvSpPr>
          <p:spPr>
            <a:xfrm flipV="1">
              <a:off x="3696" y="879"/>
              <a:ext cx="0" cy="325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91" name="Text Box 71"/>
            <p:cNvSpPr txBox="1"/>
            <p:nvPr/>
          </p:nvSpPr>
          <p:spPr>
            <a:xfrm>
              <a:off x="4299" y="1116"/>
              <a:ext cx="2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92" name="Text Box 72"/>
            <p:cNvSpPr txBox="1"/>
            <p:nvPr/>
          </p:nvSpPr>
          <p:spPr>
            <a:xfrm>
              <a:off x="4819" y="1096"/>
              <a:ext cx="2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93" name="Text Box 73"/>
            <p:cNvSpPr txBox="1"/>
            <p:nvPr/>
          </p:nvSpPr>
          <p:spPr>
            <a:xfrm>
              <a:off x="5257" y="1117"/>
              <a:ext cx="2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6894" name="Object 74"/>
            <p:cNvGraphicFramePr>
              <a:graphicFrameLocks noChangeAspect="1"/>
            </p:cNvGraphicFramePr>
            <p:nvPr/>
          </p:nvGraphicFramePr>
          <p:xfrm>
            <a:off x="3985" y="1082"/>
            <a:ext cx="205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" name="" r:id="rId8" imgW="147955" imgH="244475" progId="Equation.3">
                    <p:embed/>
                  </p:oleObj>
                </mc:Choice>
                <mc:Fallback>
                  <p:oleObj name="" r:id="rId8" imgW="147955" imgH="244475" progId="Equation.3">
                    <p:embed/>
                    <p:pic>
                      <p:nvPicPr>
                        <p:cNvPr id="0" name="图片 3185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85" y="1082"/>
                          <a:ext cx="205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5" name="Rectangle 75"/>
            <p:cNvSpPr/>
            <p:nvPr/>
          </p:nvSpPr>
          <p:spPr>
            <a:xfrm>
              <a:off x="4196" y="110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6896" name="Group 104"/>
            <p:cNvGrpSpPr/>
            <p:nvPr/>
          </p:nvGrpSpPr>
          <p:grpSpPr>
            <a:xfrm>
              <a:off x="3515" y="1196"/>
              <a:ext cx="363" cy="363"/>
              <a:chOff x="3515" y="1072"/>
              <a:chExt cx="363" cy="363"/>
            </a:xfrm>
          </p:grpSpPr>
          <p:sp>
            <p:nvSpPr>
              <p:cNvPr id="36902" name="Oval 55"/>
              <p:cNvSpPr/>
              <p:nvPr/>
            </p:nvSpPr>
            <p:spPr>
              <a:xfrm>
                <a:off x="3515" y="1072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03" name="Line 68"/>
              <p:cNvSpPr/>
              <p:nvPr/>
            </p:nvSpPr>
            <p:spPr>
              <a:xfrm>
                <a:off x="3515" y="1254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6897" name="Group 109"/>
            <p:cNvGrpSpPr/>
            <p:nvPr/>
          </p:nvGrpSpPr>
          <p:grpSpPr>
            <a:xfrm rot="10800000">
              <a:off x="5175" y="1098"/>
              <a:ext cx="90" cy="363"/>
              <a:chOff x="1565" y="2614"/>
              <a:chExt cx="90" cy="486"/>
            </a:xfrm>
          </p:grpSpPr>
          <p:sp>
            <p:nvSpPr>
              <p:cNvPr id="36898" name="Arc 110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6899" name="Arc 111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6900" name="Arc 112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6901" name="Arc 113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10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10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12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7" grpId="0"/>
      <p:bldP spid="12327" grpId="0"/>
      <p:bldP spid="12379" grpId="0" animBg="1"/>
      <p:bldP spid="1238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81"/>
          <p:cNvGrpSpPr/>
          <p:nvPr/>
        </p:nvGrpSpPr>
        <p:grpSpPr>
          <a:xfrm>
            <a:off x="920750" y="333375"/>
            <a:ext cx="3179763" cy="2424113"/>
            <a:chOff x="2906" y="2084"/>
            <a:chExt cx="1887" cy="1391"/>
          </a:xfrm>
        </p:grpSpPr>
        <p:sp>
          <p:nvSpPr>
            <p:cNvPr id="37942" name="Freeform 27"/>
            <p:cNvSpPr/>
            <p:nvPr/>
          </p:nvSpPr>
          <p:spPr>
            <a:xfrm>
              <a:off x="3378" y="2477"/>
              <a:ext cx="1190" cy="705"/>
            </a:xfrm>
            <a:custGeom>
              <a:avLst/>
              <a:gdLst>
                <a:gd name="txL" fmla="*/ 0 w 2346"/>
                <a:gd name="txT" fmla="*/ 0 h 1863"/>
                <a:gd name="txR" fmla="*/ 2346 w 2346"/>
                <a:gd name="txB" fmla="*/ 1863 h 1863"/>
              </a:gdLst>
              <a:ahLst/>
              <a:cxnLst>
                <a:cxn ang="0">
                  <a:pos x="0" y="267"/>
                </a:cxn>
                <a:cxn ang="0">
                  <a:pos x="43" y="210"/>
                </a:cxn>
                <a:cxn ang="0">
                  <a:pos x="84" y="148"/>
                </a:cxn>
                <a:cxn ang="0">
                  <a:pos x="159" y="28"/>
                </a:cxn>
                <a:cxn ang="0">
                  <a:pos x="201" y="1"/>
                </a:cxn>
                <a:cxn ang="0">
                  <a:pos x="247" y="21"/>
                </a:cxn>
                <a:cxn ang="0">
                  <a:pos x="330" y="82"/>
                </a:cxn>
                <a:cxn ang="0">
                  <a:pos x="392" y="114"/>
                </a:cxn>
                <a:cxn ang="0">
                  <a:pos x="466" y="142"/>
                </a:cxn>
                <a:cxn ang="0">
                  <a:pos x="537" y="160"/>
                </a:cxn>
                <a:cxn ang="0">
                  <a:pos x="604" y="173"/>
                </a:cxn>
              </a:cxnLst>
              <a:rect l="txL" t="txT" r="txR" b="txB"/>
              <a:pathLst>
                <a:path w="2346" h="1863">
                  <a:moveTo>
                    <a:pt x="0" y="1863"/>
                  </a:moveTo>
                  <a:cubicBezTo>
                    <a:pt x="27" y="1797"/>
                    <a:pt x="111" y="1602"/>
                    <a:pt x="165" y="1464"/>
                  </a:cubicBezTo>
                  <a:cubicBezTo>
                    <a:pt x="219" y="1326"/>
                    <a:pt x="252" y="1246"/>
                    <a:pt x="327" y="1035"/>
                  </a:cubicBezTo>
                  <a:cubicBezTo>
                    <a:pt x="402" y="824"/>
                    <a:pt x="543" y="369"/>
                    <a:pt x="618" y="198"/>
                  </a:cubicBezTo>
                  <a:cubicBezTo>
                    <a:pt x="693" y="27"/>
                    <a:pt x="723" y="18"/>
                    <a:pt x="780" y="9"/>
                  </a:cubicBezTo>
                  <a:cubicBezTo>
                    <a:pt x="837" y="0"/>
                    <a:pt x="877" y="54"/>
                    <a:pt x="960" y="147"/>
                  </a:cubicBezTo>
                  <a:cubicBezTo>
                    <a:pt x="1043" y="240"/>
                    <a:pt x="1188" y="462"/>
                    <a:pt x="1281" y="570"/>
                  </a:cubicBezTo>
                  <a:cubicBezTo>
                    <a:pt x="1374" y="678"/>
                    <a:pt x="1433" y="728"/>
                    <a:pt x="1521" y="798"/>
                  </a:cubicBezTo>
                  <a:cubicBezTo>
                    <a:pt x="1609" y="868"/>
                    <a:pt x="1718" y="937"/>
                    <a:pt x="1812" y="990"/>
                  </a:cubicBezTo>
                  <a:cubicBezTo>
                    <a:pt x="1906" y="1043"/>
                    <a:pt x="1996" y="1080"/>
                    <a:pt x="2085" y="1116"/>
                  </a:cubicBezTo>
                  <a:cubicBezTo>
                    <a:pt x="2174" y="1152"/>
                    <a:pt x="2292" y="1187"/>
                    <a:pt x="2346" y="1206"/>
                  </a:cubicBezTo>
                </a:path>
              </a:pathLst>
            </a:custGeom>
            <a:noFill/>
            <a:ln w="28575" cap="flat" cmpd="sng">
              <a:solidFill>
                <a:srgbClr val="00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7943" name="Line 28"/>
            <p:cNvSpPr/>
            <p:nvPr/>
          </p:nvSpPr>
          <p:spPr>
            <a:xfrm>
              <a:off x="3178" y="3191"/>
              <a:ext cx="1513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44" name="Line 29"/>
            <p:cNvSpPr/>
            <p:nvPr/>
          </p:nvSpPr>
          <p:spPr>
            <a:xfrm flipV="1">
              <a:off x="3378" y="2278"/>
              <a:ext cx="4" cy="1197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45" name="Line 30"/>
            <p:cNvSpPr/>
            <p:nvPr/>
          </p:nvSpPr>
          <p:spPr>
            <a:xfrm>
              <a:off x="3765" y="2490"/>
              <a:ext cx="0" cy="701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946" name="Text Box 31"/>
            <p:cNvSpPr txBox="1"/>
            <p:nvPr/>
          </p:nvSpPr>
          <p:spPr>
            <a:xfrm>
              <a:off x="3574" y="3113"/>
              <a:ext cx="379" cy="29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0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47" name="Text Box 32"/>
            <p:cNvSpPr txBox="1"/>
            <p:nvPr/>
          </p:nvSpPr>
          <p:spPr>
            <a:xfrm>
              <a:off x="4486" y="3112"/>
              <a:ext cx="307" cy="29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48" name="Text Box 33"/>
            <p:cNvSpPr txBox="1"/>
            <p:nvPr/>
          </p:nvSpPr>
          <p:spPr>
            <a:xfrm>
              <a:off x="3188" y="3170"/>
              <a:ext cx="218" cy="22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49" name="Text Box 34"/>
            <p:cNvSpPr txBox="1"/>
            <p:nvPr/>
          </p:nvSpPr>
          <p:spPr>
            <a:xfrm>
              <a:off x="3334" y="2084"/>
              <a:ext cx="816" cy="298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  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)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7950" name="Line 35"/>
            <p:cNvSpPr/>
            <p:nvPr/>
          </p:nvSpPr>
          <p:spPr>
            <a:xfrm>
              <a:off x="3378" y="2485"/>
              <a:ext cx="387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951" name="Text Box 36"/>
            <p:cNvSpPr txBox="1"/>
            <p:nvPr/>
          </p:nvSpPr>
          <p:spPr>
            <a:xfrm>
              <a:off x="2906" y="2355"/>
              <a:ext cx="447" cy="29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83"/>
          <p:cNvGrpSpPr/>
          <p:nvPr/>
        </p:nvGrpSpPr>
        <p:grpSpPr>
          <a:xfrm>
            <a:off x="5219700" y="476250"/>
            <a:ext cx="1728788" cy="2447925"/>
            <a:chOff x="3164" y="2802"/>
            <a:chExt cx="975" cy="1468"/>
          </a:xfrm>
        </p:grpSpPr>
        <p:sp>
          <p:nvSpPr>
            <p:cNvPr id="37934" name="Line 84"/>
            <p:cNvSpPr/>
            <p:nvPr/>
          </p:nvSpPr>
          <p:spPr>
            <a:xfrm>
              <a:off x="3390" y="3546"/>
              <a:ext cx="623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35" name="Line 85"/>
            <p:cNvSpPr/>
            <p:nvPr/>
          </p:nvSpPr>
          <p:spPr>
            <a:xfrm>
              <a:off x="3390" y="3546"/>
              <a:ext cx="240" cy="0"/>
            </a:xfrm>
            <a:prstGeom prst="line">
              <a:avLst/>
            </a:prstGeom>
            <a:ln w="38100" cap="flat" cmpd="sng">
              <a:solidFill>
                <a:srgbClr val="66FF33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36" name="Line 86"/>
            <p:cNvSpPr/>
            <p:nvPr/>
          </p:nvSpPr>
          <p:spPr>
            <a:xfrm flipV="1">
              <a:off x="3390" y="2886"/>
              <a:ext cx="0" cy="661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37" name="Line 87"/>
            <p:cNvSpPr/>
            <p:nvPr/>
          </p:nvSpPr>
          <p:spPr>
            <a:xfrm>
              <a:off x="3390" y="3546"/>
              <a:ext cx="0" cy="71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37938" name="Object 88"/>
            <p:cNvGraphicFramePr>
              <a:graphicFrameLocks noChangeAspect="1"/>
            </p:cNvGraphicFramePr>
            <p:nvPr/>
          </p:nvGraphicFramePr>
          <p:xfrm>
            <a:off x="3164" y="2802"/>
            <a:ext cx="213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9" name="" r:id="rId1" imgW="161290" imgH="270510" progId="Equation.3">
                    <p:embed/>
                  </p:oleObj>
                </mc:Choice>
                <mc:Fallback>
                  <p:oleObj name="" r:id="rId1" imgW="161290" imgH="270510" progId="Equation.3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64" y="2802"/>
                          <a:ext cx="213" cy="3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39" name="Object 89"/>
            <p:cNvGraphicFramePr>
              <a:graphicFrameLocks noChangeAspect="1"/>
            </p:cNvGraphicFramePr>
            <p:nvPr/>
          </p:nvGraphicFramePr>
          <p:xfrm>
            <a:off x="3171" y="3950"/>
            <a:ext cx="169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" name="" r:id="rId3" imgW="128905" imgH="270510" progId="Equation.3">
                    <p:embed/>
                  </p:oleObj>
                </mc:Choice>
                <mc:Fallback>
                  <p:oleObj name="" r:id="rId3" imgW="128905" imgH="270510" progId="Equation.3">
                    <p:embed/>
                    <p:pic>
                      <p:nvPicPr>
                        <p:cNvPr id="0" name="图片 3189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71" y="3950"/>
                          <a:ext cx="169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40" name="Object 90"/>
            <p:cNvGraphicFramePr>
              <a:graphicFrameLocks noChangeAspect="1"/>
            </p:cNvGraphicFramePr>
            <p:nvPr/>
          </p:nvGraphicFramePr>
          <p:xfrm>
            <a:off x="3395" y="3500"/>
            <a:ext cx="540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2" name="" r:id="rId5" imgW="405765" imgH="276860" progId="Equation.3">
                    <p:embed/>
                  </p:oleObj>
                </mc:Choice>
                <mc:Fallback>
                  <p:oleObj name="" r:id="rId5" imgW="405765" imgH="276860" progId="Equation.3">
                    <p:embed/>
                    <p:pic>
                      <p:nvPicPr>
                        <p:cNvPr id="0" name="图片 3191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395" y="3500"/>
                          <a:ext cx="540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41" name="Object 91"/>
            <p:cNvGraphicFramePr>
              <a:graphicFrameLocks noChangeAspect="1"/>
            </p:cNvGraphicFramePr>
            <p:nvPr/>
          </p:nvGraphicFramePr>
          <p:xfrm>
            <a:off x="3942" y="3493"/>
            <a:ext cx="197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3" name="" r:id="rId7" imgW="147955" imgH="257810" progId="Equation.3">
                    <p:embed/>
                  </p:oleObj>
                </mc:Choice>
                <mc:Fallback>
                  <p:oleObj name="" r:id="rId7" imgW="147955" imgH="257810" progId="Equation.3">
                    <p:embed/>
                    <p:pic>
                      <p:nvPicPr>
                        <p:cNvPr id="0" name="图片 3192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42" y="3493"/>
                          <a:ext cx="197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357" name="Text Box 93"/>
          <p:cNvSpPr txBox="1"/>
          <p:nvPr/>
        </p:nvSpPr>
        <p:spPr>
          <a:xfrm>
            <a:off x="539750" y="2852738"/>
            <a:ext cx="8086725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81000" indent="-381000" algn="just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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en-US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2800" dirty="0">
                <a:latin typeface="Times New Roman" panose="02020603050405020304" pitchFamily="18" charset="0"/>
              </a:rPr>
              <a:t>上</a:t>
            </a:r>
            <a:r>
              <a:rPr lang="zh-CN" altLang="en-US" sz="2800" dirty="0">
                <a:latin typeface="Times New Roman" panose="02020603050405020304" pitchFamily="18" charset="0"/>
              </a:rPr>
              <a:t>的电流大小相等，相位相反，</a:t>
            </a:r>
            <a:r>
              <a:rPr lang="zh-CN" altLang="zh-CN" sz="2800" dirty="0">
                <a:latin typeface="Times New Roman" panose="02020603050405020304" pitchFamily="18" charset="0"/>
              </a:rPr>
              <a:t>并联总电流为零，</a:t>
            </a:r>
            <a:r>
              <a:rPr lang="zh-CN" altLang="en-US" sz="2800" dirty="0">
                <a:latin typeface="Times New Roman" panose="02020603050405020304" pitchFamily="18" charset="0"/>
              </a:rPr>
              <a:t>也称电流谐振，即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1358" name="Object 94"/>
          <p:cNvGraphicFramePr>
            <a:graphicFrameLocks noChangeAspect="1"/>
          </p:cNvGraphicFramePr>
          <p:nvPr/>
        </p:nvGraphicFramePr>
        <p:xfrm>
          <a:off x="588963" y="3960813"/>
          <a:ext cx="4449762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9" imgW="1706245" imgH="373380" progId="Equation.DSMT4">
                  <p:embed/>
                </p:oleObj>
              </mc:Choice>
              <mc:Fallback>
                <p:oleObj name="" r:id="rId9" imgW="1706245" imgH="373380" progId="Equation.DSMT4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8963" y="3960813"/>
                        <a:ext cx="4449762" cy="981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86" name="Object 122"/>
          <p:cNvGraphicFramePr>
            <a:graphicFrameLocks noChangeAspect="1"/>
          </p:cNvGraphicFramePr>
          <p:nvPr/>
        </p:nvGraphicFramePr>
        <p:xfrm>
          <a:off x="323850" y="4868863"/>
          <a:ext cx="537845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11" imgW="2092960" imgH="399415" progId="Equation.3">
                  <p:embed/>
                </p:oleObj>
              </mc:Choice>
              <mc:Fallback>
                <p:oleObj name="" r:id="rId11" imgW="2092960" imgH="399415" progId="Equation.3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3850" y="4868863"/>
                        <a:ext cx="5378450" cy="102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87" name="Text Box 123"/>
          <p:cNvSpPr txBox="1"/>
          <p:nvPr/>
        </p:nvSpPr>
        <p:spPr>
          <a:xfrm>
            <a:off x="611188" y="5734050"/>
            <a:ext cx="3960812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QI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 </a:t>
            </a:r>
            <a:endParaRPr lang="en-US" altLang="zh-CN" b="0" baseline="-250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7896" name="Group 12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7932" name="Picture 125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933" name="Text Box 12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7897" name="Group 127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37930" name="Picture 128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931" name="Text Box 129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7898" name="Group 161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37928" name="Picture 162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929" name="Text Box 163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" name="Group 164"/>
          <p:cNvGrpSpPr/>
          <p:nvPr/>
        </p:nvGrpSpPr>
        <p:grpSpPr>
          <a:xfrm>
            <a:off x="5508625" y="3644900"/>
            <a:ext cx="3230563" cy="1512888"/>
            <a:chOff x="3463" y="806"/>
            <a:chExt cx="2035" cy="953"/>
          </a:xfrm>
        </p:grpSpPr>
        <p:sp>
          <p:nvSpPr>
            <p:cNvPr id="37900" name="Line 165"/>
            <p:cNvSpPr/>
            <p:nvPr/>
          </p:nvSpPr>
          <p:spPr>
            <a:xfrm>
              <a:off x="3697" y="834"/>
              <a:ext cx="0" cy="91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01" name="Text Box 166"/>
            <p:cNvSpPr txBox="1"/>
            <p:nvPr/>
          </p:nvSpPr>
          <p:spPr>
            <a:xfrm>
              <a:off x="3976" y="815"/>
              <a:ext cx="24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7902" name="Text Box 167"/>
            <p:cNvSpPr txBox="1"/>
            <p:nvPr/>
          </p:nvSpPr>
          <p:spPr>
            <a:xfrm>
              <a:off x="3991" y="1307"/>
              <a:ext cx="21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37903" name="Group 168"/>
            <p:cNvGrpSpPr/>
            <p:nvPr/>
          </p:nvGrpSpPr>
          <p:grpSpPr>
            <a:xfrm>
              <a:off x="4597" y="1224"/>
              <a:ext cx="258" cy="93"/>
              <a:chOff x="1351" y="3976"/>
              <a:chExt cx="174" cy="93"/>
            </a:xfrm>
          </p:grpSpPr>
          <p:sp>
            <p:nvSpPr>
              <p:cNvPr id="37926" name="Line 169"/>
              <p:cNvSpPr/>
              <p:nvPr/>
            </p:nvSpPr>
            <p:spPr>
              <a:xfrm>
                <a:off x="1351" y="3976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27" name="Line 170"/>
              <p:cNvSpPr/>
              <p:nvPr/>
            </p:nvSpPr>
            <p:spPr>
              <a:xfrm>
                <a:off x="1351" y="4068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7904" name="Line 171"/>
            <p:cNvSpPr/>
            <p:nvPr/>
          </p:nvSpPr>
          <p:spPr>
            <a:xfrm flipV="1">
              <a:off x="5185" y="834"/>
              <a:ext cx="0" cy="25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05" name="Line 172"/>
            <p:cNvSpPr/>
            <p:nvPr/>
          </p:nvSpPr>
          <p:spPr>
            <a:xfrm>
              <a:off x="5193" y="1452"/>
              <a:ext cx="1" cy="30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06" name="Line 173"/>
            <p:cNvSpPr/>
            <p:nvPr/>
          </p:nvSpPr>
          <p:spPr>
            <a:xfrm flipH="1">
              <a:off x="3697" y="1746"/>
              <a:ext cx="14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07" name="Line 174"/>
            <p:cNvSpPr/>
            <p:nvPr/>
          </p:nvSpPr>
          <p:spPr>
            <a:xfrm flipH="1">
              <a:off x="3697" y="834"/>
              <a:ext cx="14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08" name="Line 175"/>
            <p:cNvSpPr/>
            <p:nvPr/>
          </p:nvSpPr>
          <p:spPr>
            <a:xfrm>
              <a:off x="4729" y="1316"/>
              <a:ext cx="0" cy="43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09" name="Line 176"/>
            <p:cNvSpPr/>
            <p:nvPr/>
          </p:nvSpPr>
          <p:spPr>
            <a:xfrm flipV="1">
              <a:off x="4729" y="834"/>
              <a:ext cx="0" cy="39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0" name="Line 177"/>
            <p:cNvSpPr/>
            <p:nvPr/>
          </p:nvSpPr>
          <p:spPr>
            <a:xfrm>
              <a:off x="4261" y="834"/>
              <a:ext cx="0" cy="91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37911" name="Object 178"/>
            <p:cNvGraphicFramePr>
              <a:graphicFrameLocks noChangeAspect="1"/>
            </p:cNvGraphicFramePr>
            <p:nvPr/>
          </p:nvGraphicFramePr>
          <p:xfrm>
            <a:off x="3463" y="806"/>
            <a:ext cx="205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4" name="" r:id="rId14" imgW="147955" imgH="244475" progId="Equation.3">
                    <p:embed/>
                  </p:oleObj>
                </mc:Choice>
                <mc:Fallback>
                  <p:oleObj name="" r:id="rId14" imgW="147955" imgH="244475" progId="Equation.3">
                    <p:embed/>
                    <p:pic>
                      <p:nvPicPr>
                        <p:cNvPr id="0" name="图片 3193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63" y="806"/>
                          <a:ext cx="205" cy="3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2" name="Line 179"/>
            <p:cNvSpPr/>
            <p:nvPr/>
          </p:nvSpPr>
          <p:spPr>
            <a:xfrm flipV="1">
              <a:off x="3696" y="879"/>
              <a:ext cx="0" cy="325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13" name="Text Box 180"/>
            <p:cNvSpPr txBox="1"/>
            <p:nvPr/>
          </p:nvSpPr>
          <p:spPr>
            <a:xfrm>
              <a:off x="4299" y="1116"/>
              <a:ext cx="27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14" name="Text Box 181"/>
            <p:cNvSpPr txBox="1"/>
            <p:nvPr/>
          </p:nvSpPr>
          <p:spPr>
            <a:xfrm>
              <a:off x="4819" y="1096"/>
              <a:ext cx="2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915" name="Text Box 182"/>
            <p:cNvSpPr txBox="1"/>
            <p:nvPr/>
          </p:nvSpPr>
          <p:spPr>
            <a:xfrm>
              <a:off x="5257" y="1117"/>
              <a:ext cx="2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7916" name="Object 183"/>
            <p:cNvGraphicFramePr>
              <a:graphicFrameLocks noChangeAspect="1"/>
            </p:cNvGraphicFramePr>
            <p:nvPr/>
          </p:nvGraphicFramePr>
          <p:xfrm>
            <a:off x="3985" y="1082"/>
            <a:ext cx="205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8" name="" r:id="rId16" imgW="147955" imgH="244475" progId="Equation.3">
                    <p:embed/>
                  </p:oleObj>
                </mc:Choice>
                <mc:Fallback>
                  <p:oleObj name="" r:id="rId16" imgW="147955" imgH="244475" progId="Equation.3">
                    <p:embed/>
                    <p:pic>
                      <p:nvPicPr>
                        <p:cNvPr id="0" name="图片 3197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85" y="1082"/>
                          <a:ext cx="205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7" name="Rectangle 184"/>
            <p:cNvSpPr/>
            <p:nvPr/>
          </p:nvSpPr>
          <p:spPr>
            <a:xfrm>
              <a:off x="4196" y="1106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7918" name="Group 185"/>
            <p:cNvGrpSpPr/>
            <p:nvPr/>
          </p:nvGrpSpPr>
          <p:grpSpPr>
            <a:xfrm>
              <a:off x="3515" y="1196"/>
              <a:ext cx="363" cy="363"/>
              <a:chOff x="3515" y="1072"/>
              <a:chExt cx="363" cy="363"/>
            </a:xfrm>
          </p:grpSpPr>
          <p:sp>
            <p:nvSpPr>
              <p:cNvPr id="37924" name="Oval 186"/>
              <p:cNvSpPr/>
              <p:nvPr/>
            </p:nvSpPr>
            <p:spPr>
              <a:xfrm>
                <a:off x="3515" y="1072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25" name="Line 187"/>
              <p:cNvSpPr/>
              <p:nvPr/>
            </p:nvSpPr>
            <p:spPr>
              <a:xfrm>
                <a:off x="3515" y="1254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7919" name="Group 188"/>
            <p:cNvGrpSpPr/>
            <p:nvPr/>
          </p:nvGrpSpPr>
          <p:grpSpPr>
            <a:xfrm rot="10800000">
              <a:off x="5175" y="1098"/>
              <a:ext cx="90" cy="363"/>
              <a:chOff x="1565" y="2614"/>
              <a:chExt cx="90" cy="486"/>
            </a:xfrm>
          </p:grpSpPr>
          <p:sp>
            <p:nvSpPr>
              <p:cNvPr id="37920" name="Arc 189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7921" name="Arc 190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7922" name="Arc 191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7923" name="Arc 192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1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1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57" grpId="0"/>
      <p:bldP spid="1138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01" name="Text Box 61"/>
          <p:cNvSpPr txBox="1"/>
          <p:nvPr/>
        </p:nvSpPr>
        <p:spPr>
          <a:xfrm>
            <a:off x="468313" y="1412875"/>
            <a:ext cx="36718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spcBef>
                <a:spcPct val="50000"/>
              </a:spcBef>
              <a:buAutoNum type="circleNumDbPlain" startAt="3"/>
            </a:pPr>
            <a:r>
              <a:rPr lang="zh-CN" altLang="en-US" sz="2800" dirty="0">
                <a:latin typeface="Arial" panose="020B0604020202020204" pitchFamily="34" charset="0"/>
              </a:rPr>
              <a:t>谐振时的功率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graphicFrame>
        <p:nvGraphicFramePr>
          <p:cNvPr id="10304" name="Object 64"/>
          <p:cNvGraphicFramePr>
            <a:graphicFrameLocks noChangeAspect="1"/>
          </p:cNvGraphicFramePr>
          <p:nvPr/>
        </p:nvGraphicFramePr>
        <p:xfrm>
          <a:off x="611188" y="2492375"/>
          <a:ext cx="4100512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" r:id="rId1" imgW="1558290" imgH="431165" progId="Equation.3">
                  <p:embed/>
                </p:oleObj>
              </mc:Choice>
              <mc:Fallback>
                <p:oleObj name="" r:id="rId1" imgW="1558290" imgH="431165" progId="Equation.3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2492375"/>
                        <a:ext cx="4100512" cy="1123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5" name="Object 65"/>
          <p:cNvGraphicFramePr>
            <a:graphicFrameLocks noChangeAspect="1"/>
          </p:cNvGraphicFramePr>
          <p:nvPr/>
        </p:nvGraphicFramePr>
        <p:xfrm>
          <a:off x="684213" y="2060575"/>
          <a:ext cx="25146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3" imgW="953135" imgH="180340" progId="Equation.3">
                  <p:embed/>
                </p:oleObj>
              </mc:Choice>
              <mc:Fallback>
                <p:oleObj name="" r:id="rId3" imgW="953135" imgH="180340" progId="Equation.3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2060575"/>
                        <a:ext cx="2514600" cy="477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8" name="Text Box 68"/>
          <p:cNvSpPr txBox="1"/>
          <p:nvPr/>
        </p:nvSpPr>
        <p:spPr>
          <a:xfrm>
            <a:off x="539750" y="3573463"/>
            <a:ext cx="36718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spcBef>
                <a:spcPct val="50000"/>
              </a:spcBef>
              <a:buAutoNum type="circleNumDbPlain" startAt="4"/>
            </a:pPr>
            <a:r>
              <a:rPr lang="zh-CN" altLang="en-US" sz="2800" dirty="0">
                <a:latin typeface="Arial" panose="020B0604020202020204" pitchFamily="34" charset="0"/>
              </a:rPr>
              <a:t>谐振时的能量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graphicFrame>
        <p:nvGraphicFramePr>
          <p:cNvPr id="10309" name="Object 69"/>
          <p:cNvGraphicFramePr>
            <a:graphicFrameLocks noChangeAspect="1"/>
          </p:cNvGraphicFramePr>
          <p:nvPr/>
        </p:nvGraphicFramePr>
        <p:xfrm>
          <a:off x="2411413" y="404813"/>
          <a:ext cx="3887787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" r:id="rId5" imgW="1590675" imgH="399415" progId="Equation.3">
                  <p:embed/>
                </p:oleObj>
              </mc:Choice>
              <mc:Fallback>
                <p:oleObj name="" r:id="rId5" imgW="1590675" imgH="399415" progId="Equation.3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11413" y="404813"/>
                        <a:ext cx="3887787" cy="968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0" name="Text Box 70"/>
          <p:cNvSpPr txBox="1"/>
          <p:nvPr/>
        </p:nvSpPr>
        <p:spPr>
          <a:xfrm>
            <a:off x="539750" y="620713"/>
            <a:ext cx="36718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</a:rPr>
              <a:t>品质因数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graphicFrame>
        <p:nvGraphicFramePr>
          <p:cNvPr id="10311" name="Object 71"/>
          <p:cNvGraphicFramePr>
            <a:graphicFrameLocks noChangeAspect="1"/>
          </p:cNvGraphicFramePr>
          <p:nvPr/>
        </p:nvGraphicFramePr>
        <p:xfrm>
          <a:off x="5508625" y="2781300"/>
          <a:ext cx="18954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7" imgW="721360" imgH="206375" progId="Equation.3">
                  <p:embed/>
                </p:oleObj>
              </mc:Choice>
              <mc:Fallback>
                <p:oleObj name="" r:id="rId7" imgW="721360" imgH="206375" progId="Equation.3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08625" y="2781300"/>
                        <a:ext cx="1895475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21" name="Group 7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8929" name="Picture 75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30" name="Text Box 7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8922" name="Group 77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38927" name="Picture 78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28" name="Text Box 79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8923" name="Group 83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38925" name="Picture 84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26" name="Text Box 85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10326" name="Object 86"/>
          <p:cNvGraphicFramePr>
            <a:graphicFrameLocks noChangeAspect="1"/>
          </p:cNvGraphicFramePr>
          <p:nvPr/>
        </p:nvGraphicFramePr>
        <p:xfrm>
          <a:off x="827088" y="4221163"/>
          <a:ext cx="54610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10" imgW="2073275" imgH="212725" progId="Equation.3">
                  <p:embed/>
                </p:oleObj>
              </mc:Choice>
              <mc:Fallback>
                <p:oleObj name="" r:id="rId10" imgW="2073275" imgH="212725" progId="Equation.3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4221163"/>
                        <a:ext cx="5461000" cy="560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10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01" grpId="0"/>
      <p:bldP spid="10308" grpId="0"/>
      <p:bldP spid="103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212" name="Text Box 36"/>
          <p:cNvSpPr txBox="1"/>
          <p:nvPr/>
        </p:nvSpPr>
        <p:spPr>
          <a:xfrm>
            <a:off x="395288" y="476250"/>
            <a:ext cx="6767512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</a:rPr>
              <a:t>2.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电感线圈与电容器的并联谐振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50213" name="Text Box 37"/>
          <p:cNvSpPr txBox="1"/>
          <p:nvPr/>
        </p:nvSpPr>
        <p:spPr>
          <a:xfrm>
            <a:off x="468313" y="1052513"/>
            <a:ext cx="8120062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</a:pPr>
            <a:r>
              <a:rPr lang="en-US" altLang="zh-CN" sz="2800" dirty="0">
                <a:latin typeface="楷体_GB2312" pitchFamily="49" charset="-122"/>
              </a:rPr>
              <a:t>    </a:t>
            </a:r>
            <a:r>
              <a:rPr lang="zh-CN" altLang="en-US" sz="2800" dirty="0">
                <a:latin typeface="楷体_GB2312" pitchFamily="49" charset="-122"/>
              </a:rPr>
              <a:t>实际的电感线圈总是存在电阻，因此当电感线圈与电容器并联时，电路如图所示。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50234" name="Text Box 58"/>
          <p:cNvSpPr txBox="1"/>
          <p:nvPr/>
        </p:nvSpPr>
        <p:spPr>
          <a:xfrm>
            <a:off x="539750" y="2276475"/>
            <a:ext cx="26638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FF9900"/>
                </a:solidFill>
                <a:latin typeface="楷体_GB2312" pitchFamily="49" charset="-122"/>
              </a:rPr>
              <a:t>（</a:t>
            </a:r>
            <a:r>
              <a:rPr lang="en-US" altLang="zh-CN" sz="2800" dirty="0">
                <a:solidFill>
                  <a:srgbClr val="FF9900"/>
                </a:solidFill>
                <a:latin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FF9900"/>
                </a:solidFill>
                <a:latin typeface="楷体_GB2312" pitchFamily="49" charset="-122"/>
              </a:rPr>
              <a:t>）谐振条件</a:t>
            </a:r>
            <a:endParaRPr lang="zh-CN" altLang="en-US" sz="2800" dirty="0">
              <a:solidFill>
                <a:srgbClr val="FF9900"/>
              </a:solidFill>
              <a:latin typeface="楷体_GB2312" pitchFamily="49" charset="-122"/>
            </a:endParaRPr>
          </a:p>
        </p:txBody>
      </p:sp>
      <p:graphicFrame>
        <p:nvGraphicFramePr>
          <p:cNvPr id="50235" name="Object 59"/>
          <p:cNvGraphicFramePr>
            <a:graphicFrameLocks noChangeAspect="1"/>
          </p:cNvGraphicFramePr>
          <p:nvPr/>
        </p:nvGraphicFramePr>
        <p:xfrm>
          <a:off x="971550" y="2924175"/>
          <a:ext cx="3087688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" r:id="rId1" imgW="1203960" imgH="340995" progId="Equation.3">
                  <p:embed/>
                </p:oleObj>
              </mc:Choice>
              <mc:Fallback>
                <p:oleObj name="" r:id="rId1" imgW="1203960" imgH="340995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2924175"/>
                        <a:ext cx="3087688" cy="882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36" name="Object 60"/>
          <p:cNvGraphicFramePr>
            <a:graphicFrameLocks noChangeAspect="1"/>
          </p:cNvGraphicFramePr>
          <p:nvPr/>
        </p:nvGraphicFramePr>
        <p:xfrm>
          <a:off x="1258888" y="4005263"/>
          <a:ext cx="559117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3" imgW="2092960" imgH="354330" progId="Equation.3">
                  <p:embed/>
                </p:oleObj>
              </mc:Choice>
              <mc:Fallback>
                <p:oleObj name="" r:id="rId3" imgW="2092960" imgH="354330" progId="Equation.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4005263"/>
                        <a:ext cx="5591175" cy="882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37" name="Object 61"/>
          <p:cNvGraphicFramePr>
            <a:graphicFrameLocks noChangeAspect="1"/>
          </p:cNvGraphicFramePr>
          <p:nvPr/>
        </p:nvGraphicFramePr>
        <p:xfrm>
          <a:off x="6877050" y="4221163"/>
          <a:ext cx="143033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5" imgW="560070" imgH="193040" progId="Equation.3">
                  <p:embed/>
                </p:oleObj>
              </mc:Choice>
              <mc:Fallback>
                <p:oleObj name="" r:id="rId5" imgW="560070" imgH="193040" progId="Equation.3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77050" y="4221163"/>
                        <a:ext cx="1430338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38" name="Object 62"/>
          <p:cNvGraphicFramePr>
            <a:graphicFrameLocks noChangeAspect="1"/>
          </p:cNvGraphicFramePr>
          <p:nvPr/>
        </p:nvGraphicFramePr>
        <p:xfrm>
          <a:off x="827088" y="5013325"/>
          <a:ext cx="344170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" r:id="rId7" imgW="1352550" imgH="405765" progId="Equation.3">
                  <p:embed/>
                </p:oleObj>
              </mc:Choice>
              <mc:Fallback>
                <p:oleObj name="" r:id="rId7" imgW="1352550" imgH="405765" progId="Equation.3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5013325"/>
                        <a:ext cx="3441700" cy="1035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39" name="Object 63"/>
          <p:cNvGraphicFramePr>
            <a:graphicFrameLocks noChangeAspect="1"/>
          </p:cNvGraphicFramePr>
          <p:nvPr/>
        </p:nvGraphicFramePr>
        <p:xfrm>
          <a:off x="5235575" y="4941888"/>
          <a:ext cx="3276600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9" imgW="1282700" imgH="419100" progId="Equation.3">
                  <p:embed/>
                </p:oleObj>
              </mc:Choice>
              <mc:Fallback>
                <p:oleObj name="" r:id="rId9" imgW="1282700" imgH="419100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35575" y="4941888"/>
                        <a:ext cx="3276600" cy="1068387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99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  <a:effectLst>
                        <a:prstShdw prst="shdw17" dist="17961" dir="2699999">
                          <a:srgbClr val="997A5C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40" name="Line 64"/>
          <p:cNvSpPr/>
          <p:nvPr/>
        </p:nvSpPr>
        <p:spPr>
          <a:xfrm>
            <a:off x="4498975" y="5518150"/>
            <a:ext cx="576263" cy="0"/>
          </a:xfrm>
          <a:prstGeom prst="line">
            <a:avLst/>
          </a:prstGeom>
          <a:ln w="76200" cap="flat" cmpd="sng">
            <a:solidFill>
              <a:srgbClr val="33CCFF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9947" name="Group 6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39975" name="Picture 66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9976" name="Text Box 6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9948" name="Group 68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39973" name="Picture 69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9974" name="Text Box 70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39949" name="Group 74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39971" name="Picture 75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9972" name="Text Box 76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82"/>
          <p:cNvGrpSpPr/>
          <p:nvPr/>
        </p:nvGrpSpPr>
        <p:grpSpPr>
          <a:xfrm>
            <a:off x="6443663" y="1916113"/>
            <a:ext cx="2357437" cy="1922462"/>
            <a:chOff x="4059" y="1207"/>
            <a:chExt cx="1485" cy="1211"/>
          </a:xfrm>
        </p:grpSpPr>
        <p:sp>
          <p:nvSpPr>
            <p:cNvPr id="39951" name="Line 39"/>
            <p:cNvSpPr/>
            <p:nvPr/>
          </p:nvSpPr>
          <p:spPr>
            <a:xfrm>
              <a:off x="4529" y="1245"/>
              <a:ext cx="0" cy="61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39952" name="Line 40"/>
            <p:cNvSpPr/>
            <p:nvPr/>
          </p:nvSpPr>
          <p:spPr>
            <a:xfrm>
              <a:off x="4529" y="2235"/>
              <a:ext cx="0" cy="1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39953" name="Line 41"/>
            <p:cNvSpPr/>
            <p:nvPr/>
          </p:nvSpPr>
          <p:spPr>
            <a:xfrm flipV="1">
              <a:off x="4150" y="1244"/>
              <a:ext cx="99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54" name="Line 42"/>
            <p:cNvSpPr/>
            <p:nvPr/>
          </p:nvSpPr>
          <p:spPr>
            <a:xfrm>
              <a:off x="5153" y="1245"/>
              <a:ext cx="0" cy="52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55" name="Line 43"/>
            <p:cNvSpPr/>
            <p:nvPr/>
          </p:nvSpPr>
          <p:spPr>
            <a:xfrm>
              <a:off x="5153" y="1869"/>
              <a:ext cx="0" cy="52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56" name="Line 44"/>
            <p:cNvSpPr/>
            <p:nvPr/>
          </p:nvSpPr>
          <p:spPr>
            <a:xfrm flipH="1" flipV="1">
              <a:off x="4105" y="2396"/>
              <a:ext cx="104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9957" name="Group 45"/>
            <p:cNvGrpSpPr/>
            <p:nvPr/>
          </p:nvGrpSpPr>
          <p:grpSpPr>
            <a:xfrm>
              <a:off x="5021" y="1776"/>
              <a:ext cx="258" cy="93"/>
              <a:chOff x="1351" y="3976"/>
              <a:chExt cx="174" cy="93"/>
            </a:xfrm>
          </p:grpSpPr>
          <p:sp>
            <p:nvSpPr>
              <p:cNvPr id="39969" name="Line 46"/>
              <p:cNvSpPr/>
              <p:nvPr/>
            </p:nvSpPr>
            <p:spPr>
              <a:xfrm>
                <a:off x="1351" y="3976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970" name="Line 47"/>
              <p:cNvSpPr/>
              <p:nvPr/>
            </p:nvSpPr>
            <p:spPr>
              <a:xfrm>
                <a:off x="1351" y="4068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9958" name="Text Box 48"/>
            <p:cNvSpPr txBox="1"/>
            <p:nvPr/>
          </p:nvSpPr>
          <p:spPr>
            <a:xfrm>
              <a:off x="5279" y="1645"/>
              <a:ext cx="2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9" name="Text Box 49"/>
            <p:cNvSpPr txBox="1"/>
            <p:nvPr/>
          </p:nvSpPr>
          <p:spPr>
            <a:xfrm>
              <a:off x="4604" y="1888"/>
              <a:ext cx="2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60" name="Text Box 50"/>
            <p:cNvSpPr txBox="1"/>
            <p:nvPr/>
          </p:nvSpPr>
          <p:spPr>
            <a:xfrm>
              <a:off x="4559" y="1343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61" name="Oval 51"/>
            <p:cNvSpPr/>
            <p:nvPr/>
          </p:nvSpPr>
          <p:spPr>
            <a:xfrm>
              <a:off x="4059" y="2350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9962" name="Oval 52"/>
            <p:cNvSpPr/>
            <p:nvPr/>
          </p:nvSpPr>
          <p:spPr>
            <a:xfrm>
              <a:off x="4077" y="1207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9963" name="Rectangle 53"/>
            <p:cNvSpPr/>
            <p:nvPr/>
          </p:nvSpPr>
          <p:spPr>
            <a:xfrm>
              <a:off x="4468" y="137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9964" name="Group 77"/>
            <p:cNvGrpSpPr/>
            <p:nvPr/>
          </p:nvGrpSpPr>
          <p:grpSpPr>
            <a:xfrm rot="10800000">
              <a:off x="4522" y="1861"/>
              <a:ext cx="90" cy="363"/>
              <a:chOff x="1565" y="2614"/>
              <a:chExt cx="90" cy="486"/>
            </a:xfrm>
          </p:grpSpPr>
          <p:sp>
            <p:nvSpPr>
              <p:cNvPr id="39965" name="Arc 78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9966" name="Arc 79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9967" name="Arc 80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9968" name="Arc 81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"/>
                                        <p:tgtEl>
                                          <p:spTgt spid="50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0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50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5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50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2000"/>
                                        <p:tgtEl>
                                          <p:spTgt spid="50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50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0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12" grpId="0"/>
      <p:bldP spid="50213" grpId="0"/>
      <p:bldP spid="5023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40" name="Text Box 48"/>
          <p:cNvSpPr txBox="1"/>
          <p:nvPr/>
        </p:nvSpPr>
        <p:spPr>
          <a:xfrm>
            <a:off x="1979613" y="476250"/>
            <a:ext cx="6553200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571500" eaLnBrk="1" hangingPunct="1">
              <a:lnSpc>
                <a:spcPct val="120000"/>
              </a:lnSpc>
              <a:buAutoNum type="circleNumDbPlain"/>
            </a:pPr>
            <a:r>
              <a:rPr lang="zh-CN" altLang="en-US" sz="2800" dirty="0">
                <a:latin typeface="Times New Roman" panose="02020603050405020304" pitchFamily="18" charset="0"/>
              </a:rPr>
              <a:t>电路发生谐振是有条件的，</a:t>
            </a:r>
            <a:r>
              <a:rPr lang="zh-CN" altLang="en-US" sz="2800" dirty="0">
                <a:latin typeface="Arial" panose="020B0604020202020204" pitchFamily="34" charset="0"/>
              </a:rPr>
              <a:t>在电路参数一定时，满足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grpSp>
        <p:nvGrpSpPr>
          <p:cNvPr id="2" name="Group 49"/>
          <p:cNvGrpSpPr/>
          <p:nvPr/>
        </p:nvGrpSpPr>
        <p:grpSpPr>
          <a:xfrm>
            <a:off x="395288" y="404813"/>
            <a:ext cx="1847850" cy="850900"/>
            <a:chOff x="385" y="3022"/>
            <a:chExt cx="1164" cy="536"/>
          </a:xfrm>
        </p:grpSpPr>
        <p:pic>
          <p:nvPicPr>
            <p:cNvPr id="40980" name="Picture 50" descr="1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81" name="Text Box 51"/>
            <p:cNvSpPr txBox="1"/>
            <p:nvPr/>
          </p:nvSpPr>
          <p:spPr>
            <a:xfrm>
              <a:off x="793" y="3116"/>
              <a:ext cx="75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  </a:t>
              </a:r>
              <a:endParaRPr lang="zh-CN" altLang="en-US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aphicFrame>
        <p:nvGraphicFramePr>
          <p:cNvPr id="8244" name="Object 52"/>
          <p:cNvGraphicFramePr>
            <a:graphicFrameLocks noChangeAspect="1"/>
          </p:cNvGraphicFramePr>
          <p:nvPr/>
        </p:nvGraphicFramePr>
        <p:xfrm>
          <a:off x="742950" y="1557338"/>
          <a:ext cx="7599363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2" imgW="3039110" imgH="418465" progId="Equation.3">
                  <p:embed/>
                </p:oleObj>
              </mc:Choice>
              <mc:Fallback>
                <p:oleObj name="" r:id="rId2" imgW="3039110" imgH="418465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42950" y="1557338"/>
                        <a:ext cx="7599363" cy="987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45" name="Text Box 53"/>
          <p:cNvSpPr txBox="1"/>
          <p:nvPr/>
        </p:nvSpPr>
        <p:spPr>
          <a:xfrm>
            <a:off x="2032000" y="2708275"/>
            <a:ext cx="65039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342900" indent="-342900" eaLnBrk="1" hangingPunct="1">
              <a:buAutoNum type="circleNumDbPlain" startAt="2"/>
            </a:pPr>
            <a:r>
              <a:rPr lang="en-US" altLang="zh-CN" sz="2800" dirty="0">
                <a:latin typeface="楷体_GB2312" pitchFamily="49" charset="-122"/>
              </a:rPr>
              <a:t> </a:t>
            </a:r>
            <a:r>
              <a:rPr lang="zh-CN" altLang="en-US" sz="2800" dirty="0">
                <a:latin typeface="楷体_GB2312" pitchFamily="49" charset="-122"/>
              </a:rPr>
              <a:t>一般线圈电阻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R&lt;&lt;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800" dirty="0">
                <a:latin typeface="楷体_GB2312" pitchFamily="49" charset="-122"/>
              </a:rPr>
              <a:t>，则等效导纳为</a:t>
            </a:r>
            <a:endParaRPr lang="zh-CN" altLang="en-US" sz="2800" dirty="0">
              <a:latin typeface="楷体_GB2312" pitchFamily="49" charset="-122"/>
            </a:endParaRPr>
          </a:p>
        </p:txBody>
      </p:sp>
      <p:graphicFrame>
        <p:nvGraphicFramePr>
          <p:cNvPr id="8246" name="Object 54"/>
          <p:cNvGraphicFramePr>
            <a:graphicFrameLocks noChangeAspect="1"/>
          </p:cNvGraphicFramePr>
          <p:nvPr/>
        </p:nvGraphicFramePr>
        <p:xfrm>
          <a:off x="3132138" y="5300663"/>
          <a:ext cx="180022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4" imgW="663575" imgH="399415" progId="Equation.3">
                  <p:embed/>
                </p:oleObj>
              </mc:Choice>
              <mc:Fallback>
                <p:oleObj name="" r:id="rId4" imgW="663575" imgH="399415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32138" y="5300663"/>
                        <a:ext cx="1800225" cy="1073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47" name="Object 55"/>
          <p:cNvGraphicFramePr>
            <a:graphicFrameLocks noChangeAspect="1"/>
          </p:cNvGraphicFramePr>
          <p:nvPr/>
        </p:nvGraphicFramePr>
        <p:xfrm>
          <a:off x="1692275" y="3284538"/>
          <a:ext cx="5518150" cy="196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6" imgW="2221865" imgH="791845" progId="Equation.3">
                  <p:embed/>
                </p:oleObj>
              </mc:Choice>
              <mc:Fallback>
                <p:oleObj name="" r:id="rId6" imgW="2221865" imgH="791845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92275" y="3284538"/>
                        <a:ext cx="5518150" cy="1960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6"/>
          <p:cNvGrpSpPr/>
          <p:nvPr/>
        </p:nvGrpSpPr>
        <p:grpSpPr>
          <a:xfrm>
            <a:off x="827088" y="5516563"/>
            <a:ext cx="2303462" cy="576262"/>
            <a:chOff x="295" y="1616"/>
            <a:chExt cx="1451" cy="363"/>
          </a:xfrm>
        </p:grpSpPr>
        <p:sp>
          <p:nvSpPr>
            <p:cNvPr id="40978" name="Line 57"/>
            <p:cNvSpPr/>
            <p:nvPr/>
          </p:nvSpPr>
          <p:spPr>
            <a:xfrm>
              <a:off x="431" y="1979"/>
              <a:ext cx="1043" cy="0"/>
            </a:xfrm>
            <a:prstGeom prst="line">
              <a:avLst/>
            </a:prstGeom>
            <a:ln w="76200" cap="flat" cmpd="sng">
              <a:solidFill>
                <a:srgbClr val="33CC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979" name="Text Box 58"/>
            <p:cNvSpPr txBox="1"/>
            <p:nvPr/>
          </p:nvSpPr>
          <p:spPr>
            <a:xfrm>
              <a:off x="295" y="1616"/>
              <a:ext cx="145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latin typeface="Arial" panose="020B0604020202020204" pitchFamily="34" charset="0"/>
                </a:rPr>
                <a:t>谐振角频率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0969" name="Group 5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0976" name="Picture 60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77" name="Text Box 6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0970" name="Group 62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40974" name="Picture 63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75" name="Text Box 64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0971" name="Group 68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40972" name="Picture 69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0973" name="Text Box 70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1000"/>
                                        <p:tgtEl>
                                          <p:spTgt spid="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40" grpId="0"/>
      <p:bldP spid="824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5"/>
          <p:cNvGrpSpPr/>
          <p:nvPr/>
        </p:nvGrpSpPr>
        <p:grpSpPr>
          <a:xfrm>
            <a:off x="539750" y="765175"/>
            <a:ext cx="1871663" cy="576263"/>
            <a:chOff x="385" y="3203"/>
            <a:chExt cx="907" cy="363"/>
          </a:xfrm>
        </p:grpSpPr>
        <p:sp>
          <p:nvSpPr>
            <p:cNvPr id="42027" name="Line 13"/>
            <p:cNvSpPr/>
            <p:nvPr/>
          </p:nvSpPr>
          <p:spPr>
            <a:xfrm>
              <a:off x="476" y="3566"/>
              <a:ext cx="771" cy="0"/>
            </a:xfrm>
            <a:prstGeom prst="line">
              <a:avLst/>
            </a:prstGeom>
            <a:ln w="76200" cap="flat" cmpd="sng">
              <a:solidFill>
                <a:srgbClr val="33CC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28" name="Text Box 14"/>
            <p:cNvSpPr txBox="1"/>
            <p:nvPr/>
          </p:nvSpPr>
          <p:spPr>
            <a:xfrm>
              <a:off x="385" y="3203"/>
              <a:ext cx="90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latin typeface="Arial" panose="020B0604020202020204" pitchFamily="34" charset="0"/>
                </a:rPr>
                <a:t>等效电路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7206" name="Object 38"/>
          <p:cNvGraphicFramePr>
            <a:graphicFrameLocks noChangeAspect="1"/>
          </p:cNvGraphicFramePr>
          <p:nvPr/>
        </p:nvGraphicFramePr>
        <p:xfrm>
          <a:off x="5508625" y="620713"/>
          <a:ext cx="2916238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1" imgW="1049655" imgH="431165" progId="Equation.3">
                  <p:embed/>
                </p:oleObj>
              </mc:Choice>
              <mc:Fallback>
                <p:oleObj name="" r:id="rId1" imgW="1049655" imgH="431165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08625" y="620713"/>
                        <a:ext cx="2916238" cy="1190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2"/>
          <p:cNvGrpSpPr/>
          <p:nvPr/>
        </p:nvGrpSpPr>
        <p:grpSpPr>
          <a:xfrm>
            <a:off x="396875" y="2420938"/>
            <a:ext cx="1800225" cy="576262"/>
            <a:chOff x="385" y="3203"/>
            <a:chExt cx="907" cy="363"/>
          </a:xfrm>
        </p:grpSpPr>
        <p:sp>
          <p:nvSpPr>
            <p:cNvPr id="42025" name="Line 73"/>
            <p:cNvSpPr/>
            <p:nvPr/>
          </p:nvSpPr>
          <p:spPr>
            <a:xfrm>
              <a:off x="476" y="3566"/>
              <a:ext cx="771" cy="0"/>
            </a:xfrm>
            <a:prstGeom prst="line">
              <a:avLst/>
            </a:prstGeom>
            <a:ln w="76200" cap="flat" cmpd="sng">
              <a:solidFill>
                <a:srgbClr val="33CC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26" name="Text Box 74"/>
            <p:cNvSpPr txBox="1"/>
            <p:nvPr/>
          </p:nvSpPr>
          <p:spPr>
            <a:xfrm>
              <a:off x="385" y="3203"/>
              <a:ext cx="90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latin typeface="Arial" panose="020B0604020202020204" pitchFamily="34" charset="0"/>
                </a:rPr>
                <a:t>品质因数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7243" name="Object 75"/>
          <p:cNvGraphicFramePr>
            <a:graphicFrameLocks noChangeAspect="1"/>
          </p:cNvGraphicFramePr>
          <p:nvPr/>
        </p:nvGraphicFramePr>
        <p:xfrm>
          <a:off x="2268538" y="2276475"/>
          <a:ext cx="6335712" cy="122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" r:id="rId3" imgW="2208530" imgH="431165" progId="Equation.3">
                  <p:embed/>
                </p:oleObj>
              </mc:Choice>
              <mc:Fallback>
                <p:oleObj name="" r:id="rId3" imgW="2208530" imgH="431165" progId="Equation.3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68538" y="2276475"/>
                        <a:ext cx="6335712" cy="1227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44" name="AutoShape 76" descr="羊皮纸"/>
          <p:cNvSpPr/>
          <p:nvPr/>
        </p:nvSpPr>
        <p:spPr>
          <a:xfrm>
            <a:off x="5219700" y="3500438"/>
            <a:ext cx="3025775" cy="647700"/>
          </a:xfrm>
          <a:prstGeom prst="wedgeRoundRectCallout">
            <a:avLst>
              <a:gd name="adj1" fmla="val 40921"/>
              <a:gd name="adj2" fmla="val -100491"/>
              <a:gd name="adj3" fmla="val 16667"/>
            </a:avLst>
          </a:prstGeom>
          <a:blipFill rotWithShape="1">
            <a:blip r:embed="rId5"/>
          </a:blipFill>
          <a:ln w="9525">
            <a:noFill/>
          </a:ln>
        </p:spPr>
        <p:txBody>
          <a:bodyPr/>
          <a:p>
            <a:pPr algn="ctr" eaLnBrk="1" hangingPunct="1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线圈的品质因数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245" name="Text Box 77"/>
          <p:cNvSpPr txBox="1"/>
          <p:nvPr/>
        </p:nvSpPr>
        <p:spPr>
          <a:xfrm>
            <a:off x="468313" y="3500438"/>
            <a:ext cx="28082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rgbClr val="FF9900"/>
                </a:solidFill>
                <a:latin typeface="楷体_GB2312" pitchFamily="49" charset="-122"/>
              </a:rPr>
              <a:t>（</a:t>
            </a:r>
            <a:r>
              <a:rPr lang="en-US" altLang="zh-CN" sz="2800" dirty="0">
                <a:solidFill>
                  <a:srgbClr val="FF9900"/>
                </a:solidFill>
                <a:latin typeface="楷体_GB2312" pitchFamily="49" charset="-122"/>
              </a:rPr>
              <a:t>2</a:t>
            </a:r>
            <a:r>
              <a:rPr lang="zh-CN" altLang="en-US" sz="2800" dirty="0">
                <a:solidFill>
                  <a:srgbClr val="FF9900"/>
                </a:solidFill>
                <a:latin typeface="楷体_GB2312" pitchFamily="49" charset="-122"/>
              </a:rPr>
              <a:t>）谐振特点</a:t>
            </a:r>
            <a:endParaRPr lang="zh-CN" altLang="en-US" sz="2800" dirty="0">
              <a:solidFill>
                <a:srgbClr val="FF9900"/>
              </a:solidFill>
              <a:latin typeface="楷体_GB2312" pitchFamily="49" charset="-122"/>
            </a:endParaRPr>
          </a:p>
        </p:txBody>
      </p:sp>
      <p:sp>
        <p:nvSpPr>
          <p:cNvPr id="7246" name="Text Box 78"/>
          <p:cNvSpPr txBox="1"/>
          <p:nvPr/>
        </p:nvSpPr>
        <p:spPr>
          <a:xfrm>
            <a:off x="468313" y="4221163"/>
            <a:ext cx="6553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buAutoNum type="circleNumDbPlain"/>
            </a:pPr>
            <a:r>
              <a:rPr lang="zh-CN" altLang="en-US" sz="2800" dirty="0">
                <a:latin typeface="楷体_GB2312" pitchFamily="49" charset="-122"/>
              </a:rPr>
              <a:t>电路发生谐振时，输入阻抗很大。</a:t>
            </a:r>
            <a:endParaRPr lang="zh-CN" altLang="en-US" sz="2800" dirty="0">
              <a:latin typeface="楷体_GB2312" pitchFamily="49" charset="-122"/>
            </a:endParaRPr>
          </a:p>
        </p:txBody>
      </p:sp>
      <p:graphicFrame>
        <p:nvGraphicFramePr>
          <p:cNvPr id="7247" name="Object 79"/>
          <p:cNvGraphicFramePr>
            <a:graphicFrameLocks noChangeAspect="1"/>
          </p:cNvGraphicFramePr>
          <p:nvPr/>
        </p:nvGraphicFramePr>
        <p:xfrm>
          <a:off x="268288" y="4868863"/>
          <a:ext cx="8440737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6" imgW="2921000" imgH="457200" progId="Equation.3">
                  <p:embed/>
                </p:oleObj>
              </mc:Choice>
              <mc:Fallback>
                <p:oleObj name="" r:id="rId6" imgW="2921000" imgH="457200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8288" y="4868863"/>
                        <a:ext cx="8440737" cy="13176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33CCFF"/>
                          </a:gs>
                          <a:gs pos="50000">
                            <a:srgbClr val="FFFFFF"/>
                          </a:gs>
                          <a:gs pos="100000">
                            <a:srgbClr val="33CCFF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  <a:effectLst>
                        <a:prstShdw prst="shdw17" dist="17961" dir="2699999">
                          <a:srgbClr val="1F7A99"/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94" name="Group 8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2023" name="Picture 81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2024" name="Text Box 8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1995" name="Group 83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42021" name="Picture 84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2022" name="Text Box 85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1996" name="Group 89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42019" name="Picture 90" descr="7890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2020" name="Text Box 91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7" name="Group 99"/>
          <p:cNvGrpSpPr/>
          <p:nvPr/>
        </p:nvGrpSpPr>
        <p:grpSpPr>
          <a:xfrm>
            <a:off x="2584450" y="577850"/>
            <a:ext cx="2605088" cy="1547813"/>
            <a:chOff x="1628" y="364"/>
            <a:chExt cx="1641" cy="975"/>
          </a:xfrm>
        </p:grpSpPr>
        <p:grpSp>
          <p:nvGrpSpPr>
            <p:cNvPr id="41998" name="Group 54"/>
            <p:cNvGrpSpPr/>
            <p:nvPr/>
          </p:nvGrpSpPr>
          <p:grpSpPr>
            <a:xfrm>
              <a:off x="2601" y="781"/>
              <a:ext cx="258" cy="93"/>
              <a:chOff x="1351" y="3976"/>
              <a:chExt cx="174" cy="93"/>
            </a:xfrm>
          </p:grpSpPr>
          <p:sp>
            <p:nvSpPr>
              <p:cNvPr id="42017" name="Line 55"/>
              <p:cNvSpPr/>
              <p:nvPr/>
            </p:nvSpPr>
            <p:spPr>
              <a:xfrm>
                <a:off x="1351" y="3976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18" name="Line 56"/>
              <p:cNvSpPr/>
              <p:nvPr/>
            </p:nvSpPr>
            <p:spPr>
              <a:xfrm>
                <a:off x="1351" y="4068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1999" name="Line 57"/>
            <p:cNvSpPr/>
            <p:nvPr/>
          </p:nvSpPr>
          <p:spPr>
            <a:xfrm flipV="1">
              <a:off x="3189" y="391"/>
              <a:ext cx="0" cy="25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0" name="Line 58"/>
            <p:cNvSpPr/>
            <p:nvPr/>
          </p:nvSpPr>
          <p:spPr>
            <a:xfrm flipH="1">
              <a:off x="3198" y="1026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1" name="Line 59"/>
            <p:cNvSpPr/>
            <p:nvPr/>
          </p:nvSpPr>
          <p:spPr>
            <a:xfrm flipH="1">
              <a:off x="1701" y="1303"/>
              <a:ext cx="14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2" name="Line 60"/>
            <p:cNvSpPr/>
            <p:nvPr/>
          </p:nvSpPr>
          <p:spPr>
            <a:xfrm flipH="1">
              <a:off x="1701" y="391"/>
              <a:ext cx="14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3" name="Line 61"/>
            <p:cNvSpPr/>
            <p:nvPr/>
          </p:nvSpPr>
          <p:spPr>
            <a:xfrm>
              <a:off x="2733" y="873"/>
              <a:ext cx="0" cy="43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42004" name="Line 62"/>
            <p:cNvSpPr/>
            <p:nvPr/>
          </p:nvSpPr>
          <p:spPr>
            <a:xfrm flipV="1">
              <a:off x="2733" y="391"/>
              <a:ext cx="0" cy="39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42005" name="Line 63"/>
            <p:cNvSpPr/>
            <p:nvPr/>
          </p:nvSpPr>
          <p:spPr>
            <a:xfrm>
              <a:off x="2265" y="391"/>
              <a:ext cx="0" cy="91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2006" name="Text Box 64"/>
            <p:cNvSpPr txBox="1"/>
            <p:nvPr/>
          </p:nvSpPr>
          <p:spPr>
            <a:xfrm>
              <a:off x="2336" y="663"/>
              <a:ext cx="2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07" name="Text Box 65"/>
            <p:cNvSpPr txBox="1"/>
            <p:nvPr/>
          </p:nvSpPr>
          <p:spPr>
            <a:xfrm>
              <a:off x="2971" y="663"/>
              <a:ext cx="2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08" name="Rectangle 66"/>
            <p:cNvSpPr/>
            <p:nvPr/>
          </p:nvSpPr>
          <p:spPr>
            <a:xfrm>
              <a:off x="2200" y="663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2009" name="Text Box 71"/>
            <p:cNvSpPr txBox="1"/>
            <p:nvPr/>
          </p:nvSpPr>
          <p:spPr>
            <a:xfrm>
              <a:off x="1882" y="663"/>
              <a:ext cx="34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2010" name="Group 92"/>
            <p:cNvGrpSpPr/>
            <p:nvPr/>
          </p:nvGrpSpPr>
          <p:grpSpPr>
            <a:xfrm rot="10800000">
              <a:off x="3179" y="663"/>
              <a:ext cx="90" cy="363"/>
              <a:chOff x="1565" y="2614"/>
              <a:chExt cx="90" cy="486"/>
            </a:xfrm>
          </p:grpSpPr>
          <p:sp>
            <p:nvSpPr>
              <p:cNvPr id="42013" name="Arc 93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2014" name="Arc 94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2015" name="Arc 95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2016" name="Arc 96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2011" name="Oval 97"/>
            <p:cNvSpPr/>
            <p:nvPr/>
          </p:nvSpPr>
          <p:spPr>
            <a:xfrm>
              <a:off x="1637" y="364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2012" name="Oval 98"/>
            <p:cNvSpPr/>
            <p:nvPr/>
          </p:nvSpPr>
          <p:spPr>
            <a:xfrm>
              <a:off x="1628" y="1271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7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0" dur="2000"/>
                                        <p:tgtEl>
                                          <p:spTgt spid="7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7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2000"/>
                                        <p:tgtEl>
                                          <p:spTgt spid="7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44" grpId="0" animBg="1"/>
      <p:bldP spid="7245" grpId="0"/>
      <p:bldP spid="724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ext Box 2"/>
          <p:cNvSpPr txBox="1"/>
          <p:nvPr/>
        </p:nvSpPr>
        <p:spPr>
          <a:xfrm>
            <a:off x="611188" y="709613"/>
            <a:ext cx="504031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buAutoNum type="circleNumDbPlain" startAt="2"/>
            </a:pPr>
            <a:r>
              <a:rPr lang="zh-CN" altLang="en-US" sz="2800" dirty="0">
                <a:latin typeface="楷体_GB2312" pitchFamily="49" charset="-122"/>
              </a:rPr>
              <a:t>电流一定时，端电压较高。</a:t>
            </a:r>
            <a:endParaRPr lang="zh-CN" altLang="en-US" sz="2800" dirty="0">
              <a:latin typeface="楷体_GB2312" pitchFamily="49" charset="-122"/>
            </a:endParaRPr>
          </a:p>
        </p:txBody>
      </p:sp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5364163" y="566738"/>
          <a:ext cx="2913062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1" imgW="1062355" imgH="386080" progId="Equation.3">
                  <p:embed/>
                </p:oleObj>
              </mc:Choice>
              <mc:Fallback>
                <p:oleObj name="" r:id="rId1" imgW="1062355" imgH="386080" progId="Equation.3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64163" y="566738"/>
                        <a:ext cx="2913062" cy="1057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Text Box 4"/>
          <p:cNvSpPr txBox="1"/>
          <p:nvPr/>
        </p:nvSpPr>
        <p:spPr>
          <a:xfrm>
            <a:off x="611188" y="1574800"/>
            <a:ext cx="622458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342900" indent="-342900" eaLnBrk="1" hangingPunct="1">
              <a:buAutoNum type="circleNumDbPlain" startAt="3"/>
            </a:pPr>
            <a:r>
              <a:rPr lang="zh-CN" altLang="en-US" sz="2800" dirty="0">
                <a:latin typeface="楷体_GB2312" pitchFamily="49" charset="-122"/>
              </a:rPr>
              <a:t>支路电流是总电流的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楷体_GB2312" pitchFamily="49" charset="-122"/>
              </a:rPr>
              <a:t>倍，设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R&lt;&lt;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L</a:t>
            </a:r>
            <a:endParaRPr lang="en-US" altLang="zh-CN" sz="2800" b="0" i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7110413" y="2063750"/>
            <a:ext cx="1509712" cy="2911475"/>
            <a:chOff x="3707" y="1017"/>
            <a:chExt cx="951" cy="1834"/>
          </a:xfrm>
        </p:grpSpPr>
        <p:sp>
          <p:nvSpPr>
            <p:cNvPr id="43027" name="Line 5"/>
            <p:cNvSpPr/>
            <p:nvPr/>
          </p:nvSpPr>
          <p:spPr>
            <a:xfrm>
              <a:off x="3742" y="1933"/>
              <a:ext cx="726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28" name="Line 6"/>
            <p:cNvSpPr/>
            <p:nvPr/>
          </p:nvSpPr>
          <p:spPr>
            <a:xfrm flipV="1">
              <a:off x="3787" y="1162"/>
              <a:ext cx="0" cy="771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29" name="Line 7"/>
            <p:cNvSpPr/>
            <p:nvPr/>
          </p:nvSpPr>
          <p:spPr>
            <a:xfrm>
              <a:off x="3787" y="1933"/>
              <a:ext cx="227" cy="817"/>
            </a:xfrm>
            <a:prstGeom prst="line">
              <a:avLst/>
            </a:prstGeom>
            <a:ln w="28575" cap="flat" cmpd="sng">
              <a:solidFill>
                <a:srgbClr val="FF99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30" name="Line 8"/>
            <p:cNvSpPr/>
            <p:nvPr/>
          </p:nvSpPr>
          <p:spPr>
            <a:xfrm>
              <a:off x="4014" y="1933"/>
              <a:ext cx="0" cy="771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dash"/>
              <a:headEnd type="triangle" w="med" len="med"/>
              <a:tailEnd type="none" w="med" len="med"/>
            </a:ln>
          </p:spPr>
        </p:sp>
        <p:sp>
          <p:nvSpPr>
            <p:cNvPr id="43031" name="Line 9"/>
            <p:cNvSpPr/>
            <p:nvPr/>
          </p:nvSpPr>
          <p:spPr>
            <a:xfrm>
              <a:off x="3787" y="1933"/>
              <a:ext cx="227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43032" name="Object 15"/>
            <p:cNvGraphicFramePr>
              <a:graphicFrameLocks noChangeAspect="1"/>
            </p:cNvGraphicFramePr>
            <p:nvPr/>
          </p:nvGraphicFramePr>
          <p:xfrm>
            <a:off x="3787" y="1017"/>
            <a:ext cx="315" cy="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8" name="" r:id="rId3" imgW="161290" imgH="270510" progId="Equation.3">
                    <p:embed/>
                  </p:oleObj>
                </mc:Choice>
                <mc:Fallback>
                  <p:oleObj name="" r:id="rId3" imgW="161290" imgH="270510" progId="Equation.3">
                    <p:embed/>
                    <p:pic>
                      <p:nvPicPr>
                        <p:cNvPr id="0" name="图片 3217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87" y="1017"/>
                          <a:ext cx="315" cy="4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3" name="Object 16"/>
            <p:cNvGraphicFramePr>
              <a:graphicFrameLocks noChangeAspect="1"/>
            </p:cNvGraphicFramePr>
            <p:nvPr/>
          </p:nvGraphicFramePr>
          <p:xfrm>
            <a:off x="3707" y="2331"/>
            <a:ext cx="276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2" name="" r:id="rId5" imgW="128905" imgH="270510" progId="Equation.3">
                    <p:embed/>
                  </p:oleObj>
                </mc:Choice>
                <mc:Fallback>
                  <p:oleObj name="" r:id="rId5" imgW="128905" imgH="270510" progId="Equation.3">
                    <p:embed/>
                    <p:pic>
                      <p:nvPicPr>
                        <p:cNvPr id="0" name="图片 3211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07" y="2331"/>
                          <a:ext cx="276" cy="5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4" name="Object 17"/>
            <p:cNvGraphicFramePr>
              <a:graphicFrameLocks noChangeAspect="1"/>
            </p:cNvGraphicFramePr>
            <p:nvPr/>
          </p:nvGraphicFramePr>
          <p:xfrm>
            <a:off x="3878" y="1600"/>
            <a:ext cx="236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4" name="" r:id="rId7" imgW="141605" imgH="225425" progId="Equation.3">
                    <p:embed/>
                  </p:oleObj>
                </mc:Choice>
                <mc:Fallback>
                  <p:oleObj name="" r:id="rId7" imgW="141605" imgH="225425" progId="Equation.3">
                    <p:embed/>
                    <p:pic>
                      <p:nvPicPr>
                        <p:cNvPr id="0" name="图片 3213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78" y="1600"/>
                          <a:ext cx="236" cy="3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5" name="Object 18"/>
            <p:cNvGraphicFramePr>
              <a:graphicFrameLocks noChangeAspect="1"/>
            </p:cNvGraphicFramePr>
            <p:nvPr/>
          </p:nvGraphicFramePr>
          <p:xfrm>
            <a:off x="4461" y="1829"/>
            <a:ext cx="197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6" name="" r:id="rId9" imgW="147955" imgH="257810" progId="Equation.3">
                    <p:embed/>
                  </p:oleObj>
                </mc:Choice>
                <mc:Fallback>
                  <p:oleObj name="" r:id="rId9" imgW="147955" imgH="257810" progId="Equation.3">
                    <p:embed/>
                    <p:pic>
                      <p:nvPicPr>
                        <p:cNvPr id="0" name="图片 3215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61" y="1829"/>
                          <a:ext cx="197" cy="3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64" name="Object 20"/>
          <p:cNvGraphicFramePr>
            <a:graphicFrameLocks noChangeAspect="1"/>
          </p:cNvGraphicFramePr>
          <p:nvPr/>
        </p:nvGraphicFramePr>
        <p:xfrm>
          <a:off x="1042988" y="2222500"/>
          <a:ext cx="3649662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" name="" r:id="rId11" imgW="1332865" imgH="418465" progId="Equation.3">
                  <p:embed/>
                </p:oleObj>
              </mc:Choice>
              <mc:Fallback>
                <p:oleObj name="" r:id="rId11" imgW="1332865" imgH="418465" progId="Equation.3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2222500"/>
                        <a:ext cx="3649662" cy="1146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5" name="Object 21"/>
          <p:cNvGraphicFramePr>
            <a:graphicFrameLocks noChangeAspect="1"/>
          </p:cNvGraphicFramePr>
          <p:nvPr/>
        </p:nvGraphicFramePr>
        <p:xfrm>
          <a:off x="755650" y="3446463"/>
          <a:ext cx="5961063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" name="" r:id="rId13" imgW="2414905" imgH="418465" progId="Equation.3">
                  <p:embed/>
                </p:oleObj>
              </mc:Choice>
              <mc:Fallback>
                <p:oleObj name="" r:id="rId13" imgW="2414905" imgH="418465" progId="Equation.3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5650" y="3446463"/>
                        <a:ext cx="5961063" cy="1033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6" name="Line 22"/>
          <p:cNvSpPr/>
          <p:nvPr/>
        </p:nvSpPr>
        <p:spPr>
          <a:xfrm>
            <a:off x="1187450" y="4814888"/>
            <a:ext cx="719138" cy="0"/>
          </a:xfrm>
          <a:prstGeom prst="line">
            <a:avLst/>
          </a:prstGeom>
          <a:ln w="76200" cap="flat" cmpd="sng">
            <a:solidFill>
              <a:srgbClr val="33CC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6167" name="Object 23"/>
          <p:cNvGraphicFramePr>
            <a:graphicFrameLocks noChangeAspect="1"/>
          </p:cNvGraphicFramePr>
          <p:nvPr/>
        </p:nvGraphicFramePr>
        <p:xfrm>
          <a:off x="2195513" y="4598988"/>
          <a:ext cx="311943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" r:id="rId15" imgW="1139825" imgH="206375" progId="Equation.3">
                  <p:embed/>
                </p:oleObj>
              </mc:Choice>
              <mc:Fallback>
                <p:oleObj name="" r:id="rId15" imgW="1139825" imgH="206375" progId="Equation.3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95513" y="4598988"/>
                        <a:ext cx="3119437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18" name="Group 40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3025" name="Picture 41" descr="78900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26" name="Text Box 42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3019" name="Group 43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43023" name="Picture 44" descr="78900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24" name="Text Box 45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3020" name="Group 49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43021" name="Picture 50" descr="78900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3022" name="Text Box 51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  <p:bldP spid="614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76" name="Text Box 56"/>
          <p:cNvSpPr txBox="1"/>
          <p:nvPr/>
        </p:nvSpPr>
        <p:spPr>
          <a:xfrm>
            <a:off x="323850" y="476250"/>
            <a:ext cx="13684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4-1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77" name="Text Box 57"/>
          <p:cNvSpPr txBox="1"/>
          <p:nvPr/>
        </p:nvSpPr>
        <p:spPr>
          <a:xfrm>
            <a:off x="1476375" y="404813"/>
            <a:ext cx="7345363" cy="16303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楷体_GB2312" pitchFamily="49" charset="-122"/>
              </a:rPr>
              <a:t>如图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=10</a:t>
            </a:r>
            <a:r>
              <a:rPr lang="en-US" altLang="zh-CN" sz="2800" dirty="0">
                <a:solidFill>
                  <a:schemeClr val="bg1"/>
                </a:solidFill>
                <a:latin typeface="楷体_GB2312" pitchFamily="49" charset="-122"/>
                <a:sym typeface="Symbol" panose="05050102010706020507" pitchFamily="18" charset="2"/>
              </a:rPr>
              <a:t></a:t>
            </a:r>
            <a:r>
              <a:rPr lang="zh-CN" altLang="en-US" sz="2800" dirty="0">
                <a:latin typeface="楷体_GB2312" pitchFamily="49" charset="-122"/>
                <a:sym typeface="Symbol" panose="05050102010706020507" pitchFamily="18" charset="2"/>
              </a:rPr>
              <a:t>的线圈其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8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=100</a:t>
            </a:r>
            <a:r>
              <a:rPr lang="zh-CN" altLang="en-US" sz="2800" dirty="0">
                <a:latin typeface="楷体_GB2312" pitchFamily="49" charset="-122"/>
                <a:sym typeface="Symbol" panose="05050102010706020507" pitchFamily="18" charset="2"/>
              </a:rPr>
              <a:t>，与电容接成并联谐振电路，如再并联上一个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100k</a:t>
            </a:r>
            <a:r>
              <a:rPr lang="zh-CN" altLang="en-US" sz="2800" dirty="0">
                <a:latin typeface="楷体_GB2312" pitchFamily="49" charset="-122"/>
                <a:sym typeface="Symbol" panose="05050102010706020507" pitchFamily="18" charset="2"/>
              </a:rPr>
              <a:t>的电阻，求电路的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zh-CN" altLang="en-US" sz="2800" dirty="0">
                <a:latin typeface="楷体_GB2312" pitchFamily="49" charset="-122"/>
                <a:sym typeface="Symbol" panose="05050102010706020507" pitchFamily="18" charset="2"/>
              </a:rPr>
              <a:t>。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5207" name="Text Box 87"/>
          <p:cNvSpPr txBox="1"/>
          <p:nvPr/>
        </p:nvSpPr>
        <p:spPr>
          <a:xfrm>
            <a:off x="468313" y="2020888"/>
            <a:ext cx="620712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 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234" name="Object 114"/>
          <p:cNvGraphicFramePr>
            <a:graphicFrameLocks noChangeAspect="1"/>
          </p:cNvGraphicFramePr>
          <p:nvPr/>
        </p:nvGraphicFramePr>
        <p:xfrm>
          <a:off x="1403350" y="1844675"/>
          <a:ext cx="254635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1" imgW="965835" imgH="373380" progId="Equation.3">
                  <p:embed/>
                </p:oleObj>
              </mc:Choice>
              <mc:Fallback>
                <p:oleObj name="" r:id="rId1" imgW="965835" imgH="37338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1844675"/>
                        <a:ext cx="2546350" cy="987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35" name="Line 115"/>
          <p:cNvSpPr/>
          <p:nvPr/>
        </p:nvSpPr>
        <p:spPr>
          <a:xfrm>
            <a:off x="827088" y="3100388"/>
            <a:ext cx="503237" cy="0"/>
          </a:xfrm>
          <a:prstGeom prst="line">
            <a:avLst/>
          </a:prstGeom>
          <a:ln w="76200" cap="flat" cmpd="sng">
            <a:solidFill>
              <a:srgbClr val="33CC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5236" name="Object 116"/>
          <p:cNvGraphicFramePr>
            <a:graphicFrameLocks noChangeAspect="1"/>
          </p:cNvGraphicFramePr>
          <p:nvPr/>
        </p:nvGraphicFramePr>
        <p:xfrm>
          <a:off x="1463675" y="2884488"/>
          <a:ext cx="3783013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3" imgW="1564640" imgH="206375" progId="Equation.3">
                  <p:embed/>
                </p:oleObj>
              </mc:Choice>
              <mc:Fallback>
                <p:oleObj name="" r:id="rId3" imgW="1564640" imgH="206375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63675" y="2884488"/>
                        <a:ext cx="3783013" cy="490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9"/>
          <p:cNvGrpSpPr/>
          <p:nvPr/>
        </p:nvGrpSpPr>
        <p:grpSpPr>
          <a:xfrm>
            <a:off x="6732588" y="3573463"/>
            <a:ext cx="1727200" cy="519112"/>
            <a:chOff x="930" y="1616"/>
            <a:chExt cx="1088" cy="327"/>
          </a:xfrm>
        </p:grpSpPr>
        <p:sp>
          <p:nvSpPr>
            <p:cNvPr id="44102" name="Line 117"/>
            <p:cNvSpPr/>
            <p:nvPr/>
          </p:nvSpPr>
          <p:spPr>
            <a:xfrm>
              <a:off x="930" y="1616"/>
              <a:ext cx="0" cy="317"/>
            </a:xfrm>
            <a:prstGeom prst="line">
              <a:avLst/>
            </a:prstGeom>
            <a:ln w="76200" cap="flat" cmpd="sng">
              <a:solidFill>
                <a:srgbClr val="33CC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103" name="Text Box 118"/>
            <p:cNvSpPr txBox="1"/>
            <p:nvPr/>
          </p:nvSpPr>
          <p:spPr>
            <a:xfrm>
              <a:off x="975" y="1616"/>
              <a:ext cx="104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latin typeface="Arial" panose="020B0604020202020204" pitchFamily="34" charset="0"/>
                </a:rPr>
                <a:t>等效电路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5272" name="Object 152"/>
          <p:cNvGraphicFramePr>
            <a:graphicFrameLocks noChangeAspect="1"/>
          </p:cNvGraphicFramePr>
          <p:nvPr/>
        </p:nvGraphicFramePr>
        <p:xfrm>
          <a:off x="900113" y="3357563"/>
          <a:ext cx="4691062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5" imgW="1771015" imgH="399415" progId="Equation.3">
                  <p:embed/>
                </p:oleObj>
              </mc:Choice>
              <mc:Fallback>
                <p:oleObj name="" r:id="rId5" imgW="1771015" imgH="399415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3357563"/>
                        <a:ext cx="4691062" cy="1001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73" name="Object 153"/>
          <p:cNvGraphicFramePr>
            <a:graphicFrameLocks noChangeAspect="1"/>
          </p:cNvGraphicFramePr>
          <p:nvPr/>
        </p:nvGraphicFramePr>
        <p:xfrm>
          <a:off x="971550" y="4437063"/>
          <a:ext cx="3184525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7" imgW="1191260" imgH="225425" progId="Equation.3">
                  <p:embed/>
                </p:oleObj>
              </mc:Choice>
              <mc:Fallback>
                <p:oleObj name="" r:id="rId7" imgW="1191260" imgH="225425" progId="Equation.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4437063"/>
                        <a:ext cx="3184525" cy="604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74" name="Object 154"/>
          <p:cNvGraphicFramePr>
            <a:graphicFrameLocks noChangeAspect="1"/>
          </p:cNvGraphicFramePr>
          <p:nvPr/>
        </p:nvGraphicFramePr>
        <p:xfrm>
          <a:off x="971550" y="5157788"/>
          <a:ext cx="3673475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9" imgW="1461770" imgH="431165" progId="Equation.3">
                  <p:embed/>
                </p:oleObj>
              </mc:Choice>
              <mc:Fallback>
                <p:oleObj name="" r:id="rId9" imgW="1461770" imgH="431165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5157788"/>
                        <a:ext cx="3673475" cy="1081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044" name="Group 21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4100" name="Picture 216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101" name="Text Box 21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4045" name="Group 218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44098" name="Picture 219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99" name="Text Box 220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4046" name="Group 224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44096" name="Picture 225" descr="789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97" name="Text Box 226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" name="Group 232"/>
          <p:cNvGrpSpPr/>
          <p:nvPr/>
        </p:nvGrpSpPr>
        <p:grpSpPr>
          <a:xfrm>
            <a:off x="5580063" y="1484313"/>
            <a:ext cx="3087687" cy="1928812"/>
            <a:chOff x="3515" y="935"/>
            <a:chExt cx="1945" cy="1215"/>
          </a:xfrm>
        </p:grpSpPr>
        <p:sp>
          <p:nvSpPr>
            <p:cNvPr id="44073" name="Line 169"/>
            <p:cNvSpPr/>
            <p:nvPr/>
          </p:nvSpPr>
          <p:spPr>
            <a:xfrm>
              <a:off x="4855" y="973"/>
              <a:ext cx="0" cy="61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44074" name="Line 170"/>
            <p:cNvSpPr/>
            <p:nvPr/>
          </p:nvSpPr>
          <p:spPr>
            <a:xfrm>
              <a:off x="4855" y="1963"/>
              <a:ext cx="0" cy="1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44075" name="Line 171"/>
            <p:cNvSpPr/>
            <p:nvPr/>
          </p:nvSpPr>
          <p:spPr>
            <a:xfrm>
              <a:off x="4086" y="973"/>
              <a:ext cx="124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6" name="Line 172"/>
            <p:cNvSpPr/>
            <p:nvPr/>
          </p:nvSpPr>
          <p:spPr>
            <a:xfrm>
              <a:off x="5334" y="973"/>
              <a:ext cx="0" cy="52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7" name="Line 173"/>
            <p:cNvSpPr/>
            <p:nvPr/>
          </p:nvSpPr>
          <p:spPr>
            <a:xfrm>
              <a:off x="5334" y="1597"/>
              <a:ext cx="0" cy="52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8" name="Line 174"/>
            <p:cNvSpPr/>
            <p:nvPr/>
          </p:nvSpPr>
          <p:spPr>
            <a:xfrm flipH="1">
              <a:off x="4086" y="2125"/>
              <a:ext cx="124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4079" name="Group 175"/>
            <p:cNvGrpSpPr/>
            <p:nvPr/>
          </p:nvGrpSpPr>
          <p:grpSpPr>
            <a:xfrm>
              <a:off x="5202" y="1504"/>
              <a:ext cx="258" cy="93"/>
              <a:chOff x="1351" y="3976"/>
              <a:chExt cx="174" cy="93"/>
            </a:xfrm>
          </p:grpSpPr>
          <p:sp>
            <p:nvSpPr>
              <p:cNvPr id="44094" name="Line 176"/>
              <p:cNvSpPr/>
              <p:nvPr/>
            </p:nvSpPr>
            <p:spPr>
              <a:xfrm>
                <a:off x="1351" y="3976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95" name="Line 177"/>
              <p:cNvSpPr/>
              <p:nvPr/>
            </p:nvSpPr>
            <p:spPr>
              <a:xfrm>
                <a:off x="1351" y="4068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4080" name="Text Box 178"/>
            <p:cNvSpPr txBox="1"/>
            <p:nvPr/>
          </p:nvSpPr>
          <p:spPr>
            <a:xfrm>
              <a:off x="5012" y="1207"/>
              <a:ext cx="2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81" name="Text Box 179"/>
            <p:cNvSpPr txBox="1"/>
            <p:nvPr/>
          </p:nvSpPr>
          <p:spPr>
            <a:xfrm>
              <a:off x="4604" y="1616"/>
              <a:ext cx="2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82" name="Text Box 180"/>
            <p:cNvSpPr txBox="1"/>
            <p:nvPr/>
          </p:nvSpPr>
          <p:spPr>
            <a:xfrm>
              <a:off x="4558" y="1117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83" name="Oval 181"/>
            <p:cNvSpPr/>
            <p:nvPr/>
          </p:nvSpPr>
          <p:spPr>
            <a:xfrm>
              <a:off x="4026" y="2082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4084" name="Oval 182"/>
            <p:cNvSpPr/>
            <p:nvPr/>
          </p:nvSpPr>
          <p:spPr>
            <a:xfrm>
              <a:off x="4014" y="935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4085" name="Line 183"/>
            <p:cNvSpPr/>
            <p:nvPr/>
          </p:nvSpPr>
          <p:spPr>
            <a:xfrm>
              <a:off x="4286" y="981"/>
              <a:ext cx="0" cy="113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086" name="Text Box 184"/>
            <p:cNvSpPr txBox="1"/>
            <p:nvPr/>
          </p:nvSpPr>
          <p:spPr>
            <a:xfrm>
              <a:off x="3515" y="1344"/>
              <a:ext cx="95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100k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87" name="Rectangle 185"/>
            <p:cNvSpPr/>
            <p:nvPr/>
          </p:nvSpPr>
          <p:spPr>
            <a:xfrm>
              <a:off x="4794" y="111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4088" name="Rectangle 186"/>
            <p:cNvSpPr/>
            <p:nvPr/>
          </p:nvSpPr>
          <p:spPr>
            <a:xfrm>
              <a:off x="4222" y="138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4089" name="Group 227"/>
            <p:cNvGrpSpPr/>
            <p:nvPr/>
          </p:nvGrpSpPr>
          <p:grpSpPr>
            <a:xfrm rot="10800000">
              <a:off x="4848" y="1589"/>
              <a:ext cx="90" cy="363"/>
              <a:chOff x="1565" y="2614"/>
              <a:chExt cx="90" cy="486"/>
            </a:xfrm>
          </p:grpSpPr>
          <p:sp>
            <p:nvSpPr>
              <p:cNvPr id="44090" name="Arc 228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4091" name="Arc 229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4092" name="Arc 230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4093" name="Arc 231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9" name="Group 238"/>
          <p:cNvGrpSpPr/>
          <p:nvPr/>
        </p:nvGrpSpPr>
        <p:grpSpPr>
          <a:xfrm>
            <a:off x="5580063" y="4292600"/>
            <a:ext cx="3159125" cy="1928813"/>
            <a:chOff x="3515" y="2704"/>
            <a:chExt cx="1990" cy="1215"/>
          </a:xfrm>
        </p:grpSpPr>
        <p:sp>
          <p:nvSpPr>
            <p:cNvPr id="44049" name="Text Box 192"/>
            <p:cNvSpPr txBox="1"/>
            <p:nvPr/>
          </p:nvSpPr>
          <p:spPr>
            <a:xfrm>
              <a:off x="4377" y="3113"/>
              <a:ext cx="32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50" name="Line 193"/>
            <p:cNvSpPr/>
            <p:nvPr/>
          </p:nvSpPr>
          <p:spPr>
            <a:xfrm>
              <a:off x="5011" y="2750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44051" name="Line 194"/>
            <p:cNvSpPr/>
            <p:nvPr/>
          </p:nvSpPr>
          <p:spPr>
            <a:xfrm flipH="1">
              <a:off x="4694" y="2750"/>
              <a:ext cx="16" cy="114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4052" name="Line 195"/>
            <p:cNvSpPr/>
            <p:nvPr/>
          </p:nvSpPr>
          <p:spPr>
            <a:xfrm flipH="1">
              <a:off x="5011" y="3521"/>
              <a:ext cx="1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44053" name="Line 196"/>
            <p:cNvSpPr/>
            <p:nvPr/>
          </p:nvSpPr>
          <p:spPr>
            <a:xfrm>
              <a:off x="4131" y="2742"/>
              <a:ext cx="124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4" name="Line 197"/>
            <p:cNvSpPr/>
            <p:nvPr/>
          </p:nvSpPr>
          <p:spPr>
            <a:xfrm>
              <a:off x="5379" y="2742"/>
              <a:ext cx="0" cy="52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5" name="Line 198"/>
            <p:cNvSpPr/>
            <p:nvPr/>
          </p:nvSpPr>
          <p:spPr>
            <a:xfrm>
              <a:off x="5379" y="3366"/>
              <a:ext cx="0" cy="52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6" name="Line 199"/>
            <p:cNvSpPr/>
            <p:nvPr/>
          </p:nvSpPr>
          <p:spPr>
            <a:xfrm flipH="1">
              <a:off x="4131" y="3894"/>
              <a:ext cx="124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4057" name="Group 200"/>
            <p:cNvGrpSpPr/>
            <p:nvPr/>
          </p:nvGrpSpPr>
          <p:grpSpPr>
            <a:xfrm>
              <a:off x="5247" y="3273"/>
              <a:ext cx="258" cy="93"/>
              <a:chOff x="1351" y="3976"/>
              <a:chExt cx="174" cy="93"/>
            </a:xfrm>
          </p:grpSpPr>
          <p:sp>
            <p:nvSpPr>
              <p:cNvPr id="44071" name="Line 201"/>
              <p:cNvSpPr/>
              <p:nvPr/>
            </p:nvSpPr>
            <p:spPr>
              <a:xfrm>
                <a:off x="1351" y="3976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72" name="Line 202"/>
              <p:cNvSpPr/>
              <p:nvPr/>
            </p:nvSpPr>
            <p:spPr>
              <a:xfrm>
                <a:off x="1351" y="4068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4058" name="Text Box 203"/>
            <p:cNvSpPr txBox="1"/>
            <p:nvPr/>
          </p:nvSpPr>
          <p:spPr>
            <a:xfrm>
              <a:off x="5102" y="2931"/>
              <a:ext cx="2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59" name="Text Box 204"/>
            <p:cNvSpPr txBox="1"/>
            <p:nvPr/>
          </p:nvSpPr>
          <p:spPr>
            <a:xfrm>
              <a:off x="4785" y="3203"/>
              <a:ext cx="2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60" name="Oval 205"/>
            <p:cNvSpPr/>
            <p:nvPr/>
          </p:nvSpPr>
          <p:spPr>
            <a:xfrm>
              <a:off x="4071" y="3851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4061" name="Oval 206"/>
            <p:cNvSpPr/>
            <p:nvPr/>
          </p:nvSpPr>
          <p:spPr>
            <a:xfrm>
              <a:off x="4059" y="2704"/>
              <a:ext cx="68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4062" name="Line 207"/>
            <p:cNvSpPr/>
            <p:nvPr/>
          </p:nvSpPr>
          <p:spPr>
            <a:xfrm>
              <a:off x="4331" y="2750"/>
              <a:ext cx="0" cy="113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063" name="Text Box 208"/>
            <p:cNvSpPr txBox="1"/>
            <p:nvPr/>
          </p:nvSpPr>
          <p:spPr>
            <a:xfrm>
              <a:off x="3515" y="3112"/>
              <a:ext cx="95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100k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4064" name="Rectangle 209"/>
            <p:cNvSpPr/>
            <p:nvPr/>
          </p:nvSpPr>
          <p:spPr>
            <a:xfrm>
              <a:off x="4649" y="315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4065" name="Rectangle 210"/>
            <p:cNvSpPr/>
            <p:nvPr/>
          </p:nvSpPr>
          <p:spPr>
            <a:xfrm>
              <a:off x="4276" y="315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4066" name="Group 233"/>
            <p:cNvGrpSpPr/>
            <p:nvPr/>
          </p:nvGrpSpPr>
          <p:grpSpPr>
            <a:xfrm rot="10800000">
              <a:off x="5012" y="3158"/>
              <a:ext cx="90" cy="363"/>
              <a:chOff x="1565" y="2614"/>
              <a:chExt cx="90" cy="486"/>
            </a:xfrm>
          </p:grpSpPr>
          <p:sp>
            <p:nvSpPr>
              <p:cNvPr id="44067" name="Arc 234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4068" name="Arc 235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4069" name="Arc 236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4070" name="Arc 237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2000"/>
                                        <p:tgtEl>
                                          <p:spTgt spid="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0" dur="2000"/>
                                        <p:tgtEl>
                                          <p:spTgt spid="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5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5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6" grpId="0"/>
      <p:bldP spid="5177" grpId="0"/>
      <p:bldP spid="520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Text Box 2"/>
          <p:cNvSpPr txBox="1"/>
          <p:nvPr/>
        </p:nvSpPr>
        <p:spPr>
          <a:xfrm>
            <a:off x="179388" y="476250"/>
            <a:ext cx="15113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4-2 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9" name="Text Box 3"/>
          <p:cNvSpPr txBox="1"/>
          <p:nvPr/>
        </p:nvSpPr>
        <p:spPr>
          <a:xfrm>
            <a:off x="1187450" y="404813"/>
            <a:ext cx="7416800" cy="16303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latin typeface="楷体_GB2312" pitchFamily="49" charset="-122"/>
              </a:rPr>
              <a:t>如图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=50k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zh-CN" altLang="en-US" sz="2800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=100V</a:t>
            </a:r>
            <a:r>
              <a:rPr lang="zh-CN" altLang="en-US" sz="2800" dirty="0">
                <a:solidFill>
                  <a:schemeClr val="bg1"/>
                </a:solidFill>
                <a:latin typeface="楷体_GB2312" pitchFamily="49" charset="-122"/>
                <a:sym typeface="Symbol" panose="05050102010706020507" pitchFamily="18" charset="2"/>
              </a:rPr>
              <a:t>，</a:t>
            </a:r>
            <a:r>
              <a:rPr lang="zh-CN" altLang="en-US" sz="28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=10</a:t>
            </a:r>
            <a:r>
              <a:rPr lang="en-US" altLang="zh-CN" sz="2800" b="0" baseline="30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zh-CN" altLang="en-US" sz="2800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=100</a:t>
            </a:r>
            <a:r>
              <a:rPr lang="zh-CN" altLang="en-US" sz="2800" dirty="0">
                <a:latin typeface="楷体_GB2312" pitchFamily="49" charset="-122"/>
                <a:sym typeface="Symbol" panose="05050102010706020507" pitchFamily="18" charset="2"/>
              </a:rPr>
              <a:t>，谐振时线圈获取最大功率，求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zh-CN" altLang="en-US" sz="28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zh-CN" altLang="en-US" sz="28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latin typeface="楷体_GB2312" pitchFamily="49" charset="-122"/>
                <a:sym typeface="Symbol" panose="05050102010706020507" pitchFamily="18" charset="2"/>
              </a:rPr>
              <a:t>及谐振时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zh-CN" altLang="en-US" sz="2800" dirty="0">
                <a:latin typeface="楷体_GB2312" pitchFamily="49" charset="-122"/>
                <a:sym typeface="Symbol" panose="05050102010706020507" pitchFamily="18" charset="2"/>
              </a:rPr>
              <a:t>和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2800" i="1" dirty="0">
                <a:latin typeface="楷体_GB2312" pitchFamily="49" charset="-122"/>
                <a:sym typeface="Symbol" panose="05050102010706020507" pitchFamily="18" charset="2"/>
              </a:rPr>
              <a:t>。</a:t>
            </a:r>
            <a:endParaRPr lang="zh-CN" altLang="en-US" sz="2800" i="1" dirty="0">
              <a:latin typeface="楷体_GB2312" pitchFamily="49" charset="-122"/>
            </a:endParaRPr>
          </a:p>
        </p:txBody>
      </p:sp>
      <p:sp>
        <p:nvSpPr>
          <p:cNvPr id="4100" name="Text Box 4"/>
          <p:cNvSpPr txBox="1"/>
          <p:nvPr/>
        </p:nvSpPr>
        <p:spPr>
          <a:xfrm>
            <a:off x="250825" y="2133600"/>
            <a:ext cx="620713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 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126" name="Object 30"/>
          <p:cNvGraphicFramePr>
            <a:graphicFrameLocks noChangeAspect="1"/>
          </p:cNvGraphicFramePr>
          <p:nvPr/>
        </p:nvGraphicFramePr>
        <p:xfrm>
          <a:off x="1187450" y="2060575"/>
          <a:ext cx="2303463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" name="" r:id="rId1" imgW="965835" imgH="373380" progId="Equation.3">
                  <p:embed/>
                </p:oleObj>
              </mc:Choice>
              <mc:Fallback>
                <p:oleObj name="" r:id="rId1" imgW="965835" imgH="373380" progId="Equation.3">
                  <p:embed/>
                  <p:pic>
                    <p:nvPicPr>
                      <p:cNvPr id="0" name="图片 322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2060575"/>
                        <a:ext cx="2303463" cy="895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" name="Object 41"/>
          <p:cNvGraphicFramePr>
            <a:graphicFrameLocks noChangeAspect="1"/>
          </p:cNvGraphicFramePr>
          <p:nvPr/>
        </p:nvGraphicFramePr>
        <p:xfrm>
          <a:off x="1187450" y="3068638"/>
          <a:ext cx="4464050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" r:id="rId3" imgW="1674495" imgH="212725" progId="Equation.3">
                  <p:embed/>
                </p:oleObj>
              </mc:Choice>
              <mc:Fallback>
                <p:oleObj name="" r:id="rId3" imgW="1674495" imgH="212725" progId="Equation.3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3068638"/>
                        <a:ext cx="4464050" cy="573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8" name="Object 42"/>
          <p:cNvGraphicFramePr>
            <a:graphicFrameLocks noChangeAspect="1"/>
          </p:cNvGraphicFramePr>
          <p:nvPr/>
        </p:nvGraphicFramePr>
        <p:xfrm>
          <a:off x="1258888" y="3644900"/>
          <a:ext cx="180975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name="" r:id="rId5" imgW="688975" imgH="399415" progId="Equation.3">
                  <p:embed/>
                </p:oleObj>
              </mc:Choice>
              <mc:Fallback>
                <p:oleObj name="" r:id="rId5" imgW="688975" imgH="399415" progId="Equation.3">
                  <p:embed/>
                  <p:pic>
                    <p:nvPicPr>
                      <p:cNvPr id="0" name="图片 322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3644900"/>
                        <a:ext cx="1809750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9" name="AutoShape 43"/>
          <p:cNvSpPr/>
          <p:nvPr/>
        </p:nvSpPr>
        <p:spPr>
          <a:xfrm>
            <a:off x="1042988" y="2060575"/>
            <a:ext cx="215900" cy="2447925"/>
          </a:xfrm>
          <a:prstGeom prst="leftBrace">
            <a:avLst>
              <a:gd name="adj1" fmla="val 94485"/>
              <a:gd name="adj2" fmla="val 49153"/>
            </a:avLst>
          </a:prstGeom>
          <a:noFill/>
          <a:ln w="2857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141" name="Line 45"/>
          <p:cNvSpPr/>
          <p:nvPr/>
        </p:nvSpPr>
        <p:spPr>
          <a:xfrm>
            <a:off x="468313" y="5229225"/>
            <a:ext cx="576262" cy="0"/>
          </a:xfrm>
          <a:prstGeom prst="line">
            <a:avLst/>
          </a:prstGeom>
          <a:ln w="76200" cap="flat" cmpd="sng">
            <a:solidFill>
              <a:srgbClr val="33CC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4144" name="Object 48"/>
          <p:cNvGraphicFramePr>
            <a:graphicFrameLocks noChangeAspect="1"/>
          </p:cNvGraphicFramePr>
          <p:nvPr/>
        </p:nvGraphicFramePr>
        <p:xfrm>
          <a:off x="1116013" y="4797425"/>
          <a:ext cx="2374900" cy="160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" r:id="rId7" imgW="901700" imgH="611505" progId="Equation.3">
                  <p:embed/>
                </p:oleObj>
              </mc:Choice>
              <mc:Fallback>
                <p:oleObj name="" r:id="rId7" imgW="901700" imgH="611505" progId="Equation.3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6013" y="4797425"/>
                        <a:ext cx="2374900" cy="1608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5" name="Object 49"/>
          <p:cNvGraphicFramePr>
            <a:graphicFrameLocks noChangeAspect="1"/>
          </p:cNvGraphicFramePr>
          <p:nvPr/>
        </p:nvGraphicFramePr>
        <p:xfrm>
          <a:off x="3995738" y="3860800"/>
          <a:ext cx="484505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" name="" r:id="rId9" imgW="1918970" imgH="418465" progId="Equation.3">
                  <p:embed/>
                </p:oleObj>
              </mc:Choice>
              <mc:Fallback>
                <p:oleObj name="" r:id="rId9" imgW="1918970" imgH="418465" progId="Equation.3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95738" y="3860800"/>
                        <a:ext cx="4845050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7" name="Object 51"/>
          <p:cNvGraphicFramePr>
            <a:graphicFrameLocks noChangeAspect="1"/>
          </p:cNvGraphicFramePr>
          <p:nvPr/>
        </p:nvGraphicFramePr>
        <p:xfrm>
          <a:off x="4427538" y="4868863"/>
          <a:ext cx="2217737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" r:id="rId11" imgW="882015" imgH="373380" progId="Equation.3">
                  <p:embed/>
                </p:oleObj>
              </mc:Choice>
              <mc:Fallback>
                <p:oleObj name="" r:id="rId11" imgW="882015" imgH="373380" progId="Equation.3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27538" y="4868863"/>
                        <a:ext cx="2217737" cy="944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48" name="Object 52"/>
          <p:cNvGraphicFramePr>
            <a:graphicFrameLocks noChangeAspect="1"/>
          </p:cNvGraphicFramePr>
          <p:nvPr/>
        </p:nvGraphicFramePr>
        <p:xfrm>
          <a:off x="4400550" y="5876925"/>
          <a:ext cx="265271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" r:id="rId13" imgW="1049655" imgH="206375" progId="Equation.3">
                  <p:embed/>
                </p:oleObj>
              </mc:Choice>
              <mc:Fallback>
                <p:oleObj name="" r:id="rId13" imgW="1049655" imgH="206375" progId="Equation.3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00550" y="5876925"/>
                        <a:ext cx="2652713" cy="512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070" name="Group 9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5108" name="Picture 97" descr="7890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5109" name="Text Box 9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5071" name="Group 99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45106" name="Picture 100" descr="7890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5107" name="Text Box 101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5072" name="Group 105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45104" name="Picture 106" descr="7890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5105" name="Text Box 107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113"/>
          <p:cNvGrpSpPr/>
          <p:nvPr/>
        </p:nvGrpSpPr>
        <p:grpSpPr>
          <a:xfrm>
            <a:off x="5449888" y="1484313"/>
            <a:ext cx="3636962" cy="2217737"/>
            <a:chOff x="3298" y="954"/>
            <a:chExt cx="2291" cy="1397"/>
          </a:xfrm>
        </p:grpSpPr>
        <p:sp>
          <p:nvSpPr>
            <p:cNvPr id="45074" name="Oval 67"/>
            <p:cNvSpPr/>
            <p:nvPr/>
          </p:nvSpPr>
          <p:spPr>
            <a:xfrm>
              <a:off x="3787" y="166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075" name="Line 68"/>
            <p:cNvSpPr/>
            <p:nvPr/>
          </p:nvSpPr>
          <p:spPr>
            <a:xfrm>
              <a:off x="4558" y="1026"/>
              <a:ext cx="0" cy="68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45076" name="Line 69"/>
            <p:cNvSpPr/>
            <p:nvPr/>
          </p:nvSpPr>
          <p:spPr>
            <a:xfrm flipH="1">
              <a:off x="4558" y="2070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45077" name="Line 70"/>
            <p:cNvSpPr/>
            <p:nvPr/>
          </p:nvSpPr>
          <p:spPr>
            <a:xfrm>
              <a:off x="3950" y="1019"/>
              <a:ext cx="124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8" name="Line 71"/>
            <p:cNvSpPr/>
            <p:nvPr/>
          </p:nvSpPr>
          <p:spPr>
            <a:xfrm>
              <a:off x="5198" y="1019"/>
              <a:ext cx="0" cy="52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9" name="Line 72"/>
            <p:cNvSpPr/>
            <p:nvPr/>
          </p:nvSpPr>
          <p:spPr>
            <a:xfrm flipH="1">
              <a:off x="5193" y="1643"/>
              <a:ext cx="5" cy="69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0" name="Line 73"/>
            <p:cNvSpPr/>
            <p:nvPr/>
          </p:nvSpPr>
          <p:spPr>
            <a:xfrm flipH="1">
              <a:off x="3969" y="2342"/>
              <a:ext cx="124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5081" name="Group 74"/>
            <p:cNvGrpSpPr/>
            <p:nvPr/>
          </p:nvGrpSpPr>
          <p:grpSpPr>
            <a:xfrm>
              <a:off x="5066" y="1550"/>
              <a:ext cx="258" cy="93"/>
              <a:chOff x="1351" y="3976"/>
              <a:chExt cx="174" cy="93"/>
            </a:xfrm>
          </p:grpSpPr>
          <p:sp>
            <p:nvSpPr>
              <p:cNvPr id="45102" name="Line 75"/>
              <p:cNvSpPr/>
              <p:nvPr/>
            </p:nvSpPr>
            <p:spPr>
              <a:xfrm>
                <a:off x="1351" y="3976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03" name="Line 76"/>
              <p:cNvSpPr/>
              <p:nvPr/>
            </p:nvSpPr>
            <p:spPr>
              <a:xfrm>
                <a:off x="1351" y="4068"/>
                <a:ext cx="174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5082" name="Text Box 77"/>
            <p:cNvSpPr txBox="1"/>
            <p:nvPr/>
          </p:nvSpPr>
          <p:spPr>
            <a:xfrm>
              <a:off x="5324" y="1419"/>
              <a:ext cx="2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83" name="Text Box 78"/>
            <p:cNvSpPr txBox="1"/>
            <p:nvPr/>
          </p:nvSpPr>
          <p:spPr>
            <a:xfrm>
              <a:off x="4649" y="1752"/>
              <a:ext cx="2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84" name="Text Box 79"/>
            <p:cNvSpPr txBox="1"/>
            <p:nvPr/>
          </p:nvSpPr>
          <p:spPr>
            <a:xfrm>
              <a:off x="4604" y="1162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85" name="Line 80"/>
            <p:cNvSpPr/>
            <p:nvPr/>
          </p:nvSpPr>
          <p:spPr>
            <a:xfrm>
              <a:off x="3969" y="1026"/>
              <a:ext cx="0" cy="131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6" name="Text Box 81"/>
            <p:cNvSpPr txBox="1"/>
            <p:nvPr/>
          </p:nvSpPr>
          <p:spPr>
            <a:xfrm>
              <a:off x="3298" y="1162"/>
              <a:ext cx="63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50k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5087" name="Line 82"/>
            <p:cNvSpPr/>
            <p:nvPr/>
          </p:nvSpPr>
          <p:spPr>
            <a:xfrm>
              <a:off x="4014" y="1017"/>
              <a:ext cx="227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088" name="Text Box 83"/>
            <p:cNvSpPr txBox="1"/>
            <p:nvPr/>
          </p:nvSpPr>
          <p:spPr>
            <a:xfrm>
              <a:off x="3560" y="2024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－</a:t>
              </a:r>
              <a:endParaRPr lang="zh-CN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5089" name="Text Box 84"/>
            <p:cNvSpPr txBox="1"/>
            <p:nvPr/>
          </p:nvSpPr>
          <p:spPr>
            <a:xfrm>
              <a:off x="3560" y="1480"/>
              <a:ext cx="31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000" b="0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＋</a:t>
              </a:r>
              <a:endParaRPr lang="zh-CN" altLang="en-US" sz="2000" b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090" name="Text Box 85"/>
            <p:cNvSpPr txBox="1"/>
            <p:nvPr/>
          </p:nvSpPr>
          <p:spPr>
            <a:xfrm>
              <a:off x="4195" y="2024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－</a:t>
              </a:r>
              <a:endParaRPr lang="zh-CN" altLang="en-US" sz="2800" b="0" dirty="0">
                <a:solidFill>
                  <a:schemeClr val="bg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5091" name="Text Box 86"/>
            <p:cNvSpPr txBox="1"/>
            <p:nvPr/>
          </p:nvSpPr>
          <p:spPr>
            <a:xfrm>
              <a:off x="4195" y="1026"/>
              <a:ext cx="31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000" b="0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＋</a:t>
              </a:r>
              <a:endParaRPr lang="zh-CN" altLang="en-US" sz="2000" b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092" name="Text Box 87"/>
            <p:cNvSpPr txBox="1"/>
            <p:nvPr/>
          </p:nvSpPr>
          <p:spPr>
            <a:xfrm>
              <a:off x="3497" y="1706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S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5093" name="Text Box 88"/>
            <p:cNvSpPr txBox="1"/>
            <p:nvPr/>
          </p:nvSpPr>
          <p:spPr>
            <a:xfrm>
              <a:off x="4014" y="954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0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5094" name="Text Box 89"/>
            <p:cNvSpPr txBox="1"/>
            <p:nvPr/>
          </p:nvSpPr>
          <p:spPr>
            <a:xfrm>
              <a:off x="4286" y="1525"/>
              <a:ext cx="36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45095" name="Rectangle 94"/>
            <p:cNvSpPr/>
            <p:nvPr/>
          </p:nvSpPr>
          <p:spPr>
            <a:xfrm>
              <a:off x="4495" y="120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096" name="Rectangle 95"/>
            <p:cNvSpPr/>
            <p:nvPr/>
          </p:nvSpPr>
          <p:spPr>
            <a:xfrm>
              <a:off x="3905" y="1208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5097" name="Group 108"/>
            <p:cNvGrpSpPr/>
            <p:nvPr/>
          </p:nvGrpSpPr>
          <p:grpSpPr>
            <a:xfrm rot="10800000">
              <a:off x="4558" y="1706"/>
              <a:ext cx="90" cy="363"/>
              <a:chOff x="1565" y="2614"/>
              <a:chExt cx="90" cy="486"/>
            </a:xfrm>
          </p:grpSpPr>
          <p:sp>
            <p:nvSpPr>
              <p:cNvPr id="45098" name="Arc 109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5099" name="Arc 110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5100" name="Arc 111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5101" name="Arc 112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2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4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2000"/>
                                        <p:tgtEl>
                                          <p:spTgt spid="4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4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4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4099" grpId="0"/>
      <p:bldP spid="4100" grpId="0" animBg="1"/>
      <p:bldP spid="413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81" name="Text Box 5" descr="新闻纸"/>
          <p:cNvSpPr txBox="1"/>
          <p:nvPr/>
        </p:nvSpPr>
        <p:spPr>
          <a:xfrm>
            <a:off x="2124075" y="333375"/>
            <a:ext cx="4897438" cy="762000"/>
          </a:xfrm>
          <a:prstGeom prst="rect">
            <a:avLst/>
          </a:prstGeom>
          <a:noFill/>
          <a:ln w="9525">
            <a:noFill/>
          </a:ln>
          <a:effectLst>
            <a:prstShdw prst="shdw17" dist="17961" dir="2699999">
              <a:srgbClr val="959595"/>
            </a:prstShdw>
          </a:effectLst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44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11-5</a:t>
            </a:r>
            <a:r>
              <a:rPr lang="en-US" altLang="zh-CN" sz="4400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sz="4400" dirty="0">
                <a:solidFill>
                  <a:schemeClr val="bg1"/>
                </a:solidFill>
                <a:latin typeface="Times New Roman" panose="02020603050405020304" pitchFamily="18" charset="0"/>
              </a:rPr>
              <a:t>波特图</a:t>
            </a:r>
            <a:endParaRPr lang="zh-CN" altLang="en-US" sz="44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75782" name="Text Box 6"/>
          <p:cNvSpPr txBox="1"/>
          <p:nvPr/>
        </p:nvSpPr>
        <p:spPr>
          <a:xfrm>
            <a:off x="250825" y="1052513"/>
            <a:ext cx="8424863" cy="2143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dirty="0">
                <a:latin typeface="Times New Roman" panose="02020603050405020304" pitchFamily="18" charset="0"/>
              </a:rPr>
              <a:t>对电路和系统的频率特性进行分析时，为了直观地观察频率特性随频率变化的趋势和特征，工程上常采用对数坐标来作频响曲线，这种用对数坐标描绘的频率响应图就称为频响波特图。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75830" name="Rectangle 54"/>
          <p:cNvSpPr/>
          <p:nvPr/>
        </p:nvSpPr>
        <p:spPr>
          <a:xfrm>
            <a:off x="1042988" y="4005263"/>
            <a:ext cx="295116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改写网络函数为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75832" name="Rectangle 56"/>
          <p:cNvSpPr/>
          <p:nvPr/>
        </p:nvSpPr>
        <p:spPr>
          <a:xfrm>
            <a:off x="971550" y="3213100"/>
            <a:ext cx="420211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画出网络函数的波特图。 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75833" name="Text Box 57"/>
          <p:cNvSpPr txBox="1"/>
          <p:nvPr/>
        </p:nvSpPr>
        <p:spPr>
          <a:xfrm>
            <a:off x="395288" y="3213100"/>
            <a:ext cx="6477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7" name="Rectangle 5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5834" name="Object 58"/>
          <p:cNvGraphicFramePr>
            <a:graphicFrameLocks noChangeAspect="1"/>
          </p:cNvGraphicFramePr>
          <p:nvPr/>
        </p:nvGraphicFramePr>
        <p:xfrm>
          <a:off x="4859338" y="2997200"/>
          <a:ext cx="3887787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" name="" r:id="rId1" imgW="1332865" imgH="354330" progId="Equation.DSMT4">
                  <p:embed/>
                </p:oleObj>
              </mc:Choice>
              <mc:Fallback>
                <p:oleObj name="" r:id="rId1" imgW="1332865" imgH="354330" progId="Equation.DSMT4">
                  <p:embed/>
                  <p:pic>
                    <p:nvPicPr>
                      <p:cNvPr id="0" name="图片 323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859338" y="2997200"/>
                        <a:ext cx="3887787" cy="1036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36" name="Text Box 60"/>
          <p:cNvSpPr txBox="1"/>
          <p:nvPr/>
        </p:nvSpPr>
        <p:spPr>
          <a:xfrm>
            <a:off x="466725" y="4005263"/>
            <a:ext cx="620713" cy="519112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 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90" name="Rectangle 62"/>
          <p:cNvSpPr/>
          <p:nvPr/>
        </p:nvSpPr>
        <p:spPr>
          <a:xfrm>
            <a:off x="0" y="29718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46091" name="Group 66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6102" name="Picture 67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6103" name="Text Box 68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6092" name="Group 69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46100" name="Picture 70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6101" name="Text Box 71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6093" name="Group 75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46098" name="Picture 76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6099" name="Text Box 77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84"/>
          <p:cNvGrpSpPr/>
          <p:nvPr/>
        </p:nvGrpSpPr>
        <p:grpSpPr>
          <a:xfrm>
            <a:off x="250825" y="4581525"/>
            <a:ext cx="8281988" cy="1031875"/>
            <a:chOff x="158" y="2886"/>
            <a:chExt cx="5217" cy="650"/>
          </a:xfrm>
        </p:grpSpPr>
        <p:graphicFrame>
          <p:nvGraphicFramePr>
            <p:cNvPr id="46095" name="Object 81"/>
            <p:cNvGraphicFramePr>
              <a:graphicFrameLocks noChangeAspect="1"/>
            </p:cNvGraphicFramePr>
            <p:nvPr/>
          </p:nvGraphicFramePr>
          <p:xfrm>
            <a:off x="158" y="2886"/>
            <a:ext cx="5217" cy="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6" name="" r:id="rId4" imgW="3606165" imgH="450850" progId="Equation.3">
                    <p:embed/>
                  </p:oleObj>
                </mc:Choice>
                <mc:Fallback>
                  <p:oleObj name="" r:id="rId4" imgW="3606165" imgH="450850" progId="Equation.3">
                    <p:embed/>
                    <p:pic>
                      <p:nvPicPr>
                        <p:cNvPr id="0" name="图片 3235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8" y="2886"/>
                          <a:ext cx="5217" cy="6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096" name="Line 82"/>
            <p:cNvSpPr/>
            <p:nvPr/>
          </p:nvSpPr>
          <p:spPr>
            <a:xfrm flipH="1">
              <a:off x="2835" y="3067"/>
              <a:ext cx="45" cy="408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7" name="Line 83"/>
            <p:cNvSpPr/>
            <p:nvPr/>
          </p:nvSpPr>
          <p:spPr>
            <a:xfrm>
              <a:off x="2835" y="3475"/>
              <a:ext cx="2494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58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58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5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5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75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75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58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58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5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5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2" dur="1000"/>
                                        <p:tgtEl>
                                          <p:spTgt spid="75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1" grpId="0"/>
      <p:bldP spid="75782" grpId="0"/>
      <p:bldP spid="75830" grpId="0"/>
      <p:bldP spid="75832" grpId="0"/>
      <p:bldP spid="75833" grpId="0"/>
      <p:bldP spid="7583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7107" name="Rectangle 9"/>
          <p:cNvSpPr/>
          <p:nvPr/>
        </p:nvSpPr>
        <p:spPr>
          <a:xfrm>
            <a:off x="0" y="29718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8858" name="Rectangle 10"/>
          <p:cNvSpPr/>
          <p:nvPr/>
        </p:nvSpPr>
        <p:spPr>
          <a:xfrm>
            <a:off x="468313" y="476250"/>
            <a:ext cx="420211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因此对数模（单位分贝） 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78859" name="Object 11"/>
          <p:cNvGraphicFramePr>
            <a:graphicFrameLocks noChangeAspect="1"/>
          </p:cNvGraphicFramePr>
          <p:nvPr/>
        </p:nvGraphicFramePr>
        <p:xfrm>
          <a:off x="468313" y="765175"/>
          <a:ext cx="770572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" name="" r:id="rId1" imgW="2814320" imgH="367030" progId="Equation.DSMT4">
                  <p:embed/>
                </p:oleObj>
              </mc:Choice>
              <mc:Fallback>
                <p:oleObj name="" r:id="rId1" imgW="2814320" imgH="367030" progId="Equation.DSMT4">
                  <p:embed/>
                  <p:pic>
                    <p:nvPicPr>
                      <p:cNvPr id="0" name="图片 323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765175"/>
                        <a:ext cx="7705725" cy="993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0" name="Rectangle 14"/>
          <p:cNvSpPr/>
          <p:nvPr/>
        </p:nvSpPr>
        <p:spPr>
          <a:xfrm>
            <a:off x="0" y="18573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8864" name="Rectangle 16"/>
          <p:cNvSpPr/>
          <p:nvPr/>
        </p:nvSpPr>
        <p:spPr>
          <a:xfrm>
            <a:off x="3132138" y="6165850"/>
            <a:ext cx="2058987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幅频波特图 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47112" name="Group 1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7122" name="Picture 18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23" name="Text Box 1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7113" name="Group 20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47120" name="Picture 21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21" name="Text Box 22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7114" name="Group 26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47118" name="Picture 27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19" name="Text Box 28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" name="Group 30"/>
          <p:cNvGrpSpPr/>
          <p:nvPr/>
        </p:nvGrpSpPr>
        <p:grpSpPr>
          <a:xfrm>
            <a:off x="611188" y="1700213"/>
            <a:ext cx="7416800" cy="4481512"/>
            <a:chOff x="385" y="1117"/>
            <a:chExt cx="4672" cy="2823"/>
          </a:xfrm>
        </p:grpSpPr>
        <p:graphicFrame>
          <p:nvGraphicFramePr>
            <p:cNvPr id="47116" name="Object 15"/>
            <p:cNvGraphicFramePr>
              <a:graphicFrameLocks noChangeAspect="1"/>
            </p:cNvGraphicFramePr>
            <p:nvPr/>
          </p:nvGraphicFramePr>
          <p:xfrm>
            <a:off x="385" y="1117"/>
            <a:ext cx="4672" cy="28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8" name="" r:id="rId4" imgW="4682490" imgH="3142615" progId="Visio.Drawing.6">
                    <p:embed/>
                  </p:oleObj>
                </mc:Choice>
                <mc:Fallback>
                  <p:oleObj name="" r:id="rId4" imgW="4682490" imgH="3142615" progId="Visio.Drawing.6">
                    <p:embed/>
                    <p:pic>
                      <p:nvPicPr>
                        <p:cNvPr id="0" name="图片 3237"/>
                        <p:cNvPicPr/>
                        <p:nvPr/>
                      </p:nvPicPr>
                      <p:blipFill>
                        <a:blip r:embed="rId5"/>
                        <a:srcRect b="10081"/>
                        <a:stretch>
                          <a:fillRect/>
                        </a:stretch>
                      </p:blipFill>
                      <p:spPr>
                        <a:xfrm>
                          <a:off x="385" y="1117"/>
                          <a:ext cx="4672" cy="2823"/>
                        </a:xfrm>
                        <a:prstGeom prst="rect">
                          <a:avLst/>
                        </a:prstGeom>
                        <a:solidFill>
                          <a:srgbClr val="99CC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17" name="Text Box 29"/>
            <p:cNvSpPr txBox="1"/>
            <p:nvPr/>
          </p:nvSpPr>
          <p:spPr>
            <a:xfrm>
              <a:off x="494" y="2514"/>
              <a:ext cx="136" cy="173"/>
            </a:xfrm>
            <a:prstGeom prst="rect">
              <a:avLst/>
            </a:prstGeom>
            <a:solidFill>
              <a:srgbClr val="99CCFF"/>
            </a:solidFill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200" b="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sz="1200" b="0" i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4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8864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1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8131" name="Rectangle 16"/>
          <p:cNvSpPr/>
          <p:nvPr/>
        </p:nvSpPr>
        <p:spPr>
          <a:xfrm>
            <a:off x="0" y="29718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6821" name="Rectangle 21"/>
          <p:cNvSpPr/>
          <p:nvPr/>
        </p:nvSpPr>
        <p:spPr>
          <a:xfrm>
            <a:off x="468313" y="404813"/>
            <a:ext cx="2773362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相位（单位度） 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48133" name="Rectangle 25"/>
          <p:cNvSpPr/>
          <p:nvPr/>
        </p:nvSpPr>
        <p:spPr>
          <a:xfrm>
            <a:off x="0" y="18573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8134" name="Rectangle 27"/>
          <p:cNvSpPr/>
          <p:nvPr/>
        </p:nvSpPr>
        <p:spPr>
          <a:xfrm>
            <a:off x="0" y="1966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6828" name="Rectangle 28"/>
          <p:cNvSpPr/>
          <p:nvPr/>
        </p:nvSpPr>
        <p:spPr>
          <a:xfrm>
            <a:off x="3276600" y="6092825"/>
            <a:ext cx="205898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相频波特图 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48136" name="Group 2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8151" name="Picture 30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52" name="Text Box 3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8137" name="Group 32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48149" name="Picture 33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50" name="Text Box 34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8138" name="Group 38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48147" name="Picture 3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48" name="Text Box 40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aphicFrame>
        <p:nvGraphicFramePr>
          <p:cNvPr id="76842" name="Object 42"/>
          <p:cNvGraphicFramePr>
            <a:graphicFrameLocks noChangeAspect="1"/>
          </p:cNvGraphicFramePr>
          <p:nvPr/>
        </p:nvGraphicFramePr>
        <p:xfrm>
          <a:off x="1042988" y="692150"/>
          <a:ext cx="4484687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" name="" r:id="rId2" imgW="1951355" imgH="386080" progId="Equation.3">
                  <p:embed/>
                </p:oleObj>
              </mc:Choice>
              <mc:Fallback>
                <p:oleObj name="" r:id="rId2" imgW="1951355" imgH="386080" progId="Equation.3">
                  <p:embed/>
                  <p:pic>
                    <p:nvPicPr>
                      <p:cNvPr id="0" name="图片 3238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692150"/>
                        <a:ext cx="4484687" cy="884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51"/>
          <p:cNvGrpSpPr/>
          <p:nvPr/>
        </p:nvGrpSpPr>
        <p:grpSpPr>
          <a:xfrm>
            <a:off x="755650" y="1700213"/>
            <a:ext cx="7704138" cy="4324350"/>
            <a:chOff x="476" y="1071"/>
            <a:chExt cx="4853" cy="2724"/>
          </a:xfrm>
        </p:grpSpPr>
        <p:graphicFrame>
          <p:nvGraphicFramePr>
            <p:cNvPr id="48141" name="Object 26"/>
            <p:cNvGraphicFramePr>
              <a:graphicFrameLocks noChangeAspect="1"/>
            </p:cNvGraphicFramePr>
            <p:nvPr/>
          </p:nvGraphicFramePr>
          <p:xfrm>
            <a:off x="476" y="1071"/>
            <a:ext cx="4853" cy="27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1" name="" r:id="rId4" imgW="4538345" imgH="2927350" progId="Visio.Drawing.6">
                    <p:embed/>
                  </p:oleObj>
                </mc:Choice>
                <mc:Fallback>
                  <p:oleObj name="" r:id="rId4" imgW="4538345" imgH="2927350" progId="Visio.Drawing.6">
                    <p:embed/>
                    <p:pic>
                      <p:nvPicPr>
                        <p:cNvPr id="0" name="图片 3240"/>
                        <p:cNvPicPr/>
                        <p:nvPr/>
                      </p:nvPicPr>
                      <p:blipFill>
                        <a:blip r:embed="rId5"/>
                        <a:srcRect t="6100" b="9857"/>
                        <a:stretch>
                          <a:fillRect/>
                        </a:stretch>
                      </p:blipFill>
                      <p:spPr>
                        <a:xfrm>
                          <a:off x="476" y="1071"/>
                          <a:ext cx="4853" cy="2724"/>
                        </a:xfrm>
                        <a:prstGeom prst="rect">
                          <a:avLst/>
                        </a:prstGeom>
                        <a:solidFill>
                          <a:srgbClr val="99CC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42" name="Text Box 45"/>
            <p:cNvSpPr txBox="1"/>
            <p:nvPr/>
          </p:nvSpPr>
          <p:spPr>
            <a:xfrm>
              <a:off x="703" y="1071"/>
              <a:ext cx="227" cy="250"/>
            </a:xfrm>
            <a:prstGeom prst="rect">
              <a:avLst/>
            </a:prstGeom>
            <a:solidFill>
              <a:srgbClr val="99CCFF"/>
            </a:solidFill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endParaRPr lang="en-US" altLang="zh-CN" sz="2000" b="0" i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8143" name="Line 46"/>
            <p:cNvSpPr/>
            <p:nvPr/>
          </p:nvSpPr>
          <p:spPr>
            <a:xfrm flipV="1">
              <a:off x="703" y="1071"/>
              <a:ext cx="0" cy="3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44" name="Text Box 47"/>
            <p:cNvSpPr txBox="1"/>
            <p:nvPr/>
          </p:nvSpPr>
          <p:spPr>
            <a:xfrm>
              <a:off x="503" y="2387"/>
              <a:ext cx="181" cy="173"/>
            </a:xfrm>
            <a:prstGeom prst="rect">
              <a:avLst/>
            </a:prstGeom>
            <a:solidFill>
              <a:srgbClr val="99CCFF"/>
            </a:solidFill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1200" b="0" i="1" dirty="0">
                  <a:solidFill>
                    <a:schemeClr val="tx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O</a:t>
              </a:r>
              <a:endParaRPr lang="en-US" altLang="zh-CN" sz="1200" b="0" i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48145" name="Object 49"/>
            <p:cNvGraphicFramePr>
              <a:graphicFrameLocks noChangeAspect="1"/>
            </p:cNvGraphicFramePr>
            <p:nvPr/>
          </p:nvGraphicFramePr>
          <p:xfrm>
            <a:off x="1882" y="3249"/>
            <a:ext cx="635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0" name="" r:id="rId6" imgW="772795" imgH="386080" progId="Equation.3">
                    <p:embed/>
                  </p:oleObj>
                </mc:Choice>
                <mc:Fallback>
                  <p:oleObj name="" r:id="rId6" imgW="772795" imgH="386080" progId="Equation.3">
                    <p:embed/>
                    <p:pic>
                      <p:nvPicPr>
                        <p:cNvPr id="0" name="图片 3239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82" y="3249"/>
                          <a:ext cx="635" cy="316"/>
                        </a:xfrm>
                        <a:prstGeom prst="rect">
                          <a:avLst/>
                        </a:prstGeom>
                        <a:solidFill>
                          <a:srgbClr val="99CC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6" name="Object 50"/>
            <p:cNvGraphicFramePr>
              <a:graphicFrameLocks noChangeAspect="1"/>
            </p:cNvGraphicFramePr>
            <p:nvPr/>
          </p:nvGraphicFramePr>
          <p:xfrm>
            <a:off x="1202" y="2931"/>
            <a:ext cx="589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2" name="" r:id="rId8" imgW="740410" imgH="373380" progId="Equation.3">
                    <p:embed/>
                  </p:oleObj>
                </mc:Choice>
                <mc:Fallback>
                  <p:oleObj name="" r:id="rId8" imgW="740410" imgH="373380" progId="Equation.3">
                    <p:embed/>
                    <p:pic>
                      <p:nvPicPr>
                        <p:cNvPr id="0" name="图片 3241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02" y="2931"/>
                          <a:ext cx="589" cy="298"/>
                        </a:xfrm>
                        <a:prstGeom prst="rect">
                          <a:avLst/>
                        </a:prstGeom>
                        <a:solidFill>
                          <a:srgbClr val="99CC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6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6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6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682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Text Box 2" descr="新闻纸"/>
          <p:cNvSpPr txBox="1"/>
          <p:nvPr/>
        </p:nvSpPr>
        <p:spPr>
          <a:xfrm>
            <a:off x="2124075" y="476250"/>
            <a:ext cx="4897438" cy="762000"/>
          </a:xfrm>
          <a:prstGeom prst="rect">
            <a:avLst/>
          </a:prstGeom>
          <a:noFill/>
          <a:ln w="9525">
            <a:noFill/>
          </a:ln>
          <a:effectLst>
            <a:prstShdw prst="shdw17" dist="17961" dir="2699999">
              <a:srgbClr val="959595"/>
            </a:prstShdw>
          </a:effectLst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4400" b="0" dirty="0">
                <a:solidFill>
                  <a:schemeClr val="bg1"/>
                </a:solidFill>
                <a:latin typeface="Times New Roman" panose="02020603050405020304" pitchFamily="18" charset="0"/>
              </a:rPr>
              <a:t>11-6</a:t>
            </a:r>
            <a:r>
              <a:rPr lang="en-US" altLang="zh-CN" sz="4400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sz="4400" dirty="0">
                <a:solidFill>
                  <a:schemeClr val="bg1"/>
                </a:solidFill>
                <a:latin typeface="Times New Roman" panose="02020603050405020304" pitchFamily="18" charset="0"/>
              </a:rPr>
              <a:t>滤波器简介</a:t>
            </a:r>
            <a:endParaRPr lang="zh-CN" altLang="en-US" sz="4400" dirty="0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49155" name="Rectangle 1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9893" name="Text Box 21"/>
          <p:cNvSpPr txBox="1"/>
          <p:nvPr/>
        </p:nvSpPr>
        <p:spPr>
          <a:xfrm>
            <a:off x="611188" y="1196975"/>
            <a:ext cx="1944687" cy="547688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SzPct val="85000"/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FF99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dirty="0">
                <a:solidFill>
                  <a:srgbClr val="FF9900"/>
                </a:solidFill>
                <a:latin typeface="Times New Roman" panose="02020603050405020304" pitchFamily="18" charset="0"/>
              </a:rPr>
              <a:t>滤波器</a:t>
            </a:r>
            <a:endParaRPr lang="zh-CN" altLang="en-US" sz="28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894" name="Rectangle 22"/>
          <p:cNvSpPr/>
          <p:nvPr/>
        </p:nvSpPr>
        <p:spPr>
          <a:xfrm>
            <a:off x="323850" y="1773238"/>
            <a:ext cx="8640763" cy="26558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2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dirty="0">
                <a:latin typeface="Times New Roman" panose="02020603050405020304" pitchFamily="18" charset="0"/>
              </a:rPr>
              <a:t>工程上根据输出端口对信号频率范围的要求，设计专门的网络，置于输入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800" dirty="0">
                <a:latin typeface="Times New Roman" panose="02020603050405020304" pitchFamily="18" charset="0"/>
              </a:rPr>
              <a:t>输出端口之间，使输出端口所需要的频率分量能够顺利通过，而抑制或削弱不需要的频率分量，这种具有选频功能的中间网络，工程上称为滤波器。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79898" name="Text Box 26"/>
          <p:cNvSpPr txBox="1"/>
          <p:nvPr/>
        </p:nvSpPr>
        <p:spPr>
          <a:xfrm>
            <a:off x="611188" y="4581525"/>
            <a:ext cx="2808287" cy="547688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SzPct val="85000"/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FF99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dirty="0">
                <a:solidFill>
                  <a:srgbClr val="FF9900"/>
                </a:solidFill>
                <a:latin typeface="Times New Roman" panose="02020603050405020304" pitchFamily="18" charset="0"/>
              </a:rPr>
              <a:t>有源滤波器</a:t>
            </a:r>
            <a:endParaRPr lang="zh-CN" altLang="en-US" sz="28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9159" name="Group 2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49167" name="Picture 2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68" name="Text Box 3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49160" name="Group 31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49165" name="Picture 3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66" name="Text Box 33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79909" name="Text Box 37"/>
          <p:cNvSpPr txBox="1"/>
          <p:nvPr/>
        </p:nvSpPr>
        <p:spPr>
          <a:xfrm>
            <a:off x="468313" y="5229225"/>
            <a:ext cx="8135937" cy="1117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lnSpc>
                <a:spcPct val="12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dirty="0">
                <a:latin typeface="Times New Roman" panose="02020603050405020304" pitchFamily="18" charset="0"/>
              </a:rPr>
              <a:t>利用有源元件运算放大器构成的滤波器称为有源滤波器。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49162" name="Group 38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49163" name="Picture 3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9164" name="Text Box 40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9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9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9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4" grpId="0"/>
      <p:bldP spid="79893" grpId="0" animBg="1"/>
      <p:bldP spid="79894" grpId="0"/>
      <p:bldP spid="79898" grpId="0" animBg="1"/>
      <p:bldP spid="7990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23" name="Text Box 11"/>
          <p:cNvSpPr txBox="1"/>
          <p:nvPr/>
        </p:nvSpPr>
        <p:spPr>
          <a:xfrm>
            <a:off x="611188" y="620713"/>
            <a:ext cx="4824412" cy="557212"/>
          </a:xfrm>
          <a:prstGeom prst="rect">
            <a:avLst/>
          </a:prstGeom>
          <a:noFill/>
          <a:ln w="38100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SzPct val="80000"/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FF9900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800" dirty="0">
                <a:solidFill>
                  <a:srgbClr val="FF9900"/>
                </a:solidFill>
                <a:latin typeface="Arial" panose="020B0604020202020204" pitchFamily="34" charset="0"/>
              </a:rPr>
              <a:t>滤波电路的传递函数定义</a:t>
            </a:r>
            <a:endParaRPr lang="zh-CN" altLang="en-US" sz="2800" dirty="0">
              <a:solidFill>
                <a:srgbClr val="FF9900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971550" y="1412875"/>
            <a:ext cx="4032250" cy="1066800"/>
            <a:chOff x="612" y="3203"/>
            <a:chExt cx="2540" cy="672"/>
          </a:xfrm>
        </p:grpSpPr>
        <p:sp>
          <p:nvSpPr>
            <p:cNvPr id="50204" name="Text Box 13"/>
            <p:cNvSpPr txBox="1"/>
            <p:nvPr/>
          </p:nvSpPr>
          <p:spPr>
            <a:xfrm>
              <a:off x="1474" y="3203"/>
              <a:ext cx="635" cy="672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滤波电路</a:t>
              </a:r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0205" name="Line 14"/>
            <p:cNvSpPr/>
            <p:nvPr/>
          </p:nvSpPr>
          <p:spPr>
            <a:xfrm>
              <a:off x="975" y="3521"/>
              <a:ext cx="499" cy="0"/>
            </a:xfrm>
            <a:prstGeom prst="line">
              <a:avLst/>
            </a:prstGeom>
            <a:ln w="76200" cap="flat" cmpd="sng">
              <a:solidFill>
                <a:schemeClr val="hlink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206" name="Line 15"/>
            <p:cNvSpPr/>
            <p:nvPr/>
          </p:nvSpPr>
          <p:spPr>
            <a:xfrm>
              <a:off x="2109" y="3521"/>
              <a:ext cx="499" cy="0"/>
            </a:xfrm>
            <a:prstGeom prst="line">
              <a:avLst/>
            </a:prstGeom>
            <a:ln w="76200" cap="flat" cmpd="sng">
              <a:solidFill>
                <a:schemeClr val="hlink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207" name="Text Box 16"/>
            <p:cNvSpPr txBox="1"/>
            <p:nvPr/>
          </p:nvSpPr>
          <p:spPr>
            <a:xfrm>
              <a:off x="612" y="3249"/>
              <a:ext cx="36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0208" name="Text Box 17"/>
            <p:cNvSpPr txBox="1"/>
            <p:nvPr/>
          </p:nvSpPr>
          <p:spPr>
            <a:xfrm>
              <a:off x="2608" y="3294"/>
              <a:ext cx="54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o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aphicFrame>
        <p:nvGraphicFramePr>
          <p:cNvPr id="90130" name="Object 18"/>
          <p:cNvGraphicFramePr>
            <a:graphicFrameLocks noChangeAspect="1"/>
          </p:cNvGraphicFramePr>
          <p:nvPr/>
        </p:nvGraphicFramePr>
        <p:xfrm>
          <a:off x="5175250" y="1412875"/>
          <a:ext cx="2538413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" name="" r:id="rId1" imgW="914400" imgH="418465" progId="Equation.3">
                  <p:embed/>
                </p:oleObj>
              </mc:Choice>
              <mc:Fallback>
                <p:oleObj name="" r:id="rId1" imgW="914400" imgH="418465" progId="Equation.3">
                  <p:embed/>
                  <p:pic>
                    <p:nvPicPr>
                      <p:cNvPr id="0" name="图片 324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75250" y="1412875"/>
                        <a:ext cx="2538413" cy="1154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31" name="Text Box 19"/>
          <p:cNvSpPr txBox="1"/>
          <p:nvPr/>
        </p:nvSpPr>
        <p:spPr>
          <a:xfrm>
            <a:off x="684213" y="2565400"/>
            <a:ext cx="2808287" cy="547688"/>
          </a:xfrm>
          <a:prstGeom prst="rect">
            <a:avLst/>
          </a:prstGeom>
          <a:noFill/>
          <a:ln w="2857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SzPct val="80000"/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FF9900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800" dirty="0">
                <a:solidFill>
                  <a:srgbClr val="FF9900"/>
                </a:solidFill>
                <a:latin typeface="Arial" panose="020B0604020202020204" pitchFamily="34" charset="0"/>
              </a:rPr>
              <a:t>滤波电路分类</a:t>
            </a:r>
            <a:endParaRPr lang="zh-CN" altLang="en-US" sz="2800" dirty="0">
              <a:solidFill>
                <a:srgbClr val="FF9900"/>
              </a:solidFill>
              <a:latin typeface="Arial" panose="020B0604020202020204" pitchFamily="34" charset="0"/>
            </a:endParaRPr>
          </a:p>
        </p:txBody>
      </p:sp>
      <p:sp>
        <p:nvSpPr>
          <p:cNvPr id="90132" name="Text Box 20"/>
          <p:cNvSpPr txBox="1"/>
          <p:nvPr/>
        </p:nvSpPr>
        <p:spPr>
          <a:xfrm>
            <a:off x="827088" y="3213100"/>
            <a:ext cx="38877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spcBef>
                <a:spcPct val="50000"/>
              </a:spcBef>
              <a:buAutoNum type="circleNumDbPlain"/>
            </a:pPr>
            <a:r>
              <a:rPr lang="zh-CN" altLang="en-US" sz="2800" dirty="0">
                <a:latin typeface="楷体_GB2312" pitchFamily="49" charset="-122"/>
              </a:rPr>
              <a:t>按所处理信号分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90133" name="AutoShape 21"/>
          <p:cNvSpPr/>
          <p:nvPr/>
        </p:nvSpPr>
        <p:spPr>
          <a:xfrm>
            <a:off x="4068763" y="3357563"/>
            <a:ext cx="719137" cy="144462"/>
          </a:xfrm>
          <a:prstGeom prst="rightArrow">
            <a:avLst>
              <a:gd name="adj1" fmla="val 50000"/>
              <a:gd name="adj2" fmla="val 124450"/>
            </a:avLst>
          </a:prstGeom>
          <a:solidFill>
            <a:srgbClr val="0066FF"/>
          </a:solidFill>
          <a:ln w="9525" cap="flat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0134" name="Text Box 22"/>
          <p:cNvSpPr txBox="1"/>
          <p:nvPr/>
        </p:nvSpPr>
        <p:spPr>
          <a:xfrm>
            <a:off x="4932363" y="3141663"/>
            <a:ext cx="33845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spcBef>
                <a:spcPct val="50000"/>
              </a:spcBef>
            </a:pPr>
            <a:r>
              <a:rPr lang="zh-CN" altLang="en-US" sz="2800" dirty="0">
                <a:latin typeface="楷体_GB2312" pitchFamily="49" charset="-122"/>
              </a:rPr>
              <a:t>模拟和数字滤波器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90135" name="Text Box 23"/>
          <p:cNvSpPr txBox="1"/>
          <p:nvPr/>
        </p:nvSpPr>
        <p:spPr>
          <a:xfrm>
            <a:off x="827088" y="3789363"/>
            <a:ext cx="38877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spcBef>
                <a:spcPct val="50000"/>
              </a:spcBef>
              <a:buAutoNum type="circleNumDbPlain" startAt="2"/>
            </a:pPr>
            <a:r>
              <a:rPr lang="zh-CN" altLang="en-US" sz="2800" dirty="0">
                <a:latin typeface="楷体_GB2312" pitchFamily="49" charset="-122"/>
              </a:rPr>
              <a:t>按所用元件分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90136" name="AutoShape 24"/>
          <p:cNvSpPr/>
          <p:nvPr/>
        </p:nvSpPr>
        <p:spPr>
          <a:xfrm>
            <a:off x="4067175" y="4005263"/>
            <a:ext cx="719138" cy="144462"/>
          </a:xfrm>
          <a:prstGeom prst="rightArrow">
            <a:avLst>
              <a:gd name="adj1" fmla="val 50000"/>
              <a:gd name="adj2" fmla="val 124451"/>
            </a:avLst>
          </a:prstGeom>
          <a:solidFill>
            <a:srgbClr val="0066FF"/>
          </a:solidFill>
          <a:ln w="9525" cap="flat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0137" name="Text Box 25"/>
          <p:cNvSpPr txBox="1"/>
          <p:nvPr/>
        </p:nvSpPr>
        <p:spPr>
          <a:xfrm>
            <a:off x="5003800" y="3789363"/>
            <a:ext cx="33845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spcBef>
                <a:spcPct val="50000"/>
              </a:spcBef>
            </a:pPr>
            <a:r>
              <a:rPr lang="zh-CN" altLang="en-US" sz="2800" dirty="0">
                <a:latin typeface="楷体_GB2312" pitchFamily="49" charset="-122"/>
              </a:rPr>
              <a:t>无源和有源滤波器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90138" name="Text Box 26"/>
          <p:cNvSpPr txBox="1"/>
          <p:nvPr/>
        </p:nvSpPr>
        <p:spPr>
          <a:xfrm>
            <a:off x="827088" y="4437063"/>
            <a:ext cx="38877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spcBef>
                <a:spcPct val="50000"/>
              </a:spcBef>
              <a:buAutoNum type="circleNumDbPlain" startAt="3"/>
            </a:pPr>
            <a:r>
              <a:rPr lang="zh-CN" altLang="en-US" sz="2800" dirty="0">
                <a:latin typeface="楷体_GB2312" pitchFamily="49" charset="-122"/>
              </a:rPr>
              <a:t>按滤波特性分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90139" name="AutoShape 27"/>
          <p:cNvSpPr/>
          <p:nvPr/>
        </p:nvSpPr>
        <p:spPr>
          <a:xfrm>
            <a:off x="3779838" y="4581525"/>
            <a:ext cx="719137" cy="142875"/>
          </a:xfrm>
          <a:prstGeom prst="rightArrow">
            <a:avLst>
              <a:gd name="adj1" fmla="val 50000"/>
              <a:gd name="adj2" fmla="val 125833"/>
            </a:avLst>
          </a:prstGeom>
          <a:solidFill>
            <a:srgbClr val="0066FF"/>
          </a:solidFill>
          <a:ln w="9525" cap="flat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0141" name="Text Box 29"/>
          <p:cNvSpPr txBox="1"/>
          <p:nvPr/>
        </p:nvSpPr>
        <p:spPr>
          <a:xfrm>
            <a:off x="1331913" y="5084763"/>
            <a:ext cx="374491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spcBef>
                <a:spcPct val="50000"/>
              </a:spcBef>
            </a:pPr>
            <a:r>
              <a:rPr lang="zh-CN" altLang="en-US" sz="2800" dirty="0">
                <a:latin typeface="楷体_GB2312" pitchFamily="49" charset="-122"/>
              </a:rPr>
              <a:t>高通滤波器（</a:t>
            </a:r>
            <a:r>
              <a:rPr lang="en-US" altLang="zh-CN" sz="2800" b="0" dirty="0">
                <a:latin typeface="Times New Roman" panose="02020603050405020304" pitchFamily="18" charset="0"/>
              </a:rPr>
              <a:t>HPF</a:t>
            </a:r>
            <a:r>
              <a:rPr lang="zh-CN" altLang="en-US" sz="2800" dirty="0">
                <a:latin typeface="楷体_GB2312" pitchFamily="49" charset="-122"/>
              </a:rPr>
              <a:t>）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90143" name="Text Box 31"/>
          <p:cNvSpPr txBox="1"/>
          <p:nvPr/>
        </p:nvSpPr>
        <p:spPr>
          <a:xfrm>
            <a:off x="4789488" y="4437063"/>
            <a:ext cx="33845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spcBef>
                <a:spcPct val="50000"/>
              </a:spcBef>
            </a:pPr>
            <a:r>
              <a:rPr lang="zh-CN" altLang="en-US" sz="2800" dirty="0">
                <a:latin typeface="楷体_GB2312" pitchFamily="49" charset="-122"/>
              </a:rPr>
              <a:t>低通滤波器（</a:t>
            </a:r>
            <a:r>
              <a:rPr lang="en-US" altLang="zh-CN" sz="2800" b="0" dirty="0">
                <a:latin typeface="Times New Roman" panose="02020603050405020304" pitchFamily="18" charset="0"/>
              </a:rPr>
              <a:t>LPF</a:t>
            </a:r>
            <a:r>
              <a:rPr lang="zh-CN" altLang="en-US" sz="2800" dirty="0">
                <a:latin typeface="楷体_GB2312" pitchFamily="49" charset="-122"/>
              </a:rPr>
              <a:t>）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90144" name="Text Box 32"/>
          <p:cNvSpPr txBox="1"/>
          <p:nvPr/>
        </p:nvSpPr>
        <p:spPr>
          <a:xfrm>
            <a:off x="4716463" y="5084763"/>
            <a:ext cx="33845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spcBef>
                <a:spcPct val="50000"/>
              </a:spcBef>
            </a:pPr>
            <a:r>
              <a:rPr lang="zh-CN" altLang="en-US" sz="2800" dirty="0">
                <a:latin typeface="楷体_GB2312" pitchFamily="49" charset="-122"/>
              </a:rPr>
              <a:t>带通滤波器（</a:t>
            </a:r>
            <a:r>
              <a:rPr lang="en-US" altLang="zh-CN" sz="2800" b="0" dirty="0">
                <a:latin typeface="Times New Roman" panose="02020603050405020304" pitchFamily="18" charset="0"/>
              </a:rPr>
              <a:t>BPF</a:t>
            </a:r>
            <a:r>
              <a:rPr lang="zh-CN" altLang="en-US" sz="2800" dirty="0">
                <a:latin typeface="楷体_GB2312" pitchFamily="49" charset="-122"/>
              </a:rPr>
              <a:t>）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90145" name="Text Box 33"/>
          <p:cNvSpPr txBox="1"/>
          <p:nvPr/>
        </p:nvSpPr>
        <p:spPr>
          <a:xfrm>
            <a:off x="1331913" y="5734050"/>
            <a:ext cx="33845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spcBef>
                <a:spcPct val="50000"/>
              </a:spcBef>
            </a:pPr>
            <a:r>
              <a:rPr lang="zh-CN" altLang="en-US" sz="2800" dirty="0">
                <a:latin typeface="楷体_GB2312" pitchFamily="49" charset="-122"/>
              </a:rPr>
              <a:t>带阻滤波器（</a:t>
            </a:r>
            <a:r>
              <a:rPr lang="en-US" altLang="zh-CN" sz="2800" b="0" dirty="0">
                <a:latin typeface="Times New Roman" panose="02020603050405020304" pitchFamily="18" charset="0"/>
              </a:rPr>
              <a:t>BEF</a:t>
            </a:r>
            <a:r>
              <a:rPr lang="zh-CN" altLang="en-US" sz="2800" dirty="0">
                <a:latin typeface="楷体_GB2312" pitchFamily="49" charset="-122"/>
              </a:rPr>
              <a:t>）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90146" name="Text Box 34"/>
          <p:cNvSpPr txBox="1"/>
          <p:nvPr/>
        </p:nvSpPr>
        <p:spPr>
          <a:xfrm>
            <a:off x="4859338" y="5734050"/>
            <a:ext cx="33845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spcBef>
                <a:spcPct val="50000"/>
              </a:spcBef>
            </a:pPr>
            <a:r>
              <a:rPr lang="zh-CN" altLang="en-US" sz="2800" dirty="0">
                <a:latin typeface="楷体_GB2312" pitchFamily="49" charset="-122"/>
              </a:rPr>
              <a:t>全通滤波器（</a:t>
            </a:r>
            <a:r>
              <a:rPr lang="en-US" altLang="zh-CN" sz="2800" b="0" dirty="0">
                <a:latin typeface="Times New Roman" panose="02020603050405020304" pitchFamily="18" charset="0"/>
              </a:rPr>
              <a:t>APF</a:t>
            </a:r>
            <a:r>
              <a:rPr lang="zh-CN" altLang="en-US" sz="2800" dirty="0">
                <a:latin typeface="楷体_GB2312" pitchFamily="49" charset="-122"/>
              </a:rPr>
              <a:t>）</a:t>
            </a:r>
            <a:endParaRPr lang="zh-CN" altLang="en-US" sz="2800" dirty="0">
              <a:latin typeface="楷体_GB2312" pitchFamily="49" charset="-122"/>
            </a:endParaRPr>
          </a:p>
        </p:txBody>
      </p:sp>
      <p:grpSp>
        <p:nvGrpSpPr>
          <p:cNvPr id="50195" name="Group 3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0202" name="Picture 36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0203" name="Text Box 3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0196" name="Group 38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50200" name="Picture 39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0201" name="Text Box 40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0197" name="Group 44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50198" name="Picture 45" descr="789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0199" name="Text Box 46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1000"/>
                                        <p:tgtEl>
                                          <p:spTgt spid="90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0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9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90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90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90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90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90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90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90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90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90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90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90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90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23" grpId="0" animBg="1"/>
      <p:bldP spid="90131" grpId="0" animBg="1"/>
      <p:bldP spid="90132" grpId="0"/>
      <p:bldP spid="90133" grpId="0" animBg="1"/>
      <p:bldP spid="90134" grpId="0"/>
      <p:bldP spid="90135" grpId="0"/>
      <p:bldP spid="90136" grpId="0" animBg="1"/>
      <p:bldP spid="90137" grpId="0"/>
      <p:bldP spid="90138" grpId="0"/>
      <p:bldP spid="90139" grpId="0" animBg="1"/>
      <p:bldP spid="90141" grpId="0"/>
      <p:bldP spid="90143" grpId="0"/>
      <p:bldP spid="90144" grpId="0"/>
      <p:bldP spid="90145" grpId="0"/>
      <p:bldP spid="9014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8"/>
          <p:cNvGrpSpPr/>
          <p:nvPr/>
        </p:nvGrpSpPr>
        <p:grpSpPr>
          <a:xfrm>
            <a:off x="504825" y="692150"/>
            <a:ext cx="3851275" cy="2089150"/>
            <a:chOff x="318" y="164"/>
            <a:chExt cx="2426" cy="1316"/>
          </a:xfrm>
        </p:grpSpPr>
        <p:sp>
          <p:nvSpPr>
            <p:cNvPr id="51248" name="Line 9"/>
            <p:cNvSpPr/>
            <p:nvPr/>
          </p:nvSpPr>
          <p:spPr>
            <a:xfrm>
              <a:off x="884" y="1117"/>
              <a:ext cx="1633" cy="0"/>
            </a:xfrm>
            <a:prstGeom prst="line">
              <a:avLst/>
            </a:prstGeom>
            <a:ln w="28575" cap="flat" cmpd="sng">
              <a:solidFill>
                <a:srgbClr val="FFFF6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49" name="Line 10"/>
            <p:cNvSpPr/>
            <p:nvPr/>
          </p:nvSpPr>
          <p:spPr>
            <a:xfrm flipV="1">
              <a:off x="930" y="164"/>
              <a:ext cx="0" cy="1316"/>
            </a:xfrm>
            <a:prstGeom prst="line">
              <a:avLst/>
            </a:prstGeom>
            <a:ln w="28575" cap="flat" cmpd="sng">
              <a:solidFill>
                <a:srgbClr val="FFFF6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50" name="Text Box 11"/>
            <p:cNvSpPr txBox="1"/>
            <p:nvPr/>
          </p:nvSpPr>
          <p:spPr>
            <a:xfrm>
              <a:off x="657" y="1117"/>
              <a:ext cx="2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1251" name="Text Box 12"/>
            <p:cNvSpPr txBox="1"/>
            <p:nvPr/>
          </p:nvSpPr>
          <p:spPr>
            <a:xfrm>
              <a:off x="2245" y="1117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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52" name="Text Box 13"/>
            <p:cNvSpPr txBox="1"/>
            <p:nvPr/>
          </p:nvSpPr>
          <p:spPr>
            <a:xfrm>
              <a:off x="1519" y="1117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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53" name="Line 14"/>
            <p:cNvSpPr/>
            <p:nvPr/>
          </p:nvSpPr>
          <p:spPr>
            <a:xfrm>
              <a:off x="930" y="527"/>
              <a:ext cx="725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4" name="Line 15"/>
            <p:cNvSpPr/>
            <p:nvPr/>
          </p:nvSpPr>
          <p:spPr>
            <a:xfrm>
              <a:off x="1655" y="527"/>
              <a:ext cx="0" cy="59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5" name="AutoShape 16"/>
            <p:cNvSpPr/>
            <p:nvPr/>
          </p:nvSpPr>
          <p:spPr>
            <a:xfrm>
              <a:off x="1973" y="346"/>
              <a:ext cx="681" cy="318"/>
            </a:xfrm>
            <a:prstGeom prst="wedgeRoundRectCallout">
              <a:avLst>
                <a:gd name="adj1" fmla="val -134727"/>
                <a:gd name="adj2" fmla="val 66981"/>
                <a:gd name="adj3" fmla="val 16667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pPr algn="ctr" eaLnBrk="1" hangingPunct="1"/>
              <a:r>
                <a:rPr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49" charset="-122"/>
                </a:rPr>
                <a:t>低通</a:t>
              </a:r>
              <a:endPara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aphicFrame>
          <p:nvGraphicFramePr>
            <p:cNvPr id="51256" name="Object 17"/>
            <p:cNvGraphicFramePr>
              <a:graphicFrameLocks noChangeAspect="1"/>
            </p:cNvGraphicFramePr>
            <p:nvPr/>
          </p:nvGraphicFramePr>
          <p:xfrm>
            <a:off x="318" y="346"/>
            <a:ext cx="567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4" name="" r:id="rId1" imgW="418465" imgH="225425" progId="Equation.3">
                    <p:embed/>
                  </p:oleObj>
                </mc:Choice>
                <mc:Fallback>
                  <p:oleObj name="" r:id="rId1" imgW="418465" imgH="225425" progId="Equation.3">
                    <p:embed/>
                    <p:pic>
                      <p:nvPicPr>
                        <p:cNvPr id="0" name="图片 3243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8" y="346"/>
                          <a:ext cx="567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8"/>
          <p:cNvGrpSpPr/>
          <p:nvPr/>
        </p:nvGrpSpPr>
        <p:grpSpPr>
          <a:xfrm>
            <a:off x="4752975" y="836613"/>
            <a:ext cx="3779838" cy="2089150"/>
            <a:chOff x="2994" y="209"/>
            <a:chExt cx="2381" cy="1316"/>
          </a:xfrm>
        </p:grpSpPr>
        <p:sp>
          <p:nvSpPr>
            <p:cNvPr id="51239" name="Line 19"/>
            <p:cNvSpPr/>
            <p:nvPr/>
          </p:nvSpPr>
          <p:spPr>
            <a:xfrm>
              <a:off x="3515" y="1162"/>
              <a:ext cx="1633" cy="0"/>
            </a:xfrm>
            <a:prstGeom prst="line">
              <a:avLst/>
            </a:prstGeom>
            <a:ln w="28575" cap="flat" cmpd="sng">
              <a:solidFill>
                <a:srgbClr val="FFFF6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40" name="Line 20"/>
            <p:cNvSpPr/>
            <p:nvPr/>
          </p:nvSpPr>
          <p:spPr>
            <a:xfrm flipV="1">
              <a:off x="3561" y="209"/>
              <a:ext cx="0" cy="1316"/>
            </a:xfrm>
            <a:prstGeom prst="line">
              <a:avLst/>
            </a:prstGeom>
            <a:ln w="28575" cap="flat" cmpd="sng">
              <a:solidFill>
                <a:srgbClr val="FFFF6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41" name="Text Box 21"/>
            <p:cNvSpPr txBox="1"/>
            <p:nvPr/>
          </p:nvSpPr>
          <p:spPr>
            <a:xfrm>
              <a:off x="3288" y="1162"/>
              <a:ext cx="2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1242" name="Text Box 22"/>
            <p:cNvSpPr txBox="1"/>
            <p:nvPr/>
          </p:nvSpPr>
          <p:spPr>
            <a:xfrm>
              <a:off x="4876" y="1162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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43" name="Text Box 23"/>
            <p:cNvSpPr txBox="1"/>
            <p:nvPr/>
          </p:nvSpPr>
          <p:spPr>
            <a:xfrm>
              <a:off x="4150" y="1162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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44" name="Line 24"/>
            <p:cNvSpPr/>
            <p:nvPr/>
          </p:nvSpPr>
          <p:spPr>
            <a:xfrm>
              <a:off x="4332" y="572"/>
              <a:ext cx="725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5" name="Line 25"/>
            <p:cNvSpPr/>
            <p:nvPr/>
          </p:nvSpPr>
          <p:spPr>
            <a:xfrm>
              <a:off x="4332" y="572"/>
              <a:ext cx="0" cy="59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46" name="AutoShape 26"/>
            <p:cNvSpPr/>
            <p:nvPr/>
          </p:nvSpPr>
          <p:spPr>
            <a:xfrm>
              <a:off x="3742" y="210"/>
              <a:ext cx="681" cy="318"/>
            </a:xfrm>
            <a:prstGeom prst="wedgeRoundRectCallout">
              <a:avLst>
                <a:gd name="adj1" fmla="val 56463"/>
                <a:gd name="adj2" fmla="val 95597"/>
                <a:gd name="adj3" fmla="val 16667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pPr algn="ctr" eaLnBrk="1" hangingPunct="1"/>
              <a:r>
                <a:rPr lang="zh-CN" altLang="en-US" sz="2800" dirty="0">
                  <a:solidFill>
                    <a:schemeClr val="tx1"/>
                  </a:solidFill>
                  <a:latin typeface="Arial" panose="020B0604020202020204" pitchFamily="34" charset="0"/>
                </a:rPr>
                <a:t>高通</a:t>
              </a:r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51247" name="Object 27"/>
            <p:cNvGraphicFramePr>
              <a:graphicFrameLocks noChangeAspect="1"/>
            </p:cNvGraphicFramePr>
            <p:nvPr/>
          </p:nvGraphicFramePr>
          <p:xfrm>
            <a:off x="2994" y="300"/>
            <a:ext cx="567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5" name="" r:id="rId3" imgW="418465" imgH="225425" progId="Equation.3">
                    <p:embed/>
                  </p:oleObj>
                </mc:Choice>
                <mc:Fallback>
                  <p:oleObj name="" r:id="rId3" imgW="418465" imgH="225425" progId="Equation.3">
                    <p:embed/>
                    <p:pic>
                      <p:nvPicPr>
                        <p:cNvPr id="0" name="图片 3244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94" y="300"/>
                          <a:ext cx="567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8"/>
          <p:cNvGrpSpPr/>
          <p:nvPr/>
        </p:nvGrpSpPr>
        <p:grpSpPr>
          <a:xfrm>
            <a:off x="288925" y="3068638"/>
            <a:ext cx="4067175" cy="2593975"/>
            <a:chOff x="182" y="1706"/>
            <a:chExt cx="2562" cy="1634"/>
          </a:xfrm>
        </p:grpSpPr>
        <p:sp>
          <p:nvSpPr>
            <p:cNvPr id="51228" name="Line 29"/>
            <p:cNvSpPr/>
            <p:nvPr/>
          </p:nvSpPr>
          <p:spPr>
            <a:xfrm>
              <a:off x="748" y="2659"/>
              <a:ext cx="1633" cy="0"/>
            </a:xfrm>
            <a:prstGeom prst="line">
              <a:avLst/>
            </a:prstGeom>
            <a:ln w="28575" cap="flat" cmpd="sng">
              <a:solidFill>
                <a:srgbClr val="FFFF6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29" name="Line 30"/>
            <p:cNvSpPr/>
            <p:nvPr/>
          </p:nvSpPr>
          <p:spPr>
            <a:xfrm flipV="1">
              <a:off x="794" y="1706"/>
              <a:ext cx="0" cy="1316"/>
            </a:xfrm>
            <a:prstGeom prst="line">
              <a:avLst/>
            </a:prstGeom>
            <a:ln w="28575" cap="flat" cmpd="sng">
              <a:solidFill>
                <a:srgbClr val="FFFF6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30" name="Text Box 31"/>
            <p:cNvSpPr txBox="1"/>
            <p:nvPr/>
          </p:nvSpPr>
          <p:spPr>
            <a:xfrm>
              <a:off x="521" y="2659"/>
              <a:ext cx="2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1231" name="Text Box 32"/>
            <p:cNvSpPr txBox="1"/>
            <p:nvPr/>
          </p:nvSpPr>
          <p:spPr>
            <a:xfrm>
              <a:off x="2245" y="2614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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32" name="Text Box 33"/>
            <p:cNvSpPr txBox="1"/>
            <p:nvPr/>
          </p:nvSpPr>
          <p:spPr>
            <a:xfrm>
              <a:off x="1383" y="2659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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33" name="Line 34"/>
            <p:cNvSpPr/>
            <p:nvPr/>
          </p:nvSpPr>
          <p:spPr>
            <a:xfrm>
              <a:off x="1519" y="2069"/>
              <a:ext cx="545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34" name="Line 35"/>
            <p:cNvSpPr/>
            <p:nvPr/>
          </p:nvSpPr>
          <p:spPr>
            <a:xfrm>
              <a:off x="1519" y="2069"/>
              <a:ext cx="0" cy="59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35" name="AutoShape 36"/>
            <p:cNvSpPr/>
            <p:nvPr/>
          </p:nvSpPr>
          <p:spPr>
            <a:xfrm>
              <a:off x="521" y="3022"/>
              <a:ext cx="681" cy="318"/>
            </a:xfrm>
            <a:prstGeom prst="wedgeRoundRectCallout">
              <a:avLst>
                <a:gd name="adj1" fmla="val 101102"/>
                <a:gd name="adj2" fmla="val -265407"/>
                <a:gd name="adj3" fmla="val 16667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pPr algn="ctr" eaLnBrk="1" hangingPunct="1"/>
              <a:r>
                <a:rPr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49" charset="-122"/>
                </a:rPr>
                <a:t>带通</a:t>
              </a:r>
              <a:endPara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aphicFrame>
          <p:nvGraphicFramePr>
            <p:cNvPr id="51236" name="Object 37"/>
            <p:cNvGraphicFramePr>
              <a:graphicFrameLocks noChangeAspect="1"/>
            </p:cNvGraphicFramePr>
            <p:nvPr/>
          </p:nvGraphicFramePr>
          <p:xfrm>
            <a:off x="182" y="1888"/>
            <a:ext cx="567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6" name="" r:id="rId5" imgW="418465" imgH="225425" progId="Equation.3">
                    <p:embed/>
                  </p:oleObj>
                </mc:Choice>
                <mc:Fallback>
                  <p:oleObj name="" r:id="rId5" imgW="418465" imgH="225425" progId="Equation.3">
                    <p:embed/>
                    <p:pic>
                      <p:nvPicPr>
                        <p:cNvPr id="0" name="图片 3245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2" y="1888"/>
                          <a:ext cx="567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37" name="Line 38"/>
            <p:cNvSpPr/>
            <p:nvPr/>
          </p:nvSpPr>
          <p:spPr>
            <a:xfrm>
              <a:off x="2064" y="2069"/>
              <a:ext cx="0" cy="59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38" name="Text Box 39"/>
            <p:cNvSpPr txBox="1"/>
            <p:nvPr/>
          </p:nvSpPr>
          <p:spPr>
            <a:xfrm>
              <a:off x="1837" y="2659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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" name="Group 40"/>
          <p:cNvGrpSpPr/>
          <p:nvPr/>
        </p:nvGrpSpPr>
        <p:grpSpPr>
          <a:xfrm>
            <a:off x="4610100" y="3284538"/>
            <a:ext cx="4065588" cy="2882900"/>
            <a:chOff x="2904" y="1751"/>
            <a:chExt cx="2561" cy="1816"/>
          </a:xfrm>
        </p:grpSpPr>
        <p:sp>
          <p:nvSpPr>
            <p:cNvPr id="51215" name="Line 41"/>
            <p:cNvSpPr/>
            <p:nvPr/>
          </p:nvSpPr>
          <p:spPr>
            <a:xfrm>
              <a:off x="3469" y="2704"/>
              <a:ext cx="1633" cy="0"/>
            </a:xfrm>
            <a:prstGeom prst="line">
              <a:avLst/>
            </a:prstGeom>
            <a:ln w="28575" cap="flat" cmpd="sng">
              <a:solidFill>
                <a:srgbClr val="FFFF6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16" name="Line 42"/>
            <p:cNvSpPr/>
            <p:nvPr/>
          </p:nvSpPr>
          <p:spPr>
            <a:xfrm flipV="1">
              <a:off x="3515" y="1751"/>
              <a:ext cx="0" cy="1316"/>
            </a:xfrm>
            <a:prstGeom prst="line">
              <a:avLst/>
            </a:prstGeom>
            <a:ln w="28575" cap="flat" cmpd="sng">
              <a:solidFill>
                <a:srgbClr val="FFFF66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17" name="Text Box 43"/>
            <p:cNvSpPr txBox="1"/>
            <p:nvPr/>
          </p:nvSpPr>
          <p:spPr>
            <a:xfrm>
              <a:off x="3242" y="2704"/>
              <a:ext cx="2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1218" name="Text Box 44"/>
            <p:cNvSpPr txBox="1"/>
            <p:nvPr/>
          </p:nvSpPr>
          <p:spPr>
            <a:xfrm>
              <a:off x="4966" y="2659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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19" name="Text Box 45"/>
            <p:cNvSpPr txBox="1"/>
            <p:nvPr/>
          </p:nvSpPr>
          <p:spPr>
            <a:xfrm>
              <a:off x="3833" y="2704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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1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20" name="Line 46"/>
            <p:cNvSpPr/>
            <p:nvPr/>
          </p:nvSpPr>
          <p:spPr>
            <a:xfrm>
              <a:off x="3515" y="2115"/>
              <a:ext cx="545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1" name="Line 47"/>
            <p:cNvSpPr/>
            <p:nvPr/>
          </p:nvSpPr>
          <p:spPr>
            <a:xfrm>
              <a:off x="3515" y="2115"/>
              <a:ext cx="0" cy="59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2" name="AutoShape 48"/>
            <p:cNvSpPr/>
            <p:nvPr/>
          </p:nvSpPr>
          <p:spPr>
            <a:xfrm>
              <a:off x="4105" y="3249"/>
              <a:ext cx="681" cy="318"/>
            </a:xfrm>
            <a:prstGeom prst="wedgeRoundRectCallout">
              <a:avLst>
                <a:gd name="adj1" fmla="val -23421"/>
                <a:gd name="adj2" fmla="val -268241"/>
                <a:gd name="adj3" fmla="val 16667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pPr algn="ctr" eaLnBrk="1" hangingPunct="1"/>
              <a:r>
                <a:rPr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49" charset="-122"/>
                </a:rPr>
                <a:t>带阻</a:t>
              </a:r>
              <a:endPara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graphicFrame>
          <p:nvGraphicFramePr>
            <p:cNvPr id="51223" name="Object 49"/>
            <p:cNvGraphicFramePr>
              <a:graphicFrameLocks noChangeAspect="1"/>
            </p:cNvGraphicFramePr>
            <p:nvPr/>
          </p:nvGraphicFramePr>
          <p:xfrm>
            <a:off x="2904" y="1933"/>
            <a:ext cx="566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7" name="" r:id="rId7" imgW="418465" imgH="225425" progId="Equation.3">
                    <p:embed/>
                  </p:oleObj>
                </mc:Choice>
                <mc:Fallback>
                  <p:oleObj name="" r:id="rId7" imgW="418465" imgH="225425" progId="Equation.3">
                    <p:embed/>
                    <p:pic>
                      <p:nvPicPr>
                        <p:cNvPr id="0" name="图片 3246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04" y="1933"/>
                          <a:ext cx="566" cy="3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24" name="Line 50"/>
            <p:cNvSpPr/>
            <p:nvPr/>
          </p:nvSpPr>
          <p:spPr>
            <a:xfrm>
              <a:off x="4060" y="2115"/>
              <a:ext cx="0" cy="59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5" name="Text Box 51"/>
            <p:cNvSpPr txBox="1"/>
            <p:nvPr/>
          </p:nvSpPr>
          <p:spPr>
            <a:xfrm>
              <a:off x="4377" y="2704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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2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1226" name="Line 52"/>
            <p:cNvSpPr/>
            <p:nvPr/>
          </p:nvSpPr>
          <p:spPr>
            <a:xfrm>
              <a:off x="4513" y="2115"/>
              <a:ext cx="545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7" name="Line 53"/>
            <p:cNvSpPr/>
            <p:nvPr/>
          </p:nvSpPr>
          <p:spPr>
            <a:xfrm>
              <a:off x="4513" y="2115"/>
              <a:ext cx="0" cy="59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1206" name="Group 5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1213" name="Picture 55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14" name="Text Box 5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1207" name="Group 57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51211" name="Picture 58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12" name="Text Box 59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1208" name="Group 63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51209" name="Picture 64" descr="7890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10" name="Text Box 65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Text Box 159"/>
          <p:cNvSpPr txBox="1"/>
          <p:nvPr/>
        </p:nvSpPr>
        <p:spPr>
          <a:xfrm>
            <a:off x="2339975" y="5357813"/>
            <a:ext cx="3756025" cy="519112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低通滤波器的单元电路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2227" name="Text Box 160"/>
          <p:cNvSpPr txBox="1"/>
          <p:nvPr/>
        </p:nvSpPr>
        <p:spPr>
          <a:xfrm>
            <a:off x="1485900" y="2476500"/>
            <a:ext cx="758825" cy="519113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800" b="0" dirty="0">
                <a:latin typeface="Times New Roman" panose="02020603050405020304" pitchFamily="18" charset="0"/>
              </a:rPr>
              <a:t>L</a:t>
            </a:r>
            <a:r>
              <a:rPr lang="zh-CN" altLang="en-US" sz="2800" dirty="0">
                <a:latin typeface="Times New Roman" panose="02020603050405020304" pitchFamily="18" charset="0"/>
              </a:rPr>
              <a:t>形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2228" name="Text Box 161"/>
          <p:cNvSpPr txBox="1"/>
          <p:nvPr/>
        </p:nvSpPr>
        <p:spPr>
          <a:xfrm>
            <a:off x="5724525" y="2405063"/>
            <a:ext cx="758825" cy="519112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800" b="0" dirty="0">
                <a:latin typeface="Times New Roman" panose="02020603050405020304" pitchFamily="18" charset="0"/>
              </a:rPr>
              <a:t>T</a:t>
            </a:r>
            <a:r>
              <a:rPr lang="zh-CN" altLang="en-US" sz="2800" dirty="0">
                <a:latin typeface="Times New Roman" panose="02020603050405020304" pitchFamily="18" charset="0"/>
              </a:rPr>
              <a:t>形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2229" name="Text Box 162"/>
          <p:cNvSpPr txBox="1"/>
          <p:nvPr/>
        </p:nvSpPr>
        <p:spPr>
          <a:xfrm>
            <a:off x="6732588" y="3844925"/>
            <a:ext cx="947737" cy="579438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l-GR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形</a:t>
            </a:r>
            <a:endParaRPr lang="zh-CN" altLang="en-US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2230" name="Line 163"/>
          <p:cNvSpPr/>
          <p:nvPr/>
        </p:nvSpPr>
        <p:spPr>
          <a:xfrm>
            <a:off x="4140200" y="2981325"/>
            <a:ext cx="0" cy="2160588"/>
          </a:xfrm>
          <a:prstGeom prst="line">
            <a:avLst/>
          </a:prstGeom>
          <a:ln w="28575" cap="flat" cmpd="sng">
            <a:solidFill>
              <a:schemeClr val="bg1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52231" name="Group 16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2331" name="Picture 16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332" name="Text Box 16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2232" name="Group 168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52329" name="Picture 16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330" name="Text Box 170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2233" name="Group 174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52327" name="Picture 17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2328" name="Text Box 176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2234" name="Group 182"/>
          <p:cNvGrpSpPr/>
          <p:nvPr/>
        </p:nvGrpSpPr>
        <p:grpSpPr>
          <a:xfrm>
            <a:off x="655638" y="836613"/>
            <a:ext cx="2589212" cy="1403350"/>
            <a:chOff x="413" y="527"/>
            <a:chExt cx="1631" cy="884"/>
          </a:xfrm>
        </p:grpSpPr>
        <p:sp>
          <p:nvSpPr>
            <p:cNvPr id="52306" name="Line 72"/>
            <p:cNvSpPr/>
            <p:nvPr/>
          </p:nvSpPr>
          <p:spPr>
            <a:xfrm flipV="1">
              <a:off x="522" y="607"/>
              <a:ext cx="363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07" name="Line 73"/>
            <p:cNvSpPr/>
            <p:nvPr/>
          </p:nvSpPr>
          <p:spPr>
            <a:xfrm>
              <a:off x="1565" y="608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2308" name="Line 74"/>
            <p:cNvSpPr/>
            <p:nvPr/>
          </p:nvSpPr>
          <p:spPr>
            <a:xfrm>
              <a:off x="476" y="1379"/>
              <a:ext cx="149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309" name="Line 75"/>
            <p:cNvSpPr/>
            <p:nvPr/>
          </p:nvSpPr>
          <p:spPr>
            <a:xfrm>
              <a:off x="1565" y="971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graphicFrame>
          <p:nvGraphicFramePr>
            <p:cNvPr id="52310" name="Object 76"/>
            <p:cNvGraphicFramePr>
              <a:graphicFrameLocks noChangeAspect="1"/>
            </p:cNvGraphicFramePr>
            <p:nvPr/>
          </p:nvGraphicFramePr>
          <p:xfrm>
            <a:off x="431" y="789"/>
            <a:ext cx="251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2" name="" r:id="rId2" imgW="141605" imgH="206375" progId="Equation.3">
                    <p:embed/>
                  </p:oleObj>
                </mc:Choice>
                <mc:Fallback>
                  <p:oleObj name="" r:id="rId2" imgW="141605" imgH="206375" progId="Equation.3">
                    <p:embed/>
                    <p:pic>
                      <p:nvPicPr>
                        <p:cNvPr id="0" name="图片 3251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1" y="789"/>
                          <a:ext cx="251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311" name="Object 77"/>
            <p:cNvGraphicFramePr>
              <a:graphicFrameLocks noChangeAspect="1"/>
            </p:cNvGraphicFramePr>
            <p:nvPr/>
          </p:nvGraphicFramePr>
          <p:xfrm>
            <a:off x="1701" y="744"/>
            <a:ext cx="305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0" name="" r:id="rId4" imgW="147955" imgH="206375" progId="Equation.3">
                    <p:embed/>
                  </p:oleObj>
                </mc:Choice>
                <mc:Fallback>
                  <p:oleObj name="" r:id="rId4" imgW="147955" imgH="206375" progId="Equation.3">
                    <p:embed/>
                    <p:pic>
                      <p:nvPicPr>
                        <p:cNvPr id="0" name="图片 3249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01" y="744"/>
                          <a:ext cx="305" cy="4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312" name="Object 78"/>
            <p:cNvGraphicFramePr>
              <a:graphicFrameLocks noChangeAspect="1"/>
            </p:cNvGraphicFramePr>
            <p:nvPr/>
          </p:nvGraphicFramePr>
          <p:xfrm>
            <a:off x="1248" y="880"/>
            <a:ext cx="19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3" name="" r:id="rId6" imgW="141605" imgH="161290" progId="Equation.3">
                    <p:embed/>
                  </p:oleObj>
                </mc:Choice>
                <mc:Fallback>
                  <p:oleObj name="" r:id="rId6" imgW="141605" imgH="161290" progId="Equation.3">
                    <p:embed/>
                    <p:pic>
                      <p:nvPicPr>
                        <p:cNvPr id="0" name="图片 3252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48" y="880"/>
                          <a:ext cx="199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313" name="Object 79"/>
            <p:cNvGraphicFramePr>
              <a:graphicFrameLocks noChangeAspect="1"/>
            </p:cNvGraphicFramePr>
            <p:nvPr/>
          </p:nvGraphicFramePr>
          <p:xfrm>
            <a:off x="938" y="653"/>
            <a:ext cx="198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9" name="" r:id="rId8" imgW="128905" imgH="147955" progId="Equation.3">
                    <p:embed/>
                  </p:oleObj>
                </mc:Choice>
                <mc:Fallback>
                  <p:oleObj name="" r:id="rId8" imgW="128905" imgH="147955" progId="Equation.3">
                    <p:embed/>
                    <p:pic>
                      <p:nvPicPr>
                        <p:cNvPr id="0" name="图片 3248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38" y="653"/>
                          <a:ext cx="198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2314" name="Group 80"/>
            <p:cNvGrpSpPr/>
            <p:nvPr/>
          </p:nvGrpSpPr>
          <p:grpSpPr>
            <a:xfrm>
              <a:off x="1438" y="880"/>
              <a:ext cx="240" cy="93"/>
              <a:chOff x="3787" y="2478"/>
              <a:chExt cx="240" cy="93"/>
            </a:xfrm>
          </p:grpSpPr>
          <p:sp>
            <p:nvSpPr>
              <p:cNvPr id="52325" name="Line 81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26" name="Line 82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2315" name="Oval 83"/>
            <p:cNvSpPr/>
            <p:nvPr/>
          </p:nvSpPr>
          <p:spPr>
            <a:xfrm>
              <a:off x="1973" y="1334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316" name="Oval 84"/>
            <p:cNvSpPr/>
            <p:nvPr/>
          </p:nvSpPr>
          <p:spPr>
            <a:xfrm>
              <a:off x="1928" y="563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317" name="Oval 85"/>
            <p:cNvSpPr/>
            <p:nvPr/>
          </p:nvSpPr>
          <p:spPr>
            <a:xfrm>
              <a:off x="449" y="563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318" name="Oval 86"/>
            <p:cNvSpPr/>
            <p:nvPr/>
          </p:nvSpPr>
          <p:spPr>
            <a:xfrm>
              <a:off x="413" y="1343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319" name="Line 91"/>
            <p:cNvSpPr/>
            <p:nvPr/>
          </p:nvSpPr>
          <p:spPr>
            <a:xfrm flipV="1">
              <a:off x="1293" y="607"/>
              <a:ext cx="635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2320" name="Group 177"/>
            <p:cNvGrpSpPr/>
            <p:nvPr/>
          </p:nvGrpSpPr>
          <p:grpSpPr>
            <a:xfrm rot="5400000">
              <a:off x="1042" y="368"/>
              <a:ext cx="91" cy="408"/>
              <a:chOff x="1565" y="2614"/>
              <a:chExt cx="90" cy="486"/>
            </a:xfrm>
          </p:grpSpPr>
          <p:sp>
            <p:nvSpPr>
              <p:cNvPr id="52321" name="Arc 178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322" name="Arc 179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323" name="Arc 180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324" name="Arc 181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52235" name="Group 193"/>
          <p:cNvGrpSpPr/>
          <p:nvPr/>
        </p:nvGrpSpPr>
        <p:grpSpPr>
          <a:xfrm>
            <a:off x="3967163" y="533400"/>
            <a:ext cx="4473575" cy="2160588"/>
            <a:chOff x="2499" y="336"/>
            <a:chExt cx="2818" cy="1361"/>
          </a:xfrm>
        </p:grpSpPr>
        <p:sp>
          <p:nvSpPr>
            <p:cNvPr id="52271" name="Line 93"/>
            <p:cNvSpPr/>
            <p:nvPr/>
          </p:nvSpPr>
          <p:spPr>
            <a:xfrm flipV="1">
              <a:off x="2608" y="607"/>
              <a:ext cx="363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72" name="Line 94"/>
            <p:cNvSpPr/>
            <p:nvPr/>
          </p:nvSpPr>
          <p:spPr>
            <a:xfrm>
              <a:off x="3651" y="608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2273" name="Line 95"/>
            <p:cNvSpPr/>
            <p:nvPr/>
          </p:nvSpPr>
          <p:spPr>
            <a:xfrm flipV="1">
              <a:off x="2562" y="1378"/>
              <a:ext cx="2586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74" name="Line 96"/>
            <p:cNvSpPr/>
            <p:nvPr/>
          </p:nvSpPr>
          <p:spPr>
            <a:xfrm>
              <a:off x="3651" y="971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graphicFrame>
          <p:nvGraphicFramePr>
            <p:cNvPr id="52275" name="Object 97"/>
            <p:cNvGraphicFramePr>
              <a:graphicFrameLocks noChangeAspect="1"/>
            </p:cNvGraphicFramePr>
            <p:nvPr/>
          </p:nvGraphicFramePr>
          <p:xfrm>
            <a:off x="2517" y="789"/>
            <a:ext cx="251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4" name="" r:id="rId10" imgW="141605" imgH="206375" progId="Equation.3">
                    <p:embed/>
                  </p:oleObj>
                </mc:Choice>
                <mc:Fallback>
                  <p:oleObj name="" r:id="rId10" imgW="141605" imgH="206375" progId="Equation.3">
                    <p:embed/>
                    <p:pic>
                      <p:nvPicPr>
                        <p:cNvPr id="0" name="图片 3253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517" y="789"/>
                          <a:ext cx="251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76" name="Object 98"/>
            <p:cNvGraphicFramePr>
              <a:graphicFrameLocks noChangeAspect="1"/>
            </p:cNvGraphicFramePr>
            <p:nvPr/>
          </p:nvGraphicFramePr>
          <p:xfrm>
            <a:off x="3334" y="880"/>
            <a:ext cx="19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1" name="" r:id="rId12" imgW="141605" imgH="161290" progId="Equation.3">
                    <p:embed/>
                  </p:oleObj>
                </mc:Choice>
                <mc:Fallback>
                  <p:oleObj name="" r:id="rId12" imgW="141605" imgH="161290" progId="Equation.3">
                    <p:embed/>
                    <p:pic>
                      <p:nvPicPr>
                        <p:cNvPr id="0" name="图片 3250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334" y="880"/>
                          <a:ext cx="199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77" name="Object 99"/>
            <p:cNvGraphicFramePr>
              <a:graphicFrameLocks noChangeAspect="1"/>
            </p:cNvGraphicFramePr>
            <p:nvPr/>
          </p:nvGraphicFramePr>
          <p:xfrm>
            <a:off x="3024" y="653"/>
            <a:ext cx="198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5" name="" r:id="rId14" imgW="128905" imgH="147955" progId="Equation.3">
                    <p:embed/>
                  </p:oleObj>
                </mc:Choice>
                <mc:Fallback>
                  <p:oleObj name="" r:id="rId14" imgW="128905" imgH="147955" progId="Equation.3">
                    <p:embed/>
                    <p:pic>
                      <p:nvPicPr>
                        <p:cNvPr id="0" name="图片 3254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24" y="653"/>
                          <a:ext cx="198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2278" name="Group 100"/>
            <p:cNvGrpSpPr/>
            <p:nvPr/>
          </p:nvGrpSpPr>
          <p:grpSpPr>
            <a:xfrm>
              <a:off x="3524" y="880"/>
              <a:ext cx="240" cy="93"/>
              <a:chOff x="3787" y="2478"/>
              <a:chExt cx="240" cy="93"/>
            </a:xfrm>
          </p:grpSpPr>
          <p:sp>
            <p:nvSpPr>
              <p:cNvPr id="52304" name="Line 101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05" name="Line 102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2279" name="Oval 103"/>
            <p:cNvSpPr/>
            <p:nvPr/>
          </p:nvSpPr>
          <p:spPr>
            <a:xfrm>
              <a:off x="2544" y="572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80" name="Oval 104"/>
            <p:cNvSpPr/>
            <p:nvPr/>
          </p:nvSpPr>
          <p:spPr>
            <a:xfrm>
              <a:off x="2499" y="1343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81" name="Line 109"/>
            <p:cNvSpPr/>
            <p:nvPr/>
          </p:nvSpPr>
          <p:spPr>
            <a:xfrm flipV="1">
              <a:off x="3379" y="607"/>
              <a:ext cx="907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82" name="Line 110"/>
            <p:cNvSpPr/>
            <p:nvPr/>
          </p:nvSpPr>
          <p:spPr>
            <a:xfrm>
              <a:off x="4059" y="607"/>
              <a:ext cx="1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2283" name="Line 111"/>
            <p:cNvSpPr/>
            <p:nvPr/>
          </p:nvSpPr>
          <p:spPr>
            <a:xfrm>
              <a:off x="4059" y="970"/>
              <a:ext cx="1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graphicFrame>
          <p:nvGraphicFramePr>
            <p:cNvPr id="52284" name="Object 112"/>
            <p:cNvGraphicFramePr>
              <a:graphicFrameLocks noChangeAspect="1"/>
            </p:cNvGraphicFramePr>
            <p:nvPr/>
          </p:nvGraphicFramePr>
          <p:xfrm>
            <a:off x="5012" y="743"/>
            <a:ext cx="305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8" name="" r:id="rId16" imgW="147955" imgH="206375" progId="Equation.3">
                    <p:embed/>
                  </p:oleObj>
                </mc:Choice>
                <mc:Fallback>
                  <p:oleObj name="" r:id="rId16" imgW="147955" imgH="206375" progId="Equation.3">
                    <p:embed/>
                    <p:pic>
                      <p:nvPicPr>
                        <p:cNvPr id="0" name="图片 3247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012" y="743"/>
                          <a:ext cx="305" cy="4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85" name="Object 113"/>
            <p:cNvGraphicFramePr>
              <a:graphicFrameLocks noChangeAspect="1"/>
            </p:cNvGraphicFramePr>
            <p:nvPr/>
          </p:nvGraphicFramePr>
          <p:xfrm>
            <a:off x="4195" y="879"/>
            <a:ext cx="19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9" name="" r:id="rId18" imgW="141605" imgH="161290" progId="Equation.3">
                    <p:embed/>
                  </p:oleObj>
                </mc:Choice>
                <mc:Fallback>
                  <p:oleObj name="" r:id="rId18" imgW="141605" imgH="161290" progId="Equation.3">
                    <p:embed/>
                    <p:pic>
                      <p:nvPicPr>
                        <p:cNvPr id="0" name="图片 3258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95" y="879"/>
                          <a:ext cx="199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86" name="Object 114"/>
            <p:cNvGraphicFramePr>
              <a:graphicFrameLocks noChangeAspect="1"/>
            </p:cNvGraphicFramePr>
            <p:nvPr/>
          </p:nvGraphicFramePr>
          <p:xfrm>
            <a:off x="4422" y="618"/>
            <a:ext cx="198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8" name="" r:id="rId20" imgW="128905" imgH="147955" progId="Equation.3">
                    <p:embed/>
                  </p:oleObj>
                </mc:Choice>
                <mc:Fallback>
                  <p:oleObj name="" r:id="rId20" imgW="128905" imgH="147955" progId="Equation.3">
                    <p:embed/>
                    <p:pic>
                      <p:nvPicPr>
                        <p:cNvPr id="0" name="图片 3257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22" y="618"/>
                          <a:ext cx="198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2287" name="Group 115"/>
            <p:cNvGrpSpPr/>
            <p:nvPr/>
          </p:nvGrpSpPr>
          <p:grpSpPr>
            <a:xfrm>
              <a:off x="3941" y="879"/>
              <a:ext cx="240" cy="93"/>
              <a:chOff x="3787" y="2478"/>
              <a:chExt cx="240" cy="93"/>
            </a:xfrm>
          </p:grpSpPr>
          <p:sp>
            <p:nvSpPr>
              <p:cNvPr id="52302" name="Line 116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303" name="Line 117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2288" name="Oval 118"/>
            <p:cNvSpPr/>
            <p:nvPr/>
          </p:nvSpPr>
          <p:spPr>
            <a:xfrm>
              <a:off x="5148" y="1333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89" name="Oval 119"/>
            <p:cNvSpPr/>
            <p:nvPr/>
          </p:nvSpPr>
          <p:spPr>
            <a:xfrm>
              <a:off x="5130" y="562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90" name="Line 124"/>
            <p:cNvSpPr/>
            <p:nvPr/>
          </p:nvSpPr>
          <p:spPr>
            <a:xfrm flipV="1">
              <a:off x="4696" y="607"/>
              <a:ext cx="434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91" name="Line 164"/>
            <p:cNvSpPr/>
            <p:nvPr/>
          </p:nvSpPr>
          <p:spPr>
            <a:xfrm>
              <a:off x="3833" y="336"/>
              <a:ext cx="0" cy="1361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52292" name="Group 183"/>
            <p:cNvGrpSpPr/>
            <p:nvPr/>
          </p:nvGrpSpPr>
          <p:grpSpPr>
            <a:xfrm rot="5400000">
              <a:off x="4444" y="368"/>
              <a:ext cx="91" cy="408"/>
              <a:chOff x="1565" y="2614"/>
              <a:chExt cx="90" cy="486"/>
            </a:xfrm>
          </p:grpSpPr>
          <p:sp>
            <p:nvSpPr>
              <p:cNvPr id="52298" name="Arc 184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99" name="Arc 185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300" name="Arc 186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301" name="Arc 187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52293" name="Group 188"/>
            <p:cNvGrpSpPr/>
            <p:nvPr/>
          </p:nvGrpSpPr>
          <p:grpSpPr>
            <a:xfrm rot="5400000">
              <a:off x="3129" y="368"/>
              <a:ext cx="91" cy="408"/>
              <a:chOff x="1565" y="2614"/>
              <a:chExt cx="90" cy="486"/>
            </a:xfrm>
          </p:grpSpPr>
          <p:sp>
            <p:nvSpPr>
              <p:cNvPr id="52294" name="Arc 189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95" name="Arc 190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96" name="Arc 191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97" name="Arc 192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52236" name="Group 204"/>
          <p:cNvGrpSpPr/>
          <p:nvPr/>
        </p:nvGrpSpPr>
        <p:grpSpPr>
          <a:xfrm>
            <a:off x="1879600" y="3500438"/>
            <a:ext cx="4473575" cy="1403350"/>
            <a:chOff x="1184" y="2205"/>
            <a:chExt cx="2818" cy="884"/>
          </a:xfrm>
        </p:grpSpPr>
        <p:sp>
          <p:nvSpPr>
            <p:cNvPr id="52237" name="Line 126"/>
            <p:cNvSpPr/>
            <p:nvPr/>
          </p:nvSpPr>
          <p:spPr>
            <a:xfrm flipV="1">
              <a:off x="1293" y="2286"/>
              <a:ext cx="72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38" name="Line 127"/>
            <p:cNvSpPr/>
            <p:nvPr/>
          </p:nvSpPr>
          <p:spPr>
            <a:xfrm>
              <a:off x="1747" y="2286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2239" name="Line 128"/>
            <p:cNvSpPr/>
            <p:nvPr/>
          </p:nvSpPr>
          <p:spPr>
            <a:xfrm flipV="1">
              <a:off x="1247" y="3056"/>
              <a:ext cx="2586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40" name="Line 129"/>
            <p:cNvSpPr/>
            <p:nvPr/>
          </p:nvSpPr>
          <p:spPr>
            <a:xfrm>
              <a:off x="1747" y="2649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graphicFrame>
          <p:nvGraphicFramePr>
            <p:cNvPr id="52241" name="Object 130"/>
            <p:cNvGraphicFramePr>
              <a:graphicFrameLocks noChangeAspect="1"/>
            </p:cNvGraphicFramePr>
            <p:nvPr/>
          </p:nvGraphicFramePr>
          <p:xfrm>
            <a:off x="1202" y="2467"/>
            <a:ext cx="251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2" name="" r:id="rId22" imgW="141605" imgH="206375" progId="Equation.3">
                    <p:embed/>
                  </p:oleObj>
                </mc:Choice>
                <mc:Fallback>
                  <p:oleObj name="" r:id="rId22" imgW="141605" imgH="206375" progId="Equation.3">
                    <p:embed/>
                    <p:pic>
                      <p:nvPicPr>
                        <p:cNvPr id="0" name="图片 3261"/>
                        <p:cNvPicPr/>
                        <p:nvPr/>
                      </p:nvPicPr>
                      <p:blipFill>
                        <a:blip r:embed="rId2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202" y="2467"/>
                          <a:ext cx="251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42" name="Object 131"/>
            <p:cNvGraphicFramePr>
              <a:graphicFrameLocks noChangeAspect="1"/>
            </p:cNvGraphicFramePr>
            <p:nvPr/>
          </p:nvGraphicFramePr>
          <p:xfrm>
            <a:off x="1883" y="2513"/>
            <a:ext cx="19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0" name="" r:id="rId24" imgW="141605" imgH="161290" progId="Equation.3">
                    <p:embed/>
                  </p:oleObj>
                </mc:Choice>
                <mc:Fallback>
                  <p:oleObj name="" r:id="rId24" imgW="141605" imgH="161290" progId="Equation.3">
                    <p:embed/>
                    <p:pic>
                      <p:nvPicPr>
                        <p:cNvPr id="0" name="图片 3259"/>
                        <p:cNvPicPr/>
                        <p:nvPr/>
                      </p:nvPicPr>
                      <p:blipFill>
                        <a:blip r:embed="rId2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83" y="2513"/>
                          <a:ext cx="199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43" name="Object 132"/>
            <p:cNvGraphicFramePr>
              <a:graphicFrameLocks noChangeAspect="1"/>
            </p:cNvGraphicFramePr>
            <p:nvPr/>
          </p:nvGraphicFramePr>
          <p:xfrm>
            <a:off x="2064" y="2331"/>
            <a:ext cx="198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1" name="" r:id="rId26" imgW="128905" imgH="147955" progId="Equation.3">
                    <p:embed/>
                  </p:oleObj>
                </mc:Choice>
                <mc:Fallback>
                  <p:oleObj name="" r:id="rId26" imgW="128905" imgH="147955" progId="Equation.3">
                    <p:embed/>
                    <p:pic>
                      <p:nvPicPr>
                        <p:cNvPr id="0" name="图片 3260"/>
                        <p:cNvPicPr/>
                        <p:nvPr/>
                      </p:nvPicPr>
                      <p:blipFill>
                        <a:blip r:embed="rId2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64" y="2331"/>
                          <a:ext cx="198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2244" name="Group 133"/>
            <p:cNvGrpSpPr/>
            <p:nvPr/>
          </p:nvGrpSpPr>
          <p:grpSpPr>
            <a:xfrm>
              <a:off x="1620" y="2558"/>
              <a:ext cx="240" cy="93"/>
              <a:chOff x="3787" y="2478"/>
              <a:chExt cx="240" cy="93"/>
            </a:xfrm>
          </p:grpSpPr>
          <p:sp>
            <p:nvSpPr>
              <p:cNvPr id="52269" name="Line 134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70" name="Line 135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2245" name="Oval 136"/>
            <p:cNvSpPr/>
            <p:nvPr/>
          </p:nvSpPr>
          <p:spPr>
            <a:xfrm>
              <a:off x="1229" y="2241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46" name="Oval 137"/>
            <p:cNvSpPr/>
            <p:nvPr/>
          </p:nvSpPr>
          <p:spPr>
            <a:xfrm>
              <a:off x="1184" y="3021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47" name="Line 142"/>
            <p:cNvSpPr/>
            <p:nvPr/>
          </p:nvSpPr>
          <p:spPr>
            <a:xfrm flipV="1">
              <a:off x="2427" y="2286"/>
              <a:ext cx="45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48" name="Line 143"/>
            <p:cNvSpPr/>
            <p:nvPr/>
          </p:nvSpPr>
          <p:spPr>
            <a:xfrm>
              <a:off x="3561" y="2286"/>
              <a:ext cx="1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2249" name="Line 144"/>
            <p:cNvSpPr/>
            <p:nvPr/>
          </p:nvSpPr>
          <p:spPr>
            <a:xfrm>
              <a:off x="3561" y="2649"/>
              <a:ext cx="1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graphicFrame>
          <p:nvGraphicFramePr>
            <p:cNvPr id="52250" name="Object 145"/>
            <p:cNvGraphicFramePr>
              <a:graphicFrameLocks noChangeAspect="1"/>
            </p:cNvGraphicFramePr>
            <p:nvPr/>
          </p:nvGraphicFramePr>
          <p:xfrm>
            <a:off x="3697" y="2421"/>
            <a:ext cx="305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6" name="" r:id="rId28" imgW="147955" imgH="206375" progId="Equation.3">
                    <p:embed/>
                  </p:oleObj>
                </mc:Choice>
                <mc:Fallback>
                  <p:oleObj name="" r:id="rId28" imgW="147955" imgH="206375" progId="Equation.3">
                    <p:embed/>
                    <p:pic>
                      <p:nvPicPr>
                        <p:cNvPr id="0" name="图片 3255"/>
                        <p:cNvPicPr/>
                        <p:nvPr/>
                      </p:nvPicPr>
                      <p:blipFill>
                        <a:blip r:embed="rId2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97" y="2421"/>
                          <a:ext cx="305" cy="4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51" name="Object 146"/>
            <p:cNvGraphicFramePr>
              <a:graphicFrameLocks noChangeAspect="1"/>
            </p:cNvGraphicFramePr>
            <p:nvPr/>
          </p:nvGraphicFramePr>
          <p:xfrm>
            <a:off x="3243" y="2614"/>
            <a:ext cx="19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7" name="" r:id="rId30" imgW="141605" imgH="161290" progId="Equation.3">
                    <p:embed/>
                  </p:oleObj>
                </mc:Choice>
                <mc:Fallback>
                  <p:oleObj name="" r:id="rId30" imgW="141605" imgH="161290" progId="Equation.3">
                    <p:embed/>
                    <p:pic>
                      <p:nvPicPr>
                        <p:cNvPr id="0" name="图片 3256"/>
                        <p:cNvPicPr/>
                        <p:nvPr/>
                      </p:nvPicPr>
                      <p:blipFill>
                        <a:blip r:embed="rId3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43" y="2614"/>
                          <a:ext cx="199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52" name="Object 147"/>
            <p:cNvGraphicFramePr>
              <a:graphicFrameLocks noChangeAspect="1"/>
            </p:cNvGraphicFramePr>
            <p:nvPr/>
          </p:nvGraphicFramePr>
          <p:xfrm>
            <a:off x="2971" y="2341"/>
            <a:ext cx="198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4" name="" r:id="rId32" imgW="128905" imgH="147955" progId="Equation.3">
                    <p:embed/>
                  </p:oleObj>
                </mc:Choice>
                <mc:Fallback>
                  <p:oleObj name="" r:id="rId32" imgW="128905" imgH="147955" progId="Equation.3">
                    <p:embed/>
                    <p:pic>
                      <p:nvPicPr>
                        <p:cNvPr id="0" name="图片 3263"/>
                        <p:cNvPicPr/>
                        <p:nvPr/>
                      </p:nvPicPr>
                      <p:blipFill>
                        <a:blip r:embed="rId3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71" y="2341"/>
                          <a:ext cx="198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2253" name="Group 148"/>
            <p:cNvGrpSpPr/>
            <p:nvPr/>
          </p:nvGrpSpPr>
          <p:grpSpPr>
            <a:xfrm>
              <a:off x="3434" y="2558"/>
              <a:ext cx="240" cy="93"/>
              <a:chOff x="3787" y="2478"/>
              <a:chExt cx="240" cy="93"/>
            </a:xfrm>
          </p:grpSpPr>
          <p:sp>
            <p:nvSpPr>
              <p:cNvPr id="52267" name="Line 149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68" name="Line 150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2254" name="Oval 151"/>
            <p:cNvSpPr/>
            <p:nvPr/>
          </p:nvSpPr>
          <p:spPr>
            <a:xfrm>
              <a:off x="3833" y="3011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55" name="Oval 152"/>
            <p:cNvSpPr/>
            <p:nvPr/>
          </p:nvSpPr>
          <p:spPr>
            <a:xfrm>
              <a:off x="3833" y="2240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2256" name="Line 157"/>
            <p:cNvSpPr/>
            <p:nvPr/>
          </p:nvSpPr>
          <p:spPr>
            <a:xfrm flipV="1">
              <a:off x="3289" y="2285"/>
              <a:ext cx="544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2257" name="Group 194"/>
            <p:cNvGrpSpPr/>
            <p:nvPr/>
          </p:nvGrpSpPr>
          <p:grpSpPr>
            <a:xfrm rot="5400000">
              <a:off x="3038" y="2046"/>
              <a:ext cx="91" cy="408"/>
              <a:chOff x="1565" y="2614"/>
              <a:chExt cx="90" cy="486"/>
            </a:xfrm>
          </p:grpSpPr>
          <p:sp>
            <p:nvSpPr>
              <p:cNvPr id="52263" name="Arc 195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64" name="Arc 196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65" name="Arc 197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66" name="Arc 198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52258" name="Group 199"/>
            <p:cNvGrpSpPr/>
            <p:nvPr/>
          </p:nvGrpSpPr>
          <p:grpSpPr>
            <a:xfrm rot="5400000">
              <a:off x="2176" y="2046"/>
              <a:ext cx="91" cy="408"/>
              <a:chOff x="1565" y="2614"/>
              <a:chExt cx="90" cy="486"/>
            </a:xfrm>
          </p:grpSpPr>
          <p:sp>
            <p:nvSpPr>
              <p:cNvPr id="52259" name="Arc 200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60" name="Arc 201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61" name="Arc 202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62" name="Arc 203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Text Box 95"/>
          <p:cNvSpPr txBox="1"/>
          <p:nvPr/>
        </p:nvSpPr>
        <p:spPr>
          <a:xfrm>
            <a:off x="2195513" y="5445125"/>
            <a:ext cx="3756025" cy="519113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高通滤波器的单元电路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3251" name="Text Box 98"/>
          <p:cNvSpPr txBox="1"/>
          <p:nvPr/>
        </p:nvSpPr>
        <p:spPr>
          <a:xfrm>
            <a:off x="6877050" y="3933825"/>
            <a:ext cx="947738" cy="579438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l-GR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形</a:t>
            </a:r>
            <a:endParaRPr lang="zh-CN" altLang="en-US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3252" name="Text Box 96"/>
          <p:cNvSpPr txBox="1"/>
          <p:nvPr/>
        </p:nvSpPr>
        <p:spPr>
          <a:xfrm>
            <a:off x="1476375" y="2492375"/>
            <a:ext cx="758825" cy="519113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800" b="0" dirty="0">
                <a:latin typeface="Times New Roman" panose="02020603050405020304" pitchFamily="18" charset="0"/>
              </a:rPr>
              <a:t>L</a:t>
            </a:r>
            <a:r>
              <a:rPr lang="zh-CN" altLang="en-US" sz="2800" dirty="0">
                <a:latin typeface="Times New Roman" panose="02020603050405020304" pitchFamily="18" charset="0"/>
              </a:rPr>
              <a:t>形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3253" name="Text Box 97"/>
          <p:cNvSpPr txBox="1"/>
          <p:nvPr/>
        </p:nvSpPr>
        <p:spPr>
          <a:xfrm>
            <a:off x="5940425" y="2565400"/>
            <a:ext cx="758825" cy="519113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2800" b="0" dirty="0">
                <a:latin typeface="Times New Roman" panose="02020603050405020304" pitchFamily="18" charset="0"/>
              </a:rPr>
              <a:t>T</a:t>
            </a:r>
            <a:r>
              <a:rPr lang="zh-CN" altLang="en-US" sz="2800" dirty="0">
                <a:latin typeface="Times New Roman" panose="02020603050405020304" pitchFamily="18" charset="0"/>
              </a:rPr>
              <a:t>形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53254" name="Group 187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3355" name="Picture 18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356" name="Text Box 189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3255" name="Group 190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53353" name="Picture 191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354" name="Text Box 192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3256" name="Group 196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53351" name="Picture 197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3352" name="Text Box 198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3257" name="Group 204"/>
          <p:cNvGrpSpPr/>
          <p:nvPr/>
        </p:nvGrpSpPr>
        <p:grpSpPr>
          <a:xfrm>
            <a:off x="669925" y="576263"/>
            <a:ext cx="2574925" cy="1773237"/>
            <a:chOff x="422" y="363"/>
            <a:chExt cx="1622" cy="1117"/>
          </a:xfrm>
        </p:grpSpPr>
        <p:sp>
          <p:nvSpPr>
            <p:cNvPr id="53330" name="Line 9"/>
            <p:cNvSpPr/>
            <p:nvPr/>
          </p:nvSpPr>
          <p:spPr>
            <a:xfrm flipV="1">
              <a:off x="540" y="482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31" name="Line 10"/>
            <p:cNvSpPr/>
            <p:nvPr/>
          </p:nvSpPr>
          <p:spPr>
            <a:xfrm>
              <a:off x="1565" y="482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3332" name="Line 11"/>
            <p:cNvSpPr/>
            <p:nvPr/>
          </p:nvSpPr>
          <p:spPr>
            <a:xfrm>
              <a:off x="476" y="1434"/>
              <a:ext cx="149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33" name="Line 12"/>
            <p:cNvSpPr/>
            <p:nvPr/>
          </p:nvSpPr>
          <p:spPr>
            <a:xfrm>
              <a:off x="1565" y="1117"/>
              <a:ext cx="0" cy="3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graphicFrame>
          <p:nvGraphicFramePr>
            <p:cNvPr id="53334" name="Object 13"/>
            <p:cNvGraphicFramePr>
              <a:graphicFrameLocks noChangeAspect="1"/>
            </p:cNvGraphicFramePr>
            <p:nvPr/>
          </p:nvGraphicFramePr>
          <p:xfrm>
            <a:off x="431" y="663"/>
            <a:ext cx="251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3" name="" r:id="rId2" imgW="141605" imgH="206375" progId="Equation.3">
                    <p:embed/>
                  </p:oleObj>
                </mc:Choice>
                <mc:Fallback>
                  <p:oleObj name="" r:id="rId2" imgW="141605" imgH="206375" progId="Equation.3">
                    <p:embed/>
                    <p:pic>
                      <p:nvPicPr>
                        <p:cNvPr id="0" name="图片 3262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1" y="663"/>
                          <a:ext cx="251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335" name="Object 14"/>
            <p:cNvGraphicFramePr>
              <a:graphicFrameLocks noChangeAspect="1"/>
            </p:cNvGraphicFramePr>
            <p:nvPr/>
          </p:nvGraphicFramePr>
          <p:xfrm>
            <a:off x="1701" y="618"/>
            <a:ext cx="305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9" name="" r:id="rId4" imgW="147955" imgH="206375" progId="Equation.3">
                    <p:embed/>
                  </p:oleObj>
                </mc:Choice>
                <mc:Fallback>
                  <p:oleObj name="" r:id="rId4" imgW="147955" imgH="206375" progId="Equation.3">
                    <p:embed/>
                    <p:pic>
                      <p:nvPicPr>
                        <p:cNvPr id="0" name="图片 3268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01" y="618"/>
                          <a:ext cx="305" cy="4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336" name="Object 15"/>
            <p:cNvGraphicFramePr>
              <a:graphicFrameLocks noChangeAspect="1"/>
            </p:cNvGraphicFramePr>
            <p:nvPr/>
          </p:nvGraphicFramePr>
          <p:xfrm>
            <a:off x="1338" y="799"/>
            <a:ext cx="23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2" name="" r:id="rId6" imgW="128905" imgH="147955" progId="Equation.3">
                    <p:embed/>
                  </p:oleObj>
                </mc:Choice>
                <mc:Fallback>
                  <p:oleObj name="" r:id="rId6" imgW="128905" imgH="147955" progId="Equation.3">
                    <p:embed/>
                    <p:pic>
                      <p:nvPicPr>
                        <p:cNvPr id="0" name="图片 3271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38" y="799"/>
                          <a:ext cx="237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337" name="Object 16"/>
            <p:cNvGraphicFramePr>
              <a:graphicFrameLocks noChangeAspect="1"/>
            </p:cNvGraphicFramePr>
            <p:nvPr/>
          </p:nvGraphicFramePr>
          <p:xfrm>
            <a:off x="876" y="655"/>
            <a:ext cx="214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6" name="" r:id="rId8" imgW="141605" imgH="161290" progId="Equation.3">
                    <p:embed/>
                  </p:oleObj>
                </mc:Choice>
                <mc:Fallback>
                  <p:oleObj name="" r:id="rId8" imgW="141605" imgH="161290" progId="Equation.3">
                    <p:embed/>
                    <p:pic>
                      <p:nvPicPr>
                        <p:cNvPr id="0" name="图片 3265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76" y="655"/>
                          <a:ext cx="214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3338" name="Group 17"/>
            <p:cNvGrpSpPr/>
            <p:nvPr/>
          </p:nvGrpSpPr>
          <p:grpSpPr>
            <a:xfrm rot="5400000">
              <a:off x="883" y="436"/>
              <a:ext cx="240" cy="93"/>
              <a:chOff x="3787" y="2478"/>
              <a:chExt cx="240" cy="93"/>
            </a:xfrm>
          </p:grpSpPr>
          <p:sp>
            <p:nvSpPr>
              <p:cNvPr id="53349" name="Line 18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350" name="Line 19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3339" name="Oval 20"/>
            <p:cNvSpPr/>
            <p:nvPr/>
          </p:nvSpPr>
          <p:spPr>
            <a:xfrm>
              <a:off x="1973" y="1412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340" name="Oval 21"/>
            <p:cNvSpPr/>
            <p:nvPr/>
          </p:nvSpPr>
          <p:spPr>
            <a:xfrm>
              <a:off x="1928" y="437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341" name="Oval 22"/>
            <p:cNvSpPr/>
            <p:nvPr/>
          </p:nvSpPr>
          <p:spPr>
            <a:xfrm>
              <a:off x="476" y="446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342" name="Oval 23"/>
            <p:cNvSpPr/>
            <p:nvPr/>
          </p:nvSpPr>
          <p:spPr>
            <a:xfrm>
              <a:off x="422" y="1403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343" name="Line 28"/>
            <p:cNvSpPr/>
            <p:nvPr/>
          </p:nvSpPr>
          <p:spPr>
            <a:xfrm flipV="1">
              <a:off x="1066" y="481"/>
              <a:ext cx="862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3344" name="Group 199"/>
            <p:cNvGrpSpPr/>
            <p:nvPr/>
          </p:nvGrpSpPr>
          <p:grpSpPr>
            <a:xfrm rot="10800000">
              <a:off x="1565" y="754"/>
              <a:ext cx="90" cy="363"/>
              <a:chOff x="1565" y="2614"/>
              <a:chExt cx="90" cy="486"/>
            </a:xfrm>
          </p:grpSpPr>
          <p:sp>
            <p:nvSpPr>
              <p:cNvPr id="53345" name="Arc 200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346" name="Arc 201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347" name="Arc 202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348" name="Arc 203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53258" name="Group 215"/>
          <p:cNvGrpSpPr/>
          <p:nvPr/>
        </p:nvGrpSpPr>
        <p:grpSpPr>
          <a:xfrm>
            <a:off x="3967163" y="404813"/>
            <a:ext cx="4545012" cy="2160587"/>
            <a:chOff x="2499" y="255"/>
            <a:chExt cx="2863" cy="1361"/>
          </a:xfrm>
        </p:grpSpPr>
        <p:sp>
          <p:nvSpPr>
            <p:cNvPr id="53295" name="Line 105"/>
            <p:cNvSpPr/>
            <p:nvPr/>
          </p:nvSpPr>
          <p:spPr>
            <a:xfrm flipV="1">
              <a:off x="2608" y="510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96" name="Line 106"/>
            <p:cNvSpPr/>
            <p:nvPr/>
          </p:nvSpPr>
          <p:spPr>
            <a:xfrm>
              <a:off x="3651" y="527"/>
              <a:ext cx="0" cy="25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3297" name="Line 107"/>
            <p:cNvSpPr/>
            <p:nvPr/>
          </p:nvSpPr>
          <p:spPr>
            <a:xfrm>
              <a:off x="2562" y="1480"/>
              <a:ext cx="272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98" name="Line 108"/>
            <p:cNvSpPr/>
            <p:nvPr/>
          </p:nvSpPr>
          <p:spPr>
            <a:xfrm>
              <a:off x="3651" y="1145"/>
              <a:ext cx="0" cy="33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graphicFrame>
          <p:nvGraphicFramePr>
            <p:cNvPr id="53299" name="Object 109"/>
            <p:cNvGraphicFramePr>
              <a:graphicFrameLocks noChangeAspect="1"/>
            </p:cNvGraphicFramePr>
            <p:nvPr/>
          </p:nvGraphicFramePr>
          <p:xfrm>
            <a:off x="2517" y="691"/>
            <a:ext cx="251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0" name="" r:id="rId10" imgW="141605" imgH="206375" progId="Equation.3">
                    <p:embed/>
                  </p:oleObj>
                </mc:Choice>
                <mc:Fallback>
                  <p:oleObj name="" r:id="rId10" imgW="141605" imgH="206375" progId="Equation.3">
                    <p:embed/>
                    <p:pic>
                      <p:nvPicPr>
                        <p:cNvPr id="0" name="图片 3269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517" y="691"/>
                          <a:ext cx="251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300" name="Object 111"/>
            <p:cNvGraphicFramePr>
              <a:graphicFrameLocks noChangeAspect="1"/>
            </p:cNvGraphicFramePr>
            <p:nvPr/>
          </p:nvGraphicFramePr>
          <p:xfrm>
            <a:off x="2971" y="618"/>
            <a:ext cx="19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8" name="" r:id="rId12" imgW="141605" imgH="161290" progId="Equation.3">
                    <p:embed/>
                  </p:oleObj>
                </mc:Choice>
                <mc:Fallback>
                  <p:oleObj name="" r:id="rId12" imgW="141605" imgH="161290" progId="Equation.3">
                    <p:embed/>
                    <p:pic>
                      <p:nvPicPr>
                        <p:cNvPr id="0" name="图片 3267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71" y="618"/>
                          <a:ext cx="199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301" name="Object 112"/>
            <p:cNvGraphicFramePr>
              <a:graphicFrameLocks noChangeAspect="1"/>
            </p:cNvGraphicFramePr>
            <p:nvPr/>
          </p:nvGraphicFramePr>
          <p:xfrm>
            <a:off x="3470" y="845"/>
            <a:ext cx="198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1" name="" r:id="rId14" imgW="128905" imgH="147955" progId="Equation.3">
                    <p:embed/>
                  </p:oleObj>
                </mc:Choice>
                <mc:Fallback>
                  <p:oleObj name="" r:id="rId14" imgW="128905" imgH="147955" progId="Equation.3">
                    <p:embed/>
                    <p:pic>
                      <p:nvPicPr>
                        <p:cNvPr id="0" name="图片 3270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70" y="845"/>
                          <a:ext cx="198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3302" name="Group 113"/>
            <p:cNvGrpSpPr/>
            <p:nvPr/>
          </p:nvGrpSpPr>
          <p:grpSpPr>
            <a:xfrm rot="5400000">
              <a:off x="2969" y="464"/>
              <a:ext cx="240" cy="93"/>
              <a:chOff x="3787" y="2478"/>
              <a:chExt cx="240" cy="93"/>
            </a:xfrm>
          </p:grpSpPr>
          <p:sp>
            <p:nvSpPr>
              <p:cNvPr id="53328" name="Line 114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329" name="Line 115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3303" name="Oval 118"/>
            <p:cNvSpPr/>
            <p:nvPr/>
          </p:nvSpPr>
          <p:spPr>
            <a:xfrm>
              <a:off x="2544" y="474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304" name="Oval 119"/>
            <p:cNvSpPr/>
            <p:nvPr/>
          </p:nvSpPr>
          <p:spPr>
            <a:xfrm>
              <a:off x="2499" y="1440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305" name="Line 120"/>
            <p:cNvSpPr/>
            <p:nvPr/>
          </p:nvSpPr>
          <p:spPr>
            <a:xfrm>
              <a:off x="3152" y="527"/>
              <a:ext cx="140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06" name="Line 128"/>
            <p:cNvSpPr/>
            <p:nvPr/>
          </p:nvSpPr>
          <p:spPr>
            <a:xfrm>
              <a:off x="4241" y="527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3307" name="Line 130"/>
            <p:cNvSpPr/>
            <p:nvPr/>
          </p:nvSpPr>
          <p:spPr>
            <a:xfrm>
              <a:off x="4241" y="1162"/>
              <a:ext cx="0" cy="3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graphicFrame>
          <p:nvGraphicFramePr>
            <p:cNvPr id="53308" name="Object 132"/>
            <p:cNvGraphicFramePr>
              <a:graphicFrameLocks noChangeAspect="1"/>
            </p:cNvGraphicFramePr>
            <p:nvPr/>
          </p:nvGraphicFramePr>
          <p:xfrm>
            <a:off x="5057" y="799"/>
            <a:ext cx="305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3" name="" r:id="rId16" imgW="147955" imgH="206375" progId="Equation.3">
                    <p:embed/>
                  </p:oleObj>
                </mc:Choice>
                <mc:Fallback>
                  <p:oleObj name="" r:id="rId16" imgW="147955" imgH="206375" progId="Equation.3">
                    <p:embed/>
                    <p:pic>
                      <p:nvPicPr>
                        <p:cNvPr id="0" name="图片 3272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057" y="799"/>
                          <a:ext cx="305" cy="4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309" name="Object 133"/>
            <p:cNvGraphicFramePr>
              <a:graphicFrameLocks noChangeAspect="1"/>
            </p:cNvGraphicFramePr>
            <p:nvPr/>
          </p:nvGraphicFramePr>
          <p:xfrm>
            <a:off x="4513" y="618"/>
            <a:ext cx="19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" name="" r:id="rId18" imgW="141605" imgH="161290" progId="Equation.3">
                    <p:embed/>
                  </p:oleObj>
                </mc:Choice>
                <mc:Fallback>
                  <p:oleObj name="" r:id="rId18" imgW="141605" imgH="161290" progId="Equation.3">
                    <p:embed/>
                    <p:pic>
                      <p:nvPicPr>
                        <p:cNvPr id="0" name="图片 3264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513" y="618"/>
                          <a:ext cx="199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310" name="Object 134"/>
            <p:cNvGraphicFramePr>
              <a:graphicFrameLocks noChangeAspect="1"/>
            </p:cNvGraphicFramePr>
            <p:nvPr/>
          </p:nvGraphicFramePr>
          <p:xfrm>
            <a:off x="4377" y="845"/>
            <a:ext cx="198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7" name="" r:id="rId20" imgW="128905" imgH="147955" progId="Equation.3">
                    <p:embed/>
                  </p:oleObj>
                </mc:Choice>
                <mc:Fallback>
                  <p:oleObj name="" r:id="rId20" imgW="128905" imgH="147955" progId="Equation.3">
                    <p:embed/>
                    <p:pic>
                      <p:nvPicPr>
                        <p:cNvPr id="0" name="图片 3266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77" y="845"/>
                          <a:ext cx="198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3311" name="Group 135"/>
            <p:cNvGrpSpPr/>
            <p:nvPr/>
          </p:nvGrpSpPr>
          <p:grpSpPr>
            <a:xfrm rot="5400000">
              <a:off x="4466" y="464"/>
              <a:ext cx="240" cy="93"/>
              <a:chOff x="3787" y="2478"/>
              <a:chExt cx="240" cy="93"/>
            </a:xfrm>
          </p:grpSpPr>
          <p:sp>
            <p:nvSpPr>
              <p:cNvPr id="53326" name="Line 136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327" name="Line 137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3312" name="Oval 138"/>
            <p:cNvSpPr/>
            <p:nvPr/>
          </p:nvSpPr>
          <p:spPr>
            <a:xfrm>
              <a:off x="5284" y="1434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313" name="Oval 139"/>
            <p:cNvSpPr/>
            <p:nvPr/>
          </p:nvSpPr>
          <p:spPr>
            <a:xfrm>
              <a:off x="5239" y="482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314" name="Line 142"/>
            <p:cNvSpPr/>
            <p:nvPr/>
          </p:nvSpPr>
          <p:spPr>
            <a:xfrm flipV="1">
              <a:off x="4649" y="527"/>
              <a:ext cx="590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15" name="Line 186"/>
            <p:cNvSpPr/>
            <p:nvPr/>
          </p:nvSpPr>
          <p:spPr>
            <a:xfrm>
              <a:off x="3969" y="255"/>
              <a:ext cx="0" cy="1361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53316" name="Group 205"/>
            <p:cNvGrpSpPr/>
            <p:nvPr/>
          </p:nvGrpSpPr>
          <p:grpSpPr>
            <a:xfrm rot="10800000">
              <a:off x="4241" y="799"/>
              <a:ext cx="90" cy="363"/>
              <a:chOff x="1565" y="2614"/>
              <a:chExt cx="90" cy="486"/>
            </a:xfrm>
          </p:grpSpPr>
          <p:sp>
            <p:nvSpPr>
              <p:cNvPr id="53322" name="Arc 206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323" name="Arc 207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324" name="Arc 208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325" name="Arc 209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53317" name="Group 210"/>
            <p:cNvGrpSpPr/>
            <p:nvPr/>
          </p:nvGrpSpPr>
          <p:grpSpPr>
            <a:xfrm rot="10800000">
              <a:off x="3651" y="790"/>
              <a:ext cx="90" cy="363"/>
              <a:chOff x="1565" y="2614"/>
              <a:chExt cx="90" cy="486"/>
            </a:xfrm>
          </p:grpSpPr>
          <p:sp>
            <p:nvSpPr>
              <p:cNvPr id="53318" name="Arc 211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319" name="Arc 212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320" name="Arc 213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321" name="Arc 214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53259" name="Group 226"/>
          <p:cNvGrpSpPr/>
          <p:nvPr/>
        </p:nvGrpSpPr>
        <p:grpSpPr>
          <a:xfrm>
            <a:off x="1720850" y="3213100"/>
            <a:ext cx="4559300" cy="2160588"/>
            <a:chOff x="1084" y="2024"/>
            <a:chExt cx="2872" cy="1361"/>
          </a:xfrm>
        </p:grpSpPr>
        <p:sp>
          <p:nvSpPr>
            <p:cNvPr id="53260" name="Line 152"/>
            <p:cNvSpPr/>
            <p:nvPr/>
          </p:nvSpPr>
          <p:spPr>
            <a:xfrm>
              <a:off x="1202" y="2251"/>
              <a:ext cx="90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1" name="Line 153"/>
            <p:cNvSpPr/>
            <p:nvPr/>
          </p:nvSpPr>
          <p:spPr>
            <a:xfrm>
              <a:off x="1746" y="2251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3262" name="Line 154"/>
            <p:cNvSpPr/>
            <p:nvPr/>
          </p:nvSpPr>
          <p:spPr>
            <a:xfrm>
              <a:off x="1156" y="3204"/>
              <a:ext cx="272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63" name="Line 155"/>
            <p:cNvSpPr/>
            <p:nvPr/>
          </p:nvSpPr>
          <p:spPr>
            <a:xfrm>
              <a:off x="1746" y="2886"/>
              <a:ext cx="0" cy="33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graphicFrame>
          <p:nvGraphicFramePr>
            <p:cNvPr id="53264" name="Object 156"/>
            <p:cNvGraphicFramePr>
              <a:graphicFrameLocks noChangeAspect="1"/>
            </p:cNvGraphicFramePr>
            <p:nvPr/>
          </p:nvGraphicFramePr>
          <p:xfrm>
            <a:off x="1111" y="2415"/>
            <a:ext cx="251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9" name="" r:id="rId22" imgW="141605" imgH="206375" progId="Equation.3">
                    <p:embed/>
                  </p:oleObj>
                </mc:Choice>
                <mc:Fallback>
                  <p:oleObj name="" r:id="rId22" imgW="141605" imgH="206375" progId="Equation.3">
                    <p:embed/>
                    <p:pic>
                      <p:nvPicPr>
                        <p:cNvPr id="0" name="图片 3278"/>
                        <p:cNvPicPr/>
                        <p:nvPr/>
                      </p:nvPicPr>
                      <p:blipFill>
                        <a:blip r:embed="rId2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11" y="2415"/>
                          <a:ext cx="251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65" name="Object 157"/>
            <p:cNvGraphicFramePr>
              <a:graphicFrameLocks noChangeAspect="1"/>
            </p:cNvGraphicFramePr>
            <p:nvPr/>
          </p:nvGraphicFramePr>
          <p:xfrm>
            <a:off x="2064" y="2387"/>
            <a:ext cx="19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6" name="" r:id="rId24" imgW="141605" imgH="161290" progId="Equation.3">
                    <p:embed/>
                  </p:oleObj>
                </mc:Choice>
                <mc:Fallback>
                  <p:oleObj name="" r:id="rId24" imgW="141605" imgH="161290" progId="Equation.3">
                    <p:embed/>
                    <p:pic>
                      <p:nvPicPr>
                        <p:cNvPr id="0" name="图片 3275"/>
                        <p:cNvPicPr/>
                        <p:nvPr/>
                      </p:nvPicPr>
                      <p:blipFill>
                        <a:blip r:embed="rId2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64" y="2387"/>
                          <a:ext cx="199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66" name="Object 158"/>
            <p:cNvGraphicFramePr>
              <a:graphicFrameLocks noChangeAspect="1"/>
            </p:cNvGraphicFramePr>
            <p:nvPr/>
          </p:nvGraphicFramePr>
          <p:xfrm>
            <a:off x="1882" y="2568"/>
            <a:ext cx="198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8" name="" r:id="rId26" imgW="128905" imgH="147955" progId="Equation.3">
                    <p:embed/>
                  </p:oleObj>
                </mc:Choice>
                <mc:Fallback>
                  <p:oleObj name="" r:id="rId26" imgW="128905" imgH="147955" progId="Equation.3">
                    <p:embed/>
                    <p:pic>
                      <p:nvPicPr>
                        <p:cNvPr id="0" name="图片 3277"/>
                        <p:cNvPicPr/>
                        <p:nvPr/>
                      </p:nvPicPr>
                      <p:blipFill>
                        <a:blip r:embed="rId2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82" y="2568"/>
                          <a:ext cx="198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3267" name="Group 159"/>
            <p:cNvGrpSpPr/>
            <p:nvPr/>
          </p:nvGrpSpPr>
          <p:grpSpPr>
            <a:xfrm rot="5400000">
              <a:off x="2035" y="2206"/>
              <a:ext cx="240" cy="93"/>
              <a:chOff x="3787" y="2478"/>
              <a:chExt cx="240" cy="93"/>
            </a:xfrm>
          </p:grpSpPr>
          <p:sp>
            <p:nvSpPr>
              <p:cNvPr id="53293" name="Line 160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294" name="Line 161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3268" name="Oval 162"/>
            <p:cNvSpPr/>
            <p:nvPr/>
          </p:nvSpPr>
          <p:spPr>
            <a:xfrm>
              <a:off x="1138" y="2223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269" name="Oval 163"/>
            <p:cNvSpPr/>
            <p:nvPr/>
          </p:nvSpPr>
          <p:spPr>
            <a:xfrm>
              <a:off x="1084" y="3164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270" name="Line 164"/>
            <p:cNvSpPr/>
            <p:nvPr/>
          </p:nvSpPr>
          <p:spPr>
            <a:xfrm>
              <a:off x="2200" y="2251"/>
              <a:ext cx="49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1" name="Line 169"/>
            <p:cNvSpPr/>
            <p:nvPr/>
          </p:nvSpPr>
          <p:spPr>
            <a:xfrm>
              <a:off x="3227" y="2251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3272" name="Line 170"/>
            <p:cNvSpPr/>
            <p:nvPr/>
          </p:nvSpPr>
          <p:spPr>
            <a:xfrm>
              <a:off x="3227" y="2886"/>
              <a:ext cx="0" cy="3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graphicFrame>
          <p:nvGraphicFramePr>
            <p:cNvPr id="53273" name="Object 171"/>
            <p:cNvGraphicFramePr>
              <a:graphicFrameLocks noChangeAspect="1"/>
            </p:cNvGraphicFramePr>
            <p:nvPr/>
          </p:nvGraphicFramePr>
          <p:xfrm>
            <a:off x="3651" y="2523"/>
            <a:ext cx="305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4" name="" r:id="rId28" imgW="147955" imgH="206375" progId="Equation.3">
                    <p:embed/>
                  </p:oleObj>
                </mc:Choice>
                <mc:Fallback>
                  <p:oleObj name="" r:id="rId28" imgW="147955" imgH="206375" progId="Equation.3">
                    <p:embed/>
                    <p:pic>
                      <p:nvPicPr>
                        <p:cNvPr id="0" name="图片 3273"/>
                        <p:cNvPicPr/>
                        <p:nvPr/>
                      </p:nvPicPr>
                      <p:blipFill>
                        <a:blip r:embed="rId2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51" y="2523"/>
                          <a:ext cx="305" cy="4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74" name="Object 172"/>
            <p:cNvGraphicFramePr>
              <a:graphicFrameLocks noChangeAspect="1"/>
            </p:cNvGraphicFramePr>
            <p:nvPr/>
          </p:nvGraphicFramePr>
          <p:xfrm>
            <a:off x="2653" y="2387"/>
            <a:ext cx="19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7" name="" r:id="rId30" imgW="141605" imgH="161290" progId="Equation.3">
                    <p:embed/>
                  </p:oleObj>
                </mc:Choice>
                <mc:Fallback>
                  <p:oleObj name="" r:id="rId30" imgW="141605" imgH="161290" progId="Equation.3">
                    <p:embed/>
                    <p:pic>
                      <p:nvPicPr>
                        <p:cNvPr id="0" name="图片 3276"/>
                        <p:cNvPicPr/>
                        <p:nvPr/>
                      </p:nvPicPr>
                      <p:blipFill>
                        <a:blip r:embed="rId3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53" y="2387"/>
                          <a:ext cx="199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75" name="Object 173"/>
            <p:cNvGraphicFramePr>
              <a:graphicFrameLocks noChangeAspect="1"/>
            </p:cNvGraphicFramePr>
            <p:nvPr/>
          </p:nvGraphicFramePr>
          <p:xfrm>
            <a:off x="3016" y="2614"/>
            <a:ext cx="198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5" name="" r:id="rId32" imgW="128905" imgH="147955" progId="Equation.3">
                    <p:embed/>
                  </p:oleObj>
                </mc:Choice>
                <mc:Fallback>
                  <p:oleObj name="" r:id="rId32" imgW="128905" imgH="147955" progId="Equation.3">
                    <p:embed/>
                    <p:pic>
                      <p:nvPicPr>
                        <p:cNvPr id="0" name="图片 3274"/>
                        <p:cNvPicPr/>
                        <p:nvPr/>
                      </p:nvPicPr>
                      <p:blipFill>
                        <a:blip r:embed="rId3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16" y="2614"/>
                          <a:ext cx="198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3276" name="Group 174"/>
            <p:cNvGrpSpPr/>
            <p:nvPr/>
          </p:nvGrpSpPr>
          <p:grpSpPr>
            <a:xfrm rot="5400000">
              <a:off x="2625" y="2197"/>
              <a:ext cx="240" cy="93"/>
              <a:chOff x="3787" y="2478"/>
              <a:chExt cx="240" cy="93"/>
            </a:xfrm>
          </p:grpSpPr>
          <p:sp>
            <p:nvSpPr>
              <p:cNvPr id="53291" name="Line 175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3292" name="Line 176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3277" name="Oval 177"/>
            <p:cNvSpPr/>
            <p:nvPr/>
          </p:nvSpPr>
          <p:spPr>
            <a:xfrm>
              <a:off x="3878" y="3158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278" name="Oval 178"/>
            <p:cNvSpPr/>
            <p:nvPr/>
          </p:nvSpPr>
          <p:spPr>
            <a:xfrm>
              <a:off x="3833" y="2206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3279" name="Line 179"/>
            <p:cNvSpPr/>
            <p:nvPr/>
          </p:nvSpPr>
          <p:spPr>
            <a:xfrm flipV="1">
              <a:off x="2789" y="2251"/>
              <a:ext cx="104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80" name="Line 185"/>
            <p:cNvSpPr/>
            <p:nvPr/>
          </p:nvSpPr>
          <p:spPr>
            <a:xfrm>
              <a:off x="2472" y="2024"/>
              <a:ext cx="0" cy="1361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53281" name="Group 216"/>
            <p:cNvGrpSpPr/>
            <p:nvPr/>
          </p:nvGrpSpPr>
          <p:grpSpPr>
            <a:xfrm rot="10800000">
              <a:off x="3225" y="2523"/>
              <a:ext cx="90" cy="363"/>
              <a:chOff x="1565" y="2614"/>
              <a:chExt cx="90" cy="486"/>
            </a:xfrm>
          </p:grpSpPr>
          <p:sp>
            <p:nvSpPr>
              <p:cNvPr id="53287" name="Arc 217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288" name="Arc 218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289" name="Arc 219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290" name="Arc 220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53282" name="Group 221"/>
            <p:cNvGrpSpPr/>
            <p:nvPr/>
          </p:nvGrpSpPr>
          <p:grpSpPr>
            <a:xfrm rot="10800000">
              <a:off x="1746" y="2523"/>
              <a:ext cx="90" cy="363"/>
              <a:chOff x="1565" y="2614"/>
              <a:chExt cx="90" cy="486"/>
            </a:xfrm>
          </p:grpSpPr>
          <p:sp>
            <p:nvSpPr>
              <p:cNvPr id="53283" name="Arc 222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284" name="Arc 223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285" name="Arc 224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286" name="Arc 225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Text Box 8"/>
          <p:cNvSpPr txBox="1"/>
          <p:nvPr/>
        </p:nvSpPr>
        <p:spPr>
          <a:xfrm>
            <a:off x="3348038" y="3357563"/>
            <a:ext cx="1970087" cy="519112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带通滤波器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54275" name="Group 138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4321" name="Picture 13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4322" name="Text Box 140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4276" name="Group 141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54319" name="Picture 142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4320" name="Text Box 143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4277" name="Group 147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54317" name="Picture 148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4318" name="Text Box 149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4278" name="Group 160"/>
          <p:cNvGrpSpPr/>
          <p:nvPr/>
        </p:nvGrpSpPr>
        <p:grpSpPr>
          <a:xfrm>
            <a:off x="2124075" y="692150"/>
            <a:ext cx="4402138" cy="2470150"/>
            <a:chOff x="1320" y="364"/>
            <a:chExt cx="2773" cy="1556"/>
          </a:xfrm>
        </p:grpSpPr>
        <p:sp>
          <p:nvSpPr>
            <p:cNvPr id="54279" name="Line 106"/>
            <p:cNvSpPr/>
            <p:nvPr/>
          </p:nvSpPr>
          <p:spPr>
            <a:xfrm>
              <a:off x="1384" y="482"/>
              <a:ext cx="58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80" name="Line 107"/>
            <p:cNvSpPr/>
            <p:nvPr/>
          </p:nvSpPr>
          <p:spPr>
            <a:xfrm>
              <a:off x="1384" y="1888"/>
              <a:ext cx="2540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54281" name="Object 108"/>
            <p:cNvGraphicFramePr>
              <a:graphicFrameLocks noChangeAspect="1"/>
            </p:cNvGraphicFramePr>
            <p:nvPr/>
          </p:nvGraphicFramePr>
          <p:xfrm>
            <a:off x="1338" y="936"/>
            <a:ext cx="251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2" name="" r:id="rId2" imgW="141605" imgH="206375" progId="Equation.3">
                    <p:embed/>
                  </p:oleObj>
                </mc:Choice>
                <mc:Fallback>
                  <p:oleObj name="" r:id="rId2" imgW="141605" imgH="206375" progId="Equation.3">
                    <p:embed/>
                    <p:pic>
                      <p:nvPicPr>
                        <p:cNvPr id="0" name="图片 3281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38" y="936"/>
                          <a:ext cx="251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2" name="Object 109"/>
            <p:cNvGraphicFramePr>
              <a:graphicFrameLocks noChangeAspect="1"/>
            </p:cNvGraphicFramePr>
            <p:nvPr/>
          </p:nvGraphicFramePr>
          <p:xfrm>
            <a:off x="2639" y="634"/>
            <a:ext cx="230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0" name="" r:id="rId4" imgW="161290" imgH="206375" progId="Equation.3">
                    <p:embed/>
                  </p:oleObj>
                </mc:Choice>
                <mc:Fallback>
                  <p:oleObj name="" r:id="rId4" imgW="161290" imgH="206375" progId="Equation.3">
                    <p:embed/>
                    <p:pic>
                      <p:nvPicPr>
                        <p:cNvPr id="0" name="图片 3279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39" y="634"/>
                          <a:ext cx="230" cy="2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83" name="Object 110"/>
            <p:cNvGraphicFramePr>
              <a:graphicFrameLocks noChangeAspect="1"/>
            </p:cNvGraphicFramePr>
            <p:nvPr/>
          </p:nvGraphicFramePr>
          <p:xfrm>
            <a:off x="2064" y="482"/>
            <a:ext cx="23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1" name="" r:id="rId6" imgW="147955" imgH="206375" progId="Equation.3">
                    <p:embed/>
                  </p:oleObj>
                </mc:Choice>
                <mc:Fallback>
                  <p:oleObj name="" r:id="rId6" imgW="147955" imgH="206375" progId="Equation.3">
                    <p:embed/>
                    <p:pic>
                      <p:nvPicPr>
                        <p:cNvPr id="0" name="图片 3280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64" y="482"/>
                          <a:ext cx="231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4284" name="Group 111"/>
            <p:cNvGrpSpPr/>
            <p:nvPr/>
          </p:nvGrpSpPr>
          <p:grpSpPr>
            <a:xfrm rot="5400000">
              <a:off x="2625" y="437"/>
              <a:ext cx="240" cy="93"/>
              <a:chOff x="3787" y="2478"/>
              <a:chExt cx="240" cy="93"/>
            </a:xfrm>
          </p:grpSpPr>
          <p:sp>
            <p:nvSpPr>
              <p:cNvPr id="54315" name="Line 112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316" name="Line 113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4285" name="Oval 114"/>
            <p:cNvSpPr/>
            <p:nvPr/>
          </p:nvSpPr>
          <p:spPr>
            <a:xfrm>
              <a:off x="1320" y="446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286" name="Oval 115"/>
            <p:cNvSpPr/>
            <p:nvPr/>
          </p:nvSpPr>
          <p:spPr>
            <a:xfrm>
              <a:off x="1320" y="1852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287" name="Line 116"/>
            <p:cNvSpPr/>
            <p:nvPr/>
          </p:nvSpPr>
          <p:spPr>
            <a:xfrm>
              <a:off x="2382" y="482"/>
              <a:ext cx="3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88" name="Line 117"/>
            <p:cNvSpPr/>
            <p:nvPr/>
          </p:nvSpPr>
          <p:spPr>
            <a:xfrm>
              <a:off x="3289" y="482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4289" name="Line 118"/>
            <p:cNvSpPr/>
            <p:nvPr/>
          </p:nvSpPr>
          <p:spPr>
            <a:xfrm>
              <a:off x="3273" y="1571"/>
              <a:ext cx="0" cy="3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graphicFrame>
          <p:nvGraphicFramePr>
            <p:cNvPr id="54290" name="Object 119"/>
            <p:cNvGraphicFramePr>
              <a:graphicFrameLocks noChangeAspect="1"/>
            </p:cNvGraphicFramePr>
            <p:nvPr/>
          </p:nvGraphicFramePr>
          <p:xfrm>
            <a:off x="3788" y="936"/>
            <a:ext cx="305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4" name="" r:id="rId8" imgW="147955" imgH="206375" progId="Equation.3">
                    <p:embed/>
                  </p:oleObj>
                </mc:Choice>
                <mc:Fallback>
                  <p:oleObj name="" r:id="rId8" imgW="147955" imgH="206375" progId="Equation.3">
                    <p:embed/>
                    <p:pic>
                      <p:nvPicPr>
                        <p:cNvPr id="0" name="图片 3283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88" y="936"/>
                          <a:ext cx="305" cy="4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1" name="Object 120"/>
            <p:cNvGraphicFramePr>
              <a:graphicFrameLocks noChangeAspect="1"/>
            </p:cNvGraphicFramePr>
            <p:nvPr/>
          </p:nvGraphicFramePr>
          <p:xfrm>
            <a:off x="2699" y="981"/>
            <a:ext cx="245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6" name="" r:id="rId10" imgW="173990" imgH="206375" progId="Equation.3">
                    <p:embed/>
                  </p:oleObj>
                </mc:Choice>
                <mc:Fallback>
                  <p:oleObj name="" r:id="rId10" imgW="173990" imgH="206375" progId="Equation.3">
                    <p:embed/>
                    <p:pic>
                      <p:nvPicPr>
                        <p:cNvPr id="0" name="图片 3285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99" y="981"/>
                          <a:ext cx="245" cy="2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2" name="Object 121"/>
            <p:cNvGraphicFramePr>
              <a:graphicFrameLocks noChangeAspect="1"/>
            </p:cNvGraphicFramePr>
            <p:nvPr/>
          </p:nvGraphicFramePr>
          <p:xfrm>
            <a:off x="3243" y="1026"/>
            <a:ext cx="248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" name="" r:id="rId12" imgW="161290" imgH="206375" progId="Equation.3">
                    <p:embed/>
                  </p:oleObj>
                </mc:Choice>
                <mc:Fallback>
                  <p:oleObj name="" r:id="rId12" imgW="161290" imgH="206375" progId="Equation.3">
                    <p:embed/>
                    <p:pic>
                      <p:nvPicPr>
                        <p:cNvPr id="0" name="图片 3284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43" y="1026"/>
                          <a:ext cx="248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4293" name="Group 122"/>
            <p:cNvGrpSpPr/>
            <p:nvPr/>
          </p:nvGrpSpPr>
          <p:grpSpPr>
            <a:xfrm>
              <a:off x="2935" y="1027"/>
              <a:ext cx="240" cy="93"/>
              <a:chOff x="3787" y="2478"/>
              <a:chExt cx="240" cy="93"/>
            </a:xfrm>
          </p:grpSpPr>
          <p:sp>
            <p:nvSpPr>
              <p:cNvPr id="54313" name="Line 123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4314" name="Line 124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4294" name="Oval 125"/>
            <p:cNvSpPr/>
            <p:nvPr/>
          </p:nvSpPr>
          <p:spPr>
            <a:xfrm>
              <a:off x="3924" y="1843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295" name="Oval 126"/>
            <p:cNvSpPr/>
            <p:nvPr/>
          </p:nvSpPr>
          <p:spPr>
            <a:xfrm>
              <a:off x="3833" y="437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4296" name="Line 127"/>
            <p:cNvSpPr/>
            <p:nvPr/>
          </p:nvSpPr>
          <p:spPr>
            <a:xfrm flipV="1">
              <a:off x="2790" y="482"/>
              <a:ext cx="104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7" name="Line 132"/>
            <p:cNvSpPr/>
            <p:nvPr/>
          </p:nvSpPr>
          <p:spPr>
            <a:xfrm>
              <a:off x="3516" y="754"/>
              <a:ext cx="0" cy="27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8" name="Line 133"/>
            <p:cNvSpPr/>
            <p:nvPr/>
          </p:nvSpPr>
          <p:spPr>
            <a:xfrm>
              <a:off x="3062" y="754"/>
              <a:ext cx="45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299" name="Line 134"/>
            <p:cNvSpPr/>
            <p:nvPr/>
          </p:nvSpPr>
          <p:spPr>
            <a:xfrm>
              <a:off x="3062" y="1571"/>
              <a:ext cx="45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0" name="Line 135"/>
            <p:cNvSpPr/>
            <p:nvPr/>
          </p:nvSpPr>
          <p:spPr>
            <a:xfrm>
              <a:off x="3062" y="754"/>
              <a:ext cx="0" cy="27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1" name="Line 136"/>
            <p:cNvSpPr/>
            <p:nvPr/>
          </p:nvSpPr>
          <p:spPr>
            <a:xfrm>
              <a:off x="3516" y="1389"/>
              <a:ext cx="0" cy="1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4302" name="Line 137"/>
            <p:cNvSpPr/>
            <p:nvPr/>
          </p:nvSpPr>
          <p:spPr>
            <a:xfrm>
              <a:off x="3062" y="1117"/>
              <a:ext cx="0" cy="4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4303" name="Group 150"/>
            <p:cNvGrpSpPr/>
            <p:nvPr/>
          </p:nvGrpSpPr>
          <p:grpSpPr>
            <a:xfrm rot="10800000">
              <a:off x="3515" y="1026"/>
              <a:ext cx="90" cy="363"/>
              <a:chOff x="1565" y="2614"/>
              <a:chExt cx="90" cy="486"/>
            </a:xfrm>
          </p:grpSpPr>
          <p:sp>
            <p:nvSpPr>
              <p:cNvPr id="54309" name="Arc 151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4310" name="Arc 152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4311" name="Arc 153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4312" name="Arc 154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54304" name="Group 155"/>
            <p:cNvGrpSpPr/>
            <p:nvPr/>
          </p:nvGrpSpPr>
          <p:grpSpPr>
            <a:xfrm rot="5400000">
              <a:off x="2131" y="232"/>
              <a:ext cx="91" cy="408"/>
              <a:chOff x="1565" y="2614"/>
              <a:chExt cx="90" cy="486"/>
            </a:xfrm>
          </p:grpSpPr>
          <p:sp>
            <p:nvSpPr>
              <p:cNvPr id="54305" name="Arc 156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4306" name="Arc 157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4307" name="Arc 158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4308" name="Arc 159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2953" name="Object 9"/>
          <p:cNvGraphicFramePr>
            <a:graphicFrameLocks noChangeAspect="1"/>
          </p:cNvGraphicFramePr>
          <p:nvPr/>
        </p:nvGraphicFramePr>
        <p:xfrm>
          <a:off x="4308475" y="1557338"/>
          <a:ext cx="249555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" name="" r:id="rId1" imgW="933450" imgH="206375" progId="Equation.3">
                  <p:embed/>
                </p:oleObj>
              </mc:Choice>
              <mc:Fallback>
                <p:oleObj name="" r:id="rId1" imgW="933450" imgH="206375" progId="Equation.3">
                  <p:embed/>
                  <p:pic>
                    <p:nvPicPr>
                      <p:cNvPr id="0" name="图片 328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08475" y="1557338"/>
                        <a:ext cx="2495550" cy="541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5" name="AutoShape 11"/>
          <p:cNvSpPr/>
          <p:nvPr/>
        </p:nvSpPr>
        <p:spPr>
          <a:xfrm>
            <a:off x="468313" y="5516563"/>
            <a:ext cx="1081087" cy="504825"/>
          </a:xfrm>
          <a:prstGeom prst="wedgeRoundRectCallout">
            <a:avLst>
              <a:gd name="adj1" fmla="val 78343"/>
              <a:gd name="adj2" fmla="val -236477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/>
          <a:p>
            <a:pPr algn="ctr" eaLnBrk="1" hangingPunct="1"/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高通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2956" name="Text Box 12"/>
          <p:cNvSpPr txBox="1"/>
          <p:nvPr/>
        </p:nvSpPr>
        <p:spPr>
          <a:xfrm>
            <a:off x="4356100" y="1052513"/>
            <a:ext cx="28082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</a:rPr>
              <a:t>传递函数，设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graphicFrame>
        <p:nvGraphicFramePr>
          <p:cNvPr id="82957" name="Object 13"/>
          <p:cNvGraphicFramePr>
            <a:graphicFrameLocks noChangeAspect="1"/>
          </p:cNvGraphicFramePr>
          <p:nvPr/>
        </p:nvGraphicFramePr>
        <p:xfrm>
          <a:off x="4140200" y="1989138"/>
          <a:ext cx="4441825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" name="" r:id="rId3" imgW="1597025" imgH="386080" progId="Equation.3">
                  <p:embed/>
                </p:oleObj>
              </mc:Choice>
              <mc:Fallback>
                <p:oleObj name="" r:id="rId3" imgW="1597025" imgH="386080" progId="Equation.3">
                  <p:embed/>
                  <p:pic>
                    <p:nvPicPr>
                      <p:cNvPr id="0" name="图片 328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40200" y="1989138"/>
                        <a:ext cx="4441825" cy="1063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8" name="Object 14"/>
          <p:cNvGraphicFramePr>
            <a:graphicFrameLocks noChangeAspect="1"/>
          </p:cNvGraphicFramePr>
          <p:nvPr/>
        </p:nvGraphicFramePr>
        <p:xfrm>
          <a:off x="4240213" y="3054350"/>
          <a:ext cx="4049712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" name="" r:id="rId5" imgW="1468120" imgH="438150" progId="Equation.3">
                  <p:embed/>
                </p:oleObj>
              </mc:Choice>
              <mc:Fallback>
                <p:oleObj name="" r:id="rId5" imgW="1468120" imgH="438150" progId="Equation.3">
                  <p:embed/>
                  <p:pic>
                    <p:nvPicPr>
                      <p:cNvPr id="0" name="图片 328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40213" y="3054350"/>
                        <a:ext cx="4049712" cy="1204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9" name="Object 15"/>
          <p:cNvGraphicFramePr>
            <a:graphicFrameLocks noChangeAspect="1"/>
          </p:cNvGraphicFramePr>
          <p:nvPr/>
        </p:nvGraphicFramePr>
        <p:xfrm>
          <a:off x="3995738" y="4437063"/>
          <a:ext cx="4476750" cy="129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" name="" r:id="rId7" imgW="1725930" imgH="502285" progId="Equation.3">
                  <p:embed/>
                </p:oleObj>
              </mc:Choice>
              <mc:Fallback>
                <p:oleObj name="" r:id="rId7" imgW="1725930" imgH="502285" progId="Equation.3">
                  <p:embed/>
                  <p:pic>
                    <p:nvPicPr>
                      <p:cNvPr id="0" name="图片 328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95738" y="4437063"/>
                        <a:ext cx="4476750" cy="1296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/>
          <p:nvPr/>
        </p:nvGrpSpPr>
        <p:grpSpPr>
          <a:xfrm>
            <a:off x="900113" y="1268413"/>
            <a:ext cx="2560637" cy="1404937"/>
            <a:chOff x="2971" y="663"/>
            <a:chExt cx="1613" cy="885"/>
          </a:xfrm>
        </p:grpSpPr>
        <p:sp>
          <p:nvSpPr>
            <p:cNvPr id="55334" name="Line 17"/>
            <p:cNvSpPr/>
            <p:nvPr/>
          </p:nvSpPr>
          <p:spPr>
            <a:xfrm>
              <a:off x="3062" y="754"/>
              <a:ext cx="140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5" name="Line 18"/>
            <p:cNvSpPr/>
            <p:nvPr/>
          </p:nvSpPr>
          <p:spPr>
            <a:xfrm>
              <a:off x="4105" y="754"/>
              <a:ext cx="0" cy="272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6" name="Line 19"/>
            <p:cNvSpPr/>
            <p:nvPr/>
          </p:nvSpPr>
          <p:spPr>
            <a:xfrm>
              <a:off x="3016" y="1525"/>
              <a:ext cx="149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7" name="Line 20"/>
            <p:cNvSpPr/>
            <p:nvPr/>
          </p:nvSpPr>
          <p:spPr>
            <a:xfrm>
              <a:off x="4105" y="1117"/>
              <a:ext cx="0" cy="408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55338" name="Object 21"/>
            <p:cNvGraphicFramePr>
              <a:graphicFrameLocks noChangeAspect="1"/>
            </p:cNvGraphicFramePr>
            <p:nvPr/>
          </p:nvGraphicFramePr>
          <p:xfrm>
            <a:off x="2971" y="935"/>
            <a:ext cx="251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0" name="" r:id="rId9" imgW="141605" imgH="206375" progId="Equation.3">
                    <p:embed/>
                  </p:oleObj>
                </mc:Choice>
                <mc:Fallback>
                  <p:oleObj name="" r:id="rId9" imgW="141605" imgH="206375" progId="Equation.3">
                    <p:embed/>
                    <p:pic>
                      <p:nvPicPr>
                        <p:cNvPr id="0" name="图片 3219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71" y="935"/>
                          <a:ext cx="251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39" name="Object 22"/>
            <p:cNvGraphicFramePr>
              <a:graphicFrameLocks noChangeAspect="1"/>
            </p:cNvGraphicFramePr>
            <p:nvPr/>
          </p:nvGraphicFramePr>
          <p:xfrm>
            <a:off x="4241" y="890"/>
            <a:ext cx="305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4" name="" r:id="rId11" imgW="147955" imgH="206375" progId="Equation.3">
                    <p:embed/>
                  </p:oleObj>
                </mc:Choice>
                <mc:Fallback>
                  <p:oleObj name="" r:id="rId11" imgW="147955" imgH="206375" progId="Equation.3">
                    <p:embed/>
                    <p:pic>
                      <p:nvPicPr>
                        <p:cNvPr id="0" name="图片 3223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41" y="890"/>
                          <a:ext cx="305" cy="4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40" name="Object 23"/>
            <p:cNvGraphicFramePr>
              <a:graphicFrameLocks noChangeAspect="1"/>
            </p:cNvGraphicFramePr>
            <p:nvPr/>
          </p:nvGraphicFramePr>
          <p:xfrm>
            <a:off x="3788" y="1026"/>
            <a:ext cx="19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1" name="" r:id="rId13" imgW="141605" imgH="161290" progId="Equation.3">
                    <p:embed/>
                  </p:oleObj>
                </mc:Choice>
                <mc:Fallback>
                  <p:oleObj name="" r:id="rId13" imgW="141605" imgH="161290" progId="Equation.3">
                    <p:embed/>
                    <p:pic>
                      <p:nvPicPr>
                        <p:cNvPr id="0" name="图片 3220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88" y="1026"/>
                          <a:ext cx="199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41" name="Object 24"/>
            <p:cNvGraphicFramePr>
              <a:graphicFrameLocks noChangeAspect="1"/>
            </p:cNvGraphicFramePr>
            <p:nvPr/>
          </p:nvGraphicFramePr>
          <p:xfrm>
            <a:off x="3470" y="799"/>
            <a:ext cx="214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7" name="" r:id="rId15" imgW="141605" imgH="147955" progId="Equation.3">
                    <p:embed/>
                  </p:oleObj>
                </mc:Choice>
                <mc:Fallback>
                  <p:oleObj name="" r:id="rId15" imgW="141605" imgH="147955" progId="Equation.3">
                    <p:embed/>
                    <p:pic>
                      <p:nvPicPr>
                        <p:cNvPr id="0" name="图片 3226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70" y="799"/>
                          <a:ext cx="214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42" name="Rectangle 25"/>
            <p:cNvSpPr/>
            <p:nvPr/>
          </p:nvSpPr>
          <p:spPr>
            <a:xfrm>
              <a:off x="3424" y="663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55343" name="Group 26"/>
            <p:cNvGrpSpPr/>
            <p:nvPr/>
          </p:nvGrpSpPr>
          <p:grpSpPr>
            <a:xfrm>
              <a:off x="3969" y="1026"/>
              <a:ext cx="240" cy="93"/>
              <a:chOff x="3787" y="2478"/>
              <a:chExt cx="240" cy="93"/>
            </a:xfrm>
          </p:grpSpPr>
          <p:sp>
            <p:nvSpPr>
              <p:cNvPr id="55348" name="Line 27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49" name="Line 28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5344" name="Oval 29"/>
            <p:cNvSpPr/>
            <p:nvPr/>
          </p:nvSpPr>
          <p:spPr>
            <a:xfrm>
              <a:off x="4513" y="1480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5345" name="Oval 30"/>
            <p:cNvSpPr/>
            <p:nvPr/>
          </p:nvSpPr>
          <p:spPr>
            <a:xfrm>
              <a:off x="4468" y="709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5346" name="Oval 31"/>
            <p:cNvSpPr/>
            <p:nvPr/>
          </p:nvSpPr>
          <p:spPr>
            <a:xfrm>
              <a:off x="3016" y="709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5347" name="Oval 32"/>
            <p:cNvSpPr/>
            <p:nvPr/>
          </p:nvSpPr>
          <p:spPr>
            <a:xfrm>
              <a:off x="2971" y="1480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33"/>
          <p:cNvGrpSpPr/>
          <p:nvPr/>
        </p:nvGrpSpPr>
        <p:grpSpPr>
          <a:xfrm>
            <a:off x="684213" y="3789363"/>
            <a:ext cx="2947987" cy="1476375"/>
            <a:chOff x="2608" y="1661"/>
            <a:chExt cx="1857" cy="930"/>
          </a:xfrm>
        </p:grpSpPr>
        <p:sp>
          <p:nvSpPr>
            <p:cNvPr id="55318" name="Line 34"/>
            <p:cNvSpPr/>
            <p:nvPr/>
          </p:nvSpPr>
          <p:spPr>
            <a:xfrm>
              <a:off x="3878" y="1798"/>
              <a:ext cx="0" cy="77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19" name="Line 35"/>
            <p:cNvSpPr/>
            <p:nvPr/>
          </p:nvSpPr>
          <p:spPr>
            <a:xfrm>
              <a:off x="3334" y="1798"/>
              <a:ext cx="99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0" name="Line 36"/>
            <p:cNvSpPr/>
            <p:nvPr/>
          </p:nvSpPr>
          <p:spPr>
            <a:xfrm>
              <a:off x="2790" y="1798"/>
              <a:ext cx="45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1" name="Line 37"/>
            <p:cNvSpPr/>
            <p:nvPr/>
          </p:nvSpPr>
          <p:spPr>
            <a:xfrm>
              <a:off x="2789" y="2569"/>
              <a:ext cx="149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55322" name="Object 38"/>
            <p:cNvGraphicFramePr>
              <a:graphicFrameLocks noChangeAspect="1"/>
            </p:cNvGraphicFramePr>
            <p:nvPr/>
          </p:nvGraphicFramePr>
          <p:xfrm>
            <a:off x="2608" y="2024"/>
            <a:ext cx="251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3" name="" r:id="rId17" imgW="141605" imgH="206375" progId="Equation.3">
                    <p:embed/>
                  </p:oleObj>
                </mc:Choice>
                <mc:Fallback>
                  <p:oleObj name="" r:id="rId17" imgW="141605" imgH="206375" progId="Equation.3">
                    <p:embed/>
                    <p:pic>
                      <p:nvPicPr>
                        <p:cNvPr id="0" name="图片 3222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08" y="2024"/>
                          <a:ext cx="251" cy="3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23" name="Object 39"/>
            <p:cNvGraphicFramePr>
              <a:graphicFrameLocks noChangeAspect="1"/>
            </p:cNvGraphicFramePr>
            <p:nvPr/>
          </p:nvGraphicFramePr>
          <p:xfrm>
            <a:off x="4195" y="1979"/>
            <a:ext cx="270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2" name="" r:id="rId19" imgW="147955" imgH="206375" progId="Equation.3">
                    <p:embed/>
                  </p:oleObj>
                </mc:Choice>
                <mc:Fallback>
                  <p:oleObj name="" r:id="rId19" imgW="147955" imgH="206375" progId="Equation.3">
                    <p:embed/>
                    <p:pic>
                      <p:nvPicPr>
                        <p:cNvPr id="0" name="图片 3221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95" y="1979"/>
                          <a:ext cx="270" cy="3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24" name="Object 40"/>
            <p:cNvGraphicFramePr>
              <a:graphicFrameLocks noChangeAspect="1"/>
            </p:cNvGraphicFramePr>
            <p:nvPr/>
          </p:nvGraphicFramePr>
          <p:xfrm>
            <a:off x="3198" y="1979"/>
            <a:ext cx="19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5" name="" r:id="rId21" imgW="141605" imgH="161290" progId="Equation.3">
                    <p:embed/>
                  </p:oleObj>
                </mc:Choice>
                <mc:Fallback>
                  <p:oleObj name="" r:id="rId21" imgW="141605" imgH="161290" progId="Equation.3">
                    <p:embed/>
                    <p:pic>
                      <p:nvPicPr>
                        <p:cNvPr id="0" name="图片 3224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98" y="1979"/>
                          <a:ext cx="199" cy="2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25" name="Object 41"/>
            <p:cNvGraphicFramePr>
              <a:graphicFrameLocks noChangeAspect="1"/>
            </p:cNvGraphicFramePr>
            <p:nvPr/>
          </p:nvGraphicFramePr>
          <p:xfrm>
            <a:off x="3516" y="2069"/>
            <a:ext cx="214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6" name="" r:id="rId23" imgW="141605" imgH="147955" progId="Equation.3">
                    <p:embed/>
                  </p:oleObj>
                </mc:Choice>
                <mc:Fallback>
                  <p:oleObj name="" r:id="rId23" imgW="141605" imgH="147955" progId="Equation.3">
                    <p:embed/>
                    <p:pic>
                      <p:nvPicPr>
                        <p:cNvPr id="0" name="图片 3225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16" y="2069"/>
                          <a:ext cx="214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26" name="Oval 42"/>
            <p:cNvSpPr/>
            <p:nvPr/>
          </p:nvSpPr>
          <p:spPr>
            <a:xfrm>
              <a:off x="4286" y="2523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5327" name="Oval 43"/>
            <p:cNvSpPr/>
            <p:nvPr/>
          </p:nvSpPr>
          <p:spPr>
            <a:xfrm>
              <a:off x="4332" y="1752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5328" name="Oval 44"/>
            <p:cNvSpPr/>
            <p:nvPr/>
          </p:nvSpPr>
          <p:spPr>
            <a:xfrm>
              <a:off x="2744" y="1752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5329" name="Oval 45"/>
            <p:cNvSpPr/>
            <p:nvPr/>
          </p:nvSpPr>
          <p:spPr>
            <a:xfrm>
              <a:off x="2744" y="2523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5330" name="Rectangle 46"/>
            <p:cNvSpPr/>
            <p:nvPr/>
          </p:nvSpPr>
          <p:spPr>
            <a:xfrm>
              <a:off x="3833" y="202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55331" name="Group 47"/>
            <p:cNvGrpSpPr/>
            <p:nvPr/>
          </p:nvGrpSpPr>
          <p:grpSpPr>
            <a:xfrm rot="5400000">
              <a:off x="3169" y="1734"/>
              <a:ext cx="240" cy="93"/>
              <a:chOff x="3787" y="2478"/>
              <a:chExt cx="240" cy="93"/>
            </a:xfrm>
          </p:grpSpPr>
          <p:sp>
            <p:nvSpPr>
              <p:cNvPr id="55332" name="Line 48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5333" name="Line 49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82994" name="Text Box 50"/>
          <p:cNvSpPr txBox="1"/>
          <p:nvPr/>
        </p:nvSpPr>
        <p:spPr>
          <a:xfrm>
            <a:off x="539750" y="476250"/>
            <a:ext cx="1655763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6-1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995" name="Rectangle 51"/>
          <p:cNvSpPr/>
          <p:nvPr/>
        </p:nvSpPr>
        <p:spPr>
          <a:xfrm>
            <a:off x="1619250" y="549275"/>
            <a:ext cx="42100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一阶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</a:rPr>
              <a:t>RC</a:t>
            </a:r>
            <a:r>
              <a:rPr lang="zh-CN" altLang="en-US" sz="2800" dirty="0">
                <a:latin typeface="Times New Roman" panose="02020603050405020304" pitchFamily="18" charset="0"/>
              </a:rPr>
              <a:t>无源低通滤波器。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82996" name="AutoShape 52"/>
          <p:cNvSpPr/>
          <p:nvPr/>
        </p:nvSpPr>
        <p:spPr>
          <a:xfrm>
            <a:off x="539750" y="2924175"/>
            <a:ext cx="1081088" cy="504825"/>
          </a:xfrm>
          <a:prstGeom prst="wedgeRoundRectCallout">
            <a:avLst>
              <a:gd name="adj1" fmla="val 106977"/>
              <a:gd name="adj2" fmla="val -154718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/>
          <a:p>
            <a:pPr algn="ctr" eaLnBrk="1" hangingPunct="1"/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低通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55309" name="Group 53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5316" name="Picture 54" descr="78900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17" name="Text Box 55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5310" name="Group 56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55314" name="Picture 57" descr="78900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15" name="Text Box 58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5311" name="Group 62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55312" name="Picture 63" descr="78900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13" name="Text Box 64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2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2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2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2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8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2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82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5" grpId="0" animBg="1"/>
      <p:bldP spid="82956" grpId="0"/>
      <p:bldP spid="82994" grpId="0"/>
      <p:bldP spid="82995" grpId="0"/>
      <p:bldP spid="8299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5580063" y="404813"/>
            <a:ext cx="2325687" cy="1009650"/>
            <a:chOff x="3132" y="888"/>
            <a:chExt cx="1042" cy="592"/>
          </a:xfrm>
        </p:grpSpPr>
        <p:sp>
          <p:nvSpPr>
            <p:cNvPr id="56394" name="Text Box 3"/>
            <p:cNvSpPr txBox="1"/>
            <p:nvPr/>
          </p:nvSpPr>
          <p:spPr>
            <a:xfrm>
              <a:off x="3206" y="888"/>
              <a:ext cx="968" cy="3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zh-CN" altLang="en-US" sz="2400" b="0" baseline="300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＋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r>
                <a:rPr lang="zh-CN" altLang="en-US" b="0" i="1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  <a:r>
                <a:rPr lang="zh-CN" altLang="en-US" sz="2400" b="0" dirty="0">
                  <a:solidFill>
                    <a:schemeClr val="bg1"/>
                  </a:solidFill>
                  <a:latin typeface="Arial" panose="020B0604020202020204" pitchFamily="34" charset="0"/>
                  <a:ea typeface="仿宋_GB2312" pitchFamily="49" charset="-122"/>
                </a:rPr>
                <a:t>＝</a:t>
              </a:r>
              <a:r>
                <a:rPr lang="zh-CN" altLang="en-US" sz="2400" b="0" dirty="0">
                  <a:latin typeface="Arial" panose="020B0604020202020204" pitchFamily="34" charset="0"/>
                  <a:ea typeface="仿宋_GB2312" pitchFamily="49" charset="-122"/>
                </a:rPr>
                <a:t>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95" name="Text Box 4"/>
            <p:cNvSpPr txBox="1"/>
            <p:nvPr/>
          </p:nvSpPr>
          <p:spPr>
            <a:xfrm>
              <a:off x="3242" y="1140"/>
              <a:ext cx="858" cy="3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300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96" name="AutoShape 5"/>
            <p:cNvSpPr/>
            <p:nvPr/>
          </p:nvSpPr>
          <p:spPr>
            <a:xfrm>
              <a:off x="3132" y="1080"/>
              <a:ext cx="48" cy="336"/>
            </a:xfrm>
            <a:prstGeom prst="leftBrace">
              <a:avLst>
                <a:gd name="adj1" fmla="val 58333"/>
                <a:gd name="adj2" fmla="val 50000"/>
              </a:avLst>
            </a:prstGeom>
            <a:noFill/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3974" name="Text Box 6"/>
          <p:cNvSpPr txBox="1"/>
          <p:nvPr/>
        </p:nvSpPr>
        <p:spPr>
          <a:xfrm>
            <a:off x="5940425" y="1412875"/>
            <a:ext cx="96202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3975" name="Object 7"/>
          <p:cNvGraphicFramePr>
            <a:graphicFrameLocks noChangeAspect="1"/>
          </p:cNvGraphicFramePr>
          <p:nvPr/>
        </p:nvGraphicFramePr>
        <p:xfrm>
          <a:off x="4932363" y="4005263"/>
          <a:ext cx="2824162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" name="" r:id="rId1" imgW="1062355" imgH="386080" progId="Equation.3">
                  <p:embed/>
                </p:oleObj>
              </mc:Choice>
              <mc:Fallback>
                <p:oleObj name="" r:id="rId1" imgW="1062355" imgH="386080" progId="Equation.3">
                  <p:embed/>
                  <p:pic>
                    <p:nvPicPr>
                      <p:cNvPr id="0" name="图片 328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32363" y="4005263"/>
                        <a:ext cx="2824162" cy="1019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6" name="Object 8"/>
          <p:cNvGraphicFramePr>
            <a:graphicFrameLocks noChangeAspect="1"/>
          </p:cNvGraphicFramePr>
          <p:nvPr/>
        </p:nvGraphicFramePr>
        <p:xfrm>
          <a:off x="625475" y="4076700"/>
          <a:ext cx="3062288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" name="" r:id="rId3" imgW="1178560" imgH="418465" progId="Equation.3">
                  <p:embed/>
                </p:oleObj>
              </mc:Choice>
              <mc:Fallback>
                <p:oleObj name="" r:id="rId3" imgW="1178560" imgH="418465" progId="Equation.3">
                  <p:embed/>
                  <p:pic>
                    <p:nvPicPr>
                      <p:cNvPr id="0" name="图片 329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25475" y="4076700"/>
                        <a:ext cx="3062288" cy="1077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7" name="Text Box 9"/>
          <p:cNvSpPr txBox="1"/>
          <p:nvPr/>
        </p:nvSpPr>
        <p:spPr>
          <a:xfrm>
            <a:off x="3419475" y="5300663"/>
            <a:ext cx="15113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</a:rPr>
              <a:t>解得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graphicFrame>
        <p:nvGraphicFramePr>
          <p:cNvPr id="83978" name="Object 10"/>
          <p:cNvGraphicFramePr>
            <a:graphicFrameLocks noChangeAspect="1"/>
          </p:cNvGraphicFramePr>
          <p:nvPr/>
        </p:nvGraphicFramePr>
        <p:xfrm>
          <a:off x="4440238" y="5003800"/>
          <a:ext cx="4235450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" name="" r:id="rId5" imgW="1642110" imgH="463550" progId="Equation.3">
                  <p:embed/>
                </p:oleObj>
              </mc:Choice>
              <mc:Fallback>
                <p:oleObj name="" r:id="rId5" imgW="1642110" imgH="463550" progId="Equation.3">
                  <p:embed/>
                  <p:pic>
                    <p:nvPicPr>
                      <p:cNvPr id="0" name="图片 329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40238" y="5003800"/>
                        <a:ext cx="4235450" cy="1185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9" name="Text Box 11"/>
          <p:cNvSpPr txBox="1"/>
          <p:nvPr/>
        </p:nvSpPr>
        <p:spPr>
          <a:xfrm>
            <a:off x="250825" y="5300663"/>
            <a:ext cx="10795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</a:rPr>
              <a:t>设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graphicFrame>
        <p:nvGraphicFramePr>
          <p:cNvPr id="83980" name="Object 12"/>
          <p:cNvGraphicFramePr>
            <a:graphicFrameLocks noChangeAspect="1"/>
          </p:cNvGraphicFramePr>
          <p:nvPr/>
        </p:nvGraphicFramePr>
        <p:xfrm>
          <a:off x="928688" y="5300663"/>
          <a:ext cx="207486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" name="" r:id="rId7" imgW="772795" imgH="206375" progId="Equation.3">
                  <p:embed/>
                </p:oleObj>
              </mc:Choice>
              <mc:Fallback>
                <p:oleObj name="" r:id="rId7" imgW="772795" imgH="206375" progId="Equation.3">
                  <p:embed/>
                  <p:pic>
                    <p:nvPicPr>
                      <p:cNvPr id="0" name="图片 329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28688" y="5300663"/>
                        <a:ext cx="2074862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1" name="Object 13"/>
          <p:cNvGraphicFramePr>
            <a:graphicFrameLocks noChangeAspect="1"/>
          </p:cNvGraphicFramePr>
          <p:nvPr/>
        </p:nvGraphicFramePr>
        <p:xfrm>
          <a:off x="5867400" y="1989138"/>
          <a:ext cx="2293938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1" name="" r:id="rId9" imgW="760095" imgH="386080" progId="Equation.DSMT4">
                  <p:embed/>
                </p:oleObj>
              </mc:Choice>
              <mc:Fallback>
                <p:oleObj name="" r:id="rId9" imgW="760095" imgH="386080" progId="Equation.DSMT4">
                  <p:embed/>
                  <p:pic>
                    <p:nvPicPr>
                      <p:cNvPr id="0" name="图片 329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67400" y="1989138"/>
                        <a:ext cx="2293938" cy="1154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82" name="Object 14"/>
          <p:cNvGraphicFramePr>
            <a:graphicFrameLocks noChangeAspect="1"/>
          </p:cNvGraphicFramePr>
          <p:nvPr/>
        </p:nvGraphicFramePr>
        <p:xfrm>
          <a:off x="6042025" y="3170238"/>
          <a:ext cx="2490788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3" name="" r:id="rId11" imgW="901700" imgH="418465" progId="Equation.3">
                  <p:embed/>
                </p:oleObj>
              </mc:Choice>
              <mc:Fallback>
                <p:oleObj name="" r:id="rId11" imgW="901700" imgH="418465" progId="Equation.3">
                  <p:embed/>
                  <p:pic>
                    <p:nvPicPr>
                      <p:cNvPr id="0" name="图片 329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42025" y="3170238"/>
                        <a:ext cx="2490788" cy="1149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83" name="Line 15"/>
          <p:cNvSpPr/>
          <p:nvPr/>
        </p:nvSpPr>
        <p:spPr>
          <a:xfrm>
            <a:off x="3995738" y="4581525"/>
            <a:ext cx="504825" cy="0"/>
          </a:xfrm>
          <a:prstGeom prst="line">
            <a:avLst/>
          </a:prstGeom>
          <a:ln w="76200" cap="flat" cmpd="sng">
            <a:solidFill>
              <a:srgbClr val="0066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3990" name="Text Box 22"/>
          <p:cNvSpPr txBox="1"/>
          <p:nvPr/>
        </p:nvSpPr>
        <p:spPr>
          <a:xfrm>
            <a:off x="1547813" y="476250"/>
            <a:ext cx="2808287" cy="579438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SzPct val="80000"/>
              <a:buFont typeface="Wingdings" panose="05000000000000000000" pitchFamily="2" charset="2"/>
            </a:pPr>
            <a:r>
              <a:rPr lang="zh-CN" altLang="en-US" dirty="0">
                <a:latin typeface="Arial" panose="020B0604020202020204" pitchFamily="34" charset="0"/>
              </a:rPr>
              <a:t>有源滤波器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3" name="Group 86"/>
          <p:cNvGrpSpPr/>
          <p:nvPr/>
        </p:nvGrpSpPr>
        <p:grpSpPr>
          <a:xfrm>
            <a:off x="179388" y="908050"/>
            <a:ext cx="5297487" cy="3000375"/>
            <a:chOff x="113" y="572"/>
            <a:chExt cx="3337" cy="1890"/>
          </a:xfrm>
        </p:grpSpPr>
        <p:sp>
          <p:nvSpPr>
            <p:cNvPr id="56345" name="Line 24"/>
            <p:cNvSpPr/>
            <p:nvPr/>
          </p:nvSpPr>
          <p:spPr>
            <a:xfrm flipV="1">
              <a:off x="476" y="1752"/>
              <a:ext cx="181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56346" name="Rectangle 25"/>
            <p:cNvSpPr/>
            <p:nvPr/>
          </p:nvSpPr>
          <p:spPr>
            <a:xfrm>
              <a:off x="2049" y="1185"/>
              <a:ext cx="750" cy="720"/>
            </a:xfrm>
            <a:prstGeom prst="rect">
              <a:avLst/>
            </a:prstGeom>
            <a:gradFill rotWithShape="1">
              <a:gsLst>
                <a:gs pos="0">
                  <a:srgbClr val="FF9900"/>
                </a:gs>
                <a:gs pos="100000">
                  <a:srgbClr val="764700"/>
                </a:gs>
              </a:gsLst>
              <a:path path="shape">
                <a:fillToRect l="50000" t="50000" r="50000" b="50000"/>
              </a:path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6347" name="Line 26"/>
            <p:cNvSpPr/>
            <p:nvPr/>
          </p:nvSpPr>
          <p:spPr>
            <a:xfrm flipV="1">
              <a:off x="476" y="2206"/>
              <a:ext cx="290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48" name="Line 27"/>
            <p:cNvSpPr/>
            <p:nvPr/>
          </p:nvSpPr>
          <p:spPr>
            <a:xfrm flipV="1">
              <a:off x="2790" y="1571"/>
              <a:ext cx="58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49" name="Text Box 28"/>
            <p:cNvSpPr txBox="1"/>
            <p:nvPr/>
          </p:nvSpPr>
          <p:spPr>
            <a:xfrm>
              <a:off x="2971" y="1525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0" name="Text Box 29"/>
            <p:cNvSpPr txBox="1"/>
            <p:nvPr/>
          </p:nvSpPr>
          <p:spPr>
            <a:xfrm>
              <a:off x="2962" y="1839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1" name="Text Box 30"/>
            <p:cNvSpPr txBox="1"/>
            <p:nvPr/>
          </p:nvSpPr>
          <p:spPr>
            <a:xfrm>
              <a:off x="2919" y="1695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2" name="Text Box 31"/>
            <p:cNvSpPr txBox="1"/>
            <p:nvPr/>
          </p:nvSpPr>
          <p:spPr>
            <a:xfrm>
              <a:off x="2067" y="1107"/>
              <a:ext cx="228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3" name="Text Box 32"/>
            <p:cNvSpPr txBox="1"/>
            <p:nvPr/>
          </p:nvSpPr>
          <p:spPr>
            <a:xfrm>
              <a:off x="2051" y="1575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4" name="AutoShape 33"/>
            <p:cNvSpPr/>
            <p:nvPr/>
          </p:nvSpPr>
          <p:spPr>
            <a:xfrm rot="5400000">
              <a:off x="2402" y="1230"/>
              <a:ext cx="144" cy="161"/>
            </a:xfrm>
            <a:prstGeom prst="triangle">
              <a:avLst>
                <a:gd name="adj" fmla="val 56245"/>
              </a:avLst>
            </a:prstGeom>
            <a:solidFill>
              <a:schemeClr val="bg1"/>
            </a:soli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6355" name="Text Box 34"/>
            <p:cNvSpPr txBox="1"/>
            <p:nvPr/>
          </p:nvSpPr>
          <p:spPr>
            <a:xfrm>
              <a:off x="2507" y="1129"/>
              <a:ext cx="34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∞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6356" name="Text Box 35"/>
            <p:cNvSpPr txBox="1"/>
            <p:nvPr/>
          </p:nvSpPr>
          <p:spPr>
            <a:xfrm>
              <a:off x="2551" y="1371"/>
              <a:ext cx="242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57" name="Line 36"/>
            <p:cNvSpPr/>
            <p:nvPr/>
          </p:nvSpPr>
          <p:spPr>
            <a:xfrm flipV="1">
              <a:off x="1701" y="936"/>
              <a:ext cx="136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58" name="Line 37"/>
            <p:cNvSpPr/>
            <p:nvPr/>
          </p:nvSpPr>
          <p:spPr>
            <a:xfrm flipH="1">
              <a:off x="1701" y="936"/>
              <a:ext cx="0" cy="4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56359" name="Line 38"/>
            <p:cNvSpPr/>
            <p:nvPr/>
          </p:nvSpPr>
          <p:spPr>
            <a:xfrm>
              <a:off x="3062" y="936"/>
              <a:ext cx="0" cy="63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56360" name="Text Box 39"/>
            <p:cNvSpPr txBox="1"/>
            <p:nvPr/>
          </p:nvSpPr>
          <p:spPr>
            <a:xfrm>
              <a:off x="884" y="1752"/>
              <a:ext cx="40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61" name="Text Box 40"/>
            <p:cNvSpPr txBox="1"/>
            <p:nvPr/>
          </p:nvSpPr>
          <p:spPr>
            <a:xfrm>
              <a:off x="2245" y="573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62" name="Line 41"/>
            <p:cNvSpPr/>
            <p:nvPr/>
          </p:nvSpPr>
          <p:spPr>
            <a:xfrm>
              <a:off x="522" y="1389"/>
              <a:ext cx="154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63" name="Text Box 42"/>
            <p:cNvSpPr txBox="1"/>
            <p:nvPr/>
          </p:nvSpPr>
          <p:spPr>
            <a:xfrm>
              <a:off x="1746" y="1071"/>
              <a:ext cx="255" cy="3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64" name="Text Box 43"/>
            <p:cNvSpPr txBox="1"/>
            <p:nvPr/>
          </p:nvSpPr>
          <p:spPr>
            <a:xfrm>
              <a:off x="1746" y="1707"/>
              <a:ext cx="34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65" name="Text Box 44"/>
            <p:cNvSpPr txBox="1"/>
            <p:nvPr/>
          </p:nvSpPr>
          <p:spPr>
            <a:xfrm>
              <a:off x="1670" y="1301"/>
              <a:ext cx="304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3000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sz="2800" b="0" baseline="30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6366" name="Line 45"/>
            <p:cNvSpPr/>
            <p:nvPr/>
          </p:nvSpPr>
          <p:spPr>
            <a:xfrm>
              <a:off x="1746" y="1389"/>
              <a:ext cx="293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367" name="Text Box 46"/>
            <p:cNvSpPr txBox="1"/>
            <p:nvPr/>
          </p:nvSpPr>
          <p:spPr>
            <a:xfrm>
              <a:off x="930" y="981"/>
              <a:ext cx="32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68" name="Text Box 47"/>
            <p:cNvSpPr txBox="1"/>
            <p:nvPr/>
          </p:nvSpPr>
          <p:spPr>
            <a:xfrm>
              <a:off x="1247" y="1811"/>
              <a:ext cx="26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69" name="Text Box 48"/>
            <p:cNvSpPr txBox="1"/>
            <p:nvPr/>
          </p:nvSpPr>
          <p:spPr>
            <a:xfrm>
              <a:off x="113" y="1525"/>
              <a:ext cx="27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56370" name="Group 49"/>
            <p:cNvGrpSpPr/>
            <p:nvPr/>
          </p:nvGrpSpPr>
          <p:grpSpPr>
            <a:xfrm>
              <a:off x="1474" y="2342"/>
              <a:ext cx="318" cy="120"/>
              <a:chOff x="720" y="1824"/>
              <a:chExt cx="261" cy="120"/>
            </a:xfrm>
          </p:grpSpPr>
          <p:sp>
            <p:nvSpPr>
              <p:cNvPr id="56391" name="Line 50"/>
              <p:cNvSpPr/>
              <p:nvPr/>
            </p:nvSpPr>
            <p:spPr>
              <a:xfrm>
                <a:off x="720" y="1824"/>
                <a:ext cx="261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92" name="Line 51"/>
              <p:cNvSpPr/>
              <p:nvPr/>
            </p:nvSpPr>
            <p:spPr>
              <a:xfrm>
                <a:off x="778" y="1883"/>
                <a:ext cx="145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93" name="Line 52"/>
              <p:cNvSpPr/>
              <p:nvPr/>
            </p:nvSpPr>
            <p:spPr>
              <a:xfrm>
                <a:off x="802" y="1944"/>
                <a:ext cx="86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6371" name="Line 53"/>
            <p:cNvSpPr/>
            <p:nvPr/>
          </p:nvSpPr>
          <p:spPr>
            <a:xfrm>
              <a:off x="1610" y="2206"/>
              <a:ext cx="0" cy="1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72" name="Line 54"/>
            <p:cNvSpPr/>
            <p:nvPr/>
          </p:nvSpPr>
          <p:spPr>
            <a:xfrm>
              <a:off x="567" y="1389"/>
              <a:ext cx="316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373" name="Text Box 55"/>
            <p:cNvSpPr txBox="1"/>
            <p:nvPr/>
          </p:nvSpPr>
          <p:spPr>
            <a:xfrm>
              <a:off x="612" y="1026"/>
              <a:ext cx="255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74" name="Text Box 56"/>
            <p:cNvSpPr txBox="1"/>
            <p:nvPr/>
          </p:nvSpPr>
          <p:spPr>
            <a:xfrm>
              <a:off x="1746" y="572"/>
              <a:ext cx="376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6375" name="Line 57"/>
            <p:cNvSpPr/>
            <p:nvPr/>
          </p:nvSpPr>
          <p:spPr>
            <a:xfrm>
              <a:off x="1791" y="935"/>
              <a:ext cx="272" cy="0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376" name="Line 58"/>
            <p:cNvSpPr/>
            <p:nvPr/>
          </p:nvSpPr>
          <p:spPr>
            <a:xfrm>
              <a:off x="1610" y="1752"/>
              <a:ext cx="0" cy="1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6377" name="Line 59"/>
            <p:cNvSpPr/>
            <p:nvPr/>
          </p:nvSpPr>
          <p:spPr>
            <a:xfrm>
              <a:off x="1610" y="2024"/>
              <a:ext cx="0" cy="1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78" name="Line 60"/>
            <p:cNvSpPr/>
            <p:nvPr/>
          </p:nvSpPr>
          <p:spPr>
            <a:xfrm>
              <a:off x="522" y="1299"/>
              <a:ext cx="0" cy="18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6379" name="Line 61"/>
            <p:cNvSpPr/>
            <p:nvPr/>
          </p:nvSpPr>
          <p:spPr>
            <a:xfrm>
              <a:off x="567" y="1752"/>
              <a:ext cx="272" cy="0"/>
            </a:xfrm>
            <a:prstGeom prst="line">
              <a:avLst/>
            </a:prstGeom>
            <a:ln w="38100" cap="flat" cmpd="sng">
              <a:solidFill>
                <a:srgbClr val="66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6380" name="Rectangle 62"/>
            <p:cNvSpPr/>
            <p:nvPr/>
          </p:nvSpPr>
          <p:spPr>
            <a:xfrm>
              <a:off x="521" y="1662"/>
              <a:ext cx="25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endPara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56381" name="Rectangle 63"/>
            <p:cNvSpPr/>
            <p:nvPr/>
          </p:nvSpPr>
          <p:spPr>
            <a:xfrm>
              <a:off x="921" y="168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6382" name="Rectangle 64"/>
            <p:cNvSpPr/>
            <p:nvPr/>
          </p:nvSpPr>
          <p:spPr>
            <a:xfrm>
              <a:off x="930" y="132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6383" name="Rectangle 65"/>
            <p:cNvSpPr/>
            <p:nvPr/>
          </p:nvSpPr>
          <p:spPr>
            <a:xfrm>
              <a:off x="2200" y="872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56384" name="Group 66"/>
            <p:cNvGrpSpPr/>
            <p:nvPr/>
          </p:nvGrpSpPr>
          <p:grpSpPr>
            <a:xfrm>
              <a:off x="1483" y="1934"/>
              <a:ext cx="240" cy="93"/>
              <a:chOff x="3787" y="2478"/>
              <a:chExt cx="240" cy="93"/>
            </a:xfrm>
          </p:grpSpPr>
          <p:sp>
            <p:nvSpPr>
              <p:cNvPr id="56389" name="Line 67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6390" name="Line 68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6385" name="Oval 69"/>
            <p:cNvSpPr/>
            <p:nvPr/>
          </p:nvSpPr>
          <p:spPr>
            <a:xfrm>
              <a:off x="405" y="2183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6386" name="Oval 70"/>
            <p:cNvSpPr/>
            <p:nvPr/>
          </p:nvSpPr>
          <p:spPr>
            <a:xfrm>
              <a:off x="405" y="1707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6387" name="Oval 71"/>
            <p:cNvSpPr/>
            <p:nvPr/>
          </p:nvSpPr>
          <p:spPr>
            <a:xfrm>
              <a:off x="3379" y="2160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6388" name="Oval 72"/>
            <p:cNvSpPr/>
            <p:nvPr/>
          </p:nvSpPr>
          <p:spPr>
            <a:xfrm>
              <a:off x="3379" y="1525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4041" name="Text Box 73"/>
          <p:cNvSpPr txBox="1"/>
          <p:nvPr/>
        </p:nvSpPr>
        <p:spPr>
          <a:xfrm>
            <a:off x="468313" y="476250"/>
            <a:ext cx="15113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6-2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6336" name="Group 74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6343" name="Picture 75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6344" name="Text Box 76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6337" name="Group 77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56341" name="Picture 78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6342" name="Text Box 79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6338" name="Group 83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56339" name="Picture 84" descr="7890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6340" name="Text Box 85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40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40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4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4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3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1000"/>
                                        <p:tgtEl>
                                          <p:spTgt spid="8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1000"/>
                                        <p:tgtEl>
                                          <p:spTgt spid="83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10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83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1000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3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3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1000"/>
                                        <p:tgtEl>
                                          <p:spTgt spid="8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3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3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1000"/>
                                        <p:tgtEl>
                                          <p:spTgt spid="8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4" grpId="0"/>
      <p:bldP spid="83977" grpId="0"/>
      <p:bldP spid="83979" grpId="0"/>
      <p:bldP spid="83990" grpId="0"/>
      <p:bldP spid="8404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4995" name="Object 3"/>
          <p:cNvGraphicFramePr>
            <a:graphicFrameLocks noChangeAspect="1"/>
          </p:cNvGraphicFramePr>
          <p:nvPr/>
        </p:nvGraphicFramePr>
        <p:xfrm>
          <a:off x="1011238" y="476250"/>
          <a:ext cx="4430712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6" name="" r:id="rId1" imgW="1802765" imgH="463550" progId="Equation.3">
                  <p:embed/>
                </p:oleObj>
              </mc:Choice>
              <mc:Fallback>
                <p:oleObj name="" r:id="rId1" imgW="1802765" imgH="463550" progId="Equation.3">
                  <p:embed/>
                  <p:pic>
                    <p:nvPicPr>
                      <p:cNvPr id="0" name="图片 329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11238" y="476250"/>
                        <a:ext cx="4430712" cy="1127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Line 4"/>
          <p:cNvSpPr/>
          <p:nvPr/>
        </p:nvSpPr>
        <p:spPr>
          <a:xfrm>
            <a:off x="3492500" y="2924175"/>
            <a:ext cx="504825" cy="0"/>
          </a:xfrm>
          <a:prstGeom prst="line">
            <a:avLst/>
          </a:prstGeom>
          <a:ln w="76200" cap="flat" cmpd="sng">
            <a:solidFill>
              <a:srgbClr val="0066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84997" name="Object 5"/>
          <p:cNvGraphicFramePr>
            <a:graphicFrameLocks noChangeAspect="1"/>
          </p:cNvGraphicFramePr>
          <p:nvPr/>
        </p:nvGraphicFramePr>
        <p:xfrm>
          <a:off x="900113" y="2420938"/>
          <a:ext cx="2538412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" name="" r:id="rId3" imgW="1043305" imgH="418465" progId="Equation.3">
                  <p:embed/>
                </p:oleObj>
              </mc:Choice>
              <mc:Fallback>
                <p:oleObj name="" r:id="rId3" imgW="1043305" imgH="418465" progId="Equation.3">
                  <p:embed/>
                  <p:pic>
                    <p:nvPicPr>
                      <p:cNvPr id="0" name="图片 329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2420938"/>
                        <a:ext cx="2538412" cy="981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8" name="Object 6"/>
          <p:cNvGraphicFramePr>
            <a:graphicFrameLocks noChangeAspect="1"/>
          </p:cNvGraphicFramePr>
          <p:nvPr/>
        </p:nvGraphicFramePr>
        <p:xfrm>
          <a:off x="3290888" y="1641475"/>
          <a:ext cx="225583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" name="" r:id="rId5" imgW="869315" imgH="418465" progId="Equation.3">
                  <p:embed/>
                </p:oleObj>
              </mc:Choice>
              <mc:Fallback>
                <p:oleObj name="" r:id="rId5" imgW="869315" imgH="418465" progId="Equation.3">
                  <p:embed/>
                  <p:pic>
                    <p:nvPicPr>
                      <p:cNvPr id="0" name="图片 330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90888" y="1641475"/>
                        <a:ext cx="2255837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9" name="Line 7"/>
          <p:cNvSpPr/>
          <p:nvPr/>
        </p:nvSpPr>
        <p:spPr>
          <a:xfrm>
            <a:off x="2627313" y="2133600"/>
            <a:ext cx="504825" cy="0"/>
          </a:xfrm>
          <a:prstGeom prst="line">
            <a:avLst/>
          </a:prstGeom>
          <a:ln w="76200" cap="flat" cmpd="sng">
            <a:solidFill>
              <a:srgbClr val="0066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85000" name="Object 8"/>
          <p:cNvGraphicFramePr>
            <a:graphicFrameLocks noChangeAspect="1"/>
          </p:cNvGraphicFramePr>
          <p:nvPr/>
        </p:nvGraphicFramePr>
        <p:xfrm>
          <a:off x="4211638" y="2492375"/>
          <a:ext cx="3871912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" name="" r:id="rId7" imgW="1577975" imgH="438150" progId="Equation.3">
                  <p:embed/>
                </p:oleObj>
              </mc:Choice>
              <mc:Fallback>
                <p:oleObj name="" r:id="rId7" imgW="1577975" imgH="438150" progId="Equation.3">
                  <p:embed/>
                  <p:pic>
                    <p:nvPicPr>
                      <p:cNvPr id="0" name="图片 329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11638" y="2492375"/>
                        <a:ext cx="3871912" cy="1071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01" name="AutoShape 9"/>
          <p:cNvSpPr/>
          <p:nvPr/>
        </p:nvSpPr>
        <p:spPr>
          <a:xfrm>
            <a:off x="5508625" y="3933825"/>
            <a:ext cx="1944688" cy="504825"/>
          </a:xfrm>
          <a:prstGeom prst="wedgeRoundRectCallout">
            <a:avLst>
              <a:gd name="adj1" fmla="val -119958"/>
              <a:gd name="adj2" fmla="val 28301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/>
          <a:p>
            <a:pPr algn="ctr" eaLnBrk="1" hangingPunct="1"/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幅频特性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1271588" y="3467100"/>
            <a:ext cx="6181725" cy="2998788"/>
            <a:chOff x="801" y="2184"/>
            <a:chExt cx="3894" cy="1889"/>
          </a:xfrm>
        </p:grpSpPr>
        <p:grpSp>
          <p:nvGrpSpPr>
            <p:cNvPr id="57366" name="Group 17"/>
            <p:cNvGrpSpPr/>
            <p:nvPr/>
          </p:nvGrpSpPr>
          <p:grpSpPr>
            <a:xfrm>
              <a:off x="801" y="2184"/>
              <a:ext cx="3808" cy="1889"/>
              <a:chOff x="574" y="2115"/>
              <a:chExt cx="3808" cy="1889"/>
            </a:xfrm>
          </p:grpSpPr>
          <p:sp>
            <p:nvSpPr>
              <p:cNvPr id="57369" name="Line 18"/>
              <p:cNvSpPr/>
              <p:nvPr/>
            </p:nvSpPr>
            <p:spPr>
              <a:xfrm>
                <a:off x="1066" y="3702"/>
                <a:ext cx="3039" cy="0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7370" name="Line 19"/>
              <p:cNvSpPr/>
              <p:nvPr/>
            </p:nvSpPr>
            <p:spPr>
              <a:xfrm flipV="1">
                <a:off x="1066" y="2115"/>
                <a:ext cx="0" cy="1587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headEnd type="none" w="med" len="med"/>
                <a:tailEnd type="triangle" w="med" len="med"/>
              </a:ln>
            </p:spPr>
          </p:sp>
          <p:graphicFrame>
            <p:nvGraphicFramePr>
              <p:cNvPr id="57371" name="Object 20"/>
              <p:cNvGraphicFramePr>
                <a:graphicFrameLocks noChangeAspect="1"/>
              </p:cNvGraphicFramePr>
              <p:nvPr/>
            </p:nvGraphicFramePr>
            <p:xfrm>
              <a:off x="577" y="2243"/>
              <a:ext cx="491" cy="3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03" name="" r:id="rId9" imgW="302895" imgH="225425" progId="Equation.3">
                      <p:embed/>
                    </p:oleObj>
                  </mc:Choice>
                  <mc:Fallback>
                    <p:oleObj name="" r:id="rId9" imgW="302895" imgH="225425" progId="Equation.3">
                      <p:embed/>
                      <p:pic>
                        <p:nvPicPr>
                          <p:cNvPr id="0" name="图片 3302"/>
                          <p:cNvPicPr/>
                          <p:nvPr/>
                        </p:nvPicPr>
                        <p:blipFill>
                          <a:blip r:embed="rId10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577" y="2243"/>
                            <a:ext cx="491" cy="36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7372" name="Object 21"/>
              <p:cNvGraphicFramePr>
                <a:graphicFrameLocks noChangeAspect="1"/>
              </p:cNvGraphicFramePr>
              <p:nvPr/>
            </p:nvGraphicFramePr>
            <p:xfrm>
              <a:off x="4042" y="3604"/>
              <a:ext cx="340" cy="1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99" name="" r:id="rId11" imgW="212725" imgH="128905" progId="Equation.3">
                      <p:embed/>
                    </p:oleObj>
                  </mc:Choice>
                  <mc:Fallback>
                    <p:oleObj name="" r:id="rId11" imgW="212725" imgH="128905" progId="Equation.3">
                      <p:embed/>
                      <p:pic>
                        <p:nvPicPr>
                          <p:cNvPr id="0" name="图片 3298"/>
                          <p:cNvPicPr/>
                          <p:nvPr/>
                        </p:nvPicPr>
                        <p:blipFill>
                          <a:blip r:embed="rId12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042" y="3604"/>
                            <a:ext cx="340" cy="1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7373" name="Freeform 22"/>
              <p:cNvSpPr/>
              <p:nvPr/>
            </p:nvSpPr>
            <p:spPr>
              <a:xfrm>
                <a:off x="1061" y="2450"/>
                <a:ext cx="2002" cy="1052"/>
              </a:xfrm>
              <a:custGeom>
                <a:avLst/>
                <a:gdLst>
                  <a:gd name="txL" fmla="*/ 0 w 2002"/>
                  <a:gd name="txT" fmla="*/ 0 h 1052"/>
                  <a:gd name="txR" fmla="*/ 2002 w 2002"/>
                  <a:gd name="txB" fmla="*/ 1052 h 1052"/>
                </a:gdLst>
                <a:ahLst/>
                <a:cxnLst>
                  <a:cxn ang="0">
                    <a:pos x="0" y="0"/>
                  </a:cxn>
                  <a:cxn ang="0">
                    <a:pos x="822" y="37"/>
                  </a:cxn>
                  <a:cxn ang="0">
                    <a:pos x="886" y="46"/>
                  </a:cxn>
                  <a:cxn ang="0">
                    <a:pos x="1133" y="55"/>
                  </a:cxn>
                  <a:cxn ang="0">
                    <a:pos x="1216" y="83"/>
                  </a:cxn>
                  <a:cxn ang="0">
                    <a:pos x="1243" y="92"/>
                  </a:cxn>
                  <a:cxn ang="0">
                    <a:pos x="1508" y="384"/>
                  </a:cxn>
                  <a:cxn ang="0">
                    <a:pos x="1517" y="430"/>
                  </a:cxn>
                  <a:cxn ang="0">
                    <a:pos x="1536" y="448"/>
                  </a:cxn>
                  <a:cxn ang="0">
                    <a:pos x="1627" y="585"/>
                  </a:cxn>
                  <a:cxn ang="0">
                    <a:pos x="1819" y="869"/>
                  </a:cxn>
                  <a:cxn ang="0">
                    <a:pos x="1938" y="979"/>
                  </a:cxn>
                  <a:cxn ang="0">
                    <a:pos x="2002" y="1052"/>
                  </a:cxn>
                </a:cxnLst>
                <a:rect l="txL" t="txT" r="txR" b="txB"/>
                <a:pathLst>
                  <a:path w="2002" h="1052">
                    <a:moveTo>
                      <a:pt x="0" y="0"/>
                    </a:moveTo>
                    <a:cubicBezTo>
                      <a:pt x="276" y="23"/>
                      <a:pt x="542" y="32"/>
                      <a:pt x="822" y="37"/>
                    </a:cubicBezTo>
                    <a:cubicBezTo>
                      <a:pt x="843" y="40"/>
                      <a:pt x="864" y="45"/>
                      <a:pt x="886" y="46"/>
                    </a:cubicBezTo>
                    <a:cubicBezTo>
                      <a:pt x="968" y="51"/>
                      <a:pt x="1051" y="48"/>
                      <a:pt x="1133" y="55"/>
                    </a:cubicBezTo>
                    <a:cubicBezTo>
                      <a:pt x="1142" y="56"/>
                      <a:pt x="1198" y="77"/>
                      <a:pt x="1216" y="83"/>
                    </a:cubicBezTo>
                    <a:cubicBezTo>
                      <a:pt x="1225" y="86"/>
                      <a:pt x="1243" y="92"/>
                      <a:pt x="1243" y="92"/>
                    </a:cubicBezTo>
                    <a:cubicBezTo>
                      <a:pt x="1337" y="184"/>
                      <a:pt x="1415" y="291"/>
                      <a:pt x="1508" y="384"/>
                    </a:cubicBezTo>
                    <a:cubicBezTo>
                      <a:pt x="1511" y="399"/>
                      <a:pt x="1511" y="416"/>
                      <a:pt x="1517" y="430"/>
                    </a:cubicBezTo>
                    <a:cubicBezTo>
                      <a:pt x="1520" y="438"/>
                      <a:pt x="1531" y="441"/>
                      <a:pt x="1536" y="448"/>
                    </a:cubicBezTo>
                    <a:cubicBezTo>
                      <a:pt x="1568" y="491"/>
                      <a:pt x="1597" y="540"/>
                      <a:pt x="1627" y="585"/>
                    </a:cubicBezTo>
                    <a:cubicBezTo>
                      <a:pt x="1690" y="681"/>
                      <a:pt x="1745" y="783"/>
                      <a:pt x="1819" y="869"/>
                    </a:cubicBezTo>
                    <a:cubicBezTo>
                      <a:pt x="1856" y="912"/>
                      <a:pt x="1901" y="940"/>
                      <a:pt x="1938" y="979"/>
                    </a:cubicBezTo>
                    <a:cubicBezTo>
                      <a:pt x="1950" y="1016"/>
                      <a:pt x="1975" y="1025"/>
                      <a:pt x="2002" y="1052"/>
                    </a:cubicBezTo>
                  </a:path>
                </a:pathLst>
              </a:custGeom>
              <a:noFill/>
              <a:ln w="28575" cap="flat" cmpd="sng">
                <a:solidFill>
                  <a:srgbClr val="FF33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7374" name="Line 23"/>
              <p:cNvSpPr/>
              <p:nvPr/>
            </p:nvSpPr>
            <p:spPr>
              <a:xfrm>
                <a:off x="1066" y="2840"/>
                <a:ext cx="1496" cy="0"/>
              </a:xfrm>
              <a:prstGeom prst="line">
                <a:avLst/>
              </a:prstGeom>
              <a:ln w="9525" cap="flat" cmpd="sng">
                <a:solidFill>
                  <a:srgbClr val="FFFF66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57375" name="Line 24"/>
              <p:cNvSpPr/>
              <p:nvPr/>
            </p:nvSpPr>
            <p:spPr>
              <a:xfrm>
                <a:off x="2562" y="2840"/>
                <a:ext cx="0" cy="862"/>
              </a:xfrm>
              <a:prstGeom prst="line">
                <a:avLst/>
              </a:prstGeom>
              <a:ln w="9525" cap="flat" cmpd="sng">
                <a:solidFill>
                  <a:srgbClr val="FFFF66"/>
                </a:solidFill>
                <a:prstDash val="dash"/>
                <a:headEnd type="none" w="med" len="med"/>
                <a:tailEnd type="none" w="med" len="med"/>
              </a:ln>
            </p:spPr>
          </p:sp>
          <p:graphicFrame>
            <p:nvGraphicFramePr>
              <p:cNvPr id="57376" name="Object 25"/>
              <p:cNvGraphicFramePr>
                <a:graphicFrameLocks noChangeAspect="1"/>
              </p:cNvGraphicFramePr>
              <p:nvPr/>
            </p:nvGraphicFramePr>
            <p:xfrm>
              <a:off x="2373" y="3694"/>
              <a:ext cx="340" cy="3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00" name="" r:id="rId13" imgW="212725" imgH="206375" progId="Equation.3">
                      <p:embed/>
                    </p:oleObj>
                  </mc:Choice>
                  <mc:Fallback>
                    <p:oleObj name="" r:id="rId13" imgW="212725" imgH="206375" progId="Equation.3">
                      <p:embed/>
                      <p:pic>
                        <p:nvPicPr>
                          <p:cNvPr id="0" name="图片 3299"/>
                          <p:cNvPicPr/>
                          <p:nvPr/>
                        </p:nvPicPr>
                        <p:blipFill>
                          <a:blip r:embed="rId14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373" y="3694"/>
                            <a:ext cx="340" cy="31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7377" name="Object 26"/>
              <p:cNvGraphicFramePr>
                <a:graphicFrameLocks noChangeAspect="1"/>
              </p:cNvGraphicFramePr>
              <p:nvPr/>
            </p:nvGraphicFramePr>
            <p:xfrm>
              <a:off x="574" y="2592"/>
              <a:ext cx="474" cy="5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01" name="" r:id="rId15" imgW="334645" imgH="418465" progId="Equation.3">
                      <p:embed/>
                    </p:oleObj>
                  </mc:Choice>
                  <mc:Fallback>
                    <p:oleObj name="" r:id="rId15" imgW="334645" imgH="418465" progId="Equation.3">
                      <p:embed/>
                      <p:pic>
                        <p:nvPicPr>
                          <p:cNvPr id="0" name="图片 3300"/>
                          <p:cNvPicPr/>
                          <p:nvPr/>
                        </p:nvPicPr>
                        <p:blipFill>
                          <a:blip r:embed="rId16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574" y="2592"/>
                            <a:ext cx="474" cy="59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7367" name="AutoShape 27"/>
            <p:cNvSpPr/>
            <p:nvPr/>
          </p:nvSpPr>
          <p:spPr>
            <a:xfrm>
              <a:off x="3470" y="3272"/>
              <a:ext cx="1225" cy="318"/>
            </a:xfrm>
            <a:prstGeom prst="wedgeRoundRectCallout">
              <a:avLst>
                <a:gd name="adj1" fmla="val -98162"/>
                <a:gd name="adj2" fmla="val 153773"/>
                <a:gd name="adj3" fmla="val 16667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/>
            <a:p>
              <a:pPr algn="ctr" eaLnBrk="1" hangingPunct="1"/>
              <a:r>
                <a:rPr lang="zh-CN" altLang="en-US" sz="2800" dirty="0">
                  <a:solidFill>
                    <a:schemeClr val="tx1"/>
                  </a:solidFill>
                  <a:latin typeface="Arial" panose="020B0604020202020204" pitchFamily="34" charset="0"/>
                </a:rPr>
                <a:t>截止频率</a:t>
              </a:r>
              <a:endParaRPr lang="zh-CN" altLang="en-US" sz="2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7368" name="Text Box 28"/>
            <p:cNvSpPr txBox="1"/>
            <p:nvPr/>
          </p:nvSpPr>
          <p:spPr>
            <a:xfrm>
              <a:off x="1066" y="3612"/>
              <a:ext cx="2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0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O</a:t>
              </a:r>
              <a:endParaRPr lang="en-US" altLang="zh-CN" sz="2000" b="0" i="1" dirty="0">
                <a:solidFill>
                  <a:schemeClr val="bg1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grpSp>
        <p:nvGrpSpPr>
          <p:cNvPr id="57354" name="Group 29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7364" name="Picture 30" descr="78900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365" name="Text Box 31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7355" name="Group 32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57362" name="Picture 33" descr="78900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363" name="Text Box 34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6" name="Group 42"/>
          <p:cNvGrpSpPr/>
          <p:nvPr/>
        </p:nvGrpSpPr>
        <p:grpSpPr>
          <a:xfrm>
            <a:off x="827088" y="1844675"/>
            <a:ext cx="1728787" cy="519113"/>
            <a:chOff x="3969" y="663"/>
            <a:chExt cx="1043" cy="327"/>
          </a:xfrm>
        </p:grpSpPr>
        <p:sp>
          <p:nvSpPr>
            <p:cNvPr id="57360" name="Text Box 39"/>
            <p:cNvSpPr txBox="1"/>
            <p:nvPr/>
          </p:nvSpPr>
          <p:spPr>
            <a:xfrm>
              <a:off x="3969" y="663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当</a:t>
              </a:r>
              <a:endParaRPr lang="zh-CN" altLang="en-US" sz="2800" dirty="0">
                <a:solidFill>
                  <a:schemeClr val="bg1"/>
                </a:solidFill>
                <a:latin typeface="Batang" pitchFamily="18" charset="-127"/>
                <a:ea typeface="Batang" pitchFamily="18" charset="-127"/>
              </a:endParaRPr>
            </a:p>
          </p:txBody>
        </p:sp>
        <p:graphicFrame>
          <p:nvGraphicFramePr>
            <p:cNvPr id="57361" name="Object 41"/>
            <p:cNvGraphicFramePr>
              <a:graphicFrameLocks noChangeAspect="1"/>
            </p:cNvGraphicFramePr>
            <p:nvPr/>
          </p:nvGraphicFramePr>
          <p:xfrm>
            <a:off x="4241" y="709"/>
            <a:ext cx="771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4" name="" r:id="rId18" imgW="431165" imgH="147955" progId="Equation.DSMT4">
                    <p:embed/>
                  </p:oleObj>
                </mc:Choice>
                <mc:Fallback>
                  <p:oleObj name="" r:id="rId18" imgW="431165" imgH="147955" progId="Equation.DSMT4">
                    <p:embed/>
                    <p:pic>
                      <p:nvPicPr>
                        <p:cNvPr id="0" name="图片 3303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41" y="709"/>
                          <a:ext cx="771" cy="2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357" name="Group 43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57358" name="Picture 44" descr="78900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7359" name="Text Box 45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8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8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1000"/>
                                        <p:tgtEl>
                                          <p:spTgt spid="8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1000"/>
                                        <p:tgtEl>
                                          <p:spTgt spid="8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1000"/>
                                        <p:tgtEl>
                                          <p:spTgt spid="8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1000"/>
                                        <p:tgtEl>
                                          <p:spTgt spid="8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0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Text Box 2"/>
          <p:cNvSpPr txBox="1"/>
          <p:nvPr/>
        </p:nvSpPr>
        <p:spPr>
          <a:xfrm>
            <a:off x="323850" y="549275"/>
            <a:ext cx="1439863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6-3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7" name="Rectangle 3"/>
          <p:cNvSpPr/>
          <p:nvPr/>
        </p:nvSpPr>
        <p:spPr>
          <a:xfrm>
            <a:off x="1476375" y="620713"/>
            <a:ext cx="76676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激励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</a:rPr>
              <a:t>包含两个频率</a:t>
            </a:r>
            <a:r>
              <a:rPr lang="en-US" altLang="zh-CN" sz="28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分量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28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8" name="Rectangle 4"/>
          <p:cNvSpPr/>
          <p:nvPr/>
        </p:nvSpPr>
        <p:spPr>
          <a:xfrm>
            <a:off x="1116013" y="1844675"/>
            <a:ext cx="741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要求响应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</a:rPr>
              <a:t>只含有</a:t>
            </a:r>
            <a:r>
              <a:rPr lang="en-US" altLang="zh-CN" sz="28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频率电压。</a:t>
            </a:r>
            <a:r>
              <a:rPr lang="zh-CN" altLang="en-US" sz="2800" dirty="0">
                <a:latin typeface="Arial" panose="020B0604020202020204" pitchFamily="34" charset="0"/>
              </a:rPr>
              <a:t>如何实现</a:t>
            </a:r>
            <a:r>
              <a:rPr lang="zh-CN" altLang="en-US" sz="2800" dirty="0">
                <a:latin typeface="Arial" panose="020B0604020202020204" pitchFamily="34" charset="0"/>
                <a:ea typeface="仿宋_GB2312" pitchFamily="49" charset="-122"/>
              </a:rPr>
              <a:t>？</a:t>
            </a:r>
            <a:endParaRPr lang="zh-CN" altLang="en-US" sz="2800" dirty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41989" name="Text Box 5"/>
          <p:cNvSpPr txBox="1"/>
          <p:nvPr/>
        </p:nvSpPr>
        <p:spPr>
          <a:xfrm>
            <a:off x="1908175" y="1125538"/>
            <a:ext cx="3767138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=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)+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38"/>
          <p:cNvGrpSpPr/>
          <p:nvPr/>
        </p:nvGrpSpPr>
        <p:grpSpPr>
          <a:xfrm>
            <a:off x="2124075" y="2708275"/>
            <a:ext cx="3981450" cy="1346200"/>
            <a:chOff x="1338" y="2400"/>
            <a:chExt cx="2508" cy="848"/>
          </a:xfrm>
        </p:grpSpPr>
        <p:sp>
          <p:nvSpPr>
            <p:cNvPr id="58386" name="Rectangle 10"/>
            <p:cNvSpPr/>
            <p:nvPr/>
          </p:nvSpPr>
          <p:spPr>
            <a:xfrm>
              <a:off x="2130" y="2432"/>
              <a:ext cx="576" cy="816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65E00"/>
                </a:gs>
              </a:gsLst>
              <a:path path="shape">
                <a:fillToRect l="50000" t="50000" r="50000" b="50000"/>
              </a:path>
              <a:tileRect/>
            </a:gradFill>
            <a:ln w="2857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8387" name="Line 11"/>
            <p:cNvSpPr/>
            <p:nvPr/>
          </p:nvSpPr>
          <p:spPr>
            <a:xfrm>
              <a:off x="2706" y="2552"/>
              <a:ext cx="52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8" name="Line 12"/>
            <p:cNvSpPr/>
            <p:nvPr/>
          </p:nvSpPr>
          <p:spPr>
            <a:xfrm>
              <a:off x="2706" y="3116"/>
              <a:ext cx="52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89" name="Line 13"/>
            <p:cNvSpPr/>
            <p:nvPr/>
          </p:nvSpPr>
          <p:spPr>
            <a:xfrm>
              <a:off x="3234" y="2552"/>
              <a:ext cx="0" cy="56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90" name="Rectangle 14"/>
            <p:cNvSpPr/>
            <p:nvPr/>
          </p:nvSpPr>
          <p:spPr>
            <a:xfrm>
              <a:off x="3152" y="2659"/>
              <a:ext cx="136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anchor="ctr" anchorCtr="0">
              <a:spAutoFit/>
            </a:bodyPr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8391" name="Line 15"/>
            <p:cNvSpPr/>
            <p:nvPr/>
          </p:nvSpPr>
          <p:spPr>
            <a:xfrm>
              <a:off x="1602" y="2576"/>
              <a:ext cx="52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92" name="Line 16"/>
            <p:cNvSpPr/>
            <p:nvPr/>
          </p:nvSpPr>
          <p:spPr>
            <a:xfrm>
              <a:off x="1602" y="3104"/>
              <a:ext cx="52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93" name="Text Box 17"/>
            <p:cNvSpPr txBox="1"/>
            <p:nvPr/>
          </p:nvSpPr>
          <p:spPr>
            <a:xfrm>
              <a:off x="1362" y="2400"/>
              <a:ext cx="24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394" name="Text Box 18"/>
            <p:cNvSpPr txBox="1"/>
            <p:nvPr/>
          </p:nvSpPr>
          <p:spPr>
            <a:xfrm>
              <a:off x="1364" y="2822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395" name="Text Box 19"/>
            <p:cNvSpPr txBox="1"/>
            <p:nvPr/>
          </p:nvSpPr>
          <p:spPr>
            <a:xfrm>
              <a:off x="1338" y="2640"/>
              <a:ext cx="5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396" name="Text Box 20"/>
            <p:cNvSpPr txBox="1"/>
            <p:nvPr/>
          </p:nvSpPr>
          <p:spPr>
            <a:xfrm>
              <a:off x="3330" y="2640"/>
              <a:ext cx="5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8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8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8397" name="Oval 21"/>
            <p:cNvSpPr/>
            <p:nvPr/>
          </p:nvSpPr>
          <p:spPr>
            <a:xfrm>
              <a:off x="1564" y="3074"/>
              <a:ext cx="45" cy="45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8398" name="Oval 22"/>
            <p:cNvSpPr/>
            <p:nvPr/>
          </p:nvSpPr>
          <p:spPr>
            <a:xfrm>
              <a:off x="1551" y="2552"/>
              <a:ext cx="45" cy="45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2007" name="Text Box 23"/>
          <p:cNvSpPr txBox="1"/>
          <p:nvPr/>
        </p:nvSpPr>
        <p:spPr>
          <a:xfrm>
            <a:off x="1476375" y="4278313"/>
            <a:ext cx="4113213" cy="519112"/>
          </a:xfrm>
          <a:prstGeom prst="rect">
            <a:avLst/>
          </a:prstGeom>
          <a:noFill/>
          <a:ln w="19050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设计下列滤波电路实现：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42008" name="Text Box 24"/>
          <p:cNvSpPr txBox="1"/>
          <p:nvPr/>
        </p:nvSpPr>
        <p:spPr>
          <a:xfrm>
            <a:off x="755650" y="4292600"/>
            <a:ext cx="542925" cy="519113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8377" name="Group 75"/>
          <p:cNvGrpSpPr/>
          <p:nvPr/>
        </p:nvGrpSpPr>
        <p:grpSpPr>
          <a:xfrm>
            <a:off x="8316913" y="6446838"/>
            <a:ext cx="792162" cy="366712"/>
            <a:chOff x="5193" y="4020"/>
            <a:chExt cx="499" cy="231"/>
          </a:xfrm>
        </p:grpSpPr>
        <p:pic>
          <p:nvPicPr>
            <p:cNvPr id="58384" name="Picture 76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193" y="4066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8385" name="Text Box 77">
              <a:hlinkClick r:id="" action="ppaction://hlinkshowjump?jump=nextslide"/>
            </p:cNvPr>
            <p:cNvSpPr txBox="1"/>
            <p:nvPr/>
          </p:nvSpPr>
          <p:spPr>
            <a:xfrm>
              <a:off x="5216" y="4020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下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8378" name="Group 78"/>
          <p:cNvGrpSpPr/>
          <p:nvPr/>
        </p:nvGrpSpPr>
        <p:grpSpPr>
          <a:xfrm>
            <a:off x="7453313" y="6446838"/>
            <a:ext cx="792162" cy="366712"/>
            <a:chOff x="4695" y="4061"/>
            <a:chExt cx="499" cy="231"/>
          </a:xfrm>
        </p:grpSpPr>
        <p:pic>
          <p:nvPicPr>
            <p:cNvPr id="58382" name="Picture 79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8383" name="Text Box 80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8379" name="Group 84"/>
          <p:cNvGrpSpPr/>
          <p:nvPr/>
        </p:nvGrpSpPr>
        <p:grpSpPr>
          <a:xfrm>
            <a:off x="6588125" y="6446838"/>
            <a:ext cx="792163" cy="366712"/>
            <a:chOff x="4695" y="4061"/>
            <a:chExt cx="499" cy="231"/>
          </a:xfrm>
        </p:grpSpPr>
        <p:pic>
          <p:nvPicPr>
            <p:cNvPr id="58380" name="Picture 85" descr="7890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8381" name="Text Box 86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2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2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2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2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4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/>
      <p:bldP spid="41987" grpId="0"/>
      <p:bldP spid="41988" grpId="0"/>
      <p:bldP spid="41989" grpId="0"/>
      <p:bldP spid="42007" grpId="0"/>
      <p:bldP spid="4200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0962" name="Object 2"/>
          <p:cNvGraphicFramePr>
            <a:graphicFrameLocks noChangeAspect="1"/>
          </p:cNvGraphicFramePr>
          <p:nvPr/>
        </p:nvGraphicFramePr>
        <p:xfrm>
          <a:off x="1042988" y="333375"/>
          <a:ext cx="1792287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" name="" r:id="rId1" imgW="727710" imgH="386080" progId="Equation.3">
                  <p:embed/>
                </p:oleObj>
              </mc:Choice>
              <mc:Fallback>
                <p:oleObj name="" r:id="rId1" imgW="727710" imgH="386080" progId="Equation.3">
                  <p:embed/>
                  <p:pic>
                    <p:nvPicPr>
                      <p:cNvPr id="0" name="图片 330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333375"/>
                        <a:ext cx="1792287" cy="946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" name="Object 3"/>
          <p:cNvGraphicFramePr>
            <a:graphicFrameLocks noChangeAspect="1"/>
          </p:cNvGraphicFramePr>
          <p:nvPr/>
        </p:nvGraphicFramePr>
        <p:xfrm>
          <a:off x="1042988" y="1773238"/>
          <a:ext cx="2659062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" name="" r:id="rId3" imgW="1113790" imgH="386080" progId="Equation.3">
                  <p:embed/>
                </p:oleObj>
              </mc:Choice>
              <mc:Fallback>
                <p:oleObj name="" r:id="rId3" imgW="1113790" imgH="386080" progId="Equation.3">
                  <p:embed/>
                  <p:pic>
                    <p:nvPicPr>
                      <p:cNvPr id="0" name="图片 330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1773238"/>
                        <a:ext cx="2659062" cy="915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" name="Text Box 4"/>
          <p:cNvSpPr txBox="1"/>
          <p:nvPr/>
        </p:nvSpPr>
        <p:spPr>
          <a:xfrm>
            <a:off x="971550" y="1268413"/>
            <a:ext cx="31686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并联谐振，开路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65" name="Text Box 5"/>
          <p:cNvSpPr txBox="1"/>
          <p:nvPr/>
        </p:nvSpPr>
        <p:spPr>
          <a:xfrm>
            <a:off x="971550" y="2708275"/>
            <a:ext cx="31686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串联谐振，短路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66" name="Text Box 6"/>
          <p:cNvSpPr txBox="1"/>
          <p:nvPr/>
        </p:nvSpPr>
        <p:spPr>
          <a:xfrm>
            <a:off x="827088" y="3284538"/>
            <a:ext cx="49561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0" i="1" dirty="0"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lang="en-US" altLang="zh-CN" sz="2800" b="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</a:rPr>
              <a:t>信号短路直接加到负载上。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40967" name="Text Box 7"/>
          <p:cNvSpPr txBox="1"/>
          <p:nvPr/>
        </p:nvSpPr>
        <p:spPr>
          <a:xfrm>
            <a:off x="900113" y="3860800"/>
            <a:ext cx="63531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该电路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&gt;</a:t>
            </a:r>
            <a:r>
              <a:rPr lang="en-US" altLang="zh-CN" sz="2800" b="0" i="1" dirty="0">
                <a:solidFill>
                  <a:schemeClr val="bg1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w</a:t>
            </a:r>
            <a:r>
              <a:rPr lang="en-US" altLang="zh-CN" sz="28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滤去高频，得到低频。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54" name="Rectangle 94"/>
          <p:cNvSpPr/>
          <p:nvPr/>
        </p:nvSpPr>
        <p:spPr>
          <a:xfrm>
            <a:off x="900113" y="4724400"/>
            <a:ext cx="7416800" cy="1117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2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滤波器利用谐振电路的频率特性，只允许谐振频率邻域内的信号通过。 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95"/>
          <p:cNvGrpSpPr/>
          <p:nvPr/>
        </p:nvGrpSpPr>
        <p:grpSpPr>
          <a:xfrm>
            <a:off x="250825" y="4581525"/>
            <a:ext cx="1847850" cy="850900"/>
            <a:chOff x="385" y="3022"/>
            <a:chExt cx="1164" cy="536"/>
          </a:xfrm>
        </p:grpSpPr>
        <p:pic>
          <p:nvPicPr>
            <p:cNvPr id="59445" name="Picture 96" descr="12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446" name="Text Box 97"/>
            <p:cNvSpPr txBox="1"/>
            <p:nvPr/>
          </p:nvSpPr>
          <p:spPr>
            <a:xfrm>
              <a:off x="793" y="3116"/>
              <a:ext cx="75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b="0" dirty="0">
                  <a:solidFill>
                    <a:srgbClr val="FA7748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注意  </a:t>
              </a:r>
              <a:endParaRPr lang="zh-CN" altLang="en-US" b="0" dirty="0">
                <a:solidFill>
                  <a:srgbClr val="FA7748"/>
                </a:solidFill>
                <a:latin typeface="Times New Roman" panose="02020603050405020304" pitchFamily="18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59402" name="Group 101"/>
          <p:cNvGrpSpPr/>
          <p:nvPr/>
        </p:nvGrpSpPr>
        <p:grpSpPr>
          <a:xfrm>
            <a:off x="8316913" y="6446838"/>
            <a:ext cx="792162" cy="366712"/>
            <a:chOff x="4695" y="4061"/>
            <a:chExt cx="499" cy="231"/>
          </a:xfrm>
        </p:grpSpPr>
        <p:pic>
          <p:nvPicPr>
            <p:cNvPr id="59443" name="Picture 102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444" name="Text Box 103">
              <a:hlinkClick r:id="" action="ppaction://hlinkshowjump?jump=previous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上 页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9403" name="Group 107"/>
          <p:cNvGrpSpPr/>
          <p:nvPr/>
        </p:nvGrpSpPr>
        <p:grpSpPr>
          <a:xfrm>
            <a:off x="7451725" y="6446838"/>
            <a:ext cx="792163" cy="366712"/>
            <a:chOff x="4695" y="4061"/>
            <a:chExt cx="499" cy="231"/>
          </a:xfrm>
        </p:grpSpPr>
        <p:pic>
          <p:nvPicPr>
            <p:cNvPr id="59441" name="Picture 108" descr="789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95" y="4107"/>
              <a:ext cx="499" cy="18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9442" name="Text Box 109">
              <a:hlinkClick r:id="" action="ppaction://hlinkshowjump?jump=firstslide"/>
            </p:cNvPr>
            <p:cNvSpPr txBox="1"/>
            <p:nvPr/>
          </p:nvSpPr>
          <p:spPr>
            <a:xfrm>
              <a:off x="4718" y="4061"/>
              <a:ext cx="4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1800" b="0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返 回</a:t>
              </a:r>
              <a:endParaRPr lang="zh-CN" altLang="en-US" sz="1800" b="0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grpSp>
        <p:nvGrpSpPr>
          <p:cNvPr id="59404" name="Group 115"/>
          <p:cNvGrpSpPr/>
          <p:nvPr/>
        </p:nvGrpSpPr>
        <p:grpSpPr>
          <a:xfrm>
            <a:off x="4643438" y="765175"/>
            <a:ext cx="3965575" cy="2263775"/>
            <a:chOff x="2880" y="210"/>
            <a:chExt cx="2498" cy="1426"/>
          </a:xfrm>
        </p:grpSpPr>
        <p:sp>
          <p:nvSpPr>
            <p:cNvPr id="59405" name="Oval 59"/>
            <p:cNvSpPr/>
            <p:nvPr/>
          </p:nvSpPr>
          <p:spPr>
            <a:xfrm>
              <a:off x="2880" y="982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zh-CN" altLang="zh-CN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59406" name="Line 64"/>
            <p:cNvSpPr/>
            <p:nvPr/>
          </p:nvSpPr>
          <p:spPr>
            <a:xfrm>
              <a:off x="4422" y="609"/>
              <a:ext cx="13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07" name="Line 65"/>
            <p:cNvSpPr/>
            <p:nvPr/>
          </p:nvSpPr>
          <p:spPr>
            <a:xfrm flipH="1">
              <a:off x="3802" y="592"/>
              <a:ext cx="20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08" name="Line 66"/>
            <p:cNvSpPr/>
            <p:nvPr/>
          </p:nvSpPr>
          <p:spPr>
            <a:xfrm>
              <a:off x="4223" y="928"/>
              <a:ext cx="34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09" name="Line 67"/>
            <p:cNvSpPr/>
            <p:nvPr/>
          </p:nvSpPr>
          <p:spPr>
            <a:xfrm>
              <a:off x="4567" y="609"/>
              <a:ext cx="0" cy="3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10" name="Line 68"/>
            <p:cNvSpPr/>
            <p:nvPr/>
          </p:nvSpPr>
          <p:spPr>
            <a:xfrm flipH="1">
              <a:off x="3802" y="928"/>
              <a:ext cx="32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11" name="Line 69"/>
            <p:cNvSpPr/>
            <p:nvPr/>
          </p:nvSpPr>
          <p:spPr>
            <a:xfrm>
              <a:off x="3802" y="592"/>
              <a:ext cx="0" cy="33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12" name="Line 70"/>
            <p:cNvSpPr/>
            <p:nvPr/>
          </p:nvSpPr>
          <p:spPr>
            <a:xfrm>
              <a:off x="4570" y="772"/>
              <a:ext cx="2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9413" name="Line 71"/>
            <p:cNvSpPr/>
            <p:nvPr/>
          </p:nvSpPr>
          <p:spPr>
            <a:xfrm>
              <a:off x="3511" y="772"/>
              <a:ext cx="28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59414" name="Line 72"/>
            <p:cNvSpPr/>
            <p:nvPr/>
          </p:nvSpPr>
          <p:spPr>
            <a:xfrm>
              <a:off x="4858" y="772"/>
              <a:ext cx="0" cy="86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15" name="Line 73"/>
            <p:cNvSpPr/>
            <p:nvPr/>
          </p:nvSpPr>
          <p:spPr>
            <a:xfrm>
              <a:off x="3082" y="772"/>
              <a:ext cx="0" cy="86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16" name="Line 74"/>
            <p:cNvSpPr/>
            <p:nvPr/>
          </p:nvSpPr>
          <p:spPr>
            <a:xfrm>
              <a:off x="3082" y="1636"/>
              <a:ext cx="177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17" name="Text Box 75"/>
            <p:cNvSpPr txBox="1"/>
            <p:nvPr/>
          </p:nvSpPr>
          <p:spPr>
            <a:xfrm>
              <a:off x="4042" y="1012"/>
              <a:ext cx="244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18" name="Text Box 76"/>
            <p:cNvSpPr txBox="1"/>
            <p:nvPr/>
          </p:nvSpPr>
          <p:spPr>
            <a:xfrm>
              <a:off x="4558" y="1040"/>
              <a:ext cx="253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8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8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19" name="Text Box 77"/>
            <p:cNvSpPr txBox="1"/>
            <p:nvPr/>
          </p:nvSpPr>
          <p:spPr>
            <a:xfrm>
              <a:off x="4042" y="1012"/>
              <a:ext cx="308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4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20" name="Line 78"/>
            <p:cNvSpPr/>
            <p:nvPr/>
          </p:nvSpPr>
          <p:spPr>
            <a:xfrm>
              <a:off x="3082" y="772"/>
              <a:ext cx="32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9421" name="Text Box 79"/>
            <p:cNvSpPr txBox="1"/>
            <p:nvPr/>
          </p:nvSpPr>
          <p:spPr>
            <a:xfrm>
              <a:off x="3298" y="346"/>
              <a:ext cx="308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4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22" name="Text Box 80"/>
            <p:cNvSpPr txBox="1"/>
            <p:nvPr/>
          </p:nvSpPr>
          <p:spPr>
            <a:xfrm>
              <a:off x="4104" y="210"/>
              <a:ext cx="287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sz="24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59423" name="Group 81"/>
            <p:cNvGrpSpPr/>
            <p:nvPr/>
          </p:nvGrpSpPr>
          <p:grpSpPr>
            <a:xfrm>
              <a:off x="3408" y="637"/>
              <a:ext cx="96" cy="257"/>
              <a:chOff x="866" y="705"/>
              <a:chExt cx="96" cy="257"/>
            </a:xfrm>
          </p:grpSpPr>
          <p:sp>
            <p:nvSpPr>
              <p:cNvPr id="59439" name="Line 82"/>
              <p:cNvSpPr/>
              <p:nvPr/>
            </p:nvSpPr>
            <p:spPr>
              <a:xfrm rot="-5400000">
                <a:off x="738" y="833"/>
                <a:ext cx="257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40" name="Line 83"/>
              <p:cNvSpPr/>
              <p:nvPr/>
            </p:nvSpPr>
            <p:spPr>
              <a:xfrm rot="5400000" flipH="1">
                <a:off x="833" y="833"/>
                <a:ext cx="257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9424" name="Text Box 84"/>
            <p:cNvSpPr txBox="1"/>
            <p:nvPr/>
          </p:nvSpPr>
          <p:spPr>
            <a:xfrm>
              <a:off x="2880" y="709"/>
              <a:ext cx="225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25" name="Text Box 85"/>
            <p:cNvSpPr txBox="1"/>
            <p:nvPr/>
          </p:nvSpPr>
          <p:spPr>
            <a:xfrm>
              <a:off x="2880" y="1254"/>
              <a:ext cx="212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26" name="Text Box 86"/>
            <p:cNvSpPr txBox="1"/>
            <p:nvPr/>
          </p:nvSpPr>
          <p:spPr>
            <a:xfrm>
              <a:off x="3225" y="1018"/>
              <a:ext cx="457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4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27" name="Text Box 87"/>
            <p:cNvSpPr txBox="1"/>
            <p:nvPr/>
          </p:nvSpPr>
          <p:spPr>
            <a:xfrm>
              <a:off x="4918" y="784"/>
              <a:ext cx="225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+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28" name="Text Box 88"/>
            <p:cNvSpPr txBox="1"/>
            <p:nvPr/>
          </p:nvSpPr>
          <p:spPr>
            <a:xfrm>
              <a:off x="4930" y="1325"/>
              <a:ext cx="212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_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429" name="Text Box 89"/>
            <p:cNvSpPr txBox="1"/>
            <p:nvPr/>
          </p:nvSpPr>
          <p:spPr>
            <a:xfrm>
              <a:off x="4921" y="1072"/>
              <a:ext cx="457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u</a:t>
              </a:r>
              <a:r>
                <a:rPr lang="en-US" altLang="zh-CN" sz="24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59430" name="Group 90"/>
            <p:cNvGrpSpPr/>
            <p:nvPr/>
          </p:nvGrpSpPr>
          <p:grpSpPr>
            <a:xfrm>
              <a:off x="4127" y="791"/>
              <a:ext cx="96" cy="257"/>
              <a:chOff x="866" y="705"/>
              <a:chExt cx="96" cy="257"/>
            </a:xfrm>
          </p:grpSpPr>
          <p:sp>
            <p:nvSpPr>
              <p:cNvPr id="59437" name="Line 91"/>
              <p:cNvSpPr/>
              <p:nvPr/>
            </p:nvSpPr>
            <p:spPr>
              <a:xfrm rot="-5400000">
                <a:off x="738" y="833"/>
                <a:ext cx="257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9438" name="Line 92"/>
              <p:cNvSpPr/>
              <p:nvPr/>
            </p:nvSpPr>
            <p:spPr>
              <a:xfrm rot="5400000" flipH="1">
                <a:off x="833" y="833"/>
                <a:ext cx="257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9431" name="Rectangle 93"/>
            <p:cNvSpPr/>
            <p:nvPr/>
          </p:nvSpPr>
          <p:spPr>
            <a:xfrm>
              <a:off x="4785" y="107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59432" name="Group 110"/>
            <p:cNvGrpSpPr/>
            <p:nvPr/>
          </p:nvGrpSpPr>
          <p:grpSpPr>
            <a:xfrm rot="5400000">
              <a:off x="4172" y="350"/>
              <a:ext cx="91" cy="408"/>
              <a:chOff x="1565" y="2614"/>
              <a:chExt cx="90" cy="486"/>
            </a:xfrm>
          </p:grpSpPr>
          <p:sp>
            <p:nvSpPr>
              <p:cNvPr id="59433" name="Arc 111"/>
              <p:cNvSpPr/>
              <p:nvPr/>
            </p:nvSpPr>
            <p:spPr>
              <a:xfrm flipH="1" flipV="1">
                <a:off x="1565" y="2860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9434" name="Arc 112"/>
              <p:cNvSpPr/>
              <p:nvPr/>
            </p:nvSpPr>
            <p:spPr>
              <a:xfrm flipH="1" flipV="1">
                <a:off x="1565" y="2737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9435" name="Arc 113"/>
              <p:cNvSpPr/>
              <p:nvPr/>
            </p:nvSpPr>
            <p:spPr>
              <a:xfrm flipH="1" flipV="1">
                <a:off x="1565" y="261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9436" name="Arc 114"/>
              <p:cNvSpPr/>
              <p:nvPr/>
            </p:nvSpPr>
            <p:spPr>
              <a:xfrm flipH="1" flipV="1">
                <a:off x="1565" y="2984"/>
                <a:ext cx="90" cy="116"/>
              </a:xfrm>
              <a:custGeom>
                <a:avLst/>
                <a:gdLst>
                  <a:gd name="txL" fmla="*/ 0 w 22723"/>
                  <a:gd name="txT" fmla="*/ 0 h 43200"/>
                  <a:gd name="txR" fmla="*/ 22723 w 22723"/>
                  <a:gd name="txB" fmla="*/ 43200 h 432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5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0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/>
      <p:bldP spid="40965" grpId="0"/>
      <p:bldP spid="40966" grpId="0"/>
      <p:bldP spid="40967" grpId="0"/>
      <p:bldP spid="41054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32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32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4834</Words>
  <Application>WPS 演示</Application>
  <PresentationFormat>全屏显示(4:3)</PresentationFormat>
  <Paragraphs>1393</Paragraphs>
  <Slides>56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269</vt:i4>
      </vt:variant>
      <vt:variant>
        <vt:lpstr>幻灯片标题</vt:lpstr>
      </vt:variant>
      <vt:variant>
        <vt:i4>56</vt:i4>
      </vt:variant>
    </vt:vector>
  </HeadingPairs>
  <TitlesOfParts>
    <vt:vector size="345" baseType="lpstr">
      <vt:lpstr>Arial</vt:lpstr>
      <vt:lpstr>宋体</vt:lpstr>
      <vt:lpstr>Wingdings</vt:lpstr>
      <vt:lpstr>Times New Roman</vt:lpstr>
      <vt:lpstr>楷体_GB2312</vt:lpstr>
      <vt:lpstr>新宋体</vt:lpstr>
      <vt:lpstr>等线</vt:lpstr>
      <vt:lpstr>隶书</vt:lpstr>
      <vt:lpstr>Wingdings 3</vt:lpstr>
      <vt:lpstr>华文行楷</vt:lpstr>
      <vt:lpstr>Wingdings 2</vt:lpstr>
      <vt:lpstr>Symbol</vt:lpstr>
      <vt:lpstr>仿宋_GB2312</vt:lpstr>
      <vt:lpstr>仿宋</vt:lpstr>
      <vt:lpstr>Batang</vt:lpstr>
      <vt:lpstr>Constantia</vt:lpstr>
      <vt:lpstr>微软雅黑</vt:lpstr>
      <vt:lpstr>Arial Unicode MS</vt:lpstr>
      <vt:lpstr>Calibri</vt:lpstr>
      <vt:lpstr>默认设计模板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Visio.Drawing.6</vt:lpstr>
      <vt:lpstr>Equation.3</vt:lpstr>
      <vt:lpstr>Visio.Drawing.6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wzy</dc:creator>
  <cp:lastModifiedBy>染墨相思</cp:lastModifiedBy>
  <cp:revision>250</cp:revision>
  <dcterms:created xsi:type="dcterms:W3CDTF">2002-09-10T13:23:11Z</dcterms:created>
  <dcterms:modified xsi:type="dcterms:W3CDTF">2024-06-19T04:37:09Z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469B21996F154756A5248F8A6D633322_13</vt:lpwstr>
  </property>
  <property fmtid="{D5CDD505-2E9C-101B-9397-08002B2CF9AE}" pid="3" name="KSOProductBuildVer">
    <vt:lpwstr>2052-12.1.0.16729</vt:lpwstr>
  </property>
</Properties>
</file>