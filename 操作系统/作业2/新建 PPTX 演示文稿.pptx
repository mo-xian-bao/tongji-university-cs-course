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3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713740" y="2462530"/>
            <a:ext cx="1009650" cy="29591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/>
              <a:t>0x200</a:t>
            </a:r>
            <a:r>
              <a:rPr lang="zh-CN" altLang="en-US" sz="1400"/>
              <a:t>页框</a:t>
            </a:r>
            <a:endParaRPr lang="zh-CN" altLang="en-US" sz="1400"/>
          </a:p>
        </p:txBody>
      </p:sp>
      <p:sp>
        <p:nvSpPr>
          <p:cNvPr id="6" name="矩形 5"/>
          <p:cNvSpPr/>
          <p:nvPr/>
        </p:nvSpPr>
        <p:spPr>
          <a:xfrm>
            <a:off x="713740" y="2758440"/>
            <a:ext cx="1009650" cy="29591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400">
                <a:solidFill>
                  <a:schemeClr val="tx1"/>
                </a:solidFill>
              </a:rPr>
              <a:t>0x202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713740" y="3054350"/>
            <a:ext cx="1009650" cy="29591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400">
                <a:solidFill>
                  <a:schemeClr val="tx1"/>
                </a:solidFill>
              </a:rPr>
              <a:t>0x203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713740" y="3350260"/>
            <a:ext cx="1009650" cy="29591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400">
                <a:solidFill>
                  <a:schemeClr val="tx1"/>
                </a:solidFill>
              </a:rPr>
              <a:t>null...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13740" y="3646170"/>
            <a:ext cx="1009650" cy="29591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400">
                <a:solidFill>
                  <a:schemeClr val="tx1"/>
                </a:solidFill>
              </a:rPr>
              <a:t>0x201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13740" y="3942080"/>
            <a:ext cx="1009650" cy="29591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400">
                <a:solidFill>
                  <a:schemeClr val="tx1"/>
                </a:solidFill>
              </a:rPr>
              <a:t>null...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751455" y="1176020"/>
            <a:ext cx="1203325" cy="29591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ym typeface="+mn-ea"/>
              </a:rPr>
              <a:t>0x202</a:t>
            </a:r>
            <a:r>
              <a:rPr lang="zh-CN" altLang="en-US" sz="1400">
                <a:sym typeface="+mn-ea"/>
              </a:rPr>
              <a:t>页框</a:t>
            </a:r>
            <a:endParaRPr lang="zh-CN" altLang="en-US" sz="1400"/>
          </a:p>
        </p:txBody>
      </p:sp>
      <p:sp>
        <p:nvSpPr>
          <p:cNvPr id="13" name="矩形 12"/>
          <p:cNvSpPr/>
          <p:nvPr/>
        </p:nvSpPr>
        <p:spPr>
          <a:xfrm>
            <a:off x="2751455" y="1471930"/>
            <a:ext cx="1203325" cy="29591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400">
                <a:solidFill>
                  <a:schemeClr val="tx1"/>
                </a:solidFill>
              </a:rPr>
              <a:t>0x0 U RW P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751455" y="1767840"/>
            <a:ext cx="1203325" cy="29591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400">
                <a:solidFill>
                  <a:schemeClr val="tx1"/>
                </a:solidFill>
              </a:rPr>
              <a:t>null...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751455" y="2063750"/>
            <a:ext cx="1203325" cy="29591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400">
                <a:solidFill>
                  <a:schemeClr val="tx1"/>
                </a:solidFill>
              </a:rPr>
              <a:t>......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751455" y="2359660"/>
            <a:ext cx="1203325" cy="29591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400">
                <a:solidFill>
                  <a:schemeClr val="tx1"/>
                </a:solidFill>
              </a:rPr>
              <a:t>......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2751455" y="2655570"/>
            <a:ext cx="1203325" cy="29591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400">
                <a:solidFill>
                  <a:schemeClr val="tx1"/>
                </a:solidFill>
              </a:rPr>
              <a:t>null...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751455" y="3649345"/>
            <a:ext cx="1202690" cy="29591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ym typeface="+mn-ea"/>
              </a:rPr>
              <a:t>0x201</a:t>
            </a:r>
            <a:r>
              <a:rPr lang="zh-CN" altLang="en-US" sz="1400">
                <a:sym typeface="+mn-ea"/>
              </a:rPr>
              <a:t>页框</a:t>
            </a:r>
            <a:endParaRPr lang="zh-CN" altLang="en-US" sz="1400"/>
          </a:p>
        </p:txBody>
      </p:sp>
      <p:sp>
        <p:nvSpPr>
          <p:cNvPr id="19" name="矩形 18"/>
          <p:cNvSpPr/>
          <p:nvPr/>
        </p:nvSpPr>
        <p:spPr>
          <a:xfrm>
            <a:off x="2751455" y="3945255"/>
            <a:ext cx="1202690" cy="29591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400">
                <a:solidFill>
                  <a:schemeClr val="tx1"/>
                </a:solidFill>
              </a:rPr>
              <a:t>0x0 S RW P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2751455" y="4241165"/>
            <a:ext cx="1202690" cy="29591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400">
                <a:solidFill>
                  <a:schemeClr val="tx1"/>
                </a:solidFill>
                <a:sym typeface="+mn-ea"/>
              </a:rPr>
              <a:t>0x1 S RW P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751455" y="4537075"/>
            <a:ext cx="1202690" cy="29591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751455" y="4832985"/>
            <a:ext cx="1202690" cy="29591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2751455" y="5128895"/>
            <a:ext cx="1202690" cy="29591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400">
                <a:solidFill>
                  <a:srgbClr val="FF0000"/>
                </a:solidFill>
                <a:sym typeface="+mn-ea"/>
              </a:rPr>
              <a:t>0x410 S RW P</a:t>
            </a:r>
            <a:endParaRPr lang="en-US" altLang="zh-CN" sz="1400">
              <a:solidFill>
                <a:srgbClr val="FF0000"/>
              </a:solidFill>
              <a:sym typeface="+mn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4827905" y="2063750"/>
            <a:ext cx="1352550" cy="29591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ym typeface="+mn-ea"/>
              </a:rPr>
              <a:t>0x203</a:t>
            </a:r>
            <a:r>
              <a:rPr lang="zh-CN" altLang="en-US" sz="1400">
                <a:sym typeface="+mn-ea"/>
              </a:rPr>
              <a:t>页框</a:t>
            </a:r>
            <a:endParaRPr lang="zh-CN" altLang="en-US" sz="1400"/>
          </a:p>
        </p:txBody>
      </p:sp>
      <p:sp>
        <p:nvSpPr>
          <p:cNvPr id="25" name="矩形 24"/>
          <p:cNvSpPr/>
          <p:nvPr/>
        </p:nvSpPr>
        <p:spPr>
          <a:xfrm>
            <a:off x="4827905" y="2359660"/>
            <a:ext cx="1352550" cy="29591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400">
                <a:solidFill>
                  <a:schemeClr val="tx1"/>
                </a:solidFill>
              </a:rPr>
              <a:t>null...</a:t>
            </a:r>
            <a:endParaRPr lang="en-US" altLang="zh-CN" sz="1400">
              <a:solidFill>
                <a:schemeClr val="tx1"/>
              </a:solidFill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827905" y="2655570"/>
            <a:ext cx="1352550" cy="29591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400">
                <a:solidFill>
                  <a:srgbClr val="FF0000"/>
                </a:solidFill>
              </a:rPr>
              <a:t>0x402 U RO P</a:t>
            </a:r>
            <a:endParaRPr lang="en-US" altLang="zh-CN" sz="1400">
              <a:solidFill>
                <a:srgbClr val="FF0000"/>
              </a:solidFill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4827905" y="2951480"/>
            <a:ext cx="1352550" cy="29591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400">
                <a:solidFill>
                  <a:srgbClr val="FF0000"/>
                </a:solidFill>
                <a:sym typeface="+mn-ea"/>
              </a:rPr>
              <a:t>0x403 U RO P</a:t>
            </a:r>
            <a:endParaRPr lang="en-US" altLang="zh-CN" sz="1400">
              <a:solidFill>
                <a:srgbClr val="FF0000"/>
              </a:solidFill>
              <a:sym typeface="+mn-ea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4827905" y="3247390"/>
            <a:ext cx="1352550" cy="29591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400">
                <a:solidFill>
                  <a:srgbClr val="FF0000"/>
                </a:solidFill>
                <a:sym typeface="+mn-ea"/>
              </a:rPr>
              <a:t>0x404 U RO P</a:t>
            </a:r>
            <a:endParaRPr lang="en-US" altLang="zh-CN" sz="1400">
              <a:solidFill>
                <a:srgbClr val="FF0000"/>
              </a:solidFill>
              <a:sym typeface="+mn-ea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827905" y="3543300"/>
            <a:ext cx="1352550" cy="29591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400">
                <a:solidFill>
                  <a:srgbClr val="FF0000"/>
                </a:solidFill>
                <a:sym typeface="+mn-ea"/>
              </a:rPr>
              <a:t>0x411 U RW P</a:t>
            </a:r>
            <a:endParaRPr lang="en-US" altLang="zh-CN" sz="1400">
              <a:solidFill>
                <a:srgbClr val="FF0000"/>
              </a:solidFill>
              <a:sym typeface="+mn-e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4827905" y="3839210"/>
            <a:ext cx="1352550" cy="29591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endParaRPr lang="zh-CN" altLang="en-US" sz="1400">
              <a:solidFill>
                <a:srgbClr val="FF0000"/>
              </a:solidFill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4827905" y="4135120"/>
            <a:ext cx="1352550" cy="29591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400">
                <a:solidFill>
                  <a:srgbClr val="FF0000"/>
                </a:solidFill>
                <a:sym typeface="+mn-ea"/>
              </a:rPr>
              <a:t>0x412 U RW P</a:t>
            </a:r>
            <a:endParaRPr lang="en-US" altLang="zh-CN" sz="1400">
              <a:solidFill>
                <a:srgbClr val="FF0000"/>
              </a:solidFill>
              <a:sym typeface="+mn-ea"/>
            </a:endParaRPr>
          </a:p>
        </p:txBody>
      </p:sp>
      <p:cxnSp>
        <p:nvCxnSpPr>
          <p:cNvPr id="33" name="直接箭头连接符 32"/>
          <p:cNvCxnSpPr>
            <a:stCxn id="10" idx="3"/>
            <a:endCxn id="18" idx="1"/>
          </p:cNvCxnSpPr>
          <p:nvPr/>
        </p:nvCxnSpPr>
        <p:spPr>
          <a:xfrm>
            <a:off x="1723390" y="3794125"/>
            <a:ext cx="1028065" cy="317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/>
          <p:nvPr/>
        </p:nvCxnSpPr>
        <p:spPr>
          <a:xfrm flipV="1">
            <a:off x="1818005" y="2245360"/>
            <a:ext cx="2968625" cy="85979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>
            <a:stCxn id="6" idx="3"/>
            <a:endCxn id="12" idx="1"/>
          </p:cNvCxnSpPr>
          <p:nvPr/>
        </p:nvCxnSpPr>
        <p:spPr>
          <a:xfrm flipV="1">
            <a:off x="1723390" y="1323975"/>
            <a:ext cx="1028065" cy="158242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6423660" y="1448435"/>
            <a:ext cx="5194300" cy="33845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PB </a:t>
            </a:r>
            <a:r>
              <a:rPr lang="zh-CN" altLang="en-US"/>
              <a:t>进程代码段</a:t>
            </a:r>
            <a:r>
              <a:rPr lang="en-US" altLang="zh-CN"/>
              <a:t>3</a:t>
            </a:r>
            <a:r>
              <a:rPr lang="zh-CN" altLang="en-US"/>
              <a:t>页，数据段</a:t>
            </a:r>
            <a:r>
              <a:rPr lang="en-US" altLang="zh-CN"/>
              <a:t>1</a:t>
            </a:r>
            <a:r>
              <a:rPr lang="zh-CN" altLang="en-US"/>
              <a:t>页，堆栈段</a:t>
            </a:r>
            <a:r>
              <a:rPr lang="en-US" altLang="zh-CN"/>
              <a:t>1</a:t>
            </a:r>
            <a:r>
              <a:rPr lang="zh-CN" altLang="en-US"/>
              <a:t>页；</a:t>
            </a:r>
            <a:endParaRPr lang="zh-CN" altLang="en-US"/>
          </a:p>
          <a:p>
            <a:r>
              <a:rPr lang="en-US" altLang="zh-CN"/>
              <a:t>x_caddr=0x402000, p_addr=0x410000</a:t>
            </a:r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en-US" altLang="zh-CN"/>
              <a:t>SwtchUStruct(selected);</a:t>
            </a:r>
            <a:endParaRPr lang="en-US" altLang="zh-CN"/>
          </a:p>
          <a:p>
            <a:r>
              <a:rPr lang="en-US" altLang="zh-CN" sz="1400"/>
              <a:t>p_addr &gt;&gt; 12</a:t>
            </a:r>
            <a:r>
              <a:rPr lang="zh-CN" altLang="en-US" sz="1400"/>
              <a:t>，填入核心页表</a:t>
            </a:r>
            <a:r>
              <a:rPr lang="en-US" altLang="zh-CN" sz="1400">
                <a:solidFill>
                  <a:srgbClr val="FF0000"/>
                </a:solidFill>
              </a:rPr>
              <a:t>1023#PTE</a:t>
            </a:r>
            <a:r>
              <a:rPr lang="zh-CN" altLang="en-US" sz="1400"/>
              <a:t>的</a:t>
            </a:r>
            <a:r>
              <a:rPr lang="en-US" altLang="zh-CN" sz="1400"/>
              <a:t> base </a:t>
            </a:r>
            <a:r>
              <a:rPr lang="zh-CN" altLang="en-US" sz="1400"/>
              <a:t>字段，建立</a:t>
            </a:r>
            <a:r>
              <a:rPr lang="en-US" altLang="zh-CN" sz="1400"/>
              <a:t>PPDA</a:t>
            </a:r>
            <a:r>
              <a:rPr lang="zh-CN" altLang="en-US" sz="1400"/>
              <a:t>区的地址映射关系。</a:t>
            </a:r>
            <a:endParaRPr lang="zh-CN" altLang="en-US" sz="1400"/>
          </a:p>
          <a:p>
            <a:endParaRPr lang="zh-CN" altLang="en-US"/>
          </a:p>
          <a:p>
            <a:r>
              <a:rPr lang="en-US" altLang="zh-CN"/>
              <a:t>2</a:t>
            </a:r>
            <a:r>
              <a:rPr lang="zh-CN" altLang="en-US"/>
              <a:t>、</a:t>
            </a:r>
            <a:r>
              <a:rPr lang="en-US" altLang="zh-CN"/>
              <a:t>User&amp; newu = Kernel::Instance().GetUser();</a:t>
            </a:r>
            <a:endParaRPr lang="en-US" altLang="zh-CN"/>
          </a:p>
          <a:p>
            <a:r>
              <a:rPr lang="en-US" altLang="zh-CN" sz="1400">
                <a:solidFill>
                  <a:srgbClr val="FF0000"/>
                </a:solidFill>
              </a:rPr>
              <a:t>newu </a:t>
            </a:r>
            <a:r>
              <a:rPr lang="zh-CN" altLang="en-US" sz="1400">
                <a:solidFill>
                  <a:srgbClr val="FF0000"/>
                </a:solidFill>
              </a:rPr>
              <a:t>是装在物理页框</a:t>
            </a:r>
            <a:r>
              <a:rPr lang="en-US" altLang="zh-CN" sz="1400">
                <a:solidFill>
                  <a:srgbClr val="FF0000"/>
                </a:solidFill>
              </a:rPr>
              <a:t> 0x410 </a:t>
            </a:r>
            <a:r>
              <a:rPr lang="zh-CN" altLang="en-US" sz="1400">
                <a:solidFill>
                  <a:srgbClr val="FF0000"/>
                </a:solidFill>
              </a:rPr>
              <a:t>里，</a:t>
            </a:r>
            <a:r>
              <a:rPr lang="en-US" altLang="zh-CN" sz="1400">
                <a:solidFill>
                  <a:srgbClr val="FF0000"/>
                </a:solidFill>
              </a:rPr>
              <a:t>PB </a:t>
            </a:r>
            <a:r>
              <a:rPr lang="zh-CN" altLang="en-US" sz="1400">
                <a:solidFill>
                  <a:srgbClr val="FF0000"/>
                </a:solidFill>
              </a:rPr>
              <a:t>进程的</a:t>
            </a:r>
            <a:r>
              <a:rPr lang="en-US" altLang="zh-CN" sz="1400">
                <a:solidFill>
                  <a:srgbClr val="FF0000"/>
                </a:solidFill>
              </a:rPr>
              <a:t>user</a:t>
            </a:r>
            <a:r>
              <a:rPr lang="zh-CN" altLang="en-US" sz="1400">
                <a:solidFill>
                  <a:srgbClr val="FF0000"/>
                </a:solidFill>
              </a:rPr>
              <a:t>结构。</a:t>
            </a:r>
            <a:endParaRPr lang="zh-CN" altLang="en-US" sz="1400">
              <a:solidFill>
                <a:srgbClr val="FF0000"/>
              </a:solidFill>
            </a:endParaRPr>
          </a:p>
          <a:p>
            <a:endParaRPr lang="zh-CN" altLang="en-US" sz="1400"/>
          </a:p>
          <a:p>
            <a:r>
              <a:rPr lang="en-US" altLang="zh-CN"/>
              <a:t>3</a:t>
            </a:r>
            <a:r>
              <a:rPr lang="zh-CN" altLang="en-US"/>
              <a:t>、</a:t>
            </a:r>
            <a:r>
              <a:rPr lang="en-US" altLang="zh-CN"/>
              <a:t>newu.u_MemoryDescriptor.MapToPageTable();</a:t>
            </a:r>
            <a:endParaRPr lang="en-US" altLang="zh-CN"/>
          </a:p>
          <a:p>
            <a:r>
              <a:rPr lang="zh-CN" altLang="en-US" sz="1400">
                <a:solidFill>
                  <a:srgbClr val="FF0000"/>
                </a:solidFill>
              </a:rPr>
              <a:t>以</a:t>
            </a:r>
            <a:r>
              <a:rPr lang="en-US" altLang="zh-CN" sz="1400">
                <a:solidFill>
                  <a:srgbClr val="FF0000"/>
                </a:solidFill>
              </a:rPr>
              <a:t> PB </a:t>
            </a:r>
            <a:r>
              <a:rPr lang="zh-CN" altLang="en-US" sz="1400">
                <a:solidFill>
                  <a:srgbClr val="FF0000"/>
                </a:solidFill>
              </a:rPr>
              <a:t>的相对表为模板，写</a:t>
            </a:r>
            <a:r>
              <a:rPr lang="en-US" altLang="zh-CN" sz="1400">
                <a:solidFill>
                  <a:srgbClr val="FF0000"/>
                </a:solidFill>
              </a:rPr>
              <a:t>0x202,0x203#</a:t>
            </a:r>
            <a:r>
              <a:rPr lang="zh-CN" altLang="en-US" sz="1400">
                <a:solidFill>
                  <a:srgbClr val="FF0000"/>
                </a:solidFill>
              </a:rPr>
              <a:t>物理页框。</a:t>
            </a:r>
            <a:endParaRPr lang="zh-CN" altLang="en-US" sz="14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477</Words>
  <Application>WPS 演示</Application>
  <PresentationFormat>宽屏</PresentationFormat>
  <Paragraphs>59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maoxingbo</dc:creator>
  <cp:lastModifiedBy>JL</cp:lastModifiedBy>
  <cp:revision>5</cp:revision>
  <dcterms:created xsi:type="dcterms:W3CDTF">2023-08-09T12:44:00Z</dcterms:created>
  <dcterms:modified xsi:type="dcterms:W3CDTF">2025-10-31T07:43:42Z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ICV">
    <vt:lpwstr>5F2D775EAEAE47B1A7D29D469504B1D1_12</vt:lpwstr>
  </property>
</Properties>
</file>