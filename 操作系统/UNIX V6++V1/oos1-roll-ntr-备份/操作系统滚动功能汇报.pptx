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3"/>
    <p:sldId id="256" r:id="rId4"/>
    <p:sldId id="268" r:id="rId5"/>
    <p:sldId id="257" r:id="rId6"/>
    <p:sldId id="269" r:id="rId7"/>
    <p:sldId id="258" r:id="rId8"/>
    <p:sldId id="260" r:id="rId9"/>
    <p:sldId id="259" r:id="rId10"/>
    <p:sldId id="266" r:id="rId11"/>
    <p:sldId id="267" r:id="rId12"/>
    <p:sldId id="261" r:id="rId13"/>
    <p:sldId id="262" r:id="rId14"/>
    <p:sldId id="263" r:id="rId15"/>
    <p:sldId id="265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image" Target="../media/image33.png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0" y="1630045"/>
            <a:ext cx="6623685" cy="452691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>
            <a:off x="7671435" y="2197100"/>
            <a:ext cx="23495" cy="21170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7706995" y="4385945"/>
            <a:ext cx="0" cy="152209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861185" y="899795"/>
            <a:ext cx="423481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输入输出区、系统打印区均为滚动设计</a:t>
            </a:r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79385" y="2284095"/>
            <a:ext cx="4304030" cy="2030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支持键盘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pageup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pagedown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滚动</a:t>
            </a:r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支持鼠标滚轮滚动</a:t>
            </a:r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支持方向键上下获取最近的命令</a:t>
            </a:r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查看历史信息时有新输入跳转到输入行</a:t>
            </a:r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79385" y="4824095"/>
            <a:ext cx="441325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支持键盘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alt+pageup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pagedown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滚动</a:t>
            </a:r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9865" y="175260"/>
            <a:ext cx="1878965" cy="46037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2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功能一览</a:t>
            </a:r>
            <a:endParaRPr lang="zh-CN" altLang="en-US" sz="2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3947795"/>
            <a:ext cx="5537200" cy="2349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9905" y="3579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CRT.h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509905" y="490855"/>
            <a:ext cx="581025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A. </a:t>
            </a:r>
            <a:r>
              <a:rPr lang="zh-CN" altLang="en-US" sz="1600" b="1"/>
              <a:t>数据结构：引入历史缓冲区</a:t>
            </a:r>
            <a:endParaRPr lang="zh-CN" altLang="en-US" sz="1600" b="1"/>
          </a:p>
          <a:p>
            <a:endParaRPr lang="zh-CN" altLang="en-US" sz="1600" b="1"/>
          </a:p>
          <a:p>
            <a:r>
              <a:rPr lang="zh-CN" altLang="en-US" sz="1600" b="1"/>
              <a:t>原版：直接操作显存</a:t>
            </a:r>
            <a:r>
              <a:rPr lang="en-US" altLang="zh-CN" sz="1600" b="1"/>
              <a:t> m_VideoMemory</a:t>
            </a:r>
            <a:r>
              <a:rPr lang="zh-CN" altLang="en-US" sz="1600" b="1"/>
              <a:t>，没有任何历史记录。一旦内容滚出屏幕就丢失了。</a:t>
            </a:r>
            <a:endParaRPr lang="zh-CN" altLang="en-US" sz="1600" b="1"/>
          </a:p>
          <a:p>
            <a:endParaRPr lang="zh-CN" altLang="en-US" sz="1600" b="1"/>
          </a:p>
          <a:p>
            <a:endParaRPr lang="zh-CN" altLang="en-US" sz="1600" b="1"/>
          </a:p>
          <a:p>
            <a:r>
              <a:rPr lang="zh-CN" altLang="en-US" sz="1600" b="1"/>
              <a:t>改进：</a:t>
            </a:r>
            <a:r>
              <a:rPr lang="zh-CN" altLang="en-US" sz="1600" b="1">
                <a:highlight>
                  <a:srgbClr val="FFFF00"/>
                </a:highlight>
              </a:rPr>
              <a:t>将</a:t>
            </a:r>
            <a:r>
              <a:rPr lang="en-US" altLang="zh-CN" sz="1600" b="1">
                <a:highlight>
                  <a:srgbClr val="FFFF00"/>
                </a:highlight>
              </a:rPr>
              <a:t>“</a:t>
            </a:r>
            <a:r>
              <a:rPr lang="zh-CN" altLang="en-US" sz="1600" b="1">
                <a:highlight>
                  <a:srgbClr val="FFFF00"/>
                </a:highlight>
              </a:rPr>
              <a:t>数据存储</a:t>
            </a:r>
            <a:r>
              <a:rPr lang="en-US" altLang="zh-CN" sz="1600" b="1">
                <a:highlight>
                  <a:srgbClr val="FFFF00"/>
                </a:highlight>
              </a:rPr>
              <a:t>”</a:t>
            </a:r>
            <a:r>
              <a:rPr lang="zh-CN" altLang="en-US" sz="1600" b="1">
                <a:highlight>
                  <a:srgbClr val="FFFF00"/>
                </a:highlight>
              </a:rPr>
              <a:t>和</a:t>
            </a:r>
            <a:r>
              <a:rPr lang="en-US" altLang="zh-CN" sz="1600" b="1">
                <a:highlight>
                  <a:srgbClr val="FFFF00"/>
                </a:highlight>
              </a:rPr>
              <a:t>“</a:t>
            </a:r>
            <a:r>
              <a:rPr lang="zh-CN" altLang="en-US" sz="1600" b="1">
                <a:highlight>
                  <a:srgbClr val="FFFF00"/>
                </a:highlight>
              </a:rPr>
              <a:t>屏幕显示</a:t>
            </a:r>
            <a:r>
              <a:rPr lang="en-US" altLang="zh-CN" sz="1600" b="1">
                <a:highlight>
                  <a:srgbClr val="FFFF00"/>
                </a:highlight>
              </a:rPr>
              <a:t>”</a:t>
            </a:r>
            <a:r>
              <a:rPr lang="zh-CN" altLang="en-US" sz="1600" b="1">
                <a:highlight>
                  <a:srgbClr val="FFFF00"/>
                </a:highlight>
              </a:rPr>
              <a:t>解耦</a:t>
            </a:r>
            <a:endParaRPr lang="zh-CN" altLang="en-US" sz="1600" b="1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新增</a:t>
            </a:r>
            <a:r>
              <a:rPr lang="en-US" altLang="zh-CN" sz="1600" b="1"/>
              <a:t> char CRT::m_Buffer[MAX_HISTORY_LINES][COLUMNS]</a:t>
            </a:r>
            <a:r>
              <a:rPr lang="zh-CN" altLang="en-US" sz="1600" b="1"/>
              <a:t>：一个二维数组，用于保存历史屏幕输出内容。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m_BufferHead: </a:t>
            </a:r>
            <a:r>
              <a:rPr lang="zh-CN" altLang="en-US" sz="1600" b="1"/>
              <a:t>记录当前写入内容的逻辑行号。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m_ViewStartRow: </a:t>
            </a:r>
            <a:r>
              <a:rPr lang="zh-CN" altLang="en-US" sz="1600" b="1"/>
              <a:t>记录当前屏幕显示区域的起始逻辑行号。</a:t>
            </a:r>
            <a:endParaRPr lang="zh-CN" altLang="en-US" sz="16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645" y="1812925"/>
            <a:ext cx="2978150" cy="2527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645" y="4608195"/>
            <a:ext cx="4724400" cy="1689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11645" y="602615"/>
            <a:ext cx="432943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ym typeface="+mn-ea"/>
              </a:rPr>
              <a:t>原版</a:t>
            </a:r>
            <a:r>
              <a:rPr lang="en-US" altLang="zh-CN" sz="1600" b="1">
                <a:sym typeface="+mn-ea"/>
              </a:rPr>
              <a:t>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CRT.cpp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600" b="1">
                <a:sym typeface="+mn-ea"/>
              </a:rPr>
              <a:t>当光标到达屏幕底部时，直接清空整个屏幕</a:t>
            </a:r>
            <a:endParaRPr lang="en-US" altLang="zh-CN" sz="1600" b="1">
              <a:sym typeface="+mn-ea"/>
            </a:endParaRPr>
          </a:p>
          <a:p>
            <a:r>
              <a:rPr lang="zh-CN" altLang="en-US" sz="1600" b="1">
                <a:sym typeface="+mn-ea"/>
              </a:rPr>
              <a:t>ClearScreen —— 暴力覆盖</a:t>
            </a:r>
            <a:endParaRPr lang="zh-CN" altLang="en-US" sz="16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810" y="748030"/>
            <a:ext cx="4834255" cy="54597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703060" y="222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CRT.cpp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" y="3996690"/>
            <a:ext cx="5537200" cy="17627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9905" y="222885"/>
            <a:ext cx="5080000" cy="1644650"/>
          </a:xfrm>
          <a:prstGeom prst="rect">
            <a:avLst/>
          </a:prstGeom>
        </p:spPr>
        <p:txBody>
          <a:bodyPr>
            <a:noAutofit/>
          </a:bodyPr>
          <a:p>
            <a:pPr marL="0" indent="0" latinLnBrk="1">
              <a:lnSpc>
                <a:spcPts val="970"/>
              </a:lnSpc>
              <a:spcAft>
                <a:spcPct val="60000"/>
              </a:spcAft>
            </a:pP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CRT::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 (重绘屏幕 - 新增)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这是一个全新的函数，负责根据当前视口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(m_ViewStartRow) 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将缓冲区的数据搬运到显存中。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这使得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PageUp / PageDown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功能成为可能（只要修改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m_ViewStartRow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然后调用此函数即可）。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270" y="2393633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在RefreshScreen 中增加了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光标可见性判断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。如果当前查看的是历史记录，且光标所在的“最新行”不在屏幕范围内，则隐藏硬件光标，避免光标在历史内容上乱闪。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箭头连接符 6"/>
          <p:cNvCxnSpPr>
            <a:stCxn id="5" idx="3"/>
          </p:cNvCxnSpPr>
          <p:nvPr/>
        </p:nvCxnSpPr>
        <p:spPr>
          <a:xfrm>
            <a:off x="5589270" y="2932430"/>
            <a:ext cx="1010285" cy="15875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659245" y="4435475"/>
            <a:ext cx="5005705" cy="1859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9905" y="3579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CRT.h</a:t>
            </a:r>
            <a:endParaRPr lang="en-US" altLang="zh-CN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" y="423545"/>
            <a:ext cx="4792980" cy="58966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56300" y="1480185"/>
            <a:ext cx="5080000" cy="329184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CRT::NextLine() —— 换行处理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当光标到达行尾或遇到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\n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时调用。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逻辑行推进：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m_BufferHead++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（所有的写入操作永远针对逻辑行号）。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视口跟随：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如果当前行已经超出了屏幕底部：视口下移 (m_ViewStartRow++)，并触发 RefreshScreen() 重绘整个屏幕，产生“滚屏”效果。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如果没有超出：只移动光标 m_CursorY，不重绘，效率更高。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55" y="301625"/>
            <a:ext cx="5892800" cy="61404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85255" y="1346835"/>
            <a:ext cx="5500370" cy="353822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CRT::WriteChar(char ch) —— 写入字符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将一个字符打印出来。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自动归位：如果用户正在查看历史记录（视口不在最底部），一旦开始打字，立刻强制把视口弹回到最新位置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 = m_BufferHead - ROWS + 1)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，并重绘屏幕。这符合终端的标准行为。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双重写入：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写缓冲区：存入 m_Buffer，作为永久存档（为了以后能翻回来）。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写显存：存入 m_VideoMemory，让用户立刻看到。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光标推进：X 坐标加 1，如果满了就自动调用NextLine()。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310515"/>
            <a:ext cx="4906645" cy="6236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41060" y="1913573"/>
            <a:ext cx="5080000" cy="329184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CRT::BackSpace() —— 退格处理</a:t>
            </a:r>
            <a:endParaRPr lang="en-US" altLang="zh-CN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en-US" altLang="zh-CN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当用户按下退格键或接收到 \b 时调用。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自动归位：同 WriteChar，打字（删字）前先跳回最新视角。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跨行回退：支持从行首回退到上一行的末尾（逻辑行号减 1，光标 X 设为行尾）。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双重擦除：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擦缓冲区：将对应位置置为 0。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擦显存：将对应位置置为空格。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5568315" y="2945130"/>
            <a:ext cx="384175" cy="75565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74345" y="1845945"/>
            <a:ext cx="5005705" cy="2044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1471295"/>
            <a:ext cx="5099050" cy="5175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0035" y="104140"/>
            <a:ext cx="6109335" cy="12782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屏幕滚动查看 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(PageUp/PageDown)</a:t>
            </a:r>
            <a:endParaRPr lang="en-US" altLang="zh-CN" sz="1600" b="1" i="0">
              <a:solidFill>
                <a:schemeClr val="tx1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实现了类似终端的滚屏功能，可以查看屏幕缓冲区中更早或更新的内容。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 Up (0x49):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CRT::m_ViewStartRow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，即向上滚动视图，查看历史输出。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 Down (0x51):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CRT::m_ViewStartRow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，即向下滚动视图，查看最新输出。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437640"/>
            <a:ext cx="5505450" cy="5048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9395" y="107633"/>
            <a:ext cx="5080000" cy="127825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1600" b="1"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历史记录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命令导航 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下方向键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实现了在终端中通过方向键查看之前输入的历史命令。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上方向键 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(0x48):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TTy::HistoryUp()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，向上翻阅历史命令。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下方向键 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(0x50):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TTy::HistoryDown()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，向下翻阅历史命令。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185" y="3747770"/>
            <a:ext cx="5454650" cy="2108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52185" y="304958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spcAft>
                <a:spcPct val="60000"/>
              </a:spcAft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 类中设计了一个环形历史记录本 (m_History)，可以保存最近使用的 10 条命令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580" y="244475"/>
            <a:ext cx="4106545" cy="636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7385" y="360362"/>
            <a:ext cx="5080000" cy="590804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TTy::SaveHistory() 函数：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将用户刚刚在终端输入的命令保存到历史记录中</a:t>
            </a:r>
            <a:endParaRPr lang="zh-CN" altLang="en-US" sz="14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获取最新输入：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它在用户按下回车键后被调用。直接去读取终端的原始输入队列 (t_rawq)，这是存放用户键盘敲击内容的地方。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回溯提取命令：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它从队列的最新位置（刚刚敲入的换行符之前）开始，向前逐个字符扫描，直到遇到上一行的结束标志（换行符）或者队列头。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过滤重复命令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存入历史档案：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如果命令是新的，它会将这个字符串复制到 m_History 这个环形历史记录缓冲区中。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这个缓冲区像一个只有 10 页的笔记本，写满第 10 页后，下一条记录会覆盖掉第 1 页（最早的那条记录）。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重置浏览状态：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保存完毕后，它会将“当前浏览位置”指针 (m_HistoryCurrentIndex) 重置为 -1。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这意味着告诉系统：用户现在回到了“当下”时刻，没有在翻看旧皇历。下次用户按“上”键时，系统知道应该从“最近”的一条历史开始显示。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225425"/>
            <a:ext cx="4620260" cy="6407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85460" y="797560"/>
            <a:ext cx="5620385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TTy::HistoryUp() —— 查看上一条命令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这个函数的目的用户能找回之前输入过的命令。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触发时机：用户按下键盘上的上方向键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(↑)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检查：如果历史记录本是空的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(Count == 0)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，没法倒流，直接退出。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定位目标：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如果还没开始翻（在现在），目标就是最新的一条记录。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如果已经在翻了（在过去），目标就是更老的一条记录。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防撞墙：如果已经到了最老的那条，就不再动了。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清场（视觉）：计算当前屏幕上那行命令有多长，用“退格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空格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退格”把它在屏幕上擦得干干净净。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遗忘（内存）：把内存里的笔尖（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m_Head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）拨回去，假装刚才那行字从来没写过。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重现：从历史记录本里抄出目标那条命令，一边塞进内存（假装是用户刚敲的），一边打印在屏幕上。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0" y="658495"/>
            <a:ext cx="4956175" cy="55695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90235" y="658495"/>
            <a:ext cx="5552440" cy="550799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TTy::HistoryDown() —— 查看下</a:t>
            </a:r>
            <a:r>
              <a:rPr lang="zh-CN" altLang="en-US" sz="16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一条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这个函数的目的是在查看旧命令时往回翻，或者直接回到空白行准备输入新命令。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触发时机：用户按下键盘上的下方向键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(↓)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如果历史记录是空的，或者用户本来就在“现在”（没在看历史），那按“下”没意义，直接退出。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定位目标：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如果当前看的是最新的那条历史，再往下翻就应该回到空白行（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= -1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如果看的是中间的老记录，目标就是更新的一条记录。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清场（视觉）：同样先把屏幕上当前显示的旧命令擦干净。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遗忘（内存）：同样把内存里的笔尖拨回去，撤销掉旧命令。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重现：如果目标是某条更新的记录：把它抄出来显示。如果目标是空白行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(target == -1)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：什么都不抄，屏幕上留白，把控制权交还给用户，等待输入全新的命令。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2740" y="118110"/>
            <a:ext cx="6184900" cy="2030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在完成上述工作后，进一步考虑增加</a:t>
            </a:r>
            <a:r>
              <a:rPr lang="zh-CN" altLang="en-US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下方调试区的滚动功能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的修改逻辑基本相同。在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Diagnose 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类中引入了</a:t>
            </a:r>
            <a:r>
              <a:rPr lang="zh-CN" altLang="en-US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缓冲区和视口控制机制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，替代了原先直接写入显存的逻辑。这使得调试信息可以被保存并回溯，从而支持滚动查看。而且调试信息窗口的滚动实现更简单，因为不需要控制光标，不需要支持输入和删除。</a:t>
            </a:r>
            <a:endParaRPr lang="zh-CN" altLang="en-US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0" y="118110"/>
            <a:ext cx="4826000" cy="66224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21830" y="1243330"/>
            <a:ext cx="4325620" cy="4076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21830" y="2976880"/>
            <a:ext cx="4325620" cy="4076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022465" y="5873750"/>
            <a:ext cx="4488180" cy="696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2740" y="2648267"/>
            <a:ext cx="5080000" cy="409257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 b="1" i="0"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Video.h (头文件修改)</a:t>
            </a:r>
            <a:endParaRPr lang="zh-CN" altLang="en-US" sz="1800" b="1" i="0"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8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MAX_DEBUG_LINES = 200: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定义了回滚缓冲区的最大行数（历史记录容量）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m_Buffer[MAX_DEBUG_LINES][COLUMNS]: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一个二维字符数组，作为环形缓冲区存储历史调试信息。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m_BufferHead: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记录当前最新的写入逻辑行号（单调递增，配合取模使用）。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m_ViewStartRow: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记录当前屏幕可视区域在逻辑上的起始行号（实现滚动的关键）。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en-US" altLang="zh-CN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RefreshScreen():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用于将缓冲区中的特定范围内容重新渲染到屏幕上。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4340" y="3429000"/>
            <a:ext cx="4239260" cy="32531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3550285"/>
            <a:ext cx="3708400" cy="33077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9190"/>
            <a:ext cx="4467225" cy="44488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67225" y="125412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 b="1" i="0"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Video.cpp (实现文件修改)</a:t>
            </a:r>
            <a:endParaRPr lang="zh-CN" altLang="en-US" sz="1800" b="1" i="0"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030" y="685800"/>
            <a:ext cx="3444875" cy="17233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97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RefreshScreen() (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遍历当前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ViewStartRow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开始的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ROWS (10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bufferRowIndex = logicalRow % MAX_DEBUG_LINES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计算环形缓冲区索引。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将缓冲区内容映射并写入到屏幕下方的物理显存区域。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81855" y="685800"/>
            <a:ext cx="3364865" cy="2369820"/>
          </a:xfrm>
          <a:prstGeom prst="rect">
            <a:avLst/>
          </a:prstGeom>
        </p:spPr>
        <p:txBody>
          <a:bodyPr wrap="square">
            <a:spAutoFit/>
          </a:bodyPr>
          <a:p>
            <a:pPr marL="0" lvl="1" algn="l" latinLnBrk="1">
              <a:lnSpc>
                <a:spcPts val="970"/>
              </a:lnSpc>
              <a:buClrTx/>
              <a:buSzTx/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NextLine() (修改 - 换行逻辑):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原逻辑：仅增加行号，触底清屏。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新逻辑: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 m_BufferHead。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清空新一行的缓冲区数据（清除环形覆盖的旧数据）。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自动滚动: 判断如果新行超出了当前视口范围，自动增加 m_ViewStartRow 以保持最新输出可见。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 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00000"/>
              </a:lnSpc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RefreshScreen() 更新显示。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83930" y="685800"/>
            <a:ext cx="3608070" cy="23698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97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WriteChar() (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 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字符输出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原逻辑：直接写显存。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新逻辑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写缓冲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首先将字符存入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m_Buffer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对应的位置。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同步显存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如果当前写入行位于可视范围内 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m_ViewStartRow + ROWS)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，则同时更新物理显存，保证实时性。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在写入前会检查并修正视口位置，确保正在输出的内容是可见的。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245" y="972820"/>
            <a:ext cx="9541510" cy="42697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909050" y="2884170"/>
            <a:ext cx="1570990" cy="3143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53565" y="5704840"/>
            <a:ext cx="9160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unix</a:t>
            </a:r>
            <a:r>
              <a:rPr lang="zh-CN" altLang="en-US"/>
              <a:t>的外设中断控制器</a:t>
            </a:r>
            <a:r>
              <a:rPr lang="en-US" altLang="zh-CN"/>
              <a:t> 8259A  </a:t>
            </a:r>
            <a:r>
              <a:rPr lang="zh-CN" altLang="en-US"/>
              <a:t>：主片、从片，从片连接在主片</a:t>
            </a:r>
            <a:r>
              <a:rPr lang="en-US" altLang="zh-CN"/>
              <a:t>IRQ 2</a:t>
            </a:r>
            <a:r>
              <a:rPr lang="zh-CN" altLang="en-US"/>
              <a:t>端口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755" y="505460"/>
            <a:ext cx="10545445" cy="57035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36090" y="137160"/>
            <a:ext cx="2024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kernel/main.cpp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-57150" y="1529080"/>
            <a:ext cx="1652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初始化会屏蔽所有端口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25800" y="6321425"/>
            <a:ext cx="6764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启用后，</a:t>
            </a:r>
            <a:r>
              <a:rPr lang="en-US" altLang="zh-CN"/>
              <a:t>CPU</a:t>
            </a:r>
            <a:r>
              <a:rPr lang="zh-CN" altLang="en-US"/>
              <a:t>能收到</a:t>
            </a:r>
            <a:r>
              <a:rPr lang="en-US" altLang="zh-CN"/>
              <a:t>IRQ 12</a:t>
            </a:r>
            <a:r>
              <a:rPr lang="zh-CN" altLang="en-US"/>
              <a:t>端口的中断请求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" y="80010"/>
            <a:ext cx="4552315" cy="3024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895" y="3178175"/>
            <a:ext cx="8135620" cy="35661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71055" y="2736215"/>
            <a:ext cx="151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Machine.cpp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856740" y="4840605"/>
            <a:ext cx="2110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注册</a:t>
            </a:r>
            <a:r>
              <a:rPr lang="en-US" altLang="zh-CN"/>
              <a:t>IDT</a:t>
            </a:r>
            <a:r>
              <a:rPr lang="zh-CN" altLang="en-US"/>
              <a:t>表项</a:t>
            </a:r>
            <a:endParaRPr lang="zh-CN" altLang="en-US"/>
          </a:p>
          <a:p>
            <a:r>
              <a:rPr lang="en-US" altLang="zh-CN"/>
              <a:t>IRQ 12 -&gt;  0x2C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95" y="150495"/>
            <a:ext cx="4928870" cy="63798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65" y="150495"/>
            <a:ext cx="4860290" cy="6557010"/>
          </a:xfrm>
          <a:prstGeom prst="rect">
            <a:avLst/>
          </a:prstGeom>
        </p:spPr>
      </p:pic>
      <p:sp>
        <p:nvSpPr>
          <p:cNvPr id="2" name="等腰三角形 1"/>
          <p:cNvSpPr/>
          <p:nvPr/>
        </p:nvSpPr>
        <p:spPr>
          <a:xfrm>
            <a:off x="6665595" y="1670685"/>
            <a:ext cx="194945" cy="1581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6065520" y="1744980"/>
            <a:ext cx="537845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208905" y="3136265"/>
            <a:ext cx="14566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EOI:</a:t>
            </a:r>
            <a:r>
              <a:rPr lang="zh-CN" altLang="en-US"/>
              <a:t>让</a:t>
            </a:r>
            <a:r>
              <a:rPr lang="en-US" altLang="zh-CN"/>
              <a:t>8259A</a:t>
            </a:r>
            <a:r>
              <a:rPr lang="zh-CN" altLang="en-US"/>
              <a:t>知道</a:t>
            </a:r>
            <a:r>
              <a:rPr lang="en-US" altLang="zh-CN"/>
              <a:t>CPU</a:t>
            </a:r>
            <a:r>
              <a:rPr lang="zh-CN" altLang="en-US"/>
              <a:t>已处理完成中断，可以发送下一条中断信号了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34440" y="497840"/>
            <a:ext cx="9132570" cy="2693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键盘和鼠标都用</a:t>
            </a:r>
            <a:r>
              <a:rPr lang="en-US" altLang="zh-CN"/>
              <a:t>PS/2</a:t>
            </a:r>
            <a:r>
              <a:rPr lang="zh-CN" altLang="en-US"/>
              <a:t>接口，这个接口一般会连到一个主板上的</a:t>
            </a:r>
            <a:r>
              <a:rPr lang="en-US" altLang="zh-CN"/>
              <a:t>8042</a:t>
            </a:r>
            <a:r>
              <a:rPr lang="zh-CN" altLang="en-US"/>
              <a:t>控制器，作为接口和</a:t>
            </a:r>
            <a:r>
              <a:rPr lang="en-US" altLang="zh-CN"/>
              <a:t>CPU</a:t>
            </a:r>
            <a:r>
              <a:rPr lang="zh-CN" altLang="en-US"/>
              <a:t>的中介。</a:t>
            </a:r>
            <a:endParaRPr lang="zh-CN" altLang="en-US"/>
          </a:p>
          <a:p>
            <a:r>
              <a:rPr lang="en-US" altLang="zh-CN"/>
              <a:t>                              </a:t>
            </a:r>
            <a:r>
              <a:rPr lang="en-US" altLang="zh-CN">
                <a:sym typeface="+mn-ea"/>
              </a:rPr>
              <a:t>0x60</a:t>
            </a:r>
            <a:r>
              <a:rPr lang="zh-CN" altLang="en-US">
                <a:sym typeface="+mn-ea"/>
              </a:rPr>
              <a:t>：</a:t>
            </a:r>
            <a:r>
              <a:rPr lang="zh-CN">
                <a:sym typeface="+mn-ea"/>
              </a:rPr>
              <a:t>数据</a:t>
            </a:r>
            <a:r>
              <a:rPr lang="zh-CN" altLang="en-US">
                <a:sym typeface="+mn-ea"/>
              </a:rPr>
              <a:t>端口</a:t>
            </a:r>
            <a:r>
              <a:rPr lang="en-US" altLang="zh-CN">
                <a:sym typeface="+mn-ea"/>
              </a:rPr>
              <a:t>      0x64</a:t>
            </a:r>
            <a:r>
              <a:rPr lang="zh-CN" altLang="en-US">
                <a:sym typeface="+mn-ea"/>
              </a:rPr>
              <a:t>：状态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命令端口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键盘是标准的</a:t>
            </a:r>
            <a:r>
              <a:rPr lang="en-US" altLang="zh-CN"/>
              <a:t> PS/2 </a:t>
            </a:r>
            <a:r>
              <a:rPr lang="zh-CN" altLang="en-US"/>
              <a:t>硬件（历史上先来的）</a:t>
            </a:r>
            <a:r>
              <a:rPr lang="zh-CN" altLang="en-US"/>
              <a:t>，开机后硬件自动可用，无需软件发送特殊命令激活，传数据的时候也不用特别标注。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键盘中断（</a:t>
            </a:r>
            <a:r>
              <a:rPr lang="en-US" altLang="zh-CN"/>
              <a:t>IRQ 1</a:t>
            </a:r>
            <a:r>
              <a:rPr lang="zh-CN" altLang="en-US"/>
              <a:t>）在</a:t>
            </a:r>
            <a:r>
              <a:rPr lang="en-US" altLang="zh-CN"/>
              <a:t> main.cpp </a:t>
            </a:r>
            <a:r>
              <a:rPr lang="zh-CN" altLang="en-US"/>
              <a:t>中通过</a:t>
            </a:r>
            <a:r>
              <a:rPr lang="en-US" altLang="zh-CN"/>
              <a:t> 8259A</a:t>
            </a:r>
            <a:r>
              <a:rPr lang="zh-CN" altLang="en-US"/>
              <a:t>的</a:t>
            </a:r>
            <a:r>
              <a:rPr lang="en-US" altLang="zh-CN"/>
              <a:t>IrqEnable</a:t>
            </a:r>
            <a:r>
              <a:rPr lang="zh-CN" altLang="en-US"/>
              <a:t>函数直接启用，硬件就可工作。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939165" y="3745230"/>
            <a:ext cx="3279775" cy="157670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6071235" y="3429000"/>
            <a:ext cx="3895725" cy="25101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475980" y="6009005"/>
            <a:ext cx="176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8042</a:t>
            </a:r>
            <a:r>
              <a:rPr lang="zh-CN" altLang="en-US"/>
              <a:t>控制器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8209915" y="4709795"/>
            <a:ext cx="389255" cy="125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770380" y="1186180"/>
            <a:ext cx="80778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  <a:p>
            <a:r>
              <a:rPr lang="en-US" altLang="zh-CN">
                <a:sym typeface="+mn-ea"/>
              </a:rPr>
              <a:t>IOPort </a:t>
            </a:r>
            <a:r>
              <a:rPr lang="zh-CN" altLang="en-US">
                <a:sym typeface="+mn-ea"/>
              </a:rPr>
              <a:t>是一个工具类，封装了</a:t>
            </a:r>
            <a:r>
              <a:rPr lang="en-US" altLang="zh-CN">
                <a:sym typeface="+mn-ea"/>
              </a:rPr>
              <a:t> x86 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in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out </a:t>
            </a:r>
            <a:r>
              <a:rPr lang="zh-CN" altLang="en-US">
                <a:sym typeface="+mn-ea"/>
              </a:rPr>
              <a:t>指令，用于直接读写硬件</a:t>
            </a:r>
            <a:r>
              <a:rPr lang="en-US" altLang="zh-CN">
                <a:sym typeface="+mn-ea"/>
              </a:rPr>
              <a:t> I/O </a:t>
            </a:r>
            <a:r>
              <a:rPr lang="zh-CN" altLang="en-US">
                <a:sym typeface="+mn-ea"/>
              </a:rPr>
              <a:t>端口。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9010" y="2927985"/>
            <a:ext cx="6753225" cy="2009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005965" y="2145665"/>
            <a:ext cx="80778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作为后来物，启用鼠标需要向</a:t>
            </a:r>
            <a:r>
              <a:rPr lang="en-US" altLang="zh-CN">
                <a:sym typeface="+mn-ea"/>
              </a:rPr>
              <a:t>8042</a:t>
            </a:r>
            <a:r>
              <a:rPr lang="zh-CN" altLang="en-US">
                <a:sym typeface="+mn-ea"/>
              </a:rPr>
              <a:t>控制器发命令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鼠标默认是标准</a:t>
            </a:r>
            <a:r>
              <a:rPr lang="en-US" altLang="zh-CN">
                <a:sym typeface="+mn-ea"/>
              </a:rPr>
              <a:t> PS/2 </a:t>
            </a:r>
            <a:r>
              <a:rPr lang="zh-CN" altLang="en-US">
                <a:sym typeface="+mn-ea"/>
              </a:rPr>
              <a:t>模式（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字节数据包），不支持滚轮。要开启滚轮（</a:t>
            </a:r>
            <a:r>
              <a:rPr lang="en-US" altLang="zh-CN">
                <a:sym typeface="+mn-ea"/>
              </a:rPr>
              <a:t>4 </a:t>
            </a:r>
            <a:r>
              <a:rPr lang="zh-CN" altLang="en-US">
                <a:sym typeface="+mn-ea"/>
              </a:rPr>
              <a:t>字节模式），需要向鼠标发送一套特定的采样率序列（</a:t>
            </a:r>
            <a:r>
              <a:rPr lang="en-US" altLang="zh-CN">
                <a:sym typeface="+mn-ea"/>
              </a:rPr>
              <a:t>200, 100, 80</a:t>
            </a:r>
            <a:r>
              <a:rPr lang="zh-CN" altLang="en-US">
                <a:sym typeface="+mn-ea"/>
              </a:rPr>
              <a:t>，就像输入作弊码一样）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鼠标不仅要在</a:t>
            </a:r>
            <a:r>
              <a:rPr lang="en-US" altLang="zh-CN">
                <a:sym typeface="+mn-ea"/>
              </a:rPr>
              <a:t>8259A</a:t>
            </a:r>
            <a:r>
              <a:rPr lang="zh-CN" altLang="en-US">
                <a:sym typeface="+mn-ea"/>
              </a:rPr>
              <a:t>上启用中断，还要在</a:t>
            </a:r>
            <a:r>
              <a:rPr lang="en-US" altLang="zh-CN">
                <a:sym typeface="+mn-ea"/>
              </a:rPr>
              <a:t>8042</a:t>
            </a:r>
            <a:r>
              <a:rPr lang="zh-CN" altLang="en-US">
                <a:sym typeface="+mn-ea"/>
              </a:rPr>
              <a:t>控制器上也启用中断，才能正常中断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92150" y="417195"/>
            <a:ext cx="3079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为什么鼠标需要初始化？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9670" y="316230"/>
            <a:ext cx="7048500" cy="61055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76605" y="3214370"/>
            <a:ext cx="37719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en-US" altLang="zh-CN"/>
              <a:t>type == 0</a:t>
            </a:r>
            <a:r>
              <a:rPr lang="zh-CN" altLang="en-US"/>
              <a:t>：等待数据可读。循环检查端口</a:t>
            </a:r>
            <a:r>
              <a:rPr lang="en-US" altLang="zh-CN"/>
              <a:t> 0x64 </a:t>
            </a:r>
            <a:r>
              <a:rPr lang="zh-CN" altLang="en-US"/>
              <a:t>的状态寄存器</a:t>
            </a:r>
            <a:r>
              <a:rPr lang="en-US" altLang="zh-CN"/>
              <a:t> Bit 0</a:t>
            </a:r>
            <a:r>
              <a:rPr lang="zh-CN" altLang="en-US"/>
              <a:t>（指示输出缓冲区是否有数据）。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type == 1</a:t>
            </a:r>
            <a:r>
              <a:rPr lang="zh-CN" altLang="en-US"/>
              <a:t>：等待端口可写。循环检查</a:t>
            </a:r>
            <a:r>
              <a:rPr lang="en-US" altLang="zh-CN"/>
              <a:t> Bit 1</a:t>
            </a:r>
            <a:r>
              <a:rPr lang="zh-CN" altLang="en-US"/>
              <a:t>（输入缓冲区），直到可以安全向</a:t>
            </a:r>
            <a:r>
              <a:rPr lang="en-US" altLang="zh-CN"/>
              <a:t> 0x60 </a:t>
            </a:r>
            <a:r>
              <a:rPr lang="zh-CN" altLang="en-US"/>
              <a:t>或</a:t>
            </a:r>
            <a:r>
              <a:rPr lang="en-US" altLang="zh-CN"/>
              <a:t> 0x64 </a:t>
            </a:r>
            <a:r>
              <a:rPr lang="zh-CN" altLang="en-US"/>
              <a:t>发送数据。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超时机制：如果等待时间超过</a:t>
            </a:r>
            <a:r>
              <a:rPr lang="en-US" altLang="zh-CN"/>
              <a:t> 100000 </a:t>
            </a:r>
            <a:r>
              <a:rPr lang="zh-CN" altLang="en-US"/>
              <a:t>次循环，直接返回，避免死循环。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9270" y="898525"/>
            <a:ext cx="42329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0x64</a:t>
            </a:r>
            <a:r>
              <a:rPr lang="zh-CN" altLang="en-US"/>
              <a:t>作为状态、命令端口，有一条专用路径（不用通过输出缓冲区）可以实时读取到鼠标的状态寄存器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读取</a:t>
            </a:r>
            <a:r>
              <a:rPr lang="en-US" altLang="zh-CN"/>
              <a:t> (InByte)</a:t>
            </a:r>
            <a:r>
              <a:rPr lang="zh-CN" altLang="en-US"/>
              <a:t>：返回状态寄存器的值，指示控制器状态（如缓冲区状态）。</a:t>
            </a:r>
            <a:endParaRPr lang="zh-CN" altLang="en-US"/>
          </a:p>
          <a:p>
            <a:r>
              <a:rPr lang="zh-CN" altLang="en-US"/>
              <a:t>写入</a:t>
            </a:r>
            <a:r>
              <a:rPr lang="en-US" altLang="zh-CN"/>
              <a:t> (OutByte)</a:t>
            </a:r>
            <a:r>
              <a:rPr lang="zh-CN" altLang="en-US"/>
              <a:t>：发送命令字节到控制器，控制其行为（如启用鼠标端口）。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7065" y="196215"/>
            <a:ext cx="4754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0x60</a:t>
            </a:r>
            <a:r>
              <a:rPr lang="zh-CN" altLang="en-US"/>
              <a:t>和</a:t>
            </a:r>
            <a:r>
              <a:rPr lang="en-US" altLang="zh-CN"/>
              <a:t>0x64</a:t>
            </a:r>
            <a:r>
              <a:rPr lang="zh-CN" altLang="en-US"/>
              <a:t>有同一个输入、输出缓冲区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69645" y="2190750"/>
            <a:ext cx="27381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键盘和鼠标共用</a:t>
            </a:r>
            <a:r>
              <a:rPr lang="en-US" altLang="zh-CN"/>
              <a:t> 0x60 </a:t>
            </a:r>
            <a:r>
              <a:rPr lang="zh-CN" altLang="en-US"/>
              <a:t>端口。如果直接往</a:t>
            </a:r>
            <a:r>
              <a:rPr lang="en-US" altLang="zh-CN"/>
              <a:t> 0x60 </a:t>
            </a:r>
            <a:r>
              <a:rPr lang="zh-CN" altLang="en-US"/>
              <a:t>写个数据，</a:t>
            </a:r>
            <a:r>
              <a:rPr lang="en-US" altLang="zh-CN"/>
              <a:t>8042 </a:t>
            </a:r>
            <a:r>
              <a:rPr lang="zh-CN" altLang="en-US"/>
              <a:t>默认会把它发给键盘。</a:t>
            </a:r>
            <a:endParaRPr lang="zh-CN" altLang="en-US"/>
          </a:p>
          <a:p>
            <a:r>
              <a:rPr lang="zh-CN" altLang="en-US"/>
              <a:t>为了发给鼠标，必须先往</a:t>
            </a:r>
            <a:r>
              <a:rPr lang="en-US" altLang="zh-CN"/>
              <a:t> 0x64 </a:t>
            </a:r>
            <a:r>
              <a:rPr lang="zh-CN" altLang="en-US"/>
              <a:t>写个</a:t>
            </a:r>
            <a:r>
              <a:rPr lang="en-US" altLang="zh-CN"/>
              <a:t> 0xD4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755" y="1741805"/>
            <a:ext cx="5753100" cy="2743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5335" y="342265"/>
            <a:ext cx="4515485" cy="59143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45" y="837565"/>
            <a:ext cx="4512310" cy="4698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21605" y="1697355"/>
            <a:ext cx="18465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读鼠标配置文件（和上面的状态字节不同）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817" t="57532" r="27208"/>
          <a:stretch>
            <a:fillRect/>
          </a:stretch>
        </p:blipFill>
        <p:spPr>
          <a:xfrm>
            <a:off x="1823720" y="310515"/>
            <a:ext cx="3399790" cy="28232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318885" y="1122680"/>
            <a:ext cx="3115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当向鼠标发送命令后，鼠标必须回复一个</a:t>
            </a:r>
            <a:r>
              <a:rPr lang="en-US" altLang="zh-CN"/>
              <a:t> ACK </a:t>
            </a:r>
            <a:r>
              <a:rPr lang="zh-CN" altLang="en-US"/>
              <a:t>字节（通常是</a:t>
            </a:r>
            <a:r>
              <a:rPr lang="en-US" altLang="zh-CN"/>
              <a:t> 0xFA</a:t>
            </a:r>
            <a:r>
              <a:rPr lang="zh-CN" altLang="en-US"/>
              <a:t>），表示</a:t>
            </a:r>
            <a:r>
              <a:rPr lang="en-US" altLang="zh-CN"/>
              <a:t>“</a:t>
            </a:r>
            <a:r>
              <a:rPr lang="zh-CN" altLang="en-US"/>
              <a:t>命令已接收并理解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42795"/>
          <a:stretch>
            <a:fillRect/>
          </a:stretch>
        </p:blipFill>
        <p:spPr>
          <a:xfrm>
            <a:off x="3447415" y="4498340"/>
            <a:ext cx="4777105" cy="1764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830" y="580390"/>
            <a:ext cx="4906645" cy="30029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70" y="3869690"/>
            <a:ext cx="3476625" cy="22383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670" y="161290"/>
            <a:ext cx="3638550" cy="1228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70" y="1515110"/>
            <a:ext cx="4082415" cy="40900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1481455"/>
            <a:ext cx="4448175" cy="38576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230" y="5958840"/>
            <a:ext cx="3993515" cy="6489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54730" y="6071870"/>
            <a:ext cx="2169160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bochsrc.bxrc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53745" y="1852295"/>
            <a:ext cx="469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268720" y="1852295"/>
            <a:ext cx="35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spAutoFit/>
      </a:bodyPr>
      <a:lstStyle>
        <a:defPPr marL="0" indent="0">
          <a:defRPr lang="zh-CN" altLang="en-US" b="1" i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4541</Words>
  <Application>WPS 演示</Application>
  <PresentationFormat>宽屏</PresentationFormat>
  <Paragraphs>249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27</cp:revision>
  <dcterms:created xsi:type="dcterms:W3CDTF">2023-08-09T12:44:00Z</dcterms:created>
  <dcterms:modified xsi:type="dcterms:W3CDTF">2025-12-09T09:04:51Z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704BE82AB09E4ABE9F6AD2DCC44789B4_12</vt:lpwstr>
  </property>
</Properties>
</file>