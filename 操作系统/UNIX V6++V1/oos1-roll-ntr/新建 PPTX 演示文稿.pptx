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56" r:id="rId4"/>
    <p:sldId id="268" r:id="rId5"/>
    <p:sldId id="257" r:id="rId6"/>
    <p:sldId id="269" r:id="rId7"/>
    <p:sldId id="258" r:id="rId8"/>
    <p:sldId id="260" r:id="rId9"/>
    <p:sldId id="259" r:id="rId10"/>
    <p:sldId id="266" r:id="rId11"/>
    <p:sldId id="267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3947795"/>
            <a:ext cx="5537200" cy="2349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509905" y="490855"/>
            <a:ext cx="5810250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A. </a:t>
            </a:r>
            <a:r>
              <a:rPr lang="zh-CN" altLang="en-US" sz="1600" b="1"/>
              <a:t>数据结构：引入历史缓冲区</a:t>
            </a:r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原版：直接操作显存</a:t>
            </a:r>
            <a:r>
              <a:rPr lang="en-US" altLang="zh-CN" sz="1600" b="1"/>
              <a:t> m_VideoMemory</a:t>
            </a:r>
            <a:r>
              <a:rPr lang="zh-CN" altLang="en-US" sz="1600" b="1"/>
              <a:t>，没有任何历史记录。一旦内容滚出屏幕就丢失了。</a:t>
            </a:r>
            <a:endParaRPr lang="zh-CN" altLang="en-US" sz="1600" b="1"/>
          </a:p>
          <a:p>
            <a:endParaRPr lang="zh-CN" altLang="en-US" sz="1600" b="1"/>
          </a:p>
          <a:p>
            <a:endParaRPr lang="zh-CN" altLang="en-US" sz="1600" b="1"/>
          </a:p>
          <a:p>
            <a:r>
              <a:rPr lang="zh-CN" altLang="en-US" sz="1600" b="1"/>
              <a:t>改进：</a:t>
            </a:r>
            <a:r>
              <a:rPr lang="zh-CN" altLang="en-US" sz="1600" b="1">
                <a:highlight>
                  <a:srgbClr val="FFFF00"/>
                </a:highlight>
              </a:rPr>
              <a:t>将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数据存储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和</a:t>
            </a:r>
            <a:r>
              <a:rPr lang="en-US" altLang="zh-CN" sz="1600" b="1">
                <a:highlight>
                  <a:srgbClr val="FFFF00"/>
                </a:highlight>
              </a:rPr>
              <a:t>“</a:t>
            </a:r>
            <a:r>
              <a:rPr lang="zh-CN" altLang="en-US" sz="1600" b="1">
                <a:highlight>
                  <a:srgbClr val="FFFF00"/>
                </a:highlight>
              </a:rPr>
              <a:t>屏幕显示</a:t>
            </a:r>
            <a:r>
              <a:rPr lang="en-US" altLang="zh-CN" sz="1600" b="1">
                <a:highlight>
                  <a:srgbClr val="FFFF00"/>
                </a:highlight>
              </a:rPr>
              <a:t>”</a:t>
            </a:r>
            <a:r>
              <a:rPr lang="zh-CN" altLang="en-US" sz="1600" b="1">
                <a:highlight>
                  <a:srgbClr val="FFFF00"/>
                </a:highlight>
              </a:rPr>
              <a:t>解耦</a:t>
            </a:r>
            <a:endParaRPr lang="zh-CN" altLang="en-US" sz="1600" b="1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/>
              <a:t>新增</a:t>
            </a:r>
            <a:r>
              <a:rPr lang="en-US" altLang="zh-CN" sz="1600" b="1"/>
              <a:t> char CRT::m_Buffer[MAX_HISTORY_LINES][COLUMNS]</a:t>
            </a:r>
            <a:r>
              <a:rPr lang="zh-CN" altLang="en-US" sz="1600" b="1"/>
              <a:t>：一个二维数组，用于保存历史屏幕输出内容。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m_BufferHead: </a:t>
            </a:r>
            <a:r>
              <a:rPr lang="zh-CN" altLang="en-US" sz="1600" b="1"/>
              <a:t>记录当前写入内容的逻辑行号。</a:t>
            </a:r>
            <a:endParaRPr lang="zh-CN" altLang="en-U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/>
              <a:t>m_ViewStartRow: </a:t>
            </a:r>
            <a:r>
              <a:rPr lang="zh-CN" altLang="en-US" sz="1600" b="1"/>
              <a:t>记录当前屏幕显示区域的起始逻辑行号。</a:t>
            </a:r>
            <a:endParaRPr lang="zh-CN" altLang="en-US" sz="16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645" y="1812925"/>
            <a:ext cx="2978150" cy="2527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645" y="4608195"/>
            <a:ext cx="4724400" cy="16891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11645" y="602615"/>
            <a:ext cx="43294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原版</a:t>
            </a:r>
            <a:r>
              <a:rPr lang="en-US" altLang="zh-CN" sz="1600" b="1">
                <a:sym typeface="+mn-ea"/>
              </a:rPr>
              <a:t>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CRT.cpp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1600" b="1">
                <a:sym typeface="+mn-ea"/>
              </a:rPr>
              <a:t>当光标到达屏幕底部时，直接清空整个屏幕</a:t>
            </a:r>
            <a:endParaRPr lang="en-US" altLang="zh-CN" sz="1600" b="1">
              <a:sym typeface="+mn-ea"/>
            </a:endParaRPr>
          </a:p>
          <a:p>
            <a:r>
              <a:rPr lang="zh-CN" altLang="en-US" sz="1600" b="1">
                <a:sym typeface="+mn-ea"/>
              </a:rPr>
              <a:t>ClearScreen —— 暴力覆盖</a:t>
            </a:r>
            <a:endParaRPr lang="zh-CN" altLang="en-US" sz="1600" b="1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810" y="748030"/>
            <a:ext cx="4834255" cy="54597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703060" y="222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CRT.cpp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3996690"/>
            <a:ext cx="5537200" cy="17627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9905" y="222885"/>
            <a:ext cx="5080000" cy="1644650"/>
          </a:xfrm>
          <a:prstGeom prst="rect">
            <a:avLst/>
          </a:prstGeom>
        </p:spPr>
        <p:txBody>
          <a:bodyPr>
            <a:noAutofit/>
          </a:bodyPr>
          <a:p>
            <a:pPr marL="0" indent="0" latinLnBrk="1">
              <a:lnSpc>
                <a:spcPts val="970"/>
              </a:lnSpc>
              <a:spcAft>
                <a:spcPct val="60000"/>
              </a:spcAft>
            </a:pP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CRT::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 (重绘屏幕 - 新增)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这是一个全新的函数，负责根据当前视口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(m_ViewStartRow)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将缓冲区的数据搬运到显存中。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这使得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PageUp / PageDown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功能成为可能（只要修改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m_ViewStartRow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然后调用此函数即可）。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9270" y="239363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在RefreshScreen 中增加了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光标可见性判断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。如果当前查看的是历史记录，且光标所在的“最新行”不在屏幕范围内，则隐藏硬件光标，避免光标在历史内容上乱闪。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>
            <a:stCxn id="5" idx="3"/>
          </p:cNvCxnSpPr>
          <p:nvPr/>
        </p:nvCxnSpPr>
        <p:spPr>
          <a:xfrm>
            <a:off x="5589270" y="2932430"/>
            <a:ext cx="1010285" cy="158750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659245" y="4435475"/>
            <a:ext cx="5005705" cy="1859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09905" y="3579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CRT.h</a:t>
            </a:r>
            <a:endParaRPr lang="en-US" altLang="zh-C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423545"/>
            <a:ext cx="4792980" cy="58966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56300" y="1480185"/>
            <a:ext cx="5080000" cy="427672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CRT::NextLine() —— 换行处理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当光标到达行尾或遇到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\n 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逻辑行推进：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m_BufferHead++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（所有的写入操作永远针对逻辑行号）。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清理旧数据：因为缓冲区是环形的，新的一行可能残留着很久以前的旧字，所以必须先把这一行清零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(m_Buffer[realRowIndex][i] = 0)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视口跟随：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如果当前行已经超出了屏幕底部：视口下移 (m_ViewStartRow++)，并触发 RefreshScreen() 重绘整个屏幕，产生“滚屏”效果。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如果没有超出：只移动光标 m_CursorY，不重绘，效率更高。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301625"/>
            <a:ext cx="5892800" cy="61404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85255" y="1346835"/>
            <a:ext cx="5500370" cy="353822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CRT::WriteChar(char ch) —— 写入字符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将一个字符打印出来。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自动归位：如果用户正在查看历史记录（视口不在最底部），一旦开始打字，立刻强制把视口弹回到最新位置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 = m_BufferHead - ROWS + 1)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，并重绘屏幕。这符合终端的标准行为。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双重写入：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写缓冲区：存入 m_Buffer，作为永久存档（为了以后能翻回来）。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写显存：存入 m_VideoMemory，让用户立刻看到。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光标推进：X 坐标加 1，如果满了就自动调用NextLine()。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310515"/>
            <a:ext cx="4906645" cy="6236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41060" y="1913573"/>
            <a:ext cx="5080000" cy="329184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CRT::BackSpace() —— 退格处理</a:t>
            </a:r>
            <a:endParaRPr lang="en-US" altLang="zh-CN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当用户按下退格键或接收到 \b 时调用。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自动归位：同 WriteChar，打字（删字）前先跳回最新视角。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跨行回退：支持从行首回退到上一行的末尾（逻辑行号减 1，光标 X 设为行尾）。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双重擦除：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擦缓冲区：将对应位置置为 0。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擦显存：将对应位置置为空格。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5568315" y="2945130"/>
            <a:ext cx="384175" cy="755650"/>
          </a:xfrm>
          <a:prstGeom prst="straightConnector1">
            <a:avLst/>
          </a:prstGeom>
          <a:ln w="44450" cmpd="sng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4345" y="1845945"/>
            <a:ext cx="5005705" cy="2044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1471295"/>
            <a:ext cx="5099050" cy="5175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0035" y="104140"/>
            <a:ext cx="6109335" cy="12782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屏幕滚动查看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(PageUp/PageDown)</a:t>
            </a:r>
            <a:endParaRPr lang="en-US" altLang="zh-CN" sz="1600" b="1" i="0">
              <a:solidFill>
                <a:schemeClr val="tx1"/>
              </a:solidFill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实现了类似终端的滚屏功能，可以查看屏幕缓冲区中更早或更新的内容。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Up (0x49):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，即向上滚动视图，查看历史输出。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 Down (0x51):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CRT::m_ViewStartRow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，即向下滚动视图，查看最新输出。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437640"/>
            <a:ext cx="5505450" cy="50482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9395" y="107633"/>
            <a:ext cx="5080000" cy="127825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命令历史记录导航 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</a:t>
            </a:r>
            <a:r>
              <a:rPr lang="en-US" altLang="zh-CN" sz="1600" b="1" i="0">
                <a:solidFill>
                  <a:schemeClr val="tx1"/>
                </a:solidFill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实现了在终端中通过方向键查看之前输入的历史命令。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(0x48):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TTy::HistoryUp()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，向上翻阅历史命令。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下方向键 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(0x50): 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TTy::HistoryDown()</a:t>
            </a:r>
            <a:r>
              <a:rPr lang="zh-CN" altLang="en-US" sz="12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，向下翻阅历史命令。</a:t>
            </a:r>
            <a:endParaRPr lang="zh-CN" altLang="en-US" sz="12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185" y="3747770"/>
            <a:ext cx="5454650" cy="2108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52185" y="304958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spcAft>
                <a:spcPct val="60000"/>
              </a:spcAft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 类中设计了一个环形历史记录本 (m_History)，可以保存最近使用的 10 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5580" y="244475"/>
            <a:ext cx="4106545" cy="636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7385" y="360362"/>
            <a:ext cx="5080000" cy="56927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TTy::SaveHistory() 函数：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将用户刚刚在终端输入的命令保存到历史记录中</a:t>
            </a:r>
            <a:endParaRPr lang="zh-CN" altLang="en-US" sz="14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获取最新输入：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它在用户按下回车键后被调用。直接去读取终端的原始输入队列 (t_rawq)，这是存放用户键盘敲击内容的地方。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回溯提取命令：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它从队列的最新位置（刚刚敲入的换行符之前）开始，向前逐个字符扫描，直到遇到上一行的结束标志（换行符）或者队列头。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过滤无效命令、重复命令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存入历史档案：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如果命令是新的，它会将这个字符串复制到 m_History 这个环形历史记录缓冲区中。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这个缓冲区像一个只有 10 页的笔记本，写满第 10 页后，下一条记录会覆盖掉第 1 页（最早的那条记录）。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重置浏览状态：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保存完毕后，它会将“当前浏览位置”指针 (m_HistoryCurrentIndex) 重置为 -1。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Tx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这意味着告诉系统：用户现在回到了“当下”时刻，没有在翻看旧皇历。下次用户按“上”键时，系统知道应该从“最近”的一条历史开始显示。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25425"/>
            <a:ext cx="4620260" cy="64071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85460" y="797560"/>
            <a:ext cx="5620385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TTy::HistoryUp() —— 查看上一条命令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这个函数的目的用户能找回之前输入过的命令。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触发时机：用户按下键盘上的上方向键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(↑)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检查：如果历史记录本是空的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(Count == 0)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，没法倒流，直接退出。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如果还没开始翻（在现在），目标就是最新的一条记录。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如果已经在翻了（在过去），目标就是更老的一条记录。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防撞墙：如果已经到了最老的那条，就不再动了。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清场（视觉）：计算当前屏幕上那行命令有多长，用“退格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退格”把它在屏幕上擦得干干净净。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遗忘（内存）：把内存里的笔尖（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m_Head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）拨回去，假装刚才那行字从来没写过。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重现：从历史记录本里抄出目标那条命令，一边塞进内存（假装是用户刚敲的），一边打印在屏幕上。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0" y="652780"/>
            <a:ext cx="4956175" cy="55695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690235" y="658495"/>
            <a:ext cx="5552440" cy="550799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TTy::HistoryDown() —— 查看下</a:t>
            </a:r>
            <a:r>
              <a:rPr lang="zh-CN" altLang="en-US" sz="1600" b="1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一条</a:t>
            </a:r>
            <a:r>
              <a:rPr lang="zh-CN" altLang="en-US" sz="1600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endParaRPr lang="zh-CN" altLang="en-US" sz="1600" b="1" i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这个函数的目的是在查看旧命令时往回翻，或者直接回到空白行准备输入新命令。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触发时机：用户按下键盘上的下方向键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(↓)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核心逻辑：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如果历史记录是空的，或者用户本来就在“现在”（没在看历史），那按“下”没意义，直接退出。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定位目标：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如果当前看的是最新的那条历史，再往下翻就应该回到空白行（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= -1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如果看的是中间的老记录，目标就是更新的一条记录。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清场（视觉）：同样先把屏幕上当前显示的旧命令擦干净。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遗忘（内存）：同样把内存里的笔尖拨回去，撤销掉旧命令。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重现：如果目标是某条更新的记录：把它抄出来显示。如果目标是空白行 </a:t>
            </a:r>
            <a:r>
              <a:rPr lang="en-US" altLang="zh-CN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(target == -1)</a:t>
            </a:r>
            <a:r>
              <a:rPr lang="zh-CN" altLang="en-US" sz="16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：什么都不抄，屏幕上留白，把控制权交还给用户，等待输入全新的命令。</a:t>
            </a:r>
            <a:endParaRPr lang="zh-CN" altLang="en-US" sz="16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2740" y="280035"/>
            <a:ext cx="549338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在完成上述工作后，进一步考虑增加下方调试区的滚动功能。与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CRT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的修改逻辑基本相同。在</a:t>
            </a:r>
            <a:r>
              <a:rPr lang="en-US" altLang="zh-CN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Diagnose 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类中引入了</a:t>
            </a:r>
            <a:r>
              <a:rPr lang="zh-CN" altLang="en-US" b="1" i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缓冲区和视口控制机制</a:t>
            </a:r>
            <a:r>
              <a:rPr lang="zh-CN" altLang="en-US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，替代了原先直接写入显存的逻辑。这使得调试信息可以被保存并回溯，从而支持滚动查看。而且调试信息窗口的滚动实现更简单，因为不需要控制光标，不需要支持输入和删除。</a:t>
            </a:r>
            <a:endParaRPr lang="zh-CN" altLang="en-US" b="1" i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118110"/>
            <a:ext cx="4826000" cy="66224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21830" y="1243330"/>
            <a:ext cx="4325620" cy="4076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21830" y="2976880"/>
            <a:ext cx="4325620" cy="4076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022465" y="5873750"/>
            <a:ext cx="4488180" cy="696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2740" y="2377757"/>
            <a:ext cx="5080000" cy="4092575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 b="1" i="0"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Video.h (头文件修改)</a:t>
            </a:r>
            <a:endParaRPr lang="zh-CN" altLang="en-US" sz="1800" b="1" i="0"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8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MAX_DEBUG_LINES = 200: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定义了回滚缓冲区的最大行数（历史记录容量）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m_Buffer[MAX_DEBUG_LINES][COLUMNS]: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一个二维字符数组，作为环形缓冲区存储历史调试信息。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m_BufferHead: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记录当前最新的写入逻辑行号（单调递增，配合取模使用）。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m_ViewStartRow: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记录当前屏幕可视区域在逻辑上的起始行号（实现滚动的关键）。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en-US" altLang="zh-CN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RefreshScreen(): </a:t>
            </a:r>
            <a:r>
              <a:rPr lang="zh-CN" altLang="en-US" sz="1600" b="1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用于将缓冲区中的特定范围内容重新渲染到屏幕上。</a:t>
            </a: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</a:pPr>
            <a:endParaRPr lang="zh-CN" altLang="en-US" sz="1600"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340" y="3429000"/>
            <a:ext cx="4239260" cy="32531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3550285"/>
            <a:ext cx="3708400" cy="33077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9190"/>
            <a:ext cx="4467225" cy="44488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67225" y="125412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1800" b="1" i="0">
                <a:highlight>
                  <a:srgbClr val="FF0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Video.cpp (实现文件修改)</a:t>
            </a:r>
            <a:endParaRPr lang="zh-CN" altLang="en-US" sz="1800" b="1" i="0">
              <a:highlight>
                <a:srgbClr val="FF0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030" y="685800"/>
            <a:ext cx="3444875" cy="17233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97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 (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遍历当前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ViewStartRow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开始的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ROWS (10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bufferRowIndex = logicalRow % MAX_DEBUG_LINES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计算环形缓冲区索引。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将缓冲区内容映射并写入到屏幕下方的物理显存区域。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81855" y="685800"/>
            <a:ext cx="3364865" cy="2369820"/>
          </a:xfrm>
          <a:prstGeom prst="rect">
            <a:avLst/>
          </a:prstGeom>
        </p:spPr>
        <p:txBody>
          <a:bodyPr wrap="square">
            <a:spAutoFit/>
          </a:bodyPr>
          <a:p>
            <a:pPr marL="0" lvl="1" algn="l" latinLnBrk="1">
              <a:lnSpc>
                <a:spcPts val="970"/>
              </a:lnSpc>
              <a:buClrTx/>
              <a:buSzTx/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NextLine() (修改 - 换行逻辑):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原逻辑：仅增加行号，触底清屏。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新逻辑: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 m_BufferHead。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清空新一行的缓冲区数据（清除环形覆盖的旧数据）。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自动滚动: 判断如果新行超出了当前视口范围，自动增加 m_ViewStartRow 以保持最新输出可见。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 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algn="l">
              <a:lnSpc>
                <a:spcPct val="100000"/>
              </a:lnSpc>
              <a:buClrTx/>
              <a:buSzTx/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RefreshScreen() 更新显示。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83930" y="685800"/>
            <a:ext cx="3608070" cy="23698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1">
              <a:lnSpc>
                <a:spcPts val="97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WriteChar() (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 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字符输出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原逻辑：直接写显存。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新逻辑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写缓冲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首先将字符存入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m_Buffer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对应的位置。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同步显存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如果当前写入行位于可视范围内 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(m_ViewStartRow 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m_ViewStartRow + ROWS)</a:t>
            </a: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，则同时更新物理显存，保证实时性。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2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1400" b="1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在写入前会检查并修正视口位置，确保正在输出的内容是可见的。</a:t>
            </a:r>
            <a:endParaRPr lang="zh-CN" altLang="en-US" sz="1400" b="1" i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spAutoFit/>
      </a:bodyPr>
      <a:lstStyle>
        <a:defPPr marL="0" indent="0">
          <a:defRPr lang="zh-CN" altLang="en-US" b="1" i="0">
            <a:solidFill>
              <a:schemeClr val="tx1"/>
            </a:solidFill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WPS 演示</Application>
  <PresentationFormat>宽屏</PresentationFormat>
  <Paragraphs>169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10</cp:revision>
  <dcterms:created xsi:type="dcterms:W3CDTF">2023-08-09T12:44:00Z</dcterms:created>
  <dcterms:modified xsi:type="dcterms:W3CDTF">2025-12-09T06:10:52Z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704BE82AB09E4ABE9F6AD2DCC44789B4_12</vt:lpwstr>
  </property>
</Properties>
</file>