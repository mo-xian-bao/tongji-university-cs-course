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0" r:id="rId3"/>
    <p:sldId id="256" r:id="rId4"/>
    <p:sldId id="268" r:id="rId5"/>
    <p:sldId id="257" r:id="rId6"/>
    <p:sldId id="269" r:id="rId7"/>
    <p:sldId id="258" r:id="rId8"/>
    <p:sldId id="260" r:id="rId9"/>
    <p:sldId id="259" r:id="rId10"/>
    <p:sldId id="266" r:id="rId11"/>
    <p:sldId id="267" r:id="rId12"/>
    <p:sldId id="261" r:id="rId13"/>
    <p:sldId id="262" r:id="rId14"/>
    <p:sldId id="263" r:id="rId15"/>
    <p:sldId id="264" r:id="rId16"/>
    <p:sldId id="265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6" userDrawn="1">
          <p15:clr>
            <a:srgbClr val="A4A3A4"/>
          </p15:clr>
        </p15:guide>
        <p15:guide id="2" pos="387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86"/>
        <p:guide pos="38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905" y="3947795"/>
            <a:ext cx="5537200" cy="23495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09905" y="35794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CRT.h</a:t>
            </a:r>
            <a:endParaRPr lang="en-US" altLang="zh-CN" b="1"/>
          </a:p>
        </p:txBody>
      </p:sp>
      <p:sp>
        <p:nvSpPr>
          <p:cNvPr id="7" name="文本框 6"/>
          <p:cNvSpPr txBox="1"/>
          <p:nvPr/>
        </p:nvSpPr>
        <p:spPr>
          <a:xfrm>
            <a:off x="509905" y="490855"/>
            <a:ext cx="5810250" cy="27997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/>
              <a:t>A. </a:t>
            </a:r>
            <a:r>
              <a:rPr lang="zh-CN" altLang="en-US" sz="1600" b="1"/>
              <a:t>数据结构：引入历史缓冲区</a:t>
            </a:r>
            <a:endParaRPr lang="zh-CN" altLang="en-US" sz="1600" b="1"/>
          </a:p>
          <a:p>
            <a:endParaRPr lang="zh-CN" altLang="en-US" sz="1600" b="1"/>
          </a:p>
          <a:p>
            <a:r>
              <a:rPr lang="zh-CN" altLang="en-US" sz="1600" b="1"/>
              <a:t>原版：直接操作显存</a:t>
            </a:r>
            <a:r>
              <a:rPr lang="en-US" altLang="zh-CN" sz="1600" b="1"/>
              <a:t> m_VideoMemory</a:t>
            </a:r>
            <a:r>
              <a:rPr lang="zh-CN" altLang="en-US" sz="1600" b="1"/>
              <a:t>，没有任何历史记录。一旦内容滚出屏幕就丢失了。</a:t>
            </a:r>
            <a:endParaRPr lang="zh-CN" altLang="en-US" sz="1600" b="1"/>
          </a:p>
          <a:p>
            <a:endParaRPr lang="zh-CN" altLang="en-US" sz="1600" b="1"/>
          </a:p>
          <a:p>
            <a:endParaRPr lang="zh-CN" altLang="en-US" sz="1600" b="1"/>
          </a:p>
          <a:p>
            <a:r>
              <a:rPr lang="zh-CN" altLang="en-US" sz="1600" b="1"/>
              <a:t>改进：</a:t>
            </a:r>
            <a:r>
              <a:rPr lang="zh-CN" altLang="en-US" sz="1600" b="1">
                <a:highlight>
                  <a:srgbClr val="FFFF00"/>
                </a:highlight>
              </a:rPr>
              <a:t>将</a:t>
            </a:r>
            <a:r>
              <a:rPr lang="en-US" altLang="zh-CN" sz="1600" b="1">
                <a:highlight>
                  <a:srgbClr val="FFFF00"/>
                </a:highlight>
              </a:rPr>
              <a:t>“</a:t>
            </a:r>
            <a:r>
              <a:rPr lang="zh-CN" altLang="en-US" sz="1600" b="1">
                <a:highlight>
                  <a:srgbClr val="FFFF00"/>
                </a:highlight>
              </a:rPr>
              <a:t>数据存储</a:t>
            </a:r>
            <a:r>
              <a:rPr lang="en-US" altLang="zh-CN" sz="1600" b="1">
                <a:highlight>
                  <a:srgbClr val="FFFF00"/>
                </a:highlight>
              </a:rPr>
              <a:t>”</a:t>
            </a:r>
            <a:r>
              <a:rPr lang="zh-CN" altLang="en-US" sz="1600" b="1">
                <a:highlight>
                  <a:srgbClr val="FFFF00"/>
                </a:highlight>
              </a:rPr>
              <a:t>和</a:t>
            </a:r>
            <a:r>
              <a:rPr lang="en-US" altLang="zh-CN" sz="1600" b="1">
                <a:highlight>
                  <a:srgbClr val="FFFF00"/>
                </a:highlight>
              </a:rPr>
              <a:t>“</a:t>
            </a:r>
            <a:r>
              <a:rPr lang="zh-CN" altLang="en-US" sz="1600" b="1">
                <a:highlight>
                  <a:srgbClr val="FFFF00"/>
                </a:highlight>
              </a:rPr>
              <a:t>屏幕显示</a:t>
            </a:r>
            <a:r>
              <a:rPr lang="en-US" altLang="zh-CN" sz="1600" b="1">
                <a:highlight>
                  <a:srgbClr val="FFFF00"/>
                </a:highlight>
              </a:rPr>
              <a:t>”</a:t>
            </a:r>
            <a:r>
              <a:rPr lang="zh-CN" altLang="en-US" sz="1600" b="1">
                <a:highlight>
                  <a:srgbClr val="FFFF00"/>
                </a:highlight>
              </a:rPr>
              <a:t>解耦</a:t>
            </a:r>
            <a:endParaRPr lang="zh-CN" altLang="en-US" sz="1600" b="1">
              <a:highlight>
                <a:srgbClr val="FFFF0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/>
              <a:t>新增</a:t>
            </a:r>
            <a:r>
              <a:rPr lang="en-US" altLang="zh-CN" sz="1600" b="1"/>
              <a:t> char CRT::m_Buffer[MAX_HISTORY_LINES][COLUMNS]</a:t>
            </a:r>
            <a:r>
              <a:rPr lang="zh-CN" altLang="en-US" sz="1600" b="1"/>
              <a:t>：一个二维数组，用于保存历史屏幕输出内容。</a:t>
            </a:r>
            <a:endParaRPr lang="zh-CN" altLang="en-US" sz="16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/>
              <a:t>m_BufferHead: </a:t>
            </a:r>
            <a:r>
              <a:rPr lang="zh-CN" altLang="en-US" sz="1600" b="1"/>
              <a:t>记录当前写入内容的逻辑行号。</a:t>
            </a:r>
            <a:endParaRPr lang="zh-CN" altLang="en-US" sz="16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/>
              <a:t>m_ViewStartRow: </a:t>
            </a:r>
            <a:r>
              <a:rPr lang="zh-CN" altLang="en-US" sz="1600" b="1"/>
              <a:t>记录当前屏幕显示区域的起始逻辑行号。</a:t>
            </a:r>
            <a:endParaRPr lang="zh-CN" altLang="en-US" sz="1600" b="1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1645" y="1812925"/>
            <a:ext cx="2978150" cy="25273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1645" y="4608195"/>
            <a:ext cx="4724400" cy="16891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811645" y="602615"/>
            <a:ext cx="4329430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b="1">
                <a:sym typeface="+mn-ea"/>
              </a:rPr>
              <a:t>原版</a:t>
            </a:r>
            <a:r>
              <a:rPr lang="en-US" altLang="zh-CN" sz="1600" b="1">
                <a:sym typeface="+mn-ea"/>
              </a:rPr>
              <a:t> 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CRT.cpp</a:t>
            </a:r>
            <a:endParaRPr lang="en-US" altLang="zh-CN" sz="16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en-US" altLang="zh-CN" sz="16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1600" b="1">
                <a:sym typeface="+mn-ea"/>
              </a:rPr>
              <a:t>当光标到达屏幕底部时，直接清空整个屏幕</a:t>
            </a:r>
            <a:endParaRPr lang="en-US" altLang="zh-CN" sz="1600" b="1">
              <a:sym typeface="+mn-ea"/>
            </a:endParaRPr>
          </a:p>
          <a:p>
            <a:r>
              <a:rPr lang="zh-CN" altLang="en-US" sz="1600" b="1">
                <a:sym typeface="+mn-ea"/>
              </a:rPr>
              <a:t>ClearScreen —— 暴力覆盖</a:t>
            </a:r>
            <a:endParaRPr lang="zh-CN" altLang="en-US" sz="1600" b="1"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4810" y="748030"/>
            <a:ext cx="4834255" cy="545973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703060" y="2228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CRT.cpp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905" y="3996690"/>
            <a:ext cx="5537200" cy="17627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09905" y="222885"/>
            <a:ext cx="5080000" cy="1644650"/>
          </a:xfrm>
          <a:prstGeom prst="rect">
            <a:avLst/>
          </a:prstGeom>
        </p:spPr>
        <p:txBody>
          <a:bodyPr>
            <a:noAutofit/>
          </a:bodyPr>
          <a:p>
            <a:pPr marL="0" indent="0" latinLnBrk="1">
              <a:lnSpc>
                <a:spcPts val="970"/>
              </a:lnSpc>
              <a:spcAft>
                <a:spcPct val="60000"/>
              </a:spcAft>
            </a:pPr>
            <a:endParaRPr lang="en-US" altLang="zh-CN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buClrTx/>
              <a:buSzTx/>
              <a:buFontTx/>
            </a:pPr>
            <a:r>
              <a:rPr lang="zh-CN" altLang="en-US" sz="1600" b="1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CRT::</a:t>
            </a:r>
            <a:r>
              <a:rPr lang="zh-CN" altLang="en-US" sz="1600" b="1" i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RefreshScreen (重绘屏幕 - 新增)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buClrTx/>
              <a:buSzTx/>
              <a:buFontTx/>
            </a:pP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这是一个全新的函数，负责根据当前视口 </a:t>
            </a:r>
            <a:r>
              <a:rPr lang="en-US" altLang="zh-CN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(m_ViewStartRow) </a:t>
            </a: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将缓冲区的数据搬运到显存中。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这使得</a:t>
            </a:r>
            <a:r>
              <a:rPr lang="en-US" altLang="zh-CN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PageUp / PageDown </a:t>
            </a: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功能成为可能（只要修改</a:t>
            </a:r>
            <a:r>
              <a:rPr lang="en-US" altLang="zh-CN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m_ViewStartRow </a:t>
            </a: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然后调用此函数即可）。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09270" y="2393633"/>
            <a:ext cx="5080000" cy="1076325"/>
          </a:xfrm>
          <a:prstGeom prst="rect">
            <a:avLst/>
          </a:prstGeom>
        </p:spPr>
        <p:txBody>
          <a:bodyPr>
            <a:spAutoFit/>
          </a:bodyPr>
          <a:p>
            <a:pPr marL="0" algn="l">
              <a:buClrTx/>
              <a:buSzTx/>
              <a:buFontTx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在RefreshScreen 中增加了</a:t>
            </a:r>
            <a:r>
              <a:rPr lang="zh-CN" altLang="en-US" sz="1600" b="1" i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光标可见性判断</a:t>
            </a: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。如果当前查看的是历史记录，且光标所在的“最新行”不在屏幕范围内，则隐藏硬件光标，避免光标在历史内容上乱闪。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直接箭头连接符 6"/>
          <p:cNvCxnSpPr>
            <a:stCxn id="5" idx="3"/>
          </p:cNvCxnSpPr>
          <p:nvPr/>
        </p:nvCxnSpPr>
        <p:spPr>
          <a:xfrm>
            <a:off x="5589270" y="2932430"/>
            <a:ext cx="1010285" cy="1587500"/>
          </a:xfrm>
          <a:prstGeom prst="straightConnector1">
            <a:avLst/>
          </a:prstGeom>
          <a:ln w="44450" cmpd="sng">
            <a:solidFill>
              <a:srgbClr val="FF000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6659245" y="4435475"/>
            <a:ext cx="5005705" cy="18592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09905" y="35794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CRT.h</a:t>
            </a:r>
            <a:endParaRPr lang="en-US" altLang="zh-CN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280" y="423545"/>
            <a:ext cx="4792980" cy="589661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956300" y="1480185"/>
            <a:ext cx="5080000" cy="4276725"/>
          </a:xfrm>
          <a:prstGeom prst="rect">
            <a:avLst/>
          </a:prstGeom>
        </p:spPr>
        <p:txBody>
          <a:bodyPr>
            <a:spAutoFit/>
          </a:bodyPr>
          <a:p>
            <a:pPr marL="0" algn="l">
              <a:lnSpc>
                <a:spcPct val="100000"/>
              </a:lnSpc>
              <a:buClrTx/>
              <a:buSzTx/>
              <a:buFontTx/>
            </a:pPr>
            <a:r>
              <a:rPr lang="zh-CN" altLang="en-US" sz="1600" b="1" i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CRT::NextLine() —— 换行处理</a:t>
            </a:r>
            <a:endParaRPr lang="zh-CN" altLang="en-US" sz="1600" b="1" i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buClrTx/>
              <a:buSzTx/>
              <a:buFontTx/>
            </a:pP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当光标到达行尾或遇到</a:t>
            </a:r>
            <a:r>
              <a:rPr lang="en-US" altLang="zh-CN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\n </a:t>
            </a: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时调用。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逻辑行推进：</a:t>
            </a:r>
            <a:r>
              <a:rPr lang="en-US" altLang="zh-CN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m_BufferHead++</a:t>
            </a: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（所有的写入操作永远针对逻辑行号）。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清理旧数据：因为缓冲区是环形的，新的一行可能残留着很久以前的旧字，所以必须先把这一行清零 </a:t>
            </a:r>
            <a:r>
              <a:rPr lang="en-US" altLang="zh-CN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(m_Buffer[realRowIndex][i] = 0)</a:t>
            </a: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视口跟随：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 typeface="Arial" panose="020B0604020202020204"/>
              <a:buChar char="◦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如果当前行已经超出了屏幕底部：视口下移 (m_ViewStartRow++)，并触发 RefreshScreen() 重绘整个屏幕，产生“滚屏”效果。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 typeface="Arial" panose="020B0604020202020204"/>
              <a:buChar char="◦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如果没有超出：只移动光标 m_CursorY，不重绘，效率更高。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1955" y="301625"/>
            <a:ext cx="5892800" cy="614045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485255" y="1346835"/>
            <a:ext cx="5500370" cy="3538220"/>
          </a:xfrm>
          <a:prstGeom prst="rect">
            <a:avLst/>
          </a:prstGeom>
        </p:spPr>
        <p:txBody>
          <a:bodyPr wrap="square">
            <a:spAutoFit/>
          </a:bodyPr>
          <a:p>
            <a:pPr marL="0" algn="l">
              <a:lnSpc>
                <a:spcPct val="100000"/>
              </a:lnSpc>
              <a:buClrTx/>
              <a:buSzTx/>
              <a:buFont typeface="Arial" panose="020B0604020202020204"/>
              <a:buChar char="•"/>
            </a:pPr>
            <a:r>
              <a:rPr lang="zh-CN" altLang="en-US" sz="1600" b="1" i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CRT::WriteChar(char ch) —— 写入字符</a:t>
            </a:r>
            <a:endParaRPr lang="zh-CN" altLang="en-US" sz="1600" b="1" i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buClrTx/>
              <a:buSzTx/>
              <a:buFont typeface="Arial" panose="020B0604020202020204"/>
              <a:buChar char="•"/>
            </a:pP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将一个字符打印出来。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自动归位：如果用户正在查看历史记录（视口不在最底部），一旦开始打字，立刻强制把视口弹回到最新位置 </a:t>
            </a:r>
            <a:r>
              <a:rPr lang="en-US" altLang="zh-CN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(m_ViewStartRow = m_BufferHead - ROWS + 1)</a:t>
            </a: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，并重绘屏幕。这符合终端的标准行为。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双重写入：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 typeface="Arial" panose="020B0604020202020204"/>
              <a:buChar char="•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写缓冲区：存入 m_Buffer，作为永久存档（为了以后能翻回来）。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 typeface="Arial" panose="020B0604020202020204"/>
              <a:buChar char="•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写显存：存入 m_VideoMemory，让用户立刻看到。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buClrTx/>
              <a:buSzTx/>
              <a:buFont typeface="Arial" panose="020B0604020202020204"/>
              <a:buChar char="•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光标推进：X 坐标加 1，如果满了就自动调用NextLine()。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875" y="310515"/>
            <a:ext cx="4906645" cy="623697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941060" y="1913573"/>
            <a:ext cx="5080000" cy="3291840"/>
          </a:xfrm>
          <a:prstGeom prst="rect">
            <a:avLst/>
          </a:prstGeom>
        </p:spPr>
        <p:txBody>
          <a:bodyPr>
            <a:spAutoFit/>
          </a:bodyPr>
          <a:p>
            <a:pPr marL="0" algn="l">
              <a:lnSpc>
                <a:spcPct val="100000"/>
              </a:lnSpc>
              <a:buClrTx/>
              <a:buSzTx/>
              <a:buFontTx/>
            </a:pPr>
            <a:r>
              <a:rPr lang="en-US" altLang="zh-CN" sz="1600" b="1" i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CRT::BackSpace() —— 退格处理</a:t>
            </a:r>
            <a:endParaRPr lang="en-US" altLang="zh-CN" sz="1600" b="1" i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buClrTx/>
              <a:buSzTx/>
              <a:buFontTx/>
            </a:pPr>
            <a:endParaRPr lang="en-US" altLang="zh-CN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buClrTx/>
              <a:buSzTx/>
              <a:buFontTx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当用户按下退格键或接收到 \b 时调用。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buClrTx/>
              <a:buSzTx/>
              <a:buFontTx/>
            </a:pP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buClrTx/>
              <a:buSzTx/>
              <a:buFontTx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自动归位：同 WriteChar，打字（删字）前先跳回最新视角。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buClrTx/>
              <a:buSzTx/>
              <a:buFontTx/>
            </a:pP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buClrTx/>
              <a:buSzTx/>
              <a:buFontTx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跨行回退：支持从行首回退到上一行的末尾（逻辑行号减 1，光标 X 设为行尾）。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buClrTx/>
              <a:buSzTx/>
              <a:buFontTx/>
            </a:pP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buClrTx/>
              <a:buSzTx/>
              <a:buFontTx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双重擦除：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Tx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擦缓冲区：将对应位置置为 0。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Tx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擦显存：将对应位置置为空格。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 flipH="1" flipV="1">
            <a:off x="5568315" y="2945130"/>
            <a:ext cx="384175" cy="755650"/>
          </a:xfrm>
          <a:prstGeom prst="straightConnector1">
            <a:avLst/>
          </a:prstGeom>
          <a:ln w="44450" cmpd="sng">
            <a:solidFill>
              <a:srgbClr val="FF000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474345" y="1845945"/>
            <a:ext cx="5005705" cy="20440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035" y="1471295"/>
            <a:ext cx="5099050" cy="51752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80035" y="104140"/>
            <a:ext cx="6109335" cy="127825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Aft>
                <a:spcPct val="60000"/>
              </a:spcAft>
            </a:pPr>
            <a:r>
              <a:rPr lang="en-US" altLang="zh-CN" sz="1600" b="1" i="0">
                <a:solidFill>
                  <a:schemeClr val="tx1"/>
                </a:solidFill>
                <a:highlight>
                  <a:srgbClr val="FF0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B. </a:t>
            </a:r>
            <a:r>
              <a:rPr lang="zh-CN" altLang="en-US" sz="1600" b="1" i="0">
                <a:solidFill>
                  <a:schemeClr val="tx1"/>
                </a:solidFill>
                <a:highlight>
                  <a:srgbClr val="FF0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屏幕滚动查看 </a:t>
            </a:r>
            <a:r>
              <a:rPr lang="en-US" altLang="zh-CN" sz="1600" b="1" i="0">
                <a:solidFill>
                  <a:schemeClr val="tx1"/>
                </a:solidFill>
                <a:highlight>
                  <a:srgbClr val="FF0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(PageUp/PageDown)</a:t>
            </a:r>
            <a:endParaRPr lang="en-US" altLang="zh-CN" sz="1600" b="1" i="0">
              <a:solidFill>
                <a:schemeClr val="tx1"/>
              </a:solidFill>
              <a:highlight>
                <a:srgbClr val="FF00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zh-CN" altLang="en-US" sz="12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实现了类似终端的滚屏功能，可以查看屏幕缓冲区中更早或更新的内容。</a:t>
            </a:r>
            <a:endParaRPr lang="zh-CN" altLang="en-US" sz="12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endParaRPr lang="zh-CN" altLang="en-US" sz="12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2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Page Up (0x49): </a:t>
            </a:r>
            <a:r>
              <a:rPr lang="zh-CN" altLang="en-US" sz="12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减少</a:t>
            </a:r>
            <a:r>
              <a:rPr lang="en-US" altLang="zh-CN" sz="12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CRT::m_ViewStartRow</a:t>
            </a:r>
            <a:r>
              <a:rPr lang="zh-CN" altLang="en-US" sz="12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，即向上滚动视图，查看历史输出。</a:t>
            </a:r>
            <a:endParaRPr lang="zh-CN" altLang="en-US" sz="12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2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Page Down (0x51): </a:t>
            </a:r>
            <a:r>
              <a:rPr lang="zh-CN" altLang="en-US" sz="12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增加</a:t>
            </a:r>
            <a:r>
              <a:rPr lang="en-US" altLang="zh-CN" sz="12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CRT::m_ViewStartRow</a:t>
            </a:r>
            <a:r>
              <a:rPr lang="zh-CN" altLang="en-US" sz="12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，即向下滚动视图，查看最新输出。</a:t>
            </a:r>
            <a:endParaRPr lang="zh-CN" altLang="en-US" sz="12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395" y="1437640"/>
            <a:ext cx="5505450" cy="50482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39395" y="107633"/>
            <a:ext cx="5080000" cy="127825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Aft>
                <a:spcPct val="60000"/>
              </a:spcAft>
            </a:pPr>
            <a:r>
              <a:rPr lang="en-US" altLang="zh-CN" sz="1600" b="1" i="0">
                <a:solidFill>
                  <a:schemeClr val="tx1"/>
                </a:solidFill>
                <a:highlight>
                  <a:srgbClr val="FF0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C. </a:t>
            </a:r>
            <a:r>
              <a:rPr lang="zh-CN" altLang="en-US" sz="1600" b="1" i="0">
                <a:solidFill>
                  <a:schemeClr val="tx1"/>
                </a:solidFill>
                <a:highlight>
                  <a:srgbClr val="FF0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命令历史记录导航 </a:t>
            </a:r>
            <a:r>
              <a:rPr lang="en-US" altLang="zh-CN" sz="1600" b="1" i="0">
                <a:solidFill>
                  <a:schemeClr val="tx1"/>
                </a:solidFill>
                <a:highlight>
                  <a:srgbClr val="FF0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1600" b="1" i="0">
                <a:solidFill>
                  <a:schemeClr val="tx1"/>
                </a:solidFill>
                <a:highlight>
                  <a:srgbClr val="FF0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</a:t>
            </a:r>
            <a:r>
              <a:rPr lang="en-US" altLang="zh-CN" sz="1600" b="1" i="0">
                <a:solidFill>
                  <a:schemeClr val="tx1"/>
                </a:solidFill>
                <a:highlight>
                  <a:srgbClr val="FF0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600" b="1" i="0">
                <a:solidFill>
                  <a:schemeClr val="tx1"/>
                </a:solidFill>
                <a:highlight>
                  <a:srgbClr val="FF0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下方向键</a:t>
            </a:r>
            <a:r>
              <a:rPr lang="en-US" altLang="zh-CN" sz="1600" b="1" i="0">
                <a:solidFill>
                  <a:schemeClr val="tx1"/>
                </a:solidFill>
                <a:highlight>
                  <a:srgbClr val="FF0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zh-CN" altLang="en-US" sz="12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实现了在终端中通过方向键查看之前输入的历史命令。</a:t>
            </a:r>
            <a:endParaRPr lang="zh-CN" altLang="en-US" sz="12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endParaRPr lang="zh-CN" altLang="en-US" sz="12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2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上方向键 </a:t>
            </a:r>
            <a:r>
              <a:rPr lang="en-US" altLang="zh-CN" sz="12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(0x48): </a:t>
            </a:r>
            <a:r>
              <a:rPr lang="zh-CN" altLang="en-US" sz="12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</a:t>
            </a:r>
            <a:r>
              <a:rPr lang="en-US" altLang="zh-CN" sz="12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TTy::HistoryUp()</a:t>
            </a:r>
            <a:r>
              <a:rPr lang="zh-CN" altLang="en-US" sz="12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，向上翻阅历史命令。</a:t>
            </a:r>
            <a:endParaRPr lang="zh-CN" altLang="en-US" sz="12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2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下方向键 </a:t>
            </a:r>
            <a:r>
              <a:rPr lang="en-US" altLang="zh-CN" sz="12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(0x50): </a:t>
            </a:r>
            <a:r>
              <a:rPr lang="zh-CN" altLang="en-US" sz="12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</a:t>
            </a:r>
            <a:r>
              <a:rPr lang="en-US" altLang="zh-CN" sz="12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TTy::HistoryDown()</a:t>
            </a:r>
            <a:r>
              <a:rPr lang="zh-CN" altLang="en-US" sz="12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，向下翻阅历史命令。</a:t>
            </a:r>
            <a:endParaRPr lang="zh-CN" altLang="en-US" sz="12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2185" y="3747770"/>
            <a:ext cx="5454650" cy="21082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052185" y="3049588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algn="l">
              <a:spcAft>
                <a:spcPct val="60000"/>
              </a:spcAft>
              <a:buClrTx/>
              <a:buSzTx/>
              <a:buFontTx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lang="en-US" altLang="zh-CN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TTy 类中设计了一个环形历史记录本 (m_History)，可以保存最近使用的 10 条命令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5580" y="244475"/>
            <a:ext cx="4106545" cy="63690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67385" y="360362"/>
            <a:ext cx="5080000" cy="5692775"/>
          </a:xfrm>
          <a:prstGeom prst="rect">
            <a:avLst/>
          </a:prstGeom>
        </p:spPr>
        <p:txBody>
          <a:bodyPr>
            <a:spAutoFit/>
          </a:bodyPr>
          <a:p>
            <a:pPr marL="0" algn="l">
              <a:lnSpc>
                <a:spcPct val="100000"/>
              </a:lnSpc>
              <a:buClrTx/>
              <a:buSzTx/>
              <a:buFontTx/>
            </a:pPr>
            <a:r>
              <a:rPr lang="zh-CN" altLang="en-US" sz="1400" b="1" i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TTy::SaveHistory() 函数：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buClrTx/>
              <a:buSzTx/>
              <a:buFontTx/>
            </a:pPr>
            <a:r>
              <a:rPr lang="zh-CN" altLang="en-US" sz="1400" b="1" i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将用户刚刚在终端输入的命令保存到历史记录中</a:t>
            </a:r>
            <a:endParaRPr lang="zh-CN" altLang="en-US" sz="1400" b="1" i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buClrTx/>
              <a:buSzTx/>
              <a:buFontTx/>
            </a:pP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buClrTx/>
              <a:buSzTx/>
              <a:buFontTx/>
            </a:pP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获取最新输入：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Tx/>
            </a:pP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它在用户按下回车键后被调用。直接去读取终端的原始输入队列 (t_rawq)，这是存放用户键盘敲击内容的地方。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Tx/>
            </a:pP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buClrTx/>
              <a:buSzTx/>
              <a:buFontTx/>
            </a:pP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回溯提取命令：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Tx/>
            </a:pP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它从队列的最新位置（刚刚敲入的换行符之前）开始，向前逐个字符扫描，直到遇到上一行的结束标志（换行符）或者队列头。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Tx/>
            </a:pP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Tx/>
            </a:pP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过滤无效命令、重复命令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Tx/>
            </a:pP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Tx/>
            </a:pP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存入历史档案：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Tx/>
            </a:pP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如果命令是新的，它会将这个字符串复制到 m_History 这个环形历史记录缓冲区中。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Tx/>
            </a:pP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这个缓冲区像一个只有 10 页的笔记本，写满第 10 页后，下一条记录会覆盖掉第 1 页（最早的那条记录）。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Tx/>
            </a:pP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buClrTx/>
              <a:buSzTx/>
              <a:buFontTx/>
            </a:pP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重置浏览状态：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Tx/>
            </a:pP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保存完毕后，它会将“当前浏览位置”指针 (m_HistoryCurrentIndex) 重置为 -1。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Tx/>
            </a:pP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这意味着告诉系统：用户现在回到了“当下”时刻，没有在翻看旧皇历。下次用户按“上”键时，系统知道应该从“最近”的一条历史开始显示。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585" y="225425"/>
            <a:ext cx="4620260" cy="64071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585460" y="797560"/>
            <a:ext cx="5620385" cy="5262245"/>
          </a:xfrm>
          <a:prstGeom prst="rect">
            <a:avLst/>
          </a:prstGeom>
        </p:spPr>
        <p:txBody>
          <a:bodyPr wrap="square">
            <a:spAutoFit/>
          </a:bodyPr>
          <a:p>
            <a:pPr marL="0" algn="l">
              <a:lnSpc>
                <a:spcPct val="100000"/>
              </a:lnSpc>
              <a:buClrTx/>
              <a:buSzTx/>
              <a:buFontTx/>
            </a:pPr>
            <a:r>
              <a:rPr lang="zh-CN" altLang="en-US" sz="1600" b="1" i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TTy::HistoryUp() —— 查看上一条命令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buClrTx/>
              <a:buSzTx/>
              <a:buFontTx/>
            </a:pP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这个函数的目的用户能找回之前输入过的命令。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触发时机：用户按下键盘上的上方向键 </a:t>
            </a:r>
            <a:r>
              <a:rPr lang="en-US" altLang="zh-CN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(↑)</a:t>
            </a: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核心逻辑：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检查：如果历史记录本是空的 </a:t>
            </a:r>
            <a:r>
              <a:rPr lang="en-US" altLang="zh-CN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(Count == 0)</a:t>
            </a: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，没法倒流，直接退出。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定位目标：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2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如果还没开始翻（在现在），目标就是最新的一条记录。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2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如果已经在翻了（在过去），目标就是更老的一条记录。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2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防撞墙：如果已经到了最老的那条，就不再动了。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2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清场（视觉）：计算当前屏幕上那行命令有多长，用“退格</a:t>
            </a:r>
            <a:r>
              <a:rPr lang="en-US" altLang="zh-CN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空格</a:t>
            </a:r>
            <a:r>
              <a:rPr lang="en-US" altLang="zh-CN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退格”把它在屏幕上擦得干干净净。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遗忘（内存）：把内存里的笔尖（</a:t>
            </a:r>
            <a:r>
              <a:rPr lang="en-US" altLang="zh-CN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m_Head</a:t>
            </a: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）拨回去，假装刚才那行字从来没写过。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重现：从历史记录本里抄出目标那条命令，一边塞进内存（假装是用户刚敲的），一边打印在屏幕上。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490" y="658495"/>
            <a:ext cx="4956175" cy="556958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690235" y="658495"/>
            <a:ext cx="5552440" cy="5507990"/>
          </a:xfrm>
          <a:prstGeom prst="rect">
            <a:avLst/>
          </a:prstGeom>
        </p:spPr>
        <p:txBody>
          <a:bodyPr wrap="square">
            <a:spAutoFit/>
          </a:bodyPr>
          <a:p>
            <a:pPr marL="0" algn="l">
              <a:lnSpc>
                <a:spcPct val="100000"/>
              </a:lnSpc>
              <a:buClrTx/>
              <a:buSzTx/>
              <a:buFontTx/>
            </a:pPr>
            <a:r>
              <a:rPr lang="zh-CN" altLang="en-US" sz="1600" b="1" i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TTy::HistoryDown() —— 查看下</a:t>
            </a:r>
            <a:r>
              <a:rPr lang="zh-CN" altLang="en-US" sz="1600" b="1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一条</a:t>
            </a:r>
            <a:r>
              <a:rPr lang="zh-CN" altLang="en-US" sz="1600" b="1" i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命令</a:t>
            </a:r>
            <a:endParaRPr lang="zh-CN" altLang="en-US" sz="1600" b="1" i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buClrTx/>
              <a:buSzTx/>
              <a:buFontTx/>
            </a:pP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这个函数的目的是在查看旧命令时往回翻，或者直接回到空白行准备输入新命令。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触发时机：用户按下键盘上的下方向键 </a:t>
            </a:r>
            <a:r>
              <a:rPr lang="en-US" altLang="zh-CN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(↓)</a:t>
            </a: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核心逻辑：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检查：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2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如果历史记录是空的，或者用户本来就在“现在”（没在看历史），那按“下”没意义，直接退出。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2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定位目标：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2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如果当前看的是最新的那条历史，再往下翻就应该回到空白行（</a:t>
            </a:r>
            <a:r>
              <a:rPr lang="en-US" altLang="zh-CN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target = -1</a:t>
            </a: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2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如果看的是中间的老记录，目标就是更新的一条记录。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2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清场（视觉）：同样先把屏幕上当前显示的旧命令擦干净。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遗忘（内存）：同样把内存里的笔尖拨回去，撤销掉旧命令。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重现：如果目标是某条更新的记录：把它抄出来显示。如果目标是空白行 </a:t>
            </a:r>
            <a:r>
              <a:rPr lang="en-US" altLang="zh-CN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(target == -1)</a:t>
            </a: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：什么都不抄，屏幕上留白，把控制权交还给用户，等待输入全新的命令。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>
        <a:spAutoFit/>
      </a:bodyPr>
      <a:lstStyle>
        <a:defPPr marL="0" indent="0">
          <a:defRPr lang="zh-CN" altLang="en-US" b="1" i="0">
            <a:solidFill>
              <a:schemeClr val="tx1"/>
            </a:solidFill>
            <a:latin typeface="微软雅黑" panose="020B0503020204020204" charset="-122"/>
            <a:ea typeface="微软雅黑" panose="020B0503020204020204" charset="-122"/>
            <a:cs typeface="微软雅黑" panose="020B050302020402020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2579</Words>
  <Application>WPS 演示</Application>
  <PresentationFormat>宽屏</PresentationFormat>
  <Paragraphs>133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宋体</vt:lpstr>
      <vt:lpstr>Wingdings</vt:lpstr>
      <vt:lpstr>微软雅黑</vt:lpstr>
      <vt:lpstr>Arial</vt:lpstr>
      <vt:lpstr>Calibri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maoxingbo</dc:creator>
  <cp:lastModifiedBy>JL</cp:lastModifiedBy>
  <cp:revision>8</cp:revision>
  <dcterms:created xsi:type="dcterms:W3CDTF">2023-08-09T12:44:00Z</dcterms:created>
  <dcterms:modified xsi:type="dcterms:W3CDTF">2025-12-06T08:56:37Z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704BE82AB09E4ABE9F6AD2DCC44789B4_12</vt:lpwstr>
  </property>
</Properties>
</file>