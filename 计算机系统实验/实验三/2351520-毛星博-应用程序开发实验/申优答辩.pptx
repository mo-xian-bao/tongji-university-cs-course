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8" r:id="rId3"/>
    <p:sldId id="276" r:id="rId4"/>
    <p:sldId id="262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59" r:id="rId14"/>
    <p:sldId id="266" r:id="rId15"/>
    <p:sldId id="260" r:id="rId16"/>
    <p:sldId id="271" r:id="rId17"/>
    <p:sldId id="263" r:id="rId18"/>
    <p:sldId id="264" r:id="rId19"/>
    <p:sldId id="265" r:id="rId20"/>
    <p:sldId id="273" r:id="rId21"/>
    <p:sldId id="289" r:id="rId22"/>
    <p:sldId id="279" r:id="rId23"/>
    <p:sldId id="267" r:id="rId24"/>
    <p:sldId id="280" r:id="rId25"/>
    <p:sldId id="269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5" userDrawn="1">
          <p15:clr>
            <a:srgbClr val="A4A3A4"/>
          </p15:clr>
        </p15:guide>
        <p15:guide id="2" pos="381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杨 伟洲" initials="杨" lastIdx="0" clrIdx="0"/>
  <p:cmAuthor id="2" name="Fish Zheng" initials="FZ" lastIdx="0" clrIdx="1"/>
  <p:cmAuthor id="3" name="SYS" initials="S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05"/>
        <p:guide pos="38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0" Type="http://schemas.openxmlformats.org/officeDocument/2006/relationships/commentAuthors" Target="commentAuthors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3.png"/><Relationship Id="rId10" Type="http://schemas.openxmlformats.org/officeDocument/2006/relationships/image" Target="../media/image8.png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8256270" y="1544955"/>
            <a:ext cx="3935730" cy="289560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0" y="1544955"/>
            <a:ext cx="12404090" cy="2895600"/>
          </a:xfrm>
          <a:prstGeom prst="rect">
            <a:avLst/>
          </a:prstGeom>
          <a:gradFill flip="none" rotWithShape="1">
            <a:gsLst>
              <a:gs pos="38000">
                <a:schemeClr val="accent1"/>
              </a:gs>
              <a:gs pos="76000">
                <a:schemeClr val="accent1">
                  <a:alpha val="30690"/>
                </a:schemeClr>
              </a:gs>
              <a:gs pos="0">
                <a:schemeClr val="accent1"/>
              </a:gs>
              <a:gs pos="60000">
                <a:schemeClr val="accent1">
                  <a:alpha val="90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6600"/>
          </a:p>
        </p:txBody>
      </p:sp>
      <p:sp>
        <p:nvSpPr>
          <p:cNvPr id="7" name="文本框 6"/>
          <p:cNvSpPr txBox="1"/>
          <p:nvPr/>
        </p:nvSpPr>
        <p:spPr>
          <a:xfrm>
            <a:off x="9359900" y="4696460"/>
            <a:ext cx="233997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b="1">
                <a:latin typeface="+mn-ea"/>
                <a:cs typeface="+mn-ea"/>
              </a:rPr>
              <a:t>2351520</a:t>
            </a:r>
            <a:endParaRPr lang="en-US" altLang="zh-CN" b="1">
              <a:latin typeface="+mn-ea"/>
              <a:cs typeface="+mn-ea"/>
            </a:endParaRPr>
          </a:p>
          <a:p>
            <a:pPr algn="r">
              <a:lnSpc>
                <a:spcPct val="150000"/>
              </a:lnSpc>
            </a:pPr>
            <a:r>
              <a:rPr lang="zh-CN" altLang="en-US" b="1">
                <a:latin typeface="+mn-ea"/>
                <a:cs typeface="+mn-ea"/>
              </a:rPr>
              <a:t>毛星博</a:t>
            </a:r>
            <a:endParaRPr lang="zh-CN" altLang="en-US" b="1">
              <a:latin typeface="+mn-ea"/>
              <a:cs typeface="+mn-ea"/>
            </a:endParaRPr>
          </a:p>
          <a:p>
            <a:pPr algn="r">
              <a:lnSpc>
                <a:spcPct val="150000"/>
              </a:lnSpc>
            </a:pPr>
            <a:r>
              <a:rPr lang="zh-CN" altLang="en-US" b="1">
                <a:latin typeface="+mn-ea"/>
                <a:cs typeface="+mn-ea"/>
              </a:rPr>
              <a:t>计算机科学与技术</a:t>
            </a:r>
            <a:endParaRPr lang="zh-CN" altLang="en-US" b="1">
              <a:latin typeface="+mn-ea"/>
              <a:cs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63345" y="2237740"/>
            <a:ext cx="657796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chemeClr val="bg1"/>
                </a:solidFill>
              </a:rPr>
              <a:t>计算机系统实验申优答辩</a:t>
            </a:r>
            <a:endParaRPr lang="zh-CN" altLang="en-US" sz="3200" b="1">
              <a:solidFill>
                <a:schemeClr val="bg1"/>
              </a:solidFill>
            </a:endParaRPr>
          </a:p>
          <a:p>
            <a:r>
              <a:rPr lang="en-US" altLang="zh-CN" sz="3200" b="1">
                <a:solidFill>
                  <a:schemeClr val="bg1"/>
                </a:solidFill>
              </a:rPr>
              <a:t>——</a:t>
            </a:r>
            <a:r>
              <a:rPr lang="zh-CN" altLang="en-US" sz="3200" b="1">
                <a:solidFill>
                  <a:schemeClr val="bg1"/>
                </a:solidFill>
              </a:rPr>
              <a:t>操作系统移植和应用程序</a:t>
            </a:r>
            <a:r>
              <a:rPr lang="zh-CN" altLang="en-US" sz="3200" b="1">
                <a:solidFill>
                  <a:schemeClr val="bg1"/>
                </a:solidFill>
              </a:rPr>
              <a:t>开发</a:t>
            </a:r>
            <a:endParaRPr lang="zh-CN" altLang="en-US" sz="3200" b="1">
              <a:solidFill>
                <a:schemeClr val="bg1"/>
              </a:solidFill>
            </a:endParaRPr>
          </a:p>
        </p:txBody>
      </p:sp>
      <p:pic>
        <p:nvPicPr>
          <p:cNvPr id="3" name="图片 2"/>
          <p:cNvPicPr/>
          <p:nvPr/>
        </p:nvPicPr>
        <p:blipFill>
          <a:blip r:embed="rId2"/>
          <a:srcRect l="2750" t="20150" r="5570" b="22261"/>
          <a:stretch>
            <a:fillRect/>
          </a:stretch>
        </p:blipFill>
        <p:spPr>
          <a:xfrm>
            <a:off x="241935" y="153035"/>
            <a:ext cx="3854450" cy="11925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63B70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381000" y="17145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同济大学</a:t>
            </a:r>
            <a:endParaRPr sz="2100" b="1">
              <a:solidFill>
                <a:srgbClr val="FFFFF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81000" y="5524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TONGJI UNIVERSITY</a:t>
            </a:r>
            <a:endParaRPr sz="1200" b="0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002780" y="219075"/>
            <a:ext cx="342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FFFFFF"/>
                </a:solidFill>
              </a:defRPr>
            </a:pPr>
            <a:r>
              <a:rPr lang="zh-CN"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实验任务与</a:t>
            </a:r>
            <a:r>
              <a:rPr lang="zh-CN"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内容</a:t>
            </a:r>
            <a:endParaRPr lang="zh-CN" sz="28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" y="78740"/>
            <a:ext cx="3023235" cy="910590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1137285" y="2423160"/>
            <a:ext cx="2735580" cy="3352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latin typeface="Eras Bold ITC" panose="020B0907030504020204" charset="0"/>
                <a:ea typeface="微软雅黑" panose="020B0503020204020204" charset="-122"/>
              </a:rPr>
              <a:t>增加总线、控制器</a:t>
            </a:r>
            <a:endParaRPr lang="zh-CN" altLang="en-US" b="1">
              <a:latin typeface="Eras Bold ITC" panose="020B0907030504020204" charset="0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3735" y="3001645"/>
            <a:ext cx="4616450" cy="181483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266700" indent="26670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·  </a:t>
            </a:r>
            <a:r>
              <a:rPr lang="zh-CN" altLang="en-US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为 </a:t>
            </a:r>
            <a:r>
              <a:rPr lang="en-US" altLang="zh-CN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OpenMIPS </a:t>
            </a:r>
            <a:r>
              <a:rPr lang="zh-CN" altLang="en-US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增加</a:t>
            </a:r>
            <a:r>
              <a:rPr lang="en-US" altLang="zh-CN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Wishbone </a:t>
            </a:r>
            <a:r>
              <a:rPr lang="zh-CN" altLang="en-US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总线接口</a:t>
            </a:r>
            <a:endParaRPr lang="zh-CN" altLang="en-US" sz="1600" b="1">
              <a:solidFill>
                <a:srgbClr val="000000"/>
              </a:solidFill>
              <a:latin typeface="Eras Bold ITC" panose="020B0907030504020204" charset="0"/>
              <a:ea typeface="微软雅黑" panose="020B0503020204020204" charset="-122"/>
              <a:cs typeface="Eras Bold ITC" panose="020B0907030504020204" charset="0"/>
            </a:endParaRPr>
          </a:p>
          <a:p>
            <a:pPr marL="266700" indent="26670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·  </a:t>
            </a:r>
            <a:r>
              <a:rPr lang="zh-CN" altLang="en-US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增加 </a:t>
            </a:r>
            <a:r>
              <a:rPr lang="en-US" altLang="zh-CN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Wishbone </a:t>
            </a:r>
            <a:r>
              <a:rPr lang="zh-CN" altLang="en-US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总线</a:t>
            </a:r>
            <a:endParaRPr lang="zh-CN" altLang="en-US" sz="1600" b="1">
              <a:solidFill>
                <a:srgbClr val="000000"/>
              </a:solidFill>
              <a:latin typeface="Eras Bold ITC" panose="020B0907030504020204" charset="0"/>
              <a:ea typeface="微软雅黑" panose="020B0503020204020204" charset="-122"/>
              <a:cs typeface="Eras Bold ITC" panose="020B0907030504020204" charset="0"/>
            </a:endParaRPr>
          </a:p>
          <a:p>
            <a:pPr marL="266700" indent="26670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·  </a:t>
            </a:r>
            <a:r>
              <a:rPr lang="zh-CN" altLang="en-US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增加 </a:t>
            </a:r>
            <a:r>
              <a:rPr lang="en-US" altLang="zh-CN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GPIO </a:t>
            </a:r>
            <a:endParaRPr lang="en-US" altLang="zh-CN" sz="1600" b="1">
              <a:solidFill>
                <a:srgbClr val="000000"/>
              </a:solidFill>
              <a:latin typeface="Eras Bold ITC" panose="020B0907030504020204" charset="0"/>
              <a:ea typeface="微软雅黑" panose="020B0503020204020204" charset="-122"/>
              <a:cs typeface="Eras Bold ITC" panose="020B0907030504020204" charset="0"/>
            </a:endParaRPr>
          </a:p>
          <a:p>
            <a:pPr marL="266700" indent="26670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·  </a:t>
            </a:r>
            <a:r>
              <a:rPr lang="zh-CN" altLang="en-US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增加 </a:t>
            </a:r>
            <a:r>
              <a:rPr lang="en-US" altLang="zh-CN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UART </a:t>
            </a:r>
            <a:r>
              <a:rPr lang="zh-CN" altLang="en-US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控制器</a:t>
            </a:r>
            <a:endParaRPr lang="zh-CN" altLang="en-US" sz="1600" b="1">
              <a:solidFill>
                <a:srgbClr val="000000"/>
              </a:solidFill>
              <a:latin typeface="Eras Bold ITC" panose="020B0907030504020204" charset="0"/>
              <a:ea typeface="微软雅黑" panose="020B0503020204020204" charset="-122"/>
              <a:cs typeface="Eras Bold ITC" panose="020B0907030504020204" charset="0"/>
            </a:endParaRPr>
          </a:p>
          <a:p>
            <a:pPr marL="266700" indent="26670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·  </a:t>
            </a:r>
            <a:r>
              <a:rPr lang="zh-CN" altLang="en-US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增加 </a:t>
            </a:r>
            <a:r>
              <a:rPr lang="en-US" altLang="zh-CN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Flash </a:t>
            </a:r>
            <a:r>
              <a:rPr lang="zh-CN" altLang="en-US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控制器</a:t>
            </a:r>
            <a:endParaRPr lang="zh-CN" altLang="en-US" sz="1600" b="1">
              <a:solidFill>
                <a:srgbClr val="000000"/>
              </a:solidFill>
              <a:latin typeface="Eras Bold ITC" panose="020B0907030504020204" charset="0"/>
              <a:ea typeface="微软雅黑" panose="020B0503020204020204" charset="-122"/>
              <a:cs typeface="Eras Bold ITC" panose="020B0907030504020204" charset="0"/>
            </a:endParaRPr>
          </a:p>
          <a:p>
            <a:pPr marL="266700" indent="26670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·  </a:t>
            </a:r>
            <a:r>
              <a:rPr lang="zh-CN" altLang="en-US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增加 </a:t>
            </a:r>
            <a:r>
              <a:rPr lang="en-US" altLang="zh-CN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SDRAM </a:t>
            </a:r>
            <a:r>
              <a:rPr lang="zh-CN" altLang="en-US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控制器</a:t>
            </a:r>
            <a:endParaRPr lang="zh-CN" altLang="en-US" sz="1600" b="1">
              <a:solidFill>
                <a:srgbClr val="000000"/>
              </a:solidFill>
              <a:latin typeface="Eras Bold ITC" panose="020B0907030504020204" charset="0"/>
              <a:ea typeface="微软雅黑" panose="020B0503020204020204" charset="-122"/>
              <a:cs typeface="Eras Bold ITC" panose="020B0907030504020204" charset="0"/>
            </a:endParaRPr>
          </a:p>
          <a:p>
            <a:pPr marL="266700" indent="26670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·  </a:t>
            </a:r>
            <a:r>
              <a:rPr lang="zh-CN" altLang="en-US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实现完整的 </a:t>
            </a:r>
            <a:r>
              <a:rPr lang="en-US" altLang="zh-CN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SOPC </a:t>
            </a:r>
            <a:endParaRPr lang="en-US" altLang="zh-CN" sz="1600" b="1">
              <a:solidFill>
                <a:srgbClr val="000000"/>
              </a:solidFill>
              <a:latin typeface="Eras Bold ITC" panose="020B0907030504020204" charset="0"/>
              <a:ea typeface="微软雅黑" panose="020B0503020204020204" charset="-122"/>
              <a:cs typeface="Eras Bold ITC" panose="020B090703050402020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37285" y="2872740"/>
            <a:ext cx="4152900" cy="204216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latin typeface="Eras Bold ITC" panose="020B0907030504020204" charset="0"/>
              <a:ea typeface="微软雅黑" panose="020B0503020204020204" charset="-122"/>
              <a:cs typeface="Eras Bold ITC" panose="020B0907030504020204" charset="0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537325" y="2209800"/>
            <a:ext cx="2735580" cy="3352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latin typeface="Eras Bold ITC" panose="020B0907030504020204" charset="0"/>
                <a:ea typeface="微软雅黑" panose="020B0503020204020204" charset="-122"/>
              </a:rPr>
              <a:t>操作系统移植</a:t>
            </a:r>
            <a:endParaRPr lang="zh-CN" altLang="en-US" b="1">
              <a:latin typeface="Eras Bold ITC" panose="020B0907030504020204" charset="0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537325" y="2672080"/>
            <a:ext cx="4046220" cy="79248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latin typeface="Eras Bold ITC" panose="020B0907030504020204" charset="0"/>
              <a:ea typeface="微软雅黑" panose="020B0503020204020204" charset="-122"/>
              <a:cs typeface="Eras Bold ITC" panose="020B09070305040202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49645" y="2758440"/>
            <a:ext cx="4172585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266700" indent="26670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·  </a:t>
            </a:r>
            <a:r>
              <a:rPr lang="zh-CN" altLang="en-US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在 </a:t>
            </a:r>
            <a:r>
              <a:rPr lang="en-US" altLang="zh-CN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Ubuntu </a:t>
            </a:r>
            <a:r>
              <a:rPr lang="zh-CN" altLang="en-US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上建立交叉编译环境</a:t>
            </a:r>
            <a:endParaRPr lang="zh-CN" altLang="en-US" sz="1600" b="1">
              <a:solidFill>
                <a:srgbClr val="000000"/>
              </a:solidFill>
              <a:latin typeface="Eras Bold ITC" panose="020B0907030504020204" charset="0"/>
              <a:ea typeface="微软雅黑" panose="020B0503020204020204" charset="-122"/>
              <a:cs typeface="Eras Bold ITC" panose="020B0907030504020204" charset="0"/>
            </a:endParaRPr>
          </a:p>
          <a:p>
            <a:pPr marL="266700" indent="26670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  <a:sym typeface="+mn-ea"/>
              </a:rPr>
              <a:t>·  </a:t>
            </a:r>
            <a:r>
              <a:rPr lang="zh-CN" altLang="en-US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  <a:sym typeface="+mn-ea"/>
              </a:rPr>
              <a:t>对 </a:t>
            </a:r>
            <a:r>
              <a:rPr lang="en-US" altLang="zh-CN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  <a:sym typeface="+mn-ea"/>
              </a:rPr>
              <a:t>μC/OS-II </a:t>
            </a:r>
            <a:r>
              <a:rPr lang="zh-CN" altLang="en-US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  <a:sym typeface="+mn-ea"/>
              </a:rPr>
              <a:t>系统进行改写与编译</a:t>
            </a:r>
            <a:endParaRPr lang="zh-CN" altLang="en-US" sz="1600" b="1">
              <a:solidFill>
                <a:srgbClr val="000000"/>
              </a:solidFill>
              <a:latin typeface="Eras Bold ITC" panose="020B0907030504020204" charset="0"/>
              <a:ea typeface="微软雅黑" panose="020B0503020204020204" charset="-122"/>
              <a:cs typeface="Eras Bold ITC" panose="020B0907030504020204" charset="0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537325" y="4226560"/>
            <a:ext cx="2735580" cy="3352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latin typeface="Eras Bold ITC" panose="020B0907030504020204" charset="0"/>
                <a:ea typeface="微软雅黑" panose="020B0503020204020204" charset="-122"/>
              </a:rPr>
              <a:t>应用程序开发</a:t>
            </a:r>
            <a:endParaRPr lang="zh-CN" altLang="en-US" b="1">
              <a:latin typeface="Eras Bold ITC" panose="020B0907030504020204" charset="0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537325" y="4688840"/>
            <a:ext cx="4046220" cy="79248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latin typeface="Eras Bold ITC" panose="020B0907030504020204" charset="0"/>
              <a:ea typeface="微软雅黑" panose="020B0503020204020204" charset="-122"/>
              <a:cs typeface="Eras Bold ITC" panose="020B09070305040202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049645" y="481647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66700" indent="266700" algn="l" defTabSz="266700">
              <a:buClrTx/>
              <a:buSzTx/>
              <a:buFontTx/>
            </a:pPr>
            <a:r>
              <a:rPr lang="en-US" altLang="zh-CN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  <a:sym typeface="+mn-ea"/>
              </a:rPr>
              <a:t>·  </a:t>
            </a:r>
            <a:r>
              <a:rPr lang="zh-CN" altLang="en-US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编写应用程序</a:t>
            </a:r>
            <a:endParaRPr lang="zh-CN" altLang="en-US" sz="1600" b="1">
              <a:solidFill>
                <a:srgbClr val="000000"/>
              </a:solidFill>
              <a:latin typeface="Eras Bold ITC" panose="020B0907030504020204" charset="0"/>
              <a:ea typeface="微软雅黑" panose="020B0503020204020204" charset="-122"/>
              <a:cs typeface="Eras Bold ITC" panose="020B0907030504020204" charset="0"/>
            </a:endParaRPr>
          </a:p>
          <a:p>
            <a:pPr marL="266700" indent="266700" algn="l" defTabSz="266700">
              <a:buClrTx/>
              <a:buSzTx/>
              <a:buFontTx/>
            </a:pPr>
            <a:r>
              <a:rPr lang="en-US" altLang="zh-CN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  <a:sym typeface="+mn-ea"/>
              </a:rPr>
              <a:t>·  </a:t>
            </a:r>
            <a:r>
              <a:rPr lang="zh-CN" altLang="en-US" sz="1600" b="1">
                <a:solidFill>
                  <a:srgbClr val="000000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使用串口进行交互</a:t>
            </a:r>
            <a:endParaRPr lang="zh-CN" altLang="en-US" sz="1600" b="1">
              <a:solidFill>
                <a:srgbClr val="000000"/>
              </a:solidFill>
              <a:latin typeface="Eras Bold ITC" panose="020B0907030504020204" charset="0"/>
              <a:ea typeface="微软雅黑" panose="020B0503020204020204" charset="-122"/>
              <a:cs typeface="Eras Bold ITC" panose="020B0907030504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3143250" cy="6858000"/>
          </a:xfrm>
          <a:prstGeom prst="rect">
            <a:avLst/>
          </a:prstGeom>
          <a:solidFill>
            <a:srgbClr val="263B7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00125" y="1066800"/>
            <a:ext cx="10001250" cy="4572000"/>
          </a:xfrm>
          <a:prstGeom prst="rect">
            <a:avLst/>
          </a:prstGeom>
          <a:noFill/>
          <a:ln w="23813">
            <a:solidFill>
              <a:srgbClr val="263B70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810750" y="876300"/>
            <a:ext cx="902970" cy="190500"/>
          </a:xfrm>
          <a:prstGeom prst="rect">
            <a:avLst/>
          </a:prstGeom>
          <a:solidFill>
            <a:srgbClr val="263B70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810750" y="5638800"/>
            <a:ext cx="902970" cy="190500"/>
          </a:xfrm>
          <a:prstGeom prst="rect">
            <a:avLst/>
          </a:prstGeom>
          <a:solidFill>
            <a:srgbClr val="263B70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00125" y="1066800"/>
            <a:ext cx="10001250" cy="4572000"/>
          </a:xfrm>
          <a:prstGeom prst="rect">
            <a:avLst/>
          </a:prstGeom>
          <a:solidFill>
            <a:srgbClr val="E9EEF2"/>
          </a:solidFill>
          <a:ln w="1905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857375" y="2143125"/>
            <a:ext cx="1809750" cy="514350"/>
          </a:xfrm>
          <a:prstGeom prst="rect">
            <a:avLst/>
          </a:prstGeom>
          <a:solidFill>
            <a:srgbClr val="263B70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2000250" y="2143125"/>
            <a:ext cx="148082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2800" b="1">
                <a:solidFill>
                  <a:srgbClr val="FFFFFF"/>
                </a:solidFill>
                <a:latin typeface="Eras Bold ITC" panose="020B0907030504020204" charset="0"/>
                <a:cs typeface="Eras Bold ITC" panose="020B0907030504020204" charset="0"/>
              </a:rPr>
              <a:t>PART</a:t>
            </a:r>
            <a:r>
              <a:rPr lang="en-US" sz="2800" b="1">
                <a:solidFill>
                  <a:srgbClr val="FFFFFF"/>
                </a:solidFill>
                <a:latin typeface="Eras Bold ITC" panose="020B0907030504020204" charset="0"/>
                <a:cs typeface="Eras Bold ITC" panose="020B0907030504020204" charset="0"/>
              </a:rPr>
              <a:t>1</a:t>
            </a:r>
            <a:endParaRPr lang="en-US" sz="2800" b="1">
              <a:solidFill>
                <a:srgbClr val="FFFFFF"/>
              </a:solidFill>
              <a:latin typeface="Eras Bold ITC" panose="020B0907030504020204" charset="0"/>
              <a:cs typeface="Eras Bold ITC" panose="020B0907030504020204" charset="0"/>
            </a:endParaRPr>
          </a:p>
        </p:txBody>
      </p:sp>
      <p:sp>
        <p:nvSpPr>
          <p:cNvPr id="11" name="等腰三角形 10"/>
          <p:cNvSpPr>
            <a:spLocks noGrp="1"/>
          </p:cNvSpPr>
          <p:nvPr/>
        </p:nvSpPr>
        <p:spPr>
          <a:xfrm>
            <a:off x="2000250" y="2609850"/>
            <a:ext cx="266700" cy="209550"/>
          </a:xfrm>
          <a:prstGeom prst="triangle">
            <a:avLst/>
          </a:prstGeom>
          <a:solidFill>
            <a:srgbClr val="263B70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905000" y="2971800"/>
            <a:ext cx="7239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111111"/>
                </a:solidFill>
              </a:defRPr>
            </a:pPr>
            <a:r>
              <a:rPr sz="375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</a:t>
            </a:r>
            <a:r>
              <a:rPr lang="zh-CN" sz="375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</a:t>
            </a:r>
            <a:r>
              <a:rPr sz="375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sz="375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操作系统</a:t>
            </a:r>
            <a:r>
              <a:rPr lang="zh-CN" sz="375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移植</a:t>
            </a:r>
            <a:endParaRPr lang="zh-CN" sz="375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952625" y="3981450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63B70"/>
                </a:solidFill>
              </a:defRPr>
            </a:pPr>
            <a:r>
              <a:rPr>
                <a:latin typeface="Eras Bold ITC" panose="020B0907030504020204" charset="0"/>
                <a:cs typeface="Eras Bold ITC" panose="020B0907030504020204" charset="0"/>
                <a:sym typeface="+mn-ea"/>
              </a:rPr>
              <a:t>Experiment 2 - Operating System Porting</a:t>
            </a:r>
            <a:endParaRPr sz="1275" b="0">
              <a:solidFill>
                <a:srgbClr val="263B70"/>
              </a:solidFill>
              <a:latin typeface="Eras Bold ITC" panose="020B0907030504020204" charset="0"/>
              <a:cs typeface="Eras Bold ITC" panose="020B0907030504020204" charset="0"/>
              <a:sym typeface="+mn-ea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952625" y="45720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μC/OS-II 移植与下板验证</a:t>
            </a:r>
            <a:endParaRPr sz="16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819900" y="4724400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2606D"/>
                </a:solidFill>
              </a:defRPr>
            </a:pPr>
            <a:r>
              <a:rPr>
                <a:latin typeface="Eras Bold ITC" panose="020B0907030504020204" charset="0"/>
                <a:cs typeface="Eras Bold ITC" panose="020B0907030504020204" charset="0"/>
                <a:sym typeface="+mn-ea"/>
              </a:rPr>
              <a:t>OpenMIPS / Wishbone / BootLoader / DDR2</a:t>
            </a:r>
            <a:endParaRPr b="0">
              <a:solidFill>
                <a:srgbClr val="52606D"/>
              </a:solidFill>
              <a:latin typeface="Eras Bold ITC" panose="020B0907030504020204" charset="0"/>
              <a:cs typeface="Eras Bold ITC" panose="020B0907030504020204" charset="0"/>
            </a:endParaRPr>
          </a:p>
          <a:p>
            <a:pPr algn="r">
              <a:defRPr sz="1125" b="0">
                <a:solidFill>
                  <a:srgbClr val="52606D"/>
                </a:solidFill>
              </a:defRPr>
            </a:pPr>
            <a:endParaRPr sz="1125" b="0">
              <a:solidFill>
                <a:srgbClr val="52606D"/>
              </a:solidFill>
              <a:latin typeface="Eras Bold ITC" panose="020B0907030504020204" charset="0"/>
              <a:cs typeface="Eras Bold ITC" panose="020B0907030504020204" charset="0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" y="78740"/>
            <a:ext cx="3023235" cy="9105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63B70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381000" y="17145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同济大学</a:t>
            </a:r>
            <a:endParaRPr sz="2100" b="1">
              <a:solidFill>
                <a:srgbClr val="FFFFF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81000" y="5524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TONGJI UNIVERSITY</a:t>
            </a:r>
            <a:endParaRPr sz="1200" b="0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551420" y="219075"/>
            <a:ext cx="342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系统框架</a:t>
            </a:r>
            <a:endParaRPr sz="28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00050" y="1409700"/>
            <a:ext cx="476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从 CPU 到 SOPC</a:t>
            </a:r>
            <a:endParaRPr sz="2400" b="1">
              <a:solidFill>
                <a:srgbClr val="111111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095750" y="1695450"/>
            <a:ext cx="7362825" cy="28575"/>
          </a:xfrm>
          <a:prstGeom prst="rect">
            <a:avLst/>
          </a:prstGeom>
          <a:solidFill>
            <a:srgbClr val="5E83A8"/>
          </a:solidFill>
          <a:ln w="0">
            <a:noFill/>
            <a:prstDash val="solid"/>
          </a:ln>
        </p:spPr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120" y="2238375"/>
            <a:ext cx="4639235" cy="3429000"/>
          </a:xfrm>
          <a:prstGeom prst="rect">
            <a:avLst/>
          </a:prstGeom>
        </p:spPr>
      </p:pic>
      <p:sp>
        <p:nvSpPr>
          <p:cNvPr id="8" name="圆角矩形 7"/>
          <p:cNvSpPr>
            <a:spLocks noGrp="1"/>
          </p:cNvSpPr>
          <p:nvPr/>
        </p:nvSpPr>
        <p:spPr>
          <a:xfrm>
            <a:off x="6572250" y="2238375"/>
            <a:ext cx="4476750" cy="3429000"/>
          </a:xfrm>
          <a:prstGeom prst="roundRect">
            <a:avLst>
              <a:gd name="adj" fmla="val 2222"/>
            </a:avLst>
          </a:prstGeom>
          <a:noFill/>
          <a:ln w="23813">
            <a:solidFill>
              <a:srgbClr val="071A5F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953250" y="2552700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系统扩展目标</a:t>
            </a:r>
            <a:endParaRPr sz="2025" b="1">
              <a:solidFill>
                <a:srgbClr val="111111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953250" y="3095625"/>
            <a:ext cx="342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以实验一 89 条指令 OpenMIPS 为核心，通过 Wishbone 总线统一连接外设与存储模块。</a:t>
            </a:r>
            <a:endParaRPr sz="1575" b="0">
              <a:solidFill>
                <a:srgbClr val="111111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953250" y="4143375"/>
            <a:ext cx="3524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扩展模块：Flash、UART、GPIO、DDR2 SDRAM</a:t>
            </a:r>
            <a:endParaRPr sz="1500" b="0">
              <a:solidFill>
                <a:srgbClr val="111111"/>
              </a:solidFill>
            </a:endParaRPr>
          </a:p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运行目标：BootLoader + μC/OS-II 能够在板上启动。</a:t>
            </a:r>
            <a:endParaRPr sz="1500" b="0">
              <a:solidFill>
                <a:srgbClr val="111111"/>
              </a:solidFill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5572125" y="3048000"/>
            <a:ext cx="857250" cy="857250"/>
          </a:xfrm>
          <a:prstGeom prst="ellipse">
            <a:avLst/>
          </a:prstGeom>
          <a:noFill/>
          <a:ln w="47625">
            <a:solidFill>
              <a:srgbClr val="4F64F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709285" y="3339465"/>
            <a:ext cx="61722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4F64FF"/>
                </a:solidFill>
              </a:defRPr>
            </a:pPr>
            <a:r>
              <a:rPr sz="1500" b="1">
                <a:solidFill>
                  <a:srgbClr val="4F64FF"/>
                </a:solidFill>
              </a:rPr>
              <a:t>总线</a:t>
            </a:r>
            <a:endParaRPr sz="1500" b="1">
              <a:solidFill>
                <a:srgbClr val="4F64FF"/>
              </a:solidFill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" y="78740"/>
            <a:ext cx="3023235" cy="9105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63B70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381000" y="17145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同济大学</a:t>
            </a:r>
            <a:endParaRPr sz="2100" b="1">
              <a:solidFill>
                <a:srgbClr val="FFFFF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81000" y="5524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TONGJI UNIVERSITY</a:t>
            </a:r>
            <a:endParaRPr sz="1200" b="0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456805" y="247650"/>
            <a:ext cx="378650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lvl="0" algn="ctr">
              <a:buClrTx/>
              <a:buSzTx/>
              <a:buFontTx/>
              <a:defRPr sz="2850" b="1">
                <a:solidFill>
                  <a:srgbClr val="FFFFFF"/>
                </a:solidFill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sym typeface="+mn-ea"/>
              </a:rPr>
              <a:t>WishBone 总线接口</a:t>
            </a:r>
            <a:endParaRPr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80695" y="1409700"/>
            <a:ext cx="476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CPU 访问外设的统一入口</a:t>
            </a:r>
            <a:endParaRPr sz="2400" b="1">
              <a:solidFill>
                <a:srgbClr val="111111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095750" y="1695450"/>
            <a:ext cx="7362825" cy="28575"/>
          </a:xfrm>
          <a:prstGeom prst="rect">
            <a:avLst/>
          </a:prstGeom>
          <a:solidFill>
            <a:srgbClr val="5E83A8"/>
          </a:solidFill>
          <a:ln w="0">
            <a:noFill/>
            <a:prstDash val="solid"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671195" y="5098415"/>
            <a:ext cx="4572000" cy="1428750"/>
          </a:xfrm>
          <a:prstGeom prst="roundRect">
            <a:avLst>
              <a:gd name="adj" fmla="val 5333"/>
            </a:avLst>
          </a:prstGeom>
          <a:noFill/>
          <a:ln w="23813">
            <a:solidFill>
              <a:srgbClr val="071A5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37895" y="5269865"/>
            <a:ext cx="4038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接口职责</a:t>
            </a:r>
            <a:endParaRPr sz="1875" b="1">
              <a:solidFill>
                <a:srgbClr val="111111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31545" y="5708015"/>
            <a:ext cx="3987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将 CPU 侧访存请求转换为 Wishbone 事务</a:t>
            </a:r>
            <a:endParaRPr sz="1350" b="0">
              <a:solidFill>
                <a:srgbClr val="111111"/>
              </a:solidFill>
            </a:endParaRPr>
          </a:p>
          <a:p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用 cyc/stb 发起访问，用 ack 判断结束</a:t>
            </a:r>
            <a:endParaRPr sz="1350" b="0">
              <a:solidFill>
                <a:srgbClr val="111111"/>
              </a:solidFill>
            </a:endParaRPr>
          </a:p>
          <a:p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等待期间向流水线发出 stallreq，避免请求被覆盖</a:t>
            </a:r>
            <a:endParaRPr sz="1350" b="0">
              <a:solidFill>
                <a:srgbClr val="111111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242175" y="1257300"/>
            <a:ext cx="39052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413625" y="1358265"/>
            <a:ext cx="35623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3"/>
                </a:solidFill>
              </a:defRPr>
            </a:pPr>
            <a:r>
              <a:rPr sz="1275" b="0">
                <a:solidFill>
                  <a:srgbClr val="1F2933"/>
                </a:solidFill>
              </a:rPr>
              <a:t>cpu_addr_i / cpu_data_i / cpu_we_i</a:t>
            </a:r>
            <a:endParaRPr sz="1275" b="0">
              <a:solidFill>
                <a:srgbClr val="1F2933"/>
              </a:solidFill>
            </a:endParaRPr>
          </a:p>
          <a:p>
            <a:pPr algn="l">
              <a:defRPr sz="1275" b="0">
                <a:solidFill>
                  <a:srgbClr val="1F2933"/>
                </a:solidFill>
              </a:defRPr>
            </a:pPr>
            <a:r>
              <a:rPr sz="1275" b="0">
                <a:solidFill>
                  <a:srgbClr val="1F2933"/>
                </a:solidFill>
              </a:rPr>
              <a:t>        ↓</a:t>
            </a:r>
            <a:endParaRPr sz="1275" b="0">
              <a:solidFill>
                <a:srgbClr val="1F2933"/>
              </a:solidFill>
            </a:endParaRPr>
          </a:p>
          <a:p>
            <a:pPr algn="l">
              <a:defRPr sz="1275" b="0">
                <a:solidFill>
                  <a:srgbClr val="1F2933"/>
                </a:solidFill>
              </a:defRPr>
            </a:pPr>
            <a:r>
              <a:rPr sz="1275" b="0">
                <a:solidFill>
                  <a:srgbClr val="1F2933"/>
                </a:solidFill>
              </a:rPr>
              <a:t>wishbone_addr_o / data_o / we_o</a:t>
            </a:r>
            <a:endParaRPr sz="1275" b="0">
              <a:solidFill>
                <a:srgbClr val="1F2933"/>
              </a:solidFill>
            </a:endParaRPr>
          </a:p>
          <a:p>
            <a:pPr algn="l">
              <a:defRPr sz="1275" b="0">
                <a:solidFill>
                  <a:srgbClr val="1F2933"/>
                </a:solidFill>
              </a:defRPr>
            </a:pPr>
            <a:r>
              <a:rPr sz="1275" b="0">
                <a:solidFill>
                  <a:srgbClr val="1F2933"/>
                </a:solidFill>
              </a:rPr>
              <a:t>wishbone_stb_o + wishbone_cyc_o</a:t>
            </a:r>
            <a:endParaRPr sz="1275" b="0">
              <a:solidFill>
                <a:srgbClr val="1F2933"/>
              </a:solidFill>
            </a:endParaRPr>
          </a:p>
          <a:p>
            <a:pPr algn="l">
              <a:defRPr sz="1275" b="0">
                <a:solidFill>
                  <a:srgbClr val="1F2933"/>
                </a:solidFill>
              </a:defRPr>
            </a:pPr>
            <a:r>
              <a:rPr sz="1275" b="0">
                <a:solidFill>
                  <a:srgbClr val="1F2933"/>
                </a:solidFill>
              </a:rPr>
              <a:t>        ↓</a:t>
            </a:r>
            <a:endParaRPr sz="1275" b="0">
              <a:solidFill>
                <a:srgbClr val="1F2933"/>
              </a:solidFill>
            </a:endParaRPr>
          </a:p>
          <a:p>
            <a:pPr algn="l">
              <a:defRPr sz="1275" b="0">
                <a:solidFill>
                  <a:srgbClr val="1F2933"/>
                </a:solidFill>
              </a:defRPr>
            </a:pPr>
            <a:r>
              <a:rPr sz="1275" b="0">
                <a:solidFill>
                  <a:srgbClr val="1F2933"/>
                </a:solidFill>
              </a:rPr>
              <a:t>wishbone_ack_i -&gt; cpu_data_o</a:t>
            </a:r>
            <a:endParaRPr sz="1275" b="0">
              <a:solidFill>
                <a:srgbClr val="1F2933"/>
              </a:solidFill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575" y="1931035"/>
            <a:ext cx="4625975" cy="310197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" y="78740"/>
            <a:ext cx="3023235" cy="910590"/>
          </a:xfrm>
          <a:prstGeom prst="rect">
            <a:avLst/>
          </a:prstGeom>
          <a:noFill/>
          <a:ln w="0">
            <a:noFill/>
            <a:prstDash val="solid"/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385" y="2737485"/>
            <a:ext cx="4389120" cy="38500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42620" y="4326890"/>
            <a:ext cx="5453380" cy="21145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ED0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63B70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381000" y="17145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同济大学</a:t>
            </a:r>
            <a:endParaRPr sz="2100" b="1">
              <a:solidFill>
                <a:srgbClr val="FFFFF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81000" y="5524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TONGJI UNIVERSITY</a:t>
            </a:r>
            <a:endParaRPr sz="1200" b="0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536180" y="219075"/>
            <a:ext cx="342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lvl="0" algn="ctr">
              <a:buClrTx/>
              <a:buSzTx/>
              <a:buFontTx/>
              <a:defRPr sz="2850" b="1">
                <a:solidFill>
                  <a:srgbClr val="FFFFFF"/>
                </a:solidFill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sym typeface="+mn-ea"/>
              </a:rPr>
              <a:t>总线读写时序</a:t>
            </a:r>
            <a:endParaRPr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28625" y="1052830"/>
            <a:ext cx="476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一次操作由请求和应答闭合</a:t>
            </a:r>
            <a:endParaRPr sz="2400" b="1">
              <a:solidFill>
                <a:srgbClr val="111111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224020" y="1362075"/>
            <a:ext cx="7362825" cy="28575"/>
          </a:xfrm>
          <a:prstGeom prst="rect">
            <a:avLst/>
          </a:prstGeom>
          <a:solidFill>
            <a:srgbClr val="5E83A8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73735" y="1668145"/>
            <a:ext cx="4333875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ED0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002030" y="1967230"/>
            <a:ext cx="104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单次读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097280" y="2510155"/>
            <a:ext cx="3143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主设备给出地址 ADR_O</a:t>
            </a:r>
            <a:endParaRPr sz="1650" b="0">
              <a:solidFill>
                <a:srgbClr val="111111"/>
              </a:solidFill>
            </a:endParaRPr>
          </a:p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WE_O = 0 表示读操作</a:t>
            </a:r>
            <a:endParaRPr sz="1650" b="0">
              <a:solidFill>
                <a:srgbClr val="111111"/>
              </a:solidFill>
            </a:endParaRPr>
          </a:p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CYC_O / STB_O 拉高</a:t>
            </a:r>
            <a:endParaRPr sz="1650" b="0">
              <a:solidFill>
                <a:srgbClr val="111111"/>
              </a:solidFill>
            </a:endParaRPr>
          </a:p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从设备返回 DAT_I 与 ACK_I</a:t>
            </a:r>
            <a:endParaRPr sz="1650" b="0">
              <a:solidFill>
                <a:srgbClr val="111111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478905" y="1700530"/>
            <a:ext cx="4333875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ED0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812280" y="1967230"/>
            <a:ext cx="104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单次写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907530" y="2510155"/>
            <a:ext cx="319087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主设备给出地址和 DAT_O</a:t>
            </a:r>
            <a:endParaRPr sz="1650" b="0">
              <a:solidFill>
                <a:srgbClr val="111111"/>
              </a:solidFill>
            </a:endParaRPr>
          </a:p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WE_O = 1 表示写操作</a:t>
            </a:r>
            <a:endParaRPr sz="1650" b="0">
              <a:solidFill>
                <a:srgbClr val="111111"/>
              </a:solidFill>
            </a:endParaRPr>
          </a:p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SEL_O 指明有效字节</a:t>
            </a:r>
            <a:endParaRPr sz="1650" b="0">
              <a:solidFill>
                <a:srgbClr val="111111"/>
              </a:solidFill>
            </a:endParaRPr>
          </a:p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从设备锁存数据并返回 ACK_I</a:t>
            </a:r>
            <a:endParaRPr sz="1650" b="0">
              <a:solidFill>
                <a:srgbClr val="111111"/>
              </a:solidFill>
            </a:endParaRPr>
          </a:p>
        </p:txBody>
      </p:sp>
      <p:sp>
        <p:nvSpPr>
          <p:cNvPr id="14" name="右箭头 1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5191125" y="2700655"/>
            <a:ext cx="1143000" cy="400050"/>
          </a:xfrm>
          <a:prstGeom prst="rightArrow">
            <a:avLst/>
          </a:prstGeom>
          <a:solidFill>
            <a:srgbClr val="4F64FF"/>
          </a:solidFill>
          <a:ln w="19050">
            <a:solidFill>
              <a:srgbClr val="4F64FF"/>
            </a:solidFill>
            <a:prstDash val="solid"/>
          </a:ln>
        </p:spPr>
      </p:sp>
      <p:sp>
        <p:nvSpPr>
          <p:cNvPr id="15" name="圆角矩形 14"/>
          <p:cNvSpPr>
            <a:spLocks noGrp="1"/>
          </p:cNvSpPr>
          <p:nvPr/>
        </p:nvSpPr>
        <p:spPr>
          <a:xfrm>
            <a:off x="6478905" y="4653280"/>
            <a:ext cx="5194935" cy="1517015"/>
          </a:xfrm>
          <a:prstGeom prst="roundRect">
            <a:avLst>
              <a:gd name="adj" fmla="val 7619"/>
            </a:avLst>
          </a:prstGeom>
          <a:noFill/>
          <a:ln w="23813">
            <a:solidFill>
              <a:srgbClr val="071A5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671945" y="4796790"/>
            <a:ext cx="747395" cy="4184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意义</a:t>
            </a:r>
            <a:endParaRPr sz="1875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17335" y="5163185"/>
            <a:ext cx="4871085" cy="8458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defRPr sz="1350" b="0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OpenMIPS 不直接面对每个外设的复杂控制信号</a:t>
            </a:r>
            <a:endParaRPr sz="13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defRPr sz="1350" b="0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指令通道和数据通道各实例化一个 wishbone_bus_if</a:t>
            </a:r>
            <a:endParaRPr sz="13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defRPr sz="1350" b="0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统一握手让 Flash、UART、GPIO、SDRAM 都能接入系统</a:t>
            </a:r>
            <a:endParaRPr sz="13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315" y="4380230"/>
            <a:ext cx="2663190" cy="20066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38220" y="4380230"/>
            <a:ext cx="2451100" cy="200850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20" y="78740"/>
            <a:ext cx="3023235" cy="9105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63B70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381000" y="17145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同济大学</a:t>
            </a:r>
            <a:endParaRPr sz="2100" b="1">
              <a:solidFill>
                <a:srgbClr val="FFFFF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81000" y="5524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TONGJI UNIVERSITY</a:t>
            </a:r>
            <a:endParaRPr sz="1200" b="0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376160" y="196215"/>
            <a:ext cx="342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lvl="0" algn="ctr">
              <a:buClrTx/>
              <a:buSzTx/>
              <a:buFontTx/>
              <a:defRPr sz="2850" b="1">
                <a:solidFill>
                  <a:srgbClr val="FFFFFF"/>
                </a:solidFill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sym typeface="+mn-ea"/>
              </a:rPr>
              <a:t>外设扩展</a:t>
            </a:r>
            <a:endParaRPr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00050" y="1409700"/>
            <a:ext cx="476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四类从设备接入 Wishbone</a:t>
            </a:r>
            <a:endParaRPr sz="2400" b="1">
              <a:solidFill>
                <a:srgbClr val="111111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095750" y="1695450"/>
            <a:ext cx="7362825" cy="28575"/>
          </a:xfrm>
          <a:prstGeom prst="rect">
            <a:avLst/>
          </a:prstGeom>
          <a:solidFill>
            <a:srgbClr val="5E83A8"/>
          </a:solidFill>
          <a:ln w="0">
            <a:noFill/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685800" y="2428875"/>
            <a:ext cx="22669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0B1F65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2714625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263B70"/>
                </a:solidFill>
              </a:defRPr>
            </a:pPr>
            <a:r>
              <a:rPr sz="2025" b="1">
                <a:solidFill>
                  <a:srgbClr val="263B70"/>
                </a:solidFill>
              </a:rPr>
              <a:t>GPIO</a:t>
            </a:r>
            <a:endParaRPr sz="2025" b="1">
              <a:solidFill>
                <a:srgbClr val="263B70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52500" y="3314700"/>
            <a:ext cx="1733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读取开关 / 驱动七段数码管</a:t>
            </a:r>
            <a:endParaRPr sz="1500" b="0">
              <a:solidFill>
                <a:srgbClr val="111111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33450" y="400050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addr[31:28] = 0x2</a:t>
            </a:r>
            <a:endParaRPr sz="1200" b="0">
              <a:solidFill>
                <a:srgbClr val="52606D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3467100" y="2428875"/>
            <a:ext cx="22669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0B1F65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695700" y="2714625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263B70"/>
                </a:solidFill>
              </a:defRPr>
            </a:pPr>
            <a:r>
              <a:rPr sz="2025" b="1">
                <a:solidFill>
                  <a:srgbClr val="263B70"/>
                </a:solidFill>
              </a:rPr>
              <a:t>UART16550</a:t>
            </a:r>
            <a:endParaRPr sz="2025" b="1">
              <a:solidFill>
                <a:srgbClr val="263B70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733800" y="3314700"/>
            <a:ext cx="1733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串口输出系统运行信息</a:t>
            </a:r>
            <a:endParaRPr sz="1500" b="0">
              <a:solidFill>
                <a:srgbClr val="111111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714750" y="400050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addr[31:28] = 0x1</a:t>
            </a:r>
            <a:endParaRPr sz="1200" b="0">
              <a:solidFill>
                <a:srgbClr val="52606D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248400" y="2428875"/>
            <a:ext cx="22669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0B1F65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477000" y="2714625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263B70"/>
                </a:solidFill>
              </a:defRPr>
            </a:pPr>
            <a:r>
              <a:rPr sz="2025" b="1">
                <a:solidFill>
                  <a:srgbClr val="263B70"/>
                </a:solidFill>
              </a:rPr>
              <a:t>SPI Flash</a:t>
            </a:r>
            <a:endParaRPr sz="2025" b="1">
              <a:solidFill>
                <a:srgbClr val="263B70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515100" y="3314700"/>
            <a:ext cx="1733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存放 BootLoader 和 OS.bin</a:t>
            </a:r>
            <a:endParaRPr sz="1500" b="0">
              <a:solidFill>
                <a:srgbClr val="111111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496050" y="400050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addr[31:28] = 0x3</a:t>
            </a:r>
            <a:endParaRPr sz="1200" b="0">
              <a:solidFill>
                <a:srgbClr val="52606D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9029700" y="2428875"/>
            <a:ext cx="22669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0B1F65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258300" y="2714625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263B70"/>
                </a:solidFill>
              </a:defRPr>
            </a:pPr>
            <a:r>
              <a:rPr sz="2025" b="1">
                <a:solidFill>
                  <a:srgbClr val="263B70"/>
                </a:solidFill>
              </a:rPr>
              <a:t>DDR2 SDRAM</a:t>
            </a:r>
            <a:endParaRPr sz="2025" b="1">
              <a:solidFill>
                <a:srgbClr val="263B70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296400" y="3314700"/>
            <a:ext cx="1733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系统运行时程序与数据空间</a:t>
            </a:r>
            <a:endParaRPr sz="1500" b="0">
              <a:solidFill>
                <a:srgbClr val="111111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277350" y="400050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addr[31:28] = 0x0</a:t>
            </a:r>
            <a:endParaRPr sz="1200" b="0">
              <a:solidFill>
                <a:srgbClr val="52606D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3791585" y="4933950"/>
            <a:ext cx="4505325" cy="1391920"/>
          </a:xfrm>
          <a:prstGeom prst="roundRect">
            <a:avLst>
              <a:gd name="adj" fmla="val 7273"/>
            </a:avLst>
          </a:prstGeom>
          <a:noFill/>
          <a:ln w="23813">
            <a:solidFill>
              <a:srgbClr val="071A5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3910965" y="5085080"/>
            <a:ext cx="172529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地址译码</a:t>
            </a:r>
            <a:endParaRPr sz="1875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968115" y="5523230"/>
            <a:ext cx="4213225" cy="7156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WB_CONMAX 作为共享总线互连矩阵</a:t>
            </a:r>
            <a:endParaRPr sz="13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Master0 连接数据通道，Master1 连接指令通道</a:t>
            </a:r>
            <a:endParaRPr sz="13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不同高位地址选择不同外设或存储器</a:t>
            </a:r>
            <a:endParaRPr sz="13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" y="78740"/>
            <a:ext cx="3023235" cy="9105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63B70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381000" y="17145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同济大学</a:t>
            </a:r>
            <a:endParaRPr sz="2100" b="1">
              <a:solidFill>
                <a:srgbClr val="FFFFF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81000" y="5524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TONGJI UNIVERSITY</a:t>
            </a:r>
            <a:endParaRPr sz="1200" b="0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001000" y="171450"/>
            <a:ext cx="342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系统移植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00050" y="1409700"/>
            <a:ext cx="476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BootLoader 交接控制权</a:t>
            </a:r>
            <a:endParaRPr sz="2400" b="1">
              <a:solidFill>
                <a:srgbClr val="111111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095750" y="1695450"/>
            <a:ext cx="7362825" cy="28575"/>
          </a:xfrm>
          <a:prstGeom prst="rect">
            <a:avLst/>
          </a:prstGeom>
          <a:solidFill>
            <a:srgbClr val="5E83A8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09625" y="2905125"/>
            <a:ext cx="2000250" cy="819150"/>
          </a:xfrm>
          <a:prstGeom prst="rect">
            <a:avLst/>
          </a:prstGeom>
          <a:solidFill>
            <a:srgbClr val="FFF9C4"/>
          </a:solidFill>
          <a:ln w="9525">
            <a:solidFill>
              <a:srgbClr val="D5C66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19200" y="31432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SPI Flash</a:t>
            </a:r>
            <a:endParaRPr sz="1875" b="1">
              <a:solidFill>
                <a:srgbClr val="111111"/>
              </a:solidFill>
            </a:endParaRPr>
          </a:p>
        </p:txBody>
      </p:sp>
      <p:sp>
        <p:nvSpPr>
          <p:cNvPr id="10" name="右箭头 9"/>
          <p:cNvSpPr>
            <a:spLocks noGrp="1"/>
          </p:cNvSpPr>
          <p:nvPr/>
        </p:nvSpPr>
        <p:spPr>
          <a:xfrm>
            <a:off x="3000375" y="3133725"/>
            <a:ext cx="1143000" cy="361950"/>
          </a:xfrm>
          <a:prstGeom prst="rightArrow">
            <a:avLst/>
          </a:prstGeom>
          <a:solidFill>
            <a:srgbClr val="4F64FF"/>
          </a:solidFill>
          <a:ln w="19050">
            <a:solidFill>
              <a:srgbClr val="4F64F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333875" y="2743200"/>
            <a:ext cx="2333625" cy="1143000"/>
          </a:xfrm>
          <a:prstGeom prst="rect">
            <a:avLst/>
          </a:prstGeom>
          <a:solidFill>
            <a:srgbClr val="E8E3FF"/>
          </a:solidFill>
          <a:ln w="9525">
            <a:solidFill>
              <a:srgbClr val="B7A7F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810125" y="3000375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BootLoader</a:t>
            </a:r>
            <a:endParaRPr sz="1875" b="1">
              <a:solidFill>
                <a:srgbClr val="111111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876800" y="3429000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复制 OS.bin</a:t>
            </a:r>
            <a:endParaRPr sz="1500" b="0">
              <a:solidFill>
                <a:srgbClr val="111111"/>
              </a:solidFill>
            </a:endParaRPr>
          </a:p>
        </p:txBody>
      </p:sp>
      <p:sp>
        <p:nvSpPr>
          <p:cNvPr id="14" name="右箭头 13"/>
          <p:cNvSpPr>
            <a:spLocks noGrp="1"/>
          </p:cNvSpPr>
          <p:nvPr/>
        </p:nvSpPr>
        <p:spPr>
          <a:xfrm>
            <a:off x="6858000" y="3133725"/>
            <a:ext cx="1143000" cy="361950"/>
          </a:xfrm>
          <a:prstGeom prst="rightArrow">
            <a:avLst/>
          </a:prstGeom>
          <a:solidFill>
            <a:srgbClr val="4F64FF"/>
          </a:solidFill>
          <a:ln w="19050">
            <a:solidFill>
              <a:srgbClr val="4F64F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191500" y="2905125"/>
            <a:ext cx="2238375" cy="819150"/>
          </a:xfrm>
          <a:prstGeom prst="rect">
            <a:avLst/>
          </a:prstGeom>
          <a:solidFill>
            <a:srgbClr val="E7F8E7"/>
          </a:solidFill>
          <a:ln w="9525">
            <a:solidFill>
              <a:srgbClr val="8DCB8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620125" y="3000375"/>
            <a:ext cx="1428750" cy="6216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DDR2 SDRAM</a:t>
            </a:r>
            <a:endParaRPr sz="1875" b="1">
              <a:solidFill>
                <a:srgbClr val="111111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1143000" y="4762500"/>
            <a:ext cx="9525000" cy="1143000"/>
          </a:xfrm>
          <a:prstGeom prst="roundRect">
            <a:avLst>
              <a:gd name="adj" fmla="val 6667"/>
            </a:avLst>
          </a:prstGeom>
          <a:noFill/>
          <a:ln w="23813">
            <a:solidFill>
              <a:srgbClr val="071A5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476375" y="5010150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启动链路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762250" y="5029200"/>
            <a:ext cx="7334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上电后先运行 BootLoader。由于 Flash 速度较慢且只读，BootLoader 将 μC/OS-II 镜像搬运到 DDR2 SDRAM，再跳转到 SDRAM 执行，完成控制权交接。</a:t>
            </a:r>
            <a:endParaRPr sz="1575" b="0">
              <a:solidFill>
                <a:srgbClr val="111111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" y="78740"/>
            <a:ext cx="3023235" cy="9105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63B70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381000" y="17145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同济大学</a:t>
            </a:r>
            <a:endParaRPr sz="2100" b="1">
              <a:solidFill>
                <a:srgbClr val="FFFFF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81000" y="5524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TONGJI UNIVERSITY</a:t>
            </a:r>
            <a:endParaRPr sz="1200" b="0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940040" y="219075"/>
            <a:ext cx="342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ClrTx/>
              <a:buSzTx/>
              <a:buFontTx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交叉编译</a:t>
            </a:r>
            <a:endParaRPr sz="28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00050" y="1409700"/>
            <a:ext cx="476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Ubuntu 中生成可下板镜像</a:t>
            </a:r>
            <a:endParaRPr sz="2400" b="1">
              <a:solidFill>
                <a:srgbClr val="111111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095750" y="1695450"/>
            <a:ext cx="7362825" cy="28575"/>
          </a:xfrm>
          <a:prstGeom prst="rect">
            <a:avLst/>
          </a:prstGeom>
          <a:solidFill>
            <a:srgbClr val="5E83A8"/>
          </a:solidFill>
          <a:ln w="0">
            <a:noFill/>
            <a:prstDash val="solid"/>
          </a:ln>
        </p:spPr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092" y="2333625"/>
            <a:ext cx="3728041" cy="314325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948" y="2333625"/>
            <a:ext cx="5058103" cy="3143250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1190625" y="56197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MIPS GNU 工具链安装完成</a:t>
            </a:r>
            <a:endParaRPr sz="1275" b="0">
              <a:solidFill>
                <a:srgbClr val="52606D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191250" y="56197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编译 BootLoader 与 μC/OS-II，最终生成 OS.bin</a:t>
            </a:r>
            <a:endParaRPr sz="1275" b="0">
              <a:solidFill>
                <a:srgbClr val="52606D"/>
              </a:solidFill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4669155" y="1844675"/>
            <a:ext cx="838200" cy="838200"/>
          </a:xfrm>
          <a:prstGeom prst="ellipse">
            <a:avLst/>
          </a:prstGeom>
          <a:noFill/>
          <a:ln w="47625">
            <a:solidFill>
              <a:srgbClr val="4F64F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736465" y="2129790"/>
            <a:ext cx="704215" cy="2679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4F64FF"/>
                </a:solidFill>
              </a:defRPr>
            </a:pPr>
            <a:r>
              <a:rPr sz="1500" b="1">
                <a:solidFill>
                  <a:srgbClr val="4F64FF"/>
                </a:solidFill>
              </a:rPr>
              <a:t>make</a:t>
            </a:r>
            <a:endParaRPr sz="1500" b="1">
              <a:solidFill>
                <a:srgbClr val="4F64FF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" y="78740"/>
            <a:ext cx="3023235" cy="9105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63B70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381000" y="17145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同济大学</a:t>
            </a:r>
            <a:endParaRPr sz="2100" b="1">
              <a:solidFill>
                <a:srgbClr val="FFFFF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81000" y="5524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TONGJI UNIVERSITY</a:t>
            </a:r>
            <a:endParaRPr sz="1200" b="0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96200" y="219075"/>
            <a:ext cx="342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ClrTx/>
              <a:buSzTx/>
              <a:buFontTx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下板验证</a:t>
            </a:r>
            <a:endParaRPr sz="28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96290" y="1450340"/>
            <a:ext cx="476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串口输出与数码管验证</a:t>
            </a:r>
            <a:endParaRPr sz="2400" b="1">
              <a:solidFill>
                <a:srgbClr val="111111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095750" y="1695450"/>
            <a:ext cx="7362825" cy="28575"/>
          </a:xfrm>
          <a:prstGeom prst="rect">
            <a:avLst/>
          </a:prstGeom>
          <a:solidFill>
            <a:srgbClr val="5E83A8"/>
          </a:solidFill>
          <a:ln w="0">
            <a:noFill/>
            <a:prstDash val="solid"/>
          </a:ln>
        </p:spPr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763" y="2238375"/>
            <a:ext cx="3937000" cy="295275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291" y="2238375"/>
            <a:ext cx="3961918" cy="2952750"/>
          </a:xfrm>
          <a:prstGeom prst="rect">
            <a:avLst/>
          </a:prstGeom>
        </p:spPr>
      </p:pic>
      <p:sp>
        <p:nvSpPr>
          <p:cNvPr id="9" name="椭圆 8"/>
          <p:cNvSpPr>
            <a:spLocks noGrp="1"/>
          </p:cNvSpPr>
          <p:nvPr/>
        </p:nvSpPr>
        <p:spPr>
          <a:xfrm>
            <a:off x="3714750" y="2095500"/>
            <a:ext cx="857250" cy="857250"/>
          </a:xfrm>
          <a:prstGeom prst="ellipse">
            <a:avLst/>
          </a:prstGeom>
          <a:noFill/>
          <a:ln w="47625">
            <a:solidFill>
              <a:srgbClr val="4F64F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851910" y="2386965"/>
            <a:ext cx="61722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4F64FF"/>
                </a:solidFill>
              </a:defRPr>
            </a:pPr>
            <a:r>
              <a:rPr sz="1500" b="1">
                <a:solidFill>
                  <a:srgbClr val="4F64FF"/>
                </a:solidFill>
              </a:rPr>
              <a:t>串口</a:t>
            </a:r>
            <a:endParaRPr sz="1500" b="1">
              <a:solidFill>
                <a:srgbClr val="4F64FF"/>
              </a:solidFill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9620250" y="2095500"/>
            <a:ext cx="857250" cy="857250"/>
          </a:xfrm>
          <a:prstGeom prst="ellipse">
            <a:avLst/>
          </a:prstGeom>
          <a:noFill/>
          <a:ln w="47625">
            <a:solidFill>
              <a:srgbClr val="4F64F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757410" y="2386965"/>
            <a:ext cx="61722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4F64FF"/>
                </a:solidFill>
              </a:defRPr>
            </a:pPr>
            <a:r>
              <a:rPr sz="1500" b="1">
                <a:solidFill>
                  <a:srgbClr val="4F64FF"/>
                </a:solidFill>
              </a:rPr>
              <a:t>7段</a:t>
            </a:r>
            <a:endParaRPr sz="1500" b="1">
              <a:solidFill>
                <a:srgbClr val="4F64FF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1333500" y="5429250"/>
            <a:ext cx="9239250" cy="1190625"/>
          </a:xfrm>
          <a:prstGeom prst="roundRect">
            <a:avLst>
              <a:gd name="adj" fmla="val 6400"/>
            </a:avLst>
          </a:prstGeom>
          <a:noFill/>
          <a:ln w="23813">
            <a:solidFill>
              <a:srgbClr val="071A5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600200" y="5505450"/>
            <a:ext cx="8705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验证现象</a:t>
            </a:r>
            <a:endParaRPr sz="1875" b="1">
              <a:solidFill>
                <a:srgbClr val="111111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00200" y="5924550"/>
            <a:ext cx="85915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• SSCOM 9600 baud 显示 BootLoader 加载与系统输出</a:t>
            </a:r>
            <a:endParaRPr sz="1125" b="0">
              <a:solidFill>
                <a:srgbClr val="111111"/>
              </a:solidFill>
            </a:endParaRPr>
          </a:p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• 七段数码管约每 100ms 变化一次</a:t>
            </a:r>
            <a:endParaRPr sz="1125" b="0">
              <a:solidFill>
                <a:srgbClr val="111111"/>
              </a:solidFill>
            </a:endParaRPr>
          </a:p>
          <a:p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• 说明 μC/OS-II 已在 OpenMIPS 平台上运行</a:t>
            </a:r>
            <a:endParaRPr sz="1125" b="0">
              <a:solidFill>
                <a:srgbClr val="111111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" y="78740"/>
            <a:ext cx="3023235" cy="9105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3143250" cy="6858000"/>
          </a:xfrm>
          <a:prstGeom prst="rect">
            <a:avLst/>
          </a:prstGeom>
          <a:solidFill>
            <a:srgbClr val="263B7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00125" y="1066800"/>
            <a:ext cx="10001250" cy="4572000"/>
          </a:xfrm>
          <a:prstGeom prst="rect">
            <a:avLst/>
          </a:prstGeom>
          <a:noFill/>
          <a:ln w="23813">
            <a:solidFill>
              <a:srgbClr val="263B70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810750" y="876300"/>
            <a:ext cx="902970" cy="190500"/>
          </a:xfrm>
          <a:prstGeom prst="rect">
            <a:avLst/>
          </a:prstGeom>
          <a:solidFill>
            <a:srgbClr val="263B70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810750" y="5638800"/>
            <a:ext cx="902970" cy="190500"/>
          </a:xfrm>
          <a:prstGeom prst="rect">
            <a:avLst/>
          </a:prstGeom>
          <a:solidFill>
            <a:srgbClr val="263B70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00125" y="1066800"/>
            <a:ext cx="10001250" cy="4572000"/>
          </a:xfrm>
          <a:prstGeom prst="rect">
            <a:avLst/>
          </a:prstGeom>
          <a:solidFill>
            <a:srgbClr val="E9EEF2"/>
          </a:solidFill>
          <a:ln w="1905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857375" y="2143125"/>
            <a:ext cx="1809750" cy="514350"/>
          </a:xfrm>
          <a:prstGeom prst="rect">
            <a:avLst/>
          </a:prstGeom>
          <a:solidFill>
            <a:srgbClr val="263B70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2000250" y="2143125"/>
            <a:ext cx="148082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2800" b="1">
                <a:solidFill>
                  <a:srgbClr val="FFFFFF"/>
                </a:solidFill>
                <a:latin typeface="Eras Bold ITC" panose="020B0907030504020204" charset="0"/>
                <a:cs typeface="Eras Bold ITC" panose="020B0907030504020204" charset="0"/>
              </a:rPr>
              <a:t>PART2</a:t>
            </a:r>
            <a:endParaRPr sz="2800" b="1">
              <a:solidFill>
                <a:srgbClr val="FFFFFF"/>
              </a:solidFill>
              <a:latin typeface="Eras Bold ITC" panose="020B0907030504020204" charset="0"/>
              <a:cs typeface="Eras Bold ITC" panose="020B0907030504020204" charset="0"/>
            </a:endParaRPr>
          </a:p>
        </p:txBody>
      </p:sp>
      <p:sp>
        <p:nvSpPr>
          <p:cNvPr id="11" name="等腰三角形 10"/>
          <p:cNvSpPr>
            <a:spLocks noGrp="1"/>
          </p:cNvSpPr>
          <p:nvPr/>
        </p:nvSpPr>
        <p:spPr>
          <a:xfrm>
            <a:off x="2000250" y="2609850"/>
            <a:ext cx="266700" cy="209550"/>
          </a:xfrm>
          <a:prstGeom prst="triangle">
            <a:avLst/>
          </a:prstGeom>
          <a:solidFill>
            <a:srgbClr val="263B70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905000" y="2971800"/>
            <a:ext cx="7239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111111"/>
                </a:solidFill>
              </a:defRPr>
            </a:pPr>
            <a:r>
              <a:rPr sz="375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</a:t>
            </a:r>
            <a:r>
              <a:rPr lang="zh-CN" sz="375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</a:t>
            </a:r>
            <a:r>
              <a:rPr sz="375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——应用程序开发</a:t>
            </a:r>
            <a:endParaRPr sz="375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952625" y="3981450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63B70"/>
                </a:solidFill>
              </a:defRPr>
            </a:pPr>
            <a:r>
              <a:rPr sz="1275" b="0">
                <a:solidFill>
                  <a:srgbClr val="263B70"/>
                </a:solidFill>
                <a:latin typeface="Eras Bold ITC" panose="020B0907030504020204" charset="0"/>
                <a:cs typeface="Eras Bold ITC" panose="020B0907030504020204" charset="0"/>
              </a:rPr>
              <a:t>Experiment 3 - Application Development</a:t>
            </a:r>
            <a:endParaRPr sz="1275" b="0">
              <a:solidFill>
                <a:srgbClr val="263B70"/>
              </a:solidFill>
              <a:latin typeface="Eras Bold ITC" panose="020B0907030504020204" charset="0"/>
              <a:cs typeface="Eras Bold ITC" panose="020B0907030504020204" charset="0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952625" y="45720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可选难度走迷宫小游戏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239000" y="47244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  <a:latin typeface="Eras Bold ITC" panose="020B0907030504020204" charset="0"/>
                <a:cs typeface="Eras Bold ITC" panose="020B0907030504020204" charset="0"/>
              </a:rPr>
              <a:t>OpenMIPS / μC/OS-II / PuTTY 终端交互</a:t>
            </a:r>
            <a:endParaRPr sz="1125" b="0">
              <a:solidFill>
                <a:srgbClr val="52606D"/>
              </a:solidFill>
              <a:latin typeface="Eras Bold ITC" panose="020B0907030504020204" charset="0"/>
              <a:cs typeface="Eras Bold ITC" panose="020B0907030504020204" charset="0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" y="78740"/>
            <a:ext cx="3023235" cy="9105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63B70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381000" y="17145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同济大学</a:t>
            </a:r>
            <a:endParaRPr sz="2100" b="1">
              <a:solidFill>
                <a:srgbClr val="FFFFF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81000" y="5524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TONGJI UNIVERSITY</a:t>
            </a:r>
            <a:endParaRPr sz="1200" b="0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002780" y="219075"/>
            <a:ext cx="342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FFFFFF"/>
                </a:solidFill>
              </a:defRPr>
            </a:pPr>
            <a:r>
              <a:rPr lang="zh-CN"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总体</a:t>
            </a:r>
            <a:r>
              <a:rPr lang="zh-CN"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结构</a:t>
            </a:r>
            <a:endParaRPr lang="zh-CN" sz="28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" y="78740"/>
            <a:ext cx="3023235" cy="910590"/>
          </a:xfrm>
          <a:prstGeom prst="rect">
            <a:avLst/>
          </a:prstGeom>
        </p:spPr>
      </p:pic>
      <p:pic>
        <p:nvPicPr>
          <p:cNvPr id="23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55" y="1559560"/>
            <a:ext cx="10905490" cy="4598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5785485" y="2602230"/>
            <a:ext cx="5843905" cy="76073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  <a:prstDash val="solid"/>
          </a:ln>
        </p:spPr>
        <p:txBody>
          <a:bodyPr/>
          <a:p>
            <a:pPr algn="l">
              <a:defRPr sz="1575" b="0">
                <a:solidFill>
                  <a:srgbClr val="1F2933"/>
                </a:solidFill>
              </a:defRPr>
            </a:pPr>
            <a:endParaRPr lang="zh-CN" altLang="en-US"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63B70">
              <a:alpha val="97000"/>
            </a:srgbClr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785485" y="1257300"/>
            <a:ext cx="5843905" cy="122047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  <a:prstDash val="solid"/>
          </a:ln>
        </p:spPr>
        <p:txBody>
          <a:bodyPr/>
          <a:p>
            <a:pPr algn="l">
              <a:defRPr sz="1575" b="0">
                <a:solidFill>
                  <a:srgbClr val="1F2933"/>
                </a:solidFill>
              </a:defRPr>
            </a:pPr>
            <a:r>
              <a:rPr sz="1800">
                <a:solidFill>
                  <a:srgbClr val="1F2933"/>
                </a:solidFill>
                <a:sym typeface="+mn-ea"/>
              </a:rPr>
              <a:t>Easy 10x10    Medium 15x15    </a:t>
            </a:r>
            <a:endParaRPr sz="1800">
              <a:solidFill>
                <a:srgbClr val="1F2933"/>
              </a:solidFill>
              <a:sym typeface="+mn-ea"/>
            </a:endParaRPr>
          </a:p>
          <a:p>
            <a:pPr algn="l">
              <a:defRPr sz="1575" b="0">
                <a:solidFill>
                  <a:srgbClr val="1F2933"/>
                </a:solidFill>
              </a:defRPr>
            </a:pPr>
            <a:r>
              <a:rPr sz="1800">
                <a:solidFill>
                  <a:srgbClr val="1F2933"/>
                </a:solidFill>
                <a:sym typeface="+mn-ea"/>
              </a:rPr>
              <a:t>Hard 20x20    Hell 30x30</a:t>
            </a:r>
            <a:endParaRPr sz="1800">
              <a:solidFill>
                <a:srgbClr val="1F2933"/>
              </a:solidFill>
              <a:sym typeface="+mn-ea"/>
            </a:endParaRPr>
          </a:p>
          <a:p>
            <a:pPr algn="l">
              <a:defRPr sz="1575" b="0">
                <a:solidFill>
                  <a:srgbClr val="1F2933"/>
                </a:solidFill>
              </a:defRPr>
            </a:pPr>
            <a:endParaRPr sz="1800" b="0">
              <a:solidFill>
                <a:srgbClr val="1F2933"/>
              </a:solidFill>
            </a:endParaRPr>
          </a:p>
          <a:p>
            <a:pPr algn="l">
              <a:defRPr sz="1575" b="0">
                <a:solidFill>
                  <a:srgbClr val="1F2933"/>
                </a:solidFill>
              </a:defRPr>
            </a:pPr>
            <a:r>
              <a:rPr sz="1800">
                <a:solidFill>
                  <a:srgbClr val="1F2933"/>
                </a:solidFill>
                <a:sym typeface="+mn-ea"/>
              </a:rPr>
              <a:t>player '@'    exit '$'        wall '#'       road '.'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0" y="71755"/>
            <a:ext cx="3176905" cy="95694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883275" y="2660015"/>
            <a:ext cx="5736590" cy="5962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  <a:sym typeface="+mn-ea"/>
              </a:rPr>
              <a:t>地图、玩家坐标、出口坐标和当前难度共同描述一局游戏。</a:t>
            </a:r>
            <a:endParaRPr sz="1575" b="1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  <a:sym typeface="+mn-ea"/>
              </a:rPr>
              <a:t>不同难度只是地图规模不同，移动、撞墙、通关逻辑完全复用</a:t>
            </a:r>
            <a:r>
              <a:rPr sz="1575">
                <a:solidFill>
                  <a:srgbClr val="111111"/>
                </a:solidFill>
                <a:sym typeface="+mn-ea"/>
              </a:rPr>
              <a:t>。</a:t>
            </a:r>
            <a:endParaRPr lang="zh-CN" altLang="en-US" sz="1575">
              <a:solidFill>
                <a:srgbClr val="111111"/>
              </a:solidFill>
              <a:sym typeface="+mn-ea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137910" y="219075"/>
            <a:ext cx="457771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FFFFFF"/>
                </a:solidFill>
              </a:defRPr>
            </a:pPr>
            <a:r>
              <a:rPr 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游戏整体</a:t>
            </a:r>
            <a:r>
              <a:rPr 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逻辑</a:t>
            </a:r>
            <a:endParaRPr lang="zh-CN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" y="1391285"/>
            <a:ext cx="2407920" cy="952500"/>
          </a:xfrm>
          <a:prstGeom prst="rect">
            <a:avLst/>
          </a:prstGeom>
        </p:spPr>
      </p:pic>
      <p:pic>
        <p:nvPicPr>
          <p:cNvPr id="14" name="图片 13"/>
          <p:cNvPicPr/>
          <p:nvPr/>
        </p:nvPicPr>
        <p:blipFill>
          <a:blip r:embed="rId4"/>
          <a:stretch>
            <a:fillRect/>
          </a:stretch>
        </p:blipFill>
        <p:spPr>
          <a:xfrm>
            <a:off x="220980" y="3642360"/>
            <a:ext cx="11407775" cy="298640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7550" y="2021840"/>
            <a:ext cx="1836420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63B70">
              <a:alpha val="97000"/>
            </a:srgbClr>
          </a:solidFill>
          <a:ln w="0">
            <a:noFill/>
            <a:prstDash val="solid"/>
          </a:ln>
        </p:spPr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0" y="71755"/>
            <a:ext cx="3176905" cy="956945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6137910" y="219075"/>
            <a:ext cx="457771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FFFFFF"/>
                </a:solidFill>
              </a:defRPr>
            </a:pPr>
            <a:r>
              <a:rPr 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游戏整体</a:t>
            </a:r>
            <a:r>
              <a:rPr 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逻辑</a:t>
            </a:r>
            <a:endParaRPr lang="zh-CN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3700" y="1376363"/>
            <a:ext cx="5080000" cy="230695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just" defTabSz="2667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   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按照游戏实际运行逻辑，游戏状态包括：游戏中、撞墙提示和成功。玩家处于游戏中时，如果移动到通路，就仍然保持游戏中；如果目标位置是墙壁，则进入“撞墙提示”状态，显示 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Oops! 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后立即重新渲染并返回游戏中；如果玩家到达出口，则进入成功状态，显示 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You Win 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并等待重开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478" y="3896678"/>
            <a:ext cx="3559175" cy="245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0585" y="1285240"/>
            <a:ext cx="5272405" cy="1708150"/>
          </a:xfrm>
          <a:prstGeom prst="rect">
            <a:avLst/>
          </a:prstGeom>
        </p:spPr>
      </p:pic>
      <p:pic>
        <p:nvPicPr>
          <p:cNvPr id="2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0585" y="3131820"/>
            <a:ext cx="5273040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0268" y="4965700"/>
            <a:ext cx="5269865" cy="1577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960" y="1973580"/>
            <a:ext cx="5524500" cy="42926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63B7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305675" y="238760"/>
            <a:ext cx="342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输出</a:t>
            </a:r>
            <a:endParaRPr sz="28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00050" y="1409700"/>
            <a:ext cx="314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PuTTY 原地刷新</a:t>
            </a:r>
            <a:endParaRPr sz="2400" b="1">
              <a:solidFill>
                <a:srgbClr val="111111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 flipV="1">
            <a:off x="2656840" y="1632585"/>
            <a:ext cx="8879840" cy="76200"/>
          </a:xfrm>
          <a:prstGeom prst="rect">
            <a:avLst/>
          </a:prstGeom>
          <a:solidFill>
            <a:srgbClr val="5E83A8"/>
          </a:solidFill>
          <a:ln w="0">
            <a:noFill/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4953000" y="2647950"/>
            <a:ext cx="952500" cy="952500"/>
          </a:xfrm>
          <a:prstGeom prst="ellipse">
            <a:avLst/>
          </a:prstGeom>
          <a:noFill/>
          <a:ln w="47625">
            <a:solidFill>
              <a:srgbClr val="4F64F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048250" y="2981325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4F64FF"/>
                </a:solidFill>
              </a:defRPr>
            </a:pPr>
            <a:r>
              <a:rPr sz="1500" b="1">
                <a:solidFill>
                  <a:srgbClr val="4F64FF"/>
                </a:solidFill>
              </a:rPr>
              <a:t>PuTTY</a:t>
            </a:r>
            <a:endParaRPr sz="1500" b="1">
              <a:solidFill>
                <a:srgbClr val="4F64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667500" y="2232660"/>
            <a:ext cx="4333875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838950" y="2313940"/>
            <a:ext cx="3990975" cy="2105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static void uart_ansi_pos(int row, int col) {</a:t>
            </a:r>
            <a:endParaRPr sz="1275" b="1">
              <a:solidFill>
                <a:srgbClr val="1F2933"/>
              </a:solidFill>
            </a:endParaRPr>
          </a:p>
          <a:p>
            <a:pPr algn="l">
              <a:defRPr sz="1275" b="0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    uart_putc_raw(27);   // ESC</a:t>
            </a:r>
            <a:endParaRPr sz="1275" b="1">
              <a:solidFill>
                <a:srgbClr val="1F2933"/>
              </a:solidFill>
            </a:endParaRPr>
          </a:p>
          <a:p>
            <a:pPr algn="l">
              <a:defRPr sz="1275" b="0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    uart_putc_raw('[');</a:t>
            </a:r>
            <a:endParaRPr sz="1275" b="1">
              <a:solidFill>
                <a:srgbClr val="1F2933"/>
              </a:solidFill>
            </a:endParaRPr>
          </a:p>
          <a:p>
            <a:pPr algn="l">
              <a:defRPr sz="1275" b="0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    ...</a:t>
            </a:r>
            <a:endParaRPr sz="1275" b="1">
              <a:solidFill>
                <a:srgbClr val="1F2933"/>
              </a:solidFill>
            </a:endParaRPr>
          </a:p>
          <a:p>
            <a:pPr algn="l">
              <a:defRPr sz="1275" b="0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    uart_putc_raw('H');  // ESC[row;colH</a:t>
            </a:r>
            <a:endParaRPr sz="1275" b="1">
              <a:solidFill>
                <a:srgbClr val="1F2933"/>
              </a:solidFill>
            </a:endParaRPr>
          </a:p>
          <a:p>
            <a:pPr algn="l">
              <a:defRPr sz="1275" b="0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}</a:t>
            </a:r>
            <a:endParaRPr sz="1275" b="1">
              <a:solidFill>
                <a:srgbClr val="1F2933"/>
              </a:solidFill>
            </a:endParaRPr>
          </a:p>
          <a:p>
            <a:endParaRPr sz="1275" b="1"/>
          </a:p>
          <a:p>
            <a:pPr algn="l">
              <a:defRPr sz="1275" b="0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static void uart_send_str(const char *s) {</a:t>
            </a:r>
            <a:endParaRPr sz="1275" b="1">
              <a:solidFill>
                <a:srgbClr val="1F2933"/>
              </a:solidFill>
            </a:endParaRPr>
          </a:p>
          <a:p>
            <a:pPr algn="l">
              <a:defRPr sz="1275" b="0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    while (*s) uart_putc_raw(*s++);</a:t>
            </a:r>
            <a:endParaRPr sz="1275" b="1">
              <a:solidFill>
                <a:srgbClr val="1F2933"/>
              </a:solidFill>
            </a:endParaRPr>
          </a:p>
          <a:p>
            <a:pPr algn="l">
              <a:defRPr sz="1275" b="0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}</a:t>
            </a:r>
            <a:endParaRPr sz="1275" b="1">
              <a:solidFill>
                <a:srgbClr val="1F2933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667500" y="4667250"/>
            <a:ext cx="4333875" cy="1714500"/>
          </a:xfrm>
          <a:prstGeom prst="roundRect">
            <a:avLst>
              <a:gd name="adj" fmla="val 4444"/>
            </a:avLst>
          </a:prstGeom>
          <a:noFill/>
          <a:ln w="23813">
            <a:solidFill>
              <a:srgbClr val="071A5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934200" y="4895850"/>
            <a:ext cx="3800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为什么不再使用 SSCOM</a:t>
            </a:r>
            <a:endParaRPr sz="1875" b="1">
              <a:solidFill>
                <a:srgbClr val="111111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991350" y="5410200"/>
            <a:ext cx="36861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• SSCOM 只追加日志，原地刷新效果差</a:t>
            </a:r>
            <a:endParaRPr sz="1425" b="1">
              <a:solidFill>
                <a:srgbClr val="111111"/>
              </a:solidFill>
            </a:endParaRPr>
          </a:p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• PuTTY 支持 ANSI 清屏与光标定位</a:t>
            </a:r>
            <a:endParaRPr sz="1425" b="1">
              <a:solidFill>
                <a:srgbClr val="111111"/>
              </a:solidFill>
            </a:endParaRPr>
          </a:p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• 移动后只重画变化区域</a:t>
            </a:r>
            <a:endParaRPr sz="1425" b="1">
              <a:solidFill>
                <a:srgbClr val="111111"/>
              </a:solidFill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" y="78740"/>
            <a:ext cx="3023235" cy="9105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63B7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137910" y="219075"/>
            <a:ext cx="457771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FFFFFF"/>
                </a:solidFill>
              </a:defRPr>
            </a:pPr>
            <a:r>
              <a:rPr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帧缓冲与差分渲染</a:t>
            </a:r>
            <a:r>
              <a:rPr 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逻辑</a:t>
            </a:r>
            <a:endParaRPr lang="zh-CN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00050" y="1409700"/>
            <a:ext cx="314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帧缓冲与差分渲染</a:t>
            </a:r>
            <a:endParaRPr sz="2400" b="1">
              <a:solidFill>
                <a:srgbClr val="111111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 flipV="1">
            <a:off x="3094355" y="1666875"/>
            <a:ext cx="8364220" cy="76200"/>
          </a:xfrm>
          <a:prstGeom prst="rect">
            <a:avLst/>
          </a:prstGeom>
          <a:solidFill>
            <a:srgbClr val="5E83A8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2118995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263B70"/>
                </a:solidFill>
              </a:defRPr>
            </a:pPr>
            <a:r>
              <a:rPr sz="1875" b="1">
                <a:solidFill>
                  <a:srgbClr val="263B70"/>
                </a:solidFill>
              </a:rPr>
              <a:t>先构造新画面，再比较旧画面</a:t>
            </a:r>
            <a:endParaRPr sz="1875" b="1">
              <a:solidFill>
                <a:srgbClr val="263B70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62000" y="3581400"/>
            <a:ext cx="1809750" cy="666750"/>
          </a:xfrm>
          <a:prstGeom prst="rect">
            <a:avLst/>
          </a:prstGeom>
          <a:solidFill>
            <a:srgbClr val="FFF9C4"/>
          </a:solidFill>
          <a:ln w="9525">
            <a:solidFill>
              <a:srgbClr val="D5C66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95375" y="3762375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fb_new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12" name="右箭头 11"/>
          <p:cNvSpPr>
            <a:spLocks noGrp="1"/>
          </p:cNvSpPr>
          <p:nvPr/>
        </p:nvSpPr>
        <p:spPr>
          <a:xfrm>
            <a:off x="2781300" y="3733800"/>
            <a:ext cx="904875" cy="342900"/>
          </a:xfrm>
          <a:prstGeom prst="rightArrow">
            <a:avLst/>
          </a:prstGeom>
          <a:solidFill>
            <a:srgbClr val="4F64FF"/>
          </a:solidFill>
          <a:ln w="19050">
            <a:solidFill>
              <a:srgbClr val="4F64FF"/>
            </a:solidFill>
            <a:prstDash val="solid"/>
          </a:ln>
        </p:spPr>
      </p:sp>
      <p:sp>
        <p:nvSpPr>
          <p:cNvPr id="13" name="菱形 12"/>
          <p:cNvSpPr>
            <a:spLocks noGrp="1"/>
          </p:cNvSpPr>
          <p:nvPr/>
        </p:nvSpPr>
        <p:spPr>
          <a:xfrm>
            <a:off x="4000500" y="3429000"/>
            <a:ext cx="1238250" cy="1000125"/>
          </a:xfrm>
          <a:prstGeom prst="diamond">
            <a:avLst/>
          </a:prstGeom>
          <a:solidFill>
            <a:srgbClr val="E8E3FF"/>
          </a:solidFill>
          <a:ln w="9525">
            <a:solidFill>
              <a:srgbClr val="B7A7F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248150" y="3682365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逐行比较</a:t>
            </a:r>
            <a:endParaRPr sz="1575" b="1">
              <a:solidFill>
                <a:srgbClr val="111111"/>
              </a:solidFill>
            </a:endParaRPr>
          </a:p>
        </p:txBody>
      </p:sp>
      <p:sp>
        <p:nvSpPr>
          <p:cNvPr id="15" name="右箭头 14"/>
          <p:cNvSpPr>
            <a:spLocks noGrp="1"/>
          </p:cNvSpPr>
          <p:nvPr/>
        </p:nvSpPr>
        <p:spPr>
          <a:xfrm>
            <a:off x="5572125" y="3733800"/>
            <a:ext cx="904875" cy="342900"/>
          </a:xfrm>
          <a:prstGeom prst="rightArrow">
            <a:avLst/>
          </a:prstGeom>
          <a:solidFill>
            <a:srgbClr val="4F64FF"/>
          </a:solidFill>
          <a:ln w="19050">
            <a:solidFill>
              <a:srgbClr val="4F64F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762750" y="3581400"/>
            <a:ext cx="2047875" cy="666750"/>
          </a:xfrm>
          <a:prstGeom prst="rect">
            <a:avLst/>
          </a:prstGeom>
          <a:solidFill>
            <a:srgbClr val="FFF9C4"/>
          </a:solidFill>
          <a:ln w="9525">
            <a:solidFill>
              <a:srgbClr val="D5C66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895465" y="3733800"/>
            <a:ext cx="178244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只输出变化行</a:t>
            </a:r>
            <a:endParaRPr sz="1875" b="1">
              <a:solidFill>
                <a:srgbClr val="111111"/>
              </a:solidFill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4181475" y="2446655"/>
            <a:ext cx="876300" cy="876300"/>
          </a:xfrm>
          <a:prstGeom prst="ellipse">
            <a:avLst/>
          </a:prstGeom>
          <a:noFill/>
          <a:ln w="47625">
            <a:solidFill>
              <a:srgbClr val="4F64F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269359" y="2765425"/>
            <a:ext cx="701040" cy="262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4F64FF"/>
                </a:solidFill>
              </a:defRPr>
            </a:pPr>
            <a:r>
              <a:rPr sz="1500" b="1">
                <a:solidFill>
                  <a:srgbClr val="4F64FF"/>
                </a:solidFill>
              </a:rPr>
              <a:t>差分</a:t>
            </a:r>
            <a:endParaRPr sz="1500" b="1">
              <a:solidFill>
                <a:srgbClr val="4F64FF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191250" y="4666615"/>
            <a:ext cx="4572000" cy="1524635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362700" y="4739640"/>
            <a:ext cx="4229100" cy="1451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F2933"/>
                </a:solidFill>
              </a:defRPr>
            </a:pPr>
            <a:r>
              <a:rPr sz="1200" b="1">
                <a:solidFill>
                  <a:srgbClr val="1F2933"/>
                </a:solidFill>
              </a:rPr>
              <a:t>if (my_memcmp(fb_new[r], fb_old[r], FB_COLS) != 0) {</a:t>
            </a:r>
            <a:endParaRPr sz="1200" b="1">
              <a:solidFill>
                <a:srgbClr val="1F2933"/>
              </a:solidFill>
            </a:endParaRPr>
          </a:p>
          <a:p>
            <a:pPr algn="l">
              <a:defRPr sz="1125" b="0">
                <a:solidFill>
                  <a:srgbClr val="1F2933"/>
                </a:solidFill>
              </a:defRPr>
            </a:pPr>
            <a:r>
              <a:rPr sz="1200" b="1">
                <a:solidFill>
                  <a:srgbClr val="1F2933"/>
                </a:solidFill>
              </a:rPr>
              <a:t>    uart_ansi_pos(r + 1, 1);</a:t>
            </a:r>
            <a:endParaRPr sz="1200" b="1">
              <a:solidFill>
                <a:srgbClr val="1F2933"/>
              </a:solidFill>
            </a:endParaRPr>
          </a:p>
          <a:p>
            <a:pPr algn="l">
              <a:defRPr sz="1125" b="0">
                <a:solidFill>
                  <a:srgbClr val="1F2933"/>
                </a:solidFill>
              </a:defRPr>
            </a:pPr>
            <a:r>
              <a:rPr sz="1200" b="1">
                <a:solidFill>
                  <a:srgbClr val="1F2933"/>
                </a:solidFill>
              </a:rPr>
              <a:t>    for (c = 0; c &lt; FB_COLS; c++) {</a:t>
            </a:r>
            <a:endParaRPr sz="1200" b="1">
              <a:solidFill>
                <a:srgbClr val="1F2933"/>
              </a:solidFill>
            </a:endParaRPr>
          </a:p>
          <a:p>
            <a:pPr algn="l">
              <a:defRPr sz="1125" b="0">
                <a:solidFill>
                  <a:srgbClr val="1F2933"/>
                </a:solidFill>
              </a:defRPr>
            </a:pPr>
            <a:r>
              <a:rPr sz="1200" b="1">
                <a:solidFill>
                  <a:srgbClr val="1F2933"/>
                </a:solidFill>
              </a:rPr>
              <a:t>        uart_putc_raw(fb_new[r][c]);</a:t>
            </a:r>
            <a:endParaRPr sz="1200" b="1">
              <a:solidFill>
                <a:srgbClr val="1F2933"/>
              </a:solidFill>
            </a:endParaRPr>
          </a:p>
          <a:p>
            <a:pPr algn="l">
              <a:defRPr sz="1125" b="0">
                <a:solidFill>
                  <a:srgbClr val="1F2933"/>
                </a:solidFill>
              </a:defRPr>
            </a:pPr>
            <a:r>
              <a:rPr sz="1200" b="1">
                <a:solidFill>
                  <a:srgbClr val="1F2933"/>
                </a:solidFill>
              </a:rPr>
              <a:t>    }</a:t>
            </a:r>
            <a:endParaRPr sz="1200" b="1">
              <a:solidFill>
                <a:srgbClr val="1F2933"/>
              </a:solidFill>
            </a:endParaRPr>
          </a:p>
          <a:p>
            <a:pPr algn="l">
              <a:defRPr sz="1125" b="0">
                <a:solidFill>
                  <a:srgbClr val="1F2933"/>
                </a:solidFill>
              </a:defRPr>
            </a:pPr>
            <a:r>
              <a:rPr sz="1200" b="1">
                <a:solidFill>
                  <a:srgbClr val="1F2933"/>
                </a:solidFill>
              </a:rPr>
              <a:t>}</a:t>
            </a:r>
            <a:endParaRPr sz="1200" b="1">
              <a:solidFill>
                <a:srgbClr val="1F2933"/>
              </a:solidFill>
            </a:endParaRPr>
          </a:p>
          <a:p>
            <a:pPr algn="l">
              <a:defRPr sz="1125" b="0">
                <a:solidFill>
                  <a:srgbClr val="1F2933"/>
                </a:solidFill>
              </a:defRPr>
            </a:pPr>
            <a:r>
              <a:rPr sz="1200" b="1">
                <a:solidFill>
                  <a:srgbClr val="1F2933"/>
                </a:solidFill>
              </a:rPr>
              <a:t>my_memcpy(fb_old[r], fb_new[r], FB_COLS);</a:t>
            </a:r>
            <a:endParaRPr sz="1200" b="1">
              <a:solidFill>
                <a:srgbClr val="1F2933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685800" y="4667250"/>
            <a:ext cx="4286250" cy="1619250"/>
          </a:xfrm>
          <a:prstGeom prst="roundRect">
            <a:avLst>
              <a:gd name="adj" fmla="val 4706"/>
            </a:avLst>
          </a:prstGeom>
          <a:noFill/>
          <a:ln w="23813">
            <a:solidFill>
              <a:srgbClr val="071A5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52500" y="4895850"/>
            <a:ext cx="3752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差分效果</a:t>
            </a:r>
            <a:endParaRPr sz="1875" b="1">
              <a:solidFill>
                <a:srgbClr val="111111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009650" y="5367655"/>
            <a:ext cx="36385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终端不会持续滚屏</a:t>
            </a:r>
            <a:endParaRPr sz="1425" b="0">
              <a:solidFill>
                <a:srgbClr val="111111"/>
              </a:solidFill>
            </a:endParaRPr>
          </a:p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角色移动只影响相关行</a:t>
            </a:r>
            <a:endParaRPr sz="1425" b="0">
              <a:solidFill>
                <a:srgbClr val="111111"/>
              </a:solidFill>
            </a:endParaRPr>
          </a:p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PuTTY 界面接近字符游戏</a:t>
            </a:r>
            <a:endParaRPr sz="1425" b="0">
              <a:solidFill>
                <a:srgbClr val="111111"/>
              </a:solidFill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" y="78740"/>
            <a:ext cx="3023235" cy="9105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63B7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338060" y="200025"/>
            <a:ext cx="342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用户输入</a:t>
            </a:r>
            <a:endParaRPr sz="28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00050" y="1409700"/>
            <a:ext cx="314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GPIO 与键盘共存</a:t>
            </a:r>
            <a:endParaRPr sz="2400" b="1">
              <a:solidFill>
                <a:srgbClr val="111111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 flipV="1">
            <a:off x="2854960" y="1666875"/>
            <a:ext cx="8603615" cy="76200"/>
          </a:xfrm>
          <a:prstGeom prst="rect">
            <a:avLst/>
          </a:prstGeom>
          <a:solidFill>
            <a:srgbClr val="5E83A8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71500" y="2381250"/>
            <a:ext cx="4762500" cy="3143250"/>
          </a:xfrm>
          <a:prstGeom prst="rect">
            <a:avLst/>
          </a:prstGeom>
          <a:solidFill>
            <a:srgbClr val="F7FBFF"/>
          </a:solidFill>
          <a:ln w="9525">
            <a:solidFill>
              <a:srgbClr val="9FB3C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905000" y="26289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5E83A8"/>
                </a:solidFill>
              </a:defRPr>
            </a:pPr>
            <a:r>
              <a:rPr sz="2250" b="1">
                <a:solidFill>
                  <a:srgbClr val="5E83A8"/>
                </a:solidFill>
              </a:rPr>
              <a:t>输入映射关系</a:t>
            </a:r>
            <a:endParaRPr sz="2250" b="1">
              <a:solidFill>
                <a:srgbClr val="5E83A8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66800" y="3190875"/>
            <a:ext cx="3762375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GPIO 模式</a:t>
            </a:r>
            <a:endParaRPr sz="1875" b="1">
              <a:solidFill>
                <a:srgbClr val="111111"/>
              </a:solidFill>
            </a:endParaRPr>
          </a:p>
          <a:p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方向开关 + N17 确认</a:t>
            </a:r>
            <a:endParaRPr sz="1875" b="1">
              <a:solidFill>
                <a:srgbClr val="111111"/>
              </a:solidFill>
            </a:endParaRPr>
          </a:p>
          <a:p>
            <a:endParaRPr sz="1875"/>
          </a:p>
          <a:p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键盘模式</a:t>
            </a:r>
            <a:endParaRPr sz="1875" b="1">
              <a:solidFill>
                <a:srgbClr val="111111"/>
              </a:solidFill>
            </a:endParaRPr>
          </a:p>
          <a:p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WASD / 方向键移动</a:t>
            </a:r>
            <a:endParaRPr sz="1875" b="1">
              <a:solidFill>
                <a:srgbClr val="111111"/>
              </a:solidFill>
            </a:endParaRPr>
          </a:p>
          <a:p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1 2 3 4 选择难度</a:t>
            </a:r>
            <a:endParaRPr sz="1875" b="1">
              <a:solidFill>
                <a:srgbClr val="111111"/>
              </a:solidFill>
            </a:endParaRPr>
          </a:p>
          <a:p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Enter / Space 重开</a:t>
            </a:r>
            <a:endParaRPr sz="1875" b="1">
              <a:solidFill>
                <a:srgbClr val="111111"/>
              </a:solidFill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990600" y="2781300"/>
            <a:ext cx="819150" cy="819150"/>
          </a:xfrm>
          <a:prstGeom prst="ellipse">
            <a:avLst/>
          </a:prstGeom>
          <a:noFill/>
          <a:ln w="47625">
            <a:solidFill>
              <a:srgbClr val="4F64F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66927" y="3068003"/>
            <a:ext cx="655320" cy="2457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4F64FF"/>
                </a:solidFill>
              </a:defRPr>
            </a:pPr>
            <a:r>
              <a:rPr sz="1500" b="1">
                <a:solidFill>
                  <a:srgbClr val="4F64FF"/>
                </a:solidFill>
              </a:rPr>
              <a:t>输入</a:t>
            </a:r>
            <a:endParaRPr sz="1500" b="1">
              <a:solidFill>
                <a:srgbClr val="4F64FF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191250" y="2381250"/>
            <a:ext cx="5095875" cy="3143250"/>
          </a:xfrm>
          <a:prstGeom prst="roundRect">
            <a:avLst>
              <a:gd name="adj" fmla="val 2424"/>
            </a:avLst>
          </a:prstGeom>
          <a:noFill/>
          <a:ln w="23813">
            <a:solidFill>
              <a:srgbClr val="071A5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553200" y="2453005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uart_get_key()</a:t>
            </a:r>
            <a:endParaRPr sz="2025" b="1">
              <a:solidFill>
                <a:srgbClr val="111111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553200" y="2891790"/>
            <a:ext cx="4095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非阻塞读取 UART 字符，并把不同按键统一映射为内部键码。方向键不是单字符，而是 ESC [ A/B/C/D 序列，因此代码用 esc_state 分步解析。</a:t>
            </a:r>
            <a:endParaRPr sz="1650" b="0">
              <a:solidFill>
                <a:srgbClr val="111111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553200" y="4033520"/>
            <a:ext cx="414337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724650" y="4201160"/>
            <a:ext cx="380047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F2933"/>
                </a:solidFill>
              </a:defRPr>
            </a:pPr>
            <a:r>
              <a:rPr sz="1125" b="0">
                <a:solidFill>
                  <a:srgbClr val="1F2933"/>
                </a:solidFill>
              </a:rPr>
              <a:t>if (c == 'w' || c == 'W') return K_UP;</a:t>
            </a:r>
            <a:endParaRPr sz="1125" b="0">
              <a:solidFill>
                <a:srgbClr val="1F2933"/>
              </a:solidFill>
            </a:endParaRPr>
          </a:p>
          <a:p>
            <a:pPr algn="l">
              <a:defRPr sz="1125" b="0">
                <a:solidFill>
                  <a:srgbClr val="1F2933"/>
                </a:solidFill>
              </a:defRPr>
            </a:pPr>
            <a:r>
              <a:rPr sz="1125" b="0">
                <a:solidFill>
                  <a:srgbClr val="1F2933"/>
                </a:solidFill>
              </a:rPr>
              <a:t>if (c == 'a' || c == 'A') return K_LEFT;</a:t>
            </a:r>
            <a:endParaRPr sz="1125" b="0">
              <a:solidFill>
                <a:srgbClr val="1F2933"/>
              </a:solidFill>
            </a:endParaRPr>
          </a:p>
          <a:p>
            <a:pPr algn="l">
              <a:defRPr sz="1125" b="0">
                <a:solidFill>
                  <a:srgbClr val="1F2933"/>
                </a:solidFill>
              </a:defRPr>
            </a:pPr>
            <a:r>
              <a:rPr sz="1125" b="0">
                <a:solidFill>
                  <a:srgbClr val="1F2933"/>
                </a:solidFill>
              </a:rPr>
              <a:t>if (c == '1' || c == 'E') return K_EASY;</a:t>
            </a:r>
            <a:endParaRPr sz="1125" b="0">
              <a:solidFill>
                <a:srgbClr val="1F2933"/>
              </a:solidFill>
            </a:endParaRPr>
          </a:p>
          <a:p>
            <a:pPr algn="l">
              <a:defRPr sz="1125" b="0">
                <a:solidFill>
                  <a:srgbClr val="1F2933"/>
                </a:solidFill>
              </a:defRPr>
            </a:pPr>
            <a:r>
              <a:rPr sz="1125" b="0">
                <a:solidFill>
                  <a:srgbClr val="1F2933"/>
                </a:solidFill>
              </a:rPr>
              <a:t>if (c == '\r' || c == ' ') return K_CONFIRM;</a:t>
            </a:r>
            <a:endParaRPr sz="1125" b="0">
              <a:solidFill>
                <a:srgbClr val="1F2933"/>
              </a:solidFill>
            </a:endParaRPr>
          </a:p>
          <a:p>
            <a:endParaRPr sz="1125"/>
          </a:p>
          <a:p>
            <a:pPr algn="l">
              <a:defRPr sz="1125" b="0">
                <a:solidFill>
                  <a:srgbClr val="1F2933"/>
                </a:solidFill>
              </a:defRPr>
            </a:pPr>
            <a:r>
              <a:rPr sz="1125" b="0">
                <a:solidFill>
                  <a:srgbClr val="1F2933"/>
                </a:solidFill>
              </a:rPr>
              <a:t>if (esc_state == 2 &amp;&amp; c == 'A') return K_UP;</a:t>
            </a:r>
            <a:endParaRPr sz="1125" b="0">
              <a:solidFill>
                <a:srgbClr val="1F2933"/>
              </a:solidFill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" y="78740"/>
            <a:ext cx="3023235" cy="91059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63B7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338060" y="200025"/>
            <a:ext cx="342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FFFFFF"/>
                </a:solidFill>
              </a:defRPr>
            </a:pPr>
            <a:r>
              <a:rPr lang="zh-CN"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地图生成</a:t>
            </a:r>
            <a:r>
              <a:rPr lang="zh-CN"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逻辑</a:t>
            </a:r>
            <a:endParaRPr lang="zh-CN" sz="28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" y="78740"/>
            <a:ext cx="3023235" cy="9105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55600" y="1256983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/>
              <a:t>地图生成函数</a:t>
            </a:r>
            <a:r>
              <a:rPr lang="zh-CN" altLang="en-US" sz="1600"/>
              <a:t>采用深度优先搜索 </a:t>
            </a:r>
            <a:r>
              <a:rPr lang="en-US" altLang="zh-CN" sz="1600"/>
              <a:t>DFS</a:t>
            </a:r>
            <a:r>
              <a:rPr lang="zh-CN" altLang="en-US" sz="1600"/>
              <a:t>，递归回溯生成迷宫的非递归版本，因为 </a:t>
            </a:r>
            <a:r>
              <a:rPr lang="en-US" altLang="zh-CN" sz="1600"/>
              <a:t>OpenMIPS / </a:t>
            </a:r>
            <a:r>
              <a:rPr lang="zh-CN" altLang="en-US" sz="1600"/>
              <a:t>嵌入式环境里不太适合递归和动态内存，所以用固定数组当栈来模拟 </a:t>
            </a:r>
            <a:r>
              <a:rPr lang="en-US" altLang="zh-CN" sz="1600"/>
              <a:t>DFS</a:t>
            </a:r>
            <a:r>
              <a:rPr lang="zh-CN" altLang="en-US" sz="1600"/>
              <a:t>。</a:t>
            </a:r>
            <a:endParaRPr lang="zh-CN" altLang="en-US" sz="160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960" y="1207770"/>
            <a:ext cx="3169285" cy="511937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0880" y="2355215"/>
            <a:ext cx="3328670" cy="426021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796925" y="2263775"/>
            <a:ext cx="3968115" cy="425069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30000"/>
              </a:lnSpc>
            </a:pPr>
            <a:r>
              <a:rPr lang="zh-CN" altLang="en-US" sz="1600"/>
              <a:t>先把整张地图全部填成墙，也就是 </a:t>
            </a:r>
            <a:r>
              <a:rPr lang="en-US" altLang="zh-CN" sz="1600"/>
              <a:t>1</a:t>
            </a:r>
            <a:r>
              <a:rPr lang="zh-CN" altLang="en-US" sz="1600"/>
              <a:t>。然后从 </a:t>
            </a:r>
            <a:r>
              <a:rPr lang="en-US" altLang="zh-CN" sz="1600"/>
              <a:t>(1,1) </a:t>
            </a:r>
            <a:r>
              <a:rPr lang="zh-CN" altLang="en-US" sz="1600"/>
              <a:t>开始，把它设为通路 </a:t>
            </a:r>
            <a:r>
              <a:rPr lang="en-US" altLang="zh-CN" sz="1600"/>
              <a:t>0</a:t>
            </a:r>
            <a:r>
              <a:rPr lang="zh-CN" altLang="en-US" sz="1600"/>
              <a:t>，再用 </a:t>
            </a:r>
            <a:r>
              <a:rPr lang="en-US" altLang="zh-CN" sz="1600"/>
              <a:t>DFS </a:t>
            </a:r>
            <a:r>
              <a:rPr lang="zh-CN" altLang="en-US" sz="1600"/>
              <a:t>一步步“挖墙”：</a:t>
            </a:r>
            <a:endParaRPr lang="zh-CN" altLang="en-US" sz="1600"/>
          </a:p>
          <a:p>
            <a:pPr>
              <a:lnSpc>
                <a:spcPct val="130000"/>
              </a:lnSpc>
            </a:pPr>
            <a:r>
              <a:rPr lang="zh-CN" altLang="en-US" sz="1600"/>
              <a:t>每次取栈顶格子 </a:t>
            </a:r>
            <a:r>
              <a:rPr lang="en-US" altLang="zh-CN" sz="1600"/>
              <a:t>(r, c)</a:t>
            </a:r>
            <a:r>
              <a:rPr lang="zh-CN" altLang="en-US" sz="1600"/>
              <a:t>，然后把上下左右四个方向随机打乱：</a:t>
            </a:r>
            <a:endParaRPr lang="zh-CN" altLang="en-US" sz="1600"/>
          </a:p>
          <a:p>
            <a:pPr>
              <a:lnSpc>
                <a:spcPct val="130000"/>
              </a:lnSpc>
            </a:pPr>
            <a:r>
              <a:rPr lang="zh-CN" altLang="en-US" sz="1600"/>
              <a:t>如果目标格还没被访问过，也就是仍然是墙：</a:t>
            </a:r>
            <a:endParaRPr lang="zh-CN" altLang="en-US" sz="1600"/>
          </a:p>
          <a:p>
            <a:pPr>
              <a:lnSpc>
                <a:spcPct val="130000"/>
              </a:lnSpc>
            </a:pPr>
            <a:r>
              <a:rPr lang="zh-CN" altLang="en-US" sz="1600"/>
              <a:t>那就把中间墙和目标格都挖开：</a:t>
            </a:r>
            <a:endParaRPr lang="zh-CN" altLang="en-US" sz="1600"/>
          </a:p>
          <a:p>
            <a:pPr>
              <a:lnSpc>
                <a:spcPct val="130000"/>
              </a:lnSpc>
            </a:pPr>
            <a:r>
              <a:rPr lang="zh-CN" altLang="en-US" sz="1600"/>
              <a:t>这样就从当前位置连通到了目标格。</a:t>
            </a:r>
            <a:endParaRPr lang="zh-CN" altLang="en-US" sz="1600"/>
          </a:p>
          <a:p>
            <a:pPr>
              <a:lnSpc>
                <a:spcPct val="130000"/>
              </a:lnSpc>
            </a:pPr>
            <a:r>
              <a:rPr lang="zh-CN" altLang="en-US" sz="1600"/>
              <a:t>如果当前格子还能往某个方向挖，就把新格子压入栈：</a:t>
            </a:r>
            <a:endParaRPr lang="zh-CN" altLang="en-US" sz="1600"/>
          </a:p>
          <a:p>
            <a:pPr>
              <a:lnSpc>
                <a:spcPct val="130000"/>
              </a:lnSpc>
            </a:pPr>
            <a:r>
              <a:rPr lang="zh-CN" altLang="en-US" sz="1600"/>
              <a:t>如果四个方向都不能继续挖，说明当前路走到头了，就退回上一个格子：</a:t>
            </a:r>
            <a:endParaRPr lang="zh-CN" altLang="en-US"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63B7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338060" y="200025"/>
            <a:ext cx="342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FFFFFF"/>
                </a:solidFill>
              </a:defRPr>
            </a:pPr>
            <a:r>
              <a:rPr lang="zh-CN"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随机起点和</a:t>
            </a:r>
            <a:r>
              <a:rPr lang="zh-CN"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重点</a:t>
            </a:r>
            <a:endParaRPr lang="zh-CN" sz="28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" y="78740"/>
            <a:ext cx="3023235" cy="9105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825" y="1260475"/>
            <a:ext cx="3947160" cy="51358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315" y="1513840"/>
            <a:ext cx="4991100" cy="42443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63B7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064375" y="200025"/>
            <a:ext cx="370268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FFFFFF"/>
                </a:solidFill>
              </a:defRPr>
            </a:pPr>
            <a:r>
              <a:rPr lang="zh-CN"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不同难度的地图</a:t>
            </a:r>
            <a:r>
              <a:rPr lang="zh-CN"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选择</a:t>
            </a:r>
            <a:endParaRPr lang="zh-CN" sz="28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" y="78740"/>
            <a:ext cx="3023235" cy="9105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70" y="1224280"/>
            <a:ext cx="392049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55700"/>
            <a:ext cx="4330065" cy="2734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7530" y="3543300"/>
            <a:ext cx="4325620" cy="2941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4035" y="2971800"/>
            <a:ext cx="3804285" cy="3695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3143250" cy="6858000"/>
          </a:xfrm>
          <a:prstGeom prst="rect">
            <a:avLst/>
          </a:prstGeom>
          <a:solidFill>
            <a:srgbClr val="263B7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00125" y="1066800"/>
            <a:ext cx="10001250" cy="4572000"/>
          </a:xfrm>
          <a:prstGeom prst="rect">
            <a:avLst/>
          </a:prstGeom>
          <a:noFill/>
          <a:ln w="23813">
            <a:solidFill>
              <a:srgbClr val="263B70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810750" y="876300"/>
            <a:ext cx="902970" cy="190500"/>
          </a:xfrm>
          <a:prstGeom prst="rect">
            <a:avLst/>
          </a:prstGeom>
          <a:solidFill>
            <a:srgbClr val="263B70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810750" y="5638800"/>
            <a:ext cx="902970" cy="190500"/>
          </a:xfrm>
          <a:prstGeom prst="rect">
            <a:avLst/>
          </a:prstGeom>
          <a:solidFill>
            <a:srgbClr val="263B70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00125" y="1066800"/>
            <a:ext cx="10001250" cy="4572000"/>
          </a:xfrm>
          <a:prstGeom prst="rect">
            <a:avLst/>
          </a:prstGeom>
          <a:solidFill>
            <a:srgbClr val="E9EEF2"/>
          </a:solidFill>
          <a:ln w="1905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857375" y="2143125"/>
            <a:ext cx="1809750" cy="514350"/>
          </a:xfrm>
          <a:prstGeom prst="rect">
            <a:avLst/>
          </a:prstGeom>
          <a:solidFill>
            <a:srgbClr val="263B70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2000250" y="2143125"/>
            <a:ext cx="148082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2800" b="1">
                <a:solidFill>
                  <a:srgbClr val="FFFFFF"/>
                </a:solidFill>
                <a:latin typeface="Eras Bold ITC" panose="020B0907030504020204" charset="0"/>
                <a:cs typeface="Eras Bold ITC" panose="020B0907030504020204" charset="0"/>
              </a:rPr>
              <a:t>PART</a:t>
            </a:r>
            <a:r>
              <a:rPr lang="en-US" sz="2800" b="1">
                <a:solidFill>
                  <a:srgbClr val="FFFFFF"/>
                </a:solidFill>
                <a:latin typeface="Eras Bold ITC" panose="020B0907030504020204" charset="0"/>
                <a:cs typeface="Eras Bold ITC" panose="020B0907030504020204" charset="0"/>
              </a:rPr>
              <a:t>3</a:t>
            </a:r>
            <a:endParaRPr lang="en-US" sz="2800" b="1">
              <a:solidFill>
                <a:srgbClr val="FFFFFF"/>
              </a:solidFill>
              <a:latin typeface="Eras Bold ITC" panose="020B0907030504020204" charset="0"/>
              <a:cs typeface="Eras Bold ITC" panose="020B0907030504020204" charset="0"/>
            </a:endParaRPr>
          </a:p>
        </p:txBody>
      </p:sp>
      <p:sp>
        <p:nvSpPr>
          <p:cNvPr id="11" name="等腰三角形 10"/>
          <p:cNvSpPr>
            <a:spLocks noGrp="1"/>
          </p:cNvSpPr>
          <p:nvPr/>
        </p:nvSpPr>
        <p:spPr>
          <a:xfrm>
            <a:off x="2000250" y="2609850"/>
            <a:ext cx="266700" cy="209550"/>
          </a:xfrm>
          <a:prstGeom prst="triangle">
            <a:avLst/>
          </a:prstGeom>
          <a:solidFill>
            <a:srgbClr val="263B70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905000" y="2971800"/>
            <a:ext cx="7239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111111"/>
                </a:solidFill>
              </a:defRPr>
            </a:pPr>
            <a:r>
              <a:rPr lang="zh-CN" sz="375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下板演示</a:t>
            </a:r>
            <a:r>
              <a:rPr lang="en-US" altLang="zh-CN" sz="375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375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走迷宫</a:t>
            </a:r>
            <a:r>
              <a:rPr lang="zh-CN" altLang="en-US" sz="375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小游戏</a:t>
            </a:r>
            <a:endParaRPr lang="zh-CN" altLang="en-US" sz="375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952625" y="45720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下板验证</a:t>
            </a:r>
            <a:r>
              <a:rPr 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应用程序</a:t>
            </a:r>
            <a:endParaRPr 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819900" y="4724400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2606D"/>
                </a:solidFill>
              </a:defRPr>
            </a:pPr>
            <a:r>
              <a:rPr>
                <a:latin typeface="Eras Bold ITC" panose="020B0907030504020204" charset="0"/>
                <a:cs typeface="Eras Bold ITC" panose="020B0907030504020204" charset="0"/>
                <a:sym typeface="+mn-ea"/>
              </a:rPr>
              <a:t>OpenMIPS / Wishbone / BootLoader / DDR2</a:t>
            </a:r>
            <a:endParaRPr b="0">
              <a:solidFill>
                <a:srgbClr val="52606D"/>
              </a:solidFill>
              <a:latin typeface="Eras Bold ITC" panose="020B0907030504020204" charset="0"/>
              <a:cs typeface="Eras Bold ITC" panose="020B0907030504020204" charset="0"/>
            </a:endParaRPr>
          </a:p>
          <a:p>
            <a:pPr algn="r">
              <a:defRPr sz="1125" b="0">
                <a:solidFill>
                  <a:srgbClr val="52606D"/>
                </a:solidFill>
              </a:defRPr>
            </a:pPr>
            <a:endParaRPr sz="1125" b="0">
              <a:solidFill>
                <a:srgbClr val="52606D"/>
              </a:solidFill>
              <a:latin typeface="Eras Bold ITC" panose="020B0907030504020204" charset="0"/>
              <a:cs typeface="Eras Bold ITC" panose="020B0907030504020204" charset="0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" y="78740"/>
            <a:ext cx="3023235" cy="91059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8101965" y="1544955"/>
            <a:ext cx="3935730" cy="289560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0" y="1544955"/>
            <a:ext cx="12192000" cy="2895600"/>
          </a:xfrm>
          <a:prstGeom prst="rect">
            <a:avLst/>
          </a:prstGeom>
          <a:gradFill flip="none" rotWithShape="1">
            <a:gsLst>
              <a:gs pos="53000">
                <a:schemeClr val="accent1"/>
              </a:gs>
              <a:gs pos="85000">
                <a:schemeClr val="accent1">
                  <a:alpha val="30690"/>
                </a:schemeClr>
              </a:gs>
              <a:gs pos="0">
                <a:schemeClr val="accent1"/>
              </a:gs>
              <a:gs pos="66000">
                <a:schemeClr val="accent1">
                  <a:alpha val="90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2" name="图片 21"/>
          <p:cNvPicPr/>
          <p:nvPr/>
        </p:nvPicPr>
        <p:blipFill>
          <a:blip r:embed="rId2"/>
          <a:srcRect l="2750" t="20150" r="5570" b="22261"/>
          <a:stretch>
            <a:fillRect/>
          </a:stretch>
        </p:blipFill>
        <p:spPr>
          <a:xfrm>
            <a:off x="241935" y="153035"/>
            <a:ext cx="3854450" cy="11925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359900" y="4696460"/>
            <a:ext cx="233997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b="1">
                <a:latin typeface="+mn-ea"/>
                <a:cs typeface="+mn-ea"/>
              </a:rPr>
              <a:t>2351520</a:t>
            </a:r>
            <a:endParaRPr lang="en-US" altLang="zh-CN" b="1">
              <a:latin typeface="+mn-ea"/>
              <a:cs typeface="+mn-ea"/>
            </a:endParaRPr>
          </a:p>
          <a:p>
            <a:pPr algn="r">
              <a:lnSpc>
                <a:spcPct val="150000"/>
              </a:lnSpc>
            </a:pPr>
            <a:r>
              <a:rPr lang="zh-CN" altLang="en-US" b="1">
                <a:latin typeface="+mn-ea"/>
                <a:cs typeface="+mn-ea"/>
              </a:rPr>
              <a:t>毛星博</a:t>
            </a:r>
            <a:endParaRPr lang="zh-CN" altLang="en-US" b="1">
              <a:latin typeface="+mn-ea"/>
              <a:cs typeface="+mn-ea"/>
            </a:endParaRPr>
          </a:p>
          <a:p>
            <a:pPr algn="r">
              <a:lnSpc>
                <a:spcPct val="150000"/>
              </a:lnSpc>
            </a:pPr>
            <a:r>
              <a:rPr lang="zh-CN" altLang="en-US" b="1">
                <a:latin typeface="+mn-ea"/>
                <a:cs typeface="+mn-ea"/>
              </a:rPr>
              <a:t>计算机科学与技术</a:t>
            </a:r>
            <a:endParaRPr lang="zh-CN" altLang="en-US" b="1">
              <a:latin typeface="+mn-ea"/>
              <a:cs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2895" y="1544955"/>
            <a:ext cx="752983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致谢：</a:t>
            </a:r>
            <a:endParaRPr lang="zh-CN" altLang="en-US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陪伴两年的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NEXYS4 DDR Atrix-7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开发板</a:t>
            </a:r>
            <a:endParaRPr lang="en-US" altLang="zh-CN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郭玉臣老师、张东东老师、陆有军老师、蒋海鹰老师</a:t>
            </a:r>
            <a:endParaRPr lang="zh-CN" altLang="en-US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亲爱的室友刘神和徐神</a:t>
            </a:r>
            <a:endParaRPr lang="zh-CN" altLang="en-US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冯羽芯学姐、曾崇然学长</a:t>
            </a:r>
            <a:endParaRPr lang="zh-CN" altLang="en-US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8101965" y="1544955"/>
            <a:ext cx="3935730" cy="289560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0" y="1544955"/>
            <a:ext cx="12192000" cy="2895600"/>
          </a:xfrm>
          <a:prstGeom prst="rect">
            <a:avLst/>
          </a:prstGeom>
          <a:gradFill flip="none" rotWithShape="1">
            <a:gsLst>
              <a:gs pos="53000">
                <a:schemeClr val="accent1"/>
              </a:gs>
              <a:gs pos="85000">
                <a:schemeClr val="accent1">
                  <a:alpha val="30690"/>
                </a:schemeClr>
              </a:gs>
              <a:gs pos="0">
                <a:schemeClr val="accent1"/>
              </a:gs>
              <a:gs pos="66000">
                <a:schemeClr val="accent1">
                  <a:alpha val="90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032635" y="2979420"/>
            <a:ext cx="28962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7200" b="1">
                <a:solidFill>
                  <a:schemeClr val="bg1"/>
                </a:solidFill>
              </a:rPr>
              <a:t>感谢！</a:t>
            </a:r>
            <a:endParaRPr lang="zh-CN" altLang="en-US" sz="7200" b="1">
              <a:solidFill>
                <a:schemeClr val="bg1"/>
              </a:solidFill>
            </a:endParaRPr>
          </a:p>
        </p:txBody>
      </p:sp>
      <p:pic>
        <p:nvPicPr>
          <p:cNvPr id="22" name="图片 21"/>
          <p:cNvPicPr/>
          <p:nvPr/>
        </p:nvPicPr>
        <p:blipFill>
          <a:blip r:embed="rId2"/>
          <a:srcRect l="2750" t="20150" r="5570" b="22261"/>
          <a:stretch>
            <a:fillRect/>
          </a:stretch>
        </p:blipFill>
        <p:spPr>
          <a:xfrm>
            <a:off x="241935" y="153035"/>
            <a:ext cx="3854450" cy="11925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359900" y="4696460"/>
            <a:ext cx="233997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b="1">
                <a:latin typeface="+mn-ea"/>
                <a:cs typeface="+mn-ea"/>
              </a:rPr>
              <a:t>2351520</a:t>
            </a:r>
            <a:endParaRPr lang="en-US" altLang="zh-CN" b="1">
              <a:latin typeface="+mn-ea"/>
              <a:cs typeface="+mn-ea"/>
            </a:endParaRPr>
          </a:p>
          <a:p>
            <a:pPr algn="r">
              <a:lnSpc>
                <a:spcPct val="150000"/>
              </a:lnSpc>
            </a:pPr>
            <a:r>
              <a:rPr lang="zh-CN" altLang="en-US" b="1">
                <a:latin typeface="+mn-ea"/>
                <a:cs typeface="+mn-ea"/>
              </a:rPr>
              <a:t>毛星博</a:t>
            </a:r>
            <a:endParaRPr lang="zh-CN" altLang="en-US" b="1">
              <a:latin typeface="+mn-ea"/>
              <a:cs typeface="+mn-ea"/>
            </a:endParaRPr>
          </a:p>
          <a:p>
            <a:pPr algn="r">
              <a:lnSpc>
                <a:spcPct val="150000"/>
              </a:lnSpc>
            </a:pPr>
            <a:r>
              <a:rPr lang="zh-CN" altLang="en-US" b="1">
                <a:latin typeface="+mn-ea"/>
                <a:cs typeface="+mn-ea"/>
              </a:rPr>
              <a:t>计算机科学与技术</a:t>
            </a:r>
            <a:endParaRPr lang="zh-CN" altLang="en-US" b="1">
              <a:latin typeface="+mn-ea"/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5295" y="1943735"/>
            <a:ext cx="65779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计算机系统实验申优答辩</a:t>
            </a:r>
            <a:endParaRPr lang="zh-CN" altLang="en-US" sz="2400" b="1">
              <a:solidFill>
                <a:schemeClr val="bg1"/>
              </a:solidFill>
            </a:endParaRPr>
          </a:p>
          <a:p>
            <a:r>
              <a:rPr lang="en-US" altLang="zh-CN" sz="2400" b="1">
                <a:solidFill>
                  <a:schemeClr val="bg1"/>
                </a:solidFill>
              </a:rPr>
              <a:t>——</a:t>
            </a:r>
            <a:r>
              <a:rPr lang="zh-CN" altLang="en-US" sz="2400" b="1">
                <a:solidFill>
                  <a:schemeClr val="bg1"/>
                </a:solidFill>
              </a:rPr>
              <a:t>操作系统移植和应用程序开发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2905" y="4488815"/>
            <a:ext cx="6913245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致谢：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陪伴两年的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NEXYS4 DDR Atrix-7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开发板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郭玉臣老师、张东东老师、陆有军老师、蒋海鹰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老师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亲爱的室友刘神和徐神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冯羽芯学姐、曾崇然学长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98.4,&quot;left&quot;:52.7,&quot;top&quot;:123,&quot;width&quot;:798.75}"/>
</p:tagLst>
</file>

<file path=ppt/tags/tag2.xml><?xml version="1.0" encoding="utf-8"?>
<p:tagLst xmlns:p="http://schemas.openxmlformats.org/presentationml/2006/main">
  <p:tag name="KSO_WM_DIAGRAM_VIRTUALLY_FRAME" val="{&quot;height&quot;:198.4,&quot;left&quot;:52.7,&quot;top&quot;:123,&quot;width&quot;:798.75}"/>
</p:tagLst>
</file>

<file path=ppt/tags/tag3.xml><?xml version="1.0" encoding="utf-8"?>
<p:tagLst xmlns:p="http://schemas.openxmlformats.org/presentationml/2006/main">
  <p:tag name="KSO_WM_DIAGRAM_VIRTUALLY_FRAME" val="{&quot;height&quot;:198.4,&quot;left&quot;:52.7,&quot;top&quot;:123,&quot;width&quot;:798.75}"/>
</p:tagLst>
</file>

<file path=ppt/tags/tag4.xml><?xml version="1.0" encoding="utf-8"?>
<p:tagLst xmlns:p="http://schemas.openxmlformats.org/presentationml/2006/main">
  <p:tag name="KSO_WM_DIAGRAM_VIRTUALLY_FRAME" val="{&quot;height&quot;:198.4,&quot;left&quot;:52.7,&quot;top&quot;:123,&quot;width&quot;:798.75}"/>
</p:tagLst>
</file>

<file path=ppt/tags/tag5.xml><?xml version="1.0" encoding="utf-8"?>
<p:tagLst xmlns:p="http://schemas.openxmlformats.org/presentationml/2006/main">
  <p:tag name="KSO_WM_DIAGRAM_VIRTUALLY_FRAME" val="{&quot;height&quot;:198.4,&quot;left&quot;:52.7,&quot;top&quot;:123,&quot;width&quot;:798.75}"/>
</p:tagLst>
</file>

<file path=ppt/tags/tag6.xml><?xml version="1.0" encoding="utf-8"?>
<p:tagLst xmlns:p="http://schemas.openxmlformats.org/presentationml/2006/main">
  <p:tag name="KSO_WM_DIAGRAM_VIRTUALLY_FRAME" val="{&quot;height&quot;:198.4,&quot;left&quot;:52.7,&quot;top&quot;:123,&quot;width&quot;:798.75}"/>
</p:tagLst>
</file>

<file path=ppt/tags/tag7.xml><?xml version="1.0" encoding="utf-8"?>
<p:tagLst xmlns:p="http://schemas.openxmlformats.org/presentationml/2006/main">
  <p:tag name="KSO_WM_DIAGRAM_VIRTUALLY_FRAME" val="{&quot;height&quot;:198.4,&quot;left&quot;:52.7,&quot;top&quot;:123,&quot;width&quot;:798.75}"/>
</p:tagLst>
</file>

<file path=ppt/tags/tag8.xml><?xml version="1.0" encoding="utf-8"?>
<p:tagLst xmlns:p="http://schemas.openxmlformats.org/presentationml/2006/main">
  <p:tag name="KSO_WM_DIAGRAM_VIRTUALLY_FRAME" val="{&quot;height&quot;:198.4,&quot;left&quot;:52.7,&quot;top&quot;:123,&quot;width&quot;:798.7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3753</Words>
  <Application>WPS 演示</Application>
  <PresentationFormat>宽屏</PresentationFormat>
  <Paragraphs>358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Eras Bold ITC</vt:lpstr>
      <vt:lpstr>Calibri</vt:lpstr>
      <vt:lpstr>Arial Unicode MS</vt:lpstr>
      <vt:lpstr>Times New Roman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maoxingbo</dc:creator>
  <cp:lastModifiedBy>JL</cp:lastModifiedBy>
  <cp:revision>8</cp:revision>
  <dcterms:created xsi:type="dcterms:W3CDTF">2023-08-09T12:44:00Z</dcterms:created>
  <dcterms:modified xsi:type="dcterms:W3CDTF">2026-07-04T16:28:27Z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F06D417BA1D943D0B2B39B9D3B36F79C_12</vt:lpwstr>
  </property>
</Properties>
</file>