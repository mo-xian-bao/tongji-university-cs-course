
<file path=[Content_Types].xml><?xml version="1.0" encoding="utf-8"?>
<Types xmlns="http://schemas.openxmlformats.org/package/2006/content-types">
  <Default Extension="jpeg" ContentType="image/jpeg"/>
  <Default Extension="JPG" ContentType="image/.jpg"/>
  <Default Extension="vml" ContentType="application/vnd.openxmlformats-officedocument.vmlDrawing"/>
  <Default Extension="doc" ContentType="application/msword"/>
  <Default Extension="bin" ContentType="application/vnd.openxmlformats-officedocument.oleObject"/>
  <Default Extension="wav" ContentType="audio/x-wav"/>
  <Default Extension="wmf" ContentType="image/x-wmf"/>
  <Default Extension="emf" ContentType="image/x-emf"/>
  <Default Extension="png" ContentType="image/png"/>
  <Default Extension="gif" ContentType="image/gi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4"/>
  </p:notesMasterIdLst>
  <p:handoutMasterIdLst>
    <p:handoutMasterId r:id="rId299"/>
  </p:handoutMasterIdLst>
  <p:sldIdLst>
    <p:sldId id="263" r:id="rId3"/>
    <p:sldId id="414" r:id="rId5"/>
    <p:sldId id="425" r:id="rId6"/>
    <p:sldId id="735" r:id="rId7"/>
    <p:sldId id="431" r:id="rId8"/>
    <p:sldId id="421" r:id="rId9"/>
    <p:sldId id="427" r:id="rId10"/>
    <p:sldId id="428" r:id="rId11"/>
    <p:sldId id="429" r:id="rId12"/>
    <p:sldId id="430" r:id="rId13"/>
    <p:sldId id="432" r:id="rId14"/>
    <p:sldId id="433" r:id="rId15"/>
    <p:sldId id="435" r:id="rId16"/>
    <p:sldId id="434" r:id="rId17"/>
    <p:sldId id="436" r:id="rId18"/>
    <p:sldId id="422" r:id="rId19"/>
    <p:sldId id="437" r:id="rId20"/>
    <p:sldId id="442" r:id="rId21"/>
    <p:sldId id="438" r:id="rId22"/>
    <p:sldId id="443" r:id="rId23"/>
    <p:sldId id="444" r:id="rId24"/>
    <p:sldId id="439" r:id="rId25"/>
    <p:sldId id="445" r:id="rId26"/>
    <p:sldId id="446" r:id="rId27"/>
    <p:sldId id="440" r:id="rId28"/>
    <p:sldId id="447" r:id="rId29"/>
    <p:sldId id="448" r:id="rId30"/>
    <p:sldId id="449" r:id="rId31"/>
    <p:sldId id="441" r:id="rId32"/>
    <p:sldId id="423" r:id="rId33"/>
    <p:sldId id="450" r:id="rId34"/>
    <p:sldId id="455" r:id="rId35"/>
    <p:sldId id="456" r:id="rId36"/>
    <p:sldId id="457" r:id="rId37"/>
    <p:sldId id="458" r:id="rId38"/>
    <p:sldId id="459" r:id="rId39"/>
    <p:sldId id="460" r:id="rId40"/>
    <p:sldId id="461" r:id="rId41"/>
    <p:sldId id="451" r:id="rId42"/>
    <p:sldId id="465" r:id="rId43"/>
    <p:sldId id="464" r:id="rId44"/>
    <p:sldId id="452" r:id="rId45"/>
    <p:sldId id="466" r:id="rId46"/>
    <p:sldId id="467" r:id="rId47"/>
    <p:sldId id="468" r:id="rId48"/>
    <p:sldId id="453" r:id="rId49"/>
    <p:sldId id="469" r:id="rId50"/>
    <p:sldId id="454" r:id="rId51"/>
    <p:sldId id="470" r:id="rId52"/>
    <p:sldId id="471" r:id="rId53"/>
    <p:sldId id="424" r:id="rId54"/>
    <p:sldId id="472" r:id="rId55"/>
    <p:sldId id="473" r:id="rId56"/>
    <p:sldId id="478" r:id="rId57"/>
    <p:sldId id="477" r:id="rId58"/>
    <p:sldId id="479" r:id="rId59"/>
    <p:sldId id="480" r:id="rId60"/>
    <p:sldId id="474" r:id="rId61"/>
    <p:sldId id="481" r:id="rId62"/>
    <p:sldId id="482" r:id="rId63"/>
    <p:sldId id="483" r:id="rId64"/>
    <p:sldId id="484" r:id="rId65"/>
    <p:sldId id="487" r:id="rId66"/>
    <p:sldId id="485" r:id="rId67"/>
    <p:sldId id="488" r:id="rId68"/>
    <p:sldId id="486" r:id="rId69"/>
    <p:sldId id="489" r:id="rId70"/>
    <p:sldId id="490" r:id="rId71"/>
    <p:sldId id="491" r:id="rId72"/>
    <p:sldId id="475" r:id="rId73"/>
    <p:sldId id="492" r:id="rId74"/>
    <p:sldId id="493" r:id="rId75"/>
    <p:sldId id="494" r:id="rId76"/>
    <p:sldId id="495" r:id="rId77"/>
    <p:sldId id="496" r:id="rId78"/>
    <p:sldId id="497" r:id="rId79"/>
    <p:sldId id="415" r:id="rId80"/>
    <p:sldId id="498" r:id="rId81"/>
    <p:sldId id="588" r:id="rId82"/>
    <p:sldId id="504" r:id="rId83"/>
    <p:sldId id="724" r:id="rId84"/>
    <p:sldId id="725" r:id="rId85"/>
    <p:sldId id="726" r:id="rId86"/>
    <p:sldId id="727" r:id="rId87"/>
    <p:sldId id="728" r:id="rId88"/>
    <p:sldId id="729" r:id="rId89"/>
    <p:sldId id="730" r:id="rId90"/>
    <p:sldId id="731" r:id="rId91"/>
    <p:sldId id="732" r:id="rId92"/>
    <p:sldId id="733" r:id="rId93"/>
    <p:sldId id="511" r:id="rId94"/>
    <p:sldId id="503" r:id="rId95"/>
    <p:sldId id="589" r:id="rId96"/>
    <p:sldId id="591" r:id="rId97"/>
    <p:sldId id="592" r:id="rId98"/>
    <p:sldId id="501" r:id="rId99"/>
    <p:sldId id="512" r:id="rId100"/>
    <p:sldId id="513" r:id="rId101"/>
    <p:sldId id="514" r:id="rId102"/>
    <p:sldId id="499" r:id="rId103"/>
    <p:sldId id="594" r:id="rId104"/>
    <p:sldId id="595" r:id="rId105"/>
    <p:sldId id="598" r:id="rId106"/>
    <p:sldId id="599" r:id="rId107"/>
    <p:sldId id="600" r:id="rId108"/>
    <p:sldId id="601" r:id="rId109"/>
    <p:sldId id="602" r:id="rId110"/>
    <p:sldId id="605" r:id="rId111"/>
    <p:sldId id="603" r:id="rId112"/>
    <p:sldId id="517" r:id="rId113"/>
    <p:sldId id="518" r:id="rId114"/>
    <p:sldId id="519" r:id="rId115"/>
    <p:sldId id="523" r:id="rId116"/>
    <p:sldId id="521" r:id="rId117"/>
    <p:sldId id="522" r:id="rId118"/>
    <p:sldId id="604" r:id="rId119"/>
    <p:sldId id="754" r:id="rId120"/>
    <p:sldId id="753" r:id="rId121"/>
    <p:sldId id="606" r:id="rId122"/>
    <p:sldId id="607" r:id="rId123"/>
    <p:sldId id="608" r:id="rId124"/>
    <p:sldId id="611" r:id="rId125"/>
    <p:sldId id="609" r:id="rId126"/>
    <p:sldId id="610" r:id="rId127"/>
    <p:sldId id="615" r:id="rId128"/>
    <p:sldId id="613" r:id="rId129"/>
    <p:sldId id="612" r:id="rId130"/>
    <p:sldId id="614" r:id="rId131"/>
    <p:sldId id="616" r:id="rId132"/>
    <p:sldId id="734" r:id="rId133"/>
    <p:sldId id="617" r:id="rId134"/>
    <p:sldId id="618" r:id="rId135"/>
    <p:sldId id="619" r:id="rId136"/>
    <p:sldId id="698" r:id="rId137"/>
    <p:sldId id="621" r:id="rId138"/>
    <p:sldId id="622" r:id="rId139"/>
    <p:sldId id="623" r:id="rId140"/>
    <p:sldId id="624" r:id="rId141"/>
    <p:sldId id="699" r:id="rId142"/>
    <p:sldId id="625" r:id="rId143"/>
    <p:sldId id="626" r:id="rId144"/>
    <p:sldId id="627" r:id="rId145"/>
    <p:sldId id="628" r:id="rId146"/>
    <p:sldId id="629" r:id="rId147"/>
    <p:sldId id="630" r:id="rId148"/>
    <p:sldId id="631" r:id="rId149"/>
    <p:sldId id="632" r:id="rId150"/>
    <p:sldId id="633" r:id="rId151"/>
    <p:sldId id="634" r:id="rId152"/>
    <p:sldId id="635" r:id="rId153"/>
    <p:sldId id="636" r:id="rId154"/>
    <p:sldId id="637" r:id="rId155"/>
    <p:sldId id="500" r:id="rId156"/>
    <p:sldId id="524" r:id="rId157"/>
    <p:sldId id="528" r:id="rId158"/>
    <p:sldId id="525" r:id="rId159"/>
    <p:sldId id="529" r:id="rId160"/>
    <p:sldId id="530" r:id="rId161"/>
    <p:sldId id="536" r:id="rId162"/>
    <p:sldId id="537" r:id="rId163"/>
    <p:sldId id="539" r:id="rId164"/>
    <p:sldId id="540" r:id="rId165"/>
    <p:sldId id="538" r:id="rId166"/>
    <p:sldId id="541" r:id="rId167"/>
    <p:sldId id="542" r:id="rId168"/>
    <p:sldId id="543" r:id="rId169"/>
    <p:sldId id="544" r:id="rId170"/>
    <p:sldId id="736" r:id="rId171"/>
    <p:sldId id="737" r:id="rId172"/>
    <p:sldId id="738" r:id="rId173"/>
    <p:sldId id="739" r:id="rId174"/>
    <p:sldId id="740" r:id="rId175"/>
    <p:sldId id="742" r:id="rId176"/>
    <p:sldId id="743" r:id="rId177"/>
    <p:sldId id="545" r:id="rId178"/>
    <p:sldId id="638" r:id="rId179"/>
    <p:sldId id="642" r:id="rId180"/>
    <p:sldId id="703" r:id="rId181"/>
    <p:sldId id="643" r:id="rId182"/>
    <p:sldId id="644" r:id="rId183"/>
    <p:sldId id="648" r:id="rId184"/>
    <p:sldId id="649" r:id="rId185"/>
    <p:sldId id="639" r:id="rId186"/>
    <p:sldId id="650" r:id="rId187"/>
    <p:sldId id="651" r:id="rId188"/>
    <p:sldId id="654" r:id="rId189"/>
    <p:sldId id="652" r:id="rId190"/>
    <p:sldId id="655" r:id="rId191"/>
    <p:sldId id="656" r:id="rId192"/>
    <p:sldId id="640" r:id="rId193"/>
    <p:sldId id="658" r:id="rId194"/>
    <p:sldId id="659" r:id="rId195"/>
    <p:sldId id="641" r:id="rId196"/>
    <p:sldId id="660" r:id="rId197"/>
    <p:sldId id="661" r:id="rId198"/>
    <p:sldId id="662" r:id="rId199"/>
    <p:sldId id="744" r:id="rId200"/>
    <p:sldId id="755" r:id="rId201"/>
    <p:sldId id="663" r:id="rId202"/>
    <p:sldId id="664" r:id="rId203"/>
    <p:sldId id="665" r:id="rId204"/>
    <p:sldId id="666" r:id="rId205"/>
    <p:sldId id="667" r:id="rId206"/>
    <p:sldId id="687" r:id="rId207"/>
    <p:sldId id="688" r:id="rId208"/>
    <p:sldId id="689" r:id="rId209"/>
    <p:sldId id="692" r:id="rId210"/>
    <p:sldId id="690" r:id="rId211"/>
    <p:sldId id="693" r:id="rId212"/>
    <p:sldId id="694" r:id="rId213"/>
    <p:sldId id="695" r:id="rId214"/>
    <p:sldId id="696" r:id="rId215"/>
    <p:sldId id="691" r:id="rId216"/>
    <p:sldId id="697" r:id="rId217"/>
    <p:sldId id="668" r:id="rId218"/>
    <p:sldId id="669" r:id="rId219"/>
    <p:sldId id="670" r:id="rId220"/>
    <p:sldId id="671" r:id="rId221"/>
    <p:sldId id="676" r:id="rId222"/>
    <p:sldId id="672" r:id="rId223"/>
    <p:sldId id="677" r:id="rId224"/>
    <p:sldId id="679" r:id="rId225"/>
    <p:sldId id="678" r:id="rId226"/>
    <p:sldId id="680" r:id="rId227"/>
    <p:sldId id="681" r:id="rId228"/>
    <p:sldId id="674" r:id="rId229"/>
    <p:sldId id="682" r:id="rId230"/>
    <p:sldId id="756" r:id="rId231"/>
    <p:sldId id="683" r:id="rId232"/>
    <p:sldId id="684" r:id="rId233"/>
    <p:sldId id="685" r:id="rId234"/>
    <p:sldId id="701" r:id="rId235"/>
    <p:sldId id="417" r:id="rId236"/>
    <p:sldId id="548" r:id="rId237"/>
    <p:sldId id="552" r:id="rId238"/>
    <p:sldId id="553" r:id="rId239"/>
    <p:sldId id="554" r:id="rId240"/>
    <p:sldId id="555" r:id="rId241"/>
    <p:sldId id="556" r:id="rId242"/>
    <p:sldId id="557" r:id="rId243"/>
    <p:sldId id="558" r:id="rId244"/>
    <p:sldId id="559" r:id="rId245"/>
    <p:sldId id="560" r:id="rId246"/>
    <p:sldId id="561" r:id="rId247"/>
    <p:sldId id="562" r:id="rId248"/>
    <p:sldId id="704" r:id="rId249"/>
    <p:sldId id="563" r:id="rId250"/>
    <p:sldId id="564" r:id="rId251"/>
    <p:sldId id="565" r:id="rId252"/>
    <p:sldId id="705" r:id="rId253"/>
    <p:sldId id="758" r:id="rId254"/>
    <p:sldId id="759" r:id="rId255"/>
    <p:sldId id="760" r:id="rId256"/>
    <p:sldId id="761" r:id="rId257"/>
    <p:sldId id="762" r:id="rId258"/>
    <p:sldId id="763" r:id="rId259"/>
    <p:sldId id="764" r:id="rId260"/>
    <p:sldId id="768" r:id="rId261"/>
    <p:sldId id="767" r:id="rId262"/>
    <p:sldId id="766" r:id="rId263"/>
    <p:sldId id="771" r:id="rId264"/>
    <p:sldId id="772" r:id="rId265"/>
    <p:sldId id="765" r:id="rId266"/>
    <p:sldId id="770" r:id="rId267"/>
    <p:sldId id="551" r:id="rId268"/>
    <p:sldId id="567" r:id="rId269"/>
    <p:sldId id="568" r:id="rId270"/>
    <p:sldId id="569" r:id="rId271"/>
    <p:sldId id="550" r:id="rId272"/>
    <p:sldId id="570" r:id="rId273"/>
    <p:sldId id="745" r:id="rId274"/>
    <p:sldId id="707" r:id="rId275"/>
    <p:sldId id="708" r:id="rId276"/>
    <p:sldId id="709" r:id="rId277"/>
    <p:sldId id="710" r:id="rId278"/>
    <p:sldId id="711" r:id="rId279"/>
    <p:sldId id="717" r:id="rId280"/>
    <p:sldId id="712" r:id="rId281"/>
    <p:sldId id="713" r:id="rId282"/>
    <p:sldId id="715" r:id="rId283"/>
    <p:sldId id="716" r:id="rId284"/>
    <p:sldId id="718" r:id="rId285"/>
    <p:sldId id="720" r:id="rId286"/>
    <p:sldId id="721" r:id="rId287"/>
    <p:sldId id="719" r:id="rId288"/>
    <p:sldId id="722" r:id="rId289"/>
    <p:sldId id="746" r:id="rId290"/>
    <p:sldId id="757" r:id="rId291"/>
    <p:sldId id="747" r:id="rId292"/>
    <p:sldId id="748" r:id="rId293"/>
    <p:sldId id="749" r:id="rId294"/>
    <p:sldId id="750" r:id="rId295"/>
    <p:sldId id="751" r:id="rId296"/>
    <p:sldId id="752" r:id="rId297"/>
    <p:sldId id="723" r:id="rId298"/>
  </p:sldIdLst>
  <p:sldSz cx="9144000" cy="6858000" type="screen4x3"/>
  <p:notesSz cx="6858000" cy="9144000"/>
  <p:defaultTextStyle>
    <a:defPPr>
      <a:defRPr lang="en-US"/>
    </a:defPPr>
    <a:lvl1pPr algn="l" rtl="0" fontAlgn="base">
      <a:spcBef>
        <a:spcPct val="20000"/>
      </a:spcBef>
      <a:spcAft>
        <a:spcPct val="0"/>
      </a:spcAft>
      <a:buClr>
        <a:schemeClr val="tx1"/>
      </a:buClr>
      <a:buFont typeface="Wingdings" panose="05000000000000000000" pitchFamily="2" charset="2"/>
      <a:defRPr kumimoji="1" sz="3200" kern="1200">
        <a:solidFill>
          <a:schemeClr val="tx1"/>
        </a:solidFill>
        <a:latin typeface="Comic Sans MS" panose="030F0702030302020204" pitchFamily="66" charset="0"/>
        <a:ea typeface="宋体" panose="02010600030101010101" pitchFamily="2" charset="-122"/>
        <a:cs typeface="+mn-cs"/>
      </a:defRPr>
    </a:lvl1pPr>
    <a:lvl2pPr marL="457200" algn="l" rtl="0" fontAlgn="base">
      <a:spcBef>
        <a:spcPct val="20000"/>
      </a:spcBef>
      <a:spcAft>
        <a:spcPct val="0"/>
      </a:spcAft>
      <a:buClr>
        <a:schemeClr val="tx1"/>
      </a:buClr>
      <a:buFont typeface="Wingdings" panose="05000000000000000000" pitchFamily="2" charset="2"/>
      <a:defRPr kumimoji="1" sz="3200" kern="1200">
        <a:solidFill>
          <a:schemeClr val="tx1"/>
        </a:solidFill>
        <a:latin typeface="Comic Sans MS" panose="030F0702030302020204" pitchFamily="66" charset="0"/>
        <a:ea typeface="宋体" panose="02010600030101010101" pitchFamily="2" charset="-122"/>
        <a:cs typeface="+mn-cs"/>
      </a:defRPr>
    </a:lvl2pPr>
    <a:lvl3pPr marL="914400" algn="l" rtl="0" fontAlgn="base">
      <a:spcBef>
        <a:spcPct val="20000"/>
      </a:spcBef>
      <a:spcAft>
        <a:spcPct val="0"/>
      </a:spcAft>
      <a:buClr>
        <a:schemeClr val="tx1"/>
      </a:buClr>
      <a:buFont typeface="Wingdings" panose="05000000000000000000" pitchFamily="2" charset="2"/>
      <a:defRPr kumimoji="1" sz="3200" kern="1200">
        <a:solidFill>
          <a:schemeClr val="tx1"/>
        </a:solidFill>
        <a:latin typeface="Comic Sans MS" panose="030F0702030302020204" pitchFamily="66" charset="0"/>
        <a:ea typeface="宋体" panose="02010600030101010101" pitchFamily="2" charset="-122"/>
        <a:cs typeface="+mn-cs"/>
      </a:defRPr>
    </a:lvl3pPr>
    <a:lvl4pPr marL="1371600" algn="l" rtl="0" fontAlgn="base">
      <a:spcBef>
        <a:spcPct val="20000"/>
      </a:spcBef>
      <a:spcAft>
        <a:spcPct val="0"/>
      </a:spcAft>
      <a:buClr>
        <a:schemeClr val="tx1"/>
      </a:buClr>
      <a:buFont typeface="Wingdings" panose="05000000000000000000" pitchFamily="2" charset="2"/>
      <a:defRPr kumimoji="1" sz="3200" kern="1200">
        <a:solidFill>
          <a:schemeClr val="tx1"/>
        </a:solidFill>
        <a:latin typeface="Comic Sans MS" panose="030F0702030302020204" pitchFamily="66" charset="0"/>
        <a:ea typeface="宋体" panose="02010600030101010101" pitchFamily="2" charset="-122"/>
        <a:cs typeface="+mn-cs"/>
      </a:defRPr>
    </a:lvl4pPr>
    <a:lvl5pPr marL="1828800" algn="l" rtl="0" fontAlgn="base">
      <a:spcBef>
        <a:spcPct val="20000"/>
      </a:spcBef>
      <a:spcAft>
        <a:spcPct val="0"/>
      </a:spcAft>
      <a:buClr>
        <a:schemeClr val="tx1"/>
      </a:buClr>
      <a:buFont typeface="Wingdings" panose="05000000000000000000" pitchFamily="2" charset="2"/>
      <a:defRPr kumimoji="1" sz="3200" kern="1200">
        <a:solidFill>
          <a:schemeClr val="tx1"/>
        </a:solidFill>
        <a:latin typeface="Comic Sans MS" panose="030F0702030302020204" pitchFamily="66"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Comic Sans MS" panose="030F0702030302020204" pitchFamily="66"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Comic Sans MS" panose="030F0702030302020204" pitchFamily="66"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Comic Sans MS" panose="030F0702030302020204" pitchFamily="66"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Comic Sans MS" panose="030F0702030302020204" pitchFamily="66" charset="0"/>
        <a:ea typeface="宋体" panose="02010600030101010101" pitchFamily="2" charset="-122"/>
        <a:cs typeface="+mn-cs"/>
      </a:defRPr>
    </a:lvl9pPr>
  </p:defaultTextStyle>
  <p:extLst>
    <p:ext uri="{EFAFB233-063F-42B5-8137-9DF3F51BA10A}">
      <p15:sldGuideLst xmlns:p15="http://schemas.microsoft.com/office/powerpoint/2012/main">
        <p15:guide id="1" orient="horz" pos="2160" userDrawn="1">
          <p15:clr>
            <a:srgbClr val="A4A3A4"/>
          </p15:clr>
        </p15:guide>
        <p15:guide id="2" pos="288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FF0000"/>
    <a:srgbClr val="009900"/>
    <a:srgbClr val="99FF66"/>
    <a:srgbClr val="66FFFF"/>
    <a:srgbClr val="0099FF"/>
    <a:srgbClr val="000000"/>
    <a:srgbClr val="FFFF00"/>
    <a:srgbClr val="86E0B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40" autoAdjust="0"/>
    <p:restoredTop sz="94617" autoAdjust="0"/>
  </p:normalViewPr>
  <p:slideViewPr>
    <p:cSldViewPr>
      <p:cViewPr varScale="1">
        <p:scale>
          <a:sx n="109" d="100"/>
          <a:sy n="109" d="100"/>
        </p:scale>
        <p:origin x="-1572" y="-90"/>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notesViewPr>
    <p:cSldViewPr>
      <p:cViewPr varScale="1">
        <p:scale>
          <a:sx n="54" d="100"/>
          <a:sy n="54" d="100"/>
        </p:scale>
        <p:origin x="-1770" y="-90"/>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96.xml"/><Relationship Id="rId98" Type="http://schemas.openxmlformats.org/officeDocument/2006/relationships/slide" Target="slides/slide95.xml"/><Relationship Id="rId97" Type="http://schemas.openxmlformats.org/officeDocument/2006/relationships/slide" Target="slides/slide94.xml"/><Relationship Id="rId96" Type="http://schemas.openxmlformats.org/officeDocument/2006/relationships/slide" Target="slides/slide93.xml"/><Relationship Id="rId95" Type="http://schemas.openxmlformats.org/officeDocument/2006/relationships/slide" Target="slides/slide92.xml"/><Relationship Id="rId94" Type="http://schemas.openxmlformats.org/officeDocument/2006/relationships/slide" Target="slides/slide91.xml"/><Relationship Id="rId93" Type="http://schemas.openxmlformats.org/officeDocument/2006/relationships/slide" Target="slides/slide90.xml"/><Relationship Id="rId92" Type="http://schemas.openxmlformats.org/officeDocument/2006/relationships/slide" Target="slides/slide89.xml"/><Relationship Id="rId91" Type="http://schemas.openxmlformats.org/officeDocument/2006/relationships/slide" Target="slides/slide88.xml"/><Relationship Id="rId90" Type="http://schemas.openxmlformats.org/officeDocument/2006/relationships/slide" Target="slides/slide87.xml"/><Relationship Id="rId9" Type="http://schemas.openxmlformats.org/officeDocument/2006/relationships/slide" Target="slides/slide6.xml"/><Relationship Id="rId89" Type="http://schemas.openxmlformats.org/officeDocument/2006/relationships/slide" Target="slides/slide86.xml"/><Relationship Id="rId88" Type="http://schemas.openxmlformats.org/officeDocument/2006/relationships/slide" Target="slides/slide85.xml"/><Relationship Id="rId87" Type="http://schemas.openxmlformats.org/officeDocument/2006/relationships/slide" Target="slides/slide84.xml"/><Relationship Id="rId86" Type="http://schemas.openxmlformats.org/officeDocument/2006/relationships/slide" Target="slides/slide83.xml"/><Relationship Id="rId85" Type="http://schemas.openxmlformats.org/officeDocument/2006/relationships/slide" Target="slides/slide82.xml"/><Relationship Id="rId84" Type="http://schemas.openxmlformats.org/officeDocument/2006/relationships/slide" Target="slides/slide81.xml"/><Relationship Id="rId83" Type="http://schemas.openxmlformats.org/officeDocument/2006/relationships/slide" Target="slides/slide80.xml"/><Relationship Id="rId82" Type="http://schemas.openxmlformats.org/officeDocument/2006/relationships/slide" Target="slides/slide79.xml"/><Relationship Id="rId81" Type="http://schemas.openxmlformats.org/officeDocument/2006/relationships/slide" Target="slides/slide78.xml"/><Relationship Id="rId80" Type="http://schemas.openxmlformats.org/officeDocument/2006/relationships/slide" Target="slides/slide77.xml"/><Relationship Id="rId8" Type="http://schemas.openxmlformats.org/officeDocument/2006/relationships/slide" Target="slides/slide5.xml"/><Relationship Id="rId79" Type="http://schemas.openxmlformats.org/officeDocument/2006/relationships/slide" Target="slides/slide76.xml"/><Relationship Id="rId78" Type="http://schemas.openxmlformats.org/officeDocument/2006/relationships/slide" Target="slides/slide75.xml"/><Relationship Id="rId77" Type="http://schemas.openxmlformats.org/officeDocument/2006/relationships/slide" Target="slides/slide74.xml"/><Relationship Id="rId76" Type="http://schemas.openxmlformats.org/officeDocument/2006/relationships/slide" Target="slides/slide73.xml"/><Relationship Id="rId75" Type="http://schemas.openxmlformats.org/officeDocument/2006/relationships/slide" Target="slides/slide72.xml"/><Relationship Id="rId74" Type="http://schemas.openxmlformats.org/officeDocument/2006/relationships/slide" Target="slides/slide71.xml"/><Relationship Id="rId73" Type="http://schemas.openxmlformats.org/officeDocument/2006/relationships/slide" Target="slides/slide70.xml"/><Relationship Id="rId72" Type="http://schemas.openxmlformats.org/officeDocument/2006/relationships/slide" Target="slides/slide69.xml"/><Relationship Id="rId71" Type="http://schemas.openxmlformats.org/officeDocument/2006/relationships/slide" Target="slides/slide68.xml"/><Relationship Id="rId70" Type="http://schemas.openxmlformats.org/officeDocument/2006/relationships/slide" Target="slides/slide67.xml"/><Relationship Id="rId7" Type="http://schemas.openxmlformats.org/officeDocument/2006/relationships/slide" Target="slides/slide4.xml"/><Relationship Id="rId69" Type="http://schemas.openxmlformats.org/officeDocument/2006/relationships/slide" Target="slides/slide66.xml"/><Relationship Id="rId68" Type="http://schemas.openxmlformats.org/officeDocument/2006/relationships/slide" Target="slides/slide65.xml"/><Relationship Id="rId67" Type="http://schemas.openxmlformats.org/officeDocument/2006/relationships/slide" Target="slides/slide64.xml"/><Relationship Id="rId66" Type="http://schemas.openxmlformats.org/officeDocument/2006/relationships/slide" Target="slides/slide63.xml"/><Relationship Id="rId65" Type="http://schemas.openxmlformats.org/officeDocument/2006/relationships/slide" Target="slides/slide62.xml"/><Relationship Id="rId64" Type="http://schemas.openxmlformats.org/officeDocument/2006/relationships/slide" Target="slides/slide61.xml"/><Relationship Id="rId63" Type="http://schemas.openxmlformats.org/officeDocument/2006/relationships/slide" Target="slides/slide60.xml"/><Relationship Id="rId62" Type="http://schemas.openxmlformats.org/officeDocument/2006/relationships/slide" Target="slides/slide59.xml"/><Relationship Id="rId61" Type="http://schemas.openxmlformats.org/officeDocument/2006/relationships/slide" Target="slides/slide58.xml"/><Relationship Id="rId60" Type="http://schemas.openxmlformats.org/officeDocument/2006/relationships/slide" Target="slides/slide57.xml"/><Relationship Id="rId6" Type="http://schemas.openxmlformats.org/officeDocument/2006/relationships/slide" Target="slides/slide3.xml"/><Relationship Id="rId59" Type="http://schemas.openxmlformats.org/officeDocument/2006/relationships/slide" Target="slides/slide56.xml"/><Relationship Id="rId58" Type="http://schemas.openxmlformats.org/officeDocument/2006/relationships/slide" Target="slides/slide55.xml"/><Relationship Id="rId57" Type="http://schemas.openxmlformats.org/officeDocument/2006/relationships/slide" Target="slides/slide54.xml"/><Relationship Id="rId56" Type="http://schemas.openxmlformats.org/officeDocument/2006/relationships/slide" Target="slides/slide53.xml"/><Relationship Id="rId55" Type="http://schemas.openxmlformats.org/officeDocument/2006/relationships/slide" Target="slides/slide52.xml"/><Relationship Id="rId54" Type="http://schemas.openxmlformats.org/officeDocument/2006/relationships/slide" Target="slides/slide51.xml"/><Relationship Id="rId53" Type="http://schemas.openxmlformats.org/officeDocument/2006/relationships/slide" Target="slides/slide50.xml"/><Relationship Id="rId52" Type="http://schemas.openxmlformats.org/officeDocument/2006/relationships/slide" Target="slides/slide49.xml"/><Relationship Id="rId51" Type="http://schemas.openxmlformats.org/officeDocument/2006/relationships/slide" Target="slides/slide48.xml"/><Relationship Id="rId50" Type="http://schemas.openxmlformats.org/officeDocument/2006/relationships/slide" Target="slides/slide47.xml"/><Relationship Id="rId5" Type="http://schemas.openxmlformats.org/officeDocument/2006/relationships/slide" Target="slides/slide2.xml"/><Relationship Id="rId49" Type="http://schemas.openxmlformats.org/officeDocument/2006/relationships/slide" Target="slides/slide46.xml"/><Relationship Id="rId48" Type="http://schemas.openxmlformats.org/officeDocument/2006/relationships/slide" Target="slides/slide45.xml"/><Relationship Id="rId47" Type="http://schemas.openxmlformats.org/officeDocument/2006/relationships/slide" Target="slides/slide44.xml"/><Relationship Id="rId46" Type="http://schemas.openxmlformats.org/officeDocument/2006/relationships/slide" Target="slides/slide43.xml"/><Relationship Id="rId45" Type="http://schemas.openxmlformats.org/officeDocument/2006/relationships/slide" Target="slides/slide42.xml"/><Relationship Id="rId44" Type="http://schemas.openxmlformats.org/officeDocument/2006/relationships/slide" Target="slides/slide41.xml"/><Relationship Id="rId43" Type="http://schemas.openxmlformats.org/officeDocument/2006/relationships/slide" Target="slides/slide40.xml"/><Relationship Id="rId42" Type="http://schemas.openxmlformats.org/officeDocument/2006/relationships/slide" Target="slides/slide39.xml"/><Relationship Id="rId41" Type="http://schemas.openxmlformats.org/officeDocument/2006/relationships/slide" Target="slides/slide38.xml"/><Relationship Id="rId40" Type="http://schemas.openxmlformats.org/officeDocument/2006/relationships/slide" Target="slides/slide37.xml"/><Relationship Id="rId4" Type="http://schemas.openxmlformats.org/officeDocument/2006/relationships/notesMaster" Target="notesMasters/notesMaster1.xml"/><Relationship Id="rId39" Type="http://schemas.openxmlformats.org/officeDocument/2006/relationships/slide" Target="slides/slide36.xml"/><Relationship Id="rId38" Type="http://schemas.openxmlformats.org/officeDocument/2006/relationships/slide" Target="slides/slide35.xml"/><Relationship Id="rId37" Type="http://schemas.openxmlformats.org/officeDocument/2006/relationships/slide" Target="slides/slide34.xml"/><Relationship Id="rId36" Type="http://schemas.openxmlformats.org/officeDocument/2006/relationships/slide" Target="slides/slide33.xml"/><Relationship Id="rId35" Type="http://schemas.openxmlformats.org/officeDocument/2006/relationships/slide" Target="slides/slide32.xml"/><Relationship Id="rId34" Type="http://schemas.openxmlformats.org/officeDocument/2006/relationships/slide" Target="slides/slide31.xml"/><Relationship Id="rId33" Type="http://schemas.openxmlformats.org/officeDocument/2006/relationships/slide" Target="slides/slide30.xml"/><Relationship Id="rId32" Type="http://schemas.openxmlformats.org/officeDocument/2006/relationships/slide" Target="slides/slide29.xml"/><Relationship Id="rId31" Type="http://schemas.openxmlformats.org/officeDocument/2006/relationships/slide" Target="slides/slide28.xml"/><Relationship Id="rId302" Type="http://schemas.openxmlformats.org/officeDocument/2006/relationships/tableStyles" Target="tableStyles.xml"/><Relationship Id="rId301" Type="http://schemas.openxmlformats.org/officeDocument/2006/relationships/viewProps" Target="viewProps.xml"/><Relationship Id="rId300" Type="http://schemas.openxmlformats.org/officeDocument/2006/relationships/presProps" Target="presProps.xml"/><Relationship Id="rId30" Type="http://schemas.openxmlformats.org/officeDocument/2006/relationships/slide" Target="slides/slide27.xml"/><Relationship Id="rId3" Type="http://schemas.openxmlformats.org/officeDocument/2006/relationships/slide" Target="slides/slide1.xml"/><Relationship Id="rId299" Type="http://schemas.openxmlformats.org/officeDocument/2006/relationships/handoutMaster" Target="handoutMasters/handoutMaster1.xml"/><Relationship Id="rId298" Type="http://schemas.openxmlformats.org/officeDocument/2006/relationships/slide" Target="slides/slide295.xml"/><Relationship Id="rId297" Type="http://schemas.openxmlformats.org/officeDocument/2006/relationships/slide" Target="slides/slide294.xml"/><Relationship Id="rId296" Type="http://schemas.openxmlformats.org/officeDocument/2006/relationships/slide" Target="slides/slide293.xml"/><Relationship Id="rId295" Type="http://schemas.openxmlformats.org/officeDocument/2006/relationships/slide" Target="slides/slide292.xml"/><Relationship Id="rId294" Type="http://schemas.openxmlformats.org/officeDocument/2006/relationships/slide" Target="slides/slide291.xml"/><Relationship Id="rId293" Type="http://schemas.openxmlformats.org/officeDocument/2006/relationships/slide" Target="slides/slide290.xml"/><Relationship Id="rId292" Type="http://schemas.openxmlformats.org/officeDocument/2006/relationships/slide" Target="slides/slide289.xml"/><Relationship Id="rId291" Type="http://schemas.openxmlformats.org/officeDocument/2006/relationships/slide" Target="slides/slide288.xml"/><Relationship Id="rId290" Type="http://schemas.openxmlformats.org/officeDocument/2006/relationships/slide" Target="slides/slide287.xml"/><Relationship Id="rId29" Type="http://schemas.openxmlformats.org/officeDocument/2006/relationships/slide" Target="slides/slide26.xml"/><Relationship Id="rId289" Type="http://schemas.openxmlformats.org/officeDocument/2006/relationships/slide" Target="slides/slide286.xml"/><Relationship Id="rId288" Type="http://schemas.openxmlformats.org/officeDocument/2006/relationships/slide" Target="slides/slide285.xml"/><Relationship Id="rId287" Type="http://schemas.openxmlformats.org/officeDocument/2006/relationships/slide" Target="slides/slide284.xml"/><Relationship Id="rId286" Type="http://schemas.openxmlformats.org/officeDocument/2006/relationships/slide" Target="slides/slide283.xml"/><Relationship Id="rId285" Type="http://schemas.openxmlformats.org/officeDocument/2006/relationships/slide" Target="slides/slide282.xml"/><Relationship Id="rId284" Type="http://schemas.openxmlformats.org/officeDocument/2006/relationships/slide" Target="slides/slide281.xml"/><Relationship Id="rId283" Type="http://schemas.openxmlformats.org/officeDocument/2006/relationships/slide" Target="slides/slide280.xml"/><Relationship Id="rId282" Type="http://schemas.openxmlformats.org/officeDocument/2006/relationships/slide" Target="slides/slide279.xml"/><Relationship Id="rId281" Type="http://schemas.openxmlformats.org/officeDocument/2006/relationships/slide" Target="slides/slide278.xml"/><Relationship Id="rId280" Type="http://schemas.openxmlformats.org/officeDocument/2006/relationships/slide" Target="slides/slide277.xml"/><Relationship Id="rId28" Type="http://schemas.openxmlformats.org/officeDocument/2006/relationships/slide" Target="slides/slide25.xml"/><Relationship Id="rId279" Type="http://schemas.openxmlformats.org/officeDocument/2006/relationships/slide" Target="slides/slide276.xml"/><Relationship Id="rId278" Type="http://schemas.openxmlformats.org/officeDocument/2006/relationships/slide" Target="slides/slide275.xml"/><Relationship Id="rId277" Type="http://schemas.openxmlformats.org/officeDocument/2006/relationships/slide" Target="slides/slide274.xml"/><Relationship Id="rId276" Type="http://schemas.openxmlformats.org/officeDocument/2006/relationships/slide" Target="slides/slide273.xml"/><Relationship Id="rId275" Type="http://schemas.openxmlformats.org/officeDocument/2006/relationships/slide" Target="slides/slide272.xml"/><Relationship Id="rId274" Type="http://schemas.openxmlformats.org/officeDocument/2006/relationships/slide" Target="slides/slide271.xml"/><Relationship Id="rId273" Type="http://schemas.openxmlformats.org/officeDocument/2006/relationships/slide" Target="slides/slide270.xml"/><Relationship Id="rId272" Type="http://schemas.openxmlformats.org/officeDocument/2006/relationships/slide" Target="slides/slide269.xml"/><Relationship Id="rId271" Type="http://schemas.openxmlformats.org/officeDocument/2006/relationships/slide" Target="slides/slide268.xml"/><Relationship Id="rId270" Type="http://schemas.openxmlformats.org/officeDocument/2006/relationships/slide" Target="slides/slide267.xml"/><Relationship Id="rId27" Type="http://schemas.openxmlformats.org/officeDocument/2006/relationships/slide" Target="slides/slide24.xml"/><Relationship Id="rId269" Type="http://schemas.openxmlformats.org/officeDocument/2006/relationships/slide" Target="slides/slide266.xml"/><Relationship Id="rId268" Type="http://schemas.openxmlformats.org/officeDocument/2006/relationships/slide" Target="slides/slide265.xml"/><Relationship Id="rId267" Type="http://schemas.openxmlformats.org/officeDocument/2006/relationships/slide" Target="slides/slide264.xml"/><Relationship Id="rId266" Type="http://schemas.openxmlformats.org/officeDocument/2006/relationships/slide" Target="slides/slide263.xml"/><Relationship Id="rId265" Type="http://schemas.openxmlformats.org/officeDocument/2006/relationships/slide" Target="slides/slide262.xml"/><Relationship Id="rId264" Type="http://schemas.openxmlformats.org/officeDocument/2006/relationships/slide" Target="slides/slide261.xml"/><Relationship Id="rId263" Type="http://schemas.openxmlformats.org/officeDocument/2006/relationships/slide" Target="slides/slide260.xml"/><Relationship Id="rId262" Type="http://schemas.openxmlformats.org/officeDocument/2006/relationships/slide" Target="slides/slide259.xml"/><Relationship Id="rId261" Type="http://schemas.openxmlformats.org/officeDocument/2006/relationships/slide" Target="slides/slide258.xml"/><Relationship Id="rId260" Type="http://schemas.openxmlformats.org/officeDocument/2006/relationships/slide" Target="slides/slide257.xml"/><Relationship Id="rId26" Type="http://schemas.openxmlformats.org/officeDocument/2006/relationships/slide" Target="slides/slide23.xml"/><Relationship Id="rId259" Type="http://schemas.openxmlformats.org/officeDocument/2006/relationships/slide" Target="slides/slide256.xml"/><Relationship Id="rId258" Type="http://schemas.openxmlformats.org/officeDocument/2006/relationships/slide" Target="slides/slide255.xml"/><Relationship Id="rId257" Type="http://schemas.openxmlformats.org/officeDocument/2006/relationships/slide" Target="slides/slide254.xml"/><Relationship Id="rId256" Type="http://schemas.openxmlformats.org/officeDocument/2006/relationships/slide" Target="slides/slide253.xml"/><Relationship Id="rId255" Type="http://schemas.openxmlformats.org/officeDocument/2006/relationships/slide" Target="slides/slide252.xml"/><Relationship Id="rId254" Type="http://schemas.openxmlformats.org/officeDocument/2006/relationships/slide" Target="slides/slide251.xml"/><Relationship Id="rId253" Type="http://schemas.openxmlformats.org/officeDocument/2006/relationships/slide" Target="slides/slide250.xml"/><Relationship Id="rId252" Type="http://schemas.openxmlformats.org/officeDocument/2006/relationships/slide" Target="slides/slide249.xml"/><Relationship Id="rId251" Type="http://schemas.openxmlformats.org/officeDocument/2006/relationships/slide" Target="slides/slide248.xml"/><Relationship Id="rId250" Type="http://schemas.openxmlformats.org/officeDocument/2006/relationships/slide" Target="slides/slide247.xml"/><Relationship Id="rId25" Type="http://schemas.openxmlformats.org/officeDocument/2006/relationships/slide" Target="slides/slide22.xml"/><Relationship Id="rId249" Type="http://schemas.openxmlformats.org/officeDocument/2006/relationships/slide" Target="slides/slide246.xml"/><Relationship Id="rId248" Type="http://schemas.openxmlformats.org/officeDocument/2006/relationships/slide" Target="slides/slide245.xml"/><Relationship Id="rId247" Type="http://schemas.openxmlformats.org/officeDocument/2006/relationships/slide" Target="slides/slide244.xml"/><Relationship Id="rId246" Type="http://schemas.openxmlformats.org/officeDocument/2006/relationships/slide" Target="slides/slide243.xml"/><Relationship Id="rId245" Type="http://schemas.openxmlformats.org/officeDocument/2006/relationships/slide" Target="slides/slide242.xml"/><Relationship Id="rId244" Type="http://schemas.openxmlformats.org/officeDocument/2006/relationships/slide" Target="slides/slide241.xml"/><Relationship Id="rId243" Type="http://schemas.openxmlformats.org/officeDocument/2006/relationships/slide" Target="slides/slide240.xml"/><Relationship Id="rId242" Type="http://schemas.openxmlformats.org/officeDocument/2006/relationships/slide" Target="slides/slide239.xml"/><Relationship Id="rId241" Type="http://schemas.openxmlformats.org/officeDocument/2006/relationships/slide" Target="slides/slide238.xml"/><Relationship Id="rId240" Type="http://schemas.openxmlformats.org/officeDocument/2006/relationships/slide" Target="slides/slide237.xml"/><Relationship Id="rId24" Type="http://schemas.openxmlformats.org/officeDocument/2006/relationships/slide" Target="slides/slide21.xml"/><Relationship Id="rId239" Type="http://schemas.openxmlformats.org/officeDocument/2006/relationships/slide" Target="slides/slide236.xml"/><Relationship Id="rId238" Type="http://schemas.openxmlformats.org/officeDocument/2006/relationships/slide" Target="slides/slide235.xml"/><Relationship Id="rId237" Type="http://schemas.openxmlformats.org/officeDocument/2006/relationships/slide" Target="slides/slide234.xml"/><Relationship Id="rId236" Type="http://schemas.openxmlformats.org/officeDocument/2006/relationships/slide" Target="slides/slide233.xml"/><Relationship Id="rId235" Type="http://schemas.openxmlformats.org/officeDocument/2006/relationships/slide" Target="slides/slide232.xml"/><Relationship Id="rId234" Type="http://schemas.openxmlformats.org/officeDocument/2006/relationships/slide" Target="slides/slide231.xml"/><Relationship Id="rId233" Type="http://schemas.openxmlformats.org/officeDocument/2006/relationships/slide" Target="slides/slide230.xml"/><Relationship Id="rId232" Type="http://schemas.openxmlformats.org/officeDocument/2006/relationships/slide" Target="slides/slide229.xml"/><Relationship Id="rId231" Type="http://schemas.openxmlformats.org/officeDocument/2006/relationships/slide" Target="slides/slide228.xml"/><Relationship Id="rId230" Type="http://schemas.openxmlformats.org/officeDocument/2006/relationships/slide" Target="slides/slide227.xml"/><Relationship Id="rId23" Type="http://schemas.openxmlformats.org/officeDocument/2006/relationships/slide" Target="slides/slide20.xml"/><Relationship Id="rId229" Type="http://schemas.openxmlformats.org/officeDocument/2006/relationships/slide" Target="slides/slide226.xml"/><Relationship Id="rId228" Type="http://schemas.openxmlformats.org/officeDocument/2006/relationships/slide" Target="slides/slide225.xml"/><Relationship Id="rId227" Type="http://schemas.openxmlformats.org/officeDocument/2006/relationships/slide" Target="slides/slide224.xml"/><Relationship Id="rId226" Type="http://schemas.openxmlformats.org/officeDocument/2006/relationships/slide" Target="slides/slide223.xml"/><Relationship Id="rId225" Type="http://schemas.openxmlformats.org/officeDocument/2006/relationships/slide" Target="slides/slide222.xml"/><Relationship Id="rId224" Type="http://schemas.openxmlformats.org/officeDocument/2006/relationships/slide" Target="slides/slide221.xml"/><Relationship Id="rId223" Type="http://schemas.openxmlformats.org/officeDocument/2006/relationships/slide" Target="slides/slide220.xml"/><Relationship Id="rId222" Type="http://schemas.openxmlformats.org/officeDocument/2006/relationships/slide" Target="slides/slide219.xml"/><Relationship Id="rId221" Type="http://schemas.openxmlformats.org/officeDocument/2006/relationships/slide" Target="slides/slide218.xml"/><Relationship Id="rId220" Type="http://schemas.openxmlformats.org/officeDocument/2006/relationships/slide" Target="slides/slide217.xml"/><Relationship Id="rId22" Type="http://schemas.openxmlformats.org/officeDocument/2006/relationships/slide" Target="slides/slide19.xml"/><Relationship Id="rId219" Type="http://schemas.openxmlformats.org/officeDocument/2006/relationships/slide" Target="slides/slide216.xml"/><Relationship Id="rId218" Type="http://schemas.openxmlformats.org/officeDocument/2006/relationships/slide" Target="slides/slide215.xml"/><Relationship Id="rId217" Type="http://schemas.openxmlformats.org/officeDocument/2006/relationships/slide" Target="slides/slide214.xml"/><Relationship Id="rId216" Type="http://schemas.openxmlformats.org/officeDocument/2006/relationships/slide" Target="slides/slide213.xml"/><Relationship Id="rId215" Type="http://schemas.openxmlformats.org/officeDocument/2006/relationships/slide" Target="slides/slide212.xml"/><Relationship Id="rId214" Type="http://schemas.openxmlformats.org/officeDocument/2006/relationships/slide" Target="slides/slide211.xml"/><Relationship Id="rId213" Type="http://schemas.openxmlformats.org/officeDocument/2006/relationships/slide" Target="slides/slide210.xml"/><Relationship Id="rId212" Type="http://schemas.openxmlformats.org/officeDocument/2006/relationships/slide" Target="slides/slide209.xml"/><Relationship Id="rId211" Type="http://schemas.openxmlformats.org/officeDocument/2006/relationships/slide" Target="slides/slide208.xml"/><Relationship Id="rId210" Type="http://schemas.openxmlformats.org/officeDocument/2006/relationships/slide" Target="slides/slide207.xml"/><Relationship Id="rId21" Type="http://schemas.openxmlformats.org/officeDocument/2006/relationships/slide" Target="slides/slide18.xml"/><Relationship Id="rId209" Type="http://schemas.openxmlformats.org/officeDocument/2006/relationships/slide" Target="slides/slide206.xml"/><Relationship Id="rId208" Type="http://schemas.openxmlformats.org/officeDocument/2006/relationships/slide" Target="slides/slide205.xml"/><Relationship Id="rId207" Type="http://schemas.openxmlformats.org/officeDocument/2006/relationships/slide" Target="slides/slide204.xml"/><Relationship Id="rId206" Type="http://schemas.openxmlformats.org/officeDocument/2006/relationships/slide" Target="slides/slide203.xml"/><Relationship Id="rId205" Type="http://schemas.openxmlformats.org/officeDocument/2006/relationships/slide" Target="slides/slide202.xml"/><Relationship Id="rId204" Type="http://schemas.openxmlformats.org/officeDocument/2006/relationships/slide" Target="slides/slide201.xml"/><Relationship Id="rId203" Type="http://schemas.openxmlformats.org/officeDocument/2006/relationships/slide" Target="slides/slide200.xml"/><Relationship Id="rId202" Type="http://schemas.openxmlformats.org/officeDocument/2006/relationships/slide" Target="slides/slide199.xml"/><Relationship Id="rId201" Type="http://schemas.openxmlformats.org/officeDocument/2006/relationships/slide" Target="slides/slide198.xml"/><Relationship Id="rId200" Type="http://schemas.openxmlformats.org/officeDocument/2006/relationships/slide" Target="slides/slide197.xml"/><Relationship Id="rId20" Type="http://schemas.openxmlformats.org/officeDocument/2006/relationships/slide" Target="slides/slide17.xml"/><Relationship Id="rId2" Type="http://schemas.openxmlformats.org/officeDocument/2006/relationships/theme" Target="theme/theme1.xml"/><Relationship Id="rId199" Type="http://schemas.openxmlformats.org/officeDocument/2006/relationships/slide" Target="slides/slide196.xml"/><Relationship Id="rId198" Type="http://schemas.openxmlformats.org/officeDocument/2006/relationships/slide" Target="slides/slide195.xml"/><Relationship Id="rId197" Type="http://schemas.openxmlformats.org/officeDocument/2006/relationships/slide" Target="slides/slide194.xml"/><Relationship Id="rId196" Type="http://schemas.openxmlformats.org/officeDocument/2006/relationships/slide" Target="slides/slide193.xml"/><Relationship Id="rId195" Type="http://schemas.openxmlformats.org/officeDocument/2006/relationships/slide" Target="slides/slide192.xml"/><Relationship Id="rId194" Type="http://schemas.openxmlformats.org/officeDocument/2006/relationships/slide" Target="slides/slide191.xml"/><Relationship Id="rId193" Type="http://schemas.openxmlformats.org/officeDocument/2006/relationships/slide" Target="slides/slide190.xml"/><Relationship Id="rId192" Type="http://schemas.openxmlformats.org/officeDocument/2006/relationships/slide" Target="slides/slide189.xml"/><Relationship Id="rId191" Type="http://schemas.openxmlformats.org/officeDocument/2006/relationships/slide" Target="slides/slide188.xml"/><Relationship Id="rId190" Type="http://schemas.openxmlformats.org/officeDocument/2006/relationships/slide" Target="slides/slide187.xml"/><Relationship Id="rId19" Type="http://schemas.openxmlformats.org/officeDocument/2006/relationships/slide" Target="slides/slide16.xml"/><Relationship Id="rId189" Type="http://schemas.openxmlformats.org/officeDocument/2006/relationships/slide" Target="slides/slide186.xml"/><Relationship Id="rId188" Type="http://schemas.openxmlformats.org/officeDocument/2006/relationships/slide" Target="slides/slide185.xml"/><Relationship Id="rId187" Type="http://schemas.openxmlformats.org/officeDocument/2006/relationships/slide" Target="slides/slide184.xml"/><Relationship Id="rId186" Type="http://schemas.openxmlformats.org/officeDocument/2006/relationships/slide" Target="slides/slide183.xml"/><Relationship Id="rId185" Type="http://schemas.openxmlformats.org/officeDocument/2006/relationships/slide" Target="slides/slide182.xml"/><Relationship Id="rId184" Type="http://schemas.openxmlformats.org/officeDocument/2006/relationships/slide" Target="slides/slide181.xml"/><Relationship Id="rId183" Type="http://schemas.openxmlformats.org/officeDocument/2006/relationships/slide" Target="slides/slide180.xml"/><Relationship Id="rId182" Type="http://schemas.openxmlformats.org/officeDocument/2006/relationships/slide" Target="slides/slide179.xml"/><Relationship Id="rId181" Type="http://schemas.openxmlformats.org/officeDocument/2006/relationships/slide" Target="slides/slide178.xml"/><Relationship Id="rId180" Type="http://schemas.openxmlformats.org/officeDocument/2006/relationships/slide" Target="slides/slide177.xml"/><Relationship Id="rId18" Type="http://schemas.openxmlformats.org/officeDocument/2006/relationships/slide" Target="slides/slide15.xml"/><Relationship Id="rId179" Type="http://schemas.openxmlformats.org/officeDocument/2006/relationships/slide" Target="slides/slide176.xml"/><Relationship Id="rId178" Type="http://schemas.openxmlformats.org/officeDocument/2006/relationships/slide" Target="slides/slide175.xml"/><Relationship Id="rId177" Type="http://schemas.openxmlformats.org/officeDocument/2006/relationships/slide" Target="slides/slide174.xml"/><Relationship Id="rId176" Type="http://schemas.openxmlformats.org/officeDocument/2006/relationships/slide" Target="slides/slide173.xml"/><Relationship Id="rId175" Type="http://schemas.openxmlformats.org/officeDocument/2006/relationships/slide" Target="slides/slide172.xml"/><Relationship Id="rId174" Type="http://schemas.openxmlformats.org/officeDocument/2006/relationships/slide" Target="slides/slide171.xml"/><Relationship Id="rId173" Type="http://schemas.openxmlformats.org/officeDocument/2006/relationships/slide" Target="slides/slide170.xml"/><Relationship Id="rId172" Type="http://schemas.openxmlformats.org/officeDocument/2006/relationships/slide" Target="slides/slide169.xml"/><Relationship Id="rId171" Type="http://schemas.openxmlformats.org/officeDocument/2006/relationships/slide" Target="slides/slide168.xml"/><Relationship Id="rId170" Type="http://schemas.openxmlformats.org/officeDocument/2006/relationships/slide" Target="slides/slide167.xml"/><Relationship Id="rId17" Type="http://schemas.openxmlformats.org/officeDocument/2006/relationships/slide" Target="slides/slide14.xml"/><Relationship Id="rId169" Type="http://schemas.openxmlformats.org/officeDocument/2006/relationships/slide" Target="slides/slide166.xml"/><Relationship Id="rId168" Type="http://schemas.openxmlformats.org/officeDocument/2006/relationships/slide" Target="slides/slide165.xml"/><Relationship Id="rId167" Type="http://schemas.openxmlformats.org/officeDocument/2006/relationships/slide" Target="slides/slide164.xml"/><Relationship Id="rId166" Type="http://schemas.openxmlformats.org/officeDocument/2006/relationships/slide" Target="slides/slide163.xml"/><Relationship Id="rId165" Type="http://schemas.openxmlformats.org/officeDocument/2006/relationships/slide" Target="slides/slide162.xml"/><Relationship Id="rId164" Type="http://schemas.openxmlformats.org/officeDocument/2006/relationships/slide" Target="slides/slide161.xml"/><Relationship Id="rId163" Type="http://schemas.openxmlformats.org/officeDocument/2006/relationships/slide" Target="slides/slide160.xml"/><Relationship Id="rId162" Type="http://schemas.openxmlformats.org/officeDocument/2006/relationships/slide" Target="slides/slide159.xml"/><Relationship Id="rId161" Type="http://schemas.openxmlformats.org/officeDocument/2006/relationships/slide" Target="slides/slide158.xml"/><Relationship Id="rId160" Type="http://schemas.openxmlformats.org/officeDocument/2006/relationships/slide" Target="slides/slide157.xml"/><Relationship Id="rId16" Type="http://schemas.openxmlformats.org/officeDocument/2006/relationships/slide" Target="slides/slide13.xml"/><Relationship Id="rId159" Type="http://schemas.openxmlformats.org/officeDocument/2006/relationships/slide" Target="slides/slide156.xml"/><Relationship Id="rId158" Type="http://schemas.openxmlformats.org/officeDocument/2006/relationships/slide" Target="slides/slide155.xml"/><Relationship Id="rId157" Type="http://schemas.openxmlformats.org/officeDocument/2006/relationships/slide" Target="slides/slide154.xml"/><Relationship Id="rId156" Type="http://schemas.openxmlformats.org/officeDocument/2006/relationships/slide" Target="slides/slide153.xml"/><Relationship Id="rId155" Type="http://schemas.openxmlformats.org/officeDocument/2006/relationships/slide" Target="slides/slide152.xml"/><Relationship Id="rId154" Type="http://schemas.openxmlformats.org/officeDocument/2006/relationships/slide" Target="slides/slide151.xml"/><Relationship Id="rId153" Type="http://schemas.openxmlformats.org/officeDocument/2006/relationships/slide" Target="slides/slide150.xml"/><Relationship Id="rId152" Type="http://schemas.openxmlformats.org/officeDocument/2006/relationships/slide" Target="slides/slide149.xml"/><Relationship Id="rId151" Type="http://schemas.openxmlformats.org/officeDocument/2006/relationships/slide" Target="slides/slide148.xml"/><Relationship Id="rId150" Type="http://schemas.openxmlformats.org/officeDocument/2006/relationships/slide" Target="slides/slide147.xml"/><Relationship Id="rId15" Type="http://schemas.openxmlformats.org/officeDocument/2006/relationships/slide" Target="slides/slide12.xml"/><Relationship Id="rId149" Type="http://schemas.openxmlformats.org/officeDocument/2006/relationships/slide" Target="slides/slide146.xml"/><Relationship Id="rId148" Type="http://schemas.openxmlformats.org/officeDocument/2006/relationships/slide" Target="slides/slide145.xml"/><Relationship Id="rId147" Type="http://schemas.openxmlformats.org/officeDocument/2006/relationships/slide" Target="slides/slide144.xml"/><Relationship Id="rId146" Type="http://schemas.openxmlformats.org/officeDocument/2006/relationships/slide" Target="slides/slide143.xml"/><Relationship Id="rId145" Type="http://schemas.openxmlformats.org/officeDocument/2006/relationships/slide" Target="slides/slide142.xml"/><Relationship Id="rId144" Type="http://schemas.openxmlformats.org/officeDocument/2006/relationships/slide" Target="slides/slide141.xml"/><Relationship Id="rId143" Type="http://schemas.openxmlformats.org/officeDocument/2006/relationships/slide" Target="slides/slide140.xml"/><Relationship Id="rId142" Type="http://schemas.openxmlformats.org/officeDocument/2006/relationships/slide" Target="slides/slide139.xml"/><Relationship Id="rId141" Type="http://schemas.openxmlformats.org/officeDocument/2006/relationships/slide" Target="slides/slide138.xml"/><Relationship Id="rId140" Type="http://schemas.openxmlformats.org/officeDocument/2006/relationships/slide" Target="slides/slide137.xml"/><Relationship Id="rId14" Type="http://schemas.openxmlformats.org/officeDocument/2006/relationships/slide" Target="slides/slide11.xml"/><Relationship Id="rId139" Type="http://schemas.openxmlformats.org/officeDocument/2006/relationships/slide" Target="slides/slide136.xml"/><Relationship Id="rId138" Type="http://schemas.openxmlformats.org/officeDocument/2006/relationships/slide" Target="slides/slide135.xml"/><Relationship Id="rId137" Type="http://schemas.openxmlformats.org/officeDocument/2006/relationships/slide" Target="slides/slide134.xml"/><Relationship Id="rId136" Type="http://schemas.openxmlformats.org/officeDocument/2006/relationships/slide" Target="slides/slide133.xml"/><Relationship Id="rId135" Type="http://schemas.openxmlformats.org/officeDocument/2006/relationships/slide" Target="slides/slide132.xml"/><Relationship Id="rId134" Type="http://schemas.openxmlformats.org/officeDocument/2006/relationships/slide" Target="slides/slide131.xml"/><Relationship Id="rId133" Type="http://schemas.openxmlformats.org/officeDocument/2006/relationships/slide" Target="slides/slide130.xml"/><Relationship Id="rId132" Type="http://schemas.openxmlformats.org/officeDocument/2006/relationships/slide" Target="slides/slide129.xml"/><Relationship Id="rId131" Type="http://schemas.openxmlformats.org/officeDocument/2006/relationships/slide" Target="slides/slide128.xml"/><Relationship Id="rId130" Type="http://schemas.openxmlformats.org/officeDocument/2006/relationships/slide" Target="slides/slide127.xml"/><Relationship Id="rId13" Type="http://schemas.openxmlformats.org/officeDocument/2006/relationships/slide" Target="slides/slide10.xml"/><Relationship Id="rId129" Type="http://schemas.openxmlformats.org/officeDocument/2006/relationships/slide" Target="slides/slide126.xml"/><Relationship Id="rId128" Type="http://schemas.openxmlformats.org/officeDocument/2006/relationships/slide" Target="slides/slide125.xml"/><Relationship Id="rId127" Type="http://schemas.openxmlformats.org/officeDocument/2006/relationships/slide" Target="slides/slide124.xml"/><Relationship Id="rId126" Type="http://schemas.openxmlformats.org/officeDocument/2006/relationships/slide" Target="slides/slide123.xml"/><Relationship Id="rId125" Type="http://schemas.openxmlformats.org/officeDocument/2006/relationships/slide" Target="slides/slide122.xml"/><Relationship Id="rId124" Type="http://schemas.openxmlformats.org/officeDocument/2006/relationships/slide" Target="slides/slide121.xml"/><Relationship Id="rId123" Type="http://schemas.openxmlformats.org/officeDocument/2006/relationships/slide" Target="slides/slide120.xml"/><Relationship Id="rId122" Type="http://schemas.openxmlformats.org/officeDocument/2006/relationships/slide" Target="slides/slide119.xml"/><Relationship Id="rId121" Type="http://schemas.openxmlformats.org/officeDocument/2006/relationships/slide" Target="slides/slide118.xml"/><Relationship Id="rId120" Type="http://schemas.openxmlformats.org/officeDocument/2006/relationships/slide" Target="slides/slide117.xml"/><Relationship Id="rId12" Type="http://schemas.openxmlformats.org/officeDocument/2006/relationships/slide" Target="slides/slide9.xml"/><Relationship Id="rId119" Type="http://schemas.openxmlformats.org/officeDocument/2006/relationships/slide" Target="slides/slide116.xml"/><Relationship Id="rId118" Type="http://schemas.openxmlformats.org/officeDocument/2006/relationships/slide" Target="slides/slide115.xml"/><Relationship Id="rId117" Type="http://schemas.openxmlformats.org/officeDocument/2006/relationships/slide" Target="slides/slide114.xml"/><Relationship Id="rId116" Type="http://schemas.openxmlformats.org/officeDocument/2006/relationships/slide" Target="slides/slide113.xml"/><Relationship Id="rId115" Type="http://schemas.openxmlformats.org/officeDocument/2006/relationships/slide" Target="slides/slide112.xml"/><Relationship Id="rId114" Type="http://schemas.openxmlformats.org/officeDocument/2006/relationships/slide" Target="slides/slide111.xml"/><Relationship Id="rId113" Type="http://schemas.openxmlformats.org/officeDocument/2006/relationships/slide" Target="slides/slide110.xml"/><Relationship Id="rId112" Type="http://schemas.openxmlformats.org/officeDocument/2006/relationships/slide" Target="slides/slide109.xml"/><Relationship Id="rId111" Type="http://schemas.openxmlformats.org/officeDocument/2006/relationships/slide" Target="slides/slide108.xml"/><Relationship Id="rId110" Type="http://schemas.openxmlformats.org/officeDocument/2006/relationships/slide" Target="slides/slide107.xml"/><Relationship Id="rId11" Type="http://schemas.openxmlformats.org/officeDocument/2006/relationships/slide" Target="slides/slide8.xml"/><Relationship Id="rId109" Type="http://schemas.openxmlformats.org/officeDocument/2006/relationships/slide" Target="slides/slide106.xml"/><Relationship Id="rId108" Type="http://schemas.openxmlformats.org/officeDocument/2006/relationships/slide" Target="slides/slide105.xml"/><Relationship Id="rId107" Type="http://schemas.openxmlformats.org/officeDocument/2006/relationships/slide" Target="slides/slide104.xml"/><Relationship Id="rId106" Type="http://schemas.openxmlformats.org/officeDocument/2006/relationships/slide" Target="slides/slide103.xml"/><Relationship Id="rId105" Type="http://schemas.openxmlformats.org/officeDocument/2006/relationships/slide" Target="slides/slide102.xml"/><Relationship Id="rId104" Type="http://schemas.openxmlformats.org/officeDocument/2006/relationships/slide" Target="slides/slide101.xml"/><Relationship Id="rId103" Type="http://schemas.openxmlformats.org/officeDocument/2006/relationships/slide" Target="slides/slide100.xml"/><Relationship Id="rId102" Type="http://schemas.openxmlformats.org/officeDocument/2006/relationships/slide" Target="slides/slide99.xml"/><Relationship Id="rId101" Type="http://schemas.openxmlformats.org/officeDocument/2006/relationships/slide" Target="slides/slide98.xml"/><Relationship Id="rId100" Type="http://schemas.openxmlformats.org/officeDocument/2006/relationships/slide" Target="slides/slide97.xml"/><Relationship Id="rId10" Type="http://schemas.openxmlformats.org/officeDocument/2006/relationships/slide" Target="slides/slide7.xml"/><Relationship Id="rId1" Type="http://schemas.openxmlformats.org/officeDocument/2006/relationships/slideMaster" Target="slideMasters/slideMaster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4.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8.jpeg"/></Relationships>
</file>

<file path=ppt/drawings/_rels/vmlDrawing5.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12.wmf"/><Relationship Id="rId2" Type="http://schemas.openxmlformats.org/officeDocument/2006/relationships/image" Target="../media/image11.wmf"/><Relationship Id="rId1" Type="http://schemas.openxmlformats.org/officeDocument/2006/relationships/image" Target="../media/image10.w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14.wmf"/><Relationship Id="rId1" Type="http://schemas.openxmlformats.org/officeDocument/2006/relationships/image" Target="../media/image13.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5.wmf"/></Relationships>
</file>

<file path=ppt/drawings/_rels/vmlDrawing9.vml.rels><?xml version="1.0" encoding="UTF-8" standalone="yes"?>
<Relationships xmlns="http://schemas.openxmlformats.org/package/2006/relationships"><Relationship Id="rId2" Type="http://schemas.openxmlformats.org/officeDocument/2006/relationships/image" Target="../media/image17.wmf"/><Relationship Id="rId1" Type="http://schemas.openxmlformats.org/officeDocument/2006/relationships/image" Target="../media/image16.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9.wmf"/></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image" Target="../media/image20.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22.w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24.wmf"/><Relationship Id="rId1" Type="http://schemas.openxmlformats.org/officeDocument/2006/relationships/image" Target="../media/image23.wmf"/></Relationships>
</file>

<file path=ppt/drawings/_rels/vmlDrawing15.vml.rels><?xml version="1.0" encoding="UTF-8" standalone="yes"?>
<Relationships xmlns="http://schemas.openxmlformats.org/package/2006/relationships"><Relationship Id="rId2" Type="http://schemas.openxmlformats.org/officeDocument/2006/relationships/image" Target="../media/image26.wmf"/><Relationship Id="rId1" Type="http://schemas.openxmlformats.org/officeDocument/2006/relationships/image" Target="../media/image25.wmf"/></Relationships>
</file>

<file path=ppt/drawings/_rels/vmlDrawing16.vml.rels><?xml version="1.0" encoding="UTF-8" standalone="yes"?>
<Relationships xmlns="http://schemas.openxmlformats.org/package/2006/relationships"><Relationship Id="rId3" Type="http://schemas.openxmlformats.org/officeDocument/2006/relationships/image" Target="../media/image29.wmf"/><Relationship Id="rId2" Type="http://schemas.openxmlformats.org/officeDocument/2006/relationships/image" Target="../media/image28.wmf"/><Relationship Id="rId1" Type="http://schemas.openxmlformats.org/officeDocument/2006/relationships/image" Target="../media/image27.wmf"/></Relationships>
</file>

<file path=ppt/drawings/_rels/vmlDrawing17.vml.rels><?xml version="1.0" encoding="UTF-8" standalone="yes"?>
<Relationships xmlns="http://schemas.openxmlformats.org/package/2006/relationships"><Relationship Id="rId2" Type="http://schemas.openxmlformats.org/officeDocument/2006/relationships/image" Target="../media/image31.emf"/><Relationship Id="rId1" Type="http://schemas.openxmlformats.org/officeDocument/2006/relationships/image" Target="../media/image30.e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33.w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34.e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37.w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38.w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38.w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38.w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38.w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38.wmf"/></Relationships>
</file>

<file path=ppt/drawings/_rels/vmlDrawing26.vml.rels><?xml version="1.0" encoding="UTF-8" standalone="yes"?>
<Relationships xmlns="http://schemas.openxmlformats.org/package/2006/relationships"><Relationship Id="rId1" Type="http://schemas.openxmlformats.org/officeDocument/2006/relationships/image" Target="../media/image48.wmf"/></Relationships>
</file>

<file path=ppt/drawings/_rels/vmlDrawing27.vml.rels><?xml version="1.0" encoding="UTF-8" standalone="yes"?>
<Relationships xmlns="http://schemas.openxmlformats.org/package/2006/relationships"><Relationship Id="rId1" Type="http://schemas.openxmlformats.org/officeDocument/2006/relationships/image" Target="../media/image50.wmf"/></Relationships>
</file>

<file path=ppt/drawings/_rels/vmlDrawing28.vml.rels><?xml version="1.0" encoding="UTF-8" standalone="yes"?>
<Relationships xmlns="http://schemas.openxmlformats.org/package/2006/relationships"><Relationship Id="rId2" Type="http://schemas.openxmlformats.org/officeDocument/2006/relationships/image" Target="../media/image52.wmf"/><Relationship Id="rId1" Type="http://schemas.openxmlformats.org/officeDocument/2006/relationships/image" Target="../media/image51.wmf"/></Relationships>
</file>

<file path=ppt/drawings/_rels/vmlDrawing29.vml.rels><?xml version="1.0" encoding="UTF-8" standalone="yes"?>
<Relationships xmlns="http://schemas.openxmlformats.org/package/2006/relationships"><Relationship Id="rId1" Type="http://schemas.openxmlformats.org/officeDocument/2006/relationships/image" Target="../media/image53.w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54.w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62.w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63.wmf"/></Relationships>
</file>

<file path=ppt/drawings/_rels/vmlDrawing33.vml.rels><?xml version="1.0" encoding="UTF-8" standalone="yes"?>
<Relationships xmlns="http://schemas.openxmlformats.org/package/2006/relationships"><Relationship Id="rId1" Type="http://schemas.openxmlformats.org/officeDocument/2006/relationships/image" Target="../media/image64.wmf"/></Relationships>
</file>

<file path=ppt/drawings/_rels/vmlDrawing34.vml.rels><?xml version="1.0" encoding="UTF-8" standalone="yes"?>
<Relationships xmlns="http://schemas.openxmlformats.org/package/2006/relationships"><Relationship Id="rId1" Type="http://schemas.openxmlformats.org/officeDocument/2006/relationships/image" Target="../media/image65.wmf"/></Relationships>
</file>

<file path=ppt/drawings/_rels/vmlDrawing35.vml.rels><?xml version="1.0" encoding="UTF-8" standalone="yes"?>
<Relationships xmlns="http://schemas.openxmlformats.org/package/2006/relationships"><Relationship Id="rId2" Type="http://schemas.openxmlformats.org/officeDocument/2006/relationships/image" Target="../media/image81.wmf"/><Relationship Id="rId1" Type="http://schemas.openxmlformats.org/officeDocument/2006/relationships/image" Target="../media/image80.wmf"/></Relationships>
</file>

<file path=ppt/drawings/_rels/vmlDrawing36.vml.rels><?xml version="1.0" encoding="UTF-8" standalone="yes"?>
<Relationships xmlns="http://schemas.openxmlformats.org/package/2006/relationships"><Relationship Id="rId2" Type="http://schemas.openxmlformats.org/officeDocument/2006/relationships/image" Target="../media/image83.wmf"/><Relationship Id="rId1" Type="http://schemas.openxmlformats.org/officeDocument/2006/relationships/image" Target="../media/image82.wmf"/></Relationships>
</file>

<file path=ppt/drawings/_rels/vmlDrawing37.vml.rels><?xml version="1.0" encoding="UTF-8" standalone="yes"?>
<Relationships xmlns="http://schemas.openxmlformats.org/package/2006/relationships"><Relationship Id="rId1" Type="http://schemas.openxmlformats.org/officeDocument/2006/relationships/image" Target="../media/image90.wmf"/></Relationships>
</file>

<file path=ppt/drawings/_rels/vmlDrawing38.vml.rels><?xml version="1.0" encoding="UTF-8" standalone="yes"?>
<Relationships xmlns="http://schemas.openxmlformats.org/package/2006/relationships"><Relationship Id="rId1" Type="http://schemas.openxmlformats.org/officeDocument/2006/relationships/image" Target="../media/image92.wmf"/></Relationships>
</file>

<file path=ppt/drawings/_rels/vmlDrawing39.vml.rels><?xml version="1.0" encoding="UTF-8" standalone="yes"?>
<Relationships xmlns="http://schemas.openxmlformats.org/package/2006/relationships"><Relationship Id="rId1" Type="http://schemas.openxmlformats.org/officeDocument/2006/relationships/image" Target="../media/image93.w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266"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spcBef>
                <a:spcPct val="0"/>
              </a:spcBef>
              <a:buClrTx/>
              <a:buFontTx/>
              <a:buNone/>
              <a:defRPr sz="1200">
                <a:latin typeface="Times New Roman" panose="02020603050405020304" pitchFamily="18" charset="0"/>
              </a:defRPr>
            </a:lvl1pPr>
          </a:lstStyle>
          <a:p>
            <a:pPr>
              <a:defRPr/>
            </a:pPr>
            <a:endParaRPr lang="zh-CN" altLang="en-US"/>
          </a:p>
        </p:txBody>
      </p:sp>
      <p:sp>
        <p:nvSpPr>
          <p:cNvPr id="11267" name="Rectangle 3"/>
          <p:cNvSpPr>
            <a:spLocks noGrp="1" noChangeArrowheads="1"/>
          </p:cNvSpPr>
          <p:nvPr>
            <p:ph type="dt" sz="quarter"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r">
              <a:spcBef>
                <a:spcPct val="0"/>
              </a:spcBef>
              <a:buClrTx/>
              <a:buFontTx/>
              <a:buNone/>
              <a:defRPr sz="1200">
                <a:latin typeface="Times New Roman" panose="02020603050405020304" pitchFamily="18" charset="0"/>
              </a:defRPr>
            </a:lvl1pPr>
          </a:lstStyle>
          <a:p>
            <a:pPr>
              <a:defRPr/>
            </a:pPr>
            <a:endParaRPr lang="en-US" altLang="zh-CN"/>
          </a:p>
        </p:txBody>
      </p:sp>
      <p:sp>
        <p:nvSpPr>
          <p:cNvPr id="11268" name="Rectangle 4"/>
          <p:cNvSpPr>
            <a:spLocks noGrp="1" noChangeArrowheads="1"/>
          </p:cNvSpPr>
          <p:nvPr>
            <p:ph type="ftr" sz="quarter" idx="2"/>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a:spcBef>
                <a:spcPct val="0"/>
              </a:spcBef>
              <a:buClrTx/>
              <a:buFontTx/>
              <a:buNone/>
              <a:defRPr sz="1200">
                <a:latin typeface="Times New Roman" panose="02020603050405020304" pitchFamily="18" charset="0"/>
              </a:defRPr>
            </a:lvl1pPr>
          </a:lstStyle>
          <a:p>
            <a:pPr>
              <a:defRPr/>
            </a:pPr>
            <a:endParaRPr lang="en-US" altLang="zh-CN"/>
          </a:p>
        </p:txBody>
      </p:sp>
      <p:sp>
        <p:nvSpPr>
          <p:cNvPr id="11269" name="Rectangle 5"/>
          <p:cNvSpPr>
            <a:spLocks noGrp="1" noChangeArrowheads="1"/>
          </p:cNvSpPr>
          <p:nvPr>
            <p:ph type="sldNum" sz="quarter" idx="3"/>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algn="r">
              <a:spcBef>
                <a:spcPct val="0"/>
              </a:spcBef>
              <a:buClrTx/>
              <a:buFontTx/>
              <a:buNone/>
              <a:defRPr sz="1200">
                <a:latin typeface="Times New Roman" panose="02020603050405020304" pitchFamily="18" charset="0"/>
              </a:defRPr>
            </a:lvl1pPr>
          </a:lstStyle>
          <a:p>
            <a:pPr>
              <a:defRPr/>
            </a:pPr>
            <a:fld id="{0203E57E-EC15-4CDB-BEC9-B3B77E84A10E}" type="slidenum">
              <a:rPr lang="zh-CN" altLang="en-US"/>
            </a:fld>
            <a:endParaRPr lang="en-US" altLang="zh-CN"/>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spcBef>
                <a:spcPct val="0"/>
              </a:spcBef>
              <a:buClrTx/>
              <a:buFontTx/>
              <a:buNone/>
              <a:defRPr sz="1200">
                <a:latin typeface="Times New Roman" panose="02020603050405020304" pitchFamily="18" charset="0"/>
              </a:defRPr>
            </a:lvl1pPr>
          </a:lstStyle>
          <a:p>
            <a:pPr>
              <a:defRPr/>
            </a:pPr>
            <a:endParaRPr lang="zh-CN" altLang="en-US"/>
          </a:p>
        </p:txBody>
      </p:sp>
      <p:sp>
        <p:nvSpPr>
          <p:cNvPr id="13315" name="Rectangle 3"/>
          <p:cNvSpPr>
            <a:spLocks noGrp="1" noChangeArrowheads="1"/>
          </p:cNvSpPr>
          <p:nvPr>
            <p:ph type="dt"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r">
              <a:spcBef>
                <a:spcPct val="0"/>
              </a:spcBef>
              <a:buClrTx/>
              <a:buFontTx/>
              <a:buNone/>
              <a:defRPr sz="1200">
                <a:latin typeface="Times New Roman" panose="02020603050405020304" pitchFamily="18" charset="0"/>
              </a:defRPr>
            </a:lvl1pPr>
          </a:lstStyle>
          <a:p>
            <a:pPr>
              <a:defRPr/>
            </a:pPr>
            <a:endParaRPr lang="en-US" altLang="zh-CN"/>
          </a:p>
        </p:txBody>
      </p:sp>
      <p:sp>
        <p:nvSpPr>
          <p:cNvPr id="271364"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3317" name="Rectangle 5"/>
          <p:cNvSpPr>
            <a:spLocks noGrp="1" noChangeArrowheads="1"/>
          </p:cNvSpPr>
          <p:nvPr>
            <p:ph type="body" sz="quarter" idx="3"/>
          </p:nvPr>
        </p:nvSpPr>
        <p:spPr bwMode="auto">
          <a:xfrm>
            <a:off x="914400" y="4343400"/>
            <a:ext cx="50292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pPr lvl="0"/>
            <a:r>
              <a:rPr lang="zh-CN" altLang="en-US" noProof="0" smtClean="0"/>
              <a:t>单击此处编辑母版文本样式</a:t>
            </a:r>
            <a:endParaRPr lang="zh-CN" altLang="en-US" noProof="0" smtClean="0"/>
          </a:p>
          <a:p>
            <a:pPr lvl="1"/>
            <a:r>
              <a:rPr lang="zh-CN" altLang="en-US" noProof="0" smtClean="0"/>
              <a:t>第二级</a:t>
            </a:r>
            <a:endParaRPr lang="zh-CN" altLang="en-US" noProof="0" smtClean="0"/>
          </a:p>
          <a:p>
            <a:pPr lvl="2"/>
            <a:r>
              <a:rPr lang="zh-CN" altLang="en-US" noProof="0" smtClean="0"/>
              <a:t>第三级</a:t>
            </a:r>
            <a:endParaRPr lang="zh-CN" altLang="en-US" noProof="0" smtClean="0"/>
          </a:p>
          <a:p>
            <a:pPr lvl="3"/>
            <a:r>
              <a:rPr lang="zh-CN" altLang="en-US" noProof="0" smtClean="0"/>
              <a:t>第四级</a:t>
            </a:r>
            <a:endParaRPr lang="zh-CN" altLang="en-US" noProof="0" smtClean="0"/>
          </a:p>
          <a:p>
            <a:pPr lvl="4"/>
            <a:r>
              <a:rPr lang="zh-CN" altLang="en-US" noProof="0" smtClean="0"/>
              <a:t>第五级</a:t>
            </a:r>
            <a:endParaRPr lang="zh-CN" altLang="en-US" noProof="0" smtClean="0"/>
          </a:p>
        </p:txBody>
      </p:sp>
      <p:sp>
        <p:nvSpPr>
          <p:cNvPr id="13318" name="Rectangle 6"/>
          <p:cNvSpPr>
            <a:spLocks noGrp="1" noChangeArrowheads="1"/>
          </p:cNvSpPr>
          <p:nvPr>
            <p:ph type="ftr" sz="quarter" idx="4"/>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a:spcBef>
                <a:spcPct val="0"/>
              </a:spcBef>
              <a:buClrTx/>
              <a:buFontTx/>
              <a:buNone/>
              <a:defRPr sz="1200">
                <a:latin typeface="Times New Roman" panose="02020603050405020304" pitchFamily="18" charset="0"/>
              </a:defRPr>
            </a:lvl1pPr>
          </a:lstStyle>
          <a:p>
            <a:pPr>
              <a:defRPr/>
            </a:pPr>
            <a:endParaRPr lang="en-US" altLang="zh-CN"/>
          </a:p>
        </p:txBody>
      </p:sp>
      <p:sp>
        <p:nvSpPr>
          <p:cNvPr id="13319" name="Rectangle 7"/>
          <p:cNvSpPr>
            <a:spLocks noGrp="1" noChangeArrowheads="1"/>
          </p:cNvSpPr>
          <p:nvPr>
            <p:ph type="sldNum" sz="quarter" idx="5"/>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algn="r">
              <a:spcBef>
                <a:spcPct val="0"/>
              </a:spcBef>
              <a:buClrTx/>
              <a:buFontTx/>
              <a:buNone/>
              <a:defRPr sz="1200">
                <a:latin typeface="Times New Roman" panose="02020603050405020304" pitchFamily="18" charset="0"/>
              </a:defRPr>
            </a:lvl1pPr>
          </a:lstStyle>
          <a:p>
            <a:pPr>
              <a:defRPr/>
            </a:pPr>
            <a:fld id="{DE22A4F1-B2EF-4DFE-BE69-6F9434E77A01}" type="slidenum">
              <a:rPr lang="zh-CN" altLang="en-US"/>
            </a:fld>
            <a:endParaRPr lang="en-US" altLang="zh-CN"/>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kumimoji="1" sz="1200" kern="1200">
        <a:solidFill>
          <a:schemeClr val="tx1"/>
        </a:solidFill>
        <a:latin typeface="Times New Roman" panose="02020603050405020304" pitchFamily="18" charset="0"/>
        <a:ea typeface="宋体" panose="02010600030101010101" pitchFamily="2" charset="-122"/>
        <a:cs typeface="+mn-cs"/>
      </a:defRPr>
    </a:lvl1pPr>
    <a:lvl2pPr marL="457200" algn="l" rtl="0" eaLnBrk="0" fontAlgn="base" hangingPunct="0">
      <a:spcBef>
        <a:spcPct val="30000"/>
      </a:spcBef>
      <a:spcAft>
        <a:spcPct val="0"/>
      </a:spcAft>
      <a:defRPr kumimoji="1" sz="1200" kern="1200">
        <a:solidFill>
          <a:schemeClr val="tx1"/>
        </a:solidFill>
        <a:latin typeface="Times New Roman" panose="02020603050405020304" pitchFamily="18" charset="0"/>
        <a:ea typeface="宋体" panose="02010600030101010101" pitchFamily="2" charset="-122"/>
        <a:cs typeface="+mn-cs"/>
      </a:defRPr>
    </a:lvl2pPr>
    <a:lvl3pPr marL="914400" algn="l" rtl="0" eaLnBrk="0" fontAlgn="base" hangingPunct="0">
      <a:spcBef>
        <a:spcPct val="30000"/>
      </a:spcBef>
      <a:spcAft>
        <a:spcPct val="0"/>
      </a:spcAft>
      <a:defRPr kumimoji="1" sz="1200" kern="1200">
        <a:solidFill>
          <a:schemeClr val="tx1"/>
        </a:solidFill>
        <a:latin typeface="Times New Roman" panose="02020603050405020304" pitchFamily="18" charset="0"/>
        <a:ea typeface="宋体" panose="02010600030101010101" pitchFamily="2" charset="-122"/>
        <a:cs typeface="+mn-cs"/>
      </a:defRPr>
    </a:lvl3pPr>
    <a:lvl4pPr marL="1371600" algn="l" rtl="0" eaLnBrk="0" fontAlgn="base" hangingPunct="0">
      <a:spcBef>
        <a:spcPct val="30000"/>
      </a:spcBef>
      <a:spcAft>
        <a:spcPct val="0"/>
      </a:spcAft>
      <a:defRPr kumimoji="1" sz="1200" kern="1200">
        <a:solidFill>
          <a:schemeClr val="tx1"/>
        </a:solidFill>
        <a:latin typeface="Times New Roman" panose="02020603050405020304" pitchFamily="18" charset="0"/>
        <a:ea typeface="宋体" panose="02010600030101010101" pitchFamily="2" charset="-122"/>
        <a:cs typeface="+mn-cs"/>
      </a:defRPr>
    </a:lvl4pPr>
    <a:lvl5pPr marL="1828800" algn="l" rtl="0" eaLnBrk="0" fontAlgn="base" hangingPunct="0">
      <a:spcBef>
        <a:spcPct val="30000"/>
      </a:spcBef>
      <a:spcAft>
        <a:spcPct val="0"/>
      </a:spcAft>
      <a:defRPr kumimoji="1" sz="1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2.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7.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9.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1.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2.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4.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5.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6.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3.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4.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5.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6.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7.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8.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9.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0.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1.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2.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3.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4.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5.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6.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7.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8.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9.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0.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1.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2.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8.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2.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9.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5.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7.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1.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2.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4.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7.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8.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9.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DE22A4F1-B2EF-4DFE-BE69-6F9434E77A01}" type="slidenum">
              <a:rPr lang="zh-CN" altLang="en-US" smtClean="0"/>
            </a:fld>
            <a:endParaRPr lang="en-US" altLang="zh-CN"/>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9773510E-8DA7-4E56-9661-62BD67A96835}" type="slidenum">
              <a:rPr lang="zh-CN" altLang="en-US" smtClean="0"/>
            </a:fld>
            <a:endParaRPr lang="en-US" altLang="zh-CN" smtClean="0"/>
          </a:p>
        </p:txBody>
      </p:sp>
      <p:sp>
        <p:nvSpPr>
          <p:cNvPr id="272387" name="Rectangle 2"/>
          <p:cNvSpPr>
            <a:spLocks noGrp="1" noRot="1" noChangeAspect="1" noChangeArrowheads="1" noTextEdit="1"/>
          </p:cNvSpPr>
          <p:nvPr>
            <p:ph type="sldImg"/>
          </p:nvPr>
        </p:nvSpPr>
        <p:spPr>
          <a:solidFill>
            <a:srgbClr val="FFFFFF"/>
          </a:solidFill>
        </p:spPr>
      </p:sp>
      <p:sp>
        <p:nvSpPr>
          <p:cNvPr id="272388"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8E5C0835-0697-4BD2-9733-A08756AB9498}" type="slidenum">
              <a:rPr lang="zh-CN" altLang="en-US" smtClean="0"/>
            </a:fld>
            <a:endParaRPr lang="en-US" altLang="zh-CN" smtClean="0"/>
          </a:p>
        </p:txBody>
      </p:sp>
      <p:sp>
        <p:nvSpPr>
          <p:cNvPr id="273411" name="Rectangle 2"/>
          <p:cNvSpPr>
            <a:spLocks noGrp="1" noRot="1" noChangeAspect="1" noChangeArrowheads="1" noTextEdit="1"/>
          </p:cNvSpPr>
          <p:nvPr>
            <p:ph type="sldImg"/>
          </p:nvPr>
        </p:nvSpPr>
        <p:spPr>
          <a:solidFill>
            <a:srgbClr val="FFFFFF"/>
          </a:solidFill>
        </p:spPr>
      </p:sp>
      <p:sp>
        <p:nvSpPr>
          <p:cNvPr id="273412"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dirty="0" smtClean="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78ABEFD4-20FD-4E01-B4D9-E919263AB1B1}" type="slidenum">
              <a:rPr lang="zh-CN" altLang="en-US" smtClean="0"/>
            </a:fld>
            <a:endParaRPr lang="en-US" altLang="zh-CN" smtClean="0"/>
          </a:p>
        </p:txBody>
      </p:sp>
      <p:sp>
        <p:nvSpPr>
          <p:cNvPr id="274435" name="Rectangle 2"/>
          <p:cNvSpPr>
            <a:spLocks noGrp="1" noRot="1" noChangeAspect="1" noChangeArrowheads="1" noTextEdit="1"/>
          </p:cNvSpPr>
          <p:nvPr>
            <p:ph type="sldImg"/>
          </p:nvPr>
        </p:nvSpPr>
        <p:spPr>
          <a:solidFill>
            <a:srgbClr val="FFFFFF"/>
          </a:solidFill>
        </p:spPr>
      </p:sp>
      <p:sp>
        <p:nvSpPr>
          <p:cNvPr id="274436"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DE22A4F1-B2EF-4DFE-BE69-6F9434E77A01}" type="slidenum">
              <a:rPr lang="zh-CN" altLang="en-US" smtClean="0"/>
            </a:fld>
            <a:endParaRPr lang="en-US" altLang="zh-CN"/>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B40FEADD-7C95-44B3-B54F-D31D95D70BFB}" type="slidenum">
              <a:rPr lang="zh-CN" altLang="en-US" smtClean="0"/>
            </a:fld>
            <a:endParaRPr lang="en-US" altLang="zh-CN" smtClean="0"/>
          </a:p>
        </p:txBody>
      </p:sp>
      <p:sp>
        <p:nvSpPr>
          <p:cNvPr id="275459" name="Rectangle 2"/>
          <p:cNvSpPr>
            <a:spLocks noGrp="1" noRot="1" noChangeAspect="1" noChangeArrowheads="1" noTextEdit="1"/>
          </p:cNvSpPr>
          <p:nvPr>
            <p:ph type="sldImg"/>
          </p:nvPr>
        </p:nvSpPr>
        <p:spPr>
          <a:solidFill>
            <a:srgbClr val="FFFFFF"/>
          </a:solidFill>
        </p:spPr>
      </p:sp>
      <p:sp>
        <p:nvSpPr>
          <p:cNvPr id="275460"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83840C0C-03CA-41E4-8325-A75C06A28EFA}" type="slidenum">
              <a:rPr lang="zh-CN" altLang="en-US" smtClean="0"/>
            </a:fld>
            <a:endParaRPr lang="en-US" altLang="zh-CN" smtClean="0"/>
          </a:p>
        </p:txBody>
      </p:sp>
      <p:sp>
        <p:nvSpPr>
          <p:cNvPr id="276483" name="Rectangle 2"/>
          <p:cNvSpPr>
            <a:spLocks noGrp="1" noRot="1" noChangeAspect="1" noChangeArrowheads="1" noTextEdit="1"/>
          </p:cNvSpPr>
          <p:nvPr>
            <p:ph type="sldImg"/>
          </p:nvPr>
        </p:nvSpPr>
        <p:spPr>
          <a:solidFill>
            <a:srgbClr val="FFFFFF"/>
          </a:solidFill>
        </p:spPr>
      </p:sp>
      <p:sp>
        <p:nvSpPr>
          <p:cNvPr id="276484"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1D186D1C-B404-4DA8-B971-98054505E1AE}" type="slidenum">
              <a:rPr lang="zh-CN" altLang="en-US" smtClean="0"/>
            </a:fld>
            <a:endParaRPr lang="en-US" altLang="zh-CN" smtClean="0"/>
          </a:p>
        </p:txBody>
      </p:sp>
      <p:sp>
        <p:nvSpPr>
          <p:cNvPr id="277507" name="Rectangle 2"/>
          <p:cNvSpPr>
            <a:spLocks noGrp="1" noRot="1" noChangeAspect="1" noChangeArrowheads="1" noTextEdit="1"/>
          </p:cNvSpPr>
          <p:nvPr>
            <p:ph type="sldImg"/>
          </p:nvPr>
        </p:nvSpPr>
        <p:spPr>
          <a:solidFill>
            <a:srgbClr val="FFFFFF"/>
          </a:solidFill>
        </p:spPr>
      </p:sp>
      <p:sp>
        <p:nvSpPr>
          <p:cNvPr id="277508"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96D17D38-F64C-4463-ABE0-F6AAEF529681}" type="slidenum">
              <a:rPr lang="zh-CN" altLang="en-US" smtClean="0"/>
            </a:fld>
            <a:endParaRPr lang="en-US" altLang="zh-CN" smtClean="0"/>
          </a:p>
        </p:txBody>
      </p:sp>
      <p:sp>
        <p:nvSpPr>
          <p:cNvPr id="278531" name="Rectangle 2"/>
          <p:cNvSpPr>
            <a:spLocks noGrp="1" noRot="1" noChangeAspect="1" noChangeArrowheads="1" noTextEdit="1"/>
          </p:cNvSpPr>
          <p:nvPr>
            <p:ph type="sldImg"/>
          </p:nvPr>
        </p:nvSpPr>
        <p:spPr>
          <a:solidFill>
            <a:srgbClr val="FFFFFF"/>
          </a:solidFill>
        </p:spPr>
      </p:sp>
      <p:sp>
        <p:nvSpPr>
          <p:cNvPr id="278532"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2F3E00DC-4AA7-4327-B9DD-C6A74732FF47}" type="slidenum">
              <a:rPr lang="zh-CN" altLang="en-US" smtClean="0"/>
            </a:fld>
            <a:endParaRPr lang="en-US" altLang="zh-CN" smtClean="0"/>
          </a:p>
        </p:txBody>
      </p:sp>
      <p:sp>
        <p:nvSpPr>
          <p:cNvPr id="279555" name="Rectangle 2"/>
          <p:cNvSpPr>
            <a:spLocks noGrp="1" noRot="1" noChangeAspect="1" noChangeArrowheads="1" noTextEdit="1"/>
          </p:cNvSpPr>
          <p:nvPr>
            <p:ph type="sldImg"/>
          </p:nvPr>
        </p:nvSpPr>
        <p:spPr>
          <a:solidFill>
            <a:srgbClr val="FFFFFF"/>
          </a:solidFill>
        </p:spPr>
      </p:sp>
      <p:sp>
        <p:nvSpPr>
          <p:cNvPr id="279556"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51D3C6C0-3ED6-4748-95EE-D1E60994BD49}" type="slidenum">
              <a:rPr lang="zh-CN" altLang="en-US" smtClean="0"/>
            </a:fld>
            <a:endParaRPr lang="en-US" altLang="zh-CN" smtClean="0"/>
          </a:p>
        </p:txBody>
      </p:sp>
      <p:sp>
        <p:nvSpPr>
          <p:cNvPr id="280579" name="Rectangle 2"/>
          <p:cNvSpPr>
            <a:spLocks noGrp="1" noRot="1" noChangeAspect="1" noChangeArrowheads="1" noTextEdit="1"/>
          </p:cNvSpPr>
          <p:nvPr>
            <p:ph type="sldImg"/>
          </p:nvPr>
        </p:nvSpPr>
        <p:spPr>
          <a:solidFill>
            <a:srgbClr val="FFFFFF"/>
          </a:solidFill>
        </p:spPr>
      </p:sp>
      <p:sp>
        <p:nvSpPr>
          <p:cNvPr id="280580"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AB316F4C-FD3D-4FA9-8FF9-47425A1CD629}" type="slidenum">
              <a:rPr lang="zh-CN" altLang="en-US" smtClean="0"/>
            </a:fld>
            <a:endParaRPr lang="en-US" altLang="zh-CN" smtClean="0"/>
          </a:p>
        </p:txBody>
      </p:sp>
      <p:sp>
        <p:nvSpPr>
          <p:cNvPr id="281603" name="Rectangle 2"/>
          <p:cNvSpPr>
            <a:spLocks noGrp="1" noRot="1" noChangeAspect="1" noChangeArrowheads="1" noTextEdit="1"/>
          </p:cNvSpPr>
          <p:nvPr>
            <p:ph type="sldImg"/>
          </p:nvPr>
        </p:nvSpPr>
        <p:spPr>
          <a:solidFill>
            <a:srgbClr val="FFFFFF"/>
          </a:solidFill>
        </p:spPr>
      </p:sp>
      <p:sp>
        <p:nvSpPr>
          <p:cNvPr id="281604"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34AA07FC-AD84-44FD-9859-76D92D444E49}" type="slidenum">
              <a:rPr lang="zh-CN" altLang="en-US" smtClean="0"/>
            </a:fld>
            <a:endParaRPr lang="en-US" altLang="zh-CN" smtClean="0"/>
          </a:p>
        </p:txBody>
      </p:sp>
      <p:sp>
        <p:nvSpPr>
          <p:cNvPr id="282627" name="Rectangle 2"/>
          <p:cNvSpPr>
            <a:spLocks noGrp="1" noRot="1" noChangeAspect="1" noChangeArrowheads="1" noTextEdit="1"/>
          </p:cNvSpPr>
          <p:nvPr>
            <p:ph type="sldImg"/>
          </p:nvPr>
        </p:nvSpPr>
        <p:spPr>
          <a:solidFill>
            <a:srgbClr val="FFFFFF"/>
          </a:solidFill>
        </p:spPr>
      </p:sp>
      <p:sp>
        <p:nvSpPr>
          <p:cNvPr id="282628"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D87A6E42-A071-4B33-BC4B-FAB4D5ECABEE}" type="slidenum">
              <a:rPr lang="zh-CN" altLang="en-US" smtClean="0"/>
            </a:fld>
            <a:endParaRPr lang="en-US" altLang="zh-CN" smtClean="0"/>
          </a:p>
        </p:txBody>
      </p:sp>
      <p:sp>
        <p:nvSpPr>
          <p:cNvPr id="283651" name="Rectangle 2"/>
          <p:cNvSpPr>
            <a:spLocks noGrp="1" noRot="1" noChangeAspect="1" noChangeArrowheads="1" noTextEdit="1"/>
          </p:cNvSpPr>
          <p:nvPr>
            <p:ph type="sldImg"/>
          </p:nvPr>
        </p:nvSpPr>
        <p:spPr>
          <a:solidFill>
            <a:srgbClr val="FFFFFF"/>
          </a:solidFill>
        </p:spPr>
      </p:sp>
      <p:sp>
        <p:nvSpPr>
          <p:cNvPr id="283652"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AA293F9E-46CE-484C-BF39-307144639B32}" type="slidenum">
              <a:rPr lang="zh-CN" altLang="en-US" smtClean="0"/>
            </a:fld>
            <a:endParaRPr lang="en-US" altLang="zh-CN" smtClean="0"/>
          </a:p>
        </p:txBody>
      </p:sp>
      <p:sp>
        <p:nvSpPr>
          <p:cNvPr id="284675" name="Rectangle 2"/>
          <p:cNvSpPr>
            <a:spLocks noGrp="1" noRot="1" noChangeAspect="1" noChangeArrowheads="1" noTextEdit="1"/>
          </p:cNvSpPr>
          <p:nvPr>
            <p:ph type="sldImg"/>
          </p:nvPr>
        </p:nvSpPr>
        <p:spPr>
          <a:solidFill>
            <a:srgbClr val="FFFFFF"/>
          </a:solidFill>
        </p:spPr>
      </p:sp>
      <p:sp>
        <p:nvSpPr>
          <p:cNvPr id="284676"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70C5DA5A-341C-4F66-9391-8905AAF9BDB8}" type="slidenum">
              <a:rPr lang="zh-CN" altLang="en-US" smtClean="0"/>
            </a:fld>
            <a:endParaRPr lang="en-US" altLang="zh-CN" smtClean="0"/>
          </a:p>
        </p:txBody>
      </p:sp>
      <p:sp>
        <p:nvSpPr>
          <p:cNvPr id="285699" name="Rectangle 2"/>
          <p:cNvSpPr>
            <a:spLocks noGrp="1" noRot="1" noChangeAspect="1" noChangeArrowheads="1" noTextEdit="1"/>
          </p:cNvSpPr>
          <p:nvPr>
            <p:ph type="sldImg"/>
          </p:nvPr>
        </p:nvSpPr>
        <p:spPr>
          <a:solidFill>
            <a:srgbClr val="FFFFFF"/>
          </a:solidFill>
        </p:spPr>
      </p:sp>
      <p:sp>
        <p:nvSpPr>
          <p:cNvPr id="285700"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C90B58FA-9287-4DDF-896D-569C8B77B32C}" type="slidenum">
              <a:rPr lang="zh-CN" altLang="en-US" smtClean="0"/>
            </a:fld>
            <a:endParaRPr lang="en-US" altLang="zh-CN" smtClean="0"/>
          </a:p>
        </p:txBody>
      </p:sp>
      <p:sp>
        <p:nvSpPr>
          <p:cNvPr id="286723" name="Rectangle 2"/>
          <p:cNvSpPr>
            <a:spLocks noGrp="1" noRot="1" noChangeAspect="1" noChangeArrowheads="1" noTextEdit="1"/>
          </p:cNvSpPr>
          <p:nvPr>
            <p:ph type="sldImg"/>
          </p:nvPr>
        </p:nvSpPr>
        <p:spPr>
          <a:solidFill>
            <a:srgbClr val="FFFFFF"/>
          </a:solidFill>
        </p:spPr>
      </p:sp>
      <p:sp>
        <p:nvSpPr>
          <p:cNvPr id="286724"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DF68A9F0-BD0E-463F-B83C-6494121F71F2}" type="slidenum">
              <a:rPr lang="zh-CN" altLang="en-US" smtClean="0"/>
            </a:fld>
            <a:endParaRPr lang="en-US" altLang="zh-CN" smtClean="0"/>
          </a:p>
        </p:txBody>
      </p:sp>
      <p:sp>
        <p:nvSpPr>
          <p:cNvPr id="287747" name="Rectangle 2"/>
          <p:cNvSpPr>
            <a:spLocks noGrp="1" noRot="1" noChangeAspect="1" noChangeArrowheads="1" noTextEdit="1"/>
          </p:cNvSpPr>
          <p:nvPr>
            <p:ph type="sldImg"/>
          </p:nvPr>
        </p:nvSpPr>
        <p:spPr>
          <a:solidFill>
            <a:srgbClr val="FFFFFF"/>
          </a:solidFill>
        </p:spPr>
      </p:sp>
      <p:sp>
        <p:nvSpPr>
          <p:cNvPr id="287748"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2EB933D8-C853-497F-A7F4-F57877BF93CF}" type="slidenum">
              <a:rPr lang="zh-CN" altLang="en-US" smtClean="0"/>
            </a:fld>
            <a:endParaRPr lang="en-US" altLang="zh-CN" smtClean="0"/>
          </a:p>
        </p:txBody>
      </p:sp>
      <p:sp>
        <p:nvSpPr>
          <p:cNvPr id="288771" name="Rectangle 2"/>
          <p:cNvSpPr>
            <a:spLocks noGrp="1" noRot="1" noChangeAspect="1" noChangeArrowheads="1" noTextEdit="1"/>
          </p:cNvSpPr>
          <p:nvPr>
            <p:ph type="sldImg"/>
          </p:nvPr>
        </p:nvSpPr>
        <p:spPr>
          <a:solidFill>
            <a:srgbClr val="FFFFFF"/>
          </a:solidFill>
        </p:spPr>
      </p:sp>
      <p:sp>
        <p:nvSpPr>
          <p:cNvPr id="288772"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0A4783D8-C8A9-4364-B9BD-C88086339C68}" type="slidenum">
              <a:rPr lang="zh-CN" altLang="en-US" smtClean="0"/>
            </a:fld>
            <a:endParaRPr lang="en-US" altLang="zh-CN" smtClean="0"/>
          </a:p>
        </p:txBody>
      </p:sp>
      <p:sp>
        <p:nvSpPr>
          <p:cNvPr id="289795" name="Rectangle 2"/>
          <p:cNvSpPr>
            <a:spLocks noGrp="1" noRot="1" noChangeAspect="1" noChangeArrowheads="1" noTextEdit="1"/>
          </p:cNvSpPr>
          <p:nvPr>
            <p:ph type="sldImg"/>
          </p:nvPr>
        </p:nvSpPr>
        <p:spPr>
          <a:solidFill>
            <a:srgbClr val="FFFFFF"/>
          </a:solidFill>
        </p:spPr>
      </p:sp>
      <p:sp>
        <p:nvSpPr>
          <p:cNvPr id="289796"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046313BE-7465-47DF-8B28-C0796413815A}" type="slidenum">
              <a:rPr lang="zh-CN" altLang="en-US" smtClean="0"/>
            </a:fld>
            <a:endParaRPr lang="en-US" altLang="zh-CN" smtClean="0"/>
          </a:p>
        </p:txBody>
      </p:sp>
      <p:sp>
        <p:nvSpPr>
          <p:cNvPr id="290819" name="Rectangle 2"/>
          <p:cNvSpPr>
            <a:spLocks noGrp="1" noRot="1" noChangeAspect="1" noChangeArrowheads="1" noTextEdit="1"/>
          </p:cNvSpPr>
          <p:nvPr>
            <p:ph type="sldImg"/>
          </p:nvPr>
        </p:nvSpPr>
        <p:spPr>
          <a:solidFill>
            <a:srgbClr val="FFFFFF"/>
          </a:solidFill>
        </p:spPr>
      </p:sp>
      <p:sp>
        <p:nvSpPr>
          <p:cNvPr id="290820"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88848053-E430-4BA7-A3B7-8879EDB666D3}" type="slidenum">
              <a:rPr lang="zh-CN" altLang="en-US" smtClean="0"/>
            </a:fld>
            <a:endParaRPr lang="en-US" altLang="zh-CN" smtClean="0"/>
          </a:p>
        </p:txBody>
      </p:sp>
      <p:sp>
        <p:nvSpPr>
          <p:cNvPr id="291843" name="Rectangle 2"/>
          <p:cNvSpPr>
            <a:spLocks noGrp="1" noRot="1" noChangeAspect="1" noChangeArrowheads="1" noTextEdit="1"/>
          </p:cNvSpPr>
          <p:nvPr>
            <p:ph type="sldImg"/>
          </p:nvPr>
        </p:nvSpPr>
        <p:spPr>
          <a:solidFill>
            <a:srgbClr val="FFFFFF"/>
          </a:solidFill>
        </p:spPr>
      </p:sp>
      <p:sp>
        <p:nvSpPr>
          <p:cNvPr id="291844"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B8D5F674-7CC9-4B05-917C-3FC887835279}" type="slidenum">
              <a:rPr lang="zh-CN" altLang="en-US" smtClean="0"/>
            </a:fld>
            <a:endParaRPr lang="en-US" altLang="zh-CN" smtClean="0"/>
          </a:p>
        </p:txBody>
      </p:sp>
      <p:sp>
        <p:nvSpPr>
          <p:cNvPr id="292867" name="Rectangle 2"/>
          <p:cNvSpPr>
            <a:spLocks noGrp="1" noRot="1" noChangeAspect="1" noChangeArrowheads="1" noTextEdit="1"/>
          </p:cNvSpPr>
          <p:nvPr>
            <p:ph type="sldImg"/>
          </p:nvPr>
        </p:nvSpPr>
        <p:spPr>
          <a:solidFill>
            <a:srgbClr val="FFFFFF"/>
          </a:solidFill>
        </p:spPr>
      </p:sp>
      <p:sp>
        <p:nvSpPr>
          <p:cNvPr id="292868"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63093C42-ADD0-4589-977E-E80673A86D7F}" type="slidenum">
              <a:rPr lang="zh-CN" altLang="en-US" smtClean="0"/>
            </a:fld>
            <a:endParaRPr lang="en-US" altLang="zh-CN" smtClean="0"/>
          </a:p>
        </p:txBody>
      </p:sp>
      <p:sp>
        <p:nvSpPr>
          <p:cNvPr id="293891" name="Rectangle 2"/>
          <p:cNvSpPr>
            <a:spLocks noGrp="1" noRot="1" noChangeAspect="1" noChangeArrowheads="1" noTextEdit="1"/>
          </p:cNvSpPr>
          <p:nvPr>
            <p:ph type="sldImg"/>
          </p:nvPr>
        </p:nvSpPr>
        <p:spPr>
          <a:solidFill>
            <a:srgbClr val="FFFFFF"/>
          </a:solidFill>
        </p:spPr>
      </p:sp>
      <p:sp>
        <p:nvSpPr>
          <p:cNvPr id="293892"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835889BE-1AE5-4F0D-9308-0799C7FA2B6D}" type="slidenum">
              <a:rPr lang="zh-CN" altLang="en-US" smtClean="0"/>
            </a:fld>
            <a:endParaRPr lang="en-US" altLang="zh-CN" smtClean="0"/>
          </a:p>
        </p:txBody>
      </p:sp>
      <p:sp>
        <p:nvSpPr>
          <p:cNvPr id="294915" name="Rectangle 2"/>
          <p:cNvSpPr>
            <a:spLocks noGrp="1" noRot="1" noChangeAspect="1" noChangeArrowheads="1" noTextEdit="1"/>
          </p:cNvSpPr>
          <p:nvPr>
            <p:ph type="sldImg"/>
          </p:nvPr>
        </p:nvSpPr>
        <p:spPr>
          <a:solidFill>
            <a:srgbClr val="FFFFFF"/>
          </a:solidFill>
        </p:spPr>
      </p:sp>
      <p:sp>
        <p:nvSpPr>
          <p:cNvPr id="294916"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D5C59599-0EA9-4BF5-9EAD-EB21CCCFCA2A}" type="slidenum">
              <a:rPr lang="zh-CN" altLang="en-US" smtClean="0"/>
            </a:fld>
            <a:endParaRPr lang="en-US" altLang="zh-CN" smtClean="0"/>
          </a:p>
        </p:txBody>
      </p:sp>
      <p:sp>
        <p:nvSpPr>
          <p:cNvPr id="295939" name="Rectangle 2"/>
          <p:cNvSpPr>
            <a:spLocks noGrp="1" noRot="1" noChangeAspect="1" noChangeArrowheads="1" noTextEdit="1"/>
          </p:cNvSpPr>
          <p:nvPr>
            <p:ph type="sldImg"/>
          </p:nvPr>
        </p:nvSpPr>
        <p:spPr>
          <a:solidFill>
            <a:srgbClr val="FFFFFF"/>
          </a:solidFill>
        </p:spPr>
      </p:sp>
      <p:sp>
        <p:nvSpPr>
          <p:cNvPr id="295940"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F56640F2-DC1C-4366-B666-709324F9675E}" type="slidenum">
              <a:rPr lang="zh-CN" altLang="en-US" smtClean="0"/>
            </a:fld>
            <a:endParaRPr lang="en-US" altLang="zh-CN" smtClean="0"/>
          </a:p>
        </p:txBody>
      </p:sp>
      <p:sp>
        <p:nvSpPr>
          <p:cNvPr id="296963" name="Rectangle 2"/>
          <p:cNvSpPr>
            <a:spLocks noGrp="1" noRot="1" noChangeAspect="1" noChangeArrowheads="1" noTextEdit="1"/>
          </p:cNvSpPr>
          <p:nvPr>
            <p:ph type="sldImg"/>
          </p:nvPr>
        </p:nvSpPr>
        <p:spPr>
          <a:solidFill>
            <a:srgbClr val="FFFFFF"/>
          </a:solidFill>
        </p:spPr>
      </p:sp>
      <p:sp>
        <p:nvSpPr>
          <p:cNvPr id="296964"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0309D5E3-234C-42E3-98E9-2E5B03A1008B}" type="slidenum">
              <a:rPr lang="zh-CN" altLang="en-US" smtClean="0"/>
            </a:fld>
            <a:endParaRPr lang="en-US" altLang="zh-CN" smtClean="0"/>
          </a:p>
        </p:txBody>
      </p:sp>
      <p:sp>
        <p:nvSpPr>
          <p:cNvPr id="297987" name="Rectangle 2"/>
          <p:cNvSpPr>
            <a:spLocks noGrp="1" noRot="1" noChangeAspect="1" noChangeArrowheads="1" noTextEdit="1"/>
          </p:cNvSpPr>
          <p:nvPr>
            <p:ph type="sldImg"/>
          </p:nvPr>
        </p:nvSpPr>
        <p:spPr>
          <a:solidFill>
            <a:srgbClr val="FFFFFF"/>
          </a:solidFill>
        </p:spPr>
      </p:sp>
      <p:sp>
        <p:nvSpPr>
          <p:cNvPr id="297988"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227B0AF1-1DD4-4868-89FD-743FFBA147BD}" type="slidenum">
              <a:rPr lang="zh-CN" altLang="en-US" smtClean="0"/>
            </a:fld>
            <a:endParaRPr lang="en-US" altLang="zh-CN" smtClean="0"/>
          </a:p>
        </p:txBody>
      </p:sp>
      <p:sp>
        <p:nvSpPr>
          <p:cNvPr id="299011" name="Rectangle 2"/>
          <p:cNvSpPr>
            <a:spLocks noGrp="1" noRot="1" noChangeAspect="1" noChangeArrowheads="1" noTextEdit="1"/>
          </p:cNvSpPr>
          <p:nvPr>
            <p:ph type="sldImg"/>
          </p:nvPr>
        </p:nvSpPr>
        <p:spPr>
          <a:solidFill>
            <a:srgbClr val="FFFFFF"/>
          </a:solidFill>
        </p:spPr>
      </p:sp>
      <p:sp>
        <p:nvSpPr>
          <p:cNvPr id="299012"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B40139D7-4B35-4F7A-8458-6D8FB235B148}" type="slidenum">
              <a:rPr lang="zh-CN" altLang="en-US" smtClean="0"/>
            </a:fld>
            <a:endParaRPr lang="en-US" altLang="zh-CN" smtClean="0"/>
          </a:p>
        </p:txBody>
      </p:sp>
      <p:sp>
        <p:nvSpPr>
          <p:cNvPr id="300035" name="Rectangle 2"/>
          <p:cNvSpPr>
            <a:spLocks noGrp="1" noRot="1" noChangeAspect="1" noChangeArrowheads="1" noTextEdit="1"/>
          </p:cNvSpPr>
          <p:nvPr>
            <p:ph type="sldImg"/>
          </p:nvPr>
        </p:nvSpPr>
        <p:spPr>
          <a:solidFill>
            <a:srgbClr val="FFFFFF"/>
          </a:solidFill>
        </p:spPr>
      </p:sp>
      <p:sp>
        <p:nvSpPr>
          <p:cNvPr id="300036"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716D388B-273E-40DE-AF9D-BE1224B912EC}" type="slidenum">
              <a:rPr lang="zh-CN" altLang="en-US" smtClean="0"/>
            </a:fld>
            <a:endParaRPr lang="en-US" altLang="zh-CN" smtClean="0"/>
          </a:p>
        </p:txBody>
      </p:sp>
      <p:sp>
        <p:nvSpPr>
          <p:cNvPr id="301059" name="Rectangle 2"/>
          <p:cNvSpPr>
            <a:spLocks noGrp="1" noRot="1" noChangeAspect="1" noChangeArrowheads="1" noTextEdit="1"/>
          </p:cNvSpPr>
          <p:nvPr>
            <p:ph type="sldImg"/>
          </p:nvPr>
        </p:nvSpPr>
        <p:spPr>
          <a:solidFill>
            <a:srgbClr val="FFFFFF"/>
          </a:solidFill>
        </p:spPr>
      </p:sp>
      <p:sp>
        <p:nvSpPr>
          <p:cNvPr id="301060"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DE22A4F1-B2EF-4DFE-BE69-6F9434E77A01}" type="slidenum">
              <a:rPr lang="zh-CN" altLang="en-US" smtClean="0"/>
            </a:fld>
            <a:endParaRPr lang="en-US" altLang="zh-CN"/>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2C2D3C97-BF98-4F34-8B84-207B9C3A5393}" type="slidenum">
              <a:rPr lang="zh-CN" altLang="en-US" smtClean="0"/>
            </a:fld>
            <a:endParaRPr lang="en-US" altLang="zh-CN" smtClean="0"/>
          </a:p>
        </p:txBody>
      </p:sp>
      <p:sp>
        <p:nvSpPr>
          <p:cNvPr id="302083" name="Rectangle 2"/>
          <p:cNvSpPr>
            <a:spLocks noGrp="1" noRot="1" noChangeAspect="1" noChangeArrowheads="1" noTextEdit="1"/>
          </p:cNvSpPr>
          <p:nvPr>
            <p:ph type="sldImg"/>
          </p:nvPr>
        </p:nvSpPr>
        <p:spPr>
          <a:solidFill>
            <a:srgbClr val="FFFFFF"/>
          </a:solidFill>
        </p:spPr>
      </p:sp>
      <p:sp>
        <p:nvSpPr>
          <p:cNvPr id="302084"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2AFC0DBA-D3F5-46EB-A475-9C5604570918}" type="slidenum">
              <a:rPr lang="zh-CN" altLang="en-US" smtClean="0"/>
            </a:fld>
            <a:endParaRPr lang="en-US" altLang="zh-CN" smtClean="0"/>
          </a:p>
        </p:txBody>
      </p:sp>
      <p:sp>
        <p:nvSpPr>
          <p:cNvPr id="303107" name="Rectangle 2"/>
          <p:cNvSpPr>
            <a:spLocks noGrp="1" noRot="1" noChangeAspect="1" noChangeArrowheads="1" noTextEdit="1"/>
          </p:cNvSpPr>
          <p:nvPr>
            <p:ph type="sldImg"/>
          </p:nvPr>
        </p:nvSpPr>
        <p:spPr>
          <a:solidFill>
            <a:srgbClr val="FFFFFF"/>
          </a:solidFill>
        </p:spPr>
      </p:sp>
      <p:sp>
        <p:nvSpPr>
          <p:cNvPr id="303108"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F5DCB5FE-80C4-4419-8506-D037920B04BA}" type="slidenum">
              <a:rPr lang="zh-CN" altLang="en-US" smtClean="0"/>
            </a:fld>
            <a:endParaRPr lang="en-US" altLang="zh-CN" smtClean="0"/>
          </a:p>
        </p:txBody>
      </p:sp>
      <p:sp>
        <p:nvSpPr>
          <p:cNvPr id="304131" name="Rectangle 2"/>
          <p:cNvSpPr>
            <a:spLocks noGrp="1" noRot="1" noChangeAspect="1" noChangeArrowheads="1" noTextEdit="1"/>
          </p:cNvSpPr>
          <p:nvPr>
            <p:ph type="sldImg"/>
          </p:nvPr>
        </p:nvSpPr>
        <p:spPr>
          <a:solidFill>
            <a:srgbClr val="FFFFFF"/>
          </a:solidFill>
        </p:spPr>
      </p:sp>
      <p:sp>
        <p:nvSpPr>
          <p:cNvPr id="304132"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8F1BC536-9FA2-4B32-8436-7D769090A7DA}" type="slidenum">
              <a:rPr lang="zh-CN" altLang="en-US" smtClean="0"/>
            </a:fld>
            <a:endParaRPr lang="en-US" altLang="zh-CN" smtClean="0"/>
          </a:p>
        </p:txBody>
      </p:sp>
      <p:sp>
        <p:nvSpPr>
          <p:cNvPr id="305155" name="Rectangle 2"/>
          <p:cNvSpPr>
            <a:spLocks noGrp="1" noRot="1" noChangeAspect="1" noChangeArrowheads="1" noTextEdit="1"/>
          </p:cNvSpPr>
          <p:nvPr>
            <p:ph type="sldImg"/>
          </p:nvPr>
        </p:nvSpPr>
        <p:spPr>
          <a:solidFill>
            <a:srgbClr val="FFFFFF"/>
          </a:solidFill>
        </p:spPr>
      </p:sp>
      <p:sp>
        <p:nvSpPr>
          <p:cNvPr id="305156"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28032FBD-E173-421E-A2AA-3E3255F844A7}" type="slidenum">
              <a:rPr lang="zh-CN" altLang="en-US" smtClean="0"/>
            </a:fld>
            <a:endParaRPr lang="en-US" altLang="zh-CN" smtClean="0"/>
          </a:p>
        </p:txBody>
      </p:sp>
      <p:sp>
        <p:nvSpPr>
          <p:cNvPr id="306179" name="Rectangle 2"/>
          <p:cNvSpPr>
            <a:spLocks noGrp="1" noRot="1" noChangeAspect="1" noChangeArrowheads="1" noTextEdit="1"/>
          </p:cNvSpPr>
          <p:nvPr>
            <p:ph type="sldImg"/>
          </p:nvPr>
        </p:nvSpPr>
        <p:spPr>
          <a:solidFill>
            <a:srgbClr val="FFFFFF"/>
          </a:solidFill>
        </p:spPr>
      </p:sp>
      <p:sp>
        <p:nvSpPr>
          <p:cNvPr id="306180"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58F877EA-5E90-4A1A-A96F-4BF0D8193605}" type="slidenum">
              <a:rPr lang="zh-CN" altLang="en-US" smtClean="0"/>
            </a:fld>
            <a:endParaRPr lang="en-US" altLang="zh-CN" smtClean="0"/>
          </a:p>
        </p:txBody>
      </p:sp>
      <p:sp>
        <p:nvSpPr>
          <p:cNvPr id="307203" name="Rectangle 2"/>
          <p:cNvSpPr>
            <a:spLocks noGrp="1" noRot="1" noChangeAspect="1" noChangeArrowheads="1" noTextEdit="1"/>
          </p:cNvSpPr>
          <p:nvPr>
            <p:ph type="sldImg"/>
          </p:nvPr>
        </p:nvSpPr>
        <p:spPr>
          <a:solidFill>
            <a:srgbClr val="FFFFFF"/>
          </a:solidFill>
        </p:spPr>
      </p:sp>
      <p:sp>
        <p:nvSpPr>
          <p:cNvPr id="307204"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FAE50E93-6EC6-42B0-8915-971D208F5EC4}" type="slidenum">
              <a:rPr lang="zh-CN" altLang="en-US" smtClean="0"/>
            </a:fld>
            <a:endParaRPr lang="en-US" altLang="zh-CN" smtClean="0"/>
          </a:p>
        </p:txBody>
      </p:sp>
      <p:sp>
        <p:nvSpPr>
          <p:cNvPr id="308227" name="Rectangle 2"/>
          <p:cNvSpPr>
            <a:spLocks noGrp="1" noRot="1" noChangeAspect="1" noChangeArrowheads="1" noTextEdit="1"/>
          </p:cNvSpPr>
          <p:nvPr>
            <p:ph type="sldImg"/>
          </p:nvPr>
        </p:nvSpPr>
        <p:spPr>
          <a:solidFill>
            <a:srgbClr val="FFFFFF"/>
          </a:solidFill>
        </p:spPr>
      </p:sp>
      <p:sp>
        <p:nvSpPr>
          <p:cNvPr id="308228"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B41FF5AA-E880-4CC9-9BC3-1F45D93F465A}" type="slidenum">
              <a:rPr lang="zh-CN" altLang="en-US" smtClean="0"/>
            </a:fld>
            <a:endParaRPr lang="en-US" altLang="zh-CN" smtClean="0"/>
          </a:p>
        </p:txBody>
      </p:sp>
      <p:sp>
        <p:nvSpPr>
          <p:cNvPr id="309251" name="Rectangle 2"/>
          <p:cNvSpPr>
            <a:spLocks noGrp="1" noRot="1" noChangeAspect="1" noChangeArrowheads="1" noTextEdit="1"/>
          </p:cNvSpPr>
          <p:nvPr>
            <p:ph type="sldImg"/>
          </p:nvPr>
        </p:nvSpPr>
        <p:spPr>
          <a:solidFill>
            <a:srgbClr val="FFFFFF"/>
          </a:solidFill>
        </p:spPr>
      </p:sp>
      <p:sp>
        <p:nvSpPr>
          <p:cNvPr id="309252"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8BF9A00C-168A-4097-AF16-D478034E64DD}" type="slidenum">
              <a:rPr lang="zh-CN" altLang="en-US" smtClean="0"/>
            </a:fld>
            <a:endParaRPr lang="en-US" altLang="zh-CN" smtClean="0"/>
          </a:p>
        </p:txBody>
      </p:sp>
      <p:sp>
        <p:nvSpPr>
          <p:cNvPr id="310275" name="Rectangle 2"/>
          <p:cNvSpPr>
            <a:spLocks noGrp="1" noRot="1" noChangeAspect="1" noChangeArrowheads="1" noTextEdit="1"/>
          </p:cNvSpPr>
          <p:nvPr>
            <p:ph type="sldImg"/>
          </p:nvPr>
        </p:nvSpPr>
        <p:spPr>
          <a:solidFill>
            <a:srgbClr val="FFFFFF"/>
          </a:solidFill>
        </p:spPr>
      </p:sp>
      <p:sp>
        <p:nvSpPr>
          <p:cNvPr id="310276"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27D7561D-87B5-4F03-8826-58C71A617A27}" type="slidenum">
              <a:rPr lang="zh-CN" altLang="en-US" smtClean="0"/>
            </a:fld>
            <a:endParaRPr lang="en-US" altLang="zh-CN" smtClean="0"/>
          </a:p>
        </p:txBody>
      </p:sp>
      <p:sp>
        <p:nvSpPr>
          <p:cNvPr id="311299" name="Rectangle 2"/>
          <p:cNvSpPr>
            <a:spLocks noGrp="1" noRot="1" noChangeAspect="1" noChangeArrowheads="1" noTextEdit="1"/>
          </p:cNvSpPr>
          <p:nvPr>
            <p:ph type="sldImg"/>
          </p:nvPr>
        </p:nvSpPr>
        <p:spPr>
          <a:solidFill>
            <a:srgbClr val="FFFFFF"/>
          </a:solidFill>
        </p:spPr>
      </p:sp>
      <p:sp>
        <p:nvSpPr>
          <p:cNvPr id="311300" name="Rectangle 3"/>
          <p:cNvSpPr>
            <a:spLocks noGrp="1" noChangeArrowheads="1"/>
          </p:cNvSpPr>
          <p:nvPr>
            <p:ph type="body" idx="1"/>
          </p:nvPr>
        </p:nvSpPr>
        <p:spPr>
          <a:solidFill>
            <a:srgbClr val="FFFFFF"/>
          </a:solidFill>
          <a:ln>
            <a:solidFill>
              <a:srgbClr val="000000"/>
            </a:solidFill>
            <a:miter lim="800000"/>
          </a:ln>
        </p:spPr>
        <p:txBody>
          <a:bodyPr/>
          <a:lstStyle/>
          <a:p>
            <a:pPr eaLnBrk="1" hangingPunct="1"/>
            <a:endParaRPr lang="zh-CN" altLang="en-US" smtClean="0"/>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dirty="0" smtClean="0"/>
              <a:t>单击此处编辑母版文本样式</a:t>
            </a:r>
            <a:endParaRPr lang="zh-CN" altLang="en-US" dirty="0" smtClean="0"/>
          </a:p>
          <a:p>
            <a:pPr lvl="1"/>
            <a:r>
              <a:rPr lang="zh-CN" altLang="en-US" dirty="0" smtClean="0"/>
              <a:t>第二级</a:t>
            </a:r>
            <a:endParaRPr lang="zh-CN" altLang="en-US" dirty="0" smtClean="0"/>
          </a:p>
          <a:p>
            <a:pPr lvl="2"/>
            <a:r>
              <a:rPr lang="zh-CN" altLang="en-US" dirty="0" smtClean="0"/>
              <a:t>第三级</a:t>
            </a:r>
            <a:endParaRPr lang="zh-CN" altLang="en-US" dirty="0" smtClean="0"/>
          </a:p>
          <a:p>
            <a:pPr lvl="3"/>
            <a:r>
              <a:rPr lang="zh-CN" altLang="en-US" dirty="0" smtClean="0"/>
              <a:t>第四级</a:t>
            </a:r>
            <a:endParaRPr lang="zh-CN" altLang="en-US" dirty="0" smtClean="0"/>
          </a:p>
          <a:p>
            <a:pPr lvl="4"/>
            <a:r>
              <a:rPr lang="zh-CN" altLang="en-US" dirty="0" smtClean="0"/>
              <a:t>第五级</a:t>
            </a:r>
            <a:endParaRPr lang="zh-CN" altLang="en-US" dirty="0"/>
          </a:p>
        </p:txBody>
      </p:sp>
    </p:spTree>
  </p:cSld>
  <p:clrMapOvr>
    <a:masterClrMapping/>
  </p:clrMapOvr>
  <p:transition spd="slow">
    <p:random/>
    <p:sndAc>
      <p:stSnd>
        <p:snd r:embed="rId2" name="projctor.wav"/>
      </p:stSnd>
    </p:sndAc>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09625" y="1989138"/>
            <a:ext cx="3902075" cy="441166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内容占位符 3"/>
          <p:cNvSpPr>
            <a:spLocks noGrp="1"/>
          </p:cNvSpPr>
          <p:nvPr>
            <p:ph sz="half" idx="2"/>
          </p:nvPr>
        </p:nvSpPr>
        <p:spPr>
          <a:xfrm>
            <a:off x="4864100" y="1989138"/>
            <a:ext cx="3903663" cy="441166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spd="slow">
    <p:random/>
    <p:sndAc>
      <p:stSnd>
        <p:snd r:embed="rId2" name="projctor.wav"/>
      </p:stSnd>
    </p:sndAc>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transition spd="slow">
    <p:random/>
    <p:sndAc>
      <p:stSnd>
        <p:snd r:embed="rId2" name="projctor.wav"/>
      </p:stSnd>
    </p:sndAc>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bl" preserve="1">
  <p:cSld name="标题和表格">
    <p:spTree>
      <p:nvGrpSpPr>
        <p:cNvPr id="1" name=""/>
        <p:cNvGrpSpPr/>
        <p:nvPr/>
      </p:nvGrpSpPr>
      <p:grpSpPr>
        <a:xfrm>
          <a:off x="0" y="0"/>
          <a:ext cx="0" cy="0"/>
          <a:chOff x="0" y="0"/>
          <a:chExt cx="0" cy="0"/>
        </a:xfrm>
      </p:grpSpPr>
      <p:sp>
        <p:nvSpPr>
          <p:cNvPr id="2" name="标题 1"/>
          <p:cNvSpPr>
            <a:spLocks noGrp="1"/>
          </p:cNvSpPr>
          <p:nvPr>
            <p:ph type="title"/>
          </p:nvPr>
        </p:nvSpPr>
        <p:spPr>
          <a:xfrm>
            <a:off x="1331913" y="476250"/>
            <a:ext cx="5867400" cy="1143000"/>
          </a:xfrm>
        </p:spPr>
        <p:txBody>
          <a:bodyPr/>
          <a:lstStyle/>
          <a:p>
            <a:r>
              <a:rPr lang="zh-CN" altLang="en-US" smtClean="0"/>
              <a:t>单击此处编辑母版标题样式</a:t>
            </a:r>
            <a:endParaRPr lang="zh-CN" altLang="en-US"/>
          </a:p>
        </p:txBody>
      </p:sp>
      <p:sp>
        <p:nvSpPr>
          <p:cNvPr id="3" name="表格占位符 2"/>
          <p:cNvSpPr>
            <a:spLocks noGrp="1"/>
          </p:cNvSpPr>
          <p:nvPr>
            <p:ph type="tbl" idx="1"/>
          </p:nvPr>
        </p:nvSpPr>
        <p:spPr>
          <a:xfrm>
            <a:off x="809625" y="1989138"/>
            <a:ext cx="7958138" cy="4411662"/>
          </a:xfrm>
        </p:spPr>
        <p:txBody>
          <a:bodyPr/>
          <a:lstStyle/>
          <a:p>
            <a:pPr lvl="0"/>
            <a:endParaRPr lang="zh-CN" altLang="en-US" noProof="0" smtClean="0"/>
          </a:p>
        </p:txBody>
      </p:sp>
    </p:spTree>
  </p:cSld>
  <p:clrMapOvr>
    <a:masterClrMapping/>
  </p:clrMapOvr>
  <p:transition spd="slow">
    <p:random/>
    <p:sndAc>
      <p:stSnd>
        <p:snd r:embed="rId2" name="projctor.wav"/>
      </p:stSnd>
    </p:sndAc>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objOnly">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685800" y="247650"/>
            <a:ext cx="8305800" cy="5924550"/>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3" name="Rectangle 1029"/>
          <p:cNvSpPr>
            <a:spLocks noGrp="1" noChangeArrowheads="1"/>
          </p:cNvSpPr>
          <p:nvPr>
            <p:ph type="dt" sz="half" idx="10"/>
          </p:nvPr>
        </p:nvSpPr>
        <p:spPr>
          <a:xfrm>
            <a:off x="685800" y="6248400"/>
            <a:ext cx="1905000" cy="457200"/>
          </a:xfrm>
          <a:prstGeom prst="rect">
            <a:avLst/>
          </a:prstGeom>
        </p:spPr>
        <p:txBody>
          <a:bodyPr/>
          <a:lstStyle>
            <a:lvl1pPr>
              <a:defRPr/>
            </a:lvl1pPr>
          </a:lstStyle>
          <a:p>
            <a:pPr>
              <a:defRPr/>
            </a:pPr>
            <a:endParaRPr lang="en-US" altLang="zh-CN"/>
          </a:p>
        </p:txBody>
      </p:sp>
      <p:sp>
        <p:nvSpPr>
          <p:cNvPr id="4" name="Rectangle 1030"/>
          <p:cNvSpPr>
            <a:spLocks noGrp="1" noChangeArrowheads="1"/>
          </p:cNvSpPr>
          <p:nvPr>
            <p:ph type="ftr" sz="quarter" idx="11"/>
          </p:nvPr>
        </p:nvSpPr>
        <p:spPr>
          <a:xfrm>
            <a:off x="3124200" y="6248400"/>
            <a:ext cx="2895600" cy="457200"/>
          </a:xfrm>
          <a:prstGeom prst="rect">
            <a:avLst/>
          </a:prstGeom>
        </p:spPr>
        <p:txBody>
          <a:bodyPr/>
          <a:lstStyle>
            <a:lvl1pPr>
              <a:defRPr/>
            </a:lvl1pPr>
          </a:lstStyle>
          <a:p>
            <a:pPr>
              <a:defRPr/>
            </a:pPr>
            <a:endParaRPr lang="en-US" altLang="zh-CN"/>
          </a:p>
        </p:txBody>
      </p:sp>
      <p:sp>
        <p:nvSpPr>
          <p:cNvPr id="5" name="Rectangle 1031"/>
          <p:cNvSpPr>
            <a:spLocks noGrp="1" noChangeArrowheads="1"/>
          </p:cNvSpPr>
          <p:nvPr>
            <p:ph type="sldNum" sz="quarter" idx="12"/>
          </p:nvPr>
        </p:nvSpPr>
        <p:spPr>
          <a:xfrm>
            <a:off x="6553200" y="6248400"/>
            <a:ext cx="1905000" cy="457200"/>
          </a:xfrm>
          <a:prstGeom prst="rect">
            <a:avLst/>
          </a:prstGeom>
        </p:spPr>
        <p:txBody>
          <a:bodyPr/>
          <a:lstStyle>
            <a:lvl1pPr>
              <a:defRPr/>
            </a:lvl1pPr>
          </a:lstStyle>
          <a:p>
            <a:fld id="{9255C5E2-FB50-48AE-BDFD-556254518C3C}" type="slidenum">
              <a:rPr lang="en-US" altLang="zh-CN"/>
            </a:fld>
            <a:endParaRPr lang="en-US" altLang="zh-CN"/>
          </a:p>
        </p:txBody>
      </p:sp>
    </p:spTree>
  </p:cSld>
  <p:clrMapOvr>
    <a:masterClrMapping/>
  </p:clrMapOvr>
  <p:transition>
    <p:pull dir="rd"/>
  </p:transition>
</p:sldLayout>
</file>

<file path=ppt/slideMasters/_rels/slideMaster1.xml.rels><?xml version="1.0" encoding="UTF-8" standalone="yes"?>
<Relationships xmlns="http://schemas.openxmlformats.org/package/2006/relationships"><Relationship Id="rId9" Type="http://schemas.openxmlformats.org/officeDocument/2006/relationships/theme" Target="../theme/theme1.xml"/><Relationship Id="rId8" Type="http://schemas.openxmlformats.org/officeDocument/2006/relationships/audio" Target="../media/audio1.wav"/><Relationship Id="rId7" Type="http://schemas.openxmlformats.org/officeDocument/2006/relationships/image" Target="../media/image2.jpeg"/><Relationship Id="rId6" Type="http://schemas.openxmlformats.org/officeDocument/2006/relationships/image" Target="../media/image1.jpeg"/><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123" descr="图片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27" name="Group 3"/>
          <p:cNvGrpSpPr/>
          <p:nvPr/>
        </p:nvGrpSpPr>
        <p:grpSpPr bwMode="auto">
          <a:xfrm>
            <a:off x="0" y="68263"/>
            <a:ext cx="647700" cy="6713537"/>
            <a:chOff x="0" y="43"/>
            <a:chExt cx="5760" cy="4229"/>
          </a:xfrm>
        </p:grpSpPr>
        <p:sp>
          <p:nvSpPr>
            <p:cNvPr id="1038" name="Line 4"/>
            <p:cNvSpPr>
              <a:spLocks noChangeShapeType="1"/>
            </p:cNvSpPr>
            <p:nvPr userDrawn="1"/>
          </p:nvSpPr>
          <p:spPr bwMode="auto">
            <a:xfrm>
              <a:off x="0" y="4203"/>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39" name="Line 5"/>
            <p:cNvSpPr>
              <a:spLocks noChangeShapeType="1"/>
            </p:cNvSpPr>
            <p:nvPr userDrawn="1"/>
          </p:nvSpPr>
          <p:spPr bwMode="auto">
            <a:xfrm>
              <a:off x="0" y="4239"/>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0" name="Line 6"/>
            <p:cNvSpPr>
              <a:spLocks noChangeShapeType="1"/>
            </p:cNvSpPr>
            <p:nvPr userDrawn="1"/>
          </p:nvSpPr>
          <p:spPr bwMode="auto">
            <a:xfrm>
              <a:off x="0" y="4272"/>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1" name="Line 7"/>
            <p:cNvSpPr>
              <a:spLocks noChangeShapeType="1"/>
            </p:cNvSpPr>
            <p:nvPr userDrawn="1"/>
          </p:nvSpPr>
          <p:spPr bwMode="auto">
            <a:xfrm>
              <a:off x="0" y="4113"/>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2" name="Line 8"/>
            <p:cNvSpPr>
              <a:spLocks noChangeShapeType="1"/>
            </p:cNvSpPr>
            <p:nvPr userDrawn="1"/>
          </p:nvSpPr>
          <p:spPr bwMode="auto">
            <a:xfrm>
              <a:off x="0" y="4065"/>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3" name="Line 9"/>
            <p:cNvSpPr>
              <a:spLocks noChangeShapeType="1"/>
            </p:cNvSpPr>
            <p:nvPr userDrawn="1"/>
          </p:nvSpPr>
          <p:spPr bwMode="auto">
            <a:xfrm>
              <a:off x="0" y="4158"/>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4" name="Line 10"/>
            <p:cNvSpPr>
              <a:spLocks noChangeShapeType="1"/>
            </p:cNvSpPr>
            <p:nvPr userDrawn="1"/>
          </p:nvSpPr>
          <p:spPr bwMode="auto">
            <a:xfrm>
              <a:off x="0" y="3666"/>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5" name="Line 11"/>
            <p:cNvSpPr>
              <a:spLocks noChangeShapeType="1"/>
            </p:cNvSpPr>
            <p:nvPr userDrawn="1"/>
          </p:nvSpPr>
          <p:spPr bwMode="auto">
            <a:xfrm>
              <a:off x="0" y="3639"/>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6" name="Line 12"/>
            <p:cNvSpPr>
              <a:spLocks noChangeShapeType="1"/>
            </p:cNvSpPr>
            <p:nvPr userDrawn="1"/>
          </p:nvSpPr>
          <p:spPr bwMode="auto">
            <a:xfrm>
              <a:off x="0" y="4020"/>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7" name="Line 13"/>
            <p:cNvSpPr>
              <a:spLocks noChangeShapeType="1"/>
            </p:cNvSpPr>
            <p:nvPr userDrawn="1"/>
          </p:nvSpPr>
          <p:spPr bwMode="auto">
            <a:xfrm>
              <a:off x="0" y="3894"/>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8" name="Line 14"/>
            <p:cNvSpPr>
              <a:spLocks noChangeShapeType="1"/>
            </p:cNvSpPr>
            <p:nvPr userDrawn="1"/>
          </p:nvSpPr>
          <p:spPr bwMode="auto">
            <a:xfrm>
              <a:off x="0" y="3813"/>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9" name="Line 15"/>
            <p:cNvSpPr>
              <a:spLocks noChangeShapeType="1"/>
            </p:cNvSpPr>
            <p:nvPr userDrawn="1"/>
          </p:nvSpPr>
          <p:spPr bwMode="auto">
            <a:xfrm>
              <a:off x="0" y="3999"/>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0" name="Line 16"/>
            <p:cNvSpPr>
              <a:spLocks noChangeShapeType="1"/>
            </p:cNvSpPr>
            <p:nvPr userDrawn="1"/>
          </p:nvSpPr>
          <p:spPr bwMode="auto">
            <a:xfrm>
              <a:off x="0" y="3687"/>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1" name="Line 17"/>
            <p:cNvSpPr>
              <a:spLocks noChangeShapeType="1"/>
            </p:cNvSpPr>
            <p:nvPr userDrawn="1"/>
          </p:nvSpPr>
          <p:spPr bwMode="auto">
            <a:xfrm>
              <a:off x="0" y="3741"/>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2" name="Line 18"/>
            <p:cNvSpPr>
              <a:spLocks noChangeShapeType="1"/>
            </p:cNvSpPr>
            <p:nvPr userDrawn="1"/>
          </p:nvSpPr>
          <p:spPr bwMode="auto">
            <a:xfrm>
              <a:off x="0" y="3939"/>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3" name="Line 19"/>
            <p:cNvSpPr>
              <a:spLocks noChangeShapeType="1"/>
            </p:cNvSpPr>
            <p:nvPr userDrawn="1"/>
          </p:nvSpPr>
          <p:spPr bwMode="auto">
            <a:xfrm>
              <a:off x="0" y="3918"/>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4" name="Line 20"/>
            <p:cNvSpPr>
              <a:spLocks noChangeShapeType="1"/>
            </p:cNvSpPr>
            <p:nvPr userDrawn="1"/>
          </p:nvSpPr>
          <p:spPr bwMode="auto">
            <a:xfrm>
              <a:off x="0" y="3510"/>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5" name="Line 21"/>
            <p:cNvSpPr>
              <a:spLocks noChangeShapeType="1"/>
            </p:cNvSpPr>
            <p:nvPr userDrawn="1"/>
          </p:nvSpPr>
          <p:spPr bwMode="auto">
            <a:xfrm>
              <a:off x="0" y="3546"/>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6" name="Line 22"/>
            <p:cNvSpPr>
              <a:spLocks noChangeShapeType="1"/>
            </p:cNvSpPr>
            <p:nvPr userDrawn="1"/>
          </p:nvSpPr>
          <p:spPr bwMode="auto">
            <a:xfrm>
              <a:off x="0" y="3579"/>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7" name="Line 23"/>
            <p:cNvSpPr>
              <a:spLocks noChangeShapeType="1"/>
            </p:cNvSpPr>
            <p:nvPr userDrawn="1"/>
          </p:nvSpPr>
          <p:spPr bwMode="auto">
            <a:xfrm>
              <a:off x="0" y="3420"/>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8" name="Line 24"/>
            <p:cNvSpPr>
              <a:spLocks noChangeShapeType="1"/>
            </p:cNvSpPr>
            <p:nvPr userDrawn="1"/>
          </p:nvSpPr>
          <p:spPr bwMode="auto">
            <a:xfrm>
              <a:off x="0" y="3372"/>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9" name="Line 25"/>
            <p:cNvSpPr>
              <a:spLocks noChangeShapeType="1"/>
            </p:cNvSpPr>
            <p:nvPr userDrawn="1"/>
          </p:nvSpPr>
          <p:spPr bwMode="auto">
            <a:xfrm>
              <a:off x="0" y="3465"/>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0" name="Line 26"/>
            <p:cNvSpPr>
              <a:spLocks noChangeShapeType="1"/>
            </p:cNvSpPr>
            <p:nvPr userDrawn="1"/>
          </p:nvSpPr>
          <p:spPr bwMode="auto">
            <a:xfrm>
              <a:off x="0" y="2973"/>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1" name="Line 27"/>
            <p:cNvSpPr>
              <a:spLocks noChangeShapeType="1"/>
            </p:cNvSpPr>
            <p:nvPr userDrawn="1"/>
          </p:nvSpPr>
          <p:spPr bwMode="auto">
            <a:xfrm>
              <a:off x="0" y="2946"/>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2" name="Line 28"/>
            <p:cNvSpPr>
              <a:spLocks noChangeShapeType="1"/>
            </p:cNvSpPr>
            <p:nvPr userDrawn="1"/>
          </p:nvSpPr>
          <p:spPr bwMode="auto">
            <a:xfrm>
              <a:off x="0" y="3327"/>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3" name="Line 29"/>
            <p:cNvSpPr>
              <a:spLocks noChangeShapeType="1"/>
            </p:cNvSpPr>
            <p:nvPr userDrawn="1"/>
          </p:nvSpPr>
          <p:spPr bwMode="auto">
            <a:xfrm>
              <a:off x="0" y="3201"/>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4" name="Line 30"/>
            <p:cNvSpPr>
              <a:spLocks noChangeShapeType="1"/>
            </p:cNvSpPr>
            <p:nvPr userDrawn="1"/>
          </p:nvSpPr>
          <p:spPr bwMode="auto">
            <a:xfrm>
              <a:off x="0" y="3120"/>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5" name="Line 31"/>
            <p:cNvSpPr>
              <a:spLocks noChangeShapeType="1"/>
            </p:cNvSpPr>
            <p:nvPr userDrawn="1"/>
          </p:nvSpPr>
          <p:spPr bwMode="auto">
            <a:xfrm>
              <a:off x="0" y="3306"/>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6" name="Line 32"/>
            <p:cNvSpPr>
              <a:spLocks noChangeShapeType="1"/>
            </p:cNvSpPr>
            <p:nvPr userDrawn="1"/>
          </p:nvSpPr>
          <p:spPr bwMode="auto">
            <a:xfrm>
              <a:off x="0" y="2994"/>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7" name="Line 33"/>
            <p:cNvSpPr>
              <a:spLocks noChangeShapeType="1"/>
            </p:cNvSpPr>
            <p:nvPr userDrawn="1"/>
          </p:nvSpPr>
          <p:spPr bwMode="auto">
            <a:xfrm>
              <a:off x="0" y="3048"/>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8" name="Line 34"/>
            <p:cNvSpPr>
              <a:spLocks noChangeShapeType="1"/>
            </p:cNvSpPr>
            <p:nvPr userDrawn="1"/>
          </p:nvSpPr>
          <p:spPr bwMode="auto">
            <a:xfrm>
              <a:off x="0" y="3246"/>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9" name="Line 35"/>
            <p:cNvSpPr>
              <a:spLocks noChangeShapeType="1"/>
            </p:cNvSpPr>
            <p:nvPr userDrawn="1"/>
          </p:nvSpPr>
          <p:spPr bwMode="auto">
            <a:xfrm>
              <a:off x="0" y="3225"/>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0" name="Line 36"/>
            <p:cNvSpPr>
              <a:spLocks noChangeShapeType="1"/>
            </p:cNvSpPr>
            <p:nvPr userDrawn="1"/>
          </p:nvSpPr>
          <p:spPr bwMode="auto">
            <a:xfrm>
              <a:off x="0" y="2831"/>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1" name="Line 37"/>
            <p:cNvSpPr>
              <a:spLocks noChangeShapeType="1"/>
            </p:cNvSpPr>
            <p:nvPr userDrawn="1"/>
          </p:nvSpPr>
          <p:spPr bwMode="auto">
            <a:xfrm>
              <a:off x="0" y="2750"/>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2" name="Line 38"/>
            <p:cNvSpPr>
              <a:spLocks noChangeShapeType="1"/>
            </p:cNvSpPr>
            <p:nvPr userDrawn="1"/>
          </p:nvSpPr>
          <p:spPr bwMode="auto">
            <a:xfrm>
              <a:off x="0" y="2678"/>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3" name="Line 39"/>
            <p:cNvSpPr>
              <a:spLocks noChangeShapeType="1"/>
            </p:cNvSpPr>
            <p:nvPr userDrawn="1"/>
          </p:nvSpPr>
          <p:spPr bwMode="auto">
            <a:xfrm>
              <a:off x="0" y="2876"/>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4" name="Line 40"/>
            <p:cNvSpPr>
              <a:spLocks noChangeShapeType="1"/>
            </p:cNvSpPr>
            <p:nvPr userDrawn="1"/>
          </p:nvSpPr>
          <p:spPr bwMode="auto">
            <a:xfrm>
              <a:off x="0" y="2855"/>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5" name="Line 41"/>
            <p:cNvSpPr>
              <a:spLocks noChangeShapeType="1"/>
            </p:cNvSpPr>
            <p:nvPr userDrawn="1"/>
          </p:nvSpPr>
          <p:spPr bwMode="auto">
            <a:xfrm>
              <a:off x="0" y="2554"/>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6" name="Line 42"/>
            <p:cNvSpPr>
              <a:spLocks noChangeShapeType="1"/>
            </p:cNvSpPr>
            <p:nvPr userDrawn="1"/>
          </p:nvSpPr>
          <p:spPr bwMode="auto">
            <a:xfrm>
              <a:off x="0" y="2590"/>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7" name="Line 43"/>
            <p:cNvSpPr>
              <a:spLocks noChangeShapeType="1"/>
            </p:cNvSpPr>
            <p:nvPr userDrawn="1"/>
          </p:nvSpPr>
          <p:spPr bwMode="auto">
            <a:xfrm>
              <a:off x="0" y="2623"/>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8" name="Line 44"/>
            <p:cNvSpPr>
              <a:spLocks noChangeShapeType="1"/>
            </p:cNvSpPr>
            <p:nvPr userDrawn="1"/>
          </p:nvSpPr>
          <p:spPr bwMode="auto">
            <a:xfrm>
              <a:off x="0" y="2464"/>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9" name="Line 45"/>
            <p:cNvSpPr>
              <a:spLocks noChangeShapeType="1"/>
            </p:cNvSpPr>
            <p:nvPr userDrawn="1"/>
          </p:nvSpPr>
          <p:spPr bwMode="auto">
            <a:xfrm>
              <a:off x="0" y="2416"/>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0" name="Line 46"/>
            <p:cNvSpPr>
              <a:spLocks noChangeShapeType="1"/>
            </p:cNvSpPr>
            <p:nvPr userDrawn="1"/>
          </p:nvSpPr>
          <p:spPr bwMode="auto">
            <a:xfrm>
              <a:off x="0" y="2509"/>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1" name="Line 47"/>
            <p:cNvSpPr>
              <a:spLocks noChangeShapeType="1"/>
            </p:cNvSpPr>
            <p:nvPr userDrawn="1"/>
          </p:nvSpPr>
          <p:spPr bwMode="auto">
            <a:xfrm>
              <a:off x="0" y="2371"/>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2" name="Line 48"/>
            <p:cNvSpPr>
              <a:spLocks noChangeShapeType="1"/>
            </p:cNvSpPr>
            <p:nvPr userDrawn="1"/>
          </p:nvSpPr>
          <p:spPr bwMode="auto">
            <a:xfrm>
              <a:off x="0" y="2245"/>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3" name="Line 49"/>
            <p:cNvSpPr>
              <a:spLocks noChangeShapeType="1"/>
            </p:cNvSpPr>
            <p:nvPr userDrawn="1"/>
          </p:nvSpPr>
          <p:spPr bwMode="auto">
            <a:xfrm>
              <a:off x="0" y="2350"/>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4" name="Line 50"/>
            <p:cNvSpPr>
              <a:spLocks noChangeShapeType="1"/>
            </p:cNvSpPr>
            <p:nvPr userDrawn="1"/>
          </p:nvSpPr>
          <p:spPr bwMode="auto">
            <a:xfrm>
              <a:off x="0" y="2290"/>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 name="Line 51"/>
            <p:cNvSpPr>
              <a:spLocks noChangeShapeType="1"/>
            </p:cNvSpPr>
            <p:nvPr userDrawn="1"/>
          </p:nvSpPr>
          <p:spPr bwMode="auto">
            <a:xfrm>
              <a:off x="0" y="2269"/>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6" name="Line 52"/>
            <p:cNvSpPr>
              <a:spLocks noChangeShapeType="1"/>
            </p:cNvSpPr>
            <p:nvPr userDrawn="1"/>
          </p:nvSpPr>
          <p:spPr bwMode="auto">
            <a:xfrm>
              <a:off x="0" y="2130"/>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7" name="Line 53"/>
            <p:cNvSpPr>
              <a:spLocks noChangeShapeType="1"/>
            </p:cNvSpPr>
            <p:nvPr userDrawn="1"/>
          </p:nvSpPr>
          <p:spPr bwMode="auto">
            <a:xfrm>
              <a:off x="0" y="2166"/>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8" name="Line 54"/>
            <p:cNvSpPr>
              <a:spLocks noChangeShapeType="1"/>
            </p:cNvSpPr>
            <p:nvPr userDrawn="1"/>
          </p:nvSpPr>
          <p:spPr bwMode="auto">
            <a:xfrm>
              <a:off x="0" y="2199"/>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9" name="Line 55"/>
            <p:cNvSpPr>
              <a:spLocks noChangeShapeType="1"/>
            </p:cNvSpPr>
            <p:nvPr userDrawn="1"/>
          </p:nvSpPr>
          <p:spPr bwMode="auto">
            <a:xfrm>
              <a:off x="0" y="2040"/>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0" name="Line 56"/>
            <p:cNvSpPr>
              <a:spLocks noChangeShapeType="1"/>
            </p:cNvSpPr>
            <p:nvPr userDrawn="1"/>
          </p:nvSpPr>
          <p:spPr bwMode="auto">
            <a:xfrm>
              <a:off x="0" y="1992"/>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1" name="Line 57"/>
            <p:cNvSpPr>
              <a:spLocks noChangeShapeType="1"/>
            </p:cNvSpPr>
            <p:nvPr userDrawn="1"/>
          </p:nvSpPr>
          <p:spPr bwMode="auto">
            <a:xfrm>
              <a:off x="0" y="2085"/>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2" name="Line 58"/>
            <p:cNvSpPr>
              <a:spLocks noChangeShapeType="1"/>
            </p:cNvSpPr>
            <p:nvPr userDrawn="1"/>
          </p:nvSpPr>
          <p:spPr bwMode="auto">
            <a:xfrm>
              <a:off x="0" y="1593"/>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3" name="Line 59"/>
            <p:cNvSpPr>
              <a:spLocks noChangeShapeType="1"/>
            </p:cNvSpPr>
            <p:nvPr userDrawn="1"/>
          </p:nvSpPr>
          <p:spPr bwMode="auto">
            <a:xfrm>
              <a:off x="0" y="1566"/>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4" name="Line 60"/>
            <p:cNvSpPr>
              <a:spLocks noChangeShapeType="1"/>
            </p:cNvSpPr>
            <p:nvPr userDrawn="1"/>
          </p:nvSpPr>
          <p:spPr bwMode="auto">
            <a:xfrm>
              <a:off x="0" y="1947"/>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 name="Line 61"/>
            <p:cNvSpPr>
              <a:spLocks noChangeShapeType="1"/>
            </p:cNvSpPr>
            <p:nvPr userDrawn="1"/>
          </p:nvSpPr>
          <p:spPr bwMode="auto">
            <a:xfrm>
              <a:off x="0" y="1821"/>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6" name="Line 62"/>
            <p:cNvSpPr>
              <a:spLocks noChangeShapeType="1"/>
            </p:cNvSpPr>
            <p:nvPr userDrawn="1"/>
          </p:nvSpPr>
          <p:spPr bwMode="auto">
            <a:xfrm>
              <a:off x="0" y="1740"/>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7" name="Line 63"/>
            <p:cNvSpPr>
              <a:spLocks noChangeShapeType="1"/>
            </p:cNvSpPr>
            <p:nvPr userDrawn="1"/>
          </p:nvSpPr>
          <p:spPr bwMode="auto">
            <a:xfrm>
              <a:off x="0" y="1926"/>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8" name="Line 64"/>
            <p:cNvSpPr>
              <a:spLocks noChangeShapeType="1"/>
            </p:cNvSpPr>
            <p:nvPr userDrawn="1"/>
          </p:nvSpPr>
          <p:spPr bwMode="auto">
            <a:xfrm>
              <a:off x="0" y="1614"/>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9" name="Line 65"/>
            <p:cNvSpPr>
              <a:spLocks noChangeShapeType="1"/>
            </p:cNvSpPr>
            <p:nvPr userDrawn="1"/>
          </p:nvSpPr>
          <p:spPr bwMode="auto">
            <a:xfrm>
              <a:off x="0" y="1668"/>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0" name="Line 66"/>
            <p:cNvSpPr>
              <a:spLocks noChangeShapeType="1"/>
            </p:cNvSpPr>
            <p:nvPr userDrawn="1"/>
          </p:nvSpPr>
          <p:spPr bwMode="auto">
            <a:xfrm>
              <a:off x="0" y="1866"/>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1" name="Line 67"/>
            <p:cNvSpPr>
              <a:spLocks noChangeShapeType="1"/>
            </p:cNvSpPr>
            <p:nvPr userDrawn="1"/>
          </p:nvSpPr>
          <p:spPr bwMode="auto">
            <a:xfrm>
              <a:off x="0" y="1845"/>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2" name="Line 68"/>
            <p:cNvSpPr>
              <a:spLocks noChangeShapeType="1"/>
            </p:cNvSpPr>
            <p:nvPr userDrawn="1"/>
          </p:nvSpPr>
          <p:spPr bwMode="auto">
            <a:xfrm>
              <a:off x="0" y="1437"/>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3" name="Line 69"/>
            <p:cNvSpPr>
              <a:spLocks noChangeShapeType="1"/>
            </p:cNvSpPr>
            <p:nvPr userDrawn="1"/>
          </p:nvSpPr>
          <p:spPr bwMode="auto">
            <a:xfrm>
              <a:off x="0" y="1473"/>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4" name="Line 70"/>
            <p:cNvSpPr>
              <a:spLocks noChangeShapeType="1"/>
            </p:cNvSpPr>
            <p:nvPr userDrawn="1"/>
          </p:nvSpPr>
          <p:spPr bwMode="auto">
            <a:xfrm>
              <a:off x="0" y="1506"/>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5" name="Line 71"/>
            <p:cNvSpPr>
              <a:spLocks noChangeShapeType="1"/>
            </p:cNvSpPr>
            <p:nvPr userDrawn="1"/>
          </p:nvSpPr>
          <p:spPr bwMode="auto">
            <a:xfrm>
              <a:off x="0" y="1347"/>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6" name="Line 72"/>
            <p:cNvSpPr>
              <a:spLocks noChangeShapeType="1"/>
            </p:cNvSpPr>
            <p:nvPr userDrawn="1"/>
          </p:nvSpPr>
          <p:spPr bwMode="auto">
            <a:xfrm>
              <a:off x="0" y="1392"/>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7" name="Line 73"/>
            <p:cNvSpPr>
              <a:spLocks noChangeShapeType="1"/>
            </p:cNvSpPr>
            <p:nvPr userDrawn="1"/>
          </p:nvSpPr>
          <p:spPr bwMode="auto">
            <a:xfrm>
              <a:off x="0" y="1016"/>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8" name="Line 74"/>
            <p:cNvSpPr>
              <a:spLocks noChangeShapeType="1"/>
            </p:cNvSpPr>
            <p:nvPr userDrawn="1"/>
          </p:nvSpPr>
          <p:spPr bwMode="auto">
            <a:xfrm>
              <a:off x="0" y="989"/>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9" name="Line 75"/>
            <p:cNvSpPr>
              <a:spLocks noChangeShapeType="1"/>
            </p:cNvSpPr>
            <p:nvPr userDrawn="1"/>
          </p:nvSpPr>
          <p:spPr bwMode="auto">
            <a:xfrm>
              <a:off x="0" y="1244"/>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0" name="Line 76"/>
            <p:cNvSpPr>
              <a:spLocks noChangeShapeType="1"/>
            </p:cNvSpPr>
            <p:nvPr userDrawn="1"/>
          </p:nvSpPr>
          <p:spPr bwMode="auto">
            <a:xfrm>
              <a:off x="0" y="1163"/>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1" name="Line 77"/>
            <p:cNvSpPr>
              <a:spLocks noChangeShapeType="1"/>
            </p:cNvSpPr>
            <p:nvPr userDrawn="1"/>
          </p:nvSpPr>
          <p:spPr bwMode="auto">
            <a:xfrm>
              <a:off x="0" y="1037"/>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2" name="Line 78"/>
            <p:cNvSpPr>
              <a:spLocks noChangeShapeType="1"/>
            </p:cNvSpPr>
            <p:nvPr userDrawn="1"/>
          </p:nvSpPr>
          <p:spPr bwMode="auto">
            <a:xfrm>
              <a:off x="0" y="1091"/>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3" name="Line 79"/>
            <p:cNvSpPr>
              <a:spLocks noChangeShapeType="1"/>
            </p:cNvSpPr>
            <p:nvPr userDrawn="1"/>
          </p:nvSpPr>
          <p:spPr bwMode="auto">
            <a:xfrm>
              <a:off x="0" y="1289"/>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4" name="Line 80"/>
            <p:cNvSpPr>
              <a:spLocks noChangeShapeType="1"/>
            </p:cNvSpPr>
            <p:nvPr userDrawn="1"/>
          </p:nvSpPr>
          <p:spPr bwMode="auto">
            <a:xfrm>
              <a:off x="0" y="1268"/>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5" name="Line 81"/>
            <p:cNvSpPr>
              <a:spLocks noChangeShapeType="1"/>
            </p:cNvSpPr>
            <p:nvPr userDrawn="1"/>
          </p:nvSpPr>
          <p:spPr bwMode="auto">
            <a:xfrm>
              <a:off x="0" y="860"/>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6" name="Line 82"/>
            <p:cNvSpPr>
              <a:spLocks noChangeShapeType="1"/>
            </p:cNvSpPr>
            <p:nvPr userDrawn="1"/>
          </p:nvSpPr>
          <p:spPr bwMode="auto">
            <a:xfrm>
              <a:off x="0" y="896"/>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7" name="Line 83"/>
            <p:cNvSpPr>
              <a:spLocks noChangeShapeType="1"/>
            </p:cNvSpPr>
            <p:nvPr userDrawn="1"/>
          </p:nvSpPr>
          <p:spPr bwMode="auto">
            <a:xfrm>
              <a:off x="0" y="929"/>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8" name="Line 84"/>
            <p:cNvSpPr>
              <a:spLocks noChangeShapeType="1"/>
            </p:cNvSpPr>
            <p:nvPr userDrawn="1"/>
          </p:nvSpPr>
          <p:spPr bwMode="auto">
            <a:xfrm>
              <a:off x="0" y="770"/>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9" name="Line 85"/>
            <p:cNvSpPr>
              <a:spLocks noChangeShapeType="1"/>
            </p:cNvSpPr>
            <p:nvPr userDrawn="1"/>
          </p:nvSpPr>
          <p:spPr bwMode="auto">
            <a:xfrm>
              <a:off x="0" y="815"/>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0" name="Line 86"/>
            <p:cNvSpPr>
              <a:spLocks noChangeShapeType="1"/>
            </p:cNvSpPr>
            <p:nvPr userDrawn="1"/>
          </p:nvSpPr>
          <p:spPr bwMode="auto">
            <a:xfrm>
              <a:off x="0" y="718"/>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1" name="Line 87"/>
            <p:cNvSpPr>
              <a:spLocks noChangeShapeType="1"/>
            </p:cNvSpPr>
            <p:nvPr userDrawn="1"/>
          </p:nvSpPr>
          <p:spPr bwMode="auto">
            <a:xfrm>
              <a:off x="0" y="646"/>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2" name="Line 88"/>
            <p:cNvSpPr>
              <a:spLocks noChangeShapeType="1"/>
            </p:cNvSpPr>
            <p:nvPr userDrawn="1"/>
          </p:nvSpPr>
          <p:spPr bwMode="auto">
            <a:xfrm>
              <a:off x="0" y="522"/>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3" name="Line 89"/>
            <p:cNvSpPr>
              <a:spLocks noChangeShapeType="1"/>
            </p:cNvSpPr>
            <p:nvPr userDrawn="1"/>
          </p:nvSpPr>
          <p:spPr bwMode="auto">
            <a:xfrm>
              <a:off x="0" y="558"/>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4" name="Line 90"/>
            <p:cNvSpPr>
              <a:spLocks noChangeShapeType="1"/>
            </p:cNvSpPr>
            <p:nvPr userDrawn="1"/>
          </p:nvSpPr>
          <p:spPr bwMode="auto">
            <a:xfrm>
              <a:off x="0" y="591"/>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5" name="Line 91"/>
            <p:cNvSpPr>
              <a:spLocks noChangeShapeType="1"/>
            </p:cNvSpPr>
            <p:nvPr userDrawn="1"/>
          </p:nvSpPr>
          <p:spPr bwMode="auto">
            <a:xfrm>
              <a:off x="0" y="432"/>
              <a:ext cx="5760" cy="0"/>
            </a:xfrm>
            <a:prstGeom prst="line">
              <a:avLst/>
            </a:prstGeom>
            <a:noFill/>
            <a:ln w="2857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6" name="Line 92"/>
            <p:cNvSpPr>
              <a:spLocks noChangeShapeType="1"/>
            </p:cNvSpPr>
            <p:nvPr userDrawn="1"/>
          </p:nvSpPr>
          <p:spPr bwMode="auto">
            <a:xfrm>
              <a:off x="0" y="384"/>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7" name="Line 93"/>
            <p:cNvSpPr>
              <a:spLocks noChangeShapeType="1"/>
            </p:cNvSpPr>
            <p:nvPr userDrawn="1"/>
          </p:nvSpPr>
          <p:spPr bwMode="auto">
            <a:xfrm>
              <a:off x="0" y="477"/>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8" name="Line 94"/>
            <p:cNvSpPr>
              <a:spLocks noChangeShapeType="1"/>
            </p:cNvSpPr>
            <p:nvPr userDrawn="1"/>
          </p:nvSpPr>
          <p:spPr bwMode="auto">
            <a:xfrm>
              <a:off x="0" y="339"/>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9" name="Line 95"/>
            <p:cNvSpPr>
              <a:spLocks noChangeShapeType="1"/>
            </p:cNvSpPr>
            <p:nvPr userDrawn="1"/>
          </p:nvSpPr>
          <p:spPr bwMode="auto">
            <a:xfrm>
              <a:off x="0" y="318"/>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0" name="Line 96"/>
            <p:cNvSpPr>
              <a:spLocks noChangeShapeType="1"/>
            </p:cNvSpPr>
            <p:nvPr userDrawn="1"/>
          </p:nvSpPr>
          <p:spPr bwMode="auto">
            <a:xfrm>
              <a:off x="0" y="258"/>
              <a:ext cx="5760" cy="0"/>
            </a:xfrm>
            <a:prstGeom prst="line">
              <a:avLst/>
            </a:prstGeom>
            <a:noFill/>
            <a:ln w="1905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1" name="Line 97"/>
            <p:cNvSpPr>
              <a:spLocks noChangeShapeType="1"/>
            </p:cNvSpPr>
            <p:nvPr userDrawn="1"/>
          </p:nvSpPr>
          <p:spPr bwMode="auto">
            <a:xfrm>
              <a:off x="0" y="70"/>
              <a:ext cx="5760" cy="0"/>
            </a:xfrm>
            <a:prstGeom prst="line">
              <a:avLst/>
            </a:prstGeom>
            <a:noFill/>
            <a:ln w="9525">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2" name="Line 98"/>
            <p:cNvSpPr>
              <a:spLocks noChangeShapeType="1"/>
            </p:cNvSpPr>
            <p:nvPr userDrawn="1"/>
          </p:nvSpPr>
          <p:spPr bwMode="auto">
            <a:xfrm>
              <a:off x="0" y="43"/>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3" name="Line 99"/>
            <p:cNvSpPr>
              <a:spLocks noChangeShapeType="1"/>
            </p:cNvSpPr>
            <p:nvPr userDrawn="1"/>
          </p:nvSpPr>
          <p:spPr bwMode="auto">
            <a:xfrm>
              <a:off x="0" y="91"/>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4" name="Line 100"/>
            <p:cNvSpPr>
              <a:spLocks noChangeShapeType="1"/>
            </p:cNvSpPr>
            <p:nvPr userDrawn="1"/>
          </p:nvSpPr>
          <p:spPr bwMode="auto">
            <a:xfrm>
              <a:off x="0" y="145"/>
              <a:ext cx="5760" cy="0"/>
            </a:xfrm>
            <a:prstGeom prst="line">
              <a:avLst/>
            </a:prstGeom>
            <a:noFill/>
            <a:ln w="127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5" name="Line 101"/>
            <p:cNvSpPr>
              <a:spLocks noChangeShapeType="1"/>
            </p:cNvSpPr>
            <p:nvPr userDrawn="1"/>
          </p:nvSpPr>
          <p:spPr bwMode="auto">
            <a:xfrm>
              <a:off x="0" y="202"/>
              <a:ext cx="5760" cy="0"/>
            </a:xfrm>
            <a:prstGeom prst="line">
              <a:avLst/>
            </a:prstGeom>
            <a:noFill/>
            <a:ln w="38100">
              <a:solidFill>
                <a:schemeClr val="bg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1028" name="Rectangle 103"/>
          <p:cNvSpPr>
            <a:spLocks noChangeArrowheads="1"/>
          </p:cNvSpPr>
          <p:nvPr/>
        </p:nvSpPr>
        <p:spPr bwMode="auto">
          <a:xfrm>
            <a:off x="860425" y="260350"/>
            <a:ext cx="496888" cy="1450975"/>
          </a:xfrm>
          <a:prstGeom prst="rect">
            <a:avLst/>
          </a:prstGeom>
          <a:solidFill>
            <a:srgbClr val="0099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3200">
                <a:solidFill>
                  <a:schemeClr val="tx1"/>
                </a:solidFill>
                <a:latin typeface="Comic Sans MS" panose="030F0702030302020204" pitchFamily="66" charset="0"/>
                <a:ea typeface="宋体" panose="02010600030101010101" pitchFamily="2" charset="-122"/>
              </a:defRPr>
            </a:lvl1pPr>
            <a:lvl2pPr marL="742950" indent="-285750" eaLnBrk="0" hangingPunct="0">
              <a:defRPr kumimoji="1" sz="3200">
                <a:solidFill>
                  <a:schemeClr val="tx1"/>
                </a:solidFill>
                <a:latin typeface="Comic Sans MS" panose="030F0702030302020204" pitchFamily="66" charset="0"/>
                <a:ea typeface="宋体" panose="02010600030101010101" pitchFamily="2" charset="-122"/>
              </a:defRPr>
            </a:lvl2pPr>
            <a:lvl3pPr marL="1143000" indent="-228600" eaLnBrk="0" hangingPunct="0">
              <a:defRPr kumimoji="1" sz="3200">
                <a:solidFill>
                  <a:schemeClr val="tx1"/>
                </a:solidFill>
                <a:latin typeface="Comic Sans MS" panose="030F0702030302020204" pitchFamily="66" charset="0"/>
                <a:ea typeface="宋体" panose="02010600030101010101" pitchFamily="2" charset="-122"/>
              </a:defRPr>
            </a:lvl3pPr>
            <a:lvl4pPr marL="1600200" indent="-228600" eaLnBrk="0" hangingPunct="0">
              <a:defRPr kumimoji="1" sz="3200">
                <a:solidFill>
                  <a:schemeClr val="tx1"/>
                </a:solidFill>
                <a:latin typeface="Comic Sans MS" panose="030F0702030302020204" pitchFamily="66" charset="0"/>
                <a:ea typeface="宋体" panose="02010600030101010101" pitchFamily="2" charset="-122"/>
              </a:defRPr>
            </a:lvl4pPr>
            <a:lvl5pPr marL="2057400" indent="-228600" eaLnBrk="0" hangingPunct="0">
              <a:defRPr kumimoji="1" sz="3200">
                <a:solidFill>
                  <a:schemeClr val="tx1"/>
                </a:solidFill>
                <a:latin typeface="Comic Sans MS" panose="030F0702030302020204" pitchFamily="66" charset="0"/>
                <a:ea typeface="宋体" panose="02010600030101010101" pitchFamily="2" charset="-122"/>
              </a:defRPr>
            </a:lvl5pPr>
            <a:lvl6pPr marL="25146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6pPr>
            <a:lvl7pPr marL="29718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7pPr>
            <a:lvl8pPr marL="34290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8pPr>
            <a:lvl9pPr marL="38862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9pPr>
          </a:lstStyle>
          <a:p>
            <a:pPr eaLnBrk="1" hangingPunct="1">
              <a:defRPr/>
            </a:pPr>
            <a:endParaRPr lang="zh-CN" altLang="en-US" smtClean="0"/>
          </a:p>
        </p:txBody>
      </p:sp>
      <p:sp>
        <p:nvSpPr>
          <p:cNvPr id="1029" name="Rectangle 104"/>
          <p:cNvSpPr>
            <a:spLocks noChangeArrowheads="1"/>
          </p:cNvSpPr>
          <p:nvPr/>
        </p:nvSpPr>
        <p:spPr bwMode="auto">
          <a:xfrm>
            <a:off x="611188" y="392113"/>
            <a:ext cx="5662612" cy="77787"/>
          </a:xfrm>
          <a:prstGeom prst="rect">
            <a:avLst/>
          </a:prstGeom>
          <a:solidFill>
            <a:schemeClr va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3200">
                <a:solidFill>
                  <a:schemeClr val="tx1"/>
                </a:solidFill>
                <a:latin typeface="Comic Sans MS" panose="030F0702030302020204" pitchFamily="66" charset="0"/>
                <a:ea typeface="宋体" panose="02010600030101010101" pitchFamily="2" charset="-122"/>
              </a:defRPr>
            </a:lvl1pPr>
            <a:lvl2pPr marL="742950" indent="-285750" eaLnBrk="0" hangingPunct="0">
              <a:defRPr kumimoji="1" sz="3200">
                <a:solidFill>
                  <a:schemeClr val="tx1"/>
                </a:solidFill>
                <a:latin typeface="Comic Sans MS" panose="030F0702030302020204" pitchFamily="66" charset="0"/>
                <a:ea typeface="宋体" panose="02010600030101010101" pitchFamily="2" charset="-122"/>
              </a:defRPr>
            </a:lvl2pPr>
            <a:lvl3pPr marL="1143000" indent="-228600" eaLnBrk="0" hangingPunct="0">
              <a:defRPr kumimoji="1" sz="3200">
                <a:solidFill>
                  <a:schemeClr val="tx1"/>
                </a:solidFill>
                <a:latin typeface="Comic Sans MS" panose="030F0702030302020204" pitchFamily="66" charset="0"/>
                <a:ea typeface="宋体" panose="02010600030101010101" pitchFamily="2" charset="-122"/>
              </a:defRPr>
            </a:lvl3pPr>
            <a:lvl4pPr marL="1600200" indent="-228600" eaLnBrk="0" hangingPunct="0">
              <a:defRPr kumimoji="1" sz="3200">
                <a:solidFill>
                  <a:schemeClr val="tx1"/>
                </a:solidFill>
                <a:latin typeface="Comic Sans MS" panose="030F0702030302020204" pitchFamily="66" charset="0"/>
                <a:ea typeface="宋体" panose="02010600030101010101" pitchFamily="2" charset="-122"/>
              </a:defRPr>
            </a:lvl4pPr>
            <a:lvl5pPr marL="2057400" indent="-228600" eaLnBrk="0" hangingPunct="0">
              <a:defRPr kumimoji="1" sz="3200">
                <a:solidFill>
                  <a:schemeClr val="tx1"/>
                </a:solidFill>
                <a:latin typeface="Comic Sans MS" panose="030F0702030302020204" pitchFamily="66" charset="0"/>
                <a:ea typeface="宋体" panose="02010600030101010101" pitchFamily="2" charset="-122"/>
              </a:defRPr>
            </a:lvl5pPr>
            <a:lvl6pPr marL="25146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6pPr>
            <a:lvl7pPr marL="29718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7pPr>
            <a:lvl8pPr marL="34290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8pPr>
            <a:lvl9pPr marL="38862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9pPr>
          </a:lstStyle>
          <a:p>
            <a:pPr eaLnBrk="1" hangingPunct="1">
              <a:defRPr/>
            </a:pPr>
            <a:endParaRPr lang="zh-CN" altLang="en-US" smtClean="0"/>
          </a:p>
        </p:txBody>
      </p:sp>
      <p:sp>
        <p:nvSpPr>
          <p:cNvPr id="1030" name="Rectangle 105"/>
          <p:cNvSpPr>
            <a:spLocks noChangeArrowheads="1"/>
          </p:cNvSpPr>
          <p:nvPr/>
        </p:nvSpPr>
        <p:spPr bwMode="auto">
          <a:xfrm>
            <a:off x="7308850" y="1557338"/>
            <a:ext cx="1474788" cy="338137"/>
          </a:xfrm>
          <a:prstGeom prst="rect">
            <a:avLst/>
          </a:prstGeom>
          <a:solidFill>
            <a:srgbClr val="0099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3200">
                <a:solidFill>
                  <a:schemeClr val="tx1"/>
                </a:solidFill>
                <a:latin typeface="Comic Sans MS" panose="030F0702030302020204" pitchFamily="66" charset="0"/>
                <a:ea typeface="宋体" panose="02010600030101010101" pitchFamily="2" charset="-122"/>
              </a:defRPr>
            </a:lvl1pPr>
            <a:lvl2pPr marL="742950" indent="-285750" eaLnBrk="0" hangingPunct="0">
              <a:defRPr kumimoji="1" sz="3200">
                <a:solidFill>
                  <a:schemeClr val="tx1"/>
                </a:solidFill>
                <a:latin typeface="Comic Sans MS" panose="030F0702030302020204" pitchFamily="66" charset="0"/>
                <a:ea typeface="宋体" panose="02010600030101010101" pitchFamily="2" charset="-122"/>
              </a:defRPr>
            </a:lvl2pPr>
            <a:lvl3pPr marL="1143000" indent="-228600" eaLnBrk="0" hangingPunct="0">
              <a:defRPr kumimoji="1" sz="3200">
                <a:solidFill>
                  <a:schemeClr val="tx1"/>
                </a:solidFill>
                <a:latin typeface="Comic Sans MS" panose="030F0702030302020204" pitchFamily="66" charset="0"/>
                <a:ea typeface="宋体" panose="02010600030101010101" pitchFamily="2" charset="-122"/>
              </a:defRPr>
            </a:lvl3pPr>
            <a:lvl4pPr marL="1600200" indent="-228600" eaLnBrk="0" hangingPunct="0">
              <a:defRPr kumimoji="1" sz="3200">
                <a:solidFill>
                  <a:schemeClr val="tx1"/>
                </a:solidFill>
                <a:latin typeface="Comic Sans MS" panose="030F0702030302020204" pitchFamily="66" charset="0"/>
                <a:ea typeface="宋体" panose="02010600030101010101" pitchFamily="2" charset="-122"/>
              </a:defRPr>
            </a:lvl4pPr>
            <a:lvl5pPr marL="2057400" indent="-228600" eaLnBrk="0" hangingPunct="0">
              <a:defRPr kumimoji="1" sz="3200">
                <a:solidFill>
                  <a:schemeClr val="tx1"/>
                </a:solidFill>
                <a:latin typeface="Comic Sans MS" panose="030F0702030302020204" pitchFamily="66" charset="0"/>
                <a:ea typeface="宋体" panose="02010600030101010101" pitchFamily="2" charset="-122"/>
              </a:defRPr>
            </a:lvl5pPr>
            <a:lvl6pPr marL="25146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6pPr>
            <a:lvl7pPr marL="29718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7pPr>
            <a:lvl8pPr marL="34290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8pPr>
            <a:lvl9pPr marL="38862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9pPr>
          </a:lstStyle>
          <a:p>
            <a:pPr eaLnBrk="1" hangingPunct="1">
              <a:defRPr/>
            </a:pPr>
            <a:endParaRPr lang="zh-CN" altLang="en-US" smtClean="0"/>
          </a:p>
        </p:txBody>
      </p:sp>
      <p:sp>
        <p:nvSpPr>
          <p:cNvPr id="1031" name="Rectangle 106"/>
          <p:cNvSpPr>
            <a:spLocks noChangeArrowheads="1"/>
          </p:cNvSpPr>
          <p:nvPr/>
        </p:nvSpPr>
        <p:spPr bwMode="auto">
          <a:xfrm>
            <a:off x="3203575" y="1700213"/>
            <a:ext cx="5662613" cy="77787"/>
          </a:xfrm>
          <a:prstGeom prst="rect">
            <a:avLst/>
          </a:prstGeom>
          <a:solidFill>
            <a:schemeClr va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3200">
                <a:solidFill>
                  <a:schemeClr val="tx1"/>
                </a:solidFill>
                <a:latin typeface="Comic Sans MS" panose="030F0702030302020204" pitchFamily="66" charset="0"/>
                <a:ea typeface="宋体" panose="02010600030101010101" pitchFamily="2" charset="-122"/>
              </a:defRPr>
            </a:lvl1pPr>
            <a:lvl2pPr marL="742950" indent="-285750" eaLnBrk="0" hangingPunct="0">
              <a:defRPr kumimoji="1" sz="3200">
                <a:solidFill>
                  <a:schemeClr val="tx1"/>
                </a:solidFill>
                <a:latin typeface="Comic Sans MS" panose="030F0702030302020204" pitchFamily="66" charset="0"/>
                <a:ea typeface="宋体" panose="02010600030101010101" pitchFamily="2" charset="-122"/>
              </a:defRPr>
            </a:lvl2pPr>
            <a:lvl3pPr marL="1143000" indent="-228600" eaLnBrk="0" hangingPunct="0">
              <a:defRPr kumimoji="1" sz="3200">
                <a:solidFill>
                  <a:schemeClr val="tx1"/>
                </a:solidFill>
                <a:latin typeface="Comic Sans MS" panose="030F0702030302020204" pitchFamily="66" charset="0"/>
                <a:ea typeface="宋体" panose="02010600030101010101" pitchFamily="2" charset="-122"/>
              </a:defRPr>
            </a:lvl3pPr>
            <a:lvl4pPr marL="1600200" indent="-228600" eaLnBrk="0" hangingPunct="0">
              <a:defRPr kumimoji="1" sz="3200">
                <a:solidFill>
                  <a:schemeClr val="tx1"/>
                </a:solidFill>
                <a:latin typeface="Comic Sans MS" panose="030F0702030302020204" pitchFamily="66" charset="0"/>
                <a:ea typeface="宋体" panose="02010600030101010101" pitchFamily="2" charset="-122"/>
              </a:defRPr>
            </a:lvl4pPr>
            <a:lvl5pPr marL="2057400" indent="-228600" eaLnBrk="0" hangingPunct="0">
              <a:defRPr kumimoji="1" sz="3200">
                <a:solidFill>
                  <a:schemeClr val="tx1"/>
                </a:solidFill>
                <a:latin typeface="Comic Sans MS" panose="030F0702030302020204" pitchFamily="66" charset="0"/>
                <a:ea typeface="宋体" panose="02010600030101010101" pitchFamily="2" charset="-122"/>
              </a:defRPr>
            </a:lvl5pPr>
            <a:lvl6pPr marL="25146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6pPr>
            <a:lvl7pPr marL="29718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7pPr>
            <a:lvl8pPr marL="34290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8pPr>
            <a:lvl9pPr marL="3886200" indent="-228600" eaLnBrk="0" fontAlgn="base" hangingPunct="0">
              <a:spcBef>
                <a:spcPct val="20000"/>
              </a:spcBef>
              <a:spcAft>
                <a:spcPct val="0"/>
              </a:spcAft>
              <a:buClr>
                <a:schemeClr val="tx1"/>
              </a:buClr>
              <a:buFont typeface="Wingdings" panose="05000000000000000000" pitchFamily="2" charset="2"/>
              <a:defRPr kumimoji="1" sz="3200">
                <a:solidFill>
                  <a:schemeClr val="tx1"/>
                </a:solidFill>
                <a:latin typeface="Comic Sans MS" panose="030F0702030302020204" pitchFamily="66" charset="0"/>
                <a:ea typeface="宋体" panose="02010600030101010101" pitchFamily="2" charset="-122"/>
              </a:defRPr>
            </a:lvl9pPr>
          </a:lstStyle>
          <a:p>
            <a:pPr eaLnBrk="1" hangingPunct="1">
              <a:defRPr/>
            </a:pPr>
            <a:endParaRPr lang="zh-CN" altLang="en-US" smtClean="0"/>
          </a:p>
        </p:txBody>
      </p:sp>
      <p:sp>
        <p:nvSpPr>
          <p:cNvPr id="1032" name="Rectangle 107"/>
          <p:cNvSpPr>
            <a:spLocks noGrp="1" noChangeArrowheads="1"/>
          </p:cNvSpPr>
          <p:nvPr>
            <p:ph type="body" idx="1"/>
          </p:nvPr>
        </p:nvSpPr>
        <p:spPr bwMode="auto">
          <a:xfrm>
            <a:off x="809625" y="1989138"/>
            <a:ext cx="7958138"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smtClean="0"/>
          </a:p>
        </p:txBody>
      </p:sp>
      <p:sp>
        <p:nvSpPr>
          <p:cNvPr id="7279" name="Rectangle 111"/>
          <p:cNvSpPr>
            <a:spLocks noGrp="1" noChangeArrowheads="1"/>
          </p:cNvSpPr>
          <p:nvPr>
            <p:ph type="title"/>
          </p:nvPr>
        </p:nvSpPr>
        <p:spPr bwMode="auto">
          <a:xfrm>
            <a:off x="1331913" y="476250"/>
            <a:ext cx="5867400" cy="1143000"/>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lstStyle/>
          <a:p>
            <a:pPr lvl="0"/>
            <a:r>
              <a:rPr lang="zh-CN" altLang="en-US" dirty="0" smtClean="0"/>
              <a:t>单击此处编辑母版标题样式</a:t>
            </a:r>
            <a:endParaRPr lang="zh-CN" altLang="en-US" dirty="0" smtClean="0"/>
          </a:p>
        </p:txBody>
      </p:sp>
      <p:sp>
        <p:nvSpPr>
          <p:cNvPr id="7287" name="Rectangle 119"/>
          <p:cNvSpPr>
            <a:spLocks noChangeArrowheads="1"/>
          </p:cNvSpPr>
          <p:nvPr/>
        </p:nvSpPr>
        <p:spPr bwMode="auto">
          <a:xfrm>
            <a:off x="3352800" y="6477000"/>
            <a:ext cx="1676400" cy="381000"/>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0"/>
              </a:spcBef>
              <a:defRPr kumimoji="1" sz="2400">
                <a:solidFill>
                  <a:schemeClr val="tx1"/>
                </a:solidFill>
                <a:latin typeface="Times New Roman" panose="02020603050405020304" pitchFamily="18" charset="0"/>
                <a:ea typeface="宋体" panose="02010600030101010101" pitchFamily="2" charset="-122"/>
              </a:defRPr>
            </a:lvl1pPr>
            <a:lvl2pPr>
              <a:spcBef>
                <a:spcPct val="0"/>
              </a:spcBef>
              <a:defRPr kumimoji="1" sz="2400">
                <a:solidFill>
                  <a:schemeClr val="tx1"/>
                </a:solidFill>
                <a:latin typeface="Times New Roman" panose="02020603050405020304" pitchFamily="18" charset="0"/>
                <a:ea typeface="宋体" panose="02010600030101010101" pitchFamily="2" charset="-122"/>
              </a:defRPr>
            </a:lvl2pPr>
            <a:lvl3pPr>
              <a:spcBef>
                <a:spcPct val="0"/>
              </a:spcBef>
              <a:defRPr kumimoji="1" sz="2400">
                <a:solidFill>
                  <a:schemeClr val="tx1"/>
                </a:solidFill>
                <a:latin typeface="Times New Roman" panose="02020603050405020304" pitchFamily="18" charset="0"/>
                <a:ea typeface="宋体" panose="02010600030101010101" pitchFamily="2" charset="-122"/>
              </a:defRPr>
            </a:lvl3pPr>
            <a:lvl4pPr>
              <a:spcBef>
                <a:spcPct val="0"/>
              </a:spcBef>
              <a:defRPr kumimoji="1" sz="2400">
                <a:solidFill>
                  <a:schemeClr val="tx1"/>
                </a:solidFill>
                <a:latin typeface="Times New Roman" panose="02020603050405020304" pitchFamily="18" charset="0"/>
                <a:ea typeface="宋体" panose="02010600030101010101" pitchFamily="2" charset="-122"/>
              </a:defRPr>
            </a:lvl4pPr>
            <a:lvl5pPr>
              <a:spcBef>
                <a:spcPct val="0"/>
              </a:spcBef>
              <a:defRPr kumimoji="1" sz="2400">
                <a:solidFill>
                  <a:schemeClr val="tx1"/>
                </a:solidFill>
                <a:latin typeface="Times New Roman" panose="02020603050405020304" pitchFamily="18" charset="0"/>
                <a:ea typeface="宋体" panose="02010600030101010101" pitchFamily="2" charset="-122"/>
              </a:defRPr>
            </a:lvl5pPr>
            <a:lvl6pPr marL="4572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9144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371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18288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a:lnSpc>
                <a:spcPct val="85000"/>
              </a:lnSpc>
              <a:buClrTx/>
              <a:buFontTx/>
              <a:buNone/>
              <a:defRPr/>
            </a:pPr>
            <a:r>
              <a:rPr lang="zh-CN" altLang="en-US" sz="1200" dirty="0" smtClean="0">
                <a:solidFill>
                  <a:schemeClr val="tx2"/>
                </a:solidFill>
              </a:rPr>
              <a:t>幻灯片  </a:t>
            </a:r>
            <a:fld id="{0BFFFF30-6802-428C-9F35-0DE260022B8D}" type="slidenum">
              <a:rPr lang="zh-CN" altLang="en-US" sz="1200" smtClean="0">
                <a:solidFill>
                  <a:schemeClr val="tx2"/>
                </a:solidFill>
              </a:rPr>
            </a:fld>
            <a:r>
              <a:rPr lang="en-US" altLang="zh-CN" sz="1200" dirty="0" smtClean="0">
                <a:solidFill>
                  <a:schemeClr val="tx2"/>
                </a:solidFill>
              </a:rPr>
              <a:t>/295</a:t>
            </a:r>
            <a:endParaRPr lang="en-US" altLang="zh-CN" sz="1200" dirty="0" smtClean="0">
              <a:solidFill>
                <a:schemeClr val="tx2"/>
              </a:solidFill>
            </a:endParaRPr>
          </a:p>
        </p:txBody>
      </p:sp>
      <p:sp>
        <p:nvSpPr>
          <p:cNvPr id="7289" name="Rectangle 121"/>
          <p:cNvSpPr>
            <a:spLocks noChangeArrowheads="1"/>
          </p:cNvSpPr>
          <p:nvPr/>
        </p:nvSpPr>
        <p:spPr bwMode="auto">
          <a:xfrm>
            <a:off x="685800" y="6477000"/>
            <a:ext cx="2286000" cy="371475"/>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0"/>
              </a:spcBef>
              <a:defRPr kumimoji="1" sz="2400">
                <a:solidFill>
                  <a:schemeClr val="tx1"/>
                </a:solidFill>
                <a:latin typeface="Times New Roman" panose="02020603050405020304" pitchFamily="18" charset="0"/>
                <a:ea typeface="宋体" panose="02010600030101010101" pitchFamily="2" charset="-122"/>
              </a:defRPr>
            </a:lvl1pPr>
            <a:lvl2pPr>
              <a:spcBef>
                <a:spcPct val="0"/>
              </a:spcBef>
              <a:defRPr kumimoji="1" sz="2400">
                <a:solidFill>
                  <a:schemeClr val="tx1"/>
                </a:solidFill>
                <a:latin typeface="Times New Roman" panose="02020603050405020304" pitchFamily="18" charset="0"/>
                <a:ea typeface="宋体" panose="02010600030101010101" pitchFamily="2" charset="-122"/>
              </a:defRPr>
            </a:lvl2pPr>
            <a:lvl3pPr>
              <a:spcBef>
                <a:spcPct val="0"/>
              </a:spcBef>
              <a:defRPr kumimoji="1" sz="2400">
                <a:solidFill>
                  <a:schemeClr val="tx1"/>
                </a:solidFill>
                <a:latin typeface="Times New Roman" panose="02020603050405020304" pitchFamily="18" charset="0"/>
                <a:ea typeface="宋体" panose="02010600030101010101" pitchFamily="2" charset="-122"/>
              </a:defRPr>
            </a:lvl3pPr>
            <a:lvl4pPr>
              <a:spcBef>
                <a:spcPct val="0"/>
              </a:spcBef>
              <a:defRPr kumimoji="1" sz="2400">
                <a:solidFill>
                  <a:schemeClr val="tx1"/>
                </a:solidFill>
                <a:latin typeface="Times New Roman" panose="02020603050405020304" pitchFamily="18" charset="0"/>
                <a:ea typeface="宋体" panose="02010600030101010101" pitchFamily="2" charset="-122"/>
              </a:defRPr>
            </a:lvl4pPr>
            <a:lvl5pPr>
              <a:spcBef>
                <a:spcPct val="0"/>
              </a:spcBef>
              <a:defRPr kumimoji="1" sz="2400">
                <a:solidFill>
                  <a:schemeClr val="tx1"/>
                </a:solidFill>
                <a:latin typeface="Times New Roman" panose="02020603050405020304" pitchFamily="18" charset="0"/>
                <a:ea typeface="宋体" panose="02010600030101010101" pitchFamily="2" charset="-122"/>
              </a:defRPr>
            </a:lvl5pPr>
            <a:lvl6pPr marL="4572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9144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371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18288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nSpc>
                <a:spcPct val="85000"/>
              </a:lnSpc>
              <a:buClrTx/>
              <a:buFontTx/>
              <a:buNone/>
              <a:defRPr/>
            </a:pPr>
            <a:r>
              <a:rPr lang="zh-CN" altLang="en-US" sz="1200" dirty="0" smtClean="0">
                <a:solidFill>
                  <a:schemeClr val="tx2"/>
                </a:solidFill>
                <a:latin typeface="Arial" panose="020B0604020202020204" pitchFamily="34" charset="0"/>
              </a:rPr>
              <a:t>《计算机系统结构教程</a:t>
            </a:r>
            <a:r>
              <a:rPr lang="en-US" altLang="zh-CN" sz="1200" dirty="0" smtClean="0">
                <a:solidFill>
                  <a:schemeClr val="tx2"/>
                </a:solidFill>
                <a:latin typeface="Arial" panose="020B0604020202020204" pitchFamily="34" charset="0"/>
              </a:rPr>
              <a:t>》V3</a:t>
            </a:r>
            <a:endParaRPr lang="en-US" altLang="zh-CN" sz="1200" dirty="0" smtClean="0">
              <a:solidFill>
                <a:schemeClr val="tx2"/>
              </a:solidFill>
              <a:latin typeface="Arial" panose="020B0604020202020204" pitchFamily="34" charset="0"/>
            </a:endParaRPr>
          </a:p>
        </p:txBody>
      </p:sp>
      <p:sp>
        <p:nvSpPr>
          <p:cNvPr id="7290" name="Rectangle 122"/>
          <p:cNvSpPr>
            <a:spLocks noChangeArrowheads="1"/>
          </p:cNvSpPr>
          <p:nvPr/>
        </p:nvSpPr>
        <p:spPr bwMode="auto">
          <a:xfrm>
            <a:off x="6660232" y="6477000"/>
            <a:ext cx="2483768" cy="371475"/>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0"/>
              </a:spcBef>
              <a:defRPr kumimoji="1" sz="2400">
                <a:solidFill>
                  <a:schemeClr val="tx1"/>
                </a:solidFill>
                <a:latin typeface="Times New Roman" panose="02020603050405020304" pitchFamily="18" charset="0"/>
                <a:ea typeface="宋体" panose="02010600030101010101" pitchFamily="2" charset="-122"/>
              </a:defRPr>
            </a:lvl1pPr>
            <a:lvl2pPr>
              <a:spcBef>
                <a:spcPct val="0"/>
              </a:spcBef>
              <a:defRPr kumimoji="1" sz="2400">
                <a:solidFill>
                  <a:schemeClr val="tx1"/>
                </a:solidFill>
                <a:latin typeface="Times New Roman" panose="02020603050405020304" pitchFamily="18" charset="0"/>
                <a:ea typeface="宋体" panose="02010600030101010101" pitchFamily="2" charset="-122"/>
              </a:defRPr>
            </a:lvl2pPr>
            <a:lvl3pPr>
              <a:spcBef>
                <a:spcPct val="0"/>
              </a:spcBef>
              <a:defRPr kumimoji="1" sz="2400">
                <a:solidFill>
                  <a:schemeClr val="tx1"/>
                </a:solidFill>
                <a:latin typeface="Times New Roman" panose="02020603050405020304" pitchFamily="18" charset="0"/>
                <a:ea typeface="宋体" panose="02010600030101010101" pitchFamily="2" charset="-122"/>
              </a:defRPr>
            </a:lvl3pPr>
            <a:lvl4pPr>
              <a:spcBef>
                <a:spcPct val="0"/>
              </a:spcBef>
              <a:defRPr kumimoji="1" sz="2400">
                <a:solidFill>
                  <a:schemeClr val="tx1"/>
                </a:solidFill>
                <a:latin typeface="Times New Roman" panose="02020603050405020304" pitchFamily="18" charset="0"/>
                <a:ea typeface="宋体" panose="02010600030101010101" pitchFamily="2" charset="-122"/>
              </a:defRPr>
            </a:lvl4pPr>
            <a:lvl5pPr>
              <a:spcBef>
                <a:spcPct val="0"/>
              </a:spcBef>
              <a:defRPr kumimoji="1" sz="2400">
                <a:solidFill>
                  <a:schemeClr val="tx1"/>
                </a:solidFill>
                <a:latin typeface="Times New Roman" panose="02020603050405020304" pitchFamily="18" charset="0"/>
                <a:ea typeface="宋体" panose="02010600030101010101" pitchFamily="2" charset="-122"/>
              </a:defRPr>
            </a:lvl5pPr>
            <a:lvl6pPr marL="4572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9144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371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18288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nSpc>
                <a:spcPct val="85000"/>
              </a:lnSpc>
              <a:buClrTx/>
              <a:buFontTx/>
              <a:buNone/>
              <a:defRPr/>
            </a:pPr>
            <a:r>
              <a:rPr lang="zh-CN" altLang="en-US" sz="1200" dirty="0" smtClean="0">
                <a:solidFill>
                  <a:schemeClr val="tx2"/>
                </a:solidFill>
              </a:rPr>
              <a:t>同济大学.计算机科学与技术学院</a:t>
            </a:r>
            <a:endParaRPr lang="zh-CN" altLang="en-US" sz="1200" dirty="0" smtClean="0">
              <a:solidFill>
                <a:schemeClr val="tx2"/>
              </a:solidFill>
            </a:endParaRPr>
          </a:p>
        </p:txBody>
      </p:sp>
      <p:pic>
        <p:nvPicPr>
          <p:cNvPr id="1037" name="Picture 124" descr="tongji"/>
          <p:cNvPicPr>
            <a:picLocks noChangeAspect="1" noChangeArrowheads="1"/>
          </p:cNvPicPr>
          <p:nvPr/>
        </p:nvPicPr>
        <p:blipFill>
          <a:blip r:embed="rId7">
            <a:clrChange>
              <a:clrFrom>
                <a:srgbClr val="7187C3"/>
              </a:clrFrom>
              <a:clrTo>
                <a:srgbClr val="7187C3">
                  <a:alpha val="0"/>
                </a:srgbClr>
              </a:clrTo>
            </a:clrChange>
            <a:extLst>
              <a:ext uri="{28A0092B-C50C-407E-A947-70E740481C1C}">
                <a14:useLocalDpi xmlns:a14="http://schemas.microsoft.com/office/drawing/2010/main" val="0"/>
              </a:ext>
            </a:extLst>
          </a:blip>
          <a:srcRect/>
          <a:stretch>
            <a:fillRect/>
          </a:stretch>
        </p:blipFill>
        <p:spPr bwMode="auto">
          <a:xfrm>
            <a:off x="7451725" y="333375"/>
            <a:ext cx="1223963"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Lst>
  <p:transition spd="slow">
    <p:random/>
    <p:sndAc>
      <p:stSnd>
        <p:snd r:embed="rId8" name="projctor.wav"/>
      </p:stSnd>
    </p:sndAc>
  </p:transition>
  <p:timing>
    <p:tnLst>
      <p:par>
        <p:cTn id="1" dur="indefinite" restart="never" nodeType="tmRoot"/>
      </p:par>
    </p:tnLst>
  </p:timing>
  <p:txStyles>
    <p:titleStyle>
      <a:lvl1pPr algn="ctr" rtl="0" eaLnBrk="0" fontAlgn="base" hangingPunct="0">
        <a:lnSpc>
          <a:spcPct val="85000"/>
        </a:lnSpc>
        <a:spcBef>
          <a:spcPct val="0"/>
        </a:spcBef>
        <a:spcAft>
          <a:spcPct val="0"/>
        </a:spcAft>
        <a:defRPr kumimoji="1" sz="4800">
          <a:solidFill>
            <a:schemeClr val="tx2"/>
          </a:solidFill>
          <a:effectLst>
            <a:outerShdw blurRad="38100" dist="38100" dir="2700000" algn="tl">
              <a:srgbClr val="C0C0C0"/>
            </a:outerShdw>
          </a:effectLst>
          <a:latin typeface="+mn-lt"/>
          <a:ea typeface="+mj-ea"/>
          <a:cs typeface="+mj-cs"/>
        </a:defRPr>
      </a:lvl1pPr>
      <a:lvl2pPr algn="ctr" rtl="0" eaLnBrk="0" fontAlgn="base" hangingPunct="0">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anose="02020603050405020304" pitchFamily="18" charset="0"/>
          <a:ea typeface="隶书" panose="02010509060101010101" pitchFamily="49" charset="-122"/>
        </a:defRPr>
      </a:lvl2pPr>
      <a:lvl3pPr algn="ctr" rtl="0" eaLnBrk="0" fontAlgn="base" hangingPunct="0">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anose="02020603050405020304" pitchFamily="18" charset="0"/>
          <a:ea typeface="隶书" panose="02010509060101010101" pitchFamily="49" charset="-122"/>
        </a:defRPr>
      </a:lvl3pPr>
      <a:lvl4pPr algn="ctr" rtl="0" eaLnBrk="0" fontAlgn="base" hangingPunct="0">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anose="02020603050405020304" pitchFamily="18" charset="0"/>
          <a:ea typeface="隶书" panose="02010509060101010101" pitchFamily="49" charset="-122"/>
        </a:defRPr>
      </a:lvl4pPr>
      <a:lvl5pPr algn="ctr" rtl="0" eaLnBrk="0" fontAlgn="base" hangingPunct="0">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anose="02020603050405020304" pitchFamily="18" charset="0"/>
          <a:ea typeface="隶书" panose="02010509060101010101" pitchFamily="49" charset="-122"/>
        </a:defRPr>
      </a:lvl5pPr>
      <a:lvl6pPr marL="457200" algn="ctr" rtl="0" fontAlgn="base">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anose="02020603050405020304" pitchFamily="18" charset="0"/>
          <a:ea typeface="隶书" panose="02010509060101010101" pitchFamily="49" charset="-122"/>
        </a:defRPr>
      </a:lvl6pPr>
      <a:lvl7pPr marL="914400" algn="ctr" rtl="0" fontAlgn="base">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anose="02020603050405020304" pitchFamily="18" charset="0"/>
          <a:ea typeface="隶书" panose="02010509060101010101" pitchFamily="49" charset="-122"/>
        </a:defRPr>
      </a:lvl7pPr>
      <a:lvl8pPr marL="1371600" algn="ctr" rtl="0" fontAlgn="base">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anose="02020603050405020304" pitchFamily="18" charset="0"/>
          <a:ea typeface="隶书" panose="02010509060101010101" pitchFamily="49" charset="-122"/>
        </a:defRPr>
      </a:lvl8pPr>
      <a:lvl9pPr marL="1828800" algn="ctr" rtl="0" fontAlgn="base">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anose="02020603050405020304" pitchFamily="18" charset="0"/>
          <a:ea typeface="隶书" panose="02010509060101010101" pitchFamily="49" charset="-122"/>
        </a:defRPr>
      </a:lvl9pPr>
    </p:titleStyle>
    <p:bodyStyle>
      <a:lvl1pPr marL="342900" indent="-342900" algn="l" rtl="0" eaLnBrk="0" fontAlgn="base" hangingPunct="0">
        <a:spcBef>
          <a:spcPct val="20000"/>
        </a:spcBef>
        <a:spcAft>
          <a:spcPct val="0"/>
        </a:spcAft>
        <a:buClr>
          <a:schemeClr val="tx1"/>
        </a:buClr>
        <a:buFont typeface="Wingdings" panose="05000000000000000000" pitchFamily="2" charset="2"/>
        <a:buChar char="w"/>
        <a:defRPr kumimoji="1" sz="3200" b="1">
          <a:solidFill>
            <a:schemeClr val="tx1"/>
          </a:solidFill>
          <a:latin typeface="+mn-lt"/>
          <a:ea typeface="宋体" panose="02010600030101010101" pitchFamily="2" charset="-122"/>
          <a:cs typeface="+mn-cs"/>
        </a:defRPr>
      </a:lvl1pPr>
      <a:lvl2pPr marL="742950" indent="-285750" algn="l" rtl="0" eaLnBrk="0" fontAlgn="base" hangingPunct="0">
        <a:spcBef>
          <a:spcPct val="20000"/>
        </a:spcBef>
        <a:spcAft>
          <a:spcPct val="0"/>
        </a:spcAft>
        <a:buClr>
          <a:schemeClr val="accent2"/>
        </a:buClr>
        <a:buSzPct val="55000"/>
        <a:buFont typeface="Wingdings" panose="05000000000000000000" pitchFamily="2" charset="2"/>
        <a:buChar char="Ø"/>
        <a:defRPr kumimoji="1" sz="2800" b="1">
          <a:solidFill>
            <a:schemeClr val="tx1"/>
          </a:solidFill>
          <a:latin typeface="+mn-lt"/>
          <a:ea typeface="宋体" panose="02010600030101010101" pitchFamily="2" charset="-122"/>
        </a:defRPr>
      </a:lvl2pPr>
      <a:lvl3pPr marL="1085850" indent="-228600" algn="l" rtl="0" eaLnBrk="0" fontAlgn="base" hangingPunct="0">
        <a:spcBef>
          <a:spcPct val="20000"/>
        </a:spcBef>
        <a:spcAft>
          <a:spcPct val="0"/>
        </a:spcAft>
        <a:buClr>
          <a:schemeClr val="accent2"/>
        </a:buClr>
        <a:buSzPct val="65000"/>
        <a:buFont typeface="Wingdings" panose="05000000000000000000" pitchFamily="2" charset="2"/>
        <a:buChar char="l"/>
        <a:defRPr kumimoji="1" sz="2400" b="1">
          <a:solidFill>
            <a:schemeClr val="tx1"/>
          </a:solidFill>
          <a:latin typeface="+mn-lt"/>
          <a:ea typeface="宋体" panose="02010600030101010101" pitchFamily="2" charset="-122"/>
        </a:defRPr>
      </a:lvl3pPr>
      <a:lvl4pPr marL="1428750" indent="-228600" algn="l" rtl="0" eaLnBrk="0" fontAlgn="base" hangingPunct="0">
        <a:spcBef>
          <a:spcPct val="20000"/>
        </a:spcBef>
        <a:spcAft>
          <a:spcPct val="0"/>
        </a:spcAft>
        <a:buClr>
          <a:schemeClr val="accent2"/>
        </a:buClr>
        <a:buSzPct val="85000"/>
        <a:buFont typeface="Wingdings" panose="05000000000000000000" pitchFamily="2" charset="2"/>
        <a:buChar char="w"/>
        <a:defRPr kumimoji="1" sz="2000" b="1">
          <a:solidFill>
            <a:schemeClr val="tx1"/>
          </a:solidFill>
          <a:latin typeface="+mn-lt"/>
          <a:ea typeface="宋体" panose="02010600030101010101" pitchFamily="2" charset="-122"/>
        </a:defRPr>
      </a:lvl4pPr>
      <a:lvl5pPr marL="1771650" indent="-228600" algn="l" rtl="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mn-lt"/>
          <a:ea typeface="宋体" panose="02010600030101010101" pitchFamily="2" charset="-122"/>
        </a:defRPr>
      </a:lvl5pPr>
      <a:lvl6pPr marL="2228850" indent="-228600" algn="l" rtl="0" fontAlgn="base">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mn-lt"/>
          <a:ea typeface="+mn-ea"/>
        </a:defRPr>
      </a:lvl6pPr>
      <a:lvl7pPr marL="2686050" indent="-228600" algn="l" rtl="0" fontAlgn="base">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mn-lt"/>
          <a:ea typeface="+mn-ea"/>
        </a:defRPr>
      </a:lvl7pPr>
      <a:lvl8pPr marL="3143250" indent="-228600" algn="l" rtl="0" fontAlgn="base">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mn-lt"/>
          <a:ea typeface="+mn-ea"/>
        </a:defRPr>
      </a:lvl8pPr>
      <a:lvl9pPr marL="3600450" indent="-228600" algn="l" rtl="0" fontAlgn="base">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6" Type="http://schemas.openxmlformats.org/officeDocument/2006/relationships/notesSlide" Target="../notesSlides/notesSlide1.xml"/><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32.xml"/><Relationship Id="rId2" Type="http://schemas.openxmlformats.org/officeDocument/2006/relationships/slide" Target="slide77.xml"/><Relationship Id="rId1" Type="http://schemas.openxmlformats.org/officeDocument/2006/relationships/slide" Target="slide2.xml"/></Relationships>
</file>

<file path=ppt/slides/_rels/slide2.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audio" Target="../media/audio1.wav"/><Relationship Id="rId6" Type="http://schemas.openxmlformats.org/officeDocument/2006/relationships/slide" Target="slide1.xml"/><Relationship Id="rId5" Type="http://schemas.openxmlformats.org/officeDocument/2006/relationships/slide" Target="slide51.xml"/><Relationship Id="rId4" Type="http://schemas.openxmlformats.org/officeDocument/2006/relationships/slide" Target="slide30.xml"/><Relationship Id="rId3" Type="http://schemas.openxmlformats.org/officeDocument/2006/relationships/slide" Target="slide16.xml"/><Relationship Id="rId2" Type="http://schemas.openxmlformats.org/officeDocument/2006/relationships/slide" Target="slide5.xml"/><Relationship Id="rId1" Type="http://schemas.openxmlformats.org/officeDocument/2006/relationships/slide" Target="slide3.xml"/></Relationships>
</file>

<file path=ppt/slides/_rels/slide3.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slide" Target="slide2.xml"/><Relationship Id="rId1" Type="http://schemas.openxmlformats.org/officeDocument/2006/relationships/slide" Target="slide1.xml"/></Relationships>
</file>

<file path=ppt/slides/_rels/slide4.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slide" Target="slide2.xml"/><Relationship Id="rId1" Type="http://schemas.openxmlformats.org/officeDocument/2006/relationships/slide" Target="slide1.xml"/></Relationships>
</file>

<file path=ppt/slides/_rels/slide5.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5.xml"/><Relationship Id="rId4" Type="http://schemas.openxmlformats.org/officeDocument/2006/relationships/slide" Target="slide11.xml"/><Relationship Id="rId3" Type="http://schemas.openxmlformats.org/officeDocument/2006/relationships/slide" Target="slide6.xml"/><Relationship Id="rId2" Type="http://schemas.openxmlformats.org/officeDocument/2006/relationships/slide" Target="slide2.xml"/><Relationship Id="rId1" Type="http://schemas.openxmlformats.org/officeDocument/2006/relationships/slide" Target="slide1.xml"/></Relationships>
</file>

<file path=ppt/slides/_rels/slide6.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5.xml"/><Relationship Id="rId2" Type="http://schemas.openxmlformats.org/officeDocument/2006/relationships/slide" Target="slide2.xml"/><Relationship Id="rId1" Type="http://schemas.openxmlformats.org/officeDocument/2006/relationships/slide" Target="slide1.xml"/></Relationships>
</file>

<file path=ppt/slides/_rels/slide7.xml.rels><?xml version="1.0" encoding="UTF-8" standalone="yes"?>
<Relationships xmlns="http://schemas.openxmlformats.org/package/2006/relationships"><Relationship Id="rId8" Type="http://schemas.openxmlformats.org/officeDocument/2006/relationships/vmlDrawing" Target="../drawings/vmlDrawing1.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3.wmf"/><Relationship Id="rId4" Type="http://schemas.openxmlformats.org/officeDocument/2006/relationships/oleObject" Target="../embeddings/oleObject1.bin"/><Relationship Id="rId3" Type="http://schemas.openxmlformats.org/officeDocument/2006/relationships/slide" Target="slide5.xml"/><Relationship Id="rId2" Type="http://schemas.openxmlformats.org/officeDocument/2006/relationships/slide" Target="slide2.xml"/><Relationship Id="rId1" Type="http://schemas.openxmlformats.org/officeDocument/2006/relationships/slide" Target="slide1.xml"/></Relationships>
</file>

<file path=ppt/slides/_rels/slide8.xml.rels><?xml version="1.0" encoding="UTF-8" standalone="yes"?>
<Relationships xmlns="http://schemas.openxmlformats.org/package/2006/relationships"><Relationship Id="rId8" Type="http://schemas.openxmlformats.org/officeDocument/2006/relationships/vmlDrawing" Target="../drawings/vmlDrawing2.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4.wmf"/><Relationship Id="rId4" Type="http://schemas.openxmlformats.org/officeDocument/2006/relationships/oleObject" Target="../embeddings/oleObject2.bin"/><Relationship Id="rId3" Type="http://schemas.openxmlformats.org/officeDocument/2006/relationships/slide" Target="slide5.xml"/><Relationship Id="rId2" Type="http://schemas.openxmlformats.org/officeDocument/2006/relationships/slide" Target="slide2.xml"/><Relationship Id="rId1" Type="http://schemas.openxmlformats.org/officeDocument/2006/relationships/slide" Target="slide1.xml"/></Relationships>
</file>

<file path=ppt/slides/_rels/slide9.xml.rels><?xml version="1.0" encoding="UTF-8" standalone="yes"?>
<Relationships xmlns="http://schemas.openxmlformats.org/package/2006/relationships"><Relationship Id="rId8" Type="http://schemas.openxmlformats.org/officeDocument/2006/relationships/vmlDrawing" Target="../drawings/vmlDrawing3.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5.wmf"/><Relationship Id="rId4" Type="http://schemas.openxmlformats.org/officeDocument/2006/relationships/oleObject" Target="../embeddings/oleObject3.bin"/><Relationship Id="rId3" Type="http://schemas.openxmlformats.org/officeDocument/2006/relationships/slide" Target="slide5.xml"/><Relationship Id="rId2" Type="http://schemas.openxmlformats.org/officeDocument/2006/relationships/slide" Target="slide2.xml"/><Relationship Id="rId1" Type="http://schemas.openxmlformats.org/officeDocument/2006/relationships/slide" Target="slide1.xml"/></Relationships>
</file>

<file path=ppt/slides/_rels/slide10.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image" Target="../media/image6.wmf"/><Relationship Id="rId3" Type="http://schemas.openxmlformats.org/officeDocument/2006/relationships/slide" Target="slide5.xml"/><Relationship Id="rId2" Type="http://schemas.openxmlformats.org/officeDocument/2006/relationships/slide" Target="slide2.xml"/><Relationship Id="rId1" Type="http://schemas.openxmlformats.org/officeDocument/2006/relationships/slide" Target="slide1.xml"/></Relationships>
</file>

<file path=ppt/slides/_rels/slide11.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4.xml"/><Relationship Id="rId4" Type="http://schemas.openxmlformats.org/officeDocument/2006/relationships/slide" Target="slide12.xml"/><Relationship Id="rId3" Type="http://schemas.openxmlformats.org/officeDocument/2006/relationships/slide" Target="slide5.xml"/><Relationship Id="rId2" Type="http://schemas.openxmlformats.org/officeDocument/2006/relationships/slide" Target="slide2.xml"/><Relationship Id="rId1" Type="http://schemas.openxmlformats.org/officeDocument/2006/relationships/slide" Target="slide1.xml"/></Relationships>
</file>

<file path=ppt/slides/_rels/slide12.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1.xml"/><Relationship Id="rId3" Type="http://schemas.openxmlformats.org/officeDocument/2006/relationships/slide" Target="slide5.xml"/><Relationship Id="rId2" Type="http://schemas.openxmlformats.org/officeDocument/2006/relationships/slide" Target="slide2.xml"/><Relationship Id="rId1" Type="http://schemas.openxmlformats.org/officeDocument/2006/relationships/slide" Target="slide1.xml"/></Relationships>
</file>

<file path=ppt/slides/_rels/slide13.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1.xml"/><Relationship Id="rId3" Type="http://schemas.openxmlformats.org/officeDocument/2006/relationships/slide" Target="slide5.xml"/><Relationship Id="rId2" Type="http://schemas.openxmlformats.org/officeDocument/2006/relationships/slide" Target="slide2.xml"/><Relationship Id="rId1" Type="http://schemas.openxmlformats.org/officeDocument/2006/relationships/slide" Target="slide1.xml"/></Relationships>
</file>

<file path=ppt/slides/_rels/slide14.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1.xml"/><Relationship Id="rId3" Type="http://schemas.openxmlformats.org/officeDocument/2006/relationships/slide" Target="slide5.xml"/><Relationship Id="rId2" Type="http://schemas.openxmlformats.org/officeDocument/2006/relationships/slide" Target="slide2.xml"/><Relationship Id="rId1" Type="http://schemas.openxmlformats.org/officeDocument/2006/relationships/slide" Target="slide1.xml"/></Relationships>
</file>

<file path=ppt/slides/_rels/slide15.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5.xml"/><Relationship Id="rId2" Type="http://schemas.openxmlformats.org/officeDocument/2006/relationships/slide" Target="slide2.xml"/><Relationship Id="rId1" Type="http://schemas.openxmlformats.org/officeDocument/2006/relationships/slide" Target="slide1.xml"/></Relationships>
</file>

<file path=ppt/slides/_rels/slide16.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slide" Target="slide29.xml"/><Relationship Id="rId6" Type="http://schemas.openxmlformats.org/officeDocument/2006/relationships/slide" Target="slide25.xml"/><Relationship Id="rId5" Type="http://schemas.openxmlformats.org/officeDocument/2006/relationships/slide" Target="slide22.xml"/><Relationship Id="rId4" Type="http://schemas.openxmlformats.org/officeDocument/2006/relationships/slide" Target="slide19.xml"/><Relationship Id="rId3" Type="http://schemas.openxmlformats.org/officeDocument/2006/relationships/slide" Target="slide17.xml"/><Relationship Id="rId2" Type="http://schemas.openxmlformats.org/officeDocument/2006/relationships/slide" Target="slide2.xml"/><Relationship Id="rId1" Type="http://schemas.openxmlformats.org/officeDocument/2006/relationships/slide" Target="slide1.xml"/></Relationships>
</file>

<file path=ppt/slides/_rels/slide17.xml.rels><?xml version="1.0" encoding="UTF-8" standalone="yes"?>
<Relationships xmlns="http://schemas.openxmlformats.org/package/2006/relationships"><Relationship Id="rId5" Type="http://schemas.openxmlformats.org/officeDocument/2006/relationships/slideLayout" Target="../slideLayouts/slideLayout2.xml"/><Relationship Id="rId4" Type="http://schemas.openxmlformats.org/officeDocument/2006/relationships/audio" Target="../media/audio1.wav"/><Relationship Id="rId3" Type="http://schemas.openxmlformats.org/officeDocument/2006/relationships/slide" Target="slide16.xml"/><Relationship Id="rId2" Type="http://schemas.openxmlformats.org/officeDocument/2006/relationships/slide" Target="slide2.xml"/><Relationship Id="rId1" Type="http://schemas.openxmlformats.org/officeDocument/2006/relationships/slide" Target="slide1.xml"/></Relationships>
</file>

<file path=ppt/slides/_rels/slide18.xml.rels><?xml version="1.0" encoding="UTF-8" standalone="yes"?>
<Relationships xmlns="http://schemas.openxmlformats.org/package/2006/relationships"><Relationship Id="rId7" Type="http://schemas.openxmlformats.org/officeDocument/2006/relationships/notesSlide" Target="../notesSlides/notesSlide2.xml"/><Relationship Id="rId6" Type="http://schemas.openxmlformats.org/officeDocument/2006/relationships/vmlDrawing" Target="../drawings/vmlDrawing4.vml"/><Relationship Id="rId5" Type="http://schemas.openxmlformats.org/officeDocument/2006/relationships/slideLayout" Target="../slideLayouts/slideLayout3.xml"/><Relationship Id="rId4" Type="http://schemas.openxmlformats.org/officeDocument/2006/relationships/audio" Target="../media/audio1.wav"/><Relationship Id="rId3" Type="http://schemas.openxmlformats.org/officeDocument/2006/relationships/image" Target="../media/image8.jpeg"/><Relationship Id="rId2" Type="http://schemas.openxmlformats.org/officeDocument/2006/relationships/image" Target="../media/image7.wmf"/><Relationship Id="rId1" Type="http://schemas.openxmlformats.org/officeDocument/2006/relationships/oleObject" Target="../embeddings/oleObject4.bin"/></Relationships>
</file>

<file path=ppt/slides/_rels/slide19.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21.xml"/><Relationship Id="rId4" Type="http://schemas.openxmlformats.org/officeDocument/2006/relationships/slide" Target="slide20.xml"/><Relationship Id="rId3" Type="http://schemas.openxmlformats.org/officeDocument/2006/relationships/slide" Target="slide16.xml"/><Relationship Id="rId2" Type="http://schemas.openxmlformats.org/officeDocument/2006/relationships/slide" Target="slide2.xml"/><Relationship Id="rId1" Type="http://schemas.openxmlformats.org/officeDocument/2006/relationships/slide" Target="slide1.xml"/></Relationships>
</file>

<file path=ppt/slides/_rels/slide20.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9.xml"/><Relationship Id="rId3" Type="http://schemas.openxmlformats.org/officeDocument/2006/relationships/slide" Target="slide16.xml"/><Relationship Id="rId2" Type="http://schemas.openxmlformats.org/officeDocument/2006/relationships/slide" Target="slide2.xml"/><Relationship Id="rId1" Type="http://schemas.openxmlformats.org/officeDocument/2006/relationships/slide" Target="slide1.xml"/></Relationships>
</file>

<file path=ppt/slides/_rels/slide21.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9.xml"/><Relationship Id="rId3" Type="http://schemas.openxmlformats.org/officeDocument/2006/relationships/slide" Target="slide16.xml"/><Relationship Id="rId2" Type="http://schemas.openxmlformats.org/officeDocument/2006/relationships/slide" Target="slide2.xml"/><Relationship Id="rId1" Type="http://schemas.openxmlformats.org/officeDocument/2006/relationships/slide" Target="slide1.xml"/></Relationships>
</file>

<file path=ppt/slides/_rels/slide22.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16.xml"/><Relationship Id="rId2" Type="http://schemas.openxmlformats.org/officeDocument/2006/relationships/slide" Target="slide2.xml"/><Relationship Id="rId1" Type="http://schemas.openxmlformats.org/officeDocument/2006/relationships/slide" Target="slide1.xml"/></Relationships>
</file>

<file path=ppt/slides/_rels/slide23.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16.xml"/><Relationship Id="rId2" Type="http://schemas.openxmlformats.org/officeDocument/2006/relationships/slide" Target="slide2.xml"/><Relationship Id="rId1" Type="http://schemas.openxmlformats.org/officeDocument/2006/relationships/slide" Target="slide1.xml"/></Relationships>
</file>

<file path=ppt/slides/_rels/slide24.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16.xml"/><Relationship Id="rId2" Type="http://schemas.openxmlformats.org/officeDocument/2006/relationships/slide" Target="slide2.xml"/><Relationship Id="rId1" Type="http://schemas.openxmlformats.org/officeDocument/2006/relationships/slide" Target="slide1.xml"/></Relationships>
</file>

<file path=ppt/slides/_rels/slide25.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audio" Target="../media/audio1.wav"/><Relationship Id="rId6" Type="http://schemas.openxmlformats.org/officeDocument/2006/relationships/slide" Target="slide16.xml"/><Relationship Id="rId5" Type="http://schemas.openxmlformats.org/officeDocument/2006/relationships/slide" Target="slide2.xml"/><Relationship Id="rId4" Type="http://schemas.openxmlformats.org/officeDocument/2006/relationships/slide" Target="slide1.xml"/><Relationship Id="rId3" Type="http://schemas.openxmlformats.org/officeDocument/2006/relationships/slide" Target="slide28.xml"/><Relationship Id="rId2" Type="http://schemas.openxmlformats.org/officeDocument/2006/relationships/slide" Target="slide27.xml"/><Relationship Id="rId1" Type="http://schemas.openxmlformats.org/officeDocument/2006/relationships/slide" Target="slide26.xml"/></Relationships>
</file>

<file path=ppt/slides/_rels/slide26.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xml"/><Relationship Id="rId3" Type="http://schemas.openxmlformats.org/officeDocument/2006/relationships/slide" Target="slide16.xml"/><Relationship Id="rId2" Type="http://schemas.openxmlformats.org/officeDocument/2006/relationships/slide" Target="slide2.xml"/><Relationship Id="rId1" Type="http://schemas.openxmlformats.org/officeDocument/2006/relationships/slide" Target="slide1.xml"/></Relationships>
</file>

<file path=ppt/slides/_rels/slide27.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xml"/><Relationship Id="rId3" Type="http://schemas.openxmlformats.org/officeDocument/2006/relationships/slide" Target="slide16.xml"/><Relationship Id="rId2" Type="http://schemas.openxmlformats.org/officeDocument/2006/relationships/slide" Target="slide2.xml"/><Relationship Id="rId1" Type="http://schemas.openxmlformats.org/officeDocument/2006/relationships/slide" Target="slide1.xml"/></Relationships>
</file>

<file path=ppt/slides/_rels/slide28.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xml"/><Relationship Id="rId3" Type="http://schemas.openxmlformats.org/officeDocument/2006/relationships/slide" Target="slide16.xml"/><Relationship Id="rId2" Type="http://schemas.openxmlformats.org/officeDocument/2006/relationships/slide" Target="slide2.xml"/><Relationship Id="rId1" Type="http://schemas.openxmlformats.org/officeDocument/2006/relationships/slide" Target="slide1.xml"/></Relationships>
</file>

<file path=ppt/slides/_rels/slide29.xml.rels><?xml version="1.0" encoding="UTF-8" standalone="yes"?>
<Relationships xmlns="http://schemas.openxmlformats.org/package/2006/relationships"><Relationship Id="rId5" Type="http://schemas.openxmlformats.org/officeDocument/2006/relationships/slideLayout" Target="../slideLayouts/slideLayout2.xml"/><Relationship Id="rId4" Type="http://schemas.openxmlformats.org/officeDocument/2006/relationships/audio" Target="../media/audio1.wav"/><Relationship Id="rId3" Type="http://schemas.openxmlformats.org/officeDocument/2006/relationships/slide" Target="slide16.xml"/><Relationship Id="rId2" Type="http://schemas.openxmlformats.org/officeDocument/2006/relationships/slide" Target="slide2.xml"/><Relationship Id="rId1" Type="http://schemas.openxmlformats.org/officeDocument/2006/relationships/slide" Target="slide1.xml"/></Relationships>
</file>

<file path=ppt/slides/_rels/slide30.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slide" Target="slide48.xml"/><Relationship Id="rId6" Type="http://schemas.openxmlformats.org/officeDocument/2006/relationships/slide" Target="slide46.xml"/><Relationship Id="rId5" Type="http://schemas.openxmlformats.org/officeDocument/2006/relationships/slide" Target="slide42.xml"/><Relationship Id="rId4" Type="http://schemas.openxmlformats.org/officeDocument/2006/relationships/slide" Target="slide39.xml"/><Relationship Id="rId3" Type="http://schemas.openxmlformats.org/officeDocument/2006/relationships/slide" Target="slide31.xml"/><Relationship Id="rId2" Type="http://schemas.openxmlformats.org/officeDocument/2006/relationships/slide" Target="slide2.xml"/><Relationship Id="rId1" Type="http://schemas.openxmlformats.org/officeDocument/2006/relationships/slide" Target="slide1.xml"/></Relationships>
</file>

<file path=ppt/slides/_rels/slide31.xml.rels><?xml version="1.0" encoding="UTF-8" standalone="yes"?>
<Relationships xmlns="http://schemas.openxmlformats.org/package/2006/relationships"><Relationship Id="rId8" Type="http://schemas.openxmlformats.org/officeDocument/2006/relationships/vmlDrawing" Target="../drawings/vmlDrawing5.vml"/><Relationship Id="rId7" Type="http://schemas.openxmlformats.org/officeDocument/2006/relationships/slideLayout" Target="../slideLayouts/slideLayout2.xml"/><Relationship Id="rId6" Type="http://schemas.openxmlformats.org/officeDocument/2006/relationships/audio" Target="../media/audio1.wav"/><Relationship Id="rId5" Type="http://schemas.openxmlformats.org/officeDocument/2006/relationships/image" Target="../media/image9.wmf"/><Relationship Id="rId4" Type="http://schemas.openxmlformats.org/officeDocument/2006/relationships/oleObject" Target="../embeddings/oleObject5.bin"/><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32.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33.xml.rels><?xml version="1.0" encoding="UTF-8" standalone="yes"?>
<Relationships xmlns="http://schemas.openxmlformats.org/package/2006/relationships"><Relationship Id="rId9" Type="http://schemas.openxmlformats.org/officeDocument/2006/relationships/image" Target="../media/image12.wmf"/><Relationship Id="rId8" Type="http://schemas.openxmlformats.org/officeDocument/2006/relationships/oleObject" Target="../embeddings/oleObject8.bin"/><Relationship Id="rId7" Type="http://schemas.openxmlformats.org/officeDocument/2006/relationships/image" Target="../media/image11.wmf"/><Relationship Id="rId6" Type="http://schemas.openxmlformats.org/officeDocument/2006/relationships/oleObject" Target="../embeddings/oleObject7.bin"/><Relationship Id="rId5" Type="http://schemas.openxmlformats.org/officeDocument/2006/relationships/image" Target="../media/image10.wmf"/><Relationship Id="rId4" Type="http://schemas.openxmlformats.org/officeDocument/2006/relationships/oleObject" Target="../embeddings/oleObject6.bin"/><Relationship Id="rId3" Type="http://schemas.openxmlformats.org/officeDocument/2006/relationships/slide" Target="slide30.xml"/><Relationship Id="rId2" Type="http://schemas.openxmlformats.org/officeDocument/2006/relationships/slide" Target="slide2.xml"/><Relationship Id="rId13" Type="http://schemas.openxmlformats.org/officeDocument/2006/relationships/vmlDrawing" Target="../drawings/vmlDrawing6.vml"/><Relationship Id="rId12" Type="http://schemas.openxmlformats.org/officeDocument/2006/relationships/slideLayout" Target="../slideLayouts/slideLayout1.xml"/><Relationship Id="rId11" Type="http://schemas.openxmlformats.org/officeDocument/2006/relationships/audio" Target="../media/audio2.wav"/><Relationship Id="rId10" Type="http://schemas.openxmlformats.org/officeDocument/2006/relationships/audio" Target="../media/audio1.wav"/><Relationship Id="rId1" Type="http://schemas.openxmlformats.org/officeDocument/2006/relationships/slide" Target="slide1.xml"/></Relationships>
</file>

<file path=ppt/slides/_rels/slide34.xml.rels><?xml version="1.0" encoding="UTF-8" standalone="yes"?>
<Relationships xmlns="http://schemas.openxmlformats.org/package/2006/relationships"><Relationship Id="rId9" Type="http://schemas.openxmlformats.org/officeDocument/2006/relationships/audio" Target="../media/audio2.wav"/><Relationship Id="rId8" Type="http://schemas.openxmlformats.org/officeDocument/2006/relationships/audio" Target="../media/audio1.wav"/><Relationship Id="rId7" Type="http://schemas.openxmlformats.org/officeDocument/2006/relationships/image" Target="../media/image14.wmf"/><Relationship Id="rId6" Type="http://schemas.openxmlformats.org/officeDocument/2006/relationships/oleObject" Target="../embeddings/oleObject10.bin"/><Relationship Id="rId5" Type="http://schemas.openxmlformats.org/officeDocument/2006/relationships/image" Target="../media/image13.wmf"/><Relationship Id="rId4" Type="http://schemas.openxmlformats.org/officeDocument/2006/relationships/oleObject" Target="../embeddings/oleObject9.bin"/><Relationship Id="rId3" Type="http://schemas.openxmlformats.org/officeDocument/2006/relationships/slide" Target="slide30.xml"/><Relationship Id="rId2" Type="http://schemas.openxmlformats.org/officeDocument/2006/relationships/slide" Target="slide2.xml"/><Relationship Id="rId11" Type="http://schemas.openxmlformats.org/officeDocument/2006/relationships/vmlDrawing" Target="../drawings/vmlDrawing7.vml"/><Relationship Id="rId10" Type="http://schemas.openxmlformats.org/officeDocument/2006/relationships/slideLayout" Target="../slideLayouts/slideLayout1.xml"/><Relationship Id="rId1" Type="http://schemas.openxmlformats.org/officeDocument/2006/relationships/slide" Target="slide1.xml"/></Relationships>
</file>

<file path=ppt/slides/_rels/slide35.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36.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37.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38.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39.xml.rels><?xml version="1.0" encoding="UTF-8" standalone="yes"?>
<Relationships xmlns="http://schemas.openxmlformats.org/package/2006/relationships"><Relationship Id="rId8" Type="http://schemas.openxmlformats.org/officeDocument/2006/relationships/vmlDrawing" Target="../drawings/vmlDrawing8.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15.wmf"/><Relationship Id="rId4" Type="http://schemas.openxmlformats.org/officeDocument/2006/relationships/oleObject" Target="../embeddings/oleObject11.bin"/><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40.xml.rels><?xml version="1.0" encoding="UTF-8" standalone="yes"?>
<Relationships xmlns="http://schemas.openxmlformats.org/package/2006/relationships"><Relationship Id="rId9" Type="http://schemas.openxmlformats.org/officeDocument/2006/relationships/audio" Target="../media/audio2.wav"/><Relationship Id="rId8" Type="http://schemas.openxmlformats.org/officeDocument/2006/relationships/audio" Target="../media/audio1.wav"/><Relationship Id="rId7" Type="http://schemas.openxmlformats.org/officeDocument/2006/relationships/image" Target="../media/image17.wmf"/><Relationship Id="rId6" Type="http://schemas.openxmlformats.org/officeDocument/2006/relationships/oleObject" Target="../embeddings/oleObject13.bin"/><Relationship Id="rId5" Type="http://schemas.openxmlformats.org/officeDocument/2006/relationships/image" Target="../media/image16.wmf"/><Relationship Id="rId4" Type="http://schemas.openxmlformats.org/officeDocument/2006/relationships/oleObject" Target="../embeddings/oleObject12.bin"/><Relationship Id="rId3" Type="http://schemas.openxmlformats.org/officeDocument/2006/relationships/slide" Target="slide30.xml"/><Relationship Id="rId2" Type="http://schemas.openxmlformats.org/officeDocument/2006/relationships/slide" Target="slide2.xml"/><Relationship Id="rId11" Type="http://schemas.openxmlformats.org/officeDocument/2006/relationships/vmlDrawing" Target="../drawings/vmlDrawing9.vml"/><Relationship Id="rId10" Type="http://schemas.openxmlformats.org/officeDocument/2006/relationships/slideLayout" Target="../slideLayouts/slideLayout1.xml"/><Relationship Id="rId1" Type="http://schemas.openxmlformats.org/officeDocument/2006/relationships/slide" Target="slide1.xml"/></Relationships>
</file>

<file path=ppt/slides/_rels/slide41.xml.rels><?xml version="1.0" encoding="UTF-8" standalone="yes"?>
<Relationships xmlns="http://schemas.openxmlformats.org/package/2006/relationships"><Relationship Id="rId8" Type="http://schemas.openxmlformats.org/officeDocument/2006/relationships/vmlDrawing" Target="../drawings/vmlDrawing10.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18.wmf"/><Relationship Id="rId4" Type="http://schemas.openxmlformats.org/officeDocument/2006/relationships/oleObject" Target="../embeddings/oleObject14.bin"/><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42.xml.rels><?xml version="1.0" encoding="UTF-8" standalone="yes"?>
<Relationships xmlns="http://schemas.openxmlformats.org/package/2006/relationships"><Relationship Id="rId8" Type="http://schemas.openxmlformats.org/officeDocument/2006/relationships/vmlDrawing" Target="../drawings/vmlDrawing11.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19.wmf"/><Relationship Id="rId4" Type="http://schemas.openxmlformats.org/officeDocument/2006/relationships/oleObject" Target="../embeddings/oleObject15.bin"/><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43.xml.rels><?xml version="1.0" encoding="UTF-8" standalone="yes"?>
<Relationships xmlns="http://schemas.openxmlformats.org/package/2006/relationships"><Relationship Id="rId9" Type="http://schemas.openxmlformats.org/officeDocument/2006/relationships/audio" Target="../media/audio2.wav"/><Relationship Id="rId8" Type="http://schemas.openxmlformats.org/officeDocument/2006/relationships/audio" Target="../media/audio1.wav"/><Relationship Id="rId7" Type="http://schemas.openxmlformats.org/officeDocument/2006/relationships/image" Target="../media/image21.wmf"/><Relationship Id="rId6" Type="http://schemas.openxmlformats.org/officeDocument/2006/relationships/oleObject" Target="../embeddings/oleObject17.bin"/><Relationship Id="rId5" Type="http://schemas.openxmlformats.org/officeDocument/2006/relationships/image" Target="../media/image20.wmf"/><Relationship Id="rId4" Type="http://schemas.openxmlformats.org/officeDocument/2006/relationships/oleObject" Target="../embeddings/oleObject16.bin"/><Relationship Id="rId3" Type="http://schemas.openxmlformats.org/officeDocument/2006/relationships/slide" Target="slide30.xml"/><Relationship Id="rId2" Type="http://schemas.openxmlformats.org/officeDocument/2006/relationships/slide" Target="slide2.xml"/><Relationship Id="rId11" Type="http://schemas.openxmlformats.org/officeDocument/2006/relationships/vmlDrawing" Target="../drawings/vmlDrawing12.vml"/><Relationship Id="rId10" Type="http://schemas.openxmlformats.org/officeDocument/2006/relationships/slideLayout" Target="../slideLayouts/slideLayout1.xml"/><Relationship Id="rId1" Type="http://schemas.openxmlformats.org/officeDocument/2006/relationships/slide" Target="slide1.xml"/></Relationships>
</file>

<file path=ppt/slides/_rels/slide44.xml.rels><?xml version="1.0" encoding="UTF-8" standalone="yes"?>
<Relationships xmlns="http://schemas.openxmlformats.org/package/2006/relationships"><Relationship Id="rId8" Type="http://schemas.openxmlformats.org/officeDocument/2006/relationships/vmlDrawing" Target="../drawings/vmlDrawing13.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22.wmf"/><Relationship Id="rId4" Type="http://schemas.openxmlformats.org/officeDocument/2006/relationships/oleObject" Target="../embeddings/oleObject18.bin"/><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45.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image" Target="../media/image24.wmf"/><Relationship Id="rId6" Type="http://schemas.openxmlformats.org/officeDocument/2006/relationships/oleObject" Target="../embeddings/oleObject20.bin"/><Relationship Id="rId5" Type="http://schemas.openxmlformats.org/officeDocument/2006/relationships/image" Target="../media/image23.wmf"/><Relationship Id="rId4" Type="http://schemas.openxmlformats.org/officeDocument/2006/relationships/oleObject" Target="../embeddings/oleObject19.bin"/><Relationship Id="rId3" Type="http://schemas.openxmlformats.org/officeDocument/2006/relationships/slide" Target="slide30.xml"/><Relationship Id="rId2" Type="http://schemas.openxmlformats.org/officeDocument/2006/relationships/slide" Target="slide2.xml"/><Relationship Id="rId10" Type="http://schemas.openxmlformats.org/officeDocument/2006/relationships/vmlDrawing" Target="../drawings/vmlDrawing14.vml"/><Relationship Id="rId1" Type="http://schemas.openxmlformats.org/officeDocument/2006/relationships/slide" Target="slide1.xml"/></Relationships>
</file>

<file path=ppt/slides/_rels/slide46.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47.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audio" Target="../media/audio1.wav"/><Relationship Id="rId7" Type="http://schemas.openxmlformats.org/officeDocument/2006/relationships/image" Target="../media/image26.wmf"/><Relationship Id="rId6" Type="http://schemas.openxmlformats.org/officeDocument/2006/relationships/oleObject" Target="../embeddings/oleObject22.bin"/><Relationship Id="rId5" Type="http://schemas.openxmlformats.org/officeDocument/2006/relationships/image" Target="../media/image25.wmf"/><Relationship Id="rId4" Type="http://schemas.openxmlformats.org/officeDocument/2006/relationships/oleObject" Target="../embeddings/oleObject21.bin"/><Relationship Id="rId3" Type="http://schemas.openxmlformats.org/officeDocument/2006/relationships/slide" Target="slide30.xml"/><Relationship Id="rId2" Type="http://schemas.openxmlformats.org/officeDocument/2006/relationships/slide" Target="slide2.xml"/><Relationship Id="rId10" Type="http://schemas.openxmlformats.org/officeDocument/2006/relationships/vmlDrawing" Target="../drawings/vmlDrawing15.vml"/><Relationship Id="rId1" Type="http://schemas.openxmlformats.org/officeDocument/2006/relationships/slide" Target="slide1.xml"/></Relationships>
</file>

<file path=ppt/slides/_rels/slide48.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49.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30.xml"/><Relationship Id="rId2" Type="http://schemas.openxmlformats.org/officeDocument/2006/relationships/slide" Target="slide2.xml"/><Relationship Id="rId1" Type="http://schemas.openxmlformats.org/officeDocument/2006/relationships/slide" Target="slide1.xml"/></Relationships>
</file>

<file path=ppt/slides/_rels/slide50.xml.rels><?xml version="1.0" encoding="UTF-8" standalone="yes"?>
<Relationships xmlns="http://schemas.openxmlformats.org/package/2006/relationships"><Relationship Id="rId9" Type="http://schemas.openxmlformats.org/officeDocument/2006/relationships/image" Target="../media/image29.wmf"/><Relationship Id="rId8" Type="http://schemas.openxmlformats.org/officeDocument/2006/relationships/oleObject" Target="../embeddings/oleObject25.bin"/><Relationship Id="rId7" Type="http://schemas.openxmlformats.org/officeDocument/2006/relationships/image" Target="../media/image28.wmf"/><Relationship Id="rId6" Type="http://schemas.openxmlformats.org/officeDocument/2006/relationships/oleObject" Target="../embeddings/oleObject24.bin"/><Relationship Id="rId5" Type="http://schemas.openxmlformats.org/officeDocument/2006/relationships/image" Target="../media/image27.wmf"/><Relationship Id="rId4" Type="http://schemas.openxmlformats.org/officeDocument/2006/relationships/oleObject" Target="../embeddings/oleObject23.bin"/><Relationship Id="rId3" Type="http://schemas.openxmlformats.org/officeDocument/2006/relationships/slide" Target="slide30.xml"/><Relationship Id="rId2" Type="http://schemas.openxmlformats.org/officeDocument/2006/relationships/slide" Target="slide2.xml"/><Relationship Id="rId13" Type="http://schemas.openxmlformats.org/officeDocument/2006/relationships/vmlDrawing" Target="../drawings/vmlDrawing16.vml"/><Relationship Id="rId12" Type="http://schemas.openxmlformats.org/officeDocument/2006/relationships/slideLayout" Target="../slideLayouts/slideLayout1.xml"/><Relationship Id="rId11" Type="http://schemas.openxmlformats.org/officeDocument/2006/relationships/audio" Target="../media/audio2.wav"/><Relationship Id="rId10" Type="http://schemas.openxmlformats.org/officeDocument/2006/relationships/audio" Target="../media/audio1.wav"/><Relationship Id="rId1" Type="http://schemas.openxmlformats.org/officeDocument/2006/relationships/slide" Target="slide1.xml"/></Relationships>
</file>

<file path=ppt/slides/_rels/slide51.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audio" Target="../media/audio1.wav"/><Relationship Id="rId6" Type="http://schemas.openxmlformats.org/officeDocument/2006/relationships/slide" Target="slide70.xml"/><Relationship Id="rId5" Type="http://schemas.openxmlformats.org/officeDocument/2006/relationships/slide" Target="slide58.xml"/><Relationship Id="rId4" Type="http://schemas.openxmlformats.org/officeDocument/2006/relationships/slide" Target="slide53.xml"/><Relationship Id="rId3" Type="http://schemas.openxmlformats.org/officeDocument/2006/relationships/slide" Target="slide52.xml"/><Relationship Id="rId2" Type="http://schemas.openxmlformats.org/officeDocument/2006/relationships/slide" Target="slide2.xml"/><Relationship Id="rId1" Type="http://schemas.openxmlformats.org/officeDocument/2006/relationships/slide" Target="slide1.xml"/></Relationships>
</file>

<file path=ppt/slides/_rels/slide52.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53.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54.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55.xml.rels><?xml version="1.0" encoding="UTF-8" standalone="yes"?>
<Relationships xmlns="http://schemas.openxmlformats.org/package/2006/relationships"><Relationship Id="rId9" Type="http://schemas.openxmlformats.org/officeDocument/2006/relationships/image" Target="../media/image32.jpeg"/><Relationship Id="rId8" Type="http://schemas.openxmlformats.org/officeDocument/2006/relationships/image" Target="../media/image31.emf"/><Relationship Id="rId7" Type="http://schemas.openxmlformats.org/officeDocument/2006/relationships/oleObject" Target="../embeddings/oleObject27.bin"/><Relationship Id="rId6" Type="http://schemas.openxmlformats.org/officeDocument/2006/relationships/image" Target="../media/image8.jpeg"/><Relationship Id="rId5" Type="http://schemas.openxmlformats.org/officeDocument/2006/relationships/image" Target="../media/image30.emf"/><Relationship Id="rId4" Type="http://schemas.openxmlformats.org/officeDocument/2006/relationships/oleObject" Target="../embeddings/oleObject26.bin"/><Relationship Id="rId3" Type="http://schemas.openxmlformats.org/officeDocument/2006/relationships/slide" Target="slide51.xml"/><Relationship Id="rId2" Type="http://schemas.openxmlformats.org/officeDocument/2006/relationships/slide" Target="slide2.xml"/><Relationship Id="rId12" Type="http://schemas.openxmlformats.org/officeDocument/2006/relationships/vmlDrawing" Target="../drawings/vmlDrawing17.vml"/><Relationship Id="rId11" Type="http://schemas.openxmlformats.org/officeDocument/2006/relationships/slideLayout" Target="../slideLayouts/slideLayout1.xml"/><Relationship Id="rId10" Type="http://schemas.openxmlformats.org/officeDocument/2006/relationships/audio" Target="../media/audio1.wav"/><Relationship Id="rId1" Type="http://schemas.openxmlformats.org/officeDocument/2006/relationships/slide" Target="slide1.xml"/></Relationships>
</file>

<file path=ppt/slides/_rels/slide56.xml.rels><?xml version="1.0" encoding="UTF-8" standalone="yes"?>
<Relationships xmlns="http://schemas.openxmlformats.org/package/2006/relationships"><Relationship Id="rId8" Type="http://schemas.openxmlformats.org/officeDocument/2006/relationships/vmlDrawing" Target="../drawings/vmlDrawing18.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33.wmf"/><Relationship Id="rId4" Type="http://schemas.openxmlformats.org/officeDocument/2006/relationships/oleObject" Target="../embeddings/oleObject28.bin"/><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57.xml.rels><?xml version="1.0" encoding="UTF-8" standalone="yes"?>
<Relationships xmlns="http://schemas.openxmlformats.org/package/2006/relationships"><Relationship Id="rId8" Type="http://schemas.openxmlformats.org/officeDocument/2006/relationships/vmlDrawing" Target="../drawings/vmlDrawing19.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34.emf"/><Relationship Id="rId4" Type="http://schemas.openxmlformats.org/officeDocument/2006/relationships/oleObject" Target="../embeddings/Document1.doc"/><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58.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59.xml.rels><?xml version="1.0" encoding="UTF-8" standalone="yes"?>
<Relationships xmlns="http://schemas.openxmlformats.org/package/2006/relationships"><Relationship Id="rId9" Type="http://schemas.openxmlformats.org/officeDocument/2006/relationships/audio" Target="../media/audio1.wav"/><Relationship Id="rId8" Type="http://schemas.openxmlformats.org/officeDocument/2006/relationships/slide" Target="slide66.xml"/><Relationship Id="rId7" Type="http://schemas.openxmlformats.org/officeDocument/2006/relationships/slide" Target="slide64.xml"/><Relationship Id="rId6" Type="http://schemas.openxmlformats.org/officeDocument/2006/relationships/slide" Target="slide62.xml"/><Relationship Id="rId5" Type="http://schemas.openxmlformats.org/officeDocument/2006/relationships/slide" Target="slide61.xml"/><Relationship Id="rId4" Type="http://schemas.openxmlformats.org/officeDocument/2006/relationships/slide" Target="slide60.xml"/><Relationship Id="rId3" Type="http://schemas.openxmlformats.org/officeDocument/2006/relationships/slide" Target="slide51.xml"/><Relationship Id="rId2" Type="http://schemas.openxmlformats.org/officeDocument/2006/relationships/slide" Target="slide2.xml"/><Relationship Id="rId10" Type="http://schemas.openxmlformats.org/officeDocument/2006/relationships/slideLayout" Target="../slideLayouts/slideLayout1.xml"/><Relationship Id="rId1" Type="http://schemas.openxmlformats.org/officeDocument/2006/relationships/slide" Target="slide1.xml"/></Relationships>
</file>

<file path=ppt/slides/_rels/slide60.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59.xml"/><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61.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59.xml"/><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62.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59.xml"/><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63.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35.png"/><Relationship Id="rId4" Type="http://schemas.openxmlformats.org/officeDocument/2006/relationships/slide" Target="slide59.xml"/><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64.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59.xml"/><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65.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35.png"/><Relationship Id="rId4" Type="http://schemas.openxmlformats.org/officeDocument/2006/relationships/slide" Target="slide59.xml"/><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66.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59.xml"/><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67.xml.rels><?xml version="1.0" encoding="UTF-8" standalone="yes"?>
<Relationships xmlns="http://schemas.openxmlformats.org/package/2006/relationships"><Relationship Id="rId6" Type="http://schemas.openxmlformats.org/officeDocument/2006/relationships/slideLayout" Target="../slideLayouts/slideLayout4.xml"/><Relationship Id="rId5" Type="http://schemas.openxmlformats.org/officeDocument/2006/relationships/audio" Target="../media/audio1.wav"/><Relationship Id="rId4" Type="http://schemas.openxmlformats.org/officeDocument/2006/relationships/slide" Target="slide59.xml"/><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68.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59.xml"/><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69.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59.xml"/><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70.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71.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72.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73.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74.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75.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51.xml"/><Relationship Id="rId3" Type="http://schemas.openxmlformats.org/officeDocument/2006/relationships/slide" Target="slide2.xml"/><Relationship Id="rId2" Type="http://schemas.openxmlformats.org/officeDocument/2006/relationships/slide" Target="slide1.xml"/><Relationship Id="rId1" Type="http://schemas.openxmlformats.org/officeDocument/2006/relationships/image" Target="../media/image36.png"/></Relationships>
</file>

<file path=ppt/slides/_rels/slide76.xml.rels><?xml version="1.0" encoding="UTF-8" standalone="yes"?>
<Relationships xmlns="http://schemas.openxmlformats.org/package/2006/relationships"><Relationship Id="rId8" Type="http://schemas.openxmlformats.org/officeDocument/2006/relationships/vmlDrawing" Target="../drawings/vmlDrawing20.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37.wmf"/><Relationship Id="rId4" Type="http://schemas.openxmlformats.org/officeDocument/2006/relationships/oleObject" Target="../embeddings/oleObject29.bin"/><Relationship Id="rId3" Type="http://schemas.openxmlformats.org/officeDocument/2006/relationships/slide" Target="slide51.xml"/><Relationship Id="rId2" Type="http://schemas.openxmlformats.org/officeDocument/2006/relationships/slide" Target="slide2.xml"/><Relationship Id="rId1" Type="http://schemas.openxmlformats.org/officeDocument/2006/relationships/slide" Target="slide1.xml"/></Relationships>
</file>

<file path=ppt/slides/_rels/slide77.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audio" Target="../media/audio1.wav"/><Relationship Id="rId7" Type="http://schemas.openxmlformats.org/officeDocument/2006/relationships/slide" Target="slide1.xml"/><Relationship Id="rId6" Type="http://schemas.openxmlformats.org/officeDocument/2006/relationships/slide" Target="slide215.xml"/><Relationship Id="rId5" Type="http://schemas.openxmlformats.org/officeDocument/2006/relationships/slide" Target="slide204.xml"/><Relationship Id="rId4" Type="http://schemas.openxmlformats.org/officeDocument/2006/relationships/slide" Target="slide153.xml"/><Relationship Id="rId3" Type="http://schemas.openxmlformats.org/officeDocument/2006/relationships/slide" Target="slide100.xml"/><Relationship Id="rId2" Type="http://schemas.openxmlformats.org/officeDocument/2006/relationships/slide" Target="slide96.xml"/><Relationship Id="rId1" Type="http://schemas.openxmlformats.org/officeDocument/2006/relationships/slide" Target="slide78.xml"/></Relationships>
</file>

<file path=ppt/slides/_rels/slide78.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slide" Target="slide77.xml"/><Relationship Id="rId1" Type="http://schemas.openxmlformats.org/officeDocument/2006/relationships/slide" Target="slide1.xml"/></Relationships>
</file>

<file path=ppt/slides/_rels/slide79.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93.xml"/><Relationship Id="rId3" Type="http://schemas.openxmlformats.org/officeDocument/2006/relationships/slide" Target="slide80.xml"/><Relationship Id="rId2" Type="http://schemas.openxmlformats.org/officeDocument/2006/relationships/slide" Target="slide77.xml"/><Relationship Id="rId1" Type="http://schemas.openxmlformats.org/officeDocument/2006/relationships/slide" Target="slide1.xml"/></Relationships>
</file>

<file path=ppt/slides/_rels/slide80.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79.xml"/><Relationship Id="rId2" Type="http://schemas.openxmlformats.org/officeDocument/2006/relationships/slide" Target="slide77.xml"/><Relationship Id="rId1" Type="http://schemas.openxmlformats.org/officeDocument/2006/relationships/slide" Target="slide1.xml"/></Relationships>
</file>

<file path=ppt/slides/_rels/slide81.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79.xml"/><Relationship Id="rId2" Type="http://schemas.openxmlformats.org/officeDocument/2006/relationships/slide" Target="slide77.xml"/><Relationship Id="rId1" Type="http://schemas.openxmlformats.org/officeDocument/2006/relationships/slide" Target="slide1.xml"/></Relationships>
</file>

<file path=ppt/slides/_rels/slide82.xml.rels><?xml version="1.0" encoding="UTF-8" standalone="yes"?>
<Relationships xmlns="http://schemas.openxmlformats.org/package/2006/relationships"><Relationship Id="rId8" Type="http://schemas.openxmlformats.org/officeDocument/2006/relationships/vmlDrawing" Target="../drawings/vmlDrawing21.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79.xml"/><Relationship Id="rId4" Type="http://schemas.openxmlformats.org/officeDocument/2006/relationships/slide" Target="slide77.xml"/><Relationship Id="rId3" Type="http://schemas.openxmlformats.org/officeDocument/2006/relationships/slide" Target="slide1.xml"/><Relationship Id="rId2" Type="http://schemas.openxmlformats.org/officeDocument/2006/relationships/image" Target="../media/image38.wmf"/><Relationship Id="rId1" Type="http://schemas.openxmlformats.org/officeDocument/2006/relationships/oleObject" Target="../embeddings/oleObject30.bin"/></Relationships>
</file>

<file path=ppt/slides/_rels/slide83.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79.xml"/><Relationship Id="rId2" Type="http://schemas.openxmlformats.org/officeDocument/2006/relationships/slide" Target="slide77.xml"/><Relationship Id="rId1" Type="http://schemas.openxmlformats.org/officeDocument/2006/relationships/slide" Target="slide1.xml"/></Relationships>
</file>

<file path=ppt/slides/_rels/slide84.xml.rels><?xml version="1.0" encoding="UTF-8" standalone="yes"?>
<Relationships xmlns="http://schemas.openxmlformats.org/package/2006/relationships"><Relationship Id="rId8" Type="http://schemas.openxmlformats.org/officeDocument/2006/relationships/vmlDrawing" Target="../drawings/vmlDrawing22.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79.xml"/><Relationship Id="rId4" Type="http://schemas.openxmlformats.org/officeDocument/2006/relationships/slide" Target="slide77.xml"/><Relationship Id="rId3" Type="http://schemas.openxmlformats.org/officeDocument/2006/relationships/slide" Target="slide1.xml"/><Relationship Id="rId2" Type="http://schemas.openxmlformats.org/officeDocument/2006/relationships/image" Target="../media/image38.wmf"/><Relationship Id="rId1" Type="http://schemas.openxmlformats.org/officeDocument/2006/relationships/oleObject" Target="../embeddings/oleObject31.bin"/></Relationships>
</file>

<file path=ppt/slides/_rels/slide85.xml.rels><?xml version="1.0" encoding="UTF-8" standalone="yes"?>
<Relationships xmlns="http://schemas.openxmlformats.org/package/2006/relationships"><Relationship Id="rId5" Type="http://schemas.openxmlformats.org/officeDocument/2006/relationships/slideLayout" Target="../slideLayouts/slideLayout2.xml"/><Relationship Id="rId4" Type="http://schemas.openxmlformats.org/officeDocument/2006/relationships/audio" Target="../media/audio1.wav"/><Relationship Id="rId3" Type="http://schemas.openxmlformats.org/officeDocument/2006/relationships/slide" Target="slide79.xml"/><Relationship Id="rId2" Type="http://schemas.openxmlformats.org/officeDocument/2006/relationships/slide" Target="slide77.xml"/><Relationship Id="rId1" Type="http://schemas.openxmlformats.org/officeDocument/2006/relationships/slide" Target="slide1.xml"/></Relationships>
</file>

<file path=ppt/slides/_rels/slide86.xml.rels><?xml version="1.0" encoding="UTF-8" standalone="yes"?>
<Relationships xmlns="http://schemas.openxmlformats.org/package/2006/relationships"><Relationship Id="rId8" Type="http://schemas.openxmlformats.org/officeDocument/2006/relationships/vmlDrawing" Target="../drawings/vmlDrawing23.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79.xml"/><Relationship Id="rId4" Type="http://schemas.openxmlformats.org/officeDocument/2006/relationships/slide" Target="slide77.xml"/><Relationship Id="rId3" Type="http://schemas.openxmlformats.org/officeDocument/2006/relationships/slide" Target="slide1.xml"/><Relationship Id="rId2" Type="http://schemas.openxmlformats.org/officeDocument/2006/relationships/image" Target="../media/image38.wmf"/><Relationship Id="rId1" Type="http://schemas.openxmlformats.org/officeDocument/2006/relationships/oleObject" Target="../embeddings/oleObject32.bin"/></Relationships>
</file>

<file path=ppt/slides/_rels/slide87.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79.xml"/><Relationship Id="rId2" Type="http://schemas.openxmlformats.org/officeDocument/2006/relationships/slide" Target="slide77.xml"/><Relationship Id="rId1" Type="http://schemas.openxmlformats.org/officeDocument/2006/relationships/slide" Target="slide1.xml"/></Relationships>
</file>

<file path=ppt/slides/_rels/slide88.xml.rels><?xml version="1.0" encoding="UTF-8" standalone="yes"?>
<Relationships xmlns="http://schemas.openxmlformats.org/package/2006/relationships"><Relationship Id="rId8" Type="http://schemas.openxmlformats.org/officeDocument/2006/relationships/vmlDrawing" Target="../drawings/vmlDrawing24.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79.xml"/><Relationship Id="rId4" Type="http://schemas.openxmlformats.org/officeDocument/2006/relationships/slide" Target="slide77.xml"/><Relationship Id="rId3" Type="http://schemas.openxmlformats.org/officeDocument/2006/relationships/slide" Target="slide1.xml"/><Relationship Id="rId2" Type="http://schemas.openxmlformats.org/officeDocument/2006/relationships/image" Target="../media/image38.wmf"/><Relationship Id="rId1" Type="http://schemas.openxmlformats.org/officeDocument/2006/relationships/oleObject" Target="../embeddings/oleObject33.bin"/></Relationships>
</file>

<file path=ppt/slides/_rels/slide89.xml.rels><?xml version="1.0" encoding="UTF-8" standalone="yes"?>
<Relationships xmlns="http://schemas.openxmlformats.org/package/2006/relationships"><Relationship Id="rId5" Type="http://schemas.openxmlformats.org/officeDocument/2006/relationships/slideLayout" Target="../slideLayouts/slideLayout2.xml"/><Relationship Id="rId4" Type="http://schemas.openxmlformats.org/officeDocument/2006/relationships/audio" Target="../media/audio1.wav"/><Relationship Id="rId3" Type="http://schemas.openxmlformats.org/officeDocument/2006/relationships/slide" Target="slide79.xml"/><Relationship Id="rId2" Type="http://schemas.openxmlformats.org/officeDocument/2006/relationships/slide" Target="slide77.xml"/><Relationship Id="rId1" Type="http://schemas.openxmlformats.org/officeDocument/2006/relationships/slide" Target="slide1.xml"/></Relationships>
</file>

<file path=ppt/slides/_rels/slide90.xml.rels><?xml version="1.0" encoding="UTF-8" standalone="yes"?>
<Relationships xmlns="http://schemas.openxmlformats.org/package/2006/relationships"><Relationship Id="rId8" Type="http://schemas.openxmlformats.org/officeDocument/2006/relationships/vmlDrawing" Target="../drawings/vmlDrawing25.v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79.xml"/><Relationship Id="rId4" Type="http://schemas.openxmlformats.org/officeDocument/2006/relationships/slide" Target="slide77.xml"/><Relationship Id="rId3" Type="http://schemas.openxmlformats.org/officeDocument/2006/relationships/slide" Target="slide1.xml"/><Relationship Id="rId2" Type="http://schemas.openxmlformats.org/officeDocument/2006/relationships/image" Target="../media/image38.wmf"/><Relationship Id="rId1" Type="http://schemas.openxmlformats.org/officeDocument/2006/relationships/oleObject" Target="../embeddings/oleObject34.bin"/></Relationships>
</file>

<file path=ppt/slides/_rels/slide91.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79.xml"/><Relationship Id="rId2" Type="http://schemas.openxmlformats.org/officeDocument/2006/relationships/slide" Target="slide77.xml"/><Relationship Id="rId1" Type="http://schemas.openxmlformats.org/officeDocument/2006/relationships/slide" Target="slide1.xml"/></Relationships>
</file>

<file path=ppt/slides/_rels/slide92.xml.rels><?xml version="1.0" encoding="UTF-8" standalone="yes"?>
<Relationships xmlns="http://schemas.openxmlformats.org/package/2006/relationships"><Relationship Id="rId4" Type="http://schemas.openxmlformats.org/officeDocument/2006/relationships/notesSlide" Target="../notesSlides/notesSlide3.xml"/><Relationship Id="rId3" Type="http://schemas.openxmlformats.org/officeDocument/2006/relationships/slideLayout" Target="../slideLayouts/slideLayout1.xml"/><Relationship Id="rId2" Type="http://schemas.openxmlformats.org/officeDocument/2006/relationships/audio" Target="../media/audio1.wav"/><Relationship Id="rId1" Type="http://schemas.openxmlformats.org/officeDocument/2006/relationships/image" Target="../media/image39.jpeg"/></Relationships>
</file>

<file path=ppt/slides/_rels/slide93.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79.xml"/><Relationship Id="rId2" Type="http://schemas.openxmlformats.org/officeDocument/2006/relationships/slide" Target="slide77.xml"/><Relationship Id="rId1" Type="http://schemas.openxmlformats.org/officeDocument/2006/relationships/slide" Target="slide1.xml"/></Relationships>
</file>

<file path=ppt/slides/_rels/slide94.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image" Target="../media/image40.jpeg"/><Relationship Id="rId3" Type="http://schemas.openxmlformats.org/officeDocument/2006/relationships/slide" Target="slide79.xml"/><Relationship Id="rId2" Type="http://schemas.openxmlformats.org/officeDocument/2006/relationships/slide" Target="slide77.xml"/><Relationship Id="rId1" Type="http://schemas.openxmlformats.org/officeDocument/2006/relationships/slide" Target="slide1.xml"/></Relationships>
</file>

<file path=ppt/slides/_rels/slide95.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79.xml"/><Relationship Id="rId2" Type="http://schemas.openxmlformats.org/officeDocument/2006/relationships/slide" Target="slide77.xml"/><Relationship Id="rId1" Type="http://schemas.openxmlformats.org/officeDocument/2006/relationships/slide" Target="slide1.xml"/></Relationships>
</file>

<file path=ppt/slides/_rels/slide96.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slide" Target="slide77.xml"/><Relationship Id="rId1" Type="http://schemas.openxmlformats.org/officeDocument/2006/relationships/slide" Target="slide1.xml"/></Relationships>
</file>

<file path=ppt/slides/_rels/slide97.xml.rels><?xml version="1.0" encoding="UTF-8" standalone="yes"?>
<Relationships xmlns="http://schemas.openxmlformats.org/package/2006/relationships"><Relationship Id="rId4" Type="http://schemas.openxmlformats.org/officeDocument/2006/relationships/notesSlide" Target="../notesSlides/notesSlide4.xml"/><Relationship Id="rId3" Type="http://schemas.openxmlformats.org/officeDocument/2006/relationships/slideLayout" Target="../slideLayouts/slideLayout1.xml"/><Relationship Id="rId2" Type="http://schemas.openxmlformats.org/officeDocument/2006/relationships/audio" Target="../media/audio1.wav"/><Relationship Id="rId1" Type="http://schemas.openxmlformats.org/officeDocument/2006/relationships/image" Target="../media/image41.jpeg"/></Relationships>
</file>

<file path=ppt/slides/_rels/slide98.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slide" Target="slide77.xml"/><Relationship Id="rId1" Type="http://schemas.openxmlformats.org/officeDocument/2006/relationships/slide" Target="slide1.xml"/></Relationships>
</file>

<file path=ppt/slides/_rels/slide99.xml.rels><?xml version="1.0" encoding="UTF-8" standalone="yes"?>
<Relationships xmlns="http://schemas.openxmlformats.org/package/2006/relationships"><Relationship Id="rId5" Type="http://schemas.openxmlformats.org/officeDocument/2006/relationships/notesSlide" Target="../notesSlides/notesSlide5.xml"/><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slide" Target="slide77.xml"/><Relationship Id="rId1" Type="http://schemas.openxmlformats.org/officeDocument/2006/relationships/slide" Target="slide1.xml"/></Relationships>
</file>

<file path=ppt/slides/_rels/slide100.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20.xml"/><Relationship Id="rId4" Type="http://schemas.openxmlformats.org/officeDocument/2006/relationships/slide" Target="slide109.xml"/><Relationship Id="rId3" Type="http://schemas.openxmlformats.org/officeDocument/2006/relationships/slide" Target="slide101.xml"/><Relationship Id="rId2" Type="http://schemas.openxmlformats.org/officeDocument/2006/relationships/slide" Target="slide77.xml"/><Relationship Id="rId1" Type="http://schemas.openxmlformats.org/officeDocument/2006/relationships/slide" Target="slide1.xml"/></Relationships>
</file>

<file path=ppt/slides/_rels/slide101.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audio" Target="../media/audio1.wav"/><Relationship Id="rId6" Type="http://schemas.openxmlformats.org/officeDocument/2006/relationships/slide" Target="slide106.xml"/><Relationship Id="rId5" Type="http://schemas.openxmlformats.org/officeDocument/2006/relationships/slide" Target="slide104.xml"/><Relationship Id="rId4" Type="http://schemas.openxmlformats.org/officeDocument/2006/relationships/slide" Target="slide102.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02.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01.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03.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42.png"/><Relationship Id="rId4" Type="http://schemas.openxmlformats.org/officeDocument/2006/relationships/slide" Target="slide101.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04.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01.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05.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43.png"/><Relationship Id="rId4" Type="http://schemas.openxmlformats.org/officeDocument/2006/relationships/slide" Target="slide101.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06.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01.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07.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44.png"/><Relationship Id="rId4" Type="http://schemas.openxmlformats.org/officeDocument/2006/relationships/slide" Target="slide101.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08.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01.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09.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slide" Target="slide118.xml"/><Relationship Id="rId6" Type="http://schemas.openxmlformats.org/officeDocument/2006/relationships/slide" Target="slide116.xml"/><Relationship Id="rId5" Type="http://schemas.openxmlformats.org/officeDocument/2006/relationships/slide" Target="slide113.xml"/><Relationship Id="rId4" Type="http://schemas.openxmlformats.org/officeDocument/2006/relationships/slide" Target="slide110.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10.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openxmlformats.org/officeDocument/2006/relationships/audio" Target="../media/audio1.wav"/><Relationship Id="rId4" Type="http://schemas.openxmlformats.org/officeDocument/2006/relationships/slide" Target="slide109.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11.xml.rels><?xml version="1.0" encoding="UTF-8" standalone="yes"?>
<Relationships xmlns="http://schemas.openxmlformats.org/package/2006/relationships"><Relationship Id="rId5" Type="http://schemas.openxmlformats.org/officeDocument/2006/relationships/notesSlide" Target="../notesSlides/notesSlide6.xml"/><Relationship Id="rId4" Type="http://schemas.openxmlformats.org/officeDocument/2006/relationships/slideLayout" Target="../slideLayouts/slideLayout1.xml"/><Relationship Id="rId3" Type="http://schemas.openxmlformats.org/officeDocument/2006/relationships/audio" Target="../media/audio2.wav"/><Relationship Id="rId2" Type="http://schemas.openxmlformats.org/officeDocument/2006/relationships/audio" Target="../media/audio1.wav"/><Relationship Id="rId1" Type="http://schemas.openxmlformats.org/officeDocument/2006/relationships/image" Target="../media/image45.jpeg"/></Relationships>
</file>

<file path=ppt/slides/_rels/slide112.xml.rels><?xml version="1.0" encoding="UTF-8" standalone="yes"?>
<Relationships xmlns="http://schemas.openxmlformats.org/package/2006/relationships"><Relationship Id="rId4" Type="http://schemas.openxmlformats.org/officeDocument/2006/relationships/notesSlide" Target="../notesSlides/notesSlide7.xml"/><Relationship Id="rId3" Type="http://schemas.openxmlformats.org/officeDocument/2006/relationships/slideLayout" Target="../slideLayouts/slideLayout1.xml"/><Relationship Id="rId2" Type="http://schemas.openxmlformats.org/officeDocument/2006/relationships/audio" Target="../media/audio1.wav"/><Relationship Id="rId1" Type="http://schemas.openxmlformats.org/officeDocument/2006/relationships/image" Target="../media/image46.jpeg"/></Relationships>
</file>

<file path=ppt/slides/_rels/slide113.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openxmlformats.org/officeDocument/2006/relationships/audio" Target="../media/audio1.wav"/><Relationship Id="rId4" Type="http://schemas.openxmlformats.org/officeDocument/2006/relationships/slide" Target="slide109.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14.xml.rels><?xml version="1.0" encoding="UTF-8" standalone="yes"?>
<Relationships xmlns="http://schemas.openxmlformats.org/package/2006/relationships"><Relationship Id="rId5" Type="http://schemas.openxmlformats.org/officeDocument/2006/relationships/notesSlide" Target="../notesSlides/notesSlide8.xml"/><Relationship Id="rId4" Type="http://schemas.openxmlformats.org/officeDocument/2006/relationships/slideLayout" Target="../slideLayouts/slideLayout1.xml"/><Relationship Id="rId3" Type="http://schemas.openxmlformats.org/officeDocument/2006/relationships/audio" Target="../media/audio2.wav"/><Relationship Id="rId2" Type="http://schemas.openxmlformats.org/officeDocument/2006/relationships/audio" Target="../media/audio1.wav"/><Relationship Id="rId1" Type="http://schemas.openxmlformats.org/officeDocument/2006/relationships/image" Target="../media/image47.jpeg"/></Relationships>
</file>

<file path=ppt/slides/_rels/slide115.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16.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09.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17.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09.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18.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openxmlformats.org/officeDocument/2006/relationships/audio" Target="../media/audio1.wav"/><Relationship Id="rId4" Type="http://schemas.openxmlformats.org/officeDocument/2006/relationships/slide" Target="slide109.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19.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openxmlformats.org/officeDocument/2006/relationships/audio" Target="../media/audio1.wav"/><Relationship Id="rId4" Type="http://schemas.openxmlformats.org/officeDocument/2006/relationships/slide" Target="slide109.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20.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audio" Target="../media/audio1.wav"/><Relationship Id="rId6" Type="http://schemas.openxmlformats.org/officeDocument/2006/relationships/slide" Target="slide124.xml"/><Relationship Id="rId5" Type="http://schemas.openxmlformats.org/officeDocument/2006/relationships/slide" Target="slide123.xml"/><Relationship Id="rId4" Type="http://schemas.openxmlformats.org/officeDocument/2006/relationships/slide" Target="slide121.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21.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20.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22.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20.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23.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20.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24.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slide" Target="slide132.xml"/><Relationship Id="rId6" Type="http://schemas.openxmlformats.org/officeDocument/2006/relationships/slide" Target="slide126.xml"/><Relationship Id="rId5" Type="http://schemas.openxmlformats.org/officeDocument/2006/relationships/slide" Target="slide125.xml"/><Relationship Id="rId4" Type="http://schemas.openxmlformats.org/officeDocument/2006/relationships/slide" Target="slide120.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25.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24.xml"/><Relationship Id="rId4" Type="http://schemas.openxmlformats.org/officeDocument/2006/relationships/slide" Target="slide120.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26.xml.rels><?xml version="1.0" encoding="UTF-8" standalone="yes"?>
<Relationships xmlns="http://schemas.openxmlformats.org/package/2006/relationships"><Relationship Id="rId6" Type="http://schemas.openxmlformats.org/officeDocument/2006/relationships/notesSlide" Target="../notesSlides/notesSlide10.xml"/><Relationship Id="rId5" Type="http://schemas.openxmlformats.org/officeDocument/2006/relationships/vmlDrawing" Target="../drawings/vmlDrawing26.vml"/><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image" Target="../media/image48.wmf"/><Relationship Id="rId1" Type="http://schemas.openxmlformats.org/officeDocument/2006/relationships/oleObject" Target="../embeddings/oleObject35.bin"/></Relationships>
</file>

<file path=ppt/slides/_rels/slide127.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audio" Target="../media/audio1.wav"/><Relationship Id="rId5" Type="http://schemas.openxmlformats.org/officeDocument/2006/relationships/slide" Target="slide124.xml"/><Relationship Id="rId4" Type="http://schemas.openxmlformats.org/officeDocument/2006/relationships/slide" Target="slide120.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28.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24.xml"/><Relationship Id="rId4" Type="http://schemas.openxmlformats.org/officeDocument/2006/relationships/slide" Target="slide120.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29.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24.xml"/><Relationship Id="rId4" Type="http://schemas.openxmlformats.org/officeDocument/2006/relationships/slide" Target="slide120.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30.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audio" Target="../media/audio1.wav"/><Relationship Id="rId5" Type="http://schemas.openxmlformats.org/officeDocument/2006/relationships/slide" Target="slide124.xml"/><Relationship Id="rId4" Type="http://schemas.openxmlformats.org/officeDocument/2006/relationships/slide" Target="slide120.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31.xml.rels><?xml version="1.0" encoding="UTF-8" standalone="yes"?>
<Relationships xmlns="http://schemas.openxmlformats.org/package/2006/relationships"><Relationship Id="rId4" Type="http://schemas.openxmlformats.org/officeDocument/2006/relationships/notesSlide" Target="../notesSlides/notesSlide11.xml"/><Relationship Id="rId3" Type="http://schemas.openxmlformats.org/officeDocument/2006/relationships/slideLayout" Target="../slideLayouts/slideLayout1.xml"/><Relationship Id="rId2" Type="http://schemas.openxmlformats.org/officeDocument/2006/relationships/audio" Target="../media/audio1.wav"/><Relationship Id="rId1" Type="http://schemas.openxmlformats.org/officeDocument/2006/relationships/image" Target="../media/image49.png"/></Relationships>
</file>

<file path=ppt/slides/_rels/slide132.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audio" Target="../media/audio1.wav"/><Relationship Id="rId5" Type="http://schemas.openxmlformats.org/officeDocument/2006/relationships/slide" Target="slide124.xml"/><Relationship Id="rId4" Type="http://schemas.openxmlformats.org/officeDocument/2006/relationships/slide" Target="slide120.xml"/><Relationship Id="rId3" Type="http://schemas.openxmlformats.org/officeDocument/2006/relationships/slide" Target="slide100.xml"/><Relationship Id="rId2" Type="http://schemas.openxmlformats.org/officeDocument/2006/relationships/slide" Target="slide77.xml"/><Relationship Id="rId1" Type="http://schemas.openxmlformats.org/officeDocument/2006/relationships/slide" Target="slide1.xml"/></Relationships>
</file>

<file path=ppt/slides/_rels/slide133.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34.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35.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36.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37.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38.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39.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40.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41.xml.rels><?xml version="1.0" encoding="UTF-8" standalone="yes"?>
<Relationships xmlns="http://schemas.openxmlformats.org/package/2006/relationships"><Relationship Id="rId6" Type="http://schemas.openxmlformats.org/officeDocument/2006/relationships/notesSlide" Target="../notesSlides/notesSlide20.xml"/><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tags" Target="../tags/tag3.xml"/><Relationship Id="rId2" Type="http://schemas.openxmlformats.org/officeDocument/2006/relationships/tags" Target="../tags/tag2.xml"/><Relationship Id="rId1" Type="http://schemas.openxmlformats.org/officeDocument/2006/relationships/tags" Target="../tags/tag1.xml"/></Relationships>
</file>

<file path=ppt/slides/_rels/slide142.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43.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45.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46.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47.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48.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49.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50.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51.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52.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153.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audio" Target="../media/audio1.wav"/><Relationship Id="rId6" Type="http://schemas.openxmlformats.org/officeDocument/2006/relationships/slide" Target="slide199.xml"/><Relationship Id="rId5" Type="http://schemas.openxmlformats.org/officeDocument/2006/relationships/slide" Target="slide159.xml"/><Relationship Id="rId4" Type="http://schemas.openxmlformats.org/officeDocument/2006/relationships/slide" Target="slide156.xml"/><Relationship Id="rId3" Type="http://schemas.openxmlformats.org/officeDocument/2006/relationships/slide" Target="slide154.xml"/><Relationship Id="rId2" Type="http://schemas.openxmlformats.org/officeDocument/2006/relationships/slide" Target="slide77.xml"/><Relationship Id="rId1" Type="http://schemas.openxmlformats.org/officeDocument/2006/relationships/slide" Target="slide1.xml"/></Relationships>
</file>

<file path=ppt/slides/_rels/slide154.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55.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56.xml.rels><?xml version="1.0" encoding="UTF-8" standalone="yes"?>
<Relationships xmlns="http://schemas.openxmlformats.org/package/2006/relationships"><Relationship Id="rId9" Type="http://schemas.openxmlformats.org/officeDocument/2006/relationships/vmlDrawing" Target="../drawings/vmlDrawing27.vml"/><Relationship Id="rId8" Type="http://schemas.openxmlformats.org/officeDocument/2006/relationships/slideLayout" Target="../slideLayouts/slideLayout1.xml"/><Relationship Id="rId7" Type="http://schemas.openxmlformats.org/officeDocument/2006/relationships/audio" Target="../media/audio2.wav"/><Relationship Id="rId6" Type="http://schemas.openxmlformats.org/officeDocument/2006/relationships/audio" Target="../media/audio1.wav"/><Relationship Id="rId5" Type="http://schemas.openxmlformats.org/officeDocument/2006/relationships/image" Target="../media/image50.wmf"/><Relationship Id="rId4" Type="http://schemas.openxmlformats.org/officeDocument/2006/relationships/oleObject" Target="../embeddings/oleObject36.bin"/><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57.xml.rels><?xml version="1.0" encoding="UTF-8" standalone="yes"?>
<Relationships xmlns="http://schemas.openxmlformats.org/package/2006/relationships"><Relationship Id="rId9" Type="http://schemas.openxmlformats.org/officeDocument/2006/relationships/audio" Target="../media/audio2.wav"/><Relationship Id="rId8" Type="http://schemas.openxmlformats.org/officeDocument/2006/relationships/audio" Target="../media/audio1.wav"/><Relationship Id="rId7" Type="http://schemas.openxmlformats.org/officeDocument/2006/relationships/image" Target="../media/image52.wmf"/><Relationship Id="rId6" Type="http://schemas.openxmlformats.org/officeDocument/2006/relationships/oleObject" Target="../embeddings/oleObject38.bin"/><Relationship Id="rId5" Type="http://schemas.openxmlformats.org/officeDocument/2006/relationships/image" Target="../media/image51.wmf"/><Relationship Id="rId4" Type="http://schemas.openxmlformats.org/officeDocument/2006/relationships/oleObject" Target="../embeddings/oleObject37.bin"/><Relationship Id="rId3" Type="http://schemas.openxmlformats.org/officeDocument/2006/relationships/slide" Target="slide153.xml"/><Relationship Id="rId2" Type="http://schemas.openxmlformats.org/officeDocument/2006/relationships/slide" Target="slide77.xml"/><Relationship Id="rId11" Type="http://schemas.openxmlformats.org/officeDocument/2006/relationships/vmlDrawing" Target="../drawings/vmlDrawing28.vml"/><Relationship Id="rId10" Type="http://schemas.openxmlformats.org/officeDocument/2006/relationships/slideLayout" Target="../slideLayouts/slideLayout1.xml"/><Relationship Id="rId1" Type="http://schemas.openxmlformats.org/officeDocument/2006/relationships/slide" Target="slide1.xml"/></Relationships>
</file>

<file path=ppt/slides/_rels/slide158.xml.rels><?xml version="1.0" encoding="UTF-8" standalone="yes"?>
<Relationships xmlns="http://schemas.openxmlformats.org/package/2006/relationships"><Relationship Id="rId9" Type="http://schemas.openxmlformats.org/officeDocument/2006/relationships/vmlDrawing" Target="../drawings/vmlDrawing29.vml"/><Relationship Id="rId8" Type="http://schemas.openxmlformats.org/officeDocument/2006/relationships/slideLayout" Target="../slideLayouts/slideLayout1.xml"/><Relationship Id="rId7" Type="http://schemas.openxmlformats.org/officeDocument/2006/relationships/audio" Target="../media/audio2.wav"/><Relationship Id="rId6" Type="http://schemas.openxmlformats.org/officeDocument/2006/relationships/audio" Target="../media/audio1.wav"/><Relationship Id="rId5" Type="http://schemas.openxmlformats.org/officeDocument/2006/relationships/image" Target="../media/image53.wmf"/><Relationship Id="rId4" Type="http://schemas.openxmlformats.org/officeDocument/2006/relationships/oleObject" Target="../embeddings/oleObject39.bin"/><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59.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63.xml"/><Relationship Id="rId4" Type="http://schemas.openxmlformats.org/officeDocument/2006/relationships/slide" Target="slide160.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60.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61.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62.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63.xml.rels><?xml version="1.0" encoding="UTF-8" standalone="yes"?>
<Relationships xmlns="http://schemas.openxmlformats.org/package/2006/relationships"><Relationship Id="rId9" Type="http://schemas.openxmlformats.org/officeDocument/2006/relationships/slide" Target="slide175.xml"/><Relationship Id="rId8" Type="http://schemas.openxmlformats.org/officeDocument/2006/relationships/slide" Target="slide167.xml"/><Relationship Id="rId7" Type="http://schemas.openxmlformats.org/officeDocument/2006/relationships/slide" Target="slide166.xml"/><Relationship Id="rId6" Type="http://schemas.openxmlformats.org/officeDocument/2006/relationships/slide" Target="slide165.xml"/><Relationship Id="rId5" Type="http://schemas.openxmlformats.org/officeDocument/2006/relationships/slide" Target="slide164.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1" Type="http://schemas.openxmlformats.org/officeDocument/2006/relationships/slideLayout" Target="../slideLayouts/slideLayout1.xml"/><Relationship Id="rId10" Type="http://schemas.openxmlformats.org/officeDocument/2006/relationships/audio" Target="../media/audio1.wav"/><Relationship Id="rId1" Type="http://schemas.openxmlformats.org/officeDocument/2006/relationships/slide" Target="slide1.xml"/></Relationships>
</file>

<file path=ppt/slides/_rels/slide164.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65.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66.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67.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68.xml.rels><?xml version="1.0" encoding="UTF-8" standalone="yes"?>
<Relationships xmlns="http://schemas.openxmlformats.org/package/2006/relationships"><Relationship Id="rId8" Type="http://schemas.openxmlformats.org/officeDocument/2006/relationships/notesSlide" Target="../notesSlides/notesSlide32.xml"/><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69.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70.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71.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image" Target="../media/image54.wmf"/><Relationship Id="rId6" Type="http://schemas.openxmlformats.org/officeDocument/2006/relationships/oleObject" Target="../embeddings/oleObject40.bin"/><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0" Type="http://schemas.openxmlformats.org/officeDocument/2006/relationships/vmlDrawing" Target="../drawings/vmlDrawing30.vml"/><Relationship Id="rId1" Type="http://schemas.openxmlformats.org/officeDocument/2006/relationships/slide" Target="slide1.xml"/></Relationships>
</file>

<file path=ppt/slides/_rels/slide172.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73.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74.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75.xml.rels><?xml version="1.0" encoding="UTF-8" standalone="yes"?>
<Relationships xmlns="http://schemas.openxmlformats.org/package/2006/relationships"><Relationship Id="rId9" Type="http://schemas.openxmlformats.org/officeDocument/2006/relationships/slide" Target="slide193.xml"/><Relationship Id="rId8" Type="http://schemas.openxmlformats.org/officeDocument/2006/relationships/slide" Target="slide190.xml"/><Relationship Id="rId7" Type="http://schemas.openxmlformats.org/officeDocument/2006/relationships/slide" Target="slide183.xml"/><Relationship Id="rId6" Type="http://schemas.openxmlformats.org/officeDocument/2006/relationships/slide" Target="slide176.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1" Type="http://schemas.openxmlformats.org/officeDocument/2006/relationships/slideLayout" Target="../slideLayouts/slideLayout1.xml"/><Relationship Id="rId10" Type="http://schemas.openxmlformats.org/officeDocument/2006/relationships/audio" Target="../media/audio1.wav"/><Relationship Id="rId1" Type="http://schemas.openxmlformats.org/officeDocument/2006/relationships/slide" Target="slide1.xml"/></Relationships>
</file>

<file path=ppt/slides/_rels/slide176.xml.rels><?xml version="1.0" encoding="UTF-8" standalone="yes"?>
<Relationships xmlns="http://schemas.openxmlformats.org/package/2006/relationships"><Relationship Id="rId9" Type="http://schemas.openxmlformats.org/officeDocument/2006/relationships/slide" Target="slide180.xml"/><Relationship Id="rId8" Type="http://schemas.openxmlformats.org/officeDocument/2006/relationships/slide" Target="slide179.xml"/><Relationship Id="rId7" Type="http://schemas.openxmlformats.org/officeDocument/2006/relationships/slide" Target="slide177.xml"/><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2" Type="http://schemas.openxmlformats.org/officeDocument/2006/relationships/slideLayout" Target="../slideLayouts/slideLayout1.xml"/><Relationship Id="rId11" Type="http://schemas.openxmlformats.org/officeDocument/2006/relationships/audio" Target="../media/audio1.wav"/><Relationship Id="rId10" Type="http://schemas.openxmlformats.org/officeDocument/2006/relationships/slide" Target="slide182.xml"/><Relationship Id="rId1" Type="http://schemas.openxmlformats.org/officeDocument/2006/relationships/slide" Target="slide1.xml"/></Relationships>
</file>

<file path=ppt/slides/_rels/slide177.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slide" Target="slide176.xml"/><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78.xml.rels><?xml version="1.0" encoding="UTF-8" standalone="yes"?>
<Relationships xmlns="http://schemas.openxmlformats.org/package/2006/relationships"><Relationship Id="rId9" Type="http://schemas.openxmlformats.org/officeDocument/2006/relationships/audio" Target="../media/audio1.wav"/><Relationship Id="rId8" Type="http://schemas.openxmlformats.org/officeDocument/2006/relationships/image" Target="../media/image55.png"/><Relationship Id="rId7" Type="http://schemas.openxmlformats.org/officeDocument/2006/relationships/slide" Target="slide176.xml"/><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0" Type="http://schemas.openxmlformats.org/officeDocument/2006/relationships/slideLayout" Target="../slideLayouts/slideLayout1.xml"/><Relationship Id="rId1" Type="http://schemas.openxmlformats.org/officeDocument/2006/relationships/slide" Target="slide1.xml"/></Relationships>
</file>

<file path=ppt/slides/_rels/slide179.xml.rels><?xml version="1.0" encoding="UTF-8" standalone="yes"?>
<Relationships xmlns="http://schemas.openxmlformats.org/package/2006/relationships"><Relationship Id="rId9" Type="http://schemas.openxmlformats.org/officeDocument/2006/relationships/audio" Target="../media/audio1.wav"/><Relationship Id="rId8" Type="http://schemas.openxmlformats.org/officeDocument/2006/relationships/image" Target="../media/image56.png"/><Relationship Id="rId7" Type="http://schemas.openxmlformats.org/officeDocument/2006/relationships/slide" Target="slide176.xml"/><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0" Type="http://schemas.openxmlformats.org/officeDocument/2006/relationships/slideLayout" Target="../slideLayouts/slideLayout1.xml"/><Relationship Id="rId1" Type="http://schemas.openxmlformats.org/officeDocument/2006/relationships/slide" Target="slide1.xml"/></Relationships>
</file>

<file path=ppt/slides/_rels/slide180.xml.rels><?xml version="1.0" encoding="UTF-8" standalone="yes"?>
<Relationships xmlns="http://schemas.openxmlformats.org/package/2006/relationships"><Relationship Id="rId9" Type="http://schemas.openxmlformats.org/officeDocument/2006/relationships/audio" Target="../media/audio1.wav"/><Relationship Id="rId8" Type="http://schemas.openxmlformats.org/officeDocument/2006/relationships/image" Target="../media/image57.jpeg"/><Relationship Id="rId7" Type="http://schemas.openxmlformats.org/officeDocument/2006/relationships/slide" Target="slide176.xml"/><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0" Type="http://schemas.openxmlformats.org/officeDocument/2006/relationships/slideLayout" Target="../slideLayouts/slideLayout1.xml"/><Relationship Id="rId1" Type="http://schemas.openxmlformats.org/officeDocument/2006/relationships/slide" Target="slide1.xml"/></Relationships>
</file>

<file path=ppt/slides/_rels/slide181.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slide" Target="slide176.xml"/><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82.xml.rels><?xml version="1.0" encoding="UTF-8" standalone="yes"?>
<Relationships xmlns="http://schemas.openxmlformats.org/package/2006/relationships"><Relationship Id="rId4" Type="http://schemas.openxmlformats.org/officeDocument/2006/relationships/notesSlide" Target="../notesSlides/notesSlide33.xml"/><Relationship Id="rId3" Type="http://schemas.openxmlformats.org/officeDocument/2006/relationships/slideLayout" Target="../slideLayouts/slideLayout1.xml"/><Relationship Id="rId2" Type="http://schemas.openxmlformats.org/officeDocument/2006/relationships/audio" Target="../media/audio1.wav"/><Relationship Id="rId1" Type="http://schemas.openxmlformats.org/officeDocument/2006/relationships/image" Target="../media/image58.jpeg"/></Relationships>
</file>

<file path=ppt/slides/_rels/slide183.xml.rels><?xml version="1.0" encoding="UTF-8" standalone="yes"?>
<Relationships xmlns="http://schemas.openxmlformats.org/package/2006/relationships"><Relationship Id="rId9" Type="http://schemas.openxmlformats.org/officeDocument/2006/relationships/slide" Target="slide187.xml"/><Relationship Id="rId8" Type="http://schemas.openxmlformats.org/officeDocument/2006/relationships/slide" Target="slide185.xml"/><Relationship Id="rId7" Type="http://schemas.openxmlformats.org/officeDocument/2006/relationships/slide" Target="slide184.xml"/><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2" Type="http://schemas.openxmlformats.org/officeDocument/2006/relationships/slideLayout" Target="../slideLayouts/slideLayout1.xml"/><Relationship Id="rId11" Type="http://schemas.openxmlformats.org/officeDocument/2006/relationships/audio" Target="../media/audio1.wav"/><Relationship Id="rId10" Type="http://schemas.openxmlformats.org/officeDocument/2006/relationships/slide" Target="slide189.xml"/><Relationship Id="rId1" Type="http://schemas.openxmlformats.org/officeDocument/2006/relationships/slide" Target="slide1.xml"/></Relationships>
</file>

<file path=ppt/slides/_rels/slide184.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slide" Target="slide183.xml"/><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85.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slide" Target="slide183.xml"/><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86.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slide" Target="slide183.xml"/><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87.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slide" Target="slide183.xml"/><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88.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slide" Target="slide183.xml"/><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89.xml.rels><?xml version="1.0" encoding="UTF-8" standalone="yes"?>
<Relationships xmlns="http://schemas.openxmlformats.org/package/2006/relationships"><Relationship Id="rId4" Type="http://schemas.openxmlformats.org/officeDocument/2006/relationships/notesSlide" Target="../notesSlides/notesSlide34.xml"/><Relationship Id="rId3" Type="http://schemas.openxmlformats.org/officeDocument/2006/relationships/slideLayout" Target="../slideLayouts/slideLayout1.xml"/><Relationship Id="rId2" Type="http://schemas.openxmlformats.org/officeDocument/2006/relationships/audio" Target="../media/audio1.wav"/><Relationship Id="rId1" Type="http://schemas.openxmlformats.org/officeDocument/2006/relationships/image" Target="../media/image59.jpeg"/></Relationships>
</file>

<file path=ppt/slides/_rels/slide190.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audio" Target="../media/audio1.wav"/><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91.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image" Target="../media/image60.jpeg"/><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92.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image" Target="../media/image61.jpeg"/><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93.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audio" Target="../media/audio1.wav"/><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94.xml.rels><?xml version="1.0" encoding="UTF-8" standalone="yes"?>
<Relationships xmlns="http://schemas.openxmlformats.org/package/2006/relationships"><Relationship Id="rId9" Type="http://schemas.openxmlformats.org/officeDocument/2006/relationships/audio" Target="../media/audio1.wav"/><Relationship Id="rId8" Type="http://schemas.openxmlformats.org/officeDocument/2006/relationships/slide" Target="slide175.xml"/><Relationship Id="rId7" Type="http://schemas.openxmlformats.org/officeDocument/2006/relationships/slide" Target="slide163.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 Id="rId3" Type="http://schemas.openxmlformats.org/officeDocument/2006/relationships/slide" Target="slide1.xml"/><Relationship Id="rId2" Type="http://schemas.openxmlformats.org/officeDocument/2006/relationships/image" Target="../media/image62.wmf"/><Relationship Id="rId11" Type="http://schemas.openxmlformats.org/officeDocument/2006/relationships/vmlDrawing" Target="../drawings/vmlDrawing31.vml"/><Relationship Id="rId10" Type="http://schemas.openxmlformats.org/officeDocument/2006/relationships/slideLayout" Target="../slideLayouts/slideLayout1.xml"/><Relationship Id="rId1" Type="http://schemas.openxmlformats.org/officeDocument/2006/relationships/oleObject" Target="../embeddings/oleObject41.bin"/></Relationships>
</file>

<file path=ppt/slides/_rels/slide195.xml.rels><?xml version="1.0" encoding="UTF-8" standalone="yes"?>
<Relationships xmlns="http://schemas.openxmlformats.org/package/2006/relationships"><Relationship Id="rId6" Type="http://schemas.openxmlformats.org/officeDocument/2006/relationships/notesSlide" Target="../notesSlides/notesSlide35.xml"/><Relationship Id="rId5" Type="http://schemas.openxmlformats.org/officeDocument/2006/relationships/vmlDrawing" Target="../drawings/vmlDrawing32.vml"/><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image" Target="../media/image63.wmf"/><Relationship Id="rId1" Type="http://schemas.openxmlformats.org/officeDocument/2006/relationships/oleObject" Target="../embeddings/oleObject42.bin"/></Relationships>
</file>

<file path=ppt/slides/_rels/slide196.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audio" Target="../media/audio1.wav"/><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197.xml.rels><?xml version="1.0" encoding="UTF-8" standalone="yes"?>
<Relationships xmlns="http://schemas.openxmlformats.org/package/2006/relationships"><Relationship Id="rId9" Type="http://schemas.openxmlformats.org/officeDocument/2006/relationships/audio" Target="../media/audio1.wav"/><Relationship Id="rId8" Type="http://schemas.openxmlformats.org/officeDocument/2006/relationships/image" Target="../media/image64.wmf"/><Relationship Id="rId7" Type="http://schemas.openxmlformats.org/officeDocument/2006/relationships/oleObject" Target="../embeddings/oleObject43.bin"/><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1" Type="http://schemas.openxmlformats.org/officeDocument/2006/relationships/vmlDrawing" Target="../drawings/vmlDrawing33.vml"/><Relationship Id="rId10" Type="http://schemas.openxmlformats.org/officeDocument/2006/relationships/slideLayout" Target="../slideLayouts/slideLayout1.xml"/><Relationship Id="rId1" Type="http://schemas.openxmlformats.org/officeDocument/2006/relationships/slide" Target="slide1.xml"/></Relationships>
</file>

<file path=ppt/slides/_rels/slide198.xml.rels><?xml version="1.0" encoding="UTF-8" standalone="yes"?>
<Relationships xmlns="http://schemas.openxmlformats.org/package/2006/relationships"><Relationship Id="rId9" Type="http://schemas.openxmlformats.org/officeDocument/2006/relationships/audio" Target="../media/audio1.wav"/><Relationship Id="rId8" Type="http://schemas.openxmlformats.org/officeDocument/2006/relationships/image" Target="../media/image65.wmf"/><Relationship Id="rId7" Type="http://schemas.openxmlformats.org/officeDocument/2006/relationships/oleObject" Target="../embeddings/oleObject44.bin"/><Relationship Id="rId6" Type="http://schemas.openxmlformats.org/officeDocument/2006/relationships/slide" Target="slide175.xml"/><Relationship Id="rId5" Type="http://schemas.openxmlformats.org/officeDocument/2006/relationships/slide" Target="slide163.xml"/><Relationship Id="rId4" Type="http://schemas.openxmlformats.org/officeDocument/2006/relationships/slide" Target="slide159.xml"/><Relationship Id="rId3" Type="http://schemas.openxmlformats.org/officeDocument/2006/relationships/slide" Target="slide153.xml"/><Relationship Id="rId2" Type="http://schemas.openxmlformats.org/officeDocument/2006/relationships/slide" Target="slide77.xml"/><Relationship Id="rId11" Type="http://schemas.openxmlformats.org/officeDocument/2006/relationships/vmlDrawing" Target="../drawings/vmlDrawing34.vml"/><Relationship Id="rId10" Type="http://schemas.openxmlformats.org/officeDocument/2006/relationships/slideLayout" Target="../slideLayouts/slideLayout1.xml"/><Relationship Id="rId1" Type="http://schemas.openxmlformats.org/officeDocument/2006/relationships/slide" Target="slide1.xml"/></Relationships>
</file>

<file path=ppt/slides/_rels/slide199.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202.xml"/><Relationship Id="rId4" Type="http://schemas.openxmlformats.org/officeDocument/2006/relationships/slide" Target="slide200.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200.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9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201.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9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202.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9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203.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99.xml"/><Relationship Id="rId3" Type="http://schemas.openxmlformats.org/officeDocument/2006/relationships/slide" Target="slide153.xml"/><Relationship Id="rId2" Type="http://schemas.openxmlformats.org/officeDocument/2006/relationships/slide" Target="slide77.xml"/><Relationship Id="rId1" Type="http://schemas.openxmlformats.org/officeDocument/2006/relationships/slide" Target="slide1.xml"/></Relationships>
</file>

<file path=ppt/slides/_rels/slide204.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slide" Target="slide77.xml"/><Relationship Id="rId1" Type="http://schemas.openxmlformats.org/officeDocument/2006/relationships/slide" Target="slide1.xml"/></Relationships>
</file>

<file path=ppt/slides/_rels/slide205.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213.xml"/><Relationship Id="rId4" Type="http://schemas.openxmlformats.org/officeDocument/2006/relationships/slide" Target="slide207.xml"/><Relationship Id="rId3" Type="http://schemas.openxmlformats.org/officeDocument/2006/relationships/slide" Target="slide206.xml"/><Relationship Id="rId2" Type="http://schemas.openxmlformats.org/officeDocument/2006/relationships/slide" Target="slide77.xml"/><Relationship Id="rId1" Type="http://schemas.openxmlformats.org/officeDocument/2006/relationships/slide" Target="slide1.xml"/></Relationships>
</file>

<file path=ppt/slides/_rels/slide206.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05.xml"/><Relationship Id="rId2" Type="http://schemas.openxmlformats.org/officeDocument/2006/relationships/slide" Target="slide77.xml"/><Relationship Id="rId1" Type="http://schemas.openxmlformats.org/officeDocument/2006/relationships/slide" Target="slide1.xml"/></Relationships>
</file>

<file path=ppt/slides/_rels/slide207.xml.rels><?xml version="1.0" encoding="UTF-8" standalone="yes"?>
<Relationships xmlns="http://schemas.openxmlformats.org/package/2006/relationships"><Relationship Id="rId4" Type="http://schemas.openxmlformats.org/officeDocument/2006/relationships/notesSlide" Target="../notesSlides/notesSlide36.xml"/><Relationship Id="rId3" Type="http://schemas.openxmlformats.org/officeDocument/2006/relationships/slideLayout" Target="../slideLayouts/slideLayout1.xml"/><Relationship Id="rId2" Type="http://schemas.openxmlformats.org/officeDocument/2006/relationships/audio" Target="../media/audio1.wav"/><Relationship Id="rId1" Type="http://schemas.openxmlformats.org/officeDocument/2006/relationships/image" Target="../media/image66.jpeg"/></Relationships>
</file>

<file path=ppt/slides/_rels/slide208.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05.xml"/><Relationship Id="rId2" Type="http://schemas.openxmlformats.org/officeDocument/2006/relationships/slide" Target="slide77.xml"/><Relationship Id="rId1" Type="http://schemas.openxmlformats.org/officeDocument/2006/relationships/slide" Target="slide1.xml"/></Relationships>
</file>

<file path=ppt/slides/_rels/slide209.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05.xml"/><Relationship Id="rId2" Type="http://schemas.openxmlformats.org/officeDocument/2006/relationships/slide" Target="slide77.xml"/><Relationship Id="rId1" Type="http://schemas.openxmlformats.org/officeDocument/2006/relationships/slide" Target="slide1.xml"/></Relationships>
</file>

<file path=ppt/slides/_rels/slide210.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05.xml"/><Relationship Id="rId2" Type="http://schemas.openxmlformats.org/officeDocument/2006/relationships/slide" Target="slide77.xml"/><Relationship Id="rId1" Type="http://schemas.openxmlformats.org/officeDocument/2006/relationships/slide" Target="slide1.xml"/></Relationships>
</file>

<file path=ppt/slides/_rels/slide211.xml.rels><?xml version="1.0" encoding="UTF-8" standalone="yes"?>
<Relationships xmlns="http://schemas.openxmlformats.org/package/2006/relationships"><Relationship Id="rId6" Type="http://schemas.openxmlformats.org/officeDocument/2006/relationships/notesSlide" Target="../notesSlides/notesSlide37.xml"/><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image" Target="../media/image67.png"/></Relationships>
</file>

<file path=ppt/slides/_rels/slide212.xml.rels><?xml version="1.0" encoding="UTF-8" standalone="yes"?>
<Relationships xmlns="http://schemas.openxmlformats.org/package/2006/relationships"><Relationship Id="rId7" Type="http://schemas.openxmlformats.org/officeDocument/2006/relationships/notesSlide" Target="../notesSlides/notesSlide38.xml"/><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image" Target="../media/image73.png"/><Relationship Id="rId3" Type="http://schemas.openxmlformats.org/officeDocument/2006/relationships/image" Target="../media/image72.png"/><Relationship Id="rId2" Type="http://schemas.openxmlformats.org/officeDocument/2006/relationships/image" Target="../media/image71.png"/><Relationship Id="rId1" Type="http://schemas.openxmlformats.org/officeDocument/2006/relationships/image" Target="../media/image70.png"/></Relationships>
</file>

<file path=ppt/slides/_rels/slide213.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05.xml"/><Relationship Id="rId2" Type="http://schemas.openxmlformats.org/officeDocument/2006/relationships/slide" Target="slide77.xml"/><Relationship Id="rId1" Type="http://schemas.openxmlformats.org/officeDocument/2006/relationships/slide" Target="slide1.xml"/></Relationships>
</file>

<file path=ppt/slides/_rels/slide214.xml.rels><?xml version="1.0" encoding="UTF-8" standalone="yes"?>
<Relationships xmlns="http://schemas.openxmlformats.org/package/2006/relationships"><Relationship Id="rId6" Type="http://schemas.openxmlformats.org/officeDocument/2006/relationships/notesSlide" Target="../notesSlides/notesSlide39.xml"/><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image" Target="../media/image74.png"/></Relationships>
</file>

<file path=ppt/slides/_rels/slide215.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audio" Target="../media/audio1.wav"/><Relationship Id="rId6" Type="http://schemas.openxmlformats.org/officeDocument/2006/relationships/slide" Target="slide216.xml"/><Relationship Id="rId5" Type="http://schemas.openxmlformats.org/officeDocument/2006/relationships/slide" Target="slide226.xml"/><Relationship Id="rId4" Type="http://schemas.openxmlformats.org/officeDocument/2006/relationships/slide" Target="slide220.xml"/><Relationship Id="rId3" Type="http://schemas.openxmlformats.org/officeDocument/2006/relationships/slide" Target="slide218.xml"/><Relationship Id="rId2" Type="http://schemas.openxmlformats.org/officeDocument/2006/relationships/slide" Target="slide77.xml"/><Relationship Id="rId1" Type="http://schemas.openxmlformats.org/officeDocument/2006/relationships/slide" Target="slide1.xml"/></Relationships>
</file>

<file path=ppt/slides/_rels/slide216.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17.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18.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19.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20.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21.xml.rels><?xml version="1.0" encoding="UTF-8" standalone="yes"?>
<Relationships xmlns="http://schemas.openxmlformats.org/package/2006/relationships"><Relationship Id="rId5" Type="http://schemas.openxmlformats.org/officeDocument/2006/relationships/slideLayout" Target="../slideLayouts/slideLayout2.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22.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23.xml.rels><?xml version="1.0" encoding="UTF-8" standalone="yes"?>
<Relationships xmlns="http://schemas.openxmlformats.org/package/2006/relationships"><Relationship Id="rId5" Type="http://schemas.openxmlformats.org/officeDocument/2006/relationships/slideLayout" Target="../slideLayouts/slideLayout2.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24.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25.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26.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image" Target="../media/image77.wmf"/><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27.xml.rels><?xml version="1.0" encoding="UTF-8" standalone="yes"?>
<Relationships xmlns="http://schemas.openxmlformats.org/package/2006/relationships"><Relationship Id="rId5" Type="http://schemas.openxmlformats.org/officeDocument/2006/relationships/slideLayout" Target="../slideLayouts/slideLayout2.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28.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29.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30.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31.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image" Target="../media/image78.jpeg"/><Relationship Id="rId3" Type="http://schemas.openxmlformats.org/officeDocument/2006/relationships/slide" Target="slide215.xml"/><Relationship Id="rId2" Type="http://schemas.openxmlformats.org/officeDocument/2006/relationships/slide" Target="slide77.xml"/><Relationship Id="rId1" Type="http://schemas.openxmlformats.org/officeDocument/2006/relationships/slide" Target="slide1.xml"/></Relationships>
</file>

<file path=ppt/slides/_rels/slide232.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1.xml"/><Relationship Id="rId3" Type="http://schemas.openxmlformats.org/officeDocument/2006/relationships/slide" Target="slide287.xml"/><Relationship Id="rId2" Type="http://schemas.openxmlformats.org/officeDocument/2006/relationships/slide" Target="slide271.xml"/><Relationship Id="rId1" Type="http://schemas.openxmlformats.org/officeDocument/2006/relationships/slide" Target="slide233.xml"/></Relationships>
</file>

<file path=ppt/slides/_rels/slide233.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audio" Target="../media/audio1.wav"/><Relationship Id="rId6" Type="http://schemas.openxmlformats.org/officeDocument/2006/relationships/slide" Target="slide232.xml"/><Relationship Id="rId5" Type="http://schemas.openxmlformats.org/officeDocument/2006/relationships/slide" Target="slide1.xml"/><Relationship Id="rId4" Type="http://schemas.openxmlformats.org/officeDocument/2006/relationships/slide" Target="slide269.xml"/><Relationship Id="rId3" Type="http://schemas.openxmlformats.org/officeDocument/2006/relationships/slide" Target="slide265.xml"/><Relationship Id="rId2" Type="http://schemas.openxmlformats.org/officeDocument/2006/relationships/slide" Target="slide246.xml"/><Relationship Id="rId1" Type="http://schemas.openxmlformats.org/officeDocument/2006/relationships/slide" Target="slide234.xml"/></Relationships>
</file>

<file path=ppt/slides/_rels/slide234.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audio" Target="../media/audio1.wav"/><Relationship Id="rId5" Type="http://schemas.openxmlformats.org/officeDocument/2006/relationships/slide" Target="slide233.xml"/><Relationship Id="rId4" Type="http://schemas.openxmlformats.org/officeDocument/2006/relationships/slide" Target="slide232.xml"/><Relationship Id="rId3" Type="http://schemas.openxmlformats.org/officeDocument/2006/relationships/slide" Target="slide1.xml"/><Relationship Id="rId2" Type="http://schemas.openxmlformats.org/officeDocument/2006/relationships/slide" Target="slide238.xml"/><Relationship Id="rId1" Type="http://schemas.openxmlformats.org/officeDocument/2006/relationships/slide" Target="slide235.xml"/></Relationships>
</file>

<file path=ppt/slides/_rels/slide235.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34.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36.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34.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37.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34.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38.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34.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39.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34.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40.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34.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41.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34.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42.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34.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43.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34.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44.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34.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45.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34.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46.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audio" Target="../media/audio1.wav"/><Relationship Id="rId6" Type="http://schemas.openxmlformats.org/officeDocument/2006/relationships/slide" Target="slide233.xml"/><Relationship Id="rId5" Type="http://schemas.openxmlformats.org/officeDocument/2006/relationships/slide" Target="slide232.xml"/><Relationship Id="rId4" Type="http://schemas.openxmlformats.org/officeDocument/2006/relationships/slide" Target="slide1.xml"/><Relationship Id="rId3" Type="http://schemas.openxmlformats.org/officeDocument/2006/relationships/slide" Target="slide249.xml"/><Relationship Id="rId2" Type="http://schemas.openxmlformats.org/officeDocument/2006/relationships/slide" Target="slide248.xml"/><Relationship Id="rId1" Type="http://schemas.openxmlformats.org/officeDocument/2006/relationships/slide" Target="slide247.xml"/></Relationships>
</file>

<file path=ppt/slides/_rels/slide247.xml.rels><?xml version="1.0" encoding="UTF-8" standalone="yes"?>
<Relationships xmlns="http://schemas.openxmlformats.org/package/2006/relationships"><Relationship Id="rId5" Type="http://schemas.openxmlformats.org/officeDocument/2006/relationships/notesSlide" Target="../notesSlides/notesSlide40.xml"/><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image" Target="../media/image79.GIF"/><Relationship Id="rId1" Type="http://schemas.openxmlformats.org/officeDocument/2006/relationships/slide" Target="slide246.xml"/></Relationships>
</file>

<file path=ppt/slides/_rels/slide248.xml.rels><?xml version="1.0" encoding="UTF-8" standalone="yes"?>
<Relationships xmlns="http://schemas.openxmlformats.org/package/2006/relationships"><Relationship Id="rId5" Type="http://schemas.openxmlformats.org/officeDocument/2006/relationships/notesSlide" Target="../notesSlides/notesSlide41.xml"/><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image" Target="../media/image79.GIF"/><Relationship Id="rId1" Type="http://schemas.openxmlformats.org/officeDocument/2006/relationships/slide" Target="slide246.xml"/></Relationships>
</file>

<file path=ppt/slides/_rels/slide249.xml.rels><?xml version="1.0" encoding="UTF-8" standalone="yes"?>
<Relationships xmlns="http://schemas.openxmlformats.org/package/2006/relationships"><Relationship Id="rId5" Type="http://schemas.openxmlformats.org/officeDocument/2006/relationships/notesSlide" Target="../notesSlides/notesSlide42.xml"/><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image" Target="../media/image79.GIF"/><Relationship Id="rId1" Type="http://schemas.openxmlformats.org/officeDocument/2006/relationships/slide" Target="slide246.xml"/></Relationships>
</file>

<file path=ppt/slides/_rels/slide250.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51.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slide" Target="slide233.xml"/><Relationship Id="rId4" Type="http://schemas.openxmlformats.org/officeDocument/2006/relationships/slide" Target="slide232.xml"/><Relationship Id="rId3" Type="http://schemas.openxmlformats.org/officeDocument/2006/relationships/slide" Target="slide1.xml"/><Relationship Id="rId2" Type="http://schemas.openxmlformats.org/officeDocument/2006/relationships/slide" Target="slide257.xml"/><Relationship Id="rId1" Type="http://schemas.openxmlformats.org/officeDocument/2006/relationships/slide" Target="slide252.xml"/></Relationships>
</file>

<file path=ppt/slides/_rels/slide252.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1.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53.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1.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54.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1.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55.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1.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56.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1.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57.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1.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58.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1.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59.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1.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60.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1.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audio" Target="../media/audio1.wav"/></Relationships>
</file>

<file path=ppt/slides/_rels/slide263.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1.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64.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51.xml"/><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65.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66.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67.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68.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33.xml"/><Relationship Id="rId2" Type="http://schemas.openxmlformats.org/officeDocument/2006/relationships/slide" Target="slide232.xml"/><Relationship Id="rId1" Type="http://schemas.openxmlformats.org/officeDocument/2006/relationships/slide" Target="slide1.xml"/></Relationships>
</file>

<file path=ppt/slides/_rels/slide269.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image" Target="../media/image81.wmf"/><Relationship Id="rId6" Type="http://schemas.openxmlformats.org/officeDocument/2006/relationships/oleObject" Target="../embeddings/oleObject46.bin"/><Relationship Id="rId5" Type="http://schemas.openxmlformats.org/officeDocument/2006/relationships/image" Target="../media/image80.wmf"/><Relationship Id="rId4" Type="http://schemas.openxmlformats.org/officeDocument/2006/relationships/oleObject" Target="../embeddings/oleObject45.bin"/><Relationship Id="rId3" Type="http://schemas.openxmlformats.org/officeDocument/2006/relationships/slide" Target="slide233.xml"/><Relationship Id="rId2" Type="http://schemas.openxmlformats.org/officeDocument/2006/relationships/slide" Target="slide232.xml"/><Relationship Id="rId10" Type="http://schemas.openxmlformats.org/officeDocument/2006/relationships/vmlDrawing" Target="../drawings/vmlDrawing35.vml"/><Relationship Id="rId1" Type="http://schemas.openxmlformats.org/officeDocument/2006/relationships/slide" Target="slide1.xml"/></Relationships>
</file>

<file path=ppt/slides/_rels/slide270.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audio" Target="../media/audio1.wav"/><Relationship Id="rId7" Type="http://schemas.openxmlformats.org/officeDocument/2006/relationships/image" Target="../media/image83.wmf"/><Relationship Id="rId6" Type="http://schemas.openxmlformats.org/officeDocument/2006/relationships/oleObject" Target="../embeddings/oleObject48.bin"/><Relationship Id="rId5" Type="http://schemas.openxmlformats.org/officeDocument/2006/relationships/image" Target="../media/image82.wmf"/><Relationship Id="rId4" Type="http://schemas.openxmlformats.org/officeDocument/2006/relationships/oleObject" Target="../embeddings/oleObject47.bin"/><Relationship Id="rId3" Type="http://schemas.openxmlformats.org/officeDocument/2006/relationships/slide" Target="slide233.xml"/><Relationship Id="rId2" Type="http://schemas.openxmlformats.org/officeDocument/2006/relationships/slide" Target="slide232.xml"/><Relationship Id="rId10" Type="http://schemas.openxmlformats.org/officeDocument/2006/relationships/vmlDrawing" Target="../drawings/vmlDrawing36.vml"/><Relationship Id="rId1" Type="http://schemas.openxmlformats.org/officeDocument/2006/relationships/slide" Target="slide1.xml"/></Relationships>
</file>

<file path=ppt/slides/_rels/slide271.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32.xml"/><Relationship Id="rId3" Type="http://schemas.openxmlformats.org/officeDocument/2006/relationships/slide" Target="slide1.xml"/><Relationship Id="rId2" Type="http://schemas.openxmlformats.org/officeDocument/2006/relationships/slide" Target="slide277.xml"/><Relationship Id="rId1" Type="http://schemas.openxmlformats.org/officeDocument/2006/relationships/slide" Target="slide272.xml"/></Relationships>
</file>

<file path=ppt/slides/_rels/slide272.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73.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image" Target="../media/image84.png"/><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74.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image" Target="../media/image85.png"/><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75.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image" Target="../media/image86.png"/><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76.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image" Target="../media/image87.png"/><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77.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audio" Target="../media/audio1.wav"/><Relationship Id="rId6" Type="http://schemas.openxmlformats.org/officeDocument/2006/relationships/slide" Target="slide285.xml"/><Relationship Id="rId5" Type="http://schemas.openxmlformats.org/officeDocument/2006/relationships/slide" Target="slide282.xml"/><Relationship Id="rId4" Type="http://schemas.openxmlformats.org/officeDocument/2006/relationships/slide" Target="slide278.xml"/><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78.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77.xml"/><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79.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openxmlformats.org/officeDocument/2006/relationships/audio" Target="../media/audio1.wav"/><Relationship Id="rId4" Type="http://schemas.openxmlformats.org/officeDocument/2006/relationships/slide" Target="slide277.xml"/><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80.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openxmlformats.org/officeDocument/2006/relationships/audio" Target="../media/audio1.wav"/><Relationship Id="rId4" Type="http://schemas.openxmlformats.org/officeDocument/2006/relationships/slide" Target="slide277.xml"/><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81.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openxmlformats.org/officeDocument/2006/relationships/audio" Target="../media/audio1.wav"/><Relationship Id="rId4" Type="http://schemas.openxmlformats.org/officeDocument/2006/relationships/slide" Target="slide277.xml"/><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82.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77.xml"/><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83.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77.xml"/><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84.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88.png"/><Relationship Id="rId4" Type="http://schemas.openxmlformats.org/officeDocument/2006/relationships/slide" Target="slide277.xml"/><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85.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audio" Target="../media/audio1.wav"/><Relationship Id="rId5" Type="http://schemas.openxmlformats.org/officeDocument/2006/relationships/image" Target="../media/image89.png"/><Relationship Id="rId4" Type="http://schemas.openxmlformats.org/officeDocument/2006/relationships/slide" Target="slide277.xml"/><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86.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slide" Target="slide277.xml"/><Relationship Id="rId3" Type="http://schemas.openxmlformats.org/officeDocument/2006/relationships/slide" Target="slide271.xml"/><Relationship Id="rId2" Type="http://schemas.openxmlformats.org/officeDocument/2006/relationships/slide" Target="slide232.xml"/><Relationship Id="rId1" Type="http://schemas.openxmlformats.org/officeDocument/2006/relationships/slide" Target="slide1.xml"/></Relationships>
</file>

<file path=ppt/slides/_rels/slide287.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slide" Target="slide232.xml"/><Relationship Id="rId1" Type="http://schemas.openxmlformats.org/officeDocument/2006/relationships/slide" Target="slide1.xml"/></Relationships>
</file>

<file path=ppt/slides/_rels/slide288.xml.rels><?xml version="1.0" encoding="UTF-8" standalone="yes"?>
<Relationships xmlns="http://schemas.openxmlformats.org/package/2006/relationships"><Relationship Id="rId7" Type="http://schemas.openxmlformats.org/officeDocument/2006/relationships/vmlDrawing" Target="../drawings/vmlDrawing37.vml"/><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image" Target="../media/image90.wmf"/><Relationship Id="rId3" Type="http://schemas.openxmlformats.org/officeDocument/2006/relationships/oleObject" Target="../embeddings/oleObject49.bin"/><Relationship Id="rId2" Type="http://schemas.openxmlformats.org/officeDocument/2006/relationships/slide" Target="slide232.xml"/><Relationship Id="rId1" Type="http://schemas.openxmlformats.org/officeDocument/2006/relationships/slide" Target="slide1.xml"/></Relationships>
</file>

<file path=ppt/slides/_rels/slide289.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slide" Target="slide232.xml"/><Relationship Id="rId1" Type="http://schemas.openxmlformats.org/officeDocument/2006/relationships/slide" Target="slide1.xml"/></Relationships>
</file>

<file path=ppt/slides/_rels/slide290.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slide" Target="slide232.xml"/><Relationship Id="rId1" Type="http://schemas.openxmlformats.org/officeDocument/2006/relationships/slide" Target="slide1.xml"/></Relationships>
</file>

<file path=ppt/slides/_rels/slide291.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audio" Target="../media/audio1.wav"/><Relationship Id="rId3" Type="http://schemas.openxmlformats.org/officeDocument/2006/relationships/image" Target="../media/image91.png"/><Relationship Id="rId2" Type="http://schemas.openxmlformats.org/officeDocument/2006/relationships/slide" Target="slide232.xml"/><Relationship Id="rId1" Type="http://schemas.openxmlformats.org/officeDocument/2006/relationships/slide" Target="slide1.xml"/></Relationships>
</file>

<file path=ppt/slides/_rels/slide292.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slide" Target="slide232.xml"/><Relationship Id="rId1" Type="http://schemas.openxmlformats.org/officeDocument/2006/relationships/slide" Target="slide1.xml"/></Relationships>
</file>

<file path=ppt/slides/_rels/slide293.xml.rels><?xml version="1.0" encoding="UTF-8" standalone="yes"?>
<Relationships xmlns="http://schemas.openxmlformats.org/package/2006/relationships"><Relationship Id="rId7" Type="http://schemas.openxmlformats.org/officeDocument/2006/relationships/vmlDrawing" Target="../drawings/vmlDrawing38.vml"/><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image" Target="../media/image92.wmf"/><Relationship Id="rId3" Type="http://schemas.openxmlformats.org/officeDocument/2006/relationships/oleObject" Target="../embeddings/oleObject50.bin"/><Relationship Id="rId2" Type="http://schemas.openxmlformats.org/officeDocument/2006/relationships/slide" Target="slide232.xml"/><Relationship Id="rId1" Type="http://schemas.openxmlformats.org/officeDocument/2006/relationships/slide" Target="slide1.xml"/></Relationships>
</file>

<file path=ppt/slides/_rels/slide294.xml.rels><?xml version="1.0" encoding="UTF-8" standalone="yes"?>
<Relationships xmlns="http://schemas.openxmlformats.org/package/2006/relationships"><Relationship Id="rId7" Type="http://schemas.openxmlformats.org/officeDocument/2006/relationships/vmlDrawing" Target="../drawings/vmlDrawing39.vml"/><Relationship Id="rId6" Type="http://schemas.openxmlformats.org/officeDocument/2006/relationships/slideLayout" Target="../slideLayouts/slideLayout1.xml"/><Relationship Id="rId5" Type="http://schemas.openxmlformats.org/officeDocument/2006/relationships/audio" Target="../media/audio1.wav"/><Relationship Id="rId4" Type="http://schemas.openxmlformats.org/officeDocument/2006/relationships/image" Target="../media/image93.wmf"/><Relationship Id="rId3" Type="http://schemas.openxmlformats.org/officeDocument/2006/relationships/oleObject" Target="../embeddings/oleObject51.bin"/><Relationship Id="rId2" Type="http://schemas.openxmlformats.org/officeDocument/2006/relationships/slide" Target="slide232.xml"/><Relationship Id="rId1" Type="http://schemas.openxmlformats.org/officeDocument/2006/relationships/slide" Target="slide1.xml"/></Relationships>
</file>

<file path=ppt/slides/_rels/slide295.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audio" Target="../media/audio1.wav"/><Relationship Id="rId2" Type="http://schemas.openxmlformats.org/officeDocument/2006/relationships/image" Target="../media/image94.png"/><Relationship Id="rId1"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
          <p:cNvSpPr>
            <a:spLocks noGrp="1" noChangeArrowheads="1"/>
          </p:cNvSpPr>
          <p:nvPr>
            <p:ph type="title"/>
          </p:nvPr>
        </p:nvSpPr>
        <p:spPr/>
        <p:txBody>
          <a:bodyPr/>
          <a:lstStyle/>
          <a:p>
            <a:pPr eaLnBrk="1" hangingPunct="1">
              <a:defRPr/>
            </a:pPr>
            <a:r>
              <a:rPr lang="zh-CN" altLang="en-US" smtClean="0">
                <a:latin typeface="宋体" panose="02010600030101010101" pitchFamily="2" charset="-122"/>
              </a:rPr>
              <a:t>流水处理和</a:t>
            </a:r>
            <a:br>
              <a:rPr lang="zh-CN" altLang="en-US" smtClean="0">
                <a:latin typeface="宋体" panose="02010600030101010101" pitchFamily="2" charset="-122"/>
              </a:rPr>
            </a:br>
            <a:r>
              <a:rPr lang="zh-CN" altLang="en-US" smtClean="0">
                <a:latin typeface="宋体" panose="02010600030101010101" pitchFamily="2" charset="-122"/>
              </a:rPr>
              <a:t>指令级并行</a:t>
            </a:r>
            <a:endParaRPr lang="zh-CN" altLang="en-US" smtClean="0"/>
          </a:p>
        </p:txBody>
      </p:sp>
      <p:sp>
        <p:nvSpPr>
          <p:cNvPr id="3075" name="Rectangle 7"/>
          <p:cNvSpPr>
            <a:spLocks noGrp="1" noChangeArrowheads="1"/>
          </p:cNvSpPr>
          <p:nvPr>
            <p:ph type="body" idx="1"/>
          </p:nvPr>
        </p:nvSpPr>
        <p:spPr>
          <a:xfrm>
            <a:off x="2286000" y="2225675"/>
            <a:ext cx="4267200" cy="3579813"/>
          </a:xfrm>
          <a:extLst>
            <a:ext uri="{91240B29-F687-4F45-9708-019B960494DF}">
              <a14:hiddenLine xmlns:a14="http://schemas.microsoft.com/office/drawing/2010/main" w="57150">
                <a:solidFill>
                  <a:schemeClr val="tx1"/>
                </a:solidFill>
                <a:miter lim="800000"/>
                <a:headEnd/>
                <a:tailEnd/>
              </a14:hiddenLine>
            </a:ext>
          </a:extLst>
        </p:spPr>
        <p:txBody>
          <a:bodyPr/>
          <a:lstStyle/>
          <a:p>
            <a:pPr eaLnBrk="1" hangingPunct="1">
              <a:lnSpc>
                <a:spcPct val="180000"/>
              </a:lnSpc>
            </a:pPr>
            <a:r>
              <a:rPr lang="zh-CN" altLang="en-US" sz="3600" dirty="0" smtClean="0">
                <a:hlinkClick r:id="rId1" action="ppaction://hlinksldjump"/>
              </a:rPr>
              <a:t>流水线基本概念</a:t>
            </a:r>
            <a:endParaRPr lang="zh-CN" altLang="en-US" sz="3600" dirty="0" smtClean="0"/>
          </a:p>
          <a:p>
            <a:pPr eaLnBrk="1" hangingPunct="1">
              <a:lnSpc>
                <a:spcPct val="180000"/>
              </a:lnSpc>
            </a:pPr>
            <a:r>
              <a:rPr lang="zh-CN" altLang="en-US" sz="3600" dirty="0" smtClean="0">
                <a:hlinkClick r:id="rId2" action="ppaction://hlinksldjump"/>
              </a:rPr>
              <a:t>相关性分析技术</a:t>
            </a:r>
            <a:endParaRPr lang="zh-CN" altLang="en-US" sz="3600" dirty="0" smtClean="0"/>
          </a:p>
          <a:p>
            <a:pPr eaLnBrk="1" hangingPunct="1">
              <a:lnSpc>
                <a:spcPct val="180000"/>
              </a:lnSpc>
            </a:pPr>
            <a:r>
              <a:rPr lang="zh-CN" altLang="en-US" sz="3600" dirty="0" smtClean="0">
                <a:hlinkClick r:id="rId3" action="ppaction://hlinksldjump"/>
              </a:rPr>
              <a:t>多指令发射技术</a:t>
            </a:r>
            <a:endParaRPr lang="zh-CN" altLang="en-US" sz="3600" dirty="0" smtClean="0"/>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p:txBody>
          <a:bodyPr/>
          <a:lstStyle/>
          <a:p>
            <a:pPr eaLnBrk="1" hangingPunct="1">
              <a:defRPr/>
            </a:pPr>
            <a:r>
              <a:rPr lang="zh-CN" altLang="en-US" sz="5400" smtClean="0"/>
              <a:t>流水线基本概念</a:t>
            </a:r>
            <a:endParaRPr lang="zh-CN" altLang="en-US" sz="5400" smtClean="0"/>
          </a:p>
        </p:txBody>
      </p:sp>
      <p:sp>
        <p:nvSpPr>
          <p:cNvPr id="4099" name="Rectangle 8"/>
          <p:cNvSpPr>
            <a:spLocks noGrp="1" noChangeArrowheads="1"/>
          </p:cNvSpPr>
          <p:nvPr>
            <p:ph type="body" idx="1"/>
          </p:nvPr>
        </p:nvSpPr>
        <p:spPr>
          <a:xfrm>
            <a:off x="1835150" y="1989138"/>
            <a:ext cx="5538788" cy="4175125"/>
          </a:xfrm>
        </p:spPr>
        <p:txBody>
          <a:bodyPr/>
          <a:lstStyle/>
          <a:p>
            <a:pPr eaLnBrk="1" hangingPunct="1">
              <a:lnSpc>
                <a:spcPct val="140000"/>
              </a:lnSpc>
            </a:pPr>
            <a:r>
              <a:rPr lang="zh-CN" altLang="en-US" smtClean="0">
                <a:hlinkClick r:id="rId1" action="ppaction://hlinksldjump"/>
              </a:rPr>
              <a:t>引入</a:t>
            </a:r>
            <a:endParaRPr lang="zh-CN" altLang="en-US" smtClean="0"/>
          </a:p>
          <a:p>
            <a:pPr eaLnBrk="1" hangingPunct="1">
              <a:lnSpc>
                <a:spcPct val="140000"/>
              </a:lnSpc>
            </a:pPr>
            <a:r>
              <a:rPr lang="zh-CN" altLang="en-US" smtClean="0">
                <a:hlinkClick r:id="rId2" action="ppaction://hlinksldjump"/>
              </a:rPr>
              <a:t>流水线工作原理</a:t>
            </a:r>
            <a:endParaRPr lang="zh-CN" altLang="en-US" smtClean="0"/>
          </a:p>
          <a:p>
            <a:pPr eaLnBrk="1" hangingPunct="1">
              <a:lnSpc>
                <a:spcPct val="140000"/>
              </a:lnSpc>
            </a:pPr>
            <a:r>
              <a:rPr lang="zh-CN" altLang="en-US" smtClean="0">
                <a:hlinkClick r:id="rId3" action="ppaction://hlinksldjump"/>
              </a:rPr>
              <a:t>流水线的分类</a:t>
            </a:r>
            <a:endParaRPr lang="zh-CN" altLang="en-US" smtClean="0"/>
          </a:p>
          <a:p>
            <a:pPr eaLnBrk="1" hangingPunct="1">
              <a:lnSpc>
                <a:spcPct val="140000"/>
              </a:lnSpc>
            </a:pPr>
            <a:r>
              <a:rPr lang="zh-CN" altLang="en-US" smtClean="0">
                <a:hlinkClick r:id="rId4" action="ppaction://hlinksldjump"/>
              </a:rPr>
              <a:t>流水线的性能分析</a:t>
            </a:r>
            <a:endParaRPr lang="zh-CN" altLang="en-US" smtClean="0"/>
          </a:p>
          <a:p>
            <a:pPr eaLnBrk="1" hangingPunct="1">
              <a:lnSpc>
                <a:spcPct val="140000"/>
              </a:lnSpc>
            </a:pPr>
            <a:r>
              <a:rPr lang="zh-CN" altLang="en-US" smtClean="0">
                <a:hlinkClick r:id="rId5" action="ppaction://hlinksldjump"/>
              </a:rPr>
              <a:t>非线性流水线的调度技术</a:t>
            </a:r>
            <a:endParaRPr lang="zh-CN" altLang="en-US" smtClean="0"/>
          </a:p>
        </p:txBody>
      </p:sp>
      <p:sp>
        <p:nvSpPr>
          <p:cNvPr id="4100"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6" action="ppaction://hlinksldjump"/>
              </a:rPr>
              <a:t>本章内容</a:t>
            </a:r>
            <a:endParaRPr lang="zh-CN" altLang="en-US" sz="1200" b="0">
              <a:latin typeface="Times New Roman" panose="02020603050405020304" pitchFamily="18" charset="0"/>
              <a:ea typeface="幼圆" panose="02010509060101010101" pitchFamily="49" charset="-122"/>
            </a:endParaRPr>
          </a:p>
        </p:txBody>
      </p:sp>
    </p:spTree>
  </p:cSld>
  <p:clrMapOvr>
    <a:masterClrMapping/>
  </p:clrMapOvr>
  <p:transition spd="slow">
    <p:random/>
    <p:sndAc>
      <p:stSnd>
        <p:snd r:embed="rId7" name="projctor.wav"/>
      </p:stSnd>
    </p:sndAc>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7298" name="Rectangle 2"/>
          <p:cNvSpPr>
            <a:spLocks noGrp="1" noChangeArrowheads="1"/>
          </p:cNvSpPr>
          <p:nvPr>
            <p:ph type="title"/>
          </p:nvPr>
        </p:nvSpPr>
        <p:spPr/>
        <p:txBody>
          <a:bodyPr/>
          <a:lstStyle/>
          <a:p>
            <a:pPr eaLnBrk="1" hangingPunct="1">
              <a:defRPr/>
            </a:pPr>
            <a:r>
              <a:rPr lang="zh-CN" altLang="en-US" smtClean="0"/>
              <a:t>引  入</a:t>
            </a:r>
            <a:endParaRPr lang="zh-CN" altLang="en-US" smtClean="0"/>
          </a:p>
        </p:txBody>
      </p:sp>
      <p:sp>
        <p:nvSpPr>
          <p:cNvPr id="51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endParaRPr lang="zh-CN" altLang="en-US" sz="1200" b="0">
              <a:latin typeface="Times New Roman" panose="02020603050405020304" pitchFamily="18" charset="0"/>
              <a:ea typeface="幼圆" panose="02010509060101010101" pitchFamily="49" charset="-122"/>
            </a:endParaRPr>
          </a:p>
        </p:txBody>
      </p:sp>
      <p:sp>
        <p:nvSpPr>
          <p:cNvPr id="567300" name="Rectangle 4"/>
          <p:cNvSpPr>
            <a:spLocks noGrp="1" noChangeArrowheads="1"/>
          </p:cNvSpPr>
          <p:nvPr>
            <p:ph type="body" idx="1"/>
          </p:nvPr>
        </p:nvSpPr>
        <p:spPr>
          <a:xfrm>
            <a:off x="838200" y="1989138"/>
            <a:ext cx="7958138" cy="4406900"/>
          </a:xfrm>
        </p:spPr>
        <p:txBody>
          <a:bodyPr/>
          <a:lstStyle/>
          <a:p>
            <a:pPr marL="0" indent="0" eaLnBrk="1" hangingPunct="1">
              <a:lnSpc>
                <a:spcPct val="120000"/>
              </a:lnSpc>
              <a:buClr>
                <a:srgbClr val="FF0000"/>
              </a:buClr>
              <a:defRPr/>
            </a:pPr>
            <a:r>
              <a:rPr lang="zh-CN" altLang="en-US" sz="2400" dirty="0" smtClean="0">
                <a:solidFill>
                  <a:srgbClr val="FF0000"/>
                </a:solidFill>
                <a:effectLst>
                  <a:outerShdw blurRad="38100" dist="38100" dir="2700000" algn="tl">
                    <a:srgbClr val="C0C0C0"/>
                  </a:outerShdw>
                </a:effectLst>
              </a:rPr>
              <a:t>  标量处理机</a:t>
            </a:r>
            <a:endParaRPr lang="en-US" altLang="zh-CN"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buNone/>
              <a:defRPr/>
            </a:pPr>
            <a:r>
              <a:rPr lang="en-US" altLang="zh-CN" sz="2400" dirty="0">
                <a:solidFill>
                  <a:srgbClr val="FF0000"/>
                </a:solidFill>
                <a:effectLst>
                  <a:outerShdw blurRad="38100" dist="38100" dir="2700000" algn="tl">
                    <a:srgbClr val="C0C0C0"/>
                  </a:outerShdw>
                </a:effectLst>
              </a:rPr>
              <a:t> </a:t>
            </a:r>
            <a:r>
              <a:rPr lang="en-US" altLang="zh-CN" sz="2400" dirty="0" smtClean="0">
                <a:solidFill>
                  <a:srgbClr val="FF0000"/>
                </a:solidFill>
                <a:effectLst>
                  <a:outerShdw blurRad="38100" dist="38100" dir="2700000" algn="tl">
                    <a:srgbClr val="C0C0C0"/>
                  </a:outerShdw>
                </a:effectLst>
              </a:rPr>
              <a:t>   </a:t>
            </a:r>
            <a:r>
              <a:rPr lang="zh-CN" altLang="en-US" sz="2400" dirty="0" smtClean="0"/>
              <a:t>具有标量数据表示和标量指令系统的处理机称为</a:t>
            </a:r>
            <a:r>
              <a:rPr lang="zh-CN" altLang="en-US" sz="2400" dirty="0" smtClean="0">
                <a:solidFill>
                  <a:srgbClr val="0000FF"/>
                </a:solidFill>
              </a:rPr>
              <a:t>标量处理机</a:t>
            </a:r>
            <a:r>
              <a:rPr lang="zh-CN" altLang="en-US" sz="2400" dirty="0" smtClean="0"/>
              <a:t>。</a:t>
            </a:r>
            <a:endParaRPr lang="zh-CN" altLang="en-US" sz="2400" dirty="0" smtClean="0"/>
          </a:p>
          <a:p>
            <a:pPr marL="0" indent="0" eaLnBrk="1" hangingPunct="1">
              <a:lnSpc>
                <a:spcPct val="120000"/>
              </a:lnSpc>
              <a:buClr>
                <a:srgbClr val="FF0000"/>
              </a:buClr>
              <a:defRPr/>
            </a:pPr>
            <a:r>
              <a:rPr lang="zh-CN" altLang="en-US" sz="2400" b="0" dirty="0" smtClean="0">
                <a:solidFill>
                  <a:srgbClr val="FF0000"/>
                </a:solidFill>
                <a:effectLst>
                  <a:outerShdw blurRad="38100" dist="38100" dir="2700000" algn="tl">
                    <a:srgbClr val="C0C0C0"/>
                  </a:outerShdw>
                </a:effectLst>
              </a:rPr>
              <a:t>  </a:t>
            </a:r>
            <a:r>
              <a:rPr lang="zh-CN" altLang="en-US" sz="2400" dirty="0" smtClean="0">
                <a:solidFill>
                  <a:srgbClr val="FF0000"/>
                </a:solidFill>
                <a:effectLst>
                  <a:outerShdw blurRad="38100" dist="38100" dir="2700000" algn="tl">
                    <a:srgbClr val="C0C0C0"/>
                  </a:outerShdw>
                </a:effectLst>
              </a:rPr>
              <a:t>提高指令执行速度的主要途径</a:t>
            </a:r>
            <a:endParaRPr lang="zh-CN" altLang="en-US" sz="2400" dirty="0" smtClean="0">
              <a:solidFill>
                <a:srgbClr val="FF0000"/>
              </a:solidFill>
              <a:effectLst>
                <a:outerShdw blurRad="38100" dist="38100" dir="2700000" algn="tl">
                  <a:srgbClr val="C0C0C0"/>
                </a:outerShdw>
              </a:effectLst>
            </a:endParaRPr>
          </a:p>
          <a:p>
            <a:pPr marL="765175" lvl="1" eaLnBrk="1" hangingPunct="1">
              <a:lnSpc>
                <a:spcPct val="120000"/>
              </a:lnSpc>
              <a:defRPr/>
            </a:pPr>
            <a:r>
              <a:rPr lang="zh-CN" altLang="en-US" sz="2400" dirty="0" smtClean="0"/>
              <a:t>提高处理机的工作主频：因功耗、存储器访问速度提高缓慢等原因，已放弃；</a:t>
            </a:r>
            <a:endParaRPr lang="en-US" altLang="zh-CN" sz="2400" dirty="0" smtClean="0"/>
          </a:p>
          <a:p>
            <a:pPr marL="765175" lvl="1" eaLnBrk="1" hangingPunct="1">
              <a:lnSpc>
                <a:spcPct val="120000"/>
              </a:lnSpc>
              <a:defRPr/>
            </a:pPr>
            <a:r>
              <a:rPr lang="zh-CN" altLang="en-US" sz="2400" dirty="0" smtClean="0"/>
              <a:t>采用更好的算法和设计更好的功能部件：采用</a:t>
            </a:r>
            <a:r>
              <a:rPr lang="en-US" altLang="zh-CN" sz="2400" dirty="0" smtClean="0"/>
              <a:t>RISC</a:t>
            </a:r>
            <a:r>
              <a:rPr lang="zh-CN" altLang="en-US" sz="2400" dirty="0" smtClean="0"/>
              <a:t>降低</a:t>
            </a:r>
            <a:r>
              <a:rPr lang="en-US" altLang="zh-CN" sz="2400" dirty="0" smtClean="0"/>
              <a:t>CPI</a:t>
            </a:r>
            <a:r>
              <a:rPr lang="zh-CN" altLang="en-US" sz="2400" dirty="0" smtClean="0"/>
              <a:t>，采用多位乘法</a:t>
            </a:r>
            <a:r>
              <a:rPr lang="en-US" altLang="zh-CN" sz="2400" dirty="0" smtClean="0"/>
              <a:t>/</a:t>
            </a:r>
            <a:r>
              <a:rPr lang="zh-CN" altLang="en-US" sz="2400" dirty="0" smtClean="0"/>
              <a:t>除法来缩短计算时间等；</a:t>
            </a:r>
            <a:endParaRPr lang="zh-CN" altLang="en-US" sz="2400" dirty="0" smtClean="0"/>
          </a:p>
          <a:p>
            <a:pPr marL="765175" lvl="1" eaLnBrk="1" hangingPunct="1">
              <a:lnSpc>
                <a:spcPct val="120000"/>
              </a:lnSpc>
              <a:defRPr/>
            </a:pPr>
            <a:r>
              <a:rPr lang="zh-CN" altLang="en-US" sz="2400" dirty="0" smtClean="0"/>
              <a:t>采用指令级并行（</a:t>
            </a:r>
            <a:r>
              <a:rPr lang="en-US" altLang="zh-CN" sz="2400" dirty="0" smtClean="0"/>
              <a:t>ILP）</a:t>
            </a:r>
            <a:r>
              <a:rPr lang="zh-CN" altLang="en-US" sz="2400" dirty="0" smtClean="0"/>
              <a:t>技术（</a:t>
            </a:r>
            <a:r>
              <a:rPr lang="zh-CN" altLang="en-US" sz="2400" dirty="0" smtClean="0">
                <a:solidFill>
                  <a:srgbClr val="0000FF"/>
                </a:solidFill>
                <a:effectLst>
                  <a:outerShdw blurRad="38100" dist="38100" dir="2700000" algn="tl">
                    <a:srgbClr val="C0C0C0"/>
                  </a:outerShdw>
                </a:effectLst>
              </a:rPr>
              <a:t>本章介绍</a:t>
            </a:r>
            <a:r>
              <a:rPr lang="zh-CN" altLang="en-US" sz="2400" dirty="0" smtClean="0"/>
              <a:t>）</a:t>
            </a:r>
            <a:endParaRPr lang="en-US" altLang="zh-CN" sz="2400" dirty="0" smtClean="0"/>
          </a:p>
        </p:txBody>
      </p:sp>
      <p:sp>
        <p:nvSpPr>
          <p:cNvPr id="5" name="Text Box 111"/>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2</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1</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7298" name="Rectangle 2"/>
          <p:cNvSpPr>
            <a:spLocks noGrp="1" noChangeArrowheads="1"/>
          </p:cNvSpPr>
          <p:nvPr>
            <p:ph type="title"/>
          </p:nvPr>
        </p:nvSpPr>
        <p:spPr/>
        <p:txBody>
          <a:bodyPr/>
          <a:lstStyle/>
          <a:p>
            <a:pPr eaLnBrk="1" hangingPunct="1">
              <a:defRPr/>
            </a:pPr>
            <a:r>
              <a:rPr lang="zh-CN" altLang="en-US" dirty="0"/>
              <a:t>指令级</a:t>
            </a:r>
            <a:r>
              <a:rPr lang="zh-CN" altLang="en-US" dirty="0" smtClean="0"/>
              <a:t>并行技术</a:t>
            </a:r>
            <a:br>
              <a:rPr lang="en-US" altLang="zh-CN" dirty="0" smtClean="0"/>
            </a:br>
            <a:r>
              <a:rPr lang="zh-CN" altLang="en-US" sz="3600" dirty="0"/>
              <a:t>（</a:t>
            </a:r>
            <a:r>
              <a:rPr lang="en-US" altLang="zh-CN" sz="3600" dirty="0"/>
              <a:t>ILP</a:t>
            </a:r>
            <a:r>
              <a:rPr lang="zh-CN" altLang="en-US" sz="3600" dirty="0"/>
              <a:t>）</a:t>
            </a:r>
            <a:endParaRPr lang="zh-CN" altLang="en-US" sz="3600" dirty="0" smtClean="0"/>
          </a:p>
        </p:txBody>
      </p:sp>
      <p:sp>
        <p:nvSpPr>
          <p:cNvPr id="51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endParaRPr lang="zh-CN" altLang="en-US" sz="1200" b="0">
              <a:latin typeface="Times New Roman" panose="02020603050405020304" pitchFamily="18" charset="0"/>
              <a:ea typeface="幼圆" panose="02010509060101010101" pitchFamily="49" charset="-122"/>
            </a:endParaRPr>
          </a:p>
        </p:txBody>
      </p:sp>
      <p:sp>
        <p:nvSpPr>
          <p:cNvPr id="567300" name="Rectangle 4"/>
          <p:cNvSpPr>
            <a:spLocks noGrp="1" noChangeArrowheads="1"/>
          </p:cNvSpPr>
          <p:nvPr>
            <p:ph type="body" idx="1"/>
          </p:nvPr>
        </p:nvSpPr>
        <p:spPr>
          <a:xfrm>
            <a:off x="838200" y="1989138"/>
            <a:ext cx="7958138" cy="4406900"/>
          </a:xfrm>
        </p:spPr>
        <p:txBody>
          <a:bodyPr/>
          <a:lstStyle/>
          <a:p>
            <a:pPr marL="365125" eaLnBrk="1" hangingPunct="1">
              <a:lnSpc>
                <a:spcPct val="110000"/>
              </a:lnSpc>
              <a:defRPr/>
            </a:pPr>
            <a:r>
              <a:rPr lang="zh-CN" altLang="en-US" sz="2400" dirty="0" smtClean="0">
                <a:solidFill>
                  <a:srgbClr val="FF0000"/>
                </a:solidFill>
              </a:rPr>
              <a:t>采用流水线</a:t>
            </a:r>
            <a:endParaRPr lang="en-US" altLang="zh-CN" sz="2400" dirty="0" smtClean="0">
              <a:solidFill>
                <a:srgbClr val="FF0000"/>
              </a:solidFill>
            </a:endParaRPr>
          </a:p>
          <a:p>
            <a:pPr marL="22225" indent="0" eaLnBrk="1" hangingPunct="1">
              <a:lnSpc>
                <a:spcPct val="110000"/>
              </a:lnSpc>
              <a:buNone/>
              <a:defRPr/>
            </a:pPr>
            <a:r>
              <a:rPr lang="zh-CN" altLang="en-US" sz="2400" dirty="0" smtClean="0"/>
              <a:t>    </a:t>
            </a:r>
            <a:r>
              <a:rPr lang="zh-CN" altLang="en-US" sz="2400" dirty="0" smtClean="0">
                <a:solidFill>
                  <a:srgbClr val="0000FF"/>
                </a:solidFill>
              </a:rPr>
              <a:t>流水线处理机</a:t>
            </a:r>
            <a:r>
              <a:rPr lang="zh-CN" altLang="en-US" sz="2400" dirty="0"/>
              <a:t>、</a:t>
            </a:r>
            <a:r>
              <a:rPr lang="zh-CN" altLang="en-US" sz="2400" dirty="0">
                <a:solidFill>
                  <a:srgbClr val="0000FF"/>
                </a:solidFill>
              </a:rPr>
              <a:t>超流水线处理机</a:t>
            </a:r>
            <a:endParaRPr lang="en-US" altLang="zh-CN" sz="2400" dirty="0">
              <a:solidFill>
                <a:srgbClr val="0000FF"/>
              </a:solidFill>
            </a:endParaRPr>
          </a:p>
          <a:p>
            <a:pPr marL="365125" eaLnBrk="1" hangingPunct="1">
              <a:lnSpc>
                <a:spcPct val="110000"/>
              </a:lnSpc>
              <a:defRPr/>
            </a:pPr>
            <a:r>
              <a:rPr lang="zh-CN" altLang="en-US" sz="2400" dirty="0">
                <a:solidFill>
                  <a:srgbClr val="FF0000"/>
                </a:solidFill>
              </a:rPr>
              <a:t>在一个处理机中设置多个独立的功能部件</a:t>
            </a:r>
            <a:r>
              <a:rPr lang="zh-CN" altLang="en-US" sz="2400" dirty="0" smtClean="0"/>
              <a:t>：独立的定点算术逻辑部件、浮点加法部件、乘除法部件、访问存储器部件、分支操作部件等</a:t>
            </a:r>
            <a:endParaRPr lang="en-US" altLang="zh-CN" sz="2400" dirty="0" smtClean="0"/>
          </a:p>
          <a:p>
            <a:pPr marL="22225" indent="0" eaLnBrk="1" hangingPunct="1">
              <a:lnSpc>
                <a:spcPct val="110000"/>
              </a:lnSpc>
              <a:buNone/>
              <a:defRPr/>
            </a:pPr>
            <a:r>
              <a:rPr lang="en-US" altLang="zh-CN" sz="2400" dirty="0"/>
              <a:t> </a:t>
            </a:r>
            <a:r>
              <a:rPr lang="en-US" altLang="zh-CN" sz="2400" dirty="0" smtClean="0"/>
              <a:t>   </a:t>
            </a:r>
            <a:r>
              <a:rPr lang="zh-CN" altLang="en-US" sz="2400" dirty="0">
                <a:solidFill>
                  <a:srgbClr val="0000FF"/>
                </a:solidFill>
              </a:rPr>
              <a:t>多操作部件处理机</a:t>
            </a:r>
            <a:r>
              <a:rPr lang="zh-CN" altLang="en-US" sz="2400" dirty="0" smtClean="0"/>
              <a:t>、</a:t>
            </a:r>
            <a:r>
              <a:rPr lang="zh-CN" altLang="en-US" sz="2400" dirty="0">
                <a:solidFill>
                  <a:srgbClr val="0000FF"/>
                </a:solidFill>
              </a:rPr>
              <a:t>超标量处理机</a:t>
            </a:r>
            <a:endParaRPr lang="en-US" altLang="zh-CN" sz="2400" dirty="0">
              <a:solidFill>
                <a:srgbClr val="0000FF"/>
              </a:solidFill>
            </a:endParaRPr>
          </a:p>
          <a:p>
            <a:pPr marL="365125" eaLnBrk="1" hangingPunct="1">
              <a:lnSpc>
                <a:spcPct val="110000"/>
              </a:lnSpc>
              <a:defRPr/>
            </a:pPr>
            <a:r>
              <a:rPr lang="zh-CN" altLang="en-US" sz="2400" dirty="0">
                <a:solidFill>
                  <a:srgbClr val="FF0000"/>
                </a:solidFill>
              </a:rPr>
              <a:t>超长指令字技术</a:t>
            </a:r>
            <a:r>
              <a:rPr lang="zh-CN" altLang="en-US" sz="2400" dirty="0" smtClean="0"/>
              <a:t>：在一条指令中设置有多个独立的操作字段，每个字段可以分别独立地控制各个功能部件并行工作</a:t>
            </a:r>
            <a:endParaRPr lang="en-US" altLang="zh-CN" sz="2400" dirty="0" smtClean="0"/>
          </a:p>
          <a:p>
            <a:pPr marL="22225" indent="0" eaLnBrk="1" hangingPunct="1">
              <a:lnSpc>
                <a:spcPct val="110000"/>
              </a:lnSpc>
              <a:buNone/>
              <a:defRPr/>
            </a:pPr>
            <a:r>
              <a:rPr lang="en-US" altLang="zh-CN" sz="2400" dirty="0"/>
              <a:t> </a:t>
            </a:r>
            <a:r>
              <a:rPr lang="en-US" altLang="zh-CN" sz="2400" dirty="0" smtClean="0"/>
              <a:t>   </a:t>
            </a:r>
            <a:r>
              <a:rPr lang="zh-CN" altLang="en-US" sz="2400" dirty="0">
                <a:solidFill>
                  <a:srgbClr val="0000FF"/>
                </a:solidFill>
              </a:rPr>
              <a:t>超长指令字处理机</a:t>
            </a:r>
            <a:endParaRPr lang="zh-CN" altLang="en-US" sz="2400" dirty="0">
              <a:solidFill>
                <a:srgbClr val="0000FF"/>
              </a:solidFill>
            </a:endParaRPr>
          </a:p>
        </p:txBody>
      </p:sp>
      <p:sp>
        <p:nvSpPr>
          <p:cNvPr id="5" name="Text Box 111"/>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2</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2</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42" name="Rectangle 2"/>
          <p:cNvSpPr>
            <a:spLocks noGrp="1" noChangeArrowheads="1"/>
          </p:cNvSpPr>
          <p:nvPr>
            <p:ph type="title"/>
          </p:nvPr>
        </p:nvSpPr>
        <p:spPr/>
        <p:txBody>
          <a:bodyPr/>
          <a:lstStyle/>
          <a:p>
            <a:pPr eaLnBrk="1" hangingPunct="1">
              <a:defRPr/>
            </a:pPr>
            <a:r>
              <a:rPr lang="zh-CN" altLang="en-US" smtClean="0"/>
              <a:t>流水线工作原理</a:t>
            </a:r>
            <a:endParaRPr lang="zh-CN" altLang="en-US" smtClean="0"/>
          </a:p>
        </p:txBody>
      </p:sp>
      <p:sp>
        <p:nvSpPr>
          <p:cNvPr id="614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endParaRPr lang="zh-CN" altLang="en-US" sz="1200" b="0">
              <a:latin typeface="Times New Roman" panose="02020603050405020304" pitchFamily="18" charset="0"/>
              <a:ea typeface="幼圆" panose="02010509060101010101" pitchFamily="49" charset="-122"/>
            </a:endParaRPr>
          </a:p>
        </p:txBody>
      </p:sp>
      <p:sp>
        <p:nvSpPr>
          <p:cNvPr id="6148" name="Rectangle 17"/>
          <p:cNvSpPr>
            <a:spLocks noGrp="1" noChangeArrowheads="1"/>
          </p:cNvSpPr>
          <p:nvPr>
            <p:ph type="body" idx="1"/>
          </p:nvPr>
        </p:nvSpPr>
        <p:spPr>
          <a:xfrm>
            <a:off x="2916238" y="2565400"/>
            <a:ext cx="2536825" cy="3114675"/>
          </a:xfrm>
        </p:spPr>
        <p:txBody>
          <a:bodyPr/>
          <a:lstStyle/>
          <a:p>
            <a:pPr eaLnBrk="1" hangingPunct="1">
              <a:lnSpc>
                <a:spcPct val="170000"/>
              </a:lnSpc>
            </a:pPr>
            <a:r>
              <a:rPr lang="zh-CN" altLang="en-US" smtClean="0">
                <a:hlinkClick r:id="rId3" action="ppaction://hlinksldjump"/>
              </a:rPr>
              <a:t>基本思想</a:t>
            </a:r>
            <a:endParaRPr lang="zh-CN" altLang="en-US" smtClean="0"/>
          </a:p>
          <a:p>
            <a:pPr eaLnBrk="1" hangingPunct="1">
              <a:lnSpc>
                <a:spcPct val="170000"/>
              </a:lnSpc>
            </a:pPr>
            <a:r>
              <a:rPr lang="zh-CN" altLang="en-US" smtClean="0">
                <a:hlinkClick r:id="rId4" action="ppaction://hlinksldjump"/>
              </a:rPr>
              <a:t>表示方法</a:t>
            </a:r>
            <a:endParaRPr lang="zh-CN" altLang="en-US" smtClean="0"/>
          </a:p>
          <a:p>
            <a:pPr eaLnBrk="1" hangingPunct="1">
              <a:lnSpc>
                <a:spcPct val="170000"/>
              </a:lnSpc>
            </a:pPr>
            <a:r>
              <a:rPr lang="zh-CN" altLang="en-US" smtClean="0">
                <a:hlinkClick r:id="rId5" action="ppaction://hlinksldjump"/>
              </a:rPr>
              <a:t>主要特点</a:t>
            </a:r>
            <a:endParaRPr lang="zh-CN" altLang="en-US" smtClean="0"/>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02" name="Rectangle 2"/>
          <p:cNvSpPr>
            <a:spLocks noGrp="1" noChangeArrowheads="1"/>
          </p:cNvSpPr>
          <p:nvPr>
            <p:ph type="title"/>
          </p:nvPr>
        </p:nvSpPr>
        <p:spPr/>
        <p:txBody>
          <a:bodyPr/>
          <a:lstStyle/>
          <a:p>
            <a:pPr eaLnBrk="1" hangingPunct="1">
              <a:defRPr/>
            </a:pPr>
            <a:r>
              <a:rPr lang="zh-CN" altLang="en-US" smtClean="0"/>
              <a:t>流水线基本思想</a:t>
            </a:r>
            <a:endParaRPr lang="zh-CN" altLang="en-US" smtClean="0"/>
          </a:p>
        </p:txBody>
      </p:sp>
      <p:sp>
        <p:nvSpPr>
          <p:cNvPr id="71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流水线工作原理</a:t>
            </a:r>
            <a:endParaRPr lang="zh-CN" altLang="en-US" sz="1200" b="0">
              <a:latin typeface="Times New Roman" panose="02020603050405020304" pitchFamily="18" charset="0"/>
              <a:ea typeface="幼圆" panose="02010509060101010101" pitchFamily="49" charset="-122"/>
            </a:endParaRPr>
          </a:p>
        </p:txBody>
      </p:sp>
      <p:sp>
        <p:nvSpPr>
          <p:cNvPr id="563204" name="Rectangle 4"/>
          <p:cNvSpPr>
            <a:spLocks noGrp="1" noChangeArrowheads="1"/>
          </p:cNvSpPr>
          <p:nvPr>
            <p:ph type="body" idx="1"/>
          </p:nvPr>
        </p:nvSpPr>
        <p:spPr/>
        <p:txBody>
          <a:bodyPr/>
          <a:lstStyle/>
          <a:p>
            <a:pPr marL="0" indent="0" eaLnBrk="1" hangingPunct="1">
              <a:buFont typeface="Wingdings" panose="05000000000000000000" pitchFamily="2" charset="2"/>
              <a:buNone/>
              <a:defRPr/>
            </a:pPr>
            <a:r>
              <a:rPr lang="zh-CN" altLang="en-US" sz="2400" dirty="0" smtClean="0">
                <a:solidFill>
                  <a:srgbClr val="FF0000"/>
                </a:solidFill>
                <a:effectLst>
                  <a:outerShdw blurRad="38100" dist="38100" dir="2700000" algn="tl">
                    <a:srgbClr val="C0C0C0"/>
                  </a:outerShdw>
                </a:effectLst>
              </a:rPr>
              <a:t>基本思想：</a:t>
            </a:r>
            <a:endParaRPr lang="zh-CN" altLang="en-US" sz="24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endParaRPr lang="zh-CN" altLang="en-US" sz="2400" dirty="0" smtClean="0"/>
          </a:p>
          <a:p>
            <a:pPr marL="0" indent="0" eaLnBrk="1" hangingPunct="1">
              <a:buFont typeface="Wingdings" panose="05000000000000000000" pitchFamily="2" charset="2"/>
              <a:buNone/>
              <a:defRPr/>
            </a:pPr>
            <a:endParaRPr lang="zh-CN" altLang="en-US" sz="2400" dirty="0" smtClean="0"/>
          </a:p>
          <a:p>
            <a:pPr marL="0" indent="0" eaLnBrk="1" hangingPunct="1">
              <a:buFont typeface="Wingdings" panose="05000000000000000000" pitchFamily="2" charset="2"/>
              <a:buNone/>
              <a:defRPr/>
            </a:pPr>
            <a:endParaRPr lang="en-US" altLang="zh-CN" sz="2400" dirty="0" smtClean="0"/>
          </a:p>
          <a:p>
            <a:pPr marL="0" indent="0" eaLnBrk="1" hangingPunct="1">
              <a:buFont typeface="Wingdings" panose="05000000000000000000" pitchFamily="2" charset="2"/>
              <a:buNone/>
              <a:defRPr/>
            </a:pPr>
            <a:endParaRPr lang="en-US" altLang="zh-CN" sz="2400" dirty="0"/>
          </a:p>
          <a:p>
            <a:pPr marL="0" indent="0" eaLnBrk="1" hangingPunct="1">
              <a:buFont typeface="Wingdings" panose="05000000000000000000" pitchFamily="2" charset="2"/>
              <a:buNone/>
              <a:defRPr/>
            </a:pPr>
            <a:r>
              <a:rPr lang="zh-CN" altLang="en-US" sz="2400" dirty="0" smtClean="0"/>
              <a:t>以</a:t>
            </a:r>
            <a:r>
              <a:rPr lang="zh-CN" altLang="en-US" sz="2400" dirty="0" smtClean="0">
                <a:solidFill>
                  <a:srgbClr val="0000CC"/>
                </a:solidFill>
                <a:effectLst>
                  <a:outerShdw blurRad="38100" dist="38100" dir="2700000" algn="tl">
                    <a:srgbClr val="C0C0C0"/>
                  </a:outerShdw>
                </a:effectLst>
              </a:rPr>
              <a:t>指令流水线</a:t>
            </a:r>
            <a:r>
              <a:rPr lang="zh-CN" altLang="en-US" sz="2400" dirty="0" smtClean="0"/>
              <a:t>为例进行介绍：</a:t>
            </a:r>
            <a:endParaRPr lang="zh-CN" altLang="en-US" sz="2400" dirty="0" smtClean="0"/>
          </a:p>
        </p:txBody>
      </p:sp>
      <p:sp>
        <p:nvSpPr>
          <p:cNvPr id="7173" name="Text Box 7"/>
          <p:cNvSpPr txBox="1">
            <a:spLocks noChangeArrowheads="1"/>
          </p:cNvSpPr>
          <p:nvPr/>
        </p:nvSpPr>
        <p:spPr bwMode="auto">
          <a:xfrm>
            <a:off x="2514600" y="5098231"/>
            <a:ext cx="1069975" cy="463846"/>
          </a:xfrm>
          <a:prstGeom prst="rect">
            <a:avLst/>
          </a:prstGeom>
          <a:noFill/>
          <a:ln w="25400">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400">
                <a:latin typeface="Times New Roman" panose="02020603050405020304" pitchFamily="18" charset="0"/>
              </a:rPr>
              <a:t>取指</a:t>
            </a:r>
            <a:endParaRPr lang="zh-CN" altLang="en-US" sz="2400">
              <a:latin typeface="Times New Roman" panose="02020603050405020304" pitchFamily="18" charset="0"/>
            </a:endParaRPr>
          </a:p>
        </p:txBody>
      </p:sp>
      <p:sp>
        <p:nvSpPr>
          <p:cNvPr id="7174" name="Text Box 8"/>
          <p:cNvSpPr txBox="1">
            <a:spLocks noChangeArrowheads="1"/>
          </p:cNvSpPr>
          <p:nvPr/>
        </p:nvSpPr>
        <p:spPr bwMode="auto">
          <a:xfrm>
            <a:off x="4343400" y="5098231"/>
            <a:ext cx="1069975" cy="463846"/>
          </a:xfrm>
          <a:prstGeom prst="rect">
            <a:avLst/>
          </a:prstGeom>
          <a:noFill/>
          <a:ln w="25400">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400">
                <a:latin typeface="Times New Roman" panose="02020603050405020304" pitchFamily="18" charset="0"/>
              </a:rPr>
              <a:t>分析</a:t>
            </a:r>
            <a:endParaRPr lang="zh-CN" altLang="en-US" sz="2400">
              <a:latin typeface="Times New Roman" panose="02020603050405020304" pitchFamily="18" charset="0"/>
            </a:endParaRPr>
          </a:p>
        </p:txBody>
      </p:sp>
      <p:sp>
        <p:nvSpPr>
          <p:cNvPr id="7175" name="Text Box 9"/>
          <p:cNvSpPr txBox="1">
            <a:spLocks noChangeArrowheads="1"/>
          </p:cNvSpPr>
          <p:nvPr/>
        </p:nvSpPr>
        <p:spPr bwMode="auto">
          <a:xfrm>
            <a:off x="6172200" y="5098231"/>
            <a:ext cx="1069975" cy="463846"/>
          </a:xfrm>
          <a:prstGeom prst="rect">
            <a:avLst/>
          </a:prstGeom>
          <a:noFill/>
          <a:ln w="25400">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400">
                <a:latin typeface="Times New Roman" panose="02020603050405020304" pitchFamily="18" charset="0"/>
              </a:rPr>
              <a:t>执行</a:t>
            </a:r>
            <a:endParaRPr lang="zh-CN" altLang="en-US" sz="2400">
              <a:latin typeface="Times New Roman" panose="02020603050405020304" pitchFamily="18" charset="0"/>
            </a:endParaRPr>
          </a:p>
        </p:txBody>
      </p:sp>
      <p:sp>
        <p:nvSpPr>
          <p:cNvPr id="7176" name="Line 10"/>
          <p:cNvSpPr>
            <a:spLocks noChangeShapeType="1"/>
          </p:cNvSpPr>
          <p:nvPr/>
        </p:nvSpPr>
        <p:spPr bwMode="auto">
          <a:xfrm>
            <a:off x="1752600" y="5326831"/>
            <a:ext cx="733425" cy="0"/>
          </a:xfrm>
          <a:prstGeom prst="line">
            <a:avLst/>
          </a:prstGeom>
          <a:noFill/>
          <a:ln w="25400">
            <a:solidFill>
              <a:schemeClr val="tx1"/>
            </a:solidFill>
            <a:rou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sz="2400"/>
          </a:p>
        </p:txBody>
      </p:sp>
      <p:sp>
        <p:nvSpPr>
          <p:cNvPr id="7177" name="Line 11"/>
          <p:cNvSpPr>
            <a:spLocks noChangeShapeType="1"/>
          </p:cNvSpPr>
          <p:nvPr/>
        </p:nvSpPr>
        <p:spPr bwMode="auto">
          <a:xfrm>
            <a:off x="3581400" y="5326831"/>
            <a:ext cx="733425" cy="0"/>
          </a:xfrm>
          <a:prstGeom prst="line">
            <a:avLst/>
          </a:prstGeom>
          <a:noFill/>
          <a:ln w="25400">
            <a:solidFill>
              <a:schemeClr val="tx1"/>
            </a:solidFill>
            <a:rou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sz="2400"/>
          </a:p>
        </p:txBody>
      </p:sp>
      <p:sp>
        <p:nvSpPr>
          <p:cNvPr id="7178" name="Line 12"/>
          <p:cNvSpPr>
            <a:spLocks noChangeShapeType="1"/>
          </p:cNvSpPr>
          <p:nvPr/>
        </p:nvSpPr>
        <p:spPr bwMode="auto">
          <a:xfrm>
            <a:off x="5410200" y="5326831"/>
            <a:ext cx="762000" cy="0"/>
          </a:xfrm>
          <a:prstGeom prst="line">
            <a:avLst/>
          </a:prstGeom>
          <a:noFill/>
          <a:ln w="25400">
            <a:solidFill>
              <a:schemeClr val="tx1"/>
            </a:solidFill>
            <a:rou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sz="2400"/>
          </a:p>
        </p:txBody>
      </p:sp>
      <p:sp>
        <p:nvSpPr>
          <p:cNvPr id="7179" name="Rectangle 103"/>
          <p:cNvSpPr>
            <a:spLocks noChangeArrowheads="1"/>
          </p:cNvSpPr>
          <p:nvPr/>
        </p:nvSpPr>
        <p:spPr bwMode="auto">
          <a:xfrm>
            <a:off x="2627784" y="1989138"/>
            <a:ext cx="6159029" cy="20879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6517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8427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3375"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22475"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4796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368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3940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512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None/>
            </a:pPr>
            <a:r>
              <a:rPr lang="zh-CN" altLang="en-US" sz="2400" dirty="0"/>
              <a:t>通过将一个</a:t>
            </a:r>
            <a:r>
              <a:rPr lang="zh-CN" altLang="en-US" sz="2400" dirty="0">
                <a:solidFill>
                  <a:srgbClr val="0000FF"/>
                </a:solidFill>
              </a:rPr>
              <a:t>重复</a:t>
            </a:r>
            <a:r>
              <a:rPr lang="zh-CN" altLang="en-US" sz="2400" dirty="0"/>
              <a:t>的过程分解为</a:t>
            </a:r>
            <a:r>
              <a:rPr lang="zh-CN" altLang="en-US" sz="2400" dirty="0" smtClean="0"/>
              <a:t>若干子</a:t>
            </a:r>
            <a:r>
              <a:rPr lang="zh-CN" altLang="en-US" sz="2400" dirty="0"/>
              <a:t>过程，每个子过程由</a:t>
            </a:r>
            <a:r>
              <a:rPr lang="zh-CN" altLang="en-US" sz="2400" dirty="0">
                <a:solidFill>
                  <a:srgbClr val="0000FF"/>
                </a:solidFill>
              </a:rPr>
              <a:t>专门的功能部件</a:t>
            </a:r>
            <a:r>
              <a:rPr lang="zh-CN" altLang="en-US" sz="2400" dirty="0"/>
              <a:t>来</a:t>
            </a:r>
            <a:r>
              <a:rPr lang="zh-CN" altLang="en-US" sz="2400" dirty="0" smtClean="0"/>
              <a:t>实现</a:t>
            </a:r>
            <a:r>
              <a:rPr lang="zh-CN" altLang="en-US" sz="2400" dirty="0"/>
              <a:t>；</a:t>
            </a:r>
            <a:r>
              <a:rPr lang="zh-CN" altLang="en-US" sz="2400" dirty="0" smtClean="0"/>
              <a:t>把</a:t>
            </a:r>
            <a:r>
              <a:rPr lang="zh-CN" altLang="en-US" sz="2400" dirty="0"/>
              <a:t>多个处理过程在时间上</a:t>
            </a:r>
            <a:r>
              <a:rPr lang="zh-CN" altLang="en-US" sz="2400" dirty="0">
                <a:solidFill>
                  <a:srgbClr val="0000FF"/>
                </a:solidFill>
              </a:rPr>
              <a:t>错开</a:t>
            </a:r>
            <a:r>
              <a:rPr lang="zh-CN" altLang="en-US" sz="2400" dirty="0"/>
              <a:t>，依次通过各功能段，这样，每个子过程就可以与其他的子过程</a:t>
            </a:r>
            <a:r>
              <a:rPr lang="zh-CN" altLang="en-US" sz="2400" dirty="0">
                <a:solidFill>
                  <a:srgbClr val="0000FF"/>
                </a:solidFill>
              </a:rPr>
              <a:t>并行</a:t>
            </a:r>
            <a:r>
              <a:rPr lang="zh-CN" altLang="en-US" sz="2400" dirty="0"/>
              <a:t>进行</a:t>
            </a:r>
            <a:r>
              <a:rPr lang="zh-CN" altLang="en-US" sz="2400" dirty="0" smtClean="0"/>
              <a:t>。</a:t>
            </a:r>
            <a:endParaRPr lang="zh-CN" altLang="en-US" sz="2400" dirty="0"/>
          </a:p>
        </p:txBody>
      </p:sp>
      <p:sp>
        <p:nvSpPr>
          <p:cNvPr id="7180" name="Line 104"/>
          <p:cNvSpPr>
            <a:spLocks noChangeShapeType="1"/>
          </p:cNvSpPr>
          <p:nvPr/>
        </p:nvSpPr>
        <p:spPr bwMode="auto">
          <a:xfrm>
            <a:off x="7239000" y="5326831"/>
            <a:ext cx="762000" cy="0"/>
          </a:xfrm>
          <a:prstGeom prst="line">
            <a:avLst/>
          </a:prstGeom>
          <a:noFill/>
          <a:ln w="25400">
            <a:solidFill>
              <a:schemeClr val="tx1"/>
            </a:solidFill>
            <a:rou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sz="2400"/>
          </a:p>
        </p:txBody>
      </p:sp>
      <p:sp>
        <p:nvSpPr>
          <p:cNvPr id="7181" name="Text Box 105"/>
          <p:cNvSpPr txBox="1">
            <a:spLocks noChangeArrowheads="1"/>
          </p:cNvSpPr>
          <p:nvPr/>
        </p:nvSpPr>
        <p:spPr bwMode="auto">
          <a:xfrm>
            <a:off x="2743200" y="5631631"/>
            <a:ext cx="6858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b="0">
                <a:latin typeface="Times New Roman" panose="02020603050405020304" pitchFamily="18" charset="0"/>
                <a:ea typeface="宋体" panose="02010600030101010101" pitchFamily="2" charset="-122"/>
              </a:rPr>
              <a:t>△t</a:t>
            </a:r>
            <a:endParaRPr lang="en-US" altLang="zh-CN" sz="2400" b="0">
              <a:latin typeface="Times New Roman" panose="02020603050405020304" pitchFamily="18" charset="0"/>
              <a:ea typeface="宋体" panose="02010600030101010101" pitchFamily="2" charset="-122"/>
            </a:endParaRPr>
          </a:p>
        </p:txBody>
      </p:sp>
      <p:sp>
        <p:nvSpPr>
          <p:cNvPr id="7182" name="Text Box 109"/>
          <p:cNvSpPr txBox="1">
            <a:spLocks noChangeArrowheads="1"/>
          </p:cNvSpPr>
          <p:nvPr/>
        </p:nvSpPr>
        <p:spPr bwMode="auto">
          <a:xfrm>
            <a:off x="4495800" y="5631631"/>
            <a:ext cx="6858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b="0">
                <a:latin typeface="Times New Roman" panose="02020603050405020304" pitchFamily="18" charset="0"/>
                <a:ea typeface="宋体" panose="02010600030101010101" pitchFamily="2" charset="-122"/>
              </a:rPr>
              <a:t>△t</a:t>
            </a:r>
            <a:endParaRPr lang="en-US" altLang="zh-CN" sz="2400" b="0">
              <a:latin typeface="Times New Roman" panose="02020603050405020304" pitchFamily="18" charset="0"/>
              <a:ea typeface="宋体" panose="02010600030101010101" pitchFamily="2" charset="-122"/>
            </a:endParaRPr>
          </a:p>
        </p:txBody>
      </p:sp>
      <p:sp>
        <p:nvSpPr>
          <p:cNvPr id="7183" name="Text Box 110"/>
          <p:cNvSpPr txBox="1">
            <a:spLocks noChangeArrowheads="1"/>
          </p:cNvSpPr>
          <p:nvPr/>
        </p:nvSpPr>
        <p:spPr bwMode="auto">
          <a:xfrm>
            <a:off x="6400800" y="5631631"/>
            <a:ext cx="6858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b="0">
                <a:latin typeface="Times New Roman" panose="02020603050405020304" pitchFamily="18" charset="0"/>
                <a:ea typeface="宋体" panose="02010600030101010101" pitchFamily="2" charset="-122"/>
              </a:rPr>
              <a:t>△t</a:t>
            </a:r>
            <a:endParaRPr lang="en-US" altLang="zh-CN" sz="2400" b="0">
              <a:latin typeface="Times New Roman" panose="02020603050405020304" pitchFamily="18" charset="0"/>
              <a:ea typeface="宋体" panose="02010600030101010101" pitchFamily="2" charset="-122"/>
            </a:endParaRPr>
          </a:p>
        </p:txBody>
      </p:sp>
      <p:sp>
        <p:nvSpPr>
          <p:cNvPr id="7184" name="Text Box 111"/>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9346" name="Rectangle 2"/>
          <p:cNvSpPr>
            <a:spLocks noGrp="1" noChangeArrowheads="1"/>
          </p:cNvSpPr>
          <p:nvPr>
            <p:ph type="title"/>
          </p:nvPr>
        </p:nvSpPr>
        <p:spPr/>
        <p:txBody>
          <a:bodyPr/>
          <a:lstStyle/>
          <a:p>
            <a:pPr eaLnBrk="1" hangingPunct="1">
              <a:defRPr/>
            </a:pPr>
            <a:r>
              <a:rPr lang="zh-CN" altLang="en-US" smtClean="0"/>
              <a:t>流水线基本思想</a:t>
            </a:r>
            <a:endParaRPr lang="zh-CN" altLang="en-US" smtClean="0"/>
          </a:p>
        </p:txBody>
      </p:sp>
      <p:sp>
        <p:nvSpPr>
          <p:cNvPr id="819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流水线工作原理</a:t>
            </a:r>
            <a:endParaRPr lang="zh-CN" altLang="en-US" sz="1200" b="0">
              <a:latin typeface="Times New Roman" panose="02020603050405020304" pitchFamily="18" charset="0"/>
              <a:ea typeface="幼圆" panose="02010509060101010101" pitchFamily="49" charset="-122"/>
            </a:endParaRPr>
          </a:p>
        </p:txBody>
      </p:sp>
      <p:sp>
        <p:nvSpPr>
          <p:cNvPr id="569348" name="Rectangle 4"/>
          <p:cNvSpPr>
            <a:spLocks noGrp="1" noChangeArrowheads="1"/>
          </p:cNvSpPr>
          <p:nvPr>
            <p:ph type="body" idx="1"/>
          </p:nvPr>
        </p:nvSpPr>
        <p:spPr>
          <a:xfrm>
            <a:off x="809625" y="1989138"/>
            <a:ext cx="7958138" cy="946150"/>
          </a:xfrm>
        </p:spPr>
        <p:txBody>
          <a:bodyPr/>
          <a:lstStyle/>
          <a:p>
            <a:pPr eaLnBrk="1" hangingPunct="1">
              <a:buClr>
                <a:srgbClr val="FF0000"/>
              </a:buClr>
              <a:defRPr/>
            </a:pPr>
            <a:r>
              <a:rPr lang="zh-CN" altLang="en-US" smtClean="0">
                <a:solidFill>
                  <a:srgbClr val="FF0000"/>
                </a:solidFill>
                <a:effectLst>
                  <a:outerShdw blurRad="38100" dist="38100" dir="2700000" algn="tl">
                    <a:srgbClr val="C0C0C0"/>
                  </a:outerShdw>
                </a:effectLst>
              </a:rPr>
              <a:t>顺序执行</a:t>
            </a:r>
            <a:endParaRPr lang="zh-CN" altLang="en-US" sz="2800" smtClean="0"/>
          </a:p>
        </p:txBody>
      </p:sp>
      <p:grpSp>
        <p:nvGrpSpPr>
          <p:cNvPr id="8197" name="Group 18"/>
          <p:cNvGrpSpPr/>
          <p:nvPr/>
        </p:nvGrpSpPr>
        <p:grpSpPr bwMode="auto">
          <a:xfrm>
            <a:off x="971550" y="2852738"/>
            <a:ext cx="7696200" cy="533400"/>
            <a:chOff x="576" y="1968"/>
            <a:chExt cx="4848" cy="336"/>
          </a:xfrm>
        </p:grpSpPr>
        <p:sp>
          <p:nvSpPr>
            <p:cNvPr id="8202" name="Rectangle 7"/>
            <p:cNvSpPr>
              <a:spLocks noChangeArrowheads="1"/>
            </p:cNvSpPr>
            <p:nvPr/>
          </p:nvSpPr>
          <p:spPr bwMode="auto">
            <a:xfrm>
              <a:off x="576" y="1968"/>
              <a:ext cx="66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anose="030F0702030302020204" pitchFamily="66" charset="0"/>
                </a:rPr>
                <a:t>取指</a:t>
              </a:r>
              <a:r>
                <a:rPr lang="en-US" altLang="zh-CN" sz="2400" baseline="-25000">
                  <a:solidFill>
                    <a:schemeClr val="tx2"/>
                  </a:solidFill>
                  <a:latin typeface="Comic Sans MS" panose="030F0702030302020204" pitchFamily="66" charset="0"/>
                </a:rPr>
                <a:t>k</a:t>
              </a:r>
              <a:endParaRPr lang="en-US" altLang="zh-CN" sz="2400" baseline="-25000">
                <a:solidFill>
                  <a:schemeClr val="tx2"/>
                </a:solidFill>
                <a:latin typeface="Comic Sans MS" panose="030F0702030302020204" pitchFamily="66" charset="0"/>
              </a:endParaRPr>
            </a:p>
          </p:txBody>
        </p:sp>
        <p:sp>
          <p:nvSpPr>
            <p:cNvPr id="8203" name="Rectangle 8"/>
            <p:cNvSpPr>
              <a:spLocks noChangeArrowheads="1"/>
            </p:cNvSpPr>
            <p:nvPr/>
          </p:nvSpPr>
          <p:spPr bwMode="auto">
            <a:xfrm>
              <a:off x="1244" y="1968"/>
              <a:ext cx="6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anose="030F0702030302020204" pitchFamily="66" charset="0"/>
                </a:rPr>
                <a:t>分析</a:t>
              </a:r>
              <a:r>
                <a:rPr lang="en-US" altLang="zh-CN" sz="2400" baseline="-25000">
                  <a:solidFill>
                    <a:schemeClr val="tx2"/>
                  </a:solidFill>
                  <a:latin typeface="Comic Sans MS" panose="030F0702030302020204" pitchFamily="66" charset="0"/>
                </a:rPr>
                <a:t>k</a:t>
              </a:r>
              <a:endParaRPr lang="en-US" altLang="zh-CN" sz="2400" baseline="-25000">
                <a:solidFill>
                  <a:schemeClr val="tx2"/>
                </a:solidFill>
                <a:latin typeface="Comic Sans MS" panose="030F0702030302020204" pitchFamily="66" charset="0"/>
              </a:endParaRPr>
            </a:p>
          </p:txBody>
        </p:sp>
        <p:sp>
          <p:nvSpPr>
            <p:cNvPr id="8204" name="Rectangle 9"/>
            <p:cNvSpPr>
              <a:spLocks noChangeArrowheads="1"/>
            </p:cNvSpPr>
            <p:nvPr/>
          </p:nvSpPr>
          <p:spPr bwMode="auto">
            <a:xfrm>
              <a:off x="1920" y="1968"/>
              <a:ext cx="672"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anose="030F0702030302020204" pitchFamily="66" charset="0"/>
                </a:rPr>
                <a:t>执行</a:t>
              </a:r>
              <a:r>
                <a:rPr lang="en-US" altLang="zh-CN" sz="2400" baseline="-25000">
                  <a:solidFill>
                    <a:schemeClr val="tx2"/>
                  </a:solidFill>
                  <a:latin typeface="Comic Sans MS" panose="030F0702030302020204" pitchFamily="66" charset="0"/>
                </a:rPr>
                <a:t>k</a:t>
              </a:r>
              <a:endParaRPr lang="en-US" altLang="zh-CN" sz="2400" baseline="-25000">
                <a:solidFill>
                  <a:schemeClr val="tx2"/>
                </a:solidFill>
                <a:latin typeface="Comic Sans MS" panose="030F0702030302020204" pitchFamily="66" charset="0"/>
              </a:endParaRPr>
            </a:p>
          </p:txBody>
        </p:sp>
        <p:sp>
          <p:nvSpPr>
            <p:cNvPr id="8205" name="Rectangle 10"/>
            <p:cNvSpPr>
              <a:spLocks noChangeArrowheads="1"/>
            </p:cNvSpPr>
            <p:nvPr/>
          </p:nvSpPr>
          <p:spPr bwMode="auto">
            <a:xfrm>
              <a:off x="2592" y="1968"/>
              <a:ext cx="732"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anose="030F0702030302020204" pitchFamily="66" charset="0"/>
                </a:rPr>
                <a:t>取指</a:t>
              </a:r>
              <a:r>
                <a:rPr lang="en-US" altLang="zh-CN" sz="2400" baseline="-25000">
                  <a:solidFill>
                    <a:schemeClr val="tx2"/>
                  </a:solidFill>
                  <a:latin typeface="Comic Sans MS" panose="030F0702030302020204" pitchFamily="66" charset="0"/>
                </a:rPr>
                <a:t>k+1</a:t>
              </a:r>
              <a:endParaRPr lang="en-US" altLang="zh-CN" sz="2400" baseline="-25000">
                <a:solidFill>
                  <a:schemeClr val="tx2"/>
                </a:solidFill>
                <a:latin typeface="Comic Sans MS" panose="030F0702030302020204" pitchFamily="66" charset="0"/>
              </a:endParaRPr>
            </a:p>
          </p:txBody>
        </p:sp>
        <p:sp>
          <p:nvSpPr>
            <p:cNvPr id="8206" name="Rectangle 11"/>
            <p:cNvSpPr>
              <a:spLocks noChangeArrowheads="1"/>
            </p:cNvSpPr>
            <p:nvPr/>
          </p:nvSpPr>
          <p:spPr bwMode="auto">
            <a:xfrm>
              <a:off x="3324" y="1968"/>
              <a:ext cx="764"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anose="030F0702030302020204" pitchFamily="66" charset="0"/>
                </a:rPr>
                <a:t>分析</a:t>
              </a:r>
              <a:r>
                <a:rPr lang="en-US" altLang="zh-CN" sz="2400" baseline="-25000">
                  <a:solidFill>
                    <a:schemeClr val="tx2"/>
                  </a:solidFill>
                  <a:latin typeface="Comic Sans MS" panose="030F0702030302020204" pitchFamily="66" charset="0"/>
                </a:rPr>
                <a:t>k+1</a:t>
              </a:r>
              <a:endParaRPr lang="en-US" altLang="zh-CN" sz="2400" baseline="-25000">
                <a:solidFill>
                  <a:schemeClr val="tx2"/>
                </a:solidFill>
                <a:latin typeface="Comic Sans MS" panose="030F0702030302020204" pitchFamily="66" charset="0"/>
              </a:endParaRPr>
            </a:p>
          </p:txBody>
        </p:sp>
        <p:sp>
          <p:nvSpPr>
            <p:cNvPr id="8207" name="Rectangle 12"/>
            <p:cNvSpPr>
              <a:spLocks noChangeArrowheads="1"/>
            </p:cNvSpPr>
            <p:nvPr/>
          </p:nvSpPr>
          <p:spPr bwMode="auto">
            <a:xfrm>
              <a:off x="4088" y="1968"/>
              <a:ext cx="764"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anose="030F0702030302020204" pitchFamily="66" charset="0"/>
                </a:rPr>
                <a:t>执行</a:t>
              </a:r>
              <a:r>
                <a:rPr lang="en-US" altLang="zh-CN" sz="2400" baseline="-25000">
                  <a:solidFill>
                    <a:schemeClr val="tx2"/>
                  </a:solidFill>
                  <a:latin typeface="Comic Sans MS" panose="030F0702030302020204" pitchFamily="66" charset="0"/>
                </a:rPr>
                <a:t>k+1</a:t>
              </a:r>
              <a:endParaRPr lang="en-US" altLang="zh-CN" sz="2400" baseline="-25000">
                <a:solidFill>
                  <a:schemeClr val="tx2"/>
                </a:solidFill>
                <a:latin typeface="Comic Sans MS" panose="030F0702030302020204" pitchFamily="66" charset="0"/>
              </a:endParaRPr>
            </a:p>
          </p:txBody>
        </p:sp>
        <p:sp>
          <p:nvSpPr>
            <p:cNvPr id="8208" name="Rectangle 13"/>
            <p:cNvSpPr>
              <a:spLocks noChangeArrowheads="1"/>
            </p:cNvSpPr>
            <p:nvPr/>
          </p:nvSpPr>
          <p:spPr bwMode="auto">
            <a:xfrm>
              <a:off x="4852" y="1968"/>
              <a:ext cx="572"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anose="030F0702030302020204" pitchFamily="66" charset="0"/>
                </a:rPr>
                <a:t>……</a:t>
              </a:r>
              <a:endParaRPr lang="en-US" altLang="zh-CN" sz="2400">
                <a:solidFill>
                  <a:schemeClr val="tx2"/>
                </a:solidFill>
                <a:latin typeface="Comic Sans MS" panose="030F0702030302020204" pitchFamily="66" charset="0"/>
              </a:endParaRPr>
            </a:p>
          </p:txBody>
        </p:sp>
      </p:grpSp>
      <p:sp>
        <p:nvSpPr>
          <p:cNvPr id="569358" name="Rectangle 14"/>
          <p:cNvSpPr>
            <a:spLocks noChangeArrowheads="1"/>
          </p:cNvSpPr>
          <p:nvPr/>
        </p:nvSpPr>
        <p:spPr bwMode="auto">
          <a:xfrm>
            <a:off x="4800600" y="3886200"/>
            <a:ext cx="4114800" cy="2438400"/>
          </a:xfrm>
          <a:prstGeom prst="rect">
            <a:avLst/>
          </a:prstGeom>
          <a:solidFill>
            <a:srgbClr val="CCFFCC"/>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110000"/>
              </a:lnSpc>
              <a:spcBef>
                <a:spcPct val="10000"/>
              </a:spcBef>
              <a:defRPr/>
            </a:pPr>
            <a:r>
              <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rPr>
              <a:t>优点：</a:t>
            </a:r>
            <a:endPar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endParaRPr>
          </a:p>
          <a:p>
            <a:pPr>
              <a:lnSpc>
                <a:spcPct val="110000"/>
              </a:lnSpc>
              <a:spcBef>
                <a:spcPct val="10000"/>
              </a:spcBef>
              <a:buFont typeface="Wingdings" panose="05000000000000000000" pitchFamily="2" charset="2"/>
              <a:buChar char="Ø"/>
              <a:defRPr/>
            </a:pPr>
            <a:r>
              <a:rPr lang="zh-CN" altLang="en-US" sz="2400" b="1">
                <a:latin typeface="Arial" panose="020B0604020202020204" pitchFamily="34" charset="0"/>
                <a:ea typeface="楷体_GB2312" pitchFamily="49" charset="-122"/>
              </a:rPr>
              <a:t>  控制简单，节省设备。</a:t>
            </a:r>
            <a:endParaRPr lang="zh-CN" altLang="en-US" sz="2400" b="1">
              <a:latin typeface="Arial" panose="020B0604020202020204" pitchFamily="34" charset="0"/>
              <a:ea typeface="楷体_GB2312" pitchFamily="49" charset="-122"/>
            </a:endParaRPr>
          </a:p>
          <a:p>
            <a:pPr>
              <a:lnSpc>
                <a:spcPct val="110000"/>
              </a:lnSpc>
              <a:spcBef>
                <a:spcPct val="10000"/>
              </a:spcBef>
              <a:defRPr/>
            </a:pPr>
            <a:r>
              <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rPr>
              <a:t>缺点：</a:t>
            </a:r>
            <a:endPar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endParaRPr>
          </a:p>
          <a:p>
            <a:pPr>
              <a:lnSpc>
                <a:spcPct val="110000"/>
              </a:lnSpc>
              <a:spcBef>
                <a:spcPct val="10000"/>
              </a:spcBef>
              <a:buFont typeface="Wingdings" panose="05000000000000000000" pitchFamily="2" charset="2"/>
              <a:buChar char="Ø"/>
              <a:defRPr/>
            </a:pPr>
            <a:r>
              <a:rPr lang="zh-CN" altLang="en-US" sz="2400" b="1">
                <a:latin typeface="Arial" panose="020B0604020202020204" pitchFamily="34" charset="0"/>
                <a:ea typeface="楷体_GB2312" pitchFamily="49" charset="-122"/>
              </a:rPr>
              <a:t>  处理器执行指令的速度慢</a:t>
            </a:r>
            <a:endParaRPr lang="zh-CN" altLang="en-US" sz="2400" b="1">
              <a:latin typeface="Arial" panose="020B0604020202020204" pitchFamily="34" charset="0"/>
              <a:ea typeface="楷体_GB2312" pitchFamily="49" charset="-122"/>
            </a:endParaRPr>
          </a:p>
          <a:p>
            <a:pPr>
              <a:lnSpc>
                <a:spcPct val="110000"/>
              </a:lnSpc>
              <a:spcBef>
                <a:spcPct val="10000"/>
              </a:spcBef>
              <a:buFont typeface="Wingdings" panose="05000000000000000000" pitchFamily="2" charset="2"/>
              <a:buChar char="Ø"/>
              <a:defRPr/>
            </a:pPr>
            <a:r>
              <a:rPr lang="zh-CN" altLang="en-US" sz="2400" b="1">
                <a:latin typeface="Arial" panose="020B0604020202020204" pitchFamily="34" charset="0"/>
                <a:ea typeface="楷体_GB2312" pitchFamily="49" charset="-122"/>
              </a:rPr>
              <a:t>  功能部件的利用率很低</a:t>
            </a:r>
            <a:endParaRPr lang="zh-CN" altLang="en-US" sz="2400" b="1">
              <a:latin typeface="Arial" panose="020B0604020202020204" pitchFamily="34" charset="0"/>
              <a:ea typeface="楷体_GB2312" pitchFamily="49" charset="-122"/>
            </a:endParaRPr>
          </a:p>
        </p:txBody>
      </p:sp>
      <p:sp>
        <p:nvSpPr>
          <p:cNvPr id="569359" name="Rectangle 15"/>
          <p:cNvSpPr>
            <a:spLocks noChangeArrowheads="1"/>
          </p:cNvSpPr>
          <p:nvPr/>
        </p:nvSpPr>
        <p:spPr bwMode="auto">
          <a:xfrm>
            <a:off x="762000" y="3886200"/>
            <a:ext cx="3962400" cy="2438400"/>
          </a:xfrm>
          <a:prstGeom prst="rect">
            <a:avLst/>
          </a:prstGeom>
          <a:solidFill>
            <a:srgbClr val="FFFF99"/>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170000"/>
              </a:lnSpc>
              <a:spcBef>
                <a:spcPct val="60000"/>
              </a:spcBef>
              <a:defRPr/>
            </a:pPr>
            <a:r>
              <a:rPr lang="en-US" altLang="zh-CN" sz="2400" b="1">
                <a:solidFill>
                  <a:srgbClr val="0000CC"/>
                </a:solidFill>
                <a:effectLst>
                  <a:outerShdw blurRad="38100" dist="38100" dir="2700000" algn="tl">
                    <a:srgbClr val="000000"/>
                  </a:outerShdw>
                </a:effectLst>
                <a:latin typeface="Arial" panose="020B0604020202020204" pitchFamily="34" charset="0"/>
                <a:ea typeface="楷体_GB2312" pitchFamily="49" charset="-122"/>
              </a:rPr>
              <a:t>n</a:t>
            </a:r>
            <a:r>
              <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rPr>
              <a:t>条指令的执行时间为：</a:t>
            </a:r>
            <a:endPar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endParaRPr>
          </a:p>
        </p:txBody>
      </p:sp>
      <p:graphicFrame>
        <p:nvGraphicFramePr>
          <p:cNvPr id="8200" name="Object 17"/>
          <p:cNvGraphicFramePr>
            <a:graphicFrameLocks noChangeAspect="1"/>
          </p:cNvGraphicFramePr>
          <p:nvPr/>
        </p:nvGraphicFramePr>
        <p:xfrm>
          <a:off x="990600" y="4724400"/>
          <a:ext cx="3565525" cy="1265238"/>
        </p:xfrm>
        <a:graphic>
          <a:graphicData uri="http://schemas.openxmlformats.org/presentationml/2006/ole">
            <mc:AlternateContent xmlns:mc="http://schemas.openxmlformats.org/markup-compatibility/2006">
              <mc:Choice xmlns:v="urn:schemas-microsoft-com:vml" Requires="v">
                <p:oleObj spid="_x0000_s8297" name="Equation" r:id="rId4" imgW="1688465" imgH="635000" progId="Equation.3">
                  <p:embed/>
                </p:oleObj>
              </mc:Choice>
              <mc:Fallback>
                <p:oleObj name="Equation" r:id="rId4" imgW="1688465" imgH="635000" progId="Equation.3">
                  <p:embed/>
                  <p:pic>
                    <p:nvPicPr>
                      <p:cNvPr id="0" name="Object 1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0600" y="4724400"/>
                        <a:ext cx="3565525" cy="1265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8201" name="Text Box 1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0393" name="Rectangle 25"/>
          <p:cNvSpPr>
            <a:spLocks noChangeArrowheads="1"/>
          </p:cNvSpPr>
          <p:nvPr/>
        </p:nvSpPr>
        <p:spPr bwMode="auto">
          <a:xfrm>
            <a:off x="5181600" y="4648200"/>
            <a:ext cx="3581400" cy="1752600"/>
          </a:xfrm>
          <a:prstGeom prst="rect">
            <a:avLst/>
          </a:prstGeom>
          <a:solidFill>
            <a:srgbClr val="CCFFFF"/>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170000"/>
              </a:lnSpc>
              <a:spcBef>
                <a:spcPct val="60000"/>
              </a:spcBef>
              <a:defRPr/>
            </a:pPr>
            <a:r>
              <a:rPr lang="en-US" altLang="zh-CN" sz="2400" b="1">
                <a:solidFill>
                  <a:srgbClr val="0000CC"/>
                </a:solidFill>
                <a:effectLst>
                  <a:outerShdw blurRad="38100" dist="38100" dir="2700000" algn="tl">
                    <a:srgbClr val="000000"/>
                  </a:outerShdw>
                </a:effectLst>
                <a:latin typeface="Arial" panose="020B0604020202020204" pitchFamily="34" charset="0"/>
                <a:ea typeface="楷体_GB2312" pitchFamily="49" charset="-122"/>
              </a:rPr>
              <a:t>n</a:t>
            </a:r>
            <a:r>
              <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rPr>
              <a:t>条指令的执行时间为：</a:t>
            </a:r>
            <a:endPar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endParaRPr>
          </a:p>
        </p:txBody>
      </p:sp>
      <p:sp>
        <p:nvSpPr>
          <p:cNvPr id="570370" name="Rectangle 2"/>
          <p:cNvSpPr>
            <a:spLocks noGrp="1" noChangeArrowheads="1"/>
          </p:cNvSpPr>
          <p:nvPr>
            <p:ph type="title"/>
          </p:nvPr>
        </p:nvSpPr>
        <p:spPr/>
        <p:txBody>
          <a:bodyPr/>
          <a:lstStyle/>
          <a:p>
            <a:pPr eaLnBrk="1" hangingPunct="1">
              <a:defRPr/>
            </a:pPr>
            <a:r>
              <a:rPr lang="zh-CN" altLang="en-US" smtClean="0"/>
              <a:t>流水线基本思想</a:t>
            </a:r>
            <a:endParaRPr lang="zh-CN" altLang="en-US" smtClean="0"/>
          </a:p>
        </p:txBody>
      </p:sp>
      <p:sp>
        <p:nvSpPr>
          <p:cNvPr id="9220"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流水线工作原理</a:t>
            </a:r>
            <a:endParaRPr lang="zh-CN" altLang="en-US" sz="1200" b="0">
              <a:latin typeface="Times New Roman" panose="02020603050405020304" pitchFamily="18" charset="0"/>
              <a:ea typeface="幼圆" panose="02010509060101010101" pitchFamily="49" charset="-122"/>
            </a:endParaRPr>
          </a:p>
        </p:txBody>
      </p:sp>
      <p:sp>
        <p:nvSpPr>
          <p:cNvPr id="570372" name="Rectangle 4"/>
          <p:cNvSpPr>
            <a:spLocks noGrp="1" noChangeArrowheads="1"/>
          </p:cNvSpPr>
          <p:nvPr>
            <p:ph type="body" idx="1"/>
          </p:nvPr>
        </p:nvSpPr>
        <p:spPr>
          <a:xfrm>
            <a:off x="809625" y="1989138"/>
            <a:ext cx="7958138" cy="946150"/>
          </a:xfrm>
        </p:spPr>
        <p:txBody>
          <a:bodyPr/>
          <a:lstStyle/>
          <a:p>
            <a:pPr eaLnBrk="1" hangingPunct="1">
              <a:buClr>
                <a:srgbClr val="FF0000"/>
              </a:buClr>
              <a:defRPr/>
            </a:pPr>
            <a:r>
              <a:rPr lang="zh-CN" altLang="en-US" smtClean="0">
                <a:solidFill>
                  <a:srgbClr val="FF0000"/>
                </a:solidFill>
                <a:effectLst>
                  <a:outerShdw blurRad="38100" dist="38100" dir="2700000" algn="tl">
                    <a:srgbClr val="C0C0C0"/>
                  </a:outerShdw>
                </a:effectLst>
              </a:rPr>
              <a:t>一次重叠</a:t>
            </a:r>
            <a:r>
              <a:rPr lang="en-US" altLang="zh-CN" smtClean="0"/>
              <a:t>    </a:t>
            </a:r>
            <a:endParaRPr lang="zh-CN" altLang="en-US" smtClean="0"/>
          </a:p>
        </p:txBody>
      </p:sp>
      <p:graphicFrame>
        <p:nvGraphicFramePr>
          <p:cNvPr id="9222" name="Object 5"/>
          <p:cNvGraphicFramePr>
            <a:graphicFrameLocks noChangeAspect="1"/>
          </p:cNvGraphicFramePr>
          <p:nvPr/>
        </p:nvGraphicFramePr>
        <p:xfrm>
          <a:off x="5715000" y="5486400"/>
          <a:ext cx="2549525" cy="506413"/>
        </p:xfrm>
        <a:graphic>
          <a:graphicData uri="http://schemas.openxmlformats.org/presentationml/2006/ole">
            <mc:AlternateContent xmlns:mc="http://schemas.openxmlformats.org/markup-compatibility/2006">
              <mc:Choice xmlns:v="urn:schemas-microsoft-com:vml" Requires="v">
                <p:oleObj spid="_x0000_s9323" name="Equation" r:id="rId4" imgW="965200" imgH="203200" progId="Equation.3">
                  <p:embed/>
                </p:oleObj>
              </mc:Choice>
              <mc:Fallback>
                <p:oleObj name="Equation" r:id="rId4" imgW="965200" imgH="203200" progId="Equation.3">
                  <p:embed/>
                  <p:pic>
                    <p:nvPicPr>
                      <p:cNvPr id="0"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15000" y="5486400"/>
                        <a:ext cx="2549525" cy="506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9223" name="Group 14"/>
          <p:cNvGrpSpPr/>
          <p:nvPr/>
        </p:nvGrpSpPr>
        <p:grpSpPr bwMode="auto">
          <a:xfrm>
            <a:off x="900113" y="2708275"/>
            <a:ext cx="7772400" cy="1600200"/>
            <a:chOff x="672" y="576"/>
            <a:chExt cx="4368" cy="1008"/>
          </a:xfrm>
        </p:grpSpPr>
        <p:sp>
          <p:nvSpPr>
            <p:cNvPr id="9226" name="Rectangle 15"/>
            <p:cNvSpPr>
              <a:spLocks noChangeArrowheads="1"/>
            </p:cNvSpPr>
            <p:nvPr/>
          </p:nvSpPr>
          <p:spPr bwMode="auto">
            <a:xfrm>
              <a:off x="672" y="576"/>
              <a:ext cx="624"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anose="02040602050305030304" pitchFamily="18" charset="0"/>
                </a:rPr>
                <a:t>取指</a:t>
              </a:r>
              <a:r>
                <a:rPr lang="en-US" altLang="zh-CN" sz="2400" baseline="-25000">
                  <a:solidFill>
                    <a:schemeClr val="tx2"/>
                  </a:solidFill>
                  <a:latin typeface="Book Antiqua" panose="02040602050305030304" pitchFamily="18" charset="0"/>
                </a:rPr>
                <a:t>k</a:t>
              </a:r>
              <a:endParaRPr lang="zh-CN" altLang="zh-CN" sz="2400" baseline="-25000">
                <a:solidFill>
                  <a:schemeClr val="tx2"/>
                </a:solidFill>
                <a:latin typeface="Book Antiqua" panose="02040602050305030304" pitchFamily="18" charset="0"/>
              </a:endParaRPr>
            </a:p>
          </p:txBody>
        </p:sp>
        <p:sp>
          <p:nvSpPr>
            <p:cNvPr id="9227" name="Rectangle 16"/>
            <p:cNvSpPr>
              <a:spLocks noChangeArrowheads="1"/>
            </p:cNvSpPr>
            <p:nvPr/>
          </p:nvSpPr>
          <p:spPr bwMode="auto">
            <a:xfrm>
              <a:off x="1296" y="576"/>
              <a:ext cx="624"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anose="02040602050305030304" pitchFamily="18" charset="0"/>
                </a:rPr>
                <a:t>分析</a:t>
              </a:r>
              <a:r>
                <a:rPr lang="en-US" altLang="zh-CN" sz="2400" baseline="-25000">
                  <a:solidFill>
                    <a:schemeClr val="tx2"/>
                  </a:solidFill>
                  <a:latin typeface="Book Antiqua" panose="02040602050305030304" pitchFamily="18" charset="0"/>
                </a:rPr>
                <a:t>k</a:t>
              </a:r>
              <a:endParaRPr lang="zh-CN" altLang="zh-CN" sz="2400" baseline="-25000">
                <a:solidFill>
                  <a:schemeClr val="tx2"/>
                </a:solidFill>
                <a:latin typeface="Book Antiqua" panose="02040602050305030304" pitchFamily="18" charset="0"/>
              </a:endParaRPr>
            </a:p>
          </p:txBody>
        </p:sp>
        <p:sp>
          <p:nvSpPr>
            <p:cNvPr id="9228" name="Rectangle 17"/>
            <p:cNvSpPr>
              <a:spLocks noChangeArrowheads="1"/>
            </p:cNvSpPr>
            <p:nvPr/>
          </p:nvSpPr>
          <p:spPr bwMode="auto">
            <a:xfrm>
              <a:off x="1920" y="576"/>
              <a:ext cx="624"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anose="02040602050305030304" pitchFamily="18" charset="0"/>
                </a:rPr>
                <a:t>执行</a:t>
              </a:r>
              <a:r>
                <a:rPr lang="en-US" altLang="zh-CN" sz="2400" baseline="-25000">
                  <a:solidFill>
                    <a:schemeClr val="tx2"/>
                  </a:solidFill>
                  <a:latin typeface="Book Antiqua" panose="02040602050305030304" pitchFamily="18" charset="0"/>
                </a:rPr>
                <a:t>k</a:t>
              </a:r>
              <a:endParaRPr lang="zh-CN" altLang="zh-CN" sz="2400" baseline="-25000">
                <a:solidFill>
                  <a:schemeClr val="tx2"/>
                </a:solidFill>
                <a:latin typeface="Book Antiqua" panose="02040602050305030304" pitchFamily="18" charset="0"/>
              </a:endParaRPr>
            </a:p>
          </p:txBody>
        </p:sp>
        <p:sp>
          <p:nvSpPr>
            <p:cNvPr id="9229" name="Rectangle 18"/>
            <p:cNvSpPr>
              <a:spLocks noChangeArrowheads="1"/>
            </p:cNvSpPr>
            <p:nvPr/>
          </p:nvSpPr>
          <p:spPr bwMode="auto">
            <a:xfrm>
              <a:off x="1920" y="912"/>
              <a:ext cx="624"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anose="02040602050305030304" pitchFamily="18" charset="0"/>
                </a:rPr>
                <a:t>取指</a:t>
              </a:r>
              <a:r>
                <a:rPr lang="en-US" altLang="zh-CN" sz="2400" baseline="-25000">
                  <a:solidFill>
                    <a:schemeClr val="tx2"/>
                  </a:solidFill>
                  <a:latin typeface="Book Antiqua" panose="02040602050305030304" pitchFamily="18" charset="0"/>
                </a:rPr>
                <a:t>k+1</a:t>
              </a:r>
              <a:endParaRPr lang="zh-CN" altLang="zh-CN" sz="2400" baseline="-25000">
                <a:solidFill>
                  <a:schemeClr val="tx2"/>
                </a:solidFill>
                <a:latin typeface="Book Antiqua" panose="02040602050305030304" pitchFamily="18" charset="0"/>
              </a:endParaRPr>
            </a:p>
          </p:txBody>
        </p:sp>
        <p:sp>
          <p:nvSpPr>
            <p:cNvPr id="9230" name="Rectangle 19"/>
            <p:cNvSpPr>
              <a:spLocks noChangeArrowheads="1"/>
            </p:cNvSpPr>
            <p:nvPr/>
          </p:nvSpPr>
          <p:spPr bwMode="auto">
            <a:xfrm>
              <a:off x="2544" y="912"/>
              <a:ext cx="624"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anose="02040602050305030304" pitchFamily="18" charset="0"/>
                </a:rPr>
                <a:t>分析</a:t>
              </a:r>
              <a:r>
                <a:rPr lang="en-US" altLang="zh-CN" sz="2400" baseline="-25000">
                  <a:solidFill>
                    <a:schemeClr val="tx2"/>
                  </a:solidFill>
                  <a:latin typeface="Book Antiqua" panose="02040602050305030304" pitchFamily="18" charset="0"/>
                </a:rPr>
                <a:t>k+1</a:t>
              </a:r>
              <a:endParaRPr lang="zh-CN" altLang="zh-CN" sz="2400" baseline="-25000">
                <a:solidFill>
                  <a:schemeClr val="tx2"/>
                </a:solidFill>
                <a:latin typeface="Book Antiqua" panose="02040602050305030304" pitchFamily="18" charset="0"/>
              </a:endParaRPr>
            </a:p>
          </p:txBody>
        </p:sp>
        <p:sp>
          <p:nvSpPr>
            <p:cNvPr id="9231" name="Rectangle 20"/>
            <p:cNvSpPr>
              <a:spLocks noChangeArrowheads="1"/>
            </p:cNvSpPr>
            <p:nvPr/>
          </p:nvSpPr>
          <p:spPr bwMode="auto">
            <a:xfrm>
              <a:off x="3168" y="912"/>
              <a:ext cx="624"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anose="02040602050305030304" pitchFamily="18" charset="0"/>
                </a:rPr>
                <a:t>执行</a:t>
              </a:r>
              <a:r>
                <a:rPr lang="en-US" altLang="zh-CN" sz="2400" baseline="-25000">
                  <a:solidFill>
                    <a:schemeClr val="tx2"/>
                  </a:solidFill>
                  <a:latin typeface="Book Antiqua" panose="02040602050305030304" pitchFamily="18" charset="0"/>
                </a:rPr>
                <a:t>k+1</a:t>
              </a:r>
              <a:endParaRPr lang="zh-CN" altLang="zh-CN" sz="2400" baseline="-25000">
                <a:solidFill>
                  <a:schemeClr val="tx2"/>
                </a:solidFill>
                <a:latin typeface="Book Antiqua" panose="02040602050305030304" pitchFamily="18" charset="0"/>
              </a:endParaRPr>
            </a:p>
          </p:txBody>
        </p:sp>
        <p:sp>
          <p:nvSpPr>
            <p:cNvPr id="9232" name="Rectangle 21"/>
            <p:cNvSpPr>
              <a:spLocks noChangeArrowheads="1"/>
            </p:cNvSpPr>
            <p:nvPr/>
          </p:nvSpPr>
          <p:spPr bwMode="auto">
            <a:xfrm>
              <a:off x="3168" y="1248"/>
              <a:ext cx="624"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anose="02040602050305030304" pitchFamily="18" charset="0"/>
                </a:rPr>
                <a:t>取指</a:t>
              </a:r>
              <a:r>
                <a:rPr lang="en-US" altLang="zh-CN" sz="2400" baseline="-25000">
                  <a:solidFill>
                    <a:schemeClr val="tx2"/>
                  </a:solidFill>
                  <a:latin typeface="Book Antiqua" panose="02040602050305030304" pitchFamily="18" charset="0"/>
                </a:rPr>
                <a:t>k+2</a:t>
              </a:r>
              <a:endParaRPr lang="zh-CN" altLang="zh-CN" sz="2400" baseline="-25000">
                <a:solidFill>
                  <a:schemeClr val="tx2"/>
                </a:solidFill>
                <a:latin typeface="Book Antiqua" panose="02040602050305030304" pitchFamily="18" charset="0"/>
              </a:endParaRPr>
            </a:p>
          </p:txBody>
        </p:sp>
        <p:sp>
          <p:nvSpPr>
            <p:cNvPr id="9233" name="Rectangle 22"/>
            <p:cNvSpPr>
              <a:spLocks noChangeArrowheads="1"/>
            </p:cNvSpPr>
            <p:nvPr/>
          </p:nvSpPr>
          <p:spPr bwMode="auto">
            <a:xfrm>
              <a:off x="3792" y="1248"/>
              <a:ext cx="624"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anose="02040602050305030304" pitchFamily="18" charset="0"/>
                </a:rPr>
                <a:t>分析</a:t>
              </a:r>
              <a:r>
                <a:rPr lang="en-US" altLang="zh-CN" sz="2400" baseline="-25000">
                  <a:solidFill>
                    <a:schemeClr val="tx2"/>
                  </a:solidFill>
                  <a:latin typeface="Book Antiqua" panose="02040602050305030304" pitchFamily="18" charset="0"/>
                </a:rPr>
                <a:t>k+2</a:t>
              </a:r>
              <a:endParaRPr lang="zh-CN" altLang="zh-CN" sz="2400" baseline="-25000">
                <a:solidFill>
                  <a:schemeClr val="tx2"/>
                </a:solidFill>
                <a:latin typeface="Book Antiqua" panose="02040602050305030304" pitchFamily="18" charset="0"/>
              </a:endParaRPr>
            </a:p>
          </p:txBody>
        </p:sp>
        <p:sp>
          <p:nvSpPr>
            <p:cNvPr id="9234" name="Rectangle 23"/>
            <p:cNvSpPr>
              <a:spLocks noChangeArrowheads="1"/>
            </p:cNvSpPr>
            <p:nvPr/>
          </p:nvSpPr>
          <p:spPr bwMode="auto">
            <a:xfrm>
              <a:off x="4416" y="1248"/>
              <a:ext cx="624"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anose="02040602050305030304" pitchFamily="18" charset="0"/>
                </a:rPr>
                <a:t>执行</a:t>
              </a:r>
              <a:r>
                <a:rPr lang="en-US" altLang="zh-CN" sz="2400" baseline="-25000">
                  <a:solidFill>
                    <a:schemeClr val="tx2"/>
                  </a:solidFill>
                  <a:latin typeface="Book Antiqua" panose="02040602050305030304" pitchFamily="18" charset="0"/>
                </a:rPr>
                <a:t>k+2</a:t>
              </a:r>
              <a:endParaRPr lang="zh-CN" altLang="zh-CN" sz="2400" baseline="-25000">
                <a:solidFill>
                  <a:schemeClr val="tx2"/>
                </a:solidFill>
                <a:latin typeface="Book Antiqua" panose="02040602050305030304" pitchFamily="18" charset="0"/>
              </a:endParaRPr>
            </a:p>
          </p:txBody>
        </p:sp>
      </p:grpSp>
      <p:sp>
        <p:nvSpPr>
          <p:cNvPr id="570394" name="Rectangle 26"/>
          <p:cNvSpPr>
            <a:spLocks noChangeArrowheads="1"/>
          </p:cNvSpPr>
          <p:nvPr/>
        </p:nvSpPr>
        <p:spPr bwMode="auto">
          <a:xfrm>
            <a:off x="838200" y="4114800"/>
            <a:ext cx="4114800" cy="2286000"/>
          </a:xfrm>
          <a:prstGeom prst="rect">
            <a:avLst/>
          </a:prstGeom>
          <a:solidFill>
            <a:srgbClr val="FFFF99"/>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10000"/>
              </a:spcBef>
              <a:defRPr/>
            </a:pPr>
            <a:r>
              <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rPr>
              <a:t>优点：</a:t>
            </a:r>
            <a:endPar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endParaRPr>
          </a:p>
          <a:p>
            <a:pPr>
              <a:spcBef>
                <a:spcPct val="10000"/>
              </a:spcBef>
              <a:buFont typeface="Wingdings" panose="05000000000000000000" pitchFamily="2" charset="2"/>
              <a:buChar char="Ø"/>
              <a:defRPr/>
            </a:pPr>
            <a:r>
              <a:rPr lang="zh-CN" altLang="en-US" sz="2400" b="1">
                <a:latin typeface="Arial" panose="020B0604020202020204" pitchFamily="34" charset="0"/>
                <a:ea typeface="楷体_GB2312" pitchFamily="49" charset="-122"/>
              </a:rPr>
              <a:t>  执行指令的速度较快</a:t>
            </a:r>
            <a:endParaRPr lang="zh-CN" altLang="en-US" sz="2400" b="1">
              <a:latin typeface="Arial" panose="020B0604020202020204" pitchFamily="34" charset="0"/>
              <a:ea typeface="楷体_GB2312" pitchFamily="49" charset="-122"/>
            </a:endParaRPr>
          </a:p>
          <a:p>
            <a:pPr>
              <a:spcBef>
                <a:spcPct val="10000"/>
              </a:spcBef>
              <a:buFont typeface="Wingdings" panose="05000000000000000000" pitchFamily="2" charset="2"/>
              <a:buChar char="Ø"/>
              <a:defRPr/>
            </a:pPr>
            <a:r>
              <a:rPr lang="zh-CN" altLang="en-US" sz="2400" b="1">
                <a:latin typeface="Arial" panose="020B0604020202020204" pitchFamily="34" charset="0"/>
                <a:ea typeface="楷体_GB2312" pitchFamily="49" charset="-122"/>
              </a:rPr>
              <a:t>  功能部件的利用率较高</a:t>
            </a:r>
            <a:endParaRPr lang="zh-CN" altLang="en-US" sz="2400" b="1">
              <a:latin typeface="Arial" panose="020B0604020202020204" pitchFamily="34" charset="0"/>
              <a:ea typeface="楷体_GB2312" pitchFamily="49" charset="-122"/>
            </a:endParaRPr>
          </a:p>
          <a:p>
            <a:pPr>
              <a:spcBef>
                <a:spcPct val="10000"/>
              </a:spcBef>
              <a:defRPr/>
            </a:pPr>
            <a:r>
              <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rPr>
              <a:t>缺点：</a:t>
            </a:r>
            <a:endPar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endParaRPr>
          </a:p>
          <a:p>
            <a:pPr>
              <a:spcBef>
                <a:spcPct val="10000"/>
              </a:spcBef>
              <a:buFont typeface="Wingdings" panose="05000000000000000000" pitchFamily="2" charset="2"/>
              <a:buChar char="Ø"/>
              <a:defRPr/>
            </a:pPr>
            <a:r>
              <a:rPr lang="zh-CN" altLang="en-US" sz="2400" b="1">
                <a:latin typeface="Arial" panose="020B0604020202020204" pitchFamily="34" charset="0"/>
                <a:ea typeface="楷体_GB2312" pitchFamily="49" charset="-122"/>
              </a:rPr>
              <a:t>  控制较复杂，需增加设备</a:t>
            </a:r>
            <a:endParaRPr lang="zh-CN" altLang="en-US" sz="2400" b="1">
              <a:latin typeface="Arial" panose="020B0604020202020204" pitchFamily="34" charset="0"/>
              <a:ea typeface="楷体_GB2312" pitchFamily="49" charset="-122"/>
            </a:endParaRPr>
          </a:p>
        </p:txBody>
      </p:sp>
      <p:sp>
        <p:nvSpPr>
          <p:cNvPr id="9225" name="Text Box 2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1408" name="Rectangle 16"/>
          <p:cNvSpPr>
            <a:spLocks noChangeArrowheads="1"/>
          </p:cNvSpPr>
          <p:nvPr/>
        </p:nvSpPr>
        <p:spPr bwMode="auto">
          <a:xfrm>
            <a:off x="5181600" y="4648200"/>
            <a:ext cx="3581400" cy="1752600"/>
          </a:xfrm>
          <a:prstGeom prst="rect">
            <a:avLst/>
          </a:prstGeom>
          <a:solidFill>
            <a:srgbClr val="CCFFFF"/>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170000"/>
              </a:lnSpc>
              <a:spcBef>
                <a:spcPct val="60000"/>
              </a:spcBef>
              <a:defRPr/>
            </a:pPr>
            <a:r>
              <a:rPr lang="en-US" altLang="zh-CN" sz="2400" b="1">
                <a:solidFill>
                  <a:srgbClr val="0000CC"/>
                </a:solidFill>
                <a:effectLst>
                  <a:outerShdw blurRad="38100" dist="38100" dir="2700000" algn="tl">
                    <a:srgbClr val="000000"/>
                  </a:outerShdw>
                </a:effectLst>
                <a:latin typeface="Arial" panose="020B0604020202020204" pitchFamily="34" charset="0"/>
                <a:ea typeface="楷体_GB2312" pitchFamily="49" charset="-122"/>
              </a:rPr>
              <a:t>n</a:t>
            </a:r>
            <a:r>
              <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rPr>
              <a:t>条指令的执行时间为：</a:t>
            </a:r>
            <a:endPar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endParaRPr>
          </a:p>
        </p:txBody>
      </p:sp>
      <p:sp>
        <p:nvSpPr>
          <p:cNvPr id="571394" name="Rectangle 2"/>
          <p:cNvSpPr>
            <a:spLocks noGrp="1" noChangeArrowheads="1"/>
          </p:cNvSpPr>
          <p:nvPr>
            <p:ph type="title"/>
          </p:nvPr>
        </p:nvSpPr>
        <p:spPr/>
        <p:txBody>
          <a:bodyPr/>
          <a:lstStyle/>
          <a:p>
            <a:pPr eaLnBrk="1" hangingPunct="1">
              <a:defRPr/>
            </a:pPr>
            <a:r>
              <a:rPr lang="zh-CN" altLang="en-US" smtClean="0"/>
              <a:t>流水线基本思想</a:t>
            </a:r>
            <a:endParaRPr lang="zh-CN" altLang="en-US" smtClean="0"/>
          </a:p>
        </p:txBody>
      </p:sp>
      <p:sp>
        <p:nvSpPr>
          <p:cNvPr id="10244"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流水线工作原理</a:t>
            </a:r>
            <a:endParaRPr lang="zh-CN" altLang="en-US" sz="1200" b="0">
              <a:latin typeface="Times New Roman" panose="02020603050405020304" pitchFamily="18" charset="0"/>
              <a:ea typeface="幼圆" panose="02010509060101010101" pitchFamily="49" charset="-122"/>
            </a:endParaRPr>
          </a:p>
        </p:txBody>
      </p:sp>
      <p:sp>
        <p:nvSpPr>
          <p:cNvPr id="571396" name="Rectangle 4"/>
          <p:cNvSpPr>
            <a:spLocks noGrp="1" noChangeArrowheads="1"/>
          </p:cNvSpPr>
          <p:nvPr>
            <p:ph type="body" idx="1"/>
          </p:nvPr>
        </p:nvSpPr>
        <p:spPr>
          <a:xfrm>
            <a:off x="809625" y="1989138"/>
            <a:ext cx="7958138" cy="946150"/>
          </a:xfrm>
        </p:spPr>
        <p:txBody>
          <a:bodyPr/>
          <a:lstStyle/>
          <a:p>
            <a:pPr eaLnBrk="1" hangingPunct="1">
              <a:buClr>
                <a:srgbClr val="FF0000"/>
              </a:buClr>
              <a:defRPr/>
            </a:pPr>
            <a:r>
              <a:rPr lang="zh-CN" altLang="en-US" smtClean="0">
                <a:solidFill>
                  <a:srgbClr val="FF0000"/>
                </a:solidFill>
                <a:effectLst>
                  <a:outerShdw blurRad="38100" dist="38100" dir="2700000" algn="tl">
                    <a:srgbClr val="C0C0C0"/>
                  </a:outerShdw>
                </a:effectLst>
              </a:rPr>
              <a:t>二次重叠</a:t>
            </a:r>
            <a:r>
              <a:rPr lang="en-US" altLang="zh-CN" smtClean="0"/>
              <a:t>    </a:t>
            </a:r>
            <a:endParaRPr lang="zh-CN" altLang="en-US" smtClean="0"/>
          </a:p>
        </p:txBody>
      </p:sp>
      <p:graphicFrame>
        <p:nvGraphicFramePr>
          <p:cNvPr id="10246" name="Object 5"/>
          <p:cNvGraphicFramePr>
            <a:graphicFrameLocks noChangeAspect="1"/>
          </p:cNvGraphicFramePr>
          <p:nvPr/>
        </p:nvGraphicFramePr>
        <p:xfrm>
          <a:off x="5781675" y="5486400"/>
          <a:ext cx="2414588" cy="506413"/>
        </p:xfrm>
        <a:graphic>
          <a:graphicData uri="http://schemas.openxmlformats.org/presentationml/2006/ole">
            <mc:AlternateContent xmlns:mc="http://schemas.openxmlformats.org/markup-compatibility/2006">
              <mc:Choice xmlns:v="urn:schemas-microsoft-com:vml" Requires="v">
                <p:oleObj spid="_x0000_s10347" name="Equation" r:id="rId4" imgW="914400" imgH="203200" progId="Equation.3">
                  <p:embed/>
                </p:oleObj>
              </mc:Choice>
              <mc:Fallback>
                <p:oleObj name="Equation" r:id="rId4" imgW="914400" imgH="203200" progId="Equation.3">
                  <p:embed/>
                  <p:pic>
                    <p:nvPicPr>
                      <p:cNvPr id="0"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81675" y="5486400"/>
                        <a:ext cx="2414588" cy="506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71409" name="Rectangle 17"/>
          <p:cNvSpPr>
            <a:spLocks noChangeArrowheads="1"/>
          </p:cNvSpPr>
          <p:nvPr/>
        </p:nvSpPr>
        <p:spPr bwMode="auto">
          <a:xfrm>
            <a:off x="838200" y="4114800"/>
            <a:ext cx="4114800" cy="2286000"/>
          </a:xfrm>
          <a:prstGeom prst="rect">
            <a:avLst/>
          </a:prstGeom>
          <a:solidFill>
            <a:srgbClr val="FFFF99"/>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10000"/>
              </a:spcBef>
              <a:defRPr/>
            </a:pPr>
            <a:r>
              <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rPr>
              <a:t>优点：</a:t>
            </a:r>
            <a:endPar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endParaRPr>
          </a:p>
          <a:p>
            <a:pPr>
              <a:spcBef>
                <a:spcPct val="10000"/>
              </a:spcBef>
              <a:buFont typeface="Wingdings" panose="05000000000000000000" pitchFamily="2" charset="2"/>
              <a:buChar char="Ø"/>
              <a:defRPr/>
            </a:pPr>
            <a:r>
              <a:rPr lang="zh-CN" altLang="en-US" sz="2400" b="1">
                <a:latin typeface="Arial" panose="020B0604020202020204" pitchFamily="34" charset="0"/>
                <a:ea typeface="楷体_GB2312" pitchFamily="49" charset="-122"/>
              </a:rPr>
              <a:t>  执行指令的速度更快</a:t>
            </a:r>
            <a:endParaRPr lang="zh-CN" altLang="en-US" sz="2400" b="1">
              <a:latin typeface="Arial" panose="020B0604020202020204" pitchFamily="34" charset="0"/>
              <a:ea typeface="楷体_GB2312" pitchFamily="49" charset="-122"/>
            </a:endParaRPr>
          </a:p>
          <a:p>
            <a:pPr>
              <a:spcBef>
                <a:spcPct val="10000"/>
              </a:spcBef>
              <a:buFont typeface="Wingdings" panose="05000000000000000000" pitchFamily="2" charset="2"/>
              <a:buChar char="Ø"/>
              <a:defRPr/>
            </a:pPr>
            <a:r>
              <a:rPr lang="zh-CN" altLang="en-US" sz="2400" b="1">
                <a:latin typeface="Arial" panose="020B0604020202020204" pitchFamily="34" charset="0"/>
                <a:ea typeface="楷体_GB2312" pitchFamily="49" charset="-122"/>
              </a:rPr>
              <a:t>  功能部件的利用率更高</a:t>
            </a:r>
            <a:endParaRPr lang="zh-CN" altLang="en-US" sz="2400" b="1">
              <a:latin typeface="Arial" panose="020B0604020202020204" pitchFamily="34" charset="0"/>
              <a:ea typeface="楷体_GB2312" pitchFamily="49" charset="-122"/>
            </a:endParaRPr>
          </a:p>
          <a:p>
            <a:pPr>
              <a:spcBef>
                <a:spcPct val="10000"/>
              </a:spcBef>
              <a:defRPr/>
            </a:pPr>
            <a:r>
              <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rPr>
              <a:t>缺点：</a:t>
            </a:r>
            <a:endParaRPr lang="zh-CN" altLang="en-US" sz="2400" b="1">
              <a:solidFill>
                <a:srgbClr val="0000CC"/>
              </a:solidFill>
              <a:effectLst>
                <a:outerShdw blurRad="38100" dist="38100" dir="2700000" algn="tl">
                  <a:srgbClr val="000000"/>
                </a:outerShdw>
              </a:effectLst>
              <a:latin typeface="Arial" panose="020B0604020202020204" pitchFamily="34" charset="0"/>
              <a:ea typeface="楷体_GB2312" pitchFamily="49" charset="-122"/>
            </a:endParaRPr>
          </a:p>
          <a:p>
            <a:pPr>
              <a:spcBef>
                <a:spcPct val="10000"/>
              </a:spcBef>
              <a:buFont typeface="Wingdings" panose="05000000000000000000" pitchFamily="2" charset="2"/>
              <a:buChar char="Ø"/>
              <a:defRPr/>
            </a:pPr>
            <a:r>
              <a:rPr lang="zh-CN" altLang="en-US" sz="2400" b="1">
                <a:latin typeface="Arial" panose="020B0604020202020204" pitchFamily="34" charset="0"/>
                <a:ea typeface="楷体_GB2312" pitchFamily="49" charset="-122"/>
              </a:rPr>
              <a:t>  控制更复杂，需增加设备</a:t>
            </a:r>
            <a:endParaRPr lang="zh-CN" altLang="en-US" sz="2400" b="1">
              <a:latin typeface="Arial" panose="020B0604020202020204" pitchFamily="34" charset="0"/>
              <a:ea typeface="楷体_GB2312" pitchFamily="49" charset="-122"/>
            </a:endParaRPr>
          </a:p>
        </p:txBody>
      </p:sp>
      <p:grpSp>
        <p:nvGrpSpPr>
          <p:cNvPr id="10248" name="Group 18"/>
          <p:cNvGrpSpPr/>
          <p:nvPr/>
        </p:nvGrpSpPr>
        <p:grpSpPr bwMode="auto">
          <a:xfrm>
            <a:off x="2771775" y="2708275"/>
            <a:ext cx="5943600" cy="1600200"/>
            <a:chOff x="432" y="2592"/>
            <a:chExt cx="5040" cy="1008"/>
          </a:xfrm>
        </p:grpSpPr>
        <p:sp>
          <p:nvSpPr>
            <p:cNvPr id="10250" name="Rectangle 19"/>
            <p:cNvSpPr>
              <a:spLocks noChangeArrowheads="1"/>
            </p:cNvSpPr>
            <p:nvPr/>
          </p:nvSpPr>
          <p:spPr bwMode="auto">
            <a:xfrm>
              <a:off x="2448" y="3264"/>
              <a:ext cx="1008"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anose="02040602050305030304" pitchFamily="18" charset="0"/>
                </a:rPr>
                <a:t>取指</a:t>
              </a:r>
              <a:r>
                <a:rPr lang="en-US" altLang="zh-CN" sz="2400" baseline="-25000">
                  <a:latin typeface="Book Antiqua" panose="02040602050305030304" pitchFamily="18" charset="0"/>
                </a:rPr>
                <a:t>k+2</a:t>
              </a:r>
              <a:endParaRPr lang="en-US" altLang="zh-CN" sz="2400" baseline="-25000">
                <a:latin typeface="Book Antiqua" panose="02040602050305030304" pitchFamily="18" charset="0"/>
              </a:endParaRPr>
            </a:p>
          </p:txBody>
        </p:sp>
        <p:sp>
          <p:nvSpPr>
            <p:cNvPr id="10251" name="Rectangle 20"/>
            <p:cNvSpPr>
              <a:spLocks noChangeArrowheads="1"/>
            </p:cNvSpPr>
            <p:nvPr/>
          </p:nvSpPr>
          <p:spPr bwMode="auto">
            <a:xfrm>
              <a:off x="3456" y="3264"/>
              <a:ext cx="1008"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anose="02040602050305030304" pitchFamily="18" charset="0"/>
                </a:rPr>
                <a:t>分析</a:t>
              </a:r>
              <a:r>
                <a:rPr lang="en-US" altLang="zh-CN" sz="2400" baseline="-25000">
                  <a:latin typeface="Book Antiqua" panose="02040602050305030304" pitchFamily="18" charset="0"/>
                </a:rPr>
                <a:t>k+2</a:t>
              </a:r>
              <a:endParaRPr lang="en-US" altLang="zh-CN" sz="2400" baseline="-25000">
                <a:latin typeface="Book Antiqua" panose="02040602050305030304" pitchFamily="18" charset="0"/>
              </a:endParaRPr>
            </a:p>
          </p:txBody>
        </p:sp>
        <p:sp>
          <p:nvSpPr>
            <p:cNvPr id="10252" name="Rectangle 21"/>
            <p:cNvSpPr>
              <a:spLocks noChangeArrowheads="1"/>
            </p:cNvSpPr>
            <p:nvPr/>
          </p:nvSpPr>
          <p:spPr bwMode="auto">
            <a:xfrm>
              <a:off x="4464" y="3264"/>
              <a:ext cx="1008"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anose="02040602050305030304" pitchFamily="18" charset="0"/>
                </a:rPr>
                <a:t>执行</a:t>
              </a:r>
              <a:r>
                <a:rPr lang="en-US" altLang="zh-CN" sz="2400" baseline="-25000">
                  <a:latin typeface="Book Antiqua" panose="02040602050305030304" pitchFamily="18" charset="0"/>
                </a:rPr>
                <a:t>k+2</a:t>
              </a:r>
              <a:endParaRPr lang="en-US" altLang="zh-CN" sz="2400" baseline="-25000">
                <a:latin typeface="Book Antiqua" panose="02040602050305030304" pitchFamily="18" charset="0"/>
              </a:endParaRPr>
            </a:p>
          </p:txBody>
        </p:sp>
        <p:sp>
          <p:nvSpPr>
            <p:cNvPr id="10253" name="Rectangle 22"/>
            <p:cNvSpPr>
              <a:spLocks noChangeArrowheads="1"/>
            </p:cNvSpPr>
            <p:nvPr/>
          </p:nvSpPr>
          <p:spPr bwMode="auto">
            <a:xfrm>
              <a:off x="1440" y="2928"/>
              <a:ext cx="1008"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anose="02040602050305030304" pitchFamily="18" charset="0"/>
                </a:rPr>
                <a:t>取指</a:t>
              </a:r>
              <a:r>
                <a:rPr lang="en-US" altLang="zh-CN" sz="2400" baseline="-25000">
                  <a:latin typeface="Book Antiqua" panose="02040602050305030304" pitchFamily="18" charset="0"/>
                </a:rPr>
                <a:t>k+1</a:t>
              </a:r>
              <a:endParaRPr lang="en-US" altLang="zh-CN" sz="2400" baseline="-25000">
                <a:latin typeface="Book Antiqua" panose="02040602050305030304" pitchFamily="18" charset="0"/>
              </a:endParaRPr>
            </a:p>
          </p:txBody>
        </p:sp>
        <p:sp>
          <p:nvSpPr>
            <p:cNvPr id="10254" name="Rectangle 23"/>
            <p:cNvSpPr>
              <a:spLocks noChangeArrowheads="1"/>
            </p:cNvSpPr>
            <p:nvPr/>
          </p:nvSpPr>
          <p:spPr bwMode="auto">
            <a:xfrm>
              <a:off x="2448" y="2928"/>
              <a:ext cx="1008"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anose="02040602050305030304" pitchFamily="18" charset="0"/>
                </a:rPr>
                <a:t>分析</a:t>
              </a:r>
              <a:r>
                <a:rPr lang="en-US" altLang="zh-CN" sz="2400" baseline="-25000">
                  <a:latin typeface="Book Antiqua" panose="02040602050305030304" pitchFamily="18" charset="0"/>
                </a:rPr>
                <a:t>k+1</a:t>
              </a:r>
              <a:endParaRPr lang="en-US" altLang="zh-CN" sz="2400" baseline="-25000">
                <a:latin typeface="Book Antiqua" panose="02040602050305030304" pitchFamily="18" charset="0"/>
              </a:endParaRPr>
            </a:p>
          </p:txBody>
        </p:sp>
        <p:sp>
          <p:nvSpPr>
            <p:cNvPr id="10255" name="Rectangle 24"/>
            <p:cNvSpPr>
              <a:spLocks noChangeArrowheads="1"/>
            </p:cNvSpPr>
            <p:nvPr/>
          </p:nvSpPr>
          <p:spPr bwMode="auto">
            <a:xfrm>
              <a:off x="3456" y="2928"/>
              <a:ext cx="1008"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anose="02040602050305030304" pitchFamily="18" charset="0"/>
                </a:rPr>
                <a:t>执行</a:t>
              </a:r>
              <a:r>
                <a:rPr lang="en-US" altLang="zh-CN" sz="2400" baseline="-25000">
                  <a:latin typeface="Book Antiqua" panose="02040602050305030304" pitchFamily="18" charset="0"/>
                </a:rPr>
                <a:t>k+1</a:t>
              </a:r>
              <a:endParaRPr lang="en-US" altLang="zh-CN" sz="2400" baseline="-25000">
                <a:latin typeface="Book Antiqua" panose="02040602050305030304" pitchFamily="18" charset="0"/>
              </a:endParaRPr>
            </a:p>
          </p:txBody>
        </p:sp>
        <p:sp>
          <p:nvSpPr>
            <p:cNvPr id="10256" name="Rectangle 25"/>
            <p:cNvSpPr>
              <a:spLocks noChangeArrowheads="1"/>
            </p:cNvSpPr>
            <p:nvPr/>
          </p:nvSpPr>
          <p:spPr bwMode="auto">
            <a:xfrm>
              <a:off x="432" y="2592"/>
              <a:ext cx="1008"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anose="02040602050305030304" pitchFamily="18" charset="0"/>
                </a:rPr>
                <a:t>取指</a:t>
              </a:r>
              <a:r>
                <a:rPr lang="en-US" altLang="zh-CN" sz="2400" baseline="-25000">
                  <a:latin typeface="Book Antiqua" panose="02040602050305030304" pitchFamily="18" charset="0"/>
                </a:rPr>
                <a:t>k</a:t>
              </a:r>
              <a:endParaRPr lang="en-US" altLang="zh-CN" sz="2400" baseline="-25000">
                <a:latin typeface="Book Antiqua" panose="02040602050305030304" pitchFamily="18" charset="0"/>
              </a:endParaRPr>
            </a:p>
          </p:txBody>
        </p:sp>
        <p:sp>
          <p:nvSpPr>
            <p:cNvPr id="10257" name="Rectangle 26"/>
            <p:cNvSpPr>
              <a:spLocks noChangeArrowheads="1"/>
            </p:cNvSpPr>
            <p:nvPr/>
          </p:nvSpPr>
          <p:spPr bwMode="auto">
            <a:xfrm>
              <a:off x="1440" y="2592"/>
              <a:ext cx="1008"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anose="02040602050305030304" pitchFamily="18" charset="0"/>
                </a:rPr>
                <a:t>分析</a:t>
              </a:r>
              <a:r>
                <a:rPr lang="en-US" altLang="zh-CN" sz="2400" baseline="-25000">
                  <a:latin typeface="Book Antiqua" panose="02040602050305030304" pitchFamily="18" charset="0"/>
                </a:rPr>
                <a:t>k</a:t>
              </a:r>
              <a:endParaRPr lang="en-US" altLang="zh-CN" sz="2400" baseline="-25000">
                <a:latin typeface="Book Antiqua" panose="02040602050305030304" pitchFamily="18" charset="0"/>
              </a:endParaRPr>
            </a:p>
          </p:txBody>
        </p:sp>
        <p:sp>
          <p:nvSpPr>
            <p:cNvPr id="10258" name="Rectangle 27"/>
            <p:cNvSpPr>
              <a:spLocks noChangeArrowheads="1"/>
            </p:cNvSpPr>
            <p:nvPr/>
          </p:nvSpPr>
          <p:spPr bwMode="auto">
            <a:xfrm>
              <a:off x="2448" y="2592"/>
              <a:ext cx="1008"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anose="02040602050305030304" pitchFamily="18" charset="0"/>
                </a:rPr>
                <a:t>执行</a:t>
              </a:r>
              <a:r>
                <a:rPr lang="en-US" altLang="zh-CN" sz="2400" baseline="-25000">
                  <a:latin typeface="Book Antiqua" panose="02040602050305030304" pitchFamily="18" charset="0"/>
                </a:rPr>
                <a:t>k</a:t>
              </a:r>
              <a:endParaRPr lang="en-US" altLang="zh-CN" sz="2400" baseline="-25000">
                <a:latin typeface="Book Antiqua" panose="02040602050305030304" pitchFamily="18" charset="0"/>
              </a:endParaRPr>
            </a:p>
          </p:txBody>
        </p:sp>
      </p:grpSp>
      <p:sp>
        <p:nvSpPr>
          <p:cNvPr id="10249" name="Text Box 2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4</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2418" name="Rectangle 2"/>
          <p:cNvSpPr>
            <a:spLocks noGrp="1" noChangeArrowheads="1"/>
          </p:cNvSpPr>
          <p:nvPr>
            <p:ph type="title"/>
          </p:nvPr>
        </p:nvSpPr>
        <p:spPr/>
        <p:txBody>
          <a:bodyPr/>
          <a:lstStyle/>
          <a:p>
            <a:pPr eaLnBrk="1" hangingPunct="1">
              <a:defRPr/>
            </a:pPr>
            <a:r>
              <a:rPr lang="zh-CN" altLang="en-US" smtClean="0"/>
              <a:t>流水线基本思想</a:t>
            </a:r>
            <a:endParaRPr lang="zh-CN" altLang="en-US" smtClean="0"/>
          </a:p>
        </p:txBody>
      </p:sp>
      <p:sp>
        <p:nvSpPr>
          <p:cNvPr id="1126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流水线工作原理</a:t>
            </a:r>
            <a:endParaRPr lang="zh-CN" altLang="en-US" sz="1200" b="0">
              <a:latin typeface="Times New Roman" panose="02020603050405020304" pitchFamily="18" charset="0"/>
              <a:ea typeface="幼圆" panose="02010509060101010101" pitchFamily="49" charset="-122"/>
            </a:endParaRPr>
          </a:p>
        </p:txBody>
      </p:sp>
      <p:sp>
        <p:nvSpPr>
          <p:cNvPr id="572434" name="Rectangle 18"/>
          <p:cNvSpPr>
            <a:spLocks noGrp="1" noChangeArrowheads="1"/>
          </p:cNvSpPr>
          <p:nvPr>
            <p:ph type="body" idx="1"/>
          </p:nvPr>
        </p:nvSpPr>
        <p:spPr>
          <a:xfrm>
            <a:off x="3924300" y="2349500"/>
            <a:ext cx="4895850" cy="3751263"/>
          </a:xfrm>
          <a:solidFill>
            <a:srgbClr val="FFFF99"/>
          </a:solidFill>
          <a:ln w="57150" cmpd="thickThin">
            <a:solidFill>
              <a:schemeClr val="tx1"/>
            </a:solidFill>
            <a:miter lim="800000"/>
          </a:ln>
        </p:spPr>
        <p:txBody>
          <a:bodyPr/>
          <a:lstStyle/>
          <a:p>
            <a:pPr marL="0" indent="0" eaLnBrk="1" hangingPunct="1">
              <a:lnSpc>
                <a:spcPct val="130000"/>
              </a:lnSpc>
              <a:spcBef>
                <a:spcPct val="0"/>
              </a:spcBef>
              <a:buFont typeface="Wingdings" panose="05000000000000000000" pitchFamily="2" charset="2"/>
              <a:buNone/>
              <a:defRPr/>
            </a:pPr>
            <a:r>
              <a:rPr lang="zh-CN" altLang="en-US" sz="2800" smtClean="0">
                <a:latin typeface="宋体" panose="02010600030101010101" pitchFamily="2" charset="-122"/>
              </a:rPr>
              <a:t>  流水线利用并行性实现：</a:t>
            </a:r>
            <a:endParaRPr lang="zh-CN" altLang="en-US" sz="2800" smtClean="0">
              <a:latin typeface="宋体" panose="02010600030101010101" pitchFamily="2" charset="-122"/>
            </a:endParaRPr>
          </a:p>
          <a:p>
            <a:pPr marL="0" indent="0" eaLnBrk="1" hangingPunct="1">
              <a:lnSpc>
                <a:spcPct val="130000"/>
              </a:lnSpc>
              <a:spcBef>
                <a:spcPct val="0"/>
              </a:spcBef>
              <a:buClr>
                <a:srgbClr val="FF0000"/>
              </a:buClr>
              <a:defRPr/>
            </a:pPr>
            <a:r>
              <a:rPr lang="zh-CN" altLang="en-US" sz="2800" smtClean="0">
                <a:solidFill>
                  <a:srgbClr val="FF0000"/>
                </a:solidFill>
                <a:effectLst>
                  <a:outerShdw blurRad="38100" dist="38100" dir="2700000" algn="tl">
                    <a:srgbClr val="000000"/>
                  </a:outerShdw>
                </a:effectLst>
                <a:latin typeface="宋体" panose="02010600030101010101" pitchFamily="2" charset="-122"/>
              </a:rPr>
              <a:t> 空间并行性</a:t>
            </a:r>
            <a:endParaRPr lang="zh-CN" altLang="en-US" sz="2800" smtClean="0">
              <a:solidFill>
                <a:srgbClr val="FF0000"/>
              </a:solidFill>
              <a:effectLst>
                <a:outerShdw blurRad="38100" dist="38100" dir="2700000" algn="tl">
                  <a:srgbClr val="000000"/>
                </a:outerShdw>
              </a:effectLst>
              <a:latin typeface="宋体" panose="02010600030101010101" pitchFamily="2" charset="-122"/>
            </a:endParaRPr>
          </a:p>
          <a:p>
            <a:pPr marL="0" indent="0" eaLnBrk="1" hangingPunct="1">
              <a:lnSpc>
                <a:spcPct val="130000"/>
              </a:lnSpc>
              <a:spcBef>
                <a:spcPct val="0"/>
              </a:spcBef>
              <a:buFont typeface="Wingdings" panose="05000000000000000000" pitchFamily="2" charset="2"/>
              <a:buNone/>
              <a:defRPr/>
            </a:pPr>
            <a:r>
              <a:rPr lang="zh-CN" altLang="en-US" sz="2800" smtClean="0">
                <a:latin typeface="宋体" panose="02010600030101010101" pitchFamily="2" charset="-122"/>
              </a:rPr>
              <a:t>  设置多个独立的操作部件。</a:t>
            </a:r>
            <a:endParaRPr lang="zh-CN" altLang="en-US" sz="2800" smtClean="0">
              <a:latin typeface="宋体" panose="02010600030101010101" pitchFamily="2" charset="-122"/>
            </a:endParaRPr>
          </a:p>
          <a:p>
            <a:pPr marL="0" indent="0" eaLnBrk="1" hangingPunct="1">
              <a:lnSpc>
                <a:spcPct val="130000"/>
              </a:lnSpc>
              <a:spcBef>
                <a:spcPct val="0"/>
              </a:spcBef>
              <a:buClr>
                <a:srgbClr val="FF0000"/>
              </a:buClr>
              <a:defRPr/>
            </a:pPr>
            <a:r>
              <a:rPr lang="zh-CN" altLang="en-US" sz="2800" smtClean="0">
                <a:solidFill>
                  <a:srgbClr val="FF0000"/>
                </a:solidFill>
                <a:effectLst>
                  <a:outerShdw blurRad="38100" dist="38100" dir="2700000" algn="tl">
                    <a:srgbClr val="000000"/>
                  </a:outerShdw>
                </a:effectLst>
                <a:latin typeface="宋体" panose="02010600030101010101" pitchFamily="2" charset="-122"/>
              </a:rPr>
              <a:t> 时间并行性</a:t>
            </a:r>
            <a:endParaRPr lang="zh-CN" altLang="en-US" sz="2800" smtClean="0">
              <a:solidFill>
                <a:srgbClr val="FF0000"/>
              </a:solidFill>
              <a:effectLst>
                <a:outerShdw blurRad="38100" dist="38100" dir="2700000" algn="tl">
                  <a:srgbClr val="000000"/>
                </a:outerShdw>
              </a:effectLst>
              <a:latin typeface="宋体" panose="02010600030101010101" pitchFamily="2" charset="-122"/>
            </a:endParaRPr>
          </a:p>
          <a:p>
            <a:pPr marL="0" indent="0" eaLnBrk="1" hangingPunct="1">
              <a:lnSpc>
                <a:spcPct val="130000"/>
              </a:lnSpc>
              <a:buFont typeface="Wingdings" panose="05000000000000000000" pitchFamily="2" charset="2"/>
              <a:buNone/>
              <a:defRPr/>
            </a:pPr>
            <a:r>
              <a:rPr lang="zh-CN" altLang="en-US" sz="2800" smtClean="0">
                <a:latin typeface="宋体" panose="02010600030101010101" pitchFamily="2" charset="-122"/>
              </a:rPr>
              <a:t>  分时使用同一个部件的不同部分。</a:t>
            </a:r>
            <a:endParaRPr lang="zh-CN" altLang="en-US" sz="2800" smtClean="0">
              <a:latin typeface="宋体" panose="02010600030101010101" pitchFamily="2" charset="-122"/>
            </a:endParaRPr>
          </a:p>
        </p:txBody>
      </p:sp>
      <p:pic>
        <p:nvPicPr>
          <p:cNvPr id="11269" name="Picture 1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219200" y="4267200"/>
            <a:ext cx="2306638" cy="1720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70" name="Text Box 2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5</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Rectangle 2"/>
          <p:cNvSpPr>
            <a:spLocks noGrp="1" noChangeArrowheads="1"/>
          </p:cNvSpPr>
          <p:nvPr>
            <p:ph type="title"/>
          </p:nvPr>
        </p:nvSpPr>
        <p:spPr/>
        <p:txBody>
          <a:bodyPr/>
          <a:lstStyle/>
          <a:p>
            <a:pPr eaLnBrk="1" hangingPunct="1">
              <a:defRPr/>
            </a:pPr>
            <a:r>
              <a:rPr lang="zh-CN" altLang="en-US" smtClean="0"/>
              <a:t>流水线表示方法</a:t>
            </a:r>
            <a:endParaRPr lang="en-US" altLang="zh-CN" smtClean="0"/>
          </a:p>
        </p:txBody>
      </p:sp>
      <p:sp>
        <p:nvSpPr>
          <p:cNvPr id="122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流水线工作原理</a:t>
            </a:r>
            <a:endParaRPr lang="zh-CN" altLang="en-US" sz="1200" b="0">
              <a:latin typeface="Times New Roman" panose="02020603050405020304" pitchFamily="18" charset="0"/>
              <a:ea typeface="幼圆" panose="02010509060101010101" pitchFamily="49" charset="-122"/>
            </a:endParaRPr>
          </a:p>
        </p:txBody>
      </p:sp>
      <p:sp>
        <p:nvSpPr>
          <p:cNvPr id="12292" name="Rectangle 17"/>
          <p:cNvSpPr>
            <a:spLocks noGrp="1" noChangeArrowheads="1"/>
          </p:cNvSpPr>
          <p:nvPr>
            <p:ph type="body" idx="1"/>
          </p:nvPr>
        </p:nvSpPr>
        <p:spPr>
          <a:xfrm>
            <a:off x="1042988" y="2060575"/>
            <a:ext cx="6643687" cy="3960813"/>
          </a:xfrm>
        </p:spPr>
        <p:txBody>
          <a:bodyPr/>
          <a:lstStyle/>
          <a:p>
            <a:pPr marL="374650" indent="-374650" algn="ctr" eaLnBrk="1" hangingPunct="1">
              <a:lnSpc>
                <a:spcPct val="170000"/>
              </a:lnSpc>
              <a:buFont typeface="Wingdings" panose="05000000000000000000" pitchFamily="2" charset="2"/>
              <a:buNone/>
            </a:pPr>
            <a:r>
              <a:rPr lang="zh-CN" altLang="en-US" smtClean="0"/>
              <a:t>    流水线的表示方法通常有三种：</a:t>
            </a:r>
            <a:endParaRPr lang="zh-CN" altLang="en-US" smtClean="0"/>
          </a:p>
          <a:p>
            <a:pPr marL="374650" indent="-374650" algn="ctr" eaLnBrk="1" hangingPunct="1">
              <a:lnSpc>
                <a:spcPct val="170000"/>
              </a:lnSpc>
            </a:pPr>
            <a:r>
              <a:rPr lang="zh-CN" altLang="en-US" smtClean="0">
                <a:hlinkClick r:id="rId4" action="ppaction://hlinksldjump"/>
              </a:rPr>
              <a:t>连接图</a:t>
            </a:r>
            <a:endParaRPr lang="zh-CN" altLang="en-US" smtClean="0"/>
          </a:p>
          <a:p>
            <a:pPr marL="374650" indent="-374650" algn="ctr" eaLnBrk="1" hangingPunct="1">
              <a:lnSpc>
                <a:spcPct val="170000"/>
              </a:lnSpc>
            </a:pPr>
            <a:r>
              <a:rPr lang="zh-CN" altLang="en-US" smtClean="0">
                <a:hlinkClick r:id="rId5" action="ppaction://hlinksldjump"/>
              </a:rPr>
              <a:t>时空图</a:t>
            </a:r>
            <a:endParaRPr lang="zh-CN" altLang="en-US" smtClean="0"/>
          </a:p>
          <a:p>
            <a:pPr marL="374650" indent="-374650" algn="ctr" eaLnBrk="1" hangingPunct="1">
              <a:lnSpc>
                <a:spcPct val="170000"/>
              </a:lnSpc>
            </a:pPr>
            <a:r>
              <a:rPr lang="zh-CN" altLang="en-US" smtClean="0"/>
              <a:t>预约表</a:t>
            </a:r>
            <a:endParaRPr lang="zh-CN" altLang="en-US" smtClean="0"/>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5490" name="Rectangle 2"/>
          <p:cNvSpPr>
            <a:spLocks noGrp="1" noChangeArrowheads="1"/>
          </p:cNvSpPr>
          <p:nvPr>
            <p:ph type="title"/>
          </p:nvPr>
        </p:nvSpPr>
        <p:spPr/>
        <p:txBody>
          <a:bodyPr/>
          <a:lstStyle/>
          <a:p>
            <a:pPr eaLnBrk="1" hangingPunct="1">
              <a:defRPr/>
            </a:pPr>
            <a:r>
              <a:rPr lang="zh-CN" altLang="en-US" smtClean="0"/>
              <a:t>连接图</a:t>
            </a:r>
            <a:endParaRPr lang="zh-CN" altLang="en-US" smtClean="0"/>
          </a:p>
        </p:txBody>
      </p:sp>
      <p:sp>
        <p:nvSpPr>
          <p:cNvPr id="1331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流水线工作原理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流水线表示方法</a:t>
            </a:r>
            <a:endParaRPr lang="zh-CN" altLang="en-US" sz="1200" b="0">
              <a:latin typeface="Times New Roman" panose="02020603050405020304" pitchFamily="18" charset="0"/>
              <a:ea typeface="幼圆" panose="02010509060101010101" pitchFamily="49" charset="-122"/>
            </a:endParaRPr>
          </a:p>
        </p:txBody>
      </p:sp>
      <p:grpSp>
        <p:nvGrpSpPr>
          <p:cNvPr id="13316" name="Group 7"/>
          <p:cNvGrpSpPr/>
          <p:nvPr/>
        </p:nvGrpSpPr>
        <p:grpSpPr bwMode="auto">
          <a:xfrm>
            <a:off x="762000" y="2362200"/>
            <a:ext cx="8001000" cy="1600200"/>
            <a:chOff x="288" y="1248"/>
            <a:chExt cx="5232" cy="1200"/>
          </a:xfrm>
        </p:grpSpPr>
        <p:sp>
          <p:nvSpPr>
            <p:cNvPr id="13350" name="Rectangle 8"/>
            <p:cNvSpPr>
              <a:spLocks noChangeArrowheads="1"/>
            </p:cNvSpPr>
            <p:nvPr/>
          </p:nvSpPr>
          <p:spPr bwMode="auto">
            <a:xfrm>
              <a:off x="768" y="1392"/>
              <a:ext cx="1008" cy="57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000">
                  <a:solidFill>
                    <a:schemeClr val="tx2"/>
                  </a:solidFill>
                </a:rPr>
                <a:t>分析器</a:t>
              </a:r>
              <a:endParaRPr lang="zh-CN" altLang="en-US" sz="2000">
                <a:solidFill>
                  <a:schemeClr val="tx2"/>
                </a:solidFill>
              </a:endParaRPr>
            </a:p>
            <a:p>
              <a:pPr algn="ctr" eaLnBrk="1" hangingPunct="1">
                <a:lnSpc>
                  <a:spcPct val="80000"/>
                </a:lnSpc>
                <a:spcBef>
                  <a:spcPct val="0"/>
                </a:spcBef>
                <a:buClrTx/>
                <a:buFontTx/>
                <a:buNone/>
              </a:pPr>
              <a:r>
                <a:rPr lang="zh-CN" altLang="en-US" sz="2000">
                  <a:solidFill>
                    <a:schemeClr val="tx2"/>
                  </a:solidFill>
                </a:rPr>
                <a:t>分析</a:t>
              </a:r>
              <a:r>
                <a:rPr lang="en-US" altLang="zh-CN" sz="2000">
                  <a:solidFill>
                    <a:schemeClr val="tx2"/>
                  </a:solidFill>
                </a:rPr>
                <a:t>k+1</a:t>
              </a:r>
              <a:endParaRPr lang="en-US" altLang="zh-CN" sz="2000">
                <a:solidFill>
                  <a:schemeClr val="tx2"/>
                </a:solidFill>
              </a:endParaRPr>
            </a:p>
          </p:txBody>
        </p:sp>
        <p:sp>
          <p:nvSpPr>
            <p:cNvPr id="13351" name="Rectangle 9"/>
            <p:cNvSpPr>
              <a:spLocks noChangeArrowheads="1"/>
            </p:cNvSpPr>
            <p:nvPr/>
          </p:nvSpPr>
          <p:spPr bwMode="auto">
            <a:xfrm>
              <a:off x="1968" y="1392"/>
              <a:ext cx="816" cy="57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000">
                  <a:solidFill>
                    <a:schemeClr val="tx2"/>
                  </a:solidFill>
                </a:rPr>
                <a:t>流水</a:t>
              </a:r>
              <a:br>
                <a:rPr lang="zh-CN" altLang="en-US" sz="2000">
                  <a:solidFill>
                    <a:schemeClr val="tx2"/>
                  </a:solidFill>
                </a:rPr>
              </a:br>
              <a:r>
                <a:rPr lang="zh-CN" altLang="en-US" sz="2000">
                  <a:solidFill>
                    <a:schemeClr val="tx2"/>
                  </a:solidFill>
                </a:rPr>
                <a:t>锁存器</a:t>
              </a:r>
              <a:endParaRPr lang="zh-CN" altLang="zh-CN" sz="2000">
                <a:solidFill>
                  <a:schemeClr val="tx2"/>
                </a:solidFill>
              </a:endParaRPr>
            </a:p>
          </p:txBody>
        </p:sp>
        <p:sp>
          <p:nvSpPr>
            <p:cNvPr id="13352" name="Rectangle 10"/>
            <p:cNvSpPr>
              <a:spLocks noChangeArrowheads="1"/>
            </p:cNvSpPr>
            <p:nvPr/>
          </p:nvSpPr>
          <p:spPr bwMode="auto">
            <a:xfrm>
              <a:off x="2976" y="1392"/>
              <a:ext cx="1104" cy="57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000">
                  <a:solidFill>
                    <a:schemeClr val="tx2"/>
                  </a:solidFill>
                </a:rPr>
                <a:t>执行部件</a:t>
              </a:r>
              <a:endParaRPr lang="zh-CN" altLang="en-US" sz="2000">
                <a:solidFill>
                  <a:schemeClr val="tx2"/>
                </a:solidFill>
              </a:endParaRPr>
            </a:p>
            <a:p>
              <a:pPr algn="ctr" eaLnBrk="1" hangingPunct="1">
                <a:lnSpc>
                  <a:spcPct val="80000"/>
                </a:lnSpc>
                <a:spcBef>
                  <a:spcPct val="0"/>
                </a:spcBef>
                <a:buClrTx/>
                <a:buFontTx/>
                <a:buNone/>
              </a:pPr>
              <a:r>
                <a:rPr lang="zh-CN" altLang="en-US" sz="2000">
                  <a:solidFill>
                    <a:schemeClr val="tx2"/>
                  </a:solidFill>
                </a:rPr>
                <a:t>执行</a:t>
              </a:r>
              <a:r>
                <a:rPr lang="en-US" altLang="zh-CN" sz="2000">
                  <a:solidFill>
                    <a:schemeClr val="tx2"/>
                  </a:solidFill>
                </a:rPr>
                <a:t>k</a:t>
              </a:r>
              <a:endParaRPr lang="en-US" altLang="zh-CN" sz="2000">
                <a:solidFill>
                  <a:schemeClr val="tx2"/>
                </a:solidFill>
              </a:endParaRPr>
            </a:p>
          </p:txBody>
        </p:sp>
        <p:sp>
          <p:nvSpPr>
            <p:cNvPr id="13353" name="Rectangle 11"/>
            <p:cNvSpPr>
              <a:spLocks noChangeArrowheads="1"/>
            </p:cNvSpPr>
            <p:nvPr/>
          </p:nvSpPr>
          <p:spPr bwMode="auto">
            <a:xfrm>
              <a:off x="4272" y="1392"/>
              <a:ext cx="816" cy="57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000">
                  <a:solidFill>
                    <a:schemeClr val="tx2"/>
                  </a:solidFill>
                </a:rPr>
                <a:t>流水</a:t>
              </a:r>
              <a:br>
                <a:rPr lang="zh-CN" altLang="en-US" sz="2000">
                  <a:solidFill>
                    <a:schemeClr val="tx2"/>
                  </a:solidFill>
                </a:rPr>
              </a:br>
              <a:r>
                <a:rPr lang="zh-CN" altLang="en-US" sz="2000">
                  <a:solidFill>
                    <a:schemeClr val="tx2"/>
                  </a:solidFill>
                </a:rPr>
                <a:t>锁存器</a:t>
              </a:r>
              <a:endParaRPr lang="zh-CN" altLang="zh-CN" sz="2000">
                <a:solidFill>
                  <a:schemeClr val="tx2"/>
                </a:solidFill>
              </a:endParaRPr>
            </a:p>
          </p:txBody>
        </p:sp>
        <p:sp>
          <p:nvSpPr>
            <p:cNvPr id="13354" name="Line 12"/>
            <p:cNvSpPr>
              <a:spLocks noChangeShapeType="1"/>
            </p:cNvSpPr>
            <p:nvPr/>
          </p:nvSpPr>
          <p:spPr bwMode="auto">
            <a:xfrm>
              <a:off x="1776" y="1680"/>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55" name="Line 13"/>
            <p:cNvSpPr>
              <a:spLocks noChangeShapeType="1"/>
            </p:cNvSpPr>
            <p:nvPr/>
          </p:nvSpPr>
          <p:spPr bwMode="auto">
            <a:xfrm>
              <a:off x="2784" y="1680"/>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56" name="Line 14"/>
            <p:cNvSpPr>
              <a:spLocks noChangeShapeType="1"/>
            </p:cNvSpPr>
            <p:nvPr/>
          </p:nvSpPr>
          <p:spPr bwMode="auto">
            <a:xfrm>
              <a:off x="4080" y="1680"/>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57" name="Line 15"/>
            <p:cNvSpPr>
              <a:spLocks noChangeShapeType="1"/>
            </p:cNvSpPr>
            <p:nvPr/>
          </p:nvSpPr>
          <p:spPr bwMode="auto">
            <a:xfrm>
              <a:off x="5088" y="1680"/>
              <a:ext cx="43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58" name="Line 16"/>
            <p:cNvSpPr>
              <a:spLocks noChangeShapeType="1"/>
            </p:cNvSpPr>
            <p:nvPr/>
          </p:nvSpPr>
          <p:spPr bwMode="auto">
            <a:xfrm>
              <a:off x="336" y="1680"/>
              <a:ext cx="43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59" name="Rectangle 17"/>
            <p:cNvSpPr>
              <a:spLocks noChangeArrowheads="1"/>
            </p:cNvSpPr>
            <p:nvPr/>
          </p:nvSpPr>
          <p:spPr bwMode="auto">
            <a:xfrm>
              <a:off x="624" y="1248"/>
              <a:ext cx="4608" cy="864"/>
            </a:xfrm>
            <a:prstGeom prst="rect">
              <a:avLst/>
            </a:prstGeom>
            <a:noFill/>
            <a:ln w="28575">
              <a:solidFill>
                <a:schemeClr val="tx2"/>
              </a:solidFill>
              <a:prstDash val="lgDash"/>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en-US" sz="2000">
                <a:solidFill>
                  <a:schemeClr val="tx2"/>
                </a:solidFill>
              </a:endParaRPr>
            </a:p>
          </p:txBody>
        </p:sp>
        <p:sp>
          <p:nvSpPr>
            <p:cNvPr id="13360" name="Line 18"/>
            <p:cNvSpPr>
              <a:spLocks noChangeShapeType="1"/>
            </p:cNvSpPr>
            <p:nvPr/>
          </p:nvSpPr>
          <p:spPr bwMode="auto">
            <a:xfrm>
              <a:off x="2016" y="2304"/>
              <a:ext cx="76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61" name="Line 19"/>
            <p:cNvSpPr>
              <a:spLocks noChangeShapeType="1"/>
            </p:cNvSpPr>
            <p:nvPr/>
          </p:nvSpPr>
          <p:spPr bwMode="auto">
            <a:xfrm>
              <a:off x="2784" y="1968"/>
              <a:ext cx="0" cy="48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62" name="Line 20"/>
            <p:cNvSpPr>
              <a:spLocks noChangeShapeType="1"/>
            </p:cNvSpPr>
            <p:nvPr/>
          </p:nvSpPr>
          <p:spPr bwMode="auto">
            <a:xfrm>
              <a:off x="768" y="1968"/>
              <a:ext cx="0" cy="48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63" name="Line 21"/>
            <p:cNvSpPr>
              <a:spLocks noChangeShapeType="1"/>
            </p:cNvSpPr>
            <p:nvPr/>
          </p:nvSpPr>
          <p:spPr bwMode="auto">
            <a:xfrm>
              <a:off x="768" y="2304"/>
              <a:ext cx="816"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64" name="Rectangle 22"/>
            <p:cNvSpPr>
              <a:spLocks noChangeArrowheads="1"/>
            </p:cNvSpPr>
            <p:nvPr/>
          </p:nvSpPr>
          <p:spPr bwMode="auto">
            <a:xfrm>
              <a:off x="288" y="1344"/>
              <a:ext cx="288"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0"/>
                </a:spcBef>
                <a:buClrTx/>
                <a:buFontTx/>
                <a:buNone/>
              </a:pPr>
              <a:r>
                <a:rPr lang="zh-CN" altLang="en-US" sz="2000">
                  <a:solidFill>
                    <a:schemeClr val="tx2"/>
                  </a:solidFill>
                </a:rPr>
                <a:t>输</a:t>
              </a:r>
              <a:endParaRPr lang="zh-CN" altLang="en-US" sz="2000">
                <a:solidFill>
                  <a:schemeClr val="tx2"/>
                </a:solidFill>
              </a:endParaRPr>
            </a:p>
            <a:p>
              <a:pPr algn="ctr" eaLnBrk="1" hangingPunct="1">
                <a:spcBef>
                  <a:spcPct val="0"/>
                </a:spcBef>
                <a:buClrTx/>
                <a:buFontTx/>
                <a:buNone/>
              </a:pPr>
              <a:r>
                <a:rPr lang="zh-CN" altLang="en-US" sz="2000">
                  <a:solidFill>
                    <a:schemeClr val="tx2"/>
                  </a:solidFill>
                </a:rPr>
                <a:t>入</a:t>
              </a:r>
              <a:endParaRPr lang="zh-CN" altLang="en-US" sz="2000">
                <a:solidFill>
                  <a:schemeClr val="tx2"/>
                </a:solidFill>
              </a:endParaRPr>
            </a:p>
          </p:txBody>
        </p:sp>
        <p:sp>
          <p:nvSpPr>
            <p:cNvPr id="13365" name="Rectangle 23"/>
            <p:cNvSpPr>
              <a:spLocks noChangeArrowheads="1"/>
            </p:cNvSpPr>
            <p:nvPr/>
          </p:nvSpPr>
          <p:spPr bwMode="auto">
            <a:xfrm>
              <a:off x="5232" y="1344"/>
              <a:ext cx="288"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0"/>
                </a:spcBef>
                <a:buClrTx/>
                <a:buFontTx/>
                <a:buNone/>
              </a:pPr>
              <a:r>
                <a:rPr lang="zh-CN" altLang="en-US" sz="2000">
                  <a:solidFill>
                    <a:schemeClr val="tx2"/>
                  </a:solidFill>
                </a:rPr>
                <a:t>输</a:t>
              </a:r>
              <a:endParaRPr lang="zh-CN" altLang="en-US" sz="2000">
                <a:solidFill>
                  <a:schemeClr val="tx2"/>
                </a:solidFill>
              </a:endParaRPr>
            </a:p>
            <a:p>
              <a:pPr algn="ctr" eaLnBrk="1" hangingPunct="1">
                <a:spcBef>
                  <a:spcPct val="0"/>
                </a:spcBef>
                <a:buClrTx/>
                <a:buFontTx/>
                <a:buNone/>
              </a:pPr>
              <a:r>
                <a:rPr lang="zh-CN" altLang="en-US" sz="2000">
                  <a:solidFill>
                    <a:schemeClr val="tx2"/>
                  </a:solidFill>
                </a:rPr>
                <a:t>出</a:t>
              </a:r>
              <a:endParaRPr lang="zh-CN" altLang="en-US" sz="2000">
                <a:solidFill>
                  <a:schemeClr val="tx2"/>
                </a:solidFill>
              </a:endParaRPr>
            </a:p>
          </p:txBody>
        </p:sp>
        <p:sp>
          <p:nvSpPr>
            <p:cNvPr id="13366" name="Rectangle 24"/>
            <p:cNvSpPr>
              <a:spLocks noChangeArrowheads="1"/>
            </p:cNvSpPr>
            <p:nvPr/>
          </p:nvSpPr>
          <p:spPr bwMode="auto">
            <a:xfrm>
              <a:off x="1488" y="211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000">
                  <a:solidFill>
                    <a:schemeClr val="tx2"/>
                  </a:solidFill>
                  <a:sym typeface="Symbol" panose="05050102010706020507" pitchFamily="18" charset="2"/>
                </a:rPr>
                <a:t></a:t>
              </a:r>
              <a:r>
                <a:rPr lang="en-US" altLang="zh-CN" sz="2000">
                  <a:solidFill>
                    <a:schemeClr val="tx2"/>
                  </a:solidFill>
                </a:rPr>
                <a:t>t</a:t>
              </a:r>
              <a:r>
                <a:rPr lang="en-US" altLang="zh-CN" sz="2000" baseline="-25000">
                  <a:solidFill>
                    <a:schemeClr val="tx2"/>
                  </a:solidFill>
                </a:rPr>
                <a:t>1</a:t>
              </a:r>
              <a:endParaRPr lang="en-US" altLang="zh-CN" sz="2000">
                <a:solidFill>
                  <a:schemeClr val="tx2"/>
                </a:solidFill>
              </a:endParaRPr>
            </a:p>
          </p:txBody>
        </p:sp>
        <p:sp>
          <p:nvSpPr>
            <p:cNvPr id="13367" name="Line 25"/>
            <p:cNvSpPr>
              <a:spLocks noChangeShapeType="1"/>
            </p:cNvSpPr>
            <p:nvPr/>
          </p:nvSpPr>
          <p:spPr bwMode="auto">
            <a:xfrm>
              <a:off x="4224" y="2304"/>
              <a:ext cx="86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68" name="Line 26"/>
            <p:cNvSpPr>
              <a:spLocks noChangeShapeType="1"/>
            </p:cNvSpPr>
            <p:nvPr/>
          </p:nvSpPr>
          <p:spPr bwMode="auto">
            <a:xfrm>
              <a:off x="5088" y="1968"/>
              <a:ext cx="0" cy="48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69" name="Line 27"/>
            <p:cNvSpPr>
              <a:spLocks noChangeShapeType="1"/>
            </p:cNvSpPr>
            <p:nvPr/>
          </p:nvSpPr>
          <p:spPr bwMode="auto">
            <a:xfrm>
              <a:off x="2976" y="1968"/>
              <a:ext cx="0" cy="48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70" name="Line 28"/>
            <p:cNvSpPr>
              <a:spLocks noChangeShapeType="1"/>
            </p:cNvSpPr>
            <p:nvPr/>
          </p:nvSpPr>
          <p:spPr bwMode="auto">
            <a:xfrm>
              <a:off x="2976" y="2304"/>
              <a:ext cx="912"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71" name="Rectangle 29"/>
            <p:cNvSpPr>
              <a:spLocks noChangeArrowheads="1"/>
            </p:cNvSpPr>
            <p:nvPr/>
          </p:nvSpPr>
          <p:spPr bwMode="auto">
            <a:xfrm>
              <a:off x="3744" y="211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000">
                  <a:solidFill>
                    <a:schemeClr val="tx2"/>
                  </a:solidFill>
                  <a:sym typeface="Symbol" panose="05050102010706020507" pitchFamily="18" charset="2"/>
                </a:rPr>
                <a:t></a:t>
              </a:r>
              <a:r>
                <a:rPr lang="en-US" altLang="zh-CN" sz="2000">
                  <a:solidFill>
                    <a:schemeClr val="tx2"/>
                  </a:solidFill>
                </a:rPr>
                <a:t>t</a:t>
              </a:r>
              <a:r>
                <a:rPr lang="en-US" altLang="zh-CN" sz="2000" baseline="-25000">
                  <a:solidFill>
                    <a:schemeClr val="tx2"/>
                  </a:solidFill>
                </a:rPr>
                <a:t>2</a:t>
              </a:r>
              <a:endParaRPr lang="en-US" altLang="zh-CN" sz="2000">
                <a:solidFill>
                  <a:schemeClr val="tx2"/>
                </a:solidFill>
              </a:endParaRPr>
            </a:p>
          </p:txBody>
        </p:sp>
      </p:grpSp>
      <p:grpSp>
        <p:nvGrpSpPr>
          <p:cNvPr id="13317" name="Group 30"/>
          <p:cNvGrpSpPr/>
          <p:nvPr/>
        </p:nvGrpSpPr>
        <p:grpSpPr bwMode="auto">
          <a:xfrm>
            <a:off x="762000" y="4343400"/>
            <a:ext cx="8077200" cy="1600200"/>
            <a:chOff x="192" y="2160"/>
            <a:chExt cx="5376" cy="1008"/>
          </a:xfrm>
        </p:grpSpPr>
        <p:sp>
          <p:nvSpPr>
            <p:cNvPr id="13319" name="Rectangle 31"/>
            <p:cNvSpPr>
              <a:spLocks noChangeArrowheads="1"/>
            </p:cNvSpPr>
            <p:nvPr/>
          </p:nvSpPr>
          <p:spPr bwMode="auto">
            <a:xfrm>
              <a:off x="720" y="2371"/>
              <a:ext cx="672" cy="31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000">
                  <a:solidFill>
                    <a:schemeClr val="tx2"/>
                  </a:solidFill>
                </a:rPr>
                <a:t>Stage 1</a:t>
              </a:r>
              <a:endParaRPr lang="en-US" altLang="zh-CN" sz="2000">
                <a:solidFill>
                  <a:schemeClr val="tx2"/>
                </a:solidFill>
              </a:endParaRPr>
            </a:p>
          </p:txBody>
        </p:sp>
        <p:sp>
          <p:nvSpPr>
            <p:cNvPr id="13320" name="Rectangle 32"/>
            <p:cNvSpPr>
              <a:spLocks noChangeArrowheads="1"/>
            </p:cNvSpPr>
            <p:nvPr/>
          </p:nvSpPr>
          <p:spPr bwMode="auto">
            <a:xfrm>
              <a:off x="1584" y="2400"/>
              <a:ext cx="480" cy="24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000">
                  <a:solidFill>
                    <a:schemeClr val="tx2"/>
                  </a:solidFill>
                </a:rPr>
                <a:t>latch</a:t>
              </a:r>
              <a:endParaRPr lang="zh-CN" altLang="zh-CN" sz="2000">
                <a:solidFill>
                  <a:schemeClr val="tx2"/>
                </a:solidFill>
              </a:endParaRPr>
            </a:p>
          </p:txBody>
        </p:sp>
        <p:sp>
          <p:nvSpPr>
            <p:cNvPr id="13321" name="Line 33"/>
            <p:cNvSpPr>
              <a:spLocks noChangeShapeType="1"/>
            </p:cNvSpPr>
            <p:nvPr/>
          </p:nvSpPr>
          <p:spPr bwMode="auto">
            <a:xfrm>
              <a:off x="1399" y="2523"/>
              <a:ext cx="18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22" name="Line 34"/>
            <p:cNvSpPr>
              <a:spLocks noChangeShapeType="1"/>
            </p:cNvSpPr>
            <p:nvPr/>
          </p:nvSpPr>
          <p:spPr bwMode="auto">
            <a:xfrm>
              <a:off x="5152" y="2523"/>
              <a:ext cx="416"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23" name="Line 35"/>
            <p:cNvSpPr>
              <a:spLocks noChangeShapeType="1"/>
            </p:cNvSpPr>
            <p:nvPr/>
          </p:nvSpPr>
          <p:spPr bwMode="auto">
            <a:xfrm>
              <a:off x="288" y="2523"/>
              <a:ext cx="416"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24" name="Rectangle 36"/>
            <p:cNvSpPr>
              <a:spLocks noChangeArrowheads="1"/>
            </p:cNvSpPr>
            <p:nvPr/>
          </p:nvSpPr>
          <p:spPr bwMode="auto">
            <a:xfrm>
              <a:off x="528" y="2160"/>
              <a:ext cx="4800" cy="726"/>
            </a:xfrm>
            <a:prstGeom prst="rect">
              <a:avLst/>
            </a:prstGeom>
            <a:noFill/>
            <a:ln w="28575">
              <a:solidFill>
                <a:schemeClr val="tx2"/>
              </a:solidFill>
              <a:prstDash val="lgDash"/>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en-US" sz="2000">
                <a:solidFill>
                  <a:schemeClr val="tx2"/>
                </a:solidFill>
              </a:endParaRPr>
            </a:p>
          </p:txBody>
        </p:sp>
        <p:sp>
          <p:nvSpPr>
            <p:cNvPr id="13325" name="Rectangle 37"/>
            <p:cNvSpPr>
              <a:spLocks noChangeArrowheads="1"/>
            </p:cNvSpPr>
            <p:nvPr/>
          </p:nvSpPr>
          <p:spPr bwMode="auto">
            <a:xfrm>
              <a:off x="192" y="2241"/>
              <a:ext cx="277" cy="5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0"/>
                </a:spcBef>
                <a:buClrTx/>
                <a:buFontTx/>
                <a:buNone/>
              </a:pPr>
              <a:r>
                <a:rPr lang="zh-CN" altLang="en-US" sz="2000">
                  <a:solidFill>
                    <a:schemeClr val="tx2"/>
                  </a:solidFill>
                </a:rPr>
                <a:t>输</a:t>
              </a:r>
              <a:endParaRPr lang="zh-CN" altLang="en-US" sz="2000">
                <a:solidFill>
                  <a:schemeClr val="tx2"/>
                </a:solidFill>
              </a:endParaRPr>
            </a:p>
            <a:p>
              <a:pPr algn="ctr" eaLnBrk="1" hangingPunct="1">
                <a:spcBef>
                  <a:spcPct val="0"/>
                </a:spcBef>
                <a:buClrTx/>
                <a:buFontTx/>
                <a:buNone/>
              </a:pPr>
              <a:r>
                <a:rPr lang="zh-CN" altLang="en-US" sz="2000">
                  <a:solidFill>
                    <a:schemeClr val="tx2"/>
                  </a:solidFill>
                </a:rPr>
                <a:t>入</a:t>
              </a:r>
              <a:endParaRPr lang="zh-CN" altLang="en-US" sz="2000">
                <a:solidFill>
                  <a:schemeClr val="tx2"/>
                </a:solidFill>
              </a:endParaRPr>
            </a:p>
          </p:txBody>
        </p:sp>
        <p:sp>
          <p:nvSpPr>
            <p:cNvPr id="13326" name="Rectangle 38"/>
            <p:cNvSpPr>
              <a:spLocks noChangeArrowheads="1"/>
            </p:cNvSpPr>
            <p:nvPr/>
          </p:nvSpPr>
          <p:spPr bwMode="auto">
            <a:xfrm>
              <a:off x="5291" y="2241"/>
              <a:ext cx="277" cy="5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0"/>
                </a:spcBef>
                <a:buClrTx/>
                <a:buFontTx/>
                <a:buNone/>
              </a:pPr>
              <a:r>
                <a:rPr lang="zh-CN" altLang="en-US" sz="2000">
                  <a:solidFill>
                    <a:schemeClr val="tx2"/>
                  </a:solidFill>
                </a:rPr>
                <a:t>输</a:t>
              </a:r>
              <a:endParaRPr lang="zh-CN" altLang="en-US" sz="2000">
                <a:solidFill>
                  <a:schemeClr val="tx2"/>
                </a:solidFill>
              </a:endParaRPr>
            </a:p>
            <a:p>
              <a:pPr algn="ctr" eaLnBrk="1" hangingPunct="1">
                <a:spcBef>
                  <a:spcPct val="0"/>
                </a:spcBef>
                <a:buClrTx/>
                <a:buFontTx/>
                <a:buNone/>
              </a:pPr>
              <a:r>
                <a:rPr lang="zh-CN" altLang="en-US" sz="2000">
                  <a:solidFill>
                    <a:schemeClr val="tx2"/>
                  </a:solidFill>
                </a:rPr>
                <a:t>出</a:t>
              </a:r>
              <a:endParaRPr lang="zh-CN" altLang="en-US" sz="2000">
                <a:solidFill>
                  <a:schemeClr val="tx2"/>
                </a:solidFill>
              </a:endParaRPr>
            </a:p>
          </p:txBody>
        </p:sp>
        <p:sp>
          <p:nvSpPr>
            <p:cNvPr id="13327" name="Line 39"/>
            <p:cNvSpPr>
              <a:spLocks noChangeShapeType="1"/>
            </p:cNvSpPr>
            <p:nvPr/>
          </p:nvSpPr>
          <p:spPr bwMode="auto">
            <a:xfrm>
              <a:off x="1512" y="3047"/>
              <a:ext cx="54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28" name="Line 40"/>
            <p:cNvSpPr>
              <a:spLocks noChangeShapeType="1"/>
            </p:cNvSpPr>
            <p:nvPr/>
          </p:nvSpPr>
          <p:spPr bwMode="auto">
            <a:xfrm>
              <a:off x="2057" y="2765"/>
              <a:ext cx="0" cy="403"/>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29" name="Line 41"/>
            <p:cNvSpPr>
              <a:spLocks noChangeShapeType="1"/>
            </p:cNvSpPr>
            <p:nvPr/>
          </p:nvSpPr>
          <p:spPr bwMode="auto">
            <a:xfrm>
              <a:off x="624" y="2765"/>
              <a:ext cx="0" cy="403"/>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30" name="Line 42"/>
            <p:cNvSpPr>
              <a:spLocks noChangeShapeType="1"/>
            </p:cNvSpPr>
            <p:nvPr/>
          </p:nvSpPr>
          <p:spPr bwMode="auto">
            <a:xfrm>
              <a:off x="624" y="3047"/>
              <a:ext cx="580"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31" name="Rectangle 43"/>
            <p:cNvSpPr>
              <a:spLocks noChangeArrowheads="1"/>
            </p:cNvSpPr>
            <p:nvPr/>
          </p:nvSpPr>
          <p:spPr bwMode="auto">
            <a:xfrm>
              <a:off x="1136" y="2886"/>
              <a:ext cx="444"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000">
                  <a:solidFill>
                    <a:schemeClr val="tx2"/>
                  </a:solidFill>
                  <a:sym typeface="Symbol" panose="05050102010706020507" pitchFamily="18" charset="2"/>
                </a:rPr>
                <a:t></a:t>
              </a:r>
              <a:r>
                <a:rPr lang="en-US" altLang="zh-CN" sz="2000">
                  <a:solidFill>
                    <a:schemeClr val="tx2"/>
                  </a:solidFill>
                </a:rPr>
                <a:t>t</a:t>
              </a:r>
              <a:r>
                <a:rPr lang="en-US" altLang="zh-CN" sz="2000" baseline="-25000">
                  <a:solidFill>
                    <a:schemeClr val="tx2"/>
                  </a:solidFill>
                </a:rPr>
                <a:t>1</a:t>
              </a:r>
              <a:endParaRPr lang="en-US" altLang="zh-CN" sz="2000">
                <a:solidFill>
                  <a:schemeClr val="tx2"/>
                </a:solidFill>
              </a:endParaRPr>
            </a:p>
          </p:txBody>
        </p:sp>
        <p:sp>
          <p:nvSpPr>
            <p:cNvPr id="13332" name="Line 44"/>
            <p:cNvSpPr>
              <a:spLocks noChangeShapeType="1"/>
            </p:cNvSpPr>
            <p:nvPr/>
          </p:nvSpPr>
          <p:spPr bwMode="auto">
            <a:xfrm>
              <a:off x="3082" y="3047"/>
              <a:ext cx="61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33" name="Line 45"/>
            <p:cNvSpPr>
              <a:spLocks noChangeShapeType="1"/>
            </p:cNvSpPr>
            <p:nvPr/>
          </p:nvSpPr>
          <p:spPr bwMode="auto">
            <a:xfrm>
              <a:off x="3696" y="2765"/>
              <a:ext cx="0" cy="403"/>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34" name="Line 46"/>
            <p:cNvSpPr>
              <a:spLocks noChangeShapeType="1"/>
            </p:cNvSpPr>
            <p:nvPr/>
          </p:nvSpPr>
          <p:spPr bwMode="auto">
            <a:xfrm>
              <a:off x="2194" y="2765"/>
              <a:ext cx="0" cy="403"/>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35" name="Line 47"/>
            <p:cNvSpPr>
              <a:spLocks noChangeShapeType="1"/>
            </p:cNvSpPr>
            <p:nvPr/>
          </p:nvSpPr>
          <p:spPr bwMode="auto">
            <a:xfrm>
              <a:off x="2194" y="3047"/>
              <a:ext cx="649"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36" name="Rectangle 48"/>
            <p:cNvSpPr>
              <a:spLocks noChangeArrowheads="1"/>
            </p:cNvSpPr>
            <p:nvPr/>
          </p:nvSpPr>
          <p:spPr bwMode="auto">
            <a:xfrm>
              <a:off x="2740" y="2886"/>
              <a:ext cx="444"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000">
                  <a:solidFill>
                    <a:schemeClr val="tx2"/>
                  </a:solidFill>
                  <a:sym typeface="Symbol" panose="05050102010706020507" pitchFamily="18" charset="2"/>
                </a:rPr>
                <a:t></a:t>
              </a:r>
              <a:r>
                <a:rPr lang="en-US" altLang="zh-CN" sz="2000">
                  <a:solidFill>
                    <a:schemeClr val="tx2"/>
                  </a:solidFill>
                </a:rPr>
                <a:t>t</a:t>
              </a:r>
              <a:r>
                <a:rPr lang="en-US" altLang="zh-CN" sz="2000" baseline="-25000">
                  <a:solidFill>
                    <a:schemeClr val="tx2"/>
                  </a:solidFill>
                </a:rPr>
                <a:t>2</a:t>
              </a:r>
              <a:endParaRPr lang="en-US" altLang="zh-CN" sz="2000">
                <a:solidFill>
                  <a:schemeClr val="tx2"/>
                </a:solidFill>
              </a:endParaRPr>
            </a:p>
          </p:txBody>
        </p:sp>
        <p:sp>
          <p:nvSpPr>
            <p:cNvPr id="13337" name="Rectangle 49"/>
            <p:cNvSpPr>
              <a:spLocks noChangeArrowheads="1"/>
            </p:cNvSpPr>
            <p:nvPr/>
          </p:nvSpPr>
          <p:spPr bwMode="auto">
            <a:xfrm>
              <a:off x="2256" y="2352"/>
              <a:ext cx="672" cy="31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000">
                  <a:solidFill>
                    <a:schemeClr val="tx2"/>
                  </a:solidFill>
                </a:rPr>
                <a:t>Stage 2</a:t>
              </a:r>
              <a:endParaRPr lang="en-US" altLang="zh-CN" sz="2000">
                <a:solidFill>
                  <a:schemeClr val="tx2"/>
                </a:solidFill>
              </a:endParaRPr>
            </a:p>
          </p:txBody>
        </p:sp>
        <p:sp>
          <p:nvSpPr>
            <p:cNvPr id="13338" name="Rectangle 50"/>
            <p:cNvSpPr>
              <a:spLocks noChangeArrowheads="1"/>
            </p:cNvSpPr>
            <p:nvPr/>
          </p:nvSpPr>
          <p:spPr bwMode="auto">
            <a:xfrm>
              <a:off x="3120" y="2396"/>
              <a:ext cx="480" cy="24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000">
                  <a:solidFill>
                    <a:schemeClr val="tx2"/>
                  </a:solidFill>
                </a:rPr>
                <a:t>latch</a:t>
              </a:r>
              <a:endParaRPr lang="zh-CN" altLang="zh-CN" sz="2000">
                <a:solidFill>
                  <a:schemeClr val="tx2"/>
                </a:solidFill>
              </a:endParaRPr>
            </a:p>
          </p:txBody>
        </p:sp>
        <p:sp>
          <p:nvSpPr>
            <p:cNvPr id="13339" name="Line 51"/>
            <p:cNvSpPr>
              <a:spLocks noChangeShapeType="1"/>
            </p:cNvSpPr>
            <p:nvPr/>
          </p:nvSpPr>
          <p:spPr bwMode="auto">
            <a:xfrm>
              <a:off x="2928" y="2496"/>
              <a:ext cx="18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0" name="Rectangle 52"/>
            <p:cNvSpPr>
              <a:spLocks noChangeArrowheads="1"/>
            </p:cNvSpPr>
            <p:nvPr/>
          </p:nvSpPr>
          <p:spPr bwMode="auto">
            <a:xfrm>
              <a:off x="3792" y="2352"/>
              <a:ext cx="672" cy="31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000">
                  <a:solidFill>
                    <a:schemeClr val="tx2"/>
                  </a:solidFill>
                </a:rPr>
                <a:t>Stage 3</a:t>
              </a:r>
              <a:endParaRPr lang="en-US" altLang="zh-CN" sz="2000">
                <a:solidFill>
                  <a:schemeClr val="tx2"/>
                </a:solidFill>
              </a:endParaRPr>
            </a:p>
          </p:txBody>
        </p:sp>
        <p:sp>
          <p:nvSpPr>
            <p:cNvPr id="13341" name="Rectangle 53"/>
            <p:cNvSpPr>
              <a:spLocks noChangeArrowheads="1"/>
            </p:cNvSpPr>
            <p:nvPr/>
          </p:nvSpPr>
          <p:spPr bwMode="auto">
            <a:xfrm>
              <a:off x="4656" y="2400"/>
              <a:ext cx="480" cy="24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000">
                  <a:solidFill>
                    <a:schemeClr val="tx2"/>
                  </a:solidFill>
                </a:rPr>
                <a:t>latch</a:t>
              </a:r>
              <a:endParaRPr lang="zh-CN" altLang="zh-CN" sz="2000">
                <a:solidFill>
                  <a:schemeClr val="tx2"/>
                </a:solidFill>
              </a:endParaRPr>
            </a:p>
          </p:txBody>
        </p:sp>
        <p:sp>
          <p:nvSpPr>
            <p:cNvPr id="13342" name="Line 54"/>
            <p:cNvSpPr>
              <a:spLocks noChangeShapeType="1"/>
            </p:cNvSpPr>
            <p:nvPr/>
          </p:nvSpPr>
          <p:spPr bwMode="auto">
            <a:xfrm>
              <a:off x="4464" y="2523"/>
              <a:ext cx="18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3" name="Line 55"/>
            <p:cNvSpPr>
              <a:spLocks noChangeShapeType="1"/>
            </p:cNvSpPr>
            <p:nvPr/>
          </p:nvSpPr>
          <p:spPr bwMode="auto">
            <a:xfrm>
              <a:off x="2064" y="2496"/>
              <a:ext cx="18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4" name="Line 56"/>
            <p:cNvSpPr>
              <a:spLocks noChangeShapeType="1"/>
            </p:cNvSpPr>
            <p:nvPr/>
          </p:nvSpPr>
          <p:spPr bwMode="auto">
            <a:xfrm>
              <a:off x="3600" y="2496"/>
              <a:ext cx="18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5" name="Line 57"/>
            <p:cNvSpPr>
              <a:spLocks noChangeShapeType="1"/>
            </p:cNvSpPr>
            <p:nvPr/>
          </p:nvSpPr>
          <p:spPr bwMode="auto">
            <a:xfrm>
              <a:off x="4696" y="3041"/>
              <a:ext cx="54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6" name="Line 58"/>
            <p:cNvSpPr>
              <a:spLocks noChangeShapeType="1"/>
            </p:cNvSpPr>
            <p:nvPr/>
          </p:nvSpPr>
          <p:spPr bwMode="auto">
            <a:xfrm>
              <a:off x="5241" y="2759"/>
              <a:ext cx="0" cy="403"/>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7" name="Line 59"/>
            <p:cNvSpPr>
              <a:spLocks noChangeShapeType="1"/>
            </p:cNvSpPr>
            <p:nvPr/>
          </p:nvSpPr>
          <p:spPr bwMode="auto">
            <a:xfrm>
              <a:off x="3808" y="2759"/>
              <a:ext cx="0" cy="403"/>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8" name="Line 60"/>
            <p:cNvSpPr>
              <a:spLocks noChangeShapeType="1"/>
            </p:cNvSpPr>
            <p:nvPr/>
          </p:nvSpPr>
          <p:spPr bwMode="auto">
            <a:xfrm>
              <a:off x="3808" y="3041"/>
              <a:ext cx="580"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9" name="Rectangle 61"/>
            <p:cNvSpPr>
              <a:spLocks noChangeArrowheads="1"/>
            </p:cNvSpPr>
            <p:nvPr/>
          </p:nvSpPr>
          <p:spPr bwMode="auto">
            <a:xfrm>
              <a:off x="4320" y="2880"/>
              <a:ext cx="444"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000">
                  <a:solidFill>
                    <a:schemeClr val="tx2"/>
                  </a:solidFill>
                  <a:sym typeface="Symbol" panose="05050102010706020507" pitchFamily="18" charset="2"/>
                </a:rPr>
                <a:t></a:t>
              </a:r>
              <a:r>
                <a:rPr lang="en-US" altLang="zh-CN" sz="2000">
                  <a:solidFill>
                    <a:schemeClr val="tx2"/>
                  </a:solidFill>
                </a:rPr>
                <a:t>t</a:t>
              </a:r>
              <a:r>
                <a:rPr lang="en-US" altLang="zh-CN" sz="2000" baseline="-25000">
                  <a:solidFill>
                    <a:schemeClr val="tx2"/>
                  </a:solidFill>
                </a:rPr>
                <a:t>3</a:t>
              </a:r>
              <a:endParaRPr lang="en-US" altLang="zh-CN" sz="2000">
                <a:solidFill>
                  <a:schemeClr val="tx2"/>
                </a:solidFill>
              </a:endParaRPr>
            </a:p>
          </p:txBody>
        </p:sp>
      </p:grpSp>
      <p:sp>
        <p:nvSpPr>
          <p:cNvPr id="13318" name="Text Box 6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7595" name="Rectangle 59"/>
          <p:cNvSpPr>
            <a:spLocks noGrp="1" noChangeArrowheads="1"/>
          </p:cNvSpPr>
          <p:nvPr>
            <p:ph type="title"/>
          </p:nvPr>
        </p:nvSpPr>
        <p:spPr/>
        <p:txBody>
          <a:bodyPr/>
          <a:lstStyle/>
          <a:p>
            <a:pPr eaLnBrk="1" hangingPunct="1">
              <a:defRPr/>
            </a:pPr>
            <a:r>
              <a:rPr lang="zh-CN" altLang="en-US" smtClean="0"/>
              <a:t>连接图</a:t>
            </a:r>
            <a:endParaRPr lang="zh-CN" altLang="en-US" smtClean="0"/>
          </a:p>
        </p:txBody>
      </p:sp>
      <p:sp>
        <p:nvSpPr>
          <p:cNvPr id="577596" name="Rectangle 60"/>
          <p:cNvSpPr>
            <a:spLocks noGrp="1" noChangeArrowheads="1"/>
          </p:cNvSpPr>
          <p:nvPr>
            <p:ph type="body" idx="1"/>
          </p:nvPr>
        </p:nvSpPr>
        <p:spPr/>
        <p:txBody>
          <a:bodyPr/>
          <a:lstStyle/>
          <a:p>
            <a:pPr marL="0" indent="0" eaLnBrk="1" hangingPunct="1">
              <a:lnSpc>
                <a:spcPct val="105000"/>
              </a:lnSpc>
              <a:buClr>
                <a:srgbClr val="FF0000"/>
              </a:buClr>
              <a:defRPr/>
            </a:pPr>
            <a:r>
              <a:rPr lang="zh-CN" altLang="en-US" sz="2800" smtClean="0">
                <a:solidFill>
                  <a:srgbClr val="FF0000"/>
                </a:solidFill>
                <a:effectLst>
                  <a:outerShdw blurRad="38100" dist="38100" dir="2700000" algn="tl">
                    <a:srgbClr val="C0C0C0"/>
                  </a:outerShdw>
                </a:effectLst>
              </a:rPr>
              <a:t>  功能段</a:t>
            </a:r>
            <a:endParaRPr lang="zh-CN" altLang="en-US" sz="2800" smtClean="0">
              <a:solidFill>
                <a:srgbClr val="FF0000"/>
              </a:solidFill>
              <a:effectLst>
                <a:outerShdw blurRad="38100" dist="38100" dir="2700000" algn="tl">
                  <a:srgbClr val="C0C0C0"/>
                </a:outerShdw>
              </a:effectLst>
            </a:endParaRPr>
          </a:p>
          <a:p>
            <a:pPr marL="0" indent="0" eaLnBrk="1" hangingPunct="1">
              <a:lnSpc>
                <a:spcPct val="105000"/>
              </a:lnSpc>
              <a:buFont typeface="Wingdings" panose="05000000000000000000" pitchFamily="2" charset="2"/>
              <a:buNone/>
              <a:defRPr/>
            </a:pPr>
            <a:r>
              <a:rPr lang="zh-CN" altLang="en-US" sz="2800" smtClean="0"/>
              <a:t>    流水线的每一个阶段称为流水步、流水步骤、流水段、流水线阶段、流水功能段、流水级、流水节拍等。</a:t>
            </a:r>
            <a:endParaRPr lang="zh-CN" altLang="en-US" sz="2800" smtClean="0"/>
          </a:p>
          <a:p>
            <a:pPr marL="0" indent="0" eaLnBrk="1" hangingPunct="1">
              <a:lnSpc>
                <a:spcPct val="105000"/>
              </a:lnSpc>
              <a:buClr>
                <a:srgbClr val="FF0000"/>
              </a:buClr>
              <a:defRPr/>
            </a:pPr>
            <a:r>
              <a:rPr lang="zh-CN" altLang="en-US" sz="2800" smtClean="0">
                <a:solidFill>
                  <a:srgbClr val="FF0000"/>
                </a:solidFill>
                <a:effectLst>
                  <a:outerShdw blurRad="38100" dist="38100" dir="2700000" algn="tl">
                    <a:srgbClr val="C0C0C0"/>
                  </a:outerShdw>
                </a:effectLst>
              </a:rPr>
              <a:t>  流水寄存器</a:t>
            </a:r>
            <a:endParaRPr lang="zh-CN" altLang="en-US" sz="2800" smtClean="0">
              <a:solidFill>
                <a:srgbClr val="FF0000"/>
              </a:solidFill>
              <a:effectLst>
                <a:outerShdw blurRad="38100" dist="38100" dir="2700000" algn="tl">
                  <a:srgbClr val="C0C0C0"/>
                </a:outerShdw>
              </a:effectLst>
            </a:endParaRPr>
          </a:p>
          <a:p>
            <a:pPr marL="0" indent="0" eaLnBrk="1" hangingPunct="1">
              <a:lnSpc>
                <a:spcPct val="105000"/>
              </a:lnSpc>
              <a:buFont typeface="Wingdings" panose="05000000000000000000" pitchFamily="2" charset="2"/>
              <a:buNone/>
              <a:defRPr/>
            </a:pPr>
            <a:r>
              <a:rPr lang="zh-CN" altLang="en-US" sz="2800" smtClean="0"/>
              <a:t>    在每一个流水段的末尾或开头必须设置一个寄存器，称为流水寄存器、流水锁存器、流水闸门寄存器等。加入流水寄存器，会增加指令的执行时间。在一般流水线中不画出流水寄存器。</a:t>
            </a:r>
            <a:endParaRPr lang="zh-CN" altLang="en-US" sz="2800" smtClean="0"/>
          </a:p>
        </p:txBody>
      </p:sp>
      <p:sp>
        <p:nvSpPr>
          <p:cNvPr id="14340"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流水线工作原理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流水线表示方法</a:t>
            </a:r>
            <a:endParaRPr lang="zh-CN" altLang="en-US" sz="1200" b="0">
              <a:latin typeface="Times New Roman" panose="02020603050405020304" pitchFamily="18" charset="0"/>
              <a:ea typeface="幼圆" panose="02010509060101010101" pitchFamily="49" charset="-122"/>
            </a:endParaRPr>
          </a:p>
        </p:txBody>
      </p:sp>
      <p:sp>
        <p:nvSpPr>
          <p:cNvPr id="14341" name="Text Box 61"/>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Rectangle 2"/>
          <p:cNvSpPr>
            <a:spLocks noGrp="1" noChangeArrowheads="1"/>
          </p:cNvSpPr>
          <p:nvPr>
            <p:ph type="title"/>
          </p:nvPr>
        </p:nvSpPr>
        <p:spPr/>
        <p:txBody>
          <a:bodyPr/>
          <a:lstStyle/>
          <a:p>
            <a:pPr eaLnBrk="1" hangingPunct="1">
              <a:defRPr/>
            </a:pPr>
            <a:r>
              <a:rPr lang="zh-CN" altLang="en-US" smtClean="0"/>
              <a:t>时空图</a:t>
            </a:r>
            <a:endParaRPr lang="zh-CN" altLang="en-US" smtClean="0"/>
          </a:p>
        </p:txBody>
      </p:sp>
      <p:grpSp>
        <p:nvGrpSpPr>
          <p:cNvPr id="15363" name="Group 6"/>
          <p:cNvGrpSpPr/>
          <p:nvPr/>
        </p:nvGrpSpPr>
        <p:grpSpPr bwMode="auto">
          <a:xfrm>
            <a:off x="2133600" y="3581400"/>
            <a:ext cx="6553200" cy="2743200"/>
            <a:chOff x="336" y="1056"/>
            <a:chExt cx="5232" cy="2064"/>
          </a:xfrm>
        </p:grpSpPr>
        <p:sp>
          <p:nvSpPr>
            <p:cNvPr id="15382" name="Rectangle 7"/>
            <p:cNvSpPr>
              <a:spLocks noChangeArrowheads="1"/>
            </p:cNvSpPr>
            <p:nvPr/>
          </p:nvSpPr>
          <p:spPr bwMode="auto">
            <a:xfrm>
              <a:off x="528" y="2448"/>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1</a:t>
              </a:r>
              <a:endParaRPr lang="en-US" altLang="zh-CN" sz="2800">
                <a:solidFill>
                  <a:schemeClr val="tx2"/>
                </a:solidFill>
              </a:endParaRPr>
            </a:p>
          </p:txBody>
        </p:sp>
        <p:sp>
          <p:nvSpPr>
            <p:cNvPr id="15383" name="Line 8"/>
            <p:cNvSpPr>
              <a:spLocks noChangeShapeType="1"/>
            </p:cNvSpPr>
            <p:nvPr/>
          </p:nvSpPr>
          <p:spPr bwMode="auto">
            <a:xfrm>
              <a:off x="528" y="2784"/>
              <a:ext cx="49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84" name="Line 9"/>
            <p:cNvSpPr>
              <a:spLocks noChangeShapeType="1"/>
            </p:cNvSpPr>
            <p:nvPr/>
          </p:nvSpPr>
          <p:spPr bwMode="auto">
            <a:xfrm flipV="1">
              <a:off x="528" y="1152"/>
              <a:ext cx="0" cy="1632"/>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85" name="Rectangle 10"/>
            <p:cNvSpPr>
              <a:spLocks noChangeArrowheads="1"/>
            </p:cNvSpPr>
            <p:nvPr/>
          </p:nvSpPr>
          <p:spPr bwMode="auto">
            <a:xfrm>
              <a:off x="4944" y="2448"/>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时间</a:t>
              </a:r>
              <a:endParaRPr lang="zh-CN" altLang="zh-CN" sz="2800">
                <a:solidFill>
                  <a:schemeClr val="tx2"/>
                </a:solidFill>
              </a:endParaRPr>
            </a:p>
          </p:txBody>
        </p:sp>
        <p:sp>
          <p:nvSpPr>
            <p:cNvPr id="15386" name="Rectangle 11"/>
            <p:cNvSpPr>
              <a:spLocks noChangeArrowheads="1"/>
            </p:cNvSpPr>
            <p:nvPr/>
          </p:nvSpPr>
          <p:spPr bwMode="auto">
            <a:xfrm>
              <a:off x="528" y="1056"/>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空间</a:t>
              </a:r>
              <a:endParaRPr lang="zh-CN" altLang="zh-CN" sz="2800">
                <a:solidFill>
                  <a:schemeClr val="tx2"/>
                </a:solidFill>
              </a:endParaRPr>
            </a:p>
          </p:txBody>
        </p:sp>
        <p:sp>
          <p:nvSpPr>
            <p:cNvPr id="15387" name="Rectangle 12"/>
            <p:cNvSpPr>
              <a:spLocks noChangeArrowheads="1"/>
            </p:cNvSpPr>
            <p:nvPr/>
          </p:nvSpPr>
          <p:spPr bwMode="auto">
            <a:xfrm>
              <a:off x="336" y="283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0</a:t>
              </a:r>
              <a:endParaRPr lang="zh-CN" altLang="zh-CN" sz="2800">
                <a:solidFill>
                  <a:schemeClr val="tx2"/>
                </a:solidFill>
              </a:endParaRPr>
            </a:p>
          </p:txBody>
        </p:sp>
        <p:sp>
          <p:nvSpPr>
            <p:cNvPr id="15388" name="Rectangle 13"/>
            <p:cNvSpPr>
              <a:spLocks noChangeArrowheads="1"/>
            </p:cNvSpPr>
            <p:nvPr/>
          </p:nvSpPr>
          <p:spPr bwMode="auto">
            <a:xfrm>
              <a:off x="960"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t</a:t>
              </a:r>
              <a:r>
                <a:rPr lang="zh-CN" altLang="zh-CN" sz="2800" baseline="-25000">
                  <a:solidFill>
                    <a:schemeClr val="tx2"/>
                  </a:solidFill>
                  <a:sym typeface="Symbol" panose="05050102010706020507" pitchFamily="18" charset="2"/>
                </a:rPr>
                <a:t>1</a:t>
              </a:r>
              <a:endParaRPr lang="en-US" altLang="zh-CN" sz="2800">
                <a:solidFill>
                  <a:schemeClr val="tx2"/>
                </a:solidFill>
              </a:endParaRPr>
            </a:p>
          </p:txBody>
        </p:sp>
        <p:sp>
          <p:nvSpPr>
            <p:cNvPr id="15389" name="Rectangle 14"/>
            <p:cNvSpPr>
              <a:spLocks noChangeArrowheads="1"/>
            </p:cNvSpPr>
            <p:nvPr/>
          </p:nvSpPr>
          <p:spPr bwMode="auto">
            <a:xfrm>
              <a:off x="1536"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t</a:t>
              </a:r>
              <a:r>
                <a:rPr lang="zh-CN" altLang="zh-CN" sz="2800" baseline="-25000">
                  <a:solidFill>
                    <a:schemeClr val="tx2"/>
                  </a:solidFill>
                  <a:sym typeface="Symbol" panose="05050102010706020507" pitchFamily="18" charset="2"/>
                </a:rPr>
                <a:t>2</a:t>
              </a:r>
              <a:endParaRPr lang="en-US" altLang="zh-CN" sz="2800">
                <a:solidFill>
                  <a:schemeClr val="tx2"/>
                </a:solidFill>
              </a:endParaRPr>
            </a:p>
          </p:txBody>
        </p:sp>
        <p:sp>
          <p:nvSpPr>
            <p:cNvPr id="15390" name="Rectangle 15"/>
            <p:cNvSpPr>
              <a:spLocks noChangeArrowheads="1"/>
            </p:cNvSpPr>
            <p:nvPr/>
          </p:nvSpPr>
          <p:spPr bwMode="auto">
            <a:xfrm>
              <a:off x="2112"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t</a:t>
              </a:r>
              <a:r>
                <a:rPr lang="zh-CN" altLang="zh-CN" sz="2800" baseline="-25000">
                  <a:solidFill>
                    <a:schemeClr val="tx2"/>
                  </a:solidFill>
                  <a:sym typeface="Symbol" panose="05050102010706020507" pitchFamily="18" charset="2"/>
                </a:rPr>
                <a:t>3</a:t>
              </a:r>
              <a:endParaRPr lang="en-US" altLang="zh-CN" sz="2800">
                <a:solidFill>
                  <a:schemeClr val="tx2"/>
                </a:solidFill>
              </a:endParaRPr>
            </a:p>
          </p:txBody>
        </p:sp>
        <p:sp>
          <p:nvSpPr>
            <p:cNvPr id="15391" name="Rectangle 16"/>
            <p:cNvSpPr>
              <a:spLocks noChangeArrowheads="1"/>
            </p:cNvSpPr>
            <p:nvPr/>
          </p:nvSpPr>
          <p:spPr bwMode="auto">
            <a:xfrm>
              <a:off x="2688"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t</a:t>
              </a:r>
              <a:r>
                <a:rPr lang="zh-CN" altLang="zh-CN" sz="2800" baseline="-25000">
                  <a:solidFill>
                    <a:schemeClr val="tx2"/>
                  </a:solidFill>
                  <a:sym typeface="Symbol" panose="05050102010706020507" pitchFamily="18" charset="2"/>
                </a:rPr>
                <a:t>4</a:t>
              </a:r>
              <a:endParaRPr lang="en-US" altLang="zh-CN" sz="2800">
                <a:solidFill>
                  <a:schemeClr val="tx2"/>
                </a:solidFill>
              </a:endParaRPr>
            </a:p>
          </p:txBody>
        </p:sp>
        <p:sp>
          <p:nvSpPr>
            <p:cNvPr id="15392" name="Rectangle 17"/>
            <p:cNvSpPr>
              <a:spLocks noChangeArrowheads="1"/>
            </p:cNvSpPr>
            <p:nvPr/>
          </p:nvSpPr>
          <p:spPr bwMode="auto">
            <a:xfrm>
              <a:off x="3264"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t</a:t>
              </a:r>
              <a:r>
                <a:rPr lang="zh-CN" altLang="zh-CN" sz="2800" baseline="-25000">
                  <a:solidFill>
                    <a:schemeClr val="tx2"/>
                  </a:solidFill>
                  <a:sym typeface="Symbol" panose="05050102010706020507" pitchFamily="18" charset="2"/>
                </a:rPr>
                <a:t>5</a:t>
              </a:r>
              <a:endParaRPr lang="en-US" altLang="zh-CN" sz="2800">
                <a:solidFill>
                  <a:schemeClr val="tx2"/>
                </a:solidFill>
              </a:endParaRPr>
            </a:p>
          </p:txBody>
        </p:sp>
        <p:sp>
          <p:nvSpPr>
            <p:cNvPr id="15393" name="Rectangle 18"/>
            <p:cNvSpPr>
              <a:spLocks noChangeArrowheads="1"/>
            </p:cNvSpPr>
            <p:nvPr/>
          </p:nvSpPr>
          <p:spPr bwMode="auto">
            <a:xfrm>
              <a:off x="1104" y="2448"/>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2</a:t>
              </a:r>
              <a:endParaRPr lang="en-US" altLang="zh-CN" sz="2800">
                <a:solidFill>
                  <a:schemeClr val="tx2"/>
                </a:solidFill>
              </a:endParaRPr>
            </a:p>
          </p:txBody>
        </p:sp>
        <p:sp>
          <p:nvSpPr>
            <p:cNvPr id="15394" name="Rectangle 19"/>
            <p:cNvSpPr>
              <a:spLocks noChangeArrowheads="1"/>
            </p:cNvSpPr>
            <p:nvPr/>
          </p:nvSpPr>
          <p:spPr bwMode="auto">
            <a:xfrm>
              <a:off x="1680" y="2448"/>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3</a:t>
              </a:r>
              <a:endParaRPr lang="en-US" altLang="zh-CN" sz="2800">
                <a:solidFill>
                  <a:schemeClr val="tx2"/>
                </a:solidFill>
              </a:endParaRPr>
            </a:p>
          </p:txBody>
        </p:sp>
        <p:sp>
          <p:nvSpPr>
            <p:cNvPr id="15395" name="Rectangle 20"/>
            <p:cNvSpPr>
              <a:spLocks noChangeArrowheads="1"/>
            </p:cNvSpPr>
            <p:nvPr/>
          </p:nvSpPr>
          <p:spPr bwMode="auto">
            <a:xfrm>
              <a:off x="2256" y="2448"/>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4</a:t>
              </a:r>
              <a:endParaRPr lang="en-US" altLang="zh-CN" sz="2800">
                <a:solidFill>
                  <a:schemeClr val="tx2"/>
                </a:solidFill>
              </a:endParaRPr>
            </a:p>
          </p:txBody>
        </p:sp>
        <p:sp>
          <p:nvSpPr>
            <p:cNvPr id="15396" name="Rectangle 21"/>
            <p:cNvSpPr>
              <a:spLocks noChangeArrowheads="1"/>
            </p:cNvSpPr>
            <p:nvPr/>
          </p:nvSpPr>
          <p:spPr bwMode="auto">
            <a:xfrm>
              <a:off x="2832" y="2448"/>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5</a:t>
              </a:r>
              <a:endParaRPr lang="en-US" altLang="zh-CN" sz="2800">
                <a:solidFill>
                  <a:schemeClr val="tx2"/>
                </a:solidFill>
              </a:endParaRPr>
            </a:p>
          </p:txBody>
        </p:sp>
        <p:sp>
          <p:nvSpPr>
            <p:cNvPr id="15397" name="Rectangle 22"/>
            <p:cNvSpPr>
              <a:spLocks noChangeArrowheads="1"/>
            </p:cNvSpPr>
            <p:nvPr/>
          </p:nvSpPr>
          <p:spPr bwMode="auto">
            <a:xfrm>
              <a:off x="1104" y="2112"/>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1</a:t>
              </a:r>
              <a:endParaRPr lang="en-US" altLang="zh-CN" sz="2800">
                <a:solidFill>
                  <a:schemeClr val="tx2"/>
                </a:solidFill>
              </a:endParaRPr>
            </a:p>
          </p:txBody>
        </p:sp>
        <p:sp>
          <p:nvSpPr>
            <p:cNvPr id="15398" name="Rectangle 23"/>
            <p:cNvSpPr>
              <a:spLocks noChangeArrowheads="1"/>
            </p:cNvSpPr>
            <p:nvPr/>
          </p:nvSpPr>
          <p:spPr bwMode="auto">
            <a:xfrm>
              <a:off x="1680" y="2112"/>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2</a:t>
              </a:r>
              <a:endParaRPr lang="en-US" altLang="zh-CN" sz="2800">
                <a:solidFill>
                  <a:schemeClr val="tx2"/>
                </a:solidFill>
              </a:endParaRPr>
            </a:p>
          </p:txBody>
        </p:sp>
        <p:sp>
          <p:nvSpPr>
            <p:cNvPr id="15399" name="Rectangle 24"/>
            <p:cNvSpPr>
              <a:spLocks noChangeArrowheads="1"/>
            </p:cNvSpPr>
            <p:nvPr/>
          </p:nvSpPr>
          <p:spPr bwMode="auto">
            <a:xfrm>
              <a:off x="2256" y="2112"/>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3</a:t>
              </a:r>
              <a:endParaRPr lang="en-US" altLang="zh-CN" sz="2800">
                <a:solidFill>
                  <a:schemeClr val="tx2"/>
                </a:solidFill>
              </a:endParaRPr>
            </a:p>
          </p:txBody>
        </p:sp>
        <p:sp>
          <p:nvSpPr>
            <p:cNvPr id="15400" name="Rectangle 25"/>
            <p:cNvSpPr>
              <a:spLocks noChangeArrowheads="1"/>
            </p:cNvSpPr>
            <p:nvPr/>
          </p:nvSpPr>
          <p:spPr bwMode="auto">
            <a:xfrm>
              <a:off x="2832" y="2112"/>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4</a:t>
              </a:r>
              <a:endParaRPr lang="en-US" altLang="zh-CN" sz="2800">
                <a:solidFill>
                  <a:schemeClr val="tx2"/>
                </a:solidFill>
              </a:endParaRPr>
            </a:p>
          </p:txBody>
        </p:sp>
        <p:sp>
          <p:nvSpPr>
            <p:cNvPr id="15401" name="Rectangle 26"/>
            <p:cNvSpPr>
              <a:spLocks noChangeArrowheads="1"/>
            </p:cNvSpPr>
            <p:nvPr/>
          </p:nvSpPr>
          <p:spPr bwMode="auto">
            <a:xfrm>
              <a:off x="3408" y="2112"/>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5</a:t>
              </a:r>
              <a:endParaRPr lang="en-US" altLang="zh-CN" sz="2800">
                <a:solidFill>
                  <a:schemeClr val="tx2"/>
                </a:solidFill>
              </a:endParaRPr>
            </a:p>
          </p:txBody>
        </p:sp>
        <p:sp>
          <p:nvSpPr>
            <p:cNvPr id="15402" name="Rectangle 27"/>
            <p:cNvSpPr>
              <a:spLocks noChangeArrowheads="1"/>
            </p:cNvSpPr>
            <p:nvPr/>
          </p:nvSpPr>
          <p:spPr bwMode="auto">
            <a:xfrm>
              <a:off x="1680" y="1776"/>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1</a:t>
              </a:r>
              <a:endParaRPr lang="en-US" altLang="zh-CN" sz="2800">
                <a:solidFill>
                  <a:schemeClr val="tx2"/>
                </a:solidFill>
              </a:endParaRPr>
            </a:p>
          </p:txBody>
        </p:sp>
        <p:sp>
          <p:nvSpPr>
            <p:cNvPr id="15403" name="Rectangle 28"/>
            <p:cNvSpPr>
              <a:spLocks noChangeArrowheads="1"/>
            </p:cNvSpPr>
            <p:nvPr/>
          </p:nvSpPr>
          <p:spPr bwMode="auto">
            <a:xfrm>
              <a:off x="2256" y="1776"/>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2</a:t>
              </a:r>
              <a:endParaRPr lang="en-US" altLang="zh-CN" sz="2800">
                <a:solidFill>
                  <a:schemeClr val="tx2"/>
                </a:solidFill>
              </a:endParaRPr>
            </a:p>
          </p:txBody>
        </p:sp>
        <p:sp>
          <p:nvSpPr>
            <p:cNvPr id="15404" name="Rectangle 29"/>
            <p:cNvSpPr>
              <a:spLocks noChangeArrowheads="1"/>
            </p:cNvSpPr>
            <p:nvPr/>
          </p:nvSpPr>
          <p:spPr bwMode="auto">
            <a:xfrm>
              <a:off x="2832" y="1776"/>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3</a:t>
              </a:r>
              <a:endParaRPr lang="en-US" altLang="zh-CN" sz="2800">
                <a:solidFill>
                  <a:schemeClr val="tx2"/>
                </a:solidFill>
              </a:endParaRPr>
            </a:p>
          </p:txBody>
        </p:sp>
        <p:sp>
          <p:nvSpPr>
            <p:cNvPr id="15405" name="Rectangle 30"/>
            <p:cNvSpPr>
              <a:spLocks noChangeArrowheads="1"/>
            </p:cNvSpPr>
            <p:nvPr/>
          </p:nvSpPr>
          <p:spPr bwMode="auto">
            <a:xfrm>
              <a:off x="3408" y="1776"/>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4</a:t>
              </a:r>
              <a:endParaRPr lang="en-US" altLang="zh-CN" sz="2800">
                <a:solidFill>
                  <a:schemeClr val="tx2"/>
                </a:solidFill>
              </a:endParaRPr>
            </a:p>
          </p:txBody>
        </p:sp>
        <p:sp>
          <p:nvSpPr>
            <p:cNvPr id="15406" name="Rectangle 31"/>
            <p:cNvSpPr>
              <a:spLocks noChangeArrowheads="1"/>
            </p:cNvSpPr>
            <p:nvPr/>
          </p:nvSpPr>
          <p:spPr bwMode="auto">
            <a:xfrm>
              <a:off x="3984" y="1776"/>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5</a:t>
              </a:r>
              <a:endParaRPr lang="en-US" altLang="zh-CN" sz="2800">
                <a:solidFill>
                  <a:schemeClr val="tx2"/>
                </a:solidFill>
              </a:endParaRPr>
            </a:p>
          </p:txBody>
        </p:sp>
        <p:sp>
          <p:nvSpPr>
            <p:cNvPr id="15407" name="Rectangle 32"/>
            <p:cNvSpPr>
              <a:spLocks noChangeArrowheads="1"/>
            </p:cNvSpPr>
            <p:nvPr/>
          </p:nvSpPr>
          <p:spPr bwMode="auto">
            <a:xfrm>
              <a:off x="2256" y="1440"/>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1</a:t>
              </a:r>
              <a:endParaRPr lang="en-US" altLang="zh-CN" sz="2800">
                <a:solidFill>
                  <a:schemeClr val="tx2"/>
                </a:solidFill>
              </a:endParaRPr>
            </a:p>
          </p:txBody>
        </p:sp>
        <p:sp>
          <p:nvSpPr>
            <p:cNvPr id="15408" name="Rectangle 33"/>
            <p:cNvSpPr>
              <a:spLocks noChangeArrowheads="1"/>
            </p:cNvSpPr>
            <p:nvPr/>
          </p:nvSpPr>
          <p:spPr bwMode="auto">
            <a:xfrm>
              <a:off x="2832" y="1440"/>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2</a:t>
              </a:r>
              <a:endParaRPr lang="en-US" altLang="zh-CN" sz="2800">
                <a:solidFill>
                  <a:schemeClr val="tx2"/>
                </a:solidFill>
              </a:endParaRPr>
            </a:p>
          </p:txBody>
        </p:sp>
        <p:sp>
          <p:nvSpPr>
            <p:cNvPr id="15409" name="Rectangle 34"/>
            <p:cNvSpPr>
              <a:spLocks noChangeArrowheads="1"/>
            </p:cNvSpPr>
            <p:nvPr/>
          </p:nvSpPr>
          <p:spPr bwMode="auto">
            <a:xfrm>
              <a:off x="3408" y="1440"/>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3</a:t>
              </a:r>
              <a:endParaRPr lang="en-US" altLang="zh-CN" sz="2800">
                <a:solidFill>
                  <a:schemeClr val="tx2"/>
                </a:solidFill>
              </a:endParaRPr>
            </a:p>
          </p:txBody>
        </p:sp>
        <p:sp>
          <p:nvSpPr>
            <p:cNvPr id="15410" name="Rectangle 35"/>
            <p:cNvSpPr>
              <a:spLocks noChangeArrowheads="1"/>
            </p:cNvSpPr>
            <p:nvPr/>
          </p:nvSpPr>
          <p:spPr bwMode="auto">
            <a:xfrm>
              <a:off x="3984" y="1440"/>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4</a:t>
              </a:r>
              <a:endParaRPr lang="en-US" altLang="zh-CN" sz="2800">
                <a:solidFill>
                  <a:schemeClr val="tx2"/>
                </a:solidFill>
              </a:endParaRPr>
            </a:p>
          </p:txBody>
        </p:sp>
        <p:sp>
          <p:nvSpPr>
            <p:cNvPr id="15411" name="Rectangle 36"/>
            <p:cNvSpPr>
              <a:spLocks noChangeArrowheads="1"/>
            </p:cNvSpPr>
            <p:nvPr/>
          </p:nvSpPr>
          <p:spPr bwMode="auto">
            <a:xfrm>
              <a:off x="4560" y="1440"/>
              <a:ext cx="576"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5</a:t>
              </a:r>
              <a:endParaRPr lang="en-US" altLang="zh-CN" sz="2800">
                <a:solidFill>
                  <a:schemeClr val="tx2"/>
                </a:solidFill>
              </a:endParaRPr>
            </a:p>
          </p:txBody>
        </p:sp>
        <p:sp>
          <p:nvSpPr>
            <p:cNvPr id="15412" name="Rectangle 37"/>
            <p:cNvSpPr>
              <a:spLocks noChangeArrowheads="1"/>
            </p:cNvSpPr>
            <p:nvPr/>
          </p:nvSpPr>
          <p:spPr bwMode="auto">
            <a:xfrm>
              <a:off x="3840"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t</a:t>
              </a:r>
              <a:r>
                <a:rPr lang="zh-CN" altLang="zh-CN" sz="2800" baseline="-25000">
                  <a:solidFill>
                    <a:schemeClr val="tx2"/>
                  </a:solidFill>
                  <a:sym typeface="Symbol" panose="05050102010706020507" pitchFamily="18" charset="2"/>
                </a:rPr>
                <a:t>6</a:t>
              </a:r>
              <a:endParaRPr lang="en-US" altLang="zh-CN" sz="2800">
                <a:solidFill>
                  <a:schemeClr val="tx2"/>
                </a:solidFill>
              </a:endParaRPr>
            </a:p>
          </p:txBody>
        </p:sp>
        <p:sp>
          <p:nvSpPr>
            <p:cNvPr id="15413" name="Rectangle 38"/>
            <p:cNvSpPr>
              <a:spLocks noChangeArrowheads="1"/>
            </p:cNvSpPr>
            <p:nvPr/>
          </p:nvSpPr>
          <p:spPr bwMode="auto">
            <a:xfrm>
              <a:off x="4416"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t</a:t>
              </a:r>
              <a:r>
                <a:rPr lang="zh-CN" altLang="zh-CN" sz="2800" baseline="-25000">
                  <a:solidFill>
                    <a:schemeClr val="tx2"/>
                  </a:solidFill>
                  <a:sym typeface="Symbol" panose="05050102010706020507" pitchFamily="18" charset="2"/>
                </a:rPr>
                <a:t>7</a:t>
              </a:r>
              <a:endParaRPr lang="en-US" altLang="zh-CN" sz="2800">
                <a:solidFill>
                  <a:schemeClr val="tx2"/>
                </a:solidFill>
              </a:endParaRPr>
            </a:p>
          </p:txBody>
        </p:sp>
        <p:sp>
          <p:nvSpPr>
            <p:cNvPr id="15414" name="Rectangle 39"/>
            <p:cNvSpPr>
              <a:spLocks noChangeArrowheads="1"/>
            </p:cNvSpPr>
            <p:nvPr/>
          </p:nvSpPr>
          <p:spPr bwMode="auto">
            <a:xfrm>
              <a:off x="4944"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t</a:t>
              </a:r>
              <a:r>
                <a:rPr lang="zh-CN" altLang="zh-CN" sz="2800" baseline="-25000">
                  <a:solidFill>
                    <a:schemeClr val="tx2"/>
                  </a:solidFill>
                  <a:sym typeface="Symbol" panose="05050102010706020507" pitchFamily="18" charset="2"/>
                </a:rPr>
                <a:t>8</a:t>
              </a:r>
              <a:endParaRPr lang="en-US" altLang="zh-CN" sz="2800">
                <a:solidFill>
                  <a:schemeClr val="tx2"/>
                </a:solidFill>
              </a:endParaRPr>
            </a:p>
          </p:txBody>
        </p:sp>
      </p:grpSp>
      <p:sp>
        <p:nvSpPr>
          <p:cNvPr id="15364" name="Rectangle 42"/>
          <p:cNvSpPr>
            <a:spLocks noChangeArrowheads="1"/>
          </p:cNvSpPr>
          <p:nvPr/>
        </p:nvSpPr>
        <p:spPr bwMode="auto">
          <a:xfrm>
            <a:off x="1905000" y="2438400"/>
            <a:ext cx="1300163"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求阶差</a:t>
            </a:r>
            <a:endParaRPr lang="zh-CN" altLang="zh-CN" sz="2800">
              <a:solidFill>
                <a:schemeClr val="tx2"/>
              </a:solidFill>
            </a:endParaRPr>
          </a:p>
        </p:txBody>
      </p:sp>
      <p:sp>
        <p:nvSpPr>
          <p:cNvPr id="15365" name="Line 46"/>
          <p:cNvSpPr>
            <a:spLocks noChangeShapeType="1"/>
          </p:cNvSpPr>
          <p:nvPr/>
        </p:nvSpPr>
        <p:spPr bwMode="auto">
          <a:xfrm>
            <a:off x="1600200" y="2667000"/>
            <a:ext cx="3048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66" name="Line 47"/>
          <p:cNvSpPr>
            <a:spLocks noChangeShapeType="1"/>
          </p:cNvSpPr>
          <p:nvPr/>
        </p:nvSpPr>
        <p:spPr bwMode="auto">
          <a:xfrm>
            <a:off x="3200400" y="2667000"/>
            <a:ext cx="3048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67" name="Line 49"/>
          <p:cNvSpPr>
            <a:spLocks noChangeShapeType="1"/>
          </p:cNvSpPr>
          <p:nvPr/>
        </p:nvSpPr>
        <p:spPr bwMode="auto">
          <a:xfrm>
            <a:off x="4800600" y="2667000"/>
            <a:ext cx="3048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68" name="Line 51"/>
          <p:cNvSpPr>
            <a:spLocks noChangeShapeType="1"/>
          </p:cNvSpPr>
          <p:nvPr/>
        </p:nvSpPr>
        <p:spPr bwMode="auto">
          <a:xfrm>
            <a:off x="6400800" y="2667000"/>
            <a:ext cx="303213"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69" name="Line 53"/>
          <p:cNvSpPr>
            <a:spLocks noChangeShapeType="1"/>
          </p:cNvSpPr>
          <p:nvPr/>
        </p:nvSpPr>
        <p:spPr bwMode="auto">
          <a:xfrm>
            <a:off x="8001000" y="2667000"/>
            <a:ext cx="3048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70" name="Rectangle 55"/>
          <p:cNvSpPr>
            <a:spLocks noChangeArrowheads="1"/>
          </p:cNvSpPr>
          <p:nvPr/>
        </p:nvSpPr>
        <p:spPr bwMode="auto">
          <a:xfrm>
            <a:off x="3505200" y="2438400"/>
            <a:ext cx="1300163"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对阶</a:t>
            </a:r>
            <a:endParaRPr lang="zh-CN" altLang="zh-CN" sz="2800">
              <a:solidFill>
                <a:schemeClr val="tx2"/>
              </a:solidFill>
            </a:endParaRPr>
          </a:p>
        </p:txBody>
      </p:sp>
      <p:sp>
        <p:nvSpPr>
          <p:cNvPr id="15371" name="Rectangle 56"/>
          <p:cNvSpPr>
            <a:spLocks noChangeArrowheads="1"/>
          </p:cNvSpPr>
          <p:nvPr/>
        </p:nvSpPr>
        <p:spPr bwMode="auto">
          <a:xfrm>
            <a:off x="5105400" y="2438400"/>
            <a:ext cx="1300163"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尾数加</a:t>
            </a:r>
            <a:endParaRPr lang="zh-CN" altLang="zh-CN" sz="2800">
              <a:solidFill>
                <a:schemeClr val="tx2"/>
              </a:solidFill>
            </a:endParaRPr>
          </a:p>
        </p:txBody>
      </p:sp>
      <p:sp>
        <p:nvSpPr>
          <p:cNvPr id="15372" name="Rectangle 57"/>
          <p:cNvSpPr>
            <a:spLocks noChangeArrowheads="1"/>
          </p:cNvSpPr>
          <p:nvPr/>
        </p:nvSpPr>
        <p:spPr bwMode="auto">
          <a:xfrm>
            <a:off x="6705600" y="2438400"/>
            <a:ext cx="1300163"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规格化</a:t>
            </a:r>
            <a:endParaRPr lang="zh-CN" altLang="zh-CN" sz="2800">
              <a:solidFill>
                <a:schemeClr val="tx2"/>
              </a:solidFill>
            </a:endParaRPr>
          </a:p>
        </p:txBody>
      </p:sp>
      <p:sp>
        <p:nvSpPr>
          <p:cNvPr id="15373" name="Rectangle 59"/>
          <p:cNvSpPr>
            <a:spLocks noChangeArrowheads="1"/>
          </p:cNvSpPr>
          <p:nvPr/>
        </p:nvSpPr>
        <p:spPr bwMode="auto">
          <a:xfrm>
            <a:off x="990600" y="54102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求阶差</a:t>
            </a:r>
            <a:endParaRPr lang="zh-CN" altLang="zh-CN" sz="2800">
              <a:solidFill>
                <a:schemeClr val="tx2"/>
              </a:solidFill>
            </a:endParaRPr>
          </a:p>
        </p:txBody>
      </p:sp>
      <p:sp>
        <p:nvSpPr>
          <p:cNvPr id="15374" name="Rectangle 60"/>
          <p:cNvSpPr>
            <a:spLocks noChangeArrowheads="1"/>
          </p:cNvSpPr>
          <p:nvPr/>
        </p:nvSpPr>
        <p:spPr bwMode="auto">
          <a:xfrm>
            <a:off x="990600" y="49530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对阶</a:t>
            </a:r>
            <a:endParaRPr lang="zh-CN" altLang="zh-CN" sz="2800">
              <a:solidFill>
                <a:schemeClr val="tx2"/>
              </a:solidFill>
            </a:endParaRPr>
          </a:p>
        </p:txBody>
      </p:sp>
      <p:sp>
        <p:nvSpPr>
          <p:cNvPr id="15375" name="Rectangle 61"/>
          <p:cNvSpPr>
            <a:spLocks noChangeArrowheads="1"/>
          </p:cNvSpPr>
          <p:nvPr/>
        </p:nvSpPr>
        <p:spPr bwMode="auto">
          <a:xfrm>
            <a:off x="990600" y="44958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尾数加</a:t>
            </a:r>
            <a:endParaRPr lang="zh-CN" altLang="zh-CN" sz="2800">
              <a:solidFill>
                <a:schemeClr val="tx2"/>
              </a:solidFill>
            </a:endParaRPr>
          </a:p>
        </p:txBody>
      </p:sp>
      <p:sp>
        <p:nvSpPr>
          <p:cNvPr id="15376" name="Rectangle 62"/>
          <p:cNvSpPr>
            <a:spLocks noChangeArrowheads="1"/>
          </p:cNvSpPr>
          <p:nvPr/>
        </p:nvSpPr>
        <p:spPr bwMode="auto">
          <a:xfrm>
            <a:off x="990600" y="40386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规格化</a:t>
            </a:r>
            <a:endParaRPr lang="zh-CN" altLang="zh-CN" sz="2800">
              <a:solidFill>
                <a:schemeClr val="tx2"/>
              </a:solidFill>
            </a:endParaRPr>
          </a:p>
        </p:txBody>
      </p:sp>
      <p:sp>
        <p:nvSpPr>
          <p:cNvPr id="15377" name="Rectangle 63"/>
          <p:cNvSpPr>
            <a:spLocks noChangeArrowheads="1"/>
          </p:cNvSpPr>
          <p:nvPr/>
        </p:nvSpPr>
        <p:spPr bwMode="auto">
          <a:xfrm>
            <a:off x="1905000" y="29718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△t</a:t>
            </a:r>
            <a:endParaRPr lang="zh-CN" altLang="zh-CN" sz="2800">
              <a:solidFill>
                <a:schemeClr val="tx2"/>
              </a:solidFill>
            </a:endParaRPr>
          </a:p>
        </p:txBody>
      </p:sp>
      <p:sp>
        <p:nvSpPr>
          <p:cNvPr id="15378" name="Rectangle 64"/>
          <p:cNvSpPr>
            <a:spLocks noChangeArrowheads="1"/>
          </p:cNvSpPr>
          <p:nvPr/>
        </p:nvSpPr>
        <p:spPr bwMode="auto">
          <a:xfrm>
            <a:off x="3505200" y="29718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△t</a:t>
            </a:r>
            <a:endParaRPr lang="zh-CN" altLang="zh-CN" sz="2800">
              <a:solidFill>
                <a:schemeClr val="tx2"/>
              </a:solidFill>
            </a:endParaRPr>
          </a:p>
        </p:txBody>
      </p:sp>
      <p:sp>
        <p:nvSpPr>
          <p:cNvPr id="15379" name="Rectangle 65"/>
          <p:cNvSpPr>
            <a:spLocks noChangeArrowheads="1"/>
          </p:cNvSpPr>
          <p:nvPr/>
        </p:nvSpPr>
        <p:spPr bwMode="auto">
          <a:xfrm>
            <a:off x="5105400" y="29718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△t</a:t>
            </a:r>
            <a:endParaRPr lang="zh-CN" altLang="zh-CN" sz="2800">
              <a:solidFill>
                <a:schemeClr val="tx2"/>
              </a:solidFill>
            </a:endParaRPr>
          </a:p>
        </p:txBody>
      </p:sp>
      <p:sp>
        <p:nvSpPr>
          <p:cNvPr id="15380" name="Rectangle 66"/>
          <p:cNvSpPr>
            <a:spLocks noChangeArrowheads="1"/>
          </p:cNvSpPr>
          <p:nvPr/>
        </p:nvSpPr>
        <p:spPr bwMode="auto">
          <a:xfrm>
            <a:off x="6705600" y="29718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△t</a:t>
            </a:r>
            <a:endParaRPr lang="zh-CN" altLang="zh-CN" sz="2800">
              <a:solidFill>
                <a:schemeClr val="tx2"/>
              </a:solidFill>
            </a:endParaRPr>
          </a:p>
        </p:txBody>
      </p:sp>
      <p:sp>
        <p:nvSpPr>
          <p:cNvPr id="15381" name="Text Box 67"/>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流水线工作原理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流水线表示方法</a:t>
            </a:r>
            <a:endParaRPr lang="zh-CN" altLang="en-US" sz="1200" b="0">
              <a:latin typeface="Times New Roman" panose="02020603050405020304" pitchFamily="18" charset="0"/>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2"/>
          <p:cNvSpPr>
            <a:spLocks noGrp="1" noChangeArrowheads="1"/>
          </p:cNvSpPr>
          <p:nvPr>
            <p:ph type="title"/>
          </p:nvPr>
        </p:nvSpPr>
        <p:spPr/>
        <p:txBody>
          <a:bodyPr/>
          <a:lstStyle/>
          <a:p>
            <a:pPr eaLnBrk="1" hangingPunct="1">
              <a:defRPr/>
            </a:pPr>
            <a:r>
              <a:rPr lang="zh-CN" altLang="en-US" smtClean="0"/>
              <a:t>流水线主要特点</a:t>
            </a:r>
            <a:endParaRPr lang="en-US" altLang="zh-CN" smtClean="0"/>
          </a:p>
        </p:txBody>
      </p:sp>
      <p:sp>
        <p:nvSpPr>
          <p:cNvPr id="163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流水线工作原理</a:t>
            </a:r>
            <a:endParaRPr lang="zh-CN" altLang="en-US" sz="1200" b="0">
              <a:latin typeface="Times New Roman" panose="02020603050405020304" pitchFamily="18" charset="0"/>
              <a:ea typeface="幼圆" panose="02010509060101010101" pitchFamily="49" charset="-122"/>
            </a:endParaRPr>
          </a:p>
        </p:txBody>
      </p:sp>
      <p:sp>
        <p:nvSpPr>
          <p:cNvPr id="578565" name="Rectangle 5"/>
          <p:cNvSpPr>
            <a:spLocks noGrp="1" noChangeArrowheads="1"/>
          </p:cNvSpPr>
          <p:nvPr>
            <p:ph type="body" idx="1"/>
          </p:nvPr>
        </p:nvSpPr>
        <p:spPr>
          <a:xfrm>
            <a:off x="809625" y="1989138"/>
            <a:ext cx="7958138" cy="4535487"/>
          </a:xfrm>
        </p:spPr>
        <p:txBody>
          <a:bodyPr/>
          <a:lstStyle/>
          <a:p>
            <a:pPr marL="0" indent="0" eaLnBrk="1" hangingPunct="1">
              <a:lnSpc>
                <a:spcPct val="105000"/>
              </a:lnSpc>
              <a:buClr>
                <a:srgbClr val="FF0000"/>
              </a:buClr>
              <a:defRPr/>
            </a:pPr>
            <a:r>
              <a:rPr lang="zh-CN" altLang="en-US" sz="2400" smtClean="0">
                <a:solidFill>
                  <a:srgbClr val="FF0000"/>
                </a:solidFill>
                <a:effectLst>
                  <a:outerShdw blurRad="38100" dist="38100" dir="2700000" algn="tl">
                    <a:srgbClr val="C0C0C0"/>
                  </a:outerShdw>
                </a:effectLst>
              </a:rPr>
              <a:t>  只有连续提供同类任务才能发挥流水线效率</a:t>
            </a:r>
            <a:endParaRPr lang="zh-CN" altLang="en-US" sz="2400" smtClean="0">
              <a:solidFill>
                <a:srgbClr val="FF0000"/>
              </a:solidFill>
              <a:effectLst>
                <a:outerShdw blurRad="38100" dist="38100" dir="2700000" algn="tl">
                  <a:srgbClr val="C0C0C0"/>
                </a:outerShdw>
              </a:effectLst>
            </a:endParaRPr>
          </a:p>
          <a:p>
            <a:pPr marL="0" indent="0" eaLnBrk="1" hangingPunct="1">
              <a:lnSpc>
                <a:spcPct val="105000"/>
              </a:lnSpc>
              <a:buFont typeface="Wingdings" panose="05000000000000000000" pitchFamily="2" charset="2"/>
              <a:buNone/>
              <a:defRPr/>
            </a:pPr>
            <a:r>
              <a:rPr lang="zh-CN" altLang="en-US" sz="2400" smtClean="0"/>
              <a:t>    尽量减少因条件分支造成的“断流”，可通过编译技术提供连续的相同类型操作。</a:t>
            </a:r>
            <a:endParaRPr lang="zh-CN" altLang="en-US" sz="2400" smtClean="0"/>
          </a:p>
          <a:p>
            <a:pPr marL="0" indent="0" eaLnBrk="1" hangingPunct="1">
              <a:lnSpc>
                <a:spcPct val="105000"/>
              </a:lnSpc>
              <a:buClr>
                <a:srgbClr val="FF0000"/>
              </a:buClr>
              <a:defRPr/>
            </a:pPr>
            <a:r>
              <a:rPr lang="zh-CN" altLang="en-US" sz="2400" smtClean="0">
                <a:solidFill>
                  <a:srgbClr val="FF0000"/>
                </a:solidFill>
                <a:effectLst>
                  <a:outerShdw blurRad="38100" dist="38100" dir="2700000" algn="tl">
                    <a:srgbClr val="C0C0C0"/>
                  </a:outerShdw>
                </a:effectLst>
              </a:rPr>
              <a:t>  每个流水线段都要设置一个流水寄存器</a:t>
            </a:r>
            <a:endParaRPr lang="zh-CN" altLang="en-US" sz="2400" smtClean="0">
              <a:solidFill>
                <a:srgbClr val="FF0000"/>
              </a:solidFill>
              <a:effectLst>
                <a:outerShdw blurRad="38100" dist="38100" dir="2700000" algn="tl">
                  <a:srgbClr val="C0C0C0"/>
                </a:outerShdw>
              </a:effectLst>
            </a:endParaRPr>
          </a:p>
          <a:p>
            <a:pPr marL="0" indent="0" eaLnBrk="1" hangingPunct="1">
              <a:lnSpc>
                <a:spcPct val="105000"/>
              </a:lnSpc>
              <a:buFont typeface="Wingdings" panose="05000000000000000000" pitchFamily="2" charset="2"/>
              <a:buNone/>
              <a:defRPr/>
            </a:pPr>
            <a:r>
              <a:rPr lang="zh-CN" altLang="en-US" sz="2400" smtClean="0"/>
              <a:t>    用于保存本流水线段的执行结果，会使流水线的执行时间加长，是流水线中需要增加的主要硬件。</a:t>
            </a:r>
            <a:endParaRPr lang="zh-CN" altLang="en-US" sz="2400" smtClean="0"/>
          </a:p>
          <a:p>
            <a:pPr marL="0" indent="0" eaLnBrk="1" hangingPunct="1">
              <a:lnSpc>
                <a:spcPct val="105000"/>
              </a:lnSpc>
              <a:buClr>
                <a:srgbClr val="FF0000"/>
              </a:buClr>
              <a:defRPr/>
            </a:pPr>
            <a:r>
              <a:rPr lang="zh-CN" altLang="en-US" sz="2400" smtClean="0">
                <a:solidFill>
                  <a:srgbClr val="FF0000"/>
                </a:solidFill>
                <a:effectLst>
                  <a:outerShdw blurRad="38100" dist="38100" dir="2700000" algn="tl">
                    <a:srgbClr val="C0C0C0"/>
                  </a:outerShdw>
                </a:effectLst>
              </a:rPr>
              <a:t>  各流水段的时间应尽量相等</a:t>
            </a:r>
            <a:endParaRPr lang="zh-CN" altLang="en-US" sz="2400" smtClean="0">
              <a:solidFill>
                <a:srgbClr val="FF0000"/>
              </a:solidFill>
              <a:effectLst>
                <a:outerShdw blurRad="38100" dist="38100" dir="2700000" algn="tl">
                  <a:srgbClr val="C0C0C0"/>
                </a:outerShdw>
              </a:effectLst>
            </a:endParaRPr>
          </a:p>
          <a:p>
            <a:pPr marL="0" indent="0" eaLnBrk="1" hangingPunct="1">
              <a:lnSpc>
                <a:spcPct val="105000"/>
              </a:lnSpc>
              <a:buFont typeface="Wingdings" panose="05000000000000000000" pitchFamily="2" charset="2"/>
              <a:buNone/>
              <a:defRPr/>
            </a:pPr>
            <a:r>
              <a:rPr lang="zh-CN" altLang="en-US" sz="2400" smtClean="0"/>
              <a:t>    流水线处理机的基本时钟周期等于时间最长的流水段的时间长度。</a:t>
            </a:r>
            <a:endParaRPr lang="zh-CN" altLang="en-US" sz="2400" smtClean="0"/>
          </a:p>
          <a:p>
            <a:pPr marL="0" indent="0" eaLnBrk="1" hangingPunct="1">
              <a:lnSpc>
                <a:spcPct val="105000"/>
              </a:lnSpc>
              <a:buClr>
                <a:srgbClr val="FF0000"/>
              </a:buClr>
              <a:defRPr/>
            </a:pPr>
            <a:r>
              <a:rPr lang="zh-CN" altLang="en-US" sz="2400" smtClean="0">
                <a:solidFill>
                  <a:srgbClr val="FF0000"/>
                </a:solidFill>
                <a:effectLst>
                  <a:outerShdw blurRad="38100" dist="38100" dir="2700000" algn="tl">
                    <a:srgbClr val="C0C0C0"/>
                  </a:outerShdw>
                </a:effectLst>
              </a:rPr>
              <a:t>  流水线需要有“装入时间”和“排空时间”</a:t>
            </a:r>
            <a:r>
              <a:rPr lang="zh-CN" altLang="en-US" sz="2400" smtClean="0"/>
              <a:t> </a:t>
            </a:r>
            <a:endParaRPr lang="zh-CN" altLang="en-US" sz="2400" smtClean="0"/>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4226" name="Rectangle 2"/>
          <p:cNvSpPr>
            <a:spLocks noGrp="1" noChangeArrowheads="1"/>
          </p:cNvSpPr>
          <p:nvPr>
            <p:ph type="title"/>
          </p:nvPr>
        </p:nvSpPr>
        <p:spPr/>
        <p:txBody>
          <a:bodyPr/>
          <a:lstStyle/>
          <a:p>
            <a:pPr eaLnBrk="1" hangingPunct="1">
              <a:defRPr/>
            </a:pPr>
            <a:r>
              <a:rPr lang="zh-CN" altLang="en-US" smtClean="0"/>
              <a:t>流水线的分类</a:t>
            </a:r>
            <a:endParaRPr lang="zh-CN" altLang="en-US" smtClean="0"/>
          </a:p>
        </p:txBody>
      </p:sp>
      <p:sp>
        <p:nvSpPr>
          <p:cNvPr id="1741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endParaRPr lang="zh-CN" altLang="en-US" sz="1200" b="0">
              <a:latin typeface="Times New Roman" panose="02020603050405020304" pitchFamily="18" charset="0"/>
              <a:ea typeface="幼圆" panose="02010509060101010101" pitchFamily="49" charset="-122"/>
            </a:endParaRPr>
          </a:p>
        </p:txBody>
      </p:sp>
      <p:sp>
        <p:nvSpPr>
          <p:cNvPr id="17412" name="Rectangle 4"/>
          <p:cNvSpPr>
            <a:spLocks noGrp="1" noChangeArrowheads="1"/>
          </p:cNvSpPr>
          <p:nvPr>
            <p:ph type="body" idx="1"/>
          </p:nvPr>
        </p:nvSpPr>
        <p:spPr>
          <a:xfrm>
            <a:off x="809625" y="1989138"/>
            <a:ext cx="7958138" cy="1293812"/>
          </a:xfrm>
        </p:spPr>
        <p:txBody>
          <a:bodyPr/>
          <a:lstStyle/>
          <a:p>
            <a:pPr marL="0" indent="0" eaLnBrk="1" hangingPunct="1">
              <a:buFont typeface="Wingdings" panose="05000000000000000000" pitchFamily="2" charset="2"/>
              <a:buNone/>
            </a:pPr>
            <a:r>
              <a:rPr lang="zh-CN" altLang="en-US" dirty="0" smtClean="0"/>
              <a:t>        从不同的角度，按照不同的观点，可以将流水线分成多种不同的种类。</a:t>
            </a:r>
            <a:endParaRPr lang="zh-CN" altLang="en-US" dirty="0" smtClean="0"/>
          </a:p>
        </p:txBody>
      </p:sp>
      <p:sp>
        <p:nvSpPr>
          <p:cNvPr id="17413" name="Rectangle 5"/>
          <p:cNvSpPr>
            <a:spLocks noChangeArrowheads="1"/>
          </p:cNvSpPr>
          <p:nvPr/>
        </p:nvSpPr>
        <p:spPr bwMode="auto">
          <a:xfrm>
            <a:off x="2987675" y="3141663"/>
            <a:ext cx="2743200" cy="3311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74650" indent="-374650" eaLnBrk="0" hangingPunct="0">
              <a:buChar char="w"/>
              <a:defRPr kumimoji="1" sz="3200" b="1">
                <a:solidFill>
                  <a:schemeClr val="tx1"/>
                </a:solidFill>
                <a:latin typeface="Arial" panose="020B0604020202020204" pitchFamily="34" charset="0"/>
                <a:ea typeface="楷体_GB2312" pitchFamily="49" charset="-122"/>
              </a:defRPr>
            </a:lvl1pPr>
            <a:lvl2pPr marL="85090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270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891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1082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654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3022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79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937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110000"/>
              </a:lnSpc>
            </a:pPr>
            <a:r>
              <a:rPr lang="zh-CN" altLang="en-US">
                <a:latin typeface="楷体_GB2312" pitchFamily="49" charset="-122"/>
                <a:hlinkClick r:id="rId3" action="ppaction://hlinksldjump"/>
              </a:rPr>
              <a:t>分类一</a:t>
            </a:r>
            <a:endParaRPr lang="zh-CN" altLang="en-US">
              <a:latin typeface="楷体_GB2312" pitchFamily="49" charset="-122"/>
            </a:endParaRPr>
          </a:p>
          <a:p>
            <a:pPr eaLnBrk="1" hangingPunct="1">
              <a:lnSpc>
                <a:spcPct val="110000"/>
              </a:lnSpc>
            </a:pPr>
            <a:r>
              <a:rPr lang="zh-CN" altLang="en-US">
                <a:latin typeface="楷体_GB2312" pitchFamily="49" charset="-122"/>
                <a:hlinkClick r:id="rId4" action="ppaction://hlinksldjump"/>
              </a:rPr>
              <a:t>分类二 </a:t>
            </a:r>
            <a:endParaRPr lang="zh-CN" altLang="en-US">
              <a:latin typeface="楷体_GB2312" pitchFamily="49" charset="-122"/>
            </a:endParaRPr>
          </a:p>
          <a:p>
            <a:pPr eaLnBrk="1" hangingPunct="1">
              <a:lnSpc>
                <a:spcPct val="110000"/>
              </a:lnSpc>
            </a:pPr>
            <a:r>
              <a:rPr lang="zh-CN" altLang="en-US">
                <a:latin typeface="楷体_GB2312" pitchFamily="49" charset="-122"/>
                <a:hlinkClick r:id="rId5" action="ppaction://hlinksldjump"/>
              </a:rPr>
              <a:t>分类三</a:t>
            </a:r>
            <a:endParaRPr lang="zh-CN" altLang="en-US">
              <a:latin typeface="楷体_GB2312" pitchFamily="49" charset="-122"/>
            </a:endParaRPr>
          </a:p>
          <a:p>
            <a:pPr eaLnBrk="1" hangingPunct="1">
              <a:lnSpc>
                <a:spcPct val="110000"/>
              </a:lnSpc>
            </a:pPr>
            <a:r>
              <a:rPr lang="zh-CN" altLang="en-US">
                <a:latin typeface="楷体_GB2312" pitchFamily="49" charset="-122"/>
                <a:hlinkClick r:id="rId6" action="ppaction://hlinksldjump"/>
              </a:rPr>
              <a:t>分类四</a:t>
            </a:r>
            <a:endParaRPr lang="zh-CN" altLang="en-US">
              <a:latin typeface="楷体_GB2312" pitchFamily="49" charset="-122"/>
            </a:endParaRPr>
          </a:p>
          <a:p>
            <a:pPr eaLnBrk="1" hangingPunct="1">
              <a:lnSpc>
                <a:spcPct val="110000"/>
              </a:lnSpc>
            </a:pPr>
            <a:r>
              <a:rPr lang="zh-CN" altLang="en-US">
                <a:latin typeface="楷体_GB2312" pitchFamily="49" charset="-122"/>
                <a:hlinkClick r:id="rId7" action="ppaction://hlinksldjump"/>
              </a:rPr>
              <a:t>其它</a:t>
            </a:r>
            <a:endParaRPr lang="zh-CN" altLang="en-US">
              <a:latin typeface="楷体_GB2312" pitchFamily="49" charset="-122"/>
            </a:endParaRPr>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2"/>
          <p:cNvSpPr>
            <a:spLocks noGrp="1" noChangeArrowheads="1"/>
          </p:cNvSpPr>
          <p:nvPr>
            <p:ph type="title"/>
          </p:nvPr>
        </p:nvSpPr>
        <p:spPr/>
        <p:txBody>
          <a:bodyPr/>
          <a:lstStyle/>
          <a:p>
            <a:pPr eaLnBrk="1" hangingPunct="1">
              <a:defRPr/>
            </a:pPr>
            <a:r>
              <a:rPr lang="zh-CN" altLang="en-US" smtClean="0"/>
              <a:t>分类一</a:t>
            </a:r>
            <a:endParaRPr lang="zh-CN" altLang="en-US" smtClean="0"/>
          </a:p>
        </p:txBody>
      </p:sp>
      <p:sp>
        <p:nvSpPr>
          <p:cNvPr id="18435" name="Rectangle 7"/>
          <p:cNvSpPr>
            <a:spLocks noGrp="1" noChangeArrowheads="1"/>
          </p:cNvSpPr>
          <p:nvPr>
            <p:ph type="body" sz="half" idx="1"/>
          </p:nvPr>
        </p:nvSpPr>
        <p:spPr>
          <a:xfrm>
            <a:off x="809625" y="2627313"/>
            <a:ext cx="3902075" cy="3754437"/>
          </a:xfrm>
          <a:solidFill>
            <a:srgbClr val="FFFF99"/>
          </a:solidFill>
          <a:ln w="57150" cmpd="thickThin">
            <a:solidFill>
              <a:schemeClr val="tx1"/>
            </a:solidFill>
            <a:miter lim="800000"/>
          </a:ln>
        </p:spPr>
        <p:txBody>
          <a:bodyPr/>
          <a:lstStyle/>
          <a:p>
            <a:pPr marL="0" indent="0" eaLnBrk="1" hangingPunct="1">
              <a:lnSpc>
                <a:spcPct val="105000"/>
              </a:lnSpc>
              <a:buClr>
                <a:srgbClr val="FF0000"/>
              </a:buClr>
            </a:pPr>
            <a:r>
              <a:rPr lang="zh-CN" altLang="en-US" sz="2400" smtClean="0">
                <a:solidFill>
                  <a:srgbClr val="FF0000"/>
                </a:solidFill>
              </a:rPr>
              <a:t> 单功能流水线</a:t>
            </a:r>
            <a:endParaRPr lang="zh-CN" altLang="en-US" sz="2400" smtClean="0">
              <a:solidFill>
                <a:srgbClr val="FF0000"/>
              </a:solidFill>
            </a:endParaRPr>
          </a:p>
          <a:p>
            <a:pPr marL="0" indent="0" eaLnBrk="1" hangingPunct="1">
              <a:lnSpc>
                <a:spcPct val="105000"/>
              </a:lnSpc>
              <a:buFont typeface="Wingdings" panose="05000000000000000000" pitchFamily="2" charset="2"/>
              <a:buNone/>
            </a:pPr>
            <a:r>
              <a:rPr lang="zh-CN" altLang="en-US" sz="2400" smtClean="0"/>
              <a:t>   只能完成一种固定功能的流水线。例如：</a:t>
            </a:r>
            <a:r>
              <a:rPr lang="en-US" altLang="zh-CN" sz="2400" smtClean="0"/>
              <a:t>Cray-1</a:t>
            </a:r>
            <a:r>
              <a:rPr lang="zh-CN" altLang="en-US" sz="2400" smtClean="0"/>
              <a:t>计算机中有12条；</a:t>
            </a:r>
            <a:r>
              <a:rPr lang="en-US" altLang="zh-CN" sz="2400" smtClean="0"/>
              <a:t>YH-1</a:t>
            </a:r>
            <a:r>
              <a:rPr lang="zh-CN" altLang="en-US" sz="2400" smtClean="0"/>
              <a:t>计算机有18条；</a:t>
            </a:r>
            <a:r>
              <a:rPr lang="en-US" altLang="zh-CN" sz="2400" smtClean="0"/>
              <a:t>Pentium</a:t>
            </a:r>
            <a:r>
              <a:rPr lang="zh-CN" altLang="en-US" sz="2400" smtClean="0"/>
              <a:t>有一条5段定点和一条8段浮点流水线；</a:t>
            </a:r>
            <a:r>
              <a:rPr lang="en-US" altLang="zh-CN" sz="2400" smtClean="0"/>
              <a:t>PentiumⅢ</a:t>
            </a:r>
            <a:r>
              <a:rPr lang="zh-CN" altLang="en-US" sz="2400" smtClean="0"/>
              <a:t>有两条定点和一条浮点指令流水线。</a:t>
            </a:r>
            <a:endParaRPr lang="zh-CN" altLang="en-US" sz="2400" smtClean="0"/>
          </a:p>
        </p:txBody>
      </p:sp>
      <p:sp>
        <p:nvSpPr>
          <p:cNvPr id="18436" name="Rectangle 8"/>
          <p:cNvSpPr>
            <a:spLocks noGrp="1" noChangeArrowheads="1"/>
          </p:cNvSpPr>
          <p:nvPr>
            <p:ph type="body" sz="half" idx="2"/>
          </p:nvPr>
        </p:nvSpPr>
        <p:spPr>
          <a:xfrm>
            <a:off x="4864100" y="2627313"/>
            <a:ext cx="3903663" cy="3754437"/>
          </a:xfrm>
          <a:solidFill>
            <a:srgbClr val="CCFFFF"/>
          </a:solidFill>
          <a:ln w="57150" cmpd="thickThin">
            <a:solidFill>
              <a:schemeClr val="tx1"/>
            </a:solidFill>
            <a:miter lim="800000"/>
          </a:ln>
        </p:spPr>
        <p:txBody>
          <a:bodyPr/>
          <a:lstStyle/>
          <a:p>
            <a:pPr marL="0" indent="0" eaLnBrk="1" hangingPunct="1">
              <a:lnSpc>
                <a:spcPct val="105000"/>
              </a:lnSpc>
              <a:buClr>
                <a:srgbClr val="FF0000"/>
              </a:buClr>
            </a:pPr>
            <a:r>
              <a:rPr lang="zh-CN" altLang="en-US" sz="2400" smtClean="0">
                <a:solidFill>
                  <a:srgbClr val="FF0000"/>
                </a:solidFill>
              </a:rPr>
              <a:t> 多功能流水线</a:t>
            </a:r>
            <a:endParaRPr lang="zh-CN" altLang="en-US" sz="2400" smtClean="0">
              <a:solidFill>
                <a:srgbClr val="FF0000"/>
              </a:solidFill>
            </a:endParaRPr>
          </a:p>
          <a:p>
            <a:pPr marL="0" indent="0" eaLnBrk="1" hangingPunct="1">
              <a:lnSpc>
                <a:spcPct val="105000"/>
              </a:lnSpc>
              <a:buFont typeface="Wingdings" panose="05000000000000000000" pitchFamily="2" charset="2"/>
              <a:buNone/>
            </a:pPr>
            <a:r>
              <a:rPr lang="zh-CN" altLang="en-US" sz="2400" smtClean="0"/>
              <a:t>   流水线的各段通过不同连接实现不同功能。例如：</a:t>
            </a:r>
            <a:r>
              <a:rPr lang="en-US" altLang="zh-CN" sz="2400" smtClean="0"/>
              <a:t>Texas</a:t>
            </a:r>
            <a:r>
              <a:rPr lang="zh-CN" altLang="en-US" sz="2400" smtClean="0"/>
              <a:t>公司的</a:t>
            </a:r>
            <a:r>
              <a:rPr lang="en-US" altLang="zh-CN" sz="2400" smtClean="0"/>
              <a:t>ASC</a:t>
            </a:r>
            <a:r>
              <a:rPr lang="zh-CN" altLang="en-US" sz="2400" smtClean="0"/>
              <a:t>机，8段流水线，能够实现：定点加减法、定点乘法、浮点加法、浮点乘法、逻辑运算、移位操作、数据转换、向量运算等。</a:t>
            </a:r>
            <a:endParaRPr lang="zh-CN" altLang="en-US" sz="2400" smtClean="0"/>
          </a:p>
        </p:txBody>
      </p:sp>
      <p:sp>
        <p:nvSpPr>
          <p:cNvPr id="1843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流水线的分类</a:t>
            </a:r>
            <a:endParaRPr lang="zh-CN" altLang="en-US" sz="1200" b="0">
              <a:latin typeface="Times New Roman" panose="02020603050405020304" pitchFamily="18" charset="0"/>
              <a:ea typeface="幼圆" panose="02010509060101010101" pitchFamily="49" charset="-122"/>
            </a:endParaRPr>
          </a:p>
        </p:txBody>
      </p:sp>
      <p:sp>
        <p:nvSpPr>
          <p:cNvPr id="18438" name="Rectangle 9"/>
          <p:cNvSpPr>
            <a:spLocks noChangeArrowheads="1"/>
          </p:cNvSpPr>
          <p:nvPr/>
        </p:nvSpPr>
        <p:spPr bwMode="auto">
          <a:xfrm>
            <a:off x="755650" y="1989138"/>
            <a:ext cx="7958138" cy="452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6517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8427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3375"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22475"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4796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368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3940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512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latin typeface="Times New Roman" panose="02020603050405020304" pitchFamily="18" charset="0"/>
              </a:rPr>
              <a:t>按流水线具有功能的多少来分，可分为：</a:t>
            </a:r>
            <a:endParaRPr lang="zh-CN" altLang="en-US" sz="2400">
              <a:latin typeface="Times New Roman" panose="02020603050405020304" pitchFamily="18" charset="0"/>
            </a:endParaRPr>
          </a:p>
        </p:txBody>
      </p:sp>
      <p:sp>
        <p:nvSpPr>
          <p:cNvPr id="18439" name="Text Box 1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1752600" y="6172200"/>
            <a:ext cx="57912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2400">
                <a:latin typeface="Comic Sans MS" panose="030F0702030302020204" pitchFamily="66" charset="0"/>
              </a:rPr>
              <a:t>Texas</a:t>
            </a:r>
            <a:r>
              <a:rPr lang="zh-CN" altLang="en-US" sz="2400">
                <a:latin typeface="Comic Sans MS" panose="030F0702030302020204" pitchFamily="66" charset="0"/>
              </a:rPr>
              <a:t>公司</a:t>
            </a:r>
            <a:r>
              <a:rPr lang="en-US" altLang="zh-CN" sz="2400">
                <a:latin typeface="Comic Sans MS" panose="030F0702030302020204" pitchFamily="66" charset="0"/>
              </a:rPr>
              <a:t>ASC</a:t>
            </a:r>
            <a:r>
              <a:rPr lang="zh-CN" altLang="en-US" sz="2400">
                <a:latin typeface="Comic Sans MS" panose="030F0702030302020204" pitchFamily="66" charset="0"/>
              </a:rPr>
              <a:t>机上的8段多功能流水线</a:t>
            </a:r>
            <a:endParaRPr lang="zh-CN" altLang="en-US" sz="2400">
              <a:latin typeface="Comic Sans MS" panose="030F0702030302020204" pitchFamily="66" charset="0"/>
            </a:endParaRPr>
          </a:p>
        </p:txBody>
      </p:sp>
      <p:sp>
        <p:nvSpPr>
          <p:cNvPr id="19459" name="Text Box 181"/>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graphicFrame>
        <p:nvGraphicFramePr>
          <p:cNvPr id="19460" name="Object 184" descr="蓝色砂纸"/>
          <p:cNvGraphicFramePr>
            <a:graphicFrameLocks noChangeAspect="1"/>
          </p:cNvGraphicFramePr>
          <p:nvPr/>
        </p:nvGraphicFramePr>
        <p:xfrm>
          <a:off x="533400" y="304800"/>
          <a:ext cx="8077200" cy="5654675"/>
        </p:xfrm>
        <a:graphic>
          <a:graphicData uri="http://schemas.openxmlformats.org/presentationml/2006/ole">
            <mc:AlternateContent xmlns:mc="http://schemas.openxmlformats.org/markup-compatibility/2006">
              <mc:Choice xmlns:v="urn:schemas-microsoft-com:vml" Requires="v">
                <p:oleObj spid="_x0000_s19549" name="文档" r:id="rId1" imgW="5260975" imgH="4732020" progId="Word.Document.8">
                  <p:embed/>
                </p:oleObj>
              </mc:Choice>
              <mc:Fallback>
                <p:oleObj name="文档" r:id="rId1" imgW="5260975" imgH="4732020" progId="Word.Document.8">
                  <p:embed/>
                  <p:pic>
                    <p:nvPicPr>
                      <p:cNvPr id="0" name="Object 184" descr="蓝色砂纸"/>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3400" y="304800"/>
                        <a:ext cx="8077200" cy="5654675"/>
                      </a:xfrm>
                      <a:prstGeom prst="rect">
                        <a:avLst/>
                      </a:prstGeom>
                      <a:blipFill dpi="0" rotWithShape="0">
                        <a:blip r:embed="rId3"/>
                        <a:srcRect/>
                        <a:tile tx="0" ty="0" sx="100000" sy="100000" flip="none" algn="tl"/>
                      </a:blipFill>
                      <a:ln>
                        <a:noFill/>
                      </a:ln>
                      <a:effectLst>
                        <a:outerShdw dist="107763" dir="2700000" algn="ctr" rotWithShape="0">
                          <a:srgbClr val="808080"/>
                        </a:outerShdw>
                      </a:effectLst>
                      <a:extLs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Tree>
  </p:cSld>
  <p:clrMapOvr>
    <a:masterClrMapping/>
  </p:clrMapOvr>
  <p:transition spd="slow">
    <p:random/>
    <p:sndAc>
      <p:stSnd>
        <p:snd r:embed="rId4" name="projctor.wav"/>
      </p:stSnd>
    </p:sndAc>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2"/>
          <p:cNvSpPr>
            <a:spLocks noGrp="1" noChangeArrowheads="1"/>
          </p:cNvSpPr>
          <p:nvPr>
            <p:ph type="title"/>
          </p:nvPr>
        </p:nvSpPr>
        <p:spPr/>
        <p:txBody>
          <a:bodyPr/>
          <a:lstStyle/>
          <a:p>
            <a:pPr eaLnBrk="1" hangingPunct="1">
              <a:defRPr/>
            </a:pPr>
            <a:r>
              <a:rPr lang="zh-CN" altLang="en-US" smtClean="0"/>
              <a:t>分类二</a:t>
            </a:r>
            <a:endParaRPr lang="zh-CN" altLang="en-US" smtClean="0"/>
          </a:p>
        </p:txBody>
      </p:sp>
      <p:sp>
        <p:nvSpPr>
          <p:cNvPr id="2048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流水线的分类</a:t>
            </a:r>
            <a:endParaRPr lang="zh-CN" altLang="en-US" sz="1200" b="0">
              <a:latin typeface="Times New Roman" panose="02020603050405020304" pitchFamily="18" charset="0"/>
              <a:ea typeface="幼圆" panose="02010509060101010101" pitchFamily="49" charset="-122"/>
            </a:endParaRPr>
          </a:p>
        </p:txBody>
      </p:sp>
      <p:sp>
        <p:nvSpPr>
          <p:cNvPr id="20484" name="Rectangle 4"/>
          <p:cNvSpPr>
            <a:spLocks noGrp="1" noChangeArrowheads="1"/>
          </p:cNvSpPr>
          <p:nvPr>
            <p:ph type="body" idx="1"/>
          </p:nvPr>
        </p:nvSpPr>
        <p:spPr>
          <a:xfrm>
            <a:off x="809625" y="1989138"/>
            <a:ext cx="7958138" cy="2246312"/>
          </a:xfrm>
        </p:spPr>
        <p:txBody>
          <a:bodyPr/>
          <a:lstStyle/>
          <a:p>
            <a:pPr marL="0" indent="0" eaLnBrk="1" hangingPunct="1">
              <a:lnSpc>
                <a:spcPct val="120000"/>
              </a:lnSpc>
              <a:buFont typeface="Wingdings" panose="05000000000000000000" pitchFamily="2" charset="2"/>
              <a:buNone/>
            </a:pPr>
            <a:r>
              <a:rPr lang="zh-CN" altLang="en-US" smtClean="0"/>
              <a:t>        在多功能流水线中，按照在同一时间内是否能够连接成多种方式，同时执行多种功能，可以将多功能流水线分为：</a:t>
            </a:r>
            <a:endParaRPr lang="zh-CN" altLang="en-US" smtClean="0"/>
          </a:p>
        </p:txBody>
      </p:sp>
      <p:sp>
        <p:nvSpPr>
          <p:cNvPr id="20485" name="Rectangle 5"/>
          <p:cNvSpPr>
            <a:spLocks noChangeArrowheads="1"/>
          </p:cNvSpPr>
          <p:nvPr/>
        </p:nvSpPr>
        <p:spPr bwMode="auto">
          <a:xfrm>
            <a:off x="2916238" y="4005263"/>
            <a:ext cx="3241675" cy="1976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74650" indent="-374650" eaLnBrk="0" hangingPunct="0">
              <a:buChar char="w"/>
              <a:defRPr kumimoji="1" sz="3200" b="1">
                <a:solidFill>
                  <a:schemeClr val="tx1"/>
                </a:solidFill>
                <a:latin typeface="Arial" panose="020B0604020202020204" pitchFamily="34" charset="0"/>
                <a:ea typeface="楷体_GB2312" pitchFamily="49" charset="-122"/>
              </a:defRPr>
            </a:lvl1pPr>
            <a:lvl2pPr marL="85090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270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891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1082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654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3022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79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937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170000"/>
              </a:lnSpc>
            </a:pPr>
            <a:r>
              <a:rPr lang="zh-CN" altLang="en-US">
                <a:latin typeface="Times New Roman" panose="02020603050405020304" pitchFamily="18" charset="0"/>
                <a:hlinkClick r:id="rId4" action="ppaction://hlinksldjump"/>
              </a:rPr>
              <a:t>静态流水线</a:t>
            </a:r>
            <a:endParaRPr lang="zh-CN" altLang="en-US">
              <a:latin typeface="Times New Roman" panose="02020603050405020304" pitchFamily="18" charset="0"/>
            </a:endParaRPr>
          </a:p>
          <a:p>
            <a:pPr algn="ctr" eaLnBrk="1" hangingPunct="1">
              <a:lnSpc>
                <a:spcPct val="170000"/>
              </a:lnSpc>
            </a:pPr>
            <a:r>
              <a:rPr lang="zh-CN" altLang="en-US">
                <a:latin typeface="Times New Roman" panose="02020603050405020304" pitchFamily="18" charset="0"/>
                <a:hlinkClick r:id="rId5" action="ppaction://hlinksldjump"/>
              </a:rPr>
              <a:t>动态流水线</a:t>
            </a:r>
            <a:endParaRPr lang="zh-CN" altLang="en-US">
              <a:latin typeface="Times New Roman" panose="02020603050405020304" pitchFamily="18" charset="0"/>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7778" name="Rectangle 2"/>
          <p:cNvSpPr>
            <a:spLocks noGrp="1" noChangeArrowheads="1"/>
          </p:cNvSpPr>
          <p:nvPr>
            <p:ph type="title"/>
          </p:nvPr>
        </p:nvSpPr>
        <p:spPr/>
        <p:txBody>
          <a:bodyPr/>
          <a:lstStyle/>
          <a:p>
            <a:pPr eaLnBrk="1" hangingPunct="1">
              <a:defRPr/>
            </a:pPr>
            <a:r>
              <a:rPr lang="zh-CN" altLang="en-US" smtClean="0"/>
              <a:t>静态流水线</a:t>
            </a:r>
            <a:endParaRPr lang="zh-CN" altLang="en-US" smtClean="0"/>
          </a:p>
        </p:txBody>
      </p:sp>
      <p:sp>
        <p:nvSpPr>
          <p:cNvPr id="2150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流水线的分类</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分类二</a:t>
            </a:r>
            <a:endParaRPr lang="zh-CN" altLang="en-US" sz="1200" b="0">
              <a:latin typeface="Times New Roman" panose="02020603050405020304" pitchFamily="18" charset="0"/>
              <a:ea typeface="幼圆" panose="02010509060101010101" pitchFamily="49" charset="-122"/>
            </a:endParaRPr>
          </a:p>
        </p:txBody>
      </p:sp>
      <p:sp>
        <p:nvSpPr>
          <p:cNvPr id="21508" name="Rectangle 6"/>
          <p:cNvSpPr>
            <a:spLocks noGrp="1" noChangeArrowheads="1"/>
          </p:cNvSpPr>
          <p:nvPr>
            <p:ph type="body" idx="1"/>
          </p:nvPr>
        </p:nvSpPr>
        <p:spPr>
          <a:xfrm>
            <a:off x="827088" y="2133600"/>
            <a:ext cx="1476375" cy="4032250"/>
          </a:xfrm>
          <a:solidFill>
            <a:srgbClr val="99FF66"/>
          </a:solidFill>
          <a:ln w="57150" cmpd="thickThin">
            <a:noFill/>
            <a:miter lim="800000"/>
          </a:ln>
          <a:effectLst>
            <a:glow rad="101600">
              <a:schemeClr val="accent1">
                <a:satMod val="175000"/>
                <a:alpha val="40000"/>
              </a:schemeClr>
            </a:glow>
            <a:outerShdw blurRad="50800" dist="38100" dir="2700000" algn="tl" rotWithShape="0">
              <a:prstClr val="black">
                <a:alpha val="40000"/>
              </a:prstClr>
            </a:outerShdw>
          </a:effectLst>
          <a:extLs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lstStyle/>
          <a:p>
            <a:pPr marL="0" indent="0" eaLnBrk="1" hangingPunct="1">
              <a:lnSpc>
                <a:spcPct val="120000"/>
              </a:lnSpc>
              <a:buNone/>
            </a:pPr>
            <a:r>
              <a:rPr lang="zh-CN" altLang="en-US" sz="2400">
                <a:latin typeface="楷体_GB2312" pitchFamily="49" charset="-122"/>
              </a:rPr>
              <a:t>  同一段时间内，各个功能段只能按照一种方式连接，实现一种固定的功能。</a:t>
            </a:r>
            <a:endParaRPr lang="zh-CN" altLang="en-US" sz="2400">
              <a:latin typeface="楷体_GB2312" pitchFamily="49" charset="-122"/>
            </a:endParaRPr>
          </a:p>
        </p:txBody>
      </p:sp>
      <p:grpSp>
        <p:nvGrpSpPr>
          <p:cNvPr id="21509" name="Group 76"/>
          <p:cNvGrpSpPr/>
          <p:nvPr/>
        </p:nvGrpSpPr>
        <p:grpSpPr bwMode="auto">
          <a:xfrm>
            <a:off x="2514600" y="2133600"/>
            <a:ext cx="6400800" cy="4114800"/>
            <a:chOff x="1584" y="1344"/>
            <a:chExt cx="4032" cy="2592"/>
          </a:xfrm>
        </p:grpSpPr>
        <p:sp>
          <p:nvSpPr>
            <p:cNvPr id="21510" name="Rectangle 8"/>
            <p:cNvSpPr>
              <a:spLocks noChangeArrowheads="1"/>
            </p:cNvSpPr>
            <p:nvPr/>
          </p:nvSpPr>
          <p:spPr bwMode="auto">
            <a:xfrm>
              <a:off x="2144" y="3432"/>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21511" name="Line 9"/>
            <p:cNvSpPr>
              <a:spLocks noChangeShapeType="1"/>
            </p:cNvSpPr>
            <p:nvPr/>
          </p:nvSpPr>
          <p:spPr bwMode="auto">
            <a:xfrm flipV="1">
              <a:off x="2144" y="1560"/>
              <a:ext cx="0" cy="2124"/>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12" name="Rectangle 10"/>
            <p:cNvSpPr>
              <a:spLocks noChangeArrowheads="1"/>
            </p:cNvSpPr>
            <p:nvPr/>
          </p:nvSpPr>
          <p:spPr bwMode="auto">
            <a:xfrm>
              <a:off x="5205" y="3684"/>
              <a:ext cx="411"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时间</a:t>
              </a:r>
              <a:endParaRPr lang="zh-CN" altLang="zh-CN" sz="2400">
                <a:solidFill>
                  <a:schemeClr val="tx2"/>
                </a:solidFill>
              </a:endParaRPr>
            </a:p>
          </p:txBody>
        </p:sp>
        <p:sp>
          <p:nvSpPr>
            <p:cNvPr id="21513" name="Rectangle 11"/>
            <p:cNvSpPr>
              <a:spLocks noChangeArrowheads="1"/>
            </p:cNvSpPr>
            <p:nvPr/>
          </p:nvSpPr>
          <p:spPr bwMode="auto">
            <a:xfrm>
              <a:off x="1920" y="1344"/>
              <a:ext cx="48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空间</a:t>
              </a:r>
              <a:endParaRPr lang="zh-CN" altLang="zh-CN" sz="2400">
                <a:solidFill>
                  <a:schemeClr val="tx2"/>
                </a:solidFill>
              </a:endParaRPr>
            </a:p>
          </p:txBody>
        </p:sp>
        <p:sp>
          <p:nvSpPr>
            <p:cNvPr id="21514" name="Rectangle 12"/>
            <p:cNvSpPr>
              <a:spLocks noChangeArrowheads="1"/>
            </p:cNvSpPr>
            <p:nvPr/>
          </p:nvSpPr>
          <p:spPr bwMode="auto">
            <a:xfrm>
              <a:off x="1995" y="3720"/>
              <a:ext cx="261" cy="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0</a:t>
              </a:r>
              <a:endParaRPr lang="zh-CN" altLang="zh-CN" sz="2400">
                <a:solidFill>
                  <a:schemeClr val="tx2"/>
                </a:solidFill>
              </a:endParaRPr>
            </a:p>
          </p:txBody>
        </p:sp>
        <p:sp>
          <p:nvSpPr>
            <p:cNvPr id="21515" name="Rectangle 13"/>
            <p:cNvSpPr>
              <a:spLocks noChangeArrowheads="1"/>
            </p:cNvSpPr>
            <p:nvPr/>
          </p:nvSpPr>
          <p:spPr bwMode="auto">
            <a:xfrm>
              <a:off x="2368" y="3432"/>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21516" name="Rectangle 14"/>
            <p:cNvSpPr>
              <a:spLocks noChangeArrowheads="1"/>
            </p:cNvSpPr>
            <p:nvPr/>
          </p:nvSpPr>
          <p:spPr bwMode="auto">
            <a:xfrm>
              <a:off x="2592" y="3432"/>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21517" name="Rectangle 15"/>
            <p:cNvSpPr>
              <a:spLocks noChangeArrowheads="1"/>
            </p:cNvSpPr>
            <p:nvPr/>
          </p:nvSpPr>
          <p:spPr bwMode="auto">
            <a:xfrm>
              <a:off x="2816" y="3432"/>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1518" name="Rectangle 16"/>
            <p:cNvSpPr>
              <a:spLocks noChangeArrowheads="1"/>
            </p:cNvSpPr>
            <p:nvPr/>
          </p:nvSpPr>
          <p:spPr bwMode="auto">
            <a:xfrm>
              <a:off x="3040" y="3432"/>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21519" name="Rectangle 17"/>
            <p:cNvSpPr>
              <a:spLocks noChangeArrowheads="1"/>
            </p:cNvSpPr>
            <p:nvPr/>
          </p:nvSpPr>
          <p:spPr bwMode="auto">
            <a:xfrm>
              <a:off x="2368" y="3180"/>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21520" name="Rectangle 18"/>
            <p:cNvSpPr>
              <a:spLocks noChangeArrowheads="1"/>
            </p:cNvSpPr>
            <p:nvPr/>
          </p:nvSpPr>
          <p:spPr bwMode="auto">
            <a:xfrm>
              <a:off x="2592" y="3180"/>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21521" name="Rectangle 19"/>
            <p:cNvSpPr>
              <a:spLocks noChangeArrowheads="1"/>
            </p:cNvSpPr>
            <p:nvPr/>
          </p:nvSpPr>
          <p:spPr bwMode="auto">
            <a:xfrm>
              <a:off x="2816" y="3180"/>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21522" name="Rectangle 20"/>
            <p:cNvSpPr>
              <a:spLocks noChangeArrowheads="1"/>
            </p:cNvSpPr>
            <p:nvPr/>
          </p:nvSpPr>
          <p:spPr bwMode="auto">
            <a:xfrm>
              <a:off x="3040" y="3180"/>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1523" name="Rectangle 21"/>
            <p:cNvSpPr>
              <a:spLocks noChangeArrowheads="1"/>
            </p:cNvSpPr>
            <p:nvPr/>
          </p:nvSpPr>
          <p:spPr bwMode="auto">
            <a:xfrm>
              <a:off x="3264" y="3180"/>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21524" name="Rectangle 22"/>
            <p:cNvSpPr>
              <a:spLocks noChangeArrowheads="1"/>
            </p:cNvSpPr>
            <p:nvPr/>
          </p:nvSpPr>
          <p:spPr bwMode="auto">
            <a:xfrm>
              <a:off x="2592" y="2928"/>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21525" name="Rectangle 23"/>
            <p:cNvSpPr>
              <a:spLocks noChangeArrowheads="1"/>
            </p:cNvSpPr>
            <p:nvPr/>
          </p:nvSpPr>
          <p:spPr bwMode="auto">
            <a:xfrm>
              <a:off x="2816" y="2928"/>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21526" name="Rectangle 24"/>
            <p:cNvSpPr>
              <a:spLocks noChangeArrowheads="1"/>
            </p:cNvSpPr>
            <p:nvPr/>
          </p:nvSpPr>
          <p:spPr bwMode="auto">
            <a:xfrm>
              <a:off x="3040" y="2928"/>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21527" name="Rectangle 25"/>
            <p:cNvSpPr>
              <a:spLocks noChangeArrowheads="1"/>
            </p:cNvSpPr>
            <p:nvPr/>
          </p:nvSpPr>
          <p:spPr bwMode="auto">
            <a:xfrm>
              <a:off x="3264" y="2928"/>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1528" name="Rectangle 26"/>
            <p:cNvSpPr>
              <a:spLocks noChangeArrowheads="1"/>
            </p:cNvSpPr>
            <p:nvPr/>
          </p:nvSpPr>
          <p:spPr bwMode="auto">
            <a:xfrm>
              <a:off x="3488" y="2928"/>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21529" name="Rectangle 27"/>
            <p:cNvSpPr>
              <a:spLocks noChangeArrowheads="1"/>
            </p:cNvSpPr>
            <p:nvPr/>
          </p:nvSpPr>
          <p:spPr bwMode="auto">
            <a:xfrm>
              <a:off x="2816" y="2676"/>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21530" name="Rectangle 28"/>
            <p:cNvSpPr>
              <a:spLocks noChangeArrowheads="1"/>
            </p:cNvSpPr>
            <p:nvPr/>
          </p:nvSpPr>
          <p:spPr bwMode="auto">
            <a:xfrm>
              <a:off x="3040" y="2676"/>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21531" name="Rectangle 29"/>
            <p:cNvSpPr>
              <a:spLocks noChangeArrowheads="1"/>
            </p:cNvSpPr>
            <p:nvPr/>
          </p:nvSpPr>
          <p:spPr bwMode="auto">
            <a:xfrm>
              <a:off x="3264" y="2676"/>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21532" name="Rectangle 30"/>
            <p:cNvSpPr>
              <a:spLocks noChangeArrowheads="1"/>
            </p:cNvSpPr>
            <p:nvPr/>
          </p:nvSpPr>
          <p:spPr bwMode="auto">
            <a:xfrm>
              <a:off x="3488" y="2676"/>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1533" name="Rectangle 31"/>
            <p:cNvSpPr>
              <a:spLocks noChangeArrowheads="1"/>
            </p:cNvSpPr>
            <p:nvPr/>
          </p:nvSpPr>
          <p:spPr bwMode="auto">
            <a:xfrm>
              <a:off x="3712" y="2676"/>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21534" name="Rectangle 32"/>
            <p:cNvSpPr>
              <a:spLocks noChangeArrowheads="1"/>
            </p:cNvSpPr>
            <p:nvPr/>
          </p:nvSpPr>
          <p:spPr bwMode="auto">
            <a:xfrm>
              <a:off x="3040" y="2424"/>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21535" name="Rectangle 33"/>
            <p:cNvSpPr>
              <a:spLocks noChangeArrowheads="1"/>
            </p:cNvSpPr>
            <p:nvPr/>
          </p:nvSpPr>
          <p:spPr bwMode="auto">
            <a:xfrm>
              <a:off x="3264" y="2424"/>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21536" name="Rectangle 34"/>
            <p:cNvSpPr>
              <a:spLocks noChangeArrowheads="1"/>
            </p:cNvSpPr>
            <p:nvPr/>
          </p:nvSpPr>
          <p:spPr bwMode="auto">
            <a:xfrm>
              <a:off x="3488" y="2424"/>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21537" name="Rectangle 35"/>
            <p:cNvSpPr>
              <a:spLocks noChangeArrowheads="1"/>
            </p:cNvSpPr>
            <p:nvPr/>
          </p:nvSpPr>
          <p:spPr bwMode="auto">
            <a:xfrm>
              <a:off x="3712" y="2424"/>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1538" name="Rectangle 36"/>
            <p:cNvSpPr>
              <a:spLocks noChangeArrowheads="1"/>
            </p:cNvSpPr>
            <p:nvPr/>
          </p:nvSpPr>
          <p:spPr bwMode="auto">
            <a:xfrm>
              <a:off x="3936" y="2424"/>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21539" name="Rectangle 37"/>
            <p:cNvSpPr>
              <a:spLocks noChangeArrowheads="1"/>
            </p:cNvSpPr>
            <p:nvPr/>
          </p:nvSpPr>
          <p:spPr bwMode="auto">
            <a:xfrm>
              <a:off x="3264" y="1668"/>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21540" name="Rectangle 38"/>
            <p:cNvSpPr>
              <a:spLocks noChangeArrowheads="1"/>
            </p:cNvSpPr>
            <p:nvPr/>
          </p:nvSpPr>
          <p:spPr bwMode="auto">
            <a:xfrm>
              <a:off x="3488" y="1668"/>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21541" name="Rectangle 39"/>
            <p:cNvSpPr>
              <a:spLocks noChangeArrowheads="1"/>
            </p:cNvSpPr>
            <p:nvPr/>
          </p:nvSpPr>
          <p:spPr bwMode="auto">
            <a:xfrm>
              <a:off x="3712" y="1668"/>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21542" name="Rectangle 40"/>
            <p:cNvSpPr>
              <a:spLocks noChangeArrowheads="1"/>
            </p:cNvSpPr>
            <p:nvPr/>
          </p:nvSpPr>
          <p:spPr bwMode="auto">
            <a:xfrm>
              <a:off x="3936" y="1668"/>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1543" name="Rectangle 41"/>
            <p:cNvSpPr>
              <a:spLocks noChangeArrowheads="1"/>
            </p:cNvSpPr>
            <p:nvPr/>
          </p:nvSpPr>
          <p:spPr bwMode="auto">
            <a:xfrm>
              <a:off x="4160" y="1668"/>
              <a:ext cx="224" cy="25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21544" name="Line 42"/>
            <p:cNvSpPr>
              <a:spLocks noChangeShapeType="1"/>
            </p:cNvSpPr>
            <p:nvPr/>
          </p:nvSpPr>
          <p:spPr bwMode="auto">
            <a:xfrm flipV="1">
              <a:off x="3264" y="1920"/>
              <a:ext cx="0" cy="504"/>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45" name="Line 43"/>
            <p:cNvSpPr>
              <a:spLocks noChangeShapeType="1"/>
            </p:cNvSpPr>
            <p:nvPr/>
          </p:nvSpPr>
          <p:spPr bwMode="auto">
            <a:xfrm flipV="1">
              <a:off x="3488" y="1920"/>
              <a:ext cx="0" cy="1764"/>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46" name="Line 44"/>
            <p:cNvSpPr>
              <a:spLocks noChangeShapeType="1"/>
            </p:cNvSpPr>
            <p:nvPr/>
          </p:nvSpPr>
          <p:spPr bwMode="auto">
            <a:xfrm flipV="1">
              <a:off x="3712" y="1920"/>
              <a:ext cx="0" cy="1764"/>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47" name="Line 45"/>
            <p:cNvSpPr>
              <a:spLocks noChangeShapeType="1"/>
            </p:cNvSpPr>
            <p:nvPr/>
          </p:nvSpPr>
          <p:spPr bwMode="auto">
            <a:xfrm flipV="1">
              <a:off x="4160" y="1920"/>
              <a:ext cx="0" cy="1764"/>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48" name="Rectangle 46"/>
            <p:cNvSpPr>
              <a:spLocks noChangeArrowheads="1"/>
            </p:cNvSpPr>
            <p:nvPr/>
          </p:nvSpPr>
          <p:spPr bwMode="auto">
            <a:xfrm>
              <a:off x="4384" y="3432"/>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endParaRPr lang="zh-CN" altLang="zh-CN" sz="2400">
                <a:solidFill>
                  <a:schemeClr val="bg1"/>
                </a:solidFill>
              </a:endParaRPr>
            </a:p>
          </p:txBody>
        </p:sp>
        <p:sp>
          <p:nvSpPr>
            <p:cNvPr id="21549" name="Rectangle 47"/>
            <p:cNvSpPr>
              <a:spLocks noChangeArrowheads="1"/>
            </p:cNvSpPr>
            <p:nvPr/>
          </p:nvSpPr>
          <p:spPr bwMode="auto">
            <a:xfrm>
              <a:off x="4608" y="3432"/>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endParaRPr lang="zh-CN" altLang="zh-CN" sz="2400">
                <a:solidFill>
                  <a:schemeClr val="bg1"/>
                </a:solidFill>
              </a:endParaRPr>
            </a:p>
          </p:txBody>
        </p:sp>
        <p:sp>
          <p:nvSpPr>
            <p:cNvPr id="21550" name="Rectangle 48"/>
            <p:cNvSpPr>
              <a:spLocks noChangeArrowheads="1"/>
            </p:cNvSpPr>
            <p:nvPr/>
          </p:nvSpPr>
          <p:spPr bwMode="auto">
            <a:xfrm>
              <a:off x="4832" y="3432"/>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3</a:t>
              </a:r>
              <a:endParaRPr lang="zh-CN" altLang="zh-CN" sz="2400">
                <a:solidFill>
                  <a:schemeClr val="bg1"/>
                </a:solidFill>
              </a:endParaRPr>
            </a:p>
          </p:txBody>
        </p:sp>
        <p:sp>
          <p:nvSpPr>
            <p:cNvPr id="21551" name="Rectangle 49"/>
            <p:cNvSpPr>
              <a:spLocks noChangeArrowheads="1"/>
            </p:cNvSpPr>
            <p:nvPr/>
          </p:nvSpPr>
          <p:spPr bwMode="auto">
            <a:xfrm>
              <a:off x="5056" y="3432"/>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4</a:t>
              </a:r>
              <a:endParaRPr lang="zh-CN" altLang="zh-CN" sz="2400">
                <a:solidFill>
                  <a:schemeClr val="bg1"/>
                </a:solidFill>
              </a:endParaRPr>
            </a:p>
          </p:txBody>
        </p:sp>
        <p:sp>
          <p:nvSpPr>
            <p:cNvPr id="21552" name="Rectangle 50"/>
            <p:cNvSpPr>
              <a:spLocks noChangeArrowheads="1"/>
            </p:cNvSpPr>
            <p:nvPr/>
          </p:nvSpPr>
          <p:spPr bwMode="auto">
            <a:xfrm>
              <a:off x="5280" y="3432"/>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endParaRPr lang="zh-CN" altLang="zh-CN" sz="2400">
                <a:solidFill>
                  <a:schemeClr val="bg1"/>
                </a:solidFill>
              </a:endParaRPr>
            </a:p>
          </p:txBody>
        </p:sp>
        <p:sp>
          <p:nvSpPr>
            <p:cNvPr id="21553" name="Rectangle 51"/>
            <p:cNvSpPr>
              <a:spLocks noChangeArrowheads="1"/>
            </p:cNvSpPr>
            <p:nvPr/>
          </p:nvSpPr>
          <p:spPr bwMode="auto">
            <a:xfrm>
              <a:off x="4608" y="2172"/>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endParaRPr lang="zh-CN" altLang="zh-CN" sz="2400">
                <a:solidFill>
                  <a:schemeClr val="bg1"/>
                </a:solidFill>
              </a:endParaRPr>
            </a:p>
          </p:txBody>
        </p:sp>
        <p:sp>
          <p:nvSpPr>
            <p:cNvPr id="21554" name="Rectangle 52"/>
            <p:cNvSpPr>
              <a:spLocks noChangeArrowheads="1"/>
            </p:cNvSpPr>
            <p:nvPr/>
          </p:nvSpPr>
          <p:spPr bwMode="auto">
            <a:xfrm>
              <a:off x="4832" y="2172"/>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endParaRPr lang="zh-CN" altLang="zh-CN" sz="2400">
                <a:solidFill>
                  <a:schemeClr val="bg1"/>
                </a:solidFill>
              </a:endParaRPr>
            </a:p>
          </p:txBody>
        </p:sp>
        <p:sp>
          <p:nvSpPr>
            <p:cNvPr id="21555" name="Rectangle 53"/>
            <p:cNvSpPr>
              <a:spLocks noChangeArrowheads="1"/>
            </p:cNvSpPr>
            <p:nvPr/>
          </p:nvSpPr>
          <p:spPr bwMode="auto">
            <a:xfrm>
              <a:off x="5056" y="2172"/>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3</a:t>
              </a:r>
              <a:endParaRPr lang="zh-CN" altLang="zh-CN" sz="2400">
                <a:solidFill>
                  <a:schemeClr val="bg1"/>
                </a:solidFill>
              </a:endParaRPr>
            </a:p>
          </p:txBody>
        </p:sp>
        <p:sp>
          <p:nvSpPr>
            <p:cNvPr id="21556" name="Rectangle 54"/>
            <p:cNvSpPr>
              <a:spLocks noChangeArrowheads="1"/>
            </p:cNvSpPr>
            <p:nvPr/>
          </p:nvSpPr>
          <p:spPr bwMode="auto">
            <a:xfrm>
              <a:off x="5280" y="2172"/>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endParaRPr lang="zh-CN" altLang="zh-CN" sz="2400">
                <a:solidFill>
                  <a:schemeClr val="bg1"/>
                </a:solidFill>
              </a:endParaRPr>
            </a:p>
          </p:txBody>
        </p:sp>
        <p:sp>
          <p:nvSpPr>
            <p:cNvPr id="21557" name="Line 55"/>
            <p:cNvSpPr>
              <a:spLocks noChangeShapeType="1"/>
            </p:cNvSpPr>
            <p:nvPr/>
          </p:nvSpPr>
          <p:spPr bwMode="auto">
            <a:xfrm flipV="1">
              <a:off x="4608" y="2172"/>
              <a:ext cx="0" cy="126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58" name="Line 56"/>
            <p:cNvSpPr>
              <a:spLocks noChangeShapeType="1"/>
            </p:cNvSpPr>
            <p:nvPr/>
          </p:nvSpPr>
          <p:spPr bwMode="auto">
            <a:xfrm flipV="1">
              <a:off x="4832" y="2424"/>
              <a:ext cx="0" cy="100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59" name="Line 57"/>
            <p:cNvSpPr>
              <a:spLocks noChangeShapeType="1"/>
            </p:cNvSpPr>
            <p:nvPr/>
          </p:nvSpPr>
          <p:spPr bwMode="auto">
            <a:xfrm flipV="1">
              <a:off x="5056" y="2424"/>
              <a:ext cx="0" cy="100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60" name="Line 58"/>
            <p:cNvSpPr>
              <a:spLocks noChangeShapeType="1"/>
            </p:cNvSpPr>
            <p:nvPr/>
          </p:nvSpPr>
          <p:spPr bwMode="auto">
            <a:xfrm flipV="1">
              <a:off x="5280" y="2424"/>
              <a:ext cx="0" cy="100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61" name="Rectangle 59"/>
            <p:cNvSpPr>
              <a:spLocks noChangeArrowheads="1"/>
            </p:cNvSpPr>
            <p:nvPr/>
          </p:nvSpPr>
          <p:spPr bwMode="auto">
            <a:xfrm>
              <a:off x="4832" y="1920"/>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endParaRPr lang="zh-CN" altLang="zh-CN" sz="2400">
                <a:solidFill>
                  <a:schemeClr val="bg1"/>
                </a:solidFill>
              </a:endParaRPr>
            </a:p>
          </p:txBody>
        </p:sp>
        <p:sp>
          <p:nvSpPr>
            <p:cNvPr id="21562" name="Rectangle 60"/>
            <p:cNvSpPr>
              <a:spLocks noChangeArrowheads="1"/>
            </p:cNvSpPr>
            <p:nvPr/>
          </p:nvSpPr>
          <p:spPr bwMode="auto">
            <a:xfrm>
              <a:off x="5056" y="1920"/>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endParaRPr lang="zh-CN" altLang="zh-CN" sz="2400">
                <a:solidFill>
                  <a:schemeClr val="bg1"/>
                </a:solidFill>
              </a:endParaRPr>
            </a:p>
          </p:txBody>
        </p:sp>
        <p:sp>
          <p:nvSpPr>
            <p:cNvPr id="21563" name="Rectangle 61"/>
            <p:cNvSpPr>
              <a:spLocks noChangeArrowheads="1"/>
            </p:cNvSpPr>
            <p:nvPr/>
          </p:nvSpPr>
          <p:spPr bwMode="auto">
            <a:xfrm>
              <a:off x="5280" y="1920"/>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endParaRPr lang="zh-CN" altLang="zh-CN" sz="2400">
                <a:solidFill>
                  <a:schemeClr val="bg1"/>
                </a:solidFill>
              </a:endParaRPr>
            </a:p>
          </p:txBody>
        </p:sp>
        <p:sp>
          <p:nvSpPr>
            <p:cNvPr id="21564" name="Rectangle 62"/>
            <p:cNvSpPr>
              <a:spLocks noChangeArrowheads="1"/>
            </p:cNvSpPr>
            <p:nvPr/>
          </p:nvSpPr>
          <p:spPr bwMode="auto">
            <a:xfrm>
              <a:off x="5280" y="1668"/>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endParaRPr lang="zh-CN" altLang="zh-CN" sz="2400">
                <a:solidFill>
                  <a:schemeClr val="bg1"/>
                </a:solidFill>
              </a:endParaRPr>
            </a:p>
          </p:txBody>
        </p:sp>
        <p:sp>
          <p:nvSpPr>
            <p:cNvPr id="21565" name="Rectangle 63"/>
            <p:cNvSpPr>
              <a:spLocks noChangeArrowheads="1"/>
            </p:cNvSpPr>
            <p:nvPr/>
          </p:nvSpPr>
          <p:spPr bwMode="auto">
            <a:xfrm>
              <a:off x="5056" y="1668"/>
              <a:ext cx="224" cy="252"/>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endParaRPr lang="zh-CN" altLang="zh-CN" sz="2400">
                <a:solidFill>
                  <a:schemeClr val="bg1"/>
                </a:solidFill>
              </a:endParaRPr>
            </a:p>
          </p:txBody>
        </p:sp>
        <p:sp>
          <p:nvSpPr>
            <p:cNvPr id="21566" name="Rectangle 64"/>
            <p:cNvSpPr>
              <a:spLocks noChangeArrowheads="1"/>
            </p:cNvSpPr>
            <p:nvPr/>
          </p:nvSpPr>
          <p:spPr bwMode="auto">
            <a:xfrm>
              <a:off x="1584" y="3432"/>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输入</a:t>
              </a:r>
              <a:endParaRPr lang="zh-CN" altLang="zh-CN" sz="2400">
                <a:solidFill>
                  <a:schemeClr val="tx2"/>
                </a:solidFill>
              </a:endParaRPr>
            </a:p>
          </p:txBody>
        </p:sp>
        <p:sp>
          <p:nvSpPr>
            <p:cNvPr id="21567" name="Rectangle 65"/>
            <p:cNvSpPr>
              <a:spLocks noChangeArrowheads="1"/>
            </p:cNvSpPr>
            <p:nvPr/>
          </p:nvSpPr>
          <p:spPr bwMode="auto">
            <a:xfrm>
              <a:off x="1584" y="3185"/>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求阶差</a:t>
              </a:r>
              <a:endParaRPr lang="zh-CN" altLang="zh-CN" sz="2400">
                <a:solidFill>
                  <a:schemeClr val="tx2"/>
                </a:solidFill>
              </a:endParaRPr>
            </a:p>
          </p:txBody>
        </p:sp>
        <p:sp>
          <p:nvSpPr>
            <p:cNvPr id="21568" name="Rectangle 66"/>
            <p:cNvSpPr>
              <a:spLocks noChangeArrowheads="1"/>
            </p:cNvSpPr>
            <p:nvPr/>
          </p:nvSpPr>
          <p:spPr bwMode="auto">
            <a:xfrm>
              <a:off x="1584" y="2939"/>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对阶</a:t>
              </a:r>
              <a:endParaRPr lang="zh-CN" altLang="zh-CN" sz="2400">
                <a:solidFill>
                  <a:schemeClr val="tx2"/>
                </a:solidFill>
              </a:endParaRPr>
            </a:p>
          </p:txBody>
        </p:sp>
        <p:sp>
          <p:nvSpPr>
            <p:cNvPr id="21569" name="Rectangle 67"/>
            <p:cNvSpPr>
              <a:spLocks noChangeArrowheads="1"/>
            </p:cNvSpPr>
            <p:nvPr/>
          </p:nvSpPr>
          <p:spPr bwMode="auto">
            <a:xfrm>
              <a:off x="1584" y="2692"/>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尾数加</a:t>
              </a:r>
              <a:endParaRPr lang="zh-CN" altLang="zh-CN" sz="2400">
                <a:solidFill>
                  <a:schemeClr val="tx2"/>
                </a:solidFill>
              </a:endParaRPr>
            </a:p>
          </p:txBody>
        </p:sp>
        <p:sp>
          <p:nvSpPr>
            <p:cNvPr id="21570" name="Rectangle 68"/>
            <p:cNvSpPr>
              <a:spLocks noChangeArrowheads="1"/>
            </p:cNvSpPr>
            <p:nvPr/>
          </p:nvSpPr>
          <p:spPr bwMode="auto">
            <a:xfrm>
              <a:off x="1584" y="2445"/>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规格化</a:t>
              </a:r>
              <a:endParaRPr lang="zh-CN" altLang="zh-CN" sz="2400">
                <a:solidFill>
                  <a:schemeClr val="tx2"/>
                </a:solidFill>
              </a:endParaRPr>
            </a:p>
          </p:txBody>
        </p:sp>
        <p:sp>
          <p:nvSpPr>
            <p:cNvPr id="21571" name="Rectangle 69"/>
            <p:cNvSpPr>
              <a:spLocks noChangeArrowheads="1"/>
            </p:cNvSpPr>
            <p:nvPr/>
          </p:nvSpPr>
          <p:spPr bwMode="auto">
            <a:xfrm>
              <a:off x="1584" y="2198"/>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尾数乘</a:t>
              </a:r>
              <a:endParaRPr lang="zh-CN" altLang="zh-CN" sz="2400">
                <a:solidFill>
                  <a:schemeClr val="tx2"/>
                </a:solidFill>
              </a:endParaRPr>
            </a:p>
          </p:txBody>
        </p:sp>
        <p:sp>
          <p:nvSpPr>
            <p:cNvPr id="21572" name="Rectangle 70"/>
            <p:cNvSpPr>
              <a:spLocks noChangeArrowheads="1"/>
            </p:cNvSpPr>
            <p:nvPr/>
          </p:nvSpPr>
          <p:spPr bwMode="auto">
            <a:xfrm>
              <a:off x="1584" y="1952"/>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累加</a:t>
              </a:r>
              <a:endParaRPr lang="zh-CN" altLang="zh-CN" sz="2400">
                <a:solidFill>
                  <a:schemeClr val="tx2"/>
                </a:solidFill>
              </a:endParaRPr>
            </a:p>
          </p:txBody>
        </p:sp>
        <p:sp>
          <p:nvSpPr>
            <p:cNvPr id="21573" name="Rectangle 71"/>
            <p:cNvSpPr>
              <a:spLocks noChangeArrowheads="1"/>
            </p:cNvSpPr>
            <p:nvPr/>
          </p:nvSpPr>
          <p:spPr bwMode="auto">
            <a:xfrm>
              <a:off x="1584" y="1704"/>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输出</a:t>
              </a:r>
              <a:endParaRPr lang="zh-CN" altLang="zh-CN" sz="2400">
                <a:solidFill>
                  <a:schemeClr val="tx2"/>
                </a:solidFill>
              </a:endParaRPr>
            </a:p>
          </p:txBody>
        </p:sp>
        <p:sp>
          <p:nvSpPr>
            <p:cNvPr id="21574" name="Rectangle 72"/>
            <p:cNvSpPr>
              <a:spLocks noChangeArrowheads="1"/>
            </p:cNvSpPr>
            <p:nvPr/>
          </p:nvSpPr>
          <p:spPr bwMode="auto">
            <a:xfrm>
              <a:off x="3488" y="1416"/>
              <a:ext cx="821"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浮点加法</a:t>
              </a:r>
              <a:endParaRPr lang="zh-CN" altLang="zh-CN" sz="2400">
                <a:solidFill>
                  <a:schemeClr val="tx2"/>
                </a:solidFill>
              </a:endParaRPr>
            </a:p>
          </p:txBody>
        </p:sp>
        <p:sp>
          <p:nvSpPr>
            <p:cNvPr id="21575" name="Rectangle 73"/>
            <p:cNvSpPr>
              <a:spLocks noChangeArrowheads="1"/>
            </p:cNvSpPr>
            <p:nvPr/>
          </p:nvSpPr>
          <p:spPr bwMode="auto">
            <a:xfrm>
              <a:off x="4645" y="1416"/>
              <a:ext cx="82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定点乘法</a:t>
              </a:r>
              <a:endParaRPr lang="zh-CN" altLang="zh-CN" sz="2400">
                <a:solidFill>
                  <a:schemeClr val="tx2"/>
                </a:solidFill>
              </a:endParaRPr>
            </a:p>
          </p:txBody>
        </p:sp>
        <p:sp>
          <p:nvSpPr>
            <p:cNvPr id="21576" name="Line 74"/>
            <p:cNvSpPr>
              <a:spLocks noChangeShapeType="1"/>
            </p:cNvSpPr>
            <p:nvPr/>
          </p:nvSpPr>
          <p:spPr bwMode="auto">
            <a:xfrm>
              <a:off x="2144" y="3684"/>
              <a:ext cx="347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77" name="Line 75"/>
            <p:cNvSpPr>
              <a:spLocks noChangeShapeType="1"/>
            </p:cNvSpPr>
            <p:nvPr/>
          </p:nvSpPr>
          <p:spPr bwMode="auto">
            <a:xfrm flipV="1">
              <a:off x="4384" y="1920"/>
              <a:ext cx="0" cy="1764"/>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802" name="Rectangle 2"/>
          <p:cNvSpPr>
            <a:spLocks noGrp="1" noChangeArrowheads="1"/>
          </p:cNvSpPr>
          <p:nvPr>
            <p:ph type="title"/>
          </p:nvPr>
        </p:nvSpPr>
        <p:spPr/>
        <p:txBody>
          <a:bodyPr/>
          <a:lstStyle/>
          <a:p>
            <a:pPr eaLnBrk="1" hangingPunct="1">
              <a:defRPr/>
            </a:pPr>
            <a:r>
              <a:rPr lang="zh-CN" altLang="en-US" smtClean="0"/>
              <a:t>动态流水线</a:t>
            </a:r>
            <a:endParaRPr lang="zh-CN" altLang="en-US" smtClean="0"/>
          </a:p>
        </p:txBody>
      </p:sp>
      <p:sp>
        <p:nvSpPr>
          <p:cNvPr id="22531" name="Rectangle 5"/>
          <p:cNvSpPr>
            <a:spLocks noGrp="1" noChangeArrowheads="1"/>
          </p:cNvSpPr>
          <p:nvPr>
            <p:ph type="body" idx="1"/>
          </p:nvPr>
        </p:nvSpPr>
        <p:spPr>
          <a:xfrm>
            <a:off x="755576" y="2349624"/>
            <a:ext cx="1476375" cy="3743672"/>
          </a:xfrm>
          <a:solidFill>
            <a:srgbClr val="99FF66"/>
          </a:solidFill>
          <a:ln w="57150" cmpd="thickThin">
            <a:noFill/>
            <a:miter lim="800000"/>
          </a:ln>
          <a:effectLst>
            <a:glow rad="101600">
              <a:schemeClr val="accent1">
                <a:satMod val="175000"/>
                <a:alpha val="40000"/>
              </a:schemeClr>
            </a:glow>
            <a:outerShdw blurRad="50800" dist="38100" dir="2700000" algn="tl" rotWithShape="0">
              <a:prstClr val="black">
                <a:alpha val="40000"/>
              </a:prstClr>
            </a:outerShdw>
          </a:effectLst>
        </p:spPr>
        <p:txBody>
          <a:bodyPr/>
          <a:lstStyle/>
          <a:p>
            <a:pPr marL="0" indent="0" eaLnBrk="1" hangingPunct="1">
              <a:lnSpc>
                <a:spcPct val="120000"/>
              </a:lnSpc>
              <a:buFont typeface="Wingdings" panose="05000000000000000000" pitchFamily="2" charset="2"/>
              <a:buNone/>
            </a:pPr>
            <a:r>
              <a:rPr lang="zh-CN" altLang="en-US" sz="2400" dirty="0" smtClean="0">
                <a:latin typeface="楷体_GB2312" pitchFamily="49" charset="-122"/>
              </a:rPr>
              <a:t>  在同一段时间内，各段可以按照不同的方式连接，同时执行多种功能。</a:t>
            </a:r>
            <a:endParaRPr lang="zh-CN" altLang="en-US" sz="2400" dirty="0" smtClean="0">
              <a:latin typeface="楷体_GB2312" pitchFamily="49" charset="-122"/>
            </a:endParaRPr>
          </a:p>
        </p:txBody>
      </p:sp>
      <p:grpSp>
        <p:nvGrpSpPr>
          <p:cNvPr id="22532" name="Group 6"/>
          <p:cNvGrpSpPr/>
          <p:nvPr/>
        </p:nvGrpSpPr>
        <p:grpSpPr bwMode="auto">
          <a:xfrm>
            <a:off x="2438400" y="2209800"/>
            <a:ext cx="6477000" cy="4114800"/>
            <a:chOff x="336" y="336"/>
            <a:chExt cx="5184" cy="3456"/>
          </a:xfrm>
        </p:grpSpPr>
        <p:sp>
          <p:nvSpPr>
            <p:cNvPr id="22534" name="Line 7"/>
            <p:cNvSpPr>
              <a:spLocks noChangeShapeType="1"/>
            </p:cNvSpPr>
            <p:nvPr/>
          </p:nvSpPr>
          <p:spPr bwMode="auto">
            <a:xfrm flipV="1">
              <a:off x="3360" y="1104"/>
              <a:ext cx="0" cy="672"/>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535" name="Rectangle 8"/>
            <p:cNvSpPr>
              <a:spLocks noChangeArrowheads="1"/>
            </p:cNvSpPr>
            <p:nvPr/>
          </p:nvSpPr>
          <p:spPr bwMode="auto">
            <a:xfrm>
              <a:off x="1056" y="3120"/>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22536" name="Line 9"/>
            <p:cNvSpPr>
              <a:spLocks noChangeShapeType="1"/>
            </p:cNvSpPr>
            <p:nvPr/>
          </p:nvSpPr>
          <p:spPr bwMode="auto">
            <a:xfrm flipV="1">
              <a:off x="1056" y="624"/>
              <a:ext cx="0" cy="2832"/>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537" name="Rectangle 10"/>
            <p:cNvSpPr>
              <a:spLocks noChangeArrowheads="1"/>
            </p:cNvSpPr>
            <p:nvPr/>
          </p:nvSpPr>
          <p:spPr bwMode="auto">
            <a:xfrm>
              <a:off x="4992" y="3456"/>
              <a:ext cx="528"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时间</a:t>
              </a:r>
              <a:endParaRPr lang="zh-CN" altLang="zh-CN" sz="2400">
                <a:solidFill>
                  <a:schemeClr val="tx2"/>
                </a:solidFill>
              </a:endParaRPr>
            </a:p>
          </p:txBody>
        </p:sp>
        <p:sp>
          <p:nvSpPr>
            <p:cNvPr id="22538" name="Rectangle 11"/>
            <p:cNvSpPr>
              <a:spLocks noChangeArrowheads="1"/>
            </p:cNvSpPr>
            <p:nvPr/>
          </p:nvSpPr>
          <p:spPr bwMode="auto">
            <a:xfrm>
              <a:off x="768" y="336"/>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空间</a:t>
              </a:r>
              <a:endParaRPr lang="zh-CN" altLang="zh-CN" sz="2400">
                <a:solidFill>
                  <a:schemeClr val="tx2"/>
                </a:solidFill>
              </a:endParaRPr>
            </a:p>
          </p:txBody>
        </p:sp>
        <p:sp>
          <p:nvSpPr>
            <p:cNvPr id="22539" name="Rectangle 12"/>
            <p:cNvSpPr>
              <a:spLocks noChangeArrowheads="1"/>
            </p:cNvSpPr>
            <p:nvPr/>
          </p:nvSpPr>
          <p:spPr bwMode="auto">
            <a:xfrm>
              <a:off x="864" y="350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0</a:t>
              </a:r>
              <a:endParaRPr lang="zh-CN" altLang="zh-CN" sz="2400">
                <a:solidFill>
                  <a:schemeClr val="tx2"/>
                </a:solidFill>
              </a:endParaRPr>
            </a:p>
          </p:txBody>
        </p:sp>
        <p:sp>
          <p:nvSpPr>
            <p:cNvPr id="22540" name="Rectangle 13"/>
            <p:cNvSpPr>
              <a:spLocks noChangeArrowheads="1"/>
            </p:cNvSpPr>
            <p:nvPr/>
          </p:nvSpPr>
          <p:spPr bwMode="auto">
            <a:xfrm>
              <a:off x="1344" y="3120"/>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22541" name="Rectangle 14"/>
            <p:cNvSpPr>
              <a:spLocks noChangeArrowheads="1"/>
            </p:cNvSpPr>
            <p:nvPr/>
          </p:nvSpPr>
          <p:spPr bwMode="auto">
            <a:xfrm>
              <a:off x="1632" y="3120"/>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22542" name="Rectangle 15"/>
            <p:cNvSpPr>
              <a:spLocks noChangeArrowheads="1"/>
            </p:cNvSpPr>
            <p:nvPr/>
          </p:nvSpPr>
          <p:spPr bwMode="auto">
            <a:xfrm>
              <a:off x="2208" y="3120"/>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2543" name="Rectangle 16"/>
            <p:cNvSpPr>
              <a:spLocks noChangeArrowheads="1"/>
            </p:cNvSpPr>
            <p:nvPr/>
          </p:nvSpPr>
          <p:spPr bwMode="auto">
            <a:xfrm>
              <a:off x="2496" y="3120"/>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22544" name="Rectangle 17"/>
            <p:cNvSpPr>
              <a:spLocks noChangeArrowheads="1"/>
            </p:cNvSpPr>
            <p:nvPr/>
          </p:nvSpPr>
          <p:spPr bwMode="auto">
            <a:xfrm>
              <a:off x="1344" y="2784"/>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22545" name="Rectangle 18"/>
            <p:cNvSpPr>
              <a:spLocks noChangeArrowheads="1"/>
            </p:cNvSpPr>
            <p:nvPr/>
          </p:nvSpPr>
          <p:spPr bwMode="auto">
            <a:xfrm>
              <a:off x="1632" y="2784"/>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22546" name="Rectangle 19"/>
            <p:cNvSpPr>
              <a:spLocks noChangeArrowheads="1"/>
            </p:cNvSpPr>
            <p:nvPr/>
          </p:nvSpPr>
          <p:spPr bwMode="auto">
            <a:xfrm>
              <a:off x="1920" y="2784"/>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22547" name="Rectangle 20"/>
            <p:cNvSpPr>
              <a:spLocks noChangeArrowheads="1"/>
            </p:cNvSpPr>
            <p:nvPr/>
          </p:nvSpPr>
          <p:spPr bwMode="auto">
            <a:xfrm>
              <a:off x="2496" y="2784"/>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2548" name="Rectangle 21"/>
            <p:cNvSpPr>
              <a:spLocks noChangeArrowheads="1"/>
            </p:cNvSpPr>
            <p:nvPr/>
          </p:nvSpPr>
          <p:spPr bwMode="auto">
            <a:xfrm>
              <a:off x="2784" y="2784"/>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22549" name="Rectangle 22"/>
            <p:cNvSpPr>
              <a:spLocks noChangeArrowheads="1"/>
            </p:cNvSpPr>
            <p:nvPr/>
          </p:nvSpPr>
          <p:spPr bwMode="auto">
            <a:xfrm>
              <a:off x="1632" y="2448"/>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22550" name="Rectangle 23"/>
            <p:cNvSpPr>
              <a:spLocks noChangeArrowheads="1"/>
            </p:cNvSpPr>
            <p:nvPr/>
          </p:nvSpPr>
          <p:spPr bwMode="auto">
            <a:xfrm>
              <a:off x="1920" y="2448"/>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22551" name="Rectangle 24"/>
            <p:cNvSpPr>
              <a:spLocks noChangeArrowheads="1"/>
            </p:cNvSpPr>
            <p:nvPr/>
          </p:nvSpPr>
          <p:spPr bwMode="auto">
            <a:xfrm>
              <a:off x="2208" y="2448"/>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22552" name="Rectangle 25"/>
            <p:cNvSpPr>
              <a:spLocks noChangeArrowheads="1"/>
            </p:cNvSpPr>
            <p:nvPr/>
          </p:nvSpPr>
          <p:spPr bwMode="auto">
            <a:xfrm>
              <a:off x="2784" y="2448"/>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2553" name="Rectangle 26"/>
            <p:cNvSpPr>
              <a:spLocks noChangeArrowheads="1"/>
            </p:cNvSpPr>
            <p:nvPr/>
          </p:nvSpPr>
          <p:spPr bwMode="auto">
            <a:xfrm>
              <a:off x="3072" y="2448"/>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22554" name="Rectangle 27"/>
            <p:cNvSpPr>
              <a:spLocks noChangeArrowheads="1"/>
            </p:cNvSpPr>
            <p:nvPr/>
          </p:nvSpPr>
          <p:spPr bwMode="auto">
            <a:xfrm>
              <a:off x="1920" y="2112"/>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22555" name="Rectangle 28"/>
            <p:cNvSpPr>
              <a:spLocks noChangeArrowheads="1"/>
            </p:cNvSpPr>
            <p:nvPr/>
          </p:nvSpPr>
          <p:spPr bwMode="auto">
            <a:xfrm>
              <a:off x="2208" y="2112"/>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22556" name="Rectangle 29"/>
            <p:cNvSpPr>
              <a:spLocks noChangeArrowheads="1"/>
            </p:cNvSpPr>
            <p:nvPr/>
          </p:nvSpPr>
          <p:spPr bwMode="auto">
            <a:xfrm>
              <a:off x="2496" y="2112"/>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22557" name="Rectangle 30"/>
            <p:cNvSpPr>
              <a:spLocks noChangeArrowheads="1"/>
            </p:cNvSpPr>
            <p:nvPr/>
          </p:nvSpPr>
          <p:spPr bwMode="auto">
            <a:xfrm>
              <a:off x="3072" y="2112"/>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2558" name="Rectangle 31"/>
            <p:cNvSpPr>
              <a:spLocks noChangeArrowheads="1"/>
            </p:cNvSpPr>
            <p:nvPr/>
          </p:nvSpPr>
          <p:spPr bwMode="auto">
            <a:xfrm>
              <a:off x="3360" y="2112"/>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22559" name="Rectangle 32"/>
            <p:cNvSpPr>
              <a:spLocks noChangeArrowheads="1"/>
            </p:cNvSpPr>
            <p:nvPr/>
          </p:nvSpPr>
          <p:spPr bwMode="auto">
            <a:xfrm>
              <a:off x="2208" y="1776"/>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22560" name="Rectangle 33"/>
            <p:cNvSpPr>
              <a:spLocks noChangeArrowheads="1"/>
            </p:cNvSpPr>
            <p:nvPr/>
          </p:nvSpPr>
          <p:spPr bwMode="auto">
            <a:xfrm>
              <a:off x="2496" y="1776"/>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22561" name="Rectangle 34"/>
            <p:cNvSpPr>
              <a:spLocks noChangeArrowheads="1"/>
            </p:cNvSpPr>
            <p:nvPr/>
          </p:nvSpPr>
          <p:spPr bwMode="auto">
            <a:xfrm>
              <a:off x="2784" y="1776"/>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22562" name="Rectangle 35"/>
            <p:cNvSpPr>
              <a:spLocks noChangeArrowheads="1"/>
            </p:cNvSpPr>
            <p:nvPr/>
          </p:nvSpPr>
          <p:spPr bwMode="auto">
            <a:xfrm>
              <a:off x="3360" y="1776"/>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2563" name="Rectangle 36"/>
            <p:cNvSpPr>
              <a:spLocks noChangeArrowheads="1"/>
            </p:cNvSpPr>
            <p:nvPr/>
          </p:nvSpPr>
          <p:spPr bwMode="auto">
            <a:xfrm>
              <a:off x="3648" y="1776"/>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22564" name="Rectangle 37"/>
            <p:cNvSpPr>
              <a:spLocks noChangeArrowheads="1"/>
            </p:cNvSpPr>
            <p:nvPr/>
          </p:nvSpPr>
          <p:spPr bwMode="auto">
            <a:xfrm>
              <a:off x="2496" y="768"/>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22565" name="Rectangle 38"/>
            <p:cNvSpPr>
              <a:spLocks noChangeArrowheads="1"/>
            </p:cNvSpPr>
            <p:nvPr/>
          </p:nvSpPr>
          <p:spPr bwMode="auto">
            <a:xfrm>
              <a:off x="2784" y="768"/>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22566" name="Rectangle 39"/>
            <p:cNvSpPr>
              <a:spLocks noChangeArrowheads="1"/>
            </p:cNvSpPr>
            <p:nvPr/>
          </p:nvSpPr>
          <p:spPr bwMode="auto">
            <a:xfrm>
              <a:off x="3072" y="768"/>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22567" name="Rectangle 40"/>
            <p:cNvSpPr>
              <a:spLocks noChangeArrowheads="1"/>
            </p:cNvSpPr>
            <p:nvPr/>
          </p:nvSpPr>
          <p:spPr bwMode="auto">
            <a:xfrm>
              <a:off x="3648" y="768"/>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2568" name="Rectangle 41"/>
            <p:cNvSpPr>
              <a:spLocks noChangeArrowheads="1"/>
            </p:cNvSpPr>
            <p:nvPr/>
          </p:nvSpPr>
          <p:spPr bwMode="auto">
            <a:xfrm>
              <a:off x="3936" y="768"/>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22569" name="Line 42"/>
            <p:cNvSpPr>
              <a:spLocks noChangeShapeType="1"/>
            </p:cNvSpPr>
            <p:nvPr/>
          </p:nvSpPr>
          <p:spPr bwMode="auto">
            <a:xfrm flipV="1">
              <a:off x="2496" y="1104"/>
              <a:ext cx="0" cy="672"/>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570" name="Line 43"/>
            <p:cNvSpPr>
              <a:spLocks noChangeShapeType="1"/>
            </p:cNvSpPr>
            <p:nvPr/>
          </p:nvSpPr>
          <p:spPr bwMode="auto">
            <a:xfrm flipV="1">
              <a:off x="3072" y="1104"/>
              <a:ext cx="0" cy="2352"/>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571" name="Rectangle 44"/>
            <p:cNvSpPr>
              <a:spLocks noChangeArrowheads="1"/>
            </p:cNvSpPr>
            <p:nvPr/>
          </p:nvSpPr>
          <p:spPr bwMode="auto">
            <a:xfrm>
              <a:off x="336" y="3120"/>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输入</a:t>
              </a:r>
              <a:endParaRPr lang="zh-CN" altLang="zh-CN" sz="2400">
                <a:solidFill>
                  <a:schemeClr val="tx2"/>
                </a:solidFill>
              </a:endParaRPr>
            </a:p>
          </p:txBody>
        </p:sp>
        <p:sp>
          <p:nvSpPr>
            <p:cNvPr id="22572" name="Rectangle 45"/>
            <p:cNvSpPr>
              <a:spLocks noChangeArrowheads="1"/>
            </p:cNvSpPr>
            <p:nvPr/>
          </p:nvSpPr>
          <p:spPr bwMode="auto">
            <a:xfrm>
              <a:off x="336" y="2791"/>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求阶差</a:t>
              </a:r>
              <a:endParaRPr lang="zh-CN" altLang="zh-CN" sz="2400">
                <a:solidFill>
                  <a:schemeClr val="tx2"/>
                </a:solidFill>
              </a:endParaRPr>
            </a:p>
          </p:txBody>
        </p:sp>
        <p:sp>
          <p:nvSpPr>
            <p:cNvPr id="22573" name="Rectangle 46"/>
            <p:cNvSpPr>
              <a:spLocks noChangeArrowheads="1"/>
            </p:cNvSpPr>
            <p:nvPr/>
          </p:nvSpPr>
          <p:spPr bwMode="auto">
            <a:xfrm>
              <a:off x="336" y="2462"/>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对阶</a:t>
              </a:r>
              <a:endParaRPr lang="zh-CN" altLang="zh-CN" sz="2400">
                <a:solidFill>
                  <a:schemeClr val="tx2"/>
                </a:solidFill>
              </a:endParaRPr>
            </a:p>
          </p:txBody>
        </p:sp>
        <p:sp>
          <p:nvSpPr>
            <p:cNvPr id="22574" name="Rectangle 47"/>
            <p:cNvSpPr>
              <a:spLocks noChangeArrowheads="1"/>
            </p:cNvSpPr>
            <p:nvPr/>
          </p:nvSpPr>
          <p:spPr bwMode="auto">
            <a:xfrm>
              <a:off x="336" y="2133"/>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尾数加</a:t>
              </a:r>
              <a:endParaRPr lang="zh-CN" altLang="zh-CN" sz="2400">
                <a:solidFill>
                  <a:schemeClr val="tx2"/>
                </a:solidFill>
              </a:endParaRPr>
            </a:p>
          </p:txBody>
        </p:sp>
        <p:sp>
          <p:nvSpPr>
            <p:cNvPr id="22575" name="Rectangle 48"/>
            <p:cNvSpPr>
              <a:spLocks noChangeArrowheads="1"/>
            </p:cNvSpPr>
            <p:nvPr/>
          </p:nvSpPr>
          <p:spPr bwMode="auto">
            <a:xfrm>
              <a:off x="336" y="1804"/>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规格化</a:t>
              </a:r>
              <a:endParaRPr lang="zh-CN" altLang="zh-CN" sz="2400">
                <a:solidFill>
                  <a:schemeClr val="tx2"/>
                </a:solidFill>
              </a:endParaRPr>
            </a:p>
          </p:txBody>
        </p:sp>
        <p:sp>
          <p:nvSpPr>
            <p:cNvPr id="22576" name="Rectangle 49"/>
            <p:cNvSpPr>
              <a:spLocks noChangeArrowheads="1"/>
            </p:cNvSpPr>
            <p:nvPr/>
          </p:nvSpPr>
          <p:spPr bwMode="auto">
            <a:xfrm>
              <a:off x="336" y="1475"/>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尾数乘</a:t>
              </a:r>
              <a:endParaRPr lang="zh-CN" altLang="zh-CN" sz="2400">
                <a:solidFill>
                  <a:schemeClr val="tx2"/>
                </a:solidFill>
              </a:endParaRPr>
            </a:p>
          </p:txBody>
        </p:sp>
        <p:sp>
          <p:nvSpPr>
            <p:cNvPr id="22577" name="Rectangle 50"/>
            <p:cNvSpPr>
              <a:spLocks noChangeArrowheads="1"/>
            </p:cNvSpPr>
            <p:nvPr/>
          </p:nvSpPr>
          <p:spPr bwMode="auto">
            <a:xfrm>
              <a:off x="336" y="1146"/>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累加</a:t>
              </a:r>
              <a:endParaRPr lang="zh-CN" altLang="zh-CN" sz="2400">
                <a:solidFill>
                  <a:schemeClr val="tx2"/>
                </a:solidFill>
              </a:endParaRPr>
            </a:p>
          </p:txBody>
        </p:sp>
        <p:sp>
          <p:nvSpPr>
            <p:cNvPr id="22578" name="Rectangle 51"/>
            <p:cNvSpPr>
              <a:spLocks noChangeArrowheads="1"/>
            </p:cNvSpPr>
            <p:nvPr/>
          </p:nvSpPr>
          <p:spPr bwMode="auto">
            <a:xfrm>
              <a:off x="336" y="816"/>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输出</a:t>
              </a:r>
              <a:endParaRPr lang="zh-CN" altLang="zh-CN" sz="2400">
                <a:solidFill>
                  <a:schemeClr val="tx2"/>
                </a:solidFill>
              </a:endParaRPr>
            </a:p>
          </p:txBody>
        </p:sp>
        <p:sp>
          <p:nvSpPr>
            <p:cNvPr id="22579" name="Rectangle 52"/>
            <p:cNvSpPr>
              <a:spLocks noChangeArrowheads="1"/>
            </p:cNvSpPr>
            <p:nvPr/>
          </p:nvSpPr>
          <p:spPr bwMode="auto">
            <a:xfrm>
              <a:off x="1920" y="3120"/>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2580" name="Rectangle 53"/>
            <p:cNvSpPr>
              <a:spLocks noChangeArrowheads="1"/>
            </p:cNvSpPr>
            <p:nvPr/>
          </p:nvSpPr>
          <p:spPr bwMode="auto">
            <a:xfrm>
              <a:off x="2208" y="2784"/>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2581" name="Rectangle 54"/>
            <p:cNvSpPr>
              <a:spLocks noChangeArrowheads="1"/>
            </p:cNvSpPr>
            <p:nvPr/>
          </p:nvSpPr>
          <p:spPr bwMode="auto">
            <a:xfrm>
              <a:off x="2496" y="2448"/>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2582" name="Rectangle 55"/>
            <p:cNvSpPr>
              <a:spLocks noChangeArrowheads="1"/>
            </p:cNvSpPr>
            <p:nvPr/>
          </p:nvSpPr>
          <p:spPr bwMode="auto">
            <a:xfrm>
              <a:off x="2784" y="2112"/>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2583" name="Rectangle 56"/>
            <p:cNvSpPr>
              <a:spLocks noChangeArrowheads="1"/>
            </p:cNvSpPr>
            <p:nvPr/>
          </p:nvSpPr>
          <p:spPr bwMode="auto">
            <a:xfrm>
              <a:off x="3072" y="1776"/>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2584" name="Rectangle 57"/>
            <p:cNvSpPr>
              <a:spLocks noChangeArrowheads="1"/>
            </p:cNvSpPr>
            <p:nvPr/>
          </p:nvSpPr>
          <p:spPr bwMode="auto">
            <a:xfrm>
              <a:off x="3360" y="768"/>
              <a:ext cx="288" cy="33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22585" name="Rectangle 58"/>
            <p:cNvSpPr>
              <a:spLocks noChangeArrowheads="1"/>
            </p:cNvSpPr>
            <p:nvPr/>
          </p:nvSpPr>
          <p:spPr bwMode="auto">
            <a:xfrm>
              <a:off x="3360" y="312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endParaRPr lang="zh-CN" altLang="zh-CN" sz="2400">
                <a:solidFill>
                  <a:schemeClr val="bg1"/>
                </a:solidFill>
              </a:endParaRPr>
            </a:p>
          </p:txBody>
        </p:sp>
        <p:sp>
          <p:nvSpPr>
            <p:cNvPr id="22586" name="Rectangle 59"/>
            <p:cNvSpPr>
              <a:spLocks noChangeArrowheads="1"/>
            </p:cNvSpPr>
            <p:nvPr/>
          </p:nvSpPr>
          <p:spPr bwMode="auto">
            <a:xfrm>
              <a:off x="3648" y="312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endParaRPr lang="zh-CN" altLang="zh-CN" sz="2400">
                <a:solidFill>
                  <a:schemeClr val="bg1"/>
                </a:solidFill>
              </a:endParaRPr>
            </a:p>
          </p:txBody>
        </p:sp>
        <p:sp>
          <p:nvSpPr>
            <p:cNvPr id="22587" name="Rectangle 60"/>
            <p:cNvSpPr>
              <a:spLocks noChangeArrowheads="1"/>
            </p:cNvSpPr>
            <p:nvPr/>
          </p:nvSpPr>
          <p:spPr bwMode="auto">
            <a:xfrm>
              <a:off x="3936" y="312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3</a:t>
              </a:r>
              <a:endParaRPr lang="zh-CN" altLang="zh-CN" sz="2400">
                <a:solidFill>
                  <a:schemeClr val="bg1"/>
                </a:solidFill>
              </a:endParaRPr>
            </a:p>
          </p:txBody>
        </p:sp>
        <p:sp>
          <p:nvSpPr>
            <p:cNvPr id="22588" name="Rectangle 61"/>
            <p:cNvSpPr>
              <a:spLocks noChangeArrowheads="1"/>
            </p:cNvSpPr>
            <p:nvPr/>
          </p:nvSpPr>
          <p:spPr bwMode="auto">
            <a:xfrm>
              <a:off x="4512" y="312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5</a:t>
              </a:r>
              <a:endParaRPr lang="zh-CN" altLang="zh-CN" sz="2400">
                <a:solidFill>
                  <a:schemeClr val="bg1"/>
                </a:solidFill>
              </a:endParaRPr>
            </a:p>
          </p:txBody>
        </p:sp>
        <p:sp>
          <p:nvSpPr>
            <p:cNvPr id="22589" name="Rectangle 62"/>
            <p:cNvSpPr>
              <a:spLocks noChangeArrowheads="1"/>
            </p:cNvSpPr>
            <p:nvPr/>
          </p:nvSpPr>
          <p:spPr bwMode="auto">
            <a:xfrm>
              <a:off x="4224" y="312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4</a:t>
              </a:r>
              <a:endParaRPr lang="zh-CN" altLang="zh-CN" sz="2400">
                <a:solidFill>
                  <a:schemeClr val="bg1"/>
                </a:solidFill>
              </a:endParaRPr>
            </a:p>
          </p:txBody>
        </p:sp>
        <p:sp>
          <p:nvSpPr>
            <p:cNvPr id="22590" name="Rectangle 63"/>
            <p:cNvSpPr>
              <a:spLocks noChangeArrowheads="1"/>
            </p:cNvSpPr>
            <p:nvPr/>
          </p:nvSpPr>
          <p:spPr bwMode="auto">
            <a:xfrm>
              <a:off x="4800" y="312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6</a:t>
              </a:r>
              <a:endParaRPr lang="zh-CN" altLang="zh-CN" sz="2400">
                <a:solidFill>
                  <a:schemeClr val="bg1"/>
                </a:solidFill>
              </a:endParaRPr>
            </a:p>
          </p:txBody>
        </p:sp>
        <p:sp>
          <p:nvSpPr>
            <p:cNvPr id="22591" name="Rectangle 64"/>
            <p:cNvSpPr>
              <a:spLocks noChangeArrowheads="1"/>
            </p:cNvSpPr>
            <p:nvPr/>
          </p:nvSpPr>
          <p:spPr bwMode="auto">
            <a:xfrm>
              <a:off x="3648" y="144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endParaRPr lang="zh-CN" altLang="zh-CN" sz="2400">
                <a:solidFill>
                  <a:schemeClr val="bg1"/>
                </a:solidFill>
              </a:endParaRPr>
            </a:p>
          </p:txBody>
        </p:sp>
        <p:sp>
          <p:nvSpPr>
            <p:cNvPr id="22592" name="Rectangle 65"/>
            <p:cNvSpPr>
              <a:spLocks noChangeArrowheads="1"/>
            </p:cNvSpPr>
            <p:nvPr/>
          </p:nvSpPr>
          <p:spPr bwMode="auto">
            <a:xfrm>
              <a:off x="3936" y="144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endParaRPr lang="zh-CN" altLang="zh-CN" sz="2400">
                <a:solidFill>
                  <a:schemeClr val="bg1"/>
                </a:solidFill>
              </a:endParaRPr>
            </a:p>
          </p:txBody>
        </p:sp>
        <p:sp>
          <p:nvSpPr>
            <p:cNvPr id="22593" name="Rectangle 66"/>
            <p:cNvSpPr>
              <a:spLocks noChangeArrowheads="1"/>
            </p:cNvSpPr>
            <p:nvPr/>
          </p:nvSpPr>
          <p:spPr bwMode="auto">
            <a:xfrm>
              <a:off x="4224" y="144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3</a:t>
              </a:r>
              <a:endParaRPr lang="zh-CN" altLang="zh-CN" sz="2400">
                <a:solidFill>
                  <a:schemeClr val="bg1"/>
                </a:solidFill>
              </a:endParaRPr>
            </a:p>
          </p:txBody>
        </p:sp>
        <p:sp>
          <p:nvSpPr>
            <p:cNvPr id="22594" name="Rectangle 67"/>
            <p:cNvSpPr>
              <a:spLocks noChangeArrowheads="1"/>
            </p:cNvSpPr>
            <p:nvPr/>
          </p:nvSpPr>
          <p:spPr bwMode="auto">
            <a:xfrm>
              <a:off x="4800" y="144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5</a:t>
              </a:r>
              <a:endParaRPr lang="zh-CN" altLang="zh-CN" sz="2400">
                <a:solidFill>
                  <a:schemeClr val="bg1"/>
                </a:solidFill>
              </a:endParaRPr>
            </a:p>
          </p:txBody>
        </p:sp>
        <p:sp>
          <p:nvSpPr>
            <p:cNvPr id="22595" name="Rectangle 68"/>
            <p:cNvSpPr>
              <a:spLocks noChangeArrowheads="1"/>
            </p:cNvSpPr>
            <p:nvPr/>
          </p:nvSpPr>
          <p:spPr bwMode="auto">
            <a:xfrm>
              <a:off x="4512" y="144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4</a:t>
              </a:r>
              <a:endParaRPr lang="zh-CN" altLang="zh-CN" sz="2400">
                <a:solidFill>
                  <a:schemeClr val="bg1"/>
                </a:solidFill>
              </a:endParaRPr>
            </a:p>
          </p:txBody>
        </p:sp>
        <p:sp>
          <p:nvSpPr>
            <p:cNvPr id="22596" name="Rectangle 69"/>
            <p:cNvSpPr>
              <a:spLocks noChangeArrowheads="1"/>
            </p:cNvSpPr>
            <p:nvPr/>
          </p:nvSpPr>
          <p:spPr bwMode="auto">
            <a:xfrm>
              <a:off x="3936" y="1104"/>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endParaRPr lang="zh-CN" altLang="zh-CN" sz="2400">
                <a:solidFill>
                  <a:schemeClr val="bg1"/>
                </a:solidFill>
              </a:endParaRPr>
            </a:p>
          </p:txBody>
        </p:sp>
        <p:sp>
          <p:nvSpPr>
            <p:cNvPr id="22597" name="Rectangle 70"/>
            <p:cNvSpPr>
              <a:spLocks noChangeArrowheads="1"/>
            </p:cNvSpPr>
            <p:nvPr/>
          </p:nvSpPr>
          <p:spPr bwMode="auto">
            <a:xfrm>
              <a:off x="4224" y="1104"/>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endParaRPr lang="zh-CN" altLang="zh-CN" sz="2400">
                <a:solidFill>
                  <a:schemeClr val="bg1"/>
                </a:solidFill>
              </a:endParaRPr>
            </a:p>
          </p:txBody>
        </p:sp>
        <p:sp>
          <p:nvSpPr>
            <p:cNvPr id="22598" name="Rectangle 71"/>
            <p:cNvSpPr>
              <a:spLocks noChangeArrowheads="1"/>
            </p:cNvSpPr>
            <p:nvPr/>
          </p:nvSpPr>
          <p:spPr bwMode="auto">
            <a:xfrm>
              <a:off x="4512" y="1104"/>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3</a:t>
              </a:r>
              <a:endParaRPr lang="zh-CN" altLang="zh-CN" sz="2400">
                <a:solidFill>
                  <a:schemeClr val="bg1"/>
                </a:solidFill>
              </a:endParaRPr>
            </a:p>
          </p:txBody>
        </p:sp>
        <p:sp>
          <p:nvSpPr>
            <p:cNvPr id="22599" name="Rectangle 72"/>
            <p:cNvSpPr>
              <a:spLocks noChangeArrowheads="1"/>
            </p:cNvSpPr>
            <p:nvPr/>
          </p:nvSpPr>
          <p:spPr bwMode="auto">
            <a:xfrm>
              <a:off x="4800" y="1104"/>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4</a:t>
              </a:r>
              <a:endParaRPr lang="zh-CN" altLang="zh-CN" sz="2400">
                <a:solidFill>
                  <a:schemeClr val="bg1"/>
                </a:solidFill>
              </a:endParaRPr>
            </a:p>
          </p:txBody>
        </p:sp>
        <p:sp>
          <p:nvSpPr>
            <p:cNvPr id="22600" name="Rectangle 73"/>
            <p:cNvSpPr>
              <a:spLocks noChangeArrowheads="1"/>
            </p:cNvSpPr>
            <p:nvPr/>
          </p:nvSpPr>
          <p:spPr bwMode="auto">
            <a:xfrm>
              <a:off x="4224" y="768"/>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endParaRPr lang="zh-CN" altLang="zh-CN" sz="2400">
                <a:solidFill>
                  <a:schemeClr val="bg1"/>
                </a:solidFill>
              </a:endParaRPr>
            </a:p>
          </p:txBody>
        </p:sp>
        <p:sp>
          <p:nvSpPr>
            <p:cNvPr id="22601" name="Rectangle 74"/>
            <p:cNvSpPr>
              <a:spLocks noChangeArrowheads="1"/>
            </p:cNvSpPr>
            <p:nvPr/>
          </p:nvSpPr>
          <p:spPr bwMode="auto">
            <a:xfrm>
              <a:off x="4512" y="768"/>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endParaRPr lang="zh-CN" altLang="zh-CN" sz="2400">
                <a:solidFill>
                  <a:schemeClr val="bg1"/>
                </a:solidFill>
              </a:endParaRPr>
            </a:p>
          </p:txBody>
        </p:sp>
        <p:sp>
          <p:nvSpPr>
            <p:cNvPr id="22602" name="Rectangle 75"/>
            <p:cNvSpPr>
              <a:spLocks noChangeArrowheads="1"/>
            </p:cNvSpPr>
            <p:nvPr/>
          </p:nvSpPr>
          <p:spPr bwMode="auto">
            <a:xfrm>
              <a:off x="4800" y="768"/>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3</a:t>
              </a:r>
              <a:endParaRPr lang="zh-CN" altLang="zh-CN" sz="2400">
                <a:solidFill>
                  <a:schemeClr val="bg1"/>
                </a:solidFill>
              </a:endParaRPr>
            </a:p>
          </p:txBody>
        </p:sp>
        <p:sp>
          <p:nvSpPr>
            <p:cNvPr id="22603" name="Line 76"/>
            <p:cNvSpPr>
              <a:spLocks noChangeShapeType="1"/>
            </p:cNvSpPr>
            <p:nvPr/>
          </p:nvSpPr>
          <p:spPr bwMode="auto">
            <a:xfrm flipV="1">
              <a:off x="2784" y="1104"/>
              <a:ext cx="0" cy="672"/>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04" name="Rectangle 77"/>
            <p:cNvSpPr>
              <a:spLocks noChangeArrowheads="1"/>
            </p:cNvSpPr>
            <p:nvPr/>
          </p:nvSpPr>
          <p:spPr bwMode="auto">
            <a:xfrm>
              <a:off x="5088" y="312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endParaRPr lang="zh-CN" altLang="zh-CN" sz="2400">
                <a:solidFill>
                  <a:schemeClr val="bg1"/>
                </a:solidFill>
              </a:endParaRPr>
            </a:p>
          </p:txBody>
        </p:sp>
        <p:sp>
          <p:nvSpPr>
            <p:cNvPr id="22605" name="Rectangle 78"/>
            <p:cNvSpPr>
              <a:spLocks noChangeArrowheads="1"/>
            </p:cNvSpPr>
            <p:nvPr/>
          </p:nvSpPr>
          <p:spPr bwMode="auto">
            <a:xfrm>
              <a:off x="5088" y="768"/>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endParaRPr lang="zh-CN" altLang="zh-CN" sz="2400">
                <a:solidFill>
                  <a:schemeClr val="bg1"/>
                </a:solidFill>
              </a:endParaRPr>
            </a:p>
          </p:txBody>
        </p:sp>
        <p:sp>
          <p:nvSpPr>
            <p:cNvPr id="22606" name="Rectangle 79"/>
            <p:cNvSpPr>
              <a:spLocks noChangeArrowheads="1"/>
            </p:cNvSpPr>
            <p:nvPr/>
          </p:nvSpPr>
          <p:spPr bwMode="auto">
            <a:xfrm>
              <a:off x="5088" y="1104"/>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endParaRPr lang="zh-CN" altLang="zh-CN" sz="2400">
                <a:solidFill>
                  <a:schemeClr val="bg1"/>
                </a:solidFill>
              </a:endParaRPr>
            </a:p>
          </p:txBody>
        </p:sp>
        <p:sp>
          <p:nvSpPr>
            <p:cNvPr id="22607" name="Rectangle 80"/>
            <p:cNvSpPr>
              <a:spLocks noChangeArrowheads="1"/>
            </p:cNvSpPr>
            <p:nvPr/>
          </p:nvSpPr>
          <p:spPr bwMode="auto">
            <a:xfrm>
              <a:off x="5088" y="1440"/>
              <a:ext cx="288" cy="336"/>
            </a:xfrm>
            <a:prstGeom prst="rect">
              <a:avLst/>
            </a:prstGeom>
            <a:solidFill>
              <a:schemeClr val="tx2"/>
            </a:solid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endParaRPr lang="zh-CN" altLang="zh-CN" sz="2400">
                <a:solidFill>
                  <a:schemeClr val="bg1"/>
                </a:solidFill>
              </a:endParaRPr>
            </a:p>
          </p:txBody>
        </p:sp>
        <p:sp>
          <p:nvSpPr>
            <p:cNvPr id="22608" name="Line 81"/>
            <p:cNvSpPr>
              <a:spLocks noChangeShapeType="1"/>
            </p:cNvSpPr>
            <p:nvPr/>
          </p:nvSpPr>
          <p:spPr bwMode="auto">
            <a:xfrm flipV="1">
              <a:off x="3648" y="1104"/>
              <a:ext cx="0" cy="672"/>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09" name="Line 82"/>
            <p:cNvSpPr>
              <a:spLocks noChangeShapeType="1"/>
            </p:cNvSpPr>
            <p:nvPr/>
          </p:nvSpPr>
          <p:spPr bwMode="auto">
            <a:xfrm flipV="1">
              <a:off x="3936" y="2112"/>
              <a:ext cx="0" cy="100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10" name="Line 83"/>
            <p:cNvSpPr>
              <a:spLocks noChangeShapeType="1"/>
            </p:cNvSpPr>
            <p:nvPr/>
          </p:nvSpPr>
          <p:spPr bwMode="auto">
            <a:xfrm flipV="1">
              <a:off x="4224" y="1776"/>
              <a:ext cx="0" cy="1344"/>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11" name="Line 84"/>
            <p:cNvSpPr>
              <a:spLocks noChangeShapeType="1"/>
            </p:cNvSpPr>
            <p:nvPr/>
          </p:nvSpPr>
          <p:spPr bwMode="auto">
            <a:xfrm flipV="1">
              <a:off x="3648" y="2448"/>
              <a:ext cx="0" cy="672"/>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12" name="Line 85"/>
            <p:cNvSpPr>
              <a:spLocks noChangeShapeType="1"/>
            </p:cNvSpPr>
            <p:nvPr/>
          </p:nvSpPr>
          <p:spPr bwMode="auto">
            <a:xfrm flipV="1">
              <a:off x="4512" y="1776"/>
              <a:ext cx="0" cy="1344"/>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13" name="Line 86"/>
            <p:cNvSpPr>
              <a:spLocks noChangeShapeType="1"/>
            </p:cNvSpPr>
            <p:nvPr/>
          </p:nvSpPr>
          <p:spPr bwMode="auto">
            <a:xfrm flipV="1">
              <a:off x="4800" y="1776"/>
              <a:ext cx="0" cy="1344"/>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14" name="Line 87"/>
            <p:cNvSpPr>
              <a:spLocks noChangeShapeType="1"/>
            </p:cNvSpPr>
            <p:nvPr/>
          </p:nvSpPr>
          <p:spPr bwMode="auto">
            <a:xfrm flipV="1">
              <a:off x="5088" y="1776"/>
              <a:ext cx="0" cy="1344"/>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15" name="Rectangle 88"/>
            <p:cNvSpPr>
              <a:spLocks noChangeArrowheads="1"/>
            </p:cNvSpPr>
            <p:nvPr/>
          </p:nvSpPr>
          <p:spPr bwMode="auto">
            <a:xfrm>
              <a:off x="2784" y="432"/>
              <a:ext cx="105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浮点加法</a:t>
              </a:r>
              <a:endParaRPr lang="zh-CN" altLang="zh-CN" sz="2400">
                <a:solidFill>
                  <a:schemeClr val="tx2"/>
                </a:solidFill>
              </a:endParaRPr>
            </a:p>
          </p:txBody>
        </p:sp>
        <p:sp>
          <p:nvSpPr>
            <p:cNvPr id="22616" name="Rectangle 89"/>
            <p:cNvSpPr>
              <a:spLocks noChangeArrowheads="1"/>
            </p:cNvSpPr>
            <p:nvPr/>
          </p:nvSpPr>
          <p:spPr bwMode="auto">
            <a:xfrm>
              <a:off x="4272" y="432"/>
              <a:ext cx="105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定点乘法</a:t>
              </a:r>
              <a:endParaRPr lang="zh-CN" altLang="zh-CN" sz="2400">
                <a:solidFill>
                  <a:schemeClr val="tx2"/>
                </a:solidFill>
              </a:endParaRPr>
            </a:p>
          </p:txBody>
        </p:sp>
        <p:sp>
          <p:nvSpPr>
            <p:cNvPr id="22617" name="Line 90"/>
            <p:cNvSpPr>
              <a:spLocks noChangeShapeType="1"/>
            </p:cNvSpPr>
            <p:nvPr/>
          </p:nvSpPr>
          <p:spPr bwMode="auto">
            <a:xfrm>
              <a:off x="1056" y="3456"/>
              <a:ext cx="446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22533" name="Text Box 91"/>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流水线的分类</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分类二</a:t>
            </a:r>
            <a:endParaRPr lang="zh-CN" altLang="en-US" sz="1200" b="0">
              <a:latin typeface="Times New Roman" panose="02020603050405020304" pitchFamily="18" charset="0"/>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2"/>
          <p:cNvSpPr>
            <a:spLocks noGrp="1" noChangeArrowheads="1"/>
          </p:cNvSpPr>
          <p:nvPr>
            <p:ph type="title"/>
          </p:nvPr>
        </p:nvSpPr>
        <p:spPr/>
        <p:txBody>
          <a:bodyPr/>
          <a:lstStyle/>
          <a:p>
            <a:pPr eaLnBrk="1" hangingPunct="1">
              <a:defRPr/>
            </a:pPr>
            <a:r>
              <a:rPr lang="zh-CN" altLang="en-US" smtClean="0"/>
              <a:t>分类三</a:t>
            </a:r>
            <a:endParaRPr lang="zh-CN" altLang="en-US" smtClean="0"/>
          </a:p>
        </p:txBody>
      </p:sp>
      <p:sp>
        <p:nvSpPr>
          <p:cNvPr id="2355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流水线的分类</a:t>
            </a:r>
            <a:endParaRPr lang="zh-CN" altLang="en-US" sz="1200" b="0">
              <a:latin typeface="Times New Roman" panose="02020603050405020304" pitchFamily="18" charset="0"/>
              <a:ea typeface="幼圆" panose="02010509060101010101" pitchFamily="49" charset="-122"/>
            </a:endParaRPr>
          </a:p>
        </p:txBody>
      </p:sp>
      <p:sp>
        <p:nvSpPr>
          <p:cNvPr id="23556" name="Rectangle 4"/>
          <p:cNvSpPr>
            <a:spLocks noGrp="1" noChangeArrowheads="1"/>
          </p:cNvSpPr>
          <p:nvPr>
            <p:ph type="body" idx="1"/>
          </p:nvPr>
        </p:nvSpPr>
        <p:spPr>
          <a:xfrm>
            <a:off x="809625" y="1989138"/>
            <a:ext cx="7958138" cy="1120775"/>
          </a:xfrm>
        </p:spPr>
        <p:txBody>
          <a:bodyPr/>
          <a:lstStyle/>
          <a:p>
            <a:pPr marL="0" indent="0" eaLnBrk="1" hangingPunct="1">
              <a:lnSpc>
                <a:spcPct val="110000"/>
              </a:lnSpc>
              <a:buFont typeface="Wingdings" panose="05000000000000000000" pitchFamily="2" charset="2"/>
              <a:buNone/>
            </a:pPr>
            <a:r>
              <a:rPr lang="zh-CN" altLang="en-US" sz="2400" dirty="0" smtClean="0"/>
              <a:t>        按照流水线的各个功能段之间是否有反馈信号，可以将流水线分为：</a:t>
            </a:r>
            <a:endParaRPr lang="zh-CN" altLang="en-US" sz="2400" dirty="0" smtClean="0"/>
          </a:p>
        </p:txBody>
      </p:sp>
      <p:sp>
        <p:nvSpPr>
          <p:cNvPr id="581637" name="Rectangle 5"/>
          <p:cNvSpPr>
            <a:spLocks noChangeArrowheads="1"/>
          </p:cNvSpPr>
          <p:nvPr/>
        </p:nvSpPr>
        <p:spPr bwMode="auto">
          <a:xfrm>
            <a:off x="827089" y="2997200"/>
            <a:ext cx="3816920" cy="3455988"/>
          </a:xfrm>
          <a:prstGeom prst="rect">
            <a:avLst/>
          </a:prstGeom>
          <a:solidFill>
            <a:srgbClr val="FFFF99"/>
          </a:solidFill>
          <a:ln w="57150" cmpd="thickThin">
            <a:noFill/>
            <a:miter lim="800000"/>
          </a:ln>
          <a:effectLst>
            <a:glow rad="63500">
              <a:schemeClr val="accent1">
                <a:satMod val="175000"/>
                <a:alpha val="40000"/>
              </a:schemeClr>
            </a:glow>
            <a:outerShdw blurRad="50800" dist="38100" dir="2700000" algn="tl" rotWithShape="0">
              <a:prstClr val="black">
                <a:alpha val="40000"/>
              </a:prstClr>
            </a:outerShdw>
          </a:effectLst>
        </p:spPr>
        <p:txBody>
          <a:bodyPr/>
          <a:lstStyle>
            <a:lvl1pPr>
              <a:spcBef>
                <a:spcPct val="0"/>
              </a:spcBef>
              <a:defRPr kumimoji="1" sz="2400">
                <a:solidFill>
                  <a:schemeClr val="tx1"/>
                </a:solidFill>
                <a:latin typeface="Times New Roman" panose="02020603050405020304" pitchFamily="18" charset="0"/>
                <a:ea typeface="宋体" panose="02010600030101010101" pitchFamily="2" charset="-122"/>
              </a:defRPr>
            </a:lvl1pPr>
            <a:lvl2pPr marL="765175" indent="-285750">
              <a:spcBef>
                <a:spcPct val="0"/>
              </a:spcBef>
              <a:defRPr kumimoji="1" sz="2400">
                <a:solidFill>
                  <a:schemeClr val="tx1"/>
                </a:solidFill>
                <a:latin typeface="Times New Roman" panose="02020603050405020304" pitchFamily="18" charset="0"/>
                <a:ea typeface="宋体" panose="02010600030101010101" pitchFamily="2" charset="-122"/>
              </a:defRPr>
            </a:lvl2pPr>
            <a:lvl3pPr marL="1184275" indent="-228600">
              <a:spcBef>
                <a:spcPct val="0"/>
              </a:spcBef>
              <a:defRPr kumimoji="1" sz="2400">
                <a:solidFill>
                  <a:schemeClr val="tx1"/>
                </a:solidFill>
                <a:latin typeface="Times New Roman" panose="02020603050405020304" pitchFamily="18" charset="0"/>
                <a:ea typeface="宋体" panose="02010600030101010101" pitchFamily="2" charset="-122"/>
              </a:defRPr>
            </a:lvl3pPr>
            <a:lvl4pPr marL="1603375" indent="-228600">
              <a:spcBef>
                <a:spcPct val="0"/>
              </a:spcBef>
              <a:defRPr kumimoji="1" sz="2400">
                <a:solidFill>
                  <a:schemeClr val="tx1"/>
                </a:solidFill>
                <a:latin typeface="Times New Roman" panose="02020603050405020304" pitchFamily="18" charset="0"/>
                <a:ea typeface="宋体" panose="02010600030101010101" pitchFamily="2" charset="-122"/>
              </a:defRPr>
            </a:lvl4pPr>
            <a:lvl5pPr marL="2022475" indent="-228600">
              <a:spcBef>
                <a:spcPct val="0"/>
              </a:spcBef>
              <a:defRPr kumimoji="1" sz="2400">
                <a:solidFill>
                  <a:schemeClr val="tx1"/>
                </a:solidFill>
                <a:latin typeface="Times New Roman" panose="02020603050405020304" pitchFamily="18" charset="0"/>
                <a:ea typeface="宋体" panose="02010600030101010101" pitchFamily="2" charset="-122"/>
              </a:defRPr>
            </a:lvl5pPr>
            <a:lvl6pPr marL="24796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368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3940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512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nSpc>
                <a:spcPct val="105000"/>
              </a:lnSpc>
              <a:spcBef>
                <a:spcPct val="20000"/>
              </a:spcBef>
              <a:buClr>
                <a:srgbClr val="FF0000"/>
              </a:buClr>
              <a:buFont typeface="Wingdings" panose="05000000000000000000" pitchFamily="2" charset="2"/>
              <a:buChar char="w"/>
              <a:defRPr/>
            </a:pPr>
            <a:r>
              <a:rPr lang="zh-CN" altLang="en-US" b="1" dirty="0" smtClean="0">
                <a:solidFill>
                  <a:srgbClr val="FF0000"/>
                </a:solidFill>
                <a:effectLst>
                  <a:outerShdw blurRad="38100" dist="38100" dir="2700000" algn="tl">
                    <a:srgbClr val="000000"/>
                  </a:outerShdw>
                </a:effectLst>
                <a:latin typeface="楷体_GB2312" pitchFamily="49" charset="-122"/>
                <a:ea typeface="楷体_GB2312" pitchFamily="49" charset="-122"/>
              </a:rPr>
              <a:t> 线性流水线</a:t>
            </a:r>
            <a:endParaRPr lang="zh-CN" altLang="en-US" b="1" dirty="0" smtClean="0">
              <a:solidFill>
                <a:srgbClr val="FF0000"/>
              </a:solidFill>
              <a:effectLst>
                <a:outerShdw blurRad="38100" dist="38100" dir="2700000" algn="tl">
                  <a:srgbClr val="000000"/>
                </a:outerShdw>
              </a:effectLst>
              <a:latin typeface="楷体_GB2312" pitchFamily="49" charset="-122"/>
              <a:ea typeface="楷体_GB2312" pitchFamily="49" charset="-122"/>
            </a:endParaRPr>
          </a:p>
          <a:p>
            <a:pPr>
              <a:lnSpc>
                <a:spcPct val="105000"/>
              </a:lnSpc>
              <a:spcBef>
                <a:spcPct val="20000"/>
              </a:spcBef>
              <a:defRPr/>
            </a:pPr>
            <a:r>
              <a:rPr lang="zh-CN" altLang="en-US" b="1" dirty="0" smtClean="0">
                <a:latin typeface="楷体_GB2312" pitchFamily="49" charset="-122"/>
                <a:ea typeface="楷体_GB2312" pitchFamily="49" charset="-122"/>
              </a:rPr>
              <a:t>  是指流水线内各功能段串行连接，没有反馈回路，各个功能段只经过一次。一条线性流水线通常只完成一种固定的功能。例子：指令流水线、浮点加法器流水线等。</a:t>
            </a:r>
            <a:endParaRPr lang="zh-CN" altLang="en-US" b="1" dirty="0" smtClean="0">
              <a:latin typeface="楷体_GB2312" pitchFamily="49" charset="-122"/>
              <a:ea typeface="楷体_GB2312" pitchFamily="49" charset="-122"/>
            </a:endParaRPr>
          </a:p>
        </p:txBody>
      </p:sp>
      <p:sp>
        <p:nvSpPr>
          <p:cNvPr id="581638" name="Rectangle 6"/>
          <p:cNvSpPr>
            <a:spLocks noChangeArrowheads="1"/>
          </p:cNvSpPr>
          <p:nvPr/>
        </p:nvSpPr>
        <p:spPr bwMode="auto">
          <a:xfrm>
            <a:off x="4864101" y="2997200"/>
            <a:ext cx="3812356" cy="3455988"/>
          </a:xfrm>
          <a:prstGeom prst="rect">
            <a:avLst/>
          </a:prstGeom>
          <a:solidFill>
            <a:srgbClr val="CCFFFF"/>
          </a:solidFill>
          <a:ln w="57150" cmpd="thickThin">
            <a:noFill/>
            <a:miter lim="800000"/>
          </a:ln>
          <a:effectLst>
            <a:glow rad="63500">
              <a:schemeClr val="bg1">
                <a:lumMod val="75000"/>
                <a:alpha val="40000"/>
              </a:schemeClr>
            </a:glow>
            <a:outerShdw dist="35921" dir="2700000" algn="ctr" rotWithShape="0">
              <a:schemeClr val="bg2"/>
            </a:outerShdw>
          </a:effectLst>
        </p:spPr>
        <p:txBody>
          <a:bodyPr/>
          <a:lstStyle>
            <a:lvl1pPr>
              <a:spcBef>
                <a:spcPct val="0"/>
              </a:spcBef>
              <a:defRPr kumimoji="1" sz="2400">
                <a:solidFill>
                  <a:schemeClr val="tx1"/>
                </a:solidFill>
                <a:latin typeface="Times New Roman" panose="02020603050405020304" pitchFamily="18" charset="0"/>
                <a:ea typeface="宋体" panose="02010600030101010101" pitchFamily="2" charset="-122"/>
              </a:defRPr>
            </a:lvl1pPr>
            <a:lvl2pPr marL="765175" indent="-285750">
              <a:spcBef>
                <a:spcPct val="0"/>
              </a:spcBef>
              <a:defRPr kumimoji="1" sz="2400">
                <a:solidFill>
                  <a:schemeClr val="tx1"/>
                </a:solidFill>
                <a:latin typeface="Times New Roman" panose="02020603050405020304" pitchFamily="18" charset="0"/>
                <a:ea typeface="宋体" panose="02010600030101010101" pitchFamily="2" charset="-122"/>
              </a:defRPr>
            </a:lvl2pPr>
            <a:lvl3pPr marL="1184275" indent="-228600">
              <a:spcBef>
                <a:spcPct val="0"/>
              </a:spcBef>
              <a:defRPr kumimoji="1" sz="2400">
                <a:solidFill>
                  <a:schemeClr val="tx1"/>
                </a:solidFill>
                <a:latin typeface="Times New Roman" panose="02020603050405020304" pitchFamily="18" charset="0"/>
                <a:ea typeface="宋体" panose="02010600030101010101" pitchFamily="2" charset="-122"/>
              </a:defRPr>
            </a:lvl3pPr>
            <a:lvl4pPr marL="1603375" indent="-228600">
              <a:spcBef>
                <a:spcPct val="0"/>
              </a:spcBef>
              <a:defRPr kumimoji="1" sz="2400">
                <a:solidFill>
                  <a:schemeClr val="tx1"/>
                </a:solidFill>
                <a:latin typeface="Times New Roman" panose="02020603050405020304" pitchFamily="18" charset="0"/>
                <a:ea typeface="宋体" panose="02010600030101010101" pitchFamily="2" charset="-122"/>
              </a:defRPr>
            </a:lvl4pPr>
            <a:lvl5pPr marL="2022475" indent="-228600">
              <a:spcBef>
                <a:spcPct val="0"/>
              </a:spcBef>
              <a:defRPr kumimoji="1" sz="2400">
                <a:solidFill>
                  <a:schemeClr val="tx1"/>
                </a:solidFill>
                <a:latin typeface="Times New Roman" panose="02020603050405020304" pitchFamily="18" charset="0"/>
                <a:ea typeface="宋体" panose="02010600030101010101" pitchFamily="2" charset="-122"/>
              </a:defRPr>
            </a:lvl5pPr>
            <a:lvl6pPr marL="24796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368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3940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512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nSpc>
                <a:spcPct val="105000"/>
              </a:lnSpc>
              <a:spcBef>
                <a:spcPct val="20000"/>
              </a:spcBef>
              <a:buClr>
                <a:srgbClr val="FF0000"/>
              </a:buClr>
              <a:buFont typeface="Wingdings" panose="05000000000000000000" pitchFamily="2" charset="2"/>
              <a:buChar char="w"/>
              <a:defRPr/>
            </a:pPr>
            <a:r>
              <a:rPr lang="zh-CN" altLang="en-US" b="1" dirty="0" smtClean="0">
                <a:solidFill>
                  <a:srgbClr val="FF0000"/>
                </a:solidFill>
                <a:effectLst>
                  <a:outerShdw blurRad="38100" dist="38100" dir="2700000" algn="tl">
                    <a:srgbClr val="000000"/>
                  </a:outerShdw>
                </a:effectLst>
                <a:latin typeface="楷体_GB2312" pitchFamily="49" charset="-122"/>
                <a:ea typeface="楷体_GB2312" pitchFamily="49" charset="-122"/>
              </a:rPr>
              <a:t> 非线性流水线</a:t>
            </a:r>
            <a:endParaRPr lang="zh-CN" altLang="en-US" b="1" dirty="0" smtClean="0">
              <a:solidFill>
                <a:srgbClr val="FF0000"/>
              </a:solidFill>
              <a:effectLst>
                <a:outerShdw blurRad="38100" dist="38100" dir="2700000" algn="tl">
                  <a:srgbClr val="000000"/>
                </a:outerShdw>
              </a:effectLst>
              <a:latin typeface="楷体_GB2312" pitchFamily="49" charset="-122"/>
              <a:ea typeface="楷体_GB2312" pitchFamily="49" charset="-122"/>
            </a:endParaRPr>
          </a:p>
          <a:p>
            <a:pPr>
              <a:lnSpc>
                <a:spcPct val="105000"/>
              </a:lnSpc>
              <a:spcBef>
                <a:spcPct val="20000"/>
              </a:spcBef>
              <a:defRPr/>
            </a:pPr>
            <a:r>
              <a:rPr lang="zh-CN" altLang="en-US" b="1" dirty="0" smtClean="0">
                <a:latin typeface="楷体_GB2312" pitchFamily="49" charset="-122"/>
                <a:ea typeface="楷体_GB2312" pitchFamily="49" charset="-122"/>
              </a:rPr>
              <a:t>  是指流水线内除有串行连接的通路外，还有某种反馈回路，使得一次流水过程中，某些段会多次通过。非线性流水线经常用于递归调用，或构成多功能流水线等。</a:t>
            </a:r>
            <a:endParaRPr lang="zh-CN" altLang="en-US" b="1" dirty="0" smtClean="0">
              <a:latin typeface="楷体_GB2312" pitchFamily="49" charset="-122"/>
              <a:ea typeface="楷体_GB2312" pitchFamily="49" charset="-122"/>
            </a:endParaRPr>
          </a:p>
        </p:txBody>
      </p:sp>
      <p:sp>
        <p:nvSpPr>
          <p:cNvPr id="23559"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9826" name="Rectangle 2"/>
          <p:cNvSpPr>
            <a:spLocks noGrp="1" noChangeArrowheads="1"/>
          </p:cNvSpPr>
          <p:nvPr>
            <p:ph type="title"/>
          </p:nvPr>
        </p:nvSpPr>
        <p:spPr/>
        <p:txBody>
          <a:bodyPr/>
          <a:lstStyle/>
          <a:p>
            <a:pPr eaLnBrk="1" hangingPunct="1">
              <a:defRPr/>
            </a:pPr>
            <a:r>
              <a:rPr lang="zh-CN" altLang="en-US" smtClean="0"/>
              <a:t>非线性流水线</a:t>
            </a:r>
            <a:endParaRPr lang="zh-CN" altLang="en-US" smtClean="0"/>
          </a:p>
        </p:txBody>
      </p:sp>
      <p:sp>
        <p:nvSpPr>
          <p:cNvPr id="24579" name="Rectangle 5"/>
          <p:cNvSpPr>
            <a:spLocks noChangeArrowheads="1"/>
          </p:cNvSpPr>
          <p:nvPr/>
        </p:nvSpPr>
        <p:spPr bwMode="auto">
          <a:xfrm>
            <a:off x="2497138" y="2705100"/>
            <a:ext cx="979487" cy="5715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1</a:t>
            </a:r>
            <a:endParaRPr lang="en-US" altLang="zh-CN" sz="2400">
              <a:solidFill>
                <a:schemeClr val="tx2"/>
              </a:solidFill>
            </a:endParaRPr>
          </a:p>
        </p:txBody>
      </p:sp>
      <p:sp>
        <p:nvSpPr>
          <p:cNvPr id="24580" name="Line 6"/>
          <p:cNvSpPr>
            <a:spLocks noChangeShapeType="1"/>
          </p:cNvSpPr>
          <p:nvPr/>
        </p:nvSpPr>
        <p:spPr bwMode="auto">
          <a:xfrm>
            <a:off x="3476625" y="2876550"/>
            <a:ext cx="76993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81" name="Line 7"/>
          <p:cNvSpPr>
            <a:spLocks noChangeShapeType="1"/>
          </p:cNvSpPr>
          <p:nvPr/>
        </p:nvSpPr>
        <p:spPr bwMode="auto">
          <a:xfrm>
            <a:off x="3757613" y="3105150"/>
            <a:ext cx="0" cy="34290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82" name="Rectangle 8"/>
          <p:cNvSpPr>
            <a:spLocks noChangeArrowheads="1"/>
          </p:cNvSpPr>
          <p:nvPr/>
        </p:nvSpPr>
        <p:spPr bwMode="auto">
          <a:xfrm>
            <a:off x="1516063" y="2590800"/>
            <a:ext cx="91122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输入</a:t>
            </a:r>
            <a:endParaRPr lang="zh-CN" altLang="zh-CN" sz="2400">
              <a:solidFill>
                <a:schemeClr val="tx2"/>
              </a:solidFill>
            </a:endParaRPr>
          </a:p>
        </p:txBody>
      </p:sp>
      <p:sp>
        <p:nvSpPr>
          <p:cNvPr id="24583" name="Rectangle 9"/>
          <p:cNvSpPr>
            <a:spLocks noChangeArrowheads="1"/>
          </p:cNvSpPr>
          <p:nvPr/>
        </p:nvSpPr>
        <p:spPr bwMode="auto">
          <a:xfrm>
            <a:off x="4246563" y="2705100"/>
            <a:ext cx="981075" cy="5715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a:t>
            </a:r>
            <a:endParaRPr lang="en-US" altLang="zh-CN" sz="2400">
              <a:solidFill>
                <a:schemeClr val="tx2"/>
              </a:solidFill>
            </a:endParaRPr>
          </a:p>
        </p:txBody>
      </p:sp>
      <p:sp>
        <p:nvSpPr>
          <p:cNvPr id="24584" name="Rectangle 10"/>
          <p:cNvSpPr>
            <a:spLocks noChangeArrowheads="1"/>
          </p:cNvSpPr>
          <p:nvPr/>
        </p:nvSpPr>
        <p:spPr bwMode="auto">
          <a:xfrm>
            <a:off x="5997575" y="2705100"/>
            <a:ext cx="979488" cy="5715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3</a:t>
            </a:r>
            <a:endParaRPr lang="en-US" altLang="zh-CN" sz="2400">
              <a:solidFill>
                <a:schemeClr val="tx2"/>
              </a:solidFill>
            </a:endParaRPr>
          </a:p>
        </p:txBody>
      </p:sp>
      <p:sp>
        <p:nvSpPr>
          <p:cNvPr id="24585" name="Line 11"/>
          <p:cNvSpPr>
            <a:spLocks noChangeShapeType="1"/>
          </p:cNvSpPr>
          <p:nvPr/>
        </p:nvSpPr>
        <p:spPr bwMode="auto">
          <a:xfrm>
            <a:off x="3757613" y="3105150"/>
            <a:ext cx="4889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86" name="Line 12"/>
          <p:cNvSpPr>
            <a:spLocks noChangeShapeType="1"/>
          </p:cNvSpPr>
          <p:nvPr/>
        </p:nvSpPr>
        <p:spPr bwMode="auto">
          <a:xfrm>
            <a:off x="1655763" y="2990850"/>
            <a:ext cx="84137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87" name="Line 13"/>
          <p:cNvSpPr>
            <a:spLocks noChangeShapeType="1"/>
          </p:cNvSpPr>
          <p:nvPr/>
        </p:nvSpPr>
        <p:spPr bwMode="auto">
          <a:xfrm flipH="1">
            <a:off x="3757613" y="3448050"/>
            <a:ext cx="3500437"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88" name="Line 14"/>
          <p:cNvSpPr>
            <a:spLocks noChangeShapeType="1"/>
          </p:cNvSpPr>
          <p:nvPr/>
        </p:nvSpPr>
        <p:spPr bwMode="auto">
          <a:xfrm>
            <a:off x="5227638" y="3105150"/>
            <a:ext cx="76993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89" name="Line 15"/>
          <p:cNvSpPr>
            <a:spLocks noChangeShapeType="1"/>
          </p:cNvSpPr>
          <p:nvPr/>
        </p:nvSpPr>
        <p:spPr bwMode="auto">
          <a:xfrm>
            <a:off x="5507038" y="2876550"/>
            <a:ext cx="49053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90" name="Line 16"/>
          <p:cNvSpPr>
            <a:spLocks noChangeShapeType="1"/>
          </p:cNvSpPr>
          <p:nvPr/>
        </p:nvSpPr>
        <p:spPr bwMode="auto">
          <a:xfrm>
            <a:off x="5507038" y="2533650"/>
            <a:ext cx="0" cy="34290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91" name="Line 17"/>
          <p:cNvSpPr>
            <a:spLocks noChangeShapeType="1"/>
          </p:cNvSpPr>
          <p:nvPr/>
        </p:nvSpPr>
        <p:spPr bwMode="auto">
          <a:xfrm flipH="1">
            <a:off x="3757613" y="2533650"/>
            <a:ext cx="1749425"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92" name="Line 18"/>
          <p:cNvSpPr>
            <a:spLocks noChangeShapeType="1"/>
          </p:cNvSpPr>
          <p:nvPr/>
        </p:nvSpPr>
        <p:spPr bwMode="auto">
          <a:xfrm>
            <a:off x="3757613" y="2533650"/>
            <a:ext cx="0" cy="34290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93" name="Line 19"/>
          <p:cNvSpPr>
            <a:spLocks noChangeShapeType="1"/>
          </p:cNvSpPr>
          <p:nvPr/>
        </p:nvSpPr>
        <p:spPr bwMode="auto">
          <a:xfrm>
            <a:off x="6977063" y="2990850"/>
            <a:ext cx="76993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94" name="Line 20"/>
          <p:cNvSpPr>
            <a:spLocks noChangeShapeType="1"/>
          </p:cNvSpPr>
          <p:nvPr/>
        </p:nvSpPr>
        <p:spPr bwMode="auto">
          <a:xfrm>
            <a:off x="7258050" y="2990850"/>
            <a:ext cx="0" cy="45720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95" name="Rectangle 21"/>
          <p:cNvSpPr>
            <a:spLocks noChangeArrowheads="1"/>
          </p:cNvSpPr>
          <p:nvPr/>
        </p:nvSpPr>
        <p:spPr bwMode="auto">
          <a:xfrm>
            <a:off x="6907213" y="2590800"/>
            <a:ext cx="909637"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输出</a:t>
            </a:r>
            <a:endParaRPr lang="zh-CN" altLang="zh-CN" sz="2400">
              <a:solidFill>
                <a:schemeClr val="tx2"/>
              </a:solidFill>
            </a:endParaRPr>
          </a:p>
        </p:txBody>
      </p:sp>
      <p:sp>
        <p:nvSpPr>
          <p:cNvPr id="24596" name="Rectangle 22"/>
          <p:cNvSpPr>
            <a:spLocks noChangeArrowheads="1"/>
          </p:cNvSpPr>
          <p:nvPr/>
        </p:nvSpPr>
        <p:spPr bwMode="auto">
          <a:xfrm>
            <a:off x="3757613" y="2133600"/>
            <a:ext cx="174942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前馈回路</a:t>
            </a:r>
            <a:endParaRPr lang="zh-CN" altLang="zh-CN" sz="2400">
              <a:solidFill>
                <a:schemeClr val="tx2"/>
              </a:solidFill>
            </a:endParaRPr>
          </a:p>
        </p:txBody>
      </p:sp>
      <p:sp>
        <p:nvSpPr>
          <p:cNvPr id="24597" name="Rectangle 23"/>
          <p:cNvSpPr>
            <a:spLocks noChangeArrowheads="1"/>
          </p:cNvSpPr>
          <p:nvPr/>
        </p:nvSpPr>
        <p:spPr bwMode="auto">
          <a:xfrm>
            <a:off x="4667250" y="3448050"/>
            <a:ext cx="174942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反馈回路</a:t>
            </a:r>
            <a:endParaRPr lang="zh-CN" altLang="zh-CN" sz="2400">
              <a:solidFill>
                <a:schemeClr val="tx2"/>
              </a:solidFill>
            </a:endParaRPr>
          </a:p>
        </p:txBody>
      </p:sp>
      <p:sp>
        <p:nvSpPr>
          <p:cNvPr id="24598" name="Rectangle 24"/>
          <p:cNvSpPr>
            <a:spLocks noChangeArrowheads="1"/>
          </p:cNvSpPr>
          <p:nvPr/>
        </p:nvSpPr>
        <p:spPr bwMode="auto">
          <a:xfrm>
            <a:off x="2590800" y="3886200"/>
            <a:ext cx="434022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一种简单的非线性流水线</a:t>
            </a:r>
            <a:endParaRPr lang="zh-CN" altLang="zh-CN" sz="2400">
              <a:solidFill>
                <a:schemeClr val="tx2"/>
              </a:solidFill>
            </a:endParaRPr>
          </a:p>
        </p:txBody>
      </p:sp>
      <p:sp>
        <p:nvSpPr>
          <p:cNvPr id="24599" name="Rectangle 56"/>
          <p:cNvSpPr>
            <a:spLocks noChangeArrowheads="1"/>
          </p:cNvSpPr>
          <p:nvPr/>
        </p:nvSpPr>
        <p:spPr bwMode="auto">
          <a:xfrm>
            <a:off x="2649538" y="6076950"/>
            <a:ext cx="4341812"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对应的两种预约表</a:t>
            </a:r>
            <a:endParaRPr lang="zh-CN" altLang="zh-CN" sz="2400">
              <a:solidFill>
                <a:schemeClr val="tx2"/>
              </a:solidFill>
            </a:endParaRPr>
          </a:p>
        </p:txBody>
      </p:sp>
      <p:grpSp>
        <p:nvGrpSpPr>
          <p:cNvPr id="24600" name="Group 25"/>
          <p:cNvGrpSpPr/>
          <p:nvPr/>
        </p:nvGrpSpPr>
        <p:grpSpPr bwMode="auto">
          <a:xfrm>
            <a:off x="1143000" y="4584700"/>
            <a:ext cx="3160713" cy="1377950"/>
            <a:chOff x="320" y="2519"/>
            <a:chExt cx="2167" cy="908"/>
          </a:xfrm>
        </p:grpSpPr>
        <p:sp>
          <p:nvSpPr>
            <p:cNvPr id="24634" name="Rectangle 26"/>
            <p:cNvSpPr>
              <a:spLocks noChangeArrowheads="1"/>
            </p:cNvSpPr>
            <p:nvPr/>
          </p:nvSpPr>
          <p:spPr bwMode="auto">
            <a:xfrm>
              <a:off x="2042" y="3200"/>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a:t>
              </a:r>
              <a:endParaRPr lang="zh-CN" altLang="en-US" sz="2400"/>
            </a:p>
          </p:txBody>
        </p:sp>
        <p:sp>
          <p:nvSpPr>
            <p:cNvPr id="24635" name="Rectangle 27"/>
            <p:cNvSpPr>
              <a:spLocks noChangeArrowheads="1"/>
            </p:cNvSpPr>
            <p:nvPr/>
          </p:nvSpPr>
          <p:spPr bwMode="auto">
            <a:xfrm>
              <a:off x="1611" y="3200"/>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36" name="Rectangle 28"/>
            <p:cNvSpPr>
              <a:spLocks noChangeArrowheads="1"/>
            </p:cNvSpPr>
            <p:nvPr/>
          </p:nvSpPr>
          <p:spPr bwMode="auto">
            <a:xfrm>
              <a:off x="1181" y="3200"/>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a:t>
              </a:r>
              <a:endParaRPr lang="zh-CN" altLang="en-US" sz="2400"/>
            </a:p>
          </p:txBody>
        </p:sp>
        <p:sp>
          <p:nvSpPr>
            <p:cNvPr id="24637" name="Rectangle 29"/>
            <p:cNvSpPr>
              <a:spLocks noChangeArrowheads="1"/>
            </p:cNvSpPr>
            <p:nvPr/>
          </p:nvSpPr>
          <p:spPr bwMode="auto">
            <a:xfrm>
              <a:off x="750" y="3200"/>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38" name="Rectangle 30"/>
            <p:cNvSpPr>
              <a:spLocks noChangeArrowheads="1"/>
            </p:cNvSpPr>
            <p:nvPr/>
          </p:nvSpPr>
          <p:spPr bwMode="auto">
            <a:xfrm>
              <a:off x="320" y="3200"/>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S3</a:t>
              </a:r>
              <a:endParaRPr lang="en-US" altLang="zh-CN" sz="2400"/>
            </a:p>
          </p:txBody>
        </p:sp>
        <p:sp>
          <p:nvSpPr>
            <p:cNvPr id="24639" name="Rectangle 31"/>
            <p:cNvSpPr>
              <a:spLocks noChangeArrowheads="1"/>
            </p:cNvSpPr>
            <p:nvPr/>
          </p:nvSpPr>
          <p:spPr bwMode="auto">
            <a:xfrm>
              <a:off x="2042" y="2973"/>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40" name="Rectangle 32"/>
            <p:cNvSpPr>
              <a:spLocks noChangeArrowheads="1"/>
            </p:cNvSpPr>
            <p:nvPr/>
          </p:nvSpPr>
          <p:spPr bwMode="auto">
            <a:xfrm>
              <a:off x="1611" y="2973"/>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a:t>
              </a:r>
              <a:endParaRPr lang="zh-CN" altLang="en-US" sz="2400"/>
            </a:p>
          </p:txBody>
        </p:sp>
        <p:sp>
          <p:nvSpPr>
            <p:cNvPr id="24641" name="Rectangle 33"/>
            <p:cNvSpPr>
              <a:spLocks noChangeArrowheads="1"/>
            </p:cNvSpPr>
            <p:nvPr/>
          </p:nvSpPr>
          <p:spPr bwMode="auto">
            <a:xfrm>
              <a:off x="1181" y="2973"/>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42" name="Rectangle 34"/>
            <p:cNvSpPr>
              <a:spLocks noChangeArrowheads="1"/>
            </p:cNvSpPr>
            <p:nvPr/>
          </p:nvSpPr>
          <p:spPr bwMode="auto">
            <a:xfrm>
              <a:off x="750" y="2973"/>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730"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43" name="Rectangle 35"/>
            <p:cNvSpPr>
              <a:spLocks noChangeArrowheads="1"/>
            </p:cNvSpPr>
            <p:nvPr/>
          </p:nvSpPr>
          <p:spPr bwMode="auto">
            <a:xfrm>
              <a:off x="320" y="2973"/>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S2</a:t>
              </a:r>
              <a:endParaRPr lang="en-US" altLang="zh-CN" sz="2400"/>
            </a:p>
          </p:txBody>
        </p:sp>
        <p:sp>
          <p:nvSpPr>
            <p:cNvPr id="24644" name="Rectangle 36"/>
            <p:cNvSpPr>
              <a:spLocks noChangeArrowheads="1"/>
            </p:cNvSpPr>
            <p:nvPr/>
          </p:nvSpPr>
          <p:spPr bwMode="auto">
            <a:xfrm>
              <a:off x="1611" y="2746"/>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45" name="Rectangle 37"/>
            <p:cNvSpPr>
              <a:spLocks noChangeArrowheads="1"/>
            </p:cNvSpPr>
            <p:nvPr/>
          </p:nvSpPr>
          <p:spPr bwMode="auto">
            <a:xfrm>
              <a:off x="1181" y="2746"/>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46" name="Rectangle 38"/>
            <p:cNvSpPr>
              <a:spLocks noChangeArrowheads="1"/>
            </p:cNvSpPr>
            <p:nvPr/>
          </p:nvSpPr>
          <p:spPr bwMode="auto">
            <a:xfrm>
              <a:off x="750" y="2746"/>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a:t>
              </a:r>
              <a:endParaRPr lang="zh-CN" altLang="en-US" sz="2400"/>
            </a:p>
          </p:txBody>
        </p:sp>
        <p:sp>
          <p:nvSpPr>
            <p:cNvPr id="24647" name="Rectangle 39"/>
            <p:cNvSpPr>
              <a:spLocks noChangeArrowheads="1"/>
            </p:cNvSpPr>
            <p:nvPr/>
          </p:nvSpPr>
          <p:spPr bwMode="auto">
            <a:xfrm>
              <a:off x="320" y="2746"/>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S1</a:t>
              </a:r>
              <a:endParaRPr lang="en-US" altLang="zh-CN" sz="2400"/>
            </a:p>
          </p:txBody>
        </p:sp>
        <p:sp>
          <p:nvSpPr>
            <p:cNvPr id="24648" name="Rectangle 40"/>
            <p:cNvSpPr>
              <a:spLocks noChangeArrowheads="1"/>
            </p:cNvSpPr>
            <p:nvPr/>
          </p:nvSpPr>
          <p:spPr bwMode="auto">
            <a:xfrm>
              <a:off x="2042" y="2519"/>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4</a:t>
              </a:r>
              <a:endParaRPr lang="zh-CN" altLang="en-US" sz="2400"/>
            </a:p>
          </p:txBody>
        </p:sp>
        <p:sp>
          <p:nvSpPr>
            <p:cNvPr id="24649" name="Rectangle 41"/>
            <p:cNvSpPr>
              <a:spLocks noChangeArrowheads="1"/>
            </p:cNvSpPr>
            <p:nvPr/>
          </p:nvSpPr>
          <p:spPr bwMode="auto">
            <a:xfrm>
              <a:off x="1611" y="2519"/>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3</a:t>
              </a:r>
              <a:endParaRPr lang="zh-CN" altLang="en-US" sz="2400"/>
            </a:p>
          </p:txBody>
        </p:sp>
        <p:sp>
          <p:nvSpPr>
            <p:cNvPr id="24650" name="Rectangle 42"/>
            <p:cNvSpPr>
              <a:spLocks noChangeArrowheads="1"/>
            </p:cNvSpPr>
            <p:nvPr/>
          </p:nvSpPr>
          <p:spPr bwMode="auto">
            <a:xfrm>
              <a:off x="1181" y="2519"/>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2</a:t>
              </a:r>
              <a:endParaRPr lang="zh-CN" altLang="en-US" sz="2400"/>
            </a:p>
          </p:txBody>
        </p:sp>
        <p:sp>
          <p:nvSpPr>
            <p:cNvPr id="24651" name="Rectangle 43"/>
            <p:cNvSpPr>
              <a:spLocks noChangeArrowheads="1"/>
            </p:cNvSpPr>
            <p:nvPr/>
          </p:nvSpPr>
          <p:spPr bwMode="auto">
            <a:xfrm>
              <a:off x="750" y="2519"/>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1</a:t>
              </a:r>
              <a:endParaRPr lang="zh-CN" altLang="en-US" sz="2400"/>
            </a:p>
          </p:txBody>
        </p:sp>
        <p:sp>
          <p:nvSpPr>
            <p:cNvPr id="24652" name="Rectangle 44"/>
            <p:cNvSpPr>
              <a:spLocks noChangeArrowheads="1"/>
            </p:cNvSpPr>
            <p:nvPr/>
          </p:nvSpPr>
          <p:spPr bwMode="auto">
            <a:xfrm>
              <a:off x="320" y="2519"/>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730"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53" name="Line 45"/>
            <p:cNvSpPr>
              <a:spLocks noChangeShapeType="1"/>
            </p:cNvSpPr>
            <p:nvPr/>
          </p:nvSpPr>
          <p:spPr bwMode="auto">
            <a:xfrm>
              <a:off x="320" y="2519"/>
              <a:ext cx="2157" cy="0"/>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54" name="Line 46"/>
            <p:cNvSpPr>
              <a:spLocks noChangeShapeType="1"/>
            </p:cNvSpPr>
            <p:nvPr/>
          </p:nvSpPr>
          <p:spPr bwMode="auto">
            <a:xfrm flipV="1">
              <a:off x="320" y="2745"/>
              <a:ext cx="2151" cy="1"/>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55" name="Line 47"/>
            <p:cNvSpPr>
              <a:spLocks noChangeShapeType="1"/>
            </p:cNvSpPr>
            <p:nvPr/>
          </p:nvSpPr>
          <p:spPr bwMode="auto">
            <a:xfrm>
              <a:off x="320" y="2968"/>
              <a:ext cx="2167" cy="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56" name="Line 48"/>
            <p:cNvSpPr>
              <a:spLocks noChangeShapeType="1"/>
            </p:cNvSpPr>
            <p:nvPr/>
          </p:nvSpPr>
          <p:spPr bwMode="auto">
            <a:xfrm flipV="1">
              <a:off x="320" y="3198"/>
              <a:ext cx="2157" cy="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57" name="Line 49"/>
            <p:cNvSpPr>
              <a:spLocks noChangeShapeType="1"/>
            </p:cNvSpPr>
            <p:nvPr/>
          </p:nvSpPr>
          <p:spPr bwMode="auto">
            <a:xfrm flipV="1">
              <a:off x="320" y="3414"/>
              <a:ext cx="2151" cy="13"/>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58" name="Line 50"/>
            <p:cNvSpPr>
              <a:spLocks noChangeShapeType="1"/>
            </p:cNvSpPr>
            <p:nvPr/>
          </p:nvSpPr>
          <p:spPr bwMode="auto">
            <a:xfrm>
              <a:off x="320" y="2519"/>
              <a:ext cx="0" cy="908"/>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59" name="Line 51"/>
            <p:cNvSpPr>
              <a:spLocks noChangeShapeType="1"/>
            </p:cNvSpPr>
            <p:nvPr/>
          </p:nvSpPr>
          <p:spPr bwMode="auto">
            <a:xfrm>
              <a:off x="750" y="2519"/>
              <a:ext cx="0" cy="90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60" name="Line 52"/>
            <p:cNvSpPr>
              <a:spLocks noChangeShapeType="1"/>
            </p:cNvSpPr>
            <p:nvPr/>
          </p:nvSpPr>
          <p:spPr bwMode="auto">
            <a:xfrm>
              <a:off x="1181" y="2519"/>
              <a:ext cx="0" cy="90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61" name="Line 53"/>
            <p:cNvSpPr>
              <a:spLocks noChangeShapeType="1"/>
            </p:cNvSpPr>
            <p:nvPr/>
          </p:nvSpPr>
          <p:spPr bwMode="auto">
            <a:xfrm>
              <a:off x="1611" y="2519"/>
              <a:ext cx="0" cy="90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62" name="Line 54"/>
            <p:cNvSpPr>
              <a:spLocks noChangeShapeType="1"/>
            </p:cNvSpPr>
            <p:nvPr/>
          </p:nvSpPr>
          <p:spPr bwMode="auto">
            <a:xfrm>
              <a:off x="2042" y="2519"/>
              <a:ext cx="0" cy="90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63" name="Line 55"/>
            <p:cNvSpPr>
              <a:spLocks noChangeShapeType="1"/>
            </p:cNvSpPr>
            <p:nvPr/>
          </p:nvSpPr>
          <p:spPr bwMode="auto">
            <a:xfrm>
              <a:off x="2473" y="2519"/>
              <a:ext cx="0" cy="90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grpSp>
      <p:sp>
        <p:nvSpPr>
          <p:cNvPr id="24601" name="Rectangle 59"/>
          <p:cNvSpPr>
            <a:spLocks noChangeArrowheads="1"/>
          </p:cNvSpPr>
          <p:nvPr/>
        </p:nvSpPr>
        <p:spPr bwMode="auto">
          <a:xfrm>
            <a:off x="6516688" y="5618163"/>
            <a:ext cx="628650"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02" name="Rectangle 61"/>
          <p:cNvSpPr>
            <a:spLocks noChangeArrowheads="1"/>
          </p:cNvSpPr>
          <p:nvPr/>
        </p:nvSpPr>
        <p:spPr bwMode="auto">
          <a:xfrm>
            <a:off x="5260975" y="5618163"/>
            <a:ext cx="628650"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03" name="Rectangle 62"/>
          <p:cNvSpPr>
            <a:spLocks noChangeArrowheads="1"/>
          </p:cNvSpPr>
          <p:nvPr/>
        </p:nvSpPr>
        <p:spPr bwMode="auto">
          <a:xfrm>
            <a:off x="4633913" y="5618163"/>
            <a:ext cx="627062"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S3</a:t>
            </a:r>
            <a:endParaRPr lang="en-US" altLang="zh-CN" sz="2400"/>
          </a:p>
        </p:txBody>
      </p:sp>
      <p:sp>
        <p:nvSpPr>
          <p:cNvPr id="24604" name="Rectangle 63"/>
          <p:cNvSpPr>
            <a:spLocks noChangeArrowheads="1"/>
          </p:cNvSpPr>
          <p:nvPr/>
        </p:nvSpPr>
        <p:spPr bwMode="auto">
          <a:xfrm>
            <a:off x="7162800" y="5257800"/>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a:t>
            </a:r>
            <a:endParaRPr lang="zh-CN" altLang="en-US" sz="2400"/>
          </a:p>
        </p:txBody>
      </p:sp>
      <p:sp>
        <p:nvSpPr>
          <p:cNvPr id="24605" name="Rectangle 64"/>
          <p:cNvSpPr>
            <a:spLocks noChangeArrowheads="1"/>
          </p:cNvSpPr>
          <p:nvPr/>
        </p:nvSpPr>
        <p:spPr bwMode="auto">
          <a:xfrm>
            <a:off x="6516688" y="5638800"/>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a:t>
            </a:r>
            <a:endParaRPr lang="zh-CN" altLang="en-US" sz="2400"/>
          </a:p>
        </p:txBody>
      </p:sp>
      <p:sp>
        <p:nvSpPr>
          <p:cNvPr id="24606" name="Rectangle 65"/>
          <p:cNvSpPr>
            <a:spLocks noChangeArrowheads="1"/>
          </p:cNvSpPr>
          <p:nvPr/>
        </p:nvSpPr>
        <p:spPr bwMode="auto">
          <a:xfrm>
            <a:off x="5867400" y="5257800"/>
            <a:ext cx="627063"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a:t>
            </a:r>
            <a:endParaRPr lang="zh-CN" altLang="en-US" sz="2400"/>
          </a:p>
        </p:txBody>
      </p:sp>
      <p:sp>
        <p:nvSpPr>
          <p:cNvPr id="24607" name="Rectangle 66"/>
          <p:cNvSpPr>
            <a:spLocks noChangeArrowheads="1"/>
          </p:cNvSpPr>
          <p:nvPr/>
        </p:nvSpPr>
        <p:spPr bwMode="auto">
          <a:xfrm>
            <a:off x="5260975" y="5273675"/>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730"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08" name="Rectangle 67"/>
          <p:cNvSpPr>
            <a:spLocks noChangeArrowheads="1"/>
          </p:cNvSpPr>
          <p:nvPr/>
        </p:nvSpPr>
        <p:spPr bwMode="auto">
          <a:xfrm>
            <a:off x="4633913" y="5273675"/>
            <a:ext cx="627062"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S2</a:t>
            </a:r>
            <a:endParaRPr lang="en-US" altLang="zh-CN" sz="2400"/>
          </a:p>
        </p:txBody>
      </p:sp>
      <p:sp>
        <p:nvSpPr>
          <p:cNvPr id="24609" name="Rectangle 68"/>
          <p:cNvSpPr>
            <a:spLocks noChangeArrowheads="1"/>
          </p:cNvSpPr>
          <p:nvPr/>
        </p:nvSpPr>
        <p:spPr bwMode="auto">
          <a:xfrm>
            <a:off x="6516688" y="4929188"/>
            <a:ext cx="628650" cy="344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10" name="Rectangle 69"/>
          <p:cNvSpPr>
            <a:spLocks noChangeArrowheads="1"/>
          </p:cNvSpPr>
          <p:nvPr/>
        </p:nvSpPr>
        <p:spPr bwMode="auto">
          <a:xfrm>
            <a:off x="5889625" y="4929188"/>
            <a:ext cx="627063" cy="344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11" name="Rectangle 70"/>
          <p:cNvSpPr>
            <a:spLocks noChangeArrowheads="1"/>
          </p:cNvSpPr>
          <p:nvPr/>
        </p:nvSpPr>
        <p:spPr bwMode="auto">
          <a:xfrm>
            <a:off x="5260975" y="4929188"/>
            <a:ext cx="628650" cy="344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a:t>
            </a:r>
            <a:endParaRPr lang="zh-CN" altLang="en-US" sz="2400"/>
          </a:p>
        </p:txBody>
      </p:sp>
      <p:sp>
        <p:nvSpPr>
          <p:cNvPr id="24612" name="Rectangle 71"/>
          <p:cNvSpPr>
            <a:spLocks noChangeArrowheads="1"/>
          </p:cNvSpPr>
          <p:nvPr/>
        </p:nvSpPr>
        <p:spPr bwMode="auto">
          <a:xfrm>
            <a:off x="4633913" y="4929188"/>
            <a:ext cx="627062" cy="344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S1</a:t>
            </a:r>
            <a:endParaRPr lang="en-US" altLang="zh-CN" sz="2400"/>
          </a:p>
        </p:txBody>
      </p:sp>
      <p:sp>
        <p:nvSpPr>
          <p:cNvPr id="24613" name="Rectangle 72"/>
          <p:cNvSpPr>
            <a:spLocks noChangeArrowheads="1"/>
          </p:cNvSpPr>
          <p:nvPr/>
        </p:nvSpPr>
        <p:spPr bwMode="auto">
          <a:xfrm>
            <a:off x="7145338" y="4584700"/>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4</a:t>
            </a:r>
            <a:endParaRPr lang="zh-CN" altLang="en-US" sz="2400"/>
          </a:p>
        </p:txBody>
      </p:sp>
      <p:sp>
        <p:nvSpPr>
          <p:cNvPr id="24614" name="Rectangle 73"/>
          <p:cNvSpPr>
            <a:spLocks noChangeArrowheads="1"/>
          </p:cNvSpPr>
          <p:nvPr/>
        </p:nvSpPr>
        <p:spPr bwMode="auto">
          <a:xfrm>
            <a:off x="6516688" y="4584700"/>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3</a:t>
            </a:r>
            <a:endParaRPr lang="zh-CN" altLang="en-US" sz="2400"/>
          </a:p>
        </p:txBody>
      </p:sp>
      <p:sp>
        <p:nvSpPr>
          <p:cNvPr id="24615" name="Rectangle 74"/>
          <p:cNvSpPr>
            <a:spLocks noChangeArrowheads="1"/>
          </p:cNvSpPr>
          <p:nvPr/>
        </p:nvSpPr>
        <p:spPr bwMode="auto">
          <a:xfrm>
            <a:off x="5889625" y="4584700"/>
            <a:ext cx="627063"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2</a:t>
            </a:r>
            <a:endParaRPr lang="zh-CN" altLang="en-US" sz="2400"/>
          </a:p>
        </p:txBody>
      </p:sp>
      <p:sp>
        <p:nvSpPr>
          <p:cNvPr id="24616" name="Rectangle 75"/>
          <p:cNvSpPr>
            <a:spLocks noChangeArrowheads="1"/>
          </p:cNvSpPr>
          <p:nvPr/>
        </p:nvSpPr>
        <p:spPr bwMode="auto">
          <a:xfrm>
            <a:off x="5260975" y="4584700"/>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1</a:t>
            </a:r>
            <a:endParaRPr lang="zh-CN" altLang="en-US" sz="2400"/>
          </a:p>
        </p:txBody>
      </p:sp>
      <p:sp>
        <p:nvSpPr>
          <p:cNvPr id="24617" name="Rectangle 76"/>
          <p:cNvSpPr>
            <a:spLocks noChangeArrowheads="1"/>
          </p:cNvSpPr>
          <p:nvPr/>
        </p:nvSpPr>
        <p:spPr bwMode="auto">
          <a:xfrm>
            <a:off x="4633913" y="4584700"/>
            <a:ext cx="627062"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730"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2400"/>
          </a:p>
        </p:txBody>
      </p:sp>
      <p:sp>
        <p:nvSpPr>
          <p:cNvPr id="24618" name="Line 77"/>
          <p:cNvSpPr>
            <a:spLocks noChangeShapeType="1"/>
          </p:cNvSpPr>
          <p:nvPr/>
        </p:nvSpPr>
        <p:spPr bwMode="auto">
          <a:xfrm>
            <a:off x="4646613" y="4584700"/>
            <a:ext cx="3649662" cy="0"/>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19" name="Line 78"/>
          <p:cNvSpPr>
            <a:spLocks noChangeShapeType="1"/>
          </p:cNvSpPr>
          <p:nvPr/>
        </p:nvSpPr>
        <p:spPr bwMode="auto">
          <a:xfrm flipV="1">
            <a:off x="4633913" y="4927600"/>
            <a:ext cx="3679825" cy="15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0" name="Line 79"/>
          <p:cNvSpPr>
            <a:spLocks noChangeShapeType="1"/>
          </p:cNvSpPr>
          <p:nvPr/>
        </p:nvSpPr>
        <p:spPr bwMode="auto">
          <a:xfrm>
            <a:off x="4633913" y="5265738"/>
            <a:ext cx="3676650" cy="793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1" name="Line 80"/>
          <p:cNvSpPr>
            <a:spLocks noChangeShapeType="1"/>
          </p:cNvSpPr>
          <p:nvPr/>
        </p:nvSpPr>
        <p:spPr bwMode="auto">
          <a:xfrm flipV="1">
            <a:off x="4633913" y="5614988"/>
            <a:ext cx="3662362" cy="31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2" name="Line 81"/>
          <p:cNvSpPr>
            <a:spLocks noChangeShapeType="1"/>
          </p:cNvSpPr>
          <p:nvPr/>
        </p:nvSpPr>
        <p:spPr bwMode="auto">
          <a:xfrm>
            <a:off x="4633913" y="5964238"/>
            <a:ext cx="3692525" cy="6350"/>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3" name="Line 82"/>
          <p:cNvSpPr>
            <a:spLocks noChangeShapeType="1"/>
          </p:cNvSpPr>
          <p:nvPr/>
        </p:nvSpPr>
        <p:spPr bwMode="auto">
          <a:xfrm>
            <a:off x="4633913" y="4584700"/>
            <a:ext cx="0" cy="1379538"/>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4" name="Line 83"/>
          <p:cNvSpPr>
            <a:spLocks noChangeShapeType="1"/>
          </p:cNvSpPr>
          <p:nvPr/>
        </p:nvSpPr>
        <p:spPr bwMode="auto">
          <a:xfrm>
            <a:off x="5260975" y="4584700"/>
            <a:ext cx="0" cy="13795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5" name="Line 84"/>
          <p:cNvSpPr>
            <a:spLocks noChangeShapeType="1"/>
          </p:cNvSpPr>
          <p:nvPr/>
        </p:nvSpPr>
        <p:spPr bwMode="auto">
          <a:xfrm>
            <a:off x="5889625" y="4584700"/>
            <a:ext cx="0" cy="13795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6" name="Line 85"/>
          <p:cNvSpPr>
            <a:spLocks noChangeShapeType="1"/>
          </p:cNvSpPr>
          <p:nvPr/>
        </p:nvSpPr>
        <p:spPr bwMode="auto">
          <a:xfrm>
            <a:off x="6516688" y="4584700"/>
            <a:ext cx="0" cy="13795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7" name="Line 86"/>
          <p:cNvSpPr>
            <a:spLocks noChangeShapeType="1"/>
          </p:cNvSpPr>
          <p:nvPr/>
        </p:nvSpPr>
        <p:spPr bwMode="auto">
          <a:xfrm>
            <a:off x="7145338" y="4584700"/>
            <a:ext cx="0" cy="13795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8" name="Line 87"/>
          <p:cNvSpPr>
            <a:spLocks noChangeShapeType="1"/>
          </p:cNvSpPr>
          <p:nvPr/>
        </p:nvSpPr>
        <p:spPr bwMode="auto">
          <a:xfrm>
            <a:off x="8304213" y="4572000"/>
            <a:ext cx="0" cy="140493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9" name="Line 88"/>
          <p:cNvSpPr>
            <a:spLocks noChangeShapeType="1"/>
          </p:cNvSpPr>
          <p:nvPr/>
        </p:nvSpPr>
        <p:spPr bwMode="auto">
          <a:xfrm>
            <a:off x="7739063" y="4584700"/>
            <a:ext cx="0" cy="13795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30" name="Rectangle 89"/>
          <p:cNvSpPr>
            <a:spLocks noChangeArrowheads="1"/>
          </p:cNvSpPr>
          <p:nvPr/>
        </p:nvSpPr>
        <p:spPr bwMode="auto">
          <a:xfrm>
            <a:off x="7688263" y="4611688"/>
            <a:ext cx="628650" cy="344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5</a:t>
            </a:r>
            <a:endParaRPr lang="zh-CN" altLang="en-US" sz="2400"/>
          </a:p>
        </p:txBody>
      </p:sp>
      <p:sp>
        <p:nvSpPr>
          <p:cNvPr id="24631" name="Rectangle 90"/>
          <p:cNvSpPr>
            <a:spLocks noChangeArrowheads="1"/>
          </p:cNvSpPr>
          <p:nvPr/>
        </p:nvSpPr>
        <p:spPr bwMode="auto">
          <a:xfrm>
            <a:off x="7696200" y="5638800"/>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a:t>
            </a:r>
            <a:endParaRPr lang="zh-CN" altLang="en-US" sz="2400"/>
          </a:p>
        </p:txBody>
      </p:sp>
      <p:sp>
        <p:nvSpPr>
          <p:cNvPr id="24632" name="Text Box 9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2</a:t>
            </a:r>
            <a:endParaRPr lang="zh-CN" altLang="en-US" sz="1200" b="0">
              <a:latin typeface="幼圆" panose="02010509060101010101" pitchFamily="49" charset="-122"/>
              <a:ea typeface="幼圆" panose="02010509060101010101" pitchFamily="49" charset="-122"/>
            </a:endParaRPr>
          </a:p>
        </p:txBody>
      </p:sp>
      <p:sp>
        <p:nvSpPr>
          <p:cNvPr id="24633" name="Text Box 9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流水线的分类</a:t>
            </a:r>
            <a:endParaRPr lang="zh-CN" altLang="en-US" sz="1200" b="0">
              <a:latin typeface="Times New Roman" panose="02020603050405020304" pitchFamily="18" charset="0"/>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850" name="Rectangle 2"/>
          <p:cNvSpPr>
            <a:spLocks noGrp="1" noChangeArrowheads="1"/>
          </p:cNvSpPr>
          <p:nvPr>
            <p:ph type="title"/>
          </p:nvPr>
        </p:nvSpPr>
        <p:spPr/>
        <p:txBody>
          <a:bodyPr/>
          <a:lstStyle/>
          <a:p>
            <a:pPr eaLnBrk="1" hangingPunct="1">
              <a:defRPr/>
            </a:pPr>
            <a:r>
              <a:rPr lang="zh-CN" altLang="en-US" smtClean="0"/>
              <a:t>提  示</a:t>
            </a:r>
            <a:endParaRPr lang="zh-CN" altLang="en-US" smtClean="0"/>
          </a:p>
        </p:txBody>
      </p:sp>
      <p:sp>
        <p:nvSpPr>
          <p:cNvPr id="590852" name="Rectangle 4"/>
          <p:cNvSpPr>
            <a:spLocks noGrp="1" noChangeArrowheads="1"/>
          </p:cNvSpPr>
          <p:nvPr>
            <p:ph type="body" idx="1"/>
          </p:nvPr>
        </p:nvSpPr>
        <p:spPr/>
        <p:txBody>
          <a:bodyPr/>
          <a:lstStyle/>
          <a:p>
            <a:pPr marL="374650" indent="-374650" eaLnBrk="1" hangingPunct="1">
              <a:lnSpc>
                <a:spcPct val="120000"/>
              </a:lnSpc>
              <a:defRPr/>
            </a:pPr>
            <a:r>
              <a:rPr lang="zh-CN" altLang="en-US" sz="2400" dirty="0" smtClean="0"/>
              <a:t>线性流水线能够用</a:t>
            </a:r>
            <a:r>
              <a:rPr lang="zh-CN" altLang="en-US" sz="2400" dirty="0" smtClean="0">
                <a:solidFill>
                  <a:srgbClr val="FF0000"/>
                </a:solidFill>
                <a:effectLst>
                  <a:outerShdw blurRad="38100" dist="38100" dir="2700000" algn="tl">
                    <a:srgbClr val="C0C0C0"/>
                  </a:outerShdw>
                </a:effectLst>
              </a:rPr>
              <a:t>连接图</a:t>
            </a:r>
            <a:r>
              <a:rPr lang="zh-CN" altLang="en-US" sz="2400" dirty="0" smtClean="0"/>
              <a:t>唯一表示，非线性流水线必须用</a:t>
            </a:r>
            <a:r>
              <a:rPr lang="zh-CN" altLang="en-US" sz="2400" dirty="0" smtClean="0">
                <a:solidFill>
                  <a:srgbClr val="FF0000"/>
                </a:solidFill>
                <a:effectLst>
                  <a:outerShdw blurRad="38100" dist="38100" dir="2700000" algn="tl">
                    <a:srgbClr val="C0C0C0"/>
                  </a:outerShdw>
                </a:effectLst>
              </a:rPr>
              <a:t>连接图</a:t>
            </a:r>
            <a:r>
              <a:rPr lang="zh-CN" altLang="en-US" sz="2400" dirty="0" smtClean="0"/>
              <a:t>和</a:t>
            </a:r>
            <a:r>
              <a:rPr lang="zh-CN" altLang="en-US" sz="2400" dirty="0" smtClean="0">
                <a:solidFill>
                  <a:srgbClr val="FF0000"/>
                </a:solidFill>
                <a:effectLst>
                  <a:outerShdw blurRad="38100" dist="38100" dir="2700000" algn="tl">
                    <a:srgbClr val="C0C0C0"/>
                  </a:outerShdw>
                </a:effectLst>
              </a:rPr>
              <a:t>预约表</a:t>
            </a:r>
            <a:r>
              <a:rPr lang="zh-CN" altLang="en-US" sz="2400" dirty="0" smtClean="0"/>
              <a:t>共同表示。</a:t>
            </a:r>
            <a:endParaRPr lang="zh-CN" altLang="en-US" sz="2400" dirty="0" smtClean="0"/>
          </a:p>
          <a:p>
            <a:pPr marL="374650" indent="-374650" eaLnBrk="1" hangingPunct="1">
              <a:lnSpc>
                <a:spcPct val="120000"/>
              </a:lnSpc>
              <a:defRPr/>
            </a:pPr>
            <a:r>
              <a:rPr lang="zh-CN" altLang="en-US" sz="2400" dirty="0" smtClean="0"/>
              <a:t>一条非线性流水线可以对应有很多张预约表，同样，一张预约表实际上仅表示了一条非线性流水线的一种工作方式</a:t>
            </a:r>
            <a:endParaRPr lang="zh-CN" altLang="en-US" sz="2400" dirty="0" smtClean="0"/>
          </a:p>
          <a:p>
            <a:pPr marL="374650" indent="-374650" eaLnBrk="1" hangingPunct="1">
              <a:lnSpc>
                <a:spcPct val="120000"/>
              </a:lnSpc>
              <a:defRPr/>
            </a:pPr>
            <a:r>
              <a:rPr lang="zh-CN" altLang="en-US" sz="2400" dirty="0" smtClean="0"/>
              <a:t>线性流水线实际上也有预约表，只不过它的预约表是固定的（一张对角线为×的正方形的表格）</a:t>
            </a:r>
            <a:endParaRPr lang="en-US" altLang="zh-CN" sz="2400" dirty="0" smtClean="0"/>
          </a:p>
          <a:p>
            <a:pPr marL="374650" indent="-374650" eaLnBrk="1" hangingPunct="1">
              <a:lnSpc>
                <a:spcPct val="120000"/>
              </a:lnSpc>
              <a:defRPr/>
            </a:pPr>
            <a:r>
              <a:rPr lang="zh-CN" altLang="en-US" sz="2400" dirty="0" smtClean="0">
                <a:solidFill>
                  <a:srgbClr val="FF0000"/>
                </a:solidFill>
              </a:rPr>
              <a:t>非线性流水线调度</a:t>
            </a:r>
            <a:r>
              <a:rPr lang="zh-CN" altLang="en-US" sz="2400" dirty="0" smtClean="0"/>
              <a:t>：确定什么时候向流水线引进新的任务，才能使该任务不会与已进入流水线的任务发生冲突</a:t>
            </a:r>
            <a:endParaRPr lang="zh-CN" altLang="en-US" sz="2400" dirty="0" smtClean="0"/>
          </a:p>
        </p:txBody>
      </p:sp>
      <p:sp>
        <p:nvSpPr>
          <p:cNvPr id="25604"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3</a:t>
            </a:r>
            <a:endParaRPr lang="zh-CN" altLang="en-US" sz="1200" b="0">
              <a:latin typeface="幼圆" panose="02010509060101010101" pitchFamily="49" charset="-122"/>
              <a:ea typeface="幼圆" panose="02010509060101010101" pitchFamily="49" charset="-122"/>
            </a:endParaRPr>
          </a:p>
        </p:txBody>
      </p:sp>
      <p:sp>
        <p:nvSpPr>
          <p:cNvPr id="25605" name="Text Box 6"/>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流水线的分类</a:t>
            </a:r>
            <a:endParaRPr lang="zh-CN" altLang="en-US" sz="1200" b="0">
              <a:latin typeface="Times New Roman" panose="02020603050405020304" pitchFamily="18" charset="0"/>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Rectangle 2"/>
          <p:cNvSpPr>
            <a:spLocks noGrp="1" noChangeArrowheads="1"/>
          </p:cNvSpPr>
          <p:nvPr>
            <p:ph type="title"/>
          </p:nvPr>
        </p:nvSpPr>
        <p:spPr/>
        <p:txBody>
          <a:bodyPr/>
          <a:lstStyle/>
          <a:p>
            <a:pPr eaLnBrk="1" hangingPunct="1">
              <a:defRPr/>
            </a:pPr>
            <a:r>
              <a:rPr lang="zh-CN" altLang="en-US" smtClean="0"/>
              <a:t>分类四</a:t>
            </a:r>
            <a:endParaRPr lang="zh-CN" altLang="en-US" smtClean="0"/>
          </a:p>
        </p:txBody>
      </p:sp>
      <p:sp>
        <p:nvSpPr>
          <p:cNvPr id="26627" name="Rectangle 4"/>
          <p:cNvSpPr>
            <a:spLocks noGrp="1" noChangeArrowheads="1"/>
          </p:cNvSpPr>
          <p:nvPr>
            <p:ph type="body" idx="1"/>
          </p:nvPr>
        </p:nvSpPr>
        <p:spPr>
          <a:xfrm>
            <a:off x="809625" y="1989138"/>
            <a:ext cx="7958138" cy="1639887"/>
          </a:xfrm>
        </p:spPr>
        <p:txBody>
          <a:bodyPr/>
          <a:lstStyle/>
          <a:p>
            <a:pPr marL="0" indent="0" eaLnBrk="1" hangingPunct="1">
              <a:lnSpc>
                <a:spcPct val="120000"/>
              </a:lnSpc>
              <a:buFont typeface="Wingdings" panose="05000000000000000000" pitchFamily="2" charset="2"/>
              <a:buNone/>
            </a:pPr>
            <a:r>
              <a:rPr lang="zh-CN" altLang="en-US" smtClean="0"/>
              <a:t>        按照流水线使用的不同级别，可以将流水线分为：</a:t>
            </a:r>
            <a:endParaRPr lang="zh-CN" altLang="en-US" smtClean="0"/>
          </a:p>
        </p:txBody>
      </p:sp>
      <p:sp>
        <p:nvSpPr>
          <p:cNvPr id="26628" name="Rectangle 5"/>
          <p:cNvSpPr>
            <a:spLocks noChangeArrowheads="1"/>
          </p:cNvSpPr>
          <p:nvPr/>
        </p:nvSpPr>
        <p:spPr bwMode="auto">
          <a:xfrm>
            <a:off x="2627313" y="3500438"/>
            <a:ext cx="3962400" cy="2514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74650" indent="-374650" eaLnBrk="0" hangingPunct="0">
              <a:buChar char="w"/>
              <a:defRPr kumimoji="1" sz="3200" b="1">
                <a:solidFill>
                  <a:schemeClr val="tx1"/>
                </a:solidFill>
                <a:latin typeface="Arial" panose="020B0604020202020204" pitchFamily="34" charset="0"/>
                <a:ea typeface="楷体_GB2312" pitchFamily="49" charset="-122"/>
              </a:defRPr>
            </a:lvl1pPr>
            <a:lvl2pPr marL="85090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270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891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1082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654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3022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79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937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140000"/>
              </a:lnSpc>
            </a:pPr>
            <a:r>
              <a:rPr lang="zh-CN" altLang="en-US">
                <a:latin typeface="Times New Roman" panose="02020603050405020304" pitchFamily="18" charset="0"/>
                <a:hlinkClick r:id="rId1" action="ppaction://hlinksldjump"/>
              </a:rPr>
              <a:t>部件级流水线</a:t>
            </a:r>
            <a:endParaRPr lang="zh-CN" altLang="en-US">
              <a:latin typeface="Times New Roman" panose="02020603050405020304" pitchFamily="18" charset="0"/>
            </a:endParaRPr>
          </a:p>
          <a:p>
            <a:pPr eaLnBrk="1" hangingPunct="1">
              <a:lnSpc>
                <a:spcPct val="140000"/>
              </a:lnSpc>
            </a:pPr>
            <a:r>
              <a:rPr lang="zh-CN" altLang="en-US">
                <a:latin typeface="Times New Roman" panose="02020603050405020304" pitchFamily="18" charset="0"/>
                <a:hlinkClick r:id="rId2" action="ppaction://hlinksldjump"/>
              </a:rPr>
              <a:t>处理机级流水线</a:t>
            </a:r>
            <a:endParaRPr lang="zh-CN" altLang="en-US">
              <a:latin typeface="Times New Roman" panose="02020603050405020304" pitchFamily="18" charset="0"/>
            </a:endParaRPr>
          </a:p>
          <a:p>
            <a:pPr eaLnBrk="1" hangingPunct="1">
              <a:lnSpc>
                <a:spcPct val="140000"/>
              </a:lnSpc>
            </a:pPr>
            <a:r>
              <a:rPr lang="zh-CN" altLang="en-US">
                <a:latin typeface="Times New Roman" panose="02020603050405020304" pitchFamily="18" charset="0"/>
                <a:hlinkClick r:id="rId3" action="ppaction://hlinksldjump"/>
              </a:rPr>
              <a:t>系统级流水线</a:t>
            </a:r>
            <a:endParaRPr lang="zh-CN" altLang="en-US">
              <a:latin typeface="Times New Roman" panose="02020603050405020304" pitchFamily="18" charset="0"/>
            </a:endParaRPr>
          </a:p>
        </p:txBody>
      </p:sp>
      <p:sp>
        <p:nvSpPr>
          <p:cNvPr id="26629" name="Text Box 6"/>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4"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流水线的分类</a:t>
            </a:r>
            <a:endParaRPr lang="zh-CN" altLang="en-US" sz="1200" b="0">
              <a:latin typeface="Times New Roman" panose="02020603050405020304" pitchFamily="18" charset="0"/>
              <a:ea typeface="幼圆" panose="02010509060101010101" pitchFamily="49" charset="-122"/>
            </a:endParaRPr>
          </a:p>
        </p:txBody>
      </p:sp>
    </p:spTree>
  </p:cSld>
  <p:clrMapOvr>
    <a:masterClrMapping/>
  </p:clrMapOvr>
  <p:transition spd="slow">
    <p:random/>
    <p:sndAc>
      <p:stSnd>
        <p:snd r:embed="rId7" name="projctor.wav"/>
      </p:stSnd>
    </p:sndAc>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1874" name="Rectangle 2"/>
          <p:cNvSpPr>
            <a:spLocks noGrp="1" noChangeArrowheads="1"/>
          </p:cNvSpPr>
          <p:nvPr>
            <p:ph type="title"/>
          </p:nvPr>
        </p:nvSpPr>
        <p:spPr/>
        <p:txBody>
          <a:bodyPr/>
          <a:lstStyle/>
          <a:p>
            <a:pPr eaLnBrk="1" hangingPunct="1">
              <a:defRPr/>
            </a:pPr>
            <a:r>
              <a:rPr lang="zh-CN" altLang="en-US" smtClean="0"/>
              <a:t>部件级流水线</a:t>
            </a:r>
            <a:endParaRPr lang="en-US" altLang="zh-CN" smtClean="0"/>
          </a:p>
        </p:txBody>
      </p:sp>
      <p:sp>
        <p:nvSpPr>
          <p:cNvPr id="276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流水线的分类</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分类四</a:t>
            </a:r>
            <a:endParaRPr lang="zh-CN" altLang="en-US" sz="1200" b="0">
              <a:latin typeface="Times New Roman" panose="02020603050405020304" pitchFamily="18" charset="0"/>
              <a:ea typeface="幼圆" panose="02010509060101010101" pitchFamily="49" charset="-122"/>
            </a:endParaRPr>
          </a:p>
        </p:txBody>
      </p:sp>
      <p:sp>
        <p:nvSpPr>
          <p:cNvPr id="27652" name="Rectangle 6"/>
          <p:cNvSpPr>
            <a:spLocks noGrp="1" noChangeArrowheads="1"/>
          </p:cNvSpPr>
          <p:nvPr>
            <p:ph type="body" idx="1"/>
          </p:nvPr>
        </p:nvSpPr>
        <p:spPr>
          <a:xfrm>
            <a:off x="838200" y="2243138"/>
            <a:ext cx="7924800" cy="1906587"/>
          </a:xfrm>
        </p:spPr>
        <p:txBody>
          <a:bodyPr/>
          <a:lstStyle/>
          <a:p>
            <a:pPr marL="0" indent="0" eaLnBrk="1" hangingPunct="1">
              <a:lnSpc>
                <a:spcPct val="120000"/>
              </a:lnSpc>
              <a:buFont typeface="Wingdings" panose="05000000000000000000" pitchFamily="2" charset="2"/>
              <a:buNone/>
            </a:pPr>
            <a:r>
              <a:rPr lang="zh-CN" altLang="en-US" sz="2800" smtClean="0"/>
              <a:t>        也称</a:t>
            </a:r>
            <a:r>
              <a:rPr lang="zh-CN" altLang="en-US" sz="2800" smtClean="0">
                <a:solidFill>
                  <a:srgbClr val="FF0000"/>
                </a:solidFill>
              </a:rPr>
              <a:t>运算操作流水线</a:t>
            </a:r>
            <a:r>
              <a:rPr lang="zh-CN" altLang="en-US" sz="2800" smtClean="0"/>
              <a:t>，是指构成部件内的各子部件之间的流水。例如：浮点加法器流水线。</a:t>
            </a:r>
            <a:endParaRPr lang="zh-CN" altLang="en-US" sz="2800" smtClean="0"/>
          </a:p>
        </p:txBody>
      </p:sp>
      <p:grpSp>
        <p:nvGrpSpPr>
          <p:cNvPr id="27653" name="Group 7"/>
          <p:cNvGrpSpPr/>
          <p:nvPr/>
        </p:nvGrpSpPr>
        <p:grpSpPr bwMode="auto">
          <a:xfrm>
            <a:off x="914400" y="4191000"/>
            <a:ext cx="7654925" cy="1139825"/>
            <a:chOff x="576" y="912"/>
            <a:chExt cx="4848" cy="816"/>
          </a:xfrm>
        </p:grpSpPr>
        <p:sp>
          <p:nvSpPr>
            <p:cNvPr id="27654" name="Rectangle 8"/>
            <p:cNvSpPr>
              <a:spLocks noChangeArrowheads="1"/>
            </p:cNvSpPr>
            <p:nvPr/>
          </p:nvSpPr>
          <p:spPr bwMode="auto">
            <a:xfrm>
              <a:off x="1248" y="1056"/>
              <a:ext cx="816"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求阶差</a:t>
              </a:r>
              <a:endParaRPr lang="zh-CN" altLang="en-US" sz="2800">
                <a:solidFill>
                  <a:schemeClr val="tx2"/>
                </a:solidFill>
              </a:endParaRPr>
            </a:p>
          </p:txBody>
        </p:sp>
        <p:sp>
          <p:nvSpPr>
            <p:cNvPr id="27655" name="Rectangle 9"/>
            <p:cNvSpPr>
              <a:spLocks noChangeArrowheads="1"/>
            </p:cNvSpPr>
            <p:nvPr/>
          </p:nvSpPr>
          <p:spPr bwMode="auto">
            <a:xfrm>
              <a:off x="576" y="91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输入</a:t>
              </a:r>
              <a:endParaRPr lang="zh-CN" altLang="zh-CN" sz="2800">
                <a:solidFill>
                  <a:schemeClr val="tx2"/>
                </a:solidFill>
              </a:endParaRPr>
            </a:p>
          </p:txBody>
        </p:sp>
        <p:sp>
          <p:nvSpPr>
            <p:cNvPr id="27656" name="Line 10"/>
            <p:cNvSpPr>
              <a:spLocks noChangeShapeType="1"/>
            </p:cNvSpPr>
            <p:nvPr/>
          </p:nvSpPr>
          <p:spPr bwMode="auto">
            <a:xfrm>
              <a:off x="672" y="1248"/>
              <a:ext cx="576"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657" name="Line 11"/>
            <p:cNvSpPr>
              <a:spLocks noChangeShapeType="1"/>
            </p:cNvSpPr>
            <p:nvPr/>
          </p:nvSpPr>
          <p:spPr bwMode="auto">
            <a:xfrm>
              <a:off x="4848" y="1248"/>
              <a:ext cx="52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658" name="Rectangle 12"/>
            <p:cNvSpPr>
              <a:spLocks noChangeArrowheads="1"/>
            </p:cNvSpPr>
            <p:nvPr/>
          </p:nvSpPr>
          <p:spPr bwMode="auto">
            <a:xfrm>
              <a:off x="4800" y="91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输出</a:t>
              </a:r>
              <a:endParaRPr lang="zh-CN" altLang="zh-CN" sz="2800">
                <a:solidFill>
                  <a:schemeClr val="tx2"/>
                </a:solidFill>
              </a:endParaRPr>
            </a:p>
          </p:txBody>
        </p:sp>
        <p:sp>
          <p:nvSpPr>
            <p:cNvPr id="27659" name="Rectangle 13"/>
            <p:cNvSpPr>
              <a:spLocks noChangeArrowheads="1"/>
            </p:cNvSpPr>
            <p:nvPr/>
          </p:nvSpPr>
          <p:spPr bwMode="auto">
            <a:xfrm>
              <a:off x="1488" y="1392"/>
              <a:ext cx="33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a:t>
              </a:r>
              <a:r>
                <a:rPr lang="en-US" altLang="zh-CN" sz="2800">
                  <a:solidFill>
                    <a:schemeClr val="tx2"/>
                  </a:solidFill>
                </a:rPr>
                <a:t>t</a:t>
              </a:r>
              <a:r>
                <a:rPr lang="en-US" altLang="zh-CN" sz="2800" baseline="-25000">
                  <a:solidFill>
                    <a:schemeClr val="tx2"/>
                  </a:solidFill>
                </a:rPr>
                <a:t>1</a:t>
              </a:r>
              <a:endParaRPr lang="en-US" altLang="zh-CN" sz="2800">
                <a:solidFill>
                  <a:schemeClr val="tx2"/>
                </a:solidFill>
              </a:endParaRPr>
            </a:p>
          </p:txBody>
        </p:sp>
        <p:sp>
          <p:nvSpPr>
            <p:cNvPr id="27660" name="Line 14"/>
            <p:cNvSpPr>
              <a:spLocks noChangeShapeType="1"/>
            </p:cNvSpPr>
            <p:nvPr/>
          </p:nvSpPr>
          <p:spPr bwMode="auto">
            <a:xfrm>
              <a:off x="2064" y="1248"/>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661" name="Rectangle 15"/>
            <p:cNvSpPr>
              <a:spLocks noChangeArrowheads="1"/>
            </p:cNvSpPr>
            <p:nvPr/>
          </p:nvSpPr>
          <p:spPr bwMode="auto">
            <a:xfrm>
              <a:off x="2256" y="1056"/>
              <a:ext cx="576"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对阶</a:t>
              </a:r>
              <a:endParaRPr lang="zh-CN" altLang="en-US" sz="2800">
                <a:solidFill>
                  <a:schemeClr val="tx2"/>
                </a:solidFill>
              </a:endParaRPr>
            </a:p>
          </p:txBody>
        </p:sp>
        <p:sp>
          <p:nvSpPr>
            <p:cNvPr id="27662" name="Line 16"/>
            <p:cNvSpPr>
              <a:spLocks noChangeShapeType="1"/>
            </p:cNvSpPr>
            <p:nvPr/>
          </p:nvSpPr>
          <p:spPr bwMode="auto">
            <a:xfrm>
              <a:off x="2832" y="1248"/>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663" name="Rectangle 17"/>
            <p:cNvSpPr>
              <a:spLocks noChangeArrowheads="1"/>
            </p:cNvSpPr>
            <p:nvPr/>
          </p:nvSpPr>
          <p:spPr bwMode="auto">
            <a:xfrm>
              <a:off x="3024" y="1056"/>
              <a:ext cx="816"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尾数加</a:t>
              </a:r>
              <a:endParaRPr lang="zh-CN" altLang="en-US" sz="2800">
                <a:solidFill>
                  <a:schemeClr val="tx2"/>
                </a:solidFill>
              </a:endParaRPr>
            </a:p>
          </p:txBody>
        </p:sp>
        <p:sp>
          <p:nvSpPr>
            <p:cNvPr id="27664" name="Line 18"/>
            <p:cNvSpPr>
              <a:spLocks noChangeShapeType="1"/>
            </p:cNvSpPr>
            <p:nvPr/>
          </p:nvSpPr>
          <p:spPr bwMode="auto">
            <a:xfrm>
              <a:off x="3840" y="1248"/>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665" name="Rectangle 19"/>
            <p:cNvSpPr>
              <a:spLocks noChangeArrowheads="1"/>
            </p:cNvSpPr>
            <p:nvPr/>
          </p:nvSpPr>
          <p:spPr bwMode="auto">
            <a:xfrm>
              <a:off x="4032" y="1056"/>
              <a:ext cx="816"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规格化</a:t>
              </a:r>
              <a:endParaRPr lang="zh-CN" altLang="en-US" sz="2800">
                <a:solidFill>
                  <a:schemeClr val="tx2"/>
                </a:solidFill>
              </a:endParaRPr>
            </a:p>
          </p:txBody>
        </p:sp>
        <p:sp>
          <p:nvSpPr>
            <p:cNvPr id="27666" name="Rectangle 20"/>
            <p:cNvSpPr>
              <a:spLocks noChangeArrowheads="1"/>
            </p:cNvSpPr>
            <p:nvPr/>
          </p:nvSpPr>
          <p:spPr bwMode="auto">
            <a:xfrm>
              <a:off x="2352" y="1392"/>
              <a:ext cx="33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a:t>
              </a:r>
              <a:r>
                <a:rPr lang="en-US" altLang="zh-CN" sz="2800">
                  <a:solidFill>
                    <a:schemeClr val="tx2"/>
                  </a:solidFill>
                </a:rPr>
                <a:t>t</a:t>
              </a:r>
              <a:r>
                <a:rPr lang="en-US" altLang="zh-CN" sz="2800" baseline="-25000">
                  <a:solidFill>
                    <a:schemeClr val="tx2"/>
                  </a:solidFill>
                </a:rPr>
                <a:t>2</a:t>
              </a:r>
              <a:endParaRPr lang="en-US" altLang="zh-CN" sz="2800">
                <a:solidFill>
                  <a:schemeClr val="tx2"/>
                </a:solidFill>
              </a:endParaRPr>
            </a:p>
          </p:txBody>
        </p:sp>
        <p:sp>
          <p:nvSpPr>
            <p:cNvPr id="27667" name="Rectangle 21"/>
            <p:cNvSpPr>
              <a:spLocks noChangeArrowheads="1"/>
            </p:cNvSpPr>
            <p:nvPr/>
          </p:nvSpPr>
          <p:spPr bwMode="auto">
            <a:xfrm>
              <a:off x="3264" y="1392"/>
              <a:ext cx="33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a:t>
              </a:r>
              <a:r>
                <a:rPr lang="en-US" altLang="zh-CN" sz="2800">
                  <a:solidFill>
                    <a:schemeClr val="tx2"/>
                  </a:solidFill>
                </a:rPr>
                <a:t>t</a:t>
              </a:r>
              <a:r>
                <a:rPr lang="en-US" altLang="zh-CN" sz="2800" baseline="-25000">
                  <a:solidFill>
                    <a:schemeClr val="tx2"/>
                  </a:solidFill>
                </a:rPr>
                <a:t>3</a:t>
              </a:r>
              <a:endParaRPr lang="en-US" altLang="zh-CN" sz="2800">
                <a:solidFill>
                  <a:schemeClr val="tx2"/>
                </a:solidFill>
              </a:endParaRPr>
            </a:p>
          </p:txBody>
        </p:sp>
        <p:sp>
          <p:nvSpPr>
            <p:cNvPr id="27668" name="Rectangle 22"/>
            <p:cNvSpPr>
              <a:spLocks noChangeArrowheads="1"/>
            </p:cNvSpPr>
            <p:nvPr/>
          </p:nvSpPr>
          <p:spPr bwMode="auto">
            <a:xfrm>
              <a:off x="4320" y="1392"/>
              <a:ext cx="33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a:t>
              </a:r>
              <a:r>
                <a:rPr lang="en-US" altLang="zh-CN" sz="2800">
                  <a:solidFill>
                    <a:schemeClr val="tx2"/>
                  </a:solidFill>
                </a:rPr>
                <a:t>t</a:t>
              </a:r>
              <a:r>
                <a:rPr lang="en-US" altLang="zh-CN" sz="2800" baseline="-25000">
                  <a:solidFill>
                    <a:schemeClr val="tx2"/>
                  </a:solidFill>
                </a:rPr>
                <a:t>4</a:t>
              </a:r>
              <a:endParaRPr lang="en-US" altLang="zh-CN" sz="2800">
                <a:solidFill>
                  <a:schemeClr val="tx2"/>
                </a:solidFill>
              </a:endParaRPr>
            </a:p>
          </p:txBody>
        </p:sp>
      </p:gr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898" name="Rectangle 2"/>
          <p:cNvSpPr>
            <a:spLocks noGrp="1" noChangeArrowheads="1"/>
          </p:cNvSpPr>
          <p:nvPr>
            <p:ph type="title"/>
          </p:nvPr>
        </p:nvSpPr>
        <p:spPr/>
        <p:txBody>
          <a:bodyPr/>
          <a:lstStyle/>
          <a:p>
            <a:pPr eaLnBrk="1" hangingPunct="1">
              <a:defRPr/>
            </a:pPr>
            <a:r>
              <a:rPr lang="zh-CN" altLang="en-US" smtClean="0"/>
              <a:t>处理机级流水线</a:t>
            </a:r>
            <a:endParaRPr lang="en-US" altLang="zh-CN" smtClean="0"/>
          </a:p>
        </p:txBody>
      </p:sp>
      <p:sp>
        <p:nvSpPr>
          <p:cNvPr id="28675" name="Rectangle 4"/>
          <p:cNvSpPr>
            <a:spLocks noGrp="1" noChangeArrowheads="1"/>
          </p:cNvSpPr>
          <p:nvPr>
            <p:ph type="body" idx="1"/>
          </p:nvPr>
        </p:nvSpPr>
        <p:spPr>
          <a:xfrm>
            <a:off x="809625" y="1989138"/>
            <a:ext cx="7958138" cy="1208087"/>
          </a:xfrm>
        </p:spPr>
        <p:txBody>
          <a:bodyPr/>
          <a:lstStyle/>
          <a:p>
            <a:pPr marL="0" indent="0" eaLnBrk="1" hangingPunct="1">
              <a:buFont typeface="Wingdings" panose="05000000000000000000" pitchFamily="2" charset="2"/>
              <a:buNone/>
            </a:pPr>
            <a:r>
              <a:rPr lang="zh-CN" altLang="en-US" sz="2800" smtClean="0"/>
              <a:t>        又称为</a:t>
            </a:r>
            <a:r>
              <a:rPr lang="zh-CN" altLang="en-US" sz="2800" smtClean="0">
                <a:solidFill>
                  <a:srgbClr val="FF0000"/>
                </a:solidFill>
              </a:rPr>
              <a:t>指令流水线</a:t>
            </a:r>
            <a:r>
              <a:rPr lang="zh-CN" altLang="en-US" sz="2800" smtClean="0"/>
              <a:t> ，例如：在采用先行控制器的处理机中，各功能部件之间的流水线。</a:t>
            </a:r>
            <a:endParaRPr lang="zh-CN" altLang="en-US" sz="2800" smtClean="0"/>
          </a:p>
        </p:txBody>
      </p:sp>
      <p:grpSp>
        <p:nvGrpSpPr>
          <p:cNvPr id="28676" name="Group 5"/>
          <p:cNvGrpSpPr/>
          <p:nvPr/>
        </p:nvGrpSpPr>
        <p:grpSpPr bwMode="auto">
          <a:xfrm>
            <a:off x="1066800" y="3352800"/>
            <a:ext cx="7391400" cy="2895600"/>
            <a:chOff x="576" y="1968"/>
            <a:chExt cx="4752" cy="1968"/>
          </a:xfrm>
        </p:grpSpPr>
        <p:sp>
          <p:nvSpPr>
            <p:cNvPr id="28678" name="Rectangle 6"/>
            <p:cNvSpPr>
              <a:spLocks noChangeArrowheads="1"/>
            </p:cNvSpPr>
            <p:nvPr/>
          </p:nvSpPr>
          <p:spPr bwMode="auto">
            <a:xfrm>
              <a:off x="1200" y="2016"/>
              <a:ext cx="1104" cy="57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latin typeface="Book Antiqua" panose="02040602050305030304" pitchFamily="18" charset="0"/>
                </a:rPr>
                <a:t>先行指令</a:t>
              </a:r>
              <a:br>
                <a:rPr lang="zh-CN" altLang="en-US" sz="2800">
                  <a:solidFill>
                    <a:schemeClr val="tx2"/>
                  </a:solidFill>
                  <a:latin typeface="Book Antiqua" panose="02040602050305030304" pitchFamily="18" charset="0"/>
                </a:rPr>
              </a:br>
              <a:r>
                <a:rPr lang="zh-CN" altLang="en-US" sz="2800">
                  <a:solidFill>
                    <a:schemeClr val="tx2"/>
                  </a:solidFill>
                  <a:latin typeface="Book Antiqua" panose="02040602050305030304" pitchFamily="18" charset="0"/>
                </a:rPr>
                <a:t>缓冲栈</a:t>
              </a:r>
              <a:endParaRPr lang="zh-CN" altLang="en-US" sz="2800">
                <a:solidFill>
                  <a:schemeClr val="tx2"/>
                </a:solidFill>
                <a:latin typeface="Book Antiqua" panose="02040602050305030304" pitchFamily="18" charset="0"/>
              </a:endParaRPr>
            </a:p>
          </p:txBody>
        </p:sp>
        <p:sp>
          <p:nvSpPr>
            <p:cNvPr id="28679" name="Rectangle 7"/>
            <p:cNvSpPr>
              <a:spLocks noChangeArrowheads="1"/>
            </p:cNvSpPr>
            <p:nvPr/>
          </p:nvSpPr>
          <p:spPr bwMode="auto">
            <a:xfrm>
              <a:off x="576" y="1968"/>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输入</a:t>
              </a:r>
              <a:endParaRPr lang="zh-CN" altLang="zh-CN" sz="2800">
                <a:solidFill>
                  <a:schemeClr val="tx2"/>
                </a:solidFill>
                <a:latin typeface="Book Antiqua" panose="02040602050305030304" pitchFamily="18" charset="0"/>
              </a:endParaRPr>
            </a:p>
          </p:txBody>
        </p:sp>
        <p:sp>
          <p:nvSpPr>
            <p:cNvPr id="28680" name="Line 8"/>
            <p:cNvSpPr>
              <a:spLocks noChangeShapeType="1"/>
            </p:cNvSpPr>
            <p:nvPr/>
          </p:nvSpPr>
          <p:spPr bwMode="auto">
            <a:xfrm>
              <a:off x="672" y="2304"/>
              <a:ext cx="52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81" name="Rectangle 9"/>
            <p:cNvSpPr>
              <a:spLocks noChangeArrowheads="1"/>
            </p:cNvSpPr>
            <p:nvPr/>
          </p:nvSpPr>
          <p:spPr bwMode="auto">
            <a:xfrm>
              <a:off x="3504" y="3216"/>
              <a:ext cx="1824"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dist"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先行控制方式</a:t>
              </a:r>
              <a:br>
                <a:rPr lang="zh-CN" altLang="zh-CN" sz="2800">
                  <a:solidFill>
                    <a:schemeClr val="tx2"/>
                  </a:solidFill>
                  <a:latin typeface="Book Antiqua" panose="02040602050305030304" pitchFamily="18" charset="0"/>
                  <a:sym typeface="Symbol" panose="05050102010706020507" pitchFamily="18" charset="2"/>
                </a:rPr>
              </a:br>
              <a:r>
                <a:rPr lang="zh-CN" altLang="zh-CN" sz="2800">
                  <a:solidFill>
                    <a:schemeClr val="tx2"/>
                  </a:solidFill>
                  <a:latin typeface="Book Antiqua" panose="02040602050305030304" pitchFamily="18" charset="0"/>
                  <a:sym typeface="Symbol" panose="05050102010706020507" pitchFamily="18" charset="2"/>
                </a:rPr>
                <a:t>中的指令流水线</a:t>
              </a:r>
              <a:endParaRPr lang="zh-CN" altLang="zh-CN" sz="2800">
                <a:solidFill>
                  <a:schemeClr val="tx2"/>
                </a:solidFill>
                <a:latin typeface="Book Antiqua" panose="02040602050305030304" pitchFamily="18" charset="0"/>
              </a:endParaRPr>
            </a:p>
          </p:txBody>
        </p:sp>
        <p:sp>
          <p:nvSpPr>
            <p:cNvPr id="28682" name="Rectangle 10"/>
            <p:cNvSpPr>
              <a:spLocks noChangeArrowheads="1"/>
            </p:cNvSpPr>
            <p:nvPr/>
          </p:nvSpPr>
          <p:spPr bwMode="auto">
            <a:xfrm>
              <a:off x="2496" y="2016"/>
              <a:ext cx="1104" cy="57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latin typeface="Book Antiqua" panose="02040602050305030304" pitchFamily="18" charset="0"/>
                </a:rPr>
                <a:t>先行指令</a:t>
              </a:r>
              <a:br>
                <a:rPr lang="zh-CN" altLang="en-US" sz="2800">
                  <a:solidFill>
                    <a:schemeClr val="tx2"/>
                  </a:solidFill>
                  <a:latin typeface="Book Antiqua" panose="02040602050305030304" pitchFamily="18" charset="0"/>
                </a:rPr>
              </a:br>
              <a:r>
                <a:rPr lang="zh-CN" altLang="en-US" sz="2800">
                  <a:solidFill>
                    <a:schemeClr val="tx2"/>
                  </a:solidFill>
                  <a:latin typeface="Book Antiqua" panose="02040602050305030304" pitchFamily="18" charset="0"/>
                </a:rPr>
                <a:t>分析器</a:t>
              </a:r>
              <a:endParaRPr lang="zh-CN" altLang="en-US" sz="2800">
                <a:solidFill>
                  <a:schemeClr val="tx2"/>
                </a:solidFill>
                <a:latin typeface="Book Antiqua" panose="02040602050305030304" pitchFamily="18" charset="0"/>
              </a:endParaRPr>
            </a:p>
          </p:txBody>
        </p:sp>
        <p:sp>
          <p:nvSpPr>
            <p:cNvPr id="28683" name="Rectangle 11"/>
            <p:cNvSpPr>
              <a:spLocks noChangeArrowheads="1"/>
            </p:cNvSpPr>
            <p:nvPr/>
          </p:nvSpPr>
          <p:spPr bwMode="auto">
            <a:xfrm>
              <a:off x="3792" y="2016"/>
              <a:ext cx="1344" cy="57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latin typeface="Book Antiqua" panose="02040602050305030304" pitchFamily="18" charset="0"/>
                </a:rPr>
                <a:t>先行读数栈</a:t>
              </a:r>
              <a:br>
                <a:rPr lang="zh-CN" altLang="en-US" sz="2800">
                  <a:solidFill>
                    <a:schemeClr val="tx2"/>
                  </a:solidFill>
                  <a:latin typeface="Book Antiqua" panose="02040602050305030304" pitchFamily="18" charset="0"/>
                </a:rPr>
              </a:br>
              <a:r>
                <a:rPr lang="zh-CN" altLang="en-US" sz="2800">
                  <a:solidFill>
                    <a:schemeClr val="tx2"/>
                  </a:solidFill>
                  <a:latin typeface="Book Antiqua" panose="02040602050305030304" pitchFamily="18" charset="0"/>
                </a:rPr>
                <a:t>先行操作栈</a:t>
              </a:r>
              <a:endParaRPr lang="zh-CN" altLang="en-US" sz="2800">
                <a:solidFill>
                  <a:schemeClr val="tx2"/>
                </a:solidFill>
                <a:latin typeface="Book Antiqua" panose="02040602050305030304" pitchFamily="18" charset="0"/>
              </a:endParaRPr>
            </a:p>
          </p:txBody>
        </p:sp>
        <p:sp>
          <p:nvSpPr>
            <p:cNvPr id="28684" name="Rectangle 12"/>
            <p:cNvSpPr>
              <a:spLocks noChangeArrowheads="1"/>
            </p:cNvSpPr>
            <p:nvPr/>
          </p:nvSpPr>
          <p:spPr bwMode="auto">
            <a:xfrm>
              <a:off x="1440" y="259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取指</a:t>
              </a:r>
              <a:endParaRPr lang="zh-CN" altLang="en-US" sz="2800">
                <a:solidFill>
                  <a:schemeClr val="tx2"/>
                </a:solidFill>
                <a:latin typeface="Book Antiqua" panose="02040602050305030304" pitchFamily="18" charset="0"/>
              </a:endParaRPr>
            </a:p>
          </p:txBody>
        </p:sp>
        <p:sp>
          <p:nvSpPr>
            <p:cNvPr id="28685" name="Rectangle 13"/>
            <p:cNvSpPr>
              <a:spLocks noChangeArrowheads="1"/>
            </p:cNvSpPr>
            <p:nvPr/>
          </p:nvSpPr>
          <p:spPr bwMode="auto">
            <a:xfrm>
              <a:off x="2736" y="259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译码</a:t>
              </a:r>
              <a:endParaRPr lang="zh-CN" altLang="en-US" sz="2800">
                <a:solidFill>
                  <a:schemeClr val="tx2"/>
                </a:solidFill>
                <a:latin typeface="Book Antiqua" panose="02040602050305030304" pitchFamily="18" charset="0"/>
              </a:endParaRPr>
            </a:p>
          </p:txBody>
        </p:sp>
        <p:sp>
          <p:nvSpPr>
            <p:cNvPr id="28686" name="Rectangle 14"/>
            <p:cNvSpPr>
              <a:spLocks noChangeArrowheads="1"/>
            </p:cNvSpPr>
            <p:nvPr/>
          </p:nvSpPr>
          <p:spPr bwMode="auto">
            <a:xfrm>
              <a:off x="3984" y="2592"/>
              <a:ext cx="105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取操作数</a:t>
              </a:r>
              <a:endParaRPr lang="zh-CN" altLang="en-US" sz="2800">
                <a:solidFill>
                  <a:schemeClr val="tx2"/>
                </a:solidFill>
                <a:latin typeface="Book Antiqua" panose="02040602050305030304" pitchFamily="18" charset="0"/>
              </a:endParaRPr>
            </a:p>
          </p:txBody>
        </p:sp>
        <p:sp>
          <p:nvSpPr>
            <p:cNvPr id="28687" name="Line 15"/>
            <p:cNvSpPr>
              <a:spLocks noChangeShapeType="1"/>
            </p:cNvSpPr>
            <p:nvPr/>
          </p:nvSpPr>
          <p:spPr bwMode="auto">
            <a:xfrm>
              <a:off x="2304" y="2304"/>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88" name="Line 16"/>
            <p:cNvSpPr>
              <a:spLocks noChangeShapeType="1"/>
            </p:cNvSpPr>
            <p:nvPr/>
          </p:nvSpPr>
          <p:spPr bwMode="auto">
            <a:xfrm>
              <a:off x="3600" y="2304"/>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89" name="Line 17"/>
            <p:cNvSpPr>
              <a:spLocks noChangeShapeType="1"/>
            </p:cNvSpPr>
            <p:nvPr/>
          </p:nvSpPr>
          <p:spPr bwMode="auto">
            <a:xfrm>
              <a:off x="5136" y="2304"/>
              <a:ext cx="192"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0" name="Line 18"/>
            <p:cNvSpPr>
              <a:spLocks noChangeShapeType="1"/>
            </p:cNvSpPr>
            <p:nvPr/>
          </p:nvSpPr>
          <p:spPr bwMode="auto">
            <a:xfrm flipV="1">
              <a:off x="5328" y="2304"/>
              <a:ext cx="0" cy="624"/>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1" name="Line 19"/>
            <p:cNvSpPr>
              <a:spLocks noChangeShapeType="1"/>
            </p:cNvSpPr>
            <p:nvPr/>
          </p:nvSpPr>
          <p:spPr bwMode="auto">
            <a:xfrm>
              <a:off x="720" y="2928"/>
              <a:ext cx="4608"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2" name="Line 20"/>
            <p:cNvSpPr>
              <a:spLocks noChangeShapeType="1"/>
            </p:cNvSpPr>
            <p:nvPr/>
          </p:nvSpPr>
          <p:spPr bwMode="auto">
            <a:xfrm flipV="1">
              <a:off x="720" y="2928"/>
              <a:ext cx="0" cy="384"/>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3" name="Rectangle 21"/>
            <p:cNvSpPr>
              <a:spLocks noChangeArrowheads="1"/>
            </p:cNvSpPr>
            <p:nvPr/>
          </p:nvSpPr>
          <p:spPr bwMode="auto">
            <a:xfrm>
              <a:off x="912" y="3024"/>
              <a:ext cx="816" cy="57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latin typeface="Book Antiqua" panose="02040602050305030304" pitchFamily="18" charset="0"/>
                </a:rPr>
                <a:t>指令执</a:t>
              </a:r>
              <a:endParaRPr lang="zh-CN" altLang="en-US" sz="2800">
                <a:solidFill>
                  <a:schemeClr val="tx2"/>
                </a:solidFill>
                <a:latin typeface="Book Antiqua" panose="02040602050305030304" pitchFamily="18" charset="0"/>
              </a:endParaRPr>
            </a:p>
            <a:p>
              <a:pPr algn="ctr" eaLnBrk="1" hangingPunct="1">
                <a:lnSpc>
                  <a:spcPct val="80000"/>
                </a:lnSpc>
                <a:spcBef>
                  <a:spcPct val="0"/>
                </a:spcBef>
                <a:buClrTx/>
                <a:buFontTx/>
                <a:buNone/>
              </a:pPr>
              <a:r>
                <a:rPr lang="zh-CN" altLang="en-US" sz="2800">
                  <a:solidFill>
                    <a:schemeClr val="tx2"/>
                  </a:solidFill>
                  <a:latin typeface="Book Antiqua" panose="02040602050305030304" pitchFamily="18" charset="0"/>
                </a:rPr>
                <a:t>行部件</a:t>
              </a:r>
              <a:endParaRPr lang="zh-CN" altLang="en-US" sz="2800">
                <a:solidFill>
                  <a:schemeClr val="tx2"/>
                </a:solidFill>
                <a:latin typeface="Book Antiqua" panose="02040602050305030304" pitchFamily="18" charset="0"/>
              </a:endParaRPr>
            </a:p>
          </p:txBody>
        </p:sp>
        <p:sp>
          <p:nvSpPr>
            <p:cNvPr id="28694" name="Line 22"/>
            <p:cNvSpPr>
              <a:spLocks noChangeShapeType="1"/>
            </p:cNvSpPr>
            <p:nvPr/>
          </p:nvSpPr>
          <p:spPr bwMode="auto">
            <a:xfrm>
              <a:off x="720" y="3312"/>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5" name="Rectangle 23"/>
            <p:cNvSpPr>
              <a:spLocks noChangeArrowheads="1"/>
            </p:cNvSpPr>
            <p:nvPr/>
          </p:nvSpPr>
          <p:spPr bwMode="auto">
            <a:xfrm>
              <a:off x="1920" y="3024"/>
              <a:ext cx="816" cy="576"/>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latin typeface="Book Antiqua" panose="02040602050305030304" pitchFamily="18" charset="0"/>
                </a:rPr>
                <a:t>后行</a:t>
              </a:r>
              <a:endParaRPr lang="zh-CN" altLang="en-US" sz="2800">
                <a:solidFill>
                  <a:schemeClr val="tx2"/>
                </a:solidFill>
                <a:latin typeface="Book Antiqua" panose="02040602050305030304" pitchFamily="18" charset="0"/>
              </a:endParaRPr>
            </a:p>
            <a:p>
              <a:pPr algn="ctr" eaLnBrk="1" hangingPunct="1">
                <a:lnSpc>
                  <a:spcPct val="80000"/>
                </a:lnSpc>
                <a:spcBef>
                  <a:spcPct val="0"/>
                </a:spcBef>
                <a:buClrTx/>
                <a:buFontTx/>
                <a:buNone/>
              </a:pPr>
              <a:r>
                <a:rPr lang="zh-CN" altLang="en-US" sz="2800">
                  <a:solidFill>
                    <a:schemeClr val="tx2"/>
                  </a:solidFill>
                  <a:latin typeface="Book Antiqua" panose="02040602050305030304" pitchFamily="18" charset="0"/>
                </a:rPr>
                <a:t>写数栈</a:t>
              </a:r>
              <a:endParaRPr lang="zh-CN" altLang="en-US" sz="2800">
                <a:solidFill>
                  <a:schemeClr val="tx2"/>
                </a:solidFill>
                <a:latin typeface="Book Antiqua" panose="02040602050305030304" pitchFamily="18" charset="0"/>
              </a:endParaRPr>
            </a:p>
          </p:txBody>
        </p:sp>
        <p:sp>
          <p:nvSpPr>
            <p:cNvPr id="28696" name="Line 24"/>
            <p:cNvSpPr>
              <a:spLocks noChangeShapeType="1"/>
            </p:cNvSpPr>
            <p:nvPr/>
          </p:nvSpPr>
          <p:spPr bwMode="auto">
            <a:xfrm>
              <a:off x="1728" y="3312"/>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7" name="Rectangle 25"/>
            <p:cNvSpPr>
              <a:spLocks noChangeArrowheads="1"/>
            </p:cNvSpPr>
            <p:nvPr/>
          </p:nvSpPr>
          <p:spPr bwMode="auto">
            <a:xfrm>
              <a:off x="2688" y="2976"/>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输出</a:t>
              </a:r>
              <a:endParaRPr lang="zh-CN" altLang="zh-CN" sz="2800">
                <a:solidFill>
                  <a:schemeClr val="tx2"/>
                </a:solidFill>
                <a:latin typeface="Book Antiqua" panose="02040602050305030304" pitchFamily="18" charset="0"/>
              </a:endParaRPr>
            </a:p>
          </p:txBody>
        </p:sp>
        <p:sp>
          <p:nvSpPr>
            <p:cNvPr id="28698" name="Line 26"/>
            <p:cNvSpPr>
              <a:spLocks noChangeShapeType="1"/>
            </p:cNvSpPr>
            <p:nvPr/>
          </p:nvSpPr>
          <p:spPr bwMode="auto">
            <a:xfrm>
              <a:off x="2736" y="3312"/>
              <a:ext cx="52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9" name="Rectangle 27"/>
            <p:cNvSpPr>
              <a:spLocks noChangeArrowheads="1"/>
            </p:cNvSpPr>
            <p:nvPr/>
          </p:nvSpPr>
          <p:spPr bwMode="auto">
            <a:xfrm>
              <a:off x="1008" y="3600"/>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执行</a:t>
              </a:r>
              <a:endParaRPr lang="zh-CN" altLang="en-US" sz="2800">
                <a:solidFill>
                  <a:schemeClr val="tx2"/>
                </a:solidFill>
                <a:latin typeface="Book Antiqua" panose="02040602050305030304" pitchFamily="18" charset="0"/>
              </a:endParaRPr>
            </a:p>
          </p:txBody>
        </p:sp>
        <p:sp>
          <p:nvSpPr>
            <p:cNvPr id="28700" name="Rectangle 28"/>
            <p:cNvSpPr>
              <a:spLocks noChangeArrowheads="1"/>
            </p:cNvSpPr>
            <p:nvPr/>
          </p:nvSpPr>
          <p:spPr bwMode="auto">
            <a:xfrm>
              <a:off x="1920" y="3600"/>
              <a:ext cx="81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写结果</a:t>
              </a:r>
              <a:endParaRPr lang="zh-CN" altLang="en-US" sz="2800">
                <a:solidFill>
                  <a:schemeClr val="tx2"/>
                </a:solidFill>
                <a:latin typeface="Book Antiqua" panose="02040602050305030304" pitchFamily="18" charset="0"/>
              </a:endParaRPr>
            </a:p>
          </p:txBody>
        </p:sp>
      </p:grpSp>
      <p:sp>
        <p:nvSpPr>
          <p:cNvPr id="28677" name="Text Box 29"/>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流水线的分类</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分类四</a:t>
            </a:r>
            <a:endParaRPr lang="zh-CN" altLang="en-US" sz="1200" b="0">
              <a:latin typeface="Times New Roman" panose="02020603050405020304" pitchFamily="18" charset="0"/>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2"/>
          <p:cNvSpPr>
            <a:spLocks noGrp="1" noChangeArrowheads="1"/>
          </p:cNvSpPr>
          <p:nvPr>
            <p:ph type="title"/>
          </p:nvPr>
        </p:nvSpPr>
        <p:spPr/>
        <p:txBody>
          <a:bodyPr/>
          <a:lstStyle/>
          <a:p>
            <a:pPr eaLnBrk="1" hangingPunct="1">
              <a:defRPr/>
            </a:pPr>
            <a:r>
              <a:rPr lang="zh-CN" altLang="en-US" smtClean="0"/>
              <a:t>系统级流水线</a:t>
            </a:r>
            <a:endParaRPr lang="en-US" altLang="zh-CN" smtClean="0"/>
          </a:p>
        </p:txBody>
      </p:sp>
      <p:sp>
        <p:nvSpPr>
          <p:cNvPr id="29699" name="Rectangle 4"/>
          <p:cNvSpPr>
            <a:spLocks noGrp="1" noChangeArrowheads="1"/>
          </p:cNvSpPr>
          <p:nvPr>
            <p:ph type="body" idx="1"/>
          </p:nvPr>
        </p:nvSpPr>
        <p:spPr>
          <a:xfrm>
            <a:off x="809625" y="1989138"/>
            <a:ext cx="7958138" cy="2333625"/>
          </a:xfrm>
        </p:spPr>
        <p:txBody>
          <a:bodyPr/>
          <a:lstStyle/>
          <a:p>
            <a:pPr marL="0" indent="0" eaLnBrk="1" hangingPunct="1">
              <a:lnSpc>
                <a:spcPct val="130000"/>
              </a:lnSpc>
              <a:buFont typeface="Wingdings" panose="05000000000000000000" pitchFamily="2" charset="2"/>
              <a:buNone/>
            </a:pPr>
            <a:r>
              <a:rPr lang="zh-CN" altLang="en-US" sz="2800" dirty="0" smtClean="0"/>
              <a:t>         也称为</a:t>
            </a:r>
            <a:r>
              <a:rPr lang="zh-CN" altLang="en-US" sz="2800" dirty="0" smtClean="0">
                <a:solidFill>
                  <a:srgbClr val="FF0000"/>
                </a:solidFill>
              </a:rPr>
              <a:t>宏流水线</a:t>
            </a:r>
            <a:r>
              <a:rPr lang="zh-CN" altLang="en-US" sz="2800" dirty="0" smtClean="0"/>
              <a:t>，是处理机之间的流水线 。例如：每个处理机对同一个数据流的不同部分分别进行处理（</a:t>
            </a:r>
            <a:r>
              <a:rPr lang="zh-CN" altLang="en-US" sz="2800" dirty="0" smtClean="0">
                <a:solidFill>
                  <a:srgbClr val="0000FF"/>
                </a:solidFill>
              </a:rPr>
              <a:t>异构型多处理机系统</a:t>
            </a:r>
            <a:r>
              <a:rPr lang="zh-CN" altLang="en-US" sz="2800" dirty="0" smtClean="0"/>
              <a:t>）。</a:t>
            </a:r>
            <a:endParaRPr lang="zh-CN" altLang="en-US" sz="2800" dirty="0" smtClean="0"/>
          </a:p>
        </p:txBody>
      </p:sp>
      <p:grpSp>
        <p:nvGrpSpPr>
          <p:cNvPr id="29700" name="Group 5"/>
          <p:cNvGrpSpPr/>
          <p:nvPr/>
        </p:nvGrpSpPr>
        <p:grpSpPr bwMode="auto">
          <a:xfrm>
            <a:off x="914400" y="4343400"/>
            <a:ext cx="7616825" cy="1300163"/>
            <a:chOff x="528" y="2976"/>
            <a:chExt cx="4896" cy="864"/>
          </a:xfrm>
        </p:grpSpPr>
        <p:sp>
          <p:nvSpPr>
            <p:cNvPr id="29702" name="Rectangle 6"/>
            <p:cNvSpPr>
              <a:spLocks noChangeArrowheads="1"/>
            </p:cNvSpPr>
            <p:nvPr/>
          </p:nvSpPr>
          <p:spPr bwMode="auto">
            <a:xfrm>
              <a:off x="864" y="3120"/>
              <a:ext cx="672"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P1</a:t>
              </a:r>
              <a:endParaRPr lang="en-US" altLang="zh-CN" sz="2800">
                <a:solidFill>
                  <a:schemeClr val="tx2"/>
                </a:solidFill>
              </a:endParaRPr>
            </a:p>
          </p:txBody>
        </p:sp>
        <p:sp>
          <p:nvSpPr>
            <p:cNvPr id="29703" name="Rectangle 7"/>
            <p:cNvSpPr>
              <a:spLocks noChangeArrowheads="1"/>
            </p:cNvSpPr>
            <p:nvPr/>
          </p:nvSpPr>
          <p:spPr bwMode="auto">
            <a:xfrm>
              <a:off x="528" y="2976"/>
              <a:ext cx="288"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0"/>
                </a:spcBef>
                <a:buClrTx/>
                <a:buFontTx/>
                <a:buNone/>
              </a:pPr>
              <a:r>
                <a:rPr lang="zh-CN" altLang="zh-CN" sz="2800">
                  <a:solidFill>
                    <a:schemeClr val="tx2"/>
                  </a:solidFill>
                  <a:sym typeface="Symbol" panose="05050102010706020507" pitchFamily="18" charset="2"/>
                </a:rPr>
                <a:t>输</a:t>
              </a:r>
              <a:endParaRPr lang="zh-CN" altLang="zh-CN" sz="2800">
                <a:solidFill>
                  <a:schemeClr val="tx2"/>
                </a:solidFill>
                <a:sym typeface="Symbol" panose="05050102010706020507" pitchFamily="18" charset="2"/>
              </a:endParaRPr>
            </a:p>
            <a:p>
              <a:pPr algn="ctr" eaLnBrk="1" hangingPunct="1">
                <a:spcBef>
                  <a:spcPct val="0"/>
                </a:spcBef>
                <a:buClrTx/>
                <a:buFontTx/>
                <a:buNone/>
              </a:pPr>
              <a:r>
                <a:rPr lang="zh-CN" altLang="zh-CN" sz="2800">
                  <a:solidFill>
                    <a:schemeClr val="tx2"/>
                  </a:solidFill>
                  <a:sym typeface="Symbol" panose="05050102010706020507" pitchFamily="18" charset="2"/>
                </a:rPr>
                <a:t>入</a:t>
              </a:r>
              <a:endParaRPr lang="zh-CN" altLang="zh-CN" sz="2800">
                <a:solidFill>
                  <a:schemeClr val="tx2"/>
                </a:solidFill>
              </a:endParaRPr>
            </a:p>
          </p:txBody>
        </p:sp>
        <p:sp>
          <p:nvSpPr>
            <p:cNvPr id="29704" name="Line 8"/>
            <p:cNvSpPr>
              <a:spLocks noChangeShapeType="1"/>
            </p:cNvSpPr>
            <p:nvPr/>
          </p:nvSpPr>
          <p:spPr bwMode="auto">
            <a:xfrm>
              <a:off x="576" y="3312"/>
              <a:ext cx="28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5" name="Rectangle 9"/>
            <p:cNvSpPr>
              <a:spLocks noChangeArrowheads="1"/>
            </p:cNvSpPr>
            <p:nvPr/>
          </p:nvSpPr>
          <p:spPr bwMode="auto">
            <a:xfrm>
              <a:off x="864" y="3504"/>
              <a:ext cx="672"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任务1</a:t>
              </a:r>
              <a:endParaRPr lang="zh-CN" altLang="zh-CN" sz="2800">
                <a:solidFill>
                  <a:schemeClr val="tx2"/>
                </a:solidFill>
              </a:endParaRPr>
            </a:p>
          </p:txBody>
        </p:sp>
        <p:sp>
          <p:nvSpPr>
            <p:cNvPr id="29706" name="Line 10"/>
            <p:cNvSpPr>
              <a:spLocks noChangeShapeType="1"/>
            </p:cNvSpPr>
            <p:nvPr/>
          </p:nvSpPr>
          <p:spPr bwMode="auto">
            <a:xfrm>
              <a:off x="1536" y="3312"/>
              <a:ext cx="14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7" name="Rectangle 11"/>
            <p:cNvSpPr>
              <a:spLocks noChangeArrowheads="1"/>
            </p:cNvSpPr>
            <p:nvPr/>
          </p:nvSpPr>
          <p:spPr bwMode="auto">
            <a:xfrm>
              <a:off x="1680" y="3120"/>
              <a:ext cx="288"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M</a:t>
              </a:r>
              <a:endParaRPr lang="en-US" altLang="zh-CN" sz="2800">
                <a:solidFill>
                  <a:schemeClr val="tx2"/>
                </a:solidFill>
              </a:endParaRPr>
            </a:p>
          </p:txBody>
        </p:sp>
        <p:sp>
          <p:nvSpPr>
            <p:cNvPr id="29708" name="Line 12"/>
            <p:cNvSpPr>
              <a:spLocks noChangeShapeType="1"/>
            </p:cNvSpPr>
            <p:nvPr/>
          </p:nvSpPr>
          <p:spPr bwMode="auto">
            <a:xfrm>
              <a:off x="1968" y="3312"/>
              <a:ext cx="14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9" name="Line 13"/>
            <p:cNvSpPr>
              <a:spLocks noChangeShapeType="1"/>
            </p:cNvSpPr>
            <p:nvPr/>
          </p:nvSpPr>
          <p:spPr bwMode="auto">
            <a:xfrm>
              <a:off x="2784" y="3312"/>
              <a:ext cx="14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0" name="Rectangle 14"/>
            <p:cNvSpPr>
              <a:spLocks noChangeArrowheads="1"/>
            </p:cNvSpPr>
            <p:nvPr/>
          </p:nvSpPr>
          <p:spPr bwMode="auto">
            <a:xfrm>
              <a:off x="2928" y="3120"/>
              <a:ext cx="288"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M</a:t>
              </a:r>
              <a:endParaRPr lang="en-US" altLang="zh-CN" sz="2800">
                <a:solidFill>
                  <a:schemeClr val="tx2"/>
                </a:solidFill>
              </a:endParaRPr>
            </a:p>
          </p:txBody>
        </p:sp>
        <p:sp>
          <p:nvSpPr>
            <p:cNvPr id="29711" name="Line 15"/>
            <p:cNvSpPr>
              <a:spLocks noChangeShapeType="1"/>
            </p:cNvSpPr>
            <p:nvPr/>
          </p:nvSpPr>
          <p:spPr bwMode="auto">
            <a:xfrm>
              <a:off x="3216" y="3312"/>
              <a:ext cx="14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2" name="Rectangle 16"/>
            <p:cNvSpPr>
              <a:spLocks noChangeArrowheads="1"/>
            </p:cNvSpPr>
            <p:nvPr/>
          </p:nvSpPr>
          <p:spPr bwMode="auto">
            <a:xfrm>
              <a:off x="3360" y="3072"/>
              <a:ext cx="288"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rPr>
                <a:t>…</a:t>
              </a:r>
              <a:endParaRPr lang="zh-CN" altLang="zh-CN" sz="2800">
                <a:solidFill>
                  <a:schemeClr val="tx2"/>
                </a:solidFill>
              </a:endParaRPr>
            </a:p>
          </p:txBody>
        </p:sp>
        <p:sp>
          <p:nvSpPr>
            <p:cNvPr id="29713" name="Line 17"/>
            <p:cNvSpPr>
              <a:spLocks noChangeShapeType="1"/>
            </p:cNvSpPr>
            <p:nvPr/>
          </p:nvSpPr>
          <p:spPr bwMode="auto">
            <a:xfrm>
              <a:off x="3648" y="3312"/>
              <a:ext cx="14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4" name="Rectangle 18"/>
            <p:cNvSpPr>
              <a:spLocks noChangeArrowheads="1"/>
            </p:cNvSpPr>
            <p:nvPr/>
          </p:nvSpPr>
          <p:spPr bwMode="auto">
            <a:xfrm>
              <a:off x="2112" y="3120"/>
              <a:ext cx="672"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P2</a:t>
              </a:r>
              <a:endParaRPr lang="en-US" altLang="zh-CN" sz="2800">
                <a:solidFill>
                  <a:schemeClr val="tx2"/>
                </a:solidFill>
              </a:endParaRPr>
            </a:p>
          </p:txBody>
        </p:sp>
        <p:sp>
          <p:nvSpPr>
            <p:cNvPr id="29715" name="Rectangle 19"/>
            <p:cNvSpPr>
              <a:spLocks noChangeArrowheads="1"/>
            </p:cNvSpPr>
            <p:nvPr/>
          </p:nvSpPr>
          <p:spPr bwMode="auto">
            <a:xfrm>
              <a:off x="2112" y="3504"/>
              <a:ext cx="672"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任务2</a:t>
              </a:r>
              <a:endParaRPr lang="zh-CN" altLang="zh-CN" sz="2800">
                <a:solidFill>
                  <a:schemeClr val="tx2"/>
                </a:solidFill>
              </a:endParaRPr>
            </a:p>
          </p:txBody>
        </p:sp>
        <p:sp>
          <p:nvSpPr>
            <p:cNvPr id="29716" name="Line 20"/>
            <p:cNvSpPr>
              <a:spLocks noChangeShapeType="1"/>
            </p:cNvSpPr>
            <p:nvPr/>
          </p:nvSpPr>
          <p:spPr bwMode="auto">
            <a:xfrm>
              <a:off x="4464" y="3312"/>
              <a:ext cx="14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7" name="Rectangle 21"/>
            <p:cNvSpPr>
              <a:spLocks noChangeArrowheads="1"/>
            </p:cNvSpPr>
            <p:nvPr/>
          </p:nvSpPr>
          <p:spPr bwMode="auto">
            <a:xfrm>
              <a:off x="4608" y="3120"/>
              <a:ext cx="288"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M</a:t>
              </a:r>
              <a:endParaRPr lang="en-US" altLang="zh-CN" sz="2800">
                <a:solidFill>
                  <a:schemeClr val="tx2"/>
                </a:solidFill>
              </a:endParaRPr>
            </a:p>
          </p:txBody>
        </p:sp>
        <p:sp>
          <p:nvSpPr>
            <p:cNvPr id="29718" name="Rectangle 22"/>
            <p:cNvSpPr>
              <a:spLocks noChangeArrowheads="1"/>
            </p:cNvSpPr>
            <p:nvPr/>
          </p:nvSpPr>
          <p:spPr bwMode="auto">
            <a:xfrm>
              <a:off x="3792" y="3120"/>
              <a:ext cx="672"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P3</a:t>
              </a:r>
              <a:endParaRPr lang="en-US" altLang="zh-CN" sz="2800">
                <a:solidFill>
                  <a:schemeClr val="tx2"/>
                </a:solidFill>
              </a:endParaRPr>
            </a:p>
          </p:txBody>
        </p:sp>
        <p:sp>
          <p:nvSpPr>
            <p:cNvPr id="29719" name="Rectangle 23"/>
            <p:cNvSpPr>
              <a:spLocks noChangeArrowheads="1"/>
            </p:cNvSpPr>
            <p:nvPr/>
          </p:nvSpPr>
          <p:spPr bwMode="auto">
            <a:xfrm>
              <a:off x="3792" y="3504"/>
              <a:ext cx="672"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anose="05050102010706020507" pitchFamily="18" charset="2"/>
                </a:rPr>
                <a:t>任务3</a:t>
              </a:r>
              <a:endParaRPr lang="zh-CN" altLang="zh-CN" sz="2800">
                <a:solidFill>
                  <a:schemeClr val="tx2"/>
                </a:solidFill>
              </a:endParaRPr>
            </a:p>
          </p:txBody>
        </p:sp>
        <p:sp>
          <p:nvSpPr>
            <p:cNvPr id="29720" name="Rectangle 24"/>
            <p:cNvSpPr>
              <a:spLocks noChangeArrowheads="1"/>
            </p:cNvSpPr>
            <p:nvPr/>
          </p:nvSpPr>
          <p:spPr bwMode="auto">
            <a:xfrm>
              <a:off x="5040" y="2976"/>
              <a:ext cx="288"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0"/>
                </a:spcBef>
                <a:buClrTx/>
                <a:buFontTx/>
                <a:buNone/>
              </a:pPr>
              <a:r>
                <a:rPr lang="zh-CN" altLang="zh-CN" sz="2800">
                  <a:solidFill>
                    <a:schemeClr val="tx2"/>
                  </a:solidFill>
                  <a:sym typeface="Symbol" panose="05050102010706020507" pitchFamily="18" charset="2"/>
                </a:rPr>
                <a:t>输</a:t>
              </a:r>
              <a:endParaRPr lang="zh-CN" altLang="zh-CN" sz="2800">
                <a:solidFill>
                  <a:schemeClr val="tx2"/>
                </a:solidFill>
                <a:sym typeface="Symbol" panose="05050102010706020507" pitchFamily="18" charset="2"/>
              </a:endParaRPr>
            </a:p>
            <a:p>
              <a:pPr algn="ctr" eaLnBrk="1" hangingPunct="1">
                <a:spcBef>
                  <a:spcPct val="0"/>
                </a:spcBef>
                <a:buClrTx/>
                <a:buFontTx/>
                <a:buNone/>
              </a:pPr>
              <a:r>
                <a:rPr lang="zh-CN" altLang="zh-CN" sz="2800">
                  <a:solidFill>
                    <a:schemeClr val="tx2"/>
                  </a:solidFill>
                  <a:sym typeface="Symbol" panose="05050102010706020507" pitchFamily="18" charset="2"/>
                </a:rPr>
                <a:t>出</a:t>
              </a:r>
              <a:endParaRPr lang="zh-CN" altLang="zh-CN" sz="2800">
                <a:solidFill>
                  <a:schemeClr val="tx2"/>
                </a:solidFill>
              </a:endParaRPr>
            </a:p>
          </p:txBody>
        </p:sp>
        <p:sp>
          <p:nvSpPr>
            <p:cNvPr id="29721" name="Line 25"/>
            <p:cNvSpPr>
              <a:spLocks noChangeShapeType="1"/>
            </p:cNvSpPr>
            <p:nvPr/>
          </p:nvSpPr>
          <p:spPr bwMode="auto">
            <a:xfrm>
              <a:off x="4944" y="3312"/>
              <a:ext cx="48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29701" name="Text Box 26"/>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流水线的分类</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分类四</a:t>
            </a:r>
            <a:endParaRPr lang="zh-CN" altLang="en-US" sz="1200" b="0">
              <a:latin typeface="Times New Roman" panose="02020603050405020304" pitchFamily="18" charset="0"/>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2"/>
          <p:cNvSpPr>
            <a:spLocks noGrp="1" noChangeArrowheads="1"/>
          </p:cNvSpPr>
          <p:nvPr>
            <p:ph type="title"/>
          </p:nvPr>
        </p:nvSpPr>
        <p:spPr/>
        <p:txBody>
          <a:bodyPr/>
          <a:lstStyle/>
          <a:p>
            <a:pPr eaLnBrk="1" hangingPunct="1">
              <a:defRPr/>
            </a:pPr>
            <a:r>
              <a:rPr lang="zh-CN" altLang="en-US" smtClean="0"/>
              <a:t>其  它</a:t>
            </a:r>
            <a:endParaRPr lang="zh-CN" altLang="en-US" smtClean="0"/>
          </a:p>
        </p:txBody>
      </p:sp>
      <p:sp>
        <p:nvSpPr>
          <p:cNvPr id="583684" name="Rectangle 4"/>
          <p:cNvSpPr>
            <a:spLocks noGrp="1" noChangeArrowheads="1"/>
          </p:cNvSpPr>
          <p:nvPr>
            <p:ph type="body" sz="half" idx="1"/>
          </p:nvPr>
        </p:nvSpPr>
        <p:spPr>
          <a:xfrm>
            <a:off x="809625" y="1989138"/>
            <a:ext cx="3902075" cy="4330700"/>
          </a:xfrm>
          <a:solidFill>
            <a:srgbClr val="FFFF99"/>
          </a:solidFill>
          <a:ln w="57150" cmpd="thickThin">
            <a:solidFill>
              <a:schemeClr val="tx1"/>
            </a:solidFill>
            <a:miter lim="800000"/>
          </a:ln>
        </p:spPr>
        <p:txBody>
          <a:bodyPr/>
          <a:lstStyle/>
          <a:p>
            <a:pPr marL="0" indent="0" eaLnBrk="1" hangingPunct="1">
              <a:lnSpc>
                <a:spcPct val="140000"/>
              </a:lnSpc>
              <a:buFont typeface="Wingdings" panose="05000000000000000000" pitchFamily="2" charset="2"/>
              <a:buNone/>
              <a:defRPr/>
            </a:pPr>
            <a:r>
              <a:rPr lang="zh-CN" altLang="en-US" sz="2400" smtClean="0"/>
              <a:t>    按照不同的数据表示方式分：</a:t>
            </a:r>
            <a:endParaRPr lang="zh-CN" altLang="en-US" sz="2400" smtClean="0"/>
          </a:p>
          <a:p>
            <a:pPr marL="0" indent="0" eaLnBrk="1" hangingPunct="1">
              <a:lnSpc>
                <a:spcPct val="140000"/>
              </a:lnSpc>
              <a:buClr>
                <a:srgbClr val="FF0000"/>
              </a:buClr>
              <a:defRPr/>
            </a:pPr>
            <a:r>
              <a:rPr lang="en-US" altLang="zh-CN" sz="2400" smtClean="0">
                <a:solidFill>
                  <a:srgbClr val="FF0000"/>
                </a:solidFill>
                <a:effectLst>
                  <a:outerShdw blurRad="38100" dist="38100" dir="2700000" algn="tl">
                    <a:srgbClr val="000000"/>
                  </a:outerShdw>
                </a:effectLst>
              </a:rPr>
              <a:t>  </a:t>
            </a:r>
            <a:r>
              <a:rPr lang="zh-CN" altLang="en-US" sz="2400" smtClean="0">
                <a:solidFill>
                  <a:srgbClr val="FF0000"/>
                </a:solidFill>
                <a:effectLst>
                  <a:outerShdw blurRad="38100" dist="38100" dir="2700000" algn="tl">
                    <a:srgbClr val="000000"/>
                  </a:outerShdw>
                </a:effectLst>
              </a:rPr>
              <a:t>标量流水线</a:t>
            </a:r>
            <a:endParaRPr lang="zh-CN" altLang="en-US" sz="2400" smtClean="0">
              <a:solidFill>
                <a:srgbClr val="FF0000"/>
              </a:solidFill>
              <a:effectLst>
                <a:outerShdw blurRad="38100" dist="38100" dir="2700000" algn="tl">
                  <a:srgbClr val="000000"/>
                </a:outerShdw>
              </a:effectLst>
            </a:endParaRPr>
          </a:p>
          <a:p>
            <a:pPr marL="0" indent="0" eaLnBrk="1" hangingPunct="1">
              <a:lnSpc>
                <a:spcPct val="140000"/>
              </a:lnSpc>
              <a:buFont typeface="Wingdings" panose="05000000000000000000" pitchFamily="2" charset="2"/>
              <a:buNone/>
              <a:defRPr/>
            </a:pPr>
            <a:r>
              <a:rPr lang="zh-CN" altLang="en-US" sz="2400" smtClean="0"/>
              <a:t>    对标量数据进行处理。</a:t>
            </a:r>
            <a:endParaRPr lang="zh-CN" altLang="en-US" sz="2400" smtClean="0"/>
          </a:p>
          <a:p>
            <a:pPr marL="0" indent="0" eaLnBrk="1" hangingPunct="1">
              <a:lnSpc>
                <a:spcPct val="140000"/>
              </a:lnSpc>
              <a:buClr>
                <a:srgbClr val="FF0000"/>
              </a:buClr>
              <a:defRPr/>
            </a:pPr>
            <a:r>
              <a:rPr lang="en-US" altLang="zh-CN" sz="2400" smtClean="0">
                <a:solidFill>
                  <a:srgbClr val="FF0000"/>
                </a:solidFill>
                <a:effectLst>
                  <a:outerShdw blurRad="38100" dist="38100" dir="2700000" algn="tl">
                    <a:srgbClr val="000000"/>
                  </a:outerShdw>
                </a:effectLst>
              </a:rPr>
              <a:t>  </a:t>
            </a:r>
            <a:r>
              <a:rPr lang="zh-CN" altLang="en-US" sz="2400" smtClean="0">
                <a:solidFill>
                  <a:srgbClr val="FF0000"/>
                </a:solidFill>
                <a:effectLst>
                  <a:outerShdw blurRad="38100" dist="38100" dir="2700000" algn="tl">
                    <a:srgbClr val="000000"/>
                  </a:outerShdw>
                </a:effectLst>
              </a:rPr>
              <a:t>向量流水线</a:t>
            </a:r>
            <a:endParaRPr lang="zh-CN" altLang="en-US" sz="2400" smtClean="0">
              <a:solidFill>
                <a:srgbClr val="FF0000"/>
              </a:solidFill>
              <a:effectLst>
                <a:outerShdw blurRad="38100" dist="38100" dir="2700000" algn="tl">
                  <a:srgbClr val="000000"/>
                </a:outerShdw>
              </a:effectLst>
            </a:endParaRPr>
          </a:p>
          <a:p>
            <a:pPr marL="0" indent="0" eaLnBrk="1" hangingPunct="1">
              <a:lnSpc>
                <a:spcPct val="140000"/>
              </a:lnSpc>
              <a:buFont typeface="Wingdings" panose="05000000000000000000" pitchFamily="2" charset="2"/>
              <a:buNone/>
              <a:defRPr/>
            </a:pPr>
            <a:r>
              <a:rPr lang="zh-CN" altLang="en-US" sz="2400" smtClean="0"/>
              <a:t>    对向量数据进行处理。</a:t>
            </a:r>
            <a:endParaRPr lang="zh-CN" altLang="en-US" sz="2400" smtClean="0"/>
          </a:p>
          <a:p>
            <a:pPr marL="0" indent="0" eaLnBrk="1" hangingPunct="1">
              <a:lnSpc>
                <a:spcPct val="140000"/>
              </a:lnSpc>
              <a:defRPr/>
            </a:pPr>
            <a:endParaRPr lang="zh-CN" altLang="en-US" sz="2400" smtClean="0"/>
          </a:p>
        </p:txBody>
      </p:sp>
      <p:sp>
        <p:nvSpPr>
          <p:cNvPr id="583685" name="Rectangle 5"/>
          <p:cNvSpPr>
            <a:spLocks noGrp="1" noChangeArrowheads="1"/>
          </p:cNvSpPr>
          <p:nvPr>
            <p:ph type="body" sz="half" idx="2"/>
          </p:nvPr>
        </p:nvSpPr>
        <p:spPr>
          <a:xfrm>
            <a:off x="4864100" y="1989138"/>
            <a:ext cx="3903663" cy="4330700"/>
          </a:xfrm>
          <a:solidFill>
            <a:srgbClr val="CCFFFF"/>
          </a:solidFill>
          <a:ln w="57150" cmpd="thickThin">
            <a:solidFill>
              <a:schemeClr val="tx1"/>
            </a:solidFill>
            <a:miter lim="800000"/>
          </a:ln>
        </p:spPr>
        <p:txBody>
          <a:bodyPr/>
          <a:lstStyle/>
          <a:p>
            <a:pPr marL="0" indent="0" eaLnBrk="1" hangingPunct="1">
              <a:buFont typeface="Wingdings" panose="05000000000000000000" pitchFamily="2" charset="2"/>
              <a:buNone/>
              <a:defRPr/>
            </a:pPr>
            <a:r>
              <a:rPr lang="zh-CN" altLang="en-US" sz="2400" smtClean="0"/>
              <a:t>    按照流水线中信息流动顺序的控制方式分：</a:t>
            </a:r>
            <a:endParaRPr lang="zh-CN" altLang="en-US" sz="2400" smtClean="0"/>
          </a:p>
          <a:p>
            <a:pPr marL="0" indent="0" eaLnBrk="1" hangingPunct="1">
              <a:buClr>
                <a:srgbClr val="FF0000"/>
              </a:buClr>
              <a:defRPr/>
            </a:pPr>
            <a:r>
              <a:rPr lang="zh-CN" altLang="en-US" sz="2400" smtClean="0">
                <a:solidFill>
                  <a:srgbClr val="FF0000"/>
                </a:solidFill>
                <a:effectLst>
                  <a:outerShdw blurRad="38100" dist="38100" dir="2700000" algn="tl">
                    <a:srgbClr val="000000"/>
                  </a:outerShdw>
                </a:effectLst>
              </a:rPr>
              <a:t>  顺序流水线</a:t>
            </a:r>
            <a:endParaRPr lang="zh-CN" altLang="en-US" sz="2400" smtClean="0">
              <a:solidFill>
                <a:srgbClr val="FF0000"/>
              </a:solidFill>
              <a:effectLst>
                <a:outerShdw blurRad="38100" dist="38100" dir="2700000" algn="tl">
                  <a:srgbClr val="000000"/>
                </a:outerShdw>
              </a:effectLst>
            </a:endParaRPr>
          </a:p>
          <a:p>
            <a:pPr marL="0" indent="0" eaLnBrk="1" hangingPunct="1">
              <a:buFont typeface="Wingdings" panose="05000000000000000000" pitchFamily="2" charset="2"/>
              <a:buNone/>
              <a:defRPr/>
            </a:pPr>
            <a:r>
              <a:rPr lang="zh-CN" altLang="en-US" sz="2400" smtClean="0"/>
              <a:t>    流水线输出端的任务流出顺序与输入端的任务流入顺序完全相同。</a:t>
            </a:r>
            <a:endParaRPr lang="zh-CN" altLang="en-US" sz="2400" smtClean="0"/>
          </a:p>
          <a:p>
            <a:pPr marL="0" indent="0" eaLnBrk="1" hangingPunct="1">
              <a:buClr>
                <a:srgbClr val="FF0000"/>
              </a:buClr>
              <a:defRPr/>
            </a:pPr>
            <a:r>
              <a:rPr lang="zh-CN" altLang="en-US" sz="2400" smtClean="0">
                <a:solidFill>
                  <a:srgbClr val="FF0000"/>
                </a:solidFill>
                <a:effectLst>
                  <a:outerShdw blurRad="38100" dist="38100" dir="2700000" algn="tl">
                    <a:srgbClr val="000000"/>
                  </a:outerShdw>
                </a:effectLst>
              </a:rPr>
              <a:t>  异步流水线</a:t>
            </a:r>
            <a:endParaRPr lang="zh-CN" altLang="en-US" sz="2400" smtClean="0">
              <a:solidFill>
                <a:srgbClr val="FF0000"/>
              </a:solidFill>
              <a:effectLst>
                <a:outerShdw blurRad="38100" dist="38100" dir="2700000" algn="tl">
                  <a:srgbClr val="000000"/>
                </a:outerShdw>
              </a:effectLst>
            </a:endParaRPr>
          </a:p>
          <a:p>
            <a:pPr marL="0" indent="0" eaLnBrk="1" hangingPunct="1">
              <a:buFont typeface="Wingdings" panose="05000000000000000000" pitchFamily="2" charset="2"/>
              <a:buNone/>
              <a:defRPr/>
            </a:pPr>
            <a:r>
              <a:rPr lang="zh-CN" altLang="en-US" sz="2400" smtClean="0"/>
              <a:t>    流水线输出端的任务流出顺序与输入端的任务流入顺序可以不一样。</a:t>
            </a:r>
            <a:endParaRPr lang="zh-CN" altLang="en-US" sz="2400" smtClean="0"/>
          </a:p>
        </p:txBody>
      </p:sp>
      <p:sp>
        <p:nvSpPr>
          <p:cNvPr id="3072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流水线的分类</a:t>
            </a:r>
            <a:endParaRPr lang="zh-CN" altLang="en-US" sz="1200" b="0">
              <a:latin typeface="Times New Roman" panose="02020603050405020304" pitchFamily="18" charset="0"/>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5250" name="Rectangle 2"/>
          <p:cNvSpPr>
            <a:spLocks noGrp="1" noChangeArrowheads="1"/>
          </p:cNvSpPr>
          <p:nvPr>
            <p:ph type="title"/>
          </p:nvPr>
        </p:nvSpPr>
        <p:spPr/>
        <p:txBody>
          <a:bodyPr/>
          <a:lstStyle/>
          <a:p>
            <a:pPr eaLnBrk="1" hangingPunct="1">
              <a:defRPr/>
            </a:pPr>
            <a:r>
              <a:rPr lang="zh-CN" altLang="en-US" smtClean="0"/>
              <a:t>流水线的性能分析</a:t>
            </a:r>
            <a:endParaRPr lang="zh-CN" altLang="en-US" smtClean="0"/>
          </a:p>
        </p:txBody>
      </p:sp>
      <p:sp>
        <p:nvSpPr>
          <p:cNvPr id="3174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endParaRPr lang="zh-CN" altLang="en-US" sz="1200" b="0">
              <a:latin typeface="Times New Roman" panose="02020603050405020304" pitchFamily="18" charset="0"/>
              <a:ea typeface="幼圆" panose="02010509060101010101" pitchFamily="49" charset="-122"/>
            </a:endParaRPr>
          </a:p>
        </p:txBody>
      </p:sp>
      <p:sp>
        <p:nvSpPr>
          <p:cNvPr id="31748" name="Rectangle 4"/>
          <p:cNvSpPr>
            <a:spLocks noGrp="1" noChangeArrowheads="1"/>
          </p:cNvSpPr>
          <p:nvPr>
            <p:ph type="body" idx="1"/>
          </p:nvPr>
        </p:nvSpPr>
        <p:spPr>
          <a:xfrm>
            <a:off x="1981200" y="1989138"/>
            <a:ext cx="4895850" cy="4411662"/>
          </a:xfrm>
        </p:spPr>
        <p:txBody>
          <a:bodyPr/>
          <a:lstStyle/>
          <a:p>
            <a:pPr eaLnBrk="1" hangingPunct="1">
              <a:lnSpc>
                <a:spcPct val="140000"/>
              </a:lnSpc>
            </a:pPr>
            <a:r>
              <a:rPr lang="zh-CN" altLang="en-US" smtClean="0">
                <a:hlinkClick r:id="rId3" action="ppaction://hlinksldjump"/>
              </a:rPr>
              <a:t>吞吐率</a:t>
            </a:r>
            <a:endParaRPr lang="zh-CN" altLang="en-US" smtClean="0"/>
          </a:p>
          <a:p>
            <a:pPr eaLnBrk="1" hangingPunct="1">
              <a:lnSpc>
                <a:spcPct val="140000"/>
              </a:lnSpc>
            </a:pPr>
            <a:r>
              <a:rPr lang="zh-CN" altLang="en-US" smtClean="0">
                <a:hlinkClick r:id="rId4" action="ppaction://hlinksldjump"/>
              </a:rPr>
              <a:t>加速比</a:t>
            </a:r>
            <a:endParaRPr lang="zh-CN" altLang="en-US" smtClean="0"/>
          </a:p>
          <a:p>
            <a:pPr eaLnBrk="1" hangingPunct="1">
              <a:lnSpc>
                <a:spcPct val="140000"/>
              </a:lnSpc>
            </a:pPr>
            <a:r>
              <a:rPr lang="zh-CN" altLang="en-US" smtClean="0">
                <a:hlinkClick r:id="rId5" action="ppaction://hlinksldjump"/>
              </a:rPr>
              <a:t>效    率</a:t>
            </a:r>
            <a:endParaRPr lang="zh-CN" altLang="en-US" smtClean="0"/>
          </a:p>
          <a:p>
            <a:pPr eaLnBrk="1" hangingPunct="1">
              <a:lnSpc>
                <a:spcPct val="140000"/>
              </a:lnSpc>
            </a:pPr>
            <a:r>
              <a:rPr lang="zh-CN" altLang="en-US" smtClean="0">
                <a:hlinkClick r:id="rId6" action="ppaction://hlinksldjump"/>
              </a:rPr>
              <a:t>流水线最佳段数的选择</a:t>
            </a:r>
            <a:endParaRPr lang="zh-CN" altLang="en-US" smtClean="0"/>
          </a:p>
          <a:p>
            <a:pPr eaLnBrk="1" hangingPunct="1">
              <a:lnSpc>
                <a:spcPct val="140000"/>
              </a:lnSpc>
            </a:pPr>
            <a:r>
              <a:rPr lang="zh-CN" altLang="en-US" smtClean="0">
                <a:hlinkClick r:id="rId7" action="ppaction://hlinksldjump"/>
              </a:rPr>
              <a:t>性能分析举例</a:t>
            </a:r>
            <a:endParaRPr lang="zh-CN" altLang="en-US" smtClean="0"/>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2"/>
          <p:cNvSpPr>
            <a:spLocks noGrp="1" noChangeArrowheads="1"/>
          </p:cNvSpPr>
          <p:nvPr>
            <p:ph type="title"/>
          </p:nvPr>
        </p:nvSpPr>
        <p:spPr/>
        <p:txBody>
          <a:bodyPr/>
          <a:lstStyle/>
          <a:p>
            <a:pPr eaLnBrk="1" hangingPunct="1">
              <a:defRPr/>
            </a:pPr>
            <a:r>
              <a:rPr lang="zh-CN" altLang="en-US" smtClean="0"/>
              <a:t>吞吐率</a:t>
            </a:r>
            <a:endParaRPr lang="zh-CN" altLang="en-US" smtClean="0"/>
          </a:p>
        </p:txBody>
      </p:sp>
      <p:sp>
        <p:nvSpPr>
          <p:cNvPr id="595973" name="Rectangle 5"/>
          <p:cNvSpPr>
            <a:spLocks noGrp="1" noChangeArrowheads="1"/>
          </p:cNvSpPr>
          <p:nvPr>
            <p:ph type="body" sz="half" idx="1"/>
          </p:nvPr>
        </p:nvSpPr>
        <p:spPr>
          <a:xfrm>
            <a:off x="809625" y="1989138"/>
            <a:ext cx="7953375" cy="4411662"/>
          </a:xfrm>
        </p:spPr>
        <p:txBody>
          <a:bodyPr/>
          <a:lstStyle/>
          <a:p>
            <a:pPr marL="0" indent="0" eaLnBrk="1" hangingPunct="1">
              <a:lnSpc>
                <a:spcPct val="110000"/>
              </a:lnSpc>
              <a:buClr>
                <a:srgbClr val="FF0000"/>
              </a:buClr>
              <a:defRPr/>
            </a:pPr>
            <a:r>
              <a:rPr lang="zh-CN" altLang="en-US" sz="3200" dirty="0" smtClean="0">
                <a:solidFill>
                  <a:srgbClr val="FF0000"/>
                </a:solidFill>
                <a:effectLst>
                  <a:outerShdw blurRad="38100" dist="38100" dir="2700000" algn="tl">
                    <a:srgbClr val="C0C0C0"/>
                  </a:outerShdw>
                </a:effectLst>
              </a:rPr>
              <a:t>  定义</a:t>
            </a:r>
            <a:endParaRPr lang="zh-CN" altLang="en-US" sz="3200" dirty="0" smtClean="0">
              <a:solidFill>
                <a:srgbClr val="FF0000"/>
              </a:solidFill>
              <a:effectLst>
                <a:outerShdw blurRad="38100" dist="38100" dir="2700000" algn="tl">
                  <a:srgbClr val="C0C0C0"/>
                </a:outerShdw>
              </a:effectLst>
            </a:endParaRPr>
          </a:p>
          <a:p>
            <a:pPr marL="0" indent="0" eaLnBrk="1" hangingPunct="1">
              <a:lnSpc>
                <a:spcPct val="110000"/>
              </a:lnSpc>
              <a:buFont typeface="Wingdings" panose="05000000000000000000" pitchFamily="2" charset="2"/>
              <a:buNone/>
              <a:defRPr/>
            </a:pPr>
            <a:r>
              <a:rPr lang="zh-CN" altLang="en-US" sz="3200" dirty="0" smtClean="0"/>
              <a:t>    单位时间内流水线所能流出的任务数或能流出的结果数。</a:t>
            </a:r>
            <a:endParaRPr lang="zh-CN" altLang="en-US" sz="3200" dirty="0" smtClean="0"/>
          </a:p>
          <a:p>
            <a:pPr marL="0" indent="0" eaLnBrk="1" hangingPunct="1">
              <a:lnSpc>
                <a:spcPct val="110000"/>
              </a:lnSpc>
              <a:buClr>
                <a:srgbClr val="FF0000"/>
              </a:buClr>
              <a:defRPr/>
            </a:pPr>
            <a:r>
              <a:rPr lang="zh-CN" altLang="en-US" sz="3200" dirty="0" smtClean="0">
                <a:solidFill>
                  <a:srgbClr val="FF0000"/>
                </a:solidFill>
                <a:effectLst>
                  <a:outerShdw blurRad="38100" dist="38100" dir="2700000" algn="tl">
                    <a:srgbClr val="C0C0C0"/>
                  </a:outerShdw>
                </a:effectLst>
              </a:rPr>
              <a:t>  公式</a:t>
            </a:r>
            <a:endParaRPr lang="zh-CN" altLang="en-US" sz="3200" dirty="0" smtClean="0">
              <a:solidFill>
                <a:srgbClr val="FF0000"/>
              </a:solidFill>
              <a:effectLst>
                <a:outerShdw blurRad="38100" dist="38100" dir="2700000" algn="tl">
                  <a:srgbClr val="C0C0C0"/>
                </a:outerShdw>
              </a:effectLst>
            </a:endParaRPr>
          </a:p>
        </p:txBody>
      </p:sp>
      <p:sp>
        <p:nvSpPr>
          <p:cNvPr id="595976" name="Rectangle 8"/>
          <p:cNvSpPr>
            <a:spLocks noGrp="1" noChangeArrowheads="1"/>
          </p:cNvSpPr>
          <p:nvPr>
            <p:ph type="body" sz="half" idx="2"/>
          </p:nvPr>
        </p:nvSpPr>
        <p:spPr>
          <a:xfrm>
            <a:off x="2590800" y="4794250"/>
            <a:ext cx="6229350" cy="1443038"/>
          </a:xfrm>
          <a:solidFill>
            <a:srgbClr val="CCFFFF"/>
          </a:solidFill>
          <a:ln w="57150" cmpd="thickThin">
            <a:solidFill>
              <a:schemeClr val="tx1"/>
            </a:solidFill>
            <a:miter lim="800000"/>
          </a:ln>
        </p:spPr>
        <p:txBody>
          <a:bodyPr/>
          <a:lstStyle/>
          <a:p>
            <a:pPr eaLnBrk="1" hangingPunct="1">
              <a:lnSpc>
                <a:spcPct val="120000"/>
              </a:lnSpc>
              <a:buFont typeface="Wingdings" panose="05000000000000000000" pitchFamily="2" charset="2"/>
              <a:buChar char="Ø"/>
              <a:defRPr/>
            </a:pPr>
            <a:r>
              <a:rPr lang="en-US" altLang="zh-CN" b="0" smtClean="0">
                <a:solidFill>
                  <a:srgbClr val="0000CC"/>
                </a:solidFill>
                <a:effectLst>
                  <a:outerShdw blurRad="38100" dist="38100" dir="2700000" algn="tl">
                    <a:srgbClr val="000000"/>
                  </a:outerShdw>
                </a:effectLst>
              </a:rPr>
              <a:t> n ：</a:t>
            </a:r>
            <a:r>
              <a:rPr lang="zh-CN" altLang="en-US" smtClean="0"/>
              <a:t>任务数；</a:t>
            </a:r>
            <a:endParaRPr lang="zh-CN" altLang="en-US" smtClean="0"/>
          </a:p>
          <a:p>
            <a:pPr eaLnBrk="1" hangingPunct="1">
              <a:lnSpc>
                <a:spcPct val="120000"/>
              </a:lnSpc>
              <a:buFont typeface="Wingdings" panose="05000000000000000000" pitchFamily="2" charset="2"/>
              <a:buChar char="Ø"/>
              <a:defRPr/>
            </a:pPr>
            <a:r>
              <a:rPr lang="en-US" altLang="zh-CN" b="0" smtClean="0">
                <a:solidFill>
                  <a:srgbClr val="0000CC"/>
                </a:solidFill>
                <a:effectLst>
                  <a:outerShdw blurRad="38100" dist="38100" dir="2700000" algn="tl">
                    <a:srgbClr val="000000"/>
                  </a:outerShdw>
                </a:effectLst>
              </a:rPr>
              <a:t>T</a:t>
            </a:r>
            <a:r>
              <a:rPr lang="en-US" altLang="zh-CN" b="0" baseline="-25000" smtClean="0">
                <a:solidFill>
                  <a:srgbClr val="0000CC"/>
                </a:solidFill>
                <a:effectLst>
                  <a:outerShdw blurRad="38100" dist="38100" dir="2700000" algn="tl">
                    <a:srgbClr val="000000"/>
                  </a:outerShdw>
                </a:effectLst>
              </a:rPr>
              <a:t>m</a:t>
            </a:r>
            <a:r>
              <a:rPr lang="en-US" altLang="zh-CN" b="0" smtClean="0">
                <a:solidFill>
                  <a:srgbClr val="0000CC"/>
                </a:solidFill>
                <a:effectLst>
                  <a:outerShdw blurRad="38100" dist="38100" dir="2700000" algn="tl">
                    <a:srgbClr val="000000"/>
                  </a:outerShdw>
                </a:effectLst>
              </a:rPr>
              <a:t>：</a:t>
            </a:r>
            <a:r>
              <a:rPr lang="zh-CN" altLang="en-US" smtClean="0"/>
              <a:t>处理完成</a:t>
            </a:r>
            <a:r>
              <a:rPr lang="en-US" altLang="zh-CN" smtClean="0"/>
              <a:t>n</a:t>
            </a:r>
            <a:r>
              <a:rPr lang="zh-CN" altLang="en-US" smtClean="0"/>
              <a:t>个任务所用的时间。</a:t>
            </a:r>
            <a:endParaRPr lang="zh-CN" altLang="en-US" smtClean="0"/>
          </a:p>
        </p:txBody>
      </p:sp>
      <p:sp>
        <p:nvSpPr>
          <p:cNvPr id="3277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32774"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1</a:t>
            </a:r>
            <a:endParaRPr lang="zh-CN" altLang="en-US" sz="1200" b="0">
              <a:latin typeface="幼圆" panose="02010509060101010101" pitchFamily="49" charset="-122"/>
              <a:ea typeface="幼圆" panose="02010509060101010101" pitchFamily="49" charset="-122"/>
            </a:endParaRPr>
          </a:p>
        </p:txBody>
      </p:sp>
      <p:graphicFrame>
        <p:nvGraphicFramePr>
          <p:cNvPr id="32775" name="Object 7"/>
          <p:cNvGraphicFramePr>
            <a:graphicFrameLocks noChangeAspect="1"/>
          </p:cNvGraphicFramePr>
          <p:nvPr/>
        </p:nvGraphicFramePr>
        <p:xfrm>
          <a:off x="990600" y="4953000"/>
          <a:ext cx="1428750" cy="1079500"/>
        </p:xfrm>
        <a:graphic>
          <a:graphicData uri="http://schemas.openxmlformats.org/presentationml/2006/ole">
            <mc:AlternateContent xmlns:mc="http://schemas.openxmlformats.org/markup-compatibility/2006">
              <mc:Choice xmlns:v="urn:schemas-microsoft-com:vml" Requires="v">
                <p:oleObj spid="_x0000_s32864" name="Equation" r:id="rId4" imgW="571500" imgH="431800" progId="Equation.3">
                  <p:embed/>
                </p:oleObj>
              </mc:Choice>
              <mc:Fallback>
                <p:oleObj name="Equation" r:id="rId4" imgW="571500" imgH="431800" progId="Equation.3">
                  <p:embed/>
                  <p:pic>
                    <p:nvPicPr>
                      <p:cNvPr id="0"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0600" y="4953000"/>
                        <a:ext cx="1428750" cy="1079500"/>
                      </a:xfrm>
                      <a:prstGeom prst="rect">
                        <a:avLst/>
                      </a:prstGeom>
                      <a:solidFill>
                        <a:srgbClr val="FFFF00"/>
                      </a:solidFill>
                      <a:ln w="28575">
                        <a:solidFill>
                          <a:schemeClr val="tx1"/>
                        </a:solidFill>
                        <a:miter lim="800000"/>
                        <a:headEnd/>
                        <a:tailEnd/>
                      </a:ln>
                      <a:effectLst>
                        <a:outerShdw dist="35921" dir="2700000" algn="ctr" rotWithShape="0">
                          <a:srgbClr val="808080"/>
                        </a:outerShdw>
                      </a:effectLst>
                    </p:spPr>
                  </p:pic>
                </p:oleObj>
              </mc:Fallback>
            </mc:AlternateContent>
          </a:graphicData>
        </a:graphic>
      </p:graphicFrame>
    </p:spTree>
  </p:cSld>
  <p:clrMapOvr>
    <a:masterClrMapping/>
  </p:clrMapOvr>
  <p:transition spd="slow">
    <p:random/>
    <p:sndAc>
      <p:stSnd>
        <p:snd r:embed="rId6" name="projctor.wav"/>
      </p:stSnd>
    </p:sndAc>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114" name="Rectangle 2"/>
          <p:cNvSpPr>
            <a:spLocks noGrp="1" noChangeArrowheads="1"/>
          </p:cNvSpPr>
          <p:nvPr>
            <p:ph type="title"/>
          </p:nvPr>
        </p:nvSpPr>
        <p:spPr/>
        <p:txBody>
          <a:bodyPr/>
          <a:lstStyle/>
          <a:p>
            <a:pPr eaLnBrk="1" hangingPunct="1">
              <a:defRPr/>
            </a:pPr>
            <a:r>
              <a:rPr lang="zh-CN" altLang="en-US" sz="4400" dirty="0" smtClean="0"/>
              <a:t>例1：各段时间均相等</a:t>
            </a:r>
            <a:endParaRPr lang="zh-CN" altLang="en-US" sz="4400" dirty="0" smtClean="0"/>
          </a:p>
        </p:txBody>
      </p:sp>
      <p:sp>
        <p:nvSpPr>
          <p:cNvPr id="33795" name="Rectangle 8"/>
          <p:cNvSpPr>
            <a:spLocks noGrp="1" noChangeArrowheads="1"/>
          </p:cNvSpPr>
          <p:nvPr>
            <p:ph type="body" idx="1"/>
          </p:nvPr>
        </p:nvSpPr>
        <p:spPr>
          <a:xfrm>
            <a:off x="809625" y="1989138"/>
            <a:ext cx="7958138" cy="1466850"/>
          </a:xfrm>
        </p:spPr>
        <p:txBody>
          <a:bodyPr/>
          <a:lstStyle/>
          <a:p>
            <a:pPr marL="0" indent="0" eaLnBrk="1" hangingPunct="1">
              <a:lnSpc>
                <a:spcPct val="110000"/>
              </a:lnSpc>
              <a:buFont typeface="Wingdings" panose="05000000000000000000" pitchFamily="2" charset="2"/>
              <a:buNone/>
            </a:pPr>
            <a:r>
              <a:rPr lang="zh-CN" altLang="en-US" sz="2400" smtClean="0"/>
              <a:t>       假设在流水线各段的执行时间（</a:t>
            </a:r>
            <a:r>
              <a:rPr lang="zh-CN" altLang="zh-CN" sz="2400" smtClean="0">
                <a:solidFill>
                  <a:srgbClr val="FF0000"/>
                </a:solidFill>
                <a:sym typeface="Symbol" panose="05050102010706020507" pitchFamily="18" charset="2"/>
              </a:rPr>
              <a:t> </a:t>
            </a:r>
            <a:r>
              <a:rPr lang="zh-CN" altLang="zh-CN" sz="2400" smtClean="0">
                <a:sym typeface="Symbol" panose="05050102010706020507" pitchFamily="18" charset="2"/>
              </a:rPr>
              <a:t>t </a:t>
            </a:r>
            <a:r>
              <a:rPr lang="zh-CN" altLang="en-US" sz="2400" smtClean="0"/>
              <a:t>）均相等，输入到流水线中的任务是连续的理想情况下，一条单功能</a:t>
            </a:r>
            <a:r>
              <a:rPr lang="en-US" altLang="zh-CN" sz="2400" smtClean="0"/>
              <a:t>m</a:t>
            </a:r>
            <a:r>
              <a:rPr lang="zh-CN" altLang="en-US" sz="2400" smtClean="0"/>
              <a:t>段线性流水线能够在</a:t>
            </a:r>
            <a:r>
              <a:rPr lang="en-US" altLang="zh-CN" sz="2400" smtClean="0"/>
              <a:t>m+n-1</a:t>
            </a:r>
            <a:r>
              <a:rPr lang="zh-CN" altLang="en-US" sz="2400" smtClean="0"/>
              <a:t>个</a:t>
            </a:r>
            <a:r>
              <a:rPr lang="zh-CN" altLang="zh-CN" sz="2400" smtClean="0">
                <a:sym typeface="Symbol" panose="05050102010706020507" pitchFamily="18" charset="2"/>
              </a:rPr>
              <a:t>t</a:t>
            </a:r>
            <a:r>
              <a:rPr lang="zh-CN" altLang="en-US" sz="2400" smtClean="0">
                <a:sym typeface="Symbol" panose="05050102010706020507" pitchFamily="18" charset="2"/>
              </a:rPr>
              <a:t>时间</a:t>
            </a:r>
            <a:r>
              <a:rPr lang="zh-CN" altLang="en-US" sz="2400" smtClean="0"/>
              <a:t>内完成</a:t>
            </a:r>
            <a:r>
              <a:rPr lang="en-US" altLang="zh-CN" sz="2400" smtClean="0"/>
              <a:t>n</a:t>
            </a:r>
            <a:r>
              <a:rPr lang="zh-CN" altLang="en-US" sz="2400" smtClean="0"/>
              <a:t>个任务。</a:t>
            </a:r>
            <a:endParaRPr lang="zh-CN" altLang="en-US" sz="2400" smtClean="0"/>
          </a:p>
        </p:txBody>
      </p:sp>
      <p:sp>
        <p:nvSpPr>
          <p:cNvPr id="33796"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33797"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2</a:t>
            </a:r>
            <a:endParaRPr lang="zh-CN" altLang="en-US" sz="1200" b="0">
              <a:latin typeface="幼圆" panose="02010509060101010101" pitchFamily="49" charset="-122"/>
              <a:ea typeface="幼圆" panose="02010509060101010101" pitchFamily="49" charset="-122"/>
            </a:endParaRPr>
          </a:p>
        </p:txBody>
      </p:sp>
      <p:sp>
        <p:nvSpPr>
          <p:cNvPr id="33798" name="Rectangle 11"/>
          <p:cNvSpPr>
            <a:spLocks noChangeArrowheads="1"/>
          </p:cNvSpPr>
          <p:nvPr/>
        </p:nvSpPr>
        <p:spPr bwMode="auto">
          <a:xfrm>
            <a:off x="1652588" y="4997450"/>
            <a:ext cx="585787"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33799" name="Line 12"/>
          <p:cNvSpPr>
            <a:spLocks noChangeShapeType="1"/>
          </p:cNvSpPr>
          <p:nvPr/>
        </p:nvSpPr>
        <p:spPr bwMode="auto">
          <a:xfrm flipV="1">
            <a:off x="1652588" y="3643313"/>
            <a:ext cx="0" cy="1693862"/>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0" name="Rectangle 13"/>
          <p:cNvSpPr>
            <a:spLocks noChangeArrowheads="1"/>
          </p:cNvSpPr>
          <p:nvPr/>
        </p:nvSpPr>
        <p:spPr bwMode="auto">
          <a:xfrm>
            <a:off x="7729538" y="4949825"/>
            <a:ext cx="804862"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时间</a:t>
            </a:r>
            <a:endParaRPr lang="zh-CN" altLang="zh-CN" sz="2400">
              <a:solidFill>
                <a:schemeClr val="tx2"/>
              </a:solidFill>
            </a:endParaRPr>
          </a:p>
        </p:txBody>
      </p:sp>
      <p:sp>
        <p:nvSpPr>
          <p:cNvPr id="33801" name="Rectangle 14"/>
          <p:cNvSpPr>
            <a:spLocks noChangeArrowheads="1"/>
          </p:cNvSpPr>
          <p:nvPr/>
        </p:nvSpPr>
        <p:spPr bwMode="auto">
          <a:xfrm>
            <a:off x="1139825" y="3352800"/>
            <a:ext cx="9525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空间</a:t>
            </a:r>
            <a:endParaRPr lang="zh-CN" altLang="zh-CN" sz="2400">
              <a:solidFill>
                <a:schemeClr val="tx2"/>
              </a:solidFill>
            </a:endParaRPr>
          </a:p>
        </p:txBody>
      </p:sp>
      <p:sp>
        <p:nvSpPr>
          <p:cNvPr id="33802" name="Line 15"/>
          <p:cNvSpPr>
            <a:spLocks noChangeShapeType="1"/>
          </p:cNvSpPr>
          <p:nvPr/>
        </p:nvSpPr>
        <p:spPr bwMode="auto">
          <a:xfrm flipV="1">
            <a:off x="7508875" y="4321175"/>
            <a:ext cx="0" cy="1016000"/>
          </a:xfrm>
          <a:prstGeom prst="line">
            <a:avLst/>
          </a:prstGeom>
          <a:noFill/>
          <a:ln w="28575" cap="rnd">
            <a:solidFill>
              <a:schemeClr val="tx2"/>
            </a:solidFill>
            <a:prstDash val="sysDot"/>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3" name="Rectangle 16"/>
          <p:cNvSpPr>
            <a:spLocks noChangeArrowheads="1"/>
          </p:cNvSpPr>
          <p:nvPr/>
        </p:nvSpPr>
        <p:spPr bwMode="auto">
          <a:xfrm>
            <a:off x="1066800" y="4997450"/>
            <a:ext cx="585788"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S</a:t>
            </a:r>
            <a:r>
              <a:rPr lang="zh-CN" altLang="zh-CN" sz="2400" baseline="-25000">
                <a:solidFill>
                  <a:schemeClr val="tx2"/>
                </a:solidFill>
                <a:sym typeface="Symbol" panose="05050102010706020507" pitchFamily="18" charset="2"/>
              </a:rPr>
              <a:t>1</a:t>
            </a:r>
            <a:endParaRPr lang="en-US" altLang="zh-CN" sz="2400">
              <a:solidFill>
                <a:schemeClr val="tx2"/>
              </a:solidFill>
            </a:endParaRPr>
          </a:p>
        </p:txBody>
      </p:sp>
      <p:sp>
        <p:nvSpPr>
          <p:cNvPr id="33804" name="Line 17"/>
          <p:cNvSpPr>
            <a:spLocks noChangeShapeType="1"/>
          </p:cNvSpPr>
          <p:nvPr/>
        </p:nvSpPr>
        <p:spPr bwMode="auto">
          <a:xfrm>
            <a:off x="1652588" y="5337175"/>
            <a:ext cx="68087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5" name="Rectangle 18"/>
          <p:cNvSpPr>
            <a:spLocks noChangeArrowheads="1"/>
          </p:cNvSpPr>
          <p:nvPr/>
        </p:nvSpPr>
        <p:spPr bwMode="auto">
          <a:xfrm>
            <a:off x="2238375" y="4997450"/>
            <a:ext cx="585788"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33806" name="Rectangle 19"/>
          <p:cNvSpPr>
            <a:spLocks noChangeArrowheads="1"/>
          </p:cNvSpPr>
          <p:nvPr/>
        </p:nvSpPr>
        <p:spPr bwMode="auto">
          <a:xfrm>
            <a:off x="2824163" y="4997450"/>
            <a:ext cx="585787"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33807" name="Rectangle 20"/>
          <p:cNvSpPr>
            <a:spLocks noChangeArrowheads="1"/>
          </p:cNvSpPr>
          <p:nvPr/>
        </p:nvSpPr>
        <p:spPr bwMode="auto">
          <a:xfrm>
            <a:off x="3409950" y="4997450"/>
            <a:ext cx="585788"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3808" name="Rectangle 21"/>
          <p:cNvSpPr>
            <a:spLocks noChangeArrowheads="1"/>
          </p:cNvSpPr>
          <p:nvPr/>
        </p:nvSpPr>
        <p:spPr bwMode="auto">
          <a:xfrm>
            <a:off x="3995738" y="4997450"/>
            <a:ext cx="585787"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3809" name="Rectangle 22"/>
          <p:cNvSpPr>
            <a:spLocks noChangeArrowheads="1"/>
          </p:cNvSpPr>
          <p:nvPr/>
        </p:nvSpPr>
        <p:spPr bwMode="auto">
          <a:xfrm>
            <a:off x="4581525" y="4997450"/>
            <a:ext cx="585788"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n-1</a:t>
            </a:r>
            <a:endParaRPr lang="en-US" altLang="zh-CN" sz="2400">
              <a:solidFill>
                <a:schemeClr val="tx2"/>
              </a:solidFill>
            </a:endParaRPr>
          </a:p>
        </p:txBody>
      </p:sp>
      <p:sp>
        <p:nvSpPr>
          <p:cNvPr id="33810" name="Rectangle 23"/>
          <p:cNvSpPr>
            <a:spLocks noChangeArrowheads="1"/>
          </p:cNvSpPr>
          <p:nvPr/>
        </p:nvSpPr>
        <p:spPr bwMode="auto">
          <a:xfrm>
            <a:off x="5167313" y="4997450"/>
            <a:ext cx="585787"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33811" name="Rectangle 24"/>
          <p:cNvSpPr>
            <a:spLocks noChangeArrowheads="1"/>
          </p:cNvSpPr>
          <p:nvPr/>
        </p:nvSpPr>
        <p:spPr bwMode="auto">
          <a:xfrm>
            <a:off x="1066800" y="4659313"/>
            <a:ext cx="585788"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S</a:t>
            </a:r>
            <a:r>
              <a:rPr lang="zh-CN" altLang="zh-CN" sz="2400" baseline="-25000">
                <a:solidFill>
                  <a:schemeClr val="tx2"/>
                </a:solidFill>
                <a:sym typeface="Symbol" panose="05050102010706020507" pitchFamily="18" charset="2"/>
              </a:rPr>
              <a:t>2</a:t>
            </a:r>
            <a:endParaRPr lang="en-US" altLang="zh-CN" sz="2400">
              <a:solidFill>
                <a:schemeClr val="tx2"/>
              </a:solidFill>
            </a:endParaRPr>
          </a:p>
        </p:txBody>
      </p:sp>
      <p:sp>
        <p:nvSpPr>
          <p:cNvPr id="33812" name="Rectangle 25"/>
          <p:cNvSpPr>
            <a:spLocks noChangeArrowheads="1"/>
          </p:cNvSpPr>
          <p:nvPr/>
        </p:nvSpPr>
        <p:spPr bwMode="auto">
          <a:xfrm>
            <a:off x="1066800" y="4321175"/>
            <a:ext cx="585788"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en-US" altLang="zh-CN" sz="2400">
              <a:solidFill>
                <a:schemeClr val="tx2"/>
              </a:solidFill>
            </a:endParaRPr>
          </a:p>
        </p:txBody>
      </p:sp>
      <p:sp>
        <p:nvSpPr>
          <p:cNvPr id="33813" name="Rectangle 26"/>
          <p:cNvSpPr>
            <a:spLocks noChangeArrowheads="1"/>
          </p:cNvSpPr>
          <p:nvPr/>
        </p:nvSpPr>
        <p:spPr bwMode="auto">
          <a:xfrm>
            <a:off x="1066800" y="3981450"/>
            <a:ext cx="585788"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S</a:t>
            </a:r>
            <a:r>
              <a:rPr lang="zh-CN" altLang="en-US" sz="2400" baseline="-25000">
                <a:solidFill>
                  <a:schemeClr val="tx2"/>
                </a:solidFill>
                <a:sym typeface="Symbol" panose="05050102010706020507" pitchFamily="18" charset="2"/>
              </a:rPr>
              <a:t>m</a:t>
            </a:r>
            <a:endParaRPr lang="en-US" altLang="zh-CN" sz="2400">
              <a:solidFill>
                <a:schemeClr val="tx2"/>
              </a:solidFill>
            </a:endParaRPr>
          </a:p>
        </p:txBody>
      </p:sp>
      <p:sp>
        <p:nvSpPr>
          <p:cNvPr id="33814" name="Line 27"/>
          <p:cNvSpPr>
            <a:spLocks noChangeShapeType="1"/>
          </p:cNvSpPr>
          <p:nvPr/>
        </p:nvSpPr>
        <p:spPr bwMode="auto">
          <a:xfrm flipV="1">
            <a:off x="7508875" y="5384800"/>
            <a:ext cx="0" cy="1016000"/>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15" name="Rectangle 28"/>
          <p:cNvSpPr>
            <a:spLocks noChangeArrowheads="1"/>
          </p:cNvSpPr>
          <p:nvPr/>
        </p:nvSpPr>
        <p:spPr bwMode="auto">
          <a:xfrm>
            <a:off x="2238375" y="4659313"/>
            <a:ext cx="585788" cy="338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33816" name="Rectangle 29"/>
          <p:cNvSpPr>
            <a:spLocks noChangeArrowheads="1"/>
          </p:cNvSpPr>
          <p:nvPr/>
        </p:nvSpPr>
        <p:spPr bwMode="auto">
          <a:xfrm>
            <a:off x="2824163" y="4659313"/>
            <a:ext cx="585787" cy="338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33817" name="Rectangle 30"/>
          <p:cNvSpPr>
            <a:spLocks noChangeArrowheads="1"/>
          </p:cNvSpPr>
          <p:nvPr/>
        </p:nvSpPr>
        <p:spPr bwMode="auto">
          <a:xfrm>
            <a:off x="3409950" y="4659313"/>
            <a:ext cx="585788" cy="338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33818" name="Rectangle 31"/>
          <p:cNvSpPr>
            <a:spLocks noChangeArrowheads="1"/>
          </p:cNvSpPr>
          <p:nvPr/>
        </p:nvSpPr>
        <p:spPr bwMode="auto">
          <a:xfrm>
            <a:off x="3995738" y="4659313"/>
            <a:ext cx="585787" cy="338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3819" name="Rectangle 32"/>
          <p:cNvSpPr>
            <a:spLocks noChangeArrowheads="1"/>
          </p:cNvSpPr>
          <p:nvPr/>
        </p:nvSpPr>
        <p:spPr bwMode="auto">
          <a:xfrm>
            <a:off x="4581525" y="4659313"/>
            <a:ext cx="585788" cy="338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3820" name="Rectangle 33"/>
          <p:cNvSpPr>
            <a:spLocks noChangeArrowheads="1"/>
          </p:cNvSpPr>
          <p:nvPr/>
        </p:nvSpPr>
        <p:spPr bwMode="auto">
          <a:xfrm>
            <a:off x="5167313" y="4659313"/>
            <a:ext cx="585787" cy="338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n-1</a:t>
            </a:r>
            <a:endParaRPr lang="en-US" altLang="zh-CN" sz="2400">
              <a:solidFill>
                <a:schemeClr val="tx2"/>
              </a:solidFill>
            </a:endParaRPr>
          </a:p>
        </p:txBody>
      </p:sp>
      <p:sp>
        <p:nvSpPr>
          <p:cNvPr id="33821" name="Rectangle 34"/>
          <p:cNvSpPr>
            <a:spLocks noChangeArrowheads="1"/>
          </p:cNvSpPr>
          <p:nvPr/>
        </p:nvSpPr>
        <p:spPr bwMode="auto">
          <a:xfrm>
            <a:off x="5753100" y="4659313"/>
            <a:ext cx="584200" cy="338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33822" name="Rectangle 35"/>
          <p:cNvSpPr>
            <a:spLocks noChangeArrowheads="1"/>
          </p:cNvSpPr>
          <p:nvPr/>
        </p:nvSpPr>
        <p:spPr bwMode="auto">
          <a:xfrm>
            <a:off x="2824163" y="4321175"/>
            <a:ext cx="585787" cy="3381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3823" name="Rectangle 36"/>
          <p:cNvSpPr>
            <a:spLocks noChangeArrowheads="1"/>
          </p:cNvSpPr>
          <p:nvPr/>
        </p:nvSpPr>
        <p:spPr bwMode="auto">
          <a:xfrm>
            <a:off x="3409950" y="4321175"/>
            <a:ext cx="585788" cy="3381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3824" name="Rectangle 37"/>
          <p:cNvSpPr>
            <a:spLocks noChangeArrowheads="1"/>
          </p:cNvSpPr>
          <p:nvPr/>
        </p:nvSpPr>
        <p:spPr bwMode="auto">
          <a:xfrm>
            <a:off x="3995738" y="4321175"/>
            <a:ext cx="585787" cy="3381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3825" name="Rectangle 38"/>
          <p:cNvSpPr>
            <a:spLocks noChangeArrowheads="1"/>
          </p:cNvSpPr>
          <p:nvPr/>
        </p:nvSpPr>
        <p:spPr bwMode="auto">
          <a:xfrm>
            <a:off x="4581525" y="4321175"/>
            <a:ext cx="585788" cy="3381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3826" name="Rectangle 39"/>
          <p:cNvSpPr>
            <a:spLocks noChangeArrowheads="1"/>
          </p:cNvSpPr>
          <p:nvPr/>
        </p:nvSpPr>
        <p:spPr bwMode="auto">
          <a:xfrm>
            <a:off x="5167313" y="4321175"/>
            <a:ext cx="585787" cy="3381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3827" name="Rectangle 40"/>
          <p:cNvSpPr>
            <a:spLocks noChangeArrowheads="1"/>
          </p:cNvSpPr>
          <p:nvPr/>
        </p:nvSpPr>
        <p:spPr bwMode="auto">
          <a:xfrm>
            <a:off x="5753100" y="4321175"/>
            <a:ext cx="584200" cy="3381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en-US" altLang="zh-CN" sz="2400">
              <a:solidFill>
                <a:schemeClr val="tx2"/>
              </a:solidFill>
            </a:endParaRPr>
          </a:p>
        </p:txBody>
      </p:sp>
      <p:sp>
        <p:nvSpPr>
          <p:cNvPr id="33828" name="Rectangle 41"/>
          <p:cNvSpPr>
            <a:spLocks noChangeArrowheads="1"/>
          </p:cNvSpPr>
          <p:nvPr/>
        </p:nvSpPr>
        <p:spPr bwMode="auto">
          <a:xfrm>
            <a:off x="6337300" y="4321175"/>
            <a:ext cx="585788" cy="3381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en-US" altLang="zh-CN" sz="2400">
              <a:solidFill>
                <a:schemeClr val="tx2"/>
              </a:solidFill>
            </a:endParaRPr>
          </a:p>
        </p:txBody>
      </p:sp>
      <p:sp>
        <p:nvSpPr>
          <p:cNvPr id="33829" name="Rectangle 42"/>
          <p:cNvSpPr>
            <a:spLocks noChangeArrowheads="1"/>
          </p:cNvSpPr>
          <p:nvPr/>
        </p:nvSpPr>
        <p:spPr bwMode="auto">
          <a:xfrm>
            <a:off x="3409950" y="3981450"/>
            <a:ext cx="585788"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33830" name="Rectangle 43"/>
          <p:cNvSpPr>
            <a:spLocks noChangeArrowheads="1"/>
          </p:cNvSpPr>
          <p:nvPr/>
        </p:nvSpPr>
        <p:spPr bwMode="auto">
          <a:xfrm>
            <a:off x="3995738" y="3981450"/>
            <a:ext cx="585787"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33831" name="Rectangle 44"/>
          <p:cNvSpPr>
            <a:spLocks noChangeArrowheads="1"/>
          </p:cNvSpPr>
          <p:nvPr/>
        </p:nvSpPr>
        <p:spPr bwMode="auto">
          <a:xfrm>
            <a:off x="4581525" y="3981450"/>
            <a:ext cx="585788"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33832" name="Rectangle 45"/>
          <p:cNvSpPr>
            <a:spLocks noChangeArrowheads="1"/>
          </p:cNvSpPr>
          <p:nvPr/>
        </p:nvSpPr>
        <p:spPr bwMode="auto">
          <a:xfrm>
            <a:off x="5167313" y="3981450"/>
            <a:ext cx="585787"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3833" name="Rectangle 46"/>
          <p:cNvSpPr>
            <a:spLocks noChangeArrowheads="1"/>
          </p:cNvSpPr>
          <p:nvPr/>
        </p:nvSpPr>
        <p:spPr bwMode="auto">
          <a:xfrm>
            <a:off x="5753100" y="3981450"/>
            <a:ext cx="584200"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3834" name="Rectangle 47"/>
          <p:cNvSpPr>
            <a:spLocks noChangeArrowheads="1"/>
          </p:cNvSpPr>
          <p:nvPr/>
        </p:nvSpPr>
        <p:spPr bwMode="auto">
          <a:xfrm>
            <a:off x="6337300" y="3981450"/>
            <a:ext cx="585788"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n-1</a:t>
            </a:r>
            <a:endParaRPr lang="en-US" altLang="zh-CN" sz="2400">
              <a:solidFill>
                <a:schemeClr val="tx2"/>
              </a:solidFill>
            </a:endParaRPr>
          </a:p>
        </p:txBody>
      </p:sp>
      <p:sp>
        <p:nvSpPr>
          <p:cNvPr id="33835" name="Rectangle 48"/>
          <p:cNvSpPr>
            <a:spLocks noChangeArrowheads="1"/>
          </p:cNvSpPr>
          <p:nvPr/>
        </p:nvSpPr>
        <p:spPr bwMode="auto">
          <a:xfrm>
            <a:off x="6923088" y="3981450"/>
            <a:ext cx="585787" cy="33972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endParaRPr lang="en-US" altLang="zh-CN" sz="2400">
              <a:solidFill>
                <a:schemeClr val="tx2"/>
              </a:solidFill>
            </a:endParaRPr>
          </a:p>
        </p:txBody>
      </p:sp>
      <p:sp>
        <p:nvSpPr>
          <p:cNvPr id="33836" name="Line 49"/>
          <p:cNvSpPr>
            <a:spLocks noChangeShapeType="1"/>
          </p:cNvSpPr>
          <p:nvPr/>
        </p:nvSpPr>
        <p:spPr bwMode="auto">
          <a:xfrm flipV="1">
            <a:off x="6923088" y="4659313"/>
            <a:ext cx="0" cy="677862"/>
          </a:xfrm>
          <a:prstGeom prst="line">
            <a:avLst/>
          </a:prstGeom>
          <a:noFill/>
          <a:ln w="28575" cap="rnd">
            <a:solidFill>
              <a:schemeClr val="tx2"/>
            </a:solidFill>
            <a:prstDash val="sysDot"/>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37" name="Line 50"/>
          <p:cNvSpPr>
            <a:spLocks noChangeShapeType="1"/>
          </p:cNvSpPr>
          <p:nvPr/>
        </p:nvSpPr>
        <p:spPr bwMode="auto">
          <a:xfrm flipV="1">
            <a:off x="6337300" y="4997450"/>
            <a:ext cx="0" cy="339725"/>
          </a:xfrm>
          <a:prstGeom prst="line">
            <a:avLst/>
          </a:prstGeom>
          <a:noFill/>
          <a:ln w="28575" cap="rnd">
            <a:solidFill>
              <a:schemeClr val="tx2"/>
            </a:solidFill>
            <a:prstDash val="sysDot"/>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38" name="Line 51"/>
          <p:cNvSpPr>
            <a:spLocks noChangeShapeType="1"/>
          </p:cNvSpPr>
          <p:nvPr/>
        </p:nvSpPr>
        <p:spPr bwMode="auto">
          <a:xfrm flipV="1">
            <a:off x="1652588" y="5384800"/>
            <a:ext cx="0" cy="1016000"/>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39" name="Line 52"/>
          <p:cNvSpPr>
            <a:spLocks noChangeShapeType="1"/>
          </p:cNvSpPr>
          <p:nvPr/>
        </p:nvSpPr>
        <p:spPr bwMode="auto">
          <a:xfrm flipV="1">
            <a:off x="3995738" y="5432425"/>
            <a:ext cx="0" cy="242888"/>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0" name="Line 53"/>
          <p:cNvSpPr>
            <a:spLocks noChangeShapeType="1"/>
          </p:cNvSpPr>
          <p:nvPr/>
        </p:nvSpPr>
        <p:spPr bwMode="auto">
          <a:xfrm flipH="1" flipV="1">
            <a:off x="1652588" y="5529263"/>
            <a:ext cx="804862" cy="0"/>
          </a:xfrm>
          <a:prstGeom prst="line">
            <a:avLst/>
          </a:prstGeom>
          <a:noFill/>
          <a:ln w="12700">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1" name="Rectangle 54"/>
          <p:cNvSpPr>
            <a:spLocks noChangeArrowheads="1"/>
          </p:cNvSpPr>
          <p:nvPr/>
        </p:nvSpPr>
        <p:spPr bwMode="auto">
          <a:xfrm>
            <a:off x="2457450" y="5384800"/>
            <a:ext cx="658813" cy="290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sym typeface="Symbol" panose="05050102010706020507" pitchFamily="18" charset="2"/>
              </a:rPr>
              <a:t>m</a:t>
            </a:r>
            <a:r>
              <a:rPr lang="zh-CN" altLang="zh-CN" sz="2400">
                <a:solidFill>
                  <a:schemeClr val="tx2"/>
                </a:solidFill>
                <a:sym typeface="Symbol" panose="05050102010706020507" pitchFamily="18" charset="2"/>
              </a:rPr>
              <a:t>t</a:t>
            </a:r>
            <a:endParaRPr lang="en-US" altLang="zh-CN" sz="2400">
              <a:solidFill>
                <a:schemeClr val="tx2"/>
              </a:solidFill>
            </a:endParaRPr>
          </a:p>
        </p:txBody>
      </p:sp>
      <p:sp>
        <p:nvSpPr>
          <p:cNvPr id="33842" name="Line 55"/>
          <p:cNvSpPr>
            <a:spLocks noChangeShapeType="1"/>
          </p:cNvSpPr>
          <p:nvPr/>
        </p:nvSpPr>
        <p:spPr bwMode="auto">
          <a:xfrm flipH="1" flipV="1">
            <a:off x="3189288" y="5529263"/>
            <a:ext cx="806450" cy="0"/>
          </a:xfrm>
          <a:prstGeom prst="line">
            <a:avLst/>
          </a:prstGeom>
          <a:noFill/>
          <a:ln w="12700">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3" name="Line 56"/>
          <p:cNvSpPr>
            <a:spLocks noChangeShapeType="1"/>
          </p:cNvSpPr>
          <p:nvPr/>
        </p:nvSpPr>
        <p:spPr bwMode="auto">
          <a:xfrm flipH="1" flipV="1">
            <a:off x="3995738" y="5529263"/>
            <a:ext cx="1096962" cy="0"/>
          </a:xfrm>
          <a:prstGeom prst="line">
            <a:avLst/>
          </a:prstGeom>
          <a:noFill/>
          <a:ln w="12700">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4" name="Rectangle 57"/>
          <p:cNvSpPr>
            <a:spLocks noChangeArrowheads="1"/>
          </p:cNvSpPr>
          <p:nvPr/>
        </p:nvSpPr>
        <p:spPr bwMode="auto">
          <a:xfrm>
            <a:off x="5019675" y="5384800"/>
            <a:ext cx="1392238" cy="290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(n-1) t</a:t>
            </a:r>
            <a:endParaRPr lang="en-US" altLang="zh-CN" sz="2400">
              <a:solidFill>
                <a:schemeClr val="tx2"/>
              </a:solidFill>
            </a:endParaRPr>
          </a:p>
        </p:txBody>
      </p:sp>
      <p:sp>
        <p:nvSpPr>
          <p:cNvPr id="33845" name="Line 58"/>
          <p:cNvSpPr>
            <a:spLocks noChangeShapeType="1"/>
          </p:cNvSpPr>
          <p:nvPr/>
        </p:nvSpPr>
        <p:spPr bwMode="auto">
          <a:xfrm flipH="1" flipV="1">
            <a:off x="6411913" y="5529263"/>
            <a:ext cx="1096962" cy="0"/>
          </a:xfrm>
          <a:prstGeom prst="line">
            <a:avLst/>
          </a:prstGeom>
          <a:noFill/>
          <a:ln w="12700">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6" name="Line 59"/>
          <p:cNvSpPr>
            <a:spLocks noChangeShapeType="1"/>
          </p:cNvSpPr>
          <p:nvPr/>
        </p:nvSpPr>
        <p:spPr bwMode="auto">
          <a:xfrm flipV="1">
            <a:off x="5753100" y="5772150"/>
            <a:ext cx="0" cy="241300"/>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7" name="Line 60"/>
          <p:cNvSpPr>
            <a:spLocks noChangeShapeType="1"/>
          </p:cNvSpPr>
          <p:nvPr/>
        </p:nvSpPr>
        <p:spPr bwMode="auto">
          <a:xfrm flipH="1" flipV="1">
            <a:off x="1652588" y="5868988"/>
            <a:ext cx="1684337" cy="0"/>
          </a:xfrm>
          <a:prstGeom prst="line">
            <a:avLst/>
          </a:prstGeom>
          <a:noFill/>
          <a:ln w="12700">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8" name="Rectangle 61"/>
          <p:cNvSpPr>
            <a:spLocks noChangeArrowheads="1"/>
          </p:cNvSpPr>
          <p:nvPr/>
        </p:nvSpPr>
        <p:spPr bwMode="auto">
          <a:xfrm>
            <a:off x="3336925" y="5722938"/>
            <a:ext cx="658813" cy="290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rgbClr val="FF0000"/>
                </a:solidFill>
                <a:sym typeface="Symbol" panose="05050102010706020507" pitchFamily="18" charset="2"/>
              </a:rPr>
              <a:t>nt</a:t>
            </a:r>
            <a:endParaRPr lang="en-US" altLang="zh-CN" sz="2400">
              <a:solidFill>
                <a:srgbClr val="FF0000"/>
              </a:solidFill>
            </a:endParaRPr>
          </a:p>
        </p:txBody>
      </p:sp>
      <p:sp>
        <p:nvSpPr>
          <p:cNvPr id="33849" name="Line 62"/>
          <p:cNvSpPr>
            <a:spLocks noChangeShapeType="1"/>
          </p:cNvSpPr>
          <p:nvPr/>
        </p:nvSpPr>
        <p:spPr bwMode="auto">
          <a:xfrm flipH="1" flipV="1">
            <a:off x="4068763" y="5868988"/>
            <a:ext cx="1684337" cy="0"/>
          </a:xfrm>
          <a:prstGeom prst="line">
            <a:avLst/>
          </a:prstGeom>
          <a:noFill/>
          <a:ln w="12700">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50" name="Rectangle 63"/>
          <p:cNvSpPr>
            <a:spLocks noChangeArrowheads="1"/>
          </p:cNvSpPr>
          <p:nvPr/>
        </p:nvSpPr>
        <p:spPr bwMode="auto">
          <a:xfrm>
            <a:off x="5972175" y="5722938"/>
            <a:ext cx="1244600" cy="290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rgbClr val="FF0000"/>
                </a:solidFill>
                <a:sym typeface="Symbol" panose="05050102010706020507" pitchFamily="18" charset="2"/>
              </a:rPr>
              <a:t>(</a:t>
            </a:r>
            <a:r>
              <a:rPr lang="zh-CN" altLang="en-US" sz="2400">
                <a:solidFill>
                  <a:srgbClr val="FF0000"/>
                </a:solidFill>
                <a:sym typeface="Symbol" panose="05050102010706020507" pitchFamily="18" charset="2"/>
              </a:rPr>
              <a:t>m</a:t>
            </a:r>
            <a:r>
              <a:rPr lang="zh-CN" altLang="zh-CN" sz="2400">
                <a:solidFill>
                  <a:srgbClr val="FF0000"/>
                </a:solidFill>
                <a:sym typeface="Symbol" panose="05050102010706020507" pitchFamily="18" charset="2"/>
              </a:rPr>
              <a:t>-1)t</a:t>
            </a:r>
            <a:endParaRPr lang="en-US" altLang="zh-CN" sz="2400">
              <a:solidFill>
                <a:srgbClr val="FF0000"/>
              </a:solidFill>
            </a:endParaRPr>
          </a:p>
        </p:txBody>
      </p:sp>
      <p:sp>
        <p:nvSpPr>
          <p:cNvPr id="33851" name="Line 64"/>
          <p:cNvSpPr>
            <a:spLocks noChangeShapeType="1"/>
          </p:cNvSpPr>
          <p:nvPr/>
        </p:nvSpPr>
        <p:spPr bwMode="auto">
          <a:xfrm flipH="1" flipV="1">
            <a:off x="7216775" y="5868988"/>
            <a:ext cx="292100" cy="0"/>
          </a:xfrm>
          <a:prstGeom prst="line">
            <a:avLst/>
          </a:prstGeom>
          <a:noFill/>
          <a:ln w="12700">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52" name="Line 65"/>
          <p:cNvSpPr>
            <a:spLocks noChangeShapeType="1"/>
          </p:cNvSpPr>
          <p:nvPr/>
        </p:nvSpPr>
        <p:spPr bwMode="auto">
          <a:xfrm flipH="1" flipV="1">
            <a:off x="5753100" y="5868988"/>
            <a:ext cx="292100" cy="0"/>
          </a:xfrm>
          <a:prstGeom prst="line">
            <a:avLst/>
          </a:prstGeom>
          <a:noFill/>
          <a:ln w="12700">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53" name="Rectangle 66"/>
          <p:cNvSpPr>
            <a:spLocks noChangeArrowheads="1"/>
          </p:cNvSpPr>
          <p:nvPr/>
        </p:nvSpPr>
        <p:spPr bwMode="auto">
          <a:xfrm>
            <a:off x="4360863" y="6062663"/>
            <a:ext cx="366712" cy="290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T</a:t>
            </a:r>
            <a:r>
              <a:rPr lang="zh-CN" altLang="en-US" sz="2400" baseline="-25000">
                <a:solidFill>
                  <a:schemeClr val="tx2"/>
                </a:solidFill>
                <a:sym typeface="Symbol" panose="05050102010706020507" pitchFamily="18" charset="2"/>
              </a:rPr>
              <a:t>m</a:t>
            </a:r>
            <a:endParaRPr lang="en-US" altLang="zh-CN" sz="2400" baseline="-25000">
              <a:solidFill>
                <a:schemeClr val="tx2"/>
              </a:solidFill>
            </a:endParaRPr>
          </a:p>
        </p:txBody>
      </p:sp>
      <p:sp>
        <p:nvSpPr>
          <p:cNvPr id="33854" name="Line 67"/>
          <p:cNvSpPr>
            <a:spLocks noChangeShapeType="1"/>
          </p:cNvSpPr>
          <p:nvPr/>
        </p:nvSpPr>
        <p:spPr bwMode="auto">
          <a:xfrm flipH="1" flipV="1">
            <a:off x="1652588" y="6207125"/>
            <a:ext cx="2708275" cy="0"/>
          </a:xfrm>
          <a:prstGeom prst="line">
            <a:avLst/>
          </a:prstGeom>
          <a:noFill/>
          <a:ln w="12700">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55" name="Line 68"/>
          <p:cNvSpPr>
            <a:spLocks noChangeShapeType="1"/>
          </p:cNvSpPr>
          <p:nvPr/>
        </p:nvSpPr>
        <p:spPr bwMode="auto">
          <a:xfrm flipH="1" flipV="1">
            <a:off x="4800600" y="6207125"/>
            <a:ext cx="2708275" cy="0"/>
          </a:xfrm>
          <a:prstGeom prst="line">
            <a:avLst/>
          </a:prstGeom>
          <a:noFill/>
          <a:ln w="12700">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62" name="Rectangle 2"/>
          <p:cNvSpPr>
            <a:spLocks noGrp="1" noChangeArrowheads="1"/>
          </p:cNvSpPr>
          <p:nvPr>
            <p:ph type="title"/>
          </p:nvPr>
        </p:nvSpPr>
        <p:spPr>
          <a:xfrm>
            <a:off x="1331913" y="476250"/>
            <a:ext cx="6119812" cy="1143000"/>
          </a:xfrm>
        </p:spPr>
        <p:txBody>
          <a:bodyPr/>
          <a:lstStyle/>
          <a:p>
            <a:pPr eaLnBrk="1" hangingPunct="1">
              <a:defRPr/>
            </a:pPr>
            <a:r>
              <a:rPr lang="zh-CN" altLang="en-US" sz="4400" dirty="0"/>
              <a:t>例1：各段时间均相等</a:t>
            </a:r>
            <a:endParaRPr lang="zh-CN" altLang="en-US" sz="4400" dirty="0" smtClean="0"/>
          </a:p>
        </p:txBody>
      </p:sp>
      <p:sp>
        <p:nvSpPr>
          <p:cNvPr id="34819"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34820"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3</a:t>
            </a:r>
            <a:endParaRPr lang="zh-CN" altLang="en-US" sz="1200" b="0">
              <a:latin typeface="幼圆" panose="02010509060101010101" pitchFamily="49" charset="-122"/>
              <a:ea typeface="幼圆" panose="02010509060101010101" pitchFamily="49" charset="-122"/>
            </a:endParaRPr>
          </a:p>
        </p:txBody>
      </p:sp>
      <p:sp>
        <p:nvSpPr>
          <p:cNvPr id="604224" name="Rectangle 64"/>
          <p:cNvSpPr>
            <a:spLocks noGrp="1" noChangeArrowheads="1"/>
          </p:cNvSpPr>
          <p:nvPr>
            <p:ph type="body" idx="1"/>
          </p:nvPr>
        </p:nvSpPr>
        <p:spPr/>
        <p:txBody>
          <a:bodyPr/>
          <a:lstStyle/>
          <a:p>
            <a:pPr eaLnBrk="1" hangingPunct="1">
              <a:buClr>
                <a:srgbClr val="FF0000"/>
              </a:buClr>
              <a:defRPr/>
            </a:pPr>
            <a:r>
              <a:rPr lang="zh-CN" altLang="en-US" sz="2800" smtClean="0">
                <a:solidFill>
                  <a:srgbClr val="FF0000"/>
                </a:solidFill>
                <a:effectLst>
                  <a:outerShdw blurRad="38100" dist="38100" dir="2700000" algn="tl">
                    <a:srgbClr val="C0C0C0"/>
                  </a:outerShdw>
                </a:effectLst>
              </a:rPr>
              <a:t>实际吞吐率</a:t>
            </a:r>
            <a:endParaRPr lang="zh-CN" altLang="en-US" sz="2800" smtClean="0">
              <a:solidFill>
                <a:srgbClr val="FF0000"/>
              </a:solidFill>
              <a:effectLst>
                <a:outerShdw blurRad="38100" dist="38100" dir="2700000" algn="tl">
                  <a:srgbClr val="C0C0C0"/>
                </a:outerShdw>
              </a:effectLst>
            </a:endParaRPr>
          </a:p>
          <a:p>
            <a:pPr eaLnBrk="1" hangingPunct="1">
              <a:defRPr/>
            </a:pPr>
            <a:endParaRPr lang="zh-CN" altLang="en-US" sz="2800" smtClean="0"/>
          </a:p>
          <a:p>
            <a:pPr eaLnBrk="1" hangingPunct="1">
              <a:defRPr/>
            </a:pPr>
            <a:endParaRPr lang="zh-CN" altLang="en-US" sz="2800" smtClean="0"/>
          </a:p>
          <a:p>
            <a:pPr eaLnBrk="1" hangingPunct="1">
              <a:buClr>
                <a:srgbClr val="FF0000"/>
              </a:buClr>
              <a:defRPr/>
            </a:pPr>
            <a:r>
              <a:rPr lang="zh-CN" altLang="en-US" sz="2800" smtClean="0">
                <a:solidFill>
                  <a:srgbClr val="FF0000"/>
                </a:solidFill>
                <a:effectLst>
                  <a:outerShdw blurRad="38100" dist="38100" dir="2700000" algn="tl">
                    <a:srgbClr val="C0C0C0"/>
                  </a:outerShdw>
                </a:effectLst>
              </a:rPr>
              <a:t>最大吞吐率</a:t>
            </a:r>
            <a:endParaRPr lang="zh-CN" altLang="en-US" sz="2800" smtClean="0">
              <a:solidFill>
                <a:srgbClr val="FF0000"/>
              </a:solidFill>
              <a:effectLst>
                <a:outerShdw blurRad="38100" dist="38100" dir="2700000" algn="tl">
                  <a:srgbClr val="C0C0C0"/>
                </a:outerShdw>
              </a:effectLst>
            </a:endParaRPr>
          </a:p>
          <a:p>
            <a:pPr eaLnBrk="1" hangingPunct="1">
              <a:defRPr/>
            </a:pPr>
            <a:endParaRPr lang="zh-CN" altLang="en-US" sz="2800" smtClean="0"/>
          </a:p>
          <a:p>
            <a:pPr eaLnBrk="1" hangingPunct="1">
              <a:defRPr/>
            </a:pPr>
            <a:endParaRPr lang="zh-CN" altLang="en-US" sz="2800" smtClean="0"/>
          </a:p>
          <a:p>
            <a:pPr eaLnBrk="1" hangingPunct="1">
              <a:buClr>
                <a:srgbClr val="FF0000"/>
              </a:buClr>
              <a:defRPr/>
            </a:pPr>
            <a:r>
              <a:rPr lang="zh-CN" altLang="en-US" sz="2800" smtClean="0">
                <a:solidFill>
                  <a:srgbClr val="FF0000"/>
                </a:solidFill>
                <a:effectLst>
                  <a:outerShdw blurRad="38100" dist="38100" dir="2700000" algn="tl">
                    <a:srgbClr val="C0C0C0"/>
                  </a:outerShdw>
                </a:effectLst>
              </a:rPr>
              <a:t>两者之间的关系</a:t>
            </a:r>
            <a:endParaRPr lang="zh-CN" altLang="en-US" sz="2800" smtClean="0">
              <a:solidFill>
                <a:srgbClr val="FF0000"/>
              </a:solidFill>
              <a:effectLst>
                <a:outerShdw blurRad="38100" dist="38100" dir="2700000" algn="tl">
                  <a:srgbClr val="C0C0C0"/>
                </a:outerShdw>
              </a:effectLst>
            </a:endParaRPr>
          </a:p>
          <a:p>
            <a:pPr eaLnBrk="1" hangingPunct="1">
              <a:buFont typeface="Wingdings" panose="05000000000000000000" pitchFamily="2" charset="2"/>
              <a:buNone/>
              <a:defRPr/>
            </a:pPr>
            <a:endParaRPr lang="zh-CN" altLang="en-US" sz="2800" smtClean="0"/>
          </a:p>
        </p:txBody>
      </p:sp>
      <p:graphicFrame>
        <p:nvGraphicFramePr>
          <p:cNvPr id="604225" name="Object 65"/>
          <p:cNvGraphicFramePr/>
          <p:nvPr/>
        </p:nvGraphicFramePr>
        <p:xfrm>
          <a:off x="4267200" y="2362200"/>
          <a:ext cx="2365375" cy="838200"/>
        </p:xfrm>
        <a:graphic>
          <a:graphicData uri="http://schemas.openxmlformats.org/presentationml/2006/ole">
            <mc:AlternateContent xmlns:mc="http://schemas.openxmlformats.org/markup-compatibility/2006">
              <mc:Choice xmlns:v="urn:schemas-microsoft-com:vml" Requires="v">
                <p:oleObj spid="_x0000_s35089" name="Equation" r:id="rId4" imgW="1180465" imgH="419100" progId="Equation.3">
                  <p:embed/>
                </p:oleObj>
              </mc:Choice>
              <mc:Fallback>
                <p:oleObj name="Equation" r:id="rId4" imgW="1180465" imgH="419100" progId="Equation.3">
                  <p:embed/>
                  <p:pic>
                    <p:nvPicPr>
                      <p:cNvPr id="0" name="Object 6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67200" y="2362200"/>
                        <a:ext cx="2365375" cy="83820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graphicFrame>
        <p:nvGraphicFramePr>
          <p:cNvPr id="604226" name="Object 66"/>
          <p:cNvGraphicFramePr/>
          <p:nvPr/>
        </p:nvGraphicFramePr>
        <p:xfrm>
          <a:off x="4267200" y="3886200"/>
          <a:ext cx="3903663" cy="836613"/>
        </p:xfrm>
        <a:graphic>
          <a:graphicData uri="http://schemas.openxmlformats.org/presentationml/2006/ole">
            <mc:AlternateContent xmlns:mc="http://schemas.openxmlformats.org/markup-compatibility/2006">
              <mc:Choice xmlns:v="urn:schemas-microsoft-com:vml" Requires="v">
                <p:oleObj spid="_x0000_s35090" name="Equation" r:id="rId6" imgW="1955800" imgH="419100" progId="Equation.3">
                  <p:embed/>
                </p:oleObj>
              </mc:Choice>
              <mc:Fallback>
                <p:oleObj name="Equation" r:id="rId6" imgW="1955800" imgH="419100" progId="Equation.3">
                  <p:embed/>
                  <p:pic>
                    <p:nvPicPr>
                      <p:cNvPr id="0" name="Object 66"/>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67200" y="3886200"/>
                        <a:ext cx="3903663" cy="836613"/>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graphicFrame>
        <p:nvGraphicFramePr>
          <p:cNvPr id="604227" name="Object 67"/>
          <p:cNvGraphicFramePr/>
          <p:nvPr/>
        </p:nvGraphicFramePr>
        <p:xfrm>
          <a:off x="4267200" y="5410200"/>
          <a:ext cx="2660650" cy="811213"/>
        </p:xfrm>
        <a:graphic>
          <a:graphicData uri="http://schemas.openxmlformats.org/presentationml/2006/ole">
            <mc:AlternateContent xmlns:mc="http://schemas.openxmlformats.org/markup-compatibility/2006">
              <mc:Choice xmlns:v="urn:schemas-microsoft-com:vml" Requires="v">
                <p:oleObj spid="_x0000_s35091" name="Equation" r:id="rId8" imgW="1332865" imgH="406400" progId="Equation.3">
                  <p:embed/>
                </p:oleObj>
              </mc:Choice>
              <mc:Fallback>
                <p:oleObj name="Equation" r:id="rId8" imgW="1332865" imgH="406400" progId="Equation.3">
                  <p:embed/>
                  <p:pic>
                    <p:nvPicPr>
                      <p:cNvPr id="0" name="Object 6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67200" y="5410200"/>
                        <a:ext cx="2660650" cy="811213"/>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Tree>
  </p:cSld>
  <p:clrMapOvr>
    <a:masterClrMapping/>
  </p:clrMapOvr>
  <p:transition spd="slow">
    <p:random/>
    <p:sndAc>
      <p:stSnd>
        <p:snd r:embed="rId10"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nodeType="clickEffect">
                                  <p:stCondLst>
                                    <p:cond delay="0"/>
                                  </p:stCondLst>
                                  <p:childTnLst>
                                    <p:set>
                                      <p:cBhvr>
                                        <p:cTn id="6" dur="1" fill="hold">
                                          <p:stCondLst>
                                            <p:cond delay="499"/>
                                          </p:stCondLst>
                                        </p:cTn>
                                        <p:tgtEl>
                                          <p:spTgt spid="604225"/>
                                        </p:tgtEl>
                                        <p:attrNameLst>
                                          <p:attrName>style.visibility</p:attrName>
                                        </p:attrNameLst>
                                      </p:cBhvr>
                                      <p:to>
                                        <p:strVal val="visible"/>
                                      </p:to>
                                    </p:set>
                                    <p:anim to="" calcmode="lin" valueType="num">
                                      <p:cBhvr>
                                        <p:cTn id="7" dur="1" fill="hold"/>
                                        <p:tgtEl>
                                          <p:spTgt spid="604225"/>
                                        </p:tgtEl>
                                      </p:cBhvr>
                                    </p:anim>
                                  </p:childTnLst>
                                  <p:subTnLst>
                                    <p:audio>
                                      <p:cMediaNode>
                                        <p:cTn display="0" masterRel="sameClick">
                                          <p:stCondLst>
                                            <p:cond evt="begin" delay="0">
                                              <p:tn val="5"/>
                                            </p:cond>
                                          </p:stCondLst>
                                          <p:endCondLst>
                                            <p:cond evt="onStopAudio" delay="0">
                                              <p:tgtEl>
                                                <p:sldTgt/>
                                              </p:tgtEl>
                                            </p:cond>
                                          </p:endCondLst>
                                        </p:cTn>
                                        <p:tgtEl>
                                          <p:sndTgt r:embed="rId11" name="chimes.wav"/>
                                        </p:tgtEl>
                                      </p:cMediaNode>
                                    </p:audio>
                                  </p:subTnLst>
                                </p:cTn>
                              </p:par>
                            </p:childTnLst>
                          </p:cTn>
                        </p:par>
                      </p:childTnLst>
                    </p:cTn>
                  </p:par>
                  <p:par>
                    <p:cTn id="8" fill="hold">
                      <p:stCondLst>
                        <p:cond delay="indefinite"/>
                      </p:stCondLst>
                      <p:childTnLst>
                        <p:par>
                          <p:cTn id="9" fill="hold">
                            <p:stCondLst>
                              <p:cond delay="0"/>
                            </p:stCondLst>
                            <p:childTnLst>
                              <p:par>
                                <p:cTn id="10" presetID="24" presetClass="entr" presetSubtype="0" fill="hold" nodeType="clickEffect">
                                  <p:stCondLst>
                                    <p:cond delay="0"/>
                                  </p:stCondLst>
                                  <p:childTnLst>
                                    <p:set>
                                      <p:cBhvr>
                                        <p:cTn id="11" dur="1" fill="hold">
                                          <p:stCondLst>
                                            <p:cond delay="499"/>
                                          </p:stCondLst>
                                        </p:cTn>
                                        <p:tgtEl>
                                          <p:spTgt spid="604226"/>
                                        </p:tgtEl>
                                        <p:attrNameLst>
                                          <p:attrName>style.visibility</p:attrName>
                                        </p:attrNameLst>
                                      </p:cBhvr>
                                      <p:to>
                                        <p:strVal val="visible"/>
                                      </p:to>
                                    </p:set>
                                    <p:anim to="" calcmode="lin" valueType="num">
                                      <p:cBhvr>
                                        <p:cTn id="12" dur="1" fill="hold"/>
                                        <p:tgtEl>
                                          <p:spTgt spid="604226"/>
                                        </p:tgtEl>
                                      </p:cBhvr>
                                    </p:anim>
                                  </p:childTnLst>
                                  <p:subTnLst>
                                    <p:audio>
                                      <p:cMediaNode>
                                        <p:cTn display="0" masterRel="sameClick">
                                          <p:stCondLst>
                                            <p:cond evt="begin" delay="0">
                                              <p:tn val="10"/>
                                            </p:cond>
                                          </p:stCondLst>
                                          <p:endCondLst>
                                            <p:cond evt="onStopAudio" delay="0">
                                              <p:tgtEl>
                                                <p:sldTgt/>
                                              </p:tgtEl>
                                            </p:cond>
                                          </p:endCondLst>
                                        </p:cTn>
                                        <p:tgtEl>
                                          <p:sndTgt r:embed="rId11" name="chimes.wav"/>
                                        </p:tgtEl>
                                      </p:cMediaNode>
                                    </p:audio>
                                  </p:subTnLst>
                                </p:cTn>
                              </p:par>
                            </p:childTnLst>
                          </p:cTn>
                        </p:par>
                      </p:childTnLst>
                    </p:cTn>
                  </p:par>
                  <p:par>
                    <p:cTn id="13" fill="hold">
                      <p:stCondLst>
                        <p:cond delay="indefinite"/>
                      </p:stCondLst>
                      <p:childTnLst>
                        <p:par>
                          <p:cTn id="14" fill="hold">
                            <p:stCondLst>
                              <p:cond delay="0"/>
                            </p:stCondLst>
                            <p:childTnLst>
                              <p:par>
                                <p:cTn id="15" presetID="24" presetClass="entr" presetSubtype="0" fill="hold" nodeType="clickEffect">
                                  <p:stCondLst>
                                    <p:cond delay="0"/>
                                  </p:stCondLst>
                                  <p:childTnLst>
                                    <p:set>
                                      <p:cBhvr>
                                        <p:cTn id="16" dur="1" fill="hold">
                                          <p:stCondLst>
                                            <p:cond delay="499"/>
                                          </p:stCondLst>
                                        </p:cTn>
                                        <p:tgtEl>
                                          <p:spTgt spid="604227"/>
                                        </p:tgtEl>
                                        <p:attrNameLst>
                                          <p:attrName>style.visibility</p:attrName>
                                        </p:attrNameLst>
                                      </p:cBhvr>
                                      <p:to>
                                        <p:strVal val="visible"/>
                                      </p:to>
                                    </p:set>
                                    <p:anim to="" calcmode="lin" valueType="num">
                                      <p:cBhvr>
                                        <p:cTn id="17" dur="1" fill="hold"/>
                                        <p:tgtEl>
                                          <p:spTgt spid="604227"/>
                                        </p:tgtEl>
                                      </p:cBhvr>
                                    </p:anim>
                                  </p:childTnLst>
                                  <p:subTnLst>
                                    <p:audio>
                                      <p:cMediaNode>
                                        <p:cTn display="0" masterRel="sameClick">
                                          <p:stCondLst>
                                            <p:cond evt="begin" delay="0">
                                              <p:tn val="15"/>
                                            </p:cond>
                                          </p:stCondLst>
                                          <p:endCondLst>
                                            <p:cond evt="onStopAudio" delay="0">
                                              <p:tgtEl>
                                                <p:sldTgt/>
                                              </p:tgtEl>
                                            </p:cond>
                                          </p:endCondLst>
                                        </p:cTn>
                                        <p:tgtEl>
                                          <p:sndTgt r:embed="rId11"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5186" name="Rectangle 2"/>
          <p:cNvSpPr>
            <a:spLocks noGrp="1" noChangeArrowheads="1"/>
          </p:cNvSpPr>
          <p:nvPr>
            <p:ph type="title"/>
          </p:nvPr>
        </p:nvSpPr>
        <p:spPr>
          <a:xfrm>
            <a:off x="1331913" y="476250"/>
            <a:ext cx="6192837" cy="1143000"/>
          </a:xfrm>
        </p:spPr>
        <p:txBody>
          <a:bodyPr/>
          <a:lstStyle/>
          <a:p>
            <a:pPr eaLnBrk="1" hangingPunct="1">
              <a:defRPr/>
            </a:pPr>
            <a:r>
              <a:rPr lang="zh-CN" altLang="en-US" sz="4400" dirty="0" smtClean="0"/>
              <a:t>例2：各段时间不相等</a:t>
            </a:r>
            <a:endParaRPr lang="zh-CN" altLang="en-US" sz="4400" dirty="0" smtClean="0"/>
          </a:p>
        </p:txBody>
      </p:sp>
      <p:sp>
        <p:nvSpPr>
          <p:cNvPr id="605187" name="Rectangle 3"/>
          <p:cNvSpPr>
            <a:spLocks noGrp="1" noChangeArrowheads="1"/>
          </p:cNvSpPr>
          <p:nvPr>
            <p:ph type="body" idx="1"/>
          </p:nvPr>
        </p:nvSpPr>
        <p:spPr/>
        <p:txBody>
          <a:bodyPr/>
          <a:lstStyle/>
          <a:p>
            <a:pPr marL="0" indent="0" eaLnBrk="1" hangingPunct="1">
              <a:lnSpc>
                <a:spcPct val="120000"/>
              </a:lnSpc>
              <a:buFont typeface="Wingdings" panose="05000000000000000000" pitchFamily="2" charset="2"/>
              <a:buNone/>
              <a:defRPr/>
            </a:pPr>
            <a:r>
              <a:rPr lang="zh-CN" altLang="en-US" sz="2400" dirty="0" smtClean="0"/>
              <a:t>       假设在流水线各段的执行时间</a:t>
            </a:r>
            <a:r>
              <a:rPr lang="zh-CN" altLang="en-US" sz="2400" dirty="0"/>
              <a:t>（</a:t>
            </a:r>
            <a:r>
              <a:rPr lang="zh-CN" altLang="zh-CN" sz="2400" dirty="0">
                <a:solidFill>
                  <a:srgbClr val="FF0000"/>
                </a:solidFill>
                <a:sym typeface="Symbol" panose="05050102010706020507" pitchFamily="18" charset="2"/>
              </a:rPr>
              <a:t> </a:t>
            </a:r>
            <a:r>
              <a:rPr lang="zh-CN" altLang="zh-CN" sz="2400" dirty="0">
                <a:sym typeface="Symbol" panose="05050102010706020507" pitchFamily="18" charset="2"/>
              </a:rPr>
              <a:t></a:t>
            </a:r>
            <a:r>
              <a:rPr lang="zh-CN" altLang="zh-CN" sz="2400" dirty="0" smtClean="0">
                <a:sym typeface="Symbol" panose="05050102010706020507" pitchFamily="18" charset="2"/>
              </a:rPr>
              <a:t>t</a:t>
            </a:r>
            <a:r>
              <a:rPr lang="en-US" altLang="zh-CN" sz="2400" baseline="-25000" dirty="0" smtClean="0">
                <a:sym typeface="Symbol" panose="05050102010706020507" pitchFamily="18" charset="2"/>
              </a:rPr>
              <a:t>1</a:t>
            </a:r>
            <a:r>
              <a:rPr lang="zh-CN" altLang="en-US" sz="2400" dirty="0" smtClean="0">
                <a:sym typeface="Symbol" panose="05050102010706020507" pitchFamily="18" charset="2"/>
              </a:rPr>
              <a:t>、</a:t>
            </a:r>
            <a:r>
              <a:rPr lang="zh-CN" altLang="zh-CN" sz="2400" dirty="0">
                <a:sym typeface="Symbol" panose="05050102010706020507" pitchFamily="18" charset="2"/>
              </a:rPr>
              <a:t> </a:t>
            </a:r>
            <a:r>
              <a:rPr lang="zh-CN" altLang="zh-CN" sz="2400" dirty="0" smtClean="0">
                <a:sym typeface="Symbol" panose="05050102010706020507" pitchFamily="18" charset="2"/>
              </a:rPr>
              <a:t>t</a:t>
            </a:r>
            <a:r>
              <a:rPr lang="en-US" altLang="zh-CN" sz="2400" baseline="-25000" dirty="0" smtClean="0">
                <a:sym typeface="Symbol" panose="05050102010706020507" pitchFamily="18" charset="2"/>
              </a:rPr>
              <a:t>2 </a:t>
            </a:r>
            <a:r>
              <a:rPr lang="zh-CN" altLang="en-US" sz="2400" dirty="0" smtClean="0">
                <a:sym typeface="Symbol" panose="05050102010706020507" pitchFamily="18" charset="2"/>
              </a:rPr>
              <a:t>、</a:t>
            </a:r>
            <a:r>
              <a:rPr lang="zh-CN" altLang="zh-CN" sz="2400" dirty="0">
                <a:sym typeface="Symbol" panose="05050102010706020507" pitchFamily="18" charset="2"/>
              </a:rPr>
              <a:t> </a:t>
            </a:r>
            <a:r>
              <a:rPr lang="zh-CN" altLang="zh-CN" sz="2400" dirty="0" smtClean="0">
                <a:sym typeface="Symbol" panose="05050102010706020507" pitchFamily="18" charset="2"/>
              </a:rPr>
              <a:t>t</a:t>
            </a:r>
            <a:r>
              <a:rPr lang="en-US" altLang="zh-CN" sz="2400" baseline="-25000" dirty="0" smtClean="0">
                <a:sym typeface="Symbol" panose="05050102010706020507" pitchFamily="18" charset="2"/>
              </a:rPr>
              <a:t>3 </a:t>
            </a:r>
            <a:r>
              <a:rPr lang="zh-CN" altLang="en-US" sz="2400" dirty="0" smtClean="0">
                <a:sym typeface="Symbol" panose="05050102010706020507" pitchFamily="18" charset="2"/>
              </a:rPr>
              <a:t>、</a:t>
            </a:r>
            <a:r>
              <a:rPr lang="en-US" altLang="zh-CN" sz="2400" dirty="0" smtClean="0">
                <a:sym typeface="Symbol" panose="05050102010706020507" pitchFamily="18" charset="2"/>
              </a:rPr>
              <a:t>…</a:t>
            </a:r>
            <a:r>
              <a:rPr lang="zh-CN" altLang="en-US" sz="2400" dirty="0" smtClean="0">
                <a:sym typeface="Symbol" panose="05050102010706020507" pitchFamily="18" charset="2"/>
              </a:rPr>
              <a:t>、</a:t>
            </a:r>
            <a:r>
              <a:rPr lang="zh-CN" altLang="zh-CN" sz="2400" dirty="0">
                <a:sym typeface="Symbol" panose="05050102010706020507" pitchFamily="18" charset="2"/>
              </a:rPr>
              <a:t> </a:t>
            </a:r>
            <a:r>
              <a:rPr lang="zh-CN" altLang="zh-CN" sz="2400" dirty="0" smtClean="0">
                <a:sym typeface="Symbol" panose="05050102010706020507" pitchFamily="18" charset="2"/>
              </a:rPr>
              <a:t>t</a:t>
            </a:r>
            <a:r>
              <a:rPr lang="en-US" altLang="zh-CN" sz="2400" baseline="-25000" dirty="0" smtClean="0">
                <a:sym typeface="Symbol" panose="05050102010706020507" pitchFamily="18" charset="2"/>
              </a:rPr>
              <a:t>m </a:t>
            </a:r>
            <a:r>
              <a:rPr lang="zh-CN" altLang="en-US" sz="2400" dirty="0" smtClean="0"/>
              <a:t>）不相等，输入到流水线中的任务是连续的情况下，一</a:t>
            </a:r>
            <a:r>
              <a:rPr lang="zh-CN" altLang="en-US" sz="2400" dirty="0"/>
              <a:t>条单功能</a:t>
            </a:r>
            <a:r>
              <a:rPr lang="en-US" altLang="zh-CN" sz="2400" dirty="0"/>
              <a:t>m</a:t>
            </a:r>
            <a:r>
              <a:rPr lang="zh-CN" altLang="en-US" sz="2400" dirty="0"/>
              <a:t>段</a:t>
            </a:r>
            <a:r>
              <a:rPr lang="zh-CN" altLang="en-US" sz="2400" dirty="0" smtClean="0"/>
              <a:t>线性流水线完成</a:t>
            </a:r>
            <a:r>
              <a:rPr lang="en-US" altLang="zh-CN" sz="2400" dirty="0"/>
              <a:t>n</a:t>
            </a:r>
            <a:r>
              <a:rPr lang="zh-CN" altLang="en-US" sz="2400" dirty="0"/>
              <a:t>个</a:t>
            </a:r>
            <a:r>
              <a:rPr lang="zh-CN" altLang="en-US" sz="2400" dirty="0" smtClean="0"/>
              <a:t>任务。</a:t>
            </a:r>
            <a:endParaRPr lang="zh-CN" altLang="en-US" sz="2400" dirty="0" smtClean="0"/>
          </a:p>
          <a:p>
            <a:pPr marL="0" indent="0" eaLnBrk="1" hangingPunct="1">
              <a:buClr>
                <a:srgbClr val="FF0000"/>
              </a:buClr>
              <a:defRPr/>
            </a:pPr>
            <a:r>
              <a:rPr lang="zh-CN" altLang="en-US" sz="2400" dirty="0" smtClean="0"/>
              <a:t>  </a:t>
            </a:r>
            <a:r>
              <a:rPr lang="zh-CN" altLang="en-US" sz="2400" dirty="0" smtClean="0">
                <a:solidFill>
                  <a:srgbClr val="FF0000"/>
                </a:solidFill>
                <a:effectLst>
                  <a:outerShdw blurRad="38100" dist="38100" dir="2700000" algn="tl">
                    <a:srgbClr val="C0C0C0"/>
                  </a:outerShdw>
                </a:effectLst>
              </a:rPr>
              <a:t>实际吞吐率</a:t>
            </a:r>
            <a:endParaRPr lang="zh-CN" altLang="en-US" sz="2400" dirty="0" smtClean="0">
              <a:solidFill>
                <a:srgbClr val="FF0000"/>
              </a:solidFill>
              <a:effectLst>
                <a:outerShdw blurRad="38100" dist="38100" dir="2700000" algn="tl">
                  <a:srgbClr val="C0C0C0"/>
                </a:outerShdw>
              </a:effectLst>
            </a:endParaRPr>
          </a:p>
          <a:p>
            <a:pPr marL="0" indent="0" eaLnBrk="1" hangingPunct="1">
              <a:defRPr/>
            </a:pPr>
            <a:endParaRPr lang="zh-CN" altLang="en-US" sz="2400" dirty="0" smtClean="0"/>
          </a:p>
          <a:p>
            <a:pPr marL="0" indent="0" eaLnBrk="1" hangingPunct="1">
              <a:defRPr/>
            </a:pPr>
            <a:endParaRPr lang="zh-CN" altLang="en-US" sz="2400" dirty="0" smtClean="0"/>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最大吞吐率</a:t>
            </a:r>
            <a:endParaRPr lang="zh-CN" altLang="en-US" sz="24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endParaRPr lang="zh-CN" altLang="en-US" sz="2400" dirty="0" smtClean="0"/>
          </a:p>
        </p:txBody>
      </p:sp>
      <p:sp>
        <p:nvSpPr>
          <p:cNvPr id="3584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3584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4</a:t>
            </a:r>
            <a:endParaRPr lang="zh-CN" altLang="en-US" sz="1200" b="0">
              <a:latin typeface="幼圆" panose="02010509060101010101" pitchFamily="49" charset="-122"/>
              <a:ea typeface="幼圆" panose="02010509060101010101" pitchFamily="49" charset="-122"/>
            </a:endParaRPr>
          </a:p>
        </p:txBody>
      </p:sp>
      <p:graphicFrame>
        <p:nvGraphicFramePr>
          <p:cNvPr id="605248" name="Object 64"/>
          <p:cNvGraphicFramePr/>
          <p:nvPr/>
        </p:nvGraphicFramePr>
        <p:xfrm>
          <a:off x="3313113" y="3481388"/>
          <a:ext cx="5146675" cy="1243012"/>
        </p:xfrm>
        <a:graphic>
          <a:graphicData uri="http://schemas.openxmlformats.org/presentationml/2006/ole">
            <mc:AlternateContent xmlns:mc="http://schemas.openxmlformats.org/markup-compatibility/2006">
              <mc:Choice xmlns:v="urn:schemas-microsoft-com:vml" Requires="v">
                <p:oleObj spid="_x0000_s36024" name="Equation" r:id="rId4" imgW="2578100" imgH="622300" progId="Equation.3">
                  <p:embed/>
                </p:oleObj>
              </mc:Choice>
              <mc:Fallback>
                <p:oleObj name="Equation" r:id="rId4" imgW="2578100" imgH="622300" progId="Equation.3">
                  <p:embed/>
                  <p:pic>
                    <p:nvPicPr>
                      <p:cNvPr id="0" name="Object 64"/>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13113" y="3481388"/>
                        <a:ext cx="5146675" cy="1243012"/>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graphicFrame>
        <p:nvGraphicFramePr>
          <p:cNvPr id="605249" name="Object 65"/>
          <p:cNvGraphicFramePr/>
          <p:nvPr/>
        </p:nvGraphicFramePr>
        <p:xfrm>
          <a:off x="3341688" y="5229225"/>
          <a:ext cx="3678237" cy="863600"/>
        </p:xfrm>
        <a:graphic>
          <a:graphicData uri="http://schemas.openxmlformats.org/presentationml/2006/ole">
            <mc:AlternateContent xmlns:mc="http://schemas.openxmlformats.org/markup-compatibility/2006">
              <mc:Choice xmlns:v="urn:schemas-microsoft-com:vml" Requires="v">
                <p:oleObj spid="_x0000_s36025" name="Equation" r:id="rId6" imgW="1841500" imgH="431800" progId="Equation.3">
                  <p:embed/>
                </p:oleObj>
              </mc:Choice>
              <mc:Fallback>
                <p:oleObj name="Equation" r:id="rId6" imgW="1841500" imgH="431800" progId="Equation.3">
                  <p:embed/>
                  <p:pic>
                    <p:nvPicPr>
                      <p:cNvPr id="0" name="Object 65"/>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1688" y="5229225"/>
                        <a:ext cx="3678237" cy="86360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Tree>
  </p:cSld>
  <p:clrMapOvr>
    <a:masterClrMapping/>
  </p:clrMapOvr>
  <p:transition spd="slow">
    <p:random/>
    <p:sndAc>
      <p:stSnd>
        <p:snd r:embed="rId8"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nodeType="clickEffect">
                                  <p:stCondLst>
                                    <p:cond delay="0"/>
                                  </p:stCondLst>
                                  <p:childTnLst>
                                    <p:set>
                                      <p:cBhvr>
                                        <p:cTn id="6" dur="1" fill="hold">
                                          <p:stCondLst>
                                            <p:cond delay="499"/>
                                          </p:stCondLst>
                                        </p:cTn>
                                        <p:tgtEl>
                                          <p:spTgt spid="605248"/>
                                        </p:tgtEl>
                                        <p:attrNameLst>
                                          <p:attrName>style.visibility</p:attrName>
                                        </p:attrNameLst>
                                      </p:cBhvr>
                                      <p:to>
                                        <p:strVal val="visible"/>
                                      </p:to>
                                    </p:set>
                                    <p:anim to="" calcmode="lin" valueType="num">
                                      <p:cBhvr>
                                        <p:cTn id="7" dur="1" fill="hold"/>
                                        <p:tgtEl>
                                          <p:spTgt spid="605248"/>
                                        </p:tgtEl>
                                      </p:cBhvr>
                                    </p:anim>
                                  </p:childTnLst>
                                  <p:subTnLst>
                                    <p:audio>
                                      <p:cMediaNode>
                                        <p:cTn display="0" masterRel="sameClick">
                                          <p:stCondLst>
                                            <p:cond evt="begin" delay="0">
                                              <p:tn val="5"/>
                                            </p:cond>
                                          </p:stCondLst>
                                          <p:endCondLst>
                                            <p:cond evt="onStopAudio" delay="0">
                                              <p:tgtEl>
                                                <p:sldTgt/>
                                              </p:tgtEl>
                                            </p:cond>
                                          </p:endCondLst>
                                        </p:cTn>
                                        <p:tgtEl>
                                          <p:sndTgt r:embed="rId9" name="chimes.wav"/>
                                        </p:tgtEl>
                                      </p:cMediaNode>
                                    </p:audio>
                                  </p:subTnLst>
                                </p:cTn>
                              </p:par>
                            </p:childTnLst>
                          </p:cTn>
                        </p:par>
                      </p:childTnLst>
                    </p:cTn>
                  </p:par>
                  <p:par>
                    <p:cTn id="8" fill="hold">
                      <p:stCondLst>
                        <p:cond delay="indefinite"/>
                      </p:stCondLst>
                      <p:childTnLst>
                        <p:par>
                          <p:cTn id="9" fill="hold">
                            <p:stCondLst>
                              <p:cond delay="0"/>
                            </p:stCondLst>
                            <p:childTnLst>
                              <p:par>
                                <p:cTn id="10" presetID="24" presetClass="entr" presetSubtype="0" fill="hold" nodeType="clickEffect">
                                  <p:stCondLst>
                                    <p:cond delay="0"/>
                                  </p:stCondLst>
                                  <p:childTnLst>
                                    <p:set>
                                      <p:cBhvr>
                                        <p:cTn id="11" dur="1" fill="hold">
                                          <p:stCondLst>
                                            <p:cond delay="499"/>
                                          </p:stCondLst>
                                        </p:cTn>
                                        <p:tgtEl>
                                          <p:spTgt spid="605249"/>
                                        </p:tgtEl>
                                        <p:attrNameLst>
                                          <p:attrName>style.visibility</p:attrName>
                                        </p:attrNameLst>
                                      </p:cBhvr>
                                      <p:to>
                                        <p:strVal val="visible"/>
                                      </p:to>
                                    </p:set>
                                    <p:anim to="" calcmode="lin" valueType="num">
                                      <p:cBhvr>
                                        <p:cTn id="12" dur="1" fill="hold"/>
                                        <p:tgtEl>
                                          <p:spTgt spid="605249"/>
                                        </p:tgtEl>
                                      </p:cBhvr>
                                    </p:anim>
                                  </p:childTnLst>
                                  <p:subTnLst>
                                    <p:audio>
                                      <p:cMediaNode>
                                        <p:cTn display="0" masterRel="sameClick">
                                          <p:stCondLst>
                                            <p:cond evt="begin" delay="0">
                                              <p:tn val="10"/>
                                            </p:cond>
                                          </p:stCondLst>
                                          <p:endCondLst>
                                            <p:cond evt="onStopAudio" delay="0">
                                              <p:tgtEl>
                                                <p:sldTgt/>
                                              </p:tgtEl>
                                            </p:cond>
                                          </p:endCondLst>
                                        </p:cTn>
                                        <p:tgtEl>
                                          <p:sndTgt r:embed="rId9"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6210" name="Rectangle 2"/>
          <p:cNvSpPr>
            <a:spLocks noGrp="1" noChangeArrowheads="1"/>
          </p:cNvSpPr>
          <p:nvPr>
            <p:ph type="title"/>
          </p:nvPr>
        </p:nvSpPr>
        <p:spPr/>
        <p:txBody>
          <a:bodyPr/>
          <a:lstStyle/>
          <a:p>
            <a:pPr eaLnBrk="1" hangingPunct="1">
              <a:defRPr/>
            </a:pPr>
            <a:r>
              <a:rPr lang="zh-CN" altLang="en-US" smtClean="0"/>
              <a:t>问题及解决</a:t>
            </a:r>
            <a:endParaRPr lang="zh-CN" altLang="en-US" smtClean="0"/>
          </a:p>
        </p:txBody>
      </p:sp>
      <p:sp>
        <p:nvSpPr>
          <p:cNvPr id="3686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36868"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5</a:t>
            </a:r>
            <a:endParaRPr lang="zh-CN" altLang="en-US" sz="1200" b="0">
              <a:latin typeface="幼圆" panose="02010509060101010101" pitchFamily="49" charset="-122"/>
              <a:ea typeface="幼圆" panose="02010509060101010101" pitchFamily="49" charset="-122"/>
            </a:endParaRPr>
          </a:p>
        </p:txBody>
      </p:sp>
      <p:sp>
        <p:nvSpPr>
          <p:cNvPr id="606217" name="Rectangle 9"/>
          <p:cNvSpPr>
            <a:spLocks noGrp="1" noChangeArrowheads="1"/>
          </p:cNvSpPr>
          <p:nvPr>
            <p:ph type="body" idx="1"/>
          </p:nvPr>
        </p:nvSpPr>
        <p:spPr>
          <a:xfrm>
            <a:off x="809625" y="1989138"/>
            <a:ext cx="7958138" cy="4535487"/>
          </a:xfrm>
        </p:spPr>
        <p:txBody>
          <a:bodyPr/>
          <a:lstStyle/>
          <a:p>
            <a:pPr marL="0" indent="0" eaLnBrk="1" hangingPunct="1">
              <a:lnSpc>
                <a:spcPct val="115000"/>
              </a:lnSpc>
              <a:buClr>
                <a:srgbClr val="FF0000"/>
              </a:buClr>
              <a:defRPr/>
            </a:pPr>
            <a:r>
              <a:rPr lang="zh-CN" altLang="en-US" sz="2800" dirty="0" smtClean="0">
                <a:solidFill>
                  <a:srgbClr val="FF0000"/>
                </a:solidFill>
                <a:effectLst>
                  <a:outerShdw blurRad="38100" dist="38100" dir="2700000" algn="tl">
                    <a:srgbClr val="C0C0C0"/>
                  </a:outerShdw>
                </a:effectLst>
              </a:rPr>
              <a:t>  问题</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15000"/>
              </a:lnSpc>
              <a:buFont typeface="Wingdings" panose="05000000000000000000" pitchFamily="2" charset="2"/>
              <a:buNone/>
              <a:defRPr/>
            </a:pPr>
            <a:r>
              <a:rPr lang="zh-CN" altLang="en-US" sz="2800" dirty="0" smtClean="0"/>
              <a:t>    流水线的</a:t>
            </a:r>
            <a:r>
              <a:rPr lang="en-US" altLang="zh-CN" sz="2800" dirty="0" smtClean="0"/>
              <a:t>TP</a:t>
            </a:r>
            <a:r>
              <a:rPr lang="zh-CN" altLang="en-US" sz="2800" dirty="0" smtClean="0"/>
              <a:t>和</a:t>
            </a:r>
            <a:r>
              <a:rPr lang="en-US" altLang="zh-CN" sz="2800" dirty="0" err="1" smtClean="0"/>
              <a:t>TP</a:t>
            </a:r>
            <a:r>
              <a:rPr lang="en-US" altLang="zh-CN" sz="2800" baseline="-25000" dirty="0" err="1" smtClean="0"/>
              <a:t>max</a:t>
            </a:r>
            <a:r>
              <a:rPr lang="zh-CN" altLang="en-US" sz="2800" dirty="0" smtClean="0"/>
              <a:t>主要由流水线中执行时间最长的那个功能段来决定，这个功能段就成了整个流水线的“</a:t>
            </a:r>
            <a:r>
              <a:rPr lang="zh-CN" altLang="en-US" sz="2800" dirty="0" smtClean="0">
                <a:solidFill>
                  <a:srgbClr val="0000FF"/>
                </a:solidFill>
              </a:rPr>
              <a:t>瓶颈</a:t>
            </a:r>
            <a:r>
              <a:rPr lang="zh-CN" altLang="en-US" sz="2800" dirty="0" smtClean="0"/>
              <a:t>”。</a:t>
            </a:r>
            <a:endParaRPr lang="zh-CN" altLang="en-US" sz="2800" dirty="0" smtClean="0"/>
          </a:p>
          <a:p>
            <a:pPr marL="0" indent="0" eaLnBrk="1" hangingPunct="1">
              <a:lnSpc>
                <a:spcPct val="115000"/>
              </a:lnSpc>
              <a:buClr>
                <a:srgbClr val="FF0000"/>
              </a:buClr>
              <a:defRPr/>
            </a:pPr>
            <a:r>
              <a:rPr lang="zh-CN" altLang="en-US" sz="2800" dirty="0" smtClean="0">
                <a:solidFill>
                  <a:srgbClr val="FF0000"/>
                </a:solidFill>
                <a:effectLst>
                  <a:outerShdw blurRad="38100" dist="38100" dir="2700000" algn="tl">
                    <a:srgbClr val="C0C0C0"/>
                  </a:outerShdw>
                </a:effectLst>
              </a:rPr>
              <a:t>  解决</a:t>
            </a:r>
            <a:endParaRPr lang="zh-CN" altLang="en-US" sz="2800" dirty="0" smtClean="0">
              <a:solidFill>
                <a:srgbClr val="FF0000"/>
              </a:solidFill>
              <a:effectLst>
                <a:outerShdw blurRad="38100" dist="38100" dir="2700000" algn="tl">
                  <a:srgbClr val="C0C0C0"/>
                </a:outerShdw>
              </a:effectLst>
            </a:endParaRPr>
          </a:p>
          <a:p>
            <a:pPr marL="765175" lvl="1" eaLnBrk="1" hangingPunct="1">
              <a:lnSpc>
                <a:spcPct val="115000"/>
              </a:lnSpc>
              <a:defRPr/>
            </a:pPr>
            <a:r>
              <a:rPr lang="zh-CN" altLang="en-US" dirty="0" smtClean="0"/>
              <a:t>将流水线中的“瓶颈”再细分；</a:t>
            </a:r>
            <a:endParaRPr lang="zh-CN" altLang="en-US" dirty="0" smtClean="0"/>
          </a:p>
          <a:p>
            <a:pPr marL="765175" lvl="1" eaLnBrk="1" hangingPunct="1">
              <a:lnSpc>
                <a:spcPct val="115000"/>
              </a:lnSpc>
              <a:defRPr/>
            </a:pPr>
            <a:r>
              <a:rPr lang="zh-CN" altLang="en-US" dirty="0" smtClean="0"/>
              <a:t>通过重复设置多套瓶颈功能段，让多个瓶颈功能段并行工作。</a:t>
            </a:r>
            <a:endParaRPr lang="zh-CN" altLang="en-US" dirty="0" smtClean="0"/>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7234" name="Rectangle 2"/>
          <p:cNvSpPr>
            <a:spLocks noGrp="1" noChangeArrowheads="1"/>
          </p:cNvSpPr>
          <p:nvPr>
            <p:ph type="title"/>
          </p:nvPr>
        </p:nvSpPr>
        <p:spPr/>
        <p:txBody>
          <a:bodyPr/>
          <a:lstStyle/>
          <a:p>
            <a:pPr eaLnBrk="1" hangingPunct="1">
              <a:defRPr/>
            </a:pPr>
            <a:r>
              <a:rPr lang="zh-CN" altLang="en-US" smtClean="0"/>
              <a:t>举  例-</a:t>
            </a:r>
            <a:r>
              <a:rPr lang="zh-CN" altLang="en-US" sz="3600" smtClean="0"/>
              <a:t>瓶颈</a:t>
            </a:r>
            <a:endParaRPr lang="zh-CN" altLang="en-US" sz="3600" smtClean="0"/>
          </a:p>
        </p:txBody>
      </p:sp>
      <p:sp>
        <p:nvSpPr>
          <p:cNvPr id="378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37892"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6</a:t>
            </a:r>
            <a:endParaRPr lang="zh-CN" altLang="en-US" sz="1200" b="0">
              <a:latin typeface="幼圆" panose="02010509060101010101" pitchFamily="49" charset="-122"/>
              <a:ea typeface="幼圆" panose="02010509060101010101" pitchFamily="49" charset="-122"/>
            </a:endParaRPr>
          </a:p>
        </p:txBody>
      </p:sp>
      <p:sp>
        <p:nvSpPr>
          <p:cNvPr id="37893" name="Rectangle 8"/>
          <p:cNvSpPr>
            <a:spLocks noChangeArrowheads="1"/>
          </p:cNvSpPr>
          <p:nvPr/>
        </p:nvSpPr>
        <p:spPr bwMode="auto">
          <a:xfrm>
            <a:off x="2060575" y="2324100"/>
            <a:ext cx="1198563" cy="5080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1</a:t>
            </a:r>
            <a:endParaRPr lang="en-US" altLang="zh-CN" sz="2400">
              <a:solidFill>
                <a:schemeClr val="tx2"/>
              </a:solidFill>
            </a:endParaRPr>
          </a:p>
        </p:txBody>
      </p:sp>
      <p:sp>
        <p:nvSpPr>
          <p:cNvPr id="37894" name="Line 9"/>
          <p:cNvSpPr>
            <a:spLocks noChangeShapeType="1"/>
          </p:cNvSpPr>
          <p:nvPr/>
        </p:nvSpPr>
        <p:spPr bwMode="auto">
          <a:xfrm>
            <a:off x="1566863" y="2578100"/>
            <a:ext cx="49371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5" name="Rectangle 10"/>
          <p:cNvSpPr>
            <a:spLocks noChangeArrowheads="1"/>
          </p:cNvSpPr>
          <p:nvPr/>
        </p:nvSpPr>
        <p:spPr bwMode="auto">
          <a:xfrm>
            <a:off x="2060575" y="2768600"/>
            <a:ext cx="1198563"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r>
              <a:rPr lang="en-US" altLang="zh-CN" sz="2400" baseline="-25000">
                <a:solidFill>
                  <a:schemeClr val="tx2"/>
                </a:solidFill>
              </a:rPr>
              <a:t>1</a:t>
            </a:r>
            <a:r>
              <a:rPr lang="en-US" altLang="zh-CN" sz="2400">
                <a:solidFill>
                  <a:schemeClr val="tx2"/>
                </a:solidFill>
              </a:rPr>
              <a:t>=</a:t>
            </a:r>
            <a:r>
              <a:rPr lang="zh-CN" altLang="zh-CN" sz="2400">
                <a:solidFill>
                  <a:schemeClr val="tx2"/>
                </a:solidFill>
                <a:sym typeface="Symbol" panose="05050102010706020507" pitchFamily="18" charset="2"/>
              </a:rPr>
              <a:t>t</a:t>
            </a:r>
            <a:endParaRPr lang="en-US" altLang="zh-CN" sz="2400">
              <a:solidFill>
                <a:schemeClr val="tx2"/>
              </a:solidFill>
              <a:sym typeface="Symbol" panose="05050102010706020507" pitchFamily="18" charset="2"/>
            </a:endParaRPr>
          </a:p>
        </p:txBody>
      </p:sp>
      <p:sp>
        <p:nvSpPr>
          <p:cNvPr id="37896" name="Line 11"/>
          <p:cNvSpPr>
            <a:spLocks noChangeShapeType="1"/>
          </p:cNvSpPr>
          <p:nvPr/>
        </p:nvSpPr>
        <p:spPr bwMode="auto">
          <a:xfrm>
            <a:off x="3259138" y="2578100"/>
            <a:ext cx="28257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7" name="Rectangle 12"/>
          <p:cNvSpPr>
            <a:spLocks noChangeArrowheads="1"/>
          </p:cNvSpPr>
          <p:nvPr/>
        </p:nvSpPr>
        <p:spPr bwMode="auto">
          <a:xfrm>
            <a:off x="3541713" y="2324100"/>
            <a:ext cx="1200150" cy="5080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a:t>
            </a:r>
            <a:endParaRPr lang="en-US" altLang="zh-CN" sz="2400">
              <a:solidFill>
                <a:schemeClr val="tx2"/>
              </a:solidFill>
            </a:endParaRPr>
          </a:p>
        </p:txBody>
      </p:sp>
      <p:sp>
        <p:nvSpPr>
          <p:cNvPr id="37898" name="Rectangle 13"/>
          <p:cNvSpPr>
            <a:spLocks noChangeArrowheads="1"/>
          </p:cNvSpPr>
          <p:nvPr/>
        </p:nvSpPr>
        <p:spPr bwMode="auto">
          <a:xfrm>
            <a:off x="3541713" y="2768600"/>
            <a:ext cx="12001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r>
              <a:rPr lang="en-US" altLang="zh-CN" sz="2400" baseline="-25000">
                <a:solidFill>
                  <a:schemeClr val="tx2"/>
                </a:solidFill>
              </a:rPr>
              <a:t>2</a:t>
            </a:r>
            <a:r>
              <a:rPr lang="en-US" altLang="zh-CN" sz="2400">
                <a:solidFill>
                  <a:schemeClr val="tx2"/>
                </a:solidFill>
              </a:rPr>
              <a:t>=3</a:t>
            </a:r>
            <a:r>
              <a:rPr lang="zh-CN" altLang="zh-CN" sz="2400">
                <a:solidFill>
                  <a:schemeClr val="tx2"/>
                </a:solidFill>
                <a:sym typeface="Symbol" panose="05050102010706020507" pitchFamily="18" charset="2"/>
              </a:rPr>
              <a:t>t</a:t>
            </a:r>
            <a:endParaRPr lang="en-US" altLang="zh-CN" sz="2400">
              <a:solidFill>
                <a:schemeClr val="tx2"/>
              </a:solidFill>
              <a:sym typeface="Symbol" panose="05050102010706020507" pitchFamily="18" charset="2"/>
            </a:endParaRPr>
          </a:p>
        </p:txBody>
      </p:sp>
      <p:sp>
        <p:nvSpPr>
          <p:cNvPr id="37899" name="Line 14"/>
          <p:cNvSpPr>
            <a:spLocks noChangeShapeType="1"/>
          </p:cNvSpPr>
          <p:nvPr/>
        </p:nvSpPr>
        <p:spPr bwMode="auto">
          <a:xfrm>
            <a:off x="4741863" y="2578100"/>
            <a:ext cx="2809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0" name="Rectangle 15"/>
          <p:cNvSpPr>
            <a:spLocks noChangeArrowheads="1"/>
          </p:cNvSpPr>
          <p:nvPr/>
        </p:nvSpPr>
        <p:spPr bwMode="auto">
          <a:xfrm>
            <a:off x="5022850" y="2324100"/>
            <a:ext cx="1200150" cy="5080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3</a:t>
            </a:r>
            <a:endParaRPr lang="en-US" altLang="zh-CN" sz="2400">
              <a:solidFill>
                <a:schemeClr val="tx2"/>
              </a:solidFill>
            </a:endParaRPr>
          </a:p>
        </p:txBody>
      </p:sp>
      <p:sp>
        <p:nvSpPr>
          <p:cNvPr id="37901" name="Rectangle 16"/>
          <p:cNvSpPr>
            <a:spLocks noChangeArrowheads="1"/>
          </p:cNvSpPr>
          <p:nvPr/>
        </p:nvSpPr>
        <p:spPr bwMode="auto">
          <a:xfrm>
            <a:off x="5022850" y="2768600"/>
            <a:ext cx="12001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r>
              <a:rPr lang="en-US" altLang="zh-CN" sz="2400" baseline="-25000">
                <a:solidFill>
                  <a:schemeClr val="tx2"/>
                </a:solidFill>
              </a:rPr>
              <a:t>3</a:t>
            </a:r>
            <a:r>
              <a:rPr lang="en-US" altLang="zh-CN" sz="2400">
                <a:solidFill>
                  <a:schemeClr val="tx2"/>
                </a:solidFill>
              </a:rPr>
              <a:t>=</a:t>
            </a:r>
            <a:r>
              <a:rPr lang="zh-CN" altLang="zh-CN" sz="2400">
                <a:solidFill>
                  <a:schemeClr val="tx2"/>
                </a:solidFill>
                <a:sym typeface="Symbol" panose="05050102010706020507" pitchFamily="18" charset="2"/>
              </a:rPr>
              <a:t>t</a:t>
            </a:r>
            <a:endParaRPr lang="en-US" altLang="zh-CN" sz="2400">
              <a:solidFill>
                <a:schemeClr val="tx2"/>
              </a:solidFill>
              <a:sym typeface="Symbol" panose="05050102010706020507" pitchFamily="18" charset="2"/>
            </a:endParaRPr>
          </a:p>
        </p:txBody>
      </p:sp>
      <p:sp>
        <p:nvSpPr>
          <p:cNvPr id="37902" name="Line 17"/>
          <p:cNvSpPr>
            <a:spLocks noChangeShapeType="1"/>
          </p:cNvSpPr>
          <p:nvPr/>
        </p:nvSpPr>
        <p:spPr bwMode="auto">
          <a:xfrm>
            <a:off x="6223000" y="2578100"/>
            <a:ext cx="28257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3" name="Rectangle 18"/>
          <p:cNvSpPr>
            <a:spLocks noChangeArrowheads="1"/>
          </p:cNvSpPr>
          <p:nvPr/>
        </p:nvSpPr>
        <p:spPr bwMode="auto">
          <a:xfrm>
            <a:off x="6505575" y="2324100"/>
            <a:ext cx="1198563" cy="5080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4</a:t>
            </a:r>
            <a:endParaRPr lang="en-US" altLang="zh-CN" sz="2400">
              <a:solidFill>
                <a:schemeClr val="tx2"/>
              </a:solidFill>
            </a:endParaRPr>
          </a:p>
        </p:txBody>
      </p:sp>
      <p:sp>
        <p:nvSpPr>
          <p:cNvPr id="37904" name="Rectangle 19"/>
          <p:cNvSpPr>
            <a:spLocks noChangeArrowheads="1"/>
          </p:cNvSpPr>
          <p:nvPr/>
        </p:nvSpPr>
        <p:spPr bwMode="auto">
          <a:xfrm>
            <a:off x="6505575" y="2768600"/>
            <a:ext cx="1198563"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r>
              <a:rPr lang="en-US" altLang="zh-CN" sz="2400" baseline="-25000">
                <a:solidFill>
                  <a:schemeClr val="tx2"/>
                </a:solidFill>
              </a:rPr>
              <a:t>4</a:t>
            </a:r>
            <a:r>
              <a:rPr lang="en-US" altLang="zh-CN" sz="2400">
                <a:solidFill>
                  <a:schemeClr val="tx2"/>
                </a:solidFill>
              </a:rPr>
              <a:t>=</a:t>
            </a:r>
            <a:r>
              <a:rPr lang="zh-CN" altLang="zh-CN" sz="2400">
                <a:solidFill>
                  <a:schemeClr val="tx2"/>
                </a:solidFill>
                <a:sym typeface="Symbol" panose="05050102010706020507" pitchFamily="18" charset="2"/>
              </a:rPr>
              <a:t>t</a:t>
            </a:r>
            <a:endParaRPr lang="en-US" altLang="zh-CN" sz="2400">
              <a:solidFill>
                <a:schemeClr val="tx2"/>
              </a:solidFill>
              <a:sym typeface="Symbol" panose="05050102010706020507" pitchFamily="18" charset="2"/>
            </a:endParaRPr>
          </a:p>
        </p:txBody>
      </p:sp>
      <p:sp>
        <p:nvSpPr>
          <p:cNvPr id="37905" name="Rectangle 20"/>
          <p:cNvSpPr>
            <a:spLocks noChangeArrowheads="1"/>
          </p:cNvSpPr>
          <p:nvPr/>
        </p:nvSpPr>
        <p:spPr bwMode="auto">
          <a:xfrm>
            <a:off x="7704138" y="2133600"/>
            <a:ext cx="493712"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0"/>
              </a:spcBef>
              <a:buClrTx/>
              <a:buFontTx/>
              <a:buNone/>
            </a:pPr>
            <a:r>
              <a:rPr lang="zh-CN" altLang="zh-CN" sz="2400">
                <a:solidFill>
                  <a:schemeClr val="tx2"/>
                </a:solidFill>
                <a:sym typeface="Symbol" panose="05050102010706020507" pitchFamily="18" charset="2"/>
              </a:rPr>
              <a:t>输</a:t>
            </a:r>
            <a:endParaRPr lang="zh-CN" altLang="zh-CN" sz="2400">
              <a:solidFill>
                <a:schemeClr val="tx2"/>
              </a:solidFill>
              <a:sym typeface="Symbol" panose="05050102010706020507" pitchFamily="18" charset="2"/>
            </a:endParaRPr>
          </a:p>
          <a:p>
            <a:pPr algn="ctr" eaLnBrk="1" hangingPunct="1">
              <a:spcBef>
                <a:spcPct val="0"/>
              </a:spcBef>
              <a:buClrTx/>
              <a:buFontTx/>
              <a:buNone/>
            </a:pPr>
            <a:r>
              <a:rPr lang="zh-CN" altLang="zh-CN" sz="2400">
                <a:solidFill>
                  <a:schemeClr val="tx2"/>
                </a:solidFill>
                <a:sym typeface="Symbol" panose="05050102010706020507" pitchFamily="18" charset="2"/>
              </a:rPr>
              <a:t>出</a:t>
            </a:r>
            <a:endParaRPr lang="zh-CN" altLang="zh-CN" sz="2400">
              <a:solidFill>
                <a:schemeClr val="tx2"/>
              </a:solidFill>
            </a:endParaRPr>
          </a:p>
        </p:txBody>
      </p:sp>
      <p:sp>
        <p:nvSpPr>
          <p:cNvPr id="37906" name="Line 21"/>
          <p:cNvSpPr>
            <a:spLocks noChangeShapeType="1"/>
          </p:cNvSpPr>
          <p:nvPr/>
        </p:nvSpPr>
        <p:spPr bwMode="auto">
          <a:xfrm>
            <a:off x="7704138" y="2578100"/>
            <a:ext cx="6350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7" name="Rectangle 22"/>
          <p:cNvSpPr>
            <a:spLocks noChangeArrowheads="1"/>
          </p:cNvSpPr>
          <p:nvPr/>
        </p:nvSpPr>
        <p:spPr bwMode="auto">
          <a:xfrm>
            <a:off x="1708150" y="5118100"/>
            <a:ext cx="352425"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37908" name="Line 23"/>
          <p:cNvSpPr>
            <a:spLocks noChangeShapeType="1"/>
          </p:cNvSpPr>
          <p:nvPr/>
        </p:nvSpPr>
        <p:spPr bwMode="auto">
          <a:xfrm flipV="1">
            <a:off x="1708150" y="3340100"/>
            <a:ext cx="0" cy="222250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9" name="Rectangle 24"/>
          <p:cNvSpPr>
            <a:spLocks noChangeArrowheads="1"/>
          </p:cNvSpPr>
          <p:nvPr/>
        </p:nvSpPr>
        <p:spPr bwMode="auto">
          <a:xfrm>
            <a:off x="7986713" y="5054600"/>
            <a:ext cx="776287"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时间</a:t>
            </a:r>
            <a:endParaRPr lang="zh-CN" altLang="zh-CN" sz="2400">
              <a:solidFill>
                <a:schemeClr val="tx2"/>
              </a:solidFill>
            </a:endParaRPr>
          </a:p>
        </p:txBody>
      </p:sp>
      <p:sp>
        <p:nvSpPr>
          <p:cNvPr id="37910" name="Rectangle 25"/>
          <p:cNvSpPr>
            <a:spLocks noChangeArrowheads="1"/>
          </p:cNvSpPr>
          <p:nvPr/>
        </p:nvSpPr>
        <p:spPr bwMode="auto">
          <a:xfrm>
            <a:off x="1708150" y="3276600"/>
            <a:ext cx="915988"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空间</a:t>
            </a:r>
            <a:endParaRPr lang="zh-CN" altLang="zh-CN" sz="2400">
              <a:solidFill>
                <a:schemeClr val="tx2"/>
              </a:solidFill>
            </a:endParaRPr>
          </a:p>
        </p:txBody>
      </p:sp>
      <p:sp>
        <p:nvSpPr>
          <p:cNvPr id="37911" name="Line 26"/>
          <p:cNvSpPr>
            <a:spLocks noChangeShapeType="1"/>
          </p:cNvSpPr>
          <p:nvPr/>
        </p:nvSpPr>
        <p:spPr bwMode="auto">
          <a:xfrm flipV="1">
            <a:off x="7704138" y="4229100"/>
            <a:ext cx="0" cy="1333500"/>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2" name="Rectangle 27"/>
          <p:cNvSpPr>
            <a:spLocks noChangeArrowheads="1"/>
          </p:cNvSpPr>
          <p:nvPr/>
        </p:nvSpPr>
        <p:spPr bwMode="auto">
          <a:xfrm>
            <a:off x="1143000" y="5118100"/>
            <a:ext cx="5651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S</a:t>
            </a:r>
            <a:r>
              <a:rPr lang="zh-CN" altLang="zh-CN" sz="2400" baseline="-25000">
                <a:solidFill>
                  <a:schemeClr val="tx2"/>
                </a:solidFill>
                <a:sym typeface="Symbol" panose="05050102010706020507" pitchFamily="18" charset="2"/>
              </a:rPr>
              <a:t>1</a:t>
            </a:r>
            <a:endParaRPr lang="en-US" altLang="zh-CN" sz="2400">
              <a:solidFill>
                <a:schemeClr val="tx2"/>
              </a:solidFill>
            </a:endParaRPr>
          </a:p>
        </p:txBody>
      </p:sp>
      <p:sp>
        <p:nvSpPr>
          <p:cNvPr id="37913" name="Line 28"/>
          <p:cNvSpPr>
            <a:spLocks noChangeShapeType="1"/>
          </p:cNvSpPr>
          <p:nvPr/>
        </p:nvSpPr>
        <p:spPr bwMode="auto">
          <a:xfrm>
            <a:off x="1708150" y="5562600"/>
            <a:ext cx="70548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4" name="Rectangle 29"/>
          <p:cNvSpPr>
            <a:spLocks noChangeArrowheads="1"/>
          </p:cNvSpPr>
          <p:nvPr/>
        </p:nvSpPr>
        <p:spPr bwMode="auto">
          <a:xfrm>
            <a:off x="1143000" y="4673600"/>
            <a:ext cx="5651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S</a:t>
            </a:r>
            <a:r>
              <a:rPr lang="zh-CN" altLang="zh-CN" sz="2400" baseline="-25000">
                <a:solidFill>
                  <a:schemeClr val="tx2"/>
                </a:solidFill>
                <a:sym typeface="Symbol" panose="05050102010706020507" pitchFamily="18" charset="2"/>
              </a:rPr>
              <a:t>2</a:t>
            </a:r>
            <a:endParaRPr lang="en-US" altLang="zh-CN" sz="2400">
              <a:solidFill>
                <a:schemeClr val="tx2"/>
              </a:solidFill>
            </a:endParaRPr>
          </a:p>
        </p:txBody>
      </p:sp>
      <p:sp>
        <p:nvSpPr>
          <p:cNvPr id="37915" name="Rectangle 30"/>
          <p:cNvSpPr>
            <a:spLocks noChangeArrowheads="1"/>
          </p:cNvSpPr>
          <p:nvPr/>
        </p:nvSpPr>
        <p:spPr bwMode="auto">
          <a:xfrm>
            <a:off x="1143000" y="4229100"/>
            <a:ext cx="5651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S</a:t>
            </a:r>
            <a:r>
              <a:rPr lang="zh-CN" altLang="zh-CN" sz="2400" baseline="-25000">
                <a:solidFill>
                  <a:schemeClr val="tx2"/>
                </a:solidFill>
                <a:sym typeface="Symbol" panose="05050102010706020507" pitchFamily="18" charset="2"/>
              </a:rPr>
              <a:t>3</a:t>
            </a:r>
            <a:endParaRPr lang="en-US" altLang="zh-CN" sz="2400">
              <a:solidFill>
                <a:schemeClr val="tx2"/>
              </a:solidFill>
            </a:endParaRPr>
          </a:p>
        </p:txBody>
      </p:sp>
      <p:sp>
        <p:nvSpPr>
          <p:cNvPr id="37916" name="Rectangle 31"/>
          <p:cNvSpPr>
            <a:spLocks noChangeArrowheads="1"/>
          </p:cNvSpPr>
          <p:nvPr/>
        </p:nvSpPr>
        <p:spPr bwMode="auto">
          <a:xfrm>
            <a:off x="1143000" y="3784600"/>
            <a:ext cx="5651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S</a:t>
            </a:r>
            <a:r>
              <a:rPr lang="zh-CN" altLang="zh-CN" sz="2400" baseline="-25000">
                <a:solidFill>
                  <a:schemeClr val="tx2"/>
                </a:solidFill>
                <a:sym typeface="Symbol" panose="05050102010706020507" pitchFamily="18" charset="2"/>
              </a:rPr>
              <a:t>4</a:t>
            </a:r>
            <a:endParaRPr lang="en-US" altLang="zh-CN" sz="2400">
              <a:solidFill>
                <a:schemeClr val="tx2"/>
              </a:solidFill>
            </a:endParaRPr>
          </a:p>
        </p:txBody>
      </p:sp>
      <p:sp>
        <p:nvSpPr>
          <p:cNvPr id="37917" name="Line 32"/>
          <p:cNvSpPr>
            <a:spLocks noChangeShapeType="1"/>
          </p:cNvSpPr>
          <p:nvPr/>
        </p:nvSpPr>
        <p:spPr bwMode="auto">
          <a:xfrm flipV="1">
            <a:off x="7696200" y="5638800"/>
            <a:ext cx="0" cy="635000"/>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8" name="Line 33"/>
          <p:cNvSpPr>
            <a:spLocks noChangeShapeType="1"/>
          </p:cNvSpPr>
          <p:nvPr/>
        </p:nvSpPr>
        <p:spPr bwMode="auto">
          <a:xfrm flipV="1">
            <a:off x="1708150" y="5626100"/>
            <a:ext cx="0" cy="635000"/>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9" name="Line 34"/>
          <p:cNvSpPr>
            <a:spLocks noChangeShapeType="1"/>
          </p:cNvSpPr>
          <p:nvPr/>
        </p:nvSpPr>
        <p:spPr bwMode="auto">
          <a:xfrm flipV="1">
            <a:off x="3825875" y="5678488"/>
            <a:ext cx="0" cy="317500"/>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0" name="Line 35"/>
          <p:cNvSpPr>
            <a:spLocks noChangeShapeType="1"/>
          </p:cNvSpPr>
          <p:nvPr/>
        </p:nvSpPr>
        <p:spPr bwMode="auto">
          <a:xfrm flipH="1" flipV="1">
            <a:off x="1708150" y="5816600"/>
            <a:ext cx="774700" cy="0"/>
          </a:xfrm>
          <a:prstGeom prst="line">
            <a:avLst/>
          </a:prstGeom>
          <a:noFill/>
          <a:ln w="12700">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1" name="Rectangle 36"/>
          <p:cNvSpPr>
            <a:spLocks noChangeArrowheads="1"/>
          </p:cNvSpPr>
          <p:nvPr/>
        </p:nvSpPr>
        <p:spPr bwMode="auto">
          <a:xfrm>
            <a:off x="2554288" y="5626100"/>
            <a:ext cx="776287"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t</a:t>
            </a:r>
            <a:r>
              <a:rPr lang="zh-CN" altLang="zh-CN" sz="2400" baseline="-25000">
                <a:solidFill>
                  <a:schemeClr val="tx2"/>
                </a:solidFill>
                <a:sym typeface="Symbol" panose="05050102010706020507" pitchFamily="18" charset="2"/>
              </a:rPr>
              <a:t>i</a:t>
            </a:r>
            <a:endParaRPr lang="en-US" altLang="zh-CN" sz="2400">
              <a:solidFill>
                <a:schemeClr val="tx2"/>
              </a:solidFill>
            </a:endParaRPr>
          </a:p>
        </p:txBody>
      </p:sp>
      <p:sp>
        <p:nvSpPr>
          <p:cNvPr id="37922" name="Line 37"/>
          <p:cNvSpPr>
            <a:spLocks noChangeShapeType="1"/>
          </p:cNvSpPr>
          <p:nvPr/>
        </p:nvSpPr>
        <p:spPr bwMode="auto">
          <a:xfrm flipH="1" flipV="1">
            <a:off x="3400425" y="5816600"/>
            <a:ext cx="411163" cy="0"/>
          </a:xfrm>
          <a:prstGeom prst="line">
            <a:avLst/>
          </a:prstGeom>
          <a:noFill/>
          <a:ln w="12700">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3" name="Line 38"/>
          <p:cNvSpPr>
            <a:spLocks noChangeShapeType="1"/>
          </p:cNvSpPr>
          <p:nvPr/>
        </p:nvSpPr>
        <p:spPr bwMode="auto">
          <a:xfrm flipH="1" flipV="1">
            <a:off x="3838575" y="5816600"/>
            <a:ext cx="1144588" cy="0"/>
          </a:xfrm>
          <a:prstGeom prst="line">
            <a:avLst/>
          </a:prstGeom>
          <a:noFill/>
          <a:ln w="12700">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4" name="Rectangle 39"/>
          <p:cNvSpPr>
            <a:spLocks noChangeArrowheads="1"/>
          </p:cNvSpPr>
          <p:nvPr/>
        </p:nvSpPr>
        <p:spPr bwMode="auto">
          <a:xfrm>
            <a:off x="4995863" y="5626100"/>
            <a:ext cx="133985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(n-1)t</a:t>
            </a:r>
            <a:r>
              <a:rPr lang="zh-CN" altLang="zh-CN" sz="2400" baseline="-25000">
                <a:solidFill>
                  <a:schemeClr val="tx2"/>
                </a:solidFill>
                <a:sym typeface="Symbol" panose="05050102010706020507" pitchFamily="18" charset="2"/>
              </a:rPr>
              <a:t>2</a:t>
            </a:r>
            <a:endParaRPr lang="en-US" altLang="zh-CN" sz="2400">
              <a:solidFill>
                <a:schemeClr val="tx2"/>
              </a:solidFill>
            </a:endParaRPr>
          </a:p>
        </p:txBody>
      </p:sp>
      <p:sp>
        <p:nvSpPr>
          <p:cNvPr id="37925" name="Line 40"/>
          <p:cNvSpPr>
            <a:spLocks noChangeShapeType="1"/>
          </p:cNvSpPr>
          <p:nvPr/>
        </p:nvSpPr>
        <p:spPr bwMode="auto">
          <a:xfrm flipH="1">
            <a:off x="6400800" y="5791200"/>
            <a:ext cx="1219200" cy="0"/>
          </a:xfrm>
          <a:prstGeom prst="line">
            <a:avLst/>
          </a:prstGeom>
          <a:noFill/>
          <a:ln w="12700">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6" name="Rectangle 41"/>
          <p:cNvSpPr>
            <a:spLocks noChangeArrowheads="1"/>
          </p:cNvSpPr>
          <p:nvPr/>
        </p:nvSpPr>
        <p:spPr bwMode="auto">
          <a:xfrm>
            <a:off x="4318000" y="5943600"/>
            <a:ext cx="352425"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T</a:t>
            </a:r>
            <a:r>
              <a:rPr lang="zh-CN" altLang="en-US" sz="2400" baseline="-25000">
                <a:solidFill>
                  <a:schemeClr val="tx2"/>
                </a:solidFill>
                <a:sym typeface="Symbol" panose="05050102010706020507" pitchFamily="18" charset="2"/>
              </a:rPr>
              <a:t>m</a:t>
            </a:r>
            <a:endParaRPr lang="en-US" altLang="zh-CN" sz="2400" baseline="-25000">
              <a:solidFill>
                <a:schemeClr val="tx2"/>
              </a:solidFill>
            </a:endParaRPr>
          </a:p>
        </p:txBody>
      </p:sp>
      <p:sp>
        <p:nvSpPr>
          <p:cNvPr id="37927" name="Line 42"/>
          <p:cNvSpPr>
            <a:spLocks noChangeShapeType="1"/>
          </p:cNvSpPr>
          <p:nvPr/>
        </p:nvSpPr>
        <p:spPr bwMode="auto">
          <a:xfrm flipH="1" flipV="1">
            <a:off x="1708150" y="6134100"/>
            <a:ext cx="2609850" cy="0"/>
          </a:xfrm>
          <a:prstGeom prst="line">
            <a:avLst/>
          </a:prstGeom>
          <a:noFill/>
          <a:ln w="12700">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8" name="Line 43"/>
          <p:cNvSpPr>
            <a:spLocks noChangeShapeType="1"/>
          </p:cNvSpPr>
          <p:nvPr/>
        </p:nvSpPr>
        <p:spPr bwMode="auto">
          <a:xfrm flipH="1" flipV="1">
            <a:off x="4724400" y="6172200"/>
            <a:ext cx="2895600" cy="0"/>
          </a:xfrm>
          <a:prstGeom prst="line">
            <a:avLst/>
          </a:prstGeom>
          <a:noFill/>
          <a:ln w="12700">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9" name="Rectangle 44" descr="浅色上对角线"/>
          <p:cNvSpPr>
            <a:spLocks noChangeArrowheads="1"/>
          </p:cNvSpPr>
          <p:nvPr/>
        </p:nvSpPr>
        <p:spPr bwMode="auto">
          <a:xfrm>
            <a:off x="2060575" y="51181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30" name="Rectangle 45" descr="浅色上对角线"/>
          <p:cNvSpPr>
            <a:spLocks noChangeArrowheads="1"/>
          </p:cNvSpPr>
          <p:nvPr/>
        </p:nvSpPr>
        <p:spPr bwMode="auto">
          <a:xfrm>
            <a:off x="2413000" y="51181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31" name="Rectangle 46"/>
          <p:cNvSpPr>
            <a:spLocks noChangeArrowheads="1"/>
          </p:cNvSpPr>
          <p:nvPr/>
        </p:nvSpPr>
        <p:spPr bwMode="auto">
          <a:xfrm>
            <a:off x="2765425" y="5118100"/>
            <a:ext cx="352425"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37932" name="Rectangle 47" descr="浅色上对角线"/>
          <p:cNvSpPr>
            <a:spLocks noChangeArrowheads="1"/>
          </p:cNvSpPr>
          <p:nvPr/>
        </p:nvSpPr>
        <p:spPr bwMode="auto">
          <a:xfrm>
            <a:off x="3117850" y="5118100"/>
            <a:ext cx="354013"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33" name="Rectangle 48" descr="浅色上对角线"/>
          <p:cNvSpPr>
            <a:spLocks noChangeArrowheads="1"/>
          </p:cNvSpPr>
          <p:nvPr/>
        </p:nvSpPr>
        <p:spPr bwMode="auto">
          <a:xfrm>
            <a:off x="3471863" y="51181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34" name="Rectangle 49"/>
          <p:cNvSpPr>
            <a:spLocks noChangeArrowheads="1"/>
          </p:cNvSpPr>
          <p:nvPr/>
        </p:nvSpPr>
        <p:spPr bwMode="auto">
          <a:xfrm>
            <a:off x="3824288" y="5118100"/>
            <a:ext cx="352425"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37935" name="Rectangle 50" descr="浅色上对角线"/>
          <p:cNvSpPr>
            <a:spLocks noChangeArrowheads="1"/>
          </p:cNvSpPr>
          <p:nvPr/>
        </p:nvSpPr>
        <p:spPr bwMode="auto">
          <a:xfrm>
            <a:off x="4176713" y="51181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36" name="Rectangle 51" descr="浅色上对角线"/>
          <p:cNvSpPr>
            <a:spLocks noChangeArrowheads="1"/>
          </p:cNvSpPr>
          <p:nvPr/>
        </p:nvSpPr>
        <p:spPr bwMode="auto">
          <a:xfrm>
            <a:off x="4529138" y="5118100"/>
            <a:ext cx="354012"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37" name="Rectangle 52"/>
          <p:cNvSpPr>
            <a:spLocks noChangeArrowheads="1"/>
          </p:cNvSpPr>
          <p:nvPr/>
        </p:nvSpPr>
        <p:spPr bwMode="auto">
          <a:xfrm>
            <a:off x="4883150" y="5118100"/>
            <a:ext cx="704850" cy="4445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7938" name="Rectangle 53"/>
          <p:cNvSpPr>
            <a:spLocks noChangeArrowheads="1"/>
          </p:cNvSpPr>
          <p:nvPr/>
        </p:nvSpPr>
        <p:spPr bwMode="auto">
          <a:xfrm>
            <a:off x="5588000" y="5118100"/>
            <a:ext cx="352425"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n</a:t>
            </a:r>
            <a:endParaRPr lang="zh-CN" altLang="zh-CN" sz="2400">
              <a:solidFill>
                <a:schemeClr val="tx2"/>
              </a:solidFill>
            </a:endParaRPr>
          </a:p>
        </p:txBody>
      </p:sp>
      <p:sp>
        <p:nvSpPr>
          <p:cNvPr id="37939" name="Rectangle 54"/>
          <p:cNvSpPr>
            <a:spLocks noChangeArrowheads="1"/>
          </p:cNvSpPr>
          <p:nvPr/>
        </p:nvSpPr>
        <p:spPr bwMode="auto">
          <a:xfrm>
            <a:off x="2060575" y="4673600"/>
            <a:ext cx="1057275"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37940" name="Rectangle 55"/>
          <p:cNvSpPr>
            <a:spLocks noChangeArrowheads="1"/>
          </p:cNvSpPr>
          <p:nvPr/>
        </p:nvSpPr>
        <p:spPr bwMode="auto">
          <a:xfrm>
            <a:off x="3117850" y="4673600"/>
            <a:ext cx="1058863"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37941" name="Rectangle 56"/>
          <p:cNvSpPr>
            <a:spLocks noChangeArrowheads="1"/>
          </p:cNvSpPr>
          <p:nvPr/>
        </p:nvSpPr>
        <p:spPr bwMode="auto">
          <a:xfrm>
            <a:off x="4176713" y="4673600"/>
            <a:ext cx="1058862"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37942" name="Rectangle 57"/>
          <p:cNvSpPr>
            <a:spLocks noChangeArrowheads="1"/>
          </p:cNvSpPr>
          <p:nvPr/>
        </p:nvSpPr>
        <p:spPr bwMode="auto">
          <a:xfrm>
            <a:off x="5235575" y="4673600"/>
            <a:ext cx="704850" cy="4445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7943" name="Rectangle 58"/>
          <p:cNvSpPr>
            <a:spLocks noChangeArrowheads="1"/>
          </p:cNvSpPr>
          <p:nvPr/>
        </p:nvSpPr>
        <p:spPr bwMode="auto">
          <a:xfrm>
            <a:off x="5940425" y="4673600"/>
            <a:ext cx="1058863"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n</a:t>
            </a:r>
            <a:endParaRPr lang="zh-CN" altLang="zh-CN" sz="2400">
              <a:solidFill>
                <a:schemeClr val="tx2"/>
              </a:solidFill>
            </a:endParaRPr>
          </a:p>
        </p:txBody>
      </p:sp>
      <p:sp>
        <p:nvSpPr>
          <p:cNvPr id="37944" name="Rectangle 59"/>
          <p:cNvSpPr>
            <a:spLocks noChangeArrowheads="1"/>
          </p:cNvSpPr>
          <p:nvPr/>
        </p:nvSpPr>
        <p:spPr bwMode="auto">
          <a:xfrm>
            <a:off x="3117850" y="4229100"/>
            <a:ext cx="354013"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37945" name="Rectangle 60" descr="浅色上对角线"/>
          <p:cNvSpPr>
            <a:spLocks noChangeArrowheads="1"/>
          </p:cNvSpPr>
          <p:nvPr/>
        </p:nvSpPr>
        <p:spPr bwMode="auto">
          <a:xfrm>
            <a:off x="3471863" y="42291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46" name="Rectangle 61" descr="浅色上对角线"/>
          <p:cNvSpPr>
            <a:spLocks noChangeArrowheads="1"/>
          </p:cNvSpPr>
          <p:nvPr/>
        </p:nvSpPr>
        <p:spPr bwMode="auto">
          <a:xfrm>
            <a:off x="3824288" y="42291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47" name="Rectangle 62"/>
          <p:cNvSpPr>
            <a:spLocks noChangeArrowheads="1"/>
          </p:cNvSpPr>
          <p:nvPr/>
        </p:nvSpPr>
        <p:spPr bwMode="auto">
          <a:xfrm>
            <a:off x="4176713" y="4229100"/>
            <a:ext cx="352425"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37948" name="Rectangle 63" descr="浅色上对角线"/>
          <p:cNvSpPr>
            <a:spLocks noChangeArrowheads="1"/>
          </p:cNvSpPr>
          <p:nvPr/>
        </p:nvSpPr>
        <p:spPr bwMode="auto">
          <a:xfrm>
            <a:off x="4529138" y="4229100"/>
            <a:ext cx="354012"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49" name="Rectangle 64" descr="浅色上对角线"/>
          <p:cNvSpPr>
            <a:spLocks noChangeArrowheads="1"/>
          </p:cNvSpPr>
          <p:nvPr/>
        </p:nvSpPr>
        <p:spPr bwMode="auto">
          <a:xfrm>
            <a:off x="4883150" y="42291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50" name="Rectangle 65"/>
          <p:cNvSpPr>
            <a:spLocks noChangeArrowheads="1"/>
          </p:cNvSpPr>
          <p:nvPr/>
        </p:nvSpPr>
        <p:spPr bwMode="auto">
          <a:xfrm>
            <a:off x="5235575" y="4229100"/>
            <a:ext cx="352425"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37951" name="Rectangle 66" descr="浅色上对角线"/>
          <p:cNvSpPr>
            <a:spLocks noChangeArrowheads="1"/>
          </p:cNvSpPr>
          <p:nvPr/>
        </p:nvSpPr>
        <p:spPr bwMode="auto">
          <a:xfrm>
            <a:off x="5588000" y="42291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52" name="Rectangle 67" descr="浅色上对角线"/>
          <p:cNvSpPr>
            <a:spLocks noChangeArrowheads="1"/>
          </p:cNvSpPr>
          <p:nvPr/>
        </p:nvSpPr>
        <p:spPr bwMode="auto">
          <a:xfrm>
            <a:off x="5940425" y="42291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53" name="Rectangle 68"/>
          <p:cNvSpPr>
            <a:spLocks noChangeArrowheads="1"/>
          </p:cNvSpPr>
          <p:nvPr/>
        </p:nvSpPr>
        <p:spPr bwMode="auto">
          <a:xfrm>
            <a:off x="6292850" y="4229100"/>
            <a:ext cx="706438" cy="4445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7954" name="Rectangle 69"/>
          <p:cNvSpPr>
            <a:spLocks noChangeArrowheads="1"/>
          </p:cNvSpPr>
          <p:nvPr/>
        </p:nvSpPr>
        <p:spPr bwMode="auto">
          <a:xfrm>
            <a:off x="6999288" y="4229100"/>
            <a:ext cx="352425"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n</a:t>
            </a:r>
            <a:endParaRPr lang="zh-CN" altLang="zh-CN" sz="2400">
              <a:solidFill>
                <a:schemeClr val="tx2"/>
              </a:solidFill>
            </a:endParaRPr>
          </a:p>
        </p:txBody>
      </p:sp>
      <p:sp>
        <p:nvSpPr>
          <p:cNvPr id="37955" name="Rectangle 70"/>
          <p:cNvSpPr>
            <a:spLocks noChangeArrowheads="1"/>
          </p:cNvSpPr>
          <p:nvPr/>
        </p:nvSpPr>
        <p:spPr bwMode="auto">
          <a:xfrm>
            <a:off x="3471863" y="3784600"/>
            <a:ext cx="352425"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37956" name="Rectangle 71" descr="浅色上对角线"/>
          <p:cNvSpPr>
            <a:spLocks noChangeArrowheads="1"/>
          </p:cNvSpPr>
          <p:nvPr/>
        </p:nvSpPr>
        <p:spPr bwMode="auto">
          <a:xfrm>
            <a:off x="3824288" y="37846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57" name="Rectangle 72" descr="浅色上对角线"/>
          <p:cNvSpPr>
            <a:spLocks noChangeArrowheads="1"/>
          </p:cNvSpPr>
          <p:nvPr/>
        </p:nvSpPr>
        <p:spPr bwMode="auto">
          <a:xfrm>
            <a:off x="4176713" y="37846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58" name="Rectangle 73"/>
          <p:cNvSpPr>
            <a:spLocks noChangeArrowheads="1"/>
          </p:cNvSpPr>
          <p:nvPr/>
        </p:nvSpPr>
        <p:spPr bwMode="auto">
          <a:xfrm>
            <a:off x="4529138" y="3784600"/>
            <a:ext cx="354012"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37959" name="Rectangle 74" descr="浅色上对角线"/>
          <p:cNvSpPr>
            <a:spLocks noChangeArrowheads="1"/>
          </p:cNvSpPr>
          <p:nvPr/>
        </p:nvSpPr>
        <p:spPr bwMode="auto">
          <a:xfrm>
            <a:off x="4883150" y="37846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60" name="Rectangle 75" descr="浅色上对角线"/>
          <p:cNvSpPr>
            <a:spLocks noChangeArrowheads="1"/>
          </p:cNvSpPr>
          <p:nvPr/>
        </p:nvSpPr>
        <p:spPr bwMode="auto">
          <a:xfrm>
            <a:off x="5235575" y="37846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61" name="Rectangle 76"/>
          <p:cNvSpPr>
            <a:spLocks noChangeArrowheads="1"/>
          </p:cNvSpPr>
          <p:nvPr/>
        </p:nvSpPr>
        <p:spPr bwMode="auto">
          <a:xfrm>
            <a:off x="5588000" y="3784600"/>
            <a:ext cx="352425"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37962" name="Rectangle 77" descr="浅色上对角线"/>
          <p:cNvSpPr>
            <a:spLocks noChangeArrowheads="1"/>
          </p:cNvSpPr>
          <p:nvPr/>
        </p:nvSpPr>
        <p:spPr bwMode="auto">
          <a:xfrm>
            <a:off x="5940425" y="3784600"/>
            <a:ext cx="352425"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63" name="Rectangle 78" descr="浅色上对角线"/>
          <p:cNvSpPr>
            <a:spLocks noChangeArrowheads="1"/>
          </p:cNvSpPr>
          <p:nvPr/>
        </p:nvSpPr>
        <p:spPr bwMode="auto">
          <a:xfrm>
            <a:off x="6292850" y="3784600"/>
            <a:ext cx="354013" cy="444500"/>
          </a:xfrm>
          <a:prstGeom prst="rect">
            <a:avLst/>
          </a:prstGeom>
          <a:pattFill prst="ltUpDiag">
            <a:fgClr>
              <a:schemeClr val="tx2"/>
            </a:fgClr>
            <a:bgClr>
              <a:schemeClr val="bg1"/>
            </a:bgClr>
          </a:patt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64" name="Rectangle 79"/>
          <p:cNvSpPr>
            <a:spLocks noChangeArrowheads="1"/>
          </p:cNvSpPr>
          <p:nvPr/>
        </p:nvSpPr>
        <p:spPr bwMode="auto">
          <a:xfrm>
            <a:off x="6646863" y="3784600"/>
            <a:ext cx="704850" cy="4445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37965" name="Rectangle 80"/>
          <p:cNvSpPr>
            <a:spLocks noChangeArrowheads="1"/>
          </p:cNvSpPr>
          <p:nvPr/>
        </p:nvSpPr>
        <p:spPr bwMode="auto">
          <a:xfrm>
            <a:off x="7351713" y="3784600"/>
            <a:ext cx="352425" cy="44450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n</a:t>
            </a:r>
            <a:endParaRPr lang="zh-CN" altLang="zh-CN" sz="2400">
              <a:solidFill>
                <a:schemeClr val="tx2"/>
              </a:solidFill>
            </a:endParaRPr>
          </a:p>
        </p:txBody>
      </p:sp>
      <p:sp>
        <p:nvSpPr>
          <p:cNvPr id="37966" name="Line 81"/>
          <p:cNvSpPr>
            <a:spLocks noChangeShapeType="1"/>
          </p:cNvSpPr>
          <p:nvPr/>
        </p:nvSpPr>
        <p:spPr bwMode="auto">
          <a:xfrm flipV="1">
            <a:off x="7351713" y="4673600"/>
            <a:ext cx="0" cy="889000"/>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67" name="Line 82"/>
          <p:cNvSpPr>
            <a:spLocks noChangeShapeType="1"/>
          </p:cNvSpPr>
          <p:nvPr/>
        </p:nvSpPr>
        <p:spPr bwMode="auto">
          <a:xfrm flipV="1">
            <a:off x="6999288" y="5118100"/>
            <a:ext cx="0" cy="444500"/>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68" name="Line 83"/>
          <p:cNvSpPr>
            <a:spLocks noChangeShapeType="1"/>
          </p:cNvSpPr>
          <p:nvPr/>
        </p:nvSpPr>
        <p:spPr bwMode="auto">
          <a:xfrm flipH="1" flipV="1">
            <a:off x="1708150" y="3784600"/>
            <a:ext cx="1763713" cy="0"/>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69" name="Line 84"/>
          <p:cNvSpPr>
            <a:spLocks noChangeShapeType="1"/>
          </p:cNvSpPr>
          <p:nvPr/>
        </p:nvSpPr>
        <p:spPr bwMode="auto">
          <a:xfrm flipH="1" flipV="1">
            <a:off x="1708150" y="4229100"/>
            <a:ext cx="1409700" cy="0"/>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70" name="Line 85"/>
          <p:cNvSpPr>
            <a:spLocks noChangeShapeType="1"/>
          </p:cNvSpPr>
          <p:nvPr/>
        </p:nvSpPr>
        <p:spPr bwMode="auto">
          <a:xfrm flipH="1" flipV="1">
            <a:off x="1708150" y="4673600"/>
            <a:ext cx="352425" cy="0"/>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71" name="Rectangle 86"/>
          <p:cNvSpPr>
            <a:spLocks noChangeArrowheads="1"/>
          </p:cNvSpPr>
          <p:nvPr/>
        </p:nvSpPr>
        <p:spPr bwMode="auto">
          <a:xfrm>
            <a:off x="1447800" y="2133600"/>
            <a:ext cx="493713"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0"/>
              </a:spcBef>
              <a:buClrTx/>
              <a:buFontTx/>
              <a:buNone/>
            </a:pPr>
            <a:r>
              <a:rPr lang="zh-CN" altLang="zh-CN" sz="2400">
                <a:solidFill>
                  <a:schemeClr val="tx2"/>
                </a:solidFill>
                <a:sym typeface="Symbol" panose="05050102010706020507" pitchFamily="18" charset="2"/>
              </a:rPr>
              <a:t>输</a:t>
            </a:r>
            <a:endParaRPr lang="zh-CN" altLang="zh-CN" sz="2400">
              <a:solidFill>
                <a:schemeClr val="tx2"/>
              </a:solidFill>
              <a:sym typeface="Symbol" panose="05050102010706020507" pitchFamily="18" charset="2"/>
            </a:endParaRPr>
          </a:p>
          <a:p>
            <a:pPr algn="ctr" eaLnBrk="1" hangingPunct="1">
              <a:spcBef>
                <a:spcPct val="0"/>
              </a:spcBef>
              <a:buClrTx/>
              <a:buFontTx/>
              <a:buNone/>
            </a:pPr>
            <a:r>
              <a:rPr lang="zh-CN" altLang="en-US" sz="2400">
                <a:solidFill>
                  <a:schemeClr val="tx2"/>
                </a:solidFill>
                <a:sym typeface="Symbol" panose="05050102010706020507" pitchFamily="18" charset="2"/>
              </a:rPr>
              <a:t>入</a:t>
            </a:r>
            <a:endParaRPr lang="zh-CN" altLang="zh-CN" sz="2400">
              <a:solidFill>
                <a:schemeClr val="tx2"/>
              </a:solidFill>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8258" name="Rectangle 2"/>
          <p:cNvSpPr>
            <a:spLocks noGrp="1" noChangeArrowheads="1"/>
          </p:cNvSpPr>
          <p:nvPr>
            <p:ph type="title"/>
          </p:nvPr>
        </p:nvSpPr>
        <p:spPr/>
        <p:txBody>
          <a:bodyPr/>
          <a:lstStyle/>
          <a:p>
            <a:pPr eaLnBrk="1" hangingPunct="1">
              <a:defRPr/>
            </a:pPr>
            <a:r>
              <a:rPr lang="zh-CN" altLang="en-US" smtClean="0"/>
              <a:t>举  例-</a:t>
            </a:r>
            <a:r>
              <a:rPr lang="zh-CN" altLang="en-US" sz="3600" smtClean="0"/>
              <a:t>瓶颈解决</a:t>
            </a:r>
            <a:endParaRPr lang="zh-CN" altLang="en-US" sz="3600" smtClean="0"/>
          </a:p>
        </p:txBody>
      </p:sp>
      <p:sp>
        <p:nvSpPr>
          <p:cNvPr id="3891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38916"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7</a:t>
            </a:r>
            <a:endParaRPr lang="zh-CN" altLang="en-US" sz="1200" b="0">
              <a:latin typeface="幼圆" panose="02010509060101010101" pitchFamily="49" charset="-122"/>
              <a:ea typeface="幼圆" panose="02010509060101010101" pitchFamily="49" charset="-122"/>
            </a:endParaRPr>
          </a:p>
        </p:txBody>
      </p:sp>
      <p:sp>
        <p:nvSpPr>
          <p:cNvPr id="38917" name="Rectangle 85"/>
          <p:cNvSpPr>
            <a:spLocks noChangeArrowheads="1"/>
          </p:cNvSpPr>
          <p:nvPr/>
        </p:nvSpPr>
        <p:spPr bwMode="auto">
          <a:xfrm>
            <a:off x="2057400" y="2971800"/>
            <a:ext cx="609600" cy="6096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1</a:t>
            </a:r>
            <a:endParaRPr lang="en-US" altLang="zh-CN" sz="2400">
              <a:solidFill>
                <a:schemeClr val="tx2"/>
              </a:solidFill>
            </a:endParaRPr>
          </a:p>
        </p:txBody>
      </p:sp>
      <p:sp>
        <p:nvSpPr>
          <p:cNvPr id="38918" name="Rectangle 86"/>
          <p:cNvSpPr>
            <a:spLocks noChangeArrowheads="1"/>
          </p:cNvSpPr>
          <p:nvPr/>
        </p:nvSpPr>
        <p:spPr bwMode="auto">
          <a:xfrm>
            <a:off x="990600" y="2743200"/>
            <a:ext cx="990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输入</a:t>
            </a:r>
            <a:endParaRPr lang="zh-CN" altLang="zh-CN" sz="2400">
              <a:solidFill>
                <a:schemeClr val="tx2"/>
              </a:solidFill>
            </a:endParaRPr>
          </a:p>
        </p:txBody>
      </p:sp>
      <p:sp>
        <p:nvSpPr>
          <p:cNvPr id="38919" name="Line 87"/>
          <p:cNvSpPr>
            <a:spLocks noChangeShapeType="1"/>
          </p:cNvSpPr>
          <p:nvPr/>
        </p:nvSpPr>
        <p:spPr bwMode="auto">
          <a:xfrm>
            <a:off x="1143000" y="3276600"/>
            <a:ext cx="9144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0" name="Line 88"/>
          <p:cNvSpPr>
            <a:spLocks noChangeShapeType="1"/>
          </p:cNvSpPr>
          <p:nvPr/>
        </p:nvSpPr>
        <p:spPr bwMode="auto">
          <a:xfrm>
            <a:off x="7596188" y="3284538"/>
            <a:ext cx="8382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1" name="Rectangle 89"/>
          <p:cNvSpPr>
            <a:spLocks noChangeArrowheads="1"/>
          </p:cNvSpPr>
          <p:nvPr/>
        </p:nvSpPr>
        <p:spPr bwMode="auto">
          <a:xfrm>
            <a:off x="7524750" y="2781300"/>
            <a:ext cx="990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输出</a:t>
            </a:r>
            <a:endParaRPr lang="zh-CN" altLang="zh-CN" sz="2400">
              <a:solidFill>
                <a:schemeClr val="tx2"/>
              </a:solidFill>
            </a:endParaRPr>
          </a:p>
        </p:txBody>
      </p:sp>
      <p:sp>
        <p:nvSpPr>
          <p:cNvPr id="38922" name="Rectangle 90"/>
          <p:cNvSpPr>
            <a:spLocks noChangeArrowheads="1"/>
          </p:cNvSpPr>
          <p:nvPr/>
        </p:nvSpPr>
        <p:spPr bwMode="auto">
          <a:xfrm>
            <a:off x="2057400" y="35052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endParaRPr lang="en-US" altLang="zh-CN" sz="2400">
              <a:solidFill>
                <a:schemeClr val="tx2"/>
              </a:solidFill>
            </a:endParaRPr>
          </a:p>
        </p:txBody>
      </p:sp>
      <p:sp>
        <p:nvSpPr>
          <p:cNvPr id="38923" name="Line 91"/>
          <p:cNvSpPr>
            <a:spLocks noChangeShapeType="1"/>
          </p:cNvSpPr>
          <p:nvPr/>
        </p:nvSpPr>
        <p:spPr bwMode="auto">
          <a:xfrm>
            <a:off x="2667000" y="3276600"/>
            <a:ext cx="5334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4" name="Rectangle 92"/>
          <p:cNvSpPr>
            <a:spLocks noChangeArrowheads="1"/>
          </p:cNvSpPr>
          <p:nvPr/>
        </p:nvSpPr>
        <p:spPr bwMode="auto">
          <a:xfrm>
            <a:off x="3200400" y="2971800"/>
            <a:ext cx="609600" cy="6096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2-1</a:t>
            </a:r>
            <a:endParaRPr lang="en-US" altLang="zh-CN" sz="2400">
              <a:solidFill>
                <a:schemeClr val="tx2"/>
              </a:solidFill>
            </a:endParaRPr>
          </a:p>
        </p:txBody>
      </p:sp>
      <p:sp>
        <p:nvSpPr>
          <p:cNvPr id="38925" name="Rectangle 93"/>
          <p:cNvSpPr>
            <a:spLocks noChangeArrowheads="1"/>
          </p:cNvSpPr>
          <p:nvPr/>
        </p:nvSpPr>
        <p:spPr bwMode="auto">
          <a:xfrm>
            <a:off x="3200400" y="35052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endParaRPr lang="en-US" altLang="zh-CN" sz="2400">
              <a:solidFill>
                <a:schemeClr val="tx2"/>
              </a:solidFill>
            </a:endParaRPr>
          </a:p>
        </p:txBody>
      </p:sp>
      <p:sp>
        <p:nvSpPr>
          <p:cNvPr id="38926" name="Line 94"/>
          <p:cNvSpPr>
            <a:spLocks noChangeShapeType="1"/>
          </p:cNvSpPr>
          <p:nvPr/>
        </p:nvSpPr>
        <p:spPr bwMode="auto">
          <a:xfrm>
            <a:off x="3810000" y="3276600"/>
            <a:ext cx="2286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7" name="Rectangle 95"/>
          <p:cNvSpPr>
            <a:spLocks noChangeArrowheads="1"/>
          </p:cNvSpPr>
          <p:nvPr/>
        </p:nvSpPr>
        <p:spPr bwMode="auto">
          <a:xfrm>
            <a:off x="4038600" y="2971800"/>
            <a:ext cx="609600" cy="6096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2-2</a:t>
            </a:r>
            <a:endParaRPr lang="en-US" altLang="zh-CN" sz="2400">
              <a:solidFill>
                <a:schemeClr val="tx2"/>
              </a:solidFill>
            </a:endParaRPr>
          </a:p>
        </p:txBody>
      </p:sp>
      <p:sp>
        <p:nvSpPr>
          <p:cNvPr id="38928" name="Rectangle 96"/>
          <p:cNvSpPr>
            <a:spLocks noChangeArrowheads="1"/>
          </p:cNvSpPr>
          <p:nvPr/>
        </p:nvSpPr>
        <p:spPr bwMode="auto">
          <a:xfrm>
            <a:off x="4038600" y="35052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endParaRPr lang="en-US" altLang="zh-CN" sz="2400">
              <a:solidFill>
                <a:schemeClr val="tx2"/>
              </a:solidFill>
            </a:endParaRPr>
          </a:p>
        </p:txBody>
      </p:sp>
      <p:sp>
        <p:nvSpPr>
          <p:cNvPr id="38929" name="Line 97"/>
          <p:cNvSpPr>
            <a:spLocks noChangeShapeType="1"/>
          </p:cNvSpPr>
          <p:nvPr/>
        </p:nvSpPr>
        <p:spPr bwMode="auto">
          <a:xfrm>
            <a:off x="4648200" y="3276600"/>
            <a:ext cx="2286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30" name="Rectangle 98"/>
          <p:cNvSpPr>
            <a:spLocks noChangeArrowheads="1"/>
          </p:cNvSpPr>
          <p:nvPr/>
        </p:nvSpPr>
        <p:spPr bwMode="auto">
          <a:xfrm>
            <a:off x="4876800" y="2971800"/>
            <a:ext cx="609600" cy="6096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2-3</a:t>
            </a:r>
            <a:endParaRPr lang="en-US" altLang="zh-CN" sz="2400">
              <a:solidFill>
                <a:schemeClr val="tx2"/>
              </a:solidFill>
            </a:endParaRPr>
          </a:p>
        </p:txBody>
      </p:sp>
      <p:sp>
        <p:nvSpPr>
          <p:cNvPr id="38931" name="Rectangle 99"/>
          <p:cNvSpPr>
            <a:spLocks noChangeArrowheads="1"/>
          </p:cNvSpPr>
          <p:nvPr/>
        </p:nvSpPr>
        <p:spPr bwMode="auto">
          <a:xfrm>
            <a:off x="4876800" y="35052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endParaRPr lang="en-US" altLang="zh-CN" sz="2400">
              <a:solidFill>
                <a:schemeClr val="tx2"/>
              </a:solidFill>
            </a:endParaRPr>
          </a:p>
        </p:txBody>
      </p:sp>
      <p:sp>
        <p:nvSpPr>
          <p:cNvPr id="38932" name="Line 100"/>
          <p:cNvSpPr>
            <a:spLocks noChangeShapeType="1"/>
          </p:cNvSpPr>
          <p:nvPr/>
        </p:nvSpPr>
        <p:spPr bwMode="auto">
          <a:xfrm>
            <a:off x="5486400" y="3276600"/>
            <a:ext cx="5334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33" name="Rectangle 101"/>
          <p:cNvSpPr>
            <a:spLocks noChangeArrowheads="1"/>
          </p:cNvSpPr>
          <p:nvPr/>
        </p:nvSpPr>
        <p:spPr bwMode="auto">
          <a:xfrm>
            <a:off x="6019800" y="2971800"/>
            <a:ext cx="609600" cy="6096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3</a:t>
            </a:r>
            <a:endParaRPr lang="en-US" altLang="zh-CN" sz="2400">
              <a:solidFill>
                <a:schemeClr val="tx2"/>
              </a:solidFill>
            </a:endParaRPr>
          </a:p>
        </p:txBody>
      </p:sp>
      <p:sp>
        <p:nvSpPr>
          <p:cNvPr id="38934" name="Rectangle 102"/>
          <p:cNvSpPr>
            <a:spLocks noChangeArrowheads="1"/>
          </p:cNvSpPr>
          <p:nvPr/>
        </p:nvSpPr>
        <p:spPr bwMode="auto">
          <a:xfrm>
            <a:off x="6019800" y="35052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endParaRPr lang="en-US" altLang="zh-CN" sz="2400">
              <a:solidFill>
                <a:schemeClr val="tx2"/>
              </a:solidFill>
            </a:endParaRPr>
          </a:p>
        </p:txBody>
      </p:sp>
      <p:sp>
        <p:nvSpPr>
          <p:cNvPr id="38935" name="Line 103"/>
          <p:cNvSpPr>
            <a:spLocks noChangeShapeType="1"/>
          </p:cNvSpPr>
          <p:nvPr/>
        </p:nvSpPr>
        <p:spPr bwMode="auto">
          <a:xfrm>
            <a:off x="6629400" y="3276600"/>
            <a:ext cx="3810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36" name="Rectangle 104"/>
          <p:cNvSpPr>
            <a:spLocks noChangeArrowheads="1"/>
          </p:cNvSpPr>
          <p:nvPr/>
        </p:nvSpPr>
        <p:spPr bwMode="auto">
          <a:xfrm>
            <a:off x="7010400" y="2971800"/>
            <a:ext cx="609600" cy="6096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4</a:t>
            </a:r>
            <a:endParaRPr lang="en-US" altLang="zh-CN" sz="2400">
              <a:solidFill>
                <a:schemeClr val="tx2"/>
              </a:solidFill>
            </a:endParaRPr>
          </a:p>
        </p:txBody>
      </p:sp>
      <p:sp>
        <p:nvSpPr>
          <p:cNvPr id="38937" name="Rectangle 105"/>
          <p:cNvSpPr>
            <a:spLocks noChangeArrowheads="1"/>
          </p:cNvSpPr>
          <p:nvPr/>
        </p:nvSpPr>
        <p:spPr bwMode="auto">
          <a:xfrm>
            <a:off x="7010400" y="35052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endParaRPr lang="en-US" altLang="zh-CN" sz="2400">
              <a:solidFill>
                <a:schemeClr val="tx2"/>
              </a:solidFill>
            </a:endParaRPr>
          </a:p>
        </p:txBody>
      </p:sp>
      <p:sp>
        <p:nvSpPr>
          <p:cNvPr id="38938" name="Rectangle 106"/>
          <p:cNvSpPr>
            <a:spLocks noChangeArrowheads="1"/>
          </p:cNvSpPr>
          <p:nvPr/>
        </p:nvSpPr>
        <p:spPr bwMode="auto">
          <a:xfrm>
            <a:off x="2971800" y="2362200"/>
            <a:ext cx="2743200" cy="1676400"/>
          </a:xfrm>
          <a:prstGeom prst="rect">
            <a:avLst/>
          </a:prstGeom>
          <a:noFill/>
          <a:ln w="28575">
            <a:solidFill>
              <a:schemeClr val="tx2"/>
            </a:solidFill>
            <a:prstDash val="lgDash"/>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8939" name="Rectangle 107"/>
          <p:cNvSpPr>
            <a:spLocks noChangeArrowheads="1"/>
          </p:cNvSpPr>
          <p:nvPr/>
        </p:nvSpPr>
        <p:spPr bwMode="auto">
          <a:xfrm>
            <a:off x="3657600" y="2362200"/>
            <a:ext cx="1295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S</a:t>
            </a:r>
            <a:r>
              <a:rPr lang="zh-CN" altLang="zh-CN" sz="2400" baseline="-25000">
                <a:solidFill>
                  <a:schemeClr val="tx2"/>
                </a:solidFill>
                <a:sym typeface="Symbol" panose="05050102010706020507" pitchFamily="18" charset="2"/>
              </a:rPr>
              <a:t>2</a:t>
            </a:r>
            <a:r>
              <a:rPr lang="zh-CN" altLang="zh-CN" sz="2400">
                <a:solidFill>
                  <a:schemeClr val="tx2"/>
                </a:solidFill>
                <a:sym typeface="Symbol" panose="05050102010706020507" pitchFamily="18" charset="2"/>
              </a:rPr>
              <a:t>(3</a:t>
            </a:r>
            <a:r>
              <a:rPr lang="en-US" altLang="zh-CN" sz="2400">
                <a:solidFill>
                  <a:schemeClr val="tx2"/>
                </a:solidFill>
              </a:rPr>
              <a:t>t)</a:t>
            </a:r>
            <a:endParaRPr lang="en-US" altLang="zh-CN" sz="2400">
              <a:solidFill>
                <a:schemeClr val="tx2"/>
              </a:solidFill>
            </a:endParaRPr>
          </a:p>
        </p:txBody>
      </p:sp>
      <p:grpSp>
        <p:nvGrpSpPr>
          <p:cNvPr id="38940" name="Group 108"/>
          <p:cNvGrpSpPr/>
          <p:nvPr/>
        </p:nvGrpSpPr>
        <p:grpSpPr bwMode="auto">
          <a:xfrm>
            <a:off x="990600" y="4343400"/>
            <a:ext cx="7620000" cy="2133600"/>
            <a:chOff x="288" y="2304"/>
            <a:chExt cx="5184" cy="1584"/>
          </a:xfrm>
        </p:grpSpPr>
        <p:sp>
          <p:nvSpPr>
            <p:cNvPr id="38943" name="Rectangle 109"/>
            <p:cNvSpPr>
              <a:spLocks noChangeArrowheads="1"/>
            </p:cNvSpPr>
            <p:nvPr/>
          </p:nvSpPr>
          <p:spPr bwMode="auto">
            <a:xfrm>
              <a:off x="960" y="2736"/>
              <a:ext cx="768"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1</a:t>
              </a:r>
              <a:endParaRPr lang="en-US" altLang="zh-CN" sz="2400">
                <a:solidFill>
                  <a:schemeClr val="tx2"/>
                </a:solidFill>
              </a:endParaRPr>
            </a:p>
          </p:txBody>
        </p:sp>
        <p:sp>
          <p:nvSpPr>
            <p:cNvPr id="38944" name="Rectangle 110"/>
            <p:cNvSpPr>
              <a:spLocks noChangeArrowheads="1"/>
            </p:cNvSpPr>
            <p:nvPr/>
          </p:nvSpPr>
          <p:spPr bwMode="auto">
            <a:xfrm>
              <a:off x="288" y="259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输入</a:t>
              </a:r>
              <a:endParaRPr lang="zh-CN" altLang="zh-CN" sz="2400">
                <a:solidFill>
                  <a:schemeClr val="tx2"/>
                </a:solidFill>
              </a:endParaRPr>
            </a:p>
          </p:txBody>
        </p:sp>
        <p:sp>
          <p:nvSpPr>
            <p:cNvPr id="38945" name="Line 111"/>
            <p:cNvSpPr>
              <a:spLocks noChangeShapeType="1"/>
            </p:cNvSpPr>
            <p:nvPr/>
          </p:nvSpPr>
          <p:spPr bwMode="auto">
            <a:xfrm>
              <a:off x="384" y="2928"/>
              <a:ext cx="576"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46" name="Line 112"/>
            <p:cNvSpPr>
              <a:spLocks noChangeShapeType="1"/>
            </p:cNvSpPr>
            <p:nvPr/>
          </p:nvSpPr>
          <p:spPr bwMode="auto">
            <a:xfrm>
              <a:off x="4896" y="2928"/>
              <a:ext cx="52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47" name="Rectangle 113"/>
            <p:cNvSpPr>
              <a:spLocks noChangeArrowheads="1"/>
            </p:cNvSpPr>
            <p:nvPr/>
          </p:nvSpPr>
          <p:spPr bwMode="auto">
            <a:xfrm>
              <a:off x="4848" y="259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输出</a:t>
              </a:r>
              <a:endParaRPr lang="zh-CN" altLang="zh-CN" sz="2400">
                <a:solidFill>
                  <a:schemeClr val="tx2"/>
                </a:solidFill>
              </a:endParaRPr>
            </a:p>
          </p:txBody>
        </p:sp>
        <p:sp>
          <p:nvSpPr>
            <p:cNvPr id="38948" name="Rectangle 114"/>
            <p:cNvSpPr>
              <a:spLocks noChangeArrowheads="1"/>
            </p:cNvSpPr>
            <p:nvPr/>
          </p:nvSpPr>
          <p:spPr bwMode="auto">
            <a:xfrm>
              <a:off x="912" y="3072"/>
              <a:ext cx="81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r>
                <a:rPr lang="en-US" altLang="zh-CN" sz="2400" baseline="-25000">
                  <a:solidFill>
                    <a:schemeClr val="tx2"/>
                  </a:solidFill>
                </a:rPr>
                <a:t>1</a:t>
              </a:r>
              <a:r>
                <a:rPr lang="en-US" altLang="zh-CN" sz="2400">
                  <a:solidFill>
                    <a:schemeClr val="tx2"/>
                  </a:solidFill>
                </a:rPr>
                <a:t>=</a:t>
              </a:r>
              <a:r>
                <a:rPr lang="zh-CN" altLang="zh-CN" sz="2400">
                  <a:solidFill>
                    <a:schemeClr val="tx2"/>
                  </a:solidFill>
                  <a:sym typeface="Symbol" panose="05050102010706020507" pitchFamily="18" charset="2"/>
                </a:rPr>
                <a:t></a:t>
              </a:r>
              <a:r>
                <a:rPr lang="en-US" altLang="zh-CN" sz="2400">
                  <a:solidFill>
                    <a:schemeClr val="tx2"/>
                  </a:solidFill>
                </a:rPr>
                <a:t>t</a:t>
              </a:r>
              <a:endParaRPr lang="en-US" altLang="zh-CN" sz="2400">
                <a:solidFill>
                  <a:schemeClr val="tx2"/>
                </a:solidFill>
              </a:endParaRPr>
            </a:p>
          </p:txBody>
        </p:sp>
        <p:sp>
          <p:nvSpPr>
            <p:cNvPr id="38949" name="Line 115"/>
            <p:cNvSpPr>
              <a:spLocks noChangeShapeType="1"/>
            </p:cNvSpPr>
            <p:nvPr/>
          </p:nvSpPr>
          <p:spPr bwMode="auto">
            <a:xfrm>
              <a:off x="1728" y="2928"/>
              <a:ext cx="336"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50" name="Rectangle 116"/>
            <p:cNvSpPr>
              <a:spLocks noChangeArrowheads="1"/>
            </p:cNvSpPr>
            <p:nvPr/>
          </p:nvSpPr>
          <p:spPr bwMode="auto">
            <a:xfrm>
              <a:off x="2064" y="2304"/>
              <a:ext cx="768"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2-3</a:t>
              </a:r>
              <a:endParaRPr lang="en-US" altLang="zh-CN" sz="2400">
                <a:solidFill>
                  <a:schemeClr val="tx2"/>
                </a:solidFill>
              </a:endParaRPr>
            </a:p>
          </p:txBody>
        </p:sp>
        <p:sp>
          <p:nvSpPr>
            <p:cNvPr id="38951" name="Rectangle 117"/>
            <p:cNvSpPr>
              <a:spLocks noChangeArrowheads="1"/>
            </p:cNvSpPr>
            <p:nvPr/>
          </p:nvSpPr>
          <p:spPr bwMode="auto">
            <a:xfrm>
              <a:off x="2064" y="2736"/>
              <a:ext cx="768"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2-2</a:t>
              </a:r>
              <a:endParaRPr lang="en-US" altLang="zh-CN" sz="2400">
                <a:solidFill>
                  <a:schemeClr val="tx2"/>
                </a:solidFill>
              </a:endParaRPr>
            </a:p>
          </p:txBody>
        </p:sp>
        <p:sp>
          <p:nvSpPr>
            <p:cNvPr id="38952" name="Rectangle 118"/>
            <p:cNvSpPr>
              <a:spLocks noChangeArrowheads="1"/>
            </p:cNvSpPr>
            <p:nvPr/>
          </p:nvSpPr>
          <p:spPr bwMode="auto">
            <a:xfrm>
              <a:off x="2064" y="3168"/>
              <a:ext cx="768"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2-1</a:t>
              </a:r>
              <a:endParaRPr lang="en-US" altLang="zh-CN" sz="2400">
                <a:solidFill>
                  <a:schemeClr val="tx2"/>
                </a:solidFill>
              </a:endParaRPr>
            </a:p>
          </p:txBody>
        </p:sp>
        <p:sp>
          <p:nvSpPr>
            <p:cNvPr id="38953" name="Line 119"/>
            <p:cNvSpPr>
              <a:spLocks noChangeShapeType="1"/>
            </p:cNvSpPr>
            <p:nvPr/>
          </p:nvSpPr>
          <p:spPr bwMode="auto">
            <a:xfrm>
              <a:off x="2832" y="2928"/>
              <a:ext cx="336"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54" name="Rectangle 120"/>
            <p:cNvSpPr>
              <a:spLocks noChangeArrowheads="1"/>
            </p:cNvSpPr>
            <p:nvPr/>
          </p:nvSpPr>
          <p:spPr bwMode="auto">
            <a:xfrm>
              <a:off x="3168" y="2736"/>
              <a:ext cx="768"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3</a:t>
              </a:r>
              <a:endParaRPr lang="en-US" altLang="zh-CN" sz="2400">
                <a:solidFill>
                  <a:schemeClr val="tx2"/>
                </a:solidFill>
              </a:endParaRPr>
            </a:p>
          </p:txBody>
        </p:sp>
        <p:sp>
          <p:nvSpPr>
            <p:cNvPr id="38955" name="Line 121"/>
            <p:cNvSpPr>
              <a:spLocks noChangeShapeType="1"/>
            </p:cNvSpPr>
            <p:nvPr/>
          </p:nvSpPr>
          <p:spPr bwMode="auto">
            <a:xfrm>
              <a:off x="3936" y="2928"/>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56" name="Rectangle 122"/>
            <p:cNvSpPr>
              <a:spLocks noChangeArrowheads="1"/>
            </p:cNvSpPr>
            <p:nvPr/>
          </p:nvSpPr>
          <p:spPr bwMode="auto">
            <a:xfrm>
              <a:off x="4128" y="2736"/>
              <a:ext cx="768" cy="384"/>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4</a:t>
              </a:r>
              <a:endParaRPr lang="en-US" altLang="zh-CN" sz="2400">
                <a:solidFill>
                  <a:schemeClr val="tx2"/>
                </a:solidFill>
              </a:endParaRPr>
            </a:p>
          </p:txBody>
        </p:sp>
        <p:sp>
          <p:nvSpPr>
            <p:cNvPr id="38957" name="Rectangle 123"/>
            <p:cNvSpPr>
              <a:spLocks noChangeArrowheads="1"/>
            </p:cNvSpPr>
            <p:nvPr/>
          </p:nvSpPr>
          <p:spPr bwMode="auto">
            <a:xfrm>
              <a:off x="3120" y="3072"/>
              <a:ext cx="81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r>
                <a:rPr lang="en-US" altLang="zh-CN" sz="2400" baseline="-25000">
                  <a:solidFill>
                    <a:schemeClr val="tx2"/>
                  </a:solidFill>
                </a:rPr>
                <a:t>3</a:t>
              </a:r>
              <a:r>
                <a:rPr lang="en-US" altLang="zh-CN" sz="2400">
                  <a:solidFill>
                    <a:schemeClr val="tx2"/>
                  </a:solidFill>
                </a:rPr>
                <a:t>=</a:t>
              </a:r>
              <a:r>
                <a:rPr lang="zh-CN" altLang="zh-CN" sz="2400">
                  <a:solidFill>
                    <a:schemeClr val="tx2"/>
                  </a:solidFill>
                  <a:sym typeface="Symbol" panose="05050102010706020507" pitchFamily="18" charset="2"/>
                </a:rPr>
                <a:t></a:t>
              </a:r>
              <a:r>
                <a:rPr lang="en-US" altLang="zh-CN" sz="2400">
                  <a:solidFill>
                    <a:schemeClr val="tx2"/>
                  </a:solidFill>
                </a:rPr>
                <a:t>t</a:t>
              </a:r>
              <a:endParaRPr lang="en-US" altLang="zh-CN" sz="2400">
                <a:solidFill>
                  <a:schemeClr val="tx2"/>
                </a:solidFill>
              </a:endParaRPr>
            </a:p>
          </p:txBody>
        </p:sp>
        <p:sp>
          <p:nvSpPr>
            <p:cNvPr id="38958" name="Rectangle 124"/>
            <p:cNvSpPr>
              <a:spLocks noChangeArrowheads="1"/>
            </p:cNvSpPr>
            <p:nvPr/>
          </p:nvSpPr>
          <p:spPr bwMode="auto">
            <a:xfrm>
              <a:off x="4080" y="3072"/>
              <a:ext cx="81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r>
                <a:rPr lang="en-US" altLang="zh-CN" sz="2400" baseline="-25000">
                  <a:solidFill>
                    <a:schemeClr val="tx2"/>
                  </a:solidFill>
                </a:rPr>
                <a:t>4</a:t>
              </a:r>
              <a:r>
                <a:rPr lang="en-US" altLang="zh-CN" sz="2400">
                  <a:solidFill>
                    <a:schemeClr val="tx2"/>
                  </a:solidFill>
                </a:rPr>
                <a:t>=</a:t>
              </a:r>
              <a:r>
                <a:rPr lang="zh-CN" altLang="zh-CN" sz="2400">
                  <a:solidFill>
                    <a:schemeClr val="tx2"/>
                  </a:solidFill>
                  <a:sym typeface="Symbol" panose="05050102010706020507" pitchFamily="18" charset="2"/>
                </a:rPr>
                <a:t></a:t>
              </a:r>
              <a:r>
                <a:rPr lang="en-US" altLang="zh-CN" sz="2400">
                  <a:solidFill>
                    <a:schemeClr val="tx2"/>
                  </a:solidFill>
                </a:rPr>
                <a:t>t</a:t>
              </a:r>
              <a:endParaRPr lang="en-US" altLang="zh-CN" sz="2400">
                <a:solidFill>
                  <a:schemeClr val="tx2"/>
                </a:solidFill>
              </a:endParaRPr>
            </a:p>
          </p:txBody>
        </p:sp>
        <p:sp>
          <p:nvSpPr>
            <p:cNvPr id="38959" name="Line 125"/>
            <p:cNvSpPr>
              <a:spLocks noChangeShapeType="1"/>
            </p:cNvSpPr>
            <p:nvPr/>
          </p:nvSpPr>
          <p:spPr bwMode="auto">
            <a:xfrm>
              <a:off x="1872" y="2496"/>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0" name="Line 126"/>
            <p:cNvSpPr>
              <a:spLocks noChangeShapeType="1"/>
            </p:cNvSpPr>
            <p:nvPr/>
          </p:nvSpPr>
          <p:spPr bwMode="auto">
            <a:xfrm>
              <a:off x="1872" y="2496"/>
              <a:ext cx="0" cy="28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1" name="Line 127"/>
            <p:cNvSpPr>
              <a:spLocks noChangeShapeType="1"/>
            </p:cNvSpPr>
            <p:nvPr/>
          </p:nvSpPr>
          <p:spPr bwMode="auto">
            <a:xfrm>
              <a:off x="1728" y="2784"/>
              <a:ext cx="144"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2" name="Line 128"/>
            <p:cNvSpPr>
              <a:spLocks noChangeShapeType="1"/>
            </p:cNvSpPr>
            <p:nvPr/>
          </p:nvSpPr>
          <p:spPr bwMode="auto">
            <a:xfrm>
              <a:off x="1872" y="3360"/>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3" name="Line 129"/>
            <p:cNvSpPr>
              <a:spLocks noChangeShapeType="1"/>
            </p:cNvSpPr>
            <p:nvPr/>
          </p:nvSpPr>
          <p:spPr bwMode="auto">
            <a:xfrm>
              <a:off x="1872" y="3072"/>
              <a:ext cx="0" cy="28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4" name="Line 130"/>
            <p:cNvSpPr>
              <a:spLocks noChangeShapeType="1"/>
            </p:cNvSpPr>
            <p:nvPr/>
          </p:nvSpPr>
          <p:spPr bwMode="auto">
            <a:xfrm>
              <a:off x="1728" y="3072"/>
              <a:ext cx="144"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5" name="Line 131"/>
            <p:cNvSpPr>
              <a:spLocks noChangeShapeType="1"/>
            </p:cNvSpPr>
            <p:nvPr/>
          </p:nvSpPr>
          <p:spPr bwMode="auto">
            <a:xfrm>
              <a:off x="2976" y="2784"/>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6" name="Line 132"/>
            <p:cNvSpPr>
              <a:spLocks noChangeShapeType="1"/>
            </p:cNvSpPr>
            <p:nvPr/>
          </p:nvSpPr>
          <p:spPr bwMode="auto">
            <a:xfrm>
              <a:off x="2976" y="2496"/>
              <a:ext cx="0" cy="28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7" name="Line 133"/>
            <p:cNvSpPr>
              <a:spLocks noChangeShapeType="1"/>
            </p:cNvSpPr>
            <p:nvPr/>
          </p:nvSpPr>
          <p:spPr bwMode="auto">
            <a:xfrm>
              <a:off x="2832" y="2496"/>
              <a:ext cx="144"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8" name="Line 134"/>
            <p:cNvSpPr>
              <a:spLocks noChangeShapeType="1"/>
            </p:cNvSpPr>
            <p:nvPr/>
          </p:nvSpPr>
          <p:spPr bwMode="auto">
            <a:xfrm>
              <a:off x="2976" y="3072"/>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9" name="Line 135"/>
            <p:cNvSpPr>
              <a:spLocks noChangeShapeType="1"/>
            </p:cNvSpPr>
            <p:nvPr/>
          </p:nvSpPr>
          <p:spPr bwMode="auto">
            <a:xfrm>
              <a:off x="2976" y="3072"/>
              <a:ext cx="0" cy="28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70" name="Line 136"/>
            <p:cNvSpPr>
              <a:spLocks noChangeShapeType="1"/>
            </p:cNvSpPr>
            <p:nvPr/>
          </p:nvSpPr>
          <p:spPr bwMode="auto">
            <a:xfrm>
              <a:off x="2832" y="3360"/>
              <a:ext cx="144"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71" name="Rectangle 137"/>
            <p:cNvSpPr>
              <a:spLocks noChangeArrowheads="1"/>
            </p:cNvSpPr>
            <p:nvPr/>
          </p:nvSpPr>
          <p:spPr bwMode="auto">
            <a:xfrm>
              <a:off x="1968" y="3552"/>
              <a:ext cx="912"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a:t>
              </a:r>
              <a:r>
                <a:rPr lang="en-US" altLang="zh-CN" sz="2400">
                  <a:solidFill>
                    <a:schemeClr val="tx2"/>
                  </a:solidFill>
                </a:rPr>
                <a:t>t</a:t>
              </a:r>
              <a:r>
                <a:rPr lang="en-US" altLang="zh-CN" sz="2400" baseline="-25000">
                  <a:solidFill>
                    <a:schemeClr val="tx2"/>
                  </a:solidFill>
                </a:rPr>
                <a:t>2</a:t>
              </a:r>
              <a:r>
                <a:rPr lang="en-US" altLang="zh-CN" sz="2400">
                  <a:solidFill>
                    <a:schemeClr val="tx2"/>
                  </a:solidFill>
                </a:rPr>
                <a:t>=3</a:t>
              </a:r>
              <a:r>
                <a:rPr lang="zh-CN" altLang="zh-CN" sz="2400">
                  <a:solidFill>
                    <a:schemeClr val="tx2"/>
                  </a:solidFill>
                  <a:sym typeface="Symbol" panose="05050102010706020507" pitchFamily="18" charset="2"/>
                </a:rPr>
                <a:t></a:t>
              </a:r>
              <a:r>
                <a:rPr lang="en-US" altLang="zh-CN" sz="2400">
                  <a:solidFill>
                    <a:schemeClr val="tx2"/>
                  </a:solidFill>
                </a:rPr>
                <a:t>t</a:t>
              </a:r>
              <a:endParaRPr lang="en-US" altLang="zh-CN" sz="2400">
                <a:solidFill>
                  <a:schemeClr val="tx2"/>
                </a:solidFill>
              </a:endParaRPr>
            </a:p>
          </p:txBody>
        </p:sp>
      </p:grpSp>
      <p:sp>
        <p:nvSpPr>
          <p:cNvPr id="608394" name="Rectangle 138"/>
          <p:cNvSpPr>
            <a:spLocks noChangeArrowheads="1"/>
          </p:cNvSpPr>
          <p:nvPr/>
        </p:nvSpPr>
        <p:spPr bwMode="auto">
          <a:xfrm>
            <a:off x="990600" y="2057400"/>
            <a:ext cx="1676400" cy="533400"/>
          </a:xfrm>
          <a:prstGeom prst="rect">
            <a:avLst/>
          </a:prstGeom>
          <a:solidFill>
            <a:srgbClr val="99FF66"/>
          </a:solidFill>
          <a:ln w="28575">
            <a:solidFill>
              <a:schemeClr val="tx1"/>
            </a:solidFill>
            <a:miter lim="800000"/>
          </a:ln>
          <a:effectLst>
            <a:outerShdw dist="107763" dir="2700000" algn="ctr" rotWithShape="0">
              <a:schemeClr val="bg2"/>
            </a:outerShdw>
          </a:effectLst>
        </p:spPr>
        <p:txBody>
          <a:bodyPr wrap="none" lIns="72000" tIns="36000" rIns="36000" bIns="0" anchor="ctr"/>
          <a:lstStyle/>
          <a:p>
            <a:pPr algn="ctr">
              <a:lnSpc>
                <a:spcPct val="80000"/>
              </a:lnSpc>
              <a:spcBef>
                <a:spcPct val="0"/>
              </a:spcBef>
              <a:buClrTx/>
              <a:buFontTx/>
              <a:buNone/>
              <a:defRPr/>
            </a:pPr>
            <a:r>
              <a:rPr lang="zh-CN" altLang="zh-CN" sz="2800" b="1">
                <a:solidFill>
                  <a:srgbClr val="FF0000"/>
                </a:solidFill>
                <a:effectLst>
                  <a:outerShdw blurRad="38100" dist="38100" dir="2700000" algn="tl">
                    <a:srgbClr val="000000"/>
                  </a:outerShdw>
                </a:effectLst>
                <a:latin typeface="Arial" panose="020B0604020202020204" pitchFamily="34" charset="0"/>
                <a:ea typeface="楷体_GB2312" pitchFamily="49" charset="-122"/>
                <a:sym typeface="Symbol" panose="05050102010706020507" pitchFamily="18" charset="2"/>
              </a:rPr>
              <a:t>瓶颈细分</a:t>
            </a:r>
            <a:endParaRPr lang="zh-CN" altLang="zh-CN" sz="2800" b="1">
              <a:solidFill>
                <a:srgbClr val="FF0000"/>
              </a:solidFill>
              <a:effectLst>
                <a:outerShdw blurRad="38100" dist="38100" dir="2700000" algn="tl">
                  <a:srgbClr val="000000"/>
                </a:outerShdw>
              </a:effectLst>
              <a:latin typeface="Arial" panose="020B0604020202020204" pitchFamily="34" charset="0"/>
              <a:ea typeface="楷体_GB2312" pitchFamily="49" charset="-122"/>
            </a:endParaRPr>
          </a:p>
        </p:txBody>
      </p:sp>
      <p:sp>
        <p:nvSpPr>
          <p:cNvPr id="608395" name="Rectangle 139"/>
          <p:cNvSpPr>
            <a:spLocks noChangeArrowheads="1"/>
          </p:cNvSpPr>
          <p:nvPr/>
        </p:nvSpPr>
        <p:spPr bwMode="auto">
          <a:xfrm>
            <a:off x="990600" y="4114800"/>
            <a:ext cx="1676400" cy="533400"/>
          </a:xfrm>
          <a:prstGeom prst="rect">
            <a:avLst/>
          </a:prstGeom>
          <a:solidFill>
            <a:srgbClr val="99FF66"/>
          </a:solidFill>
          <a:ln w="28575">
            <a:solidFill>
              <a:schemeClr val="tx1"/>
            </a:solidFill>
            <a:miter lim="800000"/>
          </a:ln>
          <a:effectLst>
            <a:outerShdw dist="107763" dir="2700000" algn="ctr" rotWithShape="0">
              <a:schemeClr val="bg2"/>
            </a:outerShdw>
          </a:effectLst>
        </p:spPr>
        <p:txBody>
          <a:bodyPr wrap="none" lIns="72000" tIns="36000" rIns="36000" bIns="0" anchor="ctr"/>
          <a:lstStyle/>
          <a:p>
            <a:pPr algn="ctr">
              <a:lnSpc>
                <a:spcPct val="80000"/>
              </a:lnSpc>
              <a:spcBef>
                <a:spcPct val="0"/>
              </a:spcBef>
              <a:buClrTx/>
              <a:buFontTx/>
              <a:buNone/>
              <a:defRPr/>
            </a:pPr>
            <a:r>
              <a:rPr lang="zh-CN" altLang="zh-CN" sz="2800" b="1">
                <a:solidFill>
                  <a:srgbClr val="FF0000"/>
                </a:solidFill>
                <a:effectLst>
                  <a:outerShdw blurRad="38100" dist="38100" dir="2700000" algn="tl">
                    <a:srgbClr val="000000"/>
                  </a:outerShdw>
                </a:effectLst>
                <a:latin typeface="Arial" panose="020B0604020202020204" pitchFamily="34" charset="0"/>
                <a:ea typeface="楷体_GB2312" pitchFamily="49" charset="-122"/>
                <a:sym typeface="Symbol" panose="05050102010706020507" pitchFamily="18" charset="2"/>
              </a:rPr>
              <a:t>多套瓶颈</a:t>
            </a:r>
            <a:endParaRPr lang="zh-CN" altLang="zh-CN" sz="2800" b="1">
              <a:solidFill>
                <a:srgbClr val="FF0000"/>
              </a:solidFill>
              <a:effectLst>
                <a:outerShdw blurRad="38100" dist="38100" dir="2700000" algn="tl">
                  <a:srgbClr val="000000"/>
                </a:outerShdw>
              </a:effectLst>
              <a:latin typeface="Arial" panose="020B0604020202020204" pitchFamily="34" charset="0"/>
              <a:ea typeface="楷体_GB2312"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2"/>
          <p:cNvSpPr>
            <a:spLocks noGrp="1" noChangeArrowheads="1"/>
          </p:cNvSpPr>
          <p:nvPr>
            <p:ph type="title"/>
          </p:nvPr>
        </p:nvSpPr>
        <p:spPr/>
        <p:txBody>
          <a:bodyPr/>
          <a:lstStyle/>
          <a:p>
            <a:pPr eaLnBrk="1" hangingPunct="1">
              <a:defRPr/>
            </a:pPr>
            <a:r>
              <a:rPr lang="zh-CN" altLang="en-US" smtClean="0"/>
              <a:t>举  例-</a:t>
            </a:r>
            <a:r>
              <a:rPr lang="zh-CN" altLang="en-US" sz="3600" smtClean="0"/>
              <a:t>多套瓶颈时空图</a:t>
            </a:r>
            <a:endParaRPr lang="zh-CN" altLang="en-US" sz="3600" smtClean="0"/>
          </a:p>
        </p:txBody>
      </p:sp>
      <p:sp>
        <p:nvSpPr>
          <p:cNvPr id="3993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39940"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8</a:t>
            </a:r>
            <a:endParaRPr lang="zh-CN" altLang="en-US" sz="1200" b="0">
              <a:latin typeface="幼圆" panose="02010509060101010101" pitchFamily="49" charset="-122"/>
              <a:ea typeface="幼圆" panose="02010509060101010101" pitchFamily="49" charset="-122"/>
            </a:endParaRPr>
          </a:p>
        </p:txBody>
      </p:sp>
      <p:sp>
        <p:nvSpPr>
          <p:cNvPr id="39941" name="Rectangle 61"/>
          <p:cNvSpPr>
            <a:spLocks noChangeArrowheads="1"/>
          </p:cNvSpPr>
          <p:nvPr/>
        </p:nvSpPr>
        <p:spPr bwMode="auto">
          <a:xfrm>
            <a:off x="1568450" y="5294313"/>
            <a:ext cx="436563" cy="515937"/>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1</a:t>
            </a:r>
            <a:endParaRPr lang="zh-CN" altLang="zh-CN" sz="2400">
              <a:solidFill>
                <a:schemeClr val="tx2"/>
              </a:solidFill>
              <a:latin typeface="Times New Roman" panose="02020603050405020304" pitchFamily="18" charset="0"/>
            </a:endParaRPr>
          </a:p>
        </p:txBody>
      </p:sp>
      <p:sp>
        <p:nvSpPr>
          <p:cNvPr id="39942" name="Line 62"/>
          <p:cNvSpPr>
            <a:spLocks noChangeShapeType="1"/>
          </p:cNvSpPr>
          <p:nvPr/>
        </p:nvSpPr>
        <p:spPr bwMode="auto">
          <a:xfrm flipV="1">
            <a:off x="1568450" y="2205038"/>
            <a:ext cx="0" cy="3605212"/>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43" name="Rectangle 63"/>
          <p:cNvSpPr>
            <a:spLocks noChangeArrowheads="1"/>
          </p:cNvSpPr>
          <p:nvPr/>
        </p:nvSpPr>
        <p:spPr bwMode="auto">
          <a:xfrm>
            <a:off x="7818438" y="5810250"/>
            <a:ext cx="798512"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sym typeface="Symbol" panose="05050102010706020507" pitchFamily="18" charset="2"/>
              </a:rPr>
              <a:t>时间</a:t>
            </a:r>
            <a:endParaRPr lang="zh-CN" altLang="zh-CN" sz="2400">
              <a:solidFill>
                <a:schemeClr val="tx2"/>
              </a:solidFill>
              <a:latin typeface="Times New Roman" panose="02020603050405020304" pitchFamily="18" charset="0"/>
            </a:endParaRPr>
          </a:p>
        </p:txBody>
      </p:sp>
      <p:sp>
        <p:nvSpPr>
          <p:cNvPr id="39944" name="Rectangle 64"/>
          <p:cNvSpPr>
            <a:spLocks noChangeArrowheads="1"/>
          </p:cNvSpPr>
          <p:nvPr/>
        </p:nvSpPr>
        <p:spPr bwMode="auto">
          <a:xfrm>
            <a:off x="1568450" y="2057400"/>
            <a:ext cx="94456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sym typeface="Symbol" panose="05050102010706020507" pitchFamily="18" charset="2"/>
              </a:rPr>
              <a:t>空间</a:t>
            </a:r>
            <a:endParaRPr lang="zh-CN" altLang="zh-CN" sz="2400">
              <a:solidFill>
                <a:schemeClr val="tx2"/>
              </a:solidFill>
              <a:latin typeface="Times New Roman" panose="02020603050405020304" pitchFamily="18" charset="0"/>
            </a:endParaRPr>
          </a:p>
        </p:txBody>
      </p:sp>
      <p:sp>
        <p:nvSpPr>
          <p:cNvPr id="39945" name="Rectangle 65"/>
          <p:cNvSpPr>
            <a:spLocks noChangeArrowheads="1"/>
          </p:cNvSpPr>
          <p:nvPr/>
        </p:nvSpPr>
        <p:spPr bwMode="auto">
          <a:xfrm>
            <a:off x="2005013" y="5294313"/>
            <a:ext cx="434975" cy="515937"/>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anose="02020603050405020304" pitchFamily="18" charset="0"/>
              </a:rPr>
              <a:t>2</a:t>
            </a:r>
            <a:endParaRPr lang="zh-CN" altLang="zh-CN" sz="2400">
              <a:solidFill>
                <a:schemeClr val="bg1"/>
              </a:solidFill>
              <a:latin typeface="Times New Roman" panose="02020603050405020304" pitchFamily="18" charset="0"/>
            </a:endParaRPr>
          </a:p>
        </p:txBody>
      </p:sp>
      <p:sp>
        <p:nvSpPr>
          <p:cNvPr id="39946" name="Rectangle 66"/>
          <p:cNvSpPr>
            <a:spLocks noChangeArrowheads="1"/>
          </p:cNvSpPr>
          <p:nvPr/>
        </p:nvSpPr>
        <p:spPr bwMode="auto">
          <a:xfrm>
            <a:off x="2439988" y="5294313"/>
            <a:ext cx="436562" cy="515937"/>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3</a:t>
            </a:r>
            <a:endParaRPr lang="zh-CN" altLang="zh-CN" sz="2400">
              <a:solidFill>
                <a:schemeClr val="tx2"/>
              </a:solidFill>
              <a:latin typeface="Times New Roman" panose="02020603050405020304" pitchFamily="18" charset="0"/>
            </a:endParaRPr>
          </a:p>
        </p:txBody>
      </p:sp>
      <p:sp>
        <p:nvSpPr>
          <p:cNvPr id="39947" name="Rectangle 67"/>
          <p:cNvSpPr>
            <a:spLocks noChangeArrowheads="1"/>
          </p:cNvSpPr>
          <p:nvPr/>
        </p:nvSpPr>
        <p:spPr bwMode="auto">
          <a:xfrm>
            <a:off x="5929313" y="5294313"/>
            <a:ext cx="434975" cy="515937"/>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i="1">
                <a:solidFill>
                  <a:schemeClr val="tx2"/>
                </a:solidFill>
                <a:latin typeface="Times New Roman" panose="02020603050405020304" pitchFamily="18" charset="0"/>
              </a:rPr>
              <a:t>n</a:t>
            </a:r>
            <a:endParaRPr lang="en-US" altLang="zh-CN" sz="2400" i="1">
              <a:solidFill>
                <a:schemeClr val="tx2"/>
              </a:solidFill>
              <a:latin typeface="Times New Roman" panose="02020603050405020304" pitchFamily="18" charset="0"/>
            </a:endParaRPr>
          </a:p>
        </p:txBody>
      </p:sp>
      <p:sp>
        <p:nvSpPr>
          <p:cNvPr id="39948" name="Rectangle 68"/>
          <p:cNvSpPr>
            <a:spLocks noChangeArrowheads="1"/>
          </p:cNvSpPr>
          <p:nvPr/>
        </p:nvSpPr>
        <p:spPr bwMode="auto">
          <a:xfrm>
            <a:off x="914400" y="5294313"/>
            <a:ext cx="581025"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sym typeface="Symbol" panose="05050102010706020507" pitchFamily="18" charset="2"/>
              </a:rPr>
              <a:t>S</a:t>
            </a:r>
            <a:r>
              <a:rPr lang="zh-CN" altLang="zh-CN" sz="2400" baseline="-25000">
                <a:solidFill>
                  <a:schemeClr val="tx2"/>
                </a:solidFill>
                <a:latin typeface="Times New Roman" panose="02020603050405020304" pitchFamily="18" charset="0"/>
                <a:sym typeface="Symbol" panose="05050102010706020507" pitchFamily="18" charset="2"/>
              </a:rPr>
              <a:t>1</a:t>
            </a:r>
            <a:endParaRPr lang="zh-CN" altLang="zh-CN" sz="2400">
              <a:solidFill>
                <a:schemeClr val="tx2"/>
              </a:solidFill>
              <a:latin typeface="Times New Roman" panose="02020603050405020304" pitchFamily="18" charset="0"/>
            </a:endParaRPr>
          </a:p>
        </p:txBody>
      </p:sp>
      <p:sp>
        <p:nvSpPr>
          <p:cNvPr id="39949" name="Line 69"/>
          <p:cNvSpPr>
            <a:spLocks noChangeShapeType="1"/>
          </p:cNvSpPr>
          <p:nvPr/>
        </p:nvSpPr>
        <p:spPr bwMode="auto">
          <a:xfrm>
            <a:off x="1568450" y="5810250"/>
            <a:ext cx="71945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50" name="Rectangle 70"/>
          <p:cNvSpPr>
            <a:spLocks noChangeArrowheads="1"/>
          </p:cNvSpPr>
          <p:nvPr/>
        </p:nvSpPr>
        <p:spPr bwMode="auto">
          <a:xfrm>
            <a:off x="914400" y="4779963"/>
            <a:ext cx="58102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sym typeface="Symbol" panose="05050102010706020507" pitchFamily="18" charset="2"/>
              </a:rPr>
              <a:t>S</a:t>
            </a:r>
            <a:r>
              <a:rPr lang="zh-CN" altLang="zh-CN" sz="2400" baseline="-25000">
                <a:solidFill>
                  <a:schemeClr val="tx2"/>
                </a:solidFill>
                <a:latin typeface="Times New Roman" panose="02020603050405020304" pitchFamily="18" charset="0"/>
                <a:sym typeface="Symbol" panose="05050102010706020507" pitchFamily="18" charset="2"/>
              </a:rPr>
              <a:t>2-1</a:t>
            </a:r>
            <a:endParaRPr lang="zh-CN" altLang="zh-CN" sz="2400">
              <a:solidFill>
                <a:schemeClr val="tx2"/>
              </a:solidFill>
              <a:latin typeface="Times New Roman" panose="02020603050405020304" pitchFamily="18" charset="0"/>
            </a:endParaRPr>
          </a:p>
        </p:txBody>
      </p:sp>
      <p:sp>
        <p:nvSpPr>
          <p:cNvPr id="39951" name="Rectangle 71"/>
          <p:cNvSpPr>
            <a:spLocks noChangeArrowheads="1"/>
          </p:cNvSpPr>
          <p:nvPr/>
        </p:nvSpPr>
        <p:spPr bwMode="auto">
          <a:xfrm>
            <a:off x="2876550" y="5294313"/>
            <a:ext cx="436563" cy="515937"/>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4</a:t>
            </a:r>
            <a:endParaRPr lang="zh-CN" altLang="zh-CN" sz="2400">
              <a:solidFill>
                <a:schemeClr val="tx2"/>
              </a:solidFill>
              <a:latin typeface="Times New Roman" panose="02020603050405020304" pitchFamily="18" charset="0"/>
            </a:endParaRPr>
          </a:p>
        </p:txBody>
      </p:sp>
      <p:sp>
        <p:nvSpPr>
          <p:cNvPr id="39952" name="Rectangle 72"/>
          <p:cNvSpPr>
            <a:spLocks noChangeArrowheads="1"/>
          </p:cNvSpPr>
          <p:nvPr/>
        </p:nvSpPr>
        <p:spPr bwMode="auto">
          <a:xfrm>
            <a:off x="3313113" y="5294313"/>
            <a:ext cx="434975" cy="515937"/>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anose="02020603050405020304" pitchFamily="18" charset="0"/>
              </a:rPr>
              <a:t>5</a:t>
            </a:r>
            <a:endParaRPr lang="zh-CN" altLang="zh-CN" sz="2400">
              <a:solidFill>
                <a:schemeClr val="bg1"/>
              </a:solidFill>
              <a:latin typeface="Times New Roman" panose="02020603050405020304" pitchFamily="18" charset="0"/>
            </a:endParaRPr>
          </a:p>
        </p:txBody>
      </p:sp>
      <p:sp>
        <p:nvSpPr>
          <p:cNvPr id="39953" name="Rectangle 73"/>
          <p:cNvSpPr>
            <a:spLocks noChangeArrowheads="1"/>
          </p:cNvSpPr>
          <p:nvPr/>
        </p:nvSpPr>
        <p:spPr bwMode="auto">
          <a:xfrm>
            <a:off x="3748088" y="5294313"/>
            <a:ext cx="436562" cy="515937"/>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6</a:t>
            </a:r>
            <a:endParaRPr lang="zh-CN" altLang="zh-CN" sz="2400">
              <a:solidFill>
                <a:schemeClr val="tx2"/>
              </a:solidFill>
              <a:latin typeface="Times New Roman" panose="02020603050405020304" pitchFamily="18" charset="0"/>
            </a:endParaRPr>
          </a:p>
        </p:txBody>
      </p:sp>
      <p:sp>
        <p:nvSpPr>
          <p:cNvPr id="39954" name="Rectangle 74"/>
          <p:cNvSpPr>
            <a:spLocks noChangeArrowheads="1"/>
          </p:cNvSpPr>
          <p:nvPr/>
        </p:nvSpPr>
        <p:spPr bwMode="auto">
          <a:xfrm>
            <a:off x="4184650" y="5294313"/>
            <a:ext cx="871538" cy="5159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a:t>
            </a:r>
            <a:endParaRPr lang="zh-CN" altLang="zh-CN" sz="2400">
              <a:solidFill>
                <a:schemeClr val="tx2"/>
              </a:solidFill>
              <a:latin typeface="Times New Roman" panose="02020603050405020304" pitchFamily="18" charset="0"/>
            </a:endParaRPr>
          </a:p>
        </p:txBody>
      </p:sp>
      <p:sp>
        <p:nvSpPr>
          <p:cNvPr id="39955" name="Rectangle 75"/>
          <p:cNvSpPr>
            <a:spLocks noChangeArrowheads="1"/>
          </p:cNvSpPr>
          <p:nvPr/>
        </p:nvSpPr>
        <p:spPr bwMode="auto">
          <a:xfrm>
            <a:off x="2005013" y="4779963"/>
            <a:ext cx="1308100" cy="514350"/>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1</a:t>
            </a:r>
            <a:endParaRPr lang="zh-CN" altLang="zh-CN" sz="2400">
              <a:solidFill>
                <a:schemeClr val="tx2"/>
              </a:solidFill>
              <a:latin typeface="Times New Roman" panose="02020603050405020304" pitchFamily="18" charset="0"/>
            </a:endParaRPr>
          </a:p>
        </p:txBody>
      </p:sp>
      <p:sp>
        <p:nvSpPr>
          <p:cNvPr id="39956" name="Rectangle 76"/>
          <p:cNvSpPr>
            <a:spLocks noChangeArrowheads="1"/>
          </p:cNvSpPr>
          <p:nvPr/>
        </p:nvSpPr>
        <p:spPr bwMode="auto">
          <a:xfrm>
            <a:off x="3313113" y="4779963"/>
            <a:ext cx="1308100" cy="514350"/>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4</a:t>
            </a:r>
            <a:endParaRPr lang="zh-CN" altLang="zh-CN" sz="2400">
              <a:solidFill>
                <a:schemeClr val="tx2"/>
              </a:solidFill>
              <a:latin typeface="Times New Roman" panose="02020603050405020304" pitchFamily="18" charset="0"/>
            </a:endParaRPr>
          </a:p>
        </p:txBody>
      </p:sp>
      <p:sp>
        <p:nvSpPr>
          <p:cNvPr id="39957" name="Rectangle 77"/>
          <p:cNvSpPr>
            <a:spLocks noChangeArrowheads="1"/>
          </p:cNvSpPr>
          <p:nvPr/>
        </p:nvSpPr>
        <p:spPr bwMode="auto">
          <a:xfrm>
            <a:off x="4621213" y="4779963"/>
            <a:ext cx="871537" cy="5143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a:t>
            </a:r>
            <a:endParaRPr lang="zh-CN" altLang="zh-CN" sz="2400">
              <a:solidFill>
                <a:schemeClr val="tx2"/>
              </a:solidFill>
              <a:latin typeface="Times New Roman" panose="02020603050405020304" pitchFamily="18" charset="0"/>
            </a:endParaRPr>
          </a:p>
        </p:txBody>
      </p:sp>
      <p:sp>
        <p:nvSpPr>
          <p:cNvPr id="39958" name="Rectangle 78"/>
          <p:cNvSpPr>
            <a:spLocks noChangeArrowheads="1"/>
          </p:cNvSpPr>
          <p:nvPr/>
        </p:nvSpPr>
        <p:spPr bwMode="auto">
          <a:xfrm>
            <a:off x="5056188" y="5294313"/>
            <a:ext cx="436562" cy="515937"/>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Times New Roman" panose="02020603050405020304" pitchFamily="18" charset="0"/>
              </a:rPr>
              <a:t>n</a:t>
            </a:r>
            <a:r>
              <a:rPr lang="zh-CN" altLang="zh-CN" sz="2400">
                <a:solidFill>
                  <a:schemeClr val="tx2"/>
                </a:solidFill>
                <a:latin typeface="Times New Roman" panose="02020603050405020304" pitchFamily="18" charset="0"/>
              </a:rPr>
              <a:t>-2</a:t>
            </a:r>
            <a:endParaRPr lang="zh-CN" altLang="zh-CN" sz="2400">
              <a:solidFill>
                <a:schemeClr val="tx2"/>
              </a:solidFill>
              <a:latin typeface="Times New Roman" panose="02020603050405020304" pitchFamily="18" charset="0"/>
            </a:endParaRPr>
          </a:p>
        </p:txBody>
      </p:sp>
      <p:sp>
        <p:nvSpPr>
          <p:cNvPr id="39959" name="Rectangle 79"/>
          <p:cNvSpPr>
            <a:spLocks noChangeArrowheads="1"/>
          </p:cNvSpPr>
          <p:nvPr/>
        </p:nvSpPr>
        <p:spPr bwMode="auto">
          <a:xfrm>
            <a:off x="5492750" y="5294313"/>
            <a:ext cx="436563" cy="515937"/>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bg1"/>
                </a:solidFill>
                <a:latin typeface="Times New Roman" panose="02020603050405020304" pitchFamily="18" charset="0"/>
              </a:rPr>
              <a:t>n</a:t>
            </a:r>
            <a:r>
              <a:rPr lang="zh-CN" altLang="zh-CN" sz="2400">
                <a:solidFill>
                  <a:schemeClr val="bg1"/>
                </a:solidFill>
                <a:latin typeface="Times New Roman" panose="02020603050405020304" pitchFamily="18" charset="0"/>
              </a:rPr>
              <a:t>-1</a:t>
            </a:r>
            <a:endParaRPr lang="zh-CN" altLang="zh-CN" sz="2400">
              <a:solidFill>
                <a:schemeClr val="bg1"/>
              </a:solidFill>
              <a:latin typeface="Times New Roman" panose="02020603050405020304" pitchFamily="18" charset="0"/>
            </a:endParaRPr>
          </a:p>
        </p:txBody>
      </p:sp>
      <p:sp>
        <p:nvSpPr>
          <p:cNvPr id="39960" name="Rectangle 80"/>
          <p:cNvSpPr>
            <a:spLocks noChangeArrowheads="1"/>
          </p:cNvSpPr>
          <p:nvPr/>
        </p:nvSpPr>
        <p:spPr bwMode="auto">
          <a:xfrm>
            <a:off x="5492750" y="4779963"/>
            <a:ext cx="1308100" cy="514350"/>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i="1">
                <a:solidFill>
                  <a:schemeClr val="tx2"/>
                </a:solidFill>
                <a:latin typeface="Times New Roman" panose="02020603050405020304" pitchFamily="18" charset="0"/>
              </a:rPr>
              <a:t>n</a:t>
            </a:r>
            <a:r>
              <a:rPr lang="zh-CN" altLang="zh-CN" sz="2400">
                <a:solidFill>
                  <a:schemeClr val="tx2"/>
                </a:solidFill>
                <a:latin typeface="Times New Roman" panose="02020603050405020304" pitchFamily="18" charset="0"/>
              </a:rPr>
              <a:t>-2</a:t>
            </a:r>
            <a:endParaRPr lang="zh-CN" altLang="zh-CN" sz="2400">
              <a:solidFill>
                <a:schemeClr val="tx2"/>
              </a:solidFill>
              <a:latin typeface="Times New Roman" panose="02020603050405020304" pitchFamily="18" charset="0"/>
            </a:endParaRPr>
          </a:p>
        </p:txBody>
      </p:sp>
      <p:sp>
        <p:nvSpPr>
          <p:cNvPr id="39961" name="Rectangle 81"/>
          <p:cNvSpPr>
            <a:spLocks noChangeArrowheads="1"/>
          </p:cNvSpPr>
          <p:nvPr/>
        </p:nvSpPr>
        <p:spPr bwMode="auto">
          <a:xfrm>
            <a:off x="2439988" y="4264025"/>
            <a:ext cx="1308100" cy="515938"/>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anose="02020603050405020304" pitchFamily="18" charset="0"/>
              </a:rPr>
              <a:t>2</a:t>
            </a:r>
            <a:endParaRPr lang="zh-CN" altLang="zh-CN" sz="2400">
              <a:solidFill>
                <a:schemeClr val="bg1"/>
              </a:solidFill>
              <a:latin typeface="Times New Roman" panose="02020603050405020304" pitchFamily="18" charset="0"/>
            </a:endParaRPr>
          </a:p>
        </p:txBody>
      </p:sp>
      <p:sp>
        <p:nvSpPr>
          <p:cNvPr id="39962" name="Rectangle 82"/>
          <p:cNvSpPr>
            <a:spLocks noChangeArrowheads="1"/>
          </p:cNvSpPr>
          <p:nvPr/>
        </p:nvSpPr>
        <p:spPr bwMode="auto">
          <a:xfrm>
            <a:off x="3748088" y="4264025"/>
            <a:ext cx="1308100" cy="515938"/>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anose="02020603050405020304" pitchFamily="18" charset="0"/>
              </a:rPr>
              <a:t>5</a:t>
            </a:r>
            <a:endParaRPr lang="zh-CN" altLang="zh-CN" sz="2400">
              <a:solidFill>
                <a:schemeClr val="bg1"/>
              </a:solidFill>
              <a:latin typeface="Times New Roman" panose="02020603050405020304" pitchFamily="18" charset="0"/>
            </a:endParaRPr>
          </a:p>
        </p:txBody>
      </p:sp>
      <p:sp>
        <p:nvSpPr>
          <p:cNvPr id="39963" name="Rectangle 83"/>
          <p:cNvSpPr>
            <a:spLocks noChangeArrowheads="1"/>
          </p:cNvSpPr>
          <p:nvPr/>
        </p:nvSpPr>
        <p:spPr bwMode="auto">
          <a:xfrm>
            <a:off x="5056188" y="4264025"/>
            <a:ext cx="873125" cy="5159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a:t>
            </a:r>
            <a:endParaRPr lang="zh-CN" altLang="zh-CN" sz="2400">
              <a:solidFill>
                <a:schemeClr val="tx2"/>
              </a:solidFill>
              <a:latin typeface="Times New Roman" panose="02020603050405020304" pitchFamily="18" charset="0"/>
            </a:endParaRPr>
          </a:p>
        </p:txBody>
      </p:sp>
      <p:sp>
        <p:nvSpPr>
          <p:cNvPr id="39964" name="Rectangle 84"/>
          <p:cNvSpPr>
            <a:spLocks noChangeArrowheads="1"/>
          </p:cNvSpPr>
          <p:nvPr/>
        </p:nvSpPr>
        <p:spPr bwMode="auto">
          <a:xfrm>
            <a:off x="5929313" y="4264025"/>
            <a:ext cx="1308100" cy="515938"/>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anose="02020603050405020304" pitchFamily="18" charset="0"/>
              </a:rPr>
              <a:t>n-1</a:t>
            </a:r>
            <a:endParaRPr lang="zh-CN" altLang="zh-CN" sz="2400">
              <a:solidFill>
                <a:schemeClr val="bg1"/>
              </a:solidFill>
              <a:latin typeface="Times New Roman" panose="02020603050405020304" pitchFamily="18" charset="0"/>
            </a:endParaRPr>
          </a:p>
        </p:txBody>
      </p:sp>
      <p:sp>
        <p:nvSpPr>
          <p:cNvPr id="39965" name="Rectangle 85"/>
          <p:cNvSpPr>
            <a:spLocks noChangeArrowheads="1"/>
          </p:cNvSpPr>
          <p:nvPr/>
        </p:nvSpPr>
        <p:spPr bwMode="auto">
          <a:xfrm>
            <a:off x="2876550" y="3749675"/>
            <a:ext cx="1308100" cy="5143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3</a:t>
            </a:r>
            <a:endParaRPr lang="zh-CN" altLang="zh-CN" sz="2400">
              <a:solidFill>
                <a:schemeClr val="tx2"/>
              </a:solidFill>
              <a:latin typeface="Times New Roman" panose="02020603050405020304" pitchFamily="18" charset="0"/>
            </a:endParaRPr>
          </a:p>
        </p:txBody>
      </p:sp>
      <p:sp>
        <p:nvSpPr>
          <p:cNvPr id="39966" name="Rectangle 86"/>
          <p:cNvSpPr>
            <a:spLocks noChangeArrowheads="1"/>
          </p:cNvSpPr>
          <p:nvPr/>
        </p:nvSpPr>
        <p:spPr bwMode="auto">
          <a:xfrm>
            <a:off x="4184650" y="3749675"/>
            <a:ext cx="1308100" cy="5143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6</a:t>
            </a:r>
            <a:endParaRPr lang="zh-CN" altLang="zh-CN" sz="2400">
              <a:solidFill>
                <a:schemeClr val="tx2"/>
              </a:solidFill>
              <a:latin typeface="Times New Roman" panose="02020603050405020304" pitchFamily="18" charset="0"/>
            </a:endParaRPr>
          </a:p>
        </p:txBody>
      </p:sp>
      <p:sp>
        <p:nvSpPr>
          <p:cNvPr id="39967" name="Rectangle 87"/>
          <p:cNvSpPr>
            <a:spLocks noChangeArrowheads="1"/>
          </p:cNvSpPr>
          <p:nvPr/>
        </p:nvSpPr>
        <p:spPr bwMode="auto">
          <a:xfrm>
            <a:off x="5492750" y="3749675"/>
            <a:ext cx="871538" cy="5143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a:t>
            </a:r>
            <a:endParaRPr lang="zh-CN" altLang="zh-CN" sz="2400">
              <a:solidFill>
                <a:schemeClr val="tx2"/>
              </a:solidFill>
              <a:latin typeface="Times New Roman" panose="02020603050405020304" pitchFamily="18" charset="0"/>
            </a:endParaRPr>
          </a:p>
        </p:txBody>
      </p:sp>
      <p:sp>
        <p:nvSpPr>
          <p:cNvPr id="39968" name="Rectangle 88"/>
          <p:cNvSpPr>
            <a:spLocks noChangeArrowheads="1"/>
          </p:cNvSpPr>
          <p:nvPr/>
        </p:nvSpPr>
        <p:spPr bwMode="auto">
          <a:xfrm>
            <a:off x="6364288" y="3749675"/>
            <a:ext cx="1308100" cy="5143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i="1">
                <a:solidFill>
                  <a:schemeClr val="tx2"/>
                </a:solidFill>
                <a:latin typeface="Times New Roman" panose="02020603050405020304" pitchFamily="18" charset="0"/>
              </a:rPr>
              <a:t>n</a:t>
            </a:r>
            <a:endParaRPr lang="zh-CN" altLang="zh-CN" sz="2400">
              <a:solidFill>
                <a:schemeClr val="tx2"/>
              </a:solidFill>
              <a:latin typeface="Times New Roman" panose="02020603050405020304" pitchFamily="18" charset="0"/>
            </a:endParaRPr>
          </a:p>
        </p:txBody>
      </p:sp>
      <p:sp>
        <p:nvSpPr>
          <p:cNvPr id="39969" name="Rectangle 89"/>
          <p:cNvSpPr>
            <a:spLocks noChangeArrowheads="1"/>
          </p:cNvSpPr>
          <p:nvPr/>
        </p:nvSpPr>
        <p:spPr bwMode="auto">
          <a:xfrm>
            <a:off x="3313113" y="3235325"/>
            <a:ext cx="434975" cy="514350"/>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1</a:t>
            </a:r>
            <a:endParaRPr lang="zh-CN" altLang="zh-CN" sz="2400">
              <a:solidFill>
                <a:schemeClr val="tx2"/>
              </a:solidFill>
              <a:latin typeface="Times New Roman" panose="02020603050405020304" pitchFamily="18" charset="0"/>
            </a:endParaRPr>
          </a:p>
        </p:txBody>
      </p:sp>
      <p:sp>
        <p:nvSpPr>
          <p:cNvPr id="39970" name="Rectangle 90"/>
          <p:cNvSpPr>
            <a:spLocks noChangeArrowheads="1"/>
          </p:cNvSpPr>
          <p:nvPr/>
        </p:nvSpPr>
        <p:spPr bwMode="auto">
          <a:xfrm>
            <a:off x="3748088" y="3235325"/>
            <a:ext cx="436562" cy="514350"/>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anose="02020603050405020304" pitchFamily="18" charset="0"/>
              </a:rPr>
              <a:t>2</a:t>
            </a:r>
            <a:endParaRPr lang="zh-CN" altLang="zh-CN" sz="2400">
              <a:solidFill>
                <a:schemeClr val="bg1"/>
              </a:solidFill>
              <a:latin typeface="Times New Roman" panose="02020603050405020304" pitchFamily="18" charset="0"/>
            </a:endParaRPr>
          </a:p>
        </p:txBody>
      </p:sp>
      <p:sp>
        <p:nvSpPr>
          <p:cNvPr id="39971" name="Rectangle 91"/>
          <p:cNvSpPr>
            <a:spLocks noChangeArrowheads="1"/>
          </p:cNvSpPr>
          <p:nvPr/>
        </p:nvSpPr>
        <p:spPr bwMode="auto">
          <a:xfrm>
            <a:off x="4184650" y="3235325"/>
            <a:ext cx="436563" cy="5143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3</a:t>
            </a:r>
            <a:endParaRPr lang="zh-CN" altLang="zh-CN" sz="2400">
              <a:solidFill>
                <a:schemeClr val="tx2"/>
              </a:solidFill>
              <a:latin typeface="Times New Roman" panose="02020603050405020304" pitchFamily="18" charset="0"/>
            </a:endParaRPr>
          </a:p>
        </p:txBody>
      </p:sp>
      <p:sp>
        <p:nvSpPr>
          <p:cNvPr id="39972" name="Rectangle 92"/>
          <p:cNvSpPr>
            <a:spLocks noChangeArrowheads="1"/>
          </p:cNvSpPr>
          <p:nvPr/>
        </p:nvSpPr>
        <p:spPr bwMode="auto">
          <a:xfrm>
            <a:off x="7672388" y="3235325"/>
            <a:ext cx="436562" cy="5143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i="1">
                <a:solidFill>
                  <a:schemeClr val="tx2"/>
                </a:solidFill>
                <a:latin typeface="Times New Roman" panose="02020603050405020304" pitchFamily="18" charset="0"/>
              </a:rPr>
              <a:t>n</a:t>
            </a:r>
            <a:endParaRPr lang="en-US" altLang="zh-CN" sz="2400" i="1">
              <a:solidFill>
                <a:schemeClr val="tx2"/>
              </a:solidFill>
              <a:latin typeface="Times New Roman" panose="02020603050405020304" pitchFamily="18" charset="0"/>
            </a:endParaRPr>
          </a:p>
        </p:txBody>
      </p:sp>
      <p:sp>
        <p:nvSpPr>
          <p:cNvPr id="39973" name="Rectangle 93"/>
          <p:cNvSpPr>
            <a:spLocks noChangeArrowheads="1"/>
          </p:cNvSpPr>
          <p:nvPr/>
        </p:nvSpPr>
        <p:spPr bwMode="auto">
          <a:xfrm>
            <a:off x="4621213" y="3235325"/>
            <a:ext cx="434975" cy="514350"/>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4</a:t>
            </a:r>
            <a:endParaRPr lang="zh-CN" altLang="zh-CN" sz="2400">
              <a:solidFill>
                <a:schemeClr val="tx2"/>
              </a:solidFill>
              <a:latin typeface="Times New Roman" panose="02020603050405020304" pitchFamily="18" charset="0"/>
            </a:endParaRPr>
          </a:p>
        </p:txBody>
      </p:sp>
      <p:sp>
        <p:nvSpPr>
          <p:cNvPr id="39974" name="Rectangle 94"/>
          <p:cNvSpPr>
            <a:spLocks noChangeArrowheads="1"/>
          </p:cNvSpPr>
          <p:nvPr/>
        </p:nvSpPr>
        <p:spPr bwMode="auto">
          <a:xfrm>
            <a:off x="5056188" y="3235325"/>
            <a:ext cx="436562" cy="514350"/>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anose="02020603050405020304" pitchFamily="18" charset="0"/>
              </a:rPr>
              <a:t>5</a:t>
            </a:r>
            <a:endParaRPr lang="zh-CN" altLang="zh-CN" sz="2400">
              <a:solidFill>
                <a:schemeClr val="bg1"/>
              </a:solidFill>
              <a:latin typeface="Times New Roman" panose="02020603050405020304" pitchFamily="18" charset="0"/>
            </a:endParaRPr>
          </a:p>
        </p:txBody>
      </p:sp>
      <p:sp>
        <p:nvSpPr>
          <p:cNvPr id="39975" name="Rectangle 95"/>
          <p:cNvSpPr>
            <a:spLocks noChangeArrowheads="1"/>
          </p:cNvSpPr>
          <p:nvPr/>
        </p:nvSpPr>
        <p:spPr bwMode="auto">
          <a:xfrm>
            <a:off x="5492750" y="3235325"/>
            <a:ext cx="436563" cy="5143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6</a:t>
            </a:r>
            <a:endParaRPr lang="zh-CN" altLang="zh-CN" sz="2400">
              <a:solidFill>
                <a:schemeClr val="tx2"/>
              </a:solidFill>
              <a:latin typeface="Times New Roman" panose="02020603050405020304" pitchFamily="18" charset="0"/>
            </a:endParaRPr>
          </a:p>
        </p:txBody>
      </p:sp>
      <p:sp>
        <p:nvSpPr>
          <p:cNvPr id="39976" name="Rectangle 96"/>
          <p:cNvSpPr>
            <a:spLocks noChangeArrowheads="1"/>
          </p:cNvSpPr>
          <p:nvPr/>
        </p:nvSpPr>
        <p:spPr bwMode="auto">
          <a:xfrm>
            <a:off x="5929313" y="3235325"/>
            <a:ext cx="871537" cy="5143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a:t>
            </a:r>
            <a:endParaRPr lang="zh-CN" altLang="zh-CN" sz="2400">
              <a:solidFill>
                <a:schemeClr val="tx2"/>
              </a:solidFill>
              <a:latin typeface="Times New Roman" panose="02020603050405020304" pitchFamily="18" charset="0"/>
            </a:endParaRPr>
          </a:p>
        </p:txBody>
      </p:sp>
      <p:sp>
        <p:nvSpPr>
          <p:cNvPr id="39977" name="Rectangle 97"/>
          <p:cNvSpPr>
            <a:spLocks noChangeArrowheads="1"/>
          </p:cNvSpPr>
          <p:nvPr/>
        </p:nvSpPr>
        <p:spPr bwMode="auto">
          <a:xfrm>
            <a:off x="6800850" y="3235325"/>
            <a:ext cx="436563" cy="514350"/>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Times New Roman" panose="02020603050405020304" pitchFamily="18" charset="0"/>
              </a:rPr>
              <a:t>n</a:t>
            </a:r>
            <a:r>
              <a:rPr lang="zh-CN" altLang="zh-CN" sz="2400">
                <a:solidFill>
                  <a:schemeClr val="tx2"/>
                </a:solidFill>
                <a:latin typeface="Times New Roman" panose="02020603050405020304" pitchFamily="18" charset="0"/>
              </a:rPr>
              <a:t>-2</a:t>
            </a:r>
            <a:endParaRPr lang="zh-CN" altLang="zh-CN" sz="2400">
              <a:solidFill>
                <a:schemeClr val="tx2"/>
              </a:solidFill>
              <a:latin typeface="Times New Roman" panose="02020603050405020304" pitchFamily="18" charset="0"/>
            </a:endParaRPr>
          </a:p>
        </p:txBody>
      </p:sp>
      <p:sp>
        <p:nvSpPr>
          <p:cNvPr id="39978" name="Rectangle 98"/>
          <p:cNvSpPr>
            <a:spLocks noChangeArrowheads="1"/>
          </p:cNvSpPr>
          <p:nvPr/>
        </p:nvSpPr>
        <p:spPr bwMode="auto">
          <a:xfrm>
            <a:off x="7237413" y="3235325"/>
            <a:ext cx="434975" cy="514350"/>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bg1"/>
                </a:solidFill>
                <a:latin typeface="Times New Roman" panose="02020603050405020304" pitchFamily="18" charset="0"/>
              </a:rPr>
              <a:t>n</a:t>
            </a:r>
            <a:r>
              <a:rPr lang="zh-CN" altLang="zh-CN" sz="2400">
                <a:solidFill>
                  <a:schemeClr val="bg1"/>
                </a:solidFill>
                <a:latin typeface="Times New Roman" panose="02020603050405020304" pitchFamily="18" charset="0"/>
              </a:rPr>
              <a:t>-1</a:t>
            </a:r>
            <a:endParaRPr lang="zh-CN" altLang="zh-CN" sz="2400">
              <a:solidFill>
                <a:schemeClr val="bg1"/>
              </a:solidFill>
              <a:latin typeface="Times New Roman" panose="02020603050405020304" pitchFamily="18" charset="0"/>
            </a:endParaRPr>
          </a:p>
        </p:txBody>
      </p:sp>
      <p:sp>
        <p:nvSpPr>
          <p:cNvPr id="39979" name="Rectangle 99"/>
          <p:cNvSpPr>
            <a:spLocks noChangeArrowheads="1"/>
          </p:cNvSpPr>
          <p:nvPr/>
        </p:nvSpPr>
        <p:spPr bwMode="auto">
          <a:xfrm>
            <a:off x="3748088" y="2719388"/>
            <a:ext cx="436562" cy="515937"/>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1</a:t>
            </a:r>
            <a:endParaRPr lang="zh-CN" altLang="zh-CN" sz="2400">
              <a:solidFill>
                <a:schemeClr val="tx2"/>
              </a:solidFill>
              <a:latin typeface="Times New Roman" panose="02020603050405020304" pitchFamily="18" charset="0"/>
            </a:endParaRPr>
          </a:p>
        </p:txBody>
      </p:sp>
      <p:sp>
        <p:nvSpPr>
          <p:cNvPr id="39980" name="Rectangle 100"/>
          <p:cNvSpPr>
            <a:spLocks noChangeArrowheads="1"/>
          </p:cNvSpPr>
          <p:nvPr/>
        </p:nvSpPr>
        <p:spPr bwMode="auto">
          <a:xfrm>
            <a:off x="4184650" y="2719388"/>
            <a:ext cx="436563" cy="515937"/>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anose="02020603050405020304" pitchFamily="18" charset="0"/>
              </a:rPr>
              <a:t>2</a:t>
            </a:r>
            <a:endParaRPr lang="zh-CN" altLang="zh-CN" sz="2400">
              <a:solidFill>
                <a:schemeClr val="bg1"/>
              </a:solidFill>
              <a:latin typeface="Times New Roman" panose="02020603050405020304" pitchFamily="18" charset="0"/>
            </a:endParaRPr>
          </a:p>
        </p:txBody>
      </p:sp>
      <p:sp>
        <p:nvSpPr>
          <p:cNvPr id="39981" name="Rectangle 101"/>
          <p:cNvSpPr>
            <a:spLocks noChangeArrowheads="1"/>
          </p:cNvSpPr>
          <p:nvPr/>
        </p:nvSpPr>
        <p:spPr bwMode="auto">
          <a:xfrm>
            <a:off x="4621213" y="2719388"/>
            <a:ext cx="434975" cy="515937"/>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3</a:t>
            </a:r>
            <a:endParaRPr lang="zh-CN" altLang="zh-CN" sz="2400">
              <a:solidFill>
                <a:schemeClr val="tx2"/>
              </a:solidFill>
              <a:latin typeface="Times New Roman" panose="02020603050405020304" pitchFamily="18" charset="0"/>
            </a:endParaRPr>
          </a:p>
        </p:txBody>
      </p:sp>
      <p:sp>
        <p:nvSpPr>
          <p:cNvPr id="39982" name="Rectangle 102"/>
          <p:cNvSpPr>
            <a:spLocks noChangeArrowheads="1"/>
          </p:cNvSpPr>
          <p:nvPr/>
        </p:nvSpPr>
        <p:spPr bwMode="auto">
          <a:xfrm>
            <a:off x="8108950" y="2719388"/>
            <a:ext cx="436563" cy="515937"/>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400" i="1">
                <a:solidFill>
                  <a:schemeClr val="tx2"/>
                </a:solidFill>
                <a:latin typeface="Times New Roman" panose="02020603050405020304" pitchFamily="18" charset="0"/>
              </a:rPr>
              <a:t>n</a:t>
            </a:r>
            <a:endParaRPr lang="en-US" altLang="zh-CN" sz="2400" i="1">
              <a:solidFill>
                <a:schemeClr val="tx2"/>
              </a:solidFill>
              <a:latin typeface="Times New Roman" panose="02020603050405020304" pitchFamily="18" charset="0"/>
            </a:endParaRPr>
          </a:p>
        </p:txBody>
      </p:sp>
      <p:sp>
        <p:nvSpPr>
          <p:cNvPr id="39983" name="Rectangle 103"/>
          <p:cNvSpPr>
            <a:spLocks noChangeArrowheads="1"/>
          </p:cNvSpPr>
          <p:nvPr/>
        </p:nvSpPr>
        <p:spPr bwMode="auto">
          <a:xfrm>
            <a:off x="5056188" y="2719388"/>
            <a:ext cx="436562" cy="515937"/>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4</a:t>
            </a:r>
            <a:endParaRPr lang="zh-CN" altLang="zh-CN" sz="2400">
              <a:solidFill>
                <a:schemeClr val="tx2"/>
              </a:solidFill>
              <a:latin typeface="Times New Roman" panose="02020603050405020304" pitchFamily="18" charset="0"/>
            </a:endParaRPr>
          </a:p>
        </p:txBody>
      </p:sp>
      <p:sp>
        <p:nvSpPr>
          <p:cNvPr id="39984" name="Rectangle 104"/>
          <p:cNvSpPr>
            <a:spLocks noChangeArrowheads="1"/>
          </p:cNvSpPr>
          <p:nvPr/>
        </p:nvSpPr>
        <p:spPr bwMode="auto">
          <a:xfrm>
            <a:off x="5492750" y="2719388"/>
            <a:ext cx="436563" cy="515937"/>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anose="02020603050405020304" pitchFamily="18" charset="0"/>
              </a:rPr>
              <a:t>5</a:t>
            </a:r>
            <a:endParaRPr lang="zh-CN" altLang="zh-CN" sz="2400">
              <a:solidFill>
                <a:schemeClr val="bg1"/>
              </a:solidFill>
              <a:latin typeface="Times New Roman" panose="02020603050405020304" pitchFamily="18" charset="0"/>
            </a:endParaRPr>
          </a:p>
        </p:txBody>
      </p:sp>
      <p:sp>
        <p:nvSpPr>
          <p:cNvPr id="39985" name="Rectangle 105"/>
          <p:cNvSpPr>
            <a:spLocks noChangeArrowheads="1"/>
          </p:cNvSpPr>
          <p:nvPr/>
        </p:nvSpPr>
        <p:spPr bwMode="auto">
          <a:xfrm>
            <a:off x="5929313" y="2719388"/>
            <a:ext cx="434975" cy="515937"/>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6</a:t>
            </a:r>
            <a:endParaRPr lang="zh-CN" altLang="zh-CN" sz="2400">
              <a:solidFill>
                <a:schemeClr val="tx2"/>
              </a:solidFill>
              <a:latin typeface="Times New Roman" panose="02020603050405020304" pitchFamily="18" charset="0"/>
            </a:endParaRPr>
          </a:p>
        </p:txBody>
      </p:sp>
      <p:sp>
        <p:nvSpPr>
          <p:cNvPr id="39986" name="Rectangle 106"/>
          <p:cNvSpPr>
            <a:spLocks noChangeArrowheads="1"/>
          </p:cNvSpPr>
          <p:nvPr/>
        </p:nvSpPr>
        <p:spPr bwMode="auto">
          <a:xfrm>
            <a:off x="6364288" y="2719388"/>
            <a:ext cx="873125" cy="5159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rPr>
              <a:t>…</a:t>
            </a:r>
            <a:endParaRPr lang="zh-CN" altLang="zh-CN" sz="2400">
              <a:solidFill>
                <a:schemeClr val="tx2"/>
              </a:solidFill>
              <a:latin typeface="Times New Roman" panose="02020603050405020304" pitchFamily="18" charset="0"/>
            </a:endParaRPr>
          </a:p>
        </p:txBody>
      </p:sp>
      <p:sp>
        <p:nvSpPr>
          <p:cNvPr id="39987" name="Rectangle 107"/>
          <p:cNvSpPr>
            <a:spLocks noChangeArrowheads="1"/>
          </p:cNvSpPr>
          <p:nvPr/>
        </p:nvSpPr>
        <p:spPr bwMode="auto">
          <a:xfrm>
            <a:off x="7237413" y="2719388"/>
            <a:ext cx="434975" cy="515937"/>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Times New Roman" panose="02020603050405020304" pitchFamily="18" charset="0"/>
              </a:rPr>
              <a:t>n</a:t>
            </a:r>
            <a:r>
              <a:rPr lang="zh-CN" altLang="zh-CN" sz="2400">
                <a:solidFill>
                  <a:schemeClr val="tx2"/>
                </a:solidFill>
                <a:latin typeface="Times New Roman" panose="02020603050405020304" pitchFamily="18" charset="0"/>
              </a:rPr>
              <a:t>-2</a:t>
            </a:r>
            <a:endParaRPr lang="zh-CN" altLang="zh-CN" sz="2400">
              <a:solidFill>
                <a:schemeClr val="tx2"/>
              </a:solidFill>
              <a:latin typeface="Times New Roman" panose="02020603050405020304" pitchFamily="18" charset="0"/>
            </a:endParaRPr>
          </a:p>
        </p:txBody>
      </p:sp>
      <p:sp>
        <p:nvSpPr>
          <p:cNvPr id="39988" name="Rectangle 108"/>
          <p:cNvSpPr>
            <a:spLocks noChangeArrowheads="1"/>
          </p:cNvSpPr>
          <p:nvPr/>
        </p:nvSpPr>
        <p:spPr bwMode="auto">
          <a:xfrm>
            <a:off x="7672388" y="2719388"/>
            <a:ext cx="436562" cy="515937"/>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bg1"/>
                </a:solidFill>
                <a:latin typeface="Times New Roman" panose="02020603050405020304" pitchFamily="18" charset="0"/>
              </a:rPr>
              <a:t>n</a:t>
            </a:r>
            <a:r>
              <a:rPr lang="zh-CN" altLang="zh-CN" sz="2400">
                <a:solidFill>
                  <a:schemeClr val="bg1"/>
                </a:solidFill>
                <a:latin typeface="Times New Roman" panose="02020603050405020304" pitchFamily="18" charset="0"/>
              </a:rPr>
              <a:t>-1</a:t>
            </a:r>
            <a:endParaRPr lang="zh-CN" altLang="zh-CN" sz="2400">
              <a:solidFill>
                <a:schemeClr val="bg1"/>
              </a:solidFill>
              <a:latin typeface="Times New Roman" panose="02020603050405020304" pitchFamily="18" charset="0"/>
            </a:endParaRPr>
          </a:p>
        </p:txBody>
      </p:sp>
      <p:sp>
        <p:nvSpPr>
          <p:cNvPr id="39989" name="Line 109"/>
          <p:cNvSpPr>
            <a:spLocks noChangeShapeType="1"/>
          </p:cNvSpPr>
          <p:nvPr/>
        </p:nvSpPr>
        <p:spPr bwMode="auto">
          <a:xfrm flipV="1">
            <a:off x="8545513" y="3235325"/>
            <a:ext cx="0" cy="2574925"/>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90" name="Line 110"/>
          <p:cNvSpPr>
            <a:spLocks noChangeShapeType="1"/>
          </p:cNvSpPr>
          <p:nvPr/>
        </p:nvSpPr>
        <p:spPr bwMode="auto">
          <a:xfrm flipV="1">
            <a:off x="8108950" y="3749675"/>
            <a:ext cx="0" cy="2060575"/>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91" name="Line 111"/>
          <p:cNvSpPr>
            <a:spLocks noChangeShapeType="1"/>
          </p:cNvSpPr>
          <p:nvPr/>
        </p:nvSpPr>
        <p:spPr bwMode="auto">
          <a:xfrm flipV="1">
            <a:off x="7672388" y="4264025"/>
            <a:ext cx="0" cy="1546225"/>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92" name="Line 112"/>
          <p:cNvSpPr>
            <a:spLocks noChangeShapeType="1"/>
          </p:cNvSpPr>
          <p:nvPr/>
        </p:nvSpPr>
        <p:spPr bwMode="auto">
          <a:xfrm flipV="1">
            <a:off x="7237413" y="4779963"/>
            <a:ext cx="0" cy="1030287"/>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93" name="Line 113"/>
          <p:cNvSpPr>
            <a:spLocks noChangeShapeType="1"/>
          </p:cNvSpPr>
          <p:nvPr/>
        </p:nvSpPr>
        <p:spPr bwMode="auto">
          <a:xfrm flipV="1">
            <a:off x="6800850" y="5294313"/>
            <a:ext cx="0" cy="515937"/>
          </a:xfrm>
          <a:prstGeom prst="line">
            <a:avLst/>
          </a:prstGeom>
          <a:noFill/>
          <a:ln w="12700">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94" name="Rectangle 114"/>
          <p:cNvSpPr>
            <a:spLocks noChangeArrowheads="1"/>
          </p:cNvSpPr>
          <p:nvPr/>
        </p:nvSpPr>
        <p:spPr bwMode="auto">
          <a:xfrm>
            <a:off x="914400" y="4264025"/>
            <a:ext cx="581025"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sym typeface="Symbol" panose="05050102010706020507" pitchFamily="18" charset="2"/>
              </a:rPr>
              <a:t>S</a:t>
            </a:r>
            <a:r>
              <a:rPr lang="zh-CN" altLang="zh-CN" sz="2400" baseline="-25000">
                <a:solidFill>
                  <a:schemeClr val="tx2"/>
                </a:solidFill>
                <a:latin typeface="Times New Roman" panose="02020603050405020304" pitchFamily="18" charset="0"/>
                <a:sym typeface="Symbol" panose="05050102010706020507" pitchFamily="18" charset="2"/>
              </a:rPr>
              <a:t>2-2</a:t>
            </a:r>
            <a:endParaRPr lang="zh-CN" altLang="zh-CN" sz="2400">
              <a:solidFill>
                <a:schemeClr val="tx2"/>
              </a:solidFill>
              <a:latin typeface="Times New Roman" panose="02020603050405020304" pitchFamily="18" charset="0"/>
            </a:endParaRPr>
          </a:p>
        </p:txBody>
      </p:sp>
      <p:sp>
        <p:nvSpPr>
          <p:cNvPr id="39995" name="Rectangle 115"/>
          <p:cNvSpPr>
            <a:spLocks noChangeArrowheads="1"/>
          </p:cNvSpPr>
          <p:nvPr/>
        </p:nvSpPr>
        <p:spPr bwMode="auto">
          <a:xfrm>
            <a:off x="914400" y="3749675"/>
            <a:ext cx="58102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sym typeface="Symbol" panose="05050102010706020507" pitchFamily="18" charset="2"/>
              </a:rPr>
              <a:t>S</a:t>
            </a:r>
            <a:r>
              <a:rPr lang="zh-CN" altLang="zh-CN" sz="2400" baseline="-25000">
                <a:solidFill>
                  <a:schemeClr val="tx2"/>
                </a:solidFill>
                <a:latin typeface="Times New Roman" panose="02020603050405020304" pitchFamily="18" charset="0"/>
                <a:sym typeface="Symbol" panose="05050102010706020507" pitchFamily="18" charset="2"/>
              </a:rPr>
              <a:t>2-3</a:t>
            </a:r>
            <a:endParaRPr lang="zh-CN" altLang="zh-CN" sz="2400">
              <a:solidFill>
                <a:schemeClr val="tx2"/>
              </a:solidFill>
              <a:latin typeface="Times New Roman" panose="02020603050405020304" pitchFamily="18" charset="0"/>
            </a:endParaRPr>
          </a:p>
        </p:txBody>
      </p:sp>
      <p:sp>
        <p:nvSpPr>
          <p:cNvPr id="39996" name="Rectangle 116"/>
          <p:cNvSpPr>
            <a:spLocks noChangeArrowheads="1"/>
          </p:cNvSpPr>
          <p:nvPr/>
        </p:nvSpPr>
        <p:spPr bwMode="auto">
          <a:xfrm>
            <a:off x="914400" y="3235325"/>
            <a:ext cx="58102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sym typeface="Symbol" panose="05050102010706020507" pitchFamily="18" charset="2"/>
              </a:rPr>
              <a:t>S</a:t>
            </a:r>
            <a:r>
              <a:rPr lang="zh-CN" altLang="zh-CN" sz="2400" baseline="-25000">
                <a:solidFill>
                  <a:schemeClr val="tx2"/>
                </a:solidFill>
                <a:latin typeface="Times New Roman" panose="02020603050405020304" pitchFamily="18" charset="0"/>
                <a:sym typeface="Symbol" panose="05050102010706020507" pitchFamily="18" charset="2"/>
              </a:rPr>
              <a:t>3</a:t>
            </a:r>
            <a:endParaRPr lang="zh-CN" altLang="zh-CN" sz="2400">
              <a:solidFill>
                <a:schemeClr val="tx2"/>
              </a:solidFill>
              <a:latin typeface="Times New Roman" panose="02020603050405020304" pitchFamily="18" charset="0"/>
            </a:endParaRPr>
          </a:p>
        </p:txBody>
      </p:sp>
      <p:sp>
        <p:nvSpPr>
          <p:cNvPr id="39997" name="Rectangle 117"/>
          <p:cNvSpPr>
            <a:spLocks noChangeArrowheads="1"/>
          </p:cNvSpPr>
          <p:nvPr/>
        </p:nvSpPr>
        <p:spPr bwMode="auto">
          <a:xfrm>
            <a:off x="914400" y="2719388"/>
            <a:ext cx="581025"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anose="02020603050405020304" pitchFamily="18" charset="0"/>
                <a:sym typeface="Symbol" panose="05050102010706020507" pitchFamily="18" charset="2"/>
              </a:rPr>
              <a:t>S</a:t>
            </a:r>
            <a:r>
              <a:rPr lang="zh-CN" altLang="zh-CN" sz="2400" baseline="-25000">
                <a:solidFill>
                  <a:schemeClr val="tx2"/>
                </a:solidFill>
                <a:latin typeface="Times New Roman" panose="02020603050405020304" pitchFamily="18" charset="0"/>
                <a:sym typeface="Symbol" panose="05050102010706020507" pitchFamily="18" charset="2"/>
              </a:rPr>
              <a:t>4</a:t>
            </a:r>
            <a:endParaRPr lang="zh-CN" altLang="zh-CN" sz="2400">
              <a:solidFill>
                <a:schemeClr val="tx2"/>
              </a:solidFill>
              <a:latin typeface="Times New Roman" panose="02020603050405020304" pitchFamily="18" charset="0"/>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6994" name="Rectangle 2"/>
          <p:cNvSpPr>
            <a:spLocks noGrp="1" noChangeArrowheads="1"/>
          </p:cNvSpPr>
          <p:nvPr>
            <p:ph type="title"/>
          </p:nvPr>
        </p:nvSpPr>
        <p:spPr/>
        <p:txBody>
          <a:bodyPr/>
          <a:lstStyle/>
          <a:p>
            <a:pPr eaLnBrk="1" hangingPunct="1">
              <a:defRPr/>
            </a:pPr>
            <a:r>
              <a:rPr lang="zh-CN" altLang="en-US" smtClean="0"/>
              <a:t>加速比</a:t>
            </a:r>
            <a:endParaRPr lang="zh-CN" altLang="en-US" smtClean="0"/>
          </a:p>
        </p:txBody>
      </p:sp>
      <p:sp>
        <p:nvSpPr>
          <p:cNvPr id="4096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596997" name="Rectangle 5"/>
          <p:cNvSpPr>
            <a:spLocks noGrp="1" noChangeArrowheads="1"/>
          </p:cNvSpPr>
          <p:nvPr>
            <p:ph type="body" sz="half" idx="1"/>
          </p:nvPr>
        </p:nvSpPr>
        <p:spPr>
          <a:xfrm>
            <a:off x="809625" y="1989138"/>
            <a:ext cx="7953375" cy="4411662"/>
          </a:xfrm>
        </p:spPr>
        <p:txBody>
          <a:bodyPr/>
          <a:lstStyle/>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定义</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defRPr/>
            </a:pPr>
            <a:r>
              <a:rPr lang="zh-CN" altLang="en-US" sz="2800" dirty="0" smtClean="0"/>
              <a:t>    完成同样一批任务，不使用流水线完成所用的时间与使用流水线完成所用的时间之比。</a:t>
            </a:r>
            <a:endParaRPr lang="zh-CN" altLang="en-US" sz="2800" dirty="0" smtClean="0"/>
          </a:p>
          <a:p>
            <a:pPr marL="0" indent="0" eaLnBrk="1" hangingPunct="1">
              <a:lnSpc>
                <a:spcPct val="120000"/>
              </a:lnSpc>
              <a:spcBef>
                <a:spcPts val="1200"/>
              </a:spcBef>
              <a:buClr>
                <a:srgbClr val="FF0000"/>
              </a:buClr>
              <a:defRPr/>
            </a:pPr>
            <a:r>
              <a:rPr lang="zh-CN" altLang="en-US" sz="2800" dirty="0" smtClean="0">
                <a:solidFill>
                  <a:srgbClr val="FF0000"/>
                </a:solidFill>
                <a:effectLst>
                  <a:outerShdw blurRad="38100" dist="38100" dir="2700000" algn="tl">
                    <a:srgbClr val="C0C0C0"/>
                  </a:outerShdw>
                </a:effectLst>
              </a:rPr>
              <a:t>  公式</a:t>
            </a:r>
            <a:endParaRPr lang="zh-CN" altLang="en-US" sz="2800" dirty="0" smtClean="0">
              <a:solidFill>
                <a:srgbClr val="FF0000"/>
              </a:solidFill>
              <a:effectLst>
                <a:outerShdw blurRad="38100" dist="38100" dir="2700000" algn="tl">
                  <a:srgbClr val="C0C0C0"/>
                </a:outerShdw>
              </a:effectLst>
            </a:endParaRPr>
          </a:p>
        </p:txBody>
      </p:sp>
      <p:graphicFrame>
        <p:nvGraphicFramePr>
          <p:cNvPr id="40965" name="Object 6"/>
          <p:cNvGraphicFramePr>
            <a:graphicFrameLocks noChangeAspect="1"/>
          </p:cNvGraphicFramePr>
          <p:nvPr/>
        </p:nvGraphicFramePr>
        <p:xfrm>
          <a:off x="1187450" y="4724400"/>
          <a:ext cx="1174750" cy="1079500"/>
        </p:xfrm>
        <a:graphic>
          <a:graphicData uri="http://schemas.openxmlformats.org/presentationml/2006/ole">
            <mc:AlternateContent xmlns:mc="http://schemas.openxmlformats.org/markup-compatibility/2006">
              <mc:Choice xmlns:v="urn:schemas-microsoft-com:vml" Requires="v">
                <p:oleObj spid="_x0000_s41056" name="Equation" r:id="rId4" imgW="469900" imgH="431800" progId="Equation.3">
                  <p:embed/>
                </p:oleObj>
              </mc:Choice>
              <mc:Fallback>
                <p:oleObj name="Equation" r:id="rId4" imgW="469900" imgH="431800" progId="Equation.3">
                  <p:embed/>
                  <p:pic>
                    <p:nvPicPr>
                      <p:cNvPr id="0"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87450" y="4724400"/>
                        <a:ext cx="1174750" cy="1079500"/>
                      </a:xfrm>
                      <a:prstGeom prst="rect">
                        <a:avLst/>
                      </a:prstGeom>
                      <a:solidFill>
                        <a:srgbClr val="FFFF00"/>
                      </a:solidFill>
                      <a:ln w="28575">
                        <a:solidFill>
                          <a:schemeClr val="tx1"/>
                        </a:solidFill>
                        <a:miter lim="800000"/>
                        <a:headEnd/>
                        <a:tailEnd/>
                      </a:ln>
                      <a:effectLst>
                        <a:outerShdw dist="35921" dir="2700000" algn="ctr" rotWithShape="0">
                          <a:srgbClr val="808080"/>
                        </a:outerShdw>
                      </a:effectLst>
                    </p:spPr>
                  </p:pic>
                </p:oleObj>
              </mc:Fallback>
            </mc:AlternateContent>
          </a:graphicData>
        </a:graphic>
      </p:graphicFrame>
      <p:sp>
        <p:nvSpPr>
          <p:cNvPr id="596999" name="Rectangle 7"/>
          <p:cNvSpPr>
            <a:spLocks noChangeArrowheads="1"/>
          </p:cNvSpPr>
          <p:nvPr/>
        </p:nvSpPr>
        <p:spPr bwMode="auto">
          <a:xfrm>
            <a:off x="2590800" y="4654550"/>
            <a:ext cx="6019800" cy="1295400"/>
          </a:xfrm>
          <a:prstGeom prst="rect">
            <a:avLst/>
          </a:prstGeom>
          <a:noFill/>
          <a:ln w="57150" cmpd="thickThin">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0"/>
              </a:spcBef>
              <a:defRPr kumimoji="1" sz="2400">
                <a:solidFill>
                  <a:schemeClr val="tx1"/>
                </a:solidFill>
                <a:latin typeface="Times New Roman" panose="02020603050405020304" pitchFamily="18" charset="0"/>
                <a:ea typeface="宋体" panose="02010600030101010101" pitchFamily="2" charset="-122"/>
              </a:defRPr>
            </a:lvl1pPr>
            <a:lvl2pPr marL="742950" indent="-285750">
              <a:spcBef>
                <a:spcPct val="0"/>
              </a:spcBef>
              <a:defRPr kumimoji="1" sz="2400">
                <a:solidFill>
                  <a:schemeClr val="tx1"/>
                </a:solidFill>
                <a:latin typeface="Times New Roman" panose="02020603050405020304" pitchFamily="18" charset="0"/>
                <a:ea typeface="宋体" panose="02010600030101010101" pitchFamily="2" charset="-122"/>
              </a:defRPr>
            </a:lvl2pPr>
            <a:lvl3pPr marL="1085850" indent="-228600">
              <a:spcBef>
                <a:spcPct val="0"/>
              </a:spcBef>
              <a:defRPr kumimoji="1" sz="2400">
                <a:solidFill>
                  <a:schemeClr val="tx1"/>
                </a:solidFill>
                <a:latin typeface="Times New Roman" panose="02020603050405020304" pitchFamily="18" charset="0"/>
                <a:ea typeface="宋体" panose="02010600030101010101" pitchFamily="2" charset="-122"/>
              </a:defRPr>
            </a:lvl3pPr>
            <a:lvl4pPr marL="1428750" indent="-228600">
              <a:spcBef>
                <a:spcPct val="0"/>
              </a:spcBef>
              <a:defRPr kumimoji="1" sz="2400">
                <a:solidFill>
                  <a:schemeClr val="tx1"/>
                </a:solidFill>
                <a:latin typeface="Times New Roman" panose="02020603050405020304" pitchFamily="18" charset="0"/>
                <a:ea typeface="宋体" panose="02010600030101010101" pitchFamily="2" charset="-122"/>
              </a:defRPr>
            </a:lvl4pPr>
            <a:lvl5pPr marL="1771650" indent="-228600">
              <a:spcBef>
                <a:spcPct val="0"/>
              </a:spcBef>
              <a:defRPr kumimoji="1" sz="2400">
                <a:solidFill>
                  <a:schemeClr val="tx1"/>
                </a:solidFill>
                <a:latin typeface="Times New Roman" panose="02020603050405020304" pitchFamily="18" charset="0"/>
                <a:ea typeface="宋体" panose="02010600030101010101" pitchFamily="2" charset="-122"/>
              </a:defRPr>
            </a:lvl5pPr>
            <a:lvl6pPr marL="2228850"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686050"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143250"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600450"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nSpc>
                <a:spcPct val="110000"/>
              </a:lnSpc>
              <a:spcBef>
                <a:spcPct val="20000"/>
              </a:spcBef>
              <a:buFont typeface="Wingdings" panose="05000000000000000000" pitchFamily="2" charset="2"/>
              <a:buChar char="Ø"/>
              <a:defRPr/>
            </a:pPr>
            <a:r>
              <a:rPr lang="en-US" altLang="zh-CN" sz="2800" b="1" smtClean="0">
                <a:solidFill>
                  <a:srgbClr val="0000CC"/>
                </a:solidFill>
                <a:effectLst>
                  <a:outerShdw blurRad="38100" dist="38100" dir="2700000" algn="tl">
                    <a:srgbClr val="C0C0C0"/>
                  </a:outerShdw>
                </a:effectLst>
                <a:latin typeface="Arial" panose="020B0604020202020204" pitchFamily="34" charset="0"/>
                <a:ea typeface="楷体_GB2312" pitchFamily="49" charset="-122"/>
              </a:rPr>
              <a:t>T</a:t>
            </a:r>
            <a:r>
              <a:rPr lang="en-US" altLang="zh-CN" sz="2800" b="1" baseline="-25000" smtClean="0">
                <a:solidFill>
                  <a:srgbClr val="0000CC"/>
                </a:solidFill>
                <a:effectLst>
                  <a:outerShdw blurRad="38100" dist="38100" dir="2700000" algn="tl">
                    <a:srgbClr val="C0C0C0"/>
                  </a:outerShdw>
                </a:effectLst>
                <a:latin typeface="Arial" panose="020B0604020202020204" pitchFamily="34" charset="0"/>
                <a:ea typeface="楷体_GB2312" pitchFamily="49" charset="-122"/>
              </a:rPr>
              <a:t>0</a:t>
            </a:r>
            <a:r>
              <a:rPr lang="en-US" altLang="zh-CN" sz="2800" b="1" smtClean="0">
                <a:solidFill>
                  <a:srgbClr val="0000CC"/>
                </a:solidFill>
                <a:effectLst>
                  <a:outerShdw blurRad="38100" dist="38100" dir="2700000" algn="tl">
                    <a:srgbClr val="C0C0C0"/>
                  </a:outerShdw>
                </a:effectLst>
                <a:latin typeface="Arial" panose="020B0604020202020204" pitchFamily="34" charset="0"/>
                <a:ea typeface="楷体_GB2312" pitchFamily="49" charset="-122"/>
              </a:rPr>
              <a:t>：</a:t>
            </a:r>
            <a:r>
              <a:rPr lang="zh-CN" altLang="en-US" sz="2800" b="1" smtClean="0">
                <a:latin typeface="Arial" panose="020B0604020202020204" pitchFamily="34" charset="0"/>
                <a:ea typeface="楷体_GB2312" pitchFamily="49" charset="-122"/>
              </a:rPr>
              <a:t>顺序执行所用的时间；</a:t>
            </a:r>
            <a:endParaRPr lang="zh-CN" altLang="en-US" sz="2800" b="1" smtClean="0">
              <a:latin typeface="Arial" panose="020B0604020202020204" pitchFamily="34" charset="0"/>
              <a:ea typeface="楷体_GB2312" pitchFamily="49" charset="-122"/>
            </a:endParaRPr>
          </a:p>
          <a:p>
            <a:pPr>
              <a:lnSpc>
                <a:spcPct val="110000"/>
              </a:lnSpc>
              <a:spcBef>
                <a:spcPct val="20000"/>
              </a:spcBef>
              <a:buFont typeface="Wingdings" panose="05000000000000000000" pitchFamily="2" charset="2"/>
              <a:buChar char="Ø"/>
              <a:defRPr/>
            </a:pPr>
            <a:r>
              <a:rPr lang="en-US" altLang="zh-CN" sz="2800" b="1" smtClean="0">
                <a:solidFill>
                  <a:srgbClr val="0000CC"/>
                </a:solidFill>
                <a:effectLst>
                  <a:outerShdw blurRad="38100" dist="38100" dir="2700000" algn="tl">
                    <a:srgbClr val="C0C0C0"/>
                  </a:outerShdw>
                </a:effectLst>
                <a:latin typeface="Arial" panose="020B0604020202020204" pitchFamily="34" charset="0"/>
                <a:ea typeface="楷体_GB2312" pitchFamily="49" charset="-122"/>
              </a:rPr>
              <a:t>T</a:t>
            </a:r>
            <a:r>
              <a:rPr lang="en-US" altLang="zh-CN" sz="2800" b="1" baseline="-25000" smtClean="0">
                <a:solidFill>
                  <a:srgbClr val="0000CC"/>
                </a:solidFill>
                <a:effectLst>
                  <a:outerShdw blurRad="38100" dist="38100" dir="2700000" algn="tl">
                    <a:srgbClr val="C0C0C0"/>
                  </a:outerShdw>
                </a:effectLst>
                <a:latin typeface="Arial" panose="020B0604020202020204" pitchFamily="34" charset="0"/>
                <a:ea typeface="楷体_GB2312" pitchFamily="49" charset="-122"/>
              </a:rPr>
              <a:t>m</a:t>
            </a:r>
            <a:r>
              <a:rPr lang="en-US" altLang="zh-CN" sz="2800" b="1" smtClean="0">
                <a:solidFill>
                  <a:srgbClr val="0000CC"/>
                </a:solidFill>
                <a:effectLst>
                  <a:outerShdw blurRad="38100" dist="38100" dir="2700000" algn="tl">
                    <a:srgbClr val="C0C0C0"/>
                  </a:outerShdw>
                </a:effectLst>
                <a:latin typeface="Arial" panose="020B0604020202020204" pitchFamily="34" charset="0"/>
                <a:ea typeface="楷体_GB2312" pitchFamily="49" charset="-122"/>
              </a:rPr>
              <a:t>：</a:t>
            </a:r>
            <a:r>
              <a:rPr lang="zh-CN" altLang="en-US" sz="2800" b="1" smtClean="0">
                <a:latin typeface="Arial" panose="020B0604020202020204" pitchFamily="34" charset="0"/>
                <a:ea typeface="楷体_GB2312" pitchFamily="49" charset="-122"/>
              </a:rPr>
              <a:t>使用流水线所用的时间。</a:t>
            </a:r>
            <a:endParaRPr lang="zh-CN" altLang="en-US" sz="2800" b="1" smtClean="0">
              <a:latin typeface="Arial" panose="020B0604020202020204" pitchFamily="34" charset="0"/>
              <a:ea typeface="楷体_GB2312" pitchFamily="49" charset="-122"/>
            </a:endParaRPr>
          </a:p>
        </p:txBody>
      </p:sp>
      <p:sp>
        <p:nvSpPr>
          <p:cNvPr id="40967" name="Text Box 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3378" name="Rectangle 2"/>
          <p:cNvSpPr>
            <a:spLocks noGrp="1" noChangeArrowheads="1"/>
          </p:cNvSpPr>
          <p:nvPr>
            <p:ph type="title"/>
          </p:nvPr>
        </p:nvSpPr>
        <p:spPr/>
        <p:txBody>
          <a:bodyPr/>
          <a:lstStyle/>
          <a:p>
            <a:pPr eaLnBrk="1" hangingPunct="1">
              <a:defRPr/>
            </a:pPr>
            <a:r>
              <a:rPr lang="zh-CN" altLang="en-US" sz="4400" dirty="0"/>
              <a:t>例1：各段时间均相等</a:t>
            </a:r>
            <a:endParaRPr lang="zh-CN" altLang="en-US" sz="4400" dirty="0" smtClean="0"/>
          </a:p>
        </p:txBody>
      </p:sp>
      <p:sp>
        <p:nvSpPr>
          <p:cNvPr id="613379" name="Rectangle 3"/>
          <p:cNvSpPr>
            <a:spLocks noGrp="1" noChangeArrowheads="1"/>
          </p:cNvSpPr>
          <p:nvPr>
            <p:ph type="body" idx="1"/>
          </p:nvPr>
        </p:nvSpPr>
        <p:spPr/>
        <p:txBody>
          <a:bodyPr/>
          <a:lstStyle/>
          <a:p>
            <a:pPr marL="0" indent="0" eaLnBrk="1" hangingPunct="1">
              <a:lnSpc>
                <a:spcPct val="120000"/>
              </a:lnSpc>
              <a:buFont typeface="Wingdings" panose="05000000000000000000" pitchFamily="2" charset="2"/>
              <a:buNone/>
              <a:defRPr/>
            </a:pPr>
            <a:r>
              <a:rPr lang="zh-CN" altLang="en-US" sz="2800" dirty="0" smtClean="0"/>
              <a:t>    假设在流水线各段的执行时间</a:t>
            </a:r>
            <a:r>
              <a:rPr lang="zh-CN" altLang="en-US" sz="2800" dirty="0"/>
              <a:t>（</a:t>
            </a:r>
            <a:r>
              <a:rPr lang="zh-CN" altLang="zh-CN" sz="2800" dirty="0">
                <a:solidFill>
                  <a:srgbClr val="FF0000"/>
                </a:solidFill>
                <a:sym typeface="Symbol" panose="05050102010706020507" pitchFamily="18" charset="2"/>
              </a:rPr>
              <a:t> </a:t>
            </a:r>
            <a:r>
              <a:rPr lang="zh-CN" altLang="zh-CN" sz="2800" dirty="0">
                <a:sym typeface="Symbol" panose="05050102010706020507" pitchFamily="18" charset="2"/>
              </a:rPr>
              <a:t>t </a:t>
            </a:r>
            <a:r>
              <a:rPr lang="zh-CN" altLang="en-US" sz="2800" dirty="0"/>
              <a:t>）</a:t>
            </a:r>
            <a:r>
              <a:rPr lang="zh-CN" altLang="en-US" sz="2800" dirty="0" smtClean="0"/>
              <a:t>都相等，输入到流水线中的任务是连续的理想情况下。</a:t>
            </a:r>
            <a:endParaRPr lang="zh-CN" altLang="en-US" sz="2800" dirty="0" smtClean="0"/>
          </a:p>
          <a:p>
            <a:pPr marL="0" indent="0" eaLnBrk="1" hangingPunct="1">
              <a:buClr>
                <a:srgbClr val="FF0000"/>
              </a:buClr>
              <a:defRPr/>
            </a:pPr>
            <a:r>
              <a:rPr lang="zh-CN" altLang="en-US" sz="2800" dirty="0" smtClean="0"/>
              <a:t>  </a:t>
            </a:r>
            <a:r>
              <a:rPr lang="zh-CN" altLang="en-US" sz="2800" dirty="0" smtClean="0">
                <a:solidFill>
                  <a:srgbClr val="FF0000"/>
                </a:solidFill>
                <a:effectLst>
                  <a:outerShdw blurRad="38100" dist="38100" dir="2700000" algn="tl">
                    <a:srgbClr val="C0C0C0"/>
                  </a:outerShdw>
                </a:effectLst>
              </a:rPr>
              <a:t>实际加速比</a:t>
            </a:r>
            <a:endParaRPr lang="zh-CN" altLang="en-US" sz="2800" dirty="0" smtClean="0">
              <a:solidFill>
                <a:srgbClr val="FF0000"/>
              </a:solidFill>
              <a:effectLst>
                <a:outerShdw blurRad="38100" dist="38100" dir="2700000" algn="tl">
                  <a:srgbClr val="C0C0C0"/>
                </a:outerShdw>
              </a:effectLst>
            </a:endParaRPr>
          </a:p>
          <a:p>
            <a:pPr marL="0" indent="0" eaLnBrk="1" hangingPunct="1">
              <a:defRPr/>
            </a:pPr>
            <a:endParaRPr lang="zh-CN" altLang="en-US" sz="2800" dirty="0" smtClean="0"/>
          </a:p>
          <a:p>
            <a:pPr marL="0" indent="0" eaLnBrk="1" hangingPunct="1">
              <a:defRPr/>
            </a:pPr>
            <a:endParaRPr lang="zh-CN" altLang="en-US" sz="2800" dirty="0" smtClean="0"/>
          </a:p>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最大加速比</a:t>
            </a:r>
            <a:endParaRPr lang="zh-CN" altLang="en-US" sz="2800" dirty="0" smtClean="0"/>
          </a:p>
        </p:txBody>
      </p:sp>
      <p:sp>
        <p:nvSpPr>
          <p:cNvPr id="41988"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graphicFrame>
        <p:nvGraphicFramePr>
          <p:cNvPr id="613384" name="Object 8"/>
          <p:cNvGraphicFramePr/>
          <p:nvPr/>
        </p:nvGraphicFramePr>
        <p:xfrm>
          <a:off x="3581400" y="3657600"/>
          <a:ext cx="3533775" cy="841375"/>
        </p:xfrm>
        <a:graphic>
          <a:graphicData uri="http://schemas.openxmlformats.org/presentationml/2006/ole">
            <mc:AlternateContent xmlns:mc="http://schemas.openxmlformats.org/markup-compatibility/2006">
              <mc:Choice xmlns:v="urn:schemas-microsoft-com:vml" Requires="v">
                <p:oleObj spid="_x0000_s42168" name="Equation" r:id="rId4" imgW="1765300" imgH="419100" progId="Equation.3">
                  <p:embed/>
                </p:oleObj>
              </mc:Choice>
              <mc:Fallback>
                <p:oleObj name="Equation" r:id="rId4" imgW="1765300" imgH="419100" progId="Equation.3">
                  <p:embed/>
                  <p:pic>
                    <p:nvPicPr>
                      <p:cNvPr id="0" name="Object 8"/>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81400" y="3657600"/>
                        <a:ext cx="3533775" cy="841375"/>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graphicFrame>
        <p:nvGraphicFramePr>
          <p:cNvPr id="613385" name="Object 9"/>
          <p:cNvGraphicFramePr/>
          <p:nvPr/>
        </p:nvGraphicFramePr>
        <p:xfrm>
          <a:off x="3581400" y="5334000"/>
          <a:ext cx="2992438" cy="787400"/>
        </p:xfrm>
        <a:graphic>
          <a:graphicData uri="http://schemas.openxmlformats.org/presentationml/2006/ole">
            <mc:AlternateContent xmlns:mc="http://schemas.openxmlformats.org/markup-compatibility/2006">
              <mc:Choice xmlns:v="urn:schemas-microsoft-com:vml" Requires="v">
                <p:oleObj spid="_x0000_s42169" name="Equation" r:id="rId6" imgW="1497965" imgH="393700" progId="Equation.3">
                  <p:embed/>
                </p:oleObj>
              </mc:Choice>
              <mc:Fallback>
                <p:oleObj name="Equation" r:id="rId6" imgW="1497965" imgH="393700" progId="Equation.3">
                  <p:embed/>
                  <p:pic>
                    <p:nvPicPr>
                      <p:cNvPr id="0" name="Object 9"/>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581400" y="5334000"/>
                        <a:ext cx="2992438" cy="78740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
        <p:nvSpPr>
          <p:cNvPr id="41991" name="Text Box 1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8"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nodeType="clickEffect">
                                  <p:stCondLst>
                                    <p:cond delay="0"/>
                                  </p:stCondLst>
                                  <p:childTnLst>
                                    <p:set>
                                      <p:cBhvr>
                                        <p:cTn id="6" dur="1" fill="hold">
                                          <p:stCondLst>
                                            <p:cond delay="499"/>
                                          </p:stCondLst>
                                        </p:cTn>
                                        <p:tgtEl>
                                          <p:spTgt spid="613384"/>
                                        </p:tgtEl>
                                        <p:attrNameLst>
                                          <p:attrName>style.visibility</p:attrName>
                                        </p:attrNameLst>
                                      </p:cBhvr>
                                      <p:to>
                                        <p:strVal val="visible"/>
                                      </p:to>
                                    </p:set>
                                    <p:anim to="" calcmode="lin" valueType="num">
                                      <p:cBhvr>
                                        <p:cTn id="7" dur="1" fill="hold"/>
                                        <p:tgtEl>
                                          <p:spTgt spid="613384"/>
                                        </p:tgtEl>
                                      </p:cBhvr>
                                    </p:anim>
                                  </p:childTnLst>
                                  <p:subTnLst>
                                    <p:audio>
                                      <p:cMediaNode>
                                        <p:cTn display="0" masterRel="sameClick">
                                          <p:stCondLst>
                                            <p:cond evt="begin" delay="0">
                                              <p:tn val="5"/>
                                            </p:cond>
                                          </p:stCondLst>
                                          <p:endCondLst>
                                            <p:cond evt="onStopAudio" delay="0">
                                              <p:tgtEl>
                                                <p:sldTgt/>
                                              </p:tgtEl>
                                            </p:cond>
                                          </p:endCondLst>
                                        </p:cTn>
                                        <p:tgtEl>
                                          <p:sndTgt r:embed="rId9" name="chimes.wav"/>
                                        </p:tgtEl>
                                      </p:cMediaNode>
                                    </p:audio>
                                  </p:subTnLst>
                                </p:cTn>
                              </p:par>
                            </p:childTnLst>
                          </p:cTn>
                        </p:par>
                      </p:childTnLst>
                    </p:cTn>
                  </p:par>
                  <p:par>
                    <p:cTn id="8" fill="hold">
                      <p:stCondLst>
                        <p:cond delay="indefinite"/>
                      </p:stCondLst>
                      <p:childTnLst>
                        <p:par>
                          <p:cTn id="9" fill="hold">
                            <p:stCondLst>
                              <p:cond delay="0"/>
                            </p:stCondLst>
                            <p:childTnLst>
                              <p:par>
                                <p:cTn id="10" presetID="24" presetClass="entr" presetSubtype="0" fill="hold" nodeType="clickEffect">
                                  <p:stCondLst>
                                    <p:cond delay="0"/>
                                  </p:stCondLst>
                                  <p:childTnLst>
                                    <p:set>
                                      <p:cBhvr>
                                        <p:cTn id="11" dur="1" fill="hold">
                                          <p:stCondLst>
                                            <p:cond delay="499"/>
                                          </p:stCondLst>
                                        </p:cTn>
                                        <p:tgtEl>
                                          <p:spTgt spid="613385"/>
                                        </p:tgtEl>
                                        <p:attrNameLst>
                                          <p:attrName>style.visibility</p:attrName>
                                        </p:attrNameLst>
                                      </p:cBhvr>
                                      <p:to>
                                        <p:strVal val="visible"/>
                                      </p:to>
                                    </p:set>
                                    <p:anim to="" calcmode="lin" valueType="num">
                                      <p:cBhvr>
                                        <p:cTn id="12" dur="1" fill="hold"/>
                                        <p:tgtEl>
                                          <p:spTgt spid="613385"/>
                                        </p:tgtEl>
                                      </p:cBhvr>
                                    </p:anim>
                                  </p:childTnLst>
                                  <p:subTnLst>
                                    <p:audio>
                                      <p:cMediaNode>
                                        <p:cTn display="0" masterRel="sameClick">
                                          <p:stCondLst>
                                            <p:cond evt="begin" delay="0">
                                              <p:tn val="10"/>
                                            </p:cond>
                                          </p:stCondLst>
                                          <p:endCondLst>
                                            <p:cond evt="onStopAudio" delay="0">
                                              <p:tgtEl>
                                                <p:sldTgt/>
                                              </p:tgtEl>
                                            </p:cond>
                                          </p:endCondLst>
                                        </p:cTn>
                                        <p:tgtEl>
                                          <p:sndTgt r:embed="rId9"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5" name="Rectangle 3"/>
          <p:cNvSpPr>
            <a:spLocks noGrp="1" noChangeArrowheads="1"/>
          </p:cNvSpPr>
          <p:nvPr>
            <p:ph type="body" idx="1"/>
          </p:nvPr>
        </p:nvSpPr>
        <p:spPr/>
        <p:txBody>
          <a:bodyPr/>
          <a:lstStyle/>
          <a:p>
            <a:pPr marL="0" indent="0" eaLnBrk="1" hangingPunct="1">
              <a:lnSpc>
                <a:spcPct val="120000"/>
              </a:lnSpc>
              <a:buFont typeface="Wingdings" panose="05000000000000000000" pitchFamily="2" charset="2"/>
              <a:buNone/>
              <a:defRPr/>
            </a:pPr>
            <a:r>
              <a:rPr lang="zh-CN" altLang="en-US" sz="2800" dirty="0" smtClean="0"/>
              <a:t>    假设在流水线各段的执行时间</a:t>
            </a:r>
            <a:r>
              <a:rPr lang="zh-CN" altLang="en-US" sz="2800" dirty="0"/>
              <a:t>（</a:t>
            </a:r>
            <a:r>
              <a:rPr lang="zh-CN" altLang="zh-CN" sz="2800" dirty="0">
                <a:solidFill>
                  <a:srgbClr val="FF0000"/>
                </a:solidFill>
                <a:sym typeface="Symbol" panose="05050102010706020507" pitchFamily="18" charset="2"/>
              </a:rPr>
              <a:t> </a:t>
            </a:r>
            <a:r>
              <a:rPr lang="zh-CN" altLang="zh-CN" sz="2800" dirty="0">
                <a:sym typeface="Symbol" panose="05050102010706020507" pitchFamily="18" charset="2"/>
              </a:rPr>
              <a:t>t</a:t>
            </a:r>
            <a:r>
              <a:rPr lang="en-US" altLang="zh-CN" sz="2800" baseline="-25000" dirty="0">
                <a:sym typeface="Symbol" panose="05050102010706020507" pitchFamily="18" charset="2"/>
              </a:rPr>
              <a:t>1</a:t>
            </a:r>
            <a:r>
              <a:rPr lang="zh-CN" altLang="en-US" sz="2800" dirty="0">
                <a:sym typeface="Symbol" panose="05050102010706020507" pitchFamily="18" charset="2"/>
              </a:rPr>
              <a:t>、</a:t>
            </a:r>
            <a:r>
              <a:rPr lang="zh-CN" altLang="zh-CN" sz="2800" dirty="0">
                <a:sym typeface="Symbol" panose="05050102010706020507" pitchFamily="18" charset="2"/>
              </a:rPr>
              <a:t> t</a:t>
            </a:r>
            <a:r>
              <a:rPr lang="en-US" altLang="zh-CN" sz="2800" baseline="-25000" dirty="0">
                <a:sym typeface="Symbol" panose="05050102010706020507" pitchFamily="18" charset="2"/>
              </a:rPr>
              <a:t>2 </a:t>
            </a:r>
            <a:r>
              <a:rPr lang="zh-CN" altLang="en-US" sz="2800" dirty="0">
                <a:sym typeface="Symbol" panose="05050102010706020507" pitchFamily="18" charset="2"/>
              </a:rPr>
              <a:t>、</a:t>
            </a:r>
            <a:r>
              <a:rPr lang="zh-CN" altLang="zh-CN" sz="2800" dirty="0">
                <a:sym typeface="Symbol" panose="05050102010706020507" pitchFamily="18" charset="2"/>
              </a:rPr>
              <a:t> t</a:t>
            </a:r>
            <a:r>
              <a:rPr lang="en-US" altLang="zh-CN" sz="2800" baseline="-25000" dirty="0">
                <a:sym typeface="Symbol" panose="05050102010706020507" pitchFamily="18" charset="2"/>
              </a:rPr>
              <a:t>3 </a:t>
            </a:r>
            <a:r>
              <a:rPr lang="zh-CN" altLang="en-US" sz="2800" dirty="0">
                <a:sym typeface="Symbol" panose="05050102010706020507" pitchFamily="18" charset="2"/>
              </a:rPr>
              <a:t>、</a:t>
            </a:r>
            <a:r>
              <a:rPr lang="en-US" altLang="zh-CN" sz="2800" dirty="0">
                <a:sym typeface="Symbol" panose="05050102010706020507" pitchFamily="18" charset="2"/>
              </a:rPr>
              <a:t>…</a:t>
            </a:r>
            <a:r>
              <a:rPr lang="zh-CN" altLang="en-US" sz="2800" dirty="0">
                <a:sym typeface="Symbol" panose="05050102010706020507" pitchFamily="18" charset="2"/>
              </a:rPr>
              <a:t>、</a:t>
            </a:r>
            <a:r>
              <a:rPr lang="zh-CN" altLang="zh-CN" sz="2800" dirty="0">
                <a:sym typeface="Symbol" panose="05050102010706020507" pitchFamily="18" charset="2"/>
              </a:rPr>
              <a:t> t</a:t>
            </a:r>
            <a:r>
              <a:rPr lang="en-US" altLang="zh-CN" sz="2800" baseline="-25000" dirty="0">
                <a:sym typeface="Symbol" panose="05050102010706020507" pitchFamily="18" charset="2"/>
              </a:rPr>
              <a:t>m </a:t>
            </a:r>
            <a:r>
              <a:rPr lang="zh-CN" altLang="en-US" sz="2800" dirty="0"/>
              <a:t>）</a:t>
            </a:r>
            <a:r>
              <a:rPr lang="zh-CN" altLang="en-US" sz="2800" dirty="0" smtClean="0"/>
              <a:t>不相等，输入到流水线中的任务是连续的情况下。</a:t>
            </a:r>
            <a:endParaRPr lang="zh-CN" altLang="en-US" sz="2800" dirty="0" smtClean="0"/>
          </a:p>
          <a:p>
            <a:pPr marL="0" indent="0" eaLnBrk="1" hangingPunct="1">
              <a:buClr>
                <a:srgbClr val="FF0000"/>
              </a:buClr>
              <a:defRPr/>
            </a:pPr>
            <a:r>
              <a:rPr lang="zh-CN" altLang="en-US" sz="2800" dirty="0" smtClean="0"/>
              <a:t>  </a:t>
            </a:r>
            <a:r>
              <a:rPr lang="zh-CN" altLang="en-US" sz="2800" dirty="0" smtClean="0">
                <a:solidFill>
                  <a:srgbClr val="FF0000"/>
                </a:solidFill>
                <a:effectLst>
                  <a:outerShdw blurRad="38100" dist="38100" dir="2700000" algn="tl">
                    <a:srgbClr val="C0C0C0"/>
                  </a:outerShdw>
                </a:effectLst>
              </a:rPr>
              <a:t>实际加速比</a:t>
            </a:r>
            <a:endParaRPr lang="zh-CN" altLang="en-US" sz="2800" dirty="0" smtClean="0"/>
          </a:p>
        </p:txBody>
      </p:sp>
      <p:sp>
        <p:nvSpPr>
          <p:cNvPr id="43011"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43012"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3</a:t>
            </a:r>
            <a:endParaRPr lang="zh-CN" altLang="en-US" sz="1200" b="0">
              <a:latin typeface="幼圆" panose="02010509060101010101" pitchFamily="49" charset="-122"/>
              <a:ea typeface="幼圆" panose="02010509060101010101" pitchFamily="49" charset="-122"/>
            </a:endParaRPr>
          </a:p>
        </p:txBody>
      </p:sp>
      <p:graphicFrame>
        <p:nvGraphicFramePr>
          <p:cNvPr id="43013" name="Object 8"/>
          <p:cNvGraphicFramePr/>
          <p:nvPr/>
        </p:nvGraphicFramePr>
        <p:xfrm>
          <a:off x="2368550" y="4413250"/>
          <a:ext cx="5011738" cy="1679575"/>
        </p:xfrm>
        <a:graphic>
          <a:graphicData uri="http://schemas.openxmlformats.org/presentationml/2006/ole">
            <mc:AlternateContent xmlns:mc="http://schemas.openxmlformats.org/markup-compatibility/2006">
              <mc:Choice xmlns:v="urn:schemas-microsoft-com:vml" Requires="v">
                <p:oleObj spid="_x0000_s43103" name="Equation" r:id="rId4" imgW="2501900" imgH="838200" progId="Equation.3">
                  <p:embed/>
                </p:oleObj>
              </mc:Choice>
              <mc:Fallback>
                <p:oleObj name="Equation" r:id="rId4" imgW="2501900" imgH="838200" progId="Equation.3">
                  <p:embed/>
                  <p:pic>
                    <p:nvPicPr>
                      <p:cNvPr id="0" name="Object 8"/>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68550" y="4413250"/>
                        <a:ext cx="5011738" cy="1679575"/>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
        <p:nvSpPr>
          <p:cNvPr id="9" name="Rectangle 2"/>
          <p:cNvSpPr>
            <a:spLocks noGrp="1" noChangeArrowheads="1"/>
          </p:cNvSpPr>
          <p:nvPr>
            <p:ph type="title"/>
          </p:nvPr>
        </p:nvSpPr>
        <p:spPr>
          <a:xfrm>
            <a:off x="1331913" y="476250"/>
            <a:ext cx="6192837" cy="1143000"/>
          </a:xfrm>
        </p:spPr>
        <p:txBody>
          <a:bodyPr/>
          <a:lstStyle/>
          <a:p>
            <a:pPr eaLnBrk="1" hangingPunct="1">
              <a:defRPr/>
            </a:pPr>
            <a:r>
              <a:rPr lang="zh-CN" altLang="en-US" sz="4400" dirty="0" smtClean="0"/>
              <a:t>例2：各段时间不相等</a:t>
            </a:r>
            <a:endParaRPr lang="zh-CN" altLang="en-US" sz="4400" dirty="0" smtClean="0"/>
          </a:p>
        </p:txBody>
      </p:sp>
    </p:spTree>
  </p:cSld>
  <p:clrMapOvr>
    <a:masterClrMapping/>
  </p:clrMapOvr>
  <p:transition spd="slow">
    <p:random/>
    <p:sndAc>
      <p:stSnd>
        <p:snd r:embed="rId6"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3013"/>
                                        </p:tgtEl>
                                        <p:attrNameLst>
                                          <p:attrName>style.visibility</p:attrName>
                                        </p:attrNameLst>
                                      </p:cBhvr>
                                      <p:to>
                                        <p:strVal val="visible"/>
                                      </p:to>
                                    </p:set>
                                    <p:animEffect transition="in" filter="fade">
                                      <p:cBhvr>
                                        <p:cTn id="7" dur="1000"/>
                                        <p:tgtEl>
                                          <p:spTgt spid="43013"/>
                                        </p:tgtEl>
                                      </p:cBhvr>
                                    </p:animEffect>
                                    <p:anim calcmode="lin" valueType="num">
                                      <p:cBhvr>
                                        <p:cTn id="8" dur="1000" fill="hold"/>
                                        <p:tgtEl>
                                          <p:spTgt spid="43013"/>
                                        </p:tgtEl>
                                        <p:attrNameLst>
                                          <p:attrName>ppt_x</p:attrName>
                                        </p:attrNameLst>
                                      </p:cBhvr>
                                      <p:tavLst>
                                        <p:tav tm="0">
                                          <p:val>
                                            <p:strVal val="#ppt_x"/>
                                          </p:val>
                                        </p:tav>
                                        <p:tav tm="100000">
                                          <p:val>
                                            <p:strVal val="#ppt_x"/>
                                          </p:val>
                                        </p:tav>
                                      </p:tavLst>
                                    </p:anim>
                                    <p:anim calcmode="lin" valueType="num">
                                      <p:cBhvr>
                                        <p:cTn id="9" dur="1000" fill="hold"/>
                                        <p:tgtEl>
                                          <p:spTgt spid="430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68"/>
          <p:cNvSpPr>
            <a:spLocks noChangeArrowheads="1"/>
          </p:cNvSpPr>
          <p:nvPr/>
        </p:nvSpPr>
        <p:spPr bwMode="auto">
          <a:xfrm>
            <a:off x="5257800" y="4876800"/>
            <a:ext cx="3175000" cy="1219200"/>
          </a:xfrm>
          <a:prstGeom prst="rect">
            <a:avLst/>
          </a:prstGeom>
          <a:solidFill>
            <a:srgbClr val="99FF66"/>
          </a:solidFill>
          <a:ln w="28575">
            <a:solidFill>
              <a:schemeClr val="tx1"/>
            </a:solidFill>
            <a:prstDash val="sysDot"/>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598018" name="Rectangle 2"/>
          <p:cNvSpPr>
            <a:spLocks noGrp="1" noChangeArrowheads="1"/>
          </p:cNvSpPr>
          <p:nvPr>
            <p:ph type="title"/>
          </p:nvPr>
        </p:nvSpPr>
        <p:spPr/>
        <p:txBody>
          <a:bodyPr/>
          <a:lstStyle/>
          <a:p>
            <a:pPr eaLnBrk="1" hangingPunct="1">
              <a:defRPr/>
            </a:pPr>
            <a:r>
              <a:rPr lang="zh-CN" altLang="en-US" smtClean="0"/>
              <a:t>效  率</a:t>
            </a:r>
            <a:endParaRPr lang="zh-CN" altLang="en-US" smtClean="0"/>
          </a:p>
        </p:txBody>
      </p:sp>
      <p:sp>
        <p:nvSpPr>
          <p:cNvPr id="44036"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598021" name="Rectangle 5"/>
          <p:cNvSpPr>
            <a:spLocks noGrp="1" noChangeArrowheads="1"/>
          </p:cNvSpPr>
          <p:nvPr>
            <p:ph type="body" sz="half" idx="1"/>
          </p:nvPr>
        </p:nvSpPr>
        <p:spPr>
          <a:xfrm>
            <a:off x="809625" y="1989138"/>
            <a:ext cx="7953375" cy="4411662"/>
          </a:xfrm>
        </p:spPr>
        <p:txBody>
          <a:bodyPr/>
          <a:lstStyle/>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定义</a:t>
            </a:r>
            <a:endParaRPr lang="zh-CN" altLang="en-US" sz="28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800" dirty="0" smtClean="0"/>
              <a:t>    是指流水线的设备利用率。在时空图上，流水线的效率定义为</a:t>
            </a:r>
            <a:r>
              <a:rPr lang="en-US" altLang="zh-CN" sz="2800" dirty="0" smtClean="0"/>
              <a:t>n</a:t>
            </a:r>
            <a:r>
              <a:rPr lang="zh-CN" altLang="en-US" sz="2800" dirty="0" smtClean="0"/>
              <a:t>个任务占用的时空区与</a:t>
            </a:r>
            <a:r>
              <a:rPr lang="en-US" altLang="zh-CN" sz="2800" dirty="0" smtClean="0"/>
              <a:t>m</a:t>
            </a:r>
            <a:r>
              <a:rPr lang="zh-CN" altLang="en-US" sz="2800" dirty="0" smtClean="0"/>
              <a:t>个功能段总的时空区之比。</a:t>
            </a:r>
            <a:endParaRPr lang="zh-CN" altLang="en-US" sz="2800" dirty="0" smtClean="0"/>
          </a:p>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公式</a:t>
            </a:r>
            <a:endParaRPr lang="zh-CN" altLang="en-US" sz="2800" dirty="0" smtClean="0">
              <a:solidFill>
                <a:srgbClr val="FF0000"/>
              </a:solidFill>
              <a:effectLst>
                <a:outerShdw blurRad="38100" dist="38100" dir="2700000" algn="tl">
                  <a:srgbClr val="C0C0C0"/>
                </a:outerShdw>
              </a:effectLst>
            </a:endParaRPr>
          </a:p>
        </p:txBody>
      </p:sp>
      <p:graphicFrame>
        <p:nvGraphicFramePr>
          <p:cNvPr id="44038" name="Object 6"/>
          <p:cNvGraphicFramePr/>
          <p:nvPr/>
        </p:nvGraphicFramePr>
        <p:xfrm>
          <a:off x="914400" y="5029200"/>
          <a:ext cx="3660775" cy="806450"/>
        </p:xfrm>
        <a:graphic>
          <a:graphicData uri="http://schemas.openxmlformats.org/presentationml/2006/ole">
            <mc:AlternateContent xmlns:mc="http://schemas.openxmlformats.org/markup-compatibility/2006">
              <mc:Choice xmlns:v="urn:schemas-microsoft-com:vml" Requires="v">
                <p:oleObj spid="_x0000_s44148" name="Equation" r:id="rId4" imgW="1828800" imgH="406400" progId="Equation.3">
                  <p:embed/>
                </p:oleObj>
              </mc:Choice>
              <mc:Fallback>
                <p:oleObj name="Equation" r:id="rId4" imgW="1828800" imgH="406400" progId="Equation.3">
                  <p:embed/>
                  <p:pic>
                    <p:nvPicPr>
                      <p:cNvPr id="0" name="Object 6"/>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4400" y="5029200"/>
                        <a:ext cx="3660775" cy="806450"/>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sp>
        <p:nvSpPr>
          <p:cNvPr id="44039" name="Rectangle 8"/>
          <p:cNvSpPr>
            <a:spLocks noChangeArrowheads="1"/>
          </p:cNvSpPr>
          <p:nvPr/>
        </p:nvSpPr>
        <p:spPr bwMode="auto">
          <a:xfrm>
            <a:off x="5254625" y="5784850"/>
            <a:ext cx="530225" cy="2984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44040" name="Line 9"/>
          <p:cNvSpPr>
            <a:spLocks noChangeShapeType="1"/>
          </p:cNvSpPr>
          <p:nvPr/>
        </p:nvSpPr>
        <p:spPr bwMode="auto">
          <a:xfrm flipV="1">
            <a:off x="5254625" y="4597400"/>
            <a:ext cx="0" cy="148590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41" name="Rectangle 10"/>
          <p:cNvSpPr>
            <a:spLocks noChangeArrowheads="1"/>
          </p:cNvSpPr>
          <p:nvPr/>
        </p:nvSpPr>
        <p:spPr bwMode="auto">
          <a:xfrm>
            <a:off x="7772400" y="6096000"/>
            <a:ext cx="728663" cy="296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时间</a:t>
            </a:r>
            <a:endParaRPr lang="zh-CN" altLang="zh-CN" sz="2400">
              <a:solidFill>
                <a:schemeClr val="tx2"/>
              </a:solidFill>
            </a:endParaRPr>
          </a:p>
        </p:txBody>
      </p:sp>
      <p:sp>
        <p:nvSpPr>
          <p:cNvPr id="44042" name="Rectangle 11"/>
          <p:cNvSpPr>
            <a:spLocks noChangeArrowheads="1"/>
          </p:cNvSpPr>
          <p:nvPr/>
        </p:nvSpPr>
        <p:spPr bwMode="auto">
          <a:xfrm>
            <a:off x="4791075" y="4343400"/>
            <a:ext cx="862013" cy="296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空间</a:t>
            </a:r>
            <a:endParaRPr lang="zh-CN" altLang="zh-CN" sz="2400">
              <a:solidFill>
                <a:schemeClr val="tx2"/>
              </a:solidFill>
            </a:endParaRPr>
          </a:p>
        </p:txBody>
      </p:sp>
      <p:sp>
        <p:nvSpPr>
          <p:cNvPr id="44043" name="Rectangle 13"/>
          <p:cNvSpPr>
            <a:spLocks noChangeArrowheads="1"/>
          </p:cNvSpPr>
          <p:nvPr/>
        </p:nvSpPr>
        <p:spPr bwMode="auto">
          <a:xfrm>
            <a:off x="4724400" y="5784850"/>
            <a:ext cx="530225" cy="29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S</a:t>
            </a:r>
            <a:r>
              <a:rPr lang="zh-CN" altLang="zh-CN" sz="2400" baseline="-25000">
                <a:solidFill>
                  <a:schemeClr val="tx2"/>
                </a:solidFill>
                <a:sym typeface="Symbol" panose="05050102010706020507" pitchFamily="18" charset="2"/>
              </a:rPr>
              <a:t>1</a:t>
            </a:r>
            <a:endParaRPr lang="en-US" altLang="zh-CN" sz="2400">
              <a:solidFill>
                <a:schemeClr val="tx2"/>
              </a:solidFill>
            </a:endParaRPr>
          </a:p>
        </p:txBody>
      </p:sp>
      <p:sp>
        <p:nvSpPr>
          <p:cNvPr id="44044" name="Line 14"/>
          <p:cNvSpPr>
            <a:spLocks noChangeShapeType="1"/>
          </p:cNvSpPr>
          <p:nvPr/>
        </p:nvSpPr>
        <p:spPr bwMode="auto">
          <a:xfrm flipV="1">
            <a:off x="5254625" y="6080125"/>
            <a:ext cx="3470275" cy="3175"/>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45" name="Rectangle 15"/>
          <p:cNvSpPr>
            <a:spLocks noChangeArrowheads="1"/>
          </p:cNvSpPr>
          <p:nvPr/>
        </p:nvSpPr>
        <p:spPr bwMode="auto">
          <a:xfrm>
            <a:off x="5784850" y="5784850"/>
            <a:ext cx="530225" cy="2984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44046" name="Rectangle 16"/>
          <p:cNvSpPr>
            <a:spLocks noChangeArrowheads="1"/>
          </p:cNvSpPr>
          <p:nvPr/>
        </p:nvSpPr>
        <p:spPr bwMode="auto">
          <a:xfrm>
            <a:off x="6315075" y="5784850"/>
            <a:ext cx="530225" cy="2984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rPr>
              <a:t>n</a:t>
            </a:r>
            <a:endParaRPr lang="zh-CN" altLang="zh-CN" sz="2400">
              <a:solidFill>
                <a:schemeClr val="tx2"/>
              </a:solidFill>
            </a:endParaRPr>
          </a:p>
        </p:txBody>
      </p:sp>
      <p:sp>
        <p:nvSpPr>
          <p:cNvPr id="44047" name="Rectangle 21"/>
          <p:cNvSpPr>
            <a:spLocks noChangeArrowheads="1"/>
          </p:cNvSpPr>
          <p:nvPr/>
        </p:nvSpPr>
        <p:spPr bwMode="auto">
          <a:xfrm>
            <a:off x="4724400" y="5489575"/>
            <a:ext cx="530225" cy="295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S</a:t>
            </a:r>
            <a:r>
              <a:rPr lang="zh-CN" altLang="zh-CN" sz="2400" baseline="-25000">
                <a:solidFill>
                  <a:schemeClr val="tx2"/>
                </a:solidFill>
                <a:sym typeface="Symbol" panose="05050102010706020507" pitchFamily="18" charset="2"/>
              </a:rPr>
              <a:t>2</a:t>
            </a:r>
            <a:endParaRPr lang="en-US" altLang="zh-CN" sz="2400">
              <a:solidFill>
                <a:schemeClr val="tx2"/>
              </a:solidFill>
            </a:endParaRPr>
          </a:p>
        </p:txBody>
      </p:sp>
      <p:sp>
        <p:nvSpPr>
          <p:cNvPr id="44048" name="Rectangle 22"/>
          <p:cNvSpPr>
            <a:spLocks noChangeArrowheads="1"/>
          </p:cNvSpPr>
          <p:nvPr/>
        </p:nvSpPr>
        <p:spPr bwMode="auto">
          <a:xfrm>
            <a:off x="4724400" y="5192713"/>
            <a:ext cx="530225" cy="296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en-US" altLang="zh-CN" sz="2400">
              <a:solidFill>
                <a:schemeClr val="tx2"/>
              </a:solidFill>
            </a:endParaRPr>
          </a:p>
        </p:txBody>
      </p:sp>
      <p:sp>
        <p:nvSpPr>
          <p:cNvPr id="44049" name="Rectangle 23"/>
          <p:cNvSpPr>
            <a:spLocks noChangeArrowheads="1"/>
          </p:cNvSpPr>
          <p:nvPr/>
        </p:nvSpPr>
        <p:spPr bwMode="auto">
          <a:xfrm>
            <a:off x="4724400" y="4894263"/>
            <a:ext cx="530225" cy="29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S</a:t>
            </a:r>
            <a:r>
              <a:rPr lang="zh-CN" altLang="en-US" sz="2400" baseline="-25000">
                <a:solidFill>
                  <a:schemeClr val="tx2"/>
                </a:solidFill>
                <a:sym typeface="Symbol" panose="05050102010706020507" pitchFamily="18" charset="2"/>
              </a:rPr>
              <a:t>m</a:t>
            </a:r>
            <a:endParaRPr lang="en-US" altLang="zh-CN" sz="2400">
              <a:solidFill>
                <a:schemeClr val="tx2"/>
              </a:solidFill>
            </a:endParaRPr>
          </a:p>
        </p:txBody>
      </p:sp>
      <p:sp>
        <p:nvSpPr>
          <p:cNvPr id="44050" name="Rectangle 25"/>
          <p:cNvSpPr>
            <a:spLocks noChangeArrowheads="1"/>
          </p:cNvSpPr>
          <p:nvPr/>
        </p:nvSpPr>
        <p:spPr bwMode="auto">
          <a:xfrm>
            <a:off x="5784850" y="5489575"/>
            <a:ext cx="530225" cy="295275"/>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44051" name="Rectangle 26"/>
          <p:cNvSpPr>
            <a:spLocks noChangeArrowheads="1"/>
          </p:cNvSpPr>
          <p:nvPr/>
        </p:nvSpPr>
        <p:spPr bwMode="auto">
          <a:xfrm>
            <a:off x="6315075" y="5489575"/>
            <a:ext cx="530225" cy="295275"/>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44052" name="Rectangle 27"/>
          <p:cNvSpPr>
            <a:spLocks noChangeArrowheads="1"/>
          </p:cNvSpPr>
          <p:nvPr/>
        </p:nvSpPr>
        <p:spPr bwMode="auto">
          <a:xfrm>
            <a:off x="6845300" y="5489575"/>
            <a:ext cx="530225" cy="295275"/>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rPr>
              <a:t>n</a:t>
            </a:r>
            <a:endParaRPr lang="zh-CN" altLang="zh-CN" sz="2400">
              <a:solidFill>
                <a:schemeClr val="tx2"/>
              </a:solidFill>
            </a:endParaRPr>
          </a:p>
        </p:txBody>
      </p:sp>
      <p:sp>
        <p:nvSpPr>
          <p:cNvPr id="44053" name="Rectangle 32"/>
          <p:cNvSpPr>
            <a:spLocks noChangeArrowheads="1"/>
          </p:cNvSpPr>
          <p:nvPr/>
        </p:nvSpPr>
        <p:spPr bwMode="auto">
          <a:xfrm>
            <a:off x="6315075" y="5192713"/>
            <a:ext cx="530225" cy="296862"/>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44054" name="Rectangle 33"/>
          <p:cNvSpPr>
            <a:spLocks noChangeArrowheads="1"/>
          </p:cNvSpPr>
          <p:nvPr/>
        </p:nvSpPr>
        <p:spPr bwMode="auto">
          <a:xfrm>
            <a:off x="6845300" y="5192713"/>
            <a:ext cx="530225" cy="296862"/>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44055" name="Rectangle 34"/>
          <p:cNvSpPr>
            <a:spLocks noChangeArrowheads="1"/>
          </p:cNvSpPr>
          <p:nvPr/>
        </p:nvSpPr>
        <p:spPr bwMode="auto">
          <a:xfrm>
            <a:off x="7375525" y="5192713"/>
            <a:ext cx="530225" cy="296862"/>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44056" name="Rectangle 39"/>
          <p:cNvSpPr>
            <a:spLocks noChangeArrowheads="1"/>
          </p:cNvSpPr>
          <p:nvPr/>
        </p:nvSpPr>
        <p:spPr bwMode="auto">
          <a:xfrm>
            <a:off x="6845300" y="4894263"/>
            <a:ext cx="530225" cy="2984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44057" name="Rectangle 40"/>
          <p:cNvSpPr>
            <a:spLocks noChangeArrowheads="1"/>
          </p:cNvSpPr>
          <p:nvPr/>
        </p:nvSpPr>
        <p:spPr bwMode="auto">
          <a:xfrm>
            <a:off x="7375525" y="4894263"/>
            <a:ext cx="530225" cy="2984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zh-CN" altLang="zh-CN" sz="2400">
              <a:solidFill>
                <a:schemeClr val="tx2"/>
              </a:solidFill>
            </a:endParaRPr>
          </a:p>
        </p:txBody>
      </p:sp>
      <p:sp>
        <p:nvSpPr>
          <p:cNvPr id="44058" name="Rectangle 41"/>
          <p:cNvSpPr>
            <a:spLocks noChangeArrowheads="1"/>
          </p:cNvSpPr>
          <p:nvPr/>
        </p:nvSpPr>
        <p:spPr bwMode="auto">
          <a:xfrm>
            <a:off x="7905750" y="4894263"/>
            <a:ext cx="530225" cy="2984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rPr>
              <a:t>n</a:t>
            </a:r>
            <a:endParaRPr lang="zh-CN" altLang="zh-CN" sz="2400">
              <a:solidFill>
                <a:schemeClr val="tx2"/>
              </a:solidFill>
            </a:endParaRPr>
          </a:p>
        </p:txBody>
      </p:sp>
      <p:sp>
        <p:nvSpPr>
          <p:cNvPr id="44059" name="Text Box 6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03" name="Rectangle 3"/>
          <p:cNvSpPr>
            <a:spLocks noGrp="1" noChangeArrowheads="1"/>
          </p:cNvSpPr>
          <p:nvPr>
            <p:ph type="body" idx="1"/>
          </p:nvPr>
        </p:nvSpPr>
        <p:spPr/>
        <p:txBody>
          <a:bodyPr/>
          <a:lstStyle/>
          <a:p>
            <a:pPr marL="0" indent="0" eaLnBrk="1" hangingPunct="1">
              <a:lnSpc>
                <a:spcPct val="120000"/>
              </a:lnSpc>
              <a:buFont typeface="Wingdings" panose="05000000000000000000" pitchFamily="2" charset="2"/>
              <a:buNone/>
              <a:defRPr/>
            </a:pPr>
            <a:r>
              <a:rPr lang="zh-CN" altLang="en-US" sz="2800" dirty="0" smtClean="0"/>
              <a:t>    假设在流水线各段的执行时间</a:t>
            </a:r>
            <a:r>
              <a:rPr lang="zh-CN" altLang="en-US" sz="2800" dirty="0"/>
              <a:t>（</a:t>
            </a:r>
            <a:r>
              <a:rPr lang="zh-CN" altLang="zh-CN" sz="2800" dirty="0">
                <a:solidFill>
                  <a:srgbClr val="FF0000"/>
                </a:solidFill>
                <a:sym typeface="Symbol" panose="05050102010706020507" pitchFamily="18" charset="2"/>
              </a:rPr>
              <a:t> </a:t>
            </a:r>
            <a:r>
              <a:rPr lang="zh-CN" altLang="zh-CN" sz="2800" dirty="0">
                <a:sym typeface="Symbol" panose="05050102010706020507" pitchFamily="18" charset="2"/>
              </a:rPr>
              <a:t>t </a:t>
            </a:r>
            <a:r>
              <a:rPr lang="zh-CN" altLang="en-US" sz="2800" dirty="0"/>
              <a:t>）</a:t>
            </a:r>
            <a:r>
              <a:rPr lang="zh-CN" altLang="en-US" sz="2800" dirty="0" smtClean="0"/>
              <a:t>都相等，输入到流水线中的任务是连续的理想情况下。</a:t>
            </a:r>
            <a:endParaRPr lang="zh-CN" altLang="en-US" sz="2800" dirty="0" smtClean="0"/>
          </a:p>
          <a:p>
            <a:pPr marL="0" indent="0" eaLnBrk="1" hangingPunct="1">
              <a:buClr>
                <a:srgbClr val="FF0000"/>
              </a:buClr>
              <a:defRPr/>
            </a:pPr>
            <a:r>
              <a:rPr lang="zh-CN" altLang="en-US" sz="2800" dirty="0" smtClean="0"/>
              <a:t>  </a:t>
            </a:r>
            <a:r>
              <a:rPr lang="zh-CN" altLang="en-US" sz="2800" dirty="0" smtClean="0">
                <a:solidFill>
                  <a:srgbClr val="FF0000"/>
                </a:solidFill>
                <a:effectLst>
                  <a:outerShdw blurRad="38100" dist="38100" dir="2700000" algn="tl">
                    <a:srgbClr val="C0C0C0"/>
                  </a:outerShdw>
                </a:effectLst>
              </a:rPr>
              <a:t>实际效率</a:t>
            </a:r>
            <a:endParaRPr lang="en-US" altLang="zh-CN" sz="2800" dirty="0" smtClean="0">
              <a:solidFill>
                <a:srgbClr val="FF0000"/>
              </a:solidFill>
              <a:effectLst>
                <a:outerShdw blurRad="38100" dist="38100" dir="2700000" algn="tl">
                  <a:srgbClr val="C0C0C0"/>
                </a:outerShdw>
              </a:effectLst>
            </a:endParaRPr>
          </a:p>
          <a:p>
            <a:pPr marL="0" indent="0" eaLnBrk="1" hangingPunct="1">
              <a:defRPr/>
            </a:pPr>
            <a:endParaRPr lang="zh-CN" altLang="en-US" sz="2800" dirty="0" smtClean="0"/>
          </a:p>
          <a:p>
            <a:pPr marL="0" indent="0" eaLnBrk="1" hangingPunct="1">
              <a:defRPr/>
            </a:pPr>
            <a:endParaRPr lang="zh-CN" altLang="en-US" sz="2800" dirty="0" smtClean="0"/>
          </a:p>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最大效率</a:t>
            </a:r>
            <a:endParaRPr lang="zh-CN" altLang="en-US" sz="2800" dirty="0" smtClean="0"/>
          </a:p>
        </p:txBody>
      </p:sp>
      <p:sp>
        <p:nvSpPr>
          <p:cNvPr id="45059"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45060"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2</a:t>
            </a:r>
            <a:endParaRPr lang="zh-CN" altLang="en-US" sz="1200" b="0">
              <a:latin typeface="幼圆" panose="02010509060101010101" pitchFamily="49" charset="-122"/>
              <a:ea typeface="幼圆" panose="02010509060101010101" pitchFamily="49" charset="-122"/>
            </a:endParaRPr>
          </a:p>
        </p:txBody>
      </p:sp>
      <p:graphicFrame>
        <p:nvGraphicFramePr>
          <p:cNvPr id="614408" name="Object 8"/>
          <p:cNvGraphicFramePr/>
          <p:nvPr/>
        </p:nvGraphicFramePr>
        <p:xfrm>
          <a:off x="3390900" y="3657600"/>
          <a:ext cx="4114800" cy="835025"/>
        </p:xfrm>
        <a:graphic>
          <a:graphicData uri="http://schemas.openxmlformats.org/presentationml/2006/ole">
            <mc:AlternateContent xmlns:mc="http://schemas.openxmlformats.org/markup-compatibility/2006">
              <mc:Choice xmlns:v="urn:schemas-microsoft-com:vml" Requires="v">
                <p:oleObj spid="_x0000_s45240" name="Equation" r:id="rId4" imgW="2057400" imgH="419100" progId="Equation.3">
                  <p:embed/>
                </p:oleObj>
              </mc:Choice>
              <mc:Fallback>
                <p:oleObj name="Equation" r:id="rId4" imgW="2057400" imgH="419100" progId="Equation.3">
                  <p:embed/>
                  <p:pic>
                    <p:nvPicPr>
                      <p:cNvPr id="0" name="Object 8"/>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90900" y="3657600"/>
                        <a:ext cx="4114800" cy="835025"/>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graphicFrame>
        <p:nvGraphicFramePr>
          <p:cNvPr id="614409" name="Object 9"/>
          <p:cNvGraphicFramePr/>
          <p:nvPr/>
        </p:nvGraphicFramePr>
        <p:xfrm>
          <a:off x="3352800" y="5334000"/>
          <a:ext cx="2894013" cy="784225"/>
        </p:xfrm>
        <a:graphic>
          <a:graphicData uri="http://schemas.openxmlformats.org/presentationml/2006/ole">
            <mc:AlternateContent xmlns:mc="http://schemas.openxmlformats.org/markup-compatibility/2006">
              <mc:Choice xmlns:v="urn:schemas-microsoft-com:vml" Requires="v">
                <p:oleObj spid="_x0000_s45241" name="Equation" r:id="rId6" imgW="1447165" imgH="393700" progId="Equation.3">
                  <p:embed/>
                </p:oleObj>
              </mc:Choice>
              <mc:Fallback>
                <p:oleObj name="Equation" r:id="rId6" imgW="1447165" imgH="393700" progId="Equation.3">
                  <p:embed/>
                  <p:pic>
                    <p:nvPicPr>
                      <p:cNvPr id="0" name="Object 9"/>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52800" y="5334000"/>
                        <a:ext cx="2894013" cy="784225"/>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sp>
        <p:nvSpPr>
          <p:cNvPr id="9" name="Rectangle 2"/>
          <p:cNvSpPr>
            <a:spLocks noGrp="1" noChangeArrowheads="1"/>
          </p:cNvSpPr>
          <p:nvPr>
            <p:ph type="title"/>
          </p:nvPr>
        </p:nvSpPr>
        <p:spPr/>
        <p:txBody>
          <a:bodyPr/>
          <a:lstStyle/>
          <a:p>
            <a:pPr eaLnBrk="1" hangingPunct="1">
              <a:defRPr/>
            </a:pPr>
            <a:r>
              <a:rPr lang="zh-CN" altLang="en-US" sz="4400" dirty="0"/>
              <a:t>例1：各段时间均相等</a:t>
            </a:r>
            <a:endParaRPr lang="zh-CN" altLang="en-US" sz="4400" dirty="0" smtClean="0"/>
          </a:p>
        </p:txBody>
      </p:sp>
    </p:spTree>
  </p:cSld>
  <p:clrMapOvr>
    <a:masterClrMapping/>
  </p:clrMapOvr>
  <p:transition spd="slow">
    <p:random/>
    <p:sndAc>
      <p:stSnd>
        <p:snd r:embed="rId8"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nodeType="clickEffect">
                                  <p:stCondLst>
                                    <p:cond delay="0"/>
                                  </p:stCondLst>
                                  <p:childTnLst>
                                    <p:set>
                                      <p:cBhvr>
                                        <p:cTn id="6" dur="1" fill="hold">
                                          <p:stCondLst>
                                            <p:cond delay="499"/>
                                          </p:stCondLst>
                                        </p:cTn>
                                        <p:tgtEl>
                                          <p:spTgt spid="614408"/>
                                        </p:tgtEl>
                                        <p:attrNameLst>
                                          <p:attrName>style.visibility</p:attrName>
                                        </p:attrNameLst>
                                      </p:cBhvr>
                                      <p:to>
                                        <p:strVal val="visible"/>
                                      </p:to>
                                    </p:set>
                                    <p:anim to="" calcmode="lin" valueType="num">
                                      <p:cBhvr>
                                        <p:cTn id="7" dur="1" fill="hold"/>
                                        <p:tgtEl>
                                          <p:spTgt spid="614408"/>
                                        </p:tgtEl>
                                      </p:cBhvr>
                                    </p:anim>
                                  </p:childTnLst>
                                  <p:subTnLst>
                                    <p:audio>
                                      <p:cMediaNode>
                                        <p:cTn display="0" masterRel="sameClick">
                                          <p:stCondLst>
                                            <p:cond evt="begin" delay="0">
                                              <p:tn val="5"/>
                                            </p:cond>
                                          </p:stCondLst>
                                          <p:endCondLst>
                                            <p:cond evt="onStopAudio" delay="0">
                                              <p:tgtEl>
                                                <p:sldTgt/>
                                              </p:tgtEl>
                                            </p:cond>
                                          </p:endCondLst>
                                        </p:cTn>
                                        <p:tgtEl>
                                          <p:sndTgt r:embed="rId9" name="chimes.wav"/>
                                        </p:tgtEl>
                                      </p:cMediaNode>
                                    </p:audio>
                                  </p:subTnLst>
                                </p:cTn>
                              </p:par>
                            </p:childTnLst>
                          </p:cTn>
                        </p:par>
                      </p:childTnLst>
                    </p:cTn>
                  </p:par>
                  <p:par>
                    <p:cTn id="8" fill="hold">
                      <p:stCondLst>
                        <p:cond delay="indefinite"/>
                      </p:stCondLst>
                      <p:childTnLst>
                        <p:par>
                          <p:cTn id="9" fill="hold">
                            <p:stCondLst>
                              <p:cond delay="0"/>
                            </p:stCondLst>
                            <p:childTnLst>
                              <p:par>
                                <p:cTn id="10" presetID="24" presetClass="entr" presetSubtype="0" fill="hold" nodeType="clickEffect">
                                  <p:stCondLst>
                                    <p:cond delay="0"/>
                                  </p:stCondLst>
                                  <p:childTnLst>
                                    <p:set>
                                      <p:cBhvr>
                                        <p:cTn id="11" dur="1" fill="hold">
                                          <p:stCondLst>
                                            <p:cond delay="499"/>
                                          </p:stCondLst>
                                        </p:cTn>
                                        <p:tgtEl>
                                          <p:spTgt spid="614409"/>
                                        </p:tgtEl>
                                        <p:attrNameLst>
                                          <p:attrName>style.visibility</p:attrName>
                                        </p:attrNameLst>
                                      </p:cBhvr>
                                      <p:to>
                                        <p:strVal val="visible"/>
                                      </p:to>
                                    </p:set>
                                    <p:anim to="" calcmode="lin" valueType="num">
                                      <p:cBhvr>
                                        <p:cTn id="12" dur="1" fill="hold"/>
                                        <p:tgtEl>
                                          <p:spTgt spid="614409"/>
                                        </p:tgtEl>
                                      </p:cBhvr>
                                    </p:anim>
                                  </p:childTnLst>
                                  <p:subTnLst>
                                    <p:audio>
                                      <p:cMediaNode>
                                        <p:cTn display="0" masterRel="sameClick">
                                          <p:stCondLst>
                                            <p:cond evt="begin" delay="0">
                                              <p:tn val="10"/>
                                            </p:cond>
                                          </p:stCondLst>
                                          <p:endCondLst>
                                            <p:cond evt="onStopAudio" delay="0">
                                              <p:tgtEl>
                                                <p:sldTgt/>
                                              </p:tgtEl>
                                            </p:cond>
                                          </p:endCondLst>
                                        </p:cTn>
                                        <p:tgtEl>
                                          <p:sndTgt r:embed="rId9"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427" name="Rectangle 3"/>
          <p:cNvSpPr>
            <a:spLocks noGrp="1" noChangeArrowheads="1"/>
          </p:cNvSpPr>
          <p:nvPr>
            <p:ph type="body" idx="1"/>
          </p:nvPr>
        </p:nvSpPr>
        <p:spPr/>
        <p:txBody>
          <a:bodyPr/>
          <a:lstStyle/>
          <a:p>
            <a:pPr marL="0" indent="0" eaLnBrk="1" hangingPunct="1">
              <a:lnSpc>
                <a:spcPct val="120000"/>
              </a:lnSpc>
              <a:buFont typeface="Wingdings" panose="05000000000000000000" pitchFamily="2" charset="2"/>
              <a:buNone/>
              <a:defRPr/>
            </a:pPr>
            <a:r>
              <a:rPr lang="zh-CN" altLang="en-US" sz="2800" dirty="0" smtClean="0"/>
              <a:t>    假设在流水线各段的执行时间</a:t>
            </a:r>
            <a:r>
              <a:rPr lang="zh-CN" altLang="en-US" sz="2800" dirty="0"/>
              <a:t>（</a:t>
            </a:r>
            <a:r>
              <a:rPr lang="zh-CN" altLang="zh-CN" sz="2800" dirty="0">
                <a:solidFill>
                  <a:srgbClr val="FF0000"/>
                </a:solidFill>
                <a:sym typeface="Symbol" panose="05050102010706020507" pitchFamily="18" charset="2"/>
              </a:rPr>
              <a:t> </a:t>
            </a:r>
            <a:r>
              <a:rPr lang="zh-CN" altLang="zh-CN" sz="2800" dirty="0">
                <a:sym typeface="Symbol" panose="05050102010706020507" pitchFamily="18" charset="2"/>
              </a:rPr>
              <a:t>t</a:t>
            </a:r>
            <a:r>
              <a:rPr lang="en-US" altLang="zh-CN" sz="2800" baseline="-25000" dirty="0">
                <a:sym typeface="Symbol" panose="05050102010706020507" pitchFamily="18" charset="2"/>
              </a:rPr>
              <a:t>1</a:t>
            </a:r>
            <a:r>
              <a:rPr lang="zh-CN" altLang="en-US" sz="2800" dirty="0">
                <a:sym typeface="Symbol" panose="05050102010706020507" pitchFamily="18" charset="2"/>
              </a:rPr>
              <a:t>、</a:t>
            </a:r>
            <a:r>
              <a:rPr lang="zh-CN" altLang="zh-CN" sz="2800" dirty="0">
                <a:sym typeface="Symbol" panose="05050102010706020507" pitchFamily="18" charset="2"/>
              </a:rPr>
              <a:t> t</a:t>
            </a:r>
            <a:r>
              <a:rPr lang="en-US" altLang="zh-CN" sz="2800" baseline="-25000" dirty="0">
                <a:sym typeface="Symbol" panose="05050102010706020507" pitchFamily="18" charset="2"/>
              </a:rPr>
              <a:t>2 </a:t>
            </a:r>
            <a:r>
              <a:rPr lang="zh-CN" altLang="en-US" sz="2800" dirty="0">
                <a:sym typeface="Symbol" panose="05050102010706020507" pitchFamily="18" charset="2"/>
              </a:rPr>
              <a:t>、</a:t>
            </a:r>
            <a:r>
              <a:rPr lang="zh-CN" altLang="zh-CN" sz="2800" dirty="0">
                <a:sym typeface="Symbol" panose="05050102010706020507" pitchFamily="18" charset="2"/>
              </a:rPr>
              <a:t> t</a:t>
            </a:r>
            <a:r>
              <a:rPr lang="en-US" altLang="zh-CN" sz="2800" baseline="-25000" dirty="0">
                <a:sym typeface="Symbol" panose="05050102010706020507" pitchFamily="18" charset="2"/>
              </a:rPr>
              <a:t>3 </a:t>
            </a:r>
            <a:r>
              <a:rPr lang="zh-CN" altLang="en-US" sz="2800" dirty="0">
                <a:sym typeface="Symbol" panose="05050102010706020507" pitchFamily="18" charset="2"/>
              </a:rPr>
              <a:t>、</a:t>
            </a:r>
            <a:r>
              <a:rPr lang="en-US" altLang="zh-CN" sz="2800" dirty="0">
                <a:sym typeface="Symbol" panose="05050102010706020507" pitchFamily="18" charset="2"/>
              </a:rPr>
              <a:t>…</a:t>
            </a:r>
            <a:r>
              <a:rPr lang="zh-CN" altLang="en-US" sz="2800" dirty="0">
                <a:sym typeface="Symbol" panose="05050102010706020507" pitchFamily="18" charset="2"/>
              </a:rPr>
              <a:t>、</a:t>
            </a:r>
            <a:r>
              <a:rPr lang="zh-CN" altLang="zh-CN" sz="2800" dirty="0">
                <a:sym typeface="Symbol" panose="05050102010706020507" pitchFamily="18" charset="2"/>
              </a:rPr>
              <a:t> t</a:t>
            </a:r>
            <a:r>
              <a:rPr lang="en-US" altLang="zh-CN" sz="2800" baseline="-25000" dirty="0">
                <a:sym typeface="Symbol" panose="05050102010706020507" pitchFamily="18" charset="2"/>
              </a:rPr>
              <a:t>m </a:t>
            </a:r>
            <a:r>
              <a:rPr lang="zh-CN" altLang="en-US" sz="2800" dirty="0"/>
              <a:t>）</a:t>
            </a:r>
            <a:r>
              <a:rPr lang="zh-CN" altLang="en-US" sz="2800" dirty="0" smtClean="0"/>
              <a:t>不相等，输入到流水线中的任务是连续的情况下。</a:t>
            </a:r>
            <a:endParaRPr lang="zh-CN" altLang="en-US" sz="2800" dirty="0" smtClean="0"/>
          </a:p>
          <a:p>
            <a:pPr marL="0" indent="0" eaLnBrk="1" hangingPunct="1">
              <a:lnSpc>
                <a:spcPct val="120000"/>
              </a:lnSpc>
              <a:buClr>
                <a:srgbClr val="FF0000"/>
              </a:buClr>
              <a:defRPr/>
            </a:pPr>
            <a:r>
              <a:rPr lang="zh-CN" altLang="en-US" sz="2800" dirty="0" smtClean="0"/>
              <a:t>  </a:t>
            </a:r>
            <a:r>
              <a:rPr lang="zh-CN" altLang="en-US" sz="2800" dirty="0" smtClean="0">
                <a:solidFill>
                  <a:srgbClr val="FF0000"/>
                </a:solidFill>
                <a:effectLst>
                  <a:outerShdw blurRad="38100" dist="38100" dir="2700000" algn="tl">
                    <a:srgbClr val="C0C0C0"/>
                  </a:outerShdw>
                </a:effectLst>
              </a:rPr>
              <a:t>实际效率（功能段等权值）</a:t>
            </a:r>
            <a:endParaRPr lang="zh-CN" altLang="en-US" sz="2800" dirty="0" smtClean="0"/>
          </a:p>
        </p:txBody>
      </p:sp>
      <p:sp>
        <p:nvSpPr>
          <p:cNvPr id="46083"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46084"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3</a:t>
            </a:r>
            <a:endParaRPr lang="zh-CN" altLang="en-US" sz="1200" b="0">
              <a:latin typeface="幼圆" panose="02010509060101010101" pitchFamily="49" charset="-122"/>
              <a:ea typeface="幼圆" panose="02010509060101010101" pitchFamily="49" charset="-122"/>
            </a:endParaRPr>
          </a:p>
        </p:txBody>
      </p:sp>
      <p:graphicFrame>
        <p:nvGraphicFramePr>
          <p:cNvPr id="46085" name="Object 7"/>
          <p:cNvGraphicFramePr/>
          <p:nvPr/>
        </p:nvGraphicFramePr>
        <p:xfrm>
          <a:off x="1763713" y="4416425"/>
          <a:ext cx="5692775" cy="1676400"/>
        </p:xfrm>
        <a:graphic>
          <a:graphicData uri="http://schemas.openxmlformats.org/presentationml/2006/ole">
            <mc:AlternateContent xmlns:mc="http://schemas.openxmlformats.org/markup-compatibility/2006">
              <mc:Choice xmlns:v="urn:schemas-microsoft-com:vml" Requires="v">
                <p:oleObj spid="_x0000_s46175" name="Equation" r:id="rId4" imgW="2844800" imgH="838200" progId="Equation.3">
                  <p:embed/>
                </p:oleObj>
              </mc:Choice>
              <mc:Fallback>
                <p:oleObj name="Equation" r:id="rId4" imgW="2844800" imgH="838200" progId="Equation.3">
                  <p:embed/>
                  <p:pic>
                    <p:nvPicPr>
                      <p:cNvPr id="0" name="Object 7"/>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63713" y="4416425"/>
                        <a:ext cx="5692775" cy="1676400"/>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sp>
        <p:nvSpPr>
          <p:cNvPr id="8" name="Rectangle 2"/>
          <p:cNvSpPr>
            <a:spLocks noGrp="1" noChangeArrowheads="1"/>
          </p:cNvSpPr>
          <p:nvPr>
            <p:ph type="title"/>
          </p:nvPr>
        </p:nvSpPr>
        <p:spPr>
          <a:xfrm>
            <a:off x="1331913" y="476250"/>
            <a:ext cx="6192837" cy="1143000"/>
          </a:xfrm>
        </p:spPr>
        <p:txBody>
          <a:bodyPr/>
          <a:lstStyle/>
          <a:p>
            <a:pPr eaLnBrk="1" hangingPunct="1">
              <a:defRPr/>
            </a:pPr>
            <a:r>
              <a:rPr lang="zh-CN" altLang="en-US" sz="4400" dirty="0" smtClean="0"/>
              <a:t>例2：各段时间不相等</a:t>
            </a:r>
            <a:endParaRPr lang="zh-CN" altLang="en-US" sz="4400" dirty="0" smtClean="0"/>
          </a:p>
        </p:txBody>
      </p:sp>
    </p:spTree>
  </p:cSld>
  <p:clrMapOvr>
    <a:masterClrMapping/>
  </p:clrMapOvr>
  <p:transition spd="slow">
    <p:random/>
    <p:sndAc>
      <p:stSnd>
        <p:snd r:embed="rId6"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6085"/>
                                        </p:tgtEl>
                                        <p:attrNameLst>
                                          <p:attrName>style.visibility</p:attrName>
                                        </p:attrNameLst>
                                      </p:cBhvr>
                                      <p:to>
                                        <p:strVal val="visible"/>
                                      </p:to>
                                    </p:set>
                                    <p:animEffect transition="in" filter="fade">
                                      <p:cBhvr>
                                        <p:cTn id="7" dur="1000"/>
                                        <p:tgtEl>
                                          <p:spTgt spid="46085"/>
                                        </p:tgtEl>
                                      </p:cBhvr>
                                    </p:animEffect>
                                    <p:anim calcmode="lin" valueType="num">
                                      <p:cBhvr>
                                        <p:cTn id="8" dur="1000" fill="hold"/>
                                        <p:tgtEl>
                                          <p:spTgt spid="46085"/>
                                        </p:tgtEl>
                                        <p:attrNameLst>
                                          <p:attrName>ppt_x</p:attrName>
                                        </p:attrNameLst>
                                      </p:cBhvr>
                                      <p:tavLst>
                                        <p:tav tm="0">
                                          <p:val>
                                            <p:strVal val="#ppt_x"/>
                                          </p:val>
                                        </p:tav>
                                        <p:tav tm="100000">
                                          <p:val>
                                            <p:strVal val="#ppt_x"/>
                                          </p:val>
                                        </p:tav>
                                      </p:tavLst>
                                    </p:anim>
                                    <p:anim calcmode="lin" valueType="num">
                                      <p:cBhvr>
                                        <p:cTn id="9" dur="1000" fill="hold"/>
                                        <p:tgtEl>
                                          <p:spTgt spid="4608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6451" name="Rectangle 3"/>
          <p:cNvSpPr>
            <a:spLocks noGrp="1" noChangeArrowheads="1"/>
          </p:cNvSpPr>
          <p:nvPr>
            <p:ph type="body" idx="1"/>
          </p:nvPr>
        </p:nvSpPr>
        <p:spPr/>
        <p:txBody>
          <a:bodyPr/>
          <a:lstStyle/>
          <a:p>
            <a:pPr marL="0" indent="0" eaLnBrk="1" hangingPunct="1">
              <a:lnSpc>
                <a:spcPct val="120000"/>
              </a:lnSpc>
              <a:buClr>
                <a:srgbClr val="FF0000"/>
              </a:buClr>
              <a:defRPr/>
            </a:pPr>
            <a:r>
              <a:rPr lang="zh-CN" altLang="en-US" sz="2400" dirty="0" smtClean="0">
                <a:solidFill>
                  <a:srgbClr val="FF0000"/>
                </a:solidFill>
                <a:effectLst>
                  <a:outerShdw blurRad="38100" dist="38100" dir="2700000" algn="tl">
                    <a:srgbClr val="C0C0C0"/>
                  </a:outerShdw>
                </a:effectLst>
              </a:rPr>
              <a:t>  实际效率（功能段权值不同）</a:t>
            </a: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defRPr/>
            </a:pP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defRPr/>
            </a:pP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defRPr/>
            </a:pP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defRPr/>
            </a:pP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defRPr/>
            </a:pP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buFont typeface="Wingdings" panose="05000000000000000000" pitchFamily="2" charset="2"/>
              <a:buNone/>
              <a:defRPr/>
            </a:pPr>
            <a:endParaRPr lang="zh-CN" altLang="en-US" sz="2400" dirty="0" smtClean="0"/>
          </a:p>
          <a:p>
            <a:pPr marL="0" indent="0" eaLnBrk="1" hangingPunct="1">
              <a:lnSpc>
                <a:spcPct val="120000"/>
              </a:lnSpc>
              <a:buClr>
                <a:srgbClr val="FF0000"/>
              </a:buClr>
              <a:buFont typeface="Wingdings" panose="05000000000000000000" pitchFamily="2" charset="2"/>
              <a:buNone/>
              <a:defRPr/>
            </a:pPr>
            <a:r>
              <a:rPr lang="zh-CN" altLang="en-US" sz="2400" dirty="0" smtClean="0"/>
              <a:t>        其中，</a:t>
            </a:r>
            <a:r>
              <a:rPr lang="en-US" altLang="zh-CN" sz="2400" dirty="0" smtClean="0">
                <a:sym typeface="Symbol" panose="05050102010706020507" pitchFamily="18" charset="2"/>
              </a:rPr>
              <a:t></a:t>
            </a:r>
            <a:r>
              <a:rPr lang="en-US" altLang="zh-CN" sz="2400" baseline="-25000" dirty="0" err="1" smtClean="0"/>
              <a:t>i</a:t>
            </a:r>
            <a:r>
              <a:rPr lang="zh-CN" altLang="en-US" sz="2400" dirty="0" smtClean="0"/>
              <a:t>为</a:t>
            </a:r>
            <a:r>
              <a:rPr lang="en-US" altLang="zh-CN" sz="2400" dirty="0" err="1" smtClean="0"/>
              <a:t>i</a:t>
            </a:r>
            <a:r>
              <a:rPr lang="zh-CN" altLang="en-US" sz="2400" dirty="0" smtClean="0"/>
              <a:t>段的权值， </a:t>
            </a:r>
            <a:r>
              <a:rPr lang="en-US" altLang="zh-CN" sz="2400" dirty="0" smtClean="0">
                <a:sym typeface="Symbol" panose="05050102010706020507" pitchFamily="18" charset="2"/>
              </a:rPr>
              <a:t></a:t>
            </a:r>
            <a:r>
              <a:rPr lang="en-US" altLang="zh-CN" sz="2400" baseline="-25000" dirty="0" err="1" smtClean="0"/>
              <a:t>i</a:t>
            </a:r>
            <a:r>
              <a:rPr lang="en-US" altLang="zh-CN" sz="2400" dirty="0" smtClean="0"/>
              <a:t> &lt; m，</a:t>
            </a:r>
            <a:r>
              <a:rPr lang="zh-CN" altLang="en-US" sz="2400" dirty="0" smtClean="0"/>
              <a:t>且</a:t>
            </a:r>
            <a:endParaRPr lang="zh-CN" altLang="en-US" sz="2400" dirty="0" smtClean="0"/>
          </a:p>
        </p:txBody>
      </p:sp>
      <p:sp>
        <p:nvSpPr>
          <p:cNvPr id="4710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47108"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4</a:t>
            </a:r>
            <a:endParaRPr lang="zh-CN" altLang="en-US" sz="1200" b="0">
              <a:latin typeface="幼圆" panose="02010509060101010101" pitchFamily="49" charset="-122"/>
              <a:ea typeface="幼圆" panose="02010509060101010101" pitchFamily="49" charset="-122"/>
            </a:endParaRPr>
          </a:p>
        </p:txBody>
      </p:sp>
      <p:sp>
        <p:nvSpPr>
          <p:cNvPr id="47109" name="Rectangle 8"/>
          <p:cNvSpPr>
            <a:spLocks noChangeArrowheads="1"/>
          </p:cNvSpPr>
          <p:nvPr/>
        </p:nvSpPr>
        <p:spPr bwMode="auto">
          <a:xfrm>
            <a:off x="2057400" y="29718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aphicFrame>
        <p:nvGraphicFramePr>
          <p:cNvPr id="47110" name="Object 7"/>
          <p:cNvGraphicFramePr>
            <a:graphicFrameLocks noChangeAspect="1"/>
          </p:cNvGraphicFramePr>
          <p:nvPr/>
        </p:nvGraphicFramePr>
        <p:xfrm>
          <a:off x="938213" y="2657475"/>
          <a:ext cx="7462837" cy="2741613"/>
        </p:xfrm>
        <a:graphic>
          <a:graphicData uri="http://schemas.openxmlformats.org/presentationml/2006/ole">
            <mc:AlternateContent xmlns:mc="http://schemas.openxmlformats.org/markup-compatibility/2006">
              <mc:Choice xmlns:v="urn:schemas-microsoft-com:vml" Requires="v">
                <p:oleObj spid="_x0000_s47289" name="公式" r:id="rId4" imgW="89611200" imgH="32918400" progId="Equation.3">
                  <p:embed/>
                </p:oleObj>
              </mc:Choice>
              <mc:Fallback>
                <p:oleObj name="公式" r:id="rId4" imgW="89611200" imgH="32918400" progId="Equation.3">
                  <p:embed/>
                  <p:pic>
                    <p:nvPicPr>
                      <p:cNvPr id="0" name="Object 7"/>
                      <p:cNvPicPr>
                        <a:picLocks noChangeAspect="1" noChangeArrowheads="1"/>
                      </p:cNvPicPr>
                      <p:nvPr/>
                    </p:nvPicPr>
                    <p:blipFill>
                      <a:blip r:embed="rId5"/>
                      <a:srcRect/>
                      <a:stretch>
                        <a:fillRect/>
                      </a:stretch>
                    </p:blipFill>
                    <p:spPr bwMode="auto">
                      <a:xfrm>
                        <a:off x="938213" y="2657475"/>
                        <a:ext cx="7462837" cy="2741613"/>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graphicFrame>
        <p:nvGraphicFramePr>
          <p:cNvPr id="47111" name="Object 9"/>
          <p:cNvGraphicFramePr>
            <a:graphicFrameLocks noChangeAspect="1"/>
          </p:cNvGraphicFramePr>
          <p:nvPr/>
        </p:nvGraphicFramePr>
        <p:xfrm>
          <a:off x="6372225" y="5419876"/>
          <a:ext cx="1295400" cy="862012"/>
        </p:xfrm>
        <a:graphic>
          <a:graphicData uri="http://schemas.openxmlformats.org/presentationml/2006/ole">
            <mc:AlternateContent xmlns:mc="http://schemas.openxmlformats.org/markup-compatibility/2006">
              <mc:Choice xmlns:v="urn:schemas-microsoft-com:vml" Requires="v">
                <p:oleObj spid="_x0000_s47290" name="Equation" r:id="rId6" imgW="647700" imgH="431800" progId="Equation.3">
                  <p:embed/>
                </p:oleObj>
              </mc:Choice>
              <mc:Fallback>
                <p:oleObj name="Equation" r:id="rId6" imgW="647700" imgH="431800" progId="Equation.3">
                  <p:embed/>
                  <p:pic>
                    <p:nvPicPr>
                      <p:cNvPr id="0" name="Object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372225" y="5419876"/>
                        <a:ext cx="1295400" cy="862012"/>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 name="Rectangle 2"/>
          <p:cNvSpPr>
            <a:spLocks noGrp="1" noChangeArrowheads="1"/>
          </p:cNvSpPr>
          <p:nvPr>
            <p:ph type="title"/>
          </p:nvPr>
        </p:nvSpPr>
        <p:spPr>
          <a:xfrm>
            <a:off x="1331913" y="476250"/>
            <a:ext cx="6192837" cy="1143000"/>
          </a:xfrm>
        </p:spPr>
        <p:txBody>
          <a:bodyPr/>
          <a:lstStyle/>
          <a:p>
            <a:pPr eaLnBrk="1" hangingPunct="1">
              <a:defRPr/>
            </a:pPr>
            <a:r>
              <a:rPr lang="zh-CN" altLang="en-US" sz="4400" dirty="0" smtClean="0"/>
              <a:t>例2：各段时间不相等</a:t>
            </a:r>
            <a:endParaRPr lang="zh-CN" altLang="en-US" sz="4400" dirty="0" smtClean="0"/>
          </a:p>
        </p:txBody>
      </p:sp>
    </p:spTree>
  </p:cSld>
  <p:clrMapOvr>
    <a:masterClrMapping/>
  </p:clrMapOvr>
  <p:transition spd="slow">
    <p:random/>
    <p:sndAc>
      <p:stSnd>
        <p:snd r:embed="rId8"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7110"/>
                                        </p:tgtEl>
                                        <p:attrNameLst>
                                          <p:attrName>style.visibility</p:attrName>
                                        </p:attrNameLst>
                                      </p:cBhvr>
                                      <p:to>
                                        <p:strVal val="visible"/>
                                      </p:to>
                                    </p:set>
                                    <p:animEffect transition="in" filter="fade">
                                      <p:cBhvr>
                                        <p:cTn id="7" dur="1000"/>
                                        <p:tgtEl>
                                          <p:spTgt spid="47110"/>
                                        </p:tgtEl>
                                      </p:cBhvr>
                                    </p:animEffect>
                                    <p:anim calcmode="lin" valueType="num">
                                      <p:cBhvr>
                                        <p:cTn id="8" dur="1000" fill="hold"/>
                                        <p:tgtEl>
                                          <p:spTgt spid="47110"/>
                                        </p:tgtEl>
                                        <p:attrNameLst>
                                          <p:attrName>ppt_x</p:attrName>
                                        </p:attrNameLst>
                                      </p:cBhvr>
                                      <p:tavLst>
                                        <p:tav tm="0">
                                          <p:val>
                                            <p:strVal val="#ppt_x"/>
                                          </p:val>
                                        </p:tav>
                                        <p:tav tm="100000">
                                          <p:val>
                                            <p:strVal val="#ppt_x"/>
                                          </p:val>
                                        </p:tav>
                                      </p:tavLst>
                                    </p:anim>
                                    <p:anim calcmode="lin" valueType="num">
                                      <p:cBhvr>
                                        <p:cTn id="9" dur="1000" fill="hold"/>
                                        <p:tgtEl>
                                          <p:spTgt spid="471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9042" name="Rectangle 2"/>
          <p:cNvSpPr>
            <a:spLocks noGrp="1" noChangeArrowheads="1"/>
          </p:cNvSpPr>
          <p:nvPr>
            <p:ph type="title"/>
          </p:nvPr>
        </p:nvSpPr>
        <p:spPr/>
        <p:txBody>
          <a:bodyPr/>
          <a:lstStyle/>
          <a:p>
            <a:pPr eaLnBrk="1" hangingPunct="1">
              <a:defRPr/>
            </a:pPr>
            <a:r>
              <a:rPr lang="zh-CN" altLang="en-US" smtClean="0"/>
              <a:t>流水线最佳段数的</a:t>
            </a:r>
            <a:br>
              <a:rPr lang="zh-CN" altLang="en-US" smtClean="0"/>
            </a:br>
            <a:r>
              <a:rPr lang="zh-CN" altLang="en-US" smtClean="0"/>
              <a:t>选择</a:t>
            </a:r>
            <a:endParaRPr lang="zh-CN" altLang="en-US" smtClean="0"/>
          </a:p>
        </p:txBody>
      </p:sp>
      <p:sp>
        <p:nvSpPr>
          <p:cNvPr id="4813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599044" name="Rectangle 4"/>
          <p:cNvSpPr>
            <a:spLocks noGrp="1" noChangeArrowheads="1"/>
          </p:cNvSpPr>
          <p:nvPr>
            <p:ph type="body" idx="1"/>
          </p:nvPr>
        </p:nvSpPr>
        <p:spPr/>
        <p:txBody>
          <a:bodyPr/>
          <a:lstStyle/>
          <a:p>
            <a:pPr marL="0" indent="0" eaLnBrk="1" hangingPunct="1">
              <a:lnSpc>
                <a:spcPct val="150000"/>
              </a:lnSpc>
              <a:buClr>
                <a:srgbClr val="FF0000"/>
              </a:buClr>
              <a:defRPr/>
            </a:pPr>
            <a:r>
              <a:rPr lang="zh-CN" altLang="en-US" sz="2800" dirty="0" smtClean="0">
                <a:solidFill>
                  <a:srgbClr val="FF0000"/>
                </a:solidFill>
                <a:effectLst>
                  <a:outerShdw blurRad="38100" dist="38100" dir="2700000" algn="tl">
                    <a:srgbClr val="C0C0C0"/>
                  </a:outerShdw>
                </a:effectLst>
              </a:rPr>
              <a:t>  问题提出</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50000"/>
              </a:lnSpc>
              <a:buFont typeface="Wingdings" panose="05000000000000000000" pitchFamily="2" charset="2"/>
              <a:buNone/>
              <a:defRPr/>
            </a:pPr>
            <a:r>
              <a:rPr lang="zh-CN" altLang="en-US" sz="2800" dirty="0" smtClean="0"/>
              <a:t>    功能段数量的增加能提高流水线的吞吐率和加速比，但使流水线价格增加（锁存器数量的增加），一条指令执行的总时间增加（锁存器的总延迟时间增加）。所以从</a:t>
            </a:r>
            <a:r>
              <a:rPr lang="zh-CN" altLang="en-US" sz="2800" dirty="0" smtClean="0">
                <a:solidFill>
                  <a:srgbClr val="0000FF"/>
                </a:solidFill>
              </a:rPr>
              <a:t>性价比</a:t>
            </a:r>
            <a:r>
              <a:rPr lang="zh-CN" altLang="en-US" sz="2800" dirty="0" smtClean="0"/>
              <a:t>角度出发流水线存在着</a:t>
            </a:r>
            <a:r>
              <a:rPr lang="zh-CN" altLang="en-US" sz="2800" dirty="0" smtClean="0">
                <a:solidFill>
                  <a:srgbClr val="0000FF"/>
                </a:solidFill>
              </a:rPr>
              <a:t>最佳段数</a:t>
            </a:r>
            <a:r>
              <a:rPr lang="zh-CN" altLang="en-US" sz="2800" dirty="0" smtClean="0"/>
              <a:t>。</a:t>
            </a:r>
            <a:endParaRPr lang="zh-CN" altLang="en-US" sz="2800" dirty="0" smtClean="0"/>
          </a:p>
        </p:txBody>
      </p:sp>
      <p:sp>
        <p:nvSpPr>
          <p:cNvPr id="48133"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7474" name="Rectangle 1026"/>
          <p:cNvSpPr>
            <a:spLocks noGrp="1" noChangeArrowheads="1"/>
          </p:cNvSpPr>
          <p:nvPr>
            <p:ph type="title"/>
          </p:nvPr>
        </p:nvSpPr>
        <p:spPr/>
        <p:txBody>
          <a:bodyPr/>
          <a:lstStyle/>
          <a:p>
            <a:pPr eaLnBrk="1" hangingPunct="1">
              <a:defRPr/>
            </a:pPr>
            <a:r>
              <a:rPr lang="zh-CN" altLang="en-US" smtClean="0"/>
              <a:t>流水线最佳段数的选择</a:t>
            </a:r>
            <a:endParaRPr lang="zh-CN" altLang="en-US" smtClean="0"/>
          </a:p>
        </p:txBody>
      </p:sp>
      <p:sp>
        <p:nvSpPr>
          <p:cNvPr id="617476" name="Rectangle 1028"/>
          <p:cNvSpPr>
            <a:spLocks noGrp="1" noChangeArrowheads="1"/>
          </p:cNvSpPr>
          <p:nvPr>
            <p:ph type="body" sz="half" idx="1"/>
          </p:nvPr>
        </p:nvSpPr>
        <p:spPr>
          <a:xfrm>
            <a:off x="809625" y="1989138"/>
            <a:ext cx="7877175" cy="687387"/>
          </a:xfrm>
        </p:spPr>
        <p:txBody>
          <a:bodyPr/>
          <a:lstStyle/>
          <a:p>
            <a:pPr marL="0" indent="0" eaLnBrk="1" hangingPunct="1">
              <a:lnSpc>
                <a:spcPct val="120000"/>
              </a:lnSpc>
              <a:buClr>
                <a:srgbClr val="FF0000"/>
              </a:buClr>
              <a:defRPr/>
            </a:pPr>
            <a:r>
              <a:rPr lang="zh-CN" altLang="en-US" smtClean="0">
                <a:solidFill>
                  <a:srgbClr val="FF0000"/>
                </a:solidFill>
                <a:effectLst>
                  <a:outerShdw blurRad="38100" dist="38100" dir="2700000" algn="tl">
                    <a:srgbClr val="C0C0C0"/>
                  </a:outerShdw>
                </a:effectLst>
              </a:rPr>
              <a:t>  问题解决</a:t>
            </a:r>
            <a:endParaRPr lang="zh-CN" altLang="en-US" smtClean="0"/>
          </a:p>
        </p:txBody>
      </p:sp>
      <p:sp>
        <p:nvSpPr>
          <p:cNvPr id="49156" name="Rectangle 1030"/>
          <p:cNvSpPr>
            <a:spLocks noGrp="1" noChangeArrowheads="1"/>
          </p:cNvSpPr>
          <p:nvPr>
            <p:ph type="body" sz="half" idx="2"/>
          </p:nvPr>
        </p:nvSpPr>
        <p:spPr>
          <a:xfrm>
            <a:off x="4495800" y="4114800"/>
            <a:ext cx="4284663" cy="2209800"/>
          </a:xfrm>
          <a:solidFill>
            <a:schemeClr val="bg1"/>
          </a:solidFill>
          <a:ln w="57150" cmpd="thickThin">
            <a:solidFill>
              <a:schemeClr val="tx1"/>
            </a:solidFill>
            <a:miter lim="800000"/>
          </a:ln>
        </p:spPr>
        <p:txBody>
          <a:bodyPr/>
          <a:lstStyle/>
          <a:p>
            <a:pPr marL="0" indent="0" eaLnBrk="1" hangingPunct="1">
              <a:buFont typeface="Wingdings" panose="05000000000000000000" pitchFamily="2" charset="2"/>
              <a:buNone/>
            </a:pPr>
            <a:r>
              <a:rPr lang="zh-CN" altLang="en-US" sz="2400" smtClean="0"/>
              <a:t>       对自变量</a:t>
            </a:r>
            <a:r>
              <a:rPr lang="en-US" altLang="zh-CN" sz="2400" smtClean="0"/>
              <a:t>m</a:t>
            </a:r>
            <a:r>
              <a:rPr lang="zh-CN" altLang="en-US" sz="2400" smtClean="0"/>
              <a:t>求导，求</a:t>
            </a:r>
            <a:r>
              <a:rPr lang="en-US" altLang="zh-CN" sz="2400" smtClean="0"/>
              <a:t>PCR</a:t>
            </a:r>
            <a:r>
              <a:rPr lang="zh-CN" altLang="en-US" sz="2400" smtClean="0"/>
              <a:t>的最大值，得到最佳段数为：</a:t>
            </a:r>
            <a:endParaRPr lang="zh-CN" altLang="en-US" sz="2400" smtClean="0"/>
          </a:p>
        </p:txBody>
      </p:sp>
      <p:sp>
        <p:nvSpPr>
          <p:cNvPr id="49157" name="Text Box 1027"/>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graphicFrame>
        <p:nvGraphicFramePr>
          <p:cNvPr id="49158" name="Object 1029"/>
          <p:cNvGraphicFramePr>
            <a:graphicFrameLocks noChangeAspect="1"/>
          </p:cNvGraphicFramePr>
          <p:nvPr/>
        </p:nvGraphicFramePr>
        <p:xfrm>
          <a:off x="1476375" y="2781300"/>
          <a:ext cx="6707188" cy="963613"/>
        </p:xfrm>
        <a:graphic>
          <a:graphicData uri="http://schemas.openxmlformats.org/presentationml/2006/ole">
            <mc:AlternateContent xmlns:mc="http://schemas.openxmlformats.org/markup-compatibility/2006">
              <mc:Choice xmlns:v="urn:schemas-microsoft-com:vml" Requires="v">
                <p:oleObj spid="_x0000_s49339" name="Equation" r:id="rId4" imgW="2819400" imgH="419100" progId="Equation.3">
                  <p:embed/>
                </p:oleObj>
              </mc:Choice>
              <mc:Fallback>
                <p:oleObj name="Equation" r:id="rId4" imgW="2819400" imgH="419100" progId="Equation.3">
                  <p:embed/>
                  <p:pic>
                    <p:nvPicPr>
                      <p:cNvPr id="0" name="Object 102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76375" y="2781300"/>
                        <a:ext cx="6707188" cy="963613"/>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
        <p:nvSpPr>
          <p:cNvPr id="49159" name="Rectangle 1031"/>
          <p:cNvSpPr>
            <a:spLocks noChangeArrowheads="1"/>
          </p:cNvSpPr>
          <p:nvPr/>
        </p:nvSpPr>
        <p:spPr bwMode="auto">
          <a:xfrm>
            <a:off x="762000" y="4114800"/>
            <a:ext cx="3903663"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0858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4287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7716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228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6860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143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600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endParaRPr lang="zh-CN" altLang="en-US" sz="2800" b="0">
              <a:latin typeface="Times New Roman" panose="02020603050405020304" pitchFamily="18" charset="0"/>
              <a:ea typeface="黑体" panose="02010609060101010101" pitchFamily="2" charset="-122"/>
            </a:endParaRPr>
          </a:p>
        </p:txBody>
      </p:sp>
      <p:sp>
        <p:nvSpPr>
          <p:cNvPr id="617480" name="Rectangle 1032"/>
          <p:cNvSpPr>
            <a:spLocks noChangeArrowheads="1"/>
          </p:cNvSpPr>
          <p:nvPr/>
        </p:nvSpPr>
        <p:spPr bwMode="auto">
          <a:xfrm>
            <a:off x="990600" y="4114800"/>
            <a:ext cx="3352800" cy="2209800"/>
          </a:xfrm>
          <a:prstGeom prst="rect">
            <a:avLst/>
          </a:prstGeom>
          <a:solidFill>
            <a:srgbClr val="CCFFFF"/>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0"/>
              </a:spcBef>
              <a:defRPr kumimoji="1" sz="2400">
                <a:solidFill>
                  <a:schemeClr val="tx1"/>
                </a:solidFill>
                <a:latin typeface="Times New Roman" panose="02020603050405020304" pitchFamily="18" charset="0"/>
                <a:ea typeface="宋体" panose="02010600030101010101" pitchFamily="2" charset="-122"/>
              </a:defRPr>
            </a:lvl1pPr>
            <a:lvl2pPr marL="742950" indent="-285750">
              <a:spcBef>
                <a:spcPct val="0"/>
              </a:spcBef>
              <a:defRPr kumimoji="1" sz="2400">
                <a:solidFill>
                  <a:schemeClr val="tx1"/>
                </a:solidFill>
                <a:latin typeface="Times New Roman" panose="02020603050405020304" pitchFamily="18" charset="0"/>
                <a:ea typeface="宋体" panose="02010600030101010101" pitchFamily="2" charset="-122"/>
              </a:defRPr>
            </a:lvl2pPr>
            <a:lvl3pPr marL="1085850" indent="-228600">
              <a:spcBef>
                <a:spcPct val="0"/>
              </a:spcBef>
              <a:defRPr kumimoji="1" sz="2400">
                <a:solidFill>
                  <a:schemeClr val="tx1"/>
                </a:solidFill>
                <a:latin typeface="Times New Roman" panose="02020603050405020304" pitchFamily="18" charset="0"/>
                <a:ea typeface="宋体" panose="02010600030101010101" pitchFamily="2" charset="-122"/>
              </a:defRPr>
            </a:lvl3pPr>
            <a:lvl4pPr marL="1428750" indent="-228600">
              <a:spcBef>
                <a:spcPct val="0"/>
              </a:spcBef>
              <a:defRPr kumimoji="1" sz="2400">
                <a:solidFill>
                  <a:schemeClr val="tx1"/>
                </a:solidFill>
                <a:latin typeface="Times New Roman" panose="02020603050405020304" pitchFamily="18" charset="0"/>
                <a:ea typeface="宋体" panose="02010600030101010101" pitchFamily="2" charset="-122"/>
              </a:defRPr>
            </a:lvl4pPr>
            <a:lvl5pPr marL="1771650" indent="-228600">
              <a:spcBef>
                <a:spcPct val="0"/>
              </a:spcBef>
              <a:defRPr kumimoji="1" sz="2400">
                <a:solidFill>
                  <a:schemeClr val="tx1"/>
                </a:solidFill>
                <a:latin typeface="Times New Roman" panose="02020603050405020304" pitchFamily="18" charset="0"/>
                <a:ea typeface="宋体" panose="02010600030101010101" pitchFamily="2" charset="-122"/>
              </a:defRPr>
            </a:lvl5pPr>
            <a:lvl6pPr marL="2228850"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686050"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143250"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600450"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nSpc>
                <a:spcPct val="90000"/>
              </a:lnSpc>
              <a:spcBef>
                <a:spcPct val="20000"/>
              </a:spcBef>
              <a:buFont typeface="Wingdings" panose="05000000000000000000" pitchFamily="2" charset="2"/>
              <a:buChar char="Ø"/>
              <a:defRPr/>
            </a:pPr>
            <a:r>
              <a:rPr lang="en-US" altLang="zh-CN" b="1" smtClean="0">
                <a:solidFill>
                  <a:srgbClr val="0000CC"/>
                </a:solidFill>
                <a:effectLst>
                  <a:outerShdw blurRad="38100" dist="38100" dir="2700000" algn="tl">
                    <a:srgbClr val="000000"/>
                  </a:outerShdw>
                </a:effectLst>
                <a:latin typeface="Arial" panose="020B0604020202020204" pitchFamily="34" charset="0"/>
                <a:ea typeface="楷体_GB2312" pitchFamily="49" charset="-122"/>
              </a:rPr>
              <a:t>t：</a:t>
            </a:r>
            <a:r>
              <a:rPr lang="zh-CN" altLang="en-US" b="1" smtClean="0">
                <a:latin typeface="Arial" panose="020B0604020202020204" pitchFamily="34" charset="0"/>
                <a:ea typeface="楷体_GB2312" pitchFamily="49" charset="-122"/>
              </a:rPr>
              <a:t>任务总时间</a:t>
            </a:r>
            <a:endParaRPr lang="zh-CN" altLang="en-US" b="1" smtClean="0">
              <a:latin typeface="Arial" panose="020B0604020202020204" pitchFamily="34" charset="0"/>
              <a:ea typeface="楷体_GB2312" pitchFamily="49" charset="-122"/>
            </a:endParaRPr>
          </a:p>
          <a:p>
            <a:pPr>
              <a:lnSpc>
                <a:spcPct val="90000"/>
              </a:lnSpc>
              <a:spcBef>
                <a:spcPct val="20000"/>
              </a:spcBef>
              <a:buFont typeface="Wingdings" panose="05000000000000000000" pitchFamily="2" charset="2"/>
              <a:buChar char="Ø"/>
              <a:defRPr/>
            </a:pPr>
            <a:r>
              <a:rPr lang="en-US" altLang="zh-CN" b="1" smtClean="0">
                <a:solidFill>
                  <a:srgbClr val="0000CC"/>
                </a:solidFill>
                <a:effectLst>
                  <a:outerShdw blurRad="38100" dist="38100" dir="2700000" algn="tl">
                    <a:srgbClr val="000000"/>
                  </a:outerShdw>
                </a:effectLst>
                <a:latin typeface="Arial" panose="020B0604020202020204" pitchFamily="34" charset="0"/>
                <a:ea typeface="楷体_GB2312" pitchFamily="49" charset="-122"/>
              </a:rPr>
              <a:t>d：</a:t>
            </a:r>
            <a:r>
              <a:rPr lang="zh-CN" altLang="en-US" b="1" smtClean="0">
                <a:latin typeface="Arial" panose="020B0604020202020204" pitchFamily="34" charset="0"/>
                <a:ea typeface="楷体_GB2312" pitchFamily="49" charset="-122"/>
              </a:rPr>
              <a:t>锁存器时间</a:t>
            </a:r>
            <a:endParaRPr lang="zh-CN" altLang="en-US" b="1" smtClean="0">
              <a:latin typeface="Arial" panose="020B0604020202020204" pitchFamily="34" charset="0"/>
              <a:ea typeface="楷体_GB2312" pitchFamily="49" charset="-122"/>
            </a:endParaRPr>
          </a:p>
          <a:p>
            <a:pPr>
              <a:lnSpc>
                <a:spcPct val="90000"/>
              </a:lnSpc>
              <a:spcBef>
                <a:spcPct val="20000"/>
              </a:spcBef>
              <a:buFont typeface="Wingdings" panose="05000000000000000000" pitchFamily="2" charset="2"/>
              <a:buChar char="Ø"/>
              <a:defRPr/>
            </a:pPr>
            <a:r>
              <a:rPr lang="en-US" altLang="zh-CN" b="1" smtClean="0">
                <a:solidFill>
                  <a:srgbClr val="0000CC"/>
                </a:solidFill>
                <a:effectLst>
                  <a:outerShdw blurRad="38100" dist="38100" dir="2700000" algn="tl">
                    <a:srgbClr val="000000"/>
                  </a:outerShdw>
                </a:effectLst>
                <a:latin typeface="Arial" panose="020B0604020202020204" pitchFamily="34" charset="0"/>
                <a:ea typeface="楷体_GB2312" pitchFamily="49" charset="-122"/>
              </a:rPr>
              <a:t>m：</a:t>
            </a:r>
            <a:r>
              <a:rPr lang="zh-CN" altLang="en-US" b="1" smtClean="0">
                <a:latin typeface="Arial" panose="020B0604020202020204" pitchFamily="34" charset="0"/>
                <a:ea typeface="楷体_GB2312" pitchFamily="49" charset="-122"/>
              </a:rPr>
              <a:t>功能段数</a:t>
            </a:r>
            <a:endParaRPr lang="zh-CN" altLang="en-US" b="1" smtClean="0">
              <a:latin typeface="Arial" panose="020B0604020202020204" pitchFamily="34" charset="0"/>
              <a:ea typeface="楷体_GB2312" pitchFamily="49" charset="-122"/>
            </a:endParaRPr>
          </a:p>
          <a:p>
            <a:pPr>
              <a:lnSpc>
                <a:spcPct val="90000"/>
              </a:lnSpc>
              <a:spcBef>
                <a:spcPct val="20000"/>
              </a:spcBef>
              <a:buFont typeface="Wingdings" panose="05000000000000000000" pitchFamily="2" charset="2"/>
              <a:buChar char="Ø"/>
              <a:defRPr/>
            </a:pPr>
            <a:r>
              <a:rPr lang="en-US" altLang="zh-CN" b="1" smtClean="0">
                <a:solidFill>
                  <a:srgbClr val="0000CC"/>
                </a:solidFill>
                <a:effectLst>
                  <a:outerShdw blurRad="38100" dist="38100" dir="2700000" algn="tl">
                    <a:srgbClr val="000000"/>
                  </a:outerShdw>
                </a:effectLst>
                <a:latin typeface="Arial" panose="020B0604020202020204" pitchFamily="34" charset="0"/>
                <a:ea typeface="楷体_GB2312" pitchFamily="49" charset="-122"/>
              </a:rPr>
              <a:t>a：</a:t>
            </a:r>
            <a:r>
              <a:rPr lang="zh-CN" altLang="en-US" b="1" smtClean="0">
                <a:latin typeface="Arial" panose="020B0604020202020204" pitchFamily="34" charset="0"/>
                <a:ea typeface="楷体_GB2312" pitchFamily="49" charset="-122"/>
              </a:rPr>
              <a:t>所有功能段价格</a:t>
            </a:r>
            <a:endParaRPr lang="zh-CN" altLang="en-US" b="1" smtClean="0">
              <a:latin typeface="Arial" panose="020B0604020202020204" pitchFamily="34" charset="0"/>
              <a:ea typeface="楷体_GB2312" pitchFamily="49" charset="-122"/>
            </a:endParaRPr>
          </a:p>
          <a:p>
            <a:pPr>
              <a:lnSpc>
                <a:spcPct val="90000"/>
              </a:lnSpc>
              <a:spcBef>
                <a:spcPct val="20000"/>
              </a:spcBef>
              <a:buFont typeface="Wingdings" panose="05000000000000000000" pitchFamily="2" charset="2"/>
              <a:buChar char="Ø"/>
              <a:defRPr/>
            </a:pPr>
            <a:r>
              <a:rPr lang="en-US" altLang="zh-CN" b="1" smtClean="0">
                <a:solidFill>
                  <a:srgbClr val="0000CC"/>
                </a:solidFill>
                <a:effectLst>
                  <a:outerShdw blurRad="38100" dist="38100" dir="2700000" algn="tl">
                    <a:srgbClr val="000000"/>
                  </a:outerShdw>
                </a:effectLst>
                <a:latin typeface="Arial" panose="020B0604020202020204" pitchFamily="34" charset="0"/>
                <a:ea typeface="楷体_GB2312" pitchFamily="49" charset="-122"/>
              </a:rPr>
              <a:t>b：</a:t>
            </a:r>
            <a:r>
              <a:rPr lang="zh-CN" altLang="en-US" b="1" smtClean="0">
                <a:latin typeface="Arial" panose="020B0604020202020204" pitchFamily="34" charset="0"/>
                <a:ea typeface="楷体_GB2312" pitchFamily="49" charset="-122"/>
              </a:rPr>
              <a:t>锁存器价格</a:t>
            </a:r>
            <a:endParaRPr lang="zh-CN" altLang="en-US" b="1" smtClean="0">
              <a:latin typeface="Arial" panose="020B0604020202020204" pitchFamily="34" charset="0"/>
              <a:ea typeface="楷体_GB2312" pitchFamily="49" charset="-122"/>
            </a:endParaRPr>
          </a:p>
        </p:txBody>
      </p:sp>
      <p:graphicFrame>
        <p:nvGraphicFramePr>
          <p:cNvPr id="49161" name="Object 1033"/>
          <p:cNvGraphicFramePr>
            <a:graphicFrameLocks noChangeAspect="1"/>
          </p:cNvGraphicFramePr>
          <p:nvPr/>
        </p:nvGraphicFramePr>
        <p:xfrm>
          <a:off x="5410200" y="5105400"/>
          <a:ext cx="2265363" cy="1020763"/>
        </p:xfrm>
        <a:graphic>
          <a:graphicData uri="http://schemas.openxmlformats.org/presentationml/2006/ole">
            <mc:AlternateContent xmlns:mc="http://schemas.openxmlformats.org/markup-compatibility/2006">
              <mc:Choice xmlns:v="urn:schemas-microsoft-com:vml" Requires="v">
                <p:oleObj spid="_x0000_s49340" name="Equation" r:id="rId6" imgW="761365" imgH="444500" progId="Equation.3">
                  <p:embed/>
                </p:oleObj>
              </mc:Choice>
              <mc:Fallback>
                <p:oleObj name="Equation" r:id="rId6" imgW="761365" imgH="444500" progId="Equation.3">
                  <p:embed/>
                  <p:pic>
                    <p:nvPicPr>
                      <p:cNvPr id="0" name="Object 103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10200" y="5105400"/>
                        <a:ext cx="2265363" cy="1020763"/>
                      </a:xfrm>
                      <a:prstGeom prst="rect">
                        <a:avLst/>
                      </a:prstGeom>
                      <a:solidFill>
                        <a:srgbClr val="99FF66"/>
                      </a:solidFill>
                      <a:ln>
                        <a:noFill/>
                      </a:ln>
                      <a:effectLst>
                        <a:outerShdw dist="35921" dir="2700000" algn="ctr" rotWithShape="0">
                          <a:srgbClr val="808080"/>
                        </a:outerShdw>
                      </a:effectLst>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49162" name="Text Box 103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0066" name="Rectangle 2"/>
          <p:cNvSpPr>
            <a:spLocks noGrp="1" noChangeArrowheads="1"/>
          </p:cNvSpPr>
          <p:nvPr>
            <p:ph type="title"/>
          </p:nvPr>
        </p:nvSpPr>
        <p:spPr/>
        <p:txBody>
          <a:bodyPr/>
          <a:lstStyle/>
          <a:p>
            <a:pPr eaLnBrk="1" hangingPunct="1">
              <a:defRPr/>
            </a:pPr>
            <a:r>
              <a:rPr lang="zh-CN" altLang="en-US" smtClean="0"/>
              <a:t>性能分析举例</a:t>
            </a:r>
            <a:endParaRPr lang="zh-CN" altLang="en-US" smtClean="0"/>
          </a:p>
        </p:txBody>
      </p:sp>
      <p:sp>
        <p:nvSpPr>
          <p:cNvPr id="5017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600068" name="Rectangle 4"/>
          <p:cNvSpPr>
            <a:spLocks noGrp="1" noChangeArrowheads="1"/>
          </p:cNvSpPr>
          <p:nvPr>
            <p:ph type="body" idx="1"/>
          </p:nvPr>
        </p:nvSpPr>
        <p:spPr/>
        <p:txBody>
          <a:bodyPr/>
          <a:lstStyle/>
          <a:p>
            <a:pPr marL="723900" indent="-723900" eaLnBrk="1" hangingPunct="1">
              <a:lnSpc>
                <a:spcPct val="110000"/>
              </a:lnSpc>
              <a:buFont typeface="Wingdings" panose="05000000000000000000" pitchFamily="2" charset="2"/>
              <a:buNone/>
              <a:defRPr/>
            </a:pPr>
            <a:r>
              <a:rPr lang="zh-CN" altLang="en-US" sz="2800" smtClean="0">
                <a:solidFill>
                  <a:srgbClr val="FF0000"/>
                </a:solidFill>
                <a:effectLst>
                  <a:outerShdw blurRad="38100" dist="38100" dir="2700000" algn="tl">
                    <a:srgbClr val="C0C0C0"/>
                  </a:outerShdw>
                </a:effectLst>
              </a:rPr>
              <a:t>问：</a:t>
            </a:r>
            <a:r>
              <a:rPr lang="zh-CN" altLang="en-US" sz="2800" smtClean="0"/>
              <a:t>用一条4段浮点加法器流水线求8个浮点数的和，要求所用时间最短，求流水线的吞吐率、加速比和效率。</a:t>
            </a:r>
            <a:endParaRPr lang="zh-CN" altLang="en-US" sz="2800" smtClean="0"/>
          </a:p>
          <a:p>
            <a:pPr marL="723900" indent="-723900" algn="ctr" eaLnBrk="1" hangingPunct="1">
              <a:lnSpc>
                <a:spcPct val="110000"/>
              </a:lnSpc>
              <a:buFont typeface="Wingdings" panose="05000000000000000000" pitchFamily="2" charset="2"/>
              <a:buNone/>
              <a:defRPr/>
            </a:pPr>
            <a:r>
              <a:rPr lang="en-US" altLang="zh-CN" sz="2800" smtClean="0"/>
              <a:t>Z＝A＋B＋C＋D＋E＋F＋G＋H</a:t>
            </a:r>
            <a:endParaRPr lang="en-US" altLang="zh-CN" sz="2800" smtClean="0"/>
          </a:p>
          <a:p>
            <a:pPr marL="723900" indent="-723900" eaLnBrk="1" hangingPunct="1">
              <a:lnSpc>
                <a:spcPct val="110000"/>
              </a:lnSpc>
              <a:spcBef>
                <a:spcPct val="60000"/>
              </a:spcBef>
              <a:buFont typeface="Wingdings" panose="05000000000000000000" pitchFamily="2" charset="2"/>
              <a:buNone/>
              <a:defRPr/>
            </a:pPr>
            <a:r>
              <a:rPr lang="zh-CN" altLang="en-US" sz="2800" smtClean="0">
                <a:solidFill>
                  <a:srgbClr val="FF0000"/>
                </a:solidFill>
                <a:effectLst>
                  <a:outerShdw blurRad="38100" dist="38100" dir="2700000" algn="tl">
                    <a:srgbClr val="C0C0C0"/>
                  </a:outerShdw>
                </a:effectLst>
              </a:rPr>
              <a:t>答：</a:t>
            </a:r>
            <a:r>
              <a:rPr lang="zh-CN" altLang="en-US" sz="2800" smtClean="0"/>
              <a:t>由于存在着数据相关，如果直接交与流水线处理，效果与顺序执行完全一样，因此先作一个简单变换，然后交与流水线处理。</a:t>
            </a:r>
            <a:endParaRPr lang="zh-CN" altLang="en-US" sz="2800" smtClean="0"/>
          </a:p>
          <a:p>
            <a:pPr marL="723900" indent="-723900" algn="ctr" eaLnBrk="1" hangingPunct="1">
              <a:lnSpc>
                <a:spcPct val="110000"/>
              </a:lnSpc>
              <a:buFont typeface="Wingdings" panose="05000000000000000000" pitchFamily="2" charset="2"/>
              <a:buNone/>
              <a:defRPr/>
            </a:pPr>
            <a:r>
              <a:rPr lang="en-US" altLang="zh-CN" sz="2800" smtClean="0"/>
              <a:t>Z=[(A+B)+(C+D)]+[(E+F)+(G+H)]</a:t>
            </a:r>
            <a:endParaRPr lang="zh-CN" altLang="en-US" sz="2800" smtClean="0"/>
          </a:p>
        </p:txBody>
      </p:sp>
      <p:sp>
        <p:nvSpPr>
          <p:cNvPr id="50181"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00068">
                                            <p:txEl>
                                              <p:pRg st="2" end="2"/>
                                            </p:txEl>
                                          </p:spTgt>
                                        </p:tgtEl>
                                        <p:attrNameLst>
                                          <p:attrName>style.visibility</p:attrName>
                                        </p:attrNameLst>
                                      </p:cBhvr>
                                      <p:to>
                                        <p:strVal val="visible"/>
                                      </p:to>
                                    </p:set>
                                    <p:animEffect transition="in" filter="wipe(down)">
                                      <p:cBhvr>
                                        <p:cTn id="7" dur="500"/>
                                        <p:tgtEl>
                                          <p:spTgt spid="600068">
                                            <p:txEl>
                                              <p:pRg st="2" end="2"/>
                                            </p:txEl>
                                          </p:spTgt>
                                        </p:tgtEl>
                                      </p:cBhvr>
                                    </p:animEffect>
                                  </p:childTnLst>
                                </p:cTn>
                              </p:par>
                              <p:par>
                                <p:cTn id="8" presetID="22" presetClass="entr" presetSubtype="4" fill="hold" nodeType="withEffect">
                                  <p:stCondLst>
                                    <p:cond delay="0"/>
                                  </p:stCondLst>
                                  <p:childTnLst>
                                    <p:set>
                                      <p:cBhvr>
                                        <p:cTn id="9" dur="1" fill="hold">
                                          <p:stCondLst>
                                            <p:cond delay="0"/>
                                          </p:stCondLst>
                                        </p:cTn>
                                        <p:tgtEl>
                                          <p:spTgt spid="600068">
                                            <p:txEl>
                                              <p:pRg st="3" end="3"/>
                                            </p:txEl>
                                          </p:spTgt>
                                        </p:tgtEl>
                                        <p:attrNameLst>
                                          <p:attrName>style.visibility</p:attrName>
                                        </p:attrNameLst>
                                      </p:cBhvr>
                                      <p:to>
                                        <p:strVal val="visible"/>
                                      </p:to>
                                    </p:set>
                                    <p:animEffect transition="in" filter="wipe(down)">
                                      <p:cBhvr>
                                        <p:cTn id="10" dur="500"/>
                                        <p:tgtEl>
                                          <p:spTgt spid="60006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9522" name="Rectangle 2"/>
          <p:cNvSpPr>
            <a:spLocks noGrp="1" noChangeArrowheads="1"/>
          </p:cNvSpPr>
          <p:nvPr>
            <p:ph type="title"/>
          </p:nvPr>
        </p:nvSpPr>
        <p:spPr/>
        <p:txBody>
          <a:bodyPr/>
          <a:lstStyle/>
          <a:p>
            <a:pPr eaLnBrk="1" hangingPunct="1">
              <a:defRPr/>
            </a:pPr>
            <a:r>
              <a:rPr lang="zh-CN" altLang="en-US" smtClean="0"/>
              <a:t>性能分析举例</a:t>
            </a:r>
            <a:endParaRPr lang="zh-CN" altLang="en-US" smtClean="0"/>
          </a:p>
        </p:txBody>
      </p:sp>
      <p:sp>
        <p:nvSpPr>
          <p:cNvPr id="5120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51204"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2</a:t>
            </a:r>
            <a:endParaRPr lang="zh-CN" altLang="en-US" sz="1200" b="0">
              <a:latin typeface="幼圆" panose="02010509060101010101" pitchFamily="49" charset="-122"/>
              <a:ea typeface="幼圆" panose="02010509060101010101" pitchFamily="49" charset="-122"/>
            </a:endParaRPr>
          </a:p>
        </p:txBody>
      </p:sp>
      <p:sp>
        <p:nvSpPr>
          <p:cNvPr id="51205" name="Rectangle 8"/>
          <p:cNvSpPr>
            <a:spLocks noChangeArrowheads="1"/>
          </p:cNvSpPr>
          <p:nvPr/>
        </p:nvSpPr>
        <p:spPr bwMode="auto">
          <a:xfrm>
            <a:off x="2120900" y="4011613"/>
            <a:ext cx="377825" cy="465137"/>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51206" name="Line 9"/>
          <p:cNvSpPr>
            <a:spLocks noChangeShapeType="1"/>
          </p:cNvSpPr>
          <p:nvPr/>
        </p:nvSpPr>
        <p:spPr bwMode="auto">
          <a:xfrm flipV="1">
            <a:off x="2120900" y="2419350"/>
            <a:ext cx="0" cy="205740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207" name="Rectangle 10"/>
          <p:cNvSpPr>
            <a:spLocks noChangeArrowheads="1"/>
          </p:cNvSpPr>
          <p:nvPr/>
        </p:nvSpPr>
        <p:spPr bwMode="auto">
          <a:xfrm>
            <a:off x="8001000" y="4191000"/>
            <a:ext cx="830263"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时间</a:t>
            </a:r>
            <a:endParaRPr lang="zh-CN" altLang="zh-CN" sz="2400">
              <a:solidFill>
                <a:schemeClr val="tx2"/>
              </a:solidFill>
            </a:endParaRPr>
          </a:p>
        </p:txBody>
      </p:sp>
      <p:sp>
        <p:nvSpPr>
          <p:cNvPr id="51208" name="Rectangle 11"/>
          <p:cNvSpPr>
            <a:spLocks noChangeArrowheads="1"/>
          </p:cNvSpPr>
          <p:nvPr/>
        </p:nvSpPr>
        <p:spPr bwMode="auto">
          <a:xfrm>
            <a:off x="1600200" y="1981200"/>
            <a:ext cx="98107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空间</a:t>
            </a:r>
            <a:endParaRPr lang="zh-CN" altLang="zh-CN" sz="2400">
              <a:solidFill>
                <a:schemeClr val="tx2"/>
              </a:solidFill>
            </a:endParaRPr>
          </a:p>
        </p:txBody>
      </p:sp>
      <p:sp>
        <p:nvSpPr>
          <p:cNvPr id="51209" name="Rectangle 12"/>
          <p:cNvSpPr>
            <a:spLocks noChangeArrowheads="1"/>
          </p:cNvSpPr>
          <p:nvPr/>
        </p:nvSpPr>
        <p:spPr bwMode="auto">
          <a:xfrm>
            <a:off x="2498725" y="4011613"/>
            <a:ext cx="377825" cy="465137"/>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51210" name="Rectangle 13"/>
          <p:cNvSpPr>
            <a:spLocks noChangeArrowheads="1"/>
          </p:cNvSpPr>
          <p:nvPr/>
        </p:nvSpPr>
        <p:spPr bwMode="auto">
          <a:xfrm>
            <a:off x="2876550" y="4011613"/>
            <a:ext cx="377825" cy="465137"/>
          </a:xfrm>
          <a:prstGeom prst="rect">
            <a:avLst/>
          </a:prstGeom>
          <a:solidFill>
            <a:schemeClr val="accent1"/>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51211" name="Rectangle 14"/>
          <p:cNvSpPr>
            <a:spLocks noChangeArrowheads="1"/>
          </p:cNvSpPr>
          <p:nvPr/>
        </p:nvSpPr>
        <p:spPr bwMode="auto">
          <a:xfrm>
            <a:off x="838200" y="4011613"/>
            <a:ext cx="1208088"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求阶差</a:t>
            </a:r>
            <a:endParaRPr lang="zh-CN" altLang="zh-CN" sz="2400">
              <a:solidFill>
                <a:schemeClr val="tx2"/>
              </a:solidFill>
            </a:endParaRPr>
          </a:p>
        </p:txBody>
      </p:sp>
      <p:sp>
        <p:nvSpPr>
          <p:cNvPr id="51212" name="Line 15"/>
          <p:cNvSpPr>
            <a:spLocks noChangeShapeType="1"/>
          </p:cNvSpPr>
          <p:nvPr/>
        </p:nvSpPr>
        <p:spPr bwMode="auto">
          <a:xfrm>
            <a:off x="2120900" y="4476750"/>
            <a:ext cx="596423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213" name="Rectangle 16"/>
          <p:cNvSpPr>
            <a:spLocks noChangeArrowheads="1"/>
          </p:cNvSpPr>
          <p:nvPr/>
        </p:nvSpPr>
        <p:spPr bwMode="auto">
          <a:xfrm>
            <a:off x="3254375" y="4011613"/>
            <a:ext cx="376238" cy="465137"/>
          </a:xfrm>
          <a:prstGeom prst="rect">
            <a:avLst/>
          </a:prstGeom>
          <a:solidFill>
            <a:srgbClr val="0099FF"/>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4</a:t>
            </a:r>
            <a:endParaRPr lang="zh-CN" altLang="zh-CN" sz="2400">
              <a:solidFill>
                <a:schemeClr val="tx2"/>
              </a:solidFill>
            </a:endParaRPr>
          </a:p>
        </p:txBody>
      </p:sp>
      <p:sp>
        <p:nvSpPr>
          <p:cNvPr id="51214" name="Rectangle 17"/>
          <p:cNvSpPr>
            <a:spLocks noChangeArrowheads="1"/>
          </p:cNvSpPr>
          <p:nvPr/>
        </p:nvSpPr>
        <p:spPr bwMode="auto">
          <a:xfrm>
            <a:off x="3630613" y="4011613"/>
            <a:ext cx="377825" cy="465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15" name="Rectangle 18"/>
          <p:cNvSpPr>
            <a:spLocks noChangeArrowheads="1"/>
          </p:cNvSpPr>
          <p:nvPr/>
        </p:nvSpPr>
        <p:spPr bwMode="auto">
          <a:xfrm>
            <a:off x="4008438" y="4011613"/>
            <a:ext cx="377825" cy="465137"/>
          </a:xfrm>
          <a:prstGeom prst="rect">
            <a:avLst/>
          </a:prstGeom>
          <a:solidFill>
            <a:srgbClr val="0099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5</a:t>
            </a:r>
            <a:endParaRPr lang="zh-CN" altLang="zh-CN" sz="2400">
              <a:solidFill>
                <a:schemeClr val="bg1"/>
              </a:solidFill>
            </a:endParaRPr>
          </a:p>
        </p:txBody>
      </p:sp>
      <p:sp>
        <p:nvSpPr>
          <p:cNvPr id="51216" name="Line 19"/>
          <p:cNvSpPr>
            <a:spLocks noChangeShapeType="1"/>
          </p:cNvSpPr>
          <p:nvPr/>
        </p:nvSpPr>
        <p:spPr bwMode="auto">
          <a:xfrm flipV="1">
            <a:off x="7781925" y="3082925"/>
            <a:ext cx="0" cy="1393825"/>
          </a:xfrm>
          <a:prstGeom prst="line">
            <a:avLst/>
          </a:prstGeom>
          <a:noFill/>
          <a:ln w="12700">
            <a:solidFill>
              <a:schemeClr val="tx2"/>
            </a:solidFill>
            <a:prstDash val="dash"/>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217" name="Rectangle 20"/>
          <p:cNvSpPr>
            <a:spLocks noChangeArrowheads="1"/>
          </p:cNvSpPr>
          <p:nvPr/>
        </p:nvSpPr>
        <p:spPr bwMode="auto">
          <a:xfrm>
            <a:off x="4386263" y="4011613"/>
            <a:ext cx="376237" cy="465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18" name="Rectangle 21"/>
          <p:cNvSpPr>
            <a:spLocks noChangeArrowheads="1"/>
          </p:cNvSpPr>
          <p:nvPr/>
        </p:nvSpPr>
        <p:spPr bwMode="auto">
          <a:xfrm>
            <a:off x="4762500" y="4011613"/>
            <a:ext cx="377825" cy="465137"/>
          </a:xfrm>
          <a:prstGeom prst="rect">
            <a:avLst/>
          </a:prstGeom>
          <a:solidFill>
            <a:srgbClr val="0000CC"/>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6</a:t>
            </a:r>
            <a:endParaRPr lang="zh-CN" altLang="zh-CN" sz="2400">
              <a:solidFill>
                <a:schemeClr val="bg1"/>
              </a:solidFill>
            </a:endParaRPr>
          </a:p>
        </p:txBody>
      </p:sp>
      <p:sp>
        <p:nvSpPr>
          <p:cNvPr id="51219" name="Rectangle 22"/>
          <p:cNvSpPr>
            <a:spLocks noChangeArrowheads="1"/>
          </p:cNvSpPr>
          <p:nvPr/>
        </p:nvSpPr>
        <p:spPr bwMode="auto">
          <a:xfrm>
            <a:off x="5518150" y="4011613"/>
            <a:ext cx="377825" cy="465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20" name="Rectangle 23"/>
          <p:cNvSpPr>
            <a:spLocks noChangeArrowheads="1"/>
          </p:cNvSpPr>
          <p:nvPr/>
        </p:nvSpPr>
        <p:spPr bwMode="auto">
          <a:xfrm>
            <a:off x="6272213" y="4011613"/>
            <a:ext cx="377825" cy="465137"/>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7</a:t>
            </a:r>
            <a:endParaRPr lang="zh-CN" altLang="zh-CN" sz="2400">
              <a:solidFill>
                <a:schemeClr val="bg1"/>
              </a:solidFill>
            </a:endParaRPr>
          </a:p>
        </p:txBody>
      </p:sp>
      <p:sp>
        <p:nvSpPr>
          <p:cNvPr id="51221" name="Rectangle 24"/>
          <p:cNvSpPr>
            <a:spLocks noChangeArrowheads="1"/>
          </p:cNvSpPr>
          <p:nvPr/>
        </p:nvSpPr>
        <p:spPr bwMode="auto">
          <a:xfrm>
            <a:off x="5140325" y="4011613"/>
            <a:ext cx="377825" cy="465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22" name="Rectangle 25"/>
          <p:cNvSpPr>
            <a:spLocks noChangeArrowheads="1"/>
          </p:cNvSpPr>
          <p:nvPr/>
        </p:nvSpPr>
        <p:spPr bwMode="auto">
          <a:xfrm>
            <a:off x="5895975" y="4011613"/>
            <a:ext cx="376238" cy="465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23" name="Rectangle 26"/>
          <p:cNvSpPr>
            <a:spLocks noChangeArrowheads="1"/>
          </p:cNvSpPr>
          <p:nvPr/>
        </p:nvSpPr>
        <p:spPr bwMode="auto">
          <a:xfrm>
            <a:off x="2498725" y="3548063"/>
            <a:ext cx="377825" cy="463550"/>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51224" name="Rectangle 27"/>
          <p:cNvSpPr>
            <a:spLocks noChangeArrowheads="1"/>
          </p:cNvSpPr>
          <p:nvPr/>
        </p:nvSpPr>
        <p:spPr bwMode="auto">
          <a:xfrm>
            <a:off x="2876550" y="3548063"/>
            <a:ext cx="377825" cy="463550"/>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51225" name="Rectangle 28"/>
          <p:cNvSpPr>
            <a:spLocks noChangeArrowheads="1"/>
          </p:cNvSpPr>
          <p:nvPr/>
        </p:nvSpPr>
        <p:spPr bwMode="auto">
          <a:xfrm>
            <a:off x="3254375" y="3548063"/>
            <a:ext cx="376238" cy="463550"/>
          </a:xfrm>
          <a:prstGeom prst="rect">
            <a:avLst/>
          </a:prstGeom>
          <a:solidFill>
            <a:schemeClr val="accent1"/>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51226" name="Rectangle 29"/>
          <p:cNvSpPr>
            <a:spLocks noChangeArrowheads="1"/>
          </p:cNvSpPr>
          <p:nvPr/>
        </p:nvSpPr>
        <p:spPr bwMode="auto">
          <a:xfrm>
            <a:off x="3630613" y="3548063"/>
            <a:ext cx="377825" cy="463550"/>
          </a:xfrm>
          <a:prstGeom prst="rect">
            <a:avLst/>
          </a:prstGeom>
          <a:solidFill>
            <a:srgbClr val="0099FF"/>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4</a:t>
            </a:r>
            <a:endParaRPr lang="zh-CN" altLang="zh-CN" sz="2400">
              <a:solidFill>
                <a:schemeClr val="tx2"/>
              </a:solidFill>
            </a:endParaRPr>
          </a:p>
        </p:txBody>
      </p:sp>
      <p:sp>
        <p:nvSpPr>
          <p:cNvPr id="51227" name="Rectangle 30"/>
          <p:cNvSpPr>
            <a:spLocks noChangeArrowheads="1"/>
          </p:cNvSpPr>
          <p:nvPr/>
        </p:nvSpPr>
        <p:spPr bwMode="auto">
          <a:xfrm>
            <a:off x="4008438" y="3548063"/>
            <a:ext cx="377825" cy="4635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28" name="Rectangle 31"/>
          <p:cNvSpPr>
            <a:spLocks noChangeArrowheads="1"/>
          </p:cNvSpPr>
          <p:nvPr/>
        </p:nvSpPr>
        <p:spPr bwMode="auto">
          <a:xfrm>
            <a:off x="4386263" y="3548063"/>
            <a:ext cx="376237" cy="463550"/>
          </a:xfrm>
          <a:prstGeom prst="rect">
            <a:avLst/>
          </a:prstGeom>
          <a:solidFill>
            <a:srgbClr val="0099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5</a:t>
            </a:r>
            <a:endParaRPr lang="zh-CN" altLang="zh-CN" sz="2400">
              <a:solidFill>
                <a:schemeClr val="bg1"/>
              </a:solidFill>
            </a:endParaRPr>
          </a:p>
        </p:txBody>
      </p:sp>
      <p:sp>
        <p:nvSpPr>
          <p:cNvPr id="51229" name="Rectangle 32"/>
          <p:cNvSpPr>
            <a:spLocks noChangeArrowheads="1"/>
          </p:cNvSpPr>
          <p:nvPr/>
        </p:nvSpPr>
        <p:spPr bwMode="auto">
          <a:xfrm>
            <a:off x="4762500" y="3548063"/>
            <a:ext cx="377825" cy="4635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30" name="Rectangle 33"/>
          <p:cNvSpPr>
            <a:spLocks noChangeArrowheads="1"/>
          </p:cNvSpPr>
          <p:nvPr/>
        </p:nvSpPr>
        <p:spPr bwMode="auto">
          <a:xfrm>
            <a:off x="5140325" y="3548063"/>
            <a:ext cx="377825" cy="463550"/>
          </a:xfrm>
          <a:prstGeom prst="rect">
            <a:avLst/>
          </a:prstGeom>
          <a:solidFill>
            <a:srgbClr val="0000CC"/>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6</a:t>
            </a:r>
            <a:endParaRPr lang="zh-CN" altLang="zh-CN" sz="2400">
              <a:solidFill>
                <a:schemeClr val="bg1"/>
              </a:solidFill>
            </a:endParaRPr>
          </a:p>
        </p:txBody>
      </p:sp>
      <p:sp>
        <p:nvSpPr>
          <p:cNvPr id="51231" name="Rectangle 34"/>
          <p:cNvSpPr>
            <a:spLocks noChangeArrowheads="1"/>
          </p:cNvSpPr>
          <p:nvPr/>
        </p:nvSpPr>
        <p:spPr bwMode="auto">
          <a:xfrm>
            <a:off x="5895975" y="3548063"/>
            <a:ext cx="376238" cy="4635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32" name="Rectangle 35"/>
          <p:cNvSpPr>
            <a:spLocks noChangeArrowheads="1"/>
          </p:cNvSpPr>
          <p:nvPr/>
        </p:nvSpPr>
        <p:spPr bwMode="auto">
          <a:xfrm>
            <a:off x="6650038" y="3548063"/>
            <a:ext cx="377825" cy="463550"/>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7</a:t>
            </a:r>
            <a:endParaRPr lang="zh-CN" altLang="zh-CN" sz="2400">
              <a:solidFill>
                <a:schemeClr val="bg1"/>
              </a:solidFill>
            </a:endParaRPr>
          </a:p>
        </p:txBody>
      </p:sp>
      <p:sp>
        <p:nvSpPr>
          <p:cNvPr id="51233" name="Rectangle 36"/>
          <p:cNvSpPr>
            <a:spLocks noChangeArrowheads="1"/>
          </p:cNvSpPr>
          <p:nvPr/>
        </p:nvSpPr>
        <p:spPr bwMode="auto">
          <a:xfrm>
            <a:off x="5518150" y="3548063"/>
            <a:ext cx="377825" cy="4635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34" name="Rectangle 37"/>
          <p:cNvSpPr>
            <a:spLocks noChangeArrowheads="1"/>
          </p:cNvSpPr>
          <p:nvPr/>
        </p:nvSpPr>
        <p:spPr bwMode="auto">
          <a:xfrm>
            <a:off x="6272213" y="3548063"/>
            <a:ext cx="377825" cy="4635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35" name="Rectangle 38"/>
          <p:cNvSpPr>
            <a:spLocks noChangeArrowheads="1"/>
          </p:cNvSpPr>
          <p:nvPr/>
        </p:nvSpPr>
        <p:spPr bwMode="auto">
          <a:xfrm>
            <a:off x="2876550" y="3082925"/>
            <a:ext cx="377825" cy="465138"/>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51236" name="Rectangle 39"/>
          <p:cNvSpPr>
            <a:spLocks noChangeArrowheads="1"/>
          </p:cNvSpPr>
          <p:nvPr/>
        </p:nvSpPr>
        <p:spPr bwMode="auto">
          <a:xfrm>
            <a:off x="3254375" y="3082925"/>
            <a:ext cx="376238" cy="465138"/>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51237" name="Rectangle 40"/>
          <p:cNvSpPr>
            <a:spLocks noChangeArrowheads="1"/>
          </p:cNvSpPr>
          <p:nvPr/>
        </p:nvSpPr>
        <p:spPr bwMode="auto">
          <a:xfrm>
            <a:off x="3630613" y="3082925"/>
            <a:ext cx="377825" cy="465138"/>
          </a:xfrm>
          <a:prstGeom prst="rect">
            <a:avLst/>
          </a:prstGeom>
          <a:solidFill>
            <a:schemeClr val="accent1"/>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51238" name="Rectangle 41"/>
          <p:cNvSpPr>
            <a:spLocks noChangeArrowheads="1"/>
          </p:cNvSpPr>
          <p:nvPr/>
        </p:nvSpPr>
        <p:spPr bwMode="auto">
          <a:xfrm>
            <a:off x="4008438" y="3082925"/>
            <a:ext cx="377825" cy="465138"/>
          </a:xfrm>
          <a:prstGeom prst="rect">
            <a:avLst/>
          </a:prstGeom>
          <a:solidFill>
            <a:srgbClr val="0099FF"/>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4</a:t>
            </a:r>
            <a:endParaRPr lang="zh-CN" altLang="zh-CN" sz="2400">
              <a:solidFill>
                <a:schemeClr val="tx2"/>
              </a:solidFill>
            </a:endParaRPr>
          </a:p>
        </p:txBody>
      </p:sp>
      <p:sp>
        <p:nvSpPr>
          <p:cNvPr id="51239" name="Rectangle 42"/>
          <p:cNvSpPr>
            <a:spLocks noChangeArrowheads="1"/>
          </p:cNvSpPr>
          <p:nvPr/>
        </p:nvSpPr>
        <p:spPr bwMode="auto">
          <a:xfrm>
            <a:off x="4386263" y="3082925"/>
            <a:ext cx="376237" cy="4651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40" name="Rectangle 43"/>
          <p:cNvSpPr>
            <a:spLocks noChangeArrowheads="1"/>
          </p:cNvSpPr>
          <p:nvPr/>
        </p:nvSpPr>
        <p:spPr bwMode="auto">
          <a:xfrm>
            <a:off x="4762500" y="3082925"/>
            <a:ext cx="377825" cy="465138"/>
          </a:xfrm>
          <a:prstGeom prst="rect">
            <a:avLst/>
          </a:prstGeom>
          <a:solidFill>
            <a:srgbClr val="0099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5</a:t>
            </a:r>
            <a:endParaRPr lang="zh-CN" altLang="zh-CN" sz="2400">
              <a:solidFill>
                <a:schemeClr val="bg1"/>
              </a:solidFill>
            </a:endParaRPr>
          </a:p>
        </p:txBody>
      </p:sp>
      <p:sp>
        <p:nvSpPr>
          <p:cNvPr id="51241" name="Rectangle 44"/>
          <p:cNvSpPr>
            <a:spLocks noChangeArrowheads="1"/>
          </p:cNvSpPr>
          <p:nvPr/>
        </p:nvSpPr>
        <p:spPr bwMode="auto">
          <a:xfrm>
            <a:off x="5140325" y="3082925"/>
            <a:ext cx="377825" cy="4651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42" name="Rectangle 45"/>
          <p:cNvSpPr>
            <a:spLocks noChangeArrowheads="1"/>
          </p:cNvSpPr>
          <p:nvPr/>
        </p:nvSpPr>
        <p:spPr bwMode="auto">
          <a:xfrm>
            <a:off x="5518150" y="3082925"/>
            <a:ext cx="377825" cy="465138"/>
          </a:xfrm>
          <a:prstGeom prst="rect">
            <a:avLst/>
          </a:prstGeom>
          <a:solidFill>
            <a:srgbClr val="0000CC"/>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6</a:t>
            </a:r>
            <a:endParaRPr lang="zh-CN" altLang="zh-CN" sz="2400">
              <a:solidFill>
                <a:schemeClr val="bg1"/>
              </a:solidFill>
            </a:endParaRPr>
          </a:p>
        </p:txBody>
      </p:sp>
      <p:sp>
        <p:nvSpPr>
          <p:cNvPr id="51243" name="Rectangle 46"/>
          <p:cNvSpPr>
            <a:spLocks noChangeArrowheads="1"/>
          </p:cNvSpPr>
          <p:nvPr/>
        </p:nvSpPr>
        <p:spPr bwMode="auto">
          <a:xfrm>
            <a:off x="6272213" y="3082925"/>
            <a:ext cx="377825" cy="4651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44" name="Rectangle 47"/>
          <p:cNvSpPr>
            <a:spLocks noChangeArrowheads="1"/>
          </p:cNvSpPr>
          <p:nvPr/>
        </p:nvSpPr>
        <p:spPr bwMode="auto">
          <a:xfrm>
            <a:off x="7027863" y="3082925"/>
            <a:ext cx="377825" cy="465138"/>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7</a:t>
            </a:r>
            <a:endParaRPr lang="zh-CN" altLang="zh-CN" sz="2400">
              <a:solidFill>
                <a:schemeClr val="bg1"/>
              </a:solidFill>
            </a:endParaRPr>
          </a:p>
        </p:txBody>
      </p:sp>
      <p:sp>
        <p:nvSpPr>
          <p:cNvPr id="51245" name="Rectangle 48"/>
          <p:cNvSpPr>
            <a:spLocks noChangeArrowheads="1"/>
          </p:cNvSpPr>
          <p:nvPr/>
        </p:nvSpPr>
        <p:spPr bwMode="auto">
          <a:xfrm>
            <a:off x="5895975" y="3082925"/>
            <a:ext cx="376238" cy="4651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46" name="Rectangle 49"/>
          <p:cNvSpPr>
            <a:spLocks noChangeArrowheads="1"/>
          </p:cNvSpPr>
          <p:nvPr/>
        </p:nvSpPr>
        <p:spPr bwMode="auto">
          <a:xfrm>
            <a:off x="6650038" y="3082925"/>
            <a:ext cx="377825" cy="46513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47" name="Rectangle 50"/>
          <p:cNvSpPr>
            <a:spLocks noChangeArrowheads="1"/>
          </p:cNvSpPr>
          <p:nvPr/>
        </p:nvSpPr>
        <p:spPr bwMode="auto">
          <a:xfrm>
            <a:off x="3254375" y="2617788"/>
            <a:ext cx="376238" cy="465137"/>
          </a:xfrm>
          <a:prstGeom prst="rect">
            <a:avLst/>
          </a:prstGeom>
          <a:solidFill>
            <a:srgbClr val="99FF66"/>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endParaRPr lang="zh-CN" altLang="zh-CN" sz="2400">
              <a:solidFill>
                <a:schemeClr val="tx2"/>
              </a:solidFill>
            </a:endParaRPr>
          </a:p>
        </p:txBody>
      </p:sp>
      <p:sp>
        <p:nvSpPr>
          <p:cNvPr id="51248" name="Rectangle 51"/>
          <p:cNvSpPr>
            <a:spLocks noChangeArrowheads="1"/>
          </p:cNvSpPr>
          <p:nvPr/>
        </p:nvSpPr>
        <p:spPr bwMode="auto">
          <a:xfrm>
            <a:off x="3630613" y="2617788"/>
            <a:ext cx="377825" cy="465137"/>
          </a:xfrm>
          <a:prstGeom prst="rect">
            <a:avLst/>
          </a:prstGeom>
          <a:solidFill>
            <a:srgbClr val="FFFF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endParaRPr lang="zh-CN" altLang="zh-CN" sz="2400">
              <a:solidFill>
                <a:schemeClr val="tx2"/>
              </a:solidFill>
            </a:endParaRPr>
          </a:p>
        </p:txBody>
      </p:sp>
      <p:sp>
        <p:nvSpPr>
          <p:cNvPr id="51249" name="Rectangle 52"/>
          <p:cNvSpPr>
            <a:spLocks noChangeArrowheads="1"/>
          </p:cNvSpPr>
          <p:nvPr/>
        </p:nvSpPr>
        <p:spPr bwMode="auto">
          <a:xfrm>
            <a:off x="4008438" y="2617788"/>
            <a:ext cx="377825" cy="465137"/>
          </a:xfrm>
          <a:prstGeom prst="rect">
            <a:avLst/>
          </a:prstGeom>
          <a:solidFill>
            <a:schemeClr val="accent1"/>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endParaRPr lang="zh-CN" altLang="zh-CN" sz="2400">
              <a:solidFill>
                <a:schemeClr val="tx2"/>
              </a:solidFill>
            </a:endParaRPr>
          </a:p>
        </p:txBody>
      </p:sp>
      <p:sp>
        <p:nvSpPr>
          <p:cNvPr id="51250" name="Rectangle 53"/>
          <p:cNvSpPr>
            <a:spLocks noChangeArrowheads="1"/>
          </p:cNvSpPr>
          <p:nvPr/>
        </p:nvSpPr>
        <p:spPr bwMode="auto">
          <a:xfrm>
            <a:off x="4386263" y="2617788"/>
            <a:ext cx="376237" cy="465137"/>
          </a:xfrm>
          <a:prstGeom prst="rect">
            <a:avLst/>
          </a:prstGeom>
          <a:solidFill>
            <a:srgbClr val="0099FF"/>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4</a:t>
            </a:r>
            <a:endParaRPr lang="zh-CN" altLang="zh-CN" sz="2400">
              <a:solidFill>
                <a:schemeClr val="tx2"/>
              </a:solidFill>
            </a:endParaRPr>
          </a:p>
        </p:txBody>
      </p:sp>
      <p:sp>
        <p:nvSpPr>
          <p:cNvPr id="51251" name="Rectangle 54"/>
          <p:cNvSpPr>
            <a:spLocks noChangeArrowheads="1"/>
          </p:cNvSpPr>
          <p:nvPr/>
        </p:nvSpPr>
        <p:spPr bwMode="auto">
          <a:xfrm>
            <a:off x="4762500" y="2617788"/>
            <a:ext cx="377825" cy="465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52" name="Rectangle 55"/>
          <p:cNvSpPr>
            <a:spLocks noChangeArrowheads="1"/>
          </p:cNvSpPr>
          <p:nvPr/>
        </p:nvSpPr>
        <p:spPr bwMode="auto">
          <a:xfrm>
            <a:off x="5140325" y="2617788"/>
            <a:ext cx="377825" cy="465137"/>
          </a:xfrm>
          <a:prstGeom prst="rect">
            <a:avLst/>
          </a:prstGeom>
          <a:solidFill>
            <a:srgbClr val="0099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5</a:t>
            </a:r>
            <a:endParaRPr lang="zh-CN" altLang="zh-CN" sz="2400">
              <a:solidFill>
                <a:schemeClr val="bg1"/>
              </a:solidFill>
            </a:endParaRPr>
          </a:p>
        </p:txBody>
      </p:sp>
      <p:sp>
        <p:nvSpPr>
          <p:cNvPr id="51253" name="Rectangle 56"/>
          <p:cNvSpPr>
            <a:spLocks noChangeArrowheads="1"/>
          </p:cNvSpPr>
          <p:nvPr/>
        </p:nvSpPr>
        <p:spPr bwMode="auto">
          <a:xfrm>
            <a:off x="5518150" y="2617788"/>
            <a:ext cx="377825" cy="465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54" name="Rectangle 57"/>
          <p:cNvSpPr>
            <a:spLocks noChangeArrowheads="1"/>
          </p:cNvSpPr>
          <p:nvPr/>
        </p:nvSpPr>
        <p:spPr bwMode="auto">
          <a:xfrm>
            <a:off x="5895975" y="2617788"/>
            <a:ext cx="376238" cy="465137"/>
          </a:xfrm>
          <a:prstGeom prst="rect">
            <a:avLst/>
          </a:prstGeom>
          <a:solidFill>
            <a:srgbClr val="0000CC"/>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6</a:t>
            </a:r>
            <a:endParaRPr lang="zh-CN" altLang="zh-CN" sz="2400">
              <a:solidFill>
                <a:schemeClr val="bg1"/>
              </a:solidFill>
            </a:endParaRPr>
          </a:p>
        </p:txBody>
      </p:sp>
      <p:sp>
        <p:nvSpPr>
          <p:cNvPr id="51255" name="Rectangle 58"/>
          <p:cNvSpPr>
            <a:spLocks noChangeArrowheads="1"/>
          </p:cNvSpPr>
          <p:nvPr/>
        </p:nvSpPr>
        <p:spPr bwMode="auto">
          <a:xfrm>
            <a:off x="6650038" y="2617788"/>
            <a:ext cx="377825" cy="465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56" name="Rectangle 59"/>
          <p:cNvSpPr>
            <a:spLocks noChangeArrowheads="1"/>
          </p:cNvSpPr>
          <p:nvPr/>
        </p:nvSpPr>
        <p:spPr bwMode="auto">
          <a:xfrm>
            <a:off x="7405688" y="2617788"/>
            <a:ext cx="376237" cy="465137"/>
          </a:xfrm>
          <a:prstGeom prst="rect">
            <a:avLst/>
          </a:prstGeom>
          <a:solidFill>
            <a:srgbClr val="FF0000"/>
          </a:solidFill>
          <a:ln w="2857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7</a:t>
            </a:r>
            <a:endParaRPr lang="zh-CN" altLang="zh-CN" sz="2400">
              <a:solidFill>
                <a:schemeClr val="bg1"/>
              </a:solidFill>
            </a:endParaRPr>
          </a:p>
        </p:txBody>
      </p:sp>
      <p:sp>
        <p:nvSpPr>
          <p:cNvPr id="51257" name="Rectangle 60"/>
          <p:cNvSpPr>
            <a:spLocks noChangeArrowheads="1"/>
          </p:cNvSpPr>
          <p:nvPr/>
        </p:nvSpPr>
        <p:spPr bwMode="auto">
          <a:xfrm>
            <a:off x="6272213" y="2617788"/>
            <a:ext cx="377825" cy="465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58" name="Rectangle 61"/>
          <p:cNvSpPr>
            <a:spLocks noChangeArrowheads="1"/>
          </p:cNvSpPr>
          <p:nvPr/>
        </p:nvSpPr>
        <p:spPr bwMode="auto">
          <a:xfrm>
            <a:off x="7027863" y="2617788"/>
            <a:ext cx="377825" cy="46513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59" name="Rectangle 62"/>
          <p:cNvSpPr>
            <a:spLocks noChangeArrowheads="1"/>
          </p:cNvSpPr>
          <p:nvPr/>
        </p:nvSpPr>
        <p:spPr bwMode="auto">
          <a:xfrm>
            <a:off x="755650" y="3548063"/>
            <a:ext cx="1208088"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anose="05050102010706020507" pitchFamily="18" charset="2"/>
              </a:rPr>
              <a:t>对阶</a:t>
            </a:r>
            <a:endParaRPr lang="zh-CN" altLang="zh-CN" sz="2400">
              <a:solidFill>
                <a:schemeClr val="tx2"/>
              </a:solidFill>
            </a:endParaRPr>
          </a:p>
        </p:txBody>
      </p:sp>
      <p:sp>
        <p:nvSpPr>
          <p:cNvPr id="51260" name="Rectangle 63"/>
          <p:cNvSpPr>
            <a:spLocks noChangeArrowheads="1"/>
          </p:cNvSpPr>
          <p:nvPr/>
        </p:nvSpPr>
        <p:spPr bwMode="auto">
          <a:xfrm>
            <a:off x="838200" y="3082925"/>
            <a:ext cx="120808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尾数加</a:t>
            </a:r>
            <a:endParaRPr lang="zh-CN" altLang="zh-CN" sz="2400">
              <a:solidFill>
                <a:schemeClr val="tx2"/>
              </a:solidFill>
            </a:endParaRPr>
          </a:p>
        </p:txBody>
      </p:sp>
      <p:sp>
        <p:nvSpPr>
          <p:cNvPr id="51261" name="Rectangle 64"/>
          <p:cNvSpPr>
            <a:spLocks noChangeArrowheads="1"/>
          </p:cNvSpPr>
          <p:nvPr/>
        </p:nvSpPr>
        <p:spPr bwMode="auto">
          <a:xfrm>
            <a:off x="838200" y="2617788"/>
            <a:ext cx="1208088"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规格化</a:t>
            </a:r>
            <a:endParaRPr lang="zh-CN" altLang="zh-CN" sz="2400">
              <a:solidFill>
                <a:schemeClr val="tx2"/>
              </a:solidFill>
            </a:endParaRPr>
          </a:p>
        </p:txBody>
      </p:sp>
      <p:sp>
        <p:nvSpPr>
          <p:cNvPr id="51262" name="Line 65"/>
          <p:cNvSpPr>
            <a:spLocks noChangeShapeType="1"/>
          </p:cNvSpPr>
          <p:nvPr/>
        </p:nvSpPr>
        <p:spPr bwMode="auto">
          <a:xfrm flipV="1">
            <a:off x="7405688" y="3548063"/>
            <a:ext cx="0" cy="928687"/>
          </a:xfrm>
          <a:prstGeom prst="line">
            <a:avLst/>
          </a:prstGeom>
          <a:noFill/>
          <a:ln w="12700">
            <a:solidFill>
              <a:schemeClr val="tx2"/>
            </a:solidFill>
            <a:prstDash val="dash"/>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263" name="Line 66"/>
          <p:cNvSpPr>
            <a:spLocks noChangeShapeType="1"/>
          </p:cNvSpPr>
          <p:nvPr/>
        </p:nvSpPr>
        <p:spPr bwMode="auto">
          <a:xfrm flipV="1">
            <a:off x="7027863" y="4011613"/>
            <a:ext cx="0" cy="465137"/>
          </a:xfrm>
          <a:prstGeom prst="line">
            <a:avLst/>
          </a:prstGeom>
          <a:noFill/>
          <a:ln w="12700">
            <a:solidFill>
              <a:schemeClr val="tx2"/>
            </a:solidFill>
            <a:prstDash val="dash"/>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264" name="Rectangle 67"/>
          <p:cNvSpPr>
            <a:spLocks noChangeArrowheads="1"/>
          </p:cNvSpPr>
          <p:nvPr/>
        </p:nvSpPr>
        <p:spPr bwMode="auto">
          <a:xfrm>
            <a:off x="838200" y="4476750"/>
            <a:ext cx="120808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加数</a:t>
            </a:r>
            <a:endParaRPr lang="zh-CN" altLang="zh-CN" sz="2400">
              <a:solidFill>
                <a:schemeClr val="tx2"/>
              </a:solidFill>
            </a:endParaRPr>
          </a:p>
        </p:txBody>
      </p:sp>
      <p:sp>
        <p:nvSpPr>
          <p:cNvPr id="51265" name="Rectangle 68"/>
          <p:cNvSpPr>
            <a:spLocks noChangeArrowheads="1"/>
          </p:cNvSpPr>
          <p:nvPr/>
        </p:nvSpPr>
        <p:spPr bwMode="auto">
          <a:xfrm>
            <a:off x="2079625" y="4476750"/>
            <a:ext cx="3762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a:t>
            </a:r>
            <a:endParaRPr lang="zh-CN" altLang="zh-CN" sz="2400">
              <a:solidFill>
                <a:schemeClr val="tx2"/>
              </a:solidFill>
            </a:endParaRPr>
          </a:p>
        </p:txBody>
      </p:sp>
      <p:sp>
        <p:nvSpPr>
          <p:cNvPr id="51266" name="Rectangle 69"/>
          <p:cNvSpPr>
            <a:spLocks noChangeArrowheads="1"/>
          </p:cNvSpPr>
          <p:nvPr/>
        </p:nvSpPr>
        <p:spPr bwMode="auto">
          <a:xfrm>
            <a:off x="2455863" y="4476750"/>
            <a:ext cx="37782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C</a:t>
            </a:r>
            <a:endParaRPr lang="zh-CN" altLang="zh-CN" sz="2400">
              <a:solidFill>
                <a:schemeClr val="tx2"/>
              </a:solidFill>
            </a:endParaRPr>
          </a:p>
        </p:txBody>
      </p:sp>
      <p:sp>
        <p:nvSpPr>
          <p:cNvPr id="51267" name="Rectangle 70"/>
          <p:cNvSpPr>
            <a:spLocks noChangeArrowheads="1"/>
          </p:cNvSpPr>
          <p:nvPr/>
        </p:nvSpPr>
        <p:spPr bwMode="auto">
          <a:xfrm>
            <a:off x="2833688" y="4476750"/>
            <a:ext cx="37782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E</a:t>
            </a:r>
            <a:endParaRPr lang="zh-CN" altLang="zh-CN" sz="2400">
              <a:solidFill>
                <a:schemeClr val="tx2"/>
              </a:solidFill>
            </a:endParaRPr>
          </a:p>
        </p:txBody>
      </p:sp>
      <p:sp>
        <p:nvSpPr>
          <p:cNvPr id="51268" name="Rectangle 71"/>
          <p:cNvSpPr>
            <a:spLocks noChangeArrowheads="1"/>
          </p:cNvSpPr>
          <p:nvPr/>
        </p:nvSpPr>
        <p:spPr bwMode="auto">
          <a:xfrm>
            <a:off x="3211513" y="4476750"/>
            <a:ext cx="37782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G</a:t>
            </a:r>
            <a:endParaRPr lang="zh-CN" altLang="zh-CN" sz="2400">
              <a:solidFill>
                <a:schemeClr val="tx2"/>
              </a:solidFill>
            </a:endParaRPr>
          </a:p>
        </p:txBody>
      </p:sp>
      <p:sp>
        <p:nvSpPr>
          <p:cNvPr id="51269" name="Rectangle 72"/>
          <p:cNvSpPr>
            <a:spLocks noChangeArrowheads="1"/>
          </p:cNvSpPr>
          <p:nvPr/>
        </p:nvSpPr>
        <p:spPr bwMode="auto">
          <a:xfrm>
            <a:off x="3810000" y="4495800"/>
            <a:ext cx="755650"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A+B</a:t>
            </a:r>
            <a:endParaRPr lang="zh-CN" altLang="zh-CN" sz="2400">
              <a:solidFill>
                <a:schemeClr val="tx2"/>
              </a:solidFill>
            </a:endParaRPr>
          </a:p>
        </p:txBody>
      </p:sp>
      <p:sp>
        <p:nvSpPr>
          <p:cNvPr id="51270" name="Rectangle 73"/>
          <p:cNvSpPr>
            <a:spLocks noChangeArrowheads="1"/>
          </p:cNvSpPr>
          <p:nvPr/>
        </p:nvSpPr>
        <p:spPr bwMode="auto">
          <a:xfrm>
            <a:off x="4648200" y="4495800"/>
            <a:ext cx="754063"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E+F</a:t>
            </a:r>
            <a:endParaRPr lang="zh-CN" altLang="zh-CN" sz="2400">
              <a:solidFill>
                <a:schemeClr val="tx2"/>
              </a:solidFill>
            </a:endParaRPr>
          </a:p>
        </p:txBody>
      </p:sp>
      <p:sp>
        <p:nvSpPr>
          <p:cNvPr id="51271" name="Rectangle 74"/>
          <p:cNvSpPr>
            <a:spLocks noChangeArrowheads="1"/>
          </p:cNvSpPr>
          <p:nvPr/>
        </p:nvSpPr>
        <p:spPr bwMode="auto">
          <a:xfrm>
            <a:off x="2079625" y="4875213"/>
            <a:ext cx="376238"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B</a:t>
            </a:r>
            <a:endParaRPr lang="zh-CN" altLang="zh-CN" sz="2400">
              <a:solidFill>
                <a:schemeClr val="tx2"/>
              </a:solidFill>
            </a:endParaRPr>
          </a:p>
        </p:txBody>
      </p:sp>
      <p:sp>
        <p:nvSpPr>
          <p:cNvPr id="51272" name="Rectangle 75"/>
          <p:cNvSpPr>
            <a:spLocks noChangeArrowheads="1"/>
          </p:cNvSpPr>
          <p:nvPr/>
        </p:nvSpPr>
        <p:spPr bwMode="auto">
          <a:xfrm>
            <a:off x="2455863" y="4875213"/>
            <a:ext cx="377825"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D</a:t>
            </a:r>
            <a:endParaRPr lang="zh-CN" altLang="zh-CN" sz="2400">
              <a:solidFill>
                <a:schemeClr val="tx2"/>
              </a:solidFill>
            </a:endParaRPr>
          </a:p>
        </p:txBody>
      </p:sp>
      <p:sp>
        <p:nvSpPr>
          <p:cNvPr id="51273" name="Rectangle 76"/>
          <p:cNvSpPr>
            <a:spLocks noChangeArrowheads="1"/>
          </p:cNvSpPr>
          <p:nvPr/>
        </p:nvSpPr>
        <p:spPr bwMode="auto">
          <a:xfrm>
            <a:off x="2833688" y="4875213"/>
            <a:ext cx="377825"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F</a:t>
            </a:r>
            <a:endParaRPr lang="zh-CN" altLang="zh-CN" sz="2400">
              <a:solidFill>
                <a:schemeClr val="tx2"/>
              </a:solidFill>
            </a:endParaRPr>
          </a:p>
        </p:txBody>
      </p:sp>
      <p:sp>
        <p:nvSpPr>
          <p:cNvPr id="51274" name="Rectangle 77"/>
          <p:cNvSpPr>
            <a:spLocks noChangeArrowheads="1"/>
          </p:cNvSpPr>
          <p:nvPr/>
        </p:nvSpPr>
        <p:spPr bwMode="auto">
          <a:xfrm>
            <a:off x="3211513" y="4875213"/>
            <a:ext cx="377825"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H</a:t>
            </a:r>
            <a:endParaRPr lang="zh-CN" altLang="zh-CN" sz="2400">
              <a:solidFill>
                <a:schemeClr val="tx2"/>
              </a:solidFill>
            </a:endParaRPr>
          </a:p>
        </p:txBody>
      </p:sp>
      <p:sp>
        <p:nvSpPr>
          <p:cNvPr id="51275" name="Rectangle 78"/>
          <p:cNvSpPr>
            <a:spLocks noChangeArrowheads="1"/>
          </p:cNvSpPr>
          <p:nvPr/>
        </p:nvSpPr>
        <p:spPr bwMode="auto">
          <a:xfrm>
            <a:off x="3810000" y="4876800"/>
            <a:ext cx="755650"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C+D</a:t>
            </a:r>
            <a:endParaRPr lang="zh-CN" altLang="zh-CN" sz="2400">
              <a:solidFill>
                <a:schemeClr val="tx2"/>
              </a:solidFill>
            </a:endParaRPr>
          </a:p>
        </p:txBody>
      </p:sp>
      <p:sp>
        <p:nvSpPr>
          <p:cNvPr id="51276" name="Rectangle 79"/>
          <p:cNvSpPr>
            <a:spLocks noChangeArrowheads="1"/>
          </p:cNvSpPr>
          <p:nvPr/>
        </p:nvSpPr>
        <p:spPr bwMode="auto">
          <a:xfrm>
            <a:off x="4572000" y="4876800"/>
            <a:ext cx="754063"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G+H</a:t>
            </a:r>
            <a:endParaRPr lang="zh-CN" altLang="zh-CN" sz="2400">
              <a:solidFill>
                <a:schemeClr val="tx2"/>
              </a:solidFill>
            </a:endParaRPr>
          </a:p>
        </p:txBody>
      </p:sp>
      <p:sp>
        <p:nvSpPr>
          <p:cNvPr id="51277" name="Rectangle 80"/>
          <p:cNvSpPr>
            <a:spLocks noChangeArrowheads="1"/>
          </p:cNvSpPr>
          <p:nvPr/>
        </p:nvSpPr>
        <p:spPr bwMode="auto">
          <a:xfrm>
            <a:off x="5651500" y="4508500"/>
            <a:ext cx="166052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A+B+C+D</a:t>
            </a:r>
            <a:endParaRPr lang="zh-CN" altLang="zh-CN" sz="2400">
              <a:solidFill>
                <a:schemeClr val="tx2"/>
              </a:solidFill>
            </a:endParaRPr>
          </a:p>
        </p:txBody>
      </p:sp>
      <p:sp>
        <p:nvSpPr>
          <p:cNvPr id="51278" name="Rectangle 81"/>
          <p:cNvSpPr>
            <a:spLocks noChangeArrowheads="1"/>
          </p:cNvSpPr>
          <p:nvPr/>
        </p:nvSpPr>
        <p:spPr bwMode="auto">
          <a:xfrm>
            <a:off x="5651500" y="4868863"/>
            <a:ext cx="1660525"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E+F+G+H</a:t>
            </a:r>
            <a:endParaRPr lang="zh-CN" altLang="zh-CN" sz="2400">
              <a:solidFill>
                <a:schemeClr val="tx2"/>
              </a:solidFill>
            </a:endParaRPr>
          </a:p>
        </p:txBody>
      </p:sp>
      <p:sp>
        <p:nvSpPr>
          <p:cNvPr id="51279" name="Rectangle 82"/>
          <p:cNvSpPr>
            <a:spLocks noChangeArrowheads="1"/>
          </p:cNvSpPr>
          <p:nvPr/>
        </p:nvSpPr>
        <p:spPr bwMode="auto">
          <a:xfrm>
            <a:off x="838200" y="5273675"/>
            <a:ext cx="1208088"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anose="05050102010706020507" pitchFamily="18" charset="2"/>
              </a:rPr>
              <a:t>结果</a:t>
            </a:r>
            <a:endParaRPr lang="zh-CN" altLang="zh-CN" sz="2400">
              <a:solidFill>
                <a:schemeClr val="tx2"/>
              </a:solidFill>
            </a:endParaRPr>
          </a:p>
        </p:txBody>
      </p:sp>
      <p:sp>
        <p:nvSpPr>
          <p:cNvPr id="51280" name="Rectangle 83"/>
          <p:cNvSpPr>
            <a:spLocks noChangeArrowheads="1"/>
          </p:cNvSpPr>
          <p:nvPr/>
        </p:nvSpPr>
        <p:spPr bwMode="auto">
          <a:xfrm>
            <a:off x="1908175" y="5286375"/>
            <a:ext cx="755650"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A+B</a:t>
            </a:r>
            <a:endParaRPr lang="zh-CN" altLang="zh-CN" sz="2400">
              <a:solidFill>
                <a:schemeClr val="tx2"/>
              </a:solidFill>
            </a:endParaRPr>
          </a:p>
        </p:txBody>
      </p:sp>
      <p:sp>
        <p:nvSpPr>
          <p:cNvPr id="51281" name="Rectangle 84"/>
          <p:cNvSpPr>
            <a:spLocks noChangeArrowheads="1"/>
          </p:cNvSpPr>
          <p:nvPr/>
        </p:nvSpPr>
        <p:spPr bwMode="auto">
          <a:xfrm>
            <a:off x="2209800" y="5715000"/>
            <a:ext cx="755650"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C+D</a:t>
            </a:r>
            <a:endParaRPr lang="zh-CN" altLang="zh-CN" sz="2400">
              <a:solidFill>
                <a:schemeClr val="tx2"/>
              </a:solidFill>
            </a:endParaRPr>
          </a:p>
        </p:txBody>
      </p:sp>
      <p:sp>
        <p:nvSpPr>
          <p:cNvPr id="51282" name="Rectangle 85"/>
          <p:cNvSpPr>
            <a:spLocks noChangeArrowheads="1"/>
          </p:cNvSpPr>
          <p:nvPr/>
        </p:nvSpPr>
        <p:spPr bwMode="auto">
          <a:xfrm>
            <a:off x="2687638" y="5267325"/>
            <a:ext cx="755650"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E+F</a:t>
            </a:r>
            <a:endParaRPr lang="zh-CN" altLang="zh-CN" sz="2400">
              <a:solidFill>
                <a:schemeClr val="tx2"/>
              </a:solidFill>
            </a:endParaRPr>
          </a:p>
        </p:txBody>
      </p:sp>
      <p:sp>
        <p:nvSpPr>
          <p:cNvPr id="51283" name="Rectangle 86"/>
          <p:cNvSpPr>
            <a:spLocks noChangeArrowheads="1"/>
          </p:cNvSpPr>
          <p:nvPr/>
        </p:nvSpPr>
        <p:spPr bwMode="auto">
          <a:xfrm>
            <a:off x="2987675" y="5715000"/>
            <a:ext cx="754063"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G+H</a:t>
            </a:r>
            <a:endParaRPr lang="zh-CN" altLang="zh-CN" sz="2400">
              <a:solidFill>
                <a:schemeClr val="tx2"/>
              </a:solidFill>
            </a:endParaRPr>
          </a:p>
        </p:txBody>
      </p:sp>
      <p:sp>
        <p:nvSpPr>
          <p:cNvPr id="51284" name="Rectangle 87"/>
          <p:cNvSpPr>
            <a:spLocks noChangeArrowheads="1"/>
          </p:cNvSpPr>
          <p:nvPr/>
        </p:nvSpPr>
        <p:spPr bwMode="auto">
          <a:xfrm>
            <a:off x="3429000" y="5257800"/>
            <a:ext cx="1660525"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A+B+C+D</a:t>
            </a:r>
            <a:endParaRPr lang="zh-CN" altLang="zh-CN" sz="2400">
              <a:solidFill>
                <a:schemeClr val="tx2"/>
              </a:solidFill>
            </a:endParaRPr>
          </a:p>
        </p:txBody>
      </p:sp>
      <p:sp>
        <p:nvSpPr>
          <p:cNvPr id="51285" name="Rectangle 88"/>
          <p:cNvSpPr>
            <a:spLocks noChangeArrowheads="1"/>
          </p:cNvSpPr>
          <p:nvPr/>
        </p:nvSpPr>
        <p:spPr bwMode="auto">
          <a:xfrm>
            <a:off x="4191000" y="5715000"/>
            <a:ext cx="166052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E+F+G+H</a:t>
            </a:r>
            <a:endParaRPr lang="zh-CN" altLang="zh-CN" sz="2400">
              <a:solidFill>
                <a:schemeClr val="tx2"/>
              </a:solidFill>
            </a:endParaRPr>
          </a:p>
        </p:txBody>
      </p:sp>
      <p:sp>
        <p:nvSpPr>
          <p:cNvPr id="51286" name="Text Box 89"/>
          <p:cNvSpPr txBox="1">
            <a:spLocks noChangeArrowheads="1"/>
          </p:cNvSpPr>
          <p:nvPr/>
        </p:nvSpPr>
        <p:spPr bwMode="auto">
          <a:xfrm>
            <a:off x="6227763" y="5661025"/>
            <a:ext cx="369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a:spcBef>
                <a:spcPct val="0"/>
              </a:spcBef>
              <a:buClrTx/>
              <a:buFontTx/>
              <a:buNone/>
            </a:pPr>
            <a:r>
              <a:rPr kumimoji="0" lang="en-US" altLang="zh-CN" sz="2400">
                <a:solidFill>
                  <a:schemeClr val="tx2"/>
                </a:solidFill>
              </a:rPr>
              <a:t>Z</a:t>
            </a:r>
            <a:endParaRPr kumimoji="0" lang="en-US" altLang="zh-CN" sz="2400">
              <a:solidFill>
                <a:schemeClr val="tx2"/>
              </a:solidFill>
            </a:endParaRPr>
          </a:p>
        </p:txBody>
      </p:sp>
      <p:sp>
        <p:nvSpPr>
          <p:cNvPr id="51287" name="Rectangle 90"/>
          <p:cNvSpPr>
            <a:spLocks noChangeArrowheads="1"/>
          </p:cNvSpPr>
          <p:nvPr/>
        </p:nvSpPr>
        <p:spPr bwMode="auto">
          <a:xfrm>
            <a:off x="684213" y="4868863"/>
            <a:ext cx="1208087"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sym typeface="Symbol" panose="05050102010706020507" pitchFamily="18" charset="2"/>
              </a:rPr>
              <a:t>被</a:t>
            </a:r>
            <a:r>
              <a:rPr lang="zh-CN" altLang="zh-CN" sz="2400">
                <a:solidFill>
                  <a:schemeClr val="tx2"/>
                </a:solidFill>
                <a:sym typeface="Symbol" panose="05050102010706020507" pitchFamily="18" charset="2"/>
              </a:rPr>
              <a:t>加数</a:t>
            </a:r>
            <a:endParaRPr lang="zh-CN" altLang="zh-CN" sz="2400">
              <a:solidFill>
                <a:schemeClr val="tx2"/>
              </a:solidFill>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0549" name="Rectangle 5"/>
          <p:cNvSpPr>
            <a:spLocks noGrp="1" noChangeArrowheads="1"/>
          </p:cNvSpPr>
          <p:nvPr>
            <p:ph type="title"/>
          </p:nvPr>
        </p:nvSpPr>
        <p:spPr/>
        <p:txBody>
          <a:bodyPr/>
          <a:lstStyle/>
          <a:p>
            <a:pPr eaLnBrk="1" hangingPunct="1">
              <a:defRPr/>
            </a:pPr>
            <a:r>
              <a:rPr lang="zh-CN" altLang="en-US" smtClean="0"/>
              <a:t>性能分析举例</a:t>
            </a:r>
            <a:endParaRPr lang="zh-CN" altLang="en-US" smtClean="0"/>
          </a:p>
        </p:txBody>
      </p:sp>
      <p:sp>
        <p:nvSpPr>
          <p:cNvPr id="52227" name="Rectangle 6"/>
          <p:cNvSpPr>
            <a:spLocks noGrp="1" noChangeArrowheads="1"/>
          </p:cNvSpPr>
          <p:nvPr>
            <p:ph type="body" idx="1"/>
          </p:nvPr>
        </p:nvSpPr>
        <p:spPr/>
        <p:txBody>
          <a:bodyPr/>
          <a:lstStyle/>
          <a:p>
            <a:pPr eaLnBrk="1" hangingPunct="1">
              <a:lnSpc>
                <a:spcPct val="120000"/>
              </a:lnSpc>
            </a:pPr>
            <a:r>
              <a:rPr lang="zh-CN" altLang="en-US" sz="2800" smtClean="0"/>
              <a:t>流水线的吞吐率为：</a:t>
            </a:r>
            <a:endParaRPr lang="zh-CN" altLang="en-US" sz="2800" smtClean="0"/>
          </a:p>
          <a:p>
            <a:pPr eaLnBrk="1" hangingPunct="1">
              <a:lnSpc>
                <a:spcPct val="120000"/>
              </a:lnSpc>
            </a:pPr>
            <a:endParaRPr lang="zh-CN" altLang="en-US" sz="2800" smtClean="0"/>
          </a:p>
          <a:p>
            <a:pPr eaLnBrk="1" hangingPunct="1">
              <a:lnSpc>
                <a:spcPct val="120000"/>
              </a:lnSpc>
            </a:pPr>
            <a:endParaRPr lang="zh-CN" altLang="en-US" sz="2800" smtClean="0"/>
          </a:p>
          <a:p>
            <a:pPr eaLnBrk="1" hangingPunct="1">
              <a:lnSpc>
                <a:spcPct val="120000"/>
              </a:lnSpc>
            </a:pPr>
            <a:r>
              <a:rPr lang="zh-CN" altLang="en-US" sz="2800" smtClean="0"/>
              <a:t>流水线的加速比为：</a:t>
            </a:r>
            <a:endParaRPr lang="zh-CN" altLang="en-US" sz="2800" smtClean="0"/>
          </a:p>
          <a:p>
            <a:pPr eaLnBrk="1" hangingPunct="1">
              <a:lnSpc>
                <a:spcPct val="120000"/>
              </a:lnSpc>
            </a:pPr>
            <a:endParaRPr lang="zh-CN" altLang="en-US" sz="2800" smtClean="0"/>
          </a:p>
          <a:p>
            <a:pPr eaLnBrk="1" hangingPunct="1">
              <a:lnSpc>
                <a:spcPct val="120000"/>
              </a:lnSpc>
            </a:pPr>
            <a:r>
              <a:rPr lang="zh-CN" altLang="en-US" sz="2800" smtClean="0"/>
              <a:t>流水线的效率为：</a:t>
            </a:r>
            <a:endParaRPr lang="zh-CN" altLang="en-US" sz="2800" smtClean="0"/>
          </a:p>
        </p:txBody>
      </p:sp>
      <p:sp>
        <p:nvSpPr>
          <p:cNvPr id="52228"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流水线的性能分析</a:t>
            </a:r>
            <a:endParaRPr lang="zh-CN" altLang="en-US" sz="1200" b="0">
              <a:latin typeface="Times New Roman" panose="02020603050405020304" pitchFamily="18" charset="0"/>
              <a:ea typeface="幼圆" panose="02010509060101010101" pitchFamily="49" charset="-122"/>
            </a:endParaRPr>
          </a:p>
        </p:txBody>
      </p:sp>
      <p:sp>
        <p:nvSpPr>
          <p:cNvPr id="52229"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3</a:t>
            </a:r>
            <a:endParaRPr lang="zh-CN" altLang="en-US" sz="1200" b="0">
              <a:latin typeface="幼圆" panose="02010509060101010101" pitchFamily="49" charset="-122"/>
              <a:ea typeface="幼圆" panose="02010509060101010101" pitchFamily="49" charset="-122"/>
            </a:endParaRPr>
          </a:p>
        </p:txBody>
      </p:sp>
      <p:graphicFrame>
        <p:nvGraphicFramePr>
          <p:cNvPr id="620551" name="Object 7"/>
          <p:cNvGraphicFramePr>
            <a:graphicFrameLocks noChangeAspect="1"/>
          </p:cNvGraphicFramePr>
          <p:nvPr/>
        </p:nvGraphicFramePr>
        <p:xfrm>
          <a:off x="4081463" y="2624138"/>
          <a:ext cx="4341812" cy="884237"/>
        </p:xfrm>
        <a:graphic>
          <a:graphicData uri="http://schemas.openxmlformats.org/presentationml/2006/ole">
            <mc:AlternateContent xmlns:mc="http://schemas.openxmlformats.org/markup-compatibility/2006">
              <mc:Choice xmlns:v="urn:schemas-microsoft-com:vml" Requires="v">
                <p:oleObj spid="_x0000_s52497" name="公式" r:id="rId4" imgW="52120800" imgH="10668000" progId="Equation.3">
                  <p:embed/>
                </p:oleObj>
              </mc:Choice>
              <mc:Fallback>
                <p:oleObj name="公式" r:id="rId4" imgW="52120800" imgH="10668000" progId="Equation.3">
                  <p:embed/>
                  <p:pic>
                    <p:nvPicPr>
                      <p:cNvPr id="0" name="Object 7"/>
                      <p:cNvPicPr>
                        <a:picLocks noChangeAspect="1" noChangeArrowheads="1"/>
                      </p:cNvPicPr>
                      <p:nvPr/>
                    </p:nvPicPr>
                    <p:blipFill>
                      <a:blip r:embed="rId5"/>
                      <a:srcRect/>
                      <a:stretch>
                        <a:fillRect/>
                      </a:stretch>
                    </p:blipFill>
                    <p:spPr bwMode="auto">
                      <a:xfrm>
                        <a:off x="4081463" y="2624138"/>
                        <a:ext cx="4341812" cy="884237"/>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graphicFrame>
        <p:nvGraphicFramePr>
          <p:cNvPr id="620552" name="Object 8"/>
          <p:cNvGraphicFramePr>
            <a:graphicFrameLocks noChangeAspect="1"/>
          </p:cNvGraphicFramePr>
          <p:nvPr/>
        </p:nvGraphicFramePr>
        <p:xfrm>
          <a:off x="4500563" y="4076700"/>
          <a:ext cx="3122612" cy="860425"/>
        </p:xfrm>
        <a:graphic>
          <a:graphicData uri="http://schemas.openxmlformats.org/presentationml/2006/ole">
            <mc:AlternateContent xmlns:mc="http://schemas.openxmlformats.org/markup-compatibility/2006">
              <mc:Choice xmlns:v="urn:schemas-microsoft-com:vml" Requires="v">
                <p:oleObj spid="_x0000_s52498" name="Equation" r:id="rId6" imgW="1562100" imgH="431800" progId="Equation.3">
                  <p:embed/>
                </p:oleObj>
              </mc:Choice>
              <mc:Fallback>
                <p:oleObj name="Equation" r:id="rId6" imgW="1562100" imgH="431800" progId="Equation.3">
                  <p:embed/>
                  <p:pic>
                    <p:nvPicPr>
                      <p:cNvPr id="0" name="Object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500563" y="4076700"/>
                        <a:ext cx="3122612" cy="860425"/>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graphicFrame>
        <p:nvGraphicFramePr>
          <p:cNvPr id="620553" name="Object 9"/>
          <p:cNvGraphicFramePr>
            <a:graphicFrameLocks noChangeAspect="1"/>
          </p:cNvGraphicFramePr>
          <p:nvPr/>
        </p:nvGraphicFramePr>
        <p:xfrm>
          <a:off x="4500563" y="5445125"/>
          <a:ext cx="2641600" cy="784225"/>
        </p:xfrm>
        <a:graphic>
          <a:graphicData uri="http://schemas.openxmlformats.org/presentationml/2006/ole">
            <mc:AlternateContent xmlns:mc="http://schemas.openxmlformats.org/markup-compatibility/2006">
              <mc:Choice xmlns:v="urn:schemas-microsoft-com:vml" Requires="v">
                <p:oleObj spid="_x0000_s52499" name="Equation" r:id="rId8" imgW="1320165" imgH="393700" progId="Equation.3">
                  <p:embed/>
                </p:oleObj>
              </mc:Choice>
              <mc:Fallback>
                <p:oleObj name="Equation" r:id="rId8" imgW="1320165" imgH="393700" progId="Equation.3">
                  <p:embed/>
                  <p:pic>
                    <p:nvPicPr>
                      <p:cNvPr id="0" name="Object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500563" y="5445125"/>
                        <a:ext cx="2641600" cy="784225"/>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spTree>
  </p:cSld>
  <p:clrMapOvr>
    <a:masterClrMapping/>
  </p:clrMapOvr>
  <p:transition spd="slow">
    <p:random/>
    <p:sndAc>
      <p:stSnd>
        <p:snd r:embed="rId10"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nodeType="clickEffect">
                                  <p:stCondLst>
                                    <p:cond delay="0"/>
                                  </p:stCondLst>
                                  <p:childTnLst>
                                    <p:set>
                                      <p:cBhvr>
                                        <p:cTn id="6" dur="1" fill="hold">
                                          <p:stCondLst>
                                            <p:cond delay="499"/>
                                          </p:stCondLst>
                                        </p:cTn>
                                        <p:tgtEl>
                                          <p:spTgt spid="620551"/>
                                        </p:tgtEl>
                                        <p:attrNameLst>
                                          <p:attrName>style.visibility</p:attrName>
                                        </p:attrNameLst>
                                      </p:cBhvr>
                                      <p:to>
                                        <p:strVal val="visible"/>
                                      </p:to>
                                    </p:set>
                                    <p:anim to="" calcmode="lin" valueType="num">
                                      <p:cBhvr>
                                        <p:cTn id="7" dur="1" fill="hold"/>
                                        <p:tgtEl>
                                          <p:spTgt spid="620551"/>
                                        </p:tgtEl>
                                      </p:cBhvr>
                                    </p:anim>
                                  </p:childTnLst>
                                  <p:subTnLst>
                                    <p:audio>
                                      <p:cMediaNode>
                                        <p:cTn display="0" masterRel="sameClick">
                                          <p:stCondLst>
                                            <p:cond evt="begin" delay="0">
                                              <p:tn val="5"/>
                                            </p:cond>
                                          </p:stCondLst>
                                          <p:endCondLst>
                                            <p:cond evt="onStopAudio" delay="0">
                                              <p:tgtEl>
                                                <p:sldTgt/>
                                              </p:tgtEl>
                                            </p:cond>
                                          </p:endCondLst>
                                        </p:cTn>
                                        <p:tgtEl>
                                          <p:sndTgt r:embed="rId11" name="chimes.wav"/>
                                        </p:tgtEl>
                                      </p:cMediaNode>
                                    </p:audio>
                                  </p:subTnLst>
                                </p:cTn>
                              </p:par>
                            </p:childTnLst>
                          </p:cTn>
                        </p:par>
                      </p:childTnLst>
                    </p:cTn>
                  </p:par>
                  <p:par>
                    <p:cTn id="8" fill="hold">
                      <p:stCondLst>
                        <p:cond delay="indefinite"/>
                      </p:stCondLst>
                      <p:childTnLst>
                        <p:par>
                          <p:cTn id="9" fill="hold">
                            <p:stCondLst>
                              <p:cond delay="0"/>
                            </p:stCondLst>
                            <p:childTnLst>
                              <p:par>
                                <p:cTn id="10" presetID="24" presetClass="entr" presetSubtype="0" fill="hold" nodeType="clickEffect">
                                  <p:stCondLst>
                                    <p:cond delay="0"/>
                                  </p:stCondLst>
                                  <p:childTnLst>
                                    <p:set>
                                      <p:cBhvr>
                                        <p:cTn id="11" dur="1" fill="hold">
                                          <p:stCondLst>
                                            <p:cond delay="499"/>
                                          </p:stCondLst>
                                        </p:cTn>
                                        <p:tgtEl>
                                          <p:spTgt spid="620552"/>
                                        </p:tgtEl>
                                        <p:attrNameLst>
                                          <p:attrName>style.visibility</p:attrName>
                                        </p:attrNameLst>
                                      </p:cBhvr>
                                      <p:to>
                                        <p:strVal val="visible"/>
                                      </p:to>
                                    </p:set>
                                    <p:anim to="" calcmode="lin" valueType="num">
                                      <p:cBhvr>
                                        <p:cTn id="12" dur="1" fill="hold"/>
                                        <p:tgtEl>
                                          <p:spTgt spid="620552"/>
                                        </p:tgtEl>
                                      </p:cBhvr>
                                    </p:anim>
                                  </p:childTnLst>
                                  <p:subTnLst>
                                    <p:audio>
                                      <p:cMediaNode>
                                        <p:cTn display="0" masterRel="sameClick">
                                          <p:stCondLst>
                                            <p:cond evt="begin" delay="0">
                                              <p:tn val="10"/>
                                            </p:cond>
                                          </p:stCondLst>
                                          <p:endCondLst>
                                            <p:cond evt="onStopAudio" delay="0">
                                              <p:tgtEl>
                                                <p:sldTgt/>
                                              </p:tgtEl>
                                            </p:cond>
                                          </p:endCondLst>
                                        </p:cTn>
                                        <p:tgtEl>
                                          <p:sndTgt r:embed="rId11" name="chimes.wav"/>
                                        </p:tgtEl>
                                      </p:cMediaNode>
                                    </p:audio>
                                  </p:subTnLst>
                                </p:cTn>
                              </p:par>
                            </p:childTnLst>
                          </p:cTn>
                        </p:par>
                      </p:childTnLst>
                    </p:cTn>
                  </p:par>
                  <p:par>
                    <p:cTn id="13" fill="hold">
                      <p:stCondLst>
                        <p:cond delay="indefinite"/>
                      </p:stCondLst>
                      <p:childTnLst>
                        <p:par>
                          <p:cTn id="14" fill="hold">
                            <p:stCondLst>
                              <p:cond delay="0"/>
                            </p:stCondLst>
                            <p:childTnLst>
                              <p:par>
                                <p:cTn id="15" presetID="24" presetClass="entr" presetSubtype="0" fill="hold" nodeType="clickEffect">
                                  <p:stCondLst>
                                    <p:cond delay="0"/>
                                  </p:stCondLst>
                                  <p:childTnLst>
                                    <p:set>
                                      <p:cBhvr>
                                        <p:cTn id="16" dur="1" fill="hold">
                                          <p:stCondLst>
                                            <p:cond delay="499"/>
                                          </p:stCondLst>
                                        </p:cTn>
                                        <p:tgtEl>
                                          <p:spTgt spid="620553"/>
                                        </p:tgtEl>
                                        <p:attrNameLst>
                                          <p:attrName>style.visibility</p:attrName>
                                        </p:attrNameLst>
                                      </p:cBhvr>
                                      <p:to>
                                        <p:strVal val="visible"/>
                                      </p:to>
                                    </p:set>
                                    <p:anim to="" calcmode="lin" valueType="num">
                                      <p:cBhvr>
                                        <p:cTn id="17" dur="1" fill="hold"/>
                                        <p:tgtEl>
                                          <p:spTgt spid="620553"/>
                                        </p:tgtEl>
                                      </p:cBhvr>
                                    </p:anim>
                                  </p:childTnLst>
                                  <p:subTnLst>
                                    <p:audio>
                                      <p:cMediaNode>
                                        <p:cTn display="0" masterRel="sameClick">
                                          <p:stCondLst>
                                            <p:cond evt="begin" delay="0">
                                              <p:tn val="15"/>
                                            </p:cond>
                                          </p:stCondLst>
                                          <p:endCondLst>
                                            <p:cond evt="onStopAudio" delay="0">
                                              <p:tgtEl>
                                                <p:sldTgt/>
                                              </p:tgtEl>
                                            </p:cond>
                                          </p:endCondLst>
                                        </p:cTn>
                                        <p:tgtEl>
                                          <p:sndTgt r:embed="rId11"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6274" name="Rectangle 2"/>
          <p:cNvSpPr>
            <a:spLocks noGrp="1" noChangeArrowheads="1"/>
          </p:cNvSpPr>
          <p:nvPr>
            <p:ph type="title"/>
          </p:nvPr>
        </p:nvSpPr>
        <p:spPr/>
        <p:txBody>
          <a:bodyPr/>
          <a:lstStyle/>
          <a:p>
            <a:pPr eaLnBrk="1" hangingPunct="1">
              <a:defRPr/>
            </a:pPr>
            <a:r>
              <a:rPr lang="zh-CN" altLang="en-US" smtClean="0"/>
              <a:t>非线性流水线的</a:t>
            </a:r>
            <a:br>
              <a:rPr lang="zh-CN" altLang="en-US" smtClean="0"/>
            </a:br>
            <a:r>
              <a:rPr lang="zh-CN" altLang="en-US" smtClean="0"/>
              <a:t>调度技术</a:t>
            </a:r>
            <a:endParaRPr lang="zh-CN" altLang="en-US" smtClean="0"/>
          </a:p>
        </p:txBody>
      </p:sp>
      <p:sp>
        <p:nvSpPr>
          <p:cNvPr id="532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endParaRPr lang="zh-CN" altLang="en-US" sz="1200" b="0">
              <a:latin typeface="Times New Roman" panose="02020603050405020304" pitchFamily="18" charset="0"/>
              <a:ea typeface="幼圆" panose="02010509060101010101" pitchFamily="49" charset="-122"/>
            </a:endParaRPr>
          </a:p>
        </p:txBody>
      </p:sp>
      <p:sp>
        <p:nvSpPr>
          <p:cNvPr id="53252" name="Rectangle 4"/>
          <p:cNvSpPr>
            <a:spLocks noGrp="1" noChangeArrowheads="1"/>
          </p:cNvSpPr>
          <p:nvPr>
            <p:ph type="body" idx="1"/>
          </p:nvPr>
        </p:nvSpPr>
        <p:spPr>
          <a:xfrm>
            <a:off x="1979613" y="2205038"/>
            <a:ext cx="4606925" cy="3887787"/>
          </a:xfrm>
        </p:spPr>
        <p:txBody>
          <a:bodyPr/>
          <a:lstStyle/>
          <a:p>
            <a:pPr eaLnBrk="1" hangingPunct="1">
              <a:lnSpc>
                <a:spcPct val="160000"/>
              </a:lnSpc>
            </a:pPr>
            <a:r>
              <a:rPr lang="zh-CN" altLang="en-US" dirty="0" smtClean="0">
                <a:hlinkClick r:id="rId3" action="ppaction://hlinksldjump"/>
              </a:rPr>
              <a:t>调度目的</a:t>
            </a:r>
            <a:endParaRPr lang="zh-CN" altLang="en-US" dirty="0" smtClean="0"/>
          </a:p>
          <a:p>
            <a:pPr eaLnBrk="1" hangingPunct="1">
              <a:lnSpc>
                <a:spcPct val="160000"/>
              </a:lnSpc>
            </a:pPr>
            <a:r>
              <a:rPr lang="zh-CN" altLang="en-US" dirty="0" smtClean="0">
                <a:hlinkClick r:id="rId4" action="ppaction://hlinksldjump"/>
              </a:rPr>
              <a:t>非线性流水线的冲突</a:t>
            </a:r>
            <a:endParaRPr lang="zh-CN" altLang="en-US" dirty="0" smtClean="0"/>
          </a:p>
          <a:p>
            <a:pPr eaLnBrk="1" hangingPunct="1">
              <a:lnSpc>
                <a:spcPct val="160000"/>
              </a:lnSpc>
            </a:pPr>
            <a:r>
              <a:rPr lang="zh-CN" altLang="en-US" dirty="0" smtClean="0">
                <a:hlinkClick r:id="rId5" action="ppaction://hlinksldjump"/>
              </a:rPr>
              <a:t>无冲突调度方法</a:t>
            </a:r>
            <a:endParaRPr lang="zh-CN" altLang="en-US" dirty="0" smtClean="0"/>
          </a:p>
          <a:p>
            <a:pPr eaLnBrk="1" hangingPunct="1">
              <a:lnSpc>
                <a:spcPct val="160000"/>
              </a:lnSpc>
            </a:pPr>
            <a:r>
              <a:rPr lang="zh-CN" altLang="en-US" dirty="0" smtClean="0">
                <a:hlinkClick r:id="rId6" action="ppaction://hlinksldjump"/>
              </a:rPr>
              <a:t>优化调度方法</a:t>
            </a:r>
            <a:endParaRPr lang="zh-CN" altLang="en-US" dirty="0" smtClean="0"/>
          </a:p>
        </p:txBody>
      </p:sp>
    </p:spTree>
  </p:cSld>
  <p:clrMapOvr>
    <a:masterClrMapping/>
  </p:clrMapOvr>
  <p:transition spd="slow">
    <p:random/>
    <p:sndAc>
      <p:stSnd>
        <p:snd r:embed="rId7" name="projctor.wav"/>
      </p:stSnd>
    </p:sndAc>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1570" name="Rectangle 2"/>
          <p:cNvSpPr>
            <a:spLocks noGrp="1" noChangeArrowheads="1"/>
          </p:cNvSpPr>
          <p:nvPr>
            <p:ph type="title"/>
          </p:nvPr>
        </p:nvSpPr>
        <p:spPr/>
        <p:txBody>
          <a:bodyPr/>
          <a:lstStyle/>
          <a:p>
            <a:pPr eaLnBrk="1" hangingPunct="1">
              <a:defRPr/>
            </a:pPr>
            <a:r>
              <a:rPr lang="zh-CN" altLang="en-US" smtClean="0"/>
              <a:t>调度目的</a:t>
            </a:r>
            <a:endParaRPr lang="zh-CN" altLang="en-US" smtClean="0"/>
          </a:p>
        </p:txBody>
      </p:sp>
      <p:sp>
        <p:nvSpPr>
          <p:cNvPr id="5427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sp>
        <p:nvSpPr>
          <p:cNvPr id="54276" name="Rectangle 5"/>
          <p:cNvSpPr>
            <a:spLocks noGrp="1" noChangeArrowheads="1"/>
          </p:cNvSpPr>
          <p:nvPr>
            <p:ph type="body" idx="1"/>
          </p:nvPr>
        </p:nvSpPr>
        <p:spPr>
          <a:xfrm>
            <a:off x="809625" y="2417763"/>
            <a:ext cx="7958138" cy="3983037"/>
          </a:xfrm>
        </p:spPr>
        <p:txBody>
          <a:bodyPr/>
          <a:lstStyle/>
          <a:p>
            <a:pPr marL="0" indent="0" eaLnBrk="1" hangingPunct="1">
              <a:lnSpc>
                <a:spcPct val="140000"/>
              </a:lnSpc>
              <a:buFont typeface="Wingdings" panose="05000000000000000000" pitchFamily="2" charset="2"/>
              <a:buNone/>
            </a:pPr>
            <a:r>
              <a:rPr lang="zh-CN" altLang="en-US" dirty="0" smtClean="0"/>
              <a:t>       非线性流水线的调度目的是要找出一个最小的循环周期，按照这周期向流水线输入新任务，流水线的各个功能段都</a:t>
            </a:r>
            <a:r>
              <a:rPr lang="zh-CN" altLang="en-US" dirty="0" smtClean="0">
                <a:solidFill>
                  <a:srgbClr val="0000FF"/>
                </a:solidFill>
              </a:rPr>
              <a:t>不会发生冲突</a:t>
            </a:r>
            <a:r>
              <a:rPr lang="zh-CN" altLang="en-US" dirty="0" smtClean="0"/>
              <a:t>，而且流水线的</a:t>
            </a:r>
            <a:r>
              <a:rPr lang="zh-CN" altLang="en-US" dirty="0" smtClean="0">
                <a:solidFill>
                  <a:srgbClr val="FF0000"/>
                </a:solidFill>
              </a:rPr>
              <a:t>吞吐率和效率最高</a:t>
            </a:r>
            <a:r>
              <a:rPr lang="zh-CN" altLang="en-US" dirty="0" smtClean="0"/>
              <a:t>。</a:t>
            </a:r>
            <a:endParaRPr lang="zh-CN" altLang="en-US" dirty="0" smtClean="0"/>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2594" name="Rectangle 2"/>
          <p:cNvSpPr>
            <a:spLocks noGrp="1" noChangeArrowheads="1"/>
          </p:cNvSpPr>
          <p:nvPr>
            <p:ph type="title"/>
          </p:nvPr>
        </p:nvSpPr>
        <p:spPr/>
        <p:txBody>
          <a:bodyPr/>
          <a:lstStyle/>
          <a:p>
            <a:pPr eaLnBrk="1" hangingPunct="1">
              <a:defRPr/>
            </a:pPr>
            <a:r>
              <a:rPr lang="zh-CN" altLang="en-US" smtClean="0"/>
              <a:t>非线性流水线的冲突</a:t>
            </a:r>
            <a:endParaRPr lang="zh-CN" altLang="en-US" smtClean="0"/>
          </a:p>
        </p:txBody>
      </p:sp>
      <p:sp>
        <p:nvSpPr>
          <p:cNvPr id="552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sp>
        <p:nvSpPr>
          <p:cNvPr id="622596" name="Rectangle 4"/>
          <p:cNvSpPr>
            <a:spLocks noGrp="1" noChangeArrowheads="1"/>
          </p:cNvSpPr>
          <p:nvPr>
            <p:ph type="body" idx="1"/>
          </p:nvPr>
        </p:nvSpPr>
        <p:spPr>
          <a:xfrm>
            <a:off x="809625" y="1989138"/>
            <a:ext cx="7958138" cy="4535487"/>
          </a:xfrm>
        </p:spPr>
        <p:txBody>
          <a:bodyPr/>
          <a:lstStyle/>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启动距离</a:t>
            </a:r>
            <a:endParaRPr lang="zh-CN" altLang="en-US" sz="28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800" dirty="0" smtClean="0"/>
              <a:t>    向一条非线性流水线的输入端顺序输入两个任务之间的时间间隔称为</a:t>
            </a:r>
            <a:r>
              <a:rPr lang="zh-CN" altLang="en-US" sz="2800" dirty="0" smtClean="0">
                <a:solidFill>
                  <a:srgbClr val="0000FF"/>
                </a:solidFill>
              </a:rPr>
              <a:t>启动距离/等待时间</a:t>
            </a:r>
            <a:r>
              <a:rPr lang="en-US" altLang="zh-CN" sz="2800" dirty="0" smtClean="0"/>
              <a:t>。</a:t>
            </a:r>
            <a:endParaRPr lang="en-US" altLang="zh-CN" sz="2800" dirty="0" smtClean="0"/>
          </a:p>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冲突</a:t>
            </a:r>
            <a:endParaRPr lang="en-US" altLang="zh-CN" sz="28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800" dirty="0" smtClean="0"/>
              <a:t>    几个任务同时争用同一个流水线功能段的情况称为</a:t>
            </a:r>
            <a:r>
              <a:rPr lang="zh-CN" altLang="en-US" sz="2800" dirty="0" smtClean="0">
                <a:solidFill>
                  <a:srgbClr val="0000FF"/>
                </a:solidFill>
              </a:rPr>
              <a:t>非线性流水线的冲突</a:t>
            </a:r>
            <a:r>
              <a:rPr lang="en-US" altLang="zh-CN" sz="2800" dirty="0" smtClean="0"/>
              <a:t>。</a:t>
            </a:r>
            <a:endParaRPr lang="en-US" altLang="zh-CN" sz="2800" dirty="0" smtClean="0"/>
          </a:p>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禁止启动距离</a:t>
            </a:r>
            <a:endParaRPr lang="en-US" altLang="zh-CN" sz="28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800" dirty="0" smtClean="0"/>
              <a:t>    引起非线性流水线冲突的启动距离称为</a:t>
            </a:r>
            <a:r>
              <a:rPr lang="zh-CN" altLang="en-US" sz="2800" dirty="0" smtClean="0">
                <a:solidFill>
                  <a:srgbClr val="0000FF"/>
                </a:solidFill>
              </a:rPr>
              <a:t>禁止启动距离</a:t>
            </a:r>
            <a:r>
              <a:rPr lang="zh-CN" altLang="en-US" sz="2800" dirty="0" smtClean="0"/>
              <a:t>。</a:t>
            </a:r>
            <a:endParaRPr lang="zh-CN" altLang="en-US" sz="2800" dirty="0" smtClean="0"/>
          </a:p>
        </p:txBody>
      </p:sp>
      <p:sp>
        <p:nvSpPr>
          <p:cNvPr id="55301"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2"/>
          <p:cNvSpPr>
            <a:spLocks noGrp="1" noChangeArrowheads="1"/>
          </p:cNvSpPr>
          <p:nvPr>
            <p:ph type="title"/>
          </p:nvPr>
        </p:nvSpPr>
        <p:spPr/>
        <p:txBody>
          <a:bodyPr/>
          <a:lstStyle/>
          <a:p>
            <a:pPr eaLnBrk="1" hangingPunct="1">
              <a:defRPr/>
            </a:pPr>
            <a:r>
              <a:rPr lang="zh-CN" altLang="en-US" smtClean="0"/>
              <a:t>举  例-</a:t>
            </a:r>
            <a:r>
              <a:rPr lang="zh-CN" altLang="en-US" sz="3600" smtClean="0"/>
              <a:t>非线性流水线</a:t>
            </a:r>
            <a:endParaRPr lang="zh-CN" altLang="en-US" sz="3600" smtClean="0"/>
          </a:p>
        </p:txBody>
      </p:sp>
      <p:sp>
        <p:nvSpPr>
          <p:cNvPr id="563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sp>
        <p:nvSpPr>
          <p:cNvPr id="56324"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2</a:t>
            </a:r>
            <a:endParaRPr lang="zh-CN" altLang="en-US" sz="1200" b="0">
              <a:latin typeface="幼圆" panose="02010509060101010101" pitchFamily="49" charset="-122"/>
              <a:ea typeface="幼圆" panose="02010509060101010101" pitchFamily="49" charset="-122"/>
            </a:endParaRPr>
          </a:p>
        </p:txBody>
      </p:sp>
      <p:grpSp>
        <p:nvGrpSpPr>
          <p:cNvPr id="56325" name="Group 97"/>
          <p:cNvGrpSpPr/>
          <p:nvPr/>
        </p:nvGrpSpPr>
        <p:grpSpPr bwMode="auto">
          <a:xfrm>
            <a:off x="971550" y="1916113"/>
            <a:ext cx="7696200" cy="4403725"/>
            <a:chOff x="624" y="1296"/>
            <a:chExt cx="4848" cy="2683"/>
          </a:xfrm>
        </p:grpSpPr>
        <p:sp>
          <p:nvSpPr>
            <p:cNvPr id="56326" name="Rectangle 6"/>
            <p:cNvSpPr>
              <a:spLocks noChangeArrowheads="1"/>
            </p:cNvSpPr>
            <p:nvPr/>
          </p:nvSpPr>
          <p:spPr bwMode="auto">
            <a:xfrm>
              <a:off x="2256" y="1296"/>
              <a:ext cx="386"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2400">
                  <a:solidFill>
                    <a:srgbClr val="000000"/>
                  </a:solidFill>
                </a:rPr>
                <a:t>输出</a:t>
              </a:r>
              <a:endParaRPr lang="zh-CN" altLang="en-US" sz="2400"/>
            </a:p>
          </p:txBody>
        </p:sp>
        <p:sp>
          <p:nvSpPr>
            <p:cNvPr id="56327" name="Rectangle 7"/>
            <p:cNvSpPr>
              <a:spLocks noChangeArrowheads="1"/>
            </p:cNvSpPr>
            <p:nvPr/>
          </p:nvSpPr>
          <p:spPr bwMode="auto">
            <a:xfrm>
              <a:off x="1344" y="1584"/>
              <a:ext cx="576" cy="52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S1</a:t>
              </a:r>
              <a:endParaRPr lang="en-US" altLang="zh-CN" sz="2400"/>
            </a:p>
          </p:txBody>
        </p:sp>
        <p:sp>
          <p:nvSpPr>
            <p:cNvPr id="56328" name="Rectangle 8"/>
            <p:cNvSpPr>
              <a:spLocks noChangeArrowheads="1"/>
            </p:cNvSpPr>
            <p:nvPr/>
          </p:nvSpPr>
          <p:spPr bwMode="auto">
            <a:xfrm>
              <a:off x="2448" y="1584"/>
              <a:ext cx="576" cy="52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S2</a:t>
              </a:r>
              <a:endParaRPr lang="en-US" altLang="zh-CN" sz="2400"/>
            </a:p>
          </p:txBody>
        </p:sp>
        <p:sp>
          <p:nvSpPr>
            <p:cNvPr id="56329" name="Line 9"/>
            <p:cNvSpPr>
              <a:spLocks noChangeShapeType="1"/>
            </p:cNvSpPr>
            <p:nvPr/>
          </p:nvSpPr>
          <p:spPr bwMode="auto">
            <a:xfrm>
              <a:off x="912" y="1871"/>
              <a:ext cx="332"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56330" name="Freeform 10"/>
            <p:cNvSpPr/>
            <p:nvPr/>
          </p:nvSpPr>
          <p:spPr bwMode="auto">
            <a:xfrm>
              <a:off x="1192" y="1824"/>
              <a:ext cx="152" cy="96"/>
            </a:xfrm>
            <a:custGeom>
              <a:avLst/>
              <a:gdLst>
                <a:gd name="T0" fmla="*/ 0 w 112"/>
                <a:gd name="T1" fmla="*/ 5 h 130"/>
                <a:gd name="T2" fmla="*/ 3222 w 112"/>
                <a:gd name="T3" fmla="*/ 2 h 130"/>
                <a:gd name="T4" fmla="*/ 0 w 112"/>
                <a:gd name="T5" fmla="*/ 0 h 130"/>
                <a:gd name="T6" fmla="*/ 1015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ln>
          </p:spPr>
          <p:txBody>
            <a:bodyPr/>
            <a:lstStyle/>
            <a:p>
              <a:endParaRPr lang="zh-CN" altLang="en-US"/>
            </a:p>
          </p:txBody>
        </p:sp>
        <p:sp>
          <p:nvSpPr>
            <p:cNvPr id="56331" name="Line 11"/>
            <p:cNvSpPr>
              <a:spLocks noChangeShapeType="1"/>
            </p:cNvSpPr>
            <p:nvPr/>
          </p:nvSpPr>
          <p:spPr bwMode="auto">
            <a:xfrm>
              <a:off x="1008" y="2015"/>
              <a:ext cx="258"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56332" name="Freeform 12"/>
            <p:cNvSpPr/>
            <p:nvPr/>
          </p:nvSpPr>
          <p:spPr bwMode="auto">
            <a:xfrm>
              <a:off x="1226" y="1968"/>
              <a:ext cx="118" cy="96"/>
            </a:xfrm>
            <a:custGeom>
              <a:avLst/>
              <a:gdLst>
                <a:gd name="T0" fmla="*/ 0 w 112"/>
                <a:gd name="T1" fmla="*/ 5 h 130"/>
                <a:gd name="T2" fmla="*/ 199 w 112"/>
                <a:gd name="T3" fmla="*/ 2 h 130"/>
                <a:gd name="T4" fmla="*/ 0 w 112"/>
                <a:gd name="T5" fmla="*/ 0 h 130"/>
                <a:gd name="T6" fmla="*/ 62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ln>
          </p:spPr>
          <p:txBody>
            <a:bodyPr/>
            <a:lstStyle/>
            <a:p>
              <a:endParaRPr lang="zh-CN" altLang="en-US"/>
            </a:p>
          </p:txBody>
        </p:sp>
        <p:sp>
          <p:nvSpPr>
            <p:cNvPr id="56333" name="Rectangle 13"/>
            <p:cNvSpPr>
              <a:spLocks noChangeArrowheads="1"/>
            </p:cNvSpPr>
            <p:nvPr/>
          </p:nvSpPr>
          <p:spPr bwMode="auto">
            <a:xfrm>
              <a:off x="3552" y="1584"/>
              <a:ext cx="576" cy="52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S3</a:t>
              </a:r>
              <a:endParaRPr lang="en-US" altLang="zh-CN" sz="2400"/>
            </a:p>
          </p:txBody>
        </p:sp>
        <p:sp>
          <p:nvSpPr>
            <p:cNvPr id="56334" name="Rectangle 14"/>
            <p:cNvSpPr>
              <a:spLocks noChangeArrowheads="1"/>
            </p:cNvSpPr>
            <p:nvPr/>
          </p:nvSpPr>
          <p:spPr bwMode="auto">
            <a:xfrm>
              <a:off x="4656" y="1584"/>
              <a:ext cx="576" cy="52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S4</a:t>
              </a:r>
              <a:endParaRPr lang="en-US" altLang="zh-CN" sz="2400"/>
            </a:p>
          </p:txBody>
        </p:sp>
        <p:sp>
          <p:nvSpPr>
            <p:cNvPr id="56335" name="Line 15"/>
            <p:cNvSpPr>
              <a:spLocks noChangeShapeType="1"/>
            </p:cNvSpPr>
            <p:nvPr/>
          </p:nvSpPr>
          <p:spPr bwMode="auto">
            <a:xfrm>
              <a:off x="1920" y="1823"/>
              <a:ext cx="40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56336" name="Freeform 16"/>
            <p:cNvSpPr/>
            <p:nvPr/>
          </p:nvSpPr>
          <p:spPr bwMode="auto">
            <a:xfrm>
              <a:off x="2263" y="1776"/>
              <a:ext cx="185" cy="96"/>
            </a:xfrm>
            <a:custGeom>
              <a:avLst/>
              <a:gdLst>
                <a:gd name="T0" fmla="*/ 0 w 112"/>
                <a:gd name="T1" fmla="*/ 5 h 130"/>
                <a:gd name="T2" fmla="*/ 27983 w 112"/>
                <a:gd name="T3" fmla="*/ 2 h 130"/>
                <a:gd name="T4" fmla="*/ 0 w 112"/>
                <a:gd name="T5" fmla="*/ 0 h 130"/>
                <a:gd name="T6" fmla="*/ 8816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ln>
          </p:spPr>
          <p:txBody>
            <a:bodyPr/>
            <a:lstStyle/>
            <a:p>
              <a:endParaRPr lang="zh-CN" altLang="en-US"/>
            </a:p>
          </p:txBody>
        </p:sp>
        <p:sp>
          <p:nvSpPr>
            <p:cNvPr id="56337" name="Line 17"/>
            <p:cNvSpPr>
              <a:spLocks noChangeShapeType="1"/>
            </p:cNvSpPr>
            <p:nvPr/>
          </p:nvSpPr>
          <p:spPr bwMode="auto">
            <a:xfrm>
              <a:off x="3024" y="1823"/>
              <a:ext cx="40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56338" name="Freeform 18"/>
            <p:cNvSpPr/>
            <p:nvPr/>
          </p:nvSpPr>
          <p:spPr bwMode="auto">
            <a:xfrm>
              <a:off x="3367" y="1776"/>
              <a:ext cx="185" cy="96"/>
            </a:xfrm>
            <a:custGeom>
              <a:avLst/>
              <a:gdLst>
                <a:gd name="T0" fmla="*/ 0 w 112"/>
                <a:gd name="T1" fmla="*/ 5 h 130"/>
                <a:gd name="T2" fmla="*/ 27983 w 112"/>
                <a:gd name="T3" fmla="*/ 2 h 130"/>
                <a:gd name="T4" fmla="*/ 0 w 112"/>
                <a:gd name="T5" fmla="*/ 0 h 130"/>
                <a:gd name="T6" fmla="*/ 8816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ln>
          </p:spPr>
          <p:txBody>
            <a:bodyPr/>
            <a:lstStyle/>
            <a:p>
              <a:endParaRPr lang="zh-CN" altLang="en-US"/>
            </a:p>
          </p:txBody>
        </p:sp>
        <p:sp>
          <p:nvSpPr>
            <p:cNvPr id="56339" name="Line 19"/>
            <p:cNvSpPr>
              <a:spLocks noChangeShapeType="1"/>
            </p:cNvSpPr>
            <p:nvPr/>
          </p:nvSpPr>
          <p:spPr bwMode="auto">
            <a:xfrm>
              <a:off x="4128" y="1823"/>
              <a:ext cx="40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56340" name="Freeform 20"/>
            <p:cNvSpPr/>
            <p:nvPr/>
          </p:nvSpPr>
          <p:spPr bwMode="auto">
            <a:xfrm>
              <a:off x="4471" y="1776"/>
              <a:ext cx="185" cy="96"/>
            </a:xfrm>
            <a:custGeom>
              <a:avLst/>
              <a:gdLst>
                <a:gd name="T0" fmla="*/ 0 w 112"/>
                <a:gd name="T1" fmla="*/ 5 h 130"/>
                <a:gd name="T2" fmla="*/ 27983 w 112"/>
                <a:gd name="T3" fmla="*/ 2 h 130"/>
                <a:gd name="T4" fmla="*/ 0 w 112"/>
                <a:gd name="T5" fmla="*/ 0 h 130"/>
                <a:gd name="T6" fmla="*/ 8816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ln>
          </p:spPr>
          <p:txBody>
            <a:bodyPr/>
            <a:lstStyle/>
            <a:p>
              <a:endParaRPr lang="zh-CN" altLang="en-US"/>
            </a:p>
          </p:txBody>
        </p:sp>
        <p:sp>
          <p:nvSpPr>
            <p:cNvPr id="56341" name="Line 21"/>
            <p:cNvSpPr>
              <a:spLocks noChangeShapeType="1"/>
            </p:cNvSpPr>
            <p:nvPr/>
          </p:nvSpPr>
          <p:spPr bwMode="auto">
            <a:xfrm flipV="1">
              <a:off x="2159" y="1437"/>
              <a:ext cx="1" cy="24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56342" name="Freeform 22"/>
            <p:cNvSpPr/>
            <p:nvPr/>
          </p:nvSpPr>
          <p:spPr bwMode="auto">
            <a:xfrm>
              <a:off x="2112" y="1344"/>
              <a:ext cx="96" cy="141"/>
            </a:xfrm>
            <a:custGeom>
              <a:avLst/>
              <a:gdLst>
                <a:gd name="T0" fmla="*/ 19 w 113"/>
                <a:gd name="T1" fmla="*/ 369 h 128"/>
                <a:gd name="T2" fmla="*/ 9 w 113"/>
                <a:gd name="T3" fmla="*/ 0 h 128"/>
                <a:gd name="T4" fmla="*/ 0 w 113"/>
                <a:gd name="T5" fmla="*/ 369 h 128"/>
                <a:gd name="T6" fmla="*/ 9 w 113"/>
                <a:gd name="T7" fmla="*/ 258 h 128"/>
                <a:gd name="T8" fmla="*/ 19 w 113"/>
                <a:gd name="T9" fmla="*/ 369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 h="128">
                  <a:moveTo>
                    <a:pt x="113" y="128"/>
                  </a:moveTo>
                  <a:lnTo>
                    <a:pt x="55" y="0"/>
                  </a:lnTo>
                  <a:lnTo>
                    <a:pt x="0" y="128"/>
                  </a:lnTo>
                  <a:lnTo>
                    <a:pt x="55" y="88"/>
                  </a:lnTo>
                  <a:lnTo>
                    <a:pt x="113" y="128"/>
                  </a:lnTo>
                  <a:close/>
                </a:path>
              </a:pathLst>
            </a:custGeom>
            <a:solidFill>
              <a:srgbClr val="000000"/>
            </a:solidFill>
            <a:ln w="28575">
              <a:solidFill>
                <a:schemeClr val="tx1"/>
              </a:solidFill>
              <a:round/>
            </a:ln>
          </p:spPr>
          <p:txBody>
            <a:bodyPr/>
            <a:lstStyle/>
            <a:p>
              <a:endParaRPr lang="zh-CN" altLang="en-US"/>
            </a:p>
          </p:txBody>
        </p:sp>
        <p:sp>
          <p:nvSpPr>
            <p:cNvPr id="56343" name="Line 23"/>
            <p:cNvSpPr>
              <a:spLocks noChangeShapeType="1"/>
            </p:cNvSpPr>
            <p:nvPr/>
          </p:nvSpPr>
          <p:spPr bwMode="auto">
            <a:xfrm>
              <a:off x="1920" y="1680"/>
              <a:ext cx="240"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44" name="Line 24"/>
            <p:cNvSpPr>
              <a:spLocks noChangeShapeType="1"/>
            </p:cNvSpPr>
            <p:nvPr/>
          </p:nvSpPr>
          <p:spPr bwMode="auto">
            <a:xfrm>
              <a:off x="1920" y="1968"/>
              <a:ext cx="240"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45" name="Line 25"/>
            <p:cNvSpPr>
              <a:spLocks noChangeShapeType="1"/>
            </p:cNvSpPr>
            <p:nvPr/>
          </p:nvSpPr>
          <p:spPr bwMode="auto">
            <a:xfrm>
              <a:off x="3168" y="1967"/>
              <a:ext cx="29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56346" name="Freeform 26"/>
            <p:cNvSpPr/>
            <p:nvPr/>
          </p:nvSpPr>
          <p:spPr bwMode="auto">
            <a:xfrm>
              <a:off x="3417" y="1920"/>
              <a:ext cx="135" cy="96"/>
            </a:xfrm>
            <a:custGeom>
              <a:avLst/>
              <a:gdLst>
                <a:gd name="T0" fmla="*/ 0 w 112"/>
                <a:gd name="T1" fmla="*/ 5 h 130"/>
                <a:gd name="T2" fmla="*/ 870 w 112"/>
                <a:gd name="T3" fmla="*/ 2 h 130"/>
                <a:gd name="T4" fmla="*/ 0 w 112"/>
                <a:gd name="T5" fmla="*/ 0 h 130"/>
                <a:gd name="T6" fmla="*/ 271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ln>
          </p:spPr>
          <p:txBody>
            <a:bodyPr/>
            <a:lstStyle/>
            <a:p>
              <a:endParaRPr lang="zh-CN" altLang="en-US"/>
            </a:p>
          </p:txBody>
        </p:sp>
        <p:sp>
          <p:nvSpPr>
            <p:cNvPr id="56347" name="Line 27"/>
            <p:cNvSpPr>
              <a:spLocks noChangeShapeType="1"/>
            </p:cNvSpPr>
            <p:nvPr/>
          </p:nvSpPr>
          <p:spPr bwMode="auto">
            <a:xfrm flipH="1">
              <a:off x="2160" y="1968"/>
              <a:ext cx="0" cy="24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48" name="Line 28"/>
            <p:cNvSpPr>
              <a:spLocks noChangeShapeType="1"/>
            </p:cNvSpPr>
            <p:nvPr/>
          </p:nvSpPr>
          <p:spPr bwMode="auto">
            <a:xfrm flipH="1">
              <a:off x="3168" y="1968"/>
              <a:ext cx="0" cy="24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49" name="Line 29"/>
            <p:cNvSpPr>
              <a:spLocks noChangeShapeType="1"/>
            </p:cNvSpPr>
            <p:nvPr/>
          </p:nvSpPr>
          <p:spPr bwMode="auto">
            <a:xfrm>
              <a:off x="2160" y="2208"/>
              <a:ext cx="1008"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0" name="Line 30"/>
            <p:cNvSpPr>
              <a:spLocks noChangeShapeType="1"/>
            </p:cNvSpPr>
            <p:nvPr/>
          </p:nvSpPr>
          <p:spPr bwMode="auto">
            <a:xfrm>
              <a:off x="4128" y="1968"/>
              <a:ext cx="240"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1" name="Line 31"/>
            <p:cNvSpPr>
              <a:spLocks noChangeShapeType="1"/>
            </p:cNvSpPr>
            <p:nvPr/>
          </p:nvSpPr>
          <p:spPr bwMode="auto">
            <a:xfrm flipH="1">
              <a:off x="4368" y="1968"/>
              <a:ext cx="0" cy="336"/>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2" name="Line 32"/>
            <p:cNvSpPr>
              <a:spLocks noChangeShapeType="1"/>
            </p:cNvSpPr>
            <p:nvPr/>
          </p:nvSpPr>
          <p:spPr bwMode="auto">
            <a:xfrm>
              <a:off x="1008" y="2304"/>
              <a:ext cx="3360"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3" name="Line 33"/>
            <p:cNvSpPr>
              <a:spLocks noChangeShapeType="1"/>
            </p:cNvSpPr>
            <p:nvPr/>
          </p:nvSpPr>
          <p:spPr bwMode="auto">
            <a:xfrm flipH="1">
              <a:off x="1008" y="2016"/>
              <a:ext cx="0" cy="288"/>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4" name="Line 34"/>
            <p:cNvSpPr>
              <a:spLocks noChangeShapeType="1"/>
            </p:cNvSpPr>
            <p:nvPr/>
          </p:nvSpPr>
          <p:spPr bwMode="auto">
            <a:xfrm>
              <a:off x="5232" y="1824"/>
              <a:ext cx="240"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5" name="Line 35"/>
            <p:cNvSpPr>
              <a:spLocks noChangeShapeType="1"/>
            </p:cNvSpPr>
            <p:nvPr/>
          </p:nvSpPr>
          <p:spPr bwMode="auto">
            <a:xfrm flipH="1">
              <a:off x="5472" y="1824"/>
              <a:ext cx="0" cy="576"/>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6" name="Line 36"/>
            <p:cNvSpPr>
              <a:spLocks noChangeShapeType="1"/>
            </p:cNvSpPr>
            <p:nvPr/>
          </p:nvSpPr>
          <p:spPr bwMode="auto">
            <a:xfrm>
              <a:off x="912" y="2400"/>
              <a:ext cx="4560"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7" name="Line 37"/>
            <p:cNvSpPr>
              <a:spLocks noChangeShapeType="1"/>
            </p:cNvSpPr>
            <p:nvPr/>
          </p:nvSpPr>
          <p:spPr bwMode="auto">
            <a:xfrm>
              <a:off x="912" y="1872"/>
              <a:ext cx="0" cy="528"/>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8" name="Rectangle 38"/>
            <p:cNvSpPr>
              <a:spLocks noChangeArrowheads="1"/>
            </p:cNvSpPr>
            <p:nvPr/>
          </p:nvSpPr>
          <p:spPr bwMode="auto">
            <a:xfrm>
              <a:off x="624" y="1584"/>
              <a:ext cx="386"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2400">
                  <a:solidFill>
                    <a:srgbClr val="000000"/>
                  </a:solidFill>
                </a:rPr>
                <a:t>输入</a:t>
              </a:r>
              <a:endParaRPr lang="zh-CN" altLang="en-US" sz="2400"/>
            </a:p>
          </p:txBody>
        </p:sp>
        <p:sp>
          <p:nvSpPr>
            <p:cNvPr id="56359" name="Rectangle 39"/>
            <p:cNvSpPr>
              <a:spLocks noChangeArrowheads="1"/>
            </p:cNvSpPr>
            <p:nvPr/>
          </p:nvSpPr>
          <p:spPr bwMode="auto">
            <a:xfrm>
              <a:off x="4878"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60" name="Rectangle 40"/>
            <p:cNvSpPr>
              <a:spLocks noChangeArrowheads="1"/>
            </p:cNvSpPr>
            <p:nvPr/>
          </p:nvSpPr>
          <p:spPr bwMode="auto">
            <a:xfrm>
              <a:off x="4284"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61" name="Rectangle 41"/>
            <p:cNvSpPr>
              <a:spLocks noChangeArrowheads="1"/>
            </p:cNvSpPr>
            <p:nvPr/>
          </p:nvSpPr>
          <p:spPr bwMode="auto">
            <a:xfrm>
              <a:off x="3690"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62" name="Rectangle 42"/>
            <p:cNvSpPr>
              <a:spLocks noChangeArrowheads="1"/>
            </p:cNvSpPr>
            <p:nvPr/>
          </p:nvSpPr>
          <p:spPr bwMode="auto">
            <a:xfrm>
              <a:off x="3096"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63" name="Rectangle 43"/>
            <p:cNvSpPr>
              <a:spLocks noChangeArrowheads="1"/>
            </p:cNvSpPr>
            <p:nvPr/>
          </p:nvSpPr>
          <p:spPr bwMode="auto">
            <a:xfrm>
              <a:off x="2502"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56364" name="Rectangle 44"/>
            <p:cNvSpPr>
              <a:spLocks noChangeArrowheads="1"/>
            </p:cNvSpPr>
            <p:nvPr/>
          </p:nvSpPr>
          <p:spPr bwMode="auto">
            <a:xfrm>
              <a:off x="1908"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65" name="Rectangle 45"/>
            <p:cNvSpPr>
              <a:spLocks noChangeArrowheads="1"/>
            </p:cNvSpPr>
            <p:nvPr/>
          </p:nvSpPr>
          <p:spPr bwMode="auto">
            <a:xfrm>
              <a:off x="1344" y="3692"/>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66" name="Rectangle 46"/>
            <p:cNvSpPr>
              <a:spLocks noChangeArrowheads="1"/>
            </p:cNvSpPr>
            <p:nvPr/>
          </p:nvSpPr>
          <p:spPr bwMode="auto">
            <a:xfrm>
              <a:off x="720" y="3692"/>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S4</a:t>
              </a:r>
              <a:endParaRPr lang="en-US" altLang="zh-CN" sz="2400"/>
            </a:p>
          </p:txBody>
        </p:sp>
        <p:sp>
          <p:nvSpPr>
            <p:cNvPr id="56367" name="Rectangle 47"/>
            <p:cNvSpPr>
              <a:spLocks noChangeArrowheads="1"/>
            </p:cNvSpPr>
            <p:nvPr/>
          </p:nvSpPr>
          <p:spPr bwMode="auto">
            <a:xfrm>
              <a:off x="4878"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68" name="Rectangle 48"/>
            <p:cNvSpPr>
              <a:spLocks noChangeArrowheads="1"/>
            </p:cNvSpPr>
            <p:nvPr/>
          </p:nvSpPr>
          <p:spPr bwMode="auto">
            <a:xfrm>
              <a:off x="4284"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56369" name="Rectangle 49"/>
            <p:cNvSpPr>
              <a:spLocks noChangeArrowheads="1"/>
            </p:cNvSpPr>
            <p:nvPr/>
          </p:nvSpPr>
          <p:spPr bwMode="auto">
            <a:xfrm>
              <a:off x="3690"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70" name="Rectangle 50"/>
            <p:cNvSpPr>
              <a:spLocks noChangeArrowheads="1"/>
            </p:cNvSpPr>
            <p:nvPr/>
          </p:nvSpPr>
          <p:spPr bwMode="auto">
            <a:xfrm>
              <a:off x="3096"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71" name="Rectangle 51"/>
            <p:cNvSpPr>
              <a:spLocks noChangeArrowheads="1"/>
            </p:cNvSpPr>
            <p:nvPr/>
          </p:nvSpPr>
          <p:spPr bwMode="auto">
            <a:xfrm>
              <a:off x="2502"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72" name="Rectangle 52"/>
            <p:cNvSpPr>
              <a:spLocks noChangeArrowheads="1"/>
            </p:cNvSpPr>
            <p:nvPr/>
          </p:nvSpPr>
          <p:spPr bwMode="auto">
            <a:xfrm>
              <a:off x="1908"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56373" name="Rectangle 53"/>
            <p:cNvSpPr>
              <a:spLocks noChangeArrowheads="1"/>
            </p:cNvSpPr>
            <p:nvPr/>
          </p:nvSpPr>
          <p:spPr bwMode="auto">
            <a:xfrm>
              <a:off x="1344" y="3405"/>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74" name="Rectangle 54"/>
            <p:cNvSpPr>
              <a:spLocks noChangeArrowheads="1"/>
            </p:cNvSpPr>
            <p:nvPr/>
          </p:nvSpPr>
          <p:spPr bwMode="auto">
            <a:xfrm>
              <a:off x="720" y="3405"/>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S3</a:t>
              </a:r>
              <a:endParaRPr lang="en-US" altLang="zh-CN" sz="2400"/>
            </a:p>
          </p:txBody>
        </p:sp>
        <p:sp>
          <p:nvSpPr>
            <p:cNvPr id="56375" name="Rectangle 55"/>
            <p:cNvSpPr>
              <a:spLocks noChangeArrowheads="1"/>
            </p:cNvSpPr>
            <p:nvPr/>
          </p:nvSpPr>
          <p:spPr bwMode="auto">
            <a:xfrm>
              <a:off x="4878"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76" name="Rectangle 56"/>
            <p:cNvSpPr>
              <a:spLocks noChangeArrowheads="1"/>
            </p:cNvSpPr>
            <p:nvPr/>
          </p:nvSpPr>
          <p:spPr bwMode="auto">
            <a:xfrm>
              <a:off x="4284"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77" name="Rectangle 57"/>
            <p:cNvSpPr>
              <a:spLocks noChangeArrowheads="1"/>
            </p:cNvSpPr>
            <p:nvPr/>
          </p:nvSpPr>
          <p:spPr bwMode="auto">
            <a:xfrm>
              <a:off x="3690"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56378" name="Rectangle 58"/>
            <p:cNvSpPr>
              <a:spLocks noChangeArrowheads="1"/>
            </p:cNvSpPr>
            <p:nvPr/>
          </p:nvSpPr>
          <p:spPr bwMode="auto">
            <a:xfrm>
              <a:off x="3096"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79" name="Rectangle 59"/>
            <p:cNvSpPr>
              <a:spLocks noChangeArrowheads="1"/>
            </p:cNvSpPr>
            <p:nvPr/>
          </p:nvSpPr>
          <p:spPr bwMode="auto">
            <a:xfrm>
              <a:off x="2502"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80" name="Rectangle 60"/>
            <p:cNvSpPr>
              <a:spLocks noChangeArrowheads="1"/>
            </p:cNvSpPr>
            <p:nvPr/>
          </p:nvSpPr>
          <p:spPr bwMode="auto">
            <a:xfrm>
              <a:off x="1908"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56381" name="Rectangle 61"/>
            <p:cNvSpPr>
              <a:spLocks noChangeArrowheads="1"/>
            </p:cNvSpPr>
            <p:nvPr/>
          </p:nvSpPr>
          <p:spPr bwMode="auto">
            <a:xfrm>
              <a:off x="1344" y="3118"/>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82" name="Rectangle 62"/>
            <p:cNvSpPr>
              <a:spLocks noChangeArrowheads="1"/>
            </p:cNvSpPr>
            <p:nvPr/>
          </p:nvSpPr>
          <p:spPr bwMode="auto">
            <a:xfrm>
              <a:off x="720" y="3118"/>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S2</a:t>
              </a:r>
              <a:endParaRPr lang="en-US" altLang="zh-CN" sz="2400"/>
            </a:p>
          </p:txBody>
        </p:sp>
        <p:sp>
          <p:nvSpPr>
            <p:cNvPr id="56383" name="Rectangle 63"/>
            <p:cNvSpPr>
              <a:spLocks noChangeArrowheads="1"/>
            </p:cNvSpPr>
            <p:nvPr/>
          </p:nvSpPr>
          <p:spPr bwMode="auto">
            <a:xfrm>
              <a:off x="4878"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56384" name="Rectangle 64"/>
            <p:cNvSpPr>
              <a:spLocks noChangeArrowheads="1"/>
            </p:cNvSpPr>
            <p:nvPr/>
          </p:nvSpPr>
          <p:spPr bwMode="auto">
            <a:xfrm>
              <a:off x="4284"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85" name="Rectangle 65"/>
            <p:cNvSpPr>
              <a:spLocks noChangeArrowheads="1"/>
            </p:cNvSpPr>
            <p:nvPr/>
          </p:nvSpPr>
          <p:spPr bwMode="auto">
            <a:xfrm>
              <a:off x="3690"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86" name="Rectangle 66"/>
            <p:cNvSpPr>
              <a:spLocks noChangeArrowheads="1"/>
            </p:cNvSpPr>
            <p:nvPr/>
          </p:nvSpPr>
          <p:spPr bwMode="auto">
            <a:xfrm>
              <a:off x="3096"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56387" name="Rectangle 67"/>
            <p:cNvSpPr>
              <a:spLocks noChangeArrowheads="1"/>
            </p:cNvSpPr>
            <p:nvPr/>
          </p:nvSpPr>
          <p:spPr bwMode="auto">
            <a:xfrm>
              <a:off x="2502"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88" name="Rectangle 68"/>
            <p:cNvSpPr>
              <a:spLocks noChangeArrowheads="1"/>
            </p:cNvSpPr>
            <p:nvPr/>
          </p:nvSpPr>
          <p:spPr bwMode="auto">
            <a:xfrm>
              <a:off x="1908"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56389" name="Rectangle 69"/>
            <p:cNvSpPr>
              <a:spLocks noChangeArrowheads="1"/>
            </p:cNvSpPr>
            <p:nvPr/>
          </p:nvSpPr>
          <p:spPr bwMode="auto">
            <a:xfrm>
              <a:off x="1344" y="2831"/>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56390" name="Rectangle 70"/>
            <p:cNvSpPr>
              <a:spLocks noChangeArrowheads="1"/>
            </p:cNvSpPr>
            <p:nvPr/>
          </p:nvSpPr>
          <p:spPr bwMode="auto">
            <a:xfrm>
              <a:off x="720" y="2831"/>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S1</a:t>
              </a:r>
              <a:endParaRPr lang="en-US" altLang="zh-CN" sz="2400"/>
            </a:p>
          </p:txBody>
        </p:sp>
        <p:sp>
          <p:nvSpPr>
            <p:cNvPr id="56391" name="Rectangle 71"/>
            <p:cNvSpPr>
              <a:spLocks noChangeArrowheads="1"/>
            </p:cNvSpPr>
            <p:nvPr/>
          </p:nvSpPr>
          <p:spPr bwMode="auto">
            <a:xfrm>
              <a:off x="4878"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7</a:t>
              </a:r>
              <a:endParaRPr lang="zh-CN" altLang="en-US" sz="2400"/>
            </a:p>
          </p:txBody>
        </p:sp>
        <p:sp>
          <p:nvSpPr>
            <p:cNvPr id="56392" name="Rectangle 72"/>
            <p:cNvSpPr>
              <a:spLocks noChangeArrowheads="1"/>
            </p:cNvSpPr>
            <p:nvPr/>
          </p:nvSpPr>
          <p:spPr bwMode="auto">
            <a:xfrm>
              <a:off x="4284"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6</a:t>
              </a:r>
              <a:endParaRPr lang="zh-CN" altLang="en-US" sz="2400"/>
            </a:p>
          </p:txBody>
        </p:sp>
        <p:sp>
          <p:nvSpPr>
            <p:cNvPr id="56393" name="Rectangle 73"/>
            <p:cNvSpPr>
              <a:spLocks noChangeArrowheads="1"/>
            </p:cNvSpPr>
            <p:nvPr/>
          </p:nvSpPr>
          <p:spPr bwMode="auto">
            <a:xfrm>
              <a:off x="3690"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5</a:t>
              </a:r>
              <a:endParaRPr lang="zh-CN" altLang="en-US" sz="2400"/>
            </a:p>
          </p:txBody>
        </p:sp>
        <p:sp>
          <p:nvSpPr>
            <p:cNvPr id="56394" name="Rectangle 74"/>
            <p:cNvSpPr>
              <a:spLocks noChangeArrowheads="1"/>
            </p:cNvSpPr>
            <p:nvPr/>
          </p:nvSpPr>
          <p:spPr bwMode="auto">
            <a:xfrm>
              <a:off x="3096"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4</a:t>
              </a:r>
              <a:endParaRPr lang="zh-CN" altLang="en-US" sz="2400"/>
            </a:p>
          </p:txBody>
        </p:sp>
        <p:sp>
          <p:nvSpPr>
            <p:cNvPr id="56395" name="Rectangle 75"/>
            <p:cNvSpPr>
              <a:spLocks noChangeArrowheads="1"/>
            </p:cNvSpPr>
            <p:nvPr/>
          </p:nvSpPr>
          <p:spPr bwMode="auto">
            <a:xfrm>
              <a:off x="2502"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3</a:t>
              </a:r>
              <a:endParaRPr lang="zh-CN" altLang="en-US" sz="2400"/>
            </a:p>
          </p:txBody>
        </p:sp>
        <p:sp>
          <p:nvSpPr>
            <p:cNvPr id="56396" name="Rectangle 76"/>
            <p:cNvSpPr>
              <a:spLocks noChangeArrowheads="1"/>
            </p:cNvSpPr>
            <p:nvPr/>
          </p:nvSpPr>
          <p:spPr bwMode="auto">
            <a:xfrm>
              <a:off x="1908"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2</a:t>
              </a:r>
              <a:endParaRPr lang="zh-CN" altLang="en-US" sz="2400"/>
            </a:p>
          </p:txBody>
        </p:sp>
        <p:sp>
          <p:nvSpPr>
            <p:cNvPr id="56397" name="Rectangle 77"/>
            <p:cNvSpPr>
              <a:spLocks noChangeArrowheads="1"/>
            </p:cNvSpPr>
            <p:nvPr/>
          </p:nvSpPr>
          <p:spPr bwMode="auto">
            <a:xfrm>
              <a:off x="1344" y="2544"/>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1</a:t>
              </a:r>
              <a:endParaRPr lang="zh-CN" altLang="en-US" sz="2400"/>
            </a:p>
          </p:txBody>
        </p:sp>
        <p:sp>
          <p:nvSpPr>
            <p:cNvPr id="56398" name="Rectangle 78"/>
            <p:cNvSpPr>
              <a:spLocks noChangeArrowheads="1"/>
            </p:cNvSpPr>
            <p:nvPr/>
          </p:nvSpPr>
          <p:spPr bwMode="auto">
            <a:xfrm>
              <a:off x="720" y="2544"/>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Font typeface="Wingdings" panose="05000000000000000000" pitchFamily="2" charset="2"/>
                <a:buNone/>
              </a:pPr>
              <a:r>
                <a:rPr lang="zh-CN" altLang="en-US" sz="1400"/>
                <a:t>         时间</a:t>
              </a:r>
              <a:endParaRPr lang="zh-CN" altLang="en-US" sz="1400"/>
            </a:p>
            <a:p>
              <a:pPr eaLnBrk="1" hangingPunct="1">
                <a:spcBef>
                  <a:spcPct val="0"/>
                </a:spcBef>
                <a:buFont typeface="Wingdings" panose="05000000000000000000" pitchFamily="2" charset="2"/>
                <a:buNone/>
              </a:pPr>
              <a:r>
                <a:rPr lang="zh-CN" altLang="en-US" sz="1400"/>
                <a:t>流水段</a:t>
              </a:r>
              <a:endParaRPr lang="zh-CN" altLang="en-US" sz="1400"/>
            </a:p>
          </p:txBody>
        </p:sp>
        <p:sp>
          <p:nvSpPr>
            <p:cNvPr id="56399" name="Line 79"/>
            <p:cNvSpPr>
              <a:spLocks noChangeShapeType="1"/>
            </p:cNvSpPr>
            <p:nvPr/>
          </p:nvSpPr>
          <p:spPr bwMode="auto">
            <a:xfrm>
              <a:off x="720" y="2544"/>
              <a:ext cx="4752" cy="0"/>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0" name="Line 80"/>
            <p:cNvSpPr>
              <a:spLocks noChangeShapeType="1"/>
            </p:cNvSpPr>
            <p:nvPr/>
          </p:nvSpPr>
          <p:spPr bwMode="auto">
            <a:xfrm>
              <a:off x="720" y="2831"/>
              <a:ext cx="4752"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1" name="Line 81"/>
            <p:cNvSpPr>
              <a:spLocks noChangeShapeType="1"/>
            </p:cNvSpPr>
            <p:nvPr/>
          </p:nvSpPr>
          <p:spPr bwMode="auto">
            <a:xfrm>
              <a:off x="720" y="3118"/>
              <a:ext cx="4752"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2" name="Line 82"/>
            <p:cNvSpPr>
              <a:spLocks noChangeShapeType="1"/>
            </p:cNvSpPr>
            <p:nvPr/>
          </p:nvSpPr>
          <p:spPr bwMode="auto">
            <a:xfrm>
              <a:off x="720" y="3405"/>
              <a:ext cx="4752"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3" name="Line 83"/>
            <p:cNvSpPr>
              <a:spLocks noChangeShapeType="1"/>
            </p:cNvSpPr>
            <p:nvPr/>
          </p:nvSpPr>
          <p:spPr bwMode="auto">
            <a:xfrm>
              <a:off x="720" y="3692"/>
              <a:ext cx="4752"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4" name="Line 84"/>
            <p:cNvSpPr>
              <a:spLocks noChangeShapeType="1"/>
            </p:cNvSpPr>
            <p:nvPr/>
          </p:nvSpPr>
          <p:spPr bwMode="auto">
            <a:xfrm>
              <a:off x="720" y="3979"/>
              <a:ext cx="4752" cy="0"/>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5" name="Line 85"/>
            <p:cNvSpPr>
              <a:spLocks noChangeShapeType="1"/>
            </p:cNvSpPr>
            <p:nvPr/>
          </p:nvSpPr>
          <p:spPr bwMode="auto">
            <a:xfrm>
              <a:off x="720" y="2544"/>
              <a:ext cx="0" cy="1435"/>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6" name="Line 86"/>
            <p:cNvSpPr>
              <a:spLocks noChangeShapeType="1"/>
            </p:cNvSpPr>
            <p:nvPr/>
          </p:nvSpPr>
          <p:spPr bwMode="auto">
            <a:xfrm>
              <a:off x="1344"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7" name="Line 87"/>
            <p:cNvSpPr>
              <a:spLocks noChangeShapeType="1"/>
            </p:cNvSpPr>
            <p:nvPr/>
          </p:nvSpPr>
          <p:spPr bwMode="auto">
            <a:xfrm>
              <a:off x="1908"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8" name="Line 88"/>
            <p:cNvSpPr>
              <a:spLocks noChangeShapeType="1"/>
            </p:cNvSpPr>
            <p:nvPr/>
          </p:nvSpPr>
          <p:spPr bwMode="auto">
            <a:xfrm>
              <a:off x="2502"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9" name="Line 89"/>
            <p:cNvSpPr>
              <a:spLocks noChangeShapeType="1"/>
            </p:cNvSpPr>
            <p:nvPr/>
          </p:nvSpPr>
          <p:spPr bwMode="auto">
            <a:xfrm>
              <a:off x="3096"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10" name="Line 90"/>
            <p:cNvSpPr>
              <a:spLocks noChangeShapeType="1"/>
            </p:cNvSpPr>
            <p:nvPr/>
          </p:nvSpPr>
          <p:spPr bwMode="auto">
            <a:xfrm>
              <a:off x="3690"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11" name="Line 91"/>
            <p:cNvSpPr>
              <a:spLocks noChangeShapeType="1"/>
            </p:cNvSpPr>
            <p:nvPr/>
          </p:nvSpPr>
          <p:spPr bwMode="auto">
            <a:xfrm>
              <a:off x="4284"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12" name="Line 92"/>
            <p:cNvSpPr>
              <a:spLocks noChangeShapeType="1"/>
            </p:cNvSpPr>
            <p:nvPr/>
          </p:nvSpPr>
          <p:spPr bwMode="auto">
            <a:xfrm>
              <a:off x="4878"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13" name="Line 93"/>
            <p:cNvSpPr>
              <a:spLocks noChangeShapeType="1"/>
            </p:cNvSpPr>
            <p:nvPr/>
          </p:nvSpPr>
          <p:spPr bwMode="auto">
            <a:xfrm>
              <a:off x="5472" y="2544"/>
              <a:ext cx="0" cy="1435"/>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14" name="Line 94"/>
            <p:cNvSpPr>
              <a:spLocks noChangeShapeType="1"/>
            </p:cNvSpPr>
            <p:nvPr/>
          </p:nvSpPr>
          <p:spPr bwMode="auto">
            <a:xfrm>
              <a:off x="720" y="2544"/>
              <a:ext cx="624" cy="287"/>
            </a:xfrm>
            <a:prstGeom prst="line">
              <a:avLst/>
            </a:prstGeom>
            <a:noFill/>
            <a:ln w="127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15" name="Line 95"/>
            <p:cNvSpPr>
              <a:spLocks noChangeShapeType="1"/>
            </p:cNvSpPr>
            <p:nvPr/>
          </p:nvSpPr>
          <p:spPr bwMode="auto">
            <a:xfrm>
              <a:off x="1008" y="1727"/>
              <a:ext cx="258"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56416" name="Freeform 96"/>
            <p:cNvSpPr/>
            <p:nvPr/>
          </p:nvSpPr>
          <p:spPr bwMode="auto">
            <a:xfrm>
              <a:off x="1226" y="1680"/>
              <a:ext cx="118" cy="96"/>
            </a:xfrm>
            <a:custGeom>
              <a:avLst/>
              <a:gdLst>
                <a:gd name="T0" fmla="*/ 0 w 112"/>
                <a:gd name="T1" fmla="*/ 5 h 130"/>
                <a:gd name="T2" fmla="*/ 199 w 112"/>
                <a:gd name="T3" fmla="*/ 2 h 130"/>
                <a:gd name="T4" fmla="*/ 0 w 112"/>
                <a:gd name="T5" fmla="*/ 0 h 130"/>
                <a:gd name="T6" fmla="*/ 62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ln>
          </p:spPr>
          <p:txBody>
            <a:bodyPr/>
            <a:lstStyle/>
            <a:p>
              <a:endParaRPr lang="zh-CN" altLang="en-US"/>
            </a:p>
          </p:txBody>
        </p:sp>
      </p:gr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2"/>
          <p:cNvSpPr>
            <a:spLocks noGrp="1" noChangeArrowheads="1"/>
          </p:cNvSpPr>
          <p:nvPr>
            <p:ph type="title"/>
          </p:nvPr>
        </p:nvSpPr>
        <p:spPr/>
        <p:txBody>
          <a:bodyPr/>
          <a:lstStyle/>
          <a:p>
            <a:pPr eaLnBrk="1" hangingPunct="1">
              <a:defRPr/>
            </a:pPr>
            <a:r>
              <a:rPr lang="zh-CN" altLang="en-US" smtClean="0"/>
              <a:t>举  例-</a:t>
            </a:r>
            <a:r>
              <a:rPr lang="zh-CN" altLang="en-US" sz="3600" smtClean="0"/>
              <a:t>流水线冲突</a:t>
            </a:r>
            <a:endParaRPr lang="zh-CN" altLang="en-US" sz="3600" smtClean="0"/>
          </a:p>
        </p:txBody>
      </p:sp>
      <p:sp>
        <p:nvSpPr>
          <p:cNvPr id="5734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sp>
        <p:nvSpPr>
          <p:cNvPr id="57348"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3</a:t>
            </a:r>
            <a:endParaRPr lang="zh-CN" altLang="en-US" sz="1200" b="0">
              <a:latin typeface="幼圆" panose="02010509060101010101" pitchFamily="49" charset="-122"/>
              <a:ea typeface="幼圆" panose="02010509060101010101" pitchFamily="49" charset="-122"/>
            </a:endParaRPr>
          </a:p>
        </p:txBody>
      </p:sp>
      <p:graphicFrame>
        <p:nvGraphicFramePr>
          <p:cNvPr id="57349" name="Object 100" descr="蓝色砂纸"/>
          <p:cNvGraphicFramePr>
            <a:graphicFrameLocks noChangeAspect="1"/>
          </p:cNvGraphicFramePr>
          <p:nvPr/>
        </p:nvGraphicFramePr>
        <p:xfrm>
          <a:off x="971550" y="1844675"/>
          <a:ext cx="7912100" cy="2413000"/>
        </p:xfrm>
        <a:graphic>
          <a:graphicData uri="http://schemas.openxmlformats.org/presentationml/2006/ole">
            <mc:AlternateContent xmlns:mc="http://schemas.openxmlformats.org/markup-compatibility/2006">
              <mc:Choice xmlns:v="urn:schemas-microsoft-com:vml" Requires="v">
                <p:oleObj spid="_x0000_s57527" name="文档" r:id="rId4" imgW="5163820" imgH="1582420" progId="Word.Document.8">
                  <p:embed/>
                </p:oleObj>
              </mc:Choice>
              <mc:Fallback>
                <p:oleObj name="文档" r:id="rId4" imgW="5163820" imgH="1582420" progId="Word.Document.8">
                  <p:embed/>
                  <p:pic>
                    <p:nvPicPr>
                      <p:cNvPr id="0" name="Object 100" descr="蓝色砂纸"/>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1550" y="1844675"/>
                        <a:ext cx="7912100" cy="2413000"/>
                      </a:xfrm>
                      <a:prstGeom prst="rect">
                        <a:avLst/>
                      </a:prstGeom>
                      <a:noFill/>
                      <a:ln>
                        <a:noFill/>
                      </a:ln>
                      <a:effectLst/>
                      <a:extLst>
                        <a:ext uri="{909E8E84-426E-40DD-AFC4-6F175D3DCCD1}">
                          <a14:hiddenFill xmlns:a14="http://schemas.microsoft.com/office/drawing/2010/main">
                            <a:blipFill dpi="0" rotWithShape="0">
                              <a:blip r:embed="rId6"/>
                              <a:srcRect/>
                              <a:tile tx="0" ty="0" sx="100000" sy="100000" flip="none" algn="tl"/>
                            </a:blip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7350" name="Object 189" descr="再生纸"/>
          <p:cNvGraphicFramePr>
            <a:graphicFrameLocks noChangeAspect="1"/>
          </p:cNvGraphicFramePr>
          <p:nvPr/>
        </p:nvGraphicFramePr>
        <p:xfrm>
          <a:off x="900113" y="4149725"/>
          <a:ext cx="8064500" cy="2527300"/>
        </p:xfrm>
        <a:graphic>
          <a:graphicData uri="http://schemas.openxmlformats.org/presentationml/2006/ole">
            <mc:AlternateContent xmlns:mc="http://schemas.openxmlformats.org/markup-compatibility/2006">
              <mc:Choice xmlns:v="urn:schemas-microsoft-com:vml" Requires="v">
                <p:oleObj spid="_x0000_s57528" name="文档" r:id="rId7" imgW="5092700" imgH="1623060" progId="Word.Document.8">
                  <p:embed/>
                </p:oleObj>
              </mc:Choice>
              <mc:Fallback>
                <p:oleObj name="文档" r:id="rId7" imgW="5092700" imgH="1623060" progId="Word.Document.8">
                  <p:embed/>
                  <p:pic>
                    <p:nvPicPr>
                      <p:cNvPr id="0" name="Object 189" descr="再生纸"/>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00113" y="4149725"/>
                        <a:ext cx="8064500" cy="2527300"/>
                      </a:xfrm>
                      <a:prstGeom prst="rect">
                        <a:avLst/>
                      </a:prstGeom>
                      <a:noFill/>
                      <a:ln>
                        <a:noFill/>
                      </a:ln>
                      <a:effectLst/>
                      <a:extLst>
                        <a:ext uri="{909E8E84-426E-40DD-AFC4-6F175D3DCCD1}">
                          <a14:hiddenFill xmlns:a14="http://schemas.microsoft.com/office/drawing/2010/main">
                            <a:blipFill dpi="0" rotWithShape="0">
                              <a:blip r:embed="rId9"/>
                              <a:srcRect/>
                              <a:tile tx="0" ty="0" sx="100000" sy="100000" flip="none" algn="tl"/>
                            </a:blip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ransition spd="slow">
    <p:random/>
    <p:sndAc>
      <p:stSnd>
        <p:snd r:embed="rId10" name="projctor.wav"/>
      </p:stSnd>
    </p:sndAc>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2"/>
          <p:cNvSpPr>
            <a:spLocks noGrp="1" noChangeArrowheads="1"/>
          </p:cNvSpPr>
          <p:nvPr>
            <p:ph type="title"/>
          </p:nvPr>
        </p:nvSpPr>
        <p:spPr/>
        <p:txBody>
          <a:bodyPr/>
          <a:lstStyle/>
          <a:p>
            <a:pPr eaLnBrk="1" hangingPunct="1">
              <a:defRPr/>
            </a:pPr>
            <a:r>
              <a:rPr lang="zh-CN" altLang="en-US" smtClean="0"/>
              <a:t>举  例-</a:t>
            </a:r>
            <a:r>
              <a:rPr lang="zh-CN" altLang="en-US" sz="3600" smtClean="0"/>
              <a:t>流水线不冲突</a:t>
            </a:r>
            <a:endParaRPr lang="zh-CN" altLang="en-US" sz="3600" smtClean="0"/>
          </a:p>
        </p:txBody>
      </p:sp>
      <p:sp>
        <p:nvSpPr>
          <p:cNvPr id="583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sp>
        <p:nvSpPr>
          <p:cNvPr id="58372"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4</a:t>
            </a:r>
            <a:endParaRPr lang="zh-CN" altLang="en-US" sz="1200" b="0">
              <a:latin typeface="幼圆" panose="02010509060101010101" pitchFamily="49" charset="-122"/>
              <a:ea typeface="幼圆" panose="02010509060101010101" pitchFamily="49" charset="-122"/>
            </a:endParaRPr>
          </a:p>
        </p:txBody>
      </p:sp>
      <p:graphicFrame>
        <p:nvGraphicFramePr>
          <p:cNvPr id="58373" name="Object 8"/>
          <p:cNvGraphicFramePr>
            <a:graphicFrameLocks noChangeAspect="1"/>
          </p:cNvGraphicFramePr>
          <p:nvPr/>
        </p:nvGraphicFramePr>
        <p:xfrm>
          <a:off x="990600" y="2205038"/>
          <a:ext cx="7696200" cy="2838450"/>
        </p:xfrm>
        <a:graphic>
          <a:graphicData uri="http://schemas.openxmlformats.org/presentationml/2006/ole">
            <mc:AlternateContent xmlns:mc="http://schemas.openxmlformats.org/markup-compatibility/2006">
              <mc:Choice xmlns:v="urn:schemas-microsoft-com:vml" Requires="v">
                <p:oleObj spid="_x0000_s58463" name="Document" r:id="rId4" imgW="5257800" imgH="1836420" progId="Word.Document.8">
                  <p:embed/>
                </p:oleObj>
              </mc:Choice>
              <mc:Fallback>
                <p:oleObj name="Document" r:id="rId4" imgW="5257800" imgH="1836420" progId="Word.Document.8">
                  <p:embed/>
                  <p:pic>
                    <p:nvPicPr>
                      <p:cNvPr id="0" name="Object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0600" y="2205038"/>
                        <a:ext cx="7696200" cy="2838450"/>
                      </a:xfrm>
                      <a:prstGeom prst="rect">
                        <a:avLst/>
                      </a:prstGeom>
                      <a:noFill/>
                      <a:ln>
                        <a:noFill/>
                      </a:ln>
                      <a:effectLst/>
                      <a:extLst>
                        <a:ext uri="{909E8E84-426E-40DD-AFC4-6F175D3DCCD1}">
                          <a14:hiddenFill xmlns:a14="http://schemas.microsoft.com/office/drawing/2010/main">
                            <a:solidFill>
                              <a:srgbClr val="66C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8374" name="Rectangle 747"/>
          <p:cNvSpPr>
            <a:spLocks noGrp="1" noChangeArrowheads="1"/>
          </p:cNvSpPr>
          <p:nvPr>
            <p:ph type="body" idx="1"/>
          </p:nvPr>
        </p:nvSpPr>
        <p:spPr>
          <a:xfrm>
            <a:off x="809625" y="5195888"/>
            <a:ext cx="7958138" cy="1044575"/>
          </a:xfrm>
          <a:solidFill>
            <a:srgbClr val="99FF66"/>
          </a:solidFill>
          <a:ln w="57150" cmpd="thickThin">
            <a:solidFill>
              <a:schemeClr val="tx1"/>
            </a:solidFill>
            <a:miter lim="800000"/>
          </a:ln>
        </p:spPr>
        <p:txBody>
          <a:bodyPr/>
          <a:lstStyle/>
          <a:p>
            <a:pPr marL="0" indent="0" eaLnBrk="1" hangingPunct="1">
              <a:lnSpc>
                <a:spcPct val="110000"/>
              </a:lnSpc>
              <a:buFont typeface="Wingdings" panose="05000000000000000000" pitchFamily="2" charset="2"/>
              <a:buNone/>
            </a:pPr>
            <a:r>
              <a:rPr lang="zh-CN" altLang="en-US" sz="2400" smtClean="0"/>
              <a:t>     不发生冲突的启动距离一般是一个循环数列，称为非线性流水线的</a:t>
            </a:r>
            <a:r>
              <a:rPr lang="zh-CN" altLang="en-US" sz="2400" smtClean="0">
                <a:solidFill>
                  <a:srgbClr val="FF0000"/>
                </a:solidFill>
              </a:rPr>
              <a:t>启动循环</a:t>
            </a:r>
            <a:r>
              <a:rPr lang="zh-CN" altLang="en-US" sz="2400" smtClean="0"/>
              <a:t>，记作（1，7）。</a:t>
            </a:r>
            <a:endParaRPr lang="zh-CN" altLang="en-US" sz="2400" smtClean="0"/>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791" name="Rectangle 7"/>
          <p:cNvSpPr>
            <a:spLocks noGrp="1" noChangeArrowheads="1"/>
          </p:cNvSpPr>
          <p:nvPr>
            <p:ph type="title"/>
          </p:nvPr>
        </p:nvSpPr>
        <p:spPr/>
        <p:txBody>
          <a:bodyPr/>
          <a:lstStyle/>
          <a:p>
            <a:pPr eaLnBrk="1" hangingPunct="1">
              <a:defRPr/>
            </a:pPr>
            <a:r>
              <a:rPr lang="zh-CN" altLang="en-US" smtClean="0"/>
              <a:t>举  例-</a:t>
            </a:r>
            <a:r>
              <a:rPr lang="zh-CN" altLang="en-US" sz="3600" smtClean="0"/>
              <a:t>流水线不冲突</a:t>
            </a:r>
            <a:endParaRPr lang="zh-CN" altLang="en-US" sz="3600" smtClean="0"/>
          </a:p>
        </p:txBody>
      </p:sp>
      <p:sp>
        <p:nvSpPr>
          <p:cNvPr id="59395" name="Rectangle 8"/>
          <p:cNvSpPr>
            <a:spLocks noGrp="1" noChangeArrowheads="1"/>
          </p:cNvSpPr>
          <p:nvPr>
            <p:ph type="body" idx="1"/>
          </p:nvPr>
        </p:nvSpPr>
        <p:spPr>
          <a:xfrm>
            <a:off x="809625" y="5195888"/>
            <a:ext cx="7958138" cy="963612"/>
          </a:xfrm>
          <a:solidFill>
            <a:srgbClr val="99FF66"/>
          </a:solidFill>
          <a:ln w="57150" cap="flat" cmpd="thickThin">
            <a:solidFill>
              <a:schemeClr val="tx1"/>
            </a:solidFill>
            <a:miter lim="800000"/>
          </a:ln>
        </p:spPr>
        <p:txBody>
          <a:bodyPr/>
          <a:lstStyle/>
          <a:p>
            <a:pPr marL="0" indent="0" eaLnBrk="1" hangingPunct="1">
              <a:lnSpc>
                <a:spcPct val="110000"/>
              </a:lnSpc>
              <a:buFont typeface="Wingdings" panose="05000000000000000000" pitchFamily="2" charset="2"/>
              <a:buNone/>
            </a:pPr>
            <a:r>
              <a:rPr lang="zh-CN" altLang="en-US" sz="2400" smtClean="0"/>
              <a:t>     启动距离5也可以认为是一个循环数列，称为非线性流水线的</a:t>
            </a:r>
            <a:r>
              <a:rPr lang="zh-CN" altLang="en-US" sz="2400" smtClean="0">
                <a:solidFill>
                  <a:srgbClr val="FF0000"/>
                </a:solidFill>
              </a:rPr>
              <a:t>恒定循环</a:t>
            </a:r>
            <a:r>
              <a:rPr lang="zh-CN" altLang="en-US" sz="2400" smtClean="0"/>
              <a:t>，记作（5）。</a:t>
            </a:r>
            <a:endParaRPr lang="zh-CN" altLang="en-US" sz="2400" smtClean="0"/>
          </a:p>
        </p:txBody>
      </p:sp>
      <p:sp>
        <p:nvSpPr>
          <p:cNvPr id="59396"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sp>
        <p:nvSpPr>
          <p:cNvPr id="59397"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5</a:t>
            </a:r>
            <a:endParaRPr lang="zh-CN" altLang="en-US" sz="1200" b="0">
              <a:latin typeface="幼圆" panose="02010509060101010101" pitchFamily="49" charset="-122"/>
              <a:ea typeface="幼圆" panose="02010509060101010101" pitchFamily="49" charset="-122"/>
            </a:endParaRPr>
          </a:p>
        </p:txBody>
      </p:sp>
      <p:graphicFrame>
        <p:nvGraphicFramePr>
          <p:cNvPr id="59398" name="Object 5"/>
          <p:cNvGraphicFramePr>
            <a:graphicFrameLocks noChangeAspect="1"/>
          </p:cNvGraphicFramePr>
          <p:nvPr/>
        </p:nvGraphicFramePr>
        <p:xfrm>
          <a:off x="1071563" y="2365375"/>
          <a:ext cx="7578725" cy="2700338"/>
        </p:xfrm>
        <a:graphic>
          <a:graphicData uri="http://schemas.openxmlformats.org/presentationml/2006/ole">
            <mc:AlternateContent xmlns:mc="http://schemas.openxmlformats.org/markup-compatibility/2006">
              <mc:Choice xmlns:v="urn:schemas-microsoft-com:vml" Requires="v">
                <p:oleObj spid="_x0000_s59487" name="Document" r:id="rId4" imgW="5205730" imgH="1860550" progId="Word.Document.8">
                  <p:embed/>
                </p:oleObj>
              </mc:Choice>
              <mc:Fallback>
                <p:oleObj name="Document" r:id="rId4" imgW="5205730" imgH="1860550" progId="Word.Document.8">
                  <p:embed/>
                  <p:pic>
                    <p:nvPicPr>
                      <p:cNvPr id="0"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71563" y="2365375"/>
                        <a:ext cx="7578725" cy="2700338"/>
                      </a:xfrm>
                      <a:prstGeom prst="rect">
                        <a:avLst/>
                      </a:prstGeom>
                      <a:noFill/>
                      <a:ln>
                        <a:noFill/>
                      </a:ln>
                      <a:effectLst/>
                      <a:extLst>
                        <a:ext uri="{909E8E84-426E-40DD-AFC4-6F175D3DCCD1}">
                          <a14:hiddenFill xmlns:a14="http://schemas.microsoft.com/office/drawing/2010/main">
                            <a:solidFill>
                              <a:srgbClr val="C3D6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ransition spd="slow">
    <p:random/>
    <p:sndAc>
      <p:stSnd>
        <p:snd r:embed="rId6" name="projctor.wav"/>
      </p:stSnd>
    </p:sndAc>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3714" name="Rectangle 98"/>
          <p:cNvSpPr>
            <a:spLocks noGrp="1" noChangeArrowheads="1"/>
          </p:cNvSpPr>
          <p:nvPr>
            <p:ph type="title"/>
          </p:nvPr>
        </p:nvSpPr>
        <p:spPr/>
        <p:txBody>
          <a:bodyPr/>
          <a:lstStyle/>
          <a:p>
            <a:pPr eaLnBrk="1" hangingPunct="1">
              <a:defRPr/>
            </a:pPr>
            <a:r>
              <a:rPr lang="zh-CN" altLang="en-US" smtClean="0"/>
              <a:t>无冲突调度方法-</a:t>
            </a:r>
            <a:r>
              <a:rPr lang="zh-CN" altLang="en-US" sz="3600" smtClean="0"/>
              <a:t>例子</a:t>
            </a:r>
            <a:endParaRPr lang="zh-CN" altLang="en-US" sz="3600" smtClean="0"/>
          </a:p>
        </p:txBody>
      </p:sp>
      <p:sp>
        <p:nvSpPr>
          <p:cNvPr id="6041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grpSp>
        <p:nvGrpSpPr>
          <p:cNvPr id="60420" name="Group 100"/>
          <p:cNvGrpSpPr/>
          <p:nvPr/>
        </p:nvGrpSpPr>
        <p:grpSpPr bwMode="auto">
          <a:xfrm>
            <a:off x="1116013" y="3933825"/>
            <a:ext cx="7543800" cy="2414588"/>
            <a:chOff x="720" y="2544"/>
            <a:chExt cx="4752" cy="1439"/>
          </a:xfrm>
        </p:grpSpPr>
        <p:sp>
          <p:nvSpPr>
            <p:cNvPr id="60448" name="Rectangle 40"/>
            <p:cNvSpPr>
              <a:spLocks noChangeArrowheads="1"/>
            </p:cNvSpPr>
            <p:nvPr/>
          </p:nvSpPr>
          <p:spPr bwMode="auto">
            <a:xfrm>
              <a:off x="4878"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49" name="Rectangle 41"/>
            <p:cNvSpPr>
              <a:spLocks noChangeArrowheads="1"/>
            </p:cNvSpPr>
            <p:nvPr/>
          </p:nvSpPr>
          <p:spPr bwMode="auto">
            <a:xfrm>
              <a:off x="4284"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50" name="Rectangle 42"/>
            <p:cNvSpPr>
              <a:spLocks noChangeArrowheads="1"/>
            </p:cNvSpPr>
            <p:nvPr/>
          </p:nvSpPr>
          <p:spPr bwMode="auto">
            <a:xfrm>
              <a:off x="3690"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51" name="Rectangle 43"/>
            <p:cNvSpPr>
              <a:spLocks noChangeArrowheads="1"/>
            </p:cNvSpPr>
            <p:nvPr/>
          </p:nvSpPr>
          <p:spPr bwMode="auto">
            <a:xfrm>
              <a:off x="3096"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52" name="Rectangle 44"/>
            <p:cNvSpPr>
              <a:spLocks noChangeArrowheads="1"/>
            </p:cNvSpPr>
            <p:nvPr/>
          </p:nvSpPr>
          <p:spPr bwMode="auto">
            <a:xfrm>
              <a:off x="3120" y="3696"/>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60453" name="Rectangle 45"/>
            <p:cNvSpPr>
              <a:spLocks noChangeArrowheads="1"/>
            </p:cNvSpPr>
            <p:nvPr/>
          </p:nvSpPr>
          <p:spPr bwMode="auto">
            <a:xfrm>
              <a:off x="1908"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54" name="Rectangle 46"/>
            <p:cNvSpPr>
              <a:spLocks noChangeArrowheads="1"/>
            </p:cNvSpPr>
            <p:nvPr/>
          </p:nvSpPr>
          <p:spPr bwMode="auto">
            <a:xfrm>
              <a:off x="1344" y="3692"/>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55" name="Rectangle 47"/>
            <p:cNvSpPr>
              <a:spLocks noChangeArrowheads="1"/>
            </p:cNvSpPr>
            <p:nvPr/>
          </p:nvSpPr>
          <p:spPr bwMode="auto">
            <a:xfrm>
              <a:off x="720" y="3692"/>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S4</a:t>
              </a:r>
              <a:endParaRPr lang="en-US" altLang="zh-CN" sz="2400"/>
            </a:p>
          </p:txBody>
        </p:sp>
        <p:sp>
          <p:nvSpPr>
            <p:cNvPr id="60456" name="Rectangle 48"/>
            <p:cNvSpPr>
              <a:spLocks noChangeArrowheads="1"/>
            </p:cNvSpPr>
            <p:nvPr/>
          </p:nvSpPr>
          <p:spPr bwMode="auto">
            <a:xfrm>
              <a:off x="4878"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57" name="Rectangle 49"/>
            <p:cNvSpPr>
              <a:spLocks noChangeArrowheads="1"/>
            </p:cNvSpPr>
            <p:nvPr/>
          </p:nvSpPr>
          <p:spPr bwMode="auto">
            <a:xfrm>
              <a:off x="3696" y="340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60458" name="Rectangle 50"/>
            <p:cNvSpPr>
              <a:spLocks noChangeArrowheads="1"/>
            </p:cNvSpPr>
            <p:nvPr/>
          </p:nvSpPr>
          <p:spPr bwMode="auto">
            <a:xfrm>
              <a:off x="3690"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59" name="Rectangle 51"/>
            <p:cNvSpPr>
              <a:spLocks noChangeArrowheads="1"/>
            </p:cNvSpPr>
            <p:nvPr/>
          </p:nvSpPr>
          <p:spPr bwMode="auto">
            <a:xfrm>
              <a:off x="3096"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60" name="Rectangle 52"/>
            <p:cNvSpPr>
              <a:spLocks noChangeArrowheads="1"/>
            </p:cNvSpPr>
            <p:nvPr/>
          </p:nvSpPr>
          <p:spPr bwMode="auto">
            <a:xfrm>
              <a:off x="2502"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61" name="Rectangle 53"/>
            <p:cNvSpPr>
              <a:spLocks noChangeArrowheads="1"/>
            </p:cNvSpPr>
            <p:nvPr/>
          </p:nvSpPr>
          <p:spPr bwMode="auto">
            <a:xfrm>
              <a:off x="2496" y="340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60462" name="Rectangle 54"/>
            <p:cNvSpPr>
              <a:spLocks noChangeArrowheads="1"/>
            </p:cNvSpPr>
            <p:nvPr/>
          </p:nvSpPr>
          <p:spPr bwMode="auto">
            <a:xfrm>
              <a:off x="1344" y="3405"/>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63" name="Rectangle 55"/>
            <p:cNvSpPr>
              <a:spLocks noChangeArrowheads="1"/>
            </p:cNvSpPr>
            <p:nvPr/>
          </p:nvSpPr>
          <p:spPr bwMode="auto">
            <a:xfrm>
              <a:off x="720" y="3405"/>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S3</a:t>
              </a:r>
              <a:endParaRPr lang="en-US" altLang="zh-CN" sz="2400"/>
            </a:p>
          </p:txBody>
        </p:sp>
        <p:sp>
          <p:nvSpPr>
            <p:cNvPr id="60464" name="Rectangle 56"/>
            <p:cNvSpPr>
              <a:spLocks noChangeArrowheads="1"/>
            </p:cNvSpPr>
            <p:nvPr/>
          </p:nvSpPr>
          <p:spPr bwMode="auto">
            <a:xfrm>
              <a:off x="4878"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65" name="Rectangle 57"/>
            <p:cNvSpPr>
              <a:spLocks noChangeArrowheads="1"/>
            </p:cNvSpPr>
            <p:nvPr/>
          </p:nvSpPr>
          <p:spPr bwMode="auto">
            <a:xfrm>
              <a:off x="4284"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66" name="Rectangle 58"/>
            <p:cNvSpPr>
              <a:spLocks noChangeArrowheads="1"/>
            </p:cNvSpPr>
            <p:nvPr/>
          </p:nvSpPr>
          <p:spPr bwMode="auto">
            <a:xfrm>
              <a:off x="4272" y="3120"/>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60467" name="Rectangle 59"/>
            <p:cNvSpPr>
              <a:spLocks noChangeArrowheads="1"/>
            </p:cNvSpPr>
            <p:nvPr/>
          </p:nvSpPr>
          <p:spPr bwMode="auto">
            <a:xfrm>
              <a:off x="3096"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68" name="Rectangle 60"/>
            <p:cNvSpPr>
              <a:spLocks noChangeArrowheads="1"/>
            </p:cNvSpPr>
            <p:nvPr/>
          </p:nvSpPr>
          <p:spPr bwMode="auto">
            <a:xfrm>
              <a:off x="2502"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69" name="Rectangle 61"/>
            <p:cNvSpPr>
              <a:spLocks noChangeArrowheads="1"/>
            </p:cNvSpPr>
            <p:nvPr/>
          </p:nvSpPr>
          <p:spPr bwMode="auto">
            <a:xfrm>
              <a:off x="1908"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60470" name="Rectangle 62"/>
            <p:cNvSpPr>
              <a:spLocks noChangeArrowheads="1"/>
            </p:cNvSpPr>
            <p:nvPr/>
          </p:nvSpPr>
          <p:spPr bwMode="auto">
            <a:xfrm>
              <a:off x="1344" y="3118"/>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71" name="Rectangle 63"/>
            <p:cNvSpPr>
              <a:spLocks noChangeArrowheads="1"/>
            </p:cNvSpPr>
            <p:nvPr/>
          </p:nvSpPr>
          <p:spPr bwMode="auto">
            <a:xfrm>
              <a:off x="720" y="3118"/>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S2</a:t>
              </a:r>
              <a:endParaRPr lang="en-US" altLang="zh-CN" sz="2400"/>
            </a:p>
          </p:txBody>
        </p:sp>
        <p:sp>
          <p:nvSpPr>
            <p:cNvPr id="60472" name="Rectangle 64"/>
            <p:cNvSpPr>
              <a:spLocks noChangeArrowheads="1"/>
            </p:cNvSpPr>
            <p:nvPr/>
          </p:nvSpPr>
          <p:spPr bwMode="auto">
            <a:xfrm>
              <a:off x="4878"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60473" name="Rectangle 65"/>
            <p:cNvSpPr>
              <a:spLocks noChangeArrowheads="1"/>
            </p:cNvSpPr>
            <p:nvPr/>
          </p:nvSpPr>
          <p:spPr bwMode="auto">
            <a:xfrm>
              <a:off x="4284"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74" name="Rectangle 66"/>
            <p:cNvSpPr>
              <a:spLocks noChangeArrowheads="1"/>
            </p:cNvSpPr>
            <p:nvPr/>
          </p:nvSpPr>
          <p:spPr bwMode="auto">
            <a:xfrm>
              <a:off x="3690"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75" name="Rectangle 68"/>
            <p:cNvSpPr>
              <a:spLocks noChangeArrowheads="1"/>
            </p:cNvSpPr>
            <p:nvPr/>
          </p:nvSpPr>
          <p:spPr bwMode="auto">
            <a:xfrm>
              <a:off x="2502"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76" name="Rectangle 69"/>
            <p:cNvSpPr>
              <a:spLocks noChangeArrowheads="1"/>
            </p:cNvSpPr>
            <p:nvPr/>
          </p:nvSpPr>
          <p:spPr bwMode="auto">
            <a:xfrm>
              <a:off x="1908"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60477" name="Rectangle 70"/>
            <p:cNvSpPr>
              <a:spLocks noChangeArrowheads="1"/>
            </p:cNvSpPr>
            <p:nvPr/>
          </p:nvSpPr>
          <p:spPr bwMode="auto">
            <a:xfrm>
              <a:off x="1344" y="2831"/>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60478" name="Rectangle 71"/>
            <p:cNvSpPr>
              <a:spLocks noChangeArrowheads="1"/>
            </p:cNvSpPr>
            <p:nvPr/>
          </p:nvSpPr>
          <p:spPr bwMode="auto">
            <a:xfrm>
              <a:off x="720" y="2831"/>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S1</a:t>
              </a:r>
              <a:endParaRPr lang="en-US" altLang="zh-CN" sz="2400"/>
            </a:p>
          </p:txBody>
        </p:sp>
        <p:sp>
          <p:nvSpPr>
            <p:cNvPr id="60479" name="Rectangle 72"/>
            <p:cNvSpPr>
              <a:spLocks noChangeArrowheads="1"/>
            </p:cNvSpPr>
            <p:nvPr/>
          </p:nvSpPr>
          <p:spPr bwMode="auto">
            <a:xfrm>
              <a:off x="4878"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7</a:t>
              </a:r>
              <a:endParaRPr lang="zh-CN" altLang="en-US" sz="2400"/>
            </a:p>
          </p:txBody>
        </p:sp>
        <p:sp>
          <p:nvSpPr>
            <p:cNvPr id="60480" name="Rectangle 73"/>
            <p:cNvSpPr>
              <a:spLocks noChangeArrowheads="1"/>
            </p:cNvSpPr>
            <p:nvPr/>
          </p:nvSpPr>
          <p:spPr bwMode="auto">
            <a:xfrm>
              <a:off x="4284"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6</a:t>
              </a:r>
              <a:endParaRPr lang="zh-CN" altLang="en-US" sz="2400"/>
            </a:p>
          </p:txBody>
        </p:sp>
        <p:sp>
          <p:nvSpPr>
            <p:cNvPr id="60481" name="Rectangle 74"/>
            <p:cNvSpPr>
              <a:spLocks noChangeArrowheads="1"/>
            </p:cNvSpPr>
            <p:nvPr/>
          </p:nvSpPr>
          <p:spPr bwMode="auto">
            <a:xfrm>
              <a:off x="3690"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5</a:t>
              </a:r>
              <a:endParaRPr lang="zh-CN" altLang="en-US" sz="2400"/>
            </a:p>
          </p:txBody>
        </p:sp>
        <p:sp>
          <p:nvSpPr>
            <p:cNvPr id="60482" name="Rectangle 75"/>
            <p:cNvSpPr>
              <a:spLocks noChangeArrowheads="1"/>
            </p:cNvSpPr>
            <p:nvPr/>
          </p:nvSpPr>
          <p:spPr bwMode="auto">
            <a:xfrm>
              <a:off x="3096"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4</a:t>
              </a:r>
              <a:endParaRPr lang="zh-CN" altLang="en-US" sz="2400"/>
            </a:p>
          </p:txBody>
        </p:sp>
        <p:sp>
          <p:nvSpPr>
            <p:cNvPr id="60483" name="Rectangle 76"/>
            <p:cNvSpPr>
              <a:spLocks noChangeArrowheads="1"/>
            </p:cNvSpPr>
            <p:nvPr/>
          </p:nvSpPr>
          <p:spPr bwMode="auto">
            <a:xfrm>
              <a:off x="2502"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3</a:t>
              </a:r>
              <a:endParaRPr lang="zh-CN" altLang="en-US" sz="2400"/>
            </a:p>
          </p:txBody>
        </p:sp>
        <p:sp>
          <p:nvSpPr>
            <p:cNvPr id="60484" name="Rectangle 77"/>
            <p:cNvSpPr>
              <a:spLocks noChangeArrowheads="1"/>
            </p:cNvSpPr>
            <p:nvPr/>
          </p:nvSpPr>
          <p:spPr bwMode="auto">
            <a:xfrm>
              <a:off x="1908"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2</a:t>
              </a:r>
              <a:endParaRPr lang="zh-CN" altLang="en-US" sz="2400"/>
            </a:p>
          </p:txBody>
        </p:sp>
        <p:sp>
          <p:nvSpPr>
            <p:cNvPr id="60485" name="Rectangle 78"/>
            <p:cNvSpPr>
              <a:spLocks noChangeArrowheads="1"/>
            </p:cNvSpPr>
            <p:nvPr/>
          </p:nvSpPr>
          <p:spPr bwMode="auto">
            <a:xfrm>
              <a:off x="1344" y="2544"/>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1</a:t>
              </a:r>
              <a:endParaRPr lang="zh-CN" altLang="en-US" sz="2400"/>
            </a:p>
          </p:txBody>
        </p:sp>
        <p:sp>
          <p:nvSpPr>
            <p:cNvPr id="60486" name="Rectangle 79"/>
            <p:cNvSpPr>
              <a:spLocks noChangeArrowheads="1"/>
            </p:cNvSpPr>
            <p:nvPr/>
          </p:nvSpPr>
          <p:spPr bwMode="auto">
            <a:xfrm>
              <a:off x="720" y="2544"/>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Font typeface="Wingdings" panose="05000000000000000000" pitchFamily="2" charset="2"/>
                <a:buNone/>
              </a:pPr>
              <a:r>
                <a:rPr lang="zh-CN" altLang="en-US" sz="1400"/>
                <a:t>         时间</a:t>
              </a:r>
              <a:endParaRPr lang="zh-CN" altLang="en-US" sz="1400"/>
            </a:p>
            <a:p>
              <a:pPr eaLnBrk="1" hangingPunct="1">
                <a:spcBef>
                  <a:spcPct val="0"/>
                </a:spcBef>
                <a:buFont typeface="Wingdings" panose="05000000000000000000" pitchFamily="2" charset="2"/>
                <a:buNone/>
              </a:pPr>
              <a:r>
                <a:rPr lang="zh-CN" altLang="en-US" sz="1400"/>
                <a:t>流水段</a:t>
              </a:r>
              <a:endParaRPr lang="zh-CN" altLang="en-US" sz="1400"/>
            </a:p>
          </p:txBody>
        </p:sp>
        <p:sp>
          <p:nvSpPr>
            <p:cNvPr id="60487" name="Line 80"/>
            <p:cNvSpPr>
              <a:spLocks noChangeShapeType="1"/>
            </p:cNvSpPr>
            <p:nvPr/>
          </p:nvSpPr>
          <p:spPr bwMode="auto">
            <a:xfrm>
              <a:off x="720" y="2544"/>
              <a:ext cx="4752" cy="0"/>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88" name="Line 81"/>
            <p:cNvSpPr>
              <a:spLocks noChangeShapeType="1"/>
            </p:cNvSpPr>
            <p:nvPr/>
          </p:nvSpPr>
          <p:spPr bwMode="auto">
            <a:xfrm>
              <a:off x="720" y="2831"/>
              <a:ext cx="4752"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89" name="Line 82"/>
            <p:cNvSpPr>
              <a:spLocks noChangeShapeType="1"/>
            </p:cNvSpPr>
            <p:nvPr/>
          </p:nvSpPr>
          <p:spPr bwMode="auto">
            <a:xfrm>
              <a:off x="720" y="3118"/>
              <a:ext cx="4752"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0" name="Line 83"/>
            <p:cNvSpPr>
              <a:spLocks noChangeShapeType="1"/>
            </p:cNvSpPr>
            <p:nvPr/>
          </p:nvSpPr>
          <p:spPr bwMode="auto">
            <a:xfrm>
              <a:off x="720" y="3405"/>
              <a:ext cx="4752"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1" name="Line 84"/>
            <p:cNvSpPr>
              <a:spLocks noChangeShapeType="1"/>
            </p:cNvSpPr>
            <p:nvPr/>
          </p:nvSpPr>
          <p:spPr bwMode="auto">
            <a:xfrm>
              <a:off x="720" y="3692"/>
              <a:ext cx="4752"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2" name="Line 85"/>
            <p:cNvSpPr>
              <a:spLocks noChangeShapeType="1"/>
            </p:cNvSpPr>
            <p:nvPr/>
          </p:nvSpPr>
          <p:spPr bwMode="auto">
            <a:xfrm>
              <a:off x="720" y="3979"/>
              <a:ext cx="4752" cy="0"/>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3" name="Line 86"/>
            <p:cNvSpPr>
              <a:spLocks noChangeShapeType="1"/>
            </p:cNvSpPr>
            <p:nvPr/>
          </p:nvSpPr>
          <p:spPr bwMode="auto">
            <a:xfrm>
              <a:off x="720" y="2544"/>
              <a:ext cx="0" cy="1435"/>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4" name="Line 87"/>
            <p:cNvSpPr>
              <a:spLocks noChangeShapeType="1"/>
            </p:cNvSpPr>
            <p:nvPr/>
          </p:nvSpPr>
          <p:spPr bwMode="auto">
            <a:xfrm>
              <a:off x="1344"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5" name="Line 88"/>
            <p:cNvSpPr>
              <a:spLocks noChangeShapeType="1"/>
            </p:cNvSpPr>
            <p:nvPr/>
          </p:nvSpPr>
          <p:spPr bwMode="auto">
            <a:xfrm>
              <a:off x="1908"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6" name="Line 89"/>
            <p:cNvSpPr>
              <a:spLocks noChangeShapeType="1"/>
            </p:cNvSpPr>
            <p:nvPr/>
          </p:nvSpPr>
          <p:spPr bwMode="auto">
            <a:xfrm>
              <a:off x="2502"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7" name="Line 90"/>
            <p:cNvSpPr>
              <a:spLocks noChangeShapeType="1"/>
            </p:cNvSpPr>
            <p:nvPr/>
          </p:nvSpPr>
          <p:spPr bwMode="auto">
            <a:xfrm>
              <a:off x="3096"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8" name="Line 91"/>
            <p:cNvSpPr>
              <a:spLocks noChangeShapeType="1"/>
            </p:cNvSpPr>
            <p:nvPr/>
          </p:nvSpPr>
          <p:spPr bwMode="auto">
            <a:xfrm>
              <a:off x="3690"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9" name="Line 92"/>
            <p:cNvSpPr>
              <a:spLocks noChangeShapeType="1"/>
            </p:cNvSpPr>
            <p:nvPr/>
          </p:nvSpPr>
          <p:spPr bwMode="auto">
            <a:xfrm>
              <a:off x="4284"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500" name="Line 93"/>
            <p:cNvSpPr>
              <a:spLocks noChangeShapeType="1"/>
            </p:cNvSpPr>
            <p:nvPr/>
          </p:nvSpPr>
          <p:spPr bwMode="auto">
            <a:xfrm>
              <a:off x="4878"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501" name="Line 94"/>
            <p:cNvSpPr>
              <a:spLocks noChangeShapeType="1"/>
            </p:cNvSpPr>
            <p:nvPr/>
          </p:nvSpPr>
          <p:spPr bwMode="auto">
            <a:xfrm>
              <a:off x="5472" y="2544"/>
              <a:ext cx="0" cy="1435"/>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502" name="Line 95"/>
            <p:cNvSpPr>
              <a:spLocks noChangeShapeType="1"/>
            </p:cNvSpPr>
            <p:nvPr/>
          </p:nvSpPr>
          <p:spPr bwMode="auto">
            <a:xfrm>
              <a:off x="720" y="2544"/>
              <a:ext cx="624" cy="287"/>
            </a:xfrm>
            <a:prstGeom prst="line">
              <a:avLst/>
            </a:prstGeom>
            <a:noFill/>
            <a:ln w="127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60421" name="Text Box 10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12 之 1</a:t>
            </a:r>
            <a:endParaRPr lang="zh-CN" altLang="en-US" sz="1200" b="0">
              <a:latin typeface="幼圆" panose="02010509060101010101" pitchFamily="49" charset="-122"/>
              <a:ea typeface="幼圆" panose="02010509060101010101" pitchFamily="49" charset="-122"/>
            </a:endParaRPr>
          </a:p>
        </p:txBody>
      </p:sp>
      <p:grpSp>
        <p:nvGrpSpPr>
          <p:cNvPr id="60422" name="Group 105"/>
          <p:cNvGrpSpPr/>
          <p:nvPr/>
        </p:nvGrpSpPr>
        <p:grpSpPr bwMode="auto">
          <a:xfrm>
            <a:off x="971550" y="1989138"/>
            <a:ext cx="7848600" cy="1447800"/>
            <a:chOff x="576" y="1344"/>
            <a:chExt cx="4944" cy="912"/>
          </a:xfrm>
        </p:grpSpPr>
        <p:sp>
          <p:nvSpPr>
            <p:cNvPr id="60423" name="Rectangle 106"/>
            <p:cNvSpPr>
              <a:spLocks noChangeArrowheads="1"/>
            </p:cNvSpPr>
            <p:nvPr/>
          </p:nvSpPr>
          <p:spPr bwMode="auto">
            <a:xfrm>
              <a:off x="1296" y="1776"/>
              <a:ext cx="432"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a:t>
              </a:r>
              <a:r>
                <a:rPr lang="en-US" altLang="zh-CN" sz="2400" baseline="-25000"/>
                <a:t>1</a:t>
              </a:r>
              <a:endParaRPr lang="en-US" altLang="zh-CN" sz="2400" baseline="-25000"/>
            </a:p>
          </p:txBody>
        </p:sp>
        <p:sp>
          <p:nvSpPr>
            <p:cNvPr id="60424" name="Rectangle 107"/>
            <p:cNvSpPr>
              <a:spLocks noChangeArrowheads="1"/>
            </p:cNvSpPr>
            <p:nvPr/>
          </p:nvSpPr>
          <p:spPr bwMode="auto">
            <a:xfrm>
              <a:off x="2496" y="1776"/>
              <a:ext cx="432"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a:t>
              </a:r>
              <a:r>
                <a:rPr lang="en-US" altLang="zh-CN" sz="2400" baseline="-25000"/>
                <a:t>2</a:t>
              </a:r>
              <a:endParaRPr lang="en-US" altLang="zh-CN" sz="2400" baseline="-25000"/>
            </a:p>
          </p:txBody>
        </p:sp>
        <p:sp>
          <p:nvSpPr>
            <p:cNvPr id="60425" name="Rectangle 108"/>
            <p:cNvSpPr>
              <a:spLocks noChangeArrowheads="1"/>
            </p:cNvSpPr>
            <p:nvPr/>
          </p:nvSpPr>
          <p:spPr bwMode="auto">
            <a:xfrm>
              <a:off x="3696" y="1776"/>
              <a:ext cx="432"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a:t>
              </a:r>
              <a:r>
                <a:rPr lang="en-US" altLang="zh-CN" sz="2400" baseline="-25000"/>
                <a:t>3</a:t>
              </a:r>
              <a:endParaRPr lang="en-US" altLang="zh-CN" sz="2400" baseline="-25000"/>
            </a:p>
          </p:txBody>
        </p:sp>
        <p:sp>
          <p:nvSpPr>
            <p:cNvPr id="60426" name="Rectangle 109"/>
            <p:cNvSpPr>
              <a:spLocks noChangeArrowheads="1"/>
            </p:cNvSpPr>
            <p:nvPr/>
          </p:nvSpPr>
          <p:spPr bwMode="auto">
            <a:xfrm>
              <a:off x="4896" y="1776"/>
              <a:ext cx="432"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a:t>
              </a:r>
              <a:r>
                <a:rPr lang="en-US" altLang="zh-CN" sz="2400" baseline="-25000"/>
                <a:t>4</a:t>
              </a:r>
              <a:endParaRPr lang="en-US" altLang="zh-CN" sz="2400" baseline="-25000"/>
            </a:p>
          </p:txBody>
        </p:sp>
        <p:sp>
          <p:nvSpPr>
            <p:cNvPr id="60427" name="Line 110"/>
            <p:cNvSpPr>
              <a:spLocks noChangeShapeType="1"/>
            </p:cNvSpPr>
            <p:nvPr/>
          </p:nvSpPr>
          <p:spPr bwMode="auto">
            <a:xfrm>
              <a:off x="1008" y="1872"/>
              <a:ext cx="28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28" name="Line 111"/>
            <p:cNvSpPr>
              <a:spLocks noChangeShapeType="1"/>
            </p:cNvSpPr>
            <p:nvPr/>
          </p:nvSpPr>
          <p:spPr bwMode="auto">
            <a:xfrm>
              <a:off x="1008" y="2016"/>
              <a:ext cx="28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29" name="Line 112"/>
            <p:cNvSpPr>
              <a:spLocks noChangeShapeType="1"/>
            </p:cNvSpPr>
            <p:nvPr/>
          </p:nvSpPr>
          <p:spPr bwMode="auto">
            <a:xfrm>
              <a:off x="1728" y="2016"/>
              <a:ext cx="76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0" name="Line 113"/>
            <p:cNvSpPr>
              <a:spLocks noChangeShapeType="1"/>
            </p:cNvSpPr>
            <p:nvPr/>
          </p:nvSpPr>
          <p:spPr bwMode="auto">
            <a:xfrm>
              <a:off x="2208" y="1872"/>
              <a:ext cx="28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1" name="Line 114"/>
            <p:cNvSpPr>
              <a:spLocks noChangeShapeType="1"/>
            </p:cNvSpPr>
            <p:nvPr/>
          </p:nvSpPr>
          <p:spPr bwMode="auto">
            <a:xfrm>
              <a:off x="2928" y="1872"/>
              <a:ext cx="76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2" name="Line 115"/>
            <p:cNvSpPr>
              <a:spLocks noChangeShapeType="1"/>
            </p:cNvSpPr>
            <p:nvPr/>
          </p:nvSpPr>
          <p:spPr bwMode="auto">
            <a:xfrm>
              <a:off x="3408" y="2016"/>
              <a:ext cx="28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3" name="Line 116"/>
            <p:cNvSpPr>
              <a:spLocks noChangeShapeType="1"/>
            </p:cNvSpPr>
            <p:nvPr/>
          </p:nvSpPr>
          <p:spPr bwMode="auto">
            <a:xfrm>
              <a:off x="4128" y="1968"/>
              <a:ext cx="76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4" name="Line 117"/>
            <p:cNvSpPr>
              <a:spLocks noChangeShapeType="1"/>
            </p:cNvSpPr>
            <p:nvPr/>
          </p:nvSpPr>
          <p:spPr bwMode="auto">
            <a:xfrm flipV="1">
              <a:off x="1968" y="1584"/>
              <a:ext cx="0" cy="288"/>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5" name="Line 118"/>
            <p:cNvSpPr>
              <a:spLocks noChangeShapeType="1"/>
            </p:cNvSpPr>
            <p:nvPr/>
          </p:nvSpPr>
          <p:spPr bwMode="auto">
            <a:xfrm>
              <a:off x="1728" y="1872"/>
              <a:ext cx="240"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6" name="Line 119"/>
            <p:cNvSpPr>
              <a:spLocks noChangeShapeType="1"/>
            </p:cNvSpPr>
            <p:nvPr/>
          </p:nvSpPr>
          <p:spPr bwMode="auto">
            <a:xfrm>
              <a:off x="1008" y="2256"/>
              <a:ext cx="2112"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7" name="Line 120"/>
            <p:cNvSpPr>
              <a:spLocks noChangeShapeType="1"/>
            </p:cNvSpPr>
            <p:nvPr/>
          </p:nvSpPr>
          <p:spPr bwMode="auto">
            <a:xfrm>
              <a:off x="1008" y="2016"/>
              <a:ext cx="0" cy="24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8" name="Line 121"/>
            <p:cNvSpPr>
              <a:spLocks noChangeShapeType="1"/>
            </p:cNvSpPr>
            <p:nvPr/>
          </p:nvSpPr>
          <p:spPr bwMode="auto">
            <a:xfrm>
              <a:off x="2208" y="1632"/>
              <a:ext cx="0" cy="24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9" name="Line 122"/>
            <p:cNvSpPr>
              <a:spLocks noChangeShapeType="1"/>
            </p:cNvSpPr>
            <p:nvPr/>
          </p:nvSpPr>
          <p:spPr bwMode="auto">
            <a:xfrm>
              <a:off x="2208" y="1632"/>
              <a:ext cx="2256"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0" name="Line 123"/>
            <p:cNvSpPr>
              <a:spLocks noChangeShapeType="1"/>
            </p:cNvSpPr>
            <p:nvPr/>
          </p:nvSpPr>
          <p:spPr bwMode="auto">
            <a:xfrm>
              <a:off x="3120" y="1872"/>
              <a:ext cx="0" cy="384"/>
            </a:xfrm>
            <a:prstGeom prst="line">
              <a:avLst/>
            </a:prstGeom>
            <a:noFill/>
            <a:ln w="28575">
              <a:solidFill>
                <a:schemeClr val="tx1"/>
              </a:solidFill>
              <a:round/>
              <a:headEnd type="oval" w="med" len="me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1" name="Line 124"/>
            <p:cNvSpPr>
              <a:spLocks noChangeShapeType="1"/>
            </p:cNvSpPr>
            <p:nvPr/>
          </p:nvSpPr>
          <p:spPr bwMode="auto">
            <a:xfrm>
              <a:off x="3408" y="2016"/>
              <a:ext cx="0" cy="24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2" name="Line 125"/>
            <p:cNvSpPr>
              <a:spLocks noChangeShapeType="1"/>
            </p:cNvSpPr>
            <p:nvPr/>
          </p:nvSpPr>
          <p:spPr bwMode="auto">
            <a:xfrm>
              <a:off x="3408" y="2256"/>
              <a:ext cx="2112"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3" name="Line 126"/>
            <p:cNvSpPr>
              <a:spLocks noChangeShapeType="1"/>
            </p:cNvSpPr>
            <p:nvPr/>
          </p:nvSpPr>
          <p:spPr bwMode="auto">
            <a:xfrm>
              <a:off x="5328" y="1968"/>
              <a:ext cx="192"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4" name="Line 127"/>
            <p:cNvSpPr>
              <a:spLocks noChangeShapeType="1"/>
            </p:cNvSpPr>
            <p:nvPr/>
          </p:nvSpPr>
          <p:spPr bwMode="auto">
            <a:xfrm>
              <a:off x="5520" y="1968"/>
              <a:ext cx="0" cy="288"/>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5" name="Line 128"/>
            <p:cNvSpPr>
              <a:spLocks noChangeShapeType="1"/>
            </p:cNvSpPr>
            <p:nvPr/>
          </p:nvSpPr>
          <p:spPr bwMode="auto">
            <a:xfrm>
              <a:off x="4464" y="1632"/>
              <a:ext cx="0" cy="336"/>
            </a:xfrm>
            <a:prstGeom prst="line">
              <a:avLst/>
            </a:prstGeom>
            <a:noFill/>
            <a:ln w="28575">
              <a:solidFill>
                <a:schemeClr val="tx1"/>
              </a:solidFill>
              <a:rou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6" name="Rectangle 129"/>
            <p:cNvSpPr>
              <a:spLocks noChangeArrowheads="1"/>
            </p:cNvSpPr>
            <p:nvPr/>
          </p:nvSpPr>
          <p:spPr bwMode="auto">
            <a:xfrm>
              <a:off x="576" y="1728"/>
              <a:ext cx="43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输入</a:t>
              </a:r>
              <a:endParaRPr lang="zh-CN" altLang="en-US" sz="2400" baseline="-25000"/>
            </a:p>
          </p:txBody>
        </p:sp>
        <p:sp>
          <p:nvSpPr>
            <p:cNvPr id="60447" name="Rectangle 130"/>
            <p:cNvSpPr>
              <a:spLocks noChangeArrowheads="1"/>
            </p:cNvSpPr>
            <p:nvPr/>
          </p:nvSpPr>
          <p:spPr bwMode="auto">
            <a:xfrm>
              <a:off x="1776" y="1344"/>
              <a:ext cx="43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输出</a:t>
              </a:r>
              <a:endParaRPr lang="zh-CN" altLang="en-US" sz="2400" baseline="-25000"/>
            </a:p>
          </p:txBody>
        </p:sp>
      </p:gr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1810" name="Rectangle 2"/>
          <p:cNvSpPr>
            <a:spLocks noGrp="1" noChangeArrowheads="1"/>
          </p:cNvSpPr>
          <p:nvPr>
            <p:ph type="title"/>
          </p:nvPr>
        </p:nvSpPr>
        <p:spPr/>
        <p:txBody>
          <a:bodyPr/>
          <a:lstStyle/>
          <a:p>
            <a:pPr eaLnBrk="1" hangingPunct="1">
              <a:defRPr/>
            </a:pPr>
            <a:r>
              <a:rPr lang="zh-CN" altLang="en-US" smtClean="0"/>
              <a:t>无冲突调度方法-</a:t>
            </a:r>
            <a:r>
              <a:rPr lang="zh-CN" altLang="en-US" sz="3600" smtClean="0"/>
              <a:t>步骤</a:t>
            </a:r>
            <a:endParaRPr lang="zh-CN" altLang="en-US" sz="3600" smtClean="0"/>
          </a:p>
        </p:txBody>
      </p:sp>
      <p:sp>
        <p:nvSpPr>
          <p:cNvPr id="614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sp>
        <p:nvSpPr>
          <p:cNvPr id="61444" name="Rectangle 4"/>
          <p:cNvSpPr>
            <a:spLocks noGrp="1" noChangeArrowheads="1"/>
          </p:cNvSpPr>
          <p:nvPr>
            <p:ph type="body" idx="1"/>
          </p:nvPr>
        </p:nvSpPr>
        <p:spPr>
          <a:xfrm>
            <a:off x="827088" y="1989138"/>
            <a:ext cx="7958137" cy="4195762"/>
          </a:xfrm>
        </p:spPr>
        <p:txBody>
          <a:bodyPr/>
          <a:lstStyle/>
          <a:p>
            <a:pPr eaLnBrk="1" hangingPunct="1">
              <a:lnSpc>
                <a:spcPct val="140000"/>
              </a:lnSpc>
            </a:pPr>
            <a:r>
              <a:rPr lang="zh-CN" altLang="en-US" sz="2800" smtClean="0">
                <a:hlinkClick r:id="rId4" action="ppaction://hlinksldjump"/>
              </a:rPr>
              <a:t>由预约表得到禁止向量</a:t>
            </a:r>
            <a:endParaRPr lang="zh-CN" altLang="en-US" sz="2800" smtClean="0"/>
          </a:p>
          <a:p>
            <a:pPr eaLnBrk="1" hangingPunct="1">
              <a:lnSpc>
                <a:spcPct val="140000"/>
              </a:lnSpc>
            </a:pPr>
            <a:r>
              <a:rPr lang="zh-CN" altLang="en-US" sz="2800" smtClean="0">
                <a:hlinkClick r:id="rId5" action="ppaction://hlinksldjump"/>
              </a:rPr>
              <a:t>由禁止向量得到冲突向量</a:t>
            </a:r>
            <a:endParaRPr lang="zh-CN" altLang="en-US" sz="2800" smtClean="0"/>
          </a:p>
          <a:p>
            <a:pPr eaLnBrk="1" hangingPunct="1">
              <a:lnSpc>
                <a:spcPct val="140000"/>
              </a:lnSpc>
            </a:pPr>
            <a:r>
              <a:rPr lang="zh-CN" altLang="en-US" sz="2800" smtClean="0">
                <a:hlinkClick r:id="rId6" action="ppaction://hlinksldjump"/>
              </a:rPr>
              <a:t>由冲突向量构造调度流水线的状态图</a:t>
            </a:r>
            <a:endParaRPr lang="zh-CN" altLang="en-US" sz="2800" smtClean="0"/>
          </a:p>
          <a:p>
            <a:pPr eaLnBrk="1" hangingPunct="1">
              <a:lnSpc>
                <a:spcPct val="140000"/>
              </a:lnSpc>
            </a:pPr>
            <a:r>
              <a:rPr lang="zh-CN" altLang="en-US" sz="2800" smtClean="0">
                <a:hlinkClick r:id="rId7" action="ppaction://hlinksldjump"/>
              </a:rPr>
              <a:t>在状态图中找出可用启动距离，并计算平均启动距离</a:t>
            </a:r>
            <a:endParaRPr lang="zh-CN" altLang="en-US" sz="2800" smtClean="0"/>
          </a:p>
          <a:p>
            <a:pPr eaLnBrk="1" hangingPunct="1">
              <a:lnSpc>
                <a:spcPct val="140000"/>
              </a:lnSpc>
            </a:pPr>
            <a:r>
              <a:rPr lang="zh-CN" altLang="en-US" sz="2800" smtClean="0">
                <a:hlinkClick r:id="rId8" action="ppaction://hlinksldjump"/>
              </a:rPr>
              <a:t>找出平均启动距离最小的启动循环或恒定循环</a:t>
            </a:r>
            <a:endParaRPr lang="zh-CN" altLang="en-US" sz="2800" smtClean="0"/>
          </a:p>
        </p:txBody>
      </p:sp>
      <p:sp>
        <p:nvSpPr>
          <p:cNvPr id="6144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12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9" name="projctor.wav"/>
      </p:stSnd>
    </p:sndAc>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2834" name="Rectangle 2"/>
          <p:cNvSpPr>
            <a:spLocks noGrp="1" noChangeArrowheads="1"/>
          </p:cNvSpPr>
          <p:nvPr>
            <p:ph type="title"/>
          </p:nvPr>
        </p:nvSpPr>
        <p:spPr/>
        <p:txBody>
          <a:bodyPr/>
          <a:lstStyle/>
          <a:p>
            <a:pPr eaLnBrk="1" hangingPunct="1">
              <a:defRPr/>
            </a:pPr>
            <a:r>
              <a:rPr lang="zh-CN" altLang="en-US" smtClean="0"/>
              <a:t>步骤一</a:t>
            </a:r>
            <a:endParaRPr lang="zh-CN" altLang="en-US" smtClean="0"/>
          </a:p>
        </p:txBody>
      </p:sp>
      <p:sp>
        <p:nvSpPr>
          <p:cNvPr id="6246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无冲突调度方法</a:t>
            </a:r>
            <a:endParaRPr lang="zh-CN" altLang="en-US" sz="1200" b="0">
              <a:latin typeface="Times New Roman" panose="02020603050405020304" pitchFamily="18" charset="0"/>
              <a:ea typeface="幼圆" panose="02010509060101010101" pitchFamily="49" charset="-122"/>
            </a:endParaRPr>
          </a:p>
        </p:txBody>
      </p:sp>
      <p:sp>
        <p:nvSpPr>
          <p:cNvPr id="62468" name="Rectangle 4"/>
          <p:cNvSpPr>
            <a:spLocks noGrp="1" noChangeArrowheads="1"/>
          </p:cNvSpPr>
          <p:nvPr>
            <p:ph type="body" idx="1"/>
          </p:nvPr>
        </p:nvSpPr>
        <p:spPr>
          <a:xfrm>
            <a:off x="809625" y="1989138"/>
            <a:ext cx="7958138" cy="687387"/>
          </a:xfrm>
          <a:solidFill>
            <a:srgbClr val="FFFF00"/>
          </a:solidFill>
          <a:ln w="57150" cmpd="thickThin">
            <a:solidFill>
              <a:schemeClr val="tx1"/>
            </a:solidFill>
            <a:miter lim="800000"/>
          </a:ln>
          <a:effectLst>
            <a:outerShdw dist="35921" dir="2700000" algn="ctr" rotWithShape="0">
              <a:schemeClr val="bg2"/>
            </a:outerShdw>
          </a:effectLst>
        </p:spPr>
        <p:txBody>
          <a:bodyPr/>
          <a:lstStyle/>
          <a:p>
            <a:pPr eaLnBrk="1" hangingPunct="1"/>
            <a:r>
              <a:rPr lang="zh-CN" altLang="en-US" smtClean="0"/>
              <a:t>由预约表得到禁止向量</a:t>
            </a:r>
            <a:endParaRPr lang="zh-CN" altLang="en-US" smtClean="0"/>
          </a:p>
        </p:txBody>
      </p:sp>
      <p:sp>
        <p:nvSpPr>
          <p:cNvPr id="632837" name="Rectangle 5"/>
          <p:cNvSpPr>
            <a:spLocks noChangeArrowheads="1"/>
          </p:cNvSpPr>
          <p:nvPr/>
        </p:nvSpPr>
        <p:spPr bwMode="auto">
          <a:xfrm>
            <a:off x="914400" y="2971800"/>
            <a:ext cx="7958138" cy="3276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054100" indent="-1054100">
              <a:spcBef>
                <a:spcPct val="0"/>
              </a:spcBef>
              <a:defRPr kumimoji="1" sz="2400">
                <a:solidFill>
                  <a:schemeClr val="tx1"/>
                </a:solidFill>
                <a:latin typeface="Times New Roman" panose="02020603050405020304" pitchFamily="18" charset="0"/>
                <a:ea typeface="宋体" panose="02010600030101010101" pitchFamily="2" charset="-122"/>
              </a:defRPr>
            </a:lvl1pPr>
            <a:lvl2pPr marL="1717675" indent="-285750">
              <a:spcBef>
                <a:spcPct val="0"/>
              </a:spcBef>
              <a:defRPr kumimoji="1" sz="2400">
                <a:solidFill>
                  <a:schemeClr val="tx1"/>
                </a:solidFill>
                <a:latin typeface="Times New Roman" panose="02020603050405020304" pitchFamily="18" charset="0"/>
                <a:ea typeface="宋体" panose="02010600030101010101" pitchFamily="2" charset="-122"/>
              </a:defRPr>
            </a:lvl2pPr>
            <a:lvl3pPr marL="2136775" indent="-228600">
              <a:spcBef>
                <a:spcPct val="0"/>
              </a:spcBef>
              <a:defRPr kumimoji="1" sz="2400">
                <a:solidFill>
                  <a:schemeClr val="tx1"/>
                </a:solidFill>
                <a:latin typeface="Times New Roman" panose="02020603050405020304" pitchFamily="18" charset="0"/>
                <a:ea typeface="宋体" panose="02010600030101010101" pitchFamily="2" charset="-122"/>
              </a:defRPr>
            </a:lvl3pPr>
            <a:lvl4pPr marL="2555875" indent="-228600">
              <a:spcBef>
                <a:spcPct val="0"/>
              </a:spcBef>
              <a:defRPr kumimoji="1" sz="2400">
                <a:solidFill>
                  <a:schemeClr val="tx1"/>
                </a:solidFill>
                <a:latin typeface="Times New Roman" panose="02020603050405020304" pitchFamily="18" charset="0"/>
                <a:ea typeface="宋体" panose="02010600030101010101" pitchFamily="2" charset="-122"/>
              </a:defRPr>
            </a:lvl4pPr>
            <a:lvl5pPr marL="2974975" indent="-228600">
              <a:spcBef>
                <a:spcPct val="0"/>
              </a:spcBef>
              <a:defRPr kumimoji="1" sz="2400">
                <a:solidFill>
                  <a:schemeClr val="tx1"/>
                </a:solidFill>
                <a:latin typeface="Times New Roman" panose="02020603050405020304" pitchFamily="18" charset="0"/>
                <a:ea typeface="宋体" panose="02010600030101010101" pitchFamily="2" charset="-122"/>
              </a:defRPr>
            </a:lvl5pPr>
            <a:lvl6pPr marL="34321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38893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43465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48037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spcBef>
                <a:spcPct val="20000"/>
              </a:spcBef>
              <a:defRPr/>
            </a:pPr>
            <a:r>
              <a:rPr lang="zh-CN" altLang="en-US" sz="2800" b="1" smtClean="0">
                <a:solidFill>
                  <a:srgbClr val="FF0000"/>
                </a:solidFill>
                <a:effectLst>
                  <a:outerShdw blurRad="38100" dist="38100" dir="2700000" algn="tl">
                    <a:srgbClr val="C0C0C0"/>
                  </a:outerShdw>
                </a:effectLst>
                <a:latin typeface="Arial" panose="020B0604020202020204" pitchFamily="34" charset="0"/>
                <a:ea typeface="楷体_GB2312" pitchFamily="49" charset="-122"/>
              </a:rPr>
              <a:t>定义：</a:t>
            </a:r>
            <a:r>
              <a:rPr lang="zh-CN" altLang="en-US" sz="2800" b="1" smtClean="0">
                <a:latin typeface="Arial" panose="020B0604020202020204" pitchFamily="34" charset="0"/>
                <a:ea typeface="楷体_GB2312" pitchFamily="49" charset="-122"/>
              </a:rPr>
              <a:t>将一条非线性流水线的所有各功能段禁止启动距离组合在一起形成的数列。</a:t>
            </a:r>
            <a:endParaRPr lang="zh-CN" altLang="en-US" sz="2800" b="1" smtClean="0">
              <a:latin typeface="Arial" panose="020B0604020202020204" pitchFamily="34" charset="0"/>
              <a:ea typeface="楷体_GB2312" pitchFamily="49" charset="-122"/>
            </a:endParaRPr>
          </a:p>
          <a:p>
            <a:pPr>
              <a:spcBef>
                <a:spcPct val="20000"/>
              </a:spcBef>
              <a:defRPr/>
            </a:pPr>
            <a:r>
              <a:rPr lang="zh-CN" altLang="en-US" sz="2800" b="1" smtClean="0">
                <a:solidFill>
                  <a:srgbClr val="FF0000"/>
                </a:solidFill>
                <a:effectLst>
                  <a:outerShdw blurRad="38100" dist="38100" dir="2700000" algn="tl">
                    <a:srgbClr val="C0C0C0"/>
                  </a:outerShdw>
                </a:effectLst>
                <a:latin typeface="Arial" panose="020B0604020202020204" pitchFamily="34" charset="0"/>
                <a:ea typeface="楷体_GB2312" pitchFamily="49" charset="-122"/>
              </a:rPr>
              <a:t>计算：</a:t>
            </a:r>
            <a:r>
              <a:rPr lang="zh-CN" altLang="en-US" sz="2800" b="1" smtClean="0">
                <a:latin typeface="Arial" panose="020B0604020202020204" pitchFamily="34" charset="0"/>
                <a:ea typeface="楷体_GB2312" pitchFamily="49" charset="-122"/>
              </a:rPr>
              <a:t>将预约表中的每一行中任意两个“×”之间的距离都计算出来，去掉重复的，由这些数形成禁止向量。</a:t>
            </a:r>
            <a:endParaRPr lang="zh-CN" altLang="en-US" sz="2800" b="1" smtClean="0">
              <a:latin typeface="Arial" panose="020B0604020202020204" pitchFamily="34" charset="0"/>
              <a:ea typeface="楷体_GB2312" pitchFamily="49" charset="-122"/>
            </a:endParaRPr>
          </a:p>
          <a:p>
            <a:pPr>
              <a:spcBef>
                <a:spcPct val="20000"/>
              </a:spcBef>
              <a:defRPr/>
            </a:pPr>
            <a:r>
              <a:rPr lang="zh-CN" altLang="en-US" sz="2800" b="1" smtClean="0">
                <a:solidFill>
                  <a:srgbClr val="FF0000"/>
                </a:solidFill>
                <a:effectLst>
                  <a:outerShdw blurRad="38100" dist="38100" dir="2700000" algn="tl">
                    <a:srgbClr val="C0C0C0"/>
                  </a:outerShdw>
                </a:effectLst>
                <a:latin typeface="Arial" panose="020B0604020202020204" pitchFamily="34" charset="0"/>
                <a:ea typeface="楷体_GB2312" pitchFamily="49" charset="-122"/>
              </a:rPr>
              <a:t>例子：</a:t>
            </a:r>
            <a:r>
              <a:rPr lang="zh-CN" altLang="en-US" sz="2800" b="1" smtClean="0">
                <a:latin typeface="Arial" panose="020B0604020202020204" pitchFamily="34" charset="0"/>
                <a:ea typeface="楷体_GB2312" pitchFamily="49" charset="-122"/>
              </a:rPr>
              <a:t>上例所示非线性流水线的禁止向量为（2，4，6）。</a:t>
            </a:r>
            <a:endParaRPr lang="zh-CN" altLang="en-US" sz="2800" b="1" smtClean="0">
              <a:latin typeface="Arial" panose="020B0604020202020204" pitchFamily="34" charset="0"/>
              <a:ea typeface="楷体_GB2312" pitchFamily="49" charset="-122"/>
            </a:endParaRPr>
          </a:p>
        </p:txBody>
      </p:sp>
      <p:sp>
        <p:nvSpPr>
          <p:cNvPr id="62470"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12 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3858" name="Rectangle 2"/>
          <p:cNvSpPr>
            <a:spLocks noGrp="1" noChangeArrowheads="1"/>
          </p:cNvSpPr>
          <p:nvPr>
            <p:ph type="title"/>
          </p:nvPr>
        </p:nvSpPr>
        <p:spPr/>
        <p:txBody>
          <a:bodyPr/>
          <a:lstStyle/>
          <a:p>
            <a:pPr eaLnBrk="1" hangingPunct="1">
              <a:defRPr/>
            </a:pPr>
            <a:r>
              <a:rPr lang="zh-CN" altLang="en-US" smtClean="0"/>
              <a:t>步骤二</a:t>
            </a:r>
            <a:endParaRPr lang="zh-CN" altLang="en-US" smtClean="0"/>
          </a:p>
        </p:txBody>
      </p:sp>
      <p:sp>
        <p:nvSpPr>
          <p:cNvPr id="634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无冲突调度方法</a:t>
            </a:r>
            <a:endParaRPr lang="zh-CN" altLang="en-US" sz="1200" b="0">
              <a:latin typeface="Times New Roman" panose="02020603050405020304" pitchFamily="18" charset="0"/>
              <a:ea typeface="幼圆" panose="02010509060101010101" pitchFamily="49" charset="-122"/>
            </a:endParaRPr>
          </a:p>
        </p:txBody>
      </p:sp>
      <p:sp>
        <p:nvSpPr>
          <p:cNvPr id="63492" name="Rectangle 4"/>
          <p:cNvSpPr>
            <a:spLocks noGrp="1" noChangeArrowheads="1"/>
          </p:cNvSpPr>
          <p:nvPr>
            <p:ph type="body" idx="1"/>
          </p:nvPr>
        </p:nvSpPr>
        <p:spPr>
          <a:xfrm>
            <a:off x="809625" y="1989138"/>
            <a:ext cx="7958138" cy="687387"/>
          </a:xfrm>
          <a:solidFill>
            <a:srgbClr val="FFFF00"/>
          </a:solidFill>
          <a:ln w="57150" cap="flat" cmpd="thickThin">
            <a:solidFill>
              <a:schemeClr val="tx1"/>
            </a:solidFill>
            <a:miter lim="800000"/>
          </a:ln>
          <a:effectLst>
            <a:outerShdw dist="35921" dir="2700000" algn="ctr" rotWithShape="0">
              <a:schemeClr val="bg2"/>
            </a:outerShdw>
          </a:effectLst>
        </p:spPr>
        <p:txBody>
          <a:bodyPr/>
          <a:lstStyle/>
          <a:p>
            <a:pPr eaLnBrk="1" hangingPunct="1"/>
            <a:r>
              <a:rPr lang="zh-CN" altLang="en-US" smtClean="0"/>
              <a:t>由禁止向量得到冲突向量</a:t>
            </a:r>
            <a:endParaRPr lang="zh-CN" altLang="en-US" smtClean="0"/>
          </a:p>
        </p:txBody>
      </p:sp>
      <p:sp>
        <p:nvSpPr>
          <p:cNvPr id="633861" name="Rectangle 5"/>
          <p:cNvSpPr>
            <a:spLocks noChangeArrowheads="1"/>
          </p:cNvSpPr>
          <p:nvPr/>
        </p:nvSpPr>
        <p:spPr bwMode="auto">
          <a:xfrm>
            <a:off x="755650" y="2852738"/>
            <a:ext cx="7958138" cy="3409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079500" indent="-1079500">
              <a:spcBef>
                <a:spcPct val="0"/>
              </a:spcBef>
              <a:defRPr kumimoji="1" sz="2400">
                <a:solidFill>
                  <a:schemeClr val="tx1"/>
                </a:solidFill>
                <a:latin typeface="Times New Roman" panose="02020603050405020304" pitchFamily="18" charset="0"/>
                <a:ea typeface="宋体" panose="02010600030101010101" pitchFamily="2" charset="-122"/>
              </a:defRPr>
            </a:lvl1pPr>
            <a:lvl2pPr marL="1717675" indent="-285750">
              <a:spcBef>
                <a:spcPct val="0"/>
              </a:spcBef>
              <a:defRPr kumimoji="1" sz="2400">
                <a:solidFill>
                  <a:schemeClr val="tx1"/>
                </a:solidFill>
                <a:latin typeface="Times New Roman" panose="02020603050405020304" pitchFamily="18" charset="0"/>
                <a:ea typeface="宋体" panose="02010600030101010101" pitchFamily="2" charset="-122"/>
              </a:defRPr>
            </a:lvl2pPr>
            <a:lvl3pPr marL="2136775" indent="-228600">
              <a:spcBef>
                <a:spcPct val="0"/>
              </a:spcBef>
              <a:defRPr kumimoji="1" sz="2400">
                <a:solidFill>
                  <a:schemeClr val="tx1"/>
                </a:solidFill>
                <a:latin typeface="Times New Roman" panose="02020603050405020304" pitchFamily="18" charset="0"/>
                <a:ea typeface="宋体" panose="02010600030101010101" pitchFamily="2" charset="-122"/>
              </a:defRPr>
            </a:lvl3pPr>
            <a:lvl4pPr marL="2555875" indent="-228600">
              <a:spcBef>
                <a:spcPct val="0"/>
              </a:spcBef>
              <a:defRPr kumimoji="1" sz="2400">
                <a:solidFill>
                  <a:schemeClr val="tx1"/>
                </a:solidFill>
                <a:latin typeface="Times New Roman" panose="02020603050405020304" pitchFamily="18" charset="0"/>
                <a:ea typeface="宋体" panose="02010600030101010101" pitchFamily="2" charset="-122"/>
              </a:defRPr>
            </a:lvl4pPr>
            <a:lvl5pPr marL="2974975" indent="-228600">
              <a:spcBef>
                <a:spcPct val="0"/>
              </a:spcBef>
              <a:defRPr kumimoji="1" sz="2400">
                <a:solidFill>
                  <a:schemeClr val="tx1"/>
                </a:solidFill>
                <a:latin typeface="Times New Roman" panose="02020603050405020304" pitchFamily="18" charset="0"/>
                <a:ea typeface="宋体" panose="02010600030101010101" pitchFamily="2" charset="-122"/>
              </a:defRPr>
            </a:lvl5pPr>
            <a:lvl6pPr marL="34321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38893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43465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48037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nSpc>
                <a:spcPct val="110000"/>
              </a:lnSpc>
              <a:spcBef>
                <a:spcPct val="20000"/>
              </a:spcBef>
              <a:defRPr/>
            </a:pPr>
            <a:r>
              <a:rPr lang="zh-CN" altLang="en-US" sz="2800" b="1" smtClean="0">
                <a:solidFill>
                  <a:srgbClr val="FF0000"/>
                </a:solidFill>
                <a:effectLst>
                  <a:outerShdw blurRad="38100" dist="38100" dir="2700000" algn="tl">
                    <a:srgbClr val="C0C0C0"/>
                  </a:outerShdw>
                </a:effectLst>
                <a:latin typeface="Arial" panose="020B0604020202020204" pitchFamily="34" charset="0"/>
                <a:ea typeface="楷体_GB2312" pitchFamily="49" charset="-122"/>
              </a:rPr>
              <a:t>概念：</a:t>
            </a:r>
            <a:r>
              <a:rPr lang="zh-CN" altLang="en-US" sz="2800" b="1" smtClean="0">
                <a:latin typeface="Arial" panose="020B0604020202020204" pitchFamily="34" charset="0"/>
                <a:ea typeface="楷体_GB2312" pitchFamily="49" charset="-122"/>
              </a:rPr>
              <a:t>冲突向量用一个</a:t>
            </a:r>
            <a:r>
              <a:rPr lang="en-US" altLang="zh-CN" sz="2800" b="1" smtClean="0">
                <a:latin typeface="Arial" panose="020B0604020202020204" pitchFamily="34" charset="0"/>
                <a:ea typeface="楷体_GB2312" pitchFamily="49" charset="-122"/>
              </a:rPr>
              <a:t>m</a:t>
            </a:r>
            <a:r>
              <a:rPr lang="zh-CN" altLang="en-US" sz="2800" b="1" smtClean="0">
                <a:latin typeface="Arial" panose="020B0604020202020204" pitchFamily="34" charset="0"/>
                <a:ea typeface="楷体_GB2312" pitchFamily="49" charset="-122"/>
              </a:rPr>
              <a:t>位的二进制数表示（其中</a:t>
            </a:r>
            <a:r>
              <a:rPr lang="en-US" altLang="zh-CN" sz="2800" b="1" smtClean="0">
                <a:latin typeface="Arial" panose="020B0604020202020204" pitchFamily="34" charset="0"/>
                <a:ea typeface="楷体_GB2312" pitchFamily="49" charset="-122"/>
              </a:rPr>
              <a:t>m</a:t>
            </a:r>
            <a:r>
              <a:rPr lang="zh-CN" altLang="en-US" sz="2800" b="1" smtClean="0">
                <a:latin typeface="Arial" panose="020B0604020202020204" pitchFamily="34" charset="0"/>
                <a:ea typeface="楷体_GB2312" pitchFamily="49" charset="-122"/>
              </a:rPr>
              <a:t>是禁止向量中的最大值），一般格式为</a:t>
            </a:r>
            <a:r>
              <a:rPr lang="en-US" altLang="zh-CN" sz="2800" b="1" smtClean="0">
                <a:latin typeface="Arial" panose="020B0604020202020204" pitchFamily="34" charset="0"/>
                <a:ea typeface="楷体_GB2312" pitchFamily="49" charset="-122"/>
              </a:rPr>
              <a:t>C=（C</a:t>
            </a:r>
            <a:r>
              <a:rPr lang="en-US" altLang="zh-CN" sz="2800" b="1" baseline="-25000" smtClean="0">
                <a:latin typeface="Arial" panose="020B0604020202020204" pitchFamily="34" charset="0"/>
                <a:ea typeface="楷体_GB2312" pitchFamily="49" charset="-122"/>
              </a:rPr>
              <a:t>m</a:t>
            </a:r>
            <a:r>
              <a:rPr lang="en-US" altLang="zh-CN" sz="2800" b="1" smtClean="0">
                <a:latin typeface="Arial" panose="020B0604020202020204" pitchFamily="34" charset="0"/>
                <a:ea typeface="楷体_GB2312" pitchFamily="49" charset="-122"/>
              </a:rPr>
              <a:t>C</a:t>
            </a:r>
            <a:r>
              <a:rPr lang="en-US" altLang="zh-CN" sz="2800" b="1" baseline="-25000" smtClean="0">
                <a:latin typeface="Arial" panose="020B0604020202020204" pitchFamily="34" charset="0"/>
                <a:ea typeface="楷体_GB2312" pitchFamily="49" charset="-122"/>
              </a:rPr>
              <a:t>m-1</a:t>
            </a:r>
            <a:r>
              <a:rPr lang="en-US" altLang="zh-CN" sz="2800" b="1" smtClean="0">
                <a:latin typeface="Arial" panose="020B0604020202020204" pitchFamily="34" charset="0"/>
                <a:ea typeface="楷体_GB2312" pitchFamily="49" charset="-122"/>
              </a:rPr>
              <a:t>…C</a:t>
            </a:r>
            <a:r>
              <a:rPr lang="en-US" altLang="zh-CN" sz="2800" b="1" baseline="-25000" smtClean="0">
                <a:latin typeface="Arial" panose="020B0604020202020204" pitchFamily="34" charset="0"/>
                <a:ea typeface="楷体_GB2312" pitchFamily="49" charset="-122"/>
              </a:rPr>
              <a:t>i</a:t>
            </a:r>
            <a:r>
              <a:rPr lang="en-US" altLang="zh-CN" sz="2800" b="1" smtClean="0">
                <a:latin typeface="Arial" panose="020B0604020202020204" pitchFamily="34" charset="0"/>
                <a:ea typeface="楷体_GB2312" pitchFamily="49" charset="-122"/>
              </a:rPr>
              <a:t>…C</a:t>
            </a:r>
            <a:r>
              <a:rPr lang="en-US" altLang="zh-CN" sz="2800" b="1" baseline="-25000" smtClean="0">
                <a:latin typeface="Arial" panose="020B0604020202020204" pitchFamily="34" charset="0"/>
                <a:ea typeface="楷体_GB2312" pitchFamily="49" charset="-122"/>
              </a:rPr>
              <a:t>2</a:t>
            </a:r>
            <a:r>
              <a:rPr lang="en-US" altLang="zh-CN" sz="2800" b="1" smtClean="0">
                <a:latin typeface="Arial" panose="020B0604020202020204" pitchFamily="34" charset="0"/>
                <a:ea typeface="楷体_GB2312" pitchFamily="49" charset="-122"/>
              </a:rPr>
              <a:t>C</a:t>
            </a:r>
            <a:r>
              <a:rPr lang="en-US" altLang="zh-CN" sz="2800" b="1" baseline="-25000" smtClean="0">
                <a:latin typeface="Arial" panose="020B0604020202020204" pitchFamily="34" charset="0"/>
                <a:ea typeface="楷体_GB2312" pitchFamily="49" charset="-122"/>
              </a:rPr>
              <a:t>1</a:t>
            </a:r>
            <a:r>
              <a:rPr lang="en-US" altLang="zh-CN" sz="2800" b="1" smtClean="0">
                <a:latin typeface="Arial" panose="020B0604020202020204" pitchFamily="34" charset="0"/>
                <a:ea typeface="楷体_GB2312" pitchFamily="49" charset="-122"/>
              </a:rPr>
              <a:t>），</a:t>
            </a:r>
            <a:r>
              <a:rPr lang="zh-CN" altLang="en-US" sz="2800" b="1" smtClean="0">
                <a:latin typeface="Arial" panose="020B0604020202020204" pitchFamily="34" charset="0"/>
                <a:ea typeface="楷体_GB2312" pitchFamily="49" charset="-122"/>
              </a:rPr>
              <a:t>若</a:t>
            </a:r>
            <a:r>
              <a:rPr lang="en-US" altLang="zh-CN" sz="2800" b="1" smtClean="0">
                <a:latin typeface="Arial" panose="020B0604020202020204" pitchFamily="34" charset="0"/>
                <a:ea typeface="楷体_GB2312" pitchFamily="49" charset="-122"/>
              </a:rPr>
              <a:t>i</a:t>
            </a:r>
            <a:r>
              <a:rPr lang="zh-CN" altLang="en-US" sz="2800" b="1" smtClean="0">
                <a:latin typeface="Arial" panose="020B0604020202020204" pitchFamily="34" charset="0"/>
                <a:ea typeface="楷体_GB2312" pitchFamily="49" charset="-122"/>
              </a:rPr>
              <a:t>在禁止向量中，则</a:t>
            </a:r>
            <a:r>
              <a:rPr lang="en-US" altLang="zh-CN" sz="2800" b="1" smtClean="0">
                <a:latin typeface="Arial" panose="020B0604020202020204" pitchFamily="34" charset="0"/>
                <a:ea typeface="楷体_GB2312" pitchFamily="49" charset="-122"/>
              </a:rPr>
              <a:t>C</a:t>
            </a:r>
            <a:r>
              <a:rPr lang="en-US" altLang="zh-CN" sz="2800" b="1" baseline="-25000" smtClean="0">
                <a:latin typeface="Arial" panose="020B0604020202020204" pitchFamily="34" charset="0"/>
                <a:ea typeface="楷体_GB2312" pitchFamily="49" charset="-122"/>
              </a:rPr>
              <a:t>i</a:t>
            </a:r>
            <a:r>
              <a:rPr lang="en-US" altLang="zh-CN" sz="2800" b="1" smtClean="0">
                <a:latin typeface="Arial" panose="020B0604020202020204" pitchFamily="34" charset="0"/>
                <a:ea typeface="楷体_GB2312" pitchFamily="49" charset="-122"/>
              </a:rPr>
              <a:t> =1，</a:t>
            </a:r>
            <a:r>
              <a:rPr lang="zh-CN" altLang="en-US" sz="2800" b="1" smtClean="0">
                <a:latin typeface="Arial" panose="020B0604020202020204" pitchFamily="34" charset="0"/>
                <a:ea typeface="楷体_GB2312" pitchFamily="49" charset="-122"/>
              </a:rPr>
              <a:t>否则</a:t>
            </a:r>
            <a:r>
              <a:rPr lang="en-US" altLang="zh-CN" sz="2800" b="1" smtClean="0">
                <a:latin typeface="Arial" panose="020B0604020202020204" pitchFamily="34" charset="0"/>
                <a:ea typeface="楷体_GB2312" pitchFamily="49" charset="-122"/>
              </a:rPr>
              <a:t>C</a:t>
            </a:r>
            <a:r>
              <a:rPr lang="en-US" altLang="zh-CN" sz="2800" b="1" baseline="-25000" smtClean="0">
                <a:latin typeface="Arial" panose="020B0604020202020204" pitchFamily="34" charset="0"/>
                <a:ea typeface="楷体_GB2312" pitchFamily="49" charset="-122"/>
              </a:rPr>
              <a:t>i</a:t>
            </a:r>
            <a:r>
              <a:rPr lang="en-US" altLang="zh-CN" sz="2800" b="1" smtClean="0">
                <a:latin typeface="Arial" panose="020B0604020202020204" pitchFamily="34" charset="0"/>
                <a:ea typeface="楷体_GB2312" pitchFamily="49" charset="-122"/>
              </a:rPr>
              <a:t> =0，</a:t>
            </a:r>
            <a:r>
              <a:rPr lang="zh-CN" altLang="en-US" sz="2800" b="1" smtClean="0">
                <a:latin typeface="Arial" panose="020B0604020202020204" pitchFamily="34" charset="0"/>
                <a:ea typeface="楷体_GB2312" pitchFamily="49" charset="-122"/>
              </a:rPr>
              <a:t>其中</a:t>
            </a:r>
            <a:r>
              <a:rPr lang="en-US" altLang="zh-CN" sz="2800" b="1" smtClean="0">
                <a:latin typeface="Arial" panose="020B0604020202020204" pitchFamily="34" charset="0"/>
                <a:ea typeface="楷体_GB2312" pitchFamily="49" charset="-122"/>
              </a:rPr>
              <a:t>C</a:t>
            </a:r>
            <a:r>
              <a:rPr lang="en-US" altLang="zh-CN" sz="2800" b="1" baseline="-25000" smtClean="0">
                <a:latin typeface="Arial" panose="020B0604020202020204" pitchFamily="34" charset="0"/>
                <a:ea typeface="楷体_GB2312" pitchFamily="49" charset="-122"/>
              </a:rPr>
              <a:t>m</a:t>
            </a:r>
            <a:r>
              <a:rPr lang="zh-CN" altLang="en-US" sz="2800" b="1" smtClean="0">
                <a:latin typeface="Arial" panose="020B0604020202020204" pitchFamily="34" charset="0"/>
                <a:ea typeface="楷体_GB2312" pitchFamily="49" charset="-122"/>
              </a:rPr>
              <a:t>一定为1。</a:t>
            </a:r>
            <a:endParaRPr lang="zh-CN" altLang="en-US" sz="2800" b="1" smtClean="0">
              <a:latin typeface="Arial" panose="020B0604020202020204" pitchFamily="34" charset="0"/>
              <a:ea typeface="楷体_GB2312" pitchFamily="49" charset="-122"/>
            </a:endParaRPr>
          </a:p>
          <a:p>
            <a:pPr>
              <a:lnSpc>
                <a:spcPct val="110000"/>
              </a:lnSpc>
              <a:spcBef>
                <a:spcPct val="20000"/>
              </a:spcBef>
              <a:defRPr/>
            </a:pPr>
            <a:r>
              <a:rPr lang="zh-CN" altLang="en-US" sz="2800" b="1" smtClean="0">
                <a:solidFill>
                  <a:srgbClr val="FF0000"/>
                </a:solidFill>
                <a:effectLst>
                  <a:outerShdw blurRad="38100" dist="38100" dir="2700000" algn="tl">
                    <a:srgbClr val="C0C0C0"/>
                  </a:outerShdw>
                </a:effectLst>
                <a:latin typeface="Arial" panose="020B0604020202020204" pitchFamily="34" charset="0"/>
                <a:ea typeface="楷体_GB2312" pitchFamily="49" charset="-122"/>
              </a:rPr>
              <a:t>例子：</a:t>
            </a:r>
            <a:r>
              <a:rPr lang="zh-CN" altLang="en-US" sz="2800" b="1" smtClean="0">
                <a:latin typeface="Arial" panose="020B0604020202020204" pitchFamily="34" charset="0"/>
                <a:ea typeface="楷体_GB2312" pitchFamily="49" charset="-122"/>
              </a:rPr>
              <a:t>上例所示非线性流水线的冲突向量为</a:t>
            </a:r>
            <a:r>
              <a:rPr lang="en-US" altLang="zh-CN" sz="2800" b="1" smtClean="0">
                <a:latin typeface="Arial" panose="020B0604020202020204" pitchFamily="34" charset="0"/>
                <a:ea typeface="楷体_GB2312" pitchFamily="49" charset="-122"/>
              </a:rPr>
              <a:t>C=（101010）</a:t>
            </a:r>
            <a:r>
              <a:rPr lang="zh-CN" altLang="en-US" sz="2800" b="1" smtClean="0">
                <a:latin typeface="Arial" panose="020B0604020202020204" pitchFamily="34" charset="0"/>
                <a:ea typeface="楷体_GB2312" pitchFamily="49" charset="-122"/>
              </a:rPr>
              <a:t>。</a:t>
            </a:r>
            <a:endParaRPr lang="zh-CN" altLang="en-US" sz="2800" b="1" smtClean="0">
              <a:latin typeface="Arial" panose="020B0604020202020204" pitchFamily="34" charset="0"/>
              <a:ea typeface="楷体_GB2312" pitchFamily="49" charset="-122"/>
            </a:endParaRPr>
          </a:p>
        </p:txBody>
      </p:sp>
      <p:sp>
        <p:nvSpPr>
          <p:cNvPr id="63494"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12 之 4</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82" name="Rectangle 2"/>
          <p:cNvSpPr>
            <a:spLocks noGrp="1" noChangeArrowheads="1"/>
          </p:cNvSpPr>
          <p:nvPr>
            <p:ph type="title"/>
          </p:nvPr>
        </p:nvSpPr>
        <p:spPr/>
        <p:txBody>
          <a:bodyPr/>
          <a:lstStyle/>
          <a:p>
            <a:pPr eaLnBrk="1" hangingPunct="1">
              <a:defRPr/>
            </a:pPr>
            <a:r>
              <a:rPr lang="zh-CN" altLang="en-US" smtClean="0"/>
              <a:t>步骤三（1）</a:t>
            </a:r>
            <a:endParaRPr lang="zh-CN" altLang="en-US" smtClean="0"/>
          </a:p>
        </p:txBody>
      </p:sp>
      <p:sp>
        <p:nvSpPr>
          <p:cNvPr id="6451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无冲突调度方法</a:t>
            </a:r>
            <a:endParaRPr lang="zh-CN" altLang="en-US" sz="1200" b="0">
              <a:latin typeface="Times New Roman" panose="02020603050405020304" pitchFamily="18" charset="0"/>
              <a:ea typeface="幼圆" panose="02010509060101010101" pitchFamily="49" charset="-122"/>
            </a:endParaRPr>
          </a:p>
        </p:txBody>
      </p:sp>
      <p:sp>
        <p:nvSpPr>
          <p:cNvPr id="64516" name="Rectangle 4"/>
          <p:cNvSpPr>
            <a:spLocks noGrp="1" noChangeArrowheads="1"/>
          </p:cNvSpPr>
          <p:nvPr>
            <p:ph type="body" idx="1"/>
          </p:nvPr>
        </p:nvSpPr>
        <p:spPr>
          <a:xfrm>
            <a:off x="809625" y="1989138"/>
            <a:ext cx="7958138" cy="687387"/>
          </a:xfrm>
          <a:solidFill>
            <a:srgbClr val="FFFF00"/>
          </a:solidFill>
          <a:ln w="57150" cap="flat" cmpd="thickThin">
            <a:solidFill>
              <a:schemeClr val="tx1"/>
            </a:solidFill>
            <a:miter lim="800000"/>
          </a:ln>
          <a:effectLst>
            <a:outerShdw dist="35921" dir="2700000" algn="ctr" rotWithShape="0">
              <a:schemeClr val="bg2"/>
            </a:outerShdw>
          </a:effectLst>
        </p:spPr>
        <p:txBody>
          <a:bodyPr/>
          <a:lstStyle/>
          <a:p>
            <a:pPr eaLnBrk="1" hangingPunct="1"/>
            <a:r>
              <a:rPr lang="zh-CN" altLang="en-US" smtClean="0"/>
              <a:t>由冲突向量构造调度流水线的状态图</a:t>
            </a:r>
            <a:endParaRPr lang="zh-CN" altLang="en-US" smtClean="0"/>
          </a:p>
        </p:txBody>
      </p:sp>
      <p:sp>
        <p:nvSpPr>
          <p:cNvPr id="64517" name="Rectangle 5"/>
          <p:cNvSpPr>
            <a:spLocks noChangeArrowheads="1"/>
          </p:cNvSpPr>
          <p:nvPr/>
        </p:nvSpPr>
        <p:spPr bwMode="auto">
          <a:xfrm>
            <a:off x="900113" y="2708275"/>
            <a:ext cx="7958137" cy="3744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57200" indent="-457200" eaLnBrk="0" hangingPunct="0">
              <a:buChar char="w"/>
              <a:defRPr kumimoji="1" sz="3200" b="1">
                <a:solidFill>
                  <a:schemeClr val="tx1"/>
                </a:solidFill>
                <a:latin typeface="Arial" panose="020B0604020202020204" pitchFamily="34" charset="0"/>
                <a:ea typeface="楷体_GB2312" pitchFamily="49" charset="-122"/>
              </a:defRPr>
            </a:lvl1pPr>
            <a:lvl2pPr marL="914400" indent="-45720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314450" indent="-4572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57350" indent="-4572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00250" indent="-4572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457450" indent="-4572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14650" indent="-4572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371850" indent="-4572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29050" indent="-4572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AutoNum type="arabicPeriod"/>
            </a:pPr>
            <a:r>
              <a:rPr lang="zh-CN" altLang="en-US" sz="2400"/>
              <a:t>将冲突向量</a:t>
            </a:r>
            <a:r>
              <a:rPr lang="en-US" altLang="zh-CN" sz="2400"/>
              <a:t>C</a:t>
            </a:r>
            <a:r>
              <a:rPr lang="zh-CN" altLang="en-US" sz="2400"/>
              <a:t>作为初始冲突向量送入一个</a:t>
            </a:r>
            <a:r>
              <a:rPr lang="en-US" altLang="zh-CN" sz="2400"/>
              <a:t>m</a:t>
            </a:r>
            <a:r>
              <a:rPr lang="zh-CN" altLang="en-US" sz="2400"/>
              <a:t>位逻辑右移移位器，移位</a:t>
            </a:r>
            <a:r>
              <a:rPr lang="en-US" altLang="zh-CN" sz="2400"/>
              <a:t>m</a:t>
            </a:r>
            <a:r>
              <a:rPr lang="zh-CN" altLang="en-US" sz="2400"/>
              <a:t>次；</a:t>
            </a:r>
            <a:endParaRPr lang="zh-CN" altLang="en-US" sz="2400"/>
          </a:p>
          <a:p>
            <a:pPr lvl="1" eaLnBrk="1" hangingPunct="1">
              <a:buClr>
                <a:schemeClr val="tx1"/>
              </a:buClr>
              <a:buSzTx/>
              <a:buFont typeface="Wingdings" panose="05000000000000000000" pitchFamily="2" charset="2"/>
              <a:buChar char="w"/>
            </a:pPr>
            <a:r>
              <a:rPr lang="zh-CN" altLang="en-US" sz="2400"/>
              <a:t>若移出的是“0”，用移位器中的值与初始冲突向量作“按位或”运算，得到一个新的冲突向量；</a:t>
            </a:r>
            <a:endParaRPr lang="zh-CN" altLang="en-US" sz="2400"/>
          </a:p>
          <a:p>
            <a:pPr lvl="1" eaLnBrk="1" hangingPunct="1">
              <a:buClr>
                <a:schemeClr val="tx1"/>
              </a:buClr>
              <a:buSzTx/>
              <a:buFont typeface="Wingdings" panose="05000000000000000000" pitchFamily="2" charset="2"/>
              <a:buChar char="w"/>
            </a:pPr>
            <a:r>
              <a:rPr lang="zh-CN" altLang="en-US" sz="2400"/>
              <a:t>若移出的是“1”，不作任何处理。</a:t>
            </a:r>
            <a:endParaRPr lang="zh-CN" altLang="en-US" sz="2400"/>
          </a:p>
          <a:p>
            <a:pPr eaLnBrk="1" hangingPunct="1">
              <a:buFont typeface="Wingdings" panose="05000000000000000000" pitchFamily="2" charset="2"/>
              <a:buAutoNum type="arabicPeriod"/>
            </a:pPr>
            <a:r>
              <a:rPr lang="zh-CN" altLang="en-US" sz="2400"/>
              <a:t>将中间形成的每一个新的冲突向量同样处理；</a:t>
            </a:r>
            <a:endParaRPr lang="zh-CN" altLang="en-US" sz="2400"/>
          </a:p>
          <a:p>
            <a:pPr eaLnBrk="1" hangingPunct="1">
              <a:buFont typeface="Wingdings" panose="05000000000000000000" pitchFamily="2" charset="2"/>
              <a:buAutoNum type="arabicPeriod"/>
            </a:pPr>
            <a:r>
              <a:rPr lang="zh-CN" altLang="en-US" sz="2400"/>
              <a:t>画出状态图。</a:t>
            </a:r>
            <a:endParaRPr lang="zh-CN" altLang="en-US" sz="2400"/>
          </a:p>
          <a:p>
            <a:pPr eaLnBrk="1" hangingPunct="1">
              <a:buFont typeface="Wingdings" panose="05000000000000000000" pitchFamily="2" charset="2"/>
              <a:buNone/>
            </a:pPr>
            <a:r>
              <a:rPr lang="zh-CN" altLang="en-US" sz="2400"/>
              <a:t>	    在初始冲突向量和所有的新形成的冲突向量之间用带箭头的线连接，表示各种状态之间的转换关系。</a:t>
            </a:r>
            <a:endParaRPr lang="zh-CN" altLang="en-US" sz="2400"/>
          </a:p>
        </p:txBody>
      </p:sp>
      <p:sp>
        <p:nvSpPr>
          <p:cNvPr id="64518"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12 之 5</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7954" name="Rectangle 2"/>
          <p:cNvSpPr>
            <a:spLocks noGrp="1" noChangeArrowheads="1"/>
          </p:cNvSpPr>
          <p:nvPr>
            <p:ph type="title"/>
          </p:nvPr>
        </p:nvSpPr>
        <p:spPr/>
        <p:txBody>
          <a:bodyPr/>
          <a:lstStyle/>
          <a:p>
            <a:pPr eaLnBrk="1" hangingPunct="1">
              <a:defRPr/>
            </a:pPr>
            <a:r>
              <a:rPr lang="zh-CN" altLang="en-US" smtClean="0"/>
              <a:t>步骤三（2）</a:t>
            </a:r>
            <a:endParaRPr lang="zh-CN" altLang="en-US" smtClean="0"/>
          </a:p>
        </p:txBody>
      </p:sp>
      <p:sp>
        <p:nvSpPr>
          <p:cNvPr id="6553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无冲突调度方法</a:t>
            </a:r>
            <a:endParaRPr lang="zh-CN" altLang="en-US" sz="1200" b="0">
              <a:latin typeface="Times New Roman" panose="02020603050405020304" pitchFamily="18" charset="0"/>
              <a:ea typeface="幼圆" panose="02010509060101010101" pitchFamily="49" charset="-122"/>
            </a:endParaRPr>
          </a:p>
        </p:txBody>
      </p:sp>
      <p:pic>
        <p:nvPicPr>
          <p:cNvPr id="65540" name="Picture 6" descr="msotw9_temp0"/>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b="18571"/>
          <a:stretch>
            <a:fillRect/>
          </a:stretch>
        </p:blipFill>
        <p:spPr bwMode="auto">
          <a:xfrm>
            <a:off x="1752600" y="2133600"/>
            <a:ext cx="6096000" cy="4287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5541" name="Text Box 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12 之 6</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5906" name="Rectangle 2"/>
          <p:cNvSpPr>
            <a:spLocks noGrp="1" noChangeArrowheads="1"/>
          </p:cNvSpPr>
          <p:nvPr>
            <p:ph type="title"/>
          </p:nvPr>
        </p:nvSpPr>
        <p:spPr/>
        <p:txBody>
          <a:bodyPr/>
          <a:lstStyle/>
          <a:p>
            <a:pPr eaLnBrk="1" hangingPunct="1">
              <a:defRPr/>
            </a:pPr>
            <a:r>
              <a:rPr lang="zh-CN" altLang="en-US" smtClean="0"/>
              <a:t>步骤四（1）</a:t>
            </a:r>
            <a:endParaRPr lang="zh-CN" altLang="en-US" smtClean="0"/>
          </a:p>
        </p:txBody>
      </p:sp>
      <p:sp>
        <p:nvSpPr>
          <p:cNvPr id="6656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无冲突调度方法</a:t>
            </a:r>
            <a:endParaRPr lang="zh-CN" altLang="en-US" sz="1200" b="0">
              <a:latin typeface="Times New Roman" panose="02020603050405020304" pitchFamily="18" charset="0"/>
              <a:ea typeface="幼圆" panose="02010509060101010101" pitchFamily="49" charset="-122"/>
            </a:endParaRPr>
          </a:p>
        </p:txBody>
      </p:sp>
      <p:sp>
        <p:nvSpPr>
          <p:cNvPr id="66564" name="Rectangle 4"/>
          <p:cNvSpPr>
            <a:spLocks noGrp="1" noChangeArrowheads="1"/>
          </p:cNvSpPr>
          <p:nvPr>
            <p:ph type="body" idx="1"/>
          </p:nvPr>
        </p:nvSpPr>
        <p:spPr>
          <a:xfrm>
            <a:off x="809625" y="1989138"/>
            <a:ext cx="7958138" cy="1123950"/>
          </a:xfrm>
          <a:solidFill>
            <a:srgbClr val="FFFF00"/>
          </a:solidFill>
          <a:ln w="57150" cap="flat" cmpd="thickThin">
            <a:solidFill>
              <a:schemeClr val="tx1"/>
            </a:solidFill>
            <a:miter lim="800000"/>
          </a:ln>
          <a:effectLst>
            <a:outerShdw dist="35921" dir="2700000" algn="ctr" rotWithShape="0">
              <a:schemeClr val="bg2"/>
            </a:outerShdw>
          </a:effectLst>
        </p:spPr>
        <p:txBody>
          <a:bodyPr>
            <a:spAutoFit/>
          </a:bodyPr>
          <a:lstStyle/>
          <a:p>
            <a:pPr eaLnBrk="1" hangingPunct="1"/>
            <a:r>
              <a:rPr lang="zh-CN" altLang="en-US" smtClean="0"/>
              <a:t>在状态图中找出可用启动距离，并计算平均启动距离</a:t>
            </a:r>
            <a:endParaRPr lang="zh-CN" altLang="en-US" smtClean="0"/>
          </a:p>
        </p:txBody>
      </p:sp>
      <p:sp>
        <p:nvSpPr>
          <p:cNvPr id="66565" name="Rectangle 5"/>
          <p:cNvSpPr>
            <a:spLocks noChangeArrowheads="1"/>
          </p:cNvSpPr>
          <p:nvPr/>
        </p:nvSpPr>
        <p:spPr bwMode="auto">
          <a:xfrm>
            <a:off x="900113" y="3500438"/>
            <a:ext cx="7958137" cy="2667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6517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8427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3375"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22475"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4796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368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3940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512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140000"/>
              </a:lnSpc>
              <a:buFont typeface="Wingdings" panose="05000000000000000000" pitchFamily="2" charset="2"/>
              <a:buNone/>
            </a:pPr>
            <a:r>
              <a:rPr lang="zh-CN" altLang="en-US" sz="2800"/>
              <a:t>        在状态图中从初始状态出发，能构成一种间隔拍数呈周期性重复的方案就是可用启动距离。即：找出所有的</a:t>
            </a:r>
            <a:r>
              <a:rPr lang="zh-CN" altLang="en-US" sz="2800">
                <a:solidFill>
                  <a:srgbClr val="FF0000"/>
                </a:solidFill>
              </a:rPr>
              <a:t>简单循环</a:t>
            </a:r>
            <a:r>
              <a:rPr lang="zh-CN" altLang="en-US" sz="2800"/>
              <a:t>（是指在状态图中各种冲突向量只经过一次的启动循环）。</a:t>
            </a:r>
            <a:endParaRPr lang="zh-CN" altLang="en-US" sz="2800"/>
          </a:p>
        </p:txBody>
      </p:sp>
      <p:sp>
        <p:nvSpPr>
          <p:cNvPr id="66566"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12 之 7</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8978" name="Rectangle 2"/>
          <p:cNvSpPr>
            <a:spLocks noGrp="1" noChangeArrowheads="1"/>
          </p:cNvSpPr>
          <p:nvPr>
            <p:ph type="title"/>
          </p:nvPr>
        </p:nvSpPr>
        <p:spPr/>
        <p:txBody>
          <a:bodyPr/>
          <a:lstStyle/>
          <a:p>
            <a:pPr eaLnBrk="1" hangingPunct="1">
              <a:defRPr/>
            </a:pPr>
            <a:r>
              <a:rPr lang="zh-CN" altLang="en-US" smtClean="0"/>
              <a:t>步骤四（2）</a:t>
            </a:r>
            <a:endParaRPr lang="zh-CN" altLang="en-US" smtClean="0"/>
          </a:p>
        </p:txBody>
      </p:sp>
      <p:sp>
        <p:nvSpPr>
          <p:cNvPr id="675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无冲突调度方法</a:t>
            </a:r>
            <a:endParaRPr lang="zh-CN" altLang="en-US" sz="1200" b="0">
              <a:latin typeface="Times New Roman" panose="02020603050405020304" pitchFamily="18" charset="0"/>
              <a:ea typeface="幼圆" panose="02010509060101010101" pitchFamily="49" charset="-122"/>
            </a:endParaRPr>
          </a:p>
        </p:txBody>
      </p:sp>
      <p:graphicFrame>
        <p:nvGraphicFramePr>
          <p:cNvPr id="639022" name="Group 46"/>
          <p:cNvGraphicFramePr>
            <a:graphicFrameLocks noGrp="1"/>
          </p:cNvGraphicFramePr>
          <p:nvPr/>
        </p:nvGraphicFramePr>
        <p:xfrm>
          <a:off x="4648200" y="2209800"/>
          <a:ext cx="4165600" cy="4114800"/>
        </p:xfrm>
        <a:graphic>
          <a:graphicData uri="http://schemas.openxmlformats.org/drawingml/2006/table">
            <a:tbl>
              <a:tblPr/>
              <a:tblGrid>
                <a:gridCol w="2082800"/>
                <a:gridCol w="2082800"/>
              </a:tblGrid>
              <a:tr h="328613">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简单循环</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平均启动距离</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rPr>
                        <a:t>1，7</a:t>
                      </a: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rPr>
                        <a:t>4</a:t>
                      </a: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3，7</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5</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5，7</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6</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3，5，7</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5</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5，3，7</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5</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rPr>
                        <a:t>3，5</a:t>
                      </a: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rPr>
                        <a:t>4</a:t>
                      </a: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0000CC"/>
                          </a:solidFill>
                          <a:effectLst/>
                          <a:latin typeface="Arial" panose="020B0604020202020204" pitchFamily="34" charset="0"/>
                          <a:ea typeface="楷体_GB2312" pitchFamily="49" charset="-122"/>
                        </a:rPr>
                        <a:t>5</a:t>
                      </a:r>
                      <a:endParaRPr kumimoji="1" lang="zh-CN" altLang="en-US" sz="2400" b="1" i="0" u="none" strike="noStrike" cap="none" normalizeH="0" baseline="0" smtClean="0">
                        <a:ln>
                          <a:noFill/>
                        </a:ln>
                        <a:solidFill>
                          <a:srgbClr val="0000CC"/>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0000CC"/>
                          </a:solidFill>
                          <a:effectLst/>
                          <a:latin typeface="Arial" panose="020B0604020202020204" pitchFamily="34" charset="0"/>
                          <a:ea typeface="楷体_GB2312" pitchFamily="49" charset="-122"/>
                        </a:rPr>
                        <a:t>5</a:t>
                      </a:r>
                      <a:endParaRPr kumimoji="1" lang="zh-CN" altLang="en-US" sz="2400" b="1" i="0" u="none" strike="noStrike" cap="none" normalizeH="0" baseline="0" smtClean="0">
                        <a:ln>
                          <a:noFill/>
                        </a:ln>
                        <a:solidFill>
                          <a:srgbClr val="0000CC"/>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7</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marL="5080">
                        <a:defRPr kumimoji="1" sz="2800" b="1">
                          <a:solidFill>
                            <a:schemeClr val="tx1"/>
                          </a:solidFill>
                          <a:latin typeface="Arial" panose="020B0604020202020204" pitchFamily="34" charset="0"/>
                          <a:ea typeface="楷体_GB2312" pitchFamily="49" charset="-122"/>
                        </a:defRPr>
                      </a:lvl1pPr>
                      <a:lvl2pPr marL="582930">
                        <a:buClr>
                          <a:schemeClr val="accent2"/>
                        </a:buClr>
                        <a:buSzPct val="55000"/>
                        <a:defRPr kumimoji="1" sz="2400" b="1">
                          <a:solidFill>
                            <a:schemeClr val="tx1"/>
                          </a:solidFill>
                          <a:latin typeface="Arial" panose="020B0604020202020204" pitchFamily="34" charset="0"/>
                          <a:ea typeface="楷体_GB2312" pitchFamily="49" charset="-122"/>
                        </a:defRPr>
                      </a:lvl2pPr>
                      <a:lvl3pPr marL="773430">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508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7</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pic>
        <p:nvPicPr>
          <p:cNvPr id="67620" name="Picture 47" descr="msotw9_temp0"/>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b="18571"/>
          <a:stretch>
            <a:fillRect/>
          </a:stretch>
        </p:blipFill>
        <p:spPr bwMode="auto">
          <a:xfrm>
            <a:off x="762000" y="2895600"/>
            <a:ext cx="3810000" cy="2679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7621" name="Text Box 4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12 之 8</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6930" name="Rectangle 2"/>
          <p:cNvSpPr>
            <a:spLocks noGrp="1" noChangeArrowheads="1"/>
          </p:cNvSpPr>
          <p:nvPr>
            <p:ph type="title"/>
          </p:nvPr>
        </p:nvSpPr>
        <p:spPr/>
        <p:txBody>
          <a:bodyPr/>
          <a:lstStyle/>
          <a:p>
            <a:pPr eaLnBrk="1" hangingPunct="1">
              <a:defRPr/>
            </a:pPr>
            <a:r>
              <a:rPr lang="zh-CN" altLang="en-US" smtClean="0"/>
              <a:t>步骤五（1）</a:t>
            </a:r>
            <a:endParaRPr lang="zh-CN" altLang="en-US" smtClean="0"/>
          </a:p>
        </p:txBody>
      </p:sp>
      <p:sp>
        <p:nvSpPr>
          <p:cNvPr id="6861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无冲突调度方法</a:t>
            </a:r>
            <a:endParaRPr lang="zh-CN" altLang="en-US" sz="1200" b="0">
              <a:latin typeface="Times New Roman" panose="02020603050405020304" pitchFamily="18" charset="0"/>
              <a:ea typeface="幼圆" panose="02010509060101010101" pitchFamily="49" charset="-122"/>
            </a:endParaRPr>
          </a:p>
        </p:txBody>
      </p:sp>
      <p:sp>
        <p:nvSpPr>
          <p:cNvPr id="68612" name="Rectangle 4"/>
          <p:cNvSpPr>
            <a:spLocks noGrp="1" noChangeArrowheads="1"/>
          </p:cNvSpPr>
          <p:nvPr>
            <p:ph type="body" idx="1"/>
          </p:nvPr>
        </p:nvSpPr>
        <p:spPr>
          <a:xfrm>
            <a:off x="809625" y="1989138"/>
            <a:ext cx="7958138" cy="1208087"/>
          </a:xfrm>
          <a:solidFill>
            <a:srgbClr val="FFFF00"/>
          </a:solidFill>
          <a:ln w="57150" cap="flat" cmpd="thickThin">
            <a:solidFill>
              <a:schemeClr val="tx1"/>
            </a:solidFill>
            <a:miter lim="800000"/>
          </a:ln>
          <a:effectLst>
            <a:outerShdw dist="35921" dir="2700000" algn="ctr" rotWithShape="0">
              <a:schemeClr val="bg2"/>
            </a:outerShdw>
          </a:effectLst>
        </p:spPr>
        <p:txBody>
          <a:bodyPr/>
          <a:lstStyle/>
          <a:p>
            <a:pPr eaLnBrk="1" hangingPunct="1"/>
            <a:r>
              <a:rPr lang="zh-CN" altLang="en-US" smtClean="0"/>
              <a:t>找出平均启动距离最小的启动循环或恒定循环</a:t>
            </a:r>
            <a:endParaRPr lang="zh-CN" altLang="en-US" smtClean="0"/>
          </a:p>
        </p:txBody>
      </p:sp>
      <p:sp>
        <p:nvSpPr>
          <p:cNvPr id="636933" name="Rectangle 5"/>
          <p:cNvSpPr>
            <a:spLocks noChangeArrowheads="1"/>
          </p:cNvSpPr>
          <p:nvPr/>
        </p:nvSpPr>
        <p:spPr bwMode="auto">
          <a:xfrm>
            <a:off x="2484438" y="3644900"/>
            <a:ext cx="4108450" cy="2590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0"/>
              </a:spcBef>
              <a:defRPr kumimoji="1" sz="2400">
                <a:solidFill>
                  <a:schemeClr val="tx1"/>
                </a:solidFill>
                <a:latin typeface="Times New Roman" panose="02020603050405020304" pitchFamily="18" charset="0"/>
                <a:ea typeface="宋体" panose="02010600030101010101" pitchFamily="2" charset="-122"/>
              </a:defRPr>
            </a:lvl1pPr>
            <a:lvl2pPr marL="742950" indent="-285750">
              <a:spcBef>
                <a:spcPct val="0"/>
              </a:spcBef>
              <a:defRPr kumimoji="1" sz="2400">
                <a:solidFill>
                  <a:schemeClr val="tx1"/>
                </a:solidFill>
                <a:latin typeface="Times New Roman" panose="02020603050405020304" pitchFamily="18" charset="0"/>
                <a:ea typeface="宋体" panose="02010600030101010101" pitchFamily="2" charset="-122"/>
              </a:defRPr>
            </a:lvl2pPr>
            <a:lvl3pPr marL="1085850" indent="-228600">
              <a:spcBef>
                <a:spcPct val="0"/>
              </a:spcBef>
              <a:defRPr kumimoji="1" sz="2400">
                <a:solidFill>
                  <a:schemeClr val="tx1"/>
                </a:solidFill>
                <a:latin typeface="Times New Roman" panose="02020603050405020304" pitchFamily="18" charset="0"/>
                <a:ea typeface="宋体" panose="02010600030101010101" pitchFamily="2" charset="-122"/>
              </a:defRPr>
            </a:lvl3pPr>
            <a:lvl4pPr marL="1428750" indent="-228600">
              <a:spcBef>
                <a:spcPct val="0"/>
              </a:spcBef>
              <a:defRPr kumimoji="1" sz="2400">
                <a:solidFill>
                  <a:schemeClr val="tx1"/>
                </a:solidFill>
                <a:latin typeface="Times New Roman" panose="02020603050405020304" pitchFamily="18" charset="0"/>
                <a:ea typeface="宋体" panose="02010600030101010101" pitchFamily="2" charset="-122"/>
              </a:defRPr>
            </a:lvl4pPr>
            <a:lvl5pPr marL="1771650" indent="-228600">
              <a:spcBef>
                <a:spcPct val="0"/>
              </a:spcBef>
              <a:defRPr kumimoji="1" sz="2400">
                <a:solidFill>
                  <a:schemeClr val="tx1"/>
                </a:solidFill>
                <a:latin typeface="Times New Roman" panose="02020603050405020304" pitchFamily="18" charset="0"/>
                <a:ea typeface="宋体" panose="02010600030101010101" pitchFamily="2" charset="-122"/>
              </a:defRPr>
            </a:lvl5pPr>
            <a:lvl6pPr marL="2228850"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686050"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143250"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600450"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nSpc>
                <a:spcPct val="110000"/>
              </a:lnSpc>
              <a:spcBef>
                <a:spcPct val="20000"/>
              </a:spcBef>
              <a:buClr>
                <a:srgbClr val="FF0000"/>
              </a:buClr>
              <a:buFont typeface="Wingdings" panose="05000000000000000000" pitchFamily="2" charset="2"/>
              <a:buChar char="Ø"/>
              <a:defRPr/>
            </a:pPr>
            <a:r>
              <a:rPr lang="zh-CN" altLang="en-US" sz="2800" b="1" smtClean="0">
                <a:solidFill>
                  <a:srgbClr val="FF0000"/>
                </a:solidFill>
                <a:effectLst>
                  <a:outerShdw blurRad="38100" dist="38100" dir="2700000" algn="tl">
                    <a:srgbClr val="C0C0C0"/>
                  </a:outerShdw>
                </a:effectLst>
                <a:latin typeface="Arial" panose="020B0604020202020204" pitchFamily="34" charset="0"/>
                <a:ea typeface="楷体_GB2312" pitchFamily="49" charset="-122"/>
              </a:rPr>
              <a:t> 启动循环</a:t>
            </a:r>
            <a:endParaRPr lang="zh-CN" altLang="en-US" sz="2800" b="1" smtClean="0">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p>
            <a:pPr>
              <a:lnSpc>
                <a:spcPct val="110000"/>
              </a:lnSpc>
              <a:spcBef>
                <a:spcPct val="20000"/>
              </a:spcBef>
              <a:defRPr/>
            </a:pPr>
            <a:r>
              <a:rPr lang="zh-CN" altLang="en-US" sz="2800" b="1" smtClean="0">
                <a:latin typeface="Arial" panose="020B0604020202020204" pitchFamily="34" charset="0"/>
                <a:ea typeface="楷体_GB2312" pitchFamily="49" charset="-122"/>
              </a:rPr>
              <a:t>    （1，7）和（3，5）</a:t>
            </a:r>
            <a:endParaRPr lang="zh-CN" altLang="en-US" sz="2800" b="1" smtClean="0">
              <a:latin typeface="Arial" panose="020B0604020202020204" pitchFamily="34" charset="0"/>
              <a:ea typeface="楷体_GB2312" pitchFamily="49" charset="-122"/>
            </a:endParaRPr>
          </a:p>
          <a:p>
            <a:pPr>
              <a:lnSpc>
                <a:spcPct val="110000"/>
              </a:lnSpc>
              <a:spcBef>
                <a:spcPct val="20000"/>
              </a:spcBef>
              <a:buClr>
                <a:srgbClr val="FF0000"/>
              </a:buClr>
              <a:buFont typeface="Wingdings" panose="05000000000000000000" pitchFamily="2" charset="2"/>
              <a:buChar char="Ø"/>
              <a:defRPr/>
            </a:pPr>
            <a:r>
              <a:rPr lang="zh-CN" altLang="en-US" sz="2800" b="1" smtClean="0">
                <a:solidFill>
                  <a:srgbClr val="FF0000"/>
                </a:solidFill>
                <a:effectLst>
                  <a:outerShdw blurRad="38100" dist="38100" dir="2700000" algn="tl">
                    <a:srgbClr val="C0C0C0"/>
                  </a:outerShdw>
                </a:effectLst>
                <a:latin typeface="Arial" panose="020B0604020202020204" pitchFamily="34" charset="0"/>
                <a:ea typeface="楷体_GB2312" pitchFamily="49" charset="-122"/>
              </a:rPr>
              <a:t> 恒定循环</a:t>
            </a:r>
            <a:endParaRPr lang="zh-CN" altLang="en-US" sz="2800" b="1" smtClean="0">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p>
            <a:pPr>
              <a:lnSpc>
                <a:spcPct val="110000"/>
              </a:lnSpc>
              <a:spcBef>
                <a:spcPct val="20000"/>
              </a:spcBef>
              <a:defRPr/>
            </a:pPr>
            <a:r>
              <a:rPr lang="zh-CN" altLang="en-US" sz="2800" b="1" smtClean="0">
                <a:latin typeface="Arial" panose="020B0604020202020204" pitchFamily="34" charset="0"/>
                <a:ea typeface="楷体_GB2312" pitchFamily="49" charset="-122"/>
              </a:rPr>
              <a:t>    （5）</a:t>
            </a:r>
            <a:endParaRPr lang="zh-CN" altLang="en-US" sz="2800" b="1" smtClean="0">
              <a:latin typeface="Arial" panose="020B0604020202020204" pitchFamily="34" charset="0"/>
              <a:ea typeface="楷体_GB2312" pitchFamily="49" charset="-122"/>
            </a:endParaRPr>
          </a:p>
        </p:txBody>
      </p:sp>
      <p:sp>
        <p:nvSpPr>
          <p:cNvPr id="68614"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12 之 9</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2"/>
          <p:cNvSpPr>
            <a:spLocks noGrp="1" noChangeArrowheads="1"/>
          </p:cNvSpPr>
          <p:nvPr>
            <p:ph type="title"/>
          </p:nvPr>
        </p:nvSpPr>
        <p:spPr/>
        <p:txBody>
          <a:bodyPr/>
          <a:lstStyle/>
          <a:p>
            <a:pPr eaLnBrk="1" hangingPunct="1">
              <a:defRPr/>
            </a:pPr>
            <a:r>
              <a:rPr lang="zh-CN" altLang="en-US" smtClean="0"/>
              <a:t>步骤五（2）</a:t>
            </a:r>
            <a:endParaRPr lang="zh-CN" altLang="en-US" smtClean="0"/>
          </a:p>
        </p:txBody>
      </p:sp>
      <p:sp>
        <p:nvSpPr>
          <p:cNvPr id="6963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无冲突调度方法</a:t>
            </a:r>
            <a:endParaRPr lang="zh-CN" altLang="en-US" sz="1200" b="0">
              <a:latin typeface="Times New Roman" panose="02020603050405020304" pitchFamily="18" charset="0"/>
              <a:ea typeface="幼圆" panose="02010509060101010101" pitchFamily="49" charset="-122"/>
            </a:endParaRPr>
          </a:p>
        </p:txBody>
      </p:sp>
      <p:sp>
        <p:nvSpPr>
          <p:cNvPr id="69636" name="Text Box 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12 之 10</a:t>
            </a:r>
            <a:endParaRPr lang="zh-CN" altLang="en-US" sz="1200" b="0">
              <a:latin typeface="幼圆" panose="02010509060101010101" pitchFamily="49" charset="-122"/>
              <a:ea typeface="幼圆" panose="02010509060101010101" pitchFamily="49" charset="-122"/>
            </a:endParaRPr>
          </a:p>
        </p:txBody>
      </p:sp>
      <p:grpSp>
        <p:nvGrpSpPr>
          <p:cNvPr id="69637" name="Group 91"/>
          <p:cNvGrpSpPr/>
          <p:nvPr/>
        </p:nvGrpSpPr>
        <p:grpSpPr bwMode="auto">
          <a:xfrm>
            <a:off x="3003550" y="4800600"/>
            <a:ext cx="3810000" cy="1495425"/>
            <a:chOff x="2187" y="3167"/>
            <a:chExt cx="2155" cy="799"/>
          </a:xfrm>
        </p:grpSpPr>
        <p:sp>
          <p:nvSpPr>
            <p:cNvPr id="69788" name="Rectangle 51"/>
            <p:cNvSpPr>
              <a:spLocks noChangeArrowheads="1"/>
            </p:cNvSpPr>
            <p:nvPr/>
          </p:nvSpPr>
          <p:spPr bwMode="auto">
            <a:xfrm>
              <a:off x="3242" y="3805"/>
              <a:ext cx="266"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69789" name="Rectangle 52"/>
            <p:cNvSpPr>
              <a:spLocks noChangeArrowheads="1"/>
            </p:cNvSpPr>
            <p:nvPr/>
          </p:nvSpPr>
          <p:spPr bwMode="auto">
            <a:xfrm>
              <a:off x="2982"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69790" name="Rectangle 53"/>
            <p:cNvSpPr>
              <a:spLocks noChangeArrowheads="1"/>
            </p:cNvSpPr>
            <p:nvPr/>
          </p:nvSpPr>
          <p:spPr bwMode="auto">
            <a:xfrm>
              <a:off x="2723" y="349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69791" name="Rectangle 54"/>
            <p:cNvSpPr>
              <a:spLocks noChangeArrowheads="1"/>
            </p:cNvSpPr>
            <p:nvPr/>
          </p:nvSpPr>
          <p:spPr bwMode="auto">
            <a:xfrm>
              <a:off x="2452"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69792" name="Rectangle 55"/>
            <p:cNvSpPr>
              <a:spLocks noChangeArrowheads="1"/>
            </p:cNvSpPr>
            <p:nvPr/>
          </p:nvSpPr>
          <p:spPr bwMode="auto">
            <a:xfrm>
              <a:off x="2187"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1600"/>
                <a:t>S3</a:t>
              </a:r>
              <a:endParaRPr lang="en-US" altLang="zh-CN" sz="1600"/>
            </a:p>
          </p:txBody>
        </p:sp>
        <p:sp>
          <p:nvSpPr>
            <p:cNvPr id="69793" name="Rectangle 56"/>
            <p:cNvSpPr>
              <a:spLocks noChangeArrowheads="1"/>
            </p:cNvSpPr>
            <p:nvPr/>
          </p:nvSpPr>
          <p:spPr bwMode="auto">
            <a:xfrm>
              <a:off x="2983" y="3642"/>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69794" name="Rectangle 58"/>
            <p:cNvSpPr>
              <a:spLocks noChangeArrowheads="1"/>
            </p:cNvSpPr>
            <p:nvPr/>
          </p:nvSpPr>
          <p:spPr bwMode="auto">
            <a:xfrm>
              <a:off x="2452" y="3489"/>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730"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69795" name="Rectangle 59"/>
            <p:cNvSpPr>
              <a:spLocks noChangeArrowheads="1"/>
            </p:cNvSpPr>
            <p:nvPr/>
          </p:nvSpPr>
          <p:spPr bwMode="auto">
            <a:xfrm>
              <a:off x="2187" y="3489"/>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1600"/>
                <a:t>S2</a:t>
              </a:r>
              <a:endParaRPr lang="en-US" altLang="zh-CN" sz="1600"/>
            </a:p>
          </p:txBody>
        </p:sp>
        <p:sp>
          <p:nvSpPr>
            <p:cNvPr id="69796" name="Rectangle 60"/>
            <p:cNvSpPr>
              <a:spLocks noChangeArrowheads="1"/>
            </p:cNvSpPr>
            <p:nvPr/>
          </p:nvSpPr>
          <p:spPr bwMode="auto">
            <a:xfrm>
              <a:off x="2982"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69797" name="Rectangle 61"/>
            <p:cNvSpPr>
              <a:spLocks noChangeArrowheads="1"/>
            </p:cNvSpPr>
            <p:nvPr/>
          </p:nvSpPr>
          <p:spPr bwMode="auto">
            <a:xfrm>
              <a:off x="2717"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69798" name="Rectangle 62"/>
            <p:cNvSpPr>
              <a:spLocks noChangeArrowheads="1"/>
            </p:cNvSpPr>
            <p:nvPr/>
          </p:nvSpPr>
          <p:spPr bwMode="auto">
            <a:xfrm>
              <a:off x="2452"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69799" name="Rectangle 63"/>
            <p:cNvSpPr>
              <a:spLocks noChangeArrowheads="1"/>
            </p:cNvSpPr>
            <p:nvPr/>
          </p:nvSpPr>
          <p:spPr bwMode="auto">
            <a:xfrm>
              <a:off x="2187"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1600"/>
                <a:t>S1</a:t>
              </a:r>
              <a:endParaRPr lang="en-US" altLang="zh-CN" sz="1600"/>
            </a:p>
          </p:txBody>
        </p:sp>
        <p:sp>
          <p:nvSpPr>
            <p:cNvPr id="69800" name="Rectangle 64"/>
            <p:cNvSpPr>
              <a:spLocks noChangeArrowheads="1"/>
            </p:cNvSpPr>
            <p:nvPr/>
          </p:nvSpPr>
          <p:spPr bwMode="auto">
            <a:xfrm>
              <a:off x="3247" y="3173"/>
              <a:ext cx="266"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4</a:t>
              </a:r>
              <a:endParaRPr lang="zh-CN" altLang="en-US" sz="1600"/>
            </a:p>
          </p:txBody>
        </p:sp>
        <p:sp>
          <p:nvSpPr>
            <p:cNvPr id="69801" name="Rectangle 65"/>
            <p:cNvSpPr>
              <a:spLocks noChangeArrowheads="1"/>
            </p:cNvSpPr>
            <p:nvPr/>
          </p:nvSpPr>
          <p:spPr bwMode="auto">
            <a:xfrm>
              <a:off x="2982"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3</a:t>
              </a:r>
              <a:endParaRPr lang="zh-CN" altLang="en-US" sz="1600"/>
            </a:p>
          </p:txBody>
        </p:sp>
        <p:sp>
          <p:nvSpPr>
            <p:cNvPr id="69802" name="Rectangle 66"/>
            <p:cNvSpPr>
              <a:spLocks noChangeArrowheads="1"/>
            </p:cNvSpPr>
            <p:nvPr/>
          </p:nvSpPr>
          <p:spPr bwMode="auto">
            <a:xfrm>
              <a:off x="2717"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2</a:t>
              </a:r>
              <a:endParaRPr lang="zh-CN" altLang="en-US" sz="1600"/>
            </a:p>
          </p:txBody>
        </p:sp>
        <p:sp>
          <p:nvSpPr>
            <p:cNvPr id="69803" name="Rectangle 67"/>
            <p:cNvSpPr>
              <a:spLocks noChangeArrowheads="1"/>
            </p:cNvSpPr>
            <p:nvPr/>
          </p:nvSpPr>
          <p:spPr bwMode="auto">
            <a:xfrm>
              <a:off x="2452"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1</a:t>
              </a:r>
              <a:endParaRPr lang="zh-CN" altLang="en-US" sz="1600"/>
            </a:p>
          </p:txBody>
        </p:sp>
        <p:sp>
          <p:nvSpPr>
            <p:cNvPr id="69804" name="Rectangle 68"/>
            <p:cNvSpPr>
              <a:spLocks noChangeArrowheads="1"/>
            </p:cNvSpPr>
            <p:nvPr/>
          </p:nvSpPr>
          <p:spPr bwMode="auto">
            <a:xfrm>
              <a:off x="2187"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69805" name="Line 69"/>
            <p:cNvSpPr>
              <a:spLocks noChangeShapeType="1"/>
            </p:cNvSpPr>
            <p:nvPr/>
          </p:nvSpPr>
          <p:spPr bwMode="auto">
            <a:xfrm>
              <a:off x="2193" y="3173"/>
              <a:ext cx="2142" cy="0"/>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06" name="Line 70"/>
            <p:cNvSpPr>
              <a:spLocks noChangeShapeType="1"/>
            </p:cNvSpPr>
            <p:nvPr/>
          </p:nvSpPr>
          <p:spPr bwMode="auto">
            <a:xfrm flipV="1">
              <a:off x="2187" y="3330"/>
              <a:ext cx="2155" cy="1"/>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07" name="Line 71"/>
            <p:cNvSpPr>
              <a:spLocks noChangeShapeType="1"/>
            </p:cNvSpPr>
            <p:nvPr/>
          </p:nvSpPr>
          <p:spPr bwMode="auto">
            <a:xfrm flipV="1">
              <a:off x="2192" y="3489"/>
              <a:ext cx="2138" cy="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08" name="Line 72"/>
            <p:cNvSpPr>
              <a:spLocks noChangeShapeType="1"/>
            </p:cNvSpPr>
            <p:nvPr/>
          </p:nvSpPr>
          <p:spPr bwMode="auto">
            <a:xfrm flipV="1">
              <a:off x="2187" y="3644"/>
              <a:ext cx="2143" cy="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09" name="Line 73"/>
            <p:cNvSpPr>
              <a:spLocks noChangeShapeType="1"/>
            </p:cNvSpPr>
            <p:nvPr/>
          </p:nvSpPr>
          <p:spPr bwMode="auto">
            <a:xfrm flipV="1">
              <a:off x="2192" y="3957"/>
              <a:ext cx="2129" cy="3"/>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0" name="Line 74"/>
            <p:cNvSpPr>
              <a:spLocks noChangeShapeType="1"/>
            </p:cNvSpPr>
            <p:nvPr/>
          </p:nvSpPr>
          <p:spPr bwMode="auto">
            <a:xfrm>
              <a:off x="2187" y="3173"/>
              <a:ext cx="0" cy="787"/>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1" name="Line 75"/>
            <p:cNvSpPr>
              <a:spLocks noChangeShapeType="1"/>
            </p:cNvSpPr>
            <p:nvPr/>
          </p:nvSpPr>
          <p:spPr bwMode="auto">
            <a:xfrm>
              <a:off x="2452" y="3173"/>
              <a:ext cx="0" cy="77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2" name="Line 76"/>
            <p:cNvSpPr>
              <a:spLocks noChangeShapeType="1"/>
            </p:cNvSpPr>
            <p:nvPr/>
          </p:nvSpPr>
          <p:spPr bwMode="auto">
            <a:xfrm>
              <a:off x="2717" y="3173"/>
              <a:ext cx="0" cy="78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3" name="Line 77"/>
            <p:cNvSpPr>
              <a:spLocks noChangeShapeType="1"/>
            </p:cNvSpPr>
            <p:nvPr/>
          </p:nvSpPr>
          <p:spPr bwMode="auto">
            <a:xfrm>
              <a:off x="2982" y="3173"/>
              <a:ext cx="0" cy="79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4" name="Line 78"/>
            <p:cNvSpPr>
              <a:spLocks noChangeShapeType="1"/>
            </p:cNvSpPr>
            <p:nvPr/>
          </p:nvSpPr>
          <p:spPr bwMode="auto">
            <a:xfrm>
              <a:off x="3247" y="3173"/>
              <a:ext cx="0" cy="79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5" name="Line 79"/>
            <p:cNvSpPr>
              <a:spLocks noChangeShapeType="1"/>
            </p:cNvSpPr>
            <p:nvPr/>
          </p:nvSpPr>
          <p:spPr bwMode="auto">
            <a:xfrm>
              <a:off x="4333" y="3168"/>
              <a:ext cx="0" cy="79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6" name="Line 80"/>
            <p:cNvSpPr>
              <a:spLocks noChangeShapeType="1"/>
            </p:cNvSpPr>
            <p:nvPr/>
          </p:nvSpPr>
          <p:spPr bwMode="auto">
            <a:xfrm>
              <a:off x="3498" y="3173"/>
              <a:ext cx="0" cy="78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7" name="Rectangle 81"/>
            <p:cNvSpPr>
              <a:spLocks noChangeArrowheads="1"/>
            </p:cNvSpPr>
            <p:nvPr/>
          </p:nvSpPr>
          <p:spPr bwMode="auto">
            <a:xfrm>
              <a:off x="3503"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5</a:t>
              </a:r>
              <a:endParaRPr lang="zh-CN" altLang="en-US" sz="1600"/>
            </a:p>
          </p:txBody>
        </p:sp>
        <p:sp>
          <p:nvSpPr>
            <p:cNvPr id="69818" name="Rectangle 82"/>
            <p:cNvSpPr>
              <a:spLocks noChangeArrowheads="1"/>
            </p:cNvSpPr>
            <p:nvPr/>
          </p:nvSpPr>
          <p:spPr bwMode="auto">
            <a:xfrm>
              <a:off x="3508" y="3644"/>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69819" name="Line 83"/>
            <p:cNvSpPr>
              <a:spLocks noChangeShapeType="1"/>
            </p:cNvSpPr>
            <p:nvPr/>
          </p:nvSpPr>
          <p:spPr bwMode="auto">
            <a:xfrm flipV="1">
              <a:off x="2197" y="3793"/>
              <a:ext cx="2127" cy="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20" name="Rectangle 84"/>
            <p:cNvSpPr>
              <a:spLocks noChangeArrowheads="1"/>
            </p:cNvSpPr>
            <p:nvPr/>
          </p:nvSpPr>
          <p:spPr bwMode="auto">
            <a:xfrm>
              <a:off x="2192" y="3802"/>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1600"/>
                <a:t>S4</a:t>
              </a:r>
              <a:endParaRPr lang="en-US" altLang="zh-CN" sz="1600"/>
            </a:p>
          </p:txBody>
        </p:sp>
        <p:sp>
          <p:nvSpPr>
            <p:cNvPr id="69821" name="Line 85"/>
            <p:cNvSpPr>
              <a:spLocks noChangeShapeType="1"/>
            </p:cNvSpPr>
            <p:nvPr/>
          </p:nvSpPr>
          <p:spPr bwMode="auto">
            <a:xfrm>
              <a:off x="4058" y="3173"/>
              <a:ext cx="0" cy="78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22" name="Line 86"/>
            <p:cNvSpPr>
              <a:spLocks noChangeShapeType="1"/>
            </p:cNvSpPr>
            <p:nvPr/>
          </p:nvSpPr>
          <p:spPr bwMode="auto">
            <a:xfrm>
              <a:off x="3786" y="3167"/>
              <a:ext cx="0" cy="78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23" name="Rectangle 87"/>
            <p:cNvSpPr>
              <a:spLocks noChangeArrowheads="1"/>
            </p:cNvSpPr>
            <p:nvPr/>
          </p:nvSpPr>
          <p:spPr bwMode="auto">
            <a:xfrm>
              <a:off x="3785"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6</a:t>
              </a:r>
              <a:endParaRPr lang="zh-CN" altLang="en-US" sz="1600"/>
            </a:p>
          </p:txBody>
        </p:sp>
        <p:sp>
          <p:nvSpPr>
            <p:cNvPr id="69824" name="Rectangle 88"/>
            <p:cNvSpPr>
              <a:spLocks noChangeArrowheads="1"/>
            </p:cNvSpPr>
            <p:nvPr/>
          </p:nvSpPr>
          <p:spPr bwMode="auto">
            <a:xfrm>
              <a:off x="4073" y="3180"/>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7</a:t>
              </a:r>
              <a:endParaRPr lang="zh-CN" altLang="en-US" sz="1600"/>
            </a:p>
          </p:txBody>
        </p:sp>
        <p:sp>
          <p:nvSpPr>
            <p:cNvPr id="69825" name="Rectangle 89"/>
            <p:cNvSpPr>
              <a:spLocks noChangeArrowheads="1"/>
            </p:cNvSpPr>
            <p:nvPr/>
          </p:nvSpPr>
          <p:spPr bwMode="auto">
            <a:xfrm>
              <a:off x="3785" y="3494"/>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69826" name="Rectangle 90"/>
            <p:cNvSpPr>
              <a:spLocks noChangeArrowheads="1"/>
            </p:cNvSpPr>
            <p:nvPr/>
          </p:nvSpPr>
          <p:spPr bwMode="auto">
            <a:xfrm>
              <a:off x="4068" y="3332"/>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grpSp>
      <p:graphicFrame>
        <p:nvGraphicFramePr>
          <p:cNvPr id="987316" name="Group 1204"/>
          <p:cNvGraphicFramePr>
            <a:graphicFrameLocks noGrp="1"/>
          </p:cNvGraphicFramePr>
          <p:nvPr>
            <p:ph idx="1"/>
          </p:nvPr>
        </p:nvGraphicFramePr>
        <p:xfrm>
          <a:off x="935038" y="2420938"/>
          <a:ext cx="7958137" cy="1800227"/>
        </p:xfrm>
        <a:graphic>
          <a:graphicData uri="http://schemas.openxmlformats.org/drawingml/2006/table">
            <a:tbl>
              <a:tblPr/>
              <a:tblGrid>
                <a:gridCol w="361950"/>
                <a:gridCol w="361950"/>
                <a:gridCol w="361950"/>
                <a:gridCol w="360362"/>
                <a:gridCol w="363538"/>
                <a:gridCol w="360362"/>
                <a:gridCol w="361950"/>
                <a:gridCol w="360363"/>
                <a:gridCol w="363537"/>
                <a:gridCol w="360363"/>
                <a:gridCol w="363537"/>
                <a:gridCol w="361950"/>
                <a:gridCol w="360363"/>
                <a:gridCol w="363537"/>
                <a:gridCol w="360363"/>
                <a:gridCol w="361950"/>
                <a:gridCol w="360362"/>
                <a:gridCol w="363538"/>
                <a:gridCol w="360362"/>
                <a:gridCol w="361950"/>
                <a:gridCol w="361950"/>
                <a:gridCol w="361950"/>
              </a:tblGrid>
              <a:tr h="3603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2</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3</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4</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5</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6</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7</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8</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9</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10</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11</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12</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13</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14</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15</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16</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17</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18</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19</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20</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S1</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X5</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X6</a:t>
                      </a:r>
                      <a:endPar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87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S2</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X5</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X6</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S3</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X5</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X6</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S4</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X5</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69778" name="Text Box 1206"/>
          <p:cNvSpPr txBox="1">
            <a:spLocks noChangeArrowheads="1"/>
          </p:cNvSpPr>
          <p:nvPr/>
        </p:nvSpPr>
        <p:spPr bwMode="auto">
          <a:xfrm>
            <a:off x="2159000" y="1989138"/>
            <a:ext cx="53292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zh-CN" altLang="en-US" sz="2000">
                <a:solidFill>
                  <a:srgbClr val="000000"/>
                </a:solidFill>
                <a:latin typeface="Comic Sans MS" panose="030F0702030302020204" pitchFamily="66" charset="0"/>
                <a:ea typeface="宋体" panose="02010600030101010101" pitchFamily="2" charset="-122"/>
              </a:rPr>
              <a:t>最小启动循环（</a:t>
            </a:r>
            <a:r>
              <a:rPr lang="en-US" altLang="zh-CN" sz="2000">
                <a:solidFill>
                  <a:srgbClr val="000000"/>
                </a:solidFill>
                <a:latin typeface="Comic Sans MS" panose="030F0702030302020204" pitchFamily="66" charset="0"/>
                <a:ea typeface="宋体" panose="02010600030101010101" pitchFamily="2" charset="-122"/>
              </a:rPr>
              <a:t>1</a:t>
            </a:r>
            <a:r>
              <a:rPr lang="zh-CN" altLang="en-US" sz="2000">
                <a:solidFill>
                  <a:srgbClr val="000000"/>
                </a:solidFill>
                <a:latin typeface="Comic Sans MS" panose="030F0702030302020204" pitchFamily="66" charset="0"/>
                <a:ea typeface="宋体" panose="02010600030101010101" pitchFamily="2" charset="-122"/>
              </a:rPr>
              <a:t>，</a:t>
            </a:r>
            <a:r>
              <a:rPr lang="en-US" altLang="zh-CN" sz="2000">
                <a:solidFill>
                  <a:srgbClr val="000000"/>
                </a:solidFill>
                <a:latin typeface="Comic Sans MS" panose="030F0702030302020204" pitchFamily="66" charset="0"/>
                <a:ea typeface="宋体" panose="02010600030101010101" pitchFamily="2" charset="-122"/>
              </a:rPr>
              <a:t>7</a:t>
            </a:r>
            <a:r>
              <a:rPr lang="zh-CN" altLang="en-US" sz="2000">
                <a:solidFill>
                  <a:srgbClr val="000000"/>
                </a:solidFill>
                <a:latin typeface="Comic Sans MS" panose="030F0702030302020204" pitchFamily="66" charset="0"/>
                <a:ea typeface="宋体" panose="02010600030101010101" pitchFamily="2" charset="-122"/>
              </a:rPr>
              <a:t>）的流水线工作状态</a:t>
            </a:r>
            <a:endParaRPr lang="zh-CN" altLang="en-US" sz="2000">
              <a:solidFill>
                <a:srgbClr val="000000"/>
              </a:solidFill>
              <a:latin typeface="Comic Sans MS" panose="030F0702030302020204" pitchFamily="66" charset="0"/>
              <a:ea typeface="宋体" panose="02010600030101010101" pitchFamily="2" charset="-122"/>
            </a:endParaRPr>
          </a:p>
        </p:txBody>
      </p:sp>
      <p:sp>
        <p:nvSpPr>
          <p:cNvPr id="69779" name="Line 1207"/>
          <p:cNvSpPr>
            <a:spLocks noChangeShapeType="1"/>
          </p:cNvSpPr>
          <p:nvPr/>
        </p:nvSpPr>
        <p:spPr bwMode="auto">
          <a:xfrm>
            <a:off x="1295400" y="4221163"/>
            <a:ext cx="0" cy="36036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780" name="Line 1208"/>
          <p:cNvSpPr>
            <a:spLocks noChangeShapeType="1"/>
          </p:cNvSpPr>
          <p:nvPr/>
        </p:nvSpPr>
        <p:spPr bwMode="auto">
          <a:xfrm>
            <a:off x="4189413" y="4221163"/>
            <a:ext cx="0" cy="36036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781" name="Line 1209"/>
          <p:cNvSpPr>
            <a:spLocks noChangeShapeType="1"/>
          </p:cNvSpPr>
          <p:nvPr/>
        </p:nvSpPr>
        <p:spPr bwMode="auto">
          <a:xfrm>
            <a:off x="7085013" y="4221163"/>
            <a:ext cx="0" cy="36036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782" name="Text Box 1210"/>
          <p:cNvSpPr txBox="1">
            <a:spLocks noChangeArrowheads="1"/>
          </p:cNvSpPr>
          <p:nvPr/>
        </p:nvSpPr>
        <p:spPr bwMode="auto">
          <a:xfrm>
            <a:off x="2159000" y="4221163"/>
            <a:ext cx="1368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000">
                <a:solidFill>
                  <a:srgbClr val="000000"/>
                </a:solidFill>
                <a:latin typeface="Comic Sans MS" panose="030F0702030302020204" pitchFamily="66" charset="0"/>
                <a:ea typeface="宋体" panose="02010600030101010101" pitchFamily="2" charset="-122"/>
              </a:rPr>
              <a:t>启动周期</a:t>
            </a:r>
            <a:endParaRPr lang="zh-CN" altLang="en-US" sz="2000">
              <a:solidFill>
                <a:srgbClr val="000000"/>
              </a:solidFill>
              <a:latin typeface="Comic Sans MS" panose="030F0702030302020204" pitchFamily="66" charset="0"/>
              <a:ea typeface="宋体" panose="02010600030101010101" pitchFamily="2" charset="-122"/>
            </a:endParaRPr>
          </a:p>
        </p:txBody>
      </p:sp>
      <p:sp>
        <p:nvSpPr>
          <p:cNvPr id="69783" name="Line 1211"/>
          <p:cNvSpPr>
            <a:spLocks noChangeShapeType="1"/>
          </p:cNvSpPr>
          <p:nvPr/>
        </p:nvSpPr>
        <p:spPr bwMode="auto">
          <a:xfrm>
            <a:off x="3311525" y="4437063"/>
            <a:ext cx="863600" cy="0"/>
          </a:xfrm>
          <a:prstGeom prst="line">
            <a:avLst/>
          </a:prstGeom>
          <a:noFill/>
          <a:ln w="9525">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784" name="Line 1212"/>
          <p:cNvSpPr>
            <a:spLocks noChangeShapeType="1"/>
          </p:cNvSpPr>
          <p:nvPr/>
        </p:nvSpPr>
        <p:spPr bwMode="auto">
          <a:xfrm flipH="1">
            <a:off x="1295400" y="4437063"/>
            <a:ext cx="936625" cy="0"/>
          </a:xfrm>
          <a:prstGeom prst="line">
            <a:avLst/>
          </a:prstGeom>
          <a:noFill/>
          <a:ln w="9525">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785" name="Text Box 1213"/>
          <p:cNvSpPr txBox="1">
            <a:spLocks noChangeArrowheads="1"/>
          </p:cNvSpPr>
          <p:nvPr/>
        </p:nvSpPr>
        <p:spPr bwMode="auto">
          <a:xfrm>
            <a:off x="4751388" y="4221163"/>
            <a:ext cx="18002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000">
                <a:solidFill>
                  <a:srgbClr val="000000"/>
                </a:solidFill>
                <a:latin typeface="Comic Sans MS" panose="030F0702030302020204" pitchFamily="66" charset="0"/>
                <a:ea typeface="宋体" panose="02010600030101010101" pitchFamily="2" charset="-122"/>
              </a:rPr>
              <a:t>重复启动周期</a:t>
            </a:r>
            <a:endParaRPr lang="zh-CN" altLang="en-US" sz="2000">
              <a:solidFill>
                <a:srgbClr val="000000"/>
              </a:solidFill>
              <a:latin typeface="Comic Sans MS" panose="030F0702030302020204" pitchFamily="66" charset="0"/>
              <a:ea typeface="宋体" panose="02010600030101010101" pitchFamily="2" charset="-122"/>
            </a:endParaRPr>
          </a:p>
        </p:txBody>
      </p:sp>
      <p:sp>
        <p:nvSpPr>
          <p:cNvPr id="69786" name="Line 1214"/>
          <p:cNvSpPr>
            <a:spLocks noChangeShapeType="1"/>
          </p:cNvSpPr>
          <p:nvPr/>
        </p:nvSpPr>
        <p:spPr bwMode="auto">
          <a:xfrm>
            <a:off x="6423025" y="4437063"/>
            <a:ext cx="647700" cy="0"/>
          </a:xfrm>
          <a:prstGeom prst="line">
            <a:avLst/>
          </a:prstGeom>
          <a:noFill/>
          <a:ln w="9525">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787" name="Line 1215"/>
          <p:cNvSpPr>
            <a:spLocks noChangeShapeType="1"/>
          </p:cNvSpPr>
          <p:nvPr/>
        </p:nvSpPr>
        <p:spPr bwMode="auto">
          <a:xfrm flipH="1">
            <a:off x="4203700" y="4437063"/>
            <a:ext cx="649288" cy="0"/>
          </a:xfrm>
          <a:prstGeom prst="line">
            <a:avLst/>
          </a:prstGeom>
          <a:noFill/>
          <a:ln w="9525">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1026" name="Rectangle 2"/>
          <p:cNvSpPr>
            <a:spLocks noGrp="1" noChangeArrowheads="1"/>
          </p:cNvSpPr>
          <p:nvPr>
            <p:ph type="title"/>
          </p:nvPr>
        </p:nvSpPr>
        <p:spPr/>
        <p:txBody>
          <a:bodyPr/>
          <a:lstStyle/>
          <a:p>
            <a:pPr eaLnBrk="1" hangingPunct="1">
              <a:defRPr/>
            </a:pPr>
            <a:r>
              <a:rPr lang="zh-CN" altLang="en-US" smtClean="0"/>
              <a:t>步骤五（3）</a:t>
            </a:r>
            <a:endParaRPr lang="zh-CN" altLang="en-US" smtClean="0"/>
          </a:p>
        </p:txBody>
      </p:sp>
      <p:sp>
        <p:nvSpPr>
          <p:cNvPr id="7065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无冲突调度方法</a:t>
            </a:r>
            <a:endParaRPr lang="zh-CN" altLang="en-US" sz="1200" b="0">
              <a:latin typeface="Times New Roman" panose="02020603050405020304" pitchFamily="18" charset="0"/>
              <a:ea typeface="幼圆" panose="02010509060101010101" pitchFamily="49" charset="-122"/>
            </a:endParaRPr>
          </a:p>
        </p:txBody>
      </p:sp>
      <p:sp>
        <p:nvSpPr>
          <p:cNvPr id="70660"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12 之 11</a:t>
            </a:r>
            <a:endParaRPr lang="zh-CN" altLang="en-US" sz="1200" b="0">
              <a:latin typeface="幼圆" panose="02010509060101010101" pitchFamily="49" charset="-122"/>
              <a:ea typeface="幼圆" panose="02010509060101010101" pitchFamily="49" charset="-122"/>
            </a:endParaRPr>
          </a:p>
        </p:txBody>
      </p:sp>
      <p:grpSp>
        <p:nvGrpSpPr>
          <p:cNvPr id="70661" name="Group 46"/>
          <p:cNvGrpSpPr/>
          <p:nvPr/>
        </p:nvGrpSpPr>
        <p:grpSpPr bwMode="auto">
          <a:xfrm>
            <a:off x="2968625" y="4813300"/>
            <a:ext cx="3810000" cy="1495425"/>
            <a:chOff x="2187" y="3167"/>
            <a:chExt cx="2155" cy="799"/>
          </a:xfrm>
        </p:grpSpPr>
        <p:sp>
          <p:nvSpPr>
            <p:cNvPr id="70812" name="Rectangle 47"/>
            <p:cNvSpPr>
              <a:spLocks noChangeArrowheads="1"/>
            </p:cNvSpPr>
            <p:nvPr/>
          </p:nvSpPr>
          <p:spPr bwMode="auto">
            <a:xfrm>
              <a:off x="3242" y="3805"/>
              <a:ext cx="266"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70813" name="Rectangle 48"/>
            <p:cNvSpPr>
              <a:spLocks noChangeArrowheads="1"/>
            </p:cNvSpPr>
            <p:nvPr/>
          </p:nvSpPr>
          <p:spPr bwMode="auto">
            <a:xfrm>
              <a:off x="2982"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70814" name="Rectangle 49"/>
            <p:cNvSpPr>
              <a:spLocks noChangeArrowheads="1"/>
            </p:cNvSpPr>
            <p:nvPr/>
          </p:nvSpPr>
          <p:spPr bwMode="auto">
            <a:xfrm>
              <a:off x="2723" y="349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70815" name="Rectangle 50"/>
            <p:cNvSpPr>
              <a:spLocks noChangeArrowheads="1"/>
            </p:cNvSpPr>
            <p:nvPr/>
          </p:nvSpPr>
          <p:spPr bwMode="auto">
            <a:xfrm>
              <a:off x="2452"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70816" name="Rectangle 51"/>
            <p:cNvSpPr>
              <a:spLocks noChangeArrowheads="1"/>
            </p:cNvSpPr>
            <p:nvPr/>
          </p:nvSpPr>
          <p:spPr bwMode="auto">
            <a:xfrm>
              <a:off x="2187"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1600"/>
                <a:t>S3</a:t>
              </a:r>
              <a:endParaRPr lang="en-US" altLang="zh-CN" sz="1600"/>
            </a:p>
          </p:txBody>
        </p:sp>
        <p:sp>
          <p:nvSpPr>
            <p:cNvPr id="70817" name="Rectangle 52"/>
            <p:cNvSpPr>
              <a:spLocks noChangeArrowheads="1"/>
            </p:cNvSpPr>
            <p:nvPr/>
          </p:nvSpPr>
          <p:spPr bwMode="auto">
            <a:xfrm>
              <a:off x="2983" y="3642"/>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70818" name="Rectangle 53"/>
            <p:cNvSpPr>
              <a:spLocks noChangeArrowheads="1"/>
            </p:cNvSpPr>
            <p:nvPr/>
          </p:nvSpPr>
          <p:spPr bwMode="auto">
            <a:xfrm>
              <a:off x="2452" y="3489"/>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730"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70819" name="Rectangle 54"/>
            <p:cNvSpPr>
              <a:spLocks noChangeArrowheads="1"/>
            </p:cNvSpPr>
            <p:nvPr/>
          </p:nvSpPr>
          <p:spPr bwMode="auto">
            <a:xfrm>
              <a:off x="2187" y="3489"/>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1600"/>
                <a:t>S2</a:t>
              </a:r>
              <a:endParaRPr lang="en-US" altLang="zh-CN" sz="1600"/>
            </a:p>
          </p:txBody>
        </p:sp>
        <p:sp>
          <p:nvSpPr>
            <p:cNvPr id="70820" name="Rectangle 55"/>
            <p:cNvSpPr>
              <a:spLocks noChangeArrowheads="1"/>
            </p:cNvSpPr>
            <p:nvPr/>
          </p:nvSpPr>
          <p:spPr bwMode="auto">
            <a:xfrm>
              <a:off x="2982"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70821" name="Rectangle 56"/>
            <p:cNvSpPr>
              <a:spLocks noChangeArrowheads="1"/>
            </p:cNvSpPr>
            <p:nvPr/>
          </p:nvSpPr>
          <p:spPr bwMode="auto">
            <a:xfrm>
              <a:off x="2717"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70822" name="Rectangle 57"/>
            <p:cNvSpPr>
              <a:spLocks noChangeArrowheads="1"/>
            </p:cNvSpPr>
            <p:nvPr/>
          </p:nvSpPr>
          <p:spPr bwMode="auto">
            <a:xfrm>
              <a:off x="2452"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70823" name="Rectangle 58"/>
            <p:cNvSpPr>
              <a:spLocks noChangeArrowheads="1"/>
            </p:cNvSpPr>
            <p:nvPr/>
          </p:nvSpPr>
          <p:spPr bwMode="auto">
            <a:xfrm>
              <a:off x="2187"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1600"/>
                <a:t>S1</a:t>
              </a:r>
              <a:endParaRPr lang="en-US" altLang="zh-CN" sz="1600"/>
            </a:p>
          </p:txBody>
        </p:sp>
        <p:sp>
          <p:nvSpPr>
            <p:cNvPr id="70824" name="Rectangle 59"/>
            <p:cNvSpPr>
              <a:spLocks noChangeArrowheads="1"/>
            </p:cNvSpPr>
            <p:nvPr/>
          </p:nvSpPr>
          <p:spPr bwMode="auto">
            <a:xfrm>
              <a:off x="3247" y="3173"/>
              <a:ext cx="266"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4</a:t>
              </a:r>
              <a:endParaRPr lang="zh-CN" altLang="en-US" sz="1600"/>
            </a:p>
          </p:txBody>
        </p:sp>
        <p:sp>
          <p:nvSpPr>
            <p:cNvPr id="70825" name="Rectangle 60"/>
            <p:cNvSpPr>
              <a:spLocks noChangeArrowheads="1"/>
            </p:cNvSpPr>
            <p:nvPr/>
          </p:nvSpPr>
          <p:spPr bwMode="auto">
            <a:xfrm>
              <a:off x="2982"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3</a:t>
              </a:r>
              <a:endParaRPr lang="zh-CN" altLang="en-US" sz="1600"/>
            </a:p>
          </p:txBody>
        </p:sp>
        <p:sp>
          <p:nvSpPr>
            <p:cNvPr id="70826" name="Rectangle 61"/>
            <p:cNvSpPr>
              <a:spLocks noChangeArrowheads="1"/>
            </p:cNvSpPr>
            <p:nvPr/>
          </p:nvSpPr>
          <p:spPr bwMode="auto">
            <a:xfrm>
              <a:off x="2717"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2</a:t>
              </a:r>
              <a:endParaRPr lang="zh-CN" altLang="en-US" sz="1600"/>
            </a:p>
          </p:txBody>
        </p:sp>
        <p:sp>
          <p:nvSpPr>
            <p:cNvPr id="70827" name="Rectangle 62"/>
            <p:cNvSpPr>
              <a:spLocks noChangeArrowheads="1"/>
            </p:cNvSpPr>
            <p:nvPr/>
          </p:nvSpPr>
          <p:spPr bwMode="auto">
            <a:xfrm>
              <a:off x="2452"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1</a:t>
              </a:r>
              <a:endParaRPr lang="zh-CN" altLang="en-US" sz="1600"/>
            </a:p>
          </p:txBody>
        </p:sp>
        <p:sp>
          <p:nvSpPr>
            <p:cNvPr id="70828" name="Rectangle 63"/>
            <p:cNvSpPr>
              <a:spLocks noChangeArrowheads="1"/>
            </p:cNvSpPr>
            <p:nvPr/>
          </p:nvSpPr>
          <p:spPr bwMode="auto">
            <a:xfrm>
              <a:off x="2187"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70829" name="Line 64"/>
            <p:cNvSpPr>
              <a:spLocks noChangeShapeType="1"/>
            </p:cNvSpPr>
            <p:nvPr/>
          </p:nvSpPr>
          <p:spPr bwMode="auto">
            <a:xfrm>
              <a:off x="2193" y="3173"/>
              <a:ext cx="2142" cy="0"/>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0" name="Line 65"/>
            <p:cNvSpPr>
              <a:spLocks noChangeShapeType="1"/>
            </p:cNvSpPr>
            <p:nvPr/>
          </p:nvSpPr>
          <p:spPr bwMode="auto">
            <a:xfrm flipV="1">
              <a:off x="2187" y="3330"/>
              <a:ext cx="2155" cy="1"/>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1" name="Line 66"/>
            <p:cNvSpPr>
              <a:spLocks noChangeShapeType="1"/>
            </p:cNvSpPr>
            <p:nvPr/>
          </p:nvSpPr>
          <p:spPr bwMode="auto">
            <a:xfrm flipV="1">
              <a:off x="2192" y="3489"/>
              <a:ext cx="2138" cy="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2" name="Line 67"/>
            <p:cNvSpPr>
              <a:spLocks noChangeShapeType="1"/>
            </p:cNvSpPr>
            <p:nvPr/>
          </p:nvSpPr>
          <p:spPr bwMode="auto">
            <a:xfrm flipV="1">
              <a:off x="2187" y="3644"/>
              <a:ext cx="2143" cy="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3" name="Line 68"/>
            <p:cNvSpPr>
              <a:spLocks noChangeShapeType="1"/>
            </p:cNvSpPr>
            <p:nvPr/>
          </p:nvSpPr>
          <p:spPr bwMode="auto">
            <a:xfrm flipV="1">
              <a:off x="2192" y="3957"/>
              <a:ext cx="2129" cy="3"/>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4" name="Line 69"/>
            <p:cNvSpPr>
              <a:spLocks noChangeShapeType="1"/>
            </p:cNvSpPr>
            <p:nvPr/>
          </p:nvSpPr>
          <p:spPr bwMode="auto">
            <a:xfrm>
              <a:off x="2187" y="3173"/>
              <a:ext cx="0" cy="787"/>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5" name="Line 70"/>
            <p:cNvSpPr>
              <a:spLocks noChangeShapeType="1"/>
            </p:cNvSpPr>
            <p:nvPr/>
          </p:nvSpPr>
          <p:spPr bwMode="auto">
            <a:xfrm>
              <a:off x="2452" y="3173"/>
              <a:ext cx="0" cy="77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6" name="Line 71"/>
            <p:cNvSpPr>
              <a:spLocks noChangeShapeType="1"/>
            </p:cNvSpPr>
            <p:nvPr/>
          </p:nvSpPr>
          <p:spPr bwMode="auto">
            <a:xfrm>
              <a:off x="2717" y="3173"/>
              <a:ext cx="0" cy="78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7" name="Line 72"/>
            <p:cNvSpPr>
              <a:spLocks noChangeShapeType="1"/>
            </p:cNvSpPr>
            <p:nvPr/>
          </p:nvSpPr>
          <p:spPr bwMode="auto">
            <a:xfrm>
              <a:off x="2982" y="3173"/>
              <a:ext cx="0" cy="79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8" name="Line 73"/>
            <p:cNvSpPr>
              <a:spLocks noChangeShapeType="1"/>
            </p:cNvSpPr>
            <p:nvPr/>
          </p:nvSpPr>
          <p:spPr bwMode="auto">
            <a:xfrm>
              <a:off x="3247" y="3173"/>
              <a:ext cx="0" cy="79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9" name="Line 74"/>
            <p:cNvSpPr>
              <a:spLocks noChangeShapeType="1"/>
            </p:cNvSpPr>
            <p:nvPr/>
          </p:nvSpPr>
          <p:spPr bwMode="auto">
            <a:xfrm>
              <a:off x="4333" y="3168"/>
              <a:ext cx="0" cy="79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40" name="Line 75"/>
            <p:cNvSpPr>
              <a:spLocks noChangeShapeType="1"/>
            </p:cNvSpPr>
            <p:nvPr/>
          </p:nvSpPr>
          <p:spPr bwMode="auto">
            <a:xfrm>
              <a:off x="3498" y="3173"/>
              <a:ext cx="0" cy="78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41" name="Rectangle 76"/>
            <p:cNvSpPr>
              <a:spLocks noChangeArrowheads="1"/>
            </p:cNvSpPr>
            <p:nvPr/>
          </p:nvSpPr>
          <p:spPr bwMode="auto">
            <a:xfrm>
              <a:off x="3503"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5</a:t>
              </a:r>
              <a:endParaRPr lang="zh-CN" altLang="en-US" sz="1600"/>
            </a:p>
          </p:txBody>
        </p:sp>
        <p:sp>
          <p:nvSpPr>
            <p:cNvPr id="70842" name="Rectangle 77"/>
            <p:cNvSpPr>
              <a:spLocks noChangeArrowheads="1"/>
            </p:cNvSpPr>
            <p:nvPr/>
          </p:nvSpPr>
          <p:spPr bwMode="auto">
            <a:xfrm>
              <a:off x="3508" y="3644"/>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70843" name="Line 78"/>
            <p:cNvSpPr>
              <a:spLocks noChangeShapeType="1"/>
            </p:cNvSpPr>
            <p:nvPr/>
          </p:nvSpPr>
          <p:spPr bwMode="auto">
            <a:xfrm flipV="1">
              <a:off x="2197" y="3793"/>
              <a:ext cx="2127" cy="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44" name="Rectangle 79"/>
            <p:cNvSpPr>
              <a:spLocks noChangeArrowheads="1"/>
            </p:cNvSpPr>
            <p:nvPr/>
          </p:nvSpPr>
          <p:spPr bwMode="auto">
            <a:xfrm>
              <a:off x="2192" y="3802"/>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1600"/>
                <a:t>S4</a:t>
              </a:r>
              <a:endParaRPr lang="en-US" altLang="zh-CN" sz="1600"/>
            </a:p>
          </p:txBody>
        </p:sp>
        <p:sp>
          <p:nvSpPr>
            <p:cNvPr id="70845" name="Line 80"/>
            <p:cNvSpPr>
              <a:spLocks noChangeShapeType="1"/>
            </p:cNvSpPr>
            <p:nvPr/>
          </p:nvSpPr>
          <p:spPr bwMode="auto">
            <a:xfrm>
              <a:off x="4058" y="3173"/>
              <a:ext cx="0" cy="78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46" name="Line 81"/>
            <p:cNvSpPr>
              <a:spLocks noChangeShapeType="1"/>
            </p:cNvSpPr>
            <p:nvPr/>
          </p:nvSpPr>
          <p:spPr bwMode="auto">
            <a:xfrm>
              <a:off x="3786" y="3167"/>
              <a:ext cx="0" cy="78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47" name="Rectangle 82"/>
            <p:cNvSpPr>
              <a:spLocks noChangeArrowheads="1"/>
            </p:cNvSpPr>
            <p:nvPr/>
          </p:nvSpPr>
          <p:spPr bwMode="auto">
            <a:xfrm>
              <a:off x="3785"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6</a:t>
              </a:r>
              <a:endParaRPr lang="zh-CN" altLang="en-US" sz="1600"/>
            </a:p>
          </p:txBody>
        </p:sp>
        <p:sp>
          <p:nvSpPr>
            <p:cNvPr id="70848" name="Rectangle 83"/>
            <p:cNvSpPr>
              <a:spLocks noChangeArrowheads="1"/>
            </p:cNvSpPr>
            <p:nvPr/>
          </p:nvSpPr>
          <p:spPr bwMode="auto">
            <a:xfrm>
              <a:off x="4073" y="3180"/>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7</a:t>
              </a:r>
              <a:endParaRPr lang="zh-CN" altLang="en-US" sz="1600"/>
            </a:p>
          </p:txBody>
        </p:sp>
        <p:sp>
          <p:nvSpPr>
            <p:cNvPr id="70849" name="Rectangle 84"/>
            <p:cNvSpPr>
              <a:spLocks noChangeArrowheads="1"/>
            </p:cNvSpPr>
            <p:nvPr/>
          </p:nvSpPr>
          <p:spPr bwMode="auto">
            <a:xfrm>
              <a:off x="3785" y="3494"/>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70850" name="Rectangle 85"/>
            <p:cNvSpPr>
              <a:spLocks noChangeArrowheads="1"/>
            </p:cNvSpPr>
            <p:nvPr/>
          </p:nvSpPr>
          <p:spPr bwMode="auto">
            <a:xfrm>
              <a:off x="4068" y="3332"/>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grpSp>
      <p:graphicFrame>
        <p:nvGraphicFramePr>
          <p:cNvPr id="641110" name="Group 86"/>
          <p:cNvGraphicFramePr>
            <a:graphicFrameLocks noGrp="1"/>
          </p:cNvGraphicFramePr>
          <p:nvPr/>
        </p:nvGraphicFramePr>
        <p:xfrm>
          <a:off x="900113" y="2433638"/>
          <a:ext cx="7958137" cy="1800227"/>
        </p:xfrm>
        <a:graphic>
          <a:graphicData uri="http://schemas.openxmlformats.org/drawingml/2006/table">
            <a:tbl>
              <a:tblPr/>
              <a:tblGrid>
                <a:gridCol w="361950"/>
                <a:gridCol w="361950"/>
                <a:gridCol w="361950"/>
                <a:gridCol w="360362"/>
                <a:gridCol w="363538"/>
                <a:gridCol w="360362"/>
                <a:gridCol w="361950"/>
                <a:gridCol w="360363"/>
                <a:gridCol w="363537"/>
                <a:gridCol w="360363"/>
                <a:gridCol w="363537"/>
                <a:gridCol w="361950"/>
                <a:gridCol w="360363"/>
                <a:gridCol w="363537"/>
                <a:gridCol w="360363"/>
                <a:gridCol w="361950"/>
                <a:gridCol w="360362"/>
                <a:gridCol w="363538"/>
                <a:gridCol w="360362"/>
                <a:gridCol w="361950"/>
                <a:gridCol w="361950"/>
                <a:gridCol w="361950"/>
              </a:tblGrid>
              <a:tr h="3603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2</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3</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4</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5</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6</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7</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8</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9</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10</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11</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12</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13</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14</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15</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16</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17</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18</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19</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20</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S1</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X5</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X6</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87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S2</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X5</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S3</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X5</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S4</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X5</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70802" name="Text Box 226"/>
          <p:cNvSpPr txBox="1">
            <a:spLocks noChangeArrowheads="1"/>
          </p:cNvSpPr>
          <p:nvPr/>
        </p:nvSpPr>
        <p:spPr bwMode="auto">
          <a:xfrm>
            <a:off x="2124075" y="2001838"/>
            <a:ext cx="53292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zh-CN" altLang="en-US" sz="2000">
                <a:solidFill>
                  <a:srgbClr val="000000"/>
                </a:solidFill>
                <a:latin typeface="Comic Sans MS" panose="030F0702030302020204" pitchFamily="66" charset="0"/>
                <a:ea typeface="宋体" panose="02010600030101010101" pitchFamily="2" charset="-122"/>
              </a:rPr>
              <a:t>最小启动循环（</a:t>
            </a:r>
            <a:r>
              <a:rPr lang="en-US" altLang="zh-CN" sz="2000">
                <a:solidFill>
                  <a:srgbClr val="000000"/>
                </a:solidFill>
                <a:latin typeface="Comic Sans MS" panose="030F0702030302020204" pitchFamily="66" charset="0"/>
                <a:ea typeface="宋体" panose="02010600030101010101" pitchFamily="2" charset="-122"/>
              </a:rPr>
              <a:t>3</a:t>
            </a:r>
            <a:r>
              <a:rPr lang="zh-CN" altLang="en-US" sz="2000">
                <a:solidFill>
                  <a:srgbClr val="000000"/>
                </a:solidFill>
                <a:latin typeface="Comic Sans MS" panose="030F0702030302020204" pitchFamily="66" charset="0"/>
                <a:ea typeface="宋体" panose="02010600030101010101" pitchFamily="2" charset="-122"/>
              </a:rPr>
              <a:t>，</a:t>
            </a:r>
            <a:r>
              <a:rPr lang="en-US" altLang="zh-CN" sz="2000">
                <a:solidFill>
                  <a:srgbClr val="000000"/>
                </a:solidFill>
                <a:latin typeface="Comic Sans MS" panose="030F0702030302020204" pitchFamily="66" charset="0"/>
                <a:ea typeface="宋体" panose="02010600030101010101" pitchFamily="2" charset="-122"/>
              </a:rPr>
              <a:t>5</a:t>
            </a:r>
            <a:r>
              <a:rPr lang="zh-CN" altLang="en-US" sz="2000">
                <a:solidFill>
                  <a:srgbClr val="000000"/>
                </a:solidFill>
                <a:latin typeface="Comic Sans MS" panose="030F0702030302020204" pitchFamily="66" charset="0"/>
                <a:ea typeface="宋体" panose="02010600030101010101" pitchFamily="2" charset="-122"/>
              </a:rPr>
              <a:t>）的流水线工作状态</a:t>
            </a:r>
            <a:endParaRPr lang="zh-CN" altLang="en-US" sz="2000">
              <a:solidFill>
                <a:srgbClr val="000000"/>
              </a:solidFill>
              <a:latin typeface="Comic Sans MS" panose="030F0702030302020204" pitchFamily="66" charset="0"/>
              <a:ea typeface="宋体" panose="02010600030101010101" pitchFamily="2" charset="-122"/>
            </a:endParaRPr>
          </a:p>
        </p:txBody>
      </p:sp>
      <p:sp>
        <p:nvSpPr>
          <p:cNvPr id="70803" name="Line 227"/>
          <p:cNvSpPr>
            <a:spLocks noChangeShapeType="1"/>
          </p:cNvSpPr>
          <p:nvPr/>
        </p:nvSpPr>
        <p:spPr bwMode="auto">
          <a:xfrm>
            <a:off x="1260475" y="4233863"/>
            <a:ext cx="0" cy="36036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804" name="Line 228"/>
          <p:cNvSpPr>
            <a:spLocks noChangeShapeType="1"/>
          </p:cNvSpPr>
          <p:nvPr/>
        </p:nvSpPr>
        <p:spPr bwMode="auto">
          <a:xfrm>
            <a:off x="3433763" y="4221163"/>
            <a:ext cx="0" cy="36036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805" name="Line 229"/>
          <p:cNvSpPr>
            <a:spLocks noChangeShapeType="1"/>
          </p:cNvSpPr>
          <p:nvPr/>
        </p:nvSpPr>
        <p:spPr bwMode="auto">
          <a:xfrm>
            <a:off x="6315075" y="4233863"/>
            <a:ext cx="0" cy="36036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806" name="Text Box 230"/>
          <p:cNvSpPr txBox="1">
            <a:spLocks noChangeArrowheads="1"/>
          </p:cNvSpPr>
          <p:nvPr/>
        </p:nvSpPr>
        <p:spPr bwMode="auto">
          <a:xfrm>
            <a:off x="1763713" y="4292600"/>
            <a:ext cx="1368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000">
                <a:solidFill>
                  <a:srgbClr val="000000"/>
                </a:solidFill>
                <a:latin typeface="Comic Sans MS" panose="030F0702030302020204" pitchFamily="66" charset="0"/>
                <a:ea typeface="宋体" panose="02010600030101010101" pitchFamily="2" charset="-122"/>
              </a:rPr>
              <a:t>启动周期</a:t>
            </a:r>
            <a:endParaRPr lang="zh-CN" altLang="en-US" sz="2000">
              <a:solidFill>
                <a:srgbClr val="000000"/>
              </a:solidFill>
              <a:latin typeface="Comic Sans MS" panose="030F0702030302020204" pitchFamily="66" charset="0"/>
              <a:ea typeface="宋体" panose="02010600030101010101" pitchFamily="2" charset="-122"/>
            </a:endParaRPr>
          </a:p>
        </p:txBody>
      </p:sp>
      <p:sp>
        <p:nvSpPr>
          <p:cNvPr id="70807" name="Line 231"/>
          <p:cNvSpPr>
            <a:spLocks noChangeShapeType="1"/>
          </p:cNvSpPr>
          <p:nvPr/>
        </p:nvSpPr>
        <p:spPr bwMode="auto">
          <a:xfrm>
            <a:off x="2916238" y="4437063"/>
            <a:ext cx="503237" cy="0"/>
          </a:xfrm>
          <a:prstGeom prst="line">
            <a:avLst/>
          </a:prstGeom>
          <a:noFill/>
          <a:ln w="9525">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808" name="Line 232"/>
          <p:cNvSpPr>
            <a:spLocks noChangeShapeType="1"/>
          </p:cNvSpPr>
          <p:nvPr/>
        </p:nvSpPr>
        <p:spPr bwMode="auto">
          <a:xfrm flipH="1">
            <a:off x="1260475" y="4437063"/>
            <a:ext cx="503238" cy="12700"/>
          </a:xfrm>
          <a:prstGeom prst="line">
            <a:avLst/>
          </a:prstGeom>
          <a:noFill/>
          <a:ln w="9525">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809" name="Text Box 233"/>
          <p:cNvSpPr txBox="1">
            <a:spLocks noChangeArrowheads="1"/>
          </p:cNvSpPr>
          <p:nvPr/>
        </p:nvSpPr>
        <p:spPr bwMode="auto">
          <a:xfrm>
            <a:off x="4067175" y="4233863"/>
            <a:ext cx="18002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000">
                <a:solidFill>
                  <a:srgbClr val="000000"/>
                </a:solidFill>
                <a:latin typeface="Comic Sans MS" panose="030F0702030302020204" pitchFamily="66" charset="0"/>
                <a:ea typeface="宋体" panose="02010600030101010101" pitchFamily="2" charset="-122"/>
              </a:rPr>
              <a:t>重复启动周期</a:t>
            </a:r>
            <a:endParaRPr lang="zh-CN" altLang="en-US" sz="2000">
              <a:solidFill>
                <a:srgbClr val="000000"/>
              </a:solidFill>
              <a:latin typeface="Comic Sans MS" panose="030F0702030302020204" pitchFamily="66" charset="0"/>
              <a:ea typeface="宋体" panose="02010600030101010101" pitchFamily="2" charset="-122"/>
            </a:endParaRPr>
          </a:p>
        </p:txBody>
      </p:sp>
      <p:sp>
        <p:nvSpPr>
          <p:cNvPr id="70810" name="Line 234"/>
          <p:cNvSpPr>
            <a:spLocks noChangeShapeType="1"/>
          </p:cNvSpPr>
          <p:nvPr/>
        </p:nvSpPr>
        <p:spPr bwMode="auto">
          <a:xfrm flipV="1">
            <a:off x="5795963" y="4437063"/>
            <a:ext cx="504825" cy="12700"/>
          </a:xfrm>
          <a:prstGeom prst="line">
            <a:avLst/>
          </a:prstGeom>
          <a:noFill/>
          <a:ln w="9525">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811" name="Line 235"/>
          <p:cNvSpPr>
            <a:spLocks noChangeShapeType="1"/>
          </p:cNvSpPr>
          <p:nvPr/>
        </p:nvSpPr>
        <p:spPr bwMode="auto">
          <a:xfrm flipH="1">
            <a:off x="3492500" y="4449763"/>
            <a:ext cx="649288" cy="0"/>
          </a:xfrm>
          <a:prstGeom prst="line">
            <a:avLst/>
          </a:prstGeom>
          <a:noFill/>
          <a:ln w="9525">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2050" name="Rectangle 2"/>
          <p:cNvSpPr>
            <a:spLocks noGrp="1" noChangeArrowheads="1"/>
          </p:cNvSpPr>
          <p:nvPr>
            <p:ph type="title"/>
          </p:nvPr>
        </p:nvSpPr>
        <p:spPr/>
        <p:txBody>
          <a:bodyPr/>
          <a:lstStyle/>
          <a:p>
            <a:pPr eaLnBrk="1" hangingPunct="1">
              <a:defRPr/>
            </a:pPr>
            <a:r>
              <a:rPr lang="zh-CN" altLang="en-US" smtClean="0"/>
              <a:t>步骤五（4）</a:t>
            </a:r>
            <a:endParaRPr lang="zh-CN" altLang="en-US" smtClean="0"/>
          </a:p>
        </p:txBody>
      </p:sp>
      <p:sp>
        <p:nvSpPr>
          <p:cNvPr id="7168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无冲突调度方法</a:t>
            </a:r>
            <a:endParaRPr lang="zh-CN" altLang="en-US" sz="1200" b="0">
              <a:latin typeface="Times New Roman" panose="02020603050405020304" pitchFamily="18" charset="0"/>
              <a:ea typeface="幼圆" panose="02010509060101010101" pitchFamily="49" charset="-122"/>
            </a:endParaRPr>
          </a:p>
        </p:txBody>
      </p:sp>
      <p:sp>
        <p:nvSpPr>
          <p:cNvPr id="71684" name="Text Box 95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12 之 12</a:t>
            </a:r>
            <a:endParaRPr lang="zh-CN" altLang="en-US" sz="1200" b="0">
              <a:latin typeface="幼圆" panose="02010509060101010101" pitchFamily="49" charset="-122"/>
              <a:ea typeface="幼圆" panose="02010509060101010101" pitchFamily="49" charset="-122"/>
            </a:endParaRPr>
          </a:p>
        </p:txBody>
      </p:sp>
      <p:grpSp>
        <p:nvGrpSpPr>
          <p:cNvPr id="71685" name="Group 993"/>
          <p:cNvGrpSpPr/>
          <p:nvPr/>
        </p:nvGrpSpPr>
        <p:grpSpPr bwMode="auto">
          <a:xfrm>
            <a:off x="2968625" y="4813300"/>
            <a:ext cx="3810000" cy="1495425"/>
            <a:chOff x="2187" y="3167"/>
            <a:chExt cx="2155" cy="799"/>
          </a:xfrm>
        </p:grpSpPr>
        <p:sp>
          <p:nvSpPr>
            <p:cNvPr id="71836" name="Rectangle 994"/>
            <p:cNvSpPr>
              <a:spLocks noChangeArrowheads="1"/>
            </p:cNvSpPr>
            <p:nvPr/>
          </p:nvSpPr>
          <p:spPr bwMode="auto">
            <a:xfrm>
              <a:off x="3242" y="3805"/>
              <a:ext cx="266"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71837" name="Rectangle 995"/>
            <p:cNvSpPr>
              <a:spLocks noChangeArrowheads="1"/>
            </p:cNvSpPr>
            <p:nvPr/>
          </p:nvSpPr>
          <p:spPr bwMode="auto">
            <a:xfrm>
              <a:off x="2982"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71838" name="Rectangle 996"/>
            <p:cNvSpPr>
              <a:spLocks noChangeArrowheads="1"/>
            </p:cNvSpPr>
            <p:nvPr/>
          </p:nvSpPr>
          <p:spPr bwMode="auto">
            <a:xfrm>
              <a:off x="2723" y="349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71839" name="Rectangle 997"/>
            <p:cNvSpPr>
              <a:spLocks noChangeArrowheads="1"/>
            </p:cNvSpPr>
            <p:nvPr/>
          </p:nvSpPr>
          <p:spPr bwMode="auto">
            <a:xfrm>
              <a:off x="2452"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71840" name="Rectangle 998"/>
            <p:cNvSpPr>
              <a:spLocks noChangeArrowheads="1"/>
            </p:cNvSpPr>
            <p:nvPr/>
          </p:nvSpPr>
          <p:spPr bwMode="auto">
            <a:xfrm>
              <a:off x="2187"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1600"/>
                <a:t>S3</a:t>
              </a:r>
              <a:endParaRPr lang="en-US" altLang="zh-CN" sz="1600"/>
            </a:p>
          </p:txBody>
        </p:sp>
        <p:sp>
          <p:nvSpPr>
            <p:cNvPr id="71841" name="Rectangle 999"/>
            <p:cNvSpPr>
              <a:spLocks noChangeArrowheads="1"/>
            </p:cNvSpPr>
            <p:nvPr/>
          </p:nvSpPr>
          <p:spPr bwMode="auto">
            <a:xfrm>
              <a:off x="2983" y="3642"/>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71842" name="Rectangle 1000"/>
            <p:cNvSpPr>
              <a:spLocks noChangeArrowheads="1"/>
            </p:cNvSpPr>
            <p:nvPr/>
          </p:nvSpPr>
          <p:spPr bwMode="auto">
            <a:xfrm>
              <a:off x="2452" y="3489"/>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730"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71843" name="Rectangle 1001"/>
            <p:cNvSpPr>
              <a:spLocks noChangeArrowheads="1"/>
            </p:cNvSpPr>
            <p:nvPr/>
          </p:nvSpPr>
          <p:spPr bwMode="auto">
            <a:xfrm>
              <a:off x="2187" y="3489"/>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1600"/>
                <a:t>S2</a:t>
              </a:r>
              <a:endParaRPr lang="en-US" altLang="zh-CN" sz="1600"/>
            </a:p>
          </p:txBody>
        </p:sp>
        <p:sp>
          <p:nvSpPr>
            <p:cNvPr id="71844" name="Rectangle 1002"/>
            <p:cNvSpPr>
              <a:spLocks noChangeArrowheads="1"/>
            </p:cNvSpPr>
            <p:nvPr/>
          </p:nvSpPr>
          <p:spPr bwMode="auto">
            <a:xfrm>
              <a:off x="2982"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71845" name="Rectangle 1003"/>
            <p:cNvSpPr>
              <a:spLocks noChangeArrowheads="1"/>
            </p:cNvSpPr>
            <p:nvPr/>
          </p:nvSpPr>
          <p:spPr bwMode="auto">
            <a:xfrm>
              <a:off x="2717"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71846" name="Rectangle 1004"/>
            <p:cNvSpPr>
              <a:spLocks noChangeArrowheads="1"/>
            </p:cNvSpPr>
            <p:nvPr/>
          </p:nvSpPr>
          <p:spPr bwMode="auto">
            <a:xfrm>
              <a:off x="2452"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71847" name="Rectangle 1005"/>
            <p:cNvSpPr>
              <a:spLocks noChangeArrowheads="1"/>
            </p:cNvSpPr>
            <p:nvPr/>
          </p:nvSpPr>
          <p:spPr bwMode="auto">
            <a:xfrm>
              <a:off x="2187"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1600"/>
                <a:t>S1</a:t>
              </a:r>
              <a:endParaRPr lang="en-US" altLang="zh-CN" sz="1600"/>
            </a:p>
          </p:txBody>
        </p:sp>
        <p:sp>
          <p:nvSpPr>
            <p:cNvPr id="71848" name="Rectangle 1006"/>
            <p:cNvSpPr>
              <a:spLocks noChangeArrowheads="1"/>
            </p:cNvSpPr>
            <p:nvPr/>
          </p:nvSpPr>
          <p:spPr bwMode="auto">
            <a:xfrm>
              <a:off x="3247" y="3173"/>
              <a:ext cx="266"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4</a:t>
              </a:r>
              <a:endParaRPr lang="zh-CN" altLang="en-US" sz="1600"/>
            </a:p>
          </p:txBody>
        </p:sp>
        <p:sp>
          <p:nvSpPr>
            <p:cNvPr id="71849" name="Rectangle 1007"/>
            <p:cNvSpPr>
              <a:spLocks noChangeArrowheads="1"/>
            </p:cNvSpPr>
            <p:nvPr/>
          </p:nvSpPr>
          <p:spPr bwMode="auto">
            <a:xfrm>
              <a:off x="2982"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3</a:t>
              </a:r>
              <a:endParaRPr lang="zh-CN" altLang="en-US" sz="1600"/>
            </a:p>
          </p:txBody>
        </p:sp>
        <p:sp>
          <p:nvSpPr>
            <p:cNvPr id="71850" name="Rectangle 1008"/>
            <p:cNvSpPr>
              <a:spLocks noChangeArrowheads="1"/>
            </p:cNvSpPr>
            <p:nvPr/>
          </p:nvSpPr>
          <p:spPr bwMode="auto">
            <a:xfrm>
              <a:off x="2717"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2</a:t>
              </a:r>
              <a:endParaRPr lang="zh-CN" altLang="en-US" sz="1600"/>
            </a:p>
          </p:txBody>
        </p:sp>
        <p:sp>
          <p:nvSpPr>
            <p:cNvPr id="71851" name="Rectangle 1009"/>
            <p:cNvSpPr>
              <a:spLocks noChangeArrowheads="1"/>
            </p:cNvSpPr>
            <p:nvPr/>
          </p:nvSpPr>
          <p:spPr bwMode="auto">
            <a:xfrm>
              <a:off x="2452"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1</a:t>
              </a:r>
              <a:endParaRPr lang="zh-CN" altLang="en-US" sz="1600"/>
            </a:p>
          </p:txBody>
        </p:sp>
        <p:sp>
          <p:nvSpPr>
            <p:cNvPr id="71852" name="Rectangle 1010"/>
            <p:cNvSpPr>
              <a:spLocks noChangeArrowheads="1"/>
            </p:cNvSpPr>
            <p:nvPr/>
          </p:nvSpPr>
          <p:spPr bwMode="auto">
            <a:xfrm>
              <a:off x="2187"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endParaRPr lang="zh-CN" altLang="en-US" sz="1600"/>
            </a:p>
          </p:txBody>
        </p:sp>
        <p:sp>
          <p:nvSpPr>
            <p:cNvPr id="71853" name="Line 1011"/>
            <p:cNvSpPr>
              <a:spLocks noChangeShapeType="1"/>
            </p:cNvSpPr>
            <p:nvPr/>
          </p:nvSpPr>
          <p:spPr bwMode="auto">
            <a:xfrm>
              <a:off x="2193" y="3173"/>
              <a:ext cx="2142" cy="0"/>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54" name="Line 1012"/>
            <p:cNvSpPr>
              <a:spLocks noChangeShapeType="1"/>
            </p:cNvSpPr>
            <p:nvPr/>
          </p:nvSpPr>
          <p:spPr bwMode="auto">
            <a:xfrm flipV="1">
              <a:off x="2187" y="3330"/>
              <a:ext cx="2155" cy="1"/>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55" name="Line 1013"/>
            <p:cNvSpPr>
              <a:spLocks noChangeShapeType="1"/>
            </p:cNvSpPr>
            <p:nvPr/>
          </p:nvSpPr>
          <p:spPr bwMode="auto">
            <a:xfrm flipV="1">
              <a:off x="2192" y="3489"/>
              <a:ext cx="2138" cy="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56" name="Line 1014"/>
            <p:cNvSpPr>
              <a:spLocks noChangeShapeType="1"/>
            </p:cNvSpPr>
            <p:nvPr/>
          </p:nvSpPr>
          <p:spPr bwMode="auto">
            <a:xfrm flipV="1">
              <a:off x="2187" y="3644"/>
              <a:ext cx="2143" cy="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57" name="Line 1015"/>
            <p:cNvSpPr>
              <a:spLocks noChangeShapeType="1"/>
            </p:cNvSpPr>
            <p:nvPr/>
          </p:nvSpPr>
          <p:spPr bwMode="auto">
            <a:xfrm flipV="1">
              <a:off x="2192" y="3957"/>
              <a:ext cx="2129" cy="3"/>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58" name="Line 1016"/>
            <p:cNvSpPr>
              <a:spLocks noChangeShapeType="1"/>
            </p:cNvSpPr>
            <p:nvPr/>
          </p:nvSpPr>
          <p:spPr bwMode="auto">
            <a:xfrm>
              <a:off x="2187" y="3173"/>
              <a:ext cx="0" cy="787"/>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59" name="Line 1017"/>
            <p:cNvSpPr>
              <a:spLocks noChangeShapeType="1"/>
            </p:cNvSpPr>
            <p:nvPr/>
          </p:nvSpPr>
          <p:spPr bwMode="auto">
            <a:xfrm>
              <a:off x="2452" y="3173"/>
              <a:ext cx="0" cy="77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0" name="Line 1018"/>
            <p:cNvSpPr>
              <a:spLocks noChangeShapeType="1"/>
            </p:cNvSpPr>
            <p:nvPr/>
          </p:nvSpPr>
          <p:spPr bwMode="auto">
            <a:xfrm>
              <a:off x="2717" y="3173"/>
              <a:ext cx="0" cy="78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1" name="Line 1019"/>
            <p:cNvSpPr>
              <a:spLocks noChangeShapeType="1"/>
            </p:cNvSpPr>
            <p:nvPr/>
          </p:nvSpPr>
          <p:spPr bwMode="auto">
            <a:xfrm>
              <a:off x="2982" y="3173"/>
              <a:ext cx="0" cy="79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2" name="Line 1020"/>
            <p:cNvSpPr>
              <a:spLocks noChangeShapeType="1"/>
            </p:cNvSpPr>
            <p:nvPr/>
          </p:nvSpPr>
          <p:spPr bwMode="auto">
            <a:xfrm>
              <a:off x="3247" y="3173"/>
              <a:ext cx="0" cy="79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3" name="Line 1021"/>
            <p:cNvSpPr>
              <a:spLocks noChangeShapeType="1"/>
            </p:cNvSpPr>
            <p:nvPr/>
          </p:nvSpPr>
          <p:spPr bwMode="auto">
            <a:xfrm>
              <a:off x="4333" y="3168"/>
              <a:ext cx="0" cy="79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4" name="Line 1022"/>
            <p:cNvSpPr>
              <a:spLocks noChangeShapeType="1"/>
            </p:cNvSpPr>
            <p:nvPr/>
          </p:nvSpPr>
          <p:spPr bwMode="auto">
            <a:xfrm>
              <a:off x="3498" y="3173"/>
              <a:ext cx="0" cy="78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5" name="Rectangle 1023"/>
            <p:cNvSpPr>
              <a:spLocks noChangeArrowheads="1"/>
            </p:cNvSpPr>
            <p:nvPr/>
          </p:nvSpPr>
          <p:spPr bwMode="auto">
            <a:xfrm>
              <a:off x="3503"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5</a:t>
              </a:r>
              <a:endParaRPr lang="zh-CN" altLang="en-US" sz="1600"/>
            </a:p>
          </p:txBody>
        </p:sp>
        <p:sp>
          <p:nvSpPr>
            <p:cNvPr id="71866" name="Rectangle 1024"/>
            <p:cNvSpPr>
              <a:spLocks noChangeArrowheads="1"/>
            </p:cNvSpPr>
            <p:nvPr/>
          </p:nvSpPr>
          <p:spPr bwMode="auto">
            <a:xfrm>
              <a:off x="3508" y="3644"/>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71867" name="Line 1025"/>
            <p:cNvSpPr>
              <a:spLocks noChangeShapeType="1"/>
            </p:cNvSpPr>
            <p:nvPr/>
          </p:nvSpPr>
          <p:spPr bwMode="auto">
            <a:xfrm flipV="1">
              <a:off x="2197" y="3793"/>
              <a:ext cx="2127" cy="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8" name="Rectangle 1026"/>
            <p:cNvSpPr>
              <a:spLocks noChangeArrowheads="1"/>
            </p:cNvSpPr>
            <p:nvPr/>
          </p:nvSpPr>
          <p:spPr bwMode="auto">
            <a:xfrm>
              <a:off x="2192" y="3802"/>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1600"/>
                <a:t>S4</a:t>
              </a:r>
              <a:endParaRPr lang="en-US" altLang="zh-CN" sz="1600"/>
            </a:p>
          </p:txBody>
        </p:sp>
        <p:sp>
          <p:nvSpPr>
            <p:cNvPr id="71869" name="Line 1027"/>
            <p:cNvSpPr>
              <a:spLocks noChangeShapeType="1"/>
            </p:cNvSpPr>
            <p:nvPr/>
          </p:nvSpPr>
          <p:spPr bwMode="auto">
            <a:xfrm>
              <a:off x="4058" y="3173"/>
              <a:ext cx="0" cy="78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70" name="Line 1028"/>
            <p:cNvSpPr>
              <a:spLocks noChangeShapeType="1"/>
            </p:cNvSpPr>
            <p:nvPr/>
          </p:nvSpPr>
          <p:spPr bwMode="auto">
            <a:xfrm>
              <a:off x="3786" y="3167"/>
              <a:ext cx="0" cy="78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71" name="Rectangle 1029"/>
            <p:cNvSpPr>
              <a:spLocks noChangeArrowheads="1"/>
            </p:cNvSpPr>
            <p:nvPr/>
          </p:nvSpPr>
          <p:spPr bwMode="auto">
            <a:xfrm>
              <a:off x="3785"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6</a:t>
              </a:r>
              <a:endParaRPr lang="zh-CN" altLang="en-US" sz="1600"/>
            </a:p>
          </p:txBody>
        </p:sp>
        <p:sp>
          <p:nvSpPr>
            <p:cNvPr id="71872" name="Rectangle 1030"/>
            <p:cNvSpPr>
              <a:spLocks noChangeArrowheads="1"/>
            </p:cNvSpPr>
            <p:nvPr/>
          </p:nvSpPr>
          <p:spPr bwMode="auto">
            <a:xfrm>
              <a:off x="4073" y="3180"/>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7</a:t>
              </a:r>
              <a:endParaRPr lang="zh-CN" altLang="en-US" sz="1600"/>
            </a:p>
          </p:txBody>
        </p:sp>
        <p:sp>
          <p:nvSpPr>
            <p:cNvPr id="71873" name="Rectangle 1031"/>
            <p:cNvSpPr>
              <a:spLocks noChangeArrowheads="1"/>
            </p:cNvSpPr>
            <p:nvPr/>
          </p:nvSpPr>
          <p:spPr bwMode="auto">
            <a:xfrm>
              <a:off x="3785" y="3494"/>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sp>
          <p:nvSpPr>
            <p:cNvPr id="71874" name="Rectangle 1032"/>
            <p:cNvSpPr>
              <a:spLocks noChangeArrowheads="1"/>
            </p:cNvSpPr>
            <p:nvPr/>
          </p:nvSpPr>
          <p:spPr bwMode="auto">
            <a:xfrm>
              <a:off x="4068" y="3332"/>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1600"/>
                <a:t>×</a:t>
              </a:r>
              <a:endParaRPr lang="zh-CN" altLang="en-US" sz="1600"/>
            </a:p>
          </p:txBody>
        </p:sp>
      </p:grpSp>
      <p:graphicFrame>
        <p:nvGraphicFramePr>
          <p:cNvPr id="989193" name="Group 1033"/>
          <p:cNvGraphicFramePr>
            <a:graphicFrameLocks noGrp="1"/>
          </p:cNvGraphicFramePr>
          <p:nvPr/>
        </p:nvGraphicFramePr>
        <p:xfrm>
          <a:off x="900113" y="2433638"/>
          <a:ext cx="7958137" cy="1800227"/>
        </p:xfrm>
        <a:graphic>
          <a:graphicData uri="http://schemas.openxmlformats.org/drawingml/2006/table">
            <a:tbl>
              <a:tblPr/>
              <a:tblGrid>
                <a:gridCol w="361950"/>
                <a:gridCol w="361950"/>
                <a:gridCol w="361950"/>
                <a:gridCol w="360362"/>
                <a:gridCol w="363538"/>
                <a:gridCol w="360362"/>
                <a:gridCol w="361950"/>
                <a:gridCol w="360363"/>
                <a:gridCol w="363537"/>
                <a:gridCol w="360363"/>
                <a:gridCol w="363537"/>
                <a:gridCol w="361950"/>
                <a:gridCol w="360363"/>
                <a:gridCol w="363537"/>
                <a:gridCol w="360363"/>
                <a:gridCol w="361950"/>
                <a:gridCol w="360362"/>
                <a:gridCol w="363538"/>
                <a:gridCol w="360362"/>
                <a:gridCol w="361950"/>
                <a:gridCol w="361950"/>
                <a:gridCol w="361950"/>
              </a:tblGrid>
              <a:tr h="3603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2</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3</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4</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5</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6</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7</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8</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9</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10</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11</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12</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13</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14</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15</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16</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17</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18</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19</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20</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S1</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87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S2</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S3</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S4</a:t>
                      </a:r>
                      <a:endPar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chemeClr val="tx1"/>
                          </a:solidFill>
                          <a:effectLst/>
                          <a:latin typeface="Arial" panose="020B0604020202020204"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600" b="1" i="0" u="none" strike="noStrike" cap="none" normalizeH="0" baseline="0" smtClean="0">
                          <a:ln>
                            <a:noFill/>
                          </a:ln>
                          <a:solidFill>
                            <a:srgbClr val="FF0000"/>
                          </a:solidFill>
                          <a:effectLst/>
                          <a:latin typeface="Arial" panose="020B0604020202020204"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6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71826" name="Text Box 1173"/>
          <p:cNvSpPr txBox="1">
            <a:spLocks noChangeArrowheads="1"/>
          </p:cNvSpPr>
          <p:nvPr/>
        </p:nvSpPr>
        <p:spPr bwMode="auto">
          <a:xfrm>
            <a:off x="2124075" y="2001838"/>
            <a:ext cx="53292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zh-CN" altLang="en-US" sz="2000">
                <a:solidFill>
                  <a:srgbClr val="000000"/>
                </a:solidFill>
                <a:latin typeface="Comic Sans MS" panose="030F0702030302020204" pitchFamily="66" charset="0"/>
                <a:ea typeface="宋体" panose="02010600030101010101" pitchFamily="2" charset="-122"/>
              </a:rPr>
              <a:t>最小恒定循环（</a:t>
            </a:r>
            <a:r>
              <a:rPr lang="en-US" altLang="zh-CN" sz="2000">
                <a:solidFill>
                  <a:srgbClr val="000000"/>
                </a:solidFill>
                <a:latin typeface="Comic Sans MS" panose="030F0702030302020204" pitchFamily="66" charset="0"/>
                <a:ea typeface="宋体" panose="02010600030101010101" pitchFamily="2" charset="-122"/>
              </a:rPr>
              <a:t>5</a:t>
            </a:r>
            <a:r>
              <a:rPr lang="zh-CN" altLang="en-US" sz="2000">
                <a:solidFill>
                  <a:srgbClr val="000000"/>
                </a:solidFill>
                <a:latin typeface="Comic Sans MS" panose="030F0702030302020204" pitchFamily="66" charset="0"/>
                <a:ea typeface="宋体" panose="02010600030101010101" pitchFamily="2" charset="-122"/>
              </a:rPr>
              <a:t>）的流水线工作状态</a:t>
            </a:r>
            <a:endParaRPr lang="zh-CN" altLang="en-US" sz="2000">
              <a:solidFill>
                <a:srgbClr val="000000"/>
              </a:solidFill>
              <a:latin typeface="Comic Sans MS" panose="030F0702030302020204" pitchFamily="66" charset="0"/>
              <a:ea typeface="宋体" panose="02010600030101010101" pitchFamily="2" charset="-122"/>
            </a:endParaRPr>
          </a:p>
        </p:txBody>
      </p:sp>
      <p:sp>
        <p:nvSpPr>
          <p:cNvPr id="71827" name="Line 1174"/>
          <p:cNvSpPr>
            <a:spLocks noChangeShapeType="1"/>
          </p:cNvSpPr>
          <p:nvPr/>
        </p:nvSpPr>
        <p:spPr bwMode="auto">
          <a:xfrm>
            <a:off x="1260475" y="4233863"/>
            <a:ext cx="0" cy="36036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828" name="Line 1175"/>
          <p:cNvSpPr>
            <a:spLocks noChangeShapeType="1"/>
          </p:cNvSpPr>
          <p:nvPr/>
        </p:nvSpPr>
        <p:spPr bwMode="auto">
          <a:xfrm>
            <a:off x="3794125" y="4233863"/>
            <a:ext cx="0" cy="36036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829" name="Line 1176"/>
          <p:cNvSpPr>
            <a:spLocks noChangeShapeType="1"/>
          </p:cNvSpPr>
          <p:nvPr/>
        </p:nvSpPr>
        <p:spPr bwMode="auto">
          <a:xfrm>
            <a:off x="5594350" y="4233863"/>
            <a:ext cx="0" cy="36036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830" name="Text Box 1177"/>
          <p:cNvSpPr txBox="1">
            <a:spLocks noChangeArrowheads="1"/>
          </p:cNvSpPr>
          <p:nvPr/>
        </p:nvSpPr>
        <p:spPr bwMode="auto">
          <a:xfrm>
            <a:off x="1979613" y="4233863"/>
            <a:ext cx="1368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000">
                <a:solidFill>
                  <a:srgbClr val="000000"/>
                </a:solidFill>
                <a:latin typeface="Comic Sans MS" panose="030F0702030302020204" pitchFamily="66" charset="0"/>
                <a:ea typeface="宋体" panose="02010600030101010101" pitchFamily="2" charset="-122"/>
              </a:rPr>
              <a:t>启动周期</a:t>
            </a:r>
            <a:endParaRPr lang="zh-CN" altLang="en-US" sz="2000">
              <a:solidFill>
                <a:srgbClr val="000000"/>
              </a:solidFill>
              <a:latin typeface="Comic Sans MS" panose="030F0702030302020204" pitchFamily="66" charset="0"/>
              <a:ea typeface="宋体" panose="02010600030101010101" pitchFamily="2" charset="-122"/>
            </a:endParaRPr>
          </a:p>
        </p:txBody>
      </p:sp>
      <p:sp>
        <p:nvSpPr>
          <p:cNvPr id="71831" name="Line 1178"/>
          <p:cNvSpPr>
            <a:spLocks noChangeShapeType="1"/>
          </p:cNvSpPr>
          <p:nvPr/>
        </p:nvSpPr>
        <p:spPr bwMode="auto">
          <a:xfrm flipV="1">
            <a:off x="3276600" y="4437063"/>
            <a:ext cx="503238" cy="12700"/>
          </a:xfrm>
          <a:prstGeom prst="line">
            <a:avLst/>
          </a:prstGeom>
          <a:noFill/>
          <a:ln w="9525">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832" name="Line 1179"/>
          <p:cNvSpPr>
            <a:spLocks noChangeShapeType="1"/>
          </p:cNvSpPr>
          <p:nvPr/>
        </p:nvSpPr>
        <p:spPr bwMode="auto">
          <a:xfrm flipH="1">
            <a:off x="1260475" y="4437063"/>
            <a:ext cx="719138" cy="12700"/>
          </a:xfrm>
          <a:prstGeom prst="line">
            <a:avLst/>
          </a:prstGeom>
          <a:noFill/>
          <a:ln w="9525">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833" name="Text Box 1180"/>
          <p:cNvSpPr txBox="1">
            <a:spLocks noChangeArrowheads="1"/>
          </p:cNvSpPr>
          <p:nvPr/>
        </p:nvSpPr>
        <p:spPr bwMode="auto">
          <a:xfrm>
            <a:off x="3779838" y="4233863"/>
            <a:ext cx="18002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000">
                <a:solidFill>
                  <a:srgbClr val="000000"/>
                </a:solidFill>
                <a:latin typeface="Comic Sans MS" panose="030F0702030302020204" pitchFamily="66" charset="0"/>
                <a:ea typeface="宋体" panose="02010600030101010101" pitchFamily="2" charset="-122"/>
              </a:rPr>
              <a:t>重复启动周期</a:t>
            </a:r>
            <a:endParaRPr lang="zh-CN" altLang="en-US" sz="2000">
              <a:solidFill>
                <a:srgbClr val="000000"/>
              </a:solidFill>
              <a:latin typeface="Comic Sans MS" panose="030F0702030302020204" pitchFamily="66" charset="0"/>
              <a:ea typeface="宋体" panose="02010600030101010101" pitchFamily="2" charset="-122"/>
            </a:endParaRPr>
          </a:p>
        </p:txBody>
      </p:sp>
      <p:sp>
        <p:nvSpPr>
          <p:cNvPr id="71834" name="Line 1181"/>
          <p:cNvSpPr>
            <a:spLocks noChangeShapeType="1"/>
          </p:cNvSpPr>
          <p:nvPr/>
        </p:nvSpPr>
        <p:spPr bwMode="auto">
          <a:xfrm>
            <a:off x="5435600" y="4437063"/>
            <a:ext cx="144463" cy="0"/>
          </a:xfrm>
          <a:prstGeom prst="line">
            <a:avLst/>
          </a:prstGeom>
          <a:noFill/>
          <a:ln w="9525">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835" name="Line 1182"/>
          <p:cNvSpPr>
            <a:spLocks noChangeShapeType="1"/>
          </p:cNvSpPr>
          <p:nvPr/>
        </p:nvSpPr>
        <p:spPr bwMode="auto">
          <a:xfrm flipH="1">
            <a:off x="3779838" y="4437063"/>
            <a:ext cx="144462" cy="0"/>
          </a:xfrm>
          <a:prstGeom prst="line">
            <a:avLst/>
          </a:prstGeom>
          <a:noFill/>
          <a:ln w="9525">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42" name="Rectangle 2"/>
          <p:cNvSpPr>
            <a:spLocks noGrp="1" noChangeArrowheads="1"/>
          </p:cNvSpPr>
          <p:nvPr>
            <p:ph type="title"/>
          </p:nvPr>
        </p:nvSpPr>
        <p:spPr/>
        <p:txBody>
          <a:bodyPr/>
          <a:lstStyle/>
          <a:p>
            <a:pPr eaLnBrk="1" hangingPunct="1">
              <a:defRPr/>
            </a:pPr>
            <a:r>
              <a:rPr lang="zh-CN" altLang="en-US" smtClean="0"/>
              <a:t>优化调度方法</a:t>
            </a:r>
            <a:endParaRPr lang="zh-CN" altLang="en-US" smtClean="0"/>
          </a:p>
        </p:txBody>
      </p:sp>
      <p:sp>
        <p:nvSpPr>
          <p:cNvPr id="7270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sp>
        <p:nvSpPr>
          <p:cNvPr id="624644" name="Rectangle 4"/>
          <p:cNvSpPr>
            <a:spLocks noGrp="1" noChangeArrowheads="1"/>
          </p:cNvSpPr>
          <p:nvPr>
            <p:ph type="body" idx="1"/>
          </p:nvPr>
        </p:nvSpPr>
        <p:spPr>
          <a:xfrm>
            <a:off x="809625" y="1989138"/>
            <a:ext cx="7958138" cy="4330700"/>
          </a:xfrm>
        </p:spPr>
        <p:txBody>
          <a:bodyPr/>
          <a:lstStyle/>
          <a:p>
            <a:pPr marL="0" indent="0" eaLnBrk="1" hangingPunct="1">
              <a:lnSpc>
                <a:spcPct val="110000"/>
              </a:lnSpc>
              <a:buClr>
                <a:srgbClr val="FF0000"/>
              </a:buClr>
              <a:defRPr/>
            </a:pPr>
            <a:r>
              <a:rPr lang="zh-CN" altLang="en-US" sz="2800" smtClean="0">
                <a:solidFill>
                  <a:srgbClr val="FF0000"/>
                </a:solidFill>
                <a:effectLst>
                  <a:outerShdw blurRad="38100" dist="38100" dir="2700000" algn="tl">
                    <a:srgbClr val="C0C0C0"/>
                  </a:outerShdw>
                </a:effectLst>
              </a:rPr>
              <a:t>  问题</a:t>
            </a:r>
            <a:endParaRPr lang="zh-CN" altLang="en-US" sz="2800" smtClean="0">
              <a:solidFill>
                <a:srgbClr val="FF0000"/>
              </a:solidFill>
              <a:effectLst>
                <a:outerShdw blurRad="38100" dist="38100" dir="2700000" algn="tl">
                  <a:srgbClr val="C0C0C0"/>
                </a:outerShdw>
              </a:effectLst>
            </a:endParaRPr>
          </a:p>
          <a:p>
            <a:pPr marL="0" indent="0" eaLnBrk="1" hangingPunct="1">
              <a:lnSpc>
                <a:spcPct val="110000"/>
              </a:lnSpc>
              <a:buFont typeface="Wingdings" panose="05000000000000000000" pitchFamily="2" charset="2"/>
              <a:buNone/>
              <a:defRPr/>
            </a:pPr>
            <a:r>
              <a:rPr lang="zh-CN" altLang="en-US" sz="2800" smtClean="0"/>
              <a:t>    当采用最小启动循环启动非线性流水线时，没有充分发挥非线性流水线的效率，因为流水线中的许多流水段还有空闲，即使最繁忙的流水段也有空闲。</a:t>
            </a:r>
            <a:endParaRPr lang="zh-CN" altLang="en-US" sz="2800" smtClean="0"/>
          </a:p>
          <a:p>
            <a:pPr marL="0" indent="0" eaLnBrk="1" hangingPunct="1">
              <a:lnSpc>
                <a:spcPct val="110000"/>
              </a:lnSpc>
              <a:buClr>
                <a:srgbClr val="FF0000"/>
              </a:buClr>
              <a:defRPr/>
            </a:pPr>
            <a:r>
              <a:rPr lang="zh-CN" altLang="en-US" sz="2800" smtClean="0">
                <a:solidFill>
                  <a:srgbClr val="FF0000"/>
                </a:solidFill>
                <a:effectLst>
                  <a:outerShdw blurRad="38100" dist="38100" dir="2700000" algn="tl">
                    <a:srgbClr val="C0C0C0"/>
                  </a:outerShdw>
                </a:effectLst>
              </a:rPr>
              <a:t>  解决</a:t>
            </a:r>
            <a:endParaRPr lang="zh-CN" altLang="en-US" sz="2800" smtClean="0">
              <a:solidFill>
                <a:srgbClr val="FF0000"/>
              </a:solidFill>
              <a:effectLst>
                <a:outerShdw blurRad="38100" dist="38100" dir="2700000" algn="tl">
                  <a:srgbClr val="C0C0C0"/>
                </a:outerShdw>
              </a:effectLst>
            </a:endParaRPr>
          </a:p>
          <a:p>
            <a:pPr marL="0" indent="0" eaLnBrk="1" hangingPunct="1">
              <a:lnSpc>
                <a:spcPct val="110000"/>
              </a:lnSpc>
              <a:buFont typeface="Wingdings" panose="05000000000000000000" pitchFamily="2" charset="2"/>
              <a:buNone/>
              <a:defRPr/>
            </a:pPr>
            <a:r>
              <a:rPr lang="zh-CN" altLang="en-US" sz="2800" smtClean="0"/>
              <a:t>    采用非线性流水线的优化调度方法（预留算法），可以使流水线的工作效率最高。</a:t>
            </a:r>
            <a:endParaRPr lang="zh-CN" altLang="en-US" sz="2800" smtClean="0"/>
          </a:p>
        </p:txBody>
      </p:sp>
      <p:sp>
        <p:nvSpPr>
          <p:cNvPr id="72709"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7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3074" name="Rectangle 2"/>
          <p:cNvSpPr>
            <a:spLocks noGrp="1" noChangeArrowheads="1"/>
          </p:cNvSpPr>
          <p:nvPr>
            <p:ph type="title"/>
          </p:nvPr>
        </p:nvSpPr>
        <p:spPr/>
        <p:txBody>
          <a:bodyPr/>
          <a:lstStyle/>
          <a:p>
            <a:pPr eaLnBrk="1" hangingPunct="1">
              <a:defRPr/>
            </a:pPr>
            <a:r>
              <a:rPr lang="zh-CN" altLang="en-US" smtClean="0"/>
              <a:t>理论基础</a:t>
            </a:r>
            <a:endParaRPr lang="zh-CN" altLang="en-US" smtClean="0"/>
          </a:p>
        </p:txBody>
      </p:sp>
      <p:sp>
        <p:nvSpPr>
          <p:cNvPr id="7373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sp>
        <p:nvSpPr>
          <p:cNvPr id="643077" name="Rectangle 5"/>
          <p:cNvSpPr>
            <a:spLocks noGrp="1" noChangeArrowheads="1"/>
          </p:cNvSpPr>
          <p:nvPr>
            <p:ph type="body" idx="1"/>
          </p:nvPr>
        </p:nvSpPr>
        <p:spPr>
          <a:xfrm>
            <a:off x="809625" y="1989138"/>
            <a:ext cx="7958138" cy="4330700"/>
          </a:xfrm>
        </p:spPr>
        <p:txBody>
          <a:bodyPr/>
          <a:lstStyle/>
          <a:p>
            <a:pPr marL="374650" indent="-374650" eaLnBrk="1" hangingPunct="1">
              <a:lnSpc>
                <a:spcPct val="110000"/>
              </a:lnSpc>
              <a:buFont typeface="Wingdings" panose="05000000000000000000" pitchFamily="2" charset="2"/>
              <a:buNone/>
              <a:defRPr/>
            </a:pPr>
            <a:r>
              <a:rPr lang="en-US" altLang="zh-CN" sz="2800" smtClean="0"/>
              <a:t>            L.E.Shar</a:t>
            </a:r>
            <a:r>
              <a:rPr lang="zh-CN" altLang="en-US" sz="2800" smtClean="0"/>
              <a:t>于1972年提出流水线最小平均启动距离的限制范围并于1992年进行了证明：</a:t>
            </a:r>
            <a:endParaRPr lang="zh-CN" altLang="en-US" sz="2800" smtClean="0"/>
          </a:p>
          <a:p>
            <a:pPr marL="374650" indent="-374650" eaLnBrk="1" hangingPunct="1">
              <a:lnSpc>
                <a:spcPct val="110000"/>
              </a:lnSpc>
              <a:defRPr/>
            </a:pPr>
            <a:r>
              <a:rPr lang="zh-CN" altLang="en-US" sz="2800" smtClean="0">
                <a:solidFill>
                  <a:srgbClr val="FF0000"/>
                </a:solidFill>
                <a:effectLst>
                  <a:outerShdw blurRad="38100" dist="38100" dir="2700000" algn="tl">
                    <a:srgbClr val="C0C0C0"/>
                  </a:outerShdw>
                </a:effectLst>
                <a:latin typeface="楷体_GB2312" pitchFamily="49" charset="-122"/>
              </a:rPr>
              <a:t>最小平均启动距离的下限是预约表中任意一行里</a:t>
            </a:r>
            <a:r>
              <a:rPr lang="zh-CN" altLang="en-US" sz="2800" smtClean="0">
                <a:solidFill>
                  <a:srgbClr val="FF0000"/>
                </a:solidFill>
                <a:effectLst>
                  <a:outerShdw blurRad="38100" dist="38100" dir="2700000" algn="tl">
                    <a:srgbClr val="C0C0C0"/>
                  </a:outerShdw>
                </a:effectLst>
              </a:rPr>
              <a:t>“</a:t>
            </a:r>
            <a:r>
              <a:rPr lang="zh-CN" altLang="en-US" sz="2800" smtClean="0">
                <a:solidFill>
                  <a:srgbClr val="FF0000"/>
                </a:solidFill>
                <a:effectLst>
                  <a:outerShdw blurRad="38100" dist="38100" dir="2700000" algn="tl">
                    <a:srgbClr val="C0C0C0"/>
                  </a:outerShdw>
                </a:effectLst>
                <a:latin typeface="楷体_GB2312" pitchFamily="49" charset="-122"/>
              </a:rPr>
              <a:t>×</a:t>
            </a:r>
            <a:r>
              <a:rPr lang="zh-CN" altLang="en-US" sz="2800" smtClean="0">
                <a:solidFill>
                  <a:srgbClr val="FF0000"/>
                </a:solidFill>
                <a:effectLst>
                  <a:outerShdw blurRad="38100" dist="38100" dir="2700000" algn="tl">
                    <a:srgbClr val="C0C0C0"/>
                  </a:outerShdw>
                </a:effectLst>
              </a:rPr>
              <a:t>”</a:t>
            </a:r>
            <a:r>
              <a:rPr lang="zh-CN" altLang="en-US" sz="2800" smtClean="0">
                <a:solidFill>
                  <a:srgbClr val="FF0000"/>
                </a:solidFill>
                <a:effectLst>
                  <a:outerShdw blurRad="38100" dist="38100" dir="2700000" algn="tl">
                    <a:srgbClr val="C0C0C0"/>
                  </a:outerShdw>
                </a:effectLst>
                <a:latin typeface="楷体_GB2312" pitchFamily="49" charset="-122"/>
              </a:rPr>
              <a:t>的最多个数。</a:t>
            </a:r>
            <a:endParaRPr lang="zh-CN" altLang="en-US" sz="2800" smtClean="0">
              <a:solidFill>
                <a:srgbClr val="FF0000"/>
              </a:solidFill>
              <a:effectLst>
                <a:outerShdw blurRad="38100" dist="38100" dir="2700000" algn="tl">
                  <a:srgbClr val="C0C0C0"/>
                </a:outerShdw>
              </a:effectLst>
              <a:latin typeface="楷体_GB2312" pitchFamily="49" charset="-122"/>
            </a:endParaRPr>
          </a:p>
          <a:p>
            <a:pPr marL="374650" indent="-374650" eaLnBrk="1" hangingPunct="1">
              <a:lnSpc>
                <a:spcPct val="110000"/>
              </a:lnSpc>
              <a:defRPr/>
            </a:pPr>
            <a:r>
              <a:rPr lang="zh-CN" altLang="en-US" sz="2800" smtClean="0">
                <a:solidFill>
                  <a:srgbClr val="FF0000"/>
                </a:solidFill>
                <a:latin typeface="楷体_GB2312" pitchFamily="49" charset="-122"/>
              </a:rPr>
              <a:t>最小平均启动距离小于等于状态图中任意一个简单循环的平均启动距离。</a:t>
            </a:r>
            <a:endParaRPr lang="zh-CN" altLang="en-US" sz="2800" smtClean="0">
              <a:solidFill>
                <a:srgbClr val="FF0000"/>
              </a:solidFill>
              <a:latin typeface="楷体_GB2312" pitchFamily="49" charset="-122"/>
            </a:endParaRPr>
          </a:p>
          <a:p>
            <a:pPr marL="374650" indent="-374650" eaLnBrk="1" hangingPunct="1">
              <a:lnSpc>
                <a:spcPct val="110000"/>
              </a:lnSpc>
              <a:defRPr/>
            </a:pPr>
            <a:r>
              <a:rPr lang="zh-CN" altLang="en-US" sz="2800" smtClean="0">
                <a:solidFill>
                  <a:srgbClr val="FF0000"/>
                </a:solidFill>
                <a:latin typeface="楷体_GB2312" pitchFamily="49" charset="-122"/>
              </a:rPr>
              <a:t>最小平均启动距离的上限是冲突向量中1的个数再加上1。</a:t>
            </a:r>
            <a:endParaRPr lang="zh-CN" altLang="en-US" sz="2800" smtClean="0">
              <a:solidFill>
                <a:srgbClr val="FF0000"/>
              </a:solidFill>
              <a:latin typeface="楷体_GB2312" pitchFamily="49" charset="-122"/>
            </a:endParaRPr>
          </a:p>
        </p:txBody>
      </p:sp>
      <p:sp>
        <p:nvSpPr>
          <p:cNvPr id="73733"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7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4098" name="Rectangle 2"/>
          <p:cNvSpPr>
            <a:spLocks noGrp="1" noChangeArrowheads="1"/>
          </p:cNvSpPr>
          <p:nvPr>
            <p:ph type="title"/>
          </p:nvPr>
        </p:nvSpPr>
        <p:spPr/>
        <p:txBody>
          <a:bodyPr/>
          <a:lstStyle/>
          <a:p>
            <a:pPr eaLnBrk="1" hangingPunct="1">
              <a:defRPr/>
            </a:pPr>
            <a:r>
              <a:rPr lang="zh-CN" altLang="en-US" smtClean="0"/>
              <a:t>预留算法</a:t>
            </a:r>
            <a:endParaRPr lang="zh-CN" altLang="en-US" smtClean="0"/>
          </a:p>
        </p:txBody>
      </p:sp>
      <p:sp>
        <p:nvSpPr>
          <p:cNvPr id="7475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sp>
        <p:nvSpPr>
          <p:cNvPr id="644101" name="Rectangle 5"/>
          <p:cNvSpPr>
            <a:spLocks noGrp="1" noChangeArrowheads="1"/>
          </p:cNvSpPr>
          <p:nvPr>
            <p:ph type="body" idx="1"/>
          </p:nvPr>
        </p:nvSpPr>
        <p:spPr>
          <a:xfrm>
            <a:off x="809625" y="1989138"/>
            <a:ext cx="7958138" cy="4330700"/>
          </a:xfrm>
        </p:spPr>
        <p:txBody>
          <a:bodyPr/>
          <a:lstStyle/>
          <a:p>
            <a:pPr marL="0" indent="0" eaLnBrk="1" hangingPunct="1">
              <a:lnSpc>
                <a:spcPct val="115000"/>
              </a:lnSpc>
              <a:buClr>
                <a:srgbClr val="FF0000"/>
              </a:buClr>
              <a:defRPr/>
            </a:pPr>
            <a:r>
              <a:rPr lang="zh-CN" altLang="en-US" sz="2400" smtClean="0">
                <a:solidFill>
                  <a:srgbClr val="FF0000"/>
                </a:solidFill>
                <a:effectLst>
                  <a:outerShdw blurRad="38100" dist="38100" dir="2700000" algn="tl">
                    <a:srgbClr val="C0C0C0"/>
                  </a:outerShdw>
                </a:effectLst>
              </a:rPr>
              <a:t>  确定流水线的最小启动距离</a:t>
            </a:r>
            <a:endParaRPr lang="zh-CN" altLang="en-US" sz="2400" smtClean="0">
              <a:solidFill>
                <a:srgbClr val="FF0000"/>
              </a:solidFill>
              <a:effectLst>
                <a:outerShdw blurRad="38100" dist="38100" dir="2700000" algn="tl">
                  <a:srgbClr val="C0C0C0"/>
                </a:outerShdw>
              </a:effectLst>
            </a:endParaRPr>
          </a:p>
          <a:p>
            <a:pPr marL="0" indent="0" eaLnBrk="1" hangingPunct="1">
              <a:lnSpc>
                <a:spcPct val="115000"/>
              </a:lnSpc>
              <a:buFont typeface="Wingdings" panose="05000000000000000000" pitchFamily="2" charset="2"/>
              <a:buNone/>
              <a:defRPr/>
            </a:pPr>
            <a:r>
              <a:rPr lang="zh-CN" altLang="en-US" sz="2400" smtClean="0"/>
              <a:t>    最小启动距离等于预约表中任意一行中“×”的最大个数。</a:t>
            </a:r>
            <a:endParaRPr lang="zh-CN" altLang="en-US" sz="2400" smtClean="0"/>
          </a:p>
          <a:p>
            <a:pPr marL="0" indent="0" eaLnBrk="1" hangingPunct="1">
              <a:lnSpc>
                <a:spcPct val="115000"/>
              </a:lnSpc>
              <a:buClr>
                <a:srgbClr val="FF0000"/>
              </a:buClr>
              <a:defRPr/>
            </a:pPr>
            <a:r>
              <a:rPr lang="zh-CN" altLang="en-US" sz="2400" smtClean="0">
                <a:solidFill>
                  <a:srgbClr val="FF0000"/>
                </a:solidFill>
                <a:effectLst>
                  <a:outerShdw blurRad="38100" dist="38100" dir="2700000" algn="tl">
                    <a:srgbClr val="C0C0C0"/>
                  </a:outerShdw>
                </a:effectLst>
              </a:rPr>
              <a:t>  确定最小启动循环</a:t>
            </a:r>
            <a:endParaRPr lang="zh-CN" altLang="en-US" sz="2400" smtClean="0">
              <a:solidFill>
                <a:srgbClr val="FF0000"/>
              </a:solidFill>
              <a:effectLst>
                <a:outerShdw blurRad="38100" dist="38100" dir="2700000" algn="tl">
                  <a:srgbClr val="C0C0C0"/>
                </a:outerShdw>
              </a:effectLst>
            </a:endParaRPr>
          </a:p>
          <a:p>
            <a:pPr marL="0" indent="0" eaLnBrk="1" hangingPunct="1">
              <a:lnSpc>
                <a:spcPct val="115000"/>
              </a:lnSpc>
              <a:buFont typeface="Wingdings" panose="05000000000000000000" pitchFamily="2" charset="2"/>
              <a:buNone/>
              <a:defRPr/>
            </a:pPr>
            <a:r>
              <a:rPr lang="zh-CN" altLang="en-US" sz="2400" smtClean="0"/>
              <a:t>    为简化流水线的控制逻辑，一般采用恒定循环作为最小启动循环。</a:t>
            </a:r>
            <a:endParaRPr lang="zh-CN" altLang="en-US" sz="2400" smtClean="0"/>
          </a:p>
          <a:p>
            <a:pPr marL="0" indent="0" eaLnBrk="1" hangingPunct="1">
              <a:lnSpc>
                <a:spcPct val="115000"/>
              </a:lnSpc>
              <a:buClr>
                <a:srgbClr val="FF0000"/>
              </a:buClr>
              <a:defRPr/>
            </a:pPr>
            <a:r>
              <a:rPr lang="zh-CN" altLang="en-US" sz="2400" smtClean="0">
                <a:solidFill>
                  <a:srgbClr val="FF0000"/>
                </a:solidFill>
                <a:effectLst>
                  <a:outerShdw blurRad="38100" dist="38100" dir="2700000" algn="tl">
                    <a:srgbClr val="C0C0C0"/>
                  </a:outerShdw>
                </a:effectLst>
              </a:rPr>
              <a:t>  插入延迟进行预留</a:t>
            </a:r>
            <a:endParaRPr lang="zh-CN" altLang="en-US" sz="2400" smtClean="0">
              <a:solidFill>
                <a:srgbClr val="FF0000"/>
              </a:solidFill>
              <a:effectLst>
                <a:outerShdw blurRad="38100" dist="38100" dir="2700000" algn="tl">
                  <a:srgbClr val="C0C0C0"/>
                </a:outerShdw>
              </a:effectLst>
            </a:endParaRPr>
          </a:p>
          <a:p>
            <a:pPr marL="0" indent="0" eaLnBrk="1" hangingPunct="1">
              <a:lnSpc>
                <a:spcPct val="115000"/>
              </a:lnSpc>
              <a:buClr>
                <a:srgbClr val="FF0000"/>
              </a:buClr>
              <a:buFont typeface="Wingdings" panose="05000000000000000000" pitchFamily="2" charset="2"/>
              <a:buNone/>
              <a:defRPr/>
            </a:pPr>
            <a:r>
              <a:rPr lang="zh-CN" altLang="en-US" sz="2400" smtClean="0"/>
              <a:t>    对预约表中任意一行中任意两个“×”之间的距离是最小启动距离整数倍的通过插入延迟进行预留。</a:t>
            </a:r>
            <a:endParaRPr lang="zh-CN" altLang="en-US" sz="2400" smtClean="0"/>
          </a:p>
        </p:txBody>
      </p:sp>
      <p:sp>
        <p:nvSpPr>
          <p:cNvPr id="74757"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7 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2"/>
          <p:cNvSpPr>
            <a:spLocks noGrp="1" noChangeArrowheads="1"/>
          </p:cNvSpPr>
          <p:nvPr>
            <p:ph type="title"/>
          </p:nvPr>
        </p:nvSpPr>
        <p:spPr/>
        <p:txBody>
          <a:bodyPr/>
          <a:lstStyle/>
          <a:p>
            <a:pPr eaLnBrk="1" hangingPunct="1">
              <a:defRPr/>
            </a:pPr>
            <a:r>
              <a:rPr lang="zh-CN" altLang="en-US" smtClean="0"/>
              <a:t>举例-</a:t>
            </a:r>
            <a:r>
              <a:rPr lang="zh-CN" altLang="en-US" sz="3600" smtClean="0"/>
              <a:t>优化前（前例）</a:t>
            </a:r>
            <a:endParaRPr lang="zh-CN" altLang="en-US" sz="3600" smtClean="0"/>
          </a:p>
        </p:txBody>
      </p:sp>
      <p:sp>
        <p:nvSpPr>
          <p:cNvPr id="7577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grpSp>
        <p:nvGrpSpPr>
          <p:cNvPr id="75780" name="Group 6"/>
          <p:cNvGrpSpPr/>
          <p:nvPr/>
        </p:nvGrpSpPr>
        <p:grpSpPr bwMode="auto">
          <a:xfrm>
            <a:off x="1143000" y="3810000"/>
            <a:ext cx="7543800" cy="2513013"/>
            <a:chOff x="720" y="2544"/>
            <a:chExt cx="4752" cy="1439"/>
          </a:xfrm>
        </p:grpSpPr>
        <p:sp>
          <p:nvSpPr>
            <p:cNvPr id="75808" name="Rectangle 7"/>
            <p:cNvSpPr>
              <a:spLocks noChangeArrowheads="1"/>
            </p:cNvSpPr>
            <p:nvPr/>
          </p:nvSpPr>
          <p:spPr bwMode="auto">
            <a:xfrm>
              <a:off x="4878"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09" name="Rectangle 8"/>
            <p:cNvSpPr>
              <a:spLocks noChangeArrowheads="1"/>
            </p:cNvSpPr>
            <p:nvPr/>
          </p:nvSpPr>
          <p:spPr bwMode="auto">
            <a:xfrm>
              <a:off x="4284"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10" name="Rectangle 9"/>
            <p:cNvSpPr>
              <a:spLocks noChangeArrowheads="1"/>
            </p:cNvSpPr>
            <p:nvPr/>
          </p:nvSpPr>
          <p:spPr bwMode="auto">
            <a:xfrm>
              <a:off x="3690"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11" name="Rectangle 10"/>
            <p:cNvSpPr>
              <a:spLocks noChangeArrowheads="1"/>
            </p:cNvSpPr>
            <p:nvPr/>
          </p:nvSpPr>
          <p:spPr bwMode="auto">
            <a:xfrm>
              <a:off x="3096"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12" name="Rectangle 11"/>
            <p:cNvSpPr>
              <a:spLocks noChangeArrowheads="1"/>
            </p:cNvSpPr>
            <p:nvPr/>
          </p:nvSpPr>
          <p:spPr bwMode="auto">
            <a:xfrm>
              <a:off x="3120" y="3696"/>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75813" name="Rectangle 12"/>
            <p:cNvSpPr>
              <a:spLocks noChangeArrowheads="1"/>
            </p:cNvSpPr>
            <p:nvPr/>
          </p:nvSpPr>
          <p:spPr bwMode="auto">
            <a:xfrm>
              <a:off x="1908"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14" name="Rectangle 13"/>
            <p:cNvSpPr>
              <a:spLocks noChangeArrowheads="1"/>
            </p:cNvSpPr>
            <p:nvPr/>
          </p:nvSpPr>
          <p:spPr bwMode="auto">
            <a:xfrm>
              <a:off x="1344" y="3692"/>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15" name="Rectangle 14"/>
            <p:cNvSpPr>
              <a:spLocks noChangeArrowheads="1"/>
            </p:cNvSpPr>
            <p:nvPr/>
          </p:nvSpPr>
          <p:spPr bwMode="auto">
            <a:xfrm>
              <a:off x="720" y="3692"/>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S4</a:t>
              </a:r>
              <a:endParaRPr lang="en-US" altLang="zh-CN" sz="2400"/>
            </a:p>
          </p:txBody>
        </p:sp>
        <p:sp>
          <p:nvSpPr>
            <p:cNvPr id="75816" name="Rectangle 15"/>
            <p:cNvSpPr>
              <a:spLocks noChangeArrowheads="1"/>
            </p:cNvSpPr>
            <p:nvPr/>
          </p:nvSpPr>
          <p:spPr bwMode="auto">
            <a:xfrm>
              <a:off x="4878"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17" name="Rectangle 16"/>
            <p:cNvSpPr>
              <a:spLocks noChangeArrowheads="1"/>
            </p:cNvSpPr>
            <p:nvPr/>
          </p:nvSpPr>
          <p:spPr bwMode="auto">
            <a:xfrm>
              <a:off x="3696" y="340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75818" name="Rectangle 17"/>
            <p:cNvSpPr>
              <a:spLocks noChangeArrowheads="1"/>
            </p:cNvSpPr>
            <p:nvPr/>
          </p:nvSpPr>
          <p:spPr bwMode="auto">
            <a:xfrm>
              <a:off x="3690"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19" name="Rectangle 18"/>
            <p:cNvSpPr>
              <a:spLocks noChangeArrowheads="1"/>
            </p:cNvSpPr>
            <p:nvPr/>
          </p:nvSpPr>
          <p:spPr bwMode="auto">
            <a:xfrm>
              <a:off x="3096"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20" name="Rectangle 19"/>
            <p:cNvSpPr>
              <a:spLocks noChangeArrowheads="1"/>
            </p:cNvSpPr>
            <p:nvPr/>
          </p:nvSpPr>
          <p:spPr bwMode="auto">
            <a:xfrm>
              <a:off x="2502"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21" name="Rectangle 20"/>
            <p:cNvSpPr>
              <a:spLocks noChangeArrowheads="1"/>
            </p:cNvSpPr>
            <p:nvPr/>
          </p:nvSpPr>
          <p:spPr bwMode="auto">
            <a:xfrm>
              <a:off x="2496" y="340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75822" name="Rectangle 21"/>
            <p:cNvSpPr>
              <a:spLocks noChangeArrowheads="1"/>
            </p:cNvSpPr>
            <p:nvPr/>
          </p:nvSpPr>
          <p:spPr bwMode="auto">
            <a:xfrm>
              <a:off x="1344" y="3405"/>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23" name="Rectangle 22"/>
            <p:cNvSpPr>
              <a:spLocks noChangeArrowheads="1"/>
            </p:cNvSpPr>
            <p:nvPr/>
          </p:nvSpPr>
          <p:spPr bwMode="auto">
            <a:xfrm>
              <a:off x="720" y="3405"/>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S3</a:t>
              </a:r>
              <a:endParaRPr lang="en-US" altLang="zh-CN" sz="2400"/>
            </a:p>
          </p:txBody>
        </p:sp>
        <p:sp>
          <p:nvSpPr>
            <p:cNvPr id="75824" name="Rectangle 23"/>
            <p:cNvSpPr>
              <a:spLocks noChangeArrowheads="1"/>
            </p:cNvSpPr>
            <p:nvPr/>
          </p:nvSpPr>
          <p:spPr bwMode="auto">
            <a:xfrm>
              <a:off x="4878"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25" name="Rectangle 24"/>
            <p:cNvSpPr>
              <a:spLocks noChangeArrowheads="1"/>
            </p:cNvSpPr>
            <p:nvPr/>
          </p:nvSpPr>
          <p:spPr bwMode="auto">
            <a:xfrm>
              <a:off x="4284"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26" name="Rectangle 25"/>
            <p:cNvSpPr>
              <a:spLocks noChangeArrowheads="1"/>
            </p:cNvSpPr>
            <p:nvPr/>
          </p:nvSpPr>
          <p:spPr bwMode="auto">
            <a:xfrm>
              <a:off x="4272" y="3120"/>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75827" name="Rectangle 26"/>
            <p:cNvSpPr>
              <a:spLocks noChangeArrowheads="1"/>
            </p:cNvSpPr>
            <p:nvPr/>
          </p:nvSpPr>
          <p:spPr bwMode="auto">
            <a:xfrm>
              <a:off x="3096"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28" name="Rectangle 27"/>
            <p:cNvSpPr>
              <a:spLocks noChangeArrowheads="1"/>
            </p:cNvSpPr>
            <p:nvPr/>
          </p:nvSpPr>
          <p:spPr bwMode="auto">
            <a:xfrm>
              <a:off x="2502"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29" name="Rectangle 28"/>
            <p:cNvSpPr>
              <a:spLocks noChangeArrowheads="1"/>
            </p:cNvSpPr>
            <p:nvPr/>
          </p:nvSpPr>
          <p:spPr bwMode="auto">
            <a:xfrm>
              <a:off x="1908"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75830" name="Rectangle 29"/>
            <p:cNvSpPr>
              <a:spLocks noChangeArrowheads="1"/>
            </p:cNvSpPr>
            <p:nvPr/>
          </p:nvSpPr>
          <p:spPr bwMode="auto">
            <a:xfrm>
              <a:off x="1344" y="3118"/>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31" name="Rectangle 30"/>
            <p:cNvSpPr>
              <a:spLocks noChangeArrowheads="1"/>
            </p:cNvSpPr>
            <p:nvPr/>
          </p:nvSpPr>
          <p:spPr bwMode="auto">
            <a:xfrm>
              <a:off x="720" y="3118"/>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S2</a:t>
              </a:r>
              <a:endParaRPr lang="en-US" altLang="zh-CN" sz="2400"/>
            </a:p>
          </p:txBody>
        </p:sp>
        <p:sp>
          <p:nvSpPr>
            <p:cNvPr id="75832" name="Rectangle 31"/>
            <p:cNvSpPr>
              <a:spLocks noChangeArrowheads="1"/>
            </p:cNvSpPr>
            <p:nvPr/>
          </p:nvSpPr>
          <p:spPr bwMode="auto">
            <a:xfrm>
              <a:off x="4878"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75833" name="Rectangle 32"/>
            <p:cNvSpPr>
              <a:spLocks noChangeArrowheads="1"/>
            </p:cNvSpPr>
            <p:nvPr/>
          </p:nvSpPr>
          <p:spPr bwMode="auto">
            <a:xfrm>
              <a:off x="4284"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34" name="Rectangle 33"/>
            <p:cNvSpPr>
              <a:spLocks noChangeArrowheads="1"/>
            </p:cNvSpPr>
            <p:nvPr/>
          </p:nvSpPr>
          <p:spPr bwMode="auto">
            <a:xfrm>
              <a:off x="3690"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35" name="Rectangle 34"/>
            <p:cNvSpPr>
              <a:spLocks noChangeArrowheads="1"/>
            </p:cNvSpPr>
            <p:nvPr/>
          </p:nvSpPr>
          <p:spPr bwMode="auto">
            <a:xfrm>
              <a:off x="2502"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36" name="Rectangle 35"/>
            <p:cNvSpPr>
              <a:spLocks noChangeArrowheads="1"/>
            </p:cNvSpPr>
            <p:nvPr/>
          </p:nvSpPr>
          <p:spPr bwMode="auto">
            <a:xfrm>
              <a:off x="1908"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endParaRPr lang="zh-CN" altLang="en-US" sz="2400"/>
            </a:p>
          </p:txBody>
        </p:sp>
        <p:sp>
          <p:nvSpPr>
            <p:cNvPr id="75837" name="Rectangle 36"/>
            <p:cNvSpPr>
              <a:spLocks noChangeArrowheads="1"/>
            </p:cNvSpPr>
            <p:nvPr/>
          </p:nvSpPr>
          <p:spPr bwMode="auto">
            <a:xfrm>
              <a:off x="1344" y="2831"/>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000000"/>
                  </a:solidFill>
                </a:rPr>
                <a:t>×</a:t>
              </a:r>
              <a:endParaRPr lang="zh-CN" altLang="en-US" sz="2400">
                <a:solidFill>
                  <a:srgbClr val="000000"/>
                </a:solidFill>
              </a:endParaRPr>
            </a:p>
          </p:txBody>
        </p:sp>
        <p:sp>
          <p:nvSpPr>
            <p:cNvPr id="75838" name="Rectangle 37"/>
            <p:cNvSpPr>
              <a:spLocks noChangeArrowheads="1"/>
            </p:cNvSpPr>
            <p:nvPr/>
          </p:nvSpPr>
          <p:spPr bwMode="auto">
            <a:xfrm>
              <a:off x="720" y="2831"/>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S1</a:t>
              </a:r>
              <a:endParaRPr lang="en-US" altLang="zh-CN" sz="2400"/>
            </a:p>
          </p:txBody>
        </p:sp>
        <p:sp>
          <p:nvSpPr>
            <p:cNvPr id="75839" name="Rectangle 38"/>
            <p:cNvSpPr>
              <a:spLocks noChangeArrowheads="1"/>
            </p:cNvSpPr>
            <p:nvPr/>
          </p:nvSpPr>
          <p:spPr bwMode="auto">
            <a:xfrm>
              <a:off x="4878"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7</a:t>
              </a:r>
              <a:endParaRPr lang="zh-CN" altLang="en-US" sz="2400"/>
            </a:p>
          </p:txBody>
        </p:sp>
        <p:sp>
          <p:nvSpPr>
            <p:cNvPr id="75840" name="Rectangle 39"/>
            <p:cNvSpPr>
              <a:spLocks noChangeArrowheads="1"/>
            </p:cNvSpPr>
            <p:nvPr/>
          </p:nvSpPr>
          <p:spPr bwMode="auto">
            <a:xfrm>
              <a:off x="4284"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6</a:t>
              </a:r>
              <a:endParaRPr lang="zh-CN" altLang="en-US" sz="2400"/>
            </a:p>
          </p:txBody>
        </p:sp>
        <p:sp>
          <p:nvSpPr>
            <p:cNvPr id="75841" name="Rectangle 40"/>
            <p:cNvSpPr>
              <a:spLocks noChangeArrowheads="1"/>
            </p:cNvSpPr>
            <p:nvPr/>
          </p:nvSpPr>
          <p:spPr bwMode="auto">
            <a:xfrm>
              <a:off x="3690"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5</a:t>
              </a:r>
              <a:endParaRPr lang="zh-CN" altLang="en-US" sz="2400"/>
            </a:p>
          </p:txBody>
        </p:sp>
        <p:sp>
          <p:nvSpPr>
            <p:cNvPr id="75842" name="Rectangle 41"/>
            <p:cNvSpPr>
              <a:spLocks noChangeArrowheads="1"/>
            </p:cNvSpPr>
            <p:nvPr/>
          </p:nvSpPr>
          <p:spPr bwMode="auto">
            <a:xfrm>
              <a:off x="3096"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4</a:t>
              </a:r>
              <a:endParaRPr lang="zh-CN" altLang="en-US" sz="2400"/>
            </a:p>
          </p:txBody>
        </p:sp>
        <p:sp>
          <p:nvSpPr>
            <p:cNvPr id="75843" name="Rectangle 42"/>
            <p:cNvSpPr>
              <a:spLocks noChangeArrowheads="1"/>
            </p:cNvSpPr>
            <p:nvPr/>
          </p:nvSpPr>
          <p:spPr bwMode="auto">
            <a:xfrm>
              <a:off x="2502"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3</a:t>
              </a:r>
              <a:endParaRPr lang="zh-CN" altLang="en-US" sz="2400"/>
            </a:p>
          </p:txBody>
        </p:sp>
        <p:sp>
          <p:nvSpPr>
            <p:cNvPr id="75844" name="Rectangle 43"/>
            <p:cNvSpPr>
              <a:spLocks noChangeArrowheads="1"/>
            </p:cNvSpPr>
            <p:nvPr/>
          </p:nvSpPr>
          <p:spPr bwMode="auto">
            <a:xfrm>
              <a:off x="1908"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2</a:t>
              </a:r>
              <a:endParaRPr lang="zh-CN" altLang="en-US" sz="2400"/>
            </a:p>
          </p:txBody>
        </p:sp>
        <p:sp>
          <p:nvSpPr>
            <p:cNvPr id="75845" name="Rectangle 44"/>
            <p:cNvSpPr>
              <a:spLocks noChangeArrowheads="1"/>
            </p:cNvSpPr>
            <p:nvPr/>
          </p:nvSpPr>
          <p:spPr bwMode="auto">
            <a:xfrm>
              <a:off x="1344" y="2544"/>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1</a:t>
              </a:r>
              <a:endParaRPr lang="zh-CN" altLang="en-US" sz="2400"/>
            </a:p>
          </p:txBody>
        </p:sp>
        <p:sp>
          <p:nvSpPr>
            <p:cNvPr id="75846" name="Rectangle 45"/>
            <p:cNvSpPr>
              <a:spLocks noChangeArrowheads="1"/>
            </p:cNvSpPr>
            <p:nvPr/>
          </p:nvSpPr>
          <p:spPr bwMode="auto">
            <a:xfrm>
              <a:off x="720" y="2544"/>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Font typeface="Wingdings" panose="05000000000000000000" pitchFamily="2" charset="2"/>
                <a:buNone/>
              </a:pPr>
              <a:r>
                <a:rPr lang="zh-CN" altLang="en-US" sz="1400"/>
                <a:t>         时间</a:t>
              </a:r>
              <a:endParaRPr lang="zh-CN" altLang="en-US" sz="1400"/>
            </a:p>
            <a:p>
              <a:pPr eaLnBrk="1" hangingPunct="1">
                <a:spcBef>
                  <a:spcPct val="0"/>
                </a:spcBef>
                <a:buFont typeface="Wingdings" panose="05000000000000000000" pitchFamily="2" charset="2"/>
                <a:buNone/>
              </a:pPr>
              <a:r>
                <a:rPr lang="zh-CN" altLang="en-US" sz="1400"/>
                <a:t>流水段</a:t>
              </a:r>
              <a:endParaRPr lang="zh-CN" altLang="en-US" sz="1400"/>
            </a:p>
          </p:txBody>
        </p:sp>
        <p:sp>
          <p:nvSpPr>
            <p:cNvPr id="75847" name="Line 46"/>
            <p:cNvSpPr>
              <a:spLocks noChangeShapeType="1"/>
            </p:cNvSpPr>
            <p:nvPr/>
          </p:nvSpPr>
          <p:spPr bwMode="auto">
            <a:xfrm>
              <a:off x="720" y="2544"/>
              <a:ext cx="4752" cy="0"/>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48" name="Line 47"/>
            <p:cNvSpPr>
              <a:spLocks noChangeShapeType="1"/>
            </p:cNvSpPr>
            <p:nvPr/>
          </p:nvSpPr>
          <p:spPr bwMode="auto">
            <a:xfrm>
              <a:off x="720" y="2831"/>
              <a:ext cx="4752"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49" name="Line 48"/>
            <p:cNvSpPr>
              <a:spLocks noChangeShapeType="1"/>
            </p:cNvSpPr>
            <p:nvPr/>
          </p:nvSpPr>
          <p:spPr bwMode="auto">
            <a:xfrm>
              <a:off x="720" y="3118"/>
              <a:ext cx="4752"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0" name="Line 49"/>
            <p:cNvSpPr>
              <a:spLocks noChangeShapeType="1"/>
            </p:cNvSpPr>
            <p:nvPr/>
          </p:nvSpPr>
          <p:spPr bwMode="auto">
            <a:xfrm>
              <a:off x="720" y="3405"/>
              <a:ext cx="4752"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1" name="Line 50"/>
            <p:cNvSpPr>
              <a:spLocks noChangeShapeType="1"/>
            </p:cNvSpPr>
            <p:nvPr/>
          </p:nvSpPr>
          <p:spPr bwMode="auto">
            <a:xfrm>
              <a:off x="720" y="3692"/>
              <a:ext cx="4752"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2" name="Line 51"/>
            <p:cNvSpPr>
              <a:spLocks noChangeShapeType="1"/>
            </p:cNvSpPr>
            <p:nvPr/>
          </p:nvSpPr>
          <p:spPr bwMode="auto">
            <a:xfrm>
              <a:off x="720" y="3979"/>
              <a:ext cx="4752" cy="0"/>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3" name="Line 52"/>
            <p:cNvSpPr>
              <a:spLocks noChangeShapeType="1"/>
            </p:cNvSpPr>
            <p:nvPr/>
          </p:nvSpPr>
          <p:spPr bwMode="auto">
            <a:xfrm>
              <a:off x="720" y="2544"/>
              <a:ext cx="0" cy="1435"/>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4" name="Line 53"/>
            <p:cNvSpPr>
              <a:spLocks noChangeShapeType="1"/>
            </p:cNvSpPr>
            <p:nvPr/>
          </p:nvSpPr>
          <p:spPr bwMode="auto">
            <a:xfrm>
              <a:off x="1344"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5" name="Line 54"/>
            <p:cNvSpPr>
              <a:spLocks noChangeShapeType="1"/>
            </p:cNvSpPr>
            <p:nvPr/>
          </p:nvSpPr>
          <p:spPr bwMode="auto">
            <a:xfrm>
              <a:off x="1908"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6" name="Line 55"/>
            <p:cNvSpPr>
              <a:spLocks noChangeShapeType="1"/>
            </p:cNvSpPr>
            <p:nvPr/>
          </p:nvSpPr>
          <p:spPr bwMode="auto">
            <a:xfrm>
              <a:off x="2502"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7" name="Line 56"/>
            <p:cNvSpPr>
              <a:spLocks noChangeShapeType="1"/>
            </p:cNvSpPr>
            <p:nvPr/>
          </p:nvSpPr>
          <p:spPr bwMode="auto">
            <a:xfrm>
              <a:off x="3096"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8" name="Line 57"/>
            <p:cNvSpPr>
              <a:spLocks noChangeShapeType="1"/>
            </p:cNvSpPr>
            <p:nvPr/>
          </p:nvSpPr>
          <p:spPr bwMode="auto">
            <a:xfrm>
              <a:off x="3690"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9" name="Line 58"/>
            <p:cNvSpPr>
              <a:spLocks noChangeShapeType="1"/>
            </p:cNvSpPr>
            <p:nvPr/>
          </p:nvSpPr>
          <p:spPr bwMode="auto">
            <a:xfrm>
              <a:off x="4284"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60" name="Line 59"/>
            <p:cNvSpPr>
              <a:spLocks noChangeShapeType="1"/>
            </p:cNvSpPr>
            <p:nvPr/>
          </p:nvSpPr>
          <p:spPr bwMode="auto">
            <a:xfrm>
              <a:off x="4878" y="2544"/>
              <a:ext cx="0" cy="143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61" name="Line 60"/>
            <p:cNvSpPr>
              <a:spLocks noChangeShapeType="1"/>
            </p:cNvSpPr>
            <p:nvPr/>
          </p:nvSpPr>
          <p:spPr bwMode="auto">
            <a:xfrm>
              <a:off x="5472" y="2544"/>
              <a:ext cx="0" cy="1435"/>
            </a:xfrm>
            <a:prstGeom prst="line">
              <a:avLst/>
            </a:prstGeom>
            <a:noFill/>
            <a:ln w="28575" cap="sq">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62" name="Line 61"/>
            <p:cNvSpPr>
              <a:spLocks noChangeShapeType="1"/>
            </p:cNvSpPr>
            <p:nvPr/>
          </p:nvSpPr>
          <p:spPr bwMode="auto">
            <a:xfrm>
              <a:off x="720" y="2544"/>
              <a:ext cx="624" cy="287"/>
            </a:xfrm>
            <a:prstGeom prst="line">
              <a:avLst/>
            </a:prstGeom>
            <a:noFill/>
            <a:ln w="127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75781" name="Group 88"/>
          <p:cNvGrpSpPr/>
          <p:nvPr/>
        </p:nvGrpSpPr>
        <p:grpSpPr bwMode="auto">
          <a:xfrm>
            <a:off x="914400" y="1989138"/>
            <a:ext cx="7848600" cy="1592262"/>
            <a:chOff x="576" y="1344"/>
            <a:chExt cx="4944" cy="912"/>
          </a:xfrm>
        </p:grpSpPr>
        <p:sp>
          <p:nvSpPr>
            <p:cNvPr id="75783" name="Rectangle 63"/>
            <p:cNvSpPr>
              <a:spLocks noChangeArrowheads="1"/>
            </p:cNvSpPr>
            <p:nvPr/>
          </p:nvSpPr>
          <p:spPr bwMode="auto">
            <a:xfrm>
              <a:off x="1296" y="1776"/>
              <a:ext cx="432"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a:t>
              </a:r>
              <a:r>
                <a:rPr lang="en-US" altLang="zh-CN" sz="2400" baseline="-25000"/>
                <a:t>1</a:t>
              </a:r>
              <a:endParaRPr lang="en-US" altLang="zh-CN" sz="2400" baseline="-25000"/>
            </a:p>
          </p:txBody>
        </p:sp>
        <p:sp>
          <p:nvSpPr>
            <p:cNvPr id="75784" name="Rectangle 64"/>
            <p:cNvSpPr>
              <a:spLocks noChangeArrowheads="1"/>
            </p:cNvSpPr>
            <p:nvPr/>
          </p:nvSpPr>
          <p:spPr bwMode="auto">
            <a:xfrm>
              <a:off x="2496" y="1776"/>
              <a:ext cx="432"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a:t>
              </a:r>
              <a:r>
                <a:rPr lang="en-US" altLang="zh-CN" sz="2400" baseline="-25000"/>
                <a:t>2</a:t>
              </a:r>
              <a:endParaRPr lang="en-US" altLang="zh-CN" sz="2400" baseline="-25000"/>
            </a:p>
          </p:txBody>
        </p:sp>
        <p:sp>
          <p:nvSpPr>
            <p:cNvPr id="75785" name="Rectangle 65"/>
            <p:cNvSpPr>
              <a:spLocks noChangeArrowheads="1"/>
            </p:cNvSpPr>
            <p:nvPr/>
          </p:nvSpPr>
          <p:spPr bwMode="auto">
            <a:xfrm>
              <a:off x="3696" y="1776"/>
              <a:ext cx="432"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a:t>
              </a:r>
              <a:r>
                <a:rPr lang="en-US" altLang="zh-CN" sz="2400" baseline="-25000"/>
                <a:t>3</a:t>
              </a:r>
              <a:endParaRPr lang="en-US" altLang="zh-CN" sz="2400" baseline="-25000"/>
            </a:p>
          </p:txBody>
        </p:sp>
        <p:sp>
          <p:nvSpPr>
            <p:cNvPr id="75786" name="Rectangle 66"/>
            <p:cNvSpPr>
              <a:spLocks noChangeArrowheads="1"/>
            </p:cNvSpPr>
            <p:nvPr/>
          </p:nvSpPr>
          <p:spPr bwMode="auto">
            <a:xfrm>
              <a:off x="4896" y="1776"/>
              <a:ext cx="432"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a:t>
              </a:r>
              <a:r>
                <a:rPr lang="en-US" altLang="zh-CN" sz="2400" baseline="-25000"/>
                <a:t>4</a:t>
              </a:r>
              <a:endParaRPr lang="en-US" altLang="zh-CN" sz="2400" baseline="-25000"/>
            </a:p>
          </p:txBody>
        </p:sp>
        <p:sp>
          <p:nvSpPr>
            <p:cNvPr id="75787" name="Line 67"/>
            <p:cNvSpPr>
              <a:spLocks noChangeShapeType="1"/>
            </p:cNvSpPr>
            <p:nvPr/>
          </p:nvSpPr>
          <p:spPr bwMode="auto">
            <a:xfrm>
              <a:off x="1008" y="1872"/>
              <a:ext cx="28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88" name="Line 68"/>
            <p:cNvSpPr>
              <a:spLocks noChangeShapeType="1"/>
            </p:cNvSpPr>
            <p:nvPr/>
          </p:nvSpPr>
          <p:spPr bwMode="auto">
            <a:xfrm>
              <a:off x="1008" y="2016"/>
              <a:ext cx="28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89" name="Line 69"/>
            <p:cNvSpPr>
              <a:spLocks noChangeShapeType="1"/>
            </p:cNvSpPr>
            <p:nvPr/>
          </p:nvSpPr>
          <p:spPr bwMode="auto">
            <a:xfrm>
              <a:off x="1728" y="2016"/>
              <a:ext cx="76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0" name="Line 70"/>
            <p:cNvSpPr>
              <a:spLocks noChangeShapeType="1"/>
            </p:cNvSpPr>
            <p:nvPr/>
          </p:nvSpPr>
          <p:spPr bwMode="auto">
            <a:xfrm>
              <a:off x="2208" y="1872"/>
              <a:ext cx="28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1" name="Line 71"/>
            <p:cNvSpPr>
              <a:spLocks noChangeShapeType="1"/>
            </p:cNvSpPr>
            <p:nvPr/>
          </p:nvSpPr>
          <p:spPr bwMode="auto">
            <a:xfrm>
              <a:off x="2928" y="1872"/>
              <a:ext cx="76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2" name="Line 72"/>
            <p:cNvSpPr>
              <a:spLocks noChangeShapeType="1"/>
            </p:cNvSpPr>
            <p:nvPr/>
          </p:nvSpPr>
          <p:spPr bwMode="auto">
            <a:xfrm>
              <a:off x="3408" y="2016"/>
              <a:ext cx="28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3" name="Line 73"/>
            <p:cNvSpPr>
              <a:spLocks noChangeShapeType="1"/>
            </p:cNvSpPr>
            <p:nvPr/>
          </p:nvSpPr>
          <p:spPr bwMode="auto">
            <a:xfrm>
              <a:off x="4128" y="1968"/>
              <a:ext cx="76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4" name="Line 74"/>
            <p:cNvSpPr>
              <a:spLocks noChangeShapeType="1"/>
            </p:cNvSpPr>
            <p:nvPr/>
          </p:nvSpPr>
          <p:spPr bwMode="auto">
            <a:xfrm flipV="1">
              <a:off x="1968" y="1584"/>
              <a:ext cx="0" cy="288"/>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5" name="Line 75"/>
            <p:cNvSpPr>
              <a:spLocks noChangeShapeType="1"/>
            </p:cNvSpPr>
            <p:nvPr/>
          </p:nvSpPr>
          <p:spPr bwMode="auto">
            <a:xfrm>
              <a:off x="1728" y="1872"/>
              <a:ext cx="240"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6" name="Line 76"/>
            <p:cNvSpPr>
              <a:spLocks noChangeShapeType="1"/>
            </p:cNvSpPr>
            <p:nvPr/>
          </p:nvSpPr>
          <p:spPr bwMode="auto">
            <a:xfrm>
              <a:off x="1008" y="2256"/>
              <a:ext cx="2112"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7" name="Line 77"/>
            <p:cNvSpPr>
              <a:spLocks noChangeShapeType="1"/>
            </p:cNvSpPr>
            <p:nvPr/>
          </p:nvSpPr>
          <p:spPr bwMode="auto">
            <a:xfrm>
              <a:off x="1008" y="2016"/>
              <a:ext cx="0" cy="24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8" name="Line 78"/>
            <p:cNvSpPr>
              <a:spLocks noChangeShapeType="1"/>
            </p:cNvSpPr>
            <p:nvPr/>
          </p:nvSpPr>
          <p:spPr bwMode="auto">
            <a:xfrm>
              <a:off x="2208" y="1632"/>
              <a:ext cx="0" cy="24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9" name="Line 79"/>
            <p:cNvSpPr>
              <a:spLocks noChangeShapeType="1"/>
            </p:cNvSpPr>
            <p:nvPr/>
          </p:nvSpPr>
          <p:spPr bwMode="auto">
            <a:xfrm>
              <a:off x="2208" y="1632"/>
              <a:ext cx="2256"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0" name="Line 80"/>
            <p:cNvSpPr>
              <a:spLocks noChangeShapeType="1"/>
            </p:cNvSpPr>
            <p:nvPr/>
          </p:nvSpPr>
          <p:spPr bwMode="auto">
            <a:xfrm>
              <a:off x="3120" y="1872"/>
              <a:ext cx="0" cy="384"/>
            </a:xfrm>
            <a:prstGeom prst="line">
              <a:avLst/>
            </a:prstGeom>
            <a:noFill/>
            <a:ln w="28575">
              <a:solidFill>
                <a:schemeClr val="tx1"/>
              </a:solidFill>
              <a:round/>
              <a:headEnd type="oval" w="med" len="me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1" name="Line 81"/>
            <p:cNvSpPr>
              <a:spLocks noChangeShapeType="1"/>
            </p:cNvSpPr>
            <p:nvPr/>
          </p:nvSpPr>
          <p:spPr bwMode="auto">
            <a:xfrm>
              <a:off x="3408" y="2016"/>
              <a:ext cx="0" cy="24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2" name="Line 82"/>
            <p:cNvSpPr>
              <a:spLocks noChangeShapeType="1"/>
            </p:cNvSpPr>
            <p:nvPr/>
          </p:nvSpPr>
          <p:spPr bwMode="auto">
            <a:xfrm>
              <a:off x="3408" y="2256"/>
              <a:ext cx="2112"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3" name="Line 83"/>
            <p:cNvSpPr>
              <a:spLocks noChangeShapeType="1"/>
            </p:cNvSpPr>
            <p:nvPr/>
          </p:nvSpPr>
          <p:spPr bwMode="auto">
            <a:xfrm>
              <a:off x="5328" y="1968"/>
              <a:ext cx="192"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4" name="Line 84"/>
            <p:cNvSpPr>
              <a:spLocks noChangeShapeType="1"/>
            </p:cNvSpPr>
            <p:nvPr/>
          </p:nvSpPr>
          <p:spPr bwMode="auto">
            <a:xfrm>
              <a:off x="5520" y="1968"/>
              <a:ext cx="0" cy="288"/>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5" name="Line 85"/>
            <p:cNvSpPr>
              <a:spLocks noChangeShapeType="1"/>
            </p:cNvSpPr>
            <p:nvPr/>
          </p:nvSpPr>
          <p:spPr bwMode="auto">
            <a:xfrm>
              <a:off x="4464" y="1632"/>
              <a:ext cx="0" cy="336"/>
            </a:xfrm>
            <a:prstGeom prst="line">
              <a:avLst/>
            </a:prstGeom>
            <a:noFill/>
            <a:ln w="28575">
              <a:solidFill>
                <a:schemeClr val="tx1"/>
              </a:solidFill>
              <a:rou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6" name="Rectangle 86"/>
            <p:cNvSpPr>
              <a:spLocks noChangeArrowheads="1"/>
            </p:cNvSpPr>
            <p:nvPr/>
          </p:nvSpPr>
          <p:spPr bwMode="auto">
            <a:xfrm>
              <a:off x="576" y="1728"/>
              <a:ext cx="43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输入</a:t>
              </a:r>
              <a:endParaRPr lang="zh-CN" altLang="en-US" sz="2400" baseline="-25000"/>
            </a:p>
          </p:txBody>
        </p:sp>
        <p:sp>
          <p:nvSpPr>
            <p:cNvPr id="75807" name="Rectangle 87"/>
            <p:cNvSpPr>
              <a:spLocks noChangeArrowheads="1"/>
            </p:cNvSpPr>
            <p:nvPr/>
          </p:nvSpPr>
          <p:spPr bwMode="auto">
            <a:xfrm>
              <a:off x="1776" y="1344"/>
              <a:ext cx="43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输出</a:t>
              </a:r>
              <a:endParaRPr lang="zh-CN" altLang="en-US" sz="2400" baseline="-25000"/>
            </a:p>
          </p:txBody>
        </p:sp>
      </p:grpSp>
      <p:sp>
        <p:nvSpPr>
          <p:cNvPr id="75782" name="Text Box 8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7 之 4</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146" name="Rectangle 2"/>
          <p:cNvSpPr>
            <a:spLocks noGrp="1" noChangeArrowheads="1"/>
          </p:cNvSpPr>
          <p:nvPr>
            <p:ph type="title"/>
          </p:nvPr>
        </p:nvSpPr>
        <p:spPr/>
        <p:txBody>
          <a:bodyPr/>
          <a:lstStyle/>
          <a:p>
            <a:pPr eaLnBrk="1" hangingPunct="1">
              <a:defRPr/>
            </a:pPr>
            <a:r>
              <a:rPr lang="zh-CN" altLang="en-US" smtClean="0"/>
              <a:t>举例-</a:t>
            </a:r>
            <a:r>
              <a:rPr lang="zh-CN" altLang="en-US" sz="3600" smtClean="0"/>
              <a:t>优化后</a:t>
            </a:r>
            <a:endParaRPr lang="zh-CN" altLang="en-US" sz="3600" smtClean="0"/>
          </a:p>
        </p:txBody>
      </p:sp>
      <p:sp>
        <p:nvSpPr>
          <p:cNvPr id="7680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grpSp>
        <p:nvGrpSpPr>
          <p:cNvPr id="76804" name="Group 172"/>
          <p:cNvGrpSpPr/>
          <p:nvPr/>
        </p:nvGrpSpPr>
        <p:grpSpPr bwMode="auto">
          <a:xfrm>
            <a:off x="609600" y="1828800"/>
            <a:ext cx="7848600" cy="1752600"/>
            <a:chOff x="576" y="1296"/>
            <a:chExt cx="4944" cy="1104"/>
          </a:xfrm>
        </p:grpSpPr>
        <p:sp>
          <p:nvSpPr>
            <p:cNvPr id="76884" name="Rectangle 63"/>
            <p:cNvSpPr>
              <a:spLocks noChangeArrowheads="1"/>
            </p:cNvSpPr>
            <p:nvPr/>
          </p:nvSpPr>
          <p:spPr bwMode="auto">
            <a:xfrm>
              <a:off x="1296" y="1728"/>
              <a:ext cx="432"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a:t>
              </a:r>
              <a:r>
                <a:rPr lang="en-US" altLang="zh-CN" sz="2400" baseline="-25000"/>
                <a:t>1</a:t>
              </a:r>
              <a:endParaRPr lang="en-US" altLang="zh-CN" sz="2400" baseline="-25000"/>
            </a:p>
          </p:txBody>
        </p:sp>
        <p:sp>
          <p:nvSpPr>
            <p:cNvPr id="76885" name="Rectangle 64"/>
            <p:cNvSpPr>
              <a:spLocks noChangeArrowheads="1"/>
            </p:cNvSpPr>
            <p:nvPr/>
          </p:nvSpPr>
          <p:spPr bwMode="auto">
            <a:xfrm>
              <a:off x="2496" y="1728"/>
              <a:ext cx="432"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a:t>
              </a:r>
              <a:r>
                <a:rPr lang="en-US" altLang="zh-CN" sz="2400" baseline="-25000"/>
                <a:t>2</a:t>
              </a:r>
              <a:endParaRPr lang="en-US" altLang="zh-CN" sz="2400" baseline="-25000"/>
            </a:p>
          </p:txBody>
        </p:sp>
        <p:sp>
          <p:nvSpPr>
            <p:cNvPr id="76886" name="Rectangle 65"/>
            <p:cNvSpPr>
              <a:spLocks noChangeArrowheads="1"/>
            </p:cNvSpPr>
            <p:nvPr/>
          </p:nvSpPr>
          <p:spPr bwMode="auto">
            <a:xfrm>
              <a:off x="3696" y="1728"/>
              <a:ext cx="432"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a:t>
              </a:r>
              <a:r>
                <a:rPr lang="en-US" altLang="zh-CN" sz="2400" baseline="-25000"/>
                <a:t>3</a:t>
              </a:r>
              <a:endParaRPr lang="en-US" altLang="zh-CN" sz="2400" baseline="-25000"/>
            </a:p>
          </p:txBody>
        </p:sp>
        <p:sp>
          <p:nvSpPr>
            <p:cNvPr id="76887" name="Rectangle 66"/>
            <p:cNvSpPr>
              <a:spLocks noChangeArrowheads="1"/>
            </p:cNvSpPr>
            <p:nvPr/>
          </p:nvSpPr>
          <p:spPr bwMode="auto">
            <a:xfrm>
              <a:off x="4896" y="1728"/>
              <a:ext cx="432" cy="336"/>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t>S</a:t>
              </a:r>
              <a:r>
                <a:rPr lang="en-US" altLang="zh-CN" sz="2400" baseline="-25000"/>
                <a:t>4</a:t>
              </a:r>
              <a:endParaRPr lang="en-US" altLang="zh-CN" sz="2400" baseline="-25000"/>
            </a:p>
          </p:txBody>
        </p:sp>
        <p:sp>
          <p:nvSpPr>
            <p:cNvPr id="76888" name="Line 67"/>
            <p:cNvSpPr>
              <a:spLocks noChangeShapeType="1"/>
            </p:cNvSpPr>
            <p:nvPr/>
          </p:nvSpPr>
          <p:spPr bwMode="auto">
            <a:xfrm>
              <a:off x="1008" y="1824"/>
              <a:ext cx="28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89" name="Line 68"/>
            <p:cNvSpPr>
              <a:spLocks noChangeShapeType="1"/>
            </p:cNvSpPr>
            <p:nvPr/>
          </p:nvSpPr>
          <p:spPr bwMode="auto">
            <a:xfrm>
              <a:off x="1008" y="1968"/>
              <a:ext cx="28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0" name="Line 69"/>
            <p:cNvSpPr>
              <a:spLocks noChangeShapeType="1"/>
            </p:cNvSpPr>
            <p:nvPr/>
          </p:nvSpPr>
          <p:spPr bwMode="auto">
            <a:xfrm>
              <a:off x="1728" y="1968"/>
              <a:ext cx="76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1" name="Line 70"/>
            <p:cNvSpPr>
              <a:spLocks noChangeShapeType="1"/>
            </p:cNvSpPr>
            <p:nvPr/>
          </p:nvSpPr>
          <p:spPr bwMode="auto">
            <a:xfrm>
              <a:off x="2208" y="1824"/>
              <a:ext cx="28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2" name="Line 71"/>
            <p:cNvSpPr>
              <a:spLocks noChangeShapeType="1"/>
            </p:cNvSpPr>
            <p:nvPr/>
          </p:nvSpPr>
          <p:spPr bwMode="auto">
            <a:xfrm>
              <a:off x="2928" y="1824"/>
              <a:ext cx="76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3" name="Line 72"/>
            <p:cNvSpPr>
              <a:spLocks noChangeShapeType="1"/>
            </p:cNvSpPr>
            <p:nvPr/>
          </p:nvSpPr>
          <p:spPr bwMode="auto">
            <a:xfrm>
              <a:off x="3408" y="1968"/>
              <a:ext cx="28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4" name="Line 73"/>
            <p:cNvSpPr>
              <a:spLocks noChangeShapeType="1"/>
            </p:cNvSpPr>
            <p:nvPr/>
          </p:nvSpPr>
          <p:spPr bwMode="auto">
            <a:xfrm>
              <a:off x="4128" y="1920"/>
              <a:ext cx="768"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5" name="Line 74"/>
            <p:cNvSpPr>
              <a:spLocks noChangeShapeType="1"/>
            </p:cNvSpPr>
            <p:nvPr/>
          </p:nvSpPr>
          <p:spPr bwMode="auto">
            <a:xfrm flipV="1">
              <a:off x="1968" y="1536"/>
              <a:ext cx="0" cy="288"/>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6" name="Line 75"/>
            <p:cNvSpPr>
              <a:spLocks noChangeShapeType="1"/>
            </p:cNvSpPr>
            <p:nvPr/>
          </p:nvSpPr>
          <p:spPr bwMode="auto">
            <a:xfrm>
              <a:off x="1728" y="1824"/>
              <a:ext cx="240"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7" name="Line 76"/>
            <p:cNvSpPr>
              <a:spLocks noChangeShapeType="1"/>
            </p:cNvSpPr>
            <p:nvPr/>
          </p:nvSpPr>
          <p:spPr bwMode="auto">
            <a:xfrm>
              <a:off x="1008" y="2208"/>
              <a:ext cx="2112"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8" name="Line 77"/>
            <p:cNvSpPr>
              <a:spLocks noChangeShapeType="1"/>
            </p:cNvSpPr>
            <p:nvPr/>
          </p:nvSpPr>
          <p:spPr bwMode="auto">
            <a:xfrm>
              <a:off x="1008" y="1968"/>
              <a:ext cx="0" cy="24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9" name="Line 78"/>
            <p:cNvSpPr>
              <a:spLocks noChangeShapeType="1"/>
            </p:cNvSpPr>
            <p:nvPr/>
          </p:nvSpPr>
          <p:spPr bwMode="auto">
            <a:xfrm>
              <a:off x="2208" y="1584"/>
              <a:ext cx="0" cy="24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0" name="Line 79"/>
            <p:cNvSpPr>
              <a:spLocks noChangeShapeType="1"/>
            </p:cNvSpPr>
            <p:nvPr/>
          </p:nvSpPr>
          <p:spPr bwMode="auto">
            <a:xfrm>
              <a:off x="2208" y="1584"/>
              <a:ext cx="2256"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1" name="Line 80"/>
            <p:cNvSpPr>
              <a:spLocks noChangeShapeType="1"/>
            </p:cNvSpPr>
            <p:nvPr/>
          </p:nvSpPr>
          <p:spPr bwMode="auto">
            <a:xfrm>
              <a:off x="3120" y="1824"/>
              <a:ext cx="0" cy="384"/>
            </a:xfrm>
            <a:prstGeom prst="line">
              <a:avLst/>
            </a:prstGeom>
            <a:noFill/>
            <a:ln w="28575">
              <a:solidFill>
                <a:schemeClr val="tx1"/>
              </a:solidFill>
              <a:round/>
              <a:headEnd type="oval" w="med" len="me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2" name="Line 81"/>
            <p:cNvSpPr>
              <a:spLocks noChangeShapeType="1"/>
            </p:cNvSpPr>
            <p:nvPr/>
          </p:nvSpPr>
          <p:spPr bwMode="auto">
            <a:xfrm>
              <a:off x="3408" y="1968"/>
              <a:ext cx="0" cy="24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3" name="Line 82"/>
            <p:cNvSpPr>
              <a:spLocks noChangeShapeType="1"/>
            </p:cNvSpPr>
            <p:nvPr/>
          </p:nvSpPr>
          <p:spPr bwMode="auto">
            <a:xfrm>
              <a:off x="3408" y="2208"/>
              <a:ext cx="816"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4" name="Line 83"/>
            <p:cNvSpPr>
              <a:spLocks noChangeShapeType="1"/>
            </p:cNvSpPr>
            <p:nvPr/>
          </p:nvSpPr>
          <p:spPr bwMode="auto">
            <a:xfrm>
              <a:off x="5328" y="1920"/>
              <a:ext cx="192"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5" name="Line 84"/>
            <p:cNvSpPr>
              <a:spLocks noChangeShapeType="1"/>
            </p:cNvSpPr>
            <p:nvPr/>
          </p:nvSpPr>
          <p:spPr bwMode="auto">
            <a:xfrm>
              <a:off x="5520" y="1920"/>
              <a:ext cx="0" cy="288"/>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6" name="Line 85"/>
            <p:cNvSpPr>
              <a:spLocks noChangeShapeType="1"/>
            </p:cNvSpPr>
            <p:nvPr/>
          </p:nvSpPr>
          <p:spPr bwMode="auto">
            <a:xfrm>
              <a:off x="4464" y="1584"/>
              <a:ext cx="0" cy="336"/>
            </a:xfrm>
            <a:prstGeom prst="line">
              <a:avLst/>
            </a:prstGeom>
            <a:noFill/>
            <a:ln w="28575">
              <a:solidFill>
                <a:schemeClr val="tx1"/>
              </a:solidFill>
              <a:rou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7" name="Rectangle 86"/>
            <p:cNvSpPr>
              <a:spLocks noChangeArrowheads="1"/>
            </p:cNvSpPr>
            <p:nvPr/>
          </p:nvSpPr>
          <p:spPr bwMode="auto">
            <a:xfrm>
              <a:off x="576" y="1680"/>
              <a:ext cx="43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输入</a:t>
              </a:r>
              <a:endParaRPr lang="zh-CN" altLang="en-US" sz="2400" baseline="-25000"/>
            </a:p>
          </p:txBody>
        </p:sp>
        <p:sp>
          <p:nvSpPr>
            <p:cNvPr id="76908" name="Rectangle 87"/>
            <p:cNvSpPr>
              <a:spLocks noChangeArrowheads="1"/>
            </p:cNvSpPr>
            <p:nvPr/>
          </p:nvSpPr>
          <p:spPr bwMode="auto">
            <a:xfrm>
              <a:off x="1776" y="1296"/>
              <a:ext cx="43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t>输出</a:t>
              </a:r>
              <a:endParaRPr lang="zh-CN" altLang="en-US" sz="2400" baseline="-25000"/>
            </a:p>
          </p:txBody>
        </p:sp>
        <p:sp>
          <p:nvSpPr>
            <p:cNvPr id="76909" name="Rectangle 88"/>
            <p:cNvSpPr>
              <a:spLocks noChangeArrowheads="1"/>
            </p:cNvSpPr>
            <p:nvPr/>
          </p:nvSpPr>
          <p:spPr bwMode="auto">
            <a:xfrm>
              <a:off x="4224" y="2064"/>
              <a:ext cx="432" cy="336"/>
            </a:xfrm>
            <a:prstGeom prst="rect">
              <a:avLst/>
            </a:prstGeom>
            <a:noFill/>
            <a:ln w="28575">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solidFill>
                    <a:srgbClr val="FF0000"/>
                  </a:solidFill>
                </a:rPr>
                <a:t>D1</a:t>
              </a:r>
              <a:endParaRPr lang="en-US" altLang="zh-CN" sz="2400" baseline="-25000">
                <a:solidFill>
                  <a:srgbClr val="FF0000"/>
                </a:solidFill>
              </a:endParaRPr>
            </a:p>
          </p:txBody>
        </p:sp>
        <p:sp>
          <p:nvSpPr>
            <p:cNvPr id="76910" name="Line 89"/>
            <p:cNvSpPr>
              <a:spLocks noChangeShapeType="1"/>
            </p:cNvSpPr>
            <p:nvPr/>
          </p:nvSpPr>
          <p:spPr bwMode="auto">
            <a:xfrm>
              <a:off x="4656" y="2208"/>
              <a:ext cx="864" cy="0"/>
            </a:xfrm>
            <a:prstGeom prst="line">
              <a:avLst/>
            </a:prstGeom>
            <a:noFill/>
            <a:ln w="28575">
              <a:solidFill>
                <a:schemeClr val="tx1"/>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aphicFrame>
        <p:nvGraphicFramePr>
          <p:cNvPr id="646360" name="Group 216"/>
          <p:cNvGraphicFramePr>
            <a:graphicFrameLocks noGrp="1"/>
          </p:cNvGraphicFramePr>
          <p:nvPr/>
        </p:nvGraphicFramePr>
        <p:xfrm>
          <a:off x="1066800" y="3657600"/>
          <a:ext cx="7696200" cy="2746375"/>
        </p:xfrm>
        <a:graphic>
          <a:graphicData uri="http://schemas.openxmlformats.org/drawingml/2006/table">
            <a:tbl>
              <a:tblPr/>
              <a:tblGrid>
                <a:gridCol w="769938"/>
                <a:gridCol w="769937"/>
                <a:gridCol w="768350"/>
                <a:gridCol w="769938"/>
                <a:gridCol w="769937"/>
                <a:gridCol w="769938"/>
                <a:gridCol w="769937"/>
                <a:gridCol w="768350"/>
                <a:gridCol w="769938"/>
                <a:gridCol w="769937"/>
              </a:tblGrid>
              <a:tr h="428625">
                <a:tc grid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时间</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1</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2</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3</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4</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5</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6</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7</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8</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11163">
                <a:tc rowSpan="4">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功</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能</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段</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S1</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000000"/>
                          </a:solidFill>
                          <a:effectLst/>
                          <a:latin typeface="Arial" panose="020B0604020202020204" pitchFamily="34" charset="0"/>
                          <a:ea typeface="楷体_GB2312" pitchFamily="49" charset="-122"/>
                        </a:rPr>
                        <a:t>×</a:t>
                      </a:r>
                      <a:endParaRPr kumimoji="1" lang="zh-CN" altLang="en-US" sz="2400" b="1" i="0" u="none" strike="noStrike" cap="none" normalizeH="0" baseline="0" smtClean="0">
                        <a:ln>
                          <a:noFill/>
                        </a:ln>
                        <a:solidFill>
                          <a:srgbClr val="000000"/>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009900"/>
                          </a:solidFill>
                          <a:effectLst/>
                          <a:latin typeface="Arial" panose="020B0604020202020204" pitchFamily="34" charset="0"/>
                          <a:ea typeface="楷体_GB2312" pitchFamily="49" charset="-122"/>
                        </a:rPr>
                        <a:t>×</a:t>
                      </a:r>
                      <a:endParaRPr kumimoji="1" lang="zh-CN" altLang="en-US" sz="2400" b="1" i="0" u="none" strike="noStrike" cap="none" normalizeH="0" baseline="0" smtClean="0">
                        <a:ln>
                          <a:noFill/>
                        </a:ln>
                        <a:solidFill>
                          <a:srgbClr val="009900"/>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60375">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S2</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000000"/>
                          </a:solidFill>
                          <a:effectLst/>
                          <a:latin typeface="Arial" panose="020B0604020202020204" pitchFamily="34" charset="0"/>
                          <a:ea typeface="楷体_GB2312" pitchFamily="49" charset="-122"/>
                        </a:rPr>
                        <a:t>×</a:t>
                      </a:r>
                      <a:endParaRPr kumimoji="1" lang="zh-CN" altLang="en-US" sz="2400" b="1" i="0" u="none" strike="noStrike" cap="none" normalizeH="0" baseline="0" smtClean="0">
                        <a:ln>
                          <a:noFill/>
                        </a:ln>
                        <a:solidFill>
                          <a:srgbClr val="000000"/>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009900"/>
                          </a:solidFill>
                          <a:effectLst/>
                          <a:latin typeface="Arial" panose="020B0604020202020204" pitchFamily="34" charset="0"/>
                          <a:ea typeface="楷体_GB2312" pitchFamily="49" charset="-122"/>
                        </a:rPr>
                        <a:t>×</a:t>
                      </a:r>
                      <a:endParaRPr kumimoji="1" lang="zh-CN" altLang="en-US" sz="2400" b="1" i="0" u="none" strike="noStrike" cap="none" normalizeH="0" baseline="0" smtClean="0">
                        <a:ln>
                          <a:noFill/>
                        </a:ln>
                        <a:solidFill>
                          <a:srgbClr val="009900"/>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1275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S3</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000000"/>
                          </a:solidFill>
                          <a:effectLst/>
                          <a:latin typeface="Arial" panose="020B0604020202020204" pitchFamily="34" charset="0"/>
                          <a:ea typeface="楷体_GB2312" pitchFamily="49" charset="-122"/>
                        </a:rPr>
                        <a:t>×</a:t>
                      </a:r>
                      <a:endParaRPr kumimoji="1" lang="zh-CN" altLang="en-US" sz="2400" b="1" i="0" u="none" strike="noStrike" cap="none" normalizeH="0" baseline="0" smtClean="0">
                        <a:ln>
                          <a:noFill/>
                        </a:ln>
                        <a:solidFill>
                          <a:srgbClr val="000000"/>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009900"/>
                          </a:solidFill>
                          <a:effectLst/>
                          <a:latin typeface="Arial" panose="020B0604020202020204" pitchFamily="34" charset="0"/>
                          <a:ea typeface="楷体_GB2312" pitchFamily="49" charset="-122"/>
                        </a:rPr>
                        <a:t>×</a:t>
                      </a:r>
                      <a:endParaRPr kumimoji="1" lang="zh-CN" altLang="en-US" sz="2400" b="1" i="0" u="none" strike="noStrike" cap="none" normalizeH="0" baseline="0" smtClean="0">
                        <a:ln>
                          <a:noFill/>
                        </a:ln>
                        <a:solidFill>
                          <a:srgbClr val="009900"/>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1116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S4</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000000"/>
                          </a:solidFill>
                          <a:effectLst/>
                          <a:latin typeface="Arial" panose="020B0604020202020204" pitchFamily="34" charset="0"/>
                          <a:ea typeface="楷体_GB2312" pitchFamily="49" charset="-122"/>
                        </a:rPr>
                        <a:t>×</a:t>
                      </a:r>
                      <a:endParaRPr kumimoji="1" lang="zh-CN" altLang="en-US" sz="2400" b="1" i="0" u="none" strike="noStrike" cap="none" normalizeH="0" baseline="0" smtClean="0">
                        <a:ln>
                          <a:noFill/>
                        </a:ln>
                        <a:solidFill>
                          <a:srgbClr val="000000"/>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r>
              <a:tr h="4127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rPr>
                        <a:t>延迟</a:t>
                      </a: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rgbClr val="FF0000"/>
                          </a:solidFill>
                          <a:effectLst/>
                          <a:latin typeface="Arial" panose="020B0604020202020204" pitchFamily="34" charset="0"/>
                          <a:ea typeface="楷体_GB2312" pitchFamily="49" charset="-122"/>
                        </a:rPr>
                        <a:t>D1</a:t>
                      </a:r>
                      <a:endParaRPr kumimoji="1" lang="en-US" altLang="zh-CN"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rPr>
                        <a:t>×</a:t>
                      </a: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rgbClr val="FF0000"/>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76880" name="Line 182"/>
          <p:cNvSpPr>
            <a:spLocks noChangeShapeType="1"/>
          </p:cNvSpPr>
          <p:nvPr/>
        </p:nvSpPr>
        <p:spPr bwMode="auto">
          <a:xfrm>
            <a:off x="6096000" y="5257800"/>
            <a:ext cx="609600" cy="0"/>
          </a:xfrm>
          <a:prstGeom prst="line">
            <a:avLst/>
          </a:prstGeom>
          <a:noFill/>
          <a:ln w="28575">
            <a:solidFill>
              <a:srgbClr val="009900"/>
            </a:solidFill>
            <a:prstDash val="sysDot"/>
            <a:round/>
            <a:headEnd type="oval" w="med" len="me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81" name="Line 184"/>
          <p:cNvSpPr>
            <a:spLocks noChangeShapeType="1"/>
          </p:cNvSpPr>
          <p:nvPr/>
        </p:nvSpPr>
        <p:spPr bwMode="auto">
          <a:xfrm>
            <a:off x="6858000" y="4800600"/>
            <a:ext cx="609600" cy="0"/>
          </a:xfrm>
          <a:prstGeom prst="line">
            <a:avLst/>
          </a:prstGeom>
          <a:noFill/>
          <a:ln w="28575">
            <a:solidFill>
              <a:srgbClr val="009900"/>
            </a:solidFill>
            <a:prstDash val="sysDot"/>
            <a:round/>
            <a:headEnd type="oval" w="med" len="me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82" name="Line 185"/>
          <p:cNvSpPr>
            <a:spLocks noChangeShapeType="1"/>
          </p:cNvSpPr>
          <p:nvPr/>
        </p:nvSpPr>
        <p:spPr bwMode="auto">
          <a:xfrm>
            <a:off x="7696200" y="4343400"/>
            <a:ext cx="609600" cy="0"/>
          </a:xfrm>
          <a:prstGeom prst="line">
            <a:avLst/>
          </a:prstGeom>
          <a:noFill/>
          <a:ln w="28575">
            <a:solidFill>
              <a:srgbClr val="009900"/>
            </a:solidFill>
            <a:prstDash val="sysDot"/>
            <a:round/>
            <a:headEnd type="oval" w="med" len="me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83" name="Text Box 21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7 之 5</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393" descr="msotw9_temp0"/>
          <p:cNvPicPr>
            <a:picLocks noChangeAspect="1" noChangeArrowheads="1"/>
          </p:cNvPicPr>
          <p:nvPr/>
        </p:nvPicPr>
        <p:blipFill>
          <a:blip r:embed="rId1">
            <a:clrChange>
              <a:clrFrom>
                <a:srgbClr val="FFFFFF"/>
              </a:clrFrom>
              <a:clrTo>
                <a:srgbClr val="FFFFFF">
                  <a:alpha val="0"/>
                </a:srgbClr>
              </a:clrTo>
            </a:clrChange>
            <a:extLst>
              <a:ext uri="{28A0092B-C50C-407E-A947-70E740481C1C}">
                <a14:useLocalDpi xmlns:a14="http://schemas.microsoft.com/office/drawing/2010/main" val="0"/>
              </a:ext>
            </a:extLst>
          </a:blip>
          <a:srcRect b="21167"/>
          <a:stretch>
            <a:fillRect/>
          </a:stretch>
        </p:blipFill>
        <p:spPr bwMode="auto">
          <a:xfrm>
            <a:off x="250825" y="2205038"/>
            <a:ext cx="6705600" cy="3355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47562" name="Rectangle 394"/>
          <p:cNvSpPr>
            <a:spLocks noGrp="1" noChangeArrowheads="1"/>
          </p:cNvSpPr>
          <p:nvPr>
            <p:ph type="title"/>
          </p:nvPr>
        </p:nvSpPr>
        <p:spPr/>
        <p:txBody>
          <a:bodyPr/>
          <a:lstStyle/>
          <a:p>
            <a:pPr eaLnBrk="1" hangingPunct="1">
              <a:defRPr/>
            </a:pPr>
            <a:r>
              <a:rPr lang="zh-CN" altLang="en-US" smtClean="0"/>
              <a:t>举例-</a:t>
            </a:r>
            <a:r>
              <a:rPr lang="zh-CN" altLang="en-US" sz="3600" smtClean="0"/>
              <a:t>优化后</a:t>
            </a:r>
            <a:endParaRPr lang="zh-CN" altLang="en-US" sz="3600" smtClean="0"/>
          </a:p>
        </p:txBody>
      </p:sp>
      <p:sp>
        <p:nvSpPr>
          <p:cNvPr id="77828" name="Rectangle 395"/>
          <p:cNvSpPr>
            <a:spLocks noGrp="1" noChangeArrowheads="1"/>
          </p:cNvSpPr>
          <p:nvPr>
            <p:ph type="body" idx="1"/>
          </p:nvPr>
        </p:nvSpPr>
        <p:spPr>
          <a:xfrm>
            <a:off x="6732588" y="2420938"/>
            <a:ext cx="1833562" cy="3406775"/>
          </a:xfrm>
          <a:solidFill>
            <a:srgbClr val="FFFF99"/>
          </a:solidFill>
          <a:ln w="57150" cmpd="thickThin">
            <a:solidFill>
              <a:schemeClr val="tx1"/>
            </a:solidFill>
            <a:miter lim="800000"/>
          </a:ln>
        </p:spPr>
        <p:txBody>
          <a:bodyPr/>
          <a:lstStyle/>
          <a:p>
            <a:pPr marL="0" indent="0" eaLnBrk="1" hangingPunct="1">
              <a:lnSpc>
                <a:spcPct val="140000"/>
              </a:lnSpc>
              <a:buFont typeface="Wingdings" panose="05000000000000000000" pitchFamily="2" charset="2"/>
              <a:buNone/>
            </a:pPr>
            <a:r>
              <a:rPr lang="zh-CN" altLang="en-US" sz="2400" smtClean="0"/>
              <a:t>       从状态图中很容易可以看出：</a:t>
            </a:r>
            <a:r>
              <a:rPr lang="zh-CN" altLang="en-US" sz="2400" smtClean="0">
                <a:solidFill>
                  <a:srgbClr val="FF0000"/>
                </a:solidFill>
              </a:rPr>
              <a:t>流水线的最小启动循环是（2）</a:t>
            </a:r>
            <a:r>
              <a:rPr lang="zh-CN" altLang="en-US" sz="2400" smtClean="0"/>
              <a:t>。</a:t>
            </a:r>
            <a:endParaRPr lang="zh-CN" altLang="en-US" sz="2400" smtClean="0"/>
          </a:p>
        </p:txBody>
      </p:sp>
      <p:sp>
        <p:nvSpPr>
          <p:cNvPr id="7782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2"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sp>
        <p:nvSpPr>
          <p:cNvPr id="77830" name="Text Box 39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7 之 6</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8198" name="Rectangle 6"/>
          <p:cNvSpPr>
            <a:spLocks noGrp="1" noChangeArrowheads="1"/>
          </p:cNvSpPr>
          <p:nvPr>
            <p:ph type="title"/>
          </p:nvPr>
        </p:nvSpPr>
        <p:spPr/>
        <p:txBody>
          <a:bodyPr/>
          <a:lstStyle/>
          <a:p>
            <a:pPr eaLnBrk="1" hangingPunct="1">
              <a:defRPr/>
            </a:pPr>
            <a:r>
              <a:rPr lang="zh-CN" altLang="en-US" smtClean="0"/>
              <a:t>举例-</a:t>
            </a:r>
            <a:r>
              <a:rPr lang="zh-CN" altLang="en-US" sz="3600" smtClean="0"/>
              <a:t>优化后</a:t>
            </a:r>
            <a:endParaRPr lang="zh-CN" altLang="en-US" sz="3600" smtClean="0"/>
          </a:p>
        </p:txBody>
      </p:sp>
      <p:sp>
        <p:nvSpPr>
          <p:cNvPr id="78851" name="Rectangle 7"/>
          <p:cNvSpPr>
            <a:spLocks noGrp="1" noChangeArrowheads="1"/>
          </p:cNvSpPr>
          <p:nvPr>
            <p:ph type="body" idx="1"/>
          </p:nvPr>
        </p:nvSpPr>
        <p:spPr>
          <a:xfrm>
            <a:off x="809625" y="4954588"/>
            <a:ext cx="7958138" cy="1365250"/>
          </a:xfrm>
        </p:spPr>
        <p:txBody>
          <a:bodyPr/>
          <a:lstStyle/>
          <a:p>
            <a:pPr marL="0" indent="0" eaLnBrk="1" hangingPunct="1">
              <a:lnSpc>
                <a:spcPct val="110000"/>
              </a:lnSpc>
              <a:buFont typeface="Wingdings" panose="05000000000000000000" pitchFamily="2" charset="2"/>
              <a:buNone/>
            </a:pPr>
            <a:r>
              <a:rPr lang="zh-CN" altLang="en-US" sz="2400" smtClean="0"/>
              <a:t>       在非线性流水线中，“×”最多的流水段一定是“瓶颈”流水段。实现最优调度的目标</a:t>
            </a:r>
            <a:r>
              <a:rPr lang="zh-CN" altLang="en-US" sz="2400" smtClean="0">
                <a:solidFill>
                  <a:srgbClr val="FF0000"/>
                </a:solidFill>
              </a:rPr>
              <a:t>是使“瓶颈”流水段处于忙碌状态，没有空闲周期</a:t>
            </a:r>
            <a:r>
              <a:rPr lang="zh-CN" altLang="en-US" sz="2400" smtClean="0"/>
              <a:t>。</a:t>
            </a:r>
            <a:endParaRPr lang="zh-CN" altLang="en-US" sz="2400" smtClean="0"/>
          </a:p>
        </p:txBody>
      </p:sp>
      <p:sp>
        <p:nvSpPr>
          <p:cNvPr id="78852"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流水线基本概念</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非线性流水线的调度技术</a:t>
            </a:r>
            <a:endParaRPr lang="zh-CN" altLang="en-US" sz="1200" b="0">
              <a:latin typeface="Times New Roman" panose="02020603050405020304" pitchFamily="18" charset="0"/>
              <a:ea typeface="幼圆" panose="02010509060101010101" pitchFamily="49" charset="-122"/>
            </a:endParaRPr>
          </a:p>
        </p:txBody>
      </p:sp>
      <p:graphicFrame>
        <p:nvGraphicFramePr>
          <p:cNvPr id="78853" name="Object 5"/>
          <p:cNvGraphicFramePr>
            <a:graphicFrameLocks noChangeAspect="1"/>
          </p:cNvGraphicFramePr>
          <p:nvPr/>
        </p:nvGraphicFramePr>
        <p:xfrm>
          <a:off x="755650" y="2060575"/>
          <a:ext cx="8153400" cy="2933700"/>
        </p:xfrm>
        <a:graphic>
          <a:graphicData uri="http://schemas.openxmlformats.org/presentationml/2006/ole">
            <mc:AlternateContent xmlns:mc="http://schemas.openxmlformats.org/markup-compatibility/2006">
              <mc:Choice xmlns:v="urn:schemas-microsoft-com:vml" Requires="v">
                <p:oleObj spid="_x0000_s78943" name="Document" r:id="rId4" imgW="4956175" imgH="1831975" progId="Word.Document.8">
                  <p:embed/>
                </p:oleObj>
              </mc:Choice>
              <mc:Fallback>
                <p:oleObj name="Document" r:id="rId4" imgW="4956175" imgH="1831975" progId="Word.Document.8">
                  <p:embed/>
                  <p:pic>
                    <p:nvPicPr>
                      <p:cNvPr id="0"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650" y="2060575"/>
                        <a:ext cx="8153400" cy="2933700"/>
                      </a:xfrm>
                      <a:prstGeom prst="rect">
                        <a:avLst/>
                      </a:prstGeom>
                      <a:noFill/>
                      <a:ln>
                        <a:noFill/>
                      </a:ln>
                      <a:effectLst/>
                      <a:extLst>
                        <a:ext uri="{909E8E84-426E-40DD-AFC4-6F175D3DCCD1}">
                          <a14:hiddenFill xmlns:a14="http://schemas.microsoft.com/office/drawing/2010/main">
                            <a:solidFill>
                              <a:srgbClr val="66C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8854" name="Text Box 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7 之 7</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7058" name="Rectangle 2"/>
          <p:cNvSpPr>
            <a:spLocks noGrp="1" noChangeArrowheads="1"/>
          </p:cNvSpPr>
          <p:nvPr>
            <p:ph type="title"/>
          </p:nvPr>
        </p:nvSpPr>
        <p:spPr/>
        <p:txBody>
          <a:bodyPr/>
          <a:lstStyle/>
          <a:p>
            <a:pPr eaLnBrk="1" hangingPunct="1">
              <a:defRPr/>
            </a:pPr>
            <a:r>
              <a:rPr lang="zh-CN" altLang="en-US" sz="5400" smtClean="0"/>
              <a:t>相关性分析技术</a:t>
            </a:r>
            <a:endParaRPr lang="zh-CN" altLang="en-US" sz="5400" smtClean="0"/>
          </a:p>
        </p:txBody>
      </p:sp>
      <p:sp>
        <p:nvSpPr>
          <p:cNvPr id="79875" name="Rectangle 6"/>
          <p:cNvSpPr>
            <a:spLocks noGrp="1" noChangeArrowheads="1"/>
          </p:cNvSpPr>
          <p:nvPr>
            <p:ph type="body" sz="half" idx="1"/>
          </p:nvPr>
        </p:nvSpPr>
        <p:spPr/>
        <p:txBody>
          <a:bodyPr/>
          <a:lstStyle/>
          <a:p>
            <a:pPr algn="ctr" eaLnBrk="1" hangingPunct="1">
              <a:lnSpc>
                <a:spcPct val="170000"/>
              </a:lnSpc>
            </a:pPr>
            <a:r>
              <a:rPr lang="zh-CN" altLang="en-US" sz="3200" smtClean="0">
                <a:hlinkClick r:id="rId1" action="ppaction://hlinksldjump"/>
              </a:rPr>
              <a:t>基本概念</a:t>
            </a:r>
            <a:endParaRPr lang="zh-CN" altLang="en-US" sz="3200" smtClean="0"/>
          </a:p>
          <a:p>
            <a:pPr algn="ctr" eaLnBrk="1" hangingPunct="1">
              <a:lnSpc>
                <a:spcPct val="170000"/>
              </a:lnSpc>
            </a:pPr>
            <a:r>
              <a:rPr lang="zh-CN" altLang="en-US" sz="3200" smtClean="0">
                <a:hlinkClick r:id="rId2" action="ppaction://hlinksldjump"/>
              </a:rPr>
              <a:t>资源相关</a:t>
            </a:r>
            <a:endParaRPr lang="zh-CN" altLang="en-US" sz="3200" smtClean="0"/>
          </a:p>
          <a:p>
            <a:pPr algn="ctr" eaLnBrk="1" hangingPunct="1">
              <a:lnSpc>
                <a:spcPct val="170000"/>
              </a:lnSpc>
            </a:pPr>
            <a:r>
              <a:rPr lang="zh-CN" altLang="en-US" sz="3200" smtClean="0">
                <a:hlinkClick r:id="rId3" action="ppaction://hlinksldjump"/>
              </a:rPr>
              <a:t>数据相关</a:t>
            </a:r>
            <a:endParaRPr lang="zh-CN" altLang="en-US" sz="3200" smtClean="0"/>
          </a:p>
          <a:p>
            <a:pPr algn="ctr" eaLnBrk="1" hangingPunct="1">
              <a:lnSpc>
                <a:spcPct val="170000"/>
              </a:lnSpc>
            </a:pPr>
            <a:r>
              <a:rPr lang="zh-CN" altLang="en-US" sz="3200" smtClean="0">
                <a:hlinkClick r:id="rId4" action="ppaction://hlinksldjump"/>
              </a:rPr>
              <a:t>控制相关</a:t>
            </a:r>
            <a:endParaRPr lang="zh-CN" altLang="en-US" sz="3200" smtClean="0"/>
          </a:p>
        </p:txBody>
      </p:sp>
      <p:sp>
        <p:nvSpPr>
          <p:cNvPr id="79876" name="Rectangle 7"/>
          <p:cNvSpPr>
            <a:spLocks noGrp="1" noChangeArrowheads="1"/>
          </p:cNvSpPr>
          <p:nvPr>
            <p:ph type="body" sz="half" idx="2"/>
          </p:nvPr>
        </p:nvSpPr>
        <p:spPr>
          <a:xfrm>
            <a:off x="5651500" y="2924175"/>
            <a:ext cx="2667000" cy="2160588"/>
          </a:xfrm>
        </p:spPr>
        <p:txBody>
          <a:bodyPr/>
          <a:lstStyle/>
          <a:p>
            <a:pPr algn="ctr" eaLnBrk="1" hangingPunct="1">
              <a:lnSpc>
                <a:spcPct val="170000"/>
              </a:lnSpc>
            </a:pPr>
            <a:r>
              <a:rPr lang="zh-CN" altLang="en-US" sz="3200" smtClean="0">
                <a:hlinkClick r:id="rId5" action="ppaction://hlinksldjump"/>
              </a:rPr>
              <a:t>综合应用</a:t>
            </a:r>
            <a:endParaRPr lang="zh-CN" altLang="en-US" sz="3200" smtClean="0"/>
          </a:p>
          <a:p>
            <a:pPr algn="ctr" eaLnBrk="1" hangingPunct="1">
              <a:lnSpc>
                <a:spcPct val="170000"/>
              </a:lnSpc>
            </a:pPr>
            <a:r>
              <a:rPr lang="zh-CN" altLang="en-US" sz="3200" smtClean="0">
                <a:hlinkClick r:id="rId6" action="ppaction://hlinksldjump"/>
              </a:rPr>
              <a:t>循环处理</a:t>
            </a:r>
            <a:endParaRPr lang="zh-CN" altLang="en-US" sz="3200" smtClean="0"/>
          </a:p>
        </p:txBody>
      </p:sp>
      <p:sp>
        <p:nvSpPr>
          <p:cNvPr id="7987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7" action="ppaction://hlinksldjump"/>
              </a:rPr>
              <a:t>本章内容</a:t>
            </a:r>
            <a:endParaRPr lang="zh-CN" altLang="en-US" sz="1200" b="0">
              <a:latin typeface="Times New Roman" panose="02020603050405020304" pitchFamily="18" charset="0"/>
              <a:ea typeface="幼圆" panose="02010509060101010101" pitchFamily="49" charset="-122"/>
            </a:endParaRPr>
          </a:p>
        </p:txBody>
      </p:sp>
      <p:sp>
        <p:nvSpPr>
          <p:cNvPr id="79878" name="AutoShape 8"/>
          <p:cNvSpPr>
            <a:spLocks noChangeArrowheads="1"/>
          </p:cNvSpPr>
          <p:nvPr/>
        </p:nvSpPr>
        <p:spPr bwMode="auto">
          <a:xfrm>
            <a:off x="4211638" y="3789363"/>
            <a:ext cx="1439862" cy="5334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99FF66"/>
          </a:solidFill>
          <a:ln w="28575">
            <a:solidFill>
              <a:schemeClr val="tx1"/>
            </a:solidFill>
            <a:miter lim="800000"/>
          </a:ln>
          <a:effectLst>
            <a:outerShdw dist="35921" dir="2700000" algn="ctr" rotWithShape="0">
              <a:schemeClr val="bg2"/>
            </a:outerShdw>
          </a:effectLst>
        </p:spPr>
        <p:txBody>
          <a:bodyPr wrap="none" anchor="ctr"/>
          <a:lstStyle/>
          <a:p>
            <a:endParaRPr lang="zh-CN" altLang="en-US"/>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9218" name="Rectangle 2"/>
          <p:cNvSpPr>
            <a:spLocks noGrp="1" noChangeArrowheads="1"/>
          </p:cNvSpPr>
          <p:nvPr>
            <p:ph type="title"/>
          </p:nvPr>
        </p:nvSpPr>
        <p:spPr/>
        <p:txBody>
          <a:bodyPr/>
          <a:lstStyle/>
          <a:p>
            <a:pPr eaLnBrk="1" hangingPunct="1">
              <a:defRPr/>
            </a:pPr>
            <a:r>
              <a:rPr lang="zh-CN" altLang="en-US" sz="5400" smtClean="0"/>
              <a:t>基本概念</a:t>
            </a:r>
            <a:endParaRPr lang="zh-CN" altLang="en-US" sz="5400" smtClean="0"/>
          </a:p>
        </p:txBody>
      </p:sp>
      <p:sp>
        <p:nvSpPr>
          <p:cNvPr id="808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endParaRPr lang="zh-CN" altLang="en-US" sz="1200" b="0">
              <a:latin typeface="Times New Roman" panose="02020603050405020304" pitchFamily="18" charset="0"/>
              <a:ea typeface="幼圆" panose="02010509060101010101" pitchFamily="49" charset="-122"/>
            </a:endParaRPr>
          </a:p>
        </p:txBody>
      </p:sp>
      <p:sp>
        <p:nvSpPr>
          <p:cNvPr id="649220" name="Rectangle 4"/>
          <p:cNvSpPr>
            <a:spLocks noGrp="1" noChangeArrowheads="1"/>
          </p:cNvSpPr>
          <p:nvPr>
            <p:ph type="body" idx="1"/>
          </p:nvPr>
        </p:nvSpPr>
        <p:spPr>
          <a:xfrm>
            <a:off x="809625" y="1989138"/>
            <a:ext cx="8105775" cy="4335462"/>
          </a:xfrm>
        </p:spPr>
        <p:txBody>
          <a:bodyPr/>
          <a:lstStyle/>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概念</a:t>
            </a:r>
            <a:endParaRPr lang="zh-CN" altLang="en-US" sz="24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400" dirty="0" smtClean="0"/>
              <a:t>    相关（</a:t>
            </a:r>
            <a:r>
              <a:rPr lang="en-US" altLang="zh-CN" sz="2400" dirty="0" smtClean="0"/>
              <a:t>Correlation or Dependency）</a:t>
            </a:r>
            <a:r>
              <a:rPr lang="zh-CN" altLang="en-US" sz="2400" dirty="0" smtClean="0"/>
              <a:t>也称为冲突（</a:t>
            </a:r>
            <a:r>
              <a:rPr lang="en-US" altLang="zh-CN" sz="2400" dirty="0" smtClean="0"/>
              <a:t>Hazard）</a:t>
            </a:r>
            <a:r>
              <a:rPr lang="zh-CN" altLang="en-US" sz="2400" dirty="0" smtClean="0"/>
              <a:t>是指邻近指令之间存在着某种关系，影响指令的重叠执行或流水线的正常运行。</a:t>
            </a:r>
            <a:endParaRPr lang="zh-CN" altLang="en-US" sz="2400" dirty="0" smtClean="0"/>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内容</a:t>
            </a:r>
            <a:endParaRPr lang="zh-CN" altLang="en-US" sz="24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400" dirty="0" smtClean="0"/>
              <a:t>        有三种类型的相关：</a:t>
            </a:r>
            <a:endParaRPr lang="zh-CN" altLang="en-US" sz="2400" dirty="0" smtClean="0"/>
          </a:p>
          <a:p>
            <a:pPr marL="765175" lvl="1" eaLnBrk="1" hangingPunct="1">
              <a:defRPr/>
            </a:pPr>
            <a:r>
              <a:rPr lang="zh-CN" altLang="en-US" sz="2400" dirty="0" smtClean="0">
                <a:solidFill>
                  <a:srgbClr val="0000CC"/>
                </a:solidFill>
                <a:effectLst>
                  <a:outerShdw blurRad="38100" dist="38100" dir="2700000" algn="tl">
                    <a:srgbClr val="C0C0C0"/>
                  </a:outerShdw>
                </a:effectLst>
              </a:rPr>
              <a:t>资源相关</a:t>
            </a:r>
            <a:r>
              <a:rPr lang="zh-CN" altLang="en-US" sz="2400" dirty="0" smtClean="0"/>
              <a:t>：争用部件。</a:t>
            </a:r>
            <a:endParaRPr lang="zh-CN" altLang="en-US" sz="2400" dirty="0" smtClean="0"/>
          </a:p>
          <a:p>
            <a:pPr marL="765175" lvl="1" eaLnBrk="1" hangingPunct="1">
              <a:defRPr/>
            </a:pPr>
            <a:r>
              <a:rPr lang="zh-CN" altLang="en-US" sz="2400" dirty="0" smtClean="0">
                <a:solidFill>
                  <a:srgbClr val="0000CC"/>
                </a:solidFill>
                <a:effectLst>
                  <a:outerShdw blurRad="38100" dist="38100" dir="2700000" algn="tl">
                    <a:srgbClr val="C0C0C0"/>
                  </a:outerShdw>
                </a:effectLst>
              </a:rPr>
              <a:t>数据相关</a:t>
            </a:r>
            <a:r>
              <a:rPr lang="zh-CN" altLang="en-US" sz="2400" dirty="0" smtClean="0"/>
              <a:t>：改变操作数的读写顺序，使得顺序执行与流水执行时结果不同。</a:t>
            </a:r>
            <a:endParaRPr lang="zh-CN" altLang="en-US" sz="2400" dirty="0" smtClean="0"/>
          </a:p>
          <a:p>
            <a:pPr marL="765175" lvl="1" eaLnBrk="1" hangingPunct="1">
              <a:defRPr/>
            </a:pPr>
            <a:r>
              <a:rPr lang="zh-CN" altLang="en-US" sz="2400" dirty="0" smtClean="0">
                <a:solidFill>
                  <a:srgbClr val="0000CC"/>
                </a:solidFill>
                <a:effectLst>
                  <a:outerShdw blurRad="38100" dist="38100" dir="2700000" algn="tl">
                    <a:srgbClr val="C0C0C0"/>
                  </a:outerShdw>
                </a:effectLst>
              </a:rPr>
              <a:t>控制相关</a:t>
            </a:r>
            <a:r>
              <a:rPr lang="zh-CN" altLang="en-US" sz="2400" dirty="0" smtClean="0"/>
              <a:t>：分支、转子程序、中断。</a:t>
            </a:r>
            <a:endParaRPr lang="zh-CN" altLang="en-US" sz="2400" dirty="0" smtClean="0"/>
          </a:p>
        </p:txBody>
      </p:sp>
      <p:sp>
        <p:nvSpPr>
          <p:cNvPr id="80901"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2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1</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9266" name="Rectangle 2"/>
          <p:cNvSpPr>
            <a:spLocks noGrp="1" noChangeArrowheads="1"/>
          </p:cNvSpPr>
          <p:nvPr>
            <p:ph type="title"/>
          </p:nvPr>
        </p:nvSpPr>
        <p:spPr/>
        <p:txBody>
          <a:bodyPr/>
          <a:lstStyle/>
          <a:p>
            <a:pPr eaLnBrk="1" hangingPunct="1">
              <a:defRPr/>
            </a:pPr>
            <a:r>
              <a:rPr lang="zh-CN" altLang="en-US" sz="5400" smtClean="0"/>
              <a:t>示例环境说明</a:t>
            </a:r>
            <a:endParaRPr lang="zh-CN" altLang="en-US" sz="5400" smtClean="0"/>
          </a:p>
        </p:txBody>
      </p:sp>
      <p:sp>
        <p:nvSpPr>
          <p:cNvPr id="819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endParaRPr lang="zh-CN" altLang="en-US" sz="1200" b="0">
              <a:latin typeface="Times New Roman" panose="02020603050405020304" pitchFamily="18" charset="0"/>
              <a:ea typeface="幼圆" panose="02010509060101010101" pitchFamily="49" charset="-122"/>
            </a:endParaRPr>
          </a:p>
        </p:txBody>
      </p:sp>
      <p:sp>
        <p:nvSpPr>
          <p:cNvPr id="81924" name="Rectangle 6"/>
          <p:cNvSpPr>
            <a:spLocks noGrp="1" noChangeArrowheads="1"/>
          </p:cNvSpPr>
          <p:nvPr>
            <p:ph type="body" idx="1"/>
          </p:nvPr>
        </p:nvSpPr>
        <p:spPr>
          <a:xfrm>
            <a:off x="809625" y="1989138"/>
            <a:ext cx="7958138" cy="2001837"/>
          </a:xfrm>
        </p:spPr>
        <p:txBody>
          <a:bodyPr/>
          <a:lstStyle/>
          <a:p>
            <a:pPr marL="0" indent="0" eaLnBrk="1" hangingPunct="1">
              <a:lnSpc>
                <a:spcPct val="120000"/>
              </a:lnSpc>
              <a:buFont typeface="Wingdings" panose="05000000000000000000" pitchFamily="2" charset="2"/>
              <a:buNone/>
            </a:pPr>
            <a:r>
              <a:rPr lang="zh-CN" altLang="en-US" smtClean="0"/>
              <a:t>       在介绍相关性分析技术时，我们以一个典型的</a:t>
            </a:r>
            <a:r>
              <a:rPr lang="en-US" altLang="zh-CN" smtClean="0"/>
              <a:t>RISC</a:t>
            </a:r>
            <a:r>
              <a:rPr lang="zh-CN" altLang="en-US" smtClean="0"/>
              <a:t>指令流水线（</a:t>
            </a:r>
            <a:r>
              <a:rPr lang="en-US" altLang="zh-CN" smtClean="0"/>
              <a:t>MIPS64</a:t>
            </a:r>
            <a:r>
              <a:rPr lang="zh-CN" altLang="en-US" smtClean="0"/>
              <a:t>指令集）为例进行介绍：</a:t>
            </a:r>
            <a:endParaRPr lang="zh-CN" altLang="en-US" smtClean="0"/>
          </a:p>
        </p:txBody>
      </p:sp>
      <p:sp>
        <p:nvSpPr>
          <p:cNvPr id="81925" name="Rectangle 7"/>
          <p:cNvSpPr>
            <a:spLocks noChangeArrowheads="1"/>
          </p:cNvSpPr>
          <p:nvPr/>
        </p:nvSpPr>
        <p:spPr bwMode="auto">
          <a:xfrm>
            <a:off x="2700338" y="4005263"/>
            <a:ext cx="4276725" cy="215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74650" indent="-374650" eaLnBrk="0" hangingPunct="0">
              <a:buChar char="w"/>
              <a:defRPr kumimoji="1" sz="3200" b="1">
                <a:solidFill>
                  <a:schemeClr val="tx1"/>
                </a:solidFill>
                <a:latin typeface="Arial" panose="020B0604020202020204" pitchFamily="34" charset="0"/>
                <a:ea typeface="楷体_GB2312" pitchFamily="49" charset="-122"/>
              </a:defRPr>
            </a:lvl1pPr>
            <a:lvl2pPr marL="95250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3716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7907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2098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667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3124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5814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4038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170000"/>
              </a:lnSpc>
            </a:pPr>
            <a:r>
              <a:rPr lang="en-US" altLang="zh-CN">
                <a:hlinkClick r:id="rId3" action="ppaction://hlinksldjump"/>
              </a:rPr>
              <a:t>MIPS</a:t>
            </a:r>
            <a:r>
              <a:rPr lang="zh-CN" altLang="en-US">
                <a:hlinkClick r:id="rId3" action="ppaction://hlinksldjump"/>
              </a:rPr>
              <a:t>基本流水线</a:t>
            </a:r>
            <a:endParaRPr lang="zh-CN" altLang="en-US"/>
          </a:p>
          <a:p>
            <a:pPr eaLnBrk="1" hangingPunct="1">
              <a:lnSpc>
                <a:spcPct val="170000"/>
              </a:lnSpc>
            </a:pPr>
            <a:r>
              <a:rPr lang="en-US" altLang="zh-CN">
                <a:hlinkClick r:id="rId4" action="ppaction://hlinksldjump"/>
              </a:rPr>
              <a:t>MIPS</a:t>
            </a:r>
            <a:r>
              <a:rPr lang="zh-CN" altLang="en-US">
                <a:hlinkClick r:id="rId4" action="ppaction://hlinksldjump"/>
              </a:rPr>
              <a:t>扩展流水线</a:t>
            </a:r>
            <a:endParaRPr lang="zh-CN" altLang="en-US"/>
          </a:p>
        </p:txBody>
      </p:sp>
      <p:sp>
        <p:nvSpPr>
          <p:cNvPr id="81926" name="Text Box 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2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2</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9458" name="Rectangle 2"/>
          <p:cNvSpPr>
            <a:spLocks noGrp="1" noChangeArrowheads="1"/>
          </p:cNvSpPr>
          <p:nvPr>
            <p:ph type="title"/>
          </p:nvPr>
        </p:nvSpPr>
        <p:spPr/>
        <p:txBody>
          <a:bodyPr/>
          <a:lstStyle/>
          <a:p>
            <a:pPr eaLnBrk="1" hangingPunct="1">
              <a:defRPr/>
            </a:pPr>
            <a:r>
              <a:rPr lang="en-US" altLang="zh-CN" sz="5400" smtClean="0"/>
              <a:t>MIPS</a:t>
            </a:r>
            <a:r>
              <a:rPr lang="zh-CN" altLang="en-US" sz="5400" smtClean="0"/>
              <a:t>基本流水线</a:t>
            </a:r>
            <a:endParaRPr lang="zh-CN" altLang="en-US" sz="5400" smtClean="0"/>
          </a:p>
        </p:txBody>
      </p:sp>
      <p:sp>
        <p:nvSpPr>
          <p:cNvPr id="8294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659461" name="Rectangle 5"/>
          <p:cNvSpPr>
            <a:spLocks noGrp="1" noChangeArrowheads="1"/>
          </p:cNvSpPr>
          <p:nvPr>
            <p:ph type="body" idx="1"/>
          </p:nvPr>
        </p:nvSpPr>
        <p:spPr>
          <a:xfrm>
            <a:off x="809625" y="1989138"/>
            <a:ext cx="7958138" cy="4330700"/>
          </a:xfrm>
        </p:spPr>
        <p:txBody>
          <a:bodyPr/>
          <a:lstStyle/>
          <a:p>
            <a:pPr marL="0" indent="0" eaLnBrk="1" hangingPunct="1">
              <a:lnSpc>
                <a:spcPct val="120000"/>
              </a:lnSpc>
              <a:buClr>
                <a:srgbClr val="FF0000"/>
              </a:buClr>
              <a:defRPr/>
            </a:pPr>
            <a:r>
              <a:rPr lang="en-US" altLang="zh-CN" sz="2400" dirty="0" smtClean="0">
                <a:solidFill>
                  <a:srgbClr val="FF0000"/>
                </a:solidFill>
                <a:effectLst>
                  <a:outerShdw blurRad="38100" dist="38100" dir="2700000" algn="tl">
                    <a:srgbClr val="C0C0C0"/>
                  </a:outerShdw>
                </a:effectLst>
              </a:rPr>
              <a:t>  RISC</a:t>
            </a:r>
            <a:r>
              <a:rPr lang="zh-CN" altLang="en-US" sz="2400" dirty="0" smtClean="0">
                <a:solidFill>
                  <a:srgbClr val="FF0000"/>
                </a:solidFill>
                <a:effectLst>
                  <a:outerShdw blurRad="38100" dist="38100" dir="2700000" algn="tl">
                    <a:srgbClr val="C0C0C0"/>
                  </a:outerShdw>
                </a:effectLst>
              </a:rPr>
              <a:t>指令集</a:t>
            </a: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defRPr/>
            </a:pPr>
            <a:r>
              <a:rPr lang="zh-CN" altLang="en-US" sz="2400" dirty="0" smtClean="0"/>
              <a:t>    采用</a:t>
            </a:r>
            <a:r>
              <a:rPr lang="en-US" altLang="zh-CN" sz="2400" dirty="0" smtClean="0"/>
              <a:t>MIPS64（MIPS</a:t>
            </a:r>
            <a:r>
              <a:rPr lang="zh-CN" altLang="en-US" sz="2400" dirty="0" smtClean="0"/>
              <a:t>的64位版本）的整数子集：</a:t>
            </a:r>
            <a:r>
              <a:rPr lang="en-US" altLang="zh-CN" sz="2400" dirty="0" smtClean="0"/>
              <a:t>ALU</a:t>
            </a:r>
            <a:r>
              <a:rPr lang="zh-CN" altLang="en-US" sz="2400" dirty="0" smtClean="0"/>
              <a:t>指令（</a:t>
            </a:r>
            <a:r>
              <a:rPr lang="zh-CN" altLang="en-US" sz="2400" dirty="0" smtClean="0">
                <a:solidFill>
                  <a:srgbClr val="0000FF"/>
                </a:solidFill>
                <a:effectLst>
                  <a:outerShdw blurRad="38100" dist="38100" dir="2700000" algn="tl">
                    <a:srgbClr val="C0C0C0"/>
                  </a:outerShdw>
                </a:effectLst>
              </a:rPr>
              <a:t>5个时钟周期</a:t>
            </a:r>
            <a:r>
              <a:rPr lang="zh-CN" altLang="en-US" sz="2400" dirty="0" smtClean="0"/>
              <a:t>）、 </a:t>
            </a:r>
            <a:r>
              <a:rPr lang="en-US" altLang="zh-CN" sz="2400" dirty="0" smtClean="0"/>
              <a:t>load（</a:t>
            </a:r>
            <a:r>
              <a:rPr lang="en-US" altLang="zh-CN" sz="2400" dirty="0" smtClean="0">
                <a:solidFill>
                  <a:srgbClr val="0000FF"/>
                </a:solidFill>
                <a:effectLst>
                  <a:outerShdw blurRad="38100" dist="38100" dir="2700000" algn="tl">
                    <a:srgbClr val="C0C0C0"/>
                  </a:outerShdw>
                </a:effectLst>
              </a:rPr>
              <a:t>5</a:t>
            </a:r>
            <a:r>
              <a:rPr lang="zh-CN" altLang="en-US" sz="2400" dirty="0" smtClean="0">
                <a:solidFill>
                  <a:srgbClr val="0000FF"/>
                </a:solidFill>
                <a:effectLst>
                  <a:outerShdw blurRad="38100" dist="38100" dir="2700000" algn="tl">
                    <a:srgbClr val="C0C0C0"/>
                  </a:outerShdw>
                </a:effectLst>
              </a:rPr>
              <a:t>个时钟周期</a:t>
            </a:r>
            <a:r>
              <a:rPr lang="en-US" altLang="zh-CN" sz="2400" dirty="0" smtClean="0"/>
              <a:t>）/store（</a:t>
            </a:r>
            <a:r>
              <a:rPr lang="en-US" altLang="zh-CN" sz="2400" dirty="0" smtClean="0">
                <a:solidFill>
                  <a:srgbClr val="0000FF"/>
                </a:solidFill>
                <a:effectLst>
                  <a:outerShdw blurRad="38100" dist="38100" dir="2700000" algn="tl">
                    <a:srgbClr val="C0C0C0"/>
                  </a:outerShdw>
                </a:effectLst>
              </a:rPr>
              <a:t>4</a:t>
            </a:r>
            <a:r>
              <a:rPr lang="zh-CN" altLang="en-US" sz="2400" dirty="0" smtClean="0">
                <a:solidFill>
                  <a:srgbClr val="0000FF"/>
                </a:solidFill>
                <a:effectLst>
                  <a:outerShdw blurRad="38100" dist="38100" dir="2700000" algn="tl">
                    <a:srgbClr val="C0C0C0"/>
                  </a:outerShdw>
                </a:effectLst>
              </a:rPr>
              <a:t>个时钟周期</a:t>
            </a:r>
            <a:r>
              <a:rPr lang="en-US" altLang="zh-CN" sz="2400" dirty="0" smtClean="0"/>
              <a:t>）</a:t>
            </a:r>
            <a:r>
              <a:rPr lang="zh-CN" altLang="en-US" sz="2400" dirty="0" smtClean="0"/>
              <a:t>指令和分支指令（</a:t>
            </a:r>
            <a:r>
              <a:rPr lang="zh-CN" altLang="en-US" sz="2400" dirty="0" smtClean="0">
                <a:solidFill>
                  <a:srgbClr val="0000FF"/>
                </a:solidFill>
                <a:effectLst>
                  <a:outerShdw blurRad="38100" dist="38100" dir="2700000" algn="tl">
                    <a:srgbClr val="C0C0C0"/>
                  </a:outerShdw>
                </a:effectLst>
              </a:rPr>
              <a:t>2个时钟周期</a:t>
            </a:r>
            <a:r>
              <a:rPr lang="zh-CN" altLang="en-US" sz="2400" dirty="0" smtClean="0"/>
              <a:t>）。</a:t>
            </a:r>
            <a:endParaRPr lang="zh-CN" altLang="en-US" sz="2400" dirty="0" smtClean="0"/>
          </a:p>
          <a:p>
            <a:pPr marL="0" indent="0" eaLnBrk="1" hangingPunct="1">
              <a:lnSpc>
                <a:spcPct val="120000"/>
              </a:lnSpc>
              <a:buClr>
                <a:srgbClr val="FF0000"/>
              </a:buClr>
              <a:defRPr/>
            </a:pPr>
            <a:r>
              <a:rPr lang="en-US" altLang="zh-CN" sz="2400" dirty="0" smtClean="0">
                <a:solidFill>
                  <a:srgbClr val="FF0000"/>
                </a:solidFill>
                <a:effectLst>
                  <a:outerShdw blurRad="38100" dist="38100" dir="2700000" algn="tl">
                    <a:srgbClr val="C0C0C0"/>
                  </a:outerShdw>
                </a:effectLst>
              </a:rPr>
              <a:t>  RISC</a:t>
            </a:r>
            <a:r>
              <a:rPr lang="zh-CN" altLang="en-US" sz="2400" dirty="0" smtClean="0">
                <a:solidFill>
                  <a:srgbClr val="FF0000"/>
                </a:solidFill>
                <a:effectLst>
                  <a:outerShdw blurRad="38100" dist="38100" dir="2700000" algn="tl">
                    <a:srgbClr val="C0C0C0"/>
                  </a:outerShdw>
                </a:effectLst>
              </a:rPr>
              <a:t>指令的实现</a:t>
            </a: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defRPr/>
            </a:pPr>
            <a:r>
              <a:rPr lang="zh-CN" altLang="en-US" sz="2400" dirty="0" smtClean="0"/>
              <a:t>    每一条</a:t>
            </a:r>
            <a:r>
              <a:rPr lang="en-US" altLang="zh-CN" sz="2400" dirty="0" smtClean="0"/>
              <a:t>RISC</a:t>
            </a:r>
            <a:r>
              <a:rPr lang="zh-CN" altLang="en-US" sz="2400" dirty="0" smtClean="0"/>
              <a:t>指令的执行至多需要5个时钟周期：</a:t>
            </a:r>
            <a:r>
              <a:rPr lang="zh-CN" altLang="en-US" sz="2400" dirty="0" smtClean="0">
                <a:solidFill>
                  <a:srgbClr val="0000FF"/>
                </a:solidFill>
                <a:effectLst>
                  <a:outerShdw blurRad="38100" dist="38100" dir="2700000" algn="tl">
                    <a:srgbClr val="C0C0C0"/>
                  </a:outerShdw>
                </a:effectLst>
              </a:rPr>
              <a:t>取指令周期（</a:t>
            </a:r>
            <a:r>
              <a:rPr lang="en-US" altLang="zh-CN" sz="2400" dirty="0" smtClean="0">
                <a:solidFill>
                  <a:srgbClr val="0000FF"/>
                </a:solidFill>
                <a:effectLst>
                  <a:outerShdw blurRad="38100" dist="38100" dir="2700000" algn="tl">
                    <a:srgbClr val="C0C0C0"/>
                  </a:outerShdw>
                </a:effectLst>
              </a:rPr>
              <a:t>IF）</a:t>
            </a:r>
            <a:r>
              <a:rPr lang="en-US" altLang="zh-CN" sz="2400" dirty="0" smtClean="0"/>
              <a:t>、</a:t>
            </a:r>
            <a:r>
              <a:rPr lang="zh-CN" altLang="en-US" sz="2400" dirty="0" smtClean="0">
                <a:solidFill>
                  <a:srgbClr val="0000FF"/>
                </a:solidFill>
                <a:effectLst>
                  <a:outerShdw blurRad="38100" dist="38100" dir="2700000" algn="tl">
                    <a:srgbClr val="C0C0C0"/>
                  </a:outerShdw>
                </a:effectLst>
              </a:rPr>
              <a:t>指令译码/读寄存器周期（</a:t>
            </a:r>
            <a:r>
              <a:rPr lang="en-US" altLang="zh-CN" sz="2400" dirty="0" smtClean="0">
                <a:solidFill>
                  <a:srgbClr val="0000FF"/>
                </a:solidFill>
                <a:effectLst>
                  <a:outerShdw blurRad="38100" dist="38100" dir="2700000" algn="tl">
                    <a:srgbClr val="C0C0C0"/>
                  </a:outerShdw>
                </a:effectLst>
              </a:rPr>
              <a:t>ID）</a:t>
            </a:r>
            <a:r>
              <a:rPr lang="en-US" altLang="zh-CN" sz="2400" dirty="0" smtClean="0"/>
              <a:t>、</a:t>
            </a:r>
            <a:r>
              <a:rPr lang="zh-CN" altLang="en-US" sz="2400" dirty="0" smtClean="0">
                <a:solidFill>
                  <a:srgbClr val="0000FF"/>
                </a:solidFill>
                <a:effectLst>
                  <a:outerShdw blurRad="38100" dist="38100" dir="2700000" algn="tl">
                    <a:srgbClr val="C0C0C0"/>
                  </a:outerShdw>
                </a:effectLst>
              </a:rPr>
              <a:t>执行/有效地址周期（</a:t>
            </a:r>
            <a:r>
              <a:rPr lang="en-US" altLang="zh-CN" sz="2400" dirty="0" smtClean="0">
                <a:solidFill>
                  <a:srgbClr val="0000FF"/>
                </a:solidFill>
                <a:effectLst>
                  <a:outerShdw blurRad="38100" dist="38100" dir="2700000" algn="tl">
                    <a:srgbClr val="C0C0C0"/>
                  </a:outerShdw>
                </a:effectLst>
              </a:rPr>
              <a:t>EX）</a:t>
            </a:r>
            <a:r>
              <a:rPr lang="en-US" altLang="zh-CN" sz="2400" dirty="0" smtClean="0"/>
              <a:t>、</a:t>
            </a:r>
            <a:r>
              <a:rPr lang="zh-CN" altLang="en-US" sz="2400" dirty="0" smtClean="0">
                <a:solidFill>
                  <a:srgbClr val="0000FF"/>
                </a:solidFill>
                <a:effectLst>
                  <a:outerShdw blurRad="38100" dist="38100" dir="2700000" algn="tl">
                    <a:srgbClr val="C0C0C0"/>
                  </a:outerShdw>
                </a:effectLst>
              </a:rPr>
              <a:t>访问存储器周期（</a:t>
            </a:r>
            <a:r>
              <a:rPr lang="en-US" altLang="zh-CN" sz="2400" dirty="0" smtClean="0">
                <a:solidFill>
                  <a:srgbClr val="0000FF"/>
                </a:solidFill>
                <a:effectLst>
                  <a:outerShdw blurRad="38100" dist="38100" dir="2700000" algn="tl">
                    <a:srgbClr val="C0C0C0"/>
                  </a:outerShdw>
                </a:effectLst>
              </a:rPr>
              <a:t>MEM）</a:t>
            </a:r>
            <a:r>
              <a:rPr lang="zh-CN" altLang="en-US" sz="2400" dirty="0" smtClean="0"/>
              <a:t>和</a:t>
            </a:r>
            <a:r>
              <a:rPr lang="zh-CN" altLang="en-US" sz="2400" dirty="0" smtClean="0">
                <a:solidFill>
                  <a:srgbClr val="0000FF"/>
                </a:solidFill>
                <a:effectLst>
                  <a:outerShdw blurRad="38100" dist="38100" dir="2700000" algn="tl">
                    <a:srgbClr val="C0C0C0"/>
                  </a:outerShdw>
                </a:effectLst>
              </a:rPr>
              <a:t>写回周期（</a:t>
            </a:r>
            <a:r>
              <a:rPr lang="en-US" altLang="zh-CN" sz="2400" dirty="0" smtClean="0">
                <a:solidFill>
                  <a:srgbClr val="0000FF"/>
                </a:solidFill>
                <a:effectLst>
                  <a:outerShdw blurRad="38100" dist="38100" dir="2700000" algn="tl">
                    <a:srgbClr val="C0C0C0"/>
                  </a:outerShdw>
                </a:effectLst>
              </a:rPr>
              <a:t>WB）</a:t>
            </a:r>
            <a:r>
              <a:rPr lang="en-US" altLang="zh-CN" sz="2400" dirty="0" smtClean="0"/>
              <a:t>。</a:t>
            </a:r>
            <a:endParaRPr lang="en-US" altLang="zh-CN" sz="2400" dirty="0" smtClean="0"/>
          </a:p>
        </p:txBody>
      </p:sp>
      <p:sp>
        <p:nvSpPr>
          <p:cNvPr id="82949"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1234" name="Rectangle 2"/>
          <p:cNvSpPr>
            <a:spLocks noGrp="1" noChangeArrowheads="1"/>
          </p:cNvSpPr>
          <p:nvPr>
            <p:ph type="title"/>
          </p:nvPr>
        </p:nvSpPr>
        <p:spPr/>
        <p:txBody>
          <a:bodyPr/>
          <a:lstStyle/>
          <a:p>
            <a:pPr eaLnBrk="1" hangingPunct="1">
              <a:defRPr/>
            </a:pPr>
            <a:r>
              <a:rPr lang="zh-CN" altLang="en-US" sz="5400" smtClean="0"/>
              <a:t>取指令周期（</a:t>
            </a:r>
            <a:r>
              <a:rPr lang="en-US" altLang="zh-CN" sz="5400" smtClean="0"/>
              <a:t>IF）</a:t>
            </a:r>
            <a:endParaRPr lang="zh-CN" altLang="en-US" sz="5400" smtClean="0"/>
          </a:p>
        </p:txBody>
      </p:sp>
      <p:sp>
        <p:nvSpPr>
          <p:cNvPr id="839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991236" name="Rectangle 4"/>
          <p:cNvSpPr>
            <a:spLocks noGrp="1" noChangeArrowheads="1"/>
          </p:cNvSpPr>
          <p:nvPr>
            <p:ph type="body" idx="1"/>
          </p:nvPr>
        </p:nvSpPr>
        <p:spPr/>
        <p:txBody>
          <a:bodyPr/>
          <a:lstStyle/>
          <a:p>
            <a:pPr marL="0" indent="0" defTabSz="879475" eaLnBrk="1" hangingPunct="1">
              <a:lnSpc>
                <a:spcPct val="120000"/>
              </a:lnSpc>
              <a:buFont typeface="Wingdings" panose="05000000000000000000" pitchFamily="2" charset="2"/>
              <a:buNone/>
              <a:tabLst>
                <a:tab pos="2425700" algn="l"/>
              </a:tabLst>
              <a:defRPr/>
            </a:pPr>
            <a:r>
              <a:rPr lang="en-US" altLang="zh-CN" dirty="0" smtClean="0"/>
              <a:t>	</a:t>
            </a:r>
            <a:r>
              <a:rPr lang="en-US" altLang="zh-CN" dirty="0" smtClean="0">
                <a:solidFill>
                  <a:srgbClr val="0000CC"/>
                </a:solidFill>
                <a:effectLst>
                  <a:outerShdw blurRad="38100" dist="38100" dir="2700000" algn="tl">
                    <a:srgbClr val="C0C0C0"/>
                  </a:outerShdw>
                </a:effectLst>
              </a:rPr>
              <a:t>IR ← Mem[PC]</a:t>
            </a:r>
            <a:endParaRPr lang="en-US" altLang="zh-CN" dirty="0" smtClean="0">
              <a:solidFill>
                <a:srgbClr val="0000CC"/>
              </a:solidFill>
              <a:effectLst>
                <a:outerShdw blurRad="38100" dist="38100" dir="2700000" algn="tl">
                  <a:srgbClr val="C0C0C0"/>
                </a:outerShdw>
              </a:effectLst>
            </a:endParaRPr>
          </a:p>
          <a:p>
            <a:pPr marL="0" indent="0" defTabSz="879475" eaLnBrk="1" hangingPunct="1">
              <a:lnSpc>
                <a:spcPct val="120000"/>
              </a:lnSpc>
              <a:buFont typeface="Wingdings" panose="05000000000000000000" pitchFamily="2" charset="2"/>
              <a:buNone/>
              <a:tabLst>
                <a:tab pos="2425700" algn="l"/>
              </a:tabLst>
              <a:defRPr/>
            </a:pPr>
            <a:r>
              <a:rPr lang="en-US" altLang="zh-CN" dirty="0" smtClean="0">
                <a:solidFill>
                  <a:srgbClr val="0000CC"/>
                </a:solidFill>
                <a:effectLst>
                  <a:outerShdw blurRad="38100" dist="38100" dir="2700000" algn="tl">
                    <a:srgbClr val="C0C0C0"/>
                  </a:outerShdw>
                </a:effectLst>
              </a:rPr>
              <a:t>	NPC ← PC+4</a:t>
            </a:r>
            <a:endParaRPr lang="en-US" altLang="zh-CN" dirty="0" smtClean="0">
              <a:solidFill>
                <a:srgbClr val="0000CC"/>
              </a:solidFill>
              <a:effectLst>
                <a:outerShdw blurRad="38100" dist="38100" dir="2700000" algn="tl">
                  <a:srgbClr val="C0C0C0"/>
                </a:outerShdw>
              </a:effectLst>
            </a:endParaRPr>
          </a:p>
          <a:p>
            <a:pPr marL="0" indent="0" defTabSz="879475" eaLnBrk="1" hangingPunct="1">
              <a:lnSpc>
                <a:spcPct val="120000"/>
              </a:lnSpc>
              <a:buFont typeface="Wingdings" panose="05000000000000000000" pitchFamily="2" charset="2"/>
              <a:buNone/>
              <a:tabLst>
                <a:tab pos="2425700" algn="l"/>
              </a:tabLst>
              <a:defRPr/>
            </a:pPr>
            <a:r>
              <a:rPr lang="zh-CN" altLang="en-US" sz="2800" dirty="0" smtClean="0">
                <a:solidFill>
                  <a:srgbClr val="FF0000"/>
                </a:solidFill>
                <a:effectLst>
                  <a:outerShdw blurRad="38100" dist="38100" dir="2700000" algn="tl">
                    <a:srgbClr val="C0C0C0"/>
                  </a:outerShdw>
                </a:effectLst>
              </a:rPr>
              <a:t>解释：</a:t>
            </a:r>
            <a:endParaRPr lang="zh-CN" altLang="en-US" sz="2800" dirty="0" smtClean="0">
              <a:solidFill>
                <a:srgbClr val="FF0000"/>
              </a:solidFill>
              <a:effectLst>
                <a:outerShdw blurRad="38100" dist="38100" dir="2700000" algn="tl">
                  <a:srgbClr val="C0C0C0"/>
                </a:outerShdw>
              </a:effectLst>
            </a:endParaRPr>
          </a:p>
          <a:p>
            <a:pPr marL="0" indent="0" defTabSz="879475" eaLnBrk="1" hangingPunct="1">
              <a:lnSpc>
                <a:spcPct val="120000"/>
              </a:lnSpc>
              <a:buFont typeface="Wingdings" panose="05000000000000000000" pitchFamily="2" charset="2"/>
              <a:buNone/>
              <a:tabLst>
                <a:tab pos="2425700" algn="l"/>
              </a:tabLst>
              <a:defRPr/>
            </a:pPr>
            <a:r>
              <a:rPr lang="zh-CN" altLang="en-US" sz="2800" dirty="0" smtClean="0"/>
              <a:t>       根据</a:t>
            </a:r>
            <a:r>
              <a:rPr lang="en-US" altLang="zh-CN" sz="2800" dirty="0" smtClean="0"/>
              <a:t>PC</a:t>
            </a:r>
            <a:r>
              <a:rPr lang="zh-CN" altLang="en-US" sz="2800" dirty="0" smtClean="0"/>
              <a:t>指示的地址从存储器中取指令并装入指令寄存器（</a:t>
            </a:r>
            <a:r>
              <a:rPr lang="en-US" altLang="zh-CN" sz="2800" dirty="0" smtClean="0"/>
              <a:t>IR），</a:t>
            </a:r>
            <a:r>
              <a:rPr lang="zh-CN" altLang="en-US" sz="2800" dirty="0" smtClean="0"/>
              <a:t>同时</a:t>
            </a:r>
            <a:r>
              <a:rPr lang="en-US" altLang="zh-CN" sz="2800" dirty="0" smtClean="0"/>
              <a:t>PC</a:t>
            </a:r>
            <a:r>
              <a:rPr lang="zh-CN" altLang="en-US" sz="2800" dirty="0" smtClean="0"/>
              <a:t>加4以获取下一条指令的地址。</a:t>
            </a:r>
            <a:r>
              <a:rPr lang="en-US" altLang="zh-CN" sz="2800" dirty="0" smtClean="0"/>
              <a:t>IR</a:t>
            </a:r>
            <a:r>
              <a:rPr lang="zh-CN" altLang="en-US" sz="2800" dirty="0" smtClean="0"/>
              <a:t>中保存下一个时钟周期需要的指令，</a:t>
            </a:r>
            <a:r>
              <a:rPr lang="en-US" altLang="zh-CN" sz="2800" dirty="0" smtClean="0"/>
              <a:t>NPC</a:t>
            </a:r>
            <a:r>
              <a:rPr lang="zh-CN" altLang="en-US" sz="2800" dirty="0" smtClean="0"/>
              <a:t>中保存下一条指令的</a:t>
            </a:r>
            <a:r>
              <a:rPr lang="en-US" altLang="zh-CN" sz="2800" dirty="0" smtClean="0"/>
              <a:t>PC。</a:t>
            </a:r>
            <a:endParaRPr lang="en-US" altLang="zh-CN" sz="2800" dirty="0" smtClean="0"/>
          </a:p>
        </p:txBody>
      </p:sp>
      <p:sp>
        <p:nvSpPr>
          <p:cNvPr id="83973"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2</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94" name="Object 2"/>
          <p:cNvGraphicFramePr>
            <a:graphicFrameLocks noGrp="1" noChangeAspect="1"/>
          </p:cNvGraphicFramePr>
          <p:nvPr>
            <p:ph idx="1"/>
          </p:nvPr>
        </p:nvGraphicFramePr>
        <p:xfrm>
          <a:off x="755650" y="1958975"/>
          <a:ext cx="8064500" cy="4552950"/>
        </p:xfrm>
        <a:graphic>
          <a:graphicData uri="http://schemas.openxmlformats.org/presentationml/2006/ole">
            <mc:AlternateContent xmlns:mc="http://schemas.openxmlformats.org/markup-compatibility/2006">
              <mc:Choice xmlns:v="urn:schemas-microsoft-com:vml" Requires="v">
                <p:oleObj spid="_x0000_s85087" name="Picture2" r:id="rId1" imgW="5368925" imgH="3030220" progId="Word.Picture.8">
                  <p:embed/>
                </p:oleObj>
              </mc:Choice>
              <mc:Fallback>
                <p:oleObj name="Picture2" r:id="rId1" imgW="5368925" imgH="3030220" progId="Word.Picture.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650" y="1958975"/>
                        <a:ext cx="8064500" cy="455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92259" name="Rectangle 3"/>
          <p:cNvSpPr>
            <a:spLocks noGrp="1" noChangeArrowheads="1"/>
          </p:cNvSpPr>
          <p:nvPr>
            <p:ph type="title"/>
          </p:nvPr>
        </p:nvSpPr>
        <p:spPr/>
        <p:txBody>
          <a:bodyPr/>
          <a:lstStyle/>
          <a:p>
            <a:pPr eaLnBrk="1" hangingPunct="1">
              <a:defRPr/>
            </a:pPr>
            <a:r>
              <a:rPr lang="zh-CN" altLang="en-US" smtClean="0"/>
              <a:t>图示</a:t>
            </a:r>
            <a:r>
              <a:rPr lang="en-US" altLang="zh-CN" smtClean="0"/>
              <a:t>IF</a:t>
            </a:r>
            <a:endParaRPr lang="en-US" altLang="zh-CN" smtClean="0"/>
          </a:p>
        </p:txBody>
      </p:sp>
      <p:sp>
        <p:nvSpPr>
          <p:cNvPr id="84996"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3"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84997" name="Rectangle 5"/>
          <p:cNvSpPr>
            <a:spLocks noChangeArrowheads="1"/>
          </p:cNvSpPr>
          <p:nvPr/>
        </p:nvSpPr>
        <p:spPr bwMode="auto">
          <a:xfrm>
            <a:off x="757238" y="1916113"/>
            <a:ext cx="2159000" cy="4392612"/>
          </a:xfrm>
          <a:prstGeom prst="rect">
            <a:avLst/>
          </a:prstGeom>
          <a:solidFill>
            <a:srgbClr val="FFFF00">
              <a:alpha val="32156"/>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84998"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3</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282" name="Rectangle 2"/>
          <p:cNvSpPr>
            <a:spLocks noGrp="1" noChangeArrowheads="1"/>
          </p:cNvSpPr>
          <p:nvPr>
            <p:ph type="title"/>
          </p:nvPr>
        </p:nvSpPr>
        <p:spPr/>
        <p:txBody>
          <a:bodyPr/>
          <a:lstStyle/>
          <a:p>
            <a:pPr eaLnBrk="1" hangingPunct="1">
              <a:defRPr/>
            </a:pPr>
            <a:r>
              <a:rPr lang="zh-CN" altLang="en-US" sz="5400" smtClean="0"/>
              <a:t>指令译码/读寄存器周期（</a:t>
            </a:r>
            <a:r>
              <a:rPr lang="en-US" altLang="zh-CN" sz="5400" smtClean="0"/>
              <a:t>ID）</a:t>
            </a:r>
            <a:endParaRPr lang="zh-CN" altLang="en-US" sz="5400" smtClean="0"/>
          </a:p>
        </p:txBody>
      </p:sp>
      <p:sp>
        <p:nvSpPr>
          <p:cNvPr id="8601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993284" name="Rectangle 4"/>
          <p:cNvSpPr>
            <a:spLocks noGrp="1" noChangeArrowheads="1"/>
          </p:cNvSpPr>
          <p:nvPr>
            <p:ph type="body" idx="1"/>
          </p:nvPr>
        </p:nvSpPr>
        <p:spPr/>
        <p:txBody>
          <a:bodyPr/>
          <a:lstStyle/>
          <a:p>
            <a:pPr marL="0" indent="0" defTabSz="879475" eaLnBrk="1" hangingPunct="1">
              <a:lnSpc>
                <a:spcPct val="115000"/>
              </a:lnSpc>
              <a:buFont typeface="Wingdings" panose="05000000000000000000" pitchFamily="2" charset="2"/>
              <a:buNone/>
              <a:tabLst>
                <a:tab pos="990600" algn="l"/>
              </a:tabLst>
              <a:defRPr/>
            </a:pPr>
            <a:r>
              <a:rPr lang="en-US" altLang="zh-CN" sz="2400" smtClean="0"/>
              <a:t>	</a:t>
            </a:r>
            <a:r>
              <a:rPr lang="en-US" altLang="zh-CN" sz="2400" smtClean="0">
                <a:solidFill>
                  <a:srgbClr val="0000CC"/>
                </a:solidFill>
                <a:effectLst>
                  <a:outerShdw blurRad="38100" dist="38100" dir="2700000" algn="tl">
                    <a:srgbClr val="C0C0C0"/>
                  </a:outerShdw>
                </a:effectLst>
              </a:rPr>
              <a:t>A ← Regs[rs]</a:t>
            </a:r>
            <a:endParaRPr lang="en-US" altLang="zh-CN" sz="2400" smtClean="0">
              <a:solidFill>
                <a:srgbClr val="0000CC"/>
              </a:solidFill>
              <a:effectLst>
                <a:outerShdw blurRad="38100" dist="38100" dir="2700000" algn="tl">
                  <a:srgbClr val="C0C0C0"/>
                </a:outerShdw>
              </a:effectLst>
            </a:endParaRPr>
          </a:p>
          <a:p>
            <a:pPr marL="0" indent="0" defTabSz="879475" eaLnBrk="1" hangingPunct="1">
              <a:lnSpc>
                <a:spcPct val="115000"/>
              </a:lnSpc>
              <a:buFont typeface="Wingdings" panose="05000000000000000000" pitchFamily="2" charset="2"/>
              <a:buNone/>
              <a:tabLst>
                <a:tab pos="990600" algn="l"/>
              </a:tabLst>
              <a:defRPr/>
            </a:pPr>
            <a:r>
              <a:rPr lang="en-US" altLang="zh-CN" sz="2400" smtClean="0">
                <a:solidFill>
                  <a:srgbClr val="0000CC"/>
                </a:solidFill>
                <a:effectLst>
                  <a:outerShdw blurRad="38100" dist="38100" dir="2700000" algn="tl">
                    <a:srgbClr val="C0C0C0"/>
                  </a:outerShdw>
                </a:effectLst>
              </a:rPr>
              <a:t>	B ← Regs[rt]</a:t>
            </a:r>
            <a:endParaRPr lang="en-US" altLang="zh-CN" sz="2400" smtClean="0">
              <a:solidFill>
                <a:srgbClr val="0000CC"/>
              </a:solidFill>
              <a:effectLst>
                <a:outerShdw blurRad="38100" dist="38100" dir="2700000" algn="tl">
                  <a:srgbClr val="C0C0C0"/>
                </a:outerShdw>
              </a:effectLst>
            </a:endParaRPr>
          </a:p>
          <a:p>
            <a:pPr marL="0" indent="0" defTabSz="879475" eaLnBrk="1" hangingPunct="1">
              <a:lnSpc>
                <a:spcPct val="115000"/>
              </a:lnSpc>
              <a:buFont typeface="Wingdings" panose="05000000000000000000" pitchFamily="2" charset="2"/>
              <a:buNone/>
              <a:tabLst>
                <a:tab pos="990600" algn="l"/>
              </a:tabLst>
              <a:defRPr/>
            </a:pPr>
            <a:r>
              <a:rPr lang="en-US" altLang="zh-CN" sz="2400" smtClean="0">
                <a:solidFill>
                  <a:srgbClr val="0000CC"/>
                </a:solidFill>
                <a:effectLst>
                  <a:outerShdw blurRad="38100" dist="38100" dir="2700000" algn="tl">
                    <a:srgbClr val="C0C0C0"/>
                  </a:outerShdw>
                </a:effectLst>
              </a:rPr>
              <a:t>	Imm ← IR</a:t>
            </a:r>
            <a:r>
              <a:rPr lang="zh-CN" altLang="en-US" sz="2400" smtClean="0">
                <a:solidFill>
                  <a:srgbClr val="0000CC"/>
                </a:solidFill>
                <a:effectLst>
                  <a:outerShdw blurRad="38100" dist="38100" dir="2700000" algn="tl">
                    <a:srgbClr val="C0C0C0"/>
                  </a:outerShdw>
                </a:effectLst>
              </a:rPr>
              <a:t>的立即数字段进行符号扩展</a:t>
            </a:r>
            <a:endParaRPr lang="zh-CN" altLang="en-US" sz="2400" smtClean="0">
              <a:solidFill>
                <a:srgbClr val="0000CC"/>
              </a:solidFill>
              <a:effectLst>
                <a:outerShdw blurRad="38100" dist="38100" dir="2700000" algn="tl">
                  <a:srgbClr val="C0C0C0"/>
                </a:outerShdw>
              </a:effectLst>
            </a:endParaRPr>
          </a:p>
          <a:p>
            <a:pPr marL="0" indent="0" defTabSz="879475" eaLnBrk="1" hangingPunct="1">
              <a:lnSpc>
                <a:spcPct val="115000"/>
              </a:lnSpc>
              <a:buFont typeface="Wingdings" panose="05000000000000000000" pitchFamily="2" charset="2"/>
              <a:buNone/>
              <a:tabLst>
                <a:tab pos="990600" algn="l"/>
              </a:tabLst>
              <a:defRPr/>
            </a:pPr>
            <a:r>
              <a:rPr lang="zh-CN" altLang="en-US" sz="2400" smtClean="0">
                <a:solidFill>
                  <a:srgbClr val="0000CC"/>
                </a:solidFill>
                <a:effectLst>
                  <a:outerShdw blurRad="38100" dist="38100" dir="2700000" algn="tl">
                    <a:srgbClr val="C0C0C0"/>
                  </a:outerShdw>
                </a:effectLst>
              </a:rPr>
              <a:t>	</a:t>
            </a:r>
            <a:r>
              <a:rPr lang="en-US" altLang="zh-CN" sz="2400" smtClean="0">
                <a:effectLst>
                  <a:outerShdw blurRad="38100" dist="38100" dir="2700000" algn="tl">
                    <a:srgbClr val="C0C0C0"/>
                  </a:outerShdw>
                </a:effectLst>
              </a:rPr>
              <a:t>ALUOutput ← NPC+(Imm&lt;&lt;2)</a:t>
            </a:r>
            <a:endParaRPr lang="en-US" altLang="zh-CN" sz="2400" smtClean="0">
              <a:effectLst>
                <a:outerShdw blurRad="38100" dist="38100" dir="2700000" algn="tl">
                  <a:srgbClr val="C0C0C0"/>
                </a:outerShdw>
              </a:effectLst>
            </a:endParaRPr>
          </a:p>
          <a:p>
            <a:pPr marL="0" indent="0" defTabSz="879475" eaLnBrk="1" hangingPunct="1">
              <a:lnSpc>
                <a:spcPct val="115000"/>
              </a:lnSpc>
              <a:buFont typeface="Wingdings" panose="05000000000000000000" pitchFamily="2" charset="2"/>
              <a:buNone/>
              <a:tabLst>
                <a:tab pos="990600" algn="l"/>
              </a:tabLst>
              <a:defRPr/>
            </a:pPr>
            <a:r>
              <a:rPr lang="en-US" altLang="zh-CN" sz="2400" smtClean="0">
                <a:effectLst>
                  <a:outerShdw blurRad="38100" dist="38100" dir="2700000" algn="tl">
                    <a:srgbClr val="C0C0C0"/>
                  </a:outerShdw>
                </a:effectLst>
              </a:rPr>
              <a:t>	Cond ← (A==0)</a:t>
            </a:r>
            <a:endParaRPr lang="en-US" altLang="zh-CN" sz="2400" smtClean="0">
              <a:effectLst>
                <a:outerShdw blurRad="38100" dist="38100" dir="2700000" algn="tl">
                  <a:srgbClr val="C0C0C0"/>
                </a:outerShdw>
              </a:effectLst>
            </a:endParaRPr>
          </a:p>
          <a:p>
            <a:pPr marL="0" indent="0" defTabSz="879475" eaLnBrk="1" hangingPunct="1">
              <a:lnSpc>
                <a:spcPct val="115000"/>
              </a:lnSpc>
              <a:buFont typeface="Wingdings" panose="05000000000000000000" pitchFamily="2" charset="2"/>
              <a:buNone/>
              <a:tabLst>
                <a:tab pos="990600" algn="l"/>
              </a:tabLst>
              <a:defRPr/>
            </a:pPr>
            <a:r>
              <a:rPr lang="en-US" altLang="zh-CN" sz="2400" smtClean="0">
                <a:effectLst>
                  <a:outerShdw blurRad="38100" dist="38100" dir="2700000" algn="tl">
                    <a:srgbClr val="C0C0C0"/>
                  </a:outerShdw>
                </a:effectLst>
              </a:rPr>
              <a:t>	if (cond) PC ← ALUOutput</a:t>
            </a:r>
            <a:endParaRPr lang="en-US" altLang="zh-CN" sz="2400" smtClean="0">
              <a:effectLst>
                <a:outerShdw blurRad="38100" dist="38100" dir="2700000" algn="tl">
                  <a:srgbClr val="C0C0C0"/>
                </a:outerShdw>
              </a:effectLst>
            </a:endParaRPr>
          </a:p>
          <a:p>
            <a:pPr marL="0" indent="0" defTabSz="879475" eaLnBrk="1" hangingPunct="1">
              <a:lnSpc>
                <a:spcPct val="115000"/>
              </a:lnSpc>
              <a:buFont typeface="Wingdings" panose="05000000000000000000" pitchFamily="2" charset="2"/>
              <a:buNone/>
              <a:tabLst>
                <a:tab pos="990600" algn="l"/>
              </a:tabLst>
              <a:defRPr/>
            </a:pPr>
            <a:r>
              <a:rPr lang="zh-CN" altLang="en-US" sz="2400" smtClean="0">
                <a:solidFill>
                  <a:srgbClr val="FF0000"/>
                </a:solidFill>
                <a:effectLst>
                  <a:outerShdw blurRad="38100" dist="38100" dir="2700000" algn="tl">
                    <a:srgbClr val="C0C0C0"/>
                  </a:outerShdw>
                </a:effectLst>
              </a:rPr>
              <a:t>解释：</a:t>
            </a:r>
            <a:endParaRPr lang="zh-CN" altLang="en-US" sz="2400" smtClean="0">
              <a:solidFill>
                <a:srgbClr val="FF0000"/>
              </a:solidFill>
              <a:effectLst>
                <a:outerShdw blurRad="38100" dist="38100" dir="2700000" algn="tl">
                  <a:srgbClr val="C0C0C0"/>
                </a:outerShdw>
              </a:effectLst>
            </a:endParaRPr>
          </a:p>
          <a:p>
            <a:pPr marL="0" indent="0" defTabSz="879475" eaLnBrk="1" hangingPunct="1">
              <a:lnSpc>
                <a:spcPct val="115000"/>
              </a:lnSpc>
              <a:buFont typeface="Wingdings" panose="05000000000000000000" pitchFamily="2" charset="2"/>
              <a:buNone/>
              <a:tabLst>
                <a:tab pos="990600" algn="l"/>
              </a:tabLst>
              <a:defRPr/>
            </a:pPr>
            <a:r>
              <a:rPr lang="zh-CN" altLang="en-US" sz="2400" smtClean="0"/>
              <a:t>        </a:t>
            </a:r>
            <a:r>
              <a:rPr lang="zh-CN" altLang="en-US" sz="2400" smtClean="0">
                <a:solidFill>
                  <a:srgbClr val="0000CC"/>
                </a:solidFill>
                <a:effectLst>
                  <a:outerShdw blurRad="38100" dist="38100" dir="2700000" algn="tl">
                    <a:srgbClr val="C0C0C0"/>
                  </a:outerShdw>
                </a:effectLst>
              </a:rPr>
              <a:t>分析指令并访问寄存器堆以读寄存器</a:t>
            </a:r>
            <a:r>
              <a:rPr lang="zh-CN" altLang="en-US" sz="2400" smtClean="0"/>
              <a:t>，并结束分支指令（为简单只设置一条：</a:t>
            </a:r>
            <a:r>
              <a:rPr lang="en-US" altLang="zh-CN" sz="2400" smtClean="0"/>
              <a:t>BEQZ）</a:t>
            </a:r>
            <a:r>
              <a:rPr lang="zh-CN" altLang="en-US" sz="2400" smtClean="0"/>
              <a:t>的操作。</a:t>
            </a:r>
            <a:endParaRPr lang="zh-CN" altLang="en-US" sz="2400" smtClean="0"/>
          </a:p>
        </p:txBody>
      </p:sp>
      <p:sp>
        <p:nvSpPr>
          <p:cNvPr id="86021"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4</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7042" name="Object 2"/>
          <p:cNvGraphicFramePr>
            <a:graphicFrameLocks noGrp="1" noChangeAspect="1"/>
          </p:cNvGraphicFramePr>
          <p:nvPr>
            <p:ph idx="1"/>
          </p:nvPr>
        </p:nvGraphicFramePr>
        <p:xfrm>
          <a:off x="755650" y="1958975"/>
          <a:ext cx="8064500" cy="4552950"/>
        </p:xfrm>
        <a:graphic>
          <a:graphicData uri="http://schemas.openxmlformats.org/presentationml/2006/ole">
            <mc:AlternateContent xmlns:mc="http://schemas.openxmlformats.org/markup-compatibility/2006">
              <mc:Choice xmlns:v="urn:schemas-microsoft-com:vml" Requires="v">
                <p:oleObj spid="_x0000_s87135" name="Picture2" r:id="rId1" imgW="5368925" imgH="3030220" progId="Word.Picture.8">
                  <p:embed/>
                </p:oleObj>
              </mc:Choice>
              <mc:Fallback>
                <p:oleObj name="Picture2" r:id="rId1" imgW="5368925" imgH="3030220" progId="Word.Picture.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650" y="1958975"/>
                        <a:ext cx="8064500" cy="455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94307" name="Rectangle 3"/>
          <p:cNvSpPr>
            <a:spLocks noGrp="1" noChangeArrowheads="1"/>
          </p:cNvSpPr>
          <p:nvPr>
            <p:ph type="title"/>
          </p:nvPr>
        </p:nvSpPr>
        <p:spPr/>
        <p:txBody>
          <a:bodyPr/>
          <a:lstStyle/>
          <a:p>
            <a:pPr eaLnBrk="1" hangingPunct="1">
              <a:defRPr/>
            </a:pPr>
            <a:r>
              <a:rPr lang="zh-CN" altLang="en-US" smtClean="0"/>
              <a:t>图示</a:t>
            </a:r>
            <a:r>
              <a:rPr lang="en-US" altLang="zh-CN" smtClean="0"/>
              <a:t>ID</a:t>
            </a:r>
            <a:endParaRPr lang="en-US" altLang="zh-CN" smtClean="0"/>
          </a:p>
        </p:txBody>
      </p:sp>
      <p:sp>
        <p:nvSpPr>
          <p:cNvPr id="8704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3"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87045" name="Rectangle 5"/>
          <p:cNvSpPr>
            <a:spLocks noChangeArrowheads="1"/>
          </p:cNvSpPr>
          <p:nvPr/>
        </p:nvSpPr>
        <p:spPr bwMode="auto">
          <a:xfrm>
            <a:off x="2917825" y="1916113"/>
            <a:ext cx="2159000" cy="4392612"/>
          </a:xfrm>
          <a:prstGeom prst="rect">
            <a:avLst/>
          </a:prstGeom>
          <a:solidFill>
            <a:srgbClr val="FFFF00">
              <a:alpha val="32156"/>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87046"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5</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5330" name="Rectangle 2"/>
          <p:cNvSpPr>
            <a:spLocks noGrp="1" noChangeArrowheads="1"/>
          </p:cNvSpPr>
          <p:nvPr>
            <p:ph type="title"/>
          </p:nvPr>
        </p:nvSpPr>
        <p:spPr/>
        <p:txBody>
          <a:bodyPr/>
          <a:lstStyle/>
          <a:p>
            <a:pPr eaLnBrk="1" hangingPunct="1">
              <a:defRPr/>
            </a:pPr>
            <a:r>
              <a:rPr lang="zh-CN" altLang="en-US" sz="5400" smtClean="0"/>
              <a:t>执行/有效地址周期（</a:t>
            </a:r>
            <a:r>
              <a:rPr lang="en-US" altLang="zh-CN" sz="5400" smtClean="0"/>
              <a:t>EX）</a:t>
            </a:r>
            <a:endParaRPr lang="zh-CN" altLang="en-US" sz="5400" smtClean="0"/>
          </a:p>
        </p:txBody>
      </p:sp>
      <p:sp>
        <p:nvSpPr>
          <p:cNvPr id="995331" name="Rectangle 3"/>
          <p:cNvSpPr>
            <a:spLocks noGrp="1" noChangeArrowheads="1"/>
          </p:cNvSpPr>
          <p:nvPr>
            <p:ph type="body" sz="half" idx="1"/>
          </p:nvPr>
        </p:nvSpPr>
        <p:spPr>
          <a:xfrm>
            <a:off x="809625" y="2133600"/>
            <a:ext cx="4067175" cy="4267200"/>
          </a:xfrm>
        </p:spPr>
        <p:txBody>
          <a:bodyPr/>
          <a:lstStyle/>
          <a:p>
            <a:pPr eaLnBrk="1" hangingPunct="1">
              <a:lnSpc>
                <a:spcPct val="130000"/>
              </a:lnSpc>
              <a:buClr>
                <a:srgbClr val="FF0000"/>
              </a:buClr>
              <a:defRPr/>
            </a:pPr>
            <a:r>
              <a:rPr lang="zh-CN" altLang="en-US" smtClean="0">
                <a:solidFill>
                  <a:srgbClr val="FF0000"/>
                </a:solidFill>
                <a:effectLst>
                  <a:outerShdw blurRad="38100" dist="38100" dir="2700000" algn="tl">
                    <a:srgbClr val="C0C0C0"/>
                  </a:outerShdw>
                </a:effectLst>
              </a:rPr>
              <a:t>访问存储器</a:t>
            </a:r>
            <a:endParaRPr lang="zh-CN" altLang="en-US" smtClean="0">
              <a:solidFill>
                <a:srgbClr val="FF0000"/>
              </a:solidFill>
              <a:effectLst>
                <a:outerShdw blurRad="38100" dist="38100" dir="2700000" algn="tl">
                  <a:srgbClr val="C0C0C0"/>
                </a:outerShdw>
              </a:effectLst>
            </a:endParaRPr>
          </a:p>
          <a:p>
            <a:pPr eaLnBrk="1" hangingPunct="1">
              <a:lnSpc>
                <a:spcPct val="130000"/>
              </a:lnSpc>
              <a:buFont typeface="Wingdings" panose="05000000000000000000" pitchFamily="2" charset="2"/>
              <a:buNone/>
              <a:defRPr/>
            </a:pPr>
            <a:r>
              <a:rPr lang="en-US" altLang="zh-CN" smtClean="0">
                <a:solidFill>
                  <a:srgbClr val="0000CC"/>
                </a:solidFill>
                <a:effectLst>
                  <a:outerShdw blurRad="38100" dist="38100" dir="2700000" algn="tl">
                    <a:srgbClr val="C0C0C0"/>
                  </a:outerShdw>
                </a:effectLst>
              </a:rPr>
              <a:t>ALUOutput←A+Imm</a:t>
            </a:r>
            <a:endParaRPr lang="en-US" altLang="zh-CN" smtClean="0">
              <a:solidFill>
                <a:srgbClr val="0000CC"/>
              </a:solidFill>
              <a:effectLst>
                <a:outerShdw blurRad="38100" dist="38100" dir="2700000" algn="tl">
                  <a:srgbClr val="C0C0C0"/>
                </a:outerShdw>
              </a:effectLst>
            </a:endParaRPr>
          </a:p>
          <a:p>
            <a:pPr eaLnBrk="1" hangingPunct="1">
              <a:lnSpc>
                <a:spcPct val="130000"/>
              </a:lnSpc>
              <a:buClr>
                <a:srgbClr val="FF0000"/>
              </a:buClr>
              <a:defRPr/>
            </a:pPr>
            <a:r>
              <a:rPr lang="zh-CN" altLang="en-US" smtClean="0">
                <a:solidFill>
                  <a:srgbClr val="FF0000"/>
                </a:solidFill>
                <a:effectLst>
                  <a:outerShdw blurRad="38100" dist="38100" dir="2700000" algn="tl">
                    <a:srgbClr val="C0C0C0"/>
                  </a:outerShdw>
                </a:effectLst>
              </a:rPr>
              <a:t>寄存器-寄存器</a:t>
            </a:r>
            <a:r>
              <a:rPr lang="en-US" altLang="zh-CN" smtClean="0">
                <a:solidFill>
                  <a:srgbClr val="FF0000"/>
                </a:solidFill>
                <a:effectLst>
                  <a:outerShdw blurRad="38100" dist="38100" dir="2700000" algn="tl">
                    <a:srgbClr val="C0C0C0"/>
                  </a:outerShdw>
                </a:effectLst>
              </a:rPr>
              <a:t>ALU</a:t>
            </a:r>
            <a:endParaRPr lang="en-US" altLang="zh-CN" smtClean="0">
              <a:solidFill>
                <a:srgbClr val="FF0000"/>
              </a:solidFill>
              <a:effectLst>
                <a:outerShdw blurRad="38100" dist="38100" dir="2700000" algn="tl">
                  <a:srgbClr val="C0C0C0"/>
                </a:outerShdw>
              </a:effectLst>
            </a:endParaRPr>
          </a:p>
          <a:p>
            <a:pPr eaLnBrk="1" hangingPunct="1">
              <a:lnSpc>
                <a:spcPct val="130000"/>
              </a:lnSpc>
              <a:buFont typeface="Wingdings" panose="05000000000000000000" pitchFamily="2" charset="2"/>
              <a:buNone/>
              <a:defRPr/>
            </a:pPr>
            <a:r>
              <a:rPr lang="en-US" altLang="zh-CN" smtClean="0">
                <a:solidFill>
                  <a:srgbClr val="0000CC"/>
                </a:solidFill>
                <a:effectLst>
                  <a:outerShdw blurRad="38100" dist="38100" dir="2700000" algn="tl">
                    <a:srgbClr val="C0C0C0"/>
                  </a:outerShdw>
                </a:effectLst>
              </a:rPr>
              <a:t>ALUOutput←A func B</a:t>
            </a:r>
            <a:endParaRPr lang="en-US" altLang="zh-CN" smtClean="0">
              <a:solidFill>
                <a:srgbClr val="0000CC"/>
              </a:solidFill>
              <a:effectLst>
                <a:outerShdw blurRad="38100" dist="38100" dir="2700000" algn="tl">
                  <a:srgbClr val="C0C0C0"/>
                </a:outerShdw>
              </a:effectLst>
            </a:endParaRPr>
          </a:p>
          <a:p>
            <a:pPr eaLnBrk="1" hangingPunct="1">
              <a:lnSpc>
                <a:spcPct val="130000"/>
              </a:lnSpc>
              <a:buClr>
                <a:srgbClr val="FF0000"/>
              </a:buClr>
              <a:defRPr/>
            </a:pPr>
            <a:r>
              <a:rPr lang="zh-CN" altLang="en-US" smtClean="0">
                <a:solidFill>
                  <a:srgbClr val="FF0000"/>
                </a:solidFill>
                <a:effectLst>
                  <a:outerShdw blurRad="38100" dist="38100" dir="2700000" algn="tl">
                    <a:srgbClr val="C0C0C0"/>
                  </a:outerShdw>
                </a:effectLst>
              </a:rPr>
              <a:t>寄存器-立即数</a:t>
            </a:r>
            <a:r>
              <a:rPr lang="en-US" altLang="zh-CN" smtClean="0">
                <a:solidFill>
                  <a:srgbClr val="FF0000"/>
                </a:solidFill>
                <a:effectLst>
                  <a:outerShdw blurRad="38100" dist="38100" dir="2700000" algn="tl">
                    <a:srgbClr val="C0C0C0"/>
                  </a:outerShdw>
                </a:effectLst>
              </a:rPr>
              <a:t>ALU</a:t>
            </a:r>
            <a:endParaRPr lang="en-US" altLang="zh-CN" smtClean="0">
              <a:solidFill>
                <a:srgbClr val="FF0000"/>
              </a:solidFill>
              <a:effectLst>
                <a:outerShdw blurRad="38100" dist="38100" dir="2700000" algn="tl">
                  <a:srgbClr val="C0C0C0"/>
                </a:outerShdw>
              </a:effectLst>
            </a:endParaRPr>
          </a:p>
          <a:p>
            <a:pPr eaLnBrk="1" hangingPunct="1">
              <a:lnSpc>
                <a:spcPct val="130000"/>
              </a:lnSpc>
              <a:buFont typeface="Wingdings" panose="05000000000000000000" pitchFamily="2" charset="2"/>
              <a:buNone/>
              <a:defRPr/>
            </a:pPr>
            <a:r>
              <a:rPr lang="en-US" altLang="zh-CN" smtClean="0">
                <a:solidFill>
                  <a:srgbClr val="0000CC"/>
                </a:solidFill>
                <a:effectLst>
                  <a:outerShdw blurRad="38100" dist="38100" dir="2700000" algn="tl">
                    <a:srgbClr val="C0C0C0"/>
                  </a:outerShdw>
                </a:effectLst>
              </a:rPr>
              <a:t>ALUOutput←A op Imm</a:t>
            </a:r>
            <a:endParaRPr lang="en-US" altLang="zh-CN" smtClean="0"/>
          </a:p>
        </p:txBody>
      </p:sp>
      <p:sp>
        <p:nvSpPr>
          <p:cNvPr id="995332" name="Rectangle 4"/>
          <p:cNvSpPr>
            <a:spLocks noGrp="1" noChangeArrowheads="1"/>
          </p:cNvSpPr>
          <p:nvPr>
            <p:ph type="body" sz="half" idx="2"/>
          </p:nvPr>
        </p:nvSpPr>
        <p:spPr>
          <a:xfrm>
            <a:off x="5148263" y="2276475"/>
            <a:ext cx="3586162" cy="3527425"/>
          </a:xfrm>
          <a:solidFill>
            <a:srgbClr val="FFFF99"/>
          </a:solidFill>
          <a:ln w="76200" cmpd="tri">
            <a:solidFill>
              <a:schemeClr val="tx1"/>
            </a:solidFill>
            <a:miter lim="800000"/>
          </a:ln>
        </p:spPr>
        <p:txBody>
          <a:bodyPr/>
          <a:lstStyle/>
          <a:p>
            <a:pPr marL="0" indent="0" eaLnBrk="1" hangingPunct="1">
              <a:lnSpc>
                <a:spcPct val="140000"/>
              </a:lnSpc>
              <a:buFont typeface="Wingdings" panose="05000000000000000000" pitchFamily="2" charset="2"/>
              <a:buNone/>
              <a:defRPr/>
            </a:pPr>
            <a:r>
              <a:rPr lang="zh-CN" altLang="en-US" smtClean="0">
                <a:solidFill>
                  <a:srgbClr val="FF0000"/>
                </a:solidFill>
                <a:effectLst>
                  <a:outerShdw blurRad="38100" dist="38100" dir="2700000" algn="tl">
                    <a:srgbClr val="000000"/>
                  </a:outerShdw>
                </a:effectLst>
              </a:rPr>
              <a:t>解释：</a:t>
            </a:r>
            <a:endParaRPr lang="zh-CN" altLang="en-US" smtClean="0">
              <a:solidFill>
                <a:srgbClr val="FF0000"/>
              </a:solidFill>
              <a:effectLst>
                <a:outerShdw blurRad="38100" dist="38100" dir="2700000" algn="tl">
                  <a:srgbClr val="000000"/>
                </a:outerShdw>
              </a:effectLst>
            </a:endParaRPr>
          </a:p>
          <a:p>
            <a:pPr marL="0" indent="0" eaLnBrk="1" hangingPunct="1">
              <a:lnSpc>
                <a:spcPct val="140000"/>
              </a:lnSpc>
              <a:buFont typeface="Wingdings" panose="05000000000000000000" pitchFamily="2" charset="2"/>
              <a:buNone/>
              <a:defRPr/>
            </a:pPr>
            <a:r>
              <a:rPr lang="en-US" altLang="zh-CN" smtClean="0"/>
              <a:t>        Load/Store</a:t>
            </a:r>
            <a:r>
              <a:rPr lang="zh-CN" altLang="en-US" smtClean="0"/>
              <a:t>指令在本周期形成有效地址。</a:t>
            </a:r>
            <a:r>
              <a:rPr lang="en-US" altLang="zh-CN" smtClean="0"/>
              <a:t>ALU</a:t>
            </a:r>
            <a:r>
              <a:rPr lang="zh-CN" altLang="en-US" smtClean="0"/>
              <a:t>指令完成相应的</a:t>
            </a:r>
            <a:r>
              <a:rPr lang="en-US" altLang="zh-CN" smtClean="0"/>
              <a:t>ALU</a:t>
            </a:r>
            <a:r>
              <a:rPr lang="zh-CN" altLang="en-US" smtClean="0"/>
              <a:t>操作。</a:t>
            </a:r>
            <a:endParaRPr lang="zh-CN" altLang="en-US" smtClean="0"/>
          </a:p>
        </p:txBody>
      </p:sp>
      <p:sp>
        <p:nvSpPr>
          <p:cNvPr id="88069"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88070"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6</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9090" name="Object 2"/>
          <p:cNvGraphicFramePr>
            <a:graphicFrameLocks noGrp="1" noChangeAspect="1"/>
          </p:cNvGraphicFramePr>
          <p:nvPr>
            <p:ph idx="1"/>
          </p:nvPr>
        </p:nvGraphicFramePr>
        <p:xfrm>
          <a:off x="755650" y="1958975"/>
          <a:ext cx="8064500" cy="4552950"/>
        </p:xfrm>
        <a:graphic>
          <a:graphicData uri="http://schemas.openxmlformats.org/presentationml/2006/ole">
            <mc:AlternateContent xmlns:mc="http://schemas.openxmlformats.org/markup-compatibility/2006">
              <mc:Choice xmlns:v="urn:schemas-microsoft-com:vml" Requires="v">
                <p:oleObj spid="_x0000_s89183" name="Picture2" r:id="rId1" imgW="5368925" imgH="3030220" progId="Word.Picture.8">
                  <p:embed/>
                </p:oleObj>
              </mc:Choice>
              <mc:Fallback>
                <p:oleObj name="Picture2" r:id="rId1" imgW="5368925" imgH="3030220" progId="Word.Picture.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650" y="1958975"/>
                        <a:ext cx="8064500" cy="455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96355" name="Rectangle 3"/>
          <p:cNvSpPr>
            <a:spLocks noGrp="1" noChangeArrowheads="1"/>
          </p:cNvSpPr>
          <p:nvPr>
            <p:ph type="title"/>
          </p:nvPr>
        </p:nvSpPr>
        <p:spPr/>
        <p:txBody>
          <a:bodyPr/>
          <a:lstStyle/>
          <a:p>
            <a:pPr eaLnBrk="1" hangingPunct="1">
              <a:defRPr/>
            </a:pPr>
            <a:r>
              <a:rPr lang="zh-CN" altLang="en-US" smtClean="0"/>
              <a:t>图示</a:t>
            </a:r>
            <a:r>
              <a:rPr lang="en-US" altLang="zh-CN" smtClean="0"/>
              <a:t>EX</a:t>
            </a:r>
            <a:endParaRPr lang="en-US" altLang="zh-CN" smtClean="0"/>
          </a:p>
        </p:txBody>
      </p:sp>
      <p:sp>
        <p:nvSpPr>
          <p:cNvPr id="89092"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3"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89093" name="Rectangle 5"/>
          <p:cNvSpPr>
            <a:spLocks noChangeArrowheads="1"/>
          </p:cNvSpPr>
          <p:nvPr/>
        </p:nvSpPr>
        <p:spPr bwMode="auto">
          <a:xfrm>
            <a:off x="5003800" y="1916113"/>
            <a:ext cx="1655763" cy="4392612"/>
          </a:xfrm>
          <a:prstGeom prst="rect">
            <a:avLst/>
          </a:prstGeom>
          <a:solidFill>
            <a:srgbClr val="FFFF00">
              <a:alpha val="32156"/>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89094"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7</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7378" name="Rectangle 2"/>
          <p:cNvSpPr>
            <a:spLocks noGrp="1" noChangeArrowheads="1"/>
          </p:cNvSpPr>
          <p:nvPr>
            <p:ph type="title"/>
          </p:nvPr>
        </p:nvSpPr>
        <p:spPr/>
        <p:txBody>
          <a:bodyPr/>
          <a:lstStyle/>
          <a:p>
            <a:pPr eaLnBrk="1" hangingPunct="1">
              <a:defRPr/>
            </a:pPr>
            <a:r>
              <a:rPr lang="zh-CN" altLang="en-US" sz="5400" smtClean="0"/>
              <a:t>访问存储器周期（</a:t>
            </a:r>
            <a:r>
              <a:rPr lang="en-US" altLang="zh-CN" sz="5400" smtClean="0"/>
              <a:t>MEM）</a:t>
            </a:r>
            <a:endParaRPr lang="zh-CN" altLang="en-US" sz="5400" smtClean="0"/>
          </a:p>
        </p:txBody>
      </p:sp>
      <p:sp>
        <p:nvSpPr>
          <p:cNvPr id="9011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997380" name="Rectangle 4"/>
          <p:cNvSpPr>
            <a:spLocks noGrp="1" noChangeArrowheads="1"/>
          </p:cNvSpPr>
          <p:nvPr>
            <p:ph type="body" idx="1"/>
          </p:nvPr>
        </p:nvSpPr>
        <p:spPr>
          <a:xfrm>
            <a:off x="809625" y="2063750"/>
            <a:ext cx="7958138" cy="4337050"/>
          </a:xfrm>
        </p:spPr>
        <p:txBody>
          <a:bodyPr/>
          <a:lstStyle/>
          <a:p>
            <a:pPr marL="0" indent="0" defTabSz="879475" eaLnBrk="1" hangingPunct="1">
              <a:lnSpc>
                <a:spcPct val="120000"/>
              </a:lnSpc>
              <a:buFont typeface="Wingdings" panose="05000000000000000000" pitchFamily="2" charset="2"/>
              <a:buNone/>
              <a:tabLst>
                <a:tab pos="1530350" algn="l"/>
              </a:tabLst>
              <a:defRPr/>
            </a:pPr>
            <a:r>
              <a:rPr lang="en-US" altLang="zh-CN" smtClean="0"/>
              <a:t>	</a:t>
            </a:r>
            <a:r>
              <a:rPr lang="en-US" altLang="zh-CN" smtClean="0">
                <a:solidFill>
                  <a:srgbClr val="0000CC"/>
                </a:solidFill>
                <a:effectLst>
                  <a:outerShdw blurRad="38100" dist="38100" dir="2700000" algn="tl">
                    <a:srgbClr val="C0C0C0"/>
                  </a:outerShdw>
                </a:effectLst>
              </a:rPr>
              <a:t>LMD← Mem[ALUOutput]  </a:t>
            </a:r>
            <a:r>
              <a:rPr lang="en-US" altLang="zh-CN" smtClean="0">
                <a:solidFill>
                  <a:srgbClr val="009900"/>
                </a:solidFill>
                <a:effectLst>
                  <a:outerShdw blurRad="38100" dist="38100" dir="2700000" algn="tl">
                    <a:srgbClr val="C0C0C0"/>
                  </a:outerShdw>
                </a:effectLst>
              </a:rPr>
              <a:t>or</a:t>
            </a:r>
            <a:endParaRPr lang="en-US" altLang="zh-CN" smtClean="0">
              <a:solidFill>
                <a:srgbClr val="009900"/>
              </a:solidFill>
              <a:effectLst>
                <a:outerShdw blurRad="38100" dist="38100" dir="2700000" algn="tl">
                  <a:srgbClr val="C0C0C0"/>
                </a:outerShdw>
              </a:effectLst>
            </a:endParaRPr>
          </a:p>
          <a:p>
            <a:pPr marL="0" indent="0" defTabSz="879475" eaLnBrk="1" hangingPunct="1">
              <a:lnSpc>
                <a:spcPct val="120000"/>
              </a:lnSpc>
              <a:buFont typeface="Wingdings" panose="05000000000000000000" pitchFamily="2" charset="2"/>
              <a:buNone/>
              <a:tabLst>
                <a:tab pos="1530350" algn="l"/>
              </a:tabLst>
              <a:defRPr/>
            </a:pPr>
            <a:r>
              <a:rPr lang="en-US" altLang="zh-CN" smtClean="0">
                <a:solidFill>
                  <a:srgbClr val="0000CC"/>
                </a:solidFill>
                <a:effectLst>
                  <a:outerShdw blurRad="38100" dist="38100" dir="2700000" algn="tl">
                    <a:srgbClr val="C0C0C0"/>
                  </a:outerShdw>
                </a:effectLst>
              </a:rPr>
              <a:t>	Mem[ALUOutput] ← B</a:t>
            </a:r>
            <a:endParaRPr lang="en-US" altLang="zh-CN" smtClean="0">
              <a:solidFill>
                <a:srgbClr val="0000CC"/>
              </a:solidFill>
              <a:effectLst>
                <a:outerShdw blurRad="38100" dist="38100" dir="2700000" algn="tl">
                  <a:srgbClr val="C0C0C0"/>
                </a:outerShdw>
              </a:effectLst>
            </a:endParaRPr>
          </a:p>
          <a:p>
            <a:pPr marL="0" indent="0" defTabSz="879475" eaLnBrk="1" hangingPunct="1">
              <a:lnSpc>
                <a:spcPct val="120000"/>
              </a:lnSpc>
              <a:buFont typeface="Wingdings" panose="05000000000000000000" pitchFamily="2" charset="2"/>
              <a:buNone/>
              <a:tabLst>
                <a:tab pos="1530350" algn="l"/>
              </a:tabLst>
              <a:defRPr/>
            </a:pPr>
            <a:r>
              <a:rPr lang="zh-CN" altLang="en-US" smtClean="0">
                <a:solidFill>
                  <a:srgbClr val="FF0000"/>
                </a:solidFill>
                <a:effectLst>
                  <a:outerShdw blurRad="38100" dist="38100" dir="2700000" algn="tl">
                    <a:srgbClr val="C0C0C0"/>
                  </a:outerShdw>
                </a:effectLst>
              </a:rPr>
              <a:t>解释：</a:t>
            </a:r>
            <a:endParaRPr lang="zh-CN" altLang="en-US" smtClean="0">
              <a:solidFill>
                <a:srgbClr val="FF0000"/>
              </a:solidFill>
              <a:effectLst>
                <a:outerShdw blurRad="38100" dist="38100" dir="2700000" algn="tl">
                  <a:srgbClr val="C0C0C0"/>
                </a:outerShdw>
              </a:effectLst>
            </a:endParaRPr>
          </a:p>
          <a:p>
            <a:pPr marL="0" indent="0" defTabSz="879475" eaLnBrk="1" hangingPunct="1">
              <a:lnSpc>
                <a:spcPct val="120000"/>
              </a:lnSpc>
              <a:buFont typeface="Wingdings" panose="05000000000000000000" pitchFamily="2" charset="2"/>
              <a:buNone/>
              <a:tabLst>
                <a:tab pos="1530350" algn="l"/>
              </a:tabLst>
              <a:defRPr/>
            </a:pPr>
            <a:r>
              <a:rPr lang="zh-CN" altLang="en-US" smtClean="0"/>
              <a:t>        </a:t>
            </a:r>
            <a:r>
              <a:rPr lang="en-US" altLang="zh-CN" smtClean="0"/>
              <a:t>Load</a:t>
            </a:r>
            <a:r>
              <a:rPr lang="zh-CN" altLang="en-US" smtClean="0"/>
              <a:t>指令从存储器中读出数据并装入</a:t>
            </a:r>
            <a:r>
              <a:rPr lang="en-US" altLang="zh-CN" smtClean="0"/>
              <a:t>LMD（</a:t>
            </a:r>
            <a:r>
              <a:rPr lang="zh-CN" altLang="en-US" smtClean="0"/>
              <a:t>装入存储器数据）寄存器，</a:t>
            </a:r>
            <a:r>
              <a:rPr lang="en-US" altLang="zh-CN" smtClean="0"/>
              <a:t>Store</a:t>
            </a:r>
            <a:r>
              <a:rPr lang="zh-CN" altLang="en-US" smtClean="0"/>
              <a:t>指令将寄存器</a:t>
            </a:r>
            <a:r>
              <a:rPr lang="en-US" altLang="zh-CN" smtClean="0"/>
              <a:t>B</a:t>
            </a:r>
            <a:r>
              <a:rPr lang="zh-CN" altLang="en-US" smtClean="0"/>
              <a:t>中的数据写入存储器。</a:t>
            </a:r>
            <a:endParaRPr lang="zh-CN" altLang="en-US" smtClean="0"/>
          </a:p>
        </p:txBody>
      </p:sp>
      <p:sp>
        <p:nvSpPr>
          <p:cNvPr id="90117"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8</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1138" name="Object 2"/>
          <p:cNvGraphicFramePr>
            <a:graphicFrameLocks noGrp="1" noChangeAspect="1"/>
          </p:cNvGraphicFramePr>
          <p:nvPr>
            <p:ph idx="1"/>
          </p:nvPr>
        </p:nvGraphicFramePr>
        <p:xfrm>
          <a:off x="755650" y="1958975"/>
          <a:ext cx="8064500" cy="4552950"/>
        </p:xfrm>
        <a:graphic>
          <a:graphicData uri="http://schemas.openxmlformats.org/presentationml/2006/ole">
            <mc:AlternateContent xmlns:mc="http://schemas.openxmlformats.org/markup-compatibility/2006">
              <mc:Choice xmlns:v="urn:schemas-microsoft-com:vml" Requires="v">
                <p:oleObj spid="_x0000_s91231" name="Picture2" r:id="rId1" imgW="5368925" imgH="3030220" progId="Word.Picture.8">
                  <p:embed/>
                </p:oleObj>
              </mc:Choice>
              <mc:Fallback>
                <p:oleObj name="Picture2" r:id="rId1" imgW="5368925" imgH="3030220" progId="Word.Picture.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650" y="1958975"/>
                        <a:ext cx="8064500" cy="455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98403" name="Rectangle 3"/>
          <p:cNvSpPr>
            <a:spLocks noGrp="1" noChangeArrowheads="1"/>
          </p:cNvSpPr>
          <p:nvPr>
            <p:ph type="title"/>
          </p:nvPr>
        </p:nvSpPr>
        <p:spPr/>
        <p:txBody>
          <a:bodyPr/>
          <a:lstStyle/>
          <a:p>
            <a:pPr eaLnBrk="1" hangingPunct="1">
              <a:defRPr/>
            </a:pPr>
            <a:r>
              <a:rPr lang="zh-CN" altLang="en-US" smtClean="0"/>
              <a:t>图示</a:t>
            </a:r>
            <a:r>
              <a:rPr lang="en-US" altLang="zh-CN" smtClean="0"/>
              <a:t>MEM</a:t>
            </a:r>
            <a:endParaRPr lang="en-US" altLang="zh-CN" smtClean="0"/>
          </a:p>
        </p:txBody>
      </p:sp>
      <p:sp>
        <p:nvSpPr>
          <p:cNvPr id="9114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3"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91141" name="Rectangle 5"/>
          <p:cNvSpPr>
            <a:spLocks noChangeArrowheads="1"/>
          </p:cNvSpPr>
          <p:nvPr/>
        </p:nvSpPr>
        <p:spPr bwMode="auto">
          <a:xfrm>
            <a:off x="6588125" y="1916113"/>
            <a:ext cx="1582738" cy="4392612"/>
          </a:xfrm>
          <a:prstGeom prst="rect">
            <a:avLst/>
          </a:prstGeom>
          <a:solidFill>
            <a:srgbClr val="FFFF00">
              <a:alpha val="32156"/>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91142"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9</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9426" name="Rectangle 2"/>
          <p:cNvSpPr>
            <a:spLocks noGrp="1" noChangeArrowheads="1"/>
          </p:cNvSpPr>
          <p:nvPr>
            <p:ph type="title"/>
          </p:nvPr>
        </p:nvSpPr>
        <p:spPr/>
        <p:txBody>
          <a:bodyPr/>
          <a:lstStyle/>
          <a:p>
            <a:pPr eaLnBrk="1" hangingPunct="1">
              <a:defRPr/>
            </a:pPr>
            <a:r>
              <a:rPr lang="zh-CN" altLang="en-US" sz="5400" smtClean="0"/>
              <a:t>写回周期（</a:t>
            </a:r>
            <a:r>
              <a:rPr lang="en-US" altLang="zh-CN" sz="5400" smtClean="0"/>
              <a:t>WB）</a:t>
            </a:r>
            <a:endParaRPr lang="en-US" altLang="zh-CN" sz="5400" smtClean="0"/>
          </a:p>
        </p:txBody>
      </p:sp>
      <p:sp>
        <p:nvSpPr>
          <p:cNvPr id="999427" name="Rectangle 3"/>
          <p:cNvSpPr>
            <a:spLocks noGrp="1" noChangeArrowheads="1"/>
          </p:cNvSpPr>
          <p:nvPr>
            <p:ph type="body" sz="half" idx="1"/>
          </p:nvPr>
        </p:nvSpPr>
        <p:spPr>
          <a:xfrm>
            <a:off x="809625" y="1989138"/>
            <a:ext cx="4267200" cy="4411662"/>
          </a:xfrm>
        </p:spPr>
        <p:txBody>
          <a:bodyPr/>
          <a:lstStyle/>
          <a:p>
            <a:pPr eaLnBrk="1" hangingPunct="1">
              <a:lnSpc>
                <a:spcPct val="130000"/>
              </a:lnSpc>
              <a:buClr>
                <a:srgbClr val="FF0000"/>
              </a:buClr>
              <a:defRPr/>
            </a:pPr>
            <a:r>
              <a:rPr lang="en-US" altLang="zh-CN" smtClean="0">
                <a:solidFill>
                  <a:srgbClr val="FF0000"/>
                </a:solidFill>
                <a:effectLst>
                  <a:outerShdw blurRad="38100" dist="38100" dir="2700000" algn="tl">
                    <a:srgbClr val="C0C0C0"/>
                  </a:outerShdw>
                </a:effectLst>
              </a:rPr>
              <a:t>Load</a:t>
            </a:r>
            <a:r>
              <a:rPr lang="zh-CN" altLang="en-US" smtClean="0">
                <a:solidFill>
                  <a:srgbClr val="FF0000"/>
                </a:solidFill>
                <a:effectLst>
                  <a:outerShdw blurRad="38100" dist="38100" dir="2700000" algn="tl">
                    <a:srgbClr val="C0C0C0"/>
                  </a:outerShdw>
                </a:effectLst>
              </a:rPr>
              <a:t>指令</a:t>
            </a:r>
            <a:endParaRPr lang="zh-CN" altLang="en-US" smtClean="0">
              <a:solidFill>
                <a:srgbClr val="FF0000"/>
              </a:solidFill>
              <a:effectLst>
                <a:outerShdw blurRad="38100" dist="38100" dir="2700000" algn="tl">
                  <a:srgbClr val="C0C0C0"/>
                </a:outerShdw>
              </a:effectLst>
            </a:endParaRPr>
          </a:p>
          <a:p>
            <a:pPr eaLnBrk="1" hangingPunct="1">
              <a:lnSpc>
                <a:spcPct val="130000"/>
              </a:lnSpc>
              <a:buFont typeface="Wingdings" panose="05000000000000000000" pitchFamily="2" charset="2"/>
              <a:buNone/>
              <a:defRPr/>
            </a:pPr>
            <a:r>
              <a:rPr lang="en-US" altLang="zh-CN" smtClean="0">
                <a:solidFill>
                  <a:srgbClr val="0000CC"/>
                </a:solidFill>
                <a:effectLst>
                  <a:outerShdw blurRad="38100" dist="38100" dir="2700000" algn="tl">
                    <a:srgbClr val="C0C0C0"/>
                  </a:outerShdw>
                </a:effectLst>
              </a:rPr>
              <a:t>Regs[rt]←LMD</a:t>
            </a:r>
            <a:endParaRPr lang="en-US" altLang="zh-CN" smtClean="0">
              <a:solidFill>
                <a:srgbClr val="0000CC"/>
              </a:solidFill>
              <a:effectLst>
                <a:outerShdw blurRad="38100" dist="38100" dir="2700000" algn="tl">
                  <a:srgbClr val="C0C0C0"/>
                </a:outerShdw>
              </a:effectLst>
            </a:endParaRPr>
          </a:p>
          <a:p>
            <a:pPr eaLnBrk="1" hangingPunct="1">
              <a:lnSpc>
                <a:spcPct val="130000"/>
              </a:lnSpc>
              <a:buClr>
                <a:srgbClr val="FF0000"/>
              </a:buClr>
              <a:defRPr/>
            </a:pPr>
            <a:r>
              <a:rPr lang="zh-CN" altLang="en-US" smtClean="0">
                <a:solidFill>
                  <a:srgbClr val="FF0000"/>
                </a:solidFill>
                <a:effectLst>
                  <a:outerShdw blurRad="38100" dist="38100" dir="2700000" algn="tl">
                    <a:srgbClr val="C0C0C0"/>
                  </a:outerShdw>
                </a:effectLst>
              </a:rPr>
              <a:t>寄存器-寄存器</a:t>
            </a:r>
            <a:r>
              <a:rPr lang="en-US" altLang="zh-CN" smtClean="0">
                <a:solidFill>
                  <a:srgbClr val="FF0000"/>
                </a:solidFill>
                <a:effectLst>
                  <a:outerShdw blurRad="38100" dist="38100" dir="2700000" algn="tl">
                    <a:srgbClr val="C0C0C0"/>
                  </a:outerShdw>
                </a:effectLst>
              </a:rPr>
              <a:t>ALU</a:t>
            </a:r>
            <a:endParaRPr lang="en-US" altLang="zh-CN" smtClean="0">
              <a:solidFill>
                <a:srgbClr val="FF0000"/>
              </a:solidFill>
              <a:effectLst>
                <a:outerShdw blurRad="38100" dist="38100" dir="2700000" algn="tl">
                  <a:srgbClr val="C0C0C0"/>
                </a:outerShdw>
              </a:effectLst>
            </a:endParaRPr>
          </a:p>
          <a:p>
            <a:pPr eaLnBrk="1" hangingPunct="1">
              <a:lnSpc>
                <a:spcPct val="130000"/>
              </a:lnSpc>
              <a:buFont typeface="Wingdings" panose="05000000000000000000" pitchFamily="2" charset="2"/>
              <a:buNone/>
              <a:defRPr/>
            </a:pPr>
            <a:r>
              <a:rPr lang="en-US" altLang="zh-CN" smtClean="0">
                <a:solidFill>
                  <a:srgbClr val="0000CC"/>
                </a:solidFill>
                <a:effectLst>
                  <a:outerShdw blurRad="38100" dist="38100" dir="2700000" algn="tl">
                    <a:srgbClr val="C0C0C0"/>
                  </a:outerShdw>
                </a:effectLst>
              </a:rPr>
              <a:t>Regs[rd] ← ALUOutput</a:t>
            </a:r>
            <a:endParaRPr lang="en-US" altLang="zh-CN" smtClean="0">
              <a:solidFill>
                <a:srgbClr val="0000CC"/>
              </a:solidFill>
              <a:effectLst>
                <a:outerShdw blurRad="38100" dist="38100" dir="2700000" algn="tl">
                  <a:srgbClr val="C0C0C0"/>
                </a:outerShdw>
              </a:effectLst>
            </a:endParaRPr>
          </a:p>
          <a:p>
            <a:pPr eaLnBrk="1" hangingPunct="1">
              <a:lnSpc>
                <a:spcPct val="130000"/>
              </a:lnSpc>
              <a:buClr>
                <a:srgbClr val="FF0000"/>
              </a:buClr>
              <a:defRPr/>
            </a:pPr>
            <a:r>
              <a:rPr lang="zh-CN" altLang="en-US" smtClean="0">
                <a:solidFill>
                  <a:srgbClr val="FF0000"/>
                </a:solidFill>
                <a:effectLst>
                  <a:outerShdw blurRad="38100" dist="38100" dir="2700000" algn="tl">
                    <a:srgbClr val="C0C0C0"/>
                  </a:outerShdw>
                </a:effectLst>
              </a:rPr>
              <a:t>寄存器-立即数</a:t>
            </a:r>
            <a:r>
              <a:rPr lang="en-US" altLang="zh-CN" smtClean="0">
                <a:solidFill>
                  <a:srgbClr val="FF0000"/>
                </a:solidFill>
                <a:effectLst>
                  <a:outerShdw blurRad="38100" dist="38100" dir="2700000" algn="tl">
                    <a:srgbClr val="C0C0C0"/>
                  </a:outerShdw>
                </a:effectLst>
              </a:rPr>
              <a:t>ALU</a:t>
            </a:r>
            <a:endParaRPr lang="en-US" altLang="zh-CN" smtClean="0">
              <a:solidFill>
                <a:srgbClr val="FF0000"/>
              </a:solidFill>
              <a:effectLst>
                <a:outerShdw blurRad="38100" dist="38100" dir="2700000" algn="tl">
                  <a:srgbClr val="C0C0C0"/>
                </a:outerShdw>
              </a:effectLst>
            </a:endParaRPr>
          </a:p>
          <a:p>
            <a:pPr eaLnBrk="1" hangingPunct="1">
              <a:lnSpc>
                <a:spcPct val="130000"/>
              </a:lnSpc>
              <a:buFont typeface="Wingdings" panose="05000000000000000000" pitchFamily="2" charset="2"/>
              <a:buNone/>
              <a:defRPr/>
            </a:pPr>
            <a:r>
              <a:rPr lang="en-US" altLang="zh-CN" smtClean="0">
                <a:solidFill>
                  <a:srgbClr val="0000CC"/>
                </a:solidFill>
                <a:effectLst>
                  <a:outerShdw blurRad="38100" dist="38100" dir="2700000" algn="tl">
                    <a:srgbClr val="C0C0C0"/>
                  </a:outerShdw>
                </a:effectLst>
              </a:rPr>
              <a:t>Regs[rt] ← ALUOutput</a:t>
            </a:r>
            <a:endParaRPr lang="en-US" altLang="zh-CN" smtClean="0">
              <a:solidFill>
                <a:srgbClr val="0000CC"/>
              </a:solidFill>
              <a:effectLst>
                <a:outerShdw blurRad="38100" dist="38100" dir="2700000" algn="tl">
                  <a:srgbClr val="C0C0C0"/>
                </a:outerShdw>
              </a:effectLst>
            </a:endParaRPr>
          </a:p>
        </p:txBody>
      </p:sp>
      <p:sp>
        <p:nvSpPr>
          <p:cNvPr id="999428" name="Rectangle 4"/>
          <p:cNvSpPr>
            <a:spLocks noGrp="1" noChangeArrowheads="1"/>
          </p:cNvSpPr>
          <p:nvPr>
            <p:ph type="body" sz="half" idx="2"/>
          </p:nvPr>
        </p:nvSpPr>
        <p:spPr>
          <a:xfrm>
            <a:off x="5219700" y="2133600"/>
            <a:ext cx="3586163" cy="4051300"/>
          </a:xfrm>
          <a:solidFill>
            <a:srgbClr val="FFFF99"/>
          </a:solidFill>
          <a:ln w="76200" cmpd="tri">
            <a:solidFill>
              <a:schemeClr val="tx1"/>
            </a:solidFill>
            <a:miter lim="800000"/>
          </a:ln>
        </p:spPr>
        <p:txBody>
          <a:bodyPr/>
          <a:lstStyle/>
          <a:p>
            <a:pPr marL="0" indent="0" eaLnBrk="1" hangingPunct="1">
              <a:lnSpc>
                <a:spcPct val="120000"/>
              </a:lnSpc>
              <a:buFont typeface="Wingdings" panose="05000000000000000000" pitchFamily="2" charset="2"/>
              <a:buNone/>
              <a:defRPr/>
            </a:pPr>
            <a:r>
              <a:rPr lang="zh-CN" altLang="en-US" b="0" smtClean="0">
                <a:solidFill>
                  <a:srgbClr val="FF0000"/>
                </a:solidFill>
                <a:effectLst>
                  <a:outerShdw blurRad="38100" dist="38100" dir="2700000" algn="tl">
                    <a:srgbClr val="000000"/>
                  </a:outerShdw>
                </a:effectLst>
              </a:rPr>
              <a:t>解释：</a:t>
            </a:r>
            <a:endParaRPr lang="zh-CN" altLang="en-US" b="0" smtClean="0">
              <a:solidFill>
                <a:srgbClr val="FF0000"/>
              </a:solidFill>
              <a:effectLst>
                <a:outerShdw blurRad="38100" dist="38100" dir="2700000" algn="tl">
                  <a:srgbClr val="000000"/>
                </a:outerShdw>
              </a:effectLst>
            </a:endParaRPr>
          </a:p>
          <a:p>
            <a:pPr marL="0" indent="0" eaLnBrk="1" hangingPunct="1">
              <a:lnSpc>
                <a:spcPct val="120000"/>
              </a:lnSpc>
              <a:buFont typeface="Wingdings" panose="05000000000000000000" pitchFamily="2" charset="2"/>
              <a:buNone/>
              <a:defRPr/>
            </a:pPr>
            <a:r>
              <a:rPr lang="en-US" altLang="zh-CN" smtClean="0"/>
              <a:t>       </a:t>
            </a:r>
            <a:r>
              <a:rPr lang="zh-CN" altLang="en-US" smtClean="0"/>
              <a:t>将结果写入寄存器堆。寄存器的写入端口在两个目标中选择一个（</a:t>
            </a:r>
            <a:r>
              <a:rPr lang="en-US" altLang="zh-CN" smtClean="0"/>
              <a:t>rt or rd），</a:t>
            </a:r>
            <a:r>
              <a:rPr lang="zh-CN" altLang="en-US" smtClean="0"/>
              <a:t>具体选择哪一个要由操作码决定。</a:t>
            </a:r>
            <a:endParaRPr lang="zh-CN" altLang="en-US" smtClean="0"/>
          </a:p>
        </p:txBody>
      </p:sp>
      <p:sp>
        <p:nvSpPr>
          <p:cNvPr id="92165"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92166"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1</a:t>
            </a:r>
            <a:r>
              <a:rPr lang="en-US" altLang="zh-CN" sz="1200" b="0">
                <a:latin typeface="幼圆" panose="02010509060101010101" pitchFamily="49" charset="-122"/>
                <a:ea typeface="幼圆" panose="02010509060101010101" pitchFamily="49" charset="-122"/>
              </a:rPr>
              <a:t>0</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3186" name="Object 2"/>
          <p:cNvGraphicFramePr>
            <a:graphicFrameLocks noGrp="1" noChangeAspect="1"/>
          </p:cNvGraphicFramePr>
          <p:nvPr>
            <p:ph idx="1"/>
          </p:nvPr>
        </p:nvGraphicFramePr>
        <p:xfrm>
          <a:off x="755650" y="1958975"/>
          <a:ext cx="8064500" cy="4552950"/>
        </p:xfrm>
        <a:graphic>
          <a:graphicData uri="http://schemas.openxmlformats.org/presentationml/2006/ole">
            <mc:AlternateContent xmlns:mc="http://schemas.openxmlformats.org/markup-compatibility/2006">
              <mc:Choice xmlns:v="urn:schemas-microsoft-com:vml" Requires="v">
                <p:oleObj spid="_x0000_s93279" name="Picture2" r:id="rId1" imgW="5368925" imgH="3030220" progId="Word.Picture.8">
                  <p:embed/>
                </p:oleObj>
              </mc:Choice>
              <mc:Fallback>
                <p:oleObj name="Picture2" r:id="rId1" imgW="5368925" imgH="3030220" progId="Word.Picture.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650" y="1958975"/>
                        <a:ext cx="8064500" cy="455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00451" name="Rectangle 3"/>
          <p:cNvSpPr>
            <a:spLocks noGrp="1" noChangeArrowheads="1"/>
          </p:cNvSpPr>
          <p:nvPr>
            <p:ph type="title"/>
          </p:nvPr>
        </p:nvSpPr>
        <p:spPr/>
        <p:txBody>
          <a:bodyPr/>
          <a:lstStyle/>
          <a:p>
            <a:pPr eaLnBrk="1" hangingPunct="1">
              <a:defRPr/>
            </a:pPr>
            <a:r>
              <a:rPr lang="zh-CN" altLang="en-US" smtClean="0"/>
              <a:t>图示</a:t>
            </a:r>
            <a:r>
              <a:rPr lang="en-US" altLang="zh-CN" smtClean="0"/>
              <a:t>WB</a:t>
            </a:r>
            <a:endParaRPr lang="en-US" altLang="zh-CN" smtClean="0"/>
          </a:p>
        </p:txBody>
      </p:sp>
      <p:sp>
        <p:nvSpPr>
          <p:cNvPr id="93188"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3"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93189" name="Rectangle 5"/>
          <p:cNvSpPr>
            <a:spLocks noChangeArrowheads="1"/>
          </p:cNvSpPr>
          <p:nvPr/>
        </p:nvSpPr>
        <p:spPr bwMode="auto">
          <a:xfrm>
            <a:off x="8101013" y="1916113"/>
            <a:ext cx="935037" cy="4392612"/>
          </a:xfrm>
          <a:prstGeom prst="rect">
            <a:avLst/>
          </a:prstGeom>
          <a:solidFill>
            <a:srgbClr val="FFFF00">
              <a:alpha val="32156"/>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93190"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1</a:t>
            </a:r>
            <a:r>
              <a:rPr lang="en-US" altLang="zh-CN" sz="1200" b="0">
                <a:latin typeface="幼圆" panose="02010509060101010101" pitchFamily="49" charset="-122"/>
                <a:ea typeface="幼圆" panose="02010509060101010101" pitchFamily="49" charset="-122"/>
              </a:rPr>
              <a:t>1</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1746" name="Rectangle 2"/>
          <p:cNvSpPr>
            <a:spLocks noGrp="1" noChangeArrowheads="1"/>
          </p:cNvSpPr>
          <p:nvPr>
            <p:ph type="title"/>
          </p:nvPr>
        </p:nvSpPr>
        <p:spPr/>
        <p:txBody>
          <a:bodyPr/>
          <a:lstStyle/>
          <a:p>
            <a:pPr eaLnBrk="1" hangingPunct="1">
              <a:defRPr/>
            </a:pPr>
            <a:r>
              <a:rPr lang="zh-CN" altLang="en-US" sz="5400" smtClean="0"/>
              <a:t>时空图</a:t>
            </a:r>
            <a:endParaRPr lang="zh-CN" altLang="en-US" sz="5400" smtClean="0"/>
          </a:p>
        </p:txBody>
      </p:sp>
      <p:sp>
        <p:nvSpPr>
          <p:cNvPr id="9421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graphicFrame>
        <p:nvGraphicFramePr>
          <p:cNvPr id="672109" name="Group 365"/>
          <p:cNvGraphicFramePr>
            <a:graphicFrameLocks noGrp="1"/>
          </p:cNvGraphicFramePr>
          <p:nvPr/>
        </p:nvGraphicFramePr>
        <p:xfrm>
          <a:off x="827088" y="2205038"/>
          <a:ext cx="8001000" cy="3998914"/>
        </p:xfrm>
        <a:graphic>
          <a:graphicData uri="http://schemas.openxmlformats.org/drawingml/2006/table">
            <a:tbl>
              <a:tblPr/>
              <a:tblGrid>
                <a:gridCol w="800100"/>
                <a:gridCol w="800100"/>
                <a:gridCol w="800100"/>
                <a:gridCol w="800100"/>
                <a:gridCol w="800100"/>
                <a:gridCol w="800100"/>
                <a:gridCol w="800100"/>
                <a:gridCol w="800100"/>
                <a:gridCol w="800100"/>
                <a:gridCol w="800100"/>
              </a:tblGrid>
              <a:tr h="5810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指</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令</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9">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时钟</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r>
              <a:tr h="579438">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1</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2</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3</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4</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5</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6</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7</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8</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9</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159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IF</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ID</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EX</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MEM</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WB</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i+1</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i+2</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794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i+3</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i+4</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94291" name="Text Box 36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12</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5234" name="Text Box 2"/>
          <p:cNvSpPr txBox="1">
            <a:spLocks noChangeArrowheads="1"/>
          </p:cNvSpPr>
          <p:nvPr/>
        </p:nvSpPr>
        <p:spPr bwMode="auto">
          <a:xfrm>
            <a:off x="3886200" y="6172200"/>
            <a:ext cx="46482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2400">
                <a:latin typeface="Comic Sans MS" panose="030F0702030302020204" pitchFamily="66" charset="0"/>
              </a:rPr>
              <a:t>MIPS</a:t>
            </a:r>
            <a:r>
              <a:rPr lang="zh-CN" altLang="en-US" sz="2400">
                <a:latin typeface="Comic Sans MS" panose="030F0702030302020204" pitchFamily="66" charset="0"/>
              </a:rPr>
              <a:t>基本流水线的数据通路</a:t>
            </a:r>
            <a:endParaRPr lang="zh-CN" altLang="en-US" sz="2400">
              <a:latin typeface="Comic Sans MS" panose="030F0702030302020204" pitchFamily="66" charset="0"/>
            </a:endParaRPr>
          </a:p>
        </p:txBody>
      </p:sp>
      <p:sp>
        <p:nvSpPr>
          <p:cNvPr id="95235" name="Text Box 3"/>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13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13</a:t>
            </a:r>
            <a:endParaRPr lang="en-US" altLang="zh-CN" sz="1200" b="0">
              <a:latin typeface="幼圆" panose="02010509060101010101" pitchFamily="49" charset="-122"/>
              <a:ea typeface="幼圆" panose="02010509060101010101" pitchFamily="49" charset="-122"/>
            </a:endParaRPr>
          </a:p>
        </p:txBody>
      </p:sp>
      <p:pic>
        <p:nvPicPr>
          <p:cNvPr id="95236" name="Picture 5" descr="AppA-fig02"/>
          <p:cNvPicPr>
            <a:picLocks noChangeAspect="1" noChangeArrowheads="1"/>
          </p:cNvPicPr>
          <p:nvPr/>
        </p:nvPicPr>
        <p:blipFill>
          <a:blip r:embed="rId1">
            <a:extLst>
              <a:ext uri="{28A0092B-C50C-407E-A947-70E740481C1C}">
                <a14:useLocalDpi xmlns:a14="http://schemas.microsoft.com/office/drawing/2010/main" val="0"/>
              </a:ext>
            </a:extLst>
          </a:blip>
          <a:srcRect b="13020"/>
          <a:stretch>
            <a:fillRect/>
          </a:stretch>
        </p:blipFill>
        <p:spPr bwMode="auto">
          <a:xfrm>
            <a:off x="228600" y="381000"/>
            <a:ext cx="8610600" cy="5648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7415" name="Rectangle 7"/>
          <p:cNvSpPr>
            <a:spLocks noGrp="1" noChangeArrowheads="1"/>
          </p:cNvSpPr>
          <p:nvPr>
            <p:ph type="body" idx="1"/>
          </p:nvPr>
        </p:nvSpPr>
        <p:spPr>
          <a:xfrm>
            <a:off x="685800" y="5410200"/>
            <a:ext cx="2238375" cy="1219200"/>
          </a:xfrm>
          <a:ln w="57150" cmpd="thickThin">
            <a:solidFill>
              <a:schemeClr val="tx1"/>
            </a:solidFill>
            <a:miter lim="800000"/>
          </a:ln>
          <a:effectLst>
            <a:outerShdw dist="35921" dir="2700000" algn="ctr" rotWithShape="0">
              <a:schemeClr val="bg2"/>
            </a:outerShdw>
          </a:effectLst>
        </p:spPr>
        <p:txBody>
          <a:bodyPr/>
          <a:lstStyle/>
          <a:p>
            <a:pPr eaLnBrk="1" hangingPunct="1">
              <a:buFont typeface="Wingdings" panose="05000000000000000000" pitchFamily="2" charset="2"/>
              <a:buNone/>
              <a:defRPr/>
            </a:pPr>
            <a:r>
              <a:rPr lang="en-US" altLang="zh-CN" sz="2000" b="0" smtClean="0">
                <a:solidFill>
                  <a:srgbClr val="FF0000"/>
                </a:solidFill>
                <a:effectLst>
                  <a:outerShdw blurRad="38100" dist="38100" dir="2700000" algn="tl">
                    <a:srgbClr val="C0C0C0"/>
                  </a:outerShdw>
                </a:effectLst>
              </a:rPr>
              <a:t>IM ：</a:t>
            </a:r>
            <a:r>
              <a:rPr lang="zh-CN" altLang="en-US" sz="2000" smtClean="0"/>
              <a:t>指令存储器</a:t>
            </a:r>
            <a:endParaRPr lang="zh-CN" altLang="en-US" sz="2000" smtClean="0"/>
          </a:p>
          <a:p>
            <a:pPr eaLnBrk="1" hangingPunct="1">
              <a:buFont typeface="Wingdings" panose="05000000000000000000" pitchFamily="2" charset="2"/>
              <a:buNone/>
              <a:defRPr/>
            </a:pPr>
            <a:r>
              <a:rPr lang="en-US" altLang="zh-CN" sz="2000" b="0" smtClean="0">
                <a:solidFill>
                  <a:srgbClr val="FF0000"/>
                </a:solidFill>
                <a:effectLst>
                  <a:outerShdw blurRad="38100" dist="38100" dir="2700000" algn="tl">
                    <a:srgbClr val="C0C0C0"/>
                  </a:outerShdw>
                </a:effectLst>
              </a:rPr>
              <a:t>DM：</a:t>
            </a:r>
            <a:r>
              <a:rPr lang="zh-CN" altLang="en-US" sz="2000" smtClean="0"/>
              <a:t>数据存储器</a:t>
            </a:r>
            <a:endParaRPr lang="zh-CN" altLang="en-US" sz="2000" smtClean="0"/>
          </a:p>
          <a:p>
            <a:pPr eaLnBrk="1" hangingPunct="1">
              <a:buFont typeface="Wingdings" panose="05000000000000000000" pitchFamily="2" charset="2"/>
              <a:buNone/>
              <a:defRPr/>
            </a:pPr>
            <a:r>
              <a:rPr lang="en-US" altLang="zh-CN" sz="2000" b="0" smtClean="0">
                <a:solidFill>
                  <a:srgbClr val="FF0000"/>
                </a:solidFill>
                <a:effectLst>
                  <a:outerShdw blurRad="38100" dist="38100" dir="2700000" algn="tl">
                    <a:srgbClr val="C0C0C0"/>
                  </a:outerShdw>
                </a:effectLst>
              </a:rPr>
              <a:t>CC</a:t>
            </a:r>
            <a:r>
              <a:rPr lang="en-US" altLang="zh-CN" sz="2000" smtClean="0"/>
              <a:t> </a:t>
            </a:r>
            <a:r>
              <a:rPr lang="en-US" altLang="zh-CN" sz="2000" b="0" smtClean="0">
                <a:solidFill>
                  <a:srgbClr val="FF0000"/>
                </a:solidFill>
                <a:effectLst>
                  <a:outerShdw blurRad="38100" dist="38100" dir="2700000" algn="tl">
                    <a:srgbClr val="C0C0C0"/>
                  </a:outerShdw>
                </a:effectLst>
              </a:rPr>
              <a:t>：</a:t>
            </a:r>
            <a:r>
              <a:rPr lang="zh-CN" altLang="en-US" sz="2000" smtClean="0"/>
              <a:t>时钟周期</a:t>
            </a:r>
            <a:endParaRPr lang="zh-CN" altLang="en-US" sz="2000" smtClean="0"/>
          </a:p>
        </p:txBody>
      </p:sp>
      <p:sp>
        <p:nvSpPr>
          <p:cNvPr id="95238" name="AutoShape 8"/>
          <p:cNvSpPr>
            <a:spLocks noChangeArrowheads="1"/>
          </p:cNvSpPr>
          <p:nvPr/>
        </p:nvSpPr>
        <p:spPr bwMode="auto">
          <a:xfrm>
            <a:off x="5435600" y="1052513"/>
            <a:ext cx="2160588" cy="863600"/>
          </a:xfrm>
          <a:prstGeom prst="wedgeRoundRectCallout">
            <a:avLst>
              <a:gd name="adj1" fmla="val -80051"/>
              <a:gd name="adj2" fmla="val 16912"/>
              <a:gd name="adj3" fmla="val 16667"/>
            </a:avLst>
          </a:prstGeom>
          <a:solidFill>
            <a:srgbClr val="99FF66"/>
          </a:solidFill>
          <a:ln w="28575">
            <a:solidFill>
              <a:srgbClr val="00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rIns="18000"/>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000">
                <a:solidFill>
                  <a:srgbClr val="0000CC"/>
                </a:solidFill>
                <a:latin typeface="Times New Roman" panose="02020603050405020304" pitchFamily="18" charset="0"/>
              </a:rPr>
              <a:t>写操作</a:t>
            </a:r>
            <a:endParaRPr lang="zh-CN" altLang="en-US" sz="2000">
              <a:solidFill>
                <a:srgbClr val="0000CC"/>
              </a:solidFill>
              <a:latin typeface="Times New Roman" panose="02020603050405020304" pitchFamily="18" charset="0"/>
            </a:endParaRPr>
          </a:p>
          <a:p>
            <a:pPr algn="ctr" eaLnBrk="1" hangingPunct="1">
              <a:buFont typeface="Wingdings" panose="05000000000000000000" pitchFamily="2" charset="2"/>
              <a:buNone/>
            </a:pPr>
            <a:r>
              <a:rPr lang="zh-CN" altLang="en-US" sz="2000">
                <a:solidFill>
                  <a:srgbClr val="0000CC"/>
                </a:solidFill>
                <a:latin typeface="Times New Roman" panose="02020603050405020304" pitchFamily="18" charset="0"/>
              </a:rPr>
              <a:t>（前半周期进行）</a:t>
            </a:r>
            <a:endParaRPr lang="zh-CN" altLang="en-US" sz="2000">
              <a:solidFill>
                <a:srgbClr val="0000CC"/>
              </a:solidFill>
              <a:latin typeface="Times New Roman" panose="02020603050405020304" pitchFamily="18" charset="0"/>
            </a:endParaRPr>
          </a:p>
        </p:txBody>
      </p:sp>
      <p:sp>
        <p:nvSpPr>
          <p:cNvPr id="95239" name="AutoShape 9"/>
          <p:cNvSpPr>
            <a:spLocks noChangeArrowheads="1"/>
          </p:cNvSpPr>
          <p:nvPr/>
        </p:nvSpPr>
        <p:spPr bwMode="auto">
          <a:xfrm>
            <a:off x="1187450" y="4267200"/>
            <a:ext cx="2160588" cy="890588"/>
          </a:xfrm>
          <a:prstGeom prst="wedgeRoundRectCallout">
            <a:avLst>
              <a:gd name="adj1" fmla="val 57421"/>
              <a:gd name="adj2" fmla="val -95810"/>
              <a:gd name="adj3" fmla="val 16667"/>
            </a:avLst>
          </a:prstGeom>
          <a:solidFill>
            <a:srgbClr val="99FF66"/>
          </a:solidFill>
          <a:ln w="28575">
            <a:solidFill>
              <a:srgbClr val="00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0" r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000">
                <a:solidFill>
                  <a:srgbClr val="0000CC"/>
                </a:solidFill>
                <a:latin typeface="Times New Roman" panose="02020603050405020304" pitchFamily="18" charset="0"/>
              </a:rPr>
              <a:t>读操作</a:t>
            </a:r>
            <a:endParaRPr lang="zh-CN" altLang="en-US" sz="2000">
              <a:solidFill>
                <a:srgbClr val="0000CC"/>
              </a:solidFill>
              <a:latin typeface="Times New Roman" panose="02020603050405020304" pitchFamily="18" charset="0"/>
            </a:endParaRPr>
          </a:p>
          <a:p>
            <a:pPr algn="ctr" eaLnBrk="1" hangingPunct="1">
              <a:buFont typeface="Wingdings" panose="05000000000000000000" pitchFamily="2" charset="2"/>
              <a:buNone/>
            </a:pPr>
            <a:r>
              <a:rPr lang="zh-CN" altLang="en-US" sz="2000">
                <a:solidFill>
                  <a:srgbClr val="0000CC"/>
                </a:solidFill>
                <a:latin typeface="Times New Roman" panose="02020603050405020304" pitchFamily="18" charset="0"/>
              </a:rPr>
              <a:t>（后半周期进行）</a:t>
            </a:r>
            <a:endParaRPr lang="zh-CN" altLang="en-US" sz="2000">
              <a:solidFill>
                <a:srgbClr val="0000CC"/>
              </a:solidFill>
              <a:latin typeface="Times New Roman" panose="02020603050405020304" pitchFamily="18" charset="0"/>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0290" name="Rectangle 2"/>
          <p:cNvSpPr>
            <a:spLocks noGrp="1" noChangeArrowheads="1"/>
          </p:cNvSpPr>
          <p:nvPr>
            <p:ph type="title"/>
          </p:nvPr>
        </p:nvSpPr>
        <p:spPr/>
        <p:txBody>
          <a:bodyPr/>
          <a:lstStyle/>
          <a:p>
            <a:pPr eaLnBrk="1" hangingPunct="1">
              <a:defRPr/>
            </a:pPr>
            <a:r>
              <a:rPr lang="en-US" altLang="zh-CN" sz="5400" smtClean="0"/>
              <a:t>MIPS</a:t>
            </a:r>
            <a:r>
              <a:rPr lang="zh-CN" altLang="en-US" sz="5400" smtClean="0"/>
              <a:t>扩展流水线</a:t>
            </a:r>
            <a:endParaRPr lang="zh-CN" altLang="en-US" sz="5400" smtClean="0"/>
          </a:p>
        </p:txBody>
      </p:sp>
      <p:sp>
        <p:nvSpPr>
          <p:cNvPr id="9625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96260"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1</a:t>
            </a:r>
            <a:endParaRPr lang="zh-CN" altLang="en-US" sz="1200" b="0">
              <a:latin typeface="幼圆" panose="02010509060101010101" pitchFamily="49" charset="-122"/>
              <a:ea typeface="幼圆" panose="02010509060101010101" pitchFamily="49" charset="-122"/>
            </a:endParaRPr>
          </a:p>
        </p:txBody>
      </p:sp>
      <p:sp>
        <p:nvSpPr>
          <p:cNvPr id="780294" name="Rectangle 6"/>
          <p:cNvSpPr>
            <a:spLocks noGrp="1" noChangeArrowheads="1"/>
          </p:cNvSpPr>
          <p:nvPr>
            <p:ph type="body" idx="1"/>
          </p:nvPr>
        </p:nvSpPr>
        <p:spPr/>
        <p:txBody>
          <a:bodyPr/>
          <a:lstStyle/>
          <a:p>
            <a:pPr marL="0" indent="0" eaLnBrk="1" hangingPunct="1">
              <a:lnSpc>
                <a:spcPct val="90000"/>
              </a:lnSpc>
              <a:buFont typeface="Wingdings" panose="05000000000000000000" pitchFamily="2" charset="2"/>
              <a:buNone/>
              <a:defRPr/>
            </a:pPr>
            <a:r>
              <a:rPr lang="zh-CN" altLang="en-US" sz="2400" dirty="0" smtClean="0"/>
              <a:t>    在</a:t>
            </a:r>
            <a:r>
              <a:rPr lang="en-US" altLang="zh-CN" sz="2400" dirty="0" smtClean="0"/>
              <a:t>MIPS</a:t>
            </a:r>
            <a:r>
              <a:rPr lang="zh-CN" altLang="en-US" sz="2400" dirty="0" smtClean="0"/>
              <a:t>基本流水线中引入浮点操作功能。</a:t>
            </a:r>
            <a:endParaRPr lang="zh-CN" altLang="en-US" sz="2400" dirty="0" smtClean="0"/>
          </a:p>
          <a:p>
            <a:pPr marL="0" indent="0" eaLnBrk="1" hangingPunct="1">
              <a:lnSpc>
                <a:spcPct val="90000"/>
              </a:lnSpc>
              <a:buClr>
                <a:srgbClr val="FF0000"/>
              </a:buClr>
              <a:defRPr/>
            </a:pPr>
            <a:r>
              <a:rPr lang="zh-CN" altLang="en-US" sz="2400" dirty="0" smtClean="0">
                <a:solidFill>
                  <a:srgbClr val="FF0000"/>
                </a:solidFill>
                <a:effectLst>
                  <a:outerShdw blurRad="38100" dist="38100" dir="2700000" algn="tl">
                    <a:srgbClr val="C0C0C0"/>
                  </a:outerShdw>
                </a:effectLst>
              </a:rPr>
              <a:t>  主定点操作部件</a:t>
            </a: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90000"/>
              </a:lnSpc>
              <a:buFont typeface="Wingdings" panose="05000000000000000000" pitchFamily="2" charset="2"/>
              <a:buNone/>
              <a:defRPr/>
            </a:pPr>
            <a:r>
              <a:rPr lang="zh-CN" altLang="en-US" sz="2400" dirty="0" smtClean="0"/>
              <a:t>    负责</a:t>
            </a:r>
            <a:r>
              <a:rPr lang="en-US" altLang="zh-CN" sz="2400" dirty="0" smtClean="0"/>
              <a:t>load/store、</a:t>
            </a:r>
            <a:r>
              <a:rPr lang="zh-CN" altLang="en-US" sz="2400" dirty="0" smtClean="0"/>
              <a:t>定点</a:t>
            </a:r>
            <a:r>
              <a:rPr lang="en-US" altLang="zh-CN" sz="2400" dirty="0" smtClean="0"/>
              <a:t>ALU</a:t>
            </a:r>
            <a:r>
              <a:rPr lang="zh-CN" altLang="en-US" sz="2400" dirty="0" smtClean="0"/>
              <a:t>操作和分支操作（功能同</a:t>
            </a:r>
            <a:r>
              <a:rPr lang="en-US" altLang="zh-CN" sz="2400" dirty="0" smtClean="0"/>
              <a:t>MIPS</a:t>
            </a:r>
            <a:r>
              <a:rPr lang="zh-CN" altLang="en-US" sz="2400" dirty="0" smtClean="0"/>
              <a:t>基本流水线）。</a:t>
            </a:r>
            <a:endParaRPr lang="zh-CN" altLang="en-US" sz="2400" dirty="0" smtClean="0"/>
          </a:p>
          <a:p>
            <a:pPr marL="0" indent="0" eaLnBrk="1" hangingPunct="1">
              <a:lnSpc>
                <a:spcPct val="90000"/>
              </a:lnSpc>
              <a:buClr>
                <a:srgbClr val="FF0000"/>
              </a:buClr>
              <a:defRPr/>
            </a:pPr>
            <a:r>
              <a:rPr lang="zh-CN" altLang="en-US" sz="2400" dirty="0" smtClean="0">
                <a:solidFill>
                  <a:srgbClr val="FF0000"/>
                </a:solidFill>
                <a:effectLst>
                  <a:outerShdw blurRad="38100" dist="38100" dir="2700000" algn="tl">
                    <a:srgbClr val="C0C0C0"/>
                  </a:outerShdw>
                </a:effectLst>
              </a:rPr>
              <a:t>  浮点/定点乘法部件</a:t>
            </a: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90000"/>
              </a:lnSpc>
              <a:buFont typeface="Wingdings" panose="05000000000000000000" pitchFamily="2" charset="2"/>
              <a:buNone/>
              <a:defRPr/>
            </a:pPr>
            <a:r>
              <a:rPr lang="zh-CN" altLang="en-US" sz="2400" dirty="0" smtClean="0"/>
              <a:t>    负责浮点/定点乘法，采用流水设计。</a:t>
            </a:r>
            <a:endParaRPr lang="zh-CN" altLang="en-US" sz="2400" dirty="0" smtClean="0"/>
          </a:p>
          <a:p>
            <a:pPr marL="0" indent="0" eaLnBrk="1" hangingPunct="1">
              <a:lnSpc>
                <a:spcPct val="90000"/>
              </a:lnSpc>
              <a:buClr>
                <a:srgbClr val="FF0000"/>
              </a:buClr>
              <a:defRPr/>
            </a:pPr>
            <a:r>
              <a:rPr lang="zh-CN" altLang="en-US" sz="2400" dirty="0" smtClean="0">
                <a:solidFill>
                  <a:srgbClr val="FF0000"/>
                </a:solidFill>
                <a:effectLst>
                  <a:outerShdw blurRad="38100" dist="38100" dir="2700000" algn="tl">
                    <a:srgbClr val="C0C0C0"/>
                  </a:outerShdw>
                </a:effectLst>
              </a:rPr>
              <a:t>  浮点加法部件</a:t>
            </a: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90000"/>
              </a:lnSpc>
              <a:buFont typeface="Wingdings" panose="05000000000000000000" pitchFamily="2" charset="2"/>
              <a:buNone/>
              <a:defRPr/>
            </a:pPr>
            <a:r>
              <a:rPr lang="zh-CN" altLang="en-US" sz="2400" dirty="0" smtClean="0"/>
              <a:t>    负责处理浮点加、减法及定点数/浮点数之间的转换，采用流水设计。</a:t>
            </a:r>
            <a:endParaRPr lang="zh-CN" altLang="en-US" sz="2400" dirty="0" smtClean="0"/>
          </a:p>
          <a:p>
            <a:pPr marL="0" indent="0" eaLnBrk="1" hangingPunct="1">
              <a:lnSpc>
                <a:spcPct val="90000"/>
              </a:lnSpc>
              <a:buClr>
                <a:srgbClr val="FF0000"/>
              </a:buClr>
              <a:defRPr/>
            </a:pPr>
            <a:r>
              <a:rPr lang="zh-CN" altLang="en-US" sz="2400" dirty="0" smtClean="0">
                <a:solidFill>
                  <a:srgbClr val="FF0000"/>
                </a:solidFill>
                <a:effectLst>
                  <a:outerShdw blurRad="38100" dist="38100" dir="2700000" algn="tl">
                    <a:srgbClr val="C0C0C0"/>
                  </a:outerShdw>
                </a:effectLst>
              </a:rPr>
              <a:t>  浮点/定点除法部件</a:t>
            </a: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90000"/>
              </a:lnSpc>
              <a:buFont typeface="Wingdings" panose="05000000000000000000" pitchFamily="2" charset="2"/>
              <a:buNone/>
              <a:defRPr/>
            </a:pPr>
            <a:r>
              <a:rPr lang="zh-CN" altLang="en-US" sz="2400" dirty="0" smtClean="0"/>
              <a:t>    负责浮点/定点除法，不采用流水设计。</a:t>
            </a:r>
            <a:endParaRPr lang="zh-CN" altLang="en-US" sz="2400" dirty="0" smtClean="0"/>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3362" name="Rectangle 2"/>
          <p:cNvSpPr>
            <a:spLocks noGrp="1" noChangeArrowheads="1"/>
          </p:cNvSpPr>
          <p:nvPr>
            <p:ph type="title"/>
          </p:nvPr>
        </p:nvSpPr>
        <p:spPr/>
        <p:txBody>
          <a:bodyPr/>
          <a:lstStyle/>
          <a:p>
            <a:pPr eaLnBrk="1" hangingPunct="1">
              <a:defRPr/>
            </a:pPr>
            <a:r>
              <a:rPr lang="zh-CN" altLang="en-US" sz="5400" smtClean="0"/>
              <a:t>连接图</a:t>
            </a:r>
            <a:endParaRPr lang="zh-CN" altLang="en-US" sz="5400" smtClean="0"/>
          </a:p>
        </p:txBody>
      </p:sp>
      <p:sp>
        <p:nvSpPr>
          <p:cNvPr id="9728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97284"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2</a:t>
            </a:r>
            <a:endParaRPr lang="zh-CN" altLang="en-US" sz="1200" b="0">
              <a:latin typeface="幼圆" panose="02010509060101010101" pitchFamily="49" charset="-122"/>
              <a:ea typeface="幼圆" panose="02010509060101010101" pitchFamily="49" charset="-122"/>
            </a:endParaRPr>
          </a:p>
        </p:txBody>
      </p:sp>
      <p:pic>
        <p:nvPicPr>
          <p:cNvPr id="97285" name="Picture 7" descr="AppA-fig31"/>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b="15497"/>
          <a:stretch>
            <a:fillRect/>
          </a:stretch>
        </p:blipFill>
        <p:spPr bwMode="auto">
          <a:xfrm>
            <a:off x="827088" y="2060575"/>
            <a:ext cx="8077200" cy="421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random/>
    <p:sndAc>
      <p:stSnd>
        <p:snd r:embed="rId5" name="projctor.wav"/>
      </p:stSnd>
    </p:sndAc>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4480" name="Rectangle 96"/>
          <p:cNvSpPr>
            <a:spLocks noGrp="1" noChangeArrowheads="1"/>
          </p:cNvSpPr>
          <p:nvPr>
            <p:ph type="title"/>
          </p:nvPr>
        </p:nvSpPr>
        <p:spPr/>
        <p:txBody>
          <a:bodyPr/>
          <a:lstStyle/>
          <a:p>
            <a:pPr eaLnBrk="1" hangingPunct="1">
              <a:defRPr/>
            </a:pPr>
            <a:r>
              <a:rPr lang="zh-CN" altLang="en-US" smtClean="0"/>
              <a:t>一组独立的浮点操作流水线时序 </a:t>
            </a:r>
            <a:endParaRPr lang="zh-CN" altLang="en-US" smtClean="0"/>
          </a:p>
        </p:txBody>
      </p:sp>
      <p:sp>
        <p:nvSpPr>
          <p:cNvPr id="784481" name="Rectangle 97"/>
          <p:cNvSpPr>
            <a:spLocks noGrp="1" noChangeArrowheads="1"/>
          </p:cNvSpPr>
          <p:nvPr>
            <p:ph type="body" idx="1"/>
          </p:nvPr>
        </p:nvSpPr>
        <p:spPr>
          <a:xfrm>
            <a:off x="827088" y="5300663"/>
            <a:ext cx="8316912" cy="576262"/>
          </a:xfrm>
        </p:spPr>
        <p:txBody>
          <a:bodyPr/>
          <a:lstStyle/>
          <a:p>
            <a:pPr eaLnBrk="1" hangingPunct="1">
              <a:buFont typeface="Wingdings" panose="05000000000000000000" pitchFamily="2" charset="2"/>
              <a:buNone/>
              <a:defRPr/>
            </a:pPr>
            <a:r>
              <a:rPr lang="zh-CN" altLang="en-US" sz="2400" i="1" smtClean="0">
                <a:solidFill>
                  <a:srgbClr val="0000CC"/>
                </a:solidFill>
                <a:effectLst>
                  <a:outerShdw blurRad="38100" dist="38100" dir="2700000" algn="tl">
                    <a:srgbClr val="C0C0C0"/>
                  </a:outerShdw>
                </a:effectLst>
              </a:rPr>
              <a:t>蓝色斜体的流水段</a:t>
            </a:r>
            <a:r>
              <a:rPr lang="zh-CN" altLang="en-US" sz="2400" smtClean="0"/>
              <a:t>需要数据，</a:t>
            </a:r>
            <a:r>
              <a:rPr lang="zh-CN" altLang="en-US" sz="2400" smtClean="0">
                <a:solidFill>
                  <a:srgbClr val="FF0000"/>
                </a:solidFill>
                <a:effectLst>
                  <a:outerShdw blurRad="38100" dist="38100" dir="2700000" algn="tl">
                    <a:srgbClr val="C0C0C0"/>
                  </a:outerShdw>
                </a:effectLst>
              </a:rPr>
              <a:t>红色的流水段</a:t>
            </a:r>
            <a:r>
              <a:rPr lang="zh-CN" altLang="en-US" sz="2400" smtClean="0"/>
              <a:t>已经得到结果。</a:t>
            </a:r>
            <a:endParaRPr lang="zh-CN" altLang="en-US" sz="2400" smtClean="0"/>
          </a:p>
        </p:txBody>
      </p:sp>
      <p:sp>
        <p:nvSpPr>
          <p:cNvPr id="98308"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示例环境说明</a:t>
            </a:r>
            <a:endParaRPr lang="zh-CN" altLang="en-US" sz="1200" b="0">
              <a:latin typeface="Times New Roman" panose="02020603050405020304" pitchFamily="18" charset="0"/>
              <a:ea typeface="幼圆" panose="02010509060101010101" pitchFamily="49" charset="-122"/>
            </a:endParaRPr>
          </a:p>
        </p:txBody>
      </p:sp>
      <p:sp>
        <p:nvSpPr>
          <p:cNvPr id="98309"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3</a:t>
            </a:r>
            <a:endParaRPr lang="zh-CN" altLang="en-US" sz="1200" b="0">
              <a:latin typeface="幼圆" panose="02010509060101010101" pitchFamily="49" charset="-122"/>
              <a:ea typeface="幼圆" panose="02010509060101010101" pitchFamily="49" charset="-122"/>
            </a:endParaRPr>
          </a:p>
        </p:txBody>
      </p:sp>
      <p:graphicFrame>
        <p:nvGraphicFramePr>
          <p:cNvPr id="784576" name="Group 192"/>
          <p:cNvGraphicFramePr>
            <a:graphicFrameLocks noGrp="1"/>
          </p:cNvGraphicFramePr>
          <p:nvPr/>
        </p:nvGraphicFramePr>
        <p:xfrm>
          <a:off x="900113" y="2420938"/>
          <a:ext cx="7924800" cy="2514600"/>
        </p:xfrm>
        <a:graphic>
          <a:graphicData uri="http://schemas.openxmlformats.org/drawingml/2006/table">
            <a:tbl>
              <a:tblPr/>
              <a:tblGrid>
                <a:gridCol w="838200"/>
                <a:gridCol w="609600"/>
                <a:gridCol w="685800"/>
                <a:gridCol w="685800"/>
                <a:gridCol w="685800"/>
                <a:gridCol w="685800"/>
                <a:gridCol w="685800"/>
                <a:gridCol w="609600"/>
                <a:gridCol w="609600"/>
                <a:gridCol w="609600"/>
                <a:gridCol w="609600"/>
                <a:gridCol w="609600"/>
              </a:tblGrid>
              <a:tr h="6286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MUL.D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cap="flat">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rPr>
                        <a:t>M1</a:t>
                      </a:r>
                      <a:endPar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M2</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M3</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M4</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M5</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M6</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M7</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MEM</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WB</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cap="flat">
                      <a:noFill/>
                    </a:lnR>
                    <a:lnT w="28575" cap="flat" cmpd="sng" algn="ctr">
                      <a:solidFill>
                        <a:schemeClr val="tx1"/>
                      </a:solidFill>
                      <a:prstDash val="solid"/>
                      <a:round/>
                      <a:headEnd type="none" w="med" len="med"/>
                      <a:tailEnd type="none" w="med" len="med"/>
                    </a:lnT>
                    <a:lnB>
                      <a:noFill/>
                    </a:lnB>
                    <a:lnTlToBr>
                      <a:noFill/>
                    </a:lnTlToBr>
                    <a:lnBlToTr>
                      <a:noFill/>
                    </a:lnBlToTr>
                    <a:noFill/>
                  </a:tcPr>
                </a:tc>
              </a:tr>
              <a:tr h="6286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ADD.D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cap="flat">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rPr>
                        <a:t>A1</a:t>
                      </a:r>
                      <a:endPar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A2</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A3</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A4</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MEM</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WB</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cap="flat">
                      <a:noFill/>
                    </a:lnR>
                    <a:lnT>
                      <a:noFill/>
                    </a:lnT>
                    <a:lnB>
                      <a:noFill/>
                    </a:lnB>
                    <a:lnTlToBr>
                      <a:noFill/>
                    </a:lnTlToBr>
                    <a:lnBlToTr>
                      <a:noFill/>
                    </a:lnBlToTr>
                    <a:noFill/>
                  </a:tcPr>
                </a:tc>
              </a:tr>
              <a:tr h="6286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L.D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cap="flat">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rPr>
                        <a:t>EX</a:t>
                      </a:r>
                      <a:endPar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MEM</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WB</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cap="flat">
                      <a:noFill/>
                    </a:lnR>
                    <a:lnT>
                      <a:noFill/>
                    </a:lnT>
                    <a:lnB>
                      <a:noFill/>
                    </a:lnB>
                    <a:lnTlToBr>
                      <a:noFill/>
                    </a:lnTlToBr>
                    <a:lnBlToTr>
                      <a:noFill/>
                    </a:lnBlToTr>
                    <a:noFill/>
                  </a:tcPr>
                </a:tc>
              </a:tr>
              <a:tr h="6286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S.D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cap="flat">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rPr>
                        <a:t>EX</a:t>
                      </a:r>
                      <a:endPar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rPr>
                        <a:t>MEM</a:t>
                      </a:r>
                      <a:endPar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WB</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cap="flat">
                      <a:noFill/>
                    </a:lnR>
                    <a:lnT>
                      <a:noFill/>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slow">
    <p:random/>
    <p:sndAc>
      <p:stSnd>
        <p:snd r:embed="rId4" name="projctor.wav"/>
      </p:stSnd>
    </p:sndAc>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3314" name="Rectangle 2"/>
          <p:cNvSpPr>
            <a:spLocks noGrp="1" noChangeArrowheads="1"/>
          </p:cNvSpPr>
          <p:nvPr>
            <p:ph type="title"/>
          </p:nvPr>
        </p:nvSpPr>
        <p:spPr/>
        <p:txBody>
          <a:bodyPr/>
          <a:lstStyle/>
          <a:p>
            <a:pPr eaLnBrk="1" hangingPunct="1">
              <a:defRPr/>
            </a:pPr>
            <a:r>
              <a:rPr lang="zh-CN" altLang="en-US" sz="5400" smtClean="0"/>
              <a:t>资源相关</a:t>
            </a:r>
            <a:endParaRPr lang="zh-CN" altLang="en-US" sz="5400" smtClean="0"/>
          </a:p>
        </p:txBody>
      </p:sp>
      <p:sp>
        <p:nvSpPr>
          <p:cNvPr id="9933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endParaRPr lang="zh-CN" altLang="en-US" sz="1200" b="0">
              <a:latin typeface="Times New Roman" panose="02020603050405020304" pitchFamily="18" charset="0"/>
              <a:ea typeface="幼圆" panose="02010509060101010101" pitchFamily="49" charset="-122"/>
            </a:endParaRPr>
          </a:p>
        </p:txBody>
      </p:sp>
      <p:sp>
        <p:nvSpPr>
          <p:cNvPr id="653316" name="Rectangle 4"/>
          <p:cNvSpPr>
            <a:spLocks noGrp="1" noChangeArrowheads="1"/>
          </p:cNvSpPr>
          <p:nvPr>
            <p:ph type="body" idx="1"/>
          </p:nvPr>
        </p:nvSpPr>
        <p:spPr>
          <a:xfrm>
            <a:off x="685800" y="1989138"/>
            <a:ext cx="8081963" cy="4487862"/>
          </a:xfrm>
        </p:spPr>
        <p:txBody>
          <a:bodyPr/>
          <a:lstStyle/>
          <a:p>
            <a:pPr marL="0" indent="0" eaLnBrk="1" hangingPunct="1">
              <a:lnSpc>
                <a:spcPct val="105000"/>
              </a:lnSpc>
              <a:buFont typeface="Wingdings" panose="05000000000000000000" pitchFamily="2" charset="2"/>
              <a:buNone/>
              <a:defRPr/>
            </a:pPr>
            <a:r>
              <a:rPr lang="zh-CN" altLang="en-US" sz="2800" dirty="0" smtClean="0"/>
              <a:t>      </a:t>
            </a:r>
            <a:r>
              <a:rPr lang="zh-CN" altLang="en-US" sz="2800" dirty="0" smtClean="0">
                <a:solidFill>
                  <a:srgbClr val="0000CC"/>
                </a:solidFill>
                <a:effectLst>
                  <a:outerShdw blurRad="38100" dist="38100" dir="2700000" algn="tl">
                    <a:srgbClr val="C0C0C0"/>
                  </a:outerShdw>
                </a:effectLst>
              </a:rPr>
              <a:t>因为资源冲突而导致流水线断流。也称</a:t>
            </a:r>
            <a:r>
              <a:rPr lang="zh-CN" altLang="en-US" sz="2800" dirty="0" smtClean="0">
                <a:solidFill>
                  <a:srgbClr val="FF0000"/>
                </a:solidFill>
                <a:effectLst>
                  <a:outerShdw blurRad="38100" dist="38100" dir="2700000" algn="tl">
                    <a:srgbClr val="C0C0C0"/>
                  </a:outerShdw>
                </a:effectLst>
              </a:rPr>
              <a:t>结构</a:t>
            </a:r>
            <a:r>
              <a:rPr lang="zh-CN" altLang="en-US" sz="2800" dirty="0" smtClean="0">
                <a:solidFill>
                  <a:srgbClr val="0000CC"/>
                </a:solidFill>
                <a:effectLst>
                  <a:outerShdw blurRad="38100" dist="38100" dir="2700000" algn="tl">
                    <a:srgbClr val="C0C0C0"/>
                  </a:outerShdw>
                </a:effectLst>
              </a:rPr>
              <a:t>相关。</a:t>
            </a:r>
            <a:endParaRPr lang="zh-CN" altLang="en-US" sz="2800" dirty="0" smtClean="0">
              <a:solidFill>
                <a:srgbClr val="0000CC"/>
              </a:solidFill>
              <a:effectLst>
                <a:outerShdw blurRad="38100" dist="38100" dir="2700000" algn="tl">
                  <a:srgbClr val="C0C0C0"/>
                </a:outerShdw>
              </a:effectLst>
            </a:endParaRPr>
          </a:p>
          <a:p>
            <a:pPr marL="809625" indent="-809625" defTabSz="714375" eaLnBrk="1" hangingPunct="1">
              <a:lnSpc>
                <a:spcPct val="105000"/>
              </a:lnSpc>
              <a:buFont typeface="Wingdings" panose="05000000000000000000" pitchFamily="2" charset="2"/>
              <a:buNone/>
              <a:defRPr/>
            </a:pPr>
            <a:r>
              <a:rPr lang="zh-CN" altLang="en-US" sz="2800" dirty="0" smtClean="0">
                <a:solidFill>
                  <a:srgbClr val="FF0000"/>
                </a:solidFill>
                <a:effectLst>
                  <a:outerShdw blurRad="38100" dist="38100" dir="2700000" algn="tl">
                    <a:srgbClr val="C0C0C0"/>
                  </a:outerShdw>
                </a:effectLst>
              </a:rPr>
              <a:t>例1:</a:t>
            </a:r>
            <a:r>
              <a:rPr lang="zh-CN" altLang="en-US" sz="2800" dirty="0" smtClean="0"/>
              <a:t> 指重叠指令或流水线中的指令同时要用同一个功能部件，实际上是一种冲突。非线性流水线的调度就是为了尽量避免资源使用上的冲突。</a:t>
            </a:r>
            <a:endParaRPr lang="zh-CN" altLang="en-US" sz="2800" dirty="0" smtClean="0"/>
          </a:p>
          <a:p>
            <a:pPr marL="809625" indent="-809625" eaLnBrk="1" hangingPunct="1">
              <a:buFont typeface="Wingdings" panose="05000000000000000000" pitchFamily="2" charset="2"/>
              <a:buNone/>
              <a:defRPr/>
            </a:pPr>
            <a:r>
              <a:rPr lang="zh-CN" altLang="en-US" sz="2800" dirty="0" smtClean="0">
                <a:solidFill>
                  <a:srgbClr val="FF0000"/>
                </a:solidFill>
                <a:effectLst>
                  <a:outerShdw blurRad="38100" dist="38100" dir="2700000" algn="tl">
                    <a:srgbClr val="C0C0C0"/>
                  </a:outerShdw>
                </a:effectLst>
              </a:rPr>
              <a:t>例2:</a:t>
            </a:r>
            <a:r>
              <a:rPr lang="zh-CN" altLang="en-US" sz="2800" dirty="0" smtClean="0"/>
              <a:t> 后面介绍的</a:t>
            </a:r>
            <a:r>
              <a:rPr lang="en-US" altLang="zh-CN" sz="2800" dirty="0" smtClean="0"/>
              <a:t>RISC</a:t>
            </a:r>
            <a:r>
              <a:rPr lang="zh-CN" altLang="en-US" sz="2800" dirty="0" smtClean="0"/>
              <a:t>指令流水线当指令和数据共享同一个存储器时，也会出现资源冲突（见后图）。</a:t>
            </a:r>
            <a:endParaRPr lang="zh-CN" altLang="en-US" sz="2800" dirty="0" smtClean="0"/>
          </a:p>
        </p:txBody>
      </p:sp>
      <p:sp>
        <p:nvSpPr>
          <p:cNvPr id="99333"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00354" name="Picture 8" descr="AppA-fig04"/>
          <p:cNvPicPr>
            <a:picLocks noChangeAspect="1" noChangeArrowheads="1"/>
          </p:cNvPicPr>
          <p:nvPr/>
        </p:nvPicPr>
        <p:blipFill>
          <a:blip r:embed="rId1">
            <a:extLst>
              <a:ext uri="{28A0092B-C50C-407E-A947-70E740481C1C}">
                <a14:useLocalDpi xmlns:a14="http://schemas.microsoft.com/office/drawing/2010/main" val="0"/>
              </a:ext>
            </a:extLst>
          </a:blip>
          <a:srcRect b="13875"/>
          <a:stretch>
            <a:fillRect/>
          </a:stretch>
        </p:blipFill>
        <p:spPr bwMode="auto">
          <a:xfrm>
            <a:off x="381000" y="304800"/>
            <a:ext cx="8382000" cy="5753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355" name="Text Box 2"/>
          <p:cNvSpPr txBox="1">
            <a:spLocks noChangeArrowheads="1"/>
          </p:cNvSpPr>
          <p:nvPr/>
        </p:nvSpPr>
        <p:spPr bwMode="auto">
          <a:xfrm>
            <a:off x="304800" y="6172200"/>
            <a:ext cx="8610600" cy="396875"/>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2000">
                <a:latin typeface="Comic Sans MS" panose="030F0702030302020204" pitchFamily="66" charset="0"/>
              </a:rPr>
              <a:t>MIPS</a:t>
            </a:r>
            <a:r>
              <a:rPr lang="zh-CN" altLang="en-US" sz="2000">
                <a:latin typeface="Comic Sans MS" panose="030F0702030302020204" pitchFamily="66" charset="0"/>
              </a:rPr>
              <a:t>基本流水线当指令和数据共享同一个存储器时会出现资源冲突</a:t>
            </a:r>
            <a:endParaRPr lang="zh-CN" altLang="en-US" sz="2000">
              <a:latin typeface="Comic Sans MS" panose="030F0702030302020204" pitchFamily="66" charset="0"/>
            </a:endParaRPr>
          </a:p>
        </p:txBody>
      </p:sp>
      <p:sp>
        <p:nvSpPr>
          <p:cNvPr id="100356" name="Text Box 3"/>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2</a:t>
            </a:r>
            <a:endParaRPr lang="zh-CN" altLang="en-US" sz="1200" b="0">
              <a:latin typeface="幼圆" panose="02010509060101010101" pitchFamily="49" charset="-122"/>
              <a:ea typeface="幼圆" panose="02010509060101010101" pitchFamily="49" charset="-122"/>
            </a:endParaRPr>
          </a:p>
        </p:txBody>
      </p:sp>
      <p:sp>
        <p:nvSpPr>
          <p:cNvPr id="100357" name="Oval 11"/>
          <p:cNvSpPr>
            <a:spLocks noChangeArrowheads="1"/>
          </p:cNvSpPr>
          <p:nvPr/>
        </p:nvSpPr>
        <p:spPr bwMode="auto">
          <a:xfrm>
            <a:off x="152400" y="4495800"/>
            <a:ext cx="1066800" cy="4572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00358" name="Oval 12"/>
          <p:cNvSpPr>
            <a:spLocks noChangeArrowheads="1"/>
          </p:cNvSpPr>
          <p:nvPr/>
        </p:nvSpPr>
        <p:spPr bwMode="auto">
          <a:xfrm>
            <a:off x="152400" y="1295400"/>
            <a:ext cx="685800" cy="3810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672783" name="AutoShape 15"/>
          <p:cNvSpPr>
            <a:spLocks noChangeArrowheads="1"/>
          </p:cNvSpPr>
          <p:nvPr/>
        </p:nvSpPr>
        <p:spPr bwMode="auto">
          <a:xfrm>
            <a:off x="3429000" y="4191000"/>
            <a:ext cx="1828800" cy="990600"/>
          </a:xfrm>
          <a:prstGeom prst="irregularSeal2">
            <a:avLst/>
          </a:prstGeom>
          <a:noFill/>
          <a:ln w="28575">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672784" name="AutoShape 16"/>
          <p:cNvSpPr>
            <a:spLocks noChangeArrowheads="1"/>
          </p:cNvSpPr>
          <p:nvPr/>
        </p:nvSpPr>
        <p:spPr bwMode="auto">
          <a:xfrm>
            <a:off x="3429000" y="990600"/>
            <a:ext cx="1828800" cy="990600"/>
          </a:xfrm>
          <a:prstGeom prst="irregularSeal2">
            <a:avLst/>
          </a:prstGeom>
          <a:noFill/>
          <a:ln w="28575">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00361" name="Text Box 17"/>
          <p:cNvSpPr txBox="1">
            <a:spLocks noChangeArrowheads="1"/>
          </p:cNvSpPr>
          <p:nvPr/>
        </p:nvSpPr>
        <p:spPr bwMode="auto">
          <a:xfrm>
            <a:off x="1116013" y="1916113"/>
            <a:ext cx="7191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en-US" altLang="zh-CN" sz="1600">
                <a:solidFill>
                  <a:srgbClr val="000000"/>
                </a:solidFill>
                <a:latin typeface="Comic Sans MS" panose="030F0702030302020204" pitchFamily="66" charset="0"/>
              </a:rPr>
              <a:t>IF</a:t>
            </a:r>
            <a:r>
              <a:rPr lang="zh-CN" altLang="en-US" sz="1600">
                <a:solidFill>
                  <a:srgbClr val="000000"/>
                </a:solidFill>
                <a:latin typeface="Comic Sans MS" panose="030F0702030302020204" pitchFamily="66" charset="0"/>
              </a:rPr>
              <a:t>段</a:t>
            </a:r>
            <a:endParaRPr lang="zh-CN" altLang="en-US" sz="1600">
              <a:solidFill>
                <a:srgbClr val="000000"/>
              </a:solidFill>
              <a:latin typeface="Comic Sans MS" panose="030F0702030302020204" pitchFamily="66" charset="0"/>
            </a:endParaRPr>
          </a:p>
        </p:txBody>
      </p:sp>
      <p:sp>
        <p:nvSpPr>
          <p:cNvPr id="100362" name="Text Box 18"/>
          <p:cNvSpPr txBox="1">
            <a:spLocks noChangeArrowheads="1"/>
          </p:cNvSpPr>
          <p:nvPr/>
        </p:nvSpPr>
        <p:spPr bwMode="auto">
          <a:xfrm>
            <a:off x="1979613" y="1916113"/>
            <a:ext cx="863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en-US" altLang="zh-CN" sz="1600">
                <a:solidFill>
                  <a:srgbClr val="000000"/>
                </a:solidFill>
                <a:latin typeface="Comic Sans MS" panose="030F0702030302020204" pitchFamily="66" charset="0"/>
              </a:rPr>
              <a:t>ID</a:t>
            </a:r>
            <a:r>
              <a:rPr lang="zh-CN" altLang="en-US" sz="1600">
                <a:solidFill>
                  <a:srgbClr val="000000"/>
                </a:solidFill>
                <a:latin typeface="Comic Sans MS" panose="030F0702030302020204" pitchFamily="66" charset="0"/>
              </a:rPr>
              <a:t>段</a:t>
            </a:r>
            <a:endParaRPr lang="zh-CN" altLang="en-US" sz="1600">
              <a:solidFill>
                <a:srgbClr val="000000"/>
              </a:solidFill>
              <a:latin typeface="Comic Sans MS" panose="030F0702030302020204" pitchFamily="66" charset="0"/>
            </a:endParaRPr>
          </a:p>
        </p:txBody>
      </p:sp>
      <p:sp>
        <p:nvSpPr>
          <p:cNvPr id="100363" name="Text Box 19"/>
          <p:cNvSpPr txBox="1">
            <a:spLocks noChangeArrowheads="1"/>
          </p:cNvSpPr>
          <p:nvPr/>
        </p:nvSpPr>
        <p:spPr bwMode="auto">
          <a:xfrm>
            <a:off x="2916238" y="1916113"/>
            <a:ext cx="79216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en-US" altLang="zh-CN" sz="1600">
                <a:solidFill>
                  <a:srgbClr val="000000"/>
                </a:solidFill>
                <a:latin typeface="Comic Sans MS" panose="030F0702030302020204" pitchFamily="66" charset="0"/>
              </a:rPr>
              <a:t>EX</a:t>
            </a:r>
            <a:r>
              <a:rPr lang="zh-CN" altLang="en-US" sz="1600">
                <a:solidFill>
                  <a:srgbClr val="000000"/>
                </a:solidFill>
                <a:latin typeface="Comic Sans MS" panose="030F0702030302020204" pitchFamily="66" charset="0"/>
              </a:rPr>
              <a:t>段</a:t>
            </a:r>
            <a:endParaRPr lang="zh-CN" altLang="en-US" sz="1600">
              <a:solidFill>
                <a:srgbClr val="000000"/>
              </a:solidFill>
              <a:latin typeface="Comic Sans MS" panose="030F0702030302020204" pitchFamily="66" charset="0"/>
            </a:endParaRPr>
          </a:p>
        </p:txBody>
      </p:sp>
      <p:sp>
        <p:nvSpPr>
          <p:cNvPr id="100364" name="Text Box 20"/>
          <p:cNvSpPr txBox="1">
            <a:spLocks noChangeArrowheads="1"/>
          </p:cNvSpPr>
          <p:nvPr/>
        </p:nvSpPr>
        <p:spPr bwMode="auto">
          <a:xfrm>
            <a:off x="3779838" y="1916113"/>
            <a:ext cx="100806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en-US" altLang="zh-CN" sz="1600">
                <a:solidFill>
                  <a:srgbClr val="000000"/>
                </a:solidFill>
                <a:latin typeface="Comic Sans MS" panose="030F0702030302020204" pitchFamily="66" charset="0"/>
              </a:rPr>
              <a:t>MEM</a:t>
            </a:r>
            <a:r>
              <a:rPr lang="zh-CN" altLang="en-US" sz="1600">
                <a:solidFill>
                  <a:srgbClr val="000000"/>
                </a:solidFill>
                <a:latin typeface="Comic Sans MS" panose="030F0702030302020204" pitchFamily="66" charset="0"/>
              </a:rPr>
              <a:t>段</a:t>
            </a:r>
            <a:endParaRPr lang="zh-CN" altLang="en-US" sz="1600">
              <a:solidFill>
                <a:srgbClr val="000000"/>
              </a:solidFill>
              <a:latin typeface="Comic Sans MS" panose="030F0702030302020204" pitchFamily="66" charset="0"/>
            </a:endParaRPr>
          </a:p>
        </p:txBody>
      </p:sp>
      <p:sp>
        <p:nvSpPr>
          <p:cNvPr id="100365" name="Text Box 21"/>
          <p:cNvSpPr txBox="1">
            <a:spLocks noChangeArrowheads="1"/>
          </p:cNvSpPr>
          <p:nvPr/>
        </p:nvSpPr>
        <p:spPr bwMode="auto">
          <a:xfrm>
            <a:off x="4859338" y="1916113"/>
            <a:ext cx="8651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en-US" altLang="zh-CN" sz="1600">
                <a:solidFill>
                  <a:srgbClr val="000000"/>
                </a:solidFill>
                <a:latin typeface="Comic Sans MS" panose="030F0702030302020204" pitchFamily="66" charset="0"/>
              </a:rPr>
              <a:t>WB</a:t>
            </a:r>
            <a:r>
              <a:rPr lang="zh-CN" altLang="en-US" sz="1600">
                <a:solidFill>
                  <a:srgbClr val="000000"/>
                </a:solidFill>
                <a:latin typeface="Comic Sans MS" panose="030F0702030302020204" pitchFamily="66" charset="0"/>
              </a:rPr>
              <a:t>段</a:t>
            </a:r>
            <a:endParaRPr lang="zh-CN" altLang="en-US" sz="1600">
              <a:solidFill>
                <a:srgbClr val="000000"/>
              </a:solidFill>
              <a:latin typeface="Comic Sans MS" panose="030F0702030302020204" pitchFamily="66" charset="0"/>
            </a:endParaRPr>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grpId="0" nodeType="clickEffect">
                                  <p:stCondLst>
                                    <p:cond delay="0"/>
                                  </p:stCondLst>
                                  <p:childTnLst>
                                    <p:set>
                                      <p:cBhvr>
                                        <p:cTn id="6" dur="1" fill="hold">
                                          <p:stCondLst>
                                            <p:cond delay="499"/>
                                          </p:stCondLst>
                                        </p:cTn>
                                        <p:tgtEl>
                                          <p:spTgt spid="672784"/>
                                        </p:tgtEl>
                                        <p:attrNameLst>
                                          <p:attrName>style.visibility</p:attrName>
                                        </p:attrNameLst>
                                      </p:cBhvr>
                                      <p:to>
                                        <p:strVal val="visible"/>
                                      </p:to>
                                    </p:set>
                                    <p:anim to="" calcmode="lin" valueType="num">
                                      <p:cBhvr>
                                        <p:cTn id="7" dur="1" fill="hold"/>
                                        <p:tgtEl>
                                          <p:spTgt spid="672784"/>
                                        </p:tgtEl>
                                      </p:cBhvr>
                                    </p:anim>
                                  </p:childTnLst>
                                </p:cTn>
                              </p:par>
                            </p:childTnLst>
                          </p:cTn>
                        </p:par>
                      </p:childTnLst>
                    </p:cTn>
                  </p:par>
                  <p:par>
                    <p:cTn id="8" fill="hold">
                      <p:stCondLst>
                        <p:cond delay="indefinite"/>
                      </p:stCondLst>
                      <p:childTnLst>
                        <p:par>
                          <p:cTn id="9" fill="hold">
                            <p:stCondLst>
                              <p:cond delay="0"/>
                            </p:stCondLst>
                            <p:childTnLst>
                              <p:par>
                                <p:cTn id="10" presetID="24" presetClass="entr" presetSubtype="0" fill="hold" grpId="0" nodeType="clickEffect">
                                  <p:stCondLst>
                                    <p:cond delay="0"/>
                                  </p:stCondLst>
                                  <p:childTnLst>
                                    <p:set>
                                      <p:cBhvr>
                                        <p:cTn id="11" dur="1" fill="hold">
                                          <p:stCondLst>
                                            <p:cond delay="499"/>
                                          </p:stCondLst>
                                        </p:cTn>
                                        <p:tgtEl>
                                          <p:spTgt spid="672783"/>
                                        </p:tgtEl>
                                        <p:attrNameLst>
                                          <p:attrName>style.visibility</p:attrName>
                                        </p:attrNameLst>
                                      </p:cBhvr>
                                      <p:to>
                                        <p:strVal val="visible"/>
                                      </p:to>
                                    </p:set>
                                    <p:anim to="" calcmode="lin" valueType="num">
                                      <p:cBhvr>
                                        <p:cTn id="12" dur="1" fill="hold"/>
                                        <p:tgtEl>
                                          <p:spTgt spid="672783"/>
                                        </p:tgtEl>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2783" grpId="0" animBg="1"/>
      <p:bldP spid="672784"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4818" name="Rectangle 2"/>
          <p:cNvSpPr>
            <a:spLocks noGrp="1" noChangeArrowheads="1"/>
          </p:cNvSpPr>
          <p:nvPr>
            <p:ph type="title"/>
          </p:nvPr>
        </p:nvSpPr>
        <p:spPr/>
        <p:txBody>
          <a:bodyPr/>
          <a:lstStyle/>
          <a:p>
            <a:pPr eaLnBrk="1" hangingPunct="1">
              <a:defRPr/>
            </a:pPr>
            <a:r>
              <a:rPr lang="zh-CN" altLang="en-US" sz="5400" smtClean="0"/>
              <a:t>资源相关</a:t>
            </a:r>
            <a:endParaRPr lang="zh-CN" altLang="en-US" sz="5400" smtClean="0"/>
          </a:p>
        </p:txBody>
      </p:sp>
      <p:sp>
        <p:nvSpPr>
          <p:cNvPr id="10137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endParaRPr lang="zh-CN" altLang="en-US" sz="1200" b="0">
              <a:latin typeface="Times New Roman" panose="02020603050405020304" pitchFamily="18" charset="0"/>
              <a:ea typeface="幼圆" panose="02010509060101010101" pitchFamily="49" charset="-122"/>
            </a:endParaRPr>
          </a:p>
        </p:txBody>
      </p:sp>
      <p:sp>
        <p:nvSpPr>
          <p:cNvPr id="674821" name="Rectangle 5"/>
          <p:cNvSpPr>
            <a:spLocks noGrp="1" noChangeArrowheads="1"/>
          </p:cNvSpPr>
          <p:nvPr>
            <p:ph type="body" idx="1"/>
          </p:nvPr>
        </p:nvSpPr>
        <p:spPr/>
        <p:txBody>
          <a:bodyPr/>
          <a:lstStyle/>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原因分析</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defRPr/>
            </a:pPr>
            <a:r>
              <a:rPr lang="zh-CN" altLang="en-US" sz="2800" dirty="0" smtClean="0"/>
              <a:t>    主要有</a:t>
            </a:r>
            <a:r>
              <a:rPr lang="zh-CN" altLang="en-US" sz="2800" dirty="0">
                <a:sym typeface="Wingdings" panose="05000000000000000000" pitchFamily="2" charset="2"/>
              </a:rPr>
              <a:t>：</a:t>
            </a:r>
            <a:r>
              <a:rPr lang="zh-CN" altLang="en-US" sz="2800" dirty="0" smtClean="0">
                <a:sym typeface="Wingdings" panose="05000000000000000000" pitchFamily="2" charset="2"/>
              </a:rPr>
              <a:t>（</a:t>
            </a:r>
            <a:r>
              <a:rPr lang="zh-CN" altLang="en-US" sz="2800" dirty="0" smtClean="0">
                <a:solidFill>
                  <a:srgbClr val="0000FF"/>
                </a:solidFill>
                <a:sym typeface="Wingdings" panose="05000000000000000000" pitchFamily="2" charset="2"/>
              </a:rPr>
              <a:t>为减少硬件成本</a:t>
            </a:r>
            <a:r>
              <a:rPr lang="zh-CN" altLang="en-US" sz="2800" dirty="0" smtClean="0">
                <a:sym typeface="Wingdings" panose="05000000000000000000" pitchFamily="2" charset="2"/>
              </a:rPr>
              <a:t>）</a:t>
            </a:r>
            <a:endParaRPr lang="zh-CN" altLang="en-US" sz="2800" dirty="0" smtClean="0"/>
          </a:p>
          <a:p>
            <a:pPr marL="850900" lvl="1" eaLnBrk="1" hangingPunct="1">
              <a:lnSpc>
                <a:spcPct val="120000"/>
              </a:lnSpc>
              <a:defRPr/>
            </a:pPr>
            <a:r>
              <a:rPr lang="zh-CN" altLang="en-US" dirty="0" smtClean="0"/>
              <a:t>部分功能部件没有充分流水</a:t>
            </a:r>
            <a:endParaRPr lang="zh-CN" altLang="en-US" dirty="0" smtClean="0"/>
          </a:p>
          <a:p>
            <a:pPr marL="850900" lvl="1" eaLnBrk="1" hangingPunct="1">
              <a:lnSpc>
                <a:spcPct val="120000"/>
              </a:lnSpc>
              <a:defRPr/>
            </a:pPr>
            <a:r>
              <a:rPr lang="zh-CN" altLang="en-US" dirty="0" smtClean="0"/>
              <a:t>资源没有充分重复设置</a:t>
            </a:r>
            <a:endParaRPr lang="zh-CN" altLang="en-US" dirty="0" smtClean="0"/>
          </a:p>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解决方法</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defRPr/>
            </a:pPr>
            <a:r>
              <a:rPr lang="zh-CN" altLang="en-US" sz="2800" dirty="0" smtClean="0"/>
              <a:t>    可以采用</a:t>
            </a:r>
            <a:r>
              <a:rPr lang="zh-CN" altLang="en-US" sz="2800" dirty="0" smtClean="0">
                <a:solidFill>
                  <a:srgbClr val="0000FF"/>
                </a:solidFill>
                <a:effectLst>
                  <a:outerShdw blurRad="38100" dist="38100" dir="2700000" algn="tl">
                    <a:srgbClr val="C0C0C0"/>
                  </a:outerShdw>
                </a:effectLst>
              </a:rPr>
              <a:t>推后处理法</a:t>
            </a:r>
            <a:r>
              <a:rPr lang="zh-CN" altLang="en-US" sz="2800" dirty="0" smtClean="0"/>
              <a:t>来解决：暂停相关指令的执行，直到所需的功能单元能够使用为止。</a:t>
            </a:r>
            <a:endParaRPr lang="zh-CN" altLang="en-US" sz="2800" dirty="0" smtClean="0"/>
          </a:p>
        </p:txBody>
      </p:sp>
      <p:sp>
        <p:nvSpPr>
          <p:cNvPr id="101381"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42" name="Rectangle 2"/>
          <p:cNvSpPr>
            <a:spLocks noGrp="1" noChangeArrowheads="1"/>
          </p:cNvSpPr>
          <p:nvPr>
            <p:ph type="title"/>
          </p:nvPr>
        </p:nvSpPr>
        <p:spPr/>
        <p:txBody>
          <a:bodyPr/>
          <a:lstStyle/>
          <a:p>
            <a:pPr eaLnBrk="1" hangingPunct="1">
              <a:defRPr/>
            </a:pPr>
            <a:r>
              <a:rPr lang="zh-CN" altLang="en-US" sz="5400" smtClean="0"/>
              <a:t>例  子</a:t>
            </a:r>
            <a:endParaRPr lang="zh-CN" altLang="en-US" sz="5400" smtClean="0"/>
          </a:p>
        </p:txBody>
      </p:sp>
      <p:sp>
        <p:nvSpPr>
          <p:cNvPr id="10240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endParaRPr lang="zh-CN" altLang="en-US" sz="1200" b="0">
              <a:latin typeface="Times New Roman" panose="02020603050405020304" pitchFamily="18" charset="0"/>
              <a:ea typeface="幼圆" panose="02010509060101010101" pitchFamily="49" charset="-122"/>
            </a:endParaRPr>
          </a:p>
        </p:txBody>
      </p:sp>
      <p:graphicFrame>
        <p:nvGraphicFramePr>
          <p:cNvPr id="675846" name="Group 6"/>
          <p:cNvGraphicFramePr>
            <a:graphicFrameLocks noGrp="1"/>
          </p:cNvGraphicFramePr>
          <p:nvPr/>
        </p:nvGraphicFramePr>
        <p:xfrm>
          <a:off x="914400" y="2209800"/>
          <a:ext cx="8001000" cy="3998914"/>
        </p:xfrm>
        <a:graphic>
          <a:graphicData uri="http://schemas.openxmlformats.org/drawingml/2006/table">
            <a:tbl>
              <a:tblPr/>
              <a:tblGrid>
                <a:gridCol w="800100"/>
                <a:gridCol w="800100"/>
                <a:gridCol w="800100"/>
                <a:gridCol w="800100"/>
                <a:gridCol w="800100"/>
                <a:gridCol w="800100"/>
                <a:gridCol w="800100"/>
                <a:gridCol w="800100"/>
                <a:gridCol w="800100"/>
                <a:gridCol w="800100"/>
              </a:tblGrid>
              <a:tr h="5810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chemeClr val="tx1"/>
                          </a:solidFill>
                          <a:effectLst/>
                          <a:latin typeface="Tahoma" panose="020B0604030504040204" pitchFamily="34" charset="0"/>
                          <a:ea typeface="楷体_GB2312" pitchFamily="49" charset="-122"/>
                        </a:rPr>
                        <a:t>指</a:t>
                      </a:r>
                      <a:endParaRPr kumimoji="1" lang="zh-CN" altLang="en-US" sz="2400" b="1" i="0" u="none" strike="noStrike" cap="none" normalizeH="0" baseline="0" dirty="0" smtClean="0">
                        <a:ln>
                          <a:noFill/>
                        </a:ln>
                        <a:solidFill>
                          <a:schemeClr val="tx1"/>
                        </a:solidFill>
                        <a:effectLst/>
                        <a:latin typeface="Tahoma" panose="020B0604030504040204" pitchFamily="34" charset="0"/>
                        <a:ea typeface="楷体_GB2312" pitchFamily="49" charset="-122"/>
                      </a:endParaRPr>
                    </a:p>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chemeClr val="tx1"/>
                          </a:solidFill>
                          <a:effectLst/>
                          <a:latin typeface="Tahoma" panose="020B0604030504040204" pitchFamily="34" charset="0"/>
                          <a:ea typeface="楷体_GB2312" pitchFamily="49" charset="-122"/>
                        </a:rPr>
                        <a:t>令</a:t>
                      </a:r>
                      <a:endParaRPr kumimoji="1" lang="zh-CN" altLang="en-US" sz="2400" b="1" i="0" u="none" strike="noStrike" cap="none" normalizeH="0" baseline="0" dirty="0" smtClean="0">
                        <a:ln>
                          <a:noFill/>
                        </a:ln>
                        <a:solidFill>
                          <a:schemeClr val="tx1"/>
                        </a:solidFill>
                        <a:effectLst/>
                        <a:latin typeface="Tahoma" panose="020B0604030504040204" pitchFamily="34" charset="0"/>
                        <a:ea typeface="楷体_GB2312" pitchFamily="49" charset="-122"/>
                      </a:endParaRPr>
                    </a:p>
                  </a:txBody>
                  <a:tcPr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9">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rPr>
                        <a:t>时钟</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r>
              <a:tr h="579438">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rPr>
                        <a:t>1</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rPr>
                        <a:t>2</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rPr>
                        <a:t>3</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rPr>
                        <a:t>4</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rPr>
                        <a:t>5</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rPr>
                        <a:t>6</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rPr>
                        <a:t>7</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rPr>
                        <a:t>8</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rPr>
                        <a:t>9</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159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rgbClr val="0000FF"/>
                          </a:solidFill>
                          <a:effectLst/>
                          <a:latin typeface="Tahoma" panose="020B0604030504040204" pitchFamily="34" charset="0"/>
                          <a:ea typeface="楷体_GB2312" pitchFamily="49" charset="-122"/>
                        </a:rPr>
                        <a:t>load</a:t>
                      </a:r>
                      <a:endParaRPr kumimoji="1" lang="en-US" altLang="zh-CN" sz="2400" b="1" i="0" u="none" strike="noStrike" cap="none" normalizeH="0" baseline="0" dirty="0" smtClean="0">
                        <a:ln>
                          <a:noFill/>
                        </a:ln>
                        <a:solidFill>
                          <a:srgbClr val="0000FF"/>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EX</a:t>
                      </a:r>
                      <a:endPar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i+1</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Tahoma" panose="020B0604030504040204" pitchFamily="34" charset="0"/>
                          <a:ea typeface="楷体_GB2312" pitchFamily="49" charset="-122"/>
                        </a:rPr>
                        <a:t>IF</a:t>
                      </a:r>
                      <a:endParaRPr kumimoji="1" lang="zh-CN" altLang="en-US" sz="2400" b="1" i="0" u="none" strike="noStrike" cap="none" normalizeH="0" baseline="0" dirty="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i+2</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794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i+3</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rgbClr val="FF0000"/>
                          </a:solidFill>
                          <a:effectLst/>
                          <a:latin typeface="Tahoma" panose="020B0604030504040204" pitchFamily="34" charset="0"/>
                          <a:ea typeface="楷体_GB2312" pitchFamily="49" charset="-122"/>
                        </a:rPr>
                        <a:t>stall</a:t>
                      </a:r>
                      <a:endParaRPr kumimoji="1" lang="zh-CN" altLang="en-US" sz="2400" b="1" i="0" u="none" strike="noStrike" cap="none" normalizeH="0" baseline="0" smtClean="0">
                        <a:ln>
                          <a:noFill/>
                        </a:ln>
                        <a:solidFill>
                          <a:srgbClr val="FF0000"/>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i+4</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02483" name="Text Box 9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4</a:t>
            </a:r>
            <a:endParaRPr lang="zh-CN" altLang="en-US" sz="1200" b="0">
              <a:latin typeface="幼圆" panose="02010509060101010101" pitchFamily="49" charset="-122"/>
              <a:ea typeface="幼圆" panose="02010509060101010101" pitchFamily="49" charset="-122"/>
            </a:endParaRPr>
          </a:p>
        </p:txBody>
      </p:sp>
      <p:sp>
        <p:nvSpPr>
          <p:cNvPr id="102484" name="AutoShape 100"/>
          <p:cNvSpPr>
            <a:spLocks noChangeArrowheads="1"/>
          </p:cNvSpPr>
          <p:nvPr/>
        </p:nvSpPr>
        <p:spPr bwMode="auto">
          <a:xfrm>
            <a:off x="6156325" y="1916113"/>
            <a:ext cx="2519363" cy="865187"/>
          </a:xfrm>
          <a:prstGeom prst="cloudCallout">
            <a:avLst>
              <a:gd name="adj1" fmla="val -33310"/>
              <a:gd name="adj2" fmla="val 134588"/>
            </a:avLst>
          </a:prstGeom>
          <a:solidFill>
            <a:srgbClr val="FFFF00"/>
          </a:solidFill>
          <a:ln>
            <a:noFill/>
          </a:ln>
          <a:effectLst>
            <a:outerShdw dist="107763" dir="2700000" algn="ctr" rotWithShape="0">
              <a:schemeClr val="bg2">
                <a:alpha val="50000"/>
              </a:schemeClr>
            </a:outerShdw>
          </a:effectLst>
          <a:extLst>
            <a:ext uri="{91240B29-F687-4F45-9708-019B960494DF}">
              <a14:hiddenLine xmlns:a14="http://schemas.microsoft.com/office/drawing/2010/main" w="9525">
                <a:solidFill>
                  <a:schemeClr val="tx1"/>
                </a:solidFill>
                <a:rou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000">
                <a:solidFill>
                  <a:srgbClr val="0000FF"/>
                </a:solidFill>
                <a:latin typeface="Comic Sans MS" panose="030F0702030302020204" pitchFamily="66" charset="0"/>
              </a:rPr>
              <a:t>时空图的另一种画法</a:t>
            </a:r>
            <a:endParaRPr lang="zh-CN" altLang="en-US" sz="2000">
              <a:solidFill>
                <a:srgbClr val="0000FF"/>
              </a:solidFill>
              <a:latin typeface="Comic Sans MS" panose="030F0702030302020204" pitchFamily="66" charset="0"/>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0242" name="Rectangle 2"/>
          <p:cNvSpPr>
            <a:spLocks noGrp="1" noChangeArrowheads="1"/>
          </p:cNvSpPr>
          <p:nvPr>
            <p:ph type="title"/>
          </p:nvPr>
        </p:nvSpPr>
        <p:spPr/>
        <p:txBody>
          <a:bodyPr/>
          <a:lstStyle/>
          <a:p>
            <a:pPr eaLnBrk="1" hangingPunct="1">
              <a:defRPr/>
            </a:pPr>
            <a:r>
              <a:rPr lang="zh-CN" altLang="en-US" sz="5400" smtClean="0"/>
              <a:t>数据相关</a:t>
            </a:r>
            <a:endParaRPr lang="zh-CN" altLang="en-US" sz="5400" smtClean="0"/>
          </a:p>
        </p:txBody>
      </p:sp>
      <p:sp>
        <p:nvSpPr>
          <p:cNvPr id="10342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endParaRPr lang="zh-CN" altLang="en-US" sz="1200" b="0">
              <a:latin typeface="Times New Roman" panose="02020603050405020304" pitchFamily="18" charset="0"/>
              <a:ea typeface="幼圆" panose="02010509060101010101" pitchFamily="49" charset="-122"/>
            </a:endParaRPr>
          </a:p>
        </p:txBody>
      </p:sp>
      <p:sp>
        <p:nvSpPr>
          <p:cNvPr id="103428" name="Rectangle 8"/>
          <p:cNvSpPr>
            <a:spLocks noGrp="1" noChangeArrowheads="1"/>
          </p:cNvSpPr>
          <p:nvPr>
            <p:ph type="body" idx="1"/>
          </p:nvPr>
        </p:nvSpPr>
        <p:spPr>
          <a:xfrm>
            <a:off x="2771775" y="2565400"/>
            <a:ext cx="3276600" cy="3435350"/>
          </a:xfrm>
        </p:spPr>
        <p:txBody>
          <a:bodyPr/>
          <a:lstStyle/>
          <a:p>
            <a:pPr eaLnBrk="1" hangingPunct="1">
              <a:lnSpc>
                <a:spcPct val="180000"/>
              </a:lnSpc>
            </a:pPr>
            <a:r>
              <a:rPr lang="zh-CN" altLang="en-US" smtClean="0">
                <a:hlinkClick r:id="rId3" action="ppaction://hlinksldjump"/>
              </a:rPr>
              <a:t>数据相关类型</a:t>
            </a:r>
            <a:endParaRPr lang="zh-CN" altLang="en-US" smtClean="0"/>
          </a:p>
          <a:p>
            <a:pPr eaLnBrk="1" hangingPunct="1">
              <a:lnSpc>
                <a:spcPct val="180000"/>
              </a:lnSpc>
            </a:pPr>
            <a:r>
              <a:rPr lang="zh-CN" altLang="en-US" smtClean="0">
                <a:hlinkClick r:id="rId4" action="ppaction://hlinksldjump"/>
              </a:rPr>
              <a:t>数据相关解决</a:t>
            </a:r>
            <a:endParaRPr lang="zh-CN" altLang="en-US" smtClean="0"/>
          </a:p>
          <a:p>
            <a:pPr eaLnBrk="1" hangingPunct="1">
              <a:lnSpc>
                <a:spcPct val="180000"/>
              </a:lnSpc>
            </a:pPr>
            <a:r>
              <a:rPr lang="zh-CN" altLang="en-US" smtClean="0">
                <a:hlinkClick r:id="rId5" action="ppaction://hlinksldjump"/>
              </a:rPr>
              <a:t>动态调度技术</a:t>
            </a:r>
            <a:endParaRPr lang="zh-CN" altLang="en-US" smtClean="0"/>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6434" name="Rectangle 2"/>
          <p:cNvSpPr>
            <a:spLocks noGrp="1" noChangeArrowheads="1"/>
          </p:cNvSpPr>
          <p:nvPr>
            <p:ph type="title"/>
          </p:nvPr>
        </p:nvSpPr>
        <p:spPr/>
        <p:txBody>
          <a:bodyPr/>
          <a:lstStyle/>
          <a:p>
            <a:pPr eaLnBrk="1" hangingPunct="1">
              <a:defRPr/>
            </a:pPr>
            <a:r>
              <a:rPr lang="zh-CN" altLang="en-US" sz="5400" smtClean="0"/>
              <a:t>数据相关类型</a:t>
            </a:r>
            <a:endParaRPr lang="zh-CN" altLang="en-US" sz="5400" smtClean="0"/>
          </a:p>
        </p:txBody>
      </p:sp>
      <p:sp>
        <p:nvSpPr>
          <p:cNvPr id="1044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endParaRPr lang="zh-CN" altLang="en-US" sz="1200" b="0">
              <a:latin typeface="Times New Roman" panose="02020603050405020304" pitchFamily="18" charset="0"/>
              <a:ea typeface="幼圆" panose="02010509060101010101" pitchFamily="49" charset="-122"/>
            </a:endParaRPr>
          </a:p>
        </p:txBody>
      </p:sp>
      <p:sp>
        <p:nvSpPr>
          <p:cNvPr id="104452" name="Rectangle 5"/>
          <p:cNvSpPr>
            <a:spLocks noGrp="1" noChangeArrowheads="1"/>
          </p:cNvSpPr>
          <p:nvPr>
            <p:ph type="body" idx="1"/>
          </p:nvPr>
        </p:nvSpPr>
        <p:spPr>
          <a:xfrm>
            <a:off x="2484438" y="2636838"/>
            <a:ext cx="4391025" cy="3203575"/>
          </a:xfrm>
        </p:spPr>
        <p:txBody>
          <a:bodyPr/>
          <a:lstStyle/>
          <a:p>
            <a:pPr eaLnBrk="1" hangingPunct="1">
              <a:lnSpc>
                <a:spcPct val="180000"/>
              </a:lnSpc>
            </a:pPr>
            <a:r>
              <a:rPr lang="zh-CN" altLang="en-US" smtClean="0">
                <a:hlinkClick r:id="rId4" action="ppaction://hlinksldjump"/>
              </a:rPr>
              <a:t>“先写后读”相关</a:t>
            </a:r>
            <a:endParaRPr lang="en-US" altLang="zh-CN" smtClean="0"/>
          </a:p>
          <a:p>
            <a:pPr eaLnBrk="1" hangingPunct="1">
              <a:lnSpc>
                <a:spcPct val="180000"/>
              </a:lnSpc>
            </a:pPr>
            <a:r>
              <a:rPr lang="zh-CN" altLang="en-US" smtClean="0">
                <a:hlinkClick r:id="rId5" action="ppaction://hlinksldjump"/>
              </a:rPr>
              <a:t>“先读后写”相关</a:t>
            </a:r>
            <a:endParaRPr lang="en-US" altLang="zh-CN" smtClean="0"/>
          </a:p>
          <a:p>
            <a:pPr eaLnBrk="1" hangingPunct="1">
              <a:lnSpc>
                <a:spcPct val="180000"/>
              </a:lnSpc>
            </a:pPr>
            <a:r>
              <a:rPr lang="zh-CN" altLang="en-US" smtClean="0">
                <a:hlinkClick r:id="rId6" action="ppaction://hlinksldjump"/>
              </a:rPr>
              <a:t>“写写”相关</a:t>
            </a:r>
            <a:endParaRPr lang="en-US" altLang="zh-CN" smtClean="0"/>
          </a:p>
        </p:txBody>
      </p:sp>
    </p:spTree>
  </p:cSld>
  <p:clrMapOvr>
    <a:masterClrMapping/>
  </p:clrMapOvr>
  <p:transition spd="slow">
    <p:random/>
    <p:sndAc>
      <p:stSnd>
        <p:snd r:embed="rId7" name="projctor.wav"/>
      </p:stSnd>
    </p:sndAc>
  </p:transition>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458" name="Rectangle 2"/>
          <p:cNvSpPr>
            <a:spLocks noGrp="1" noChangeArrowheads="1"/>
          </p:cNvSpPr>
          <p:nvPr>
            <p:ph type="title"/>
          </p:nvPr>
        </p:nvSpPr>
        <p:spPr/>
        <p:txBody>
          <a:bodyPr/>
          <a:lstStyle/>
          <a:p>
            <a:pPr eaLnBrk="1" hangingPunct="1">
              <a:defRPr/>
            </a:pPr>
            <a:r>
              <a:rPr lang="zh-CN" altLang="en-US" sz="5400" smtClean="0"/>
              <a:t>“先写后读”相关</a:t>
            </a:r>
            <a:r>
              <a:rPr lang="zh-CN" altLang="en-US" sz="3200" smtClean="0"/>
              <a:t>（</a:t>
            </a:r>
            <a:r>
              <a:rPr lang="en-US" altLang="zh-CN" sz="3200" smtClean="0"/>
              <a:t>RAW）</a:t>
            </a:r>
            <a:endParaRPr lang="zh-CN" altLang="en-US" sz="3200" smtClean="0"/>
          </a:p>
        </p:txBody>
      </p:sp>
      <p:sp>
        <p:nvSpPr>
          <p:cNvPr id="10547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数据相关类型</a:t>
            </a:r>
            <a:endParaRPr lang="zh-CN" altLang="en-US" sz="1200" b="0">
              <a:latin typeface="Times New Roman" panose="02020603050405020304" pitchFamily="18" charset="0"/>
              <a:ea typeface="幼圆" panose="02010509060101010101" pitchFamily="49" charset="-122"/>
            </a:endParaRPr>
          </a:p>
        </p:txBody>
      </p:sp>
      <p:sp>
        <p:nvSpPr>
          <p:cNvPr id="787462" name="Rectangle 6"/>
          <p:cNvSpPr>
            <a:spLocks noGrp="1" noChangeArrowheads="1"/>
          </p:cNvSpPr>
          <p:nvPr>
            <p:ph type="body" idx="1"/>
          </p:nvPr>
        </p:nvSpPr>
        <p:spPr/>
        <p:txBody>
          <a:bodyPr/>
          <a:lstStyle/>
          <a:p>
            <a:pPr marL="0" indent="0" eaLnBrk="1" hangingPunct="1">
              <a:lnSpc>
                <a:spcPct val="120000"/>
              </a:lnSpc>
              <a:buClr>
                <a:srgbClr val="FF0000"/>
              </a:buClr>
              <a:tabLst>
                <a:tab pos="765175" algn="l"/>
              </a:tabLst>
              <a:defRPr/>
            </a:pPr>
            <a:r>
              <a:rPr lang="zh-CN" altLang="en-US" dirty="0" smtClean="0">
                <a:solidFill>
                  <a:srgbClr val="FF0000"/>
                </a:solidFill>
                <a:effectLst>
                  <a:outerShdw blurRad="38100" dist="38100" dir="2700000" algn="tl">
                    <a:srgbClr val="C0C0C0"/>
                  </a:outerShdw>
                </a:effectLst>
              </a:rPr>
              <a:t>  概念</a:t>
            </a:r>
            <a:endParaRPr lang="zh-CN" altLang="en-US"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tabLst>
                <a:tab pos="765175" algn="l"/>
              </a:tabLst>
              <a:defRPr/>
            </a:pPr>
            <a:r>
              <a:rPr lang="zh-CN" altLang="en-US" dirty="0" smtClean="0"/>
              <a:t>    有两条相邻指令</a:t>
            </a:r>
            <a:r>
              <a:rPr lang="en-US" altLang="zh-CN" dirty="0" err="1" smtClean="0"/>
              <a:t>i</a:t>
            </a:r>
            <a:r>
              <a:rPr lang="zh-CN" altLang="en-US" dirty="0" smtClean="0"/>
              <a:t>和</a:t>
            </a:r>
            <a:r>
              <a:rPr lang="en-US" altLang="zh-CN" dirty="0" smtClean="0"/>
              <a:t>j， </a:t>
            </a:r>
            <a:r>
              <a:rPr lang="en-US" altLang="zh-CN" dirty="0" err="1" smtClean="0"/>
              <a:t>i</a:t>
            </a:r>
            <a:r>
              <a:rPr lang="zh-CN" altLang="en-US" dirty="0" smtClean="0"/>
              <a:t>在</a:t>
            </a:r>
            <a:r>
              <a:rPr lang="en-US" altLang="zh-CN" dirty="0" smtClean="0"/>
              <a:t>j</a:t>
            </a:r>
            <a:r>
              <a:rPr lang="zh-CN" altLang="en-US" dirty="0" smtClean="0"/>
              <a:t>之前执行，指令</a:t>
            </a:r>
            <a:r>
              <a:rPr lang="en-US" altLang="zh-CN" dirty="0" err="1" smtClean="0"/>
              <a:t>i</a:t>
            </a:r>
            <a:r>
              <a:rPr lang="zh-CN" altLang="en-US" dirty="0" smtClean="0"/>
              <a:t>将结果写入某个存储单元，而指令</a:t>
            </a:r>
            <a:r>
              <a:rPr lang="en-US" altLang="zh-CN" dirty="0" smtClean="0"/>
              <a:t>j</a:t>
            </a:r>
            <a:r>
              <a:rPr lang="zh-CN" altLang="en-US" dirty="0" smtClean="0"/>
              <a:t>从相同存储单元中读取该数据。如果指令</a:t>
            </a:r>
            <a:r>
              <a:rPr lang="en-US" altLang="zh-CN" dirty="0" smtClean="0"/>
              <a:t>j</a:t>
            </a:r>
            <a:r>
              <a:rPr lang="zh-CN" altLang="en-US" dirty="0" smtClean="0"/>
              <a:t>想在指令</a:t>
            </a:r>
            <a:r>
              <a:rPr lang="en-US" altLang="zh-CN" dirty="0" err="1" smtClean="0"/>
              <a:t>i</a:t>
            </a:r>
            <a:r>
              <a:rPr lang="zh-CN" altLang="en-US" dirty="0" smtClean="0"/>
              <a:t>写之前去读数据，则会发生“</a:t>
            </a:r>
            <a:r>
              <a:rPr lang="zh-CN" altLang="en-US" dirty="0" smtClean="0">
                <a:solidFill>
                  <a:srgbClr val="0000FF"/>
                </a:solidFill>
              </a:rPr>
              <a:t>先写后读</a:t>
            </a:r>
            <a:r>
              <a:rPr lang="zh-CN" altLang="en-US" dirty="0" smtClean="0"/>
              <a:t>”相关，也称为</a:t>
            </a:r>
            <a:r>
              <a:rPr lang="zh-CN" altLang="en-US" dirty="0" smtClean="0">
                <a:solidFill>
                  <a:srgbClr val="0000FF"/>
                </a:solidFill>
              </a:rPr>
              <a:t>写读相关</a:t>
            </a:r>
            <a:r>
              <a:rPr lang="zh-CN" altLang="en-US" dirty="0" smtClean="0"/>
              <a:t>、</a:t>
            </a:r>
            <a:r>
              <a:rPr lang="zh-CN" altLang="en-US" dirty="0" smtClean="0">
                <a:solidFill>
                  <a:srgbClr val="0000FF"/>
                </a:solidFill>
              </a:rPr>
              <a:t>数据相关</a:t>
            </a:r>
            <a:r>
              <a:rPr lang="zh-CN" altLang="en-US" dirty="0" smtClean="0"/>
              <a:t>、 </a:t>
            </a:r>
            <a:r>
              <a:rPr lang="en-US" altLang="zh-CN" dirty="0" smtClean="0"/>
              <a:t>RAW</a:t>
            </a:r>
            <a:r>
              <a:rPr lang="zh-CN" altLang="en-US" dirty="0" smtClean="0"/>
              <a:t>相关、 </a:t>
            </a:r>
            <a:r>
              <a:rPr lang="en-US" altLang="zh-CN" dirty="0" smtClean="0"/>
              <a:t>WR</a:t>
            </a:r>
            <a:r>
              <a:rPr lang="zh-CN" altLang="en-US" dirty="0" smtClean="0"/>
              <a:t>相关等。</a:t>
            </a:r>
            <a:endParaRPr lang="en-US" altLang="zh-CN" dirty="0" smtClean="0">
              <a:solidFill>
                <a:srgbClr val="009900"/>
              </a:solidFill>
            </a:endParaRPr>
          </a:p>
        </p:txBody>
      </p:sp>
      <p:sp>
        <p:nvSpPr>
          <p:cNvPr id="105477"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0530" name="Rectangle 2"/>
          <p:cNvSpPr>
            <a:spLocks noGrp="1" noChangeArrowheads="1"/>
          </p:cNvSpPr>
          <p:nvPr>
            <p:ph type="title"/>
          </p:nvPr>
        </p:nvSpPr>
        <p:spPr/>
        <p:txBody>
          <a:bodyPr/>
          <a:lstStyle/>
          <a:p>
            <a:pPr eaLnBrk="1" hangingPunct="1">
              <a:defRPr/>
            </a:pPr>
            <a:r>
              <a:rPr lang="zh-CN" altLang="en-US" sz="5400" smtClean="0"/>
              <a:t>“先写后读”相关</a:t>
            </a:r>
            <a:r>
              <a:rPr lang="zh-CN" altLang="en-US" sz="3200" smtClean="0"/>
              <a:t>（</a:t>
            </a:r>
            <a:r>
              <a:rPr lang="en-US" altLang="zh-CN" sz="3200" smtClean="0"/>
              <a:t>RAW）</a:t>
            </a:r>
            <a:endParaRPr lang="zh-CN" altLang="en-US" sz="3200" smtClean="0"/>
          </a:p>
        </p:txBody>
      </p:sp>
      <p:sp>
        <p:nvSpPr>
          <p:cNvPr id="1064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数据相关类型</a:t>
            </a:r>
            <a:endParaRPr lang="zh-CN" altLang="en-US" sz="1200" b="0">
              <a:latin typeface="Times New Roman" panose="02020603050405020304" pitchFamily="18" charset="0"/>
              <a:ea typeface="幼圆" panose="02010509060101010101" pitchFamily="49" charset="-122"/>
            </a:endParaRPr>
          </a:p>
        </p:txBody>
      </p:sp>
      <p:sp>
        <p:nvSpPr>
          <p:cNvPr id="790532" name="Rectangle 4"/>
          <p:cNvSpPr>
            <a:spLocks noGrp="1" noChangeArrowheads="1"/>
          </p:cNvSpPr>
          <p:nvPr>
            <p:ph type="body" idx="1"/>
          </p:nvPr>
        </p:nvSpPr>
        <p:spPr>
          <a:xfrm>
            <a:off x="809625" y="1989138"/>
            <a:ext cx="7958138" cy="1681162"/>
          </a:xfrm>
        </p:spPr>
        <p:txBody>
          <a:bodyPr/>
          <a:lstStyle/>
          <a:p>
            <a:pPr marL="0" indent="0" eaLnBrk="1" hangingPunct="1">
              <a:lnSpc>
                <a:spcPct val="90000"/>
              </a:lnSpc>
              <a:buClr>
                <a:srgbClr val="FF0000"/>
              </a:buClr>
              <a:tabLst>
                <a:tab pos="765175" algn="l"/>
              </a:tabLst>
              <a:defRPr/>
            </a:pPr>
            <a:r>
              <a:rPr lang="zh-CN" altLang="en-US" smtClean="0">
                <a:solidFill>
                  <a:srgbClr val="FF0000"/>
                </a:solidFill>
                <a:effectLst>
                  <a:outerShdw blurRad="38100" dist="38100" dir="2700000" algn="tl">
                    <a:srgbClr val="C0C0C0"/>
                  </a:outerShdw>
                </a:effectLst>
              </a:rPr>
              <a:t>  例子</a:t>
            </a:r>
            <a:endParaRPr lang="zh-CN" altLang="en-US" smtClean="0">
              <a:solidFill>
                <a:srgbClr val="FF0000"/>
              </a:solidFill>
              <a:effectLst>
                <a:outerShdw blurRad="38100" dist="38100" dir="2700000" algn="tl">
                  <a:srgbClr val="C0C0C0"/>
                </a:outerShdw>
              </a:effectLst>
            </a:endParaRPr>
          </a:p>
          <a:p>
            <a:pPr marL="0" indent="0" eaLnBrk="1" hangingPunct="1">
              <a:lnSpc>
                <a:spcPct val="90000"/>
              </a:lnSpc>
              <a:buFont typeface="Wingdings" panose="05000000000000000000" pitchFamily="2" charset="2"/>
              <a:buNone/>
              <a:tabLst>
                <a:tab pos="765175" algn="l"/>
              </a:tabLst>
              <a:defRPr/>
            </a:pPr>
            <a:r>
              <a:rPr lang="en-US" altLang="zh-CN" smtClean="0"/>
              <a:t>	i：DADD </a:t>
            </a:r>
            <a:r>
              <a:rPr lang="en-US" altLang="zh-CN" smtClean="0">
                <a:solidFill>
                  <a:srgbClr val="0000CC"/>
                </a:solidFill>
                <a:effectLst>
                  <a:outerShdw blurRad="38100" dist="38100" dir="2700000" algn="tl">
                    <a:srgbClr val="C0C0C0"/>
                  </a:outerShdw>
                </a:effectLst>
              </a:rPr>
              <a:t>R1</a:t>
            </a:r>
            <a:r>
              <a:rPr lang="en-US" altLang="zh-CN" smtClean="0"/>
              <a:t>,R2,R3  </a:t>
            </a:r>
            <a:r>
              <a:rPr lang="en-US" altLang="zh-CN" smtClean="0">
                <a:solidFill>
                  <a:srgbClr val="009900"/>
                </a:solidFill>
              </a:rPr>
              <a:t>;(R2)＋(R3)→(R1)</a:t>
            </a:r>
            <a:endParaRPr lang="en-US" altLang="zh-CN" smtClean="0">
              <a:solidFill>
                <a:srgbClr val="009900"/>
              </a:solidFill>
            </a:endParaRPr>
          </a:p>
          <a:p>
            <a:pPr marL="0" indent="0" eaLnBrk="1" hangingPunct="1">
              <a:lnSpc>
                <a:spcPct val="90000"/>
              </a:lnSpc>
              <a:buFont typeface="Wingdings" panose="05000000000000000000" pitchFamily="2" charset="2"/>
              <a:buNone/>
              <a:tabLst>
                <a:tab pos="765175" algn="l"/>
              </a:tabLst>
              <a:defRPr/>
            </a:pPr>
            <a:r>
              <a:rPr lang="en-US" altLang="zh-CN" smtClean="0"/>
              <a:t>	j：DSUB R4,</a:t>
            </a:r>
            <a:r>
              <a:rPr lang="en-US" altLang="zh-CN" smtClean="0">
                <a:solidFill>
                  <a:srgbClr val="0000CC"/>
                </a:solidFill>
                <a:effectLst>
                  <a:outerShdw blurRad="38100" dist="38100" dir="2700000" algn="tl">
                    <a:srgbClr val="C0C0C0"/>
                  </a:outerShdw>
                </a:effectLst>
              </a:rPr>
              <a:t>R1</a:t>
            </a:r>
            <a:r>
              <a:rPr lang="en-US" altLang="zh-CN" smtClean="0"/>
              <a:t>,R5  </a:t>
            </a:r>
            <a:r>
              <a:rPr lang="en-US" altLang="zh-CN" smtClean="0">
                <a:solidFill>
                  <a:srgbClr val="009900"/>
                </a:solidFill>
              </a:rPr>
              <a:t>;(R1)－(R5)→(R4)</a:t>
            </a:r>
            <a:endParaRPr lang="en-US" altLang="zh-CN" smtClean="0">
              <a:solidFill>
                <a:srgbClr val="009900"/>
              </a:solidFill>
            </a:endParaRPr>
          </a:p>
        </p:txBody>
      </p:sp>
      <p:sp>
        <p:nvSpPr>
          <p:cNvPr id="106501" name="Text Box 1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
        <p:nvSpPr>
          <p:cNvPr id="790544" name="Arc 16"/>
          <p:cNvSpPr/>
          <p:nvPr/>
        </p:nvSpPr>
        <p:spPr bwMode="auto">
          <a:xfrm flipH="1" flipV="1">
            <a:off x="1042988" y="2852738"/>
            <a:ext cx="468312" cy="457200"/>
          </a:xfrm>
          <a:custGeom>
            <a:avLst/>
            <a:gdLst>
              <a:gd name="T0" fmla="*/ 0 w 24532"/>
              <a:gd name="T1" fmla="*/ 2147483647 h 43200"/>
              <a:gd name="T2" fmla="*/ 2147483647 w 24532"/>
              <a:gd name="T3" fmla="*/ 2147483647 h 43200"/>
              <a:gd name="T4" fmla="*/ 2147483647 w 24532"/>
              <a:gd name="T5" fmla="*/ 2147483647 h 43200"/>
              <a:gd name="T6" fmla="*/ 0 60000 65536"/>
              <a:gd name="T7" fmla="*/ 0 60000 65536"/>
              <a:gd name="T8" fmla="*/ 0 60000 65536"/>
            </a:gdLst>
            <a:ahLst/>
            <a:cxnLst>
              <a:cxn ang="T6">
                <a:pos x="T0" y="T1"/>
              </a:cxn>
              <a:cxn ang="T7">
                <a:pos x="T2" y="T3"/>
              </a:cxn>
              <a:cxn ang="T8">
                <a:pos x="T4" y="T5"/>
              </a:cxn>
            </a:cxnLst>
            <a:rect l="0" t="0" r="r" b="b"/>
            <a:pathLst>
              <a:path w="24532" h="43200" fill="none"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path>
              <a:path w="24532" h="43200" stroke="0"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lnTo>
                  <a:pt x="2932" y="21600"/>
                </a:lnTo>
                <a:lnTo>
                  <a:pt x="-1" y="199"/>
                </a:lnTo>
                <a:close/>
              </a:path>
            </a:pathLst>
          </a:custGeom>
          <a:noFill/>
          <a:ln w="28575">
            <a:solidFill>
              <a:srgbClr val="FF0000"/>
            </a:solidFill>
            <a:round/>
            <a:head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06503" name="Picture 17"/>
          <p:cNvPicPr>
            <a:picLocks noChangeAspect="1" noChangeArrowheads="1"/>
          </p:cNvPicPr>
          <p:nvPr/>
        </p:nvPicPr>
        <p:blipFill>
          <a:blip r:embed="rId5">
            <a:clrChange>
              <a:clrFrom>
                <a:srgbClr val="FFFFFF"/>
              </a:clrFrom>
              <a:clrTo>
                <a:srgbClr val="FFFFFF">
                  <a:alpha val="0"/>
                </a:srgbClr>
              </a:clrTo>
            </a:clrChange>
            <a:lum bright="-30000" contrast="66000"/>
            <a:extLst>
              <a:ext uri="{28A0092B-C50C-407E-A947-70E740481C1C}">
                <a14:useLocalDpi xmlns:a14="http://schemas.microsoft.com/office/drawing/2010/main" val="0"/>
              </a:ext>
            </a:extLst>
          </a:blip>
          <a:srcRect/>
          <a:stretch>
            <a:fillRect/>
          </a:stretch>
        </p:blipFill>
        <p:spPr bwMode="auto">
          <a:xfrm>
            <a:off x="990600" y="3810000"/>
            <a:ext cx="7848600" cy="2570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0546" name="Line 18"/>
          <p:cNvSpPr>
            <a:spLocks noChangeShapeType="1"/>
          </p:cNvSpPr>
          <p:nvPr/>
        </p:nvSpPr>
        <p:spPr bwMode="auto">
          <a:xfrm flipH="1">
            <a:off x="5076825" y="4724400"/>
            <a:ext cx="2159000" cy="1081088"/>
          </a:xfrm>
          <a:prstGeom prst="line">
            <a:avLst/>
          </a:prstGeom>
          <a:noFill/>
          <a:ln w="28575">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505" name="Text Box 19"/>
          <p:cNvSpPr txBox="1">
            <a:spLocks noChangeArrowheads="1"/>
          </p:cNvSpPr>
          <p:nvPr/>
        </p:nvSpPr>
        <p:spPr bwMode="auto">
          <a:xfrm>
            <a:off x="2124075" y="4019550"/>
            <a:ext cx="7191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en-US" altLang="zh-CN" sz="1600">
                <a:solidFill>
                  <a:srgbClr val="000000"/>
                </a:solidFill>
                <a:latin typeface="Comic Sans MS" panose="030F0702030302020204" pitchFamily="66" charset="0"/>
              </a:rPr>
              <a:t>IF</a:t>
            </a:r>
            <a:r>
              <a:rPr lang="zh-CN" altLang="en-US" sz="1600">
                <a:solidFill>
                  <a:srgbClr val="000000"/>
                </a:solidFill>
                <a:latin typeface="Comic Sans MS" panose="030F0702030302020204" pitchFamily="66" charset="0"/>
              </a:rPr>
              <a:t>段</a:t>
            </a:r>
            <a:endParaRPr lang="zh-CN" altLang="en-US" sz="1600">
              <a:solidFill>
                <a:srgbClr val="000000"/>
              </a:solidFill>
              <a:latin typeface="Comic Sans MS" panose="030F0702030302020204" pitchFamily="66" charset="0"/>
            </a:endParaRPr>
          </a:p>
        </p:txBody>
      </p:sp>
      <p:sp>
        <p:nvSpPr>
          <p:cNvPr id="106506" name="Text Box 20"/>
          <p:cNvSpPr txBox="1">
            <a:spLocks noChangeArrowheads="1"/>
          </p:cNvSpPr>
          <p:nvPr/>
        </p:nvSpPr>
        <p:spPr bwMode="auto">
          <a:xfrm>
            <a:off x="3203575" y="4019550"/>
            <a:ext cx="863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en-US" altLang="zh-CN" sz="1600">
                <a:solidFill>
                  <a:srgbClr val="000000"/>
                </a:solidFill>
                <a:latin typeface="Comic Sans MS" panose="030F0702030302020204" pitchFamily="66" charset="0"/>
              </a:rPr>
              <a:t>ID</a:t>
            </a:r>
            <a:r>
              <a:rPr lang="zh-CN" altLang="en-US" sz="1600">
                <a:solidFill>
                  <a:srgbClr val="000000"/>
                </a:solidFill>
                <a:latin typeface="Comic Sans MS" panose="030F0702030302020204" pitchFamily="66" charset="0"/>
              </a:rPr>
              <a:t>段</a:t>
            </a:r>
            <a:endParaRPr lang="zh-CN" altLang="en-US" sz="1600">
              <a:solidFill>
                <a:srgbClr val="000000"/>
              </a:solidFill>
              <a:latin typeface="Comic Sans MS" panose="030F0702030302020204" pitchFamily="66" charset="0"/>
            </a:endParaRPr>
          </a:p>
        </p:txBody>
      </p:sp>
      <p:sp>
        <p:nvSpPr>
          <p:cNvPr id="106507" name="Text Box 21"/>
          <p:cNvSpPr txBox="1">
            <a:spLocks noChangeArrowheads="1"/>
          </p:cNvSpPr>
          <p:nvPr/>
        </p:nvSpPr>
        <p:spPr bwMode="auto">
          <a:xfrm>
            <a:off x="4427538" y="4019550"/>
            <a:ext cx="79216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en-US" altLang="zh-CN" sz="1600">
                <a:solidFill>
                  <a:srgbClr val="000000"/>
                </a:solidFill>
                <a:latin typeface="Comic Sans MS" panose="030F0702030302020204" pitchFamily="66" charset="0"/>
              </a:rPr>
              <a:t>EX</a:t>
            </a:r>
            <a:r>
              <a:rPr lang="zh-CN" altLang="en-US" sz="1600">
                <a:solidFill>
                  <a:srgbClr val="000000"/>
                </a:solidFill>
                <a:latin typeface="Comic Sans MS" panose="030F0702030302020204" pitchFamily="66" charset="0"/>
              </a:rPr>
              <a:t>段</a:t>
            </a:r>
            <a:endParaRPr lang="zh-CN" altLang="en-US" sz="1600">
              <a:solidFill>
                <a:srgbClr val="000000"/>
              </a:solidFill>
              <a:latin typeface="Comic Sans MS" panose="030F0702030302020204" pitchFamily="66" charset="0"/>
            </a:endParaRPr>
          </a:p>
        </p:txBody>
      </p:sp>
      <p:sp>
        <p:nvSpPr>
          <p:cNvPr id="106508" name="Text Box 22"/>
          <p:cNvSpPr txBox="1">
            <a:spLocks noChangeArrowheads="1"/>
          </p:cNvSpPr>
          <p:nvPr/>
        </p:nvSpPr>
        <p:spPr bwMode="auto">
          <a:xfrm>
            <a:off x="5651500" y="4019550"/>
            <a:ext cx="100806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en-US" altLang="zh-CN" sz="1600">
                <a:solidFill>
                  <a:srgbClr val="000000"/>
                </a:solidFill>
                <a:latin typeface="Comic Sans MS" panose="030F0702030302020204" pitchFamily="66" charset="0"/>
              </a:rPr>
              <a:t>MEM</a:t>
            </a:r>
            <a:r>
              <a:rPr lang="zh-CN" altLang="en-US" sz="1600">
                <a:solidFill>
                  <a:srgbClr val="000000"/>
                </a:solidFill>
                <a:latin typeface="Comic Sans MS" panose="030F0702030302020204" pitchFamily="66" charset="0"/>
              </a:rPr>
              <a:t>段</a:t>
            </a:r>
            <a:endParaRPr lang="zh-CN" altLang="en-US" sz="1600">
              <a:solidFill>
                <a:srgbClr val="000000"/>
              </a:solidFill>
              <a:latin typeface="Comic Sans MS" panose="030F0702030302020204" pitchFamily="66" charset="0"/>
            </a:endParaRPr>
          </a:p>
        </p:txBody>
      </p:sp>
      <p:sp>
        <p:nvSpPr>
          <p:cNvPr id="106509" name="Text Box 23"/>
          <p:cNvSpPr txBox="1">
            <a:spLocks noChangeArrowheads="1"/>
          </p:cNvSpPr>
          <p:nvPr/>
        </p:nvSpPr>
        <p:spPr bwMode="auto">
          <a:xfrm>
            <a:off x="6877050" y="4019550"/>
            <a:ext cx="8651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en-US" altLang="zh-CN" sz="1600">
                <a:solidFill>
                  <a:srgbClr val="000000"/>
                </a:solidFill>
                <a:latin typeface="Comic Sans MS" panose="030F0702030302020204" pitchFamily="66" charset="0"/>
              </a:rPr>
              <a:t>WB</a:t>
            </a:r>
            <a:r>
              <a:rPr lang="zh-CN" altLang="en-US" sz="1600">
                <a:solidFill>
                  <a:srgbClr val="000000"/>
                </a:solidFill>
                <a:latin typeface="Comic Sans MS" panose="030F0702030302020204" pitchFamily="66" charset="0"/>
              </a:rPr>
              <a:t>段</a:t>
            </a:r>
            <a:endParaRPr lang="zh-CN" altLang="en-US" sz="1600">
              <a:solidFill>
                <a:srgbClr val="000000"/>
              </a:solidFill>
              <a:latin typeface="Comic Sans MS" panose="030F0702030302020204" pitchFamily="66" charset="0"/>
            </a:endParaRPr>
          </a:p>
        </p:txBody>
      </p:sp>
      <p:sp>
        <p:nvSpPr>
          <p:cNvPr id="106510" name="Text Box 24"/>
          <p:cNvSpPr txBox="1">
            <a:spLocks noChangeArrowheads="1"/>
          </p:cNvSpPr>
          <p:nvPr/>
        </p:nvSpPr>
        <p:spPr bwMode="auto">
          <a:xfrm>
            <a:off x="4211638" y="3500438"/>
            <a:ext cx="13668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Font typeface="Wingdings" panose="05000000000000000000" pitchFamily="2" charset="2"/>
              <a:buNone/>
            </a:pPr>
            <a:r>
              <a:rPr lang="zh-CN" altLang="en-US" sz="1600">
                <a:solidFill>
                  <a:srgbClr val="000000"/>
                </a:solidFill>
                <a:latin typeface="Comic Sans MS" panose="030F0702030302020204" pitchFamily="66" charset="0"/>
              </a:rPr>
              <a:t>流水寄存器</a:t>
            </a:r>
            <a:endParaRPr lang="zh-CN" altLang="en-US" sz="1600">
              <a:solidFill>
                <a:srgbClr val="000000"/>
              </a:solidFill>
              <a:latin typeface="Comic Sans MS" panose="030F0702030302020204" pitchFamily="66" charset="0"/>
            </a:endParaRPr>
          </a:p>
        </p:txBody>
      </p:sp>
      <p:sp>
        <p:nvSpPr>
          <p:cNvPr id="106511" name="Line 25"/>
          <p:cNvSpPr>
            <a:spLocks noChangeShapeType="1"/>
          </p:cNvSpPr>
          <p:nvPr/>
        </p:nvSpPr>
        <p:spPr bwMode="auto">
          <a:xfrm flipH="1">
            <a:off x="3132138" y="3716338"/>
            <a:ext cx="1152525" cy="360362"/>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512" name="Line 26"/>
          <p:cNvSpPr>
            <a:spLocks noChangeShapeType="1"/>
          </p:cNvSpPr>
          <p:nvPr/>
        </p:nvSpPr>
        <p:spPr bwMode="auto">
          <a:xfrm flipH="1">
            <a:off x="4284663" y="3789363"/>
            <a:ext cx="215900" cy="360362"/>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513" name="Line 27"/>
          <p:cNvSpPr>
            <a:spLocks noChangeShapeType="1"/>
          </p:cNvSpPr>
          <p:nvPr/>
        </p:nvSpPr>
        <p:spPr bwMode="auto">
          <a:xfrm>
            <a:off x="5219700" y="3789363"/>
            <a:ext cx="215900" cy="360362"/>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514" name="Line 28"/>
          <p:cNvSpPr>
            <a:spLocks noChangeShapeType="1"/>
          </p:cNvSpPr>
          <p:nvPr/>
        </p:nvSpPr>
        <p:spPr bwMode="auto">
          <a:xfrm>
            <a:off x="5435600" y="3716338"/>
            <a:ext cx="1223963" cy="360362"/>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6"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790544"/>
                                        </p:tgtEl>
                                        <p:attrNameLst>
                                          <p:attrName>style.visibility</p:attrName>
                                        </p:attrNameLst>
                                      </p:cBhvr>
                                      <p:to>
                                        <p:strVal val="visible"/>
                                      </p:to>
                                    </p:set>
                                    <p:anim calcmode="lin" valueType="num">
                                      <p:cBhvr additive="base">
                                        <p:cTn id="7" dur="500" fill="hold"/>
                                        <p:tgtEl>
                                          <p:spTgt spid="790544"/>
                                        </p:tgtEl>
                                        <p:attrNameLst>
                                          <p:attrName>ppt_x</p:attrName>
                                        </p:attrNameLst>
                                      </p:cBhvr>
                                      <p:tavLst>
                                        <p:tav tm="0">
                                          <p:val>
                                            <p:strVal val="0-#ppt_w/2"/>
                                          </p:val>
                                        </p:tav>
                                        <p:tav tm="100000">
                                          <p:val>
                                            <p:strVal val="#ppt_x"/>
                                          </p:val>
                                        </p:tav>
                                      </p:tavLst>
                                    </p:anim>
                                    <p:anim calcmode="lin" valueType="num">
                                      <p:cBhvr additive="base">
                                        <p:cTn id="8" dur="500" fill="hold"/>
                                        <p:tgtEl>
                                          <p:spTgt spid="79054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grpId="0" nodeType="clickEffect">
                                  <p:stCondLst>
                                    <p:cond delay="0"/>
                                  </p:stCondLst>
                                  <p:childTnLst>
                                    <p:set>
                                      <p:cBhvr>
                                        <p:cTn id="12" dur="1" fill="hold">
                                          <p:stCondLst>
                                            <p:cond delay="0"/>
                                          </p:stCondLst>
                                        </p:cTn>
                                        <p:tgtEl>
                                          <p:spTgt spid="790546"/>
                                        </p:tgtEl>
                                        <p:attrNameLst>
                                          <p:attrName>style.visibility</p:attrName>
                                        </p:attrNameLst>
                                      </p:cBhvr>
                                      <p:to>
                                        <p:strVal val="visible"/>
                                      </p:to>
                                    </p:set>
                                    <p:animEffect transition="in" filter="wipe(up)">
                                      <p:cBhvr>
                                        <p:cTn id="13" dur="500"/>
                                        <p:tgtEl>
                                          <p:spTgt spid="7905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0544" grpId="0" animBg="1"/>
      <p:bldP spid="790546"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1554" name="Rectangle 2"/>
          <p:cNvSpPr>
            <a:spLocks noGrp="1" noChangeArrowheads="1"/>
          </p:cNvSpPr>
          <p:nvPr>
            <p:ph type="title"/>
          </p:nvPr>
        </p:nvSpPr>
        <p:spPr/>
        <p:txBody>
          <a:bodyPr/>
          <a:lstStyle/>
          <a:p>
            <a:pPr eaLnBrk="1" hangingPunct="1">
              <a:defRPr/>
            </a:pPr>
            <a:r>
              <a:rPr lang="zh-CN" altLang="en-US" sz="5400" smtClean="0"/>
              <a:t>“先读后写”相关</a:t>
            </a:r>
            <a:r>
              <a:rPr lang="zh-CN" altLang="en-US" sz="3200" smtClean="0"/>
              <a:t>（</a:t>
            </a:r>
            <a:r>
              <a:rPr lang="en-US" altLang="zh-CN" sz="3200" smtClean="0"/>
              <a:t>WAR）</a:t>
            </a:r>
            <a:endParaRPr lang="zh-CN" altLang="en-US" sz="3200" smtClean="0"/>
          </a:p>
        </p:txBody>
      </p:sp>
      <p:sp>
        <p:nvSpPr>
          <p:cNvPr id="1075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数据相关类型</a:t>
            </a:r>
            <a:endParaRPr lang="zh-CN" altLang="en-US" sz="1200" b="0">
              <a:latin typeface="Times New Roman" panose="02020603050405020304" pitchFamily="18" charset="0"/>
              <a:ea typeface="幼圆" panose="02010509060101010101" pitchFamily="49" charset="-122"/>
            </a:endParaRPr>
          </a:p>
        </p:txBody>
      </p:sp>
      <p:sp>
        <p:nvSpPr>
          <p:cNvPr id="791556" name="Rectangle 4"/>
          <p:cNvSpPr>
            <a:spLocks noGrp="1" noChangeArrowheads="1"/>
          </p:cNvSpPr>
          <p:nvPr>
            <p:ph type="body" idx="1"/>
          </p:nvPr>
        </p:nvSpPr>
        <p:spPr/>
        <p:txBody>
          <a:bodyPr/>
          <a:lstStyle/>
          <a:p>
            <a:pPr marL="0" indent="0" eaLnBrk="1" hangingPunct="1">
              <a:lnSpc>
                <a:spcPct val="120000"/>
              </a:lnSpc>
              <a:buClr>
                <a:srgbClr val="FF0000"/>
              </a:buClr>
              <a:tabLst>
                <a:tab pos="765175" algn="l"/>
              </a:tabLst>
              <a:defRPr/>
            </a:pPr>
            <a:r>
              <a:rPr lang="zh-CN" altLang="en-US" dirty="0" smtClean="0">
                <a:solidFill>
                  <a:srgbClr val="FF0000"/>
                </a:solidFill>
                <a:effectLst>
                  <a:outerShdw blurRad="38100" dist="38100" dir="2700000" algn="tl">
                    <a:srgbClr val="C0C0C0"/>
                  </a:outerShdw>
                </a:effectLst>
              </a:rPr>
              <a:t>  概念</a:t>
            </a:r>
            <a:endParaRPr lang="zh-CN" altLang="en-US"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tabLst>
                <a:tab pos="765175" algn="l"/>
              </a:tabLst>
              <a:defRPr/>
            </a:pPr>
            <a:r>
              <a:rPr lang="zh-CN" altLang="en-US" dirty="0" smtClean="0"/>
              <a:t>    有两条相邻指令</a:t>
            </a:r>
            <a:r>
              <a:rPr lang="en-US" altLang="zh-CN" dirty="0" err="1" smtClean="0"/>
              <a:t>i</a:t>
            </a:r>
            <a:r>
              <a:rPr lang="zh-CN" altLang="en-US" dirty="0" smtClean="0"/>
              <a:t>和</a:t>
            </a:r>
            <a:r>
              <a:rPr lang="en-US" altLang="zh-CN" dirty="0" smtClean="0"/>
              <a:t>j， </a:t>
            </a:r>
            <a:r>
              <a:rPr lang="en-US" altLang="zh-CN" dirty="0" err="1" smtClean="0"/>
              <a:t>i</a:t>
            </a:r>
            <a:r>
              <a:rPr lang="zh-CN" altLang="en-US" dirty="0" smtClean="0"/>
              <a:t>在</a:t>
            </a:r>
            <a:r>
              <a:rPr lang="en-US" altLang="zh-CN" dirty="0" smtClean="0"/>
              <a:t>j</a:t>
            </a:r>
            <a:r>
              <a:rPr lang="zh-CN" altLang="en-US" dirty="0" smtClean="0"/>
              <a:t>之前执行，指令</a:t>
            </a:r>
            <a:r>
              <a:rPr lang="en-US" altLang="zh-CN" dirty="0" err="1" smtClean="0"/>
              <a:t>i</a:t>
            </a:r>
            <a:r>
              <a:rPr lang="zh-CN" altLang="en-US" dirty="0" smtClean="0"/>
              <a:t>从某个存储单元中读取数据，而指令</a:t>
            </a:r>
            <a:r>
              <a:rPr lang="en-US" altLang="zh-CN" dirty="0" smtClean="0"/>
              <a:t>j</a:t>
            </a:r>
            <a:r>
              <a:rPr lang="zh-CN" altLang="en-US" dirty="0" smtClean="0"/>
              <a:t>将结果写入相同存储单元。如果指令</a:t>
            </a:r>
            <a:r>
              <a:rPr lang="en-US" altLang="zh-CN" dirty="0" smtClean="0"/>
              <a:t>j</a:t>
            </a:r>
            <a:r>
              <a:rPr lang="zh-CN" altLang="en-US" dirty="0" smtClean="0"/>
              <a:t>想在指令</a:t>
            </a:r>
            <a:r>
              <a:rPr lang="en-US" altLang="zh-CN" dirty="0" err="1" smtClean="0"/>
              <a:t>i</a:t>
            </a:r>
            <a:r>
              <a:rPr lang="zh-CN" altLang="en-US" dirty="0" smtClean="0"/>
              <a:t>读之前去写数据，则会发生“先读后写”相关，也称为读写相关、反相关、 </a:t>
            </a:r>
            <a:r>
              <a:rPr lang="en-US" altLang="zh-CN" dirty="0" smtClean="0"/>
              <a:t>WAR</a:t>
            </a:r>
            <a:r>
              <a:rPr lang="zh-CN" altLang="en-US" dirty="0" smtClean="0"/>
              <a:t>相关、 </a:t>
            </a:r>
            <a:r>
              <a:rPr lang="en-US" altLang="zh-CN" dirty="0" smtClean="0"/>
              <a:t>RW</a:t>
            </a:r>
            <a:r>
              <a:rPr lang="zh-CN" altLang="en-US" dirty="0" smtClean="0"/>
              <a:t>相关等。</a:t>
            </a:r>
            <a:endParaRPr lang="en-US" altLang="zh-CN" dirty="0" smtClean="0"/>
          </a:p>
        </p:txBody>
      </p:sp>
      <p:sp>
        <p:nvSpPr>
          <p:cNvPr id="10752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2578" name="Rectangle 2"/>
          <p:cNvSpPr>
            <a:spLocks noGrp="1" noChangeArrowheads="1"/>
          </p:cNvSpPr>
          <p:nvPr>
            <p:ph type="title"/>
          </p:nvPr>
        </p:nvSpPr>
        <p:spPr/>
        <p:txBody>
          <a:bodyPr/>
          <a:lstStyle/>
          <a:p>
            <a:pPr eaLnBrk="1" hangingPunct="1">
              <a:defRPr/>
            </a:pPr>
            <a:r>
              <a:rPr lang="zh-CN" altLang="en-US" sz="5400" dirty="0" smtClean="0"/>
              <a:t>“先读后写”相关</a:t>
            </a:r>
            <a:r>
              <a:rPr lang="zh-CN" altLang="en-US" sz="3200" dirty="0" smtClean="0"/>
              <a:t>（</a:t>
            </a:r>
            <a:r>
              <a:rPr lang="en-US" altLang="zh-CN" sz="3200" dirty="0" smtClean="0"/>
              <a:t>WAR）</a:t>
            </a:r>
            <a:endParaRPr lang="zh-CN" altLang="en-US" sz="3200" dirty="0" smtClean="0"/>
          </a:p>
        </p:txBody>
      </p:sp>
      <p:sp>
        <p:nvSpPr>
          <p:cNvPr id="10854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数据相关类型</a:t>
            </a:r>
            <a:endParaRPr lang="zh-CN" altLang="en-US" sz="1200" b="0">
              <a:latin typeface="Times New Roman" panose="02020603050405020304" pitchFamily="18" charset="0"/>
              <a:ea typeface="幼圆" panose="02010509060101010101" pitchFamily="49" charset="-122"/>
            </a:endParaRPr>
          </a:p>
        </p:txBody>
      </p:sp>
      <p:sp>
        <p:nvSpPr>
          <p:cNvPr id="792580" name="Rectangle 4"/>
          <p:cNvSpPr>
            <a:spLocks noGrp="1" noChangeArrowheads="1"/>
          </p:cNvSpPr>
          <p:nvPr>
            <p:ph type="body" idx="1"/>
          </p:nvPr>
        </p:nvSpPr>
        <p:spPr>
          <a:xfrm>
            <a:off x="809625" y="1989138"/>
            <a:ext cx="7958138" cy="1681162"/>
          </a:xfrm>
        </p:spPr>
        <p:txBody>
          <a:bodyPr/>
          <a:lstStyle/>
          <a:p>
            <a:pPr marL="0" indent="0" eaLnBrk="1" hangingPunct="1">
              <a:lnSpc>
                <a:spcPct val="90000"/>
              </a:lnSpc>
              <a:buClr>
                <a:srgbClr val="FF0000"/>
              </a:buClr>
              <a:tabLst>
                <a:tab pos="765175" algn="l"/>
              </a:tabLst>
              <a:defRPr/>
            </a:pPr>
            <a:r>
              <a:rPr lang="zh-CN" altLang="en-US" smtClean="0">
                <a:solidFill>
                  <a:srgbClr val="FF0000"/>
                </a:solidFill>
                <a:effectLst>
                  <a:outerShdw blurRad="38100" dist="38100" dir="2700000" algn="tl">
                    <a:srgbClr val="C0C0C0"/>
                  </a:outerShdw>
                </a:effectLst>
              </a:rPr>
              <a:t>  例子</a:t>
            </a:r>
            <a:endParaRPr lang="zh-CN" altLang="en-US" smtClean="0">
              <a:solidFill>
                <a:srgbClr val="FF0000"/>
              </a:solidFill>
              <a:effectLst>
                <a:outerShdw blurRad="38100" dist="38100" dir="2700000" algn="tl">
                  <a:srgbClr val="C0C0C0"/>
                </a:outerShdw>
              </a:effectLst>
            </a:endParaRPr>
          </a:p>
          <a:p>
            <a:pPr marL="0" indent="0" eaLnBrk="1" hangingPunct="1">
              <a:lnSpc>
                <a:spcPct val="90000"/>
              </a:lnSpc>
              <a:buFont typeface="Wingdings" panose="05000000000000000000" pitchFamily="2" charset="2"/>
              <a:buNone/>
              <a:tabLst>
                <a:tab pos="765175" algn="l"/>
              </a:tabLst>
              <a:defRPr/>
            </a:pPr>
            <a:r>
              <a:rPr lang="en-US" altLang="zh-CN" smtClean="0"/>
              <a:t>	i：DSUB</a:t>
            </a:r>
            <a:r>
              <a:rPr lang="zh-CN" altLang="en-US" smtClean="0"/>
              <a:t> </a:t>
            </a:r>
            <a:r>
              <a:rPr lang="en-US" altLang="zh-CN" smtClean="0"/>
              <a:t>R4,</a:t>
            </a:r>
            <a:r>
              <a:rPr lang="en-US" altLang="zh-CN" smtClean="0">
                <a:solidFill>
                  <a:srgbClr val="FF0000"/>
                </a:solidFill>
                <a:effectLst>
                  <a:outerShdw blurRad="38100" dist="38100" dir="2700000" algn="tl">
                    <a:srgbClr val="C0C0C0"/>
                  </a:outerShdw>
                </a:effectLst>
              </a:rPr>
              <a:t>R1</a:t>
            </a:r>
            <a:r>
              <a:rPr lang="en-US" altLang="zh-CN" smtClean="0"/>
              <a:t>,R5  </a:t>
            </a:r>
            <a:r>
              <a:rPr lang="en-US" altLang="zh-CN" smtClean="0">
                <a:solidFill>
                  <a:srgbClr val="009900"/>
                </a:solidFill>
              </a:rPr>
              <a:t>;(R1)－(R5)→(R4)</a:t>
            </a:r>
            <a:endParaRPr lang="en-US" altLang="zh-CN" smtClean="0">
              <a:solidFill>
                <a:srgbClr val="009900"/>
              </a:solidFill>
            </a:endParaRPr>
          </a:p>
          <a:p>
            <a:pPr marL="0" indent="0" eaLnBrk="1" hangingPunct="1">
              <a:lnSpc>
                <a:spcPct val="90000"/>
              </a:lnSpc>
              <a:buFont typeface="Wingdings" panose="05000000000000000000" pitchFamily="2" charset="2"/>
              <a:buNone/>
              <a:tabLst>
                <a:tab pos="765175" algn="l"/>
              </a:tabLst>
              <a:defRPr/>
            </a:pPr>
            <a:r>
              <a:rPr lang="en-US" altLang="zh-CN" smtClean="0"/>
              <a:t>	j：DADD </a:t>
            </a:r>
            <a:r>
              <a:rPr lang="en-US" altLang="zh-CN" smtClean="0">
                <a:solidFill>
                  <a:srgbClr val="FF0000"/>
                </a:solidFill>
                <a:effectLst>
                  <a:outerShdw blurRad="38100" dist="38100" dir="2700000" algn="tl">
                    <a:srgbClr val="C0C0C0"/>
                  </a:outerShdw>
                </a:effectLst>
              </a:rPr>
              <a:t>R1</a:t>
            </a:r>
            <a:r>
              <a:rPr lang="en-US" altLang="zh-CN" smtClean="0"/>
              <a:t>,R2,R3  </a:t>
            </a:r>
            <a:r>
              <a:rPr lang="en-US" altLang="zh-CN" smtClean="0">
                <a:solidFill>
                  <a:srgbClr val="009900"/>
                </a:solidFill>
              </a:rPr>
              <a:t>;(R2)＋(R3)→(R1)</a:t>
            </a:r>
            <a:endParaRPr lang="en-US" altLang="zh-CN" smtClean="0">
              <a:solidFill>
                <a:srgbClr val="009900"/>
              </a:solidFill>
            </a:endParaRPr>
          </a:p>
        </p:txBody>
      </p:sp>
      <p:sp>
        <p:nvSpPr>
          <p:cNvPr id="108549" name="Text Box 1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
        <p:nvSpPr>
          <p:cNvPr id="792590" name="Arc 14"/>
          <p:cNvSpPr/>
          <p:nvPr/>
        </p:nvSpPr>
        <p:spPr bwMode="auto">
          <a:xfrm flipH="1" flipV="1">
            <a:off x="1042988" y="2781300"/>
            <a:ext cx="468312" cy="533400"/>
          </a:xfrm>
          <a:custGeom>
            <a:avLst/>
            <a:gdLst>
              <a:gd name="T0" fmla="*/ 0 w 24532"/>
              <a:gd name="T1" fmla="*/ 2147483647 h 43200"/>
              <a:gd name="T2" fmla="*/ 2147483647 w 24532"/>
              <a:gd name="T3" fmla="*/ 2147483647 h 43200"/>
              <a:gd name="T4" fmla="*/ 2147483647 w 24532"/>
              <a:gd name="T5" fmla="*/ 2147483647 h 43200"/>
              <a:gd name="T6" fmla="*/ 0 60000 65536"/>
              <a:gd name="T7" fmla="*/ 0 60000 65536"/>
              <a:gd name="T8" fmla="*/ 0 60000 65536"/>
            </a:gdLst>
            <a:ahLst/>
            <a:cxnLst>
              <a:cxn ang="T6">
                <a:pos x="T0" y="T1"/>
              </a:cxn>
              <a:cxn ang="T7">
                <a:pos x="T2" y="T3"/>
              </a:cxn>
              <a:cxn ang="T8">
                <a:pos x="T4" y="T5"/>
              </a:cxn>
            </a:cxnLst>
            <a:rect l="0" t="0" r="r" b="b"/>
            <a:pathLst>
              <a:path w="24532" h="43200" fill="none"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path>
              <a:path w="24532" h="43200" stroke="0"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lnTo>
                  <a:pt x="2932" y="21600"/>
                </a:lnTo>
                <a:lnTo>
                  <a:pt x="-1" y="199"/>
                </a:lnTo>
                <a:close/>
              </a:path>
            </a:pathLst>
          </a:custGeom>
          <a:noFill/>
          <a:ln w="28575">
            <a:solidFill>
              <a:srgbClr val="FF0000"/>
            </a:solidFill>
            <a:rou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08551" name="Picture 17"/>
          <p:cNvPicPr>
            <a:picLocks noChangeAspect="1" noChangeArrowheads="1"/>
          </p:cNvPicPr>
          <p:nvPr/>
        </p:nvPicPr>
        <p:blipFill>
          <a:blip r:embed="rId5">
            <a:clrChange>
              <a:clrFrom>
                <a:srgbClr val="FFFFFF"/>
              </a:clrFrom>
              <a:clrTo>
                <a:srgbClr val="FFFFFF">
                  <a:alpha val="0"/>
                </a:srgbClr>
              </a:clrTo>
            </a:clrChange>
            <a:lum bright="-36000"/>
            <a:extLst>
              <a:ext uri="{28A0092B-C50C-407E-A947-70E740481C1C}">
                <a14:useLocalDpi xmlns:a14="http://schemas.microsoft.com/office/drawing/2010/main" val="0"/>
              </a:ext>
            </a:extLst>
          </a:blip>
          <a:srcRect/>
          <a:stretch>
            <a:fillRect/>
          </a:stretch>
        </p:blipFill>
        <p:spPr bwMode="auto">
          <a:xfrm>
            <a:off x="914400" y="3886200"/>
            <a:ext cx="8001000" cy="2552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2594" name="Line 18"/>
          <p:cNvSpPr>
            <a:spLocks noChangeShapeType="1"/>
          </p:cNvSpPr>
          <p:nvPr/>
        </p:nvSpPr>
        <p:spPr bwMode="auto">
          <a:xfrm>
            <a:off x="3851275" y="4652963"/>
            <a:ext cx="4608513" cy="1152525"/>
          </a:xfrm>
          <a:prstGeom prst="line">
            <a:avLst/>
          </a:prstGeom>
          <a:noFill/>
          <a:ln w="28575">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6"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792590"/>
                                        </p:tgtEl>
                                        <p:attrNameLst>
                                          <p:attrName>style.visibility</p:attrName>
                                        </p:attrNameLst>
                                      </p:cBhvr>
                                      <p:to>
                                        <p:strVal val="visible"/>
                                      </p:to>
                                    </p:set>
                                    <p:animEffect transition="in" filter="wipe(down)">
                                      <p:cBhvr>
                                        <p:cTn id="7" dur="500"/>
                                        <p:tgtEl>
                                          <p:spTgt spid="79259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792594"/>
                                        </p:tgtEl>
                                        <p:attrNameLst>
                                          <p:attrName>style.visibility</p:attrName>
                                        </p:attrNameLst>
                                      </p:cBhvr>
                                      <p:to>
                                        <p:strVal val="visible"/>
                                      </p:to>
                                    </p:set>
                                    <p:animEffect transition="in" filter="wipe(up)">
                                      <p:cBhvr>
                                        <p:cTn id="12" dur="500"/>
                                        <p:tgtEl>
                                          <p:spTgt spid="7925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2590" grpId="0" animBg="1"/>
      <p:bldP spid="792594"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3602" name="Rectangle 2"/>
          <p:cNvSpPr>
            <a:spLocks noGrp="1" noChangeArrowheads="1"/>
          </p:cNvSpPr>
          <p:nvPr>
            <p:ph type="title"/>
          </p:nvPr>
        </p:nvSpPr>
        <p:spPr/>
        <p:txBody>
          <a:bodyPr/>
          <a:lstStyle/>
          <a:p>
            <a:pPr eaLnBrk="1" hangingPunct="1">
              <a:defRPr/>
            </a:pPr>
            <a:r>
              <a:rPr lang="zh-CN" altLang="en-US" sz="5400" dirty="0"/>
              <a:t>“写写”相关</a:t>
            </a:r>
            <a:br>
              <a:rPr lang="zh-CN" altLang="en-US" sz="5400" dirty="0" smtClean="0"/>
            </a:br>
            <a:r>
              <a:rPr lang="zh-CN" altLang="en-US" sz="3200" dirty="0" smtClean="0"/>
              <a:t>（</a:t>
            </a:r>
            <a:r>
              <a:rPr lang="en-US" altLang="zh-CN" sz="3200" dirty="0" smtClean="0"/>
              <a:t>WAW）</a:t>
            </a:r>
            <a:endParaRPr lang="zh-CN" altLang="en-US" sz="3200" dirty="0" smtClean="0"/>
          </a:p>
        </p:txBody>
      </p:sp>
      <p:sp>
        <p:nvSpPr>
          <p:cNvPr id="1095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数据相关类型</a:t>
            </a:r>
            <a:endParaRPr lang="zh-CN" altLang="en-US" sz="1200" b="0">
              <a:latin typeface="Times New Roman" panose="02020603050405020304" pitchFamily="18" charset="0"/>
              <a:ea typeface="幼圆" panose="02010509060101010101" pitchFamily="49" charset="-122"/>
            </a:endParaRPr>
          </a:p>
        </p:txBody>
      </p:sp>
      <p:sp>
        <p:nvSpPr>
          <p:cNvPr id="793604" name="Rectangle 4"/>
          <p:cNvSpPr>
            <a:spLocks noGrp="1" noChangeArrowheads="1"/>
          </p:cNvSpPr>
          <p:nvPr>
            <p:ph type="body" idx="1"/>
          </p:nvPr>
        </p:nvSpPr>
        <p:spPr/>
        <p:txBody>
          <a:bodyPr/>
          <a:lstStyle/>
          <a:p>
            <a:pPr marL="0" indent="0" eaLnBrk="1" hangingPunct="1">
              <a:lnSpc>
                <a:spcPct val="120000"/>
              </a:lnSpc>
              <a:buClr>
                <a:srgbClr val="FF0000"/>
              </a:buClr>
              <a:tabLst>
                <a:tab pos="765175" algn="l"/>
              </a:tabLst>
              <a:defRPr/>
            </a:pPr>
            <a:r>
              <a:rPr lang="zh-CN" altLang="en-US" dirty="0" smtClean="0">
                <a:solidFill>
                  <a:srgbClr val="FF0000"/>
                </a:solidFill>
                <a:effectLst>
                  <a:outerShdw blurRad="38100" dist="38100" dir="2700000" algn="tl">
                    <a:srgbClr val="C0C0C0"/>
                  </a:outerShdw>
                </a:effectLst>
              </a:rPr>
              <a:t>  概念</a:t>
            </a:r>
            <a:endParaRPr lang="zh-CN" altLang="en-US"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tabLst>
                <a:tab pos="765175" algn="l"/>
              </a:tabLst>
              <a:defRPr/>
            </a:pPr>
            <a:r>
              <a:rPr lang="zh-CN" altLang="en-US" dirty="0" smtClean="0"/>
              <a:t>    有两条相邻指令</a:t>
            </a:r>
            <a:r>
              <a:rPr lang="en-US" altLang="zh-CN" dirty="0" err="1" smtClean="0"/>
              <a:t>i</a:t>
            </a:r>
            <a:r>
              <a:rPr lang="zh-CN" altLang="en-US" dirty="0" smtClean="0"/>
              <a:t>和</a:t>
            </a:r>
            <a:r>
              <a:rPr lang="en-US" altLang="zh-CN" dirty="0" smtClean="0"/>
              <a:t>j， </a:t>
            </a:r>
            <a:r>
              <a:rPr lang="en-US" altLang="zh-CN" dirty="0" err="1" smtClean="0"/>
              <a:t>i</a:t>
            </a:r>
            <a:r>
              <a:rPr lang="zh-CN" altLang="en-US" dirty="0" smtClean="0"/>
              <a:t>在</a:t>
            </a:r>
            <a:r>
              <a:rPr lang="en-US" altLang="zh-CN" dirty="0" smtClean="0"/>
              <a:t>j</a:t>
            </a:r>
            <a:r>
              <a:rPr lang="zh-CN" altLang="en-US" dirty="0" smtClean="0"/>
              <a:t>之前执行，指令</a:t>
            </a:r>
            <a:r>
              <a:rPr lang="en-US" altLang="zh-CN" dirty="0" err="1" smtClean="0"/>
              <a:t>i</a:t>
            </a:r>
            <a:r>
              <a:rPr lang="zh-CN" altLang="en-US" dirty="0" smtClean="0"/>
              <a:t>将结果写入某个存储单元，而指令</a:t>
            </a:r>
            <a:r>
              <a:rPr lang="en-US" altLang="zh-CN" dirty="0" smtClean="0"/>
              <a:t>j</a:t>
            </a:r>
            <a:r>
              <a:rPr lang="zh-CN" altLang="en-US" dirty="0" smtClean="0"/>
              <a:t>也将结果写入相同存储单元。如果指令</a:t>
            </a:r>
            <a:r>
              <a:rPr lang="en-US" altLang="zh-CN" dirty="0" smtClean="0"/>
              <a:t>j</a:t>
            </a:r>
            <a:r>
              <a:rPr lang="zh-CN" altLang="en-US" dirty="0" smtClean="0"/>
              <a:t>想在指令</a:t>
            </a:r>
            <a:r>
              <a:rPr lang="en-US" altLang="zh-CN" dirty="0" err="1" smtClean="0"/>
              <a:t>i</a:t>
            </a:r>
            <a:r>
              <a:rPr lang="zh-CN" altLang="en-US" dirty="0" smtClean="0"/>
              <a:t>写之前去写该数据，则会发生“写写”相关，也称为写写相关、输出相关、 </a:t>
            </a:r>
            <a:r>
              <a:rPr lang="en-US" altLang="zh-CN" dirty="0" smtClean="0"/>
              <a:t>WAW</a:t>
            </a:r>
            <a:r>
              <a:rPr lang="zh-CN" altLang="en-US" dirty="0" smtClean="0"/>
              <a:t>相关、 </a:t>
            </a:r>
            <a:r>
              <a:rPr lang="en-US" altLang="zh-CN" dirty="0" smtClean="0"/>
              <a:t>WW</a:t>
            </a:r>
            <a:r>
              <a:rPr lang="zh-CN" altLang="en-US" dirty="0" smtClean="0"/>
              <a:t>相关等。</a:t>
            </a:r>
            <a:endParaRPr lang="en-US" altLang="zh-CN" dirty="0" smtClean="0">
              <a:solidFill>
                <a:srgbClr val="009900"/>
              </a:solidFill>
            </a:endParaRPr>
          </a:p>
        </p:txBody>
      </p:sp>
      <p:sp>
        <p:nvSpPr>
          <p:cNvPr id="109573"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4626" name="Rectangle 2"/>
          <p:cNvSpPr>
            <a:spLocks noGrp="1" noChangeArrowheads="1"/>
          </p:cNvSpPr>
          <p:nvPr>
            <p:ph type="title"/>
          </p:nvPr>
        </p:nvSpPr>
        <p:spPr/>
        <p:txBody>
          <a:bodyPr/>
          <a:lstStyle/>
          <a:p>
            <a:pPr eaLnBrk="1" hangingPunct="1">
              <a:defRPr/>
            </a:pPr>
            <a:r>
              <a:rPr lang="zh-CN" altLang="en-US" sz="5400" dirty="0"/>
              <a:t>“写写”相关</a:t>
            </a:r>
            <a:br>
              <a:rPr lang="zh-CN" altLang="en-US" sz="5400" dirty="0" smtClean="0"/>
            </a:br>
            <a:r>
              <a:rPr lang="zh-CN" altLang="en-US" sz="3200" dirty="0" smtClean="0"/>
              <a:t>（</a:t>
            </a:r>
            <a:r>
              <a:rPr lang="en-US" altLang="zh-CN" sz="3200" dirty="0" smtClean="0"/>
              <a:t>WAW）</a:t>
            </a:r>
            <a:endParaRPr lang="zh-CN" altLang="en-US" sz="3200" dirty="0" smtClean="0"/>
          </a:p>
        </p:txBody>
      </p:sp>
      <p:sp>
        <p:nvSpPr>
          <p:cNvPr id="11059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数据相关类型</a:t>
            </a:r>
            <a:endParaRPr lang="zh-CN" altLang="en-US" sz="1200" b="0">
              <a:latin typeface="Times New Roman" panose="02020603050405020304" pitchFamily="18" charset="0"/>
              <a:ea typeface="幼圆" panose="02010509060101010101" pitchFamily="49" charset="-122"/>
            </a:endParaRPr>
          </a:p>
        </p:txBody>
      </p:sp>
      <p:sp>
        <p:nvSpPr>
          <p:cNvPr id="110596" name="Text Box 1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2</a:t>
            </a:r>
            <a:endParaRPr lang="zh-CN" altLang="en-US" sz="1200" b="0">
              <a:latin typeface="幼圆" panose="02010509060101010101" pitchFamily="49" charset="-122"/>
              <a:ea typeface="幼圆" panose="02010509060101010101" pitchFamily="49" charset="-122"/>
            </a:endParaRPr>
          </a:p>
        </p:txBody>
      </p:sp>
      <p:sp>
        <p:nvSpPr>
          <p:cNvPr id="794638" name="Rectangle 14"/>
          <p:cNvSpPr>
            <a:spLocks noGrp="1" noChangeArrowheads="1"/>
          </p:cNvSpPr>
          <p:nvPr>
            <p:ph type="body" idx="1"/>
          </p:nvPr>
        </p:nvSpPr>
        <p:spPr>
          <a:xfrm>
            <a:off x="809625" y="1989138"/>
            <a:ext cx="7958138" cy="1681162"/>
          </a:xfrm>
        </p:spPr>
        <p:txBody>
          <a:bodyPr/>
          <a:lstStyle/>
          <a:p>
            <a:pPr marL="0" indent="0" eaLnBrk="1" hangingPunct="1">
              <a:lnSpc>
                <a:spcPct val="90000"/>
              </a:lnSpc>
              <a:buClr>
                <a:srgbClr val="FF0000"/>
              </a:buClr>
              <a:tabLst>
                <a:tab pos="765175" algn="l"/>
              </a:tabLst>
              <a:defRPr/>
            </a:pPr>
            <a:r>
              <a:rPr lang="zh-CN" altLang="en-US" smtClean="0">
                <a:solidFill>
                  <a:srgbClr val="FF0000"/>
                </a:solidFill>
                <a:effectLst>
                  <a:outerShdw blurRad="38100" dist="38100" dir="2700000" algn="tl">
                    <a:srgbClr val="C0C0C0"/>
                  </a:outerShdw>
                </a:effectLst>
              </a:rPr>
              <a:t>  例子</a:t>
            </a:r>
            <a:endParaRPr lang="zh-CN" altLang="en-US" smtClean="0">
              <a:solidFill>
                <a:srgbClr val="FF0000"/>
              </a:solidFill>
              <a:effectLst>
                <a:outerShdw blurRad="38100" dist="38100" dir="2700000" algn="tl">
                  <a:srgbClr val="C0C0C0"/>
                </a:outerShdw>
              </a:effectLst>
            </a:endParaRPr>
          </a:p>
          <a:p>
            <a:pPr marL="0" indent="0" eaLnBrk="1" hangingPunct="1">
              <a:lnSpc>
                <a:spcPct val="90000"/>
              </a:lnSpc>
              <a:buFont typeface="Wingdings" panose="05000000000000000000" pitchFamily="2" charset="2"/>
              <a:buNone/>
              <a:tabLst>
                <a:tab pos="765175" algn="l"/>
              </a:tabLst>
              <a:defRPr/>
            </a:pPr>
            <a:r>
              <a:rPr lang="en-US" altLang="zh-CN" smtClean="0"/>
              <a:t>	i：DSUB</a:t>
            </a:r>
            <a:r>
              <a:rPr lang="zh-CN" altLang="en-US" smtClean="0"/>
              <a:t> </a:t>
            </a:r>
            <a:r>
              <a:rPr lang="en-US" altLang="zh-CN" smtClean="0">
                <a:solidFill>
                  <a:srgbClr val="FF0000"/>
                </a:solidFill>
                <a:effectLst>
                  <a:outerShdw blurRad="38100" dist="38100" dir="2700000" algn="tl">
                    <a:srgbClr val="C0C0C0"/>
                  </a:outerShdw>
                </a:effectLst>
              </a:rPr>
              <a:t>R1</a:t>
            </a:r>
            <a:r>
              <a:rPr lang="en-US" altLang="zh-CN" smtClean="0"/>
              <a:t>,R4,R5  </a:t>
            </a:r>
            <a:r>
              <a:rPr lang="en-US" altLang="zh-CN" smtClean="0">
                <a:solidFill>
                  <a:srgbClr val="009900"/>
                </a:solidFill>
              </a:rPr>
              <a:t>;(R4)－(R5)→(R1)</a:t>
            </a:r>
            <a:endParaRPr lang="en-US" altLang="zh-CN" smtClean="0">
              <a:solidFill>
                <a:srgbClr val="009900"/>
              </a:solidFill>
            </a:endParaRPr>
          </a:p>
          <a:p>
            <a:pPr marL="0" indent="0" eaLnBrk="1" hangingPunct="1">
              <a:lnSpc>
                <a:spcPct val="90000"/>
              </a:lnSpc>
              <a:buFont typeface="Wingdings" panose="05000000000000000000" pitchFamily="2" charset="2"/>
              <a:buNone/>
              <a:tabLst>
                <a:tab pos="765175" algn="l"/>
              </a:tabLst>
              <a:defRPr/>
            </a:pPr>
            <a:r>
              <a:rPr lang="en-US" altLang="zh-CN" smtClean="0"/>
              <a:t>	j：DADD </a:t>
            </a:r>
            <a:r>
              <a:rPr lang="en-US" altLang="zh-CN" smtClean="0">
                <a:solidFill>
                  <a:srgbClr val="FF0000"/>
                </a:solidFill>
                <a:effectLst>
                  <a:outerShdw blurRad="38100" dist="38100" dir="2700000" algn="tl">
                    <a:srgbClr val="C0C0C0"/>
                  </a:outerShdw>
                </a:effectLst>
              </a:rPr>
              <a:t>R1</a:t>
            </a:r>
            <a:r>
              <a:rPr lang="en-US" altLang="zh-CN" smtClean="0"/>
              <a:t>,R2,R3  </a:t>
            </a:r>
            <a:r>
              <a:rPr lang="en-US" altLang="zh-CN" smtClean="0">
                <a:solidFill>
                  <a:srgbClr val="009900"/>
                </a:solidFill>
              </a:rPr>
              <a:t>;(R2)＋(R3)→(R1)</a:t>
            </a:r>
            <a:endParaRPr lang="en-US" altLang="zh-CN" smtClean="0">
              <a:solidFill>
                <a:srgbClr val="009900"/>
              </a:solidFill>
            </a:endParaRPr>
          </a:p>
        </p:txBody>
      </p:sp>
      <p:sp>
        <p:nvSpPr>
          <p:cNvPr id="794639" name="Arc 15"/>
          <p:cNvSpPr/>
          <p:nvPr/>
        </p:nvSpPr>
        <p:spPr bwMode="auto">
          <a:xfrm flipH="1" flipV="1">
            <a:off x="1116013" y="2852738"/>
            <a:ext cx="468312" cy="457200"/>
          </a:xfrm>
          <a:custGeom>
            <a:avLst/>
            <a:gdLst>
              <a:gd name="T0" fmla="*/ 0 w 24532"/>
              <a:gd name="T1" fmla="*/ 2147483647 h 43200"/>
              <a:gd name="T2" fmla="*/ 2147483647 w 24532"/>
              <a:gd name="T3" fmla="*/ 2147483647 h 43200"/>
              <a:gd name="T4" fmla="*/ 2147483647 w 24532"/>
              <a:gd name="T5" fmla="*/ 2147483647 h 43200"/>
              <a:gd name="T6" fmla="*/ 0 60000 65536"/>
              <a:gd name="T7" fmla="*/ 0 60000 65536"/>
              <a:gd name="T8" fmla="*/ 0 60000 65536"/>
            </a:gdLst>
            <a:ahLst/>
            <a:cxnLst>
              <a:cxn ang="T6">
                <a:pos x="T0" y="T1"/>
              </a:cxn>
              <a:cxn ang="T7">
                <a:pos x="T2" y="T3"/>
              </a:cxn>
              <a:cxn ang="T8">
                <a:pos x="T4" y="T5"/>
              </a:cxn>
            </a:cxnLst>
            <a:rect l="0" t="0" r="r" b="b"/>
            <a:pathLst>
              <a:path w="24532" h="43200" fill="none"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path>
              <a:path w="24532" h="43200" stroke="0"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lnTo>
                  <a:pt x="2932" y="21600"/>
                </a:lnTo>
                <a:lnTo>
                  <a:pt x="-1" y="199"/>
                </a:lnTo>
                <a:close/>
              </a:path>
            </a:pathLst>
          </a:custGeom>
          <a:noFill/>
          <a:ln w="28575">
            <a:solidFill>
              <a:srgbClr val="FF0000"/>
            </a:solidFill>
            <a:round/>
            <a:headEnd type="triangle" w="med" len="me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10599" name="Picture 17"/>
          <p:cNvPicPr>
            <a:picLocks noChangeAspect="1" noChangeArrowheads="1"/>
          </p:cNvPicPr>
          <p:nvPr/>
        </p:nvPicPr>
        <p:blipFill>
          <a:blip r:embed="rId5">
            <a:clrChange>
              <a:clrFrom>
                <a:srgbClr val="FFFFFF"/>
              </a:clrFrom>
              <a:clrTo>
                <a:srgbClr val="FFFFFF">
                  <a:alpha val="0"/>
                </a:srgbClr>
              </a:clrTo>
            </a:clrChange>
            <a:lum bright="-30000"/>
            <a:extLst>
              <a:ext uri="{28A0092B-C50C-407E-A947-70E740481C1C}">
                <a14:useLocalDpi xmlns:a14="http://schemas.microsoft.com/office/drawing/2010/main" val="0"/>
              </a:ext>
            </a:extLst>
          </a:blip>
          <a:srcRect/>
          <a:stretch>
            <a:fillRect/>
          </a:stretch>
        </p:blipFill>
        <p:spPr bwMode="auto">
          <a:xfrm>
            <a:off x="838200" y="3810000"/>
            <a:ext cx="8077200" cy="2557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4642" name="Line 18"/>
          <p:cNvSpPr>
            <a:spLocks noChangeShapeType="1"/>
          </p:cNvSpPr>
          <p:nvPr/>
        </p:nvSpPr>
        <p:spPr bwMode="auto">
          <a:xfrm>
            <a:off x="7164388" y="4652963"/>
            <a:ext cx="1223962" cy="1081087"/>
          </a:xfrm>
          <a:prstGeom prst="line">
            <a:avLst/>
          </a:prstGeom>
          <a:noFill/>
          <a:ln w="28575">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6"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94639"/>
                                        </p:tgtEl>
                                        <p:attrNameLst>
                                          <p:attrName>style.visibility</p:attrName>
                                        </p:attrNameLst>
                                      </p:cBhvr>
                                      <p:to>
                                        <p:strVal val="visible"/>
                                      </p:to>
                                    </p:set>
                                    <p:animEffect transition="in" filter="wipe(left)">
                                      <p:cBhvr>
                                        <p:cTn id="7" dur="500"/>
                                        <p:tgtEl>
                                          <p:spTgt spid="79463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794642"/>
                                        </p:tgtEl>
                                        <p:attrNameLst>
                                          <p:attrName>style.visibility</p:attrName>
                                        </p:attrNameLst>
                                      </p:cBhvr>
                                      <p:to>
                                        <p:strVal val="visible"/>
                                      </p:to>
                                    </p:set>
                                    <p:animEffect transition="in" filter="wipe(up)">
                                      <p:cBhvr>
                                        <p:cTn id="12" dur="500"/>
                                        <p:tgtEl>
                                          <p:spTgt spid="7946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4639" grpId="0" animBg="1"/>
      <p:bldP spid="794642"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7705" name="Rectangle 9"/>
          <p:cNvSpPr>
            <a:spLocks noGrp="1" noChangeArrowheads="1"/>
          </p:cNvSpPr>
          <p:nvPr>
            <p:ph type="body" idx="1"/>
          </p:nvPr>
        </p:nvSpPr>
        <p:spPr>
          <a:xfrm>
            <a:off x="809625" y="2465388"/>
            <a:ext cx="7958138" cy="3373437"/>
          </a:xfrm>
        </p:spPr>
        <p:txBody>
          <a:bodyPr/>
          <a:lstStyle/>
          <a:p>
            <a:pPr marL="0" indent="0" eaLnBrk="1" hangingPunct="1">
              <a:lnSpc>
                <a:spcPct val="140000"/>
              </a:lnSpc>
              <a:buFont typeface="Wingdings" panose="05000000000000000000" pitchFamily="2" charset="2"/>
              <a:buNone/>
              <a:defRPr/>
            </a:pPr>
            <a:r>
              <a:rPr lang="zh-CN" altLang="en-US" dirty="0" smtClean="0"/>
              <a:t>        </a:t>
            </a:r>
            <a:r>
              <a:rPr lang="zh-CN" altLang="en-US" dirty="0" smtClean="0">
                <a:solidFill>
                  <a:srgbClr val="FF0000"/>
                </a:solidFill>
                <a:effectLst>
                  <a:outerShdw blurRad="38100" dist="38100" dir="2700000" algn="tl">
                    <a:srgbClr val="C0C0C0"/>
                  </a:outerShdw>
                </a:effectLst>
              </a:rPr>
              <a:t>“先写后读”相关</a:t>
            </a:r>
            <a:r>
              <a:rPr lang="zh-CN" altLang="en-US" dirty="0" smtClean="0"/>
              <a:t>在流水线顺序执行和乱序执行时都可能发生，</a:t>
            </a:r>
            <a:r>
              <a:rPr lang="zh-CN" altLang="en-US" dirty="0" smtClean="0">
                <a:solidFill>
                  <a:srgbClr val="FF0000"/>
                </a:solidFill>
                <a:effectLst>
                  <a:outerShdw blurRad="38100" dist="38100" dir="2700000" algn="tl">
                    <a:srgbClr val="C0C0C0"/>
                  </a:outerShdw>
                </a:effectLst>
              </a:rPr>
              <a:t>“先读后写”相关</a:t>
            </a:r>
            <a:r>
              <a:rPr lang="zh-CN" altLang="en-US" dirty="0" smtClean="0"/>
              <a:t>和</a:t>
            </a:r>
            <a:r>
              <a:rPr lang="zh-CN" altLang="en-US" dirty="0" smtClean="0">
                <a:solidFill>
                  <a:srgbClr val="FF0000"/>
                </a:solidFill>
                <a:effectLst>
                  <a:outerShdw blurRad="38100" dist="38100" dir="2700000" algn="tl">
                    <a:srgbClr val="C0C0C0"/>
                  </a:outerShdw>
                </a:effectLst>
              </a:rPr>
              <a:t>“写写”相关</a:t>
            </a:r>
            <a:r>
              <a:rPr lang="zh-CN" altLang="en-US" dirty="0" smtClean="0"/>
              <a:t>只有在流水线乱序执行时才可能发生，而</a:t>
            </a:r>
            <a:r>
              <a:rPr lang="zh-CN" altLang="en-US" dirty="0" smtClean="0">
                <a:solidFill>
                  <a:srgbClr val="FF0000"/>
                </a:solidFill>
                <a:effectLst>
                  <a:outerShdw blurRad="38100" dist="38100" dir="2700000" algn="tl">
                    <a:srgbClr val="C0C0C0"/>
                  </a:outerShdw>
                </a:effectLst>
              </a:rPr>
              <a:t>“读读”相关</a:t>
            </a:r>
            <a:r>
              <a:rPr lang="zh-CN" altLang="en-US" dirty="0" smtClean="0"/>
              <a:t>无需处理。</a:t>
            </a:r>
            <a:endParaRPr lang="zh-CN" altLang="en-US" dirty="0" smtClean="0"/>
          </a:p>
        </p:txBody>
      </p:sp>
      <p:sp>
        <p:nvSpPr>
          <p:cNvPr id="797698" name="Rectangle 2"/>
          <p:cNvSpPr>
            <a:spLocks noGrp="1" noChangeArrowheads="1"/>
          </p:cNvSpPr>
          <p:nvPr>
            <p:ph type="title"/>
          </p:nvPr>
        </p:nvSpPr>
        <p:spPr/>
        <p:txBody>
          <a:bodyPr/>
          <a:lstStyle/>
          <a:p>
            <a:pPr eaLnBrk="1" hangingPunct="1">
              <a:defRPr/>
            </a:pPr>
            <a:r>
              <a:rPr lang="zh-CN" altLang="en-US" sz="5400" smtClean="0"/>
              <a:t>提  示</a:t>
            </a:r>
            <a:endParaRPr lang="zh-CN" altLang="en-US" sz="5400" smtClean="0"/>
          </a:p>
        </p:txBody>
      </p:sp>
      <p:sp>
        <p:nvSpPr>
          <p:cNvPr id="111620"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数据相关类型</a:t>
            </a:r>
            <a:endParaRPr lang="zh-CN" altLang="en-US" sz="1200" b="0">
              <a:latin typeface="Times New Roman" panose="02020603050405020304" pitchFamily="18" charset="0"/>
              <a:ea typeface="幼圆" panose="02010509060101010101" pitchFamily="49" charset="-122"/>
            </a:endParaRPr>
          </a:p>
        </p:txBody>
      </p:sp>
      <p:sp>
        <p:nvSpPr>
          <p:cNvPr id="111621"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5650" name="Rectangle 2"/>
          <p:cNvSpPr>
            <a:spLocks noGrp="1" noChangeArrowheads="1"/>
          </p:cNvSpPr>
          <p:nvPr>
            <p:ph type="title"/>
          </p:nvPr>
        </p:nvSpPr>
        <p:spPr/>
        <p:txBody>
          <a:bodyPr/>
          <a:lstStyle/>
          <a:p>
            <a:pPr eaLnBrk="1" hangingPunct="1">
              <a:defRPr/>
            </a:pPr>
            <a:r>
              <a:rPr lang="zh-CN" altLang="en-US" sz="5400" smtClean="0"/>
              <a:t>数据相关解决</a:t>
            </a:r>
            <a:endParaRPr lang="en-US" altLang="zh-CN" sz="5400" smtClean="0"/>
          </a:p>
        </p:txBody>
      </p:sp>
      <p:sp>
        <p:nvSpPr>
          <p:cNvPr id="1126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endParaRPr lang="zh-CN" altLang="en-US" sz="1200" b="0">
              <a:latin typeface="Times New Roman" panose="02020603050405020304" pitchFamily="18" charset="0"/>
              <a:ea typeface="幼圆" panose="02010509060101010101" pitchFamily="49" charset="-122"/>
            </a:endParaRPr>
          </a:p>
        </p:txBody>
      </p:sp>
      <p:sp>
        <p:nvSpPr>
          <p:cNvPr id="112644" name="Rectangle 5"/>
          <p:cNvSpPr>
            <a:spLocks noGrp="1" noChangeArrowheads="1"/>
          </p:cNvSpPr>
          <p:nvPr>
            <p:ph type="body" idx="1"/>
          </p:nvPr>
        </p:nvSpPr>
        <p:spPr>
          <a:xfrm>
            <a:off x="914284" y="4625997"/>
            <a:ext cx="3586162" cy="1368152"/>
          </a:xfrm>
          <a:solidFill>
            <a:srgbClr val="FFFF99"/>
          </a:solidFill>
          <a:ln w="57150" cmpd="thickThin">
            <a:solidFill>
              <a:schemeClr val="tx1"/>
            </a:solidFill>
            <a:miter lim="800000"/>
          </a:ln>
        </p:spPr>
        <p:txBody>
          <a:bodyPr anchor="ctr"/>
          <a:lstStyle/>
          <a:p>
            <a:pPr eaLnBrk="1" hangingPunct="1">
              <a:lnSpc>
                <a:spcPct val="150000"/>
              </a:lnSpc>
              <a:spcBef>
                <a:spcPts val="600"/>
              </a:spcBef>
            </a:pPr>
            <a:r>
              <a:rPr lang="zh-CN" altLang="en-US" sz="2800" smtClean="0"/>
              <a:t>“先读后写”相关</a:t>
            </a:r>
            <a:endParaRPr lang="zh-CN" altLang="en-US" sz="2800" smtClean="0"/>
          </a:p>
          <a:p>
            <a:pPr eaLnBrk="1" hangingPunct="1">
              <a:lnSpc>
                <a:spcPct val="150000"/>
              </a:lnSpc>
            </a:pPr>
            <a:r>
              <a:rPr lang="zh-CN" altLang="en-US" sz="2800" smtClean="0"/>
              <a:t>“写写”相关</a:t>
            </a:r>
            <a:endParaRPr lang="zh-CN" altLang="en-US" sz="2800" smtClean="0"/>
          </a:p>
        </p:txBody>
      </p:sp>
      <p:sp>
        <p:nvSpPr>
          <p:cNvPr id="112645" name="Rectangle 6"/>
          <p:cNvSpPr>
            <a:spLocks noChangeArrowheads="1"/>
          </p:cNvSpPr>
          <p:nvPr/>
        </p:nvSpPr>
        <p:spPr bwMode="auto">
          <a:xfrm>
            <a:off x="5548313" y="2060848"/>
            <a:ext cx="3124200" cy="2303636"/>
          </a:xfrm>
          <a:prstGeom prst="rect">
            <a:avLst/>
          </a:prstGeom>
          <a:solidFill>
            <a:srgbClr val="CCFFFF"/>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0858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4287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7716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228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6860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143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600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150000"/>
              </a:lnSpc>
            </a:pPr>
            <a:r>
              <a:rPr lang="zh-CN" altLang="en-US" sz="2800" dirty="0">
                <a:latin typeface="Times New Roman" panose="02020603050405020304" pitchFamily="18" charset="0"/>
                <a:hlinkClick r:id="rId4" action="ppaction://hlinksldjump"/>
              </a:rPr>
              <a:t>设置专用路径</a:t>
            </a:r>
            <a:endParaRPr lang="zh-CN" altLang="en-US" sz="2800" dirty="0">
              <a:latin typeface="Times New Roman" panose="02020603050405020304" pitchFamily="18" charset="0"/>
            </a:endParaRPr>
          </a:p>
          <a:p>
            <a:pPr eaLnBrk="1" hangingPunct="1">
              <a:lnSpc>
                <a:spcPct val="150000"/>
              </a:lnSpc>
            </a:pPr>
            <a:r>
              <a:rPr lang="zh-CN" altLang="en-US" sz="2800" dirty="0">
                <a:latin typeface="Times New Roman" panose="02020603050405020304" pitchFamily="18" charset="0"/>
                <a:hlinkClick r:id="rId5" action="ppaction://hlinksldjump"/>
              </a:rPr>
              <a:t>推</a:t>
            </a:r>
            <a:r>
              <a:rPr lang="zh-CN" altLang="en-US" sz="2800" dirty="0" smtClean="0">
                <a:latin typeface="Times New Roman" panose="02020603050405020304" pitchFamily="18" charset="0"/>
                <a:hlinkClick r:id="rId5" action="ppaction://hlinksldjump"/>
              </a:rPr>
              <a:t>后处理</a:t>
            </a:r>
            <a:endParaRPr lang="en-US" altLang="zh-CN" sz="2800" dirty="0" smtClean="0">
              <a:latin typeface="Times New Roman" panose="02020603050405020304" pitchFamily="18" charset="0"/>
            </a:endParaRPr>
          </a:p>
          <a:p>
            <a:pPr eaLnBrk="1" hangingPunct="1">
              <a:lnSpc>
                <a:spcPct val="150000"/>
              </a:lnSpc>
            </a:pPr>
            <a:r>
              <a:rPr lang="zh-CN" altLang="en-US" sz="2800" dirty="0" smtClean="0">
                <a:latin typeface="Times New Roman" panose="02020603050405020304" pitchFamily="18" charset="0"/>
                <a:hlinkClick r:id="rId6" action="ppaction://hlinksldjump"/>
              </a:rPr>
              <a:t>指令调度</a:t>
            </a:r>
            <a:endParaRPr lang="zh-CN" altLang="en-US" sz="2800" dirty="0">
              <a:latin typeface="Times New Roman" panose="02020603050405020304" pitchFamily="18" charset="0"/>
            </a:endParaRPr>
          </a:p>
        </p:txBody>
      </p:sp>
      <p:sp>
        <p:nvSpPr>
          <p:cNvPr id="112646" name="Rectangle 7"/>
          <p:cNvSpPr>
            <a:spLocks noChangeArrowheads="1"/>
          </p:cNvSpPr>
          <p:nvPr/>
        </p:nvSpPr>
        <p:spPr bwMode="auto">
          <a:xfrm>
            <a:off x="914284" y="2921000"/>
            <a:ext cx="3586162" cy="685800"/>
          </a:xfrm>
          <a:prstGeom prst="rect">
            <a:avLst/>
          </a:prstGeom>
          <a:solidFill>
            <a:srgbClr val="FFFF99"/>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marL="342900" indent="-342900"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0858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4287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7716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228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6860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143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600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r>
              <a:rPr lang="zh-CN" altLang="en-US" sz="2800" dirty="0" smtClean="0">
                <a:latin typeface="Times New Roman" panose="02020603050405020304" pitchFamily="18" charset="0"/>
              </a:rPr>
              <a:t>“先写后读”</a:t>
            </a:r>
            <a:r>
              <a:rPr lang="zh-CN" altLang="en-US" sz="2800" dirty="0">
                <a:latin typeface="Times New Roman" panose="02020603050405020304" pitchFamily="18" charset="0"/>
              </a:rPr>
              <a:t>相关</a:t>
            </a:r>
            <a:endParaRPr lang="zh-CN" altLang="en-US" sz="2800" dirty="0">
              <a:latin typeface="Times New Roman" panose="02020603050405020304" pitchFamily="18" charset="0"/>
            </a:endParaRPr>
          </a:p>
        </p:txBody>
      </p:sp>
      <p:sp>
        <p:nvSpPr>
          <p:cNvPr id="112647" name="Rectangle 8"/>
          <p:cNvSpPr>
            <a:spLocks noChangeArrowheads="1"/>
          </p:cNvSpPr>
          <p:nvPr/>
        </p:nvSpPr>
        <p:spPr bwMode="auto">
          <a:xfrm>
            <a:off x="5548313" y="4893010"/>
            <a:ext cx="3067050" cy="704180"/>
          </a:xfrm>
          <a:prstGeom prst="rect">
            <a:avLst/>
          </a:prstGeom>
          <a:solidFill>
            <a:srgbClr val="CCFFCC"/>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0"/>
          <a:lstStyle>
            <a:lvl1pPr marL="342900" indent="-342900"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0858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4287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7716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228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6860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143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600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ts val="0"/>
              </a:spcBef>
              <a:spcAft>
                <a:spcPts val="0"/>
              </a:spcAft>
            </a:pPr>
            <a:r>
              <a:rPr lang="zh-CN" altLang="en-US" sz="2800" dirty="0" smtClean="0">
                <a:latin typeface="楷体_GB2312" pitchFamily="49" charset="-122"/>
                <a:hlinkClick r:id="rId7" action="ppaction://hlinksldjump"/>
              </a:rPr>
              <a:t>寄存器</a:t>
            </a:r>
            <a:r>
              <a:rPr lang="zh-CN" altLang="en-US" sz="2800" dirty="0">
                <a:latin typeface="楷体_GB2312" pitchFamily="49" charset="-122"/>
                <a:hlinkClick r:id="rId7" action="ppaction://hlinksldjump"/>
              </a:rPr>
              <a:t>换名</a:t>
            </a:r>
            <a:endParaRPr lang="zh-CN" altLang="en-US" sz="2800" dirty="0">
              <a:latin typeface="楷体_GB2312" pitchFamily="49" charset="-122"/>
            </a:endParaRPr>
          </a:p>
        </p:txBody>
      </p:sp>
      <p:sp>
        <p:nvSpPr>
          <p:cNvPr id="112648" name="AutoShape 9"/>
          <p:cNvSpPr>
            <a:spLocks noChangeArrowheads="1"/>
          </p:cNvSpPr>
          <p:nvPr/>
        </p:nvSpPr>
        <p:spPr bwMode="auto">
          <a:xfrm>
            <a:off x="4629150" y="3035300"/>
            <a:ext cx="766763" cy="457200"/>
          </a:xfrm>
          <a:prstGeom prst="notchedRightArrow">
            <a:avLst>
              <a:gd name="adj1" fmla="val 50000"/>
              <a:gd name="adj2" fmla="val 41927"/>
            </a:avLst>
          </a:prstGeom>
          <a:solidFill>
            <a:srgbClr val="FFFF00"/>
          </a:solidFill>
          <a:ln w="28575">
            <a:solidFill>
              <a:schemeClr val="tx1"/>
            </a:solidFill>
            <a:miter lim="800000"/>
          </a:ln>
          <a:effectLst>
            <a:outerShdw dist="107763" dir="2700000" algn="ctr" rotWithShape="0">
              <a:schemeClr val="bg2"/>
            </a:outerShdw>
          </a:effec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12649" name="AutoShape 10"/>
          <p:cNvSpPr>
            <a:spLocks noChangeArrowheads="1"/>
          </p:cNvSpPr>
          <p:nvPr/>
        </p:nvSpPr>
        <p:spPr bwMode="auto">
          <a:xfrm>
            <a:off x="4629150" y="5016500"/>
            <a:ext cx="766763" cy="457200"/>
          </a:xfrm>
          <a:prstGeom prst="notchedRightArrow">
            <a:avLst>
              <a:gd name="adj1" fmla="val 50000"/>
              <a:gd name="adj2" fmla="val 41927"/>
            </a:avLst>
          </a:prstGeom>
          <a:solidFill>
            <a:srgbClr val="FFFF00"/>
          </a:solidFill>
          <a:ln w="28575">
            <a:solidFill>
              <a:schemeClr val="tx1"/>
            </a:solidFill>
            <a:miter lim="800000"/>
          </a:ln>
          <a:effectLst>
            <a:outerShdw dist="107763" dir="2700000" algn="ctr" rotWithShape="0">
              <a:schemeClr val="bg2"/>
            </a:outerShdw>
          </a:effec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9938" name="Rectangle 2"/>
          <p:cNvSpPr>
            <a:spLocks noGrp="1" noChangeArrowheads="1"/>
          </p:cNvSpPr>
          <p:nvPr>
            <p:ph type="title"/>
          </p:nvPr>
        </p:nvSpPr>
        <p:spPr/>
        <p:txBody>
          <a:bodyPr/>
          <a:lstStyle/>
          <a:p>
            <a:pPr eaLnBrk="1" hangingPunct="1">
              <a:defRPr/>
            </a:pPr>
            <a:r>
              <a:rPr lang="zh-CN" altLang="en-US" sz="5400" smtClean="0"/>
              <a:t>设置专用路径</a:t>
            </a:r>
            <a:endParaRPr lang="en-US" altLang="zh-CN" sz="3600" smtClean="0"/>
          </a:p>
        </p:txBody>
      </p:sp>
      <p:sp>
        <p:nvSpPr>
          <p:cNvPr id="679941" name="Rectangle 5"/>
          <p:cNvSpPr>
            <a:spLocks noGrp="1" noChangeArrowheads="1"/>
          </p:cNvSpPr>
          <p:nvPr>
            <p:ph type="body" sz="half" idx="1"/>
          </p:nvPr>
        </p:nvSpPr>
        <p:spPr>
          <a:solidFill>
            <a:srgbClr val="FFFF99"/>
          </a:solidFill>
          <a:ln w="57150" cmpd="thickThin">
            <a:solidFill>
              <a:schemeClr val="tx1"/>
            </a:solidFill>
            <a:miter lim="800000"/>
          </a:ln>
        </p:spPr>
        <p:txBody>
          <a:bodyPr/>
          <a:lstStyle/>
          <a:p>
            <a:pPr marL="0" indent="0" eaLnBrk="1" hangingPunct="1">
              <a:lnSpc>
                <a:spcPct val="120000"/>
              </a:lnSpc>
              <a:buClr>
                <a:srgbClr val="FF0000"/>
              </a:buClr>
              <a:defRPr/>
            </a:pPr>
            <a:r>
              <a:rPr lang="zh-CN" altLang="en-US" dirty="0" smtClean="0">
                <a:solidFill>
                  <a:srgbClr val="FF0000"/>
                </a:solidFill>
                <a:effectLst>
                  <a:outerShdw blurRad="38100" dist="38100" dir="2700000" algn="tl">
                    <a:srgbClr val="000000"/>
                  </a:outerShdw>
                </a:effectLst>
              </a:rPr>
              <a:t>  思想</a:t>
            </a:r>
            <a:endParaRPr lang="zh-CN" altLang="en-US" dirty="0" smtClean="0">
              <a:solidFill>
                <a:srgbClr val="FF0000"/>
              </a:solidFill>
              <a:effectLst>
                <a:outerShdw blurRad="38100" dist="38100" dir="2700000" algn="tl">
                  <a:srgbClr val="000000"/>
                </a:outerShdw>
              </a:effectLst>
            </a:endParaRPr>
          </a:p>
          <a:p>
            <a:pPr marL="0" indent="0" eaLnBrk="1" hangingPunct="1">
              <a:lnSpc>
                <a:spcPct val="120000"/>
              </a:lnSpc>
              <a:buNone/>
              <a:defRPr/>
            </a:pPr>
            <a:r>
              <a:rPr lang="zh-CN" altLang="en-US" dirty="0" smtClean="0"/>
              <a:t>    </a:t>
            </a:r>
            <a:r>
              <a:rPr lang="zh-CN" altLang="en-US" dirty="0"/>
              <a:t>也</a:t>
            </a:r>
            <a:r>
              <a:rPr lang="zh-CN" altLang="en-US" dirty="0" smtClean="0"/>
              <a:t>称</a:t>
            </a:r>
            <a:r>
              <a:rPr lang="zh-CN" altLang="en-US" dirty="0" smtClean="0">
                <a:solidFill>
                  <a:srgbClr val="0000FF"/>
                </a:solidFill>
              </a:rPr>
              <a:t>定向（旁路、短路）技术</a:t>
            </a:r>
            <a:r>
              <a:rPr lang="zh-CN" altLang="en-US" dirty="0" smtClean="0"/>
              <a:t>。将结果直接送到需要它的功能部件，即：</a:t>
            </a:r>
            <a:r>
              <a:rPr lang="zh-CN" altLang="en-US" dirty="0">
                <a:solidFill>
                  <a:srgbClr val="009900"/>
                </a:solidFill>
                <a:effectLst>
                  <a:outerShdw blurRad="38100" dist="38100" dir="2700000" algn="tl">
                    <a:srgbClr val="000000"/>
                  </a:outerShdw>
                </a:effectLst>
              </a:rPr>
              <a:t>前面指令的</a:t>
            </a:r>
            <a:r>
              <a:rPr lang="zh-CN" altLang="en-US" dirty="0" smtClean="0">
                <a:solidFill>
                  <a:srgbClr val="009900"/>
                </a:solidFill>
                <a:effectLst>
                  <a:outerShdw blurRad="38100" dist="38100" dir="2700000" algn="tl">
                    <a:srgbClr val="000000"/>
                  </a:outerShdw>
                </a:effectLst>
              </a:rPr>
              <a:t>一个结果能够从一个部件的输出直接送到后面指令</a:t>
            </a:r>
            <a:r>
              <a:rPr lang="zh-CN" altLang="en-US" dirty="0">
                <a:solidFill>
                  <a:srgbClr val="009900"/>
                </a:solidFill>
                <a:effectLst>
                  <a:outerShdw blurRad="38100" dist="38100" dir="2700000" algn="tl">
                    <a:srgbClr val="000000"/>
                  </a:outerShdw>
                </a:effectLst>
              </a:rPr>
              <a:t>的另</a:t>
            </a:r>
            <a:r>
              <a:rPr lang="zh-CN" altLang="en-US" dirty="0" smtClean="0">
                <a:solidFill>
                  <a:srgbClr val="009900"/>
                </a:solidFill>
                <a:effectLst>
                  <a:outerShdw blurRad="38100" dist="38100" dir="2700000" algn="tl">
                    <a:srgbClr val="000000"/>
                  </a:outerShdw>
                </a:effectLst>
              </a:rPr>
              <a:t>一个部件的输入</a:t>
            </a:r>
            <a:r>
              <a:rPr lang="zh-CN" altLang="en-US" dirty="0" smtClean="0"/>
              <a:t>。</a:t>
            </a:r>
            <a:endParaRPr lang="zh-CN" altLang="en-US" dirty="0" smtClean="0"/>
          </a:p>
        </p:txBody>
      </p:sp>
      <p:sp>
        <p:nvSpPr>
          <p:cNvPr id="679942" name="Rectangle 6"/>
          <p:cNvSpPr>
            <a:spLocks noGrp="1" noChangeArrowheads="1"/>
          </p:cNvSpPr>
          <p:nvPr>
            <p:ph type="body" sz="half" idx="2"/>
          </p:nvPr>
        </p:nvSpPr>
        <p:spPr>
          <a:xfrm>
            <a:off x="4864100" y="1989138"/>
            <a:ext cx="3956050" cy="4411662"/>
          </a:xfrm>
          <a:solidFill>
            <a:srgbClr val="CC99FF"/>
          </a:solidFill>
          <a:ln w="57150" cmpd="thickThin">
            <a:solidFill>
              <a:schemeClr val="tx1"/>
            </a:solidFill>
            <a:miter lim="800000"/>
          </a:ln>
        </p:spPr>
        <p:txBody>
          <a:bodyPr/>
          <a:lstStyle/>
          <a:p>
            <a:pPr eaLnBrk="1" hangingPunct="1">
              <a:lnSpc>
                <a:spcPct val="120000"/>
              </a:lnSpc>
              <a:buClr>
                <a:srgbClr val="FF0000"/>
              </a:buClr>
              <a:tabLst>
                <a:tab pos="1349375" algn="l"/>
              </a:tabLst>
              <a:defRPr/>
            </a:pPr>
            <a:r>
              <a:rPr lang="zh-CN" altLang="en-US" dirty="0" smtClean="0">
                <a:solidFill>
                  <a:srgbClr val="FF0000"/>
                </a:solidFill>
                <a:effectLst>
                  <a:outerShdw blurRad="38100" dist="38100" dir="2700000" algn="tl">
                    <a:srgbClr val="000000"/>
                  </a:outerShdw>
                </a:effectLst>
              </a:rPr>
              <a:t>程序段</a:t>
            </a:r>
            <a:endParaRPr lang="zh-CN" altLang="en-US" dirty="0" smtClean="0">
              <a:solidFill>
                <a:srgbClr val="FF0000"/>
              </a:solidFill>
              <a:effectLst>
                <a:outerShdw blurRad="38100" dist="38100" dir="2700000" algn="tl">
                  <a:srgbClr val="000000"/>
                </a:outerShdw>
              </a:effectLst>
            </a:endParaRPr>
          </a:p>
          <a:p>
            <a:pPr eaLnBrk="1" hangingPunct="1">
              <a:lnSpc>
                <a:spcPct val="120000"/>
              </a:lnSpc>
              <a:buFont typeface="Wingdings" panose="05000000000000000000" pitchFamily="2" charset="2"/>
              <a:buNone/>
              <a:tabLst>
                <a:tab pos="1349375" algn="l"/>
              </a:tabLst>
              <a:defRPr/>
            </a:pPr>
            <a:r>
              <a:rPr lang="en-US" altLang="zh-CN" dirty="0" smtClean="0"/>
              <a:t>DADD	</a:t>
            </a:r>
            <a:r>
              <a:rPr lang="en-US" altLang="zh-CN" b="0" dirty="0" smtClean="0">
                <a:solidFill>
                  <a:srgbClr val="FFFF00"/>
                </a:solidFill>
                <a:effectLst>
                  <a:outerShdw blurRad="38100" dist="38100" dir="2700000" algn="tl">
                    <a:srgbClr val="000000"/>
                  </a:outerShdw>
                </a:effectLst>
              </a:rPr>
              <a:t>R1</a:t>
            </a:r>
            <a:r>
              <a:rPr lang="en-US" altLang="zh-CN" dirty="0" smtClean="0"/>
              <a:t>,R2,R3</a:t>
            </a:r>
            <a:endParaRPr lang="en-US" altLang="zh-CN" dirty="0" smtClean="0"/>
          </a:p>
          <a:p>
            <a:pPr eaLnBrk="1" hangingPunct="1">
              <a:lnSpc>
                <a:spcPct val="120000"/>
              </a:lnSpc>
              <a:buFont typeface="Wingdings" panose="05000000000000000000" pitchFamily="2" charset="2"/>
              <a:buNone/>
              <a:tabLst>
                <a:tab pos="1349375" algn="l"/>
              </a:tabLst>
              <a:defRPr/>
            </a:pPr>
            <a:r>
              <a:rPr lang="en-US" altLang="zh-CN" dirty="0" smtClean="0"/>
              <a:t>DSUB	R4,</a:t>
            </a:r>
            <a:r>
              <a:rPr lang="en-US" altLang="zh-CN" b="0" dirty="0" smtClean="0">
                <a:solidFill>
                  <a:srgbClr val="FFFF00"/>
                </a:solidFill>
                <a:effectLst>
                  <a:outerShdw blurRad="38100" dist="38100" dir="2700000" algn="tl">
                    <a:srgbClr val="000000"/>
                  </a:outerShdw>
                </a:effectLst>
              </a:rPr>
              <a:t>R1</a:t>
            </a:r>
            <a:r>
              <a:rPr lang="en-US" altLang="zh-CN" dirty="0" smtClean="0"/>
              <a:t>,R5</a:t>
            </a:r>
            <a:endParaRPr lang="en-US" altLang="zh-CN" dirty="0" smtClean="0"/>
          </a:p>
          <a:p>
            <a:pPr eaLnBrk="1" hangingPunct="1">
              <a:lnSpc>
                <a:spcPct val="120000"/>
              </a:lnSpc>
              <a:buFont typeface="Wingdings" panose="05000000000000000000" pitchFamily="2" charset="2"/>
              <a:buNone/>
              <a:tabLst>
                <a:tab pos="1349375" algn="l"/>
              </a:tabLst>
              <a:defRPr/>
            </a:pPr>
            <a:r>
              <a:rPr lang="en-US" altLang="zh-CN" dirty="0" smtClean="0"/>
              <a:t>AND	R6,</a:t>
            </a:r>
            <a:r>
              <a:rPr lang="en-US" altLang="zh-CN" b="0" dirty="0" smtClean="0">
                <a:solidFill>
                  <a:srgbClr val="FFFF00"/>
                </a:solidFill>
                <a:effectLst>
                  <a:outerShdw blurRad="38100" dist="38100" dir="2700000" algn="tl">
                    <a:srgbClr val="000000"/>
                  </a:outerShdw>
                </a:effectLst>
              </a:rPr>
              <a:t>R1</a:t>
            </a:r>
            <a:r>
              <a:rPr lang="en-US" altLang="zh-CN" dirty="0" smtClean="0"/>
              <a:t>,R7</a:t>
            </a:r>
            <a:endParaRPr lang="en-US" altLang="zh-CN" dirty="0" smtClean="0"/>
          </a:p>
          <a:p>
            <a:pPr eaLnBrk="1" hangingPunct="1">
              <a:lnSpc>
                <a:spcPct val="120000"/>
              </a:lnSpc>
              <a:buFont typeface="Wingdings" panose="05000000000000000000" pitchFamily="2" charset="2"/>
              <a:buNone/>
              <a:tabLst>
                <a:tab pos="1349375" algn="l"/>
              </a:tabLst>
              <a:defRPr/>
            </a:pPr>
            <a:r>
              <a:rPr lang="en-US" altLang="zh-CN" dirty="0" smtClean="0"/>
              <a:t>OR	R8,</a:t>
            </a:r>
            <a:r>
              <a:rPr lang="en-US" altLang="zh-CN" b="0" dirty="0" smtClean="0">
                <a:solidFill>
                  <a:srgbClr val="FFFF00"/>
                </a:solidFill>
                <a:effectLst>
                  <a:outerShdw blurRad="38100" dist="38100" dir="2700000" algn="tl">
                    <a:srgbClr val="000000"/>
                  </a:outerShdw>
                </a:effectLst>
              </a:rPr>
              <a:t>R1</a:t>
            </a:r>
            <a:r>
              <a:rPr lang="en-US" altLang="zh-CN" dirty="0" smtClean="0"/>
              <a:t>,R9</a:t>
            </a:r>
            <a:endParaRPr lang="en-US" altLang="zh-CN" dirty="0" smtClean="0"/>
          </a:p>
          <a:p>
            <a:pPr eaLnBrk="1" hangingPunct="1">
              <a:lnSpc>
                <a:spcPct val="120000"/>
              </a:lnSpc>
              <a:buFont typeface="Wingdings" panose="05000000000000000000" pitchFamily="2" charset="2"/>
              <a:buNone/>
              <a:tabLst>
                <a:tab pos="1349375" algn="l"/>
              </a:tabLst>
              <a:defRPr/>
            </a:pPr>
            <a:r>
              <a:rPr lang="en-US" altLang="zh-CN" dirty="0" smtClean="0"/>
              <a:t>XOR	R10,</a:t>
            </a:r>
            <a:r>
              <a:rPr lang="en-US" altLang="zh-CN" b="0" dirty="0" smtClean="0">
                <a:solidFill>
                  <a:srgbClr val="FFFF00"/>
                </a:solidFill>
                <a:effectLst>
                  <a:outerShdw blurRad="38100" dist="38100" dir="2700000" algn="tl">
                    <a:srgbClr val="000000"/>
                  </a:outerShdw>
                </a:effectLst>
              </a:rPr>
              <a:t>R1</a:t>
            </a:r>
            <a:r>
              <a:rPr lang="en-US" altLang="zh-CN" dirty="0" smtClean="0"/>
              <a:t>,R11</a:t>
            </a:r>
            <a:endParaRPr lang="zh-CN" altLang="en-US" dirty="0" smtClean="0"/>
          </a:p>
        </p:txBody>
      </p:sp>
      <p:sp>
        <p:nvSpPr>
          <p:cNvPr id="11366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数据相关解决</a:t>
            </a:r>
            <a:endParaRPr lang="zh-CN" altLang="en-US" sz="1200" b="0">
              <a:latin typeface="Times New Roman" panose="02020603050405020304" pitchFamily="18" charset="0"/>
              <a:ea typeface="幼圆" panose="02010509060101010101" pitchFamily="49" charset="-122"/>
            </a:endParaRPr>
          </a:p>
        </p:txBody>
      </p:sp>
      <p:sp>
        <p:nvSpPr>
          <p:cNvPr id="113670"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14690" name="Picture 9" descr="AppA-fig06"/>
          <p:cNvPicPr>
            <a:picLocks noChangeAspect="1" noChangeArrowheads="1"/>
          </p:cNvPicPr>
          <p:nvPr/>
        </p:nvPicPr>
        <p:blipFill>
          <a:blip r:embed="rId1">
            <a:extLst>
              <a:ext uri="{28A0092B-C50C-407E-A947-70E740481C1C}">
                <a14:useLocalDpi xmlns:a14="http://schemas.microsoft.com/office/drawing/2010/main" val="0"/>
              </a:ext>
            </a:extLst>
          </a:blip>
          <a:srcRect b="11349"/>
          <a:stretch>
            <a:fillRect/>
          </a:stretch>
        </p:blipFill>
        <p:spPr bwMode="auto">
          <a:xfrm>
            <a:off x="457200" y="381000"/>
            <a:ext cx="7696200" cy="563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691" name="Text Box 3"/>
          <p:cNvSpPr txBox="1">
            <a:spLocks noChangeArrowheads="1"/>
          </p:cNvSpPr>
          <p:nvPr/>
        </p:nvSpPr>
        <p:spPr bwMode="auto">
          <a:xfrm>
            <a:off x="2819400" y="6172200"/>
            <a:ext cx="33528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400">
                <a:latin typeface="Comic Sans MS" panose="030F0702030302020204" pitchFamily="66" charset="0"/>
              </a:rPr>
              <a:t>“先写后读”数据相关</a:t>
            </a:r>
            <a:endParaRPr lang="zh-CN" altLang="en-US" sz="2400">
              <a:latin typeface="Comic Sans MS" panose="030F0702030302020204" pitchFamily="66" charset="0"/>
            </a:endParaRPr>
          </a:p>
        </p:txBody>
      </p:sp>
      <p:sp>
        <p:nvSpPr>
          <p:cNvPr id="114692"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2</a:t>
            </a:r>
            <a:endParaRPr lang="zh-CN" altLang="en-US" sz="1200" b="0">
              <a:latin typeface="幼圆" panose="02010509060101010101" pitchFamily="49" charset="-122"/>
              <a:ea typeface="幼圆" panose="02010509060101010101" pitchFamily="49" charset="-122"/>
            </a:endParaRPr>
          </a:p>
        </p:txBody>
      </p:sp>
      <p:grpSp>
        <p:nvGrpSpPr>
          <p:cNvPr id="680978" name="Group 18"/>
          <p:cNvGrpSpPr/>
          <p:nvPr/>
        </p:nvGrpSpPr>
        <p:grpSpPr bwMode="auto">
          <a:xfrm>
            <a:off x="685800" y="914400"/>
            <a:ext cx="6705600" cy="990600"/>
            <a:chOff x="432" y="576"/>
            <a:chExt cx="4224" cy="624"/>
          </a:xfrm>
        </p:grpSpPr>
        <p:sp>
          <p:nvSpPr>
            <p:cNvPr id="114706" name="Oval 5"/>
            <p:cNvSpPr>
              <a:spLocks noChangeArrowheads="1"/>
            </p:cNvSpPr>
            <p:nvPr/>
          </p:nvSpPr>
          <p:spPr bwMode="auto">
            <a:xfrm>
              <a:off x="432" y="720"/>
              <a:ext cx="672" cy="336"/>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14707" name="AutoShape 8"/>
            <p:cNvSpPr>
              <a:spLocks noChangeArrowheads="1"/>
            </p:cNvSpPr>
            <p:nvPr/>
          </p:nvSpPr>
          <p:spPr bwMode="auto">
            <a:xfrm>
              <a:off x="3504" y="576"/>
              <a:ext cx="1152" cy="624"/>
            </a:xfrm>
            <a:prstGeom prst="irregularSeal2">
              <a:avLst/>
            </a:prstGeom>
            <a:noFill/>
            <a:ln w="28575">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680979" name="Group 19"/>
          <p:cNvGrpSpPr/>
          <p:nvPr/>
        </p:nvGrpSpPr>
        <p:grpSpPr bwMode="auto">
          <a:xfrm>
            <a:off x="685800" y="1981200"/>
            <a:ext cx="4495800" cy="990600"/>
            <a:chOff x="432" y="1248"/>
            <a:chExt cx="2832" cy="624"/>
          </a:xfrm>
        </p:grpSpPr>
        <p:sp>
          <p:nvSpPr>
            <p:cNvPr id="114704" name="AutoShape 10"/>
            <p:cNvSpPr>
              <a:spLocks noChangeArrowheads="1"/>
            </p:cNvSpPr>
            <p:nvPr/>
          </p:nvSpPr>
          <p:spPr bwMode="auto">
            <a:xfrm>
              <a:off x="2112" y="1248"/>
              <a:ext cx="1152" cy="624"/>
            </a:xfrm>
            <a:prstGeom prst="irregularSeal2">
              <a:avLst/>
            </a:prstGeom>
            <a:noFill/>
            <a:ln w="28575">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14705" name="Oval 13"/>
            <p:cNvSpPr>
              <a:spLocks noChangeArrowheads="1"/>
            </p:cNvSpPr>
            <p:nvPr/>
          </p:nvSpPr>
          <p:spPr bwMode="auto">
            <a:xfrm>
              <a:off x="432" y="1392"/>
              <a:ext cx="672" cy="336"/>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680980" name="Group 20"/>
          <p:cNvGrpSpPr/>
          <p:nvPr/>
        </p:nvGrpSpPr>
        <p:grpSpPr bwMode="auto">
          <a:xfrm>
            <a:off x="685800" y="2971800"/>
            <a:ext cx="5638800" cy="990600"/>
            <a:chOff x="432" y="1872"/>
            <a:chExt cx="3552" cy="624"/>
          </a:xfrm>
        </p:grpSpPr>
        <p:sp>
          <p:nvSpPr>
            <p:cNvPr id="114702" name="AutoShape 11"/>
            <p:cNvSpPr>
              <a:spLocks noChangeArrowheads="1"/>
            </p:cNvSpPr>
            <p:nvPr/>
          </p:nvSpPr>
          <p:spPr bwMode="auto">
            <a:xfrm>
              <a:off x="2832" y="1872"/>
              <a:ext cx="1152" cy="624"/>
            </a:xfrm>
            <a:prstGeom prst="irregularSeal2">
              <a:avLst/>
            </a:prstGeom>
            <a:noFill/>
            <a:ln w="28575">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14703" name="Oval 14"/>
            <p:cNvSpPr>
              <a:spLocks noChangeArrowheads="1"/>
            </p:cNvSpPr>
            <p:nvPr/>
          </p:nvSpPr>
          <p:spPr bwMode="auto">
            <a:xfrm>
              <a:off x="432" y="2016"/>
              <a:ext cx="672" cy="336"/>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680981" name="Group 21"/>
          <p:cNvGrpSpPr/>
          <p:nvPr/>
        </p:nvGrpSpPr>
        <p:grpSpPr bwMode="auto">
          <a:xfrm>
            <a:off x="685800" y="4038600"/>
            <a:ext cx="6705600" cy="990600"/>
            <a:chOff x="432" y="2544"/>
            <a:chExt cx="4224" cy="624"/>
          </a:xfrm>
        </p:grpSpPr>
        <p:sp>
          <p:nvSpPr>
            <p:cNvPr id="114700" name="AutoShape 12"/>
            <p:cNvSpPr>
              <a:spLocks noChangeArrowheads="1"/>
            </p:cNvSpPr>
            <p:nvPr/>
          </p:nvSpPr>
          <p:spPr bwMode="auto">
            <a:xfrm>
              <a:off x="3504" y="2544"/>
              <a:ext cx="1152" cy="624"/>
            </a:xfrm>
            <a:prstGeom prst="irregularSeal2">
              <a:avLst/>
            </a:prstGeom>
            <a:noFill/>
            <a:ln w="28575">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14701" name="Oval 15"/>
            <p:cNvSpPr>
              <a:spLocks noChangeArrowheads="1"/>
            </p:cNvSpPr>
            <p:nvPr/>
          </p:nvSpPr>
          <p:spPr bwMode="auto">
            <a:xfrm>
              <a:off x="432" y="2688"/>
              <a:ext cx="672" cy="336"/>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680982" name="Group 22"/>
          <p:cNvGrpSpPr/>
          <p:nvPr/>
        </p:nvGrpSpPr>
        <p:grpSpPr bwMode="auto">
          <a:xfrm>
            <a:off x="685800" y="4953000"/>
            <a:ext cx="7772400" cy="1066800"/>
            <a:chOff x="432" y="3120"/>
            <a:chExt cx="4896" cy="672"/>
          </a:xfrm>
        </p:grpSpPr>
        <p:sp>
          <p:nvSpPr>
            <p:cNvPr id="114698" name="AutoShape 7"/>
            <p:cNvSpPr>
              <a:spLocks noChangeArrowheads="1"/>
            </p:cNvSpPr>
            <p:nvPr/>
          </p:nvSpPr>
          <p:spPr bwMode="auto">
            <a:xfrm>
              <a:off x="4176" y="3168"/>
              <a:ext cx="1152" cy="624"/>
            </a:xfrm>
            <a:prstGeom prst="irregularSeal2">
              <a:avLst/>
            </a:prstGeom>
            <a:noFill/>
            <a:ln w="28575">
              <a:solidFill>
                <a:srgbClr val="0099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14699" name="Oval 17"/>
            <p:cNvSpPr>
              <a:spLocks noChangeArrowheads="1"/>
            </p:cNvSpPr>
            <p:nvPr/>
          </p:nvSpPr>
          <p:spPr bwMode="auto">
            <a:xfrm>
              <a:off x="432" y="3120"/>
              <a:ext cx="672" cy="336"/>
            </a:xfrm>
            <a:prstGeom prst="ellipse">
              <a:avLst/>
            </a:prstGeom>
            <a:noFill/>
            <a:ln w="28575">
              <a:solidFill>
                <a:srgbClr val="0099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nodeType="clickEffect">
                                  <p:stCondLst>
                                    <p:cond delay="0"/>
                                  </p:stCondLst>
                                  <p:childTnLst>
                                    <p:set>
                                      <p:cBhvr>
                                        <p:cTn id="6" dur="1" fill="hold">
                                          <p:stCondLst>
                                            <p:cond delay="499"/>
                                          </p:stCondLst>
                                        </p:cTn>
                                        <p:tgtEl>
                                          <p:spTgt spid="680978"/>
                                        </p:tgtEl>
                                        <p:attrNameLst>
                                          <p:attrName>style.visibility</p:attrName>
                                        </p:attrNameLst>
                                      </p:cBhvr>
                                      <p:to>
                                        <p:strVal val="visible"/>
                                      </p:to>
                                    </p:set>
                                    <p:anim to="" calcmode="lin" valueType="num">
                                      <p:cBhvr>
                                        <p:cTn id="7" dur="1" fill="hold"/>
                                        <p:tgtEl>
                                          <p:spTgt spid="680978"/>
                                        </p:tgtEl>
                                      </p:cBhvr>
                                    </p:anim>
                                  </p:childTnLst>
                                </p:cTn>
                              </p:par>
                            </p:childTnLst>
                          </p:cTn>
                        </p:par>
                      </p:childTnLst>
                    </p:cTn>
                  </p:par>
                  <p:par>
                    <p:cTn id="8" fill="hold">
                      <p:stCondLst>
                        <p:cond delay="indefinite"/>
                      </p:stCondLst>
                      <p:childTnLst>
                        <p:par>
                          <p:cTn id="9" fill="hold">
                            <p:stCondLst>
                              <p:cond delay="0"/>
                            </p:stCondLst>
                            <p:childTnLst>
                              <p:par>
                                <p:cTn id="10" presetID="24" presetClass="entr" presetSubtype="0" fill="hold" nodeType="clickEffect">
                                  <p:stCondLst>
                                    <p:cond delay="0"/>
                                  </p:stCondLst>
                                  <p:childTnLst>
                                    <p:set>
                                      <p:cBhvr>
                                        <p:cTn id="11" dur="1" fill="hold">
                                          <p:stCondLst>
                                            <p:cond delay="499"/>
                                          </p:stCondLst>
                                        </p:cTn>
                                        <p:tgtEl>
                                          <p:spTgt spid="680979"/>
                                        </p:tgtEl>
                                        <p:attrNameLst>
                                          <p:attrName>style.visibility</p:attrName>
                                        </p:attrNameLst>
                                      </p:cBhvr>
                                      <p:to>
                                        <p:strVal val="visible"/>
                                      </p:to>
                                    </p:set>
                                    <p:anim to="" calcmode="lin" valueType="num">
                                      <p:cBhvr>
                                        <p:cTn id="12" dur="1" fill="hold"/>
                                        <p:tgtEl>
                                          <p:spTgt spid="680979"/>
                                        </p:tgtEl>
                                      </p:cBhvr>
                                    </p:anim>
                                  </p:childTnLst>
                                </p:cTn>
                              </p:par>
                            </p:childTnLst>
                          </p:cTn>
                        </p:par>
                      </p:childTnLst>
                    </p:cTn>
                  </p:par>
                  <p:par>
                    <p:cTn id="13" fill="hold">
                      <p:stCondLst>
                        <p:cond delay="indefinite"/>
                      </p:stCondLst>
                      <p:childTnLst>
                        <p:par>
                          <p:cTn id="14" fill="hold">
                            <p:stCondLst>
                              <p:cond delay="0"/>
                            </p:stCondLst>
                            <p:childTnLst>
                              <p:par>
                                <p:cTn id="15" presetID="24" presetClass="entr" presetSubtype="0" fill="hold" nodeType="clickEffect">
                                  <p:stCondLst>
                                    <p:cond delay="0"/>
                                  </p:stCondLst>
                                  <p:childTnLst>
                                    <p:set>
                                      <p:cBhvr>
                                        <p:cTn id="16" dur="1" fill="hold">
                                          <p:stCondLst>
                                            <p:cond delay="499"/>
                                          </p:stCondLst>
                                        </p:cTn>
                                        <p:tgtEl>
                                          <p:spTgt spid="680980"/>
                                        </p:tgtEl>
                                        <p:attrNameLst>
                                          <p:attrName>style.visibility</p:attrName>
                                        </p:attrNameLst>
                                      </p:cBhvr>
                                      <p:to>
                                        <p:strVal val="visible"/>
                                      </p:to>
                                    </p:set>
                                    <p:anim to="" calcmode="lin" valueType="num">
                                      <p:cBhvr>
                                        <p:cTn id="17" dur="1" fill="hold"/>
                                        <p:tgtEl>
                                          <p:spTgt spid="680980"/>
                                        </p:tgtEl>
                                      </p:cBhvr>
                                    </p:anim>
                                  </p:childTnLst>
                                </p:cTn>
                              </p:par>
                            </p:childTnLst>
                          </p:cTn>
                        </p:par>
                      </p:childTnLst>
                    </p:cTn>
                  </p:par>
                  <p:par>
                    <p:cTn id="18" fill="hold">
                      <p:stCondLst>
                        <p:cond delay="indefinite"/>
                      </p:stCondLst>
                      <p:childTnLst>
                        <p:par>
                          <p:cTn id="19" fill="hold">
                            <p:stCondLst>
                              <p:cond delay="0"/>
                            </p:stCondLst>
                            <p:childTnLst>
                              <p:par>
                                <p:cTn id="20" presetID="24" presetClass="entr" presetSubtype="0" fill="hold" nodeType="clickEffect">
                                  <p:stCondLst>
                                    <p:cond delay="0"/>
                                  </p:stCondLst>
                                  <p:childTnLst>
                                    <p:set>
                                      <p:cBhvr>
                                        <p:cTn id="21" dur="1" fill="hold">
                                          <p:stCondLst>
                                            <p:cond delay="499"/>
                                          </p:stCondLst>
                                        </p:cTn>
                                        <p:tgtEl>
                                          <p:spTgt spid="680981"/>
                                        </p:tgtEl>
                                        <p:attrNameLst>
                                          <p:attrName>style.visibility</p:attrName>
                                        </p:attrNameLst>
                                      </p:cBhvr>
                                      <p:to>
                                        <p:strVal val="visible"/>
                                      </p:to>
                                    </p:set>
                                    <p:anim to="" calcmode="lin" valueType="num">
                                      <p:cBhvr>
                                        <p:cTn id="22" dur="1" fill="hold"/>
                                        <p:tgtEl>
                                          <p:spTgt spid="680981"/>
                                        </p:tgtEl>
                                      </p:cBhvr>
                                    </p:anim>
                                  </p:childTnLst>
                                </p:cTn>
                              </p:par>
                            </p:childTnLst>
                          </p:cTn>
                        </p:par>
                      </p:childTnLst>
                    </p:cTn>
                  </p:par>
                  <p:par>
                    <p:cTn id="23" fill="hold">
                      <p:stCondLst>
                        <p:cond delay="indefinite"/>
                      </p:stCondLst>
                      <p:childTnLst>
                        <p:par>
                          <p:cTn id="24" fill="hold">
                            <p:stCondLst>
                              <p:cond delay="0"/>
                            </p:stCondLst>
                            <p:childTnLst>
                              <p:par>
                                <p:cTn id="25" presetID="24" presetClass="entr" presetSubtype="0" fill="hold" nodeType="clickEffect">
                                  <p:stCondLst>
                                    <p:cond delay="0"/>
                                  </p:stCondLst>
                                  <p:childTnLst>
                                    <p:set>
                                      <p:cBhvr>
                                        <p:cTn id="26" dur="1" fill="hold">
                                          <p:stCondLst>
                                            <p:cond delay="499"/>
                                          </p:stCondLst>
                                        </p:cTn>
                                        <p:tgtEl>
                                          <p:spTgt spid="680982"/>
                                        </p:tgtEl>
                                        <p:attrNameLst>
                                          <p:attrName>style.visibility</p:attrName>
                                        </p:attrNameLst>
                                      </p:cBhvr>
                                      <p:to>
                                        <p:strVal val="visible"/>
                                      </p:to>
                                    </p:set>
                                    <p:anim to="" calcmode="lin" valueType="num">
                                      <p:cBhvr>
                                        <p:cTn id="27" dur="1" fill="hold"/>
                                        <p:tgtEl>
                                          <p:spTgt spid="680982"/>
                                        </p:tgtEl>
                                      </p:cBhvr>
                                    </p:anim>
                                  </p:childTnLst>
                                  <p:subTnLst>
                                    <p:audio>
                                      <p:cMediaNode>
                                        <p:cTn display="0" masterRel="sameClick">
                                          <p:stCondLst>
                                            <p:cond evt="begin" delay="0">
                                              <p:tn val="25"/>
                                            </p:cond>
                                          </p:stCondLst>
                                          <p:endCondLst>
                                            <p:cond evt="onStopAudio" delay="0">
                                              <p:tgtEl>
                                                <p:sldTgt/>
                                              </p:tgtEl>
                                            </p:cond>
                                          </p:endCondLst>
                                        </p:cTn>
                                        <p:tgtEl>
                                          <p:sndTgt r:embed="rId3"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15714" name="Picture 20" descr="AppA-fig07"/>
          <p:cNvPicPr>
            <a:picLocks noChangeAspect="1" noChangeArrowheads="1"/>
          </p:cNvPicPr>
          <p:nvPr/>
        </p:nvPicPr>
        <p:blipFill>
          <a:blip r:embed="rId1">
            <a:extLst>
              <a:ext uri="{28A0092B-C50C-407E-A947-70E740481C1C}">
                <a14:useLocalDpi xmlns:a14="http://schemas.microsoft.com/office/drawing/2010/main" val="0"/>
              </a:ext>
            </a:extLst>
          </a:blip>
          <a:srcRect b="11443"/>
          <a:stretch>
            <a:fillRect/>
          </a:stretch>
        </p:blipFill>
        <p:spPr bwMode="auto">
          <a:xfrm>
            <a:off x="457200" y="304800"/>
            <a:ext cx="7848600" cy="570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715" name="Text Box 3"/>
          <p:cNvSpPr txBox="1">
            <a:spLocks noChangeArrowheads="1"/>
          </p:cNvSpPr>
          <p:nvPr/>
        </p:nvSpPr>
        <p:spPr bwMode="auto">
          <a:xfrm>
            <a:off x="1379538" y="6172200"/>
            <a:ext cx="6432550" cy="46355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400">
                <a:latin typeface="Comic Sans MS" panose="030F0702030302020204" pitchFamily="66" charset="0"/>
              </a:rPr>
              <a:t>通过设置专用路径解决“先写后读”数据相关</a:t>
            </a:r>
            <a:endParaRPr lang="zh-CN" altLang="en-US" sz="2400">
              <a:latin typeface="Comic Sans MS" panose="030F0702030302020204" pitchFamily="66" charset="0"/>
            </a:endParaRPr>
          </a:p>
        </p:txBody>
      </p:sp>
      <p:sp>
        <p:nvSpPr>
          <p:cNvPr id="115716"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3</a:t>
            </a:r>
            <a:endParaRPr lang="zh-CN" altLang="en-US" sz="1200" b="0">
              <a:latin typeface="幼圆" panose="02010509060101010101" pitchFamily="49" charset="-122"/>
              <a:ea typeface="幼圆" panose="02010509060101010101" pitchFamily="49" charset="-122"/>
            </a:endParaRPr>
          </a:p>
        </p:txBody>
      </p:sp>
      <p:sp>
        <p:nvSpPr>
          <p:cNvPr id="683029" name="Line 21"/>
          <p:cNvSpPr>
            <a:spLocks noChangeShapeType="1"/>
          </p:cNvSpPr>
          <p:nvPr/>
        </p:nvSpPr>
        <p:spPr bwMode="auto">
          <a:xfrm>
            <a:off x="4876800" y="1371600"/>
            <a:ext cx="304800" cy="1143000"/>
          </a:xfrm>
          <a:prstGeom prst="line">
            <a:avLst/>
          </a:prstGeom>
          <a:noFill/>
          <a:ln w="38100">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3030" name="Line 22"/>
          <p:cNvSpPr>
            <a:spLocks noChangeShapeType="1"/>
          </p:cNvSpPr>
          <p:nvPr/>
        </p:nvSpPr>
        <p:spPr bwMode="auto">
          <a:xfrm>
            <a:off x="6019800" y="1371600"/>
            <a:ext cx="228600" cy="1981200"/>
          </a:xfrm>
          <a:prstGeom prst="line">
            <a:avLst/>
          </a:prstGeom>
          <a:noFill/>
          <a:ln w="38100">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3031" name="Line 23"/>
          <p:cNvSpPr>
            <a:spLocks noChangeShapeType="1"/>
          </p:cNvSpPr>
          <p:nvPr/>
        </p:nvSpPr>
        <p:spPr bwMode="auto">
          <a:xfrm>
            <a:off x="6553200" y="1447800"/>
            <a:ext cx="0" cy="3048000"/>
          </a:xfrm>
          <a:prstGeom prst="line">
            <a:avLst/>
          </a:prstGeom>
          <a:noFill/>
          <a:ln w="38100">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83029"/>
                                        </p:tgtEl>
                                        <p:attrNameLst>
                                          <p:attrName>style.visibility</p:attrName>
                                        </p:attrNameLst>
                                      </p:cBhvr>
                                      <p:to>
                                        <p:strVal val="visible"/>
                                      </p:to>
                                    </p:set>
                                    <p:animEffect transition="in" filter="wipe(up)">
                                      <p:cBhvr>
                                        <p:cTn id="7" dur="500"/>
                                        <p:tgtEl>
                                          <p:spTgt spid="68302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683030"/>
                                        </p:tgtEl>
                                        <p:attrNameLst>
                                          <p:attrName>style.visibility</p:attrName>
                                        </p:attrNameLst>
                                      </p:cBhvr>
                                      <p:to>
                                        <p:strVal val="visible"/>
                                      </p:to>
                                    </p:set>
                                    <p:animEffect transition="in" filter="wipe(up)">
                                      <p:cBhvr>
                                        <p:cTn id="12" dur="500"/>
                                        <p:tgtEl>
                                          <p:spTgt spid="68303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683031"/>
                                        </p:tgtEl>
                                        <p:attrNameLst>
                                          <p:attrName>style.visibility</p:attrName>
                                        </p:attrNameLst>
                                      </p:cBhvr>
                                      <p:to>
                                        <p:strVal val="visible"/>
                                      </p:to>
                                    </p:set>
                                    <p:animEffect transition="in" filter="wipe(up)">
                                      <p:cBhvr>
                                        <p:cTn id="17" dur="500"/>
                                        <p:tgtEl>
                                          <p:spTgt spid="6830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3029" grpId="0" animBg="1"/>
      <p:bldP spid="683030" grpId="0" animBg="1"/>
      <p:bldP spid="683031"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1202" name="Rectangle 2"/>
          <p:cNvSpPr>
            <a:spLocks noGrp="1" noChangeArrowheads="1"/>
          </p:cNvSpPr>
          <p:nvPr>
            <p:ph type="title"/>
          </p:nvPr>
        </p:nvSpPr>
        <p:spPr/>
        <p:txBody>
          <a:bodyPr/>
          <a:lstStyle/>
          <a:p>
            <a:pPr eaLnBrk="1" hangingPunct="1">
              <a:defRPr/>
            </a:pPr>
            <a:r>
              <a:rPr lang="zh-CN" altLang="en-US" sz="5400" dirty="0" smtClean="0"/>
              <a:t>推后处理</a:t>
            </a:r>
            <a:endParaRPr lang="en-US" altLang="zh-CN" sz="3600" dirty="0" smtClean="0"/>
          </a:p>
        </p:txBody>
      </p:sp>
      <p:sp>
        <p:nvSpPr>
          <p:cNvPr id="691203" name="Rectangle 3"/>
          <p:cNvSpPr>
            <a:spLocks noGrp="1" noChangeArrowheads="1"/>
          </p:cNvSpPr>
          <p:nvPr>
            <p:ph type="body" sz="half" idx="1"/>
          </p:nvPr>
        </p:nvSpPr>
        <p:spPr>
          <a:xfrm>
            <a:off x="809625" y="2060575"/>
            <a:ext cx="3902075" cy="4176713"/>
          </a:xfrm>
          <a:solidFill>
            <a:srgbClr val="FFFF99"/>
          </a:solidFill>
          <a:ln w="57150" cmpd="thickThin">
            <a:solidFill>
              <a:schemeClr val="tx1"/>
            </a:solidFill>
            <a:miter lim="800000"/>
          </a:ln>
        </p:spPr>
        <p:txBody>
          <a:bodyPr/>
          <a:lstStyle/>
          <a:p>
            <a:pPr marL="0" indent="0" eaLnBrk="1" hangingPunct="1">
              <a:lnSpc>
                <a:spcPct val="130000"/>
              </a:lnSpc>
              <a:buClr>
                <a:srgbClr val="FF0000"/>
              </a:buClr>
              <a:defRPr/>
            </a:pPr>
            <a:r>
              <a:rPr lang="zh-CN" altLang="en-US" sz="3200" dirty="0" smtClean="0">
                <a:solidFill>
                  <a:srgbClr val="FF0000"/>
                </a:solidFill>
                <a:effectLst>
                  <a:outerShdw blurRad="38100" dist="38100" dir="2700000" algn="tl">
                    <a:srgbClr val="000000"/>
                  </a:outerShdw>
                </a:effectLst>
              </a:rPr>
              <a:t>  思想</a:t>
            </a:r>
            <a:endParaRPr lang="zh-CN" altLang="en-US" sz="3200" dirty="0" smtClean="0">
              <a:solidFill>
                <a:srgbClr val="FF0000"/>
              </a:solidFill>
              <a:effectLst>
                <a:outerShdw blurRad="38100" dist="38100" dir="2700000" algn="tl">
                  <a:srgbClr val="000000"/>
                </a:outerShdw>
              </a:effectLst>
            </a:endParaRPr>
          </a:p>
          <a:p>
            <a:pPr marL="0" indent="0" eaLnBrk="1" hangingPunct="1">
              <a:lnSpc>
                <a:spcPct val="130000"/>
              </a:lnSpc>
              <a:buFont typeface="Wingdings" panose="05000000000000000000" pitchFamily="2" charset="2"/>
              <a:buNone/>
              <a:defRPr/>
            </a:pPr>
            <a:r>
              <a:rPr lang="zh-CN" altLang="en-US" sz="3200" dirty="0" smtClean="0"/>
              <a:t>    对于采用设置专用路径无法解决的数据相关只有</a:t>
            </a:r>
            <a:r>
              <a:rPr lang="zh-CN" altLang="en-US" sz="3200" dirty="0" smtClean="0">
                <a:solidFill>
                  <a:srgbClr val="0000FF"/>
                </a:solidFill>
              </a:rPr>
              <a:t>推后处理</a:t>
            </a:r>
            <a:r>
              <a:rPr lang="zh-CN" altLang="en-US" sz="3200" dirty="0" smtClean="0"/>
              <a:t>（</a:t>
            </a:r>
            <a:r>
              <a:rPr lang="zh-CN" altLang="en-US" sz="3200" dirty="0" smtClean="0">
                <a:solidFill>
                  <a:srgbClr val="0000FF"/>
                </a:solidFill>
              </a:rPr>
              <a:t>停顿</a:t>
            </a:r>
            <a:r>
              <a:rPr lang="zh-CN" altLang="en-US" sz="3200" dirty="0" smtClean="0"/>
              <a:t>）相关指令，直至数据就绪。</a:t>
            </a:r>
            <a:endParaRPr lang="zh-CN" altLang="en-US" sz="3200" dirty="0" smtClean="0"/>
          </a:p>
        </p:txBody>
      </p:sp>
      <p:sp>
        <p:nvSpPr>
          <p:cNvPr id="691204" name="Rectangle 4"/>
          <p:cNvSpPr>
            <a:spLocks noGrp="1" noChangeArrowheads="1"/>
          </p:cNvSpPr>
          <p:nvPr>
            <p:ph type="body" sz="half" idx="2"/>
          </p:nvPr>
        </p:nvSpPr>
        <p:spPr>
          <a:xfrm>
            <a:off x="4864100" y="2060575"/>
            <a:ext cx="3903663" cy="4176713"/>
          </a:xfrm>
          <a:solidFill>
            <a:srgbClr val="CC99FF"/>
          </a:solidFill>
          <a:ln w="57150" cmpd="thickThin">
            <a:solidFill>
              <a:schemeClr val="tx1"/>
            </a:solidFill>
            <a:miter lim="800000"/>
          </a:ln>
        </p:spPr>
        <p:txBody>
          <a:bodyPr/>
          <a:lstStyle/>
          <a:p>
            <a:pPr eaLnBrk="1" hangingPunct="1">
              <a:lnSpc>
                <a:spcPct val="130000"/>
              </a:lnSpc>
              <a:buClr>
                <a:srgbClr val="FF0000"/>
              </a:buClr>
              <a:tabLst>
                <a:tab pos="1349375" algn="l"/>
              </a:tabLst>
              <a:defRPr/>
            </a:pPr>
            <a:r>
              <a:rPr lang="zh-CN" altLang="en-US" sz="3200" dirty="0" smtClean="0">
                <a:solidFill>
                  <a:srgbClr val="FF0000"/>
                </a:solidFill>
                <a:effectLst>
                  <a:outerShdw blurRad="38100" dist="38100" dir="2700000" algn="tl">
                    <a:srgbClr val="000000"/>
                  </a:outerShdw>
                </a:effectLst>
              </a:rPr>
              <a:t>程序段</a:t>
            </a:r>
            <a:endParaRPr lang="zh-CN" altLang="en-US" sz="3200" dirty="0" smtClean="0">
              <a:solidFill>
                <a:srgbClr val="FF0000"/>
              </a:solidFill>
              <a:effectLst>
                <a:outerShdw blurRad="38100" dist="38100" dir="2700000" algn="tl">
                  <a:srgbClr val="000000"/>
                </a:outerShdw>
              </a:effectLst>
            </a:endParaRPr>
          </a:p>
          <a:p>
            <a:pPr eaLnBrk="1" hangingPunct="1">
              <a:lnSpc>
                <a:spcPct val="130000"/>
              </a:lnSpc>
              <a:buFont typeface="Wingdings" panose="05000000000000000000" pitchFamily="2" charset="2"/>
              <a:buNone/>
              <a:tabLst>
                <a:tab pos="1349375" algn="l"/>
              </a:tabLst>
              <a:defRPr/>
            </a:pPr>
            <a:r>
              <a:rPr lang="en-US" altLang="zh-CN" sz="3200" dirty="0" smtClean="0"/>
              <a:t>LD	</a:t>
            </a:r>
            <a:r>
              <a:rPr lang="en-US" altLang="zh-CN" sz="3200" b="0" dirty="0" smtClean="0">
                <a:solidFill>
                  <a:srgbClr val="FFFF00"/>
                </a:solidFill>
                <a:effectLst>
                  <a:outerShdw blurRad="38100" dist="38100" dir="2700000" algn="tl">
                    <a:srgbClr val="000000"/>
                  </a:outerShdw>
                </a:effectLst>
              </a:rPr>
              <a:t>R1</a:t>
            </a:r>
            <a:r>
              <a:rPr lang="en-US" altLang="zh-CN" sz="3200" dirty="0" smtClean="0"/>
              <a:t>,0(R2)</a:t>
            </a:r>
            <a:endParaRPr lang="en-US" altLang="zh-CN" sz="3200" dirty="0" smtClean="0"/>
          </a:p>
          <a:p>
            <a:pPr eaLnBrk="1" hangingPunct="1">
              <a:lnSpc>
                <a:spcPct val="130000"/>
              </a:lnSpc>
              <a:buFont typeface="Wingdings" panose="05000000000000000000" pitchFamily="2" charset="2"/>
              <a:buNone/>
              <a:tabLst>
                <a:tab pos="1349375" algn="l"/>
              </a:tabLst>
              <a:defRPr/>
            </a:pPr>
            <a:r>
              <a:rPr lang="en-US" altLang="zh-CN" sz="3200" dirty="0" smtClean="0"/>
              <a:t>DSUB	R4,</a:t>
            </a:r>
            <a:r>
              <a:rPr lang="en-US" altLang="zh-CN" sz="3200" b="0" dirty="0" smtClean="0">
                <a:solidFill>
                  <a:srgbClr val="FFFF00"/>
                </a:solidFill>
                <a:effectLst>
                  <a:outerShdw blurRad="38100" dist="38100" dir="2700000" algn="tl">
                    <a:srgbClr val="000000"/>
                  </a:outerShdw>
                </a:effectLst>
              </a:rPr>
              <a:t>R1</a:t>
            </a:r>
            <a:r>
              <a:rPr lang="en-US" altLang="zh-CN" sz="3200" dirty="0" smtClean="0"/>
              <a:t>,R5</a:t>
            </a:r>
            <a:endParaRPr lang="en-US" altLang="zh-CN" sz="3200" dirty="0" smtClean="0"/>
          </a:p>
          <a:p>
            <a:pPr eaLnBrk="1" hangingPunct="1">
              <a:lnSpc>
                <a:spcPct val="130000"/>
              </a:lnSpc>
              <a:buFont typeface="Wingdings" panose="05000000000000000000" pitchFamily="2" charset="2"/>
              <a:buNone/>
              <a:tabLst>
                <a:tab pos="1349375" algn="l"/>
              </a:tabLst>
              <a:defRPr/>
            </a:pPr>
            <a:r>
              <a:rPr lang="en-US" altLang="zh-CN" sz="3200" dirty="0" smtClean="0"/>
              <a:t>AND	R6,</a:t>
            </a:r>
            <a:r>
              <a:rPr lang="en-US" altLang="zh-CN" sz="3200" b="0" dirty="0" smtClean="0">
                <a:solidFill>
                  <a:srgbClr val="FFFF00"/>
                </a:solidFill>
                <a:effectLst>
                  <a:outerShdw blurRad="38100" dist="38100" dir="2700000" algn="tl">
                    <a:srgbClr val="000000"/>
                  </a:outerShdw>
                </a:effectLst>
              </a:rPr>
              <a:t>R1</a:t>
            </a:r>
            <a:r>
              <a:rPr lang="en-US" altLang="zh-CN" sz="3200" dirty="0" smtClean="0"/>
              <a:t>,R7</a:t>
            </a:r>
            <a:endParaRPr lang="en-US" altLang="zh-CN" sz="3200" dirty="0" smtClean="0"/>
          </a:p>
          <a:p>
            <a:pPr eaLnBrk="1" hangingPunct="1">
              <a:lnSpc>
                <a:spcPct val="130000"/>
              </a:lnSpc>
              <a:buFont typeface="Wingdings" panose="05000000000000000000" pitchFamily="2" charset="2"/>
              <a:buNone/>
              <a:tabLst>
                <a:tab pos="1349375" algn="l"/>
              </a:tabLst>
              <a:defRPr/>
            </a:pPr>
            <a:r>
              <a:rPr lang="en-US" altLang="zh-CN" sz="3200" dirty="0" smtClean="0"/>
              <a:t>OR	R8,</a:t>
            </a:r>
            <a:r>
              <a:rPr lang="en-US" altLang="zh-CN" sz="3200" b="0" dirty="0" smtClean="0">
                <a:solidFill>
                  <a:srgbClr val="FFFF00"/>
                </a:solidFill>
                <a:effectLst>
                  <a:outerShdw blurRad="38100" dist="38100" dir="2700000" algn="tl">
                    <a:srgbClr val="000000"/>
                  </a:outerShdw>
                </a:effectLst>
              </a:rPr>
              <a:t>R1</a:t>
            </a:r>
            <a:r>
              <a:rPr lang="en-US" altLang="zh-CN" sz="3200" dirty="0" smtClean="0"/>
              <a:t>,R9</a:t>
            </a:r>
            <a:endParaRPr lang="en-US" altLang="zh-CN" sz="3200" dirty="0" smtClean="0"/>
          </a:p>
        </p:txBody>
      </p:sp>
      <p:sp>
        <p:nvSpPr>
          <p:cNvPr id="116741"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数据相关解决</a:t>
            </a:r>
            <a:endParaRPr lang="zh-CN" altLang="en-US" sz="1200" b="0">
              <a:latin typeface="Times New Roman" panose="02020603050405020304" pitchFamily="18" charset="0"/>
              <a:ea typeface="幼圆" panose="02010509060101010101" pitchFamily="49" charset="-122"/>
            </a:endParaRPr>
          </a:p>
        </p:txBody>
      </p:sp>
      <p:sp>
        <p:nvSpPr>
          <p:cNvPr id="116742"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17762" name="Picture 20" descr="AppA-fig09"/>
          <p:cNvPicPr>
            <a:picLocks noChangeAspect="1" noChangeArrowheads="1"/>
          </p:cNvPicPr>
          <p:nvPr/>
        </p:nvPicPr>
        <p:blipFill>
          <a:blip r:embed="rId1">
            <a:extLst>
              <a:ext uri="{28A0092B-C50C-407E-A947-70E740481C1C}">
                <a14:useLocalDpi xmlns:a14="http://schemas.microsoft.com/office/drawing/2010/main" val="0"/>
              </a:ext>
            </a:extLst>
          </a:blip>
          <a:srcRect b="13498"/>
          <a:stretch>
            <a:fillRect/>
          </a:stretch>
        </p:blipFill>
        <p:spPr bwMode="auto">
          <a:xfrm>
            <a:off x="381000" y="381000"/>
            <a:ext cx="8305800" cy="574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63" name="Text Box 3"/>
          <p:cNvSpPr txBox="1">
            <a:spLocks noChangeArrowheads="1"/>
          </p:cNvSpPr>
          <p:nvPr/>
        </p:nvSpPr>
        <p:spPr bwMode="auto">
          <a:xfrm>
            <a:off x="1600200" y="6172200"/>
            <a:ext cx="60960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400">
                <a:latin typeface="Comic Sans MS" panose="030F0702030302020204" pitchFamily="66" charset="0"/>
              </a:rPr>
              <a:t>通过设置专用路径解决数据相关（</a:t>
            </a:r>
            <a:r>
              <a:rPr lang="zh-CN" altLang="en-US" sz="2400">
                <a:solidFill>
                  <a:srgbClr val="FF0000"/>
                </a:solidFill>
                <a:latin typeface="Comic Sans MS" panose="030F0702030302020204" pitchFamily="66" charset="0"/>
              </a:rPr>
              <a:t>失败</a:t>
            </a:r>
            <a:r>
              <a:rPr lang="zh-CN" altLang="en-US" sz="2400">
                <a:latin typeface="Comic Sans MS" panose="030F0702030302020204" pitchFamily="66" charset="0"/>
              </a:rPr>
              <a:t>）</a:t>
            </a:r>
            <a:endParaRPr lang="zh-CN" altLang="en-US" sz="2400">
              <a:latin typeface="Comic Sans MS" panose="030F0702030302020204" pitchFamily="66" charset="0"/>
            </a:endParaRPr>
          </a:p>
        </p:txBody>
      </p:sp>
      <p:sp>
        <p:nvSpPr>
          <p:cNvPr id="117764"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2</a:t>
            </a:r>
            <a:endParaRPr lang="zh-CN" altLang="en-US" sz="1200" b="0">
              <a:latin typeface="幼圆" panose="02010509060101010101" pitchFamily="49" charset="-122"/>
              <a:ea typeface="幼圆" panose="02010509060101010101" pitchFamily="49" charset="-122"/>
            </a:endParaRPr>
          </a:p>
        </p:txBody>
      </p:sp>
      <p:sp>
        <p:nvSpPr>
          <p:cNvPr id="686101" name="Line 21"/>
          <p:cNvSpPr>
            <a:spLocks noChangeShapeType="1"/>
          </p:cNvSpPr>
          <p:nvPr/>
        </p:nvSpPr>
        <p:spPr bwMode="auto">
          <a:xfrm flipH="1">
            <a:off x="6172200" y="1600200"/>
            <a:ext cx="1066800" cy="1143000"/>
          </a:xfrm>
          <a:prstGeom prst="line">
            <a:avLst/>
          </a:prstGeom>
          <a:noFill/>
          <a:ln w="38100">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6102" name="Line 22"/>
          <p:cNvSpPr>
            <a:spLocks noChangeShapeType="1"/>
          </p:cNvSpPr>
          <p:nvPr/>
        </p:nvSpPr>
        <p:spPr bwMode="auto">
          <a:xfrm>
            <a:off x="7239000" y="1600200"/>
            <a:ext cx="304800" cy="2438400"/>
          </a:xfrm>
          <a:prstGeom prst="line">
            <a:avLst/>
          </a:prstGeom>
          <a:noFill/>
          <a:ln w="38100">
            <a:solidFill>
              <a:srgbClr val="0099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6103" name="Line 23"/>
          <p:cNvSpPr>
            <a:spLocks noChangeShapeType="1"/>
          </p:cNvSpPr>
          <p:nvPr/>
        </p:nvSpPr>
        <p:spPr bwMode="auto">
          <a:xfrm>
            <a:off x="7924800" y="1752600"/>
            <a:ext cx="0" cy="3657600"/>
          </a:xfrm>
          <a:prstGeom prst="line">
            <a:avLst/>
          </a:prstGeom>
          <a:noFill/>
          <a:ln w="38100">
            <a:solidFill>
              <a:srgbClr val="0099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6104" name="AutoShape 24"/>
          <p:cNvSpPr>
            <a:spLocks noChangeArrowheads="1"/>
          </p:cNvSpPr>
          <p:nvPr/>
        </p:nvSpPr>
        <p:spPr bwMode="auto">
          <a:xfrm>
            <a:off x="2209800" y="3657600"/>
            <a:ext cx="2514600" cy="762000"/>
          </a:xfrm>
          <a:prstGeom prst="cloudCallout">
            <a:avLst>
              <a:gd name="adj1" fmla="val 105176"/>
              <a:gd name="adj2" fmla="val -152708"/>
            </a:avLst>
          </a:prstGeom>
          <a:solidFill>
            <a:srgbClr val="FF0000"/>
          </a:solidFill>
          <a:ln w="28575">
            <a:solidFill>
              <a:schemeClr val="tx1"/>
            </a:solidFill>
            <a:round/>
          </a:ln>
          <a:effectLst>
            <a:outerShdw dist="35921" dir="2700000" algn="ctr" rotWithShape="0">
              <a:schemeClr val="bg2"/>
            </a:outerShdw>
          </a:effectLst>
        </p:spPr>
        <p:txBody>
          <a:bodyPr/>
          <a:lstStyle/>
          <a:p>
            <a:pPr algn="ctr">
              <a:defRPr/>
            </a:pPr>
            <a:r>
              <a:rPr lang="zh-CN" altLang="en-US" sz="2400" b="1">
                <a:solidFill>
                  <a:srgbClr val="FFFF00"/>
                </a:solidFill>
                <a:effectLst>
                  <a:outerShdw blurRad="38100" dist="38100" dir="2700000" algn="tl">
                    <a:srgbClr val="000000"/>
                  </a:outerShdw>
                </a:effectLst>
                <a:latin typeface="Times New Roman" panose="02020603050405020304" pitchFamily="18" charset="0"/>
                <a:ea typeface="楷体_GB2312" pitchFamily="49" charset="-122"/>
              </a:rPr>
              <a:t>失败</a:t>
            </a:r>
            <a:endParaRPr lang="zh-CN" altLang="en-US" sz="2400" b="1">
              <a:solidFill>
                <a:srgbClr val="FFFF00"/>
              </a:solidFill>
              <a:effectLst>
                <a:outerShdw blurRad="38100" dist="38100" dir="2700000" algn="tl">
                  <a:srgbClr val="000000"/>
                </a:outerShdw>
              </a:effectLst>
              <a:latin typeface="Times New Roman" panose="02020603050405020304" pitchFamily="18" charset="0"/>
              <a:ea typeface="楷体_GB2312" pitchFamily="49" charset="-122"/>
            </a:endParaRPr>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86101"/>
                                        </p:tgtEl>
                                        <p:attrNameLst>
                                          <p:attrName>style.visibility</p:attrName>
                                        </p:attrNameLst>
                                      </p:cBhvr>
                                      <p:to>
                                        <p:strVal val="visible"/>
                                      </p:to>
                                    </p:set>
                                    <p:animEffect transition="in" filter="wipe(up)">
                                      <p:cBhvr>
                                        <p:cTn id="7" dur="500"/>
                                        <p:tgtEl>
                                          <p:spTgt spid="68610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686102"/>
                                        </p:tgtEl>
                                        <p:attrNameLst>
                                          <p:attrName>style.visibility</p:attrName>
                                        </p:attrNameLst>
                                      </p:cBhvr>
                                      <p:to>
                                        <p:strVal val="visible"/>
                                      </p:to>
                                    </p:set>
                                    <p:animEffect transition="in" filter="wipe(up)">
                                      <p:cBhvr>
                                        <p:cTn id="12" dur="500"/>
                                        <p:tgtEl>
                                          <p:spTgt spid="68610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686103"/>
                                        </p:tgtEl>
                                        <p:attrNameLst>
                                          <p:attrName>style.visibility</p:attrName>
                                        </p:attrNameLst>
                                      </p:cBhvr>
                                      <p:to>
                                        <p:strVal val="visible"/>
                                      </p:to>
                                    </p:set>
                                    <p:animEffect transition="in" filter="wipe(up)">
                                      <p:cBhvr>
                                        <p:cTn id="17" dur="500"/>
                                        <p:tgtEl>
                                          <p:spTgt spid="686103"/>
                                        </p:tgtEl>
                                      </p:cBhvr>
                                    </p:animEffect>
                                  </p:childTnLst>
                                </p:cTn>
                              </p:par>
                            </p:childTnLst>
                          </p:cTn>
                        </p:par>
                      </p:childTnLst>
                    </p:cTn>
                  </p:par>
                  <p:par>
                    <p:cTn id="18" fill="hold">
                      <p:stCondLst>
                        <p:cond delay="indefinite"/>
                      </p:stCondLst>
                      <p:childTnLst>
                        <p:par>
                          <p:cTn id="19" fill="hold">
                            <p:stCondLst>
                              <p:cond delay="0"/>
                            </p:stCondLst>
                            <p:childTnLst>
                              <p:par>
                                <p:cTn id="20" presetID="24" presetClass="entr" presetSubtype="0" fill="hold" grpId="0" nodeType="clickEffect">
                                  <p:stCondLst>
                                    <p:cond delay="0"/>
                                  </p:stCondLst>
                                  <p:childTnLst>
                                    <p:set>
                                      <p:cBhvr>
                                        <p:cTn id="21" dur="1" fill="hold">
                                          <p:stCondLst>
                                            <p:cond delay="499"/>
                                          </p:stCondLst>
                                        </p:cTn>
                                        <p:tgtEl>
                                          <p:spTgt spid="686104"/>
                                        </p:tgtEl>
                                        <p:attrNameLst>
                                          <p:attrName>style.visibility</p:attrName>
                                        </p:attrNameLst>
                                      </p:cBhvr>
                                      <p:to>
                                        <p:strVal val="visible"/>
                                      </p:to>
                                    </p:set>
                                    <p:anim to="" calcmode="lin" valueType="num">
                                      <p:cBhvr>
                                        <p:cTn id="22" dur="1" fill="hold"/>
                                        <p:tgtEl>
                                          <p:spTgt spid="686104"/>
                                        </p:tgtEl>
                                      </p:cBhvr>
                                    </p:anim>
                                  </p:childTnLst>
                                  <p:subTnLst>
                                    <p:audio>
                                      <p:cMediaNode>
                                        <p:cTn display="0" masterRel="sameClick">
                                          <p:stCondLst>
                                            <p:cond evt="begin" delay="0">
                                              <p:tn val="20"/>
                                            </p:cond>
                                          </p:stCondLst>
                                          <p:endCondLst>
                                            <p:cond evt="onStopAudio" delay="0">
                                              <p:tgtEl>
                                                <p:sldTgt/>
                                              </p:tgtEl>
                                            </p:cond>
                                          </p:endCondLst>
                                        </p:cTn>
                                        <p:tgtEl>
                                          <p:sndTgt r:embed="rId3"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101" grpId="0" animBg="1"/>
      <p:bldP spid="686102" grpId="0" animBg="1"/>
      <p:bldP spid="686103" grpId="0" animBg="1"/>
      <p:bldP spid="686104" grpId="0" animBg="1" autoUpdateAnimBg="0"/>
    </p:bldLst>
  </p:timing>
</p:sld>
</file>

<file path=ppt/slides/slide1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8786" name="Text Box 3"/>
          <p:cNvSpPr txBox="1">
            <a:spLocks noChangeArrowheads="1"/>
          </p:cNvSpPr>
          <p:nvPr/>
        </p:nvSpPr>
        <p:spPr bwMode="auto">
          <a:xfrm>
            <a:off x="2438400" y="6172200"/>
            <a:ext cx="49530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400">
                <a:latin typeface="Comic Sans MS" panose="030F0702030302020204" pitchFamily="66" charset="0"/>
              </a:rPr>
              <a:t>通过推后处理解决数据相关</a:t>
            </a:r>
            <a:endParaRPr lang="zh-CN" altLang="en-US" sz="2400">
              <a:latin typeface="Comic Sans MS" panose="030F0702030302020204" pitchFamily="66" charset="0"/>
            </a:endParaRPr>
          </a:p>
        </p:txBody>
      </p:sp>
      <p:sp>
        <p:nvSpPr>
          <p:cNvPr id="118787"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3</a:t>
            </a:r>
            <a:endParaRPr lang="zh-CN" altLang="en-US" sz="1200" b="0">
              <a:latin typeface="幼圆" panose="02010509060101010101" pitchFamily="49" charset="-122"/>
              <a:ea typeface="幼圆" panose="02010509060101010101" pitchFamily="49" charset="-122"/>
            </a:endParaRPr>
          </a:p>
        </p:txBody>
      </p:sp>
      <p:graphicFrame>
        <p:nvGraphicFramePr>
          <p:cNvPr id="688348" name="Group 220"/>
          <p:cNvGraphicFramePr>
            <a:graphicFrameLocks noGrp="1"/>
          </p:cNvGraphicFramePr>
          <p:nvPr/>
        </p:nvGraphicFramePr>
        <p:xfrm>
          <a:off x="533400" y="381000"/>
          <a:ext cx="8229600" cy="2381250"/>
        </p:xfrm>
        <a:graphic>
          <a:graphicData uri="http://schemas.openxmlformats.org/drawingml/2006/table">
            <a:tbl>
              <a:tblPr/>
              <a:tblGrid>
                <a:gridCol w="2133600"/>
                <a:gridCol w="685800"/>
                <a:gridCol w="685800"/>
                <a:gridCol w="685800"/>
                <a:gridCol w="685800"/>
                <a:gridCol w="685800"/>
                <a:gridCol w="685800"/>
                <a:gridCol w="685800"/>
                <a:gridCol w="685800"/>
                <a:gridCol w="609600"/>
              </a:tblGrid>
              <a:tr h="34925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指</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令</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9">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时  钟</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r>
              <a:tr h="34925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1</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2</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3</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4</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5</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6</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7</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8</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9</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33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LD     R1,0(R2)</a:t>
                      </a:r>
                      <a:endPar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EX</a:t>
                      </a:r>
                      <a:endPar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FF0000"/>
                          </a:solidFill>
                          <a:effectLst/>
                          <a:latin typeface="Tahoma" panose="020B0604030504040204" pitchFamily="34" charset="0"/>
                          <a:ea typeface="楷体_GB2312" pitchFamily="49" charset="-122"/>
                        </a:rPr>
                        <a:t>WB</a:t>
                      </a:r>
                      <a:endParaRPr kumimoji="1" lang="en-US" altLang="zh-CN" sz="2000" b="0" i="0" u="none" strike="noStrike" cap="none" normalizeH="0" baseline="0" smtClean="0">
                        <a:ln>
                          <a:noFill/>
                        </a:ln>
                        <a:solidFill>
                          <a:srgbClr val="FF0000"/>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476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DSUB R4,R1,R5</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FF0000"/>
                          </a:solidFill>
                          <a:effectLst/>
                          <a:latin typeface="Tahoma" panose="020B0604030504040204" pitchFamily="34" charset="0"/>
                          <a:ea typeface="楷体_GB2312" pitchFamily="49" charset="-122"/>
                        </a:rPr>
                        <a:t>EX</a:t>
                      </a:r>
                      <a:endParaRPr kumimoji="1" lang="zh-CN" altLang="en-US" sz="2000" b="0" i="0" u="none" strike="noStrike" cap="none" normalizeH="0" baseline="0" smtClean="0">
                        <a:ln>
                          <a:noFill/>
                        </a:ln>
                        <a:solidFill>
                          <a:srgbClr val="FF0000"/>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000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AND   R6,R1,R7</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FF0000"/>
                          </a:solidFill>
                          <a:effectLst/>
                          <a:latin typeface="Tahoma" panose="020B0604030504040204" pitchFamily="34" charset="0"/>
                          <a:ea typeface="楷体_GB2312" pitchFamily="49" charset="-122"/>
                        </a:rPr>
                        <a:t>EX</a:t>
                      </a:r>
                      <a:endParaRPr kumimoji="1" lang="zh-CN" altLang="en-US" sz="2000" b="0" i="0" u="none" strike="noStrike" cap="none" normalizeH="0" baseline="0" smtClean="0">
                        <a:ln>
                          <a:noFill/>
                        </a:ln>
                        <a:solidFill>
                          <a:srgbClr val="FF0000"/>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492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OR     R8,R1,R9</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zh-CN" altLang="en-US" sz="2000" b="0" i="0" u="none" strike="noStrike" cap="none" normalizeH="0" baseline="0" smtClean="0">
                        <a:ln>
                          <a:noFill/>
                        </a:ln>
                        <a:solidFill>
                          <a:srgbClr val="FF0000"/>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FF0000"/>
                          </a:solidFill>
                          <a:effectLst/>
                          <a:latin typeface="Tahoma" panose="020B0604030504040204" pitchFamily="34" charset="0"/>
                          <a:ea typeface="楷体_GB2312" pitchFamily="49" charset="-122"/>
                        </a:rPr>
                        <a:t>EX</a:t>
                      </a:r>
                      <a:endParaRPr kumimoji="1" lang="zh-CN" altLang="en-US" sz="2000" b="0" i="0" u="none" strike="noStrike" cap="none" normalizeH="0" baseline="0" smtClean="0">
                        <a:ln>
                          <a:noFill/>
                        </a:ln>
                        <a:solidFill>
                          <a:srgbClr val="FF0000"/>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88349" name="Group 221"/>
          <p:cNvGraphicFramePr>
            <a:graphicFrameLocks noGrp="1"/>
          </p:cNvGraphicFramePr>
          <p:nvPr/>
        </p:nvGraphicFramePr>
        <p:xfrm>
          <a:off x="457200" y="3657600"/>
          <a:ext cx="8229600" cy="2381250"/>
        </p:xfrm>
        <a:graphic>
          <a:graphicData uri="http://schemas.openxmlformats.org/drawingml/2006/table">
            <a:tbl>
              <a:tblPr/>
              <a:tblGrid>
                <a:gridCol w="2133600"/>
                <a:gridCol w="685800"/>
                <a:gridCol w="685800"/>
                <a:gridCol w="685800"/>
                <a:gridCol w="685800"/>
                <a:gridCol w="685800"/>
                <a:gridCol w="685800"/>
                <a:gridCol w="685800"/>
                <a:gridCol w="685800"/>
                <a:gridCol w="609600"/>
              </a:tblGrid>
              <a:tr h="34925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指</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令</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9">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时  钟</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r>
              <a:tr h="34925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1</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2</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3</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4</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5</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6</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7</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8</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rPr>
                        <a:t>9</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33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LD     R1,0(R2)</a:t>
                      </a:r>
                      <a:endPar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EX</a:t>
                      </a:r>
                      <a:endPar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9900"/>
                          </a:solidFill>
                          <a:effectLst/>
                          <a:latin typeface="Tahoma" panose="020B0604030504040204" pitchFamily="34" charset="0"/>
                          <a:ea typeface="楷体_GB2312" pitchFamily="49" charset="-122"/>
                        </a:rPr>
                        <a:t>WB</a:t>
                      </a:r>
                      <a:endParaRPr kumimoji="1" lang="en-US" altLang="zh-CN" sz="2000" b="0" i="0" u="none" strike="noStrike" cap="none" normalizeH="0" baseline="0" smtClean="0">
                        <a:ln>
                          <a:noFill/>
                        </a:ln>
                        <a:solidFill>
                          <a:srgbClr val="009900"/>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476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DSUB R4,R1,R5</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00CC"/>
                          </a:solidFill>
                          <a:effectLst/>
                          <a:latin typeface="Tahoma" panose="020B0604030504040204" pitchFamily="34" charset="0"/>
                          <a:ea typeface="楷体_GB2312" pitchFamily="49" charset="-122"/>
                        </a:rPr>
                        <a:t>stall</a:t>
                      </a:r>
                      <a:endParaRPr kumimoji="1" lang="en-US" altLang="zh-CN" sz="2000" b="0" i="0" u="none" strike="noStrike" cap="none" normalizeH="0" baseline="0" smtClean="0">
                        <a:ln>
                          <a:noFill/>
                        </a:ln>
                        <a:solidFill>
                          <a:srgbClr val="0000CC"/>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9900"/>
                          </a:solidFill>
                          <a:effectLst/>
                          <a:latin typeface="Tahoma" panose="020B0604030504040204" pitchFamily="34" charset="0"/>
                          <a:ea typeface="楷体_GB2312" pitchFamily="49" charset="-122"/>
                        </a:rPr>
                        <a:t>EX</a:t>
                      </a:r>
                      <a:endParaRPr kumimoji="1" lang="zh-CN" altLang="en-US" sz="2000" b="0" i="0" u="none" strike="noStrike" cap="none" normalizeH="0" baseline="0" smtClean="0">
                        <a:ln>
                          <a:noFill/>
                        </a:ln>
                        <a:solidFill>
                          <a:srgbClr val="009900"/>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000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AND   R6,R1,R7</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00CC"/>
                          </a:solidFill>
                          <a:effectLst/>
                          <a:latin typeface="Tahoma" panose="020B0604030504040204" pitchFamily="34" charset="0"/>
                          <a:ea typeface="楷体_GB2312" pitchFamily="49" charset="-122"/>
                        </a:rPr>
                        <a:t>stall</a:t>
                      </a:r>
                      <a:endParaRPr kumimoji="1" lang="zh-CN" altLang="en-US" sz="2000" b="0" i="0" u="none" strike="noStrike" cap="none" normalizeH="0" baseline="0" smtClean="0">
                        <a:ln>
                          <a:noFill/>
                        </a:ln>
                        <a:solidFill>
                          <a:srgbClr val="0000CC"/>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9900"/>
                          </a:solidFill>
                          <a:effectLst/>
                          <a:latin typeface="Tahoma" panose="020B0604030504040204" pitchFamily="34" charset="0"/>
                          <a:ea typeface="楷体_GB2312" pitchFamily="49" charset="-122"/>
                        </a:rPr>
                        <a:t>EX</a:t>
                      </a:r>
                      <a:endParaRPr kumimoji="1" lang="zh-CN" altLang="en-US" sz="2000" b="0" i="0" u="none" strike="noStrike" cap="none" normalizeH="0" baseline="0" smtClean="0">
                        <a:ln>
                          <a:noFill/>
                        </a:ln>
                        <a:solidFill>
                          <a:srgbClr val="009900"/>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492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OR     R8,R1,R9</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00CC"/>
                          </a:solidFill>
                          <a:effectLst/>
                          <a:latin typeface="Tahoma" panose="020B0604030504040204" pitchFamily="34" charset="0"/>
                          <a:ea typeface="楷体_GB2312" pitchFamily="49" charset="-122"/>
                        </a:rPr>
                        <a:t>stall</a:t>
                      </a:r>
                      <a:endParaRPr kumimoji="1" lang="zh-CN" altLang="en-US" sz="2000" b="0" i="0" u="none" strike="noStrike" cap="none" normalizeH="0" baseline="0" smtClean="0">
                        <a:ln>
                          <a:noFill/>
                        </a:ln>
                        <a:solidFill>
                          <a:srgbClr val="0000CC"/>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9900"/>
                          </a:solidFill>
                          <a:effectLst/>
                          <a:latin typeface="Tahoma" panose="020B0604030504040204" pitchFamily="34" charset="0"/>
                          <a:ea typeface="楷体_GB2312" pitchFamily="49" charset="-122"/>
                        </a:rPr>
                        <a:t>EX</a:t>
                      </a:r>
                      <a:endParaRPr kumimoji="1" lang="zh-CN" altLang="en-US" sz="2000" b="0" i="0" u="none" strike="noStrike" cap="none" normalizeH="0" baseline="0" smtClean="0">
                        <a:ln>
                          <a:noFill/>
                        </a:ln>
                        <a:solidFill>
                          <a:srgbClr val="009900"/>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zh-CN" altLang="en-US" sz="2000" b="0"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18924" name="Text Box 300"/>
          <p:cNvSpPr txBox="1">
            <a:spLocks noChangeArrowheads="1"/>
          </p:cNvSpPr>
          <p:nvPr/>
        </p:nvSpPr>
        <p:spPr bwMode="auto">
          <a:xfrm>
            <a:off x="2514600" y="2895600"/>
            <a:ext cx="49530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400">
                <a:latin typeface="Comic Sans MS" panose="030F0702030302020204" pitchFamily="66" charset="0"/>
              </a:rPr>
              <a:t>推后处理前的数据相关</a:t>
            </a:r>
            <a:endParaRPr lang="zh-CN" altLang="en-US" sz="2400">
              <a:latin typeface="Comic Sans MS" panose="030F0702030302020204" pitchFamily="66" charset="0"/>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674" name="Rectangle 2"/>
          <p:cNvSpPr>
            <a:spLocks noGrp="1" noChangeArrowheads="1"/>
          </p:cNvSpPr>
          <p:nvPr>
            <p:ph type="title"/>
          </p:nvPr>
        </p:nvSpPr>
        <p:spPr/>
        <p:txBody>
          <a:bodyPr/>
          <a:lstStyle/>
          <a:p>
            <a:pPr eaLnBrk="1" hangingPunct="1">
              <a:defRPr/>
            </a:pPr>
            <a:r>
              <a:rPr lang="zh-CN" altLang="en-US" sz="5400" dirty="0" smtClean="0"/>
              <a:t>指令调度</a:t>
            </a:r>
            <a:endParaRPr lang="en-US" altLang="zh-CN" sz="5400" dirty="0" smtClean="0"/>
          </a:p>
        </p:txBody>
      </p:sp>
      <p:sp>
        <p:nvSpPr>
          <p:cNvPr id="4" name="内容占位符 3"/>
          <p:cNvSpPr>
            <a:spLocks noGrp="1"/>
          </p:cNvSpPr>
          <p:nvPr>
            <p:ph idx="1"/>
          </p:nvPr>
        </p:nvSpPr>
        <p:spPr>
          <a:xfrm>
            <a:off x="809624" y="1989138"/>
            <a:ext cx="8105776" cy="4411662"/>
          </a:xfrm>
        </p:spPr>
        <p:txBody>
          <a:bodyPr/>
          <a:lstStyle/>
          <a:p>
            <a:r>
              <a:rPr lang="zh-CN" altLang="en-US" sz="2600" dirty="0">
                <a:solidFill>
                  <a:srgbClr val="FF0000"/>
                </a:solidFill>
              </a:rPr>
              <a:t>指令</a:t>
            </a:r>
            <a:r>
              <a:rPr lang="zh-CN" altLang="en-US" sz="2600" dirty="0" smtClean="0">
                <a:solidFill>
                  <a:srgbClr val="FF0000"/>
                </a:solidFill>
              </a:rPr>
              <a:t>调度</a:t>
            </a:r>
            <a:r>
              <a:rPr lang="zh-CN" altLang="en-US" sz="2600" dirty="0" smtClean="0"/>
              <a:t>（流水线调度）</a:t>
            </a:r>
            <a:endParaRPr lang="en-US" altLang="zh-CN" sz="2600" dirty="0" smtClean="0"/>
          </a:p>
          <a:p>
            <a:pPr lvl="1"/>
            <a:r>
              <a:rPr lang="zh-CN" altLang="en-US" sz="2600" dirty="0" smtClean="0"/>
              <a:t>为减少停顿，</a:t>
            </a:r>
            <a:r>
              <a:rPr lang="zh-CN" altLang="en-US" sz="2600" dirty="0"/>
              <a:t>对于无法采用设置专用</a:t>
            </a:r>
            <a:r>
              <a:rPr lang="zh-CN" altLang="en-US" sz="2600" dirty="0" smtClean="0"/>
              <a:t>路径解决</a:t>
            </a:r>
            <a:r>
              <a:rPr lang="zh-CN" altLang="en-US" sz="2600" dirty="0"/>
              <a:t>的数据</a:t>
            </a:r>
            <a:r>
              <a:rPr lang="zh-CN" altLang="en-US" sz="2600" dirty="0" smtClean="0"/>
              <a:t>相关，可以让</a:t>
            </a:r>
            <a:r>
              <a:rPr lang="zh-CN" altLang="en-US" sz="2600" dirty="0">
                <a:solidFill>
                  <a:srgbClr val="0000FF"/>
                </a:solidFill>
              </a:rPr>
              <a:t>编译器重新组织指令顺序</a:t>
            </a:r>
            <a:r>
              <a:rPr lang="zh-CN" altLang="en-US" sz="2600" dirty="0"/>
              <a:t>来消除</a:t>
            </a:r>
            <a:r>
              <a:rPr lang="zh-CN" altLang="en-US" sz="2600" dirty="0" smtClean="0"/>
              <a:t>冲突</a:t>
            </a:r>
            <a:endParaRPr lang="en-US" altLang="zh-CN" sz="2600" dirty="0" smtClean="0"/>
          </a:p>
          <a:p>
            <a:pPr lvl="1"/>
            <a:r>
              <a:rPr lang="zh-CN" altLang="en-US" sz="2600" dirty="0" smtClean="0">
                <a:solidFill>
                  <a:srgbClr val="0000FF"/>
                </a:solidFill>
              </a:rPr>
              <a:t>提示：</a:t>
            </a:r>
            <a:r>
              <a:rPr lang="zh-CN" altLang="en-US" sz="2600" dirty="0" smtClean="0"/>
              <a:t>实际上对于各种相关，都有可能用指令调度来解决</a:t>
            </a:r>
            <a:endParaRPr lang="en-US" altLang="zh-CN" sz="2600" dirty="0" smtClean="0"/>
          </a:p>
          <a:p>
            <a:r>
              <a:rPr lang="zh-CN" altLang="en-US" sz="2600" dirty="0" smtClean="0"/>
              <a:t>例：请</a:t>
            </a:r>
            <a:r>
              <a:rPr lang="zh-CN" altLang="en-US" sz="2600" dirty="0"/>
              <a:t>为下列表达式生成没有暂停的指令</a:t>
            </a:r>
            <a:r>
              <a:rPr lang="zh-CN" altLang="en-US" sz="2600" dirty="0" smtClean="0"/>
              <a:t>序列</a:t>
            </a:r>
            <a:endParaRPr lang="en-US" altLang="zh-CN" sz="2600" dirty="0"/>
          </a:p>
          <a:p>
            <a:pPr marL="0" indent="0">
              <a:buNone/>
            </a:pPr>
            <a:r>
              <a:rPr lang="en-US" altLang="zh-CN" sz="2600" dirty="0"/>
              <a:t>          </a:t>
            </a:r>
            <a:r>
              <a:rPr lang="zh-CN" altLang="en-US" sz="2600" dirty="0"/>
              <a:t>　</a:t>
            </a:r>
            <a:r>
              <a:rPr lang="en-US" altLang="zh-CN" sz="2600" dirty="0"/>
              <a:t>A</a:t>
            </a:r>
            <a:r>
              <a:rPr lang="zh-CN" altLang="en-US" sz="2600" dirty="0"/>
              <a:t>＝</a:t>
            </a:r>
            <a:r>
              <a:rPr lang="en-US" altLang="zh-CN" sz="2600" dirty="0"/>
              <a:t>B</a:t>
            </a:r>
            <a:r>
              <a:rPr lang="zh-CN" altLang="en-US" sz="2600" dirty="0"/>
              <a:t>＋</a:t>
            </a:r>
            <a:r>
              <a:rPr lang="en-US" altLang="zh-CN" sz="2600" dirty="0" smtClean="0"/>
              <a:t>C</a:t>
            </a:r>
            <a:endParaRPr lang="zh-CN" altLang="en-US" sz="2600" dirty="0"/>
          </a:p>
          <a:p>
            <a:pPr marL="0" indent="0">
              <a:buNone/>
            </a:pPr>
            <a:r>
              <a:rPr lang="zh-CN" altLang="en-US" sz="2600" dirty="0"/>
              <a:t>          　</a:t>
            </a:r>
            <a:r>
              <a:rPr lang="en-US" altLang="zh-CN" sz="2600" dirty="0"/>
              <a:t>D</a:t>
            </a:r>
            <a:r>
              <a:rPr lang="zh-CN" altLang="en-US" sz="2600" dirty="0"/>
              <a:t>＝</a:t>
            </a:r>
            <a:r>
              <a:rPr lang="en-US" altLang="zh-CN" sz="2600" dirty="0"/>
              <a:t>E</a:t>
            </a:r>
            <a:r>
              <a:rPr lang="zh-CN" altLang="en-US" sz="2600" dirty="0"/>
              <a:t>－</a:t>
            </a:r>
            <a:r>
              <a:rPr lang="en-US" altLang="zh-CN" sz="2600" dirty="0" smtClean="0"/>
              <a:t>F</a:t>
            </a:r>
            <a:endParaRPr lang="zh-CN" altLang="en-US" sz="2600" dirty="0"/>
          </a:p>
          <a:p>
            <a:pPr marL="0" indent="0">
              <a:buNone/>
            </a:pPr>
            <a:endParaRPr lang="zh-CN" altLang="en-US" sz="2600" dirty="0"/>
          </a:p>
          <a:p>
            <a:endParaRPr lang="zh-CN" altLang="en-US" sz="2600" dirty="0"/>
          </a:p>
        </p:txBody>
      </p:sp>
      <p:sp>
        <p:nvSpPr>
          <p:cNvPr id="119813"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数据相关解决</a:t>
            </a:r>
            <a:endParaRPr lang="zh-CN" altLang="en-US" sz="1200" b="0">
              <a:latin typeface="Times New Roman" panose="02020603050405020304" pitchFamily="18" charset="0"/>
              <a:ea typeface="幼圆" panose="02010509060101010101" pitchFamily="49" charset="-122"/>
            </a:endParaRPr>
          </a:p>
        </p:txBody>
      </p:sp>
      <p:sp>
        <p:nvSpPr>
          <p:cNvPr id="119814"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674" name="Rectangle 2"/>
          <p:cNvSpPr>
            <a:spLocks noGrp="1" noChangeArrowheads="1"/>
          </p:cNvSpPr>
          <p:nvPr>
            <p:ph type="title"/>
          </p:nvPr>
        </p:nvSpPr>
        <p:spPr/>
        <p:txBody>
          <a:bodyPr/>
          <a:lstStyle/>
          <a:p>
            <a:pPr eaLnBrk="1" hangingPunct="1">
              <a:defRPr/>
            </a:pPr>
            <a:r>
              <a:rPr lang="zh-CN" altLang="en-US" sz="5400" dirty="0" smtClean="0"/>
              <a:t>指令调度举例</a:t>
            </a:r>
            <a:endParaRPr lang="en-US" altLang="zh-CN" sz="5400" dirty="0" smtClean="0"/>
          </a:p>
        </p:txBody>
      </p:sp>
      <p:sp>
        <p:nvSpPr>
          <p:cNvPr id="119813"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数据相关解决</a:t>
            </a:r>
            <a:endParaRPr lang="zh-CN" altLang="en-US" sz="1200" b="0">
              <a:latin typeface="Times New Roman" panose="02020603050405020304" pitchFamily="18" charset="0"/>
              <a:ea typeface="幼圆" panose="02010509060101010101" pitchFamily="49" charset="-122"/>
            </a:endParaRPr>
          </a:p>
        </p:txBody>
      </p:sp>
      <p:sp>
        <p:nvSpPr>
          <p:cNvPr id="11981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dirty="0">
                <a:latin typeface="幼圆" panose="02010509060101010101" pitchFamily="49" charset="-122"/>
                <a:ea typeface="幼圆" panose="02010509060101010101" pitchFamily="49" charset="-122"/>
              </a:rPr>
              <a:t>2 之 </a:t>
            </a:r>
            <a:r>
              <a:rPr lang="en-US" altLang="zh-CN" sz="1200" b="0" dirty="0" smtClean="0">
                <a:latin typeface="幼圆" panose="02010509060101010101" pitchFamily="49" charset="-122"/>
                <a:ea typeface="幼圆" panose="02010509060101010101" pitchFamily="49" charset="-122"/>
              </a:rPr>
              <a:t>2</a:t>
            </a:r>
            <a:endParaRPr lang="zh-CN" altLang="en-US" sz="1200" b="0" dirty="0">
              <a:latin typeface="幼圆" panose="02010509060101010101" pitchFamily="49" charset="-122"/>
              <a:ea typeface="幼圆" panose="02010509060101010101" pitchFamily="49" charset="-122"/>
            </a:endParaRPr>
          </a:p>
        </p:txBody>
      </p:sp>
      <p:graphicFrame>
        <p:nvGraphicFramePr>
          <p:cNvPr id="7" name="Group 56"/>
          <p:cNvGraphicFramePr>
            <a:graphicFrameLocks noGrp="1"/>
          </p:cNvGraphicFramePr>
          <p:nvPr>
            <p:ph idx="1"/>
          </p:nvPr>
        </p:nvGraphicFramePr>
        <p:xfrm>
          <a:off x="1150450" y="1988840"/>
          <a:ext cx="7609284" cy="4281488"/>
        </p:xfrm>
        <a:graphic>
          <a:graphicData uri="http://schemas.openxmlformats.org/drawingml/2006/table">
            <a:tbl>
              <a:tblPr/>
              <a:tblGrid>
                <a:gridCol w="3805746"/>
                <a:gridCol w="3803538"/>
              </a:tblGrid>
              <a:tr h="436563">
                <a:tc>
                  <a:txBody>
                    <a:body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chemeClr val="tx1"/>
                          </a:solidFill>
                          <a:effectLst/>
                          <a:latin typeface="+mn-lt"/>
                          <a:ea typeface="+mn-ea"/>
                        </a:rPr>
                        <a:t>调度前的伪代码 </a:t>
                      </a:r>
                      <a:endParaRPr kumimoji="1" lang="zh-CN" altLang="en-US" sz="2400" b="1" i="0" u="none" strike="noStrike" cap="none" normalizeH="0" baseline="0" dirty="0" smtClean="0">
                        <a:ln>
                          <a:noFill/>
                        </a:ln>
                        <a:solidFill>
                          <a:schemeClr val="tx1"/>
                        </a:solidFill>
                        <a:effectLst/>
                        <a:latin typeface="+mn-lt"/>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chemeClr val="tx1"/>
                          </a:solidFill>
                          <a:effectLst/>
                          <a:latin typeface="+mn-lt"/>
                          <a:ea typeface="+mn-ea"/>
                        </a:rPr>
                        <a:t>调度后的伪代码 </a:t>
                      </a:r>
                      <a:endParaRPr kumimoji="1" lang="zh-CN" altLang="en-US" sz="2400" b="1" i="0" u="none" strike="noStrike" cap="none" normalizeH="0" baseline="0" dirty="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19400">
                <a:tc>
                  <a:txBody>
                    <a:body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mn-lt"/>
                          <a:ea typeface="+mn-ea"/>
                        </a:rPr>
                        <a:t>LD     </a:t>
                      </a:r>
                      <a:r>
                        <a:rPr kumimoji="1" lang="en-US" altLang="zh-CN" sz="2400" b="1" i="0" u="none" strike="noStrike" cap="none" normalizeH="0" baseline="0" dirty="0" err="1" smtClean="0">
                          <a:ln>
                            <a:noFill/>
                          </a:ln>
                          <a:solidFill>
                            <a:schemeClr val="tx1"/>
                          </a:solidFill>
                          <a:effectLst/>
                          <a:latin typeface="+mn-lt"/>
                          <a:ea typeface="+mn-ea"/>
                        </a:rPr>
                        <a:t>Rb</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B</a:t>
                      </a:r>
                      <a:endParaRPr kumimoji="1" lang="en-US" altLang="zh-CN" sz="2400" b="1" i="0" u="none" strike="noStrike" cap="none" normalizeH="0" baseline="0" dirty="0" smtClean="0">
                        <a:ln>
                          <a:noFill/>
                        </a:ln>
                        <a:solidFill>
                          <a:schemeClr val="tx1"/>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rgbClr val="0000FF"/>
                          </a:solidFill>
                          <a:effectLst/>
                          <a:latin typeface="+mn-lt"/>
                          <a:ea typeface="+mn-ea"/>
                        </a:rPr>
                        <a:t>LD     </a:t>
                      </a:r>
                      <a:r>
                        <a:rPr kumimoji="1" lang="en-US" altLang="zh-CN" sz="2400" b="1" i="0" u="none" strike="noStrike" cap="none" normalizeH="0" baseline="0" dirty="0" err="1" smtClean="0">
                          <a:ln>
                            <a:noFill/>
                          </a:ln>
                          <a:solidFill>
                            <a:srgbClr val="0000FF"/>
                          </a:solidFill>
                          <a:effectLst/>
                          <a:latin typeface="+mn-lt"/>
                          <a:ea typeface="+mn-ea"/>
                        </a:rPr>
                        <a:t>Rc</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smtClean="0">
                          <a:ln>
                            <a:noFill/>
                          </a:ln>
                          <a:solidFill>
                            <a:srgbClr val="0000FF"/>
                          </a:solidFill>
                          <a:effectLst/>
                          <a:latin typeface="+mn-lt"/>
                          <a:ea typeface="+mn-ea"/>
                        </a:rPr>
                        <a:t>C</a:t>
                      </a:r>
                      <a:endParaRPr kumimoji="1" lang="en-US" altLang="zh-CN" sz="2400" b="1" i="0" u="none" strike="noStrike" cap="none" normalizeH="0" baseline="0" dirty="0" smtClean="0">
                        <a:ln>
                          <a:noFill/>
                        </a:ln>
                        <a:solidFill>
                          <a:srgbClr val="0000FF"/>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rgbClr val="0000FF"/>
                          </a:solidFill>
                          <a:effectLst/>
                          <a:latin typeface="+mn-lt"/>
                          <a:ea typeface="+mn-ea"/>
                        </a:rPr>
                        <a:t>DADD   Ra</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err="1" smtClean="0">
                          <a:ln>
                            <a:noFill/>
                          </a:ln>
                          <a:solidFill>
                            <a:srgbClr val="0000FF"/>
                          </a:solidFill>
                          <a:effectLst/>
                          <a:latin typeface="+mn-lt"/>
                          <a:ea typeface="+mn-ea"/>
                        </a:rPr>
                        <a:t>Rb</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err="1" smtClean="0">
                          <a:ln>
                            <a:noFill/>
                          </a:ln>
                          <a:solidFill>
                            <a:srgbClr val="0000FF"/>
                          </a:solidFill>
                          <a:effectLst/>
                          <a:latin typeface="+mn-lt"/>
                          <a:ea typeface="+mn-ea"/>
                        </a:rPr>
                        <a:t>Rc</a:t>
                      </a:r>
                      <a:r>
                        <a:rPr kumimoji="1" lang="en-US" altLang="zh-CN" sz="2400" b="1" i="0" u="none" strike="noStrike" cap="none" normalizeH="0" baseline="0" dirty="0" smtClean="0">
                          <a:ln>
                            <a:noFill/>
                          </a:ln>
                          <a:solidFill>
                            <a:srgbClr val="0000FF"/>
                          </a:solidFill>
                          <a:effectLst/>
                          <a:latin typeface="+mn-lt"/>
                          <a:ea typeface="+mn-ea"/>
                        </a:rPr>
                        <a:t> </a:t>
                      </a:r>
                      <a:endParaRPr kumimoji="1" lang="en-US" altLang="zh-CN" sz="2400" b="1" i="0" u="none" strike="noStrike" cap="none" normalizeH="0" baseline="0" dirty="0" smtClean="0">
                        <a:ln>
                          <a:noFill/>
                        </a:ln>
                        <a:solidFill>
                          <a:srgbClr val="0000FF"/>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mn-lt"/>
                          <a:ea typeface="+mn-ea"/>
                        </a:rPr>
                        <a:t>SD     Ra</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A</a:t>
                      </a:r>
                      <a:endParaRPr kumimoji="1" lang="en-US" altLang="zh-CN" sz="2400" b="1" i="0" u="none" strike="noStrike" cap="none" normalizeH="0" baseline="0" dirty="0" smtClean="0">
                        <a:ln>
                          <a:noFill/>
                        </a:ln>
                        <a:solidFill>
                          <a:schemeClr val="tx1"/>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mn-lt"/>
                          <a:ea typeface="+mn-ea"/>
                        </a:rPr>
                        <a:t>LD     Re</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E</a:t>
                      </a:r>
                      <a:endParaRPr kumimoji="1" lang="en-US" altLang="zh-CN" sz="2400" b="1" i="0" u="none" strike="noStrike" cap="none" normalizeH="0" baseline="0" dirty="0" smtClean="0">
                        <a:ln>
                          <a:noFill/>
                        </a:ln>
                        <a:solidFill>
                          <a:schemeClr val="tx1"/>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rgbClr val="0000FF"/>
                          </a:solidFill>
                          <a:effectLst/>
                          <a:latin typeface="+mn-lt"/>
                          <a:ea typeface="+mn-ea"/>
                        </a:rPr>
                        <a:t>LD     </a:t>
                      </a:r>
                      <a:r>
                        <a:rPr kumimoji="1" lang="en-US" altLang="zh-CN" sz="2400" b="1" i="0" u="none" strike="noStrike" cap="none" normalizeH="0" baseline="0" dirty="0" err="1" smtClean="0">
                          <a:ln>
                            <a:noFill/>
                          </a:ln>
                          <a:solidFill>
                            <a:srgbClr val="0000FF"/>
                          </a:solidFill>
                          <a:effectLst/>
                          <a:latin typeface="+mn-lt"/>
                          <a:ea typeface="+mn-ea"/>
                        </a:rPr>
                        <a:t>Rf</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smtClean="0">
                          <a:ln>
                            <a:noFill/>
                          </a:ln>
                          <a:solidFill>
                            <a:srgbClr val="0000FF"/>
                          </a:solidFill>
                          <a:effectLst/>
                          <a:latin typeface="+mn-lt"/>
                          <a:ea typeface="+mn-ea"/>
                        </a:rPr>
                        <a:t>F</a:t>
                      </a:r>
                      <a:endParaRPr kumimoji="1" lang="en-US" altLang="zh-CN" sz="2400" b="1" i="0" u="none" strike="noStrike" cap="none" normalizeH="0" baseline="0" dirty="0" smtClean="0">
                        <a:ln>
                          <a:noFill/>
                        </a:ln>
                        <a:solidFill>
                          <a:srgbClr val="0000FF"/>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rgbClr val="0000FF"/>
                          </a:solidFill>
                          <a:effectLst/>
                          <a:latin typeface="+mn-lt"/>
                          <a:ea typeface="+mn-ea"/>
                        </a:rPr>
                        <a:t>DSUB   Rd</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smtClean="0">
                          <a:ln>
                            <a:noFill/>
                          </a:ln>
                          <a:solidFill>
                            <a:srgbClr val="0000FF"/>
                          </a:solidFill>
                          <a:effectLst/>
                          <a:latin typeface="+mn-lt"/>
                          <a:ea typeface="+mn-ea"/>
                        </a:rPr>
                        <a:t>Re</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err="1" smtClean="0">
                          <a:ln>
                            <a:noFill/>
                          </a:ln>
                          <a:solidFill>
                            <a:srgbClr val="0000FF"/>
                          </a:solidFill>
                          <a:effectLst/>
                          <a:latin typeface="+mn-lt"/>
                          <a:ea typeface="+mn-ea"/>
                        </a:rPr>
                        <a:t>Rf</a:t>
                      </a:r>
                      <a:endParaRPr kumimoji="1" lang="en-US" altLang="zh-CN" sz="2400" b="1" i="0" u="none" strike="noStrike" cap="none" normalizeH="0" baseline="0" dirty="0" smtClean="0">
                        <a:ln>
                          <a:noFill/>
                        </a:ln>
                        <a:solidFill>
                          <a:srgbClr val="0000FF"/>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mn-lt"/>
                          <a:ea typeface="+mn-ea"/>
                        </a:rPr>
                        <a:t>SD     Rd</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D </a:t>
                      </a:r>
                      <a:endParaRPr kumimoji="1" lang="en-US" altLang="zh-CN" sz="2400" b="1" i="0" u="none" strike="noStrike" cap="none" normalizeH="0" baseline="0" dirty="0" smtClean="0">
                        <a:ln>
                          <a:noFill/>
                        </a:ln>
                        <a:solidFill>
                          <a:schemeClr val="tx1"/>
                        </a:solidFill>
                        <a:effectLst/>
                        <a:latin typeface="+mn-lt"/>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mn-lt"/>
                          <a:ea typeface="+mn-ea"/>
                        </a:rPr>
                        <a:t>LD     </a:t>
                      </a:r>
                      <a:r>
                        <a:rPr kumimoji="1" lang="en-US" altLang="zh-CN" sz="2400" b="1" i="0" u="none" strike="noStrike" cap="none" normalizeH="0" baseline="0" dirty="0" err="1" smtClean="0">
                          <a:ln>
                            <a:noFill/>
                          </a:ln>
                          <a:solidFill>
                            <a:schemeClr val="tx1"/>
                          </a:solidFill>
                          <a:effectLst/>
                          <a:latin typeface="+mn-lt"/>
                          <a:ea typeface="+mn-ea"/>
                        </a:rPr>
                        <a:t>Rb</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B</a:t>
                      </a:r>
                      <a:endParaRPr kumimoji="1" lang="en-US" altLang="zh-CN" sz="2400" b="1" i="0" u="none" strike="noStrike" cap="none" normalizeH="0" baseline="0" dirty="0" smtClean="0">
                        <a:ln>
                          <a:noFill/>
                        </a:ln>
                        <a:solidFill>
                          <a:schemeClr val="tx1"/>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rgbClr val="0000FF"/>
                          </a:solidFill>
                          <a:effectLst/>
                          <a:latin typeface="+mn-lt"/>
                          <a:ea typeface="+mn-ea"/>
                        </a:rPr>
                        <a:t>LD     </a:t>
                      </a:r>
                      <a:r>
                        <a:rPr kumimoji="1" lang="en-US" altLang="zh-CN" sz="2400" b="1" i="0" u="none" strike="noStrike" cap="none" normalizeH="0" baseline="0" dirty="0" err="1" smtClean="0">
                          <a:ln>
                            <a:noFill/>
                          </a:ln>
                          <a:solidFill>
                            <a:srgbClr val="0000FF"/>
                          </a:solidFill>
                          <a:effectLst/>
                          <a:latin typeface="+mn-lt"/>
                          <a:ea typeface="+mn-ea"/>
                        </a:rPr>
                        <a:t>Rc</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smtClean="0">
                          <a:ln>
                            <a:noFill/>
                          </a:ln>
                          <a:solidFill>
                            <a:srgbClr val="0000FF"/>
                          </a:solidFill>
                          <a:effectLst/>
                          <a:latin typeface="+mn-lt"/>
                          <a:ea typeface="+mn-ea"/>
                        </a:rPr>
                        <a:t>C</a:t>
                      </a:r>
                      <a:endParaRPr kumimoji="1" lang="en-US" altLang="zh-CN" sz="2400" b="1" i="0" u="none" strike="noStrike" cap="none" normalizeH="0" baseline="0" dirty="0" smtClean="0">
                        <a:ln>
                          <a:noFill/>
                        </a:ln>
                        <a:solidFill>
                          <a:srgbClr val="0000FF"/>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rgbClr val="FF0000"/>
                          </a:solidFill>
                          <a:effectLst/>
                          <a:latin typeface="+mn-lt"/>
                          <a:ea typeface="+mn-ea"/>
                        </a:rPr>
                        <a:t>LD     Re</a:t>
                      </a:r>
                      <a:r>
                        <a:rPr kumimoji="1" lang="zh-CN" altLang="en-US" sz="2400" b="1" i="0" u="none" strike="noStrike" cap="none" normalizeH="0" baseline="0" dirty="0" smtClean="0">
                          <a:ln>
                            <a:noFill/>
                          </a:ln>
                          <a:solidFill>
                            <a:srgbClr val="FF0000"/>
                          </a:solidFill>
                          <a:effectLst/>
                          <a:latin typeface="+mn-lt"/>
                          <a:ea typeface="+mn-ea"/>
                        </a:rPr>
                        <a:t>，</a:t>
                      </a:r>
                      <a:r>
                        <a:rPr kumimoji="1" lang="en-US" altLang="zh-CN" sz="2400" b="1" i="0" u="none" strike="noStrike" cap="none" normalizeH="0" baseline="0" dirty="0" smtClean="0">
                          <a:ln>
                            <a:noFill/>
                          </a:ln>
                          <a:solidFill>
                            <a:srgbClr val="FF0000"/>
                          </a:solidFill>
                          <a:effectLst/>
                          <a:latin typeface="+mn-lt"/>
                          <a:ea typeface="+mn-ea"/>
                        </a:rPr>
                        <a:t>E     </a:t>
                      </a:r>
                      <a:endParaRPr kumimoji="1" lang="en-US" altLang="zh-CN" sz="2400" b="1" i="0" u="none" strike="noStrike" cap="none" normalizeH="0" baseline="0" dirty="0" smtClean="0">
                        <a:ln>
                          <a:noFill/>
                        </a:ln>
                        <a:solidFill>
                          <a:srgbClr val="FF0000"/>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rgbClr val="0000FF"/>
                          </a:solidFill>
                          <a:effectLst/>
                          <a:latin typeface="+mn-lt"/>
                          <a:ea typeface="+mn-ea"/>
                        </a:rPr>
                        <a:t>DADD   Ra</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err="1" smtClean="0">
                          <a:ln>
                            <a:noFill/>
                          </a:ln>
                          <a:solidFill>
                            <a:srgbClr val="0000FF"/>
                          </a:solidFill>
                          <a:effectLst/>
                          <a:latin typeface="+mn-lt"/>
                          <a:ea typeface="+mn-ea"/>
                        </a:rPr>
                        <a:t>Rb</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err="1" smtClean="0">
                          <a:ln>
                            <a:noFill/>
                          </a:ln>
                          <a:solidFill>
                            <a:srgbClr val="0000FF"/>
                          </a:solidFill>
                          <a:effectLst/>
                          <a:latin typeface="+mn-lt"/>
                          <a:ea typeface="+mn-ea"/>
                        </a:rPr>
                        <a:t>Rc</a:t>
                      </a:r>
                      <a:endParaRPr kumimoji="1" lang="en-US" altLang="zh-CN" sz="2400" b="1" i="0" u="none" strike="noStrike" cap="none" normalizeH="0" baseline="0" dirty="0" smtClean="0">
                        <a:ln>
                          <a:noFill/>
                        </a:ln>
                        <a:solidFill>
                          <a:srgbClr val="0000FF"/>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rgbClr val="0000FF"/>
                          </a:solidFill>
                          <a:effectLst/>
                          <a:latin typeface="+mn-lt"/>
                          <a:ea typeface="+mn-ea"/>
                        </a:rPr>
                        <a:t>LD     </a:t>
                      </a:r>
                      <a:r>
                        <a:rPr kumimoji="1" lang="en-US" altLang="zh-CN" sz="2400" b="1" i="0" u="none" strike="noStrike" cap="none" normalizeH="0" baseline="0" dirty="0" err="1" smtClean="0">
                          <a:ln>
                            <a:noFill/>
                          </a:ln>
                          <a:solidFill>
                            <a:srgbClr val="0000FF"/>
                          </a:solidFill>
                          <a:effectLst/>
                          <a:latin typeface="+mn-lt"/>
                          <a:ea typeface="+mn-ea"/>
                        </a:rPr>
                        <a:t>Rf</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smtClean="0">
                          <a:ln>
                            <a:noFill/>
                          </a:ln>
                          <a:solidFill>
                            <a:srgbClr val="0000FF"/>
                          </a:solidFill>
                          <a:effectLst/>
                          <a:latin typeface="+mn-lt"/>
                          <a:ea typeface="+mn-ea"/>
                        </a:rPr>
                        <a:t>F</a:t>
                      </a:r>
                      <a:endParaRPr kumimoji="1" lang="en-US" altLang="zh-CN" sz="2400" b="1" i="0" u="none" strike="noStrike" cap="none" normalizeH="0" baseline="0" dirty="0" smtClean="0">
                        <a:ln>
                          <a:noFill/>
                        </a:ln>
                        <a:solidFill>
                          <a:srgbClr val="0000FF"/>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rgbClr val="FF0000"/>
                          </a:solidFill>
                          <a:effectLst/>
                          <a:latin typeface="+mn-lt"/>
                          <a:ea typeface="+mn-ea"/>
                        </a:rPr>
                        <a:t>SD     Ra</a:t>
                      </a:r>
                      <a:r>
                        <a:rPr kumimoji="1" lang="zh-CN" altLang="en-US" sz="2400" b="1" i="0" u="none" strike="noStrike" cap="none" normalizeH="0" baseline="0" dirty="0" smtClean="0">
                          <a:ln>
                            <a:noFill/>
                          </a:ln>
                          <a:solidFill>
                            <a:srgbClr val="FF0000"/>
                          </a:solidFill>
                          <a:effectLst/>
                          <a:latin typeface="+mn-lt"/>
                          <a:ea typeface="+mn-ea"/>
                        </a:rPr>
                        <a:t>，</a:t>
                      </a:r>
                      <a:r>
                        <a:rPr kumimoji="1" lang="en-US" altLang="zh-CN" sz="2400" b="1" i="0" u="none" strike="noStrike" cap="none" normalizeH="0" baseline="0" dirty="0" smtClean="0">
                          <a:ln>
                            <a:noFill/>
                          </a:ln>
                          <a:solidFill>
                            <a:srgbClr val="FF0000"/>
                          </a:solidFill>
                          <a:effectLst/>
                          <a:latin typeface="+mn-lt"/>
                          <a:ea typeface="+mn-ea"/>
                        </a:rPr>
                        <a:t>A     </a:t>
                      </a:r>
                      <a:endParaRPr kumimoji="1" lang="en-US" altLang="zh-CN" sz="2400" b="1" i="0" u="none" strike="noStrike" cap="none" normalizeH="0" baseline="0" dirty="0" smtClean="0">
                        <a:ln>
                          <a:noFill/>
                        </a:ln>
                        <a:solidFill>
                          <a:srgbClr val="FF0000"/>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rgbClr val="0000FF"/>
                          </a:solidFill>
                          <a:effectLst/>
                          <a:latin typeface="+mn-lt"/>
                          <a:ea typeface="+mn-ea"/>
                        </a:rPr>
                        <a:t>DSUB   Rd</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smtClean="0">
                          <a:ln>
                            <a:noFill/>
                          </a:ln>
                          <a:solidFill>
                            <a:srgbClr val="0000FF"/>
                          </a:solidFill>
                          <a:effectLst/>
                          <a:latin typeface="+mn-lt"/>
                          <a:ea typeface="+mn-ea"/>
                        </a:rPr>
                        <a:t>Re</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err="1" smtClean="0">
                          <a:ln>
                            <a:noFill/>
                          </a:ln>
                          <a:solidFill>
                            <a:srgbClr val="0000FF"/>
                          </a:solidFill>
                          <a:effectLst/>
                          <a:latin typeface="+mn-lt"/>
                          <a:ea typeface="+mn-ea"/>
                        </a:rPr>
                        <a:t>Rf</a:t>
                      </a:r>
                      <a:endParaRPr kumimoji="1" lang="en-US" altLang="zh-CN" sz="2400" b="1" i="0" u="none" strike="noStrike" cap="none" normalizeH="0" baseline="0" dirty="0" smtClean="0">
                        <a:ln>
                          <a:noFill/>
                        </a:ln>
                        <a:solidFill>
                          <a:srgbClr val="0000FF"/>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mn-lt"/>
                          <a:ea typeface="+mn-ea"/>
                        </a:rPr>
                        <a:t>SD     Rd</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D </a:t>
                      </a:r>
                      <a:endParaRPr kumimoji="1" lang="en-US" altLang="zh-CN" sz="2400" b="1" i="0" u="none" strike="noStrike" cap="none" normalizeH="0" baseline="0" dirty="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674" name="Rectangle 2"/>
          <p:cNvSpPr>
            <a:spLocks noGrp="1" noChangeArrowheads="1"/>
          </p:cNvSpPr>
          <p:nvPr>
            <p:ph type="title"/>
          </p:nvPr>
        </p:nvSpPr>
        <p:spPr/>
        <p:txBody>
          <a:bodyPr/>
          <a:lstStyle/>
          <a:p>
            <a:pPr eaLnBrk="1" hangingPunct="1">
              <a:defRPr/>
            </a:pPr>
            <a:r>
              <a:rPr lang="zh-CN" altLang="en-US" sz="5400" smtClean="0"/>
              <a:t>寄存器换名</a:t>
            </a:r>
            <a:endParaRPr lang="en-US" altLang="zh-CN" sz="3600" smtClean="0"/>
          </a:p>
        </p:txBody>
      </p:sp>
      <p:sp>
        <p:nvSpPr>
          <p:cNvPr id="796675" name="Rectangle 3"/>
          <p:cNvSpPr>
            <a:spLocks noGrp="1" noChangeArrowheads="1"/>
          </p:cNvSpPr>
          <p:nvPr>
            <p:ph type="body" sz="half" idx="1"/>
          </p:nvPr>
        </p:nvSpPr>
        <p:spPr>
          <a:xfrm>
            <a:off x="809625" y="2276475"/>
            <a:ext cx="3902075" cy="3883025"/>
          </a:xfrm>
          <a:solidFill>
            <a:srgbClr val="FFFF99"/>
          </a:solidFill>
          <a:ln w="57150" cmpd="thickThin">
            <a:solidFill>
              <a:schemeClr val="tx1"/>
            </a:solidFill>
            <a:miter lim="800000"/>
          </a:ln>
        </p:spPr>
        <p:txBody>
          <a:bodyPr/>
          <a:lstStyle/>
          <a:p>
            <a:pPr marL="0" indent="0" eaLnBrk="1" hangingPunct="1">
              <a:lnSpc>
                <a:spcPct val="170000"/>
              </a:lnSpc>
              <a:spcBef>
                <a:spcPct val="60000"/>
              </a:spcBef>
              <a:buClr>
                <a:srgbClr val="FF0000"/>
              </a:buClr>
              <a:defRPr/>
            </a:pPr>
            <a:r>
              <a:rPr lang="zh-CN" altLang="en-US" sz="3200" smtClean="0">
                <a:solidFill>
                  <a:srgbClr val="FF0000"/>
                </a:solidFill>
                <a:effectLst>
                  <a:outerShdw blurRad="38100" dist="38100" dir="2700000" algn="tl">
                    <a:srgbClr val="000000"/>
                  </a:outerShdw>
                </a:effectLst>
              </a:rPr>
              <a:t>  </a:t>
            </a:r>
            <a:r>
              <a:rPr lang="en-US" altLang="zh-CN" sz="3200" smtClean="0">
                <a:solidFill>
                  <a:srgbClr val="FF0000"/>
                </a:solidFill>
                <a:effectLst>
                  <a:outerShdw blurRad="38100" dist="38100" dir="2700000" algn="tl">
                    <a:srgbClr val="000000"/>
                  </a:outerShdw>
                </a:effectLst>
              </a:rPr>
              <a:t>WAR</a:t>
            </a:r>
            <a:r>
              <a:rPr lang="zh-CN" altLang="en-US" sz="3200" smtClean="0">
                <a:solidFill>
                  <a:srgbClr val="FF0000"/>
                </a:solidFill>
                <a:effectLst>
                  <a:outerShdw blurRad="38100" dist="38100" dir="2700000" algn="tl">
                    <a:srgbClr val="000000"/>
                  </a:outerShdw>
                </a:effectLst>
              </a:rPr>
              <a:t>相关</a:t>
            </a:r>
            <a:endParaRPr lang="zh-CN" altLang="en-US" sz="3200" smtClean="0"/>
          </a:p>
        </p:txBody>
      </p:sp>
      <p:sp>
        <p:nvSpPr>
          <p:cNvPr id="796676" name="Rectangle 4"/>
          <p:cNvSpPr>
            <a:spLocks noGrp="1" noChangeArrowheads="1"/>
          </p:cNvSpPr>
          <p:nvPr>
            <p:ph type="body" sz="half" idx="2"/>
          </p:nvPr>
        </p:nvSpPr>
        <p:spPr>
          <a:xfrm>
            <a:off x="4864100" y="2276475"/>
            <a:ext cx="3903663" cy="3883025"/>
          </a:xfrm>
          <a:solidFill>
            <a:srgbClr val="CC99FF"/>
          </a:solidFill>
          <a:ln w="57150" cmpd="thickThin">
            <a:solidFill>
              <a:schemeClr val="tx1"/>
            </a:solidFill>
            <a:miter lim="800000"/>
          </a:ln>
        </p:spPr>
        <p:txBody>
          <a:bodyPr/>
          <a:lstStyle/>
          <a:p>
            <a:pPr eaLnBrk="1" hangingPunct="1">
              <a:lnSpc>
                <a:spcPct val="170000"/>
              </a:lnSpc>
              <a:spcBef>
                <a:spcPct val="60000"/>
              </a:spcBef>
              <a:buClr>
                <a:srgbClr val="FF0000"/>
              </a:buClr>
              <a:defRPr/>
            </a:pPr>
            <a:r>
              <a:rPr lang="en-US" altLang="zh-CN" sz="3200" smtClean="0">
                <a:solidFill>
                  <a:srgbClr val="FF0000"/>
                </a:solidFill>
                <a:effectLst>
                  <a:outerShdw blurRad="38100" dist="38100" dir="2700000" algn="tl">
                    <a:srgbClr val="000000"/>
                  </a:outerShdw>
                </a:effectLst>
              </a:rPr>
              <a:t>WAW</a:t>
            </a:r>
            <a:r>
              <a:rPr lang="zh-CN" altLang="en-US" sz="3200" smtClean="0">
                <a:solidFill>
                  <a:srgbClr val="FF0000"/>
                </a:solidFill>
                <a:effectLst>
                  <a:outerShdw blurRad="38100" dist="38100" dir="2700000" algn="tl">
                    <a:srgbClr val="000000"/>
                  </a:outerShdw>
                </a:effectLst>
              </a:rPr>
              <a:t>相关</a:t>
            </a:r>
            <a:endParaRPr lang="zh-CN" altLang="en-US" sz="3200" smtClean="0">
              <a:solidFill>
                <a:srgbClr val="FF0000"/>
              </a:solidFill>
              <a:effectLst>
                <a:outerShdw blurRad="38100" dist="38100" dir="2700000" algn="tl">
                  <a:srgbClr val="000000"/>
                </a:outerShdw>
              </a:effectLst>
            </a:endParaRPr>
          </a:p>
        </p:txBody>
      </p:sp>
      <p:sp>
        <p:nvSpPr>
          <p:cNvPr id="119813"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数据相关解决</a:t>
            </a:r>
            <a:endParaRPr lang="zh-CN" altLang="en-US" sz="1200" b="0">
              <a:latin typeface="Times New Roman" panose="02020603050405020304" pitchFamily="18" charset="0"/>
              <a:ea typeface="幼圆" panose="02010509060101010101" pitchFamily="49" charset="-122"/>
            </a:endParaRPr>
          </a:p>
        </p:txBody>
      </p:sp>
      <p:sp>
        <p:nvSpPr>
          <p:cNvPr id="119814"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grpSp>
        <p:nvGrpSpPr>
          <p:cNvPr id="119815" name="Group 23"/>
          <p:cNvGrpSpPr/>
          <p:nvPr/>
        </p:nvGrpSpPr>
        <p:grpSpPr bwMode="auto">
          <a:xfrm>
            <a:off x="990600" y="3962400"/>
            <a:ext cx="3505200" cy="1447800"/>
            <a:chOff x="672" y="2736"/>
            <a:chExt cx="2208" cy="912"/>
          </a:xfrm>
        </p:grpSpPr>
        <p:sp>
          <p:nvSpPr>
            <p:cNvPr id="119833" name="Rectangle 7"/>
            <p:cNvSpPr>
              <a:spLocks noChangeArrowheads="1"/>
            </p:cNvSpPr>
            <p:nvPr/>
          </p:nvSpPr>
          <p:spPr bwMode="auto">
            <a:xfrm>
              <a:off x="672" y="3360"/>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A</a:t>
              </a:r>
              <a:endParaRPr lang="en-US" altLang="zh-CN" b="0">
                <a:latin typeface="Comic Sans MS" panose="030F0702030302020204" pitchFamily="66" charset="0"/>
                <a:ea typeface="宋体" panose="02010600030101010101" pitchFamily="2" charset="-122"/>
              </a:endParaRPr>
            </a:p>
          </p:txBody>
        </p:sp>
        <p:sp>
          <p:nvSpPr>
            <p:cNvPr id="119834" name="Rectangle 8"/>
            <p:cNvSpPr>
              <a:spLocks noChangeArrowheads="1"/>
            </p:cNvSpPr>
            <p:nvPr/>
          </p:nvSpPr>
          <p:spPr bwMode="auto">
            <a:xfrm>
              <a:off x="1152" y="3360"/>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C</a:t>
              </a:r>
              <a:endParaRPr lang="en-US" altLang="zh-CN" b="0">
                <a:latin typeface="Comic Sans MS" panose="030F0702030302020204" pitchFamily="66" charset="0"/>
                <a:ea typeface="宋体" panose="02010600030101010101" pitchFamily="2" charset="-122"/>
              </a:endParaRPr>
            </a:p>
          </p:txBody>
        </p:sp>
        <p:sp>
          <p:nvSpPr>
            <p:cNvPr id="119835" name="Rectangle 9"/>
            <p:cNvSpPr>
              <a:spLocks noChangeArrowheads="1"/>
            </p:cNvSpPr>
            <p:nvPr/>
          </p:nvSpPr>
          <p:spPr bwMode="auto">
            <a:xfrm>
              <a:off x="2016" y="3360"/>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A</a:t>
              </a:r>
              <a:endParaRPr lang="en-US" altLang="zh-CN" b="0">
                <a:latin typeface="Comic Sans MS" panose="030F0702030302020204" pitchFamily="66" charset="0"/>
                <a:ea typeface="宋体" panose="02010600030101010101" pitchFamily="2" charset="-122"/>
              </a:endParaRPr>
            </a:p>
          </p:txBody>
        </p:sp>
        <p:sp>
          <p:nvSpPr>
            <p:cNvPr id="119836" name="Rectangle 10"/>
            <p:cNvSpPr>
              <a:spLocks noChangeArrowheads="1"/>
            </p:cNvSpPr>
            <p:nvPr/>
          </p:nvSpPr>
          <p:spPr bwMode="auto">
            <a:xfrm>
              <a:off x="2544" y="3360"/>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C</a:t>
              </a:r>
              <a:endParaRPr lang="en-US" altLang="zh-CN" b="0">
                <a:latin typeface="Comic Sans MS" panose="030F0702030302020204" pitchFamily="66" charset="0"/>
                <a:ea typeface="宋体" panose="02010600030101010101" pitchFamily="2" charset="-122"/>
              </a:endParaRPr>
            </a:p>
          </p:txBody>
        </p:sp>
        <p:sp>
          <p:nvSpPr>
            <p:cNvPr id="119837" name="Rectangle 11"/>
            <p:cNvSpPr>
              <a:spLocks noChangeArrowheads="1"/>
            </p:cNvSpPr>
            <p:nvPr/>
          </p:nvSpPr>
          <p:spPr bwMode="auto">
            <a:xfrm>
              <a:off x="912" y="2736"/>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B</a:t>
              </a:r>
              <a:endParaRPr lang="en-US" altLang="zh-CN" b="0">
                <a:latin typeface="Comic Sans MS" panose="030F0702030302020204" pitchFamily="66" charset="0"/>
                <a:ea typeface="宋体" panose="02010600030101010101" pitchFamily="2" charset="-122"/>
              </a:endParaRPr>
            </a:p>
          </p:txBody>
        </p:sp>
        <p:sp>
          <p:nvSpPr>
            <p:cNvPr id="119838" name="Rectangle 12"/>
            <p:cNvSpPr>
              <a:spLocks noChangeArrowheads="1"/>
            </p:cNvSpPr>
            <p:nvPr/>
          </p:nvSpPr>
          <p:spPr bwMode="auto">
            <a:xfrm>
              <a:off x="2016" y="2736"/>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B</a:t>
              </a:r>
              <a:endParaRPr lang="en-US" altLang="zh-CN" b="0">
                <a:latin typeface="Comic Sans MS" panose="030F0702030302020204" pitchFamily="66" charset="0"/>
                <a:ea typeface="宋体" panose="02010600030101010101" pitchFamily="2" charset="-122"/>
              </a:endParaRPr>
            </a:p>
          </p:txBody>
        </p:sp>
        <p:sp>
          <p:nvSpPr>
            <p:cNvPr id="119839" name="Rectangle 13"/>
            <p:cNvSpPr>
              <a:spLocks noChangeArrowheads="1"/>
            </p:cNvSpPr>
            <p:nvPr/>
          </p:nvSpPr>
          <p:spPr bwMode="auto">
            <a:xfrm>
              <a:off x="2544" y="2736"/>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B’</a:t>
              </a:r>
              <a:endParaRPr lang="en-US" altLang="zh-CN" b="0">
                <a:latin typeface="Comic Sans MS" panose="030F0702030302020204" pitchFamily="66" charset="0"/>
                <a:ea typeface="宋体" panose="02010600030101010101" pitchFamily="2" charset="-122"/>
              </a:endParaRPr>
            </a:p>
          </p:txBody>
        </p:sp>
        <p:sp>
          <p:nvSpPr>
            <p:cNvPr id="119840" name="Line 14"/>
            <p:cNvSpPr>
              <a:spLocks noChangeShapeType="1"/>
            </p:cNvSpPr>
            <p:nvPr/>
          </p:nvSpPr>
          <p:spPr bwMode="auto">
            <a:xfrm flipH="1">
              <a:off x="864" y="3024"/>
              <a:ext cx="144" cy="336"/>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41" name="Line 15"/>
            <p:cNvSpPr>
              <a:spLocks noChangeShapeType="1"/>
            </p:cNvSpPr>
            <p:nvPr/>
          </p:nvSpPr>
          <p:spPr bwMode="auto">
            <a:xfrm flipH="1" flipV="1">
              <a:off x="1152" y="3024"/>
              <a:ext cx="192" cy="336"/>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42" name="Rectangle 16"/>
            <p:cNvSpPr>
              <a:spLocks noChangeArrowheads="1"/>
            </p:cNvSpPr>
            <p:nvPr/>
          </p:nvSpPr>
          <p:spPr bwMode="auto">
            <a:xfrm>
              <a:off x="720" y="2976"/>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b="0">
                  <a:latin typeface="Comic Sans MS" panose="030F0702030302020204" pitchFamily="66" charset="0"/>
                  <a:ea typeface="宋体" panose="02010600030101010101" pitchFamily="2" charset="-122"/>
                </a:rPr>
                <a:t>i</a:t>
              </a:r>
              <a:endParaRPr lang="en-US" altLang="zh-CN" sz="2400" b="0">
                <a:latin typeface="Comic Sans MS" panose="030F0702030302020204" pitchFamily="66" charset="0"/>
                <a:ea typeface="宋体" panose="02010600030101010101" pitchFamily="2" charset="-122"/>
              </a:endParaRPr>
            </a:p>
          </p:txBody>
        </p:sp>
        <p:sp>
          <p:nvSpPr>
            <p:cNvPr id="119843" name="Rectangle 17"/>
            <p:cNvSpPr>
              <a:spLocks noChangeArrowheads="1"/>
            </p:cNvSpPr>
            <p:nvPr/>
          </p:nvSpPr>
          <p:spPr bwMode="auto">
            <a:xfrm>
              <a:off x="1296" y="2976"/>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b="0">
                  <a:latin typeface="Comic Sans MS" panose="030F0702030302020204" pitchFamily="66" charset="0"/>
                  <a:ea typeface="宋体" panose="02010600030101010101" pitchFamily="2" charset="-122"/>
                </a:rPr>
                <a:t>j</a:t>
              </a:r>
              <a:endParaRPr lang="en-US" altLang="zh-CN" sz="2400" b="0">
                <a:latin typeface="Comic Sans MS" panose="030F0702030302020204" pitchFamily="66" charset="0"/>
                <a:ea typeface="宋体" panose="02010600030101010101" pitchFamily="2" charset="-122"/>
              </a:endParaRPr>
            </a:p>
          </p:txBody>
        </p:sp>
        <p:sp>
          <p:nvSpPr>
            <p:cNvPr id="119844" name="Line 18"/>
            <p:cNvSpPr>
              <a:spLocks noChangeShapeType="1"/>
            </p:cNvSpPr>
            <p:nvPr/>
          </p:nvSpPr>
          <p:spPr bwMode="auto">
            <a:xfrm flipH="1">
              <a:off x="2208" y="3024"/>
              <a:ext cx="0" cy="336"/>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45" name="Line 19"/>
            <p:cNvSpPr>
              <a:spLocks noChangeShapeType="1"/>
            </p:cNvSpPr>
            <p:nvPr/>
          </p:nvSpPr>
          <p:spPr bwMode="auto">
            <a:xfrm flipH="1">
              <a:off x="2688" y="3024"/>
              <a:ext cx="0" cy="336"/>
            </a:xfrm>
            <a:prstGeom prst="line">
              <a:avLst/>
            </a:prstGeom>
            <a:noFill/>
            <a:ln w="28575">
              <a:solidFill>
                <a:schemeClr val="tx1"/>
              </a:solidFill>
              <a:round/>
              <a:headEnd type="arrow"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46" name="Rectangle 20"/>
            <p:cNvSpPr>
              <a:spLocks noChangeArrowheads="1"/>
            </p:cNvSpPr>
            <p:nvPr/>
          </p:nvSpPr>
          <p:spPr bwMode="auto">
            <a:xfrm>
              <a:off x="2016" y="3024"/>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b="0">
                  <a:latin typeface="Comic Sans MS" panose="030F0702030302020204" pitchFamily="66" charset="0"/>
                  <a:ea typeface="宋体" panose="02010600030101010101" pitchFamily="2" charset="-122"/>
                </a:rPr>
                <a:t>i</a:t>
              </a:r>
              <a:endParaRPr lang="en-US" altLang="zh-CN" sz="2400" b="0">
                <a:latin typeface="Comic Sans MS" panose="030F0702030302020204" pitchFamily="66" charset="0"/>
                <a:ea typeface="宋体" panose="02010600030101010101" pitchFamily="2" charset="-122"/>
              </a:endParaRPr>
            </a:p>
          </p:txBody>
        </p:sp>
        <p:sp>
          <p:nvSpPr>
            <p:cNvPr id="119847" name="Rectangle 21"/>
            <p:cNvSpPr>
              <a:spLocks noChangeArrowheads="1"/>
            </p:cNvSpPr>
            <p:nvPr/>
          </p:nvSpPr>
          <p:spPr bwMode="auto">
            <a:xfrm>
              <a:off x="2496" y="3024"/>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b="0">
                  <a:latin typeface="Comic Sans MS" panose="030F0702030302020204" pitchFamily="66" charset="0"/>
                  <a:ea typeface="宋体" panose="02010600030101010101" pitchFamily="2" charset="-122"/>
                </a:rPr>
                <a:t>j</a:t>
              </a:r>
              <a:endParaRPr lang="en-US" altLang="zh-CN" sz="2400" b="0">
                <a:latin typeface="Comic Sans MS" panose="030F0702030302020204" pitchFamily="66" charset="0"/>
                <a:ea typeface="宋体" panose="02010600030101010101" pitchFamily="2" charset="-122"/>
              </a:endParaRPr>
            </a:p>
          </p:txBody>
        </p:sp>
        <p:sp>
          <p:nvSpPr>
            <p:cNvPr id="119848" name="AutoShape 22"/>
            <p:cNvSpPr>
              <a:spLocks noChangeArrowheads="1"/>
            </p:cNvSpPr>
            <p:nvPr/>
          </p:nvSpPr>
          <p:spPr bwMode="auto">
            <a:xfrm>
              <a:off x="1536" y="3024"/>
              <a:ext cx="384" cy="240"/>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15875">
              <a:solidFill>
                <a:schemeClr val="tx1"/>
              </a:solidFill>
              <a:miter lim="800000"/>
            </a:ln>
            <a:effectLst>
              <a:outerShdw dist="35921" dir="2700000" algn="ctr" rotWithShape="0">
                <a:schemeClr val="bg2"/>
              </a:outerShdw>
            </a:effectLst>
          </p:spPr>
          <p:txBody>
            <a:bodyPr wrap="none" anchor="ctr"/>
            <a:lstStyle/>
            <a:p>
              <a:endParaRPr lang="zh-CN" altLang="en-US"/>
            </a:p>
          </p:txBody>
        </p:sp>
      </p:grpSp>
      <p:grpSp>
        <p:nvGrpSpPr>
          <p:cNvPr id="119816" name="Group 41"/>
          <p:cNvGrpSpPr/>
          <p:nvPr/>
        </p:nvGrpSpPr>
        <p:grpSpPr bwMode="auto">
          <a:xfrm>
            <a:off x="5029200" y="3886200"/>
            <a:ext cx="3505200" cy="1447800"/>
            <a:chOff x="3168" y="2448"/>
            <a:chExt cx="2208" cy="912"/>
          </a:xfrm>
        </p:grpSpPr>
        <p:sp>
          <p:nvSpPr>
            <p:cNvPr id="119817" name="Rectangle 25"/>
            <p:cNvSpPr>
              <a:spLocks noChangeArrowheads="1"/>
            </p:cNvSpPr>
            <p:nvPr/>
          </p:nvSpPr>
          <p:spPr bwMode="auto">
            <a:xfrm>
              <a:off x="3168" y="3072"/>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A</a:t>
              </a:r>
              <a:endParaRPr lang="en-US" altLang="zh-CN" b="0">
                <a:latin typeface="Comic Sans MS" panose="030F0702030302020204" pitchFamily="66" charset="0"/>
                <a:ea typeface="宋体" panose="02010600030101010101" pitchFamily="2" charset="-122"/>
              </a:endParaRPr>
            </a:p>
          </p:txBody>
        </p:sp>
        <p:sp>
          <p:nvSpPr>
            <p:cNvPr id="119818" name="Rectangle 26"/>
            <p:cNvSpPr>
              <a:spLocks noChangeArrowheads="1"/>
            </p:cNvSpPr>
            <p:nvPr/>
          </p:nvSpPr>
          <p:spPr bwMode="auto">
            <a:xfrm>
              <a:off x="3648" y="3072"/>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C</a:t>
              </a:r>
              <a:endParaRPr lang="en-US" altLang="zh-CN" b="0">
                <a:latin typeface="Comic Sans MS" panose="030F0702030302020204" pitchFamily="66" charset="0"/>
                <a:ea typeface="宋体" panose="02010600030101010101" pitchFamily="2" charset="-122"/>
              </a:endParaRPr>
            </a:p>
          </p:txBody>
        </p:sp>
        <p:sp>
          <p:nvSpPr>
            <p:cNvPr id="119819" name="Rectangle 27"/>
            <p:cNvSpPr>
              <a:spLocks noChangeArrowheads="1"/>
            </p:cNvSpPr>
            <p:nvPr/>
          </p:nvSpPr>
          <p:spPr bwMode="auto">
            <a:xfrm>
              <a:off x="4512" y="3072"/>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A</a:t>
              </a:r>
              <a:endParaRPr lang="en-US" altLang="zh-CN" b="0">
                <a:latin typeface="Comic Sans MS" panose="030F0702030302020204" pitchFamily="66" charset="0"/>
                <a:ea typeface="宋体" panose="02010600030101010101" pitchFamily="2" charset="-122"/>
              </a:endParaRPr>
            </a:p>
          </p:txBody>
        </p:sp>
        <p:sp>
          <p:nvSpPr>
            <p:cNvPr id="119820" name="Rectangle 28"/>
            <p:cNvSpPr>
              <a:spLocks noChangeArrowheads="1"/>
            </p:cNvSpPr>
            <p:nvPr/>
          </p:nvSpPr>
          <p:spPr bwMode="auto">
            <a:xfrm>
              <a:off x="5040" y="3072"/>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C</a:t>
              </a:r>
              <a:endParaRPr lang="en-US" altLang="zh-CN" b="0">
                <a:latin typeface="Comic Sans MS" panose="030F0702030302020204" pitchFamily="66" charset="0"/>
                <a:ea typeface="宋体" panose="02010600030101010101" pitchFamily="2" charset="-122"/>
              </a:endParaRPr>
            </a:p>
          </p:txBody>
        </p:sp>
        <p:sp>
          <p:nvSpPr>
            <p:cNvPr id="119821" name="Rectangle 29"/>
            <p:cNvSpPr>
              <a:spLocks noChangeArrowheads="1"/>
            </p:cNvSpPr>
            <p:nvPr/>
          </p:nvSpPr>
          <p:spPr bwMode="auto">
            <a:xfrm>
              <a:off x="3408" y="2448"/>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B</a:t>
              </a:r>
              <a:endParaRPr lang="en-US" altLang="zh-CN" b="0">
                <a:latin typeface="Comic Sans MS" panose="030F0702030302020204" pitchFamily="66" charset="0"/>
                <a:ea typeface="宋体" panose="02010600030101010101" pitchFamily="2" charset="-122"/>
              </a:endParaRPr>
            </a:p>
          </p:txBody>
        </p:sp>
        <p:sp>
          <p:nvSpPr>
            <p:cNvPr id="119822" name="Rectangle 30"/>
            <p:cNvSpPr>
              <a:spLocks noChangeArrowheads="1"/>
            </p:cNvSpPr>
            <p:nvPr/>
          </p:nvSpPr>
          <p:spPr bwMode="auto">
            <a:xfrm>
              <a:off x="4512" y="2448"/>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B’</a:t>
              </a:r>
              <a:endParaRPr lang="en-US" altLang="zh-CN" b="0">
                <a:latin typeface="Comic Sans MS" panose="030F0702030302020204" pitchFamily="66" charset="0"/>
                <a:ea typeface="宋体" panose="02010600030101010101" pitchFamily="2" charset="-122"/>
              </a:endParaRPr>
            </a:p>
          </p:txBody>
        </p:sp>
        <p:sp>
          <p:nvSpPr>
            <p:cNvPr id="119823" name="Rectangle 31"/>
            <p:cNvSpPr>
              <a:spLocks noChangeArrowheads="1"/>
            </p:cNvSpPr>
            <p:nvPr/>
          </p:nvSpPr>
          <p:spPr bwMode="auto">
            <a:xfrm>
              <a:off x="5040" y="2448"/>
              <a:ext cx="336" cy="288"/>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b="0">
                  <a:latin typeface="Comic Sans MS" panose="030F0702030302020204" pitchFamily="66" charset="0"/>
                  <a:ea typeface="宋体" panose="02010600030101010101" pitchFamily="2" charset="-122"/>
                </a:rPr>
                <a:t>B</a:t>
              </a:r>
              <a:endParaRPr lang="en-US" altLang="zh-CN" b="0">
                <a:latin typeface="Comic Sans MS" panose="030F0702030302020204" pitchFamily="66" charset="0"/>
                <a:ea typeface="宋体" panose="02010600030101010101" pitchFamily="2" charset="-122"/>
              </a:endParaRPr>
            </a:p>
          </p:txBody>
        </p:sp>
        <p:sp>
          <p:nvSpPr>
            <p:cNvPr id="119824" name="Line 32"/>
            <p:cNvSpPr>
              <a:spLocks noChangeShapeType="1"/>
            </p:cNvSpPr>
            <p:nvPr/>
          </p:nvSpPr>
          <p:spPr bwMode="auto">
            <a:xfrm flipH="1">
              <a:off x="3360" y="2736"/>
              <a:ext cx="144" cy="336"/>
            </a:xfrm>
            <a:prstGeom prst="line">
              <a:avLst/>
            </a:prstGeom>
            <a:noFill/>
            <a:ln w="28575">
              <a:solidFill>
                <a:schemeClr val="tx1"/>
              </a:solidFill>
              <a:round/>
              <a:headEnd type="arrow"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25" name="Line 33"/>
            <p:cNvSpPr>
              <a:spLocks noChangeShapeType="1"/>
            </p:cNvSpPr>
            <p:nvPr/>
          </p:nvSpPr>
          <p:spPr bwMode="auto">
            <a:xfrm flipH="1" flipV="1">
              <a:off x="3648" y="2736"/>
              <a:ext cx="192" cy="336"/>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26" name="Rectangle 34"/>
            <p:cNvSpPr>
              <a:spLocks noChangeArrowheads="1"/>
            </p:cNvSpPr>
            <p:nvPr/>
          </p:nvSpPr>
          <p:spPr bwMode="auto">
            <a:xfrm>
              <a:off x="3216" y="2688"/>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b="0">
                  <a:latin typeface="Comic Sans MS" panose="030F0702030302020204" pitchFamily="66" charset="0"/>
                  <a:ea typeface="宋体" panose="02010600030101010101" pitchFamily="2" charset="-122"/>
                </a:rPr>
                <a:t>i</a:t>
              </a:r>
              <a:endParaRPr lang="en-US" altLang="zh-CN" sz="2400" b="0">
                <a:latin typeface="Comic Sans MS" panose="030F0702030302020204" pitchFamily="66" charset="0"/>
                <a:ea typeface="宋体" panose="02010600030101010101" pitchFamily="2" charset="-122"/>
              </a:endParaRPr>
            </a:p>
          </p:txBody>
        </p:sp>
        <p:sp>
          <p:nvSpPr>
            <p:cNvPr id="119827" name="Rectangle 35"/>
            <p:cNvSpPr>
              <a:spLocks noChangeArrowheads="1"/>
            </p:cNvSpPr>
            <p:nvPr/>
          </p:nvSpPr>
          <p:spPr bwMode="auto">
            <a:xfrm>
              <a:off x="3792" y="2688"/>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b="0">
                  <a:latin typeface="Comic Sans MS" panose="030F0702030302020204" pitchFamily="66" charset="0"/>
                  <a:ea typeface="宋体" panose="02010600030101010101" pitchFamily="2" charset="-122"/>
                </a:rPr>
                <a:t>j</a:t>
              </a:r>
              <a:endParaRPr lang="en-US" altLang="zh-CN" sz="2400" b="0">
                <a:latin typeface="Comic Sans MS" panose="030F0702030302020204" pitchFamily="66" charset="0"/>
                <a:ea typeface="宋体" panose="02010600030101010101" pitchFamily="2" charset="-122"/>
              </a:endParaRPr>
            </a:p>
          </p:txBody>
        </p:sp>
        <p:sp>
          <p:nvSpPr>
            <p:cNvPr id="119828" name="Line 36"/>
            <p:cNvSpPr>
              <a:spLocks noChangeShapeType="1"/>
            </p:cNvSpPr>
            <p:nvPr/>
          </p:nvSpPr>
          <p:spPr bwMode="auto">
            <a:xfrm flipH="1">
              <a:off x="4704" y="2736"/>
              <a:ext cx="0" cy="336"/>
            </a:xfrm>
            <a:prstGeom prst="line">
              <a:avLst/>
            </a:prstGeom>
            <a:noFill/>
            <a:ln w="28575">
              <a:solidFill>
                <a:schemeClr val="tx1"/>
              </a:solidFill>
              <a:round/>
              <a:headEnd type="arrow"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29" name="Line 37"/>
            <p:cNvSpPr>
              <a:spLocks noChangeShapeType="1"/>
            </p:cNvSpPr>
            <p:nvPr/>
          </p:nvSpPr>
          <p:spPr bwMode="auto">
            <a:xfrm flipH="1">
              <a:off x="5184" y="2736"/>
              <a:ext cx="0" cy="336"/>
            </a:xfrm>
            <a:prstGeom prst="line">
              <a:avLst/>
            </a:prstGeom>
            <a:noFill/>
            <a:ln w="28575">
              <a:solidFill>
                <a:schemeClr val="tx1"/>
              </a:solidFill>
              <a:round/>
              <a:headEnd type="arrow"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30" name="Rectangle 38"/>
            <p:cNvSpPr>
              <a:spLocks noChangeArrowheads="1"/>
            </p:cNvSpPr>
            <p:nvPr/>
          </p:nvSpPr>
          <p:spPr bwMode="auto">
            <a:xfrm>
              <a:off x="4512" y="2736"/>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b="0">
                  <a:latin typeface="Comic Sans MS" panose="030F0702030302020204" pitchFamily="66" charset="0"/>
                  <a:ea typeface="宋体" panose="02010600030101010101" pitchFamily="2" charset="-122"/>
                </a:rPr>
                <a:t>i</a:t>
              </a:r>
              <a:endParaRPr lang="en-US" altLang="zh-CN" sz="2400" b="0">
                <a:latin typeface="Comic Sans MS" panose="030F0702030302020204" pitchFamily="66" charset="0"/>
                <a:ea typeface="宋体" panose="02010600030101010101" pitchFamily="2" charset="-122"/>
              </a:endParaRPr>
            </a:p>
          </p:txBody>
        </p:sp>
        <p:sp>
          <p:nvSpPr>
            <p:cNvPr id="119831" name="Rectangle 39"/>
            <p:cNvSpPr>
              <a:spLocks noChangeArrowheads="1"/>
            </p:cNvSpPr>
            <p:nvPr/>
          </p:nvSpPr>
          <p:spPr bwMode="auto">
            <a:xfrm>
              <a:off x="4992" y="2736"/>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b="0">
                  <a:latin typeface="Comic Sans MS" panose="030F0702030302020204" pitchFamily="66" charset="0"/>
                  <a:ea typeface="宋体" panose="02010600030101010101" pitchFamily="2" charset="-122"/>
                </a:rPr>
                <a:t>j</a:t>
              </a:r>
              <a:endParaRPr lang="en-US" altLang="zh-CN" sz="2400" b="0">
                <a:latin typeface="Comic Sans MS" panose="030F0702030302020204" pitchFamily="66" charset="0"/>
                <a:ea typeface="宋体" panose="02010600030101010101" pitchFamily="2" charset="-122"/>
              </a:endParaRPr>
            </a:p>
          </p:txBody>
        </p:sp>
        <p:sp>
          <p:nvSpPr>
            <p:cNvPr id="119832" name="AutoShape 40"/>
            <p:cNvSpPr>
              <a:spLocks noChangeArrowheads="1"/>
            </p:cNvSpPr>
            <p:nvPr/>
          </p:nvSpPr>
          <p:spPr bwMode="auto">
            <a:xfrm>
              <a:off x="4032" y="2736"/>
              <a:ext cx="384" cy="240"/>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FF00"/>
            </a:solidFill>
            <a:ln w="15875">
              <a:solidFill>
                <a:schemeClr val="tx1"/>
              </a:solidFill>
              <a:miter lim="800000"/>
            </a:ln>
            <a:effectLst>
              <a:outerShdw dist="35921" dir="2700000" algn="ctr" rotWithShape="0">
                <a:schemeClr val="bg2"/>
              </a:outerShdw>
            </a:effectLst>
          </p:spPr>
          <p:txBody>
            <a:bodyPr wrap="none" anchor="ctr"/>
            <a:lstStyle/>
            <a:p>
              <a:endParaRPr lang="zh-CN" altLang="en-US"/>
            </a:p>
          </p:txBody>
        </p:sp>
      </p:gr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22" name="Rectangle 2"/>
          <p:cNvSpPr>
            <a:spLocks noGrp="1" noChangeArrowheads="1"/>
          </p:cNvSpPr>
          <p:nvPr>
            <p:ph type="title"/>
          </p:nvPr>
        </p:nvSpPr>
        <p:spPr/>
        <p:txBody>
          <a:bodyPr/>
          <a:lstStyle/>
          <a:p>
            <a:pPr eaLnBrk="1" hangingPunct="1">
              <a:defRPr/>
            </a:pPr>
            <a:r>
              <a:rPr lang="zh-CN" altLang="en-US" sz="5400" smtClean="0"/>
              <a:t>寄存器换名举例</a:t>
            </a:r>
            <a:endParaRPr lang="en-US" altLang="zh-CN" sz="3600" smtClean="0"/>
          </a:p>
        </p:txBody>
      </p:sp>
      <p:sp>
        <p:nvSpPr>
          <p:cNvPr id="798723" name="Rectangle 3"/>
          <p:cNvSpPr>
            <a:spLocks noGrp="1" noChangeArrowheads="1"/>
          </p:cNvSpPr>
          <p:nvPr>
            <p:ph type="body" sz="half" idx="1"/>
          </p:nvPr>
        </p:nvSpPr>
        <p:spPr>
          <a:xfrm>
            <a:off x="804863" y="2133600"/>
            <a:ext cx="3902075" cy="4248150"/>
          </a:xfrm>
          <a:solidFill>
            <a:srgbClr val="FFFF99"/>
          </a:solidFill>
          <a:ln w="57150" cmpd="thickThin">
            <a:solidFill>
              <a:schemeClr val="tx1"/>
            </a:solidFill>
            <a:miter lim="800000"/>
          </a:ln>
        </p:spPr>
        <p:txBody>
          <a:bodyPr/>
          <a:lstStyle/>
          <a:p>
            <a:pPr marL="0" indent="0" eaLnBrk="1" hangingPunct="1">
              <a:lnSpc>
                <a:spcPct val="130000"/>
              </a:lnSpc>
              <a:buClr>
                <a:srgbClr val="FF0000"/>
              </a:buClr>
              <a:tabLst>
                <a:tab pos="1436370" algn="l"/>
              </a:tabLst>
              <a:defRPr/>
            </a:pPr>
            <a:r>
              <a:rPr lang="zh-CN" altLang="en-US" sz="3200" smtClean="0">
                <a:solidFill>
                  <a:srgbClr val="FF0000"/>
                </a:solidFill>
                <a:effectLst>
                  <a:outerShdw blurRad="38100" dist="38100" dir="2700000" algn="tl">
                    <a:srgbClr val="000000"/>
                  </a:outerShdw>
                </a:effectLst>
              </a:rPr>
              <a:t>  换名前</a:t>
            </a:r>
            <a:endParaRPr lang="zh-CN" altLang="en-US" sz="3200" smtClean="0">
              <a:solidFill>
                <a:srgbClr val="FF0000"/>
              </a:solidFill>
              <a:effectLst>
                <a:outerShdw blurRad="38100" dist="38100" dir="2700000" algn="tl">
                  <a:srgbClr val="000000"/>
                </a:outerShdw>
              </a:effectLst>
            </a:endParaRPr>
          </a:p>
          <a:p>
            <a:pPr marL="0" indent="0" eaLnBrk="1" hangingPunct="1">
              <a:lnSpc>
                <a:spcPct val="130000"/>
              </a:lnSpc>
              <a:buClr>
                <a:srgbClr val="FF0000"/>
              </a:buClr>
              <a:buFont typeface="Wingdings" panose="05000000000000000000" pitchFamily="2" charset="2"/>
              <a:buNone/>
              <a:tabLst>
                <a:tab pos="1436370" algn="l"/>
              </a:tabLst>
              <a:defRPr/>
            </a:pPr>
            <a:r>
              <a:rPr lang="en-US" altLang="zh-CN" smtClean="0">
                <a:latin typeface="Comic Sans MS" panose="030F0702030302020204" pitchFamily="66" charset="0"/>
              </a:rPr>
              <a:t>DIV.D	F0,F2,F4</a:t>
            </a:r>
            <a:endParaRPr lang="en-US" altLang="zh-CN" smtClean="0">
              <a:latin typeface="Comic Sans MS" panose="030F0702030302020204" pitchFamily="66" charset="0"/>
            </a:endParaRPr>
          </a:p>
          <a:p>
            <a:pPr marL="0" indent="0" eaLnBrk="1" hangingPunct="1">
              <a:lnSpc>
                <a:spcPct val="130000"/>
              </a:lnSpc>
              <a:buClr>
                <a:srgbClr val="FF0000"/>
              </a:buClr>
              <a:buFont typeface="Wingdings" panose="05000000000000000000" pitchFamily="2" charset="2"/>
              <a:buNone/>
              <a:tabLst>
                <a:tab pos="1436370" algn="l"/>
              </a:tabLst>
              <a:defRPr/>
            </a:pPr>
            <a:r>
              <a:rPr lang="en-US" altLang="zh-CN" smtClean="0">
                <a:latin typeface="Comic Sans MS" panose="030F0702030302020204" pitchFamily="66" charset="0"/>
              </a:rPr>
              <a:t>ADD.D	</a:t>
            </a:r>
            <a:r>
              <a:rPr lang="en-US" altLang="zh-CN" smtClean="0">
                <a:solidFill>
                  <a:srgbClr val="FF0000"/>
                </a:solidFill>
                <a:latin typeface="Comic Sans MS" panose="030F0702030302020204" pitchFamily="66" charset="0"/>
              </a:rPr>
              <a:t>F6</a:t>
            </a:r>
            <a:r>
              <a:rPr lang="en-US" altLang="zh-CN" smtClean="0">
                <a:latin typeface="Comic Sans MS" panose="030F0702030302020204" pitchFamily="66" charset="0"/>
              </a:rPr>
              <a:t>,F0,</a:t>
            </a:r>
            <a:r>
              <a:rPr lang="en-US" altLang="zh-CN" smtClean="0">
                <a:solidFill>
                  <a:srgbClr val="0000CC"/>
                </a:solidFill>
                <a:latin typeface="Comic Sans MS" panose="030F0702030302020204" pitchFamily="66" charset="0"/>
              </a:rPr>
              <a:t>F8</a:t>
            </a:r>
            <a:endParaRPr lang="en-US" altLang="zh-CN" smtClean="0">
              <a:solidFill>
                <a:srgbClr val="0000CC"/>
              </a:solidFill>
              <a:latin typeface="Comic Sans MS" panose="030F0702030302020204" pitchFamily="66" charset="0"/>
            </a:endParaRPr>
          </a:p>
          <a:p>
            <a:pPr marL="0" indent="0" eaLnBrk="1" hangingPunct="1">
              <a:lnSpc>
                <a:spcPct val="130000"/>
              </a:lnSpc>
              <a:buClr>
                <a:srgbClr val="FF0000"/>
              </a:buClr>
              <a:buFont typeface="Wingdings" panose="05000000000000000000" pitchFamily="2" charset="2"/>
              <a:buNone/>
              <a:tabLst>
                <a:tab pos="1436370" algn="l"/>
              </a:tabLst>
              <a:defRPr/>
            </a:pPr>
            <a:r>
              <a:rPr lang="en-US" altLang="zh-CN" smtClean="0">
                <a:latin typeface="Comic Sans MS" panose="030F0702030302020204" pitchFamily="66" charset="0"/>
              </a:rPr>
              <a:t>S.D	F6,0(R1)</a:t>
            </a:r>
            <a:endParaRPr lang="en-US" altLang="zh-CN" smtClean="0">
              <a:latin typeface="Comic Sans MS" panose="030F0702030302020204" pitchFamily="66" charset="0"/>
            </a:endParaRPr>
          </a:p>
          <a:p>
            <a:pPr marL="0" indent="0" eaLnBrk="1" hangingPunct="1">
              <a:lnSpc>
                <a:spcPct val="130000"/>
              </a:lnSpc>
              <a:buClr>
                <a:srgbClr val="FF0000"/>
              </a:buClr>
              <a:buFont typeface="Wingdings" panose="05000000000000000000" pitchFamily="2" charset="2"/>
              <a:buNone/>
              <a:tabLst>
                <a:tab pos="1436370" algn="l"/>
              </a:tabLst>
              <a:defRPr/>
            </a:pPr>
            <a:r>
              <a:rPr lang="en-US" altLang="zh-CN" smtClean="0">
                <a:latin typeface="Comic Sans MS" panose="030F0702030302020204" pitchFamily="66" charset="0"/>
              </a:rPr>
              <a:t>SUB.D	</a:t>
            </a:r>
            <a:r>
              <a:rPr lang="en-US" altLang="zh-CN" smtClean="0">
                <a:solidFill>
                  <a:srgbClr val="0000CC"/>
                </a:solidFill>
                <a:latin typeface="Comic Sans MS" panose="030F0702030302020204" pitchFamily="66" charset="0"/>
              </a:rPr>
              <a:t>F8</a:t>
            </a:r>
            <a:r>
              <a:rPr lang="en-US" altLang="zh-CN" smtClean="0">
                <a:latin typeface="Comic Sans MS" panose="030F0702030302020204" pitchFamily="66" charset="0"/>
              </a:rPr>
              <a:t>,F10,F14</a:t>
            </a:r>
            <a:endParaRPr lang="en-US" altLang="zh-CN" smtClean="0">
              <a:latin typeface="Comic Sans MS" panose="030F0702030302020204" pitchFamily="66" charset="0"/>
            </a:endParaRPr>
          </a:p>
          <a:p>
            <a:pPr marL="0" indent="0" eaLnBrk="1" hangingPunct="1">
              <a:lnSpc>
                <a:spcPct val="130000"/>
              </a:lnSpc>
              <a:buClr>
                <a:srgbClr val="FF0000"/>
              </a:buClr>
              <a:buFont typeface="Wingdings" panose="05000000000000000000" pitchFamily="2" charset="2"/>
              <a:buNone/>
              <a:tabLst>
                <a:tab pos="1436370" algn="l"/>
              </a:tabLst>
              <a:defRPr/>
            </a:pPr>
            <a:r>
              <a:rPr lang="en-US" altLang="zh-CN" smtClean="0">
                <a:latin typeface="Comic Sans MS" panose="030F0702030302020204" pitchFamily="66" charset="0"/>
              </a:rPr>
              <a:t>MUL.D	</a:t>
            </a:r>
            <a:r>
              <a:rPr lang="en-US" altLang="zh-CN" smtClean="0">
                <a:solidFill>
                  <a:srgbClr val="FF0000"/>
                </a:solidFill>
                <a:latin typeface="Comic Sans MS" panose="030F0702030302020204" pitchFamily="66" charset="0"/>
              </a:rPr>
              <a:t>F6</a:t>
            </a:r>
            <a:r>
              <a:rPr lang="en-US" altLang="zh-CN" smtClean="0">
                <a:latin typeface="Comic Sans MS" panose="030F0702030302020204" pitchFamily="66" charset="0"/>
              </a:rPr>
              <a:t>,F10,F8</a:t>
            </a:r>
            <a:endParaRPr lang="en-US" altLang="zh-CN" smtClean="0">
              <a:latin typeface="Comic Sans MS" panose="030F0702030302020204" pitchFamily="66" charset="0"/>
            </a:endParaRPr>
          </a:p>
        </p:txBody>
      </p:sp>
      <p:sp>
        <p:nvSpPr>
          <p:cNvPr id="798724" name="Rectangle 4"/>
          <p:cNvSpPr>
            <a:spLocks noGrp="1" noChangeArrowheads="1"/>
          </p:cNvSpPr>
          <p:nvPr>
            <p:ph type="body" sz="half" idx="2"/>
          </p:nvPr>
        </p:nvSpPr>
        <p:spPr>
          <a:xfrm>
            <a:off x="4859338" y="2133600"/>
            <a:ext cx="3903662" cy="4248150"/>
          </a:xfrm>
          <a:solidFill>
            <a:srgbClr val="CC99FF"/>
          </a:solidFill>
          <a:ln w="57150" cmpd="thickThin">
            <a:solidFill>
              <a:schemeClr val="tx1"/>
            </a:solidFill>
            <a:miter lim="800000"/>
          </a:ln>
        </p:spPr>
        <p:txBody>
          <a:bodyPr/>
          <a:lstStyle/>
          <a:p>
            <a:pPr eaLnBrk="1" hangingPunct="1">
              <a:lnSpc>
                <a:spcPct val="130000"/>
              </a:lnSpc>
              <a:buClr>
                <a:srgbClr val="FF0000"/>
              </a:buClr>
              <a:tabLst>
                <a:tab pos="1436370" algn="l"/>
              </a:tabLst>
              <a:defRPr/>
            </a:pPr>
            <a:r>
              <a:rPr lang="zh-CN" altLang="en-US" sz="3200" smtClean="0">
                <a:solidFill>
                  <a:srgbClr val="FF0000"/>
                </a:solidFill>
                <a:effectLst>
                  <a:outerShdw blurRad="38100" dist="38100" dir="2700000" algn="tl">
                    <a:srgbClr val="000000"/>
                  </a:outerShdw>
                </a:effectLst>
              </a:rPr>
              <a:t>换名后</a:t>
            </a:r>
            <a:endParaRPr lang="zh-CN" altLang="en-US" sz="3200" smtClean="0">
              <a:solidFill>
                <a:srgbClr val="FF0000"/>
              </a:solidFill>
              <a:effectLst>
                <a:outerShdw blurRad="38100" dist="38100" dir="2700000" algn="tl">
                  <a:srgbClr val="000000"/>
                </a:outerShdw>
              </a:effectLst>
            </a:endParaRPr>
          </a:p>
          <a:p>
            <a:pPr eaLnBrk="1" hangingPunct="1">
              <a:lnSpc>
                <a:spcPct val="130000"/>
              </a:lnSpc>
              <a:buClr>
                <a:srgbClr val="FF0000"/>
              </a:buClr>
              <a:buFont typeface="Wingdings" panose="05000000000000000000" pitchFamily="2" charset="2"/>
              <a:buNone/>
              <a:tabLst>
                <a:tab pos="1436370" algn="l"/>
              </a:tabLst>
              <a:defRPr/>
            </a:pPr>
            <a:r>
              <a:rPr lang="en-US" altLang="zh-CN" smtClean="0">
                <a:latin typeface="Comic Sans MS" panose="030F0702030302020204" pitchFamily="66" charset="0"/>
              </a:rPr>
              <a:t>DIV.D	F0,F2,F4</a:t>
            </a:r>
            <a:endParaRPr lang="en-US" altLang="zh-CN" smtClean="0">
              <a:latin typeface="Comic Sans MS" panose="030F0702030302020204" pitchFamily="66" charset="0"/>
            </a:endParaRPr>
          </a:p>
          <a:p>
            <a:pPr eaLnBrk="1" hangingPunct="1">
              <a:lnSpc>
                <a:spcPct val="130000"/>
              </a:lnSpc>
              <a:buClr>
                <a:srgbClr val="FF0000"/>
              </a:buClr>
              <a:buFont typeface="Wingdings" panose="05000000000000000000" pitchFamily="2" charset="2"/>
              <a:buNone/>
              <a:tabLst>
                <a:tab pos="1436370" algn="l"/>
              </a:tabLst>
              <a:defRPr/>
            </a:pPr>
            <a:r>
              <a:rPr lang="en-US" altLang="zh-CN" smtClean="0">
                <a:latin typeface="Comic Sans MS" panose="030F0702030302020204" pitchFamily="66" charset="0"/>
              </a:rPr>
              <a:t>ADD.D	</a:t>
            </a:r>
            <a:r>
              <a:rPr lang="en-US" altLang="zh-CN" smtClean="0">
                <a:solidFill>
                  <a:srgbClr val="FF0000"/>
                </a:solidFill>
                <a:latin typeface="Comic Sans MS" panose="030F0702030302020204" pitchFamily="66" charset="0"/>
              </a:rPr>
              <a:t>S</a:t>
            </a:r>
            <a:r>
              <a:rPr lang="en-US" altLang="zh-CN" smtClean="0">
                <a:latin typeface="Comic Sans MS" panose="030F0702030302020204" pitchFamily="66" charset="0"/>
              </a:rPr>
              <a:t>,F0,</a:t>
            </a:r>
            <a:r>
              <a:rPr lang="en-US" altLang="zh-CN" smtClean="0">
                <a:solidFill>
                  <a:srgbClr val="0000CC"/>
                </a:solidFill>
                <a:latin typeface="Comic Sans MS" panose="030F0702030302020204" pitchFamily="66" charset="0"/>
              </a:rPr>
              <a:t>F8</a:t>
            </a:r>
            <a:endParaRPr lang="en-US" altLang="zh-CN" smtClean="0">
              <a:solidFill>
                <a:srgbClr val="0000CC"/>
              </a:solidFill>
              <a:latin typeface="Comic Sans MS" panose="030F0702030302020204" pitchFamily="66" charset="0"/>
            </a:endParaRPr>
          </a:p>
          <a:p>
            <a:pPr eaLnBrk="1" hangingPunct="1">
              <a:lnSpc>
                <a:spcPct val="130000"/>
              </a:lnSpc>
              <a:buClr>
                <a:srgbClr val="FF0000"/>
              </a:buClr>
              <a:buFont typeface="Wingdings" panose="05000000000000000000" pitchFamily="2" charset="2"/>
              <a:buNone/>
              <a:tabLst>
                <a:tab pos="1436370" algn="l"/>
              </a:tabLst>
              <a:defRPr/>
            </a:pPr>
            <a:r>
              <a:rPr lang="en-US" altLang="zh-CN" smtClean="0">
                <a:latin typeface="Comic Sans MS" panose="030F0702030302020204" pitchFamily="66" charset="0"/>
              </a:rPr>
              <a:t>S.D	</a:t>
            </a:r>
            <a:r>
              <a:rPr lang="en-US" altLang="zh-CN" smtClean="0">
                <a:solidFill>
                  <a:srgbClr val="FF0000"/>
                </a:solidFill>
                <a:latin typeface="Comic Sans MS" panose="030F0702030302020204" pitchFamily="66" charset="0"/>
              </a:rPr>
              <a:t>S</a:t>
            </a:r>
            <a:r>
              <a:rPr lang="en-US" altLang="zh-CN" smtClean="0">
                <a:latin typeface="Comic Sans MS" panose="030F0702030302020204" pitchFamily="66" charset="0"/>
              </a:rPr>
              <a:t>,0(R1)</a:t>
            </a:r>
            <a:endParaRPr lang="en-US" altLang="zh-CN" smtClean="0">
              <a:latin typeface="Comic Sans MS" panose="030F0702030302020204" pitchFamily="66" charset="0"/>
            </a:endParaRPr>
          </a:p>
          <a:p>
            <a:pPr eaLnBrk="1" hangingPunct="1">
              <a:lnSpc>
                <a:spcPct val="130000"/>
              </a:lnSpc>
              <a:buClr>
                <a:srgbClr val="FF0000"/>
              </a:buClr>
              <a:buFont typeface="Wingdings" panose="05000000000000000000" pitchFamily="2" charset="2"/>
              <a:buNone/>
              <a:tabLst>
                <a:tab pos="1436370" algn="l"/>
              </a:tabLst>
              <a:defRPr/>
            </a:pPr>
            <a:r>
              <a:rPr lang="en-US" altLang="zh-CN" smtClean="0">
                <a:latin typeface="Comic Sans MS" panose="030F0702030302020204" pitchFamily="66" charset="0"/>
              </a:rPr>
              <a:t>SUB.D	</a:t>
            </a:r>
            <a:r>
              <a:rPr lang="en-US" altLang="zh-CN" smtClean="0">
                <a:solidFill>
                  <a:srgbClr val="0000CC"/>
                </a:solidFill>
                <a:latin typeface="Comic Sans MS" panose="030F0702030302020204" pitchFamily="66" charset="0"/>
              </a:rPr>
              <a:t>T</a:t>
            </a:r>
            <a:r>
              <a:rPr lang="en-US" altLang="zh-CN" smtClean="0">
                <a:latin typeface="Comic Sans MS" panose="030F0702030302020204" pitchFamily="66" charset="0"/>
              </a:rPr>
              <a:t>,F10,F14</a:t>
            </a:r>
            <a:endParaRPr lang="en-US" altLang="zh-CN" smtClean="0">
              <a:latin typeface="Comic Sans MS" panose="030F0702030302020204" pitchFamily="66" charset="0"/>
            </a:endParaRPr>
          </a:p>
          <a:p>
            <a:pPr eaLnBrk="1" hangingPunct="1">
              <a:lnSpc>
                <a:spcPct val="130000"/>
              </a:lnSpc>
              <a:buClr>
                <a:srgbClr val="FF0000"/>
              </a:buClr>
              <a:buFont typeface="Wingdings" panose="05000000000000000000" pitchFamily="2" charset="2"/>
              <a:buNone/>
              <a:tabLst>
                <a:tab pos="1436370" algn="l"/>
              </a:tabLst>
              <a:defRPr/>
            </a:pPr>
            <a:r>
              <a:rPr lang="en-US" altLang="zh-CN" smtClean="0">
                <a:latin typeface="Comic Sans MS" panose="030F0702030302020204" pitchFamily="66" charset="0"/>
              </a:rPr>
              <a:t>MUL.D	</a:t>
            </a:r>
            <a:r>
              <a:rPr lang="en-US" altLang="zh-CN" smtClean="0">
                <a:solidFill>
                  <a:srgbClr val="FF0000"/>
                </a:solidFill>
                <a:latin typeface="Comic Sans MS" panose="030F0702030302020204" pitchFamily="66" charset="0"/>
              </a:rPr>
              <a:t>F6</a:t>
            </a:r>
            <a:r>
              <a:rPr lang="en-US" altLang="zh-CN" smtClean="0">
                <a:latin typeface="Comic Sans MS" panose="030F0702030302020204" pitchFamily="66" charset="0"/>
              </a:rPr>
              <a:t>,F10,</a:t>
            </a:r>
            <a:r>
              <a:rPr lang="en-US" altLang="zh-CN" smtClean="0">
                <a:solidFill>
                  <a:srgbClr val="0000CC"/>
                </a:solidFill>
                <a:latin typeface="Comic Sans MS" panose="030F0702030302020204" pitchFamily="66" charset="0"/>
              </a:rPr>
              <a:t>T</a:t>
            </a:r>
            <a:endParaRPr lang="zh-CN" altLang="en-US" smtClean="0">
              <a:solidFill>
                <a:srgbClr val="0000CC"/>
              </a:solidFill>
              <a:latin typeface="Comic Sans MS" panose="030F0702030302020204" pitchFamily="66" charset="0"/>
            </a:endParaRPr>
          </a:p>
        </p:txBody>
      </p:sp>
      <p:sp>
        <p:nvSpPr>
          <p:cNvPr id="120837"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数据相关解决</a:t>
            </a:r>
            <a:endParaRPr lang="zh-CN" altLang="en-US" sz="1200" b="0">
              <a:latin typeface="Times New Roman" panose="02020603050405020304" pitchFamily="18" charset="0"/>
              <a:ea typeface="幼圆" panose="02010509060101010101" pitchFamily="49" charset="-122"/>
            </a:endParaRPr>
          </a:p>
        </p:txBody>
      </p:sp>
      <p:sp>
        <p:nvSpPr>
          <p:cNvPr id="120838"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0770" name="Rectangle 2"/>
          <p:cNvSpPr>
            <a:spLocks noGrp="1" noChangeArrowheads="1"/>
          </p:cNvSpPr>
          <p:nvPr>
            <p:ph type="title"/>
          </p:nvPr>
        </p:nvSpPr>
        <p:spPr/>
        <p:txBody>
          <a:bodyPr/>
          <a:lstStyle/>
          <a:p>
            <a:pPr eaLnBrk="1" hangingPunct="1">
              <a:defRPr/>
            </a:pPr>
            <a:r>
              <a:rPr lang="zh-CN" altLang="en-US" sz="5400" smtClean="0"/>
              <a:t>动态调度技术</a:t>
            </a:r>
            <a:endParaRPr lang="zh-CN" altLang="en-US" sz="5400" smtClean="0"/>
          </a:p>
        </p:txBody>
      </p:sp>
      <p:sp>
        <p:nvSpPr>
          <p:cNvPr id="12185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endParaRPr lang="zh-CN" altLang="en-US" sz="1200" b="0">
              <a:latin typeface="Times New Roman" panose="02020603050405020304" pitchFamily="18" charset="0"/>
              <a:ea typeface="幼圆" panose="02010509060101010101" pitchFamily="49" charset="-122"/>
            </a:endParaRPr>
          </a:p>
        </p:txBody>
      </p:sp>
      <p:sp>
        <p:nvSpPr>
          <p:cNvPr id="121860" name="Rectangle 5"/>
          <p:cNvSpPr>
            <a:spLocks noGrp="1" noChangeArrowheads="1"/>
          </p:cNvSpPr>
          <p:nvPr>
            <p:ph type="body" idx="1"/>
          </p:nvPr>
        </p:nvSpPr>
        <p:spPr>
          <a:xfrm>
            <a:off x="2819400" y="2144713"/>
            <a:ext cx="3457575" cy="4014787"/>
          </a:xfrm>
        </p:spPr>
        <p:txBody>
          <a:bodyPr/>
          <a:lstStyle/>
          <a:p>
            <a:pPr eaLnBrk="1" hangingPunct="1">
              <a:lnSpc>
                <a:spcPct val="140000"/>
              </a:lnSpc>
            </a:pPr>
            <a:r>
              <a:rPr lang="zh-CN" altLang="en-US" dirty="0" smtClean="0">
                <a:hlinkClick r:id="rId4" action="ppaction://hlinksldjump"/>
              </a:rPr>
              <a:t>引入</a:t>
            </a:r>
            <a:endParaRPr lang="zh-CN" altLang="en-US" dirty="0" smtClean="0"/>
          </a:p>
          <a:p>
            <a:pPr eaLnBrk="1" hangingPunct="1">
              <a:lnSpc>
                <a:spcPct val="140000"/>
              </a:lnSpc>
            </a:pPr>
            <a:r>
              <a:rPr lang="zh-CN" altLang="en-US" dirty="0" smtClean="0">
                <a:hlinkClick r:id="rId5" action="ppaction://hlinksldjump"/>
              </a:rPr>
              <a:t>思想</a:t>
            </a:r>
            <a:endParaRPr lang="zh-CN" altLang="en-US" dirty="0" smtClean="0"/>
          </a:p>
          <a:p>
            <a:pPr eaLnBrk="1" hangingPunct="1">
              <a:lnSpc>
                <a:spcPct val="140000"/>
              </a:lnSpc>
            </a:pPr>
            <a:r>
              <a:rPr lang="zh-CN" altLang="en-US" dirty="0" smtClean="0"/>
              <a:t>方法</a:t>
            </a:r>
            <a:endParaRPr lang="zh-CN" altLang="en-US" dirty="0" smtClean="0"/>
          </a:p>
          <a:p>
            <a:pPr lvl="1" eaLnBrk="1" hangingPunct="1">
              <a:lnSpc>
                <a:spcPct val="140000"/>
              </a:lnSpc>
            </a:pPr>
            <a:r>
              <a:rPr lang="en-US" altLang="zh-CN" dirty="0" smtClean="0"/>
              <a:t>CDC</a:t>
            </a:r>
            <a:r>
              <a:rPr lang="zh-CN" altLang="en-US" dirty="0" smtClean="0"/>
              <a:t>计分牌法</a:t>
            </a:r>
            <a:endParaRPr lang="zh-CN" altLang="en-US" dirty="0" smtClean="0"/>
          </a:p>
          <a:p>
            <a:pPr lvl="1" eaLnBrk="1" hangingPunct="1">
              <a:lnSpc>
                <a:spcPct val="140000"/>
              </a:lnSpc>
            </a:pPr>
            <a:r>
              <a:rPr lang="en-US" altLang="zh-CN" dirty="0" err="1" smtClean="0">
                <a:hlinkClick r:id="rId6" action="ppaction://hlinksldjump"/>
              </a:rPr>
              <a:t>Tomasulo</a:t>
            </a:r>
            <a:r>
              <a:rPr lang="zh-CN" altLang="en-US" dirty="0" smtClean="0">
                <a:hlinkClick r:id="rId6" action="ppaction://hlinksldjump"/>
              </a:rPr>
              <a:t>算法</a:t>
            </a:r>
            <a:endParaRPr lang="zh-CN" altLang="en-US" dirty="0" smtClean="0"/>
          </a:p>
        </p:txBody>
      </p:sp>
    </p:spTree>
  </p:cSld>
  <p:clrMapOvr>
    <a:masterClrMapping/>
  </p:clrMapOvr>
  <p:transition spd="slow">
    <p:random/>
    <p:sndAc>
      <p:stSnd>
        <p:snd r:embed="rId7" name="projctor.wav"/>
      </p:stSnd>
    </p:sndAc>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1794" name="Rectangle 2"/>
          <p:cNvSpPr>
            <a:spLocks noGrp="1" noChangeArrowheads="1"/>
          </p:cNvSpPr>
          <p:nvPr>
            <p:ph type="title"/>
          </p:nvPr>
        </p:nvSpPr>
        <p:spPr/>
        <p:txBody>
          <a:bodyPr/>
          <a:lstStyle/>
          <a:p>
            <a:pPr eaLnBrk="1" hangingPunct="1">
              <a:defRPr/>
            </a:pPr>
            <a:r>
              <a:rPr lang="zh-CN" altLang="en-US" sz="5400" smtClean="0"/>
              <a:t>引  入</a:t>
            </a:r>
            <a:endParaRPr lang="zh-CN" altLang="en-US" sz="5400" smtClean="0"/>
          </a:p>
        </p:txBody>
      </p:sp>
      <p:sp>
        <p:nvSpPr>
          <p:cNvPr id="12288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动态调度技术</a:t>
            </a:r>
            <a:endParaRPr lang="zh-CN" altLang="en-US" sz="1200" b="0">
              <a:latin typeface="Times New Roman" panose="02020603050405020304" pitchFamily="18" charset="0"/>
              <a:ea typeface="幼圆" panose="02010509060101010101" pitchFamily="49" charset="-122"/>
            </a:endParaRPr>
          </a:p>
        </p:txBody>
      </p:sp>
      <p:sp>
        <p:nvSpPr>
          <p:cNvPr id="801797" name="Rectangle 5"/>
          <p:cNvSpPr>
            <a:spLocks noGrp="1" noChangeArrowheads="1"/>
          </p:cNvSpPr>
          <p:nvPr>
            <p:ph type="body" idx="1"/>
          </p:nvPr>
        </p:nvSpPr>
        <p:spPr>
          <a:xfrm>
            <a:off x="809625" y="1989138"/>
            <a:ext cx="7958138" cy="1681162"/>
          </a:xfrm>
        </p:spPr>
        <p:txBody>
          <a:bodyPr/>
          <a:lstStyle/>
          <a:p>
            <a:pPr eaLnBrk="1" hangingPunct="1">
              <a:buFont typeface="Wingdings" panose="05000000000000000000" pitchFamily="2" charset="2"/>
              <a:buNone/>
              <a:defRPr/>
            </a:pPr>
            <a:r>
              <a:rPr lang="en-US" altLang="zh-CN" sz="2800" smtClean="0"/>
              <a:t>			DIV.D	</a:t>
            </a:r>
            <a:r>
              <a:rPr lang="en-US" altLang="zh-CN" sz="2800" b="0" smtClean="0">
                <a:solidFill>
                  <a:srgbClr val="FF0000"/>
                </a:solidFill>
                <a:effectLst>
                  <a:outerShdw blurRad="38100" dist="38100" dir="2700000" algn="tl">
                    <a:srgbClr val="C0C0C0"/>
                  </a:outerShdw>
                </a:effectLst>
              </a:rPr>
              <a:t>F0</a:t>
            </a:r>
            <a:r>
              <a:rPr lang="en-US" altLang="zh-CN" sz="2800" smtClean="0"/>
              <a:t>,F2,F4</a:t>
            </a:r>
            <a:endParaRPr lang="en-US" altLang="zh-CN" sz="2800" smtClean="0"/>
          </a:p>
          <a:p>
            <a:pPr eaLnBrk="1" hangingPunct="1">
              <a:buFont typeface="Wingdings" panose="05000000000000000000" pitchFamily="2" charset="2"/>
              <a:buNone/>
              <a:defRPr/>
            </a:pPr>
            <a:r>
              <a:rPr lang="en-US" altLang="zh-CN" sz="2800" smtClean="0"/>
              <a:t>			ADD.D	F10,</a:t>
            </a:r>
            <a:r>
              <a:rPr lang="en-US" altLang="zh-CN" sz="2800" b="0" smtClean="0">
                <a:solidFill>
                  <a:srgbClr val="FF0000"/>
                </a:solidFill>
                <a:effectLst>
                  <a:outerShdw blurRad="38100" dist="38100" dir="2700000" algn="tl">
                    <a:srgbClr val="C0C0C0"/>
                  </a:outerShdw>
                </a:effectLst>
              </a:rPr>
              <a:t>F0</a:t>
            </a:r>
            <a:r>
              <a:rPr lang="en-US" altLang="zh-CN" sz="2800" smtClean="0"/>
              <a:t>,F8</a:t>
            </a:r>
            <a:endParaRPr lang="en-US" altLang="zh-CN" sz="2800" smtClean="0"/>
          </a:p>
          <a:p>
            <a:pPr eaLnBrk="1" hangingPunct="1">
              <a:buFont typeface="Wingdings" panose="05000000000000000000" pitchFamily="2" charset="2"/>
              <a:buNone/>
              <a:defRPr/>
            </a:pPr>
            <a:r>
              <a:rPr lang="en-US" altLang="zh-CN" sz="2800" smtClean="0"/>
              <a:t>			SUB.D	F12,F8,F14</a:t>
            </a:r>
            <a:endParaRPr lang="zh-CN" altLang="en-US" sz="2800" smtClean="0"/>
          </a:p>
        </p:txBody>
      </p:sp>
      <p:sp>
        <p:nvSpPr>
          <p:cNvPr id="122885" name="Arc 6"/>
          <p:cNvSpPr/>
          <p:nvPr/>
        </p:nvSpPr>
        <p:spPr bwMode="auto">
          <a:xfrm flipH="1" flipV="1">
            <a:off x="2124075" y="2276475"/>
            <a:ext cx="468313" cy="457200"/>
          </a:xfrm>
          <a:custGeom>
            <a:avLst/>
            <a:gdLst>
              <a:gd name="T0" fmla="*/ 0 w 24532"/>
              <a:gd name="T1" fmla="*/ 2147483647 h 43200"/>
              <a:gd name="T2" fmla="*/ 2147483647 w 24532"/>
              <a:gd name="T3" fmla="*/ 2147483647 h 43200"/>
              <a:gd name="T4" fmla="*/ 2147483647 w 24532"/>
              <a:gd name="T5" fmla="*/ 2147483647 h 43200"/>
              <a:gd name="T6" fmla="*/ 0 60000 65536"/>
              <a:gd name="T7" fmla="*/ 0 60000 65536"/>
              <a:gd name="T8" fmla="*/ 0 60000 65536"/>
            </a:gdLst>
            <a:ahLst/>
            <a:cxnLst>
              <a:cxn ang="T6">
                <a:pos x="T0" y="T1"/>
              </a:cxn>
              <a:cxn ang="T7">
                <a:pos x="T2" y="T3"/>
              </a:cxn>
              <a:cxn ang="T8">
                <a:pos x="T4" y="T5"/>
              </a:cxn>
            </a:cxnLst>
            <a:rect l="0" t="0" r="r" b="b"/>
            <a:pathLst>
              <a:path w="24532" h="43200" fill="none"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path>
              <a:path w="24532" h="43200" stroke="0"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lnTo>
                  <a:pt x="2932" y="21600"/>
                </a:lnTo>
                <a:lnTo>
                  <a:pt x="-1" y="199"/>
                </a:lnTo>
                <a:close/>
              </a:path>
            </a:pathLst>
          </a:custGeom>
          <a:noFill/>
          <a:ln w="28575">
            <a:solidFill>
              <a:srgbClr val="FF0000"/>
            </a:solidFill>
            <a:round/>
            <a:head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aphicFrame>
        <p:nvGraphicFramePr>
          <p:cNvPr id="802198" name="Group 406"/>
          <p:cNvGraphicFramePr>
            <a:graphicFrameLocks noGrp="1"/>
          </p:cNvGraphicFramePr>
          <p:nvPr/>
        </p:nvGraphicFramePr>
        <p:xfrm>
          <a:off x="914400" y="3886200"/>
          <a:ext cx="7924800" cy="2514600"/>
        </p:xfrm>
        <a:graphic>
          <a:graphicData uri="http://schemas.openxmlformats.org/drawingml/2006/table">
            <a:tbl>
              <a:tblPr/>
              <a:tblGrid>
                <a:gridCol w="838200"/>
                <a:gridCol w="609600"/>
                <a:gridCol w="685800"/>
                <a:gridCol w="685800"/>
                <a:gridCol w="685800"/>
                <a:gridCol w="685800"/>
                <a:gridCol w="685800"/>
                <a:gridCol w="685800"/>
                <a:gridCol w="685800"/>
                <a:gridCol w="609600"/>
                <a:gridCol w="609600"/>
                <a:gridCol w="457200"/>
              </a:tblGrid>
              <a:tr h="6286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rPr>
                        <a:t>时间</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1</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2</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3</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4</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rgbClr val="0000CC"/>
                          </a:solidFill>
                          <a:effectLst>
                            <a:outerShdw blurRad="38100" dist="38100" dir="2700000" algn="tl">
                              <a:srgbClr val="C0C0C0"/>
                            </a:outerShdw>
                          </a:effectLst>
                          <a:latin typeface="Arial" panose="020B0604020202020204"/>
                          <a:ea typeface="楷体_GB2312" pitchFamily="49" charset="-122"/>
                        </a:rPr>
                        <a:t>…</a:t>
                      </a:r>
                      <a:endParaRPr kumimoji="1" lang="en-US" altLang="zh-CN" sz="2400" b="1" i="0"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26</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27</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28</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29</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30</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286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DIV.D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4">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DIV</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hMerge="1">
                  <a:tcPr/>
                </a:tc>
                <a:tc hMerge="1">
                  <a:tcPr/>
                </a:tc>
                <a:tc h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MEM</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WB</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286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ADD.D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暂停</a:t>
                      </a:r>
                      <a:endParaRPr kumimoji="1" lang="zh-CN" altLang="en-US"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Arial" panose="020B0604020202020204"/>
                          <a:ea typeface="楷体_GB2312" pitchFamily="49" charset="-122"/>
                        </a:rPr>
                        <a:t>…</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暂停</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A1</a:t>
                      </a:r>
                      <a:endPar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A2</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A3</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A4</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286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SUB.D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暂停</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Arial" panose="020B0604020202020204"/>
                          <a:ea typeface="楷体_GB2312" pitchFamily="49" charset="-122"/>
                        </a:rPr>
                        <a:t>…</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暂停</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A1</a:t>
                      </a:r>
                      <a:endPar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A2</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A3</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22951" name="Text Box 40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4944" name="Rectangle 80"/>
          <p:cNvSpPr>
            <a:spLocks noGrp="1" noChangeArrowheads="1"/>
          </p:cNvSpPr>
          <p:nvPr>
            <p:ph type="body" idx="1"/>
          </p:nvPr>
        </p:nvSpPr>
        <p:spPr>
          <a:xfrm>
            <a:off x="809625" y="1844675"/>
            <a:ext cx="7958138" cy="4679950"/>
          </a:xfrm>
        </p:spPr>
        <p:txBody>
          <a:bodyPr/>
          <a:lstStyle/>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问题</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defRPr/>
            </a:pPr>
            <a:r>
              <a:rPr lang="zh-CN" altLang="en-US" sz="2800" dirty="0" smtClean="0"/>
              <a:t>    在</a:t>
            </a:r>
            <a:r>
              <a:rPr lang="en-US" altLang="zh-CN" sz="2800" dirty="0" smtClean="0"/>
              <a:t>MIPS</a:t>
            </a:r>
            <a:r>
              <a:rPr lang="zh-CN" altLang="en-US" sz="2800" dirty="0" smtClean="0"/>
              <a:t>扩展流水线中，指令</a:t>
            </a:r>
            <a:r>
              <a:rPr lang="zh-CN" altLang="en-US" sz="2800" dirty="0" smtClean="0">
                <a:solidFill>
                  <a:srgbClr val="0000CC"/>
                </a:solidFill>
                <a:effectLst>
                  <a:outerShdw blurRad="38100" dist="38100" dir="2700000" algn="tl">
                    <a:srgbClr val="C0C0C0"/>
                  </a:outerShdw>
                </a:effectLst>
              </a:rPr>
              <a:t>按序发射、按序执行和按序完成</a:t>
            </a:r>
            <a:r>
              <a:rPr lang="zh-CN" altLang="en-US" sz="2800" dirty="0" smtClean="0"/>
              <a:t>，</a:t>
            </a:r>
            <a:r>
              <a:rPr lang="en-US" altLang="zh-CN" sz="2800" dirty="0" smtClean="0"/>
              <a:t>RAW</a:t>
            </a:r>
            <a:r>
              <a:rPr lang="zh-CN" altLang="en-US" sz="2800" dirty="0" smtClean="0"/>
              <a:t>相关使</a:t>
            </a:r>
            <a:r>
              <a:rPr lang="en-US" altLang="zh-CN" sz="2800" dirty="0" smtClean="0"/>
              <a:t>ADD.D</a:t>
            </a:r>
            <a:r>
              <a:rPr lang="zh-CN" altLang="en-US" sz="2800" dirty="0" smtClean="0"/>
              <a:t>及后续指令在流水线中被暂停，即使后续指令与</a:t>
            </a:r>
            <a:r>
              <a:rPr lang="en-US" altLang="zh-CN" sz="2800" dirty="0" smtClean="0"/>
              <a:t>DIV.D、ADD.D</a:t>
            </a:r>
            <a:r>
              <a:rPr lang="zh-CN" altLang="en-US" sz="2800" dirty="0" smtClean="0"/>
              <a:t>指令没有冲突，这限制流水线的性能。</a:t>
            </a:r>
            <a:endParaRPr lang="zh-CN" altLang="en-US" sz="2800" dirty="0" smtClean="0"/>
          </a:p>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解决</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defRPr/>
            </a:pPr>
            <a:r>
              <a:rPr lang="zh-CN" altLang="en-US" sz="2800" dirty="0" smtClean="0"/>
              <a:t>    如果指令</a:t>
            </a:r>
            <a:r>
              <a:rPr lang="zh-CN" altLang="en-US" sz="2800" dirty="0" smtClean="0">
                <a:solidFill>
                  <a:srgbClr val="0000CC"/>
                </a:solidFill>
                <a:effectLst>
                  <a:outerShdw blurRad="38100" dist="38100" dir="2700000" algn="tl">
                    <a:srgbClr val="C0C0C0"/>
                  </a:outerShdw>
                </a:effectLst>
              </a:rPr>
              <a:t>按序发射、乱序执行和乱序完成</a:t>
            </a:r>
            <a:r>
              <a:rPr lang="zh-CN" altLang="en-US" sz="2800" dirty="0" smtClean="0"/>
              <a:t>，则可以减少暂停所带来的影响。</a:t>
            </a:r>
            <a:endParaRPr lang="zh-CN" altLang="en-US" sz="2800" dirty="0" smtClean="0"/>
          </a:p>
        </p:txBody>
      </p:sp>
      <p:sp>
        <p:nvSpPr>
          <p:cNvPr id="804866" name="Rectangle 2"/>
          <p:cNvSpPr>
            <a:spLocks noGrp="1" noChangeArrowheads="1"/>
          </p:cNvSpPr>
          <p:nvPr>
            <p:ph type="title"/>
          </p:nvPr>
        </p:nvSpPr>
        <p:spPr/>
        <p:txBody>
          <a:bodyPr/>
          <a:lstStyle/>
          <a:p>
            <a:pPr eaLnBrk="1" hangingPunct="1">
              <a:defRPr/>
            </a:pPr>
            <a:r>
              <a:rPr lang="zh-CN" altLang="en-US" sz="5400" smtClean="0"/>
              <a:t>引  入</a:t>
            </a:r>
            <a:endParaRPr lang="zh-CN" altLang="en-US" sz="5400" smtClean="0"/>
          </a:p>
        </p:txBody>
      </p:sp>
      <p:sp>
        <p:nvSpPr>
          <p:cNvPr id="123908"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动态调度技术</a:t>
            </a:r>
            <a:endParaRPr lang="zh-CN" altLang="en-US" sz="1200" b="0">
              <a:latin typeface="Times New Roman" panose="02020603050405020304" pitchFamily="18" charset="0"/>
              <a:ea typeface="幼圆" panose="02010509060101010101" pitchFamily="49" charset="-122"/>
            </a:endParaRPr>
          </a:p>
        </p:txBody>
      </p:sp>
      <p:sp>
        <p:nvSpPr>
          <p:cNvPr id="123909" name="Text Box 7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2818" name="Rectangle 2"/>
          <p:cNvSpPr>
            <a:spLocks noGrp="1" noChangeArrowheads="1"/>
          </p:cNvSpPr>
          <p:nvPr>
            <p:ph type="title"/>
          </p:nvPr>
        </p:nvSpPr>
        <p:spPr/>
        <p:txBody>
          <a:bodyPr/>
          <a:lstStyle/>
          <a:p>
            <a:pPr eaLnBrk="1" hangingPunct="1">
              <a:defRPr/>
            </a:pPr>
            <a:r>
              <a:rPr lang="zh-CN" altLang="en-US" sz="5400" smtClean="0"/>
              <a:t>思  想</a:t>
            </a:r>
            <a:endParaRPr lang="zh-CN" altLang="en-US" sz="5400" smtClean="0"/>
          </a:p>
        </p:txBody>
      </p:sp>
      <p:sp>
        <p:nvSpPr>
          <p:cNvPr id="12493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动态调度技术</a:t>
            </a:r>
            <a:endParaRPr lang="zh-CN" altLang="en-US" sz="1200" b="0">
              <a:latin typeface="Times New Roman" panose="02020603050405020304" pitchFamily="18" charset="0"/>
              <a:ea typeface="幼圆" panose="02010509060101010101" pitchFamily="49" charset="-122"/>
            </a:endParaRPr>
          </a:p>
        </p:txBody>
      </p:sp>
      <p:sp>
        <p:nvSpPr>
          <p:cNvPr id="802820" name="Rectangle 4"/>
          <p:cNvSpPr>
            <a:spLocks noGrp="1" noChangeArrowheads="1"/>
          </p:cNvSpPr>
          <p:nvPr>
            <p:ph type="body" idx="1"/>
          </p:nvPr>
        </p:nvSpPr>
        <p:spPr>
          <a:xfrm>
            <a:off x="809625" y="2465388"/>
            <a:ext cx="7958138" cy="3935412"/>
          </a:xfrm>
        </p:spPr>
        <p:txBody>
          <a:bodyPr/>
          <a:lstStyle/>
          <a:p>
            <a:pPr marL="0" indent="0" eaLnBrk="1" hangingPunct="1">
              <a:lnSpc>
                <a:spcPct val="140000"/>
              </a:lnSpc>
              <a:buFont typeface="Wingdings" panose="05000000000000000000" pitchFamily="2" charset="2"/>
              <a:buNone/>
              <a:defRPr/>
            </a:pPr>
            <a:r>
              <a:rPr lang="zh-CN" altLang="en-US" smtClean="0"/>
              <a:t>        记录和检测指令相关，当指令的操作数就绪时就执行该指令（即：</a:t>
            </a:r>
            <a:r>
              <a:rPr lang="zh-CN" altLang="en-US" smtClean="0">
                <a:solidFill>
                  <a:srgbClr val="FF0000"/>
                </a:solidFill>
                <a:effectLst>
                  <a:outerShdw blurRad="38100" dist="38100" dir="2700000" algn="tl">
                    <a:srgbClr val="C0C0C0"/>
                  </a:outerShdw>
                </a:effectLst>
              </a:rPr>
              <a:t>指令按序发射、乱序执行和乱序完成</a:t>
            </a:r>
            <a:r>
              <a:rPr lang="zh-CN" altLang="en-US" smtClean="0"/>
              <a:t>）以降低</a:t>
            </a:r>
            <a:r>
              <a:rPr lang="en-US" altLang="zh-CN" smtClean="0"/>
              <a:t>RAW</a:t>
            </a:r>
            <a:r>
              <a:rPr lang="zh-CN" altLang="en-US" smtClean="0"/>
              <a:t>相关的影响，采用</a:t>
            </a:r>
            <a:r>
              <a:rPr lang="zh-CN" altLang="en-US" smtClean="0">
                <a:solidFill>
                  <a:srgbClr val="FF0000"/>
                </a:solidFill>
                <a:effectLst>
                  <a:outerShdw blurRad="38100" dist="38100" dir="2700000" algn="tl">
                    <a:srgbClr val="C0C0C0"/>
                  </a:outerShdw>
                </a:effectLst>
              </a:rPr>
              <a:t>寄存器换名</a:t>
            </a:r>
            <a:r>
              <a:rPr lang="zh-CN" altLang="en-US" smtClean="0"/>
              <a:t>技术来避免</a:t>
            </a:r>
            <a:r>
              <a:rPr lang="en-US" altLang="zh-CN" smtClean="0"/>
              <a:t>WAR、WAW</a:t>
            </a:r>
            <a:r>
              <a:rPr lang="zh-CN" altLang="en-US" smtClean="0"/>
              <a:t>相关的影响。</a:t>
            </a:r>
            <a:endParaRPr lang="zh-CN" altLang="en-US" smtClean="0"/>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3842" name="Rectangle 2"/>
          <p:cNvSpPr>
            <a:spLocks noGrp="1" noChangeArrowheads="1"/>
          </p:cNvSpPr>
          <p:nvPr>
            <p:ph type="title"/>
          </p:nvPr>
        </p:nvSpPr>
        <p:spPr/>
        <p:txBody>
          <a:bodyPr/>
          <a:lstStyle/>
          <a:p>
            <a:pPr eaLnBrk="1" hangingPunct="1">
              <a:defRPr/>
            </a:pPr>
            <a:r>
              <a:rPr lang="en-US" altLang="zh-CN" smtClean="0"/>
              <a:t>Tomasulo</a:t>
            </a:r>
            <a:r>
              <a:rPr lang="zh-CN" altLang="en-US" smtClean="0"/>
              <a:t>算法</a:t>
            </a:r>
            <a:endParaRPr lang="zh-CN" altLang="en-US" sz="5400" smtClean="0"/>
          </a:p>
        </p:txBody>
      </p:sp>
      <p:sp>
        <p:nvSpPr>
          <p:cNvPr id="12595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动态调度技术</a:t>
            </a:r>
            <a:endParaRPr lang="zh-CN" altLang="en-US" sz="1200" b="0">
              <a:latin typeface="Times New Roman" panose="02020603050405020304" pitchFamily="18" charset="0"/>
              <a:ea typeface="幼圆" panose="02010509060101010101" pitchFamily="49" charset="-122"/>
            </a:endParaRPr>
          </a:p>
        </p:txBody>
      </p:sp>
      <p:sp>
        <p:nvSpPr>
          <p:cNvPr id="125956" name="Rectangle 7"/>
          <p:cNvSpPr>
            <a:spLocks noGrp="1" noChangeArrowheads="1"/>
          </p:cNvSpPr>
          <p:nvPr>
            <p:ph type="body" idx="1"/>
          </p:nvPr>
        </p:nvSpPr>
        <p:spPr>
          <a:xfrm>
            <a:off x="3708400" y="2420938"/>
            <a:ext cx="1524000" cy="3127375"/>
          </a:xfrm>
        </p:spPr>
        <p:txBody>
          <a:bodyPr/>
          <a:lstStyle/>
          <a:p>
            <a:pPr eaLnBrk="1" hangingPunct="1">
              <a:lnSpc>
                <a:spcPct val="180000"/>
              </a:lnSpc>
            </a:pPr>
            <a:r>
              <a:rPr lang="zh-CN" altLang="en-US" smtClean="0">
                <a:hlinkClick r:id="rId5" action="ppaction://hlinksldjump"/>
              </a:rPr>
              <a:t>概述</a:t>
            </a:r>
            <a:endParaRPr lang="zh-CN" altLang="en-US" smtClean="0"/>
          </a:p>
          <a:p>
            <a:pPr eaLnBrk="1" hangingPunct="1">
              <a:lnSpc>
                <a:spcPct val="180000"/>
              </a:lnSpc>
            </a:pPr>
            <a:r>
              <a:rPr lang="zh-CN" altLang="en-US" smtClean="0">
                <a:hlinkClick r:id="rId6" action="ppaction://hlinksldjump"/>
              </a:rPr>
              <a:t>实现</a:t>
            </a:r>
            <a:endParaRPr lang="zh-CN" altLang="en-US" smtClean="0"/>
          </a:p>
          <a:p>
            <a:pPr eaLnBrk="1" hangingPunct="1">
              <a:lnSpc>
                <a:spcPct val="180000"/>
              </a:lnSpc>
            </a:pPr>
            <a:r>
              <a:rPr lang="zh-CN" altLang="en-US" smtClean="0">
                <a:hlinkClick r:id="rId7" action="ppaction://hlinksldjump"/>
              </a:rPr>
              <a:t>举例</a:t>
            </a:r>
            <a:endParaRPr lang="zh-CN" altLang="en-US" smtClean="0"/>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2034" name="Rectangle 2"/>
          <p:cNvSpPr>
            <a:spLocks noGrp="1" noChangeArrowheads="1"/>
          </p:cNvSpPr>
          <p:nvPr>
            <p:ph type="title"/>
          </p:nvPr>
        </p:nvSpPr>
        <p:spPr/>
        <p:txBody>
          <a:bodyPr/>
          <a:lstStyle/>
          <a:p>
            <a:pPr eaLnBrk="1" hangingPunct="1">
              <a:defRPr/>
            </a:pPr>
            <a:r>
              <a:rPr lang="zh-CN" altLang="en-US" smtClean="0"/>
              <a:t>概  述</a:t>
            </a:r>
            <a:endParaRPr lang="zh-CN" altLang="en-US" sz="5400" smtClean="0"/>
          </a:p>
        </p:txBody>
      </p:sp>
      <p:sp>
        <p:nvSpPr>
          <p:cNvPr id="12697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动态调度技术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5" action="ppaction://hlinksldjump"/>
              </a:rPr>
              <a:t>Tomasulo</a:t>
            </a:r>
            <a:r>
              <a:rPr lang="zh-CN" altLang="en-US" sz="1200" b="0">
                <a:latin typeface="Times New Roman" panose="02020603050405020304" pitchFamily="18" charset="0"/>
                <a:ea typeface="幼圆" panose="02010509060101010101" pitchFamily="49" charset="-122"/>
                <a:hlinkClick r:id="rId5" action="ppaction://hlinksldjump"/>
              </a:rPr>
              <a:t>算法</a:t>
            </a:r>
            <a:endParaRPr lang="zh-CN" altLang="en-US" sz="1200" b="0">
              <a:latin typeface="Times New Roman" panose="02020603050405020304" pitchFamily="18" charset="0"/>
              <a:ea typeface="幼圆" panose="02010509060101010101" pitchFamily="49" charset="-122"/>
            </a:endParaRPr>
          </a:p>
        </p:txBody>
      </p:sp>
      <p:sp>
        <p:nvSpPr>
          <p:cNvPr id="812037" name="Rectangle 5"/>
          <p:cNvSpPr>
            <a:spLocks noGrp="1" noChangeArrowheads="1"/>
          </p:cNvSpPr>
          <p:nvPr>
            <p:ph type="body" idx="1"/>
          </p:nvPr>
        </p:nvSpPr>
        <p:spPr/>
        <p:txBody>
          <a:bodyPr/>
          <a:lstStyle/>
          <a:p>
            <a:pPr marL="0" indent="0" eaLnBrk="1" hangingPunct="1">
              <a:lnSpc>
                <a:spcPct val="130000"/>
              </a:lnSpc>
              <a:buFont typeface="Wingdings" panose="05000000000000000000" pitchFamily="2" charset="2"/>
              <a:buNone/>
              <a:defRPr/>
            </a:pPr>
            <a:r>
              <a:rPr lang="en-US" altLang="zh-CN" smtClean="0"/>
              <a:t>        Tomasulo</a:t>
            </a:r>
            <a:r>
              <a:rPr lang="zh-CN" altLang="en-US" smtClean="0"/>
              <a:t>算法是由</a:t>
            </a:r>
            <a:r>
              <a:rPr lang="en-US" altLang="zh-CN" smtClean="0"/>
              <a:t>R.M.Tomasulo</a:t>
            </a:r>
            <a:r>
              <a:rPr lang="zh-CN" altLang="en-US" smtClean="0"/>
              <a:t>于1967年首先提出，并最早在大型机</a:t>
            </a:r>
            <a:r>
              <a:rPr lang="en-US" altLang="zh-CN" smtClean="0"/>
              <a:t>IBM 360/91</a:t>
            </a:r>
            <a:r>
              <a:rPr lang="zh-CN" altLang="en-US" smtClean="0"/>
              <a:t>处理机的浮点处理部件中使用。 </a:t>
            </a:r>
            <a:r>
              <a:rPr lang="en-US" altLang="zh-CN" smtClean="0"/>
              <a:t>Tomasulo</a:t>
            </a:r>
            <a:r>
              <a:rPr lang="zh-CN" altLang="en-US" smtClean="0"/>
              <a:t>算法也称为</a:t>
            </a:r>
            <a:r>
              <a:rPr lang="zh-CN" altLang="en-US" smtClean="0">
                <a:solidFill>
                  <a:srgbClr val="FF0000"/>
                </a:solidFill>
                <a:effectLst>
                  <a:outerShdw blurRad="38100" dist="38100" dir="2700000" algn="tl">
                    <a:srgbClr val="C0C0C0"/>
                  </a:outerShdw>
                </a:effectLst>
              </a:rPr>
              <a:t>公共数据总线（</a:t>
            </a:r>
            <a:r>
              <a:rPr lang="en-US" altLang="zh-CN" smtClean="0">
                <a:solidFill>
                  <a:srgbClr val="FF0000"/>
                </a:solidFill>
                <a:effectLst>
                  <a:outerShdw blurRad="38100" dist="38100" dir="2700000" algn="tl">
                    <a:srgbClr val="C0C0C0"/>
                  </a:outerShdw>
                </a:effectLst>
              </a:rPr>
              <a:t>CDB）</a:t>
            </a:r>
            <a:r>
              <a:rPr lang="zh-CN" altLang="en-US" smtClean="0">
                <a:solidFill>
                  <a:srgbClr val="FF0000"/>
                </a:solidFill>
                <a:effectLst>
                  <a:outerShdw blurRad="38100" dist="38100" dir="2700000" algn="tl">
                    <a:srgbClr val="C0C0C0"/>
                  </a:outerShdw>
                </a:effectLst>
              </a:rPr>
              <a:t>法</a:t>
            </a:r>
            <a:r>
              <a:rPr lang="zh-CN" altLang="en-US" smtClean="0"/>
              <a:t>、</a:t>
            </a:r>
            <a:r>
              <a:rPr lang="zh-CN" altLang="en-US" smtClean="0">
                <a:solidFill>
                  <a:srgbClr val="FF0000"/>
                </a:solidFill>
                <a:effectLst>
                  <a:outerShdw blurRad="38100" dist="38100" dir="2700000" algn="tl">
                    <a:srgbClr val="C0C0C0"/>
                  </a:outerShdw>
                </a:effectLst>
              </a:rPr>
              <a:t>令牌法</a:t>
            </a:r>
            <a:r>
              <a:rPr lang="zh-CN" altLang="en-US" smtClean="0"/>
              <a:t>等，它采用</a:t>
            </a:r>
            <a:r>
              <a:rPr lang="zh-CN" altLang="en-US" smtClean="0">
                <a:solidFill>
                  <a:srgbClr val="0000FF"/>
                </a:solidFill>
              </a:rPr>
              <a:t>乱序方式</a:t>
            </a:r>
            <a:r>
              <a:rPr lang="zh-CN" altLang="en-US" smtClean="0"/>
              <a:t>来提高流水线的性能，并通过</a:t>
            </a:r>
            <a:r>
              <a:rPr lang="zh-CN" altLang="en-US" smtClean="0">
                <a:solidFill>
                  <a:srgbClr val="0000FF"/>
                </a:solidFill>
              </a:rPr>
              <a:t>分散控制</a:t>
            </a:r>
            <a:r>
              <a:rPr lang="zh-CN" altLang="en-US" smtClean="0"/>
              <a:t>的办法处理数据相关。</a:t>
            </a:r>
            <a:endParaRPr lang="zh-CN" altLang="en-US" smtClean="0"/>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8002" name="Text Box 3"/>
          <p:cNvSpPr txBox="1">
            <a:spLocks noChangeArrowheads="1"/>
          </p:cNvSpPr>
          <p:nvPr/>
        </p:nvSpPr>
        <p:spPr bwMode="auto">
          <a:xfrm>
            <a:off x="1295400" y="6172200"/>
            <a:ext cx="67056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400">
                <a:latin typeface="Comic Sans MS" panose="030F0702030302020204" pitchFamily="66" charset="0"/>
              </a:rPr>
              <a:t>基于</a:t>
            </a:r>
            <a:r>
              <a:rPr lang="en-US" altLang="zh-CN" sz="2400">
                <a:latin typeface="Comic Sans MS" panose="030F0702030302020204" pitchFamily="66" charset="0"/>
              </a:rPr>
              <a:t>Tomasulo</a:t>
            </a:r>
            <a:r>
              <a:rPr lang="zh-CN" altLang="en-US" sz="2400">
                <a:latin typeface="Comic Sans MS" panose="030F0702030302020204" pitchFamily="66" charset="0"/>
              </a:rPr>
              <a:t>算法的</a:t>
            </a:r>
            <a:r>
              <a:rPr lang="en-US" altLang="zh-CN" sz="2400">
                <a:latin typeface="Comic Sans MS" panose="030F0702030302020204" pitchFamily="66" charset="0"/>
              </a:rPr>
              <a:t>MIPS</a:t>
            </a:r>
            <a:r>
              <a:rPr lang="zh-CN" altLang="en-US" sz="2400">
                <a:latin typeface="Comic Sans MS" panose="030F0702030302020204" pitchFamily="66" charset="0"/>
              </a:rPr>
              <a:t>浮点部件的基本结构</a:t>
            </a:r>
            <a:endParaRPr lang="zh-CN" altLang="en-US" sz="2400">
              <a:latin typeface="Comic Sans MS" panose="030F0702030302020204" pitchFamily="66" charset="0"/>
            </a:endParaRPr>
          </a:p>
        </p:txBody>
      </p:sp>
      <p:sp>
        <p:nvSpPr>
          <p:cNvPr id="128003"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6 </a:t>
            </a:r>
            <a:r>
              <a:rPr lang="zh-CN" altLang="en-US" sz="1200" b="0">
                <a:latin typeface="幼圆" panose="02010509060101010101" pitchFamily="49" charset="-122"/>
                <a:ea typeface="幼圆" panose="02010509060101010101" pitchFamily="49" charset="-122"/>
              </a:rPr>
              <a:t>之 1</a:t>
            </a:r>
            <a:endParaRPr lang="zh-CN" altLang="en-US" sz="1200" b="0">
              <a:latin typeface="幼圆" panose="02010509060101010101" pitchFamily="49" charset="-122"/>
              <a:ea typeface="幼圆" panose="02010509060101010101" pitchFamily="49" charset="-122"/>
            </a:endParaRPr>
          </a:p>
        </p:txBody>
      </p:sp>
      <p:graphicFrame>
        <p:nvGraphicFramePr>
          <p:cNvPr id="2" name="对象 1"/>
          <p:cNvGraphicFramePr>
            <a:graphicFrameLocks noChangeAspect="1"/>
          </p:cNvGraphicFramePr>
          <p:nvPr/>
        </p:nvGraphicFramePr>
        <p:xfrm>
          <a:off x="746125" y="369888"/>
          <a:ext cx="7634288" cy="5618162"/>
        </p:xfrm>
        <a:graphic>
          <a:graphicData uri="http://schemas.openxmlformats.org/presentationml/2006/ole">
            <mc:AlternateContent xmlns:mc="http://schemas.openxmlformats.org/markup-compatibility/2006">
              <mc:Choice xmlns:v="urn:schemas-microsoft-com:vml" Requires="v">
                <p:oleObj spid="_x0000_s254040" name="Picture" r:id="rId1" imgW="32708850" imgH="22069425" progId="Word.Picture.8">
                  <p:embed/>
                </p:oleObj>
              </mc:Choice>
              <mc:Fallback>
                <p:oleObj name="Picture" r:id="rId1" imgW="32708850" imgH="22069425" progId="Word.Picture.8">
                  <p:embed/>
                  <p:pic>
                    <p:nvPicPr>
                      <p:cNvPr id="0" name="Object 4"/>
                      <p:cNvPicPr>
                        <a:picLocks noChangeAspect="1" noChangeArrowheads="1"/>
                      </p:cNvPicPr>
                      <p:nvPr/>
                    </p:nvPicPr>
                    <p:blipFill>
                      <a:blip r:embed="rId2"/>
                      <a:srcRect/>
                      <a:stretch>
                        <a:fillRect/>
                      </a:stretch>
                    </p:blipFill>
                    <p:spPr bwMode="auto">
                      <a:xfrm>
                        <a:off x="746125" y="369888"/>
                        <a:ext cx="7634288" cy="5618162"/>
                      </a:xfrm>
                      <a:prstGeom prst="rect">
                        <a:avLst/>
                      </a:prstGeom>
                      <a:noFill/>
                      <a:ln>
                        <a:noFill/>
                      </a:ln>
                      <a:effectLst/>
                    </p:spPr>
                  </p:pic>
                </p:oleObj>
              </mc:Fallback>
            </mc:AlternateContent>
          </a:graphicData>
        </a:graphic>
      </p:graphicFrame>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5890" name="Rectangle 2"/>
          <p:cNvSpPr>
            <a:spLocks noGrp="1" noChangeArrowheads="1"/>
          </p:cNvSpPr>
          <p:nvPr>
            <p:ph type="title"/>
          </p:nvPr>
        </p:nvSpPr>
        <p:spPr/>
        <p:txBody>
          <a:bodyPr/>
          <a:lstStyle/>
          <a:p>
            <a:pPr eaLnBrk="1" hangingPunct="1">
              <a:defRPr/>
            </a:pPr>
            <a:r>
              <a:rPr lang="zh-CN" altLang="en-US" smtClean="0"/>
              <a:t>保留站</a:t>
            </a:r>
            <a:endParaRPr lang="zh-CN" altLang="en-US" sz="5400" smtClean="0"/>
          </a:p>
        </p:txBody>
      </p:sp>
      <p:sp>
        <p:nvSpPr>
          <p:cNvPr id="805894" name="Rectangle 6"/>
          <p:cNvSpPr>
            <a:spLocks noGrp="1" noChangeArrowheads="1"/>
          </p:cNvSpPr>
          <p:nvPr>
            <p:ph type="body" sz="half" idx="1"/>
          </p:nvPr>
        </p:nvSpPr>
        <p:spPr>
          <a:xfrm>
            <a:off x="809625" y="2924944"/>
            <a:ext cx="3978275" cy="3475856"/>
          </a:xfrm>
          <a:solidFill>
            <a:srgbClr val="FFFF99"/>
          </a:solidFill>
          <a:ln w="57150" cmpd="thickThin">
            <a:solidFill>
              <a:schemeClr val="tx1"/>
            </a:solidFill>
            <a:miter lim="800000"/>
          </a:ln>
        </p:spPr>
        <p:txBody>
          <a:bodyPr/>
          <a:lstStyle/>
          <a:p>
            <a:pPr marL="0" indent="0" eaLnBrk="1" hangingPunct="1">
              <a:buClr>
                <a:srgbClr val="FF0000"/>
              </a:buClr>
              <a:defRPr/>
            </a:pPr>
            <a:r>
              <a:rPr lang="en-US" altLang="zh-CN" sz="2400" dirty="0" smtClean="0">
                <a:solidFill>
                  <a:srgbClr val="FF0000"/>
                </a:solidFill>
                <a:effectLst>
                  <a:outerShdw blurRad="38100" dist="38100" dir="2700000" algn="tl">
                    <a:srgbClr val="000000"/>
                  </a:outerShdw>
                </a:effectLst>
              </a:rPr>
              <a:t>  Op</a:t>
            </a:r>
            <a:r>
              <a:rPr lang="zh-CN" altLang="en-US" sz="2400" dirty="0" smtClean="0">
                <a:solidFill>
                  <a:srgbClr val="FF0000"/>
                </a:solidFill>
                <a:effectLst>
                  <a:outerShdw blurRad="38100" dist="38100" dir="2700000" algn="tl">
                    <a:srgbClr val="000000"/>
                  </a:outerShdw>
                </a:effectLst>
              </a:rPr>
              <a:t>：</a:t>
            </a:r>
            <a:r>
              <a:rPr lang="zh-CN" altLang="en-US" sz="2400" dirty="0" smtClean="0"/>
              <a:t>操作类型。</a:t>
            </a:r>
            <a:endParaRPr lang="zh-CN" altLang="en-US" sz="2400" dirty="0" smtClean="0"/>
          </a:p>
          <a:p>
            <a:pPr marL="0" indent="0" eaLnBrk="1" hangingPunct="1">
              <a:buClr>
                <a:srgbClr val="FF0000"/>
              </a:buClr>
              <a:defRPr/>
            </a:pPr>
            <a:r>
              <a:rPr lang="en-US" altLang="zh-CN" sz="2400" dirty="0" smtClean="0">
                <a:solidFill>
                  <a:srgbClr val="FF0000"/>
                </a:solidFill>
                <a:effectLst>
                  <a:outerShdw blurRad="38100" dist="38100" dir="2700000" algn="tl">
                    <a:srgbClr val="000000"/>
                  </a:outerShdw>
                </a:effectLst>
              </a:rPr>
              <a:t>  </a:t>
            </a:r>
            <a:r>
              <a:rPr lang="en-US" altLang="zh-CN" sz="2400" dirty="0" err="1" smtClean="0">
                <a:solidFill>
                  <a:srgbClr val="FF0000"/>
                </a:solidFill>
                <a:effectLst>
                  <a:outerShdw blurRad="38100" dist="38100" dir="2700000" algn="tl">
                    <a:srgbClr val="000000"/>
                  </a:outerShdw>
                </a:effectLst>
              </a:rPr>
              <a:t>Vj</a:t>
            </a:r>
            <a:r>
              <a:rPr lang="zh-CN" altLang="en-US" sz="2400" dirty="0" smtClean="0">
                <a:solidFill>
                  <a:srgbClr val="FF0000"/>
                </a:solidFill>
                <a:effectLst>
                  <a:outerShdw blurRad="38100" dist="38100" dir="2700000" algn="tl">
                    <a:srgbClr val="000000"/>
                  </a:outerShdw>
                </a:effectLst>
              </a:rPr>
              <a:t>和</a:t>
            </a:r>
            <a:r>
              <a:rPr lang="en-US" altLang="zh-CN" sz="2400" dirty="0" err="1" smtClean="0">
                <a:solidFill>
                  <a:srgbClr val="FF0000"/>
                </a:solidFill>
                <a:effectLst>
                  <a:outerShdw blurRad="38100" dist="38100" dir="2700000" algn="tl">
                    <a:srgbClr val="000000"/>
                  </a:outerShdw>
                </a:effectLst>
              </a:rPr>
              <a:t>Vk</a:t>
            </a:r>
            <a:endParaRPr lang="en-US" altLang="zh-CN" sz="2400" dirty="0" smtClean="0">
              <a:solidFill>
                <a:srgbClr val="FF0000"/>
              </a:solidFill>
              <a:effectLst>
                <a:outerShdw blurRad="38100" dist="38100" dir="2700000" algn="tl">
                  <a:srgbClr val="000000"/>
                </a:outerShdw>
              </a:effectLst>
            </a:endParaRPr>
          </a:p>
          <a:p>
            <a:pPr marL="0" indent="0" eaLnBrk="1" hangingPunct="1">
              <a:buFont typeface="Wingdings" panose="05000000000000000000" pitchFamily="2" charset="2"/>
              <a:buNone/>
              <a:defRPr/>
            </a:pPr>
            <a:r>
              <a:rPr lang="zh-CN" altLang="en-US" sz="2400" dirty="0" smtClean="0"/>
              <a:t>    存放两个源操作数的值。</a:t>
            </a:r>
            <a:endParaRPr lang="zh-CN" altLang="en-US" sz="2400" dirty="0" smtClean="0"/>
          </a:p>
          <a:p>
            <a:pPr marL="0" indent="0" eaLnBrk="1" hangingPunct="1">
              <a:buClr>
                <a:srgbClr val="FF0000"/>
              </a:buClr>
              <a:defRPr/>
            </a:pPr>
            <a:r>
              <a:rPr lang="en-US" altLang="zh-CN" sz="2400" dirty="0" smtClean="0">
                <a:solidFill>
                  <a:srgbClr val="FF0000"/>
                </a:solidFill>
                <a:effectLst>
                  <a:outerShdw blurRad="38100" dist="38100" dir="2700000" algn="tl">
                    <a:srgbClr val="000000"/>
                  </a:outerShdw>
                </a:effectLst>
              </a:rPr>
              <a:t>  </a:t>
            </a:r>
            <a:r>
              <a:rPr lang="en-US" altLang="zh-CN" sz="2400" dirty="0" err="1" smtClean="0">
                <a:solidFill>
                  <a:srgbClr val="FF0000"/>
                </a:solidFill>
                <a:effectLst>
                  <a:outerShdw blurRad="38100" dist="38100" dir="2700000" algn="tl">
                    <a:srgbClr val="000000"/>
                  </a:outerShdw>
                </a:effectLst>
              </a:rPr>
              <a:t>Qj</a:t>
            </a:r>
            <a:r>
              <a:rPr lang="zh-CN" altLang="en-US" sz="2400" dirty="0" smtClean="0">
                <a:solidFill>
                  <a:srgbClr val="FF0000"/>
                </a:solidFill>
                <a:effectLst>
                  <a:outerShdw blurRad="38100" dist="38100" dir="2700000" algn="tl">
                    <a:srgbClr val="000000"/>
                  </a:outerShdw>
                </a:effectLst>
              </a:rPr>
              <a:t>和</a:t>
            </a:r>
            <a:r>
              <a:rPr lang="en-US" altLang="zh-CN" sz="2400" dirty="0" err="1" smtClean="0">
                <a:solidFill>
                  <a:srgbClr val="FF0000"/>
                </a:solidFill>
                <a:effectLst>
                  <a:outerShdw blurRad="38100" dist="38100" dir="2700000" algn="tl">
                    <a:srgbClr val="000000"/>
                  </a:outerShdw>
                </a:effectLst>
              </a:rPr>
              <a:t>Qk</a:t>
            </a:r>
            <a:endParaRPr lang="en-US" altLang="zh-CN" sz="2400" dirty="0" smtClean="0">
              <a:solidFill>
                <a:srgbClr val="FF0000"/>
              </a:solidFill>
              <a:effectLst>
                <a:outerShdw blurRad="38100" dist="38100" dir="2700000" algn="tl">
                  <a:srgbClr val="000000"/>
                </a:outerShdw>
              </a:effectLst>
            </a:endParaRPr>
          </a:p>
          <a:p>
            <a:pPr marL="0" indent="0" eaLnBrk="1" hangingPunct="1">
              <a:buFont typeface="Wingdings" panose="05000000000000000000" pitchFamily="2" charset="2"/>
              <a:buNone/>
              <a:defRPr/>
            </a:pPr>
            <a:r>
              <a:rPr lang="zh-CN" altLang="en-US" sz="2400" dirty="0" smtClean="0"/>
              <a:t>    存放产生相应源操作数的保留站（</a:t>
            </a:r>
            <a:r>
              <a:rPr lang="zh-CN" altLang="en-US" sz="2400" dirty="0" smtClean="0">
                <a:solidFill>
                  <a:srgbClr val="0000FF"/>
                </a:solidFill>
              </a:rPr>
              <a:t>换名</a:t>
            </a:r>
            <a:r>
              <a:rPr lang="zh-CN" altLang="en-US" sz="2400" dirty="0" smtClean="0"/>
              <a:t>）。</a:t>
            </a:r>
            <a:r>
              <a:rPr lang="zh-CN" altLang="en-US" sz="2400" dirty="0" smtClean="0">
                <a:solidFill>
                  <a:srgbClr val="009900"/>
                </a:solidFill>
                <a:effectLst>
                  <a:outerShdw blurRad="38100" dist="38100" dir="2700000" algn="tl">
                    <a:srgbClr val="000000"/>
                  </a:outerShdw>
                </a:effectLst>
              </a:rPr>
              <a:t>对每个源操作数，</a:t>
            </a:r>
            <a:r>
              <a:rPr lang="en-US" altLang="zh-CN" sz="2400" dirty="0" smtClean="0">
                <a:solidFill>
                  <a:srgbClr val="009900"/>
                </a:solidFill>
                <a:effectLst>
                  <a:outerShdw blurRad="38100" dist="38100" dir="2700000" algn="tl">
                    <a:srgbClr val="000000"/>
                  </a:outerShdw>
                </a:effectLst>
              </a:rPr>
              <a:t>V</a:t>
            </a:r>
            <a:r>
              <a:rPr lang="zh-CN" altLang="en-US" sz="2400" dirty="0" smtClean="0">
                <a:solidFill>
                  <a:srgbClr val="009900"/>
                </a:solidFill>
                <a:effectLst>
                  <a:outerShdw blurRad="38100" dist="38100" dir="2700000" algn="tl">
                    <a:srgbClr val="000000"/>
                  </a:outerShdw>
                </a:effectLst>
              </a:rPr>
              <a:t>字段或</a:t>
            </a:r>
            <a:r>
              <a:rPr lang="en-US" altLang="zh-CN" sz="2400" dirty="0" smtClean="0">
                <a:solidFill>
                  <a:srgbClr val="009900"/>
                </a:solidFill>
                <a:effectLst>
                  <a:outerShdw blurRad="38100" dist="38100" dir="2700000" algn="tl">
                    <a:srgbClr val="000000"/>
                  </a:outerShdw>
                </a:effectLst>
              </a:rPr>
              <a:t>Q</a:t>
            </a:r>
            <a:r>
              <a:rPr lang="zh-CN" altLang="en-US" sz="2400" dirty="0" smtClean="0">
                <a:solidFill>
                  <a:srgbClr val="009900"/>
                </a:solidFill>
                <a:effectLst>
                  <a:outerShdw blurRad="38100" dist="38100" dir="2700000" algn="tl">
                    <a:srgbClr val="000000"/>
                  </a:outerShdw>
                </a:effectLst>
              </a:rPr>
              <a:t>字段中只有一个是有效的。</a:t>
            </a:r>
            <a:endParaRPr lang="zh-CN" altLang="en-US" sz="2400" dirty="0" smtClean="0">
              <a:solidFill>
                <a:srgbClr val="009900"/>
              </a:solidFill>
              <a:effectLst>
                <a:outerShdw blurRad="38100" dist="38100" dir="2700000" algn="tl">
                  <a:srgbClr val="000000"/>
                </a:outerShdw>
              </a:effectLst>
            </a:endParaRPr>
          </a:p>
        </p:txBody>
      </p:sp>
      <p:sp>
        <p:nvSpPr>
          <p:cNvPr id="805895" name="Rectangle 7"/>
          <p:cNvSpPr>
            <a:spLocks noGrp="1" noChangeArrowheads="1"/>
          </p:cNvSpPr>
          <p:nvPr>
            <p:ph type="body" sz="half" idx="2"/>
          </p:nvPr>
        </p:nvSpPr>
        <p:spPr>
          <a:xfrm>
            <a:off x="4932363" y="2924944"/>
            <a:ext cx="3887787" cy="3475856"/>
          </a:xfrm>
          <a:solidFill>
            <a:srgbClr val="CCFFFF"/>
          </a:solidFill>
          <a:ln w="57150" cmpd="thickThin">
            <a:solidFill>
              <a:schemeClr val="tx1"/>
            </a:solidFill>
            <a:miter lim="800000"/>
          </a:ln>
        </p:spPr>
        <p:txBody>
          <a:bodyPr/>
          <a:lstStyle/>
          <a:p>
            <a:pPr marL="0" indent="0" eaLnBrk="1" hangingPunct="1">
              <a:buClr>
                <a:srgbClr val="FF0000"/>
              </a:buClr>
              <a:defRPr/>
            </a:pPr>
            <a:r>
              <a:rPr lang="en-US" altLang="zh-CN" sz="2400" dirty="0" smtClean="0">
                <a:solidFill>
                  <a:srgbClr val="FF0000"/>
                </a:solidFill>
                <a:effectLst>
                  <a:outerShdw blurRad="38100" dist="38100" dir="2700000" algn="tl">
                    <a:srgbClr val="000000"/>
                  </a:outerShdw>
                </a:effectLst>
              </a:rPr>
              <a:t>  A</a:t>
            </a:r>
            <a:r>
              <a:rPr lang="zh-CN" altLang="en-US" sz="2400" dirty="0" smtClean="0">
                <a:solidFill>
                  <a:srgbClr val="FF0000"/>
                </a:solidFill>
                <a:effectLst>
                  <a:outerShdw blurRad="38100" dist="38100" dir="2700000" algn="tl">
                    <a:srgbClr val="000000"/>
                  </a:outerShdw>
                </a:effectLst>
              </a:rPr>
              <a:t>：</a:t>
            </a:r>
            <a:r>
              <a:rPr lang="zh-CN" altLang="en-US" sz="2400" dirty="0" smtClean="0"/>
              <a:t>用于保存</a:t>
            </a:r>
            <a:r>
              <a:rPr lang="en-US" altLang="zh-CN" sz="2400" dirty="0" smtClean="0"/>
              <a:t>load/store</a:t>
            </a:r>
            <a:r>
              <a:rPr lang="zh-CN" altLang="en-US" sz="2400" dirty="0" smtClean="0"/>
              <a:t>操作的存储器地址信息。最初指令中的立即数存放于此，在地址计算后有效地址也存放于此。</a:t>
            </a:r>
            <a:endParaRPr lang="zh-CN" altLang="en-US" sz="2400" dirty="0" smtClean="0"/>
          </a:p>
          <a:p>
            <a:pPr marL="0" indent="0" eaLnBrk="1" hangingPunct="1">
              <a:buClr>
                <a:srgbClr val="FF0000"/>
              </a:buClr>
              <a:defRPr/>
            </a:pPr>
            <a:r>
              <a:rPr lang="en-US" altLang="zh-CN" sz="2400" dirty="0" smtClean="0">
                <a:solidFill>
                  <a:srgbClr val="FF0000"/>
                </a:solidFill>
                <a:effectLst>
                  <a:outerShdw blurRad="38100" dist="38100" dir="2700000" algn="tl">
                    <a:srgbClr val="000000"/>
                  </a:outerShdw>
                </a:effectLst>
              </a:rPr>
              <a:t>  Busy</a:t>
            </a:r>
            <a:endParaRPr lang="en-US" altLang="zh-CN" sz="2400" dirty="0" smtClean="0">
              <a:solidFill>
                <a:srgbClr val="FF0000"/>
              </a:solidFill>
              <a:effectLst>
                <a:outerShdw blurRad="38100" dist="38100" dir="2700000" algn="tl">
                  <a:srgbClr val="000000"/>
                </a:outerShdw>
              </a:effectLst>
            </a:endParaRPr>
          </a:p>
          <a:p>
            <a:pPr marL="0" indent="0" eaLnBrk="1" hangingPunct="1">
              <a:buFont typeface="Wingdings" panose="05000000000000000000" pitchFamily="2" charset="2"/>
              <a:buNone/>
              <a:defRPr/>
            </a:pPr>
            <a:r>
              <a:rPr lang="zh-CN" altLang="en-US" sz="2400" dirty="0" smtClean="0"/>
              <a:t>    指示该保留站及相关的功能部件是否正在使用。</a:t>
            </a:r>
            <a:endParaRPr lang="zh-CN" altLang="en-US" sz="2400" dirty="0" smtClean="0"/>
          </a:p>
        </p:txBody>
      </p:sp>
      <p:sp>
        <p:nvSpPr>
          <p:cNvPr id="12902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动态调度技术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5" action="ppaction://hlinksldjump"/>
              </a:rPr>
              <a:t>Tomasulo</a:t>
            </a:r>
            <a:r>
              <a:rPr lang="zh-CN" altLang="en-US" sz="1200" b="0">
                <a:latin typeface="Times New Roman" panose="02020603050405020304" pitchFamily="18" charset="0"/>
                <a:ea typeface="幼圆" panose="02010509060101010101" pitchFamily="49" charset="-122"/>
                <a:hlinkClick r:id="rId5" action="ppaction://hlinksldjump"/>
              </a:rPr>
              <a:t>算法</a:t>
            </a:r>
            <a:endParaRPr lang="zh-CN" altLang="en-US" sz="1200" b="0">
              <a:latin typeface="Times New Roman" panose="02020603050405020304" pitchFamily="18" charset="0"/>
              <a:ea typeface="幼圆" panose="02010509060101010101" pitchFamily="49" charset="-122"/>
            </a:endParaRPr>
          </a:p>
        </p:txBody>
      </p:sp>
      <p:sp>
        <p:nvSpPr>
          <p:cNvPr id="129030" name="Rectangle 8"/>
          <p:cNvSpPr>
            <a:spLocks noChangeArrowheads="1"/>
          </p:cNvSpPr>
          <p:nvPr/>
        </p:nvSpPr>
        <p:spPr bwMode="auto">
          <a:xfrm>
            <a:off x="683568" y="1989138"/>
            <a:ext cx="8209607" cy="863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65175"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84275"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3375"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22475"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4796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368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3940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51275"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2400" dirty="0" smtClean="0">
                <a:latin typeface="Times New Roman" panose="02020603050405020304" pitchFamily="18" charset="0"/>
              </a:rPr>
              <a:t>        每个保留站中保存一条已经流出并等待到本功能部件执行的指令，寄存器</a:t>
            </a:r>
            <a:r>
              <a:rPr lang="zh-CN" altLang="en-US" sz="2400" dirty="0">
                <a:latin typeface="Times New Roman" panose="02020603050405020304" pitchFamily="18" charset="0"/>
              </a:rPr>
              <a:t>换名是通过保留站实现的</a:t>
            </a:r>
            <a:r>
              <a:rPr lang="zh-CN" altLang="en-US" sz="2400" dirty="0" smtClean="0">
                <a:latin typeface="Times New Roman" panose="02020603050405020304" pitchFamily="18" charset="0"/>
              </a:rPr>
              <a:t>，其结构</a:t>
            </a:r>
            <a:r>
              <a:rPr lang="zh-CN" altLang="en-US" sz="2400" dirty="0">
                <a:latin typeface="Times New Roman" panose="02020603050405020304" pitchFamily="18" charset="0"/>
              </a:rPr>
              <a:t>为：</a:t>
            </a:r>
            <a:endParaRPr lang="zh-CN" altLang="en-US" sz="2400" dirty="0">
              <a:latin typeface="Times New Roman" panose="02020603050405020304" pitchFamily="18" charset="0"/>
            </a:endParaRPr>
          </a:p>
        </p:txBody>
      </p:sp>
      <p:sp>
        <p:nvSpPr>
          <p:cNvPr id="129031" name="Text Box 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6 </a:t>
            </a:r>
            <a:r>
              <a:rPr lang="zh-CN" altLang="en-US" sz="1200" b="0">
                <a:latin typeface="幼圆" panose="02010509060101010101" pitchFamily="49" charset="-122"/>
                <a:ea typeface="幼圆" panose="02010509060101010101" pitchFamily="49" charset="-122"/>
              </a:rPr>
              <a:t>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9986" name="Rectangle 2"/>
          <p:cNvSpPr>
            <a:spLocks noGrp="1" noChangeArrowheads="1"/>
          </p:cNvSpPr>
          <p:nvPr>
            <p:ph type="title"/>
          </p:nvPr>
        </p:nvSpPr>
        <p:spPr/>
        <p:txBody>
          <a:bodyPr/>
          <a:lstStyle/>
          <a:p>
            <a:pPr eaLnBrk="1" hangingPunct="1">
              <a:defRPr/>
            </a:pPr>
            <a:r>
              <a:rPr lang="zh-CN" altLang="en-US" smtClean="0"/>
              <a:t>存储设备</a:t>
            </a:r>
            <a:endParaRPr lang="zh-CN" altLang="en-US" sz="5400" smtClean="0"/>
          </a:p>
        </p:txBody>
      </p:sp>
      <p:sp>
        <p:nvSpPr>
          <p:cNvPr id="809993" name="Rectangle 9"/>
          <p:cNvSpPr>
            <a:spLocks noGrp="1" noChangeArrowheads="1"/>
          </p:cNvSpPr>
          <p:nvPr>
            <p:ph type="body" idx="1"/>
          </p:nvPr>
        </p:nvSpPr>
        <p:spPr/>
        <p:txBody>
          <a:bodyPr/>
          <a:lstStyle/>
          <a:p>
            <a:pPr marL="0" indent="0" eaLnBrk="1" hangingPunct="1">
              <a:lnSpc>
                <a:spcPct val="130000"/>
              </a:lnSpc>
              <a:buClr>
                <a:srgbClr val="FF0000"/>
              </a:buClr>
              <a:defRPr/>
            </a:pPr>
            <a:r>
              <a:rPr lang="zh-CN" altLang="en-US" sz="2400" dirty="0" smtClean="0">
                <a:solidFill>
                  <a:srgbClr val="FF0000"/>
                </a:solidFill>
                <a:effectLst>
                  <a:outerShdw blurRad="38100" dist="38100" dir="2700000" algn="tl">
                    <a:srgbClr val="C0C0C0"/>
                  </a:outerShdw>
                </a:effectLst>
              </a:rPr>
              <a:t>  </a:t>
            </a:r>
            <a:r>
              <a:rPr lang="en-US" altLang="zh-CN" sz="2400" dirty="0" smtClean="0">
                <a:solidFill>
                  <a:srgbClr val="FF0000"/>
                </a:solidFill>
                <a:effectLst>
                  <a:outerShdw blurRad="38100" dist="38100" dir="2700000" algn="tl">
                    <a:srgbClr val="C0C0C0"/>
                  </a:outerShdw>
                </a:effectLst>
              </a:rPr>
              <a:t>load</a:t>
            </a:r>
            <a:r>
              <a:rPr lang="zh-CN" altLang="en-US" sz="2400" dirty="0" smtClean="0">
                <a:solidFill>
                  <a:srgbClr val="FF0000"/>
                </a:solidFill>
                <a:effectLst>
                  <a:outerShdw blurRad="38100" dist="38100" dir="2700000" algn="tl">
                    <a:srgbClr val="C0C0C0"/>
                  </a:outerShdw>
                </a:effectLst>
              </a:rPr>
              <a:t>/</a:t>
            </a:r>
            <a:r>
              <a:rPr lang="en-US" altLang="zh-CN" sz="2400" dirty="0" smtClean="0">
                <a:solidFill>
                  <a:srgbClr val="FF0000"/>
                </a:solidFill>
                <a:effectLst>
                  <a:outerShdw blurRad="38100" dist="38100" dir="2700000" algn="tl">
                    <a:srgbClr val="C0C0C0"/>
                  </a:outerShdw>
                </a:effectLst>
              </a:rPr>
              <a:t>store</a:t>
            </a:r>
            <a:r>
              <a:rPr lang="zh-CN" altLang="en-US" sz="2400" dirty="0" smtClean="0">
                <a:solidFill>
                  <a:srgbClr val="FF0000"/>
                </a:solidFill>
                <a:effectLst>
                  <a:outerShdw blurRad="38100" dist="38100" dir="2700000" algn="tl">
                    <a:srgbClr val="C0C0C0"/>
                  </a:outerShdw>
                </a:effectLst>
              </a:rPr>
              <a:t>缓冲器</a:t>
            </a: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30000"/>
              </a:lnSpc>
              <a:buFont typeface="Wingdings" panose="05000000000000000000" pitchFamily="2" charset="2"/>
              <a:buNone/>
              <a:defRPr/>
            </a:pPr>
            <a:r>
              <a:rPr lang="zh-CN" altLang="en-US" sz="2400" dirty="0" smtClean="0"/>
              <a:t>    每个缓冲器也都是保留站，字段同前。</a:t>
            </a:r>
            <a:endParaRPr lang="zh-CN" altLang="en-US" sz="2400" dirty="0" smtClean="0"/>
          </a:p>
          <a:p>
            <a:pPr marL="0" indent="0" eaLnBrk="1" hangingPunct="1">
              <a:lnSpc>
                <a:spcPct val="130000"/>
              </a:lnSpc>
              <a:buClr>
                <a:srgbClr val="FF0000"/>
              </a:buClr>
              <a:defRPr/>
            </a:pPr>
            <a:r>
              <a:rPr lang="zh-CN" altLang="en-US" sz="2400" dirty="0" smtClean="0">
                <a:solidFill>
                  <a:srgbClr val="FF0000"/>
                </a:solidFill>
                <a:effectLst>
                  <a:outerShdw blurRad="38100" dist="38100" dir="2700000" algn="tl">
                    <a:srgbClr val="C0C0C0"/>
                  </a:outerShdw>
                </a:effectLst>
              </a:rPr>
              <a:t>  浮点寄存器堆</a:t>
            </a: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30000"/>
              </a:lnSpc>
              <a:buFont typeface="Wingdings" panose="05000000000000000000" pitchFamily="2" charset="2"/>
              <a:buNone/>
              <a:defRPr/>
            </a:pPr>
            <a:r>
              <a:rPr lang="zh-CN" altLang="en-US" sz="2400" dirty="0" smtClean="0"/>
              <a:t>    共有</a:t>
            </a:r>
            <a:r>
              <a:rPr lang="en-US" altLang="zh-CN" sz="2400" dirty="0" smtClean="0"/>
              <a:t>16</a:t>
            </a:r>
            <a:r>
              <a:rPr lang="zh-CN" altLang="en-US" sz="2400" dirty="0" smtClean="0"/>
              <a:t>个：</a:t>
            </a:r>
            <a:r>
              <a:rPr lang="en-US" altLang="zh-CN" sz="2400" dirty="0" smtClean="0">
                <a:solidFill>
                  <a:srgbClr val="0000FF"/>
                </a:solidFill>
              </a:rPr>
              <a:t>F0</a:t>
            </a:r>
            <a:r>
              <a:rPr lang="zh-CN" altLang="en-US" sz="2400" dirty="0" smtClean="0">
                <a:solidFill>
                  <a:srgbClr val="0000FF"/>
                </a:solidFill>
              </a:rPr>
              <a:t>、</a:t>
            </a:r>
            <a:r>
              <a:rPr lang="en-US" altLang="zh-CN" sz="2400" dirty="0" smtClean="0">
                <a:solidFill>
                  <a:srgbClr val="0000FF"/>
                </a:solidFill>
              </a:rPr>
              <a:t>F2</a:t>
            </a:r>
            <a:r>
              <a:rPr lang="zh-CN" altLang="en-US" sz="2400" dirty="0" smtClean="0">
                <a:solidFill>
                  <a:srgbClr val="0000FF"/>
                </a:solidFill>
              </a:rPr>
              <a:t>、</a:t>
            </a:r>
            <a:r>
              <a:rPr lang="en-US" altLang="zh-CN" sz="2400" dirty="0" smtClean="0">
                <a:solidFill>
                  <a:srgbClr val="0000FF"/>
                </a:solidFill>
              </a:rPr>
              <a:t>F4</a:t>
            </a:r>
            <a:r>
              <a:rPr lang="zh-CN" altLang="en-US" sz="2400" dirty="0" smtClean="0">
                <a:solidFill>
                  <a:srgbClr val="0000FF"/>
                </a:solidFill>
              </a:rPr>
              <a:t>、</a:t>
            </a:r>
            <a:r>
              <a:rPr lang="en-US" altLang="zh-CN" sz="2400" dirty="0" smtClean="0">
                <a:solidFill>
                  <a:srgbClr val="0000FF"/>
                </a:solidFill>
              </a:rPr>
              <a:t>…F30</a:t>
            </a:r>
            <a:r>
              <a:rPr lang="zh-CN" altLang="en-US" sz="2400" dirty="0" smtClean="0"/>
              <a:t>，通过一对总线连接到功能部件，并通过</a:t>
            </a:r>
            <a:r>
              <a:rPr lang="en-US" altLang="zh-CN" sz="2400" dirty="0" smtClean="0"/>
              <a:t>CDB</a:t>
            </a:r>
            <a:r>
              <a:rPr lang="zh-CN" altLang="en-US" sz="2400" dirty="0" smtClean="0"/>
              <a:t>连接到</a:t>
            </a:r>
            <a:r>
              <a:rPr lang="en-US" altLang="zh-CN" sz="2400" dirty="0" smtClean="0"/>
              <a:t>store</a:t>
            </a:r>
            <a:r>
              <a:rPr lang="zh-CN" altLang="en-US" sz="2400" dirty="0" smtClean="0"/>
              <a:t>缓冲器。</a:t>
            </a:r>
            <a:endParaRPr lang="en-US" altLang="zh-CN" sz="2400" dirty="0" smtClean="0"/>
          </a:p>
          <a:p>
            <a:pPr marL="0" indent="0" eaLnBrk="1" hangingPunct="1">
              <a:lnSpc>
                <a:spcPct val="130000"/>
              </a:lnSpc>
              <a:buFont typeface="Wingdings" panose="05000000000000000000" pitchFamily="2" charset="2"/>
              <a:buNone/>
              <a:defRPr/>
            </a:pPr>
            <a:r>
              <a:rPr lang="en-US" altLang="zh-CN" sz="2400" dirty="0"/>
              <a:t> </a:t>
            </a:r>
            <a:r>
              <a:rPr lang="en-US" altLang="zh-CN" sz="2400" dirty="0" smtClean="0"/>
              <a:t>   </a:t>
            </a:r>
            <a:r>
              <a:rPr lang="zh-CN" altLang="en-US" sz="2400" dirty="0" smtClean="0"/>
              <a:t>每个浮点寄存器都需设置</a:t>
            </a:r>
            <a:r>
              <a:rPr lang="en-US" altLang="zh-CN" sz="2400" dirty="0" smtClean="0">
                <a:solidFill>
                  <a:srgbClr val="0000FF"/>
                </a:solidFill>
              </a:rPr>
              <a:t>Qi</a:t>
            </a:r>
            <a:r>
              <a:rPr lang="zh-CN" altLang="en-US" sz="2400" dirty="0" smtClean="0">
                <a:solidFill>
                  <a:srgbClr val="0000FF"/>
                </a:solidFill>
              </a:rPr>
              <a:t>字段</a:t>
            </a:r>
            <a:r>
              <a:rPr lang="zh-CN" altLang="en-US" sz="2400" dirty="0" smtClean="0"/>
              <a:t>，用于保存保留站号。在该保留站中进行的操作，其结果将存入该寄存器。如果</a:t>
            </a:r>
            <a:r>
              <a:rPr lang="en-US" altLang="zh-CN" sz="2400" dirty="0" smtClean="0"/>
              <a:t>Qi</a:t>
            </a:r>
            <a:r>
              <a:rPr lang="zh-CN" altLang="en-US" sz="2400" dirty="0" smtClean="0"/>
              <a:t>为空，则表示当前不会有运算结果要存到该寄存器。</a:t>
            </a:r>
            <a:endParaRPr lang="zh-CN" altLang="en-US" sz="2400" dirty="0" smtClean="0"/>
          </a:p>
        </p:txBody>
      </p:sp>
      <p:sp>
        <p:nvSpPr>
          <p:cNvPr id="130052"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动态调度技术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5" action="ppaction://hlinksldjump"/>
              </a:rPr>
              <a:t>Tomasulo</a:t>
            </a:r>
            <a:r>
              <a:rPr lang="zh-CN" altLang="en-US" sz="1200" b="0">
                <a:latin typeface="Times New Roman" panose="02020603050405020304" pitchFamily="18" charset="0"/>
                <a:ea typeface="幼圆" panose="02010509060101010101" pitchFamily="49" charset="-122"/>
                <a:hlinkClick r:id="rId5" action="ppaction://hlinksldjump"/>
              </a:rPr>
              <a:t>算法</a:t>
            </a:r>
            <a:endParaRPr lang="zh-CN" altLang="en-US" sz="1200" b="0">
              <a:latin typeface="Times New Roman" panose="02020603050405020304" pitchFamily="18" charset="0"/>
              <a:ea typeface="幼圆" panose="02010509060101010101" pitchFamily="49" charset="-122"/>
            </a:endParaRPr>
          </a:p>
        </p:txBody>
      </p:sp>
      <p:sp>
        <p:nvSpPr>
          <p:cNvPr id="130053"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6 </a:t>
            </a:r>
            <a:r>
              <a:rPr lang="zh-CN" altLang="en-US" sz="1200" b="0">
                <a:latin typeface="幼圆" panose="02010509060101010101" pitchFamily="49" charset="-122"/>
                <a:ea typeface="幼圆" panose="02010509060101010101" pitchFamily="49" charset="-122"/>
              </a:rPr>
              <a:t>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3058" name="Rectangle 2"/>
          <p:cNvSpPr>
            <a:spLocks noGrp="1" noChangeArrowheads="1"/>
          </p:cNvSpPr>
          <p:nvPr>
            <p:ph type="title"/>
          </p:nvPr>
        </p:nvSpPr>
        <p:spPr/>
        <p:txBody>
          <a:bodyPr/>
          <a:lstStyle/>
          <a:p>
            <a:pPr eaLnBrk="1" hangingPunct="1">
              <a:defRPr/>
            </a:pPr>
            <a:r>
              <a:rPr lang="zh-CN" altLang="en-US" smtClean="0"/>
              <a:t>指令执行过程</a:t>
            </a:r>
            <a:endParaRPr lang="zh-CN" altLang="en-US" sz="5400" smtClean="0"/>
          </a:p>
        </p:txBody>
      </p:sp>
      <p:sp>
        <p:nvSpPr>
          <p:cNvPr id="131075"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动态调度技术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5" action="ppaction://hlinksldjump"/>
              </a:rPr>
              <a:t>Tomasulo</a:t>
            </a:r>
            <a:r>
              <a:rPr lang="zh-CN" altLang="en-US" sz="1200" b="0">
                <a:latin typeface="Times New Roman" panose="02020603050405020304" pitchFamily="18" charset="0"/>
                <a:ea typeface="幼圆" panose="02010509060101010101" pitchFamily="49" charset="-122"/>
                <a:hlinkClick r:id="rId5" action="ppaction://hlinksldjump"/>
              </a:rPr>
              <a:t>算法</a:t>
            </a:r>
            <a:endParaRPr lang="zh-CN" altLang="en-US" sz="1200" b="0">
              <a:latin typeface="Times New Roman" panose="02020603050405020304" pitchFamily="18" charset="0"/>
              <a:ea typeface="幼圆" panose="02010509060101010101" pitchFamily="49" charset="-122"/>
            </a:endParaRPr>
          </a:p>
        </p:txBody>
      </p:sp>
      <p:sp>
        <p:nvSpPr>
          <p:cNvPr id="813062" name="Rectangle 6"/>
          <p:cNvSpPr>
            <a:spLocks noGrp="1" noChangeArrowheads="1"/>
          </p:cNvSpPr>
          <p:nvPr>
            <p:ph type="body" idx="1"/>
          </p:nvPr>
        </p:nvSpPr>
        <p:spPr>
          <a:xfrm>
            <a:off x="809625" y="1916113"/>
            <a:ext cx="7958138" cy="4608512"/>
          </a:xfrm>
        </p:spPr>
        <p:txBody>
          <a:bodyPr/>
          <a:lstStyle/>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发射</a:t>
            </a:r>
            <a:endParaRPr lang="zh-CN" altLang="en-US" sz="24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400" dirty="0" smtClean="0"/>
              <a:t>    从浮点操作队列中取得一条指令。如果相应保留站空闲（即：没有资源</a:t>
            </a:r>
            <a:r>
              <a:rPr lang="en-US" altLang="zh-CN" sz="2400" dirty="0" smtClean="0"/>
              <a:t>/</a:t>
            </a:r>
            <a:r>
              <a:rPr lang="zh-CN" altLang="en-US" sz="2400" dirty="0" smtClean="0"/>
              <a:t>结构冲突），则可以发射指令和发送数据。</a:t>
            </a:r>
            <a:r>
              <a:rPr lang="zh-CN" altLang="en-US" sz="2400" dirty="0" smtClean="0">
                <a:solidFill>
                  <a:srgbClr val="0000FF"/>
                </a:solidFill>
              </a:rPr>
              <a:t>寄存器换名</a:t>
            </a:r>
            <a:r>
              <a:rPr lang="zh-CN" altLang="en-US" sz="2400" dirty="0" smtClean="0"/>
              <a:t>工作在本阶段进行。</a:t>
            </a:r>
            <a:endParaRPr lang="zh-CN" altLang="en-US" sz="2400" dirty="0" smtClean="0"/>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执行</a:t>
            </a:r>
            <a:endParaRPr lang="zh-CN" altLang="en-US" sz="24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400" dirty="0" smtClean="0"/>
              <a:t>    对操作数进行相应的操作。当指令所需要的源操作数都准备好，就可以执行该运算；否则监视</a:t>
            </a:r>
            <a:r>
              <a:rPr lang="en-US" altLang="zh-CN" sz="2400" dirty="0" smtClean="0"/>
              <a:t>CDB</a:t>
            </a:r>
            <a:r>
              <a:rPr lang="zh-CN" altLang="en-US" sz="2400" dirty="0" smtClean="0"/>
              <a:t>等待源操作数。</a:t>
            </a:r>
            <a:endParaRPr lang="zh-CN" altLang="en-US" sz="2400" dirty="0" smtClean="0"/>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写回结果</a:t>
            </a:r>
            <a:endParaRPr lang="zh-CN" altLang="en-US" sz="24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400" dirty="0" smtClean="0"/>
              <a:t>    当计算结果出来之后，送至</a:t>
            </a:r>
            <a:r>
              <a:rPr lang="en-US" altLang="zh-CN" sz="2400" dirty="0" smtClean="0"/>
              <a:t>CDB，</a:t>
            </a:r>
            <a:r>
              <a:rPr lang="zh-CN" altLang="en-US" sz="2400" dirty="0" smtClean="0"/>
              <a:t>进而写回到寄存器中，或被其它保留站读取。</a:t>
            </a:r>
            <a:endParaRPr lang="zh-CN" altLang="en-US" sz="2400" dirty="0" smtClean="0"/>
          </a:p>
        </p:txBody>
      </p:sp>
      <p:sp>
        <p:nvSpPr>
          <p:cNvPr id="131077"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6 </a:t>
            </a:r>
            <a:r>
              <a:rPr lang="zh-CN" altLang="en-US" sz="1200" b="0">
                <a:latin typeface="幼圆" panose="02010509060101010101" pitchFamily="49" charset="-122"/>
                <a:ea typeface="幼圆" panose="02010509060101010101" pitchFamily="49" charset="-122"/>
              </a:rPr>
              <a:t>之 4</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1474" name="Rectangle 2"/>
          <p:cNvSpPr>
            <a:spLocks noGrp="1" noChangeArrowheads="1"/>
          </p:cNvSpPr>
          <p:nvPr>
            <p:ph type="title"/>
          </p:nvPr>
        </p:nvSpPr>
        <p:spPr/>
        <p:txBody>
          <a:bodyPr/>
          <a:lstStyle/>
          <a:p>
            <a:pPr eaLnBrk="1" hangingPunct="1">
              <a:defRPr/>
            </a:pPr>
            <a:r>
              <a:rPr lang="zh-CN" altLang="en-US" smtClean="0"/>
              <a:t>指令格式</a:t>
            </a:r>
            <a:endParaRPr lang="zh-CN" altLang="en-US" smtClean="0"/>
          </a:p>
        </p:txBody>
      </p:sp>
      <p:sp>
        <p:nvSpPr>
          <p:cNvPr id="132099" name="Rectangle 3"/>
          <p:cNvSpPr>
            <a:spLocks noGrp="1" noChangeArrowheads="1"/>
          </p:cNvSpPr>
          <p:nvPr>
            <p:ph type="body" sz="half" idx="1"/>
          </p:nvPr>
        </p:nvSpPr>
        <p:spPr/>
        <p:txBody>
          <a:bodyPr/>
          <a:lstStyle/>
          <a:p>
            <a:pPr eaLnBrk="1" hangingPunct="1">
              <a:buClr>
                <a:srgbClr val="FF0000"/>
              </a:buClr>
            </a:pPr>
            <a:r>
              <a:rPr lang="zh-CN" altLang="en-US" sz="2400" smtClean="0">
                <a:solidFill>
                  <a:srgbClr val="FF0000"/>
                </a:solidFill>
              </a:rPr>
              <a:t>浮点运算指令</a:t>
            </a:r>
            <a:endParaRPr lang="zh-CN" altLang="en-US" sz="2400" smtClean="0">
              <a:solidFill>
                <a:srgbClr val="FF0000"/>
              </a:solidFill>
            </a:endParaRPr>
          </a:p>
        </p:txBody>
      </p:sp>
      <p:sp>
        <p:nvSpPr>
          <p:cNvPr id="132100" name="Rectangle 4"/>
          <p:cNvSpPr>
            <a:spLocks noGrp="1" noChangeArrowheads="1"/>
          </p:cNvSpPr>
          <p:nvPr>
            <p:ph type="body" sz="half" idx="2"/>
          </p:nvPr>
        </p:nvSpPr>
        <p:spPr/>
        <p:txBody>
          <a:bodyPr/>
          <a:lstStyle/>
          <a:p>
            <a:pPr eaLnBrk="1" hangingPunct="1">
              <a:buClr>
                <a:srgbClr val="FF0000"/>
              </a:buClr>
            </a:pPr>
            <a:r>
              <a:rPr lang="en-US" altLang="zh-CN" sz="2400" b="0" smtClean="0">
                <a:solidFill>
                  <a:srgbClr val="FF0000"/>
                </a:solidFill>
              </a:rPr>
              <a:t>load</a:t>
            </a:r>
            <a:r>
              <a:rPr lang="zh-CN" altLang="en-US" sz="2400" smtClean="0">
                <a:solidFill>
                  <a:srgbClr val="FF0000"/>
                </a:solidFill>
              </a:rPr>
              <a:t>和</a:t>
            </a:r>
            <a:r>
              <a:rPr lang="en-US" altLang="zh-CN" sz="2400" b="0" smtClean="0">
                <a:solidFill>
                  <a:srgbClr val="FF0000"/>
                </a:solidFill>
              </a:rPr>
              <a:t>store</a:t>
            </a:r>
            <a:r>
              <a:rPr lang="zh-CN" altLang="en-US" sz="2400" smtClean="0">
                <a:solidFill>
                  <a:srgbClr val="FF0000"/>
                </a:solidFill>
              </a:rPr>
              <a:t>指令</a:t>
            </a:r>
            <a:endParaRPr lang="zh-CN" altLang="en-US" sz="2400" smtClean="0">
              <a:solidFill>
                <a:srgbClr val="FF0000"/>
              </a:solidFill>
            </a:endParaRPr>
          </a:p>
        </p:txBody>
      </p:sp>
      <p:sp>
        <p:nvSpPr>
          <p:cNvPr id="132101" name="Rectangle 5"/>
          <p:cNvSpPr>
            <a:spLocks noChangeArrowheads="1"/>
          </p:cNvSpPr>
          <p:nvPr/>
        </p:nvSpPr>
        <p:spPr bwMode="auto">
          <a:xfrm>
            <a:off x="900113" y="2636838"/>
            <a:ext cx="299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400"/>
              <a:t>MUL.D  F4</a:t>
            </a:r>
            <a:r>
              <a:rPr lang="zh-CN" altLang="en-US" sz="2400"/>
              <a:t>，</a:t>
            </a:r>
            <a:r>
              <a:rPr lang="en-US" altLang="zh-CN" sz="2400"/>
              <a:t>F0</a:t>
            </a:r>
            <a:r>
              <a:rPr lang="zh-CN" altLang="en-US" sz="2400"/>
              <a:t>，</a:t>
            </a:r>
            <a:r>
              <a:rPr lang="en-US" altLang="zh-CN" sz="2400"/>
              <a:t>F2</a:t>
            </a:r>
            <a:endParaRPr lang="en-US" altLang="zh-CN" sz="2400"/>
          </a:p>
        </p:txBody>
      </p:sp>
      <p:sp>
        <p:nvSpPr>
          <p:cNvPr id="132102" name="Rectangle 6"/>
          <p:cNvSpPr>
            <a:spLocks noChangeArrowheads="1"/>
          </p:cNvSpPr>
          <p:nvPr/>
        </p:nvSpPr>
        <p:spPr bwMode="auto">
          <a:xfrm>
            <a:off x="2736850" y="3630613"/>
            <a:ext cx="539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D60093"/>
                </a:solidFill>
              </a:rPr>
              <a:t>rs</a:t>
            </a:r>
            <a:endParaRPr lang="en-US" altLang="zh-CN" sz="2800">
              <a:solidFill>
                <a:srgbClr val="D60093"/>
              </a:solidFill>
            </a:endParaRPr>
          </a:p>
        </p:txBody>
      </p:sp>
      <p:sp>
        <p:nvSpPr>
          <p:cNvPr id="132103" name="Rectangle 7"/>
          <p:cNvSpPr>
            <a:spLocks noChangeArrowheads="1"/>
          </p:cNvSpPr>
          <p:nvPr/>
        </p:nvSpPr>
        <p:spPr bwMode="auto">
          <a:xfrm>
            <a:off x="2051050" y="3643313"/>
            <a:ext cx="539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D60093"/>
                </a:solidFill>
              </a:rPr>
              <a:t>rd</a:t>
            </a:r>
            <a:endParaRPr lang="en-US" altLang="zh-CN" sz="2800">
              <a:solidFill>
                <a:srgbClr val="D60093"/>
              </a:solidFill>
            </a:endParaRPr>
          </a:p>
        </p:txBody>
      </p:sp>
      <p:sp>
        <p:nvSpPr>
          <p:cNvPr id="132104" name="Rectangle 8"/>
          <p:cNvSpPr>
            <a:spLocks noChangeArrowheads="1"/>
          </p:cNvSpPr>
          <p:nvPr/>
        </p:nvSpPr>
        <p:spPr bwMode="auto">
          <a:xfrm>
            <a:off x="3454400" y="3630613"/>
            <a:ext cx="6858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D60093"/>
                </a:solidFill>
              </a:rPr>
              <a:t>rt</a:t>
            </a:r>
            <a:endParaRPr lang="en-US" altLang="zh-CN" sz="2800">
              <a:solidFill>
                <a:srgbClr val="D60093"/>
              </a:solidFill>
            </a:endParaRPr>
          </a:p>
        </p:txBody>
      </p:sp>
      <p:sp>
        <p:nvSpPr>
          <p:cNvPr id="132105" name="Line 9"/>
          <p:cNvSpPr>
            <a:spLocks noChangeShapeType="1"/>
          </p:cNvSpPr>
          <p:nvPr/>
        </p:nvSpPr>
        <p:spPr bwMode="auto">
          <a:xfrm flipV="1">
            <a:off x="2355850" y="3151188"/>
            <a:ext cx="0" cy="457200"/>
          </a:xfrm>
          <a:prstGeom prst="line">
            <a:avLst/>
          </a:prstGeom>
          <a:noFill/>
          <a:ln w="28575">
            <a:solidFill>
              <a:schemeClr val="folHlink"/>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06" name="Line 10"/>
          <p:cNvSpPr>
            <a:spLocks noChangeShapeType="1"/>
          </p:cNvSpPr>
          <p:nvPr/>
        </p:nvSpPr>
        <p:spPr bwMode="auto">
          <a:xfrm flipV="1">
            <a:off x="2965450" y="3151188"/>
            <a:ext cx="0" cy="457200"/>
          </a:xfrm>
          <a:prstGeom prst="line">
            <a:avLst/>
          </a:prstGeom>
          <a:noFill/>
          <a:ln w="28575">
            <a:solidFill>
              <a:schemeClr val="folHlink"/>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07" name="Line 11"/>
          <p:cNvSpPr>
            <a:spLocks noChangeShapeType="1"/>
          </p:cNvSpPr>
          <p:nvPr/>
        </p:nvSpPr>
        <p:spPr bwMode="auto">
          <a:xfrm flipV="1">
            <a:off x="3635375" y="3151188"/>
            <a:ext cx="0" cy="457200"/>
          </a:xfrm>
          <a:prstGeom prst="line">
            <a:avLst/>
          </a:prstGeom>
          <a:noFill/>
          <a:ln w="28575">
            <a:solidFill>
              <a:schemeClr val="folHlink"/>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08" name="Rectangle 12"/>
          <p:cNvSpPr>
            <a:spLocks noChangeArrowheads="1"/>
          </p:cNvSpPr>
          <p:nvPr/>
        </p:nvSpPr>
        <p:spPr bwMode="auto">
          <a:xfrm>
            <a:off x="1966913" y="4170363"/>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endParaRPr lang="zh-CN" altLang="en-US" sz="2800"/>
          </a:p>
        </p:txBody>
      </p:sp>
      <p:sp>
        <p:nvSpPr>
          <p:cNvPr id="132109" name="Rectangle 13"/>
          <p:cNvSpPr>
            <a:spLocks noChangeArrowheads="1"/>
          </p:cNvSpPr>
          <p:nvPr/>
        </p:nvSpPr>
        <p:spPr bwMode="auto">
          <a:xfrm>
            <a:off x="5219700" y="2659063"/>
            <a:ext cx="28479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400"/>
              <a:t>L.D  F2</a:t>
            </a:r>
            <a:r>
              <a:rPr lang="zh-CN" altLang="en-US" sz="2400"/>
              <a:t>，</a:t>
            </a:r>
            <a:r>
              <a:rPr lang="en-US" altLang="zh-CN" sz="2400"/>
              <a:t>45</a:t>
            </a:r>
            <a:r>
              <a:rPr lang="zh-CN" altLang="en-US" sz="2400"/>
              <a:t>（</a:t>
            </a:r>
            <a:r>
              <a:rPr lang="en-US" altLang="zh-CN" sz="2400"/>
              <a:t>R3</a:t>
            </a:r>
            <a:r>
              <a:rPr lang="zh-CN" altLang="en-US" sz="2400"/>
              <a:t>）</a:t>
            </a:r>
            <a:endParaRPr lang="zh-CN" altLang="en-US" sz="2400"/>
          </a:p>
        </p:txBody>
      </p:sp>
      <p:sp>
        <p:nvSpPr>
          <p:cNvPr id="132110" name="Rectangle 14"/>
          <p:cNvSpPr>
            <a:spLocks noChangeArrowheads="1"/>
          </p:cNvSpPr>
          <p:nvPr/>
        </p:nvSpPr>
        <p:spPr bwMode="auto">
          <a:xfrm>
            <a:off x="7342188" y="3630613"/>
            <a:ext cx="5429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D60093"/>
                </a:solidFill>
              </a:rPr>
              <a:t>rs</a:t>
            </a:r>
            <a:endParaRPr lang="en-US" altLang="zh-CN" sz="2800">
              <a:solidFill>
                <a:srgbClr val="D60093"/>
              </a:solidFill>
            </a:endParaRPr>
          </a:p>
        </p:txBody>
      </p:sp>
      <p:sp>
        <p:nvSpPr>
          <p:cNvPr id="132111" name="Line 15"/>
          <p:cNvSpPr>
            <a:spLocks noChangeShapeType="1"/>
          </p:cNvSpPr>
          <p:nvPr/>
        </p:nvSpPr>
        <p:spPr bwMode="auto">
          <a:xfrm flipV="1">
            <a:off x="7524750" y="3173413"/>
            <a:ext cx="0" cy="457200"/>
          </a:xfrm>
          <a:prstGeom prst="line">
            <a:avLst/>
          </a:prstGeom>
          <a:noFill/>
          <a:ln w="28575">
            <a:solidFill>
              <a:schemeClr val="folHlink"/>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12" name="Rectangle 16"/>
          <p:cNvSpPr>
            <a:spLocks noChangeArrowheads="1"/>
          </p:cNvSpPr>
          <p:nvPr/>
        </p:nvSpPr>
        <p:spPr bwMode="auto">
          <a:xfrm>
            <a:off x="5905500" y="3630613"/>
            <a:ext cx="6858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D60093"/>
                </a:solidFill>
              </a:rPr>
              <a:t>rt</a:t>
            </a:r>
            <a:endParaRPr lang="en-US" altLang="zh-CN" sz="2800">
              <a:solidFill>
                <a:srgbClr val="D60093"/>
              </a:solidFill>
            </a:endParaRPr>
          </a:p>
        </p:txBody>
      </p:sp>
      <p:sp>
        <p:nvSpPr>
          <p:cNvPr id="132113" name="Line 17"/>
          <p:cNvSpPr>
            <a:spLocks noChangeShapeType="1"/>
          </p:cNvSpPr>
          <p:nvPr/>
        </p:nvSpPr>
        <p:spPr bwMode="auto">
          <a:xfrm flipV="1">
            <a:off x="6134100" y="3173413"/>
            <a:ext cx="0" cy="457200"/>
          </a:xfrm>
          <a:prstGeom prst="line">
            <a:avLst/>
          </a:prstGeom>
          <a:noFill/>
          <a:ln w="28575">
            <a:solidFill>
              <a:schemeClr val="folHlink"/>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14" name="Rectangle 18"/>
          <p:cNvSpPr>
            <a:spLocks noChangeArrowheads="1"/>
          </p:cNvSpPr>
          <p:nvPr/>
        </p:nvSpPr>
        <p:spPr bwMode="auto">
          <a:xfrm>
            <a:off x="6510338" y="3692525"/>
            <a:ext cx="941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400">
                <a:solidFill>
                  <a:srgbClr val="D60093"/>
                </a:solidFill>
              </a:rPr>
              <a:t>imm</a:t>
            </a:r>
            <a:endParaRPr lang="en-US" altLang="zh-CN" sz="2400">
              <a:solidFill>
                <a:srgbClr val="D60093"/>
              </a:solidFill>
            </a:endParaRPr>
          </a:p>
        </p:txBody>
      </p:sp>
      <p:sp>
        <p:nvSpPr>
          <p:cNvPr id="132115" name="Line 19"/>
          <p:cNvSpPr>
            <a:spLocks noChangeShapeType="1"/>
          </p:cNvSpPr>
          <p:nvPr/>
        </p:nvSpPr>
        <p:spPr bwMode="auto">
          <a:xfrm flipV="1">
            <a:off x="6877050" y="3173413"/>
            <a:ext cx="0" cy="457200"/>
          </a:xfrm>
          <a:prstGeom prst="line">
            <a:avLst/>
          </a:prstGeom>
          <a:noFill/>
          <a:ln w="28575">
            <a:solidFill>
              <a:schemeClr val="folHlink"/>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16" name="Rectangle 20"/>
          <p:cNvSpPr>
            <a:spLocks noChangeArrowheads="1"/>
          </p:cNvSpPr>
          <p:nvPr/>
        </p:nvSpPr>
        <p:spPr bwMode="auto">
          <a:xfrm>
            <a:off x="5292725" y="4724400"/>
            <a:ext cx="30337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400"/>
              <a:t>S.D  F3 </a:t>
            </a:r>
            <a:r>
              <a:rPr lang="zh-CN" altLang="en-US" sz="2400"/>
              <a:t>，</a:t>
            </a:r>
            <a:r>
              <a:rPr lang="en-US" altLang="zh-CN" sz="2400"/>
              <a:t> 40</a:t>
            </a:r>
            <a:r>
              <a:rPr lang="zh-CN" altLang="en-US" sz="2400"/>
              <a:t>（</a:t>
            </a:r>
            <a:r>
              <a:rPr lang="en-US" altLang="zh-CN" sz="2400"/>
              <a:t>R4</a:t>
            </a:r>
            <a:r>
              <a:rPr lang="zh-CN" altLang="en-US" sz="2400"/>
              <a:t>）</a:t>
            </a:r>
            <a:endParaRPr lang="zh-CN" altLang="en-US" sz="2400"/>
          </a:p>
        </p:txBody>
      </p:sp>
      <p:sp>
        <p:nvSpPr>
          <p:cNvPr id="132117" name="Rectangle 21"/>
          <p:cNvSpPr>
            <a:spLocks noChangeArrowheads="1"/>
          </p:cNvSpPr>
          <p:nvPr/>
        </p:nvSpPr>
        <p:spPr bwMode="auto">
          <a:xfrm>
            <a:off x="7545388" y="5646738"/>
            <a:ext cx="9144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D60093"/>
                </a:solidFill>
              </a:rPr>
              <a:t>rs</a:t>
            </a:r>
            <a:endParaRPr lang="en-US" altLang="zh-CN" sz="2800">
              <a:solidFill>
                <a:srgbClr val="D60093"/>
              </a:solidFill>
            </a:endParaRPr>
          </a:p>
        </p:txBody>
      </p:sp>
      <p:sp>
        <p:nvSpPr>
          <p:cNvPr id="132118" name="Line 22"/>
          <p:cNvSpPr>
            <a:spLocks noChangeShapeType="1"/>
          </p:cNvSpPr>
          <p:nvPr/>
        </p:nvSpPr>
        <p:spPr bwMode="auto">
          <a:xfrm flipV="1">
            <a:off x="7740650" y="5189538"/>
            <a:ext cx="0" cy="457200"/>
          </a:xfrm>
          <a:prstGeom prst="line">
            <a:avLst/>
          </a:prstGeom>
          <a:noFill/>
          <a:ln w="28575">
            <a:solidFill>
              <a:schemeClr val="folHlink"/>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19" name="Rectangle 23"/>
          <p:cNvSpPr>
            <a:spLocks noChangeArrowheads="1"/>
          </p:cNvSpPr>
          <p:nvPr/>
        </p:nvSpPr>
        <p:spPr bwMode="auto">
          <a:xfrm>
            <a:off x="6081713" y="5646738"/>
            <a:ext cx="6858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D60093"/>
                </a:solidFill>
              </a:rPr>
              <a:t>rt</a:t>
            </a:r>
            <a:endParaRPr lang="en-US" altLang="zh-CN" sz="2800">
              <a:solidFill>
                <a:srgbClr val="D60093"/>
              </a:solidFill>
            </a:endParaRPr>
          </a:p>
        </p:txBody>
      </p:sp>
      <p:sp>
        <p:nvSpPr>
          <p:cNvPr id="132120" name="Line 24"/>
          <p:cNvSpPr>
            <a:spLocks noChangeShapeType="1"/>
          </p:cNvSpPr>
          <p:nvPr/>
        </p:nvSpPr>
        <p:spPr bwMode="auto">
          <a:xfrm flipV="1">
            <a:off x="6310313" y="5189538"/>
            <a:ext cx="0" cy="457200"/>
          </a:xfrm>
          <a:prstGeom prst="line">
            <a:avLst/>
          </a:prstGeom>
          <a:noFill/>
          <a:ln w="28575">
            <a:solidFill>
              <a:schemeClr val="folHlink"/>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21" name="Rectangle 25"/>
          <p:cNvSpPr>
            <a:spLocks noChangeArrowheads="1"/>
          </p:cNvSpPr>
          <p:nvPr/>
        </p:nvSpPr>
        <p:spPr bwMode="auto">
          <a:xfrm>
            <a:off x="6757988" y="5708650"/>
            <a:ext cx="9096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400">
                <a:solidFill>
                  <a:srgbClr val="D60093"/>
                </a:solidFill>
              </a:rPr>
              <a:t>imm</a:t>
            </a:r>
            <a:endParaRPr lang="en-US" altLang="zh-CN" sz="2400">
              <a:solidFill>
                <a:srgbClr val="D60093"/>
              </a:solidFill>
            </a:endParaRPr>
          </a:p>
        </p:txBody>
      </p:sp>
      <p:sp>
        <p:nvSpPr>
          <p:cNvPr id="132122" name="Line 26"/>
          <p:cNvSpPr>
            <a:spLocks noChangeShapeType="1"/>
          </p:cNvSpPr>
          <p:nvPr/>
        </p:nvSpPr>
        <p:spPr bwMode="auto">
          <a:xfrm flipV="1">
            <a:off x="7092950" y="5189538"/>
            <a:ext cx="0" cy="457200"/>
          </a:xfrm>
          <a:prstGeom prst="line">
            <a:avLst/>
          </a:prstGeom>
          <a:noFill/>
          <a:ln w="28575">
            <a:solidFill>
              <a:schemeClr val="folHlink"/>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23" name="Text Box 27"/>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动态调度技术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5" action="ppaction://hlinksldjump"/>
              </a:rPr>
              <a:t>Tomasulo</a:t>
            </a:r>
            <a:r>
              <a:rPr lang="zh-CN" altLang="en-US" sz="1200" b="0">
                <a:latin typeface="Times New Roman" panose="02020603050405020304" pitchFamily="18" charset="0"/>
                <a:ea typeface="幼圆" panose="02010509060101010101" pitchFamily="49" charset="-122"/>
                <a:hlinkClick r:id="rId5" action="ppaction://hlinksldjump"/>
              </a:rPr>
              <a:t>算法</a:t>
            </a:r>
            <a:endParaRPr lang="zh-CN" altLang="en-US" sz="1200" b="0">
              <a:latin typeface="Times New Roman" panose="02020603050405020304" pitchFamily="18" charset="0"/>
              <a:ea typeface="幼圆" panose="02010509060101010101" pitchFamily="49" charset="-122"/>
            </a:endParaRPr>
          </a:p>
        </p:txBody>
      </p:sp>
      <p:sp>
        <p:nvSpPr>
          <p:cNvPr id="132124" name="Text Box 2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6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5</a:t>
            </a:r>
            <a:endParaRPr lang="en-US" altLang="zh-CN" sz="1200" b="0">
              <a:latin typeface="幼圆" panose="02010509060101010101" pitchFamily="49" charset="-122"/>
              <a:ea typeface="幼圆" panose="02010509060101010101" pitchFamily="49" charset="-122"/>
            </a:endParaRPr>
          </a:p>
        </p:txBody>
      </p:sp>
      <p:sp>
        <p:nvSpPr>
          <p:cNvPr id="132125" name="Rectangle 29"/>
          <p:cNvSpPr>
            <a:spLocks noChangeArrowheads="1"/>
          </p:cNvSpPr>
          <p:nvPr/>
        </p:nvSpPr>
        <p:spPr bwMode="auto">
          <a:xfrm>
            <a:off x="2844800" y="4076700"/>
            <a:ext cx="2873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0000FF"/>
                </a:solidFill>
              </a:rPr>
              <a:t>j</a:t>
            </a:r>
            <a:endParaRPr lang="en-US" altLang="zh-CN" sz="2800">
              <a:solidFill>
                <a:srgbClr val="0000FF"/>
              </a:solidFill>
            </a:endParaRPr>
          </a:p>
        </p:txBody>
      </p:sp>
      <p:sp>
        <p:nvSpPr>
          <p:cNvPr id="132126" name="Rectangle 30"/>
          <p:cNvSpPr>
            <a:spLocks noChangeArrowheads="1"/>
          </p:cNvSpPr>
          <p:nvPr/>
        </p:nvSpPr>
        <p:spPr bwMode="auto">
          <a:xfrm>
            <a:off x="3492500" y="4076700"/>
            <a:ext cx="2873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0000FF"/>
                </a:solidFill>
              </a:rPr>
              <a:t>k</a:t>
            </a:r>
            <a:endParaRPr lang="en-US" altLang="zh-CN" sz="2800">
              <a:solidFill>
                <a:srgbClr val="0000FF"/>
              </a:solidFill>
            </a:endParaRPr>
          </a:p>
        </p:txBody>
      </p:sp>
      <p:sp>
        <p:nvSpPr>
          <p:cNvPr id="132127" name="Rectangle 31"/>
          <p:cNvSpPr>
            <a:spLocks noChangeArrowheads="1"/>
          </p:cNvSpPr>
          <p:nvPr/>
        </p:nvSpPr>
        <p:spPr bwMode="auto">
          <a:xfrm>
            <a:off x="7451725" y="4076700"/>
            <a:ext cx="2873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0000FF"/>
                </a:solidFill>
              </a:rPr>
              <a:t>j</a:t>
            </a:r>
            <a:endParaRPr lang="en-US" altLang="zh-CN" sz="2800">
              <a:solidFill>
                <a:srgbClr val="0000FF"/>
              </a:solidFill>
            </a:endParaRPr>
          </a:p>
        </p:txBody>
      </p:sp>
      <p:sp>
        <p:nvSpPr>
          <p:cNvPr id="132128" name="Rectangle 32"/>
          <p:cNvSpPr>
            <a:spLocks noChangeArrowheads="1"/>
          </p:cNvSpPr>
          <p:nvPr/>
        </p:nvSpPr>
        <p:spPr bwMode="auto">
          <a:xfrm>
            <a:off x="7667625" y="6021388"/>
            <a:ext cx="2873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0000FF"/>
                </a:solidFill>
              </a:rPr>
              <a:t>j</a:t>
            </a:r>
            <a:endParaRPr lang="en-US" altLang="zh-CN" sz="2800">
              <a:solidFill>
                <a:srgbClr val="0000FF"/>
              </a:solidFill>
            </a:endParaRPr>
          </a:p>
        </p:txBody>
      </p:sp>
      <p:sp>
        <p:nvSpPr>
          <p:cNvPr id="132129" name="Rectangle 33"/>
          <p:cNvSpPr>
            <a:spLocks noChangeArrowheads="1"/>
          </p:cNvSpPr>
          <p:nvPr/>
        </p:nvSpPr>
        <p:spPr bwMode="auto">
          <a:xfrm>
            <a:off x="6156325" y="6078538"/>
            <a:ext cx="2873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0000FF"/>
                </a:solidFill>
              </a:rPr>
              <a:t>k</a:t>
            </a:r>
            <a:endParaRPr lang="en-US" altLang="zh-CN" sz="2800">
              <a:solidFill>
                <a:srgbClr val="0000FF"/>
              </a:solidFill>
            </a:endParaRPr>
          </a:p>
        </p:txBody>
      </p:sp>
      <p:sp>
        <p:nvSpPr>
          <p:cNvPr id="132130" name="Rectangle 34"/>
          <p:cNvSpPr>
            <a:spLocks noChangeArrowheads="1"/>
          </p:cNvSpPr>
          <p:nvPr/>
        </p:nvSpPr>
        <p:spPr bwMode="auto">
          <a:xfrm>
            <a:off x="6732588" y="4076700"/>
            <a:ext cx="28733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0000FF"/>
                </a:solidFill>
              </a:rPr>
              <a:t>A</a:t>
            </a:r>
            <a:endParaRPr lang="en-US" altLang="zh-CN" sz="2800">
              <a:solidFill>
                <a:srgbClr val="0000FF"/>
              </a:solidFill>
            </a:endParaRPr>
          </a:p>
        </p:txBody>
      </p:sp>
      <p:sp>
        <p:nvSpPr>
          <p:cNvPr id="132131" name="Rectangle 35"/>
          <p:cNvSpPr>
            <a:spLocks noChangeArrowheads="1"/>
          </p:cNvSpPr>
          <p:nvPr/>
        </p:nvSpPr>
        <p:spPr bwMode="auto">
          <a:xfrm>
            <a:off x="6948488" y="6092825"/>
            <a:ext cx="28733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0"/>
              </a:spcBef>
              <a:buClrTx/>
              <a:buFontTx/>
              <a:buNone/>
            </a:pPr>
            <a:r>
              <a:rPr lang="en-US" altLang="zh-CN" sz="2800">
                <a:solidFill>
                  <a:srgbClr val="0000FF"/>
                </a:solidFill>
              </a:rPr>
              <a:t>A</a:t>
            </a:r>
            <a:endParaRPr lang="en-US" altLang="zh-CN" sz="2800">
              <a:solidFill>
                <a:srgbClr val="0000FF"/>
              </a:solidFill>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3122" name="Text Box 2"/>
          <p:cNvSpPr txBox="1">
            <a:spLocks noChangeArrowheads="1"/>
          </p:cNvSpPr>
          <p:nvPr/>
        </p:nvSpPr>
        <p:spPr bwMode="auto">
          <a:xfrm>
            <a:off x="3138488" y="6373813"/>
            <a:ext cx="3124200" cy="396875"/>
          </a:xfrm>
          <a:prstGeom prst="rect">
            <a:avLst/>
          </a:prstGeom>
          <a:solidFill>
            <a:srgbClr val="FFFF00"/>
          </a:solidFill>
          <a:ln>
            <a:noFill/>
          </a:ln>
          <a:effectLst>
            <a:outerShdw dist="35921"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000">
                <a:latin typeface="Comic Sans MS" panose="030F0702030302020204" pitchFamily="66" charset="0"/>
              </a:rPr>
              <a:t>指令执行的具体过程</a:t>
            </a:r>
            <a:endParaRPr lang="zh-CN" altLang="en-US" sz="2000">
              <a:latin typeface="Comic Sans MS" panose="030F0702030302020204" pitchFamily="66" charset="0"/>
            </a:endParaRPr>
          </a:p>
        </p:txBody>
      </p:sp>
      <p:pic>
        <p:nvPicPr>
          <p:cNvPr id="133123" name="Picture 71"/>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81000" y="304800"/>
            <a:ext cx="8324850" cy="609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124" name="Text Box 7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6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6</a:t>
            </a:r>
            <a:endParaRPr lang="en-US" altLang="zh-CN" sz="1200" b="0">
              <a:latin typeface="幼圆" panose="02010509060101010101" pitchFamily="49" charset="-122"/>
              <a:ea typeface="幼圆" panose="02010509060101010101" pitchFamily="49" charset="-122"/>
            </a:endParaRPr>
          </a:p>
        </p:txBody>
      </p:sp>
      <p:sp>
        <p:nvSpPr>
          <p:cNvPr id="2" name="TextBox 1"/>
          <p:cNvSpPr txBox="1"/>
          <p:nvPr/>
        </p:nvSpPr>
        <p:spPr>
          <a:xfrm>
            <a:off x="6272760" y="3171479"/>
            <a:ext cx="126300" cy="307777"/>
          </a:xfrm>
          <a:prstGeom prst="rect">
            <a:avLst/>
          </a:prstGeom>
          <a:solidFill>
            <a:schemeClr val="bg1"/>
          </a:solidFill>
        </p:spPr>
        <p:txBody>
          <a:bodyPr wrap="square" rtlCol="0">
            <a:spAutoFit/>
          </a:bodyPr>
          <a:lstStyle/>
          <a:p>
            <a:pPr algn="ctr"/>
            <a:r>
              <a:rPr lang="en-US" altLang="zh-CN" sz="1400" b="1" dirty="0" smtClean="0">
                <a:latin typeface="宋体" panose="02010600030101010101" pitchFamily="2" charset="-122"/>
              </a:rPr>
              <a:t>t</a:t>
            </a:r>
            <a:endParaRPr lang="zh-CN" altLang="en-US" sz="1400" b="1" dirty="0">
              <a:latin typeface="宋体" panose="02010600030101010101" pitchFamily="2"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6130" name="Rectangle 2"/>
          <p:cNvSpPr>
            <a:spLocks noGrp="1" noChangeArrowheads="1"/>
          </p:cNvSpPr>
          <p:nvPr>
            <p:ph type="title"/>
          </p:nvPr>
        </p:nvSpPr>
        <p:spPr/>
        <p:txBody>
          <a:bodyPr/>
          <a:lstStyle/>
          <a:p>
            <a:pPr eaLnBrk="1" hangingPunct="1">
              <a:defRPr/>
            </a:pPr>
            <a:r>
              <a:rPr lang="zh-CN" altLang="en-US" smtClean="0"/>
              <a:t>举  例</a:t>
            </a:r>
            <a:endParaRPr lang="zh-CN" altLang="en-US" sz="5400" smtClean="0"/>
          </a:p>
        </p:txBody>
      </p:sp>
      <p:sp>
        <p:nvSpPr>
          <p:cNvPr id="816133" name="Rectangle 5"/>
          <p:cNvSpPr>
            <a:spLocks noGrp="1" noChangeArrowheads="1"/>
          </p:cNvSpPr>
          <p:nvPr>
            <p:ph type="body" sz="half" idx="1"/>
          </p:nvPr>
        </p:nvSpPr>
        <p:spPr>
          <a:solidFill>
            <a:srgbClr val="FFFF99"/>
          </a:solidFill>
          <a:ln w="57150" cmpd="thickThin">
            <a:solidFill>
              <a:schemeClr val="tx1"/>
            </a:solidFill>
            <a:miter lim="800000"/>
          </a:ln>
        </p:spPr>
        <p:txBody>
          <a:bodyPr/>
          <a:lstStyle/>
          <a:p>
            <a:pPr eaLnBrk="1" hangingPunct="1">
              <a:lnSpc>
                <a:spcPct val="120000"/>
              </a:lnSpc>
              <a:buClr>
                <a:srgbClr val="FF0000"/>
              </a:buClr>
              <a:tabLst>
                <a:tab pos="476250" algn="l"/>
                <a:tab pos="1803400" algn="l"/>
              </a:tabLst>
              <a:defRPr/>
            </a:pPr>
            <a:r>
              <a:rPr lang="zh-CN" altLang="en-US" smtClean="0">
                <a:solidFill>
                  <a:srgbClr val="FF0000"/>
                </a:solidFill>
                <a:effectLst>
                  <a:outerShdw blurRad="38100" dist="38100" dir="2700000" algn="tl">
                    <a:srgbClr val="000000"/>
                  </a:outerShdw>
                </a:effectLst>
              </a:rPr>
              <a:t>程序</a:t>
            </a:r>
            <a:endParaRPr lang="zh-CN" altLang="en-US" smtClean="0">
              <a:solidFill>
                <a:srgbClr val="FF0000"/>
              </a:solidFill>
              <a:effectLst>
                <a:outerShdw blurRad="38100" dist="38100" dir="2700000" algn="tl">
                  <a:srgbClr val="000000"/>
                </a:outerShdw>
              </a:effectLst>
            </a:endParaRPr>
          </a:p>
          <a:p>
            <a:pPr eaLnBrk="1" hangingPunct="1">
              <a:lnSpc>
                <a:spcPct val="120000"/>
              </a:lnSpc>
              <a:buFont typeface="Wingdings" panose="05000000000000000000" pitchFamily="2" charset="2"/>
              <a:buNone/>
              <a:tabLst>
                <a:tab pos="476250" algn="l"/>
                <a:tab pos="1803400" algn="l"/>
              </a:tabLst>
              <a:defRPr/>
            </a:pPr>
            <a:r>
              <a:rPr lang="en-US" altLang="zh-CN" smtClean="0"/>
              <a:t>	L.D 	F6,34(R2)</a:t>
            </a:r>
            <a:endParaRPr lang="en-US" altLang="zh-CN" smtClean="0"/>
          </a:p>
          <a:p>
            <a:pPr eaLnBrk="1" hangingPunct="1">
              <a:lnSpc>
                <a:spcPct val="120000"/>
              </a:lnSpc>
              <a:buFont typeface="Wingdings" panose="05000000000000000000" pitchFamily="2" charset="2"/>
              <a:buNone/>
              <a:tabLst>
                <a:tab pos="476250" algn="l"/>
                <a:tab pos="1803400" algn="l"/>
              </a:tabLst>
              <a:defRPr/>
            </a:pPr>
            <a:r>
              <a:rPr lang="en-US" altLang="zh-CN" smtClean="0"/>
              <a:t>	L.D 	F2,45(R3)</a:t>
            </a:r>
            <a:endParaRPr lang="en-US" altLang="zh-CN" smtClean="0"/>
          </a:p>
          <a:p>
            <a:pPr eaLnBrk="1" hangingPunct="1">
              <a:lnSpc>
                <a:spcPct val="120000"/>
              </a:lnSpc>
              <a:buFont typeface="Wingdings" panose="05000000000000000000" pitchFamily="2" charset="2"/>
              <a:buNone/>
              <a:tabLst>
                <a:tab pos="476250" algn="l"/>
                <a:tab pos="1803400" algn="l"/>
              </a:tabLst>
              <a:defRPr/>
            </a:pPr>
            <a:r>
              <a:rPr lang="en-US" altLang="zh-CN" smtClean="0"/>
              <a:t>	MUL.D 	F0,F2,F4</a:t>
            </a:r>
            <a:endParaRPr lang="en-US" altLang="zh-CN" smtClean="0"/>
          </a:p>
          <a:p>
            <a:pPr eaLnBrk="1" hangingPunct="1">
              <a:lnSpc>
                <a:spcPct val="120000"/>
              </a:lnSpc>
              <a:buFont typeface="Wingdings" panose="05000000000000000000" pitchFamily="2" charset="2"/>
              <a:buNone/>
              <a:tabLst>
                <a:tab pos="476250" algn="l"/>
                <a:tab pos="1803400" algn="l"/>
              </a:tabLst>
              <a:defRPr/>
            </a:pPr>
            <a:r>
              <a:rPr lang="en-US" altLang="zh-CN" smtClean="0"/>
              <a:t>	SUB.D 	F8,F2,F6</a:t>
            </a:r>
            <a:endParaRPr lang="en-US" altLang="zh-CN" smtClean="0"/>
          </a:p>
          <a:p>
            <a:pPr eaLnBrk="1" hangingPunct="1">
              <a:lnSpc>
                <a:spcPct val="120000"/>
              </a:lnSpc>
              <a:buFont typeface="Wingdings" panose="05000000000000000000" pitchFamily="2" charset="2"/>
              <a:buNone/>
              <a:tabLst>
                <a:tab pos="476250" algn="l"/>
                <a:tab pos="1803400" algn="l"/>
              </a:tabLst>
              <a:defRPr/>
            </a:pPr>
            <a:r>
              <a:rPr lang="en-US" altLang="zh-CN" smtClean="0"/>
              <a:t>	DIV.D 	F10,F0,F6</a:t>
            </a:r>
            <a:endParaRPr lang="en-US" altLang="zh-CN" smtClean="0"/>
          </a:p>
          <a:p>
            <a:pPr eaLnBrk="1" hangingPunct="1">
              <a:lnSpc>
                <a:spcPct val="120000"/>
              </a:lnSpc>
              <a:buFont typeface="Wingdings" panose="05000000000000000000" pitchFamily="2" charset="2"/>
              <a:buNone/>
              <a:tabLst>
                <a:tab pos="476250" algn="l"/>
                <a:tab pos="1803400" algn="l"/>
              </a:tabLst>
              <a:defRPr/>
            </a:pPr>
            <a:r>
              <a:rPr lang="en-US" altLang="zh-CN" smtClean="0"/>
              <a:t>	ADD.D 	F6,F8,F2</a:t>
            </a:r>
            <a:endParaRPr lang="zh-CN" altLang="en-US" smtClean="0"/>
          </a:p>
        </p:txBody>
      </p:sp>
      <p:sp>
        <p:nvSpPr>
          <p:cNvPr id="816134" name="Rectangle 6"/>
          <p:cNvSpPr>
            <a:spLocks noGrp="1" noChangeArrowheads="1"/>
          </p:cNvSpPr>
          <p:nvPr>
            <p:ph type="body" sz="half" idx="2"/>
          </p:nvPr>
        </p:nvSpPr>
        <p:spPr>
          <a:xfrm>
            <a:off x="4864100" y="1989138"/>
            <a:ext cx="4029075" cy="4411662"/>
          </a:xfrm>
          <a:solidFill>
            <a:srgbClr val="CCFFFF"/>
          </a:solidFill>
          <a:ln w="57150" cmpd="thickThin">
            <a:solidFill>
              <a:schemeClr val="tx1"/>
            </a:solidFill>
            <a:miter lim="800000"/>
          </a:ln>
        </p:spPr>
        <p:txBody>
          <a:bodyPr/>
          <a:lstStyle/>
          <a:p>
            <a:pPr marL="0" indent="0" eaLnBrk="1" hangingPunct="1">
              <a:lnSpc>
                <a:spcPct val="120000"/>
              </a:lnSpc>
              <a:buClr>
                <a:srgbClr val="FF0000"/>
              </a:buClr>
              <a:defRPr/>
            </a:pPr>
            <a:r>
              <a:rPr lang="zh-CN" altLang="en-US" smtClean="0">
                <a:solidFill>
                  <a:srgbClr val="FF0000"/>
                </a:solidFill>
                <a:effectLst>
                  <a:outerShdw blurRad="38100" dist="38100" dir="2700000" algn="tl">
                    <a:srgbClr val="000000"/>
                  </a:outerShdw>
                </a:effectLst>
              </a:rPr>
              <a:t>  假设</a:t>
            </a:r>
            <a:endParaRPr lang="zh-CN" altLang="en-US" smtClean="0">
              <a:solidFill>
                <a:srgbClr val="FF0000"/>
              </a:solidFill>
              <a:effectLst>
                <a:outerShdw blurRad="38100" dist="38100" dir="2700000" algn="tl">
                  <a:srgbClr val="000000"/>
                </a:outerShdw>
              </a:effectLst>
            </a:endParaRPr>
          </a:p>
          <a:p>
            <a:pPr marL="0" indent="0" eaLnBrk="1" hangingPunct="1">
              <a:lnSpc>
                <a:spcPct val="120000"/>
              </a:lnSpc>
              <a:buFont typeface="Wingdings" panose="05000000000000000000" pitchFamily="2" charset="2"/>
              <a:buNone/>
              <a:defRPr/>
            </a:pPr>
            <a:r>
              <a:rPr lang="zh-CN" altLang="en-US" smtClean="0"/>
              <a:t>    各指令在“发射”和“写回结果”所花时钟周期数都为1，在“执行”阶段所花时钟周期数分别为：</a:t>
            </a:r>
            <a:r>
              <a:rPr lang="en-US" altLang="zh-CN" smtClean="0"/>
              <a:t>L.D</a:t>
            </a:r>
            <a:r>
              <a:rPr lang="zh-CN" altLang="en-US" smtClean="0"/>
              <a:t>为2，</a:t>
            </a:r>
            <a:r>
              <a:rPr lang="en-US" altLang="zh-CN" smtClean="0"/>
              <a:t>ADD.D</a:t>
            </a:r>
            <a:r>
              <a:rPr lang="zh-CN" altLang="en-US" smtClean="0"/>
              <a:t>和</a:t>
            </a:r>
            <a:r>
              <a:rPr lang="en-US" altLang="zh-CN" smtClean="0"/>
              <a:t>SUB.D</a:t>
            </a:r>
            <a:r>
              <a:rPr lang="zh-CN" altLang="en-US" smtClean="0"/>
              <a:t>为2，</a:t>
            </a:r>
            <a:r>
              <a:rPr lang="en-US" altLang="zh-CN" smtClean="0"/>
              <a:t>MUL.D</a:t>
            </a:r>
            <a:r>
              <a:rPr lang="zh-CN" altLang="en-US" smtClean="0"/>
              <a:t>为10，</a:t>
            </a:r>
            <a:r>
              <a:rPr lang="en-US" altLang="zh-CN" smtClean="0"/>
              <a:t>DIV.D</a:t>
            </a:r>
            <a:r>
              <a:rPr lang="zh-CN" altLang="en-US" smtClean="0"/>
              <a:t>为40。</a:t>
            </a:r>
            <a:endParaRPr lang="zh-CN" altLang="en-US" smtClean="0"/>
          </a:p>
        </p:txBody>
      </p:sp>
      <p:sp>
        <p:nvSpPr>
          <p:cNvPr id="13414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数据相关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动态调度技术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5" action="ppaction://hlinksldjump"/>
              </a:rPr>
              <a:t>Tomasulo</a:t>
            </a:r>
            <a:r>
              <a:rPr lang="zh-CN" altLang="en-US" sz="1200" b="0">
                <a:latin typeface="Times New Roman" panose="02020603050405020304" pitchFamily="18" charset="0"/>
                <a:ea typeface="幼圆" panose="02010509060101010101" pitchFamily="49" charset="-122"/>
                <a:hlinkClick r:id="rId5" action="ppaction://hlinksldjump"/>
              </a:rPr>
              <a:t>算法</a:t>
            </a:r>
            <a:endParaRPr lang="zh-CN" altLang="en-US" sz="1200" b="0">
              <a:latin typeface="Times New Roman" panose="02020603050405020304" pitchFamily="18" charset="0"/>
              <a:ea typeface="幼圆" panose="02010509060101010101" pitchFamily="49" charset="-122"/>
            </a:endParaRPr>
          </a:p>
        </p:txBody>
      </p:sp>
      <p:sp>
        <p:nvSpPr>
          <p:cNvPr id="134150"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18387" name="Group 211"/>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18400" name="Group 224"/>
          <p:cNvGraphicFramePr>
            <a:graphicFrameLocks noGrp="1"/>
          </p:cNvGraphicFramePr>
          <p:nvPr/>
        </p:nvGraphicFramePr>
        <p:xfrm>
          <a:off x="533400" y="2971800"/>
          <a:ext cx="8077200" cy="2743200"/>
        </p:xfrm>
        <a:graphic>
          <a:graphicData uri="http://schemas.openxmlformats.org/drawingml/2006/table">
            <a:tbl>
              <a:tblPr/>
              <a:tblGrid>
                <a:gridCol w="1009650"/>
                <a:gridCol w="1009650"/>
                <a:gridCol w="1009650"/>
                <a:gridCol w="1009650"/>
                <a:gridCol w="1009650"/>
                <a:gridCol w="1009650"/>
                <a:gridCol w="1009650"/>
                <a:gridCol w="100965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34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18410" name="Group 234"/>
          <p:cNvGraphicFramePr>
            <a:graphicFrameLocks noGrp="1"/>
          </p:cNvGraphicFramePr>
          <p:nvPr/>
        </p:nvGraphicFramePr>
        <p:xfrm>
          <a:off x="533400" y="5791200"/>
          <a:ext cx="8077200" cy="914400"/>
        </p:xfrm>
        <a:graphic>
          <a:graphicData uri="http://schemas.openxmlformats.org/drawingml/2006/table">
            <a:tbl>
              <a:tblPr/>
              <a:tblGrid>
                <a:gridCol w="808038"/>
                <a:gridCol w="808037"/>
                <a:gridCol w="806450"/>
                <a:gridCol w="808038"/>
                <a:gridCol w="808037"/>
                <a:gridCol w="808038"/>
                <a:gridCol w="808037"/>
                <a:gridCol w="806450"/>
                <a:gridCol w="808038"/>
                <a:gridCol w="808037"/>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18411" name="Rectangle 235"/>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a:solidFill>
                  <a:srgbClr val="FF0000"/>
                </a:solidFill>
                <a:effectLst>
                  <a:outerShdw blurRad="38100" dist="38100" dir="2700000" algn="tl">
                    <a:srgbClr val="C0C0C0"/>
                  </a:outerShdw>
                </a:effectLst>
              </a:rPr>
              <a:t>CLOCK：1</a:t>
            </a:r>
            <a:endParaRPr lang="en-US" altLang="zh-CN" sz="2000">
              <a:solidFill>
                <a:srgbClr val="FF0000"/>
              </a:solidFill>
              <a:effectLst>
                <a:outerShdw blurRad="38100" dist="38100" dir="2700000" algn="tl">
                  <a:srgbClr val="C0C0C0"/>
                </a:outerShdw>
              </a:effectLst>
            </a:endParaRPr>
          </a:p>
        </p:txBody>
      </p:sp>
      <p:sp>
        <p:nvSpPr>
          <p:cNvPr id="135337" name="Oval 236"/>
          <p:cNvSpPr>
            <a:spLocks noChangeArrowheads="1"/>
          </p:cNvSpPr>
          <p:nvPr/>
        </p:nvSpPr>
        <p:spPr bwMode="auto">
          <a:xfrm>
            <a:off x="3200400" y="1066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5338" name="Oval 237"/>
          <p:cNvSpPr>
            <a:spLocks noChangeArrowheads="1"/>
          </p:cNvSpPr>
          <p:nvPr/>
        </p:nvSpPr>
        <p:spPr bwMode="auto">
          <a:xfrm>
            <a:off x="1676400" y="3581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5339" name="Oval 238"/>
          <p:cNvSpPr>
            <a:spLocks noChangeArrowheads="1"/>
          </p:cNvSpPr>
          <p:nvPr/>
        </p:nvSpPr>
        <p:spPr bwMode="auto">
          <a:xfrm>
            <a:off x="2667000" y="3581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5340" name="Oval 239"/>
          <p:cNvSpPr>
            <a:spLocks noChangeArrowheads="1"/>
          </p:cNvSpPr>
          <p:nvPr/>
        </p:nvSpPr>
        <p:spPr bwMode="auto">
          <a:xfrm>
            <a:off x="7696200" y="3581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5341" name="Oval 240"/>
          <p:cNvSpPr>
            <a:spLocks noChangeArrowheads="1"/>
          </p:cNvSpPr>
          <p:nvPr/>
        </p:nvSpPr>
        <p:spPr bwMode="auto">
          <a:xfrm>
            <a:off x="3810000" y="6400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5342" name="Text Box 241"/>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2</a:t>
            </a:r>
            <a:endParaRPr lang="zh-CN" altLang="en-US" sz="1200" b="0">
              <a:latin typeface="幼圆" panose="02010509060101010101" pitchFamily="49" charset="-122"/>
              <a:ea typeface="幼圆" panose="02010509060101010101" pitchFamily="49" charset="-122"/>
            </a:endParaRPr>
          </a:p>
        </p:txBody>
      </p:sp>
      <p:sp>
        <p:nvSpPr>
          <p:cNvPr id="135343" name="Oval 242"/>
          <p:cNvSpPr>
            <a:spLocks noChangeArrowheads="1"/>
          </p:cNvSpPr>
          <p:nvPr/>
        </p:nvSpPr>
        <p:spPr bwMode="auto">
          <a:xfrm>
            <a:off x="3657600" y="3581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948226"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1</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48270"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1009650"/>
                <a:gridCol w="1009650"/>
                <a:gridCol w="1009650"/>
                <a:gridCol w="1009650"/>
                <a:gridCol w="1009650"/>
                <a:gridCol w="1009650"/>
                <a:gridCol w="100965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dirty="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dirty="0" smtClean="0">
                          <a:ln>
                            <a:noFill/>
                          </a:ln>
                          <a:solidFill>
                            <a:schemeClr val="tx1"/>
                          </a:solidFill>
                          <a:effectLst/>
                          <a:latin typeface="Arial" panose="020B0604020202020204" pitchFamily="34" charset="0"/>
                          <a:ea typeface="楷体_GB2312" pitchFamily="49" charset="-122"/>
                        </a:rPr>
                        <a:t>34</a:t>
                      </a:r>
                      <a:endParaRPr kumimoji="1" lang="en-US" altLang="zh-CN" sz="1400" b="0"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45</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48355" name="Group 131"/>
          <p:cNvGraphicFramePr>
            <a:graphicFrameLocks noGrp="1"/>
          </p:cNvGraphicFramePr>
          <p:nvPr/>
        </p:nvGraphicFramePr>
        <p:xfrm>
          <a:off x="533400" y="5791200"/>
          <a:ext cx="8077200" cy="914400"/>
        </p:xfrm>
        <a:graphic>
          <a:graphicData uri="http://schemas.openxmlformats.org/drawingml/2006/table">
            <a:tbl>
              <a:tblPr/>
              <a:tblGrid>
                <a:gridCol w="808038"/>
                <a:gridCol w="808037"/>
                <a:gridCol w="806450"/>
                <a:gridCol w="808038"/>
                <a:gridCol w="808037"/>
                <a:gridCol w="808038"/>
                <a:gridCol w="808037"/>
                <a:gridCol w="806450"/>
                <a:gridCol w="808038"/>
                <a:gridCol w="808037"/>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948392"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CLOCK：2</a:t>
            </a:r>
            <a:endParaRPr lang="en-US" altLang="zh-CN" sz="2000" b="1">
              <a:solidFill>
                <a:srgbClr val="FF0000"/>
              </a:solidFill>
              <a:effectLst>
                <a:outerShdw blurRad="38100" dist="38100" dir="2700000" algn="tl">
                  <a:srgbClr val="C0C0C0"/>
                </a:outerShdw>
              </a:effectLst>
            </a:endParaRPr>
          </a:p>
        </p:txBody>
      </p:sp>
      <p:sp>
        <p:nvSpPr>
          <p:cNvPr id="136361" name="Oval 169"/>
          <p:cNvSpPr>
            <a:spLocks noChangeArrowheads="1"/>
          </p:cNvSpPr>
          <p:nvPr/>
        </p:nvSpPr>
        <p:spPr bwMode="auto">
          <a:xfrm>
            <a:off x="5257800" y="10668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6362" name="Oval 170"/>
          <p:cNvSpPr>
            <a:spLocks noChangeArrowheads="1"/>
          </p:cNvSpPr>
          <p:nvPr/>
        </p:nvSpPr>
        <p:spPr bwMode="auto">
          <a:xfrm>
            <a:off x="1676400" y="38862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6363" name="Oval 171"/>
          <p:cNvSpPr>
            <a:spLocks noChangeArrowheads="1"/>
          </p:cNvSpPr>
          <p:nvPr/>
        </p:nvSpPr>
        <p:spPr bwMode="auto">
          <a:xfrm>
            <a:off x="2667000" y="38862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6364" name="Oval 172"/>
          <p:cNvSpPr>
            <a:spLocks noChangeArrowheads="1"/>
          </p:cNvSpPr>
          <p:nvPr/>
        </p:nvSpPr>
        <p:spPr bwMode="auto">
          <a:xfrm>
            <a:off x="7772400" y="38862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6365" name="Oval 173"/>
          <p:cNvSpPr>
            <a:spLocks noChangeArrowheads="1"/>
          </p:cNvSpPr>
          <p:nvPr/>
        </p:nvSpPr>
        <p:spPr bwMode="auto">
          <a:xfrm>
            <a:off x="2209800" y="6400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6366" name="Oval 174"/>
          <p:cNvSpPr>
            <a:spLocks noChangeArrowheads="1"/>
          </p:cNvSpPr>
          <p:nvPr/>
        </p:nvSpPr>
        <p:spPr bwMode="auto">
          <a:xfrm>
            <a:off x="3200400" y="13716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6367" name="Text Box 17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3</a:t>
            </a:r>
            <a:endParaRPr lang="zh-CN" altLang="en-US" sz="1200" b="0">
              <a:latin typeface="幼圆" panose="02010509060101010101" pitchFamily="49" charset="-122"/>
              <a:ea typeface="幼圆" panose="02010509060101010101" pitchFamily="49" charset="-122"/>
            </a:endParaRPr>
          </a:p>
        </p:txBody>
      </p:sp>
      <p:sp>
        <p:nvSpPr>
          <p:cNvPr id="136368" name="Oval 177"/>
          <p:cNvSpPr>
            <a:spLocks noChangeArrowheads="1"/>
          </p:cNvSpPr>
          <p:nvPr/>
        </p:nvSpPr>
        <p:spPr bwMode="auto">
          <a:xfrm>
            <a:off x="3733800" y="38862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22448" name="Group 176"/>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1</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2318"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1009650"/>
                <a:gridCol w="1009650"/>
                <a:gridCol w="1009650"/>
                <a:gridCol w="1009650"/>
                <a:gridCol w="1009650"/>
                <a:gridCol w="1009650"/>
                <a:gridCol w="100965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dirty="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dirty="0" smtClean="0">
                          <a:ln>
                            <a:noFill/>
                          </a:ln>
                          <a:solidFill>
                            <a:schemeClr val="tx1"/>
                          </a:solidFill>
                          <a:effectLst/>
                          <a:latin typeface="Arial" panose="020B0604020202020204" pitchFamily="34" charset="0"/>
                          <a:ea typeface="楷体_GB2312" pitchFamily="49" charset="-122"/>
                        </a:rPr>
                        <a:t>34+Regs[R2]</a:t>
                      </a:r>
                      <a:endParaRPr kumimoji="1" lang="en-US" altLang="zh-CN" sz="1400" b="0"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dirty="0" smtClean="0">
                          <a:ln>
                            <a:noFill/>
                          </a:ln>
                          <a:solidFill>
                            <a:schemeClr val="tx1"/>
                          </a:solidFill>
                          <a:effectLst/>
                          <a:latin typeface="Arial" panose="020B0604020202020204" pitchFamily="34" charset="0"/>
                          <a:ea typeface="楷体_GB2312" pitchFamily="49" charset="-122"/>
                        </a:rPr>
                        <a:t>45</a:t>
                      </a:r>
                      <a:endParaRPr kumimoji="1" lang="en-US" altLang="zh-CN" sz="1400" b="0"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2460" name="Group 188"/>
          <p:cNvGraphicFramePr>
            <a:graphicFrameLocks noGrp="1"/>
          </p:cNvGraphicFramePr>
          <p:nvPr/>
        </p:nvGraphicFramePr>
        <p:xfrm>
          <a:off x="533400" y="5791200"/>
          <a:ext cx="8077200" cy="914400"/>
        </p:xfrm>
        <a:graphic>
          <a:graphicData uri="http://schemas.openxmlformats.org/drawingml/2006/table">
            <a:tbl>
              <a:tblPr/>
              <a:tblGrid>
                <a:gridCol w="808038"/>
                <a:gridCol w="808037"/>
                <a:gridCol w="806450"/>
                <a:gridCol w="473075"/>
                <a:gridCol w="1524000"/>
                <a:gridCol w="427038"/>
                <a:gridCol w="808037"/>
                <a:gridCol w="806450"/>
                <a:gridCol w="808038"/>
                <a:gridCol w="808037"/>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22440"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CLOCK：3</a:t>
            </a:r>
            <a:endParaRPr lang="en-US" altLang="zh-CN" sz="2000" b="1">
              <a:solidFill>
                <a:srgbClr val="FF0000"/>
              </a:solidFill>
              <a:effectLst>
                <a:outerShdw blurRad="38100" dist="38100" dir="2700000" algn="tl">
                  <a:srgbClr val="C0C0C0"/>
                </a:outerShdw>
              </a:effectLst>
            </a:endParaRPr>
          </a:p>
        </p:txBody>
      </p:sp>
      <p:sp>
        <p:nvSpPr>
          <p:cNvPr id="137385" name="Oval 169"/>
          <p:cNvSpPr>
            <a:spLocks noChangeArrowheads="1"/>
          </p:cNvSpPr>
          <p:nvPr/>
        </p:nvSpPr>
        <p:spPr bwMode="auto">
          <a:xfrm>
            <a:off x="5257800" y="1371600"/>
            <a:ext cx="685800" cy="304800"/>
          </a:xfrm>
          <a:prstGeom prst="ellipse">
            <a:avLst/>
          </a:prstGeom>
          <a:noFill/>
          <a:ln w="28575">
            <a:solidFill>
              <a:srgbClr val="00B05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7386" name="Oval 170"/>
          <p:cNvSpPr>
            <a:spLocks noChangeArrowheads="1"/>
          </p:cNvSpPr>
          <p:nvPr/>
        </p:nvSpPr>
        <p:spPr bwMode="auto">
          <a:xfrm>
            <a:off x="1676400" y="5105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7387" name="Oval 171"/>
          <p:cNvSpPr>
            <a:spLocks noChangeArrowheads="1"/>
          </p:cNvSpPr>
          <p:nvPr/>
        </p:nvSpPr>
        <p:spPr bwMode="auto">
          <a:xfrm>
            <a:off x="2667000" y="5105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7388" name="Oval 172"/>
          <p:cNvSpPr>
            <a:spLocks noChangeArrowheads="1"/>
          </p:cNvSpPr>
          <p:nvPr/>
        </p:nvSpPr>
        <p:spPr bwMode="auto">
          <a:xfrm>
            <a:off x="5715000" y="5105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7389" name="Oval 173"/>
          <p:cNvSpPr>
            <a:spLocks noChangeArrowheads="1"/>
          </p:cNvSpPr>
          <p:nvPr/>
        </p:nvSpPr>
        <p:spPr bwMode="auto">
          <a:xfrm>
            <a:off x="1371600" y="6400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7390" name="Oval 174"/>
          <p:cNvSpPr>
            <a:spLocks noChangeArrowheads="1"/>
          </p:cNvSpPr>
          <p:nvPr/>
        </p:nvSpPr>
        <p:spPr bwMode="auto">
          <a:xfrm>
            <a:off x="3200400" y="1676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7391" name="Oval 177"/>
          <p:cNvSpPr>
            <a:spLocks noChangeArrowheads="1"/>
          </p:cNvSpPr>
          <p:nvPr/>
        </p:nvSpPr>
        <p:spPr bwMode="auto">
          <a:xfrm>
            <a:off x="5257800" y="10668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7392" name="Oval 178"/>
          <p:cNvSpPr>
            <a:spLocks noChangeArrowheads="1"/>
          </p:cNvSpPr>
          <p:nvPr/>
        </p:nvSpPr>
        <p:spPr bwMode="auto">
          <a:xfrm>
            <a:off x="4724400" y="5105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7394" name="Text Box 18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4</a:t>
            </a:r>
            <a:endParaRPr lang="zh-CN" altLang="en-US" sz="1200" b="0">
              <a:latin typeface="幼圆" panose="02010509060101010101" pitchFamily="49" charset="-122"/>
              <a:ea typeface="幼圆" panose="02010509060101010101" pitchFamily="49" charset="-122"/>
            </a:endParaRPr>
          </a:p>
        </p:txBody>
      </p:sp>
      <p:sp>
        <p:nvSpPr>
          <p:cNvPr id="17" name="Oval 179"/>
          <p:cNvSpPr>
            <a:spLocks noChangeArrowheads="1"/>
          </p:cNvSpPr>
          <p:nvPr/>
        </p:nvSpPr>
        <p:spPr bwMode="auto">
          <a:xfrm>
            <a:off x="7772400" y="35814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26594" name="Group 226"/>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  </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6588" name="Group 220"/>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533400"/>
                <a:gridCol w="1600200"/>
                <a:gridCol w="1600200"/>
                <a:gridCol w="609600"/>
                <a:gridCol w="609600"/>
                <a:gridCol w="16002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dirty="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dirty="0" smtClean="0">
                          <a:ln>
                            <a:noFill/>
                          </a:ln>
                          <a:solidFill>
                            <a:schemeClr val="tx1"/>
                          </a:solidFill>
                          <a:effectLst/>
                          <a:latin typeface="Arial" panose="020B0604020202020204" pitchFamily="34" charset="0"/>
                          <a:ea typeface="楷体_GB2312" pitchFamily="49" charset="-122"/>
                        </a:rPr>
                        <a:t>45+</a:t>
                      </a:r>
                      <a:r>
                        <a:rPr kumimoji="1" lang="en-US" altLang="zh-CN" sz="1400" b="0" i="0" u="none" strike="noStrike" cap="none" normalizeH="0" baseline="0" dirty="0" err="1" smtClean="0">
                          <a:ln>
                            <a:noFill/>
                          </a:ln>
                          <a:solidFill>
                            <a:schemeClr val="tx1"/>
                          </a:solidFill>
                          <a:effectLst/>
                          <a:latin typeface="Arial" panose="020B0604020202020204" pitchFamily="34" charset="0"/>
                          <a:ea typeface="楷体_GB2312" pitchFamily="49" charset="-122"/>
                        </a:rPr>
                        <a:t>Regs</a:t>
                      </a:r>
                      <a:r>
                        <a:rPr kumimoji="1" lang="en-US" altLang="zh-CN" sz="1400" b="0" i="0" u="none" strike="noStrike" cap="none" normalizeH="0" baseline="0" dirty="0" smtClean="0">
                          <a:ln>
                            <a:noFill/>
                          </a:ln>
                          <a:solidFill>
                            <a:schemeClr val="tx1"/>
                          </a:solidFill>
                          <a:effectLst/>
                          <a:latin typeface="Arial" panose="020B0604020202020204" pitchFamily="34" charset="0"/>
                          <a:ea typeface="楷体_GB2312" pitchFamily="49" charset="-122"/>
                        </a:rPr>
                        <a:t>[R3]</a:t>
                      </a:r>
                      <a:endParaRPr kumimoji="1" lang="en-US" altLang="zh-CN" sz="1400" b="0"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6573" name="Group 205"/>
          <p:cNvGraphicFramePr>
            <a:graphicFrameLocks noGrp="1"/>
          </p:cNvGraphicFramePr>
          <p:nvPr/>
        </p:nvGraphicFramePr>
        <p:xfrm>
          <a:off x="533400" y="5791200"/>
          <a:ext cx="8077200" cy="914400"/>
        </p:xfrm>
        <a:graphic>
          <a:graphicData uri="http://schemas.openxmlformats.org/drawingml/2006/table">
            <a:tbl>
              <a:tblPr/>
              <a:tblGrid>
                <a:gridCol w="808038"/>
                <a:gridCol w="563562"/>
                <a:gridCol w="1600200"/>
                <a:gridCol w="381000"/>
                <a:gridCol w="1524000"/>
                <a:gridCol w="609600"/>
                <a:gridCol w="457200"/>
                <a:gridCol w="517525"/>
                <a:gridCol w="808038"/>
                <a:gridCol w="808037"/>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26536"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CLOCK：4</a:t>
            </a:r>
            <a:endParaRPr lang="en-US" altLang="zh-CN" sz="2000" b="1">
              <a:solidFill>
                <a:srgbClr val="FF0000"/>
              </a:solidFill>
              <a:effectLst>
                <a:outerShdw blurRad="38100" dist="38100" dir="2700000" algn="tl">
                  <a:srgbClr val="C0C0C0"/>
                </a:outerShdw>
              </a:effectLst>
            </a:endParaRPr>
          </a:p>
        </p:txBody>
      </p:sp>
      <p:sp>
        <p:nvSpPr>
          <p:cNvPr id="138409" name="Oval 170"/>
          <p:cNvSpPr>
            <a:spLocks noChangeArrowheads="1"/>
          </p:cNvSpPr>
          <p:nvPr/>
        </p:nvSpPr>
        <p:spPr bwMode="auto">
          <a:xfrm>
            <a:off x="1524000" y="4191000"/>
            <a:ext cx="5334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8410" name="Oval 171"/>
          <p:cNvSpPr>
            <a:spLocks noChangeArrowheads="1"/>
          </p:cNvSpPr>
          <p:nvPr/>
        </p:nvSpPr>
        <p:spPr bwMode="auto">
          <a:xfrm>
            <a:off x="2057400" y="4191000"/>
            <a:ext cx="5334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8411" name="Oval 174"/>
          <p:cNvSpPr>
            <a:spLocks noChangeArrowheads="1"/>
          </p:cNvSpPr>
          <p:nvPr/>
        </p:nvSpPr>
        <p:spPr bwMode="auto">
          <a:xfrm>
            <a:off x="3200400" y="19812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8412" name="Oval 175"/>
          <p:cNvSpPr>
            <a:spLocks noChangeArrowheads="1"/>
          </p:cNvSpPr>
          <p:nvPr/>
        </p:nvSpPr>
        <p:spPr bwMode="auto">
          <a:xfrm>
            <a:off x="5257800" y="1371600"/>
            <a:ext cx="685800" cy="304800"/>
          </a:xfrm>
          <a:prstGeom prst="ellipse">
            <a:avLst/>
          </a:prstGeom>
          <a:noFill/>
          <a:ln w="28575">
            <a:solidFill>
              <a:srgbClr val="0099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8413" name="Oval 184"/>
          <p:cNvSpPr>
            <a:spLocks noChangeArrowheads="1"/>
          </p:cNvSpPr>
          <p:nvPr/>
        </p:nvSpPr>
        <p:spPr bwMode="auto">
          <a:xfrm>
            <a:off x="3048000" y="41910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8414" name="Oval 190"/>
          <p:cNvSpPr>
            <a:spLocks noChangeArrowheads="1"/>
          </p:cNvSpPr>
          <p:nvPr/>
        </p:nvSpPr>
        <p:spPr bwMode="auto">
          <a:xfrm>
            <a:off x="6324600" y="41910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8415" name="Oval 206"/>
          <p:cNvSpPr>
            <a:spLocks noChangeArrowheads="1"/>
          </p:cNvSpPr>
          <p:nvPr/>
        </p:nvSpPr>
        <p:spPr bwMode="auto">
          <a:xfrm>
            <a:off x="5334000" y="6400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8416" name="Text Box 20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5</a:t>
            </a:r>
            <a:endParaRPr lang="zh-CN" altLang="en-US" sz="1200" b="0">
              <a:latin typeface="幼圆" panose="02010509060101010101" pitchFamily="49" charset="-122"/>
              <a:ea typeface="幼圆" panose="02010509060101010101" pitchFamily="49" charset="-122"/>
            </a:endParaRPr>
          </a:p>
        </p:txBody>
      </p:sp>
      <p:sp>
        <p:nvSpPr>
          <p:cNvPr id="138417" name="Oval 208"/>
          <p:cNvSpPr>
            <a:spLocks noChangeArrowheads="1"/>
          </p:cNvSpPr>
          <p:nvPr/>
        </p:nvSpPr>
        <p:spPr bwMode="auto">
          <a:xfrm>
            <a:off x="4267200" y="64008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8419" name="Oval 222"/>
          <p:cNvSpPr>
            <a:spLocks noChangeArrowheads="1"/>
          </p:cNvSpPr>
          <p:nvPr/>
        </p:nvSpPr>
        <p:spPr bwMode="auto">
          <a:xfrm>
            <a:off x="1524000" y="3581400"/>
            <a:ext cx="5334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8420" name="Oval 224"/>
          <p:cNvSpPr>
            <a:spLocks noChangeArrowheads="1"/>
          </p:cNvSpPr>
          <p:nvPr/>
        </p:nvSpPr>
        <p:spPr bwMode="auto">
          <a:xfrm>
            <a:off x="7235825" y="1052513"/>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7" name="Oval 221"/>
          <p:cNvSpPr>
            <a:spLocks noChangeArrowheads="1"/>
          </p:cNvSpPr>
          <p:nvPr/>
        </p:nvSpPr>
        <p:spPr bwMode="auto">
          <a:xfrm>
            <a:off x="7287344" y="3886200"/>
            <a:ext cx="957064" cy="304800"/>
          </a:xfrm>
          <a:prstGeom prst="ellipse">
            <a:avLst/>
          </a:prstGeom>
          <a:noFill/>
          <a:ln w="28575">
            <a:solidFill>
              <a:srgbClr val="0099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28595" name="Group 179"/>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8462"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1009650"/>
                <a:gridCol w="1009650"/>
                <a:gridCol w="1695450"/>
                <a:gridCol w="1676400"/>
                <a:gridCol w="609600"/>
                <a:gridCol w="533400"/>
                <a:gridCol w="5334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8604" name="Group 188"/>
          <p:cNvGraphicFramePr>
            <a:graphicFrameLocks noGrp="1"/>
          </p:cNvGraphicFramePr>
          <p:nvPr/>
        </p:nvGraphicFramePr>
        <p:xfrm>
          <a:off x="533400" y="5791200"/>
          <a:ext cx="8077200" cy="914400"/>
        </p:xfrm>
        <a:graphic>
          <a:graphicData uri="http://schemas.openxmlformats.org/drawingml/2006/table">
            <a:tbl>
              <a:tblPr/>
              <a:tblGrid>
                <a:gridCol w="808038"/>
                <a:gridCol w="487362"/>
                <a:gridCol w="1524000"/>
                <a:gridCol w="411163"/>
                <a:gridCol w="1570037"/>
                <a:gridCol w="609600"/>
                <a:gridCol w="609600"/>
                <a:gridCol w="441325"/>
                <a:gridCol w="808038"/>
                <a:gridCol w="808037"/>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28584"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CLOCK：5</a:t>
            </a:r>
            <a:endParaRPr lang="en-US" altLang="zh-CN" sz="2000" b="1">
              <a:solidFill>
                <a:srgbClr val="FF0000"/>
              </a:solidFill>
              <a:effectLst>
                <a:outerShdw blurRad="38100" dist="38100" dir="2700000" algn="tl">
                  <a:srgbClr val="C0C0C0"/>
                </a:outerShdw>
              </a:effectLst>
            </a:endParaRPr>
          </a:p>
        </p:txBody>
      </p:sp>
      <p:sp>
        <p:nvSpPr>
          <p:cNvPr id="139433" name="Oval 170"/>
          <p:cNvSpPr>
            <a:spLocks noChangeArrowheads="1"/>
          </p:cNvSpPr>
          <p:nvPr/>
        </p:nvSpPr>
        <p:spPr bwMode="auto">
          <a:xfrm>
            <a:off x="2667000" y="54102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9434" name="Oval 171"/>
          <p:cNvSpPr>
            <a:spLocks noChangeArrowheads="1"/>
          </p:cNvSpPr>
          <p:nvPr/>
        </p:nvSpPr>
        <p:spPr bwMode="auto">
          <a:xfrm>
            <a:off x="5867400" y="6400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9435" name="Oval 172"/>
          <p:cNvSpPr>
            <a:spLocks noChangeArrowheads="1"/>
          </p:cNvSpPr>
          <p:nvPr/>
        </p:nvSpPr>
        <p:spPr bwMode="auto">
          <a:xfrm>
            <a:off x="3200400" y="22860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9436" name="Oval 175"/>
          <p:cNvSpPr>
            <a:spLocks noChangeArrowheads="1"/>
          </p:cNvSpPr>
          <p:nvPr/>
        </p:nvSpPr>
        <p:spPr bwMode="auto">
          <a:xfrm>
            <a:off x="1676400" y="54102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9437" name="Oval 176"/>
          <p:cNvSpPr>
            <a:spLocks noChangeArrowheads="1"/>
          </p:cNvSpPr>
          <p:nvPr/>
        </p:nvSpPr>
        <p:spPr bwMode="auto">
          <a:xfrm>
            <a:off x="6858000" y="54102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9438" name="Oval 177"/>
          <p:cNvSpPr>
            <a:spLocks noChangeArrowheads="1"/>
          </p:cNvSpPr>
          <p:nvPr/>
        </p:nvSpPr>
        <p:spPr bwMode="auto">
          <a:xfrm>
            <a:off x="5715000" y="54102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9439" name="Text Box 18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6</a:t>
            </a:r>
            <a:endParaRPr lang="zh-CN" altLang="en-US" sz="1200" b="0">
              <a:latin typeface="幼圆" panose="02010509060101010101" pitchFamily="49" charset="-122"/>
              <a:ea typeface="幼圆" panose="02010509060101010101" pitchFamily="49" charset="-122"/>
            </a:endParaRPr>
          </a:p>
        </p:txBody>
      </p:sp>
      <p:sp>
        <p:nvSpPr>
          <p:cNvPr id="139440" name="Oval 190"/>
          <p:cNvSpPr>
            <a:spLocks noChangeArrowheads="1"/>
          </p:cNvSpPr>
          <p:nvPr/>
        </p:nvSpPr>
        <p:spPr bwMode="auto">
          <a:xfrm>
            <a:off x="2209800" y="64008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9441" name="Oval 191"/>
          <p:cNvSpPr>
            <a:spLocks noChangeArrowheads="1"/>
          </p:cNvSpPr>
          <p:nvPr/>
        </p:nvSpPr>
        <p:spPr bwMode="auto">
          <a:xfrm>
            <a:off x="1676400" y="38862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9442" name="Oval 192"/>
          <p:cNvSpPr>
            <a:spLocks noChangeArrowheads="1"/>
          </p:cNvSpPr>
          <p:nvPr/>
        </p:nvSpPr>
        <p:spPr bwMode="auto">
          <a:xfrm>
            <a:off x="7239000" y="13716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9443" name="Oval 193"/>
          <p:cNvSpPr>
            <a:spLocks noChangeArrowheads="1"/>
          </p:cNvSpPr>
          <p:nvPr/>
        </p:nvSpPr>
        <p:spPr bwMode="auto">
          <a:xfrm>
            <a:off x="5638800" y="41910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39444" name="Oval 194"/>
          <p:cNvSpPr>
            <a:spLocks noChangeArrowheads="1"/>
          </p:cNvSpPr>
          <p:nvPr/>
        </p:nvSpPr>
        <p:spPr bwMode="auto">
          <a:xfrm>
            <a:off x="3962400" y="51054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30466"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1</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1</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0510"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1009650"/>
                <a:gridCol w="1009650"/>
                <a:gridCol w="1695450"/>
                <a:gridCol w="1676400"/>
                <a:gridCol w="609600"/>
                <a:gridCol w="533400"/>
                <a:gridCol w="5334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0646" name="Group 182"/>
          <p:cNvGraphicFramePr>
            <a:graphicFrameLocks noGrp="1"/>
          </p:cNvGraphicFramePr>
          <p:nvPr/>
        </p:nvGraphicFramePr>
        <p:xfrm>
          <a:off x="533400" y="5791200"/>
          <a:ext cx="8077200" cy="914400"/>
        </p:xfrm>
        <a:graphic>
          <a:graphicData uri="http://schemas.openxmlformats.org/drawingml/2006/table">
            <a:tbl>
              <a:tblPr/>
              <a:tblGrid>
                <a:gridCol w="808038"/>
                <a:gridCol w="487362"/>
                <a:gridCol w="1600200"/>
                <a:gridCol w="334963"/>
                <a:gridCol w="808037"/>
                <a:gridCol w="808038"/>
                <a:gridCol w="808037"/>
                <a:gridCol w="806450"/>
                <a:gridCol w="808038"/>
                <a:gridCol w="808037"/>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30632"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CLOCK：6</a:t>
            </a:r>
            <a:endParaRPr lang="en-US" altLang="zh-CN" sz="2000" b="1">
              <a:solidFill>
                <a:srgbClr val="FF0000"/>
              </a:solidFill>
              <a:effectLst>
                <a:outerShdw blurRad="38100" dist="38100" dir="2700000" algn="tl">
                  <a:srgbClr val="C0C0C0"/>
                </a:outerShdw>
              </a:effectLst>
            </a:endParaRPr>
          </a:p>
        </p:txBody>
      </p:sp>
      <p:sp>
        <p:nvSpPr>
          <p:cNvPr id="140457" name="Oval 169"/>
          <p:cNvSpPr>
            <a:spLocks noChangeArrowheads="1"/>
          </p:cNvSpPr>
          <p:nvPr/>
        </p:nvSpPr>
        <p:spPr bwMode="auto">
          <a:xfrm>
            <a:off x="2743200" y="4495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0458" name="Oval 170"/>
          <p:cNvSpPr>
            <a:spLocks noChangeArrowheads="1"/>
          </p:cNvSpPr>
          <p:nvPr/>
        </p:nvSpPr>
        <p:spPr bwMode="auto">
          <a:xfrm>
            <a:off x="3810000" y="6400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0459" name="Oval 172"/>
          <p:cNvSpPr>
            <a:spLocks noChangeArrowheads="1"/>
          </p:cNvSpPr>
          <p:nvPr/>
        </p:nvSpPr>
        <p:spPr bwMode="auto">
          <a:xfrm>
            <a:off x="5257800" y="16764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0460" name="Oval 173"/>
          <p:cNvSpPr>
            <a:spLocks noChangeArrowheads="1"/>
          </p:cNvSpPr>
          <p:nvPr/>
        </p:nvSpPr>
        <p:spPr bwMode="auto">
          <a:xfrm>
            <a:off x="1676400" y="4495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0461" name="Oval 174"/>
          <p:cNvSpPr>
            <a:spLocks noChangeArrowheads="1"/>
          </p:cNvSpPr>
          <p:nvPr/>
        </p:nvSpPr>
        <p:spPr bwMode="auto">
          <a:xfrm>
            <a:off x="6858000" y="4495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0462" name="Oval 175"/>
          <p:cNvSpPr>
            <a:spLocks noChangeArrowheads="1"/>
          </p:cNvSpPr>
          <p:nvPr/>
        </p:nvSpPr>
        <p:spPr bwMode="auto">
          <a:xfrm>
            <a:off x="5791200" y="4495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0463" name="Oval 176"/>
          <p:cNvSpPr>
            <a:spLocks noChangeArrowheads="1"/>
          </p:cNvSpPr>
          <p:nvPr/>
        </p:nvSpPr>
        <p:spPr bwMode="auto">
          <a:xfrm>
            <a:off x="5257800" y="1981200"/>
            <a:ext cx="685800" cy="304800"/>
          </a:xfrm>
          <a:prstGeom prst="ellipse">
            <a:avLst/>
          </a:prstGeom>
          <a:noFill/>
          <a:ln w="28575">
            <a:solidFill>
              <a:srgbClr val="00B05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0464" name="Oval 177"/>
          <p:cNvSpPr>
            <a:spLocks noChangeArrowheads="1"/>
          </p:cNvSpPr>
          <p:nvPr/>
        </p:nvSpPr>
        <p:spPr bwMode="auto">
          <a:xfrm>
            <a:off x="3200400" y="2590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0465" name="Text Box 18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7</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952322"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52366"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1009650"/>
                <a:gridCol w="1009650"/>
                <a:gridCol w="1695450"/>
                <a:gridCol w="1676400"/>
                <a:gridCol w="609600"/>
                <a:gridCol w="533400"/>
                <a:gridCol w="5334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52451" name="Group 131"/>
          <p:cNvGraphicFramePr>
            <a:graphicFrameLocks noGrp="1"/>
          </p:cNvGraphicFramePr>
          <p:nvPr/>
        </p:nvGraphicFramePr>
        <p:xfrm>
          <a:off x="533400" y="5791200"/>
          <a:ext cx="8077200" cy="914400"/>
        </p:xfrm>
        <a:graphic>
          <a:graphicData uri="http://schemas.openxmlformats.org/drawingml/2006/table">
            <a:tbl>
              <a:tblPr/>
              <a:tblGrid>
                <a:gridCol w="808038"/>
                <a:gridCol w="487362"/>
                <a:gridCol w="1600200"/>
                <a:gridCol w="334963"/>
                <a:gridCol w="808037"/>
                <a:gridCol w="808038"/>
                <a:gridCol w="808037"/>
                <a:gridCol w="806450"/>
                <a:gridCol w="808038"/>
                <a:gridCol w="808037"/>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952488"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CLOCK：7</a:t>
            </a:r>
            <a:endParaRPr lang="en-US" altLang="zh-CN" sz="2000" b="1">
              <a:solidFill>
                <a:srgbClr val="FF0000"/>
              </a:solidFill>
              <a:effectLst>
                <a:outerShdw blurRad="38100" dist="38100" dir="2700000" algn="tl">
                  <a:srgbClr val="C0C0C0"/>
                </a:outerShdw>
              </a:effectLst>
            </a:endParaRPr>
          </a:p>
        </p:txBody>
      </p:sp>
      <p:sp>
        <p:nvSpPr>
          <p:cNvPr id="141481" name="Oval 171"/>
          <p:cNvSpPr>
            <a:spLocks noChangeArrowheads="1"/>
          </p:cNvSpPr>
          <p:nvPr/>
        </p:nvSpPr>
        <p:spPr bwMode="auto">
          <a:xfrm>
            <a:off x="5257800" y="1676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1482" name="Oval 175"/>
          <p:cNvSpPr>
            <a:spLocks noChangeArrowheads="1"/>
          </p:cNvSpPr>
          <p:nvPr/>
        </p:nvSpPr>
        <p:spPr bwMode="auto">
          <a:xfrm>
            <a:off x="5257800" y="19812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1483" name="Text Box 17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8</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36610"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6814" name="Group 20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 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6802" name="Group 194"/>
          <p:cNvGraphicFramePr>
            <a:graphicFrameLocks noGrp="1"/>
          </p:cNvGraphicFramePr>
          <p:nvPr/>
        </p:nvGraphicFramePr>
        <p:xfrm>
          <a:off x="533400" y="5791200"/>
          <a:ext cx="8077200" cy="914400"/>
        </p:xfrm>
        <a:graphic>
          <a:graphicData uri="http://schemas.openxmlformats.org/drawingml/2006/table">
            <a:tbl>
              <a:tblPr/>
              <a:tblGrid>
                <a:gridCol w="533400"/>
                <a:gridCol w="533400"/>
                <a:gridCol w="1524000"/>
                <a:gridCol w="304800"/>
                <a:gridCol w="533400"/>
                <a:gridCol w="3124200"/>
                <a:gridCol w="533400"/>
                <a:gridCol w="304800"/>
                <a:gridCol w="304800"/>
                <a:gridCol w="381000"/>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36776"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CLOCK：8</a:t>
            </a:r>
            <a:endParaRPr lang="en-US" altLang="zh-CN" sz="2000" b="1">
              <a:solidFill>
                <a:srgbClr val="FF0000"/>
              </a:solidFill>
              <a:effectLst>
                <a:outerShdw blurRad="38100" dist="38100" dir="2700000" algn="tl">
                  <a:srgbClr val="C0C0C0"/>
                </a:outerShdw>
              </a:effectLst>
            </a:endParaRPr>
          </a:p>
        </p:txBody>
      </p:sp>
      <p:sp>
        <p:nvSpPr>
          <p:cNvPr id="142505" name="Oval 171"/>
          <p:cNvSpPr>
            <a:spLocks noChangeArrowheads="1"/>
          </p:cNvSpPr>
          <p:nvPr/>
        </p:nvSpPr>
        <p:spPr bwMode="auto">
          <a:xfrm>
            <a:off x="5257800" y="16764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2506" name="Oval 172"/>
          <p:cNvSpPr>
            <a:spLocks noChangeArrowheads="1"/>
          </p:cNvSpPr>
          <p:nvPr/>
        </p:nvSpPr>
        <p:spPr bwMode="auto">
          <a:xfrm>
            <a:off x="1447800" y="41910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2507" name="Oval 173"/>
          <p:cNvSpPr>
            <a:spLocks noChangeArrowheads="1"/>
          </p:cNvSpPr>
          <p:nvPr/>
        </p:nvSpPr>
        <p:spPr bwMode="auto">
          <a:xfrm>
            <a:off x="3886200" y="4495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2508" name="Oval 175"/>
          <p:cNvSpPr>
            <a:spLocks noChangeArrowheads="1"/>
          </p:cNvSpPr>
          <p:nvPr/>
        </p:nvSpPr>
        <p:spPr bwMode="auto">
          <a:xfrm>
            <a:off x="7239000" y="19812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2509" name="Oval 195"/>
          <p:cNvSpPr>
            <a:spLocks noChangeArrowheads="1"/>
          </p:cNvSpPr>
          <p:nvPr/>
        </p:nvSpPr>
        <p:spPr bwMode="auto">
          <a:xfrm>
            <a:off x="5105400" y="6400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2510" name="Text Box 20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9</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38658" name="Group 2"/>
          <p:cNvGraphicFramePr>
            <a:graphicFrameLocks noGrp="1"/>
          </p:cNvGraphicFramePr>
          <p:nvPr>
            <p:custDataLst>
              <p:tags r:id="rId1"/>
            </p:custDataLst>
          </p:nvPr>
        </p:nvGraphicFramePr>
        <p:xfrm>
          <a:off x="533400" y="457200"/>
          <a:ext cx="8148320" cy="2438400"/>
        </p:xfrm>
        <a:graphic>
          <a:graphicData uri="http://schemas.openxmlformats.org/drawingml/2006/table">
            <a:tbl>
              <a:tblPr/>
              <a:tblGrid>
                <a:gridCol w="2037080"/>
                <a:gridCol w="2037080"/>
                <a:gridCol w="2037080"/>
                <a:gridCol w="203708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1</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8702" name="Group 46"/>
          <p:cNvGraphicFramePr>
            <a:graphicFrameLocks noGrp="1"/>
          </p:cNvGraphicFramePr>
          <p:nvPr>
            <p:custDataLst>
              <p:tags r:id="rId2"/>
            </p:custDataLst>
          </p:nvPr>
        </p:nvGraphicFramePr>
        <p:xfrm>
          <a:off x="533400" y="2971800"/>
          <a:ext cx="8159750" cy="2743200"/>
        </p:xfrm>
        <a:graphic>
          <a:graphicData uri="http://schemas.openxmlformats.org/drawingml/2006/table">
            <a:tbl>
              <a:tblPr/>
              <a:tblGrid>
                <a:gridCol w="1019810"/>
                <a:gridCol w="520065"/>
                <a:gridCol w="615315"/>
                <a:gridCol w="3156585"/>
                <a:gridCol w="1539240"/>
                <a:gridCol w="539115"/>
                <a:gridCol w="384810"/>
                <a:gridCol w="38481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 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8787" name="Group 131"/>
          <p:cNvGraphicFramePr>
            <a:graphicFrameLocks noGrp="1"/>
          </p:cNvGraphicFramePr>
          <p:nvPr>
            <p:custDataLst>
              <p:tags r:id="rId3"/>
            </p:custDataLst>
          </p:nvPr>
        </p:nvGraphicFramePr>
        <p:xfrm>
          <a:off x="533400" y="5791200"/>
          <a:ext cx="8154035" cy="914400"/>
        </p:xfrm>
        <a:graphic>
          <a:graphicData uri="http://schemas.openxmlformats.org/drawingml/2006/table">
            <a:tbl>
              <a:tblPr/>
              <a:tblGrid>
                <a:gridCol w="538480"/>
                <a:gridCol w="538480"/>
                <a:gridCol w="1538605"/>
                <a:gridCol w="307340"/>
                <a:gridCol w="538480"/>
                <a:gridCol w="3154045"/>
                <a:gridCol w="538480"/>
                <a:gridCol w="307975"/>
                <a:gridCol w="307340"/>
                <a:gridCol w="384810"/>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 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38824"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CLOCK：9</a:t>
            </a:r>
            <a:endParaRPr lang="en-US" altLang="zh-CN" sz="2000" b="1">
              <a:solidFill>
                <a:srgbClr val="FF0000"/>
              </a:solidFill>
              <a:effectLst>
                <a:outerShdw blurRad="38100" dist="38100" dir="2700000" algn="tl">
                  <a:srgbClr val="C0C0C0"/>
                </a:outerShdw>
              </a:effectLst>
            </a:endParaRPr>
          </a:p>
        </p:txBody>
      </p:sp>
      <p:sp>
        <p:nvSpPr>
          <p:cNvPr id="143529" name="Oval 169"/>
          <p:cNvSpPr>
            <a:spLocks noChangeArrowheads="1"/>
          </p:cNvSpPr>
          <p:nvPr/>
        </p:nvSpPr>
        <p:spPr bwMode="auto">
          <a:xfrm>
            <a:off x="5257800" y="1676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3530" name="Oval 172"/>
          <p:cNvSpPr>
            <a:spLocks noChangeArrowheads="1"/>
          </p:cNvSpPr>
          <p:nvPr/>
        </p:nvSpPr>
        <p:spPr bwMode="auto">
          <a:xfrm>
            <a:off x="5257800" y="25908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3531" name="Text Box 17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10</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40706"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5</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0750"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0835" name="Group 131"/>
          <p:cNvGraphicFramePr>
            <a:graphicFrameLocks noGrp="1"/>
          </p:cNvGraphicFramePr>
          <p:nvPr/>
        </p:nvGraphicFramePr>
        <p:xfrm>
          <a:off x="533400" y="5791200"/>
          <a:ext cx="8077200" cy="914400"/>
        </p:xfrm>
        <a:graphic>
          <a:graphicData uri="http://schemas.openxmlformats.org/drawingml/2006/table">
            <a:tbl>
              <a:tblPr/>
              <a:tblGrid>
                <a:gridCol w="533400"/>
                <a:gridCol w="533400"/>
                <a:gridCol w="1524000"/>
                <a:gridCol w="304800"/>
                <a:gridCol w="533400"/>
                <a:gridCol w="3124200"/>
                <a:gridCol w="533400"/>
                <a:gridCol w="304800"/>
                <a:gridCol w="304800"/>
                <a:gridCol w="381000"/>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40872"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CLOCK：10</a:t>
            </a:r>
            <a:endParaRPr lang="en-US" altLang="zh-CN" sz="2000" b="1">
              <a:solidFill>
                <a:srgbClr val="FF0000"/>
              </a:solidFill>
              <a:effectLst>
                <a:outerShdw blurRad="38100" dist="38100" dir="2700000" algn="tl">
                  <a:srgbClr val="C0C0C0"/>
                </a:outerShdw>
              </a:effectLst>
            </a:endParaRPr>
          </a:p>
        </p:txBody>
      </p:sp>
      <p:sp>
        <p:nvSpPr>
          <p:cNvPr id="144553" name="Oval 169"/>
          <p:cNvSpPr>
            <a:spLocks noChangeArrowheads="1"/>
          </p:cNvSpPr>
          <p:nvPr/>
        </p:nvSpPr>
        <p:spPr bwMode="auto">
          <a:xfrm>
            <a:off x="5257800" y="1676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4554" name="Oval 170"/>
          <p:cNvSpPr>
            <a:spLocks noChangeArrowheads="1"/>
          </p:cNvSpPr>
          <p:nvPr/>
        </p:nvSpPr>
        <p:spPr bwMode="auto">
          <a:xfrm>
            <a:off x="5257800" y="25908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4555" name="Text Box 171"/>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11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42754"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6</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2798"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2883" name="Group 131"/>
          <p:cNvGraphicFramePr>
            <a:graphicFrameLocks noGrp="1"/>
          </p:cNvGraphicFramePr>
          <p:nvPr/>
        </p:nvGraphicFramePr>
        <p:xfrm>
          <a:off x="533400" y="5791200"/>
          <a:ext cx="8077200" cy="914400"/>
        </p:xfrm>
        <a:graphic>
          <a:graphicData uri="http://schemas.openxmlformats.org/drawingml/2006/table">
            <a:tbl>
              <a:tblPr/>
              <a:tblGrid>
                <a:gridCol w="533400"/>
                <a:gridCol w="533400"/>
                <a:gridCol w="1524000"/>
                <a:gridCol w="304800"/>
                <a:gridCol w="533400"/>
                <a:gridCol w="3124200"/>
                <a:gridCol w="533400"/>
                <a:gridCol w="304800"/>
                <a:gridCol w="304800"/>
                <a:gridCol w="381000"/>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42920"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CLOCK：11</a:t>
            </a:r>
            <a:endParaRPr lang="en-US" altLang="zh-CN" sz="2000" b="1">
              <a:solidFill>
                <a:srgbClr val="FF0000"/>
              </a:solidFill>
              <a:effectLst>
                <a:outerShdw blurRad="38100" dist="38100" dir="2700000" algn="tl">
                  <a:srgbClr val="C0C0C0"/>
                </a:outerShdw>
              </a:effectLst>
            </a:endParaRPr>
          </a:p>
        </p:txBody>
      </p:sp>
      <p:sp>
        <p:nvSpPr>
          <p:cNvPr id="145577" name="Oval 169"/>
          <p:cNvSpPr>
            <a:spLocks noChangeArrowheads="1"/>
          </p:cNvSpPr>
          <p:nvPr/>
        </p:nvSpPr>
        <p:spPr bwMode="auto">
          <a:xfrm>
            <a:off x="5257800" y="1676400"/>
            <a:ext cx="685800" cy="304800"/>
          </a:xfrm>
          <a:prstGeom prst="ellipse">
            <a:avLst/>
          </a:prstGeom>
          <a:noFill/>
          <a:ln w="28575">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5578" name="Oval 171"/>
          <p:cNvSpPr>
            <a:spLocks noChangeArrowheads="1"/>
          </p:cNvSpPr>
          <p:nvPr/>
        </p:nvSpPr>
        <p:spPr bwMode="auto">
          <a:xfrm>
            <a:off x="7239000" y="2590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5579" name="Oval 172"/>
          <p:cNvSpPr>
            <a:spLocks noChangeArrowheads="1"/>
          </p:cNvSpPr>
          <p:nvPr/>
        </p:nvSpPr>
        <p:spPr bwMode="auto">
          <a:xfrm>
            <a:off x="3352800" y="6400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5580" name="Oval 173"/>
          <p:cNvSpPr>
            <a:spLocks noChangeArrowheads="1"/>
          </p:cNvSpPr>
          <p:nvPr/>
        </p:nvSpPr>
        <p:spPr bwMode="auto">
          <a:xfrm>
            <a:off x="1447800" y="4495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5581" name="Text Box 17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12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44802"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7</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4846"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4986" name="Group 186"/>
          <p:cNvGraphicFramePr>
            <a:graphicFrameLocks noGrp="1"/>
          </p:cNvGraphicFramePr>
          <p:nvPr/>
        </p:nvGraphicFramePr>
        <p:xfrm>
          <a:off x="533400" y="5791200"/>
          <a:ext cx="8077200" cy="914400"/>
        </p:xfrm>
        <a:graphic>
          <a:graphicData uri="http://schemas.openxmlformats.org/drawingml/2006/table">
            <a:tbl>
              <a:tblPr/>
              <a:tblGrid>
                <a:gridCol w="990600"/>
                <a:gridCol w="762000"/>
                <a:gridCol w="685800"/>
                <a:gridCol w="685800"/>
                <a:gridCol w="762000"/>
                <a:gridCol w="838200"/>
                <a:gridCol w="914400"/>
                <a:gridCol w="838200"/>
                <a:gridCol w="762000"/>
                <a:gridCol w="838200"/>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44968"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CLOCK：12</a:t>
            </a:r>
            <a:endParaRPr lang="en-US" altLang="zh-CN" sz="2000" b="1">
              <a:solidFill>
                <a:srgbClr val="FF0000"/>
              </a:solidFill>
              <a:effectLst>
                <a:outerShdw blurRad="38100" dist="38100" dir="2700000" algn="tl">
                  <a:srgbClr val="C0C0C0"/>
                </a:outerShdw>
              </a:effectLst>
            </a:endParaRPr>
          </a:p>
        </p:txBody>
      </p:sp>
      <p:sp>
        <p:nvSpPr>
          <p:cNvPr id="146601" name="Oval 169"/>
          <p:cNvSpPr>
            <a:spLocks noChangeArrowheads="1"/>
          </p:cNvSpPr>
          <p:nvPr/>
        </p:nvSpPr>
        <p:spPr bwMode="auto">
          <a:xfrm>
            <a:off x="5257800" y="1676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6602" name="Text Box 18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13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46850"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8</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6894"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6979" name="Group 131"/>
          <p:cNvGraphicFramePr>
            <a:graphicFrameLocks noGrp="1"/>
          </p:cNvGraphicFramePr>
          <p:nvPr/>
        </p:nvGraphicFramePr>
        <p:xfrm>
          <a:off x="533400" y="5791200"/>
          <a:ext cx="8077200" cy="914400"/>
        </p:xfrm>
        <a:graphic>
          <a:graphicData uri="http://schemas.openxmlformats.org/drawingml/2006/table">
            <a:tbl>
              <a:tblPr/>
              <a:tblGrid>
                <a:gridCol w="990600"/>
                <a:gridCol w="762000"/>
                <a:gridCol w="685800"/>
                <a:gridCol w="685800"/>
                <a:gridCol w="762000"/>
                <a:gridCol w="838200"/>
                <a:gridCol w="914400"/>
                <a:gridCol w="838200"/>
                <a:gridCol w="762000"/>
                <a:gridCol w="838200"/>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47016"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CLOCK：13</a:t>
            </a:r>
            <a:endParaRPr lang="en-US" altLang="zh-CN" sz="2000" b="1">
              <a:solidFill>
                <a:srgbClr val="FF0000"/>
              </a:solidFill>
              <a:effectLst>
                <a:outerShdw blurRad="38100" dist="38100" dir="2700000" algn="tl">
                  <a:srgbClr val="C0C0C0"/>
                </a:outerShdw>
              </a:effectLst>
            </a:endParaRPr>
          </a:p>
        </p:txBody>
      </p:sp>
      <p:sp>
        <p:nvSpPr>
          <p:cNvPr id="147625" name="Oval 169"/>
          <p:cNvSpPr>
            <a:spLocks noChangeArrowheads="1"/>
          </p:cNvSpPr>
          <p:nvPr/>
        </p:nvSpPr>
        <p:spPr bwMode="auto">
          <a:xfrm>
            <a:off x="5257800" y="1676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7626" name="Text Box 17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14</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48898"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9</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8942"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9027" name="Group 131"/>
          <p:cNvGraphicFramePr>
            <a:graphicFrameLocks noGrp="1"/>
          </p:cNvGraphicFramePr>
          <p:nvPr/>
        </p:nvGraphicFramePr>
        <p:xfrm>
          <a:off x="533400" y="5791200"/>
          <a:ext cx="8077200" cy="914400"/>
        </p:xfrm>
        <a:graphic>
          <a:graphicData uri="http://schemas.openxmlformats.org/drawingml/2006/table">
            <a:tbl>
              <a:tblPr/>
              <a:tblGrid>
                <a:gridCol w="990600"/>
                <a:gridCol w="762000"/>
                <a:gridCol w="685800"/>
                <a:gridCol w="685800"/>
                <a:gridCol w="762000"/>
                <a:gridCol w="838200"/>
                <a:gridCol w="914400"/>
                <a:gridCol w="838200"/>
                <a:gridCol w="762000"/>
                <a:gridCol w="838200"/>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49064"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CLOCK：14</a:t>
            </a:r>
            <a:endParaRPr lang="en-US" altLang="zh-CN" sz="2000" b="1">
              <a:solidFill>
                <a:srgbClr val="FF0000"/>
              </a:solidFill>
              <a:effectLst>
                <a:outerShdw blurRad="38100" dist="38100" dir="2700000" algn="tl">
                  <a:srgbClr val="C0C0C0"/>
                </a:outerShdw>
              </a:effectLst>
            </a:endParaRPr>
          </a:p>
        </p:txBody>
      </p:sp>
      <p:sp>
        <p:nvSpPr>
          <p:cNvPr id="148649" name="Oval 169"/>
          <p:cNvSpPr>
            <a:spLocks noChangeArrowheads="1"/>
          </p:cNvSpPr>
          <p:nvPr/>
        </p:nvSpPr>
        <p:spPr bwMode="auto">
          <a:xfrm>
            <a:off x="5257800" y="1676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8650" name="Text Box 17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15</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50946"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10</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0990"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1075" name="Group 131"/>
          <p:cNvGraphicFramePr>
            <a:graphicFrameLocks noGrp="1"/>
          </p:cNvGraphicFramePr>
          <p:nvPr/>
        </p:nvGraphicFramePr>
        <p:xfrm>
          <a:off x="533400" y="5791200"/>
          <a:ext cx="8077200" cy="914400"/>
        </p:xfrm>
        <a:graphic>
          <a:graphicData uri="http://schemas.openxmlformats.org/drawingml/2006/table">
            <a:tbl>
              <a:tblPr/>
              <a:tblGrid>
                <a:gridCol w="990600"/>
                <a:gridCol w="762000"/>
                <a:gridCol w="685800"/>
                <a:gridCol w="685800"/>
                <a:gridCol w="762000"/>
                <a:gridCol w="838200"/>
                <a:gridCol w="914400"/>
                <a:gridCol w="838200"/>
                <a:gridCol w="762000"/>
                <a:gridCol w="838200"/>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51112"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CLOCK：15</a:t>
            </a:r>
            <a:endParaRPr lang="en-US" altLang="zh-CN" sz="2000" b="1">
              <a:solidFill>
                <a:srgbClr val="FF0000"/>
              </a:solidFill>
              <a:effectLst>
                <a:outerShdw blurRad="38100" dist="38100" dir="2700000" algn="tl">
                  <a:srgbClr val="C0C0C0"/>
                </a:outerShdw>
              </a:effectLst>
            </a:endParaRPr>
          </a:p>
        </p:txBody>
      </p:sp>
      <p:sp>
        <p:nvSpPr>
          <p:cNvPr id="149673" name="Oval 169"/>
          <p:cNvSpPr>
            <a:spLocks noChangeArrowheads="1"/>
          </p:cNvSpPr>
          <p:nvPr/>
        </p:nvSpPr>
        <p:spPr bwMode="auto">
          <a:xfrm>
            <a:off x="5257800" y="1676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49674" name="Text Box 17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16</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52994"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3171" name="Group 179"/>
          <p:cNvGraphicFramePr>
            <a:graphicFrameLocks noGrp="1"/>
          </p:cNvGraphicFramePr>
          <p:nvPr/>
        </p:nvGraphicFramePr>
        <p:xfrm>
          <a:off x="533400" y="2971800"/>
          <a:ext cx="8077200" cy="2743200"/>
        </p:xfrm>
        <a:graphic>
          <a:graphicData uri="http://schemas.openxmlformats.org/drawingml/2006/table">
            <a:tbl>
              <a:tblPr/>
              <a:tblGrid>
                <a:gridCol w="1009650"/>
                <a:gridCol w="742950"/>
                <a:gridCol w="762000"/>
                <a:gridCol w="2286000"/>
                <a:gridCol w="1676400"/>
                <a:gridCol w="533400"/>
                <a:gridCol w="533400"/>
                <a:gridCol w="5334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 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3185" name="Group 193"/>
          <p:cNvGraphicFramePr>
            <a:graphicFrameLocks noGrp="1"/>
          </p:cNvGraphicFramePr>
          <p:nvPr/>
        </p:nvGraphicFramePr>
        <p:xfrm>
          <a:off x="533400" y="5791200"/>
          <a:ext cx="8077200" cy="914400"/>
        </p:xfrm>
        <a:graphic>
          <a:graphicData uri="http://schemas.openxmlformats.org/drawingml/2006/table">
            <a:tbl>
              <a:tblPr/>
              <a:tblGrid>
                <a:gridCol w="990600"/>
                <a:gridCol w="2590800"/>
                <a:gridCol w="533400"/>
                <a:gridCol w="533400"/>
                <a:gridCol w="533400"/>
                <a:gridCol w="533400"/>
                <a:gridCol w="685800"/>
                <a:gridCol w="533400"/>
                <a:gridCol w="533400"/>
                <a:gridCol w="609600"/>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 Regs[F4]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53160"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CLOCK：16</a:t>
            </a:r>
            <a:endParaRPr lang="en-US" altLang="zh-CN" sz="2000" b="1">
              <a:solidFill>
                <a:srgbClr val="FF0000"/>
              </a:solidFill>
              <a:effectLst>
                <a:outerShdw blurRad="38100" dist="38100" dir="2700000" algn="tl">
                  <a:srgbClr val="C0C0C0"/>
                </a:outerShdw>
              </a:effectLst>
            </a:endParaRPr>
          </a:p>
        </p:txBody>
      </p:sp>
      <p:sp>
        <p:nvSpPr>
          <p:cNvPr id="150697" name="Oval 170"/>
          <p:cNvSpPr>
            <a:spLocks noChangeArrowheads="1"/>
          </p:cNvSpPr>
          <p:nvPr/>
        </p:nvSpPr>
        <p:spPr bwMode="auto">
          <a:xfrm>
            <a:off x="7239000" y="1676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50698" name="Oval 171"/>
          <p:cNvSpPr>
            <a:spLocks noChangeArrowheads="1"/>
          </p:cNvSpPr>
          <p:nvPr/>
        </p:nvSpPr>
        <p:spPr bwMode="auto">
          <a:xfrm>
            <a:off x="1600200" y="51054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50699" name="Oval 172"/>
          <p:cNvSpPr>
            <a:spLocks noChangeArrowheads="1"/>
          </p:cNvSpPr>
          <p:nvPr/>
        </p:nvSpPr>
        <p:spPr bwMode="auto">
          <a:xfrm>
            <a:off x="3810000" y="54102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50700" name="Oval 194"/>
          <p:cNvSpPr>
            <a:spLocks noChangeArrowheads="1"/>
          </p:cNvSpPr>
          <p:nvPr/>
        </p:nvSpPr>
        <p:spPr bwMode="auto">
          <a:xfrm>
            <a:off x="2362200" y="6400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50701" name="Text Box 19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17</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55042"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1</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5086"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742950"/>
                <a:gridCol w="762000"/>
                <a:gridCol w="2286000"/>
                <a:gridCol w="1676400"/>
                <a:gridCol w="533400"/>
                <a:gridCol w="533400"/>
                <a:gridCol w="5334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 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5171" name="Group 131"/>
          <p:cNvGraphicFramePr>
            <a:graphicFrameLocks noGrp="1"/>
          </p:cNvGraphicFramePr>
          <p:nvPr/>
        </p:nvGraphicFramePr>
        <p:xfrm>
          <a:off x="533400" y="5791200"/>
          <a:ext cx="8077200" cy="914400"/>
        </p:xfrm>
        <a:graphic>
          <a:graphicData uri="http://schemas.openxmlformats.org/drawingml/2006/table">
            <a:tbl>
              <a:tblPr/>
              <a:tblGrid>
                <a:gridCol w="990600"/>
                <a:gridCol w="2590800"/>
                <a:gridCol w="533400"/>
                <a:gridCol w="533400"/>
                <a:gridCol w="533400"/>
                <a:gridCol w="533400"/>
                <a:gridCol w="685800"/>
                <a:gridCol w="533400"/>
                <a:gridCol w="533400"/>
                <a:gridCol w="609600"/>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 Regs[F4]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55208"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CLOCK：17</a:t>
            </a:r>
            <a:endParaRPr lang="en-US" altLang="zh-CN" sz="2000" b="1">
              <a:solidFill>
                <a:srgbClr val="FF0000"/>
              </a:solidFill>
              <a:effectLst>
                <a:outerShdw blurRad="38100" dist="38100" dir="2700000" algn="tl">
                  <a:srgbClr val="C0C0C0"/>
                </a:outerShdw>
              </a:effectLst>
            </a:endParaRPr>
          </a:p>
        </p:txBody>
      </p:sp>
      <p:sp>
        <p:nvSpPr>
          <p:cNvPr id="151721" name="Oval 173"/>
          <p:cNvSpPr>
            <a:spLocks noChangeArrowheads="1"/>
          </p:cNvSpPr>
          <p:nvPr/>
        </p:nvSpPr>
        <p:spPr bwMode="auto">
          <a:xfrm>
            <a:off x="5257800" y="22860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51722" name="Text Box 17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18</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57256" name="Rectangle 168"/>
          <p:cNvSpPr>
            <a:spLocks noChangeArrowheads="1"/>
          </p:cNvSpPr>
          <p:nvPr/>
        </p:nvSpPr>
        <p:spPr bwMode="auto">
          <a:xfrm>
            <a:off x="3657600" y="2057400"/>
            <a:ext cx="18288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altLang="zh-CN" sz="9600" b="1">
              <a:solidFill>
                <a:srgbClr val="FF0000"/>
              </a:solidFill>
              <a:effectLst>
                <a:outerShdw blurRad="38100" dist="38100" dir="2700000" algn="tl">
                  <a:srgbClr val="C0C0C0"/>
                </a:outerShdw>
              </a:effectLst>
            </a:endParaRPr>
          </a:p>
        </p:txBody>
      </p:sp>
      <p:sp>
        <p:nvSpPr>
          <p:cNvPr id="857259" name="Rectangle 171"/>
          <p:cNvSpPr>
            <a:spLocks noGrp="1" noChangeArrowheads="1"/>
          </p:cNvSpPr>
          <p:nvPr>
            <p:ph type="body" idx="1"/>
          </p:nvPr>
        </p:nvSpPr>
        <p:spPr>
          <a:xfrm>
            <a:off x="3581400" y="1989138"/>
            <a:ext cx="1981200" cy="2565400"/>
          </a:xfrm>
        </p:spPr>
        <p:txBody>
          <a:bodyPr/>
          <a:lstStyle/>
          <a:p>
            <a:pPr eaLnBrk="1" hangingPunct="1">
              <a:buFont typeface="Wingdings" panose="05000000000000000000" pitchFamily="2" charset="2"/>
              <a:buNone/>
              <a:defRPr/>
            </a:pPr>
            <a:r>
              <a:rPr lang="zh-CN" altLang="en-US" sz="9600" b="0" smtClean="0">
                <a:solidFill>
                  <a:srgbClr val="FF0000"/>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t>
            </a:r>
            <a:endParaRPr lang="zh-CN" altLang="en-US" sz="9600" b="0" smtClean="0">
              <a:solidFill>
                <a:srgbClr val="FF0000"/>
              </a:solidFill>
              <a:effectLst>
                <a:outerShdw blurRad="38100" dist="38100" dir="2700000" algn="tl">
                  <a:srgbClr val="C0C0C0"/>
                </a:outerShdw>
              </a:effectLst>
              <a:latin typeface="Comic Sans MS" panose="030F0702030302020204" pitchFamily="66" charset="0"/>
              <a:cs typeface="Times New Roman" panose="02020603050405020304" pitchFamily="18" charset="0"/>
            </a:endParaRPr>
          </a:p>
        </p:txBody>
      </p:sp>
      <p:sp>
        <p:nvSpPr>
          <p:cNvPr id="152580" name="Text Box 17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19</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59138"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40</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9182"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742950"/>
                <a:gridCol w="762000"/>
                <a:gridCol w="2286000"/>
                <a:gridCol w="1676400"/>
                <a:gridCol w="533400"/>
                <a:gridCol w="533400"/>
                <a:gridCol w="5334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 Regs[F4]</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9267" name="Group 131"/>
          <p:cNvGraphicFramePr>
            <a:graphicFrameLocks noGrp="1"/>
          </p:cNvGraphicFramePr>
          <p:nvPr/>
        </p:nvGraphicFramePr>
        <p:xfrm>
          <a:off x="533400" y="5791200"/>
          <a:ext cx="8077200" cy="914400"/>
        </p:xfrm>
        <a:graphic>
          <a:graphicData uri="http://schemas.openxmlformats.org/drawingml/2006/table">
            <a:tbl>
              <a:tblPr/>
              <a:tblGrid>
                <a:gridCol w="990600"/>
                <a:gridCol w="2590800"/>
                <a:gridCol w="533400"/>
                <a:gridCol w="533400"/>
                <a:gridCol w="533400"/>
                <a:gridCol w="533400"/>
                <a:gridCol w="685800"/>
                <a:gridCol w="533400"/>
                <a:gridCol w="533400"/>
                <a:gridCol w="609600"/>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 Regs[F4]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59304"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CLOCK：56</a:t>
            </a:r>
            <a:endParaRPr lang="en-US" altLang="zh-CN" sz="2000" b="1">
              <a:solidFill>
                <a:srgbClr val="FF0000"/>
              </a:solidFill>
              <a:effectLst>
                <a:outerShdw blurRad="38100" dist="38100" dir="2700000" algn="tl">
                  <a:srgbClr val="C0C0C0"/>
                </a:outerShdw>
              </a:effectLst>
            </a:endParaRPr>
          </a:p>
        </p:txBody>
      </p:sp>
      <p:sp>
        <p:nvSpPr>
          <p:cNvPr id="153769" name="Oval 169"/>
          <p:cNvSpPr>
            <a:spLocks noChangeArrowheads="1"/>
          </p:cNvSpPr>
          <p:nvPr/>
        </p:nvSpPr>
        <p:spPr bwMode="auto">
          <a:xfrm>
            <a:off x="5257800" y="22860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53770" name="Text Box 17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20</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61186"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指令状态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r>
              <a:tr h="2540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发射</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执行</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写回结果</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F6,34(R2)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L.D F2,45(R3)</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MUL.D F0,F2,F4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SUB.D F8,F6,F2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DIV.D F10,F0,F6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ADD.D F6,F8,F2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sym typeface="Wingdings 2" panose="05020102010507070707"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61382" name="Group 198"/>
          <p:cNvGraphicFramePr>
            <a:graphicFrameLocks noGrp="1"/>
          </p:cNvGraphicFramePr>
          <p:nvPr/>
        </p:nvGraphicFramePr>
        <p:xfrm>
          <a:off x="533400" y="2971800"/>
          <a:ext cx="8077200" cy="2743200"/>
        </p:xfrm>
        <a:graphic>
          <a:graphicData uri="http://schemas.openxmlformats.org/drawingml/2006/table">
            <a:tbl>
              <a:tblPr/>
              <a:tblGrid>
                <a:gridCol w="1009650"/>
                <a:gridCol w="1047750"/>
                <a:gridCol w="990600"/>
                <a:gridCol w="1066800"/>
                <a:gridCol w="1066800"/>
                <a:gridCol w="990600"/>
                <a:gridCol w="990600"/>
                <a:gridCol w="914400"/>
              </a:tblGrid>
              <a:tr h="250825">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站名</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保留站</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r>
              <a:tr h="2524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Busy</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Op</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Vk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Qj</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Qk</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Mult1</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N</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61368" name="Group 184"/>
          <p:cNvGraphicFramePr>
            <a:graphicFrameLocks noGrp="1"/>
          </p:cNvGraphicFramePr>
          <p:nvPr/>
        </p:nvGraphicFramePr>
        <p:xfrm>
          <a:off x="533400" y="5791200"/>
          <a:ext cx="8077200" cy="914400"/>
        </p:xfrm>
        <a:graphic>
          <a:graphicData uri="http://schemas.openxmlformats.org/drawingml/2006/table">
            <a:tbl>
              <a:tblPr/>
              <a:tblGrid>
                <a:gridCol w="990600"/>
                <a:gridCol w="381000"/>
                <a:gridCol w="381000"/>
                <a:gridCol w="381000"/>
                <a:gridCol w="381000"/>
                <a:gridCol w="381000"/>
                <a:gridCol w="3962400"/>
                <a:gridCol w="381000"/>
                <a:gridCol w="381000"/>
                <a:gridCol w="457200"/>
              </a:tblGrid>
              <a:tr h="271463">
                <a:tc gridSpan="10">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寄存器状态</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c hMerge="1">
                  <a:tcPr/>
                </a:tc>
              </a:tr>
              <a:tr h="2698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字段</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F4</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F6</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F8</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F12</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F30</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Qi</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400" b="0" i="0" u="none" strike="noStrike" cap="none" normalizeH="0" baseline="0" smtClean="0">
                          <a:ln>
                            <a:noFill/>
                          </a:ln>
                          <a:solidFill>
                            <a:schemeClr val="tx1"/>
                          </a:solidFill>
                          <a:effectLst/>
                          <a:latin typeface="Arial" panose="020B0604020202020204" pitchFamily="34" charset="0"/>
                          <a:ea typeface="楷体_GB2312" pitchFamily="49" charset="-122"/>
                        </a:rPr>
                        <a:t>Mem[45+Regs[R3]* Regs[F4]/ Mem[34+Regs[R2]]</a:t>
                      </a: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1400" b="0"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61352"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CLOCK：57</a:t>
            </a:r>
            <a:endParaRPr lang="en-US" altLang="zh-CN" sz="2000" b="1">
              <a:solidFill>
                <a:srgbClr val="FF0000"/>
              </a:solidFill>
              <a:effectLst>
                <a:outerShdw blurRad="38100" dist="38100" dir="2700000" algn="tl">
                  <a:srgbClr val="C0C0C0"/>
                </a:outerShdw>
              </a:effectLst>
            </a:endParaRPr>
          </a:p>
        </p:txBody>
      </p:sp>
      <p:sp>
        <p:nvSpPr>
          <p:cNvPr id="154793" name="Oval 169"/>
          <p:cNvSpPr>
            <a:spLocks noChangeArrowheads="1"/>
          </p:cNvSpPr>
          <p:nvPr/>
        </p:nvSpPr>
        <p:spPr bwMode="auto">
          <a:xfrm>
            <a:off x="7239000" y="22860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54794" name="Oval 170"/>
          <p:cNvSpPr>
            <a:spLocks noChangeArrowheads="1"/>
          </p:cNvSpPr>
          <p:nvPr/>
        </p:nvSpPr>
        <p:spPr bwMode="auto">
          <a:xfrm>
            <a:off x="1600200" y="54102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54795" name="Oval 185"/>
          <p:cNvSpPr>
            <a:spLocks noChangeArrowheads="1"/>
          </p:cNvSpPr>
          <p:nvPr/>
        </p:nvSpPr>
        <p:spPr bwMode="auto">
          <a:xfrm>
            <a:off x="5105400" y="6400800"/>
            <a:ext cx="685800" cy="304800"/>
          </a:xfrm>
          <a:prstGeom prst="ellipse">
            <a:avLst/>
          </a:prstGeom>
          <a:noFill/>
          <a:ln w="28575">
            <a:solidFill>
              <a:srgbClr val="FF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54796" name="Text Box 19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21 之 21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2290" name="Rectangle 2"/>
          <p:cNvSpPr>
            <a:spLocks noGrp="1" noChangeArrowheads="1"/>
          </p:cNvSpPr>
          <p:nvPr>
            <p:ph type="title"/>
          </p:nvPr>
        </p:nvSpPr>
        <p:spPr/>
        <p:txBody>
          <a:bodyPr/>
          <a:lstStyle/>
          <a:p>
            <a:pPr eaLnBrk="1" hangingPunct="1">
              <a:defRPr/>
            </a:pPr>
            <a:r>
              <a:rPr lang="zh-CN" altLang="en-US" sz="5400" smtClean="0"/>
              <a:t>控制相关</a:t>
            </a:r>
            <a:endParaRPr lang="zh-CN" altLang="en-US" sz="5400" smtClean="0"/>
          </a:p>
        </p:txBody>
      </p:sp>
      <p:sp>
        <p:nvSpPr>
          <p:cNvPr id="1556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endParaRPr lang="zh-CN" altLang="en-US" sz="1200" b="0">
              <a:latin typeface="Times New Roman" panose="02020603050405020304" pitchFamily="18" charset="0"/>
              <a:ea typeface="幼圆" panose="02010509060101010101" pitchFamily="49" charset="-122"/>
            </a:endParaRPr>
          </a:p>
        </p:txBody>
      </p:sp>
      <p:sp>
        <p:nvSpPr>
          <p:cNvPr id="155652" name="Rectangle 4"/>
          <p:cNvSpPr>
            <a:spLocks noGrp="1" noChangeArrowheads="1"/>
          </p:cNvSpPr>
          <p:nvPr>
            <p:ph type="body" idx="1"/>
          </p:nvPr>
        </p:nvSpPr>
        <p:spPr>
          <a:xfrm>
            <a:off x="2484438" y="2205038"/>
            <a:ext cx="3657600" cy="3784600"/>
          </a:xfrm>
        </p:spPr>
        <p:txBody>
          <a:bodyPr/>
          <a:lstStyle/>
          <a:p>
            <a:pPr eaLnBrk="1" hangingPunct="1">
              <a:lnSpc>
                <a:spcPct val="160000"/>
              </a:lnSpc>
            </a:pPr>
            <a:r>
              <a:rPr lang="zh-CN" altLang="en-US" dirty="0" smtClean="0">
                <a:hlinkClick r:id="rId3" action="ppaction://hlinksldjump"/>
              </a:rPr>
              <a:t>基本概念</a:t>
            </a:r>
            <a:endParaRPr lang="zh-CN" altLang="en-US" dirty="0" smtClean="0"/>
          </a:p>
          <a:p>
            <a:pPr eaLnBrk="1" hangingPunct="1">
              <a:lnSpc>
                <a:spcPct val="160000"/>
              </a:lnSpc>
            </a:pPr>
            <a:r>
              <a:rPr lang="zh-CN" altLang="en-US" dirty="0" smtClean="0">
                <a:hlinkClick r:id="rId4" action="ppaction://hlinksldjump"/>
              </a:rPr>
              <a:t>条件转移的影响</a:t>
            </a:r>
            <a:endParaRPr lang="zh-CN" altLang="en-US" dirty="0" smtClean="0"/>
          </a:p>
          <a:p>
            <a:pPr eaLnBrk="1" hangingPunct="1">
              <a:lnSpc>
                <a:spcPct val="160000"/>
              </a:lnSpc>
            </a:pPr>
            <a:r>
              <a:rPr lang="zh-CN" altLang="en-US" dirty="0" smtClean="0">
                <a:hlinkClick r:id="rId5" action="ppaction://hlinksldjump"/>
              </a:rPr>
              <a:t>条件转移的处理</a:t>
            </a:r>
            <a:endParaRPr lang="zh-CN" altLang="en-US" dirty="0" smtClean="0"/>
          </a:p>
          <a:p>
            <a:pPr eaLnBrk="1" hangingPunct="1">
              <a:lnSpc>
                <a:spcPct val="160000"/>
              </a:lnSpc>
            </a:pPr>
            <a:r>
              <a:rPr lang="zh-CN" altLang="en-US" dirty="0" smtClean="0">
                <a:hlinkClick r:id="rId6" action="ppaction://hlinksldjump"/>
              </a:rPr>
              <a:t>中断的处理</a:t>
            </a:r>
            <a:endParaRPr lang="zh-CN" altLang="en-US" dirty="0" smtClean="0"/>
          </a:p>
        </p:txBody>
      </p:sp>
    </p:spTree>
  </p:cSld>
  <p:clrMapOvr>
    <a:masterClrMapping/>
  </p:clrMapOvr>
  <p:transition spd="slow">
    <p:random/>
    <p:sndAc>
      <p:stSnd>
        <p:snd r:embed="rId7" name="projctor.wav"/>
      </p:stSnd>
    </p:sndAc>
  </p:transition>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2226" name="Rectangle 2"/>
          <p:cNvSpPr>
            <a:spLocks noGrp="1" noChangeArrowheads="1"/>
          </p:cNvSpPr>
          <p:nvPr>
            <p:ph type="title"/>
          </p:nvPr>
        </p:nvSpPr>
        <p:spPr/>
        <p:txBody>
          <a:bodyPr/>
          <a:lstStyle/>
          <a:p>
            <a:pPr eaLnBrk="1" hangingPunct="1">
              <a:defRPr/>
            </a:pPr>
            <a:r>
              <a:rPr lang="zh-CN" altLang="en-US" smtClean="0"/>
              <a:t>基本概念</a:t>
            </a:r>
            <a:endParaRPr lang="zh-CN" altLang="en-US" smtClean="0"/>
          </a:p>
        </p:txBody>
      </p:sp>
      <p:sp>
        <p:nvSpPr>
          <p:cNvPr id="15667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endParaRPr lang="zh-CN" altLang="en-US" sz="1200" b="0">
              <a:latin typeface="Times New Roman" panose="02020603050405020304" pitchFamily="18" charset="0"/>
              <a:ea typeface="幼圆" panose="02010509060101010101" pitchFamily="49" charset="-122"/>
            </a:endParaRPr>
          </a:p>
        </p:txBody>
      </p:sp>
      <p:sp>
        <p:nvSpPr>
          <p:cNvPr id="692229" name="Rectangle 5"/>
          <p:cNvSpPr>
            <a:spLocks noGrp="1" noChangeArrowheads="1"/>
          </p:cNvSpPr>
          <p:nvPr>
            <p:ph type="body" idx="1"/>
          </p:nvPr>
        </p:nvSpPr>
        <p:spPr/>
        <p:txBody>
          <a:bodyPr/>
          <a:lstStyle/>
          <a:p>
            <a:pPr marL="0" indent="0" eaLnBrk="1" hangingPunct="1">
              <a:lnSpc>
                <a:spcPct val="150000"/>
              </a:lnSpc>
              <a:buFont typeface="Wingdings" panose="05000000000000000000" pitchFamily="2" charset="2"/>
              <a:buNone/>
              <a:defRPr/>
            </a:pPr>
            <a:r>
              <a:rPr lang="zh-CN" altLang="en-US" dirty="0" smtClean="0"/>
              <a:t>       因程序的执行方向可能被改变而引起的相关，也称为</a:t>
            </a:r>
            <a:r>
              <a:rPr lang="zh-CN" altLang="en-US" dirty="0" smtClean="0">
                <a:solidFill>
                  <a:srgbClr val="FF0000"/>
                </a:solidFill>
                <a:effectLst>
                  <a:outerShdw blurRad="38100" dist="38100" dir="2700000" algn="tl">
                    <a:srgbClr val="C0C0C0"/>
                  </a:outerShdw>
                </a:effectLst>
              </a:rPr>
              <a:t>全局相关</a:t>
            </a:r>
            <a:r>
              <a:rPr lang="zh-CN" altLang="en-US" dirty="0" smtClean="0"/>
              <a:t>（而将前面介绍的其他相关称为</a:t>
            </a:r>
            <a:r>
              <a:rPr lang="zh-CN" altLang="en-US" dirty="0" smtClean="0">
                <a:solidFill>
                  <a:srgbClr val="FF0000"/>
                </a:solidFill>
                <a:effectLst>
                  <a:outerShdw blurRad="38100" dist="38100" dir="2700000" algn="tl">
                    <a:srgbClr val="C0C0C0"/>
                  </a:outerShdw>
                </a:effectLst>
              </a:rPr>
              <a:t>局部相关</a:t>
            </a:r>
            <a:r>
              <a:rPr lang="zh-CN" altLang="en-US" dirty="0" smtClean="0"/>
              <a:t>）。可能改变程序执行方向的指令主要包括：</a:t>
            </a:r>
            <a:r>
              <a:rPr lang="zh-CN" altLang="en-US" dirty="0" smtClean="0">
                <a:solidFill>
                  <a:srgbClr val="0000FF"/>
                </a:solidFill>
              </a:rPr>
              <a:t>无条件转移</a:t>
            </a:r>
            <a:r>
              <a:rPr lang="zh-CN" altLang="en-US" dirty="0" smtClean="0"/>
              <a:t>、</a:t>
            </a:r>
            <a:r>
              <a:rPr lang="zh-CN" altLang="en-US" dirty="0" smtClean="0">
                <a:solidFill>
                  <a:srgbClr val="0000FF"/>
                </a:solidFill>
              </a:rPr>
              <a:t>条件转移</a:t>
            </a:r>
            <a:r>
              <a:rPr lang="zh-CN" altLang="en-US" dirty="0" smtClean="0"/>
              <a:t>、</a:t>
            </a:r>
            <a:r>
              <a:rPr lang="zh-CN" altLang="en-US" dirty="0" smtClean="0">
                <a:solidFill>
                  <a:srgbClr val="0000FF"/>
                </a:solidFill>
              </a:rPr>
              <a:t>子程序调用</a:t>
            </a:r>
            <a:r>
              <a:rPr lang="zh-CN" altLang="en-US" dirty="0" smtClean="0"/>
              <a:t>、</a:t>
            </a:r>
            <a:r>
              <a:rPr lang="zh-CN" altLang="en-US" dirty="0" smtClean="0">
                <a:solidFill>
                  <a:srgbClr val="0000FF"/>
                </a:solidFill>
              </a:rPr>
              <a:t>中断</a:t>
            </a:r>
            <a:r>
              <a:rPr lang="zh-CN" altLang="en-US" dirty="0" smtClean="0"/>
              <a:t>等。</a:t>
            </a:r>
            <a:endParaRPr lang="zh-CN" altLang="en-US" dirty="0" smtClean="0"/>
          </a:p>
        </p:txBody>
      </p:sp>
      <p:sp>
        <p:nvSpPr>
          <p:cNvPr id="156677"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22" name="Rectangle 2"/>
          <p:cNvSpPr>
            <a:spLocks noGrp="1" noChangeArrowheads="1"/>
          </p:cNvSpPr>
          <p:nvPr>
            <p:ph type="title"/>
          </p:nvPr>
        </p:nvSpPr>
        <p:spPr/>
        <p:txBody>
          <a:bodyPr/>
          <a:lstStyle/>
          <a:p>
            <a:pPr eaLnBrk="1" hangingPunct="1">
              <a:defRPr/>
            </a:pPr>
            <a:r>
              <a:rPr lang="zh-CN" altLang="en-US" smtClean="0"/>
              <a:t>举  例</a:t>
            </a:r>
            <a:endParaRPr lang="zh-CN" altLang="en-US" smtClean="0"/>
          </a:p>
        </p:txBody>
      </p:sp>
      <p:sp>
        <p:nvSpPr>
          <p:cNvPr id="1576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endParaRPr lang="zh-CN" altLang="en-US" sz="1200" b="0">
              <a:latin typeface="Times New Roman" panose="02020603050405020304" pitchFamily="18" charset="0"/>
              <a:ea typeface="幼圆" panose="02010509060101010101" pitchFamily="49" charset="-122"/>
            </a:endParaRPr>
          </a:p>
        </p:txBody>
      </p:sp>
      <p:graphicFrame>
        <p:nvGraphicFramePr>
          <p:cNvPr id="696326" name="Group 6"/>
          <p:cNvGraphicFramePr>
            <a:graphicFrameLocks noGrp="1"/>
          </p:cNvGraphicFramePr>
          <p:nvPr/>
        </p:nvGraphicFramePr>
        <p:xfrm>
          <a:off x="914400" y="2362200"/>
          <a:ext cx="7924800" cy="3886202"/>
        </p:xfrm>
        <a:graphic>
          <a:graphicData uri="http://schemas.openxmlformats.org/drawingml/2006/table">
            <a:tbl>
              <a:tblPr/>
              <a:tblGrid>
                <a:gridCol w="2054225"/>
                <a:gridCol w="660400"/>
                <a:gridCol w="660400"/>
                <a:gridCol w="660400"/>
                <a:gridCol w="660400"/>
                <a:gridCol w="660400"/>
                <a:gridCol w="660400"/>
                <a:gridCol w="660400"/>
                <a:gridCol w="660400"/>
                <a:gridCol w="587375"/>
              </a:tblGrid>
              <a:tr h="646113">
                <a:tc row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指</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令</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9">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时钟</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c hMerge="1">
                  <a:tcPr/>
                </a:tc>
              </a:tr>
              <a:tr h="6461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1</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2</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3</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4</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5</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6</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7</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8</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9</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477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分支指令</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0000CC"/>
                          </a:solidFill>
                          <a:effectLst/>
                          <a:latin typeface="Tahoma" panose="020B0604030504040204" pitchFamily="34" charset="0"/>
                          <a:ea typeface="楷体_GB2312" pitchFamily="49" charset="-122"/>
                        </a:rPr>
                        <a:t>ID</a:t>
                      </a:r>
                      <a:endParaRPr kumimoji="1" lang="en-US" altLang="zh-CN" sz="2000" b="1" i="0" u="none" strike="noStrike" cap="none" normalizeH="0" baseline="0" smtClean="0">
                        <a:ln>
                          <a:noFill/>
                        </a:ln>
                        <a:solidFill>
                          <a:srgbClr val="0000CC"/>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EX</a:t>
                      </a:r>
                      <a:endPar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461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分支后继</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0000"/>
                          </a:solidFill>
                          <a:effectLst/>
                          <a:latin typeface="Tahoma" panose="020B0604030504040204" pitchFamily="34" charset="0"/>
                          <a:ea typeface="楷体_GB2312" pitchFamily="49" charset="-122"/>
                        </a:rPr>
                        <a:t>IF</a:t>
                      </a:r>
                      <a:endParaRPr kumimoji="1" lang="zh-CN" altLang="en-US" sz="2000" b="1" i="0" u="none" strike="noStrike" cap="none" normalizeH="0" baseline="0" smtClean="0">
                        <a:ln>
                          <a:noFill/>
                        </a:ln>
                        <a:solidFill>
                          <a:srgbClr val="FF0000"/>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EX</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540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分支后继+1</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EX</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4611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rPr>
                        <a:t>分支后继+2</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rgbClr val="FF0000"/>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IF</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ID</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EX</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MEM</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Tahoma" panose="020B0604030504040204" pitchFamily="34" charset="0"/>
                          <a:ea typeface="楷体_GB2312" pitchFamily="49" charset="-122"/>
                        </a:rPr>
                        <a:t>WB</a:t>
                      </a:r>
                      <a:endParaRPr kumimoji="1" lang="zh-CN" altLang="en-US" sz="2000" b="1" i="0" u="none" strike="noStrike" cap="none" normalizeH="0" baseline="0" smtClean="0">
                        <a:ln>
                          <a:noFill/>
                        </a:ln>
                        <a:solidFill>
                          <a:schemeClr val="tx1"/>
                        </a:solidFill>
                        <a:effectLst/>
                        <a:latin typeface="Tahoma" panose="020B060403050404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57768" name="Text Box 8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3250" name="Rectangle 2"/>
          <p:cNvSpPr>
            <a:spLocks noGrp="1" noChangeArrowheads="1"/>
          </p:cNvSpPr>
          <p:nvPr>
            <p:ph type="title"/>
          </p:nvPr>
        </p:nvSpPr>
        <p:spPr/>
        <p:txBody>
          <a:bodyPr/>
          <a:lstStyle/>
          <a:p>
            <a:pPr eaLnBrk="1" hangingPunct="1">
              <a:defRPr/>
            </a:pPr>
            <a:r>
              <a:rPr lang="zh-CN" altLang="en-US" smtClean="0"/>
              <a:t>条件转移的影响</a:t>
            </a:r>
            <a:endParaRPr lang="zh-CN" altLang="en-US" smtClean="0"/>
          </a:p>
        </p:txBody>
      </p:sp>
      <p:sp>
        <p:nvSpPr>
          <p:cNvPr id="1587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endParaRPr lang="zh-CN" altLang="en-US" sz="1200" b="0">
              <a:latin typeface="Times New Roman" panose="02020603050405020304" pitchFamily="18" charset="0"/>
              <a:ea typeface="幼圆" panose="02010509060101010101" pitchFamily="49" charset="-122"/>
            </a:endParaRPr>
          </a:p>
        </p:txBody>
      </p:sp>
      <p:sp>
        <p:nvSpPr>
          <p:cNvPr id="693252" name="Rectangle 4"/>
          <p:cNvSpPr>
            <a:spLocks noGrp="1" noChangeArrowheads="1"/>
          </p:cNvSpPr>
          <p:nvPr>
            <p:ph type="body" idx="1"/>
          </p:nvPr>
        </p:nvSpPr>
        <p:spPr>
          <a:xfrm>
            <a:off x="809625" y="1989138"/>
            <a:ext cx="7958138" cy="3046412"/>
          </a:xfrm>
        </p:spPr>
        <p:txBody>
          <a:bodyPr/>
          <a:lstStyle/>
          <a:p>
            <a:pPr marL="0" indent="0" eaLnBrk="1" hangingPunct="1">
              <a:lnSpc>
                <a:spcPct val="130000"/>
              </a:lnSpc>
              <a:buFont typeface="Wingdings" panose="05000000000000000000" pitchFamily="2" charset="2"/>
              <a:buNone/>
              <a:defRPr/>
            </a:pPr>
            <a:r>
              <a:rPr lang="zh-CN" altLang="en-US" sz="2800" dirty="0" smtClean="0"/>
              <a:t>        对于一条有</a:t>
            </a:r>
            <a:r>
              <a:rPr lang="en-US" altLang="zh-CN" sz="2800" dirty="0" smtClean="0"/>
              <a:t>k</a:t>
            </a:r>
            <a:r>
              <a:rPr lang="zh-CN" altLang="en-US" sz="2800" dirty="0" smtClean="0"/>
              <a:t>个流水段的指令流水线，在最坏情况下每一次条件转移（</a:t>
            </a:r>
            <a:r>
              <a:rPr lang="zh-CN" altLang="en-US" sz="2800" dirty="0" smtClean="0">
                <a:solidFill>
                  <a:srgbClr val="FF0000"/>
                </a:solidFill>
                <a:effectLst>
                  <a:outerShdw blurRad="38100" dist="38100" dir="2700000" algn="tl">
                    <a:srgbClr val="C0C0C0"/>
                  </a:outerShdw>
                </a:effectLst>
              </a:rPr>
              <a:t>条件分支</a:t>
            </a:r>
            <a:r>
              <a:rPr lang="zh-CN" altLang="en-US" sz="2800" dirty="0" smtClean="0"/>
              <a:t>）指令将造成</a:t>
            </a:r>
            <a:r>
              <a:rPr lang="en-US" altLang="zh-CN" sz="2800" dirty="0" smtClean="0"/>
              <a:t>k-1</a:t>
            </a:r>
            <a:r>
              <a:rPr lang="zh-CN" altLang="en-US" sz="2800" dirty="0" smtClean="0"/>
              <a:t>个时钟的“停顿”；假设条件转移指令在一般程序中所占的比例为</a:t>
            </a:r>
            <a:r>
              <a:rPr lang="en-US" altLang="zh-CN" sz="2800" dirty="0" smtClean="0"/>
              <a:t>p，</a:t>
            </a:r>
            <a:r>
              <a:rPr lang="zh-CN" altLang="en-US" sz="2800" dirty="0" smtClean="0"/>
              <a:t>转移成功的概率为</a:t>
            </a:r>
            <a:r>
              <a:rPr lang="en-US" altLang="zh-CN" sz="2800" dirty="0" smtClean="0"/>
              <a:t>q。</a:t>
            </a:r>
            <a:r>
              <a:rPr lang="zh-CN" altLang="en-US" sz="2800" dirty="0" smtClean="0"/>
              <a:t>则</a:t>
            </a:r>
            <a:r>
              <a:rPr lang="en-US" altLang="zh-CN" sz="2800" dirty="0" smtClean="0"/>
              <a:t>n</a:t>
            </a:r>
            <a:r>
              <a:rPr lang="zh-CN" altLang="en-US" sz="2800" dirty="0" smtClean="0"/>
              <a:t>条指令的总执行时间是：</a:t>
            </a:r>
            <a:endParaRPr lang="zh-CN" altLang="en-US" sz="2800" dirty="0" smtClean="0"/>
          </a:p>
        </p:txBody>
      </p:sp>
      <p:graphicFrame>
        <p:nvGraphicFramePr>
          <p:cNvPr id="693253" name="Object 5"/>
          <p:cNvGraphicFramePr>
            <a:graphicFrameLocks noChangeAspect="1"/>
          </p:cNvGraphicFramePr>
          <p:nvPr/>
        </p:nvGraphicFramePr>
        <p:xfrm>
          <a:off x="2124075" y="5373688"/>
          <a:ext cx="5300663" cy="539750"/>
        </p:xfrm>
        <a:graphic>
          <a:graphicData uri="http://schemas.openxmlformats.org/presentationml/2006/ole">
            <mc:AlternateContent xmlns:mc="http://schemas.openxmlformats.org/markup-compatibility/2006">
              <mc:Choice xmlns:v="urn:schemas-microsoft-com:vml" Requires="v">
                <p:oleObj spid="_x0000_s158815" name="Equation" r:id="rId4" imgW="2120900" imgH="215900" progId="Equation.3">
                  <p:embed/>
                </p:oleObj>
              </mc:Choice>
              <mc:Fallback>
                <p:oleObj name="Equation" r:id="rId4" imgW="2120900" imgH="215900" progId="Equation.3">
                  <p:embed/>
                  <p:pic>
                    <p:nvPicPr>
                      <p:cNvPr id="0"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24075" y="5373688"/>
                        <a:ext cx="5300663" cy="53975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
        <p:nvSpPr>
          <p:cNvPr id="158726"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693253"/>
                                        </p:tgtEl>
                                        <p:attrNameLst>
                                          <p:attrName>style.visibility</p:attrName>
                                        </p:attrNameLst>
                                      </p:cBhvr>
                                      <p:to>
                                        <p:strVal val="visible"/>
                                      </p:to>
                                    </p:set>
                                    <p:anim calcmode="lin" valueType="num">
                                      <p:cBhvr additive="base">
                                        <p:cTn id="7" dur="500" fill="hold"/>
                                        <p:tgtEl>
                                          <p:spTgt spid="693253"/>
                                        </p:tgtEl>
                                        <p:attrNameLst>
                                          <p:attrName>ppt_x</p:attrName>
                                        </p:attrNameLst>
                                      </p:cBhvr>
                                      <p:tavLst>
                                        <p:tav tm="0">
                                          <p:val>
                                            <p:strVal val="1+#ppt_w/2"/>
                                          </p:val>
                                        </p:tav>
                                        <p:tav tm="100000">
                                          <p:val>
                                            <p:strVal val="#ppt_x"/>
                                          </p:val>
                                        </p:tav>
                                      </p:tavLst>
                                    </p:anim>
                                    <p:anim calcmode="lin" valueType="num">
                                      <p:cBhvr additive="base">
                                        <p:cTn id="8" dur="500" fill="hold"/>
                                        <p:tgtEl>
                                          <p:spTgt spid="693253"/>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7"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7350" name="Rectangle 6"/>
          <p:cNvSpPr>
            <a:spLocks noGrp="1" noChangeArrowheads="1"/>
          </p:cNvSpPr>
          <p:nvPr>
            <p:ph type="body" idx="1"/>
          </p:nvPr>
        </p:nvSpPr>
        <p:spPr/>
        <p:txBody>
          <a:bodyPr/>
          <a:lstStyle/>
          <a:p>
            <a:pPr eaLnBrk="1" hangingPunct="1">
              <a:buClr>
                <a:srgbClr val="FF0000"/>
              </a:buClr>
              <a:defRPr/>
            </a:pPr>
            <a:r>
              <a:rPr lang="zh-CN" altLang="en-US" sz="2800" smtClean="0">
                <a:solidFill>
                  <a:srgbClr val="FF0000"/>
                </a:solidFill>
                <a:effectLst>
                  <a:outerShdw blurRad="38100" dist="38100" dir="2700000" algn="tl">
                    <a:srgbClr val="C0C0C0"/>
                  </a:outerShdw>
                </a:effectLst>
              </a:rPr>
              <a:t>有条件转移影响的流水线吞吐率</a:t>
            </a:r>
            <a:endParaRPr lang="zh-CN" altLang="en-US" sz="2800" smtClean="0">
              <a:solidFill>
                <a:srgbClr val="FF0000"/>
              </a:solidFill>
              <a:effectLst>
                <a:outerShdw blurRad="38100" dist="38100" dir="2700000" algn="tl">
                  <a:srgbClr val="C0C0C0"/>
                </a:outerShdw>
              </a:effectLst>
            </a:endParaRPr>
          </a:p>
          <a:p>
            <a:pPr eaLnBrk="1" hangingPunct="1">
              <a:defRPr/>
            </a:pPr>
            <a:endParaRPr lang="zh-CN" altLang="en-US" sz="2800" smtClean="0"/>
          </a:p>
          <a:p>
            <a:pPr eaLnBrk="1" hangingPunct="1">
              <a:defRPr/>
            </a:pPr>
            <a:endParaRPr lang="zh-CN" altLang="en-US" sz="2800" smtClean="0"/>
          </a:p>
          <a:p>
            <a:pPr eaLnBrk="1" hangingPunct="1">
              <a:defRPr/>
            </a:pPr>
            <a:endParaRPr lang="zh-CN" altLang="en-US" sz="2800" smtClean="0"/>
          </a:p>
          <a:p>
            <a:pPr eaLnBrk="1" hangingPunct="1">
              <a:buClr>
                <a:srgbClr val="FF0000"/>
              </a:buClr>
              <a:defRPr/>
            </a:pPr>
            <a:r>
              <a:rPr lang="zh-CN" altLang="en-US" sz="2800" smtClean="0">
                <a:solidFill>
                  <a:srgbClr val="FF0000"/>
                </a:solidFill>
                <a:effectLst>
                  <a:outerShdw blurRad="38100" dist="38100" dir="2700000" algn="tl">
                    <a:srgbClr val="C0C0C0"/>
                  </a:outerShdw>
                </a:effectLst>
              </a:rPr>
              <a:t>有条件转移影响的最大流水线吞吐率</a:t>
            </a:r>
            <a:endParaRPr lang="zh-CN" altLang="en-US" sz="2800" smtClean="0">
              <a:solidFill>
                <a:srgbClr val="FF0000"/>
              </a:solidFill>
              <a:effectLst>
                <a:outerShdw blurRad="38100" dist="38100" dir="2700000" algn="tl">
                  <a:srgbClr val="C0C0C0"/>
                </a:outerShdw>
              </a:effectLst>
            </a:endParaRPr>
          </a:p>
        </p:txBody>
      </p:sp>
      <p:sp>
        <p:nvSpPr>
          <p:cNvPr id="697346" name="Rectangle 2"/>
          <p:cNvSpPr>
            <a:spLocks noGrp="1" noChangeArrowheads="1"/>
          </p:cNvSpPr>
          <p:nvPr>
            <p:ph type="title"/>
          </p:nvPr>
        </p:nvSpPr>
        <p:spPr/>
        <p:txBody>
          <a:bodyPr/>
          <a:lstStyle/>
          <a:p>
            <a:pPr eaLnBrk="1" hangingPunct="1">
              <a:defRPr/>
            </a:pPr>
            <a:r>
              <a:rPr lang="zh-CN" altLang="en-US" smtClean="0"/>
              <a:t>条件转移的影响</a:t>
            </a:r>
            <a:endParaRPr lang="zh-CN" altLang="en-US" smtClean="0"/>
          </a:p>
        </p:txBody>
      </p:sp>
      <p:sp>
        <p:nvSpPr>
          <p:cNvPr id="159748"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endParaRPr lang="zh-CN" altLang="en-US" sz="1200" b="0">
              <a:latin typeface="Times New Roman" panose="02020603050405020304" pitchFamily="18" charset="0"/>
              <a:ea typeface="幼圆" panose="02010509060101010101" pitchFamily="49" charset="-122"/>
            </a:endParaRPr>
          </a:p>
        </p:txBody>
      </p:sp>
      <p:graphicFrame>
        <p:nvGraphicFramePr>
          <p:cNvPr id="697349" name="Object 5"/>
          <p:cNvGraphicFramePr>
            <a:graphicFrameLocks noChangeAspect="1"/>
          </p:cNvGraphicFramePr>
          <p:nvPr/>
        </p:nvGraphicFramePr>
        <p:xfrm>
          <a:off x="1979613" y="2781300"/>
          <a:ext cx="5268912" cy="1047750"/>
        </p:xfrm>
        <a:graphic>
          <a:graphicData uri="http://schemas.openxmlformats.org/presentationml/2006/ole">
            <mc:AlternateContent xmlns:mc="http://schemas.openxmlformats.org/markup-compatibility/2006">
              <mc:Choice xmlns:v="urn:schemas-microsoft-com:vml" Requires="v">
                <p:oleObj spid="_x0000_s159928" name="Equation" r:id="rId4" imgW="2108200" imgH="419100" progId="Equation.3">
                  <p:embed/>
                </p:oleObj>
              </mc:Choice>
              <mc:Fallback>
                <p:oleObj name="Equation" r:id="rId4" imgW="2108200" imgH="419100" progId="Equation.3">
                  <p:embed/>
                  <p:pic>
                    <p:nvPicPr>
                      <p:cNvPr id="0"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79613" y="2781300"/>
                        <a:ext cx="5268912" cy="104775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graphicFrame>
        <p:nvGraphicFramePr>
          <p:cNvPr id="697352" name="Object 8"/>
          <p:cNvGraphicFramePr>
            <a:graphicFrameLocks noChangeAspect="1"/>
          </p:cNvGraphicFramePr>
          <p:nvPr/>
        </p:nvGraphicFramePr>
        <p:xfrm>
          <a:off x="1979613" y="4941888"/>
          <a:ext cx="4284662" cy="1047750"/>
        </p:xfrm>
        <a:graphic>
          <a:graphicData uri="http://schemas.openxmlformats.org/presentationml/2006/ole">
            <mc:AlternateContent xmlns:mc="http://schemas.openxmlformats.org/markup-compatibility/2006">
              <mc:Choice xmlns:v="urn:schemas-microsoft-com:vml" Requires="v">
                <p:oleObj spid="_x0000_s159929" name="Equation" r:id="rId6" imgW="1714500" imgH="419100" progId="Equation.3">
                  <p:embed/>
                </p:oleObj>
              </mc:Choice>
              <mc:Fallback>
                <p:oleObj name="Equation" r:id="rId6" imgW="1714500" imgH="419100" progId="Equation.3">
                  <p:embed/>
                  <p:pic>
                    <p:nvPicPr>
                      <p:cNvPr id="0" name="Object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79613" y="4941888"/>
                        <a:ext cx="4284662" cy="104775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
        <p:nvSpPr>
          <p:cNvPr id="159751" name="Text Box 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8"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697349"/>
                                        </p:tgtEl>
                                        <p:attrNameLst>
                                          <p:attrName>style.visibility</p:attrName>
                                        </p:attrNameLst>
                                      </p:cBhvr>
                                      <p:to>
                                        <p:strVal val="visible"/>
                                      </p:to>
                                    </p:set>
                                    <p:anim calcmode="lin" valueType="num">
                                      <p:cBhvr additive="base">
                                        <p:cTn id="7" dur="500" fill="hold"/>
                                        <p:tgtEl>
                                          <p:spTgt spid="697349"/>
                                        </p:tgtEl>
                                        <p:attrNameLst>
                                          <p:attrName>ppt_x</p:attrName>
                                        </p:attrNameLst>
                                      </p:cBhvr>
                                      <p:tavLst>
                                        <p:tav tm="0">
                                          <p:val>
                                            <p:strVal val="1+#ppt_w/2"/>
                                          </p:val>
                                        </p:tav>
                                        <p:tav tm="100000">
                                          <p:val>
                                            <p:strVal val="#ppt_x"/>
                                          </p:val>
                                        </p:tav>
                                      </p:tavLst>
                                    </p:anim>
                                    <p:anim calcmode="lin" valueType="num">
                                      <p:cBhvr additive="base">
                                        <p:cTn id="8" dur="500" fill="hold"/>
                                        <p:tgtEl>
                                          <p:spTgt spid="697349"/>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9" name="chimes.wav"/>
                                        </p:tgtEl>
                                      </p:cMediaNode>
                                    </p:audio>
                                  </p:sub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697352"/>
                                        </p:tgtEl>
                                        <p:attrNameLst>
                                          <p:attrName>style.visibility</p:attrName>
                                        </p:attrNameLst>
                                      </p:cBhvr>
                                      <p:to>
                                        <p:strVal val="visible"/>
                                      </p:to>
                                    </p:set>
                                    <p:anim calcmode="lin" valueType="num">
                                      <p:cBhvr additive="base">
                                        <p:cTn id="13" dur="500" fill="hold"/>
                                        <p:tgtEl>
                                          <p:spTgt spid="697352"/>
                                        </p:tgtEl>
                                        <p:attrNameLst>
                                          <p:attrName>ppt_x</p:attrName>
                                        </p:attrNameLst>
                                      </p:cBhvr>
                                      <p:tavLst>
                                        <p:tav tm="0">
                                          <p:val>
                                            <p:strVal val="1+#ppt_w/2"/>
                                          </p:val>
                                        </p:tav>
                                        <p:tav tm="100000">
                                          <p:val>
                                            <p:strVal val="#ppt_x"/>
                                          </p:val>
                                        </p:tav>
                                      </p:tavLst>
                                    </p:anim>
                                    <p:anim calcmode="lin" valueType="num">
                                      <p:cBhvr additive="base">
                                        <p:cTn id="14" dur="500" fill="hold"/>
                                        <p:tgtEl>
                                          <p:spTgt spid="697352"/>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1"/>
                                            </p:cond>
                                          </p:stCondLst>
                                          <p:endCondLst>
                                            <p:cond evt="onStopAudio" delay="0">
                                              <p:tgtEl>
                                                <p:sldTgt/>
                                              </p:tgtEl>
                                            </p:cond>
                                          </p:endCondLst>
                                        </p:cTn>
                                        <p:tgtEl>
                                          <p:sndTgt r:embed="rId9"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8370" name="Rectangle 2"/>
          <p:cNvSpPr>
            <a:spLocks noGrp="1" noChangeArrowheads="1"/>
          </p:cNvSpPr>
          <p:nvPr>
            <p:ph type="body" idx="1"/>
          </p:nvPr>
        </p:nvSpPr>
        <p:spPr>
          <a:xfrm>
            <a:off x="809625" y="1989138"/>
            <a:ext cx="7958138" cy="4640262"/>
          </a:xfrm>
        </p:spPr>
        <p:txBody>
          <a:bodyPr/>
          <a:lstStyle/>
          <a:p>
            <a:pPr marL="0" indent="0" eaLnBrk="1" hangingPunct="1">
              <a:lnSpc>
                <a:spcPct val="95000"/>
              </a:lnSpc>
              <a:buClr>
                <a:srgbClr val="FF0000"/>
              </a:buClr>
              <a:defRPr/>
            </a:pPr>
            <a:r>
              <a:rPr lang="zh-CN" altLang="en-US" sz="2800" dirty="0" smtClean="0">
                <a:solidFill>
                  <a:srgbClr val="FF0000"/>
                </a:solidFill>
                <a:effectLst>
                  <a:outerShdw blurRad="38100" dist="38100" dir="2700000" algn="tl">
                    <a:srgbClr val="C0C0C0"/>
                  </a:outerShdw>
                </a:effectLst>
              </a:rPr>
              <a:t>  流水线吞吐率下降的比例</a:t>
            </a:r>
            <a:endParaRPr lang="en-US" altLang="zh-CN" sz="2800" dirty="0" smtClean="0">
              <a:solidFill>
                <a:srgbClr val="FF0000"/>
              </a:solidFill>
              <a:effectLst>
                <a:outerShdw blurRad="38100" dist="38100" dir="2700000" algn="tl">
                  <a:srgbClr val="C0C0C0"/>
                </a:outerShdw>
              </a:effectLst>
            </a:endParaRPr>
          </a:p>
          <a:p>
            <a:pPr marL="0" indent="0" eaLnBrk="1" hangingPunct="1">
              <a:lnSpc>
                <a:spcPct val="95000"/>
              </a:lnSpc>
              <a:defRPr/>
            </a:pPr>
            <a:endParaRPr lang="zh-CN" altLang="en-US" sz="2800" dirty="0" smtClean="0"/>
          </a:p>
          <a:p>
            <a:pPr marL="0" indent="0" eaLnBrk="1" hangingPunct="1">
              <a:lnSpc>
                <a:spcPct val="95000"/>
              </a:lnSpc>
              <a:defRPr/>
            </a:pPr>
            <a:endParaRPr lang="zh-CN" altLang="en-US" sz="2800" dirty="0" smtClean="0"/>
          </a:p>
          <a:p>
            <a:pPr marL="0" indent="0" eaLnBrk="1" hangingPunct="1">
              <a:lnSpc>
                <a:spcPct val="95000"/>
              </a:lnSpc>
              <a:defRPr/>
            </a:pPr>
            <a:endParaRPr lang="zh-CN" altLang="en-US" sz="2800" dirty="0" smtClean="0"/>
          </a:p>
          <a:p>
            <a:pPr marL="0" indent="0" eaLnBrk="1" hangingPunct="1">
              <a:lnSpc>
                <a:spcPct val="95000"/>
              </a:lnSpc>
              <a:buClr>
                <a:srgbClr val="FF0000"/>
              </a:buClr>
              <a:defRPr/>
            </a:pPr>
            <a:r>
              <a:rPr lang="zh-CN" altLang="en-US" sz="2800" dirty="0" smtClean="0">
                <a:solidFill>
                  <a:srgbClr val="FF0000"/>
                </a:solidFill>
                <a:effectLst>
                  <a:outerShdw blurRad="38100" dist="38100" dir="2700000" algn="tl">
                    <a:srgbClr val="C0C0C0"/>
                  </a:outerShdw>
                </a:effectLst>
              </a:rPr>
              <a:t>  例子</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95000"/>
              </a:lnSpc>
              <a:buClr>
                <a:srgbClr val="FF0000"/>
              </a:buClr>
              <a:buFont typeface="Wingdings" panose="05000000000000000000" pitchFamily="2" charset="2"/>
              <a:buNone/>
              <a:defRPr/>
            </a:pPr>
            <a:r>
              <a:rPr lang="zh-CN" altLang="en-US" sz="2800" dirty="0" smtClean="0"/>
              <a:t>    据统计：在一些典型程序中</a:t>
            </a:r>
            <a:r>
              <a:rPr lang="en-US" altLang="zh-CN" sz="2800" dirty="0" smtClean="0"/>
              <a:t>p=20%、q=60%，</a:t>
            </a:r>
            <a:r>
              <a:rPr lang="zh-CN" altLang="en-US" sz="2800" dirty="0" smtClean="0"/>
              <a:t>对于有8个流水段的指令流水线，最大吞吐率会下降46%；对于有10个流水段的指令流水线，最大吞吐率会下降52%。</a:t>
            </a:r>
            <a:r>
              <a:rPr lang="zh-CN" altLang="en-US" sz="2800" dirty="0" smtClean="0">
                <a:solidFill>
                  <a:srgbClr val="0000CC"/>
                </a:solidFill>
                <a:effectLst>
                  <a:outerShdw blurRad="38100" dist="38100" dir="2700000" algn="tl">
                    <a:srgbClr val="C0C0C0"/>
                  </a:outerShdw>
                </a:effectLst>
              </a:rPr>
              <a:t>条件转移指令对指令流水线的影响很大，必须采取措施降低影响</a:t>
            </a:r>
            <a:r>
              <a:rPr lang="zh-CN" altLang="en-US" sz="2800" dirty="0" smtClean="0"/>
              <a:t>。</a:t>
            </a:r>
            <a:endParaRPr lang="zh-CN" altLang="en-US" sz="2800" dirty="0" smtClean="0"/>
          </a:p>
        </p:txBody>
      </p:sp>
      <p:sp>
        <p:nvSpPr>
          <p:cNvPr id="698371" name="Rectangle 3"/>
          <p:cNvSpPr>
            <a:spLocks noGrp="1" noChangeArrowheads="1"/>
          </p:cNvSpPr>
          <p:nvPr>
            <p:ph type="title"/>
          </p:nvPr>
        </p:nvSpPr>
        <p:spPr/>
        <p:txBody>
          <a:bodyPr/>
          <a:lstStyle/>
          <a:p>
            <a:pPr eaLnBrk="1" hangingPunct="1">
              <a:defRPr/>
            </a:pPr>
            <a:r>
              <a:rPr lang="zh-CN" altLang="en-US" smtClean="0"/>
              <a:t>条件转移的影响</a:t>
            </a:r>
            <a:endParaRPr lang="zh-CN" altLang="en-US" smtClean="0"/>
          </a:p>
        </p:txBody>
      </p:sp>
      <p:sp>
        <p:nvSpPr>
          <p:cNvPr id="160772"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endParaRPr lang="zh-CN" altLang="en-US" sz="1200" b="0">
              <a:latin typeface="Times New Roman" panose="02020603050405020304" pitchFamily="18" charset="0"/>
              <a:ea typeface="幼圆" panose="02010509060101010101" pitchFamily="49" charset="-122"/>
            </a:endParaRPr>
          </a:p>
        </p:txBody>
      </p:sp>
      <p:graphicFrame>
        <p:nvGraphicFramePr>
          <p:cNvPr id="698373" name="Object 5"/>
          <p:cNvGraphicFramePr>
            <a:graphicFrameLocks noChangeAspect="1"/>
          </p:cNvGraphicFramePr>
          <p:nvPr/>
        </p:nvGraphicFramePr>
        <p:xfrm>
          <a:off x="2339975" y="2708275"/>
          <a:ext cx="5713413" cy="1079500"/>
        </p:xfrm>
        <a:graphic>
          <a:graphicData uri="http://schemas.openxmlformats.org/presentationml/2006/ole">
            <mc:AlternateContent xmlns:mc="http://schemas.openxmlformats.org/markup-compatibility/2006">
              <mc:Choice xmlns:v="urn:schemas-microsoft-com:vml" Requires="v">
                <p:oleObj spid="_x0000_s160863" name="Equation" r:id="rId4" imgW="2286000" imgH="431800" progId="Equation.3">
                  <p:embed/>
                </p:oleObj>
              </mc:Choice>
              <mc:Fallback>
                <p:oleObj name="Equation" r:id="rId4" imgW="2286000" imgH="431800" progId="Equation.3">
                  <p:embed/>
                  <p:pic>
                    <p:nvPicPr>
                      <p:cNvPr id="0"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39975" y="2708275"/>
                        <a:ext cx="5713413" cy="107950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
        <p:nvSpPr>
          <p:cNvPr id="160774"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698373"/>
                                        </p:tgtEl>
                                        <p:attrNameLst>
                                          <p:attrName>style.visibility</p:attrName>
                                        </p:attrNameLst>
                                      </p:cBhvr>
                                      <p:to>
                                        <p:strVal val="visible"/>
                                      </p:to>
                                    </p:set>
                                    <p:anim calcmode="lin" valueType="num">
                                      <p:cBhvr additive="base">
                                        <p:cTn id="7" dur="500" fill="hold"/>
                                        <p:tgtEl>
                                          <p:spTgt spid="698373"/>
                                        </p:tgtEl>
                                        <p:attrNameLst>
                                          <p:attrName>ppt_x</p:attrName>
                                        </p:attrNameLst>
                                      </p:cBhvr>
                                      <p:tavLst>
                                        <p:tav tm="0">
                                          <p:val>
                                            <p:strVal val="1+#ppt_w/2"/>
                                          </p:val>
                                        </p:tav>
                                        <p:tav tm="100000">
                                          <p:val>
                                            <p:strVal val="#ppt_x"/>
                                          </p:val>
                                        </p:tav>
                                      </p:tavLst>
                                    </p:anim>
                                    <p:anim calcmode="lin" valueType="num">
                                      <p:cBhvr additive="base">
                                        <p:cTn id="8" dur="500" fill="hold"/>
                                        <p:tgtEl>
                                          <p:spTgt spid="698373"/>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7"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62" name="Rectangle 2"/>
          <p:cNvSpPr>
            <a:spLocks noGrp="1" noChangeArrowheads="1"/>
          </p:cNvSpPr>
          <p:nvPr>
            <p:ph type="title"/>
          </p:nvPr>
        </p:nvSpPr>
        <p:spPr/>
        <p:txBody>
          <a:bodyPr/>
          <a:lstStyle/>
          <a:p>
            <a:pPr eaLnBrk="1" hangingPunct="1">
              <a:defRPr/>
            </a:pPr>
            <a:r>
              <a:rPr lang="zh-CN" altLang="en-US" smtClean="0"/>
              <a:t>条件转移的处理</a:t>
            </a:r>
            <a:endParaRPr lang="zh-CN" altLang="en-US" smtClean="0"/>
          </a:p>
        </p:txBody>
      </p:sp>
      <p:sp>
        <p:nvSpPr>
          <p:cNvPr id="161795"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endParaRPr lang="zh-CN" altLang="en-US" sz="1200" b="0">
              <a:latin typeface="Times New Roman" panose="02020603050405020304" pitchFamily="18" charset="0"/>
              <a:ea typeface="幼圆" panose="02010509060101010101" pitchFamily="49" charset="-122"/>
            </a:endParaRPr>
          </a:p>
        </p:txBody>
      </p:sp>
      <p:sp>
        <p:nvSpPr>
          <p:cNvPr id="706565" name="Rectangle 5"/>
          <p:cNvSpPr>
            <a:spLocks noGrp="1" noChangeArrowheads="1"/>
          </p:cNvSpPr>
          <p:nvPr>
            <p:ph type="body" idx="1"/>
          </p:nvPr>
        </p:nvSpPr>
        <p:spPr>
          <a:xfrm>
            <a:off x="2627313" y="2205038"/>
            <a:ext cx="3762375" cy="4103687"/>
          </a:xfrm>
        </p:spPr>
        <p:txBody>
          <a:bodyPr/>
          <a:lstStyle/>
          <a:p>
            <a:pPr eaLnBrk="1" hangingPunct="1">
              <a:lnSpc>
                <a:spcPct val="150000"/>
              </a:lnSpc>
              <a:buClr>
                <a:srgbClr val="FF0000"/>
              </a:buClr>
              <a:defRPr/>
            </a:pPr>
            <a:r>
              <a:rPr lang="zh-CN" altLang="en-US" smtClean="0">
                <a:solidFill>
                  <a:srgbClr val="FF0000"/>
                </a:solidFill>
                <a:effectLst>
                  <a:outerShdw blurRad="38100" dist="38100" dir="2700000" algn="tl">
                    <a:srgbClr val="C0C0C0"/>
                  </a:outerShdw>
                </a:effectLst>
              </a:rPr>
              <a:t>条件出来前</a:t>
            </a:r>
            <a:endParaRPr lang="zh-CN" altLang="en-US" smtClean="0">
              <a:solidFill>
                <a:srgbClr val="FF0000"/>
              </a:solidFill>
              <a:effectLst>
                <a:outerShdw blurRad="38100" dist="38100" dir="2700000" algn="tl">
                  <a:srgbClr val="C0C0C0"/>
                </a:outerShdw>
              </a:effectLst>
            </a:endParaRPr>
          </a:p>
          <a:p>
            <a:pPr lvl="1" eaLnBrk="1" hangingPunct="1">
              <a:lnSpc>
                <a:spcPct val="150000"/>
              </a:lnSpc>
              <a:defRPr/>
            </a:pPr>
            <a:r>
              <a:rPr lang="zh-CN" altLang="en-US" smtClean="0">
                <a:hlinkClick r:id="rId4" action="ppaction://hlinksldjump"/>
              </a:rPr>
              <a:t>提前形成条件码</a:t>
            </a:r>
            <a:endParaRPr lang="en-US" altLang="zh-CN" smtClean="0"/>
          </a:p>
          <a:p>
            <a:pPr lvl="1" eaLnBrk="1" hangingPunct="1">
              <a:lnSpc>
                <a:spcPct val="150000"/>
              </a:lnSpc>
              <a:defRPr/>
            </a:pPr>
            <a:r>
              <a:rPr lang="zh-CN" altLang="en-US" smtClean="0">
                <a:hlinkClick r:id="rId5" action="ppaction://hlinksldjump"/>
              </a:rPr>
              <a:t>预测</a:t>
            </a:r>
            <a:endParaRPr lang="zh-CN" altLang="en-US" smtClean="0"/>
          </a:p>
          <a:p>
            <a:pPr eaLnBrk="1" hangingPunct="1">
              <a:lnSpc>
                <a:spcPct val="150000"/>
              </a:lnSpc>
              <a:buClr>
                <a:srgbClr val="FF0000"/>
              </a:buClr>
              <a:defRPr/>
            </a:pPr>
            <a:r>
              <a:rPr lang="zh-CN" altLang="en-US" smtClean="0">
                <a:solidFill>
                  <a:srgbClr val="FF0000"/>
                </a:solidFill>
                <a:effectLst>
                  <a:outerShdw blurRad="38100" dist="38100" dir="2700000" algn="tl">
                    <a:srgbClr val="C0C0C0"/>
                  </a:outerShdw>
                </a:effectLst>
              </a:rPr>
              <a:t>条件出来后</a:t>
            </a:r>
            <a:endParaRPr lang="zh-CN" altLang="en-US" smtClean="0">
              <a:solidFill>
                <a:srgbClr val="FF0000"/>
              </a:solidFill>
              <a:effectLst>
                <a:outerShdw blurRad="38100" dist="38100" dir="2700000" algn="tl">
                  <a:srgbClr val="C0C0C0"/>
                </a:outerShdw>
              </a:effectLst>
            </a:endParaRPr>
          </a:p>
          <a:p>
            <a:pPr lvl="1" eaLnBrk="1" hangingPunct="1">
              <a:lnSpc>
                <a:spcPct val="150000"/>
              </a:lnSpc>
              <a:defRPr/>
            </a:pPr>
            <a:r>
              <a:rPr lang="zh-CN" altLang="en-US" smtClean="0"/>
              <a:t>停顿</a:t>
            </a:r>
            <a:endParaRPr lang="zh-CN" altLang="en-US" smtClean="0"/>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7586" name="Rectangle 2"/>
          <p:cNvSpPr>
            <a:spLocks noGrp="1" noChangeArrowheads="1"/>
          </p:cNvSpPr>
          <p:nvPr>
            <p:ph type="title"/>
          </p:nvPr>
        </p:nvSpPr>
        <p:spPr/>
        <p:txBody>
          <a:bodyPr/>
          <a:lstStyle/>
          <a:p>
            <a:pPr eaLnBrk="1" hangingPunct="1">
              <a:defRPr/>
            </a:pPr>
            <a:r>
              <a:rPr lang="zh-CN" altLang="en-US" smtClean="0"/>
              <a:t>提前形成条件码</a:t>
            </a:r>
            <a:endParaRPr lang="zh-CN" altLang="en-US" smtClean="0"/>
          </a:p>
        </p:txBody>
      </p:sp>
      <p:sp>
        <p:nvSpPr>
          <p:cNvPr id="16281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endParaRPr lang="zh-CN" altLang="en-US" sz="1200" b="0">
              <a:latin typeface="Times New Roman" panose="02020603050405020304" pitchFamily="18" charset="0"/>
              <a:ea typeface="幼圆" panose="02010509060101010101" pitchFamily="49" charset="-122"/>
            </a:endParaRPr>
          </a:p>
        </p:txBody>
      </p:sp>
      <p:sp>
        <p:nvSpPr>
          <p:cNvPr id="707589" name="Rectangle 5"/>
          <p:cNvSpPr>
            <a:spLocks noGrp="1" noChangeArrowheads="1"/>
          </p:cNvSpPr>
          <p:nvPr>
            <p:ph type="body" idx="1"/>
          </p:nvPr>
        </p:nvSpPr>
        <p:spPr/>
        <p:txBody>
          <a:bodyPr/>
          <a:lstStyle/>
          <a:p>
            <a:pPr marL="0" indent="0" eaLnBrk="1" hangingPunct="1">
              <a:lnSpc>
                <a:spcPct val="114000"/>
              </a:lnSpc>
              <a:buClr>
                <a:srgbClr val="FF0000"/>
              </a:buClr>
              <a:defRPr/>
            </a:pPr>
            <a:r>
              <a:rPr lang="zh-CN" altLang="en-US" sz="2600" dirty="0" smtClean="0">
                <a:solidFill>
                  <a:srgbClr val="FF0000"/>
                </a:solidFill>
                <a:effectLst>
                  <a:outerShdw blurRad="38100" dist="38100" dir="2700000" algn="tl">
                    <a:srgbClr val="C0C0C0"/>
                  </a:outerShdw>
                </a:effectLst>
              </a:rPr>
              <a:t>  可在运算开始或中间产生条件码</a:t>
            </a:r>
            <a:endParaRPr lang="zh-CN" altLang="en-US" sz="2600" dirty="0" smtClean="0">
              <a:solidFill>
                <a:srgbClr val="FF0000"/>
              </a:solidFill>
              <a:effectLst>
                <a:outerShdw blurRad="38100" dist="38100" dir="2700000" algn="tl">
                  <a:srgbClr val="C0C0C0"/>
                </a:outerShdw>
              </a:effectLst>
            </a:endParaRPr>
          </a:p>
          <a:p>
            <a:pPr marL="0" indent="0" eaLnBrk="1" hangingPunct="1">
              <a:lnSpc>
                <a:spcPct val="114000"/>
              </a:lnSpc>
              <a:buFont typeface="Wingdings" panose="05000000000000000000" pitchFamily="2" charset="2"/>
              <a:buNone/>
              <a:defRPr/>
            </a:pPr>
            <a:r>
              <a:rPr lang="zh-CN" altLang="en-US" sz="2600" dirty="0" smtClean="0"/>
              <a:t>    在绝大多数情况下，只要在运算部件的入口处设置一个</a:t>
            </a:r>
            <a:r>
              <a:rPr lang="zh-CN" altLang="en-US" sz="2600" dirty="0" smtClean="0">
                <a:solidFill>
                  <a:srgbClr val="0000FF"/>
                </a:solidFill>
              </a:rPr>
              <a:t>比较器</a:t>
            </a:r>
            <a:r>
              <a:rPr lang="zh-CN" altLang="en-US" sz="2600" dirty="0" smtClean="0"/>
              <a:t>，通过比较两个操作数的符号或者阶码就能够提前形成结果的</a:t>
            </a:r>
            <a:r>
              <a:rPr lang="zh-CN" altLang="en-US" sz="2600" dirty="0" smtClean="0">
                <a:solidFill>
                  <a:srgbClr val="0000FF"/>
                </a:solidFill>
              </a:rPr>
              <a:t>正负号</a:t>
            </a:r>
            <a:r>
              <a:rPr lang="zh-CN" altLang="en-US" sz="2600" dirty="0" smtClean="0"/>
              <a:t>、</a:t>
            </a:r>
            <a:r>
              <a:rPr lang="zh-CN" altLang="en-US" sz="2600" dirty="0" smtClean="0">
                <a:solidFill>
                  <a:srgbClr val="0000FF"/>
                </a:solidFill>
              </a:rPr>
              <a:t>是否为0</a:t>
            </a:r>
            <a:r>
              <a:rPr lang="zh-CN" altLang="en-US" sz="2600" dirty="0" smtClean="0"/>
              <a:t>、</a:t>
            </a:r>
            <a:r>
              <a:rPr lang="zh-CN" altLang="en-US" sz="2600" dirty="0" smtClean="0">
                <a:solidFill>
                  <a:srgbClr val="0000FF"/>
                </a:solidFill>
              </a:rPr>
              <a:t>是否溢出</a:t>
            </a:r>
            <a:r>
              <a:rPr lang="zh-CN" altLang="en-US" sz="2600" dirty="0" smtClean="0"/>
              <a:t>等条件码。如果在一个时钟周期之内产生条件码，则正好可以提供给下一条条件转移指令使用，这样流水线就不会“断流”。</a:t>
            </a:r>
            <a:endParaRPr lang="en-US" altLang="zh-CN" sz="2600" dirty="0" smtClean="0"/>
          </a:p>
          <a:p>
            <a:pPr marL="0" indent="0" eaLnBrk="1" hangingPunct="1">
              <a:lnSpc>
                <a:spcPct val="114000"/>
              </a:lnSpc>
              <a:buFont typeface="Wingdings" panose="05000000000000000000" pitchFamily="2" charset="2"/>
              <a:buNone/>
              <a:defRPr/>
            </a:pPr>
            <a:r>
              <a:rPr lang="en-US" altLang="zh-CN" sz="2600" dirty="0"/>
              <a:t> </a:t>
            </a:r>
            <a:r>
              <a:rPr lang="en-US" altLang="zh-CN" sz="2600" dirty="0" smtClean="0"/>
              <a:t>   </a:t>
            </a:r>
            <a:r>
              <a:rPr lang="zh-CN" altLang="en-US" sz="2600" dirty="0" smtClean="0"/>
              <a:t>例如：</a:t>
            </a:r>
            <a:r>
              <a:rPr lang="en-US" altLang="zh-CN" sz="2600" dirty="0" smtClean="0"/>
              <a:t>Amdahl 470V/6</a:t>
            </a:r>
            <a:r>
              <a:rPr lang="zh-CN" altLang="en-US" sz="2600" dirty="0" smtClean="0"/>
              <a:t>计算机在运算部件的入口处设置一个</a:t>
            </a:r>
            <a:r>
              <a:rPr lang="en-US" altLang="zh-CN" sz="2600" dirty="0" smtClean="0">
                <a:solidFill>
                  <a:srgbClr val="0000FF"/>
                </a:solidFill>
              </a:rPr>
              <a:t>LOCK</a:t>
            </a:r>
            <a:r>
              <a:rPr lang="zh-CN" altLang="en-US" sz="2600" dirty="0" smtClean="0">
                <a:solidFill>
                  <a:srgbClr val="0000FF"/>
                </a:solidFill>
              </a:rPr>
              <a:t>部件</a:t>
            </a:r>
            <a:r>
              <a:rPr lang="zh-CN" altLang="en-US" sz="2600" dirty="0" smtClean="0"/>
              <a:t>来预判条件码。</a:t>
            </a:r>
            <a:endParaRPr lang="zh-CN" altLang="en-US" sz="2600" dirty="0" smtClean="0"/>
          </a:p>
        </p:txBody>
      </p:sp>
      <p:sp>
        <p:nvSpPr>
          <p:cNvPr id="162821"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9634" name="Rectangle 2"/>
          <p:cNvSpPr>
            <a:spLocks noGrp="1" noChangeArrowheads="1"/>
          </p:cNvSpPr>
          <p:nvPr>
            <p:ph type="title"/>
          </p:nvPr>
        </p:nvSpPr>
        <p:spPr/>
        <p:txBody>
          <a:bodyPr/>
          <a:lstStyle/>
          <a:p>
            <a:pPr eaLnBrk="1" hangingPunct="1">
              <a:defRPr/>
            </a:pPr>
            <a:r>
              <a:rPr lang="zh-CN" altLang="en-US" smtClean="0"/>
              <a:t>提前形成条件码</a:t>
            </a:r>
            <a:endParaRPr lang="zh-CN" altLang="en-US" smtClean="0"/>
          </a:p>
        </p:txBody>
      </p:sp>
      <p:sp>
        <p:nvSpPr>
          <p:cNvPr id="1638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endParaRPr lang="zh-CN" altLang="en-US" sz="1200" b="0">
              <a:latin typeface="Times New Roman" panose="02020603050405020304" pitchFamily="18" charset="0"/>
              <a:ea typeface="幼圆" panose="02010509060101010101" pitchFamily="49" charset="-122"/>
            </a:endParaRPr>
          </a:p>
        </p:txBody>
      </p:sp>
      <p:sp>
        <p:nvSpPr>
          <p:cNvPr id="709636" name="Rectangle 4"/>
          <p:cNvSpPr>
            <a:spLocks noGrp="1" noChangeArrowheads="1"/>
          </p:cNvSpPr>
          <p:nvPr>
            <p:ph type="body" idx="1"/>
          </p:nvPr>
        </p:nvSpPr>
        <p:spPr/>
        <p:txBody>
          <a:bodyPr/>
          <a:lstStyle/>
          <a:p>
            <a:pPr marL="0" indent="0" eaLnBrk="1" hangingPunct="1">
              <a:lnSpc>
                <a:spcPct val="110000"/>
              </a:lnSpc>
              <a:buClr>
                <a:srgbClr val="FF0000"/>
              </a:buClr>
              <a:tabLst>
                <a:tab pos="1428750" algn="l"/>
                <a:tab pos="4098925" algn="l"/>
              </a:tabLst>
              <a:defRPr/>
            </a:pPr>
            <a:r>
              <a:rPr lang="zh-CN" altLang="en-US" sz="2400" smtClean="0">
                <a:solidFill>
                  <a:srgbClr val="FF0000"/>
                </a:solidFill>
                <a:effectLst>
                  <a:outerShdw blurRad="38100" dist="38100" dir="2700000" algn="tl">
                    <a:srgbClr val="C0C0C0"/>
                  </a:outerShdw>
                </a:effectLst>
              </a:rPr>
              <a:t>  加快循环内条件码形成</a:t>
            </a:r>
            <a:endParaRPr lang="zh-CN" altLang="en-US" sz="2400" smtClean="0">
              <a:solidFill>
                <a:srgbClr val="FF0000"/>
              </a:solidFill>
              <a:effectLst>
                <a:outerShdw blurRad="38100" dist="38100" dir="2700000" algn="tl">
                  <a:srgbClr val="C0C0C0"/>
                </a:outerShdw>
              </a:effectLst>
            </a:endParaRPr>
          </a:p>
          <a:p>
            <a:pPr marL="0" indent="0" eaLnBrk="1" hangingPunct="1">
              <a:lnSpc>
                <a:spcPct val="110000"/>
              </a:lnSpc>
              <a:buFont typeface="Wingdings" panose="05000000000000000000" pitchFamily="2" charset="2"/>
              <a:buNone/>
              <a:tabLst>
                <a:tab pos="1428750" algn="l"/>
                <a:tab pos="4098925" algn="l"/>
              </a:tabLst>
              <a:defRPr/>
            </a:pPr>
            <a:r>
              <a:rPr lang="zh-CN" altLang="en-US" sz="2400" smtClean="0">
                <a:solidFill>
                  <a:srgbClr val="009900"/>
                </a:solidFill>
                <a:effectLst>
                  <a:outerShdw blurRad="38100" dist="38100" dir="2700000" algn="tl">
                    <a:srgbClr val="C0C0C0"/>
                  </a:outerShdw>
                </a:effectLst>
              </a:rPr>
              <a:t>编译前：</a:t>
            </a:r>
            <a:r>
              <a:rPr lang="zh-CN" altLang="en-US" sz="2400" smtClean="0"/>
              <a:t>	</a:t>
            </a:r>
            <a:endParaRPr lang="zh-CN" altLang="en-US" sz="2400" smtClean="0"/>
          </a:p>
          <a:p>
            <a:pPr marL="0" indent="0" eaLnBrk="1" hangingPunct="1">
              <a:lnSpc>
                <a:spcPct val="110000"/>
              </a:lnSpc>
              <a:buFont typeface="Wingdings" panose="05000000000000000000" pitchFamily="2" charset="2"/>
              <a:buNone/>
              <a:tabLst>
                <a:tab pos="1428750" algn="l"/>
                <a:tab pos="4098925" algn="l"/>
              </a:tabLst>
              <a:defRPr/>
            </a:pPr>
            <a:r>
              <a:rPr lang="en-US" altLang="zh-CN" sz="2400" smtClean="0"/>
              <a:t>	LOAD R1,NUM	;</a:t>
            </a:r>
            <a:r>
              <a:rPr lang="zh-CN" altLang="en-US" sz="2400" smtClean="0"/>
              <a:t>循环次数初值装入</a:t>
            </a:r>
            <a:r>
              <a:rPr lang="en-US" altLang="zh-CN" sz="2400" smtClean="0"/>
              <a:t>R1</a:t>
            </a:r>
            <a:endParaRPr lang="en-US" altLang="zh-CN" sz="2400" smtClean="0"/>
          </a:p>
          <a:p>
            <a:pPr marL="0" indent="0" eaLnBrk="1" hangingPunct="1">
              <a:lnSpc>
                <a:spcPct val="110000"/>
              </a:lnSpc>
              <a:buFont typeface="Wingdings" panose="05000000000000000000" pitchFamily="2" charset="2"/>
              <a:buNone/>
              <a:tabLst>
                <a:tab pos="1428750" algn="l"/>
                <a:tab pos="4098925" algn="l"/>
              </a:tabLst>
              <a:defRPr/>
            </a:pPr>
            <a:r>
              <a:rPr lang="en-US" altLang="zh-CN" sz="2400" smtClean="0"/>
              <a:t>LOOP：	……	;</a:t>
            </a:r>
            <a:r>
              <a:rPr lang="zh-CN" altLang="en-US" sz="2400" smtClean="0"/>
              <a:t>循环体开始</a:t>
            </a:r>
            <a:endParaRPr lang="zh-CN" altLang="en-US" sz="2400" smtClean="0"/>
          </a:p>
          <a:p>
            <a:pPr marL="0" indent="0" eaLnBrk="1" hangingPunct="1">
              <a:lnSpc>
                <a:spcPct val="110000"/>
              </a:lnSpc>
              <a:buFont typeface="Wingdings" panose="05000000000000000000" pitchFamily="2" charset="2"/>
              <a:buNone/>
              <a:tabLst>
                <a:tab pos="1428750" algn="l"/>
                <a:tab pos="4098925" algn="l"/>
              </a:tabLst>
              <a:defRPr/>
            </a:pPr>
            <a:r>
              <a:rPr lang="zh-CN" altLang="en-US" sz="2400" smtClean="0"/>
              <a:t>	……</a:t>
            </a:r>
            <a:endParaRPr lang="zh-CN" altLang="en-US" sz="2400" smtClean="0"/>
          </a:p>
          <a:p>
            <a:pPr marL="0" indent="0" eaLnBrk="1" hangingPunct="1">
              <a:lnSpc>
                <a:spcPct val="110000"/>
              </a:lnSpc>
              <a:buFont typeface="Wingdings" panose="05000000000000000000" pitchFamily="2" charset="2"/>
              <a:buNone/>
              <a:tabLst>
                <a:tab pos="1428750" algn="l"/>
                <a:tab pos="4098925" algn="l"/>
              </a:tabLst>
              <a:defRPr/>
            </a:pPr>
            <a:r>
              <a:rPr lang="zh-CN" altLang="en-US" sz="2400" smtClean="0"/>
              <a:t>	</a:t>
            </a:r>
            <a:r>
              <a:rPr lang="en-US" altLang="zh-CN" sz="2400" smtClean="0">
                <a:solidFill>
                  <a:srgbClr val="0000CC"/>
                </a:solidFill>
                <a:effectLst>
                  <a:outerShdw blurRad="38100" dist="38100" dir="2700000" algn="tl">
                    <a:srgbClr val="C0C0C0"/>
                  </a:outerShdw>
                </a:effectLst>
              </a:rPr>
              <a:t>DEC  R1</a:t>
            </a:r>
            <a:r>
              <a:rPr lang="en-US" altLang="zh-CN" sz="2400" smtClean="0">
                <a:solidFill>
                  <a:srgbClr val="0000CC"/>
                </a:solidFill>
              </a:rPr>
              <a:t>	</a:t>
            </a:r>
            <a:r>
              <a:rPr lang="en-US" altLang="zh-CN" sz="2400" smtClean="0"/>
              <a:t>;</a:t>
            </a:r>
            <a:r>
              <a:rPr lang="zh-CN" altLang="en-US" sz="2400" smtClean="0"/>
              <a:t>循环次数减“1”</a:t>
            </a:r>
            <a:endParaRPr lang="zh-CN" altLang="en-US" sz="2400" smtClean="0"/>
          </a:p>
          <a:p>
            <a:pPr marL="0" indent="0" eaLnBrk="1" hangingPunct="1">
              <a:lnSpc>
                <a:spcPct val="110000"/>
              </a:lnSpc>
              <a:buFont typeface="Wingdings" panose="05000000000000000000" pitchFamily="2" charset="2"/>
              <a:buNone/>
              <a:tabLst>
                <a:tab pos="1428750" algn="l"/>
                <a:tab pos="4098925" algn="l"/>
              </a:tabLst>
              <a:defRPr/>
            </a:pPr>
            <a:r>
              <a:rPr lang="zh-CN" altLang="en-US" sz="2400" smtClean="0">
                <a:solidFill>
                  <a:srgbClr val="0000CC"/>
                </a:solidFill>
              </a:rPr>
              <a:t>	</a:t>
            </a:r>
            <a:r>
              <a:rPr lang="en-US" altLang="zh-CN" sz="2400" smtClean="0">
                <a:solidFill>
                  <a:srgbClr val="0000CC"/>
                </a:solidFill>
                <a:effectLst>
                  <a:outerShdw blurRad="38100" dist="38100" dir="2700000" algn="tl">
                    <a:srgbClr val="C0C0C0"/>
                  </a:outerShdw>
                </a:effectLst>
              </a:rPr>
              <a:t>BNE  LOOP</a:t>
            </a:r>
            <a:r>
              <a:rPr lang="en-US" altLang="zh-CN" sz="2400" smtClean="0"/>
              <a:t>	;</a:t>
            </a:r>
            <a:r>
              <a:rPr lang="zh-CN" altLang="en-US" sz="2400" smtClean="0"/>
              <a:t>测试循环是否则结束</a:t>
            </a:r>
            <a:endParaRPr lang="zh-CN" altLang="en-US" sz="2400" smtClean="0"/>
          </a:p>
          <a:p>
            <a:pPr marL="0" indent="0" eaLnBrk="1" hangingPunct="1">
              <a:lnSpc>
                <a:spcPct val="110000"/>
              </a:lnSpc>
              <a:buFont typeface="Wingdings" panose="05000000000000000000" pitchFamily="2" charset="2"/>
              <a:buNone/>
              <a:tabLst>
                <a:tab pos="1428750" algn="l"/>
                <a:tab pos="4098925" algn="l"/>
              </a:tabLst>
              <a:defRPr/>
            </a:pPr>
            <a:r>
              <a:rPr lang="zh-CN" altLang="en-US" sz="2400" smtClean="0"/>
              <a:t>	</a:t>
            </a:r>
            <a:r>
              <a:rPr lang="en-US" altLang="zh-CN" sz="2400" smtClean="0"/>
              <a:t>HALT	;</a:t>
            </a:r>
            <a:r>
              <a:rPr lang="zh-CN" altLang="en-US" sz="2400" smtClean="0"/>
              <a:t>程序结束</a:t>
            </a:r>
            <a:endParaRPr lang="zh-CN" altLang="en-US" sz="2400" smtClean="0"/>
          </a:p>
          <a:p>
            <a:pPr marL="0" indent="0" eaLnBrk="1" hangingPunct="1">
              <a:lnSpc>
                <a:spcPct val="110000"/>
              </a:lnSpc>
              <a:buFont typeface="Wingdings" panose="05000000000000000000" pitchFamily="2" charset="2"/>
              <a:buNone/>
              <a:tabLst>
                <a:tab pos="1428750" algn="l"/>
                <a:tab pos="4098925" algn="l"/>
              </a:tabLst>
              <a:defRPr/>
            </a:pPr>
            <a:r>
              <a:rPr lang="en-US" altLang="zh-CN" sz="2400" smtClean="0"/>
              <a:t>NUM：	n</a:t>
            </a:r>
            <a:endParaRPr lang="zh-CN" altLang="en-US" sz="2400" smtClean="0"/>
          </a:p>
        </p:txBody>
      </p:sp>
      <p:sp>
        <p:nvSpPr>
          <p:cNvPr id="16384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0658" name="Rectangle 2"/>
          <p:cNvSpPr>
            <a:spLocks noGrp="1" noChangeArrowheads="1"/>
          </p:cNvSpPr>
          <p:nvPr>
            <p:ph type="title"/>
          </p:nvPr>
        </p:nvSpPr>
        <p:spPr/>
        <p:txBody>
          <a:bodyPr/>
          <a:lstStyle/>
          <a:p>
            <a:pPr eaLnBrk="1" hangingPunct="1">
              <a:defRPr/>
            </a:pPr>
            <a:r>
              <a:rPr lang="zh-CN" altLang="en-US" smtClean="0"/>
              <a:t>提前形成条件码</a:t>
            </a:r>
            <a:endParaRPr lang="zh-CN" altLang="en-US" smtClean="0"/>
          </a:p>
        </p:txBody>
      </p:sp>
      <p:sp>
        <p:nvSpPr>
          <p:cNvPr id="16486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endParaRPr lang="zh-CN" altLang="en-US" sz="1200" b="0">
              <a:latin typeface="Times New Roman" panose="02020603050405020304" pitchFamily="18" charset="0"/>
              <a:ea typeface="幼圆" panose="02010509060101010101" pitchFamily="49" charset="-122"/>
            </a:endParaRPr>
          </a:p>
        </p:txBody>
      </p:sp>
      <p:sp>
        <p:nvSpPr>
          <p:cNvPr id="710660" name="Rectangle 4"/>
          <p:cNvSpPr>
            <a:spLocks noGrp="1" noChangeArrowheads="1"/>
          </p:cNvSpPr>
          <p:nvPr>
            <p:ph type="body" idx="1"/>
          </p:nvPr>
        </p:nvSpPr>
        <p:spPr>
          <a:xfrm>
            <a:off x="809625" y="1989138"/>
            <a:ext cx="8181975" cy="4411662"/>
          </a:xfrm>
        </p:spPr>
        <p:txBody>
          <a:bodyPr/>
          <a:lstStyle/>
          <a:p>
            <a:pPr marL="0" indent="0" eaLnBrk="1" hangingPunct="1">
              <a:buClr>
                <a:srgbClr val="FF0000"/>
              </a:buClr>
              <a:tabLst>
                <a:tab pos="1054100" algn="l"/>
                <a:tab pos="4098925" algn="l"/>
              </a:tabLst>
              <a:defRPr/>
            </a:pPr>
            <a:r>
              <a:rPr lang="zh-CN" altLang="en-US" sz="2400" smtClean="0">
                <a:solidFill>
                  <a:srgbClr val="FF0000"/>
                </a:solidFill>
                <a:effectLst>
                  <a:outerShdw blurRad="38100" dist="38100" dir="2700000" algn="tl">
                    <a:srgbClr val="C0C0C0"/>
                  </a:outerShdw>
                </a:effectLst>
              </a:rPr>
              <a:t>  加快循环内条件码形成</a:t>
            </a:r>
            <a:endParaRPr lang="zh-CN" altLang="en-US" sz="240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tabLst>
                <a:tab pos="1054100" algn="l"/>
                <a:tab pos="4098925" algn="l"/>
              </a:tabLst>
              <a:defRPr/>
            </a:pPr>
            <a:r>
              <a:rPr lang="zh-CN" altLang="en-US" sz="2400" smtClean="0">
                <a:solidFill>
                  <a:srgbClr val="009900"/>
                </a:solidFill>
                <a:effectLst>
                  <a:outerShdw blurRad="38100" dist="38100" dir="2700000" algn="tl">
                    <a:srgbClr val="C0C0C0"/>
                  </a:outerShdw>
                </a:effectLst>
              </a:rPr>
              <a:t>编译后：</a:t>
            </a:r>
            <a:r>
              <a:rPr lang="zh-CN" altLang="en-US" sz="2400" smtClean="0"/>
              <a:t>	</a:t>
            </a:r>
            <a:endParaRPr lang="zh-CN" altLang="en-US" sz="2400" smtClean="0"/>
          </a:p>
          <a:p>
            <a:pPr marL="0" indent="0" eaLnBrk="1" hangingPunct="1">
              <a:buFont typeface="Wingdings" panose="05000000000000000000" pitchFamily="2" charset="2"/>
              <a:buNone/>
              <a:tabLst>
                <a:tab pos="1054100" algn="l"/>
                <a:tab pos="4098925" algn="l"/>
              </a:tabLst>
              <a:defRPr/>
            </a:pPr>
            <a:r>
              <a:rPr lang="en-US" altLang="zh-CN" sz="2400" smtClean="0"/>
              <a:t>	LOAD R1,NUM	;</a:t>
            </a:r>
            <a:r>
              <a:rPr lang="zh-CN" altLang="en-US" sz="2400" smtClean="0"/>
              <a:t>循环次数装入</a:t>
            </a:r>
            <a:r>
              <a:rPr lang="en-US" altLang="zh-CN" sz="2400" smtClean="0"/>
              <a:t>R1</a:t>
            </a:r>
            <a:r>
              <a:rPr lang="zh-CN" altLang="en-US" sz="2400" smtClean="0"/>
              <a:t>中</a:t>
            </a:r>
            <a:endParaRPr lang="zh-CN" altLang="en-US" sz="2400" smtClean="0"/>
          </a:p>
          <a:p>
            <a:pPr marL="0" indent="0" eaLnBrk="1" hangingPunct="1">
              <a:buFont typeface="Wingdings" panose="05000000000000000000" pitchFamily="2" charset="2"/>
              <a:buNone/>
              <a:tabLst>
                <a:tab pos="1054100" algn="l"/>
                <a:tab pos="4098925" algn="l"/>
              </a:tabLst>
              <a:defRPr/>
            </a:pPr>
            <a:r>
              <a:rPr lang="en-US" altLang="zh-CN" sz="2400" smtClean="0"/>
              <a:t>LOOP: </a:t>
            </a:r>
            <a:r>
              <a:rPr lang="en-US" altLang="zh-CN" sz="2400" smtClean="0">
                <a:solidFill>
                  <a:srgbClr val="0000CC"/>
                </a:solidFill>
                <a:effectLst>
                  <a:outerShdw blurRad="38100" dist="38100" dir="2700000" algn="tl">
                    <a:srgbClr val="C0C0C0"/>
                  </a:outerShdw>
                </a:effectLst>
              </a:rPr>
              <a:t>LDEC R1     </a:t>
            </a:r>
            <a:r>
              <a:rPr lang="en-US" altLang="zh-CN" sz="2400" smtClean="0"/>
              <a:t>;</a:t>
            </a:r>
            <a:r>
              <a:rPr lang="zh-CN" altLang="en-US" sz="2400" smtClean="0"/>
              <a:t>一条专用的循环次数减1指令</a:t>
            </a:r>
            <a:endParaRPr lang="zh-CN" altLang="en-US" sz="2400" smtClean="0"/>
          </a:p>
          <a:p>
            <a:pPr marL="0" indent="0" eaLnBrk="1" hangingPunct="1">
              <a:buFont typeface="Wingdings" panose="05000000000000000000" pitchFamily="2" charset="2"/>
              <a:buNone/>
              <a:tabLst>
                <a:tab pos="1054100" algn="l"/>
                <a:tab pos="4098925" algn="l"/>
              </a:tabLst>
              <a:defRPr/>
            </a:pPr>
            <a:r>
              <a:rPr lang="zh-CN" altLang="en-US" sz="2400" smtClean="0"/>
              <a:t>	……  	;循环体开始</a:t>
            </a:r>
            <a:endParaRPr lang="zh-CN" altLang="en-US" sz="2400" smtClean="0"/>
          </a:p>
          <a:p>
            <a:pPr marL="0" indent="0" eaLnBrk="1" hangingPunct="1">
              <a:buFont typeface="Wingdings" panose="05000000000000000000" pitchFamily="2" charset="2"/>
              <a:buNone/>
              <a:tabLst>
                <a:tab pos="1054100" algn="l"/>
                <a:tab pos="4098925" algn="l"/>
              </a:tabLst>
              <a:defRPr/>
            </a:pPr>
            <a:r>
              <a:rPr lang="zh-CN" altLang="en-US" sz="2400" smtClean="0"/>
              <a:t>	……</a:t>
            </a:r>
            <a:endParaRPr lang="zh-CN" altLang="en-US" sz="2400" smtClean="0"/>
          </a:p>
          <a:p>
            <a:pPr marL="0" indent="0" eaLnBrk="1" hangingPunct="1">
              <a:buFont typeface="Wingdings" panose="05000000000000000000" pitchFamily="2" charset="2"/>
              <a:buNone/>
              <a:tabLst>
                <a:tab pos="1054100" algn="l"/>
                <a:tab pos="4098925" algn="l"/>
              </a:tabLst>
              <a:defRPr/>
            </a:pPr>
            <a:r>
              <a:rPr lang="zh-CN" altLang="en-US" sz="2400" smtClean="0"/>
              <a:t>	</a:t>
            </a:r>
            <a:r>
              <a:rPr lang="en-US" altLang="zh-CN" sz="2400" smtClean="0">
                <a:solidFill>
                  <a:srgbClr val="0000CC"/>
                </a:solidFill>
                <a:effectLst>
                  <a:outerShdw blurRad="38100" dist="38100" dir="2700000" algn="tl">
                    <a:srgbClr val="C0C0C0"/>
                  </a:outerShdw>
                </a:effectLst>
              </a:rPr>
              <a:t>LBNE LOOP</a:t>
            </a:r>
            <a:r>
              <a:rPr lang="en-US" altLang="zh-CN" sz="2400" smtClean="0"/>
              <a:t>;</a:t>
            </a:r>
            <a:r>
              <a:rPr lang="zh-CN" altLang="en-US" sz="2400" smtClean="0"/>
              <a:t>一条专用的测试循环是否结束的指令</a:t>
            </a:r>
            <a:endParaRPr lang="zh-CN" altLang="en-US" sz="2400" smtClean="0"/>
          </a:p>
          <a:p>
            <a:pPr marL="0" indent="0" eaLnBrk="1" hangingPunct="1">
              <a:buFont typeface="Wingdings" panose="05000000000000000000" pitchFamily="2" charset="2"/>
              <a:buNone/>
              <a:tabLst>
                <a:tab pos="1054100" algn="l"/>
                <a:tab pos="4098925" algn="l"/>
              </a:tabLst>
              <a:defRPr/>
            </a:pPr>
            <a:r>
              <a:rPr lang="zh-CN" altLang="en-US" sz="2400" smtClean="0"/>
              <a:t>	</a:t>
            </a:r>
            <a:r>
              <a:rPr lang="en-US" altLang="zh-CN" sz="2400" smtClean="0"/>
              <a:t>HALT	;</a:t>
            </a:r>
            <a:r>
              <a:rPr lang="zh-CN" altLang="en-US" sz="2400" smtClean="0"/>
              <a:t>程序结束</a:t>
            </a:r>
            <a:endParaRPr lang="zh-CN" altLang="en-US" sz="2400" smtClean="0"/>
          </a:p>
          <a:p>
            <a:pPr marL="0" indent="0" eaLnBrk="1" hangingPunct="1">
              <a:buFont typeface="Wingdings" panose="05000000000000000000" pitchFamily="2" charset="2"/>
              <a:buNone/>
              <a:tabLst>
                <a:tab pos="1054100" algn="l"/>
                <a:tab pos="4098925" algn="l"/>
              </a:tabLst>
              <a:defRPr/>
            </a:pPr>
            <a:r>
              <a:rPr lang="en-US" altLang="zh-CN" sz="2400" smtClean="0"/>
              <a:t>NUM:   n	;</a:t>
            </a:r>
            <a:r>
              <a:rPr lang="zh-CN" altLang="en-US" sz="2400" smtClean="0"/>
              <a:t>循环次数</a:t>
            </a:r>
            <a:endParaRPr lang="zh-CN" altLang="en-US" sz="2400" smtClean="0"/>
          </a:p>
          <a:p>
            <a:pPr marL="0" indent="0" eaLnBrk="1" hangingPunct="1">
              <a:buFont typeface="Wingdings" panose="05000000000000000000" pitchFamily="2" charset="2"/>
              <a:buNone/>
              <a:tabLst>
                <a:tab pos="1054100" algn="l"/>
                <a:tab pos="4098925" algn="l"/>
              </a:tabLst>
              <a:defRPr/>
            </a:pPr>
            <a:r>
              <a:rPr lang="zh-CN" altLang="en-US" sz="2400" smtClean="0"/>
              <a:t> </a:t>
            </a:r>
            <a:r>
              <a:rPr lang="en-US" altLang="zh-CN" sz="2400" smtClean="0">
                <a:solidFill>
                  <a:srgbClr val="FF0000"/>
                </a:solidFill>
              </a:rPr>
              <a:t>【</a:t>
            </a:r>
            <a:r>
              <a:rPr lang="zh-CN" altLang="en-US" sz="2400" smtClean="0">
                <a:solidFill>
                  <a:srgbClr val="FF0000"/>
                </a:solidFill>
              </a:rPr>
              <a:t>提示</a:t>
            </a:r>
            <a:r>
              <a:rPr lang="en-US" altLang="zh-CN" sz="2400" smtClean="0">
                <a:solidFill>
                  <a:srgbClr val="FF0000"/>
                </a:solidFill>
              </a:rPr>
              <a:t>】</a:t>
            </a:r>
            <a:r>
              <a:rPr lang="zh-CN" altLang="en-US" sz="2400" smtClean="0">
                <a:solidFill>
                  <a:srgbClr val="0000CC"/>
                </a:solidFill>
                <a:effectLst>
                  <a:outerShdw blurRad="38100" dist="38100" dir="2700000" algn="tl">
                    <a:srgbClr val="C0C0C0"/>
                  </a:outerShdw>
                </a:effectLst>
              </a:rPr>
              <a:t>指令</a:t>
            </a:r>
            <a:r>
              <a:rPr lang="en-US" altLang="zh-CN" sz="2400" smtClean="0">
                <a:solidFill>
                  <a:srgbClr val="0000CC"/>
                </a:solidFill>
                <a:effectLst>
                  <a:outerShdw blurRad="38100" dist="38100" dir="2700000" algn="tl">
                    <a:srgbClr val="C0C0C0"/>
                  </a:outerShdw>
                </a:effectLst>
              </a:rPr>
              <a:t>LDEC</a:t>
            </a:r>
            <a:r>
              <a:rPr lang="zh-CN" altLang="en-US" sz="2400" smtClean="0">
                <a:solidFill>
                  <a:srgbClr val="0000CC"/>
                </a:solidFill>
                <a:effectLst>
                  <a:outerShdw blurRad="38100" dist="38100" dir="2700000" algn="tl">
                    <a:srgbClr val="C0C0C0"/>
                  </a:outerShdw>
                </a:effectLst>
              </a:rPr>
              <a:t>和</a:t>
            </a:r>
            <a:r>
              <a:rPr lang="en-US" altLang="zh-CN" sz="2400" smtClean="0">
                <a:solidFill>
                  <a:srgbClr val="0000CC"/>
                </a:solidFill>
                <a:effectLst>
                  <a:outerShdw blurRad="38100" dist="38100" dir="2700000" algn="tl">
                    <a:srgbClr val="C0C0C0"/>
                  </a:outerShdw>
                </a:effectLst>
              </a:rPr>
              <a:t>LBNE</a:t>
            </a:r>
            <a:r>
              <a:rPr lang="zh-CN" altLang="en-US" sz="2400" smtClean="0">
                <a:solidFill>
                  <a:srgbClr val="0000CC"/>
                </a:solidFill>
                <a:effectLst>
                  <a:outerShdw blurRad="38100" dist="38100" dir="2700000" algn="tl">
                    <a:srgbClr val="C0C0C0"/>
                  </a:outerShdw>
                </a:effectLst>
              </a:rPr>
              <a:t>使用专用的条件码寄存器。</a:t>
            </a:r>
            <a:endParaRPr lang="zh-CN" altLang="en-US" sz="2400" smtClean="0">
              <a:solidFill>
                <a:srgbClr val="0000CC"/>
              </a:solidFill>
              <a:effectLst>
                <a:outerShdw blurRad="38100" dist="38100" dir="2700000" algn="tl">
                  <a:srgbClr val="C0C0C0"/>
                </a:outerShdw>
              </a:effectLst>
            </a:endParaRPr>
          </a:p>
        </p:txBody>
      </p:sp>
      <p:sp>
        <p:nvSpPr>
          <p:cNvPr id="164869"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8610" name="Rectangle 2"/>
          <p:cNvSpPr>
            <a:spLocks noGrp="1" noChangeArrowheads="1"/>
          </p:cNvSpPr>
          <p:nvPr>
            <p:ph type="title"/>
          </p:nvPr>
        </p:nvSpPr>
        <p:spPr/>
        <p:txBody>
          <a:bodyPr/>
          <a:lstStyle/>
          <a:p>
            <a:pPr eaLnBrk="1" hangingPunct="1">
              <a:defRPr/>
            </a:pPr>
            <a:r>
              <a:rPr lang="zh-CN" altLang="en-US" smtClean="0"/>
              <a:t>预  测</a:t>
            </a:r>
            <a:endParaRPr lang="zh-CN" altLang="en-US" smtClean="0"/>
          </a:p>
        </p:txBody>
      </p:sp>
      <p:sp>
        <p:nvSpPr>
          <p:cNvPr id="1658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endParaRPr lang="zh-CN" altLang="en-US" sz="1200" b="0">
              <a:latin typeface="Times New Roman" panose="02020603050405020304" pitchFamily="18" charset="0"/>
              <a:ea typeface="幼圆" panose="02010509060101010101" pitchFamily="49" charset="-122"/>
            </a:endParaRPr>
          </a:p>
        </p:txBody>
      </p:sp>
      <p:sp>
        <p:nvSpPr>
          <p:cNvPr id="165892" name="Rectangle 4"/>
          <p:cNvSpPr>
            <a:spLocks noGrp="1" noChangeArrowheads="1"/>
          </p:cNvSpPr>
          <p:nvPr>
            <p:ph type="body" idx="1"/>
          </p:nvPr>
        </p:nvSpPr>
        <p:spPr>
          <a:xfrm>
            <a:off x="1476375" y="1989138"/>
            <a:ext cx="5634038" cy="4411662"/>
          </a:xfrm>
        </p:spPr>
        <p:txBody>
          <a:bodyPr/>
          <a:lstStyle/>
          <a:p>
            <a:pPr eaLnBrk="1" hangingPunct="1">
              <a:lnSpc>
                <a:spcPct val="115000"/>
              </a:lnSpc>
            </a:pPr>
            <a:r>
              <a:rPr lang="zh-CN" altLang="en-US" smtClean="0">
                <a:hlinkClick r:id="rId5" action="ppaction://hlinksldjump"/>
              </a:rPr>
              <a:t>思想</a:t>
            </a:r>
            <a:endParaRPr lang="zh-CN" altLang="en-US" smtClean="0"/>
          </a:p>
          <a:p>
            <a:pPr eaLnBrk="1" hangingPunct="1">
              <a:lnSpc>
                <a:spcPct val="115000"/>
              </a:lnSpc>
            </a:pPr>
            <a:r>
              <a:rPr lang="zh-CN" altLang="en-US" smtClean="0"/>
              <a:t>预测的后续处理</a:t>
            </a:r>
            <a:endParaRPr lang="zh-CN" altLang="en-US" smtClean="0"/>
          </a:p>
          <a:p>
            <a:pPr lvl="1" eaLnBrk="1" hangingPunct="1">
              <a:lnSpc>
                <a:spcPct val="115000"/>
              </a:lnSpc>
            </a:pPr>
            <a:r>
              <a:rPr lang="zh-CN" altLang="en-US" smtClean="0">
                <a:hlinkClick r:id="rId6" action="ppaction://hlinksldjump"/>
              </a:rPr>
              <a:t>分支现场的保护及恢复</a:t>
            </a:r>
            <a:endParaRPr lang="zh-CN" altLang="en-US" smtClean="0"/>
          </a:p>
          <a:p>
            <a:pPr lvl="1" eaLnBrk="1" hangingPunct="1">
              <a:lnSpc>
                <a:spcPct val="115000"/>
              </a:lnSpc>
            </a:pPr>
            <a:r>
              <a:rPr lang="zh-CN" altLang="en-US" smtClean="0">
                <a:hlinkClick r:id="rId7" action="ppaction://hlinksldjump"/>
              </a:rPr>
              <a:t>预防预测不中时的加速处理</a:t>
            </a:r>
            <a:endParaRPr lang="zh-CN" altLang="en-US" smtClean="0"/>
          </a:p>
          <a:p>
            <a:pPr eaLnBrk="1" hangingPunct="1">
              <a:lnSpc>
                <a:spcPct val="115000"/>
              </a:lnSpc>
            </a:pPr>
            <a:r>
              <a:rPr lang="zh-CN" altLang="en-US" smtClean="0"/>
              <a:t>提高预测命中率</a:t>
            </a:r>
            <a:endParaRPr lang="zh-CN" altLang="en-US" smtClean="0"/>
          </a:p>
          <a:p>
            <a:pPr lvl="1" eaLnBrk="1" hangingPunct="1">
              <a:lnSpc>
                <a:spcPct val="115000"/>
              </a:lnSpc>
            </a:pPr>
            <a:r>
              <a:rPr lang="zh-CN" altLang="en-US" smtClean="0">
                <a:hlinkClick r:id="rId8" action="ppaction://hlinksldjump"/>
              </a:rPr>
              <a:t>静态预测</a:t>
            </a:r>
            <a:endParaRPr lang="zh-CN" altLang="en-US" smtClean="0"/>
          </a:p>
          <a:p>
            <a:pPr lvl="1" eaLnBrk="1" hangingPunct="1">
              <a:lnSpc>
                <a:spcPct val="115000"/>
              </a:lnSpc>
            </a:pPr>
            <a:r>
              <a:rPr lang="zh-CN" altLang="en-US" smtClean="0">
                <a:hlinkClick r:id="rId9" action="ppaction://hlinksldjump"/>
              </a:rPr>
              <a:t>动态预测</a:t>
            </a:r>
            <a:endParaRPr lang="zh-CN" altLang="en-US" smtClean="0"/>
          </a:p>
        </p:txBody>
      </p:sp>
    </p:spTree>
  </p:cSld>
  <p:clrMapOvr>
    <a:masterClrMapping/>
  </p:clrMapOvr>
  <p:transition spd="slow">
    <p:random/>
    <p:sndAc>
      <p:stSnd>
        <p:snd r:embed="rId10" name="projctor.wav"/>
      </p:stSnd>
    </p:sndAc>
  </p:transition>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1682" name="Rectangle 2"/>
          <p:cNvSpPr>
            <a:spLocks noGrp="1" noChangeArrowheads="1"/>
          </p:cNvSpPr>
          <p:nvPr>
            <p:ph type="title"/>
          </p:nvPr>
        </p:nvSpPr>
        <p:spPr/>
        <p:txBody>
          <a:bodyPr/>
          <a:lstStyle/>
          <a:p>
            <a:pPr eaLnBrk="1" hangingPunct="1">
              <a:defRPr/>
            </a:pPr>
            <a:r>
              <a:rPr lang="zh-CN" altLang="en-US" smtClean="0"/>
              <a:t>思  想</a:t>
            </a:r>
            <a:endParaRPr lang="zh-CN" altLang="en-US" smtClean="0"/>
          </a:p>
        </p:txBody>
      </p:sp>
      <p:sp>
        <p:nvSpPr>
          <p:cNvPr id="16691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endParaRPr lang="zh-CN" altLang="en-US" sz="1200" b="0">
              <a:latin typeface="Times New Roman" panose="02020603050405020304" pitchFamily="18" charset="0"/>
              <a:ea typeface="幼圆" panose="02010509060101010101" pitchFamily="49" charset="-122"/>
            </a:endParaRPr>
          </a:p>
        </p:txBody>
      </p:sp>
      <p:sp>
        <p:nvSpPr>
          <p:cNvPr id="166916" name="Rectangle 5"/>
          <p:cNvSpPr>
            <a:spLocks noGrp="1" noChangeArrowheads="1"/>
          </p:cNvSpPr>
          <p:nvPr>
            <p:ph type="body" idx="1"/>
          </p:nvPr>
        </p:nvSpPr>
        <p:spPr>
          <a:xfrm>
            <a:off x="809625" y="1989138"/>
            <a:ext cx="7958138" cy="1601787"/>
          </a:xfrm>
        </p:spPr>
        <p:txBody>
          <a:bodyPr/>
          <a:lstStyle/>
          <a:p>
            <a:pPr marL="0" indent="0" eaLnBrk="1" hangingPunct="1">
              <a:lnSpc>
                <a:spcPct val="110000"/>
              </a:lnSpc>
              <a:buFont typeface="Wingdings" panose="05000000000000000000" pitchFamily="2" charset="2"/>
              <a:buNone/>
            </a:pPr>
            <a:r>
              <a:rPr lang="zh-CN" altLang="en-US" sz="2400" smtClean="0"/>
              <a:t>       选取发生概率较高的分支为预测方向，运行但不写回结果。若猜对，继续执行；否则，作废预测方向的执行，返回实际转移处。</a:t>
            </a:r>
            <a:endParaRPr lang="zh-CN" altLang="en-US" sz="2400" smtClean="0"/>
          </a:p>
        </p:txBody>
      </p:sp>
      <p:sp>
        <p:nvSpPr>
          <p:cNvPr id="166917" name="Rectangle 7"/>
          <p:cNvSpPr>
            <a:spLocks noChangeArrowheads="1"/>
          </p:cNvSpPr>
          <p:nvPr/>
        </p:nvSpPr>
        <p:spPr bwMode="auto">
          <a:xfrm>
            <a:off x="5634038" y="3535363"/>
            <a:ext cx="46037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1800">
                <a:solidFill>
                  <a:srgbClr val="000000"/>
                </a:solidFill>
                <a:latin typeface="宋体" panose="02010600030101010101" pitchFamily="2" charset="-122"/>
              </a:rPr>
              <a:t>时间</a:t>
            </a:r>
            <a:endParaRPr lang="zh-CN" altLang="en-US">
              <a:latin typeface="Times New Roman" panose="02020603050405020304" pitchFamily="18" charset="0"/>
            </a:endParaRPr>
          </a:p>
        </p:txBody>
      </p:sp>
      <p:sp>
        <p:nvSpPr>
          <p:cNvPr id="166918" name="Rectangle 8"/>
          <p:cNvSpPr>
            <a:spLocks noChangeArrowheads="1"/>
          </p:cNvSpPr>
          <p:nvPr/>
        </p:nvSpPr>
        <p:spPr bwMode="auto">
          <a:xfrm>
            <a:off x="6091238" y="3535363"/>
            <a:ext cx="115887"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en-US" altLang="zh-CN" sz="1800">
                <a:solidFill>
                  <a:srgbClr val="000000"/>
                </a:solidFill>
                <a:latin typeface="宋体" panose="02010600030101010101" pitchFamily="2" charset="-122"/>
              </a:rPr>
              <a:t>t</a:t>
            </a:r>
            <a:endParaRPr lang="en-US" altLang="zh-CN">
              <a:latin typeface="Times New Roman" panose="02020603050405020304" pitchFamily="18" charset="0"/>
            </a:endParaRPr>
          </a:p>
        </p:txBody>
      </p:sp>
      <p:sp>
        <p:nvSpPr>
          <p:cNvPr id="166919" name="Rectangle 9"/>
          <p:cNvSpPr>
            <a:spLocks noChangeArrowheads="1"/>
          </p:cNvSpPr>
          <p:nvPr/>
        </p:nvSpPr>
        <p:spPr bwMode="auto">
          <a:xfrm>
            <a:off x="3697288" y="3992563"/>
            <a:ext cx="3857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en-US" altLang="zh-CN" sz="2000">
                <a:solidFill>
                  <a:srgbClr val="000000"/>
                </a:solidFill>
                <a:latin typeface="宋体" panose="02010600030101010101" pitchFamily="2" charset="-122"/>
              </a:rPr>
              <a:t>i+1</a:t>
            </a:r>
            <a:endParaRPr lang="en-US" altLang="zh-CN">
              <a:latin typeface="Times New Roman" panose="02020603050405020304" pitchFamily="18" charset="0"/>
            </a:endParaRPr>
          </a:p>
        </p:txBody>
      </p:sp>
      <p:sp>
        <p:nvSpPr>
          <p:cNvPr id="166920" name="Rectangle 10"/>
          <p:cNvSpPr>
            <a:spLocks noChangeArrowheads="1"/>
          </p:cNvSpPr>
          <p:nvPr/>
        </p:nvSpPr>
        <p:spPr bwMode="auto">
          <a:xfrm>
            <a:off x="4773613" y="3992563"/>
            <a:ext cx="3857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en-US" altLang="zh-CN" sz="2000">
                <a:solidFill>
                  <a:srgbClr val="000000"/>
                </a:solidFill>
                <a:latin typeface="宋体" panose="02010600030101010101" pitchFamily="2" charset="-122"/>
              </a:rPr>
              <a:t>i+2</a:t>
            </a:r>
            <a:endParaRPr lang="en-US" altLang="zh-CN">
              <a:latin typeface="Times New Roman" panose="02020603050405020304" pitchFamily="18" charset="0"/>
            </a:endParaRPr>
          </a:p>
        </p:txBody>
      </p:sp>
      <p:sp>
        <p:nvSpPr>
          <p:cNvPr id="166921" name="Rectangle 11"/>
          <p:cNvSpPr>
            <a:spLocks noChangeArrowheads="1"/>
          </p:cNvSpPr>
          <p:nvPr/>
        </p:nvSpPr>
        <p:spPr bwMode="auto">
          <a:xfrm>
            <a:off x="5641975" y="3992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2000">
                <a:solidFill>
                  <a:srgbClr val="000000"/>
                </a:solidFill>
                <a:latin typeface="Times New Roman" panose="02020603050405020304" pitchFamily="18" charset="0"/>
              </a:rPr>
              <a:t>…</a:t>
            </a:r>
            <a:endParaRPr lang="zh-CN" altLang="en-US">
              <a:latin typeface="Times New Roman" panose="02020603050405020304" pitchFamily="18" charset="0"/>
            </a:endParaRPr>
          </a:p>
        </p:txBody>
      </p:sp>
      <p:sp>
        <p:nvSpPr>
          <p:cNvPr id="166922" name="Rectangle 12"/>
          <p:cNvSpPr>
            <a:spLocks noChangeArrowheads="1"/>
          </p:cNvSpPr>
          <p:nvPr/>
        </p:nvSpPr>
        <p:spPr bwMode="auto">
          <a:xfrm>
            <a:off x="6318250" y="4017963"/>
            <a:ext cx="57943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en-US" altLang="zh-CN" sz="1800">
                <a:solidFill>
                  <a:srgbClr val="000000"/>
                </a:solidFill>
                <a:latin typeface="宋体" panose="02010600030101010101" pitchFamily="2" charset="-122"/>
              </a:rPr>
              <a:t>i+k-3</a:t>
            </a:r>
            <a:endParaRPr lang="en-US" altLang="zh-CN">
              <a:latin typeface="Times New Roman" panose="02020603050405020304" pitchFamily="18" charset="0"/>
            </a:endParaRPr>
          </a:p>
        </p:txBody>
      </p:sp>
      <p:sp>
        <p:nvSpPr>
          <p:cNvPr id="166923" name="Rectangle 13"/>
          <p:cNvSpPr>
            <a:spLocks noChangeArrowheads="1"/>
          </p:cNvSpPr>
          <p:nvPr/>
        </p:nvSpPr>
        <p:spPr bwMode="auto">
          <a:xfrm>
            <a:off x="7392988" y="4017963"/>
            <a:ext cx="579437"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en-US" altLang="zh-CN" sz="1800">
                <a:solidFill>
                  <a:srgbClr val="000000"/>
                </a:solidFill>
                <a:latin typeface="宋体" panose="02010600030101010101" pitchFamily="2" charset="-122"/>
              </a:rPr>
              <a:t>i+k-2</a:t>
            </a:r>
            <a:endParaRPr lang="en-US" altLang="zh-CN">
              <a:latin typeface="Times New Roman" panose="02020603050405020304" pitchFamily="18" charset="0"/>
            </a:endParaRPr>
          </a:p>
        </p:txBody>
      </p:sp>
      <p:sp>
        <p:nvSpPr>
          <p:cNvPr id="166924" name="Rectangle 14"/>
          <p:cNvSpPr>
            <a:spLocks noChangeArrowheads="1"/>
          </p:cNvSpPr>
          <p:nvPr/>
        </p:nvSpPr>
        <p:spPr bwMode="auto">
          <a:xfrm>
            <a:off x="7996238" y="3763963"/>
            <a:ext cx="3810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1500">
                <a:solidFill>
                  <a:srgbClr val="000000"/>
                </a:solidFill>
                <a:latin typeface="宋体" panose="02010600030101010101" pitchFamily="2" charset="-122"/>
              </a:rPr>
              <a:t>输出</a:t>
            </a:r>
            <a:endParaRPr lang="zh-CN" altLang="en-US">
              <a:latin typeface="Times New Roman" panose="02020603050405020304" pitchFamily="18" charset="0"/>
            </a:endParaRPr>
          </a:p>
        </p:txBody>
      </p:sp>
      <p:sp>
        <p:nvSpPr>
          <p:cNvPr id="166925" name="Rectangle 15"/>
          <p:cNvSpPr>
            <a:spLocks noChangeArrowheads="1"/>
          </p:cNvSpPr>
          <p:nvPr/>
        </p:nvSpPr>
        <p:spPr bwMode="auto">
          <a:xfrm>
            <a:off x="3594100" y="3865563"/>
            <a:ext cx="23813"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26" name="Line 16"/>
          <p:cNvSpPr>
            <a:spLocks noChangeShapeType="1"/>
          </p:cNvSpPr>
          <p:nvPr/>
        </p:nvSpPr>
        <p:spPr bwMode="auto">
          <a:xfrm>
            <a:off x="3594100" y="3865563"/>
            <a:ext cx="1588"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27" name="Rectangle 17"/>
          <p:cNvSpPr>
            <a:spLocks noChangeArrowheads="1"/>
          </p:cNvSpPr>
          <p:nvPr/>
        </p:nvSpPr>
        <p:spPr bwMode="auto">
          <a:xfrm>
            <a:off x="3594100" y="3865563"/>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28" name="Line 18"/>
          <p:cNvSpPr>
            <a:spLocks noChangeShapeType="1"/>
          </p:cNvSpPr>
          <p:nvPr/>
        </p:nvSpPr>
        <p:spPr bwMode="auto">
          <a:xfrm>
            <a:off x="3594100" y="3865563"/>
            <a:ext cx="23813"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29" name="Line 19"/>
          <p:cNvSpPr>
            <a:spLocks noChangeShapeType="1"/>
          </p:cNvSpPr>
          <p:nvPr/>
        </p:nvSpPr>
        <p:spPr bwMode="auto">
          <a:xfrm>
            <a:off x="3594100" y="3865563"/>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30" name="Rectangle 20"/>
          <p:cNvSpPr>
            <a:spLocks noChangeArrowheads="1"/>
          </p:cNvSpPr>
          <p:nvPr/>
        </p:nvSpPr>
        <p:spPr bwMode="auto">
          <a:xfrm>
            <a:off x="3617913" y="3865563"/>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31" name="Line 21"/>
          <p:cNvSpPr>
            <a:spLocks noChangeShapeType="1"/>
          </p:cNvSpPr>
          <p:nvPr/>
        </p:nvSpPr>
        <p:spPr bwMode="auto">
          <a:xfrm>
            <a:off x="3617913" y="3865563"/>
            <a:ext cx="514350"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32" name="Rectangle 22"/>
          <p:cNvSpPr>
            <a:spLocks noChangeArrowheads="1"/>
          </p:cNvSpPr>
          <p:nvPr/>
        </p:nvSpPr>
        <p:spPr bwMode="auto">
          <a:xfrm>
            <a:off x="4132263" y="3865563"/>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33" name="Line 23"/>
          <p:cNvSpPr>
            <a:spLocks noChangeShapeType="1"/>
          </p:cNvSpPr>
          <p:nvPr/>
        </p:nvSpPr>
        <p:spPr bwMode="auto">
          <a:xfrm>
            <a:off x="4132263" y="3865563"/>
            <a:ext cx="1587"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34" name="Rectangle 24"/>
          <p:cNvSpPr>
            <a:spLocks noChangeArrowheads="1"/>
          </p:cNvSpPr>
          <p:nvPr/>
        </p:nvSpPr>
        <p:spPr bwMode="auto">
          <a:xfrm>
            <a:off x="4132263" y="386556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35" name="Line 25"/>
          <p:cNvSpPr>
            <a:spLocks noChangeShapeType="1"/>
          </p:cNvSpPr>
          <p:nvPr/>
        </p:nvSpPr>
        <p:spPr bwMode="auto">
          <a:xfrm>
            <a:off x="4132263" y="3865563"/>
            <a:ext cx="22225"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36" name="Line 26"/>
          <p:cNvSpPr>
            <a:spLocks noChangeShapeType="1"/>
          </p:cNvSpPr>
          <p:nvPr/>
        </p:nvSpPr>
        <p:spPr bwMode="auto">
          <a:xfrm>
            <a:off x="4132263" y="3865563"/>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37" name="Rectangle 27"/>
          <p:cNvSpPr>
            <a:spLocks noChangeArrowheads="1"/>
          </p:cNvSpPr>
          <p:nvPr/>
        </p:nvSpPr>
        <p:spPr bwMode="auto">
          <a:xfrm>
            <a:off x="4670425" y="3865563"/>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38" name="Line 28"/>
          <p:cNvSpPr>
            <a:spLocks noChangeShapeType="1"/>
          </p:cNvSpPr>
          <p:nvPr/>
        </p:nvSpPr>
        <p:spPr bwMode="auto">
          <a:xfrm>
            <a:off x="4670425" y="3865563"/>
            <a:ext cx="1588"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39" name="Rectangle 29"/>
          <p:cNvSpPr>
            <a:spLocks noChangeArrowheads="1"/>
          </p:cNvSpPr>
          <p:nvPr/>
        </p:nvSpPr>
        <p:spPr bwMode="auto">
          <a:xfrm>
            <a:off x="4670425" y="386556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40" name="Line 30"/>
          <p:cNvSpPr>
            <a:spLocks noChangeShapeType="1"/>
          </p:cNvSpPr>
          <p:nvPr/>
        </p:nvSpPr>
        <p:spPr bwMode="auto">
          <a:xfrm>
            <a:off x="4670425" y="3865563"/>
            <a:ext cx="22225"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41" name="Line 31"/>
          <p:cNvSpPr>
            <a:spLocks noChangeShapeType="1"/>
          </p:cNvSpPr>
          <p:nvPr/>
        </p:nvSpPr>
        <p:spPr bwMode="auto">
          <a:xfrm>
            <a:off x="4670425" y="3865563"/>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42" name="Rectangle 32"/>
          <p:cNvSpPr>
            <a:spLocks noChangeArrowheads="1"/>
          </p:cNvSpPr>
          <p:nvPr/>
        </p:nvSpPr>
        <p:spPr bwMode="auto">
          <a:xfrm>
            <a:off x="4692650" y="3865563"/>
            <a:ext cx="5159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43" name="Line 33"/>
          <p:cNvSpPr>
            <a:spLocks noChangeShapeType="1"/>
          </p:cNvSpPr>
          <p:nvPr/>
        </p:nvSpPr>
        <p:spPr bwMode="auto">
          <a:xfrm>
            <a:off x="4692650" y="3865563"/>
            <a:ext cx="515938"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44" name="Rectangle 34"/>
          <p:cNvSpPr>
            <a:spLocks noChangeArrowheads="1"/>
          </p:cNvSpPr>
          <p:nvPr/>
        </p:nvSpPr>
        <p:spPr bwMode="auto">
          <a:xfrm>
            <a:off x="5208588" y="3865563"/>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45" name="Line 35"/>
          <p:cNvSpPr>
            <a:spLocks noChangeShapeType="1"/>
          </p:cNvSpPr>
          <p:nvPr/>
        </p:nvSpPr>
        <p:spPr bwMode="auto">
          <a:xfrm>
            <a:off x="5208588" y="3865563"/>
            <a:ext cx="1587"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46" name="Rectangle 36"/>
          <p:cNvSpPr>
            <a:spLocks noChangeArrowheads="1"/>
          </p:cNvSpPr>
          <p:nvPr/>
        </p:nvSpPr>
        <p:spPr bwMode="auto">
          <a:xfrm>
            <a:off x="5208588" y="386556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47" name="Line 37"/>
          <p:cNvSpPr>
            <a:spLocks noChangeShapeType="1"/>
          </p:cNvSpPr>
          <p:nvPr/>
        </p:nvSpPr>
        <p:spPr bwMode="auto">
          <a:xfrm>
            <a:off x="5208588" y="3865563"/>
            <a:ext cx="22225"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48" name="Line 38"/>
          <p:cNvSpPr>
            <a:spLocks noChangeShapeType="1"/>
          </p:cNvSpPr>
          <p:nvPr/>
        </p:nvSpPr>
        <p:spPr bwMode="auto">
          <a:xfrm>
            <a:off x="5208588" y="3865563"/>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49" name="Rectangle 39"/>
          <p:cNvSpPr>
            <a:spLocks noChangeArrowheads="1"/>
          </p:cNvSpPr>
          <p:nvPr/>
        </p:nvSpPr>
        <p:spPr bwMode="auto">
          <a:xfrm>
            <a:off x="6294438" y="3865563"/>
            <a:ext cx="23812"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50" name="Line 40"/>
          <p:cNvSpPr>
            <a:spLocks noChangeShapeType="1"/>
          </p:cNvSpPr>
          <p:nvPr/>
        </p:nvSpPr>
        <p:spPr bwMode="auto">
          <a:xfrm>
            <a:off x="6294438" y="3865563"/>
            <a:ext cx="1587"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51" name="Rectangle 41"/>
          <p:cNvSpPr>
            <a:spLocks noChangeArrowheads="1"/>
          </p:cNvSpPr>
          <p:nvPr/>
        </p:nvSpPr>
        <p:spPr bwMode="auto">
          <a:xfrm>
            <a:off x="6294438" y="3865563"/>
            <a:ext cx="23812"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52" name="Line 42"/>
          <p:cNvSpPr>
            <a:spLocks noChangeShapeType="1"/>
          </p:cNvSpPr>
          <p:nvPr/>
        </p:nvSpPr>
        <p:spPr bwMode="auto">
          <a:xfrm>
            <a:off x="6294438" y="3865563"/>
            <a:ext cx="23812"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53" name="Line 43"/>
          <p:cNvSpPr>
            <a:spLocks noChangeShapeType="1"/>
          </p:cNvSpPr>
          <p:nvPr/>
        </p:nvSpPr>
        <p:spPr bwMode="auto">
          <a:xfrm>
            <a:off x="6294438" y="3865563"/>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54" name="Rectangle 44"/>
          <p:cNvSpPr>
            <a:spLocks noChangeArrowheads="1"/>
          </p:cNvSpPr>
          <p:nvPr/>
        </p:nvSpPr>
        <p:spPr bwMode="auto">
          <a:xfrm>
            <a:off x="6318250" y="3865563"/>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55" name="Line 45"/>
          <p:cNvSpPr>
            <a:spLocks noChangeShapeType="1"/>
          </p:cNvSpPr>
          <p:nvPr/>
        </p:nvSpPr>
        <p:spPr bwMode="auto">
          <a:xfrm>
            <a:off x="6318250" y="3865563"/>
            <a:ext cx="514350"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56" name="Rectangle 46"/>
          <p:cNvSpPr>
            <a:spLocks noChangeArrowheads="1"/>
          </p:cNvSpPr>
          <p:nvPr/>
        </p:nvSpPr>
        <p:spPr bwMode="auto">
          <a:xfrm>
            <a:off x="6832600" y="3865563"/>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57" name="Line 47"/>
          <p:cNvSpPr>
            <a:spLocks noChangeShapeType="1"/>
          </p:cNvSpPr>
          <p:nvPr/>
        </p:nvSpPr>
        <p:spPr bwMode="auto">
          <a:xfrm>
            <a:off x="6832600" y="3865563"/>
            <a:ext cx="1588"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58" name="Rectangle 48"/>
          <p:cNvSpPr>
            <a:spLocks noChangeArrowheads="1"/>
          </p:cNvSpPr>
          <p:nvPr/>
        </p:nvSpPr>
        <p:spPr bwMode="auto">
          <a:xfrm>
            <a:off x="6832600" y="386556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59" name="Line 49"/>
          <p:cNvSpPr>
            <a:spLocks noChangeShapeType="1"/>
          </p:cNvSpPr>
          <p:nvPr/>
        </p:nvSpPr>
        <p:spPr bwMode="auto">
          <a:xfrm>
            <a:off x="6832600" y="3865563"/>
            <a:ext cx="22225"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60" name="Line 50"/>
          <p:cNvSpPr>
            <a:spLocks noChangeShapeType="1"/>
          </p:cNvSpPr>
          <p:nvPr/>
        </p:nvSpPr>
        <p:spPr bwMode="auto">
          <a:xfrm>
            <a:off x="6832600" y="3865563"/>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61" name="Rectangle 51"/>
          <p:cNvSpPr>
            <a:spLocks noChangeArrowheads="1"/>
          </p:cNvSpPr>
          <p:nvPr/>
        </p:nvSpPr>
        <p:spPr bwMode="auto">
          <a:xfrm>
            <a:off x="7370763" y="3865563"/>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62" name="Line 52"/>
          <p:cNvSpPr>
            <a:spLocks noChangeShapeType="1"/>
          </p:cNvSpPr>
          <p:nvPr/>
        </p:nvSpPr>
        <p:spPr bwMode="auto">
          <a:xfrm>
            <a:off x="7370763" y="3865563"/>
            <a:ext cx="1587"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63" name="Rectangle 53"/>
          <p:cNvSpPr>
            <a:spLocks noChangeArrowheads="1"/>
          </p:cNvSpPr>
          <p:nvPr/>
        </p:nvSpPr>
        <p:spPr bwMode="auto">
          <a:xfrm>
            <a:off x="7370763" y="386556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64" name="Line 54"/>
          <p:cNvSpPr>
            <a:spLocks noChangeShapeType="1"/>
          </p:cNvSpPr>
          <p:nvPr/>
        </p:nvSpPr>
        <p:spPr bwMode="auto">
          <a:xfrm>
            <a:off x="7370763" y="3865563"/>
            <a:ext cx="22225"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65" name="Line 55"/>
          <p:cNvSpPr>
            <a:spLocks noChangeShapeType="1"/>
          </p:cNvSpPr>
          <p:nvPr/>
        </p:nvSpPr>
        <p:spPr bwMode="auto">
          <a:xfrm>
            <a:off x="7370763" y="3865563"/>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66" name="Rectangle 56"/>
          <p:cNvSpPr>
            <a:spLocks noChangeArrowheads="1"/>
          </p:cNvSpPr>
          <p:nvPr/>
        </p:nvSpPr>
        <p:spPr bwMode="auto">
          <a:xfrm>
            <a:off x="7392988" y="3865563"/>
            <a:ext cx="5270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67" name="Line 57"/>
          <p:cNvSpPr>
            <a:spLocks noChangeShapeType="1"/>
          </p:cNvSpPr>
          <p:nvPr/>
        </p:nvSpPr>
        <p:spPr bwMode="auto">
          <a:xfrm>
            <a:off x="7392988" y="3865563"/>
            <a:ext cx="527050"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68" name="Rectangle 58"/>
          <p:cNvSpPr>
            <a:spLocks noChangeArrowheads="1"/>
          </p:cNvSpPr>
          <p:nvPr/>
        </p:nvSpPr>
        <p:spPr bwMode="auto">
          <a:xfrm>
            <a:off x="7920038" y="3865563"/>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69" name="Line 59"/>
          <p:cNvSpPr>
            <a:spLocks noChangeShapeType="1"/>
          </p:cNvSpPr>
          <p:nvPr/>
        </p:nvSpPr>
        <p:spPr bwMode="auto">
          <a:xfrm>
            <a:off x="7920038" y="3865563"/>
            <a:ext cx="1587"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70" name="Rectangle 60"/>
          <p:cNvSpPr>
            <a:spLocks noChangeArrowheads="1"/>
          </p:cNvSpPr>
          <p:nvPr/>
        </p:nvSpPr>
        <p:spPr bwMode="auto">
          <a:xfrm>
            <a:off x="7920038" y="386556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71" name="Line 61"/>
          <p:cNvSpPr>
            <a:spLocks noChangeShapeType="1"/>
          </p:cNvSpPr>
          <p:nvPr/>
        </p:nvSpPr>
        <p:spPr bwMode="auto">
          <a:xfrm>
            <a:off x="7920038" y="3865563"/>
            <a:ext cx="22225"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72" name="Line 62"/>
          <p:cNvSpPr>
            <a:spLocks noChangeShapeType="1"/>
          </p:cNvSpPr>
          <p:nvPr/>
        </p:nvSpPr>
        <p:spPr bwMode="auto">
          <a:xfrm>
            <a:off x="7920038" y="3865563"/>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73" name="Rectangle 63"/>
          <p:cNvSpPr>
            <a:spLocks noChangeArrowheads="1"/>
          </p:cNvSpPr>
          <p:nvPr/>
        </p:nvSpPr>
        <p:spPr bwMode="auto">
          <a:xfrm>
            <a:off x="3594100" y="3903663"/>
            <a:ext cx="23813"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74" name="Line 64"/>
          <p:cNvSpPr>
            <a:spLocks noChangeShapeType="1"/>
          </p:cNvSpPr>
          <p:nvPr/>
        </p:nvSpPr>
        <p:spPr bwMode="auto">
          <a:xfrm>
            <a:off x="3594100" y="3903663"/>
            <a:ext cx="1588" cy="4714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75" name="Rectangle 65"/>
          <p:cNvSpPr>
            <a:spLocks noChangeArrowheads="1"/>
          </p:cNvSpPr>
          <p:nvPr/>
        </p:nvSpPr>
        <p:spPr bwMode="auto">
          <a:xfrm>
            <a:off x="4132263" y="3903663"/>
            <a:ext cx="22225"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76" name="Line 66"/>
          <p:cNvSpPr>
            <a:spLocks noChangeShapeType="1"/>
          </p:cNvSpPr>
          <p:nvPr/>
        </p:nvSpPr>
        <p:spPr bwMode="auto">
          <a:xfrm>
            <a:off x="4132263" y="3903663"/>
            <a:ext cx="1587" cy="4714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77" name="Rectangle 67"/>
          <p:cNvSpPr>
            <a:spLocks noChangeArrowheads="1"/>
          </p:cNvSpPr>
          <p:nvPr/>
        </p:nvSpPr>
        <p:spPr bwMode="auto">
          <a:xfrm>
            <a:off x="4670425" y="3903663"/>
            <a:ext cx="22225"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78" name="Line 68"/>
          <p:cNvSpPr>
            <a:spLocks noChangeShapeType="1"/>
          </p:cNvSpPr>
          <p:nvPr/>
        </p:nvSpPr>
        <p:spPr bwMode="auto">
          <a:xfrm>
            <a:off x="4670425" y="3903663"/>
            <a:ext cx="1588" cy="4714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79" name="Rectangle 69"/>
          <p:cNvSpPr>
            <a:spLocks noChangeArrowheads="1"/>
          </p:cNvSpPr>
          <p:nvPr/>
        </p:nvSpPr>
        <p:spPr bwMode="auto">
          <a:xfrm>
            <a:off x="5208588" y="3903663"/>
            <a:ext cx="22225"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80" name="Line 70"/>
          <p:cNvSpPr>
            <a:spLocks noChangeShapeType="1"/>
          </p:cNvSpPr>
          <p:nvPr/>
        </p:nvSpPr>
        <p:spPr bwMode="auto">
          <a:xfrm>
            <a:off x="5208588" y="3903663"/>
            <a:ext cx="1587" cy="4714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81" name="Rectangle 71"/>
          <p:cNvSpPr>
            <a:spLocks noChangeArrowheads="1"/>
          </p:cNvSpPr>
          <p:nvPr/>
        </p:nvSpPr>
        <p:spPr bwMode="auto">
          <a:xfrm>
            <a:off x="6294438" y="3903663"/>
            <a:ext cx="23812"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82" name="Line 72"/>
          <p:cNvSpPr>
            <a:spLocks noChangeShapeType="1"/>
          </p:cNvSpPr>
          <p:nvPr/>
        </p:nvSpPr>
        <p:spPr bwMode="auto">
          <a:xfrm>
            <a:off x="6294438" y="3903663"/>
            <a:ext cx="1587" cy="4714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83" name="Rectangle 73"/>
          <p:cNvSpPr>
            <a:spLocks noChangeArrowheads="1"/>
          </p:cNvSpPr>
          <p:nvPr/>
        </p:nvSpPr>
        <p:spPr bwMode="auto">
          <a:xfrm>
            <a:off x="6832600" y="3903663"/>
            <a:ext cx="22225"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84" name="Line 74"/>
          <p:cNvSpPr>
            <a:spLocks noChangeShapeType="1"/>
          </p:cNvSpPr>
          <p:nvPr/>
        </p:nvSpPr>
        <p:spPr bwMode="auto">
          <a:xfrm>
            <a:off x="6832600" y="3903663"/>
            <a:ext cx="1588" cy="4714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85" name="Rectangle 75"/>
          <p:cNvSpPr>
            <a:spLocks noChangeArrowheads="1"/>
          </p:cNvSpPr>
          <p:nvPr/>
        </p:nvSpPr>
        <p:spPr bwMode="auto">
          <a:xfrm>
            <a:off x="7370763" y="3903663"/>
            <a:ext cx="22225"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86" name="Line 76"/>
          <p:cNvSpPr>
            <a:spLocks noChangeShapeType="1"/>
          </p:cNvSpPr>
          <p:nvPr/>
        </p:nvSpPr>
        <p:spPr bwMode="auto">
          <a:xfrm>
            <a:off x="7370763" y="3903663"/>
            <a:ext cx="1587" cy="4714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87" name="Rectangle 77"/>
          <p:cNvSpPr>
            <a:spLocks noChangeArrowheads="1"/>
          </p:cNvSpPr>
          <p:nvPr/>
        </p:nvSpPr>
        <p:spPr bwMode="auto">
          <a:xfrm>
            <a:off x="7920038" y="3903663"/>
            <a:ext cx="22225"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88" name="Line 78"/>
          <p:cNvSpPr>
            <a:spLocks noChangeShapeType="1"/>
          </p:cNvSpPr>
          <p:nvPr/>
        </p:nvSpPr>
        <p:spPr bwMode="auto">
          <a:xfrm>
            <a:off x="7920038" y="3903663"/>
            <a:ext cx="1587" cy="4714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89" name="Rectangle 79"/>
          <p:cNvSpPr>
            <a:spLocks noChangeArrowheads="1"/>
          </p:cNvSpPr>
          <p:nvPr/>
        </p:nvSpPr>
        <p:spPr bwMode="auto">
          <a:xfrm>
            <a:off x="3594100" y="4375150"/>
            <a:ext cx="23813"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90" name="Line 80"/>
          <p:cNvSpPr>
            <a:spLocks noChangeShapeType="1"/>
          </p:cNvSpPr>
          <p:nvPr/>
        </p:nvSpPr>
        <p:spPr bwMode="auto">
          <a:xfrm>
            <a:off x="3594100" y="4375150"/>
            <a:ext cx="23813"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91" name="Line 81"/>
          <p:cNvSpPr>
            <a:spLocks noChangeShapeType="1"/>
          </p:cNvSpPr>
          <p:nvPr/>
        </p:nvSpPr>
        <p:spPr bwMode="auto">
          <a:xfrm>
            <a:off x="3594100" y="4375150"/>
            <a:ext cx="1588"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92" name="Rectangle 82"/>
          <p:cNvSpPr>
            <a:spLocks noChangeArrowheads="1"/>
          </p:cNvSpPr>
          <p:nvPr/>
        </p:nvSpPr>
        <p:spPr bwMode="auto">
          <a:xfrm>
            <a:off x="3594100" y="4375150"/>
            <a:ext cx="23813"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93" name="Line 83"/>
          <p:cNvSpPr>
            <a:spLocks noChangeShapeType="1"/>
          </p:cNvSpPr>
          <p:nvPr/>
        </p:nvSpPr>
        <p:spPr bwMode="auto">
          <a:xfrm>
            <a:off x="3594100" y="4375150"/>
            <a:ext cx="23813"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94" name="Line 84"/>
          <p:cNvSpPr>
            <a:spLocks noChangeShapeType="1"/>
          </p:cNvSpPr>
          <p:nvPr/>
        </p:nvSpPr>
        <p:spPr bwMode="auto">
          <a:xfrm>
            <a:off x="3594100" y="4375150"/>
            <a:ext cx="1588"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95" name="Rectangle 85"/>
          <p:cNvSpPr>
            <a:spLocks noChangeArrowheads="1"/>
          </p:cNvSpPr>
          <p:nvPr/>
        </p:nvSpPr>
        <p:spPr bwMode="auto">
          <a:xfrm>
            <a:off x="3617913" y="4375150"/>
            <a:ext cx="514350"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96" name="Line 86"/>
          <p:cNvSpPr>
            <a:spLocks noChangeShapeType="1"/>
          </p:cNvSpPr>
          <p:nvPr/>
        </p:nvSpPr>
        <p:spPr bwMode="auto">
          <a:xfrm>
            <a:off x="3617913" y="4375150"/>
            <a:ext cx="5143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97" name="Rectangle 87"/>
          <p:cNvSpPr>
            <a:spLocks noChangeArrowheads="1"/>
          </p:cNvSpPr>
          <p:nvPr/>
        </p:nvSpPr>
        <p:spPr bwMode="auto">
          <a:xfrm>
            <a:off x="4132263"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6998" name="Line 88"/>
          <p:cNvSpPr>
            <a:spLocks noChangeShapeType="1"/>
          </p:cNvSpPr>
          <p:nvPr/>
        </p:nvSpPr>
        <p:spPr bwMode="auto">
          <a:xfrm>
            <a:off x="4132263" y="437515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6999" name="Line 89"/>
          <p:cNvSpPr>
            <a:spLocks noChangeShapeType="1"/>
          </p:cNvSpPr>
          <p:nvPr/>
        </p:nvSpPr>
        <p:spPr bwMode="auto">
          <a:xfrm>
            <a:off x="4132263" y="4375150"/>
            <a:ext cx="1587"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00" name="Rectangle 90"/>
          <p:cNvSpPr>
            <a:spLocks noChangeArrowheads="1"/>
          </p:cNvSpPr>
          <p:nvPr/>
        </p:nvSpPr>
        <p:spPr bwMode="auto">
          <a:xfrm>
            <a:off x="4132263"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01" name="Line 91"/>
          <p:cNvSpPr>
            <a:spLocks noChangeShapeType="1"/>
          </p:cNvSpPr>
          <p:nvPr/>
        </p:nvSpPr>
        <p:spPr bwMode="auto">
          <a:xfrm>
            <a:off x="4132263" y="437515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02" name="Line 92"/>
          <p:cNvSpPr>
            <a:spLocks noChangeShapeType="1"/>
          </p:cNvSpPr>
          <p:nvPr/>
        </p:nvSpPr>
        <p:spPr bwMode="auto">
          <a:xfrm>
            <a:off x="4132263" y="4375150"/>
            <a:ext cx="1587"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03" name="Rectangle 93"/>
          <p:cNvSpPr>
            <a:spLocks noChangeArrowheads="1"/>
          </p:cNvSpPr>
          <p:nvPr/>
        </p:nvSpPr>
        <p:spPr bwMode="auto">
          <a:xfrm>
            <a:off x="4670425"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04" name="Line 94"/>
          <p:cNvSpPr>
            <a:spLocks noChangeShapeType="1"/>
          </p:cNvSpPr>
          <p:nvPr/>
        </p:nvSpPr>
        <p:spPr bwMode="auto">
          <a:xfrm>
            <a:off x="4670425" y="437515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05" name="Line 95"/>
          <p:cNvSpPr>
            <a:spLocks noChangeShapeType="1"/>
          </p:cNvSpPr>
          <p:nvPr/>
        </p:nvSpPr>
        <p:spPr bwMode="auto">
          <a:xfrm>
            <a:off x="4670425" y="4375150"/>
            <a:ext cx="1588"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06" name="Rectangle 96"/>
          <p:cNvSpPr>
            <a:spLocks noChangeArrowheads="1"/>
          </p:cNvSpPr>
          <p:nvPr/>
        </p:nvSpPr>
        <p:spPr bwMode="auto">
          <a:xfrm>
            <a:off x="4670425"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07" name="Line 97"/>
          <p:cNvSpPr>
            <a:spLocks noChangeShapeType="1"/>
          </p:cNvSpPr>
          <p:nvPr/>
        </p:nvSpPr>
        <p:spPr bwMode="auto">
          <a:xfrm>
            <a:off x="4670425" y="437515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08" name="Line 98"/>
          <p:cNvSpPr>
            <a:spLocks noChangeShapeType="1"/>
          </p:cNvSpPr>
          <p:nvPr/>
        </p:nvSpPr>
        <p:spPr bwMode="auto">
          <a:xfrm>
            <a:off x="4670425" y="4375150"/>
            <a:ext cx="1588"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09" name="Rectangle 99"/>
          <p:cNvSpPr>
            <a:spLocks noChangeArrowheads="1"/>
          </p:cNvSpPr>
          <p:nvPr/>
        </p:nvSpPr>
        <p:spPr bwMode="auto">
          <a:xfrm>
            <a:off x="4692650" y="4375150"/>
            <a:ext cx="515938"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10" name="Line 100"/>
          <p:cNvSpPr>
            <a:spLocks noChangeShapeType="1"/>
          </p:cNvSpPr>
          <p:nvPr/>
        </p:nvSpPr>
        <p:spPr bwMode="auto">
          <a:xfrm>
            <a:off x="4692650" y="4375150"/>
            <a:ext cx="515938"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11" name="Rectangle 101"/>
          <p:cNvSpPr>
            <a:spLocks noChangeArrowheads="1"/>
          </p:cNvSpPr>
          <p:nvPr/>
        </p:nvSpPr>
        <p:spPr bwMode="auto">
          <a:xfrm>
            <a:off x="5208588"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12" name="Line 102"/>
          <p:cNvSpPr>
            <a:spLocks noChangeShapeType="1"/>
          </p:cNvSpPr>
          <p:nvPr/>
        </p:nvSpPr>
        <p:spPr bwMode="auto">
          <a:xfrm>
            <a:off x="5208588" y="437515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13" name="Line 103"/>
          <p:cNvSpPr>
            <a:spLocks noChangeShapeType="1"/>
          </p:cNvSpPr>
          <p:nvPr/>
        </p:nvSpPr>
        <p:spPr bwMode="auto">
          <a:xfrm>
            <a:off x="5208588" y="4375150"/>
            <a:ext cx="1587"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14" name="Rectangle 104"/>
          <p:cNvSpPr>
            <a:spLocks noChangeArrowheads="1"/>
          </p:cNvSpPr>
          <p:nvPr/>
        </p:nvSpPr>
        <p:spPr bwMode="auto">
          <a:xfrm>
            <a:off x="5208588"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15" name="Line 105"/>
          <p:cNvSpPr>
            <a:spLocks noChangeShapeType="1"/>
          </p:cNvSpPr>
          <p:nvPr/>
        </p:nvSpPr>
        <p:spPr bwMode="auto">
          <a:xfrm>
            <a:off x="5208588" y="437515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16" name="Line 106"/>
          <p:cNvSpPr>
            <a:spLocks noChangeShapeType="1"/>
          </p:cNvSpPr>
          <p:nvPr/>
        </p:nvSpPr>
        <p:spPr bwMode="auto">
          <a:xfrm>
            <a:off x="5208588" y="4375150"/>
            <a:ext cx="1587"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17" name="Rectangle 107"/>
          <p:cNvSpPr>
            <a:spLocks noChangeArrowheads="1"/>
          </p:cNvSpPr>
          <p:nvPr/>
        </p:nvSpPr>
        <p:spPr bwMode="auto">
          <a:xfrm>
            <a:off x="6294438" y="4375150"/>
            <a:ext cx="23812"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18" name="Line 108"/>
          <p:cNvSpPr>
            <a:spLocks noChangeShapeType="1"/>
          </p:cNvSpPr>
          <p:nvPr/>
        </p:nvSpPr>
        <p:spPr bwMode="auto">
          <a:xfrm>
            <a:off x="6294438" y="4375150"/>
            <a:ext cx="23812"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19" name="Line 109"/>
          <p:cNvSpPr>
            <a:spLocks noChangeShapeType="1"/>
          </p:cNvSpPr>
          <p:nvPr/>
        </p:nvSpPr>
        <p:spPr bwMode="auto">
          <a:xfrm>
            <a:off x="6294438" y="4375150"/>
            <a:ext cx="1587"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20" name="Rectangle 110"/>
          <p:cNvSpPr>
            <a:spLocks noChangeArrowheads="1"/>
          </p:cNvSpPr>
          <p:nvPr/>
        </p:nvSpPr>
        <p:spPr bwMode="auto">
          <a:xfrm>
            <a:off x="6294438" y="4375150"/>
            <a:ext cx="23812"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21" name="Line 111"/>
          <p:cNvSpPr>
            <a:spLocks noChangeShapeType="1"/>
          </p:cNvSpPr>
          <p:nvPr/>
        </p:nvSpPr>
        <p:spPr bwMode="auto">
          <a:xfrm>
            <a:off x="6294438" y="4375150"/>
            <a:ext cx="23812"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22" name="Line 112"/>
          <p:cNvSpPr>
            <a:spLocks noChangeShapeType="1"/>
          </p:cNvSpPr>
          <p:nvPr/>
        </p:nvSpPr>
        <p:spPr bwMode="auto">
          <a:xfrm>
            <a:off x="6294438" y="4375150"/>
            <a:ext cx="1587"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23" name="Rectangle 113"/>
          <p:cNvSpPr>
            <a:spLocks noChangeArrowheads="1"/>
          </p:cNvSpPr>
          <p:nvPr/>
        </p:nvSpPr>
        <p:spPr bwMode="auto">
          <a:xfrm>
            <a:off x="6318250" y="4375150"/>
            <a:ext cx="514350"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24" name="Line 114"/>
          <p:cNvSpPr>
            <a:spLocks noChangeShapeType="1"/>
          </p:cNvSpPr>
          <p:nvPr/>
        </p:nvSpPr>
        <p:spPr bwMode="auto">
          <a:xfrm>
            <a:off x="6318250" y="4375150"/>
            <a:ext cx="5143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25" name="Rectangle 115"/>
          <p:cNvSpPr>
            <a:spLocks noChangeArrowheads="1"/>
          </p:cNvSpPr>
          <p:nvPr/>
        </p:nvSpPr>
        <p:spPr bwMode="auto">
          <a:xfrm>
            <a:off x="6832600"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26" name="Line 116"/>
          <p:cNvSpPr>
            <a:spLocks noChangeShapeType="1"/>
          </p:cNvSpPr>
          <p:nvPr/>
        </p:nvSpPr>
        <p:spPr bwMode="auto">
          <a:xfrm>
            <a:off x="6832600" y="437515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27" name="Line 117"/>
          <p:cNvSpPr>
            <a:spLocks noChangeShapeType="1"/>
          </p:cNvSpPr>
          <p:nvPr/>
        </p:nvSpPr>
        <p:spPr bwMode="auto">
          <a:xfrm>
            <a:off x="6832600" y="4375150"/>
            <a:ext cx="1588"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28" name="Rectangle 118"/>
          <p:cNvSpPr>
            <a:spLocks noChangeArrowheads="1"/>
          </p:cNvSpPr>
          <p:nvPr/>
        </p:nvSpPr>
        <p:spPr bwMode="auto">
          <a:xfrm>
            <a:off x="6832600"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29" name="Line 119"/>
          <p:cNvSpPr>
            <a:spLocks noChangeShapeType="1"/>
          </p:cNvSpPr>
          <p:nvPr/>
        </p:nvSpPr>
        <p:spPr bwMode="auto">
          <a:xfrm>
            <a:off x="6832600" y="437515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30" name="Line 120"/>
          <p:cNvSpPr>
            <a:spLocks noChangeShapeType="1"/>
          </p:cNvSpPr>
          <p:nvPr/>
        </p:nvSpPr>
        <p:spPr bwMode="auto">
          <a:xfrm>
            <a:off x="6832600" y="4375150"/>
            <a:ext cx="1588"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31" name="Rectangle 121"/>
          <p:cNvSpPr>
            <a:spLocks noChangeArrowheads="1"/>
          </p:cNvSpPr>
          <p:nvPr/>
        </p:nvSpPr>
        <p:spPr bwMode="auto">
          <a:xfrm>
            <a:off x="7370763"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32" name="Line 122"/>
          <p:cNvSpPr>
            <a:spLocks noChangeShapeType="1"/>
          </p:cNvSpPr>
          <p:nvPr/>
        </p:nvSpPr>
        <p:spPr bwMode="auto">
          <a:xfrm>
            <a:off x="7370763" y="437515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33" name="Line 123"/>
          <p:cNvSpPr>
            <a:spLocks noChangeShapeType="1"/>
          </p:cNvSpPr>
          <p:nvPr/>
        </p:nvSpPr>
        <p:spPr bwMode="auto">
          <a:xfrm>
            <a:off x="7370763" y="4375150"/>
            <a:ext cx="1587"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34" name="Rectangle 124"/>
          <p:cNvSpPr>
            <a:spLocks noChangeArrowheads="1"/>
          </p:cNvSpPr>
          <p:nvPr/>
        </p:nvSpPr>
        <p:spPr bwMode="auto">
          <a:xfrm>
            <a:off x="7370763"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35" name="Line 125"/>
          <p:cNvSpPr>
            <a:spLocks noChangeShapeType="1"/>
          </p:cNvSpPr>
          <p:nvPr/>
        </p:nvSpPr>
        <p:spPr bwMode="auto">
          <a:xfrm>
            <a:off x="7370763" y="437515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36" name="Line 126"/>
          <p:cNvSpPr>
            <a:spLocks noChangeShapeType="1"/>
          </p:cNvSpPr>
          <p:nvPr/>
        </p:nvSpPr>
        <p:spPr bwMode="auto">
          <a:xfrm>
            <a:off x="7370763" y="4375150"/>
            <a:ext cx="1587"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37" name="Rectangle 127"/>
          <p:cNvSpPr>
            <a:spLocks noChangeArrowheads="1"/>
          </p:cNvSpPr>
          <p:nvPr/>
        </p:nvSpPr>
        <p:spPr bwMode="auto">
          <a:xfrm>
            <a:off x="7392988" y="4375150"/>
            <a:ext cx="527050"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38" name="Line 128"/>
          <p:cNvSpPr>
            <a:spLocks noChangeShapeType="1"/>
          </p:cNvSpPr>
          <p:nvPr/>
        </p:nvSpPr>
        <p:spPr bwMode="auto">
          <a:xfrm>
            <a:off x="7392988" y="4375150"/>
            <a:ext cx="5270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39" name="Rectangle 129"/>
          <p:cNvSpPr>
            <a:spLocks noChangeArrowheads="1"/>
          </p:cNvSpPr>
          <p:nvPr/>
        </p:nvSpPr>
        <p:spPr bwMode="auto">
          <a:xfrm>
            <a:off x="7920038"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40" name="Line 130"/>
          <p:cNvSpPr>
            <a:spLocks noChangeShapeType="1"/>
          </p:cNvSpPr>
          <p:nvPr/>
        </p:nvSpPr>
        <p:spPr bwMode="auto">
          <a:xfrm>
            <a:off x="7920038" y="437515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41" name="Line 131"/>
          <p:cNvSpPr>
            <a:spLocks noChangeShapeType="1"/>
          </p:cNvSpPr>
          <p:nvPr/>
        </p:nvSpPr>
        <p:spPr bwMode="auto">
          <a:xfrm>
            <a:off x="7920038" y="4375150"/>
            <a:ext cx="1587"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42" name="Rectangle 132"/>
          <p:cNvSpPr>
            <a:spLocks noChangeArrowheads="1"/>
          </p:cNvSpPr>
          <p:nvPr/>
        </p:nvSpPr>
        <p:spPr bwMode="auto">
          <a:xfrm>
            <a:off x="7920038"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43" name="Line 133"/>
          <p:cNvSpPr>
            <a:spLocks noChangeShapeType="1"/>
          </p:cNvSpPr>
          <p:nvPr/>
        </p:nvSpPr>
        <p:spPr bwMode="auto">
          <a:xfrm>
            <a:off x="7920038" y="437515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44" name="Line 134"/>
          <p:cNvSpPr>
            <a:spLocks noChangeShapeType="1"/>
          </p:cNvSpPr>
          <p:nvPr/>
        </p:nvSpPr>
        <p:spPr bwMode="auto">
          <a:xfrm>
            <a:off x="7920038" y="4375150"/>
            <a:ext cx="1587" cy="269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45" name="Rectangle 135"/>
          <p:cNvSpPr>
            <a:spLocks noChangeArrowheads="1"/>
          </p:cNvSpPr>
          <p:nvPr/>
        </p:nvSpPr>
        <p:spPr bwMode="auto">
          <a:xfrm>
            <a:off x="985838" y="4678363"/>
            <a:ext cx="3810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1500">
                <a:solidFill>
                  <a:srgbClr val="000000"/>
                </a:solidFill>
                <a:latin typeface="宋体" panose="02010600030101010101" pitchFamily="2" charset="-122"/>
              </a:rPr>
              <a:t>输入</a:t>
            </a:r>
            <a:endParaRPr lang="zh-CN" altLang="en-US">
              <a:latin typeface="Times New Roman" panose="02020603050405020304" pitchFamily="18" charset="0"/>
            </a:endParaRPr>
          </a:p>
        </p:txBody>
      </p:sp>
      <p:sp>
        <p:nvSpPr>
          <p:cNvPr id="167046" name="Rectangle 136"/>
          <p:cNvSpPr>
            <a:spLocks noChangeArrowheads="1"/>
          </p:cNvSpPr>
          <p:nvPr/>
        </p:nvSpPr>
        <p:spPr bwMode="auto">
          <a:xfrm>
            <a:off x="1535113" y="4924425"/>
            <a:ext cx="3857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en-US" altLang="zh-CN" sz="2000">
                <a:solidFill>
                  <a:srgbClr val="000000"/>
                </a:solidFill>
                <a:latin typeface="宋体" panose="02010600030101010101" pitchFamily="2" charset="-122"/>
              </a:rPr>
              <a:t>i-1</a:t>
            </a:r>
            <a:endParaRPr lang="en-US" altLang="zh-CN">
              <a:latin typeface="Times New Roman" panose="02020603050405020304" pitchFamily="18" charset="0"/>
            </a:endParaRPr>
          </a:p>
        </p:txBody>
      </p:sp>
      <p:sp>
        <p:nvSpPr>
          <p:cNvPr id="167047" name="Rectangle 137"/>
          <p:cNvSpPr>
            <a:spLocks noChangeArrowheads="1"/>
          </p:cNvSpPr>
          <p:nvPr/>
        </p:nvSpPr>
        <p:spPr bwMode="auto">
          <a:xfrm>
            <a:off x="2725738" y="4924425"/>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en-US" altLang="zh-CN" sz="2000">
                <a:solidFill>
                  <a:srgbClr val="000000"/>
                </a:solidFill>
                <a:latin typeface="宋体" panose="02010600030101010101" pitchFamily="2" charset="-122"/>
              </a:rPr>
              <a:t>i</a:t>
            </a:r>
            <a:endParaRPr lang="en-US" altLang="zh-CN">
              <a:latin typeface="Times New Roman" panose="02020603050405020304" pitchFamily="18" charset="0"/>
            </a:endParaRPr>
          </a:p>
        </p:txBody>
      </p:sp>
      <p:sp>
        <p:nvSpPr>
          <p:cNvPr id="167048" name="Rectangle 138"/>
          <p:cNvSpPr>
            <a:spLocks noChangeArrowheads="1"/>
          </p:cNvSpPr>
          <p:nvPr/>
        </p:nvSpPr>
        <p:spPr bwMode="auto">
          <a:xfrm>
            <a:off x="1431925" y="4797425"/>
            <a:ext cx="23813"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49" name="Line 139"/>
          <p:cNvSpPr>
            <a:spLocks noChangeShapeType="1"/>
          </p:cNvSpPr>
          <p:nvPr/>
        </p:nvSpPr>
        <p:spPr bwMode="auto">
          <a:xfrm>
            <a:off x="1431925" y="4797425"/>
            <a:ext cx="1588"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50" name="Rectangle 140"/>
          <p:cNvSpPr>
            <a:spLocks noChangeArrowheads="1"/>
          </p:cNvSpPr>
          <p:nvPr/>
        </p:nvSpPr>
        <p:spPr bwMode="auto">
          <a:xfrm>
            <a:off x="1431925" y="4797425"/>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51" name="Line 141"/>
          <p:cNvSpPr>
            <a:spLocks noChangeShapeType="1"/>
          </p:cNvSpPr>
          <p:nvPr/>
        </p:nvSpPr>
        <p:spPr bwMode="auto">
          <a:xfrm>
            <a:off x="1431925" y="4797425"/>
            <a:ext cx="23813"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52" name="Line 142"/>
          <p:cNvSpPr>
            <a:spLocks noChangeShapeType="1"/>
          </p:cNvSpPr>
          <p:nvPr/>
        </p:nvSpPr>
        <p:spPr bwMode="auto">
          <a:xfrm>
            <a:off x="1431925" y="4797425"/>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53" name="Rectangle 143"/>
          <p:cNvSpPr>
            <a:spLocks noChangeArrowheads="1"/>
          </p:cNvSpPr>
          <p:nvPr/>
        </p:nvSpPr>
        <p:spPr bwMode="auto">
          <a:xfrm>
            <a:off x="1455738" y="4797425"/>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54" name="Line 144"/>
          <p:cNvSpPr>
            <a:spLocks noChangeShapeType="1"/>
          </p:cNvSpPr>
          <p:nvPr/>
        </p:nvSpPr>
        <p:spPr bwMode="auto">
          <a:xfrm>
            <a:off x="1455738" y="4797425"/>
            <a:ext cx="5143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55" name="Rectangle 145"/>
          <p:cNvSpPr>
            <a:spLocks noChangeArrowheads="1"/>
          </p:cNvSpPr>
          <p:nvPr/>
        </p:nvSpPr>
        <p:spPr bwMode="auto">
          <a:xfrm>
            <a:off x="1970088" y="4797425"/>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56" name="Line 146"/>
          <p:cNvSpPr>
            <a:spLocks noChangeShapeType="1"/>
          </p:cNvSpPr>
          <p:nvPr/>
        </p:nvSpPr>
        <p:spPr bwMode="auto">
          <a:xfrm>
            <a:off x="1970088" y="4797425"/>
            <a:ext cx="1587"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57" name="Rectangle 147"/>
          <p:cNvSpPr>
            <a:spLocks noChangeArrowheads="1"/>
          </p:cNvSpPr>
          <p:nvPr/>
        </p:nvSpPr>
        <p:spPr bwMode="auto">
          <a:xfrm>
            <a:off x="1970088" y="479742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58" name="Line 148"/>
          <p:cNvSpPr>
            <a:spLocks noChangeShapeType="1"/>
          </p:cNvSpPr>
          <p:nvPr/>
        </p:nvSpPr>
        <p:spPr bwMode="auto">
          <a:xfrm>
            <a:off x="1970088" y="479742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59" name="Line 149"/>
          <p:cNvSpPr>
            <a:spLocks noChangeShapeType="1"/>
          </p:cNvSpPr>
          <p:nvPr/>
        </p:nvSpPr>
        <p:spPr bwMode="auto">
          <a:xfrm>
            <a:off x="1970088" y="4797425"/>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60" name="Rectangle 150"/>
          <p:cNvSpPr>
            <a:spLocks noChangeArrowheads="1"/>
          </p:cNvSpPr>
          <p:nvPr/>
        </p:nvSpPr>
        <p:spPr bwMode="auto">
          <a:xfrm>
            <a:off x="2508250" y="4797425"/>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61" name="Line 151"/>
          <p:cNvSpPr>
            <a:spLocks noChangeShapeType="1"/>
          </p:cNvSpPr>
          <p:nvPr/>
        </p:nvSpPr>
        <p:spPr bwMode="auto">
          <a:xfrm>
            <a:off x="2508250" y="4797425"/>
            <a:ext cx="1588"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62" name="Rectangle 152"/>
          <p:cNvSpPr>
            <a:spLocks noChangeArrowheads="1"/>
          </p:cNvSpPr>
          <p:nvPr/>
        </p:nvSpPr>
        <p:spPr bwMode="auto">
          <a:xfrm>
            <a:off x="2508250" y="479742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63" name="Line 153"/>
          <p:cNvSpPr>
            <a:spLocks noChangeShapeType="1"/>
          </p:cNvSpPr>
          <p:nvPr/>
        </p:nvSpPr>
        <p:spPr bwMode="auto">
          <a:xfrm>
            <a:off x="2508250" y="479742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64" name="Line 154"/>
          <p:cNvSpPr>
            <a:spLocks noChangeShapeType="1"/>
          </p:cNvSpPr>
          <p:nvPr/>
        </p:nvSpPr>
        <p:spPr bwMode="auto">
          <a:xfrm>
            <a:off x="2508250" y="4797425"/>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65" name="Rectangle 155"/>
          <p:cNvSpPr>
            <a:spLocks noChangeArrowheads="1"/>
          </p:cNvSpPr>
          <p:nvPr/>
        </p:nvSpPr>
        <p:spPr bwMode="auto">
          <a:xfrm>
            <a:off x="2530475" y="4797425"/>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66" name="Line 156"/>
          <p:cNvSpPr>
            <a:spLocks noChangeShapeType="1"/>
          </p:cNvSpPr>
          <p:nvPr/>
        </p:nvSpPr>
        <p:spPr bwMode="auto">
          <a:xfrm>
            <a:off x="2530475" y="4797425"/>
            <a:ext cx="5143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67" name="Rectangle 157"/>
          <p:cNvSpPr>
            <a:spLocks noChangeArrowheads="1"/>
          </p:cNvSpPr>
          <p:nvPr/>
        </p:nvSpPr>
        <p:spPr bwMode="auto">
          <a:xfrm>
            <a:off x="3044825" y="4797425"/>
            <a:ext cx="23813"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68" name="Line 158"/>
          <p:cNvSpPr>
            <a:spLocks noChangeShapeType="1"/>
          </p:cNvSpPr>
          <p:nvPr/>
        </p:nvSpPr>
        <p:spPr bwMode="auto">
          <a:xfrm>
            <a:off x="3044825" y="4797425"/>
            <a:ext cx="1588"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69" name="Rectangle 159"/>
          <p:cNvSpPr>
            <a:spLocks noChangeArrowheads="1"/>
          </p:cNvSpPr>
          <p:nvPr/>
        </p:nvSpPr>
        <p:spPr bwMode="auto">
          <a:xfrm>
            <a:off x="3044825" y="4797425"/>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70" name="Line 160"/>
          <p:cNvSpPr>
            <a:spLocks noChangeShapeType="1"/>
          </p:cNvSpPr>
          <p:nvPr/>
        </p:nvSpPr>
        <p:spPr bwMode="auto">
          <a:xfrm>
            <a:off x="3044825" y="4797425"/>
            <a:ext cx="23813"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71" name="Line 161"/>
          <p:cNvSpPr>
            <a:spLocks noChangeShapeType="1"/>
          </p:cNvSpPr>
          <p:nvPr/>
        </p:nvSpPr>
        <p:spPr bwMode="auto">
          <a:xfrm>
            <a:off x="3044825" y="4797425"/>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72" name="Rectangle 162"/>
          <p:cNvSpPr>
            <a:spLocks noChangeArrowheads="1"/>
          </p:cNvSpPr>
          <p:nvPr/>
        </p:nvSpPr>
        <p:spPr bwMode="auto">
          <a:xfrm>
            <a:off x="3594100" y="4797425"/>
            <a:ext cx="538163"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73" name="Line 163"/>
          <p:cNvSpPr>
            <a:spLocks noChangeShapeType="1"/>
          </p:cNvSpPr>
          <p:nvPr/>
        </p:nvSpPr>
        <p:spPr bwMode="auto">
          <a:xfrm>
            <a:off x="3594100" y="4797425"/>
            <a:ext cx="538163"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74" name="Rectangle 164"/>
          <p:cNvSpPr>
            <a:spLocks noChangeArrowheads="1"/>
          </p:cNvSpPr>
          <p:nvPr/>
        </p:nvSpPr>
        <p:spPr bwMode="auto">
          <a:xfrm>
            <a:off x="4132263" y="4797425"/>
            <a:ext cx="11112"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75" name="Line 165"/>
          <p:cNvSpPr>
            <a:spLocks noChangeShapeType="1"/>
          </p:cNvSpPr>
          <p:nvPr/>
        </p:nvSpPr>
        <p:spPr bwMode="auto">
          <a:xfrm>
            <a:off x="4132263" y="4797425"/>
            <a:ext cx="11112"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76" name="Line 166"/>
          <p:cNvSpPr>
            <a:spLocks noChangeShapeType="1"/>
          </p:cNvSpPr>
          <p:nvPr/>
        </p:nvSpPr>
        <p:spPr bwMode="auto">
          <a:xfrm>
            <a:off x="4132263" y="4797425"/>
            <a:ext cx="1587" cy="127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77" name="Rectangle 167"/>
          <p:cNvSpPr>
            <a:spLocks noChangeArrowheads="1"/>
          </p:cNvSpPr>
          <p:nvPr/>
        </p:nvSpPr>
        <p:spPr bwMode="auto">
          <a:xfrm>
            <a:off x="4143375" y="4797425"/>
            <a:ext cx="527050"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78" name="Line 168"/>
          <p:cNvSpPr>
            <a:spLocks noChangeShapeType="1"/>
          </p:cNvSpPr>
          <p:nvPr/>
        </p:nvSpPr>
        <p:spPr bwMode="auto">
          <a:xfrm>
            <a:off x="4143375" y="4797425"/>
            <a:ext cx="5270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79" name="Rectangle 169"/>
          <p:cNvSpPr>
            <a:spLocks noChangeArrowheads="1"/>
          </p:cNvSpPr>
          <p:nvPr/>
        </p:nvSpPr>
        <p:spPr bwMode="auto">
          <a:xfrm>
            <a:off x="4670425" y="4797425"/>
            <a:ext cx="11113"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80" name="Line 170"/>
          <p:cNvSpPr>
            <a:spLocks noChangeShapeType="1"/>
          </p:cNvSpPr>
          <p:nvPr/>
        </p:nvSpPr>
        <p:spPr bwMode="auto">
          <a:xfrm>
            <a:off x="4670425" y="4797425"/>
            <a:ext cx="11113"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81" name="Line 171"/>
          <p:cNvSpPr>
            <a:spLocks noChangeShapeType="1"/>
          </p:cNvSpPr>
          <p:nvPr/>
        </p:nvSpPr>
        <p:spPr bwMode="auto">
          <a:xfrm>
            <a:off x="4670425" y="4797425"/>
            <a:ext cx="1588" cy="127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82" name="Rectangle 172"/>
          <p:cNvSpPr>
            <a:spLocks noChangeArrowheads="1"/>
          </p:cNvSpPr>
          <p:nvPr/>
        </p:nvSpPr>
        <p:spPr bwMode="auto">
          <a:xfrm>
            <a:off x="4681538" y="4797425"/>
            <a:ext cx="527050"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83" name="Line 173"/>
          <p:cNvSpPr>
            <a:spLocks noChangeShapeType="1"/>
          </p:cNvSpPr>
          <p:nvPr/>
        </p:nvSpPr>
        <p:spPr bwMode="auto">
          <a:xfrm>
            <a:off x="4681538" y="4797425"/>
            <a:ext cx="5270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84" name="Rectangle 174"/>
          <p:cNvSpPr>
            <a:spLocks noChangeArrowheads="1"/>
          </p:cNvSpPr>
          <p:nvPr/>
        </p:nvSpPr>
        <p:spPr bwMode="auto">
          <a:xfrm>
            <a:off x="5208588" y="4797425"/>
            <a:ext cx="11112"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85" name="Line 175"/>
          <p:cNvSpPr>
            <a:spLocks noChangeShapeType="1"/>
          </p:cNvSpPr>
          <p:nvPr/>
        </p:nvSpPr>
        <p:spPr bwMode="auto">
          <a:xfrm>
            <a:off x="5208588" y="4797425"/>
            <a:ext cx="11112"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86" name="Line 176"/>
          <p:cNvSpPr>
            <a:spLocks noChangeShapeType="1"/>
          </p:cNvSpPr>
          <p:nvPr/>
        </p:nvSpPr>
        <p:spPr bwMode="auto">
          <a:xfrm>
            <a:off x="5208588" y="4797425"/>
            <a:ext cx="1587" cy="127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87" name="Rectangle 177"/>
          <p:cNvSpPr>
            <a:spLocks noChangeArrowheads="1"/>
          </p:cNvSpPr>
          <p:nvPr/>
        </p:nvSpPr>
        <p:spPr bwMode="auto">
          <a:xfrm>
            <a:off x="5219700" y="4797425"/>
            <a:ext cx="1074738"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88" name="Line 178"/>
          <p:cNvSpPr>
            <a:spLocks noChangeShapeType="1"/>
          </p:cNvSpPr>
          <p:nvPr/>
        </p:nvSpPr>
        <p:spPr bwMode="auto">
          <a:xfrm>
            <a:off x="5219700" y="4797425"/>
            <a:ext cx="1074738"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89" name="Rectangle 179"/>
          <p:cNvSpPr>
            <a:spLocks noChangeArrowheads="1"/>
          </p:cNvSpPr>
          <p:nvPr/>
        </p:nvSpPr>
        <p:spPr bwMode="auto">
          <a:xfrm>
            <a:off x="6294438" y="4797425"/>
            <a:ext cx="11112"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90" name="Line 180"/>
          <p:cNvSpPr>
            <a:spLocks noChangeShapeType="1"/>
          </p:cNvSpPr>
          <p:nvPr/>
        </p:nvSpPr>
        <p:spPr bwMode="auto">
          <a:xfrm>
            <a:off x="6294438" y="4797425"/>
            <a:ext cx="11112"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91" name="Line 181"/>
          <p:cNvSpPr>
            <a:spLocks noChangeShapeType="1"/>
          </p:cNvSpPr>
          <p:nvPr/>
        </p:nvSpPr>
        <p:spPr bwMode="auto">
          <a:xfrm>
            <a:off x="6294438" y="4797425"/>
            <a:ext cx="1587" cy="127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92" name="Rectangle 182"/>
          <p:cNvSpPr>
            <a:spLocks noChangeArrowheads="1"/>
          </p:cNvSpPr>
          <p:nvPr/>
        </p:nvSpPr>
        <p:spPr bwMode="auto">
          <a:xfrm>
            <a:off x="6305550" y="4797425"/>
            <a:ext cx="527050"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93" name="Line 183"/>
          <p:cNvSpPr>
            <a:spLocks noChangeShapeType="1"/>
          </p:cNvSpPr>
          <p:nvPr/>
        </p:nvSpPr>
        <p:spPr bwMode="auto">
          <a:xfrm>
            <a:off x="6305550" y="4797425"/>
            <a:ext cx="5270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94" name="Rectangle 184"/>
          <p:cNvSpPr>
            <a:spLocks noChangeArrowheads="1"/>
          </p:cNvSpPr>
          <p:nvPr/>
        </p:nvSpPr>
        <p:spPr bwMode="auto">
          <a:xfrm>
            <a:off x="6832600" y="4797425"/>
            <a:ext cx="11113"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95" name="Line 185"/>
          <p:cNvSpPr>
            <a:spLocks noChangeShapeType="1"/>
          </p:cNvSpPr>
          <p:nvPr/>
        </p:nvSpPr>
        <p:spPr bwMode="auto">
          <a:xfrm>
            <a:off x="6832600" y="4797425"/>
            <a:ext cx="11113"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96" name="Line 186"/>
          <p:cNvSpPr>
            <a:spLocks noChangeShapeType="1"/>
          </p:cNvSpPr>
          <p:nvPr/>
        </p:nvSpPr>
        <p:spPr bwMode="auto">
          <a:xfrm>
            <a:off x="6832600" y="4797425"/>
            <a:ext cx="1588" cy="127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97" name="Rectangle 187"/>
          <p:cNvSpPr>
            <a:spLocks noChangeArrowheads="1"/>
          </p:cNvSpPr>
          <p:nvPr/>
        </p:nvSpPr>
        <p:spPr bwMode="auto">
          <a:xfrm>
            <a:off x="6843713" y="4797425"/>
            <a:ext cx="527050"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098" name="Line 188"/>
          <p:cNvSpPr>
            <a:spLocks noChangeShapeType="1"/>
          </p:cNvSpPr>
          <p:nvPr/>
        </p:nvSpPr>
        <p:spPr bwMode="auto">
          <a:xfrm>
            <a:off x="6843713" y="4797425"/>
            <a:ext cx="5270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099" name="Rectangle 189"/>
          <p:cNvSpPr>
            <a:spLocks noChangeArrowheads="1"/>
          </p:cNvSpPr>
          <p:nvPr/>
        </p:nvSpPr>
        <p:spPr bwMode="auto">
          <a:xfrm>
            <a:off x="7370763" y="4797425"/>
            <a:ext cx="11112"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00" name="Line 190"/>
          <p:cNvSpPr>
            <a:spLocks noChangeShapeType="1"/>
          </p:cNvSpPr>
          <p:nvPr/>
        </p:nvSpPr>
        <p:spPr bwMode="auto">
          <a:xfrm>
            <a:off x="7370763" y="4797425"/>
            <a:ext cx="11112"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01" name="Line 191"/>
          <p:cNvSpPr>
            <a:spLocks noChangeShapeType="1"/>
          </p:cNvSpPr>
          <p:nvPr/>
        </p:nvSpPr>
        <p:spPr bwMode="auto">
          <a:xfrm>
            <a:off x="7370763" y="4797425"/>
            <a:ext cx="1587" cy="127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02" name="Rectangle 192"/>
          <p:cNvSpPr>
            <a:spLocks noChangeArrowheads="1"/>
          </p:cNvSpPr>
          <p:nvPr/>
        </p:nvSpPr>
        <p:spPr bwMode="auto">
          <a:xfrm>
            <a:off x="7381875" y="4797425"/>
            <a:ext cx="263525"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03" name="Line 193"/>
          <p:cNvSpPr>
            <a:spLocks noChangeShapeType="1"/>
          </p:cNvSpPr>
          <p:nvPr/>
        </p:nvSpPr>
        <p:spPr bwMode="auto">
          <a:xfrm>
            <a:off x="7381875" y="4797425"/>
            <a:ext cx="2635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04" name="Rectangle 194"/>
          <p:cNvSpPr>
            <a:spLocks noChangeArrowheads="1"/>
          </p:cNvSpPr>
          <p:nvPr/>
        </p:nvSpPr>
        <p:spPr bwMode="auto">
          <a:xfrm>
            <a:off x="1431925" y="4835525"/>
            <a:ext cx="23813" cy="4714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05" name="Line 195"/>
          <p:cNvSpPr>
            <a:spLocks noChangeShapeType="1"/>
          </p:cNvSpPr>
          <p:nvPr/>
        </p:nvSpPr>
        <p:spPr bwMode="auto">
          <a:xfrm>
            <a:off x="1431925" y="4835525"/>
            <a:ext cx="1588" cy="4714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06" name="Rectangle 196"/>
          <p:cNvSpPr>
            <a:spLocks noChangeArrowheads="1"/>
          </p:cNvSpPr>
          <p:nvPr/>
        </p:nvSpPr>
        <p:spPr bwMode="auto">
          <a:xfrm>
            <a:off x="1970088" y="4835525"/>
            <a:ext cx="22225" cy="4714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07" name="Line 197"/>
          <p:cNvSpPr>
            <a:spLocks noChangeShapeType="1"/>
          </p:cNvSpPr>
          <p:nvPr/>
        </p:nvSpPr>
        <p:spPr bwMode="auto">
          <a:xfrm>
            <a:off x="1970088" y="4835525"/>
            <a:ext cx="1587" cy="4714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08" name="Rectangle 198"/>
          <p:cNvSpPr>
            <a:spLocks noChangeArrowheads="1"/>
          </p:cNvSpPr>
          <p:nvPr/>
        </p:nvSpPr>
        <p:spPr bwMode="auto">
          <a:xfrm>
            <a:off x="2508250" y="4835525"/>
            <a:ext cx="22225" cy="4714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09" name="Line 199"/>
          <p:cNvSpPr>
            <a:spLocks noChangeShapeType="1"/>
          </p:cNvSpPr>
          <p:nvPr/>
        </p:nvSpPr>
        <p:spPr bwMode="auto">
          <a:xfrm>
            <a:off x="2508250" y="4835525"/>
            <a:ext cx="1588" cy="4714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10" name="Rectangle 200"/>
          <p:cNvSpPr>
            <a:spLocks noChangeArrowheads="1"/>
          </p:cNvSpPr>
          <p:nvPr/>
        </p:nvSpPr>
        <p:spPr bwMode="auto">
          <a:xfrm>
            <a:off x="3044825" y="4835525"/>
            <a:ext cx="23813" cy="4714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11" name="Line 201"/>
          <p:cNvSpPr>
            <a:spLocks noChangeShapeType="1"/>
          </p:cNvSpPr>
          <p:nvPr/>
        </p:nvSpPr>
        <p:spPr bwMode="auto">
          <a:xfrm>
            <a:off x="3044825" y="4835525"/>
            <a:ext cx="1588" cy="4714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12" name="Rectangle 202"/>
          <p:cNvSpPr>
            <a:spLocks noChangeArrowheads="1"/>
          </p:cNvSpPr>
          <p:nvPr/>
        </p:nvSpPr>
        <p:spPr bwMode="auto">
          <a:xfrm>
            <a:off x="1431925" y="5307013"/>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13" name="Line 203"/>
          <p:cNvSpPr>
            <a:spLocks noChangeShapeType="1"/>
          </p:cNvSpPr>
          <p:nvPr/>
        </p:nvSpPr>
        <p:spPr bwMode="auto">
          <a:xfrm>
            <a:off x="1431925" y="5307013"/>
            <a:ext cx="23813"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14" name="Line 204"/>
          <p:cNvSpPr>
            <a:spLocks noChangeShapeType="1"/>
          </p:cNvSpPr>
          <p:nvPr/>
        </p:nvSpPr>
        <p:spPr bwMode="auto">
          <a:xfrm>
            <a:off x="1431925" y="5307013"/>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15" name="Rectangle 205"/>
          <p:cNvSpPr>
            <a:spLocks noChangeArrowheads="1"/>
          </p:cNvSpPr>
          <p:nvPr/>
        </p:nvSpPr>
        <p:spPr bwMode="auto">
          <a:xfrm>
            <a:off x="1431925" y="5307013"/>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16" name="Line 206"/>
          <p:cNvSpPr>
            <a:spLocks noChangeShapeType="1"/>
          </p:cNvSpPr>
          <p:nvPr/>
        </p:nvSpPr>
        <p:spPr bwMode="auto">
          <a:xfrm>
            <a:off x="1431925" y="5307013"/>
            <a:ext cx="23813"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17" name="Line 208"/>
          <p:cNvSpPr>
            <a:spLocks noChangeShapeType="1"/>
          </p:cNvSpPr>
          <p:nvPr/>
        </p:nvSpPr>
        <p:spPr bwMode="auto">
          <a:xfrm>
            <a:off x="1431925" y="5307013"/>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18" name="Rectangle 209"/>
          <p:cNvSpPr>
            <a:spLocks noChangeArrowheads="1"/>
          </p:cNvSpPr>
          <p:nvPr/>
        </p:nvSpPr>
        <p:spPr bwMode="auto">
          <a:xfrm>
            <a:off x="1455738" y="5307013"/>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19" name="Line 210"/>
          <p:cNvSpPr>
            <a:spLocks noChangeShapeType="1"/>
          </p:cNvSpPr>
          <p:nvPr/>
        </p:nvSpPr>
        <p:spPr bwMode="auto">
          <a:xfrm>
            <a:off x="1455738" y="5307013"/>
            <a:ext cx="514350"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20" name="Rectangle 211"/>
          <p:cNvSpPr>
            <a:spLocks noChangeArrowheads="1"/>
          </p:cNvSpPr>
          <p:nvPr/>
        </p:nvSpPr>
        <p:spPr bwMode="auto">
          <a:xfrm>
            <a:off x="1970088" y="530701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21" name="Line 212"/>
          <p:cNvSpPr>
            <a:spLocks noChangeShapeType="1"/>
          </p:cNvSpPr>
          <p:nvPr/>
        </p:nvSpPr>
        <p:spPr bwMode="auto">
          <a:xfrm>
            <a:off x="1970088" y="5307013"/>
            <a:ext cx="22225"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22" name="Line 213"/>
          <p:cNvSpPr>
            <a:spLocks noChangeShapeType="1"/>
          </p:cNvSpPr>
          <p:nvPr/>
        </p:nvSpPr>
        <p:spPr bwMode="auto">
          <a:xfrm>
            <a:off x="1970088" y="5307013"/>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23" name="Rectangle 214"/>
          <p:cNvSpPr>
            <a:spLocks noChangeArrowheads="1"/>
          </p:cNvSpPr>
          <p:nvPr/>
        </p:nvSpPr>
        <p:spPr bwMode="auto">
          <a:xfrm>
            <a:off x="1970088" y="530701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24" name="Line 215"/>
          <p:cNvSpPr>
            <a:spLocks noChangeShapeType="1"/>
          </p:cNvSpPr>
          <p:nvPr/>
        </p:nvSpPr>
        <p:spPr bwMode="auto">
          <a:xfrm>
            <a:off x="1970088" y="5307013"/>
            <a:ext cx="22225"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25" name="Line 216"/>
          <p:cNvSpPr>
            <a:spLocks noChangeShapeType="1"/>
          </p:cNvSpPr>
          <p:nvPr/>
        </p:nvSpPr>
        <p:spPr bwMode="auto">
          <a:xfrm>
            <a:off x="1970088" y="5307013"/>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26" name="Rectangle 217"/>
          <p:cNvSpPr>
            <a:spLocks noChangeArrowheads="1"/>
          </p:cNvSpPr>
          <p:nvPr/>
        </p:nvSpPr>
        <p:spPr bwMode="auto">
          <a:xfrm>
            <a:off x="2508250" y="530701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27" name="Line 218"/>
          <p:cNvSpPr>
            <a:spLocks noChangeShapeType="1"/>
          </p:cNvSpPr>
          <p:nvPr/>
        </p:nvSpPr>
        <p:spPr bwMode="auto">
          <a:xfrm>
            <a:off x="2508250" y="5307013"/>
            <a:ext cx="22225"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28" name="Line 219"/>
          <p:cNvSpPr>
            <a:spLocks noChangeShapeType="1"/>
          </p:cNvSpPr>
          <p:nvPr/>
        </p:nvSpPr>
        <p:spPr bwMode="auto">
          <a:xfrm>
            <a:off x="2508250" y="5307013"/>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29" name="Rectangle 220"/>
          <p:cNvSpPr>
            <a:spLocks noChangeArrowheads="1"/>
          </p:cNvSpPr>
          <p:nvPr/>
        </p:nvSpPr>
        <p:spPr bwMode="auto">
          <a:xfrm>
            <a:off x="2508250" y="530701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30" name="Line 221"/>
          <p:cNvSpPr>
            <a:spLocks noChangeShapeType="1"/>
          </p:cNvSpPr>
          <p:nvPr/>
        </p:nvSpPr>
        <p:spPr bwMode="auto">
          <a:xfrm>
            <a:off x="2508250" y="5307013"/>
            <a:ext cx="22225"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31" name="Line 222"/>
          <p:cNvSpPr>
            <a:spLocks noChangeShapeType="1"/>
          </p:cNvSpPr>
          <p:nvPr/>
        </p:nvSpPr>
        <p:spPr bwMode="auto">
          <a:xfrm>
            <a:off x="2508250" y="5307013"/>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32" name="Rectangle 223"/>
          <p:cNvSpPr>
            <a:spLocks noChangeArrowheads="1"/>
          </p:cNvSpPr>
          <p:nvPr/>
        </p:nvSpPr>
        <p:spPr bwMode="auto">
          <a:xfrm>
            <a:off x="2530475" y="5307013"/>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33" name="Line 224"/>
          <p:cNvSpPr>
            <a:spLocks noChangeShapeType="1"/>
          </p:cNvSpPr>
          <p:nvPr/>
        </p:nvSpPr>
        <p:spPr bwMode="auto">
          <a:xfrm>
            <a:off x="2530475" y="5307013"/>
            <a:ext cx="514350"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34" name="Rectangle 225"/>
          <p:cNvSpPr>
            <a:spLocks noChangeArrowheads="1"/>
          </p:cNvSpPr>
          <p:nvPr/>
        </p:nvSpPr>
        <p:spPr bwMode="auto">
          <a:xfrm>
            <a:off x="3044825" y="5307013"/>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35" name="Line 226"/>
          <p:cNvSpPr>
            <a:spLocks noChangeShapeType="1"/>
          </p:cNvSpPr>
          <p:nvPr/>
        </p:nvSpPr>
        <p:spPr bwMode="auto">
          <a:xfrm>
            <a:off x="3044825" y="5307013"/>
            <a:ext cx="23813"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36" name="Line 227"/>
          <p:cNvSpPr>
            <a:spLocks noChangeShapeType="1"/>
          </p:cNvSpPr>
          <p:nvPr/>
        </p:nvSpPr>
        <p:spPr bwMode="auto">
          <a:xfrm>
            <a:off x="3044825" y="5307013"/>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37" name="Rectangle 228"/>
          <p:cNvSpPr>
            <a:spLocks noChangeArrowheads="1"/>
          </p:cNvSpPr>
          <p:nvPr/>
        </p:nvSpPr>
        <p:spPr bwMode="auto">
          <a:xfrm>
            <a:off x="3044825" y="5307013"/>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38" name="Line 229"/>
          <p:cNvSpPr>
            <a:spLocks noChangeShapeType="1"/>
          </p:cNvSpPr>
          <p:nvPr/>
        </p:nvSpPr>
        <p:spPr bwMode="auto">
          <a:xfrm>
            <a:off x="3044825" y="5307013"/>
            <a:ext cx="23813" cy="158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39" name="Line 230"/>
          <p:cNvSpPr>
            <a:spLocks noChangeShapeType="1"/>
          </p:cNvSpPr>
          <p:nvPr/>
        </p:nvSpPr>
        <p:spPr bwMode="auto">
          <a:xfrm>
            <a:off x="3044825" y="5307013"/>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40" name="Rectangle 231"/>
          <p:cNvSpPr>
            <a:spLocks noChangeArrowheads="1"/>
          </p:cNvSpPr>
          <p:nvPr/>
        </p:nvSpPr>
        <p:spPr bwMode="auto">
          <a:xfrm>
            <a:off x="3811588" y="5856288"/>
            <a:ext cx="128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en-US" altLang="zh-CN" sz="2000">
                <a:solidFill>
                  <a:srgbClr val="000000"/>
                </a:solidFill>
                <a:latin typeface="宋体" panose="02010600030101010101" pitchFamily="2" charset="-122"/>
              </a:rPr>
              <a:t>p</a:t>
            </a:r>
            <a:endParaRPr lang="en-US" altLang="zh-CN">
              <a:latin typeface="Times New Roman" panose="02020603050405020304" pitchFamily="18" charset="0"/>
            </a:endParaRPr>
          </a:p>
        </p:txBody>
      </p:sp>
      <p:sp>
        <p:nvSpPr>
          <p:cNvPr id="167141" name="Rectangle 232"/>
          <p:cNvSpPr>
            <a:spLocks noChangeArrowheads="1"/>
          </p:cNvSpPr>
          <p:nvPr/>
        </p:nvSpPr>
        <p:spPr bwMode="auto">
          <a:xfrm>
            <a:off x="4773613" y="5856288"/>
            <a:ext cx="3857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en-US" altLang="zh-CN" sz="2000">
                <a:solidFill>
                  <a:srgbClr val="000000"/>
                </a:solidFill>
                <a:latin typeface="宋体" panose="02010600030101010101" pitchFamily="2" charset="-122"/>
              </a:rPr>
              <a:t>p+1</a:t>
            </a:r>
            <a:endParaRPr lang="en-US" altLang="zh-CN">
              <a:latin typeface="Times New Roman" panose="02020603050405020304" pitchFamily="18" charset="0"/>
            </a:endParaRPr>
          </a:p>
        </p:txBody>
      </p:sp>
      <p:sp>
        <p:nvSpPr>
          <p:cNvPr id="167142" name="Rectangle 233"/>
          <p:cNvSpPr>
            <a:spLocks noChangeArrowheads="1"/>
          </p:cNvSpPr>
          <p:nvPr/>
        </p:nvSpPr>
        <p:spPr bwMode="auto">
          <a:xfrm>
            <a:off x="5641975" y="58562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2000">
                <a:solidFill>
                  <a:srgbClr val="000000"/>
                </a:solidFill>
                <a:latin typeface="Times New Roman" panose="02020603050405020304" pitchFamily="18" charset="0"/>
              </a:rPr>
              <a:t>…</a:t>
            </a:r>
            <a:endParaRPr lang="zh-CN" altLang="en-US">
              <a:latin typeface="Times New Roman" panose="02020603050405020304" pitchFamily="18" charset="0"/>
            </a:endParaRPr>
          </a:p>
        </p:txBody>
      </p:sp>
      <p:sp>
        <p:nvSpPr>
          <p:cNvPr id="167143" name="Rectangle 234"/>
          <p:cNvSpPr>
            <a:spLocks noChangeArrowheads="1"/>
          </p:cNvSpPr>
          <p:nvPr/>
        </p:nvSpPr>
        <p:spPr bwMode="auto">
          <a:xfrm>
            <a:off x="6318250" y="5881688"/>
            <a:ext cx="57943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en-US" altLang="zh-CN" sz="1800">
                <a:solidFill>
                  <a:srgbClr val="000000"/>
                </a:solidFill>
                <a:latin typeface="宋体" panose="02010600030101010101" pitchFamily="2" charset="-122"/>
              </a:rPr>
              <a:t>p+k-4</a:t>
            </a:r>
            <a:endParaRPr lang="en-US" altLang="zh-CN">
              <a:latin typeface="Times New Roman" panose="02020603050405020304" pitchFamily="18" charset="0"/>
            </a:endParaRPr>
          </a:p>
        </p:txBody>
      </p:sp>
      <p:sp>
        <p:nvSpPr>
          <p:cNvPr id="167144" name="Rectangle 235"/>
          <p:cNvSpPr>
            <a:spLocks noChangeArrowheads="1"/>
          </p:cNvSpPr>
          <p:nvPr/>
        </p:nvSpPr>
        <p:spPr bwMode="auto">
          <a:xfrm>
            <a:off x="7392988" y="5881688"/>
            <a:ext cx="579437"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en-US" altLang="zh-CN" sz="1800">
                <a:solidFill>
                  <a:srgbClr val="000000"/>
                </a:solidFill>
                <a:latin typeface="宋体" panose="02010600030101010101" pitchFamily="2" charset="-122"/>
              </a:rPr>
              <a:t>p+k-3</a:t>
            </a:r>
            <a:endParaRPr lang="en-US" altLang="zh-CN">
              <a:latin typeface="Times New Roman" panose="02020603050405020304" pitchFamily="18" charset="0"/>
            </a:endParaRPr>
          </a:p>
        </p:txBody>
      </p:sp>
      <p:sp>
        <p:nvSpPr>
          <p:cNvPr id="167145" name="Rectangle 236"/>
          <p:cNvSpPr>
            <a:spLocks noChangeArrowheads="1"/>
          </p:cNvSpPr>
          <p:nvPr/>
        </p:nvSpPr>
        <p:spPr bwMode="auto">
          <a:xfrm>
            <a:off x="7996238" y="5668963"/>
            <a:ext cx="3810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1500">
                <a:solidFill>
                  <a:srgbClr val="000000"/>
                </a:solidFill>
                <a:latin typeface="宋体" panose="02010600030101010101" pitchFamily="2" charset="-122"/>
              </a:rPr>
              <a:t>输出</a:t>
            </a:r>
            <a:endParaRPr lang="zh-CN" altLang="en-US">
              <a:latin typeface="Times New Roman" panose="02020603050405020304" pitchFamily="18" charset="0"/>
            </a:endParaRPr>
          </a:p>
        </p:txBody>
      </p:sp>
      <p:sp>
        <p:nvSpPr>
          <p:cNvPr id="167146" name="Rectangle 237"/>
          <p:cNvSpPr>
            <a:spLocks noChangeArrowheads="1"/>
          </p:cNvSpPr>
          <p:nvPr/>
        </p:nvSpPr>
        <p:spPr bwMode="auto">
          <a:xfrm>
            <a:off x="3594100" y="5727700"/>
            <a:ext cx="23813"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47" name="Line 238"/>
          <p:cNvSpPr>
            <a:spLocks noChangeShapeType="1"/>
          </p:cNvSpPr>
          <p:nvPr/>
        </p:nvSpPr>
        <p:spPr bwMode="auto">
          <a:xfrm>
            <a:off x="3594100" y="5727700"/>
            <a:ext cx="1588"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48" name="Rectangle 239"/>
          <p:cNvSpPr>
            <a:spLocks noChangeArrowheads="1"/>
          </p:cNvSpPr>
          <p:nvPr/>
        </p:nvSpPr>
        <p:spPr bwMode="auto">
          <a:xfrm>
            <a:off x="3594100" y="5727700"/>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49" name="Line 240"/>
          <p:cNvSpPr>
            <a:spLocks noChangeShapeType="1"/>
          </p:cNvSpPr>
          <p:nvPr/>
        </p:nvSpPr>
        <p:spPr bwMode="auto">
          <a:xfrm>
            <a:off x="3594100" y="5727700"/>
            <a:ext cx="23813"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50" name="Line 241"/>
          <p:cNvSpPr>
            <a:spLocks noChangeShapeType="1"/>
          </p:cNvSpPr>
          <p:nvPr/>
        </p:nvSpPr>
        <p:spPr bwMode="auto">
          <a:xfrm>
            <a:off x="3594100" y="5727700"/>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51" name="Rectangle 242"/>
          <p:cNvSpPr>
            <a:spLocks noChangeArrowheads="1"/>
          </p:cNvSpPr>
          <p:nvPr/>
        </p:nvSpPr>
        <p:spPr bwMode="auto">
          <a:xfrm>
            <a:off x="3617913" y="5727700"/>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52" name="Line 243"/>
          <p:cNvSpPr>
            <a:spLocks noChangeShapeType="1"/>
          </p:cNvSpPr>
          <p:nvPr/>
        </p:nvSpPr>
        <p:spPr bwMode="auto">
          <a:xfrm>
            <a:off x="3617913" y="5727700"/>
            <a:ext cx="5143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53" name="Rectangle 244"/>
          <p:cNvSpPr>
            <a:spLocks noChangeArrowheads="1"/>
          </p:cNvSpPr>
          <p:nvPr/>
        </p:nvSpPr>
        <p:spPr bwMode="auto">
          <a:xfrm>
            <a:off x="4132263" y="5727700"/>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54" name="Line 245"/>
          <p:cNvSpPr>
            <a:spLocks noChangeShapeType="1"/>
          </p:cNvSpPr>
          <p:nvPr/>
        </p:nvSpPr>
        <p:spPr bwMode="auto">
          <a:xfrm>
            <a:off x="4132263" y="5727700"/>
            <a:ext cx="1587"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55" name="Rectangle 246"/>
          <p:cNvSpPr>
            <a:spLocks noChangeArrowheads="1"/>
          </p:cNvSpPr>
          <p:nvPr/>
        </p:nvSpPr>
        <p:spPr bwMode="auto">
          <a:xfrm>
            <a:off x="4132263" y="5727700"/>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56" name="Line 247"/>
          <p:cNvSpPr>
            <a:spLocks noChangeShapeType="1"/>
          </p:cNvSpPr>
          <p:nvPr/>
        </p:nvSpPr>
        <p:spPr bwMode="auto">
          <a:xfrm>
            <a:off x="4132263" y="572770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57" name="Line 248"/>
          <p:cNvSpPr>
            <a:spLocks noChangeShapeType="1"/>
          </p:cNvSpPr>
          <p:nvPr/>
        </p:nvSpPr>
        <p:spPr bwMode="auto">
          <a:xfrm>
            <a:off x="4132263" y="5727700"/>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58" name="Rectangle 249"/>
          <p:cNvSpPr>
            <a:spLocks noChangeArrowheads="1"/>
          </p:cNvSpPr>
          <p:nvPr/>
        </p:nvSpPr>
        <p:spPr bwMode="auto">
          <a:xfrm>
            <a:off x="4670425" y="5727700"/>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59" name="Line 250"/>
          <p:cNvSpPr>
            <a:spLocks noChangeShapeType="1"/>
          </p:cNvSpPr>
          <p:nvPr/>
        </p:nvSpPr>
        <p:spPr bwMode="auto">
          <a:xfrm>
            <a:off x="4670425" y="5727700"/>
            <a:ext cx="1588"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60" name="Rectangle 251"/>
          <p:cNvSpPr>
            <a:spLocks noChangeArrowheads="1"/>
          </p:cNvSpPr>
          <p:nvPr/>
        </p:nvSpPr>
        <p:spPr bwMode="auto">
          <a:xfrm>
            <a:off x="4670425" y="5727700"/>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61" name="Line 252"/>
          <p:cNvSpPr>
            <a:spLocks noChangeShapeType="1"/>
          </p:cNvSpPr>
          <p:nvPr/>
        </p:nvSpPr>
        <p:spPr bwMode="auto">
          <a:xfrm>
            <a:off x="4670425" y="572770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62" name="Line 253"/>
          <p:cNvSpPr>
            <a:spLocks noChangeShapeType="1"/>
          </p:cNvSpPr>
          <p:nvPr/>
        </p:nvSpPr>
        <p:spPr bwMode="auto">
          <a:xfrm>
            <a:off x="4670425" y="5727700"/>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63" name="Rectangle 254"/>
          <p:cNvSpPr>
            <a:spLocks noChangeArrowheads="1"/>
          </p:cNvSpPr>
          <p:nvPr/>
        </p:nvSpPr>
        <p:spPr bwMode="auto">
          <a:xfrm>
            <a:off x="4692650" y="5727700"/>
            <a:ext cx="5159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64" name="Line 255"/>
          <p:cNvSpPr>
            <a:spLocks noChangeShapeType="1"/>
          </p:cNvSpPr>
          <p:nvPr/>
        </p:nvSpPr>
        <p:spPr bwMode="auto">
          <a:xfrm>
            <a:off x="4692650" y="5727700"/>
            <a:ext cx="515938"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65" name="Rectangle 256"/>
          <p:cNvSpPr>
            <a:spLocks noChangeArrowheads="1"/>
          </p:cNvSpPr>
          <p:nvPr/>
        </p:nvSpPr>
        <p:spPr bwMode="auto">
          <a:xfrm>
            <a:off x="5208588" y="5727700"/>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66" name="Line 257"/>
          <p:cNvSpPr>
            <a:spLocks noChangeShapeType="1"/>
          </p:cNvSpPr>
          <p:nvPr/>
        </p:nvSpPr>
        <p:spPr bwMode="auto">
          <a:xfrm>
            <a:off x="5208588" y="5727700"/>
            <a:ext cx="1587"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67" name="Rectangle 258"/>
          <p:cNvSpPr>
            <a:spLocks noChangeArrowheads="1"/>
          </p:cNvSpPr>
          <p:nvPr/>
        </p:nvSpPr>
        <p:spPr bwMode="auto">
          <a:xfrm>
            <a:off x="5208588" y="5727700"/>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68" name="Line 259"/>
          <p:cNvSpPr>
            <a:spLocks noChangeShapeType="1"/>
          </p:cNvSpPr>
          <p:nvPr/>
        </p:nvSpPr>
        <p:spPr bwMode="auto">
          <a:xfrm>
            <a:off x="5208588" y="572770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69" name="Line 260"/>
          <p:cNvSpPr>
            <a:spLocks noChangeShapeType="1"/>
          </p:cNvSpPr>
          <p:nvPr/>
        </p:nvSpPr>
        <p:spPr bwMode="auto">
          <a:xfrm>
            <a:off x="5208588" y="5727700"/>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70" name="Rectangle 261"/>
          <p:cNvSpPr>
            <a:spLocks noChangeArrowheads="1"/>
          </p:cNvSpPr>
          <p:nvPr/>
        </p:nvSpPr>
        <p:spPr bwMode="auto">
          <a:xfrm>
            <a:off x="6294438" y="5727700"/>
            <a:ext cx="23812"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71" name="Line 262"/>
          <p:cNvSpPr>
            <a:spLocks noChangeShapeType="1"/>
          </p:cNvSpPr>
          <p:nvPr/>
        </p:nvSpPr>
        <p:spPr bwMode="auto">
          <a:xfrm>
            <a:off x="6294438" y="5727700"/>
            <a:ext cx="1587"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72" name="Rectangle 263"/>
          <p:cNvSpPr>
            <a:spLocks noChangeArrowheads="1"/>
          </p:cNvSpPr>
          <p:nvPr/>
        </p:nvSpPr>
        <p:spPr bwMode="auto">
          <a:xfrm>
            <a:off x="6294438" y="5727700"/>
            <a:ext cx="23812"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73" name="Line 264"/>
          <p:cNvSpPr>
            <a:spLocks noChangeShapeType="1"/>
          </p:cNvSpPr>
          <p:nvPr/>
        </p:nvSpPr>
        <p:spPr bwMode="auto">
          <a:xfrm>
            <a:off x="6294438" y="5727700"/>
            <a:ext cx="23812"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74" name="Line 265"/>
          <p:cNvSpPr>
            <a:spLocks noChangeShapeType="1"/>
          </p:cNvSpPr>
          <p:nvPr/>
        </p:nvSpPr>
        <p:spPr bwMode="auto">
          <a:xfrm>
            <a:off x="6294438" y="5727700"/>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75" name="Rectangle 266"/>
          <p:cNvSpPr>
            <a:spLocks noChangeArrowheads="1"/>
          </p:cNvSpPr>
          <p:nvPr/>
        </p:nvSpPr>
        <p:spPr bwMode="auto">
          <a:xfrm>
            <a:off x="6318250" y="5727700"/>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76" name="Line 267"/>
          <p:cNvSpPr>
            <a:spLocks noChangeShapeType="1"/>
          </p:cNvSpPr>
          <p:nvPr/>
        </p:nvSpPr>
        <p:spPr bwMode="auto">
          <a:xfrm>
            <a:off x="6318250" y="5727700"/>
            <a:ext cx="5143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77" name="Rectangle 268"/>
          <p:cNvSpPr>
            <a:spLocks noChangeArrowheads="1"/>
          </p:cNvSpPr>
          <p:nvPr/>
        </p:nvSpPr>
        <p:spPr bwMode="auto">
          <a:xfrm>
            <a:off x="6832600" y="5727700"/>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78" name="Line 269"/>
          <p:cNvSpPr>
            <a:spLocks noChangeShapeType="1"/>
          </p:cNvSpPr>
          <p:nvPr/>
        </p:nvSpPr>
        <p:spPr bwMode="auto">
          <a:xfrm>
            <a:off x="6832600" y="5727700"/>
            <a:ext cx="1588"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79" name="Rectangle 270"/>
          <p:cNvSpPr>
            <a:spLocks noChangeArrowheads="1"/>
          </p:cNvSpPr>
          <p:nvPr/>
        </p:nvSpPr>
        <p:spPr bwMode="auto">
          <a:xfrm>
            <a:off x="6832600" y="5727700"/>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80" name="Line 271"/>
          <p:cNvSpPr>
            <a:spLocks noChangeShapeType="1"/>
          </p:cNvSpPr>
          <p:nvPr/>
        </p:nvSpPr>
        <p:spPr bwMode="auto">
          <a:xfrm>
            <a:off x="6832600" y="572770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81" name="Line 272"/>
          <p:cNvSpPr>
            <a:spLocks noChangeShapeType="1"/>
          </p:cNvSpPr>
          <p:nvPr/>
        </p:nvSpPr>
        <p:spPr bwMode="auto">
          <a:xfrm>
            <a:off x="6832600" y="5727700"/>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82" name="Rectangle 273"/>
          <p:cNvSpPr>
            <a:spLocks noChangeArrowheads="1"/>
          </p:cNvSpPr>
          <p:nvPr/>
        </p:nvSpPr>
        <p:spPr bwMode="auto">
          <a:xfrm>
            <a:off x="7370763" y="5727700"/>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83" name="Line 274"/>
          <p:cNvSpPr>
            <a:spLocks noChangeShapeType="1"/>
          </p:cNvSpPr>
          <p:nvPr/>
        </p:nvSpPr>
        <p:spPr bwMode="auto">
          <a:xfrm>
            <a:off x="7370763" y="5727700"/>
            <a:ext cx="1587"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84" name="Rectangle 275"/>
          <p:cNvSpPr>
            <a:spLocks noChangeArrowheads="1"/>
          </p:cNvSpPr>
          <p:nvPr/>
        </p:nvSpPr>
        <p:spPr bwMode="auto">
          <a:xfrm>
            <a:off x="7370763" y="5727700"/>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85" name="Line 276"/>
          <p:cNvSpPr>
            <a:spLocks noChangeShapeType="1"/>
          </p:cNvSpPr>
          <p:nvPr/>
        </p:nvSpPr>
        <p:spPr bwMode="auto">
          <a:xfrm>
            <a:off x="7370763" y="572770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86" name="Line 277"/>
          <p:cNvSpPr>
            <a:spLocks noChangeShapeType="1"/>
          </p:cNvSpPr>
          <p:nvPr/>
        </p:nvSpPr>
        <p:spPr bwMode="auto">
          <a:xfrm>
            <a:off x="7370763" y="5727700"/>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87" name="Rectangle 278"/>
          <p:cNvSpPr>
            <a:spLocks noChangeArrowheads="1"/>
          </p:cNvSpPr>
          <p:nvPr/>
        </p:nvSpPr>
        <p:spPr bwMode="auto">
          <a:xfrm>
            <a:off x="7392988" y="5727700"/>
            <a:ext cx="5270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88" name="Line 279"/>
          <p:cNvSpPr>
            <a:spLocks noChangeShapeType="1"/>
          </p:cNvSpPr>
          <p:nvPr/>
        </p:nvSpPr>
        <p:spPr bwMode="auto">
          <a:xfrm>
            <a:off x="7392988" y="5727700"/>
            <a:ext cx="5270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89" name="Rectangle 280"/>
          <p:cNvSpPr>
            <a:spLocks noChangeArrowheads="1"/>
          </p:cNvSpPr>
          <p:nvPr/>
        </p:nvSpPr>
        <p:spPr bwMode="auto">
          <a:xfrm>
            <a:off x="7920038" y="5727700"/>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90" name="Line 281"/>
          <p:cNvSpPr>
            <a:spLocks noChangeShapeType="1"/>
          </p:cNvSpPr>
          <p:nvPr/>
        </p:nvSpPr>
        <p:spPr bwMode="auto">
          <a:xfrm>
            <a:off x="7920038" y="5727700"/>
            <a:ext cx="1587" cy="381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91" name="Rectangle 282"/>
          <p:cNvSpPr>
            <a:spLocks noChangeArrowheads="1"/>
          </p:cNvSpPr>
          <p:nvPr/>
        </p:nvSpPr>
        <p:spPr bwMode="auto">
          <a:xfrm>
            <a:off x="7920038" y="5727700"/>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92" name="Line 283"/>
          <p:cNvSpPr>
            <a:spLocks noChangeShapeType="1"/>
          </p:cNvSpPr>
          <p:nvPr/>
        </p:nvSpPr>
        <p:spPr bwMode="auto">
          <a:xfrm>
            <a:off x="7920038" y="5727700"/>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93" name="Line 284"/>
          <p:cNvSpPr>
            <a:spLocks noChangeShapeType="1"/>
          </p:cNvSpPr>
          <p:nvPr/>
        </p:nvSpPr>
        <p:spPr bwMode="auto">
          <a:xfrm>
            <a:off x="7920038" y="5727700"/>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94" name="Rectangle 285"/>
          <p:cNvSpPr>
            <a:spLocks noChangeArrowheads="1"/>
          </p:cNvSpPr>
          <p:nvPr/>
        </p:nvSpPr>
        <p:spPr bwMode="auto">
          <a:xfrm>
            <a:off x="3594100" y="5765800"/>
            <a:ext cx="23813"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95" name="Line 286"/>
          <p:cNvSpPr>
            <a:spLocks noChangeShapeType="1"/>
          </p:cNvSpPr>
          <p:nvPr/>
        </p:nvSpPr>
        <p:spPr bwMode="auto">
          <a:xfrm>
            <a:off x="3594100" y="5765800"/>
            <a:ext cx="1588" cy="47307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96" name="Rectangle 287"/>
          <p:cNvSpPr>
            <a:spLocks noChangeArrowheads="1"/>
          </p:cNvSpPr>
          <p:nvPr/>
        </p:nvSpPr>
        <p:spPr bwMode="auto">
          <a:xfrm>
            <a:off x="3594100" y="6238875"/>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197" name="Line 288"/>
          <p:cNvSpPr>
            <a:spLocks noChangeShapeType="1"/>
          </p:cNvSpPr>
          <p:nvPr/>
        </p:nvSpPr>
        <p:spPr bwMode="auto">
          <a:xfrm>
            <a:off x="3594100" y="6238875"/>
            <a:ext cx="23813"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98" name="Line 289"/>
          <p:cNvSpPr>
            <a:spLocks noChangeShapeType="1"/>
          </p:cNvSpPr>
          <p:nvPr/>
        </p:nvSpPr>
        <p:spPr bwMode="auto">
          <a:xfrm>
            <a:off x="3594100" y="6238875"/>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199" name="Rectangle 290"/>
          <p:cNvSpPr>
            <a:spLocks noChangeArrowheads="1"/>
          </p:cNvSpPr>
          <p:nvPr/>
        </p:nvSpPr>
        <p:spPr bwMode="auto">
          <a:xfrm>
            <a:off x="3594100" y="6238875"/>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00" name="Line 291"/>
          <p:cNvSpPr>
            <a:spLocks noChangeShapeType="1"/>
          </p:cNvSpPr>
          <p:nvPr/>
        </p:nvSpPr>
        <p:spPr bwMode="auto">
          <a:xfrm>
            <a:off x="3594100" y="6238875"/>
            <a:ext cx="23813"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01" name="Line 292"/>
          <p:cNvSpPr>
            <a:spLocks noChangeShapeType="1"/>
          </p:cNvSpPr>
          <p:nvPr/>
        </p:nvSpPr>
        <p:spPr bwMode="auto">
          <a:xfrm>
            <a:off x="3594100" y="6238875"/>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02" name="Rectangle 293"/>
          <p:cNvSpPr>
            <a:spLocks noChangeArrowheads="1"/>
          </p:cNvSpPr>
          <p:nvPr/>
        </p:nvSpPr>
        <p:spPr bwMode="auto">
          <a:xfrm>
            <a:off x="3617913" y="6238875"/>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03" name="Line 294"/>
          <p:cNvSpPr>
            <a:spLocks noChangeShapeType="1"/>
          </p:cNvSpPr>
          <p:nvPr/>
        </p:nvSpPr>
        <p:spPr bwMode="auto">
          <a:xfrm>
            <a:off x="3617913" y="6238875"/>
            <a:ext cx="5143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04" name="Rectangle 295"/>
          <p:cNvSpPr>
            <a:spLocks noChangeArrowheads="1"/>
          </p:cNvSpPr>
          <p:nvPr/>
        </p:nvSpPr>
        <p:spPr bwMode="auto">
          <a:xfrm>
            <a:off x="4132263" y="5765800"/>
            <a:ext cx="22225"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05" name="Line 296"/>
          <p:cNvSpPr>
            <a:spLocks noChangeShapeType="1"/>
          </p:cNvSpPr>
          <p:nvPr/>
        </p:nvSpPr>
        <p:spPr bwMode="auto">
          <a:xfrm>
            <a:off x="4132263" y="5765800"/>
            <a:ext cx="1587" cy="47307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06" name="Rectangle 297"/>
          <p:cNvSpPr>
            <a:spLocks noChangeArrowheads="1"/>
          </p:cNvSpPr>
          <p:nvPr/>
        </p:nvSpPr>
        <p:spPr bwMode="auto">
          <a:xfrm>
            <a:off x="4132263"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07" name="Line 298"/>
          <p:cNvSpPr>
            <a:spLocks noChangeShapeType="1"/>
          </p:cNvSpPr>
          <p:nvPr/>
        </p:nvSpPr>
        <p:spPr bwMode="auto">
          <a:xfrm>
            <a:off x="4132263" y="623887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08" name="Line 299"/>
          <p:cNvSpPr>
            <a:spLocks noChangeShapeType="1"/>
          </p:cNvSpPr>
          <p:nvPr/>
        </p:nvSpPr>
        <p:spPr bwMode="auto">
          <a:xfrm>
            <a:off x="4132263" y="6238875"/>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09" name="Rectangle 300"/>
          <p:cNvSpPr>
            <a:spLocks noChangeArrowheads="1"/>
          </p:cNvSpPr>
          <p:nvPr/>
        </p:nvSpPr>
        <p:spPr bwMode="auto">
          <a:xfrm>
            <a:off x="4132263"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10" name="Line 301"/>
          <p:cNvSpPr>
            <a:spLocks noChangeShapeType="1"/>
          </p:cNvSpPr>
          <p:nvPr/>
        </p:nvSpPr>
        <p:spPr bwMode="auto">
          <a:xfrm>
            <a:off x="4132263" y="623887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11" name="Line 302"/>
          <p:cNvSpPr>
            <a:spLocks noChangeShapeType="1"/>
          </p:cNvSpPr>
          <p:nvPr/>
        </p:nvSpPr>
        <p:spPr bwMode="auto">
          <a:xfrm>
            <a:off x="4132263" y="6238875"/>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12" name="Rectangle 303"/>
          <p:cNvSpPr>
            <a:spLocks noChangeArrowheads="1"/>
          </p:cNvSpPr>
          <p:nvPr/>
        </p:nvSpPr>
        <p:spPr bwMode="auto">
          <a:xfrm>
            <a:off x="4670425" y="5765800"/>
            <a:ext cx="22225"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13" name="Line 304"/>
          <p:cNvSpPr>
            <a:spLocks noChangeShapeType="1"/>
          </p:cNvSpPr>
          <p:nvPr/>
        </p:nvSpPr>
        <p:spPr bwMode="auto">
          <a:xfrm>
            <a:off x="4670425" y="5765800"/>
            <a:ext cx="1588" cy="47307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14" name="Rectangle 305"/>
          <p:cNvSpPr>
            <a:spLocks noChangeArrowheads="1"/>
          </p:cNvSpPr>
          <p:nvPr/>
        </p:nvSpPr>
        <p:spPr bwMode="auto">
          <a:xfrm>
            <a:off x="4670425"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15" name="Line 306"/>
          <p:cNvSpPr>
            <a:spLocks noChangeShapeType="1"/>
          </p:cNvSpPr>
          <p:nvPr/>
        </p:nvSpPr>
        <p:spPr bwMode="auto">
          <a:xfrm>
            <a:off x="4670425" y="623887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16" name="Line 307"/>
          <p:cNvSpPr>
            <a:spLocks noChangeShapeType="1"/>
          </p:cNvSpPr>
          <p:nvPr/>
        </p:nvSpPr>
        <p:spPr bwMode="auto">
          <a:xfrm>
            <a:off x="4670425" y="6238875"/>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17" name="Rectangle 308"/>
          <p:cNvSpPr>
            <a:spLocks noChangeArrowheads="1"/>
          </p:cNvSpPr>
          <p:nvPr/>
        </p:nvSpPr>
        <p:spPr bwMode="auto">
          <a:xfrm>
            <a:off x="4670425"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18" name="Line 309"/>
          <p:cNvSpPr>
            <a:spLocks noChangeShapeType="1"/>
          </p:cNvSpPr>
          <p:nvPr/>
        </p:nvSpPr>
        <p:spPr bwMode="auto">
          <a:xfrm>
            <a:off x="4670425" y="623887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19" name="Line 310"/>
          <p:cNvSpPr>
            <a:spLocks noChangeShapeType="1"/>
          </p:cNvSpPr>
          <p:nvPr/>
        </p:nvSpPr>
        <p:spPr bwMode="auto">
          <a:xfrm>
            <a:off x="4670425" y="6238875"/>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20" name="Rectangle 311"/>
          <p:cNvSpPr>
            <a:spLocks noChangeArrowheads="1"/>
          </p:cNvSpPr>
          <p:nvPr/>
        </p:nvSpPr>
        <p:spPr bwMode="auto">
          <a:xfrm>
            <a:off x="4692650" y="6238875"/>
            <a:ext cx="5159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21" name="Line 312"/>
          <p:cNvSpPr>
            <a:spLocks noChangeShapeType="1"/>
          </p:cNvSpPr>
          <p:nvPr/>
        </p:nvSpPr>
        <p:spPr bwMode="auto">
          <a:xfrm>
            <a:off x="4692650" y="6238875"/>
            <a:ext cx="515938"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22" name="Rectangle 313"/>
          <p:cNvSpPr>
            <a:spLocks noChangeArrowheads="1"/>
          </p:cNvSpPr>
          <p:nvPr/>
        </p:nvSpPr>
        <p:spPr bwMode="auto">
          <a:xfrm>
            <a:off x="5208588" y="5765800"/>
            <a:ext cx="22225"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23" name="Line 314"/>
          <p:cNvSpPr>
            <a:spLocks noChangeShapeType="1"/>
          </p:cNvSpPr>
          <p:nvPr/>
        </p:nvSpPr>
        <p:spPr bwMode="auto">
          <a:xfrm>
            <a:off x="5208588" y="5765800"/>
            <a:ext cx="1587" cy="47307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24" name="Rectangle 315"/>
          <p:cNvSpPr>
            <a:spLocks noChangeArrowheads="1"/>
          </p:cNvSpPr>
          <p:nvPr/>
        </p:nvSpPr>
        <p:spPr bwMode="auto">
          <a:xfrm>
            <a:off x="5208588"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25" name="Line 316"/>
          <p:cNvSpPr>
            <a:spLocks noChangeShapeType="1"/>
          </p:cNvSpPr>
          <p:nvPr/>
        </p:nvSpPr>
        <p:spPr bwMode="auto">
          <a:xfrm>
            <a:off x="5208588" y="623887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26" name="Line 317"/>
          <p:cNvSpPr>
            <a:spLocks noChangeShapeType="1"/>
          </p:cNvSpPr>
          <p:nvPr/>
        </p:nvSpPr>
        <p:spPr bwMode="auto">
          <a:xfrm>
            <a:off x="5208588" y="6238875"/>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27" name="Rectangle 318"/>
          <p:cNvSpPr>
            <a:spLocks noChangeArrowheads="1"/>
          </p:cNvSpPr>
          <p:nvPr/>
        </p:nvSpPr>
        <p:spPr bwMode="auto">
          <a:xfrm>
            <a:off x="5208588"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28" name="Line 319"/>
          <p:cNvSpPr>
            <a:spLocks noChangeShapeType="1"/>
          </p:cNvSpPr>
          <p:nvPr/>
        </p:nvSpPr>
        <p:spPr bwMode="auto">
          <a:xfrm>
            <a:off x="5208588" y="623887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29" name="Line 320"/>
          <p:cNvSpPr>
            <a:spLocks noChangeShapeType="1"/>
          </p:cNvSpPr>
          <p:nvPr/>
        </p:nvSpPr>
        <p:spPr bwMode="auto">
          <a:xfrm>
            <a:off x="5208588" y="6238875"/>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30" name="Rectangle 321"/>
          <p:cNvSpPr>
            <a:spLocks noChangeArrowheads="1"/>
          </p:cNvSpPr>
          <p:nvPr/>
        </p:nvSpPr>
        <p:spPr bwMode="auto">
          <a:xfrm>
            <a:off x="6294438" y="5765800"/>
            <a:ext cx="23812"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31" name="Line 322"/>
          <p:cNvSpPr>
            <a:spLocks noChangeShapeType="1"/>
          </p:cNvSpPr>
          <p:nvPr/>
        </p:nvSpPr>
        <p:spPr bwMode="auto">
          <a:xfrm>
            <a:off x="6294438" y="5765800"/>
            <a:ext cx="1587" cy="47307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32" name="Rectangle 323"/>
          <p:cNvSpPr>
            <a:spLocks noChangeArrowheads="1"/>
          </p:cNvSpPr>
          <p:nvPr/>
        </p:nvSpPr>
        <p:spPr bwMode="auto">
          <a:xfrm>
            <a:off x="6294438" y="6238875"/>
            <a:ext cx="23812"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33" name="Line 324"/>
          <p:cNvSpPr>
            <a:spLocks noChangeShapeType="1"/>
          </p:cNvSpPr>
          <p:nvPr/>
        </p:nvSpPr>
        <p:spPr bwMode="auto">
          <a:xfrm>
            <a:off x="6294438" y="6238875"/>
            <a:ext cx="23812"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34" name="Line 325"/>
          <p:cNvSpPr>
            <a:spLocks noChangeShapeType="1"/>
          </p:cNvSpPr>
          <p:nvPr/>
        </p:nvSpPr>
        <p:spPr bwMode="auto">
          <a:xfrm>
            <a:off x="6294438" y="6238875"/>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35" name="Rectangle 326"/>
          <p:cNvSpPr>
            <a:spLocks noChangeArrowheads="1"/>
          </p:cNvSpPr>
          <p:nvPr/>
        </p:nvSpPr>
        <p:spPr bwMode="auto">
          <a:xfrm>
            <a:off x="6294438" y="6238875"/>
            <a:ext cx="23812"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36" name="Line 327"/>
          <p:cNvSpPr>
            <a:spLocks noChangeShapeType="1"/>
          </p:cNvSpPr>
          <p:nvPr/>
        </p:nvSpPr>
        <p:spPr bwMode="auto">
          <a:xfrm>
            <a:off x="6294438" y="6238875"/>
            <a:ext cx="23812"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37" name="Line 328"/>
          <p:cNvSpPr>
            <a:spLocks noChangeShapeType="1"/>
          </p:cNvSpPr>
          <p:nvPr/>
        </p:nvSpPr>
        <p:spPr bwMode="auto">
          <a:xfrm>
            <a:off x="6294438" y="6238875"/>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38" name="Rectangle 329"/>
          <p:cNvSpPr>
            <a:spLocks noChangeArrowheads="1"/>
          </p:cNvSpPr>
          <p:nvPr/>
        </p:nvSpPr>
        <p:spPr bwMode="auto">
          <a:xfrm>
            <a:off x="6318250" y="6238875"/>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39" name="Line 330"/>
          <p:cNvSpPr>
            <a:spLocks noChangeShapeType="1"/>
          </p:cNvSpPr>
          <p:nvPr/>
        </p:nvSpPr>
        <p:spPr bwMode="auto">
          <a:xfrm>
            <a:off x="6318250" y="6238875"/>
            <a:ext cx="5143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40" name="Rectangle 331"/>
          <p:cNvSpPr>
            <a:spLocks noChangeArrowheads="1"/>
          </p:cNvSpPr>
          <p:nvPr/>
        </p:nvSpPr>
        <p:spPr bwMode="auto">
          <a:xfrm>
            <a:off x="6832600" y="5765800"/>
            <a:ext cx="22225"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41" name="Line 332"/>
          <p:cNvSpPr>
            <a:spLocks noChangeShapeType="1"/>
          </p:cNvSpPr>
          <p:nvPr/>
        </p:nvSpPr>
        <p:spPr bwMode="auto">
          <a:xfrm>
            <a:off x="6832600" y="5765800"/>
            <a:ext cx="1588" cy="47307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42" name="Rectangle 333"/>
          <p:cNvSpPr>
            <a:spLocks noChangeArrowheads="1"/>
          </p:cNvSpPr>
          <p:nvPr/>
        </p:nvSpPr>
        <p:spPr bwMode="auto">
          <a:xfrm>
            <a:off x="6832600"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43" name="Line 334"/>
          <p:cNvSpPr>
            <a:spLocks noChangeShapeType="1"/>
          </p:cNvSpPr>
          <p:nvPr/>
        </p:nvSpPr>
        <p:spPr bwMode="auto">
          <a:xfrm>
            <a:off x="6832600" y="623887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44" name="Line 335"/>
          <p:cNvSpPr>
            <a:spLocks noChangeShapeType="1"/>
          </p:cNvSpPr>
          <p:nvPr/>
        </p:nvSpPr>
        <p:spPr bwMode="auto">
          <a:xfrm>
            <a:off x="6832600" y="6238875"/>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45" name="Rectangle 336"/>
          <p:cNvSpPr>
            <a:spLocks noChangeArrowheads="1"/>
          </p:cNvSpPr>
          <p:nvPr/>
        </p:nvSpPr>
        <p:spPr bwMode="auto">
          <a:xfrm>
            <a:off x="6832600"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46" name="Line 337"/>
          <p:cNvSpPr>
            <a:spLocks noChangeShapeType="1"/>
          </p:cNvSpPr>
          <p:nvPr/>
        </p:nvSpPr>
        <p:spPr bwMode="auto">
          <a:xfrm>
            <a:off x="6832600" y="623887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47" name="Line 338"/>
          <p:cNvSpPr>
            <a:spLocks noChangeShapeType="1"/>
          </p:cNvSpPr>
          <p:nvPr/>
        </p:nvSpPr>
        <p:spPr bwMode="auto">
          <a:xfrm>
            <a:off x="6832600" y="6238875"/>
            <a:ext cx="1588"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48" name="Rectangle 339"/>
          <p:cNvSpPr>
            <a:spLocks noChangeArrowheads="1"/>
          </p:cNvSpPr>
          <p:nvPr/>
        </p:nvSpPr>
        <p:spPr bwMode="auto">
          <a:xfrm>
            <a:off x="7370763" y="5765800"/>
            <a:ext cx="22225"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49" name="Line 340"/>
          <p:cNvSpPr>
            <a:spLocks noChangeShapeType="1"/>
          </p:cNvSpPr>
          <p:nvPr/>
        </p:nvSpPr>
        <p:spPr bwMode="auto">
          <a:xfrm>
            <a:off x="7370763" y="5765800"/>
            <a:ext cx="1587" cy="47307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50" name="Rectangle 341"/>
          <p:cNvSpPr>
            <a:spLocks noChangeArrowheads="1"/>
          </p:cNvSpPr>
          <p:nvPr/>
        </p:nvSpPr>
        <p:spPr bwMode="auto">
          <a:xfrm>
            <a:off x="7370763"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51" name="Line 342"/>
          <p:cNvSpPr>
            <a:spLocks noChangeShapeType="1"/>
          </p:cNvSpPr>
          <p:nvPr/>
        </p:nvSpPr>
        <p:spPr bwMode="auto">
          <a:xfrm>
            <a:off x="7370763" y="623887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52" name="Line 343"/>
          <p:cNvSpPr>
            <a:spLocks noChangeShapeType="1"/>
          </p:cNvSpPr>
          <p:nvPr/>
        </p:nvSpPr>
        <p:spPr bwMode="auto">
          <a:xfrm>
            <a:off x="7370763" y="6238875"/>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53" name="Rectangle 344"/>
          <p:cNvSpPr>
            <a:spLocks noChangeArrowheads="1"/>
          </p:cNvSpPr>
          <p:nvPr/>
        </p:nvSpPr>
        <p:spPr bwMode="auto">
          <a:xfrm>
            <a:off x="7370763"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54" name="Line 345"/>
          <p:cNvSpPr>
            <a:spLocks noChangeShapeType="1"/>
          </p:cNvSpPr>
          <p:nvPr/>
        </p:nvSpPr>
        <p:spPr bwMode="auto">
          <a:xfrm>
            <a:off x="7370763" y="623887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55" name="Line 346"/>
          <p:cNvSpPr>
            <a:spLocks noChangeShapeType="1"/>
          </p:cNvSpPr>
          <p:nvPr/>
        </p:nvSpPr>
        <p:spPr bwMode="auto">
          <a:xfrm>
            <a:off x="7370763" y="6238875"/>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56" name="Rectangle 347"/>
          <p:cNvSpPr>
            <a:spLocks noChangeArrowheads="1"/>
          </p:cNvSpPr>
          <p:nvPr/>
        </p:nvSpPr>
        <p:spPr bwMode="auto">
          <a:xfrm>
            <a:off x="7392988" y="6238875"/>
            <a:ext cx="5270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57" name="Line 348"/>
          <p:cNvSpPr>
            <a:spLocks noChangeShapeType="1"/>
          </p:cNvSpPr>
          <p:nvPr/>
        </p:nvSpPr>
        <p:spPr bwMode="auto">
          <a:xfrm>
            <a:off x="7392988" y="6238875"/>
            <a:ext cx="527050"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58" name="Rectangle 349"/>
          <p:cNvSpPr>
            <a:spLocks noChangeArrowheads="1"/>
          </p:cNvSpPr>
          <p:nvPr/>
        </p:nvSpPr>
        <p:spPr bwMode="auto">
          <a:xfrm>
            <a:off x="7920038" y="5765800"/>
            <a:ext cx="22225"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59" name="Line 350"/>
          <p:cNvSpPr>
            <a:spLocks noChangeShapeType="1"/>
          </p:cNvSpPr>
          <p:nvPr/>
        </p:nvSpPr>
        <p:spPr bwMode="auto">
          <a:xfrm>
            <a:off x="7920038" y="5765800"/>
            <a:ext cx="1587" cy="47307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60" name="Rectangle 351"/>
          <p:cNvSpPr>
            <a:spLocks noChangeArrowheads="1"/>
          </p:cNvSpPr>
          <p:nvPr/>
        </p:nvSpPr>
        <p:spPr bwMode="auto">
          <a:xfrm>
            <a:off x="7920038"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61" name="Line 352"/>
          <p:cNvSpPr>
            <a:spLocks noChangeShapeType="1"/>
          </p:cNvSpPr>
          <p:nvPr/>
        </p:nvSpPr>
        <p:spPr bwMode="auto">
          <a:xfrm>
            <a:off x="7920038" y="623887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62" name="Line 353"/>
          <p:cNvSpPr>
            <a:spLocks noChangeShapeType="1"/>
          </p:cNvSpPr>
          <p:nvPr/>
        </p:nvSpPr>
        <p:spPr bwMode="auto">
          <a:xfrm>
            <a:off x="7920038" y="6238875"/>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63" name="Rectangle 354"/>
          <p:cNvSpPr>
            <a:spLocks noChangeArrowheads="1"/>
          </p:cNvSpPr>
          <p:nvPr/>
        </p:nvSpPr>
        <p:spPr bwMode="auto">
          <a:xfrm>
            <a:off x="7920038"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264" name="Line 355"/>
          <p:cNvSpPr>
            <a:spLocks noChangeShapeType="1"/>
          </p:cNvSpPr>
          <p:nvPr/>
        </p:nvSpPr>
        <p:spPr bwMode="auto">
          <a:xfrm>
            <a:off x="7920038" y="6238875"/>
            <a:ext cx="22225" cy="158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265" name="Line 356"/>
          <p:cNvSpPr>
            <a:spLocks noChangeShapeType="1"/>
          </p:cNvSpPr>
          <p:nvPr/>
        </p:nvSpPr>
        <p:spPr bwMode="auto">
          <a:xfrm>
            <a:off x="7920038" y="6238875"/>
            <a:ext cx="1587" cy="2540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grpSp>
        <p:nvGrpSpPr>
          <p:cNvPr id="167266" name="Group 359"/>
          <p:cNvGrpSpPr/>
          <p:nvPr/>
        </p:nvGrpSpPr>
        <p:grpSpPr bwMode="auto">
          <a:xfrm>
            <a:off x="5938838" y="3992563"/>
            <a:ext cx="344487" cy="217487"/>
            <a:chOff x="3802" y="2640"/>
            <a:chExt cx="217" cy="137"/>
          </a:xfrm>
        </p:grpSpPr>
        <p:sp>
          <p:nvSpPr>
            <p:cNvPr id="167457" name="Rectangle 357"/>
            <p:cNvSpPr>
              <a:spLocks noChangeArrowheads="1"/>
            </p:cNvSpPr>
            <p:nvPr/>
          </p:nvSpPr>
          <p:spPr bwMode="auto">
            <a:xfrm>
              <a:off x="3802" y="2697"/>
              <a:ext cx="152"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58" name="Freeform 358"/>
            <p:cNvSpPr/>
            <p:nvPr/>
          </p:nvSpPr>
          <p:spPr bwMode="auto">
            <a:xfrm>
              <a:off x="3903" y="2640"/>
              <a:ext cx="116" cy="137"/>
            </a:xfrm>
            <a:custGeom>
              <a:avLst/>
              <a:gdLst>
                <a:gd name="T0" fmla="*/ 0 w 116"/>
                <a:gd name="T1" fmla="*/ 137 h 137"/>
                <a:gd name="T2" fmla="*/ 116 w 116"/>
                <a:gd name="T3" fmla="*/ 65 h 137"/>
                <a:gd name="T4" fmla="*/ 0 w 116"/>
                <a:gd name="T5" fmla="*/ 0 h 137"/>
                <a:gd name="T6" fmla="*/ 36 w 116"/>
                <a:gd name="T7" fmla="*/ 65 h 137"/>
                <a:gd name="T8" fmla="*/ 0 w 116"/>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6" h="137">
                  <a:moveTo>
                    <a:pt x="0" y="137"/>
                  </a:moveTo>
                  <a:lnTo>
                    <a:pt x="116" y="65"/>
                  </a:lnTo>
                  <a:lnTo>
                    <a:pt x="0" y="0"/>
                  </a:lnTo>
                  <a:lnTo>
                    <a:pt x="36" y="65"/>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67" name="Group 362"/>
          <p:cNvGrpSpPr/>
          <p:nvPr/>
        </p:nvGrpSpPr>
        <p:grpSpPr bwMode="auto">
          <a:xfrm>
            <a:off x="3057525" y="5103813"/>
            <a:ext cx="519113" cy="946150"/>
            <a:chOff x="1929" y="3340"/>
            <a:chExt cx="360" cy="554"/>
          </a:xfrm>
        </p:grpSpPr>
        <p:sp>
          <p:nvSpPr>
            <p:cNvPr id="167455" name="Line 360"/>
            <p:cNvSpPr>
              <a:spLocks noChangeShapeType="1"/>
            </p:cNvSpPr>
            <p:nvPr/>
          </p:nvSpPr>
          <p:spPr bwMode="auto">
            <a:xfrm>
              <a:off x="1929" y="3340"/>
              <a:ext cx="338" cy="514"/>
            </a:xfrm>
            <a:prstGeom prst="line">
              <a:avLst/>
            </a:prstGeom>
            <a:noFill/>
            <a:ln w="222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456" name="Freeform 361"/>
            <p:cNvSpPr/>
            <p:nvPr/>
          </p:nvSpPr>
          <p:spPr bwMode="auto">
            <a:xfrm>
              <a:off x="2181" y="3774"/>
              <a:ext cx="108" cy="120"/>
            </a:xfrm>
            <a:custGeom>
              <a:avLst/>
              <a:gdLst>
                <a:gd name="T0" fmla="*/ 0 w 108"/>
                <a:gd name="T1" fmla="*/ 64 h 120"/>
                <a:gd name="T2" fmla="*/ 108 w 108"/>
                <a:gd name="T3" fmla="*/ 120 h 120"/>
                <a:gd name="T4" fmla="*/ 94 w 108"/>
                <a:gd name="T5" fmla="*/ 0 h 120"/>
                <a:gd name="T6" fmla="*/ 72 w 108"/>
                <a:gd name="T7" fmla="*/ 64 h 120"/>
                <a:gd name="T8" fmla="*/ 0 w 108"/>
                <a:gd name="T9" fmla="*/ 64 h 1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8" h="120">
                  <a:moveTo>
                    <a:pt x="0" y="64"/>
                  </a:moveTo>
                  <a:lnTo>
                    <a:pt x="108" y="120"/>
                  </a:lnTo>
                  <a:lnTo>
                    <a:pt x="94" y="0"/>
                  </a:lnTo>
                  <a:lnTo>
                    <a:pt x="72" y="64"/>
                  </a:lnTo>
                  <a:lnTo>
                    <a:pt x="0" y="6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68" name="Group 365"/>
          <p:cNvGrpSpPr/>
          <p:nvPr/>
        </p:nvGrpSpPr>
        <p:grpSpPr bwMode="auto">
          <a:xfrm>
            <a:off x="4200525" y="5868988"/>
            <a:ext cx="458788" cy="190500"/>
            <a:chOff x="2649" y="3822"/>
            <a:chExt cx="289" cy="120"/>
          </a:xfrm>
        </p:grpSpPr>
        <p:sp>
          <p:nvSpPr>
            <p:cNvPr id="167453" name="Line 363"/>
            <p:cNvSpPr>
              <a:spLocks noChangeShapeType="1"/>
            </p:cNvSpPr>
            <p:nvPr/>
          </p:nvSpPr>
          <p:spPr bwMode="auto">
            <a:xfrm>
              <a:off x="2649" y="3878"/>
              <a:ext cx="238" cy="1"/>
            </a:xfrm>
            <a:prstGeom prst="line">
              <a:avLst/>
            </a:prstGeom>
            <a:noFill/>
            <a:ln w="222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454" name="Freeform 364"/>
            <p:cNvSpPr/>
            <p:nvPr/>
          </p:nvSpPr>
          <p:spPr bwMode="auto">
            <a:xfrm>
              <a:off x="2837" y="3822"/>
              <a:ext cx="101" cy="120"/>
            </a:xfrm>
            <a:custGeom>
              <a:avLst/>
              <a:gdLst>
                <a:gd name="T0" fmla="*/ 0 w 101"/>
                <a:gd name="T1" fmla="*/ 120 h 120"/>
                <a:gd name="T2" fmla="*/ 101 w 101"/>
                <a:gd name="T3" fmla="*/ 56 h 120"/>
                <a:gd name="T4" fmla="*/ 0 w 101"/>
                <a:gd name="T5" fmla="*/ 0 h 120"/>
                <a:gd name="T6" fmla="*/ 36 w 101"/>
                <a:gd name="T7" fmla="*/ 56 h 120"/>
                <a:gd name="T8" fmla="*/ 0 w 101"/>
                <a:gd name="T9" fmla="*/ 120 h 1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 h="120">
                  <a:moveTo>
                    <a:pt x="0" y="120"/>
                  </a:moveTo>
                  <a:lnTo>
                    <a:pt x="101" y="56"/>
                  </a:lnTo>
                  <a:lnTo>
                    <a:pt x="0" y="0"/>
                  </a:lnTo>
                  <a:lnTo>
                    <a:pt x="36" y="56"/>
                  </a:lnTo>
                  <a:lnTo>
                    <a:pt x="0" y="12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69" name="Group 368"/>
          <p:cNvGrpSpPr/>
          <p:nvPr/>
        </p:nvGrpSpPr>
        <p:grpSpPr bwMode="auto">
          <a:xfrm>
            <a:off x="3057525" y="4144963"/>
            <a:ext cx="519113" cy="830262"/>
            <a:chOff x="1929" y="2705"/>
            <a:chExt cx="360" cy="554"/>
          </a:xfrm>
        </p:grpSpPr>
        <p:sp>
          <p:nvSpPr>
            <p:cNvPr id="167451" name="Line 366"/>
            <p:cNvSpPr>
              <a:spLocks noChangeShapeType="1"/>
            </p:cNvSpPr>
            <p:nvPr/>
          </p:nvSpPr>
          <p:spPr bwMode="auto">
            <a:xfrm flipV="1">
              <a:off x="1929" y="2745"/>
              <a:ext cx="338" cy="514"/>
            </a:xfrm>
            <a:prstGeom prst="line">
              <a:avLst/>
            </a:prstGeom>
            <a:noFill/>
            <a:ln w="222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452" name="Freeform 367"/>
            <p:cNvSpPr/>
            <p:nvPr/>
          </p:nvSpPr>
          <p:spPr bwMode="auto">
            <a:xfrm>
              <a:off x="2188" y="2705"/>
              <a:ext cx="101" cy="128"/>
            </a:xfrm>
            <a:custGeom>
              <a:avLst/>
              <a:gdLst>
                <a:gd name="T0" fmla="*/ 87 w 101"/>
                <a:gd name="T1" fmla="*/ 128 h 128"/>
                <a:gd name="T2" fmla="*/ 101 w 101"/>
                <a:gd name="T3" fmla="*/ 0 h 128"/>
                <a:gd name="T4" fmla="*/ 0 w 101"/>
                <a:gd name="T5" fmla="*/ 56 h 128"/>
                <a:gd name="T6" fmla="*/ 65 w 101"/>
                <a:gd name="T7" fmla="*/ 56 h 128"/>
                <a:gd name="T8" fmla="*/ 87 w 101"/>
                <a:gd name="T9" fmla="*/ 128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 h="128">
                  <a:moveTo>
                    <a:pt x="87" y="128"/>
                  </a:moveTo>
                  <a:lnTo>
                    <a:pt x="101" y="0"/>
                  </a:lnTo>
                  <a:lnTo>
                    <a:pt x="0" y="56"/>
                  </a:lnTo>
                  <a:lnTo>
                    <a:pt x="65" y="56"/>
                  </a:lnTo>
                  <a:lnTo>
                    <a:pt x="87" y="1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70" name="Group 371"/>
          <p:cNvGrpSpPr/>
          <p:nvPr/>
        </p:nvGrpSpPr>
        <p:grpSpPr bwMode="auto">
          <a:xfrm>
            <a:off x="4110038" y="3992563"/>
            <a:ext cx="573087" cy="217487"/>
            <a:chOff x="2649" y="2640"/>
            <a:chExt cx="361" cy="137"/>
          </a:xfrm>
        </p:grpSpPr>
        <p:sp>
          <p:nvSpPr>
            <p:cNvPr id="167449" name="Rectangle 369"/>
            <p:cNvSpPr>
              <a:spLocks noChangeArrowheads="1"/>
            </p:cNvSpPr>
            <p:nvPr/>
          </p:nvSpPr>
          <p:spPr bwMode="auto">
            <a:xfrm>
              <a:off x="2649" y="2697"/>
              <a:ext cx="296"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50" name="Freeform 370"/>
            <p:cNvSpPr/>
            <p:nvPr/>
          </p:nvSpPr>
          <p:spPr bwMode="auto">
            <a:xfrm>
              <a:off x="2894" y="2640"/>
              <a:ext cx="116" cy="137"/>
            </a:xfrm>
            <a:custGeom>
              <a:avLst/>
              <a:gdLst>
                <a:gd name="T0" fmla="*/ 0 w 116"/>
                <a:gd name="T1" fmla="*/ 137 h 137"/>
                <a:gd name="T2" fmla="*/ 116 w 116"/>
                <a:gd name="T3" fmla="*/ 65 h 137"/>
                <a:gd name="T4" fmla="*/ 0 w 116"/>
                <a:gd name="T5" fmla="*/ 0 h 137"/>
                <a:gd name="T6" fmla="*/ 36 w 116"/>
                <a:gd name="T7" fmla="*/ 65 h 137"/>
                <a:gd name="T8" fmla="*/ 0 w 116"/>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6" h="137">
                  <a:moveTo>
                    <a:pt x="0" y="137"/>
                  </a:moveTo>
                  <a:lnTo>
                    <a:pt x="116" y="65"/>
                  </a:lnTo>
                  <a:lnTo>
                    <a:pt x="0" y="0"/>
                  </a:lnTo>
                  <a:lnTo>
                    <a:pt x="36" y="65"/>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71" name="Group 374"/>
          <p:cNvGrpSpPr/>
          <p:nvPr/>
        </p:nvGrpSpPr>
        <p:grpSpPr bwMode="auto">
          <a:xfrm>
            <a:off x="1111250" y="5000625"/>
            <a:ext cx="344488" cy="217488"/>
            <a:chOff x="703" y="3275"/>
            <a:chExt cx="217" cy="137"/>
          </a:xfrm>
        </p:grpSpPr>
        <p:sp>
          <p:nvSpPr>
            <p:cNvPr id="167447" name="Rectangle 372"/>
            <p:cNvSpPr>
              <a:spLocks noChangeArrowheads="1"/>
            </p:cNvSpPr>
            <p:nvPr/>
          </p:nvSpPr>
          <p:spPr bwMode="auto">
            <a:xfrm>
              <a:off x="703" y="3332"/>
              <a:ext cx="152"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48" name="Freeform 373"/>
            <p:cNvSpPr/>
            <p:nvPr/>
          </p:nvSpPr>
          <p:spPr bwMode="auto">
            <a:xfrm>
              <a:off x="804" y="3275"/>
              <a:ext cx="116" cy="137"/>
            </a:xfrm>
            <a:custGeom>
              <a:avLst/>
              <a:gdLst>
                <a:gd name="T0" fmla="*/ 0 w 116"/>
                <a:gd name="T1" fmla="*/ 137 h 137"/>
                <a:gd name="T2" fmla="*/ 116 w 116"/>
                <a:gd name="T3" fmla="*/ 65 h 137"/>
                <a:gd name="T4" fmla="*/ 0 w 116"/>
                <a:gd name="T5" fmla="*/ 0 h 137"/>
                <a:gd name="T6" fmla="*/ 36 w 116"/>
                <a:gd name="T7" fmla="*/ 65 h 137"/>
                <a:gd name="T8" fmla="*/ 0 w 116"/>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6" h="137">
                  <a:moveTo>
                    <a:pt x="0" y="137"/>
                  </a:moveTo>
                  <a:lnTo>
                    <a:pt x="116" y="65"/>
                  </a:lnTo>
                  <a:lnTo>
                    <a:pt x="0" y="0"/>
                  </a:lnTo>
                  <a:lnTo>
                    <a:pt x="36" y="65"/>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72" name="Group 377"/>
          <p:cNvGrpSpPr/>
          <p:nvPr/>
        </p:nvGrpSpPr>
        <p:grpSpPr bwMode="auto">
          <a:xfrm>
            <a:off x="1976438" y="4983163"/>
            <a:ext cx="571500" cy="217487"/>
            <a:chOff x="1280" y="3275"/>
            <a:chExt cx="360" cy="137"/>
          </a:xfrm>
        </p:grpSpPr>
        <p:sp>
          <p:nvSpPr>
            <p:cNvPr id="167445" name="Rectangle 375"/>
            <p:cNvSpPr>
              <a:spLocks noChangeArrowheads="1"/>
            </p:cNvSpPr>
            <p:nvPr/>
          </p:nvSpPr>
          <p:spPr bwMode="auto">
            <a:xfrm>
              <a:off x="1280" y="3332"/>
              <a:ext cx="29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46" name="Freeform 376"/>
            <p:cNvSpPr/>
            <p:nvPr/>
          </p:nvSpPr>
          <p:spPr bwMode="auto">
            <a:xfrm>
              <a:off x="1525" y="3275"/>
              <a:ext cx="115" cy="137"/>
            </a:xfrm>
            <a:custGeom>
              <a:avLst/>
              <a:gdLst>
                <a:gd name="T0" fmla="*/ 0 w 115"/>
                <a:gd name="T1" fmla="*/ 137 h 137"/>
                <a:gd name="T2" fmla="*/ 115 w 115"/>
                <a:gd name="T3" fmla="*/ 65 h 137"/>
                <a:gd name="T4" fmla="*/ 0 w 115"/>
                <a:gd name="T5" fmla="*/ 0 h 137"/>
                <a:gd name="T6" fmla="*/ 36 w 115"/>
                <a:gd name="T7" fmla="*/ 65 h 137"/>
                <a:gd name="T8" fmla="*/ 0 w 115"/>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7">
                  <a:moveTo>
                    <a:pt x="0" y="137"/>
                  </a:moveTo>
                  <a:lnTo>
                    <a:pt x="115" y="65"/>
                  </a:lnTo>
                  <a:lnTo>
                    <a:pt x="0" y="0"/>
                  </a:lnTo>
                  <a:lnTo>
                    <a:pt x="36" y="65"/>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73" name="Group 380"/>
          <p:cNvGrpSpPr/>
          <p:nvPr/>
        </p:nvGrpSpPr>
        <p:grpSpPr bwMode="auto">
          <a:xfrm>
            <a:off x="7920038" y="3992563"/>
            <a:ext cx="419100" cy="228600"/>
            <a:chOff x="5028" y="2697"/>
            <a:chExt cx="216" cy="136"/>
          </a:xfrm>
        </p:grpSpPr>
        <p:sp>
          <p:nvSpPr>
            <p:cNvPr id="167443" name="Rectangle 378"/>
            <p:cNvSpPr>
              <a:spLocks noChangeArrowheads="1"/>
            </p:cNvSpPr>
            <p:nvPr/>
          </p:nvSpPr>
          <p:spPr bwMode="auto">
            <a:xfrm>
              <a:off x="5028" y="2753"/>
              <a:ext cx="151"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44" name="Freeform 379"/>
            <p:cNvSpPr/>
            <p:nvPr/>
          </p:nvSpPr>
          <p:spPr bwMode="auto">
            <a:xfrm>
              <a:off x="5129" y="2697"/>
              <a:ext cx="115" cy="136"/>
            </a:xfrm>
            <a:custGeom>
              <a:avLst/>
              <a:gdLst>
                <a:gd name="T0" fmla="*/ 0 w 115"/>
                <a:gd name="T1" fmla="*/ 136 h 136"/>
                <a:gd name="T2" fmla="*/ 115 w 115"/>
                <a:gd name="T3" fmla="*/ 64 h 136"/>
                <a:gd name="T4" fmla="*/ 0 w 115"/>
                <a:gd name="T5" fmla="*/ 0 h 136"/>
                <a:gd name="T6" fmla="*/ 36 w 115"/>
                <a:gd name="T7" fmla="*/ 64 h 136"/>
                <a:gd name="T8" fmla="*/ 0 w 115"/>
                <a:gd name="T9" fmla="*/ 136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6">
                  <a:moveTo>
                    <a:pt x="0" y="136"/>
                  </a:moveTo>
                  <a:lnTo>
                    <a:pt x="115" y="64"/>
                  </a:lnTo>
                  <a:lnTo>
                    <a:pt x="0" y="0"/>
                  </a:lnTo>
                  <a:lnTo>
                    <a:pt x="36" y="64"/>
                  </a:ln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74" name="Group 383"/>
          <p:cNvGrpSpPr/>
          <p:nvPr/>
        </p:nvGrpSpPr>
        <p:grpSpPr bwMode="auto">
          <a:xfrm>
            <a:off x="7977188" y="5932488"/>
            <a:ext cx="342900" cy="217487"/>
            <a:chOff x="5028" y="3862"/>
            <a:chExt cx="216" cy="137"/>
          </a:xfrm>
        </p:grpSpPr>
        <p:sp>
          <p:nvSpPr>
            <p:cNvPr id="167441" name="Rectangle 381"/>
            <p:cNvSpPr>
              <a:spLocks noChangeArrowheads="1"/>
            </p:cNvSpPr>
            <p:nvPr/>
          </p:nvSpPr>
          <p:spPr bwMode="auto">
            <a:xfrm>
              <a:off x="5028" y="3918"/>
              <a:ext cx="151"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42" name="Freeform 382"/>
            <p:cNvSpPr/>
            <p:nvPr/>
          </p:nvSpPr>
          <p:spPr bwMode="auto">
            <a:xfrm>
              <a:off x="5129" y="3862"/>
              <a:ext cx="115" cy="137"/>
            </a:xfrm>
            <a:custGeom>
              <a:avLst/>
              <a:gdLst>
                <a:gd name="T0" fmla="*/ 0 w 115"/>
                <a:gd name="T1" fmla="*/ 137 h 137"/>
                <a:gd name="T2" fmla="*/ 115 w 115"/>
                <a:gd name="T3" fmla="*/ 64 h 137"/>
                <a:gd name="T4" fmla="*/ 0 w 115"/>
                <a:gd name="T5" fmla="*/ 0 h 137"/>
                <a:gd name="T6" fmla="*/ 36 w 115"/>
                <a:gd name="T7" fmla="*/ 64 h 137"/>
                <a:gd name="T8" fmla="*/ 0 w 115"/>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7">
                  <a:moveTo>
                    <a:pt x="0" y="137"/>
                  </a:moveTo>
                  <a:lnTo>
                    <a:pt x="115" y="64"/>
                  </a:lnTo>
                  <a:lnTo>
                    <a:pt x="0" y="0"/>
                  </a:lnTo>
                  <a:lnTo>
                    <a:pt x="36" y="64"/>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75" name="Group 386"/>
          <p:cNvGrpSpPr/>
          <p:nvPr/>
        </p:nvGrpSpPr>
        <p:grpSpPr bwMode="auto">
          <a:xfrm>
            <a:off x="6832600" y="3992563"/>
            <a:ext cx="571500" cy="217487"/>
            <a:chOff x="4307" y="2640"/>
            <a:chExt cx="360" cy="137"/>
          </a:xfrm>
        </p:grpSpPr>
        <p:sp>
          <p:nvSpPr>
            <p:cNvPr id="167439" name="Rectangle 384"/>
            <p:cNvSpPr>
              <a:spLocks noChangeArrowheads="1"/>
            </p:cNvSpPr>
            <p:nvPr/>
          </p:nvSpPr>
          <p:spPr bwMode="auto">
            <a:xfrm>
              <a:off x="4307" y="2697"/>
              <a:ext cx="29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40" name="Freeform 385"/>
            <p:cNvSpPr/>
            <p:nvPr/>
          </p:nvSpPr>
          <p:spPr bwMode="auto">
            <a:xfrm>
              <a:off x="4552" y="2640"/>
              <a:ext cx="115" cy="137"/>
            </a:xfrm>
            <a:custGeom>
              <a:avLst/>
              <a:gdLst>
                <a:gd name="T0" fmla="*/ 0 w 115"/>
                <a:gd name="T1" fmla="*/ 137 h 137"/>
                <a:gd name="T2" fmla="*/ 115 w 115"/>
                <a:gd name="T3" fmla="*/ 65 h 137"/>
                <a:gd name="T4" fmla="*/ 0 w 115"/>
                <a:gd name="T5" fmla="*/ 0 h 137"/>
                <a:gd name="T6" fmla="*/ 36 w 115"/>
                <a:gd name="T7" fmla="*/ 65 h 137"/>
                <a:gd name="T8" fmla="*/ 0 w 115"/>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7">
                  <a:moveTo>
                    <a:pt x="0" y="137"/>
                  </a:moveTo>
                  <a:lnTo>
                    <a:pt x="115" y="65"/>
                  </a:lnTo>
                  <a:lnTo>
                    <a:pt x="0" y="0"/>
                  </a:lnTo>
                  <a:lnTo>
                    <a:pt x="36" y="65"/>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76" name="Group 389"/>
          <p:cNvGrpSpPr/>
          <p:nvPr/>
        </p:nvGrpSpPr>
        <p:grpSpPr bwMode="auto">
          <a:xfrm>
            <a:off x="5938838" y="5897563"/>
            <a:ext cx="344487" cy="215900"/>
            <a:chOff x="3802" y="3830"/>
            <a:chExt cx="217" cy="136"/>
          </a:xfrm>
        </p:grpSpPr>
        <p:sp>
          <p:nvSpPr>
            <p:cNvPr id="167437" name="Rectangle 387"/>
            <p:cNvSpPr>
              <a:spLocks noChangeArrowheads="1"/>
            </p:cNvSpPr>
            <p:nvPr/>
          </p:nvSpPr>
          <p:spPr bwMode="auto">
            <a:xfrm>
              <a:off x="3802" y="3886"/>
              <a:ext cx="152"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38" name="Freeform 388"/>
            <p:cNvSpPr/>
            <p:nvPr/>
          </p:nvSpPr>
          <p:spPr bwMode="auto">
            <a:xfrm>
              <a:off x="3903" y="3830"/>
              <a:ext cx="116" cy="136"/>
            </a:xfrm>
            <a:custGeom>
              <a:avLst/>
              <a:gdLst>
                <a:gd name="T0" fmla="*/ 0 w 116"/>
                <a:gd name="T1" fmla="*/ 136 h 136"/>
                <a:gd name="T2" fmla="*/ 116 w 116"/>
                <a:gd name="T3" fmla="*/ 64 h 136"/>
                <a:gd name="T4" fmla="*/ 0 w 116"/>
                <a:gd name="T5" fmla="*/ 0 h 136"/>
                <a:gd name="T6" fmla="*/ 36 w 116"/>
                <a:gd name="T7" fmla="*/ 64 h 136"/>
                <a:gd name="T8" fmla="*/ 0 w 116"/>
                <a:gd name="T9" fmla="*/ 136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6" h="136">
                  <a:moveTo>
                    <a:pt x="0" y="136"/>
                  </a:moveTo>
                  <a:lnTo>
                    <a:pt x="116" y="64"/>
                  </a:lnTo>
                  <a:lnTo>
                    <a:pt x="0" y="0"/>
                  </a:lnTo>
                  <a:lnTo>
                    <a:pt x="36" y="64"/>
                  </a:ln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77" name="Group 392"/>
          <p:cNvGrpSpPr/>
          <p:nvPr/>
        </p:nvGrpSpPr>
        <p:grpSpPr bwMode="auto">
          <a:xfrm>
            <a:off x="6832600" y="5881688"/>
            <a:ext cx="571500" cy="215900"/>
            <a:chOff x="4307" y="3830"/>
            <a:chExt cx="360" cy="136"/>
          </a:xfrm>
        </p:grpSpPr>
        <p:sp>
          <p:nvSpPr>
            <p:cNvPr id="167435" name="Rectangle 390"/>
            <p:cNvSpPr>
              <a:spLocks noChangeArrowheads="1"/>
            </p:cNvSpPr>
            <p:nvPr/>
          </p:nvSpPr>
          <p:spPr bwMode="auto">
            <a:xfrm>
              <a:off x="4307" y="3886"/>
              <a:ext cx="29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36" name="Freeform 391"/>
            <p:cNvSpPr/>
            <p:nvPr/>
          </p:nvSpPr>
          <p:spPr bwMode="auto">
            <a:xfrm>
              <a:off x="4552" y="3830"/>
              <a:ext cx="115" cy="136"/>
            </a:xfrm>
            <a:custGeom>
              <a:avLst/>
              <a:gdLst>
                <a:gd name="T0" fmla="*/ 0 w 115"/>
                <a:gd name="T1" fmla="*/ 136 h 136"/>
                <a:gd name="T2" fmla="*/ 115 w 115"/>
                <a:gd name="T3" fmla="*/ 64 h 136"/>
                <a:gd name="T4" fmla="*/ 0 w 115"/>
                <a:gd name="T5" fmla="*/ 0 h 136"/>
                <a:gd name="T6" fmla="*/ 36 w 115"/>
                <a:gd name="T7" fmla="*/ 64 h 136"/>
                <a:gd name="T8" fmla="*/ 0 w 115"/>
                <a:gd name="T9" fmla="*/ 136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6">
                  <a:moveTo>
                    <a:pt x="0" y="136"/>
                  </a:moveTo>
                  <a:lnTo>
                    <a:pt x="115" y="64"/>
                  </a:lnTo>
                  <a:lnTo>
                    <a:pt x="0" y="0"/>
                  </a:lnTo>
                  <a:lnTo>
                    <a:pt x="36" y="64"/>
                  </a:ln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78" name="Group 417"/>
          <p:cNvGrpSpPr/>
          <p:nvPr/>
        </p:nvGrpSpPr>
        <p:grpSpPr bwMode="auto">
          <a:xfrm>
            <a:off x="3044825" y="4579938"/>
            <a:ext cx="812800" cy="612775"/>
            <a:chOff x="1921" y="3010"/>
            <a:chExt cx="512" cy="386"/>
          </a:xfrm>
        </p:grpSpPr>
        <p:sp>
          <p:nvSpPr>
            <p:cNvPr id="167411" name="Rectangle 393"/>
            <p:cNvSpPr>
              <a:spLocks noChangeArrowheads="1"/>
            </p:cNvSpPr>
            <p:nvPr/>
          </p:nvSpPr>
          <p:spPr bwMode="auto">
            <a:xfrm>
              <a:off x="2419"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12" name="Rectangle 394"/>
            <p:cNvSpPr>
              <a:spLocks noChangeArrowheads="1"/>
            </p:cNvSpPr>
            <p:nvPr/>
          </p:nvSpPr>
          <p:spPr bwMode="auto">
            <a:xfrm>
              <a:off x="239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13" name="Rectangle 395"/>
            <p:cNvSpPr>
              <a:spLocks noChangeArrowheads="1"/>
            </p:cNvSpPr>
            <p:nvPr/>
          </p:nvSpPr>
          <p:spPr bwMode="auto">
            <a:xfrm>
              <a:off x="2361" y="3018"/>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14" name="Rectangle 396"/>
            <p:cNvSpPr>
              <a:spLocks noChangeArrowheads="1"/>
            </p:cNvSpPr>
            <p:nvPr/>
          </p:nvSpPr>
          <p:spPr bwMode="auto">
            <a:xfrm>
              <a:off x="2332" y="3018"/>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15" name="Freeform 397"/>
            <p:cNvSpPr/>
            <p:nvPr/>
          </p:nvSpPr>
          <p:spPr bwMode="auto">
            <a:xfrm>
              <a:off x="2303" y="3018"/>
              <a:ext cx="15" cy="24"/>
            </a:xfrm>
            <a:custGeom>
              <a:avLst/>
              <a:gdLst>
                <a:gd name="T0" fmla="*/ 15 w 15"/>
                <a:gd name="T1" fmla="*/ 16 h 24"/>
                <a:gd name="T2" fmla="*/ 15 w 15"/>
                <a:gd name="T3" fmla="*/ 0 h 24"/>
                <a:gd name="T4" fmla="*/ 0 w 15"/>
                <a:gd name="T5" fmla="*/ 8 h 24"/>
                <a:gd name="T6" fmla="*/ 0 w 15"/>
                <a:gd name="T7" fmla="*/ 24 h 24"/>
                <a:gd name="T8" fmla="*/ 15 w 15"/>
                <a:gd name="T9" fmla="*/ 16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24">
                  <a:moveTo>
                    <a:pt x="15" y="16"/>
                  </a:moveTo>
                  <a:lnTo>
                    <a:pt x="15" y="0"/>
                  </a:lnTo>
                  <a:lnTo>
                    <a:pt x="0" y="8"/>
                  </a:lnTo>
                  <a:lnTo>
                    <a:pt x="0" y="24"/>
                  </a:lnTo>
                  <a:lnTo>
                    <a:pt x="15"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16" name="Freeform 398"/>
            <p:cNvSpPr/>
            <p:nvPr/>
          </p:nvSpPr>
          <p:spPr bwMode="auto">
            <a:xfrm>
              <a:off x="2275" y="3026"/>
              <a:ext cx="14" cy="24"/>
            </a:xfrm>
            <a:custGeom>
              <a:avLst/>
              <a:gdLst>
                <a:gd name="T0" fmla="*/ 14 w 14"/>
                <a:gd name="T1" fmla="*/ 16 h 24"/>
                <a:gd name="T2" fmla="*/ 14 w 14"/>
                <a:gd name="T3" fmla="*/ 0 h 24"/>
                <a:gd name="T4" fmla="*/ 0 w 14"/>
                <a:gd name="T5" fmla="*/ 8 h 24"/>
                <a:gd name="T6" fmla="*/ 0 w 14"/>
                <a:gd name="T7" fmla="*/ 24 h 24"/>
                <a:gd name="T8" fmla="*/ 14 w 14"/>
                <a:gd name="T9" fmla="*/ 16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24">
                  <a:moveTo>
                    <a:pt x="14" y="16"/>
                  </a:moveTo>
                  <a:lnTo>
                    <a:pt x="14" y="0"/>
                  </a:lnTo>
                  <a:lnTo>
                    <a:pt x="0" y="8"/>
                  </a:lnTo>
                  <a:lnTo>
                    <a:pt x="0" y="24"/>
                  </a:lnTo>
                  <a:lnTo>
                    <a:pt x="14"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17" name="Rectangle 399"/>
            <p:cNvSpPr>
              <a:spLocks noChangeArrowheads="1"/>
            </p:cNvSpPr>
            <p:nvPr/>
          </p:nvSpPr>
          <p:spPr bwMode="auto">
            <a:xfrm>
              <a:off x="2246" y="3034"/>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18" name="Freeform 400"/>
            <p:cNvSpPr/>
            <p:nvPr/>
          </p:nvSpPr>
          <p:spPr bwMode="auto">
            <a:xfrm>
              <a:off x="2217" y="3042"/>
              <a:ext cx="22" cy="16"/>
            </a:xfrm>
            <a:custGeom>
              <a:avLst/>
              <a:gdLst>
                <a:gd name="T0" fmla="*/ 22 w 22"/>
                <a:gd name="T1" fmla="*/ 16 h 16"/>
                <a:gd name="T2" fmla="*/ 14 w 22"/>
                <a:gd name="T3" fmla="*/ 0 h 16"/>
                <a:gd name="T4" fmla="*/ 0 w 22"/>
                <a:gd name="T5" fmla="*/ 0 h 16"/>
                <a:gd name="T6" fmla="*/ 7 w 22"/>
                <a:gd name="T7" fmla="*/ 16 h 16"/>
                <a:gd name="T8" fmla="*/ 22 w 2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
                  <a:moveTo>
                    <a:pt x="22" y="16"/>
                  </a:moveTo>
                  <a:lnTo>
                    <a:pt x="14" y="0"/>
                  </a:lnTo>
                  <a:lnTo>
                    <a:pt x="0" y="0"/>
                  </a:lnTo>
                  <a:lnTo>
                    <a:pt x="7" y="16"/>
                  </a:lnTo>
                  <a:lnTo>
                    <a:pt x="22"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19" name="Freeform 401"/>
            <p:cNvSpPr/>
            <p:nvPr/>
          </p:nvSpPr>
          <p:spPr bwMode="auto">
            <a:xfrm>
              <a:off x="2188" y="3050"/>
              <a:ext cx="22" cy="24"/>
            </a:xfrm>
            <a:custGeom>
              <a:avLst/>
              <a:gdLst>
                <a:gd name="T0" fmla="*/ 22 w 22"/>
                <a:gd name="T1" fmla="*/ 16 h 24"/>
                <a:gd name="T2" fmla="*/ 14 w 22"/>
                <a:gd name="T3" fmla="*/ 0 h 24"/>
                <a:gd name="T4" fmla="*/ 0 w 22"/>
                <a:gd name="T5" fmla="*/ 8 h 24"/>
                <a:gd name="T6" fmla="*/ 7 w 22"/>
                <a:gd name="T7" fmla="*/ 24 h 24"/>
                <a:gd name="T8" fmla="*/ 22 w 22"/>
                <a:gd name="T9" fmla="*/ 16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24">
                  <a:moveTo>
                    <a:pt x="22" y="16"/>
                  </a:moveTo>
                  <a:lnTo>
                    <a:pt x="14" y="0"/>
                  </a:lnTo>
                  <a:lnTo>
                    <a:pt x="0" y="8"/>
                  </a:lnTo>
                  <a:lnTo>
                    <a:pt x="7" y="24"/>
                  </a:lnTo>
                  <a:lnTo>
                    <a:pt x="22"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20" name="Freeform 402"/>
            <p:cNvSpPr/>
            <p:nvPr/>
          </p:nvSpPr>
          <p:spPr bwMode="auto">
            <a:xfrm>
              <a:off x="2159" y="3066"/>
              <a:ext cx="22" cy="16"/>
            </a:xfrm>
            <a:custGeom>
              <a:avLst/>
              <a:gdLst>
                <a:gd name="T0" fmla="*/ 22 w 22"/>
                <a:gd name="T1" fmla="*/ 16 h 16"/>
                <a:gd name="T2" fmla="*/ 15 w 22"/>
                <a:gd name="T3" fmla="*/ 0 h 16"/>
                <a:gd name="T4" fmla="*/ 0 w 22"/>
                <a:gd name="T5" fmla="*/ 0 h 16"/>
                <a:gd name="T6" fmla="*/ 7 w 22"/>
                <a:gd name="T7" fmla="*/ 16 h 16"/>
                <a:gd name="T8" fmla="*/ 22 w 2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
                  <a:moveTo>
                    <a:pt x="22" y="16"/>
                  </a:moveTo>
                  <a:lnTo>
                    <a:pt x="15" y="0"/>
                  </a:lnTo>
                  <a:lnTo>
                    <a:pt x="0" y="0"/>
                  </a:lnTo>
                  <a:lnTo>
                    <a:pt x="7" y="16"/>
                  </a:lnTo>
                  <a:lnTo>
                    <a:pt x="22"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21" name="Freeform 403"/>
            <p:cNvSpPr/>
            <p:nvPr/>
          </p:nvSpPr>
          <p:spPr bwMode="auto">
            <a:xfrm>
              <a:off x="2138" y="3074"/>
              <a:ext cx="21" cy="24"/>
            </a:xfrm>
            <a:custGeom>
              <a:avLst/>
              <a:gdLst>
                <a:gd name="T0" fmla="*/ 21 w 21"/>
                <a:gd name="T1" fmla="*/ 16 h 24"/>
                <a:gd name="T2" fmla="*/ 14 w 21"/>
                <a:gd name="T3" fmla="*/ 0 h 24"/>
                <a:gd name="T4" fmla="*/ 7 w 21"/>
                <a:gd name="T5" fmla="*/ 0 h 24"/>
                <a:gd name="T6" fmla="*/ 0 w 21"/>
                <a:gd name="T7" fmla="*/ 8 h 24"/>
                <a:gd name="T8" fmla="*/ 7 w 21"/>
                <a:gd name="T9" fmla="*/ 24 h 24"/>
                <a:gd name="T10" fmla="*/ 14 w 21"/>
                <a:gd name="T11" fmla="*/ 16 h 24"/>
                <a:gd name="T12" fmla="*/ 21 w 21"/>
                <a:gd name="T13" fmla="*/ 16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 h="24">
                  <a:moveTo>
                    <a:pt x="21" y="16"/>
                  </a:moveTo>
                  <a:lnTo>
                    <a:pt x="14" y="0"/>
                  </a:lnTo>
                  <a:lnTo>
                    <a:pt x="7" y="0"/>
                  </a:lnTo>
                  <a:lnTo>
                    <a:pt x="0" y="8"/>
                  </a:lnTo>
                  <a:lnTo>
                    <a:pt x="7" y="24"/>
                  </a:lnTo>
                  <a:lnTo>
                    <a:pt x="14" y="16"/>
                  </a:lnTo>
                  <a:lnTo>
                    <a:pt x="21"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22" name="Freeform 404"/>
            <p:cNvSpPr/>
            <p:nvPr/>
          </p:nvSpPr>
          <p:spPr bwMode="auto">
            <a:xfrm>
              <a:off x="2109" y="3090"/>
              <a:ext cx="21" cy="25"/>
            </a:xfrm>
            <a:custGeom>
              <a:avLst/>
              <a:gdLst>
                <a:gd name="T0" fmla="*/ 21 w 21"/>
                <a:gd name="T1" fmla="*/ 16 h 25"/>
                <a:gd name="T2" fmla="*/ 14 w 21"/>
                <a:gd name="T3" fmla="*/ 0 h 25"/>
                <a:gd name="T4" fmla="*/ 0 w 21"/>
                <a:gd name="T5" fmla="*/ 8 h 25"/>
                <a:gd name="T6" fmla="*/ 7 w 21"/>
                <a:gd name="T7" fmla="*/ 25 h 25"/>
                <a:gd name="T8" fmla="*/ 21 w 21"/>
                <a:gd name="T9" fmla="*/ 16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5">
                  <a:moveTo>
                    <a:pt x="21" y="16"/>
                  </a:moveTo>
                  <a:lnTo>
                    <a:pt x="14" y="0"/>
                  </a:lnTo>
                  <a:lnTo>
                    <a:pt x="0" y="8"/>
                  </a:lnTo>
                  <a:lnTo>
                    <a:pt x="7" y="25"/>
                  </a:lnTo>
                  <a:lnTo>
                    <a:pt x="21"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23" name="Freeform 405"/>
            <p:cNvSpPr/>
            <p:nvPr/>
          </p:nvSpPr>
          <p:spPr bwMode="auto">
            <a:xfrm>
              <a:off x="2087" y="3106"/>
              <a:ext cx="22" cy="25"/>
            </a:xfrm>
            <a:custGeom>
              <a:avLst/>
              <a:gdLst>
                <a:gd name="T0" fmla="*/ 22 w 22"/>
                <a:gd name="T1" fmla="*/ 17 h 25"/>
                <a:gd name="T2" fmla="*/ 15 w 22"/>
                <a:gd name="T3" fmla="*/ 0 h 25"/>
                <a:gd name="T4" fmla="*/ 0 w 22"/>
                <a:gd name="T5" fmla="*/ 9 h 25"/>
                <a:gd name="T6" fmla="*/ 7 w 22"/>
                <a:gd name="T7" fmla="*/ 25 h 25"/>
                <a:gd name="T8" fmla="*/ 22 w 22"/>
                <a:gd name="T9" fmla="*/ 17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25">
                  <a:moveTo>
                    <a:pt x="22" y="17"/>
                  </a:moveTo>
                  <a:lnTo>
                    <a:pt x="15" y="0"/>
                  </a:lnTo>
                  <a:lnTo>
                    <a:pt x="0" y="9"/>
                  </a:lnTo>
                  <a:lnTo>
                    <a:pt x="7" y="25"/>
                  </a:lnTo>
                  <a:lnTo>
                    <a:pt x="22" y="1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24" name="Freeform 406"/>
            <p:cNvSpPr/>
            <p:nvPr/>
          </p:nvSpPr>
          <p:spPr bwMode="auto">
            <a:xfrm>
              <a:off x="2058" y="3123"/>
              <a:ext cx="22" cy="24"/>
            </a:xfrm>
            <a:custGeom>
              <a:avLst/>
              <a:gdLst>
                <a:gd name="T0" fmla="*/ 22 w 22"/>
                <a:gd name="T1" fmla="*/ 16 h 24"/>
                <a:gd name="T2" fmla="*/ 15 w 22"/>
                <a:gd name="T3" fmla="*/ 0 h 24"/>
                <a:gd name="T4" fmla="*/ 15 w 22"/>
                <a:gd name="T5" fmla="*/ 0 h 24"/>
                <a:gd name="T6" fmla="*/ 0 w 22"/>
                <a:gd name="T7" fmla="*/ 8 h 24"/>
                <a:gd name="T8" fmla="*/ 8 w 22"/>
                <a:gd name="T9" fmla="*/ 24 h 24"/>
                <a:gd name="T10" fmla="*/ 22 w 22"/>
                <a:gd name="T11" fmla="*/ 16 h 2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4">
                  <a:moveTo>
                    <a:pt x="22" y="16"/>
                  </a:moveTo>
                  <a:lnTo>
                    <a:pt x="15" y="0"/>
                  </a:lnTo>
                  <a:lnTo>
                    <a:pt x="0" y="8"/>
                  </a:lnTo>
                  <a:lnTo>
                    <a:pt x="8" y="24"/>
                  </a:lnTo>
                  <a:lnTo>
                    <a:pt x="22"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25" name="Freeform 407"/>
            <p:cNvSpPr/>
            <p:nvPr/>
          </p:nvSpPr>
          <p:spPr bwMode="auto">
            <a:xfrm>
              <a:off x="2037" y="3139"/>
              <a:ext cx="21" cy="24"/>
            </a:xfrm>
            <a:custGeom>
              <a:avLst/>
              <a:gdLst>
                <a:gd name="T0" fmla="*/ 21 w 21"/>
                <a:gd name="T1" fmla="*/ 16 h 24"/>
                <a:gd name="T2" fmla="*/ 14 w 21"/>
                <a:gd name="T3" fmla="*/ 0 h 24"/>
                <a:gd name="T4" fmla="*/ 0 w 21"/>
                <a:gd name="T5" fmla="*/ 8 h 24"/>
                <a:gd name="T6" fmla="*/ 7 w 21"/>
                <a:gd name="T7" fmla="*/ 24 h 24"/>
                <a:gd name="T8" fmla="*/ 21 w 21"/>
                <a:gd name="T9" fmla="*/ 16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4">
                  <a:moveTo>
                    <a:pt x="21" y="16"/>
                  </a:moveTo>
                  <a:lnTo>
                    <a:pt x="14" y="0"/>
                  </a:lnTo>
                  <a:lnTo>
                    <a:pt x="0" y="8"/>
                  </a:lnTo>
                  <a:lnTo>
                    <a:pt x="7" y="24"/>
                  </a:lnTo>
                  <a:lnTo>
                    <a:pt x="21"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26" name="Freeform 408"/>
            <p:cNvSpPr/>
            <p:nvPr/>
          </p:nvSpPr>
          <p:spPr bwMode="auto">
            <a:xfrm>
              <a:off x="2015" y="3163"/>
              <a:ext cx="22" cy="24"/>
            </a:xfrm>
            <a:custGeom>
              <a:avLst/>
              <a:gdLst>
                <a:gd name="T0" fmla="*/ 22 w 22"/>
                <a:gd name="T1" fmla="*/ 16 h 24"/>
                <a:gd name="T2" fmla="*/ 15 w 22"/>
                <a:gd name="T3" fmla="*/ 0 h 24"/>
                <a:gd name="T4" fmla="*/ 0 w 22"/>
                <a:gd name="T5" fmla="*/ 8 h 24"/>
                <a:gd name="T6" fmla="*/ 7 w 22"/>
                <a:gd name="T7" fmla="*/ 24 h 24"/>
                <a:gd name="T8" fmla="*/ 22 w 22"/>
                <a:gd name="T9" fmla="*/ 16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24">
                  <a:moveTo>
                    <a:pt x="22" y="16"/>
                  </a:moveTo>
                  <a:lnTo>
                    <a:pt x="15" y="0"/>
                  </a:lnTo>
                  <a:lnTo>
                    <a:pt x="0" y="8"/>
                  </a:lnTo>
                  <a:lnTo>
                    <a:pt x="7" y="24"/>
                  </a:lnTo>
                  <a:lnTo>
                    <a:pt x="22"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27" name="Freeform 409"/>
            <p:cNvSpPr/>
            <p:nvPr/>
          </p:nvSpPr>
          <p:spPr bwMode="auto">
            <a:xfrm>
              <a:off x="2001" y="3179"/>
              <a:ext cx="14" cy="32"/>
            </a:xfrm>
            <a:custGeom>
              <a:avLst/>
              <a:gdLst>
                <a:gd name="T0" fmla="*/ 14 w 14"/>
                <a:gd name="T1" fmla="*/ 16 h 32"/>
                <a:gd name="T2" fmla="*/ 7 w 14"/>
                <a:gd name="T3" fmla="*/ 0 h 32"/>
                <a:gd name="T4" fmla="*/ 0 w 14"/>
                <a:gd name="T5" fmla="*/ 16 h 32"/>
                <a:gd name="T6" fmla="*/ 7 w 14"/>
                <a:gd name="T7" fmla="*/ 32 h 32"/>
                <a:gd name="T8" fmla="*/ 14 w 14"/>
                <a:gd name="T9" fmla="*/ 16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32">
                  <a:moveTo>
                    <a:pt x="14" y="16"/>
                  </a:moveTo>
                  <a:lnTo>
                    <a:pt x="7" y="0"/>
                  </a:lnTo>
                  <a:lnTo>
                    <a:pt x="0" y="16"/>
                  </a:lnTo>
                  <a:lnTo>
                    <a:pt x="7" y="32"/>
                  </a:lnTo>
                  <a:lnTo>
                    <a:pt x="14"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28" name="Freeform 410"/>
            <p:cNvSpPr/>
            <p:nvPr/>
          </p:nvSpPr>
          <p:spPr bwMode="auto">
            <a:xfrm>
              <a:off x="1979" y="3203"/>
              <a:ext cx="14" cy="32"/>
            </a:xfrm>
            <a:custGeom>
              <a:avLst/>
              <a:gdLst>
                <a:gd name="T0" fmla="*/ 14 w 14"/>
                <a:gd name="T1" fmla="*/ 16 h 32"/>
                <a:gd name="T2" fmla="*/ 7 w 14"/>
                <a:gd name="T3" fmla="*/ 0 h 32"/>
                <a:gd name="T4" fmla="*/ 0 w 14"/>
                <a:gd name="T5" fmla="*/ 16 h 32"/>
                <a:gd name="T6" fmla="*/ 7 w 14"/>
                <a:gd name="T7" fmla="*/ 32 h 32"/>
                <a:gd name="T8" fmla="*/ 14 w 14"/>
                <a:gd name="T9" fmla="*/ 16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32">
                  <a:moveTo>
                    <a:pt x="14" y="16"/>
                  </a:moveTo>
                  <a:lnTo>
                    <a:pt x="7" y="0"/>
                  </a:lnTo>
                  <a:lnTo>
                    <a:pt x="0" y="16"/>
                  </a:lnTo>
                  <a:lnTo>
                    <a:pt x="7" y="32"/>
                  </a:lnTo>
                  <a:lnTo>
                    <a:pt x="14"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29" name="Freeform 411"/>
            <p:cNvSpPr/>
            <p:nvPr/>
          </p:nvSpPr>
          <p:spPr bwMode="auto">
            <a:xfrm>
              <a:off x="1957" y="3235"/>
              <a:ext cx="22" cy="24"/>
            </a:xfrm>
            <a:custGeom>
              <a:avLst/>
              <a:gdLst>
                <a:gd name="T0" fmla="*/ 22 w 22"/>
                <a:gd name="T1" fmla="*/ 16 h 24"/>
                <a:gd name="T2" fmla="*/ 15 w 22"/>
                <a:gd name="T3" fmla="*/ 0 h 24"/>
                <a:gd name="T4" fmla="*/ 8 w 22"/>
                <a:gd name="T5" fmla="*/ 8 h 24"/>
                <a:gd name="T6" fmla="*/ 0 w 22"/>
                <a:gd name="T7" fmla="*/ 16 h 24"/>
                <a:gd name="T8" fmla="*/ 8 w 22"/>
                <a:gd name="T9" fmla="*/ 16 h 24"/>
                <a:gd name="T10" fmla="*/ 15 w 22"/>
                <a:gd name="T11" fmla="*/ 24 h 24"/>
                <a:gd name="T12" fmla="*/ 15 w 22"/>
                <a:gd name="T13" fmla="*/ 16 h 24"/>
                <a:gd name="T14" fmla="*/ 8 w 22"/>
                <a:gd name="T15" fmla="*/ 16 h 24"/>
                <a:gd name="T16" fmla="*/ 15 w 22"/>
                <a:gd name="T17" fmla="*/ 24 h 24"/>
                <a:gd name="T18" fmla="*/ 22 w 22"/>
                <a:gd name="T19" fmla="*/ 16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4">
                  <a:moveTo>
                    <a:pt x="22" y="16"/>
                  </a:moveTo>
                  <a:lnTo>
                    <a:pt x="15" y="0"/>
                  </a:lnTo>
                  <a:lnTo>
                    <a:pt x="8" y="8"/>
                  </a:lnTo>
                  <a:lnTo>
                    <a:pt x="0" y="16"/>
                  </a:lnTo>
                  <a:lnTo>
                    <a:pt x="8" y="16"/>
                  </a:lnTo>
                  <a:lnTo>
                    <a:pt x="15" y="24"/>
                  </a:lnTo>
                  <a:lnTo>
                    <a:pt x="15" y="16"/>
                  </a:lnTo>
                  <a:lnTo>
                    <a:pt x="8" y="16"/>
                  </a:lnTo>
                  <a:lnTo>
                    <a:pt x="15" y="24"/>
                  </a:lnTo>
                  <a:lnTo>
                    <a:pt x="22" y="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30" name="Freeform 412"/>
            <p:cNvSpPr/>
            <p:nvPr/>
          </p:nvSpPr>
          <p:spPr bwMode="auto">
            <a:xfrm>
              <a:off x="1950" y="3267"/>
              <a:ext cx="15" cy="16"/>
            </a:xfrm>
            <a:custGeom>
              <a:avLst/>
              <a:gdLst>
                <a:gd name="T0" fmla="*/ 15 w 15"/>
                <a:gd name="T1" fmla="*/ 8 h 16"/>
                <a:gd name="T2" fmla="*/ 7 w 15"/>
                <a:gd name="T3" fmla="*/ 0 h 16"/>
                <a:gd name="T4" fmla="*/ 0 w 15"/>
                <a:gd name="T5" fmla="*/ 8 h 16"/>
                <a:gd name="T6" fmla="*/ 7 w 15"/>
                <a:gd name="T7" fmla="*/ 16 h 16"/>
                <a:gd name="T8" fmla="*/ 15 w 15"/>
                <a:gd name="T9" fmla="*/ 8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16">
                  <a:moveTo>
                    <a:pt x="15" y="8"/>
                  </a:moveTo>
                  <a:lnTo>
                    <a:pt x="7" y="0"/>
                  </a:lnTo>
                  <a:lnTo>
                    <a:pt x="0" y="8"/>
                  </a:lnTo>
                  <a:lnTo>
                    <a:pt x="7" y="16"/>
                  </a:lnTo>
                  <a:lnTo>
                    <a:pt x="15"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31" name="Freeform 413"/>
            <p:cNvSpPr/>
            <p:nvPr/>
          </p:nvSpPr>
          <p:spPr bwMode="auto">
            <a:xfrm>
              <a:off x="1936" y="3291"/>
              <a:ext cx="14" cy="24"/>
            </a:xfrm>
            <a:custGeom>
              <a:avLst/>
              <a:gdLst>
                <a:gd name="T0" fmla="*/ 14 w 14"/>
                <a:gd name="T1" fmla="*/ 8 h 24"/>
                <a:gd name="T2" fmla="*/ 7 w 14"/>
                <a:gd name="T3" fmla="*/ 0 h 24"/>
                <a:gd name="T4" fmla="*/ 0 w 14"/>
                <a:gd name="T5" fmla="*/ 16 h 24"/>
                <a:gd name="T6" fmla="*/ 7 w 14"/>
                <a:gd name="T7" fmla="*/ 24 h 24"/>
                <a:gd name="T8" fmla="*/ 14 w 14"/>
                <a:gd name="T9" fmla="*/ 8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24">
                  <a:moveTo>
                    <a:pt x="14" y="8"/>
                  </a:moveTo>
                  <a:lnTo>
                    <a:pt x="7" y="0"/>
                  </a:lnTo>
                  <a:lnTo>
                    <a:pt x="0" y="16"/>
                  </a:lnTo>
                  <a:lnTo>
                    <a:pt x="7" y="24"/>
                  </a:lnTo>
                  <a:lnTo>
                    <a:pt x="14"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32" name="Rectangle 414"/>
            <p:cNvSpPr>
              <a:spLocks noChangeArrowheads="1"/>
            </p:cNvSpPr>
            <p:nvPr/>
          </p:nvSpPr>
          <p:spPr bwMode="auto">
            <a:xfrm>
              <a:off x="1929" y="3323"/>
              <a:ext cx="14" cy="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33" name="Freeform 415"/>
            <p:cNvSpPr/>
            <p:nvPr/>
          </p:nvSpPr>
          <p:spPr bwMode="auto">
            <a:xfrm>
              <a:off x="1921" y="3356"/>
              <a:ext cx="22" cy="16"/>
            </a:xfrm>
            <a:custGeom>
              <a:avLst/>
              <a:gdLst>
                <a:gd name="T0" fmla="*/ 22 w 22"/>
                <a:gd name="T1" fmla="*/ 0 h 16"/>
                <a:gd name="T2" fmla="*/ 8 w 22"/>
                <a:gd name="T3" fmla="*/ 0 h 16"/>
                <a:gd name="T4" fmla="*/ 0 w 22"/>
                <a:gd name="T5" fmla="*/ 16 h 16"/>
                <a:gd name="T6" fmla="*/ 15 w 22"/>
                <a:gd name="T7" fmla="*/ 16 h 16"/>
                <a:gd name="T8" fmla="*/ 22 w 2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
                  <a:moveTo>
                    <a:pt x="22" y="0"/>
                  </a:moveTo>
                  <a:lnTo>
                    <a:pt x="8" y="0"/>
                  </a:lnTo>
                  <a:lnTo>
                    <a:pt x="0" y="16"/>
                  </a:lnTo>
                  <a:lnTo>
                    <a:pt x="15" y="16"/>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434" name="Rectangle 416"/>
            <p:cNvSpPr>
              <a:spLocks noChangeArrowheads="1"/>
            </p:cNvSpPr>
            <p:nvPr/>
          </p:nvSpPr>
          <p:spPr bwMode="auto">
            <a:xfrm>
              <a:off x="1921" y="3388"/>
              <a:ext cx="15" cy="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67279" name="Group 512"/>
          <p:cNvGrpSpPr/>
          <p:nvPr/>
        </p:nvGrpSpPr>
        <p:grpSpPr bwMode="auto">
          <a:xfrm>
            <a:off x="3857625" y="4491038"/>
            <a:ext cx="4348163" cy="215900"/>
            <a:chOff x="2433" y="2954"/>
            <a:chExt cx="2739" cy="136"/>
          </a:xfrm>
        </p:grpSpPr>
        <p:sp>
          <p:nvSpPr>
            <p:cNvPr id="167317" name="Rectangle 418"/>
            <p:cNvSpPr>
              <a:spLocks noChangeArrowheads="1"/>
            </p:cNvSpPr>
            <p:nvPr/>
          </p:nvSpPr>
          <p:spPr bwMode="auto">
            <a:xfrm>
              <a:off x="2433"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18" name="Rectangle 419"/>
            <p:cNvSpPr>
              <a:spLocks noChangeArrowheads="1"/>
            </p:cNvSpPr>
            <p:nvPr/>
          </p:nvSpPr>
          <p:spPr bwMode="auto">
            <a:xfrm>
              <a:off x="2462"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19" name="Rectangle 420"/>
            <p:cNvSpPr>
              <a:spLocks noChangeArrowheads="1"/>
            </p:cNvSpPr>
            <p:nvPr/>
          </p:nvSpPr>
          <p:spPr bwMode="auto">
            <a:xfrm>
              <a:off x="2491"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20" name="Rectangle 421"/>
            <p:cNvSpPr>
              <a:spLocks noChangeArrowheads="1"/>
            </p:cNvSpPr>
            <p:nvPr/>
          </p:nvSpPr>
          <p:spPr bwMode="auto">
            <a:xfrm>
              <a:off x="252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21" name="Rectangle 422"/>
            <p:cNvSpPr>
              <a:spLocks noChangeArrowheads="1"/>
            </p:cNvSpPr>
            <p:nvPr/>
          </p:nvSpPr>
          <p:spPr bwMode="auto">
            <a:xfrm>
              <a:off x="2548"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22" name="Rectangle 423"/>
            <p:cNvSpPr>
              <a:spLocks noChangeArrowheads="1"/>
            </p:cNvSpPr>
            <p:nvPr/>
          </p:nvSpPr>
          <p:spPr bwMode="auto">
            <a:xfrm>
              <a:off x="2577"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23" name="Rectangle 424"/>
            <p:cNvSpPr>
              <a:spLocks noChangeArrowheads="1"/>
            </p:cNvSpPr>
            <p:nvPr/>
          </p:nvSpPr>
          <p:spPr bwMode="auto">
            <a:xfrm>
              <a:off x="2606"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24" name="Rectangle 425"/>
            <p:cNvSpPr>
              <a:spLocks noChangeArrowheads="1"/>
            </p:cNvSpPr>
            <p:nvPr/>
          </p:nvSpPr>
          <p:spPr bwMode="auto">
            <a:xfrm>
              <a:off x="2635"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25" name="Rectangle 426"/>
            <p:cNvSpPr>
              <a:spLocks noChangeArrowheads="1"/>
            </p:cNvSpPr>
            <p:nvPr/>
          </p:nvSpPr>
          <p:spPr bwMode="auto">
            <a:xfrm>
              <a:off x="2664"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26" name="Rectangle 427"/>
            <p:cNvSpPr>
              <a:spLocks noChangeArrowheads="1"/>
            </p:cNvSpPr>
            <p:nvPr/>
          </p:nvSpPr>
          <p:spPr bwMode="auto">
            <a:xfrm>
              <a:off x="2693"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27" name="Rectangle 428"/>
            <p:cNvSpPr>
              <a:spLocks noChangeArrowheads="1"/>
            </p:cNvSpPr>
            <p:nvPr/>
          </p:nvSpPr>
          <p:spPr bwMode="auto">
            <a:xfrm>
              <a:off x="2721"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28" name="Rectangle 429"/>
            <p:cNvSpPr>
              <a:spLocks noChangeArrowheads="1"/>
            </p:cNvSpPr>
            <p:nvPr/>
          </p:nvSpPr>
          <p:spPr bwMode="auto">
            <a:xfrm>
              <a:off x="2750"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29" name="Rectangle 430"/>
            <p:cNvSpPr>
              <a:spLocks noChangeArrowheads="1"/>
            </p:cNvSpPr>
            <p:nvPr/>
          </p:nvSpPr>
          <p:spPr bwMode="auto">
            <a:xfrm>
              <a:off x="2779"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30" name="Rectangle 431"/>
            <p:cNvSpPr>
              <a:spLocks noChangeArrowheads="1"/>
            </p:cNvSpPr>
            <p:nvPr/>
          </p:nvSpPr>
          <p:spPr bwMode="auto">
            <a:xfrm>
              <a:off x="2808"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31" name="Rectangle 432"/>
            <p:cNvSpPr>
              <a:spLocks noChangeArrowheads="1"/>
            </p:cNvSpPr>
            <p:nvPr/>
          </p:nvSpPr>
          <p:spPr bwMode="auto">
            <a:xfrm>
              <a:off x="2837"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32" name="Rectangle 433"/>
            <p:cNvSpPr>
              <a:spLocks noChangeArrowheads="1"/>
            </p:cNvSpPr>
            <p:nvPr/>
          </p:nvSpPr>
          <p:spPr bwMode="auto">
            <a:xfrm>
              <a:off x="2866"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33" name="Rectangle 434"/>
            <p:cNvSpPr>
              <a:spLocks noChangeArrowheads="1"/>
            </p:cNvSpPr>
            <p:nvPr/>
          </p:nvSpPr>
          <p:spPr bwMode="auto">
            <a:xfrm>
              <a:off x="2894"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34" name="Rectangle 435"/>
            <p:cNvSpPr>
              <a:spLocks noChangeArrowheads="1"/>
            </p:cNvSpPr>
            <p:nvPr/>
          </p:nvSpPr>
          <p:spPr bwMode="auto">
            <a:xfrm>
              <a:off x="2923"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35" name="Rectangle 436"/>
            <p:cNvSpPr>
              <a:spLocks noChangeArrowheads="1"/>
            </p:cNvSpPr>
            <p:nvPr/>
          </p:nvSpPr>
          <p:spPr bwMode="auto">
            <a:xfrm>
              <a:off x="2952"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36" name="Rectangle 437"/>
            <p:cNvSpPr>
              <a:spLocks noChangeArrowheads="1"/>
            </p:cNvSpPr>
            <p:nvPr/>
          </p:nvSpPr>
          <p:spPr bwMode="auto">
            <a:xfrm>
              <a:off x="2981"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37" name="Rectangle 438"/>
            <p:cNvSpPr>
              <a:spLocks noChangeArrowheads="1"/>
            </p:cNvSpPr>
            <p:nvPr/>
          </p:nvSpPr>
          <p:spPr bwMode="auto">
            <a:xfrm>
              <a:off x="301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38" name="Rectangle 439"/>
            <p:cNvSpPr>
              <a:spLocks noChangeArrowheads="1"/>
            </p:cNvSpPr>
            <p:nvPr/>
          </p:nvSpPr>
          <p:spPr bwMode="auto">
            <a:xfrm>
              <a:off x="3038"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39" name="Rectangle 440"/>
            <p:cNvSpPr>
              <a:spLocks noChangeArrowheads="1"/>
            </p:cNvSpPr>
            <p:nvPr/>
          </p:nvSpPr>
          <p:spPr bwMode="auto">
            <a:xfrm>
              <a:off x="3067"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40" name="Rectangle 441"/>
            <p:cNvSpPr>
              <a:spLocks noChangeArrowheads="1"/>
            </p:cNvSpPr>
            <p:nvPr/>
          </p:nvSpPr>
          <p:spPr bwMode="auto">
            <a:xfrm>
              <a:off x="3096"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41" name="Rectangle 442"/>
            <p:cNvSpPr>
              <a:spLocks noChangeArrowheads="1"/>
            </p:cNvSpPr>
            <p:nvPr/>
          </p:nvSpPr>
          <p:spPr bwMode="auto">
            <a:xfrm>
              <a:off x="3125"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42" name="Rectangle 443"/>
            <p:cNvSpPr>
              <a:spLocks noChangeArrowheads="1"/>
            </p:cNvSpPr>
            <p:nvPr/>
          </p:nvSpPr>
          <p:spPr bwMode="auto">
            <a:xfrm>
              <a:off x="3154"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43" name="Rectangle 444"/>
            <p:cNvSpPr>
              <a:spLocks noChangeArrowheads="1"/>
            </p:cNvSpPr>
            <p:nvPr/>
          </p:nvSpPr>
          <p:spPr bwMode="auto">
            <a:xfrm>
              <a:off x="3183"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44" name="Rectangle 445"/>
            <p:cNvSpPr>
              <a:spLocks noChangeArrowheads="1"/>
            </p:cNvSpPr>
            <p:nvPr/>
          </p:nvSpPr>
          <p:spPr bwMode="auto">
            <a:xfrm>
              <a:off x="3211"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45" name="Rectangle 446"/>
            <p:cNvSpPr>
              <a:spLocks noChangeArrowheads="1"/>
            </p:cNvSpPr>
            <p:nvPr/>
          </p:nvSpPr>
          <p:spPr bwMode="auto">
            <a:xfrm>
              <a:off x="3240"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46" name="Rectangle 447"/>
            <p:cNvSpPr>
              <a:spLocks noChangeArrowheads="1"/>
            </p:cNvSpPr>
            <p:nvPr/>
          </p:nvSpPr>
          <p:spPr bwMode="auto">
            <a:xfrm>
              <a:off x="3269"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47" name="Rectangle 448"/>
            <p:cNvSpPr>
              <a:spLocks noChangeArrowheads="1"/>
            </p:cNvSpPr>
            <p:nvPr/>
          </p:nvSpPr>
          <p:spPr bwMode="auto">
            <a:xfrm>
              <a:off x="3298"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48" name="Rectangle 449"/>
            <p:cNvSpPr>
              <a:spLocks noChangeArrowheads="1"/>
            </p:cNvSpPr>
            <p:nvPr/>
          </p:nvSpPr>
          <p:spPr bwMode="auto">
            <a:xfrm>
              <a:off x="3327"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49" name="Rectangle 450"/>
            <p:cNvSpPr>
              <a:spLocks noChangeArrowheads="1"/>
            </p:cNvSpPr>
            <p:nvPr/>
          </p:nvSpPr>
          <p:spPr bwMode="auto">
            <a:xfrm>
              <a:off x="3356"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50" name="Rectangle 451"/>
            <p:cNvSpPr>
              <a:spLocks noChangeArrowheads="1"/>
            </p:cNvSpPr>
            <p:nvPr/>
          </p:nvSpPr>
          <p:spPr bwMode="auto">
            <a:xfrm>
              <a:off x="3384"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51" name="Rectangle 452"/>
            <p:cNvSpPr>
              <a:spLocks noChangeArrowheads="1"/>
            </p:cNvSpPr>
            <p:nvPr/>
          </p:nvSpPr>
          <p:spPr bwMode="auto">
            <a:xfrm>
              <a:off x="3413"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52" name="Rectangle 453"/>
            <p:cNvSpPr>
              <a:spLocks noChangeArrowheads="1"/>
            </p:cNvSpPr>
            <p:nvPr/>
          </p:nvSpPr>
          <p:spPr bwMode="auto">
            <a:xfrm>
              <a:off x="3442"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53" name="Rectangle 454"/>
            <p:cNvSpPr>
              <a:spLocks noChangeArrowheads="1"/>
            </p:cNvSpPr>
            <p:nvPr/>
          </p:nvSpPr>
          <p:spPr bwMode="auto">
            <a:xfrm>
              <a:off x="3471"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54" name="Rectangle 455"/>
            <p:cNvSpPr>
              <a:spLocks noChangeArrowheads="1"/>
            </p:cNvSpPr>
            <p:nvPr/>
          </p:nvSpPr>
          <p:spPr bwMode="auto">
            <a:xfrm>
              <a:off x="350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55" name="Rectangle 456"/>
            <p:cNvSpPr>
              <a:spLocks noChangeArrowheads="1"/>
            </p:cNvSpPr>
            <p:nvPr/>
          </p:nvSpPr>
          <p:spPr bwMode="auto">
            <a:xfrm>
              <a:off x="3529"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56" name="Rectangle 457"/>
            <p:cNvSpPr>
              <a:spLocks noChangeArrowheads="1"/>
            </p:cNvSpPr>
            <p:nvPr/>
          </p:nvSpPr>
          <p:spPr bwMode="auto">
            <a:xfrm>
              <a:off x="3557"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57" name="Rectangle 458"/>
            <p:cNvSpPr>
              <a:spLocks noChangeArrowheads="1"/>
            </p:cNvSpPr>
            <p:nvPr/>
          </p:nvSpPr>
          <p:spPr bwMode="auto">
            <a:xfrm>
              <a:off x="3586"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58" name="Rectangle 459"/>
            <p:cNvSpPr>
              <a:spLocks noChangeArrowheads="1"/>
            </p:cNvSpPr>
            <p:nvPr/>
          </p:nvSpPr>
          <p:spPr bwMode="auto">
            <a:xfrm>
              <a:off x="3615"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59" name="Rectangle 460"/>
            <p:cNvSpPr>
              <a:spLocks noChangeArrowheads="1"/>
            </p:cNvSpPr>
            <p:nvPr/>
          </p:nvSpPr>
          <p:spPr bwMode="auto">
            <a:xfrm>
              <a:off x="3644"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60" name="Rectangle 461"/>
            <p:cNvSpPr>
              <a:spLocks noChangeArrowheads="1"/>
            </p:cNvSpPr>
            <p:nvPr/>
          </p:nvSpPr>
          <p:spPr bwMode="auto">
            <a:xfrm>
              <a:off x="3673"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61" name="Rectangle 462"/>
            <p:cNvSpPr>
              <a:spLocks noChangeArrowheads="1"/>
            </p:cNvSpPr>
            <p:nvPr/>
          </p:nvSpPr>
          <p:spPr bwMode="auto">
            <a:xfrm>
              <a:off x="3702"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62" name="Rectangle 463"/>
            <p:cNvSpPr>
              <a:spLocks noChangeArrowheads="1"/>
            </p:cNvSpPr>
            <p:nvPr/>
          </p:nvSpPr>
          <p:spPr bwMode="auto">
            <a:xfrm>
              <a:off x="3730"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63" name="Rectangle 464"/>
            <p:cNvSpPr>
              <a:spLocks noChangeArrowheads="1"/>
            </p:cNvSpPr>
            <p:nvPr/>
          </p:nvSpPr>
          <p:spPr bwMode="auto">
            <a:xfrm>
              <a:off x="3759"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64" name="Rectangle 465"/>
            <p:cNvSpPr>
              <a:spLocks noChangeArrowheads="1"/>
            </p:cNvSpPr>
            <p:nvPr/>
          </p:nvSpPr>
          <p:spPr bwMode="auto">
            <a:xfrm>
              <a:off x="3788"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65" name="Rectangle 466"/>
            <p:cNvSpPr>
              <a:spLocks noChangeArrowheads="1"/>
            </p:cNvSpPr>
            <p:nvPr/>
          </p:nvSpPr>
          <p:spPr bwMode="auto">
            <a:xfrm>
              <a:off x="3817"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66" name="Rectangle 467"/>
            <p:cNvSpPr>
              <a:spLocks noChangeArrowheads="1"/>
            </p:cNvSpPr>
            <p:nvPr/>
          </p:nvSpPr>
          <p:spPr bwMode="auto">
            <a:xfrm>
              <a:off x="3846"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67" name="Rectangle 468"/>
            <p:cNvSpPr>
              <a:spLocks noChangeArrowheads="1"/>
            </p:cNvSpPr>
            <p:nvPr/>
          </p:nvSpPr>
          <p:spPr bwMode="auto">
            <a:xfrm>
              <a:off x="3874"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68" name="Rectangle 469"/>
            <p:cNvSpPr>
              <a:spLocks noChangeArrowheads="1"/>
            </p:cNvSpPr>
            <p:nvPr/>
          </p:nvSpPr>
          <p:spPr bwMode="auto">
            <a:xfrm>
              <a:off x="3903"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69" name="Rectangle 470"/>
            <p:cNvSpPr>
              <a:spLocks noChangeArrowheads="1"/>
            </p:cNvSpPr>
            <p:nvPr/>
          </p:nvSpPr>
          <p:spPr bwMode="auto">
            <a:xfrm>
              <a:off x="3932"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70" name="Rectangle 471"/>
            <p:cNvSpPr>
              <a:spLocks noChangeArrowheads="1"/>
            </p:cNvSpPr>
            <p:nvPr/>
          </p:nvSpPr>
          <p:spPr bwMode="auto">
            <a:xfrm>
              <a:off x="3961"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71" name="Rectangle 472"/>
            <p:cNvSpPr>
              <a:spLocks noChangeArrowheads="1"/>
            </p:cNvSpPr>
            <p:nvPr/>
          </p:nvSpPr>
          <p:spPr bwMode="auto">
            <a:xfrm>
              <a:off x="399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72" name="Rectangle 473"/>
            <p:cNvSpPr>
              <a:spLocks noChangeArrowheads="1"/>
            </p:cNvSpPr>
            <p:nvPr/>
          </p:nvSpPr>
          <p:spPr bwMode="auto">
            <a:xfrm>
              <a:off x="4019"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73" name="Rectangle 474"/>
            <p:cNvSpPr>
              <a:spLocks noChangeArrowheads="1"/>
            </p:cNvSpPr>
            <p:nvPr/>
          </p:nvSpPr>
          <p:spPr bwMode="auto">
            <a:xfrm>
              <a:off x="4047"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74" name="Rectangle 475"/>
            <p:cNvSpPr>
              <a:spLocks noChangeArrowheads="1"/>
            </p:cNvSpPr>
            <p:nvPr/>
          </p:nvSpPr>
          <p:spPr bwMode="auto">
            <a:xfrm>
              <a:off x="4076"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75" name="Rectangle 476"/>
            <p:cNvSpPr>
              <a:spLocks noChangeArrowheads="1"/>
            </p:cNvSpPr>
            <p:nvPr/>
          </p:nvSpPr>
          <p:spPr bwMode="auto">
            <a:xfrm>
              <a:off x="4105"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76" name="Rectangle 477"/>
            <p:cNvSpPr>
              <a:spLocks noChangeArrowheads="1"/>
            </p:cNvSpPr>
            <p:nvPr/>
          </p:nvSpPr>
          <p:spPr bwMode="auto">
            <a:xfrm>
              <a:off x="4134"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77" name="Rectangle 478"/>
            <p:cNvSpPr>
              <a:spLocks noChangeArrowheads="1"/>
            </p:cNvSpPr>
            <p:nvPr/>
          </p:nvSpPr>
          <p:spPr bwMode="auto">
            <a:xfrm>
              <a:off x="4163"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78" name="Rectangle 479"/>
            <p:cNvSpPr>
              <a:spLocks noChangeArrowheads="1"/>
            </p:cNvSpPr>
            <p:nvPr/>
          </p:nvSpPr>
          <p:spPr bwMode="auto">
            <a:xfrm>
              <a:off x="4192"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79" name="Rectangle 480"/>
            <p:cNvSpPr>
              <a:spLocks noChangeArrowheads="1"/>
            </p:cNvSpPr>
            <p:nvPr/>
          </p:nvSpPr>
          <p:spPr bwMode="auto">
            <a:xfrm>
              <a:off x="4220"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80" name="Rectangle 481"/>
            <p:cNvSpPr>
              <a:spLocks noChangeArrowheads="1"/>
            </p:cNvSpPr>
            <p:nvPr/>
          </p:nvSpPr>
          <p:spPr bwMode="auto">
            <a:xfrm>
              <a:off x="4249"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81" name="Rectangle 482"/>
            <p:cNvSpPr>
              <a:spLocks noChangeArrowheads="1"/>
            </p:cNvSpPr>
            <p:nvPr/>
          </p:nvSpPr>
          <p:spPr bwMode="auto">
            <a:xfrm>
              <a:off x="4278"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82" name="Rectangle 483"/>
            <p:cNvSpPr>
              <a:spLocks noChangeArrowheads="1"/>
            </p:cNvSpPr>
            <p:nvPr/>
          </p:nvSpPr>
          <p:spPr bwMode="auto">
            <a:xfrm>
              <a:off x="4307"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83" name="Rectangle 484"/>
            <p:cNvSpPr>
              <a:spLocks noChangeArrowheads="1"/>
            </p:cNvSpPr>
            <p:nvPr/>
          </p:nvSpPr>
          <p:spPr bwMode="auto">
            <a:xfrm>
              <a:off x="4336"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84" name="Rectangle 485"/>
            <p:cNvSpPr>
              <a:spLocks noChangeArrowheads="1"/>
            </p:cNvSpPr>
            <p:nvPr/>
          </p:nvSpPr>
          <p:spPr bwMode="auto">
            <a:xfrm>
              <a:off x="4365"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85" name="Rectangle 486"/>
            <p:cNvSpPr>
              <a:spLocks noChangeArrowheads="1"/>
            </p:cNvSpPr>
            <p:nvPr/>
          </p:nvSpPr>
          <p:spPr bwMode="auto">
            <a:xfrm>
              <a:off x="4393"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86" name="Rectangle 487"/>
            <p:cNvSpPr>
              <a:spLocks noChangeArrowheads="1"/>
            </p:cNvSpPr>
            <p:nvPr/>
          </p:nvSpPr>
          <p:spPr bwMode="auto">
            <a:xfrm>
              <a:off x="4422"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87" name="Rectangle 488"/>
            <p:cNvSpPr>
              <a:spLocks noChangeArrowheads="1"/>
            </p:cNvSpPr>
            <p:nvPr/>
          </p:nvSpPr>
          <p:spPr bwMode="auto">
            <a:xfrm>
              <a:off x="4451"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88" name="Rectangle 489"/>
            <p:cNvSpPr>
              <a:spLocks noChangeArrowheads="1"/>
            </p:cNvSpPr>
            <p:nvPr/>
          </p:nvSpPr>
          <p:spPr bwMode="auto">
            <a:xfrm>
              <a:off x="448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89" name="Rectangle 490"/>
            <p:cNvSpPr>
              <a:spLocks noChangeArrowheads="1"/>
            </p:cNvSpPr>
            <p:nvPr/>
          </p:nvSpPr>
          <p:spPr bwMode="auto">
            <a:xfrm>
              <a:off x="4509"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90" name="Rectangle 491"/>
            <p:cNvSpPr>
              <a:spLocks noChangeArrowheads="1"/>
            </p:cNvSpPr>
            <p:nvPr/>
          </p:nvSpPr>
          <p:spPr bwMode="auto">
            <a:xfrm>
              <a:off x="4538"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91" name="Rectangle 492"/>
            <p:cNvSpPr>
              <a:spLocks noChangeArrowheads="1"/>
            </p:cNvSpPr>
            <p:nvPr/>
          </p:nvSpPr>
          <p:spPr bwMode="auto">
            <a:xfrm>
              <a:off x="4566"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92" name="Rectangle 493"/>
            <p:cNvSpPr>
              <a:spLocks noChangeArrowheads="1"/>
            </p:cNvSpPr>
            <p:nvPr/>
          </p:nvSpPr>
          <p:spPr bwMode="auto">
            <a:xfrm>
              <a:off x="4595"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93" name="Rectangle 494"/>
            <p:cNvSpPr>
              <a:spLocks noChangeArrowheads="1"/>
            </p:cNvSpPr>
            <p:nvPr/>
          </p:nvSpPr>
          <p:spPr bwMode="auto">
            <a:xfrm>
              <a:off x="4624"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94" name="Rectangle 495"/>
            <p:cNvSpPr>
              <a:spLocks noChangeArrowheads="1"/>
            </p:cNvSpPr>
            <p:nvPr/>
          </p:nvSpPr>
          <p:spPr bwMode="auto">
            <a:xfrm>
              <a:off x="4653"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95" name="Rectangle 496"/>
            <p:cNvSpPr>
              <a:spLocks noChangeArrowheads="1"/>
            </p:cNvSpPr>
            <p:nvPr/>
          </p:nvSpPr>
          <p:spPr bwMode="auto">
            <a:xfrm>
              <a:off x="4682"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96" name="Rectangle 497"/>
            <p:cNvSpPr>
              <a:spLocks noChangeArrowheads="1"/>
            </p:cNvSpPr>
            <p:nvPr/>
          </p:nvSpPr>
          <p:spPr bwMode="auto">
            <a:xfrm>
              <a:off x="4711"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97" name="Rectangle 498"/>
            <p:cNvSpPr>
              <a:spLocks noChangeArrowheads="1"/>
            </p:cNvSpPr>
            <p:nvPr/>
          </p:nvSpPr>
          <p:spPr bwMode="auto">
            <a:xfrm>
              <a:off x="4739"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98" name="Rectangle 499"/>
            <p:cNvSpPr>
              <a:spLocks noChangeArrowheads="1"/>
            </p:cNvSpPr>
            <p:nvPr/>
          </p:nvSpPr>
          <p:spPr bwMode="auto">
            <a:xfrm>
              <a:off x="4768"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99" name="Rectangle 500"/>
            <p:cNvSpPr>
              <a:spLocks noChangeArrowheads="1"/>
            </p:cNvSpPr>
            <p:nvPr/>
          </p:nvSpPr>
          <p:spPr bwMode="auto">
            <a:xfrm>
              <a:off x="4797"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00" name="Rectangle 501"/>
            <p:cNvSpPr>
              <a:spLocks noChangeArrowheads="1"/>
            </p:cNvSpPr>
            <p:nvPr/>
          </p:nvSpPr>
          <p:spPr bwMode="auto">
            <a:xfrm>
              <a:off x="4826"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01" name="Rectangle 502"/>
            <p:cNvSpPr>
              <a:spLocks noChangeArrowheads="1"/>
            </p:cNvSpPr>
            <p:nvPr/>
          </p:nvSpPr>
          <p:spPr bwMode="auto">
            <a:xfrm>
              <a:off x="4855"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02" name="Rectangle 503"/>
            <p:cNvSpPr>
              <a:spLocks noChangeArrowheads="1"/>
            </p:cNvSpPr>
            <p:nvPr/>
          </p:nvSpPr>
          <p:spPr bwMode="auto">
            <a:xfrm>
              <a:off x="4883"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03" name="Rectangle 504"/>
            <p:cNvSpPr>
              <a:spLocks noChangeArrowheads="1"/>
            </p:cNvSpPr>
            <p:nvPr/>
          </p:nvSpPr>
          <p:spPr bwMode="auto">
            <a:xfrm>
              <a:off x="4912"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04" name="Rectangle 505"/>
            <p:cNvSpPr>
              <a:spLocks noChangeArrowheads="1"/>
            </p:cNvSpPr>
            <p:nvPr/>
          </p:nvSpPr>
          <p:spPr bwMode="auto">
            <a:xfrm>
              <a:off x="4941"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05" name="Rectangle 506"/>
            <p:cNvSpPr>
              <a:spLocks noChangeArrowheads="1"/>
            </p:cNvSpPr>
            <p:nvPr/>
          </p:nvSpPr>
          <p:spPr bwMode="auto">
            <a:xfrm>
              <a:off x="497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06" name="Rectangle 507"/>
            <p:cNvSpPr>
              <a:spLocks noChangeArrowheads="1"/>
            </p:cNvSpPr>
            <p:nvPr/>
          </p:nvSpPr>
          <p:spPr bwMode="auto">
            <a:xfrm>
              <a:off x="4999"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07" name="Rectangle 508"/>
            <p:cNvSpPr>
              <a:spLocks noChangeArrowheads="1"/>
            </p:cNvSpPr>
            <p:nvPr/>
          </p:nvSpPr>
          <p:spPr bwMode="auto">
            <a:xfrm>
              <a:off x="5028"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08" name="Rectangle 509"/>
            <p:cNvSpPr>
              <a:spLocks noChangeArrowheads="1"/>
            </p:cNvSpPr>
            <p:nvPr/>
          </p:nvSpPr>
          <p:spPr bwMode="auto">
            <a:xfrm>
              <a:off x="5056"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09" name="Rectangle 510"/>
            <p:cNvSpPr>
              <a:spLocks noChangeArrowheads="1"/>
            </p:cNvSpPr>
            <p:nvPr/>
          </p:nvSpPr>
          <p:spPr bwMode="auto">
            <a:xfrm>
              <a:off x="5085"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410" name="Freeform 511"/>
            <p:cNvSpPr/>
            <p:nvPr/>
          </p:nvSpPr>
          <p:spPr bwMode="auto">
            <a:xfrm>
              <a:off x="5056" y="2954"/>
              <a:ext cx="116" cy="136"/>
            </a:xfrm>
            <a:custGeom>
              <a:avLst/>
              <a:gdLst>
                <a:gd name="T0" fmla="*/ 0 w 116"/>
                <a:gd name="T1" fmla="*/ 136 h 136"/>
                <a:gd name="T2" fmla="*/ 116 w 116"/>
                <a:gd name="T3" fmla="*/ 64 h 136"/>
                <a:gd name="T4" fmla="*/ 0 w 116"/>
                <a:gd name="T5" fmla="*/ 0 h 136"/>
                <a:gd name="T6" fmla="*/ 36 w 116"/>
                <a:gd name="T7" fmla="*/ 64 h 136"/>
                <a:gd name="T8" fmla="*/ 0 w 116"/>
                <a:gd name="T9" fmla="*/ 136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6" h="136">
                  <a:moveTo>
                    <a:pt x="0" y="136"/>
                  </a:moveTo>
                  <a:lnTo>
                    <a:pt x="116" y="64"/>
                  </a:lnTo>
                  <a:lnTo>
                    <a:pt x="0" y="0"/>
                  </a:lnTo>
                  <a:lnTo>
                    <a:pt x="36" y="64"/>
                  </a:ln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67280" name="Freeform 513"/>
          <p:cNvSpPr/>
          <p:nvPr/>
        </p:nvSpPr>
        <p:spPr bwMode="auto">
          <a:xfrm>
            <a:off x="7632700" y="4554538"/>
            <a:ext cx="114300" cy="255587"/>
          </a:xfrm>
          <a:custGeom>
            <a:avLst/>
            <a:gdLst>
              <a:gd name="T0" fmla="*/ 0 w 72"/>
              <a:gd name="T1" fmla="*/ 2147483647 h 161"/>
              <a:gd name="T2" fmla="*/ 2147483647 w 72"/>
              <a:gd name="T3" fmla="*/ 2147483647 h 161"/>
              <a:gd name="T4" fmla="*/ 2147483647 w 72"/>
              <a:gd name="T5" fmla="*/ 2147483647 h 161"/>
              <a:gd name="T6" fmla="*/ 2147483647 w 72"/>
              <a:gd name="T7" fmla="*/ 2147483647 h 161"/>
              <a:gd name="T8" fmla="*/ 2147483647 w 72"/>
              <a:gd name="T9" fmla="*/ 0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 h="161">
                <a:moveTo>
                  <a:pt x="0" y="161"/>
                </a:moveTo>
                <a:lnTo>
                  <a:pt x="29" y="145"/>
                </a:lnTo>
                <a:lnTo>
                  <a:pt x="51" y="112"/>
                </a:lnTo>
                <a:lnTo>
                  <a:pt x="65" y="64"/>
                </a:lnTo>
                <a:lnTo>
                  <a:pt x="72" y="0"/>
                </a:lnTo>
              </a:path>
            </a:pathLst>
          </a:custGeom>
          <a:noFill/>
          <a:ln w="2222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7281" name="Freeform 514"/>
          <p:cNvSpPr/>
          <p:nvPr/>
        </p:nvSpPr>
        <p:spPr bwMode="auto">
          <a:xfrm>
            <a:off x="3400425" y="5103813"/>
            <a:ext cx="228600" cy="446087"/>
          </a:xfrm>
          <a:custGeom>
            <a:avLst/>
            <a:gdLst>
              <a:gd name="T0" fmla="*/ 2147483647 w 144"/>
              <a:gd name="T1" fmla="*/ 2147483647 h 281"/>
              <a:gd name="T2" fmla="*/ 2147483647 w 144"/>
              <a:gd name="T3" fmla="*/ 2147483647 h 281"/>
              <a:gd name="T4" fmla="*/ 2147483647 w 144"/>
              <a:gd name="T5" fmla="*/ 2147483647 h 281"/>
              <a:gd name="T6" fmla="*/ 2147483647 w 144"/>
              <a:gd name="T7" fmla="*/ 2147483647 h 281"/>
              <a:gd name="T8" fmla="*/ 2147483647 w 144"/>
              <a:gd name="T9" fmla="*/ 2147483647 h 281"/>
              <a:gd name="T10" fmla="*/ 2147483647 w 144"/>
              <a:gd name="T11" fmla="*/ 2147483647 h 281"/>
              <a:gd name="T12" fmla="*/ 0 w 144"/>
              <a:gd name="T13" fmla="*/ 0 h 2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4" h="281">
                <a:moveTo>
                  <a:pt x="144" y="281"/>
                </a:moveTo>
                <a:lnTo>
                  <a:pt x="115" y="273"/>
                </a:lnTo>
                <a:lnTo>
                  <a:pt x="86" y="257"/>
                </a:lnTo>
                <a:lnTo>
                  <a:pt x="65" y="233"/>
                </a:lnTo>
                <a:lnTo>
                  <a:pt x="43" y="200"/>
                </a:lnTo>
                <a:lnTo>
                  <a:pt x="14" y="112"/>
                </a:lnTo>
                <a:lnTo>
                  <a:pt x="0" y="0"/>
                </a:lnTo>
              </a:path>
            </a:pathLst>
          </a:custGeom>
          <a:noFill/>
          <a:ln w="2222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7282" name="Freeform 515"/>
          <p:cNvSpPr/>
          <p:nvPr/>
        </p:nvSpPr>
        <p:spPr bwMode="auto">
          <a:xfrm>
            <a:off x="3400425" y="4810125"/>
            <a:ext cx="228600" cy="293688"/>
          </a:xfrm>
          <a:custGeom>
            <a:avLst/>
            <a:gdLst>
              <a:gd name="T0" fmla="*/ 2147483647 w 144"/>
              <a:gd name="T1" fmla="*/ 0 h 185"/>
              <a:gd name="T2" fmla="*/ 2147483647 w 144"/>
              <a:gd name="T3" fmla="*/ 2147483647 h 185"/>
              <a:gd name="T4" fmla="*/ 2147483647 w 144"/>
              <a:gd name="T5" fmla="*/ 2147483647 h 185"/>
              <a:gd name="T6" fmla="*/ 2147483647 w 144"/>
              <a:gd name="T7" fmla="*/ 2147483647 h 185"/>
              <a:gd name="T8" fmla="*/ 0 w 144"/>
              <a:gd name="T9" fmla="*/ 2147483647 h 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185">
                <a:moveTo>
                  <a:pt x="144" y="0"/>
                </a:moveTo>
                <a:lnTo>
                  <a:pt x="86" y="16"/>
                </a:lnTo>
                <a:lnTo>
                  <a:pt x="43" y="56"/>
                </a:lnTo>
                <a:lnTo>
                  <a:pt x="14" y="112"/>
                </a:lnTo>
                <a:lnTo>
                  <a:pt x="0" y="185"/>
                </a:lnTo>
              </a:path>
            </a:pathLst>
          </a:custGeom>
          <a:noFill/>
          <a:ln w="2222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167283" name="Group 518"/>
          <p:cNvGrpSpPr/>
          <p:nvPr/>
        </p:nvGrpSpPr>
        <p:grpSpPr bwMode="auto">
          <a:xfrm>
            <a:off x="3629025" y="5448300"/>
            <a:ext cx="4462463" cy="215900"/>
            <a:chOff x="2289" y="3557"/>
            <a:chExt cx="2811" cy="136"/>
          </a:xfrm>
        </p:grpSpPr>
        <p:sp>
          <p:nvSpPr>
            <p:cNvPr id="167315" name="Freeform 516"/>
            <p:cNvSpPr/>
            <p:nvPr/>
          </p:nvSpPr>
          <p:spPr bwMode="auto">
            <a:xfrm>
              <a:off x="2289" y="3605"/>
              <a:ext cx="2746" cy="24"/>
            </a:xfrm>
            <a:custGeom>
              <a:avLst/>
              <a:gdLst>
                <a:gd name="T0" fmla="*/ 0 w 2746"/>
                <a:gd name="T1" fmla="*/ 0 h 24"/>
                <a:gd name="T2" fmla="*/ 0 w 2746"/>
                <a:gd name="T3" fmla="*/ 16 h 24"/>
                <a:gd name="T4" fmla="*/ 2746 w 2746"/>
                <a:gd name="T5" fmla="*/ 24 h 24"/>
                <a:gd name="T6" fmla="*/ 2746 w 2746"/>
                <a:gd name="T7" fmla="*/ 8 h 24"/>
                <a:gd name="T8" fmla="*/ 0 w 2746"/>
                <a:gd name="T9" fmla="*/ 0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46" h="24">
                  <a:moveTo>
                    <a:pt x="0" y="0"/>
                  </a:moveTo>
                  <a:lnTo>
                    <a:pt x="0" y="16"/>
                  </a:lnTo>
                  <a:lnTo>
                    <a:pt x="2746" y="24"/>
                  </a:lnTo>
                  <a:lnTo>
                    <a:pt x="2746" y="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316" name="Freeform 517"/>
            <p:cNvSpPr/>
            <p:nvPr/>
          </p:nvSpPr>
          <p:spPr bwMode="auto">
            <a:xfrm>
              <a:off x="4984" y="3557"/>
              <a:ext cx="116" cy="136"/>
            </a:xfrm>
            <a:custGeom>
              <a:avLst/>
              <a:gdLst>
                <a:gd name="T0" fmla="*/ 0 w 116"/>
                <a:gd name="T1" fmla="*/ 136 h 136"/>
                <a:gd name="T2" fmla="*/ 116 w 116"/>
                <a:gd name="T3" fmla="*/ 64 h 136"/>
                <a:gd name="T4" fmla="*/ 0 w 116"/>
                <a:gd name="T5" fmla="*/ 0 h 136"/>
                <a:gd name="T6" fmla="*/ 36 w 116"/>
                <a:gd name="T7" fmla="*/ 64 h 136"/>
                <a:gd name="T8" fmla="*/ 0 w 116"/>
                <a:gd name="T9" fmla="*/ 136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6" h="136">
                  <a:moveTo>
                    <a:pt x="0" y="136"/>
                  </a:moveTo>
                  <a:lnTo>
                    <a:pt x="116" y="64"/>
                  </a:lnTo>
                  <a:lnTo>
                    <a:pt x="0" y="0"/>
                  </a:lnTo>
                  <a:lnTo>
                    <a:pt x="36" y="64"/>
                  </a:ln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84" name="Group 521"/>
          <p:cNvGrpSpPr/>
          <p:nvPr/>
        </p:nvGrpSpPr>
        <p:grpSpPr bwMode="auto">
          <a:xfrm>
            <a:off x="5230813" y="3992563"/>
            <a:ext cx="342900" cy="217487"/>
            <a:chOff x="3298" y="2640"/>
            <a:chExt cx="216" cy="137"/>
          </a:xfrm>
        </p:grpSpPr>
        <p:sp>
          <p:nvSpPr>
            <p:cNvPr id="167313" name="Rectangle 519"/>
            <p:cNvSpPr>
              <a:spLocks noChangeArrowheads="1"/>
            </p:cNvSpPr>
            <p:nvPr/>
          </p:nvSpPr>
          <p:spPr bwMode="auto">
            <a:xfrm>
              <a:off x="3298" y="2697"/>
              <a:ext cx="151"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14" name="Freeform 520"/>
            <p:cNvSpPr/>
            <p:nvPr/>
          </p:nvSpPr>
          <p:spPr bwMode="auto">
            <a:xfrm>
              <a:off x="3399" y="2640"/>
              <a:ext cx="115" cy="137"/>
            </a:xfrm>
            <a:custGeom>
              <a:avLst/>
              <a:gdLst>
                <a:gd name="T0" fmla="*/ 0 w 115"/>
                <a:gd name="T1" fmla="*/ 137 h 137"/>
                <a:gd name="T2" fmla="*/ 115 w 115"/>
                <a:gd name="T3" fmla="*/ 65 h 137"/>
                <a:gd name="T4" fmla="*/ 0 w 115"/>
                <a:gd name="T5" fmla="*/ 0 h 137"/>
                <a:gd name="T6" fmla="*/ 36 w 115"/>
                <a:gd name="T7" fmla="*/ 65 h 137"/>
                <a:gd name="T8" fmla="*/ 0 w 115"/>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7">
                  <a:moveTo>
                    <a:pt x="0" y="137"/>
                  </a:moveTo>
                  <a:lnTo>
                    <a:pt x="115" y="65"/>
                  </a:lnTo>
                  <a:lnTo>
                    <a:pt x="0" y="0"/>
                  </a:lnTo>
                  <a:lnTo>
                    <a:pt x="36" y="65"/>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85" name="Group 524"/>
          <p:cNvGrpSpPr/>
          <p:nvPr/>
        </p:nvGrpSpPr>
        <p:grpSpPr bwMode="auto">
          <a:xfrm>
            <a:off x="5230813" y="5881688"/>
            <a:ext cx="342900" cy="215900"/>
            <a:chOff x="3298" y="3830"/>
            <a:chExt cx="216" cy="136"/>
          </a:xfrm>
        </p:grpSpPr>
        <p:sp>
          <p:nvSpPr>
            <p:cNvPr id="167311" name="Rectangle 522"/>
            <p:cNvSpPr>
              <a:spLocks noChangeArrowheads="1"/>
            </p:cNvSpPr>
            <p:nvPr/>
          </p:nvSpPr>
          <p:spPr bwMode="auto">
            <a:xfrm>
              <a:off x="3298" y="3886"/>
              <a:ext cx="151"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67312" name="Freeform 523"/>
            <p:cNvSpPr/>
            <p:nvPr/>
          </p:nvSpPr>
          <p:spPr bwMode="auto">
            <a:xfrm>
              <a:off x="3399" y="3830"/>
              <a:ext cx="115" cy="136"/>
            </a:xfrm>
            <a:custGeom>
              <a:avLst/>
              <a:gdLst>
                <a:gd name="T0" fmla="*/ 0 w 115"/>
                <a:gd name="T1" fmla="*/ 136 h 136"/>
                <a:gd name="T2" fmla="*/ 115 w 115"/>
                <a:gd name="T3" fmla="*/ 64 h 136"/>
                <a:gd name="T4" fmla="*/ 0 w 115"/>
                <a:gd name="T5" fmla="*/ 0 h 136"/>
                <a:gd name="T6" fmla="*/ 36 w 115"/>
                <a:gd name="T7" fmla="*/ 64 h 136"/>
                <a:gd name="T8" fmla="*/ 0 w 115"/>
                <a:gd name="T9" fmla="*/ 136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6">
                  <a:moveTo>
                    <a:pt x="0" y="136"/>
                  </a:moveTo>
                  <a:lnTo>
                    <a:pt x="115" y="64"/>
                  </a:lnTo>
                  <a:lnTo>
                    <a:pt x="0" y="0"/>
                  </a:lnTo>
                  <a:lnTo>
                    <a:pt x="36" y="64"/>
                  </a:ln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67286" name="Group 527"/>
          <p:cNvGrpSpPr/>
          <p:nvPr/>
        </p:nvGrpSpPr>
        <p:grpSpPr bwMode="auto">
          <a:xfrm>
            <a:off x="1774825" y="5294313"/>
            <a:ext cx="230188" cy="587375"/>
            <a:chOff x="1121" y="3460"/>
            <a:chExt cx="145" cy="370"/>
          </a:xfrm>
        </p:grpSpPr>
        <p:sp>
          <p:nvSpPr>
            <p:cNvPr id="167309" name="Freeform 525"/>
            <p:cNvSpPr/>
            <p:nvPr/>
          </p:nvSpPr>
          <p:spPr bwMode="auto">
            <a:xfrm>
              <a:off x="1121" y="3532"/>
              <a:ext cx="87" cy="298"/>
            </a:xfrm>
            <a:custGeom>
              <a:avLst/>
              <a:gdLst>
                <a:gd name="T0" fmla="*/ 87 w 87"/>
                <a:gd name="T1" fmla="*/ 0 h 298"/>
                <a:gd name="T2" fmla="*/ 72 w 87"/>
                <a:gd name="T3" fmla="*/ 0 h 298"/>
                <a:gd name="T4" fmla="*/ 36 w 87"/>
                <a:gd name="T5" fmla="*/ 290 h 298"/>
                <a:gd name="T6" fmla="*/ 44 w 87"/>
                <a:gd name="T7" fmla="*/ 290 h 298"/>
                <a:gd name="T8" fmla="*/ 44 w 87"/>
                <a:gd name="T9" fmla="*/ 282 h 298"/>
                <a:gd name="T10" fmla="*/ 0 w 87"/>
                <a:gd name="T11" fmla="*/ 282 h 298"/>
                <a:gd name="T12" fmla="*/ 0 w 87"/>
                <a:gd name="T13" fmla="*/ 298 h 298"/>
                <a:gd name="T14" fmla="*/ 44 w 87"/>
                <a:gd name="T15" fmla="*/ 298 h 298"/>
                <a:gd name="T16" fmla="*/ 51 w 87"/>
                <a:gd name="T17" fmla="*/ 298 h 298"/>
                <a:gd name="T18" fmla="*/ 51 w 87"/>
                <a:gd name="T19" fmla="*/ 290 h 298"/>
                <a:gd name="T20" fmla="*/ 87 w 87"/>
                <a:gd name="T21" fmla="*/ 0 h 2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7" h="298">
                  <a:moveTo>
                    <a:pt x="87" y="0"/>
                  </a:moveTo>
                  <a:lnTo>
                    <a:pt x="72" y="0"/>
                  </a:lnTo>
                  <a:lnTo>
                    <a:pt x="36" y="290"/>
                  </a:lnTo>
                  <a:lnTo>
                    <a:pt x="44" y="290"/>
                  </a:lnTo>
                  <a:lnTo>
                    <a:pt x="44" y="282"/>
                  </a:lnTo>
                  <a:lnTo>
                    <a:pt x="0" y="282"/>
                  </a:lnTo>
                  <a:lnTo>
                    <a:pt x="0" y="298"/>
                  </a:lnTo>
                  <a:lnTo>
                    <a:pt x="44" y="298"/>
                  </a:lnTo>
                  <a:lnTo>
                    <a:pt x="51" y="298"/>
                  </a:lnTo>
                  <a:lnTo>
                    <a:pt x="51" y="290"/>
                  </a:lnTo>
                  <a:lnTo>
                    <a:pt x="87"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310" name="Freeform 526"/>
            <p:cNvSpPr/>
            <p:nvPr/>
          </p:nvSpPr>
          <p:spPr bwMode="auto">
            <a:xfrm>
              <a:off x="1143" y="3460"/>
              <a:ext cx="123" cy="137"/>
            </a:xfrm>
            <a:custGeom>
              <a:avLst/>
              <a:gdLst>
                <a:gd name="T0" fmla="*/ 123 w 123"/>
                <a:gd name="T1" fmla="*/ 137 h 137"/>
                <a:gd name="T2" fmla="*/ 65 w 123"/>
                <a:gd name="T3" fmla="*/ 0 h 137"/>
                <a:gd name="T4" fmla="*/ 0 w 123"/>
                <a:gd name="T5" fmla="*/ 121 h 137"/>
                <a:gd name="T6" fmla="*/ 58 w 123"/>
                <a:gd name="T7" fmla="*/ 88 h 137"/>
                <a:gd name="T8" fmla="*/ 123 w 123"/>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 h="137">
                  <a:moveTo>
                    <a:pt x="123" y="137"/>
                  </a:moveTo>
                  <a:lnTo>
                    <a:pt x="65" y="0"/>
                  </a:lnTo>
                  <a:lnTo>
                    <a:pt x="0" y="121"/>
                  </a:lnTo>
                  <a:lnTo>
                    <a:pt x="58" y="88"/>
                  </a:lnTo>
                  <a:lnTo>
                    <a:pt x="123" y="13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67287" name="Rectangle 528"/>
          <p:cNvSpPr>
            <a:spLocks noChangeArrowheads="1"/>
          </p:cNvSpPr>
          <p:nvPr/>
        </p:nvSpPr>
        <p:spPr bwMode="auto">
          <a:xfrm>
            <a:off x="882650" y="5588000"/>
            <a:ext cx="920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1800">
                <a:solidFill>
                  <a:srgbClr val="000000"/>
                </a:solidFill>
                <a:latin typeface="宋体" panose="02010600030101010101" pitchFamily="2" charset="-122"/>
              </a:rPr>
              <a:t>形成条件</a:t>
            </a:r>
            <a:endParaRPr lang="zh-CN" altLang="en-US">
              <a:latin typeface="Times New Roman" panose="02020603050405020304" pitchFamily="18" charset="0"/>
            </a:endParaRPr>
          </a:p>
        </p:txBody>
      </p:sp>
      <p:sp>
        <p:nvSpPr>
          <p:cNvPr id="167288" name="Rectangle 529"/>
          <p:cNvSpPr>
            <a:spLocks noChangeArrowheads="1"/>
          </p:cNvSpPr>
          <p:nvPr/>
        </p:nvSpPr>
        <p:spPr bwMode="auto">
          <a:xfrm>
            <a:off x="882650" y="5843588"/>
            <a:ext cx="920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1800">
                <a:solidFill>
                  <a:srgbClr val="000000"/>
                </a:solidFill>
                <a:latin typeface="宋体" panose="02010600030101010101" pitchFamily="2" charset="-122"/>
              </a:rPr>
              <a:t>码的指令</a:t>
            </a:r>
            <a:endParaRPr lang="zh-CN" altLang="en-US">
              <a:latin typeface="Times New Roman" panose="02020603050405020304" pitchFamily="18" charset="0"/>
            </a:endParaRPr>
          </a:p>
        </p:txBody>
      </p:sp>
      <p:grpSp>
        <p:nvGrpSpPr>
          <p:cNvPr id="167289" name="Group 532"/>
          <p:cNvGrpSpPr/>
          <p:nvPr/>
        </p:nvGrpSpPr>
        <p:grpSpPr bwMode="auto">
          <a:xfrm>
            <a:off x="2713038" y="5294313"/>
            <a:ext cx="274637" cy="511175"/>
            <a:chOff x="1712" y="3460"/>
            <a:chExt cx="173" cy="322"/>
          </a:xfrm>
        </p:grpSpPr>
        <p:sp>
          <p:nvSpPr>
            <p:cNvPr id="167307" name="Freeform 530"/>
            <p:cNvSpPr/>
            <p:nvPr/>
          </p:nvSpPr>
          <p:spPr bwMode="auto">
            <a:xfrm>
              <a:off x="1712" y="3532"/>
              <a:ext cx="130" cy="250"/>
            </a:xfrm>
            <a:custGeom>
              <a:avLst/>
              <a:gdLst>
                <a:gd name="T0" fmla="*/ 130 w 130"/>
                <a:gd name="T1" fmla="*/ 8 h 250"/>
                <a:gd name="T2" fmla="*/ 116 w 130"/>
                <a:gd name="T3" fmla="*/ 0 h 250"/>
                <a:gd name="T4" fmla="*/ 65 w 130"/>
                <a:gd name="T5" fmla="*/ 242 h 250"/>
                <a:gd name="T6" fmla="*/ 72 w 130"/>
                <a:gd name="T7" fmla="*/ 242 h 250"/>
                <a:gd name="T8" fmla="*/ 72 w 130"/>
                <a:gd name="T9" fmla="*/ 233 h 250"/>
                <a:gd name="T10" fmla="*/ 0 w 130"/>
                <a:gd name="T11" fmla="*/ 233 h 250"/>
                <a:gd name="T12" fmla="*/ 0 w 130"/>
                <a:gd name="T13" fmla="*/ 250 h 250"/>
                <a:gd name="T14" fmla="*/ 72 w 130"/>
                <a:gd name="T15" fmla="*/ 250 h 250"/>
                <a:gd name="T16" fmla="*/ 80 w 130"/>
                <a:gd name="T17" fmla="*/ 250 h 250"/>
                <a:gd name="T18" fmla="*/ 80 w 130"/>
                <a:gd name="T19" fmla="*/ 250 h 250"/>
                <a:gd name="T20" fmla="*/ 130 w 130"/>
                <a:gd name="T21" fmla="*/ 8 h 2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 h="250">
                  <a:moveTo>
                    <a:pt x="130" y="8"/>
                  </a:moveTo>
                  <a:lnTo>
                    <a:pt x="116" y="0"/>
                  </a:lnTo>
                  <a:lnTo>
                    <a:pt x="65" y="242"/>
                  </a:lnTo>
                  <a:lnTo>
                    <a:pt x="72" y="242"/>
                  </a:lnTo>
                  <a:lnTo>
                    <a:pt x="72" y="233"/>
                  </a:lnTo>
                  <a:lnTo>
                    <a:pt x="0" y="233"/>
                  </a:lnTo>
                  <a:lnTo>
                    <a:pt x="0" y="250"/>
                  </a:lnTo>
                  <a:lnTo>
                    <a:pt x="72" y="250"/>
                  </a:lnTo>
                  <a:lnTo>
                    <a:pt x="80" y="250"/>
                  </a:lnTo>
                  <a:lnTo>
                    <a:pt x="13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308" name="Freeform 531"/>
            <p:cNvSpPr/>
            <p:nvPr/>
          </p:nvSpPr>
          <p:spPr bwMode="auto">
            <a:xfrm>
              <a:off x="1770" y="3460"/>
              <a:ext cx="115" cy="145"/>
            </a:xfrm>
            <a:custGeom>
              <a:avLst/>
              <a:gdLst>
                <a:gd name="T0" fmla="*/ 115 w 115"/>
                <a:gd name="T1" fmla="*/ 145 h 145"/>
                <a:gd name="T2" fmla="*/ 87 w 115"/>
                <a:gd name="T3" fmla="*/ 0 h 145"/>
                <a:gd name="T4" fmla="*/ 0 w 115"/>
                <a:gd name="T5" fmla="*/ 105 h 145"/>
                <a:gd name="T6" fmla="*/ 65 w 115"/>
                <a:gd name="T7" fmla="*/ 88 h 145"/>
                <a:gd name="T8" fmla="*/ 115 w 115"/>
                <a:gd name="T9" fmla="*/ 145 h 1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45">
                  <a:moveTo>
                    <a:pt x="115" y="145"/>
                  </a:moveTo>
                  <a:lnTo>
                    <a:pt x="87" y="0"/>
                  </a:lnTo>
                  <a:lnTo>
                    <a:pt x="0" y="105"/>
                  </a:lnTo>
                  <a:lnTo>
                    <a:pt x="65" y="88"/>
                  </a:lnTo>
                  <a:lnTo>
                    <a:pt x="115" y="145"/>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67290" name="Rectangle 533"/>
          <p:cNvSpPr>
            <a:spLocks noChangeArrowheads="1"/>
          </p:cNvSpPr>
          <p:nvPr/>
        </p:nvSpPr>
        <p:spPr bwMode="auto">
          <a:xfrm>
            <a:off x="2027238" y="5562600"/>
            <a:ext cx="6905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1800">
                <a:solidFill>
                  <a:srgbClr val="000000"/>
                </a:solidFill>
                <a:latin typeface="宋体" panose="02010600030101010101" pitchFamily="2" charset="-122"/>
              </a:rPr>
              <a:t>条件转</a:t>
            </a:r>
            <a:endParaRPr lang="zh-CN" altLang="en-US">
              <a:latin typeface="Times New Roman" panose="02020603050405020304" pitchFamily="18" charset="0"/>
            </a:endParaRPr>
          </a:p>
        </p:txBody>
      </p:sp>
      <p:sp>
        <p:nvSpPr>
          <p:cNvPr id="167291" name="Rectangle 534"/>
          <p:cNvSpPr>
            <a:spLocks noChangeArrowheads="1"/>
          </p:cNvSpPr>
          <p:nvPr/>
        </p:nvSpPr>
        <p:spPr bwMode="auto">
          <a:xfrm>
            <a:off x="2027238" y="5818188"/>
            <a:ext cx="69056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1800">
                <a:solidFill>
                  <a:srgbClr val="000000"/>
                </a:solidFill>
                <a:latin typeface="宋体" panose="02010600030101010101" pitchFamily="2" charset="-122"/>
              </a:rPr>
              <a:t>移指令</a:t>
            </a:r>
            <a:endParaRPr lang="zh-CN" altLang="en-US">
              <a:latin typeface="Times New Roman" panose="02020603050405020304" pitchFamily="18" charset="0"/>
            </a:endParaRPr>
          </a:p>
        </p:txBody>
      </p:sp>
      <p:grpSp>
        <p:nvGrpSpPr>
          <p:cNvPr id="167292" name="Group 537"/>
          <p:cNvGrpSpPr/>
          <p:nvPr/>
        </p:nvGrpSpPr>
        <p:grpSpPr bwMode="auto">
          <a:xfrm>
            <a:off x="7691438" y="4362450"/>
            <a:ext cx="228600" cy="696913"/>
            <a:chOff x="4811" y="2873"/>
            <a:chExt cx="181" cy="418"/>
          </a:xfrm>
        </p:grpSpPr>
        <p:sp>
          <p:nvSpPr>
            <p:cNvPr id="167305" name="Freeform 535"/>
            <p:cNvSpPr/>
            <p:nvPr/>
          </p:nvSpPr>
          <p:spPr bwMode="auto">
            <a:xfrm>
              <a:off x="4811" y="2930"/>
              <a:ext cx="130" cy="361"/>
            </a:xfrm>
            <a:custGeom>
              <a:avLst/>
              <a:gdLst>
                <a:gd name="T0" fmla="*/ 130 w 130"/>
                <a:gd name="T1" fmla="*/ 0 h 361"/>
                <a:gd name="T2" fmla="*/ 72 w 130"/>
                <a:gd name="T3" fmla="*/ 361 h 361"/>
                <a:gd name="T4" fmla="*/ 0 w 130"/>
                <a:gd name="T5" fmla="*/ 361 h 361"/>
                <a:gd name="T6" fmla="*/ 0 60000 65536"/>
                <a:gd name="T7" fmla="*/ 0 60000 65536"/>
                <a:gd name="T8" fmla="*/ 0 60000 65536"/>
              </a:gdLst>
              <a:ahLst/>
              <a:cxnLst>
                <a:cxn ang="T6">
                  <a:pos x="T0" y="T1"/>
                </a:cxn>
                <a:cxn ang="T7">
                  <a:pos x="T2" y="T3"/>
                </a:cxn>
                <a:cxn ang="T8">
                  <a:pos x="T4" y="T5"/>
                </a:cxn>
              </a:cxnLst>
              <a:rect l="0" t="0" r="r" b="b"/>
              <a:pathLst>
                <a:path w="130" h="361">
                  <a:moveTo>
                    <a:pt x="130" y="0"/>
                  </a:moveTo>
                  <a:lnTo>
                    <a:pt x="72" y="361"/>
                  </a:lnTo>
                  <a:lnTo>
                    <a:pt x="0" y="361"/>
                  </a:lnTo>
                </a:path>
              </a:pathLst>
            </a:custGeom>
            <a:noFill/>
            <a:ln w="2222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7306" name="Freeform 536"/>
            <p:cNvSpPr/>
            <p:nvPr/>
          </p:nvSpPr>
          <p:spPr bwMode="auto">
            <a:xfrm>
              <a:off x="4883" y="2873"/>
              <a:ext cx="109" cy="121"/>
            </a:xfrm>
            <a:custGeom>
              <a:avLst/>
              <a:gdLst>
                <a:gd name="T0" fmla="*/ 109 w 109"/>
                <a:gd name="T1" fmla="*/ 121 h 121"/>
                <a:gd name="T2" fmla="*/ 73 w 109"/>
                <a:gd name="T3" fmla="*/ 0 h 121"/>
                <a:gd name="T4" fmla="*/ 0 w 109"/>
                <a:gd name="T5" fmla="*/ 97 h 121"/>
                <a:gd name="T6" fmla="*/ 58 w 109"/>
                <a:gd name="T7" fmla="*/ 73 h 121"/>
                <a:gd name="T8" fmla="*/ 109 w 109"/>
                <a:gd name="T9" fmla="*/ 121 h 1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121">
                  <a:moveTo>
                    <a:pt x="109" y="121"/>
                  </a:moveTo>
                  <a:lnTo>
                    <a:pt x="73" y="0"/>
                  </a:lnTo>
                  <a:lnTo>
                    <a:pt x="0" y="97"/>
                  </a:lnTo>
                  <a:lnTo>
                    <a:pt x="58" y="73"/>
                  </a:lnTo>
                  <a:lnTo>
                    <a:pt x="109" y="12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67293" name="Rectangle 538"/>
          <p:cNvSpPr>
            <a:spLocks noChangeArrowheads="1"/>
          </p:cNvSpPr>
          <p:nvPr/>
        </p:nvSpPr>
        <p:spPr bwMode="auto">
          <a:xfrm>
            <a:off x="6305550" y="4911725"/>
            <a:ext cx="13811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1800">
                <a:solidFill>
                  <a:srgbClr val="000000"/>
                </a:solidFill>
                <a:latin typeface="宋体" panose="02010600030101010101" pitchFamily="2" charset="-122"/>
              </a:rPr>
              <a:t>形成转移条件</a:t>
            </a:r>
            <a:endParaRPr lang="zh-CN" altLang="en-US">
              <a:latin typeface="Times New Roman" panose="02020603050405020304" pitchFamily="18" charset="0"/>
            </a:endParaRPr>
          </a:p>
        </p:txBody>
      </p:sp>
      <p:grpSp>
        <p:nvGrpSpPr>
          <p:cNvPr id="167294" name="Group 541"/>
          <p:cNvGrpSpPr/>
          <p:nvPr/>
        </p:nvGrpSpPr>
        <p:grpSpPr bwMode="auto">
          <a:xfrm>
            <a:off x="2255838" y="3609975"/>
            <a:ext cx="3203575" cy="192088"/>
            <a:chOff x="1424" y="2399"/>
            <a:chExt cx="2018" cy="121"/>
          </a:xfrm>
        </p:grpSpPr>
        <p:sp>
          <p:nvSpPr>
            <p:cNvPr id="167303" name="Line 539"/>
            <p:cNvSpPr>
              <a:spLocks noChangeShapeType="1"/>
            </p:cNvSpPr>
            <p:nvPr/>
          </p:nvSpPr>
          <p:spPr bwMode="auto">
            <a:xfrm>
              <a:off x="1424" y="2456"/>
              <a:ext cx="2018" cy="1"/>
            </a:xfrm>
            <a:prstGeom prst="line">
              <a:avLst/>
            </a:prstGeom>
            <a:noFill/>
            <a:ln w="222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7304" name="Freeform 540"/>
            <p:cNvSpPr/>
            <p:nvPr/>
          </p:nvSpPr>
          <p:spPr bwMode="auto">
            <a:xfrm>
              <a:off x="3341" y="2399"/>
              <a:ext cx="101" cy="121"/>
            </a:xfrm>
            <a:custGeom>
              <a:avLst/>
              <a:gdLst>
                <a:gd name="T0" fmla="*/ 0 w 101"/>
                <a:gd name="T1" fmla="*/ 121 h 121"/>
                <a:gd name="T2" fmla="*/ 101 w 101"/>
                <a:gd name="T3" fmla="*/ 57 h 121"/>
                <a:gd name="T4" fmla="*/ 0 w 101"/>
                <a:gd name="T5" fmla="*/ 0 h 121"/>
                <a:gd name="T6" fmla="*/ 0 60000 65536"/>
                <a:gd name="T7" fmla="*/ 0 60000 65536"/>
                <a:gd name="T8" fmla="*/ 0 60000 65536"/>
              </a:gdLst>
              <a:ahLst/>
              <a:cxnLst>
                <a:cxn ang="T6">
                  <a:pos x="T0" y="T1"/>
                </a:cxn>
                <a:cxn ang="T7">
                  <a:pos x="T2" y="T3"/>
                </a:cxn>
                <a:cxn ang="T8">
                  <a:pos x="T4" y="T5"/>
                </a:cxn>
              </a:cxnLst>
              <a:rect l="0" t="0" r="r" b="b"/>
              <a:pathLst>
                <a:path w="101" h="121">
                  <a:moveTo>
                    <a:pt x="0" y="121"/>
                  </a:moveTo>
                  <a:lnTo>
                    <a:pt x="101" y="57"/>
                  </a:lnTo>
                  <a:lnTo>
                    <a:pt x="0" y="0"/>
                  </a:lnTo>
                </a:path>
              </a:pathLst>
            </a:custGeom>
            <a:noFill/>
            <a:ln w="2222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67295" name="Group 544"/>
          <p:cNvGrpSpPr/>
          <p:nvPr/>
        </p:nvGrpSpPr>
        <p:grpSpPr bwMode="auto">
          <a:xfrm>
            <a:off x="3663950" y="4592638"/>
            <a:ext cx="193675" cy="587375"/>
            <a:chOff x="2311" y="3018"/>
            <a:chExt cx="122" cy="370"/>
          </a:xfrm>
        </p:grpSpPr>
        <p:sp>
          <p:nvSpPr>
            <p:cNvPr id="167301" name="Freeform 542"/>
            <p:cNvSpPr/>
            <p:nvPr/>
          </p:nvSpPr>
          <p:spPr bwMode="auto">
            <a:xfrm>
              <a:off x="2361" y="3090"/>
              <a:ext cx="72" cy="298"/>
            </a:xfrm>
            <a:custGeom>
              <a:avLst/>
              <a:gdLst>
                <a:gd name="T0" fmla="*/ 14 w 72"/>
                <a:gd name="T1" fmla="*/ 0 h 298"/>
                <a:gd name="T2" fmla="*/ 0 w 72"/>
                <a:gd name="T3" fmla="*/ 0 h 298"/>
                <a:gd name="T4" fmla="*/ 29 w 72"/>
                <a:gd name="T5" fmla="*/ 290 h 298"/>
                <a:gd name="T6" fmla="*/ 29 w 72"/>
                <a:gd name="T7" fmla="*/ 298 h 298"/>
                <a:gd name="T8" fmla="*/ 36 w 72"/>
                <a:gd name="T9" fmla="*/ 298 h 298"/>
                <a:gd name="T10" fmla="*/ 72 w 72"/>
                <a:gd name="T11" fmla="*/ 298 h 298"/>
                <a:gd name="T12" fmla="*/ 72 w 72"/>
                <a:gd name="T13" fmla="*/ 282 h 298"/>
                <a:gd name="T14" fmla="*/ 36 w 72"/>
                <a:gd name="T15" fmla="*/ 282 h 298"/>
                <a:gd name="T16" fmla="*/ 36 w 72"/>
                <a:gd name="T17" fmla="*/ 290 h 298"/>
                <a:gd name="T18" fmla="*/ 43 w 72"/>
                <a:gd name="T19" fmla="*/ 290 h 298"/>
                <a:gd name="T20" fmla="*/ 14 w 72"/>
                <a:gd name="T21" fmla="*/ 0 h 2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2" h="298">
                  <a:moveTo>
                    <a:pt x="14" y="0"/>
                  </a:moveTo>
                  <a:lnTo>
                    <a:pt x="0" y="0"/>
                  </a:lnTo>
                  <a:lnTo>
                    <a:pt x="29" y="290"/>
                  </a:lnTo>
                  <a:lnTo>
                    <a:pt x="29" y="298"/>
                  </a:lnTo>
                  <a:lnTo>
                    <a:pt x="36" y="298"/>
                  </a:lnTo>
                  <a:lnTo>
                    <a:pt x="72" y="298"/>
                  </a:lnTo>
                  <a:lnTo>
                    <a:pt x="72" y="282"/>
                  </a:lnTo>
                  <a:lnTo>
                    <a:pt x="36" y="282"/>
                  </a:lnTo>
                  <a:lnTo>
                    <a:pt x="36" y="290"/>
                  </a:lnTo>
                  <a:lnTo>
                    <a:pt x="43" y="290"/>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302" name="Freeform 543"/>
            <p:cNvSpPr/>
            <p:nvPr/>
          </p:nvSpPr>
          <p:spPr bwMode="auto">
            <a:xfrm>
              <a:off x="2311" y="3018"/>
              <a:ext cx="122" cy="137"/>
            </a:xfrm>
            <a:custGeom>
              <a:avLst/>
              <a:gdLst>
                <a:gd name="T0" fmla="*/ 122 w 122"/>
                <a:gd name="T1" fmla="*/ 121 h 137"/>
                <a:gd name="T2" fmla="*/ 50 w 122"/>
                <a:gd name="T3" fmla="*/ 0 h 137"/>
                <a:gd name="T4" fmla="*/ 0 w 122"/>
                <a:gd name="T5" fmla="*/ 137 h 137"/>
                <a:gd name="T6" fmla="*/ 57 w 122"/>
                <a:gd name="T7" fmla="*/ 88 h 137"/>
                <a:gd name="T8" fmla="*/ 122 w 122"/>
                <a:gd name="T9" fmla="*/ 121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137">
                  <a:moveTo>
                    <a:pt x="122" y="121"/>
                  </a:moveTo>
                  <a:lnTo>
                    <a:pt x="50" y="0"/>
                  </a:lnTo>
                  <a:lnTo>
                    <a:pt x="0" y="137"/>
                  </a:lnTo>
                  <a:lnTo>
                    <a:pt x="57" y="88"/>
                  </a:lnTo>
                  <a:lnTo>
                    <a:pt x="122" y="12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67296" name="Rectangle 545"/>
          <p:cNvSpPr>
            <a:spLocks noChangeArrowheads="1"/>
          </p:cNvSpPr>
          <p:nvPr/>
        </p:nvSpPr>
        <p:spPr bwMode="auto">
          <a:xfrm>
            <a:off x="3892550" y="5091113"/>
            <a:ext cx="115093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1800">
                <a:solidFill>
                  <a:srgbClr val="000000"/>
                </a:solidFill>
                <a:latin typeface="宋体" panose="02010600030101010101" pitchFamily="2" charset="-122"/>
              </a:rPr>
              <a:t>转移不成功</a:t>
            </a:r>
            <a:endParaRPr lang="zh-CN" altLang="en-US">
              <a:latin typeface="Times New Roman" panose="02020603050405020304" pitchFamily="18" charset="0"/>
            </a:endParaRPr>
          </a:p>
        </p:txBody>
      </p:sp>
      <p:grpSp>
        <p:nvGrpSpPr>
          <p:cNvPr id="167297" name="Group 549"/>
          <p:cNvGrpSpPr/>
          <p:nvPr/>
        </p:nvGrpSpPr>
        <p:grpSpPr bwMode="auto">
          <a:xfrm>
            <a:off x="4991100" y="4810125"/>
            <a:ext cx="354013" cy="382588"/>
            <a:chOff x="3147" y="3155"/>
            <a:chExt cx="223" cy="241"/>
          </a:xfrm>
        </p:grpSpPr>
        <p:sp>
          <p:nvSpPr>
            <p:cNvPr id="167299" name="Freeform 547"/>
            <p:cNvSpPr/>
            <p:nvPr/>
          </p:nvSpPr>
          <p:spPr bwMode="auto">
            <a:xfrm>
              <a:off x="3175" y="3219"/>
              <a:ext cx="195" cy="177"/>
            </a:xfrm>
            <a:custGeom>
              <a:avLst/>
              <a:gdLst>
                <a:gd name="T0" fmla="*/ 15 w 195"/>
                <a:gd name="T1" fmla="*/ 0 h 177"/>
                <a:gd name="T2" fmla="*/ 0 w 195"/>
                <a:gd name="T3" fmla="*/ 8 h 177"/>
                <a:gd name="T4" fmla="*/ 44 w 195"/>
                <a:gd name="T5" fmla="*/ 177 h 177"/>
                <a:gd name="T6" fmla="*/ 44 w 195"/>
                <a:gd name="T7" fmla="*/ 177 h 177"/>
                <a:gd name="T8" fmla="*/ 51 w 195"/>
                <a:gd name="T9" fmla="*/ 177 h 177"/>
                <a:gd name="T10" fmla="*/ 195 w 195"/>
                <a:gd name="T11" fmla="*/ 177 h 177"/>
                <a:gd name="T12" fmla="*/ 195 w 195"/>
                <a:gd name="T13" fmla="*/ 161 h 177"/>
                <a:gd name="T14" fmla="*/ 51 w 195"/>
                <a:gd name="T15" fmla="*/ 161 h 177"/>
                <a:gd name="T16" fmla="*/ 51 w 195"/>
                <a:gd name="T17" fmla="*/ 169 h 177"/>
                <a:gd name="T18" fmla="*/ 58 w 195"/>
                <a:gd name="T19" fmla="*/ 169 h 177"/>
                <a:gd name="T20" fmla="*/ 15 w 195"/>
                <a:gd name="T21" fmla="*/ 0 h 1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5" h="177">
                  <a:moveTo>
                    <a:pt x="15" y="0"/>
                  </a:moveTo>
                  <a:lnTo>
                    <a:pt x="0" y="8"/>
                  </a:lnTo>
                  <a:lnTo>
                    <a:pt x="44" y="177"/>
                  </a:lnTo>
                  <a:lnTo>
                    <a:pt x="51" y="177"/>
                  </a:lnTo>
                  <a:lnTo>
                    <a:pt x="195" y="177"/>
                  </a:lnTo>
                  <a:lnTo>
                    <a:pt x="195" y="161"/>
                  </a:lnTo>
                  <a:lnTo>
                    <a:pt x="51" y="161"/>
                  </a:lnTo>
                  <a:lnTo>
                    <a:pt x="51" y="169"/>
                  </a:lnTo>
                  <a:lnTo>
                    <a:pt x="58" y="16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300" name="Freeform 548"/>
            <p:cNvSpPr/>
            <p:nvPr/>
          </p:nvSpPr>
          <p:spPr bwMode="auto">
            <a:xfrm>
              <a:off x="3147" y="3155"/>
              <a:ext cx="108" cy="144"/>
            </a:xfrm>
            <a:custGeom>
              <a:avLst/>
              <a:gdLst>
                <a:gd name="T0" fmla="*/ 108 w 108"/>
                <a:gd name="T1" fmla="*/ 96 h 144"/>
                <a:gd name="T2" fmla="*/ 7 w 108"/>
                <a:gd name="T3" fmla="*/ 0 h 144"/>
                <a:gd name="T4" fmla="*/ 0 w 108"/>
                <a:gd name="T5" fmla="*/ 144 h 144"/>
                <a:gd name="T6" fmla="*/ 36 w 108"/>
                <a:gd name="T7" fmla="*/ 80 h 144"/>
                <a:gd name="T8" fmla="*/ 108 w 108"/>
                <a:gd name="T9" fmla="*/ 96 h 1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8" h="144">
                  <a:moveTo>
                    <a:pt x="108" y="96"/>
                  </a:moveTo>
                  <a:lnTo>
                    <a:pt x="7" y="0"/>
                  </a:lnTo>
                  <a:lnTo>
                    <a:pt x="0" y="144"/>
                  </a:lnTo>
                  <a:lnTo>
                    <a:pt x="36" y="80"/>
                  </a:lnTo>
                  <a:lnTo>
                    <a:pt x="108" y="9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67298" name="Rectangle 550"/>
          <p:cNvSpPr>
            <a:spLocks noChangeArrowheads="1"/>
          </p:cNvSpPr>
          <p:nvPr/>
        </p:nvSpPr>
        <p:spPr bwMode="auto">
          <a:xfrm>
            <a:off x="5380038" y="5116513"/>
            <a:ext cx="920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1800">
                <a:solidFill>
                  <a:srgbClr val="000000"/>
                </a:solidFill>
                <a:latin typeface="宋体" panose="02010600030101010101" pitchFamily="2" charset="-122"/>
              </a:rPr>
              <a:t>转移成功</a:t>
            </a:r>
            <a:endParaRPr lang="zh-CN" altLang="en-US">
              <a:latin typeface="Times New Roman" panose="02020603050405020304" pitchFamily="18" charset="0"/>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2706" name="Rectangle 2"/>
          <p:cNvSpPr>
            <a:spLocks noGrp="1" noChangeArrowheads="1"/>
          </p:cNvSpPr>
          <p:nvPr>
            <p:ph type="title"/>
          </p:nvPr>
        </p:nvSpPr>
        <p:spPr/>
        <p:txBody>
          <a:bodyPr/>
          <a:lstStyle/>
          <a:p>
            <a:pPr eaLnBrk="1" hangingPunct="1">
              <a:defRPr/>
            </a:pPr>
            <a:r>
              <a:rPr lang="zh-CN" altLang="en-US" smtClean="0"/>
              <a:t>分支现场的保护</a:t>
            </a:r>
            <a:br>
              <a:rPr lang="zh-CN" altLang="en-US" smtClean="0"/>
            </a:br>
            <a:r>
              <a:rPr lang="zh-CN" altLang="en-US" smtClean="0"/>
              <a:t>及恢复</a:t>
            </a:r>
            <a:endParaRPr lang="zh-CN" altLang="en-US" smtClean="0"/>
          </a:p>
        </p:txBody>
      </p:sp>
      <p:sp>
        <p:nvSpPr>
          <p:cNvPr id="16793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endParaRPr lang="zh-CN" altLang="en-US" sz="1200" b="0">
              <a:latin typeface="Times New Roman" panose="02020603050405020304" pitchFamily="18" charset="0"/>
              <a:ea typeface="幼圆" panose="02010509060101010101" pitchFamily="49" charset="-122"/>
            </a:endParaRPr>
          </a:p>
        </p:txBody>
      </p:sp>
      <p:sp>
        <p:nvSpPr>
          <p:cNvPr id="712708" name="Rectangle 4"/>
          <p:cNvSpPr>
            <a:spLocks noGrp="1" noChangeArrowheads="1"/>
          </p:cNvSpPr>
          <p:nvPr>
            <p:ph type="body" idx="1"/>
          </p:nvPr>
        </p:nvSpPr>
        <p:spPr>
          <a:xfrm>
            <a:off x="809625" y="1989138"/>
            <a:ext cx="7958138" cy="4564062"/>
          </a:xfrm>
        </p:spPr>
        <p:txBody>
          <a:bodyPr/>
          <a:lstStyle/>
          <a:p>
            <a:pPr marL="374650" indent="-374650" eaLnBrk="1" hangingPunct="1">
              <a:lnSpc>
                <a:spcPct val="110000"/>
              </a:lnSpc>
              <a:buClr>
                <a:srgbClr val="FF0000"/>
              </a:buClr>
              <a:defRPr/>
            </a:pPr>
            <a:r>
              <a:rPr lang="zh-CN" altLang="en-US" sz="2400" smtClean="0">
                <a:solidFill>
                  <a:srgbClr val="FF0000"/>
                </a:solidFill>
                <a:effectLst>
                  <a:outerShdw blurRad="38100" dist="38100" dir="2700000" algn="tl">
                    <a:srgbClr val="C0C0C0"/>
                  </a:outerShdw>
                </a:effectLst>
              </a:rPr>
              <a:t>问题</a:t>
            </a:r>
            <a:endParaRPr lang="zh-CN" altLang="en-US" sz="2400" smtClean="0">
              <a:solidFill>
                <a:srgbClr val="FF0000"/>
              </a:solidFill>
              <a:effectLst>
                <a:outerShdw blurRad="38100" dist="38100" dir="2700000" algn="tl">
                  <a:srgbClr val="C0C0C0"/>
                </a:outerShdw>
              </a:effectLst>
            </a:endParaRPr>
          </a:p>
          <a:p>
            <a:pPr marL="840105" lvl="1" eaLnBrk="1" hangingPunct="1">
              <a:lnSpc>
                <a:spcPct val="110000"/>
              </a:lnSpc>
              <a:buFont typeface="Wingdings" panose="05000000000000000000" pitchFamily="2" charset="2"/>
              <a:buNone/>
              <a:defRPr/>
            </a:pPr>
            <a:r>
              <a:rPr lang="zh-CN" altLang="en-US" sz="2400" smtClean="0"/>
              <a:t>          当分支方向预测错误，不仅要浪费时间，更严重的是可能造成程序执行结果发生错误，因此要能恢复分支点处的原有现场。</a:t>
            </a:r>
            <a:endParaRPr lang="zh-CN" altLang="en-US" sz="2400" smtClean="0"/>
          </a:p>
          <a:p>
            <a:pPr marL="374650" indent="-374650" eaLnBrk="1" hangingPunct="1">
              <a:lnSpc>
                <a:spcPct val="110000"/>
              </a:lnSpc>
              <a:buClr>
                <a:srgbClr val="FF0000"/>
              </a:buClr>
              <a:defRPr/>
            </a:pPr>
            <a:r>
              <a:rPr lang="zh-CN" altLang="en-US" sz="2400" smtClean="0">
                <a:solidFill>
                  <a:srgbClr val="FF0000"/>
                </a:solidFill>
                <a:effectLst>
                  <a:outerShdw blurRad="38100" dist="38100" dir="2700000" algn="tl">
                    <a:srgbClr val="C0C0C0"/>
                  </a:outerShdw>
                </a:effectLst>
              </a:rPr>
              <a:t>解决</a:t>
            </a:r>
            <a:endParaRPr lang="zh-CN" altLang="en-US" sz="2400" smtClean="0">
              <a:solidFill>
                <a:srgbClr val="FF0000"/>
              </a:solidFill>
              <a:effectLst>
                <a:outerShdw blurRad="38100" dist="38100" dir="2700000" algn="tl">
                  <a:srgbClr val="C0C0C0"/>
                </a:outerShdw>
              </a:effectLst>
            </a:endParaRPr>
          </a:p>
          <a:p>
            <a:pPr marL="840105" lvl="1" eaLnBrk="1" hangingPunct="1">
              <a:lnSpc>
                <a:spcPct val="110000"/>
              </a:lnSpc>
              <a:defRPr/>
            </a:pPr>
            <a:r>
              <a:rPr lang="zh-CN" altLang="en-US" sz="2400" smtClean="0"/>
              <a:t>只进行指令译码和准备好运算所需的操作数，在转移条件没有形成之前不执行运算；</a:t>
            </a:r>
            <a:endParaRPr lang="en-US" altLang="zh-CN" sz="2400" smtClean="0"/>
          </a:p>
          <a:p>
            <a:pPr marL="840105" lvl="1" eaLnBrk="1" hangingPunct="1">
              <a:lnSpc>
                <a:spcPct val="110000"/>
              </a:lnSpc>
              <a:defRPr/>
            </a:pPr>
            <a:r>
              <a:rPr lang="zh-CN" altLang="en-US" sz="2400" smtClean="0"/>
              <a:t>一直执行到运算完成，但不送回运算结果；</a:t>
            </a:r>
            <a:endParaRPr lang="zh-CN" altLang="en-US" sz="2400" smtClean="0"/>
          </a:p>
          <a:p>
            <a:pPr marL="840105" lvl="1" eaLnBrk="1" hangingPunct="1">
              <a:lnSpc>
                <a:spcPct val="110000"/>
              </a:lnSpc>
              <a:defRPr/>
            </a:pPr>
            <a:r>
              <a:rPr lang="zh-CN" altLang="en-US" sz="2400" smtClean="0"/>
              <a:t>把可能被破坏的原始状态都用后援寄存器保存起来（此方法实现效率较高）。</a:t>
            </a:r>
            <a:endParaRPr lang="zh-CN" altLang="en-US" sz="2400" smtClean="0"/>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3730" name="Rectangle 2"/>
          <p:cNvSpPr>
            <a:spLocks noGrp="1" noChangeArrowheads="1"/>
          </p:cNvSpPr>
          <p:nvPr>
            <p:ph type="title"/>
          </p:nvPr>
        </p:nvSpPr>
        <p:spPr/>
        <p:txBody>
          <a:bodyPr/>
          <a:lstStyle/>
          <a:p>
            <a:pPr eaLnBrk="1" hangingPunct="1">
              <a:defRPr/>
            </a:pPr>
            <a:r>
              <a:rPr lang="zh-CN" altLang="en-US" smtClean="0"/>
              <a:t>预防预测不中时的</a:t>
            </a:r>
            <a:br>
              <a:rPr lang="zh-CN" altLang="en-US" smtClean="0"/>
            </a:br>
            <a:r>
              <a:rPr lang="zh-CN" altLang="en-US" smtClean="0"/>
              <a:t>加速处理</a:t>
            </a:r>
            <a:endParaRPr lang="zh-CN" altLang="en-US" smtClean="0"/>
          </a:p>
        </p:txBody>
      </p:sp>
      <p:sp>
        <p:nvSpPr>
          <p:cNvPr id="16896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endParaRPr lang="zh-CN" altLang="en-US" sz="1200" b="0">
              <a:latin typeface="Times New Roman" panose="02020603050405020304" pitchFamily="18" charset="0"/>
              <a:ea typeface="幼圆" panose="02010509060101010101" pitchFamily="49" charset="-122"/>
            </a:endParaRPr>
          </a:p>
        </p:txBody>
      </p:sp>
      <p:sp>
        <p:nvSpPr>
          <p:cNvPr id="713732" name="Rectangle 4"/>
          <p:cNvSpPr>
            <a:spLocks noGrp="1" noChangeArrowheads="1"/>
          </p:cNvSpPr>
          <p:nvPr>
            <p:ph type="body" idx="1"/>
          </p:nvPr>
        </p:nvSpPr>
        <p:spPr/>
        <p:txBody>
          <a:bodyPr/>
          <a:lstStyle/>
          <a:p>
            <a:pPr marL="0" indent="0" eaLnBrk="1" hangingPunct="1">
              <a:lnSpc>
                <a:spcPct val="140000"/>
              </a:lnSpc>
              <a:buFont typeface="Wingdings" panose="05000000000000000000" pitchFamily="2" charset="2"/>
              <a:buNone/>
              <a:defRPr/>
            </a:pPr>
            <a:r>
              <a:rPr lang="zh-CN" altLang="en-US" dirty="0" smtClean="0"/>
              <a:t>        可以设置两个</a:t>
            </a:r>
            <a:r>
              <a:rPr lang="zh-CN" altLang="en-US" dirty="0" smtClean="0">
                <a:solidFill>
                  <a:srgbClr val="FF0000"/>
                </a:solidFill>
                <a:effectLst>
                  <a:outerShdw blurRad="38100" dist="38100" dir="2700000" algn="tl">
                    <a:srgbClr val="C0C0C0"/>
                  </a:outerShdw>
                </a:effectLst>
              </a:rPr>
              <a:t>指令目标缓冲栈</a:t>
            </a:r>
            <a:r>
              <a:rPr lang="zh-CN" altLang="en-US" dirty="0" smtClean="0"/>
              <a:t>。当指令分析器分析到条件转移指令时，一个指令目标缓冲栈按照转移成功方向预取指令，另一个指令目标缓冲栈按照转移不成功方向预取指令。不管转移是否成功都可以继续分析指令目标缓冲栈中的指令。</a:t>
            </a:r>
            <a:endParaRPr lang="zh-CN" altLang="en-US" dirty="0" smtClean="0"/>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smtClean="0"/>
              <a:t>静态预测</a:t>
            </a:r>
            <a:endParaRPr lang="zh-CN" altLang="en-US" smtClean="0"/>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endParaRPr lang="zh-CN" altLang="en-US" sz="1200" b="0">
              <a:latin typeface="Times New Roman" panose="02020603050405020304" pitchFamily="18" charset="0"/>
              <a:ea typeface="幼圆" panose="02010509060101010101" pitchFamily="49" charset="-122"/>
            </a:endParaRPr>
          </a:p>
        </p:txBody>
      </p:sp>
      <p:sp>
        <p:nvSpPr>
          <p:cNvPr id="169988" name="Rectangle 36"/>
          <p:cNvSpPr>
            <a:spLocks noGrp="1" noChangeArrowheads="1"/>
          </p:cNvSpPr>
          <p:nvPr>
            <p:ph type="body" idx="1"/>
          </p:nvPr>
        </p:nvSpPr>
        <p:spPr>
          <a:xfrm>
            <a:off x="809625" y="1989138"/>
            <a:ext cx="7958138" cy="1655886"/>
          </a:xfrm>
          <a:noFill/>
        </p:spPr>
        <p:txBody>
          <a:bodyPr/>
          <a:lstStyle/>
          <a:p>
            <a:pPr marL="0" indent="0" eaLnBrk="1" hangingPunct="1">
              <a:buNone/>
            </a:pPr>
            <a:r>
              <a:rPr lang="zh-CN" altLang="en-US" sz="2400" dirty="0" smtClean="0"/>
              <a:t>       通过</a:t>
            </a:r>
            <a:r>
              <a:rPr lang="zh-CN" altLang="en-US" sz="2400" dirty="0" smtClean="0">
                <a:solidFill>
                  <a:srgbClr val="FF0000"/>
                </a:solidFill>
              </a:rPr>
              <a:t>软件（编译器）</a:t>
            </a:r>
            <a:r>
              <a:rPr lang="zh-CN" altLang="en-US" sz="2400" dirty="0" smtClean="0"/>
              <a:t>来预测条件转移指令的执行，转移猜测的方向是固定的（</a:t>
            </a:r>
            <a:r>
              <a:rPr lang="zh-CN" altLang="en-US" sz="2400" dirty="0" smtClean="0">
                <a:solidFill>
                  <a:srgbClr val="FF0000"/>
                </a:solidFill>
              </a:rPr>
              <a:t>静态</a:t>
            </a:r>
            <a:r>
              <a:rPr lang="zh-CN" altLang="en-US" sz="2400" dirty="0"/>
              <a:t>），要么总是</a:t>
            </a:r>
            <a:r>
              <a:rPr lang="zh-CN" altLang="en-US" sz="2400" dirty="0" smtClean="0"/>
              <a:t>预测不成功转移（</a:t>
            </a:r>
            <a:r>
              <a:rPr lang="zh-CN" altLang="en-US" sz="2400" dirty="0" smtClean="0">
                <a:solidFill>
                  <a:srgbClr val="0000FF"/>
                </a:solidFill>
              </a:rPr>
              <a:t>主要</a:t>
            </a:r>
            <a:r>
              <a:rPr lang="zh-CN" altLang="en-US" sz="2400" dirty="0" smtClean="0"/>
              <a:t>），</a:t>
            </a:r>
            <a:r>
              <a:rPr lang="zh-CN" altLang="en-US" sz="2400" dirty="0"/>
              <a:t>要么总是</a:t>
            </a:r>
            <a:r>
              <a:rPr lang="zh-CN" altLang="en-US" sz="2400" dirty="0" smtClean="0"/>
              <a:t>预测成功</a:t>
            </a:r>
            <a:r>
              <a:rPr lang="zh-CN" altLang="en-US" sz="2400" dirty="0"/>
              <a:t>转移</a:t>
            </a:r>
            <a:r>
              <a:rPr lang="zh-CN" altLang="en-US" sz="2400" dirty="0" smtClean="0"/>
              <a:t>。不管哪一种都需要编译器来优化性能</a:t>
            </a:r>
            <a:r>
              <a:rPr lang="zh-CN" altLang="en-US" sz="2400" dirty="0"/>
              <a:t>，即把发生概率高的分支安排在猜测</a:t>
            </a:r>
            <a:r>
              <a:rPr lang="zh-CN" altLang="en-US" sz="2400" dirty="0" smtClean="0"/>
              <a:t>方向。</a:t>
            </a:r>
            <a:endParaRPr lang="zh-CN" altLang="en-US" sz="2400" dirty="0" smtClean="0"/>
          </a:p>
        </p:txBody>
      </p:sp>
      <p:sp>
        <p:nvSpPr>
          <p:cNvPr id="36" name="Rectangle 37"/>
          <p:cNvSpPr>
            <a:spLocks noChangeArrowheads="1"/>
          </p:cNvSpPr>
          <p:nvPr/>
        </p:nvSpPr>
        <p:spPr bwMode="auto">
          <a:xfrm>
            <a:off x="1915616" y="3657600"/>
            <a:ext cx="1219200" cy="3810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000">
                <a:latin typeface="楷体_GB2312" pitchFamily="49" charset="-122"/>
              </a:rPr>
              <a:t>i←n</a:t>
            </a:r>
            <a:endParaRPr lang="en-US" altLang="zh-CN" sz="2000">
              <a:latin typeface="楷体_GB2312" pitchFamily="49" charset="-122"/>
            </a:endParaRPr>
          </a:p>
        </p:txBody>
      </p:sp>
      <p:sp>
        <p:nvSpPr>
          <p:cNvPr id="37" name="Rectangle 38"/>
          <p:cNvSpPr>
            <a:spLocks noChangeArrowheads="1"/>
          </p:cNvSpPr>
          <p:nvPr/>
        </p:nvSpPr>
        <p:spPr bwMode="auto">
          <a:xfrm>
            <a:off x="1915616" y="4343400"/>
            <a:ext cx="1219200" cy="3810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000">
                <a:latin typeface="楷体_GB2312" pitchFamily="49" charset="-122"/>
              </a:rPr>
              <a:t>循环体</a:t>
            </a:r>
            <a:endParaRPr lang="zh-CN" altLang="en-US" sz="2000">
              <a:latin typeface="楷体_GB2312" pitchFamily="49" charset="-122"/>
            </a:endParaRPr>
          </a:p>
        </p:txBody>
      </p:sp>
      <p:sp>
        <p:nvSpPr>
          <p:cNvPr id="38" name="Rectangle 39"/>
          <p:cNvSpPr>
            <a:spLocks noChangeArrowheads="1"/>
          </p:cNvSpPr>
          <p:nvPr/>
        </p:nvSpPr>
        <p:spPr bwMode="auto">
          <a:xfrm>
            <a:off x="1915616" y="5029200"/>
            <a:ext cx="1219200" cy="3810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000">
                <a:latin typeface="楷体_GB2312" pitchFamily="49" charset="-122"/>
              </a:rPr>
              <a:t>i←i-1</a:t>
            </a:r>
            <a:endParaRPr lang="en-US" altLang="zh-CN" sz="2000">
              <a:latin typeface="楷体_GB2312" pitchFamily="49" charset="-122"/>
            </a:endParaRPr>
          </a:p>
        </p:txBody>
      </p:sp>
      <p:sp>
        <p:nvSpPr>
          <p:cNvPr id="39" name="AutoShape 40"/>
          <p:cNvSpPr>
            <a:spLocks noChangeArrowheads="1"/>
          </p:cNvSpPr>
          <p:nvPr/>
        </p:nvSpPr>
        <p:spPr bwMode="auto">
          <a:xfrm>
            <a:off x="1915616" y="5715000"/>
            <a:ext cx="1219200" cy="457200"/>
          </a:xfrm>
          <a:prstGeom prst="flowChartDecision">
            <a:avLst/>
          </a:prstGeom>
          <a:solidFill>
            <a:srgbClr val="FFFF00"/>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000">
                <a:latin typeface="楷体_GB2312" pitchFamily="49" charset="-122"/>
              </a:rPr>
              <a:t>i &gt; 0</a:t>
            </a:r>
            <a:endParaRPr lang="en-US" altLang="zh-CN" sz="2000">
              <a:latin typeface="楷体_GB2312" pitchFamily="49" charset="-122"/>
            </a:endParaRPr>
          </a:p>
        </p:txBody>
      </p:sp>
      <p:sp>
        <p:nvSpPr>
          <p:cNvPr id="40" name="Line 41"/>
          <p:cNvSpPr>
            <a:spLocks noChangeShapeType="1"/>
          </p:cNvSpPr>
          <p:nvPr/>
        </p:nvSpPr>
        <p:spPr bwMode="auto">
          <a:xfrm>
            <a:off x="2525216" y="4038600"/>
            <a:ext cx="0" cy="30480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1" name="Line 42"/>
          <p:cNvSpPr>
            <a:spLocks noChangeShapeType="1"/>
          </p:cNvSpPr>
          <p:nvPr/>
        </p:nvSpPr>
        <p:spPr bwMode="auto">
          <a:xfrm>
            <a:off x="2525216" y="4724400"/>
            <a:ext cx="0" cy="30480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 name="Line 43"/>
          <p:cNvSpPr>
            <a:spLocks noChangeShapeType="1"/>
          </p:cNvSpPr>
          <p:nvPr/>
        </p:nvSpPr>
        <p:spPr bwMode="auto">
          <a:xfrm>
            <a:off x="2525216" y="5410200"/>
            <a:ext cx="0" cy="30480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 name="Line 44"/>
          <p:cNvSpPr>
            <a:spLocks noChangeShapeType="1"/>
          </p:cNvSpPr>
          <p:nvPr/>
        </p:nvSpPr>
        <p:spPr bwMode="auto">
          <a:xfrm>
            <a:off x="2525216" y="6172200"/>
            <a:ext cx="0" cy="30480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 name="Line 45"/>
          <p:cNvSpPr>
            <a:spLocks noChangeShapeType="1"/>
          </p:cNvSpPr>
          <p:nvPr/>
        </p:nvSpPr>
        <p:spPr bwMode="auto">
          <a:xfrm flipH="1">
            <a:off x="1610816" y="5943600"/>
            <a:ext cx="304800"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 name="Line 46"/>
          <p:cNvSpPr>
            <a:spLocks noChangeShapeType="1"/>
          </p:cNvSpPr>
          <p:nvPr/>
        </p:nvSpPr>
        <p:spPr bwMode="auto">
          <a:xfrm flipH="1">
            <a:off x="1610816" y="4191000"/>
            <a:ext cx="0" cy="175260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6" name="Line 47"/>
          <p:cNvSpPr>
            <a:spLocks noChangeShapeType="1"/>
          </p:cNvSpPr>
          <p:nvPr/>
        </p:nvSpPr>
        <p:spPr bwMode="auto">
          <a:xfrm>
            <a:off x="1610816" y="4191000"/>
            <a:ext cx="838200" cy="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 name="Rectangle 48"/>
          <p:cNvSpPr>
            <a:spLocks noChangeArrowheads="1"/>
          </p:cNvSpPr>
          <p:nvPr/>
        </p:nvSpPr>
        <p:spPr bwMode="auto">
          <a:xfrm>
            <a:off x="1715591" y="5638800"/>
            <a:ext cx="127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000">
                <a:latin typeface="楷体_GB2312" pitchFamily="49" charset="-122"/>
              </a:rPr>
              <a:t>Y</a:t>
            </a:r>
            <a:endParaRPr lang="en-US" altLang="zh-CN" sz="2000">
              <a:latin typeface="楷体_GB2312" pitchFamily="49" charset="-122"/>
            </a:endParaRPr>
          </a:p>
        </p:txBody>
      </p:sp>
      <p:sp>
        <p:nvSpPr>
          <p:cNvPr id="48" name="Rectangle 49"/>
          <p:cNvSpPr>
            <a:spLocks noChangeArrowheads="1"/>
          </p:cNvSpPr>
          <p:nvPr/>
        </p:nvSpPr>
        <p:spPr bwMode="auto">
          <a:xfrm>
            <a:off x="2629991" y="6096000"/>
            <a:ext cx="127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000">
                <a:latin typeface="楷体_GB2312" pitchFamily="49" charset="-122"/>
              </a:rPr>
              <a:t>N</a:t>
            </a:r>
            <a:endParaRPr lang="en-US" altLang="zh-CN" sz="2000">
              <a:latin typeface="楷体_GB2312" pitchFamily="49" charset="-122"/>
            </a:endParaRPr>
          </a:p>
        </p:txBody>
      </p:sp>
      <p:sp>
        <p:nvSpPr>
          <p:cNvPr id="49" name="Rectangle 50"/>
          <p:cNvSpPr>
            <a:spLocks noChangeArrowheads="1"/>
          </p:cNvSpPr>
          <p:nvPr/>
        </p:nvSpPr>
        <p:spPr bwMode="auto">
          <a:xfrm>
            <a:off x="5573216" y="3657600"/>
            <a:ext cx="1219200" cy="3810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000">
                <a:latin typeface="楷体_GB2312" pitchFamily="49" charset="-122"/>
              </a:rPr>
              <a:t>i←n</a:t>
            </a:r>
            <a:endParaRPr lang="en-US" altLang="zh-CN" sz="2000">
              <a:latin typeface="楷体_GB2312" pitchFamily="49" charset="-122"/>
            </a:endParaRPr>
          </a:p>
        </p:txBody>
      </p:sp>
      <p:sp>
        <p:nvSpPr>
          <p:cNvPr id="50" name="Rectangle 51"/>
          <p:cNvSpPr>
            <a:spLocks noChangeArrowheads="1"/>
          </p:cNvSpPr>
          <p:nvPr/>
        </p:nvSpPr>
        <p:spPr bwMode="auto">
          <a:xfrm>
            <a:off x="5573216" y="5105400"/>
            <a:ext cx="1219200" cy="3810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000">
                <a:latin typeface="楷体_GB2312" pitchFamily="49" charset="-122"/>
              </a:rPr>
              <a:t>循环体</a:t>
            </a:r>
            <a:endParaRPr lang="zh-CN" altLang="en-US" sz="2000">
              <a:latin typeface="楷体_GB2312" pitchFamily="49" charset="-122"/>
            </a:endParaRPr>
          </a:p>
        </p:txBody>
      </p:sp>
      <p:sp>
        <p:nvSpPr>
          <p:cNvPr id="51" name="Rectangle 52"/>
          <p:cNvSpPr>
            <a:spLocks noChangeArrowheads="1"/>
          </p:cNvSpPr>
          <p:nvPr/>
        </p:nvSpPr>
        <p:spPr bwMode="auto">
          <a:xfrm>
            <a:off x="5573216" y="5791200"/>
            <a:ext cx="1219200" cy="3810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000">
                <a:latin typeface="楷体_GB2312" pitchFamily="49" charset="-122"/>
              </a:rPr>
              <a:t>i←i-1</a:t>
            </a:r>
            <a:endParaRPr lang="en-US" altLang="zh-CN" sz="2000">
              <a:latin typeface="楷体_GB2312" pitchFamily="49" charset="-122"/>
            </a:endParaRPr>
          </a:p>
        </p:txBody>
      </p:sp>
      <p:sp>
        <p:nvSpPr>
          <p:cNvPr id="52" name="AutoShape 53"/>
          <p:cNvSpPr>
            <a:spLocks noChangeArrowheads="1"/>
          </p:cNvSpPr>
          <p:nvPr/>
        </p:nvSpPr>
        <p:spPr bwMode="auto">
          <a:xfrm>
            <a:off x="5573216" y="4343400"/>
            <a:ext cx="1219200" cy="457200"/>
          </a:xfrm>
          <a:prstGeom prst="flowChartDecision">
            <a:avLst/>
          </a:prstGeom>
          <a:solidFill>
            <a:srgbClr val="FFFF00"/>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000">
                <a:latin typeface="楷体_GB2312" pitchFamily="49" charset="-122"/>
              </a:rPr>
              <a:t>i &lt;= 0</a:t>
            </a:r>
            <a:endParaRPr lang="en-US" altLang="zh-CN" sz="2000">
              <a:latin typeface="楷体_GB2312" pitchFamily="49" charset="-122"/>
            </a:endParaRPr>
          </a:p>
        </p:txBody>
      </p:sp>
      <p:sp>
        <p:nvSpPr>
          <p:cNvPr id="53" name="Line 54"/>
          <p:cNvSpPr>
            <a:spLocks noChangeShapeType="1"/>
          </p:cNvSpPr>
          <p:nvPr/>
        </p:nvSpPr>
        <p:spPr bwMode="auto">
          <a:xfrm>
            <a:off x="6182816" y="4038600"/>
            <a:ext cx="0" cy="30480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 name="Line 55"/>
          <p:cNvSpPr>
            <a:spLocks noChangeShapeType="1"/>
          </p:cNvSpPr>
          <p:nvPr/>
        </p:nvSpPr>
        <p:spPr bwMode="auto">
          <a:xfrm>
            <a:off x="6182816" y="4800600"/>
            <a:ext cx="0" cy="30480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 name="Line 56"/>
          <p:cNvSpPr>
            <a:spLocks noChangeShapeType="1"/>
          </p:cNvSpPr>
          <p:nvPr/>
        </p:nvSpPr>
        <p:spPr bwMode="auto">
          <a:xfrm>
            <a:off x="6182816" y="5486400"/>
            <a:ext cx="0" cy="30480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 name="Line 57"/>
          <p:cNvSpPr>
            <a:spLocks noChangeShapeType="1"/>
          </p:cNvSpPr>
          <p:nvPr/>
        </p:nvSpPr>
        <p:spPr bwMode="auto">
          <a:xfrm>
            <a:off x="6182816" y="6172200"/>
            <a:ext cx="0" cy="30480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 name="Line 58"/>
          <p:cNvSpPr>
            <a:spLocks noChangeShapeType="1"/>
          </p:cNvSpPr>
          <p:nvPr/>
        </p:nvSpPr>
        <p:spPr bwMode="auto">
          <a:xfrm flipH="1">
            <a:off x="5268416" y="6477000"/>
            <a:ext cx="914400"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8" name="Line 59"/>
          <p:cNvSpPr>
            <a:spLocks noChangeShapeType="1"/>
          </p:cNvSpPr>
          <p:nvPr/>
        </p:nvSpPr>
        <p:spPr bwMode="auto">
          <a:xfrm flipH="1">
            <a:off x="5268416" y="4191000"/>
            <a:ext cx="0" cy="228600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9" name="Line 60"/>
          <p:cNvSpPr>
            <a:spLocks noChangeShapeType="1"/>
          </p:cNvSpPr>
          <p:nvPr/>
        </p:nvSpPr>
        <p:spPr bwMode="auto">
          <a:xfrm>
            <a:off x="5268416" y="4191000"/>
            <a:ext cx="838200" cy="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 name="Rectangle 61"/>
          <p:cNvSpPr>
            <a:spLocks noChangeArrowheads="1"/>
          </p:cNvSpPr>
          <p:nvPr/>
        </p:nvSpPr>
        <p:spPr bwMode="auto">
          <a:xfrm>
            <a:off x="6820991" y="4191000"/>
            <a:ext cx="127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000">
                <a:latin typeface="楷体_GB2312" pitchFamily="49" charset="-122"/>
              </a:rPr>
              <a:t>Y</a:t>
            </a:r>
            <a:endParaRPr lang="en-US" altLang="zh-CN" sz="2000">
              <a:latin typeface="楷体_GB2312" pitchFamily="49" charset="-122"/>
            </a:endParaRPr>
          </a:p>
        </p:txBody>
      </p:sp>
      <p:sp>
        <p:nvSpPr>
          <p:cNvPr id="61" name="Rectangle 62"/>
          <p:cNvSpPr>
            <a:spLocks noChangeArrowheads="1"/>
          </p:cNvSpPr>
          <p:nvPr/>
        </p:nvSpPr>
        <p:spPr bwMode="auto">
          <a:xfrm>
            <a:off x="6287591" y="4800600"/>
            <a:ext cx="127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000">
                <a:latin typeface="楷体_GB2312" pitchFamily="49" charset="-122"/>
              </a:rPr>
              <a:t>N</a:t>
            </a:r>
            <a:endParaRPr lang="en-US" altLang="zh-CN" sz="2000">
              <a:latin typeface="楷体_GB2312" pitchFamily="49" charset="-122"/>
            </a:endParaRPr>
          </a:p>
        </p:txBody>
      </p:sp>
      <p:sp>
        <p:nvSpPr>
          <p:cNvPr id="62" name="Line 63"/>
          <p:cNvSpPr>
            <a:spLocks noChangeShapeType="1"/>
          </p:cNvSpPr>
          <p:nvPr/>
        </p:nvSpPr>
        <p:spPr bwMode="auto">
          <a:xfrm flipH="1">
            <a:off x="6792416" y="4572000"/>
            <a:ext cx="304800"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3" name="Line 64"/>
          <p:cNvSpPr>
            <a:spLocks noChangeShapeType="1"/>
          </p:cNvSpPr>
          <p:nvPr/>
        </p:nvSpPr>
        <p:spPr bwMode="auto">
          <a:xfrm>
            <a:off x="7097216" y="4572000"/>
            <a:ext cx="0" cy="83820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4" name="Rectangle 65"/>
          <p:cNvSpPr>
            <a:spLocks noChangeArrowheads="1"/>
          </p:cNvSpPr>
          <p:nvPr/>
        </p:nvSpPr>
        <p:spPr bwMode="auto">
          <a:xfrm>
            <a:off x="3744416" y="4343400"/>
            <a:ext cx="609600" cy="1676400"/>
          </a:xfrm>
          <a:prstGeom prst="rect">
            <a:avLst/>
          </a:prstGeom>
          <a:solidFill>
            <a:srgbClr val="86E0B9"/>
          </a:solidFill>
          <a:ln w="28575">
            <a:solidFill>
              <a:schemeClr val="tx1"/>
            </a:solidFill>
            <a:miter lim="800000"/>
          </a:ln>
          <a:effectLst>
            <a:outerShdw dist="35921" dir="2700000" algn="ctr" rotWithShape="0">
              <a:schemeClr val="bg2"/>
            </a:outerShdw>
          </a:effectLst>
        </p:spPr>
        <p:txBody>
          <a:bodyPr vert="eaVert"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latin typeface="Times New Roman" panose="02020603050405020304" pitchFamily="18" charset="0"/>
              </a:rPr>
              <a:t>① 编译前</a:t>
            </a:r>
            <a:endParaRPr lang="zh-CN" altLang="en-US" sz="2400">
              <a:latin typeface="Times New Roman" panose="02020603050405020304" pitchFamily="18" charset="0"/>
            </a:endParaRPr>
          </a:p>
        </p:txBody>
      </p:sp>
      <p:sp>
        <p:nvSpPr>
          <p:cNvPr id="65" name="Rectangle 66"/>
          <p:cNvSpPr>
            <a:spLocks noChangeArrowheads="1"/>
          </p:cNvSpPr>
          <p:nvPr/>
        </p:nvSpPr>
        <p:spPr bwMode="auto">
          <a:xfrm>
            <a:off x="7706816" y="4343400"/>
            <a:ext cx="609600" cy="1676400"/>
          </a:xfrm>
          <a:prstGeom prst="rect">
            <a:avLst/>
          </a:prstGeom>
          <a:solidFill>
            <a:srgbClr val="86E0B9"/>
          </a:solidFill>
          <a:ln w="28575">
            <a:solidFill>
              <a:schemeClr val="tx1"/>
            </a:solidFill>
            <a:miter lim="800000"/>
          </a:ln>
          <a:effectLst>
            <a:outerShdw dist="35921" dir="2700000" algn="ctr" rotWithShape="0">
              <a:schemeClr val="bg2"/>
            </a:outerShdw>
          </a:effectLst>
        </p:spPr>
        <p:txBody>
          <a:bodyPr vert="eaVert"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latin typeface="Times New Roman" panose="02020603050405020304" pitchFamily="18" charset="0"/>
              </a:rPr>
              <a:t>② 编译后</a:t>
            </a:r>
            <a:endParaRPr lang="zh-CN" altLang="en-US" sz="2400">
              <a:latin typeface="Times New Roman" panose="02020603050405020304" pitchFamily="18" charset="0"/>
            </a:endParaRPr>
          </a:p>
        </p:txBody>
      </p:sp>
      <p:sp>
        <p:nvSpPr>
          <p:cNvPr id="66"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1</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dirty="0" smtClean="0"/>
              <a:t>延迟转移</a:t>
            </a:r>
            <a:endParaRPr lang="zh-CN" altLang="en-US" dirty="0" smtClean="0"/>
          </a:p>
        </p:txBody>
      </p:sp>
      <p:sp>
        <p:nvSpPr>
          <p:cNvPr id="2" name="内容占位符 1"/>
          <p:cNvSpPr>
            <a:spLocks noGrp="1"/>
          </p:cNvSpPr>
          <p:nvPr>
            <p:ph idx="1"/>
          </p:nvPr>
        </p:nvSpPr>
        <p:spPr>
          <a:xfrm>
            <a:off x="809625" y="1897658"/>
            <a:ext cx="7958138" cy="4699694"/>
          </a:xfrm>
        </p:spPr>
        <p:txBody>
          <a:bodyPr/>
          <a:lstStyle/>
          <a:p>
            <a:r>
              <a:rPr lang="zh-CN" altLang="en-US" sz="2400" dirty="0" smtClean="0">
                <a:solidFill>
                  <a:srgbClr val="FF0000"/>
                </a:solidFill>
              </a:rPr>
              <a:t>思想</a:t>
            </a:r>
            <a:endParaRPr lang="en-US" altLang="zh-CN" sz="2400" dirty="0" smtClean="0">
              <a:solidFill>
                <a:srgbClr val="FF0000"/>
              </a:solidFill>
            </a:endParaRPr>
          </a:p>
          <a:p>
            <a:pPr marL="0" indent="0">
              <a:buNone/>
            </a:pPr>
            <a:r>
              <a:rPr lang="zh-CN" altLang="en-US" sz="2400" dirty="0" smtClean="0"/>
              <a:t>    从</a:t>
            </a:r>
            <a:r>
              <a:rPr lang="zh-CN" altLang="en-US" sz="2400" dirty="0"/>
              <a:t>逻辑上</a:t>
            </a:r>
            <a:r>
              <a:rPr lang="zh-CN" altLang="en-US" sz="2400" dirty="0" smtClean="0"/>
              <a:t>“延长”条件转移指令</a:t>
            </a:r>
            <a:r>
              <a:rPr lang="zh-CN" altLang="en-US" sz="2400" dirty="0"/>
              <a:t>的执行时间。把</a:t>
            </a:r>
            <a:r>
              <a:rPr lang="zh-CN" altLang="en-US" sz="2400" dirty="0" smtClean="0"/>
              <a:t>延迟转移看成</a:t>
            </a:r>
            <a:r>
              <a:rPr lang="zh-CN" altLang="en-US" sz="2400" dirty="0"/>
              <a:t>是由原来</a:t>
            </a:r>
            <a:r>
              <a:rPr lang="zh-CN" altLang="en-US" sz="2400" dirty="0" smtClean="0"/>
              <a:t>的</a:t>
            </a:r>
            <a:r>
              <a:rPr lang="zh-CN" altLang="en-US" sz="2400" dirty="0"/>
              <a:t>条件转移</a:t>
            </a:r>
            <a:r>
              <a:rPr lang="zh-CN" altLang="en-US" sz="2400" dirty="0" smtClean="0"/>
              <a:t>指令</a:t>
            </a:r>
            <a:r>
              <a:rPr lang="zh-CN" altLang="en-US" sz="2400" dirty="0"/>
              <a:t>和若干个</a:t>
            </a:r>
            <a:r>
              <a:rPr lang="zh-CN" altLang="en-US" sz="2400" dirty="0">
                <a:solidFill>
                  <a:srgbClr val="0000FF"/>
                </a:solidFill>
              </a:rPr>
              <a:t>延迟</a:t>
            </a:r>
            <a:r>
              <a:rPr lang="zh-CN" altLang="en-US" sz="2400" dirty="0" smtClean="0">
                <a:solidFill>
                  <a:srgbClr val="0000FF"/>
                </a:solidFill>
              </a:rPr>
              <a:t>槽</a:t>
            </a:r>
            <a:r>
              <a:rPr lang="zh-CN" altLang="en-US" sz="2400" dirty="0" smtClean="0"/>
              <a:t>（对</a:t>
            </a:r>
            <a:r>
              <a:rPr lang="en-US" altLang="zh-CN" sz="2400" dirty="0" smtClean="0"/>
              <a:t>MIPS</a:t>
            </a:r>
            <a:r>
              <a:rPr lang="zh-CN" altLang="en-US" sz="2400" dirty="0" smtClean="0"/>
              <a:t>基本流水线就是一个）构成</a:t>
            </a:r>
            <a:r>
              <a:rPr lang="zh-CN" altLang="en-US" sz="2400" dirty="0"/>
              <a:t>，</a:t>
            </a:r>
            <a:r>
              <a:rPr lang="zh-CN" altLang="en-US" sz="2400" dirty="0" smtClean="0"/>
              <a:t>不管</a:t>
            </a:r>
            <a:r>
              <a:rPr lang="zh-CN" altLang="en-US" sz="2400" dirty="0"/>
              <a:t>条件转移指令</a:t>
            </a:r>
            <a:r>
              <a:rPr lang="zh-CN" altLang="en-US" sz="2400" dirty="0" smtClean="0"/>
              <a:t>是否成功转移，</a:t>
            </a:r>
            <a:r>
              <a:rPr lang="zh-CN" altLang="en-US" sz="2400" dirty="0"/>
              <a:t>都要按顺序执行延迟槽中的指令</a:t>
            </a:r>
            <a:r>
              <a:rPr lang="zh-CN" altLang="en-US" sz="2400" dirty="0" smtClean="0"/>
              <a:t>。</a:t>
            </a:r>
            <a:endParaRPr lang="en-US" altLang="zh-CN" sz="2400" dirty="0" smtClean="0"/>
          </a:p>
          <a:p>
            <a:r>
              <a:rPr lang="zh-CN" altLang="en-US" sz="2400" dirty="0" smtClean="0">
                <a:solidFill>
                  <a:srgbClr val="FF0000"/>
                </a:solidFill>
              </a:rPr>
              <a:t>例子</a:t>
            </a:r>
            <a:endParaRPr lang="en-US" altLang="zh-CN" sz="2400" dirty="0" smtClean="0">
              <a:solidFill>
                <a:srgbClr val="FF0000"/>
              </a:solidFill>
            </a:endParaRPr>
          </a:p>
          <a:p>
            <a:pPr marL="400050" lvl="1" indent="0">
              <a:buNone/>
            </a:pPr>
            <a:r>
              <a:rPr lang="zh-CN" altLang="en-US" sz="2400" dirty="0"/>
              <a:t>条件转移</a:t>
            </a:r>
            <a:r>
              <a:rPr lang="zh-CN" altLang="en-US" sz="2400" dirty="0" smtClean="0"/>
              <a:t>指令</a:t>
            </a:r>
            <a:endParaRPr lang="en-US" altLang="zh-CN" sz="2400" dirty="0" smtClean="0"/>
          </a:p>
          <a:p>
            <a:pPr marL="400050" lvl="1" indent="0">
              <a:buNone/>
            </a:pPr>
            <a:r>
              <a:rPr lang="zh-CN" altLang="en-US" sz="2400" dirty="0">
                <a:solidFill>
                  <a:srgbClr val="0000FF"/>
                </a:solidFill>
              </a:rPr>
              <a:t>延迟</a:t>
            </a:r>
            <a:r>
              <a:rPr lang="zh-CN" altLang="en-US" sz="2400" dirty="0" smtClean="0">
                <a:solidFill>
                  <a:srgbClr val="0000FF"/>
                </a:solidFill>
              </a:rPr>
              <a:t>槽</a:t>
            </a:r>
            <a:r>
              <a:rPr lang="en-US" altLang="zh-CN" sz="2400" dirty="0" smtClean="0">
                <a:solidFill>
                  <a:srgbClr val="0000FF"/>
                </a:solidFill>
              </a:rPr>
              <a:t>1</a:t>
            </a:r>
            <a:r>
              <a:rPr lang="zh-CN" altLang="en-US" sz="2400" dirty="0" smtClean="0">
                <a:solidFill>
                  <a:srgbClr val="0000FF"/>
                </a:solidFill>
              </a:rPr>
              <a:t>（顺序后续指令</a:t>
            </a:r>
            <a:r>
              <a:rPr lang="en-US" altLang="zh-CN" sz="2400" dirty="0" smtClean="0">
                <a:solidFill>
                  <a:srgbClr val="0000FF"/>
                </a:solidFill>
              </a:rPr>
              <a:t>1</a:t>
            </a:r>
            <a:r>
              <a:rPr lang="zh-CN" altLang="en-US" sz="2400" dirty="0" smtClean="0">
                <a:solidFill>
                  <a:srgbClr val="0000FF"/>
                </a:solidFill>
              </a:rPr>
              <a:t>）</a:t>
            </a:r>
            <a:endParaRPr lang="en-US" altLang="zh-CN" sz="2400" dirty="0" smtClean="0">
              <a:solidFill>
                <a:srgbClr val="0000FF"/>
              </a:solidFill>
            </a:endParaRPr>
          </a:p>
          <a:p>
            <a:pPr marL="400050" lvl="1" indent="0">
              <a:buNone/>
            </a:pPr>
            <a:r>
              <a:rPr lang="en-US" altLang="zh-CN" sz="2400" dirty="0" smtClean="0">
                <a:solidFill>
                  <a:srgbClr val="0000FF"/>
                </a:solidFill>
              </a:rPr>
              <a:t>……</a:t>
            </a:r>
            <a:endParaRPr lang="en-US" altLang="zh-CN" sz="2400" dirty="0" smtClean="0">
              <a:solidFill>
                <a:srgbClr val="0000FF"/>
              </a:solidFill>
            </a:endParaRPr>
          </a:p>
          <a:p>
            <a:pPr marL="400050" lvl="1" indent="0">
              <a:buNone/>
            </a:pPr>
            <a:r>
              <a:rPr lang="zh-CN" altLang="en-US" sz="2400" dirty="0">
                <a:solidFill>
                  <a:srgbClr val="0000FF"/>
                </a:solidFill>
              </a:rPr>
              <a:t>延迟</a:t>
            </a:r>
            <a:r>
              <a:rPr lang="zh-CN" altLang="en-US" sz="2400" dirty="0" smtClean="0">
                <a:solidFill>
                  <a:srgbClr val="0000FF"/>
                </a:solidFill>
              </a:rPr>
              <a:t>槽</a:t>
            </a:r>
            <a:r>
              <a:rPr lang="en-US" altLang="zh-CN" sz="2400" dirty="0" smtClean="0">
                <a:solidFill>
                  <a:srgbClr val="0000FF"/>
                </a:solidFill>
              </a:rPr>
              <a:t>m</a:t>
            </a:r>
            <a:r>
              <a:rPr lang="zh-CN" altLang="en-US" sz="2400" dirty="0" smtClean="0">
                <a:solidFill>
                  <a:srgbClr val="0000FF"/>
                </a:solidFill>
              </a:rPr>
              <a:t>（</a:t>
            </a:r>
            <a:r>
              <a:rPr lang="zh-CN" altLang="en-US" sz="2400" dirty="0">
                <a:solidFill>
                  <a:srgbClr val="0000FF"/>
                </a:solidFill>
              </a:rPr>
              <a:t>顺序后续</a:t>
            </a:r>
            <a:r>
              <a:rPr lang="zh-CN" altLang="en-US" sz="2400" dirty="0" smtClean="0">
                <a:solidFill>
                  <a:srgbClr val="0000FF"/>
                </a:solidFill>
              </a:rPr>
              <a:t>指令</a:t>
            </a:r>
            <a:r>
              <a:rPr lang="en-US" altLang="zh-CN" sz="2400" dirty="0" smtClean="0">
                <a:solidFill>
                  <a:srgbClr val="0000FF"/>
                </a:solidFill>
              </a:rPr>
              <a:t>m</a:t>
            </a:r>
            <a:r>
              <a:rPr lang="zh-CN" altLang="en-US" sz="2400" dirty="0" smtClean="0">
                <a:solidFill>
                  <a:srgbClr val="0000FF"/>
                </a:solidFill>
              </a:rPr>
              <a:t>）</a:t>
            </a:r>
            <a:endParaRPr lang="zh-CN" altLang="en-US" sz="2400" dirty="0">
              <a:solidFill>
                <a:srgbClr val="0000FF"/>
              </a:solidFill>
            </a:endParaRPr>
          </a:p>
          <a:p>
            <a:pPr marL="400050" lvl="1" indent="0">
              <a:buNone/>
            </a:pPr>
            <a:r>
              <a:rPr lang="zh-CN" altLang="en-US" sz="2400" dirty="0"/>
              <a:t>顺序后续指令</a:t>
            </a:r>
            <a:endParaRPr lang="zh-CN" altLang="en-US" sz="2400" dirty="0"/>
          </a:p>
          <a:p>
            <a:endParaRPr lang="zh-CN" altLang="en-US" sz="2400" dirty="0"/>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endParaRPr lang="zh-CN" altLang="en-US" sz="1200" b="0">
              <a:latin typeface="Times New Roman" panose="02020603050405020304" pitchFamily="18" charset="0"/>
              <a:ea typeface="幼圆" panose="02010509060101010101" pitchFamily="49" charset="-122"/>
            </a:endParaRPr>
          </a:p>
        </p:txBody>
      </p:sp>
      <p:sp>
        <p:nvSpPr>
          <p:cNvPr id="36"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2</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dirty="0" smtClean="0"/>
              <a:t>例</a:t>
            </a:r>
            <a:r>
              <a:rPr lang="en-US" altLang="zh-CN" dirty="0" smtClean="0"/>
              <a:t>:</a:t>
            </a:r>
            <a:r>
              <a:rPr lang="en-US" altLang="zh-CN" dirty="0" smtClean="0">
                <a:latin typeface="+mn-lt"/>
              </a:rPr>
              <a:t>MIPS</a:t>
            </a:r>
            <a:r>
              <a:rPr lang="zh-CN" altLang="en-US" dirty="0" smtClean="0"/>
              <a:t>基本流水线</a:t>
            </a:r>
            <a:endParaRPr lang="zh-CN" altLang="en-US" dirty="0" smtClean="0"/>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endParaRPr lang="zh-CN" altLang="en-US" sz="1200" b="0">
              <a:latin typeface="Times New Roman" panose="02020603050405020304" pitchFamily="18" charset="0"/>
              <a:ea typeface="幼圆" panose="02010509060101010101" pitchFamily="49" charset="-122"/>
            </a:endParaRPr>
          </a:p>
        </p:txBody>
      </p:sp>
      <p:sp>
        <p:nvSpPr>
          <p:cNvPr id="6" name="Rectangle 965"/>
          <p:cNvSpPr>
            <a:spLocks noChangeArrowheads="1"/>
          </p:cNvSpPr>
          <p:nvPr/>
        </p:nvSpPr>
        <p:spPr bwMode="auto">
          <a:xfrm>
            <a:off x="1196850" y="4744486"/>
            <a:ext cx="7759700" cy="457200"/>
          </a:xfrm>
          <a:prstGeom prst="rect">
            <a:avLst/>
          </a:prstGeom>
          <a:solidFill>
            <a:srgbClr val="F5EABB"/>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963"/>
          <p:cNvSpPr>
            <a:spLocks noChangeArrowheads="1"/>
          </p:cNvSpPr>
          <p:nvPr/>
        </p:nvSpPr>
        <p:spPr bwMode="auto">
          <a:xfrm>
            <a:off x="1196850" y="2407686"/>
            <a:ext cx="7747000" cy="419100"/>
          </a:xfrm>
          <a:prstGeom prst="rect">
            <a:avLst/>
          </a:prstGeom>
          <a:solidFill>
            <a:srgbClr val="F5EABB"/>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aphicFrame>
        <p:nvGraphicFramePr>
          <p:cNvPr id="8" name="Group 961"/>
          <p:cNvGraphicFramePr>
            <a:graphicFrameLocks noGrp="1"/>
          </p:cNvGraphicFramePr>
          <p:nvPr>
            <p:ph sz="quarter" idx="4294967295"/>
          </p:nvPr>
        </p:nvGraphicFramePr>
        <p:xfrm>
          <a:off x="611063" y="1986999"/>
          <a:ext cx="8353425" cy="2133600"/>
        </p:xfrm>
        <a:graphic>
          <a:graphicData uri="http://schemas.openxmlformats.org/drawingml/2006/table">
            <a:tbl>
              <a:tblPr/>
              <a:tblGrid>
                <a:gridCol w="595312"/>
                <a:gridCol w="2386013"/>
                <a:gridCol w="600075"/>
                <a:gridCol w="596900"/>
                <a:gridCol w="593725"/>
                <a:gridCol w="600075"/>
                <a:gridCol w="595312"/>
                <a:gridCol w="595313"/>
                <a:gridCol w="595312"/>
                <a:gridCol w="600075"/>
                <a:gridCol w="595313"/>
              </a:tblGrid>
              <a:tr h="398463">
                <a:tc rowSpan="5">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0000FF"/>
                          </a:solidFill>
                          <a:effectLst/>
                          <a:latin typeface="宋体" panose="02010600030101010101" pitchFamily="2" charset="-122"/>
                          <a:ea typeface="宋体" panose="02010600030101010101" pitchFamily="2" charset="-122"/>
                        </a:rPr>
                        <a:t>不成功转移 </a:t>
                      </a:r>
                      <a:endParaRPr kumimoji="1" lang="zh-CN" altLang="en-US" sz="2000" b="1" i="0" u="none" strike="noStrike" cap="none" normalizeH="0" baseline="0" dirty="0" smtClean="0">
                        <a:ln>
                          <a:noFill/>
                        </a:ln>
                        <a:solidFill>
                          <a:srgbClr val="0000FF"/>
                        </a:solidFill>
                        <a:effectLst/>
                        <a:latin typeface="宋体" panose="02010600030101010101" pitchFamily="2" charset="-122"/>
                        <a:ea typeface="宋体" panose="02010600030101010101"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条件转移指令</a:t>
                      </a:r>
                      <a:r>
                        <a:rPr kumimoji="1" lang="en-US" altLang="zh-CN" sz="2000" b="1" i="0" u="none" strike="noStrike" cap="none" normalizeH="0" baseline="0" dirty="0" err="1" smtClean="0">
                          <a:ln>
                            <a:noFill/>
                          </a:ln>
                          <a:solidFill>
                            <a:srgbClr val="E24C05"/>
                          </a:solidFill>
                          <a:effectLst/>
                          <a:latin typeface="宋体" panose="02010600030101010101" pitchFamily="2" charset="-122"/>
                          <a:ea typeface="宋体" panose="02010600030101010101" pitchFamily="2" charset="-122"/>
                        </a:rPr>
                        <a:t>i</a:t>
                      </a:r>
                      <a:r>
                        <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 </a:t>
                      </a:r>
                      <a:endPar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8463">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D60093"/>
                          </a:solidFill>
                          <a:effectLst/>
                          <a:latin typeface="宋体" panose="02010600030101010101" pitchFamily="2" charset="-122"/>
                          <a:ea typeface="宋体" panose="02010600030101010101" pitchFamily="2" charset="-122"/>
                        </a:rPr>
                        <a:t>延迟槽指令 </a:t>
                      </a:r>
                      <a:r>
                        <a:rPr kumimoji="1" lang="en-US" altLang="zh-CN" sz="2000" b="1" i="0" u="none" strike="noStrike" cap="none" normalizeH="0" baseline="0" dirty="0" smtClean="0">
                          <a:ln>
                            <a:noFill/>
                          </a:ln>
                          <a:solidFill>
                            <a:srgbClr val="D60093"/>
                          </a:solidFill>
                          <a:effectLst/>
                          <a:latin typeface="宋体" panose="02010600030101010101" pitchFamily="2" charset="-122"/>
                          <a:ea typeface="宋体" panose="02010600030101010101" pitchFamily="2" charset="-122"/>
                        </a:rPr>
                        <a:t>i+1</a:t>
                      </a:r>
                      <a:r>
                        <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 </a:t>
                      </a:r>
                      <a:endPar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6875">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指令 </a:t>
                      </a:r>
                      <a:r>
                        <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i+2 </a:t>
                      </a:r>
                      <a:endPar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8463">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指令 </a:t>
                      </a:r>
                      <a:r>
                        <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i+3 </a:t>
                      </a:r>
                      <a:endPar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8463">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指令 </a:t>
                      </a:r>
                      <a:r>
                        <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i+4 </a:t>
                      </a:r>
                      <a:endPar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 name="Group 962"/>
          <p:cNvGraphicFramePr>
            <a:graphicFrameLocks noGrp="1"/>
          </p:cNvGraphicFramePr>
          <p:nvPr>
            <p:ph sz="quarter" idx="4294967295"/>
          </p:nvPr>
        </p:nvGraphicFramePr>
        <p:xfrm>
          <a:off x="611063" y="4307924"/>
          <a:ext cx="8351837" cy="2217420"/>
        </p:xfrm>
        <a:graphic>
          <a:graphicData uri="http://schemas.openxmlformats.org/drawingml/2006/table">
            <a:tbl>
              <a:tblPr/>
              <a:tblGrid>
                <a:gridCol w="595312"/>
                <a:gridCol w="2386013"/>
                <a:gridCol w="598487"/>
                <a:gridCol w="596900"/>
                <a:gridCol w="595313"/>
                <a:gridCol w="598487"/>
                <a:gridCol w="595313"/>
                <a:gridCol w="595312"/>
                <a:gridCol w="596900"/>
                <a:gridCol w="598488"/>
                <a:gridCol w="595312"/>
              </a:tblGrid>
              <a:tr h="447675">
                <a:tc rowSpan="5">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0000FF"/>
                          </a:solidFill>
                          <a:effectLst/>
                          <a:latin typeface="宋体" panose="02010600030101010101" pitchFamily="2" charset="-122"/>
                          <a:ea typeface="宋体" panose="02010600030101010101" pitchFamily="2" charset="-122"/>
                        </a:rPr>
                        <a:t>成功转移</a:t>
                      </a:r>
                      <a:endParaRPr kumimoji="1" lang="zh-CN" altLang="en-US" sz="2000" b="1" i="0" u="none" strike="noStrike" cap="none" normalizeH="0" baseline="0" dirty="0" smtClean="0">
                        <a:ln>
                          <a:noFill/>
                        </a:ln>
                        <a:solidFill>
                          <a:srgbClr val="0000FF"/>
                        </a:solidFill>
                        <a:effectLst/>
                        <a:latin typeface="宋体" panose="02010600030101010101" pitchFamily="2" charset="-122"/>
                        <a:ea typeface="宋体" panose="02010600030101010101"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条件转移指令</a:t>
                      </a:r>
                      <a:r>
                        <a:rPr kumimoji="1" lang="en-US" altLang="zh-CN" sz="2000" b="1" i="0" u="none" strike="noStrike" cap="none" normalizeH="0" baseline="0" dirty="0" err="1" smtClean="0">
                          <a:ln>
                            <a:noFill/>
                          </a:ln>
                          <a:solidFill>
                            <a:srgbClr val="E24C05"/>
                          </a:solidFill>
                          <a:effectLst/>
                          <a:latin typeface="宋体" panose="02010600030101010101" pitchFamily="2" charset="-122"/>
                          <a:ea typeface="宋体" panose="02010600030101010101" pitchFamily="2" charset="-122"/>
                        </a:rPr>
                        <a:t>i</a:t>
                      </a:r>
                      <a:r>
                        <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 </a:t>
                      </a:r>
                      <a:endPar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7675">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rgbClr val="D60093"/>
                          </a:solidFill>
                          <a:effectLst/>
                          <a:latin typeface="宋体" panose="02010600030101010101" pitchFamily="2" charset="-122"/>
                          <a:ea typeface="宋体" panose="02010600030101010101" pitchFamily="2" charset="-122"/>
                        </a:rPr>
                        <a:t>延迟槽指令 </a:t>
                      </a:r>
                      <a:r>
                        <a:rPr kumimoji="1" lang="en-US" altLang="zh-CN" sz="2000" b="1" i="0" u="none" strike="noStrike" cap="none" normalizeH="0" baseline="0" smtClean="0">
                          <a:ln>
                            <a:noFill/>
                          </a:ln>
                          <a:solidFill>
                            <a:srgbClr val="D60093"/>
                          </a:solidFill>
                          <a:effectLst/>
                          <a:latin typeface="宋体" panose="02010600030101010101" pitchFamily="2" charset="-122"/>
                          <a:ea typeface="宋体" panose="02010600030101010101" pitchFamily="2" charset="-122"/>
                        </a:rPr>
                        <a:t>i+1</a:t>
                      </a:r>
                      <a:r>
                        <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 </a:t>
                      </a:r>
                      <a:endPar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7675">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分支目标指令</a:t>
                      </a:r>
                      <a:r>
                        <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j </a:t>
                      </a:r>
                      <a:endPar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7675">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分支目标指令</a:t>
                      </a:r>
                      <a:r>
                        <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j+1 </a:t>
                      </a:r>
                      <a:endPar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98450">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分支目标指令</a:t>
                      </a:r>
                      <a:r>
                        <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j+2</a:t>
                      </a:r>
                      <a:endPar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1"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3</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sz="4400" dirty="0"/>
              <a:t>延迟</a:t>
            </a:r>
            <a:r>
              <a:rPr lang="zh-CN" altLang="en-US" sz="4400" dirty="0" smtClean="0"/>
              <a:t>转移中的指令调度</a:t>
            </a:r>
            <a:endParaRPr lang="zh-CN" altLang="en-US" sz="4400" dirty="0" smtClean="0"/>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endParaRPr lang="zh-CN" altLang="en-US" sz="1200" b="0">
              <a:latin typeface="Times New Roman" panose="02020603050405020304" pitchFamily="18" charset="0"/>
              <a:ea typeface="幼圆" panose="02010509060101010101" pitchFamily="49" charset="-122"/>
            </a:endParaRPr>
          </a:p>
        </p:txBody>
      </p:sp>
      <p:sp>
        <p:nvSpPr>
          <p:cNvPr id="3" name="内容占位符 2"/>
          <p:cNvSpPr>
            <a:spLocks noGrp="1"/>
          </p:cNvSpPr>
          <p:nvPr>
            <p:ph idx="1"/>
          </p:nvPr>
        </p:nvSpPr>
        <p:spPr/>
        <p:txBody>
          <a:bodyPr/>
          <a:lstStyle/>
          <a:p>
            <a:pPr>
              <a:lnSpc>
                <a:spcPct val="125000"/>
              </a:lnSpc>
            </a:pPr>
            <a:r>
              <a:rPr lang="zh-CN" altLang="en-US" sz="2400" dirty="0" smtClean="0">
                <a:solidFill>
                  <a:srgbClr val="FF0000"/>
                </a:solidFill>
              </a:rPr>
              <a:t>调度目的</a:t>
            </a:r>
            <a:endParaRPr lang="en-US" altLang="zh-CN" sz="2400" dirty="0" smtClean="0">
              <a:solidFill>
                <a:srgbClr val="FF0000"/>
              </a:solidFill>
            </a:endParaRPr>
          </a:p>
          <a:p>
            <a:pPr marL="0" indent="0">
              <a:lnSpc>
                <a:spcPct val="125000"/>
              </a:lnSpc>
              <a:buNone/>
            </a:pPr>
            <a:r>
              <a:rPr lang="zh-CN" altLang="en-US" sz="2400" dirty="0" smtClean="0"/>
              <a:t>    </a:t>
            </a:r>
            <a:r>
              <a:rPr lang="zh-CN" altLang="en-US" sz="2400" dirty="0" smtClean="0">
                <a:solidFill>
                  <a:srgbClr val="0000FF"/>
                </a:solidFill>
              </a:rPr>
              <a:t>在</a:t>
            </a:r>
            <a:r>
              <a:rPr lang="zh-CN" altLang="en-US" sz="2400" dirty="0">
                <a:solidFill>
                  <a:srgbClr val="0000FF"/>
                </a:solidFill>
              </a:rPr>
              <a:t>延迟槽中放入有用的指令</a:t>
            </a:r>
            <a:r>
              <a:rPr lang="zh-CN" altLang="en-US" sz="2400" dirty="0" smtClean="0"/>
              <a:t>。由</a:t>
            </a:r>
            <a:r>
              <a:rPr lang="zh-CN" altLang="en-US" sz="2400" dirty="0"/>
              <a:t>编译器完成，延迟</a:t>
            </a:r>
            <a:r>
              <a:rPr lang="zh-CN" altLang="en-US" sz="2400" dirty="0" smtClean="0"/>
              <a:t>转移技术能否</a:t>
            </a:r>
            <a:r>
              <a:rPr lang="zh-CN" altLang="en-US" sz="2400" dirty="0"/>
              <a:t>带来好处取决于编译器能否把</a:t>
            </a:r>
            <a:r>
              <a:rPr lang="zh-CN" altLang="en-US" sz="2400" dirty="0" smtClean="0"/>
              <a:t>有用的</a:t>
            </a:r>
            <a:r>
              <a:rPr lang="zh-CN" altLang="en-US" sz="2400" dirty="0"/>
              <a:t>指令调度到延迟槽中。</a:t>
            </a:r>
            <a:endParaRPr lang="zh-CN" altLang="en-US" sz="2400" dirty="0"/>
          </a:p>
          <a:p>
            <a:pPr>
              <a:lnSpc>
                <a:spcPct val="125000"/>
              </a:lnSpc>
            </a:pPr>
            <a:r>
              <a:rPr lang="zh-CN" altLang="en-US" sz="2400" dirty="0" smtClean="0">
                <a:solidFill>
                  <a:srgbClr val="FF0000"/>
                </a:solidFill>
              </a:rPr>
              <a:t>调度方法</a:t>
            </a:r>
            <a:endParaRPr lang="zh-CN" altLang="en-US" sz="2400" dirty="0">
              <a:solidFill>
                <a:srgbClr val="FF0000"/>
              </a:solidFill>
            </a:endParaRPr>
          </a:p>
          <a:p>
            <a:pPr lvl="1">
              <a:lnSpc>
                <a:spcPct val="125000"/>
              </a:lnSpc>
            </a:pPr>
            <a:r>
              <a:rPr lang="zh-CN" altLang="en-US" sz="2400" dirty="0"/>
              <a:t>从前调度</a:t>
            </a:r>
            <a:endParaRPr lang="zh-CN" altLang="en-US" sz="2400" dirty="0"/>
          </a:p>
          <a:p>
            <a:pPr lvl="1">
              <a:lnSpc>
                <a:spcPct val="125000"/>
              </a:lnSpc>
            </a:pPr>
            <a:r>
              <a:rPr lang="zh-CN" altLang="en-US" sz="2400" dirty="0"/>
              <a:t>从目标处调度</a:t>
            </a:r>
            <a:endParaRPr lang="zh-CN" altLang="en-US" sz="2400" dirty="0"/>
          </a:p>
          <a:p>
            <a:pPr lvl="1">
              <a:lnSpc>
                <a:spcPct val="125000"/>
              </a:lnSpc>
            </a:pPr>
            <a:r>
              <a:rPr lang="zh-CN" altLang="en-US" sz="2400" dirty="0"/>
              <a:t>从失败处调度</a:t>
            </a:r>
            <a:endParaRPr lang="zh-CN" altLang="en-US" sz="2400" dirty="0"/>
          </a:p>
          <a:p>
            <a:pPr>
              <a:lnSpc>
                <a:spcPct val="125000"/>
              </a:lnSpc>
            </a:pPr>
            <a:endParaRPr lang="zh-CN" altLang="en-US" sz="2400" dirty="0"/>
          </a:p>
        </p:txBody>
      </p:sp>
      <p:sp>
        <p:nvSpPr>
          <p:cNvPr id="5"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4</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sz="4400" dirty="0"/>
              <a:t>三种</a:t>
            </a:r>
            <a:r>
              <a:rPr lang="zh-CN" altLang="en-US" sz="4400" dirty="0" smtClean="0"/>
              <a:t>指令调度方法</a:t>
            </a:r>
            <a:endParaRPr lang="zh-CN" altLang="en-US" sz="4400" dirty="0" smtClean="0"/>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endParaRPr lang="zh-CN" altLang="en-US" sz="1200" b="0">
              <a:latin typeface="Times New Roman" panose="02020603050405020304" pitchFamily="18" charset="0"/>
              <a:ea typeface="幼圆" panose="02010509060101010101" pitchFamily="49" charset="-122"/>
            </a:endParaRPr>
          </a:p>
        </p:txBody>
      </p:sp>
      <p:graphicFrame>
        <p:nvGraphicFramePr>
          <p:cNvPr id="4" name="对象 3"/>
          <p:cNvGraphicFramePr>
            <a:graphicFrameLocks noChangeAspect="1"/>
          </p:cNvGraphicFramePr>
          <p:nvPr/>
        </p:nvGraphicFramePr>
        <p:xfrm>
          <a:off x="1259408" y="1844824"/>
          <a:ext cx="6985000" cy="4876800"/>
        </p:xfrm>
        <a:graphic>
          <a:graphicData uri="http://schemas.openxmlformats.org/presentationml/2006/ole">
            <mc:AlternateContent xmlns:mc="http://schemas.openxmlformats.org/markup-compatibility/2006">
              <mc:Choice xmlns:v="urn:schemas-microsoft-com:vml" Requires="v">
                <p:oleObj spid="_x0000_s256078" name="图片" r:id="rId6" imgW="4452620" imgH="3115945" progId="Word.Picture.8">
                  <p:embed/>
                </p:oleObj>
              </mc:Choice>
              <mc:Fallback>
                <p:oleObj name="图片" r:id="rId6" imgW="4452620" imgH="3115945" progId="Word.Picture.8">
                  <p:embed/>
                  <p:pic>
                    <p:nvPicPr>
                      <p:cNvPr id="0" name="Object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59408" y="1844824"/>
                        <a:ext cx="6985000" cy="487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5</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sz="4400" dirty="0" smtClean="0"/>
              <a:t>指令调度方法的比较</a:t>
            </a:r>
            <a:endParaRPr lang="zh-CN" altLang="en-US" sz="4400" dirty="0" smtClean="0"/>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endParaRPr lang="zh-CN" altLang="en-US" sz="1200" b="0">
              <a:latin typeface="Times New Roman" panose="02020603050405020304" pitchFamily="18" charset="0"/>
              <a:ea typeface="幼圆" panose="02010509060101010101" pitchFamily="49" charset="-122"/>
            </a:endParaRPr>
          </a:p>
        </p:txBody>
      </p:sp>
      <p:sp>
        <p:nvSpPr>
          <p:cNvPr id="6" name="Rectangle 4"/>
          <p:cNvSpPr>
            <a:spLocks noChangeArrowheads="1"/>
          </p:cNvSpPr>
          <p:nvPr/>
        </p:nvSpPr>
        <p:spPr bwMode="auto">
          <a:xfrm>
            <a:off x="891480" y="2132856"/>
            <a:ext cx="8001000" cy="4152900"/>
          </a:xfrm>
          <a:prstGeom prst="rect">
            <a:avLst/>
          </a:prstGeom>
          <a:solidFill>
            <a:srgbClr val="F6ECC2"/>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sz="2800" b="1">
              <a:latin typeface="Times New Roman" panose="02020603050405020304" pitchFamily="18" charset="0"/>
              <a:ea typeface="宋体" panose="02010600030101010101" pitchFamily="2" charset="-122"/>
            </a:endParaRPr>
          </a:p>
        </p:txBody>
      </p:sp>
      <p:sp>
        <p:nvSpPr>
          <p:cNvPr id="7" name="Text Box 5"/>
          <p:cNvSpPr txBox="1">
            <a:spLocks noChangeArrowheads="1"/>
          </p:cNvSpPr>
          <p:nvPr/>
        </p:nvSpPr>
        <p:spPr bwMode="auto">
          <a:xfrm>
            <a:off x="1012130" y="2247156"/>
            <a:ext cx="1703388" cy="396875"/>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zh-CN" altLang="en-US" sz="2000" b="1">
                <a:solidFill>
                  <a:srgbClr val="0000FF"/>
                </a:solidFill>
                <a:latin typeface="黑体" panose="02010609060101010101" pitchFamily="2" charset="-122"/>
              </a:rPr>
              <a:t>调 度 策 略</a:t>
            </a:r>
            <a:endParaRPr lang="zh-CN" altLang="en-US" sz="2000" b="1">
              <a:solidFill>
                <a:srgbClr val="0000FF"/>
              </a:solidFill>
              <a:latin typeface="黑体" panose="02010609060101010101" pitchFamily="2" charset="-122"/>
            </a:endParaRPr>
          </a:p>
        </p:txBody>
      </p:sp>
      <p:sp>
        <p:nvSpPr>
          <p:cNvPr id="8" name="Text Box 6"/>
          <p:cNvSpPr txBox="1">
            <a:spLocks noChangeArrowheads="1"/>
          </p:cNvSpPr>
          <p:nvPr/>
        </p:nvSpPr>
        <p:spPr bwMode="auto">
          <a:xfrm>
            <a:off x="3793430" y="2247156"/>
            <a:ext cx="1866900" cy="396875"/>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zh-CN" altLang="en-US" sz="2000" b="1" dirty="0">
                <a:solidFill>
                  <a:srgbClr val="0000FF"/>
                </a:solidFill>
                <a:latin typeface="黑体" panose="02010609060101010101" pitchFamily="2" charset="-122"/>
              </a:rPr>
              <a:t>对调度的要求</a:t>
            </a:r>
            <a:endParaRPr lang="zh-CN" altLang="en-US" sz="2000" b="1" dirty="0">
              <a:solidFill>
                <a:srgbClr val="0000FF"/>
              </a:solidFill>
              <a:latin typeface="黑体" panose="02010609060101010101" pitchFamily="2" charset="-122"/>
            </a:endParaRPr>
          </a:p>
        </p:txBody>
      </p:sp>
      <p:sp>
        <p:nvSpPr>
          <p:cNvPr id="9" name="Rectangle 7"/>
          <p:cNvSpPr>
            <a:spLocks noChangeArrowheads="1"/>
          </p:cNvSpPr>
          <p:nvPr/>
        </p:nvSpPr>
        <p:spPr bwMode="auto">
          <a:xfrm>
            <a:off x="6490593" y="2221756"/>
            <a:ext cx="2249334" cy="400110"/>
          </a:xfrm>
          <a:prstGeom prst="rect">
            <a:avLst/>
          </a:prstGeom>
          <a:noFill/>
          <a:ln>
            <a:noFill/>
          </a:ln>
          <a:effectLst/>
          <a:extLst>
            <a:ext uri="{909E8E84-426E-40DD-AFC4-6F175D3DCCD1}">
              <a14:hiddenFill xmlns:a14="http://schemas.microsoft.com/office/drawing/2010/main">
                <a:solidFill>
                  <a:srgbClr val="F6ECC2"/>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000" b="1">
                <a:solidFill>
                  <a:srgbClr val="0000FF"/>
                </a:solidFill>
                <a:latin typeface="黑体" panose="02010609060101010101" pitchFamily="2" charset="-122"/>
              </a:rPr>
              <a:t>什么情况下起作用</a:t>
            </a:r>
            <a:endParaRPr lang="zh-CN" altLang="en-US" sz="1800" b="1">
              <a:solidFill>
                <a:srgbClr val="0000FF"/>
              </a:solidFill>
              <a:latin typeface="黑体" panose="02010609060101010101" pitchFamily="2" charset="-122"/>
            </a:endParaRPr>
          </a:p>
        </p:txBody>
      </p:sp>
      <p:sp>
        <p:nvSpPr>
          <p:cNvPr id="10" name="Text Box 10"/>
          <p:cNvSpPr txBox="1">
            <a:spLocks noChangeArrowheads="1"/>
          </p:cNvSpPr>
          <p:nvPr/>
        </p:nvSpPr>
        <p:spPr bwMode="auto">
          <a:xfrm>
            <a:off x="1069280" y="2924944"/>
            <a:ext cx="1524000" cy="366713"/>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zh-CN" altLang="en-US" sz="1800" b="1" dirty="0">
                <a:latin typeface="宋体" panose="02010600030101010101" pitchFamily="2" charset="-122"/>
                <a:ea typeface="宋体" panose="02010600030101010101" pitchFamily="2" charset="-122"/>
              </a:rPr>
              <a:t>从 前 调 度</a:t>
            </a:r>
            <a:endParaRPr lang="zh-CN" altLang="en-US" sz="1800" b="1" dirty="0">
              <a:latin typeface="宋体" panose="02010600030101010101" pitchFamily="2" charset="-122"/>
              <a:ea typeface="宋体" panose="02010600030101010101" pitchFamily="2" charset="-122"/>
            </a:endParaRPr>
          </a:p>
        </p:txBody>
      </p:sp>
      <p:sp>
        <p:nvSpPr>
          <p:cNvPr id="11" name="Rectangle 11"/>
          <p:cNvSpPr>
            <a:spLocks noChangeArrowheads="1"/>
          </p:cNvSpPr>
          <p:nvPr/>
        </p:nvSpPr>
        <p:spPr bwMode="auto">
          <a:xfrm>
            <a:off x="1028005" y="4005064"/>
            <a:ext cx="1579278" cy="369332"/>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800" b="1" dirty="0">
                <a:latin typeface="宋体" panose="02010600030101010101" pitchFamily="2" charset="-122"/>
                <a:ea typeface="宋体" panose="02010600030101010101" pitchFamily="2" charset="-122"/>
              </a:rPr>
              <a:t>从目标处调度</a:t>
            </a:r>
            <a:endParaRPr lang="zh-CN" altLang="en-US" sz="1800" b="1" dirty="0">
              <a:latin typeface="宋体" panose="02010600030101010101" pitchFamily="2" charset="-122"/>
              <a:ea typeface="宋体" panose="02010600030101010101" pitchFamily="2" charset="-122"/>
            </a:endParaRPr>
          </a:p>
        </p:txBody>
      </p:sp>
      <p:sp>
        <p:nvSpPr>
          <p:cNvPr id="12" name="Rectangle 12"/>
          <p:cNvSpPr>
            <a:spLocks noChangeArrowheads="1"/>
          </p:cNvSpPr>
          <p:nvPr/>
        </p:nvSpPr>
        <p:spPr bwMode="auto">
          <a:xfrm>
            <a:off x="1028005" y="5409456"/>
            <a:ext cx="1579278" cy="369332"/>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800" b="1">
                <a:latin typeface="宋体" panose="02010600030101010101" pitchFamily="2" charset="-122"/>
                <a:ea typeface="宋体" panose="02010600030101010101" pitchFamily="2" charset="-122"/>
              </a:rPr>
              <a:t>从失败处调度</a:t>
            </a:r>
            <a:endParaRPr lang="zh-CN" altLang="en-US" sz="1800" b="1">
              <a:latin typeface="宋体" panose="02010600030101010101" pitchFamily="2" charset="-122"/>
              <a:ea typeface="宋体" panose="02010600030101010101" pitchFamily="2" charset="-122"/>
            </a:endParaRPr>
          </a:p>
        </p:txBody>
      </p:sp>
      <p:sp>
        <p:nvSpPr>
          <p:cNvPr id="13" name="Rectangle 13"/>
          <p:cNvSpPr>
            <a:spLocks noChangeArrowheads="1"/>
          </p:cNvSpPr>
          <p:nvPr/>
        </p:nvSpPr>
        <p:spPr bwMode="auto">
          <a:xfrm>
            <a:off x="2699792" y="3645024"/>
            <a:ext cx="3671198" cy="1283428"/>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30000"/>
              </a:lnSpc>
            </a:pPr>
            <a:r>
              <a:rPr lang="zh-CN" altLang="en-US" sz="1800" b="1" dirty="0">
                <a:latin typeface="宋体" panose="02010600030101010101" pitchFamily="2" charset="-122"/>
                <a:ea typeface="宋体" panose="02010600030101010101" pitchFamily="2" charset="-122"/>
              </a:rPr>
              <a:t>必须保证</a:t>
            </a:r>
            <a:r>
              <a:rPr lang="zh-CN" altLang="en-US" sz="1800" b="1" dirty="0" smtClean="0">
                <a:latin typeface="宋体" panose="02010600030101010101" pitchFamily="2" charset="-122"/>
                <a:ea typeface="宋体" panose="02010600030101010101" pitchFamily="2" charset="-122"/>
              </a:rPr>
              <a:t>在不成功转移时</a:t>
            </a:r>
            <a:r>
              <a:rPr lang="zh-CN" altLang="en-US" sz="1800" b="1" dirty="0">
                <a:latin typeface="宋体" panose="02010600030101010101" pitchFamily="2" charset="-122"/>
                <a:ea typeface="宋体" panose="02010600030101010101" pitchFamily="2" charset="-122"/>
              </a:rPr>
              <a:t>执行被</a:t>
            </a:r>
            <a:r>
              <a:rPr lang="zh-CN" altLang="en-US" sz="1800" b="1" dirty="0" smtClean="0">
                <a:latin typeface="宋体" panose="02010600030101010101" pitchFamily="2" charset="-122"/>
                <a:ea typeface="宋体" panose="02010600030101010101" pitchFamily="2" charset="-122"/>
              </a:rPr>
              <a:t>调</a:t>
            </a:r>
            <a:endParaRPr lang="en-US" altLang="zh-CN" sz="1800" b="1" dirty="0" smtClean="0">
              <a:latin typeface="宋体" panose="02010600030101010101" pitchFamily="2" charset="-122"/>
              <a:ea typeface="宋体" panose="02010600030101010101" pitchFamily="2" charset="-122"/>
            </a:endParaRPr>
          </a:p>
          <a:p>
            <a:pPr>
              <a:lnSpc>
                <a:spcPct val="130000"/>
              </a:lnSpc>
            </a:pPr>
            <a:r>
              <a:rPr lang="zh-CN" altLang="en-US" sz="1800" b="1" dirty="0" smtClean="0">
                <a:latin typeface="宋体" panose="02010600030101010101" pitchFamily="2" charset="-122"/>
                <a:ea typeface="宋体" panose="02010600030101010101" pitchFamily="2" charset="-122"/>
              </a:rPr>
              <a:t>度的</a:t>
            </a:r>
            <a:r>
              <a:rPr lang="zh-CN" altLang="en-US" sz="1800" b="1" dirty="0">
                <a:latin typeface="宋体" panose="02010600030101010101" pitchFamily="2" charset="-122"/>
                <a:ea typeface="宋体" panose="02010600030101010101" pitchFamily="2" charset="-122"/>
              </a:rPr>
              <a:t>指令不会导致错误</a:t>
            </a:r>
            <a:r>
              <a:rPr lang="zh-CN" altLang="en-US" sz="1800" b="1" dirty="0" smtClean="0">
                <a:latin typeface="宋体" panose="02010600030101010101" pitchFamily="2" charset="-122"/>
                <a:ea typeface="宋体" panose="02010600030101010101" pitchFamily="2" charset="-122"/>
              </a:rPr>
              <a:t>。</a:t>
            </a:r>
            <a:endParaRPr lang="en-US" altLang="zh-CN" sz="1800" b="1" dirty="0" smtClean="0">
              <a:latin typeface="宋体" panose="02010600030101010101" pitchFamily="2" charset="-122"/>
              <a:ea typeface="宋体" panose="02010600030101010101" pitchFamily="2" charset="-122"/>
            </a:endParaRPr>
          </a:p>
          <a:p>
            <a:pPr>
              <a:lnSpc>
                <a:spcPct val="130000"/>
              </a:lnSpc>
            </a:pPr>
            <a:r>
              <a:rPr lang="zh-CN" altLang="en-US" sz="1800" b="1" dirty="0" smtClean="0">
                <a:latin typeface="宋体" panose="02010600030101010101" pitchFamily="2" charset="-122"/>
                <a:ea typeface="宋体" panose="02010600030101010101" pitchFamily="2" charset="-122"/>
              </a:rPr>
              <a:t>有</a:t>
            </a:r>
            <a:r>
              <a:rPr lang="zh-CN" altLang="en-US" sz="1800" b="1" dirty="0">
                <a:latin typeface="宋体" panose="02010600030101010101" pitchFamily="2" charset="-122"/>
                <a:ea typeface="宋体" panose="02010600030101010101" pitchFamily="2" charset="-122"/>
              </a:rPr>
              <a:t>可能</a:t>
            </a:r>
            <a:r>
              <a:rPr lang="zh-CN" altLang="en-US" sz="1800" b="1" dirty="0" smtClean="0">
                <a:latin typeface="宋体" panose="02010600030101010101" pitchFamily="2" charset="-122"/>
                <a:ea typeface="宋体" panose="02010600030101010101" pitchFamily="2" charset="-122"/>
              </a:rPr>
              <a:t>需要复制</a:t>
            </a:r>
            <a:r>
              <a:rPr lang="zh-CN" altLang="en-US" sz="1800" b="1" dirty="0">
                <a:latin typeface="宋体" panose="02010600030101010101" pitchFamily="2" charset="-122"/>
                <a:ea typeface="宋体" panose="02010600030101010101" pitchFamily="2" charset="-122"/>
              </a:rPr>
              <a:t>指令</a:t>
            </a:r>
            <a:endParaRPr lang="zh-CN" altLang="en-US" sz="1800" b="1" dirty="0">
              <a:latin typeface="宋体" panose="02010600030101010101" pitchFamily="2" charset="-122"/>
              <a:ea typeface="宋体" panose="02010600030101010101" pitchFamily="2" charset="-122"/>
            </a:endParaRPr>
          </a:p>
        </p:txBody>
      </p:sp>
      <p:sp>
        <p:nvSpPr>
          <p:cNvPr id="14" name="Rectangle 14"/>
          <p:cNvSpPr>
            <a:spLocks noChangeArrowheads="1"/>
          </p:cNvSpPr>
          <p:nvPr/>
        </p:nvSpPr>
        <p:spPr bwMode="auto">
          <a:xfrm>
            <a:off x="2699792" y="2780928"/>
            <a:ext cx="3671198" cy="701731"/>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800" b="1" dirty="0">
                <a:latin typeface="宋体" panose="02010600030101010101" pitchFamily="2" charset="-122"/>
                <a:ea typeface="宋体" panose="02010600030101010101" pitchFamily="2" charset="-122"/>
              </a:rPr>
              <a:t>被调度的指令必须</a:t>
            </a:r>
            <a:r>
              <a:rPr lang="zh-CN" altLang="en-US" sz="1800" b="1" dirty="0" smtClean="0">
                <a:latin typeface="宋体" panose="02010600030101010101" pitchFamily="2" charset="-122"/>
                <a:ea typeface="宋体" panose="02010600030101010101" pitchFamily="2" charset="-122"/>
              </a:rPr>
              <a:t>与条件转移指令</a:t>
            </a:r>
            <a:endParaRPr lang="en-US" altLang="zh-CN" sz="1800" b="1" dirty="0" smtClean="0">
              <a:latin typeface="宋体" panose="02010600030101010101" pitchFamily="2" charset="-122"/>
              <a:ea typeface="宋体" panose="02010600030101010101" pitchFamily="2" charset="-122"/>
            </a:endParaRPr>
          </a:p>
          <a:p>
            <a:r>
              <a:rPr lang="zh-CN" altLang="en-US" sz="1800" b="1" dirty="0" smtClean="0">
                <a:latin typeface="宋体" panose="02010600030101010101" pitchFamily="2" charset="-122"/>
                <a:ea typeface="宋体" panose="02010600030101010101" pitchFamily="2" charset="-122"/>
              </a:rPr>
              <a:t>无关</a:t>
            </a:r>
            <a:endParaRPr lang="zh-CN" altLang="en-US" sz="1800" b="1" dirty="0">
              <a:latin typeface="宋体" panose="02010600030101010101" pitchFamily="2" charset="-122"/>
              <a:ea typeface="宋体" panose="02010600030101010101" pitchFamily="2" charset="-122"/>
            </a:endParaRPr>
          </a:p>
        </p:txBody>
      </p:sp>
      <p:sp>
        <p:nvSpPr>
          <p:cNvPr id="15" name="Rectangle 15"/>
          <p:cNvSpPr>
            <a:spLocks noChangeArrowheads="1"/>
          </p:cNvSpPr>
          <p:nvPr/>
        </p:nvSpPr>
        <p:spPr bwMode="auto">
          <a:xfrm>
            <a:off x="2726630" y="5147519"/>
            <a:ext cx="3671198" cy="812530"/>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30000"/>
              </a:lnSpc>
            </a:pPr>
            <a:r>
              <a:rPr lang="zh-CN" altLang="en-US" sz="1800" b="1" dirty="0">
                <a:latin typeface="宋体" panose="02010600030101010101" pitchFamily="2" charset="-122"/>
                <a:ea typeface="宋体" panose="02010600030101010101" pitchFamily="2" charset="-122"/>
              </a:rPr>
              <a:t>必须保证</a:t>
            </a:r>
            <a:r>
              <a:rPr lang="zh-CN" altLang="en-US" sz="1800" b="1" dirty="0" smtClean="0">
                <a:latin typeface="宋体" panose="02010600030101010101" pitchFamily="2" charset="-122"/>
                <a:ea typeface="宋体" panose="02010600030101010101" pitchFamily="2" charset="-122"/>
              </a:rPr>
              <a:t>在成功转移时</a:t>
            </a:r>
            <a:r>
              <a:rPr lang="zh-CN" altLang="en-US" sz="1800" b="1" dirty="0">
                <a:latin typeface="宋体" panose="02010600030101010101" pitchFamily="2" charset="-122"/>
                <a:ea typeface="宋体" panose="02010600030101010101" pitchFamily="2" charset="-122"/>
              </a:rPr>
              <a:t>执行被调度</a:t>
            </a:r>
            <a:br>
              <a:rPr lang="zh-CN" altLang="en-US" sz="1800" b="1" dirty="0">
                <a:latin typeface="宋体" panose="02010600030101010101" pitchFamily="2" charset="-122"/>
                <a:ea typeface="宋体" panose="02010600030101010101" pitchFamily="2" charset="-122"/>
              </a:rPr>
            </a:br>
            <a:r>
              <a:rPr lang="zh-CN" altLang="en-US" sz="1800" b="1" dirty="0">
                <a:latin typeface="宋体" panose="02010600030101010101" pitchFamily="2" charset="-122"/>
                <a:ea typeface="宋体" panose="02010600030101010101" pitchFamily="2" charset="-122"/>
              </a:rPr>
              <a:t>的指令不会导致错误</a:t>
            </a:r>
            <a:endParaRPr lang="zh-CN" altLang="en-US" sz="1800" b="1" dirty="0">
              <a:latin typeface="宋体" panose="02010600030101010101" pitchFamily="2" charset="-122"/>
              <a:ea typeface="宋体" panose="02010600030101010101" pitchFamily="2" charset="-122"/>
            </a:endParaRPr>
          </a:p>
        </p:txBody>
      </p:sp>
      <p:sp>
        <p:nvSpPr>
          <p:cNvPr id="16" name="Rectangle 16"/>
          <p:cNvSpPr>
            <a:spLocks noChangeArrowheads="1"/>
          </p:cNvSpPr>
          <p:nvPr/>
        </p:nvSpPr>
        <p:spPr bwMode="auto">
          <a:xfrm>
            <a:off x="6993830" y="2924944"/>
            <a:ext cx="1114408" cy="369332"/>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800" b="1" dirty="0">
                <a:latin typeface="宋体" panose="02010600030101010101" pitchFamily="2" charset="-122"/>
                <a:ea typeface="宋体" panose="02010600030101010101" pitchFamily="2" charset="-122"/>
              </a:rPr>
              <a:t>任何情况</a:t>
            </a:r>
            <a:endParaRPr lang="zh-CN" altLang="en-US" sz="1800" b="1" dirty="0">
              <a:latin typeface="宋体" panose="02010600030101010101" pitchFamily="2" charset="-122"/>
              <a:ea typeface="宋体" panose="02010600030101010101" pitchFamily="2" charset="-122"/>
            </a:endParaRPr>
          </a:p>
        </p:txBody>
      </p:sp>
      <p:sp>
        <p:nvSpPr>
          <p:cNvPr id="17" name="Rectangle 17"/>
          <p:cNvSpPr>
            <a:spLocks noChangeArrowheads="1"/>
          </p:cNvSpPr>
          <p:nvPr/>
        </p:nvSpPr>
        <p:spPr bwMode="auto">
          <a:xfrm>
            <a:off x="6384230" y="3717032"/>
            <a:ext cx="2508250" cy="1477328"/>
          </a:xfrm>
          <a:prstGeom prst="rect">
            <a:avLst/>
          </a:prstGeom>
          <a:noFill/>
          <a:ln>
            <a:noFill/>
          </a:ln>
          <a:effectLst/>
          <a:extLst>
            <a:ext uri="{909E8E84-426E-40DD-AFC4-6F175D3DCCD1}">
              <a14:hiddenFill xmlns:a14="http://schemas.microsoft.com/office/drawing/2010/main">
                <a:solidFill>
                  <a:srgbClr val="F6ECC2"/>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20000"/>
              </a:lnSpc>
            </a:pPr>
            <a:r>
              <a:rPr lang="zh-CN" altLang="en-US" sz="1800" b="1" dirty="0" smtClean="0">
                <a:latin typeface="宋体" panose="02010600030101010101" pitchFamily="2" charset="-122"/>
                <a:ea typeface="宋体" panose="02010600030101010101" pitchFamily="2" charset="-122"/>
              </a:rPr>
              <a:t>成功转移时</a:t>
            </a:r>
            <a:endParaRPr lang="zh-CN" altLang="en-US" sz="1800" b="1" dirty="0">
              <a:latin typeface="宋体" panose="02010600030101010101" pitchFamily="2" charset="-122"/>
              <a:ea typeface="宋体" panose="02010600030101010101" pitchFamily="2" charset="-122"/>
            </a:endParaRPr>
          </a:p>
          <a:p>
            <a:pPr>
              <a:lnSpc>
                <a:spcPct val="120000"/>
              </a:lnSpc>
            </a:pPr>
            <a:r>
              <a:rPr lang="en-US" altLang="zh-CN" sz="1800" b="1" dirty="0">
                <a:latin typeface="宋体" panose="02010600030101010101" pitchFamily="2" charset="-122"/>
                <a:ea typeface="宋体" panose="02010600030101010101" pitchFamily="2" charset="-122"/>
              </a:rPr>
              <a:t>(</a:t>
            </a:r>
            <a:r>
              <a:rPr lang="zh-CN" altLang="en-US" sz="1800" b="1" dirty="0">
                <a:latin typeface="宋体" panose="02010600030101010101" pitchFamily="2" charset="-122"/>
                <a:ea typeface="宋体" panose="02010600030101010101" pitchFamily="2" charset="-122"/>
              </a:rPr>
              <a:t>但由于复制指令，有</a:t>
            </a:r>
            <a:br>
              <a:rPr lang="zh-CN" altLang="en-US" sz="1800" b="1" dirty="0">
                <a:latin typeface="宋体" panose="02010600030101010101" pitchFamily="2" charset="-122"/>
                <a:ea typeface="宋体" panose="02010600030101010101" pitchFamily="2" charset="-122"/>
              </a:rPr>
            </a:br>
            <a:r>
              <a:rPr lang="zh-CN" altLang="en-US" sz="1800" b="1" dirty="0">
                <a:latin typeface="宋体" panose="02010600030101010101" pitchFamily="2" charset="-122"/>
                <a:ea typeface="宋体" panose="02010600030101010101" pitchFamily="2" charset="-122"/>
              </a:rPr>
              <a:t>可能会增大程序空间</a:t>
            </a:r>
            <a:r>
              <a:rPr lang="en-US" altLang="zh-CN" sz="1800" b="1" dirty="0">
                <a:latin typeface="宋体" panose="02010600030101010101" pitchFamily="2" charset="-122"/>
                <a:ea typeface="宋体" panose="02010600030101010101" pitchFamily="2" charset="-122"/>
              </a:rPr>
              <a:t>)	</a:t>
            </a:r>
            <a:endParaRPr lang="en-US" altLang="zh-CN" sz="1800" b="1" dirty="0">
              <a:latin typeface="宋体" panose="02010600030101010101" pitchFamily="2" charset="-122"/>
              <a:ea typeface="宋体" panose="02010600030101010101" pitchFamily="2" charset="-122"/>
            </a:endParaRPr>
          </a:p>
        </p:txBody>
      </p:sp>
      <p:sp>
        <p:nvSpPr>
          <p:cNvPr id="18" name="Rectangle 18"/>
          <p:cNvSpPr>
            <a:spLocks noChangeArrowheads="1"/>
          </p:cNvSpPr>
          <p:nvPr/>
        </p:nvSpPr>
        <p:spPr bwMode="auto">
          <a:xfrm>
            <a:off x="6876256" y="5373216"/>
            <a:ext cx="1579278" cy="369332"/>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800" b="1" dirty="0" smtClean="0">
                <a:latin typeface="宋体" panose="02010600030101010101" pitchFamily="2" charset="-122"/>
                <a:ea typeface="宋体" panose="02010600030101010101" pitchFamily="2" charset="-122"/>
              </a:rPr>
              <a:t>不成功转移时</a:t>
            </a:r>
            <a:endParaRPr lang="zh-CN" altLang="en-US" sz="1800" b="1" dirty="0">
              <a:latin typeface="宋体" panose="02010600030101010101" pitchFamily="2" charset="-122"/>
              <a:ea typeface="宋体" panose="02010600030101010101" pitchFamily="2" charset="-122"/>
            </a:endParaRPr>
          </a:p>
        </p:txBody>
      </p:sp>
      <p:sp>
        <p:nvSpPr>
          <p:cNvPr id="19" name="Line 21"/>
          <p:cNvSpPr>
            <a:spLocks noChangeShapeType="1"/>
          </p:cNvSpPr>
          <p:nvPr/>
        </p:nvSpPr>
        <p:spPr bwMode="auto">
          <a:xfrm>
            <a:off x="859730" y="6273056"/>
            <a:ext cx="802005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 name="Line 22"/>
          <p:cNvSpPr>
            <a:spLocks noChangeShapeType="1"/>
          </p:cNvSpPr>
          <p:nvPr/>
        </p:nvSpPr>
        <p:spPr bwMode="auto">
          <a:xfrm>
            <a:off x="2650430" y="2158256"/>
            <a:ext cx="0" cy="411480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 name="Line 23"/>
          <p:cNvSpPr>
            <a:spLocks noChangeShapeType="1"/>
          </p:cNvSpPr>
          <p:nvPr/>
        </p:nvSpPr>
        <p:spPr bwMode="auto">
          <a:xfrm>
            <a:off x="6384230" y="2170956"/>
            <a:ext cx="0" cy="411480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 name="Line 9"/>
          <p:cNvSpPr>
            <a:spLocks noChangeShapeType="1"/>
          </p:cNvSpPr>
          <p:nvPr/>
        </p:nvSpPr>
        <p:spPr bwMode="auto">
          <a:xfrm>
            <a:off x="888305" y="4952256"/>
            <a:ext cx="7991475"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23" name="Line 24"/>
          <p:cNvSpPr>
            <a:spLocks noChangeShapeType="1"/>
          </p:cNvSpPr>
          <p:nvPr/>
        </p:nvSpPr>
        <p:spPr bwMode="auto">
          <a:xfrm>
            <a:off x="899418" y="2685306"/>
            <a:ext cx="7993062"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solidFill>
                <a:srgbClr val="0000FF"/>
              </a:solidFill>
            </a:endParaRPr>
          </a:p>
        </p:txBody>
      </p:sp>
      <p:sp>
        <p:nvSpPr>
          <p:cNvPr id="24" name="Line 25"/>
          <p:cNvSpPr>
            <a:spLocks noChangeShapeType="1"/>
          </p:cNvSpPr>
          <p:nvPr/>
        </p:nvSpPr>
        <p:spPr bwMode="auto">
          <a:xfrm>
            <a:off x="899418" y="3548906"/>
            <a:ext cx="7993062"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p>
        </p:txBody>
      </p:sp>
      <p:sp>
        <p:nvSpPr>
          <p:cNvPr id="25"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6</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dirty="0"/>
              <a:t>指令取消技术</a:t>
            </a:r>
            <a:endParaRPr lang="zh-CN" altLang="en-US" dirty="0" smtClean="0"/>
          </a:p>
        </p:txBody>
      </p:sp>
      <p:sp>
        <p:nvSpPr>
          <p:cNvPr id="2" name="内容占位符 1"/>
          <p:cNvSpPr>
            <a:spLocks noGrp="1"/>
          </p:cNvSpPr>
          <p:nvPr>
            <p:ph idx="1"/>
          </p:nvPr>
        </p:nvSpPr>
        <p:spPr/>
        <p:txBody>
          <a:bodyPr/>
          <a:lstStyle/>
          <a:p>
            <a:pPr>
              <a:lnSpc>
                <a:spcPct val="125000"/>
              </a:lnSpc>
            </a:pPr>
            <a:r>
              <a:rPr lang="zh-CN" altLang="en-US" sz="2400" dirty="0" smtClean="0"/>
              <a:t>延迟转移技术受到</a:t>
            </a:r>
            <a:r>
              <a:rPr lang="zh-CN" altLang="en-US" sz="2400" dirty="0"/>
              <a:t>两个方面的</a:t>
            </a:r>
            <a:r>
              <a:rPr lang="zh-CN" altLang="en-US" sz="2400" dirty="0">
                <a:solidFill>
                  <a:srgbClr val="FF0000"/>
                </a:solidFill>
              </a:rPr>
              <a:t>限制</a:t>
            </a:r>
            <a:r>
              <a:rPr lang="zh-CN" altLang="en-US" sz="2400" dirty="0"/>
              <a:t>：</a:t>
            </a:r>
            <a:endParaRPr lang="zh-CN" altLang="en-US" sz="2400" dirty="0"/>
          </a:p>
          <a:p>
            <a:pPr lvl="1">
              <a:lnSpc>
                <a:spcPct val="125000"/>
              </a:lnSpc>
            </a:pPr>
            <a:r>
              <a:rPr lang="zh-CN" altLang="en-US" sz="2400" dirty="0"/>
              <a:t>可以被放入延迟槽中的指令要满足一定的</a:t>
            </a:r>
            <a:r>
              <a:rPr lang="zh-CN" altLang="en-US" sz="2400" dirty="0" smtClean="0">
                <a:solidFill>
                  <a:srgbClr val="0000FF"/>
                </a:solidFill>
              </a:rPr>
              <a:t>条件</a:t>
            </a:r>
            <a:endParaRPr lang="zh-CN" altLang="en-US" sz="2400" dirty="0">
              <a:solidFill>
                <a:srgbClr val="0000FF"/>
              </a:solidFill>
            </a:endParaRPr>
          </a:p>
          <a:p>
            <a:pPr lvl="1">
              <a:lnSpc>
                <a:spcPct val="125000"/>
              </a:lnSpc>
            </a:pPr>
            <a:r>
              <a:rPr lang="zh-CN" altLang="en-US" sz="2400" dirty="0"/>
              <a:t>编译器</a:t>
            </a:r>
            <a:r>
              <a:rPr lang="zh-CN" altLang="en-US" sz="2400" dirty="0">
                <a:solidFill>
                  <a:srgbClr val="0000FF"/>
                </a:solidFill>
              </a:rPr>
              <a:t>预测</a:t>
            </a:r>
            <a:r>
              <a:rPr lang="zh-CN" altLang="en-US" sz="2400" dirty="0"/>
              <a:t>分支转移方向的</a:t>
            </a:r>
            <a:r>
              <a:rPr lang="zh-CN" altLang="en-US" sz="2400" dirty="0" smtClean="0">
                <a:solidFill>
                  <a:srgbClr val="0000FF"/>
                </a:solidFill>
              </a:rPr>
              <a:t>能力</a:t>
            </a:r>
            <a:endParaRPr lang="zh-CN" altLang="en-US" sz="2400" dirty="0">
              <a:solidFill>
                <a:srgbClr val="0000FF"/>
              </a:solidFill>
            </a:endParaRPr>
          </a:p>
          <a:p>
            <a:pPr>
              <a:lnSpc>
                <a:spcPct val="125000"/>
              </a:lnSpc>
            </a:pPr>
            <a:r>
              <a:rPr lang="zh-CN" altLang="en-US" sz="2400" dirty="0"/>
              <a:t>进一步改进</a:t>
            </a:r>
            <a:r>
              <a:rPr lang="zh-CN" altLang="en-US" sz="2400" dirty="0" smtClean="0"/>
              <a:t>：</a:t>
            </a:r>
            <a:r>
              <a:rPr lang="zh-CN" altLang="en-US" sz="2400" dirty="0" smtClean="0">
                <a:solidFill>
                  <a:srgbClr val="FF0000"/>
                </a:solidFill>
              </a:rPr>
              <a:t>指令取消技术</a:t>
            </a:r>
            <a:endParaRPr lang="zh-CN" altLang="en-US" sz="2400" dirty="0">
              <a:solidFill>
                <a:srgbClr val="FF0000"/>
              </a:solidFill>
            </a:endParaRPr>
          </a:p>
          <a:p>
            <a:pPr marL="0" indent="0">
              <a:lnSpc>
                <a:spcPct val="125000"/>
              </a:lnSpc>
              <a:buNone/>
            </a:pPr>
            <a:r>
              <a:rPr lang="zh-CN" altLang="en-US" sz="2400" dirty="0" smtClean="0"/>
              <a:t>    当条件转移指令的</a:t>
            </a:r>
            <a:r>
              <a:rPr lang="zh-CN" altLang="en-US" sz="2400" dirty="0"/>
              <a:t>实际执行方向和事先所预测的一样时</a:t>
            </a:r>
            <a:r>
              <a:rPr lang="zh-CN" altLang="en-US" sz="2400" dirty="0" smtClean="0"/>
              <a:t>，执行延迟</a:t>
            </a:r>
            <a:r>
              <a:rPr lang="zh-CN" altLang="en-US" sz="2400" dirty="0"/>
              <a:t>槽中的指令，否则就</a:t>
            </a:r>
            <a:r>
              <a:rPr lang="zh-CN" altLang="en-US" sz="2400" dirty="0" smtClean="0"/>
              <a:t>将延迟</a:t>
            </a:r>
            <a:r>
              <a:rPr lang="zh-CN" altLang="en-US" sz="2400" dirty="0"/>
              <a:t>槽中</a:t>
            </a:r>
            <a:r>
              <a:rPr lang="zh-CN" altLang="en-US" sz="2400" dirty="0" smtClean="0"/>
              <a:t>的指令</a:t>
            </a:r>
            <a:r>
              <a:rPr lang="zh-CN" altLang="en-US" sz="2400" dirty="0"/>
              <a:t>转化成一个</a:t>
            </a:r>
            <a:r>
              <a:rPr lang="zh-CN" altLang="en-US" sz="2400" dirty="0">
                <a:solidFill>
                  <a:srgbClr val="0000FF"/>
                </a:solidFill>
              </a:rPr>
              <a:t>空操作</a:t>
            </a:r>
            <a:r>
              <a:rPr lang="zh-CN" altLang="en-US" sz="2400" dirty="0" smtClean="0"/>
              <a:t>。</a:t>
            </a:r>
            <a:endParaRPr lang="zh-CN" altLang="en-US" sz="2400" dirty="0"/>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endParaRPr lang="zh-CN" altLang="en-US" sz="1200" b="0">
              <a:latin typeface="Times New Roman" panose="02020603050405020304" pitchFamily="18" charset="0"/>
              <a:ea typeface="幼圆" panose="02010509060101010101" pitchFamily="49" charset="-122"/>
            </a:endParaRPr>
          </a:p>
        </p:txBody>
      </p:sp>
      <p:sp>
        <p:nvSpPr>
          <p:cNvPr id="25"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7</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noChangeArrowheads="1"/>
          </p:cNvSpPr>
          <p:nvPr/>
        </p:nvSpPr>
        <p:spPr bwMode="auto">
          <a:xfrm>
            <a:off x="1277920" y="4701751"/>
            <a:ext cx="7759700" cy="457200"/>
          </a:xfrm>
          <a:prstGeom prst="rect">
            <a:avLst/>
          </a:prstGeom>
          <a:solidFill>
            <a:srgbClr val="F5EABB"/>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aphicFrame>
        <p:nvGraphicFramePr>
          <p:cNvPr id="7" name="Group 178"/>
          <p:cNvGraphicFramePr>
            <a:graphicFrameLocks noGrp="1"/>
          </p:cNvGraphicFramePr>
          <p:nvPr/>
        </p:nvGraphicFramePr>
        <p:xfrm>
          <a:off x="683568" y="4293096"/>
          <a:ext cx="8353425" cy="2133600"/>
        </p:xfrm>
        <a:graphic>
          <a:graphicData uri="http://schemas.openxmlformats.org/drawingml/2006/table">
            <a:tbl>
              <a:tblPr/>
              <a:tblGrid>
                <a:gridCol w="595312"/>
                <a:gridCol w="2212975"/>
                <a:gridCol w="503238"/>
                <a:gridCol w="504825"/>
                <a:gridCol w="719137"/>
                <a:gridCol w="720725"/>
                <a:gridCol w="719138"/>
                <a:gridCol w="720725"/>
                <a:gridCol w="576262"/>
                <a:gridCol w="576263"/>
                <a:gridCol w="504825"/>
              </a:tblGrid>
              <a:tr h="420688">
                <a:tc rowSpan="5">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0000FF"/>
                          </a:solidFill>
                          <a:effectLst/>
                          <a:latin typeface="宋体" panose="02010600030101010101" pitchFamily="2" charset="-122"/>
                          <a:ea typeface="宋体" panose="02010600030101010101" pitchFamily="2" charset="-122"/>
                        </a:rPr>
                        <a:t>预测失败</a:t>
                      </a:r>
                      <a:endParaRPr kumimoji="1" lang="zh-CN" altLang="en-US" sz="2000" b="1" i="0" u="none" strike="noStrike" cap="none" normalizeH="0" baseline="0" dirty="0" smtClean="0">
                        <a:ln>
                          <a:noFill/>
                        </a:ln>
                        <a:solidFill>
                          <a:srgbClr val="0000FF"/>
                        </a:solidFill>
                        <a:effectLst/>
                        <a:latin typeface="宋体" panose="02010600030101010101" pitchFamily="2" charset="-122"/>
                        <a:ea typeface="宋体" panose="02010600030101010101"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条件转移指令</a:t>
                      </a:r>
                      <a:r>
                        <a:rPr kumimoji="1" lang="en-US" altLang="zh-CN" sz="2000" b="1" i="0" u="none" strike="noStrike" cap="none" normalizeH="0" baseline="0" dirty="0" err="1" smtClean="0">
                          <a:ln>
                            <a:noFill/>
                          </a:ln>
                          <a:solidFill>
                            <a:srgbClr val="E24C05"/>
                          </a:solidFill>
                          <a:effectLst/>
                          <a:latin typeface="宋体" panose="02010600030101010101" pitchFamily="2" charset="-122"/>
                          <a:ea typeface="宋体" panose="02010600030101010101" pitchFamily="2" charset="-122"/>
                        </a:rPr>
                        <a:t>i</a:t>
                      </a:r>
                      <a:r>
                        <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 </a:t>
                      </a:r>
                      <a:endPar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8463">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rgbClr val="D60093"/>
                          </a:solidFill>
                          <a:effectLst/>
                          <a:latin typeface="宋体" panose="02010600030101010101" pitchFamily="2" charset="-122"/>
                          <a:ea typeface="宋体" panose="02010600030101010101" pitchFamily="2" charset="-122"/>
                        </a:rPr>
                        <a:t>延迟槽指令 </a:t>
                      </a:r>
                      <a:r>
                        <a:rPr kumimoji="1" lang="en-US" altLang="zh-CN" sz="2000" b="1" i="0" u="none" strike="noStrike" cap="none" normalizeH="0" baseline="0" smtClean="0">
                          <a:ln>
                            <a:noFill/>
                          </a:ln>
                          <a:solidFill>
                            <a:srgbClr val="D60093"/>
                          </a:solidFill>
                          <a:effectLst/>
                          <a:latin typeface="宋体" panose="02010600030101010101" pitchFamily="2" charset="-122"/>
                          <a:ea typeface="宋体" panose="02010600030101010101" pitchFamily="2" charset="-122"/>
                        </a:rPr>
                        <a:t>i+1</a:t>
                      </a:r>
                      <a:r>
                        <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 </a:t>
                      </a:r>
                      <a:endPar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3300"/>
                          </a:solidFill>
                          <a:effectLst/>
                          <a:latin typeface="宋体" panose="02010600030101010101" pitchFamily="2" charset="-122"/>
                          <a:ea typeface="宋体" panose="02010600030101010101" pitchFamily="2" charset="-122"/>
                        </a:rPr>
                        <a:t>idle</a:t>
                      </a:r>
                      <a:r>
                        <a:rPr kumimoji="1" lang="en-US" altLang="zh-CN" sz="2000" b="0" i="0" u="none" strike="noStrike" cap="none" normalizeH="0" baseline="0" smtClean="0">
                          <a:ln>
                            <a:noFill/>
                          </a:ln>
                          <a:solidFill>
                            <a:srgbClr val="E24C05"/>
                          </a:solidFill>
                          <a:effectLst/>
                          <a:latin typeface="Tahoma" panose="020B0604030504040204" pitchFamily="34" charset="0"/>
                          <a:ea typeface="黑体" panose="02010609060101010101" pitchFamily="2" charset="-122"/>
                        </a:rPr>
                        <a:t> </a:t>
                      </a: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3300"/>
                          </a:solidFill>
                          <a:effectLst/>
                          <a:latin typeface="宋体" panose="02010600030101010101" pitchFamily="2" charset="-122"/>
                          <a:ea typeface="宋体" panose="02010600030101010101" pitchFamily="2" charset="-122"/>
                        </a:rPr>
                        <a:t>idle </a:t>
                      </a:r>
                      <a:endParaRPr kumimoji="1" lang="en-US" altLang="zh-CN" sz="2000" b="1" i="0" u="none" strike="noStrike" cap="none" normalizeH="0" baseline="0" smtClean="0">
                        <a:ln>
                          <a:noFill/>
                        </a:ln>
                        <a:solidFill>
                          <a:srgbClr val="FF3300"/>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3300"/>
                          </a:solidFill>
                          <a:effectLst/>
                          <a:latin typeface="宋体" panose="02010600030101010101" pitchFamily="2" charset="-122"/>
                          <a:ea typeface="宋体" panose="02010600030101010101" pitchFamily="2" charset="-122"/>
                        </a:rPr>
                        <a:t>idle </a:t>
                      </a:r>
                      <a:endParaRPr kumimoji="1" lang="en-US" altLang="zh-CN" sz="2000" b="1" i="0" u="none" strike="noStrike" cap="none" normalizeH="0" baseline="0" smtClean="0">
                        <a:ln>
                          <a:noFill/>
                        </a:ln>
                        <a:solidFill>
                          <a:srgbClr val="FF3300"/>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3300"/>
                          </a:solidFill>
                          <a:effectLst/>
                          <a:latin typeface="宋体" panose="02010600030101010101" pitchFamily="2" charset="-122"/>
                          <a:ea typeface="宋体" panose="02010600030101010101" pitchFamily="2" charset="-122"/>
                        </a:rPr>
                        <a:t>idle</a:t>
                      </a:r>
                      <a:endParaRPr kumimoji="1" lang="en-US" altLang="zh-CN" sz="2000" b="1" i="0" u="none" strike="noStrike" cap="none" normalizeH="0" baseline="0" smtClean="0">
                        <a:ln>
                          <a:noFill/>
                        </a:ln>
                        <a:solidFill>
                          <a:srgbClr val="FF3300"/>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6875">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指令 </a:t>
                      </a:r>
                      <a:r>
                        <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i+2 </a:t>
                      </a:r>
                      <a:endPar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8463">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指令 </a:t>
                      </a:r>
                      <a:r>
                        <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i+3 </a:t>
                      </a:r>
                      <a:endPar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8463">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指令 </a:t>
                      </a:r>
                      <a:r>
                        <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i+4 </a:t>
                      </a:r>
                      <a:endPar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6" name="Rectangle 5"/>
          <p:cNvSpPr>
            <a:spLocks noChangeArrowheads="1"/>
          </p:cNvSpPr>
          <p:nvPr/>
        </p:nvSpPr>
        <p:spPr bwMode="auto">
          <a:xfrm>
            <a:off x="1279146" y="2383239"/>
            <a:ext cx="7747000" cy="419100"/>
          </a:xfrm>
          <a:prstGeom prst="rect">
            <a:avLst/>
          </a:prstGeom>
          <a:solidFill>
            <a:srgbClr val="F5EABB"/>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aphicFrame>
        <p:nvGraphicFramePr>
          <p:cNvPr id="8" name="Group 76"/>
          <p:cNvGraphicFramePr>
            <a:graphicFrameLocks noGrp="1"/>
          </p:cNvGraphicFramePr>
          <p:nvPr/>
        </p:nvGraphicFramePr>
        <p:xfrm>
          <a:off x="683568" y="1916832"/>
          <a:ext cx="8351837" cy="2217420"/>
        </p:xfrm>
        <a:graphic>
          <a:graphicData uri="http://schemas.openxmlformats.org/drawingml/2006/table">
            <a:tbl>
              <a:tblPr/>
              <a:tblGrid>
                <a:gridCol w="595312"/>
                <a:gridCol w="2386013"/>
                <a:gridCol w="598487"/>
                <a:gridCol w="596900"/>
                <a:gridCol w="595313"/>
                <a:gridCol w="598487"/>
                <a:gridCol w="595313"/>
                <a:gridCol w="595312"/>
                <a:gridCol w="596900"/>
                <a:gridCol w="598488"/>
                <a:gridCol w="595312"/>
              </a:tblGrid>
              <a:tr h="447675">
                <a:tc rowSpan="5">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0000FF"/>
                          </a:solidFill>
                          <a:effectLst/>
                          <a:latin typeface="宋体" panose="02010600030101010101" pitchFamily="2" charset="-122"/>
                          <a:ea typeface="宋体" panose="02010600030101010101" pitchFamily="2" charset="-122"/>
                        </a:rPr>
                        <a:t>预测成功</a:t>
                      </a:r>
                      <a:endParaRPr kumimoji="1" lang="zh-CN" altLang="en-US" sz="2000" b="1" i="0" u="none" strike="noStrike" cap="none" normalizeH="0" baseline="0" dirty="0" smtClean="0">
                        <a:ln>
                          <a:noFill/>
                        </a:ln>
                        <a:solidFill>
                          <a:srgbClr val="0000FF"/>
                        </a:solidFill>
                        <a:effectLst/>
                        <a:latin typeface="宋体" panose="02010600030101010101" pitchFamily="2" charset="-122"/>
                        <a:ea typeface="宋体" panose="02010600030101010101"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条件转移指令</a:t>
                      </a:r>
                      <a:r>
                        <a:rPr kumimoji="1" lang="en-US" altLang="zh-CN" sz="2000" b="1" i="0" u="none" strike="noStrike" cap="none" normalizeH="0" baseline="0" dirty="0" err="1" smtClean="0">
                          <a:ln>
                            <a:noFill/>
                          </a:ln>
                          <a:solidFill>
                            <a:srgbClr val="E24C05"/>
                          </a:solidFill>
                          <a:effectLst/>
                          <a:latin typeface="宋体" panose="02010600030101010101" pitchFamily="2" charset="-122"/>
                          <a:ea typeface="宋体" panose="02010600030101010101" pitchFamily="2" charset="-122"/>
                        </a:rPr>
                        <a:t>i</a:t>
                      </a:r>
                      <a:r>
                        <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 </a:t>
                      </a:r>
                      <a:endPar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7675">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D60093"/>
                          </a:solidFill>
                          <a:effectLst/>
                          <a:latin typeface="宋体" panose="02010600030101010101" pitchFamily="2" charset="-122"/>
                          <a:ea typeface="宋体" panose="02010600030101010101" pitchFamily="2" charset="-122"/>
                        </a:rPr>
                        <a:t>延迟槽指令 </a:t>
                      </a:r>
                      <a:r>
                        <a:rPr kumimoji="1" lang="en-US" altLang="zh-CN" sz="2000" b="1" i="0" u="none" strike="noStrike" cap="none" normalizeH="0" baseline="0" dirty="0" smtClean="0">
                          <a:ln>
                            <a:noFill/>
                          </a:ln>
                          <a:solidFill>
                            <a:srgbClr val="D60093"/>
                          </a:solidFill>
                          <a:effectLst/>
                          <a:latin typeface="宋体" panose="02010600030101010101" pitchFamily="2" charset="-122"/>
                          <a:ea typeface="宋体" panose="02010600030101010101" pitchFamily="2" charset="-122"/>
                        </a:rPr>
                        <a:t>i+1</a:t>
                      </a:r>
                      <a:r>
                        <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 </a:t>
                      </a:r>
                      <a:endPar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7675">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分支目标指令</a:t>
                      </a:r>
                      <a:r>
                        <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j </a:t>
                      </a:r>
                      <a:endPar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7675">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分支目标指令</a:t>
                      </a:r>
                      <a:r>
                        <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j+1 </a:t>
                      </a:r>
                      <a:endParaRPr kumimoji="1" lang="en-US" altLang="zh-CN" sz="20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98450">
                <a:tc vMerge="1">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分支目标指令</a:t>
                      </a:r>
                      <a:r>
                        <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rPr>
                        <a:t>j+2</a:t>
                      </a:r>
                      <a:endParaRPr kumimoji="1" lang="en-US" altLang="zh-CN" sz="2000" b="1" i="0" u="none" strike="noStrike" cap="none" normalizeH="0" baseline="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endParaRPr kumimoji="1" lang="zh-CN"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IF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ID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EX </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MEM</a:t>
                      </a:r>
                      <a:endParaRPr kumimoji="1" lang="en-US" altLang="zh-CN" sz="20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1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1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1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1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1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rPr>
                        <a:t>WB</a:t>
                      </a:r>
                      <a:endParaRPr kumimoji="1" lang="en-US" altLang="zh-CN" sz="20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714754" name="Rectangle 2"/>
          <p:cNvSpPr>
            <a:spLocks noGrp="1" noChangeArrowheads="1"/>
          </p:cNvSpPr>
          <p:nvPr>
            <p:ph type="title"/>
          </p:nvPr>
        </p:nvSpPr>
        <p:spPr/>
        <p:txBody>
          <a:bodyPr/>
          <a:lstStyle/>
          <a:p>
            <a:pPr eaLnBrk="1" hangingPunct="1">
              <a:defRPr/>
            </a:pPr>
            <a:r>
              <a:rPr lang="zh-CN" altLang="en-US" sz="4400" dirty="0" smtClean="0"/>
              <a:t>例</a:t>
            </a:r>
            <a:r>
              <a:rPr lang="en-US" altLang="zh-CN" sz="4400" dirty="0" smtClean="0"/>
              <a:t>:</a:t>
            </a:r>
            <a:r>
              <a:rPr lang="zh-CN" altLang="en-US" sz="4400" dirty="0" smtClean="0"/>
              <a:t>预测成功转移下的指令取消技术</a:t>
            </a:r>
            <a:endParaRPr lang="zh-CN" altLang="en-US" sz="4400" dirty="0" smtClean="0"/>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endParaRPr lang="zh-CN" altLang="en-US" sz="1200" b="0">
              <a:latin typeface="Times New Roman" panose="02020603050405020304" pitchFamily="18" charset="0"/>
              <a:ea typeface="幼圆" panose="02010509060101010101" pitchFamily="49" charset="-122"/>
            </a:endParaRPr>
          </a:p>
        </p:txBody>
      </p:sp>
      <p:sp>
        <p:nvSpPr>
          <p:cNvPr id="9"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8</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5778" name="Rectangle 2"/>
          <p:cNvSpPr>
            <a:spLocks noGrp="1" noChangeArrowheads="1"/>
          </p:cNvSpPr>
          <p:nvPr>
            <p:ph type="title"/>
          </p:nvPr>
        </p:nvSpPr>
        <p:spPr/>
        <p:txBody>
          <a:bodyPr/>
          <a:lstStyle/>
          <a:p>
            <a:pPr eaLnBrk="1" hangingPunct="1">
              <a:defRPr/>
            </a:pPr>
            <a:r>
              <a:rPr lang="zh-CN" altLang="en-US" dirty="0" smtClean="0"/>
              <a:t>动态预测</a:t>
            </a:r>
            <a:endParaRPr lang="zh-CN" altLang="en-US" dirty="0" smtClean="0"/>
          </a:p>
        </p:txBody>
      </p:sp>
      <p:sp>
        <p:nvSpPr>
          <p:cNvPr id="17101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endParaRPr lang="zh-CN" altLang="en-US" sz="1200" b="0">
              <a:latin typeface="Times New Roman" panose="02020603050405020304" pitchFamily="18" charset="0"/>
              <a:ea typeface="幼圆" panose="02010509060101010101" pitchFamily="49" charset="-122"/>
            </a:endParaRPr>
          </a:p>
        </p:txBody>
      </p:sp>
      <p:sp>
        <p:nvSpPr>
          <p:cNvPr id="171012" name="Rectangle 8"/>
          <p:cNvSpPr>
            <a:spLocks noGrp="1" noChangeArrowheads="1"/>
          </p:cNvSpPr>
          <p:nvPr>
            <p:ph type="body" idx="1"/>
          </p:nvPr>
        </p:nvSpPr>
        <p:spPr>
          <a:xfrm>
            <a:off x="2590800" y="2305050"/>
            <a:ext cx="3733800" cy="3613150"/>
          </a:xfrm>
        </p:spPr>
        <p:txBody>
          <a:bodyPr/>
          <a:lstStyle/>
          <a:p>
            <a:pPr eaLnBrk="1" hangingPunct="1">
              <a:lnSpc>
                <a:spcPct val="150000"/>
              </a:lnSpc>
            </a:pPr>
            <a:r>
              <a:rPr lang="zh-CN" altLang="en-US" dirty="0" smtClean="0">
                <a:hlinkClick r:id="rId6" action="ppaction://hlinksldjump"/>
              </a:rPr>
              <a:t>转移预测缓冲器</a:t>
            </a:r>
            <a:endParaRPr lang="zh-CN" altLang="en-US" dirty="0" smtClean="0"/>
          </a:p>
          <a:p>
            <a:pPr eaLnBrk="1" hangingPunct="1">
              <a:lnSpc>
                <a:spcPct val="150000"/>
              </a:lnSpc>
            </a:pPr>
            <a:r>
              <a:rPr lang="zh-CN" altLang="en-US" dirty="0" smtClean="0">
                <a:hlinkClick r:id="rId7" action="ppaction://hlinksldjump"/>
              </a:rPr>
              <a:t>相关转移预测器</a:t>
            </a:r>
            <a:endParaRPr lang="zh-CN" altLang="en-US" dirty="0" smtClean="0"/>
          </a:p>
          <a:p>
            <a:pPr eaLnBrk="1" hangingPunct="1">
              <a:lnSpc>
                <a:spcPct val="150000"/>
              </a:lnSpc>
            </a:pPr>
            <a:r>
              <a:rPr lang="zh-CN" altLang="en-US" dirty="0" smtClean="0">
                <a:hlinkClick r:id="rId8" action="ppaction://hlinksldjump"/>
              </a:rPr>
              <a:t>自适应预测器</a:t>
            </a:r>
            <a:endParaRPr lang="zh-CN" altLang="en-US" dirty="0" smtClean="0"/>
          </a:p>
          <a:p>
            <a:pPr eaLnBrk="1" hangingPunct="1">
              <a:lnSpc>
                <a:spcPct val="150000"/>
              </a:lnSpc>
            </a:pPr>
            <a:r>
              <a:rPr lang="zh-CN" altLang="en-US" dirty="0" smtClean="0">
                <a:hlinkClick r:id="rId9" action="ppaction://hlinksldjump"/>
              </a:rPr>
              <a:t>分支目标缓冲器</a:t>
            </a:r>
            <a:endParaRPr lang="zh-CN" altLang="en-US" dirty="0" smtClean="0"/>
          </a:p>
        </p:txBody>
      </p:sp>
    </p:spTree>
  </p:cSld>
  <p:clrMapOvr>
    <a:masterClrMapping/>
  </p:clrMapOvr>
  <p:transition spd="slow">
    <p:random/>
    <p:sndAc>
      <p:stSnd>
        <p:snd r:embed="rId10" name="projctor.wav"/>
      </p:stSnd>
    </p:sndAc>
  </p:transition>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3234" name="Rectangle 2"/>
          <p:cNvSpPr>
            <a:spLocks noGrp="1" noChangeArrowheads="1"/>
          </p:cNvSpPr>
          <p:nvPr>
            <p:ph type="title"/>
          </p:nvPr>
        </p:nvSpPr>
        <p:spPr/>
        <p:txBody>
          <a:bodyPr/>
          <a:lstStyle/>
          <a:p>
            <a:pPr eaLnBrk="1" hangingPunct="1">
              <a:defRPr/>
            </a:pPr>
            <a:r>
              <a:rPr lang="zh-CN" altLang="en-US" dirty="0" smtClean="0"/>
              <a:t>转移预测缓冲器</a:t>
            </a:r>
            <a:endParaRPr lang="zh-CN" altLang="en-US" dirty="0" smtClean="0"/>
          </a:p>
        </p:txBody>
      </p:sp>
      <p:sp>
        <p:nvSpPr>
          <p:cNvPr id="17203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endParaRPr lang="zh-CN" altLang="en-US" sz="1200" b="0">
              <a:latin typeface="Times New Roman" panose="02020603050405020304" pitchFamily="18" charset="0"/>
              <a:ea typeface="幼圆" panose="02010509060101010101" pitchFamily="49" charset="-122"/>
            </a:endParaRPr>
          </a:p>
        </p:txBody>
      </p:sp>
      <p:sp>
        <p:nvSpPr>
          <p:cNvPr id="172036" name="Rectangle 5"/>
          <p:cNvSpPr>
            <a:spLocks noGrp="1" noChangeArrowheads="1"/>
          </p:cNvSpPr>
          <p:nvPr>
            <p:ph type="body" idx="1"/>
          </p:nvPr>
        </p:nvSpPr>
        <p:spPr>
          <a:xfrm>
            <a:off x="2209800" y="2144713"/>
            <a:ext cx="4191000" cy="4237037"/>
          </a:xfrm>
        </p:spPr>
        <p:txBody>
          <a:bodyPr/>
          <a:lstStyle/>
          <a:p>
            <a:pPr eaLnBrk="1" hangingPunct="1">
              <a:lnSpc>
                <a:spcPct val="150000"/>
              </a:lnSpc>
            </a:pPr>
            <a:r>
              <a:rPr lang="zh-CN" altLang="en-US" smtClean="0">
                <a:hlinkClick r:id="rId7" action="ppaction://hlinksldjump"/>
              </a:rPr>
              <a:t>思想</a:t>
            </a:r>
            <a:endParaRPr lang="zh-CN" altLang="en-US" smtClean="0"/>
          </a:p>
          <a:p>
            <a:pPr eaLnBrk="1" hangingPunct="1">
              <a:lnSpc>
                <a:spcPct val="150000"/>
              </a:lnSpc>
            </a:pPr>
            <a:r>
              <a:rPr lang="zh-CN" altLang="en-US" smtClean="0"/>
              <a:t>实现</a:t>
            </a:r>
            <a:endParaRPr lang="zh-CN" altLang="en-US" smtClean="0"/>
          </a:p>
          <a:p>
            <a:pPr lvl="1" eaLnBrk="1" hangingPunct="1">
              <a:lnSpc>
                <a:spcPct val="150000"/>
              </a:lnSpc>
            </a:pPr>
            <a:r>
              <a:rPr lang="zh-CN" altLang="en-US" smtClean="0">
                <a:hlinkClick r:id="rId8" action="ppaction://hlinksldjump"/>
              </a:rPr>
              <a:t>1</a:t>
            </a:r>
            <a:r>
              <a:rPr lang="en-US" altLang="zh-CN" smtClean="0">
                <a:hlinkClick r:id="rId8" action="ppaction://hlinksldjump"/>
              </a:rPr>
              <a:t>bit</a:t>
            </a:r>
            <a:r>
              <a:rPr lang="zh-CN" altLang="en-US" smtClean="0">
                <a:hlinkClick r:id="rId8" action="ppaction://hlinksldjump"/>
              </a:rPr>
              <a:t>转移预测缓冲器</a:t>
            </a:r>
            <a:endParaRPr lang="zh-CN" altLang="en-US" smtClean="0"/>
          </a:p>
          <a:p>
            <a:pPr lvl="1" eaLnBrk="1" hangingPunct="1">
              <a:lnSpc>
                <a:spcPct val="150000"/>
              </a:lnSpc>
            </a:pPr>
            <a:r>
              <a:rPr lang="zh-CN" altLang="en-US" smtClean="0">
                <a:hlinkClick r:id="rId9" action="ppaction://hlinksldjump"/>
              </a:rPr>
              <a:t>2</a:t>
            </a:r>
            <a:r>
              <a:rPr lang="en-US" altLang="zh-CN" smtClean="0">
                <a:hlinkClick r:id="rId9" action="ppaction://hlinksldjump"/>
              </a:rPr>
              <a:t>bit</a:t>
            </a:r>
            <a:r>
              <a:rPr lang="zh-CN" altLang="en-US" smtClean="0">
                <a:hlinkClick r:id="rId9" action="ppaction://hlinksldjump"/>
              </a:rPr>
              <a:t>转移预测缓冲器</a:t>
            </a:r>
            <a:endParaRPr lang="zh-CN" altLang="en-US" smtClean="0"/>
          </a:p>
          <a:p>
            <a:pPr eaLnBrk="1" hangingPunct="1">
              <a:lnSpc>
                <a:spcPct val="150000"/>
              </a:lnSpc>
            </a:pPr>
            <a:r>
              <a:rPr lang="zh-CN" altLang="en-US" smtClean="0">
                <a:hlinkClick r:id="rId10" action="ppaction://hlinksldjump"/>
              </a:rPr>
              <a:t>性能</a:t>
            </a:r>
            <a:endParaRPr lang="zh-CN" altLang="en-US" smtClean="0"/>
          </a:p>
        </p:txBody>
      </p:sp>
    </p:spTree>
  </p:cSld>
  <p:clrMapOvr>
    <a:masterClrMapping/>
  </p:clrMapOvr>
  <p:transition spd="slow">
    <p:random/>
    <p:sndAc>
      <p:stSnd>
        <p:snd r:embed="rId11" name="projctor.wav"/>
      </p:stSnd>
    </p:sndAc>
  </p:transition>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7330" name="Rectangle 2"/>
          <p:cNvSpPr>
            <a:spLocks noGrp="1" noChangeArrowheads="1"/>
          </p:cNvSpPr>
          <p:nvPr>
            <p:ph type="title"/>
          </p:nvPr>
        </p:nvSpPr>
        <p:spPr/>
        <p:txBody>
          <a:bodyPr/>
          <a:lstStyle/>
          <a:p>
            <a:pPr eaLnBrk="1" hangingPunct="1">
              <a:defRPr/>
            </a:pPr>
            <a:r>
              <a:rPr lang="zh-CN" altLang="en-US" smtClean="0"/>
              <a:t>思  想</a:t>
            </a:r>
            <a:endParaRPr lang="zh-CN" altLang="en-US" smtClean="0"/>
          </a:p>
        </p:txBody>
      </p:sp>
      <p:sp>
        <p:nvSpPr>
          <p:cNvPr id="17305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7" action="ppaction://hlinksldjump"/>
              </a:rPr>
              <a:t>转移预测缓冲器</a:t>
            </a:r>
            <a:endParaRPr lang="zh-CN" altLang="en-US" sz="1200" b="0">
              <a:latin typeface="Times New Roman" panose="02020603050405020304" pitchFamily="18" charset="0"/>
              <a:ea typeface="幼圆" panose="02010509060101010101" pitchFamily="49" charset="-122"/>
            </a:endParaRPr>
          </a:p>
        </p:txBody>
      </p:sp>
      <p:sp>
        <p:nvSpPr>
          <p:cNvPr id="867333" name="Rectangle 5"/>
          <p:cNvSpPr>
            <a:spLocks noGrp="1" noChangeArrowheads="1"/>
          </p:cNvSpPr>
          <p:nvPr>
            <p:ph type="body" idx="1"/>
          </p:nvPr>
        </p:nvSpPr>
        <p:spPr>
          <a:xfrm>
            <a:off x="838200" y="1989138"/>
            <a:ext cx="7958138" cy="4487862"/>
          </a:xfrm>
        </p:spPr>
        <p:txBody>
          <a:bodyPr/>
          <a:lstStyle/>
          <a:p>
            <a:pPr marL="0" indent="0" eaLnBrk="1" hangingPunct="1">
              <a:buFont typeface="Wingdings" panose="05000000000000000000" pitchFamily="2" charset="2"/>
              <a:buNone/>
              <a:defRPr/>
            </a:pPr>
            <a:r>
              <a:rPr lang="zh-CN" altLang="en-US" sz="2800" dirty="0" smtClean="0"/>
              <a:t>        转移预测缓冲器也称为</a:t>
            </a:r>
            <a:r>
              <a:rPr lang="zh-CN" altLang="en-US" sz="2800" dirty="0" smtClean="0">
                <a:solidFill>
                  <a:srgbClr val="0000FF"/>
                </a:solidFill>
              </a:rPr>
              <a:t>转移历史表</a:t>
            </a:r>
            <a:r>
              <a:rPr lang="zh-CN" altLang="en-US" sz="2800" dirty="0" smtClean="0"/>
              <a:t>（</a:t>
            </a:r>
            <a:r>
              <a:rPr lang="en-US" altLang="zh-CN" sz="2800" dirty="0" err="1" smtClean="0"/>
              <a:t>BHT：Branch</a:t>
            </a:r>
            <a:r>
              <a:rPr lang="en-US" altLang="zh-CN" sz="2800" dirty="0" smtClean="0"/>
              <a:t> History Table），</a:t>
            </a:r>
            <a:r>
              <a:rPr lang="zh-CN" altLang="en-US" sz="2800" dirty="0" smtClean="0"/>
              <a:t>预测只依赖本条件转移指令的历史信息（</a:t>
            </a:r>
            <a:r>
              <a:rPr lang="zh-CN" altLang="en-US" sz="2800" dirty="0" smtClean="0">
                <a:solidFill>
                  <a:srgbClr val="FF0000"/>
                </a:solidFill>
                <a:effectLst>
                  <a:outerShdw blurRad="38100" dist="38100" dir="2700000" algn="tl">
                    <a:srgbClr val="C0C0C0"/>
                  </a:outerShdw>
                </a:effectLst>
              </a:rPr>
              <a:t>局部信息</a:t>
            </a:r>
            <a:r>
              <a:rPr lang="zh-CN" altLang="en-US" sz="2800" dirty="0" smtClean="0"/>
              <a:t>）。</a:t>
            </a:r>
            <a:endParaRPr lang="zh-CN" altLang="en-US" sz="2800" dirty="0" smtClean="0"/>
          </a:p>
          <a:p>
            <a:pPr marL="0" indent="0" eaLnBrk="1" hangingPunct="1">
              <a:buFont typeface="Wingdings" panose="05000000000000000000" pitchFamily="2" charset="2"/>
              <a:buNone/>
              <a:defRPr/>
            </a:pPr>
            <a:r>
              <a:rPr lang="zh-CN" altLang="en-US" sz="2800" dirty="0" smtClean="0"/>
              <a:t>       具体实现为：设置一个较小的、按照条件转移指令的低位地址部分进行访问的存储器（每个表项对应一条条件转移指令）；在执行条件转移指令时，将转移成功或不成功的信息记录在该存储器中相应表项中；当下次再执行到该条件转移指令时，转移预测逻辑就根据记录的信息来预测是否转移。</a:t>
            </a:r>
            <a:endParaRPr lang="zh-CN" altLang="en-US" sz="2800" dirty="0" smtClean="0"/>
          </a:p>
        </p:txBody>
      </p:sp>
      <p:sp>
        <p:nvSpPr>
          <p:cNvPr id="173061"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9490" name="Rectangle 2"/>
          <p:cNvSpPr>
            <a:spLocks noGrp="1" noChangeArrowheads="1"/>
          </p:cNvSpPr>
          <p:nvPr>
            <p:ph type="title"/>
          </p:nvPr>
        </p:nvSpPr>
        <p:spPr/>
        <p:txBody>
          <a:bodyPr/>
          <a:lstStyle/>
          <a:p>
            <a:pPr eaLnBrk="1" hangingPunct="1">
              <a:defRPr/>
            </a:pPr>
            <a:r>
              <a:rPr lang="zh-CN" altLang="en-US" smtClean="0"/>
              <a:t>示意图</a:t>
            </a:r>
            <a:endParaRPr lang="zh-CN" altLang="en-US" smtClean="0"/>
          </a:p>
        </p:txBody>
      </p:sp>
      <p:sp>
        <p:nvSpPr>
          <p:cNvPr id="17408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7" action="ppaction://hlinksldjump"/>
              </a:rPr>
              <a:t>转移预测缓冲器</a:t>
            </a:r>
            <a:endParaRPr lang="zh-CN" altLang="en-US" sz="1200" b="0">
              <a:latin typeface="Times New Roman" panose="02020603050405020304" pitchFamily="18" charset="0"/>
              <a:ea typeface="幼圆" panose="02010509060101010101" pitchFamily="49" charset="-122"/>
            </a:endParaRPr>
          </a:p>
        </p:txBody>
      </p:sp>
      <p:sp>
        <p:nvSpPr>
          <p:cNvPr id="174084"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pic>
        <p:nvPicPr>
          <p:cNvPr id="174085" name="Picture 7"/>
          <p:cNvPicPr>
            <a:picLocks noChangeAspect="1" noChangeArrowheads="1"/>
          </p:cNvPicPr>
          <p:nvPr/>
        </p:nvPicPr>
        <p:blipFill>
          <a:blip r:embed="rId8">
            <a:clrChange>
              <a:clrFrom>
                <a:srgbClr val="FFFFFF"/>
              </a:clrFrom>
              <a:clrTo>
                <a:srgbClr val="FFFFFF">
                  <a:alpha val="0"/>
                </a:srgbClr>
              </a:clrTo>
            </a:clrChange>
            <a:lum bright="-18000"/>
            <a:extLst>
              <a:ext uri="{28A0092B-C50C-407E-A947-70E740481C1C}">
                <a14:useLocalDpi xmlns:a14="http://schemas.microsoft.com/office/drawing/2010/main" val="0"/>
              </a:ext>
            </a:extLst>
          </a:blip>
          <a:srcRect/>
          <a:stretch>
            <a:fillRect/>
          </a:stretch>
        </p:blipFill>
        <p:spPr bwMode="auto">
          <a:xfrm>
            <a:off x="755650" y="2133600"/>
            <a:ext cx="8039100" cy="419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random/>
    <p:sndAc>
      <p:stSnd>
        <p:snd r:embed="rId9" name="projctor.wav"/>
      </p:stSnd>
    </p:sndAc>
  </p:transition>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8354" name="Rectangle 2"/>
          <p:cNvSpPr>
            <a:spLocks noGrp="1" noChangeArrowheads="1"/>
          </p:cNvSpPr>
          <p:nvPr>
            <p:ph type="title"/>
          </p:nvPr>
        </p:nvSpPr>
        <p:spPr/>
        <p:txBody>
          <a:bodyPr/>
          <a:lstStyle/>
          <a:p>
            <a:pPr eaLnBrk="1" hangingPunct="1">
              <a:defRPr/>
            </a:pPr>
            <a:r>
              <a:rPr lang="zh-CN" altLang="en-US" sz="4000" smtClean="0"/>
              <a:t>1</a:t>
            </a:r>
            <a:r>
              <a:rPr lang="en-US" altLang="zh-CN" sz="4000" smtClean="0"/>
              <a:t>bit</a:t>
            </a:r>
            <a:r>
              <a:rPr lang="zh-CN" altLang="en-US" smtClean="0"/>
              <a:t>转移预测缓冲器</a:t>
            </a:r>
            <a:br>
              <a:rPr lang="zh-CN" altLang="en-US" sz="3200" smtClean="0"/>
            </a:br>
            <a:r>
              <a:rPr lang="zh-CN" altLang="en-US" sz="3200" smtClean="0"/>
              <a:t>                                — 方法</a:t>
            </a:r>
            <a:endParaRPr lang="zh-CN" altLang="en-US" sz="3200" smtClean="0"/>
          </a:p>
        </p:txBody>
      </p:sp>
      <p:sp>
        <p:nvSpPr>
          <p:cNvPr id="17510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7" action="ppaction://hlinksldjump"/>
              </a:rPr>
              <a:t>转移预测缓冲器</a:t>
            </a:r>
            <a:endParaRPr lang="zh-CN" altLang="en-US" sz="1200" b="0">
              <a:latin typeface="Times New Roman" panose="02020603050405020304" pitchFamily="18" charset="0"/>
              <a:ea typeface="幼圆" panose="02010509060101010101" pitchFamily="49" charset="-122"/>
            </a:endParaRPr>
          </a:p>
        </p:txBody>
      </p:sp>
      <p:sp>
        <p:nvSpPr>
          <p:cNvPr id="175108" name="Rectangle 4"/>
          <p:cNvSpPr>
            <a:spLocks noGrp="1" noChangeArrowheads="1"/>
          </p:cNvSpPr>
          <p:nvPr>
            <p:ph type="body" idx="1"/>
          </p:nvPr>
        </p:nvSpPr>
        <p:spPr>
          <a:xfrm>
            <a:off x="809625" y="1989139"/>
            <a:ext cx="8083550" cy="1367854"/>
          </a:xfrm>
        </p:spPr>
        <p:txBody>
          <a:bodyPr/>
          <a:lstStyle/>
          <a:p>
            <a:pPr marL="0" indent="0" eaLnBrk="1" hangingPunct="1">
              <a:lnSpc>
                <a:spcPct val="110000"/>
              </a:lnSpc>
              <a:buFont typeface="Wingdings" panose="05000000000000000000" pitchFamily="2" charset="2"/>
              <a:buNone/>
            </a:pPr>
            <a:r>
              <a:rPr lang="zh-CN" altLang="en-US" sz="2400" dirty="0" smtClean="0"/>
              <a:t>       在</a:t>
            </a:r>
            <a:r>
              <a:rPr lang="en-US" altLang="zh-CN" sz="2400" dirty="0" smtClean="0"/>
              <a:t>BHT</a:t>
            </a:r>
            <a:r>
              <a:rPr lang="zh-CN" altLang="en-US" sz="2400" dirty="0" smtClean="0"/>
              <a:t>中每个表项中只设置</a:t>
            </a:r>
            <a:r>
              <a:rPr lang="zh-CN" altLang="en-US" sz="2400" dirty="0" smtClean="0">
                <a:solidFill>
                  <a:srgbClr val="FF0000"/>
                </a:solidFill>
              </a:rPr>
              <a:t>1</a:t>
            </a:r>
            <a:r>
              <a:rPr lang="en-US" altLang="zh-CN" sz="2400" dirty="0" smtClean="0">
                <a:solidFill>
                  <a:srgbClr val="FF0000"/>
                </a:solidFill>
              </a:rPr>
              <a:t>bit</a:t>
            </a:r>
            <a:r>
              <a:rPr lang="zh-CN" altLang="en-US" sz="2400" dirty="0" smtClean="0"/>
              <a:t>，用以说明该条件转移指令最近成功转移情况。该方法的有限状态机（状态转换图）为：</a:t>
            </a:r>
            <a:endParaRPr lang="zh-CN" altLang="en-US" sz="2400" dirty="0" smtClean="0"/>
          </a:p>
        </p:txBody>
      </p:sp>
      <p:pic>
        <p:nvPicPr>
          <p:cNvPr id="175110" name="Picture 6"/>
          <p:cNvPicPr>
            <a:picLocks noChangeAspect="1" noChangeArrowheads="1"/>
          </p:cNvPicPr>
          <p:nvPr/>
        </p:nvPicPr>
        <p:blipFill>
          <a:blip r:embed="rId8">
            <a:clrChange>
              <a:clrFrom>
                <a:srgbClr val="FFFFFF"/>
              </a:clrFrom>
              <a:clrTo>
                <a:srgbClr val="FFFFFF">
                  <a:alpha val="0"/>
                </a:srgbClr>
              </a:clrTo>
            </a:clrChange>
            <a:lum bright="-24000"/>
            <a:extLst>
              <a:ext uri="{28A0092B-C50C-407E-A947-70E740481C1C}">
                <a14:useLocalDpi xmlns:a14="http://schemas.microsoft.com/office/drawing/2010/main" val="0"/>
              </a:ext>
            </a:extLst>
          </a:blip>
          <a:srcRect/>
          <a:stretch>
            <a:fillRect/>
          </a:stretch>
        </p:blipFill>
        <p:spPr bwMode="auto">
          <a:xfrm>
            <a:off x="1043608" y="3448645"/>
            <a:ext cx="7315200"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矩形 1"/>
          <p:cNvSpPr/>
          <p:nvPr/>
        </p:nvSpPr>
        <p:spPr>
          <a:xfrm>
            <a:off x="3884968" y="2996952"/>
            <a:ext cx="4875308" cy="1015663"/>
          </a:xfrm>
          <a:prstGeom prst="rect">
            <a:avLst/>
          </a:prstGeom>
          <a:effectLst>
            <a:outerShdw blurRad="50800" dist="38100" dir="18900000" algn="bl"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wrap="square">
            <a:spAutoFit/>
          </a:bodyPr>
          <a:lstStyle/>
          <a:p>
            <a:r>
              <a:rPr lang="zh-CN" altLang="en-US" sz="2000" b="1" dirty="0" smtClean="0">
                <a:solidFill>
                  <a:srgbClr val="FF0000"/>
                </a:solidFill>
                <a:latin typeface="楷体" panose="02010609060101010101" pitchFamily="49" charset="-122"/>
                <a:ea typeface="楷体" panose="02010609060101010101" pitchFamily="49" charset="-122"/>
              </a:rPr>
              <a:t>缺点：</a:t>
            </a:r>
            <a:r>
              <a:rPr lang="zh-CN" altLang="en-US" sz="2000" b="1" dirty="0" smtClean="0">
                <a:latin typeface="楷体" panose="02010609060101010101" pitchFamily="49" charset="-122"/>
                <a:ea typeface="楷体" panose="02010609060101010101" pitchFamily="49" charset="-122"/>
              </a:rPr>
              <a:t>即使</a:t>
            </a:r>
            <a:r>
              <a:rPr lang="zh-CN" altLang="en-US" sz="2000" b="1" dirty="0">
                <a:latin typeface="楷体" panose="02010609060101010101" pitchFamily="49" charset="-122"/>
                <a:ea typeface="楷体" panose="02010609060101010101" pitchFamily="49" charset="-122"/>
              </a:rPr>
              <a:t>条件转移指令大多数情况下总是转移成功（例如：循环），但也有可能错误地预测两次。</a:t>
            </a:r>
            <a:endParaRPr lang="zh-CN" altLang="en-US" sz="2000" b="1" dirty="0">
              <a:latin typeface="楷体" panose="02010609060101010101" pitchFamily="49" charset="-122"/>
              <a:ea typeface="楷体" panose="02010609060101010101" pitchFamily="49" charset="-122"/>
            </a:endParaRPr>
          </a:p>
        </p:txBody>
      </p:sp>
      <p:sp>
        <p:nvSpPr>
          <p:cNvPr id="8" name="矩形 7"/>
          <p:cNvSpPr/>
          <p:nvPr/>
        </p:nvSpPr>
        <p:spPr>
          <a:xfrm>
            <a:off x="1346200" y="5961948"/>
            <a:ext cx="4017888" cy="400110"/>
          </a:xfrm>
          <a:prstGeom prst="rect">
            <a:avLst/>
          </a:prstGeom>
          <a:effectLst>
            <a:outerShdw blurRad="50800" dist="38100" dir="18900000" algn="bl"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wrap="square">
            <a:spAutoFit/>
          </a:bodyPr>
          <a:lstStyle/>
          <a:p>
            <a:r>
              <a:rPr lang="zh-CN" altLang="en-US" sz="2000" b="1" dirty="0" smtClean="0">
                <a:solidFill>
                  <a:srgbClr val="FF0000"/>
                </a:solidFill>
                <a:latin typeface="楷体" panose="02010609060101010101" pitchFamily="49" charset="-122"/>
                <a:ea typeface="楷体" panose="02010609060101010101" pitchFamily="49" charset="-122"/>
              </a:rPr>
              <a:t>解决：</a:t>
            </a:r>
            <a:r>
              <a:rPr lang="zh-CN" altLang="en-US" sz="2000" b="1" dirty="0" smtClean="0">
                <a:latin typeface="楷体" panose="02010609060101010101" pitchFamily="49" charset="-122"/>
                <a:ea typeface="楷体" panose="02010609060101010101" pitchFamily="49" charset="-122"/>
              </a:rPr>
              <a:t>引入</a:t>
            </a:r>
            <a:r>
              <a:rPr lang="en-US" altLang="zh-CN" sz="2000" b="1" dirty="0" smtClean="0">
                <a:ea typeface="楷体" panose="02010609060101010101" pitchFamily="49" charset="-122"/>
              </a:rPr>
              <a:t>2bit</a:t>
            </a:r>
            <a:r>
              <a:rPr lang="zh-CN" altLang="en-US" sz="2000" b="1" dirty="0">
                <a:latin typeface="楷体" panose="02010609060101010101" pitchFamily="49" charset="-122"/>
                <a:ea typeface="楷体" panose="02010609060101010101" pitchFamily="49" charset="-122"/>
              </a:rPr>
              <a:t>转移预测缓冲器</a:t>
            </a:r>
            <a:r>
              <a:rPr lang="zh-CN" altLang="en-US" sz="2000" b="1" dirty="0" smtClean="0">
                <a:latin typeface="楷体" panose="02010609060101010101" pitchFamily="49" charset="-122"/>
                <a:ea typeface="楷体" panose="02010609060101010101" pitchFamily="49" charset="-122"/>
              </a:rPr>
              <a:t>。</a:t>
            </a:r>
            <a:endParaRPr lang="zh-CN" altLang="en-US" sz="2000" b="1" dirty="0">
              <a:latin typeface="楷体" panose="02010609060101010101" pitchFamily="49" charset="-122"/>
              <a:ea typeface="楷体" panose="02010609060101010101" pitchFamily="49" charset="-122"/>
            </a:endParaRPr>
          </a:p>
        </p:txBody>
      </p:sp>
    </p:spTree>
  </p:cSld>
  <p:clrMapOvr>
    <a:masterClrMapping/>
  </p:clrMapOvr>
  <p:transition spd="slow">
    <p:random/>
    <p:sndAc>
      <p:stSnd>
        <p:snd r:embed="rId9"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ipe(left)">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9378" name="Rectangle 2"/>
          <p:cNvSpPr>
            <a:spLocks noGrp="1" noChangeArrowheads="1"/>
          </p:cNvSpPr>
          <p:nvPr>
            <p:ph type="title"/>
          </p:nvPr>
        </p:nvSpPr>
        <p:spPr/>
        <p:txBody>
          <a:bodyPr/>
          <a:lstStyle/>
          <a:p>
            <a:pPr eaLnBrk="1" hangingPunct="1">
              <a:defRPr/>
            </a:pPr>
            <a:r>
              <a:rPr lang="zh-CN" altLang="en-US" sz="4000" smtClean="0"/>
              <a:t>2</a:t>
            </a:r>
            <a:r>
              <a:rPr lang="en-US" altLang="zh-CN" sz="4000" smtClean="0"/>
              <a:t>bit</a:t>
            </a:r>
            <a:r>
              <a:rPr lang="zh-CN" altLang="en-US" smtClean="0"/>
              <a:t>转移预测缓冲器</a:t>
            </a:r>
            <a:br>
              <a:rPr lang="zh-CN" altLang="en-US" sz="3200" smtClean="0"/>
            </a:br>
            <a:r>
              <a:rPr lang="zh-CN" altLang="en-US" sz="3200" smtClean="0"/>
              <a:t>                                  — 方法</a:t>
            </a:r>
            <a:endParaRPr lang="zh-CN" altLang="en-US" sz="3200" smtClean="0"/>
          </a:p>
        </p:txBody>
      </p:sp>
      <p:sp>
        <p:nvSpPr>
          <p:cNvPr id="17715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7" action="ppaction://hlinksldjump"/>
              </a:rPr>
              <a:t>转移预测缓冲器</a:t>
            </a:r>
            <a:endParaRPr lang="zh-CN" altLang="en-US" sz="1200" b="0">
              <a:latin typeface="Times New Roman" panose="02020603050405020304" pitchFamily="18" charset="0"/>
              <a:ea typeface="幼圆" panose="02010509060101010101" pitchFamily="49" charset="-122"/>
            </a:endParaRPr>
          </a:p>
        </p:txBody>
      </p:sp>
      <p:sp>
        <p:nvSpPr>
          <p:cNvPr id="177156" name="Rectangle 4"/>
          <p:cNvSpPr>
            <a:spLocks noGrp="1" noChangeArrowheads="1"/>
          </p:cNvSpPr>
          <p:nvPr>
            <p:ph type="body" idx="1"/>
          </p:nvPr>
        </p:nvSpPr>
        <p:spPr>
          <a:xfrm>
            <a:off x="809625" y="1984375"/>
            <a:ext cx="7958138" cy="1123945"/>
          </a:xfrm>
        </p:spPr>
        <p:txBody>
          <a:bodyPr/>
          <a:lstStyle/>
          <a:p>
            <a:pPr marL="0" indent="0" eaLnBrk="1" hangingPunct="1">
              <a:lnSpc>
                <a:spcPct val="110000"/>
              </a:lnSpc>
              <a:buNone/>
            </a:pPr>
            <a:r>
              <a:rPr lang="zh-CN" altLang="en-US" sz="2000" dirty="0" smtClean="0"/>
              <a:t>       在</a:t>
            </a:r>
            <a:r>
              <a:rPr lang="en-US" altLang="zh-CN" sz="2000" dirty="0" smtClean="0"/>
              <a:t>BHT</a:t>
            </a:r>
            <a:r>
              <a:rPr lang="zh-CN" altLang="en-US" sz="2000" dirty="0" smtClean="0"/>
              <a:t>中每个表项中设置</a:t>
            </a:r>
            <a:r>
              <a:rPr lang="zh-CN" altLang="en-US" sz="2000" dirty="0" smtClean="0">
                <a:solidFill>
                  <a:srgbClr val="FF0000"/>
                </a:solidFill>
              </a:rPr>
              <a:t>2</a:t>
            </a:r>
            <a:r>
              <a:rPr lang="en-US" altLang="zh-CN" sz="2000" dirty="0" smtClean="0">
                <a:solidFill>
                  <a:srgbClr val="FF0000"/>
                </a:solidFill>
              </a:rPr>
              <a:t>bit</a:t>
            </a:r>
            <a:r>
              <a:rPr lang="zh-CN" altLang="en-US" sz="2000" dirty="0" smtClean="0"/>
              <a:t>，用以记录条件转移指令</a:t>
            </a:r>
            <a:r>
              <a:rPr lang="zh-CN" altLang="en-US" sz="2000" dirty="0" smtClean="0">
                <a:solidFill>
                  <a:srgbClr val="FF0000"/>
                </a:solidFill>
              </a:rPr>
              <a:t>最近2次</a:t>
            </a:r>
            <a:r>
              <a:rPr lang="zh-CN" altLang="en-US" sz="2000" dirty="0" smtClean="0"/>
              <a:t>转移是否成功的信息。当</a:t>
            </a:r>
            <a:r>
              <a:rPr lang="zh-CN" altLang="en-US" sz="2000" dirty="0" smtClean="0">
                <a:solidFill>
                  <a:srgbClr val="FF0000"/>
                </a:solidFill>
              </a:rPr>
              <a:t>预测不成功达到2次时</a:t>
            </a:r>
            <a:r>
              <a:rPr lang="zh-CN" altLang="en-US" sz="2000" dirty="0" smtClean="0"/>
              <a:t>才改变其预测方向</a:t>
            </a:r>
            <a:r>
              <a:rPr lang="zh-CN" altLang="en-US" sz="2000" dirty="0"/>
              <a:t>。当表项的</a:t>
            </a:r>
            <a:r>
              <a:rPr lang="zh-CN" altLang="en-US" sz="2000" dirty="0" smtClean="0"/>
              <a:t>值</a:t>
            </a:r>
            <a:r>
              <a:rPr lang="zh-CN" altLang="en-US" sz="2000" dirty="0" smtClean="0">
                <a:solidFill>
                  <a:srgbClr val="FF0000"/>
                </a:solidFill>
              </a:rPr>
              <a:t>大于等于2</a:t>
            </a:r>
            <a:r>
              <a:rPr lang="zh-CN" altLang="en-US" sz="2000" dirty="0" smtClean="0"/>
              <a:t>（</a:t>
            </a:r>
            <a:r>
              <a:rPr lang="zh-CN" altLang="en-US" sz="2000" dirty="0" smtClean="0">
                <a:solidFill>
                  <a:srgbClr val="0000FF"/>
                </a:solidFill>
              </a:rPr>
              <a:t>2</a:t>
            </a:r>
            <a:r>
              <a:rPr lang="zh-CN" altLang="en-US" sz="2000" baseline="30000" dirty="0" smtClean="0">
                <a:solidFill>
                  <a:srgbClr val="0000FF"/>
                </a:solidFill>
              </a:rPr>
              <a:t>2-1</a:t>
            </a:r>
            <a:r>
              <a:rPr lang="zh-CN" altLang="en-US" sz="2000" dirty="0" smtClean="0"/>
              <a:t>），则预测转移成功，否则预测转移不成功。</a:t>
            </a:r>
            <a:endParaRPr lang="zh-CN" altLang="en-US" sz="2000" dirty="0" smtClean="0"/>
          </a:p>
        </p:txBody>
      </p:sp>
      <p:sp>
        <p:nvSpPr>
          <p:cNvPr id="177157" name="Text Box 5"/>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2</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1</a:t>
            </a:r>
            <a:endParaRPr lang="zh-CN" altLang="en-US" sz="1200" b="0" dirty="0">
              <a:latin typeface="幼圆" panose="02010509060101010101" pitchFamily="49" charset="-122"/>
              <a:ea typeface="幼圆" panose="02010509060101010101" pitchFamily="49" charset="-122"/>
            </a:endParaRPr>
          </a:p>
        </p:txBody>
      </p:sp>
      <p:pic>
        <p:nvPicPr>
          <p:cNvPr id="6" name="Picture 5" descr="Ch3-fig07"/>
          <p:cNvPicPr>
            <a:picLocks noChangeAspect="1" noChangeArrowheads="1"/>
          </p:cNvPicPr>
          <p:nvPr/>
        </p:nvPicPr>
        <p:blipFill>
          <a:blip r:embed="rId8">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b="20190"/>
          <a:stretch>
            <a:fillRect/>
          </a:stretch>
        </p:blipFill>
        <p:spPr bwMode="auto">
          <a:xfrm>
            <a:off x="2350368" y="3108320"/>
            <a:ext cx="5678016" cy="3482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 name="直接连接符 2"/>
          <p:cNvCxnSpPr/>
          <p:nvPr/>
        </p:nvCxnSpPr>
        <p:spPr bwMode="auto">
          <a:xfrm>
            <a:off x="1475656" y="4797152"/>
            <a:ext cx="6696744" cy="52476"/>
          </a:xfrm>
          <a:prstGeom prst="lin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 name="直接连接符 4"/>
          <p:cNvCxnSpPr/>
          <p:nvPr/>
        </p:nvCxnSpPr>
        <p:spPr bwMode="auto">
          <a:xfrm>
            <a:off x="827584" y="4745120"/>
            <a:ext cx="7632848" cy="91540"/>
          </a:xfrm>
          <a:prstGeom prst="line">
            <a:avLst/>
          </a:prstGeom>
          <a:noFill/>
          <a:ln w="28575" cap="flat" cmpd="sng" algn="ctr">
            <a:solidFill>
              <a:srgbClr val="FF0000"/>
            </a:solidFill>
            <a:prstDash val="sysDot"/>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 name="矩形 10"/>
          <p:cNvSpPr/>
          <p:nvPr/>
        </p:nvSpPr>
        <p:spPr>
          <a:xfrm>
            <a:off x="698127" y="5961948"/>
            <a:ext cx="2029183" cy="400110"/>
          </a:xfrm>
          <a:prstGeom prst="rect">
            <a:avLst/>
          </a:prstGeom>
          <a:effectLst>
            <a:outerShdw blurRad="50800" dist="38100" dir="18900000" algn="bl"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wrap="square">
            <a:spAutoFit/>
          </a:bodyPr>
          <a:lstStyle/>
          <a:p>
            <a:r>
              <a:rPr lang="zh-CN" altLang="en-US" sz="2000" b="1" dirty="0" smtClean="0">
                <a:latin typeface="楷体" panose="02010609060101010101" pitchFamily="49" charset="-122"/>
                <a:ea typeface="楷体" panose="02010609060101010101" pitchFamily="49" charset="-122"/>
              </a:rPr>
              <a:t>预测转移不成功</a:t>
            </a:r>
            <a:endParaRPr lang="zh-CN" altLang="en-US" sz="2000" b="1" dirty="0">
              <a:latin typeface="楷体" panose="02010609060101010101" pitchFamily="49" charset="-122"/>
              <a:ea typeface="楷体" panose="02010609060101010101" pitchFamily="49" charset="-122"/>
            </a:endParaRPr>
          </a:p>
        </p:txBody>
      </p:sp>
      <p:sp>
        <p:nvSpPr>
          <p:cNvPr id="12" name="矩形 11"/>
          <p:cNvSpPr/>
          <p:nvPr/>
        </p:nvSpPr>
        <p:spPr>
          <a:xfrm>
            <a:off x="699525" y="3108320"/>
            <a:ext cx="2027786" cy="400110"/>
          </a:xfrm>
          <a:prstGeom prst="rect">
            <a:avLst/>
          </a:prstGeom>
          <a:effectLst>
            <a:outerShdw blurRad="50800" dist="38100" dir="18900000" algn="bl"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wrap="square">
            <a:spAutoFit/>
          </a:bodyPr>
          <a:lstStyle/>
          <a:p>
            <a:r>
              <a:rPr lang="zh-CN" altLang="en-US" sz="2000" b="1" dirty="0" smtClean="0">
                <a:latin typeface="楷体" panose="02010609060101010101" pitchFamily="49" charset="-122"/>
                <a:ea typeface="楷体" panose="02010609060101010101" pitchFamily="49" charset="-122"/>
              </a:rPr>
              <a:t>预测转移成功</a:t>
            </a:r>
            <a:endParaRPr lang="zh-CN" altLang="en-US" sz="2000" b="1" dirty="0">
              <a:latin typeface="楷体" panose="02010609060101010101" pitchFamily="49" charset="-122"/>
              <a:ea typeface="楷体" panose="02010609060101010101" pitchFamily="49" charset="-122"/>
            </a:endParaRPr>
          </a:p>
        </p:txBody>
      </p:sp>
    </p:spTree>
  </p:cSld>
  <p:clrMapOvr>
    <a:masterClrMapping/>
  </p:clrMapOvr>
  <p:transition spd="slow">
    <p:random/>
    <p:sndAc>
      <p:stSnd>
        <p:snd r:embed="rId9" name="projctor.wav"/>
      </p:stSnd>
    </p:sndAc>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3480" name="Rectangle 8"/>
          <p:cNvSpPr>
            <a:spLocks noGrp="1" noChangeArrowheads="1"/>
          </p:cNvSpPr>
          <p:nvPr>
            <p:ph type="title"/>
          </p:nvPr>
        </p:nvSpPr>
        <p:spPr/>
        <p:txBody>
          <a:bodyPr/>
          <a:lstStyle/>
          <a:p>
            <a:pPr eaLnBrk="1" hangingPunct="1">
              <a:defRPr/>
            </a:pPr>
            <a:r>
              <a:rPr lang="en-US" altLang="zh-CN" sz="4000" smtClean="0"/>
              <a:t>nbit</a:t>
            </a:r>
            <a:r>
              <a:rPr lang="zh-CN" altLang="en-US" smtClean="0"/>
              <a:t>转移预测缓冲器</a:t>
            </a:r>
            <a:br>
              <a:rPr lang="zh-CN" altLang="en-US" sz="3200" smtClean="0"/>
            </a:br>
            <a:r>
              <a:rPr lang="zh-CN" altLang="en-US" sz="3200" smtClean="0"/>
              <a:t>                         — 推而广之</a:t>
            </a:r>
            <a:endParaRPr lang="zh-CN" altLang="en-US" sz="3200" smtClean="0"/>
          </a:p>
        </p:txBody>
      </p:sp>
      <p:sp>
        <p:nvSpPr>
          <p:cNvPr id="873481" name="Rectangle 9"/>
          <p:cNvSpPr>
            <a:spLocks noGrp="1" noChangeArrowheads="1"/>
          </p:cNvSpPr>
          <p:nvPr>
            <p:ph type="body" idx="1"/>
          </p:nvPr>
        </p:nvSpPr>
        <p:spPr>
          <a:xfrm>
            <a:off x="809624" y="1916832"/>
            <a:ext cx="8105775" cy="4411662"/>
          </a:xfrm>
        </p:spPr>
        <p:txBody>
          <a:bodyPr/>
          <a:lstStyle/>
          <a:p>
            <a:pPr marL="0" indent="0" eaLnBrk="1" hangingPunct="1">
              <a:lnSpc>
                <a:spcPct val="120000"/>
              </a:lnSpc>
              <a:buNone/>
              <a:defRPr/>
            </a:pPr>
            <a:r>
              <a:rPr lang="zh-CN" altLang="en-US" sz="2400" dirty="0" smtClean="0"/>
              <a:t>        在</a:t>
            </a:r>
            <a:r>
              <a:rPr lang="en-US" altLang="zh-CN" sz="2400" dirty="0" smtClean="0"/>
              <a:t>BHT</a:t>
            </a:r>
            <a:r>
              <a:rPr lang="zh-CN" altLang="en-US" sz="2400" dirty="0" smtClean="0"/>
              <a:t>中每个表项中设置</a:t>
            </a:r>
            <a:r>
              <a:rPr lang="en-US" altLang="zh-CN" sz="2400" dirty="0" err="1" smtClean="0">
                <a:solidFill>
                  <a:srgbClr val="FF0000"/>
                </a:solidFill>
              </a:rPr>
              <a:t>nbit</a:t>
            </a:r>
            <a:r>
              <a:rPr lang="zh-CN" altLang="en-US" sz="2400" dirty="0" smtClean="0"/>
              <a:t>预测位，用以记录</a:t>
            </a:r>
            <a:r>
              <a:rPr lang="zh-CN" altLang="en-US" sz="2400" dirty="0" smtClean="0">
                <a:solidFill>
                  <a:srgbClr val="FF0000"/>
                </a:solidFill>
              </a:rPr>
              <a:t>最近</a:t>
            </a:r>
            <a:r>
              <a:rPr lang="en-US" altLang="zh-CN" sz="2400" dirty="0" smtClean="0">
                <a:solidFill>
                  <a:srgbClr val="FF0000"/>
                </a:solidFill>
              </a:rPr>
              <a:t>n</a:t>
            </a:r>
            <a:r>
              <a:rPr lang="zh-CN" altLang="en-US" sz="2400" dirty="0" smtClean="0">
                <a:solidFill>
                  <a:srgbClr val="FF0000"/>
                </a:solidFill>
              </a:rPr>
              <a:t>次转移</a:t>
            </a:r>
            <a:r>
              <a:rPr lang="zh-CN" altLang="en-US" sz="2400" dirty="0" smtClean="0"/>
              <a:t>是否成功的信息</a:t>
            </a:r>
            <a:r>
              <a:rPr lang="zh-CN" altLang="en-US" sz="2400" dirty="0"/>
              <a:t>。当表项的</a:t>
            </a:r>
            <a:r>
              <a:rPr lang="zh-CN" altLang="en-US" sz="2400" dirty="0" smtClean="0"/>
              <a:t>值</a:t>
            </a:r>
            <a:r>
              <a:rPr lang="zh-CN" altLang="en-US" sz="2400" dirty="0" smtClean="0">
                <a:solidFill>
                  <a:srgbClr val="FF0000"/>
                </a:solidFill>
              </a:rPr>
              <a:t>大于等于2</a:t>
            </a:r>
            <a:r>
              <a:rPr lang="en-US" altLang="zh-CN" sz="2400" baseline="30000" dirty="0" smtClean="0">
                <a:solidFill>
                  <a:srgbClr val="FF0000"/>
                </a:solidFill>
              </a:rPr>
              <a:t>n-1</a:t>
            </a:r>
            <a:r>
              <a:rPr lang="en-US" altLang="zh-CN" sz="2400" dirty="0" smtClean="0"/>
              <a:t>，</a:t>
            </a:r>
            <a:r>
              <a:rPr lang="zh-CN" altLang="en-US" sz="2400" dirty="0" smtClean="0"/>
              <a:t>则预测转移成功，否则预测转移不成功。</a:t>
            </a:r>
            <a:endParaRPr lang="zh-CN" altLang="en-US" sz="2400" dirty="0" smtClean="0"/>
          </a:p>
          <a:p>
            <a:pPr marL="0" indent="0" eaLnBrk="1" hangingPunct="1">
              <a:lnSpc>
                <a:spcPct val="120000"/>
              </a:lnSpc>
              <a:buFont typeface="Wingdings" panose="05000000000000000000" pitchFamily="2" charset="2"/>
              <a:buNone/>
              <a:defRPr/>
            </a:pPr>
            <a:r>
              <a:rPr lang="zh-CN" altLang="en-US" sz="2400" dirty="0" smtClean="0"/>
              <a:t>        在绝大多数系统中，往往采用2</a:t>
            </a:r>
            <a:r>
              <a:rPr lang="en-US" altLang="zh-CN" sz="2400" dirty="0" smtClean="0"/>
              <a:t>bit BHT</a:t>
            </a:r>
            <a:r>
              <a:rPr lang="zh-CN" altLang="en-US" sz="2400" dirty="0" smtClean="0"/>
              <a:t>，而不采用</a:t>
            </a:r>
            <a:r>
              <a:rPr lang="en-US" altLang="zh-CN" sz="2400" dirty="0" err="1" smtClean="0"/>
              <a:t>nbit</a:t>
            </a:r>
            <a:r>
              <a:rPr lang="en-US" altLang="zh-CN" sz="2400" dirty="0" smtClean="0"/>
              <a:t> BHT</a:t>
            </a:r>
            <a:r>
              <a:rPr lang="zh-CN" altLang="en-US" sz="2400" dirty="0" smtClean="0"/>
              <a:t>。</a:t>
            </a:r>
            <a:endParaRPr lang="en-US" altLang="zh-CN" sz="2400" dirty="0" smtClean="0"/>
          </a:p>
          <a:p>
            <a:pPr marL="0" indent="0" eaLnBrk="1" hangingPunct="1">
              <a:lnSpc>
                <a:spcPct val="120000"/>
              </a:lnSpc>
              <a:buNone/>
              <a:defRPr/>
            </a:pPr>
            <a:r>
              <a:rPr lang="en-US" altLang="zh-CN" sz="2400" dirty="0" smtClean="0"/>
              <a:t>        BHT</a:t>
            </a:r>
            <a:r>
              <a:rPr lang="zh-CN" altLang="en-US" sz="2400" dirty="0"/>
              <a:t>方法只在以下情况下才有用</a:t>
            </a:r>
            <a:r>
              <a:rPr lang="zh-CN" altLang="en-US" sz="2400" dirty="0" smtClean="0"/>
              <a:t>：</a:t>
            </a:r>
            <a:r>
              <a:rPr lang="zh-CN" altLang="en-US" sz="2400" dirty="0" smtClean="0">
                <a:solidFill>
                  <a:srgbClr val="0000FF"/>
                </a:solidFill>
              </a:rPr>
              <a:t>判定条件转移是否</a:t>
            </a:r>
            <a:r>
              <a:rPr lang="zh-CN" altLang="en-US" sz="2400" dirty="0">
                <a:solidFill>
                  <a:srgbClr val="0000FF"/>
                </a:solidFill>
              </a:rPr>
              <a:t>成功所需的时间大于</a:t>
            </a:r>
            <a:r>
              <a:rPr lang="zh-CN" altLang="en-US" sz="2400" dirty="0" smtClean="0">
                <a:solidFill>
                  <a:srgbClr val="0000FF"/>
                </a:solidFill>
              </a:rPr>
              <a:t>确定</a:t>
            </a:r>
            <a:r>
              <a:rPr lang="zh-CN" altLang="en-US" sz="2400" dirty="0">
                <a:solidFill>
                  <a:srgbClr val="0000FF"/>
                </a:solidFill>
              </a:rPr>
              <a:t>条件转移</a:t>
            </a:r>
            <a:r>
              <a:rPr lang="zh-CN" altLang="en-US" sz="2400" dirty="0" smtClean="0">
                <a:solidFill>
                  <a:srgbClr val="0000FF"/>
                </a:solidFill>
              </a:rPr>
              <a:t>目标</a:t>
            </a:r>
            <a:r>
              <a:rPr lang="zh-CN" altLang="en-US" sz="2400" dirty="0">
                <a:solidFill>
                  <a:srgbClr val="0000FF"/>
                </a:solidFill>
              </a:rPr>
              <a:t>地址所需的时间</a:t>
            </a:r>
            <a:r>
              <a:rPr lang="zh-CN" altLang="en-US" sz="2400" dirty="0" smtClean="0"/>
              <a:t>。对于</a:t>
            </a:r>
            <a:r>
              <a:rPr lang="en-US" altLang="zh-CN" sz="2400" dirty="0" smtClean="0"/>
              <a:t>MIPS</a:t>
            </a:r>
            <a:r>
              <a:rPr lang="zh-CN" altLang="en-US" sz="2400" dirty="0" smtClean="0"/>
              <a:t>基本流水线，由于判定条件转移是否</a:t>
            </a:r>
            <a:r>
              <a:rPr lang="zh-CN" altLang="en-US" sz="2400" dirty="0"/>
              <a:t>成功和</a:t>
            </a:r>
            <a:r>
              <a:rPr lang="zh-CN" altLang="en-US" sz="2400" dirty="0" smtClean="0"/>
              <a:t>计算条件转移目标</a:t>
            </a:r>
            <a:r>
              <a:rPr lang="zh-CN" altLang="en-US" sz="2400" dirty="0"/>
              <a:t>地址都是在</a:t>
            </a:r>
            <a:r>
              <a:rPr lang="en-US" altLang="zh-CN" sz="2400" dirty="0"/>
              <a:t>ID</a:t>
            </a:r>
            <a:r>
              <a:rPr lang="zh-CN" altLang="en-US" sz="2400" dirty="0"/>
              <a:t>段完成，所以</a:t>
            </a:r>
            <a:r>
              <a:rPr lang="en-US" altLang="zh-CN" sz="2400" dirty="0"/>
              <a:t>BHT</a:t>
            </a:r>
            <a:r>
              <a:rPr lang="zh-CN" altLang="en-US" sz="2400" dirty="0"/>
              <a:t>方法不会</a:t>
            </a:r>
            <a:r>
              <a:rPr lang="zh-CN" altLang="en-US" sz="2400" dirty="0" smtClean="0"/>
              <a:t>给该</a:t>
            </a:r>
            <a:r>
              <a:rPr lang="zh-CN" altLang="en-US" sz="2400" dirty="0"/>
              <a:t>流水线带来好处</a:t>
            </a:r>
            <a:r>
              <a:rPr lang="zh-CN" altLang="en-US" sz="2400" dirty="0" smtClean="0"/>
              <a:t>。</a:t>
            </a:r>
            <a:endParaRPr lang="zh-CN" altLang="en-US" sz="2400" dirty="0"/>
          </a:p>
        </p:txBody>
      </p:sp>
      <p:sp>
        <p:nvSpPr>
          <p:cNvPr id="179204"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7" action="ppaction://hlinksldjump"/>
              </a:rPr>
              <a:t>转移预测缓冲器</a:t>
            </a:r>
            <a:endParaRPr lang="zh-CN" altLang="en-US" sz="1200" b="0">
              <a:latin typeface="Times New Roman" panose="02020603050405020304" pitchFamily="18" charset="0"/>
              <a:ea typeface="幼圆" panose="02010509060101010101" pitchFamily="49" charset="-122"/>
            </a:endParaRPr>
          </a:p>
        </p:txBody>
      </p:sp>
      <p:sp>
        <p:nvSpPr>
          <p:cNvPr id="179205" name="Text Box 5"/>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2</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2</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0226" name="Text Box 2"/>
          <p:cNvSpPr txBox="1">
            <a:spLocks noChangeArrowheads="1"/>
          </p:cNvSpPr>
          <p:nvPr/>
        </p:nvSpPr>
        <p:spPr bwMode="auto">
          <a:xfrm>
            <a:off x="3124200" y="6248400"/>
            <a:ext cx="3124200" cy="402291"/>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2000" dirty="0" smtClean="0">
                <a:latin typeface="Comic Sans MS" panose="030F0702030302020204" pitchFamily="66" charset="0"/>
              </a:rPr>
              <a:t>BHT</a:t>
            </a:r>
            <a:r>
              <a:rPr lang="zh-CN" altLang="en-US" sz="2000" dirty="0" smtClean="0">
                <a:latin typeface="Comic Sans MS" panose="030F0702030302020204" pitchFamily="66" charset="0"/>
              </a:rPr>
              <a:t>的</a:t>
            </a:r>
            <a:r>
              <a:rPr lang="zh-CN" altLang="en-US" sz="2000" dirty="0">
                <a:latin typeface="Comic Sans MS" panose="030F0702030302020204" pitchFamily="66" charset="0"/>
              </a:rPr>
              <a:t>性能</a:t>
            </a:r>
            <a:endParaRPr lang="zh-CN" altLang="en-US" sz="2000" dirty="0">
              <a:latin typeface="Comic Sans MS" panose="030F0702030302020204" pitchFamily="66" charset="0"/>
            </a:endParaRPr>
          </a:p>
        </p:txBody>
      </p:sp>
      <p:pic>
        <p:nvPicPr>
          <p:cNvPr id="180227" name="Picture 5" descr="Ch3-fig09"/>
          <p:cNvPicPr>
            <a:picLocks noChangeAspect="1" noChangeArrowheads="1"/>
          </p:cNvPicPr>
          <p:nvPr/>
        </p:nvPicPr>
        <p:blipFill>
          <a:blip r:embed="rId1">
            <a:extLst>
              <a:ext uri="{28A0092B-C50C-407E-A947-70E740481C1C}">
                <a14:useLocalDpi xmlns:a14="http://schemas.microsoft.com/office/drawing/2010/main" val="0"/>
              </a:ext>
            </a:extLst>
          </a:blip>
          <a:srcRect b="12709"/>
          <a:stretch>
            <a:fillRect/>
          </a:stretch>
        </p:blipFill>
        <p:spPr bwMode="auto">
          <a:xfrm>
            <a:off x="1600200" y="228600"/>
            <a:ext cx="5676900" cy="594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p:nvSpPr>
        <p:spPr>
          <a:xfrm>
            <a:off x="3923928" y="228600"/>
            <a:ext cx="4797040" cy="400110"/>
          </a:xfrm>
          <a:prstGeom prst="rect">
            <a:avLst/>
          </a:prstGeom>
          <a:solidFill>
            <a:srgbClr val="99FF66"/>
          </a:solidFill>
          <a:effectLst>
            <a:outerShdw blurRad="50800" dist="38100" dir="18900000" algn="bl"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wrap="square">
            <a:spAutoFit/>
          </a:bodyPr>
          <a:lstStyle/>
          <a:p>
            <a:r>
              <a:rPr lang="zh-CN" altLang="en-US" sz="2000" b="1" dirty="0">
                <a:solidFill>
                  <a:srgbClr val="FF0000"/>
                </a:solidFill>
                <a:latin typeface="楷体" panose="02010609060101010101" pitchFamily="49" charset="-122"/>
                <a:ea typeface="楷体" panose="02010609060101010101" pitchFamily="49" charset="-122"/>
              </a:rPr>
              <a:t>结论</a:t>
            </a:r>
            <a:r>
              <a:rPr lang="zh-CN" altLang="en-US" sz="2000" b="1" dirty="0" smtClean="0">
                <a:solidFill>
                  <a:srgbClr val="FF0000"/>
                </a:solidFill>
                <a:latin typeface="楷体" panose="02010609060101010101" pitchFamily="49" charset="-122"/>
                <a:ea typeface="楷体" panose="02010609060101010101" pitchFamily="49" charset="-122"/>
              </a:rPr>
              <a:t>：</a:t>
            </a:r>
            <a:r>
              <a:rPr lang="zh-CN" altLang="en-US" sz="2000" b="1" dirty="0">
                <a:latin typeface="楷体" panose="02010609060101010101" pitchFamily="49" charset="-122"/>
                <a:ea typeface="楷体" panose="02010609060101010101" pitchFamily="49" charset="-122"/>
              </a:rPr>
              <a:t>一般来说，采用</a:t>
            </a:r>
            <a:r>
              <a:rPr lang="en-US" altLang="zh-CN" sz="2000" b="1" dirty="0">
                <a:latin typeface="楷体" panose="02010609060101010101" pitchFamily="49" charset="-122"/>
                <a:ea typeface="楷体" panose="02010609060101010101" pitchFamily="49" charset="-122"/>
              </a:rPr>
              <a:t>4K</a:t>
            </a:r>
            <a:r>
              <a:rPr lang="zh-CN" altLang="en-US" sz="2000" b="1" dirty="0">
                <a:latin typeface="楷体" panose="02010609060101010101" pitchFamily="49" charset="-122"/>
                <a:ea typeface="楷体" panose="02010609060101010101" pitchFamily="49" charset="-122"/>
              </a:rPr>
              <a:t>的</a:t>
            </a:r>
            <a:r>
              <a:rPr lang="en-US" altLang="zh-CN" sz="2000" b="1" dirty="0">
                <a:latin typeface="楷体" panose="02010609060101010101" pitchFamily="49" charset="-122"/>
                <a:ea typeface="楷体" panose="02010609060101010101" pitchFamily="49" charset="-122"/>
              </a:rPr>
              <a:t>BHT</a:t>
            </a:r>
            <a:r>
              <a:rPr lang="zh-CN" altLang="en-US" sz="2000" b="1" dirty="0">
                <a:latin typeface="楷体" panose="02010609060101010101" pitchFamily="49" charset="-122"/>
                <a:ea typeface="楷体" panose="02010609060101010101" pitchFamily="49" charset="-122"/>
              </a:rPr>
              <a:t>就可以了。</a:t>
            </a:r>
            <a:endParaRPr lang="zh-CN" altLang="en-US" sz="2000" b="1" dirty="0">
              <a:latin typeface="楷体" panose="02010609060101010101" pitchFamily="49" charset="-122"/>
              <a:ea typeface="楷体" panose="02010609060101010101" pitchFamily="49" charset="-122"/>
            </a:endParaRPr>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4258" name="Rectangle 2"/>
          <p:cNvSpPr>
            <a:spLocks noGrp="1" noChangeArrowheads="1"/>
          </p:cNvSpPr>
          <p:nvPr>
            <p:ph type="title"/>
          </p:nvPr>
        </p:nvSpPr>
        <p:spPr/>
        <p:txBody>
          <a:bodyPr/>
          <a:lstStyle/>
          <a:p>
            <a:pPr eaLnBrk="1" hangingPunct="1">
              <a:defRPr/>
            </a:pPr>
            <a:r>
              <a:rPr lang="zh-CN" altLang="en-US" smtClean="0"/>
              <a:t>相关转移预测器</a:t>
            </a:r>
            <a:endParaRPr lang="zh-CN" altLang="en-US" smtClean="0"/>
          </a:p>
        </p:txBody>
      </p:sp>
      <p:sp>
        <p:nvSpPr>
          <p:cNvPr id="1812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endParaRPr lang="zh-CN" altLang="en-US" sz="1200" b="0">
              <a:latin typeface="Times New Roman" panose="02020603050405020304" pitchFamily="18" charset="0"/>
              <a:ea typeface="幼圆" panose="02010509060101010101" pitchFamily="49" charset="-122"/>
            </a:endParaRPr>
          </a:p>
        </p:txBody>
      </p:sp>
      <p:sp>
        <p:nvSpPr>
          <p:cNvPr id="181252" name="Rectangle 5"/>
          <p:cNvSpPr>
            <a:spLocks noGrp="1" noChangeArrowheads="1"/>
          </p:cNvSpPr>
          <p:nvPr>
            <p:ph type="body" idx="1"/>
          </p:nvPr>
        </p:nvSpPr>
        <p:spPr>
          <a:xfrm>
            <a:off x="2484438" y="2133600"/>
            <a:ext cx="3733800" cy="4308475"/>
          </a:xfrm>
          <a:noFill/>
        </p:spPr>
        <p:txBody>
          <a:bodyPr/>
          <a:lstStyle/>
          <a:p>
            <a:pPr eaLnBrk="1" hangingPunct="1">
              <a:lnSpc>
                <a:spcPct val="150000"/>
              </a:lnSpc>
            </a:pPr>
            <a:r>
              <a:rPr lang="zh-CN" altLang="en-US" smtClean="0">
                <a:hlinkClick r:id="rId7" action="ppaction://hlinksldjump"/>
              </a:rPr>
              <a:t>思想</a:t>
            </a:r>
            <a:endParaRPr lang="zh-CN" altLang="en-US" smtClean="0"/>
          </a:p>
          <a:p>
            <a:pPr eaLnBrk="1" hangingPunct="1">
              <a:lnSpc>
                <a:spcPct val="150000"/>
              </a:lnSpc>
            </a:pPr>
            <a:r>
              <a:rPr lang="zh-CN" altLang="en-US" smtClean="0"/>
              <a:t>实现</a:t>
            </a:r>
            <a:endParaRPr lang="zh-CN" altLang="en-US" smtClean="0"/>
          </a:p>
          <a:p>
            <a:pPr lvl="1" eaLnBrk="1" hangingPunct="1">
              <a:lnSpc>
                <a:spcPct val="150000"/>
              </a:lnSpc>
            </a:pPr>
            <a:r>
              <a:rPr lang="zh-CN" altLang="en-US" smtClean="0">
                <a:hlinkClick r:id="rId8" action="ppaction://hlinksldjump"/>
              </a:rPr>
              <a:t>（1，1）预测器</a:t>
            </a:r>
            <a:endParaRPr lang="zh-CN" altLang="en-US" smtClean="0"/>
          </a:p>
          <a:p>
            <a:pPr lvl="1" eaLnBrk="1" hangingPunct="1">
              <a:lnSpc>
                <a:spcPct val="150000"/>
              </a:lnSpc>
            </a:pPr>
            <a:r>
              <a:rPr lang="zh-CN" altLang="en-US" smtClean="0">
                <a:hlinkClick r:id="rId9" action="ppaction://hlinksldjump"/>
              </a:rPr>
              <a:t>（</a:t>
            </a:r>
            <a:r>
              <a:rPr lang="en-US" altLang="zh-CN" smtClean="0">
                <a:hlinkClick r:id="rId9" action="ppaction://hlinksldjump"/>
              </a:rPr>
              <a:t>m，n）</a:t>
            </a:r>
            <a:r>
              <a:rPr lang="zh-CN" altLang="en-US" smtClean="0">
                <a:hlinkClick r:id="rId9" action="ppaction://hlinksldjump"/>
              </a:rPr>
              <a:t>预测器</a:t>
            </a:r>
            <a:endParaRPr lang="zh-CN" altLang="en-US" smtClean="0"/>
          </a:p>
          <a:p>
            <a:pPr eaLnBrk="1" hangingPunct="1">
              <a:lnSpc>
                <a:spcPct val="150000"/>
              </a:lnSpc>
            </a:pPr>
            <a:r>
              <a:rPr lang="zh-CN" altLang="en-US" smtClean="0">
                <a:hlinkClick r:id="rId10" action="ppaction://hlinksldjump"/>
              </a:rPr>
              <a:t>性能</a:t>
            </a:r>
            <a:endParaRPr lang="zh-CN" altLang="en-US" smtClean="0"/>
          </a:p>
        </p:txBody>
      </p:sp>
    </p:spTree>
  </p:cSld>
  <p:clrMapOvr>
    <a:masterClrMapping/>
  </p:clrMapOvr>
  <p:transition spd="slow">
    <p:random/>
    <p:sndAc>
      <p:stSnd>
        <p:snd r:embed="rId11" name="projctor.wav"/>
      </p:stSnd>
    </p:sndAc>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6546" name="Rectangle 2"/>
          <p:cNvSpPr>
            <a:spLocks noGrp="1" noChangeArrowheads="1"/>
          </p:cNvSpPr>
          <p:nvPr>
            <p:ph type="title"/>
          </p:nvPr>
        </p:nvSpPr>
        <p:spPr/>
        <p:txBody>
          <a:bodyPr/>
          <a:lstStyle/>
          <a:p>
            <a:pPr eaLnBrk="1" hangingPunct="1">
              <a:defRPr/>
            </a:pPr>
            <a:r>
              <a:rPr lang="zh-CN" altLang="en-US" smtClean="0"/>
              <a:t>思  想</a:t>
            </a:r>
            <a:endParaRPr lang="zh-CN" altLang="en-US" smtClean="0"/>
          </a:p>
        </p:txBody>
      </p:sp>
      <p:sp>
        <p:nvSpPr>
          <p:cNvPr id="18227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7" action="ppaction://hlinksldjump"/>
              </a:rPr>
              <a:t>相关预测器</a:t>
            </a:r>
            <a:endParaRPr lang="zh-CN" altLang="en-US" sz="1200" b="0">
              <a:latin typeface="Times New Roman" panose="02020603050405020304" pitchFamily="18" charset="0"/>
              <a:ea typeface="幼圆" panose="02010509060101010101" pitchFamily="49" charset="-122"/>
            </a:endParaRPr>
          </a:p>
        </p:txBody>
      </p:sp>
      <p:sp>
        <p:nvSpPr>
          <p:cNvPr id="876549" name="Rectangle 5"/>
          <p:cNvSpPr>
            <a:spLocks noGrp="1" noChangeArrowheads="1"/>
          </p:cNvSpPr>
          <p:nvPr>
            <p:ph type="body" idx="1"/>
          </p:nvPr>
        </p:nvSpPr>
        <p:spPr>
          <a:xfrm>
            <a:off x="809625" y="1989138"/>
            <a:ext cx="7958138" cy="958850"/>
          </a:xfrm>
        </p:spPr>
        <p:txBody>
          <a:bodyPr/>
          <a:lstStyle/>
          <a:p>
            <a:pPr marL="0" indent="0" eaLnBrk="1" hangingPunct="1">
              <a:lnSpc>
                <a:spcPct val="110000"/>
              </a:lnSpc>
              <a:buFont typeface="Wingdings" panose="05000000000000000000" pitchFamily="2" charset="2"/>
              <a:buNone/>
              <a:defRPr/>
            </a:pPr>
            <a:r>
              <a:rPr lang="zh-CN" altLang="en-US" sz="2400" smtClean="0"/>
              <a:t>       依靠已经发生过的其他条件转移指令的历史信息（</a:t>
            </a:r>
            <a:r>
              <a:rPr lang="zh-CN" altLang="en-US" sz="2400" smtClean="0">
                <a:solidFill>
                  <a:srgbClr val="FF0000"/>
                </a:solidFill>
                <a:effectLst>
                  <a:outerShdw blurRad="38100" dist="38100" dir="2700000" algn="tl">
                    <a:srgbClr val="C0C0C0"/>
                  </a:outerShdw>
                </a:effectLst>
              </a:rPr>
              <a:t>全局信息</a:t>
            </a:r>
            <a:r>
              <a:rPr lang="zh-CN" altLang="en-US" sz="2400" smtClean="0"/>
              <a:t>）来进行预测，可以提高预测的精确度。</a:t>
            </a:r>
            <a:endParaRPr lang="zh-CN" altLang="en-US" sz="2400" smtClean="0"/>
          </a:p>
        </p:txBody>
      </p:sp>
      <p:sp>
        <p:nvSpPr>
          <p:cNvPr id="876550" name="Rectangle 6"/>
          <p:cNvSpPr>
            <a:spLocks noChangeArrowheads="1"/>
          </p:cNvSpPr>
          <p:nvPr/>
        </p:nvSpPr>
        <p:spPr bwMode="auto">
          <a:xfrm>
            <a:off x="762000" y="3068638"/>
            <a:ext cx="2286000" cy="3332162"/>
          </a:xfrm>
          <a:prstGeom prst="rect">
            <a:avLst/>
          </a:prstGeom>
          <a:solidFill>
            <a:srgbClr val="FFFF99"/>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0"/>
              </a:spcBef>
              <a:defRPr kumimoji="1" sz="2400">
                <a:solidFill>
                  <a:schemeClr val="tx1"/>
                </a:solidFill>
                <a:latin typeface="Times New Roman" panose="02020603050405020304" pitchFamily="18" charset="0"/>
                <a:ea typeface="宋体" panose="02010600030101010101" pitchFamily="2" charset="-122"/>
              </a:defRPr>
            </a:lvl1pPr>
            <a:lvl2pPr marL="765175" indent="-285750">
              <a:spcBef>
                <a:spcPct val="0"/>
              </a:spcBef>
              <a:defRPr kumimoji="1" sz="2400">
                <a:solidFill>
                  <a:schemeClr val="tx1"/>
                </a:solidFill>
                <a:latin typeface="Times New Roman" panose="02020603050405020304" pitchFamily="18" charset="0"/>
                <a:ea typeface="宋体" panose="02010600030101010101" pitchFamily="2" charset="-122"/>
              </a:defRPr>
            </a:lvl2pPr>
            <a:lvl3pPr marL="1184275" indent="-228600">
              <a:spcBef>
                <a:spcPct val="0"/>
              </a:spcBef>
              <a:defRPr kumimoji="1" sz="2400">
                <a:solidFill>
                  <a:schemeClr val="tx1"/>
                </a:solidFill>
                <a:latin typeface="Times New Roman" panose="02020603050405020304" pitchFamily="18" charset="0"/>
                <a:ea typeface="宋体" panose="02010600030101010101" pitchFamily="2" charset="-122"/>
              </a:defRPr>
            </a:lvl3pPr>
            <a:lvl4pPr marL="1603375" indent="-228600">
              <a:spcBef>
                <a:spcPct val="0"/>
              </a:spcBef>
              <a:defRPr kumimoji="1" sz="2400">
                <a:solidFill>
                  <a:schemeClr val="tx1"/>
                </a:solidFill>
                <a:latin typeface="Times New Roman" panose="02020603050405020304" pitchFamily="18" charset="0"/>
                <a:ea typeface="宋体" panose="02010600030101010101" pitchFamily="2" charset="-122"/>
              </a:defRPr>
            </a:lvl4pPr>
            <a:lvl5pPr marL="2022475" indent="-228600">
              <a:spcBef>
                <a:spcPct val="0"/>
              </a:spcBef>
              <a:defRPr kumimoji="1" sz="2400">
                <a:solidFill>
                  <a:schemeClr val="tx1"/>
                </a:solidFill>
                <a:latin typeface="Times New Roman" panose="02020603050405020304" pitchFamily="18" charset="0"/>
                <a:ea typeface="宋体" panose="02010600030101010101" pitchFamily="2" charset="-122"/>
              </a:defRPr>
            </a:lvl5pPr>
            <a:lvl6pPr marL="24796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368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3940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512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nSpc>
                <a:spcPct val="120000"/>
              </a:lnSpc>
              <a:spcBef>
                <a:spcPct val="20000"/>
              </a:spcBef>
              <a:buClr>
                <a:srgbClr val="FF0000"/>
              </a:buClr>
              <a:buFont typeface="Wingdings" panose="05000000000000000000" pitchFamily="2" charset="2"/>
              <a:buChar char="w"/>
              <a:defRPr/>
            </a:pPr>
            <a:r>
              <a:rPr lang="en-US" altLang="zh-CN" b="1" smtClean="0">
                <a:solidFill>
                  <a:srgbClr val="FF0000"/>
                </a:solidFill>
                <a:effectLst>
                  <a:outerShdw blurRad="38100" dist="38100" dir="2700000" algn="tl">
                    <a:srgbClr val="000000"/>
                  </a:outerShdw>
                </a:effectLst>
                <a:ea typeface="黑体" panose="02010609060101010101" pitchFamily="2" charset="-122"/>
              </a:rPr>
              <a:t>  C</a:t>
            </a:r>
            <a:r>
              <a:rPr lang="zh-CN" altLang="en-US" b="1" smtClean="0">
                <a:solidFill>
                  <a:srgbClr val="FF0000"/>
                </a:solidFill>
                <a:effectLst>
                  <a:outerShdw blurRad="38100" dist="38100" dir="2700000" algn="tl">
                    <a:srgbClr val="000000"/>
                  </a:outerShdw>
                </a:effectLst>
                <a:ea typeface="黑体" panose="02010609060101010101" pitchFamily="2" charset="-122"/>
              </a:rPr>
              <a:t>语言程序</a:t>
            </a:r>
            <a:endParaRPr lang="zh-CN" altLang="en-US" b="1" smtClean="0">
              <a:solidFill>
                <a:srgbClr val="FF0000"/>
              </a:solidFill>
              <a:effectLst>
                <a:outerShdw blurRad="38100" dist="38100" dir="2700000" algn="tl">
                  <a:srgbClr val="000000"/>
                </a:outerShdw>
              </a:effectLst>
              <a:ea typeface="黑体" panose="02010609060101010101" pitchFamily="2" charset="-122"/>
            </a:endParaRPr>
          </a:p>
          <a:p>
            <a:pPr lvl="1">
              <a:lnSpc>
                <a:spcPct val="130000"/>
              </a:lnSpc>
              <a:spcBef>
                <a:spcPct val="20000"/>
              </a:spcBef>
              <a:defRPr/>
            </a:pPr>
            <a:r>
              <a:rPr lang="en-US" altLang="zh-CN" smtClean="0">
                <a:ea typeface="黑体" panose="02010609060101010101" pitchFamily="2" charset="-122"/>
              </a:rPr>
              <a:t>if (d= =0)</a:t>
            </a:r>
            <a:endParaRPr lang="en-US" altLang="zh-CN" smtClean="0">
              <a:ea typeface="黑体" panose="02010609060101010101" pitchFamily="2" charset="-122"/>
            </a:endParaRPr>
          </a:p>
          <a:p>
            <a:pPr lvl="1">
              <a:lnSpc>
                <a:spcPct val="130000"/>
              </a:lnSpc>
              <a:spcBef>
                <a:spcPct val="20000"/>
              </a:spcBef>
              <a:defRPr/>
            </a:pPr>
            <a:r>
              <a:rPr lang="en-US" altLang="zh-CN" smtClean="0">
                <a:ea typeface="黑体" panose="02010609060101010101" pitchFamily="2" charset="-122"/>
              </a:rPr>
              <a:t>     d=1;</a:t>
            </a:r>
            <a:endParaRPr lang="en-US" altLang="zh-CN" smtClean="0">
              <a:ea typeface="黑体" panose="02010609060101010101" pitchFamily="2" charset="-122"/>
            </a:endParaRPr>
          </a:p>
          <a:p>
            <a:pPr lvl="1">
              <a:lnSpc>
                <a:spcPct val="130000"/>
              </a:lnSpc>
              <a:spcBef>
                <a:spcPct val="20000"/>
              </a:spcBef>
              <a:defRPr/>
            </a:pPr>
            <a:r>
              <a:rPr lang="en-US" altLang="zh-CN" smtClean="0">
                <a:ea typeface="黑体" panose="02010609060101010101" pitchFamily="2" charset="-122"/>
              </a:rPr>
              <a:t>if (d= =1)</a:t>
            </a:r>
            <a:endParaRPr lang="en-US" altLang="zh-CN" smtClean="0">
              <a:ea typeface="黑体" panose="02010609060101010101" pitchFamily="2" charset="-122"/>
            </a:endParaRPr>
          </a:p>
          <a:p>
            <a:pPr lvl="1">
              <a:lnSpc>
                <a:spcPct val="130000"/>
              </a:lnSpc>
              <a:spcBef>
                <a:spcPct val="20000"/>
              </a:spcBef>
              <a:defRPr/>
            </a:pPr>
            <a:r>
              <a:rPr lang="en-US" altLang="zh-CN" smtClean="0">
                <a:ea typeface="黑体" panose="02010609060101010101" pitchFamily="2" charset="-122"/>
              </a:rPr>
              <a:t>     {…}</a:t>
            </a:r>
            <a:endParaRPr lang="en-US" altLang="zh-CN" smtClean="0">
              <a:ea typeface="黑体" panose="02010609060101010101" pitchFamily="2" charset="-122"/>
            </a:endParaRPr>
          </a:p>
        </p:txBody>
      </p:sp>
      <p:sp>
        <p:nvSpPr>
          <p:cNvPr id="876551" name="Rectangle 7"/>
          <p:cNvSpPr>
            <a:spLocks noChangeArrowheads="1"/>
          </p:cNvSpPr>
          <p:nvPr/>
        </p:nvSpPr>
        <p:spPr bwMode="auto">
          <a:xfrm>
            <a:off x="3200400" y="3068638"/>
            <a:ext cx="5562600" cy="3332162"/>
          </a:xfrm>
          <a:prstGeom prst="rect">
            <a:avLst/>
          </a:prstGeom>
          <a:solidFill>
            <a:srgbClr val="CCFFFF"/>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0"/>
              </a:spcBef>
              <a:tabLst>
                <a:tab pos="476250" algn="l"/>
                <a:tab pos="3232150" algn="l"/>
              </a:tabLst>
              <a:defRPr kumimoji="1" sz="2400">
                <a:solidFill>
                  <a:schemeClr val="tx1"/>
                </a:solidFill>
                <a:latin typeface="Times New Roman" panose="02020603050405020304" pitchFamily="18" charset="0"/>
                <a:ea typeface="宋体" panose="02010600030101010101" pitchFamily="2" charset="-122"/>
              </a:defRPr>
            </a:lvl1pPr>
            <a:lvl2pPr marL="765175" indent="-285750">
              <a:spcBef>
                <a:spcPct val="0"/>
              </a:spcBef>
              <a:tabLst>
                <a:tab pos="476250" algn="l"/>
                <a:tab pos="3232150" algn="l"/>
              </a:tabLst>
              <a:defRPr kumimoji="1" sz="2400">
                <a:solidFill>
                  <a:schemeClr val="tx1"/>
                </a:solidFill>
                <a:latin typeface="Times New Roman" panose="02020603050405020304" pitchFamily="18" charset="0"/>
                <a:ea typeface="宋体" panose="02010600030101010101" pitchFamily="2" charset="-122"/>
              </a:defRPr>
            </a:lvl2pPr>
            <a:lvl3pPr marL="1184275" indent="-228600">
              <a:spcBef>
                <a:spcPct val="0"/>
              </a:spcBef>
              <a:tabLst>
                <a:tab pos="476250" algn="l"/>
                <a:tab pos="3232150" algn="l"/>
              </a:tabLst>
              <a:defRPr kumimoji="1" sz="2400">
                <a:solidFill>
                  <a:schemeClr val="tx1"/>
                </a:solidFill>
                <a:latin typeface="Times New Roman" panose="02020603050405020304" pitchFamily="18" charset="0"/>
                <a:ea typeface="宋体" panose="02010600030101010101" pitchFamily="2" charset="-122"/>
              </a:defRPr>
            </a:lvl3pPr>
            <a:lvl4pPr marL="1603375" indent="-228600">
              <a:spcBef>
                <a:spcPct val="0"/>
              </a:spcBef>
              <a:tabLst>
                <a:tab pos="476250" algn="l"/>
                <a:tab pos="3232150" algn="l"/>
              </a:tabLst>
              <a:defRPr kumimoji="1" sz="2400">
                <a:solidFill>
                  <a:schemeClr val="tx1"/>
                </a:solidFill>
                <a:latin typeface="Times New Roman" panose="02020603050405020304" pitchFamily="18" charset="0"/>
                <a:ea typeface="宋体" panose="02010600030101010101" pitchFamily="2" charset="-122"/>
              </a:defRPr>
            </a:lvl4pPr>
            <a:lvl5pPr marL="2022475" indent="-228600">
              <a:spcBef>
                <a:spcPct val="0"/>
              </a:spcBef>
              <a:tabLst>
                <a:tab pos="476250" algn="l"/>
                <a:tab pos="3232150" algn="l"/>
              </a:tabLst>
              <a:defRPr kumimoji="1" sz="2400">
                <a:solidFill>
                  <a:schemeClr val="tx1"/>
                </a:solidFill>
                <a:latin typeface="Times New Roman" panose="02020603050405020304" pitchFamily="18" charset="0"/>
                <a:ea typeface="宋体" panose="02010600030101010101" pitchFamily="2" charset="-122"/>
              </a:defRPr>
            </a:lvl5pPr>
            <a:lvl6pPr marL="2479675" indent="-228600" fontAlgn="base">
              <a:spcBef>
                <a:spcPct val="0"/>
              </a:spcBef>
              <a:spcAft>
                <a:spcPct val="0"/>
              </a:spcAft>
              <a:tabLst>
                <a:tab pos="476250" algn="l"/>
                <a:tab pos="3232150" algn="l"/>
              </a:tabLst>
              <a:defRPr kumimoji="1" sz="2400">
                <a:solidFill>
                  <a:schemeClr val="tx1"/>
                </a:solidFill>
                <a:latin typeface="Times New Roman" panose="02020603050405020304" pitchFamily="18" charset="0"/>
                <a:ea typeface="宋体" panose="02010600030101010101" pitchFamily="2" charset="-122"/>
              </a:defRPr>
            </a:lvl6pPr>
            <a:lvl7pPr marL="2936875" indent="-228600" fontAlgn="base">
              <a:spcBef>
                <a:spcPct val="0"/>
              </a:spcBef>
              <a:spcAft>
                <a:spcPct val="0"/>
              </a:spcAft>
              <a:tabLst>
                <a:tab pos="476250" algn="l"/>
                <a:tab pos="3232150" algn="l"/>
              </a:tabLst>
              <a:defRPr kumimoji="1" sz="2400">
                <a:solidFill>
                  <a:schemeClr val="tx1"/>
                </a:solidFill>
                <a:latin typeface="Times New Roman" panose="02020603050405020304" pitchFamily="18" charset="0"/>
                <a:ea typeface="宋体" panose="02010600030101010101" pitchFamily="2" charset="-122"/>
              </a:defRPr>
            </a:lvl7pPr>
            <a:lvl8pPr marL="3394075" indent="-228600" fontAlgn="base">
              <a:spcBef>
                <a:spcPct val="0"/>
              </a:spcBef>
              <a:spcAft>
                <a:spcPct val="0"/>
              </a:spcAft>
              <a:tabLst>
                <a:tab pos="476250" algn="l"/>
                <a:tab pos="3232150" algn="l"/>
              </a:tabLst>
              <a:defRPr kumimoji="1" sz="2400">
                <a:solidFill>
                  <a:schemeClr val="tx1"/>
                </a:solidFill>
                <a:latin typeface="Times New Roman" panose="02020603050405020304" pitchFamily="18" charset="0"/>
                <a:ea typeface="宋体" panose="02010600030101010101" pitchFamily="2" charset="-122"/>
              </a:defRPr>
            </a:lvl8pPr>
            <a:lvl9pPr marL="3851275" indent="-228600" fontAlgn="base">
              <a:spcBef>
                <a:spcPct val="0"/>
              </a:spcBef>
              <a:spcAft>
                <a:spcPct val="0"/>
              </a:spcAft>
              <a:tabLst>
                <a:tab pos="476250" algn="l"/>
                <a:tab pos="3232150" algn="l"/>
              </a:tabLst>
              <a:defRPr kumimoji="1" sz="2400">
                <a:solidFill>
                  <a:schemeClr val="tx1"/>
                </a:solidFill>
                <a:latin typeface="Times New Roman" panose="02020603050405020304" pitchFamily="18" charset="0"/>
                <a:ea typeface="宋体" panose="02010600030101010101" pitchFamily="2" charset="-122"/>
              </a:defRPr>
            </a:lvl9pPr>
          </a:lstStyle>
          <a:p>
            <a:pPr>
              <a:lnSpc>
                <a:spcPct val="120000"/>
              </a:lnSpc>
              <a:spcBef>
                <a:spcPct val="20000"/>
              </a:spcBef>
              <a:buClr>
                <a:srgbClr val="FF0000"/>
              </a:buClr>
              <a:buFont typeface="Wingdings" panose="05000000000000000000" pitchFamily="2" charset="2"/>
              <a:buChar char="w"/>
              <a:defRPr/>
            </a:pPr>
            <a:r>
              <a:rPr lang="en-US" altLang="zh-CN" b="1" smtClean="0">
                <a:solidFill>
                  <a:srgbClr val="FF0000"/>
                </a:solidFill>
                <a:effectLst>
                  <a:outerShdw blurRad="38100" dist="38100" dir="2700000" algn="tl">
                    <a:srgbClr val="000000"/>
                  </a:outerShdw>
                </a:effectLst>
                <a:ea typeface="黑体" panose="02010609060101010101" pitchFamily="2" charset="-122"/>
              </a:rPr>
              <a:t>  MIPS</a:t>
            </a:r>
            <a:r>
              <a:rPr lang="zh-CN" altLang="en-US" b="1" smtClean="0">
                <a:solidFill>
                  <a:srgbClr val="FF0000"/>
                </a:solidFill>
                <a:effectLst>
                  <a:outerShdw blurRad="38100" dist="38100" dir="2700000" algn="tl">
                    <a:srgbClr val="000000"/>
                  </a:outerShdw>
                </a:effectLst>
                <a:ea typeface="黑体" panose="02010609060101010101" pitchFamily="2" charset="-122"/>
              </a:rPr>
              <a:t>代码</a:t>
            </a:r>
            <a:endParaRPr lang="zh-CN" altLang="en-US" b="1" smtClean="0">
              <a:solidFill>
                <a:srgbClr val="FF0000"/>
              </a:solidFill>
              <a:effectLst>
                <a:outerShdw blurRad="38100" dist="38100" dir="2700000" algn="tl">
                  <a:srgbClr val="000000"/>
                </a:outerShdw>
              </a:effectLst>
              <a:ea typeface="黑体" panose="02010609060101010101" pitchFamily="2" charset="-122"/>
            </a:endParaRPr>
          </a:p>
          <a:p>
            <a:pPr>
              <a:spcBef>
                <a:spcPct val="20000"/>
              </a:spcBef>
              <a:defRPr/>
            </a:pPr>
            <a:r>
              <a:rPr lang="en-US" altLang="zh-CN" smtClean="0">
                <a:ea typeface="黑体" panose="02010609060101010101" pitchFamily="2" charset="-122"/>
              </a:rPr>
              <a:t>	</a:t>
            </a:r>
            <a:r>
              <a:rPr lang="en-US" altLang="zh-CN" b="1" smtClean="0">
                <a:solidFill>
                  <a:srgbClr val="0000FF"/>
                </a:solidFill>
                <a:ea typeface="黑体" panose="02010609060101010101" pitchFamily="2" charset="-122"/>
              </a:rPr>
              <a:t>BNEZ R1,L1</a:t>
            </a:r>
            <a:r>
              <a:rPr lang="en-US" altLang="zh-CN" smtClean="0">
                <a:ea typeface="黑体" panose="02010609060101010101" pitchFamily="2" charset="-122"/>
              </a:rPr>
              <a:t>	;</a:t>
            </a:r>
            <a:r>
              <a:rPr lang="zh-CN" altLang="en-US" smtClean="0">
                <a:ea typeface="黑体" panose="02010609060101010101" pitchFamily="2" charset="-122"/>
              </a:rPr>
              <a:t>分支</a:t>
            </a:r>
            <a:r>
              <a:rPr lang="en-US" altLang="zh-CN" smtClean="0">
                <a:ea typeface="黑体" panose="02010609060101010101" pitchFamily="2" charset="-122"/>
              </a:rPr>
              <a:t>b1(d!=0)</a:t>
            </a:r>
            <a:endParaRPr lang="en-US" altLang="zh-CN" smtClean="0">
              <a:ea typeface="黑体" panose="02010609060101010101" pitchFamily="2" charset="-122"/>
            </a:endParaRPr>
          </a:p>
          <a:p>
            <a:pPr>
              <a:spcBef>
                <a:spcPct val="20000"/>
              </a:spcBef>
              <a:defRPr/>
            </a:pPr>
            <a:r>
              <a:rPr lang="en-US" altLang="zh-CN" smtClean="0">
                <a:ea typeface="黑体" panose="02010609060101010101" pitchFamily="2" charset="-122"/>
              </a:rPr>
              <a:t>	DADDIU R1,R0,#1	;d= =0,so d=1</a:t>
            </a:r>
            <a:endParaRPr lang="en-US" altLang="zh-CN" smtClean="0">
              <a:ea typeface="黑体" panose="02010609060101010101" pitchFamily="2" charset="-122"/>
            </a:endParaRPr>
          </a:p>
          <a:p>
            <a:pPr>
              <a:spcBef>
                <a:spcPct val="20000"/>
              </a:spcBef>
              <a:defRPr/>
            </a:pPr>
            <a:r>
              <a:rPr lang="en-US" altLang="zh-CN" smtClean="0">
                <a:ea typeface="黑体" panose="02010609060101010101" pitchFamily="2" charset="-122"/>
              </a:rPr>
              <a:t>L1:DADDIU R3,R1,#-1</a:t>
            </a:r>
            <a:endParaRPr lang="en-US" altLang="zh-CN" smtClean="0">
              <a:ea typeface="黑体" panose="02010609060101010101" pitchFamily="2" charset="-122"/>
            </a:endParaRPr>
          </a:p>
          <a:p>
            <a:pPr>
              <a:spcBef>
                <a:spcPct val="20000"/>
              </a:spcBef>
              <a:defRPr/>
            </a:pPr>
            <a:r>
              <a:rPr lang="en-US" altLang="zh-CN" b="1" smtClean="0">
                <a:ea typeface="黑体" panose="02010609060101010101" pitchFamily="2" charset="-122"/>
              </a:rPr>
              <a:t>	</a:t>
            </a:r>
            <a:r>
              <a:rPr lang="en-US" altLang="zh-CN" b="1" smtClean="0">
                <a:solidFill>
                  <a:srgbClr val="0000FF"/>
                </a:solidFill>
                <a:ea typeface="黑体" panose="02010609060101010101" pitchFamily="2" charset="-122"/>
              </a:rPr>
              <a:t>BNEZ R3,L2</a:t>
            </a:r>
            <a:r>
              <a:rPr lang="en-US" altLang="zh-CN" smtClean="0">
                <a:ea typeface="黑体" panose="02010609060101010101" pitchFamily="2" charset="-122"/>
              </a:rPr>
              <a:t>	;</a:t>
            </a:r>
            <a:r>
              <a:rPr lang="zh-CN" altLang="en-US" smtClean="0">
                <a:ea typeface="黑体" panose="02010609060101010101" pitchFamily="2" charset="-122"/>
              </a:rPr>
              <a:t>分支</a:t>
            </a:r>
            <a:r>
              <a:rPr lang="en-US" altLang="zh-CN" smtClean="0">
                <a:ea typeface="黑体" panose="02010609060101010101" pitchFamily="2" charset="-122"/>
              </a:rPr>
              <a:t>b2(d!=1)</a:t>
            </a:r>
            <a:endParaRPr lang="en-US" altLang="zh-CN" smtClean="0">
              <a:ea typeface="黑体" panose="02010609060101010101" pitchFamily="2" charset="-122"/>
            </a:endParaRPr>
          </a:p>
          <a:p>
            <a:pPr>
              <a:spcBef>
                <a:spcPct val="20000"/>
              </a:spcBef>
              <a:defRPr/>
            </a:pPr>
            <a:r>
              <a:rPr lang="en-US" altLang="zh-CN" smtClean="0">
                <a:ea typeface="黑体" panose="02010609060101010101" pitchFamily="2" charset="-122"/>
              </a:rPr>
              <a:t>	…</a:t>
            </a:r>
            <a:endParaRPr lang="en-US" altLang="zh-CN" smtClean="0">
              <a:ea typeface="黑体" panose="02010609060101010101" pitchFamily="2" charset="-122"/>
            </a:endParaRPr>
          </a:p>
          <a:p>
            <a:pPr>
              <a:spcBef>
                <a:spcPct val="20000"/>
              </a:spcBef>
              <a:defRPr/>
            </a:pPr>
            <a:r>
              <a:rPr lang="en-US" altLang="zh-CN" smtClean="0">
                <a:ea typeface="黑体" panose="02010609060101010101" pitchFamily="2" charset="-122"/>
              </a:rPr>
              <a:t>L2:</a:t>
            </a:r>
            <a:endParaRPr lang="en-US" altLang="zh-CN" smtClean="0">
              <a:ea typeface="黑体" panose="02010609060101010101" pitchFamily="2" charset="-122"/>
            </a:endParaRPr>
          </a:p>
        </p:txBody>
      </p:sp>
      <p:sp>
        <p:nvSpPr>
          <p:cNvPr id="876553" name="Freeform 9"/>
          <p:cNvSpPr/>
          <p:nvPr/>
        </p:nvSpPr>
        <p:spPr bwMode="auto">
          <a:xfrm>
            <a:off x="6076950" y="3843338"/>
            <a:ext cx="457200" cy="1371600"/>
          </a:xfrm>
          <a:custGeom>
            <a:avLst/>
            <a:gdLst>
              <a:gd name="T0" fmla="*/ 2147483647 w 288"/>
              <a:gd name="T1" fmla="*/ 2147483647 h 864"/>
              <a:gd name="T2" fmla="*/ 2147483647 w 288"/>
              <a:gd name="T3" fmla="*/ 2147483647 h 864"/>
              <a:gd name="T4" fmla="*/ 0 w 288"/>
              <a:gd name="T5" fmla="*/ 2147483647 h 864"/>
              <a:gd name="T6" fmla="*/ 2147483647 w 288"/>
              <a:gd name="T7" fmla="*/ 2147483647 h 864"/>
              <a:gd name="T8" fmla="*/ 2147483647 w 288"/>
              <a:gd name="T9" fmla="*/ 0 h 8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8" h="864">
                <a:moveTo>
                  <a:pt x="288" y="864"/>
                </a:moveTo>
                <a:cubicBezTo>
                  <a:pt x="216" y="832"/>
                  <a:pt x="144" y="800"/>
                  <a:pt x="96" y="720"/>
                </a:cubicBezTo>
                <a:cubicBezTo>
                  <a:pt x="48" y="640"/>
                  <a:pt x="0" y="488"/>
                  <a:pt x="0" y="384"/>
                </a:cubicBezTo>
                <a:cubicBezTo>
                  <a:pt x="0" y="280"/>
                  <a:pt x="48" y="160"/>
                  <a:pt x="96" y="96"/>
                </a:cubicBezTo>
                <a:cubicBezTo>
                  <a:pt x="144" y="32"/>
                  <a:pt x="216" y="16"/>
                  <a:pt x="288" y="0"/>
                </a:cubicBezTo>
              </a:path>
            </a:pathLst>
          </a:custGeom>
          <a:noFill/>
          <a:ln w="28575" cap="flat" cmpd="sng">
            <a:solidFill>
              <a:srgbClr val="FF0000"/>
            </a:solidFill>
            <a:prstDash val="solid"/>
            <a:roun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76554" name="AutoShape 10"/>
          <p:cNvSpPr>
            <a:spLocks noChangeArrowheads="1"/>
          </p:cNvSpPr>
          <p:nvPr/>
        </p:nvSpPr>
        <p:spPr bwMode="auto">
          <a:xfrm>
            <a:off x="4191000" y="5791200"/>
            <a:ext cx="4419600" cy="533400"/>
          </a:xfrm>
          <a:prstGeom prst="wedgeRoundRectCallout">
            <a:avLst>
              <a:gd name="adj1" fmla="val -3343"/>
              <a:gd name="adj2" fmla="val -157440"/>
              <a:gd name="adj3" fmla="val 16667"/>
            </a:avLst>
          </a:prstGeom>
          <a:solidFill>
            <a:srgbClr val="99FF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rIns="0" anchor="ctr" anchorCtr="1"/>
          <a:lstStyle/>
          <a:p>
            <a:pPr algn="ctr">
              <a:defRPr/>
            </a:pPr>
            <a:r>
              <a:rPr lang="zh-CN" altLang="en-US" sz="2000" b="1">
                <a:solidFill>
                  <a:srgbClr val="FF0000"/>
                </a:solidFill>
                <a:effectLst>
                  <a:outerShdw blurRad="38100" dist="38100" dir="2700000" algn="tl">
                    <a:srgbClr val="000000"/>
                  </a:outerShdw>
                </a:effectLst>
              </a:rPr>
              <a:t>若</a:t>
            </a:r>
            <a:r>
              <a:rPr lang="en-US" altLang="zh-CN" sz="2000" b="1">
                <a:solidFill>
                  <a:srgbClr val="FF0000"/>
                </a:solidFill>
                <a:effectLst>
                  <a:outerShdw blurRad="38100" dist="38100" dir="2700000" algn="tl">
                    <a:srgbClr val="000000"/>
                  </a:outerShdw>
                </a:effectLst>
              </a:rPr>
              <a:t>b1</a:t>
            </a:r>
            <a:r>
              <a:rPr lang="zh-CN" altLang="en-US" sz="2000" b="1">
                <a:solidFill>
                  <a:srgbClr val="FF0000"/>
                </a:solidFill>
                <a:effectLst>
                  <a:outerShdw blurRad="38100" dist="38100" dir="2700000" algn="tl">
                    <a:srgbClr val="000000"/>
                  </a:outerShdw>
                </a:effectLst>
              </a:rPr>
              <a:t>不被执行，则</a:t>
            </a:r>
            <a:r>
              <a:rPr lang="en-US" altLang="zh-CN" sz="2000" b="1">
                <a:solidFill>
                  <a:srgbClr val="FF0000"/>
                </a:solidFill>
                <a:effectLst>
                  <a:outerShdw blurRad="38100" dist="38100" dir="2700000" algn="tl">
                    <a:srgbClr val="000000"/>
                  </a:outerShdw>
                </a:effectLst>
              </a:rPr>
              <a:t>b2</a:t>
            </a:r>
            <a:r>
              <a:rPr lang="zh-CN" altLang="en-US" sz="2000" b="1">
                <a:solidFill>
                  <a:srgbClr val="FF0000"/>
                </a:solidFill>
                <a:effectLst>
                  <a:outerShdw blurRad="38100" dist="38100" dir="2700000" algn="tl">
                    <a:srgbClr val="000000"/>
                  </a:outerShdw>
                </a:effectLst>
              </a:rPr>
              <a:t>也不会被执行</a:t>
            </a:r>
            <a:endParaRPr lang="zh-CN" altLang="en-US" sz="2000" b="1">
              <a:solidFill>
                <a:srgbClr val="FF0000"/>
              </a:solidFill>
              <a:effectLst>
                <a:outerShdw blurRad="38100" dist="38100" dir="2700000" algn="tl">
                  <a:srgbClr val="000000"/>
                </a:outerShdw>
              </a:effectLst>
            </a:endParaRPr>
          </a:p>
        </p:txBody>
      </p:sp>
    </p:spTree>
  </p:cSld>
  <p:clrMapOvr>
    <a:masterClrMapping/>
  </p:clrMapOvr>
  <p:transition spd="slow">
    <p:random/>
    <p:sndAc>
      <p:stSnd>
        <p:snd r:embed="rId8"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876553"/>
                                        </p:tgtEl>
                                        <p:attrNameLst>
                                          <p:attrName>style.visibility</p:attrName>
                                        </p:attrNameLst>
                                      </p:cBhvr>
                                      <p:to>
                                        <p:strVal val="visible"/>
                                      </p:to>
                                    </p:set>
                                    <p:animEffect transition="in" filter="wipe(down)">
                                      <p:cBhvr>
                                        <p:cTn id="7" dur="500"/>
                                        <p:tgtEl>
                                          <p:spTgt spid="8765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76554"/>
                                        </p:tgtEl>
                                        <p:attrNameLst>
                                          <p:attrName>style.visibility</p:attrName>
                                        </p:attrNameLst>
                                      </p:cBhvr>
                                      <p:to>
                                        <p:strVal val="visible"/>
                                      </p:to>
                                    </p:set>
                                    <p:animEffect transition="in" filter="dissolve">
                                      <p:cBhvr>
                                        <p:cTn id="12" dur="500"/>
                                        <p:tgtEl>
                                          <p:spTgt spid="8765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6553" grpId="0" animBg="1"/>
      <p:bldP spid="876554" grpId="0" animBg="1" autoUpdateAnimBg="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7570" name="Rectangle 2"/>
          <p:cNvSpPr>
            <a:spLocks noGrp="1" noChangeArrowheads="1"/>
          </p:cNvSpPr>
          <p:nvPr>
            <p:ph type="title"/>
          </p:nvPr>
        </p:nvSpPr>
        <p:spPr/>
        <p:txBody>
          <a:bodyPr/>
          <a:lstStyle/>
          <a:p>
            <a:pPr eaLnBrk="1" hangingPunct="1">
              <a:defRPr/>
            </a:pPr>
            <a:r>
              <a:rPr lang="zh-CN" altLang="en-US" sz="4000" smtClean="0"/>
              <a:t>（1，1）</a:t>
            </a:r>
            <a:r>
              <a:rPr lang="zh-CN" altLang="en-US" smtClean="0"/>
              <a:t>预测器</a:t>
            </a:r>
            <a:br>
              <a:rPr lang="zh-CN" altLang="en-US" sz="3200" smtClean="0"/>
            </a:br>
            <a:r>
              <a:rPr lang="zh-CN" altLang="en-US" sz="3200" smtClean="0"/>
              <a:t>                  —  方法</a:t>
            </a:r>
            <a:endParaRPr lang="zh-CN" altLang="en-US" sz="3200" smtClean="0"/>
          </a:p>
        </p:txBody>
      </p:sp>
      <p:sp>
        <p:nvSpPr>
          <p:cNvPr id="1832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7" action="ppaction://hlinksldjump"/>
              </a:rPr>
              <a:t>相关预测器</a:t>
            </a:r>
            <a:endParaRPr lang="zh-CN" altLang="en-US" sz="1200" b="0">
              <a:latin typeface="Times New Roman" panose="02020603050405020304" pitchFamily="18" charset="0"/>
              <a:ea typeface="幼圆" panose="02010509060101010101" pitchFamily="49" charset="-122"/>
            </a:endParaRPr>
          </a:p>
        </p:txBody>
      </p:sp>
      <p:sp>
        <p:nvSpPr>
          <p:cNvPr id="183300" name="Rectangle 4"/>
          <p:cNvSpPr>
            <a:spLocks noGrp="1" noChangeArrowheads="1"/>
          </p:cNvSpPr>
          <p:nvPr>
            <p:ph type="body" idx="1"/>
          </p:nvPr>
        </p:nvSpPr>
        <p:spPr>
          <a:xfrm>
            <a:off x="809625" y="1989138"/>
            <a:ext cx="7958138" cy="2082800"/>
          </a:xfrm>
        </p:spPr>
        <p:txBody>
          <a:bodyPr/>
          <a:lstStyle/>
          <a:p>
            <a:pPr marL="0" indent="0" eaLnBrk="1" hangingPunct="1">
              <a:buFont typeface="Wingdings" panose="05000000000000000000" pitchFamily="2" charset="2"/>
              <a:buNone/>
            </a:pPr>
            <a:r>
              <a:rPr lang="zh-CN" altLang="en-US" sz="2400" dirty="0" smtClean="0"/>
              <a:t>       根据前一次其它条件转移指令的行为去从一对1</a:t>
            </a:r>
            <a:r>
              <a:rPr lang="en-US" altLang="zh-CN" sz="2400" dirty="0" smtClean="0"/>
              <a:t>bit</a:t>
            </a:r>
            <a:r>
              <a:rPr lang="zh-CN" altLang="en-US" sz="2400" dirty="0" smtClean="0"/>
              <a:t>预测器中进行选择。即：每个条件转移指令需设置一对1</a:t>
            </a:r>
            <a:r>
              <a:rPr lang="en-US" altLang="zh-CN" sz="2400" dirty="0" smtClean="0"/>
              <a:t>bit</a:t>
            </a:r>
            <a:r>
              <a:rPr lang="zh-CN" altLang="en-US" sz="2400" dirty="0" smtClean="0"/>
              <a:t>预测器，其中1</a:t>
            </a:r>
            <a:r>
              <a:rPr lang="en-US" altLang="zh-CN" sz="2400" dirty="0" smtClean="0"/>
              <a:t>bit</a:t>
            </a:r>
            <a:r>
              <a:rPr lang="zh-CN" altLang="en-US" sz="2400" dirty="0" smtClean="0"/>
              <a:t>用于前一次其它条件转移指令未成功转移时的预测，另1</a:t>
            </a:r>
            <a:r>
              <a:rPr lang="en-US" altLang="zh-CN" sz="2400" dirty="0" smtClean="0"/>
              <a:t>bit</a:t>
            </a:r>
            <a:r>
              <a:rPr lang="zh-CN" altLang="en-US" sz="2400" dirty="0" smtClean="0"/>
              <a:t>用于前一次其它条件转移指令成功转移时的预测。</a:t>
            </a:r>
            <a:endParaRPr lang="zh-CN" altLang="en-US" sz="2400" dirty="0" smtClean="0"/>
          </a:p>
        </p:txBody>
      </p:sp>
      <p:graphicFrame>
        <p:nvGraphicFramePr>
          <p:cNvPr id="877607" name="Group 39"/>
          <p:cNvGraphicFramePr>
            <a:graphicFrameLocks noGrp="1"/>
          </p:cNvGraphicFramePr>
          <p:nvPr/>
        </p:nvGraphicFramePr>
        <p:xfrm>
          <a:off x="990600" y="4191000"/>
          <a:ext cx="7467600" cy="2286000"/>
        </p:xfrm>
        <a:graphic>
          <a:graphicData uri="http://schemas.openxmlformats.org/drawingml/2006/table">
            <a:tbl>
              <a:tblPr/>
              <a:tblGrid>
                <a:gridCol w="2489200"/>
                <a:gridCol w="2489200"/>
                <a:gridCol w="2489200"/>
              </a:tblGrid>
              <a:tr h="4254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预测位1</a:t>
                      </a: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bit/1bit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未成功转移分支</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成功转移分支</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r>
              <a:tr h="4254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NT/NT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254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NT/T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23863">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T/NT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33388">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T/T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183327" name="Freeform 35"/>
          <p:cNvSpPr/>
          <p:nvPr/>
        </p:nvSpPr>
        <p:spPr bwMode="auto">
          <a:xfrm>
            <a:off x="2362200" y="3886200"/>
            <a:ext cx="2133600" cy="381000"/>
          </a:xfrm>
          <a:custGeom>
            <a:avLst/>
            <a:gdLst>
              <a:gd name="T0" fmla="*/ 0 w 1344"/>
              <a:gd name="T1" fmla="*/ 2147483647 h 336"/>
              <a:gd name="T2" fmla="*/ 2147483647 w 1344"/>
              <a:gd name="T3" fmla="*/ 0 h 336"/>
              <a:gd name="T4" fmla="*/ 2147483647 w 1344"/>
              <a:gd name="T5" fmla="*/ 2147483647 h 336"/>
              <a:gd name="T6" fmla="*/ 0 60000 65536"/>
              <a:gd name="T7" fmla="*/ 0 60000 65536"/>
              <a:gd name="T8" fmla="*/ 0 60000 65536"/>
            </a:gdLst>
            <a:ahLst/>
            <a:cxnLst>
              <a:cxn ang="T6">
                <a:pos x="T0" y="T1"/>
              </a:cxn>
              <a:cxn ang="T7">
                <a:pos x="T2" y="T3"/>
              </a:cxn>
              <a:cxn ang="T8">
                <a:pos x="T4" y="T5"/>
              </a:cxn>
            </a:cxnLst>
            <a:rect l="0" t="0" r="r" b="b"/>
            <a:pathLst>
              <a:path w="1344" h="336">
                <a:moveTo>
                  <a:pt x="0" y="336"/>
                </a:moveTo>
                <a:cubicBezTo>
                  <a:pt x="200" y="168"/>
                  <a:pt x="400" y="0"/>
                  <a:pt x="624" y="0"/>
                </a:cubicBezTo>
                <a:cubicBezTo>
                  <a:pt x="848" y="0"/>
                  <a:pt x="1224" y="280"/>
                  <a:pt x="1344" y="336"/>
                </a:cubicBezTo>
              </a:path>
            </a:pathLst>
          </a:custGeom>
          <a:noFill/>
          <a:ln w="28575" cap="flat" cmpd="sng">
            <a:solidFill>
              <a:srgbClr val="FF0000"/>
            </a:solidFill>
            <a:prstDash val="solid"/>
            <a:roun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3328" name="Freeform 36"/>
          <p:cNvSpPr/>
          <p:nvPr/>
        </p:nvSpPr>
        <p:spPr bwMode="auto">
          <a:xfrm>
            <a:off x="2971800" y="4572000"/>
            <a:ext cx="4267200" cy="457200"/>
          </a:xfrm>
          <a:custGeom>
            <a:avLst/>
            <a:gdLst>
              <a:gd name="T0" fmla="*/ 0 w 2688"/>
              <a:gd name="T1" fmla="*/ 0 h 288"/>
              <a:gd name="T2" fmla="*/ 2147483647 w 2688"/>
              <a:gd name="T3" fmla="*/ 2147483647 h 288"/>
              <a:gd name="T4" fmla="*/ 2147483647 w 2688"/>
              <a:gd name="T5" fmla="*/ 0 h 288"/>
              <a:gd name="T6" fmla="*/ 0 60000 65536"/>
              <a:gd name="T7" fmla="*/ 0 60000 65536"/>
              <a:gd name="T8" fmla="*/ 0 60000 65536"/>
            </a:gdLst>
            <a:ahLst/>
            <a:cxnLst>
              <a:cxn ang="T6">
                <a:pos x="T0" y="T1"/>
              </a:cxn>
              <a:cxn ang="T7">
                <a:pos x="T2" y="T3"/>
              </a:cxn>
              <a:cxn ang="T8">
                <a:pos x="T4" y="T5"/>
              </a:cxn>
            </a:cxnLst>
            <a:rect l="0" t="0" r="r" b="b"/>
            <a:pathLst>
              <a:path w="2688" h="288">
                <a:moveTo>
                  <a:pt x="0" y="0"/>
                </a:moveTo>
                <a:cubicBezTo>
                  <a:pt x="496" y="144"/>
                  <a:pt x="992" y="288"/>
                  <a:pt x="1440" y="288"/>
                </a:cubicBezTo>
                <a:cubicBezTo>
                  <a:pt x="1888" y="288"/>
                  <a:pt x="2288" y="144"/>
                  <a:pt x="2688" y="0"/>
                </a:cubicBezTo>
              </a:path>
            </a:pathLst>
          </a:custGeom>
          <a:noFill/>
          <a:ln w="28575" cap="flat" cmpd="sng">
            <a:solidFill>
              <a:srgbClr val="FF0000"/>
            </a:solidFill>
            <a:prstDash val="solid"/>
            <a:roun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3329" name="Text Box 3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42" name="Rectangle 2"/>
          <p:cNvSpPr>
            <a:spLocks noGrp="1" noChangeArrowheads="1"/>
          </p:cNvSpPr>
          <p:nvPr>
            <p:ph type="title"/>
          </p:nvPr>
        </p:nvSpPr>
        <p:spPr/>
        <p:txBody>
          <a:bodyPr/>
          <a:lstStyle/>
          <a:p>
            <a:pPr eaLnBrk="1" hangingPunct="1">
              <a:defRPr/>
            </a:pPr>
            <a:r>
              <a:rPr lang="zh-CN" altLang="en-US" sz="4000" smtClean="0"/>
              <a:t>（1，1）</a:t>
            </a:r>
            <a:r>
              <a:rPr lang="zh-CN" altLang="en-US" smtClean="0"/>
              <a:t>预测器</a:t>
            </a:r>
            <a:br>
              <a:rPr lang="zh-CN" altLang="en-US" sz="3200" smtClean="0"/>
            </a:br>
            <a:r>
              <a:rPr lang="zh-CN" altLang="en-US" sz="3200" smtClean="0"/>
              <a:t>                  —  举例</a:t>
            </a:r>
            <a:endParaRPr lang="zh-CN" altLang="en-US" sz="3200" smtClean="0"/>
          </a:p>
        </p:txBody>
      </p:sp>
      <p:sp>
        <p:nvSpPr>
          <p:cNvPr id="1843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7" action="ppaction://hlinksldjump"/>
              </a:rPr>
              <a:t>相关预测器</a:t>
            </a:r>
            <a:endParaRPr lang="zh-CN" altLang="en-US" sz="1200" b="0">
              <a:latin typeface="Times New Roman" panose="02020603050405020304" pitchFamily="18" charset="0"/>
              <a:ea typeface="幼圆" panose="02010509060101010101" pitchFamily="49" charset="-122"/>
            </a:endParaRPr>
          </a:p>
        </p:txBody>
      </p:sp>
      <p:sp>
        <p:nvSpPr>
          <p:cNvPr id="184324" name="Text Box 33"/>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graphicFrame>
        <p:nvGraphicFramePr>
          <p:cNvPr id="881107" name="Group 467"/>
          <p:cNvGraphicFramePr>
            <a:graphicFrameLocks noGrp="1"/>
          </p:cNvGraphicFramePr>
          <p:nvPr/>
        </p:nvGraphicFramePr>
        <p:xfrm>
          <a:off x="838200" y="1989138"/>
          <a:ext cx="8001000" cy="4464051"/>
        </p:xfrm>
        <a:graphic>
          <a:graphicData uri="http://schemas.openxmlformats.org/drawingml/2006/table">
            <a:tbl>
              <a:tblPr/>
              <a:tblGrid>
                <a:gridCol w="1000125"/>
                <a:gridCol w="1000125"/>
                <a:gridCol w="1000125"/>
                <a:gridCol w="1000125"/>
                <a:gridCol w="1000125"/>
                <a:gridCol w="1000125"/>
                <a:gridCol w="1000125"/>
                <a:gridCol w="1000125"/>
              </a:tblGrid>
              <a:tr h="8064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L="0" marR="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d=?</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对</a:t>
                      </a: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b1</a:t>
                      </a: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的预测</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b1</a:t>
                      </a: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的实际动作</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对</a:t>
                      </a: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b1</a:t>
                      </a: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的新预测</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对</a:t>
                      </a: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b2</a:t>
                      </a: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的预测</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b2</a:t>
                      </a: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的实际动作</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对</a:t>
                      </a: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b2</a:t>
                      </a: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的新预测</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8788">
                <a:tc rowSpan="4">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1</a:t>
                      </a: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bit</a:t>
                      </a: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转移预测器</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（全部失败）</a:t>
                      </a:r>
                      <a:endPar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0</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72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2</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72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0</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457200">
                <a:tc rowSpan="4">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(1,1)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预测器</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（仅1次失败</a:t>
                      </a: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a:t>
                      </a:r>
                      <a:endPar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2</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00CC"/>
                          </a:solidFill>
                          <a:effectLst/>
                          <a:latin typeface="Arial" panose="020B0604020202020204" pitchFamily="34" charset="0"/>
                          <a:ea typeface="楷体_GB2312" pitchFamily="49" charset="-122"/>
                        </a:rPr>
                        <a:t>NT</a:t>
                      </a: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a:t>
                      </a:r>
                      <a:r>
                        <a:rPr kumimoji="1" lang="en-US" altLang="zh-CN" sz="2000" b="0" i="0" u="none" strike="noStrike" cap="none" normalizeH="0" baseline="0" smtClean="0">
                          <a:ln>
                            <a:noFill/>
                          </a:ln>
                          <a:solidFill>
                            <a:srgbClr val="0000CC"/>
                          </a:solidFill>
                          <a:effectLst/>
                          <a:latin typeface="Arial" panose="020B0604020202020204" pitchFamily="34" charset="0"/>
                          <a:ea typeface="楷体_GB2312" pitchFamily="49" charset="-122"/>
                        </a:rPr>
                        <a:t>NT</a:t>
                      </a:r>
                      <a:endParaRPr kumimoji="1" lang="en-US" altLang="zh-CN" sz="2000" b="0" i="0" u="none" strike="noStrike" cap="none" normalizeH="0" baseline="0" smtClean="0">
                        <a:ln>
                          <a:noFill/>
                        </a:ln>
                        <a:solidFill>
                          <a:srgbClr val="0000CC"/>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dirty="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rPr>
                        <a:t>T</a:t>
                      </a:r>
                      <a:endParaRPr kumimoji="1" lang="en-US" altLang="zh-CN" sz="2000" b="1" i="0" u="none" strike="noStrike" cap="none" normalizeH="0" baseline="0" dirty="0" smtClean="0">
                        <a:ln>
                          <a:noFill/>
                        </a:ln>
                        <a:solidFill>
                          <a:srgbClr val="FF00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72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0</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a:t>
                      </a:r>
                      <a:r>
                        <a:rPr kumimoji="1" lang="en-US" altLang="zh-CN" sz="2000" b="0" i="0" u="none" strike="noStrike" cap="none" normalizeH="0" baseline="0" smtClean="0">
                          <a:ln>
                            <a:noFill/>
                          </a:ln>
                          <a:solidFill>
                            <a:srgbClr val="0000CC"/>
                          </a:solidFill>
                          <a:effectLst/>
                          <a:latin typeface="Arial" panose="020B0604020202020204" pitchFamily="34" charset="0"/>
                          <a:ea typeface="楷体_GB2312" pitchFamily="49" charset="-122"/>
                        </a:rPr>
                        <a:t>NT</a:t>
                      </a:r>
                      <a:endParaRPr kumimoji="1" lang="en-US" altLang="zh-CN" sz="2000" b="0" i="0" u="none" strike="noStrike" cap="none" normalizeH="0" baseline="0" smtClean="0">
                        <a:ln>
                          <a:noFill/>
                        </a:ln>
                        <a:solidFill>
                          <a:srgbClr val="0000CC"/>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anose="020B0604020202020204" pitchFamily="34" charset="0"/>
                          <a:ea typeface="楷体_GB2312" pitchFamily="49" charset="-122"/>
                        </a:rPr>
                        <a:t>NT</a:t>
                      </a:r>
                      <a:endPar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00CC"/>
                          </a:solidFill>
                          <a:effectLst/>
                          <a:latin typeface="Arial" panose="020B0604020202020204" pitchFamily="34" charset="0"/>
                          <a:ea typeface="楷体_GB2312" pitchFamily="49" charset="-122"/>
                        </a:rPr>
                        <a:t>NT</a:t>
                      </a: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anose="020B0604020202020204" pitchFamily="34" charset="0"/>
                          <a:ea typeface="楷体_GB2312" pitchFamily="49" charset="-122"/>
                        </a:rPr>
                        <a:t>NT</a:t>
                      </a:r>
                      <a:endPar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72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2</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00CC"/>
                          </a:solidFill>
                          <a:effectLst/>
                          <a:latin typeface="Arial" panose="020B0604020202020204" pitchFamily="34" charset="0"/>
                          <a:ea typeface="楷体_GB2312" pitchFamily="49" charset="-122"/>
                        </a:rPr>
                        <a:t>T</a:t>
                      </a: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anose="020B0604020202020204" pitchFamily="34" charset="0"/>
                          <a:ea typeface="楷体_GB2312" pitchFamily="49" charset="-122"/>
                        </a:rPr>
                        <a:t>T</a:t>
                      </a:r>
                      <a:endPar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a:t>
                      </a:r>
                      <a:r>
                        <a:rPr kumimoji="1" lang="en-US" altLang="zh-CN" sz="2000" b="0" i="0" u="none" strike="noStrike" cap="none" normalizeH="0" baseline="0" smtClean="0">
                          <a:ln>
                            <a:noFill/>
                          </a:ln>
                          <a:solidFill>
                            <a:srgbClr val="0000CC"/>
                          </a:solidFill>
                          <a:effectLst/>
                          <a:latin typeface="Arial" panose="020B0604020202020204" pitchFamily="34" charset="0"/>
                          <a:ea typeface="楷体_GB2312" pitchFamily="49" charset="-122"/>
                        </a:rPr>
                        <a:t>T</a:t>
                      </a:r>
                      <a:endParaRPr kumimoji="1" lang="en-US" altLang="zh-CN" sz="2000" b="0" i="0" u="none" strike="noStrike" cap="none" normalizeH="0" baseline="0" smtClean="0">
                        <a:ln>
                          <a:noFill/>
                        </a:ln>
                        <a:solidFill>
                          <a:srgbClr val="0000CC"/>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dirty="0" smtClean="0">
                          <a:ln>
                            <a:noFill/>
                          </a:ln>
                          <a:solidFill>
                            <a:srgbClr val="009900"/>
                          </a:solidFill>
                          <a:effectLst>
                            <a:outerShdw blurRad="38100" dist="38100" dir="2700000" algn="tl">
                              <a:srgbClr val="C0C0C0"/>
                            </a:outerShdw>
                          </a:effectLst>
                          <a:latin typeface="Arial" panose="020B0604020202020204" pitchFamily="34" charset="0"/>
                          <a:ea typeface="楷体_GB2312" pitchFamily="49" charset="-122"/>
                        </a:rPr>
                        <a:t>T</a:t>
                      </a:r>
                      <a:endParaRPr kumimoji="1" lang="en-US" altLang="zh-CN" sz="2000" b="0" i="0" u="none" strike="noStrike" cap="none" normalizeH="0" baseline="0" dirty="0" smtClean="0">
                        <a:ln>
                          <a:noFill/>
                        </a:ln>
                        <a:solidFill>
                          <a:srgbClr val="0099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7200">
                <a:tc v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rPr>
                        <a:t>0</a:t>
                      </a: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a:t>
                      </a:r>
                      <a:r>
                        <a:rPr kumimoji="1" lang="en-US" altLang="zh-CN" sz="2000" b="0" i="0" u="none" strike="noStrike" cap="none" normalizeH="0" baseline="0" smtClean="0">
                          <a:ln>
                            <a:noFill/>
                          </a:ln>
                          <a:solidFill>
                            <a:srgbClr val="0000CC"/>
                          </a:solidFill>
                          <a:effectLst/>
                          <a:latin typeface="Arial" panose="020B0604020202020204" pitchFamily="34" charset="0"/>
                          <a:ea typeface="楷体_GB2312" pitchFamily="49" charset="-122"/>
                        </a:rPr>
                        <a:t>NT</a:t>
                      </a:r>
                      <a:endParaRPr kumimoji="1" lang="en-US" altLang="zh-CN" sz="2000" b="0" i="0" u="none" strike="noStrike" cap="none" normalizeH="0" baseline="0" smtClean="0">
                        <a:ln>
                          <a:noFill/>
                        </a:ln>
                        <a:solidFill>
                          <a:srgbClr val="0000CC"/>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anose="020B0604020202020204" pitchFamily="34" charset="0"/>
                          <a:ea typeface="楷体_GB2312" pitchFamily="49" charset="-122"/>
                        </a:rPr>
                        <a:t>NT</a:t>
                      </a:r>
                      <a:endPar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T/NT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00CC"/>
                          </a:solidFill>
                          <a:effectLst/>
                          <a:latin typeface="Arial" panose="020B0604020202020204" pitchFamily="34" charset="0"/>
                          <a:ea typeface="楷体_GB2312" pitchFamily="49" charset="-122"/>
                        </a:rPr>
                        <a:t>NT</a:t>
                      </a: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anose="020B0604020202020204" pitchFamily="34" charset="0"/>
                          <a:ea typeface="楷体_GB2312" pitchFamily="49" charset="-122"/>
                        </a:rPr>
                        <a:t>NT</a:t>
                      </a:r>
                      <a:endPar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NT/T</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81002" name="Freeform 362"/>
          <p:cNvSpPr/>
          <p:nvPr/>
        </p:nvSpPr>
        <p:spPr bwMode="auto">
          <a:xfrm>
            <a:off x="4356100" y="4581525"/>
            <a:ext cx="2133600" cy="152400"/>
          </a:xfrm>
          <a:custGeom>
            <a:avLst/>
            <a:gdLst>
              <a:gd name="T0" fmla="*/ 0 w 1344"/>
              <a:gd name="T1" fmla="*/ 2147483647 h 96"/>
              <a:gd name="T2" fmla="*/ 2147483647 w 1344"/>
              <a:gd name="T3" fmla="*/ 0 h 96"/>
              <a:gd name="T4" fmla="*/ 2147483647 w 1344"/>
              <a:gd name="T5" fmla="*/ 2147483647 h 96"/>
              <a:gd name="T6" fmla="*/ 0 60000 65536"/>
              <a:gd name="T7" fmla="*/ 0 60000 65536"/>
              <a:gd name="T8" fmla="*/ 0 60000 65536"/>
            </a:gdLst>
            <a:ahLst/>
            <a:cxnLst>
              <a:cxn ang="T6">
                <a:pos x="T0" y="T1"/>
              </a:cxn>
              <a:cxn ang="T7">
                <a:pos x="T2" y="T3"/>
              </a:cxn>
              <a:cxn ang="T8">
                <a:pos x="T4" y="T5"/>
              </a:cxn>
            </a:cxnLst>
            <a:rect l="0" t="0" r="r" b="b"/>
            <a:pathLst>
              <a:path w="1344" h="96">
                <a:moveTo>
                  <a:pt x="0" y="96"/>
                </a:moveTo>
                <a:cubicBezTo>
                  <a:pt x="248" y="48"/>
                  <a:pt x="496" y="0"/>
                  <a:pt x="720" y="0"/>
                </a:cubicBezTo>
                <a:cubicBezTo>
                  <a:pt x="944" y="0"/>
                  <a:pt x="1144" y="48"/>
                  <a:pt x="1344" y="96"/>
                </a:cubicBezTo>
              </a:path>
            </a:pathLst>
          </a:custGeom>
          <a:noFill/>
          <a:ln w="28575" cap="flat" cmpd="sng">
            <a:solidFill>
              <a:srgbClr val="FF0000"/>
            </a:solidFill>
            <a:prstDash val="solid"/>
            <a:roun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003" name="Line 363"/>
          <p:cNvSpPr>
            <a:spLocks noChangeShapeType="1"/>
          </p:cNvSpPr>
          <p:nvPr/>
        </p:nvSpPr>
        <p:spPr bwMode="auto">
          <a:xfrm flipH="1">
            <a:off x="3563938" y="4941888"/>
            <a:ext cx="3671887" cy="300037"/>
          </a:xfrm>
          <a:prstGeom prst="line">
            <a:avLst/>
          </a:prstGeom>
          <a:noFill/>
          <a:ln w="28575">
            <a:solidFill>
              <a:srgbClr val="FF0000"/>
            </a:solidFill>
            <a:rou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004" name="Freeform 364"/>
          <p:cNvSpPr/>
          <p:nvPr/>
        </p:nvSpPr>
        <p:spPr bwMode="auto">
          <a:xfrm>
            <a:off x="4427538" y="5373688"/>
            <a:ext cx="1676400" cy="152400"/>
          </a:xfrm>
          <a:custGeom>
            <a:avLst/>
            <a:gdLst>
              <a:gd name="T0" fmla="*/ 0 w 1056"/>
              <a:gd name="T1" fmla="*/ 0 h 96"/>
              <a:gd name="T2" fmla="*/ 2147483647 w 1056"/>
              <a:gd name="T3" fmla="*/ 2147483647 h 96"/>
              <a:gd name="T4" fmla="*/ 2147483647 w 1056"/>
              <a:gd name="T5" fmla="*/ 0 h 96"/>
              <a:gd name="T6" fmla="*/ 0 60000 65536"/>
              <a:gd name="T7" fmla="*/ 0 60000 65536"/>
              <a:gd name="T8" fmla="*/ 0 60000 65536"/>
            </a:gdLst>
            <a:ahLst/>
            <a:cxnLst>
              <a:cxn ang="T6">
                <a:pos x="T0" y="T1"/>
              </a:cxn>
              <a:cxn ang="T7">
                <a:pos x="T2" y="T3"/>
              </a:cxn>
              <a:cxn ang="T8">
                <a:pos x="T4" y="T5"/>
              </a:cxn>
            </a:cxnLst>
            <a:rect l="0" t="0" r="r" b="b"/>
            <a:pathLst>
              <a:path w="1056" h="96">
                <a:moveTo>
                  <a:pt x="0" y="0"/>
                </a:moveTo>
                <a:cubicBezTo>
                  <a:pt x="200" y="48"/>
                  <a:pt x="400" y="96"/>
                  <a:pt x="576" y="96"/>
                </a:cubicBezTo>
                <a:cubicBezTo>
                  <a:pt x="752" y="96"/>
                  <a:pt x="904" y="48"/>
                  <a:pt x="1056" y="0"/>
                </a:cubicBezTo>
              </a:path>
            </a:pathLst>
          </a:custGeom>
          <a:noFill/>
          <a:ln w="28575" cap="flat" cmpd="sng">
            <a:solidFill>
              <a:srgbClr val="FF0000"/>
            </a:solidFill>
            <a:prstDash val="solid"/>
            <a:roun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8"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81002"/>
                                        </p:tgtEl>
                                        <p:attrNameLst>
                                          <p:attrName>style.visibility</p:attrName>
                                        </p:attrNameLst>
                                      </p:cBhvr>
                                      <p:to>
                                        <p:strVal val="visible"/>
                                      </p:to>
                                    </p:set>
                                    <p:animEffect transition="in" filter="wipe(left)">
                                      <p:cBhvr>
                                        <p:cTn id="7" dur="500"/>
                                        <p:tgtEl>
                                          <p:spTgt spid="88100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881003"/>
                                        </p:tgtEl>
                                        <p:attrNameLst>
                                          <p:attrName>style.visibility</p:attrName>
                                        </p:attrNameLst>
                                      </p:cBhvr>
                                      <p:to>
                                        <p:strVal val="visible"/>
                                      </p:to>
                                    </p:set>
                                    <p:animEffect transition="in" filter="wipe(up)">
                                      <p:cBhvr>
                                        <p:cTn id="12" dur="500"/>
                                        <p:tgtEl>
                                          <p:spTgt spid="88100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881004"/>
                                        </p:tgtEl>
                                        <p:attrNameLst>
                                          <p:attrName>style.visibility</p:attrName>
                                        </p:attrNameLst>
                                      </p:cBhvr>
                                      <p:to>
                                        <p:strVal val="visible"/>
                                      </p:to>
                                    </p:set>
                                    <p:animEffect transition="in" filter="wipe(left)">
                                      <p:cBhvr>
                                        <p:cTn id="17" dur="500"/>
                                        <p:tgtEl>
                                          <p:spTgt spid="8810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1002" grpId="0" animBg="1"/>
      <p:bldP spid="881003" grpId="0" animBg="1"/>
      <p:bldP spid="881004"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8594" name="Rectangle 2"/>
          <p:cNvSpPr>
            <a:spLocks noGrp="1" noChangeArrowheads="1"/>
          </p:cNvSpPr>
          <p:nvPr>
            <p:ph type="title"/>
          </p:nvPr>
        </p:nvSpPr>
        <p:spPr/>
        <p:txBody>
          <a:bodyPr/>
          <a:lstStyle/>
          <a:p>
            <a:pPr eaLnBrk="1" hangingPunct="1">
              <a:defRPr/>
            </a:pPr>
            <a:r>
              <a:rPr lang="zh-CN" altLang="en-US" sz="4000" smtClean="0"/>
              <a:t>（</a:t>
            </a:r>
            <a:r>
              <a:rPr lang="en-US" altLang="zh-CN" sz="4000" smtClean="0"/>
              <a:t>m，n）</a:t>
            </a:r>
            <a:r>
              <a:rPr lang="zh-CN" altLang="en-US" smtClean="0"/>
              <a:t>预测器</a:t>
            </a:r>
            <a:br>
              <a:rPr lang="zh-CN" altLang="en-US" sz="3200" smtClean="0"/>
            </a:br>
            <a:r>
              <a:rPr lang="zh-CN" altLang="en-US" sz="3200" smtClean="0"/>
              <a:t>                   —  方法</a:t>
            </a:r>
            <a:endParaRPr lang="zh-CN" altLang="en-US" sz="3200" smtClean="0"/>
          </a:p>
        </p:txBody>
      </p:sp>
      <p:sp>
        <p:nvSpPr>
          <p:cNvPr id="18534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7" action="ppaction://hlinksldjump"/>
              </a:rPr>
              <a:t>相关预测器</a:t>
            </a:r>
            <a:endParaRPr lang="zh-CN" altLang="en-US" sz="1200" b="0">
              <a:latin typeface="Times New Roman" panose="02020603050405020304" pitchFamily="18" charset="0"/>
              <a:ea typeface="幼圆" panose="02010509060101010101" pitchFamily="49" charset="-122"/>
            </a:endParaRPr>
          </a:p>
        </p:txBody>
      </p:sp>
      <p:sp>
        <p:nvSpPr>
          <p:cNvPr id="185348" name="Rectangle 4"/>
          <p:cNvSpPr>
            <a:spLocks noGrp="1" noChangeArrowheads="1"/>
          </p:cNvSpPr>
          <p:nvPr>
            <p:ph type="body" idx="1"/>
          </p:nvPr>
        </p:nvSpPr>
        <p:spPr>
          <a:xfrm>
            <a:off x="809625" y="1984375"/>
            <a:ext cx="7958138" cy="4468813"/>
          </a:xfrm>
        </p:spPr>
        <p:txBody>
          <a:bodyPr/>
          <a:lstStyle/>
          <a:p>
            <a:pPr marL="0" indent="0" eaLnBrk="1" hangingPunct="1">
              <a:lnSpc>
                <a:spcPct val="110000"/>
              </a:lnSpc>
              <a:buFont typeface="Wingdings" panose="05000000000000000000" pitchFamily="2" charset="2"/>
              <a:buNone/>
            </a:pPr>
            <a:r>
              <a:rPr lang="zh-CN" altLang="en-US" sz="2800" smtClean="0"/>
              <a:t>       根据前</a:t>
            </a:r>
            <a:r>
              <a:rPr lang="en-US" altLang="zh-CN" sz="2800" smtClean="0"/>
              <a:t>m</a:t>
            </a:r>
            <a:r>
              <a:rPr lang="zh-CN" altLang="en-US" sz="2800" smtClean="0"/>
              <a:t>次其它条件转移指令的行为去从2</a:t>
            </a:r>
            <a:r>
              <a:rPr lang="en-US" altLang="zh-CN" sz="2800" baseline="30000" smtClean="0"/>
              <a:t>m</a:t>
            </a:r>
            <a:r>
              <a:rPr lang="zh-CN" altLang="en-US" sz="2800" smtClean="0"/>
              <a:t>个</a:t>
            </a:r>
            <a:r>
              <a:rPr lang="en-US" altLang="zh-CN" sz="2800" smtClean="0"/>
              <a:t>nbit</a:t>
            </a:r>
            <a:r>
              <a:rPr lang="zh-CN" altLang="en-US" sz="2800" smtClean="0"/>
              <a:t>预测器中进行选择。即：每个条件转移指令需设置2</a:t>
            </a:r>
            <a:r>
              <a:rPr lang="en-US" altLang="zh-CN" sz="2800" baseline="30000" smtClean="0"/>
              <a:t>m</a:t>
            </a:r>
            <a:r>
              <a:rPr lang="zh-CN" altLang="en-US" sz="2800" smtClean="0"/>
              <a:t>个</a:t>
            </a:r>
            <a:r>
              <a:rPr lang="en-US" altLang="zh-CN" sz="2800" smtClean="0"/>
              <a:t>nbit</a:t>
            </a:r>
            <a:r>
              <a:rPr lang="zh-CN" altLang="en-US" sz="2800" smtClean="0"/>
              <a:t>预测器，分别用于前</a:t>
            </a:r>
            <a:r>
              <a:rPr lang="en-US" altLang="zh-CN" sz="2800" smtClean="0"/>
              <a:t>m</a:t>
            </a:r>
            <a:r>
              <a:rPr lang="zh-CN" altLang="en-US" sz="2800" smtClean="0"/>
              <a:t>次其它条件转移指令的2</a:t>
            </a:r>
            <a:r>
              <a:rPr lang="en-US" altLang="zh-CN" sz="2800" baseline="30000" smtClean="0"/>
              <a:t>m</a:t>
            </a:r>
            <a:r>
              <a:rPr lang="zh-CN" altLang="en-US" sz="2800" smtClean="0"/>
              <a:t>个行为的预测。</a:t>
            </a:r>
            <a:endParaRPr lang="zh-CN" altLang="en-US" sz="2800" smtClean="0"/>
          </a:p>
          <a:p>
            <a:pPr marL="0" indent="0" eaLnBrk="1" hangingPunct="1">
              <a:lnSpc>
                <a:spcPct val="110000"/>
              </a:lnSpc>
              <a:buFont typeface="Wingdings" panose="05000000000000000000" pitchFamily="2" charset="2"/>
              <a:buNone/>
            </a:pPr>
            <a:r>
              <a:rPr lang="zh-CN" altLang="en-US" sz="2800" smtClean="0"/>
              <a:t>       具体硬件实现为：最近</a:t>
            </a:r>
            <a:r>
              <a:rPr lang="en-US" altLang="zh-CN" sz="2800" smtClean="0"/>
              <a:t>m</a:t>
            </a:r>
            <a:r>
              <a:rPr lang="zh-CN" altLang="en-US" sz="2800" smtClean="0"/>
              <a:t>个条件转移指令的全局历史记录可以记录在一个</a:t>
            </a:r>
            <a:r>
              <a:rPr lang="en-US" altLang="zh-CN" sz="2800" smtClean="0"/>
              <a:t>mbit</a:t>
            </a:r>
            <a:r>
              <a:rPr lang="zh-CN" altLang="en-US" sz="2800" smtClean="0"/>
              <a:t>移位寄存器中，每1</a:t>
            </a:r>
            <a:r>
              <a:rPr lang="en-US" altLang="zh-CN" sz="2800" smtClean="0"/>
              <a:t>bit</a:t>
            </a:r>
            <a:r>
              <a:rPr lang="zh-CN" altLang="en-US" sz="2800" smtClean="0"/>
              <a:t>记录着该条件转移指令是否转移。对相关转移预测缓冲器的访问可由条件转移指令的低位拼接上</a:t>
            </a:r>
            <a:r>
              <a:rPr lang="en-US" altLang="zh-CN" sz="2800" smtClean="0"/>
              <a:t>mbit</a:t>
            </a:r>
            <a:r>
              <a:rPr lang="zh-CN" altLang="en-US" sz="2800" smtClean="0"/>
              <a:t>全局历史记录而得到。</a:t>
            </a:r>
            <a:endParaRPr lang="zh-CN" altLang="en-US" sz="2800" smtClean="0"/>
          </a:p>
        </p:txBody>
      </p:sp>
      <p:sp>
        <p:nvSpPr>
          <p:cNvPr id="185349"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1666" name="Rectangle 2"/>
          <p:cNvSpPr>
            <a:spLocks noGrp="1" noChangeArrowheads="1"/>
          </p:cNvSpPr>
          <p:nvPr>
            <p:ph type="title"/>
          </p:nvPr>
        </p:nvSpPr>
        <p:spPr/>
        <p:txBody>
          <a:bodyPr/>
          <a:lstStyle/>
          <a:p>
            <a:pPr eaLnBrk="1" hangingPunct="1">
              <a:defRPr/>
            </a:pPr>
            <a:r>
              <a:rPr lang="zh-CN" altLang="en-US" sz="4000" smtClean="0"/>
              <a:t>（</a:t>
            </a:r>
            <a:r>
              <a:rPr lang="en-US" altLang="zh-CN" sz="4000" smtClean="0"/>
              <a:t>2，2）</a:t>
            </a:r>
            <a:r>
              <a:rPr lang="zh-CN" altLang="en-US" smtClean="0"/>
              <a:t>预测器</a:t>
            </a:r>
            <a:br>
              <a:rPr lang="zh-CN" altLang="en-US" sz="3200" smtClean="0"/>
            </a:br>
            <a:r>
              <a:rPr lang="zh-CN" altLang="en-US" sz="3200" smtClean="0"/>
              <a:t>                   —  举例</a:t>
            </a:r>
            <a:endParaRPr lang="zh-CN" altLang="en-US" sz="3200" smtClean="0"/>
          </a:p>
        </p:txBody>
      </p:sp>
      <p:sp>
        <p:nvSpPr>
          <p:cNvPr id="1863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7" action="ppaction://hlinksldjump"/>
              </a:rPr>
              <a:t>相关预测器</a:t>
            </a:r>
            <a:endParaRPr lang="zh-CN" altLang="en-US" sz="1200" b="0">
              <a:latin typeface="Times New Roman" panose="02020603050405020304" pitchFamily="18" charset="0"/>
              <a:ea typeface="幼圆" panose="02010509060101010101" pitchFamily="49" charset="-122"/>
            </a:endParaRPr>
          </a:p>
        </p:txBody>
      </p:sp>
      <p:sp>
        <p:nvSpPr>
          <p:cNvPr id="186372"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
        <p:nvSpPr>
          <p:cNvPr id="186373" name="Rectangle 8"/>
          <p:cNvSpPr>
            <a:spLocks noChangeArrowheads="1"/>
          </p:cNvSpPr>
          <p:nvPr/>
        </p:nvSpPr>
        <p:spPr bwMode="auto">
          <a:xfrm>
            <a:off x="1066800" y="2286000"/>
            <a:ext cx="3200400" cy="33655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7" tIns="44450" rIns="90487" bIns="4445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nSpc>
                <a:spcPct val="90000"/>
              </a:lnSpc>
              <a:spcBef>
                <a:spcPct val="30000"/>
              </a:spcBef>
              <a:buClrTx/>
              <a:buFontTx/>
              <a:buNone/>
            </a:pPr>
            <a:r>
              <a:rPr kumimoji="0" lang="en-US" altLang="en-US" sz="1800">
                <a:latin typeface="Helvetica" pitchFamily="34" charset="0"/>
                <a:ea typeface="宋体" panose="02010600030101010101" pitchFamily="2" charset="-122"/>
              </a:rPr>
              <a:t>Branch address (low </a:t>
            </a:r>
            <a:r>
              <a:rPr kumimoji="0" lang="en-US" altLang="en-US" sz="1800">
                <a:solidFill>
                  <a:srgbClr val="FF0000"/>
                </a:solidFill>
                <a:latin typeface="Helvetica" pitchFamily="34" charset="0"/>
                <a:ea typeface="宋体" panose="02010600030101010101" pitchFamily="2" charset="-122"/>
              </a:rPr>
              <a:t>4</a:t>
            </a:r>
            <a:r>
              <a:rPr kumimoji="0" lang="en-US" altLang="en-US" sz="1800">
                <a:latin typeface="Helvetica" pitchFamily="34" charset="0"/>
                <a:ea typeface="宋体" panose="02010600030101010101" pitchFamily="2" charset="-122"/>
              </a:rPr>
              <a:t> bits)</a:t>
            </a:r>
            <a:endParaRPr kumimoji="0" lang="en-US" altLang="en-US" sz="1800">
              <a:latin typeface="Helvetica" pitchFamily="34" charset="0"/>
              <a:ea typeface="宋体" panose="02010600030101010101" pitchFamily="2" charset="-122"/>
            </a:endParaRPr>
          </a:p>
        </p:txBody>
      </p:sp>
      <p:sp>
        <p:nvSpPr>
          <p:cNvPr id="186374" name="Rectangle 9"/>
          <p:cNvSpPr>
            <a:spLocks noChangeArrowheads="1"/>
          </p:cNvSpPr>
          <p:nvPr/>
        </p:nvSpPr>
        <p:spPr bwMode="auto">
          <a:xfrm>
            <a:off x="4826000" y="2195513"/>
            <a:ext cx="2098675" cy="6381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7" tIns="44450" rIns="90487" bIns="4445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a:spcBef>
                <a:spcPct val="0"/>
              </a:spcBef>
              <a:buClrTx/>
              <a:buFontTx/>
              <a:buNone/>
            </a:pPr>
            <a:r>
              <a:rPr kumimoji="0" lang="en-US" altLang="en-US" sz="1800">
                <a:solidFill>
                  <a:srgbClr val="FF0000"/>
                </a:solidFill>
                <a:ea typeface="宋体" panose="02010600030101010101" pitchFamily="2" charset="-122"/>
              </a:rPr>
              <a:t>2</a:t>
            </a:r>
            <a:r>
              <a:rPr kumimoji="0" lang="en-US" altLang="en-US" sz="1800">
                <a:ea typeface="宋体" panose="02010600030101010101" pitchFamily="2" charset="-122"/>
              </a:rPr>
              <a:t>-bits </a:t>
            </a:r>
            <a:r>
              <a:rPr kumimoji="0" lang="en-US" altLang="en-US" sz="1800">
                <a:solidFill>
                  <a:srgbClr val="FF0000"/>
                </a:solidFill>
                <a:ea typeface="宋体" panose="02010600030101010101" pitchFamily="2" charset="-122"/>
              </a:rPr>
              <a:t>per branch </a:t>
            </a:r>
            <a:br>
              <a:rPr kumimoji="0" lang="en-US" altLang="en-US" sz="1800">
                <a:solidFill>
                  <a:srgbClr val="FF0000"/>
                </a:solidFill>
                <a:ea typeface="宋体" panose="02010600030101010101" pitchFamily="2" charset="-122"/>
              </a:rPr>
            </a:br>
            <a:r>
              <a:rPr kumimoji="0" lang="en-US" altLang="en-US" sz="1800">
                <a:solidFill>
                  <a:srgbClr val="FF0000"/>
                </a:solidFill>
                <a:ea typeface="宋体" panose="02010600030101010101" pitchFamily="2" charset="-122"/>
              </a:rPr>
              <a:t>local predictors</a:t>
            </a:r>
            <a:endParaRPr kumimoji="0" lang="en-US" altLang="en-US" sz="1800">
              <a:solidFill>
                <a:srgbClr val="FF0000"/>
              </a:solidFill>
              <a:ea typeface="宋体" panose="02010600030101010101" pitchFamily="2" charset="-122"/>
            </a:endParaRPr>
          </a:p>
        </p:txBody>
      </p:sp>
      <p:sp>
        <p:nvSpPr>
          <p:cNvPr id="186375" name="Rectangle 10"/>
          <p:cNvSpPr>
            <a:spLocks noChangeArrowheads="1"/>
          </p:cNvSpPr>
          <p:nvPr/>
        </p:nvSpPr>
        <p:spPr bwMode="auto">
          <a:xfrm>
            <a:off x="7427913" y="3665538"/>
            <a:ext cx="1298575" cy="36353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107763" dir="2700000" algn="ctr" rotWithShape="0">
                    <a:schemeClr val="bg1"/>
                  </a:outerShdw>
                </a:effectLst>
              </a14:hiddenEffects>
            </a:ext>
          </a:extLst>
        </p:spPr>
        <p:txBody>
          <a:bodyPr wrap="none" lIns="90487" tIns="44450" rIns="90487" bIns="4445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spcBef>
                <a:spcPct val="0"/>
              </a:spcBef>
              <a:buClrTx/>
              <a:buFontTx/>
              <a:buNone/>
            </a:pPr>
            <a:r>
              <a:rPr kumimoji="0" lang="en-US" altLang="en-US" sz="1800">
                <a:ea typeface="宋体" panose="02010600030101010101" pitchFamily="2" charset="-122"/>
              </a:rPr>
              <a:t>Prediction</a:t>
            </a:r>
            <a:endParaRPr kumimoji="0" lang="en-US" altLang="en-US" sz="1800">
              <a:ea typeface="宋体" panose="02010600030101010101" pitchFamily="2" charset="-122"/>
            </a:endParaRPr>
          </a:p>
        </p:txBody>
      </p:sp>
      <p:sp>
        <p:nvSpPr>
          <p:cNvPr id="186376" name="Rectangle 11"/>
          <p:cNvSpPr>
            <a:spLocks noChangeArrowheads="1"/>
          </p:cNvSpPr>
          <p:nvPr/>
        </p:nvSpPr>
        <p:spPr bwMode="auto">
          <a:xfrm>
            <a:off x="838200" y="4038600"/>
            <a:ext cx="3070225" cy="9128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7" tIns="44450" rIns="90487" bIns="4445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a:spcBef>
                <a:spcPct val="0"/>
              </a:spcBef>
              <a:buClrTx/>
              <a:buFontTx/>
              <a:buNone/>
            </a:pPr>
            <a:r>
              <a:rPr kumimoji="0" lang="en-US" altLang="en-US" sz="1800">
                <a:solidFill>
                  <a:srgbClr val="FF0000"/>
                </a:solidFill>
                <a:ea typeface="宋体" panose="02010600030101010101" pitchFamily="2" charset="-122"/>
              </a:rPr>
              <a:t>2</a:t>
            </a:r>
            <a:r>
              <a:rPr kumimoji="0" lang="en-US" altLang="en-US" sz="1800">
                <a:ea typeface="宋体" panose="02010600030101010101" pitchFamily="2" charset="-122"/>
              </a:rPr>
              <a:t>-bit </a:t>
            </a:r>
            <a:r>
              <a:rPr kumimoji="0" lang="en-US" altLang="en-US" sz="1800">
                <a:solidFill>
                  <a:srgbClr val="FF0000"/>
                </a:solidFill>
                <a:ea typeface="宋体" panose="02010600030101010101" pitchFamily="2" charset="-122"/>
              </a:rPr>
              <a:t>global </a:t>
            </a:r>
            <a:endParaRPr kumimoji="0" lang="en-US" altLang="en-US" sz="1800">
              <a:solidFill>
                <a:srgbClr val="FF0000"/>
              </a:solidFill>
              <a:ea typeface="宋体" panose="02010600030101010101" pitchFamily="2" charset="-122"/>
            </a:endParaRPr>
          </a:p>
          <a:p>
            <a:pPr algn="ctr">
              <a:spcBef>
                <a:spcPct val="0"/>
              </a:spcBef>
              <a:buClrTx/>
              <a:buFontTx/>
              <a:buNone/>
            </a:pPr>
            <a:r>
              <a:rPr kumimoji="0" lang="en-US" altLang="en-US" sz="1800">
                <a:solidFill>
                  <a:srgbClr val="FF0000"/>
                </a:solidFill>
                <a:ea typeface="宋体" panose="02010600030101010101" pitchFamily="2" charset="-122"/>
              </a:rPr>
              <a:t>branch history</a:t>
            </a:r>
            <a:endParaRPr kumimoji="0" lang="en-US" altLang="en-US" sz="1800">
              <a:solidFill>
                <a:srgbClr val="FF0000"/>
              </a:solidFill>
              <a:ea typeface="宋体" panose="02010600030101010101" pitchFamily="2" charset="-122"/>
            </a:endParaRPr>
          </a:p>
          <a:p>
            <a:pPr algn="ctr">
              <a:spcBef>
                <a:spcPct val="0"/>
              </a:spcBef>
              <a:buClrTx/>
              <a:buFontTx/>
              <a:buNone/>
            </a:pPr>
            <a:r>
              <a:rPr kumimoji="0" lang="en-US" altLang="en-US" sz="1800">
                <a:ea typeface="宋体" panose="02010600030101010101" pitchFamily="2" charset="-122"/>
              </a:rPr>
              <a:t>(01 = not taken then taken)</a:t>
            </a:r>
            <a:endParaRPr kumimoji="0" lang="en-US" altLang="en-US" sz="1800">
              <a:ea typeface="宋体" panose="02010600030101010101" pitchFamily="2" charset="-122"/>
            </a:endParaRPr>
          </a:p>
        </p:txBody>
      </p:sp>
      <p:sp>
        <p:nvSpPr>
          <p:cNvPr id="186377" name="Rectangle 12"/>
          <p:cNvSpPr>
            <a:spLocks noChangeArrowheads="1"/>
          </p:cNvSpPr>
          <p:nvPr/>
        </p:nvSpPr>
        <p:spPr bwMode="auto">
          <a:xfrm>
            <a:off x="7112000" y="3795713"/>
            <a:ext cx="279400" cy="152400"/>
          </a:xfrm>
          <a:prstGeom prst="rect">
            <a:avLst/>
          </a:prstGeom>
          <a:solidFill>
            <a:schemeClr val="accent1"/>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378" name="Rectangle 14"/>
          <p:cNvSpPr>
            <a:spLocks noChangeArrowheads="1"/>
          </p:cNvSpPr>
          <p:nvPr/>
        </p:nvSpPr>
        <p:spPr bwMode="auto">
          <a:xfrm>
            <a:off x="5537200" y="3771900"/>
            <a:ext cx="292100" cy="127000"/>
          </a:xfrm>
          <a:prstGeom prst="rect">
            <a:avLst/>
          </a:prstGeom>
          <a:solidFill>
            <a:schemeClr val="accent1"/>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379" name="Rectangle 15"/>
          <p:cNvSpPr>
            <a:spLocks noChangeArrowheads="1"/>
          </p:cNvSpPr>
          <p:nvPr/>
        </p:nvSpPr>
        <p:spPr bwMode="auto">
          <a:xfrm>
            <a:off x="4953000" y="3771900"/>
            <a:ext cx="292100" cy="127000"/>
          </a:xfrm>
          <a:prstGeom prst="rect">
            <a:avLst/>
          </a:prstGeom>
          <a:solidFill>
            <a:schemeClr val="accent2"/>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380" name="Rectangle 16"/>
          <p:cNvSpPr>
            <a:spLocks noChangeArrowheads="1"/>
          </p:cNvSpPr>
          <p:nvPr/>
        </p:nvSpPr>
        <p:spPr bwMode="auto">
          <a:xfrm>
            <a:off x="6007100" y="3771900"/>
            <a:ext cx="292100" cy="127000"/>
          </a:xfrm>
          <a:prstGeom prst="rect">
            <a:avLst/>
          </a:prstGeom>
          <a:solidFill>
            <a:schemeClr val="accent2"/>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381" name="Rectangle 17"/>
          <p:cNvSpPr>
            <a:spLocks noChangeArrowheads="1"/>
          </p:cNvSpPr>
          <p:nvPr/>
        </p:nvSpPr>
        <p:spPr bwMode="auto">
          <a:xfrm>
            <a:off x="6451600" y="3771900"/>
            <a:ext cx="292100" cy="127000"/>
          </a:xfrm>
          <a:prstGeom prst="rect">
            <a:avLst/>
          </a:prstGeom>
          <a:solidFill>
            <a:schemeClr val="accent2"/>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nvGrpSpPr>
          <p:cNvPr id="186382" name="Group 18"/>
          <p:cNvGrpSpPr/>
          <p:nvPr/>
        </p:nvGrpSpPr>
        <p:grpSpPr bwMode="auto">
          <a:xfrm>
            <a:off x="4953000" y="3927475"/>
            <a:ext cx="1790700" cy="127000"/>
            <a:chOff x="3296" y="2416"/>
            <a:chExt cx="1128" cy="80"/>
          </a:xfrm>
        </p:grpSpPr>
        <p:sp>
          <p:nvSpPr>
            <p:cNvPr id="186461" name="Rectangle 19"/>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62" name="Rectangle 20"/>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63" name="Rectangle 21"/>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64" name="Rectangle 22"/>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383" name="Group 23"/>
          <p:cNvGrpSpPr/>
          <p:nvPr/>
        </p:nvGrpSpPr>
        <p:grpSpPr bwMode="auto">
          <a:xfrm>
            <a:off x="4953000" y="4084638"/>
            <a:ext cx="1790700" cy="127000"/>
            <a:chOff x="3296" y="2416"/>
            <a:chExt cx="1128" cy="80"/>
          </a:xfrm>
        </p:grpSpPr>
        <p:sp>
          <p:nvSpPr>
            <p:cNvPr id="186457" name="Rectangle 24"/>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58" name="Rectangle 25"/>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59" name="Rectangle 26"/>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60" name="Rectangle 27"/>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384" name="Group 28"/>
          <p:cNvGrpSpPr/>
          <p:nvPr/>
        </p:nvGrpSpPr>
        <p:grpSpPr bwMode="auto">
          <a:xfrm>
            <a:off x="4953000" y="4240213"/>
            <a:ext cx="1790700" cy="127000"/>
            <a:chOff x="3296" y="2416"/>
            <a:chExt cx="1128" cy="80"/>
          </a:xfrm>
        </p:grpSpPr>
        <p:sp>
          <p:nvSpPr>
            <p:cNvPr id="186453" name="Rectangle 29"/>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54" name="Rectangle 30"/>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55" name="Rectangle 31"/>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56" name="Rectangle 32"/>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385" name="Group 33"/>
          <p:cNvGrpSpPr/>
          <p:nvPr/>
        </p:nvGrpSpPr>
        <p:grpSpPr bwMode="auto">
          <a:xfrm>
            <a:off x="4953000" y="4397375"/>
            <a:ext cx="1790700" cy="127000"/>
            <a:chOff x="3296" y="2416"/>
            <a:chExt cx="1128" cy="80"/>
          </a:xfrm>
        </p:grpSpPr>
        <p:sp>
          <p:nvSpPr>
            <p:cNvPr id="186449" name="Rectangle 34"/>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50" name="Rectangle 35"/>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51" name="Rectangle 36"/>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52" name="Rectangle 37"/>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386" name="Group 38"/>
          <p:cNvGrpSpPr/>
          <p:nvPr/>
        </p:nvGrpSpPr>
        <p:grpSpPr bwMode="auto">
          <a:xfrm>
            <a:off x="4953000" y="4552950"/>
            <a:ext cx="1790700" cy="127000"/>
            <a:chOff x="3296" y="2416"/>
            <a:chExt cx="1128" cy="80"/>
          </a:xfrm>
        </p:grpSpPr>
        <p:sp>
          <p:nvSpPr>
            <p:cNvPr id="186445" name="Rectangle 39"/>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46" name="Rectangle 40"/>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47" name="Rectangle 41"/>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48" name="Rectangle 42"/>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387" name="Group 43"/>
          <p:cNvGrpSpPr/>
          <p:nvPr/>
        </p:nvGrpSpPr>
        <p:grpSpPr bwMode="auto">
          <a:xfrm>
            <a:off x="4953000" y="5195888"/>
            <a:ext cx="1790700" cy="127000"/>
            <a:chOff x="3296" y="2416"/>
            <a:chExt cx="1128" cy="80"/>
          </a:xfrm>
        </p:grpSpPr>
        <p:sp>
          <p:nvSpPr>
            <p:cNvPr id="186441" name="Rectangle 44"/>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42" name="Rectangle 45"/>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43" name="Rectangle 46"/>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44" name="Rectangle 47"/>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388" name="Group 48"/>
          <p:cNvGrpSpPr/>
          <p:nvPr/>
        </p:nvGrpSpPr>
        <p:grpSpPr bwMode="auto">
          <a:xfrm>
            <a:off x="4953000" y="2805113"/>
            <a:ext cx="1790700" cy="127000"/>
            <a:chOff x="3296" y="2416"/>
            <a:chExt cx="1128" cy="80"/>
          </a:xfrm>
        </p:grpSpPr>
        <p:sp>
          <p:nvSpPr>
            <p:cNvPr id="186437" name="Rectangle 49"/>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38" name="Rectangle 50"/>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39" name="Rectangle 51"/>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40" name="Rectangle 52"/>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389" name="Group 53"/>
          <p:cNvGrpSpPr/>
          <p:nvPr/>
        </p:nvGrpSpPr>
        <p:grpSpPr bwMode="auto">
          <a:xfrm>
            <a:off x="4953000" y="2960688"/>
            <a:ext cx="1790700" cy="127000"/>
            <a:chOff x="3296" y="2416"/>
            <a:chExt cx="1128" cy="80"/>
          </a:xfrm>
        </p:grpSpPr>
        <p:sp>
          <p:nvSpPr>
            <p:cNvPr id="186433" name="Rectangle 54"/>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34" name="Rectangle 55"/>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35" name="Rectangle 56"/>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36" name="Rectangle 57"/>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390" name="Group 58"/>
          <p:cNvGrpSpPr/>
          <p:nvPr/>
        </p:nvGrpSpPr>
        <p:grpSpPr bwMode="auto">
          <a:xfrm>
            <a:off x="4953000" y="3116263"/>
            <a:ext cx="1790700" cy="127000"/>
            <a:chOff x="3296" y="2416"/>
            <a:chExt cx="1128" cy="80"/>
          </a:xfrm>
        </p:grpSpPr>
        <p:sp>
          <p:nvSpPr>
            <p:cNvPr id="186429" name="Rectangle 59"/>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30" name="Rectangle 60"/>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31" name="Rectangle 61"/>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32" name="Rectangle 62"/>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391" name="Group 63"/>
          <p:cNvGrpSpPr/>
          <p:nvPr/>
        </p:nvGrpSpPr>
        <p:grpSpPr bwMode="auto">
          <a:xfrm>
            <a:off x="4953000" y="3273425"/>
            <a:ext cx="1790700" cy="127000"/>
            <a:chOff x="3296" y="2416"/>
            <a:chExt cx="1128" cy="80"/>
          </a:xfrm>
        </p:grpSpPr>
        <p:sp>
          <p:nvSpPr>
            <p:cNvPr id="186425" name="Rectangle 64"/>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26" name="Rectangle 65"/>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27" name="Rectangle 66"/>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28" name="Rectangle 67"/>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392" name="Group 68"/>
          <p:cNvGrpSpPr/>
          <p:nvPr/>
        </p:nvGrpSpPr>
        <p:grpSpPr bwMode="auto">
          <a:xfrm>
            <a:off x="4953000" y="3429000"/>
            <a:ext cx="1790700" cy="127000"/>
            <a:chOff x="3296" y="2416"/>
            <a:chExt cx="1128" cy="80"/>
          </a:xfrm>
        </p:grpSpPr>
        <p:sp>
          <p:nvSpPr>
            <p:cNvPr id="186421" name="Rectangle 69"/>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22" name="Rectangle 70"/>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23" name="Rectangle 71"/>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24" name="Rectangle 72"/>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393" name="Group 73"/>
          <p:cNvGrpSpPr/>
          <p:nvPr/>
        </p:nvGrpSpPr>
        <p:grpSpPr bwMode="auto">
          <a:xfrm>
            <a:off x="4953000" y="3586163"/>
            <a:ext cx="1790700" cy="127000"/>
            <a:chOff x="3296" y="2416"/>
            <a:chExt cx="1128" cy="80"/>
          </a:xfrm>
        </p:grpSpPr>
        <p:sp>
          <p:nvSpPr>
            <p:cNvPr id="186417" name="Rectangle 74"/>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18" name="Rectangle 75"/>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19" name="Rectangle 76"/>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20" name="Rectangle 77"/>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cxnSp>
        <p:nvCxnSpPr>
          <p:cNvPr id="186394" name="AutoShape 78"/>
          <p:cNvCxnSpPr>
            <a:cxnSpLocks noChangeShapeType="1"/>
            <a:stCxn id="186373" idx="2"/>
            <a:endCxn id="186379" idx="1"/>
          </p:cNvCxnSpPr>
          <p:nvPr/>
        </p:nvCxnSpPr>
        <p:spPr bwMode="auto">
          <a:xfrm rot="16200000" flipH="1">
            <a:off x="3203575" y="2085975"/>
            <a:ext cx="1212850" cy="2286000"/>
          </a:xfrm>
          <a:prstGeom prst="bentConnector2">
            <a:avLst/>
          </a:prstGeom>
          <a:noFill/>
          <a:ln w="28575">
            <a:solidFill>
              <a:schemeClr val="tx1"/>
            </a:solidFill>
            <a:miter lim="800000"/>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6395" name="Line 79"/>
          <p:cNvSpPr>
            <a:spLocks noChangeShapeType="1"/>
          </p:cNvSpPr>
          <p:nvPr/>
        </p:nvSpPr>
        <p:spPr bwMode="auto">
          <a:xfrm>
            <a:off x="6807200" y="3871913"/>
            <a:ext cx="304800" cy="0"/>
          </a:xfrm>
          <a:prstGeom prst="line">
            <a:avLst/>
          </a:prstGeom>
          <a:noFill/>
          <a:ln w="2857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6396" name="Rectangle 80"/>
          <p:cNvSpPr>
            <a:spLocks noChangeArrowheads="1"/>
          </p:cNvSpPr>
          <p:nvPr/>
        </p:nvSpPr>
        <p:spPr bwMode="auto">
          <a:xfrm flipV="1">
            <a:off x="2286000" y="4989513"/>
            <a:ext cx="292100" cy="12700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397" name="Rectangle 81"/>
          <p:cNvSpPr>
            <a:spLocks noChangeArrowheads="1"/>
          </p:cNvSpPr>
          <p:nvPr/>
        </p:nvSpPr>
        <p:spPr bwMode="auto">
          <a:xfrm flipV="1">
            <a:off x="1981200" y="4989513"/>
            <a:ext cx="292100" cy="12700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398" name="Freeform 82"/>
          <p:cNvSpPr/>
          <p:nvPr/>
        </p:nvSpPr>
        <p:spPr bwMode="auto">
          <a:xfrm flipV="1">
            <a:off x="1981200" y="5105400"/>
            <a:ext cx="609600" cy="188913"/>
          </a:xfrm>
          <a:custGeom>
            <a:avLst/>
            <a:gdLst>
              <a:gd name="T0" fmla="*/ 0 w 384"/>
              <a:gd name="T1" fmla="*/ 2147483647 h 119"/>
              <a:gd name="T2" fmla="*/ 2147483647 w 384"/>
              <a:gd name="T3" fmla="*/ 0 h 119"/>
              <a:gd name="T4" fmla="*/ 2147483647 w 384"/>
              <a:gd name="T5" fmla="*/ 2147483647 h 119"/>
              <a:gd name="T6" fmla="*/ 0 60000 65536"/>
              <a:gd name="T7" fmla="*/ 0 60000 65536"/>
              <a:gd name="T8" fmla="*/ 0 60000 65536"/>
            </a:gdLst>
            <a:ahLst/>
            <a:cxnLst>
              <a:cxn ang="T6">
                <a:pos x="T0" y="T1"/>
              </a:cxn>
              <a:cxn ang="T7">
                <a:pos x="T2" y="T3"/>
              </a:cxn>
              <a:cxn ang="T8">
                <a:pos x="T4" y="T5"/>
              </a:cxn>
            </a:cxnLst>
            <a:rect l="0" t="0" r="r" b="b"/>
            <a:pathLst>
              <a:path w="384" h="119">
                <a:moveTo>
                  <a:pt x="0" y="119"/>
                </a:moveTo>
                <a:lnTo>
                  <a:pt x="192" y="0"/>
                </a:lnTo>
                <a:lnTo>
                  <a:pt x="384" y="111"/>
                </a:lnTo>
              </a:path>
            </a:pathLst>
          </a:custGeom>
          <a:noFill/>
          <a:ln w="2857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cxnSp>
        <p:nvCxnSpPr>
          <p:cNvPr id="186399" name="AutoShape 83"/>
          <p:cNvCxnSpPr>
            <a:cxnSpLocks noChangeShapeType="1"/>
            <a:stCxn id="186398" idx="1"/>
            <a:endCxn id="186441" idx="2"/>
          </p:cNvCxnSpPr>
          <p:nvPr/>
        </p:nvCxnSpPr>
        <p:spPr bwMode="auto">
          <a:xfrm rot="16200000" flipH="1">
            <a:off x="3977482" y="3617119"/>
            <a:ext cx="12700" cy="3398837"/>
          </a:xfrm>
          <a:prstGeom prst="bentConnector3">
            <a:avLst>
              <a:gd name="adj1" fmla="val 1900000"/>
            </a:avLst>
          </a:prstGeom>
          <a:noFill/>
          <a:ln w="28575">
            <a:solidFill>
              <a:schemeClr val="tx1"/>
            </a:solidFill>
            <a:miter lim="800000"/>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86400" name="Group 85"/>
          <p:cNvGrpSpPr/>
          <p:nvPr/>
        </p:nvGrpSpPr>
        <p:grpSpPr bwMode="auto">
          <a:xfrm>
            <a:off x="4953000" y="4700588"/>
            <a:ext cx="1790700" cy="127000"/>
            <a:chOff x="3296" y="2416"/>
            <a:chExt cx="1128" cy="80"/>
          </a:xfrm>
        </p:grpSpPr>
        <p:sp>
          <p:nvSpPr>
            <p:cNvPr id="186413" name="Rectangle 86"/>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14" name="Rectangle 87"/>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15" name="Rectangle 88"/>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16" name="Rectangle 89"/>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401" name="Group 90"/>
          <p:cNvGrpSpPr/>
          <p:nvPr/>
        </p:nvGrpSpPr>
        <p:grpSpPr bwMode="auto">
          <a:xfrm>
            <a:off x="4953000" y="4870450"/>
            <a:ext cx="1790700" cy="127000"/>
            <a:chOff x="3296" y="2416"/>
            <a:chExt cx="1128" cy="80"/>
          </a:xfrm>
        </p:grpSpPr>
        <p:sp>
          <p:nvSpPr>
            <p:cNvPr id="186409" name="Rectangle 91"/>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10" name="Rectangle 92"/>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11" name="Rectangle 93"/>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12" name="Rectangle 94"/>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grpSp>
        <p:nvGrpSpPr>
          <p:cNvPr id="186402" name="Group 95"/>
          <p:cNvGrpSpPr/>
          <p:nvPr/>
        </p:nvGrpSpPr>
        <p:grpSpPr bwMode="auto">
          <a:xfrm>
            <a:off x="4953000" y="5030788"/>
            <a:ext cx="1790700" cy="127000"/>
            <a:chOff x="3296" y="2416"/>
            <a:chExt cx="1128" cy="80"/>
          </a:xfrm>
        </p:grpSpPr>
        <p:sp>
          <p:nvSpPr>
            <p:cNvPr id="186405" name="Rectangle 96"/>
            <p:cNvSpPr>
              <a:spLocks noChangeArrowheads="1"/>
            </p:cNvSpPr>
            <p:nvPr/>
          </p:nvSpPr>
          <p:spPr bwMode="auto">
            <a:xfrm>
              <a:off x="3664"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06" name="Rectangle 97"/>
            <p:cNvSpPr>
              <a:spLocks noChangeArrowheads="1"/>
            </p:cNvSpPr>
            <p:nvPr/>
          </p:nvSpPr>
          <p:spPr bwMode="auto">
            <a:xfrm>
              <a:off x="3296"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07" name="Rectangle 98"/>
            <p:cNvSpPr>
              <a:spLocks noChangeArrowheads="1"/>
            </p:cNvSpPr>
            <p:nvPr/>
          </p:nvSpPr>
          <p:spPr bwMode="auto">
            <a:xfrm>
              <a:off x="396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186408" name="Rectangle 99"/>
            <p:cNvSpPr>
              <a:spLocks noChangeArrowheads="1"/>
            </p:cNvSpPr>
            <p:nvPr/>
          </p:nvSpPr>
          <p:spPr bwMode="auto">
            <a:xfrm>
              <a:off x="4240" y="2416"/>
              <a:ext cx="184" cy="80"/>
            </a:xfrm>
            <a:prstGeom prst="rect">
              <a:avLst/>
            </a:prstGeom>
            <a:noFill/>
            <a:ln w="12700">
              <a:solidFill>
                <a:schemeClr val="tx1"/>
              </a:solidFill>
              <a:miter lim="800000"/>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grpSp>
      <p:sp>
        <p:nvSpPr>
          <p:cNvPr id="186403" name="Rectangle 101"/>
          <p:cNvSpPr>
            <a:spLocks noChangeArrowheads="1"/>
          </p:cNvSpPr>
          <p:nvPr/>
        </p:nvSpPr>
        <p:spPr bwMode="auto">
          <a:xfrm>
            <a:off x="1143000" y="5791200"/>
            <a:ext cx="7677150" cy="66675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12700">
                <a:pattFill prst="narHorz">
                  <a:fgClr>
                    <a:schemeClr val="tx1"/>
                  </a:fgClr>
                  <a:bgClr>
                    <a:schemeClr val="bg1"/>
                  </a:bgClr>
                </a:pattFill>
                <a:miter lim="800000"/>
                <a:headEnd/>
                <a:tailEnd/>
              </a14:hiddenLine>
            </a:ext>
          </a:extLst>
        </p:spPr>
        <p:txBody>
          <a:bodyPr lIns="90487" tIns="44450" rIns="90487" bIns="4445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nSpc>
                <a:spcPct val="90000"/>
              </a:lnSpc>
              <a:spcBef>
                <a:spcPct val="30000"/>
              </a:spcBef>
              <a:buClrTx/>
              <a:buFontTx/>
              <a:buNone/>
            </a:pPr>
            <a:r>
              <a:rPr kumimoji="0" lang="en-US" altLang="en-US" sz="1800">
                <a:latin typeface="Helvetica" pitchFamily="34" charset="0"/>
                <a:ea typeface="宋体" panose="02010600030101010101" pitchFamily="2" charset="-122"/>
              </a:rPr>
              <a:t>Num of bits in an (m, n) predictor </a:t>
            </a:r>
            <a:r>
              <a:rPr kumimoji="0" lang="en-US" altLang="zh-CN" sz="1800">
                <a:latin typeface="Helvetica" pitchFamily="34" charset="0"/>
                <a:ea typeface="宋体" panose="02010600030101010101" pitchFamily="2" charset="-122"/>
              </a:rPr>
              <a:t>：</a:t>
            </a:r>
            <a:endParaRPr kumimoji="0" lang="en-US" altLang="en-US" sz="1800">
              <a:latin typeface="Helvetica" pitchFamily="34" charset="0"/>
              <a:ea typeface="宋体" panose="02010600030101010101" pitchFamily="2" charset="-122"/>
            </a:endParaRPr>
          </a:p>
          <a:p>
            <a:pPr>
              <a:lnSpc>
                <a:spcPct val="90000"/>
              </a:lnSpc>
              <a:spcBef>
                <a:spcPct val="30000"/>
              </a:spcBef>
              <a:buClrTx/>
              <a:buFontTx/>
              <a:buNone/>
            </a:pPr>
            <a:r>
              <a:rPr kumimoji="0" lang="en-US" altLang="en-US" sz="1800">
                <a:latin typeface="Helvetica" pitchFamily="34" charset="0"/>
                <a:ea typeface="宋体" panose="02010600030101010101" pitchFamily="2" charset="-122"/>
              </a:rPr>
              <a:t>2</a:t>
            </a:r>
            <a:r>
              <a:rPr kumimoji="0" lang="en-US" altLang="en-US" sz="1800" baseline="30000">
                <a:latin typeface="Comic Sans MS" panose="030F0702030302020204" pitchFamily="66" charset="0"/>
                <a:ea typeface="宋体" panose="02010600030101010101" pitchFamily="2" charset="-122"/>
              </a:rPr>
              <a:t>m</a:t>
            </a:r>
            <a:r>
              <a:rPr kumimoji="0" lang="en-US" altLang="en-US" sz="1800">
                <a:latin typeface="Helvetica" pitchFamily="34" charset="0"/>
                <a:ea typeface="宋体" panose="02010600030101010101" pitchFamily="2" charset="-122"/>
              </a:rPr>
              <a:t>×n×Number of prediction entries selected by the branch address</a:t>
            </a:r>
            <a:endParaRPr kumimoji="0" lang="en-US" altLang="en-US" sz="1800">
              <a:latin typeface="Helvetica" pitchFamily="34" charset="0"/>
              <a:ea typeface="宋体" panose="02010600030101010101" pitchFamily="2" charset="-122"/>
            </a:endParaRPr>
          </a:p>
        </p:txBody>
      </p:sp>
      <p:sp>
        <p:nvSpPr>
          <p:cNvPr id="186404" name="AutoShape 102"/>
          <p:cNvSpPr>
            <a:spLocks noChangeArrowheads="1"/>
          </p:cNvSpPr>
          <p:nvPr/>
        </p:nvSpPr>
        <p:spPr bwMode="auto">
          <a:xfrm>
            <a:off x="6172200" y="5334000"/>
            <a:ext cx="457200" cy="381000"/>
          </a:xfrm>
          <a:prstGeom prst="upArrow">
            <a:avLst>
              <a:gd name="adj1" fmla="val 50000"/>
              <a:gd name="adj2" fmla="val 25000"/>
            </a:avLst>
          </a:prstGeom>
          <a:solidFill>
            <a:srgbClr val="0099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07763"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7394" name="Text Box 2"/>
          <p:cNvSpPr txBox="1">
            <a:spLocks noChangeArrowheads="1"/>
          </p:cNvSpPr>
          <p:nvPr/>
        </p:nvSpPr>
        <p:spPr bwMode="auto">
          <a:xfrm>
            <a:off x="7092950" y="4221163"/>
            <a:ext cx="790575" cy="18288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vert="eaVert"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000">
                <a:latin typeface="Comic Sans MS" panose="030F0702030302020204" pitchFamily="66" charset="0"/>
              </a:rPr>
              <a:t>相关转移预测缓冲器的性能</a:t>
            </a:r>
            <a:endParaRPr lang="zh-CN" altLang="en-US" sz="2000">
              <a:latin typeface="Comic Sans MS" panose="030F0702030302020204" pitchFamily="66" charset="0"/>
            </a:endParaRPr>
          </a:p>
        </p:txBody>
      </p:sp>
      <p:pic>
        <p:nvPicPr>
          <p:cNvPr id="187395" name="Picture 4" descr="Ch3-fig15"/>
          <p:cNvPicPr>
            <a:picLocks noChangeAspect="1" noChangeArrowheads="1"/>
          </p:cNvPicPr>
          <p:nvPr/>
        </p:nvPicPr>
        <p:blipFill>
          <a:blip r:embed="rId1">
            <a:extLst>
              <a:ext uri="{28A0092B-C50C-407E-A947-70E740481C1C}">
                <a14:useLocalDpi xmlns:a14="http://schemas.microsoft.com/office/drawing/2010/main" val="0"/>
              </a:ext>
            </a:extLst>
          </a:blip>
          <a:srcRect b="11829"/>
          <a:stretch>
            <a:fillRect/>
          </a:stretch>
        </p:blipFill>
        <p:spPr bwMode="auto">
          <a:xfrm>
            <a:off x="457200" y="228600"/>
            <a:ext cx="5337175" cy="640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2693" name="Text Box 5"/>
          <p:cNvSpPr txBox="1">
            <a:spLocks noChangeArrowheads="1"/>
          </p:cNvSpPr>
          <p:nvPr/>
        </p:nvSpPr>
        <p:spPr bwMode="auto">
          <a:xfrm>
            <a:off x="6324600" y="838200"/>
            <a:ext cx="2135188" cy="2740025"/>
          </a:xfrm>
          <a:prstGeom prst="rect">
            <a:avLst/>
          </a:prstGeom>
          <a:noFill/>
          <a:ln w="57150" cmpd="thickThin">
            <a:solidFill>
              <a:schemeClr val="tx1"/>
            </a:solidFill>
            <a:miter lim="800000"/>
          </a:ln>
          <a:effectLst/>
          <a:extLst>
            <a:ext uri="{909E8E84-426E-40DD-AFC4-6F175D3DCCD1}">
              <a14:hiddenFill xmlns:a14="http://schemas.microsoft.com/office/drawing/2010/main">
                <a:solidFill>
                  <a:srgbClr val="FFFF00"/>
                </a:solidFill>
              </a14:hiddenFill>
            </a:ext>
            <a:ext uri="{AF507438-7753-43E0-B8FC-AC1667EBCBE1}">
              <a14:hiddenEffects xmlns:a14="http://schemas.microsoft.com/office/drawing/2010/main">
                <a:effectLst>
                  <a:outerShdw dist="107763" dir="2700000" algn="ctr" rotWithShape="0">
                    <a:schemeClr val="bg2"/>
                  </a:outerShdw>
                </a:effectLst>
              </a14:hiddenEffects>
            </a:ext>
          </a:extLst>
        </p:spPr>
        <p:txBody>
          <a:bodyPr lIns="90000" tIns="46800" rIns="90000" bIns="46800">
            <a:spAutoFit/>
          </a:bodyPr>
          <a:lstStyle/>
          <a:p>
            <a:pPr>
              <a:spcBef>
                <a:spcPct val="50000"/>
              </a:spcBef>
              <a:buClr>
                <a:schemeClr val="accent2"/>
              </a:buClr>
              <a:defRPr/>
            </a:pPr>
            <a:r>
              <a:rPr lang="zh-CN" altLang="en-US" sz="2000" b="1">
                <a:solidFill>
                  <a:srgbClr val="FF0000"/>
                </a:solidFill>
                <a:effectLst>
                  <a:outerShdw blurRad="38100" dist="38100" dir="2700000" algn="tl">
                    <a:srgbClr val="C0C0C0"/>
                  </a:outerShdw>
                </a:effectLst>
                <a:ea typeface="楷体_GB2312" pitchFamily="49" charset="-122"/>
              </a:rPr>
              <a:t>提示：</a:t>
            </a:r>
            <a:endParaRPr lang="zh-CN" altLang="en-US" sz="2000" b="1">
              <a:solidFill>
                <a:srgbClr val="FF0000"/>
              </a:solidFill>
              <a:effectLst>
                <a:outerShdw blurRad="38100" dist="38100" dir="2700000" algn="tl">
                  <a:srgbClr val="C0C0C0"/>
                </a:outerShdw>
              </a:effectLst>
              <a:ea typeface="楷体_GB2312" pitchFamily="49" charset="-122"/>
            </a:endParaRPr>
          </a:p>
          <a:p>
            <a:pPr>
              <a:spcBef>
                <a:spcPct val="50000"/>
              </a:spcBef>
              <a:buClr>
                <a:schemeClr val="accent2"/>
              </a:buClr>
              <a:defRPr/>
            </a:pPr>
            <a:r>
              <a:rPr lang="zh-CN" altLang="en-US" sz="2000" b="1">
                <a:ea typeface="楷体_GB2312" pitchFamily="49" charset="-122"/>
              </a:rPr>
              <a:t>     2</a:t>
            </a:r>
            <a:r>
              <a:rPr lang="en-US" altLang="zh-CN" sz="2000" b="1">
                <a:ea typeface="楷体_GB2312" pitchFamily="49" charset="-122"/>
              </a:rPr>
              <a:t>bit</a:t>
            </a:r>
            <a:r>
              <a:rPr lang="zh-CN" altLang="en-US" sz="2000" b="1">
                <a:ea typeface="楷体_GB2312" pitchFamily="49" charset="-122"/>
              </a:rPr>
              <a:t>转移预测缓冲器也可称为（0，2）预测器。（0，2）预测器和（2，2）预测器最受欢迎。</a:t>
            </a:r>
            <a:endParaRPr lang="zh-CN" altLang="en-US" sz="2000" b="1">
              <a:ea typeface="楷体_GB2312"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5282" name="Rectangle 2"/>
          <p:cNvSpPr>
            <a:spLocks noGrp="1" noChangeArrowheads="1"/>
          </p:cNvSpPr>
          <p:nvPr>
            <p:ph type="title"/>
          </p:nvPr>
        </p:nvSpPr>
        <p:spPr/>
        <p:txBody>
          <a:bodyPr/>
          <a:lstStyle/>
          <a:p>
            <a:pPr eaLnBrk="1" hangingPunct="1">
              <a:defRPr/>
            </a:pPr>
            <a:r>
              <a:rPr lang="zh-CN" altLang="en-US" smtClean="0"/>
              <a:t>自适应预测器</a:t>
            </a:r>
            <a:br>
              <a:rPr lang="zh-CN" altLang="en-US" smtClean="0"/>
            </a:br>
            <a:r>
              <a:rPr lang="zh-CN" altLang="en-US" smtClean="0"/>
              <a:t>           — </a:t>
            </a:r>
            <a:r>
              <a:rPr lang="zh-CN" altLang="en-US" sz="3600" smtClean="0"/>
              <a:t>思想</a:t>
            </a:r>
            <a:endParaRPr lang="zh-CN" altLang="en-US" sz="3600" smtClean="0"/>
          </a:p>
        </p:txBody>
      </p:sp>
      <p:sp>
        <p:nvSpPr>
          <p:cNvPr id="18841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endParaRPr lang="zh-CN" altLang="en-US" sz="1200" b="0">
              <a:latin typeface="Times New Roman" panose="02020603050405020304" pitchFamily="18" charset="0"/>
              <a:ea typeface="幼圆" panose="02010509060101010101" pitchFamily="49" charset="-122"/>
            </a:endParaRPr>
          </a:p>
        </p:txBody>
      </p:sp>
      <p:sp>
        <p:nvSpPr>
          <p:cNvPr id="188420" name="Rectangle 4"/>
          <p:cNvSpPr>
            <a:spLocks noGrp="1" noChangeArrowheads="1"/>
          </p:cNvSpPr>
          <p:nvPr>
            <p:ph type="body" idx="1"/>
          </p:nvPr>
        </p:nvSpPr>
        <p:spPr/>
        <p:txBody>
          <a:bodyPr/>
          <a:lstStyle/>
          <a:p>
            <a:pPr marL="0" indent="0" eaLnBrk="1" hangingPunct="1">
              <a:lnSpc>
                <a:spcPct val="140000"/>
              </a:lnSpc>
              <a:buFont typeface="Wingdings" panose="05000000000000000000" pitchFamily="2" charset="2"/>
              <a:buNone/>
            </a:pPr>
            <a:r>
              <a:rPr lang="zh-CN" altLang="en-US" dirty="0" smtClean="0"/>
              <a:t>        </a:t>
            </a:r>
            <a:r>
              <a:rPr lang="zh-CN" altLang="en-US" dirty="0" smtClean="0">
                <a:solidFill>
                  <a:srgbClr val="FF0000"/>
                </a:solidFill>
              </a:rPr>
              <a:t>转移预测缓冲器</a:t>
            </a:r>
            <a:r>
              <a:rPr lang="zh-CN" altLang="en-US" dirty="0" smtClean="0"/>
              <a:t>和</a:t>
            </a:r>
            <a:r>
              <a:rPr lang="zh-CN" altLang="en-US" dirty="0" smtClean="0">
                <a:solidFill>
                  <a:srgbClr val="FF0000"/>
                </a:solidFill>
              </a:rPr>
              <a:t>相关转移预测器</a:t>
            </a:r>
            <a:r>
              <a:rPr lang="zh-CN" altLang="en-US" dirty="0" smtClean="0"/>
              <a:t>都是</a:t>
            </a:r>
            <a:r>
              <a:rPr lang="zh-CN" altLang="en-US" dirty="0" smtClean="0">
                <a:solidFill>
                  <a:srgbClr val="0000FF"/>
                </a:solidFill>
              </a:rPr>
              <a:t>转移历史表</a:t>
            </a:r>
            <a:r>
              <a:rPr lang="zh-CN" altLang="en-US" dirty="0" smtClean="0"/>
              <a:t>（</a:t>
            </a:r>
            <a:r>
              <a:rPr lang="en-US" altLang="zh-CN" dirty="0" smtClean="0"/>
              <a:t>BHT），</a:t>
            </a:r>
            <a:r>
              <a:rPr lang="zh-CN" altLang="en-US" dirty="0" smtClean="0"/>
              <a:t>前者使用</a:t>
            </a:r>
            <a:r>
              <a:rPr lang="zh-CN" altLang="en-US" dirty="0" smtClean="0">
                <a:solidFill>
                  <a:srgbClr val="0000FF"/>
                </a:solidFill>
              </a:rPr>
              <a:t>局部信息</a:t>
            </a:r>
            <a:r>
              <a:rPr lang="zh-CN" altLang="en-US" dirty="0" smtClean="0"/>
              <a:t>，而后者使用</a:t>
            </a:r>
            <a:r>
              <a:rPr lang="zh-CN" altLang="en-US" dirty="0" smtClean="0">
                <a:solidFill>
                  <a:srgbClr val="0000FF"/>
                </a:solidFill>
              </a:rPr>
              <a:t>全局信息</a:t>
            </a:r>
            <a:r>
              <a:rPr lang="zh-CN" altLang="en-US" dirty="0" smtClean="0"/>
              <a:t>。本方法通过设置两个</a:t>
            </a:r>
            <a:r>
              <a:rPr lang="zh-CN" altLang="en-US" dirty="0" smtClean="0">
                <a:solidFill>
                  <a:srgbClr val="0000FF"/>
                </a:solidFill>
              </a:rPr>
              <a:t>预测器</a:t>
            </a:r>
            <a:r>
              <a:rPr lang="zh-CN" altLang="en-US" dirty="0" smtClean="0"/>
              <a:t>，一个基于局部信息，另一个基于全局信息，并使用一个</a:t>
            </a:r>
            <a:r>
              <a:rPr lang="zh-CN" altLang="en-US" dirty="0" smtClean="0">
                <a:solidFill>
                  <a:srgbClr val="0000FF"/>
                </a:solidFill>
              </a:rPr>
              <a:t>选择器</a:t>
            </a:r>
            <a:r>
              <a:rPr lang="zh-CN" altLang="en-US" dirty="0" smtClean="0"/>
              <a:t>来组合它们，希望为合适的条件转移指令选择合适的预测器。</a:t>
            </a:r>
            <a:endParaRPr lang="zh-CN" altLang="en-US" dirty="0" smtClean="0"/>
          </a:p>
        </p:txBody>
      </p:sp>
      <p:sp>
        <p:nvSpPr>
          <p:cNvPr id="188421"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7" name="projctor.wav"/>
      </p:stSnd>
    </p:sndAc>
  </p:transition>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5762" name="Rectangle 2"/>
          <p:cNvSpPr>
            <a:spLocks noGrp="1" noChangeArrowheads="1"/>
          </p:cNvSpPr>
          <p:nvPr>
            <p:ph type="title"/>
          </p:nvPr>
        </p:nvSpPr>
        <p:spPr/>
        <p:txBody>
          <a:bodyPr/>
          <a:lstStyle/>
          <a:p>
            <a:pPr eaLnBrk="1" hangingPunct="1">
              <a:defRPr/>
            </a:pPr>
            <a:r>
              <a:rPr lang="zh-CN" altLang="en-US" smtClean="0"/>
              <a:t>自适应预测器</a:t>
            </a:r>
            <a:br>
              <a:rPr lang="zh-CN" altLang="en-US" smtClean="0"/>
            </a:br>
            <a:r>
              <a:rPr lang="zh-CN" altLang="en-US" smtClean="0"/>
              <a:t>           — </a:t>
            </a:r>
            <a:r>
              <a:rPr lang="zh-CN" altLang="en-US" sz="3600" smtClean="0"/>
              <a:t>实现</a:t>
            </a:r>
            <a:endParaRPr lang="zh-CN" altLang="en-US" sz="3600" smtClean="0"/>
          </a:p>
        </p:txBody>
      </p:sp>
      <p:sp>
        <p:nvSpPr>
          <p:cNvPr id="1894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endParaRPr lang="zh-CN" altLang="en-US" sz="1200" b="0">
              <a:latin typeface="Times New Roman" panose="02020603050405020304" pitchFamily="18" charset="0"/>
              <a:ea typeface="幼圆" panose="02010509060101010101" pitchFamily="49" charset="-122"/>
            </a:endParaRPr>
          </a:p>
        </p:txBody>
      </p:sp>
      <p:sp>
        <p:nvSpPr>
          <p:cNvPr id="885764" name="Rectangle 4"/>
          <p:cNvSpPr>
            <a:spLocks noGrp="1" noChangeArrowheads="1"/>
          </p:cNvSpPr>
          <p:nvPr>
            <p:ph type="body" idx="1"/>
          </p:nvPr>
        </p:nvSpPr>
        <p:spPr>
          <a:xfrm>
            <a:off x="838200" y="5791200"/>
            <a:ext cx="7929563" cy="685800"/>
          </a:xfrm>
        </p:spPr>
        <p:txBody>
          <a:bodyPr/>
          <a:lstStyle/>
          <a:p>
            <a:pPr marL="1054100" indent="-1054100" eaLnBrk="1" hangingPunct="1">
              <a:lnSpc>
                <a:spcPct val="90000"/>
              </a:lnSpc>
              <a:buFont typeface="Wingdings" panose="05000000000000000000" pitchFamily="2" charset="2"/>
              <a:buNone/>
              <a:defRPr/>
            </a:pPr>
            <a:r>
              <a:rPr lang="zh-CN" altLang="en-US" sz="2000" dirty="0" smtClean="0">
                <a:solidFill>
                  <a:srgbClr val="FF0000"/>
                </a:solidFill>
                <a:effectLst>
                  <a:outerShdw blurRad="38100" dist="38100" dir="2700000" algn="tl">
                    <a:srgbClr val="C0C0C0"/>
                  </a:outerShdw>
                </a:effectLst>
              </a:rPr>
              <a:t>×／×：</a:t>
            </a:r>
            <a:r>
              <a:rPr lang="zh-CN" altLang="en-US" sz="2000" dirty="0" smtClean="0"/>
              <a:t>前一个</a:t>
            </a:r>
            <a:r>
              <a:rPr lang="zh-CN" altLang="en-US" sz="2000" dirty="0" smtClean="0">
                <a:solidFill>
                  <a:srgbClr val="FF0000"/>
                </a:solidFill>
                <a:effectLst>
                  <a:outerShdw blurRad="38100" dist="38100" dir="2700000" algn="tl">
                    <a:srgbClr val="C0C0C0"/>
                  </a:outerShdw>
                </a:effectLst>
              </a:rPr>
              <a:t>×</a:t>
            </a:r>
            <a:r>
              <a:rPr lang="zh-CN" altLang="en-US" sz="2000" dirty="0" smtClean="0"/>
              <a:t>表示预测器1预测的情况；后一个</a:t>
            </a:r>
            <a:r>
              <a:rPr lang="zh-CN" altLang="en-US" sz="2000" dirty="0" smtClean="0">
                <a:solidFill>
                  <a:srgbClr val="FF0000"/>
                </a:solidFill>
                <a:effectLst>
                  <a:outerShdw blurRad="38100" dist="38100" dir="2700000" algn="tl">
                    <a:srgbClr val="C0C0C0"/>
                  </a:outerShdw>
                </a:effectLst>
              </a:rPr>
              <a:t>×</a:t>
            </a:r>
            <a:r>
              <a:rPr lang="zh-CN" altLang="en-US" sz="2000" dirty="0" smtClean="0"/>
              <a:t>表示预测器2预测的情况；其中</a:t>
            </a:r>
            <a:r>
              <a:rPr lang="zh-CN" altLang="en-US" sz="2000" dirty="0" smtClean="0">
                <a:solidFill>
                  <a:srgbClr val="FF0000"/>
                </a:solidFill>
                <a:effectLst>
                  <a:outerShdw blurRad="38100" dist="38100" dir="2700000" algn="tl">
                    <a:srgbClr val="C0C0C0"/>
                  </a:outerShdw>
                </a:effectLst>
              </a:rPr>
              <a:t>0</a:t>
            </a:r>
            <a:r>
              <a:rPr lang="zh-CN" altLang="en-US" sz="2000" dirty="0" smtClean="0"/>
              <a:t>表示预测错误，</a:t>
            </a:r>
            <a:r>
              <a:rPr lang="zh-CN" altLang="en-US" sz="2000" dirty="0" smtClean="0">
                <a:solidFill>
                  <a:srgbClr val="FF0000"/>
                </a:solidFill>
                <a:effectLst>
                  <a:outerShdw blurRad="38100" dist="38100" dir="2700000" algn="tl">
                    <a:srgbClr val="C0C0C0"/>
                  </a:outerShdw>
                </a:effectLst>
              </a:rPr>
              <a:t>1</a:t>
            </a:r>
            <a:r>
              <a:rPr lang="zh-CN" altLang="en-US" sz="2000" dirty="0" smtClean="0"/>
              <a:t>表示预测正确。</a:t>
            </a:r>
            <a:endParaRPr lang="zh-CN" altLang="en-US" sz="2000" dirty="0" smtClean="0"/>
          </a:p>
        </p:txBody>
      </p:sp>
      <p:sp>
        <p:nvSpPr>
          <p:cNvPr id="18944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2</a:t>
            </a:r>
            <a:endParaRPr lang="zh-CN" altLang="en-US" sz="1200" b="0">
              <a:latin typeface="幼圆" panose="02010509060101010101" pitchFamily="49" charset="-122"/>
              <a:ea typeface="幼圆" panose="02010509060101010101" pitchFamily="49" charset="-122"/>
            </a:endParaRPr>
          </a:p>
        </p:txBody>
      </p:sp>
      <p:pic>
        <p:nvPicPr>
          <p:cNvPr id="189446" name="Picture 6" descr="Ch3-fig16"/>
          <p:cNvPicPr>
            <a:picLocks noChangeAspect="1" noChangeArrowheads="1"/>
          </p:cNvPicPr>
          <p:nvPr/>
        </p:nvPicPr>
        <p:blipFill>
          <a:blip r:embed="rId7">
            <a:clrChange>
              <a:clrFrom>
                <a:srgbClr val="FFFFFF"/>
              </a:clrFrom>
              <a:clrTo>
                <a:srgbClr val="FFFFFF">
                  <a:alpha val="0"/>
                </a:srgbClr>
              </a:clrTo>
            </a:clrChange>
            <a:lum bright="-6000"/>
            <a:extLst>
              <a:ext uri="{28A0092B-C50C-407E-A947-70E740481C1C}">
                <a14:useLocalDpi xmlns:a14="http://schemas.microsoft.com/office/drawing/2010/main" val="0"/>
              </a:ext>
            </a:extLst>
          </a:blip>
          <a:srcRect b="20747"/>
          <a:stretch>
            <a:fillRect/>
          </a:stretch>
        </p:blipFill>
        <p:spPr bwMode="auto">
          <a:xfrm>
            <a:off x="1676400" y="2119313"/>
            <a:ext cx="6019800" cy="3567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random/>
    <p:sndAc>
      <p:stSnd>
        <p:snd r:embed="rId8" name="projctor.wav"/>
      </p:stSnd>
    </p:sndAc>
  </p:transition>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6786" name="Rectangle 2"/>
          <p:cNvSpPr>
            <a:spLocks noGrp="1" noChangeArrowheads="1"/>
          </p:cNvSpPr>
          <p:nvPr>
            <p:ph type="title"/>
          </p:nvPr>
        </p:nvSpPr>
        <p:spPr/>
        <p:txBody>
          <a:bodyPr/>
          <a:lstStyle/>
          <a:p>
            <a:pPr eaLnBrk="1" hangingPunct="1">
              <a:defRPr/>
            </a:pPr>
            <a:r>
              <a:rPr lang="zh-CN" altLang="en-US" smtClean="0"/>
              <a:t>自适应预测器</a:t>
            </a:r>
            <a:br>
              <a:rPr lang="zh-CN" altLang="en-US" smtClean="0"/>
            </a:br>
            <a:r>
              <a:rPr lang="zh-CN" altLang="en-US" smtClean="0"/>
              <a:t>           — </a:t>
            </a:r>
            <a:r>
              <a:rPr lang="zh-CN" altLang="en-US" sz="3600" smtClean="0"/>
              <a:t>比较</a:t>
            </a:r>
            <a:endParaRPr lang="zh-CN" altLang="en-US" sz="3600" smtClean="0"/>
          </a:p>
        </p:txBody>
      </p:sp>
      <p:sp>
        <p:nvSpPr>
          <p:cNvPr id="19046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endParaRPr lang="zh-CN" altLang="en-US" sz="1200" b="0">
              <a:latin typeface="Times New Roman" panose="02020603050405020304" pitchFamily="18" charset="0"/>
              <a:ea typeface="幼圆" panose="02010509060101010101" pitchFamily="49" charset="-122"/>
            </a:endParaRPr>
          </a:p>
        </p:txBody>
      </p:sp>
      <p:sp>
        <p:nvSpPr>
          <p:cNvPr id="190468"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3</a:t>
            </a:r>
            <a:endParaRPr lang="zh-CN" altLang="en-US" sz="1200" b="0">
              <a:latin typeface="幼圆" panose="02010509060101010101" pitchFamily="49" charset="-122"/>
              <a:ea typeface="幼圆" panose="02010509060101010101" pitchFamily="49" charset="-122"/>
            </a:endParaRPr>
          </a:p>
        </p:txBody>
      </p:sp>
      <p:pic>
        <p:nvPicPr>
          <p:cNvPr id="190469" name="Picture 8" descr="Ch3-fig18"/>
          <p:cNvPicPr>
            <a:picLocks noChangeAspect="1" noChangeArrowheads="1"/>
          </p:cNvPicPr>
          <p:nvPr/>
        </p:nvPicPr>
        <p:blipFill>
          <a:blip r:embed="rId7">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b="17818"/>
          <a:stretch>
            <a:fillRect/>
          </a:stretch>
        </p:blipFill>
        <p:spPr bwMode="auto">
          <a:xfrm>
            <a:off x="990600" y="2362200"/>
            <a:ext cx="7848600" cy="377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random/>
    <p:sndAc>
      <p:stSnd>
        <p:snd r:embed="rId8" name="projctor.wav"/>
      </p:stSnd>
    </p:sndAc>
  </p:transition>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6306" name="Rectangle 2"/>
          <p:cNvSpPr>
            <a:spLocks noGrp="1" noChangeArrowheads="1"/>
          </p:cNvSpPr>
          <p:nvPr>
            <p:ph type="title"/>
          </p:nvPr>
        </p:nvSpPr>
        <p:spPr/>
        <p:txBody>
          <a:bodyPr/>
          <a:lstStyle/>
          <a:p>
            <a:pPr eaLnBrk="1" hangingPunct="1">
              <a:defRPr/>
            </a:pPr>
            <a:r>
              <a:rPr lang="zh-CN" altLang="en-US" dirty="0" smtClean="0"/>
              <a:t>分支目标缓冲器</a:t>
            </a:r>
            <a:br>
              <a:rPr lang="zh-CN" altLang="en-US" dirty="0" smtClean="0"/>
            </a:br>
            <a:r>
              <a:rPr lang="zh-CN" altLang="en-US" dirty="0" smtClean="0"/>
              <a:t>            — </a:t>
            </a:r>
            <a:r>
              <a:rPr lang="zh-CN" altLang="en-US" sz="3600" dirty="0" smtClean="0"/>
              <a:t>思想</a:t>
            </a:r>
            <a:endParaRPr lang="en-US" altLang="zh-CN" sz="3600" dirty="0" smtClean="0"/>
          </a:p>
        </p:txBody>
      </p:sp>
      <p:sp>
        <p:nvSpPr>
          <p:cNvPr id="1914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endParaRPr lang="zh-CN" altLang="en-US" sz="1200" b="0">
              <a:latin typeface="Times New Roman" panose="02020603050405020304" pitchFamily="18" charset="0"/>
              <a:ea typeface="幼圆" panose="02010509060101010101" pitchFamily="49" charset="-122"/>
            </a:endParaRPr>
          </a:p>
        </p:txBody>
      </p:sp>
      <p:sp>
        <p:nvSpPr>
          <p:cNvPr id="866308" name="Rectangle 4"/>
          <p:cNvSpPr>
            <a:spLocks noGrp="1" noChangeArrowheads="1"/>
          </p:cNvSpPr>
          <p:nvPr>
            <p:ph type="body" idx="1"/>
          </p:nvPr>
        </p:nvSpPr>
        <p:spPr/>
        <p:txBody>
          <a:bodyPr/>
          <a:lstStyle/>
          <a:p>
            <a:pPr marL="0" indent="0" eaLnBrk="1" hangingPunct="1">
              <a:buNone/>
              <a:defRPr/>
            </a:pPr>
            <a:r>
              <a:rPr lang="zh-CN" altLang="en-US" sz="2800" dirty="0" smtClean="0"/>
              <a:t>        分支目标缓冲器（</a:t>
            </a:r>
            <a:r>
              <a:rPr lang="en-US" altLang="zh-CN" sz="2800" b="0" dirty="0" smtClean="0">
                <a:solidFill>
                  <a:srgbClr val="FF0000"/>
                </a:solidFill>
                <a:effectLst>
                  <a:outerShdw blurRad="38100" dist="38100" dir="2700000" algn="tl">
                    <a:srgbClr val="C0C0C0"/>
                  </a:outerShdw>
                </a:effectLst>
              </a:rPr>
              <a:t>B</a:t>
            </a:r>
            <a:r>
              <a:rPr lang="en-US" altLang="zh-CN" sz="2800" b="0" dirty="0" smtClean="0"/>
              <a:t>ranch </a:t>
            </a:r>
            <a:r>
              <a:rPr lang="en-US" altLang="zh-CN" sz="2800" b="0" dirty="0" smtClean="0">
                <a:solidFill>
                  <a:srgbClr val="FF0000"/>
                </a:solidFill>
                <a:effectLst>
                  <a:outerShdw blurRad="38100" dist="38100" dir="2700000" algn="tl">
                    <a:srgbClr val="C0C0C0"/>
                  </a:outerShdw>
                </a:effectLst>
              </a:rPr>
              <a:t>T</a:t>
            </a:r>
            <a:r>
              <a:rPr lang="en-US" altLang="zh-CN" sz="2800" b="0" dirty="0" smtClean="0"/>
              <a:t>arget </a:t>
            </a:r>
            <a:r>
              <a:rPr lang="en-US" altLang="zh-CN" sz="2800" b="0" dirty="0" smtClean="0">
                <a:solidFill>
                  <a:srgbClr val="FF0000"/>
                </a:solidFill>
                <a:effectLst>
                  <a:outerShdw blurRad="38100" dist="38100" dir="2700000" algn="tl">
                    <a:srgbClr val="C0C0C0"/>
                  </a:outerShdw>
                </a:effectLst>
              </a:rPr>
              <a:t>B</a:t>
            </a:r>
            <a:r>
              <a:rPr lang="en-US" altLang="zh-CN" sz="2800" b="0" dirty="0" smtClean="0"/>
              <a:t>uffer</a:t>
            </a:r>
            <a:r>
              <a:rPr lang="en-US" altLang="zh-CN" sz="2800" dirty="0" smtClean="0"/>
              <a:t>）</a:t>
            </a:r>
            <a:r>
              <a:rPr lang="zh-CN" altLang="en-US" sz="2800" dirty="0" smtClean="0"/>
              <a:t>采用一个小容量的高速缓冲器保存最近</a:t>
            </a:r>
            <a:r>
              <a:rPr lang="zh-CN" altLang="en-US" sz="2800" dirty="0" smtClean="0">
                <a:solidFill>
                  <a:srgbClr val="0000FF"/>
                </a:solidFill>
              </a:rPr>
              <a:t>成功转移</a:t>
            </a:r>
            <a:r>
              <a:rPr lang="zh-CN" altLang="en-US" sz="2800" dirty="0" smtClean="0"/>
              <a:t>的</a:t>
            </a:r>
            <a:r>
              <a:rPr lang="en-US" altLang="zh-CN" sz="2800" dirty="0" smtClean="0"/>
              <a:t>k</a:t>
            </a:r>
            <a:r>
              <a:rPr lang="zh-CN" altLang="en-US" sz="2800" dirty="0" smtClean="0"/>
              <a:t>条条件转移指令的</a:t>
            </a:r>
            <a:r>
              <a:rPr lang="zh-CN" altLang="en-US" sz="2800" dirty="0"/>
              <a:t>“</a:t>
            </a:r>
            <a:r>
              <a:rPr lang="zh-CN" altLang="en-US" sz="2800" dirty="0">
                <a:solidFill>
                  <a:srgbClr val="0000FF"/>
                </a:solidFill>
              </a:rPr>
              <a:t>条件转移指令地址</a:t>
            </a:r>
            <a:r>
              <a:rPr lang="zh-CN" altLang="en-US" sz="2800" dirty="0"/>
              <a:t>”</a:t>
            </a:r>
            <a:r>
              <a:rPr lang="zh-CN" altLang="en-US" sz="2800" dirty="0" smtClean="0"/>
              <a:t>和</a:t>
            </a:r>
            <a:r>
              <a:rPr lang="zh-CN" altLang="en-US" sz="2800" dirty="0"/>
              <a:t>“</a:t>
            </a:r>
            <a:r>
              <a:rPr lang="zh-CN" altLang="en-US" sz="2800" dirty="0">
                <a:solidFill>
                  <a:srgbClr val="0000FF"/>
                </a:solidFill>
              </a:rPr>
              <a:t>预测的分支目标地址</a:t>
            </a:r>
            <a:r>
              <a:rPr lang="zh-CN" altLang="en-US" sz="2800" dirty="0"/>
              <a:t>” </a:t>
            </a:r>
            <a:r>
              <a:rPr lang="zh-CN" altLang="en-US" sz="2800" dirty="0" smtClean="0"/>
              <a:t>，“条件转移指令地址”字段采用</a:t>
            </a:r>
            <a:r>
              <a:rPr lang="zh-CN" altLang="en-US" sz="2800" dirty="0" smtClean="0">
                <a:solidFill>
                  <a:srgbClr val="0000FF"/>
                </a:solidFill>
              </a:rPr>
              <a:t>全相联方式</a:t>
            </a:r>
            <a:r>
              <a:rPr lang="zh-CN" altLang="en-US" sz="2800" dirty="0" smtClean="0"/>
              <a:t>进行访问。当程序执行到一条指令时，将当前指令地址与</a:t>
            </a:r>
            <a:r>
              <a:rPr lang="en-US" altLang="zh-CN" sz="2800" dirty="0" smtClean="0"/>
              <a:t>BTB</a:t>
            </a:r>
            <a:r>
              <a:rPr lang="zh-CN" altLang="en-US" sz="2800" dirty="0" smtClean="0"/>
              <a:t>中的所有“条件转移指令地址”进行比较，如相符，则预测本次</a:t>
            </a:r>
            <a:r>
              <a:rPr lang="zh-CN" altLang="en-US" sz="2800" dirty="0"/>
              <a:t>成功</a:t>
            </a:r>
            <a:r>
              <a:rPr lang="zh-CN" altLang="en-US" sz="2800" dirty="0" smtClean="0"/>
              <a:t>转移，并用</a:t>
            </a:r>
            <a:r>
              <a:rPr lang="zh-CN" altLang="en-US" sz="2800" dirty="0"/>
              <a:t>“预测的分支目标地址”</a:t>
            </a:r>
            <a:r>
              <a:rPr lang="zh-CN" altLang="en-US" sz="2800" dirty="0" smtClean="0"/>
              <a:t>预取指令；如不符，直接取下一条指令。在实际转移条件形成之后，修改</a:t>
            </a:r>
            <a:r>
              <a:rPr lang="en-US" altLang="zh-CN" sz="2800" dirty="0" smtClean="0"/>
              <a:t>BTB</a:t>
            </a:r>
            <a:r>
              <a:rPr lang="zh-CN" altLang="en-US" sz="2800" dirty="0" smtClean="0"/>
              <a:t>中相应内容。</a:t>
            </a:r>
            <a:endParaRPr lang="zh-CN" altLang="en-US" sz="2800" dirty="0" smtClean="0"/>
          </a:p>
        </p:txBody>
      </p:sp>
      <p:sp>
        <p:nvSpPr>
          <p:cNvPr id="191493" name="Text Box 5"/>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1</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7" name="projctor.wav"/>
      </p:stSnd>
    </p:sndAc>
  </p:transition>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对象 1"/>
          <p:cNvGraphicFramePr>
            <a:graphicFrameLocks noChangeAspect="1"/>
          </p:cNvGraphicFramePr>
          <p:nvPr/>
        </p:nvGraphicFramePr>
        <p:xfrm>
          <a:off x="1908200" y="1918419"/>
          <a:ext cx="5472112" cy="4606925"/>
        </p:xfrm>
        <a:graphic>
          <a:graphicData uri="http://schemas.openxmlformats.org/presentationml/2006/ole">
            <mc:AlternateContent xmlns:mc="http://schemas.openxmlformats.org/markup-compatibility/2006">
              <mc:Choice xmlns:v="urn:schemas-microsoft-com:vml" Requires="v">
                <p:oleObj spid="_x0000_s255062" name="Picture" r:id="rId1" imgW="20593050" imgH="17306925" progId="Word.Picture.8">
                  <p:embed/>
                </p:oleObj>
              </mc:Choice>
              <mc:Fallback>
                <p:oleObj name="Picture" r:id="rId1" imgW="20593050" imgH="17306925" progId="Word.Picture.8">
                  <p:embed/>
                  <p:pic>
                    <p:nvPicPr>
                      <p:cNvPr id="0" name="Object 4"/>
                      <p:cNvPicPr>
                        <a:picLocks noChangeAspect="1" noChangeArrowheads="1"/>
                      </p:cNvPicPr>
                      <p:nvPr/>
                    </p:nvPicPr>
                    <p:blipFill>
                      <a:blip r:embed="rId2"/>
                      <a:srcRect/>
                      <a:stretch>
                        <a:fillRect/>
                      </a:stretch>
                    </p:blipFill>
                    <p:spPr bwMode="auto">
                      <a:xfrm>
                        <a:off x="1908200" y="1918419"/>
                        <a:ext cx="5472112" cy="4606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887810" name="Rectangle 2"/>
          <p:cNvSpPr>
            <a:spLocks noGrp="1" noChangeArrowheads="1"/>
          </p:cNvSpPr>
          <p:nvPr>
            <p:ph type="title"/>
          </p:nvPr>
        </p:nvSpPr>
        <p:spPr/>
        <p:txBody>
          <a:bodyPr/>
          <a:lstStyle/>
          <a:p>
            <a:pPr eaLnBrk="1" hangingPunct="1">
              <a:defRPr/>
            </a:pPr>
            <a:r>
              <a:rPr lang="zh-CN" altLang="en-US" dirty="0" smtClean="0"/>
              <a:t>分支目标缓冲器</a:t>
            </a:r>
            <a:br>
              <a:rPr lang="zh-CN" altLang="en-US" dirty="0" smtClean="0"/>
            </a:br>
            <a:r>
              <a:rPr lang="zh-CN" altLang="en-US" dirty="0" smtClean="0"/>
              <a:t>               — </a:t>
            </a:r>
            <a:r>
              <a:rPr lang="zh-CN" altLang="en-US" sz="3600" dirty="0" smtClean="0"/>
              <a:t>举例</a:t>
            </a:r>
            <a:endParaRPr lang="en-US" altLang="zh-CN" sz="3600" dirty="0" smtClean="0"/>
          </a:p>
        </p:txBody>
      </p:sp>
      <p:sp>
        <p:nvSpPr>
          <p:cNvPr id="19251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3"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7"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8" action="ppaction://hlinksldjump"/>
              </a:rPr>
              <a:t>动态预测</a:t>
            </a:r>
            <a:endParaRPr lang="zh-CN" altLang="en-US" sz="1200" b="0">
              <a:latin typeface="Times New Roman" panose="02020603050405020304" pitchFamily="18" charset="0"/>
              <a:ea typeface="幼圆" panose="02010509060101010101" pitchFamily="49" charset="-122"/>
            </a:endParaRPr>
          </a:p>
        </p:txBody>
      </p:sp>
      <p:sp>
        <p:nvSpPr>
          <p:cNvPr id="192542"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2</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9" name="projctor.wav"/>
      </p:stSnd>
    </p:sndAc>
  </p:transition>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354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3</a:t>
            </a:r>
            <a:endParaRPr lang="zh-CN" altLang="en-US" sz="1200" b="0" dirty="0">
              <a:latin typeface="幼圆" panose="02010509060101010101" pitchFamily="49" charset="-122"/>
              <a:ea typeface="幼圆" panose="02010509060101010101" pitchFamily="49" charset="-122"/>
            </a:endParaRPr>
          </a:p>
        </p:txBody>
      </p:sp>
      <p:graphicFrame>
        <p:nvGraphicFramePr>
          <p:cNvPr id="2" name="对象 1"/>
          <p:cNvGraphicFramePr>
            <a:graphicFrameLocks noChangeAspect="1"/>
          </p:cNvGraphicFramePr>
          <p:nvPr/>
        </p:nvGraphicFramePr>
        <p:xfrm>
          <a:off x="107504" y="1268760"/>
          <a:ext cx="8893175" cy="5184775"/>
        </p:xfrm>
        <a:graphic>
          <a:graphicData uri="http://schemas.openxmlformats.org/presentationml/2006/ole">
            <mc:AlternateContent xmlns:mc="http://schemas.openxmlformats.org/markup-compatibility/2006">
              <mc:Choice xmlns:v="urn:schemas-microsoft-com:vml" Requires="v">
                <p:oleObj spid="_x0000_s258121" name="图片" r:id="rId1" imgW="5895340" imgH="3413125" progId="Word.Picture.8">
                  <p:embed/>
                </p:oleObj>
              </mc:Choice>
              <mc:Fallback>
                <p:oleObj name="图片" r:id="rId1" imgW="5895340" imgH="3413125" progId="Word.Picture.8">
                  <p:embed/>
                  <p:pic>
                    <p:nvPicPr>
                      <p:cNvPr id="0" name="Object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04" y="1268760"/>
                        <a:ext cx="8893175" cy="5184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 name="TextBox 4"/>
          <p:cNvSpPr txBox="1"/>
          <p:nvPr/>
        </p:nvSpPr>
        <p:spPr>
          <a:xfrm>
            <a:off x="2987824" y="332656"/>
            <a:ext cx="3312368" cy="461665"/>
          </a:xfrm>
          <a:prstGeom prst="rect">
            <a:avLst/>
          </a:prstGeom>
          <a:solidFill>
            <a:srgbClr val="FFFF00"/>
          </a:solidFill>
          <a:effectLst>
            <a:glow rad="139700">
              <a:schemeClr val="accent1">
                <a:satMod val="175000"/>
                <a:alpha val="40000"/>
              </a:schemeClr>
            </a:glow>
            <a:outerShdw blurRad="50800" dist="38100" dir="2700000" algn="tl" rotWithShape="0">
              <a:prstClr val="black">
                <a:alpha val="40000"/>
              </a:prstClr>
            </a:outerShdw>
          </a:effectLst>
        </p:spPr>
        <p:txBody>
          <a:bodyPr wrap="square" rtlCol="0">
            <a:spAutoFit/>
          </a:bodyPr>
          <a:lstStyle/>
          <a:p>
            <a:pPr algn="ctr"/>
            <a:r>
              <a:rPr lang="en-US" altLang="zh-CN" sz="2400" b="1" dirty="0" smtClean="0"/>
              <a:t>BTB</a:t>
            </a:r>
            <a:r>
              <a:rPr lang="zh-CN" altLang="en-US" sz="2400" b="1" dirty="0" smtClean="0"/>
              <a:t>的工作流程</a:t>
            </a:r>
            <a:endParaRPr lang="zh-CN" altLang="en-US" sz="2400" b="1" dirty="0"/>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2"/>
          <p:cNvSpPr>
            <a:spLocks noGrp="1" noChangeArrowheads="1"/>
          </p:cNvSpPr>
          <p:nvPr>
            <p:ph type="title"/>
          </p:nvPr>
        </p:nvSpPr>
        <p:spPr/>
        <p:txBody>
          <a:bodyPr/>
          <a:lstStyle/>
          <a:p>
            <a:pPr eaLnBrk="1" hangingPunct="1">
              <a:defRPr/>
            </a:pPr>
            <a:r>
              <a:rPr lang="zh-CN" altLang="en-US" dirty="0" smtClean="0"/>
              <a:t>分支目标缓冲器</a:t>
            </a:r>
            <a:br>
              <a:rPr lang="zh-CN" altLang="en-US" dirty="0" smtClean="0"/>
            </a:br>
            <a:r>
              <a:rPr lang="zh-CN" altLang="en-US" dirty="0" smtClean="0"/>
              <a:t>            — </a:t>
            </a:r>
            <a:r>
              <a:rPr lang="zh-CN" altLang="en-US" sz="3600" dirty="0" smtClean="0"/>
              <a:t>延迟分析</a:t>
            </a:r>
            <a:endParaRPr lang="en-US" altLang="zh-CN" sz="3600" dirty="0" smtClean="0"/>
          </a:p>
        </p:txBody>
      </p:sp>
      <p:sp>
        <p:nvSpPr>
          <p:cNvPr id="19456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endParaRPr lang="zh-CN" altLang="en-US" sz="1200" b="0">
              <a:latin typeface="Times New Roman" panose="02020603050405020304" pitchFamily="18" charset="0"/>
              <a:ea typeface="幼圆" panose="02010509060101010101" pitchFamily="49" charset="-122"/>
            </a:endParaRPr>
          </a:p>
        </p:txBody>
      </p:sp>
      <p:sp>
        <p:nvSpPr>
          <p:cNvPr id="19456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4</a:t>
            </a:r>
            <a:endParaRPr lang="zh-CN" altLang="en-US" sz="1200" b="0" dirty="0">
              <a:latin typeface="幼圆" panose="02010509060101010101" pitchFamily="49" charset="-122"/>
              <a:ea typeface="幼圆" panose="02010509060101010101" pitchFamily="49" charset="-122"/>
            </a:endParaRPr>
          </a:p>
        </p:txBody>
      </p:sp>
      <p:graphicFrame>
        <p:nvGraphicFramePr>
          <p:cNvPr id="7" name="Group 49"/>
          <p:cNvGraphicFramePr>
            <a:graphicFrameLocks noGrp="1"/>
          </p:cNvGraphicFramePr>
          <p:nvPr>
            <p:ph sz="half" idx="4294967295"/>
          </p:nvPr>
        </p:nvGraphicFramePr>
        <p:xfrm>
          <a:off x="1259978" y="2293938"/>
          <a:ext cx="7056438" cy="3511551"/>
        </p:xfrm>
        <a:graphic>
          <a:graphicData uri="http://schemas.openxmlformats.org/drawingml/2006/table">
            <a:tbl>
              <a:tblPr/>
              <a:tblGrid>
                <a:gridCol w="2520950"/>
                <a:gridCol w="1295400"/>
                <a:gridCol w="1728788"/>
                <a:gridCol w="1511300"/>
              </a:tblGrid>
              <a:tr h="704850">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指令在</a:t>
                      </a:r>
                      <a:r>
                        <a:rPr kumimoji="1" lang="en-US" altLang="zh-CN" sz="24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BTB</a:t>
                      </a:r>
                      <a:r>
                        <a:rPr kumimoji="1" lang="zh-CN" altLang="en-US" sz="24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中？ </a:t>
                      </a:r>
                      <a:endParaRPr kumimoji="1" lang="zh-CN" altLang="en-US" sz="24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预测 </a:t>
                      </a:r>
                      <a:endParaRPr kumimoji="1" lang="zh-CN" altLang="en-US" sz="24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实际情况 </a:t>
                      </a:r>
                      <a:endParaRPr kumimoji="1" lang="zh-CN" altLang="en-US" sz="24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rPr>
                        <a:t>延迟周期 </a:t>
                      </a:r>
                      <a:endParaRPr kumimoji="1" lang="zh-CN" altLang="en-US" sz="2400" b="1" i="0" u="none" strike="noStrike" cap="none" normalizeH="0" baseline="0" dirty="0" smtClean="0">
                        <a:ln>
                          <a:noFill/>
                        </a:ln>
                        <a:solidFill>
                          <a:srgbClr val="E24C05"/>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r>
              <a:tr h="690563">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是 </a:t>
                      </a:r>
                      <a:endPar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成功 </a:t>
                      </a:r>
                      <a:endPar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成功 </a:t>
                      </a:r>
                      <a:endPar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 </a:t>
                      </a:r>
                      <a:endParaRPr kumimoji="1"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是 </a:t>
                      </a:r>
                      <a:endPar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成功 </a:t>
                      </a:r>
                      <a:endPar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不成功 </a:t>
                      </a:r>
                      <a:endPar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2 </a:t>
                      </a:r>
                      <a:endParaRPr kumimoji="1"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6438">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不是 </a:t>
                      </a:r>
                      <a:endPar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endParaRPr kumimoji="1" lang="zh-CN"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成功 </a:t>
                      </a:r>
                      <a:endPar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2 </a:t>
                      </a:r>
                      <a:endParaRPr kumimoji="1"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不是 </a:t>
                      </a:r>
                      <a:endPar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endParaRPr kumimoji="1" lang="zh-CN"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不成功 </a:t>
                      </a:r>
                      <a:endParaRPr kumimoji="1" lang="zh-CN" altLang="en-US"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62865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25730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894205">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454275">
                        <a:lnSpc>
                          <a:spcPct val="120000"/>
                        </a:lnSpc>
                        <a:spcBef>
                          <a:spcPct val="20000"/>
                        </a:spcBef>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5pPr>
                      <a:lvl6pPr marL="29114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6pPr>
                      <a:lvl7pPr marL="33686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7pPr>
                      <a:lvl8pPr marL="38258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8pPr>
                      <a:lvl9pPr marL="4283075" fontAlgn="base">
                        <a:lnSpc>
                          <a:spcPct val="120000"/>
                        </a:lnSpc>
                        <a:spcBef>
                          <a:spcPct val="20000"/>
                        </a:spcBef>
                        <a:spcAft>
                          <a:spcPct val="0"/>
                        </a:spcAft>
                        <a:buClr>
                          <a:schemeClr val="hlink"/>
                        </a:buClr>
                        <a:buSzPct val="60000"/>
                        <a:buFont typeface="Wingdings" panose="05000000000000000000" pitchFamily="2" charset="2"/>
                        <a:defRPr kumimoji="1" sz="1600"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rPr>
                        <a:t>0 </a:t>
                      </a:r>
                      <a:endParaRPr kumimoji="1" lang="en-US" altLang="zh-CN" sz="2400" b="1" i="0" u="none" strike="noStrike" cap="none" normalizeH="0" baseline="0" dirty="0" smtClean="0">
                        <a:ln>
                          <a:noFill/>
                        </a:ln>
                        <a:solidFill>
                          <a:schemeClr val="tx1"/>
                        </a:solidFill>
                        <a:effectLst/>
                        <a:latin typeface="宋体" panose="02010600030101010101" pitchFamily="2" charset="-122"/>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slow">
    <p:random/>
    <p:sndAc>
      <p:stSnd>
        <p:snd r:embed="rId7" name="projctor.wav"/>
      </p:stSnd>
    </p:sndAc>
  </p:transition>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2"/>
          <p:cNvSpPr>
            <a:spLocks noGrp="1" noChangeArrowheads="1"/>
          </p:cNvSpPr>
          <p:nvPr>
            <p:ph type="title"/>
          </p:nvPr>
        </p:nvSpPr>
        <p:spPr/>
        <p:txBody>
          <a:bodyPr/>
          <a:lstStyle/>
          <a:p>
            <a:pPr eaLnBrk="1" hangingPunct="1">
              <a:defRPr/>
            </a:pPr>
            <a:r>
              <a:rPr lang="zh-CN" altLang="en-US" dirty="0" smtClean="0"/>
              <a:t>分支目标缓冲器</a:t>
            </a:r>
            <a:br>
              <a:rPr lang="zh-CN" altLang="en-US" dirty="0" smtClean="0"/>
            </a:br>
            <a:r>
              <a:rPr lang="zh-CN" altLang="en-US" dirty="0" smtClean="0"/>
              <a:t>            — </a:t>
            </a:r>
            <a:r>
              <a:rPr lang="zh-CN" altLang="en-US" sz="3600" dirty="0" smtClean="0"/>
              <a:t>另一种形式</a:t>
            </a:r>
            <a:endParaRPr lang="en-US" altLang="zh-CN" sz="3600" dirty="0" smtClean="0"/>
          </a:p>
        </p:txBody>
      </p:sp>
      <p:sp>
        <p:nvSpPr>
          <p:cNvPr id="19456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endParaRPr lang="zh-CN" altLang="en-US" sz="1200" b="0">
              <a:latin typeface="Times New Roman" panose="02020603050405020304" pitchFamily="18" charset="0"/>
              <a:ea typeface="幼圆" panose="02010509060101010101" pitchFamily="49" charset="-122"/>
            </a:endParaRPr>
          </a:p>
        </p:txBody>
      </p:sp>
      <p:sp>
        <p:nvSpPr>
          <p:cNvPr id="194564" name="Rectangle 5"/>
          <p:cNvSpPr>
            <a:spLocks noGrp="1" noChangeArrowheads="1"/>
          </p:cNvSpPr>
          <p:nvPr>
            <p:ph type="body" idx="1"/>
          </p:nvPr>
        </p:nvSpPr>
        <p:spPr>
          <a:xfrm>
            <a:off x="827584" y="1988840"/>
            <a:ext cx="7958138" cy="1440160"/>
          </a:xfrm>
        </p:spPr>
        <p:txBody>
          <a:bodyPr/>
          <a:lstStyle/>
          <a:p>
            <a:pPr eaLnBrk="1" hangingPunct="1"/>
            <a:r>
              <a:rPr lang="zh-CN" altLang="en-US" sz="2400" dirty="0" smtClean="0"/>
              <a:t>在</a:t>
            </a:r>
            <a:r>
              <a:rPr lang="en-US" altLang="zh-CN" sz="2400" dirty="0" smtClean="0"/>
              <a:t>BTB</a:t>
            </a:r>
            <a:r>
              <a:rPr lang="zh-CN" altLang="en-US" sz="2400" dirty="0" smtClean="0"/>
              <a:t>中</a:t>
            </a:r>
            <a:r>
              <a:rPr lang="zh-CN" altLang="en-US" sz="2400" dirty="0"/>
              <a:t>增设一个至少</a:t>
            </a:r>
            <a:r>
              <a:rPr lang="zh-CN" altLang="en-US" sz="2400" dirty="0" smtClean="0"/>
              <a:t>是</a:t>
            </a:r>
            <a:r>
              <a:rPr lang="en-US" altLang="zh-CN" sz="2400" dirty="0" smtClean="0"/>
              <a:t>2bit</a:t>
            </a:r>
            <a:r>
              <a:rPr lang="zh-CN" altLang="en-US" sz="2400" dirty="0" smtClean="0"/>
              <a:t>的“</a:t>
            </a:r>
            <a:r>
              <a:rPr lang="zh-CN" altLang="en-US" sz="2400" dirty="0" smtClean="0">
                <a:solidFill>
                  <a:srgbClr val="FF0000"/>
                </a:solidFill>
              </a:rPr>
              <a:t>分支历史表</a:t>
            </a:r>
            <a:r>
              <a:rPr lang="zh-CN" altLang="en-US" sz="2400" dirty="0" smtClean="0"/>
              <a:t>”</a:t>
            </a:r>
            <a:r>
              <a:rPr lang="zh-CN" altLang="en-US" sz="2400" dirty="0"/>
              <a:t>字段</a:t>
            </a:r>
            <a:r>
              <a:rPr lang="zh-CN" altLang="en-US" sz="2400" dirty="0" smtClean="0"/>
              <a:t>（</a:t>
            </a:r>
            <a:r>
              <a:rPr lang="en-US" altLang="zh-CN" sz="2400" dirty="0" smtClean="0">
                <a:solidFill>
                  <a:srgbClr val="0000FF"/>
                </a:solidFill>
              </a:rPr>
              <a:t>BHT</a:t>
            </a:r>
            <a:r>
              <a:rPr lang="zh-CN" altLang="en-US" sz="2400" dirty="0" smtClean="0"/>
              <a:t>），其实就是</a:t>
            </a:r>
            <a:r>
              <a:rPr lang="en-US" altLang="zh-CN" sz="2400" dirty="0" smtClean="0"/>
              <a:t>BTB</a:t>
            </a:r>
            <a:r>
              <a:rPr lang="zh-CN" altLang="en-US" sz="2400" dirty="0" smtClean="0"/>
              <a:t>和</a:t>
            </a:r>
            <a:r>
              <a:rPr lang="en-US" altLang="zh-CN" sz="2400" dirty="0" smtClean="0"/>
              <a:t>BHT</a:t>
            </a:r>
            <a:r>
              <a:rPr lang="zh-CN" altLang="en-US" sz="2400" dirty="0" smtClean="0"/>
              <a:t>的结合</a:t>
            </a:r>
            <a:endParaRPr lang="en-US" altLang="zh-CN" sz="2400" dirty="0" smtClean="0"/>
          </a:p>
          <a:p>
            <a:pPr eaLnBrk="1" hangingPunct="1"/>
            <a:r>
              <a:rPr lang="zh-CN" altLang="en-US" sz="2400" dirty="0" smtClean="0"/>
              <a:t>“</a:t>
            </a:r>
            <a:r>
              <a:rPr lang="zh-CN" altLang="en-US" sz="2400" dirty="0" smtClean="0">
                <a:solidFill>
                  <a:srgbClr val="FF0000"/>
                </a:solidFill>
              </a:rPr>
              <a:t>分支指令地址</a:t>
            </a:r>
            <a:r>
              <a:rPr lang="zh-CN" altLang="en-US" sz="2400" dirty="0" smtClean="0"/>
              <a:t>”字段存放所有</a:t>
            </a:r>
            <a:r>
              <a:rPr lang="zh-CN" altLang="en-US" sz="2400" dirty="0" smtClean="0">
                <a:solidFill>
                  <a:srgbClr val="0000FF"/>
                </a:solidFill>
              </a:rPr>
              <a:t>执行过</a:t>
            </a:r>
            <a:r>
              <a:rPr lang="zh-CN" altLang="en-US" sz="2400" dirty="0" smtClean="0"/>
              <a:t>的分支指令地址</a:t>
            </a:r>
            <a:endParaRPr lang="zh-CN" altLang="en-US" sz="2400" dirty="0"/>
          </a:p>
          <a:p>
            <a:pPr marL="0" indent="0" eaLnBrk="1" hangingPunct="1">
              <a:buNone/>
            </a:pPr>
            <a:endParaRPr lang="zh-CN" altLang="en-US" sz="2400" dirty="0" smtClean="0"/>
          </a:p>
        </p:txBody>
      </p:sp>
      <p:sp>
        <p:nvSpPr>
          <p:cNvPr id="19456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5</a:t>
            </a:r>
            <a:endParaRPr lang="zh-CN" altLang="en-US" sz="1200" b="0" dirty="0">
              <a:latin typeface="幼圆" panose="02010509060101010101" pitchFamily="49" charset="-122"/>
              <a:ea typeface="幼圆" panose="02010509060101010101" pitchFamily="49" charset="-122"/>
            </a:endParaRPr>
          </a:p>
        </p:txBody>
      </p:sp>
      <p:graphicFrame>
        <p:nvGraphicFramePr>
          <p:cNvPr id="2" name="对象 1"/>
          <p:cNvGraphicFramePr>
            <a:graphicFrameLocks noChangeAspect="1"/>
          </p:cNvGraphicFramePr>
          <p:nvPr/>
        </p:nvGraphicFramePr>
        <p:xfrm>
          <a:off x="1028700" y="3290713"/>
          <a:ext cx="7686675" cy="3522663"/>
        </p:xfrm>
        <a:graphic>
          <a:graphicData uri="http://schemas.openxmlformats.org/presentationml/2006/ole">
            <mc:AlternateContent xmlns:mc="http://schemas.openxmlformats.org/markup-compatibility/2006">
              <mc:Choice xmlns:v="urn:schemas-microsoft-com:vml" Requires="v">
                <p:oleObj spid="_x0000_s262187" name="Picture" r:id="rId7" imgW="29679900" imgH="11525250" progId="Word.Picture.8">
                  <p:embed/>
                </p:oleObj>
              </mc:Choice>
              <mc:Fallback>
                <p:oleObj name="Picture" r:id="rId7" imgW="29679900" imgH="11525250" progId="Word.Picture.8">
                  <p:embed/>
                  <p:pic>
                    <p:nvPicPr>
                      <p:cNvPr id="0" name="Object 4"/>
                      <p:cNvPicPr>
                        <a:picLocks noChangeAspect="1" noChangeArrowheads="1"/>
                      </p:cNvPicPr>
                      <p:nvPr/>
                    </p:nvPicPr>
                    <p:blipFill>
                      <a:blip r:embed="rId8"/>
                      <a:srcRect/>
                      <a:stretch>
                        <a:fillRect/>
                      </a:stretch>
                    </p:blipFill>
                    <p:spPr bwMode="auto">
                      <a:xfrm>
                        <a:off x="1028700" y="3290713"/>
                        <a:ext cx="7686675" cy="3522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cSld>
  <p:clrMapOvr>
    <a:masterClrMapping/>
  </p:clrMapOvr>
  <p:transition spd="slow">
    <p:random/>
    <p:sndAc>
      <p:stSnd>
        <p:snd r:embed="rId9" name="projctor.wav"/>
      </p:stSnd>
    </p:sndAc>
  </p:transition>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2"/>
          <p:cNvSpPr>
            <a:spLocks noGrp="1" noChangeArrowheads="1"/>
          </p:cNvSpPr>
          <p:nvPr>
            <p:ph type="title"/>
          </p:nvPr>
        </p:nvSpPr>
        <p:spPr/>
        <p:txBody>
          <a:bodyPr/>
          <a:lstStyle/>
          <a:p>
            <a:pPr eaLnBrk="1" hangingPunct="1">
              <a:defRPr/>
            </a:pPr>
            <a:r>
              <a:rPr lang="zh-CN" altLang="en-US" dirty="0" smtClean="0"/>
              <a:t>分支目标缓冲器</a:t>
            </a:r>
            <a:br>
              <a:rPr lang="zh-CN" altLang="en-US" dirty="0" smtClean="0"/>
            </a:br>
            <a:r>
              <a:rPr lang="zh-CN" altLang="en-US" dirty="0" smtClean="0"/>
              <a:t>            — </a:t>
            </a:r>
            <a:r>
              <a:rPr lang="zh-CN" altLang="en-US" sz="3600" dirty="0" smtClean="0"/>
              <a:t>优化</a:t>
            </a:r>
            <a:endParaRPr lang="en-US" altLang="zh-CN" sz="3600" dirty="0" smtClean="0"/>
          </a:p>
        </p:txBody>
      </p:sp>
      <p:sp>
        <p:nvSpPr>
          <p:cNvPr id="19456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条件转移的处理</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预测</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动态预测</a:t>
            </a:r>
            <a:endParaRPr lang="zh-CN" altLang="en-US" sz="1200" b="0">
              <a:latin typeface="Times New Roman" panose="02020603050405020304" pitchFamily="18" charset="0"/>
              <a:ea typeface="幼圆" panose="02010509060101010101" pitchFamily="49" charset="-122"/>
            </a:endParaRPr>
          </a:p>
        </p:txBody>
      </p:sp>
      <p:sp>
        <p:nvSpPr>
          <p:cNvPr id="194564" name="Rectangle 5"/>
          <p:cNvSpPr>
            <a:spLocks noGrp="1" noChangeArrowheads="1"/>
          </p:cNvSpPr>
          <p:nvPr>
            <p:ph type="body" idx="1"/>
          </p:nvPr>
        </p:nvSpPr>
        <p:spPr>
          <a:xfrm>
            <a:off x="827584" y="1988840"/>
            <a:ext cx="7958138" cy="1728192"/>
          </a:xfrm>
        </p:spPr>
        <p:txBody>
          <a:bodyPr/>
          <a:lstStyle/>
          <a:p>
            <a:pPr eaLnBrk="1" hangingPunct="1"/>
            <a:r>
              <a:rPr lang="zh-CN" altLang="en-US" sz="2400" dirty="0" smtClean="0"/>
              <a:t>在</a:t>
            </a:r>
            <a:r>
              <a:rPr lang="en-US" altLang="zh-CN" sz="2400" dirty="0" smtClean="0"/>
              <a:t>BTB</a:t>
            </a:r>
            <a:r>
              <a:rPr lang="zh-CN" altLang="en-US" sz="2400" dirty="0" smtClean="0"/>
              <a:t>中存储一条或多条</a:t>
            </a:r>
            <a:r>
              <a:rPr lang="zh-CN" altLang="en-US" sz="2400" dirty="0" smtClean="0">
                <a:solidFill>
                  <a:srgbClr val="FF0000"/>
                </a:solidFill>
              </a:rPr>
              <a:t>目标指令</a:t>
            </a:r>
            <a:r>
              <a:rPr lang="zh-CN" altLang="en-US" sz="2400" dirty="0" smtClean="0"/>
              <a:t>，而不是预测的目标地址。</a:t>
            </a:r>
            <a:endParaRPr lang="en-US" altLang="zh-CN" sz="2400" dirty="0" smtClean="0"/>
          </a:p>
          <a:p>
            <a:pPr eaLnBrk="1" hangingPunct="1"/>
            <a:r>
              <a:rPr lang="zh-CN" altLang="en-US" sz="2400" dirty="0" smtClean="0"/>
              <a:t>更</a:t>
            </a:r>
            <a:r>
              <a:rPr lang="zh-CN" altLang="en-US" sz="2400" dirty="0"/>
              <a:t>快地获得分支目标处的</a:t>
            </a:r>
            <a:r>
              <a:rPr lang="zh-CN" altLang="en-US" sz="2400" dirty="0" smtClean="0"/>
              <a:t>指令，也可以</a:t>
            </a:r>
            <a:r>
              <a:rPr lang="zh-CN" altLang="en-US" sz="2400" dirty="0"/>
              <a:t>一次提供分支目标处的多条指令，这对于多流出处理器是很有必要</a:t>
            </a:r>
            <a:r>
              <a:rPr lang="zh-CN" altLang="en-US" sz="2400" dirty="0" smtClean="0"/>
              <a:t>的</a:t>
            </a:r>
            <a:endParaRPr lang="zh-CN" altLang="en-US" sz="2400" dirty="0"/>
          </a:p>
          <a:p>
            <a:pPr marL="0" indent="0" eaLnBrk="1" hangingPunct="1">
              <a:buNone/>
            </a:pPr>
            <a:endParaRPr lang="zh-CN" altLang="en-US" sz="2400" dirty="0" smtClean="0"/>
          </a:p>
        </p:txBody>
      </p:sp>
      <p:sp>
        <p:nvSpPr>
          <p:cNvPr id="19456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6</a:t>
            </a:r>
            <a:endParaRPr lang="zh-CN" altLang="en-US" sz="1200" b="0" dirty="0">
              <a:latin typeface="幼圆" panose="02010509060101010101" pitchFamily="49" charset="-122"/>
              <a:ea typeface="幼圆" panose="02010509060101010101" pitchFamily="49" charset="-122"/>
            </a:endParaRPr>
          </a:p>
        </p:txBody>
      </p:sp>
      <p:graphicFrame>
        <p:nvGraphicFramePr>
          <p:cNvPr id="2" name="对象 1"/>
          <p:cNvGraphicFramePr>
            <a:graphicFrameLocks noChangeAspect="1"/>
          </p:cNvGraphicFramePr>
          <p:nvPr/>
        </p:nvGraphicFramePr>
        <p:xfrm>
          <a:off x="395288" y="3544553"/>
          <a:ext cx="8353425" cy="3095625"/>
        </p:xfrm>
        <a:graphic>
          <a:graphicData uri="http://schemas.openxmlformats.org/presentationml/2006/ole">
            <mc:AlternateContent xmlns:mc="http://schemas.openxmlformats.org/markup-compatibility/2006">
              <mc:Choice xmlns:v="urn:schemas-microsoft-com:vml" Requires="v">
                <p:oleObj spid="_x0000_s263210" name="图片" r:id="rId7" imgW="4664710" imgH="1674495" progId="Word.Picture.8">
                  <p:embed/>
                </p:oleObj>
              </mc:Choice>
              <mc:Fallback>
                <p:oleObj name="图片" r:id="rId7" imgW="4664710" imgH="1674495" progId="Word.Picture.8">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5288" y="3544553"/>
                        <a:ext cx="8353425" cy="309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cSld>
  <p:clrMapOvr>
    <a:masterClrMapping/>
  </p:clrMapOvr>
  <p:transition spd="slow">
    <p:random/>
    <p:sndAc>
      <p:stSnd>
        <p:snd r:embed="rId9" name="projctor.wav"/>
      </p:stSnd>
    </p:sndAc>
  </p:transition>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1906" name="Rectangle 2"/>
          <p:cNvSpPr>
            <a:spLocks noGrp="1" noChangeArrowheads="1"/>
          </p:cNvSpPr>
          <p:nvPr>
            <p:ph type="title"/>
          </p:nvPr>
        </p:nvSpPr>
        <p:spPr/>
        <p:txBody>
          <a:bodyPr/>
          <a:lstStyle/>
          <a:p>
            <a:pPr eaLnBrk="1" hangingPunct="1">
              <a:defRPr/>
            </a:pPr>
            <a:r>
              <a:rPr lang="zh-CN" altLang="en-US" smtClean="0"/>
              <a:t>中断的处理</a:t>
            </a:r>
            <a:endParaRPr lang="zh-CN" altLang="en-US" smtClean="0"/>
          </a:p>
        </p:txBody>
      </p:sp>
      <p:sp>
        <p:nvSpPr>
          <p:cNvPr id="1955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endParaRPr lang="zh-CN" altLang="en-US" sz="1200" b="0">
              <a:latin typeface="Times New Roman" panose="02020603050405020304" pitchFamily="18" charset="0"/>
              <a:ea typeface="幼圆" panose="02010509060101010101" pitchFamily="49" charset="-122"/>
            </a:endParaRPr>
          </a:p>
        </p:txBody>
      </p:sp>
      <p:sp>
        <p:nvSpPr>
          <p:cNvPr id="891909" name="Rectangle 5"/>
          <p:cNvSpPr>
            <a:spLocks noGrp="1" noChangeArrowheads="1"/>
          </p:cNvSpPr>
          <p:nvPr>
            <p:ph type="body" idx="1"/>
          </p:nvPr>
        </p:nvSpPr>
        <p:spPr/>
        <p:txBody>
          <a:bodyPr/>
          <a:lstStyle/>
          <a:p>
            <a:pPr marL="0" indent="0" eaLnBrk="1" hangingPunct="1">
              <a:lnSpc>
                <a:spcPct val="120000"/>
              </a:lnSpc>
              <a:buFont typeface="Wingdings" panose="05000000000000000000" pitchFamily="2" charset="2"/>
              <a:buNone/>
              <a:defRPr/>
            </a:pPr>
            <a:r>
              <a:rPr lang="zh-CN" altLang="en-US" smtClean="0">
                <a:solidFill>
                  <a:srgbClr val="FF0000"/>
                </a:solidFill>
                <a:effectLst>
                  <a:outerShdw blurRad="38100" dist="38100" dir="2700000" algn="tl">
                    <a:srgbClr val="C0C0C0"/>
                  </a:outerShdw>
                </a:effectLst>
              </a:rPr>
              <a:t>问题：</a:t>
            </a:r>
            <a:endParaRPr lang="zh-CN" altLang="en-US"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defRPr/>
            </a:pPr>
            <a:r>
              <a:rPr lang="zh-CN" altLang="en-US" smtClean="0"/>
              <a:t>       当中断发生时，流水线中有多条指令在执行，那么断点究竟在哪一条指令呢？</a:t>
            </a:r>
            <a:endParaRPr lang="zh-CN" altLang="en-US" smtClean="0"/>
          </a:p>
          <a:p>
            <a:pPr marL="0" indent="0" eaLnBrk="1" hangingPunct="1">
              <a:lnSpc>
                <a:spcPct val="120000"/>
              </a:lnSpc>
              <a:buFont typeface="Wingdings" panose="05000000000000000000" pitchFamily="2" charset="2"/>
              <a:buNone/>
              <a:defRPr/>
            </a:pPr>
            <a:r>
              <a:rPr lang="zh-CN" altLang="en-US" smtClean="0">
                <a:solidFill>
                  <a:srgbClr val="FF0000"/>
                </a:solidFill>
                <a:effectLst>
                  <a:outerShdw blurRad="38100" dist="38100" dir="2700000" algn="tl">
                    <a:srgbClr val="C0C0C0"/>
                  </a:outerShdw>
                </a:effectLst>
              </a:rPr>
              <a:t>解决：</a:t>
            </a:r>
            <a:endParaRPr lang="zh-CN" altLang="en-US" smtClean="0">
              <a:solidFill>
                <a:srgbClr val="FF0000"/>
              </a:solidFill>
              <a:effectLst>
                <a:outerShdw blurRad="38100" dist="38100" dir="2700000" algn="tl">
                  <a:srgbClr val="C0C0C0"/>
                </a:outerShdw>
              </a:effectLst>
            </a:endParaRPr>
          </a:p>
          <a:p>
            <a:pPr marL="0" indent="0" eaLnBrk="1" hangingPunct="1">
              <a:lnSpc>
                <a:spcPct val="120000"/>
              </a:lnSpc>
              <a:defRPr/>
            </a:pPr>
            <a:r>
              <a:rPr lang="zh-CN" altLang="en-US" smtClean="0"/>
              <a:t>  </a:t>
            </a:r>
            <a:r>
              <a:rPr lang="zh-CN" altLang="en-US" smtClean="0">
                <a:hlinkClick r:id="rId4" action="ppaction://hlinksldjump"/>
              </a:rPr>
              <a:t>不精确断点</a:t>
            </a:r>
            <a:endParaRPr lang="zh-CN" altLang="en-US" smtClean="0"/>
          </a:p>
          <a:p>
            <a:pPr marL="0" indent="0" eaLnBrk="1" hangingPunct="1">
              <a:lnSpc>
                <a:spcPct val="120000"/>
              </a:lnSpc>
              <a:defRPr/>
            </a:pPr>
            <a:r>
              <a:rPr lang="zh-CN" altLang="en-US" smtClean="0"/>
              <a:t>  </a:t>
            </a:r>
            <a:r>
              <a:rPr lang="zh-CN" altLang="en-US" smtClean="0">
                <a:hlinkClick r:id="rId5" action="ppaction://hlinksldjump"/>
              </a:rPr>
              <a:t>精确断点</a:t>
            </a:r>
            <a:endParaRPr lang="zh-CN" altLang="en-US" smtClean="0"/>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2930" name="Rectangle 2"/>
          <p:cNvSpPr>
            <a:spLocks noGrp="1" noChangeArrowheads="1"/>
          </p:cNvSpPr>
          <p:nvPr>
            <p:ph type="title"/>
          </p:nvPr>
        </p:nvSpPr>
        <p:spPr/>
        <p:txBody>
          <a:bodyPr/>
          <a:lstStyle/>
          <a:p>
            <a:pPr eaLnBrk="1" hangingPunct="1">
              <a:defRPr/>
            </a:pPr>
            <a:r>
              <a:rPr lang="zh-CN" altLang="en-US" smtClean="0"/>
              <a:t>不精确断点</a:t>
            </a:r>
            <a:endParaRPr lang="zh-CN" altLang="en-US" smtClean="0"/>
          </a:p>
        </p:txBody>
      </p:sp>
      <p:sp>
        <p:nvSpPr>
          <p:cNvPr id="19661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中断的处理</a:t>
            </a:r>
            <a:endParaRPr lang="zh-CN" altLang="en-US" sz="1200" b="0">
              <a:latin typeface="Times New Roman" panose="02020603050405020304" pitchFamily="18" charset="0"/>
              <a:ea typeface="幼圆" panose="02010509060101010101" pitchFamily="49" charset="-122"/>
            </a:endParaRPr>
          </a:p>
        </p:txBody>
      </p:sp>
      <p:sp>
        <p:nvSpPr>
          <p:cNvPr id="196612" name="Rectangle 5"/>
          <p:cNvSpPr>
            <a:spLocks noGrp="1" noChangeArrowheads="1"/>
          </p:cNvSpPr>
          <p:nvPr>
            <p:ph type="body" idx="1"/>
          </p:nvPr>
        </p:nvSpPr>
        <p:spPr>
          <a:xfrm>
            <a:off x="809625" y="1989138"/>
            <a:ext cx="8010525" cy="1681162"/>
          </a:xfrm>
        </p:spPr>
        <p:txBody>
          <a:bodyPr/>
          <a:lstStyle/>
          <a:p>
            <a:pPr marL="0" indent="0" eaLnBrk="1" hangingPunct="1">
              <a:lnSpc>
                <a:spcPct val="150000"/>
              </a:lnSpc>
              <a:buFont typeface="Wingdings" panose="05000000000000000000" pitchFamily="2" charset="2"/>
              <a:buNone/>
            </a:pPr>
            <a:r>
              <a:rPr lang="zh-CN" altLang="en-US" sz="2400" smtClean="0"/>
              <a:t>       让已经进入流水线的所有指令都执行完成，断点就是最后进入流水线的那条指令的地址。例如：下图中不精确断点地址是</a:t>
            </a:r>
            <a:r>
              <a:rPr lang="en-US" altLang="zh-CN" sz="2400" smtClean="0"/>
              <a:t>i+5。</a:t>
            </a:r>
            <a:endParaRPr lang="en-US" altLang="zh-CN" sz="2400" smtClean="0"/>
          </a:p>
        </p:txBody>
      </p:sp>
      <p:sp>
        <p:nvSpPr>
          <p:cNvPr id="196613" name="Rectangle 6"/>
          <p:cNvSpPr>
            <a:spLocks noChangeArrowheads="1"/>
          </p:cNvSpPr>
          <p:nvPr/>
        </p:nvSpPr>
        <p:spPr bwMode="auto">
          <a:xfrm>
            <a:off x="1447800" y="4419600"/>
            <a:ext cx="457200" cy="457200"/>
          </a:xfrm>
          <a:prstGeom prst="rect">
            <a:avLst/>
          </a:prstGeom>
          <a:solidFill>
            <a:srgbClr val="009900"/>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solidFill>
                  <a:schemeClr val="bg1"/>
                </a:solidFill>
                <a:ea typeface="宋体" panose="02010600030101010101" pitchFamily="2" charset="-122"/>
              </a:rPr>
              <a:t>S</a:t>
            </a:r>
            <a:r>
              <a:rPr lang="en-US" altLang="zh-CN" sz="2400" baseline="-25000">
                <a:solidFill>
                  <a:schemeClr val="bg1"/>
                </a:solidFill>
                <a:ea typeface="宋体" panose="02010600030101010101" pitchFamily="2" charset="-122"/>
              </a:rPr>
              <a:t>1</a:t>
            </a:r>
            <a:endParaRPr lang="en-US" altLang="zh-CN" sz="2400" baseline="-25000">
              <a:solidFill>
                <a:schemeClr val="bg1"/>
              </a:solidFill>
              <a:ea typeface="宋体" panose="02010600030101010101" pitchFamily="2" charset="-122"/>
            </a:endParaRPr>
          </a:p>
        </p:txBody>
      </p:sp>
      <p:sp>
        <p:nvSpPr>
          <p:cNvPr id="196614" name="Rectangle 7"/>
          <p:cNvSpPr>
            <a:spLocks noChangeArrowheads="1"/>
          </p:cNvSpPr>
          <p:nvPr/>
        </p:nvSpPr>
        <p:spPr bwMode="auto">
          <a:xfrm>
            <a:off x="23622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2</a:t>
            </a:r>
            <a:endParaRPr lang="en-US" altLang="zh-CN" sz="2400" baseline="-25000">
              <a:ea typeface="宋体" panose="02010600030101010101" pitchFamily="2" charset="-122"/>
            </a:endParaRPr>
          </a:p>
        </p:txBody>
      </p:sp>
      <p:sp>
        <p:nvSpPr>
          <p:cNvPr id="196615" name="Rectangle 8"/>
          <p:cNvSpPr>
            <a:spLocks noChangeArrowheads="1"/>
          </p:cNvSpPr>
          <p:nvPr/>
        </p:nvSpPr>
        <p:spPr bwMode="auto">
          <a:xfrm>
            <a:off x="32766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3</a:t>
            </a:r>
            <a:endParaRPr lang="en-US" altLang="zh-CN" sz="2400" baseline="-25000">
              <a:ea typeface="宋体" panose="02010600030101010101" pitchFamily="2" charset="-122"/>
            </a:endParaRPr>
          </a:p>
        </p:txBody>
      </p:sp>
      <p:sp>
        <p:nvSpPr>
          <p:cNvPr id="196616" name="Rectangle 9"/>
          <p:cNvSpPr>
            <a:spLocks noChangeArrowheads="1"/>
          </p:cNvSpPr>
          <p:nvPr/>
        </p:nvSpPr>
        <p:spPr bwMode="auto">
          <a:xfrm>
            <a:off x="41910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4</a:t>
            </a:r>
            <a:endParaRPr lang="en-US" altLang="zh-CN" sz="2400" baseline="-25000">
              <a:ea typeface="宋体" panose="02010600030101010101" pitchFamily="2" charset="-122"/>
            </a:endParaRPr>
          </a:p>
        </p:txBody>
      </p:sp>
      <p:sp>
        <p:nvSpPr>
          <p:cNvPr id="196617" name="Rectangle 10"/>
          <p:cNvSpPr>
            <a:spLocks noChangeArrowheads="1"/>
          </p:cNvSpPr>
          <p:nvPr/>
        </p:nvSpPr>
        <p:spPr bwMode="auto">
          <a:xfrm>
            <a:off x="51054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5</a:t>
            </a:r>
            <a:endParaRPr lang="en-US" altLang="zh-CN" sz="2400" baseline="-25000">
              <a:ea typeface="宋体" panose="02010600030101010101" pitchFamily="2" charset="-122"/>
            </a:endParaRPr>
          </a:p>
        </p:txBody>
      </p:sp>
      <p:sp>
        <p:nvSpPr>
          <p:cNvPr id="196618" name="Rectangle 11"/>
          <p:cNvSpPr>
            <a:spLocks noChangeArrowheads="1"/>
          </p:cNvSpPr>
          <p:nvPr/>
        </p:nvSpPr>
        <p:spPr bwMode="auto">
          <a:xfrm>
            <a:off x="6019800" y="4419600"/>
            <a:ext cx="457200" cy="457200"/>
          </a:xfrm>
          <a:prstGeom prst="rect">
            <a:avLst/>
          </a:prstGeom>
          <a:solidFill>
            <a:srgbClr val="FF0000"/>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solidFill>
                  <a:schemeClr val="bg1"/>
                </a:solidFill>
                <a:ea typeface="宋体" panose="02010600030101010101" pitchFamily="2" charset="-122"/>
              </a:rPr>
              <a:t>S</a:t>
            </a:r>
            <a:r>
              <a:rPr lang="en-US" altLang="zh-CN" sz="2400" baseline="-25000">
                <a:solidFill>
                  <a:schemeClr val="bg1"/>
                </a:solidFill>
                <a:ea typeface="宋体" panose="02010600030101010101" pitchFamily="2" charset="-122"/>
              </a:rPr>
              <a:t>6</a:t>
            </a:r>
            <a:endParaRPr lang="en-US" altLang="zh-CN" sz="2400" baseline="-25000">
              <a:solidFill>
                <a:schemeClr val="bg1"/>
              </a:solidFill>
              <a:ea typeface="宋体" panose="02010600030101010101" pitchFamily="2" charset="-122"/>
            </a:endParaRPr>
          </a:p>
        </p:txBody>
      </p:sp>
      <p:sp>
        <p:nvSpPr>
          <p:cNvPr id="196619" name="Rectangle 12"/>
          <p:cNvSpPr>
            <a:spLocks noChangeArrowheads="1"/>
          </p:cNvSpPr>
          <p:nvPr/>
        </p:nvSpPr>
        <p:spPr bwMode="auto">
          <a:xfrm>
            <a:off x="69342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7</a:t>
            </a:r>
            <a:endParaRPr lang="en-US" altLang="zh-CN" sz="2400" baseline="-25000">
              <a:ea typeface="宋体" panose="02010600030101010101" pitchFamily="2" charset="-122"/>
            </a:endParaRPr>
          </a:p>
        </p:txBody>
      </p:sp>
      <p:sp>
        <p:nvSpPr>
          <p:cNvPr id="196620" name="Rectangle 13"/>
          <p:cNvSpPr>
            <a:spLocks noChangeArrowheads="1"/>
          </p:cNvSpPr>
          <p:nvPr/>
        </p:nvSpPr>
        <p:spPr bwMode="auto">
          <a:xfrm>
            <a:off x="78486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8</a:t>
            </a:r>
            <a:endParaRPr lang="en-US" altLang="zh-CN" sz="2400" baseline="-25000">
              <a:ea typeface="宋体" panose="02010600030101010101" pitchFamily="2" charset="-122"/>
            </a:endParaRPr>
          </a:p>
        </p:txBody>
      </p:sp>
      <p:cxnSp>
        <p:nvCxnSpPr>
          <p:cNvPr id="196621" name="AutoShape 14"/>
          <p:cNvCxnSpPr>
            <a:cxnSpLocks noChangeShapeType="1"/>
            <a:stCxn id="196613" idx="3"/>
            <a:endCxn id="196614" idx="1"/>
          </p:cNvCxnSpPr>
          <p:nvPr/>
        </p:nvCxnSpPr>
        <p:spPr bwMode="auto">
          <a:xfrm>
            <a:off x="1919288"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2" name="AutoShape 15"/>
          <p:cNvCxnSpPr>
            <a:cxnSpLocks noChangeShapeType="1"/>
            <a:stCxn id="196614" idx="3"/>
            <a:endCxn id="196615" idx="1"/>
          </p:cNvCxnSpPr>
          <p:nvPr/>
        </p:nvCxnSpPr>
        <p:spPr bwMode="auto">
          <a:xfrm>
            <a:off x="2833688"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3" name="AutoShape 16"/>
          <p:cNvCxnSpPr>
            <a:cxnSpLocks noChangeShapeType="1"/>
          </p:cNvCxnSpPr>
          <p:nvPr/>
        </p:nvCxnSpPr>
        <p:spPr bwMode="auto">
          <a:xfrm>
            <a:off x="37338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4" name="AutoShape 17"/>
          <p:cNvCxnSpPr>
            <a:cxnSpLocks noChangeShapeType="1"/>
          </p:cNvCxnSpPr>
          <p:nvPr/>
        </p:nvCxnSpPr>
        <p:spPr bwMode="auto">
          <a:xfrm>
            <a:off x="46482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5" name="AutoShape 18"/>
          <p:cNvCxnSpPr>
            <a:cxnSpLocks noChangeShapeType="1"/>
          </p:cNvCxnSpPr>
          <p:nvPr/>
        </p:nvCxnSpPr>
        <p:spPr bwMode="auto">
          <a:xfrm>
            <a:off x="55626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6" name="AutoShape 19"/>
          <p:cNvCxnSpPr>
            <a:cxnSpLocks noChangeShapeType="1"/>
          </p:cNvCxnSpPr>
          <p:nvPr/>
        </p:nvCxnSpPr>
        <p:spPr bwMode="auto">
          <a:xfrm>
            <a:off x="64770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7" name="AutoShape 20"/>
          <p:cNvCxnSpPr>
            <a:cxnSpLocks noChangeShapeType="1"/>
          </p:cNvCxnSpPr>
          <p:nvPr/>
        </p:nvCxnSpPr>
        <p:spPr bwMode="auto">
          <a:xfrm>
            <a:off x="73914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8" name="AutoShape 21"/>
          <p:cNvCxnSpPr>
            <a:cxnSpLocks noChangeShapeType="1"/>
          </p:cNvCxnSpPr>
          <p:nvPr/>
        </p:nvCxnSpPr>
        <p:spPr bwMode="auto">
          <a:xfrm>
            <a:off x="9906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9" name="AutoShape 22"/>
          <p:cNvCxnSpPr>
            <a:cxnSpLocks noChangeShapeType="1"/>
          </p:cNvCxnSpPr>
          <p:nvPr/>
        </p:nvCxnSpPr>
        <p:spPr bwMode="auto">
          <a:xfrm>
            <a:off x="83058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6630" name="Rectangle 23"/>
          <p:cNvSpPr>
            <a:spLocks noChangeArrowheads="1"/>
          </p:cNvSpPr>
          <p:nvPr/>
        </p:nvSpPr>
        <p:spPr bwMode="auto">
          <a:xfrm>
            <a:off x="14478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solidFill>
                  <a:srgbClr val="009900"/>
                </a:solidFill>
                <a:ea typeface="宋体" panose="02010600030101010101" pitchFamily="2" charset="-122"/>
              </a:rPr>
              <a:t>i+5</a:t>
            </a:r>
            <a:endParaRPr lang="en-US" altLang="zh-CN" sz="2400" baseline="-25000">
              <a:solidFill>
                <a:srgbClr val="009900"/>
              </a:solidFill>
              <a:ea typeface="宋体" panose="02010600030101010101" pitchFamily="2" charset="-122"/>
            </a:endParaRPr>
          </a:p>
        </p:txBody>
      </p:sp>
      <p:sp>
        <p:nvSpPr>
          <p:cNvPr id="196631" name="Rectangle 24"/>
          <p:cNvSpPr>
            <a:spLocks noChangeArrowheads="1"/>
          </p:cNvSpPr>
          <p:nvPr/>
        </p:nvSpPr>
        <p:spPr bwMode="auto">
          <a:xfrm>
            <a:off x="23622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i+4</a:t>
            </a:r>
            <a:endParaRPr lang="en-US" altLang="zh-CN" sz="2400" baseline="-25000">
              <a:ea typeface="宋体" panose="02010600030101010101" pitchFamily="2" charset="-122"/>
            </a:endParaRPr>
          </a:p>
        </p:txBody>
      </p:sp>
      <p:sp>
        <p:nvSpPr>
          <p:cNvPr id="196632" name="Rectangle 25"/>
          <p:cNvSpPr>
            <a:spLocks noChangeArrowheads="1"/>
          </p:cNvSpPr>
          <p:nvPr/>
        </p:nvSpPr>
        <p:spPr bwMode="auto">
          <a:xfrm>
            <a:off x="32766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i+3</a:t>
            </a:r>
            <a:endParaRPr lang="en-US" altLang="zh-CN" sz="2400" baseline="-25000">
              <a:ea typeface="宋体" panose="02010600030101010101" pitchFamily="2" charset="-122"/>
            </a:endParaRPr>
          </a:p>
        </p:txBody>
      </p:sp>
      <p:sp>
        <p:nvSpPr>
          <p:cNvPr id="196633" name="Rectangle 26"/>
          <p:cNvSpPr>
            <a:spLocks noChangeArrowheads="1"/>
          </p:cNvSpPr>
          <p:nvPr/>
        </p:nvSpPr>
        <p:spPr bwMode="auto">
          <a:xfrm>
            <a:off x="41910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i+2</a:t>
            </a:r>
            <a:endParaRPr lang="en-US" altLang="zh-CN" sz="2400" baseline="-25000">
              <a:ea typeface="宋体" panose="02010600030101010101" pitchFamily="2" charset="-122"/>
            </a:endParaRPr>
          </a:p>
        </p:txBody>
      </p:sp>
      <p:sp>
        <p:nvSpPr>
          <p:cNvPr id="196634" name="Rectangle 27"/>
          <p:cNvSpPr>
            <a:spLocks noChangeArrowheads="1"/>
          </p:cNvSpPr>
          <p:nvPr/>
        </p:nvSpPr>
        <p:spPr bwMode="auto">
          <a:xfrm>
            <a:off x="51054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i+1</a:t>
            </a:r>
            <a:endParaRPr lang="en-US" altLang="zh-CN" sz="2400" baseline="-25000">
              <a:ea typeface="宋体" panose="02010600030101010101" pitchFamily="2" charset="-122"/>
            </a:endParaRPr>
          </a:p>
        </p:txBody>
      </p:sp>
      <p:sp>
        <p:nvSpPr>
          <p:cNvPr id="196635" name="Rectangle 28"/>
          <p:cNvSpPr>
            <a:spLocks noChangeArrowheads="1"/>
          </p:cNvSpPr>
          <p:nvPr/>
        </p:nvSpPr>
        <p:spPr bwMode="auto">
          <a:xfrm>
            <a:off x="60198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solidFill>
                  <a:srgbClr val="FF0000"/>
                </a:solidFill>
                <a:ea typeface="宋体" panose="02010600030101010101" pitchFamily="2" charset="-122"/>
              </a:rPr>
              <a:t>i</a:t>
            </a:r>
            <a:endParaRPr lang="en-US" altLang="zh-CN" sz="2400" baseline="-25000">
              <a:solidFill>
                <a:srgbClr val="FF0000"/>
              </a:solidFill>
              <a:ea typeface="宋体" panose="02010600030101010101" pitchFamily="2" charset="-122"/>
            </a:endParaRPr>
          </a:p>
        </p:txBody>
      </p:sp>
      <p:sp>
        <p:nvSpPr>
          <p:cNvPr id="196636" name="Rectangle 29"/>
          <p:cNvSpPr>
            <a:spLocks noChangeArrowheads="1"/>
          </p:cNvSpPr>
          <p:nvPr/>
        </p:nvSpPr>
        <p:spPr bwMode="auto">
          <a:xfrm>
            <a:off x="69342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i-1</a:t>
            </a:r>
            <a:endParaRPr lang="en-US" altLang="zh-CN" sz="2400" baseline="-25000">
              <a:ea typeface="宋体" panose="02010600030101010101" pitchFamily="2" charset="-122"/>
            </a:endParaRPr>
          </a:p>
        </p:txBody>
      </p:sp>
      <p:sp>
        <p:nvSpPr>
          <p:cNvPr id="196637" name="Rectangle 30"/>
          <p:cNvSpPr>
            <a:spLocks noChangeArrowheads="1"/>
          </p:cNvSpPr>
          <p:nvPr/>
        </p:nvSpPr>
        <p:spPr bwMode="auto">
          <a:xfrm>
            <a:off x="78486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i-2</a:t>
            </a:r>
            <a:endParaRPr lang="en-US" altLang="zh-CN" sz="2400" baseline="-25000">
              <a:ea typeface="宋体" panose="02010600030101010101" pitchFamily="2" charset="-122"/>
            </a:endParaRPr>
          </a:p>
        </p:txBody>
      </p:sp>
      <p:sp>
        <p:nvSpPr>
          <p:cNvPr id="196638" name="Rectangle 31"/>
          <p:cNvSpPr>
            <a:spLocks noChangeArrowheads="1"/>
          </p:cNvSpPr>
          <p:nvPr/>
        </p:nvSpPr>
        <p:spPr bwMode="auto">
          <a:xfrm>
            <a:off x="1066800" y="38100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latin typeface="Comic Sans MS" panose="030F0702030302020204" pitchFamily="66" charset="0"/>
              </a:rPr>
              <a:t>输入</a:t>
            </a:r>
            <a:endParaRPr lang="zh-CN" altLang="en-US" sz="2400" baseline="-25000">
              <a:latin typeface="Comic Sans MS" panose="030F0702030302020204" pitchFamily="66" charset="0"/>
            </a:endParaRPr>
          </a:p>
        </p:txBody>
      </p:sp>
      <p:sp>
        <p:nvSpPr>
          <p:cNvPr id="196639" name="Rectangle 32"/>
          <p:cNvSpPr>
            <a:spLocks noChangeArrowheads="1"/>
          </p:cNvSpPr>
          <p:nvPr/>
        </p:nvSpPr>
        <p:spPr bwMode="auto">
          <a:xfrm>
            <a:off x="8229600" y="38862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latin typeface="Comic Sans MS" panose="030F0702030302020204" pitchFamily="66" charset="0"/>
              </a:rPr>
              <a:t>输出</a:t>
            </a:r>
            <a:endParaRPr lang="zh-CN" altLang="en-US" sz="2400" baseline="-25000">
              <a:latin typeface="Comic Sans MS" panose="030F0702030302020204" pitchFamily="66" charset="0"/>
            </a:endParaRPr>
          </a:p>
        </p:txBody>
      </p:sp>
      <p:sp>
        <p:nvSpPr>
          <p:cNvPr id="196640" name="Rectangle 33"/>
          <p:cNvSpPr>
            <a:spLocks noChangeArrowheads="1"/>
          </p:cNvSpPr>
          <p:nvPr/>
        </p:nvSpPr>
        <p:spPr bwMode="auto">
          <a:xfrm>
            <a:off x="6019800" y="38862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FF0000"/>
                </a:solidFill>
                <a:latin typeface="Comic Sans MS" panose="030F0702030302020204" pitchFamily="66" charset="0"/>
              </a:rPr>
              <a:t>申请中断</a:t>
            </a:r>
            <a:endParaRPr lang="zh-CN" altLang="en-US" sz="2400" baseline="-25000">
              <a:solidFill>
                <a:srgbClr val="FF0000"/>
              </a:solidFill>
              <a:latin typeface="Comic Sans MS" panose="030F0702030302020204" pitchFamily="66" charset="0"/>
            </a:endParaRPr>
          </a:p>
        </p:txBody>
      </p:sp>
      <p:sp>
        <p:nvSpPr>
          <p:cNvPr id="196641" name="AutoShape 35"/>
          <p:cNvSpPr/>
          <p:nvPr/>
        </p:nvSpPr>
        <p:spPr bwMode="auto">
          <a:xfrm>
            <a:off x="2590800" y="5835650"/>
            <a:ext cx="2438400" cy="630238"/>
          </a:xfrm>
          <a:prstGeom prst="callout2">
            <a:avLst>
              <a:gd name="adj1" fmla="val 18134"/>
              <a:gd name="adj2" fmla="val -3125"/>
              <a:gd name="adj3" fmla="val 18134"/>
              <a:gd name="adj4" fmla="val -17255"/>
              <a:gd name="adj5" fmla="val -46097"/>
              <a:gd name="adj6" fmla="val -34245"/>
            </a:avLst>
          </a:prstGeom>
          <a:noFill/>
          <a:ln w="28575">
            <a:solidFill>
              <a:schemeClr val="tx1"/>
            </a:solidFill>
            <a:miter lim="800000"/>
            <a:headEnd type="arrow"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t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2400">
                <a:latin typeface="Comic Sans MS" panose="030F0702030302020204" pitchFamily="66" charset="0"/>
              </a:rPr>
              <a:t>不精确断点</a:t>
            </a:r>
            <a:endParaRPr lang="zh-CN" altLang="en-US" sz="2400">
              <a:latin typeface="Comic Sans MS" panose="030F0702030302020204" pitchFamily="66" charset="0"/>
            </a:endParaRPr>
          </a:p>
        </p:txBody>
      </p:sp>
      <p:sp>
        <p:nvSpPr>
          <p:cNvPr id="196642" name="Text Box 3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3954" name="Rectangle 2"/>
          <p:cNvSpPr>
            <a:spLocks noGrp="1" noChangeArrowheads="1"/>
          </p:cNvSpPr>
          <p:nvPr>
            <p:ph type="title"/>
          </p:nvPr>
        </p:nvSpPr>
        <p:spPr/>
        <p:txBody>
          <a:bodyPr/>
          <a:lstStyle/>
          <a:p>
            <a:pPr eaLnBrk="1" hangingPunct="1">
              <a:defRPr/>
            </a:pPr>
            <a:r>
              <a:rPr lang="zh-CN" altLang="en-US" smtClean="0"/>
              <a:t>不精确断点</a:t>
            </a:r>
            <a:endParaRPr lang="zh-CN" altLang="en-US" smtClean="0"/>
          </a:p>
        </p:txBody>
      </p:sp>
      <p:sp>
        <p:nvSpPr>
          <p:cNvPr id="19763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中断的处理</a:t>
            </a:r>
            <a:endParaRPr lang="zh-CN" altLang="en-US" sz="1200" b="0">
              <a:latin typeface="Times New Roman" panose="02020603050405020304" pitchFamily="18" charset="0"/>
              <a:ea typeface="幼圆" panose="02010509060101010101" pitchFamily="49" charset="-122"/>
            </a:endParaRPr>
          </a:p>
        </p:txBody>
      </p:sp>
      <p:sp>
        <p:nvSpPr>
          <p:cNvPr id="893987" name="Rectangle 35"/>
          <p:cNvSpPr>
            <a:spLocks noGrp="1" noChangeArrowheads="1"/>
          </p:cNvSpPr>
          <p:nvPr>
            <p:ph type="body" idx="1"/>
          </p:nvPr>
        </p:nvSpPr>
        <p:spPr/>
        <p:txBody>
          <a:bodyPr/>
          <a:lstStyle/>
          <a:p>
            <a:pPr marL="0" indent="0" eaLnBrk="1" hangingPunct="1">
              <a:lnSpc>
                <a:spcPct val="125000"/>
              </a:lnSpc>
              <a:buClr>
                <a:srgbClr val="FF0000"/>
              </a:buClr>
              <a:defRPr/>
            </a:pPr>
            <a:r>
              <a:rPr lang="zh-CN" altLang="en-US" sz="2800" dirty="0" smtClean="0">
                <a:solidFill>
                  <a:srgbClr val="FF0000"/>
                </a:solidFill>
                <a:effectLst>
                  <a:outerShdw blurRad="38100" dist="38100" dir="2700000" algn="tl">
                    <a:srgbClr val="C0C0C0"/>
                  </a:outerShdw>
                </a:effectLst>
              </a:rPr>
              <a:t>  特点</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25000"/>
              </a:lnSpc>
              <a:buFont typeface="Wingdings" panose="05000000000000000000" pitchFamily="2" charset="2"/>
              <a:buNone/>
              <a:defRPr/>
            </a:pPr>
            <a:r>
              <a:rPr lang="zh-CN" altLang="en-US" sz="2800" dirty="0" smtClean="0"/>
              <a:t>    所需硬件少，控制逻辑相对比较简单，主要缺点是中断响应时间稍长些。</a:t>
            </a:r>
            <a:endParaRPr lang="zh-CN" altLang="en-US" sz="2800" dirty="0" smtClean="0"/>
          </a:p>
          <a:p>
            <a:pPr marL="0" indent="0" eaLnBrk="1" hangingPunct="1">
              <a:lnSpc>
                <a:spcPct val="125000"/>
              </a:lnSpc>
              <a:buClr>
                <a:srgbClr val="FF0000"/>
              </a:buClr>
              <a:defRPr/>
            </a:pPr>
            <a:r>
              <a:rPr lang="zh-CN" altLang="en-US" sz="2800" dirty="0" smtClean="0">
                <a:solidFill>
                  <a:srgbClr val="FF0000"/>
                </a:solidFill>
                <a:effectLst>
                  <a:outerShdw blurRad="38100" dist="38100" dir="2700000" algn="tl">
                    <a:srgbClr val="C0C0C0"/>
                  </a:outerShdw>
                </a:effectLst>
              </a:rPr>
              <a:t>  应用</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25000"/>
              </a:lnSpc>
              <a:buFont typeface="Wingdings" panose="05000000000000000000" pitchFamily="2" charset="2"/>
              <a:buNone/>
              <a:defRPr/>
            </a:pPr>
            <a:r>
              <a:rPr lang="zh-CN" altLang="en-US" sz="2800" dirty="0" smtClean="0"/>
              <a:t>    在早期生产的一批大型流水线处理机中，许多采用了不精确断点法。可用于处理</a:t>
            </a:r>
            <a:r>
              <a:rPr lang="en-US" altLang="zh-CN" sz="2800" dirty="0" smtClean="0"/>
              <a:t>I/O</a:t>
            </a:r>
            <a:r>
              <a:rPr lang="zh-CN" altLang="en-US" sz="2800" dirty="0" smtClean="0"/>
              <a:t>中断等类型中断。</a:t>
            </a:r>
            <a:endParaRPr lang="zh-CN" altLang="en-US" sz="2800" dirty="0" smtClean="0"/>
          </a:p>
        </p:txBody>
      </p:sp>
      <p:sp>
        <p:nvSpPr>
          <p:cNvPr id="197637" name="Text Box 3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4978" name="Rectangle 2"/>
          <p:cNvSpPr>
            <a:spLocks noGrp="1" noChangeArrowheads="1"/>
          </p:cNvSpPr>
          <p:nvPr>
            <p:ph type="title"/>
          </p:nvPr>
        </p:nvSpPr>
        <p:spPr/>
        <p:txBody>
          <a:bodyPr/>
          <a:lstStyle/>
          <a:p>
            <a:pPr eaLnBrk="1" hangingPunct="1">
              <a:defRPr/>
            </a:pPr>
            <a:r>
              <a:rPr lang="zh-CN" altLang="en-US" smtClean="0"/>
              <a:t>精确断点</a:t>
            </a:r>
            <a:endParaRPr lang="zh-CN" altLang="en-US" smtClean="0"/>
          </a:p>
        </p:txBody>
      </p:sp>
      <p:sp>
        <p:nvSpPr>
          <p:cNvPr id="19865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中断的处理</a:t>
            </a:r>
            <a:endParaRPr lang="zh-CN" altLang="en-US" sz="1200" b="0">
              <a:latin typeface="Times New Roman" panose="02020603050405020304" pitchFamily="18" charset="0"/>
              <a:ea typeface="幼圆" panose="02010509060101010101" pitchFamily="49" charset="-122"/>
            </a:endParaRPr>
          </a:p>
        </p:txBody>
      </p:sp>
      <p:sp>
        <p:nvSpPr>
          <p:cNvPr id="198660" name="Rectangle 4"/>
          <p:cNvSpPr>
            <a:spLocks noGrp="1" noChangeArrowheads="1"/>
          </p:cNvSpPr>
          <p:nvPr>
            <p:ph type="body" idx="1"/>
          </p:nvPr>
        </p:nvSpPr>
        <p:spPr>
          <a:xfrm>
            <a:off x="809625" y="1989138"/>
            <a:ext cx="7958138" cy="1681162"/>
          </a:xfrm>
        </p:spPr>
        <p:txBody>
          <a:bodyPr/>
          <a:lstStyle/>
          <a:p>
            <a:pPr marL="0" indent="0" eaLnBrk="1" hangingPunct="1">
              <a:lnSpc>
                <a:spcPct val="125000"/>
              </a:lnSpc>
              <a:buFont typeface="Wingdings" panose="05000000000000000000" pitchFamily="2" charset="2"/>
              <a:buNone/>
            </a:pPr>
            <a:r>
              <a:rPr lang="zh-CN" altLang="en-US" sz="2800" smtClean="0"/>
              <a:t>       由哪一条指令的程序性中断或故障发出的中断请求，断点就是这条指令的地址。例如：下图中精确断点地址是</a:t>
            </a:r>
            <a:r>
              <a:rPr lang="en-US" altLang="zh-CN" sz="2800" smtClean="0"/>
              <a:t>i。</a:t>
            </a:r>
            <a:endParaRPr lang="en-US" altLang="zh-CN" sz="2800" smtClean="0"/>
          </a:p>
        </p:txBody>
      </p:sp>
      <p:sp>
        <p:nvSpPr>
          <p:cNvPr id="198661" name="Rectangle 5"/>
          <p:cNvSpPr>
            <a:spLocks noChangeArrowheads="1"/>
          </p:cNvSpPr>
          <p:nvPr/>
        </p:nvSpPr>
        <p:spPr bwMode="auto">
          <a:xfrm>
            <a:off x="14478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rgbClr val="99FF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1</a:t>
            </a:r>
            <a:endParaRPr lang="en-US" altLang="zh-CN" sz="2400" baseline="-25000">
              <a:ea typeface="宋体" panose="02010600030101010101" pitchFamily="2" charset="-122"/>
            </a:endParaRPr>
          </a:p>
        </p:txBody>
      </p:sp>
      <p:sp>
        <p:nvSpPr>
          <p:cNvPr id="198662" name="Rectangle 6"/>
          <p:cNvSpPr>
            <a:spLocks noChangeArrowheads="1"/>
          </p:cNvSpPr>
          <p:nvPr/>
        </p:nvSpPr>
        <p:spPr bwMode="auto">
          <a:xfrm>
            <a:off x="23622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2</a:t>
            </a:r>
            <a:endParaRPr lang="en-US" altLang="zh-CN" sz="2400" baseline="-25000">
              <a:ea typeface="宋体" panose="02010600030101010101" pitchFamily="2" charset="-122"/>
            </a:endParaRPr>
          </a:p>
        </p:txBody>
      </p:sp>
      <p:sp>
        <p:nvSpPr>
          <p:cNvPr id="198663" name="Rectangle 7"/>
          <p:cNvSpPr>
            <a:spLocks noChangeArrowheads="1"/>
          </p:cNvSpPr>
          <p:nvPr/>
        </p:nvSpPr>
        <p:spPr bwMode="auto">
          <a:xfrm>
            <a:off x="32766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3</a:t>
            </a:r>
            <a:endParaRPr lang="en-US" altLang="zh-CN" sz="2400" baseline="-25000">
              <a:ea typeface="宋体" panose="02010600030101010101" pitchFamily="2" charset="-122"/>
            </a:endParaRPr>
          </a:p>
        </p:txBody>
      </p:sp>
      <p:sp>
        <p:nvSpPr>
          <p:cNvPr id="198664" name="Rectangle 8"/>
          <p:cNvSpPr>
            <a:spLocks noChangeArrowheads="1"/>
          </p:cNvSpPr>
          <p:nvPr/>
        </p:nvSpPr>
        <p:spPr bwMode="auto">
          <a:xfrm>
            <a:off x="41910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4</a:t>
            </a:r>
            <a:endParaRPr lang="en-US" altLang="zh-CN" sz="2400" baseline="-25000">
              <a:ea typeface="宋体" panose="02010600030101010101" pitchFamily="2" charset="-122"/>
            </a:endParaRPr>
          </a:p>
        </p:txBody>
      </p:sp>
      <p:sp>
        <p:nvSpPr>
          <p:cNvPr id="198665" name="Rectangle 9"/>
          <p:cNvSpPr>
            <a:spLocks noChangeArrowheads="1"/>
          </p:cNvSpPr>
          <p:nvPr/>
        </p:nvSpPr>
        <p:spPr bwMode="auto">
          <a:xfrm>
            <a:off x="51054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5</a:t>
            </a:r>
            <a:endParaRPr lang="en-US" altLang="zh-CN" sz="2400" baseline="-25000">
              <a:ea typeface="宋体" panose="02010600030101010101" pitchFamily="2" charset="-122"/>
            </a:endParaRPr>
          </a:p>
        </p:txBody>
      </p:sp>
      <p:sp>
        <p:nvSpPr>
          <p:cNvPr id="198666" name="Rectangle 10"/>
          <p:cNvSpPr>
            <a:spLocks noChangeArrowheads="1"/>
          </p:cNvSpPr>
          <p:nvPr/>
        </p:nvSpPr>
        <p:spPr bwMode="auto">
          <a:xfrm>
            <a:off x="6019800" y="4419600"/>
            <a:ext cx="457200" cy="457200"/>
          </a:xfrm>
          <a:prstGeom prst="rect">
            <a:avLst/>
          </a:prstGeom>
          <a:solidFill>
            <a:srgbClr val="FF0000"/>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solidFill>
                  <a:schemeClr val="bg1"/>
                </a:solidFill>
                <a:ea typeface="宋体" panose="02010600030101010101" pitchFamily="2" charset="-122"/>
              </a:rPr>
              <a:t>S</a:t>
            </a:r>
            <a:r>
              <a:rPr lang="en-US" altLang="zh-CN" sz="2400" baseline="-25000">
                <a:solidFill>
                  <a:schemeClr val="bg1"/>
                </a:solidFill>
                <a:ea typeface="宋体" panose="02010600030101010101" pitchFamily="2" charset="-122"/>
              </a:rPr>
              <a:t>6</a:t>
            </a:r>
            <a:endParaRPr lang="en-US" altLang="zh-CN" sz="2400" baseline="-25000">
              <a:solidFill>
                <a:schemeClr val="bg1"/>
              </a:solidFill>
              <a:ea typeface="宋体" panose="02010600030101010101" pitchFamily="2" charset="-122"/>
            </a:endParaRPr>
          </a:p>
        </p:txBody>
      </p:sp>
      <p:sp>
        <p:nvSpPr>
          <p:cNvPr id="198667" name="Rectangle 11"/>
          <p:cNvSpPr>
            <a:spLocks noChangeArrowheads="1"/>
          </p:cNvSpPr>
          <p:nvPr/>
        </p:nvSpPr>
        <p:spPr bwMode="auto">
          <a:xfrm>
            <a:off x="69342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7</a:t>
            </a:r>
            <a:endParaRPr lang="en-US" altLang="zh-CN" sz="2400" baseline="-25000">
              <a:ea typeface="宋体" panose="02010600030101010101" pitchFamily="2" charset="-122"/>
            </a:endParaRPr>
          </a:p>
        </p:txBody>
      </p:sp>
      <p:sp>
        <p:nvSpPr>
          <p:cNvPr id="198668" name="Rectangle 12"/>
          <p:cNvSpPr>
            <a:spLocks noChangeArrowheads="1"/>
          </p:cNvSpPr>
          <p:nvPr/>
        </p:nvSpPr>
        <p:spPr bwMode="auto">
          <a:xfrm>
            <a:off x="7848600" y="4419600"/>
            <a:ext cx="457200" cy="457200"/>
          </a:xfrm>
          <a:prstGeom prst="rect">
            <a:avLst/>
          </a:pr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S</a:t>
            </a:r>
            <a:r>
              <a:rPr lang="en-US" altLang="zh-CN" sz="2400" baseline="-25000">
                <a:ea typeface="宋体" panose="02010600030101010101" pitchFamily="2" charset="-122"/>
              </a:rPr>
              <a:t>8</a:t>
            </a:r>
            <a:endParaRPr lang="en-US" altLang="zh-CN" sz="2400" baseline="-25000">
              <a:ea typeface="宋体" panose="02010600030101010101" pitchFamily="2" charset="-122"/>
            </a:endParaRPr>
          </a:p>
        </p:txBody>
      </p:sp>
      <p:cxnSp>
        <p:nvCxnSpPr>
          <p:cNvPr id="198669" name="AutoShape 13"/>
          <p:cNvCxnSpPr>
            <a:cxnSpLocks noChangeShapeType="1"/>
            <a:stCxn id="198661" idx="3"/>
            <a:endCxn id="198662" idx="1"/>
          </p:cNvCxnSpPr>
          <p:nvPr/>
        </p:nvCxnSpPr>
        <p:spPr bwMode="auto">
          <a:xfrm>
            <a:off x="1919288"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0" name="AutoShape 14"/>
          <p:cNvCxnSpPr>
            <a:cxnSpLocks noChangeShapeType="1"/>
            <a:stCxn id="198662" idx="3"/>
            <a:endCxn id="198663" idx="1"/>
          </p:cNvCxnSpPr>
          <p:nvPr/>
        </p:nvCxnSpPr>
        <p:spPr bwMode="auto">
          <a:xfrm>
            <a:off x="2833688"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1" name="AutoShape 15"/>
          <p:cNvCxnSpPr>
            <a:cxnSpLocks noChangeShapeType="1"/>
          </p:cNvCxnSpPr>
          <p:nvPr/>
        </p:nvCxnSpPr>
        <p:spPr bwMode="auto">
          <a:xfrm>
            <a:off x="37338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2" name="AutoShape 16"/>
          <p:cNvCxnSpPr>
            <a:cxnSpLocks noChangeShapeType="1"/>
          </p:cNvCxnSpPr>
          <p:nvPr/>
        </p:nvCxnSpPr>
        <p:spPr bwMode="auto">
          <a:xfrm>
            <a:off x="46482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3" name="AutoShape 17"/>
          <p:cNvCxnSpPr>
            <a:cxnSpLocks noChangeShapeType="1"/>
          </p:cNvCxnSpPr>
          <p:nvPr/>
        </p:nvCxnSpPr>
        <p:spPr bwMode="auto">
          <a:xfrm>
            <a:off x="55626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4" name="AutoShape 18"/>
          <p:cNvCxnSpPr>
            <a:cxnSpLocks noChangeShapeType="1"/>
          </p:cNvCxnSpPr>
          <p:nvPr/>
        </p:nvCxnSpPr>
        <p:spPr bwMode="auto">
          <a:xfrm>
            <a:off x="64770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5" name="AutoShape 19"/>
          <p:cNvCxnSpPr>
            <a:cxnSpLocks noChangeShapeType="1"/>
          </p:cNvCxnSpPr>
          <p:nvPr/>
        </p:nvCxnSpPr>
        <p:spPr bwMode="auto">
          <a:xfrm>
            <a:off x="73914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6" name="AutoShape 20"/>
          <p:cNvCxnSpPr>
            <a:cxnSpLocks noChangeShapeType="1"/>
          </p:cNvCxnSpPr>
          <p:nvPr/>
        </p:nvCxnSpPr>
        <p:spPr bwMode="auto">
          <a:xfrm>
            <a:off x="9906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7" name="AutoShape 21"/>
          <p:cNvCxnSpPr>
            <a:cxnSpLocks noChangeShapeType="1"/>
          </p:cNvCxnSpPr>
          <p:nvPr/>
        </p:nvCxnSpPr>
        <p:spPr bwMode="auto">
          <a:xfrm>
            <a:off x="8305800" y="4648200"/>
            <a:ext cx="428625" cy="0"/>
          </a:xfrm>
          <a:prstGeom prst="straightConnector1">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8678" name="Rectangle 22"/>
          <p:cNvSpPr>
            <a:spLocks noChangeArrowheads="1"/>
          </p:cNvSpPr>
          <p:nvPr/>
        </p:nvSpPr>
        <p:spPr bwMode="auto">
          <a:xfrm>
            <a:off x="14478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i+5</a:t>
            </a:r>
            <a:endParaRPr lang="en-US" altLang="zh-CN" sz="2400" baseline="-25000">
              <a:ea typeface="宋体" panose="02010600030101010101" pitchFamily="2" charset="-122"/>
            </a:endParaRPr>
          </a:p>
        </p:txBody>
      </p:sp>
      <p:sp>
        <p:nvSpPr>
          <p:cNvPr id="198679" name="Rectangle 23"/>
          <p:cNvSpPr>
            <a:spLocks noChangeArrowheads="1"/>
          </p:cNvSpPr>
          <p:nvPr/>
        </p:nvSpPr>
        <p:spPr bwMode="auto">
          <a:xfrm>
            <a:off x="23622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i+4</a:t>
            </a:r>
            <a:endParaRPr lang="en-US" altLang="zh-CN" sz="2400" baseline="-25000">
              <a:ea typeface="宋体" panose="02010600030101010101" pitchFamily="2" charset="-122"/>
            </a:endParaRPr>
          </a:p>
        </p:txBody>
      </p:sp>
      <p:sp>
        <p:nvSpPr>
          <p:cNvPr id="198680" name="Rectangle 24"/>
          <p:cNvSpPr>
            <a:spLocks noChangeArrowheads="1"/>
          </p:cNvSpPr>
          <p:nvPr/>
        </p:nvSpPr>
        <p:spPr bwMode="auto">
          <a:xfrm>
            <a:off x="32766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i+3</a:t>
            </a:r>
            <a:endParaRPr lang="en-US" altLang="zh-CN" sz="2400" baseline="-25000">
              <a:ea typeface="宋体" panose="02010600030101010101" pitchFamily="2" charset="-122"/>
            </a:endParaRPr>
          </a:p>
        </p:txBody>
      </p:sp>
      <p:sp>
        <p:nvSpPr>
          <p:cNvPr id="198681" name="Rectangle 25"/>
          <p:cNvSpPr>
            <a:spLocks noChangeArrowheads="1"/>
          </p:cNvSpPr>
          <p:nvPr/>
        </p:nvSpPr>
        <p:spPr bwMode="auto">
          <a:xfrm>
            <a:off x="41910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i+2</a:t>
            </a:r>
            <a:endParaRPr lang="en-US" altLang="zh-CN" sz="2400" baseline="-25000">
              <a:ea typeface="宋体" panose="02010600030101010101" pitchFamily="2" charset="-122"/>
            </a:endParaRPr>
          </a:p>
        </p:txBody>
      </p:sp>
      <p:sp>
        <p:nvSpPr>
          <p:cNvPr id="198682" name="Rectangle 26"/>
          <p:cNvSpPr>
            <a:spLocks noChangeArrowheads="1"/>
          </p:cNvSpPr>
          <p:nvPr/>
        </p:nvSpPr>
        <p:spPr bwMode="auto">
          <a:xfrm>
            <a:off x="51054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i+1</a:t>
            </a:r>
            <a:endParaRPr lang="en-US" altLang="zh-CN" sz="2400" baseline="-25000">
              <a:ea typeface="宋体" panose="02010600030101010101" pitchFamily="2" charset="-122"/>
            </a:endParaRPr>
          </a:p>
        </p:txBody>
      </p:sp>
      <p:sp>
        <p:nvSpPr>
          <p:cNvPr id="198683" name="Rectangle 27"/>
          <p:cNvSpPr>
            <a:spLocks noChangeArrowheads="1"/>
          </p:cNvSpPr>
          <p:nvPr/>
        </p:nvSpPr>
        <p:spPr bwMode="auto">
          <a:xfrm>
            <a:off x="60198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solidFill>
                  <a:srgbClr val="FF0000"/>
                </a:solidFill>
                <a:ea typeface="宋体" panose="02010600030101010101" pitchFamily="2" charset="-122"/>
              </a:rPr>
              <a:t>i</a:t>
            </a:r>
            <a:endParaRPr lang="en-US" altLang="zh-CN" sz="2400" baseline="-25000">
              <a:solidFill>
                <a:srgbClr val="FF0000"/>
              </a:solidFill>
              <a:ea typeface="宋体" panose="02010600030101010101" pitchFamily="2" charset="-122"/>
            </a:endParaRPr>
          </a:p>
        </p:txBody>
      </p:sp>
      <p:sp>
        <p:nvSpPr>
          <p:cNvPr id="198684" name="Rectangle 28"/>
          <p:cNvSpPr>
            <a:spLocks noChangeArrowheads="1"/>
          </p:cNvSpPr>
          <p:nvPr/>
        </p:nvSpPr>
        <p:spPr bwMode="auto">
          <a:xfrm>
            <a:off x="69342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i-1</a:t>
            </a:r>
            <a:endParaRPr lang="en-US" altLang="zh-CN" sz="2400" baseline="-25000">
              <a:ea typeface="宋体" panose="02010600030101010101" pitchFamily="2" charset="-122"/>
            </a:endParaRPr>
          </a:p>
        </p:txBody>
      </p:sp>
      <p:sp>
        <p:nvSpPr>
          <p:cNvPr id="198685" name="Rectangle 29"/>
          <p:cNvSpPr>
            <a:spLocks noChangeArrowheads="1"/>
          </p:cNvSpPr>
          <p:nvPr/>
        </p:nvSpPr>
        <p:spPr bwMode="auto">
          <a:xfrm>
            <a:off x="78486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en-US" altLang="zh-CN" sz="2400">
                <a:ea typeface="宋体" panose="02010600030101010101" pitchFamily="2" charset="-122"/>
              </a:rPr>
              <a:t>i-2</a:t>
            </a:r>
            <a:endParaRPr lang="en-US" altLang="zh-CN" sz="2400" baseline="-25000">
              <a:ea typeface="宋体" panose="02010600030101010101" pitchFamily="2" charset="-122"/>
            </a:endParaRPr>
          </a:p>
        </p:txBody>
      </p:sp>
      <p:sp>
        <p:nvSpPr>
          <p:cNvPr id="198686" name="Rectangle 30"/>
          <p:cNvSpPr>
            <a:spLocks noChangeArrowheads="1"/>
          </p:cNvSpPr>
          <p:nvPr/>
        </p:nvSpPr>
        <p:spPr bwMode="auto">
          <a:xfrm>
            <a:off x="1066800" y="38100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latin typeface="Comic Sans MS" panose="030F0702030302020204" pitchFamily="66" charset="0"/>
              </a:rPr>
              <a:t>输入</a:t>
            </a:r>
            <a:endParaRPr lang="zh-CN" altLang="en-US" sz="2400" baseline="-25000">
              <a:latin typeface="Comic Sans MS" panose="030F0702030302020204" pitchFamily="66" charset="0"/>
            </a:endParaRPr>
          </a:p>
        </p:txBody>
      </p:sp>
      <p:sp>
        <p:nvSpPr>
          <p:cNvPr id="198687" name="Rectangle 31"/>
          <p:cNvSpPr>
            <a:spLocks noChangeArrowheads="1"/>
          </p:cNvSpPr>
          <p:nvPr/>
        </p:nvSpPr>
        <p:spPr bwMode="auto">
          <a:xfrm>
            <a:off x="8229600" y="38862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latin typeface="Comic Sans MS" panose="030F0702030302020204" pitchFamily="66" charset="0"/>
              </a:rPr>
              <a:t>输出</a:t>
            </a:r>
            <a:endParaRPr lang="zh-CN" altLang="en-US" sz="2400" baseline="-25000">
              <a:latin typeface="Comic Sans MS" panose="030F0702030302020204" pitchFamily="66" charset="0"/>
            </a:endParaRPr>
          </a:p>
        </p:txBody>
      </p:sp>
      <p:sp>
        <p:nvSpPr>
          <p:cNvPr id="198688" name="Rectangle 32"/>
          <p:cNvSpPr>
            <a:spLocks noChangeArrowheads="1"/>
          </p:cNvSpPr>
          <p:nvPr/>
        </p:nvSpPr>
        <p:spPr bwMode="auto">
          <a:xfrm>
            <a:off x="6019800" y="38862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a:solidFill>
                  <a:srgbClr val="FF0000"/>
                </a:solidFill>
                <a:latin typeface="Comic Sans MS" panose="030F0702030302020204" pitchFamily="66" charset="0"/>
              </a:rPr>
              <a:t>申请中断</a:t>
            </a:r>
            <a:endParaRPr lang="zh-CN" altLang="en-US" sz="2400" baseline="-25000">
              <a:solidFill>
                <a:srgbClr val="FF0000"/>
              </a:solidFill>
              <a:latin typeface="Comic Sans MS" panose="030F0702030302020204" pitchFamily="66" charset="0"/>
            </a:endParaRPr>
          </a:p>
        </p:txBody>
      </p:sp>
      <p:sp>
        <p:nvSpPr>
          <p:cNvPr id="198689" name="AutoShape 33"/>
          <p:cNvSpPr/>
          <p:nvPr/>
        </p:nvSpPr>
        <p:spPr bwMode="auto">
          <a:xfrm>
            <a:off x="7104063" y="5770563"/>
            <a:ext cx="1735137" cy="325437"/>
          </a:xfrm>
          <a:prstGeom prst="callout2">
            <a:avLst>
              <a:gd name="adj1" fmla="val 35120"/>
              <a:gd name="adj2" fmla="val -4394"/>
              <a:gd name="adj3" fmla="val 35120"/>
              <a:gd name="adj4" fmla="val -26718"/>
              <a:gd name="adj5" fmla="val -69755"/>
              <a:gd name="adj6" fmla="val -49773"/>
            </a:avLst>
          </a:prstGeom>
          <a:noFill/>
          <a:ln w="28575">
            <a:solidFill>
              <a:schemeClr val="tx1"/>
            </a:solidFill>
            <a:miter lim="800000"/>
            <a:headEnd type="arrow"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t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r>
              <a:rPr lang="zh-CN" altLang="en-US" sz="2400">
                <a:latin typeface="Comic Sans MS" panose="030F0702030302020204" pitchFamily="66" charset="0"/>
              </a:rPr>
              <a:t>精确断点</a:t>
            </a:r>
            <a:endParaRPr lang="zh-CN" altLang="en-US" sz="2400">
              <a:latin typeface="Comic Sans MS" panose="030F0702030302020204" pitchFamily="66" charset="0"/>
            </a:endParaRPr>
          </a:p>
        </p:txBody>
      </p:sp>
      <p:sp>
        <p:nvSpPr>
          <p:cNvPr id="198690" name="Text Box 3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6002" name="Rectangle 2"/>
          <p:cNvSpPr>
            <a:spLocks noGrp="1" noChangeArrowheads="1"/>
          </p:cNvSpPr>
          <p:nvPr>
            <p:ph type="title"/>
          </p:nvPr>
        </p:nvSpPr>
        <p:spPr/>
        <p:txBody>
          <a:bodyPr/>
          <a:lstStyle/>
          <a:p>
            <a:pPr eaLnBrk="1" hangingPunct="1">
              <a:defRPr/>
            </a:pPr>
            <a:r>
              <a:rPr lang="zh-CN" altLang="en-US" smtClean="0"/>
              <a:t>精确断点</a:t>
            </a:r>
            <a:endParaRPr lang="zh-CN" altLang="en-US" smtClean="0"/>
          </a:p>
        </p:txBody>
      </p:sp>
      <p:sp>
        <p:nvSpPr>
          <p:cNvPr id="19968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控制相关</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中断的处理</a:t>
            </a:r>
            <a:endParaRPr lang="zh-CN" altLang="en-US" sz="1200" b="0">
              <a:latin typeface="Times New Roman" panose="02020603050405020304" pitchFamily="18" charset="0"/>
              <a:ea typeface="幼圆" panose="02010509060101010101" pitchFamily="49" charset="-122"/>
            </a:endParaRPr>
          </a:p>
        </p:txBody>
      </p:sp>
      <p:sp>
        <p:nvSpPr>
          <p:cNvPr id="896004" name="Rectangle 4"/>
          <p:cNvSpPr>
            <a:spLocks noGrp="1" noChangeArrowheads="1"/>
          </p:cNvSpPr>
          <p:nvPr>
            <p:ph type="body" idx="1"/>
          </p:nvPr>
        </p:nvSpPr>
        <p:spPr>
          <a:xfrm>
            <a:off x="809625" y="1989138"/>
            <a:ext cx="7958138" cy="4032250"/>
          </a:xfrm>
        </p:spPr>
        <p:txBody>
          <a:bodyPr/>
          <a:lstStyle/>
          <a:p>
            <a:pPr marL="0" indent="0" eaLnBrk="1" hangingPunct="1">
              <a:lnSpc>
                <a:spcPct val="150000"/>
              </a:lnSpc>
              <a:buClr>
                <a:srgbClr val="FF0000"/>
              </a:buClr>
              <a:defRPr/>
            </a:pPr>
            <a:r>
              <a:rPr lang="zh-CN" altLang="en-US" sz="2800" dirty="0" smtClean="0">
                <a:solidFill>
                  <a:srgbClr val="FF0000"/>
                </a:solidFill>
                <a:effectLst>
                  <a:outerShdw blurRad="38100" dist="38100" dir="2700000" algn="tl">
                    <a:srgbClr val="C0C0C0"/>
                  </a:outerShdw>
                </a:effectLst>
              </a:rPr>
              <a:t>  特点</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50000"/>
              </a:lnSpc>
              <a:buFont typeface="Wingdings" panose="05000000000000000000" pitchFamily="2" charset="2"/>
              <a:buNone/>
              <a:defRPr/>
            </a:pPr>
            <a:r>
              <a:rPr lang="zh-CN" altLang="en-US" sz="2800" dirty="0" smtClean="0"/>
              <a:t>    所需硬件代价较高，控制逻辑相对比较复杂。</a:t>
            </a:r>
            <a:endParaRPr lang="zh-CN" altLang="en-US" sz="2800" dirty="0" smtClean="0"/>
          </a:p>
          <a:p>
            <a:pPr marL="0" indent="0" eaLnBrk="1" hangingPunct="1">
              <a:lnSpc>
                <a:spcPct val="150000"/>
              </a:lnSpc>
              <a:buClr>
                <a:srgbClr val="FF0000"/>
              </a:buClr>
              <a:defRPr/>
            </a:pPr>
            <a:r>
              <a:rPr lang="zh-CN" altLang="en-US" sz="2800" dirty="0" smtClean="0">
                <a:solidFill>
                  <a:srgbClr val="FF0000"/>
                </a:solidFill>
                <a:effectLst>
                  <a:outerShdw blurRad="38100" dist="38100" dir="2700000" algn="tl">
                    <a:srgbClr val="C0C0C0"/>
                  </a:outerShdw>
                </a:effectLst>
              </a:rPr>
              <a:t>  应用</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50000"/>
              </a:lnSpc>
              <a:buFont typeface="Wingdings" panose="05000000000000000000" pitchFamily="2" charset="2"/>
              <a:buNone/>
              <a:defRPr/>
            </a:pPr>
            <a:r>
              <a:rPr lang="zh-CN" altLang="en-US" sz="2800" dirty="0" smtClean="0"/>
              <a:t>    近期生产的流水线处理机一般采用精确断点法。可用于处理程序性中断和机器故障等类型中断。</a:t>
            </a:r>
            <a:endParaRPr lang="zh-CN" altLang="en-US" sz="2800" dirty="0" smtClean="0"/>
          </a:p>
        </p:txBody>
      </p:sp>
      <p:sp>
        <p:nvSpPr>
          <p:cNvPr id="19968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6" name="Rectangle 2"/>
          <p:cNvSpPr>
            <a:spLocks noGrp="1" noChangeArrowheads="1"/>
          </p:cNvSpPr>
          <p:nvPr>
            <p:ph type="title"/>
          </p:nvPr>
        </p:nvSpPr>
        <p:spPr/>
        <p:txBody>
          <a:bodyPr/>
          <a:lstStyle/>
          <a:p>
            <a:pPr eaLnBrk="1" hangingPunct="1">
              <a:defRPr/>
            </a:pPr>
            <a:r>
              <a:rPr lang="zh-CN" altLang="en-US" sz="5400" dirty="0" smtClean="0"/>
              <a:t>综合应用</a:t>
            </a:r>
            <a:br>
              <a:rPr lang="en-US" altLang="zh-CN" sz="5400" dirty="0" smtClean="0"/>
            </a:br>
            <a:r>
              <a:rPr lang="zh-CN" altLang="en-US" sz="3600" dirty="0" smtClean="0"/>
              <a:t>（基于硬件的前瞻执行）</a:t>
            </a:r>
            <a:endParaRPr lang="zh-CN" altLang="en-US" sz="3600" dirty="0" smtClean="0"/>
          </a:p>
        </p:txBody>
      </p:sp>
      <p:sp>
        <p:nvSpPr>
          <p:cNvPr id="20070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endParaRPr lang="zh-CN" altLang="en-US" sz="1200" b="0">
              <a:latin typeface="Times New Roman" panose="02020603050405020304" pitchFamily="18" charset="0"/>
              <a:ea typeface="幼圆" panose="02010509060101010101" pitchFamily="49" charset="-122"/>
            </a:endParaRPr>
          </a:p>
        </p:txBody>
      </p:sp>
      <p:sp>
        <p:nvSpPr>
          <p:cNvPr id="932868" name="Rectangle 4"/>
          <p:cNvSpPr>
            <a:spLocks noGrp="1" noChangeArrowheads="1"/>
          </p:cNvSpPr>
          <p:nvPr>
            <p:ph type="body" idx="1"/>
          </p:nvPr>
        </p:nvSpPr>
        <p:spPr/>
        <p:txBody>
          <a:bodyPr/>
          <a:lstStyle/>
          <a:p>
            <a:pPr marL="0" indent="0" eaLnBrk="1" hangingPunct="1">
              <a:lnSpc>
                <a:spcPct val="120000"/>
              </a:lnSpc>
              <a:buFont typeface="Wingdings" panose="05000000000000000000" pitchFamily="2" charset="2"/>
              <a:buNone/>
              <a:defRPr/>
            </a:pPr>
            <a:r>
              <a:rPr lang="zh-CN" altLang="en-US" dirty="0" smtClean="0"/>
              <a:t>       综合前面的思想，我们介绍一个</a:t>
            </a:r>
            <a:r>
              <a:rPr lang="zh-CN" altLang="en-US" dirty="0" smtClean="0">
                <a:solidFill>
                  <a:srgbClr val="FF0000"/>
                </a:solidFill>
                <a:effectLst>
                  <a:outerShdw blurRad="38100" dist="38100" dir="2700000" algn="tl">
                    <a:srgbClr val="C0C0C0"/>
                  </a:outerShdw>
                </a:effectLst>
              </a:rPr>
              <a:t>基于</a:t>
            </a:r>
            <a:r>
              <a:rPr lang="en-US" altLang="zh-CN" dirty="0" err="1" smtClean="0">
                <a:solidFill>
                  <a:srgbClr val="FF0000"/>
                </a:solidFill>
                <a:effectLst>
                  <a:outerShdw blurRad="38100" dist="38100" dir="2700000" algn="tl">
                    <a:srgbClr val="C0C0C0"/>
                  </a:outerShdw>
                </a:effectLst>
              </a:rPr>
              <a:t>Tomasulo</a:t>
            </a:r>
            <a:r>
              <a:rPr lang="zh-CN" altLang="en-US" dirty="0" smtClean="0">
                <a:solidFill>
                  <a:srgbClr val="FF0000"/>
                </a:solidFill>
                <a:effectLst>
                  <a:outerShdw blurRad="38100" dist="38100" dir="2700000" algn="tl">
                    <a:srgbClr val="C0C0C0"/>
                  </a:outerShdw>
                </a:effectLst>
              </a:rPr>
              <a:t>算法、预测执行和保持精确异常</a:t>
            </a:r>
            <a:r>
              <a:rPr lang="zh-CN" altLang="en-US" dirty="0" smtClean="0"/>
              <a:t>的硬件实现技术，此方法已经在一系列处理器（</a:t>
            </a:r>
            <a:r>
              <a:rPr lang="en-US" altLang="zh-CN" dirty="0" smtClean="0"/>
              <a:t>PowerPC 603/604/G3/G4、MIPS R10000/R12000、Intel Pentium Ⅱ/Ⅲ/4、Alpha 21264</a:t>
            </a:r>
            <a:r>
              <a:rPr lang="zh-CN" altLang="en-US" dirty="0" smtClean="0"/>
              <a:t>和</a:t>
            </a:r>
            <a:r>
              <a:rPr lang="en-US" altLang="zh-CN" dirty="0" smtClean="0"/>
              <a:t>AMD K5/K6/Athlon）</a:t>
            </a:r>
            <a:r>
              <a:rPr lang="zh-CN" altLang="en-US" dirty="0" smtClean="0"/>
              <a:t>上实现了。</a:t>
            </a:r>
            <a:endParaRPr lang="zh-CN" altLang="en-US" dirty="0" smtClean="0"/>
          </a:p>
        </p:txBody>
      </p:sp>
      <p:sp>
        <p:nvSpPr>
          <p:cNvPr id="200709"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2 </a:t>
            </a:r>
            <a:r>
              <a:rPr lang="zh-CN" altLang="en-US" sz="1200" b="0">
                <a:latin typeface="幼圆" panose="02010509060101010101" pitchFamily="49" charset="-122"/>
                <a:ea typeface="幼圆" panose="02010509060101010101" pitchFamily="49" charset="-122"/>
              </a:rPr>
              <a:t>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3890" name="Rectangle 2"/>
          <p:cNvSpPr>
            <a:spLocks noGrp="1" noChangeArrowheads="1"/>
          </p:cNvSpPr>
          <p:nvPr>
            <p:ph type="title"/>
          </p:nvPr>
        </p:nvSpPr>
        <p:spPr/>
        <p:txBody>
          <a:bodyPr/>
          <a:lstStyle/>
          <a:p>
            <a:pPr eaLnBrk="1" hangingPunct="1">
              <a:defRPr/>
            </a:pPr>
            <a:r>
              <a:rPr lang="zh-CN" altLang="en-US" sz="5400" dirty="0" smtClean="0"/>
              <a:t>综合应用</a:t>
            </a:r>
            <a:br>
              <a:rPr lang="en-US" altLang="zh-CN" sz="5400" dirty="0" smtClean="0"/>
            </a:br>
            <a:r>
              <a:rPr lang="zh-CN" altLang="en-US" sz="3600" dirty="0" smtClean="0"/>
              <a:t>（</a:t>
            </a:r>
            <a:r>
              <a:rPr lang="zh-CN" altLang="en-US" sz="3600" dirty="0"/>
              <a:t>基于硬件的前瞻执行）</a:t>
            </a:r>
            <a:endParaRPr lang="zh-CN" altLang="en-US" sz="3600" dirty="0" smtClean="0"/>
          </a:p>
        </p:txBody>
      </p:sp>
      <p:sp>
        <p:nvSpPr>
          <p:cNvPr id="20173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endParaRPr lang="zh-CN" altLang="en-US" sz="1200" b="0">
              <a:latin typeface="Times New Roman" panose="02020603050405020304" pitchFamily="18" charset="0"/>
              <a:ea typeface="幼圆" panose="02010509060101010101" pitchFamily="49" charset="-122"/>
            </a:endParaRPr>
          </a:p>
        </p:txBody>
      </p:sp>
      <p:sp>
        <p:nvSpPr>
          <p:cNvPr id="201732" name="Rectangle 6"/>
          <p:cNvSpPr>
            <a:spLocks noGrp="1" noChangeArrowheads="1"/>
          </p:cNvSpPr>
          <p:nvPr>
            <p:ph type="body" idx="1"/>
          </p:nvPr>
        </p:nvSpPr>
        <p:spPr>
          <a:xfrm>
            <a:off x="3563938" y="2565400"/>
            <a:ext cx="1524000" cy="3127375"/>
          </a:xfrm>
          <a:noFill/>
        </p:spPr>
        <p:txBody>
          <a:bodyPr/>
          <a:lstStyle/>
          <a:p>
            <a:pPr eaLnBrk="1" hangingPunct="1">
              <a:lnSpc>
                <a:spcPct val="180000"/>
              </a:lnSpc>
            </a:pPr>
            <a:r>
              <a:rPr lang="zh-CN" altLang="en-US" smtClean="0">
                <a:hlinkClick r:id="rId3" action="ppaction://hlinksldjump"/>
              </a:rPr>
              <a:t>思想</a:t>
            </a:r>
            <a:endParaRPr lang="zh-CN" altLang="en-US" smtClean="0"/>
          </a:p>
          <a:p>
            <a:pPr eaLnBrk="1" hangingPunct="1">
              <a:lnSpc>
                <a:spcPct val="180000"/>
              </a:lnSpc>
            </a:pPr>
            <a:r>
              <a:rPr lang="zh-CN" altLang="en-US" smtClean="0">
                <a:hlinkClick r:id="rId4" action="ppaction://hlinksldjump"/>
              </a:rPr>
              <a:t>实现</a:t>
            </a:r>
            <a:endParaRPr lang="zh-CN" altLang="en-US" smtClean="0"/>
          </a:p>
          <a:p>
            <a:pPr eaLnBrk="1" hangingPunct="1">
              <a:lnSpc>
                <a:spcPct val="180000"/>
              </a:lnSpc>
            </a:pPr>
            <a:r>
              <a:rPr lang="zh-CN" altLang="en-US" smtClean="0">
                <a:hlinkClick r:id="rId5" action="ppaction://hlinksldjump"/>
              </a:rPr>
              <a:t>举例</a:t>
            </a:r>
            <a:endParaRPr lang="zh-CN" altLang="en-US" smtClean="0"/>
          </a:p>
        </p:txBody>
      </p:sp>
      <p:sp>
        <p:nvSpPr>
          <p:cNvPr id="201733"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a:latin typeface="幼圆" panose="02010509060101010101" pitchFamily="49" charset="-122"/>
                <a:ea typeface="幼圆" panose="02010509060101010101" pitchFamily="49" charset="-122"/>
              </a:rPr>
              <a:t>2 </a:t>
            </a:r>
            <a:r>
              <a:rPr lang="zh-CN" altLang="en-US" sz="1200" b="0">
                <a:latin typeface="幼圆" panose="02010509060101010101" pitchFamily="49" charset="-122"/>
                <a:ea typeface="幼圆" panose="02010509060101010101" pitchFamily="49" charset="-122"/>
              </a:rPr>
              <a:t>之 </a:t>
            </a:r>
            <a:r>
              <a:rPr lang="en-US" altLang="zh-CN" sz="1200" b="0">
                <a:latin typeface="幼圆" panose="02010509060101010101" pitchFamily="49" charset="-122"/>
                <a:ea typeface="幼圆" panose="02010509060101010101" pitchFamily="49" charset="-122"/>
              </a:rPr>
              <a:t>2</a:t>
            </a:r>
            <a:endParaRPr lang="en-US" altLang="zh-CN"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4914" name="Rectangle 2"/>
          <p:cNvSpPr>
            <a:spLocks noGrp="1" noChangeArrowheads="1"/>
          </p:cNvSpPr>
          <p:nvPr>
            <p:ph type="title"/>
          </p:nvPr>
        </p:nvSpPr>
        <p:spPr/>
        <p:txBody>
          <a:bodyPr/>
          <a:lstStyle/>
          <a:p>
            <a:pPr eaLnBrk="1" hangingPunct="1">
              <a:defRPr/>
            </a:pPr>
            <a:r>
              <a:rPr lang="zh-CN" altLang="en-US" sz="5400" smtClean="0"/>
              <a:t>思  想</a:t>
            </a:r>
            <a:endParaRPr lang="zh-CN" altLang="en-US" sz="5400" smtClean="0"/>
          </a:p>
        </p:txBody>
      </p:sp>
      <p:sp>
        <p:nvSpPr>
          <p:cNvPr id="20275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综合应用</a:t>
            </a:r>
            <a:endParaRPr lang="zh-CN" altLang="en-US" sz="1200" b="0">
              <a:latin typeface="Times New Roman" panose="02020603050405020304" pitchFamily="18" charset="0"/>
              <a:ea typeface="幼圆" panose="02010509060101010101" pitchFamily="49" charset="-122"/>
            </a:endParaRPr>
          </a:p>
        </p:txBody>
      </p:sp>
      <p:sp>
        <p:nvSpPr>
          <p:cNvPr id="934917" name="Rectangle 5"/>
          <p:cNvSpPr>
            <a:spLocks noGrp="1" noChangeArrowheads="1"/>
          </p:cNvSpPr>
          <p:nvPr>
            <p:ph type="body" idx="1"/>
          </p:nvPr>
        </p:nvSpPr>
        <p:spPr/>
        <p:txBody>
          <a:bodyPr/>
          <a:lstStyle/>
          <a:p>
            <a:pPr marL="0" indent="0" eaLnBrk="1" hangingPunct="1">
              <a:lnSpc>
                <a:spcPct val="110000"/>
              </a:lnSpc>
              <a:buFont typeface="Wingdings" panose="05000000000000000000" pitchFamily="2" charset="2"/>
              <a:buNone/>
              <a:defRPr/>
            </a:pPr>
            <a:r>
              <a:rPr lang="zh-CN" altLang="en-US" smtClean="0"/>
              <a:t>       指令</a:t>
            </a:r>
            <a:r>
              <a:rPr lang="zh-CN" altLang="en-US" smtClean="0">
                <a:solidFill>
                  <a:srgbClr val="FF0000"/>
                </a:solidFill>
                <a:effectLst>
                  <a:outerShdw blurRad="38100" dist="38100" dir="2700000" algn="tl">
                    <a:srgbClr val="C0C0C0"/>
                  </a:outerShdw>
                </a:effectLst>
              </a:rPr>
              <a:t>按序发射、乱序执行、乱序完成和按序提交</a:t>
            </a:r>
            <a:r>
              <a:rPr lang="zh-CN" altLang="en-US" smtClean="0"/>
              <a:t>。在指令提交之前应该避免任何无法恢复的行为发生（即：指令执行之后产生的结果可以直接被其它指令使用，但不必做任何不能恢复的更新操作，直到确定该指令不是预测指令之后，才再做完更新操作），这样才能实现预测错误后的恢复和实现精确异常。</a:t>
            </a:r>
            <a:endParaRPr lang="zh-CN" altLang="en-US" smtClean="0"/>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3778" name="Text Box 2"/>
          <p:cNvSpPr txBox="1">
            <a:spLocks noChangeArrowheads="1"/>
          </p:cNvSpPr>
          <p:nvPr/>
        </p:nvSpPr>
        <p:spPr bwMode="auto">
          <a:xfrm>
            <a:off x="7391400" y="304800"/>
            <a:ext cx="1035050" cy="41910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vert="eaVert"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2800">
                <a:latin typeface="Comic Sans MS" panose="030F0702030302020204" pitchFamily="66" charset="0"/>
              </a:rPr>
              <a:t>Tomasulo+</a:t>
            </a:r>
            <a:r>
              <a:rPr lang="zh-CN" altLang="en-US" sz="2800">
                <a:latin typeface="Comic Sans MS" panose="030F0702030302020204" pitchFamily="66" charset="0"/>
              </a:rPr>
              <a:t>预测执行的</a:t>
            </a:r>
            <a:r>
              <a:rPr lang="en-US" altLang="zh-CN" sz="2800">
                <a:latin typeface="Comic Sans MS" panose="030F0702030302020204" pitchFamily="66" charset="0"/>
              </a:rPr>
              <a:t>MIPS</a:t>
            </a:r>
            <a:r>
              <a:rPr lang="zh-CN" altLang="en-US" sz="2800">
                <a:latin typeface="Comic Sans MS" panose="030F0702030302020204" pitchFamily="66" charset="0"/>
              </a:rPr>
              <a:t>浮点部件结构</a:t>
            </a:r>
            <a:endParaRPr lang="zh-CN" altLang="en-US" sz="2800">
              <a:latin typeface="Comic Sans MS" panose="030F0702030302020204" pitchFamily="66" charset="0"/>
            </a:endParaRPr>
          </a:p>
        </p:txBody>
      </p:sp>
      <p:pic>
        <p:nvPicPr>
          <p:cNvPr id="203779" name="Picture 159" descr="Ch3-fig29"/>
          <p:cNvPicPr>
            <a:picLocks noChangeAspect="1" noChangeArrowheads="1"/>
          </p:cNvPicPr>
          <p:nvPr/>
        </p:nvPicPr>
        <p:blipFill>
          <a:blip r:embed="rId1">
            <a:extLst>
              <a:ext uri="{28A0092B-C50C-407E-A947-70E740481C1C}">
                <a14:useLocalDpi xmlns:a14="http://schemas.microsoft.com/office/drawing/2010/main" val="0"/>
              </a:ext>
            </a:extLst>
          </a:blip>
          <a:srcRect b="12662"/>
          <a:stretch>
            <a:fillRect/>
          </a:stretch>
        </p:blipFill>
        <p:spPr bwMode="auto">
          <a:xfrm>
            <a:off x="457200" y="228600"/>
            <a:ext cx="6086475" cy="640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780" name="AutoShape 160"/>
          <p:cNvSpPr>
            <a:spLocks noChangeArrowheads="1"/>
          </p:cNvSpPr>
          <p:nvPr/>
        </p:nvSpPr>
        <p:spPr bwMode="auto">
          <a:xfrm>
            <a:off x="6781800" y="5105400"/>
            <a:ext cx="2057400" cy="1371600"/>
          </a:xfrm>
          <a:prstGeom prst="wedgeRectCallout">
            <a:avLst>
              <a:gd name="adj1" fmla="val -59801"/>
              <a:gd name="adj2" fmla="val -74190"/>
            </a:avLst>
          </a:prstGeom>
          <a:gradFill rotWithShape="0">
            <a:gsLst>
              <a:gs pos="0">
                <a:srgbClr val="FFFF00"/>
              </a:gs>
              <a:gs pos="100000">
                <a:srgbClr val="99FF66"/>
              </a:gs>
            </a:gsLst>
            <a:path path="rect">
              <a:fillToRect l="50000" t="50000" r="50000" b="50000"/>
            </a:path>
          </a:gradFill>
          <a:ln w="28575">
            <a:solidFill>
              <a:schemeClr val="tx1"/>
            </a:solidFill>
            <a:miter lim="800000"/>
          </a:ln>
          <a:effectLst>
            <a:outerShdw dist="107763" dir="2700000" algn="ctr" rotWithShape="0">
              <a:schemeClr val="bg2"/>
            </a:outerShdw>
          </a:effec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000">
                <a:latin typeface="楷体_GB2312" pitchFamily="49" charset="-122"/>
              </a:rPr>
              <a:t>主要改变：增加了</a:t>
            </a:r>
            <a:r>
              <a:rPr lang="en-US" altLang="zh-CN" sz="2000">
                <a:latin typeface="楷体_GB2312" pitchFamily="49" charset="-122"/>
              </a:rPr>
              <a:t>ROB，</a:t>
            </a:r>
            <a:r>
              <a:rPr lang="zh-CN" altLang="en-US" sz="2000">
                <a:latin typeface="楷体_GB2312" pitchFamily="49" charset="-122"/>
              </a:rPr>
              <a:t>去掉了写数缓冲器（可由</a:t>
            </a:r>
            <a:r>
              <a:rPr lang="en-US" altLang="zh-CN" sz="2000">
                <a:latin typeface="楷体_GB2312" pitchFamily="49" charset="-122"/>
              </a:rPr>
              <a:t>ROB</a:t>
            </a:r>
            <a:r>
              <a:rPr lang="zh-CN" altLang="en-US" sz="2000">
                <a:latin typeface="楷体_GB2312" pitchFamily="49" charset="-122"/>
              </a:rPr>
              <a:t>代替）。</a:t>
            </a:r>
            <a:endParaRPr lang="zh-CN" altLang="en-US" sz="2000">
              <a:latin typeface="楷体_GB2312" pitchFamily="49" charset="-122"/>
            </a:endParaRPr>
          </a:p>
        </p:txBody>
      </p:sp>
      <p:sp>
        <p:nvSpPr>
          <p:cNvPr id="938145" name="Rectangle 161"/>
          <p:cNvSpPr>
            <a:spLocks noChangeArrowheads="1"/>
          </p:cNvSpPr>
          <p:nvPr/>
        </p:nvSpPr>
        <p:spPr bwMode="auto">
          <a:xfrm>
            <a:off x="4648200" y="304800"/>
            <a:ext cx="1600200" cy="1295400"/>
          </a:xfrm>
          <a:prstGeom prst="rect">
            <a:avLst/>
          </a:prstGeom>
          <a:noFill/>
          <a:ln w="38100">
            <a:solidFill>
              <a:srgbClr val="FF0000"/>
            </a:solidFill>
            <a:prstDash val="sysDot"/>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buFont typeface="Wingdings" panose="05000000000000000000" pitchFamily="2" charset="2"/>
              <a:buNone/>
            </a:pPr>
            <a:endParaRPr lang="zh-CN" altLang="en-US" b="0">
              <a:latin typeface="Comic Sans MS" panose="030F0702030302020204" pitchFamily="66" charset="0"/>
              <a:ea typeface="宋体" panose="02010600030101010101" pitchFamily="2" charset="-122"/>
            </a:endParaRPr>
          </a:p>
        </p:txBody>
      </p:sp>
      <p:sp>
        <p:nvSpPr>
          <p:cNvPr id="203782" name="Text Box 16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6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938145"/>
                                        </p:tgtEl>
                                        <p:attrNameLst>
                                          <p:attrName>style.visibility</p:attrName>
                                        </p:attrNameLst>
                                      </p:cBhvr>
                                      <p:to>
                                        <p:strVal val="visible"/>
                                      </p:to>
                                    </p:set>
                                    <p:animEffect transition="in" filter="wipe(up)">
                                      <p:cBhvr>
                                        <p:cTn id="7" dur="500"/>
                                        <p:tgtEl>
                                          <p:spTgt spid="938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8145"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5941" name="Rectangle 5"/>
          <p:cNvSpPr>
            <a:spLocks noGrp="1" noChangeArrowheads="1"/>
          </p:cNvSpPr>
          <p:nvPr>
            <p:ph type="title"/>
          </p:nvPr>
        </p:nvSpPr>
        <p:spPr/>
        <p:txBody>
          <a:bodyPr/>
          <a:lstStyle/>
          <a:p>
            <a:pPr eaLnBrk="1" hangingPunct="1">
              <a:defRPr/>
            </a:pPr>
            <a:r>
              <a:rPr lang="zh-CN" altLang="en-US" dirty="0" smtClean="0"/>
              <a:t>重排序缓冲器</a:t>
            </a:r>
            <a:br>
              <a:rPr lang="zh-CN" altLang="en-US" dirty="0" smtClean="0"/>
            </a:br>
            <a:r>
              <a:rPr lang="zh-CN" altLang="en-US" sz="3200" b="1" dirty="0" smtClean="0"/>
              <a:t>(</a:t>
            </a:r>
            <a:r>
              <a:rPr lang="en-US" altLang="zh-CN" sz="3200" b="1" dirty="0" smtClean="0"/>
              <a:t>ROB)</a:t>
            </a:r>
            <a:endParaRPr lang="en-US" altLang="zh-CN" sz="3200" b="1" dirty="0" smtClean="0"/>
          </a:p>
        </p:txBody>
      </p:sp>
      <p:sp>
        <p:nvSpPr>
          <p:cNvPr id="935942" name="Rectangle 6"/>
          <p:cNvSpPr>
            <a:spLocks noGrp="1" noChangeArrowheads="1"/>
          </p:cNvSpPr>
          <p:nvPr>
            <p:ph type="body" idx="1"/>
          </p:nvPr>
        </p:nvSpPr>
        <p:spPr/>
        <p:txBody>
          <a:bodyPr/>
          <a:lstStyle/>
          <a:p>
            <a:pPr marL="0" indent="0" eaLnBrk="1" hangingPunct="1">
              <a:lnSpc>
                <a:spcPct val="110000"/>
              </a:lnSpc>
              <a:buFont typeface="Wingdings" panose="05000000000000000000" pitchFamily="2" charset="2"/>
              <a:buNone/>
              <a:defRPr/>
            </a:pPr>
            <a:r>
              <a:rPr lang="en-US" altLang="zh-CN" sz="2400" dirty="0" smtClean="0"/>
              <a:t>       ROB</a:t>
            </a:r>
            <a:r>
              <a:rPr lang="zh-CN" altLang="en-US" sz="2400" dirty="0" smtClean="0"/>
              <a:t>用于在指令执行结束和指令提交之间保存指令的执行结果：按</a:t>
            </a:r>
            <a:r>
              <a:rPr lang="en-US" altLang="zh-CN" sz="2400" dirty="0" smtClean="0"/>
              <a:t>FIFO</a:t>
            </a:r>
            <a:r>
              <a:rPr lang="zh-CN" altLang="en-US" sz="2400" dirty="0" smtClean="0"/>
              <a:t>的次序存放指令，即指令发射的次序；当指令执行完成时，将结果放在</a:t>
            </a:r>
            <a:r>
              <a:rPr lang="en-US" altLang="zh-CN" sz="2400" dirty="0" smtClean="0"/>
              <a:t>ROB；</a:t>
            </a:r>
            <a:r>
              <a:rPr lang="zh-CN" altLang="en-US" sz="2400" dirty="0" smtClean="0"/>
              <a:t>当指令提交时，将</a:t>
            </a:r>
            <a:r>
              <a:rPr lang="en-US" altLang="zh-CN" sz="2400" dirty="0" smtClean="0"/>
              <a:t>ROB</a:t>
            </a:r>
            <a:r>
              <a:rPr lang="zh-CN" altLang="en-US" sz="2400" dirty="0" smtClean="0"/>
              <a:t>顶部的数值放到寄存器中，数据结构为</a:t>
            </a:r>
            <a:r>
              <a:rPr lang="en-US" altLang="zh-CN" sz="2400" dirty="0" smtClean="0"/>
              <a:t>：</a:t>
            </a:r>
            <a:endParaRPr lang="en-US" altLang="zh-CN" sz="2400" dirty="0" smtClean="0"/>
          </a:p>
          <a:p>
            <a:pPr marL="0" indent="0" eaLnBrk="1" hangingPunct="1">
              <a:lnSpc>
                <a:spcPct val="110000"/>
              </a:lnSpc>
              <a:buClr>
                <a:srgbClr val="FF0000"/>
              </a:buClr>
              <a:defRPr/>
            </a:pPr>
            <a:r>
              <a:rPr lang="zh-CN" altLang="en-US" sz="2400" dirty="0" smtClean="0">
                <a:solidFill>
                  <a:srgbClr val="FF0000"/>
                </a:solidFill>
                <a:effectLst>
                  <a:outerShdw blurRad="38100" dist="38100" dir="2700000" algn="tl">
                    <a:srgbClr val="C0C0C0"/>
                  </a:outerShdw>
                </a:effectLst>
              </a:rPr>
              <a:t>  指令类型：</a:t>
            </a:r>
            <a:r>
              <a:rPr lang="zh-CN" altLang="en-US" sz="2400" dirty="0" smtClean="0"/>
              <a:t>用于指出指令是何种类型：分支（没有目的）/</a:t>
            </a:r>
            <a:r>
              <a:rPr lang="en-US" altLang="zh-CN" sz="2400" dirty="0" smtClean="0"/>
              <a:t>store（</a:t>
            </a:r>
            <a:r>
              <a:rPr lang="zh-CN" altLang="en-US" sz="2400" dirty="0" smtClean="0"/>
              <a:t>内存地址作为目的）/寄存器操作（</a:t>
            </a:r>
            <a:r>
              <a:rPr lang="en-US" altLang="zh-CN" sz="2400" dirty="0" smtClean="0"/>
              <a:t>ALU</a:t>
            </a:r>
            <a:r>
              <a:rPr lang="zh-CN" altLang="en-US" sz="2400" dirty="0" smtClean="0"/>
              <a:t>操作或</a:t>
            </a:r>
            <a:r>
              <a:rPr lang="en-US" altLang="zh-CN" sz="2400" dirty="0" smtClean="0"/>
              <a:t>load，</a:t>
            </a:r>
            <a:r>
              <a:rPr lang="zh-CN" altLang="en-US" sz="2400" dirty="0" smtClean="0"/>
              <a:t>寄存器作为目的）。</a:t>
            </a:r>
            <a:endParaRPr lang="zh-CN" altLang="en-US" sz="2400" dirty="0" smtClean="0"/>
          </a:p>
          <a:p>
            <a:pPr marL="0" indent="0" eaLnBrk="1" hangingPunct="1">
              <a:lnSpc>
                <a:spcPct val="110000"/>
              </a:lnSpc>
              <a:buClr>
                <a:srgbClr val="FF0000"/>
              </a:buClr>
              <a:defRPr/>
            </a:pPr>
            <a:r>
              <a:rPr lang="zh-CN" altLang="en-US" sz="2400" dirty="0" smtClean="0">
                <a:solidFill>
                  <a:srgbClr val="FF0000"/>
                </a:solidFill>
                <a:effectLst>
                  <a:outerShdw blurRad="38100" dist="38100" dir="2700000" algn="tl">
                    <a:srgbClr val="C0C0C0"/>
                  </a:outerShdw>
                </a:effectLst>
              </a:rPr>
              <a:t>  目的</a:t>
            </a:r>
            <a:r>
              <a:rPr lang="zh-CN" altLang="en-US" sz="2400" dirty="0">
                <a:solidFill>
                  <a:srgbClr val="FF0000"/>
                </a:solidFill>
                <a:effectLst>
                  <a:outerShdw blurRad="38100" dist="38100" dir="2700000" algn="tl">
                    <a:srgbClr val="C0C0C0"/>
                  </a:outerShdw>
                </a:effectLst>
              </a:rPr>
              <a:t>地址</a:t>
            </a:r>
            <a:r>
              <a:rPr lang="zh-CN" altLang="en-US" sz="2400" dirty="0" smtClean="0">
                <a:solidFill>
                  <a:srgbClr val="FF0000"/>
                </a:solidFill>
                <a:effectLst>
                  <a:outerShdw blurRad="38100" dist="38100" dir="2700000" algn="tl">
                    <a:srgbClr val="C0C0C0"/>
                  </a:outerShdw>
                </a:effectLst>
              </a:rPr>
              <a:t>：</a:t>
            </a:r>
            <a:r>
              <a:rPr lang="zh-CN" altLang="en-US" sz="2400" dirty="0" smtClean="0"/>
              <a:t>寄存器号</a:t>
            </a:r>
            <a:r>
              <a:rPr lang="en-US" altLang="zh-CN" sz="2400" dirty="0" smtClean="0"/>
              <a:t>(ALU</a:t>
            </a:r>
            <a:r>
              <a:rPr lang="zh-CN" altLang="en-US" sz="2400" dirty="0" smtClean="0"/>
              <a:t>/</a:t>
            </a:r>
            <a:r>
              <a:rPr lang="en-US" altLang="zh-CN" sz="2400" dirty="0" smtClean="0"/>
              <a:t>load)/</a:t>
            </a:r>
            <a:r>
              <a:rPr lang="zh-CN" altLang="en-US" sz="2400" dirty="0" smtClean="0"/>
              <a:t>内存地址</a:t>
            </a:r>
            <a:r>
              <a:rPr lang="en-US" altLang="zh-CN" sz="2400" dirty="0" smtClean="0"/>
              <a:t>(store)。</a:t>
            </a:r>
            <a:endParaRPr lang="en-US" altLang="zh-CN" sz="2400" dirty="0" smtClean="0"/>
          </a:p>
          <a:p>
            <a:pPr marL="0" indent="0" eaLnBrk="1" hangingPunct="1">
              <a:lnSpc>
                <a:spcPct val="110000"/>
              </a:lnSpc>
              <a:buClr>
                <a:srgbClr val="FF0000"/>
              </a:buClr>
              <a:defRPr/>
            </a:pPr>
            <a:r>
              <a:rPr lang="zh-CN" altLang="en-US" sz="2400" dirty="0" smtClean="0"/>
              <a:t>  </a:t>
            </a:r>
            <a:r>
              <a:rPr lang="zh-CN" altLang="en-US" sz="2400" dirty="0" smtClean="0">
                <a:solidFill>
                  <a:srgbClr val="FF0000"/>
                </a:solidFill>
                <a:effectLst>
                  <a:outerShdw blurRad="38100" dist="38100" dir="2700000" algn="tl">
                    <a:srgbClr val="C0C0C0"/>
                  </a:outerShdw>
                </a:effectLst>
              </a:rPr>
              <a:t>数值字段：</a:t>
            </a:r>
            <a:r>
              <a:rPr lang="zh-CN" altLang="en-US" sz="2400" dirty="0" smtClean="0"/>
              <a:t>保存指令提交前的结果。</a:t>
            </a:r>
            <a:endParaRPr lang="zh-CN" altLang="en-US" sz="2400" dirty="0" smtClean="0"/>
          </a:p>
          <a:p>
            <a:pPr marL="0" indent="0" eaLnBrk="1" hangingPunct="1">
              <a:lnSpc>
                <a:spcPct val="110000"/>
              </a:lnSpc>
              <a:buClr>
                <a:srgbClr val="FF0000"/>
              </a:buClr>
              <a:defRPr/>
            </a:pPr>
            <a:r>
              <a:rPr lang="zh-CN" altLang="en-US" sz="2400" dirty="0" smtClean="0">
                <a:solidFill>
                  <a:srgbClr val="FF0000"/>
                </a:solidFill>
                <a:effectLst>
                  <a:outerShdw blurRad="38100" dist="38100" dir="2700000" algn="tl">
                    <a:srgbClr val="C0C0C0"/>
                  </a:outerShdw>
                </a:effectLst>
              </a:rPr>
              <a:t>  就绪字段：</a:t>
            </a:r>
            <a:r>
              <a:rPr lang="zh-CN" altLang="en-US" sz="2400" dirty="0" smtClean="0"/>
              <a:t>表示指令是否已经执行结束/结果就绪？</a:t>
            </a:r>
            <a:endParaRPr lang="zh-CN" altLang="en-US" sz="2400" dirty="0" smtClean="0"/>
          </a:p>
        </p:txBody>
      </p:sp>
      <p:sp>
        <p:nvSpPr>
          <p:cNvPr id="204804"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综合应用</a:t>
            </a:r>
            <a:endParaRPr lang="zh-CN" altLang="en-US" sz="1200" b="0">
              <a:latin typeface="Times New Roman" panose="02020603050405020304" pitchFamily="18" charset="0"/>
              <a:ea typeface="幼圆" panose="02010509060101010101" pitchFamily="49" charset="-122"/>
            </a:endParaRPr>
          </a:p>
        </p:txBody>
      </p:sp>
      <p:sp>
        <p:nvSpPr>
          <p:cNvPr id="204805"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6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2"/>
          <p:cNvSpPr>
            <a:spLocks noGrp="1" noChangeArrowheads="1"/>
          </p:cNvSpPr>
          <p:nvPr>
            <p:ph type="title"/>
          </p:nvPr>
        </p:nvSpPr>
        <p:spPr/>
        <p:txBody>
          <a:bodyPr/>
          <a:lstStyle/>
          <a:p>
            <a:pPr eaLnBrk="1" hangingPunct="1">
              <a:defRPr/>
            </a:pPr>
            <a:r>
              <a:rPr lang="zh-CN" altLang="en-US" dirty="0" smtClean="0"/>
              <a:t>指令执行过程</a:t>
            </a:r>
            <a:br>
              <a:rPr lang="zh-CN" altLang="en-US" dirty="0" smtClean="0"/>
            </a:br>
            <a:r>
              <a:rPr lang="zh-CN" altLang="en-US" dirty="0" smtClean="0"/>
              <a:t>                       </a:t>
            </a:r>
            <a:r>
              <a:rPr lang="zh-CN" altLang="en-US" sz="3200" dirty="0" smtClean="0"/>
              <a:t>— 之一</a:t>
            </a:r>
            <a:endParaRPr lang="en-US" altLang="zh-CN" sz="3200" dirty="0" smtClean="0"/>
          </a:p>
        </p:txBody>
      </p:sp>
      <p:sp>
        <p:nvSpPr>
          <p:cNvPr id="20582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综合应用</a:t>
            </a:r>
            <a:endParaRPr lang="zh-CN" altLang="en-US" sz="1200" b="0">
              <a:latin typeface="Times New Roman" panose="02020603050405020304" pitchFamily="18" charset="0"/>
              <a:ea typeface="幼圆" panose="02010509060101010101" pitchFamily="49" charset="-122"/>
            </a:endParaRPr>
          </a:p>
        </p:txBody>
      </p:sp>
      <p:sp>
        <p:nvSpPr>
          <p:cNvPr id="940037" name="Rectangle 5"/>
          <p:cNvSpPr>
            <a:spLocks noGrp="1" noChangeArrowheads="1"/>
          </p:cNvSpPr>
          <p:nvPr>
            <p:ph type="body" idx="1"/>
          </p:nvPr>
        </p:nvSpPr>
        <p:spPr>
          <a:xfrm>
            <a:off x="809625" y="1989138"/>
            <a:ext cx="8154988" cy="4608512"/>
          </a:xfrm>
        </p:spPr>
        <p:txBody>
          <a:bodyPr/>
          <a:lstStyle/>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发射</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defRPr/>
            </a:pPr>
            <a:r>
              <a:rPr lang="zh-CN" altLang="en-US" sz="2800" dirty="0" smtClean="0"/>
              <a:t>    从浮点操作队列中取得一条指令。如果相应保留站和</a:t>
            </a:r>
            <a:r>
              <a:rPr lang="zh-CN" altLang="en-US" sz="2800" dirty="0">
                <a:solidFill>
                  <a:srgbClr val="0000FF"/>
                </a:solidFill>
              </a:rPr>
              <a:t>重</a:t>
            </a:r>
            <a:r>
              <a:rPr lang="zh-CN" altLang="en-US" sz="2800" dirty="0" smtClean="0">
                <a:solidFill>
                  <a:srgbClr val="0000FF"/>
                </a:solidFill>
              </a:rPr>
              <a:t>排序缓冲器</a:t>
            </a:r>
            <a:r>
              <a:rPr lang="en-US" altLang="zh-CN" sz="2800" dirty="0" smtClean="0">
                <a:solidFill>
                  <a:srgbClr val="0000FF"/>
                </a:solidFill>
              </a:rPr>
              <a:t>ROB</a:t>
            </a:r>
            <a:r>
              <a:rPr lang="zh-CN" altLang="en-US" sz="2800" dirty="0" smtClean="0">
                <a:solidFill>
                  <a:srgbClr val="0000FF"/>
                </a:solidFill>
              </a:rPr>
              <a:t>空闲</a:t>
            </a:r>
            <a:r>
              <a:rPr lang="zh-CN" altLang="en-US" sz="2800" dirty="0" smtClean="0"/>
              <a:t>（即：没有结构</a:t>
            </a:r>
            <a:r>
              <a:rPr lang="en-US" altLang="zh-CN" sz="2800" dirty="0" smtClean="0"/>
              <a:t>/</a:t>
            </a:r>
            <a:r>
              <a:rPr lang="zh-CN" altLang="en-US" sz="2800" dirty="0" smtClean="0"/>
              <a:t>资源冲突），则可以发射指令和发送数据。</a:t>
            </a:r>
            <a:endParaRPr lang="zh-CN" altLang="en-US" sz="2800" dirty="0" smtClean="0"/>
          </a:p>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执行</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defRPr/>
            </a:pPr>
            <a:r>
              <a:rPr lang="zh-CN" altLang="en-US" sz="2800" dirty="0" smtClean="0"/>
              <a:t>    对操作数进行相应的操作。当指令所需要的源操作数都准备好，就可以执行该运算；否则监视</a:t>
            </a:r>
            <a:r>
              <a:rPr lang="en-US" altLang="zh-CN" sz="2800" dirty="0" smtClean="0"/>
              <a:t>CDB</a:t>
            </a:r>
            <a:r>
              <a:rPr lang="zh-CN" altLang="en-US" sz="2800" dirty="0" smtClean="0"/>
              <a:t>等待源操作数。</a:t>
            </a:r>
            <a:endParaRPr lang="zh-CN" altLang="en-US" sz="2800" dirty="0" smtClean="0"/>
          </a:p>
        </p:txBody>
      </p:sp>
      <p:sp>
        <p:nvSpPr>
          <p:cNvPr id="205829"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6 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1058" name="Rectangle 2"/>
          <p:cNvSpPr>
            <a:spLocks noGrp="1" noChangeArrowheads="1"/>
          </p:cNvSpPr>
          <p:nvPr>
            <p:ph type="title"/>
          </p:nvPr>
        </p:nvSpPr>
        <p:spPr/>
        <p:txBody>
          <a:bodyPr/>
          <a:lstStyle/>
          <a:p>
            <a:pPr eaLnBrk="1" hangingPunct="1">
              <a:defRPr/>
            </a:pPr>
            <a:r>
              <a:rPr lang="zh-CN" altLang="en-US" dirty="0" smtClean="0"/>
              <a:t>指令执行过程</a:t>
            </a:r>
            <a:br>
              <a:rPr lang="zh-CN" altLang="en-US" dirty="0" smtClean="0"/>
            </a:br>
            <a:r>
              <a:rPr lang="zh-CN" altLang="en-US" dirty="0" smtClean="0"/>
              <a:t>                       </a:t>
            </a:r>
            <a:r>
              <a:rPr lang="zh-CN" altLang="en-US" sz="3200" dirty="0" smtClean="0"/>
              <a:t>— 之二</a:t>
            </a:r>
            <a:endParaRPr lang="en-US" altLang="zh-CN" sz="3200" dirty="0" smtClean="0"/>
          </a:p>
        </p:txBody>
      </p:sp>
      <p:sp>
        <p:nvSpPr>
          <p:cNvPr id="2068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综合应用</a:t>
            </a:r>
            <a:endParaRPr lang="zh-CN" altLang="en-US" sz="1200" b="0">
              <a:latin typeface="Times New Roman" panose="02020603050405020304" pitchFamily="18" charset="0"/>
              <a:ea typeface="幼圆" panose="02010509060101010101" pitchFamily="49" charset="-122"/>
            </a:endParaRPr>
          </a:p>
        </p:txBody>
      </p:sp>
      <p:sp>
        <p:nvSpPr>
          <p:cNvPr id="941060" name="Rectangle 4"/>
          <p:cNvSpPr>
            <a:spLocks noGrp="1" noChangeArrowheads="1"/>
          </p:cNvSpPr>
          <p:nvPr>
            <p:ph type="body" idx="1"/>
          </p:nvPr>
        </p:nvSpPr>
        <p:spPr>
          <a:xfrm>
            <a:off x="809625" y="1989138"/>
            <a:ext cx="7958138" cy="4564062"/>
          </a:xfrm>
        </p:spPr>
        <p:txBody>
          <a:bodyPr/>
          <a:lstStyle/>
          <a:p>
            <a:pPr marL="0" indent="0" eaLnBrk="1" hangingPunct="1">
              <a:lnSpc>
                <a:spcPct val="105000"/>
              </a:lnSpc>
              <a:buClr>
                <a:srgbClr val="FF0000"/>
              </a:buClr>
              <a:defRPr/>
            </a:pPr>
            <a:r>
              <a:rPr lang="zh-CN" altLang="en-US" sz="2800" dirty="0" smtClean="0">
                <a:solidFill>
                  <a:srgbClr val="FF0000"/>
                </a:solidFill>
                <a:effectLst>
                  <a:outerShdw blurRad="38100" dist="38100" dir="2700000" algn="tl">
                    <a:srgbClr val="C0C0C0"/>
                  </a:outerShdw>
                </a:effectLst>
              </a:rPr>
              <a:t>  写回结果</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05000"/>
              </a:lnSpc>
              <a:buFont typeface="Wingdings" panose="05000000000000000000" pitchFamily="2" charset="2"/>
              <a:buNone/>
              <a:defRPr/>
            </a:pPr>
            <a:r>
              <a:rPr lang="zh-CN" altLang="en-US" sz="2800" dirty="0" smtClean="0"/>
              <a:t>    当计算结果出来之后，送至</a:t>
            </a:r>
            <a:r>
              <a:rPr lang="en-US" altLang="zh-CN" sz="2800" dirty="0" smtClean="0"/>
              <a:t>CDB，</a:t>
            </a:r>
            <a:r>
              <a:rPr lang="zh-CN" altLang="en-US" sz="2800" dirty="0" smtClean="0">
                <a:solidFill>
                  <a:srgbClr val="0000FF"/>
                </a:solidFill>
              </a:rPr>
              <a:t>再从</a:t>
            </a:r>
            <a:r>
              <a:rPr lang="en-US" altLang="zh-CN" sz="2800" dirty="0" smtClean="0">
                <a:solidFill>
                  <a:srgbClr val="0000FF"/>
                </a:solidFill>
              </a:rPr>
              <a:t>CDB</a:t>
            </a:r>
            <a:r>
              <a:rPr lang="zh-CN" altLang="en-US" sz="2800" dirty="0" smtClean="0">
                <a:solidFill>
                  <a:srgbClr val="0000FF"/>
                </a:solidFill>
              </a:rPr>
              <a:t>写入重排序缓冲器</a:t>
            </a:r>
            <a:r>
              <a:rPr lang="en-US" altLang="zh-CN" sz="2800" dirty="0" smtClean="0">
                <a:solidFill>
                  <a:srgbClr val="0000FF"/>
                </a:solidFill>
              </a:rPr>
              <a:t>ROB</a:t>
            </a:r>
            <a:r>
              <a:rPr lang="zh-CN" altLang="en-US" sz="2800" dirty="0" smtClean="0">
                <a:solidFill>
                  <a:srgbClr val="0000FF"/>
                </a:solidFill>
              </a:rPr>
              <a:t>，</a:t>
            </a:r>
            <a:r>
              <a:rPr lang="zh-CN" altLang="en-US" sz="2800" dirty="0" smtClean="0"/>
              <a:t>从而可以送到任何等待该结果的保留站中。</a:t>
            </a:r>
            <a:endParaRPr lang="zh-CN" altLang="en-US" sz="2800" dirty="0" smtClean="0"/>
          </a:p>
          <a:p>
            <a:pPr marL="0" indent="0" eaLnBrk="1" hangingPunct="1">
              <a:lnSpc>
                <a:spcPct val="105000"/>
              </a:lnSpc>
              <a:buClr>
                <a:srgbClr val="FF0000"/>
              </a:buClr>
              <a:defRPr/>
            </a:pPr>
            <a:r>
              <a:rPr lang="zh-CN" altLang="en-US" sz="2800" dirty="0" smtClean="0">
                <a:solidFill>
                  <a:srgbClr val="FF0000"/>
                </a:solidFill>
                <a:effectLst>
                  <a:outerShdw blurRad="38100" dist="38100" dir="2700000" algn="tl">
                    <a:srgbClr val="C0C0C0"/>
                  </a:outerShdw>
                </a:effectLst>
              </a:rPr>
              <a:t>  提交</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05000"/>
              </a:lnSpc>
              <a:buFont typeface="Wingdings" panose="05000000000000000000" pitchFamily="2" charset="2"/>
              <a:buNone/>
              <a:defRPr/>
            </a:pPr>
            <a:r>
              <a:rPr lang="zh-CN" altLang="en-US" sz="2800" dirty="0" smtClean="0"/>
              <a:t>    </a:t>
            </a:r>
            <a:r>
              <a:rPr lang="zh-CN" altLang="en-US" sz="2800" dirty="0" smtClean="0">
                <a:solidFill>
                  <a:srgbClr val="0000FF"/>
                </a:solidFill>
              </a:rPr>
              <a:t>当一个指令到达</a:t>
            </a:r>
            <a:r>
              <a:rPr lang="en-US" altLang="zh-CN" sz="2800" dirty="0" smtClean="0">
                <a:solidFill>
                  <a:srgbClr val="0000FF"/>
                </a:solidFill>
              </a:rPr>
              <a:t>ROB</a:t>
            </a:r>
            <a:r>
              <a:rPr lang="zh-CN" altLang="en-US" sz="2800" dirty="0" smtClean="0">
                <a:solidFill>
                  <a:srgbClr val="0000FF"/>
                </a:solidFill>
              </a:rPr>
              <a:t>的头部时，如果是预测错误的分支指令，则从</a:t>
            </a:r>
            <a:r>
              <a:rPr lang="en-US" altLang="zh-CN" sz="2800" dirty="0" smtClean="0">
                <a:solidFill>
                  <a:srgbClr val="0000FF"/>
                </a:solidFill>
              </a:rPr>
              <a:t>ROB</a:t>
            </a:r>
            <a:r>
              <a:rPr lang="zh-CN" altLang="en-US" sz="2800" dirty="0" smtClean="0">
                <a:solidFill>
                  <a:srgbClr val="0000FF"/>
                </a:solidFill>
              </a:rPr>
              <a:t>中去除该指令并从分支的正确方向开始执行；否则用</a:t>
            </a:r>
            <a:r>
              <a:rPr lang="en-US" altLang="zh-CN" sz="2800" dirty="0" smtClean="0">
                <a:solidFill>
                  <a:srgbClr val="0000FF"/>
                </a:solidFill>
              </a:rPr>
              <a:t>ROB</a:t>
            </a:r>
            <a:r>
              <a:rPr lang="zh-CN" altLang="en-US" sz="2800" dirty="0" smtClean="0">
                <a:solidFill>
                  <a:srgbClr val="0000FF"/>
                </a:solidFill>
              </a:rPr>
              <a:t>中的值更新相应寄存器/内存单元，并从</a:t>
            </a:r>
            <a:r>
              <a:rPr lang="en-US" altLang="zh-CN" sz="2800" dirty="0" smtClean="0">
                <a:solidFill>
                  <a:srgbClr val="0000FF"/>
                </a:solidFill>
              </a:rPr>
              <a:t>ROB</a:t>
            </a:r>
            <a:r>
              <a:rPr lang="zh-CN" altLang="en-US" sz="2800" dirty="0" smtClean="0">
                <a:solidFill>
                  <a:srgbClr val="0000FF"/>
                </a:solidFill>
              </a:rPr>
              <a:t>中去除该指令。</a:t>
            </a:r>
            <a:endParaRPr lang="zh-CN" altLang="en-US" sz="2800" dirty="0" smtClean="0">
              <a:solidFill>
                <a:srgbClr val="0000FF"/>
              </a:solidFill>
            </a:endParaRPr>
          </a:p>
        </p:txBody>
      </p:sp>
      <p:sp>
        <p:nvSpPr>
          <p:cNvPr id="206853"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6 之 4</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07874" name="Picture 7"/>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61975" y="577850"/>
            <a:ext cx="8201025" cy="616267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7875" name="Text Box 8"/>
          <p:cNvSpPr txBox="1">
            <a:spLocks noChangeArrowheads="1"/>
          </p:cNvSpPr>
          <p:nvPr/>
        </p:nvSpPr>
        <p:spPr bwMode="auto">
          <a:xfrm>
            <a:off x="3206750" y="79375"/>
            <a:ext cx="3124200" cy="396875"/>
          </a:xfrm>
          <a:prstGeom prst="rect">
            <a:avLst/>
          </a:prstGeom>
          <a:solidFill>
            <a:srgbClr val="FFFF00"/>
          </a:solidFill>
          <a:ln>
            <a:noFill/>
          </a:ln>
          <a:effectLst>
            <a:outerShdw dist="35921"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000">
                <a:latin typeface="Comic Sans MS" panose="030F0702030302020204" pitchFamily="66" charset="0"/>
              </a:rPr>
              <a:t>指令执行的具体过程</a:t>
            </a:r>
            <a:endParaRPr lang="zh-CN" altLang="en-US" sz="2000">
              <a:latin typeface="Comic Sans MS" panose="030F0702030302020204" pitchFamily="66" charset="0"/>
            </a:endParaRPr>
          </a:p>
        </p:txBody>
      </p:sp>
      <p:sp>
        <p:nvSpPr>
          <p:cNvPr id="207876" name="Text Box 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6 之 5</a:t>
            </a:r>
            <a:endParaRPr lang="zh-CN" altLang="en-US" sz="1200" b="0">
              <a:latin typeface="幼圆" panose="02010509060101010101" pitchFamily="49" charset="-122"/>
              <a:ea typeface="幼圆" panose="02010509060101010101" pitchFamily="49" charset="-122"/>
            </a:endParaRPr>
          </a:p>
        </p:txBody>
      </p:sp>
      <p:pic>
        <p:nvPicPr>
          <p:cNvPr id="264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16808" y="2787790"/>
            <a:ext cx="210370" cy="142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457" y="2115438"/>
            <a:ext cx="133350" cy="142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8898" name="Text Box 3"/>
          <p:cNvSpPr txBox="1">
            <a:spLocks noChangeArrowheads="1"/>
          </p:cNvSpPr>
          <p:nvPr/>
        </p:nvSpPr>
        <p:spPr bwMode="auto">
          <a:xfrm>
            <a:off x="2971800" y="1371600"/>
            <a:ext cx="3124200" cy="396875"/>
          </a:xfrm>
          <a:prstGeom prst="rect">
            <a:avLst/>
          </a:prstGeom>
          <a:solidFill>
            <a:srgbClr val="FFFF00"/>
          </a:solidFill>
          <a:ln>
            <a:noFill/>
          </a:ln>
          <a:effectLst>
            <a:outerShdw dist="35921"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000">
                <a:latin typeface="Comic Sans MS" panose="030F0702030302020204" pitchFamily="66" charset="0"/>
              </a:rPr>
              <a:t>指令执行的具体过程</a:t>
            </a:r>
            <a:endParaRPr lang="zh-CN" altLang="en-US" sz="2000">
              <a:latin typeface="Comic Sans MS" panose="030F0702030302020204" pitchFamily="66" charset="0"/>
            </a:endParaRPr>
          </a:p>
        </p:txBody>
      </p:sp>
      <p:grpSp>
        <p:nvGrpSpPr>
          <p:cNvPr id="208899" name="Group 8"/>
          <p:cNvGrpSpPr/>
          <p:nvPr/>
        </p:nvGrpSpPr>
        <p:grpSpPr bwMode="auto">
          <a:xfrm>
            <a:off x="457200" y="2286000"/>
            <a:ext cx="8181975" cy="3124200"/>
            <a:chOff x="288" y="960"/>
            <a:chExt cx="5154" cy="1968"/>
          </a:xfrm>
        </p:grpSpPr>
        <p:pic>
          <p:nvPicPr>
            <p:cNvPr id="208901" name="Picture 4"/>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88" y="960"/>
              <a:ext cx="5154" cy="76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8902"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8" y="1728"/>
              <a:ext cx="5154" cy="1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8900"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6 之 6</a:t>
            </a:r>
            <a:endParaRPr lang="zh-CN" altLang="en-US" sz="1200" b="0">
              <a:latin typeface="幼圆" panose="02010509060101010101" pitchFamily="49" charset="-122"/>
              <a:ea typeface="幼圆" panose="02010509060101010101" pitchFamily="49" charset="-122"/>
            </a:endParaRPr>
          </a:p>
        </p:txBody>
      </p:sp>
      <p:pic>
        <p:nvPicPr>
          <p:cNvPr id="2652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19749" y="2401465"/>
            <a:ext cx="480243" cy="15367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52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98460" y="2385150"/>
            <a:ext cx="326735" cy="1769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6962" name="Rectangle 2"/>
          <p:cNvSpPr>
            <a:spLocks noGrp="1" noChangeArrowheads="1"/>
          </p:cNvSpPr>
          <p:nvPr>
            <p:ph type="title"/>
          </p:nvPr>
        </p:nvSpPr>
        <p:spPr/>
        <p:txBody>
          <a:bodyPr/>
          <a:lstStyle/>
          <a:p>
            <a:pPr eaLnBrk="1" hangingPunct="1">
              <a:defRPr/>
            </a:pPr>
            <a:r>
              <a:rPr lang="zh-CN" altLang="en-US" sz="5400" smtClean="0"/>
              <a:t>举  例</a:t>
            </a:r>
            <a:endParaRPr lang="zh-CN" altLang="en-US" sz="5400" smtClean="0"/>
          </a:p>
        </p:txBody>
      </p:sp>
      <p:sp>
        <p:nvSpPr>
          <p:cNvPr id="2099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综合应用</a:t>
            </a:r>
            <a:endParaRPr lang="zh-CN" altLang="en-US" sz="1200" b="0">
              <a:latin typeface="Times New Roman" panose="02020603050405020304" pitchFamily="18" charset="0"/>
              <a:ea typeface="幼圆" panose="02010509060101010101" pitchFamily="49" charset="-122"/>
            </a:endParaRPr>
          </a:p>
        </p:txBody>
      </p:sp>
      <p:sp>
        <p:nvSpPr>
          <p:cNvPr id="936965" name="Rectangle 5"/>
          <p:cNvSpPr>
            <a:spLocks noGrp="1" noChangeArrowheads="1"/>
          </p:cNvSpPr>
          <p:nvPr>
            <p:ph type="body" sz="half" idx="1"/>
          </p:nvPr>
        </p:nvSpPr>
        <p:spPr>
          <a:xfrm>
            <a:off x="809625" y="1989138"/>
            <a:ext cx="3902075" cy="4411662"/>
          </a:xfrm>
          <a:solidFill>
            <a:srgbClr val="FFFF99"/>
          </a:solidFill>
          <a:ln w="57150" cmpd="thickThin">
            <a:solidFill>
              <a:schemeClr val="tx1"/>
            </a:solidFill>
            <a:miter lim="800000"/>
          </a:ln>
        </p:spPr>
        <p:txBody>
          <a:bodyPr/>
          <a:lstStyle/>
          <a:p>
            <a:pPr eaLnBrk="1" hangingPunct="1">
              <a:lnSpc>
                <a:spcPct val="120000"/>
              </a:lnSpc>
              <a:buClr>
                <a:srgbClr val="FF0000"/>
              </a:buClr>
              <a:tabLst>
                <a:tab pos="476250" algn="l"/>
                <a:tab pos="1803400" algn="l"/>
              </a:tabLst>
              <a:defRPr/>
            </a:pPr>
            <a:r>
              <a:rPr lang="zh-CN" altLang="en-US" sz="2800" smtClean="0">
                <a:solidFill>
                  <a:srgbClr val="FF0000"/>
                </a:solidFill>
                <a:effectLst>
                  <a:outerShdw blurRad="38100" dist="38100" dir="2700000" algn="tl">
                    <a:srgbClr val="000000"/>
                  </a:outerShdw>
                </a:effectLst>
              </a:rPr>
              <a:t>程序</a:t>
            </a:r>
            <a:endParaRPr lang="zh-CN" altLang="en-US" sz="2800" smtClean="0">
              <a:solidFill>
                <a:srgbClr val="FF0000"/>
              </a:solidFill>
              <a:effectLst>
                <a:outerShdw blurRad="38100" dist="38100" dir="2700000" algn="tl">
                  <a:srgbClr val="000000"/>
                </a:outerShdw>
              </a:effectLst>
            </a:endParaRPr>
          </a:p>
          <a:p>
            <a:pPr eaLnBrk="1" hangingPunct="1">
              <a:lnSpc>
                <a:spcPct val="120000"/>
              </a:lnSpc>
              <a:buFont typeface="Wingdings" panose="05000000000000000000" pitchFamily="2" charset="2"/>
              <a:buNone/>
              <a:tabLst>
                <a:tab pos="476250" algn="l"/>
                <a:tab pos="1803400" algn="l"/>
              </a:tabLst>
              <a:defRPr/>
            </a:pPr>
            <a:r>
              <a:rPr lang="en-US" altLang="zh-CN" sz="2800" smtClean="0"/>
              <a:t>	L.D 	F6,34(R2)</a:t>
            </a:r>
            <a:endParaRPr lang="en-US" altLang="zh-CN" sz="2800" smtClean="0"/>
          </a:p>
          <a:p>
            <a:pPr eaLnBrk="1" hangingPunct="1">
              <a:lnSpc>
                <a:spcPct val="120000"/>
              </a:lnSpc>
              <a:buFont typeface="Wingdings" panose="05000000000000000000" pitchFamily="2" charset="2"/>
              <a:buNone/>
              <a:tabLst>
                <a:tab pos="476250" algn="l"/>
                <a:tab pos="1803400" algn="l"/>
              </a:tabLst>
              <a:defRPr/>
            </a:pPr>
            <a:r>
              <a:rPr lang="en-US" altLang="zh-CN" sz="2800" smtClean="0"/>
              <a:t>	L.D 	F2,45(R3)</a:t>
            </a:r>
            <a:endParaRPr lang="en-US" altLang="zh-CN" sz="2800" smtClean="0"/>
          </a:p>
          <a:p>
            <a:pPr eaLnBrk="1" hangingPunct="1">
              <a:lnSpc>
                <a:spcPct val="120000"/>
              </a:lnSpc>
              <a:buFont typeface="Wingdings" panose="05000000000000000000" pitchFamily="2" charset="2"/>
              <a:buNone/>
              <a:tabLst>
                <a:tab pos="476250" algn="l"/>
                <a:tab pos="1803400" algn="l"/>
              </a:tabLst>
              <a:defRPr/>
            </a:pPr>
            <a:r>
              <a:rPr lang="en-US" altLang="zh-CN" sz="2800" smtClean="0"/>
              <a:t>	MUL.D 	F0,F2,F4</a:t>
            </a:r>
            <a:endParaRPr lang="en-US" altLang="zh-CN" sz="2800" smtClean="0"/>
          </a:p>
          <a:p>
            <a:pPr eaLnBrk="1" hangingPunct="1">
              <a:lnSpc>
                <a:spcPct val="120000"/>
              </a:lnSpc>
              <a:buFont typeface="Wingdings" panose="05000000000000000000" pitchFamily="2" charset="2"/>
              <a:buNone/>
              <a:tabLst>
                <a:tab pos="476250" algn="l"/>
                <a:tab pos="1803400" algn="l"/>
              </a:tabLst>
              <a:defRPr/>
            </a:pPr>
            <a:r>
              <a:rPr lang="en-US" altLang="zh-CN" sz="2800" smtClean="0"/>
              <a:t>	SUB.D 	F8,F2,F6</a:t>
            </a:r>
            <a:endParaRPr lang="en-US" altLang="zh-CN" sz="2800" smtClean="0"/>
          </a:p>
          <a:p>
            <a:pPr eaLnBrk="1" hangingPunct="1">
              <a:lnSpc>
                <a:spcPct val="120000"/>
              </a:lnSpc>
              <a:buFont typeface="Wingdings" panose="05000000000000000000" pitchFamily="2" charset="2"/>
              <a:buNone/>
              <a:tabLst>
                <a:tab pos="476250" algn="l"/>
                <a:tab pos="1803400" algn="l"/>
              </a:tabLst>
              <a:defRPr/>
            </a:pPr>
            <a:r>
              <a:rPr lang="en-US" altLang="zh-CN" sz="2800" smtClean="0"/>
              <a:t>	DIV.D 	F10,F0,F6</a:t>
            </a:r>
            <a:endParaRPr lang="en-US" altLang="zh-CN" sz="2800" smtClean="0"/>
          </a:p>
          <a:p>
            <a:pPr eaLnBrk="1" hangingPunct="1">
              <a:lnSpc>
                <a:spcPct val="120000"/>
              </a:lnSpc>
              <a:buFont typeface="Wingdings" panose="05000000000000000000" pitchFamily="2" charset="2"/>
              <a:buNone/>
              <a:tabLst>
                <a:tab pos="476250" algn="l"/>
                <a:tab pos="1803400" algn="l"/>
              </a:tabLst>
              <a:defRPr/>
            </a:pPr>
            <a:r>
              <a:rPr lang="en-US" altLang="zh-CN" sz="2800" smtClean="0"/>
              <a:t>	ADD.D 	F6,F8,F2</a:t>
            </a:r>
            <a:endParaRPr lang="zh-CN" altLang="en-US" sz="2800" smtClean="0"/>
          </a:p>
        </p:txBody>
      </p:sp>
      <p:sp>
        <p:nvSpPr>
          <p:cNvPr id="936966" name="Rectangle 6"/>
          <p:cNvSpPr>
            <a:spLocks noChangeArrowheads="1"/>
          </p:cNvSpPr>
          <p:nvPr/>
        </p:nvSpPr>
        <p:spPr bwMode="auto">
          <a:xfrm>
            <a:off x="4864100" y="1989138"/>
            <a:ext cx="4029075" cy="4411662"/>
          </a:xfrm>
          <a:prstGeom prst="rect">
            <a:avLst/>
          </a:prstGeom>
          <a:solidFill>
            <a:srgbClr val="CC99FF"/>
          </a:solidFill>
          <a:ln w="57150" cmpd="thickThin">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0"/>
              </a:spcBef>
              <a:defRPr kumimoji="1" sz="2400">
                <a:solidFill>
                  <a:schemeClr val="tx1"/>
                </a:solidFill>
                <a:latin typeface="Times New Roman" panose="02020603050405020304" pitchFamily="18" charset="0"/>
                <a:ea typeface="宋体" panose="02010600030101010101" pitchFamily="2" charset="-122"/>
              </a:defRPr>
            </a:lvl1pPr>
            <a:lvl2pPr marL="765175" indent="-285750">
              <a:spcBef>
                <a:spcPct val="0"/>
              </a:spcBef>
              <a:defRPr kumimoji="1" sz="2400">
                <a:solidFill>
                  <a:schemeClr val="tx1"/>
                </a:solidFill>
                <a:latin typeface="Times New Roman" panose="02020603050405020304" pitchFamily="18" charset="0"/>
                <a:ea typeface="宋体" panose="02010600030101010101" pitchFamily="2" charset="-122"/>
              </a:defRPr>
            </a:lvl2pPr>
            <a:lvl3pPr marL="1184275" indent="-228600">
              <a:spcBef>
                <a:spcPct val="0"/>
              </a:spcBef>
              <a:defRPr kumimoji="1" sz="2400">
                <a:solidFill>
                  <a:schemeClr val="tx1"/>
                </a:solidFill>
                <a:latin typeface="Times New Roman" panose="02020603050405020304" pitchFamily="18" charset="0"/>
                <a:ea typeface="宋体" panose="02010600030101010101" pitchFamily="2" charset="-122"/>
              </a:defRPr>
            </a:lvl3pPr>
            <a:lvl4pPr marL="1603375" indent="-228600">
              <a:spcBef>
                <a:spcPct val="0"/>
              </a:spcBef>
              <a:defRPr kumimoji="1" sz="2400">
                <a:solidFill>
                  <a:schemeClr val="tx1"/>
                </a:solidFill>
                <a:latin typeface="Times New Roman" panose="02020603050405020304" pitchFamily="18" charset="0"/>
                <a:ea typeface="宋体" panose="02010600030101010101" pitchFamily="2" charset="-122"/>
              </a:defRPr>
            </a:lvl4pPr>
            <a:lvl5pPr marL="2022475" indent="-228600">
              <a:spcBef>
                <a:spcPct val="0"/>
              </a:spcBef>
              <a:defRPr kumimoji="1" sz="2400">
                <a:solidFill>
                  <a:schemeClr val="tx1"/>
                </a:solidFill>
                <a:latin typeface="Times New Roman" panose="02020603050405020304" pitchFamily="18" charset="0"/>
                <a:ea typeface="宋体" panose="02010600030101010101" pitchFamily="2" charset="-122"/>
              </a:defRPr>
            </a:lvl5pPr>
            <a:lvl6pPr marL="24796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368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3940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51275" indent="-228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nSpc>
                <a:spcPct val="120000"/>
              </a:lnSpc>
              <a:spcBef>
                <a:spcPct val="20000"/>
              </a:spcBef>
              <a:buClr>
                <a:srgbClr val="FF0000"/>
              </a:buClr>
              <a:buFont typeface="Wingdings" panose="05000000000000000000" pitchFamily="2" charset="2"/>
              <a:buChar char="w"/>
              <a:defRPr/>
            </a:pPr>
            <a:r>
              <a:rPr lang="zh-CN" altLang="en-US" sz="2800" b="1" smtClean="0">
                <a:solidFill>
                  <a:srgbClr val="FF0000"/>
                </a:solidFill>
                <a:effectLst>
                  <a:outerShdw blurRad="38100" dist="38100" dir="2700000" algn="tl">
                    <a:srgbClr val="000000"/>
                  </a:outerShdw>
                </a:effectLst>
                <a:latin typeface="Arial" panose="020B0604020202020204" pitchFamily="34" charset="0"/>
                <a:ea typeface="楷体_GB2312" pitchFamily="49" charset="-122"/>
              </a:rPr>
              <a:t>  假设</a:t>
            </a:r>
            <a:endParaRPr lang="zh-CN" altLang="en-US" sz="2800" b="1" smtClean="0">
              <a:solidFill>
                <a:srgbClr val="FF0000"/>
              </a:solidFill>
              <a:effectLst>
                <a:outerShdw blurRad="38100" dist="38100" dir="2700000" algn="tl">
                  <a:srgbClr val="000000"/>
                </a:outerShdw>
              </a:effectLst>
              <a:latin typeface="Arial" panose="020B0604020202020204" pitchFamily="34" charset="0"/>
              <a:ea typeface="楷体_GB2312" pitchFamily="49" charset="-122"/>
            </a:endParaRPr>
          </a:p>
          <a:p>
            <a:pPr>
              <a:lnSpc>
                <a:spcPct val="120000"/>
              </a:lnSpc>
              <a:spcBef>
                <a:spcPct val="20000"/>
              </a:spcBef>
              <a:defRPr/>
            </a:pPr>
            <a:r>
              <a:rPr lang="zh-CN" altLang="en-US" sz="2800" b="1" smtClean="0">
                <a:latin typeface="Arial" panose="020B0604020202020204" pitchFamily="34" charset="0"/>
                <a:ea typeface="楷体_GB2312" pitchFamily="49" charset="-122"/>
              </a:rPr>
              <a:t>    各指令在“发射”和“写回结果”所花时钟周期数都为1，在“执行”阶段所花时钟周期数分别为：</a:t>
            </a:r>
            <a:r>
              <a:rPr lang="en-US" altLang="zh-CN" sz="2800" b="1" smtClean="0">
                <a:latin typeface="Arial" panose="020B0604020202020204" pitchFamily="34" charset="0"/>
                <a:ea typeface="楷体_GB2312" pitchFamily="49" charset="-122"/>
              </a:rPr>
              <a:t>L.D</a:t>
            </a:r>
            <a:r>
              <a:rPr lang="zh-CN" altLang="en-US" sz="2800" b="1" smtClean="0">
                <a:latin typeface="Arial" panose="020B0604020202020204" pitchFamily="34" charset="0"/>
                <a:ea typeface="楷体_GB2312" pitchFamily="49" charset="-122"/>
              </a:rPr>
              <a:t>为2，</a:t>
            </a:r>
            <a:r>
              <a:rPr lang="en-US" altLang="zh-CN" sz="2800" b="1" smtClean="0">
                <a:latin typeface="Arial" panose="020B0604020202020204" pitchFamily="34" charset="0"/>
                <a:ea typeface="楷体_GB2312" pitchFamily="49" charset="-122"/>
              </a:rPr>
              <a:t>ADD.D</a:t>
            </a:r>
            <a:r>
              <a:rPr lang="zh-CN" altLang="en-US" sz="2800" b="1" smtClean="0">
                <a:latin typeface="Arial" panose="020B0604020202020204" pitchFamily="34" charset="0"/>
                <a:ea typeface="楷体_GB2312" pitchFamily="49" charset="-122"/>
              </a:rPr>
              <a:t>和</a:t>
            </a:r>
            <a:r>
              <a:rPr lang="en-US" altLang="zh-CN" sz="2800" b="1" smtClean="0">
                <a:latin typeface="Arial" panose="020B0604020202020204" pitchFamily="34" charset="0"/>
                <a:ea typeface="楷体_GB2312" pitchFamily="49" charset="-122"/>
              </a:rPr>
              <a:t>SUB.D</a:t>
            </a:r>
            <a:r>
              <a:rPr lang="zh-CN" altLang="en-US" sz="2800" b="1" smtClean="0">
                <a:latin typeface="Arial" panose="020B0604020202020204" pitchFamily="34" charset="0"/>
                <a:ea typeface="楷体_GB2312" pitchFamily="49" charset="-122"/>
              </a:rPr>
              <a:t>为2，</a:t>
            </a:r>
            <a:r>
              <a:rPr lang="en-US" altLang="zh-CN" sz="2800" b="1" smtClean="0">
                <a:latin typeface="Arial" panose="020B0604020202020204" pitchFamily="34" charset="0"/>
                <a:ea typeface="楷体_GB2312" pitchFamily="49" charset="-122"/>
              </a:rPr>
              <a:t>MUL.D</a:t>
            </a:r>
            <a:r>
              <a:rPr lang="zh-CN" altLang="en-US" sz="2800" b="1" smtClean="0">
                <a:latin typeface="Arial" panose="020B0604020202020204" pitchFamily="34" charset="0"/>
                <a:ea typeface="楷体_GB2312" pitchFamily="49" charset="-122"/>
              </a:rPr>
              <a:t>为10，</a:t>
            </a:r>
            <a:r>
              <a:rPr lang="en-US" altLang="zh-CN" sz="2800" b="1" smtClean="0">
                <a:latin typeface="Arial" panose="020B0604020202020204" pitchFamily="34" charset="0"/>
                <a:ea typeface="楷体_GB2312" pitchFamily="49" charset="-122"/>
              </a:rPr>
              <a:t>DIV.D</a:t>
            </a:r>
            <a:r>
              <a:rPr lang="zh-CN" altLang="en-US" sz="2800" b="1" smtClean="0">
                <a:latin typeface="Arial" panose="020B0604020202020204" pitchFamily="34" charset="0"/>
                <a:ea typeface="楷体_GB2312" pitchFamily="49" charset="-122"/>
              </a:rPr>
              <a:t>为40。</a:t>
            </a:r>
            <a:endParaRPr lang="zh-CN" altLang="en-US" sz="2800" b="1" smtClean="0">
              <a:latin typeface="Arial" panose="020B0604020202020204" pitchFamily="34" charset="0"/>
              <a:ea typeface="楷体_GB2312" pitchFamily="49" charset="-122"/>
            </a:endParaRPr>
          </a:p>
        </p:txBody>
      </p:sp>
      <p:sp>
        <p:nvSpPr>
          <p:cNvPr id="209926"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0946" name="Text Box 17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pic>
        <p:nvPicPr>
          <p:cNvPr id="210947" name="Picture 176"/>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04800" y="228600"/>
            <a:ext cx="8296275" cy="2743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0948" name="Picture 17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4800" y="2971800"/>
            <a:ext cx="8267700" cy="2209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0949" name="Picture 17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 y="5181600"/>
            <a:ext cx="7315200" cy="144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0950" name="AutoShape 179"/>
          <p:cNvSpPr>
            <a:spLocks noChangeArrowheads="1"/>
          </p:cNvSpPr>
          <p:nvPr/>
        </p:nvSpPr>
        <p:spPr bwMode="auto">
          <a:xfrm>
            <a:off x="7696200" y="5410200"/>
            <a:ext cx="1219200" cy="1143000"/>
          </a:xfrm>
          <a:prstGeom prst="wedgeRoundRectCallout">
            <a:avLst>
              <a:gd name="adj1" fmla="val -48699"/>
              <a:gd name="adj2" fmla="val -80278"/>
              <a:gd name="adj3" fmla="val 16667"/>
            </a:avLst>
          </a:prstGeom>
          <a:gradFill rotWithShape="0">
            <a:gsLst>
              <a:gs pos="0">
                <a:schemeClr val="bg1"/>
              </a:gs>
              <a:gs pos="100000">
                <a:srgbClr val="99FF66"/>
              </a:gs>
            </a:gsLst>
            <a:path path="rect">
              <a:fillToRect l="50000" t="50000" r="50000" b="50000"/>
            </a:path>
          </a:gradFill>
          <a:ln w="28575">
            <a:solidFill>
              <a:schemeClr val="tx1"/>
            </a:solidFill>
            <a:miter lim="800000"/>
          </a:ln>
          <a:effectLst>
            <a:outerShdw dist="107763" dir="2700000" algn="ctr" rotWithShape="0">
              <a:schemeClr val="bg2"/>
            </a:outerShdw>
          </a:effectLst>
        </p:spPr>
        <p:txBody>
          <a:bodyPr lIns="0" tIns="0" rIns="0" bIns="0"/>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110000"/>
              </a:lnSpc>
              <a:buFont typeface="Wingdings" panose="05000000000000000000" pitchFamily="2" charset="2"/>
              <a:buNone/>
            </a:pPr>
            <a:r>
              <a:rPr lang="zh-CN" altLang="en-US" sz="1800">
                <a:latin typeface="Times New Roman" panose="02020603050405020304" pitchFamily="18" charset="0"/>
              </a:rPr>
              <a:t>当</a:t>
            </a:r>
            <a:r>
              <a:rPr lang="en-US" altLang="zh-CN" sz="1800">
                <a:latin typeface="Times New Roman" panose="02020603050405020304" pitchFamily="18" charset="0"/>
              </a:rPr>
              <a:t>MUL.D</a:t>
            </a:r>
            <a:r>
              <a:rPr lang="zh-CN" altLang="en-US" sz="1800">
                <a:latin typeface="Times New Roman" panose="02020603050405020304" pitchFamily="18" charset="0"/>
              </a:rPr>
              <a:t>准备提交时的状态</a:t>
            </a:r>
            <a:endParaRPr lang="zh-CN" altLang="en-US" sz="1800">
              <a:latin typeface="Times New Roman" panose="02020603050405020304" pitchFamily="18" charset="0"/>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5218" name="Rectangle 2"/>
          <p:cNvSpPr>
            <a:spLocks noGrp="1" noChangeArrowheads="1"/>
          </p:cNvSpPr>
          <p:nvPr>
            <p:ph type="title"/>
          </p:nvPr>
        </p:nvSpPr>
        <p:spPr/>
        <p:txBody>
          <a:bodyPr/>
          <a:lstStyle/>
          <a:p>
            <a:pPr eaLnBrk="1" hangingPunct="1">
              <a:defRPr/>
            </a:pPr>
            <a:r>
              <a:rPr lang="zh-CN" altLang="en-US" smtClean="0"/>
              <a:t>循环处理</a:t>
            </a:r>
            <a:endParaRPr lang="zh-CN" altLang="en-US" smtClean="0"/>
          </a:p>
        </p:txBody>
      </p:sp>
      <p:sp>
        <p:nvSpPr>
          <p:cNvPr id="2119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endParaRPr lang="zh-CN" altLang="en-US" sz="1200" b="0">
              <a:latin typeface="Times New Roman" panose="02020603050405020304" pitchFamily="18" charset="0"/>
              <a:ea typeface="幼圆" panose="02010509060101010101" pitchFamily="49" charset="-122"/>
            </a:endParaRPr>
          </a:p>
        </p:txBody>
      </p:sp>
      <p:sp>
        <p:nvSpPr>
          <p:cNvPr id="211972" name="Rectangle 4"/>
          <p:cNvSpPr>
            <a:spLocks noGrp="1" noChangeArrowheads="1"/>
          </p:cNvSpPr>
          <p:nvPr>
            <p:ph type="body" idx="1"/>
          </p:nvPr>
        </p:nvSpPr>
        <p:spPr>
          <a:xfrm>
            <a:off x="5334000" y="2665413"/>
            <a:ext cx="2622550" cy="2995612"/>
          </a:xfrm>
        </p:spPr>
        <p:txBody>
          <a:bodyPr/>
          <a:lstStyle/>
          <a:p>
            <a:pPr eaLnBrk="1" hangingPunct="1">
              <a:lnSpc>
                <a:spcPct val="170000"/>
              </a:lnSpc>
            </a:pPr>
            <a:r>
              <a:rPr lang="zh-CN" altLang="en-US" smtClean="0">
                <a:hlinkClick r:id="rId3" action="ppaction://hlinksldjump"/>
              </a:rPr>
              <a:t>调度技术</a:t>
            </a:r>
            <a:endParaRPr lang="zh-CN" altLang="en-US" smtClean="0"/>
          </a:p>
          <a:p>
            <a:pPr eaLnBrk="1" hangingPunct="1">
              <a:lnSpc>
                <a:spcPct val="170000"/>
              </a:lnSpc>
            </a:pPr>
            <a:r>
              <a:rPr lang="zh-CN" altLang="en-US" smtClean="0">
                <a:hlinkClick r:id="rId4" action="ppaction://hlinksldjump"/>
              </a:rPr>
              <a:t>循环展开</a:t>
            </a:r>
            <a:endParaRPr lang="zh-CN" altLang="en-US" smtClean="0"/>
          </a:p>
          <a:p>
            <a:pPr eaLnBrk="1" hangingPunct="1">
              <a:lnSpc>
                <a:spcPct val="170000"/>
              </a:lnSpc>
            </a:pPr>
            <a:r>
              <a:rPr lang="zh-CN" altLang="en-US" smtClean="0">
                <a:hlinkClick r:id="rId5" action="ppaction://hlinksldjump"/>
              </a:rPr>
              <a:t>软件流水</a:t>
            </a:r>
            <a:endParaRPr lang="zh-CN" altLang="en-US" smtClean="0"/>
          </a:p>
        </p:txBody>
      </p:sp>
      <p:sp>
        <p:nvSpPr>
          <p:cNvPr id="211973" name="Rectangle 5"/>
          <p:cNvSpPr>
            <a:spLocks noChangeArrowheads="1"/>
          </p:cNvSpPr>
          <p:nvPr/>
        </p:nvSpPr>
        <p:spPr bwMode="auto">
          <a:xfrm>
            <a:off x="1143000" y="3733800"/>
            <a:ext cx="22098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08585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42875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177165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2288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6860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1432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60045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lnSpc>
                <a:spcPct val="140000"/>
              </a:lnSpc>
            </a:pPr>
            <a:r>
              <a:rPr lang="zh-CN" altLang="en-US">
                <a:latin typeface="Times New Roman" panose="02020603050405020304" pitchFamily="18" charset="0"/>
                <a:hlinkClick r:id="rId6" action="ppaction://hlinksldjump"/>
              </a:rPr>
              <a:t>实验环境</a:t>
            </a:r>
            <a:endParaRPr lang="zh-CN" altLang="en-US">
              <a:latin typeface="Times New Roman" panose="02020603050405020304" pitchFamily="18" charset="0"/>
            </a:endParaRPr>
          </a:p>
        </p:txBody>
      </p:sp>
      <p:sp>
        <p:nvSpPr>
          <p:cNvPr id="211974" name="AutoShape 6"/>
          <p:cNvSpPr>
            <a:spLocks noChangeArrowheads="1"/>
          </p:cNvSpPr>
          <p:nvPr/>
        </p:nvSpPr>
        <p:spPr bwMode="auto">
          <a:xfrm>
            <a:off x="3581400" y="3962400"/>
            <a:ext cx="1524000" cy="5334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noFill/>
          <a:ln w="2857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ransition spd="slow">
    <p:random/>
    <p:sndAc>
      <p:stSnd>
        <p:snd r:embed="rId7" name="projctor.wav"/>
      </p:stSnd>
    </p:sndAc>
  </p:transition>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6242" name="Rectangle 2"/>
          <p:cNvSpPr>
            <a:spLocks noGrp="1" noChangeArrowheads="1"/>
          </p:cNvSpPr>
          <p:nvPr>
            <p:ph type="title"/>
          </p:nvPr>
        </p:nvSpPr>
        <p:spPr/>
        <p:txBody>
          <a:bodyPr/>
          <a:lstStyle/>
          <a:p>
            <a:pPr eaLnBrk="1" hangingPunct="1">
              <a:defRPr/>
            </a:pPr>
            <a:r>
              <a:rPr lang="zh-CN" altLang="en-US" smtClean="0"/>
              <a:t>实验环境</a:t>
            </a:r>
            <a:endParaRPr lang="zh-CN" altLang="en-US" smtClean="0"/>
          </a:p>
        </p:txBody>
      </p:sp>
      <p:sp>
        <p:nvSpPr>
          <p:cNvPr id="21299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906244" name="Rectangle 4"/>
          <p:cNvSpPr>
            <a:spLocks noGrp="1" noChangeArrowheads="1"/>
          </p:cNvSpPr>
          <p:nvPr>
            <p:ph type="body" idx="1"/>
          </p:nvPr>
        </p:nvSpPr>
        <p:spPr>
          <a:xfrm>
            <a:off x="809625" y="1989138"/>
            <a:ext cx="7958138" cy="1119187"/>
          </a:xfrm>
        </p:spPr>
        <p:txBody>
          <a:bodyPr/>
          <a:lstStyle/>
          <a:p>
            <a:pPr eaLnBrk="1" hangingPunct="1">
              <a:buClr>
                <a:srgbClr val="FF0000"/>
              </a:buClr>
              <a:defRPr/>
            </a:pPr>
            <a:r>
              <a:rPr lang="zh-CN" altLang="en-US" sz="2800" smtClean="0">
                <a:solidFill>
                  <a:srgbClr val="FF0000"/>
                </a:solidFill>
                <a:effectLst>
                  <a:outerShdw blurRad="38100" dist="38100" dir="2700000" algn="tl">
                    <a:srgbClr val="C0C0C0"/>
                  </a:outerShdw>
                </a:effectLst>
              </a:rPr>
              <a:t>在</a:t>
            </a:r>
            <a:r>
              <a:rPr lang="en-US" altLang="zh-CN" sz="2800" smtClean="0">
                <a:solidFill>
                  <a:srgbClr val="FF0000"/>
                </a:solidFill>
                <a:effectLst>
                  <a:outerShdw blurRad="38100" dist="38100" dir="2700000" algn="tl">
                    <a:srgbClr val="C0C0C0"/>
                  </a:outerShdw>
                </a:effectLst>
              </a:rPr>
              <a:t>MIPS</a:t>
            </a:r>
            <a:r>
              <a:rPr lang="zh-CN" altLang="en-US" sz="2800" smtClean="0">
                <a:solidFill>
                  <a:srgbClr val="FF0000"/>
                </a:solidFill>
                <a:effectLst>
                  <a:outerShdw blurRad="38100" dist="38100" dir="2700000" algn="tl">
                    <a:srgbClr val="C0C0C0"/>
                  </a:outerShdw>
                </a:effectLst>
              </a:rPr>
              <a:t>扩展流水线中，为解决</a:t>
            </a:r>
            <a:r>
              <a:rPr lang="en-US" altLang="zh-CN" sz="2800" smtClean="0">
                <a:solidFill>
                  <a:srgbClr val="FF0000"/>
                </a:solidFill>
                <a:effectLst>
                  <a:outerShdw blurRad="38100" dist="38100" dir="2700000" algn="tl">
                    <a:srgbClr val="C0C0C0"/>
                  </a:outerShdw>
                </a:effectLst>
              </a:rPr>
              <a:t>RAW</a:t>
            </a:r>
            <a:r>
              <a:rPr lang="zh-CN" altLang="en-US" sz="2800" smtClean="0">
                <a:solidFill>
                  <a:srgbClr val="FF0000"/>
                </a:solidFill>
                <a:effectLst>
                  <a:outerShdw blurRad="38100" dist="38100" dir="2700000" algn="tl">
                    <a:srgbClr val="C0C0C0"/>
                  </a:outerShdw>
                </a:effectLst>
              </a:rPr>
              <a:t>冲突所需的延迟时间</a:t>
            </a:r>
            <a:endParaRPr lang="zh-CN" altLang="en-US" sz="2800" smtClean="0">
              <a:solidFill>
                <a:srgbClr val="FF0000"/>
              </a:solidFill>
              <a:effectLst>
                <a:outerShdw blurRad="38100" dist="38100" dir="2700000" algn="tl">
                  <a:srgbClr val="C0C0C0"/>
                </a:outerShdw>
              </a:effectLst>
            </a:endParaRPr>
          </a:p>
        </p:txBody>
      </p:sp>
      <p:sp>
        <p:nvSpPr>
          <p:cNvPr id="212997" name="Rectangle 5"/>
          <p:cNvSpPr>
            <a:spLocks noChangeArrowheads="1"/>
          </p:cNvSpPr>
          <p:nvPr/>
        </p:nvSpPr>
        <p:spPr bwMode="auto">
          <a:xfrm>
            <a:off x="971550" y="3068638"/>
            <a:ext cx="7543800" cy="3352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7" tIns="44450" rIns="90487" bIns="44450"/>
          <a:lstStyle>
            <a:lvl1pPr eaLnBrk="0" hangingPunct="0">
              <a:buChar char="w"/>
              <a:tabLst>
                <a:tab pos="2857500" algn="l"/>
                <a:tab pos="6003925" algn="l"/>
              </a:tabLst>
              <a:defRPr kumimoji="1" sz="3200" b="1">
                <a:solidFill>
                  <a:schemeClr val="tx1"/>
                </a:solidFill>
                <a:latin typeface="Arial" panose="020B0604020202020204" pitchFamily="34" charset="0"/>
                <a:ea typeface="楷体_GB2312" pitchFamily="49" charset="-122"/>
              </a:defRPr>
            </a:lvl1pPr>
            <a:lvl2pPr marL="685800" indent="-228600" eaLnBrk="0" hangingPunct="0">
              <a:buClr>
                <a:schemeClr val="accent2"/>
              </a:buClr>
              <a:buSzPct val="55000"/>
              <a:buChar char="Ø"/>
              <a:tabLst>
                <a:tab pos="2857500" algn="l"/>
                <a:tab pos="6003925" algn="l"/>
              </a:tabLst>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tabLst>
                <a:tab pos="2857500" algn="l"/>
                <a:tab pos="6003925" algn="l"/>
              </a:tabLst>
              <a:defRPr kumimoji="1" sz="2400" b="1">
                <a:solidFill>
                  <a:schemeClr val="tx1"/>
                </a:solidFill>
                <a:latin typeface="Arial" panose="020B0604020202020204" pitchFamily="34" charset="0"/>
                <a:ea typeface="楷体_GB2312" pitchFamily="49" charset="-122"/>
              </a:defRPr>
            </a:lvl3pPr>
            <a:lvl4pPr marL="1543050" indent="-171450" eaLnBrk="0" hangingPunct="0">
              <a:buClr>
                <a:schemeClr val="accent2"/>
              </a:buClr>
              <a:buSzPct val="85000"/>
              <a:buChar char="w"/>
              <a:tabLst>
                <a:tab pos="2857500" algn="l"/>
                <a:tab pos="6003925" algn="l"/>
              </a:tabLst>
              <a:defRPr kumimoji="1" sz="2000" b="1">
                <a:solidFill>
                  <a:schemeClr val="tx1"/>
                </a:solidFill>
                <a:latin typeface="Arial" panose="020B0604020202020204" pitchFamily="34" charset="0"/>
                <a:ea typeface="楷体_GB2312" pitchFamily="49" charset="-122"/>
              </a:defRPr>
            </a:lvl4pPr>
            <a:lvl5pPr marL="2000250" indent="-171450" eaLnBrk="0" hangingPunct="0">
              <a:buClr>
                <a:schemeClr val="accent2"/>
              </a:buClr>
              <a:buSzPct val="80000"/>
              <a:buChar char="§"/>
              <a:tabLst>
                <a:tab pos="2857500" algn="l"/>
                <a:tab pos="6003925" algn="l"/>
              </a:tabLst>
              <a:defRPr kumimoji="1" b="1">
                <a:solidFill>
                  <a:schemeClr val="tx1"/>
                </a:solidFill>
                <a:latin typeface="Arial" panose="020B0604020202020204" pitchFamily="34" charset="0"/>
                <a:ea typeface="楷体_GB2312" pitchFamily="49" charset="-122"/>
              </a:defRPr>
            </a:lvl5pPr>
            <a:lvl6pPr marL="2457450" indent="-171450" eaLnBrk="0" fontAlgn="base" hangingPunct="0">
              <a:spcBef>
                <a:spcPct val="20000"/>
              </a:spcBef>
              <a:spcAft>
                <a:spcPct val="0"/>
              </a:spcAft>
              <a:buClr>
                <a:schemeClr val="accent2"/>
              </a:buClr>
              <a:buSzPct val="80000"/>
              <a:buFont typeface="Wingdings" panose="05000000000000000000" pitchFamily="2" charset="2"/>
              <a:buChar char="§"/>
              <a:tabLst>
                <a:tab pos="2857500" algn="l"/>
                <a:tab pos="6003925" algn="l"/>
              </a:tabLst>
              <a:defRPr kumimoji="1" b="1">
                <a:solidFill>
                  <a:schemeClr val="tx1"/>
                </a:solidFill>
                <a:latin typeface="Arial" panose="020B0604020202020204" pitchFamily="34" charset="0"/>
                <a:ea typeface="楷体_GB2312" pitchFamily="49" charset="-122"/>
              </a:defRPr>
            </a:lvl6pPr>
            <a:lvl7pPr marL="2914650" indent="-171450" eaLnBrk="0" fontAlgn="base" hangingPunct="0">
              <a:spcBef>
                <a:spcPct val="20000"/>
              </a:spcBef>
              <a:spcAft>
                <a:spcPct val="0"/>
              </a:spcAft>
              <a:buClr>
                <a:schemeClr val="accent2"/>
              </a:buClr>
              <a:buSzPct val="80000"/>
              <a:buFont typeface="Wingdings" panose="05000000000000000000" pitchFamily="2" charset="2"/>
              <a:buChar char="§"/>
              <a:tabLst>
                <a:tab pos="2857500" algn="l"/>
                <a:tab pos="6003925" algn="l"/>
              </a:tabLst>
              <a:defRPr kumimoji="1" b="1">
                <a:solidFill>
                  <a:schemeClr val="tx1"/>
                </a:solidFill>
                <a:latin typeface="Arial" panose="020B0604020202020204" pitchFamily="34" charset="0"/>
                <a:ea typeface="楷体_GB2312" pitchFamily="49" charset="-122"/>
              </a:defRPr>
            </a:lvl7pPr>
            <a:lvl8pPr marL="3371850" indent="-171450" eaLnBrk="0" fontAlgn="base" hangingPunct="0">
              <a:spcBef>
                <a:spcPct val="20000"/>
              </a:spcBef>
              <a:spcAft>
                <a:spcPct val="0"/>
              </a:spcAft>
              <a:buClr>
                <a:schemeClr val="accent2"/>
              </a:buClr>
              <a:buSzPct val="80000"/>
              <a:buFont typeface="Wingdings" panose="05000000000000000000" pitchFamily="2" charset="2"/>
              <a:buChar char="§"/>
              <a:tabLst>
                <a:tab pos="2857500" algn="l"/>
                <a:tab pos="6003925" algn="l"/>
              </a:tabLst>
              <a:defRPr kumimoji="1" b="1">
                <a:solidFill>
                  <a:schemeClr val="tx1"/>
                </a:solidFill>
                <a:latin typeface="Arial" panose="020B0604020202020204" pitchFamily="34" charset="0"/>
                <a:ea typeface="楷体_GB2312" pitchFamily="49" charset="-122"/>
              </a:defRPr>
            </a:lvl8pPr>
            <a:lvl9pPr marL="3829050" indent="-171450" eaLnBrk="0" fontAlgn="base" hangingPunct="0">
              <a:spcBef>
                <a:spcPct val="20000"/>
              </a:spcBef>
              <a:spcAft>
                <a:spcPct val="0"/>
              </a:spcAft>
              <a:buClr>
                <a:schemeClr val="accent2"/>
              </a:buClr>
              <a:buSzPct val="80000"/>
              <a:buFont typeface="Wingdings" panose="05000000000000000000" pitchFamily="2" charset="2"/>
              <a:buChar char="§"/>
              <a:tabLst>
                <a:tab pos="2857500" algn="l"/>
                <a:tab pos="6003925" algn="l"/>
              </a:tabLst>
              <a:defRPr kumimoji="1" b="1">
                <a:solidFill>
                  <a:schemeClr val="tx1"/>
                </a:solidFill>
                <a:latin typeface="Arial" panose="020B0604020202020204" pitchFamily="34" charset="0"/>
                <a:ea typeface="楷体_GB2312" pitchFamily="49" charset="-122"/>
              </a:defRPr>
            </a:lvl9pPr>
          </a:lstStyle>
          <a:p>
            <a:pPr>
              <a:lnSpc>
                <a:spcPct val="90000"/>
              </a:lnSpc>
              <a:spcBef>
                <a:spcPct val="30000"/>
              </a:spcBef>
              <a:buClrTx/>
              <a:buFontTx/>
              <a:buNone/>
            </a:pPr>
            <a:r>
              <a:rPr kumimoji="0" lang="en-US" altLang="zh-CN" sz="2400" i="1" dirty="0">
                <a:solidFill>
                  <a:srgbClr val="3333CC"/>
                </a:solidFill>
                <a:latin typeface="Tahoma" panose="020B0604030504040204" pitchFamily="34" charset="0"/>
                <a:ea typeface="宋体" panose="02010600030101010101" pitchFamily="2" charset="-122"/>
              </a:rPr>
              <a:t>Instruction	Instruction	Latency </a:t>
            </a:r>
            <a:br>
              <a:rPr kumimoji="0" lang="en-US" altLang="zh-CN" sz="2400" i="1" dirty="0">
                <a:solidFill>
                  <a:srgbClr val="3333CC"/>
                </a:solidFill>
                <a:latin typeface="Tahoma" panose="020B0604030504040204" pitchFamily="34" charset="0"/>
                <a:ea typeface="宋体" panose="02010600030101010101" pitchFamily="2" charset="-122"/>
              </a:rPr>
            </a:br>
            <a:r>
              <a:rPr kumimoji="0" lang="en-US" altLang="zh-CN" sz="2400" i="1" u="sng" dirty="0">
                <a:solidFill>
                  <a:srgbClr val="3333CC"/>
                </a:solidFill>
                <a:latin typeface="Tahoma" panose="020B0604030504040204" pitchFamily="34" charset="0"/>
                <a:ea typeface="宋体" panose="02010600030101010101" pitchFamily="2" charset="-122"/>
              </a:rPr>
              <a:t>producing result	using result 	in cycles</a:t>
            </a:r>
            <a:endParaRPr kumimoji="0" lang="en-US" altLang="zh-CN" sz="2400" u="sng" dirty="0">
              <a:solidFill>
                <a:srgbClr val="3333CC"/>
              </a:solidFill>
              <a:latin typeface="Tahoma" panose="020B0604030504040204" pitchFamily="34" charset="0"/>
              <a:ea typeface="宋体" panose="02010600030101010101" pitchFamily="2" charset="-122"/>
            </a:endParaRPr>
          </a:p>
          <a:p>
            <a:pPr>
              <a:lnSpc>
                <a:spcPct val="90000"/>
              </a:lnSpc>
              <a:spcBef>
                <a:spcPct val="30000"/>
              </a:spcBef>
              <a:buClrTx/>
              <a:buFontTx/>
              <a:buNone/>
            </a:pPr>
            <a:r>
              <a:rPr kumimoji="0" lang="en-US" altLang="zh-CN" sz="2400" dirty="0">
                <a:latin typeface="Tahoma" panose="020B0604030504040204" pitchFamily="34" charset="0"/>
                <a:ea typeface="宋体" panose="02010600030101010101" pitchFamily="2" charset="-122"/>
              </a:rPr>
              <a:t>FP ALU op	Another FP ALU op	 3</a:t>
            </a:r>
            <a:endParaRPr kumimoji="0" lang="en-US" altLang="zh-CN" sz="2400" dirty="0">
              <a:latin typeface="Tahoma" panose="020B0604030504040204" pitchFamily="34" charset="0"/>
              <a:ea typeface="宋体" panose="02010600030101010101" pitchFamily="2" charset="-122"/>
            </a:endParaRPr>
          </a:p>
          <a:p>
            <a:pPr>
              <a:lnSpc>
                <a:spcPct val="90000"/>
              </a:lnSpc>
              <a:spcBef>
                <a:spcPct val="30000"/>
              </a:spcBef>
              <a:buClrTx/>
              <a:buFontTx/>
              <a:buNone/>
            </a:pPr>
            <a:r>
              <a:rPr kumimoji="0" lang="en-US" altLang="zh-CN" sz="2400" dirty="0">
                <a:latin typeface="Tahoma" panose="020B0604030504040204" pitchFamily="34" charset="0"/>
                <a:ea typeface="宋体" panose="02010600030101010101" pitchFamily="2" charset="-122"/>
              </a:rPr>
              <a:t>FP ALU op	Store double	 2 </a:t>
            </a:r>
            <a:endParaRPr kumimoji="0" lang="en-US" altLang="zh-CN" sz="2400" dirty="0">
              <a:latin typeface="Tahoma" panose="020B0604030504040204" pitchFamily="34" charset="0"/>
              <a:ea typeface="宋体" panose="02010600030101010101" pitchFamily="2" charset="-122"/>
            </a:endParaRPr>
          </a:p>
          <a:p>
            <a:pPr>
              <a:lnSpc>
                <a:spcPct val="90000"/>
              </a:lnSpc>
              <a:spcBef>
                <a:spcPct val="30000"/>
              </a:spcBef>
              <a:buClrTx/>
              <a:buFontTx/>
              <a:buNone/>
            </a:pPr>
            <a:r>
              <a:rPr kumimoji="0" lang="en-US" altLang="zh-CN" sz="2400" dirty="0">
                <a:latin typeface="Tahoma" panose="020B0604030504040204" pitchFamily="34" charset="0"/>
                <a:ea typeface="宋体" panose="02010600030101010101" pitchFamily="2" charset="-122"/>
              </a:rPr>
              <a:t>Load double	FP ALU op	 1</a:t>
            </a:r>
            <a:endParaRPr kumimoji="0" lang="en-US" altLang="zh-CN" sz="2400" dirty="0">
              <a:latin typeface="Tahoma" panose="020B0604030504040204" pitchFamily="34" charset="0"/>
              <a:ea typeface="宋体" panose="02010600030101010101" pitchFamily="2" charset="-122"/>
            </a:endParaRPr>
          </a:p>
          <a:p>
            <a:pPr>
              <a:lnSpc>
                <a:spcPct val="90000"/>
              </a:lnSpc>
              <a:spcBef>
                <a:spcPct val="30000"/>
              </a:spcBef>
              <a:buClrTx/>
              <a:buFontTx/>
              <a:buNone/>
            </a:pPr>
            <a:r>
              <a:rPr kumimoji="0" lang="en-US" altLang="zh-CN" sz="2400" dirty="0">
                <a:latin typeface="Tahoma" panose="020B0604030504040204" pitchFamily="34" charset="0"/>
                <a:ea typeface="宋体" panose="02010600030101010101" pitchFamily="2" charset="-122"/>
              </a:rPr>
              <a:t>Load double	Store double	 0</a:t>
            </a:r>
            <a:endParaRPr kumimoji="0" lang="en-US" altLang="zh-CN" sz="2400" dirty="0">
              <a:latin typeface="Tahoma" panose="020B0604030504040204" pitchFamily="34" charset="0"/>
              <a:ea typeface="宋体" panose="02010600030101010101" pitchFamily="2" charset="-122"/>
            </a:endParaRPr>
          </a:p>
          <a:p>
            <a:pPr>
              <a:lnSpc>
                <a:spcPct val="90000"/>
              </a:lnSpc>
              <a:spcBef>
                <a:spcPct val="30000"/>
              </a:spcBef>
              <a:buClrTx/>
              <a:buFontTx/>
              <a:buNone/>
            </a:pPr>
            <a:r>
              <a:rPr kumimoji="0" lang="en-US" altLang="zh-CN" sz="2400" dirty="0">
                <a:latin typeface="Tahoma" panose="020B0604030504040204" pitchFamily="34" charset="0"/>
                <a:ea typeface="宋体" panose="02010600030101010101" pitchFamily="2" charset="-122"/>
              </a:rPr>
              <a:t>Integer op	Branch	 1</a:t>
            </a:r>
            <a:endParaRPr kumimoji="0" lang="en-US" altLang="zh-CN" sz="2400" dirty="0">
              <a:latin typeface="Tahoma" panose="020B0604030504040204" pitchFamily="34" charset="0"/>
              <a:ea typeface="宋体" panose="02010600030101010101" pitchFamily="2" charset="-122"/>
            </a:endParaRPr>
          </a:p>
          <a:p>
            <a:pPr>
              <a:lnSpc>
                <a:spcPct val="90000"/>
              </a:lnSpc>
              <a:spcBef>
                <a:spcPct val="30000"/>
              </a:spcBef>
              <a:buClrTx/>
              <a:buFontTx/>
              <a:buNone/>
            </a:pPr>
            <a:r>
              <a:rPr kumimoji="0" lang="en-US" altLang="zh-CN" sz="2400" dirty="0">
                <a:latin typeface="Tahoma" panose="020B0604030504040204" pitchFamily="34" charset="0"/>
                <a:ea typeface="宋体" panose="02010600030101010101" pitchFamily="2" charset="-122"/>
              </a:rPr>
              <a:t>Branch		 1</a:t>
            </a:r>
            <a:endParaRPr kumimoji="0" lang="en-US" altLang="zh-CN" sz="2400" dirty="0">
              <a:latin typeface="Tahoma" panose="020B0604030504040204" pitchFamily="34" charset="0"/>
              <a:ea typeface="宋体" panose="02010600030101010101" pitchFamily="2" charset="-122"/>
            </a:endParaRPr>
          </a:p>
        </p:txBody>
      </p:sp>
      <p:sp>
        <p:nvSpPr>
          <p:cNvPr id="212998"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7266" name="Rectangle 2"/>
          <p:cNvSpPr>
            <a:spLocks noGrp="1" noChangeArrowheads="1"/>
          </p:cNvSpPr>
          <p:nvPr>
            <p:ph type="title"/>
          </p:nvPr>
        </p:nvSpPr>
        <p:spPr/>
        <p:txBody>
          <a:bodyPr/>
          <a:lstStyle/>
          <a:p>
            <a:pPr eaLnBrk="1" hangingPunct="1">
              <a:defRPr/>
            </a:pPr>
            <a:r>
              <a:rPr lang="zh-CN" altLang="en-US" smtClean="0"/>
              <a:t>实验环境</a:t>
            </a:r>
            <a:endParaRPr lang="zh-CN" altLang="en-US" smtClean="0"/>
          </a:p>
        </p:txBody>
      </p:sp>
      <p:sp>
        <p:nvSpPr>
          <p:cNvPr id="21401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907268" name="Rectangle 4"/>
          <p:cNvSpPr>
            <a:spLocks noGrp="1" noChangeArrowheads="1"/>
          </p:cNvSpPr>
          <p:nvPr>
            <p:ph type="body" idx="1"/>
          </p:nvPr>
        </p:nvSpPr>
        <p:spPr>
          <a:xfrm>
            <a:off x="809625" y="1989138"/>
            <a:ext cx="7958138" cy="638175"/>
          </a:xfrm>
        </p:spPr>
        <p:txBody>
          <a:bodyPr/>
          <a:lstStyle/>
          <a:p>
            <a:pPr eaLnBrk="1" hangingPunct="1">
              <a:buClr>
                <a:srgbClr val="FF0000"/>
              </a:buClr>
              <a:defRPr/>
            </a:pPr>
            <a:r>
              <a:rPr lang="zh-CN" altLang="en-US" sz="2800" smtClean="0">
                <a:solidFill>
                  <a:srgbClr val="FF0000"/>
                </a:solidFill>
                <a:effectLst>
                  <a:outerShdw blurRad="38100" dist="38100" dir="2700000" algn="tl">
                    <a:srgbClr val="C0C0C0"/>
                  </a:outerShdw>
                </a:effectLst>
              </a:rPr>
              <a:t>所用程序</a:t>
            </a:r>
            <a:endParaRPr lang="zh-CN" altLang="en-US" sz="2800" smtClean="0">
              <a:solidFill>
                <a:srgbClr val="FF0000"/>
              </a:solidFill>
              <a:effectLst>
                <a:outerShdw blurRad="38100" dist="38100" dir="2700000" algn="tl">
                  <a:srgbClr val="C0C0C0"/>
                </a:outerShdw>
              </a:effectLst>
            </a:endParaRPr>
          </a:p>
        </p:txBody>
      </p:sp>
      <p:sp>
        <p:nvSpPr>
          <p:cNvPr id="214021" name="Rectangle 5"/>
          <p:cNvSpPr>
            <a:spLocks noChangeArrowheads="1"/>
          </p:cNvSpPr>
          <p:nvPr/>
        </p:nvSpPr>
        <p:spPr bwMode="auto">
          <a:xfrm>
            <a:off x="900113" y="2798763"/>
            <a:ext cx="4038600" cy="9144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7" tIns="44450" rIns="90487" bIns="44450"/>
          <a:lstStyle>
            <a:lvl1pPr eaLnBrk="0" hangingPunct="0">
              <a:buChar char="w"/>
              <a:tabLst>
                <a:tab pos="2857500" algn="l"/>
                <a:tab pos="6003925" algn="l"/>
              </a:tabLst>
              <a:defRPr kumimoji="1" sz="3200" b="1">
                <a:solidFill>
                  <a:schemeClr val="tx1"/>
                </a:solidFill>
                <a:latin typeface="Arial" panose="020B0604020202020204" pitchFamily="34" charset="0"/>
                <a:ea typeface="楷体_GB2312" pitchFamily="49" charset="-122"/>
              </a:defRPr>
            </a:lvl1pPr>
            <a:lvl2pPr marL="685800" indent="-228600" eaLnBrk="0" hangingPunct="0">
              <a:buClr>
                <a:schemeClr val="accent2"/>
              </a:buClr>
              <a:buSzPct val="55000"/>
              <a:buChar char="Ø"/>
              <a:tabLst>
                <a:tab pos="2857500" algn="l"/>
                <a:tab pos="6003925" algn="l"/>
              </a:tabLst>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tabLst>
                <a:tab pos="2857500" algn="l"/>
                <a:tab pos="6003925" algn="l"/>
              </a:tabLst>
              <a:defRPr kumimoji="1" sz="2400" b="1">
                <a:solidFill>
                  <a:schemeClr val="tx1"/>
                </a:solidFill>
                <a:latin typeface="Arial" panose="020B0604020202020204" pitchFamily="34" charset="0"/>
                <a:ea typeface="楷体_GB2312" pitchFamily="49" charset="-122"/>
              </a:defRPr>
            </a:lvl3pPr>
            <a:lvl4pPr marL="1543050" indent="-171450" eaLnBrk="0" hangingPunct="0">
              <a:buClr>
                <a:schemeClr val="accent2"/>
              </a:buClr>
              <a:buSzPct val="85000"/>
              <a:buChar char="w"/>
              <a:tabLst>
                <a:tab pos="2857500" algn="l"/>
                <a:tab pos="6003925" algn="l"/>
              </a:tabLst>
              <a:defRPr kumimoji="1" sz="2000" b="1">
                <a:solidFill>
                  <a:schemeClr val="tx1"/>
                </a:solidFill>
                <a:latin typeface="Arial" panose="020B0604020202020204" pitchFamily="34" charset="0"/>
                <a:ea typeface="楷体_GB2312" pitchFamily="49" charset="-122"/>
              </a:defRPr>
            </a:lvl4pPr>
            <a:lvl5pPr marL="2000250" indent="-171450" eaLnBrk="0" hangingPunct="0">
              <a:buClr>
                <a:schemeClr val="accent2"/>
              </a:buClr>
              <a:buSzPct val="80000"/>
              <a:buChar char="§"/>
              <a:tabLst>
                <a:tab pos="2857500" algn="l"/>
                <a:tab pos="6003925" algn="l"/>
              </a:tabLst>
              <a:defRPr kumimoji="1" b="1">
                <a:solidFill>
                  <a:schemeClr val="tx1"/>
                </a:solidFill>
                <a:latin typeface="Arial" panose="020B0604020202020204" pitchFamily="34" charset="0"/>
                <a:ea typeface="楷体_GB2312" pitchFamily="49" charset="-122"/>
              </a:defRPr>
            </a:lvl5pPr>
            <a:lvl6pPr marL="2457450" indent="-171450" eaLnBrk="0" fontAlgn="base" hangingPunct="0">
              <a:spcBef>
                <a:spcPct val="20000"/>
              </a:spcBef>
              <a:spcAft>
                <a:spcPct val="0"/>
              </a:spcAft>
              <a:buClr>
                <a:schemeClr val="accent2"/>
              </a:buClr>
              <a:buSzPct val="80000"/>
              <a:buFont typeface="Wingdings" panose="05000000000000000000" pitchFamily="2" charset="2"/>
              <a:buChar char="§"/>
              <a:tabLst>
                <a:tab pos="2857500" algn="l"/>
                <a:tab pos="6003925" algn="l"/>
              </a:tabLst>
              <a:defRPr kumimoji="1" b="1">
                <a:solidFill>
                  <a:schemeClr val="tx1"/>
                </a:solidFill>
                <a:latin typeface="Arial" panose="020B0604020202020204" pitchFamily="34" charset="0"/>
                <a:ea typeface="楷体_GB2312" pitchFamily="49" charset="-122"/>
              </a:defRPr>
            </a:lvl6pPr>
            <a:lvl7pPr marL="2914650" indent="-171450" eaLnBrk="0" fontAlgn="base" hangingPunct="0">
              <a:spcBef>
                <a:spcPct val="20000"/>
              </a:spcBef>
              <a:spcAft>
                <a:spcPct val="0"/>
              </a:spcAft>
              <a:buClr>
                <a:schemeClr val="accent2"/>
              </a:buClr>
              <a:buSzPct val="80000"/>
              <a:buFont typeface="Wingdings" panose="05000000000000000000" pitchFamily="2" charset="2"/>
              <a:buChar char="§"/>
              <a:tabLst>
                <a:tab pos="2857500" algn="l"/>
                <a:tab pos="6003925" algn="l"/>
              </a:tabLst>
              <a:defRPr kumimoji="1" b="1">
                <a:solidFill>
                  <a:schemeClr val="tx1"/>
                </a:solidFill>
                <a:latin typeface="Arial" panose="020B0604020202020204" pitchFamily="34" charset="0"/>
                <a:ea typeface="楷体_GB2312" pitchFamily="49" charset="-122"/>
              </a:defRPr>
            </a:lvl7pPr>
            <a:lvl8pPr marL="3371850" indent="-171450" eaLnBrk="0" fontAlgn="base" hangingPunct="0">
              <a:spcBef>
                <a:spcPct val="20000"/>
              </a:spcBef>
              <a:spcAft>
                <a:spcPct val="0"/>
              </a:spcAft>
              <a:buClr>
                <a:schemeClr val="accent2"/>
              </a:buClr>
              <a:buSzPct val="80000"/>
              <a:buFont typeface="Wingdings" panose="05000000000000000000" pitchFamily="2" charset="2"/>
              <a:buChar char="§"/>
              <a:tabLst>
                <a:tab pos="2857500" algn="l"/>
                <a:tab pos="6003925" algn="l"/>
              </a:tabLst>
              <a:defRPr kumimoji="1" b="1">
                <a:solidFill>
                  <a:schemeClr val="tx1"/>
                </a:solidFill>
                <a:latin typeface="Arial" panose="020B0604020202020204" pitchFamily="34" charset="0"/>
                <a:ea typeface="楷体_GB2312" pitchFamily="49" charset="-122"/>
              </a:defRPr>
            </a:lvl8pPr>
            <a:lvl9pPr marL="3829050" indent="-171450" eaLnBrk="0" fontAlgn="base" hangingPunct="0">
              <a:spcBef>
                <a:spcPct val="20000"/>
              </a:spcBef>
              <a:spcAft>
                <a:spcPct val="0"/>
              </a:spcAft>
              <a:buClr>
                <a:schemeClr val="accent2"/>
              </a:buClr>
              <a:buSzPct val="80000"/>
              <a:buFont typeface="Wingdings" panose="05000000000000000000" pitchFamily="2" charset="2"/>
              <a:buChar char="§"/>
              <a:tabLst>
                <a:tab pos="2857500" algn="l"/>
                <a:tab pos="6003925" algn="l"/>
              </a:tabLst>
              <a:defRPr kumimoji="1" b="1">
                <a:solidFill>
                  <a:schemeClr val="tx1"/>
                </a:solidFill>
                <a:latin typeface="Arial" panose="020B0604020202020204" pitchFamily="34" charset="0"/>
                <a:ea typeface="楷体_GB2312" pitchFamily="49" charset="-122"/>
              </a:defRPr>
            </a:lvl9pPr>
          </a:lstStyle>
          <a:p>
            <a:pPr>
              <a:lnSpc>
                <a:spcPct val="90000"/>
              </a:lnSpc>
              <a:spcBef>
                <a:spcPct val="30000"/>
              </a:spcBef>
              <a:buClrTx/>
              <a:buFontTx/>
              <a:buNone/>
            </a:pPr>
            <a:r>
              <a:rPr kumimoji="0" lang="en-US" altLang="zh-CN" sz="2400">
                <a:latin typeface="Tahoma" panose="020B0604030504040204" pitchFamily="34" charset="0"/>
                <a:ea typeface="宋体" panose="02010600030101010101" pitchFamily="2" charset="-122"/>
              </a:rPr>
              <a:t>for (i=1000; i&gt;0; i=i–1)</a:t>
            </a:r>
            <a:endParaRPr kumimoji="0" lang="en-US" altLang="zh-CN" sz="2400">
              <a:latin typeface="Tahoma" panose="020B0604030504040204" pitchFamily="34" charset="0"/>
              <a:ea typeface="宋体" panose="02010600030101010101" pitchFamily="2" charset="-122"/>
            </a:endParaRPr>
          </a:p>
          <a:p>
            <a:pPr>
              <a:lnSpc>
                <a:spcPct val="90000"/>
              </a:lnSpc>
              <a:spcBef>
                <a:spcPct val="30000"/>
              </a:spcBef>
              <a:buClrTx/>
              <a:buFontTx/>
              <a:buNone/>
            </a:pPr>
            <a:r>
              <a:rPr kumimoji="0" lang="en-US" altLang="zh-CN" sz="2400">
                <a:latin typeface="Tahoma" panose="020B0604030504040204" pitchFamily="34" charset="0"/>
                <a:ea typeface="宋体" panose="02010600030101010101" pitchFamily="2" charset="-122"/>
              </a:rPr>
              <a:t>          x[i] = x[i] + s;</a:t>
            </a:r>
            <a:endParaRPr kumimoji="0" lang="en-US" altLang="zh-CN" sz="2400">
              <a:latin typeface="Tahoma" panose="020B0604030504040204" pitchFamily="34" charset="0"/>
              <a:ea typeface="宋体" panose="02010600030101010101" pitchFamily="2" charset="-122"/>
            </a:endParaRPr>
          </a:p>
          <a:p>
            <a:pPr>
              <a:lnSpc>
                <a:spcPct val="90000"/>
              </a:lnSpc>
              <a:spcBef>
                <a:spcPct val="30000"/>
              </a:spcBef>
              <a:buClrTx/>
              <a:buFontTx/>
              <a:buNone/>
            </a:pPr>
            <a:endParaRPr kumimoji="0" lang="en-US" altLang="zh-CN" sz="2400">
              <a:latin typeface="Tahoma" panose="020B0604030504040204" pitchFamily="34" charset="0"/>
              <a:ea typeface="宋体" panose="02010600030101010101" pitchFamily="2" charset="-122"/>
            </a:endParaRPr>
          </a:p>
        </p:txBody>
      </p:sp>
      <p:sp>
        <p:nvSpPr>
          <p:cNvPr id="214022"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
        <p:nvSpPr>
          <p:cNvPr id="907271" name="Rectangle 7"/>
          <p:cNvSpPr>
            <a:spLocks noChangeArrowheads="1"/>
          </p:cNvSpPr>
          <p:nvPr/>
        </p:nvSpPr>
        <p:spPr bwMode="auto">
          <a:xfrm>
            <a:off x="671513" y="3941763"/>
            <a:ext cx="8229600" cy="2438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7" tIns="44450" rIns="90487" bIns="44450"/>
          <a:lstStyle>
            <a:lvl1pPr marL="342900" indent="-342900" eaLnBrk="0" hangingPunct="0">
              <a:buChar char="w"/>
              <a:tabLst>
                <a:tab pos="952500" algn="l"/>
                <a:tab pos="2381250" algn="l"/>
                <a:tab pos="4184650" algn="l"/>
              </a:tabLst>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tabLst>
                <a:tab pos="952500" algn="l"/>
                <a:tab pos="2381250" algn="l"/>
                <a:tab pos="4184650" algn="l"/>
              </a:tabLst>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tabLst>
                <a:tab pos="952500" algn="l"/>
                <a:tab pos="2381250" algn="l"/>
                <a:tab pos="4184650" algn="l"/>
              </a:tabLst>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tabLst>
                <a:tab pos="952500" algn="l"/>
                <a:tab pos="2381250" algn="l"/>
                <a:tab pos="4184650" algn="l"/>
              </a:tabLst>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tabLst>
                <a:tab pos="952500" algn="l"/>
                <a:tab pos="2381250" algn="l"/>
                <a:tab pos="4184650" algn="l"/>
              </a:tabLst>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tabLst>
                <a:tab pos="952500" algn="l"/>
                <a:tab pos="2381250" algn="l"/>
                <a:tab pos="4184650" algn="l"/>
              </a:tabLst>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tabLst>
                <a:tab pos="952500" algn="l"/>
                <a:tab pos="2381250" algn="l"/>
                <a:tab pos="4184650" algn="l"/>
              </a:tabLst>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tabLst>
                <a:tab pos="952500" algn="l"/>
                <a:tab pos="2381250" algn="l"/>
                <a:tab pos="4184650" algn="l"/>
              </a:tabLst>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tabLst>
                <a:tab pos="952500" algn="l"/>
                <a:tab pos="2381250" algn="l"/>
                <a:tab pos="4184650" algn="l"/>
              </a:tabLst>
              <a:defRPr kumimoji="1" b="1">
                <a:solidFill>
                  <a:schemeClr val="tx1"/>
                </a:solidFill>
                <a:latin typeface="Arial" panose="020B0604020202020204" pitchFamily="34" charset="0"/>
                <a:ea typeface="楷体_GB2312" pitchFamily="49" charset="-122"/>
              </a:defRPr>
            </a:lvl9pPr>
          </a:lstStyle>
          <a:p>
            <a:pPr eaLnBrk="1" hangingPunct="1">
              <a:lnSpc>
                <a:spcPct val="110000"/>
              </a:lnSpc>
              <a:buFont typeface="Wingdings" panose="05000000000000000000" pitchFamily="2" charset="2"/>
              <a:buNone/>
            </a:pPr>
            <a:r>
              <a:rPr lang="en-US" altLang="zh-CN" sz="2400">
                <a:latin typeface="Tahoma" panose="020B0604030504040204" pitchFamily="34" charset="0"/>
                <a:ea typeface="黑体" panose="02010609060101010101" pitchFamily="2" charset="-122"/>
              </a:rPr>
              <a:t>Loop</a:t>
            </a:r>
            <a:r>
              <a:rPr lang="en-US" altLang="zh-CN" sz="2400">
                <a:solidFill>
                  <a:srgbClr val="3333CC"/>
                </a:solidFill>
                <a:latin typeface="Tahoma" panose="020B0604030504040204" pitchFamily="34" charset="0"/>
                <a:ea typeface="黑体" panose="02010609060101010101" pitchFamily="2" charset="-122"/>
              </a:rPr>
              <a:t>: L.D	F0,0(R1)	;F0=array element</a:t>
            </a:r>
            <a:endParaRPr lang="en-US" altLang="zh-CN" sz="2400">
              <a:solidFill>
                <a:srgbClr val="3333CC"/>
              </a:solidFill>
              <a:latin typeface="Tahoma" panose="020B0604030504040204" pitchFamily="34" charset="0"/>
              <a:ea typeface="黑体" panose="02010609060101010101" pitchFamily="2" charset="-122"/>
            </a:endParaRPr>
          </a:p>
          <a:p>
            <a:pPr eaLnBrk="1" hangingPunct="1">
              <a:lnSpc>
                <a:spcPct val="110000"/>
              </a:lnSpc>
              <a:buFont typeface="Wingdings" panose="05000000000000000000" pitchFamily="2" charset="2"/>
              <a:buNone/>
            </a:pPr>
            <a:r>
              <a:rPr lang="en-US" altLang="zh-CN" sz="2400">
                <a:solidFill>
                  <a:srgbClr val="3333CC"/>
                </a:solidFill>
                <a:latin typeface="Tahoma" panose="020B0604030504040204" pitchFamily="34" charset="0"/>
                <a:ea typeface="黑体" panose="02010609060101010101" pitchFamily="2" charset="-122"/>
              </a:rPr>
              <a:t>           ADD.D	F4,F0,F2	;add scalar in F2</a:t>
            </a:r>
            <a:endParaRPr lang="en-US" altLang="zh-CN" sz="2400">
              <a:solidFill>
                <a:srgbClr val="3333CC"/>
              </a:solidFill>
              <a:latin typeface="Tahoma" panose="020B0604030504040204" pitchFamily="34" charset="0"/>
              <a:ea typeface="黑体" panose="02010609060101010101" pitchFamily="2" charset="-122"/>
            </a:endParaRPr>
          </a:p>
          <a:p>
            <a:pPr eaLnBrk="1" hangingPunct="1">
              <a:lnSpc>
                <a:spcPct val="110000"/>
              </a:lnSpc>
              <a:buFont typeface="Wingdings" panose="05000000000000000000" pitchFamily="2" charset="2"/>
              <a:buNone/>
            </a:pPr>
            <a:r>
              <a:rPr lang="en-US" altLang="zh-CN" sz="2400">
                <a:solidFill>
                  <a:srgbClr val="3333CC"/>
                </a:solidFill>
                <a:latin typeface="Tahoma" panose="020B0604030504040204" pitchFamily="34" charset="0"/>
                <a:ea typeface="黑体" panose="02010609060101010101" pitchFamily="2" charset="-122"/>
              </a:rPr>
              <a:t>           S.D	F4,0(R1)	;store result</a:t>
            </a:r>
            <a:endParaRPr lang="en-US" altLang="zh-CN" sz="2400">
              <a:solidFill>
                <a:srgbClr val="3333CC"/>
              </a:solidFill>
              <a:latin typeface="Tahoma" panose="020B0604030504040204" pitchFamily="34" charset="0"/>
              <a:ea typeface="黑体" panose="02010609060101010101" pitchFamily="2" charset="-122"/>
            </a:endParaRPr>
          </a:p>
          <a:p>
            <a:pPr eaLnBrk="1" hangingPunct="1">
              <a:lnSpc>
                <a:spcPct val="110000"/>
              </a:lnSpc>
              <a:buFont typeface="Wingdings" panose="05000000000000000000" pitchFamily="2" charset="2"/>
              <a:buNone/>
            </a:pPr>
            <a:r>
              <a:rPr lang="en-US" altLang="zh-CN" sz="2400">
                <a:solidFill>
                  <a:srgbClr val="3333CC"/>
                </a:solidFill>
                <a:latin typeface="Tahoma" panose="020B0604030504040204" pitchFamily="34" charset="0"/>
                <a:ea typeface="黑体" panose="02010609060101010101" pitchFamily="2" charset="-122"/>
              </a:rPr>
              <a:t>           DADDUI	R1,R1,#-8	;decrement pointer (DW)</a:t>
            </a:r>
            <a:endParaRPr lang="en-US" altLang="zh-CN" sz="2400">
              <a:solidFill>
                <a:srgbClr val="3333CC"/>
              </a:solidFill>
              <a:latin typeface="Tahoma" panose="020B0604030504040204" pitchFamily="34" charset="0"/>
              <a:ea typeface="黑体" panose="02010609060101010101" pitchFamily="2" charset="-122"/>
            </a:endParaRPr>
          </a:p>
          <a:p>
            <a:pPr eaLnBrk="1" hangingPunct="1">
              <a:lnSpc>
                <a:spcPct val="110000"/>
              </a:lnSpc>
              <a:buFont typeface="Wingdings" panose="05000000000000000000" pitchFamily="2" charset="2"/>
              <a:buNone/>
            </a:pPr>
            <a:r>
              <a:rPr lang="en-US" altLang="zh-CN" sz="2400">
                <a:solidFill>
                  <a:srgbClr val="3333CC"/>
                </a:solidFill>
                <a:latin typeface="Tahoma" panose="020B0604030504040204" pitchFamily="34" charset="0"/>
                <a:ea typeface="黑体" panose="02010609060101010101" pitchFamily="2" charset="-122"/>
              </a:rPr>
              <a:t>           BNE	R1,R2,</a:t>
            </a:r>
            <a:r>
              <a:rPr lang="en-US" altLang="zh-CN" sz="2400">
                <a:latin typeface="Tahoma" panose="020B0604030504040204" pitchFamily="34" charset="0"/>
                <a:ea typeface="黑体" panose="02010609060101010101" pitchFamily="2" charset="-122"/>
              </a:rPr>
              <a:t>Loop	</a:t>
            </a:r>
            <a:r>
              <a:rPr lang="en-US" altLang="zh-CN" sz="2400">
                <a:solidFill>
                  <a:srgbClr val="3333CC"/>
                </a:solidFill>
                <a:latin typeface="Tahoma" panose="020B0604030504040204" pitchFamily="34" charset="0"/>
                <a:ea typeface="黑体" panose="02010609060101010101" pitchFamily="2" charset="-122"/>
              </a:rPr>
              <a:t>;branch R1!=R2</a:t>
            </a:r>
            <a:endParaRPr lang="en-US" altLang="zh-CN" sz="2400">
              <a:solidFill>
                <a:srgbClr val="3333CC"/>
              </a:solidFill>
              <a:latin typeface="Tahoma" panose="020B0604030504040204" pitchFamily="34" charset="0"/>
              <a:ea typeface="黑体" panose="02010609060101010101" pitchFamily="2" charset="-122"/>
            </a:endParaRPr>
          </a:p>
        </p:txBody>
      </p:sp>
      <p:sp>
        <p:nvSpPr>
          <p:cNvPr id="214024" name="Line 8"/>
          <p:cNvSpPr>
            <a:spLocks noChangeShapeType="1"/>
          </p:cNvSpPr>
          <p:nvPr/>
        </p:nvSpPr>
        <p:spPr bwMode="auto">
          <a:xfrm>
            <a:off x="900113" y="3789363"/>
            <a:ext cx="8001000" cy="0"/>
          </a:xfrm>
          <a:prstGeom prst="line">
            <a:avLst/>
          </a:prstGeom>
          <a:noFill/>
          <a:ln w="127000" cmpd="tri">
            <a:solidFill>
              <a:srgbClr val="0099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4"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907271"/>
                                        </p:tgtEl>
                                        <p:attrNameLst>
                                          <p:attrName>style.visibility</p:attrName>
                                        </p:attrNameLst>
                                      </p:cBhvr>
                                      <p:to>
                                        <p:strVal val="visible"/>
                                      </p:to>
                                    </p:set>
                                    <p:animEffect transition="in" filter="wipe(up)">
                                      <p:cBhvr>
                                        <p:cTn id="7" dur="500"/>
                                        <p:tgtEl>
                                          <p:spTgt spid="9072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7271" grpId="0" autoUpdateAnimBg="0"/>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8290" name="Rectangle 2"/>
          <p:cNvSpPr>
            <a:spLocks noGrp="1" noChangeArrowheads="1"/>
          </p:cNvSpPr>
          <p:nvPr>
            <p:ph type="title"/>
          </p:nvPr>
        </p:nvSpPr>
        <p:spPr/>
        <p:txBody>
          <a:bodyPr/>
          <a:lstStyle/>
          <a:p>
            <a:pPr eaLnBrk="1" hangingPunct="1">
              <a:defRPr/>
            </a:pPr>
            <a:r>
              <a:rPr lang="zh-CN" altLang="en-US" smtClean="0"/>
              <a:t>调度技术</a:t>
            </a:r>
            <a:br>
              <a:rPr lang="zh-CN" altLang="en-US" sz="3200" smtClean="0"/>
            </a:br>
            <a:r>
              <a:rPr lang="zh-CN" altLang="en-US" sz="3200" smtClean="0"/>
              <a:t>                           — 调度前</a:t>
            </a:r>
            <a:endParaRPr lang="zh-CN" altLang="en-US" sz="3200" smtClean="0"/>
          </a:p>
        </p:txBody>
      </p:sp>
      <p:sp>
        <p:nvSpPr>
          <p:cNvPr id="2150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215044" name="Rectangle 4"/>
          <p:cNvSpPr>
            <a:spLocks noGrp="1" noChangeArrowheads="1"/>
          </p:cNvSpPr>
          <p:nvPr>
            <p:ph type="body" idx="1"/>
          </p:nvPr>
        </p:nvSpPr>
        <p:spPr>
          <a:xfrm>
            <a:off x="809625" y="1989138"/>
            <a:ext cx="7958138" cy="4640262"/>
          </a:xfrm>
        </p:spPr>
        <p:txBody>
          <a:bodyPr/>
          <a:lstStyle/>
          <a:p>
            <a:pPr marL="374650" indent="-374650" defTabSz="952500" eaLnBrk="1" hangingPunct="1">
              <a:lnSpc>
                <a:spcPct val="90000"/>
              </a:lnSpc>
              <a:buClr>
                <a:srgbClr val="FF0000"/>
              </a:buClr>
              <a:buFont typeface="Wingdings" panose="05000000000000000000" pitchFamily="2" charset="2"/>
              <a:buNone/>
              <a:tabLst>
                <a:tab pos="1139825" algn="l"/>
                <a:tab pos="2381250" algn="l"/>
                <a:tab pos="4864100" algn="l"/>
              </a:tabLst>
            </a:pPr>
            <a:r>
              <a:rPr lang="en-US" altLang="zh-CN" sz="2400" smtClean="0">
                <a:latin typeface="Tahoma" panose="020B0604030504040204" pitchFamily="34" charset="0"/>
              </a:rPr>
              <a:t>                                       Clock cycle issued</a:t>
            </a:r>
            <a:endParaRPr lang="zh-CN" altLang="en-US" sz="2400" smtClean="0">
              <a:latin typeface="Tahoma" panose="020B0604030504040204" pitchFamily="34" charset="0"/>
            </a:endParaRPr>
          </a:p>
          <a:p>
            <a:pPr marL="374650" indent="-374650" defTabSz="952500" eaLnBrk="1" hangingPunct="1">
              <a:lnSpc>
                <a:spcPct val="90000"/>
              </a:lnSpc>
              <a:buFont typeface="Wingdings" panose="05000000000000000000" pitchFamily="2" charset="2"/>
              <a:buNone/>
              <a:tabLst>
                <a:tab pos="1139825" algn="l"/>
                <a:tab pos="2381250" algn="l"/>
                <a:tab pos="4864100" algn="l"/>
              </a:tabLst>
            </a:pPr>
            <a:r>
              <a:rPr lang="en-US" altLang="zh-CN" sz="2400" smtClean="0">
                <a:latin typeface="Tahoma" panose="020B0604030504040204" pitchFamily="34" charset="0"/>
              </a:rPr>
              <a:t>Loop: 	L.D 	  F0,0(R1)	1</a:t>
            </a:r>
            <a:endParaRPr lang="en-US" altLang="zh-CN" sz="2400" smtClean="0">
              <a:latin typeface="Tahoma" panose="020B0604030504040204" pitchFamily="34" charset="0"/>
            </a:endParaRPr>
          </a:p>
          <a:p>
            <a:pPr marL="374650" indent="-374650" defTabSz="952500" eaLnBrk="1" hangingPunct="1">
              <a:lnSpc>
                <a:spcPct val="90000"/>
              </a:lnSpc>
              <a:buFont typeface="Wingdings" panose="05000000000000000000" pitchFamily="2" charset="2"/>
              <a:buNone/>
              <a:tabLst>
                <a:tab pos="1139825" algn="l"/>
                <a:tab pos="2381250" algn="l"/>
                <a:tab pos="4864100" algn="l"/>
              </a:tabLst>
            </a:pPr>
            <a:r>
              <a:rPr lang="en-US" altLang="zh-CN" sz="2400" smtClean="0">
                <a:latin typeface="Tahoma" panose="020B0604030504040204" pitchFamily="34" charset="0"/>
              </a:rPr>
              <a:t>		</a:t>
            </a:r>
            <a:r>
              <a:rPr lang="en-US" altLang="zh-CN" sz="2400" smtClean="0">
                <a:solidFill>
                  <a:srgbClr val="FF0000"/>
                </a:solidFill>
                <a:latin typeface="Tahoma" panose="020B0604030504040204" pitchFamily="34" charset="0"/>
              </a:rPr>
              <a:t>stall</a:t>
            </a:r>
            <a:r>
              <a:rPr lang="en-US" altLang="zh-CN" sz="2400" smtClean="0">
                <a:latin typeface="Tahoma" panose="020B0604030504040204" pitchFamily="34" charset="0"/>
              </a:rPr>
              <a:t>		2</a:t>
            </a:r>
            <a:endParaRPr lang="en-US" altLang="zh-CN" sz="2400" smtClean="0">
              <a:latin typeface="Tahoma" panose="020B0604030504040204" pitchFamily="34" charset="0"/>
            </a:endParaRPr>
          </a:p>
          <a:p>
            <a:pPr marL="374650" indent="-374650" defTabSz="952500" eaLnBrk="1" hangingPunct="1">
              <a:lnSpc>
                <a:spcPct val="90000"/>
              </a:lnSpc>
              <a:buFont typeface="Wingdings" panose="05000000000000000000" pitchFamily="2" charset="2"/>
              <a:buNone/>
              <a:tabLst>
                <a:tab pos="1139825" algn="l"/>
                <a:tab pos="2381250" algn="l"/>
                <a:tab pos="4864100" algn="l"/>
              </a:tabLst>
            </a:pPr>
            <a:r>
              <a:rPr lang="en-US" altLang="zh-CN" sz="2400" smtClean="0">
                <a:latin typeface="Tahoma" panose="020B0604030504040204" pitchFamily="34" charset="0"/>
              </a:rPr>
              <a:t>		ADD.D 	  F4,F0,F2	3</a:t>
            </a:r>
            <a:endParaRPr lang="en-US" altLang="zh-CN" sz="2400" smtClean="0">
              <a:latin typeface="Tahoma" panose="020B0604030504040204" pitchFamily="34" charset="0"/>
            </a:endParaRPr>
          </a:p>
          <a:p>
            <a:pPr marL="374650" indent="-374650" defTabSz="952500" eaLnBrk="1" hangingPunct="1">
              <a:lnSpc>
                <a:spcPct val="90000"/>
              </a:lnSpc>
              <a:buFont typeface="Wingdings" panose="05000000000000000000" pitchFamily="2" charset="2"/>
              <a:buNone/>
              <a:tabLst>
                <a:tab pos="1139825" algn="l"/>
                <a:tab pos="2381250" algn="l"/>
                <a:tab pos="4864100" algn="l"/>
              </a:tabLst>
            </a:pPr>
            <a:r>
              <a:rPr lang="en-US" altLang="zh-CN" sz="2400" smtClean="0">
                <a:latin typeface="Tahoma" panose="020B0604030504040204" pitchFamily="34" charset="0"/>
              </a:rPr>
              <a:t>		</a:t>
            </a:r>
            <a:r>
              <a:rPr lang="en-US" altLang="zh-CN" sz="2400" smtClean="0">
                <a:solidFill>
                  <a:srgbClr val="FF0000"/>
                </a:solidFill>
                <a:latin typeface="Tahoma" panose="020B0604030504040204" pitchFamily="34" charset="0"/>
              </a:rPr>
              <a:t>stall</a:t>
            </a:r>
            <a:r>
              <a:rPr lang="en-US" altLang="zh-CN" sz="2400" smtClean="0">
                <a:latin typeface="Tahoma" panose="020B0604030504040204" pitchFamily="34" charset="0"/>
              </a:rPr>
              <a:t>		4</a:t>
            </a:r>
            <a:endParaRPr lang="en-US" altLang="zh-CN" sz="2400" smtClean="0">
              <a:latin typeface="Tahoma" panose="020B0604030504040204" pitchFamily="34" charset="0"/>
            </a:endParaRPr>
          </a:p>
          <a:p>
            <a:pPr marL="374650" indent="-374650" defTabSz="952500" eaLnBrk="1" hangingPunct="1">
              <a:lnSpc>
                <a:spcPct val="90000"/>
              </a:lnSpc>
              <a:buFont typeface="Wingdings" panose="05000000000000000000" pitchFamily="2" charset="2"/>
              <a:buNone/>
              <a:tabLst>
                <a:tab pos="1139825" algn="l"/>
                <a:tab pos="2381250" algn="l"/>
                <a:tab pos="4864100" algn="l"/>
              </a:tabLst>
            </a:pPr>
            <a:r>
              <a:rPr lang="en-US" altLang="zh-CN" sz="2400" smtClean="0">
                <a:latin typeface="Tahoma" panose="020B0604030504040204" pitchFamily="34" charset="0"/>
              </a:rPr>
              <a:t>		</a:t>
            </a:r>
            <a:r>
              <a:rPr lang="en-US" altLang="zh-CN" sz="2400" smtClean="0">
                <a:solidFill>
                  <a:srgbClr val="FF0000"/>
                </a:solidFill>
                <a:latin typeface="Tahoma" panose="020B0604030504040204" pitchFamily="34" charset="0"/>
              </a:rPr>
              <a:t>stall</a:t>
            </a:r>
            <a:r>
              <a:rPr lang="en-US" altLang="zh-CN" sz="2400" smtClean="0">
                <a:latin typeface="Tahoma" panose="020B0604030504040204" pitchFamily="34" charset="0"/>
              </a:rPr>
              <a:t>		5</a:t>
            </a:r>
            <a:endParaRPr lang="en-US" altLang="zh-CN" sz="2400" smtClean="0">
              <a:latin typeface="Tahoma" panose="020B0604030504040204" pitchFamily="34" charset="0"/>
            </a:endParaRPr>
          </a:p>
          <a:p>
            <a:pPr marL="374650" indent="-374650" defTabSz="952500" eaLnBrk="1" hangingPunct="1">
              <a:lnSpc>
                <a:spcPct val="90000"/>
              </a:lnSpc>
              <a:buFont typeface="Wingdings" panose="05000000000000000000" pitchFamily="2" charset="2"/>
              <a:buNone/>
              <a:tabLst>
                <a:tab pos="1139825" algn="l"/>
                <a:tab pos="2381250" algn="l"/>
                <a:tab pos="4864100" algn="l"/>
              </a:tabLst>
            </a:pPr>
            <a:r>
              <a:rPr lang="en-US" altLang="zh-CN" sz="2400" smtClean="0">
                <a:latin typeface="Tahoma" panose="020B0604030504040204" pitchFamily="34" charset="0"/>
              </a:rPr>
              <a:t>		S.D	  F4,0(R1)	6</a:t>
            </a:r>
            <a:endParaRPr lang="en-US" altLang="zh-CN" sz="2400" smtClean="0">
              <a:latin typeface="Tahoma" panose="020B0604030504040204" pitchFamily="34" charset="0"/>
            </a:endParaRPr>
          </a:p>
          <a:p>
            <a:pPr marL="374650" indent="-374650" defTabSz="952500" eaLnBrk="1" hangingPunct="1">
              <a:lnSpc>
                <a:spcPct val="90000"/>
              </a:lnSpc>
              <a:buFont typeface="Wingdings" panose="05000000000000000000" pitchFamily="2" charset="2"/>
              <a:buNone/>
              <a:tabLst>
                <a:tab pos="1139825" algn="l"/>
                <a:tab pos="2381250" algn="l"/>
                <a:tab pos="4864100" algn="l"/>
              </a:tabLst>
            </a:pPr>
            <a:r>
              <a:rPr lang="en-US" altLang="zh-CN" sz="2400" smtClean="0">
                <a:latin typeface="Tahoma" panose="020B0604030504040204" pitchFamily="34" charset="0"/>
              </a:rPr>
              <a:t>		DADDUI  R1,R1,#-8	7</a:t>
            </a:r>
            <a:endParaRPr lang="en-US" altLang="zh-CN" sz="2400" smtClean="0">
              <a:latin typeface="Tahoma" panose="020B0604030504040204" pitchFamily="34" charset="0"/>
            </a:endParaRPr>
          </a:p>
          <a:p>
            <a:pPr marL="374650" indent="-374650" defTabSz="952500" eaLnBrk="1" hangingPunct="1">
              <a:lnSpc>
                <a:spcPct val="90000"/>
              </a:lnSpc>
              <a:buFont typeface="Wingdings" panose="05000000000000000000" pitchFamily="2" charset="2"/>
              <a:buNone/>
              <a:tabLst>
                <a:tab pos="1139825" algn="l"/>
                <a:tab pos="2381250" algn="l"/>
                <a:tab pos="4864100" algn="l"/>
              </a:tabLst>
            </a:pPr>
            <a:r>
              <a:rPr lang="en-US" altLang="zh-CN" sz="2400" smtClean="0">
                <a:latin typeface="Tahoma" panose="020B0604030504040204" pitchFamily="34" charset="0"/>
              </a:rPr>
              <a:t>		</a:t>
            </a:r>
            <a:r>
              <a:rPr lang="en-US" altLang="zh-CN" sz="2400" smtClean="0">
                <a:solidFill>
                  <a:srgbClr val="FF0000"/>
                </a:solidFill>
                <a:latin typeface="Tahoma" panose="020B0604030504040204" pitchFamily="34" charset="0"/>
              </a:rPr>
              <a:t>stall</a:t>
            </a:r>
            <a:r>
              <a:rPr lang="en-US" altLang="zh-CN" sz="2400" smtClean="0">
                <a:solidFill>
                  <a:srgbClr val="0000CC"/>
                </a:solidFill>
                <a:latin typeface="Tahoma" panose="020B0604030504040204" pitchFamily="34" charset="0"/>
              </a:rPr>
              <a:t>	</a:t>
            </a:r>
            <a:r>
              <a:rPr lang="en-US" altLang="zh-CN" sz="2400" smtClean="0">
                <a:latin typeface="Tahoma" panose="020B0604030504040204" pitchFamily="34" charset="0"/>
              </a:rPr>
              <a:t>	8</a:t>
            </a:r>
            <a:endParaRPr lang="en-US" altLang="zh-CN" sz="2400" smtClean="0">
              <a:latin typeface="Tahoma" panose="020B0604030504040204" pitchFamily="34" charset="0"/>
            </a:endParaRPr>
          </a:p>
          <a:p>
            <a:pPr marL="374650" indent="-374650" defTabSz="952500" eaLnBrk="1" hangingPunct="1">
              <a:lnSpc>
                <a:spcPct val="90000"/>
              </a:lnSpc>
              <a:buFont typeface="Wingdings" panose="05000000000000000000" pitchFamily="2" charset="2"/>
              <a:buNone/>
              <a:tabLst>
                <a:tab pos="1139825" algn="l"/>
                <a:tab pos="2381250" algn="l"/>
                <a:tab pos="4864100" algn="l"/>
              </a:tabLst>
            </a:pPr>
            <a:r>
              <a:rPr lang="en-US" altLang="zh-CN" sz="2400" smtClean="0">
                <a:latin typeface="Tahoma" panose="020B0604030504040204" pitchFamily="34" charset="0"/>
              </a:rPr>
              <a:t>		BNE	  R1,R2,Loop	9</a:t>
            </a:r>
            <a:endParaRPr lang="en-US" altLang="zh-CN" sz="2400" smtClean="0">
              <a:latin typeface="Tahoma" panose="020B0604030504040204" pitchFamily="34" charset="0"/>
            </a:endParaRPr>
          </a:p>
          <a:p>
            <a:pPr marL="374650" indent="-374650" defTabSz="952500" eaLnBrk="1" hangingPunct="1">
              <a:lnSpc>
                <a:spcPct val="90000"/>
              </a:lnSpc>
              <a:buFont typeface="Wingdings" panose="05000000000000000000" pitchFamily="2" charset="2"/>
              <a:buNone/>
              <a:tabLst>
                <a:tab pos="1139825" algn="l"/>
                <a:tab pos="2381250" algn="l"/>
                <a:tab pos="4864100" algn="l"/>
              </a:tabLst>
            </a:pPr>
            <a:r>
              <a:rPr lang="en-US" altLang="zh-CN" sz="2400" smtClean="0">
                <a:latin typeface="Tahoma" panose="020B0604030504040204" pitchFamily="34" charset="0"/>
              </a:rPr>
              <a:t>		</a:t>
            </a:r>
            <a:r>
              <a:rPr lang="en-US" altLang="zh-CN" sz="2400" smtClean="0">
                <a:solidFill>
                  <a:srgbClr val="FF0000"/>
                </a:solidFill>
                <a:latin typeface="Tahoma" panose="020B0604030504040204" pitchFamily="34" charset="0"/>
              </a:rPr>
              <a:t>stall</a:t>
            </a:r>
            <a:r>
              <a:rPr lang="en-US" altLang="zh-CN" sz="2400" smtClean="0">
                <a:solidFill>
                  <a:srgbClr val="0000CC"/>
                </a:solidFill>
                <a:latin typeface="Tahoma" panose="020B0604030504040204" pitchFamily="34" charset="0"/>
              </a:rPr>
              <a:t>	</a:t>
            </a:r>
            <a:r>
              <a:rPr lang="en-US" altLang="zh-CN" sz="2400" smtClean="0">
                <a:latin typeface="Tahoma" panose="020B0604030504040204" pitchFamily="34" charset="0"/>
              </a:rPr>
              <a:t>	10</a:t>
            </a:r>
            <a:endParaRPr lang="zh-CN" altLang="en-US" sz="2400" smtClean="0">
              <a:latin typeface="Tahoma" panose="020B0604030504040204" pitchFamily="34" charset="0"/>
            </a:endParaRPr>
          </a:p>
        </p:txBody>
      </p:sp>
      <p:sp>
        <p:nvSpPr>
          <p:cNvPr id="21504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
        <p:nvSpPr>
          <p:cNvPr id="908294" name="AutoShape 6"/>
          <p:cNvSpPr>
            <a:spLocks noChangeArrowheads="1"/>
          </p:cNvSpPr>
          <p:nvPr/>
        </p:nvSpPr>
        <p:spPr bwMode="auto">
          <a:xfrm>
            <a:off x="6248400" y="3581400"/>
            <a:ext cx="2667000" cy="1828800"/>
          </a:xfrm>
          <a:prstGeom prst="cloudCallout">
            <a:avLst>
              <a:gd name="adj1" fmla="val -54644"/>
              <a:gd name="adj2" fmla="val 95051"/>
            </a:avLst>
          </a:prstGeom>
          <a:solidFill>
            <a:schemeClr val="bg1"/>
          </a:solidFill>
          <a:ln w="28575">
            <a:solidFill>
              <a:schemeClr val="tx1"/>
            </a:solidFill>
            <a:round/>
          </a:ln>
          <a:effectLst>
            <a:outerShdw dist="35921" dir="2700000" algn="ctr" rotWithShape="0">
              <a:schemeClr val="bg2"/>
            </a:outerShdw>
          </a:effec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dirty="0" smtClean="0">
                <a:solidFill>
                  <a:srgbClr val="0000FF"/>
                </a:solidFill>
                <a:latin typeface="楷体_GB2312" pitchFamily="49" charset="-122"/>
              </a:rPr>
              <a:t>发射</a:t>
            </a:r>
            <a:r>
              <a:rPr lang="zh-CN" altLang="en-US" sz="2400" dirty="0" smtClean="0">
                <a:latin typeface="楷体_GB2312" pitchFamily="49" charset="-122"/>
              </a:rPr>
              <a:t>每个</a:t>
            </a:r>
            <a:r>
              <a:rPr lang="zh-CN" altLang="en-US" sz="2400" dirty="0">
                <a:latin typeface="楷体_GB2312" pitchFamily="49" charset="-122"/>
              </a:rPr>
              <a:t>循环体需要10个时钟周期</a:t>
            </a:r>
            <a:endParaRPr lang="zh-CN" altLang="en-US" sz="2400" dirty="0">
              <a:latin typeface="楷体_GB2312" pitchFamily="49" charset="-122"/>
            </a:endParaRPr>
          </a:p>
        </p:txBody>
      </p:sp>
    </p:spTree>
  </p:cSld>
  <p:clrMapOvr>
    <a:masterClrMapping/>
  </p:clrMapOvr>
  <p:transition spd="slow">
    <p:random/>
    <p:sndAc>
      <p:stSnd>
        <p:snd r:embed="rId4"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908294"/>
                                        </p:tgtEl>
                                        <p:attrNameLst>
                                          <p:attrName>style.visibility</p:attrName>
                                        </p:attrNameLst>
                                      </p:cBhvr>
                                      <p:to>
                                        <p:strVal val="visible"/>
                                      </p:to>
                                    </p:set>
                                    <p:animEffect transition="in" filter="wipe(down)">
                                      <p:cBhvr>
                                        <p:cTn id="7" dur="500"/>
                                        <p:tgtEl>
                                          <p:spTgt spid="9082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8294" grpId="0" animBg="1" autoUpdateAnimBg="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216067" name="Rectangle 4"/>
          <p:cNvSpPr>
            <a:spLocks noGrp="1" noChangeArrowheads="1"/>
          </p:cNvSpPr>
          <p:nvPr>
            <p:ph type="body" idx="1"/>
          </p:nvPr>
        </p:nvSpPr>
        <p:spPr>
          <a:xfrm>
            <a:off x="809625" y="1989138"/>
            <a:ext cx="8154988" cy="4411662"/>
          </a:xfrm>
        </p:spPr>
        <p:txBody>
          <a:bodyPr/>
          <a:lstStyle/>
          <a:p>
            <a:pPr eaLnBrk="1" hangingPunct="1">
              <a:lnSpc>
                <a:spcPct val="140000"/>
              </a:lnSpc>
              <a:buFont typeface="Wingdings" panose="05000000000000000000" pitchFamily="2" charset="2"/>
              <a:buNone/>
              <a:tabLst>
                <a:tab pos="1054100" algn="l"/>
                <a:tab pos="2381250" algn="l"/>
                <a:tab pos="4575175" algn="l"/>
              </a:tabLst>
            </a:pPr>
            <a:r>
              <a:rPr lang="en-US" altLang="zh-CN" sz="2400" dirty="0" smtClean="0">
                <a:latin typeface="Tahoma" panose="020B0604030504040204" pitchFamily="34" charset="0"/>
              </a:rPr>
              <a:t>Loop: 	L.D 	 F0,0(R1)</a:t>
            </a:r>
            <a:endParaRPr lang="en-US" altLang="zh-CN" sz="2400" dirty="0" smtClean="0">
              <a:latin typeface="Tahoma" panose="020B0604030504040204" pitchFamily="34" charset="0"/>
            </a:endParaRPr>
          </a:p>
          <a:p>
            <a:pPr eaLnBrk="1" hangingPunct="1">
              <a:lnSpc>
                <a:spcPct val="140000"/>
              </a:lnSpc>
              <a:buFont typeface="Wingdings" panose="05000000000000000000" pitchFamily="2" charset="2"/>
              <a:buNone/>
              <a:tabLst>
                <a:tab pos="1054100" algn="l"/>
                <a:tab pos="2381250" algn="l"/>
                <a:tab pos="4575175" algn="l"/>
              </a:tabLst>
            </a:pPr>
            <a:r>
              <a:rPr lang="en-US" altLang="zh-CN" sz="2400" dirty="0" smtClean="0">
                <a:latin typeface="Tahoma" panose="020B0604030504040204" pitchFamily="34" charset="0"/>
              </a:rPr>
              <a:t>		DADDUI R1,R1,#-8</a:t>
            </a:r>
            <a:endParaRPr lang="en-US" altLang="zh-CN" sz="2400" dirty="0" smtClean="0">
              <a:latin typeface="Tahoma" panose="020B0604030504040204" pitchFamily="34" charset="0"/>
            </a:endParaRPr>
          </a:p>
          <a:p>
            <a:pPr eaLnBrk="1" hangingPunct="1">
              <a:lnSpc>
                <a:spcPct val="140000"/>
              </a:lnSpc>
              <a:buFont typeface="Wingdings" panose="05000000000000000000" pitchFamily="2" charset="2"/>
              <a:buNone/>
              <a:tabLst>
                <a:tab pos="1054100" algn="l"/>
                <a:tab pos="2381250" algn="l"/>
                <a:tab pos="4575175" algn="l"/>
              </a:tabLst>
            </a:pPr>
            <a:r>
              <a:rPr lang="en-US" altLang="zh-CN" sz="2400" dirty="0" smtClean="0">
                <a:latin typeface="Tahoma" panose="020B0604030504040204" pitchFamily="34" charset="0"/>
              </a:rPr>
              <a:t>		ADD.D 	 F4,F0,F2</a:t>
            </a:r>
            <a:endParaRPr lang="en-US" altLang="zh-CN" sz="2400" dirty="0" smtClean="0">
              <a:latin typeface="Tahoma" panose="020B0604030504040204" pitchFamily="34" charset="0"/>
            </a:endParaRPr>
          </a:p>
          <a:p>
            <a:pPr eaLnBrk="1" hangingPunct="1">
              <a:lnSpc>
                <a:spcPct val="140000"/>
              </a:lnSpc>
              <a:buFont typeface="Wingdings" panose="05000000000000000000" pitchFamily="2" charset="2"/>
              <a:buNone/>
              <a:tabLst>
                <a:tab pos="1054100" algn="l"/>
                <a:tab pos="2381250" algn="l"/>
                <a:tab pos="4575175" algn="l"/>
              </a:tabLst>
            </a:pPr>
            <a:r>
              <a:rPr lang="en-US" altLang="zh-CN" sz="2400" dirty="0" smtClean="0">
                <a:latin typeface="Tahoma" panose="020B0604030504040204" pitchFamily="34" charset="0"/>
              </a:rPr>
              <a:t>		</a:t>
            </a:r>
            <a:r>
              <a:rPr lang="en-US" altLang="zh-CN" sz="2400" dirty="0" smtClean="0">
                <a:solidFill>
                  <a:srgbClr val="FF0000"/>
                </a:solidFill>
                <a:latin typeface="Tahoma" panose="020B0604030504040204" pitchFamily="34" charset="0"/>
              </a:rPr>
              <a:t>stall</a:t>
            </a:r>
            <a:endParaRPr lang="en-US" altLang="zh-CN" sz="2400" dirty="0" smtClean="0">
              <a:solidFill>
                <a:srgbClr val="FF0000"/>
              </a:solidFill>
              <a:latin typeface="Tahoma" panose="020B0604030504040204" pitchFamily="34" charset="0"/>
            </a:endParaRPr>
          </a:p>
          <a:p>
            <a:pPr eaLnBrk="1" hangingPunct="1">
              <a:lnSpc>
                <a:spcPct val="140000"/>
              </a:lnSpc>
              <a:buFont typeface="Wingdings" panose="05000000000000000000" pitchFamily="2" charset="2"/>
              <a:buNone/>
              <a:tabLst>
                <a:tab pos="1054100" algn="l"/>
                <a:tab pos="2381250" algn="l"/>
                <a:tab pos="4575175" algn="l"/>
              </a:tabLst>
            </a:pPr>
            <a:r>
              <a:rPr lang="en-US" altLang="zh-CN" sz="2400" dirty="0" smtClean="0">
                <a:latin typeface="Tahoma" panose="020B0604030504040204" pitchFamily="34" charset="0"/>
              </a:rPr>
              <a:t>		BNE 	 R1,R2,Loop 	;</a:t>
            </a:r>
            <a:r>
              <a:rPr lang="en-US" altLang="zh-CN" sz="2000" dirty="0" smtClean="0">
                <a:latin typeface="Tahoma" panose="020B0604030504040204" pitchFamily="34" charset="0"/>
              </a:rPr>
              <a:t>delayed branch</a:t>
            </a:r>
            <a:endParaRPr lang="en-US" altLang="zh-CN" sz="2000" dirty="0" smtClean="0">
              <a:latin typeface="Tahoma" panose="020B0604030504040204" pitchFamily="34" charset="0"/>
            </a:endParaRPr>
          </a:p>
          <a:p>
            <a:pPr eaLnBrk="1" hangingPunct="1">
              <a:lnSpc>
                <a:spcPct val="140000"/>
              </a:lnSpc>
              <a:buFont typeface="Wingdings" panose="05000000000000000000" pitchFamily="2" charset="2"/>
              <a:buNone/>
              <a:tabLst>
                <a:tab pos="1054100" algn="l"/>
                <a:tab pos="2381250" algn="l"/>
                <a:tab pos="4575175" algn="l"/>
              </a:tabLst>
            </a:pPr>
            <a:r>
              <a:rPr lang="en-US" altLang="zh-CN" sz="2400" dirty="0" smtClean="0">
                <a:latin typeface="Tahoma" panose="020B0604030504040204" pitchFamily="34" charset="0"/>
              </a:rPr>
              <a:t>		S.D 	 F4,</a:t>
            </a:r>
            <a:r>
              <a:rPr lang="en-US" altLang="zh-CN" sz="2400" dirty="0" smtClean="0">
                <a:solidFill>
                  <a:srgbClr val="0000FF"/>
                </a:solidFill>
                <a:latin typeface="Tahoma" panose="020B0604030504040204" pitchFamily="34" charset="0"/>
              </a:rPr>
              <a:t>8</a:t>
            </a:r>
            <a:r>
              <a:rPr lang="en-US" altLang="zh-CN" sz="2400" dirty="0" smtClean="0">
                <a:latin typeface="Tahoma" panose="020B0604030504040204" pitchFamily="34" charset="0"/>
              </a:rPr>
              <a:t>(R1) 	;</a:t>
            </a:r>
            <a:r>
              <a:rPr lang="en-US" altLang="zh-CN" sz="2000" dirty="0" smtClean="0">
                <a:latin typeface="Tahoma" panose="020B0604030504040204" pitchFamily="34" charset="0"/>
              </a:rPr>
              <a:t>altered &amp; interchanged</a:t>
            </a:r>
            <a:endParaRPr lang="en-US" altLang="zh-CN" sz="2000" dirty="0" smtClean="0">
              <a:latin typeface="Tahoma" panose="020B0604030504040204" pitchFamily="34" charset="0"/>
            </a:endParaRPr>
          </a:p>
          <a:p>
            <a:pPr eaLnBrk="1" hangingPunct="1">
              <a:lnSpc>
                <a:spcPct val="140000"/>
              </a:lnSpc>
              <a:buFont typeface="Wingdings" panose="05000000000000000000" pitchFamily="2" charset="2"/>
              <a:buNone/>
              <a:tabLst>
                <a:tab pos="1054100" algn="l"/>
                <a:tab pos="2381250" algn="l"/>
                <a:tab pos="4575175" algn="l"/>
              </a:tabLst>
            </a:pPr>
            <a:r>
              <a:rPr lang="en-US" altLang="zh-CN" sz="2400" dirty="0" smtClean="0">
                <a:latin typeface="Tahoma" panose="020B0604030504040204" pitchFamily="34" charset="0"/>
              </a:rPr>
              <a:t>				;</a:t>
            </a:r>
            <a:r>
              <a:rPr lang="en-US" altLang="zh-CN" sz="2000" dirty="0" smtClean="0">
                <a:latin typeface="Tahoma" panose="020B0604030504040204" pitchFamily="34" charset="0"/>
              </a:rPr>
              <a:t>with DADDUI</a:t>
            </a:r>
            <a:endParaRPr lang="zh-CN" altLang="en-US" sz="2000" dirty="0" smtClean="0">
              <a:latin typeface="Tahoma" panose="020B0604030504040204" pitchFamily="34" charset="0"/>
            </a:endParaRPr>
          </a:p>
        </p:txBody>
      </p:sp>
      <p:sp>
        <p:nvSpPr>
          <p:cNvPr id="216068"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
        <p:nvSpPr>
          <p:cNvPr id="913414" name="AutoShape 6"/>
          <p:cNvSpPr>
            <a:spLocks noChangeArrowheads="1"/>
          </p:cNvSpPr>
          <p:nvPr/>
        </p:nvSpPr>
        <p:spPr bwMode="auto">
          <a:xfrm>
            <a:off x="6019800" y="2362200"/>
            <a:ext cx="2667000" cy="1828800"/>
          </a:xfrm>
          <a:prstGeom prst="cloudCallout">
            <a:avLst>
              <a:gd name="adj1" fmla="val -103569"/>
              <a:gd name="adj2" fmla="val 44444"/>
            </a:avLst>
          </a:prstGeom>
          <a:solidFill>
            <a:schemeClr val="bg1"/>
          </a:solidFill>
          <a:ln w="28575">
            <a:solidFill>
              <a:schemeClr val="tx1"/>
            </a:solidFill>
            <a:round/>
          </a:ln>
          <a:effectLst>
            <a:outerShdw dist="35921" dir="2700000" algn="ctr" rotWithShape="0">
              <a:schemeClr val="bg2"/>
            </a:outerShdw>
          </a:effectLst>
        </p:spPr>
        <p:txBody>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400" dirty="0" smtClean="0">
                <a:solidFill>
                  <a:srgbClr val="0000FF"/>
                </a:solidFill>
                <a:latin typeface="楷体_GB2312" pitchFamily="49" charset="-122"/>
              </a:rPr>
              <a:t>发射</a:t>
            </a:r>
            <a:r>
              <a:rPr lang="zh-CN" altLang="en-US" sz="2400" dirty="0" smtClean="0">
                <a:latin typeface="楷体_GB2312" pitchFamily="49" charset="-122"/>
              </a:rPr>
              <a:t>每个</a:t>
            </a:r>
            <a:r>
              <a:rPr lang="zh-CN" altLang="en-US" sz="2400" dirty="0">
                <a:latin typeface="楷体_GB2312" pitchFamily="49" charset="-122"/>
              </a:rPr>
              <a:t>循环体只需6个时钟周期</a:t>
            </a:r>
            <a:endParaRPr lang="zh-CN" altLang="en-US" sz="2400" dirty="0">
              <a:latin typeface="楷体_GB2312" pitchFamily="49" charset="-122"/>
            </a:endParaRPr>
          </a:p>
        </p:txBody>
      </p:sp>
      <p:sp>
        <p:nvSpPr>
          <p:cNvPr id="913417" name="Rectangle 9"/>
          <p:cNvSpPr>
            <a:spLocks noGrp="1" noChangeArrowheads="1"/>
          </p:cNvSpPr>
          <p:nvPr>
            <p:ph type="title"/>
          </p:nvPr>
        </p:nvSpPr>
        <p:spPr/>
        <p:txBody>
          <a:bodyPr/>
          <a:lstStyle/>
          <a:p>
            <a:pPr eaLnBrk="1" hangingPunct="1">
              <a:defRPr/>
            </a:pPr>
            <a:r>
              <a:rPr lang="zh-CN" altLang="en-US" smtClean="0"/>
              <a:t>调度技术</a:t>
            </a:r>
            <a:br>
              <a:rPr lang="zh-CN" altLang="en-US" sz="3200" smtClean="0"/>
            </a:br>
            <a:r>
              <a:rPr lang="zh-CN" altLang="en-US" sz="3200" smtClean="0"/>
              <a:t>                          — 调度后</a:t>
            </a:r>
            <a:endParaRPr lang="zh-CN" altLang="en-US" sz="3200" smtClean="0"/>
          </a:p>
        </p:txBody>
      </p:sp>
    </p:spTree>
  </p:cSld>
  <p:clrMapOvr>
    <a:masterClrMapping/>
  </p:clrMapOvr>
  <p:transition spd="slow">
    <p:random/>
    <p:sndAc>
      <p:stSnd>
        <p:snd r:embed="rId4"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913414"/>
                                        </p:tgtEl>
                                        <p:attrNameLst>
                                          <p:attrName>style.visibility</p:attrName>
                                        </p:attrNameLst>
                                      </p:cBhvr>
                                      <p:to>
                                        <p:strVal val="visible"/>
                                      </p:to>
                                    </p:set>
                                    <p:animEffect transition="in" filter="wipe(down)">
                                      <p:cBhvr>
                                        <p:cTn id="7" dur="500"/>
                                        <p:tgtEl>
                                          <p:spTgt spid="9134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3414" grpId="0" animBg="1" autoUpdateAnimBg="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9314" name="Rectangle 2"/>
          <p:cNvSpPr>
            <a:spLocks noGrp="1" noChangeArrowheads="1"/>
          </p:cNvSpPr>
          <p:nvPr>
            <p:ph type="title"/>
          </p:nvPr>
        </p:nvSpPr>
        <p:spPr/>
        <p:txBody>
          <a:bodyPr/>
          <a:lstStyle/>
          <a:p>
            <a:pPr eaLnBrk="1" hangingPunct="1">
              <a:defRPr/>
            </a:pPr>
            <a:r>
              <a:rPr lang="zh-CN" altLang="en-US" smtClean="0"/>
              <a:t>循环展开</a:t>
            </a:r>
            <a:endParaRPr lang="zh-CN" altLang="en-US" smtClean="0"/>
          </a:p>
        </p:txBody>
      </p:sp>
      <p:sp>
        <p:nvSpPr>
          <p:cNvPr id="2170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909316" name="Rectangle 4"/>
          <p:cNvSpPr>
            <a:spLocks noGrp="1" noChangeArrowheads="1"/>
          </p:cNvSpPr>
          <p:nvPr>
            <p:ph type="body" idx="1"/>
          </p:nvPr>
        </p:nvSpPr>
        <p:spPr>
          <a:xfrm>
            <a:off x="809625" y="1989138"/>
            <a:ext cx="8083550" cy="4608512"/>
          </a:xfrm>
        </p:spPr>
        <p:txBody>
          <a:bodyPr/>
          <a:lstStyle/>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思想</a:t>
            </a:r>
            <a:endParaRPr lang="zh-CN" altLang="en-US" sz="28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800" dirty="0" smtClean="0"/>
              <a:t>    多次复制循环体代码，并调整循环出口代码。</a:t>
            </a:r>
            <a:endParaRPr lang="zh-CN" altLang="en-US" sz="2800" dirty="0" smtClean="0"/>
          </a:p>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实现</a:t>
            </a:r>
            <a:endParaRPr lang="zh-CN" altLang="en-US" sz="28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800" dirty="0" smtClean="0"/>
              <a:t>    循环展开通常展开成一对循环：设循环次数为</a:t>
            </a:r>
            <a:r>
              <a:rPr lang="en-US" altLang="zh-CN" sz="2400" dirty="0" smtClean="0">
                <a:latin typeface="Comic Sans MS" panose="030F0702030302020204" pitchFamily="66" charset="0"/>
              </a:rPr>
              <a:t>n</a:t>
            </a:r>
            <a:r>
              <a:rPr lang="en-US" altLang="zh-CN" sz="2800" dirty="0" smtClean="0"/>
              <a:t>，</a:t>
            </a:r>
            <a:r>
              <a:rPr lang="zh-CN" altLang="en-US" sz="2800" dirty="0" smtClean="0"/>
              <a:t>每次展开</a:t>
            </a:r>
            <a:r>
              <a:rPr lang="en-US" altLang="zh-CN" sz="2400" dirty="0" smtClean="0">
                <a:latin typeface="Comic Sans MS" panose="030F0702030302020204" pitchFamily="66" charset="0"/>
              </a:rPr>
              <a:t>k</a:t>
            </a:r>
            <a:r>
              <a:rPr lang="zh-CN" altLang="en-US" sz="2800" dirty="0" smtClean="0"/>
              <a:t>次。</a:t>
            </a:r>
            <a:endParaRPr lang="zh-CN" altLang="en-US" sz="2800" dirty="0" smtClean="0"/>
          </a:p>
          <a:p>
            <a:pPr marL="765175" lvl="1" eaLnBrk="1" hangingPunct="1">
              <a:defRPr/>
            </a:pPr>
            <a:r>
              <a:rPr lang="zh-CN" altLang="en-US" sz="2400" dirty="0" smtClean="0">
                <a:effectLst>
                  <a:outerShdw blurRad="38100" dist="38100" dir="2700000" algn="tl">
                    <a:srgbClr val="C0C0C0"/>
                  </a:outerShdw>
                </a:effectLst>
              </a:rPr>
              <a:t>第一个循环</a:t>
            </a:r>
            <a:endParaRPr lang="zh-CN" altLang="en-US" sz="2400" dirty="0" smtClean="0">
              <a:effectLst>
                <a:outerShdw blurRad="38100" dist="38100" dir="2700000" algn="tl">
                  <a:srgbClr val="C0C0C0"/>
                </a:outerShdw>
              </a:effectLst>
            </a:endParaRPr>
          </a:p>
          <a:p>
            <a:pPr marL="765175" lvl="1" eaLnBrk="1" hangingPunct="1">
              <a:buFont typeface="Wingdings" panose="05000000000000000000" pitchFamily="2" charset="2"/>
              <a:buNone/>
              <a:defRPr/>
            </a:pPr>
            <a:r>
              <a:rPr lang="zh-CN" altLang="en-US" sz="2400" dirty="0" smtClean="0"/>
              <a:t>    循环体与原来一样，循环次数为：</a:t>
            </a:r>
            <a:r>
              <a:rPr lang="en-US" altLang="zh-CN" sz="2400" dirty="0" smtClean="0">
                <a:latin typeface="Comic Sans MS" panose="030F0702030302020204" pitchFamily="66" charset="0"/>
              </a:rPr>
              <a:t>n mod k</a:t>
            </a:r>
            <a:r>
              <a:rPr lang="en-US" altLang="zh-CN" sz="2400" dirty="0" smtClean="0"/>
              <a:t>。</a:t>
            </a:r>
            <a:endParaRPr lang="en-US" altLang="zh-CN" sz="2400" dirty="0" smtClean="0"/>
          </a:p>
          <a:p>
            <a:pPr marL="765175" lvl="1" eaLnBrk="1" hangingPunct="1">
              <a:defRPr/>
            </a:pPr>
            <a:r>
              <a:rPr lang="zh-CN" altLang="en-US" sz="2400" dirty="0" smtClean="0">
                <a:effectLst>
                  <a:outerShdw blurRad="38100" dist="38100" dir="2700000" algn="tl">
                    <a:srgbClr val="C0C0C0"/>
                  </a:outerShdw>
                </a:effectLst>
              </a:rPr>
              <a:t>第二个循环</a:t>
            </a:r>
            <a:endParaRPr lang="zh-CN" altLang="en-US" sz="2400" dirty="0" smtClean="0">
              <a:effectLst>
                <a:outerShdw blurRad="38100" dist="38100" dir="2700000" algn="tl">
                  <a:srgbClr val="C0C0C0"/>
                </a:outerShdw>
              </a:effectLst>
            </a:endParaRPr>
          </a:p>
          <a:p>
            <a:pPr marL="765175" lvl="1" eaLnBrk="1" hangingPunct="1">
              <a:buFont typeface="Wingdings" panose="05000000000000000000" pitchFamily="2" charset="2"/>
              <a:buNone/>
              <a:defRPr/>
            </a:pPr>
            <a:r>
              <a:rPr lang="zh-CN" altLang="en-US" sz="2400" dirty="0" smtClean="0"/>
              <a:t>    循环体是原来循环体展开</a:t>
            </a:r>
            <a:r>
              <a:rPr lang="en-US" altLang="zh-CN" sz="2400" dirty="0" smtClean="0">
                <a:latin typeface="Comic Sans MS" panose="030F0702030302020204" pitchFamily="66" charset="0"/>
              </a:rPr>
              <a:t>k</a:t>
            </a:r>
            <a:r>
              <a:rPr lang="zh-CN" altLang="en-US" sz="2400" dirty="0" smtClean="0"/>
              <a:t>次而得，循环次数为：</a:t>
            </a:r>
            <a:r>
              <a:rPr lang="en-US" altLang="zh-CN" sz="2400" dirty="0" smtClean="0">
                <a:latin typeface="Comic Sans MS" panose="030F0702030302020204" pitchFamily="66" charset="0"/>
              </a:rPr>
              <a:t>n/k</a:t>
            </a:r>
            <a:r>
              <a:rPr lang="en-US" altLang="zh-CN" sz="2400" dirty="0" smtClean="0"/>
              <a:t>。</a:t>
            </a:r>
            <a:endParaRPr lang="zh-CN" altLang="en-US" sz="2400" dirty="0" smtClean="0"/>
          </a:p>
        </p:txBody>
      </p:sp>
      <p:sp>
        <p:nvSpPr>
          <p:cNvPr id="217093"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6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4434" name="Rectangle 2"/>
          <p:cNvSpPr>
            <a:spLocks noGrp="1" noChangeArrowheads="1"/>
          </p:cNvSpPr>
          <p:nvPr>
            <p:ph type="title"/>
          </p:nvPr>
        </p:nvSpPr>
        <p:spPr/>
        <p:txBody>
          <a:bodyPr/>
          <a:lstStyle/>
          <a:p>
            <a:pPr eaLnBrk="1" hangingPunct="1">
              <a:defRPr/>
            </a:pPr>
            <a:r>
              <a:rPr lang="zh-CN" altLang="en-US" smtClean="0"/>
              <a:t>举例一</a:t>
            </a:r>
            <a:br>
              <a:rPr lang="zh-CN" altLang="en-US" sz="3200" smtClean="0"/>
            </a:br>
            <a:r>
              <a:rPr lang="zh-CN" altLang="en-US" sz="3200" smtClean="0"/>
              <a:t>                          — 循环展开</a:t>
            </a:r>
            <a:endParaRPr lang="zh-CN" altLang="en-US" sz="3200" smtClean="0"/>
          </a:p>
        </p:txBody>
      </p:sp>
      <p:sp>
        <p:nvSpPr>
          <p:cNvPr id="218115" name="Rectangle 5"/>
          <p:cNvSpPr>
            <a:spLocks noGrp="1" noChangeArrowheads="1"/>
          </p:cNvSpPr>
          <p:nvPr>
            <p:ph type="body" sz="half" idx="1"/>
          </p:nvPr>
        </p:nvSpPr>
        <p:spPr>
          <a:xfrm>
            <a:off x="809625" y="1989138"/>
            <a:ext cx="3914775" cy="4411662"/>
          </a:xfrm>
          <a:solidFill>
            <a:srgbClr val="FFFF99"/>
          </a:solidFill>
          <a:ln w="57150" cmpd="thickThin">
            <a:solidFill>
              <a:schemeClr val="tx1"/>
            </a:solidFill>
            <a:miter lim="800000"/>
          </a:ln>
        </p:spPr>
        <p:txBody>
          <a:bodyPr/>
          <a:lstStyle/>
          <a:p>
            <a:pPr defTabSz="952500" eaLnBrk="1" hangingPunct="1">
              <a:lnSpc>
                <a:spcPct val="170000"/>
              </a:lnSpc>
              <a:buFont typeface="Wingdings" panose="05000000000000000000" pitchFamily="2" charset="2"/>
              <a:buNone/>
              <a:tabLst>
                <a:tab pos="952500" algn="l"/>
                <a:tab pos="2006600" algn="l"/>
              </a:tabLst>
            </a:pPr>
            <a:r>
              <a:rPr lang="en-US" altLang="zh-CN" sz="2000" smtClean="0">
                <a:latin typeface="Tahoma" panose="020B0604030504040204" pitchFamily="34" charset="0"/>
              </a:rPr>
              <a:t>Loop: 	L.D 	F0,0(R1)</a:t>
            </a:r>
            <a:endParaRPr lang="en-US" altLang="zh-CN" sz="2000" smtClean="0">
              <a:latin typeface="Tahoma" panose="020B0604030504040204" pitchFamily="34" charset="0"/>
            </a:endParaRPr>
          </a:p>
          <a:p>
            <a:pPr defTabSz="952500" eaLnBrk="1" hangingPunct="1">
              <a:lnSpc>
                <a:spcPct val="170000"/>
              </a:lnSpc>
              <a:buFont typeface="Wingdings" panose="05000000000000000000" pitchFamily="2" charset="2"/>
              <a:buNone/>
              <a:tabLst>
                <a:tab pos="952500" algn="l"/>
                <a:tab pos="2006600" algn="l"/>
              </a:tabLst>
            </a:pPr>
            <a:r>
              <a:rPr lang="en-US" altLang="zh-CN" sz="2000" smtClean="0">
                <a:latin typeface="Tahoma" panose="020B0604030504040204" pitchFamily="34" charset="0"/>
              </a:rPr>
              <a:t>		ADD.D 	F4,F0,F2</a:t>
            </a:r>
            <a:endParaRPr lang="en-US" altLang="zh-CN" sz="2000" smtClean="0">
              <a:latin typeface="Tahoma" panose="020B0604030504040204" pitchFamily="34" charset="0"/>
            </a:endParaRPr>
          </a:p>
          <a:p>
            <a:pPr defTabSz="952500" eaLnBrk="1" hangingPunct="1">
              <a:lnSpc>
                <a:spcPct val="170000"/>
              </a:lnSpc>
              <a:buFont typeface="Wingdings" panose="05000000000000000000" pitchFamily="2" charset="2"/>
              <a:buNone/>
              <a:tabLst>
                <a:tab pos="952500" algn="l"/>
                <a:tab pos="2006600" algn="l"/>
              </a:tabLst>
            </a:pPr>
            <a:r>
              <a:rPr lang="en-US" altLang="zh-CN" sz="2000" smtClean="0">
                <a:latin typeface="Tahoma" panose="020B0604030504040204" pitchFamily="34" charset="0"/>
              </a:rPr>
              <a:t>		S.D 	F4,0(R1)</a:t>
            </a:r>
            <a:endParaRPr lang="en-US" altLang="zh-CN" sz="2000" smtClean="0">
              <a:latin typeface="Tahoma" panose="020B0604030504040204" pitchFamily="34" charset="0"/>
            </a:endParaRPr>
          </a:p>
          <a:p>
            <a:pPr defTabSz="952500" eaLnBrk="1" hangingPunct="1">
              <a:lnSpc>
                <a:spcPct val="170000"/>
              </a:lnSpc>
              <a:buFont typeface="Wingdings" panose="05000000000000000000" pitchFamily="2" charset="2"/>
              <a:buNone/>
              <a:tabLst>
                <a:tab pos="952500" algn="l"/>
                <a:tab pos="2006600" algn="l"/>
              </a:tabLst>
            </a:pPr>
            <a:r>
              <a:rPr lang="en-US" altLang="zh-CN" sz="2000" smtClean="0">
                <a:latin typeface="Tahoma" panose="020B0604030504040204" pitchFamily="34" charset="0"/>
              </a:rPr>
              <a:t>		</a:t>
            </a:r>
            <a:r>
              <a:rPr lang="en-US" altLang="zh-CN" sz="2000" smtClean="0">
                <a:solidFill>
                  <a:srgbClr val="FF0000"/>
                </a:solidFill>
                <a:latin typeface="Tahoma" panose="020B0604030504040204" pitchFamily="34" charset="0"/>
              </a:rPr>
              <a:t>L.D 	F6,-8(R1)</a:t>
            </a:r>
            <a:endParaRPr lang="en-US" altLang="zh-CN" sz="2000" smtClean="0">
              <a:solidFill>
                <a:srgbClr val="FF0000"/>
              </a:solidFill>
              <a:latin typeface="Tahoma" panose="020B0604030504040204" pitchFamily="34" charset="0"/>
            </a:endParaRPr>
          </a:p>
          <a:p>
            <a:pPr defTabSz="952500" eaLnBrk="1" hangingPunct="1">
              <a:lnSpc>
                <a:spcPct val="170000"/>
              </a:lnSpc>
              <a:buFont typeface="Wingdings" panose="05000000000000000000" pitchFamily="2" charset="2"/>
              <a:buNone/>
              <a:tabLst>
                <a:tab pos="952500" algn="l"/>
                <a:tab pos="2006600" algn="l"/>
              </a:tabLst>
            </a:pPr>
            <a:r>
              <a:rPr lang="en-US" altLang="zh-CN" sz="2000" smtClean="0">
                <a:solidFill>
                  <a:srgbClr val="FF0000"/>
                </a:solidFill>
                <a:latin typeface="Tahoma" panose="020B0604030504040204" pitchFamily="34" charset="0"/>
              </a:rPr>
              <a:t>		ADD.D	F8,F6,F2</a:t>
            </a:r>
            <a:endParaRPr lang="en-US" altLang="zh-CN" sz="2000" smtClean="0">
              <a:solidFill>
                <a:srgbClr val="FF0000"/>
              </a:solidFill>
              <a:latin typeface="Tahoma" panose="020B0604030504040204" pitchFamily="34" charset="0"/>
            </a:endParaRPr>
          </a:p>
          <a:p>
            <a:pPr defTabSz="952500" eaLnBrk="1" hangingPunct="1">
              <a:lnSpc>
                <a:spcPct val="170000"/>
              </a:lnSpc>
              <a:buFont typeface="Wingdings" panose="05000000000000000000" pitchFamily="2" charset="2"/>
              <a:buNone/>
              <a:tabLst>
                <a:tab pos="952500" algn="l"/>
                <a:tab pos="2006600" algn="l"/>
              </a:tabLst>
            </a:pPr>
            <a:r>
              <a:rPr lang="en-US" altLang="zh-CN" sz="2000" smtClean="0">
                <a:solidFill>
                  <a:srgbClr val="FF0000"/>
                </a:solidFill>
                <a:latin typeface="Tahoma" panose="020B0604030504040204" pitchFamily="34" charset="0"/>
              </a:rPr>
              <a:t>		S.D 	F8,-8(R1)</a:t>
            </a:r>
            <a:r>
              <a:rPr lang="en-US" altLang="zh-CN" sz="2000" smtClean="0">
                <a:latin typeface="Tahoma" panose="020B0604030504040204" pitchFamily="34" charset="0"/>
              </a:rPr>
              <a:t> </a:t>
            </a:r>
            <a:endParaRPr lang="en-US" altLang="zh-CN" sz="2000" smtClean="0">
              <a:latin typeface="Tahoma" panose="020B0604030504040204" pitchFamily="34" charset="0"/>
            </a:endParaRPr>
          </a:p>
          <a:p>
            <a:pPr defTabSz="952500" eaLnBrk="1" hangingPunct="1">
              <a:lnSpc>
                <a:spcPct val="170000"/>
              </a:lnSpc>
              <a:buFont typeface="Wingdings" panose="05000000000000000000" pitchFamily="2" charset="2"/>
              <a:buNone/>
              <a:tabLst>
                <a:tab pos="952500" algn="l"/>
                <a:tab pos="2006600" algn="l"/>
              </a:tabLst>
            </a:pPr>
            <a:r>
              <a:rPr lang="en-US" altLang="zh-CN" sz="2000" smtClean="0">
                <a:latin typeface="Tahoma" panose="020B0604030504040204" pitchFamily="34" charset="0"/>
              </a:rPr>
              <a:t>		</a:t>
            </a:r>
            <a:r>
              <a:rPr lang="en-US" altLang="zh-CN" sz="2000" smtClean="0">
                <a:solidFill>
                  <a:srgbClr val="0000CC"/>
                </a:solidFill>
                <a:latin typeface="Tahoma" panose="020B0604030504040204" pitchFamily="34" charset="0"/>
              </a:rPr>
              <a:t>L.D 	F10,-16(R1)</a:t>
            </a:r>
            <a:endParaRPr lang="zh-CN" altLang="en-US" sz="2000" smtClean="0">
              <a:solidFill>
                <a:srgbClr val="0000CC"/>
              </a:solidFill>
              <a:latin typeface="Tahoma" panose="020B0604030504040204" pitchFamily="34" charset="0"/>
            </a:endParaRPr>
          </a:p>
        </p:txBody>
      </p:sp>
      <p:sp>
        <p:nvSpPr>
          <p:cNvPr id="914438" name="Rectangle 6"/>
          <p:cNvSpPr>
            <a:spLocks noGrp="1" noChangeArrowheads="1"/>
          </p:cNvSpPr>
          <p:nvPr>
            <p:ph type="body" sz="half" idx="2"/>
          </p:nvPr>
        </p:nvSpPr>
        <p:spPr>
          <a:solidFill>
            <a:srgbClr val="CC99FF"/>
          </a:solidFill>
          <a:ln w="57150" cmpd="thickThin">
            <a:solidFill>
              <a:schemeClr val="tx1"/>
            </a:solidFill>
            <a:miter lim="800000"/>
          </a:ln>
        </p:spPr>
        <p:txBody>
          <a:bodyPr/>
          <a:lstStyle/>
          <a:p>
            <a:pPr eaLnBrk="1" hangingPunct="1">
              <a:lnSpc>
                <a:spcPct val="170000"/>
              </a:lnSpc>
              <a:buFont typeface="Wingdings" panose="05000000000000000000" pitchFamily="2" charset="2"/>
              <a:buNone/>
              <a:tabLst>
                <a:tab pos="577850" algn="l"/>
                <a:tab pos="1616075" algn="l"/>
              </a:tabLst>
              <a:defRPr/>
            </a:pPr>
            <a:r>
              <a:rPr lang="en-US" altLang="zh-CN" sz="2000" smtClean="0">
                <a:latin typeface="Tahoma" panose="020B0604030504040204" pitchFamily="34" charset="0"/>
              </a:rPr>
              <a:t>	</a:t>
            </a:r>
            <a:r>
              <a:rPr lang="en-US" altLang="zh-CN" sz="2000" smtClean="0">
                <a:solidFill>
                  <a:srgbClr val="0000CC"/>
                </a:solidFill>
                <a:latin typeface="Tahoma" panose="020B0604030504040204" pitchFamily="34" charset="0"/>
              </a:rPr>
              <a:t>ADD.D 	F12,F10,F2</a:t>
            </a:r>
            <a:endParaRPr lang="en-US" altLang="zh-CN" sz="2000" smtClean="0">
              <a:solidFill>
                <a:srgbClr val="0000CC"/>
              </a:solidFill>
              <a:latin typeface="Tahoma" panose="020B0604030504040204" pitchFamily="34" charset="0"/>
            </a:endParaRPr>
          </a:p>
          <a:p>
            <a:pPr eaLnBrk="1" hangingPunct="1">
              <a:lnSpc>
                <a:spcPct val="170000"/>
              </a:lnSpc>
              <a:buFont typeface="Wingdings" panose="05000000000000000000" pitchFamily="2" charset="2"/>
              <a:buNone/>
              <a:tabLst>
                <a:tab pos="577850" algn="l"/>
                <a:tab pos="1616075" algn="l"/>
              </a:tabLst>
              <a:defRPr/>
            </a:pPr>
            <a:r>
              <a:rPr lang="en-US" altLang="zh-CN" sz="2000" smtClean="0">
                <a:solidFill>
                  <a:srgbClr val="0000CC"/>
                </a:solidFill>
                <a:latin typeface="Tahoma" panose="020B0604030504040204" pitchFamily="34" charset="0"/>
              </a:rPr>
              <a:t>	S.D 	F12,-16(R1)</a:t>
            </a:r>
            <a:r>
              <a:rPr lang="en-US" altLang="zh-CN" sz="2000" smtClean="0">
                <a:latin typeface="Tahoma" panose="020B0604030504040204" pitchFamily="34" charset="0"/>
              </a:rPr>
              <a:t> </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577850" algn="l"/>
                <a:tab pos="1616075" algn="l"/>
              </a:tabLst>
              <a:defRPr/>
            </a:pPr>
            <a:r>
              <a:rPr lang="en-US" altLang="zh-CN" sz="2000" smtClean="0">
                <a:latin typeface="Tahoma" panose="020B0604030504040204" pitchFamily="34" charset="0"/>
              </a:rPr>
              <a:t>	</a:t>
            </a:r>
            <a:r>
              <a:rPr lang="en-US" altLang="zh-CN" sz="2000" smtClean="0">
                <a:solidFill>
                  <a:srgbClr val="009900"/>
                </a:solidFill>
                <a:latin typeface="Tahoma" panose="020B0604030504040204" pitchFamily="34" charset="0"/>
              </a:rPr>
              <a:t>L.D 	F14,-24(R1)</a:t>
            </a:r>
            <a:endParaRPr lang="en-US" altLang="zh-CN" sz="2000" smtClean="0">
              <a:solidFill>
                <a:srgbClr val="009900"/>
              </a:solidFill>
              <a:latin typeface="Tahoma" panose="020B0604030504040204" pitchFamily="34" charset="0"/>
            </a:endParaRPr>
          </a:p>
          <a:p>
            <a:pPr eaLnBrk="1" hangingPunct="1">
              <a:lnSpc>
                <a:spcPct val="170000"/>
              </a:lnSpc>
              <a:buFont typeface="Wingdings" panose="05000000000000000000" pitchFamily="2" charset="2"/>
              <a:buNone/>
              <a:tabLst>
                <a:tab pos="577850" algn="l"/>
                <a:tab pos="1616075" algn="l"/>
              </a:tabLst>
              <a:defRPr/>
            </a:pPr>
            <a:r>
              <a:rPr lang="en-US" altLang="zh-CN" sz="2000" smtClean="0">
                <a:solidFill>
                  <a:srgbClr val="009900"/>
                </a:solidFill>
                <a:latin typeface="Tahoma" panose="020B0604030504040204" pitchFamily="34" charset="0"/>
              </a:rPr>
              <a:t>	ADD.D 	F16,F14,F2</a:t>
            </a:r>
            <a:endParaRPr lang="en-US" altLang="zh-CN" sz="2000" smtClean="0">
              <a:solidFill>
                <a:srgbClr val="009900"/>
              </a:solidFill>
              <a:latin typeface="Tahoma" panose="020B0604030504040204" pitchFamily="34" charset="0"/>
            </a:endParaRPr>
          </a:p>
          <a:p>
            <a:pPr eaLnBrk="1" hangingPunct="1">
              <a:lnSpc>
                <a:spcPct val="170000"/>
              </a:lnSpc>
              <a:buFont typeface="Wingdings" panose="05000000000000000000" pitchFamily="2" charset="2"/>
              <a:buNone/>
              <a:tabLst>
                <a:tab pos="577850" algn="l"/>
                <a:tab pos="1616075" algn="l"/>
              </a:tabLst>
              <a:defRPr/>
            </a:pPr>
            <a:r>
              <a:rPr lang="en-US" altLang="zh-CN" sz="2000" smtClean="0">
                <a:solidFill>
                  <a:srgbClr val="009900"/>
                </a:solidFill>
                <a:latin typeface="Tahoma" panose="020B0604030504040204" pitchFamily="34" charset="0"/>
              </a:rPr>
              <a:t>	S.D 	F16,-24(R1)</a:t>
            </a:r>
            <a:endParaRPr lang="en-US" altLang="zh-CN" sz="2000" smtClean="0">
              <a:solidFill>
                <a:srgbClr val="009900"/>
              </a:solidFill>
              <a:latin typeface="Tahoma" panose="020B0604030504040204" pitchFamily="34" charset="0"/>
            </a:endParaRPr>
          </a:p>
          <a:p>
            <a:pPr eaLnBrk="1" hangingPunct="1">
              <a:lnSpc>
                <a:spcPct val="170000"/>
              </a:lnSpc>
              <a:buFont typeface="Wingdings" panose="05000000000000000000" pitchFamily="2" charset="2"/>
              <a:buNone/>
              <a:tabLst>
                <a:tab pos="577850" algn="l"/>
                <a:tab pos="1616075" algn="l"/>
              </a:tabLst>
              <a:defRPr/>
            </a:pPr>
            <a:r>
              <a:rPr lang="en-US" altLang="zh-CN" sz="2000" smtClean="0">
                <a:latin typeface="Tahoma" panose="020B0604030504040204" pitchFamily="34" charset="0"/>
              </a:rPr>
              <a:t>	DADDUI 	R1,R1,</a:t>
            </a:r>
            <a:r>
              <a:rPr lang="en-US" altLang="zh-CN" sz="2000" b="0" smtClean="0">
                <a:solidFill>
                  <a:srgbClr val="FF0000"/>
                </a:solidFill>
                <a:effectLst>
                  <a:outerShdw blurRad="38100" dist="38100" dir="2700000" algn="tl">
                    <a:srgbClr val="000000"/>
                  </a:outerShdw>
                </a:effectLst>
                <a:latin typeface="Tahoma" panose="020B0604030504040204" pitchFamily="34" charset="0"/>
              </a:rPr>
              <a:t>#-32</a:t>
            </a:r>
            <a:endParaRPr lang="en-US" altLang="zh-CN" sz="2000" b="0" smtClean="0">
              <a:solidFill>
                <a:srgbClr val="FF0000"/>
              </a:solidFill>
              <a:effectLst>
                <a:outerShdw blurRad="38100" dist="38100" dir="2700000" algn="tl">
                  <a:srgbClr val="000000"/>
                </a:outerShdw>
              </a:effectLst>
              <a:latin typeface="Tahoma" panose="020B0604030504040204" pitchFamily="34" charset="0"/>
            </a:endParaRPr>
          </a:p>
          <a:p>
            <a:pPr eaLnBrk="1" hangingPunct="1">
              <a:lnSpc>
                <a:spcPct val="170000"/>
              </a:lnSpc>
              <a:buFont typeface="Wingdings" panose="05000000000000000000" pitchFamily="2" charset="2"/>
              <a:buNone/>
              <a:tabLst>
                <a:tab pos="577850" algn="l"/>
                <a:tab pos="1616075" algn="l"/>
              </a:tabLst>
              <a:defRPr/>
            </a:pPr>
            <a:r>
              <a:rPr lang="en-US" altLang="zh-CN" sz="2000" smtClean="0">
                <a:latin typeface="Tahoma" panose="020B0604030504040204" pitchFamily="34" charset="0"/>
              </a:rPr>
              <a:t>	BNE 	R1,R2,Loop</a:t>
            </a:r>
            <a:endParaRPr lang="zh-CN" altLang="en-US" sz="2000" smtClean="0">
              <a:latin typeface="Tahoma" panose="020B0604030504040204" pitchFamily="34" charset="0"/>
            </a:endParaRPr>
          </a:p>
        </p:txBody>
      </p:sp>
      <p:sp>
        <p:nvSpPr>
          <p:cNvPr id="21811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218118"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6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7506" name="Rectangle 2"/>
          <p:cNvSpPr>
            <a:spLocks noGrp="1" noChangeArrowheads="1"/>
          </p:cNvSpPr>
          <p:nvPr>
            <p:ph type="title"/>
          </p:nvPr>
        </p:nvSpPr>
        <p:spPr/>
        <p:txBody>
          <a:bodyPr/>
          <a:lstStyle/>
          <a:p>
            <a:pPr eaLnBrk="1" hangingPunct="1">
              <a:defRPr/>
            </a:pPr>
            <a:r>
              <a:rPr lang="zh-CN" altLang="en-US" smtClean="0"/>
              <a:t>举例一</a:t>
            </a:r>
            <a:br>
              <a:rPr lang="zh-CN" altLang="en-US" sz="3200" smtClean="0"/>
            </a:br>
            <a:r>
              <a:rPr lang="zh-CN" altLang="en-US" sz="3200" smtClean="0"/>
              <a:t>                   — 分析</a:t>
            </a:r>
            <a:endParaRPr lang="zh-CN" altLang="en-US" sz="3200" smtClean="0"/>
          </a:p>
        </p:txBody>
      </p:sp>
      <p:sp>
        <p:nvSpPr>
          <p:cNvPr id="219139" name="Rectangle 7"/>
          <p:cNvSpPr>
            <a:spLocks noGrp="1" noChangeArrowheads="1"/>
          </p:cNvSpPr>
          <p:nvPr>
            <p:ph type="body" idx="1"/>
          </p:nvPr>
        </p:nvSpPr>
        <p:spPr>
          <a:xfrm>
            <a:off x="809625" y="2787650"/>
            <a:ext cx="7958138" cy="3613150"/>
          </a:xfrm>
        </p:spPr>
        <p:txBody>
          <a:bodyPr/>
          <a:lstStyle/>
          <a:p>
            <a:pPr marL="0" indent="0" eaLnBrk="1" hangingPunct="1">
              <a:lnSpc>
                <a:spcPct val="150000"/>
              </a:lnSpc>
              <a:buFont typeface="Wingdings" panose="05000000000000000000" pitchFamily="2" charset="2"/>
              <a:buNone/>
            </a:pPr>
            <a:r>
              <a:rPr lang="zh-CN" altLang="en-US" dirty="0" smtClean="0"/>
              <a:t>        上述循环程序展开4次，新循环体需28个时钟周期，老循环体平均需28/4=7个时钟周期。</a:t>
            </a:r>
            <a:endParaRPr lang="zh-CN" altLang="en-US" dirty="0" smtClean="0"/>
          </a:p>
        </p:txBody>
      </p:sp>
      <p:sp>
        <p:nvSpPr>
          <p:cNvPr id="219140"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219141" name="Text Box 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6 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5458" name="Rectangle 2"/>
          <p:cNvSpPr>
            <a:spLocks noGrp="1" noChangeArrowheads="1"/>
          </p:cNvSpPr>
          <p:nvPr>
            <p:ph type="title"/>
          </p:nvPr>
        </p:nvSpPr>
        <p:spPr/>
        <p:txBody>
          <a:bodyPr/>
          <a:lstStyle/>
          <a:p>
            <a:pPr eaLnBrk="1" hangingPunct="1">
              <a:defRPr/>
            </a:pPr>
            <a:r>
              <a:rPr lang="zh-CN" altLang="en-US" smtClean="0"/>
              <a:t>举例二</a:t>
            </a:r>
            <a:br>
              <a:rPr lang="zh-CN" altLang="en-US" sz="3200" smtClean="0"/>
            </a:br>
            <a:r>
              <a:rPr lang="zh-CN" altLang="en-US" sz="3200" smtClean="0"/>
              <a:t>                    — 循环展开+调度</a:t>
            </a:r>
            <a:endParaRPr lang="zh-CN" altLang="en-US" sz="3200" smtClean="0"/>
          </a:p>
        </p:txBody>
      </p:sp>
      <p:sp>
        <p:nvSpPr>
          <p:cNvPr id="220163" name="Rectangle 4"/>
          <p:cNvSpPr>
            <a:spLocks noGrp="1" noChangeArrowheads="1"/>
          </p:cNvSpPr>
          <p:nvPr>
            <p:ph type="body" sz="half" idx="1"/>
          </p:nvPr>
        </p:nvSpPr>
        <p:spPr>
          <a:xfrm>
            <a:off x="827088" y="1989138"/>
            <a:ext cx="3902075" cy="4411662"/>
          </a:xfrm>
          <a:solidFill>
            <a:srgbClr val="FFFF99"/>
          </a:solidFill>
          <a:ln w="57150" cmpd="thickThin">
            <a:solidFill>
              <a:schemeClr val="tx1"/>
            </a:solidFill>
            <a:miter lim="800000"/>
          </a:ln>
        </p:spPr>
        <p:txBody>
          <a:bodyPr/>
          <a:lstStyle/>
          <a:p>
            <a:pPr eaLnBrk="1" hangingPunct="1">
              <a:lnSpc>
                <a:spcPct val="170000"/>
              </a:lnSpc>
              <a:buFont typeface="Wingdings" panose="05000000000000000000" pitchFamily="2" charset="2"/>
              <a:buNone/>
              <a:tabLst>
                <a:tab pos="952500" algn="l"/>
                <a:tab pos="2006600" algn="l"/>
              </a:tabLst>
            </a:pPr>
            <a:r>
              <a:rPr lang="en-US" altLang="zh-CN" sz="2000" smtClean="0">
                <a:latin typeface="Tahoma" panose="020B0604030504040204" pitchFamily="34" charset="0"/>
              </a:rPr>
              <a:t>Loop: 	L.D 	F0,0(R1)</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952500" algn="l"/>
                <a:tab pos="2006600" algn="l"/>
              </a:tabLst>
            </a:pPr>
            <a:r>
              <a:rPr lang="en-US" altLang="zh-CN" sz="2000" smtClean="0">
                <a:latin typeface="Tahoma" panose="020B0604030504040204" pitchFamily="34" charset="0"/>
              </a:rPr>
              <a:t>		L.D 	F6,-8(R1)</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952500" algn="l"/>
                <a:tab pos="2006600" algn="l"/>
              </a:tabLst>
            </a:pPr>
            <a:r>
              <a:rPr lang="en-US" altLang="zh-CN" sz="2000" smtClean="0">
                <a:latin typeface="Tahoma" panose="020B0604030504040204" pitchFamily="34" charset="0"/>
              </a:rPr>
              <a:t>		L.D 	F10,-16(R1)</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952500" algn="l"/>
                <a:tab pos="2006600" algn="l"/>
              </a:tabLst>
            </a:pPr>
            <a:r>
              <a:rPr lang="en-US" altLang="zh-CN" sz="2000" smtClean="0">
                <a:latin typeface="Tahoma" panose="020B0604030504040204" pitchFamily="34" charset="0"/>
              </a:rPr>
              <a:t>		L.D 	F14,-24(R1)</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952500" algn="l"/>
                <a:tab pos="2006600" algn="l"/>
              </a:tabLst>
            </a:pPr>
            <a:r>
              <a:rPr lang="en-US" altLang="zh-CN" sz="2000" smtClean="0">
                <a:latin typeface="Tahoma" panose="020B0604030504040204" pitchFamily="34" charset="0"/>
              </a:rPr>
              <a:t>		ADD.D 	F4,F0,F2</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952500" algn="l"/>
                <a:tab pos="2006600" algn="l"/>
              </a:tabLst>
            </a:pPr>
            <a:r>
              <a:rPr lang="en-US" altLang="zh-CN" sz="2000" smtClean="0">
                <a:latin typeface="Tahoma" panose="020B0604030504040204" pitchFamily="34" charset="0"/>
              </a:rPr>
              <a:t>		ADD.D 	F8,F6,F2</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952500" algn="l"/>
                <a:tab pos="2006600" algn="l"/>
              </a:tabLst>
            </a:pPr>
            <a:r>
              <a:rPr lang="en-US" altLang="zh-CN" sz="2000" smtClean="0">
                <a:latin typeface="Tahoma" panose="020B0604030504040204" pitchFamily="34" charset="0"/>
              </a:rPr>
              <a:t>		ADD.D 	F12,F10,F2</a:t>
            </a:r>
            <a:endParaRPr lang="zh-CN" altLang="en-US" sz="2000" smtClean="0">
              <a:latin typeface="Tahoma" panose="020B0604030504040204" pitchFamily="34" charset="0"/>
            </a:endParaRPr>
          </a:p>
        </p:txBody>
      </p:sp>
      <p:sp>
        <p:nvSpPr>
          <p:cNvPr id="220164" name="Rectangle 5"/>
          <p:cNvSpPr>
            <a:spLocks noGrp="1" noChangeArrowheads="1"/>
          </p:cNvSpPr>
          <p:nvPr>
            <p:ph type="body" sz="half" idx="2"/>
          </p:nvPr>
        </p:nvSpPr>
        <p:spPr>
          <a:solidFill>
            <a:srgbClr val="CC99FF"/>
          </a:solidFill>
          <a:ln w="57150" cmpd="thickThin">
            <a:solidFill>
              <a:schemeClr val="tx1"/>
            </a:solidFill>
            <a:miter lim="800000"/>
          </a:ln>
        </p:spPr>
        <p:txBody>
          <a:bodyPr/>
          <a:lstStyle/>
          <a:p>
            <a:pPr eaLnBrk="1" hangingPunct="1">
              <a:lnSpc>
                <a:spcPct val="170000"/>
              </a:lnSpc>
              <a:buFont typeface="Wingdings" panose="05000000000000000000" pitchFamily="2" charset="2"/>
              <a:buNone/>
              <a:tabLst>
                <a:tab pos="476250" algn="l"/>
                <a:tab pos="1717675" algn="l"/>
              </a:tabLst>
            </a:pPr>
            <a:r>
              <a:rPr lang="en-US" altLang="zh-CN" sz="2000" smtClean="0">
                <a:latin typeface="Tahoma" panose="020B0604030504040204" pitchFamily="34" charset="0"/>
              </a:rPr>
              <a:t>	ADD.D 	F16,F14,F2</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476250" algn="l"/>
                <a:tab pos="1717675" algn="l"/>
              </a:tabLst>
            </a:pPr>
            <a:r>
              <a:rPr lang="en-US" altLang="zh-CN" sz="2000" smtClean="0">
                <a:latin typeface="Tahoma" panose="020B0604030504040204" pitchFamily="34" charset="0"/>
              </a:rPr>
              <a:t>	S.D 	F4,0(R1)</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476250" algn="l"/>
                <a:tab pos="1717675" algn="l"/>
              </a:tabLst>
            </a:pPr>
            <a:r>
              <a:rPr lang="en-US" altLang="zh-CN" sz="2000" smtClean="0">
                <a:latin typeface="Tahoma" panose="020B0604030504040204" pitchFamily="34" charset="0"/>
              </a:rPr>
              <a:t>	S.D 	F8,-8(R1)</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476250" algn="l"/>
                <a:tab pos="1717675" algn="l"/>
              </a:tabLst>
            </a:pPr>
            <a:r>
              <a:rPr lang="en-US" altLang="zh-CN" sz="2000" smtClean="0">
                <a:latin typeface="Tahoma" panose="020B0604030504040204" pitchFamily="34" charset="0"/>
              </a:rPr>
              <a:t>	DADDUI 	R1,R1,#-32</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476250" algn="l"/>
                <a:tab pos="1717675" algn="l"/>
              </a:tabLst>
            </a:pPr>
            <a:r>
              <a:rPr lang="en-US" altLang="zh-CN" sz="2000" smtClean="0">
                <a:latin typeface="Tahoma" panose="020B0604030504040204" pitchFamily="34" charset="0"/>
              </a:rPr>
              <a:t>	S.D 	F12,</a:t>
            </a:r>
            <a:r>
              <a:rPr lang="en-US" altLang="zh-CN" sz="2000" smtClean="0">
                <a:solidFill>
                  <a:srgbClr val="009900"/>
                </a:solidFill>
                <a:latin typeface="Tahoma" panose="020B0604030504040204" pitchFamily="34" charset="0"/>
              </a:rPr>
              <a:t>16</a:t>
            </a:r>
            <a:r>
              <a:rPr lang="en-US" altLang="zh-CN" sz="2000" smtClean="0">
                <a:latin typeface="Tahoma" panose="020B0604030504040204" pitchFamily="34" charset="0"/>
              </a:rPr>
              <a:t>(R1)</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476250" algn="l"/>
                <a:tab pos="1717675" algn="l"/>
              </a:tabLst>
            </a:pPr>
            <a:r>
              <a:rPr lang="en-US" altLang="zh-CN" sz="2000" smtClean="0">
                <a:latin typeface="Tahoma" panose="020B0604030504040204" pitchFamily="34" charset="0"/>
              </a:rPr>
              <a:t>	BNE 	R1,R2,Loop</a:t>
            </a:r>
            <a:endParaRPr lang="en-US" altLang="zh-CN" sz="2000" smtClean="0">
              <a:latin typeface="Tahoma" panose="020B0604030504040204" pitchFamily="34" charset="0"/>
            </a:endParaRPr>
          </a:p>
          <a:p>
            <a:pPr eaLnBrk="1" hangingPunct="1">
              <a:lnSpc>
                <a:spcPct val="170000"/>
              </a:lnSpc>
              <a:buFont typeface="Wingdings" panose="05000000000000000000" pitchFamily="2" charset="2"/>
              <a:buNone/>
              <a:tabLst>
                <a:tab pos="476250" algn="l"/>
                <a:tab pos="1717675" algn="l"/>
              </a:tabLst>
            </a:pPr>
            <a:r>
              <a:rPr lang="en-US" altLang="zh-CN" sz="2000" smtClean="0">
                <a:latin typeface="Tahoma" panose="020B0604030504040204" pitchFamily="34" charset="0"/>
              </a:rPr>
              <a:t>	S.D 	F16,</a:t>
            </a:r>
            <a:r>
              <a:rPr lang="en-US" altLang="zh-CN" sz="2000" smtClean="0">
                <a:solidFill>
                  <a:srgbClr val="009900"/>
                </a:solidFill>
                <a:latin typeface="Tahoma" panose="020B0604030504040204" pitchFamily="34" charset="0"/>
              </a:rPr>
              <a:t>8</a:t>
            </a:r>
            <a:r>
              <a:rPr lang="en-US" altLang="zh-CN" sz="2000" smtClean="0">
                <a:latin typeface="Tahoma" panose="020B0604030504040204" pitchFamily="34" charset="0"/>
              </a:rPr>
              <a:t>(R1)</a:t>
            </a:r>
            <a:endParaRPr lang="zh-CN" altLang="en-US" sz="2000" smtClean="0">
              <a:latin typeface="Tahoma" panose="020B0604030504040204" pitchFamily="34" charset="0"/>
            </a:endParaRPr>
          </a:p>
        </p:txBody>
      </p:sp>
      <p:sp>
        <p:nvSpPr>
          <p:cNvPr id="22016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220166"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6 之 4</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0578" name="Rectangle 2"/>
          <p:cNvSpPr>
            <a:spLocks noGrp="1" noChangeArrowheads="1"/>
          </p:cNvSpPr>
          <p:nvPr>
            <p:ph type="title"/>
          </p:nvPr>
        </p:nvSpPr>
        <p:spPr/>
        <p:txBody>
          <a:bodyPr/>
          <a:lstStyle/>
          <a:p>
            <a:pPr eaLnBrk="1" hangingPunct="1">
              <a:defRPr/>
            </a:pPr>
            <a:r>
              <a:rPr lang="zh-CN" altLang="en-US" smtClean="0"/>
              <a:t>举例二</a:t>
            </a:r>
            <a:br>
              <a:rPr lang="zh-CN" altLang="en-US" sz="3200" smtClean="0"/>
            </a:br>
            <a:r>
              <a:rPr lang="zh-CN" altLang="en-US" sz="3200" smtClean="0"/>
              <a:t>                    — 分析</a:t>
            </a:r>
            <a:endParaRPr lang="zh-CN" altLang="en-US" sz="3200" smtClean="0"/>
          </a:p>
        </p:txBody>
      </p:sp>
      <p:sp>
        <p:nvSpPr>
          <p:cNvPr id="221187" name="Rectangle 3"/>
          <p:cNvSpPr>
            <a:spLocks noGrp="1" noChangeArrowheads="1"/>
          </p:cNvSpPr>
          <p:nvPr>
            <p:ph type="body" idx="1"/>
          </p:nvPr>
        </p:nvSpPr>
        <p:spPr>
          <a:xfrm>
            <a:off x="809625" y="2787650"/>
            <a:ext cx="7958138" cy="3613150"/>
          </a:xfrm>
        </p:spPr>
        <p:txBody>
          <a:bodyPr/>
          <a:lstStyle/>
          <a:p>
            <a:pPr marL="0" indent="0" eaLnBrk="1" hangingPunct="1">
              <a:lnSpc>
                <a:spcPct val="150000"/>
              </a:lnSpc>
              <a:buFont typeface="Wingdings" panose="05000000000000000000" pitchFamily="2" charset="2"/>
              <a:buNone/>
            </a:pPr>
            <a:r>
              <a:rPr lang="zh-CN" altLang="en-US" dirty="0" smtClean="0"/>
              <a:t>        上述循环程序展开4次并进行调度后，新循环体需14个时钟周期，老循环体平均需14/4=3.5个时钟周期。</a:t>
            </a:r>
            <a:endParaRPr lang="zh-CN" altLang="en-US" dirty="0" smtClean="0"/>
          </a:p>
        </p:txBody>
      </p:sp>
      <p:sp>
        <p:nvSpPr>
          <p:cNvPr id="221188"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221189"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6 之 5</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02" name="Rectangle 2"/>
          <p:cNvSpPr>
            <a:spLocks noGrp="1" noChangeArrowheads="1"/>
          </p:cNvSpPr>
          <p:nvPr>
            <p:ph type="title"/>
          </p:nvPr>
        </p:nvSpPr>
        <p:spPr/>
        <p:txBody>
          <a:bodyPr/>
          <a:lstStyle/>
          <a:p>
            <a:pPr eaLnBrk="1" hangingPunct="1">
              <a:defRPr/>
            </a:pPr>
            <a:r>
              <a:rPr lang="zh-CN" altLang="en-US" smtClean="0"/>
              <a:t>小  结</a:t>
            </a:r>
            <a:endParaRPr lang="zh-CN" altLang="en-US" smtClean="0"/>
          </a:p>
        </p:txBody>
      </p:sp>
      <p:sp>
        <p:nvSpPr>
          <p:cNvPr id="222211"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222212"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6 之 6</a:t>
            </a:r>
            <a:endParaRPr lang="zh-CN" altLang="en-US" sz="1200" b="0">
              <a:latin typeface="幼圆" panose="02010509060101010101" pitchFamily="49" charset="-122"/>
              <a:ea typeface="幼圆" panose="02010509060101010101" pitchFamily="49" charset="-122"/>
            </a:endParaRPr>
          </a:p>
        </p:txBody>
      </p:sp>
      <p:sp>
        <p:nvSpPr>
          <p:cNvPr id="921606" name="Rectangle 6"/>
          <p:cNvSpPr>
            <a:spLocks noGrp="1" noChangeArrowheads="1"/>
          </p:cNvSpPr>
          <p:nvPr>
            <p:ph type="body" idx="1"/>
          </p:nvPr>
        </p:nvSpPr>
        <p:spPr/>
        <p:txBody>
          <a:bodyPr/>
          <a:lstStyle/>
          <a:p>
            <a:pPr marL="0" indent="0" eaLnBrk="1" hangingPunct="1">
              <a:lnSpc>
                <a:spcPct val="130000"/>
              </a:lnSpc>
              <a:buFont typeface="Wingdings" panose="05000000000000000000" pitchFamily="2" charset="2"/>
              <a:buNone/>
              <a:defRPr/>
            </a:pPr>
            <a:r>
              <a:rPr lang="zh-CN" altLang="en-US" sz="2800" dirty="0" smtClean="0"/>
              <a:t>        在进行循环展开和调度时，最重要的是：</a:t>
            </a:r>
            <a:r>
              <a:rPr lang="zh-CN" altLang="en-US" sz="2800" dirty="0" smtClean="0">
                <a:solidFill>
                  <a:srgbClr val="FF0000"/>
                </a:solidFill>
                <a:effectLst>
                  <a:outerShdw blurRad="38100" dist="38100" dir="2700000" algn="tl">
                    <a:srgbClr val="C0C0C0"/>
                  </a:outerShdw>
                </a:effectLst>
              </a:rPr>
              <a:t>应该清楚指令间的相关关系，并懂得在上述相关关系下如何重组或改变（编译器或硬件实现）指令代码</a:t>
            </a:r>
            <a:r>
              <a:rPr lang="zh-CN" altLang="en-US" sz="2800" dirty="0" smtClean="0"/>
              <a:t>。</a:t>
            </a:r>
            <a:endParaRPr lang="zh-CN" altLang="en-US" sz="2800" dirty="0" smtClean="0"/>
          </a:p>
          <a:p>
            <a:pPr marL="0" indent="0" eaLnBrk="1" hangingPunct="1">
              <a:lnSpc>
                <a:spcPct val="130000"/>
              </a:lnSpc>
              <a:buFont typeface="Wingdings" panose="05000000000000000000" pitchFamily="2" charset="2"/>
              <a:buNone/>
              <a:defRPr/>
            </a:pPr>
            <a:r>
              <a:rPr lang="zh-CN" altLang="en-US" sz="2800" dirty="0" smtClean="0"/>
              <a:t>        循环展开和调度可用于解决</a:t>
            </a:r>
            <a:r>
              <a:rPr lang="zh-CN" altLang="en-US" sz="2800" dirty="0" smtClean="0">
                <a:solidFill>
                  <a:srgbClr val="FF0000"/>
                </a:solidFill>
                <a:effectLst>
                  <a:outerShdw blurRad="38100" dist="38100" dir="2700000" algn="tl">
                    <a:srgbClr val="C0C0C0"/>
                  </a:outerShdw>
                </a:effectLst>
              </a:rPr>
              <a:t>数据相关(</a:t>
            </a:r>
            <a:r>
              <a:rPr lang="en-US" altLang="zh-CN" sz="2800" dirty="0" smtClean="0">
                <a:solidFill>
                  <a:srgbClr val="FF0000"/>
                </a:solidFill>
                <a:effectLst>
                  <a:outerShdw blurRad="38100" dist="38100" dir="2700000" algn="tl">
                    <a:srgbClr val="C0C0C0"/>
                  </a:outerShdw>
                </a:effectLst>
              </a:rPr>
              <a:t>RAW、WAR、WAW)</a:t>
            </a:r>
            <a:r>
              <a:rPr lang="en-US" altLang="zh-CN" sz="2800" dirty="0" smtClean="0"/>
              <a:t>，</a:t>
            </a:r>
            <a:r>
              <a:rPr lang="zh-CN" altLang="en-US" sz="2800" dirty="0" smtClean="0"/>
              <a:t>但收益受制于：</a:t>
            </a:r>
            <a:r>
              <a:rPr lang="zh-CN" altLang="en-US" sz="2800" dirty="0" smtClean="0">
                <a:solidFill>
                  <a:srgbClr val="FF0000"/>
                </a:solidFill>
                <a:effectLst>
                  <a:outerShdw blurRad="38100" dist="38100" dir="2700000" algn="tl">
                    <a:srgbClr val="C0C0C0"/>
                  </a:outerShdw>
                </a:effectLst>
              </a:rPr>
              <a:t>循环开销的减少程度、代码量的大小和寄存器的数量</a:t>
            </a:r>
            <a:r>
              <a:rPr lang="zh-CN" altLang="en-US" sz="2800" dirty="0" smtClean="0"/>
              <a:t>。</a:t>
            </a:r>
            <a:endParaRPr lang="zh-CN" altLang="en-US" sz="2800" dirty="0" smtClean="0"/>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62" name="Rectangle 2"/>
          <p:cNvSpPr>
            <a:spLocks noGrp="1" noChangeArrowheads="1"/>
          </p:cNvSpPr>
          <p:nvPr>
            <p:ph type="title"/>
          </p:nvPr>
        </p:nvSpPr>
        <p:spPr/>
        <p:txBody>
          <a:bodyPr/>
          <a:lstStyle/>
          <a:p>
            <a:pPr eaLnBrk="1" hangingPunct="1">
              <a:defRPr/>
            </a:pPr>
            <a:r>
              <a:rPr lang="zh-CN" altLang="en-US" smtClean="0"/>
              <a:t>软件流水</a:t>
            </a:r>
            <a:br>
              <a:rPr lang="zh-CN" altLang="en-US" sz="3200" smtClean="0"/>
            </a:br>
            <a:r>
              <a:rPr lang="zh-CN" altLang="en-US" sz="3200" smtClean="0"/>
              <a:t>                   — 思想</a:t>
            </a:r>
            <a:endParaRPr lang="zh-CN" altLang="en-US" sz="3200" smtClean="0"/>
          </a:p>
        </p:txBody>
      </p:sp>
      <p:sp>
        <p:nvSpPr>
          <p:cNvPr id="22323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911364" name="Rectangle 4"/>
          <p:cNvSpPr>
            <a:spLocks noGrp="1" noChangeArrowheads="1"/>
          </p:cNvSpPr>
          <p:nvPr>
            <p:ph type="body" idx="1"/>
          </p:nvPr>
        </p:nvSpPr>
        <p:spPr>
          <a:xfrm>
            <a:off x="809625" y="1989138"/>
            <a:ext cx="7958138" cy="1279525"/>
          </a:xfrm>
        </p:spPr>
        <p:txBody>
          <a:bodyPr/>
          <a:lstStyle/>
          <a:p>
            <a:pPr marL="0" indent="0" eaLnBrk="1" hangingPunct="1">
              <a:buFont typeface="Wingdings" panose="05000000000000000000" pitchFamily="2" charset="2"/>
              <a:buNone/>
              <a:defRPr/>
            </a:pPr>
            <a:r>
              <a:rPr lang="zh-CN" altLang="en-US" sz="2400" dirty="0" smtClean="0"/>
              <a:t>        软件流水是一种重组循环的技术，</a:t>
            </a:r>
            <a:r>
              <a:rPr lang="zh-CN" altLang="en-US" sz="2400" dirty="0" smtClean="0">
                <a:solidFill>
                  <a:srgbClr val="FF0000"/>
                </a:solidFill>
                <a:effectLst>
                  <a:outerShdw blurRad="38100" dist="38100" dir="2700000" algn="tl">
                    <a:srgbClr val="C0C0C0"/>
                  </a:outerShdw>
                </a:effectLst>
              </a:rPr>
              <a:t>如果循环体间是相互独立的</a:t>
            </a:r>
            <a:r>
              <a:rPr lang="zh-CN" altLang="en-US" sz="2400" dirty="0" smtClean="0"/>
              <a:t>，可以将来自不同循环体间的指令（循环控制指令除外）组成一个新循环体，在保证循环体中的相关关系的同时提高并行性。</a:t>
            </a:r>
            <a:endParaRPr lang="zh-CN" altLang="en-US" sz="2400" dirty="0" smtClean="0"/>
          </a:p>
        </p:txBody>
      </p:sp>
      <p:pic>
        <p:nvPicPr>
          <p:cNvPr id="223237" name="Picture 6"/>
          <p:cNvPicPr>
            <a:picLocks noChangeArrowheads="1"/>
          </p:cNvPicPr>
          <p:nvPr/>
        </p:nvPicPr>
        <p:blipFill>
          <a:blip r:embed="rId4">
            <a:extLst>
              <a:ext uri="{28A0092B-C50C-407E-A947-70E740481C1C}">
                <a14:useLocalDpi xmlns:a14="http://schemas.microsoft.com/office/drawing/2010/main" val="0"/>
              </a:ext>
            </a:extLst>
          </a:blip>
          <a:srcRect l="12460"/>
          <a:stretch>
            <a:fillRect/>
          </a:stretch>
        </p:blipFill>
        <p:spPr bwMode="auto">
          <a:xfrm>
            <a:off x="823913" y="3352800"/>
            <a:ext cx="7939087" cy="31242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3238" name="Text Box 8"/>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1</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626" name="Rectangle 2"/>
          <p:cNvSpPr>
            <a:spLocks noGrp="1" noChangeArrowheads="1"/>
          </p:cNvSpPr>
          <p:nvPr>
            <p:ph type="title"/>
          </p:nvPr>
        </p:nvSpPr>
        <p:spPr/>
        <p:txBody>
          <a:bodyPr/>
          <a:lstStyle/>
          <a:p>
            <a:pPr eaLnBrk="1" hangingPunct="1">
              <a:defRPr/>
            </a:pPr>
            <a:r>
              <a:rPr lang="zh-CN" altLang="en-US" smtClean="0"/>
              <a:t>软件流水</a:t>
            </a:r>
            <a:br>
              <a:rPr lang="zh-CN" altLang="en-US" sz="3200" smtClean="0"/>
            </a:br>
            <a:r>
              <a:rPr lang="zh-CN" altLang="en-US" sz="3200" smtClean="0"/>
              <a:t>                   — 举例</a:t>
            </a:r>
            <a:endParaRPr lang="zh-CN" altLang="en-US" sz="3200" smtClean="0"/>
          </a:p>
        </p:txBody>
      </p:sp>
      <p:sp>
        <p:nvSpPr>
          <p:cNvPr id="922630" name="Rectangle 6"/>
          <p:cNvSpPr>
            <a:spLocks noGrp="1" noChangeArrowheads="1"/>
          </p:cNvSpPr>
          <p:nvPr>
            <p:ph type="body" sz="half" idx="1"/>
          </p:nvPr>
        </p:nvSpPr>
        <p:spPr>
          <a:solidFill>
            <a:srgbClr val="FFFF99"/>
          </a:solidFill>
          <a:ln w="57150" cmpd="thickThin">
            <a:solidFill>
              <a:schemeClr val="tx1"/>
            </a:solidFill>
            <a:miter lim="800000"/>
          </a:ln>
        </p:spPr>
        <p:txBody>
          <a:bodyPr/>
          <a:lstStyle/>
          <a:p>
            <a:pPr marL="457200" indent="-457200" eaLnBrk="1" hangingPunct="1">
              <a:lnSpc>
                <a:spcPct val="135000"/>
              </a:lnSpc>
              <a:buFont typeface="Wingdings" panose="05000000000000000000" pitchFamily="2" charset="2"/>
              <a:buNone/>
              <a:tabLst>
                <a:tab pos="1139825" algn="l"/>
                <a:tab pos="2193925" algn="l"/>
              </a:tabLst>
              <a:defRPr/>
            </a:pPr>
            <a:r>
              <a:rPr lang="zh-CN" altLang="en-US" sz="2000" smtClean="0">
                <a:latin typeface="Comic Sans MS" panose="030F0702030302020204" pitchFamily="66" charset="0"/>
              </a:rPr>
              <a:t>循环</a:t>
            </a:r>
            <a:r>
              <a:rPr lang="en-US" altLang="zh-CN" sz="2000" smtClean="0">
                <a:latin typeface="Comic Sans MS" panose="030F0702030302020204" pitchFamily="66" charset="0"/>
              </a:rPr>
              <a:t>i:	</a:t>
            </a:r>
            <a:r>
              <a:rPr lang="en-US" altLang="zh-CN" sz="2000" smtClean="0">
                <a:solidFill>
                  <a:srgbClr val="0000CC"/>
                </a:solidFill>
                <a:latin typeface="Comic Sans MS" panose="030F0702030302020204" pitchFamily="66" charset="0"/>
              </a:rPr>
              <a:t>L.D	F0,0(R1)</a:t>
            </a:r>
            <a:endParaRPr lang="en-US" altLang="zh-CN" sz="2000" smtClean="0">
              <a:solidFill>
                <a:srgbClr val="0000CC"/>
              </a:solidFill>
              <a:latin typeface="Comic Sans MS" panose="030F0702030302020204" pitchFamily="66" charset="0"/>
            </a:endParaRPr>
          </a:p>
          <a:p>
            <a:pPr marL="457200" indent="-457200" eaLnBrk="1" hangingPunct="1">
              <a:lnSpc>
                <a:spcPct val="135000"/>
              </a:lnSpc>
              <a:buFont typeface="Wingdings" panose="05000000000000000000" pitchFamily="2" charset="2"/>
              <a:buNone/>
              <a:tabLst>
                <a:tab pos="1139825" algn="l"/>
                <a:tab pos="2193925" algn="l"/>
              </a:tabLst>
              <a:defRPr/>
            </a:pPr>
            <a:r>
              <a:rPr lang="en-US" altLang="zh-CN" sz="2000" smtClean="0">
                <a:solidFill>
                  <a:srgbClr val="0000CC"/>
                </a:solidFill>
                <a:latin typeface="Comic Sans MS" panose="030F0702030302020204" pitchFamily="66" charset="0"/>
              </a:rPr>
              <a:t>		ADD.D	F4,F0,F2</a:t>
            </a:r>
            <a:endParaRPr lang="en-US" altLang="zh-CN" sz="2000" smtClean="0">
              <a:solidFill>
                <a:srgbClr val="0000CC"/>
              </a:solidFill>
              <a:latin typeface="Comic Sans MS" panose="030F0702030302020204" pitchFamily="66" charset="0"/>
            </a:endParaRPr>
          </a:p>
          <a:p>
            <a:pPr marL="457200" indent="-457200" eaLnBrk="1" hangingPunct="1">
              <a:lnSpc>
                <a:spcPct val="135000"/>
              </a:lnSpc>
              <a:buFont typeface="Wingdings" panose="05000000000000000000" pitchFamily="2" charset="2"/>
              <a:buNone/>
              <a:tabLst>
                <a:tab pos="1139825" algn="l"/>
                <a:tab pos="2193925" algn="l"/>
              </a:tabLst>
              <a:defRPr/>
            </a:pPr>
            <a:r>
              <a:rPr lang="en-US" altLang="zh-CN" sz="2000" smtClean="0">
                <a:latin typeface="Comic Sans MS" panose="030F0702030302020204" pitchFamily="66" charset="0"/>
              </a:rPr>
              <a:t>		</a:t>
            </a:r>
            <a:r>
              <a:rPr lang="en-US" altLang="zh-CN" sz="2000" b="0" smtClean="0">
                <a:solidFill>
                  <a:srgbClr val="FF0000"/>
                </a:solidFill>
                <a:effectLst>
                  <a:outerShdw blurRad="38100" dist="38100" dir="2700000" algn="tl">
                    <a:srgbClr val="000000"/>
                  </a:outerShdw>
                </a:effectLst>
                <a:latin typeface="Comic Sans MS" panose="030F0702030302020204" pitchFamily="66" charset="0"/>
              </a:rPr>
              <a:t>S.D	F4,0(R1)</a:t>
            </a:r>
            <a:endParaRPr lang="en-US" altLang="zh-CN" sz="2000" smtClean="0">
              <a:latin typeface="Comic Sans MS" panose="030F0702030302020204" pitchFamily="66" charset="0"/>
            </a:endParaRPr>
          </a:p>
          <a:p>
            <a:pPr marL="457200" indent="-457200" eaLnBrk="1" hangingPunct="1">
              <a:lnSpc>
                <a:spcPct val="135000"/>
              </a:lnSpc>
              <a:buFont typeface="Wingdings" panose="05000000000000000000" pitchFamily="2" charset="2"/>
              <a:buNone/>
              <a:tabLst>
                <a:tab pos="1139825" algn="l"/>
                <a:tab pos="2193925" algn="l"/>
              </a:tabLst>
              <a:defRPr/>
            </a:pPr>
            <a:r>
              <a:rPr lang="zh-CN" altLang="en-US" sz="2000" smtClean="0">
                <a:latin typeface="Comic Sans MS" panose="030F0702030302020204" pitchFamily="66" charset="0"/>
              </a:rPr>
              <a:t>循环</a:t>
            </a:r>
            <a:r>
              <a:rPr lang="en-US" altLang="zh-CN" sz="2000" smtClean="0">
                <a:latin typeface="Comic Sans MS" panose="030F0702030302020204" pitchFamily="66" charset="0"/>
              </a:rPr>
              <a:t>i+1:	L.D	F0,0(R1)</a:t>
            </a:r>
            <a:endParaRPr lang="en-US" altLang="zh-CN" sz="2000" smtClean="0">
              <a:latin typeface="Comic Sans MS" panose="030F0702030302020204" pitchFamily="66" charset="0"/>
            </a:endParaRPr>
          </a:p>
          <a:p>
            <a:pPr marL="457200" indent="-457200" eaLnBrk="1" hangingPunct="1">
              <a:lnSpc>
                <a:spcPct val="135000"/>
              </a:lnSpc>
              <a:buFont typeface="Wingdings" panose="05000000000000000000" pitchFamily="2" charset="2"/>
              <a:buNone/>
              <a:tabLst>
                <a:tab pos="1139825" algn="l"/>
                <a:tab pos="2193925" algn="l"/>
              </a:tabLst>
              <a:defRPr/>
            </a:pPr>
            <a:r>
              <a:rPr lang="en-US" altLang="zh-CN" sz="2000" smtClean="0">
                <a:latin typeface="Comic Sans MS" panose="030F0702030302020204" pitchFamily="66" charset="0"/>
              </a:rPr>
              <a:t>		</a:t>
            </a:r>
            <a:r>
              <a:rPr lang="en-US" altLang="zh-CN" sz="2000" b="0" smtClean="0">
                <a:solidFill>
                  <a:srgbClr val="FF0000"/>
                </a:solidFill>
                <a:effectLst>
                  <a:outerShdw blurRad="38100" dist="38100" dir="2700000" algn="tl">
                    <a:srgbClr val="000000"/>
                  </a:outerShdw>
                </a:effectLst>
                <a:latin typeface="Comic Sans MS" panose="030F0702030302020204" pitchFamily="66" charset="0"/>
              </a:rPr>
              <a:t>ADD.D	F4,F0,F2</a:t>
            </a:r>
            <a:endParaRPr lang="en-US" altLang="zh-CN" sz="2000" b="0" smtClean="0">
              <a:solidFill>
                <a:srgbClr val="FF0000"/>
              </a:solidFill>
              <a:effectLst>
                <a:outerShdw blurRad="38100" dist="38100" dir="2700000" algn="tl">
                  <a:srgbClr val="000000"/>
                </a:outerShdw>
              </a:effectLst>
              <a:latin typeface="Comic Sans MS" panose="030F0702030302020204" pitchFamily="66" charset="0"/>
            </a:endParaRPr>
          </a:p>
          <a:p>
            <a:pPr marL="457200" indent="-457200" eaLnBrk="1" hangingPunct="1">
              <a:lnSpc>
                <a:spcPct val="135000"/>
              </a:lnSpc>
              <a:buFont typeface="Wingdings" panose="05000000000000000000" pitchFamily="2" charset="2"/>
              <a:buNone/>
              <a:tabLst>
                <a:tab pos="1139825" algn="l"/>
                <a:tab pos="2193925" algn="l"/>
              </a:tabLst>
              <a:defRPr/>
            </a:pPr>
            <a:r>
              <a:rPr lang="en-US" altLang="zh-CN" sz="2000" smtClean="0">
                <a:latin typeface="Comic Sans MS" panose="030F0702030302020204" pitchFamily="66" charset="0"/>
              </a:rPr>
              <a:t>		S.D	F4,0(R1) 	</a:t>
            </a:r>
            <a:endParaRPr lang="en-US" altLang="zh-CN" sz="2000" smtClean="0">
              <a:latin typeface="Comic Sans MS" panose="030F0702030302020204" pitchFamily="66" charset="0"/>
            </a:endParaRPr>
          </a:p>
          <a:p>
            <a:pPr marL="457200" indent="-457200" eaLnBrk="1" hangingPunct="1">
              <a:lnSpc>
                <a:spcPct val="135000"/>
              </a:lnSpc>
              <a:buFont typeface="Wingdings" panose="05000000000000000000" pitchFamily="2" charset="2"/>
              <a:buNone/>
              <a:tabLst>
                <a:tab pos="1139825" algn="l"/>
                <a:tab pos="2193925" algn="l"/>
              </a:tabLst>
              <a:defRPr/>
            </a:pPr>
            <a:r>
              <a:rPr lang="zh-CN" altLang="en-US" sz="2000" smtClean="0">
                <a:latin typeface="Comic Sans MS" panose="030F0702030302020204" pitchFamily="66" charset="0"/>
              </a:rPr>
              <a:t>循环</a:t>
            </a:r>
            <a:r>
              <a:rPr lang="en-US" altLang="zh-CN" sz="2000" smtClean="0">
                <a:latin typeface="Comic Sans MS" panose="030F0702030302020204" pitchFamily="66" charset="0"/>
              </a:rPr>
              <a:t>i+2:	</a:t>
            </a:r>
            <a:r>
              <a:rPr lang="en-US" altLang="zh-CN" sz="2000" b="0" smtClean="0">
                <a:solidFill>
                  <a:srgbClr val="FF0000"/>
                </a:solidFill>
                <a:effectLst>
                  <a:outerShdw blurRad="38100" dist="38100" dir="2700000" algn="tl">
                    <a:srgbClr val="000000"/>
                  </a:outerShdw>
                </a:effectLst>
                <a:latin typeface="Comic Sans MS" panose="030F0702030302020204" pitchFamily="66" charset="0"/>
              </a:rPr>
              <a:t>L.D	F0,0(R1)</a:t>
            </a:r>
            <a:endParaRPr lang="en-US" altLang="zh-CN" sz="2000" b="0" smtClean="0">
              <a:solidFill>
                <a:srgbClr val="FF0000"/>
              </a:solidFill>
              <a:effectLst>
                <a:outerShdw blurRad="38100" dist="38100" dir="2700000" algn="tl">
                  <a:srgbClr val="000000"/>
                </a:outerShdw>
              </a:effectLst>
              <a:latin typeface="Comic Sans MS" panose="030F0702030302020204" pitchFamily="66" charset="0"/>
            </a:endParaRPr>
          </a:p>
          <a:p>
            <a:pPr marL="457200" indent="-457200" eaLnBrk="1" hangingPunct="1">
              <a:lnSpc>
                <a:spcPct val="135000"/>
              </a:lnSpc>
              <a:buFont typeface="Wingdings" panose="05000000000000000000" pitchFamily="2" charset="2"/>
              <a:buNone/>
              <a:tabLst>
                <a:tab pos="1139825" algn="l"/>
                <a:tab pos="2193925" algn="l"/>
              </a:tabLst>
              <a:defRPr/>
            </a:pPr>
            <a:r>
              <a:rPr lang="en-US" altLang="zh-CN" sz="2000" smtClean="0">
                <a:latin typeface="Comic Sans MS" panose="030F0702030302020204" pitchFamily="66" charset="0"/>
              </a:rPr>
              <a:t>		</a:t>
            </a:r>
            <a:r>
              <a:rPr lang="en-US" altLang="zh-CN" sz="2000" smtClean="0">
                <a:solidFill>
                  <a:srgbClr val="009900"/>
                </a:solidFill>
                <a:latin typeface="Comic Sans MS" panose="030F0702030302020204" pitchFamily="66" charset="0"/>
              </a:rPr>
              <a:t>ADD.D	F4,F0,F2</a:t>
            </a:r>
            <a:endParaRPr lang="en-US" altLang="zh-CN" sz="2000" smtClean="0">
              <a:solidFill>
                <a:srgbClr val="009900"/>
              </a:solidFill>
              <a:latin typeface="Comic Sans MS" panose="030F0702030302020204" pitchFamily="66" charset="0"/>
            </a:endParaRPr>
          </a:p>
          <a:p>
            <a:pPr marL="457200" indent="-457200" eaLnBrk="1" hangingPunct="1">
              <a:lnSpc>
                <a:spcPct val="135000"/>
              </a:lnSpc>
              <a:buFont typeface="Wingdings" panose="05000000000000000000" pitchFamily="2" charset="2"/>
              <a:buNone/>
              <a:tabLst>
                <a:tab pos="1139825" algn="l"/>
                <a:tab pos="2193925" algn="l"/>
              </a:tabLst>
              <a:defRPr/>
            </a:pPr>
            <a:r>
              <a:rPr lang="en-US" altLang="zh-CN" sz="2000" smtClean="0">
                <a:solidFill>
                  <a:srgbClr val="009900"/>
                </a:solidFill>
                <a:latin typeface="Comic Sans MS" panose="030F0702030302020204" pitchFamily="66" charset="0"/>
              </a:rPr>
              <a:t>		S.D	F4,0(R1)</a:t>
            </a:r>
            <a:r>
              <a:rPr lang="en-US" altLang="zh-CN" sz="2000" smtClean="0">
                <a:latin typeface="Comic Sans MS" panose="030F0702030302020204" pitchFamily="66" charset="0"/>
              </a:rPr>
              <a:t> 	</a:t>
            </a:r>
            <a:endParaRPr lang="zh-CN" altLang="en-US" sz="2000" smtClean="0">
              <a:latin typeface="Comic Sans MS" panose="030F0702030302020204" pitchFamily="66" charset="0"/>
            </a:endParaRPr>
          </a:p>
        </p:txBody>
      </p:sp>
      <p:sp>
        <p:nvSpPr>
          <p:cNvPr id="922631" name="Rectangle 7"/>
          <p:cNvSpPr>
            <a:spLocks noGrp="1" noChangeArrowheads="1"/>
          </p:cNvSpPr>
          <p:nvPr>
            <p:ph type="body" sz="half" idx="2"/>
          </p:nvPr>
        </p:nvSpPr>
        <p:spPr>
          <a:solidFill>
            <a:srgbClr val="CC99FF"/>
          </a:solidFill>
          <a:ln w="57150" cmpd="thickThin">
            <a:solidFill>
              <a:schemeClr val="tx1"/>
            </a:solidFill>
            <a:miter lim="800000"/>
          </a:ln>
        </p:spPr>
        <p:txBody>
          <a:bodyPr/>
          <a:lstStyle/>
          <a:p>
            <a:pPr eaLnBrk="1" hangingPunct="1">
              <a:buNone/>
              <a:tabLst>
                <a:tab pos="850900" algn="l"/>
                <a:tab pos="2092325" algn="l"/>
              </a:tabLst>
              <a:defRPr/>
            </a:pPr>
            <a:r>
              <a:rPr lang="en-US" altLang="zh-CN" sz="2000" dirty="0" smtClean="0">
                <a:latin typeface="Comic Sans MS" panose="030F0702030302020204" pitchFamily="66" charset="0"/>
              </a:rPr>
              <a:t>		</a:t>
            </a:r>
            <a:r>
              <a:rPr lang="en-US" altLang="zh-CN" sz="2000" dirty="0">
                <a:latin typeface="Comic Sans MS" panose="030F0702030302020204" pitchFamily="66" charset="0"/>
              </a:rPr>
              <a:t>DADDUI	R1,R1</a:t>
            </a:r>
            <a:r>
              <a:rPr lang="en-US" altLang="zh-CN" sz="2000" dirty="0" smtClean="0">
                <a:latin typeface="Comic Sans MS" panose="030F0702030302020204" pitchFamily="66" charset="0"/>
              </a:rPr>
              <a:t>,#-16</a:t>
            </a:r>
            <a:endParaRPr lang="en-US" altLang="zh-CN" sz="2000" dirty="0">
              <a:latin typeface="Comic Sans MS" panose="030F0702030302020204" pitchFamily="66" charset="0"/>
            </a:endParaRPr>
          </a:p>
          <a:p>
            <a:pPr eaLnBrk="1" hangingPunct="1">
              <a:buFont typeface="Wingdings" panose="05000000000000000000" pitchFamily="2" charset="2"/>
              <a:buNone/>
              <a:tabLst>
                <a:tab pos="850900" algn="l"/>
                <a:tab pos="2092325" algn="l"/>
              </a:tabLst>
              <a:defRPr/>
            </a:pPr>
            <a:r>
              <a:rPr lang="en-US" altLang="zh-CN" sz="2000" dirty="0" smtClean="0">
                <a:solidFill>
                  <a:srgbClr val="0000CC"/>
                </a:solidFill>
                <a:latin typeface="Comic Sans MS" panose="030F0702030302020204" pitchFamily="66" charset="0"/>
              </a:rPr>
              <a:t>        L.D	F0,16(R1)</a:t>
            </a:r>
            <a:endParaRPr lang="en-US" altLang="zh-CN" sz="2000" dirty="0" smtClean="0">
              <a:solidFill>
                <a:srgbClr val="0000CC"/>
              </a:solidFill>
              <a:latin typeface="Comic Sans MS" panose="030F0702030302020204" pitchFamily="66" charset="0"/>
            </a:endParaRPr>
          </a:p>
          <a:p>
            <a:pPr eaLnBrk="1" hangingPunct="1">
              <a:buFont typeface="Wingdings" panose="05000000000000000000" pitchFamily="2" charset="2"/>
              <a:buNone/>
              <a:tabLst>
                <a:tab pos="850900" algn="l"/>
                <a:tab pos="2092325" algn="l"/>
              </a:tabLst>
              <a:defRPr/>
            </a:pPr>
            <a:r>
              <a:rPr lang="en-US" altLang="zh-CN" sz="2000" dirty="0" smtClean="0">
                <a:solidFill>
                  <a:srgbClr val="0000CC"/>
                </a:solidFill>
                <a:latin typeface="Comic Sans MS" panose="030F0702030302020204" pitchFamily="66" charset="0"/>
              </a:rPr>
              <a:t>		ADD.D	F4,F0,F2</a:t>
            </a:r>
            <a:endParaRPr lang="en-US" altLang="zh-CN" sz="2000" dirty="0" smtClean="0">
              <a:solidFill>
                <a:srgbClr val="0000CC"/>
              </a:solidFill>
              <a:latin typeface="Comic Sans MS" panose="030F0702030302020204" pitchFamily="66" charset="0"/>
            </a:endParaRPr>
          </a:p>
          <a:p>
            <a:pPr eaLnBrk="1" hangingPunct="1">
              <a:buFont typeface="Wingdings" panose="05000000000000000000" pitchFamily="2" charset="2"/>
              <a:buNone/>
              <a:tabLst>
                <a:tab pos="850900" algn="l"/>
                <a:tab pos="2092325" algn="l"/>
              </a:tabLst>
              <a:defRPr/>
            </a:pPr>
            <a:r>
              <a:rPr lang="en-US" altLang="zh-CN" sz="2000" dirty="0" smtClean="0">
                <a:latin typeface="Comic Sans MS" panose="030F0702030302020204" pitchFamily="66" charset="0"/>
              </a:rPr>
              <a:t>		L.D	F0,8(R1)</a:t>
            </a:r>
            <a:endParaRPr lang="en-US" altLang="zh-CN" sz="2000" dirty="0" smtClean="0">
              <a:latin typeface="Comic Sans MS" panose="030F0702030302020204" pitchFamily="66" charset="0"/>
            </a:endParaRPr>
          </a:p>
          <a:p>
            <a:pPr eaLnBrk="1" hangingPunct="1">
              <a:buFont typeface="Wingdings" panose="05000000000000000000" pitchFamily="2" charset="2"/>
              <a:buNone/>
              <a:tabLst>
                <a:tab pos="850900" algn="l"/>
                <a:tab pos="2092325" algn="l"/>
              </a:tabLst>
              <a:defRPr/>
            </a:pPr>
            <a:r>
              <a:rPr lang="en-US" altLang="zh-CN" sz="2000" dirty="0" smtClean="0">
                <a:latin typeface="Comic Sans MS" panose="030F0702030302020204" pitchFamily="66" charset="0"/>
              </a:rPr>
              <a:t>LOOP: </a:t>
            </a:r>
            <a:r>
              <a:rPr lang="en-US" altLang="zh-CN" sz="2000" b="0" dirty="0" smtClean="0">
                <a:solidFill>
                  <a:srgbClr val="FF0000"/>
                </a:solidFill>
                <a:effectLst>
                  <a:outerShdw blurRad="38100" dist="38100" dir="2700000" algn="tl">
                    <a:srgbClr val="000000"/>
                  </a:outerShdw>
                </a:effectLst>
                <a:latin typeface="Comic Sans MS" panose="030F0702030302020204" pitchFamily="66" charset="0"/>
              </a:rPr>
              <a:t>S.D	F4,16(R1)</a:t>
            </a:r>
            <a:endParaRPr lang="en-US" altLang="zh-CN" sz="2000" b="0" dirty="0" smtClean="0">
              <a:solidFill>
                <a:srgbClr val="FF0000"/>
              </a:solidFill>
              <a:effectLst>
                <a:outerShdw blurRad="38100" dist="38100" dir="2700000" algn="tl">
                  <a:srgbClr val="000000"/>
                </a:outerShdw>
              </a:effectLst>
              <a:latin typeface="Comic Sans MS" panose="030F0702030302020204" pitchFamily="66" charset="0"/>
            </a:endParaRPr>
          </a:p>
          <a:p>
            <a:pPr eaLnBrk="1" hangingPunct="1">
              <a:buFont typeface="Wingdings" panose="05000000000000000000" pitchFamily="2" charset="2"/>
              <a:buNone/>
              <a:tabLst>
                <a:tab pos="850900" algn="l"/>
                <a:tab pos="2092325" algn="l"/>
              </a:tabLst>
              <a:defRPr/>
            </a:pPr>
            <a:r>
              <a:rPr lang="en-US" altLang="zh-CN" sz="2000" b="0" dirty="0" smtClean="0">
                <a:solidFill>
                  <a:srgbClr val="FF0000"/>
                </a:solidFill>
                <a:effectLst>
                  <a:outerShdw blurRad="38100" dist="38100" dir="2700000" algn="tl">
                    <a:srgbClr val="000000"/>
                  </a:outerShdw>
                </a:effectLst>
                <a:latin typeface="Comic Sans MS" panose="030F0702030302020204" pitchFamily="66" charset="0"/>
              </a:rPr>
              <a:t>		ADD.D	F4,F0,F2</a:t>
            </a:r>
            <a:endParaRPr lang="en-US" altLang="zh-CN" sz="2000" b="0" dirty="0" smtClean="0">
              <a:solidFill>
                <a:srgbClr val="FF0000"/>
              </a:solidFill>
              <a:effectLst>
                <a:outerShdw blurRad="38100" dist="38100" dir="2700000" algn="tl">
                  <a:srgbClr val="000000"/>
                </a:outerShdw>
              </a:effectLst>
              <a:latin typeface="Comic Sans MS" panose="030F0702030302020204" pitchFamily="66" charset="0"/>
            </a:endParaRPr>
          </a:p>
          <a:p>
            <a:pPr eaLnBrk="1" hangingPunct="1">
              <a:buFont typeface="Wingdings" panose="05000000000000000000" pitchFamily="2" charset="2"/>
              <a:buNone/>
              <a:tabLst>
                <a:tab pos="850900" algn="l"/>
                <a:tab pos="2092325" algn="l"/>
              </a:tabLst>
              <a:defRPr/>
            </a:pPr>
            <a:r>
              <a:rPr lang="en-US" altLang="zh-CN" sz="2000" b="0" dirty="0" smtClean="0">
                <a:solidFill>
                  <a:srgbClr val="FF0000"/>
                </a:solidFill>
                <a:effectLst>
                  <a:outerShdw blurRad="38100" dist="38100" dir="2700000" algn="tl">
                    <a:srgbClr val="000000"/>
                  </a:outerShdw>
                </a:effectLst>
                <a:latin typeface="Comic Sans MS" panose="030F0702030302020204" pitchFamily="66" charset="0"/>
              </a:rPr>
              <a:t>		L.D	F0,0(R1)</a:t>
            </a:r>
            <a:endParaRPr lang="en-US" altLang="zh-CN" sz="2000" b="0" dirty="0" smtClean="0">
              <a:solidFill>
                <a:srgbClr val="FF0000"/>
              </a:solidFill>
              <a:effectLst>
                <a:outerShdw blurRad="38100" dist="38100" dir="2700000" algn="tl">
                  <a:srgbClr val="000000"/>
                </a:outerShdw>
              </a:effectLst>
              <a:latin typeface="Comic Sans MS" panose="030F0702030302020204" pitchFamily="66" charset="0"/>
            </a:endParaRPr>
          </a:p>
          <a:p>
            <a:pPr eaLnBrk="1" hangingPunct="1">
              <a:buNone/>
              <a:tabLst>
                <a:tab pos="850900" algn="l"/>
                <a:tab pos="2092325" algn="l"/>
              </a:tabLst>
              <a:defRPr/>
            </a:pPr>
            <a:r>
              <a:rPr lang="en-US" altLang="zh-CN" sz="2000" b="0" dirty="0" smtClean="0">
                <a:solidFill>
                  <a:srgbClr val="FF0000"/>
                </a:solidFill>
                <a:effectLst>
                  <a:outerShdw blurRad="38100" dist="38100" dir="2700000" algn="tl">
                    <a:srgbClr val="000000"/>
                  </a:outerShdw>
                </a:effectLst>
                <a:latin typeface="Comic Sans MS" panose="030F0702030302020204" pitchFamily="66" charset="0"/>
              </a:rPr>
              <a:t>		</a:t>
            </a:r>
            <a:r>
              <a:rPr lang="en-US" altLang="zh-CN" sz="2000" b="0" dirty="0">
                <a:solidFill>
                  <a:srgbClr val="FF0000"/>
                </a:solidFill>
                <a:effectLst>
                  <a:outerShdw blurRad="38100" dist="38100" dir="2700000" algn="tl">
                    <a:srgbClr val="000000"/>
                  </a:outerShdw>
                </a:effectLst>
                <a:latin typeface="Comic Sans MS" panose="030F0702030302020204" pitchFamily="66" charset="0"/>
              </a:rPr>
              <a:t>BNE 	</a:t>
            </a:r>
            <a:r>
              <a:rPr lang="en-US" altLang="zh-CN" sz="2000" b="0" dirty="0" smtClean="0">
                <a:solidFill>
                  <a:srgbClr val="FF0000"/>
                </a:solidFill>
                <a:effectLst>
                  <a:outerShdw blurRad="38100" dist="38100" dir="2700000" algn="tl">
                    <a:srgbClr val="000000"/>
                  </a:outerShdw>
                </a:effectLst>
                <a:latin typeface="Comic Sans MS" panose="030F0702030302020204" pitchFamily="66" charset="0"/>
              </a:rPr>
              <a:t>R1,R2,LOOP</a:t>
            </a:r>
            <a:endParaRPr lang="en-US" altLang="zh-CN" sz="2000" b="0" dirty="0" smtClean="0">
              <a:solidFill>
                <a:srgbClr val="FF0000"/>
              </a:solidFill>
              <a:effectLst>
                <a:outerShdw blurRad="38100" dist="38100" dir="2700000" algn="tl">
                  <a:srgbClr val="000000"/>
                </a:outerShdw>
              </a:effectLst>
              <a:latin typeface="Comic Sans MS" panose="030F0702030302020204" pitchFamily="66" charset="0"/>
            </a:endParaRPr>
          </a:p>
          <a:p>
            <a:pPr eaLnBrk="1" hangingPunct="1">
              <a:buNone/>
              <a:tabLst>
                <a:tab pos="850900" algn="l"/>
                <a:tab pos="2092325" algn="l"/>
              </a:tabLst>
              <a:defRPr/>
            </a:pPr>
            <a:r>
              <a:rPr lang="en-US" altLang="zh-CN" sz="2000" b="0" dirty="0">
                <a:solidFill>
                  <a:srgbClr val="FF0000"/>
                </a:solidFill>
                <a:effectLst>
                  <a:outerShdw blurRad="38100" dist="38100" dir="2700000" algn="tl">
                    <a:srgbClr val="000000"/>
                  </a:outerShdw>
                </a:effectLst>
                <a:latin typeface="Comic Sans MS" panose="030F0702030302020204" pitchFamily="66" charset="0"/>
              </a:rPr>
              <a:t> </a:t>
            </a:r>
            <a:r>
              <a:rPr lang="en-US" altLang="zh-CN" sz="2000" b="0" dirty="0" smtClean="0">
                <a:solidFill>
                  <a:srgbClr val="FF0000"/>
                </a:solidFill>
                <a:effectLst>
                  <a:outerShdw blurRad="38100" dist="38100" dir="2700000" algn="tl">
                    <a:srgbClr val="000000"/>
                  </a:outerShdw>
                </a:effectLst>
                <a:latin typeface="Comic Sans MS" panose="030F0702030302020204" pitchFamily="66" charset="0"/>
              </a:rPr>
              <a:t>          DADDUI	R1,R1,#-8</a:t>
            </a:r>
            <a:endParaRPr lang="en-US" altLang="zh-CN" sz="2000" b="0" dirty="0" smtClean="0">
              <a:solidFill>
                <a:srgbClr val="FF0000"/>
              </a:solidFill>
              <a:effectLst>
                <a:outerShdw blurRad="38100" dist="38100" dir="2700000" algn="tl">
                  <a:srgbClr val="000000"/>
                </a:outerShdw>
              </a:effectLst>
              <a:latin typeface="Comic Sans MS" panose="030F0702030302020204" pitchFamily="66" charset="0"/>
            </a:endParaRPr>
          </a:p>
          <a:p>
            <a:pPr eaLnBrk="1" hangingPunct="1">
              <a:buFont typeface="Wingdings" panose="05000000000000000000" pitchFamily="2" charset="2"/>
              <a:buNone/>
              <a:tabLst>
                <a:tab pos="850900" algn="l"/>
                <a:tab pos="2092325" algn="l"/>
              </a:tabLst>
              <a:defRPr/>
            </a:pPr>
            <a:r>
              <a:rPr lang="en-US" altLang="zh-CN" sz="2000" b="0" dirty="0" smtClean="0">
                <a:solidFill>
                  <a:srgbClr val="FF0000"/>
                </a:solidFill>
                <a:effectLst>
                  <a:outerShdw blurRad="38100" dist="38100" dir="2700000" algn="tl">
                    <a:srgbClr val="000000"/>
                  </a:outerShdw>
                </a:effectLst>
                <a:latin typeface="Comic Sans MS" panose="030F0702030302020204" pitchFamily="66" charset="0"/>
              </a:rPr>
              <a:t>		</a:t>
            </a:r>
            <a:r>
              <a:rPr lang="en-US" altLang="zh-CN" sz="2000" dirty="0" smtClean="0">
                <a:latin typeface="Comic Sans MS" panose="030F0702030302020204" pitchFamily="66" charset="0"/>
              </a:rPr>
              <a:t>S.D	F4,8(R1)</a:t>
            </a:r>
            <a:endParaRPr lang="en-US" altLang="zh-CN" sz="2000" dirty="0" smtClean="0">
              <a:latin typeface="Comic Sans MS" panose="030F0702030302020204" pitchFamily="66" charset="0"/>
            </a:endParaRPr>
          </a:p>
          <a:p>
            <a:pPr eaLnBrk="1" hangingPunct="1">
              <a:buFont typeface="Wingdings" panose="05000000000000000000" pitchFamily="2" charset="2"/>
              <a:buNone/>
              <a:tabLst>
                <a:tab pos="850900" algn="l"/>
                <a:tab pos="2092325" algn="l"/>
              </a:tabLst>
              <a:defRPr/>
            </a:pPr>
            <a:r>
              <a:rPr lang="en-US" altLang="zh-CN" sz="2000" dirty="0" smtClean="0">
                <a:latin typeface="Comic Sans MS" panose="030F0702030302020204" pitchFamily="66" charset="0"/>
              </a:rPr>
              <a:t>		</a:t>
            </a:r>
            <a:r>
              <a:rPr lang="en-US" altLang="zh-CN" sz="2000" dirty="0" smtClean="0">
                <a:solidFill>
                  <a:srgbClr val="009900"/>
                </a:solidFill>
                <a:latin typeface="Comic Sans MS" panose="030F0702030302020204" pitchFamily="66" charset="0"/>
              </a:rPr>
              <a:t>ADD.D	F4,F0,F2</a:t>
            </a:r>
            <a:endParaRPr lang="en-US" altLang="zh-CN" sz="2000" dirty="0" smtClean="0">
              <a:solidFill>
                <a:srgbClr val="009900"/>
              </a:solidFill>
              <a:latin typeface="Comic Sans MS" panose="030F0702030302020204" pitchFamily="66" charset="0"/>
            </a:endParaRPr>
          </a:p>
          <a:p>
            <a:pPr eaLnBrk="1" hangingPunct="1">
              <a:buFont typeface="Wingdings" panose="05000000000000000000" pitchFamily="2" charset="2"/>
              <a:buNone/>
              <a:tabLst>
                <a:tab pos="850900" algn="l"/>
                <a:tab pos="2092325" algn="l"/>
              </a:tabLst>
              <a:defRPr/>
            </a:pPr>
            <a:r>
              <a:rPr lang="en-US" altLang="zh-CN" sz="2000" dirty="0" smtClean="0">
                <a:solidFill>
                  <a:srgbClr val="009900"/>
                </a:solidFill>
                <a:latin typeface="Comic Sans MS" panose="030F0702030302020204" pitchFamily="66" charset="0"/>
              </a:rPr>
              <a:t>		S.D	F4,0(R1)</a:t>
            </a:r>
            <a:r>
              <a:rPr lang="en-US" altLang="zh-CN" sz="2000" dirty="0" smtClean="0">
                <a:latin typeface="Comic Sans MS" panose="030F0702030302020204" pitchFamily="66" charset="0"/>
              </a:rPr>
              <a:t> 	</a:t>
            </a:r>
            <a:endParaRPr lang="en-US" altLang="zh-CN" sz="2000" dirty="0" smtClean="0">
              <a:latin typeface="Comic Sans MS" panose="030F0702030302020204" pitchFamily="66" charset="0"/>
            </a:endParaRPr>
          </a:p>
        </p:txBody>
      </p:sp>
      <p:sp>
        <p:nvSpPr>
          <p:cNvPr id="22426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922632" name="Line 8"/>
          <p:cNvSpPr>
            <a:spLocks noChangeShapeType="1"/>
          </p:cNvSpPr>
          <p:nvPr/>
        </p:nvSpPr>
        <p:spPr bwMode="auto">
          <a:xfrm>
            <a:off x="4211638" y="3213100"/>
            <a:ext cx="1524000" cy="503932"/>
          </a:xfrm>
          <a:prstGeom prst="line">
            <a:avLst/>
          </a:prstGeom>
          <a:noFill/>
          <a:ln w="28575">
            <a:solidFill>
              <a:srgbClr val="FF0000"/>
            </a:solidFill>
            <a:round/>
            <a:tailEnd type="arrow"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22633" name="Line 9"/>
          <p:cNvSpPr>
            <a:spLocks noChangeShapeType="1"/>
          </p:cNvSpPr>
          <p:nvPr/>
        </p:nvSpPr>
        <p:spPr bwMode="auto">
          <a:xfrm flipV="1">
            <a:off x="4284662" y="4005063"/>
            <a:ext cx="1450975" cy="160536"/>
          </a:xfrm>
          <a:prstGeom prst="line">
            <a:avLst/>
          </a:prstGeom>
          <a:noFill/>
          <a:ln w="28575">
            <a:solidFill>
              <a:srgbClr val="FF0000"/>
            </a:solidFill>
            <a:round/>
            <a:tailEnd type="arrow"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22634" name="Line 10"/>
          <p:cNvSpPr>
            <a:spLocks noChangeShapeType="1"/>
          </p:cNvSpPr>
          <p:nvPr/>
        </p:nvSpPr>
        <p:spPr bwMode="auto">
          <a:xfrm flipV="1">
            <a:off x="4211638" y="4437111"/>
            <a:ext cx="1524000" cy="647651"/>
          </a:xfrm>
          <a:prstGeom prst="line">
            <a:avLst/>
          </a:prstGeom>
          <a:noFill/>
          <a:ln w="28575">
            <a:solidFill>
              <a:srgbClr val="FF0000"/>
            </a:solidFill>
            <a:round/>
            <a:tailEnd type="arrow"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5" name="Line 11"/>
          <p:cNvSpPr>
            <a:spLocks noChangeShapeType="1"/>
          </p:cNvSpPr>
          <p:nvPr/>
        </p:nvSpPr>
        <p:spPr bwMode="auto">
          <a:xfrm>
            <a:off x="5724525" y="2349500"/>
            <a:ext cx="0" cy="1007491"/>
          </a:xfrm>
          <a:prstGeom prst="line">
            <a:avLst/>
          </a:prstGeom>
          <a:noFill/>
          <a:ln w="28575">
            <a:solidFill>
              <a:schemeClr val="tx1"/>
            </a:solidFill>
            <a:prstDash val="sysDot"/>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6" name="Rectangle 12"/>
          <p:cNvSpPr>
            <a:spLocks noChangeArrowheads="1"/>
          </p:cNvSpPr>
          <p:nvPr/>
        </p:nvSpPr>
        <p:spPr bwMode="auto">
          <a:xfrm>
            <a:off x="5108349" y="2586545"/>
            <a:ext cx="4572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000" dirty="0">
                <a:latin typeface="Comic Sans MS" panose="030F0702030302020204" pitchFamily="66" charset="0"/>
              </a:rPr>
              <a:t>装入</a:t>
            </a:r>
            <a:endParaRPr lang="zh-CN" altLang="en-US" sz="2000" dirty="0">
              <a:latin typeface="Comic Sans MS" panose="030F0702030302020204" pitchFamily="66" charset="0"/>
            </a:endParaRPr>
          </a:p>
          <a:p>
            <a:pPr algn="ctr" eaLnBrk="1" hangingPunct="1">
              <a:buFont typeface="Wingdings" panose="05000000000000000000" pitchFamily="2" charset="2"/>
              <a:buNone/>
            </a:pPr>
            <a:r>
              <a:rPr lang="zh-CN" altLang="en-US" sz="2000" dirty="0">
                <a:latin typeface="Comic Sans MS" panose="030F0702030302020204" pitchFamily="66" charset="0"/>
              </a:rPr>
              <a:t>代码</a:t>
            </a:r>
            <a:endParaRPr lang="zh-CN" altLang="en-US" sz="2000" dirty="0">
              <a:latin typeface="Comic Sans MS" panose="030F0702030302020204" pitchFamily="66" charset="0"/>
            </a:endParaRPr>
          </a:p>
        </p:txBody>
      </p:sp>
      <p:sp>
        <p:nvSpPr>
          <p:cNvPr id="224267" name="Line 13"/>
          <p:cNvSpPr>
            <a:spLocks noChangeShapeType="1"/>
          </p:cNvSpPr>
          <p:nvPr/>
        </p:nvSpPr>
        <p:spPr bwMode="auto">
          <a:xfrm>
            <a:off x="5706202" y="5373216"/>
            <a:ext cx="0" cy="914400"/>
          </a:xfrm>
          <a:prstGeom prst="line">
            <a:avLst/>
          </a:prstGeom>
          <a:noFill/>
          <a:ln w="28575">
            <a:solidFill>
              <a:schemeClr val="tx1"/>
            </a:solidFill>
            <a:prstDash val="sysDot"/>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8" name="Rectangle 14"/>
          <p:cNvSpPr>
            <a:spLocks noChangeArrowheads="1"/>
          </p:cNvSpPr>
          <p:nvPr/>
        </p:nvSpPr>
        <p:spPr bwMode="auto">
          <a:xfrm>
            <a:off x="5148263" y="5559896"/>
            <a:ext cx="4572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000" dirty="0">
                <a:latin typeface="Comic Sans MS" panose="030F0702030302020204" pitchFamily="66" charset="0"/>
              </a:rPr>
              <a:t>排空</a:t>
            </a:r>
            <a:endParaRPr lang="zh-CN" altLang="en-US" sz="2000" dirty="0">
              <a:latin typeface="Comic Sans MS" panose="030F0702030302020204" pitchFamily="66" charset="0"/>
            </a:endParaRPr>
          </a:p>
          <a:p>
            <a:pPr algn="ctr" eaLnBrk="1" hangingPunct="1">
              <a:buFont typeface="Wingdings" panose="05000000000000000000" pitchFamily="2" charset="2"/>
              <a:buNone/>
            </a:pPr>
            <a:r>
              <a:rPr lang="zh-CN" altLang="en-US" sz="2000" dirty="0">
                <a:latin typeface="Comic Sans MS" panose="030F0702030302020204" pitchFamily="66" charset="0"/>
              </a:rPr>
              <a:t>代码</a:t>
            </a:r>
            <a:endParaRPr lang="zh-CN" altLang="en-US" sz="2000" dirty="0">
              <a:latin typeface="Comic Sans MS" panose="030F0702030302020204" pitchFamily="66" charset="0"/>
            </a:endParaRPr>
          </a:p>
        </p:txBody>
      </p:sp>
      <p:sp>
        <p:nvSpPr>
          <p:cNvPr id="224269" name="Text Box 15"/>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2</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22632"/>
                                        </p:tgtEl>
                                        <p:attrNameLst>
                                          <p:attrName>style.visibility</p:attrName>
                                        </p:attrNameLst>
                                      </p:cBhvr>
                                      <p:to>
                                        <p:strVal val="visible"/>
                                      </p:to>
                                    </p:set>
                                    <p:animEffect transition="in" filter="wipe(left)">
                                      <p:cBhvr>
                                        <p:cTn id="7" dur="500"/>
                                        <p:tgtEl>
                                          <p:spTgt spid="92263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22633"/>
                                        </p:tgtEl>
                                        <p:attrNameLst>
                                          <p:attrName>style.visibility</p:attrName>
                                        </p:attrNameLst>
                                      </p:cBhvr>
                                      <p:to>
                                        <p:strVal val="visible"/>
                                      </p:to>
                                    </p:set>
                                    <p:animEffect transition="in" filter="wipe(left)">
                                      <p:cBhvr>
                                        <p:cTn id="12" dur="500"/>
                                        <p:tgtEl>
                                          <p:spTgt spid="92263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22634"/>
                                        </p:tgtEl>
                                        <p:attrNameLst>
                                          <p:attrName>style.visibility</p:attrName>
                                        </p:attrNameLst>
                                      </p:cBhvr>
                                      <p:to>
                                        <p:strVal val="visible"/>
                                      </p:to>
                                    </p:set>
                                    <p:animEffect transition="in" filter="wipe(left)">
                                      <p:cBhvr>
                                        <p:cTn id="17" dur="500"/>
                                        <p:tgtEl>
                                          <p:spTgt spid="9226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632" grpId="0" animBg="1"/>
      <p:bldP spid="922633" grpId="0" animBg="1"/>
      <p:bldP spid="922634"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626" name="Rectangle 2"/>
          <p:cNvSpPr>
            <a:spLocks noGrp="1" noChangeArrowheads="1"/>
          </p:cNvSpPr>
          <p:nvPr>
            <p:ph type="title"/>
          </p:nvPr>
        </p:nvSpPr>
        <p:spPr/>
        <p:txBody>
          <a:bodyPr/>
          <a:lstStyle/>
          <a:p>
            <a:pPr eaLnBrk="1" hangingPunct="1">
              <a:defRPr/>
            </a:pPr>
            <a:r>
              <a:rPr lang="zh-CN" altLang="en-US" dirty="0" smtClean="0"/>
              <a:t>软件流水</a:t>
            </a:r>
            <a:br>
              <a:rPr lang="zh-CN" altLang="en-US" sz="3200" dirty="0" smtClean="0"/>
            </a:br>
            <a:r>
              <a:rPr lang="zh-CN" altLang="en-US" sz="3200" dirty="0" smtClean="0"/>
              <a:t>                   — 举例解释</a:t>
            </a:r>
            <a:endParaRPr lang="zh-CN" altLang="en-US" sz="3200" dirty="0" smtClean="0"/>
          </a:p>
        </p:txBody>
      </p:sp>
      <p:sp>
        <p:nvSpPr>
          <p:cNvPr id="922631" name="Rectangle 7"/>
          <p:cNvSpPr>
            <a:spLocks noGrp="1" noChangeArrowheads="1"/>
          </p:cNvSpPr>
          <p:nvPr>
            <p:ph idx="1"/>
          </p:nvPr>
        </p:nvSpPr>
        <p:spPr>
          <a:solidFill>
            <a:srgbClr val="CC99FF"/>
          </a:solidFill>
          <a:ln w="57150" cmpd="thickThin">
            <a:solidFill>
              <a:schemeClr val="tx1"/>
            </a:solidFill>
            <a:miter lim="800000"/>
          </a:ln>
        </p:spPr>
        <p:txBody>
          <a:bodyPr/>
          <a:lstStyle/>
          <a:p>
            <a:pPr eaLnBrk="1" hangingPunct="1">
              <a:buNone/>
              <a:tabLst>
                <a:tab pos="850900" algn="l"/>
                <a:tab pos="2092325" algn="l"/>
              </a:tabLst>
              <a:defRPr/>
            </a:pPr>
            <a:r>
              <a:rPr lang="en-US" altLang="zh-CN" sz="2000" dirty="0" smtClean="0">
                <a:latin typeface="Comic Sans MS" panose="030F0702030302020204" pitchFamily="66" charset="0"/>
              </a:rPr>
              <a:t>		</a:t>
            </a:r>
            <a:r>
              <a:rPr lang="en-US" altLang="zh-CN" sz="2000" dirty="0">
                <a:latin typeface="Comic Sans MS" panose="030F0702030302020204" pitchFamily="66" charset="0"/>
              </a:rPr>
              <a:t>DADDUI	R1,R1</a:t>
            </a:r>
            <a:r>
              <a:rPr lang="en-US" altLang="zh-CN" sz="2000" dirty="0" smtClean="0">
                <a:latin typeface="Comic Sans MS" panose="030F0702030302020204" pitchFamily="66" charset="0"/>
              </a:rPr>
              <a:t>,#-16   //</a:t>
            </a:r>
            <a:r>
              <a:rPr lang="en-US" altLang="zh-CN" sz="2000" dirty="0" smtClean="0">
                <a:solidFill>
                  <a:srgbClr val="C00000"/>
                </a:solidFill>
                <a:latin typeface="Comic Sans MS" panose="030F0702030302020204" pitchFamily="66" charset="0"/>
              </a:rPr>
              <a:t>I</a:t>
            </a:r>
            <a:r>
              <a:rPr lang="en-US" altLang="zh-CN" sz="2000" baseline="-25000" dirty="0" smtClean="0">
                <a:solidFill>
                  <a:srgbClr val="C00000"/>
                </a:solidFill>
                <a:latin typeface="Comic Sans MS" panose="030F0702030302020204" pitchFamily="66" charset="0"/>
              </a:rPr>
              <a:t>1</a:t>
            </a:r>
            <a:r>
              <a:rPr lang="en-US" altLang="zh-CN" sz="2000" dirty="0" smtClean="0">
                <a:solidFill>
                  <a:srgbClr val="C00000"/>
                </a:solidFill>
                <a:latin typeface="Comic Sans MS" panose="030F0702030302020204" pitchFamily="66" charset="0"/>
              </a:rPr>
              <a:t>:</a:t>
            </a:r>
            <a:r>
              <a:rPr lang="en-US" altLang="zh-CN" sz="2000" dirty="0" smtClean="0">
                <a:latin typeface="Comic Sans MS" panose="030F0702030302020204" pitchFamily="66" charset="0"/>
              </a:rPr>
              <a:t>R1</a:t>
            </a:r>
            <a:r>
              <a:rPr lang="zh-CN" altLang="en-US" sz="2000" dirty="0" smtClean="0">
                <a:latin typeface="Comic Sans MS" panose="030F0702030302020204" pitchFamily="66" charset="0"/>
              </a:rPr>
              <a:t>保存元素</a:t>
            </a:r>
            <a:r>
              <a:rPr lang="en-US" altLang="zh-CN" sz="2000" dirty="0" smtClean="0">
                <a:latin typeface="Comic Sans MS" panose="030F0702030302020204" pitchFamily="66" charset="0"/>
              </a:rPr>
              <a:t>x[n-2]</a:t>
            </a:r>
            <a:r>
              <a:rPr lang="zh-CN" altLang="en-US" sz="2000" dirty="0" smtClean="0">
                <a:latin typeface="Comic Sans MS" panose="030F0702030302020204" pitchFamily="66" charset="0"/>
              </a:rPr>
              <a:t>的地址</a:t>
            </a:r>
            <a:endParaRPr lang="en-US" altLang="zh-CN" sz="2000" dirty="0">
              <a:latin typeface="Comic Sans MS" panose="030F0702030302020204" pitchFamily="66" charset="0"/>
            </a:endParaRPr>
          </a:p>
          <a:p>
            <a:pPr eaLnBrk="1" hangingPunct="1">
              <a:buNone/>
              <a:tabLst>
                <a:tab pos="850900" algn="l"/>
                <a:tab pos="2092325" algn="l"/>
              </a:tabLst>
              <a:defRPr/>
            </a:pPr>
            <a:r>
              <a:rPr lang="en-US" altLang="zh-CN" sz="2000" dirty="0" smtClean="0">
                <a:solidFill>
                  <a:srgbClr val="0000CC"/>
                </a:solidFill>
                <a:latin typeface="Comic Sans MS" panose="030F0702030302020204" pitchFamily="66" charset="0"/>
              </a:rPr>
              <a:t>        </a:t>
            </a:r>
            <a:r>
              <a:rPr lang="en-US" altLang="zh-CN" sz="2000" dirty="0" smtClean="0">
                <a:solidFill>
                  <a:srgbClr val="0000FF"/>
                </a:solidFill>
                <a:latin typeface="Comic Sans MS" panose="030F0702030302020204" pitchFamily="66" charset="0"/>
              </a:rPr>
              <a:t>L.D	F0,16(R1)</a:t>
            </a:r>
            <a:r>
              <a:rPr lang="en-US" altLang="zh-CN" sz="2000" dirty="0" smtClean="0">
                <a:solidFill>
                  <a:srgbClr val="0000CC"/>
                </a:solidFill>
                <a:latin typeface="Comic Sans MS" panose="030F0702030302020204" pitchFamily="66" charset="0"/>
              </a:rPr>
              <a:t>     </a:t>
            </a:r>
            <a:r>
              <a:rPr lang="en-US" altLang="zh-CN" sz="2000" dirty="0" smtClean="0">
                <a:latin typeface="Comic Sans MS" panose="030F0702030302020204" pitchFamily="66" charset="0"/>
              </a:rPr>
              <a:t>//</a:t>
            </a:r>
            <a:r>
              <a:rPr lang="en-US" altLang="zh-CN" sz="2000" dirty="0" smtClean="0">
                <a:solidFill>
                  <a:srgbClr val="C00000"/>
                </a:solidFill>
                <a:latin typeface="Comic Sans MS" panose="030F0702030302020204" pitchFamily="66" charset="0"/>
              </a:rPr>
              <a:t>I</a:t>
            </a:r>
            <a:r>
              <a:rPr lang="en-US" altLang="zh-CN" sz="2000" baseline="-25000" dirty="0" smtClean="0">
                <a:solidFill>
                  <a:srgbClr val="C00000"/>
                </a:solidFill>
                <a:latin typeface="Comic Sans MS" panose="030F0702030302020204" pitchFamily="66" charset="0"/>
              </a:rPr>
              <a:t>2</a:t>
            </a:r>
            <a:r>
              <a:rPr lang="en-US" altLang="zh-CN" sz="2000" dirty="0" smtClean="0">
                <a:solidFill>
                  <a:srgbClr val="C00000"/>
                </a:solidFill>
                <a:latin typeface="Comic Sans MS" panose="030F0702030302020204" pitchFamily="66" charset="0"/>
              </a:rPr>
              <a:t>:</a:t>
            </a:r>
            <a:r>
              <a:rPr lang="zh-CN" altLang="en-US" sz="2000" dirty="0" smtClean="0">
                <a:latin typeface="Comic Sans MS" panose="030F0702030302020204" pitchFamily="66" charset="0"/>
              </a:rPr>
              <a:t>取</a:t>
            </a:r>
            <a:r>
              <a:rPr lang="zh-CN" altLang="en-US" sz="2000" dirty="0">
                <a:latin typeface="Comic Sans MS" panose="030F0702030302020204" pitchFamily="66" charset="0"/>
              </a:rPr>
              <a:t>元素</a:t>
            </a:r>
            <a:r>
              <a:rPr lang="en-US" altLang="zh-CN" sz="2000" dirty="0">
                <a:latin typeface="Comic Sans MS" panose="030F0702030302020204" pitchFamily="66" charset="0"/>
              </a:rPr>
              <a:t>x[n]</a:t>
            </a:r>
            <a:endParaRPr lang="en-US" altLang="zh-CN" sz="2000" dirty="0">
              <a:latin typeface="Comic Sans MS" panose="030F0702030302020204" pitchFamily="66" charset="0"/>
            </a:endParaRPr>
          </a:p>
          <a:p>
            <a:pPr eaLnBrk="1" hangingPunct="1">
              <a:buNone/>
              <a:tabLst>
                <a:tab pos="850900" algn="l"/>
                <a:tab pos="2092325" algn="l"/>
              </a:tabLst>
              <a:defRPr/>
            </a:pPr>
            <a:r>
              <a:rPr lang="en-US" altLang="zh-CN" sz="2000" dirty="0" smtClean="0">
                <a:solidFill>
                  <a:srgbClr val="0000CC"/>
                </a:solidFill>
                <a:latin typeface="Comic Sans MS" panose="030F0702030302020204" pitchFamily="66" charset="0"/>
              </a:rPr>
              <a:t>		</a:t>
            </a:r>
            <a:r>
              <a:rPr lang="en-US" altLang="zh-CN" sz="2000" dirty="0" smtClean="0">
                <a:solidFill>
                  <a:srgbClr val="0000FF"/>
                </a:solidFill>
                <a:latin typeface="Comic Sans MS" panose="030F0702030302020204" pitchFamily="66" charset="0"/>
              </a:rPr>
              <a:t>ADD.D	F4,F0,F2      </a:t>
            </a:r>
            <a:r>
              <a:rPr lang="en-US" altLang="zh-CN" sz="2000" dirty="0" smtClean="0">
                <a:latin typeface="Comic Sans MS" panose="030F0702030302020204" pitchFamily="66" charset="0"/>
              </a:rPr>
              <a:t>//</a:t>
            </a:r>
            <a:r>
              <a:rPr lang="en-US" altLang="zh-CN" sz="2000" dirty="0" smtClean="0">
                <a:solidFill>
                  <a:srgbClr val="C00000"/>
                </a:solidFill>
                <a:latin typeface="Comic Sans MS" panose="030F0702030302020204" pitchFamily="66" charset="0"/>
              </a:rPr>
              <a:t>I</a:t>
            </a:r>
            <a:r>
              <a:rPr lang="en-US" altLang="zh-CN" sz="2000" baseline="-25000" dirty="0" smtClean="0">
                <a:solidFill>
                  <a:srgbClr val="C00000"/>
                </a:solidFill>
                <a:latin typeface="Comic Sans MS" panose="030F0702030302020204" pitchFamily="66" charset="0"/>
              </a:rPr>
              <a:t>3</a:t>
            </a:r>
            <a:r>
              <a:rPr lang="en-US" altLang="zh-CN" sz="2000" dirty="0" smtClean="0">
                <a:solidFill>
                  <a:srgbClr val="C00000"/>
                </a:solidFill>
                <a:latin typeface="Comic Sans MS" panose="030F0702030302020204" pitchFamily="66" charset="0"/>
              </a:rPr>
              <a:t>:</a:t>
            </a:r>
            <a:r>
              <a:rPr lang="en-US" altLang="zh-CN" sz="2000" dirty="0" smtClean="0">
                <a:latin typeface="Comic Sans MS" panose="030F0702030302020204" pitchFamily="66" charset="0"/>
              </a:rPr>
              <a:t>x[n</a:t>
            </a:r>
            <a:r>
              <a:rPr lang="en-US" altLang="zh-CN" sz="2000" dirty="0">
                <a:latin typeface="Comic Sans MS" panose="030F0702030302020204" pitchFamily="66" charset="0"/>
              </a:rPr>
              <a:t>]=x[n]+F2</a:t>
            </a:r>
            <a:endParaRPr lang="en-US" altLang="zh-CN" sz="2000" dirty="0">
              <a:latin typeface="Comic Sans MS" panose="030F0702030302020204" pitchFamily="66" charset="0"/>
            </a:endParaRPr>
          </a:p>
          <a:p>
            <a:pPr eaLnBrk="1" hangingPunct="1">
              <a:buNone/>
              <a:tabLst>
                <a:tab pos="850900" algn="l"/>
                <a:tab pos="2092325" algn="l"/>
              </a:tabLst>
              <a:defRPr/>
            </a:pPr>
            <a:r>
              <a:rPr lang="en-US" altLang="zh-CN" sz="2000" dirty="0" smtClean="0">
                <a:latin typeface="Comic Sans MS" panose="030F0702030302020204" pitchFamily="66" charset="0"/>
              </a:rPr>
              <a:t>		</a:t>
            </a:r>
            <a:r>
              <a:rPr lang="en-US" altLang="zh-CN" sz="2000" dirty="0" smtClean="0">
                <a:solidFill>
                  <a:srgbClr val="FF0000"/>
                </a:solidFill>
                <a:latin typeface="Comic Sans MS" panose="030F0702030302020204" pitchFamily="66" charset="0"/>
              </a:rPr>
              <a:t>L.D	F0,8(R1)      </a:t>
            </a:r>
            <a:r>
              <a:rPr lang="en-US" altLang="zh-CN" sz="2000" dirty="0" smtClean="0">
                <a:latin typeface="Comic Sans MS" panose="030F0702030302020204" pitchFamily="66" charset="0"/>
              </a:rPr>
              <a:t>//</a:t>
            </a:r>
            <a:r>
              <a:rPr lang="en-US" altLang="zh-CN" sz="2000" dirty="0" smtClean="0">
                <a:solidFill>
                  <a:srgbClr val="C00000"/>
                </a:solidFill>
                <a:latin typeface="Comic Sans MS" panose="030F0702030302020204" pitchFamily="66" charset="0"/>
              </a:rPr>
              <a:t>I</a:t>
            </a:r>
            <a:r>
              <a:rPr lang="en-US" altLang="zh-CN" sz="2000" baseline="-25000" dirty="0" smtClean="0">
                <a:solidFill>
                  <a:srgbClr val="C00000"/>
                </a:solidFill>
                <a:latin typeface="Comic Sans MS" panose="030F0702030302020204" pitchFamily="66" charset="0"/>
              </a:rPr>
              <a:t>4</a:t>
            </a:r>
            <a:r>
              <a:rPr lang="en-US" altLang="zh-CN" sz="2000" dirty="0" smtClean="0">
                <a:solidFill>
                  <a:srgbClr val="C00000"/>
                </a:solidFill>
                <a:latin typeface="Comic Sans MS" panose="030F0702030302020204" pitchFamily="66" charset="0"/>
              </a:rPr>
              <a:t>:</a:t>
            </a:r>
            <a:r>
              <a:rPr lang="zh-CN" altLang="en-US" sz="2000" dirty="0" smtClean="0">
                <a:latin typeface="Comic Sans MS" panose="030F0702030302020204" pitchFamily="66" charset="0"/>
              </a:rPr>
              <a:t>取</a:t>
            </a:r>
            <a:r>
              <a:rPr lang="zh-CN" altLang="en-US" sz="2000" dirty="0">
                <a:latin typeface="Comic Sans MS" panose="030F0702030302020204" pitchFamily="66" charset="0"/>
              </a:rPr>
              <a:t>元素</a:t>
            </a:r>
            <a:r>
              <a:rPr lang="en-US" altLang="zh-CN" sz="2000" smtClean="0">
                <a:latin typeface="Comic Sans MS" panose="030F0702030302020204" pitchFamily="66" charset="0"/>
              </a:rPr>
              <a:t>x[n-1]</a:t>
            </a:r>
            <a:endParaRPr lang="en-US" altLang="zh-CN" sz="2000" dirty="0">
              <a:latin typeface="Comic Sans MS" panose="030F0702030302020204" pitchFamily="66" charset="0"/>
            </a:endParaRPr>
          </a:p>
          <a:p>
            <a:pPr eaLnBrk="1" hangingPunct="1">
              <a:buNone/>
              <a:tabLst>
                <a:tab pos="850900" algn="l"/>
                <a:tab pos="2092325" algn="l"/>
              </a:tabLst>
              <a:defRPr/>
            </a:pPr>
            <a:r>
              <a:rPr lang="en-US" altLang="zh-CN" sz="2000" dirty="0" smtClean="0">
                <a:latin typeface="Comic Sans MS" panose="030F0702030302020204" pitchFamily="66" charset="0"/>
              </a:rPr>
              <a:t>LOOP: </a:t>
            </a:r>
            <a:r>
              <a:rPr lang="en-US" altLang="zh-CN" sz="2000" dirty="0" smtClean="0">
                <a:solidFill>
                  <a:srgbClr val="0000FF"/>
                </a:solidFill>
                <a:latin typeface="Comic Sans MS" panose="030F0702030302020204" pitchFamily="66" charset="0"/>
              </a:rPr>
              <a:t>S.D	F4,16(R1)     </a:t>
            </a:r>
            <a:r>
              <a:rPr lang="en-US" altLang="zh-CN" sz="2000" dirty="0" smtClean="0">
                <a:latin typeface="Comic Sans MS" panose="030F0702030302020204" pitchFamily="66" charset="0"/>
              </a:rPr>
              <a:t>//</a:t>
            </a:r>
            <a:r>
              <a:rPr lang="en-US" altLang="zh-CN" sz="2000" dirty="0" smtClean="0">
                <a:solidFill>
                  <a:srgbClr val="C00000"/>
                </a:solidFill>
                <a:latin typeface="Comic Sans MS" panose="030F0702030302020204" pitchFamily="66" charset="0"/>
              </a:rPr>
              <a:t>I</a:t>
            </a:r>
            <a:r>
              <a:rPr lang="en-US" altLang="zh-CN" sz="2000" baseline="-25000" dirty="0" smtClean="0">
                <a:solidFill>
                  <a:srgbClr val="C00000"/>
                </a:solidFill>
                <a:latin typeface="Comic Sans MS" panose="030F0702030302020204" pitchFamily="66" charset="0"/>
              </a:rPr>
              <a:t>5</a:t>
            </a:r>
            <a:r>
              <a:rPr lang="en-US" altLang="zh-CN" sz="2000" dirty="0" smtClean="0">
                <a:solidFill>
                  <a:srgbClr val="C00000"/>
                </a:solidFill>
                <a:latin typeface="Comic Sans MS" panose="030F0702030302020204" pitchFamily="66" charset="0"/>
              </a:rPr>
              <a:t>:</a:t>
            </a:r>
            <a:r>
              <a:rPr lang="zh-CN" altLang="en-US" sz="2000" dirty="0" smtClean="0">
                <a:latin typeface="Comic Sans MS" panose="030F0702030302020204" pitchFamily="66" charset="0"/>
              </a:rPr>
              <a:t>存</a:t>
            </a:r>
            <a:r>
              <a:rPr lang="en-US" altLang="zh-CN" sz="2000" dirty="0">
                <a:latin typeface="Comic Sans MS" panose="030F0702030302020204" pitchFamily="66" charset="0"/>
              </a:rPr>
              <a:t>x[i+2]</a:t>
            </a:r>
            <a:endParaRPr lang="en-US" altLang="zh-CN" sz="2000" dirty="0">
              <a:latin typeface="Comic Sans MS" panose="030F0702030302020204" pitchFamily="66" charset="0"/>
            </a:endParaRPr>
          </a:p>
          <a:p>
            <a:pPr eaLnBrk="1" hangingPunct="1">
              <a:buNone/>
              <a:tabLst>
                <a:tab pos="850900" algn="l"/>
                <a:tab pos="2092325" algn="l"/>
              </a:tabLst>
              <a:defRPr/>
            </a:pPr>
            <a:r>
              <a:rPr lang="en-US" altLang="zh-CN" sz="2000" b="0" dirty="0" smtClean="0">
                <a:solidFill>
                  <a:srgbClr val="FF0000"/>
                </a:solidFill>
                <a:effectLst>
                  <a:outerShdw blurRad="38100" dist="38100" dir="2700000" algn="tl">
                    <a:srgbClr val="000000"/>
                  </a:outerShdw>
                </a:effectLst>
                <a:latin typeface="Comic Sans MS" panose="030F0702030302020204" pitchFamily="66" charset="0"/>
              </a:rPr>
              <a:t>		</a:t>
            </a:r>
            <a:r>
              <a:rPr lang="en-US" altLang="zh-CN" sz="2000" dirty="0" smtClean="0">
                <a:solidFill>
                  <a:srgbClr val="FF0000"/>
                </a:solidFill>
                <a:latin typeface="Comic Sans MS" panose="030F0702030302020204" pitchFamily="66" charset="0"/>
              </a:rPr>
              <a:t>ADD.D	F4,F0,F2      </a:t>
            </a:r>
            <a:r>
              <a:rPr lang="en-US" altLang="zh-CN" sz="2000" dirty="0" smtClean="0">
                <a:latin typeface="Comic Sans MS" panose="030F0702030302020204" pitchFamily="66" charset="0"/>
              </a:rPr>
              <a:t>//</a:t>
            </a:r>
            <a:r>
              <a:rPr lang="en-US" altLang="zh-CN" sz="2000" dirty="0" smtClean="0">
                <a:solidFill>
                  <a:srgbClr val="C00000"/>
                </a:solidFill>
                <a:latin typeface="Comic Sans MS" panose="030F0702030302020204" pitchFamily="66" charset="0"/>
              </a:rPr>
              <a:t>I</a:t>
            </a:r>
            <a:r>
              <a:rPr lang="en-US" altLang="zh-CN" sz="2000" baseline="-25000" dirty="0" smtClean="0">
                <a:solidFill>
                  <a:srgbClr val="C00000"/>
                </a:solidFill>
                <a:latin typeface="Comic Sans MS" panose="030F0702030302020204" pitchFamily="66" charset="0"/>
              </a:rPr>
              <a:t>6</a:t>
            </a:r>
            <a:r>
              <a:rPr lang="en-US" altLang="zh-CN" sz="2000" dirty="0" smtClean="0">
                <a:solidFill>
                  <a:srgbClr val="C00000"/>
                </a:solidFill>
                <a:latin typeface="Comic Sans MS" panose="030F0702030302020204" pitchFamily="66" charset="0"/>
              </a:rPr>
              <a:t>:</a:t>
            </a:r>
            <a:r>
              <a:rPr lang="en-US" altLang="zh-CN" sz="2000" dirty="0" smtClean="0">
                <a:latin typeface="Comic Sans MS" panose="030F0702030302020204" pitchFamily="66" charset="0"/>
              </a:rPr>
              <a:t>x[i+1</a:t>
            </a:r>
            <a:r>
              <a:rPr lang="en-US" altLang="zh-CN" sz="2000" dirty="0">
                <a:latin typeface="Comic Sans MS" panose="030F0702030302020204" pitchFamily="66" charset="0"/>
              </a:rPr>
              <a:t>]=x[i+1]+F2</a:t>
            </a:r>
            <a:endParaRPr lang="en-US" altLang="zh-CN" sz="2000" dirty="0">
              <a:latin typeface="Comic Sans MS" panose="030F0702030302020204" pitchFamily="66" charset="0"/>
            </a:endParaRPr>
          </a:p>
          <a:p>
            <a:pPr eaLnBrk="1" hangingPunct="1">
              <a:buNone/>
              <a:tabLst>
                <a:tab pos="850900" algn="l"/>
                <a:tab pos="2092325" algn="l"/>
              </a:tabLst>
              <a:defRPr/>
            </a:pPr>
            <a:r>
              <a:rPr lang="en-US" altLang="zh-CN" sz="2000" dirty="0" smtClean="0">
                <a:solidFill>
                  <a:srgbClr val="FF0000"/>
                </a:solidFill>
                <a:latin typeface="Comic Sans MS" panose="030F0702030302020204" pitchFamily="66" charset="0"/>
              </a:rPr>
              <a:t>		</a:t>
            </a:r>
            <a:r>
              <a:rPr lang="en-US" altLang="zh-CN" sz="2000" dirty="0" smtClean="0">
                <a:solidFill>
                  <a:srgbClr val="009900"/>
                </a:solidFill>
                <a:latin typeface="Comic Sans MS" panose="030F0702030302020204" pitchFamily="66" charset="0"/>
              </a:rPr>
              <a:t>L.D	F0,0(R1)       </a:t>
            </a:r>
            <a:r>
              <a:rPr lang="en-US" altLang="zh-CN" sz="2000" dirty="0" smtClean="0">
                <a:latin typeface="Comic Sans MS" panose="030F0702030302020204" pitchFamily="66" charset="0"/>
              </a:rPr>
              <a:t>//</a:t>
            </a:r>
            <a:r>
              <a:rPr lang="en-US" altLang="zh-CN" sz="2000" dirty="0" smtClean="0">
                <a:solidFill>
                  <a:srgbClr val="C00000"/>
                </a:solidFill>
                <a:latin typeface="Comic Sans MS" panose="030F0702030302020204" pitchFamily="66" charset="0"/>
              </a:rPr>
              <a:t>I</a:t>
            </a:r>
            <a:r>
              <a:rPr lang="en-US" altLang="zh-CN" sz="2000" baseline="-25000" dirty="0" smtClean="0">
                <a:solidFill>
                  <a:srgbClr val="C00000"/>
                </a:solidFill>
                <a:latin typeface="Comic Sans MS" panose="030F0702030302020204" pitchFamily="66" charset="0"/>
              </a:rPr>
              <a:t>7</a:t>
            </a:r>
            <a:r>
              <a:rPr lang="en-US" altLang="zh-CN" sz="2000" dirty="0" smtClean="0">
                <a:solidFill>
                  <a:srgbClr val="C00000"/>
                </a:solidFill>
                <a:latin typeface="Comic Sans MS" panose="030F0702030302020204" pitchFamily="66" charset="0"/>
              </a:rPr>
              <a:t>:</a:t>
            </a:r>
            <a:r>
              <a:rPr lang="zh-CN" altLang="en-US" sz="2000" dirty="0" smtClean="0">
                <a:latin typeface="Comic Sans MS" panose="030F0702030302020204" pitchFamily="66" charset="0"/>
              </a:rPr>
              <a:t>取</a:t>
            </a:r>
            <a:r>
              <a:rPr lang="zh-CN" altLang="en-US" sz="2000" dirty="0">
                <a:latin typeface="Comic Sans MS" panose="030F0702030302020204" pitchFamily="66" charset="0"/>
              </a:rPr>
              <a:t>元素</a:t>
            </a:r>
            <a:r>
              <a:rPr lang="en-US" altLang="zh-CN" sz="2000" dirty="0">
                <a:latin typeface="Comic Sans MS" panose="030F0702030302020204" pitchFamily="66" charset="0"/>
              </a:rPr>
              <a:t>x[</a:t>
            </a:r>
            <a:r>
              <a:rPr lang="en-US" altLang="zh-CN" sz="2000" dirty="0" err="1">
                <a:latin typeface="Comic Sans MS" panose="030F0702030302020204" pitchFamily="66" charset="0"/>
              </a:rPr>
              <a:t>i</a:t>
            </a:r>
            <a:r>
              <a:rPr lang="en-US" altLang="zh-CN" sz="2000" dirty="0">
                <a:latin typeface="Comic Sans MS" panose="030F0702030302020204" pitchFamily="66" charset="0"/>
              </a:rPr>
              <a:t>]</a:t>
            </a:r>
            <a:endParaRPr lang="en-US" altLang="zh-CN" sz="2000" dirty="0">
              <a:latin typeface="Comic Sans MS" panose="030F0702030302020204" pitchFamily="66" charset="0"/>
            </a:endParaRPr>
          </a:p>
          <a:p>
            <a:pPr eaLnBrk="1" hangingPunct="1">
              <a:buNone/>
              <a:tabLst>
                <a:tab pos="850900" algn="l"/>
                <a:tab pos="2092325" algn="l"/>
              </a:tabLst>
              <a:defRPr/>
            </a:pPr>
            <a:r>
              <a:rPr lang="en-US" altLang="zh-CN" sz="2000" dirty="0" smtClean="0">
                <a:solidFill>
                  <a:srgbClr val="FF0000"/>
                </a:solidFill>
                <a:latin typeface="Comic Sans MS" panose="030F0702030302020204" pitchFamily="66" charset="0"/>
              </a:rPr>
              <a:t>		</a:t>
            </a:r>
            <a:r>
              <a:rPr lang="en-US" altLang="zh-CN" sz="2000" dirty="0">
                <a:latin typeface="Comic Sans MS" panose="030F0702030302020204" pitchFamily="66" charset="0"/>
              </a:rPr>
              <a:t>BNE 	</a:t>
            </a:r>
            <a:r>
              <a:rPr lang="en-US" altLang="zh-CN" sz="2000" dirty="0" smtClean="0">
                <a:latin typeface="Comic Sans MS" panose="030F0702030302020204" pitchFamily="66" charset="0"/>
              </a:rPr>
              <a:t>R1,R2,LOOP   //</a:t>
            </a:r>
            <a:r>
              <a:rPr lang="en-US" altLang="zh-CN" sz="2000" dirty="0" smtClean="0">
                <a:solidFill>
                  <a:srgbClr val="C00000"/>
                </a:solidFill>
                <a:latin typeface="Comic Sans MS" panose="030F0702030302020204" pitchFamily="66" charset="0"/>
              </a:rPr>
              <a:t>I</a:t>
            </a:r>
            <a:r>
              <a:rPr lang="en-US" altLang="zh-CN" sz="2000" baseline="-25000" dirty="0" smtClean="0">
                <a:solidFill>
                  <a:srgbClr val="C00000"/>
                </a:solidFill>
                <a:latin typeface="Comic Sans MS" panose="030F0702030302020204" pitchFamily="66" charset="0"/>
              </a:rPr>
              <a:t>8</a:t>
            </a:r>
            <a:r>
              <a:rPr lang="en-US" altLang="zh-CN" sz="2000" dirty="0" smtClean="0">
                <a:solidFill>
                  <a:srgbClr val="C00000"/>
                </a:solidFill>
                <a:latin typeface="Comic Sans MS" panose="030F0702030302020204" pitchFamily="66" charset="0"/>
              </a:rPr>
              <a:t>:</a:t>
            </a:r>
            <a:r>
              <a:rPr lang="zh-CN" altLang="en-US" sz="2000" dirty="0" smtClean="0">
                <a:latin typeface="Comic Sans MS" panose="030F0702030302020204" pitchFamily="66" charset="0"/>
              </a:rPr>
              <a:t>循环控制分支指令</a:t>
            </a:r>
            <a:endParaRPr lang="en-US" altLang="zh-CN" sz="2000" dirty="0" smtClean="0">
              <a:latin typeface="Comic Sans MS" panose="030F0702030302020204" pitchFamily="66" charset="0"/>
            </a:endParaRPr>
          </a:p>
          <a:p>
            <a:pPr eaLnBrk="1" hangingPunct="1">
              <a:buNone/>
              <a:tabLst>
                <a:tab pos="850900" algn="l"/>
                <a:tab pos="2092325" algn="l"/>
              </a:tabLst>
              <a:defRPr/>
            </a:pPr>
            <a:r>
              <a:rPr lang="en-US" altLang="zh-CN" sz="2000" dirty="0">
                <a:latin typeface="Comic Sans MS" panose="030F0702030302020204" pitchFamily="66" charset="0"/>
              </a:rPr>
              <a:t> </a:t>
            </a:r>
            <a:r>
              <a:rPr lang="en-US" altLang="zh-CN" sz="2000" dirty="0" smtClean="0">
                <a:latin typeface="Comic Sans MS" panose="030F0702030302020204" pitchFamily="66" charset="0"/>
              </a:rPr>
              <a:t>       DADDUI	R1,R1,#-8    //</a:t>
            </a:r>
            <a:r>
              <a:rPr lang="en-US" altLang="zh-CN" sz="2000" dirty="0" smtClean="0">
                <a:solidFill>
                  <a:srgbClr val="C00000"/>
                </a:solidFill>
                <a:latin typeface="Comic Sans MS" panose="030F0702030302020204" pitchFamily="66" charset="0"/>
              </a:rPr>
              <a:t>I</a:t>
            </a:r>
            <a:r>
              <a:rPr lang="en-US" altLang="zh-CN" sz="2000" baseline="-25000" dirty="0" smtClean="0">
                <a:solidFill>
                  <a:srgbClr val="C00000"/>
                </a:solidFill>
                <a:latin typeface="Comic Sans MS" panose="030F0702030302020204" pitchFamily="66" charset="0"/>
              </a:rPr>
              <a:t>9</a:t>
            </a:r>
            <a:r>
              <a:rPr lang="en-US" altLang="zh-CN" sz="2000" dirty="0" smtClean="0">
                <a:solidFill>
                  <a:srgbClr val="C00000"/>
                </a:solidFill>
                <a:latin typeface="Comic Sans MS" panose="030F0702030302020204" pitchFamily="66" charset="0"/>
              </a:rPr>
              <a:t>:</a:t>
            </a:r>
            <a:r>
              <a:rPr lang="zh-CN" altLang="en-US" sz="2000" dirty="0" smtClean="0">
                <a:latin typeface="Comic Sans MS" panose="030F0702030302020204" pitchFamily="66" charset="0"/>
              </a:rPr>
              <a:t>填充</a:t>
            </a:r>
            <a:r>
              <a:rPr lang="zh-CN" altLang="en-US" sz="2000" dirty="0">
                <a:latin typeface="Comic Sans MS" panose="030F0702030302020204" pitchFamily="66" charset="0"/>
              </a:rPr>
              <a:t>分支延时槽</a:t>
            </a:r>
            <a:endParaRPr lang="en-US" altLang="zh-CN" sz="2000" dirty="0">
              <a:latin typeface="Comic Sans MS" panose="030F0702030302020204" pitchFamily="66" charset="0"/>
            </a:endParaRPr>
          </a:p>
          <a:p>
            <a:pPr eaLnBrk="1" hangingPunct="1">
              <a:buNone/>
              <a:tabLst>
                <a:tab pos="850900" algn="l"/>
                <a:tab pos="2092325" algn="l"/>
              </a:tabLst>
              <a:defRPr/>
            </a:pPr>
            <a:r>
              <a:rPr lang="en-US" altLang="zh-CN" sz="2000" b="0" dirty="0" smtClean="0">
                <a:solidFill>
                  <a:srgbClr val="FF0000"/>
                </a:solidFill>
                <a:effectLst>
                  <a:outerShdw blurRad="38100" dist="38100" dir="2700000" algn="tl">
                    <a:srgbClr val="000000"/>
                  </a:outerShdw>
                </a:effectLst>
                <a:latin typeface="Comic Sans MS" panose="030F0702030302020204" pitchFamily="66" charset="0"/>
              </a:rPr>
              <a:t>		</a:t>
            </a:r>
            <a:r>
              <a:rPr lang="en-US" altLang="zh-CN" sz="2000" dirty="0" smtClean="0">
                <a:solidFill>
                  <a:srgbClr val="FF0000"/>
                </a:solidFill>
                <a:latin typeface="Comic Sans MS" panose="030F0702030302020204" pitchFamily="66" charset="0"/>
              </a:rPr>
              <a:t>S.D	F4,8(R1)       </a:t>
            </a:r>
            <a:r>
              <a:rPr lang="en-US" altLang="zh-CN" sz="2000" dirty="0" smtClean="0">
                <a:latin typeface="Comic Sans MS" panose="030F0702030302020204" pitchFamily="66" charset="0"/>
              </a:rPr>
              <a:t>//</a:t>
            </a:r>
            <a:r>
              <a:rPr lang="en-US" altLang="zh-CN" sz="2000" dirty="0" smtClean="0">
                <a:solidFill>
                  <a:srgbClr val="C00000"/>
                </a:solidFill>
                <a:latin typeface="Comic Sans MS" panose="030F0702030302020204" pitchFamily="66" charset="0"/>
              </a:rPr>
              <a:t>I</a:t>
            </a:r>
            <a:r>
              <a:rPr lang="en-US" altLang="zh-CN" sz="2000" baseline="-25000" dirty="0" smtClean="0">
                <a:solidFill>
                  <a:srgbClr val="C00000"/>
                </a:solidFill>
                <a:latin typeface="Comic Sans MS" panose="030F0702030302020204" pitchFamily="66" charset="0"/>
              </a:rPr>
              <a:t>10</a:t>
            </a:r>
            <a:r>
              <a:rPr lang="en-US" altLang="zh-CN" sz="2000" dirty="0" smtClean="0">
                <a:solidFill>
                  <a:srgbClr val="C00000"/>
                </a:solidFill>
                <a:latin typeface="Comic Sans MS" panose="030F0702030302020204" pitchFamily="66" charset="0"/>
              </a:rPr>
              <a:t>:</a:t>
            </a:r>
            <a:r>
              <a:rPr lang="zh-CN" altLang="en-US" sz="2000" dirty="0" smtClean="0">
                <a:latin typeface="Comic Sans MS" panose="030F0702030302020204" pitchFamily="66" charset="0"/>
              </a:rPr>
              <a:t>存</a:t>
            </a:r>
            <a:r>
              <a:rPr lang="en-US" altLang="zh-CN" sz="2000" dirty="0">
                <a:latin typeface="Comic Sans MS" panose="030F0702030302020204" pitchFamily="66" charset="0"/>
              </a:rPr>
              <a:t>x[2]</a:t>
            </a:r>
            <a:endParaRPr lang="en-US" altLang="zh-CN" sz="2000" dirty="0">
              <a:latin typeface="Comic Sans MS" panose="030F0702030302020204" pitchFamily="66" charset="0"/>
            </a:endParaRPr>
          </a:p>
          <a:p>
            <a:pPr eaLnBrk="1" hangingPunct="1">
              <a:buNone/>
              <a:tabLst>
                <a:tab pos="850900" algn="l"/>
                <a:tab pos="2092325" algn="l"/>
              </a:tabLst>
              <a:defRPr/>
            </a:pPr>
            <a:r>
              <a:rPr lang="en-US" altLang="zh-CN" sz="2000" dirty="0" smtClean="0">
                <a:latin typeface="Comic Sans MS" panose="030F0702030302020204" pitchFamily="66" charset="0"/>
              </a:rPr>
              <a:t>		</a:t>
            </a:r>
            <a:r>
              <a:rPr lang="en-US" altLang="zh-CN" sz="2000" dirty="0" smtClean="0">
                <a:solidFill>
                  <a:srgbClr val="009900"/>
                </a:solidFill>
                <a:latin typeface="Comic Sans MS" panose="030F0702030302020204" pitchFamily="66" charset="0"/>
              </a:rPr>
              <a:t>ADD.D	F4,F0,F2      </a:t>
            </a:r>
            <a:r>
              <a:rPr lang="en-US" altLang="zh-CN" sz="2000" dirty="0" smtClean="0">
                <a:latin typeface="Comic Sans MS" panose="030F0702030302020204" pitchFamily="66" charset="0"/>
              </a:rPr>
              <a:t>//</a:t>
            </a:r>
            <a:r>
              <a:rPr lang="en-US" altLang="zh-CN" sz="2000" dirty="0" smtClean="0">
                <a:solidFill>
                  <a:srgbClr val="C00000"/>
                </a:solidFill>
                <a:latin typeface="Comic Sans MS" panose="030F0702030302020204" pitchFamily="66" charset="0"/>
              </a:rPr>
              <a:t>I</a:t>
            </a:r>
            <a:r>
              <a:rPr lang="en-US" altLang="zh-CN" sz="2000" baseline="-25000" dirty="0" smtClean="0">
                <a:solidFill>
                  <a:srgbClr val="C00000"/>
                </a:solidFill>
                <a:latin typeface="Comic Sans MS" panose="030F0702030302020204" pitchFamily="66" charset="0"/>
              </a:rPr>
              <a:t>11</a:t>
            </a:r>
            <a:r>
              <a:rPr lang="en-US" altLang="zh-CN" sz="2000" dirty="0" smtClean="0">
                <a:solidFill>
                  <a:srgbClr val="C00000"/>
                </a:solidFill>
                <a:latin typeface="Comic Sans MS" panose="030F0702030302020204" pitchFamily="66" charset="0"/>
              </a:rPr>
              <a:t>:</a:t>
            </a:r>
            <a:r>
              <a:rPr lang="en-US" altLang="zh-CN" sz="2000" dirty="0" smtClean="0">
                <a:latin typeface="Comic Sans MS" panose="030F0702030302020204" pitchFamily="66" charset="0"/>
              </a:rPr>
              <a:t>x[1</a:t>
            </a:r>
            <a:r>
              <a:rPr lang="en-US" altLang="zh-CN" sz="2000" dirty="0">
                <a:latin typeface="Comic Sans MS" panose="030F0702030302020204" pitchFamily="66" charset="0"/>
              </a:rPr>
              <a:t>]=x[1]+F2</a:t>
            </a:r>
            <a:endParaRPr lang="en-US" altLang="zh-CN" sz="2000" dirty="0">
              <a:latin typeface="Comic Sans MS" panose="030F0702030302020204" pitchFamily="66" charset="0"/>
            </a:endParaRPr>
          </a:p>
          <a:p>
            <a:pPr eaLnBrk="1" hangingPunct="1">
              <a:buNone/>
              <a:tabLst>
                <a:tab pos="850900" algn="l"/>
                <a:tab pos="2092325" algn="l"/>
              </a:tabLst>
              <a:defRPr/>
            </a:pPr>
            <a:r>
              <a:rPr lang="en-US" altLang="zh-CN" sz="2000" dirty="0" smtClean="0">
                <a:solidFill>
                  <a:srgbClr val="009900"/>
                </a:solidFill>
                <a:latin typeface="Comic Sans MS" panose="030F0702030302020204" pitchFamily="66" charset="0"/>
              </a:rPr>
              <a:t>		S.D	F4,0(R1)</a:t>
            </a:r>
            <a:r>
              <a:rPr lang="en-US" altLang="zh-CN" sz="2000" dirty="0" smtClean="0">
                <a:latin typeface="Comic Sans MS" panose="030F0702030302020204" pitchFamily="66" charset="0"/>
              </a:rPr>
              <a:t> 	  //</a:t>
            </a:r>
            <a:r>
              <a:rPr lang="en-US" altLang="zh-CN" sz="2000" dirty="0" smtClean="0">
                <a:solidFill>
                  <a:srgbClr val="C00000"/>
                </a:solidFill>
                <a:latin typeface="Comic Sans MS" panose="030F0702030302020204" pitchFamily="66" charset="0"/>
              </a:rPr>
              <a:t>I</a:t>
            </a:r>
            <a:r>
              <a:rPr lang="en-US" altLang="zh-CN" sz="2000" baseline="-25000" dirty="0" smtClean="0">
                <a:solidFill>
                  <a:srgbClr val="C00000"/>
                </a:solidFill>
                <a:latin typeface="Comic Sans MS" panose="030F0702030302020204" pitchFamily="66" charset="0"/>
              </a:rPr>
              <a:t>12</a:t>
            </a:r>
            <a:r>
              <a:rPr lang="en-US" altLang="zh-CN" sz="2000" dirty="0" smtClean="0">
                <a:solidFill>
                  <a:srgbClr val="C00000"/>
                </a:solidFill>
                <a:latin typeface="Comic Sans MS" panose="030F0702030302020204" pitchFamily="66" charset="0"/>
              </a:rPr>
              <a:t>:</a:t>
            </a:r>
            <a:r>
              <a:rPr lang="zh-CN" altLang="en-US" sz="2000" dirty="0" smtClean="0">
                <a:latin typeface="Comic Sans MS" panose="030F0702030302020204" pitchFamily="66" charset="0"/>
              </a:rPr>
              <a:t>存</a:t>
            </a:r>
            <a:r>
              <a:rPr lang="en-US" altLang="zh-CN" sz="2000" dirty="0">
                <a:latin typeface="Comic Sans MS" panose="030F0702030302020204" pitchFamily="66" charset="0"/>
              </a:rPr>
              <a:t>x[1]</a:t>
            </a:r>
            <a:endParaRPr lang="en-US" altLang="zh-CN" sz="2000" dirty="0">
              <a:latin typeface="Comic Sans MS" panose="030F0702030302020204" pitchFamily="66" charset="0"/>
            </a:endParaRPr>
          </a:p>
        </p:txBody>
      </p:sp>
      <p:sp>
        <p:nvSpPr>
          <p:cNvPr id="22426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224265" name="Line 11"/>
          <p:cNvSpPr>
            <a:spLocks noChangeShapeType="1"/>
          </p:cNvSpPr>
          <p:nvPr/>
        </p:nvSpPr>
        <p:spPr bwMode="auto">
          <a:xfrm>
            <a:off x="1691680" y="2349500"/>
            <a:ext cx="0" cy="1042688"/>
          </a:xfrm>
          <a:prstGeom prst="line">
            <a:avLst/>
          </a:prstGeom>
          <a:noFill/>
          <a:ln w="28575">
            <a:solidFill>
              <a:schemeClr val="tx1"/>
            </a:solidFill>
            <a:prstDash val="sysDot"/>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6" name="Rectangle 12"/>
          <p:cNvSpPr>
            <a:spLocks noChangeArrowheads="1"/>
          </p:cNvSpPr>
          <p:nvPr/>
        </p:nvSpPr>
        <p:spPr bwMode="auto">
          <a:xfrm>
            <a:off x="1117600" y="2604144"/>
            <a:ext cx="4572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000" dirty="0">
                <a:latin typeface="Comic Sans MS" panose="030F0702030302020204" pitchFamily="66" charset="0"/>
              </a:rPr>
              <a:t>装入</a:t>
            </a:r>
            <a:endParaRPr lang="zh-CN" altLang="en-US" sz="2000" dirty="0">
              <a:latin typeface="Comic Sans MS" panose="030F0702030302020204" pitchFamily="66" charset="0"/>
            </a:endParaRPr>
          </a:p>
          <a:p>
            <a:pPr algn="ctr" eaLnBrk="1" hangingPunct="1">
              <a:buFont typeface="Wingdings" panose="05000000000000000000" pitchFamily="2" charset="2"/>
              <a:buNone/>
            </a:pPr>
            <a:r>
              <a:rPr lang="zh-CN" altLang="en-US" sz="2000" dirty="0">
                <a:latin typeface="Comic Sans MS" panose="030F0702030302020204" pitchFamily="66" charset="0"/>
              </a:rPr>
              <a:t>代码</a:t>
            </a:r>
            <a:endParaRPr lang="zh-CN" altLang="en-US" sz="2000" dirty="0">
              <a:latin typeface="Comic Sans MS" panose="030F0702030302020204" pitchFamily="66" charset="0"/>
            </a:endParaRPr>
          </a:p>
        </p:txBody>
      </p:sp>
      <p:sp>
        <p:nvSpPr>
          <p:cNvPr id="224267" name="Line 13"/>
          <p:cNvSpPr>
            <a:spLocks noChangeShapeType="1"/>
          </p:cNvSpPr>
          <p:nvPr/>
        </p:nvSpPr>
        <p:spPr bwMode="auto">
          <a:xfrm>
            <a:off x="1693768" y="5381932"/>
            <a:ext cx="0" cy="914400"/>
          </a:xfrm>
          <a:prstGeom prst="line">
            <a:avLst/>
          </a:prstGeom>
          <a:noFill/>
          <a:ln w="28575">
            <a:solidFill>
              <a:schemeClr val="tx1"/>
            </a:solidFill>
            <a:prstDash val="sysDot"/>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8" name="Rectangle 14"/>
          <p:cNvSpPr>
            <a:spLocks noChangeArrowheads="1"/>
          </p:cNvSpPr>
          <p:nvPr/>
        </p:nvSpPr>
        <p:spPr bwMode="auto">
          <a:xfrm>
            <a:off x="1087846" y="5566739"/>
            <a:ext cx="4572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buFont typeface="Wingdings" panose="05000000000000000000" pitchFamily="2" charset="2"/>
              <a:buNone/>
            </a:pPr>
            <a:r>
              <a:rPr lang="zh-CN" altLang="en-US" sz="2000" dirty="0">
                <a:latin typeface="Comic Sans MS" panose="030F0702030302020204" pitchFamily="66" charset="0"/>
              </a:rPr>
              <a:t>排空</a:t>
            </a:r>
            <a:endParaRPr lang="zh-CN" altLang="en-US" sz="2000" dirty="0">
              <a:latin typeface="Comic Sans MS" panose="030F0702030302020204" pitchFamily="66" charset="0"/>
            </a:endParaRPr>
          </a:p>
          <a:p>
            <a:pPr algn="ctr" eaLnBrk="1" hangingPunct="1">
              <a:buFont typeface="Wingdings" panose="05000000000000000000" pitchFamily="2" charset="2"/>
              <a:buNone/>
            </a:pPr>
            <a:r>
              <a:rPr lang="zh-CN" altLang="en-US" sz="2000" dirty="0">
                <a:latin typeface="Comic Sans MS" panose="030F0702030302020204" pitchFamily="66" charset="0"/>
              </a:rPr>
              <a:t>代码</a:t>
            </a:r>
            <a:endParaRPr lang="zh-CN" altLang="en-US" sz="2000" dirty="0">
              <a:latin typeface="Comic Sans MS" panose="030F0702030302020204" pitchFamily="66" charset="0"/>
            </a:endParaRPr>
          </a:p>
        </p:txBody>
      </p:sp>
      <p:sp>
        <p:nvSpPr>
          <p:cNvPr id="224269" name="Text Box 15"/>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3</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4674" name="Rectangle 2"/>
          <p:cNvSpPr>
            <a:spLocks noGrp="1" noChangeArrowheads="1"/>
          </p:cNvSpPr>
          <p:nvPr>
            <p:ph type="title"/>
          </p:nvPr>
        </p:nvSpPr>
        <p:spPr/>
        <p:txBody>
          <a:bodyPr/>
          <a:lstStyle/>
          <a:p>
            <a:pPr eaLnBrk="1" hangingPunct="1">
              <a:defRPr/>
            </a:pPr>
            <a:r>
              <a:rPr lang="zh-CN" altLang="en-US" smtClean="0"/>
              <a:t>软件流水</a:t>
            </a:r>
            <a:br>
              <a:rPr lang="zh-CN" altLang="en-US" sz="3200" smtClean="0"/>
            </a:br>
            <a:r>
              <a:rPr lang="zh-CN" altLang="en-US" sz="3200" smtClean="0"/>
              <a:t>                   — 分析</a:t>
            </a:r>
            <a:endParaRPr lang="en-US" altLang="zh-CN" sz="3200" smtClean="0"/>
          </a:p>
        </p:txBody>
      </p:sp>
      <p:sp>
        <p:nvSpPr>
          <p:cNvPr id="225283" name="Rectangle 9"/>
          <p:cNvSpPr>
            <a:spLocks noGrp="1" noChangeArrowheads="1"/>
          </p:cNvSpPr>
          <p:nvPr>
            <p:ph type="body" idx="1"/>
          </p:nvPr>
        </p:nvSpPr>
        <p:spPr/>
        <p:txBody>
          <a:bodyPr/>
          <a:lstStyle/>
          <a:p>
            <a:pPr marL="0" indent="0" eaLnBrk="1" hangingPunct="1">
              <a:lnSpc>
                <a:spcPct val="130000"/>
              </a:lnSpc>
              <a:buNone/>
            </a:pPr>
            <a:r>
              <a:rPr lang="zh-CN" altLang="en-US" sz="2800" dirty="0" smtClean="0"/>
              <a:t>        一个软件流水循环程序从不同循环体中选取</a:t>
            </a:r>
            <a:r>
              <a:rPr lang="zh-CN" altLang="en-US" sz="2800" dirty="0"/>
              <a:t>指令（</a:t>
            </a:r>
            <a:r>
              <a:rPr lang="en-US" altLang="zh-CN" sz="2800" dirty="0" smtClean="0">
                <a:solidFill>
                  <a:srgbClr val="C00000"/>
                </a:solidFill>
                <a:latin typeface="Comic Sans MS" panose="030F0702030302020204" pitchFamily="66" charset="0"/>
              </a:rPr>
              <a:t>I</a:t>
            </a:r>
            <a:r>
              <a:rPr lang="en-US" altLang="zh-CN" sz="2800" baseline="-25000" dirty="0" smtClean="0">
                <a:solidFill>
                  <a:srgbClr val="C00000"/>
                </a:solidFill>
                <a:latin typeface="Comic Sans MS" panose="030F0702030302020204" pitchFamily="66" charset="0"/>
              </a:rPr>
              <a:t>5</a:t>
            </a:r>
            <a:r>
              <a:rPr lang="zh-CN" altLang="en-US" sz="2800" dirty="0" smtClean="0">
                <a:solidFill>
                  <a:srgbClr val="C00000"/>
                </a:solidFill>
                <a:latin typeface="Comic Sans MS" panose="030F0702030302020204" pitchFamily="66" charset="0"/>
              </a:rPr>
              <a:t>～</a:t>
            </a:r>
            <a:r>
              <a:rPr lang="en-US" altLang="zh-CN" sz="2800" dirty="0" smtClean="0">
                <a:solidFill>
                  <a:srgbClr val="C00000"/>
                </a:solidFill>
                <a:latin typeface="Comic Sans MS" panose="030F0702030302020204" pitchFamily="66" charset="0"/>
              </a:rPr>
              <a:t>I</a:t>
            </a:r>
            <a:r>
              <a:rPr lang="en-US" altLang="zh-CN" sz="2800" baseline="-25000" dirty="0">
                <a:solidFill>
                  <a:srgbClr val="C00000"/>
                </a:solidFill>
                <a:latin typeface="Comic Sans MS" panose="030F0702030302020204" pitchFamily="66" charset="0"/>
              </a:rPr>
              <a:t>7</a:t>
            </a:r>
            <a:r>
              <a:rPr lang="zh-CN" altLang="en-US" sz="2800" dirty="0" smtClean="0"/>
              <a:t>） </a:t>
            </a:r>
            <a:r>
              <a:rPr lang="zh-CN" altLang="en-US" sz="2800" dirty="0"/>
              <a:t>，</a:t>
            </a:r>
            <a:r>
              <a:rPr lang="zh-CN" altLang="en-US" sz="2800" dirty="0" smtClean="0"/>
              <a:t>因此仍然能够保证重复出现的原始循环体中的相关关系。装入（</a:t>
            </a:r>
            <a:r>
              <a:rPr lang="en-US" altLang="zh-CN" sz="2800" dirty="0" smtClean="0">
                <a:solidFill>
                  <a:srgbClr val="C00000"/>
                </a:solidFill>
                <a:latin typeface="Comic Sans MS" panose="030F0702030302020204" pitchFamily="66" charset="0"/>
              </a:rPr>
              <a:t>I</a:t>
            </a:r>
            <a:r>
              <a:rPr lang="en-US" altLang="zh-CN" sz="2800" baseline="-25000" dirty="0">
                <a:solidFill>
                  <a:srgbClr val="C00000"/>
                </a:solidFill>
                <a:latin typeface="Comic Sans MS" panose="030F0702030302020204" pitchFamily="66" charset="0"/>
              </a:rPr>
              <a:t>2</a:t>
            </a:r>
            <a:r>
              <a:rPr lang="zh-CN" altLang="en-US" sz="2800" dirty="0" smtClean="0">
                <a:solidFill>
                  <a:srgbClr val="C00000"/>
                </a:solidFill>
                <a:latin typeface="Comic Sans MS" panose="030F0702030302020204" pitchFamily="66" charset="0"/>
              </a:rPr>
              <a:t>～</a:t>
            </a:r>
            <a:r>
              <a:rPr lang="en-US" altLang="zh-CN" sz="2800" dirty="0" smtClean="0">
                <a:solidFill>
                  <a:srgbClr val="C00000"/>
                </a:solidFill>
                <a:latin typeface="Comic Sans MS" panose="030F0702030302020204" pitchFamily="66" charset="0"/>
              </a:rPr>
              <a:t>I</a:t>
            </a:r>
            <a:r>
              <a:rPr lang="en-US" altLang="zh-CN" sz="2800" baseline="-25000" dirty="0">
                <a:solidFill>
                  <a:srgbClr val="C00000"/>
                </a:solidFill>
                <a:latin typeface="Comic Sans MS" panose="030F0702030302020204" pitchFamily="66" charset="0"/>
              </a:rPr>
              <a:t>4</a:t>
            </a:r>
            <a:r>
              <a:rPr lang="zh-CN" altLang="en-US" sz="2800" dirty="0" smtClean="0"/>
              <a:t>）</a:t>
            </a:r>
            <a:r>
              <a:rPr lang="zh-CN" altLang="en-US" sz="2800" dirty="0"/>
              <a:t>和排空（</a:t>
            </a:r>
            <a:r>
              <a:rPr lang="en-US" altLang="zh-CN" sz="2800" dirty="0">
                <a:solidFill>
                  <a:srgbClr val="C00000"/>
                </a:solidFill>
                <a:latin typeface="Comic Sans MS" panose="030F0702030302020204" pitchFamily="66" charset="0"/>
              </a:rPr>
              <a:t>I</a:t>
            </a:r>
            <a:r>
              <a:rPr lang="en-US" altLang="zh-CN" sz="2800" baseline="-25000" dirty="0">
                <a:solidFill>
                  <a:srgbClr val="C00000"/>
                </a:solidFill>
                <a:latin typeface="Comic Sans MS" panose="030F0702030302020204" pitchFamily="66" charset="0"/>
              </a:rPr>
              <a:t>10</a:t>
            </a:r>
            <a:r>
              <a:rPr lang="zh-CN" altLang="en-US" sz="2800" dirty="0" smtClean="0">
                <a:solidFill>
                  <a:srgbClr val="C00000"/>
                </a:solidFill>
                <a:latin typeface="Comic Sans MS" panose="030F0702030302020204" pitchFamily="66" charset="0"/>
              </a:rPr>
              <a:t>～</a:t>
            </a:r>
            <a:r>
              <a:rPr lang="en-US" altLang="zh-CN" sz="2800" dirty="0" smtClean="0">
                <a:solidFill>
                  <a:srgbClr val="C00000"/>
                </a:solidFill>
                <a:latin typeface="Comic Sans MS" panose="030F0702030302020204" pitchFamily="66" charset="0"/>
              </a:rPr>
              <a:t>I</a:t>
            </a:r>
            <a:r>
              <a:rPr lang="en-US" altLang="zh-CN" sz="2800" baseline="-25000" dirty="0">
                <a:solidFill>
                  <a:srgbClr val="C00000"/>
                </a:solidFill>
                <a:latin typeface="Comic Sans MS" panose="030F0702030302020204" pitchFamily="66" charset="0"/>
              </a:rPr>
              <a:t>12</a:t>
            </a:r>
            <a:r>
              <a:rPr lang="zh-CN" altLang="en-US" sz="2800" dirty="0" smtClean="0"/>
              <a:t>）</a:t>
            </a:r>
            <a:r>
              <a:rPr lang="zh-CN" altLang="en-US" sz="2800" dirty="0"/>
              <a:t>代码</a:t>
            </a:r>
            <a:r>
              <a:rPr lang="zh-CN" altLang="en-US" sz="2800" dirty="0" smtClean="0"/>
              <a:t>分别对应于软件流水循环体中的开始和结束部分。</a:t>
            </a:r>
            <a:endParaRPr lang="zh-CN" altLang="en-US" sz="2800" dirty="0" smtClean="0"/>
          </a:p>
          <a:p>
            <a:pPr marL="0" indent="0" eaLnBrk="1" hangingPunct="1">
              <a:lnSpc>
                <a:spcPct val="130000"/>
              </a:lnSpc>
              <a:buFont typeface="Wingdings" panose="05000000000000000000" pitchFamily="2" charset="2"/>
              <a:buNone/>
            </a:pPr>
            <a:r>
              <a:rPr lang="zh-CN" altLang="en-US" sz="2800" dirty="0" smtClean="0"/>
              <a:t>        本例中的软件流水循环体需</a:t>
            </a:r>
            <a:r>
              <a:rPr lang="zh-CN" altLang="en-US" sz="2800" dirty="0" smtClean="0">
                <a:solidFill>
                  <a:srgbClr val="C00000"/>
                </a:solidFill>
              </a:rPr>
              <a:t>5</a:t>
            </a:r>
            <a:r>
              <a:rPr lang="zh-CN" altLang="en-US" sz="2800" dirty="0" smtClean="0"/>
              <a:t>个时钟周期（经调度后）。</a:t>
            </a:r>
            <a:endParaRPr lang="zh-CN" altLang="en-US" sz="2800" dirty="0" smtClean="0"/>
          </a:p>
        </p:txBody>
      </p:sp>
      <p:sp>
        <p:nvSpPr>
          <p:cNvPr id="225284"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225285" name="Text Box 11"/>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4</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6722" name="Rectangle 2"/>
          <p:cNvSpPr>
            <a:spLocks noGrp="1" noChangeArrowheads="1"/>
          </p:cNvSpPr>
          <p:nvPr>
            <p:ph type="title"/>
          </p:nvPr>
        </p:nvSpPr>
        <p:spPr/>
        <p:txBody>
          <a:bodyPr/>
          <a:lstStyle/>
          <a:p>
            <a:pPr eaLnBrk="1" hangingPunct="1">
              <a:defRPr/>
            </a:pPr>
            <a:r>
              <a:rPr lang="zh-CN" altLang="en-US" smtClean="0"/>
              <a:t>软件流水</a:t>
            </a:r>
            <a:br>
              <a:rPr lang="zh-CN" altLang="en-US" sz="3200" smtClean="0"/>
            </a:br>
            <a:r>
              <a:rPr lang="zh-CN" altLang="en-US" sz="3200" smtClean="0"/>
              <a:t>                   — 比较</a:t>
            </a:r>
            <a:endParaRPr lang="en-US" altLang="zh-CN" sz="3200" smtClean="0"/>
          </a:p>
        </p:txBody>
      </p:sp>
      <p:sp>
        <p:nvSpPr>
          <p:cNvPr id="22630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sp>
        <p:nvSpPr>
          <p:cNvPr id="226308" name="Rectangle 5"/>
          <p:cNvSpPr>
            <a:spLocks noGrp="1" noChangeArrowheads="1"/>
          </p:cNvSpPr>
          <p:nvPr>
            <p:ph type="body" idx="1"/>
          </p:nvPr>
        </p:nvSpPr>
        <p:spPr>
          <a:xfrm>
            <a:off x="809625" y="1916832"/>
            <a:ext cx="8226871" cy="4560168"/>
          </a:xfrm>
        </p:spPr>
        <p:txBody>
          <a:bodyPr/>
          <a:lstStyle/>
          <a:p>
            <a:pPr eaLnBrk="1" hangingPunct="1">
              <a:lnSpc>
                <a:spcPct val="110000"/>
              </a:lnSpc>
            </a:pPr>
            <a:r>
              <a:rPr lang="zh-CN" altLang="en-US" sz="2000" dirty="0" smtClean="0">
                <a:solidFill>
                  <a:srgbClr val="FF0000"/>
                </a:solidFill>
              </a:rPr>
              <a:t>循环展开</a:t>
            </a:r>
            <a:endParaRPr lang="en-US" altLang="zh-CN" sz="2000" dirty="0" smtClean="0">
              <a:solidFill>
                <a:srgbClr val="FF0000"/>
              </a:solidFill>
            </a:endParaRPr>
          </a:p>
          <a:p>
            <a:pPr lvl="1" eaLnBrk="1" hangingPunct="1">
              <a:lnSpc>
                <a:spcPct val="110000"/>
              </a:lnSpc>
            </a:pPr>
            <a:r>
              <a:rPr lang="zh-CN" altLang="en-US" sz="2000" dirty="0"/>
              <a:t>取得较好的内层循环</a:t>
            </a:r>
            <a:r>
              <a:rPr lang="zh-CN" altLang="en-US" sz="2000" dirty="0" smtClean="0"/>
              <a:t>调度</a:t>
            </a:r>
            <a:endParaRPr lang="en-US" altLang="zh-CN" sz="2000" dirty="0" smtClean="0"/>
          </a:p>
          <a:p>
            <a:pPr lvl="1" eaLnBrk="1" hangingPunct="1">
              <a:lnSpc>
                <a:spcPct val="110000"/>
              </a:lnSpc>
            </a:pPr>
            <a:r>
              <a:rPr lang="zh-CN" altLang="en-US" sz="2000" dirty="0" smtClean="0"/>
              <a:t>增大目标代码</a:t>
            </a:r>
            <a:endParaRPr lang="en-US" altLang="zh-CN" sz="2000" dirty="0" smtClean="0"/>
          </a:p>
          <a:p>
            <a:pPr lvl="1" eaLnBrk="1" hangingPunct="1">
              <a:lnSpc>
                <a:spcPct val="110000"/>
              </a:lnSpc>
            </a:pPr>
            <a:r>
              <a:rPr lang="zh-CN" altLang="en-US" sz="2000" dirty="0"/>
              <a:t>减少的是循环控制开销（分支指令和修改循环控制变量指令</a:t>
            </a:r>
            <a:r>
              <a:rPr lang="zh-CN" altLang="en-US" sz="2000" dirty="0" smtClean="0"/>
              <a:t>）</a:t>
            </a:r>
            <a:endParaRPr lang="en-US" altLang="zh-CN" sz="2000" dirty="0" smtClean="0"/>
          </a:p>
          <a:p>
            <a:pPr lvl="1" eaLnBrk="1" hangingPunct="1">
              <a:lnSpc>
                <a:spcPct val="110000"/>
              </a:lnSpc>
            </a:pPr>
            <a:r>
              <a:rPr lang="zh-CN" altLang="en-US" sz="2000" dirty="0" smtClean="0"/>
              <a:t>执行每次循环时用于充满和排空流水线的开销未减少（各</a:t>
            </a:r>
            <a:r>
              <a:rPr lang="en-US" altLang="zh-CN" sz="2000" dirty="0" smtClean="0"/>
              <a:t>n/k</a:t>
            </a:r>
            <a:r>
              <a:rPr lang="zh-CN" altLang="en-US" sz="2000" dirty="0" smtClean="0"/>
              <a:t>次）</a:t>
            </a:r>
            <a:endParaRPr lang="en-US" altLang="zh-CN" sz="2000" dirty="0" smtClean="0"/>
          </a:p>
          <a:p>
            <a:pPr eaLnBrk="1" hangingPunct="1">
              <a:lnSpc>
                <a:spcPct val="110000"/>
              </a:lnSpc>
            </a:pPr>
            <a:r>
              <a:rPr lang="zh-CN" altLang="en-US" sz="2000" dirty="0">
                <a:solidFill>
                  <a:srgbClr val="FF0000"/>
                </a:solidFill>
              </a:rPr>
              <a:t>软件</a:t>
            </a:r>
            <a:r>
              <a:rPr lang="zh-CN" altLang="en-US" sz="2000" dirty="0" smtClean="0">
                <a:solidFill>
                  <a:srgbClr val="FF0000"/>
                </a:solidFill>
              </a:rPr>
              <a:t>流水</a:t>
            </a:r>
            <a:endParaRPr lang="en-US" altLang="zh-CN" sz="2000" dirty="0" smtClean="0">
              <a:solidFill>
                <a:srgbClr val="FF0000"/>
              </a:solidFill>
            </a:endParaRPr>
          </a:p>
          <a:p>
            <a:pPr lvl="1" eaLnBrk="1" hangingPunct="1">
              <a:lnSpc>
                <a:spcPct val="110000"/>
              </a:lnSpc>
            </a:pPr>
            <a:r>
              <a:rPr lang="zh-CN" altLang="en-US" sz="2000" dirty="0"/>
              <a:t>取得较好的内层循环调度</a:t>
            </a:r>
            <a:endParaRPr lang="en-US" altLang="zh-CN" sz="2000" dirty="0" smtClean="0"/>
          </a:p>
          <a:p>
            <a:pPr lvl="1" eaLnBrk="1" hangingPunct="1">
              <a:lnSpc>
                <a:spcPct val="110000"/>
              </a:lnSpc>
            </a:pPr>
            <a:r>
              <a:rPr lang="zh-CN" altLang="en-US" sz="2000" dirty="0" smtClean="0"/>
              <a:t>产生</a:t>
            </a:r>
            <a:r>
              <a:rPr lang="zh-CN" altLang="en-US" sz="2000" dirty="0"/>
              <a:t>的代码</a:t>
            </a:r>
            <a:r>
              <a:rPr lang="zh-CN" altLang="en-US" sz="2000" dirty="0" smtClean="0"/>
              <a:t>少</a:t>
            </a:r>
            <a:endParaRPr lang="en-US" altLang="zh-CN" sz="2000" dirty="0" smtClean="0"/>
          </a:p>
          <a:p>
            <a:pPr lvl="1" eaLnBrk="1" hangingPunct="1">
              <a:lnSpc>
                <a:spcPct val="110000"/>
              </a:lnSpc>
            </a:pPr>
            <a:r>
              <a:rPr lang="zh-CN" altLang="en-US" sz="2000" dirty="0" smtClean="0"/>
              <a:t>减少的是</a:t>
            </a:r>
            <a:r>
              <a:rPr lang="zh-CN" altLang="en-US" sz="2000" dirty="0"/>
              <a:t>执行每次</a:t>
            </a:r>
            <a:r>
              <a:rPr lang="zh-CN" altLang="en-US" sz="2000" dirty="0" smtClean="0"/>
              <a:t>循环时用于</a:t>
            </a:r>
            <a:r>
              <a:rPr lang="zh-CN" altLang="en-US" sz="2000" dirty="0"/>
              <a:t>充满和排空流水线的</a:t>
            </a:r>
            <a:r>
              <a:rPr lang="zh-CN" altLang="en-US" sz="2000" dirty="0" smtClean="0"/>
              <a:t>开销（各</a:t>
            </a:r>
            <a:r>
              <a:rPr lang="en-US" altLang="zh-CN" sz="2000" dirty="0" smtClean="0"/>
              <a:t>1</a:t>
            </a:r>
            <a:r>
              <a:rPr lang="zh-CN" altLang="en-US" sz="2000" dirty="0" smtClean="0"/>
              <a:t>次）</a:t>
            </a:r>
            <a:endParaRPr lang="en-US" altLang="zh-CN" sz="2000" dirty="0" smtClean="0"/>
          </a:p>
          <a:p>
            <a:pPr lvl="1" eaLnBrk="1" hangingPunct="1">
              <a:lnSpc>
                <a:spcPct val="110000"/>
              </a:lnSpc>
            </a:pPr>
            <a:r>
              <a:rPr lang="zh-CN" altLang="en-US" sz="2000" dirty="0"/>
              <a:t>循环控制</a:t>
            </a:r>
            <a:r>
              <a:rPr lang="zh-CN" altLang="en-US" sz="2000" dirty="0" smtClean="0"/>
              <a:t>开销未减少</a:t>
            </a:r>
            <a:endParaRPr lang="en-US" altLang="zh-CN" sz="2000" dirty="0"/>
          </a:p>
          <a:p>
            <a:pPr eaLnBrk="1" hangingPunct="1">
              <a:lnSpc>
                <a:spcPct val="110000"/>
              </a:lnSpc>
            </a:pPr>
            <a:r>
              <a:rPr lang="zh-CN" altLang="en-US" sz="2000" dirty="0" smtClean="0"/>
              <a:t>要获得最优性能理想的方法就是</a:t>
            </a:r>
            <a:r>
              <a:rPr lang="zh-CN" altLang="en-US" sz="2000" dirty="0" smtClean="0">
                <a:solidFill>
                  <a:srgbClr val="0000FF"/>
                </a:solidFill>
              </a:rPr>
              <a:t>结合循环展开和软件流水</a:t>
            </a:r>
            <a:r>
              <a:rPr lang="zh-CN" altLang="en-US" sz="2000" dirty="0" smtClean="0"/>
              <a:t>。</a:t>
            </a:r>
            <a:endParaRPr lang="zh-CN" altLang="en-US" sz="2000" dirty="0" smtClean="0"/>
          </a:p>
        </p:txBody>
      </p:sp>
      <p:sp>
        <p:nvSpPr>
          <p:cNvPr id="226309" name="Text Box 51"/>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5</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7746" name="Rectangle 2"/>
          <p:cNvSpPr>
            <a:spLocks noGrp="1" noChangeArrowheads="1"/>
          </p:cNvSpPr>
          <p:nvPr>
            <p:ph type="title"/>
          </p:nvPr>
        </p:nvSpPr>
        <p:spPr/>
        <p:txBody>
          <a:bodyPr/>
          <a:lstStyle/>
          <a:p>
            <a:pPr eaLnBrk="1" hangingPunct="1">
              <a:defRPr/>
            </a:pPr>
            <a:r>
              <a:rPr lang="zh-CN" altLang="en-US" smtClean="0"/>
              <a:t>软件流水</a:t>
            </a:r>
            <a:br>
              <a:rPr lang="zh-CN" altLang="en-US" sz="3200" smtClean="0"/>
            </a:br>
            <a:r>
              <a:rPr lang="zh-CN" altLang="en-US" sz="3200" smtClean="0"/>
              <a:t>                          — 比较</a:t>
            </a:r>
            <a:r>
              <a:rPr lang="en-US" altLang="zh-CN" sz="3200" smtClean="0"/>
              <a:t>(</a:t>
            </a:r>
            <a:r>
              <a:rPr lang="zh-CN" altLang="en-US" sz="3200" smtClean="0"/>
              <a:t>图</a:t>
            </a:r>
            <a:r>
              <a:rPr lang="en-US" altLang="zh-CN" sz="3200" smtClean="0"/>
              <a:t>)</a:t>
            </a:r>
            <a:endParaRPr lang="en-US" altLang="zh-CN" sz="3200" smtClean="0"/>
          </a:p>
        </p:txBody>
      </p:sp>
      <p:sp>
        <p:nvSpPr>
          <p:cNvPr id="22733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相关性分析技术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循环的处理</a:t>
            </a:r>
            <a:endParaRPr lang="zh-CN" altLang="en-US" sz="1200" b="0">
              <a:latin typeface="Times New Roman" panose="02020603050405020304" pitchFamily="18" charset="0"/>
              <a:ea typeface="幼圆" panose="02010509060101010101" pitchFamily="49" charset="-122"/>
            </a:endParaRPr>
          </a:p>
        </p:txBody>
      </p:sp>
      <p:pic>
        <p:nvPicPr>
          <p:cNvPr id="227332" name="Picture 5" descr="Ch4-fig07"/>
          <p:cNvPicPr>
            <a:picLocks noChangeAspect="1" noChangeArrowheads="1"/>
          </p:cNvPicPr>
          <p:nvPr/>
        </p:nvPicPr>
        <p:blipFill>
          <a:blip r:embed="rId4">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b="21065"/>
          <a:stretch>
            <a:fillRect/>
          </a:stretch>
        </p:blipFill>
        <p:spPr bwMode="auto">
          <a:xfrm>
            <a:off x="1403350" y="2060575"/>
            <a:ext cx="7239000" cy="429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33"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6</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7442" name="Rectangle 2"/>
          <p:cNvSpPr>
            <a:spLocks noGrp="1" noChangeArrowheads="1"/>
          </p:cNvSpPr>
          <p:nvPr>
            <p:ph type="title"/>
          </p:nvPr>
        </p:nvSpPr>
        <p:spPr/>
        <p:txBody>
          <a:bodyPr/>
          <a:lstStyle/>
          <a:p>
            <a:pPr eaLnBrk="1" hangingPunct="1">
              <a:defRPr/>
            </a:pPr>
            <a:r>
              <a:rPr lang="zh-CN" altLang="en-US" smtClean="0">
                <a:latin typeface="宋体" panose="02010600030101010101" pitchFamily="2" charset="-122"/>
              </a:rPr>
              <a:t>多指令发射技术</a:t>
            </a:r>
            <a:endParaRPr lang="zh-CN" altLang="en-US" smtClean="0"/>
          </a:p>
        </p:txBody>
      </p:sp>
      <p:sp>
        <p:nvSpPr>
          <p:cNvPr id="228355" name="Rectangle 3"/>
          <p:cNvSpPr>
            <a:spLocks noGrp="1" noChangeArrowheads="1"/>
          </p:cNvSpPr>
          <p:nvPr>
            <p:ph type="body" idx="1"/>
          </p:nvPr>
        </p:nvSpPr>
        <p:spPr>
          <a:xfrm>
            <a:off x="2483768" y="2276872"/>
            <a:ext cx="4495800" cy="3528392"/>
          </a:xfrm>
          <a:extLst>
            <a:ext uri="{91240B29-F687-4F45-9708-019B960494DF}">
              <a14:hiddenLine xmlns:a14="http://schemas.microsoft.com/office/drawing/2010/main" w="57150">
                <a:solidFill>
                  <a:schemeClr val="tx1"/>
                </a:solidFill>
                <a:miter lim="800000"/>
                <a:headEnd/>
                <a:tailEnd/>
              </a14:hiddenLine>
            </a:ext>
          </a:extLst>
        </p:spPr>
        <p:txBody>
          <a:bodyPr/>
          <a:lstStyle/>
          <a:p>
            <a:pPr eaLnBrk="1" hangingPunct="1">
              <a:lnSpc>
                <a:spcPct val="220000"/>
              </a:lnSpc>
            </a:pPr>
            <a:r>
              <a:rPr lang="zh-CN" altLang="en-US" dirty="0" smtClean="0">
                <a:hlinkClick r:id="rId1" action="ppaction://hlinksldjump"/>
              </a:rPr>
              <a:t>超标量处理机</a:t>
            </a:r>
            <a:endParaRPr lang="en-US" altLang="zh-CN" dirty="0" smtClean="0"/>
          </a:p>
          <a:p>
            <a:pPr eaLnBrk="1" hangingPunct="1">
              <a:lnSpc>
                <a:spcPct val="220000"/>
              </a:lnSpc>
            </a:pPr>
            <a:r>
              <a:rPr lang="zh-CN" altLang="en-US" dirty="0" smtClean="0">
                <a:hlinkClick r:id="rId2" action="ppaction://hlinksldjump"/>
              </a:rPr>
              <a:t>超长指令字处理机</a:t>
            </a:r>
            <a:endParaRPr lang="en-US" altLang="zh-CN" dirty="0" smtClean="0"/>
          </a:p>
          <a:p>
            <a:pPr eaLnBrk="1" hangingPunct="1">
              <a:lnSpc>
                <a:spcPct val="220000"/>
              </a:lnSpc>
            </a:pPr>
            <a:r>
              <a:rPr lang="zh-CN" altLang="en-US" dirty="0" smtClean="0">
                <a:hlinkClick r:id="rId3" action="ppaction://hlinksldjump"/>
              </a:rPr>
              <a:t>超流水线处理机</a:t>
            </a:r>
            <a:endParaRPr lang="zh-CN" altLang="en-US" dirty="0" smtClean="0"/>
          </a:p>
        </p:txBody>
      </p:sp>
      <p:sp>
        <p:nvSpPr>
          <p:cNvPr id="228356"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4" action="ppaction://hlinksldjump"/>
              </a:rPr>
              <a:t>本章内容</a:t>
            </a:r>
            <a:endParaRPr lang="zh-CN" altLang="en-US" sz="1200" b="0">
              <a:latin typeface="Times New Roman" panose="02020603050405020304" pitchFamily="18" charset="0"/>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sz="5400" smtClean="0"/>
              <a:t>超标量处理机</a:t>
            </a:r>
            <a:endParaRPr lang="zh-CN" altLang="en-US" sz="5400" smtClean="0"/>
          </a:p>
        </p:txBody>
      </p:sp>
      <p:sp>
        <p:nvSpPr>
          <p:cNvPr id="229379" name="Rectangle 3"/>
          <p:cNvSpPr>
            <a:spLocks noGrp="1" noChangeArrowheads="1"/>
          </p:cNvSpPr>
          <p:nvPr>
            <p:ph type="body" idx="1"/>
          </p:nvPr>
        </p:nvSpPr>
        <p:spPr>
          <a:xfrm>
            <a:off x="3200400" y="2144713"/>
            <a:ext cx="3124200" cy="4014787"/>
          </a:xfrm>
        </p:spPr>
        <p:txBody>
          <a:bodyPr/>
          <a:lstStyle/>
          <a:p>
            <a:pPr eaLnBrk="1" hangingPunct="1">
              <a:lnSpc>
                <a:spcPct val="170000"/>
              </a:lnSpc>
            </a:pPr>
            <a:r>
              <a:rPr lang="zh-CN" altLang="en-US" dirty="0" smtClean="0">
                <a:hlinkClick r:id="rId1" action="ppaction://hlinksldjump"/>
              </a:rPr>
              <a:t>工作原理</a:t>
            </a:r>
            <a:endParaRPr lang="zh-CN" altLang="en-US" dirty="0" smtClean="0"/>
          </a:p>
          <a:p>
            <a:pPr eaLnBrk="1" hangingPunct="1">
              <a:lnSpc>
                <a:spcPct val="170000"/>
              </a:lnSpc>
            </a:pPr>
            <a:r>
              <a:rPr lang="zh-CN" altLang="en-US" dirty="0" smtClean="0">
                <a:hlinkClick r:id="rId2" action="ppaction://hlinksldjump"/>
              </a:rPr>
              <a:t>调度方法</a:t>
            </a:r>
            <a:endParaRPr lang="zh-CN" altLang="en-US" dirty="0" smtClean="0"/>
          </a:p>
          <a:p>
            <a:pPr eaLnBrk="1" hangingPunct="1">
              <a:lnSpc>
                <a:spcPct val="170000"/>
              </a:lnSpc>
            </a:pPr>
            <a:r>
              <a:rPr lang="zh-CN" altLang="en-US" dirty="0" smtClean="0">
                <a:hlinkClick r:id="rId3" action="ppaction://hlinksldjump"/>
              </a:rPr>
              <a:t>资源冲突</a:t>
            </a:r>
            <a:endParaRPr lang="zh-CN" altLang="en-US" dirty="0" smtClean="0"/>
          </a:p>
          <a:p>
            <a:pPr eaLnBrk="1" hangingPunct="1">
              <a:lnSpc>
                <a:spcPct val="170000"/>
              </a:lnSpc>
            </a:pPr>
            <a:r>
              <a:rPr lang="zh-CN" altLang="en-US" dirty="0" smtClean="0">
                <a:hlinkClick r:id="rId4" action="ppaction://hlinksldjump"/>
              </a:rPr>
              <a:t>性能分析</a:t>
            </a:r>
            <a:endParaRPr lang="zh-CN" altLang="en-US" dirty="0" smtClean="0"/>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5"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多指令发射技术</a:t>
            </a:r>
            <a:endParaRPr lang="zh-CN" altLang="en-US" sz="1200" b="0">
              <a:latin typeface="Times New Roman" panose="02020603050405020304" pitchFamily="18" charset="0"/>
              <a:ea typeface="幼圆" panose="02010509060101010101" pitchFamily="49" charset="-122"/>
            </a:endParaRPr>
          </a:p>
        </p:txBody>
      </p:sp>
    </p:spTree>
  </p:cSld>
  <p:clrMapOvr>
    <a:masterClrMapping/>
  </p:clrMapOvr>
  <p:transition spd="slow">
    <p:random/>
    <p:sndAc>
      <p:stSnd>
        <p:snd r:embed="rId7" name="projctor.wav"/>
      </p:stSnd>
    </p:sndAc>
  </p:transition>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8850" name="Rectangle 2"/>
          <p:cNvSpPr>
            <a:spLocks noGrp="1" noChangeArrowheads="1"/>
          </p:cNvSpPr>
          <p:nvPr>
            <p:ph type="title"/>
          </p:nvPr>
        </p:nvSpPr>
        <p:spPr/>
        <p:txBody>
          <a:bodyPr/>
          <a:lstStyle/>
          <a:p>
            <a:pPr eaLnBrk="1" hangingPunct="1">
              <a:defRPr/>
            </a:pPr>
            <a:r>
              <a:rPr lang="zh-CN" altLang="en-US" smtClean="0"/>
              <a:t>工作原理</a:t>
            </a:r>
            <a:endParaRPr lang="zh-CN" altLang="en-US" sz="5400" smtClean="0"/>
          </a:p>
        </p:txBody>
      </p:sp>
      <p:sp>
        <p:nvSpPr>
          <p:cNvPr id="230403" name="Rectangle 30"/>
          <p:cNvSpPr>
            <a:spLocks noGrp="1" noChangeArrowheads="1"/>
          </p:cNvSpPr>
          <p:nvPr>
            <p:ph type="body" sz="half" idx="1"/>
          </p:nvPr>
        </p:nvSpPr>
        <p:spPr>
          <a:xfrm>
            <a:off x="1295400" y="3590925"/>
            <a:ext cx="2238375" cy="722313"/>
          </a:xfrm>
        </p:spPr>
        <p:txBody>
          <a:bodyPr/>
          <a:lstStyle/>
          <a:p>
            <a:pPr marL="0" indent="0" eaLnBrk="1" hangingPunct="1">
              <a:buFont typeface="Wingdings" panose="05000000000000000000" pitchFamily="2" charset="2"/>
              <a:buNone/>
            </a:pPr>
            <a:r>
              <a:rPr lang="zh-CN" altLang="en-US" sz="3200" smtClean="0">
                <a:hlinkClick r:id="rId1" action="ppaction://hlinksldjump"/>
              </a:rPr>
              <a:t>标量处理机</a:t>
            </a:r>
            <a:endParaRPr lang="zh-CN" altLang="en-US" sz="3200" smtClean="0"/>
          </a:p>
        </p:txBody>
      </p:sp>
      <p:sp>
        <p:nvSpPr>
          <p:cNvPr id="230404" name="Rectangle 31"/>
          <p:cNvSpPr>
            <a:spLocks noGrp="1" noChangeArrowheads="1"/>
          </p:cNvSpPr>
          <p:nvPr>
            <p:ph type="body" sz="half" idx="2"/>
          </p:nvPr>
        </p:nvSpPr>
        <p:spPr>
          <a:xfrm>
            <a:off x="5715000" y="3590925"/>
            <a:ext cx="2836863" cy="722313"/>
          </a:xfrm>
        </p:spPr>
        <p:txBody>
          <a:bodyPr/>
          <a:lstStyle/>
          <a:p>
            <a:pPr eaLnBrk="1" hangingPunct="1">
              <a:buFont typeface="Wingdings" panose="05000000000000000000" pitchFamily="2" charset="2"/>
              <a:buNone/>
            </a:pPr>
            <a:r>
              <a:rPr lang="zh-CN" altLang="en-US" sz="3200" dirty="0" smtClean="0">
                <a:hlinkClick r:id="rId2" action="ppaction://hlinksldjump"/>
              </a:rPr>
              <a:t>超标量处理机</a:t>
            </a:r>
            <a:endParaRPr lang="zh-CN" altLang="en-US" sz="3200" dirty="0" smtClean="0"/>
          </a:p>
        </p:txBody>
      </p:sp>
      <p:sp>
        <p:nvSpPr>
          <p:cNvPr id="23040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3"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超标量处理机</a:t>
            </a:r>
            <a:endParaRPr lang="zh-CN" altLang="en-US" sz="1200" b="0">
              <a:latin typeface="Times New Roman" panose="02020603050405020304" pitchFamily="18" charset="0"/>
              <a:ea typeface="幼圆" panose="02010509060101010101" pitchFamily="49" charset="-122"/>
            </a:endParaRPr>
          </a:p>
        </p:txBody>
      </p:sp>
      <p:sp>
        <p:nvSpPr>
          <p:cNvPr id="230406" name="AutoShape 32"/>
          <p:cNvSpPr>
            <a:spLocks noChangeArrowheads="1"/>
          </p:cNvSpPr>
          <p:nvPr/>
        </p:nvSpPr>
        <p:spPr bwMode="auto">
          <a:xfrm>
            <a:off x="4038600" y="3657600"/>
            <a:ext cx="1447800" cy="6858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9900"/>
          </a:solidFill>
          <a:ln w="28575">
            <a:solidFill>
              <a:schemeClr val="tx1"/>
            </a:solidFill>
            <a:miter lim="800000"/>
          </a:ln>
          <a:effectLst>
            <a:outerShdw dist="107763" dir="2700000" algn="ctr" rotWithShape="0">
              <a:schemeClr val="bg2"/>
            </a:outerShdw>
          </a:effectLst>
        </p:spPr>
        <p:txBody>
          <a:bodyPr wrap="none" anchor="ctr"/>
          <a:lstStyle/>
          <a:p>
            <a:endParaRPr lang="zh-CN" altLang="en-US"/>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3970" name="Rectangle 2"/>
          <p:cNvSpPr>
            <a:spLocks noGrp="1" noChangeArrowheads="1"/>
          </p:cNvSpPr>
          <p:nvPr>
            <p:ph type="title"/>
          </p:nvPr>
        </p:nvSpPr>
        <p:spPr/>
        <p:txBody>
          <a:bodyPr/>
          <a:lstStyle/>
          <a:p>
            <a:pPr eaLnBrk="1" hangingPunct="1">
              <a:defRPr/>
            </a:pPr>
            <a:r>
              <a:rPr lang="zh-CN" altLang="en-US" smtClean="0"/>
              <a:t>标量处理机</a:t>
            </a:r>
            <a:br>
              <a:rPr lang="zh-CN" altLang="en-US" sz="3200" smtClean="0"/>
            </a:br>
            <a:r>
              <a:rPr lang="zh-CN" altLang="en-US" sz="3200" smtClean="0"/>
              <a:t>                       — 连接图</a:t>
            </a:r>
            <a:endParaRPr lang="zh-CN" altLang="en-US" sz="3200" smtClean="0"/>
          </a:p>
        </p:txBody>
      </p:sp>
      <p:sp>
        <p:nvSpPr>
          <p:cNvPr id="231427"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工作原理</a:t>
            </a:r>
            <a:endParaRPr lang="zh-CN" altLang="en-US" sz="1200" b="0">
              <a:latin typeface="Times New Roman" panose="02020603050405020304" pitchFamily="18" charset="0"/>
              <a:ea typeface="幼圆" panose="02010509060101010101" pitchFamily="49" charset="-122"/>
            </a:endParaRPr>
          </a:p>
        </p:txBody>
      </p:sp>
      <p:sp>
        <p:nvSpPr>
          <p:cNvPr id="231428" name="Rectangle 10"/>
          <p:cNvSpPr>
            <a:spLocks noChangeArrowheads="1"/>
          </p:cNvSpPr>
          <p:nvPr/>
        </p:nvSpPr>
        <p:spPr bwMode="auto">
          <a:xfrm>
            <a:off x="1524000" y="4267200"/>
            <a:ext cx="531813" cy="4841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IF</a:t>
            </a:r>
            <a:endParaRPr lang="en-US" altLang="zh-CN" sz="2800">
              <a:solidFill>
                <a:schemeClr val="tx2"/>
              </a:solidFill>
              <a:latin typeface="楷体_GB2312" pitchFamily="49" charset="-122"/>
            </a:endParaRPr>
          </a:p>
        </p:txBody>
      </p:sp>
      <p:sp>
        <p:nvSpPr>
          <p:cNvPr id="231429" name="Rectangle 11"/>
          <p:cNvSpPr>
            <a:spLocks noChangeArrowheads="1"/>
          </p:cNvSpPr>
          <p:nvPr/>
        </p:nvSpPr>
        <p:spPr bwMode="auto">
          <a:xfrm>
            <a:off x="2633663" y="4238625"/>
            <a:ext cx="531812" cy="4841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ID</a:t>
            </a:r>
            <a:endParaRPr lang="en-US" altLang="zh-CN" sz="2800">
              <a:solidFill>
                <a:schemeClr val="tx2"/>
              </a:solidFill>
              <a:latin typeface="楷体_GB2312" pitchFamily="49" charset="-122"/>
            </a:endParaRPr>
          </a:p>
        </p:txBody>
      </p:sp>
      <p:sp>
        <p:nvSpPr>
          <p:cNvPr id="231430" name="Line 12"/>
          <p:cNvSpPr>
            <a:spLocks noChangeShapeType="1"/>
          </p:cNvSpPr>
          <p:nvPr/>
        </p:nvSpPr>
        <p:spPr bwMode="auto">
          <a:xfrm flipV="1">
            <a:off x="2057400" y="4481513"/>
            <a:ext cx="576263" cy="14287"/>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31" name="Line 13"/>
          <p:cNvSpPr>
            <a:spLocks noChangeShapeType="1"/>
          </p:cNvSpPr>
          <p:nvPr/>
        </p:nvSpPr>
        <p:spPr bwMode="auto">
          <a:xfrm>
            <a:off x="3497263" y="2908300"/>
            <a:ext cx="0" cy="139223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32" name="Rectangle 14"/>
          <p:cNvSpPr>
            <a:spLocks noChangeArrowheads="1"/>
          </p:cNvSpPr>
          <p:nvPr/>
        </p:nvSpPr>
        <p:spPr bwMode="auto">
          <a:xfrm>
            <a:off x="3895725" y="2667000"/>
            <a:ext cx="796925" cy="4841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FA1</a:t>
            </a:r>
            <a:endParaRPr lang="en-US" altLang="zh-CN" sz="2800">
              <a:solidFill>
                <a:schemeClr val="tx2"/>
              </a:solidFill>
              <a:latin typeface="楷体_GB2312" pitchFamily="49" charset="-122"/>
            </a:endParaRPr>
          </a:p>
        </p:txBody>
      </p:sp>
      <p:sp>
        <p:nvSpPr>
          <p:cNvPr id="231433" name="Rectangle 15"/>
          <p:cNvSpPr>
            <a:spLocks noChangeArrowheads="1"/>
          </p:cNvSpPr>
          <p:nvPr/>
        </p:nvSpPr>
        <p:spPr bwMode="auto">
          <a:xfrm>
            <a:off x="4692650" y="2667000"/>
            <a:ext cx="796925" cy="4841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FA2</a:t>
            </a:r>
            <a:endParaRPr lang="en-US" altLang="zh-CN" sz="2800">
              <a:solidFill>
                <a:schemeClr val="tx2"/>
              </a:solidFill>
              <a:latin typeface="楷体_GB2312" pitchFamily="49" charset="-122"/>
            </a:endParaRPr>
          </a:p>
        </p:txBody>
      </p:sp>
      <p:sp>
        <p:nvSpPr>
          <p:cNvPr id="231434" name="Rectangle 16"/>
          <p:cNvSpPr>
            <a:spLocks noChangeArrowheads="1"/>
          </p:cNvSpPr>
          <p:nvPr/>
        </p:nvSpPr>
        <p:spPr bwMode="auto">
          <a:xfrm>
            <a:off x="5489575" y="2667000"/>
            <a:ext cx="796925" cy="4841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FA3</a:t>
            </a:r>
            <a:endParaRPr lang="en-US" altLang="zh-CN" sz="2800">
              <a:solidFill>
                <a:schemeClr val="tx2"/>
              </a:solidFill>
              <a:latin typeface="楷体_GB2312" pitchFamily="49" charset="-122"/>
            </a:endParaRPr>
          </a:p>
        </p:txBody>
      </p:sp>
      <p:sp>
        <p:nvSpPr>
          <p:cNvPr id="231435" name="Rectangle 17"/>
          <p:cNvSpPr>
            <a:spLocks noChangeArrowheads="1"/>
          </p:cNvSpPr>
          <p:nvPr/>
        </p:nvSpPr>
        <p:spPr bwMode="auto">
          <a:xfrm>
            <a:off x="3895725" y="3695700"/>
            <a:ext cx="796925" cy="4826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MD1</a:t>
            </a:r>
            <a:endParaRPr lang="en-US" altLang="zh-CN" sz="2800">
              <a:solidFill>
                <a:schemeClr val="tx2"/>
              </a:solidFill>
              <a:latin typeface="楷体_GB2312" pitchFamily="49" charset="-122"/>
            </a:endParaRPr>
          </a:p>
        </p:txBody>
      </p:sp>
      <p:sp>
        <p:nvSpPr>
          <p:cNvPr id="231436" name="Rectangle 18"/>
          <p:cNvSpPr>
            <a:spLocks noChangeArrowheads="1"/>
          </p:cNvSpPr>
          <p:nvPr/>
        </p:nvSpPr>
        <p:spPr bwMode="auto">
          <a:xfrm>
            <a:off x="4692650" y="3695700"/>
            <a:ext cx="796925" cy="4826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MD2</a:t>
            </a:r>
            <a:endParaRPr lang="en-US" altLang="zh-CN" sz="2800">
              <a:solidFill>
                <a:schemeClr val="tx2"/>
              </a:solidFill>
              <a:latin typeface="楷体_GB2312" pitchFamily="49" charset="-122"/>
            </a:endParaRPr>
          </a:p>
        </p:txBody>
      </p:sp>
      <p:sp>
        <p:nvSpPr>
          <p:cNvPr id="231437" name="Rectangle 19"/>
          <p:cNvSpPr>
            <a:spLocks noChangeArrowheads="1"/>
          </p:cNvSpPr>
          <p:nvPr/>
        </p:nvSpPr>
        <p:spPr bwMode="auto">
          <a:xfrm>
            <a:off x="5489575" y="3695700"/>
            <a:ext cx="796925" cy="4826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MD3</a:t>
            </a:r>
            <a:endParaRPr lang="en-US" altLang="zh-CN" sz="2800">
              <a:solidFill>
                <a:schemeClr val="tx2"/>
              </a:solidFill>
              <a:latin typeface="楷体_GB2312" pitchFamily="49" charset="-122"/>
            </a:endParaRPr>
          </a:p>
        </p:txBody>
      </p:sp>
      <p:sp>
        <p:nvSpPr>
          <p:cNvPr id="231438" name="Rectangle 20"/>
          <p:cNvSpPr>
            <a:spLocks noChangeArrowheads="1"/>
          </p:cNvSpPr>
          <p:nvPr/>
        </p:nvSpPr>
        <p:spPr bwMode="auto">
          <a:xfrm>
            <a:off x="4759325" y="4662488"/>
            <a:ext cx="796925" cy="48418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AL</a:t>
            </a:r>
            <a:endParaRPr lang="en-US" altLang="zh-CN" sz="2800">
              <a:solidFill>
                <a:schemeClr val="tx2"/>
              </a:solidFill>
              <a:latin typeface="楷体_GB2312" pitchFamily="49" charset="-122"/>
            </a:endParaRPr>
          </a:p>
        </p:txBody>
      </p:sp>
      <p:sp>
        <p:nvSpPr>
          <p:cNvPr id="231439" name="Rectangle 21"/>
          <p:cNvSpPr>
            <a:spLocks noChangeArrowheads="1"/>
          </p:cNvSpPr>
          <p:nvPr/>
        </p:nvSpPr>
        <p:spPr bwMode="auto">
          <a:xfrm>
            <a:off x="4759325" y="5570538"/>
            <a:ext cx="796925" cy="4826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LS</a:t>
            </a:r>
            <a:endParaRPr lang="en-US" altLang="zh-CN" sz="2800">
              <a:solidFill>
                <a:schemeClr val="tx2"/>
              </a:solidFill>
              <a:latin typeface="楷体_GB2312" pitchFamily="49" charset="-122"/>
            </a:endParaRPr>
          </a:p>
        </p:txBody>
      </p:sp>
      <p:sp>
        <p:nvSpPr>
          <p:cNvPr id="231440" name="Rectangle 22"/>
          <p:cNvSpPr>
            <a:spLocks noChangeArrowheads="1"/>
          </p:cNvSpPr>
          <p:nvPr/>
        </p:nvSpPr>
        <p:spPr bwMode="auto">
          <a:xfrm>
            <a:off x="3895725" y="3151188"/>
            <a:ext cx="2390775" cy="422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浮点加法部件</a:t>
            </a:r>
            <a:endParaRPr lang="zh-CN" altLang="zh-CN" sz="2400">
              <a:solidFill>
                <a:schemeClr val="tx2"/>
              </a:solidFill>
              <a:latin typeface="楷体_GB2312" pitchFamily="49" charset="-122"/>
            </a:endParaRPr>
          </a:p>
        </p:txBody>
      </p:sp>
      <p:sp>
        <p:nvSpPr>
          <p:cNvPr id="231441" name="Rectangle 23"/>
          <p:cNvSpPr>
            <a:spLocks noChangeArrowheads="1"/>
          </p:cNvSpPr>
          <p:nvPr/>
        </p:nvSpPr>
        <p:spPr bwMode="auto">
          <a:xfrm>
            <a:off x="3895725" y="4178300"/>
            <a:ext cx="2390775" cy="423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乘除法部件</a:t>
            </a:r>
            <a:endParaRPr lang="zh-CN" altLang="zh-CN" sz="2400">
              <a:solidFill>
                <a:schemeClr val="tx2"/>
              </a:solidFill>
              <a:latin typeface="楷体_GB2312" pitchFamily="49" charset="-122"/>
            </a:endParaRPr>
          </a:p>
        </p:txBody>
      </p:sp>
      <p:sp>
        <p:nvSpPr>
          <p:cNvPr id="231442" name="Rectangle 24"/>
          <p:cNvSpPr>
            <a:spLocks noChangeArrowheads="1"/>
          </p:cNvSpPr>
          <p:nvPr/>
        </p:nvSpPr>
        <p:spPr bwMode="auto">
          <a:xfrm>
            <a:off x="3895725" y="5146675"/>
            <a:ext cx="2390775" cy="423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定点ALU部件</a:t>
            </a:r>
            <a:endParaRPr lang="zh-CN" altLang="zh-CN" sz="2400">
              <a:solidFill>
                <a:schemeClr val="tx2"/>
              </a:solidFill>
              <a:latin typeface="楷体_GB2312" pitchFamily="49" charset="-122"/>
            </a:endParaRPr>
          </a:p>
        </p:txBody>
      </p:sp>
      <p:sp>
        <p:nvSpPr>
          <p:cNvPr id="231443" name="Rectangle 25"/>
          <p:cNvSpPr>
            <a:spLocks noChangeArrowheads="1"/>
          </p:cNvSpPr>
          <p:nvPr/>
        </p:nvSpPr>
        <p:spPr bwMode="auto">
          <a:xfrm>
            <a:off x="3962400" y="6053138"/>
            <a:ext cx="2390775" cy="423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取数存数部件</a:t>
            </a:r>
            <a:endParaRPr lang="zh-CN" altLang="zh-CN" sz="2400">
              <a:solidFill>
                <a:schemeClr val="tx2"/>
              </a:solidFill>
              <a:latin typeface="楷体_GB2312" pitchFamily="49" charset="-122"/>
            </a:endParaRPr>
          </a:p>
        </p:txBody>
      </p:sp>
      <p:sp>
        <p:nvSpPr>
          <p:cNvPr id="231444" name="Line 26"/>
          <p:cNvSpPr>
            <a:spLocks noChangeShapeType="1"/>
          </p:cNvSpPr>
          <p:nvPr/>
        </p:nvSpPr>
        <p:spPr bwMode="auto">
          <a:xfrm>
            <a:off x="1219200" y="4495800"/>
            <a:ext cx="265113"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45" name="Line 27"/>
          <p:cNvSpPr>
            <a:spLocks noChangeShapeType="1"/>
          </p:cNvSpPr>
          <p:nvPr/>
        </p:nvSpPr>
        <p:spPr bwMode="auto">
          <a:xfrm>
            <a:off x="3497263" y="2908300"/>
            <a:ext cx="39846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46" name="Line 28"/>
          <p:cNvSpPr>
            <a:spLocks noChangeShapeType="1"/>
          </p:cNvSpPr>
          <p:nvPr/>
        </p:nvSpPr>
        <p:spPr bwMode="auto">
          <a:xfrm>
            <a:off x="3629025" y="3937000"/>
            <a:ext cx="2667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47" name="Line 29"/>
          <p:cNvSpPr>
            <a:spLocks noChangeShapeType="1"/>
          </p:cNvSpPr>
          <p:nvPr/>
        </p:nvSpPr>
        <p:spPr bwMode="auto">
          <a:xfrm>
            <a:off x="3629025" y="3937000"/>
            <a:ext cx="0" cy="48418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48" name="Line 30"/>
          <p:cNvSpPr>
            <a:spLocks noChangeShapeType="1"/>
          </p:cNvSpPr>
          <p:nvPr/>
        </p:nvSpPr>
        <p:spPr bwMode="auto">
          <a:xfrm>
            <a:off x="3165475" y="4300538"/>
            <a:ext cx="331788"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49" name="Line 31"/>
          <p:cNvSpPr>
            <a:spLocks noChangeShapeType="1"/>
          </p:cNvSpPr>
          <p:nvPr/>
        </p:nvSpPr>
        <p:spPr bwMode="auto">
          <a:xfrm>
            <a:off x="3165475" y="4421188"/>
            <a:ext cx="463550"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0" name="Line 32"/>
          <p:cNvSpPr>
            <a:spLocks noChangeShapeType="1"/>
          </p:cNvSpPr>
          <p:nvPr/>
        </p:nvSpPr>
        <p:spPr bwMode="auto">
          <a:xfrm>
            <a:off x="3165475" y="4662488"/>
            <a:ext cx="331788"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1" name="Line 33"/>
          <p:cNvSpPr>
            <a:spLocks noChangeShapeType="1"/>
          </p:cNvSpPr>
          <p:nvPr/>
        </p:nvSpPr>
        <p:spPr bwMode="auto">
          <a:xfrm>
            <a:off x="3165475" y="4541838"/>
            <a:ext cx="463550"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2" name="Line 34"/>
          <p:cNvSpPr>
            <a:spLocks noChangeShapeType="1"/>
          </p:cNvSpPr>
          <p:nvPr/>
        </p:nvSpPr>
        <p:spPr bwMode="auto">
          <a:xfrm>
            <a:off x="3629025" y="4541838"/>
            <a:ext cx="0" cy="363537"/>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3" name="Line 35"/>
          <p:cNvSpPr>
            <a:spLocks noChangeShapeType="1"/>
          </p:cNvSpPr>
          <p:nvPr/>
        </p:nvSpPr>
        <p:spPr bwMode="auto">
          <a:xfrm>
            <a:off x="3629025" y="4905375"/>
            <a:ext cx="11303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4" name="Line 36"/>
          <p:cNvSpPr>
            <a:spLocks noChangeShapeType="1"/>
          </p:cNvSpPr>
          <p:nvPr/>
        </p:nvSpPr>
        <p:spPr bwMode="auto">
          <a:xfrm>
            <a:off x="3497263" y="4662488"/>
            <a:ext cx="0" cy="114935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5" name="Line 37"/>
          <p:cNvSpPr>
            <a:spLocks noChangeShapeType="1"/>
          </p:cNvSpPr>
          <p:nvPr/>
        </p:nvSpPr>
        <p:spPr bwMode="auto">
          <a:xfrm>
            <a:off x="3497263" y="5811838"/>
            <a:ext cx="126206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6" name="Rectangle 38"/>
          <p:cNvSpPr>
            <a:spLocks noChangeArrowheads="1"/>
          </p:cNvSpPr>
          <p:nvPr/>
        </p:nvSpPr>
        <p:spPr bwMode="auto">
          <a:xfrm>
            <a:off x="7016750" y="4238625"/>
            <a:ext cx="663575" cy="4841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WR</a:t>
            </a:r>
            <a:endParaRPr lang="en-US" altLang="zh-CN" sz="2800">
              <a:solidFill>
                <a:schemeClr val="tx2"/>
              </a:solidFill>
              <a:latin typeface="楷体_GB2312" pitchFamily="49" charset="-122"/>
            </a:endParaRPr>
          </a:p>
        </p:txBody>
      </p:sp>
      <p:sp>
        <p:nvSpPr>
          <p:cNvPr id="231457" name="Line 39"/>
          <p:cNvSpPr>
            <a:spLocks noChangeShapeType="1"/>
          </p:cNvSpPr>
          <p:nvPr/>
        </p:nvSpPr>
        <p:spPr bwMode="auto">
          <a:xfrm flipH="1">
            <a:off x="6684963" y="4300538"/>
            <a:ext cx="331787"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8" name="Line 40"/>
          <p:cNvSpPr>
            <a:spLocks noChangeShapeType="1"/>
          </p:cNvSpPr>
          <p:nvPr/>
        </p:nvSpPr>
        <p:spPr bwMode="auto">
          <a:xfrm flipH="1">
            <a:off x="6551613" y="4421188"/>
            <a:ext cx="465137"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9" name="Line 41"/>
          <p:cNvSpPr>
            <a:spLocks noChangeShapeType="1"/>
          </p:cNvSpPr>
          <p:nvPr/>
        </p:nvSpPr>
        <p:spPr bwMode="auto">
          <a:xfrm flipH="1">
            <a:off x="6684963" y="4662488"/>
            <a:ext cx="331787"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0" name="Line 42"/>
          <p:cNvSpPr>
            <a:spLocks noChangeShapeType="1"/>
          </p:cNvSpPr>
          <p:nvPr/>
        </p:nvSpPr>
        <p:spPr bwMode="auto">
          <a:xfrm flipH="1">
            <a:off x="6551613" y="4541838"/>
            <a:ext cx="465137"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1" name="Line 43"/>
          <p:cNvSpPr>
            <a:spLocks noChangeShapeType="1"/>
          </p:cNvSpPr>
          <p:nvPr/>
        </p:nvSpPr>
        <p:spPr bwMode="auto">
          <a:xfrm>
            <a:off x="6684963" y="2908300"/>
            <a:ext cx="0" cy="139223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2" name="Line 44"/>
          <p:cNvSpPr>
            <a:spLocks noChangeShapeType="1"/>
          </p:cNvSpPr>
          <p:nvPr/>
        </p:nvSpPr>
        <p:spPr bwMode="auto">
          <a:xfrm>
            <a:off x="6286500" y="2908300"/>
            <a:ext cx="398463"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3" name="Line 45"/>
          <p:cNvSpPr>
            <a:spLocks noChangeShapeType="1"/>
          </p:cNvSpPr>
          <p:nvPr/>
        </p:nvSpPr>
        <p:spPr bwMode="auto">
          <a:xfrm>
            <a:off x="6286500" y="3937000"/>
            <a:ext cx="265113"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4" name="Line 46"/>
          <p:cNvSpPr>
            <a:spLocks noChangeShapeType="1"/>
          </p:cNvSpPr>
          <p:nvPr/>
        </p:nvSpPr>
        <p:spPr bwMode="auto">
          <a:xfrm>
            <a:off x="6551613" y="3937000"/>
            <a:ext cx="0" cy="48418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5" name="Line 47"/>
          <p:cNvSpPr>
            <a:spLocks noChangeShapeType="1"/>
          </p:cNvSpPr>
          <p:nvPr/>
        </p:nvSpPr>
        <p:spPr bwMode="auto">
          <a:xfrm>
            <a:off x="6551613" y="4541838"/>
            <a:ext cx="0" cy="363537"/>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6" name="Line 48"/>
          <p:cNvSpPr>
            <a:spLocks noChangeShapeType="1"/>
          </p:cNvSpPr>
          <p:nvPr/>
        </p:nvSpPr>
        <p:spPr bwMode="auto">
          <a:xfrm>
            <a:off x="5556250" y="4905375"/>
            <a:ext cx="995363"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7" name="Line 49"/>
          <p:cNvSpPr>
            <a:spLocks noChangeShapeType="1"/>
          </p:cNvSpPr>
          <p:nvPr/>
        </p:nvSpPr>
        <p:spPr bwMode="auto">
          <a:xfrm>
            <a:off x="6684963" y="4662488"/>
            <a:ext cx="0" cy="114935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8" name="Line 50"/>
          <p:cNvSpPr>
            <a:spLocks noChangeShapeType="1"/>
          </p:cNvSpPr>
          <p:nvPr/>
        </p:nvSpPr>
        <p:spPr bwMode="auto">
          <a:xfrm>
            <a:off x="5556250" y="5811838"/>
            <a:ext cx="1128713"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9" name="Line 51"/>
          <p:cNvSpPr>
            <a:spLocks noChangeShapeType="1"/>
          </p:cNvSpPr>
          <p:nvPr/>
        </p:nvSpPr>
        <p:spPr bwMode="auto">
          <a:xfrm>
            <a:off x="1219200" y="4038600"/>
            <a:ext cx="0" cy="48418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70" name="Rectangle 52"/>
          <p:cNvSpPr>
            <a:spLocks noChangeArrowheads="1"/>
          </p:cNvSpPr>
          <p:nvPr/>
        </p:nvSpPr>
        <p:spPr bwMode="auto">
          <a:xfrm>
            <a:off x="838200" y="3505200"/>
            <a:ext cx="19812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来自指令Cache</a:t>
            </a:r>
            <a:endParaRPr lang="zh-CN" altLang="zh-CN" sz="2400">
              <a:solidFill>
                <a:schemeClr val="tx2"/>
              </a:solidFill>
              <a:latin typeface="楷体_GB2312" pitchFamily="49" charset="-122"/>
            </a:endParaRPr>
          </a:p>
        </p:txBody>
      </p:sp>
      <p:sp>
        <p:nvSpPr>
          <p:cNvPr id="231471" name="Line 53"/>
          <p:cNvSpPr>
            <a:spLocks noChangeShapeType="1"/>
          </p:cNvSpPr>
          <p:nvPr/>
        </p:nvSpPr>
        <p:spPr bwMode="auto">
          <a:xfrm>
            <a:off x="8012113" y="4481513"/>
            <a:ext cx="0" cy="484187"/>
          </a:xfrm>
          <a:prstGeom prst="line">
            <a:avLst/>
          </a:prstGeom>
          <a:noFill/>
          <a:ln w="28575">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72" name="Line 54"/>
          <p:cNvSpPr>
            <a:spLocks noChangeShapeType="1"/>
          </p:cNvSpPr>
          <p:nvPr/>
        </p:nvSpPr>
        <p:spPr bwMode="auto">
          <a:xfrm>
            <a:off x="7680325" y="4481513"/>
            <a:ext cx="331788"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73" name="Rectangle 55"/>
          <p:cNvSpPr>
            <a:spLocks noChangeArrowheads="1"/>
          </p:cNvSpPr>
          <p:nvPr/>
        </p:nvSpPr>
        <p:spPr bwMode="auto">
          <a:xfrm>
            <a:off x="7010400" y="4953000"/>
            <a:ext cx="1793875" cy="725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通用寄存器</a:t>
            </a:r>
            <a:endParaRPr lang="zh-CN" altLang="zh-CN" sz="2400">
              <a:solidFill>
                <a:schemeClr val="tx2"/>
              </a:solidFill>
              <a:latin typeface="楷体_GB2312" pitchFamily="49" charset="-122"/>
              <a:sym typeface="Symbol" panose="05050102010706020507" pitchFamily="18" charset="2"/>
            </a:endParaRPr>
          </a:p>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后行写数栈</a:t>
            </a:r>
            <a:endParaRPr lang="zh-CN" altLang="zh-CN" sz="2400">
              <a:solidFill>
                <a:schemeClr val="tx2"/>
              </a:solidFill>
              <a:latin typeface="楷体_GB2312" pitchFamily="49" charset="-122"/>
            </a:endParaRPr>
          </a:p>
        </p:txBody>
      </p:sp>
      <p:sp>
        <p:nvSpPr>
          <p:cNvPr id="231474" name="Rectangle 56"/>
          <p:cNvSpPr>
            <a:spLocks noChangeArrowheads="1"/>
          </p:cNvSpPr>
          <p:nvPr/>
        </p:nvSpPr>
        <p:spPr bwMode="auto">
          <a:xfrm>
            <a:off x="914400" y="2057400"/>
            <a:ext cx="9906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anose="05050102010706020507" pitchFamily="18" charset="2"/>
              </a:rPr>
              <a:t>取指令</a:t>
            </a:r>
            <a:endParaRPr lang="zh-CN" altLang="zh-CN" sz="2800">
              <a:solidFill>
                <a:srgbClr val="0000FF"/>
              </a:solidFill>
              <a:latin typeface="楷体_GB2312" pitchFamily="49" charset="-122"/>
            </a:endParaRPr>
          </a:p>
        </p:txBody>
      </p:sp>
      <p:sp>
        <p:nvSpPr>
          <p:cNvPr id="231475" name="Rectangle 57"/>
          <p:cNvSpPr>
            <a:spLocks noChangeArrowheads="1"/>
          </p:cNvSpPr>
          <p:nvPr/>
        </p:nvSpPr>
        <p:spPr bwMode="auto">
          <a:xfrm>
            <a:off x="2362200" y="2057400"/>
            <a:ext cx="9906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anose="05050102010706020507" pitchFamily="18" charset="2"/>
              </a:rPr>
              <a:t>指令译码</a:t>
            </a:r>
            <a:endParaRPr lang="zh-CN" altLang="zh-CN" sz="2800">
              <a:solidFill>
                <a:srgbClr val="0000FF"/>
              </a:solidFill>
              <a:latin typeface="楷体_GB2312" pitchFamily="49" charset="-122"/>
            </a:endParaRPr>
          </a:p>
        </p:txBody>
      </p:sp>
      <p:sp>
        <p:nvSpPr>
          <p:cNvPr id="231476" name="Rectangle 58"/>
          <p:cNvSpPr>
            <a:spLocks noChangeArrowheads="1"/>
          </p:cNvSpPr>
          <p:nvPr/>
        </p:nvSpPr>
        <p:spPr bwMode="auto">
          <a:xfrm>
            <a:off x="4724400" y="2057400"/>
            <a:ext cx="9906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anose="05050102010706020507" pitchFamily="18" charset="2"/>
              </a:rPr>
              <a:t>指令执行</a:t>
            </a:r>
            <a:endParaRPr lang="zh-CN" altLang="zh-CN" sz="2800">
              <a:solidFill>
                <a:srgbClr val="0000FF"/>
              </a:solidFill>
              <a:latin typeface="楷体_GB2312" pitchFamily="49" charset="-122"/>
            </a:endParaRPr>
          </a:p>
        </p:txBody>
      </p:sp>
      <p:sp>
        <p:nvSpPr>
          <p:cNvPr id="231477" name="Rectangle 59"/>
          <p:cNvSpPr>
            <a:spLocks noChangeArrowheads="1"/>
          </p:cNvSpPr>
          <p:nvPr/>
        </p:nvSpPr>
        <p:spPr bwMode="auto">
          <a:xfrm>
            <a:off x="6629400" y="2133600"/>
            <a:ext cx="1219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anose="05050102010706020507" pitchFamily="18" charset="2"/>
              </a:rPr>
              <a:t>写回结果</a:t>
            </a:r>
            <a:endParaRPr lang="zh-CN" altLang="zh-CN" sz="2800">
              <a:solidFill>
                <a:srgbClr val="0000FF"/>
              </a:solidFill>
              <a:latin typeface="楷体_GB2312" pitchFamily="49" charset="-122"/>
            </a:endParaRPr>
          </a:p>
        </p:txBody>
      </p:sp>
      <p:sp>
        <p:nvSpPr>
          <p:cNvPr id="231478" name="Text Box 6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6018" name="Rectangle 2"/>
          <p:cNvSpPr>
            <a:spLocks noGrp="1" noChangeArrowheads="1"/>
          </p:cNvSpPr>
          <p:nvPr>
            <p:ph type="title"/>
          </p:nvPr>
        </p:nvSpPr>
        <p:spPr/>
        <p:txBody>
          <a:bodyPr/>
          <a:lstStyle/>
          <a:p>
            <a:pPr eaLnBrk="1" hangingPunct="1">
              <a:defRPr/>
            </a:pPr>
            <a:r>
              <a:rPr lang="zh-CN" altLang="en-US" smtClean="0"/>
              <a:t>标量处理机</a:t>
            </a:r>
            <a:br>
              <a:rPr lang="zh-CN" altLang="en-US" sz="3200" smtClean="0"/>
            </a:br>
            <a:r>
              <a:rPr lang="zh-CN" altLang="en-US" sz="3200" smtClean="0"/>
              <a:t>                       — 时空图</a:t>
            </a:r>
            <a:endParaRPr lang="zh-CN" altLang="en-US" sz="3200" smtClean="0"/>
          </a:p>
        </p:txBody>
      </p:sp>
      <p:sp>
        <p:nvSpPr>
          <p:cNvPr id="2324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工作原理</a:t>
            </a:r>
            <a:endParaRPr lang="zh-CN" altLang="en-US" sz="1200" b="0">
              <a:latin typeface="Times New Roman" panose="02020603050405020304" pitchFamily="18" charset="0"/>
              <a:ea typeface="幼圆" panose="02010509060101010101" pitchFamily="49" charset="-122"/>
            </a:endParaRPr>
          </a:p>
        </p:txBody>
      </p:sp>
      <p:sp>
        <p:nvSpPr>
          <p:cNvPr id="232452" name="Text Box 5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2</a:t>
            </a:r>
            <a:endParaRPr lang="zh-CN" altLang="en-US" sz="1200" b="0">
              <a:latin typeface="幼圆" panose="02010509060101010101" pitchFamily="49" charset="-122"/>
              <a:ea typeface="幼圆" panose="02010509060101010101" pitchFamily="49" charset="-122"/>
            </a:endParaRPr>
          </a:p>
        </p:txBody>
      </p:sp>
      <p:sp>
        <p:nvSpPr>
          <p:cNvPr id="232453" name="Rectangle 55"/>
          <p:cNvSpPr>
            <a:spLocks noChangeArrowheads="1"/>
          </p:cNvSpPr>
          <p:nvPr/>
        </p:nvSpPr>
        <p:spPr bwMode="auto">
          <a:xfrm>
            <a:off x="1676400" y="3124200"/>
            <a:ext cx="990600"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IF</a:t>
            </a:r>
            <a:endParaRPr lang="zh-CN" altLang="zh-CN" sz="2400">
              <a:solidFill>
                <a:schemeClr val="tx2"/>
              </a:solidFill>
              <a:latin typeface="Comic Sans MS" panose="030F0702030302020204" pitchFamily="66" charset="0"/>
            </a:endParaRPr>
          </a:p>
        </p:txBody>
      </p:sp>
      <p:sp>
        <p:nvSpPr>
          <p:cNvPr id="232454" name="Line 56"/>
          <p:cNvSpPr>
            <a:spLocks noChangeShapeType="1"/>
          </p:cNvSpPr>
          <p:nvPr/>
        </p:nvSpPr>
        <p:spPr bwMode="auto">
          <a:xfrm flipV="1">
            <a:off x="1676400" y="3124200"/>
            <a:ext cx="0" cy="266700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2455" name="Rectangle 57"/>
          <p:cNvSpPr>
            <a:spLocks noChangeArrowheads="1"/>
          </p:cNvSpPr>
          <p:nvPr/>
        </p:nvSpPr>
        <p:spPr bwMode="auto">
          <a:xfrm>
            <a:off x="7772400" y="2743200"/>
            <a:ext cx="9906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时钟</a:t>
            </a:r>
            <a:br>
              <a:rPr lang="zh-CN" altLang="zh-CN" sz="2800">
                <a:solidFill>
                  <a:schemeClr val="tx2"/>
                </a:solidFill>
                <a:latin typeface="Book Antiqua" panose="02040602050305030304" pitchFamily="18" charset="0"/>
                <a:sym typeface="Symbol" panose="05050102010706020507" pitchFamily="18" charset="2"/>
              </a:rPr>
            </a:br>
            <a:r>
              <a:rPr lang="zh-CN" altLang="zh-CN" sz="2800">
                <a:solidFill>
                  <a:schemeClr val="tx2"/>
                </a:solidFill>
                <a:latin typeface="Book Antiqua" panose="02040602050305030304" pitchFamily="18" charset="0"/>
                <a:sym typeface="Symbol" panose="05050102010706020507" pitchFamily="18" charset="2"/>
              </a:rPr>
              <a:t>周期</a:t>
            </a:r>
            <a:endParaRPr lang="zh-CN" altLang="zh-CN" sz="2800">
              <a:solidFill>
                <a:schemeClr val="tx2"/>
              </a:solidFill>
              <a:latin typeface="Book Antiqua" panose="02040602050305030304" pitchFamily="18" charset="0"/>
            </a:endParaRPr>
          </a:p>
        </p:txBody>
      </p:sp>
      <p:sp>
        <p:nvSpPr>
          <p:cNvPr id="232456" name="Rectangle 58"/>
          <p:cNvSpPr>
            <a:spLocks noChangeArrowheads="1"/>
          </p:cNvSpPr>
          <p:nvPr/>
        </p:nvSpPr>
        <p:spPr bwMode="auto">
          <a:xfrm>
            <a:off x="1828800" y="5257800"/>
            <a:ext cx="990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指令</a:t>
            </a:r>
            <a:endParaRPr lang="zh-CN" altLang="zh-CN" sz="2800">
              <a:solidFill>
                <a:schemeClr val="tx2"/>
              </a:solidFill>
              <a:latin typeface="Book Antiqua" panose="02040602050305030304" pitchFamily="18" charset="0"/>
            </a:endParaRPr>
          </a:p>
        </p:txBody>
      </p:sp>
      <p:sp>
        <p:nvSpPr>
          <p:cNvPr id="232457" name="Rectangle 59"/>
          <p:cNvSpPr>
            <a:spLocks noChangeArrowheads="1"/>
          </p:cNvSpPr>
          <p:nvPr/>
        </p:nvSpPr>
        <p:spPr bwMode="auto">
          <a:xfrm>
            <a:off x="1066800" y="31242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I</a:t>
            </a:r>
            <a:r>
              <a:rPr lang="zh-CN" altLang="zh-CN" sz="2800" baseline="-25000">
                <a:solidFill>
                  <a:schemeClr val="tx2"/>
                </a:solidFill>
                <a:latin typeface="Book Antiqua" panose="02040602050305030304" pitchFamily="18" charset="0"/>
                <a:sym typeface="Symbol" panose="05050102010706020507" pitchFamily="18" charset="2"/>
              </a:rPr>
              <a:t>1</a:t>
            </a:r>
            <a:endParaRPr lang="en-US" altLang="zh-CN" sz="2800">
              <a:solidFill>
                <a:schemeClr val="tx2"/>
              </a:solidFill>
              <a:latin typeface="Book Antiqua" panose="02040602050305030304" pitchFamily="18" charset="0"/>
            </a:endParaRPr>
          </a:p>
        </p:txBody>
      </p:sp>
      <p:sp>
        <p:nvSpPr>
          <p:cNvPr id="232458" name="Line 60"/>
          <p:cNvSpPr>
            <a:spLocks noChangeShapeType="1"/>
          </p:cNvSpPr>
          <p:nvPr/>
        </p:nvSpPr>
        <p:spPr bwMode="auto">
          <a:xfrm>
            <a:off x="1676400" y="3124200"/>
            <a:ext cx="6142038" cy="1588"/>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2459" name="Rectangle 61"/>
          <p:cNvSpPr>
            <a:spLocks noChangeArrowheads="1"/>
          </p:cNvSpPr>
          <p:nvPr/>
        </p:nvSpPr>
        <p:spPr bwMode="auto">
          <a:xfrm>
            <a:off x="1066800" y="36576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I</a:t>
            </a:r>
            <a:r>
              <a:rPr lang="zh-CN" altLang="zh-CN" sz="2800" baseline="-25000">
                <a:solidFill>
                  <a:schemeClr val="tx2"/>
                </a:solidFill>
                <a:latin typeface="Book Antiqua" panose="02040602050305030304" pitchFamily="18" charset="0"/>
                <a:sym typeface="Symbol" panose="05050102010706020507" pitchFamily="18" charset="2"/>
              </a:rPr>
              <a:t>2</a:t>
            </a:r>
            <a:endParaRPr lang="en-US" altLang="zh-CN" sz="2800">
              <a:solidFill>
                <a:schemeClr val="tx2"/>
              </a:solidFill>
              <a:latin typeface="Book Antiqua" panose="02040602050305030304" pitchFamily="18" charset="0"/>
            </a:endParaRPr>
          </a:p>
        </p:txBody>
      </p:sp>
      <p:sp>
        <p:nvSpPr>
          <p:cNvPr id="232460" name="Rectangle 62"/>
          <p:cNvSpPr>
            <a:spLocks noChangeArrowheads="1"/>
          </p:cNvSpPr>
          <p:nvPr/>
        </p:nvSpPr>
        <p:spPr bwMode="auto">
          <a:xfrm>
            <a:off x="1066800" y="42672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I</a:t>
            </a:r>
            <a:r>
              <a:rPr lang="zh-CN" altLang="zh-CN" sz="2800" baseline="-25000">
                <a:solidFill>
                  <a:schemeClr val="tx2"/>
                </a:solidFill>
                <a:latin typeface="Book Antiqua" panose="02040602050305030304" pitchFamily="18" charset="0"/>
                <a:sym typeface="Symbol" panose="05050102010706020507" pitchFamily="18" charset="2"/>
              </a:rPr>
              <a:t>3</a:t>
            </a:r>
            <a:endParaRPr lang="en-US" altLang="zh-CN" sz="2800">
              <a:solidFill>
                <a:schemeClr val="tx2"/>
              </a:solidFill>
              <a:latin typeface="Book Antiqua" panose="02040602050305030304" pitchFamily="18" charset="0"/>
            </a:endParaRPr>
          </a:p>
        </p:txBody>
      </p:sp>
      <p:sp>
        <p:nvSpPr>
          <p:cNvPr id="232461" name="Rectangle 63"/>
          <p:cNvSpPr>
            <a:spLocks noChangeArrowheads="1"/>
          </p:cNvSpPr>
          <p:nvPr/>
        </p:nvSpPr>
        <p:spPr bwMode="auto">
          <a:xfrm>
            <a:off x="2667000" y="3124200"/>
            <a:ext cx="990600"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ID</a:t>
            </a:r>
            <a:endParaRPr lang="zh-CN" altLang="zh-CN" sz="2400">
              <a:solidFill>
                <a:schemeClr val="tx2"/>
              </a:solidFill>
              <a:latin typeface="Comic Sans MS" panose="030F0702030302020204" pitchFamily="66" charset="0"/>
            </a:endParaRPr>
          </a:p>
        </p:txBody>
      </p:sp>
      <p:sp>
        <p:nvSpPr>
          <p:cNvPr id="232462" name="Rectangle 64"/>
          <p:cNvSpPr>
            <a:spLocks noChangeArrowheads="1"/>
          </p:cNvSpPr>
          <p:nvPr/>
        </p:nvSpPr>
        <p:spPr bwMode="auto">
          <a:xfrm>
            <a:off x="3657600" y="3124200"/>
            <a:ext cx="990600"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EX</a:t>
            </a:r>
            <a:endParaRPr lang="zh-CN" altLang="zh-CN" sz="2400">
              <a:solidFill>
                <a:schemeClr val="tx2"/>
              </a:solidFill>
              <a:latin typeface="Comic Sans MS" panose="030F0702030302020204" pitchFamily="66" charset="0"/>
            </a:endParaRPr>
          </a:p>
        </p:txBody>
      </p:sp>
      <p:sp>
        <p:nvSpPr>
          <p:cNvPr id="232463" name="Rectangle 65"/>
          <p:cNvSpPr>
            <a:spLocks noChangeArrowheads="1"/>
          </p:cNvSpPr>
          <p:nvPr/>
        </p:nvSpPr>
        <p:spPr bwMode="auto">
          <a:xfrm>
            <a:off x="4648200" y="3124200"/>
            <a:ext cx="990600"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WR</a:t>
            </a:r>
            <a:endParaRPr lang="zh-CN" altLang="zh-CN" sz="2400">
              <a:solidFill>
                <a:schemeClr val="tx2"/>
              </a:solidFill>
              <a:latin typeface="Comic Sans MS" panose="030F0702030302020204" pitchFamily="66" charset="0"/>
            </a:endParaRPr>
          </a:p>
        </p:txBody>
      </p:sp>
      <p:sp>
        <p:nvSpPr>
          <p:cNvPr id="232464" name="Rectangle 66"/>
          <p:cNvSpPr>
            <a:spLocks noChangeArrowheads="1"/>
          </p:cNvSpPr>
          <p:nvPr/>
        </p:nvSpPr>
        <p:spPr bwMode="auto">
          <a:xfrm>
            <a:off x="2667000" y="3657600"/>
            <a:ext cx="990600"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IF</a:t>
            </a:r>
            <a:endParaRPr lang="zh-CN" altLang="zh-CN" sz="2400">
              <a:solidFill>
                <a:schemeClr val="tx2"/>
              </a:solidFill>
              <a:latin typeface="Comic Sans MS" panose="030F0702030302020204" pitchFamily="66" charset="0"/>
            </a:endParaRPr>
          </a:p>
        </p:txBody>
      </p:sp>
      <p:sp>
        <p:nvSpPr>
          <p:cNvPr id="232465" name="Rectangle 67"/>
          <p:cNvSpPr>
            <a:spLocks noChangeArrowheads="1"/>
          </p:cNvSpPr>
          <p:nvPr/>
        </p:nvSpPr>
        <p:spPr bwMode="auto">
          <a:xfrm>
            <a:off x="3657600" y="3657600"/>
            <a:ext cx="990600"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ID</a:t>
            </a:r>
            <a:endParaRPr lang="zh-CN" altLang="zh-CN" sz="2400">
              <a:solidFill>
                <a:schemeClr val="tx2"/>
              </a:solidFill>
              <a:latin typeface="Comic Sans MS" panose="030F0702030302020204" pitchFamily="66" charset="0"/>
            </a:endParaRPr>
          </a:p>
        </p:txBody>
      </p:sp>
      <p:sp>
        <p:nvSpPr>
          <p:cNvPr id="232466" name="Rectangle 68"/>
          <p:cNvSpPr>
            <a:spLocks noChangeArrowheads="1"/>
          </p:cNvSpPr>
          <p:nvPr/>
        </p:nvSpPr>
        <p:spPr bwMode="auto">
          <a:xfrm>
            <a:off x="4648200" y="3657600"/>
            <a:ext cx="990600"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EX</a:t>
            </a:r>
            <a:endParaRPr lang="zh-CN" altLang="zh-CN" sz="2400">
              <a:solidFill>
                <a:schemeClr val="tx2"/>
              </a:solidFill>
              <a:latin typeface="Comic Sans MS" panose="030F0702030302020204" pitchFamily="66" charset="0"/>
            </a:endParaRPr>
          </a:p>
        </p:txBody>
      </p:sp>
      <p:sp>
        <p:nvSpPr>
          <p:cNvPr id="232467" name="Rectangle 69"/>
          <p:cNvSpPr>
            <a:spLocks noChangeArrowheads="1"/>
          </p:cNvSpPr>
          <p:nvPr/>
        </p:nvSpPr>
        <p:spPr bwMode="auto">
          <a:xfrm>
            <a:off x="5638800" y="3657600"/>
            <a:ext cx="990600"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WR</a:t>
            </a:r>
            <a:endParaRPr lang="zh-CN" altLang="zh-CN" sz="2400">
              <a:solidFill>
                <a:schemeClr val="tx2"/>
              </a:solidFill>
              <a:latin typeface="Comic Sans MS" panose="030F0702030302020204" pitchFamily="66" charset="0"/>
            </a:endParaRPr>
          </a:p>
        </p:txBody>
      </p:sp>
      <p:sp>
        <p:nvSpPr>
          <p:cNvPr id="232468" name="Rectangle 70"/>
          <p:cNvSpPr>
            <a:spLocks noChangeArrowheads="1"/>
          </p:cNvSpPr>
          <p:nvPr/>
        </p:nvSpPr>
        <p:spPr bwMode="auto">
          <a:xfrm>
            <a:off x="3657600" y="4191000"/>
            <a:ext cx="990600"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IF</a:t>
            </a:r>
            <a:endParaRPr lang="zh-CN" altLang="zh-CN" sz="2400">
              <a:solidFill>
                <a:schemeClr val="tx2"/>
              </a:solidFill>
              <a:latin typeface="Comic Sans MS" panose="030F0702030302020204" pitchFamily="66" charset="0"/>
            </a:endParaRPr>
          </a:p>
        </p:txBody>
      </p:sp>
      <p:sp>
        <p:nvSpPr>
          <p:cNvPr id="232469" name="Rectangle 71"/>
          <p:cNvSpPr>
            <a:spLocks noChangeArrowheads="1"/>
          </p:cNvSpPr>
          <p:nvPr/>
        </p:nvSpPr>
        <p:spPr bwMode="auto">
          <a:xfrm>
            <a:off x="4648200" y="4191000"/>
            <a:ext cx="990600"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ID</a:t>
            </a:r>
            <a:endParaRPr lang="zh-CN" altLang="zh-CN" sz="2400">
              <a:solidFill>
                <a:schemeClr val="tx2"/>
              </a:solidFill>
              <a:latin typeface="Comic Sans MS" panose="030F0702030302020204" pitchFamily="66" charset="0"/>
            </a:endParaRPr>
          </a:p>
        </p:txBody>
      </p:sp>
      <p:sp>
        <p:nvSpPr>
          <p:cNvPr id="232470" name="Rectangle 72"/>
          <p:cNvSpPr>
            <a:spLocks noChangeArrowheads="1"/>
          </p:cNvSpPr>
          <p:nvPr/>
        </p:nvSpPr>
        <p:spPr bwMode="auto">
          <a:xfrm>
            <a:off x="5638800" y="4191000"/>
            <a:ext cx="990600"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EX</a:t>
            </a:r>
            <a:endParaRPr lang="zh-CN" altLang="zh-CN" sz="2400">
              <a:solidFill>
                <a:schemeClr val="tx2"/>
              </a:solidFill>
              <a:latin typeface="Comic Sans MS" panose="030F0702030302020204" pitchFamily="66" charset="0"/>
            </a:endParaRPr>
          </a:p>
        </p:txBody>
      </p:sp>
      <p:sp>
        <p:nvSpPr>
          <p:cNvPr id="232471" name="Rectangle 73"/>
          <p:cNvSpPr>
            <a:spLocks noChangeArrowheads="1"/>
          </p:cNvSpPr>
          <p:nvPr/>
        </p:nvSpPr>
        <p:spPr bwMode="auto">
          <a:xfrm>
            <a:off x="6629400" y="4191000"/>
            <a:ext cx="990600" cy="53340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WR</a:t>
            </a:r>
            <a:endParaRPr lang="zh-CN" altLang="zh-CN" sz="2400">
              <a:solidFill>
                <a:schemeClr val="tx2"/>
              </a:solidFill>
              <a:latin typeface="Comic Sans MS" panose="030F0702030302020204" pitchFamily="66" charset="0"/>
            </a:endParaRPr>
          </a:p>
        </p:txBody>
      </p:sp>
      <p:sp>
        <p:nvSpPr>
          <p:cNvPr id="232472" name="Rectangle 74"/>
          <p:cNvSpPr>
            <a:spLocks noChangeArrowheads="1"/>
          </p:cNvSpPr>
          <p:nvPr/>
        </p:nvSpPr>
        <p:spPr bwMode="auto">
          <a:xfrm>
            <a:off x="1905000" y="25908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1</a:t>
            </a:r>
            <a:endParaRPr lang="zh-CN" altLang="zh-CN" sz="2800">
              <a:solidFill>
                <a:schemeClr val="tx2"/>
              </a:solidFill>
              <a:latin typeface="Book Antiqua" panose="02040602050305030304" pitchFamily="18" charset="0"/>
            </a:endParaRPr>
          </a:p>
        </p:txBody>
      </p:sp>
      <p:sp>
        <p:nvSpPr>
          <p:cNvPr id="232473" name="Rectangle 75"/>
          <p:cNvSpPr>
            <a:spLocks noChangeArrowheads="1"/>
          </p:cNvSpPr>
          <p:nvPr/>
        </p:nvSpPr>
        <p:spPr bwMode="auto">
          <a:xfrm>
            <a:off x="2895600" y="25908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2</a:t>
            </a:r>
            <a:endParaRPr lang="zh-CN" altLang="zh-CN" sz="2800">
              <a:solidFill>
                <a:schemeClr val="tx2"/>
              </a:solidFill>
              <a:latin typeface="Book Antiqua" panose="02040602050305030304" pitchFamily="18" charset="0"/>
            </a:endParaRPr>
          </a:p>
        </p:txBody>
      </p:sp>
      <p:sp>
        <p:nvSpPr>
          <p:cNvPr id="232474" name="Rectangle 76"/>
          <p:cNvSpPr>
            <a:spLocks noChangeArrowheads="1"/>
          </p:cNvSpPr>
          <p:nvPr/>
        </p:nvSpPr>
        <p:spPr bwMode="auto">
          <a:xfrm>
            <a:off x="3886200" y="25908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3</a:t>
            </a:r>
            <a:endParaRPr lang="zh-CN" altLang="zh-CN" sz="2800">
              <a:solidFill>
                <a:schemeClr val="tx2"/>
              </a:solidFill>
              <a:latin typeface="Book Antiqua" panose="02040602050305030304" pitchFamily="18" charset="0"/>
            </a:endParaRPr>
          </a:p>
        </p:txBody>
      </p:sp>
      <p:sp>
        <p:nvSpPr>
          <p:cNvPr id="232475" name="Rectangle 77"/>
          <p:cNvSpPr>
            <a:spLocks noChangeArrowheads="1"/>
          </p:cNvSpPr>
          <p:nvPr/>
        </p:nvSpPr>
        <p:spPr bwMode="auto">
          <a:xfrm>
            <a:off x="4800600" y="25908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4</a:t>
            </a:r>
            <a:endParaRPr lang="zh-CN" altLang="zh-CN" sz="2800">
              <a:solidFill>
                <a:schemeClr val="tx2"/>
              </a:solidFill>
              <a:latin typeface="Book Antiqua" panose="02040602050305030304" pitchFamily="18" charset="0"/>
            </a:endParaRPr>
          </a:p>
        </p:txBody>
      </p:sp>
      <p:sp>
        <p:nvSpPr>
          <p:cNvPr id="232476" name="Rectangle 78"/>
          <p:cNvSpPr>
            <a:spLocks noChangeArrowheads="1"/>
          </p:cNvSpPr>
          <p:nvPr/>
        </p:nvSpPr>
        <p:spPr bwMode="auto">
          <a:xfrm>
            <a:off x="5791200" y="25908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5</a:t>
            </a:r>
            <a:endParaRPr lang="zh-CN" altLang="zh-CN" sz="2800">
              <a:solidFill>
                <a:schemeClr val="tx2"/>
              </a:solidFill>
              <a:latin typeface="Book Antiqua" panose="02040602050305030304" pitchFamily="18" charset="0"/>
            </a:endParaRPr>
          </a:p>
        </p:txBody>
      </p:sp>
      <p:sp>
        <p:nvSpPr>
          <p:cNvPr id="232477" name="Rectangle 79"/>
          <p:cNvSpPr>
            <a:spLocks noChangeArrowheads="1"/>
          </p:cNvSpPr>
          <p:nvPr/>
        </p:nvSpPr>
        <p:spPr bwMode="auto">
          <a:xfrm>
            <a:off x="6781800" y="25908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6</a:t>
            </a:r>
            <a:endParaRPr lang="zh-CN" altLang="zh-CN" sz="2800">
              <a:solidFill>
                <a:schemeClr val="tx2"/>
              </a:solidFill>
              <a:latin typeface="Book Antiqua" panose="02040602050305030304" pitchFamily="18" charset="0"/>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70" name="Rectangle 30"/>
          <p:cNvSpPr>
            <a:spLocks noGrp="1" noChangeArrowheads="1"/>
          </p:cNvSpPr>
          <p:nvPr>
            <p:ph type="title"/>
          </p:nvPr>
        </p:nvSpPr>
        <p:spPr/>
        <p:txBody>
          <a:bodyPr/>
          <a:lstStyle/>
          <a:p>
            <a:pPr eaLnBrk="1" hangingPunct="1">
              <a:defRPr/>
            </a:pPr>
            <a:r>
              <a:rPr lang="zh-CN" altLang="en-US" smtClean="0"/>
              <a:t>标量处理机</a:t>
            </a:r>
            <a:br>
              <a:rPr lang="zh-CN" altLang="en-US" sz="3200" smtClean="0"/>
            </a:br>
            <a:r>
              <a:rPr lang="zh-CN" altLang="en-US" sz="3200" smtClean="0"/>
              <a:t>                       — 解释</a:t>
            </a:r>
            <a:endParaRPr lang="zh-CN" altLang="en-US" sz="3200" smtClean="0"/>
          </a:p>
        </p:txBody>
      </p:sp>
      <p:sp>
        <p:nvSpPr>
          <p:cNvPr id="233475" name="Rectangle 31"/>
          <p:cNvSpPr>
            <a:spLocks noGrp="1" noChangeArrowheads="1"/>
          </p:cNvSpPr>
          <p:nvPr>
            <p:ph type="body" idx="1"/>
          </p:nvPr>
        </p:nvSpPr>
        <p:spPr/>
        <p:txBody>
          <a:bodyPr/>
          <a:lstStyle/>
          <a:p>
            <a:pPr marL="0" indent="0" eaLnBrk="1" hangingPunct="1">
              <a:lnSpc>
                <a:spcPct val="120000"/>
              </a:lnSpc>
              <a:buFont typeface="Wingdings" panose="05000000000000000000" pitchFamily="2" charset="2"/>
              <a:buNone/>
            </a:pPr>
            <a:r>
              <a:rPr lang="zh-CN" altLang="en-US" sz="2800" dirty="0" smtClean="0"/>
              <a:t>    </a:t>
            </a:r>
            <a:r>
              <a:rPr lang="zh-CN" altLang="en-US" sz="2800" dirty="0" smtClean="0">
                <a:solidFill>
                  <a:srgbClr val="FF0000"/>
                </a:solidFill>
              </a:rPr>
              <a:t>标量处理机只有一条指令流水线，采用单发射方式</a:t>
            </a:r>
            <a:r>
              <a:rPr lang="zh-CN" altLang="en-US" sz="2800" dirty="0" smtClean="0"/>
              <a:t>：每个周期只取一条指令、只译码一条指令、只执行一条指令、只写回一个运算结果。取指部件、译码部件和写结果部件各设置一套，可以只设置一个</a:t>
            </a:r>
            <a:r>
              <a:rPr lang="zh-CN" altLang="en-US" sz="2800" dirty="0" smtClean="0"/>
              <a:t>多功能执行部件</a:t>
            </a:r>
            <a:r>
              <a:rPr lang="zh-CN" altLang="en-US" sz="2800" dirty="0" smtClean="0"/>
              <a:t>，也可以设置多个</a:t>
            </a:r>
            <a:r>
              <a:rPr lang="zh-CN" altLang="en-US" sz="2800" dirty="0" smtClean="0"/>
              <a:t>独立的执行部件；执行部件</a:t>
            </a:r>
            <a:r>
              <a:rPr lang="zh-CN" altLang="en-US" sz="2800" dirty="0" smtClean="0"/>
              <a:t>中可以采用流水线结构，也可以不采用流水线结构。</a:t>
            </a:r>
            <a:r>
              <a:rPr lang="zh-CN" altLang="en-US" sz="2800" dirty="0" smtClean="0">
                <a:solidFill>
                  <a:srgbClr val="0000FF"/>
                </a:solidFill>
              </a:rPr>
              <a:t>设计目标是每个时钟周期平均执行一条指令，</a:t>
            </a:r>
            <a:r>
              <a:rPr lang="en-US" altLang="zh-CN" sz="2800" dirty="0" smtClean="0">
                <a:solidFill>
                  <a:srgbClr val="0000FF"/>
                </a:solidFill>
              </a:rPr>
              <a:t>ILP</a:t>
            </a:r>
            <a:r>
              <a:rPr lang="zh-CN" altLang="en-US" sz="2800" dirty="0" smtClean="0">
                <a:solidFill>
                  <a:srgbClr val="0000FF"/>
                </a:solidFill>
              </a:rPr>
              <a:t>的期望值1。</a:t>
            </a:r>
            <a:endParaRPr lang="zh-CN" altLang="en-US" sz="2800" dirty="0" smtClean="0">
              <a:solidFill>
                <a:srgbClr val="0000FF"/>
              </a:solidFill>
            </a:endParaRPr>
          </a:p>
        </p:txBody>
      </p:sp>
      <p:sp>
        <p:nvSpPr>
          <p:cNvPr id="233476"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工作原理</a:t>
            </a:r>
            <a:endParaRPr lang="zh-CN" altLang="en-US" sz="1200" b="0">
              <a:latin typeface="Times New Roman" panose="02020603050405020304" pitchFamily="18" charset="0"/>
              <a:ea typeface="幼圆" panose="02010509060101010101" pitchFamily="49" charset="-122"/>
            </a:endParaRPr>
          </a:p>
        </p:txBody>
      </p:sp>
      <p:sp>
        <p:nvSpPr>
          <p:cNvPr id="233477"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8066" name="Rectangle 2"/>
          <p:cNvSpPr>
            <a:spLocks noGrp="1" noChangeArrowheads="1"/>
          </p:cNvSpPr>
          <p:nvPr>
            <p:ph type="title"/>
          </p:nvPr>
        </p:nvSpPr>
        <p:spPr/>
        <p:txBody>
          <a:bodyPr/>
          <a:lstStyle/>
          <a:p>
            <a:pPr eaLnBrk="1" hangingPunct="1">
              <a:defRPr/>
            </a:pPr>
            <a:r>
              <a:rPr lang="zh-CN" altLang="en-US" smtClean="0"/>
              <a:t>超标量处理机</a:t>
            </a:r>
            <a:br>
              <a:rPr lang="zh-CN" altLang="en-US" sz="3200" smtClean="0"/>
            </a:br>
            <a:r>
              <a:rPr lang="zh-CN" altLang="en-US" sz="3200" smtClean="0"/>
              <a:t>                       — 连接图</a:t>
            </a:r>
            <a:endParaRPr lang="zh-CN" altLang="en-US" sz="3200" smtClean="0"/>
          </a:p>
        </p:txBody>
      </p:sp>
      <p:sp>
        <p:nvSpPr>
          <p:cNvPr id="2344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工作原理</a:t>
            </a:r>
            <a:endParaRPr lang="zh-CN" altLang="en-US" sz="1200" b="0">
              <a:latin typeface="Times New Roman" panose="02020603050405020304" pitchFamily="18" charset="0"/>
              <a:ea typeface="幼圆" panose="02010509060101010101" pitchFamily="49" charset="-122"/>
            </a:endParaRPr>
          </a:p>
        </p:txBody>
      </p:sp>
      <p:sp>
        <p:nvSpPr>
          <p:cNvPr id="234500" name="Rectangle 50"/>
          <p:cNvSpPr>
            <a:spLocks noChangeArrowheads="1"/>
          </p:cNvSpPr>
          <p:nvPr/>
        </p:nvSpPr>
        <p:spPr bwMode="auto">
          <a:xfrm>
            <a:off x="914400" y="2057400"/>
            <a:ext cx="9906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anose="05050102010706020507" pitchFamily="18" charset="2"/>
              </a:rPr>
              <a:t>取指令</a:t>
            </a:r>
            <a:endParaRPr lang="zh-CN" altLang="zh-CN" sz="2800">
              <a:solidFill>
                <a:srgbClr val="0000FF"/>
              </a:solidFill>
              <a:latin typeface="楷体_GB2312" pitchFamily="49" charset="-122"/>
            </a:endParaRPr>
          </a:p>
        </p:txBody>
      </p:sp>
      <p:sp>
        <p:nvSpPr>
          <p:cNvPr id="234501" name="Rectangle 51"/>
          <p:cNvSpPr>
            <a:spLocks noChangeArrowheads="1"/>
          </p:cNvSpPr>
          <p:nvPr/>
        </p:nvSpPr>
        <p:spPr bwMode="auto">
          <a:xfrm>
            <a:off x="2362200" y="2057400"/>
            <a:ext cx="9906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anose="05050102010706020507" pitchFamily="18" charset="2"/>
              </a:rPr>
              <a:t>指令译码</a:t>
            </a:r>
            <a:endParaRPr lang="zh-CN" altLang="zh-CN" sz="2800">
              <a:solidFill>
                <a:srgbClr val="0000FF"/>
              </a:solidFill>
              <a:latin typeface="楷体_GB2312" pitchFamily="49" charset="-122"/>
            </a:endParaRPr>
          </a:p>
        </p:txBody>
      </p:sp>
      <p:sp>
        <p:nvSpPr>
          <p:cNvPr id="234502" name="Rectangle 52"/>
          <p:cNvSpPr>
            <a:spLocks noChangeArrowheads="1"/>
          </p:cNvSpPr>
          <p:nvPr/>
        </p:nvSpPr>
        <p:spPr bwMode="auto">
          <a:xfrm>
            <a:off x="4114800" y="2057400"/>
            <a:ext cx="14478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anose="05050102010706020507" pitchFamily="18" charset="2"/>
              </a:rPr>
              <a:t>指令执行</a:t>
            </a:r>
            <a:endParaRPr lang="zh-CN" altLang="zh-CN" sz="2800">
              <a:solidFill>
                <a:srgbClr val="0000FF"/>
              </a:solidFill>
              <a:latin typeface="楷体_GB2312" pitchFamily="49" charset="-122"/>
            </a:endParaRPr>
          </a:p>
        </p:txBody>
      </p:sp>
      <p:sp>
        <p:nvSpPr>
          <p:cNvPr id="234503" name="Rectangle 53"/>
          <p:cNvSpPr>
            <a:spLocks noChangeArrowheads="1"/>
          </p:cNvSpPr>
          <p:nvPr/>
        </p:nvSpPr>
        <p:spPr bwMode="auto">
          <a:xfrm>
            <a:off x="7239000" y="2133600"/>
            <a:ext cx="1219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anose="05050102010706020507" pitchFamily="18" charset="2"/>
              </a:rPr>
              <a:t>写回结果</a:t>
            </a:r>
            <a:endParaRPr lang="zh-CN" altLang="zh-CN" sz="2800">
              <a:solidFill>
                <a:srgbClr val="0000FF"/>
              </a:solidFill>
              <a:latin typeface="楷体_GB2312" pitchFamily="49" charset="-122"/>
            </a:endParaRPr>
          </a:p>
        </p:txBody>
      </p:sp>
      <p:sp>
        <p:nvSpPr>
          <p:cNvPr id="234504" name="Text Box 5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1</a:t>
            </a:r>
            <a:endParaRPr lang="zh-CN" altLang="en-US" sz="1200" b="0">
              <a:latin typeface="幼圆" panose="02010509060101010101" pitchFamily="49" charset="-122"/>
              <a:ea typeface="幼圆" panose="02010509060101010101" pitchFamily="49" charset="-122"/>
            </a:endParaRPr>
          </a:p>
        </p:txBody>
      </p:sp>
      <p:sp>
        <p:nvSpPr>
          <p:cNvPr id="234505" name="Rectangle 56"/>
          <p:cNvSpPr>
            <a:spLocks noChangeArrowheads="1"/>
          </p:cNvSpPr>
          <p:nvPr/>
        </p:nvSpPr>
        <p:spPr bwMode="auto">
          <a:xfrm>
            <a:off x="1139825" y="3751263"/>
            <a:ext cx="603250" cy="47307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IF</a:t>
            </a:r>
            <a:endParaRPr lang="en-US" altLang="zh-CN" sz="2800">
              <a:solidFill>
                <a:schemeClr val="tx2"/>
              </a:solidFill>
              <a:latin typeface="楷体_GB2312" pitchFamily="49" charset="-122"/>
            </a:endParaRPr>
          </a:p>
        </p:txBody>
      </p:sp>
      <p:sp>
        <p:nvSpPr>
          <p:cNvPr id="234506" name="Rectangle 57"/>
          <p:cNvSpPr>
            <a:spLocks noChangeArrowheads="1"/>
          </p:cNvSpPr>
          <p:nvPr/>
        </p:nvSpPr>
        <p:spPr bwMode="auto">
          <a:xfrm>
            <a:off x="2046288" y="3751263"/>
            <a:ext cx="603250" cy="47307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ID</a:t>
            </a:r>
            <a:endParaRPr lang="en-US" altLang="zh-CN" sz="2800">
              <a:solidFill>
                <a:schemeClr val="tx2"/>
              </a:solidFill>
              <a:latin typeface="楷体_GB2312" pitchFamily="49" charset="-122"/>
            </a:endParaRPr>
          </a:p>
        </p:txBody>
      </p:sp>
      <p:sp>
        <p:nvSpPr>
          <p:cNvPr id="234507" name="Line 58"/>
          <p:cNvSpPr>
            <a:spLocks noChangeShapeType="1"/>
          </p:cNvSpPr>
          <p:nvPr/>
        </p:nvSpPr>
        <p:spPr bwMode="auto">
          <a:xfrm>
            <a:off x="1743075" y="3987800"/>
            <a:ext cx="303213"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08" name="Line 59"/>
          <p:cNvSpPr>
            <a:spLocks noChangeShapeType="1"/>
          </p:cNvSpPr>
          <p:nvPr/>
        </p:nvSpPr>
        <p:spPr bwMode="auto">
          <a:xfrm>
            <a:off x="2800350" y="2862263"/>
            <a:ext cx="0" cy="284480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09" name="Rectangle 60"/>
          <p:cNvSpPr>
            <a:spLocks noChangeArrowheads="1"/>
          </p:cNvSpPr>
          <p:nvPr/>
        </p:nvSpPr>
        <p:spPr bwMode="auto">
          <a:xfrm>
            <a:off x="3479800" y="2743200"/>
            <a:ext cx="904875" cy="474663"/>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FA1</a:t>
            </a:r>
            <a:endParaRPr lang="en-US" altLang="zh-CN" sz="2800">
              <a:solidFill>
                <a:schemeClr val="tx2"/>
              </a:solidFill>
              <a:latin typeface="楷体_GB2312" pitchFamily="49" charset="-122"/>
            </a:endParaRPr>
          </a:p>
        </p:txBody>
      </p:sp>
      <p:sp>
        <p:nvSpPr>
          <p:cNvPr id="234510" name="Rectangle 61"/>
          <p:cNvSpPr>
            <a:spLocks noChangeArrowheads="1"/>
          </p:cNvSpPr>
          <p:nvPr/>
        </p:nvSpPr>
        <p:spPr bwMode="auto">
          <a:xfrm>
            <a:off x="4384675" y="2743200"/>
            <a:ext cx="906463" cy="474663"/>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FA2</a:t>
            </a:r>
            <a:endParaRPr lang="en-US" altLang="zh-CN" sz="2800">
              <a:solidFill>
                <a:schemeClr val="tx2"/>
              </a:solidFill>
              <a:latin typeface="楷体_GB2312" pitchFamily="49" charset="-122"/>
            </a:endParaRPr>
          </a:p>
        </p:txBody>
      </p:sp>
      <p:sp>
        <p:nvSpPr>
          <p:cNvPr id="234511" name="Rectangle 62"/>
          <p:cNvSpPr>
            <a:spLocks noChangeArrowheads="1"/>
          </p:cNvSpPr>
          <p:nvPr/>
        </p:nvSpPr>
        <p:spPr bwMode="auto">
          <a:xfrm>
            <a:off x="5291138" y="2743200"/>
            <a:ext cx="904875" cy="474663"/>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FA3</a:t>
            </a:r>
            <a:endParaRPr lang="en-US" altLang="zh-CN" sz="2800">
              <a:solidFill>
                <a:schemeClr val="tx2"/>
              </a:solidFill>
              <a:latin typeface="楷体_GB2312" pitchFamily="49" charset="-122"/>
            </a:endParaRPr>
          </a:p>
        </p:txBody>
      </p:sp>
      <p:sp>
        <p:nvSpPr>
          <p:cNvPr id="234512" name="Rectangle 63"/>
          <p:cNvSpPr>
            <a:spLocks noChangeArrowheads="1"/>
          </p:cNvSpPr>
          <p:nvPr/>
        </p:nvSpPr>
        <p:spPr bwMode="auto">
          <a:xfrm>
            <a:off x="3479800" y="3751263"/>
            <a:ext cx="904875" cy="47307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MD1</a:t>
            </a:r>
            <a:endParaRPr lang="en-US" altLang="zh-CN" sz="2800">
              <a:solidFill>
                <a:schemeClr val="tx2"/>
              </a:solidFill>
              <a:latin typeface="楷体_GB2312" pitchFamily="49" charset="-122"/>
            </a:endParaRPr>
          </a:p>
        </p:txBody>
      </p:sp>
      <p:sp>
        <p:nvSpPr>
          <p:cNvPr id="234513" name="Rectangle 64"/>
          <p:cNvSpPr>
            <a:spLocks noChangeArrowheads="1"/>
          </p:cNvSpPr>
          <p:nvPr/>
        </p:nvSpPr>
        <p:spPr bwMode="auto">
          <a:xfrm>
            <a:off x="4384675" y="3751263"/>
            <a:ext cx="906463" cy="47307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MD2</a:t>
            </a:r>
            <a:endParaRPr lang="en-US" altLang="zh-CN" sz="2800">
              <a:solidFill>
                <a:schemeClr val="tx2"/>
              </a:solidFill>
              <a:latin typeface="楷体_GB2312" pitchFamily="49" charset="-122"/>
            </a:endParaRPr>
          </a:p>
        </p:txBody>
      </p:sp>
      <p:sp>
        <p:nvSpPr>
          <p:cNvPr id="234514" name="Rectangle 65"/>
          <p:cNvSpPr>
            <a:spLocks noChangeArrowheads="1"/>
          </p:cNvSpPr>
          <p:nvPr/>
        </p:nvSpPr>
        <p:spPr bwMode="auto">
          <a:xfrm>
            <a:off x="5291138" y="3751263"/>
            <a:ext cx="904875" cy="47307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MD3</a:t>
            </a:r>
            <a:endParaRPr lang="en-US" altLang="zh-CN" sz="2800">
              <a:solidFill>
                <a:schemeClr val="tx2"/>
              </a:solidFill>
              <a:latin typeface="楷体_GB2312" pitchFamily="49" charset="-122"/>
            </a:endParaRPr>
          </a:p>
        </p:txBody>
      </p:sp>
      <p:sp>
        <p:nvSpPr>
          <p:cNvPr id="234515" name="Rectangle 66"/>
          <p:cNvSpPr>
            <a:spLocks noChangeArrowheads="1"/>
          </p:cNvSpPr>
          <p:nvPr/>
        </p:nvSpPr>
        <p:spPr bwMode="auto">
          <a:xfrm>
            <a:off x="4460875" y="4699000"/>
            <a:ext cx="904875" cy="474663"/>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AL</a:t>
            </a:r>
            <a:endParaRPr lang="en-US" altLang="zh-CN" sz="2800">
              <a:solidFill>
                <a:schemeClr val="tx2"/>
              </a:solidFill>
              <a:latin typeface="楷体_GB2312" pitchFamily="49" charset="-122"/>
            </a:endParaRPr>
          </a:p>
        </p:txBody>
      </p:sp>
      <p:sp>
        <p:nvSpPr>
          <p:cNvPr id="234516" name="Rectangle 67"/>
          <p:cNvSpPr>
            <a:spLocks noChangeArrowheads="1"/>
          </p:cNvSpPr>
          <p:nvPr/>
        </p:nvSpPr>
        <p:spPr bwMode="auto">
          <a:xfrm>
            <a:off x="4460875" y="5588000"/>
            <a:ext cx="904875" cy="474663"/>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LS</a:t>
            </a:r>
            <a:endParaRPr lang="en-US" altLang="zh-CN" sz="2800">
              <a:solidFill>
                <a:schemeClr val="tx2"/>
              </a:solidFill>
              <a:latin typeface="楷体_GB2312" pitchFamily="49" charset="-122"/>
            </a:endParaRPr>
          </a:p>
        </p:txBody>
      </p:sp>
      <p:sp>
        <p:nvSpPr>
          <p:cNvPr id="234517" name="Rectangle 68"/>
          <p:cNvSpPr>
            <a:spLocks noChangeArrowheads="1"/>
          </p:cNvSpPr>
          <p:nvPr/>
        </p:nvSpPr>
        <p:spPr bwMode="auto">
          <a:xfrm>
            <a:off x="3479800" y="3217863"/>
            <a:ext cx="2716213" cy="41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浮点加法部件</a:t>
            </a:r>
            <a:endParaRPr lang="zh-CN" altLang="zh-CN" sz="2400">
              <a:solidFill>
                <a:schemeClr val="tx2"/>
              </a:solidFill>
              <a:latin typeface="楷体_GB2312" pitchFamily="49" charset="-122"/>
            </a:endParaRPr>
          </a:p>
        </p:txBody>
      </p:sp>
      <p:sp>
        <p:nvSpPr>
          <p:cNvPr id="234518" name="Rectangle 69"/>
          <p:cNvSpPr>
            <a:spLocks noChangeArrowheads="1"/>
          </p:cNvSpPr>
          <p:nvPr/>
        </p:nvSpPr>
        <p:spPr bwMode="auto">
          <a:xfrm>
            <a:off x="3479800" y="4224338"/>
            <a:ext cx="2716213" cy="41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乘除法部件</a:t>
            </a:r>
            <a:endParaRPr lang="zh-CN" altLang="zh-CN" sz="2400">
              <a:solidFill>
                <a:schemeClr val="tx2"/>
              </a:solidFill>
              <a:latin typeface="楷体_GB2312" pitchFamily="49" charset="-122"/>
            </a:endParaRPr>
          </a:p>
        </p:txBody>
      </p:sp>
      <p:sp>
        <p:nvSpPr>
          <p:cNvPr id="234519" name="Rectangle 70"/>
          <p:cNvSpPr>
            <a:spLocks noChangeArrowheads="1"/>
          </p:cNvSpPr>
          <p:nvPr/>
        </p:nvSpPr>
        <p:spPr bwMode="auto">
          <a:xfrm>
            <a:off x="3479800" y="5173663"/>
            <a:ext cx="2716213" cy="41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定点ALU部件</a:t>
            </a:r>
            <a:endParaRPr lang="zh-CN" altLang="zh-CN" sz="2400">
              <a:solidFill>
                <a:schemeClr val="tx2"/>
              </a:solidFill>
              <a:latin typeface="楷体_GB2312" pitchFamily="49" charset="-122"/>
            </a:endParaRPr>
          </a:p>
        </p:txBody>
      </p:sp>
      <p:sp>
        <p:nvSpPr>
          <p:cNvPr id="234520" name="Rectangle 71"/>
          <p:cNvSpPr>
            <a:spLocks noChangeArrowheads="1"/>
          </p:cNvSpPr>
          <p:nvPr/>
        </p:nvSpPr>
        <p:spPr bwMode="auto">
          <a:xfrm>
            <a:off x="3554413" y="6062663"/>
            <a:ext cx="2717800" cy="41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取数存数部件</a:t>
            </a:r>
            <a:endParaRPr lang="zh-CN" altLang="zh-CN" sz="2400">
              <a:solidFill>
                <a:schemeClr val="tx2"/>
              </a:solidFill>
              <a:latin typeface="楷体_GB2312" pitchFamily="49" charset="-122"/>
            </a:endParaRPr>
          </a:p>
        </p:txBody>
      </p:sp>
      <p:sp>
        <p:nvSpPr>
          <p:cNvPr id="234521" name="Line 72"/>
          <p:cNvSpPr>
            <a:spLocks noChangeShapeType="1"/>
          </p:cNvSpPr>
          <p:nvPr/>
        </p:nvSpPr>
        <p:spPr bwMode="auto">
          <a:xfrm>
            <a:off x="838200" y="3987800"/>
            <a:ext cx="30162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2" name="Line 73"/>
          <p:cNvSpPr>
            <a:spLocks noChangeShapeType="1"/>
          </p:cNvSpPr>
          <p:nvPr/>
        </p:nvSpPr>
        <p:spPr bwMode="auto">
          <a:xfrm>
            <a:off x="2800350" y="2862263"/>
            <a:ext cx="6794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3" name="Line 74"/>
          <p:cNvSpPr>
            <a:spLocks noChangeShapeType="1"/>
          </p:cNvSpPr>
          <p:nvPr/>
        </p:nvSpPr>
        <p:spPr bwMode="auto">
          <a:xfrm>
            <a:off x="2800350" y="3868738"/>
            <a:ext cx="6794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4" name="Line 75"/>
          <p:cNvSpPr>
            <a:spLocks noChangeShapeType="1"/>
          </p:cNvSpPr>
          <p:nvPr/>
        </p:nvSpPr>
        <p:spPr bwMode="auto">
          <a:xfrm>
            <a:off x="2649538" y="3987800"/>
            <a:ext cx="150812"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5" name="Line 76"/>
          <p:cNvSpPr>
            <a:spLocks noChangeShapeType="1"/>
          </p:cNvSpPr>
          <p:nvPr/>
        </p:nvSpPr>
        <p:spPr bwMode="auto">
          <a:xfrm>
            <a:off x="2800350" y="4818063"/>
            <a:ext cx="166052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6" name="Line 77"/>
          <p:cNvSpPr>
            <a:spLocks noChangeShapeType="1"/>
          </p:cNvSpPr>
          <p:nvPr/>
        </p:nvSpPr>
        <p:spPr bwMode="auto">
          <a:xfrm>
            <a:off x="2800350" y="5707063"/>
            <a:ext cx="166052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7" name="Rectangle 78"/>
          <p:cNvSpPr>
            <a:spLocks noChangeArrowheads="1"/>
          </p:cNvSpPr>
          <p:nvPr/>
        </p:nvSpPr>
        <p:spPr bwMode="auto">
          <a:xfrm>
            <a:off x="7554913" y="4402138"/>
            <a:ext cx="754062" cy="47466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WR</a:t>
            </a:r>
            <a:endParaRPr lang="en-US" altLang="zh-CN" sz="2800">
              <a:solidFill>
                <a:schemeClr val="tx2"/>
              </a:solidFill>
              <a:latin typeface="楷体_GB2312" pitchFamily="49" charset="-122"/>
            </a:endParaRPr>
          </a:p>
        </p:txBody>
      </p:sp>
      <p:sp>
        <p:nvSpPr>
          <p:cNvPr id="234528" name="Line 79"/>
          <p:cNvSpPr>
            <a:spLocks noChangeShapeType="1"/>
          </p:cNvSpPr>
          <p:nvPr/>
        </p:nvSpPr>
        <p:spPr bwMode="auto">
          <a:xfrm>
            <a:off x="6196013" y="2979738"/>
            <a:ext cx="755650"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9" name="Line 80"/>
          <p:cNvSpPr>
            <a:spLocks noChangeShapeType="1"/>
          </p:cNvSpPr>
          <p:nvPr/>
        </p:nvSpPr>
        <p:spPr bwMode="auto">
          <a:xfrm>
            <a:off x="6196013" y="3987800"/>
            <a:ext cx="604837"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0" name="Line 81"/>
          <p:cNvSpPr>
            <a:spLocks noChangeShapeType="1"/>
          </p:cNvSpPr>
          <p:nvPr/>
        </p:nvSpPr>
        <p:spPr bwMode="auto">
          <a:xfrm>
            <a:off x="5365750" y="4935538"/>
            <a:ext cx="1736725"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1" name="Line 82"/>
          <p:cNvSpPr>
            <a:spLocks noChangeShapeType="1"/>
          </p:cNvSpPr>
          <p:nvPr/>
        </p:nvSpPr>
        <p:spPr bwMode="auto">
          <a:xfrm>
            <a:off x="5365750" y="5824538"/>
            <a:ext cx="1887538"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2" name="Line 83"/>
          <p:cNvSpPr>
            <a:spLocks noChangeShapeType="1"/>
          </p:cNvSpPr>
          <p:nvPr/>
        </p:nvSpPr>
        <p:spPr bwMode="auto">
          <a:xfrm>
            <a:off x="8534400" y="4648200"/>
            <a:ext cx="0" cy="30480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3" name="Rectangle 84"/>
          <p:cNvSpPr>
            <a:spLocks noChangeArrowheads="1"/>
          </p:cNvSpPr>
          <p:nvPr/>
        </p:nvSpPr>
        <p:spPr bwMode="auto">
          <a:xfrm>
            <a:off x="1139825" y="4402138"/>
            <a:ext cx="603250" cy="47466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IF</a:t>
            </a:r>
            <a:endParaRPr lang="en-US" altLang="zh-CN" sz="2800">
              <a:solidFill>
                <a:schemeClr val="tx2"/>
              </a:solidFill>
              <a:latin typeface="楷体_GB2312" pitchFamily="49" charset="-122"/>
            </a:endParaRPr>
          </a:p>
        </p:txBody>
      </p:sp>
      <p:sp>
        <p:nvSpPr>
          <p:cNvPr id="234534" name="Rectangle 85"/>
          <p:cNvSpPr>
            <a:spLocks noChangeArrowheads="1"/>
          </p:cNvSpPr>
          <p:nvPr/>
        </p:nvSpPr>
        <p:spPr bwMode="auto">
          <a:xfrm>
            <a:off x="2046288" y="4402138"/>
            <a:ext cx="603250" cy="47466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ID</a:t>
            </a:r>
            <a:endParaRPr lang="en-US" altLang="zh-CN" sz="2800">
              <a:solidFill>
                <a:schemeClr val="tx2"/>
              </a:solidFill>
              <a:latin typeface="楷体_GB2312" pitchFamily="49" charset="-122"/>
            </a:endParaRPr>
          </a:p>
        </p:txBody>
      </p:sp>
      <p:sp>
        <p:nvSpPr>
          <p:cNvPr id="234535" name="Line 86"/>
          <p:cNvSpPr>
            <a:spLocks noChangeShapeType="1"/>
          </p:cNvSpPr>
          <p:nvPr/>
        </p:nvSpPr>
        <p:spPr bwMode="auto">
          <a:xfrm>
            <a:off x="1743075" y="4640263"/>
            <a:ext cx="303213"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6" name="Line 87"/>
          <p:cNvSpPr>
            <a:spLocks noChangeShapeType="1"/>
          </p:cNvSpPr>
          <p:nvPr/>
        </p:nvSpPr>
        <p:spPr bwMode="auto">
          <a:xfrm>
            <a:off x="838200" y="4640263"/>
            <a:ext cx="30162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7" name="Line 88"/>
          <p:cNvSpPr>
            <a:spLocks noChangeShapeType="1"/>
          </p:cNvSpPr>
          <p:nvPr/>
        </p:nvSpPr>
        <p:spPr bwMode="auto">
          <a:xfrm>
            <a:off x="2649538" y="4640263"/>
            <a:ext cx="377825"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8" name="Line 89"/>
          <p:cNvSpPr>
            <a:spLocks noChangeShapeType="1"/>
          </p:cNvSpPr>
          <p:nvPr/>
        </p:nvSpPr>
        <p:spPr bwMode="auto">
          <a:xfrm>
            <a:off x="3027363" y="3098800"/>
            <a:ext cx="45243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9" name="Line 90"/>
          <p:cNvSpPr>
            <a:spLocks noChangeShapeType="1"/>
          </p:cNvSpPr>
          <p:nvPr/>
        </p:nvSpPr>
        <p:spPr bwMode="auto">
          <a:xfrm>
            <a:off x="3027363" y="4106863"/>
            <a:ext cx="45243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0" name="Line 91"/>
          <p:cNvSpPr>
            <a:spLocks noChangeShapeType="1"/>
          </p:cNvSpPr>
          <p:nvPr/>
        </p:nvSpPr>
        <p:spPr bwMode="auto">
          <a:xfrm>
            <a:off x="3027363" y="5054600"/>
            <a:ext cx="143351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1" name="Line 92"/>
          <p:cNvSpPr>
            <a:spLocks noChangeShapeType="1"/>
          </p:cNvSpPr>
          <p:nvPr/>
        </p:nvSpPr>
        <p:spPr bwMode="auto">
          <a:xfrm>
            <a:off x="3027363" y="5943600"/>
            <a:ext cx="143351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2" name="Line 93"/>
          <p:cNvSpPr>
            <a:spLocks noChangeShapeType="1"/>
          </p:cNvSpPr>
          <p:nvPr/>
        </p:nvSpPr>
        <p:spPr bwMode="auto">
          <a:xfrm>
            <a:off x="3027363" y="3098800"/>
            <a:ext cx="0" cy="284480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3" name="Rectangle 94"/>
          <p:cNvSpPr>
            <a:spLocks noChangeArrowheads="1"/>
          </p:cNvSpPr>
          <p:nvPr/>
        </p:nvSpPr>
        <p:spPr bwMode="auto">
          <a:xfrm>
            <a:off x="7554913" y="3751263"/>
            <a:ext cx="754062" cy="47307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WR</a:t>
            </a:r>
            <a:endParaRPr lang="en-US" altLang="zh-CN" sz="2800">
              <a:solidFill>
                <a:schemeClr val="tx2"/>
              </a:solidFill>
              <a:latin typeface="楷体_GB2312" pitchFamily="49" charset="-122"/>
            </a:endParaRPr>
          </a:p>
        </p:txBody>
      </p:sp>
      <p:sp>
        <p:nvSpPr>
          <p:cNvPr id="234544" name="Line 95"/>
          <p:cNvSpPr>
            <a:spLocks noChangeShapeType="1"/>
          </p:cNvSpPr>
          <p:nvPr/>
        </p:nvSpPr>
        <p:spPr bwMode="auto">
          <a:xfrm flipH="1">
            <a:off x="7253288" y="3810000"/>
            <a:ext cx="301625"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5" name="Line 96"/>
          <p:cNvSpPr>
            <a:spLocks noChangeShapeType="1"/>
          </p:cNvSpPr>
          <p:nvPr/>
        </p:nvSpPr>
        <p:spPr bwMode="auto">
          <a:xfrm flipH="1">
            <a:off x="7102475" y="3929063"/>
            <a:ext cx="452438"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6" name="Line 97"/>
          <p:cNvSpPr>
            <a:spLocks noChangeShapeType="1"/>
          </p:cNvSpPr>
          <p:nvPr/>
        </p:nvSpPr>
        <p:spPr bwMode="auto">
          <a:xfrm flipH="1">
            <a:off x="6800850" y="4165600"/>
            <a:ext cx="754063"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7" name="Line 98"/>
          <p:cNvSpPr>
            <a:spLocks noChangeShapeType="1"/>
          </p:cNvSpPr>
          <p:nvPr/>
        </p:nvSpPr>
        <p:spPr bwMode="auto">
          <a:xfrm flipH="1">
            <a:off x="6951663" y="4046538"/>
            <a:ext cx="603250"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8" name="Line 99"/>
          <p:cNvSpPr>
            <a:spLocks noChangeShapeType="1"/>
          </p:cNvSpPr>
          <p:nvPr/>
        </p:nvSpPr>
        <p:spPr bwMode="auto">
          <a:xfrm flipV="1">
            <a:off x="8534400" y="3581400"/>
            <a:ext cx="0" cy="38100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9" name="Line 100"/>
          <p:cNvSpPr>
            <a:spLocks noChangeShapeType="1"/>
          </p:cNvSpPr>
          <p:nvPr/>
        </p:nvSpPr>
        <p:spPr bwMode="auto">
          <a:xfrm>
            <a:off x="7253288" y="3810000"/>
            <a:ext cx="0" cy="201453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0" name="Line 101"/>
          <p:cNvSpPr>
            <a:spLocks noChangeShapeType="1"/>
          </p:cNvSpPr>
          <p:nvPr/>
        </p:nvSpPr>
        <p:spPr bwMode="auto">
          <a:xfrm>
            <a:off x="7102475" y="3929063"/>
            <a:ext cx="0" cy="1006475"/>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1" name="Line 102"/>
          <p:cNvSpPr>
            <a:spLocks noChangeShapeType="1"/>
          </p:cNvSpPr>
          <p:nvPr/>
        </p:nvSpPr>
        <p:spPr bwMode="auto">
          <a:xfrm>
            <a:off x="6951663" y="2979738"/>
            <a:ext cx="0" cy="1719262"/>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2" name="Line 103"/>
          <p:cNvSpPr>
            <a:spLocks noChangeShapeType="1"/>
          </p:cNvSpPr>
          <p:nvPr/>
        </p:nvSpPr>
        <p:spPr bwMode="auto">
          <a:xfrm>
            <a:off x="6800850" y="3987800"/>
            <a:ext cx="0" cy="830263"/>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3" name="Line 104"/>
          <p:cNvSpPr>
            <a:spLocks noChangeShapeType="1"/>
          </p:cNvSpPr>
          <p:nvPr/>
        </p:nvSpPr>
        <p:spPr bwMode="auto">
          <a:xfrm flipH="1">
            <a:off x="7253288" y="4462463"/>
            <a:ext cx="301625"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4" name="Line 105"/>
          <p:cNvSpPr>
            <a:spLocks noChangeShapeType="1"/>
          </p:cNvSpPr>
          <p:nvPr/>
        </p:nvSpPr>
        <p:spPr bwMode="auto">
          <a:xfrm flipH="1">
            <a:off x="7102475" y="4579938"/>
            <a:ext cx="452438"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5" name="Line 106"/>
          <p:cNvSpPr>
            <a:spLocks noChangeShapeType="1"/>
          </p:cNvSpPr>
          <p:nvPr/>
        </p:nvSpPr>
        <p:spPr bwMode="auto">
          <a:xfrm flipH="1">
            <a:off x="6800850" y="4818063"/>
            <a:ext cx="754063"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6" name="Line 107"/>
          <p:cNvSpPr>
            <a:spLocks noChangeShapeType="1"/>
          </p:cNvSpPr>
          <p:nvPr/>
        </p:nvSpPr>
        <p:spPr bwMode="auto">
          <a:xfrm flipH="1">
            <a:off x="6951663" y="4699000"/>
            <a:ext cx="603250"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7" name="Rectangle 108"/>
          <p:cNvSpPr>
            <a:spLocks noChangeArrowheads="1"/>
          </p:cNvSpPr>
          <p:nvPr/>
        </p:nvSpPr>
        <p:spPr bwMode="auto">
          <a:xfrm>
            <a:off x="838200" y="2895600"/>
            <a:ext cx="10668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来自指令</a:t>
            </a:r>
            <a:endParaRPr lang="zh-CN" altLang="en-US" sz="2400">
              <a:solidFill>
                <a:schemeClr val="tx2"/>
              </a:solidFill>
              <a:latin typeface="楷体_GB2312" pitchFamily="49" charset="-122"/>
              <a:sym typeface="Symbol" panose="05050102010706020507" pitchFamily="18" charset="2"/>
            </a:endParaRPr>
          </a:p>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Cache</a:t>
            </a:r>
            <a:endParaRPr lang="zh-CN" altLang="zh-CN" sz="2400">
              <a:solidFill>
                <a:schemeClr val="tx2"/>
              </a:solidFill>
              <a:latin typeface="楷体_GB2312" pitchFamily="49" charset="-122"/>
            </a:endParaRPr>
          </a:p>
        </p:txBody>
      </p:sp>
      <p:sp>
        <p:nvSpPr>
          <p:cNvPr id="234558" name="Rectangle 109"/>
          <p:cNvSpPr>
            <a:spLocks noChangeArrowheads="1"/>
          </p:cNvSpPr>
          <p:nvPr/>
        </p:nvSpPr>
        <p:spPr bwMode="auto">
          <a:xfrm>
            <a:off x="762000" y="5181600"/>
            <a:ext cx="10668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来自指令</a:t>
            </a:r>
            <a:endParaRPr lang="zh-CN" altLang="en-US" sz="2400">
              <a:solidFill>
                <a:schemeClr val="tx2"/>
              </a:solidFill>
              <a:latin typeface="楷体_GB2312" pitchFamily="49" charset="-122"/>
              <a:sym typeface="Symbol" panose="05050102010706020507" pitchFamily="18" charset="2"/>
            </a:endParaRPr>
          </a:p>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Cache</a:t>
            </a:r>
            <a:endParaRPr lang="zh-CN" altLang="zh-CN" sz="2400">
              <a:solidFill>
                <a:schemeClr val="tx2"/>
              </a:solidFill>
              <a:latin typeface="楷体_GB2312" pitchFamily="49" charset="-122"/>
            </a:endParaRPr>
          </a:p>
        </p:txBody>
      </p:sp>
      <p:sp>
        <p:nvSpPr>
          <p:cNvPr id="234559" name="Line 110"/>
          <p:cNvSpPr>
            <a:spLocks noChangeShapeType="1"/>
          </p:cNvSpPr>
          <p:nvPr/>
        </p:nvSpPr>
        <p:spPr bwMode="auto">
          <a:xfrm>
            <a:off x="838200" y="3505200"/>
            <a:ext cx="0" cy="48418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60" name="Line 111"/>
          <p:cNvSpPr>
            <a:spLocks noChangeShapeType="1"/>
          </p:cNvSpPr>
          <p:nvPr/>
        </p:nvSpPr>
        <p:spPr bwMode="auto">
          <a:xfrm>
            <a:off x="838200" y="4648200"/>
            <a:ext cx="0" cy="484188"/>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61" name="Rectangle 112"/>
          <p:cNvSpPr>
            <a:spLocks noChangeArrowheads="1"/>
          </p:cNvSpPr>
          <p:nvPr/>
        </p:nvSpPr>
        <p:spPr bwMode="auto">
          <a:xfrm>
            <a:off x="7162800" y="4953000"/>
            <a:ext cx="1793875" cy="725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通用寄存器</a:t>
            </a:r>
            <a:endParaRPr lang="zh-CN" altLang="zh-CN" sz="2400">
              <a:solidFill>
                <a:schemeClr val="tx2"/>
              </a:solidFill>
              <a:latin typeface="楷体_GB2312" pitchFamily="49" charset="-122"/>
              <a:sym typeface="Symbol" panose="05050102010706020507" pitchFamily="18" charset="2"/>
            </a:endParaRPr>
          </a:p>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后行写数栈</a:t>
            </a:r>
            <a:endParaRPr lang="zh-CN" altLang="zh-CN" sz="2400">
              <a:solidFill>
                <a:schemeClr val="tx2"/>
              </a:solidFill>
              <a:latin typeface="楷体_GB2312" pitchFamily="49" charset="-122"/>
            </a:endParaRPr>
          </a:p>
        </p:txBody>
      </p:sp>
      <p:sp>
        <p:nvSpPr>
          <p:cNvPr id="234562" name="Rectangle 113"/>
          <p:cNvSpPr>
            <a:spLocks noChangeArrowheads="1"/>
          </p:cNvSpPr>
          <p:nvPr/>
        </p:nvSpPr>
        <p:spPr bwMode="auto">
          <a:xfrm>
            <a:off x="7162800" y="2895600"/>
            <a:ext cx="1793875" cy="725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通用寄存器</a:t>
            </a:r>
            <a:endParaRPr lang="zh-CN" altLang="zh-CN" sz="2400">
              <a:solidFill>
                <a:schemeClr val="tx2"/>
              </a:solidFill>
              <a:latin typeface="楷体_GB2312" pitchFamily="49" charset="-122"/>
              <a:sym typeface="Symbol" panose="05050102010706020507" pitchFamily="18" charset="2"/>
            </a:endParaRPr>
          </a:p>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后行写数栈</a:t>
            </a:r>
            <a:endParaRPr lang="zh-CN" altLang="zh-CN" sz="2400">
              <a:solidFill>
                <a:schemeClr val="tx2"/>
              </a:solidFill>
              <a:latin typeface="楷体_GB2312" pitchFamily="49" charset="-122"/>
            </a:endParaRPr>
          </a:p>
        </p:txBody>
      </p:sp>
      <p:sp>
        <p:nvSpPr>
          <p:cNvPr id="234563" name="Line 114"/>
          <p:cNvSpPr>
            <a:spLocks noChangeShapeType="1"/>
          </p:cNvSpPr>
          <p:nvPr/>
        </p:nvSpPr>
        <p:spPr bwMode="auto">
          <a:xfrm>
            <a:off x="8305800" y="3962400"/>
            <a:ext cx="228600"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64" name="Line 115"/>
          <p:cNvSpPr>
            <a:spLocks noChangeShapeType="1"/>
          </p:cNvSpPr>
          <p:nvPr/>
        </p:nvSpPr>
        <p:spPr bwMode="auto">
          <a:xfrm>
            <a:off x="8305800" y="4648200"/>
            <a:ext cx="228600"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9090" name="Rectangle 2"/>
          <p:cNvSpPr>
            <a:spLocks noGrp="1" noChangeArrowheads="1"/>
          </p:cNvSpPr>
          <p:nvPr>
            <p:ph type="title"/>
          </p:nvPr>
        </p:nvSpPr>
        <p:spPr/>
        <p:txBody>
          <a:bodyPr/>
          <a:lstStyle/>
          <a:p>
            <a:pPr eaLnBrk="1" hangingPunct="1">
              <a:defRPr/>
            </a:pPr>
            <a:r>
              <a:rPr lang="zh-CN" altLang="en-US" smtClean="0"/>
              <a:t>超标量处理机</a:t>
            </a:r>
            <a:br>
              <a:rPr lang="zh-CN" altLang="en-US" sz="3200" smtClean="0"/>
            </a:br>
            <a:r>
              <a:rPr lang="zh-CN" altLang="en-US" sz="3200" smtClean="0"/>
              <a:t>                       — 时空图</a:t>
            </a:r>
            <a:endParaRPr lang="zh-CN" altLang="en-US" sz="3200" smtClean="0"/>
          </a:p>
        </p:txBody>
      </p:sp>
      <p:sp>
        <p:nvSpPr>
          <p:cNvPr id="2355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工作原理</a:t>
            </a:r>
            <a:endParaRPr lang="zh-CN" altLang="en-US" sz="1200" b="0">
              <a:latin typeface="Times New Roman" panose="02020603050405020304" pitchFamily="18" charset="0"/>
              <a:ea typeface="幼圆" panose="02010509060101010101" pitchFamily="49" charset="-122"/>
            </a:endParaRPr>
          </a:p>
        </p:txBody>
      </p:sp>
      <p:sp>
        <p:nvSpPr>
          <p:cNvPr id="235524"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2</a:t>
            </a:r>
            <a:endParaRPr lang="zh-CN" altLang="en-US" sz="1200" b="0">
              <a:latin typeface="幼圆" panose="02010509060101010101" pitchFamily="49" charset="-122"/>
              <a:ea typeface="幼圆" panose="02010509060101010101" pitchFamily="49" charset="-122"/>
            </a:endParaRPr>
          </a:p>
        </p:txBody>
      </p:sp>
      <p:sp>
        <p:nvSpPr>
          <p:cNvPr id="235525" name="Rectangle 31"/>
          <p:cNvSpPr>
            <a:spLocks noChangeArrowheads="1"/>
          </p:cNvSpPr>
          <p:nvPr/>
        </p:nvSpPr>
        <p:spPr bwMode="auto">
          <a:xfrm>
            <a:off x="1600200" y="255270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IF</a:t>
            </a:r>
            <a:endParaRPr lang="zh-CN" altLang="zh-CN" sz="2400">
              <a:solidFill>
                <a:schemeClr val="tx2"/>
              </a:solidFill>
              <a:latin typeface="Comic Sans MS" panose="030F0702030302020204" pitchFamily="66" charset="0"/>
            </a:endParaRPr>
          </a:p>
        </p:txBody>
      </p:sp>
      <p:sp>
        <p:nvSpPr>
          <p:cNvPr id="235526" name="Line 32"/>
          <p:cNvSpPr>
            <a:spLocks noChangeShapeType="1"/>
          </p:cNvSpPr>
          <p:nvPr/>
        </p:nvSpPr>
        <p:spPr bwMode="auto">
          <a:xfrm flipV="1">
            <a:off x="1600200" y="2552700"/>
            <a:ext cx="0" cy="377190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5527" name="Rectangle 33"/>
          <p:cNvSpPr>
            <a:spLocks noChangeArrowheads="1"/>
          </p:cNvSpPr>
          <p:nvPr/>
        </p:nvSpPr>
        <p:spPr bwMode="auto">
          <a:xfrm>
            <a:off x="7696200" y="2266950"/>
            <a:ext cx="990600" cy="628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时钟</a:t>
            </a:r>
            <a:br>
              <a:rPr lang="zh-CN" altLang="zh-CN" sz="2800">
                <a:solidFill>
                  <a:schemeClr val="tx2"/>
                </a:solidFill>
                <a:latin typeface="Book Antiqua" panose="02040602050305030304" pitchFamily="18" charset="0"/>
                <a:sym typeface="Symbol" panose="05050102010706020507" pitchFamily="18" charset="2"/>
              </a:rPr>
            </a:br>
            <a:r>
              <a:rPr lang="zh-CN" altLang="zh-CN" sz="2800">
                <a:solidFill>
                  <a:schemeClr val="tx2"/>
                </a:solidFill>
                <a:latin typeface="Book Antiqua" panose="02040602050305030304" pitchFamily="18" charset="0"/>
                <a:sym typeface="Symbol" panose="05050102010706020507" pitchFamily="18" charset="2"/>
              </a:rPr>
              <a:t>周期</a:t>
            </a:r>
            <a:endParaRPr lang="zh-CN" altLang="zh-CN" sz="2800">
              <a:solidFill>
                <a:schemeClr val="tx2"/>
              </a:solidFill>
              <a:latin typeface="Book Antiqua" panose="02040602050305030304" pitchFamily="18" charset="0"/>
            </a:endParaRPr>
          </a:p>
        </p:txBody>
      </p:sp>
      <p:sp>
        <p:nvSpPr>
          <p:cNvPr id="235528" name="Rectangle 34"/>
          <p:cNvSpPr>
            <a:spLocks noChangeArrowheads="1"/>
          </p:cNvSpPr>
          <p:nvPr/>
        </p:nvSpPr>
        <p:spPr bwMode="auto">
          <a:xfrm>
            <a:off x="1676400" y="5810250"/>
            <a:ext cx="990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指令</a:t>
            </a:r>
            <a:endParaRPr lang="zh-CN" altLang="zh-CN" sz="2800">
              <a:solidFill>
                <a:schemeClr val="tx2"/>
              </a:solidFill>
              <a:latin typeface="Book Antiqua" panose="02040602050305030304" pitchFamily="18" charset="0"/>
            </a:endParaRPr>
          </a:p>
        </p:txBody>
      </p:sp>
      <p:sp>
        <p:nvSpPr>
          <p:cNvPr id="235529" name="Rectangle 35"/>
          <p:cNvSpPr>
            <a:spLocks noChangeArrowheads="1"/>
          </p:cNvSpPr>
          <p:nvPr/>
        </p:nvSpPr>
        <p:spPr bwMode="auto">
          <a:xfrm>
            <a:off x="990600" y="25527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I</a:t>
            </a:r>
            <a:r>
              <a:rPr lang="zh-CN" altLang="zh-CN" sz="2800" baseline="-25000">
                <a:solidFill>
                  <a:schemeClr val="tx2"/>
                </a:solidFill>
                <a:latin typeface="Book Antiqua" panose="02040602050305030304" pitchFamily="18" charset="0"/>
                <a:sym typeface="Symbol" panose="05050102010706020507" pitchFamily="18" charset="2"/>
              </a:rPr>
              <a:t>1</a:t>
            </a:r>
            <a:endParaRPr lang="en-US" altLang="zh-CN" sz="2800">
              <a:solidFill>
                <a:schemeClr val="tx2"/>
              </a:solidFill>
              <a:latin typeface="Book Antiqua" panose="02040602050305030304" pitchFamily="18" charset="0"/>
            </a:endParaRPr>
          </a:p>
        </p:txBody>
      </p:sp>
      <p:sp>
        <p:nvSpPr>
          <p:cNvPr id="235530" name="Line 36"/>
          <p:cNvSpPr>
            <a:spLocks noChangeShapeType="1"/>
          </p:cNvSpPr>
          <p:nvPr/>
        </p:nvSpPr>
        <p:spPr bwMode="auto">
          <a:xfrm>
            <a:off x="1600200" y="2552700"/>
            <a:ext cx="6142038" cy="1588"/>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5531" name="Rectangle 37"/>
          <p:cNvSpPr>
            <a:spLocks noChangeArrowheads="1"/>
          </p:cNvSpPr>
          <p:nvPr/>
        </p:nvSpPr>
        <p:spPr bwMode="auto">
          <a:xfrm>
            <a:off x="990600" y="295275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I</a:t>
            </a:r>
            <a:r>
              <a:rPr lang="zh-CN" altLang="zh-CN" sz="2800" baseline="-25000">
                <a:solidFill>
                  <a:schemeClr val="tx2"/>
                </a:solidFill>
                <a:latin typeface="Book Antiqua" panose="02040602050305030304" pitchFamily="18" charset="0"/>
                <a:sym typeface="Symbol" panose="05050102010706020507" pitchFamily="18" charset="2"/>
              </a:rPr>
              <a:t>2</a:t>
            </a:r>
            <a:endParaRPr lang="en-US" altLang="zh-CN" sz="2800">
              <a:solidFill>
                <a:schemeClr val="tx2"/>
              </a:solidFill>
              <a:latin typeface="Book Antiqua" panose="02040602050305030304" pitchFamily="18" charset="0"/>
            </a:endParaRPr>
          </a:p>
        </p:txBody>
      </p:sp>
      <p:sp>
        <p:nvSpPr>
          <p:cNvPr id="235532" name="Rectangle 38"/>
          <p:cNvSpPr>
            <a:spLocks noChangeArrowheads="1"/>
          </p:cNvSpPr>
          <p:nvPr/>
        </p:nvSpPr>
        <p:spPr bwMode="auto">
          <a:xfrm>
            <a:off x="990600" y="340995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I</a:t>
            </a:r>
            <a:r>
              <a:rPr lang="zh-CN" altLang="zh-CN" sz="2800" baseline="-25000">
                <a:solidFill>
                  <a:schemeClr val="tx2"/>
                </a:solidFill>
                <a:latin typeface="Book Antiqua" panose="02040602050305030304" pitchFamily="18" charset="0"/>
                <a:sym typeface="Symbol" panose="05050102010706020507" pitchFamily="18" charset="2"/>
              </a:rPr>
              <a:t>3</a:t>
            </a:r>
            <a:endParaRPr lang="en-US" altLang="zh-CN" sz="2800">
              <a:solidFill>
                <a:schemeClr val="tx2"/>
              </a:solidFill>
              <a:latin typeface="Book Antiqua" panose="02040602050305030304" pitchFamily="18" charset="0"/>
            </a:endParaRPr>
          </a:p>
        </p:txBody>
      </p:sp>
      <p:sp>
        <p:nvSpPr>
          <p:cNvPr id="235533" name="Rectangle 39"/>
          <p:cNvSpPr>
            <a:spLocks noChangeArrowheads="1"/>
          </p:cNvSpPr>
          <p:nvPr/>
        </p:nvSpPr>
        <p:spPr bwMode="auto">
          <a:xfrm>
            <a:off x="2590800" y="255270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ID</a:t>
            </a:r>
            <a:endParaRPr lang="zh-CN" altLang="zh-CN" sz="2400">
              <a:solidFill>
                <a:schemeClr val="tx2"/>
              </a:solidFill>
              <a:latin typeface="Comic Sans MS" panose="030F0702030302020204" pitchFamily="66" charset="0"/>
            </a:endParaRPr>
          </a:p>
        </p:txBody>
      </p:sp>
      <p:sp>
        <p:nvSpPr>
          <p:cNvPr id="235534" name="Rectangle 40"/>
          <p:cNvSpPr>
            <a:spLocks noChangeArrowheads="1"/>
          </p:cNvSpPr>
          <p:nvPr/>
        </p:nvSpPr>
        <p:spPr bwMode="auto">
          <a:xfrm>
            <a:off x="3581400" y="255270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EX</a:t>
            </a:r>
            <a:endParaRPr lang="zh-CN" altLang="zh-CN" sz="2400">
              <a:solidFill>
                <a:schemeClr val="tx2"/>
              </a:solidFill>
              <a:latin typeface="Comic Sans MS" panose="030F0702030302020204" pitchFamily="66" charset="0"/>
            </a:endParaRPr>
          </a:p>
        </p:txBody>
      </p:sp>
      <p:sp>
        <p:nvSpPr>
          <p:cNvPr id="235535" name="Rectangle 41"/>
          <p:cNvSpPr>
            <a:spLocks noChangeArrowheads="1"/>
          </p:cNvSpPr>
          <p:nvPr/>
        </p:nvSpPr>
        <p:spPr bwMode="auto">
          <a:xfrm>
            <a:off x="4572000" y="255270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WR</a:t>
            </a:r>
            <a:endParaRPr lang="zh-CN" altLang="zh-CN" sz="2400">
              <a:solidFill>
                <a:schemeClr val="tx2"/>
              </a:solidFill>
              <a:latin typeface="Comic Sans MS" panose="030F0702030302020204" pitchFamily="66" charset="0"/>
            </a:endParaRPr>
          </a:p>
        </p:txBody>
      </p:sp>
      <p:sp>
        <p:nvSpPr>
          <p:cNvPr id="235536" name="Rectangle 42"/>
          <p:cNvSpPr>
            <a:spLocks noChangeArrowheads="1"/>
          </p:cNvSpPr>
          <p:nvPr/>
        </p:nvSpPr>
        <p:spPr bwMode="auto">
          <a:xfrm>
            <a:off x="1828800" y="22098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1</a:t>
            </a:r>
            <a:endParaRPr lang="zh-CN" altLang="zh-CN" sz="2800">
              <a:solidFill>
                <a:schemeClr val="tx2"/>
              </a:solidFill>
              <a:latin typeface="Book Antiqua" panose="02040602050305030304" pitchFamily="18" charset="0"/>
            </a:endParaRPr>
          </a:p>
        </p:txBody>
      </p:sp>
      <p:sp>
        <p:nvSpPr>
          <p:cNvPr id="235537" name="Rectangle 43"/>
          <p:cNvSpPr>
            <a:spLocks noChangeArrowheads="1"/>
          </p:cNvSpPr>
          <p:nvPr/>
        </p:nvSpPr>
        <p:spPr bwMode="auto">
          <a:xfrm>
            <a:off x="2819400" y="22098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2</a:t>
            </a:r>
            <a:endParaRPr lang="zh-CN" altLang="zh-CN" sz="2800">
              <a:solidFill>
                <a:schemeClr val="tx2"/>
              </a:solidFill>
              <a:latin typeface="Book Antiqua" panose="02040602050305030304" pitchFamily="18" charset="0"/>
            </a:endParaRPr>
          </a:p>
        </p:txBody>
      </p:sp>
      <p:sp>
        <p:nvSpPr>
          <p:cNvPr id="235538" name="Rectangle 44"/>
          <p:cNvSpPr>
            <a:spLocks noChangeArrowheads="1"/>
          </p:cNvSpPr>
          <p:nvPr/>
        </p:nvSpPr>
        <p:spPr bwMode="auto">
          <a:xfrm>
            <a:off x="3810000" y="22098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3</a:t>
            </a:r>
            <a:endParaRPr lang="zh-CN" altLang="zh-CN" sz="2800">
              <a:solidFill>
                <a:schemeClr val="tx2"/>
              </a:solidFill>
              <a:latin typeface="Book Antiqua" panose="02040602050305030304" pitchFamily="18" charset="0"/>
            </a:endParaRPr>
          </a:p>
        </p:txBody>
      </p:sp>
      <p:sp>
        <p:nvSpPr>
          <p:cNvPr id="235539" name="Rectangle 45"/>
          <p:cNvSpPr>
            <a:spLocks noChangeArrowheads="1"/>
          </p:cNvSpPr>
          <p:nvPr/>
        </p:nvSpPr>
        <p:spPr bwMode="auto">
          <a:xfrm>
            <a:off x="4724400" y="22098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4</a:t>
            </a:r>
            <a:endParaRPr lang="zh-CN" altLang="zh-CN" sz="2800">
              <a:solidFill>
                <a:schemeClr val="tx2"/>
              </a:solidFill>
              <a:latin typeface="Book Antiqua" panose="02040602050305030304" pitchFamily="18" charset="0"/>
            </a:endParaRPr>
          </a:p>
        </p:txBody>
      </p:sp>
      <p:sp>
        <p:nvSpPr>
          <p:cNvPr id="235540" name="Rectangle 46"/>
          <p:cNvSpPr>
            <a:spLocks noChangeArrowheads="1"/>
          </p:cNvSpPr>
          <p:nvPr/>
        </p:nvSpPr>
        <p:spPr bwMode="auto">
          <a:xfrm>
            <a:off x="5715000" y="22098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5</a:t>
            </a:r>
            <a:endParaRPr lang="zh-CN" altLang="zh-CN" sz="2800">
              <a:solidFill>
                <a:schemeClr val="tx2"/>
              </a:solidFill>
              <a:latin typeface="Book Antiqua" panose="02040602050305030304" pitchFamily="18" charset="0"/>
            </a:endParaRPr>
          </a:p>
        </p:txBody>
      </p:sp>
      <p:sp>
        <p:nvSpPr>
          <p:cNvPr id="235541" name="Rectangle 47"/>
          <p:cNvSpPr>
            <a:spLocks noChangeArrowheads="1"/>
          </p:cNvSpPr>
          <p:nvPr/>
        </p:nvSpPr>
        <p:spPr bwMode="auto">
          <a:xfrm>
            <a:off x="6705600" y="22098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6</a:t>
            </a:r>
            <a:endParaRPr lang="zh-CN" altLang="zh-CN" sz="2800">
              <a:solidFill>
                <a:schemeClr val="tx2"/>
              </a:solidFill>
              <a:latin typeface="Book Antiqua" panose="02040602050305030304" pitchFamily="18" charset="0"/>
            </a:endParaRPr>
          </a:p>
        </p:txBody>
      </p:sp>
      <p:sp>
        <p:nvSpPr>
          <p:cNvPr id="235542" name="Rectangle 48"/>
          <p:cNvSpPr>
            <a:spLocks noChangeArrowheads="1"/>
          </p:cNvSpPr>
          <p:nvPr/>
        </p:nvSpPr>
        <p:spPr bwMode="auto">
          <a:xfrm>
            <a:off x="990600" y="375285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I</a:t>
            </a:r>
            <a:r>
              <a:rPr lang="zh-CN" altLang="zh-CN" sz="2800" baseline="-25000">
                <a:solidFill>
                  <a:schemeClr val="tx2"/>
                </a:solidFill>
                <a:latin typeface="Book Antiqua" panose="02040602050305030304" pitchFamily="18" charset="0"/>
                <a:sym typeface="Symbol" panose="05050102010706020507" pitchFamily="18" charset="2"/>
              </a:rPr>
              <a:t>4</a:t>
            </a:r>
            <a:endParaRPr lang="en-US" altLang="zh-CN" sz="2800">
              <a:solidFill>
                <a:schemeClr val="tx2"/>
              </a:solidFill>
              <a:latin typeface="Book Antiqua" panose="02040602050305030304" pitchFamily="18" charset="0"/>
            </a:endParaRPr>
          </a:p>
        </p:txBody>
      </p:sp>
      <p:sp>
        <p:nvSpPr>
          <p:cNvPr id="235543" name="Rectangle 49"/>
          <p:cNvSpPr>
            <a:spLocks noChangeArrowheads="1"/>
          </p:cNvSpPr>
          <p:nvPr/>
        </p:nvSpPr>
        <p:spPr bwMode="auto">
          <a:xfrm>
            <a:off x="990600" y="41529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I</a:t>
            </a:r>
            <a:r>
              <a:rPr lang="zh-CN" altLang="zh-CN" sz="2800" baseline="-25000">
                <a:solidFill>
                  <a:schemeClr val="tx2"/>
                </a:solidFill>
                <a:latin typeface="Book Antiqua" panose="02040602050305030304" pitchFamily="18" charset="0"/>
                <a:sym typeface="Symbol" panose="05050102010706020507" pitchFamily="18" charset="2"/>
              </a:rPr>
              <a:t>5</a:t>
            </a:r>
            <a:endParaRPr lang="en-US" altLang="zh-CN" sz="2800">
              <a:solidFill>
                <a:schemeClr val="tx2"/>
              </a:solidFill>
              <a:latin typeface="Book Antiqua" panose="02040602050305030304" pitchFamily="18" charset="0"/>
            </a:endParaRPr>
          </a:p>
        </p:txBody>
      </p:sp>
      <p:sp>
        <p:nvSpPr>
          <p:cNvPr id="235544" name="Rectangle 50"/>
          <p:cNvSpPr>
            <a:spLocks noChangeArrowheads="1"/>
          </p:cNvSpPr>
          <p:nvPr/>
        </p:nvSpPr>
        <p:spPr bwMode="auto">
          <a:xfrm>
            <a:off x="990600" y="46101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I</a:t>
            </a:r>
            <a:r>
              <a:rPr lang="zh-CN" altLang="zh-CN" sz="2800" baseline="-25000">
                <a:solidFill>
                  <a:schemeClr val="tx2"/>
                </a:solidFill>
                <a:latin typeface="Book Antiqua" panose="02040602050305030304" pitchFamily="18" charset="0"/>
                <a:sym typeface="Symbol" panose="05050102010706020507" pitchFamily="18" charset="2"/>
              </a:rPr>
              <a:t>6</a:t>
            </a:r>
            <a:endParaRPr lang="en-US" altLang="zh-CN" sz="2800">
              <a:solidFill>
                <a:schemeClr val="tx2"/>
              </a:solidFill>
              <a:latin typeface="Book Antiqua" panose="02040602050305030304" pitchFamily="18" charset="0"/>
            </a:endParaRPr>
          </a:p>
        </p:txBody>
      </p:sp>
      <p:sp>
        <p:nvSpPr>
          <p:cNvPr id="235545" name="Rectangle 55"/>
          <p:cNvSpPr>
            <a:spLocks noChangeArrowheads="1"/>
          </p:cNvSpPr>
          <p:nvPr/>
        </p:nvSpPr>
        <p:spPr bwMode="auto">
          <a:xfrm>
            <a:off x="990600" y="49530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I</a:t>
            </a:r>
            <a:r>
              <a:rPr lang="zh-CN" altLang="zh-CN" sz="2800" baseline="-25000">
                <a:solidFill>
                  <a:schemeClr val="tx2"/>
                </a:solidFill>
                <a:latin typeface="Book Antiqua" panose="02040602050305030304" pitchFamily="18" charset="0"/>
                <a:sym typeface="Symbol" panose="05050102010706020507" pitchFamily="18" charset="2"/>
              </a:rPr>
              <a:t>7</a:t>
            </a:r>
            <a:endParaRPr lang="en-US" altLang="zh-CN" sz="2800">
              <a:solidFill>
                <a:schemeClr val="tx2"/>
              </a:solidFill>
              <a:latin typeface="Book Antiqua" panose="02040602050305030304" pitchFamily="18" charset="0"/>
            </a:endParaRPr>
          </a:p>
        </p:txBody>
      </p:sp>
      <p:sp>
        <p:nvSpPr>
          <p:cNvPr id="235546" name="Rectangle 56"/>
          <p:cNvSpPr>
            <a:spLocks noChangeArrowheads="1"/>
          </p:cNvSpPr>
          <p:nvPr/>
        </p:nvSpPr>
        <p:spPr bwMode="auto">
          <a:xfrm>
            <a:off x="990600" y="535305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anose="02040602050305030304" pitchFamily="18" charset="0"/>
                <a:sym typeface="Symbol" panose="05050102010706020507" pitchFamily="18" charset="2"/>
              </a:rPr>
              <a:t>I</a:t>
            </a:r>
            <a:r>
              <a:rPr lang="zh-CN" altLang="zh-CN" sz="2800" baseline="-25000">
                <a:solidFill>
                  <a:schemeClr val="tx2"/>
                </a:solidFill>
                <a:latin typeface="Book Antiqua" panose="02040602050305030304" pitchFamily="18" charset="0"/>
                <a:sym typeface="Symbol" panose="05050102010706020507" pitchFamily="18" charset="2"/>
              </a:rPr>
              <a:t>8</a:t>
            </a:r>
            <a:endParaRPr lang="en-US" altLang="zh-CN" sz="2800">
              <a:solidFill>
                <a:schemeClr val="tx2"/>
              </a:solidFill>
              <a:latin typeface="Book Antiqua" panose="02040602050305030304" pitchFamily="18" charset="0"/>
            </a:endParaRPr>
          </a:p>
        </p:txBody>
      </p:sp>
      <p:sp>
        <p:nvSpPr>
          <p:cNvPr id="235547" name="Rectangle 62"/>
          <p:cNvSpPr>
            <a:spLocks noChangeArrowheads="1"/>
          </p:cNvSpPr>
          <p:nvPr/>
        </p:nvSpPr>
        <p:spPr bwMode="auto">
          <a:xfrm>
            <a:off x="1600200" y="295275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IF</a:t>
            </a:r>
            <a:endParaRPr lang="zh-CN" altLang="zh-CN" sz="2400">
              <a:solidFill>
                <a:schemeClr val="tx2"/>
              </a:solidFill>
              <a:latin typeface="Comic Sans MS" panose="030F0702030302020204" pitchFamily="66" charset="0"/>
            </a:endParaRPr>
          </a:p>
        </p:txBody>
      </p:sp>
      <p:sp>
        <p:nvSpPr>
          <p:cNvPr id="235548" name="Rectangle 63"/>
          <p:cNvSpPr>
            <a:spLocks noChangeArrowheads="1"/>
          </p:cNvSpPr>
          <p:nvPr/>
        </p:nvSpPr>
        <p:spPr bwMode="auto">
          <a:xfrm>
            <a:off x="2590800" y="295275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ID</a:t>
            </a:r>
            <a:endParaRPr lang="zh-CN" altLang="zh-CN" sz="2400">
              <a:solidFill>
                <a:schemeClr val="tx2"/>
              </a:solidFill>
              <a:latin typeface="Comic Sans MS" panose="030F0702030302020204" pitchFamily="66" charset="0"/>
            </a:endParaRPr>
          </a:p>
        </p:txBody>
      </p:sp>
      <p:sp>
        <p:nvSpPr>
          <p:cNvPr id="235549" name="Rectangle 64"/>
          <p:cNvSpPr>
            <a:spLocks noChangeArrowheads="1"/>
          </p:cNvSpPr>
          <p:nvPr/>
        </p:nvSpPr>
        <p:spPr bwMode="auto">
          <a:xfrm>
            <a:off x="3581400" y="295275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EX</a:t>
            </a:r>
            <a:endParaRPr lang="zh-CN" altLang="zh-CN" sz="2400">
              <a:solidFill>
                <a:schemeClr val="tx2"/>
              </a:solidFill>
              <a:latin typeface="Comic Sans MS" panose="030F0702030302020204" pitchFamily="66" charset="0"/>
            </a:endParaRPr>
          </a:p>
        </p:txBody>
      </p:sp>
      <p:sp>
        <p:nvSpPr>
          <p:cNvPr id="235550" name="Rectangle 65"/>
          <p:cNvSpPr>
            <a:spLocks noChangeArrowheads="1"/>
          </p:cNvSpPr>
          <p:nvPr/>
        </p:nvSpPr>
        <p:spPr bwMode="auto">
          <a:xfrm>
            <a:off x="4572000" y="295275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WR</a:t>
            </a:r>
            <a:endParaRPr lang="zh-CN" altLang="zh-CN" sz="2400">
              <a:solidFill>
                <a:schemeClr val="tx2"/>
              </a:solidFill>
              <a:latin typeface="Comic Sans MS" panose="030F0702030302020204" pitchFamily="66" charset="0"/>
            </a:endParaRPr>
          </a:p>
        </p:txBody>
      </p:sp>
      <p:sp>
        <p:nvSpPr>
          <p:cNvPr id="235551" name="Rectangle 66"/>
          <p:cNvSpPr>
            <a:spLocks noChangeArrowheads="1"/>
          </p:cNvSpPr>
          <p:nvPr/>
        </p:nvSpPr>
        <p:spPr bwMode="auto">
          <a:xfrm>
            <a:off x="2590800" y="335280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IF</a:t>
            </a:r>
            <a:endParaRPr lang="zh-CN" altLang="zh-CN" sz="2400">
              <a:solidFill>
                <a:schemeClr val="tx2"/>
              </a:solidFill>
              <a:latin typeface="Comic Sans MS" panose="030F0702030302020204" pitchFamily="66" charset="0"/>
            </a:endParaRPr>
          </a:p>
        </p:txBody>
      </p:sp>
      <p:sp>
        <p:nvSpPr>
          <p:cNvPr id="235552" name="Rectangle 67"/>
          <p:cNvSpPr>
            <a:spLocks noChangeArrowheads="1"/>
          </p:cNvSpPr>
          <p:nvPr/>
        </p:nvSpPr>
        <p:spPr bwMode="auto">
          <a:xfrm>
            <a:off x="3581400" y="335280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ID</a:t>
            </a:r>
            <a:endParaRPr lang="zh-CN" altLang="zh-CN" sz="2400">
              <a:solidFill>
                <a:schemeClr val="tx2"/>
              </a:solidFill>
              <a:latin typeface="Comic Sans MS" panose="030F0702030302020204" pitchFamily="66" charset="0"/>
            </a:endParaRPr>
          </a:p>
        </p:txBody>
      </p:sp>
      <p:sp>
        <p:nvSpPr>
          <p:cNvPr id="235553" name="Rectangle 68"/>
          <p:cNvSpPr>
            <a:spLocks noChangeArrowheads="1"/>
          </p:cNvSpPr>
          <p:nvPr/>
        </p:nvSpPr>
        <p:spPr bwMode="auto">
          <a:xfrm>
            <a:off x="4572000" y="335280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EX</a:t>
            </a:r>
            <a:endParaRPr lang="zh-CN" altLang="zh-CN" sz="2400">
              <a:solidFill>
                <a:schemeClr val="tx2"/>
              </a:solidFill>
              <a:latin typeface="Comic Sans MS" panose="030F0702030302020204" pitchFamily="66" charset="0"/>
            </a:endParaRPr>
          </a:p>
        </p:txBody>
      </p:sp>
      <p:sp>
        <p:nvSpPr>
          <p:cNvPr id="235554" name="Rectangle 69"/>
          <p:cNvSpPr>
            <a:spLocks noChangeArrowheads="1"/>
          </p:cNvSpPr>
          <p:nvPr/>
        </p:nvSpPr>
        <p:spPr bwMode="auto">
          <a:xfrm>
            <a:off x="5562600" y="335280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WR</a:t>
            </a:r>
            <a:endParaRPr lang="zh-CN" altLang="zh-CN" sz="2400">
              <a:solidFill>
                <a:schemeClr val="tx2"/>
              </a:solidFill>
              <a:latin typeface="Comic Sans MS" panose="030F0702030302020204" pitchFamily="66" charset="0"/>
            </a:endParaRPr>
          </a:p>
        </p:txBody>
      </p:sp>
      <p:sp>
        <p:nvSpPr>
          <p:cNvPr id="235555" name="Rectangle 70"/>
          <p:cNvSpPr>
            <a:spLocks noChangeArrowheads="1"/>
          </p:cNvSpPr>
          <p:nvPr/>
        </p:nvSpPr>
        <p:spPr bwMode="auto">
          <a:xfrm>
            <a:off x="2590800" y="375285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IF</a:t>
            </a:r>
            <a:endParaRPr lang="zh-CN" altLang="zh-CN" sz="2400">
              <a:solidFill>
                <a:schemeClr val="tx2"/>
              </a:solidFill>
              <a:latin typeface="Comic Sans MS" panose="030F0702030302020204" pitchFamily="66" charset="0"/>
            </a:endParaRPr>
          </a:p>
        </p:txBody>
      </p:sp>
      <p:sp>
        <p:nvSpPr>
          <p:cNvPr id="235556" name="Rectangle 71"/>
          <p:cNvSpPr>
            <a:spLocks noChangeArrowheads="1"/>
          </p:cNvSpPr>
          <p:nvPr/>
        </p:nvSpPr>
        <p:spPr bwMode="auto">
          <a:xfrm>
            <a:off x="3581400" y="375285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ID</a:t>
            </a:r>
            <a:endParaRPr lang="zh-CN" altLang="zh-CN" sz="2400">
              <a:solidFill>
                <a:schemeClr val="tx2"/>
              </a:solidFill>
              <a:latin typeface="Comic Sans MS" panose="030F0702030302020204" pitchFamily="66" charset="0"/>
            </a:endParaRPr>
          </a:p>
        </p:txBody>
      </p:sp>
      <p:sp>
        <p:nvSpPr>
          <p:cNvPr id="235557" name="Rectangle 72"/>
          <p:cNvSpPr>
            <a:spLocks noChangeArrowheads="1"/>
          </p:cNvSpPr>
          <p:nvPr/>
        </p:nvSpPr>
        <p:spPr bwMode="auto">
          <a:xfrm>
            <a:off x="4572000" y="375285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EX</a:t>
            </a:r>
            <a:endParaRPr lang="zh-CN" altLang="zh-CN" sz="2400">
              <a:solidFill>
                <a:schemeClr val="tx2"/>
              </a:solidFill>
              <a:latin typeface="Comic Sans MS" panose="030F0702030302020204" pitchFamily="66" charset="0"/>
            </a:endParaRPr>
          </a:p>
        </p:txBody>
      </p:sp>
      <p:sp>
        <p:nvSpPr>
          <p:cNvPr id="235558" name="Rectangle 73"/>
          <p:cNvSpPr>
            <a:spLocks noChangeArrowheads="1"/>
          </p:cNvSpPr>
          <p:nvPr/>
        </p:nvSpPr>
        <p:spPr bwMode="auto">
          <a:xfrm>
            <a:off x="5562600" y="3752850"/>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WR</a:t>
            </a:r>
            <a:endParaRPr lang="zh-CN" altLang="zh-CN" sz="2400">
              <a:solidFill>
                <a:schemeClr val="tx2"/>
              </a:solidFill>
              <a:latin typeface="Comic Sans MS" panose="030F0702030302020204" pitchFamily="66" charset="0"/>
            </a:endParaRPr>
          </a:p>
        </p:txBody>
      </p:sp>
      <p:sp>
        <p:nvSpPr>
          <p:cNvPr id="235559" name="Rectangle 78"/>
          <p:cNvSpPr>
            <a:spLocks noChangeArrowheads="1"/>
          </p:cNvSpPr>
          <p:nvPr/>
        </p:nvSpPr>
        <p:spPr bwMode="auto">
          <a:xfrm>
            <a:off x="3581400" y="415448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IF</a:t>
            </a:r>
            <a:endParaRPr lang="zh-CN" altLang="zh-CN" sz="2400">
              <a:solidFill>
                <a:schemeClr val="tx2"/>
              </a:solidFill>
              <a:latin typeface="Comic Sans MS" panose="030F0702030302020204" pitchFamily="66" charset="0"/>
            </a:endParaRPr>
          </a:p>
        </p:txBody>
      </p:sp>
      <p:sp>
        <p:nvSpPr>
          <p:cNvPr id="235560" name="Rectangle 79"/>
          <p:cNvSpPr>
            <a:spLocks noChangeArrowheads="1"/>
          </p:cNvSpPr>
          <p:nvPr/>
        </p:nvSpPr>
        <p:spPr bwMode="auto">
          <a:xfrm>
            <a:off x="4572000" y="415448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ID</a:t>
            </a:r>
            <a:endParaRPr lang="zh-CN" altLang="zh-CN" sz="2400">
              <a:solidFill>
                <a:schemeClr val="tx2"/>
              </a:solidFill>
              <a:latin typeface="Comic Sans MS" panose="030F0702030302020204" pitchFamily="66" charset="0"/>
            </a:endParaRPr>
          </a:p>
        </p:txBody>
      </p:sp>
      <p:sp>
        <p:nvSpPr>
          <p:cNvPr id="235561" name="Rectangle 80"/>
          <p:cNvSpPr>
            <a:spLocks noChangeArrowheads="1"/>
          </p:cNvSpPr>
          <p:nvPr/>
        </p:nvSpPr>
        <p:spPr bwMode="auto">
          <a:xfrm>
            <a:off x="5562600" y="415448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EX</a:t>
            </a:r>
            <a:endParaRPr lang="zh-CN" altLang="zh-CN" sz="2400">
              <a:solidFill>
                <a:schemeClr val="tx2"/>
              </a:solidFill>
              <a:latin typeface="Comic Sans MS" panose="030F0702030302020204" pitchFamily="66" charset="0"/>
            </a:endParaRPr>
          </a:p>
        </p:txBody>
      </p:sp>
      <p:sp>
        <p:nvSpPr>
          <p:cNvPr id="235562" name="Rectangle 81"/>
          <p:cNvSpPr>
            <a:spLocks noChangeArrowheads="1"/>
          </p:cNvSpPr>
          <p:nvPr/>
        </p:nvSpPr>
        <p:spPr bwMode="auto">
          <a:xfrm>
            <a:off x="6553200" y="415448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WR</a:t>
            </a:r>
            <a:endParaRPr lang="zh-CN" altLang="zh-CN" sz="2400">
              <a:solidFill>
                <a:schemeClr val="tx2"/>
              </a:solidFill>
              <a:latin typeface="Comic Sans MS" panose="030F0702030302020204" pitchFamily="66" charset="0"/>
            </a:endParaRPr>
          </a:p>
        </p:txBody>
      </p:sp>
      <p:sp>
        <p:nvSpPr>
          <p:cNvPr id="235563" name="Rectangle 82"/>
          <p:cNvSpPr>
            <a:spLocks noChangeArrowheads="1"/>
          </p:cNvSpPr>
          <p:nvPr/>
        </p:nvSpPr>
        <p:spPr bwMode="auto">
          <a:xfrm>
            <a:off x="3581400" y="455453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IF</a:t>
            </a:r>
            <a:endParaRPr lang="zh-CN" altLang="zh-CN" sz="2400">
              <a:solidFill>
                <a:schemeClr val="tx2"/>
              </a:solidFill>
              <a:latin typeface="Comic Sans MS" panose="030F0702030302020204" pitchFamily="66" charset="0"/>
            </a:endParaRPr>
          </a:p>
        </p:txBody>
      </p:sp>
      <p:sp>
        <p:nvSpPr>
          <p:cNvPr id="235564" name="Rectangle 83"/>
          <p:cNvSpPr>
            <a:spLocks noChangeArrowheads="1"/>
          </p:cNvSpPr>
          <p:nvPr/>
        </p:nvSpPr>
        <p:spPr bwMode="auto">
          <a:xfrm>
            <a:off x="4572000" y="455453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ID</a:t>
            </a:r>
            <a:endParaRPr lang="zh-CN" altLang="zh-CN" sz="2400">
              <a:solidFill>
                <a:schemeClr val="tx2"/>
              </a:solidFill>
              <a:latin typeface="Comic Sans MS" panose="030F0702030302020204" pitchFamily="66" charset="0"/>
            </a:endParaRPr>
          </a:p>
        </p:txBody>
      </p:sp>
      <p:sp>
        <p:nvSpPr>
          <p:cNvPr id="235565" name="Rectangle 84"/>
          <p:cNvSpPr>
            <a:spLocks noChangeArrowheads="1"/>
          </p:cNvSpPr>
          <p:nvPr/>
        </p:nvSpPr>
        <p:spPr bwMode="auto">
          <a:xfrm>
            <a:off x="5562600" y="455453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EX</a:t>
            </a:r>
            <a:endParaRPr lang="zh-CN" altLang="zh-CN" sz="2400">
              <a:solidFill>
                <a:schemeClr val="tx2"/>
              </a:solidFill>
              <a:latin typeface="Comic Sans MS" panose="030F0702030302020204" pitchFamily="66" charset="0"/>
            </a:endParaRPr>
          </a:p>
        </p:txBody>
      </p:sp>
      <p:sp>
        <p:nvSpPr>
          <p:cNvPr id="235566" name="Rectangle 85"/>
          <p:cNvSpPr>
            <a:spLocks noChangeArrowheads="1"/>
          </p:cNvSpPr>
          <p:nvPr/>
        </p:nvSpPr>
        <p:spPr bwMode="auto">
          <a:xfrm>
            <a:off x="6553200" y="455453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WR</a:t>
            </a:r>
            <a:endParaRPr lang="zh-CN" altLang="zh-CN" sz="2400">
              <a:solidFill>
                <a:schemeClr val="tx2"/>
              </a:solidFill>
              <a:latin typeface="Comic Sans MS" panose="030F0702030302020204" pitchFamily="66" charset="0"/>
            </a:endParaRPr>
          </a:p>
        </p:txBody>
      </p:sp>
      <p:sp>
        <p:nvSpPr>
          <p:cNvPr id="235567" name="Rectangle 86"/>
          <p:cNvSpPr>
            <a:spLocks noChangeArrowheads="1"/>
          </p:cNvSpPr>
          <p:nvPr/>
        </p:nvSpPr>
        <p:spPr bwMode="auto">
          <a:xfrm>
            <a:off x="4587875" y="494823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IF</a:t>
            </a:r>
            <a:endParaRPr lang="zh-CN" altLang="zh-CN" sz="2400">
              <a:solidFill>
                <a:schemeClr val="tx2"/>
              </a:solidFill>
              <a:latin typeface="Comic Sans MS" panose="030F0702030302020204" pitchFamily="66" charset="0"/>
            </a:endParaRPr>
          </a:p>
        </p:txBody>
      </p:sp>
      <p:sp>
        <p:nvSpPr>
          <p:cNvPr id="235568" name="Rectangle 87"/>
          <p:cNvSpPr>
            <a:spLocks noChangeArrowheads="1"/>
          </p:cNvSpPr>
          <p:nvPr/>
        </p:nvSpPr>
        <p:spPr bwMode="auto">
          <a:xfrm>
            <a:off x="5578475" y="494823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ID</a:t>
            </a:r>
            <a:endParaRPr lang="zh-CN" altLang="zh-CN" sz="2400">
              <a:solidFill>
                <a:schemeClr val="tx2"/>
              </a:solidFill>
              <a:latin typeface="Comic Sans MS" panose="030F0702030302020204" pitchFamily="66" charset="0"/>
            </a:endParaRPr>
          </a:p>
        </p:txBody>
      </p:sp>
      <p:sp>
        <p:nvSpPr>
          <p:cNvPr id="235569" name="Rectangle 88"/>
          <p:cNvSpPr>
            <a:spLocks noChangeArrowheads="1"/>
          </p:cNvSpPr>
          <p:nvPr/>
        </p:nvSpPr>
        <p:spPr bwMode="auto">
          <a:xfrm>
            <a:off x="6569075" y="494823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EX</a:t>
            </a:r>
            <a:endParaRPr lang="zh-CN" altLang="zh-CN" sz="2400">
              <a:solidFill>
                <a:schemeClr val="tx2"/>
              </a:solidFill>
              <a:latin typeface="Comic Sans MS" panose="030F0702030302020204" pitchFamily="66" charset="0"/>
            </a:endParaRPr>
          </a:p>
        </p:txBody>
      </p:sp>
      <p:sp>
        <p:nvSpPr>
          <p:cNvPr id="235570" name="Rectangle 89"/>
          <p:cNvSpPr>
            <a:spLocks noChangeArrowheads="1"/>
          </p:cNvSpPr>
          <p:nvPr/>
        </p:nvSpPr>
        <p:spPr bwMode="auto">
          <a:xfrm>
            <a:off x="7559675" y="494823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WR</a:t>
            </a:r>
            <a:endParaRPr lang="zh-CN" altLang="zh-CN" sz="2400">
              <a:solidFill>
                <a:schemeClr val="tx2"/>
              </a:solidFill>
              <a:latin typeface="Comic Sans MS" panose="030F0702030302020204" pitchFamily="66" charset="0"/>
            </a:endParaRPr>
          </a:p>
        </p:txBody>
      </p:sp>
      <p:sp>
        <p:nvSpPr>
          <p:cNvPr id="235571" name="Rectangle 90"/>
          <p:cNvSpPr>
            <a:spLocks noChangeArrowheads="1"/>
          </p:cNvSpPr>
          <p:nvPr/>
        </p:nvSpPr>
        <p:spPr bwMode="auto">
          <a:xfrm>
            <a:off x="4587875" y="534828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IF</a:t>
            </a:r>
            <a:endParaRPr lang="zh-CN" altLang="zh-CN" sz="2400">
              <a:solidFill>
                <a:schemeClr val="tx2"/>
              </a:solidFill>
              <a:latin typeface="Comic Sans MS" panose="030F0702030302020204" pitchFamily="66" charset="0"/>
            </a:endParaRPr>
          </a:p>
        </p:txBody>
      </p:sp>
      <p:sp>
        <p:nvSpPr>
          <p:cNvPr id="235572" name="Rectangle 91"/>
          <p:cNvSpPr>
            <a:spLocks noChangeArrowheads="1"/>
          </p:cNvSpPr>
          <p:nvPr/>
        </p:nvSpPr>
        <p:spPr bwMode="auto">
          <a:xfrm>
            <a:off x="5578475" y="534828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ID</a:t>
            </a:r>
            <a:endParaRPr lang="zh-CN" altLang="zh-CN" sz="2400">
              <a:solidFill>
                <a:schemeClr val="tx2"/>
              </a:solidFill>
              <a:latin typeface="Comic Sans MS" panose="030F0702030302020204" pitchFamily="66" charset="0"/>
            </a:endParaRPr>
          </a:p>
        </p:txBody>
      </p:sp>
      <p:sp>
        <p:nvSpPr>
          <p:cNvPr id="235573" name="Rectangle 92"/>
          <p:cNvSpPr>
            <a:spLocks noChangeArrowheads="1"/>
          </p:cNvSpPr>
          <p:nvPr/>
        </p:nvSpPr>
        <p:spPr bwMode="auto">
          <a:xfrm>
            <a:off x="6569075" y="534828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EX</a:t>
            </a:r>
            <a:endParaRPr lang="zh-CN" altLang="zh-CN" sz="2400">
              <a:solidFill>
                <a:schemeClr val="tx2"/>
              </a:solidFill>
              <a:latin typeface="Comic Sans MS" panose="030F0702030302020204" pitchFamily="66" charset="0"/>
            </a:endParaRPr>
          </a:p>
        </p:txBody>
      </p:sp>
      <p:sp>
        <p:nvSpPr>
          <p:cNvPr id="235574" name="Rectangle 93"/>
          <p:cNvSpPr>
            <a:spLocks noChangeArrowheads="1"/>
          </p:cNvSpPr>
          <p:nvPr/>
        </p:nvSpPr>
        <p:spPr bwMode="auto">
          <a:xfrm>
            <a:off x="7559675" y="5348288"/>
            <a:ext cx="990600" cy="4000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anose="030F0702030302020204" pitchFamily="66" charset="0"/>
              </a:rPr>
              <a:t>WR</a:t>
            </a:r>
            <a:endParaRPr lang="zh-CN" altLang="zh-CN" sz="2400">
              <a:solidFill>
                <a:schemeClr val="tx2"/>
              </a:solidFill>
              <a:latin typeface="Comic Sans MS" panose="030F0702030302020204" pitchFamily="66" charset="0"/>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0114" name="Rectangle 2"/>
          <p:cNvSpPr>
            <a:spLocks noGrp="1" noChangeArrowheads="1"/>
          </p:cNvSpPr>
          <p:nvPr>
            <p:ph type="title"/>
          </p:nvPr>
        </p:nvSpPr>
        <p:spPr/>
        <p:txBody>
          <a:bodyPr/>
          <a:lstStyle/>
          <a:p>
            <a:pPr eaLnBrk="1" hangingPunct="1">
              <a:defRPr/>
            </a:pPr>
            <a:r>
              <a:rPr lang="zh-CN" altLang="en-US" smtClean="0"/>
              <a:t>超标量处理机</a:t>
            </a:r>
            <a:br>
              <a:rPr lang="zh-CN" altLang="en-US" sz="3200" smtClean="0"/>
            </a:br>
            <a:r>
              <a:rPr lang="zh-CN" altLang="en-US" sz="3200" smtClean="0"/>
              <a:t>                       — 解释</a:t>
            </a:r>
            <a:endParaRPr lang="zh-CN" altLang="en-US" sz="3200" smtClean="0"/>
          </a:p>
        </p:txBody>
      </p:sp>
      <p:sp>
        <p:nvSpPr>
          <p:cNvPr id="23654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工作原理</a:t>
            </a:r>
            <a:endParaRPr lang="zh-CN" altLang="en-US" sz="1200" b="0">
              <a:latin typeface="Times New Roman" panose="02020603050405020304" pitchFamily="18" charset="0"/>
              <a:ea typeface="幼圆" panose="02010509060101010101" pitchFamily="49" charset="-122"/>
            </a:endParaRPr>
          </a:p>
        </p:txBody>
      </p:sp>
      <p:sp>
        <p:nvSpPr>
          <p:cNvPr id="236548"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3</a:t>
            </a:r>
            <a:endParaRPr lang="zh-CN" altLang="en-US" sz="1200" b="0">
              <a:latin typeface="幼圆" panose="02010509060101010101" pitchFamily="49" charset="-122"/>
              <a:ea typeface="幼圆" panose="02010509060101010101" pitchFamily="49" charset="-122"/>
            </a:endParaRPr>
          </a:p>
        </p:txBody>
      </p:sp>
      <p:sp>
        <p:nvSpPr>
          <p:cNvPr id="236549" name="Rectangle 6"/>
          <p:cNvSpPr>
            <a:spLocks noGrp="1" noChangeArrowheads="1"/>
          </p:cNvSpPr>
          <p:nvPr>
            <p:ph type="body" idx="1"/>
          </p:nvPr>
        </p:nvSpPr>
        <p:spPr/>
        <p:txBody>
          <a:bodyPr/>
          <a:lstStyle/>
          <a:p>
            <a:pPr marL="0" indent="0" eaLnBrk="1" hangingPunct="1">
              <a:lnSpc>
                <a:spcPct val="120000"/>
              </a:lnSpc>
              <a:buFont typeface="Wingdings" panose="05000000000000000000" pitchFamily="2" charset="2"/>
              <a:buNone/>
            </a:pPr>
            <a:r>
              <a:rPr lang="zh-CN" altLang="en-US" sz="2800" dirty="0" smtClean="0"/>
              <a:t>    </a:t>
            </a:r>
            <a:r>
              <a:rPr lang="zh-CN" altLang="en-US" sz="2800" dirty="0" smtClean="0">
                <a:solidFill>
                  <a:srgbClr val="FF0000"/>
                </a:solidFill>
              </a:rPr>
              <a:t>超标量处理机必须有两条或两条以上能够同时工作的指令流水线，采用多发射方式</a:t>
            </a:r>
            <a:r>
              <a:rPr lang="zh-CN" altLang="en-US" sz="2800" dirty="0" smtClean="0"/>
              <a:t>：每个周期同时取多条指令、同时译码多条指令、同时执行多条指令、同时写回多个运算结果。需要多个取指令部件、多个指令译码部件和多个写结果部件，设置多个指令执行部件，复杂的指令执行部件一般采用流水线结构。</a:t>
            </a:r>
            <a:r>
              <a:rPr lang="zh-CN" altLang="en-US" sz="2800" dirty="0" smtClean="0">
                <a:solidFill>
                  <a:srgbClr val="0000FF"/>
                </a:solidFill>
              </a:rPr>
              <a:t>设计目标是每个时钟周期平均执行多条指令，</a:t>
            </a:r>
            <a:r>
              <a:rPr lang="en-US" altLang="zh-CN" sz="2800" dirty="0" smtClean="0">
                <a:solidFill>
                  <a:srgbClr val="0000FF"/>
                </a:solidFill>
              </a:rPr>
              <a:t>ILP</a:t>
            </a:r>
            <a:r>
              <a:rPr lang="zh-CN" altLang="en-US" sz="2800" dirty="0" smtClean="0">
                <a:solidFill>
                  <a:srgbClr val="0000FF"/>
                </a:solidFill>
              </a:rPr>
              <a:t>的期望值大于1。</a:t>
            </a:r>
            <a:endParaRPr lang="zh-CN" altLang="en-US" sz="2800" dirty="0" smtClean="0">
              <a:solidFill>
                <a:srgbClr val="0000FF"/>
              </a:solidFill>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1138" name="Rectangle 2"/>
          <p:cNvSpPr>
            <a:spLocks noGrp="1" noChangeArrowheads="1"/>
          </p:cNvSpPr>
          <p:nvPr>
            <p:ph type="title"/>
          </p:nvPr>
        </p:nvSpPr>
        <p:spPr/>
        <p:txBody>
          <a:bodyPr/>
          <a:lstStyle/>
          <a:p>
            <a:pPr eaLnBrk="1" hangingPunct="1">
              <a:defRPr/>
            </a:pPr>
            <a:r>
              <a:rPr lang="zh-CN" altLang="en-US" smtClean="0"/>
              <a:t>超标量处理机</a:t>
            </a:r>
            <a:br>
              <a:rPr lang="zh-CN" altLang="en-US" sz="3200" smtClean="0"/>
            </a:br>
            <a:r>
              <a:rPr lang="zh-CN" altLang="en-US" sz="3200" smtClean="0"/>
              <a:t>                       — 定义</a:t>
            </a:r>
            <a:endParaRPr lang="zh-CN" altLang="en-US" sz="3200" smtClean="0"/>
          </a:p>
        </p:txBody>
      </p:sp>
      <p:sp>
        <p:nvSpPr>
          <p:cNvPr id="2375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工作原理</a:t>
            </a:r>
            <a:endParaRPr lang="zh-CN" altLang="en-US" sz="1200" b="0">
              <a:latin typeface="Times New Roman" panose="02020603050405020304" pitchFamily="18" charset="0"/>
              <a:ea typeface="幼圆" panose="02010509060101010101" pitchFamily="49" charset="-122"/>
            </a:endParaRPr>
          </a:p>
        </p:txBody>
      </p:sp>
      <p:sp>
        <p:nvSpPr>
          <p:cNvPr id="237572"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4</a:t>
            </a:r>
            <a:endParaRPr lang="zh-CN" altLang="en-US" sz="1200" b="0">
              <a:latin typeface="幼圆" panose="02010509060101010101" pitchFamily="49" charset="-122"/>
              <a:ea typeface="幼圆" panose="02010509060101010101" pitchFamily="49" charset="-122"/>
            </a:endParaRPr>
          </a:p>
        </p:txBody>
      </p:sp>
      <p:sp>
        <p:nvSpPr>
          <p:cNvPr id="731142" name="Rectangle 6"/>
          <p:cNvSpPr>
            <a:spLocks noGrp="1" noChangeArrowheads="1"/>
          </p:cNvSpPr>
          <p:nvPr>
            <p:ph type="body" idx="1"/>
          </p:nvPr>
        </p:nvSpPr>
        <p:spPr>
          <a:xfrm>
            <a:off x="809625" y="1984375"/>
            <a:ext cx="7958138" cy="4416425"/>
          </a:xfrm>
        </p:spPr>
        <p:txBody>
          <a:bodyPr/>
          <a:lstStyle/>
          <a:p>
            <a:pPr marL="0" indent="0" eaLnBrk="1" hangingPunct="1">
              <a:lnSpc>
                <a:spcPct val="150000"/>
              </a:lnSpc>
              <a:buFont typeface="Wingdings" panose="05000000000000000000" pitchFamily="2" charset="2"/>
              <a:buNone/>
              <a:defRPr/>
            </a:pPr>
            <a:r>
              <a:rPr lang="zh-CN" altLang="en-US" sz="2800" dirty="0" smtClean="0"/>
              <a:t>    </a:t>
            </a:r>
            <a:r>
              <a:rPr lang="zh-CN" altLang="en-US" sz="2800" dirty="0" smtClean="0">
                <a:solidFill>
                  <a:srgbClr val="FF0000"/>
                </a:solidFill>
                <a:effectLst>
                  <a:outerShdw blurRad="38100" dist="38100" dir="2700000" algn="tl">
                    <a:srgbClr val="C0C0C0"/>
                  </a:outerShdw>
                </a:effectLst>
              </a:rPr>
              <a:t>一个时钟周期内能够同时发射多条指令的处理机称为超标量处理机。</a:t>
            </a:r>
            <a:r>
              <a:rPr lang="zh-CN" altLang="en-US" sz="2800" dirty="0" smtClean="0"/>
              <a:t>目前在多数超标量处理机中，每个时钟周期硬件可以发射1～8条不等数量的指令，可以通过编译器进行静态调度（</a:t>
            </a:r>
            <a:r>
              <a:rPr lang="zh-CN" altLang="en-US" sz="2800" dirty="0" smtClean="0">
                <a:solidFill>
                  <a:srgbClr val="0000FF"/>
                </a:solidFill>
              </a:rPr>
              <a:t>按序执行</a:t>
            </a:r>
            <a:r>
              <a:rPr lang="zh-CN" altLang="en-US" sz="2800" dirty="0" smtClean="0"/>
              <a:t>），也可以使用诸如记分板或</a:t>
            </a:r>
            <a:r>
              <a:rPr lang="en-US" altLang="zh-CN" sz="2800" dirty="0" err="1" smtClean="0"/>
              <a:t>Tomasulo</a:t>
            </a:r>
            <a:r>
              <a:rPr lang="zh-CN" altLang="en-US" sz="2800" dirty="0" smtClean="0"/>
              <a:t>算法的动态调度（</a:t>
            </a:r>
            <a:r>
              <a:rPr lang="zh-CN" altLang="en-US" sz="2800" dirty="0" smtClean="0">
                <a:solidFill>
                  <a:srgbClr val="0000FF"/>
                </a:solidFill>
              </a:rPr>
              <a:t>乱序执行</a:t>
            </a:r>
            <a:r>
              <a:rPr lang="zh-CN" altLang="en-US" sz="2800" dirty="0" smtClean="0"/>
              <a:t>）。</a:t>
            </a:r>
            <a:endParaRPr lang="zh-CN" altLang="en-US" sz="2800" dirty="0" smtClean="0"/>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2162" name="Rectangle 2"/>
          <p:cNvSpPr>
            <a:spLocks noGrp="1" noChangeArrowheads="1"/>
          </p:cNvSpPr>
          <p:nvPr>
            <p:ph type="title"/>
          </p:nvPr>
        </p:nvSpPr>
        <p:spPr/>
        <p:txBody>
          <a:bodyPr/>
          <a:lstStyle/>
          <a:p>
            <a:pPr eaLnBrk="1" hangingPunct="1">
              <a:defRPr/>
            </a:pPr>
            <a:r>
              <a:rPr lang="zh-CN" altLang="en-US" smtClean="0"/>
              <a:t>超标量处理机</a:t>
            </a:r>
            <a:br>
              <a:rPr lang="zh-CN" altLang="en-US" sz="3200" smtClean="0"/>
            </a:br>
            <a:r>
              <a:rPr lang="zh-CN" altLang="en-US" sz="3200" smtClean="0"/>
              <a:t>              — 先行指令窗口(1)</a:t>
            </a:r>
            <a:endParaRPr lang="zh-CN" altLang="en-US" sz="3200" smtClean="0"/>
          </a:p>
        </p:txBody>
      </p:sp>
      <p:sp>
        <p:nvSpPr>
          <p:cNvPr id="23859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工作原理</a:t>
            </a:r>
            <a:endParaRPr lang="zh-CN" altLang="en-US" sz="1200" b="0">
              <a:latin typeface="Times New Roman" panose="02020603050405020304" pitchFamily="18" charset="0"/>
              <a:ea typeface="幼圆" panose="02010509060101010101" pitchFamily="49" charset="-122"/>
            </a:endParaRPr>
          </a:p>
        </p:txBody>
      </p:sp>
      <p:sp>
        <p:nvSpPr>
          <p:cNvPr id="238596"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5</a:t>
            </a:r>
            <a:endParaRPr lang="zh-CN" altLang="en-US" sz="1200" b="0">
              <a:latin typeface="幼圆" panose="02010509060101010101" pitchFamily="49" charset="-122"/>
              <a:ea typeface="幼圆" panose="02010509060101010101" pitchFamily="49" charset="-122"/>
            </a:endParaRPr>
          </a:p>
        </p:txBody>
      </p:sp>
      <p:sp>
        <p:nvSpPr>
          <p:cNvPr id="238597" name="Rectangle 6"/>
          <p:cNvSpPr>
            <a:spLocks noGrp="1" noChangeArrowheads="1"/>
          </p:cNvSpPr>
          <p:nvPr>
            <p:ph type="body" idx="1"/>
          </p:nvPr>
        </p:nvSpPr>
        <p:spPr/>
        <p:txBody>
          <a:bodyPr/>
          <a:lstStyle/>
          <a:p>
            <a:pPr marL="0" indent="0" eaLnBrk="1" hangingPunct="1">
              <a:lnSpc>
                <a:spcPct val="130000"/>
              </a:lnSpc>
              <a:buFont typeface="Wingdings" panose="05000000000000000000" pitchFamily="2" charset="2"/>
              <a:buNone/>
            </a:pPr>
            <a:r>
              <a:rPr lang="zh-CN" altLang="en-US" sz="2800" dirty="0" smtClean="0"/>
              <a:t>    为进一步提高超标量处理机的性能，通常采用</a:t>
            </a:r>
            <a:r>
              <a:rPr lang="zh-CN" altLang="en-US" sz="2800" dirty="0" smtClean="0">
                <a:solidFill>
                  <a:srgbClr val="FF0000"/>
                </a:solidFill>
              </a:rPr>
              <a:t>先行指令窗口</a:t>
            </a:r>
            <a:r>
              <a:rPr lang="zh-CN" altLang="en-US" sz="2800" dirty="0" smtClean="0"/>
              <a:t>：能够从指令</a:t>
            </a:r>
            <a:r>
              <a:rPr lang="en-US" altLang="zh-CN" sz="2800" dirty="0" smtClean="0"/>
              <a:t>Cache</a:t>
            </a:r>
            <a:r>
              <a:rPr lang="zh-CN" altLang="en-US" sz="2800" dirty="0" smtClean="0"/>
              <a:t>中预取多条指令，能够对窗口内的指令进行数据相关性分析和功能部件冲突的检测。另外还应该至少有一套取指令部件和一套指令译码部件。</a:t>
            </a:r>
            <a:endParaRPr lang="zh-CN" altLang="en-US" sz="2800" dirty="0" smtClean="0"/>
          </a:p>
          <a:p>
            <a:pPr marL="0" indent="0" eaLnBrk="1" hangingPunct="1">
              <a:lnSpc>
                <a:spcPct val="130000"/>
              </a:lnSpc>
              <a:buFont typeface="Wingdings" panose="05000000000000000000" pitchFamily="2" charset="2"/>
              <a:buNone/>
            </a:pPr>
            <a:r>
              <a:rPr lang="zh-CN" altLang="en-US" sz="2800" dirty="0" smtClean="0"/>
              <a:t>    先行指令窗口的大小对超标量处理机的性能影响很大，目前窗口大小一般为2至8条指令。</a:t>
            </a:r>
            <a:endParaRPr lang="zh-CN" altLang="en-US" sz="2800" dirty="0" smtClean="0"/>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73"/>
          <p:cNvSpPr>
            <a:spLocks noChangeArrowheads="1"/>
          </p:cNvSpPr>
          <p:nvPr/>
        </p:nvSpPr>
        <p:spPr bwMode="auto">
          <a:xfrm>
            <a:off x="1357313" y="4767263"/>
            <a:ext cx="1833562" cy="914400"/>
          </a:xfrm>
          <a:prstGeom prst="rect">
            <a:avLst/>
          </a:prstGeom>
          <a:solidFill>
            <a:srgbClr val="FF0000">
              <a:alpha val="50195"/>
            </a:srgbClr>
          </a:solidFill>
          <a:ln w="28575">
            <a:solidFill>
              <a:srgbClr val="FF0000"/>
            </a:solidFill>
            <a:prstDash val="sysDot"/>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endParaRPr lang="zh-CN" altLang="zh-CN" sz="2800">
              <a:solidFill>
                <a:schemeClr val="tx2"/>
              </a:solidFill>
              <a:latin typeface="楷体_GB2312" pitchFamily="49" charset="-122"/>
            </a:endParaRPr>
          </a:p>
        </p:txBody>
      </p:sp>
      <p:sp>
        <p:nvSpPr>
          <p:cNvPr id="733186" name="Rectangle 2"/>
          <p:cNvSpPr>
            <a:spLocks noGrp="1" noChangeArrowheads="1"/>
          </p:cNvSpPr>
          <p:nvPr>
            <p:ph type="title"/>
          </p:nvPr>
        </p:nvSpPr>
        <p:spPr/>
        <p:txBody>
          <a:bodyPr/>
          <a:lstStyle/>
          <a:p>
            <a:pPr eaLnBrk="1" hangingPunct="1">
              <a:defRPr/>
            </a:pPr>
            <a:r>
              <a:rPr lang="zh-CN" altLang="en-US" smtClean="0"/>
              <a:t>超标量处理机</a:t>
            </a:r>
            <a:br>
              <a:rPr lang="zh-CN" altLang="en-US" sz="3200" smtClean="0"/>
            </a:br>
            <a:r>
              <a:rPr lang="zh-CN" altLang="en-US" sz="3200" smtClean="0"/>
              <a:t>            — 先行指令窗口(2)</a:t>
            </a:r>
            <a:endParaRPr lang="zh-CN" altLang="en-US" sz="3200" smtClean="0"/>
          </a:p>
        </p:txBody>
      </p:sp>
      <p:sp>
        <p:nvSpPr>
          <p:cNvPr id="239620"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工作原理</a:t>
            </a:r>
            <a:endParaRPr lang="zh-CN" altLang="en-US" sz="1200" b="0">
              <a:latin typeface="Times New Roman" panose="02020603050405020304" pitchFamily="18" charset="0"/>
              <a:ea typeface="幼圆" panose="02010509060101010101" pitchFamily="49" charset="-122"/>
            </a:endParaRPr>
          </a:p>
        </p:txBody>
      </p:sp>
      <p:sp>
        <p:nvSpPr>
          <p:cNvPr id="239621"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6</a:t>
            </a:r>
            <a:endParaRPr lang="zh-CN" altLang="en-US" sz="1200" b="0">
              <a:latin typeface="幼圆" panose="02010509060101010101" pitchFamily="49" charset="-122"/>
              <a:ea typeface="幼圆" panose="02010509060101010101" pitchFamily="49" charset="-122"/>
            </a:endParaRPr>
          </a:p>
        </p:txBody>
      </p:sp>
      <p:sp>
        <p:nvSpPr>
          <p:cNvPr id="239622" name="Rectangle 8"/>
          <p:cNvSpPr>
            <a:spLocks noChangeArrowheads="1"/>
          </p:cNvSpPr>
          <p:nvPr/>
        </p:nvSpPr>
        <p:spPr bwMode="auto">
          <a:xfrm>
            <a:off x="1577975" y="2873375"/>
            <a:ext cx="585788" cy="5222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IF</a:t>
            </a:r>
            <a:endParaRPr lang="en-US" altLang="zh-CN" sz="2800">
              <a:solidFill>
                <a:schemeClr val="tx2"/>
              </a:solidFill>
              <a:latin typeface="楷体_GB2312" pitchFamily="49" charset="-122"/>
            </a:endParaRPr>
          </a:p>
        </p:txBody>
      </p:sp>
      <p:sp>
        <p:nvSpPr>
          <p:cNvPr id="239623" name="Rectangle 9"/>
          <p:cNvSpPr>
            <a:spLocks noChangeArrowheads="1"/>
          </p:cNvSpPr>
          <p:nvPr/>
        </p:nvSpPr>
        <p:spPr bwMode="auto">
          <a:xfrm>
            <a:off x="2457450" y="2873375"/>
            <a:ext cx="587375" cy="5222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ID</a:t>
            </a:r>
            <a:endParaRPr lang="en-US" altLang="zh-CN" sz="2800">
              <a:solidFill>
                <a:schemeClr val="tx2"/>
              </a:solidFill>
              <a:latin typeface="楷体_GB2312" pitchFamily="49" charset="-122"/>
            </a:endParaRPr>
          </a:p>
        </p:txBody>
      </p:sp>
      <p:sp>
        <p:nvSpPr>
          <p:cNvPr id="239624" name="Line 10"/>
          <p:cNvSpPr>
            <a:spLocks noChangeShapeType="1"/>
          </p:cNvSpPr>
          <p:nvPr/>
        </p:nvSpPr>
        <p:spPr bwMode="auto">
          <a:xfrm>
            <a:off x="2163763" y="3135313"/>
            <a:ext cx="2936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25" name="Line 11"/>
          <p:cNvSpPr>
            <a:spLocks noChangeShapeType="1"/>
          </p:cNvSpPr>
          <p:nvPr/>
        </p:nvSpPr>
        <p:spPr bwMode="auto">
          <a:xfrm>
            <a:off x="3338513" y="2351088"/>
            <a:ext cx="0" cy="3135312"/>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26" name="Rectangle 12"/>
          <p:cNvSpPr>
            <a:spLocks noChangeArrowheads="1"/>
          </p:cNvSpPr>
          <p:nvPr/>
        </p:nvSpPr>
        <p:spPr bwMode="auto">
          <a:xfrm>
            <a:off x="3851275" y="2286000"/>
            <a:ext cx="879475" cy="5222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FA1</a:t>
            </a:r>
            <a:endParaRPr lang="en-US" altLang="zh-CN" sz="2800">
              <a:solidFill>
                <a:schemeClr val="tx2"/>
              </a:solidFill>
              <a:latin typeface="楷体_GB2312" pitchFamily="49" charset="-122"/>
            </a:endParaRPr>
          </a:p>
        </p:txBody>
      </p:sp>
      <p:sp>
        <p:nvSpPr>
          <p:cNvPr id="239627" name="Rectangle 13"/>
          <p:cNvSpPr>
            <a:spLocks noChangeArrowheads="1"/>
          </p:cNvSpPr>
          <p:nvPr/>
        </p:nvSpPr>
        <p:spPr bwMode="auto">
          <a:xfrm>
            <a:off x="4730750" y="2286000"/>
            <a:ext cx="881063" cy="5222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FA2</a:t>
            </a:r>
            <a:endParaRPr lang="en-US" altLang="zh-CN" sz="2800">
              <a:solidFill>
                <a:schemeClr val="tx2"/>
              </a:solidFill>
              <a:latin typeface="楷体_GB2312" pitchFamily="49" charset="-122"/>
            </a:endParaRPr>
          </a:p>
        </p:txBody>
      </p:sp>
      <p:sp>
        <p:nvSpPr>
          <p:cNvPr id="239628" name="Rectangle 14"/>
          <p:cNvSpPr>
            <a:spLocks noChangeArrowheads="1"/>
          </p:cNvSpPr>
          <p:nvPr/>
        </p:nvSpPr>
        <p:spPr bwMode="auto">
          <a:xfrm>
            <a:off x="5611813" y="2286000"/>
            <a:ext cx="879475" cy="5222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FA3</a:t>
            </a:r>
            <a:endParaRPr lang="en-US" altLang="zh-CN" sz="2800">
              <a:solidFill>
                <a:schemeClr val="tx2"/>
              </a:solidFill>
              <a:latin typeface="楷体_GB2312" pitchFamily="49" charset="-122"/>
            </a:endParaRPr>
          </a:p>
        </p:txBody>
      </p:sp>
      <p:sp>
        <p:nvSpPr>
          <p:cNvPr id="239629" name="Rectangle 15"/>
          <p:cNvSpPr>
            <a:spLocks noChangeArrowheads="1"/>
          </p:cNvSpPr>
          <p:nvPr/>
        </p:nvSpPr>
        <p:spPr bwMode="auto">
          <a:xfrm>
            <a:off x="3851275" y="3395663"/>
            <a:ext cx="879475" cy="52387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MD1</a:t>
            </a:r>
            <a:endParaRPr lang="en-US" altLang="zh-CN" sz="2800">
              <a:solidFill>
                <a:schemeClr val="tx2"/>
              </a:solidFill>
              <a:latin typeface="楷体_GB2312" pitchFamily="49" charset="-122"/>
            </a:endParaRPr>
          </a:p>
        </p:txBody>
      </p:sp>
      <p:sp>
        <p:nvSpPr>
          <p:cNvPr id="239630" name="Rectangle 16"/>
          <p:cNvSpPr>
            <a:spLocks noChangeArrowheads="1"/>
          </p:cNvSpPr>
          <p:nvPr/>
        </p:nvSpPr>
        <p:spPr bwMode="auto">
          <a:xfrm>
            <a:off x="4730750" y="3395663"/>
            <a:ext cx="881063" cy="52387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MD2</a:t>
            </a:r>
            <a:endParaRPr lang="en-US" altLang="zh-CN" sz="2800">
              <a:solidFill>
                <a:schemeClr val="tx2"/>
              </a:solidFill>
              <a:latin typeface="楷体_GB2312" pitchFamily="49" charset="-122"/>
            </a:endParaRPr>
          </a:p>
        </p:txBody>
      </p:sp>
      <p:sp>
        <p:nvSpPr>
          <p:cNvPr id="239631" name="Rectangle 17"/>
          <p:cNvSpPr>
            <a:spLocks noChangeArrowheads="1"/>
          </p:cNvSpPr>
          <p:nvPr/>
        </p:nvSpPr>
        <p:spPr bwMode="auto">
          <a:xfrm>
            <a:off x="5611813" y="3395663"/>
            <a:ext cx="879475" cy="52387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MD3</a:t>
            </a:r>
            <a:endParaRPr lang="en-US" altLang="zh-CN" sz="2800">
              <a:solidFill>
                <a:schemeClr val="tx2"/>
              </a:solidFill>
              <a:latin typeface="楷体_GB2312" pitchFamily="49" charset="-122"/>
            </a:endParaRPr>
          </a:p>
        </p:txBody>
      </p:sp>
      <p:sp>
        <p:nvSpPr>
          <p:cNvPr id="239632" name="Rectangle 18"/>
          <p:cNvSpPr>
            <a:spLocks noChangeArrowheads="1"/>
          </p:cNvSpPr>
          <p:nvPr/>
        </p:nvSpPr>
        <p:spPr bwMode="auto">
          <a:xfrm>
            <a:off x="4805363" y="4441825"/>
            <a:ext cx="879475" cy="5222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AL</a:t>
            </a:r>
            <a:endParaRPr lang="en-US" altLang="zh-CN" sz="2800">
              <a:solidFill>
                <a:schemeClr val="tx2"/>
              </a:solidFill>
              <a:latin typeface="楷体_GB2312" pitchFamily="49" charset="-122"/>
            </a:endParaRPr>
          </a:p>
        </p:txBody>
      </p:sp>
      <p:sp>
        <p:nvSpPr>
          <p:cNvPr id="239633" name="Rectangle 19"/>
          <p:cNvSpPr>
            <a:spLocks noChangeArrowheads="1"/>
          </p:cNvSpPr>
          <p:nvPr/>
        </p:nvSpPr>
        <p:spPr bwMode="auto">
          <a:xfrm>
            <a:off x="4805363" y="5421313"/>
            <a:ext cx="879475" cy="52228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LS</a:t>
            </a:r>
            <a:endParaRPr lang="en-US" altLang="zh-CN" sz="2800">
              <a:solidFill>
                <a:schemeClr val="tx2"/>
              </a:solidFill>
              <a:latin typeface="楷体_GB2312" pitchFamily="49" charset="-122"/>
            </a:endParaRPr>
          </a:p>
        </p:txBody>
      </p:sp>
      <p:sp>
        <p:nvSpPr>
          <p:cNvPr id="239634" name="Rectangle 20"/>
          <p:cNvSpPr>
            <a:spLocks noChangeArrowheads="1"/>
          </p:cNvSpPr>
          <p:nvPr/>
        </p:nvSpPr>
        <p:spPr bwMode="auto">
          <a:xfrm>
            <a:off x="3851275" y="2808288"/>
            <a:ext cx="2640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浮点加法部件</a:t>
            </a:r>
            <a:endParaRPr lang="zh-CN" altLang="zh-CN" sz="2400">
              <a:solidFill>
                <a:schemeClr val="tx2"/>
              </a:solidFill>
              <a:latin typeface="楷体_GB2312" pitchFamily="49" charset="-122"/>
            </a:endParaRPr>
          </a:p>
        </p:txBody>
      </p:sp>
      <p:sp>
        <p:nvSpPr>
          <p:cNvPr id="239635" name="Rectangle 21"/>
          <p:cNvSpPr>
            <a:spLocks noChangeArrowheads="1"/>
          </p:cNvSpPr>
          <p:nvPr/>
        </p:nvSpPr>
        <p:spPr bwMode="auto">
          <a:xfrm>
            <a:off x="3851275" y="3919538"/>
            <a:ext cx="2640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乘除法部件</a:t>
            </a:r>
            <a:endParaRPr lang="zh-CN" altLang="zh-CN" sz="2400">
              <a:solidFill>
                <a:schemeClr val="tx2"/>
              </a:solidFill>
              <a:latin typeface="楷体_GB2312" pitchFamily="49" charset="-122"/>
            </a:endParaRPr>
          </a:p>
        </p:txBody>
      </p:sp>
      <p:sp>
        <p:nvSpPr>
          <p:cNvPr id="239636" name="Rectangle 22"/>
          <p:cNvSpPr>
            <a:spLocks noChangeArrowheads="1"/>
          </p:cNvSpPr>
          <p:nvPr/>
        </p:nvSpPr>
        <p:spPr bwMode="auto">
          <a:xfrm>
            <a:off x="3851275" y="4964113"/>
            <a:ext cx="2640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定点ALU部件</a:t>
            </a:r>
            <a:endParaRPr lang="zh-CN" altLang="zh-CN" sz="2400">
              <a:solidFill>
                <a:schemeClr val="tx2"/>
              </a:solidFill>
              <a:latin typeface="楷体_GB2312" pitchFamily="49" charset="-122"/>
            </a:endParaRPr>
          </a:p>
        </p:txBody>
      </p:sp>
      <p:sp>
        <p:nvSpPr>
          <p:cNvPr id="239637" name="Rectangle 23"/>
          <p:cNvSpPr>
            <a:spLocks noChangeArrowheads="1"/>
          </p:cNvSpPr>
          <p:nvPr/>
        </p:nvSpPr>
        <p:spPr bwMode="auto">
          <a:xfrm>
            <a:off x="3924300" y="5943600"/>
            <a:ext cx="2641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取数存数部件</a:t>
            </a:r>
            <a:endParaRPr lang="zh-CN" altLang="zh-CN" sz="2400">
              <a:solidFill>
                <a:schemeClr val="tx2"/>
              </a:solidFill>
              <a:latin typeface="楷体_GB2312" pitchFamily="49" charset="-122"/>
            </a:endParaRPr>
          </a:p>
        </p:txBody>
      </p:sp>
      <p:sp>
        <p:nvSpPr>
          <p:cNvPr id="239638" name="Line 24"/>
          <p:cNvSpPr>
            <a:spLocks noChangeShapeType="1"/>
          </p:cNvSpPr>
          <p:nvPr/>
        </p:nvSpPr>
        <p:spPr bwMode="auto">
          <a:xfrm>
            <a:off x="990600" y="3135313"/>
            <a:ext cx="58737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39" name="Line 25"/>
          <p:cNvSpPr>
            <a:spLocks noChangeShapeType="1"/>
          </p:cNvSpPr>
          <p:nvPr/>
        </p:nvSpPr>
        <p:spPr bwMode="auto">
          <a:xfrm>
            <a:off x="3338513" y="2351088"/>
            <a:ext cx="51276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0" name="Line 26"/>
          <p:cNvSpPr>
            <a:spLocks noChangeShapeType="1"/>
          </p:cNvSpPr>
          <p:nvPr/>
        </p:nvSpPr>
        <p:spPr bwMode="auto">
          <a:xfrm>
            <a:off x="3338513" y="3462338"/>
            <a:ext cx="51276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1" name="Line 27"/>
          <p:cNvSpPr>
            <a:spLocks noChangeShapeType="1"/>
          </p:cNvSpPr>
          <p:nvPr/>
        </p:nvSpPr>
        <p:spPr bwMode="auto">
          <a:xfrm>
            <a:off x="3044825" y="3135313"/>
            <a:ext cx="293688"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2" name="Line 28"/>
          <p:cNvSpPr>
            <a:spLocks noChangeShapeType="1"/>
          </p:cNvSpPr>
          <p:nvPr/>
        </p:nvSpPr>
        <p:spPr bwMode="auto">
          <a:xfrm>
            <a:off x="3338513" y="4506913"/>
            <a:ext cx="14668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3" name="Line 29"/>
          <p:cNvSpPr>
            <a:spLocks noChangeShapeType="1"/>
          </p:cNvSpPr>
          <p:nvPr/>
        </p:nvSpPr>
        <p:spPr bwMode="auto">
          <a:xfrm>
            <a:off x="3338513" y="5486400"/>
            <a:ext cx="14668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4" name="Rectangle 30"/>
          <p:cNvSpPr>
            <a:spLocks noChangeArrowheads="1"/>
          </p:cNvSpPr>
          <p:nvPr/>
        </p:nvSpPr>
        <p:spPr bwMode="auto">
          <a:xfrm>
            <a:off x="7812088" y="4114800"/>
            <a:ext cx="733425" cy="5222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WR</a:t>
            </a:r>
            <a:endParaRPr lang="en-US" altLang="zh-CN" sz="2800">
              <a:solidFill>
                <a:schemeClr val="tx2"/>
              </a:solidFill>
              <a:latin typeface="楷体_GB2312" pitchFamily="49" charset="-122"/>
            </a:endParaRPr>
          </a:p>
        </p:txBody>
      </p:sp>
      <p:sp>
        <p:nvSpPr>
          <p:cNvPr id="239645" name="Line 31"/>
          <p:cNvSpPr>
            <a:spLocks noChangeShapeType="1"/>
          </p:cNvSpPr>
          <p:nvPr/>
        </p:nvSpPr>
        <p:spPr bwMode="auto">
          <a:xfrm>
            <a:off x="6491288" y="2547938"/>
            <a:ext cx="733425"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6" name="Line 32"/>
          <p:cNvSpPr>
            <a:spLocks noChangeShapeType="1"/>
          </p:cNvSpPr>
          <p:nvPr/>
        </p:nvSpPr>
        <p:spPr bwMode="auto">
          <a:xfrm>
            <a:off x="6491288" y="3657600"/>
            <a:ext cx="587375"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7" name="Line 33"/>
          <p:cNvSpPr>
            <a:spLocks noChangeShapeType="1"/>
          </p:cNvSpPr>
          <p:nvPr/>
        </p:nvSpPr>
        <p:spPr bwMode="auto">
          <a:xfrm>
            <a:off x="5684838" y="4702175"/>
            <a:ext cx="1687512"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8" name="Line 34"/>
          <p:cNvSpPr>
            <a:spLocks noChangeShapeType="1"/>
          </p:cNvSpPr>
          <p:nvPr/>
        </p:nvSpPr>
        <p:spPr bwMode="auto">
          <a:xfrm>
            <a:off x="5684838" y="5681663"/>
            <a:ext cx="1833562"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9" name="Line 35"/>
          <p:cNvSpPr>
            <a:spLocks noChangeShapeType="1"/>
          </p:cNvSpPr>
          <p:nvPr/>
        </p:nvSpPr>
        <p:spPr bwMode="auto">
          <a:xfrm>
            <a:off x="8545513" y="4376738"/>
            <a:ext cx="2936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0" name="Rectangle 36"/>
          <p:cNvSpPr>
            <a:spLocks noChangeArrowheads="1"/>
          </p:cNvSpPr>
          <p:nvPr/>
        </p:nvSpPr>
        <p:spPr bwMode="auto">
          <a:xfrm>
            <a:off x="1577975" y="3787775"/>
            <a:ext cx="585788" cy="5222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IF</a:t>
            </a:r>
            <a:endParaRPr lang="en-US" altLang="zh-CN" sz="2800">
              <a:solidFill>
                <a:schemeClr val="tx2"/>
              </a:solidFill>
              <a:latin typeface="楷体_GB2312" pitchFamily="49" charset="-122"/>
            </a:endParaRPr>
          </a:p>
        </p:txBody>
      </p:sp>
      <p:sp>
        <p:nvSpPr>
          <p:cNvPr id="239651" name="Rectangle 37"/>
          <p:cNvSpPr>
            <a:spLocks noChangeArrowheads="1"/>
          </p:cNvSpPr>
          <p:nvPr/>
        </p:nvSpPr>
        <p:spPr bwMode="auto">
          <a:xfrm>
            <a:off x="2457450" y="3787775"/>
            <a:ext cx="587375" cy="522288"/>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dirty="0">
                <a:solidFill>
                  <a:schemeClr val="tx2"/>
                </a:solidFill>
                <a:latin typeface="楷体_GB2312" pitchFamily="49" charset="-122"/>
              </a:rPr>
              <a:t>ID</a:t>
            </a:r>
            <a:endParaRPr lang="en-US" altLang="zh-CN" sz="2800" dirty="0">
              <a:solidFill>
                <a:schemeClr val="tx2"/>
              </a:solidFill>
              <a:latin typeface="楷体_GB2312" pitchFamily="49" charset="-122"/>
            </a:endParaRPr>
          </a:p>
        </p:txBody>
      </p:sp>
      <p:sp>
        <p:nvSpPr>
          <p:cNvPr id="239652" name="Line 38"/>
          <p:cNvSpPr>
            <a:spLocks noChangeShapeType="1"/>
          </p:cNvSpPr>
          <p:nvPr/>
        </p:nvSpPr>
        <p:spPr bwMode="auto">
          <a:xfrm>
            <a:off x="2163763" y="4049713"/>
            <a:ext cx="2936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3" name="Line 39"/>
          <p:cNvSpPr>
            <a:spLocks noChangeShapeType="1"/>
          </p:cNvSpPr>
          <p:nvPr/>
        </p:nvSpPr>
        <p:spPr bwMode="auto">
          <a:xfrm>
            <a:off x="990600" y="4049713"/>
            <a:ext cx="58737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4" name="Line 40"/>
          <p:cNvSpPr>
            <a:spLocks noChangeShapeType="1"/>
          </p:cNvSpPr>
          <p:nvPr/>
        </p:nvSpPr>
        <p:spPr bwMode="auto">
          <a:xfrm>
            <a:off x="3044825" y="4049713"/>
            <a:ext cx="439738"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5" name="Line 41"/>
          <p:cNvSpPr>
            <a:spLocks noChangeShapeType="1"/>
          </p:cNvSpPr>
          <p:nvPr/>
        </p:nvSpPr>
        <p:spPr bwMode="auto">
          <a:xfrm>
            <a:off x="3484563" y="2743200"/>
            <a:ext cx="36671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6" name="Line 42"/>
          <p:cNvSpPr>
            <a:spLocks noChangeShapeType="1"/>
          </p:cNvSpPr>
          <p:nvPr/>
        </p:nvSpPr>
        <p:spPr bwMode="auto">
          <a:xfrm>
            <a:off x="3484563" y="3852863"/>
            <a:ext cx="36671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7" name="Line 43"/>
          <p:cNvSpPr>
            <a:spLocks noChangeShapeType="1"/>
          </p:cNvSpPr>
          <p:nvPr/>
        </p:nvSpPr>
        <p:spPr bwMode="auto">
          <a:xfrm>
            <a:off x="3484563" y="4899025"/>
            <a:ext cx="13208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8" name="Line 44"/>
          <p:cNvSpPr>
            <a:spLocks noChangeShapeType="1"/>
          </p:cNvSpPr>
          <p:nvPr/>
        </p:nvSpPr>
        <p:spPr bwMode="auto">
          <a:xfrm>
            <a:off x="3484563" y="5878513"/>
            <a:ext cx="13208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9" name="Line 45"/>
          <p:cNvSpPr>
            <a:spLocks noChangeShapeType="1"/>
          </p:cNvSpPr>
          <p:nvPr/>
        </p:nvSpPr>
        <p:spPr bwMode="auto">
          <a:xfrm>
            <a:off x="3484563" y="2743200"/>
            <a:ext cx="0" cy="3135313"/>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0" name="Rectangle 46"/>
          <p:cNvSpPr>
            <a:spLocks noChangeArrowheads="1"/>
          </p:cNvSpPr>
          <p:nvPr/>
        </p:nvSpPr>
        <p:spPr bwMode="auto">
          <a:xfrm>
            <a:off x="7812088" y="3395663"/>
            <a:ext cx="733425" cy="523875"/>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WR</a:t>
            </a:r>
            <a:endParaRPr lang="en-US" altLang="zh-CN" sz="2800">
              <a:solidFill>
                <a:schemeClr val="tx2"/>
              </a:solidFill>
              <a:latin typeface="楷体_GB2312" pitchFamily="49" charset="-122"/>
            </a:endParaRPr>
          </a:p>
        </p:txBody>
      </p:sp>
      <p:sp>
        <p:nvSpPr>
          <p:cNvPr id="239661" name="Line 47"/>
          <p:cNvSpPr>
            <a:spLocks noChangeShapeType="1"/>
          </p:cNvSpPr>
          <p:nvPr/>
        </p:nvSpPr>
        <p:spPr bwMode="auto">
          <a:xfrm flipH="1">
            <a:off x="7518400" y="3462338"/>
            <a:ext cx="293688"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2" name="Line 48"/>
          <p:cNvSpPr>
            <a:spLocks noChangeShapeType="1"/>
          </p:cNvSpPr>
          <p:nvPr/>
        </p:nvSpPr>
        <p:spPr bwMode="auto">
          <a:xfrm flipH="1">
            <a:off x="7372350" y="3592513"/>
            <a:ext cx="439738"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3" name="Line 49"/>
          <p:cNvSpPr>
            <a:spLocks noChangeShapeType="1"/>
          </p:cNvSpPr>
          <p:nvPr/>
        </p:nvSpPr>
        <p:spPr bwMode="auto">
          <a:xfrm flipH="1">
            <a:off x="7078663" y="3852863"/>
            <a:ext cx="733425"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4" name="Line 50"/>
          <p:cNvSpPr>
            <a:spLocks noChangeShapeType="1"/>
          </p:cNvSpPr>
          <p:nvPr/>
        </p:nvSpPr>
        <p:spPr bwMode="auto">
          <a:xfrm flipH="1">
            <a:off x="7224713" y="3722688"/>
            <a:ext cx="587375"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5" name="Line 51"/>
          <p:cNvSpPr>
            <a:spLocks noChangeShapeType="1"/>
          </p:cNvSpPr>
          <p:nvPr/>
        </p:nvSpPr>
        <p:spPr bwMode="auto">
          <a:xfrm>
            <a:off x="8545513" y="3657600"/>
            <a:ext cx="2936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6" name="Line 52"/>
          <p:cNvSpPr>
            <a:spLocks noChangeShapeType="1"/>
          </p:cNvSpPr>
          <p:nvPr/>
        </p:nvSpPr>
        <p:spPr bwMode="auto">
          <a:xfrm>
            <a:off x="7518400" y="3462338"/>
            <a:ext cx="0" cy="2219325"/>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7" name="Line 53"/>
          <p:cNvSpPr>
            <a:spLocks noChangeShapeType="1"/>
          </p:cNvSpPr>
          <p:nvPr/>
        </p:nvSpPr>
        <p:spPr bwMode="auto">
          <a:xfrm>
            <a:off x="7372350" y="3592513"/>
            <a:ext cx="0" cy="1109662"/>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8" name="Line 54"/>
          <p:cNvSpPr>
            <a:spLocks noChangeShapeType="1"/>
          </p:cNvSpPr>
          <p:nvPr/>
        </p:nvSpPr>
        <p:spPr bwMode="auto">
          <a:xfrm>
            <a:off x="7224713" y="2547938"/>
            <a:ext cx="0" cy="1893887"/>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9" name="Line 55"/>
          <p:cNvSpPr>
            <a:spLocks noChangeShapeType="1"/>
          </p:cNvSpPr>
          <p:nvPr/>
        </p:nvSpPr>
        <p:spPr bwMode="auto">
          <a:xfrm>
            <a:off x="7078663" y="3657600"/>
            <a:ext cx="0" cy="91440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0" name="Line 56"/>
          <p:cNvSpPr>
            <a:spLocks noChangeShapeType="1"/>
          </p:cNvSpPr>
          <p:nvPr/>
        </p:nvSpPr>
        <p:spPr bwMode="auto">
          <a:xfrm flipH="1">
            <a:off x="7518400" y="4179888"/>
            <a:ext cx="293688"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1" name="Line 57"/>
          <p:cNvSpPr>
            <a:spLocks noChangeShapeType="1"/>
          </p:cNvSpPr>
          <p:nvPr/>
        </p:nvSpPr>
        <p:spPr bwMode="auto">
          <a:xfrm flipH="1">
            <a:off x="7372350" y="4310063"/>
            <a:ext cx="439738"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2" name="Line 58"/>
          <p:cNvSpPr>
            <a:spLocks noChangeShapeType="1"/>
          </p:cNvSpPr>
          <p:nvPr/>
        </p:nvSpPr>
        <p:spPr bwMode="auto">
          <a:xfrm flipH="1">
            <a:off x="7078663" y="4572000"/>
            <a:ext cx="733425"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3" name="Line 59"/>
          <p:cNvSpPr>
            <a:spLocks noChangeShapeType="1"/>
          </p:cNvSpPr>
          <p:nvPr/>
        </p:nvSpPr>
        <p:spPr bwMode="auto">
          <a:xfrm flipH="1">
            <a:off x="7224713" y="4441825"/>
            <a:ext cx="587375" cy="0"/>
          </a:xfrm>
          <a:prstGeom prst="line">
            <a:avLst/>
          </a:prstGeom>
          <a:noFill/>
          <a:ln w="28575">
            <a:solidFill>
              <a:schemeClr val="tx2"/>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4" name="Rectangle 60"/>
          <p:cNvSpPr>
            <a:spLocks noChangeArrowheads="1"/>
          </p:cNvSpPr>
          <p:nvPr/>
        </p:nvSpPr>
        <p:spPr bwMode="auto">
          <a:xfrm>
            <a:off x="1577975" y="4964113"/>
            <a:ext cx="585788" cy="52228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IF</a:t>
            </a:r>
            <a:endParaRPr lang="en-US" altLang="zh-CN" sz="2800">
              <a:solidFill>
                <a:schemeClr val="tx2"/>
              </a:solidFill>
              <a:latin typeface="楷体_GB2312" pitchFamily="49" charset="-122"/>
            </a:endParaRPr>
          </a:p>
        </p:txBody>
      </p:sp>
      <p:sp>
        <p:nvSpPr>
          <p:cNvPr id="239675" name="Rectangle 61"/>
          <p:cNvSpPr>
            <a:spLocks noChangeArrowheads="1"/>
          </p:cNvSpPr>
          <p:nvPr/>
        </p:nvSpPr>
        <p:spPr bwMode="auto">
          <a:xfrm>
            <a:off x="2457450" y="4964113"/>
            <a:ext cx="587375" cy="522287"/>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ID</a:t>
            </a:r>
            <a:endParaRPr lang="en-US" altLang="zh-CN" sz="2800">
              <a:solidFill>
                <a:schemeClr val="tx2"/>
              </a:solidFill>
              <a:latin typeface="楷体_GB2312" pitchFamily="49" charset="-122"/>
            </a:endParaRPr>
          </a:p>
        </p:txBody>
      </p:sp>
      <p:sp>
        <p:nvSpPr>
          <p:cNvPr id="239676" name="Line 62"/>
          <p:cNvSpPr>
            <a:spLocks noChangeShapeType="1"/>
          </p:cNvSpPr>
          <p:nvPr/>
        </p:nvSpPr>
        <p:spPr bwMode="auto">
          <a:xfrm>
            <a:off x="2163763" y="5224463"/>
            <a:ext cx="2936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7" name="Line 63"/>
          <p:cNvSpPr>
            <a:spLocks noChangeShapeType="1"/>
          </p:cNvSpPr>
          <p:nvPr/>
        </p:nvSpPr>
        <p:spPr bwMode="auto">
          <a:xfrm>
            <a:off x="1284288" y="5094288"/>
            <a:ext cx="2936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8" name="Line 64"/>
          <p:cNvSpPr>
            <a:spLocks noChangeShapeType="1"/>
          </p:cNvSpPr>
          <p:nvPr/>
        </p:nvSpPr>
        <p:spPr bwMode="auto">
          <a:xfrm>
            <a:off x="3044825" y="5224463"/>
            <a:ext cx="585788"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9" name="Line 65"/>
          <p:cNvSpPr>
            <a:spLocks noChangeShapeType="1"/>
          </p:cNvSpPr>
          <p:nvPr/>
        </p:nvSpPr>
        <p:spPr bwMode="auto">
          <a:xfrm>
            <a:off x="3630613" y="2547938"/>
            <a:ext cx="0" cy="3133725"/>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0" name="Line 66"/>
          <p:cNvSpPr>
            <a:spLocks noChangeShapeType="1"/>
          </p:cNvSpPr>
          <p:nvPr/>
        </p:nvSpPr>
        <p:spPr bwMode="auto">
          <a:xfrm>
            <a:off x="3630613" y="2547938"/>
            <a:ext cx="22066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1" name="Line 67"/>
          <p:cNvSpPr>
            <a:spLocks noChangeShapeType="1"/>
          </p:cNvSpPr>
          <p:nvPr/>
        </p:nvSpPr>
        <p:spPr bwMode="auto">
          <a:xfrm>
            <a:off x="3630613" y="3657600"/>
            <a:ext cx="22066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2" name="Line 68"/>
          <p:cNvSpPr>
            <a:spLocks noChangeShapeType="1"/>
          </p:cNvSpPr>
          <p:nvPr/>
        </p:nvSpPr>
        <p:spPr bwMode="auto">
          <a:xfrm>
            <a:off x="3630613" y="4702175"/>
            <a:ext cx="11747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3" name="Line 69"/>
          <p:cNvSpPr>
            <a:spLocks noChangeShapeType="1"/>
          </p:cNvSpPr>
          <p:nvPr/>
        </p:nvSpPr>
        <p:spPr bwMode="auto">
          <a:xfrm>
            <a:off x="3630613" y="5681663"/>
            <a:ext cx="11747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4" name="Line 70"/>
          <p:cNvSpPr>
            <a:spLocks noChangeShapeType="1"/>
          </p:cNvSpPr>
          <p:nvPr/>
        </p:nvSpPr>
        <p:spPr bwMode="auto">
          <a:xfrm>
            <a:off x="1136650" y="5356225"/>
            <a:ext cx="44132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5" name="Line 71"/>
          <p:cNvSpPr>
            <a:spLocks noChangeShapeType="1"/>
          </p:cNvSpPr>
          <p:nvPr/>
        </p:nvSpPr>
        <p:spPr bwMode="auto">
          <a:xfrm>
            <a:off x="1284288" y="3135313"/>
            <a:ext cx="0" cy="1958975"/>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6" name="Line 72"/>
          <p:cNvSpPr>
            <a:spLocks noChangeShapeType="1"/>
          </p:cNvSpPr>
          <p:nvPr/>
        </p:nvSpPr>
        <p:spPr bwMode="auto">
          <a:xfrm>
            <a:off x="1136650" y="4049713"/>
            <a:ext cx="0" cy="1306512"/>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7" name="Rectangle 74"/>
          <p:cNvSpPr>
            <a:spLocks noChangeArrowheads="1"/>
          </p:cNvSpPr>
          <p:nvPr/>
        </p:nvSpPr>
        <p:spPr bwMode="auto">
          <a:xfrm>
            <a:off x="1143000" y="5715000"/>
            <a:ext cx="2209800" cy="652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先行指令窗口</a:t>
            </a:r>
            <a:endParaRPr lang="zh-CN" altLang="zh-CN" sz="2400">
              <a:solidFill>
                <a:schemeClr val="tx2"/>
              </a:solidFill>
              <a:latin typeface="楷体_GB2312"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4210" name="Rectangle 2"/>
          <p:cNvSpPr>
            <a:spLocks noGrp="1" noChangeArrowheads="1"/>
          </p:cNvSpPr>
          <p:nvPr>
            <p:ph type="title"/>
          </p:nvPr>
        </p:nvSpPr>
        <p:spPr/>
        <p:txBody>
          <a:bodyPr/>
          <a:lstStyle/>
          <a:p>
            <a:pPr eaLnBrk="1" hangingPunct="1">
              <a:defRPr/>
            </a:pPr>
            <a:r>
              <a:rPr lang="zh-CN" altLang="en-US" smtClean="0"/>
              <a:t>超标量处理机</a:t>
            </a:r>
            <a:br>
              <a:rPr lang="zh-CN" altLang="en-US" sz="3200" smtClean="0"/>
            </a:br>
            <a:r>
              <a:rPr lang="zh-CN" altLang="en-US" sz="3200" smtClean="0"/>
              <a:t>                       — 举例</a:t>
            </a:r>
            <a:r>
              <a:rPr lang="en-US" altLang="zh-CN" sz="3200" smtClean="0"/>
              <a:t>(1)</a:t>
            </a:r>
            <a:endParaRPr lang="en-US" altLang="zh-CN" sz="3200" smtClean="0"/>
          </a:p>
        </p:txBody>
      </p:sp>
      <p:sp>
        <p:nvSpPr>
          <p:cNvPr id="2406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工作原理</a:t>
            </a:r>
            <a:endParaRPr lang="zh-CN" altLang="en-US" sz="1200" b="0">
              <a:latin typeface="Times New Roman" panose="02020603050405020304" pitchFamily="18" charset="0"/>
              <a:ea typeface="幼圆" panose="02010509060101010101" pitchFamily="49" charset="-122"/>
            </a:endParaRPr>
          </a:p>
        </p:txBody>
      </p:sp>
      <p:sp>
        <p:nvSpPr>
          <p:cNvPr id="240644"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7</a:t>
            </a:r>
            <a:endParaRPr lang="zh-CN" altLang="en-US" sz="1200" b="0">
              <a:latin typeface="幼圆" panose="02010509060101010101" pitchFamily="49" charset="-122"/>
              <a:ea typeface="幼圆" panose="02010509060101010101" pitchFamily="49" charset="-122"/>
            </a:endParaRPr>
          </a:p>
        </p:txBody>
      </p:sp>
      <p:sp>
        <p:nvSpPr>
          <p:cNvPr id="240645" name="Rectangle 72"/>
          <p:cNvSpPr>
            <a:spLocks noChangeArrowheads="1"/>
          </p:cNvSpPr>
          <p:nvPr/>
        </p:nvSpPr>
        <p:spPr bwMode="auto">
          <a:xfrm>
            <a:off x="1216025" y="1989138"/>
            <a:ext cx="806450" cy="72866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整数</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部件</a:t>
            </a:r>
            <a:endParaRPr lang="zh-CN" altLang="zh-CN" sz="2400">
              <a:solidFill>
                <a:schemeClr val="tx2"/>
              </a:solidFill>
              <a:latin typeface="楷体_GB2312" pitchFamily="49" charset="-122"/>
            </a:endParaRPr>
          </a:p>
        </p:txBody>
      </p:sp>
      <p:sp>
        <p:nvSpPr>
          <p:cNvPr id="240646" name="Rectangle 73"/>
          <p:cNvSpPr>
            <a:spLocks noChangeArrowheads="1"/>
          </p:cNvSpPr>
          <p:nvPr/>
        </p:nvSpPr>
        <p:spPr bwMode="auto">
          <a:xfrm>
            <a:off x="2168525" y="1989138"/>
            <a:ext cx="806450" cy="72866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整数</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部件</a:t>
            </a:r>
            <a:endParaRPr lang="zh-CN" altLang="zh-CN" sz="2400">
              <a:solidFill>
                <a:schemeClr val="tx2"/>
              </a:solidFill>
              <a:latin typeface="楷体_GB2312" pitchFamily="49" charset="-122"/>
            </a:endParaRPr>
          </a:p>
        </p:txBody>
      </p:sp>
      <p:sp>
        <p:nvSpPr>
          <p:cNvPr id="240647" name="Rectangle 74"/>
          <p:cNvSpPr>
            <a:spLocks noChangeArrowheads="1"/>
          </p:cNvSpPr>
          <p:nvPr/>
        </p:nvSpPr>
        <p:spPr bwMode="auto">
          <a:xfrm>
            <a:off x="3121025" y="1989138"/>
            <a:ext cx="806450" cy="72866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位</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操作</a:t>
            </a:r>
            <a:endParaRPr lang="zh-CN" altLang="zh-CN" sz="2400">
              <a:solidFill>
                <a:schemeClr val="tx2"/>
              </a:solidFill>
              <a:latin typeface="楷体_GB2312" pitchFamily="49" charset="-122"/>
            </a:endParaRPr>
          </a:p>
        </p:txBody>
      </p:sp>
      <p:sp>
        <p:nvSpPr>
          <p:cNvPr id="240648" name="Rectangle 75"/>
          <p:cNvSpPr>
            <a:spLocks noChangeArrowheads="1"/>
          </p:cNvSpPr>
          <p:nvPr/>
        </p:nvSpPr>
        <p:spPr bwMode="auto">
          <a:xfrm>
            <a:off x="4073525" y="1989138"/>
            <a:ext cx="806450" cy="72866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浮点</a:t>
            </a:r>
            <a:endParaRPr lang="zh-CN" altLang="zh-CN" sz="2400">
              <a:solidFill>
                <a:schemeClr val="tx2"/>
              </a:solidFill>
              <a:latin typeface="楷体_GB2312" pitchFamily="49" charset="-122"/>
            </a:endParaRPr>
          </a:p>
          <a:p>
            <a:pPr algn="ctr" eaLnBrk="1" hangingPunct="1">
              <a:lnSpc>
                <a:spcPct val="80000"/>
              </a:lnSpc>
              <a:spcBef>
                <a:spcPct val="0"/>
              </a:spcBef>
              <a:buClrTx/>
              <a:buFontTx/>
              <a:buNone/>
            </a:pPr>
            <a:r>
              <a:rPr lang="zh-CN" altLang="zh-CN" sz="2400">
                <a:solidFill>
                  <a:schemeClr val="tx2"/>
                </a:solidFill>
                <a:latin typeface="楷体_GB2312" pitchFamily="49" charset="-122"/>
              </a:rPr>
              <a:t>加</a:t>
            </a:r>
            <a:endParaRPr lang="zh-CN" altLang="zh-CN" sz="2400">
              <a:solidFill>
                <a:schemeClr val="tx2"/>
              </a:solidFill>
              <a:latin typeface="楷体_GB2312" pitchFamily="49" charset="-122"/>
            </a:endParaRPr>
          </a:p>
        </p:txBody>
      </p:sp>
      <p:sp>
        <p:nvSpPr>
          <p:cNvPr id="240649" name="Rectangle 76"/>
          <p:cNvSpPr>
            <a:spLocks noChangeArrowheads="1"/>
          </p:cNvSpPr>
          <p:nvPr/>
        </p:nvSpPr>
        <p:spPr bwMode="auto">
          <a:xfrm>
            <a:off x="5026025" y="1989138"/>
            <a:ext cx="806450" cy="72866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乘法</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部件</a:t>
            </a:r>
            <a:endParaRPr lang="zh-CN" altLang="zh-CN" sz="2400">
              <a:solidFill>
                <a:schemeClr val="tx2"/>
              </a:solidFill>
              <a:latin typeface="楷体_GB2312" pitchFamily="49" charset="-122"/>
            </a:endParaRPr>
          </a:p>
        </p:txBody>
      </p:sp>
      <p:sp>
        <p:nvSpPr>
          <p:cNvPr id="240650" name="Rectangle 77"/>
          <p:cNvSpPr>
            <a:spLocks noChangeArrowheads="1"/>
          </p:cNvSpPr>
          <p:nvPr/>
        </p:nvSpPr>
        <p:spPr bwMode="auto">
          <a:xfrm>
            <a:off x="5978525" y="1989138"/>
            <a:ext cx="806450" cy="72866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除法</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部件</a:t>
            </a:r>
            <a:endParaRPr lang="zh-CN" altLang="zh-CN" sz="2400">
              <a:solidFill>
                <a:schemeClr val="tx2"/>
              </a:solidFill>
              <a:latin typeface="楷体_GB2312" pitchFamily="49" charset="-122"/>
            </a:endParaRPr>
          </a:p>
        </p:txBody>
      </p:sp>
      <p:sp>
        <p:nvSpPr>
          <p:cNvPr id="240651" name="Rectangle 78"/>
          <p:cNvSpPr>
            <a:spLocks noChangeArrowheads="1"/>
          </p:cNvSpPr>
          <p:nvPr/>
        </p:nvSpPr>
        <p:spPr bwMode="auto">
          <a:xfrm>
            <a:off x="6931025" y="1989138"/>
            <a:ext cx="806450" cy="72866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图形</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部件</a:t>
            </a:r>
            <a:endParaRPr lang="zh-CN" altLang="zh-CN" sz="2400">
              <a:solidFill>
                <a:schemeClr val="tx2"/>
              </a:solidFill>
              <a:latin typeface="楷体_GB2312" pitchFamily="49" charset="-122"/>
            </a:endParaRPr>
          </a:p>
        </p:txBody>
      </p:sp>
      <p:sp>
        <p:nvSpPr>
          <p:cNvPr id="240652" name="Rectangle 79"/>
          <p:cNvSpPr>
            <a:spLocks noChangeArrowheads="1"/>
          </p:cNvSpPr>
          <p:nvPr/>
        </p:nvSpPr>
        <p:spPr bwMode="auto">
          <a:xfrm>
            <a:off x="7883525" y="1989138"/>
            <a:ext cx="806450" cy="728662"/>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图形</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部件</a:t>
            </a:r>
            <a:endParaRPr lang="zh-CN" altLang="zh-CN" sz="2400">
              <a:solidFill>
                <a:schemeClr val="tx2"/>
              </a:solidFill>
              <a:latin typeface="楷体_GB2312" pitchFamily="49" charset="-122"/>
            </a:endParaRPr>
          </a:p>
        </p:txBody>
      </p:sp>
      <p:sp>
        <p:nvSpPr>
          <p:cNvPr id="240653" name="Rectangle 80"/>
          <p:cNvSpPr>
            <a:spLocks noChangeArrowheads="1"/>
          </p:cNvSpPr>
          <p:nvPr/>
        </p:nvSpPr>
        <p:spPr bwMode="auto">
          <a:xfrm>
            <a:off x="5538788" y="3082925"/>
            <a:ext cx="1612900" cy="425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内部总线</a:t>
            </a:r>
            <a:endParaRPr lang="zh-CN" altLang="zh-CN" sz="2400">
              <a:solidFill>
                <a:schemeClr val="tx2"/>
              </a:solidFill>
              <a:latin typeface="楷体_GB2312" pitchFamily="49" charset="-122"/>
            </a:endParaRPr>
          </a:p>
        </p:txBody>
      </p:sp>
      <p:sp>
        <p:nvSpPr>
          <p:cNvPr id="240654" name="Line 81"/>
          <p:cNvSpPr>
            <a:spLocks noChangeShapeType="1"/>
          </p:cNvSpPr>
          <p:nvPr/>
        </p:nvSpPr>
        <p:spPr bwMode="auto">
          <a:xfrm>
            <a:off x="1143000" y="3082925"/>
            <a:ext cx="7620000"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55" name="Line 82"/>
          <p:cNvSpPr>
            <a:spLocks noChangeShapeType="1"/>
          </p:cNvSpPr>
          <p:nvPr/>
        </p:nvSpPr>
        <p:spPr bwMode="auto">
          <a:xfrm>
            <a:off x="16192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56" name="Line 83"/>
          <p:cNvSpPr>
            <a:spLocks noChangeShapeType="1"/>
          </p:cNvSpPr>
          <p:nvPr/>
        </p:nvSpPr>
        <p:spPr bwMode="auto">
          <a:xfrm>
            <a:off x="25717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57" name="Line 84"/>
          <p:cNvSpPr>
            <a:spLocks noChangeShapeType="1"/>
          </p:cNvSpPr>
          <p:nvPr/>
        </p:nvSpPr>
        <p:spPr bwMode="auto">
          <a:xfrm>
            <a:off x="35242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58" name="Line 85"/>
          <p:cNvSpPr>
            <a:spLocks noChangeShapeType="1"/>
          </p:cNvSpPr>
          <p:nvPr/>
        </p:nvSpPr>
        <p:spPr bwMode="auto">
          <a:xfrm>
            <a:off x="44767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59" name="Line 86"/>
          <p:cNvSpPr>
            <a:spLocks noChangeShapeType="1"/>
          </p:cNvSpPr>
          <p:nvPr/>
        </p:nvSpPr>
        <p:spPr bwMode="auto">
          <a:xfrm>
            <a:off x="54292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60" name="Line 87"/>
          <p:cNvSpPr>
            <a:spLocks noChangeShapeType="1"/>
          </p:cNvSpPr>
          <p:nvPr/>
        </p:nvSpPr>
        <p:spPr bwMode="auto">
          <a:xfrm>
            <a:off x="63817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61" name="Line 88"/>
          <p:cNvSpPr>
            <a:spLocks noChangeShapeType="1"/>
          </p:cNvSpPr>
          <p:nvPr/>
        </p:nvSpPr>
        <p:spPr bwMode="auto">
          <a:xfrm>
            <a:off x="73342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62" name="Line 89"/>
          <p:cNvSpPr>
            <a:spLocks noChangeShapeType="1"/>
          </p:cNvSpPr>
          <p:nvPr/>
        </p:nvSpPr>
        <p:spPr bwMode="auto">
          <a:xfrm>
            <a:off x="82867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63" name="Rectangle 90"/>
          <p:cNvSpPr>
            <a:spLocks noChangeArrowheads="1"/>
          </p:cNvSpPr>
          <p:nvPr/>
        </p:nvSpPr>
        <p:spPr bwMode="auto">
          <a:xfrm>
            <a:off x="1216025" y="3568700"/>
            <a:ext cx="1246188" cy="728663"/>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读数</a:t>
            </a:r>
            <a:r>
              <a:rPr lang="zh-CN" altLang="en-US" sz="2400">
                <a:solidFill>
                  <a:schemeClr val="tx2"/>
                </a:solidFill>
                <a:latin typeface="楷体_GB2312" pitchFamily="49" charset="-122"/>
              </a:rPr>
              <a:t>/</a:t>
            </a:r>
            <a:r>
              <a:rPr lang="zh-CN" altLang="zh-CN" sz="2400">
                <a:solidFill>
                  <a:schemeClr val="tx2"/>
                </a:solidFill>
                <a:latin typeface="楷体_GB2312" pitchFamily="49" charset="-122"/>
              </a:rPr>
              <a:t>存</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数部件</a:t>
            </a:r>
            <a:endParaRPr lang="zh-CN" altLang="zh-CN" sz="2400">
              <a:solidFill>
                <a:schemeClr val="tx2"/>
              </a:solidFill>
              <a:latin typeface="楷体_GB2312" pitchFamily="49" charset="-122"/>
            </a:endParaRPr>
          </a:p>
        </p:txBody>
      </p:sp>
      <p:sp>
        <p:nvSpPr>
          <p:cNvPr id="240664" name="Rectangle 91"/>
          <p:cNvSpPr>
            <a:spLocks noChangeArrowheads="1"/>
          </p:cNvSpPr>
          <p:nvPr/>
        </p:nvSpPr>
        <p:spPr bwMode="auto">
          <a:xfrm>
            <a:off x="2608263" y="3568700"/>
            <a:ext cx="1246187" cy="728663"/>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通用寄</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存器堆</a:t>
            </a:r>
            <a:endParaRPr lang="zh-CN" altLang="zh-CN" sz="2400">
              <a:solidFill>
                <a:schemeClr val="tx2"/>
              </a:solidFill>
              <a:latin typeface="楷体_GB2312" pitchFamily="49" charset="-122"/>
            </a:endParaRPr>
          </a:p>
        </p:txBody>
      </p:sp>
      <p:sp>
        <p:nvSpPr>
          <p:cNvPr id="240665" name="Rectangle 92"/>
          <p:cNvSpPr>
            <a:spLocks noChangeArrowheads="1"/>
          </p:cNvSpPr>
          <p:nvPr/>
        </p:nvSpPr>
        <p:spPr bwMode="auto">
          <a:xfrm>
            <a:off x="4000500" y="3568700"/>
            <a:ext cx="1246188" cy="728663"/>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扩展寄</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存器堆</a:t>
            </a:r>
            <a:endParaRPr lang="zh-CN" altLang="zh-CN" sz="2400">
              <a:solidFill>
                <a:schemeClr val="tx2"/>
              </a:solidFill>
              <a:latin typeface="楷体_GB2312" pitchFamily="49" charset="-122"/>
            </a:endParaRPr>
          </a:p>
        </p:txBody>
      </p:sp>
      <p:sp>
        <p:nvSpPr>
          <p:cNvPr id="240666" name="Rectangle 93"/>
          <p:cNvSpPr>
            <a:spLocks noChangeArrowheads="1"/>
          </p:cNvSpPr>
          <p:nvPr/>
        </p:nvSpPr>
        <p:spPr bwMode="auto">
          <a:xfrm>
            <a:off x="5392738" y="3568700"/>
            <a:ext cx="1160462" cy="728663"/>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目标指</a:t>
            </a:r>
            <a:endParaRPr lang="zh-CN" altLang="en-US" sz="2400">
              <a:solidFill>
                <a:schemeClr val="tx2"/>
              </a:solidFill>
              <a:latin typeface="楷体_GB2312" pitchFamily="49" charset="-122"/>
            </a:endParaRPr>
          </a:p>
          <a:p>
            <a:pPr algn="ctr" eaLnBrk="1" hangingPunct="1">
              <a:lnSpc>
                <a:spcPct val="80000"/>
              </a:lnSpc>
              <a:spcBef>
                <a:spcPct val="0"/>
              </a:spcBef>
              <a:buClrTx/>
              <a:buFontTx/>
              <a:buNone/>
            </a:pPr>
            <a:r>
              <a:rPr lang="zh-CN" altLang="zh-CN" sz="2400">
                <a:solidFill>
                  <a:schemeClr val="tx2"/>
                </a:solidFill>
                <a:latin typeface="楷体_GB2312" pitchFamily="49" charset="-122"/>
              </a:rPr>
              <a:t>令</a:t>
            </a:r>
            <a:r>
              <a:rPr lang="zh-CN" altLang="en-US" sz="2400">
                <a:solidFill>
                  <a:schemeClr val="tx2"/>
                </a:solidFill>
                <a:latin typeface="楷体_GB2312" pitchFamily="49" charset="-122"/>
              </a:rPr>
              <a:t>C</a:t>
            </a:r>
            <a:r>
              <a:rPr lang="en-US" altLang="zh-CN" sz="2400">
                <a:solidFill>
                  <a:schemeClr val="tx2"/>
                </a:solidFill>
                <a:latin typeface="楷体_GB2312" pitchFamily="49" charset="-122"/>
              </a:rPr>
              <a:t>ache</a:t>
            </a:r>
            <a:endParaRPr lang="zh-CN" altLang="zh-CN" sz="2400">
              <a:solidFill>
                <a:schemeClr val="tx2"/>
              </a:solidFill>
              <a:latin typeface="楷体_GB2312" pitchFamily="49" charset="-122"/>
            </a:endParaRPr>
          </a:p>
        </p:txBody>
      </p:sp>
      <p:sp>
        <p:nvSpPr>
          <p:cNvPr id="240667" name="Rectangle 94"/>
          <p:cNvSpPr>
            <a:spLocks noChangeArrowheads="1"/>
          </p:cNvSpPr>
          <p:nvPr/>
        </p:nvSpPr>
        <p:spPr bwMode="auto">
          <a:xfrm>
            <a:off x="7077075" y="3568700"/>
            <a:ext cx="1612900" cy="728663"/>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指令分配</a:t>
            </a:r>
            <a:r>
              <a:rPr lang="zh-CN" altLang="en-US" sz="2400">
                <a:solidFill>
                  <a:schemeClr val="tx2"/>
                </a:solidFill>
                <a:latin typeface="楷体_GB2312" pitchFamily="49" charset="-122"/>
              </a:rPr>
              <a:t>/</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转移部件</a:t>
            </a:r>
            <a:endParaRPr lang="zh-CN" altLang="zh-CN" sz="2400">
              <a:solidFill>
                <a:schemeClr val="tx2"/>
              </a:solidFill>
              <a:latin typeface="楷体_GB2312" pitchFamily="49" charset="-122"/>
            </a:endParaRPr>
          </a:p>
        </p:txBody>
      </p:sp>
      <p:sp>
        <p:nvSpPr>
          <p:cNvPr id="240668" name="Line 95"/>
          <p:cNvSpPr>
            <a:spLocks noChangeShapeType="1"/>
          </p:cNvSpPr>
          <p:nvPr/>
        </p:nvSpPr>
        <p:spPr bwMode="auto">
          <a:xfrm>
            <a:off x="1876425" y="3082925"/>
            <a:ext cx="0" cy="48577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69" name="Line 96"/>
          <p:cNvSpPr>
            <a:spLocks noChangeShapeType="1"/>
          </p:cNvSpPr>
          <p:nvPr/>
        </p:nvSpPr>
        <p:spPr bwMode="auto">
          <a:xfrm>
            <a:off x="3194050" y="3082925"/>
            <a:ext cx="0" cy="48577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0" name="Line 97"/>
          <p:cNvSpPr>
            <a:spLocks noChangeShapeType="1"/>
          </p:cNvSpPr>
          <p:nvPr/>
        </p:nvSpPr>
        <p:spPr bwMode="auto">
          <a:xfrm>
            <a:off x="4586288" y="3082925"/>
            <a:ext cx="0" cy="48577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1" name="Line 98"/>
          <p:cNvSpPr>
            <a:spLocks noChangeShapeType="1"/>
          </p:cNvSpPr>
          <p:nvPr/>
        </p:nvSpPr>
        <p:spPr bwMode="auto">
          <a:xfrm>
            <a:off x="7956550" y="3082925"/>
            <a:ext cx="0" cy="48577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2" name="Line 99"/>
          <p:cNvSpPr>
            <a:spLocks noChangeShapeType="1"/>
          </p:cNvSpPr>
          <p:nvPr/>
        </p:nvSpPr>
        <p:spPr bwMode="auto">
          <a:xfrm>
            <a:off x="6553200" y="3894138"/>
            <a:ext cx="533400" cy="0"/>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3" name="Rectangle 100"/>
          <p:cNvSpPr>
            <a:spLocks noChangeArrowheads="1"/>
          </p:cNvSpPr>
          <p:nvPr/>
        </p:nvSpPr>
        <p:spPr bwMode="auto">
          <a:xfrm>
            <a:off x="1216025" y="4602163"/>
            <a:ext cx="3151188" cy="4254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数据Cache (8KB)</a:t>
            </a:r>
            <a:endParaRPr lang="zh-CN" altLang="zh-CN" sz="2400">
              <a:solidFill>
                <a:schemeClr val="tx2"/>
              </a:solidFill>
              <a:latin typeface="楷体_GB2312" pitchFamily="49" charset="-122"/>
            </a:endParaRPr>
          </a:p>
        </p:txBody>
      </p:sp>
      <p:sp>
        <p:nvSpPr>
          <p:cNvPr id="240674" name="Rectangle 101"/>
          <p:cNvSpPr>
            <a:spLocks noChangeArrowheads="1"/>
          </p:cNvSpPr>
          <p:nvPr/>
        </p:nvSpPr>
        <p:spPr bwMode="auto">
          <a:xfrm>
            <a:off x="5538788" y="4602163"/>
            <a:ext cx="3151187" cy="425450"/>
          </a:xfrm>
          <a:prstGeom prst="rect">
            <a:avLst/>
          </a:prstGeom>
          <a:noFill/>
          <a:ln w="28575">
            <a:solidFill>
              <a:schemeClr val="tx2"/>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指令Cache (8KB)</a:t>
            </a:r>
            <a:endParaRPr lang="zh-CN" altLang="zh-CN" sz="2400">
              <a:solidFill>
                <a:schemeClr val="tx2"/>
              </a:solidFill>
              <a:latin typeface="楷体_GB2312" pitchFamily="49" charset="-122"/>
            </a:endParaRPr>
          </a:p>
        </p:txBody>
      </p:sp>
      <p:sp>
        <p:nvSpPr>
          <p:cNvPr id="240675" name="Line 102"/>
          <p:cNvSpPr>
            <a:spLocks noChangeShapeType="1"/>
          </p:cNvSpPr>
          <p:nvPr/>
        </p:nvSpPr>
        <p:spPr bwMode="auto">
          <a:xfrm>
            <a:off x="1876425" y="4297363"/>
            <a:ext cx="0" cy="304800"/>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6" name="Line 103"/>
          <p:cNvSpPr>
            <a:spLocks noChangeShapeType="1"/>
          </p:cNvSpPr>
          <p:nvPr/>
        </p:nvSpPr>
        <p:spPr bwMode="auto">
          <a:xfrm>
            <a:off x="7956550" y="4297363"/>
            <a:ext cx="0" cy="304800"/>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7" name="Line 104"/>
          <p:cNvSpPr>
            <a:spLocks noChangeShapeType="1"/>
          </p:cNvSpPr>
          <p:nvPr/>
        </p:nvSpPr>
        <p:spPr bwMode="auto">
          <a:xfrm>
            <a:off x="2754313" y="5027613"/>
            <a:ext cx="0" cy="423862"/>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8" name="Line 105"/>
          <p:cNvSpPr>
            <a:spLocks noChangeShapeType="1"/>
          </p:cNvSpPr>
          <p:nvPr/>
        </p:nvSpPr>
        <p:spPr bwMode="auto">
          <a:xfrm>
            <a:off x="7224713" y="5027613"/>
            <a:ext cx="0" cy="423862"/>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9" name="Line 106"/>
          <p:cNvSpPr>
            <a:spLocks noChangeShapeType="1"/>
          </p:cNvSpPr>
          <p:nvPr/>
        </p:nvSpPr>
        <p:spPr bwMode="auto">
          <a:xfrm>
            <a:off x="1143000" y="5451475"/>
            <a:ext cx="7620000" cy="0"/>
          </a:xfrm>
          <a:prstGeom prst="line">
            <a:avLst/>
          </a:prstGeom>
          <a:noFill/>
          <a:ln w="28575">
            <a:solidFill>
              <a:schemeClr val="tx2"/>
            </a:solidFill>
            <a:round/>
            <a:head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80" name="Rectangle 107"/>
          <p:cNvSpPr>
            <a:spLocks noChangeArrowheads="1"/>
          </p:cNvSpPr>
          <p:nvPr/>
        </p:nvSpPr>
        <p:spPr bwMode="auto">
          <a:xfrm>
            <a:off x="4146550" y="5027613"/>
            <a:ext cx="1612900" cy="423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系统总线</a:t>
            </a:r>
            <a:endParaRPr lang="zh-CN" altLang="zh-CN" sz="2400">
              <a:solidFill>
                <a:schemeClr val="tx2"/>
              </a:solidFill>
              <a:latin typeface="楷体_GB2312" pitchFamily="49" charset="-122"/>
            </a:endParaRPr>
          </a:p>
        </p:txBody>
      </p:sp>
      <p:sp>
        <p:nvSpPr>
          <p:cNvPr id="240681" name="Line 108"/>
          <p:cNvSpPr>
            <a:spLocks noChangeShapeType="1"/>
          </p:cNvSpPr>
          <p:nvPr/>
        </p:nvSpPr>
        <p:spPr bwMode="auto">
          <a:xfrm>
            <a:off x="4367213" y="5451475"/>
            <a:ext cx="0" cy="425450"/>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82" name="Rectangle 109"/>
          <p:cNvSpPr>
            <a:spLocks noChangeArrowheads="1"/>
          </p:cNvSpPr>
          <p:nvPr/>
        </p:nvSpPr>
        <p:spPr bwMode="auto">
          <a:xfrm>
            <a:off x="1876425" y="5451475"/>
            <a:ext cx="2343150" cy="425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32位地址总线</a:t>
            </a:r>
            <a:endParaRPr lang="zh-CN" altLang="zh-CN" sz="2400">
              <a:solidFill>
                <a:schemeClr val="tx2"/>
              </a:solidFill>
              <a:latin typeface="楷体_GB2312" pitchFamily="49" charset="-122"/>
            </a:endParaRPr>
          </a:p>
        </p:txBody>
      </p:sp>
      <p:sp>
        <p:nvSpPr>
          <p:cNvPr id="240683" name="Rectangle 110"/>
          <p:cNvSpPr>
            <a:spLocks noChangeArrowheads="1"/>
          </p:cNvSpPr>
          <p:nvPr/>
        </p:nvSpPr>
        <p:spPr bwMode="auto">
          <a:xfrm>
            <a:off x="5611813" y="5451475"/>
            <a:ext cx="2344737" cy="425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anose="05050102010706020507" pitchFamily="18" charset="2"/>
              </a:rPr>
              <a:t>32位数据总线</a:t>
            </a:r>
            <a:endParaRPr lang="zh-CN" altLang="zh-CN" sz="2400">
              <a:solidFill>
                <a:schemeClr val="tx2"/>
              </a:solidFill>
              <a:latin typeface="楷体_GB2312" pitchFamily="49" charset="-122"/>
            </a:endParaRPr>
          </a:p>
        </p:txBody>
      </p:sp>
      <p:sp>
        <p:nvSpPr>
          <p:cNvPr id="240684" name="Line 111"/>
          <p:cNvSpPr>
            <a:spLocks noChangeShapeType="1"/>
          </p:cNvSpPr>
          <p:nvPr/>
        </p:nvSpPr>
        <p:spPr bwMode="auto">
          <a:xfrm>
            <a:off x="5538788" y="5451475"/>
            <a:ext cx="0" cy="425450"/>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34320" name="Rectangle 112"/>
          <p:cNvSpPr>
            <a:spLocks noChangeArrowheads="1"/>
          </p:cNvSpPr>
          <p:nvPr/>
        </p:nvSpPr>
        <p:spPr bwMode="auto">
          <a:xfrm>
            <a:off x="2133600" y="5951538"/>
            <a:ext cx="5495925" cy="425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p>
            <a:pPr algn="ctr">
              <a:lnSpc>
                <a:spcPct val="80000"/>
              </a:lnSpc>
              <a:spcBef>
                <a:spcPct val="0"/>
              </a:spcBef>
              <a:buClrTx/>
              <a:buFontTx/>
              <a:buNone/>
              <a:defRPr/>
            </a:pPr>
            <a:r>
              <a:rPr lang="zh-CN" altLang="zh-CN" sz="2400" b="1">
                <a:solidFill>
                  <a:srgbClr val="0000CC"/>
                </a:solidFill>
                <a:effectLst>
                  <a:outerShdw blurRad="38100" dist="38100" dir="2700000" algn="tl">
                    <a:srgbClr val="C0C0C0"/>
                  </a:outerShdw>
                </a:effectLst>
                <a:latin typeface="楷体_GB2312" pitchFamily="49" charset="-122"/>
                <a:ea typeface="楷体_GB2312" pitchFamily="49" charset="-122"/>
                <a:sym typeface="Symbol" panose="05050102010706020507" pitchFamily="18" charset="2"/>
              </a:rPr>
              <a:t>超标量处理机MC88110的结构</a:t>
            </a:r>
            <a:endParaRPr lang="zh-CN" altLang="zh-CN" sz="2400" b="1">
              <a:solidFill>
                <a:srgbClr val="0000CC"/>
              </a:solidFill>
              <a:effectLst>
                <a:outerShdw blurRad="38100" dist="38100" dir="2700000" algn="tl">
                  <a:srgbClr val="C0C0C0"/>
                </a:outerShdw>
              </a:effectLst>
              <a:latin typeface="楷体_GB2312" pitchFamily="49" charset="-122"/>
              <a:ea typeface="楷体_GB2312"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5278" name="Rectangle 46"/>
          <p:cNvSpPr>
            <a:spLocks noGrp="1" noChangeArrowheads="1"/>
          </p:cNvSpPr>
          <p:nvPr>
            <p:ph type="title"/>
          </p:nvPr>
        </p:nvSpPr>
        <p:spPr/>
        <p:txBody>
          <a:bodyPr/>
          <a:lstStyle/>
          <a:p>
            <a:pPr eaLnBrk="1" hangingPunct="1">
              <a:defRPr/>
            </a:pPr>
            <a:r>
              <a:rPr lang="zh-CN" altLang="en-US" smtClean="0"/>
              <a:t>超标量处理机</a:t>
            </a:r>
            <a:br>
              <a:rPr lang="zh-CN" altLang="en-US" sz="3200" smtClean="0"/>
            </a:br>
            <a:r>
              <a:rPr lang="zh-CN" altLang="en-US" sz="3200" smtClean="0"/>
              <a:t>                       — 举例</a:t>
            </a:r>
            <a:r>
              <a:rPr lang="en-US" altLang="zh-CN" sz="3200" smtClean="0"/>
              <a:t>(2)</a:t>
            </a:r>
            <a:endParaRPr lang="en-US" altLang="zh-CN" sz="3200" smtClean="0"/>
          </a:p>
        </p:txBody>
      </p:sp>
      <p:sp>
        <p:nvSpPr>
          <p:cNvPr id="735279" name="Rectangle 47"/>
          <p:cNvSpPr>
            <a:spLocks noGrp="1" noChangeArrowheads="1"/>
          </p:cNvSpPr>
          <p:nvPr>
            <p:ph type="body" idx="1"/>
          </p:nvPr>
        </p:nvSpPr>
        <p:spPr/>
        <p:txBody>
          <a:bodyPr/>
          <a:lstStyle/>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10个操作部件</a:t>
            </a:r>
            <a:endParaRPr lang="zh-CN" altLang="en-US" sz="24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400" dirty="0" smtClean="0"/>
              <a:t>   一般分为三类：定点处理部件、浮点处理部件和图形加速部件。</a:t>
            </a:r>
            <a:endParaRPr lang="zh-CN" altLang="en-US" sz="2400" dirty="0" smtClean="0"/>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两个寄存器堆</a:t>
            </a:r>
            <a:endParaRPr lang="zh-CN" altLang="en-US" sz="24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400" dirty="0" smtClean="0"/>
              <a:t>   整数部件使用通用寄存器堆，32个32位寄存器；浮点部件使用扩展寄存器堆，32个80位寄存器。</a:t>
            </a:r>
            <a:endParaRPr lang="zh-CN" altLang="en-US" sz="2400" dirty="0" smtClean="0"/>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两个独立的高速</a:t>
            </a:r>
            <a:r>
              <a:rPr lang="en-US" altLang="zh-CN" sz="2400" dirty="0" smtClean="0">
                <a:solidFill>
                  <a:srgbClr val="FF0000"/>
                </a:solidFill>
                <a:effectLst>
                  <a:outerShdw blurRad="38100" dist="38100" dir="2700000" algn="tl">
                    <a:srgbClr val="C0C0C0"/>
                  </a:outerShdw>
                </a:effectLst>
              </a:rPr>
              <a:t>Cache</a:t>
            </a:r>
            <a:endParaRPr lang="en-US" altLang="zh-CN" sz="24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400" dirty="0" smtClean="0"/>
              <a:t>   哈佛结构，各为8</a:t>
            </a:r>
            <a:r>
              <a:rPr lang="en-US" altLang="zh-CN" sz="2400" dirty="0" smtClean="0"/>
              <a:t>KB，</a:t>
            </a:r>
            <a:r>
              <a:rPr lang="zh-CN" altLang="en-US" sz="2400" dirty="0" smtClean="0"/>
              <a:t>采用两路组相联方式工作。</a:t>
            </a:r>
            <a:endParaRPr lang="zh-CN" altLang="en-US" sz="2400" dirty="0" smtClean="0"/>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转移目标指令</a:t>
            </a:r>
            <a:r>
              <a:rPr lang="en-US" altLang="zh-CN" sz="2400" dirty="0" smtClean="0">
                <a:solidFill>
                  <a:srgbClr val="FF0000"/>
                </a:solidFill>
                <a:effectLst>
                  <a:outerShdw blurRad="38100" dist="38100" dir="2700000" algn="tl">
                    <a:srgbClr val="C0C0C0"/>
                  </a:outerShdw>
                </a:effectLst>
              </a:rPr>
              <a:t>Cache</a:t>
            </a:r>
            <a:endParaRPr lang="en-US" altLang="zh-CN" sz="2400" dirty="0" smtClean="0">
              <a:solidFill>
                <a:srgbClr val="FF0000"/>
              </a:solidFill>
              <a:effectLst>
                <a:outerShdw blurRad="38100" dist="38100" dir="2700000" algn="tl">
                  <a:srgbClr val="C0C0C0"/>
                </a:outerShdw>
              </a:effectLst>
            </a:endParaRPr>
          </a:p>
          <a:p>
            <a:pPr marL="0" indent="0" eaLnBrk="1" hangingPunct="1">
              <a:buFont typeface="Wingdings" panose="05000000000000000000" pitchFamily="2" charset="2"/>
              <a:buNone/>
              <a:defRPr/>
            </a:pPr>
            <a:r>
              <a:rPr lang="zh-CN" altLang="en-US" sz="2400" dirty="0" smtClean="0"/>
              <a:t>   在有两路分支时，存放其中一路分支上的指令。</a:t>
            </a:r>
            <a:endParaRPr lang="zh-CN" altLang="en-US" sz="2400" dirty="0" smtClean="0"/>
          </a:p>
        </p:txBody>
      </p:sp>
      <p:sp>
        <p:nvSpPr>
          <p:cNvPr id="241668"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工作原理</a:t>
            </a:r>
            <a:endParaRPr lang="zh-CN" altLang="en-US" sz="1200" b="0">
              <a:latin typeface="Times New Roman" panose="02020603050405020304" pitchFamily="18" charset="0"/>
              <a:ea typeface="幼圆" panose="02010509060101010101" pitchFamily="49" charset="-122"/>
            </a:endParaRPr>
          </a:p>
        </p:txBody>
      </p:sp>
      <p:sp>
        <p:nvSpPr>
          <p:cNvPr id="241669"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8 之 8</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0514" name="Rectangle 2"/>
          <p:cNvSpPr>
            <a:spLocks noGrp="1" noChangeArrowheads="1"/>
          </p:cNvSpPr>
          <p:nvPr>
            <p:ph type="title"/>
          </p:nvPr>
        </p:nvSpPr>
        <p:spPr/>
        <p:txBody>
          <a:bodyPr/>
          <a:lstStyle/>
          <a:p>
            <a:pPr eaLnBrk="1" hangingPunct="1">
              <a:defRPr/>
            </a:pPr>
            <a:r>
              <a:rPr lang="zh-CN" altLang="en-US" smtClean="0"/>
              <a:t>调度方法</a:t>
            </a:r>
            <a:endParaRPr lang="zh-CN" altLang="en-US" smtClean="0"/>
          </a:p>
        </p:txBody>
      </p:sp>
      <p:sp>
        <p:nvSpPr>
          <p:cNvPr id="242691" name="Rectangle 3"/>
          <p:cNvSpPr>
            <a:spLocks noGrp="1" noChangeArrowheads="1"/>
          </p:cNvSpPr>
          <p:nvPr>
            <p:ph type="body" sz="half" idx="1"/>
          </p:nvPr>
        </p:nvSpPr>
        <p:spPr>
          <a:xfrm>
            <a:off x="809625" y="2205038"/>
            <a:ext cx="3902075" cy="3514725"/>
          </a:xfrm>
          <a:solidFill>
            <a:srgbClr val="FFFF99"/>
          </a:solidFill>
          <a:ln w="57150" cmpd="thickThin">
            <a:solidFill>
              <a:schemeClr val="tx1"/>
            </a:solidFill>
            <a:miter lim="800000"/>
          </a:ln>
        </p:spPr>
        <p:txBody>
          <a:bodyPr/>
          <a:lstStyle/>
          <a:p>
            <a:pPr marL="0" indent="0" eaLnBrk="1" hangingPunct="1">
              <a:lnSpc>
                <a:spcPct val="150000"/>
              </a:lnSpc>
              <a:buFont typeface="Wingdings" panose="05000000000000000000" pitchFamily="2" charset="2"/>
              <a:buNone/>
            </a:pPr>
            <a:r>
              <a:rPr lang="zh-CN" altLang="en-US" dirty="0" smtClean="0"/>
              <a:t>    根据多流水线中指令发射顺序和完成顺序的不同组合，多流水线调度可分为</a:t>
            </a:r>
            <a:r>
              <a:rPr lang="zh-CN" altLang="en-US" dirty="0" smtClean="0">
                <a:sym typeface="Wingdings" panose="05000000000000000000" pitchFamily="2" charset="2"/>
              </a:rPr>
              <a:t>：（下面通过一个例子进行介绍）</a:t>
            </a:r>
            <a:endParaRPr lang="zh-CN" altLang="en-US" dirty="0" smtClean="0"/>
          </a:p>
        </p:txBody>
      </p:sp>
      <p:sp>
        <p:nvSpPr>
          <p:cNvPr id="242692" name="Rectangle 4"/>
          <p:cNvSpPr>
            <a:spLocks noGrp="1" noChangeArrowheads="1"/>
          </p:cNvSpPr>
          <p:nvPr>
            <p:ph type="body" sz="half" idx="2"/>
          </p:nvPr>
        </p:nvSpPr>
        <p:spPr>
          <a:xfrm>
            <a:off x="4876800" y="2209800"/>
            <a:ext cx="3903663" cy="2514600"/>
          </a:xfrm>
          <a:solidFill>
            <a:srgbClr val="CC99FF"/>
          </a:solidFill>
          <a:ln w="57150" cmpd="thickThin">
            <a:solidFill>
              <a:schemeClr val="tx1"/>
            </a:solidFill>
            <a:miter lim="800000"/>
          </a:ln>
        </p:spPr>
        <p:txBody>
          <a:bodyPr/>
          <a:lstStyle/>
          <a:p>
            <a:pPr eaLnBrk="1" hangingPunct="1">
              <a:lnSpc>
                <a:spcPct val="160000"/>
              </a:lnSpc>
            </a:pPr>
            <a:r>
              <a:rPr lang="zh-CN" altLang="en-US" smtClean="0">
                <a:hlinkClick r:id="rId1" action="ppaction://hlinksldjump"/>
              </a:rPr>
              <a:t>顺序发射顺序完成</a:t>
            </a:r>
            <a:endParaRPr lang="zh-CN" altLang="en-US" smtClean="0"/>
          </a:p>
          <a:p>
            <a:pPr eaLnBrk="1" hangingPunct="1">
              <a:lnSpc>
                <a:spcPct val="160000"/>
              </a:lnSpc>
            </a:pPr>
            <a:r>
              <a:rPr lang="zh-CN" altLang="en-US" smtClean="0">
                <a:hlinkClick r:id="rId2" action="ppaction://hlinksldjump"/>
              </a:rPr>
              <a:t>顺序发射乱序完成</a:t>
            </a:r>
            <a:endParaRPr lang="zh-CN" altLang="en-US" smtClean="0"/>
          </a:p>
          <a:p>
            <a:pPr eaLnBrk="1" hangingPunct="1">
              <a:lnSpc>
                <a:spcPct val="160000"/>
              </a:lnSpc>
            </a:pPr>
            <a:r>
              <a:rPr lang="zh-CN" altLang="en-US" smtClean="0">
                <a:hlinkClick r:id="rId3" action="ppaction://hlinksldjump"/>
              </a:rPr>
              <a:t>乱序发射乱序完成</a:t>
            </a:r>
            <a:endParaRPr lang="zh-CN" altLang="en-US" smtClean="0"/>
          </a:p>
        </p:txBody>
      </p:sp>
      <p:sp>
        <p:nvSpPr>
          <p:cNvPr id="242693"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4"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6" action="ppaction://hlinksldjump"/>
              </a:rPr>
              <a:t>超标量处理机</a:t>
            </a:r>
            <a:endParaRPr lang="zh-CN" altLang="en-US" sz="1200" b="0">
              <a:latin typeface="Times New Roman" panose="02020603050405020304" pitchFamily="18" charset="0"/>
              <a:ea typeface="幼圆" panose="02010509060101010101" pitchFamily="49" charset="-122"/>
            </a:endParaRPr>
          </a:p>
        </p:txBody>
      </p:sp>
      <p:sp>
        <p:nvSpPr>
          <p:cNvPr id="242694" name="AutoShape 6"/>
          <p:cNvSpPr>
            <a:spLocks noChangeArrowheads="1"/>
          </p:cNvSpPr>
          <p:nvPr/>
        </p:nvSpPr>
        <p:spPr bwMode="auto">
          <a:xfrm>
            <a:off x="5086350" y="4941888"/>
            <a:ext cx="2438400" cy="762000"/>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17694720 60000 65536"/>
              <a:gd name="T13" fmla="*/ 11796480 60000 65536"/>
              <a:gd name="T14" fmla="*/ 11796480 60000 65536"/>
              <a:gd name="T15" fmla="*/ 5898240 60000 65536"/>
              <a:gd name="T16" fmla="*/ 0 60000 65536"/>
              <a:gd name="T17" fmla="*/ 0 60000 65536"/>
              <a:gd name="T18" fmla="*/ 0 w 21600"/>
              <a:gd name="T19" fmla="*/ 12455 h 21600"/>
              <a:gd name="T20" fmla="*/ 18267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4400" y="0"/>
                </a:moveTo>
                <a:lnTo>
                  <a:pt x="7200" y="6621"/>
                </a:lnTo>
                <a:lnTo>
                  <a:pt x="10533" y="6621"/>
                </a:lnTo>
                <a:lnTo>
                  <a:pt x="10533" y="12455"/>
                </a:lnTo>
                <a:lnTo>
                  <a:pt x="0" y="12455"/>
                </a:lnTo>
                <a:lnTo>
                  <a:pt x="0" y="21600"/>
                </a:lnTo>
                <a:lnTo>
                  <a:pt x="18267" y="21600"/>
                </a:lnTo>
                <a:lnTo>
                  <a:pt x="18267" y="6621"/>
                </a:lnTo>
                <a:lnTo>
                  <a:pt x="21600" y="6621"/>
                </a:lnTo>
                <a:lnTo>
                  <a:pt x="14400" y="0"/>
                </a:lnTo>
                <a:close/>
              </a:path>
            </a:pathLst>
          </a:custGeom>
          <a:solidFill>
            <a:srgbClr val="FFFF00"/>
          </a:solidFill>
          <a:ln w="28575">
            <a:solidFill>
              <a:schemeClr val="tx1"/>
            </a:solidFill>
            <a:miter lim="800000"/>
          </a:ln>
          <a:effectLst>
            <a:outerShdw dist="107763" dir="2700000" algn="ctr" rotWithShape="0">
              <a:schemeClr val="bg2"/>
            </a:outerShdw>
          </a:effectLst>
        </p:spPr>
        <p:txBody>
          <a:bodyPr wrap="none" anchor="ctr"/>
          <a:lstStyle/>
          <a:p>
            <a:endParaRPr lang="zh-CN" altLang="en-US"/>
          </a:p>
        </p:txBody>
      </p:sp>
      <p:sp>
        <p:nvSpPr>
          <p:cNvPr id="242695"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1</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7" name="projctor.wav"/>
      </p:stSnd>
    </p:sndAc>
  </p:transition>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3714" name="Text Box 3"/>
          <p:cNvSpPr txBox="1">
            <a:spLocks noChangeArrowheads="1"/>
          </p:cNvSpPr>
          <p:nvPr/>
        </p:nvSpPr>
        <p:spPr bwMode="auto">
          <a:xfrm>
            <a:off x="2590800" y="6172200"/>
            <a:ext cx="3810000" cy="519113"/>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800">
                <a:latin typeface="Comic Sans MS" panose="030F0702030302020204" pitchFamily="66" charset="0"/>
              </a:rPr>
              <a:t>顺序发射顺序完成</a:t>
            </a:r>
            <a:endParaRPr lang="zh-CN" altLang="en-US" sz="2800">
              <a:latin typeface="Comic Sans MS" panose="030F0702030302020204" pitchFamily="66" charset="0"/>
            </a:endParaRPr>
          </a:p>
        </p:txBody>
      </p:sp>
      <p:sp>
        <p:nvSpPr>
          <p:cNvPr id="737289" name="AutoShape 9">
            <a:hlinkClick r:id="rId1" action="ppaction://hlinksldjump" highlightClick="1"/>
          </p:cNvPr>
          <p:cNvSpPr>
            <a:spLocks noChangeArrowheads="1"/>
          </p:cNvSpPr>
          <p:nvPr/>
        </p:nvSpPr>
        <p:spPr bwMode="auto">
          <a:xfrm>
            <a:off x="8229600" y="6248400"/>
            <a:ext cx="685800" cy="381000"/>
          </a:xfrm>
          <a:prstGeom prst="actionButtonBackPrevious">
            <a:avLst/>
          </a:prstGeom>
          <a:gradFill rotWithShape="0">
            <a:gsLst>
              <a:gs pos="0">
                <a:schemeClr val="accent1"/>
              </a:gs>
              <a:gs pos="100000">
                <a:schemeClr val="accent1">
                  <a:gamma/>
                  <a:shade val="46275"/>
                  <a:invGamma/>
                </a:schemeClr>
              </a:gs>
            </a:gsLst>
            <a:path path="rect">
              <a:fillToRect l="50000" t="50000" r="50000" b="50000"/>
            </a:path>
          </a:gradFill>
          <a:ln w="9525">
            <a:solidFill>
              <a:schemeClr val="accent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buClr>
                <a:schemeClr val="accent2"/>
              </a:buClr>
              <a:defRPr/>
            </a:pPr>
            <a:endParaRPr lang="zh-CN" altLang="en-US">
              <a:latin typeface="Times New Roman" panose="02020603050405020304" pitchFamily="18" charset="0"/>
            </a:endParaRPr>
          </a:p>
        </p:txBody>
      </p:sp>
      <p:pic>
        <p:nvPicPr>
          <p:cNvPr id="243716" name="Picture 1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91400" y="6324600"/>
            <a:ext cx="11430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739465" name="Group 137"/>
          <p:cNvGraphicFramePr>
            <a:graphicFrameLocks noGrp="1"/>
          </p:cNvGraphicFramePr>
          <p:nvPr/>
        </p:nvGraphicFramePr>
        <p:xfrm>
          <a:off x="914400" y="304800"/>
          <a:ext cx="7391400" cy="2463799"/>
        </p:xfrm>
        <a:graphic>
          <a:graphicData uri="http://schemas.openxmlformats.org/drawingml/2006/table">
            <a:tbl>
              <a:tblPr/>
              <a:tblGrid>
                <a:gridCol w="730250"/>
                <a:gridCol w="1311275"/>
                <a:gridCol w="782638"/>
                <a:gridCol w="1006475"/>
                <a:gridCol w="3560762"/>
              </a:tblGrid>
              <a:tr h="40396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rPr>
                        <a:t>I1:</a:t>
                      </a:r>
                      <a:endParaRPr kumimoji="1" lang="en-US" altLang="zh-CN"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LOAD</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R1,</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;R1←</a:t>
                      </a: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主存（</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a:t>
                      </a: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单元</a:t>
                      </a: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r>
              <a:tr h="40396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I2:</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FADD</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R2,</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R1</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R2←(R2)+(R1)</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12856">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I3:</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FMUL</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R3,</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R4</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rPr>
                        <a:t>R3←(R3)×(R4)</a:t>
                      </a:r>
                      <a:endParaRPr kumimoji="1" lang="zh-CN" altLang="en-US"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0396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I4:</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FADD</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R4,</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R5</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R4←(R4)+(R5)</a:t>
                      </a: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35087">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I5:</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DEC</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R6</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R6←(R6)-1</a:t>
                      </a: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0396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I6:</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FMUL</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R6,</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R7</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rPr>
                        <a:t>R6←(R6)×(R7)</a:t>
                      </a:r>
                      <a:endParaRPr kumimoji="1" lang="zh-CN" altLang="en-US"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graphicFrame>
        <p:nvGraphicFramePr>
          <p:cNvPr id="739478" name="Group 150"/>
          <p:cNvGraphicFramePr>
            <a:graphicFrameLocks noGrp="1"/>
          </p:cNvGraphicFramePr>
          <p:nvPr/>
        </p:nvGraphicFramePr>
        <p:xfrm>
          <a:off x="1295400" y="3276600"/>
          <a:ext cx="7315200" cy="2565400"/>
        </p:xfrm>
        <a:graphic>
          <a:graphicData uri="http://schemas.openxmlformats.org/drawingml/2006/table">
            <a:tbl>
              <a:tblPr/>
              <a:tblGrid>
                <a:gridCol w="731838"/>
                <a:gridCol w="730250"/>
                <a:gridCol w="733425"/>
                <a:gridCol w="730250"/>
                <a:gridCol w="731837"/>
                <a:gridCol w="731838"/>
                <a:gridCol w="730250"/>
                <a:gridCol w="733425"/>
                <a:gridCol w="730250"/>
                <a:gridCol w="731837"/>
              </a:tblGrid>
              <a:tr h="4286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dirty="0" smtClean="0">
                          <a:ln>
                            <a:noFill/>
                          </a:ln>
                          <a:solidFill>
                            <a:schemeClr val="tx1"/>
                          </a:solidFill>
                          <a:effectLst/>
                          <a:latin typeface="Comic Sans MS" panose="030F0702030302020204" pitchFamily="66" charset="0"/>
                          <a:ea typeface="楷体_GB2312" pitchFamily="49" charset="-122"/>
                        </a:rPr>
                        <a:t>IF1</a:t>
                      </a:r>
                      <a:endParaRPr kumimoji="1" lang="en-US" altLang="zh-CN" sz="2400" b="0" i="0" u="none" strike="noStrike" cap="none" normalizeH="0" baseline="0" dirty="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LS</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cap="flat">
                      <a:noFill/>
                    </a:lnT>
                    <a:lnB>
                      <a:noFill/>
                    </a:lnB>
                    <a:lnTlToBr>
                      <a:noFill/>
                    </a:lnTlToBr>
                    <a:lnBlToTr>
                      <a:noFill/>
                    </a:lnBlToTr>
                    <a:noFill/>
                  </a:tcPr>
                </a:tc>
              </a:tr>
              <a:tr h="4254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FA3</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rgbClr val="FF0000"/>
                          </a:solidFill>
                          <a:effectLst/>
                          <a:latin typeface="Comic Sans MS" panose="030F0702030302020204"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rPr>
                        <a:t>3</a:t>
                      </a:r>
                      <a:endPar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endParaRPr>
                    </a:p>
                  </a:txBody>
                  <a:tcPr marL="0" marR="0" marT="0" marB="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dirty="0" smtClean="0">
                          <a:ln>
                            <a:noFill/>
                          </a:ln>
                          <a:solidFill>
                            <a:schemeClr val="tx1"/>
                          </a:solidFill>
                          <a:effectLst/>
                          <a:latin typeface="Comic Sans MS" panose="030F0702030302020204" pitchFamily="66" charset="0"/>
                          <a:ea typeface="楷体_GB2312" pitchFamily="49" charset="-122"/>
                        </a:rPr>
                        <a:t>MD3</a:t>
                      </a:r>
                      <a:endParaRPr kumimoji="1" lang="en-US" altLang="zh-CN" sz="2400" b="0" i="0" u="none" strike="noStrike" cap="none" normalizeH="0" baseline="0" dirty="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rgbClr val="FF0000"/>
                          </a:solidFill>
                          <a:effectLst/>
                          <a:latin typeface="Comic Sans MS" panose="030F0702030302020204"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rPr>
                        <a:t>4</a:t>
                      </a:r>
                      <a:endPar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endParaRPr>
                    </a:p>
                  </a:txBody>
                  <a:tcPr marL="0" marR="0" marT="0" marB="0" anchor="ct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folHlink"/>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FA3</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54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cap="flat">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rgbClr val="FF0000"/>
                          </a:solidFill>
                          <a:effectLst/>
                          <a:latin typeface="Comic Sans MS" panose="030F0702030302020204"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rPr>
                        <a:t>5</a:t>
                      </a:r>
                      <a:endPar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endParaRPr>
                    </a:p>
                  </a:txBody>
                  <a:tcPr marL="0" marR="0" marT="0" marB="0"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AL</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tr>
              <a:tr h="4286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cap="flat">
                      <a:noFill/>
                    </a:lnL>
                    <a:lnR>
                      <a:noFill/>
                    </a:lnR>
                    <a:lnT>
                      <a:noFill/>
                    </a:lnT>
                    <a:lnB cap="flat">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rgbClr val="FF0000"/>
                          </a:solidFill>
                          <a:effectLst/>
                          <a:latin typeface="Comic Sans MS" panose="030F0702030302020204"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rPr>
                        <a:t>6</a:t>
                      </a:r>
                      <a:endPar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endParaRPr>
                    </a:p>
                  </a:txBody>
                  <a:tcPr marL="0" marR="0" marT="0" marB="0" anchor="ctr" horzOverflow="overflow">
                    <a:lnL>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MD3</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43831" name="Line 936"/>
          <p:cNvSpPr>
            <a:spLocks noChangeShapeType="1"/>
          </p:cNvSpPr>
          <p:nvPr/>
        </p:nvSpPr>
        <p:spPr bwMode="auto">
          <a:xfrm>
            <a:off x="838200" y="3276600"/>
            <a:ext cx="8153400"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3832" name="Line 937"/>
          <p:cNvSpPr>
            <a:spLocks noChangeShapeType="1"/>
          </p:cNvSpPr>
          <p:nvPr/>
        </p:nvSpPr>
        <p:spPr bwMode="auto">
          <a:xfrm>
            <a:off x="838200" y="3276600"/>
            <a:ext cx="0" cy="274320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3833" name="Text Box 939"/>
          <p:cNvSpPr txBox="1">
            <a:spLocks noChangeArrowheads="1"/>
          </p:cNvSpPr>
          <p:nvPr/>
        </p:nvSpPr>
        <p:spPr bwMode="auto">
          <a:xfrm>
            <a:off x="914400" y="33528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solidFill>
                  <a:srgbClr val="FF0000"/>
                </a:solidFill>
                <a:latin typeface="Comic Sans MS" panose="030F0702030302020204" pitchFamily="66" charset="0"/>
              </a:rPr>
              <a:t>I</a:t>
            </a:r>
            <a:r>
              <a:rPr lang="en-US" altLang="zh-CN" sz="2400" baseline="-25000">
                <a:solidFill>
                  <a:srgbClr val="FF0000"/>
                </a:solidFill>
                <a:latin typeface="Comic Sans MS" panose="030F0702030302020204" pitchFamily="66" charset="0"/>
              </a:rPr>
              <a:t>1</a:t>
            </a:r>
            <a:endParaRPr lang="en-US" altLang="zh-CN" sz="2400" baseline="-25000">
              <a:solidFill>
                <a:srgbClr val="FF0000"/>
              </a:solidFill>
              <a:latin typeface="Comic Sans MS" panose="030F0702030302020204" pitchFamily="66" charset="0"/>
            </a:endParaRPr>
          </a:p>
        </p:txBody>
      </p:sp>
      <p:sp>
        <p:nvSpPr>
          <p:cNvPr id="243834" name="Text Box 940"/>
          <p:cNvSpPr txBox="1">
            <a:spLocks noChangeArrowheads="1"/>
          </p:cNvSpPr>
          <p:nvPr/>
        </p:nvSpPr>
        <p:spPr bwMode="auto">
          <a:xfrm>
            <a:off x="914400" y="38100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solidFill>
                  <a:srgbClr val="FF0000"/>
                </a:solidFill>
                <a:latin typeface="Comic Sans MS" panose="030F0702030302020204" pitchFamily="66" charset="0"/>
              </a:rPr>
              <a:t>I</a:t>
            </a:r>
            <a:r>
              <a:rPr lang="en-US" altLang="zh-CN" sz="2400" baseline="-25000">
                <a:solidFill>
                  <a:srgbClr val="FF0000"/>
                </a:solidFill>
                <a:latin typeface="Comic Sans MS" panose="030F0702030302020204" pitchFamily="66" charset="0"/>
              </a:rPr>
              <a:t>2</a:t>
            </a:r>
            <a:endParaRPr lang="en-US" altLang="zh-CN" sz="2400" baseline="-25000">
              <a:solidFill>
                <a:srgbClr val="FF0000"/>
              </a:solidFill>
              <a:latin typeface="Comic Sans MS" panose="030F0702030302020204" pitchFamily="66" charset="0"/>
            </a:endParaRPr>
          </a:p>
        </p:txBody>
      </p:sp>
      <p:sp>
        <p:nvSpPr>
          <p:cNvPr id="243835" name="Text Box 941"/>
          <p:cNvSpPr txBox="1">
            <a:spLocks noChangeArrowheads="1"/>
          </p:cNvSpPr>
          <p:nvPr/>
        </p:nvSpPr>
        <p:spPr bwMode="auto">
          <a:xfrm>
            <a:off x="16002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1</a:t>
            </a:r>
            <a:endParaRPr lang="en-US" altLang="zh-CN" sz="2400" baseline="-25000">
              <a:latin typeface="Comic Sans MS" panose="030F0702030302020204" pitchFamily="66" charset="0"/>
            </a:endParaRPr>
          </a:p>
        </p:txBody>
      </p:sp>
      <p:sp>
        <p:nvSpPr>
          <p:cNvPr id="243836" name="Text Box 942"/>
          <p:cNvSpPr txBox="1">
            <a:spLocks noChangeArrowheads="1"/>
          </p:cNvSpPr>
          <p:nvPr/>
        </p:nvSpPr>
        <p:spPr bwMode="auto">
          <a:xfrm>
            <a:off x="22860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2</a:t>
            </a:r>
            <a:endParaRPr lang="en-US" altLang="zh-CN" sz="2400" baseline="-25000">
              <a:latin typeface="Comic Sans MS" panose="030F0702030302020204" pitchFamily="66" charset="0"/>
            </a:endParaRPr>
          </a:p>
        </p:txBody>
      </p:sp>
      <p:sp>
        <p:nvSpPr>
          <p:cNvPr id="243837" name="Text Box 943"/>
          <p:cNvSpPr txBox="1">
            <a:spLocks noChangeArrowheads="1"/>
          </p:cNvSpPr>
          <p:nvPr/>
        </p:nvSpPr>
        <p:spPr bwMode="auto">
          <a:xfrm>
            <a:off x="30480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3</a:t>
            </a:r>
            <a:endParaRPr lang="en-US" altLang="zh-CN" sz="2400" baseline="-25000">
              <a:latin typeface="Comic Sans MS" panose="030F0702030302020204" pitchFamily="66" charset="0"/>
            </a:endParaRPr>
          </a:p>
        </p:txBody>
      </p:sp>
      <p:sp>
        <p:nvSpPr>
          <p:cNvPr id="243838" name="Text Box 944"/>
          <p:cNvSpPr txBox="1">
            <a:spLocks noChangeArrowheads="1"/>
          </p:cNvSpPr>
          <p:nvPr/>
        </p:nvSpPr>
        <p:spPr bwMode="auto">
          <a:xfrm>
            <a:off x="37338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4</a:t>
            </a:r>
            <a:endParaRPr lang="en-US" altLang="zh-CN" sz="2400" baseline="-25000">
              <a:latin typeface="Comic Sans MS" panose="030F0702030302020204" pitchFamily="66" charset="0"/>
            </a:endParaRPr>
          </a:p>
        </p:txBody>
      </p:sp>
      <p:sp>
        <p:nvSpPr>
          <p:cNvPr id="243839" name="Text Box 945"/>
          <p:cNvSpPr txBox="1">
            <a:spLocks noChangeArrowheads="1"/>
          </p:cNvSpPr>
          <p:nvPr/>
        </p:nvSpPr>
        <p:spPr bwMode="auto">
          <a:xfrm>
            <a:off x="4419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5</a:t>
            </a:r>
            <a:endParaRPr lang="en-US" altLang="zh-CN" sz="2400" baseline="-25000">
              <a:latin typeface="Comic Sans MS" panose="030F0702030302020204" pitchFamily="66" charset="0"/>
            </a:endParaRPr>
          </a:p>
        </p:txBody>
      </p:sp>
      <p:sp>
        <p:nvSpPr>
          <p:cNvPr id="243840" name="Text Box 946"/>
          <p:cNvSpPr txBox="1">
            <a:spLocks noChangeArrowheads="1"/>
          </p:cNvSpPr>
          <p:nvPr/>
        </p:nvSpPr>
        <p:spPr bwMode="auto">
          <a:xfrm>
            <a:off x="5181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6</a:t>
            </a:r>
            <a:endParaRPr lang="en-US" altLang="zh-CN" sz="2400" baseline="-25000">
              <a:latin typeface="Comic Sans MS" panose="030F0702030302020204" pitchFamily="66" charset="0"/>
            </a:endParaRPr>
          </a:p>
        </p:txBody>
      </p:sp>
      <p:sp>
        <p:nvSpPr>
          <p:cNvPr id="243841" name="Text Box 947"/>
          <p:cNvSpPr txBox="1">
            <a:spLocks noChangeArrowheads="1"/>
          </p:cNvSpPr>
          <p:nvPr/>
        </p:nvSpPr>
        <p:spPr bwMode="auto">
          <a:xfrm>
            <a:off x="5943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7</a:t>
            </a:r>
            <a:endParaRPr lang="en-US" altLang="zh-CN" sz="2400" baseline="-25000">
              <a:latin typeface="Comic Sans MS" panose="030F0702030302020204" pitchFamily="66" charset="0"/>
            </a:endParaRPr>
          </a:p>
        </p:txBody>
      </p:sp>
      <p:sp>
        <p:nvSpPr>
          <p:cNvPr id="243842" name="Text Box 948"/>
          <p:cNvSpPr txBox="1">
            <a:spLocks noChangeArrowheads="1"/>
          </p:cNvSpPr>
          <p:nvPr/>
        </p:nvSpPr>
        <p:spPr bwMode="auto">
          <a:xfrm>
            <a:off x="66294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8</a:t>
            </a:r>
            <a:endParaRPr lang="en-US" altLang="zh-CN" sz="2400" baseline="-25000">
              <a:latin typeface="Comic Sans MS" panose="030F0702030302020204" pitchFamily="66" charset="0"/>
            </a:endParaRPr>
          </a:p>
        </p:txBody>
      </p:sp>
      <p:sp>
        <p:nvSpPr>
          <p:cNvPr id="243843" name="Text Box 949"/>
          <p:cNvSpPr txBox="1">
            <a:spLocks noChangeArrowheads="1"/>
          </p:cNvSpPr>
          <p:nvPr/>
        </p:nvSpPr>
        <p:spPr bwMode="auto">
          <a:xfrm>
            <a:off x="73914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9</a:t>
            </a:r>
            <a:endParaRPr lang="en-US" altLang="zh-CN" sz="2400" baseline="-25000">
              <a:latin typeface="Comic Sans MS" panose="030F0702030302020204" pitchFamily="66" charset="0"/>
            </a:endParaRPr>
          </a:p>
        </p:txBody>
      </p:sp>
      <p:sp>
        <p:nvSpPr>
          <p:cNvPr id="243844" name="Text Box 950"/>
          <p:cNvSpPr txBox="1">
            <a:spLocks noChangeArrowheads="1"/>
          </p:cNvSpPr>
          <p:nvPr/>
        </p:nvSpPr>
        <p:spPr bwMode="auto">
          <a:xfrm>
            <a:off x="8077200" y="2895600"/>
            <a:ext cx="3810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10</a:t>
            </a:r>
            <a:endParaRPr lang="en-US" altLang="zh-CN" sz="2400" baseline="-25000">
              <a:latin typeface="Comic Sans MS" panose="030F0702030302020204" pitchFamily="66" charset="0"/>
            </a:endParaRPr>
          </a:p>
        </p:txBody>
      </p:sp>
      <p:sp>
        <p:nvSpPr>
          <p:cNvPr id="243845" name="Text Box 951"/>
          <p:cNvSpPr txBox="1">
            <a:spLocks noChangeArrowheads="1"/>
          </p:cNvSpPr>
          <p:nvPr/>
        </p:nvSpPr>
        <p:spPr bwMode="auto">
          <a:xfrm>
            <a:off x="457200" y="6019800"/>
            <a:ext cx="838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指令</a:t>
            </a:r>
            <a:endParaRPr lang="zh-CN" altLang="en-US" sz="2400" baseline="-25000">
              <a:latin typeface="楷体_GB2312" pitchFamily="49" charset="-122"/>
            </a:endParaRPr>
          </a:p>
        </p:txBody>
      </p:sp>
      <p:sp>
        <p:nvSpPr>
          <p:cNvPr id="243846" name="Text Box 952"/>
          <p:cNvSpPr txBox="1">
            <a:spLocks noChangeArrowheads="1"/>
          </p:cNvSpPr>
          <p:nvPr/>
        </p:nvSpPr>
        <p:spPr bwMode="auto">
          <a:xfrm>
            <a:off x="7620000" y="3429000"/>
            <a:ext cx="12954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时钟周期</a:t>
            </a:r>
            <a:endParaRPr lang="zh-CN" altLang="en-US" sz="2400" baseline="-25000">
              <a:latin typeface="楷体_GB2312" pitchFamily="49" charset="-122"/>
            </a:endParaRPr>
          </a:p>
        </p:txBody>
      </p:sp>
      <p:sp>
        <p:nvSpPr>
          <p:cNvPr id="243847" name="Line 132"/>
          <p:cNvSpPr>
            <a:spLocks noChangeShapeType="1"/>
          </p:cNvSpPr>
          <p:nvPr/>
        </p:nvSpPr>
        <p:spPr bwMode="auto">
          <a:xfrm>
            <a:off x="5257800" y="609600"/>
            <a:ext cx="1295400" cy="152400"/>
          </a:xfrm>
          <a:prstGeom prst="line">
            <a:avLst/>
          </a:prstGeom>
          <a:noFill/>
          <a:ln w="28575">
            <a:solidFill>
              <a:srgbClr val="FF0000"/>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3848" name="Line 133"/>
          <p:cNvSpPr>
            <a:spLocks noChangeShapeType="1"/>
          </p:cNvSpPr>
          <p:nvPr/>
        </p:nvSpPr>
        <p:spPr bwMode="auto">
          <a:xfrm>
            <a:off x="5257800" y="2209800"/>
            <a:ext cx="381000" cy="304800"/>
          </a:xfrm>
          <a:prstGeom prst="line">
            <a:avLst/>
          </a:prstGeom>
          <a:noFill/>
          <a:ln w="28575">
            <a:solidFill>
              <a:srgbClr val="FF0000"/>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3849" name="Line 134"/>
          <p:cNvSpPr>
            <a:spLocks noChangeShapeType="1"/>
          </p:cNvSpPr>
          <p:nvPr/>
        </p:nvSpPr>
        <p:spPr bwMode="auto">
          <a:xfrm>
            <a:off x="5029200" y="2209800"/>
            <a:ext cx="0" cy="228600"/>
          </a:xfrm>
          <a:prstGeom prst="line">
            <a:avLst/>
          </a:prstGeom>
          <a:noFill/>
          <a:ln w="28575">
            <a:solidFill>
              <a:srgbClr val="0000CC"/>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3850" name="Line 136"/>
          <p:cNvSpPr>
            <a:spLocks noChangeShapeType="1"/>
          </p:cNvSpPr>
          <p:nvPr/>
        </p:nvSpPr>
        <p:spPr bwMode="auto">
          <a:xfrm flipH="1">
            <a:off x="5257800" y="1447800"/>
            <a:ext cx="1524000" cy="15240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3851" name="Text Box 146"/>
          <p:cNvSpPr txBox="1">
            <a:spLocks noChangeArrowheads="1"/>
          </p:cNvSpPr>
          <p:nvPr/>
        </p:nvSpPr>
        <p:spPr bwMode="auto">
          <a:xfrm>
            <a:off x="7162800" y="4114800"/>
            <a:ext cx="1219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流水线1</a:t>
            </a:r>
            <a:endParaRPr lang="zh-CN" altLang="en-US" sz="2400" baseline="-25000">
              <a:latin typeface="楷体_GB2312" pitchFamily="49" charset="-122"/>
            </a:endParaRPr>
          </a:p>
        </p:txBody>
      </p:sp>
      <p:sp>
        <p:nvSpPr>
          <p:cNvPr id="243852" name="Text Box 148"/>
          <p:cNvSpPr txBox="1">
            <a:spLocks noChangeArrowheads="1"/>
          </p:cNvSpPr>
          <p:nvPr/>
        </p:nvSpPr>
        <p:spPr bwMode="auto">
          <a:xfrm>
            <a:off x="7162800" y="4572000"/>
            <a:ext cx="1219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流水线2</a:t>
            </a:r>
            <a:endParaRPr lang="zh-CN" altLang="en-US" sz="2400" baseline="-25000">
              <a:latin typeface="楷体_GB2312" pitchFamily="49" charset="-122"/>
            </a:endParaRPr>
          </a:p>
        </p:txBody>
      </p:sp>
      <p:sp>
        <p:nvSpPr>
          <p:cNvPr id="243853" name="Text Box 149"/>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2</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4738" name="Text Box 2"/>
          <p:cNvSpPr txBox="1">
            <a:spLocks noChangeArrowheads="1"/>
          </p:cNvSpPr>
          <p:nvPr/>
        </p:nvSpPr>
        <p:spPr bwMode="auto">
          <a:xfrm>
            <a:off x="2590800" y="6172200"/>
            <a:ext cx="3810000" cy="519113"/>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2800">
                <a:latin typeface="Comic Sans MS" panose="030F0702030302020204" pitchFamily="66" charset="0"/>
              </a:rPr>
              <a:t>顺序发射乱序完成</a:t>
            </a:r>
            <a:endParaRPr lang="zh-CN" altLang="en-US" sz="2800">
              <a:latin typeface="Comic Sans MS" panose="030F0702030302020204" pitchFamily="66" charset="0"/>
            </a:endParaRPr>
          </a:p>
        </p:txBody>
      </p:sp>
      <p:sp>
        <p:nvSpPr>
          <p:cNvPr id="748547" name="AutoShape 3">
            <a:hlinkClick r:id="rId1" action="ppaction://hlinksldjump" highlightClick="1"/>
          </p:cNvPr>
          <p:cNvSpPr>
            <a:spLocks noChangeArrowheads="1"/>
          </p:cNvSpPr>
          <p:nvPr/>
        </p:nvSpPr>
        <p:spPr bwMode="auto">
          <a:xfrm>
            <a:off x="8229600" y="6248400"/>
            <a:ext cx="685800" cy="381000"/>
          </a:xfrm>
          <a:prstGeom prst="actionButtonBackPrevious">
            <a:avLst/>
          </a:prstGeom>
          <a:gradFill rotWithShape="0">
            <a:gsLst>
              <a:gs pos="0">
                <a:schemeClr val="accent1"/>
              </a:gs>
              <a:gs pos="100000">
                <a:schemeClr val="accent1">
                  <a:gamma/>
                  <a:shade val="46275"/>
                  <a:invGamma/>
                </a:schemeClr>
              </a:gs>
            </a:gsLst>
            <a:path path="rect">
              <a:fillToRect l="50000" t="50000" r="50000" b="50000"/>
            </a:path>
          </a:gradFill>
          <a:ln w="9525">
            <a:solidFill>
              <a:schemeClr val="accent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buClr>
                <a:schemeClr val="accent2"/>
              </a:buClr>
              <a:defRPr/>
            </a:pPr>
            <a:endParaRPr lang="zh-CN" altLang="en-US">
              <a:latin typeface="Times New Roman" panose="02020603050405020304" pitchFamily="18" charset="0"/>
            </a:endParaRPr>
          </a:p>
        </p:txBody>
      </p:sp>
      <p:pic>
        <p:nvPicPr>
          <p:cNvPr id="2447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91400" y="6324600"/>
            <a:ext cx="11430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748549" name="Group 5"/>
          <p:cNvGraphicFramePr>
            <a:graphicFrameLocks noGrp="1"/>
          </p:cNvGraphicFramePr>
          <p:nvPr/>
        </p:nvGraphicFramePr>
        <p:xfrm>
          <a:off x="914400" y="304800"/>
          <a:ext cx="7391400" cy="2463799"/>
        </p:xfrm>
        <a:graphic>
          <a:graphicData uri="http://schemas.openxmlformats.org/drawingml/2006/table">
            <a:tbl>
              <a:tblPr/>
              <a:tblGrid>
                <a:gridCol w="730250"/>
                <a:gridCol w="1311275"/>
                <a:gridCol w="782638"/>
                <a:gridCol w="1006475"/>
                <a:gridCol w="3560762"/>
              </a:tblGrid>
              <a:tr h="40396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rPr>
                        <a:t>I1:</a:t>
                      </a:r>
                      <a:endParaRPr kumimoji="1" lang="en-US" altLang="zh-CN"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LOAD</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R1,</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;R1←</a:t>
                      </a: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主存（</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a:t>
                      </a: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单元</a:t>
                      </a: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r>
              <a:tr h="40396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I2:</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FADD</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R2,</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R1</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R2←(R2)+(R1)</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12856">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I3:</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FMUL</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R3,</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R4</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R3←(R3)×(R4)</a:t>
                      </a: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0396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I4:</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FADD</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R4,</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R5</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R4←(R4)+(R5)</a:t>
                      </a: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35087">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I5:</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DEC</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R6</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R6←(R6)-1</a:t>
                      </a: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0396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I6:</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FMUL</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R6,</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R7</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rPr>
                        <a:t>R6←(R6)×(R7)</a:t>
                      </a:r>
                      <a:endParaRPr kumimoji="1" lang="zh-CN" altLang="en-US"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graphicFrame>
        <p:nvGraphicFramePr>
          <p:cNvPr id="748736" name="Group 192"/>
          <p:cNvGraphicFramePr>
            <a:graphicFrameLocks noGrp="1"/>
          </p:cNvGraphicFramePr>
          <p:nvPr/>
        </p:nvGraphicFramePr>
        <p:xfrm>
          <a:off x="1295400" y="3276600"/>
          <a:ext cx="7315200" cy="2565400"/>
        </p:xfrm>
        <a:graphic>
          <a:graphicData uri="http://schemas.openxmlformats.org/drawingml/2006/table">
            <a:tbl>
              <a:tblPr/>
              <a:tblGrid>
                <a:gridCol w="731838"/>
                <a:gridCol w="730250"/>
                <a:gridCol w="733425"/>
                <a:gridCol w="730250"/>
                <a:gridCol w="731837"/>
                <a:gridCol w="731838"/>
                <a:gridCol w="730250"/>
                <a:gridCol w="733425"/>
                <a:gridCol w="730250"/>
                <a:gridCol w="731837"/>
              </a:tblGrid>
              <a:tr h="4286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LS</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cap="flat">
                      <a:noFill/>
                    </a:lnT>
                    <a:lnB>
                      <a:noFill/>
                    </a:lnB>
                    <a:lnTlToBr>
                      <a:noFill/>
                    </a:lnTlToBr>
                    <a:lnBlToTr>
                      <a:noFill/>
                    </a:lnBlToTr>
                    <a:noFill/>
                  </a:tcPr>
                </a:tc>
              </a:tr>
              <a:tr h="4254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FA3</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rgbClr val="FF0000"/>
                          </a:solidFill>
                          <a:effectLst/>
                          <a:latin typeface="Comic Sans MS" panose="030F0702030302020204"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rPr>
                        <a:t>3</a:t>
                      </a:r>
                      <a:endPar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endParaRPr>
                    </a:p>
                  </a:txBody>
                  <a:tcPr marL="0" marR="0" marT="0" marB="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MD3</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rgbClr val="FF0000"/>
                          </a:solidFill>
                          <a:effectLst/>
                          <a:latin typeface="Comic Sans MS" panose="030F0702030302020204"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rPr>
                        <a:t>4</a:t>
                      </a:r>
                      <a:endPar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endParaRPr>
                    </a:p>
                  </a:txBody>
                  <a:tcPr marL="0" marR="0" marT="0" marB="0" anchor="ct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folHlink"/>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FA3</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54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cap="flat">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rgbClr val="FF0000"/>
                          </a:solidFill>
                          <a:effectLst/>
                          <a:latin typeface="Comic Sans MS" panose="030F0702030302020204"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rPr>
                        <a:t>5</a:t>
                      </a:r>
                      <a:endPar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endParaRPr>
                    </a:p>
                  </a:txBody>
                  <a:tcPr marL="0" marR="0" marT="0" marB="0"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AL</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cap="flat">
                      <a:noFill/>
                    </a:lnL>
                    <a:lnR>
                      <a:noFill/>
                    </a:lnR>
                    <a:lnT>
                      <a:noFill/>
                    </a:lnT>
                    <a:lnB cap="flat">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rgbClr val="FF0000"/>
                          </a:solidFill>
                          <a:effectLst/>
                          <a:latin typeface="Comic Sans MS" panose="030F0702030302020204"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rPr>
                        <a:t>6</a:t>
                      </a:r>
                      <a:endPar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endParaRPr>
                    </a:p>
                  </a:txBody>
                  <a:tcPr marL="0" marR="0" marT="0" marB="0" anchor="ctr" horzOverflow="overflow">
                    <a:lnL>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MD3</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cap="flat">
                      <a:noFill/>
                    </a:lnR>
                    <a:lnT>
                      <a:noFill/>
                    </a:lnT>
                    <a:lnB cap="flat">
                      <a:noFill/>
                    </a:lnB>
                    <a:lnTlToBr>
                      <a:noFill/>
                    </a:lnTlToBr>
                    <a:lnBlToTr>
                      <a:noFill/>
                    </a:lnBlToTr>
                    <a:noFill/>
                  </a:tcPr>
                </a:tc>
              </a:tr>
            </a:tbl>
          </a:graphicData>
        </a:graphic>
      </p:graphicFrame>
      <p:sp>
        <p:nvSpPr>
          <p:cNvPr id="244856" name="Line 137"/>
          <p:cNvSpPr>
            <a:spLocks noChangeShapeType="1"/>
          </p:cNvSpPr>
          <p:nvPr/>
        </p:nvSpPr>
        <p:spPr bwMode="auto">
          <a:xfrm>
            <a:off x="838200" y="3276600"/>
            <a:ext cx="8153400"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4857" name="Line 138"/>
          <p:cNvSpPr>
            <a:spLocks noChangeShapeType="1"/>
          </p:cNvSpPr>
          <p:nvPr/>
        </p:nvSpPr>
        <p:spPr bwMode="auto">
          <a:xfrm>
            <a:off x="838200" y="3276600"/>
            <a:ext cx="0" cy="274320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4858" name="Text Box 139"/>
          <p:cNvSpPr txBox="1">
            <a:spLocks noChangeArrowheads="1"/>
          </p:cNvSpPr>
          <p:nvPr/>
        </p:nvSpPr>
        <p:spPr bwMode="auto">
          <a:xfrm>
            <a:off x="914400" y="33528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solidFill>
                  <a:srgbClr val="FF0000"/>
                </a:solidFill>
                <a:latin typeface="Comic Sans MS" panose="030F0702030302020204" pitchFamily="66" charset="0"/>
              </a:rPr>
              <a:t>I</a:t>
            </a:r>
            <a:r>
              <a:rPr lang="en-US" altLang="zh-CN" sz="2400" baseline="-25000">
                <a:solidFill>
                  <a:srgbClr val="FF0000"/>
                </a:solidFill>
                <a:latin typeface="Comic Sans MS" panose="030F0702030302020204" pitchFamily="66" charset="0"/>
              </a:rPr>
              <a:t>1</a:t>
            </a:r>
            <a:endParaRPr lang="en-US" altLang="zh-CN" sz="2400" baseline="-25000">
              <a:solidFill>
                <a:srgbClr val="FF0000"/>
              </a:solidFill>
              <a:latin typeface="Comic Sans MS" panose="030F0702030302020204" pitchFamily="66" charset="0"/>
            </a:endParaRPr>
          </a:p>
        </p:txBody>
      </p:sp>
      <p:sp>
        <p:nvSpPr>
          <p:cNvPr id="244859" name="Text Box 140"/>
          <p:cNvSpPr txBox="1">
            <a:spLocks noChangeArrowheads="1"/>
          </p:cNvSpPr>
          <p:nvPr/>
        </p:nvSpPr>
        <p:spPr bwMode="auto">
          <a:xfrm>
            <a:off x="914400" y="38100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solidFill>
                  <a:srgbClr val="FF0000"/>
                </a:solidFill>
                <a:latin typeface="Comic Sans MS" panose="030F0702030302020204" pitchFamily="66" charset="0"/>
              </a:rPr>
              <a:t>I</a:t>
            </a:r>
            <a:r>
              <a:rPr lang="en-US" altLang="zh-CN" sz="2400" baseline="-25000">
                <a:solidFill>
                  <a:srgbClr val="FF0000"/>
                </a:solidFill>
                <a:latin typeface="Comic Sans MS" panose="030F0702030302020204" pitchFamily="66" charset="0"/>
              </a:rPr>
              <a:t>2</a:t>
            </a:r>
            <a:endParaRPr lang="en-US" altLang="zh-CN" sz="2400" baseline="-25000">
              <a:solidFill>
                <a:srgbClr val="FF0000"/>
              </a:solidFill>
              <a:latin typeface="Comic Sans MS" panose="030F0702030302020204" pitchFamily="66" charset="0"/>
            </a:endParaRPr>
          </a:p>
        </p:txBody>
      </p:sp>
      <p:sp>
        <p:nvSpPr>
          <p:cNvPr id="244860" name="Text Box 141"/>
          <p:cNvSpPr txBox="1">
            <a:spLocks noChangeArrowheads="1"/>
          </p:cNvSpPr>
          <p:nvPr/>
        </p:nvSpPr>
        <p:spPr bwMode="auto">
          <a:xfrm>
            <a:off x="16002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1</a:t>
            </a:r>
            <a:endParaRPr lang="en-US" altLang="zh-CN" sz="2400" baseline="-25000">
              <a:latin typeface="Comic Sans MS" panose="030F0702030302020204" pitchFamily="66" charset="0"/>
            </a:endParaRPr>
          </a:p>
        </p:txBody>
      </p:sp>
      <p:sp>
        <p:nvSpPr>
          <p:cNvPr id="244861" name="Text Box 142"/>
          <p:cNvSpPr txBox="1">
            <a:spLocks noChangeArrowheads="1"/>
          </p:cNvSpPr>
          <p:nvPr/>
        </p:nvSpPr>
        <p:spPr bwMode="auto">
          <a:xfrm>
            <a:off x="22860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2</a:t>
            </a:r>
            <a:endParaRPr lang="en-US" altLang="zh-CN" sz="2400" baseline="-25000">
              <a:latin typeface="Comic Sans MS" panose="030F0702030302020204" pitchFamily="66" charset="0"/>
            </a:endParaRPr>
          </a:p>
        </p:txBody>
      </p:sp>
      <p:sp>
        <p:nvSpPr>
          <p:cNvPr id="244862" name="Text Box 143"/>
          <p:cNvSpPr txBox="1">
            <a:spLocks noChangeArrowheads="1"/>
          </p:cNvSpPr>
          <p:nvPr/>
        </p:nvSpPr>
        <p:spPr bwMode="auto">
          <a:xfrm>
            <a:off x="30480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3</a:t>
            </a:r>
            <a:endParaRPr lang="en-US" altLang="zh-CN" sz="2400" baseline="-25000">
              <a:latin typeface="Comic Sans MS" panose="030F0702030302020204" pitchFamily="66" charset="0"/>
            </a:endParaRPr>
          </a:p>
        </p:txBody>
      </p:sp>
      <p:sp>
        <p:nvSpPr>
          <p:cNvPr id="244863" name="Text Box 144"/>
          <p:cNvSpPr txBox="1">
            <a:spLocks noChangeArrowheads="1"/>
          </p:cNvSpPr>
          <p:nvPr/>
        </p:nvSpPr>
        <p:spPr bwMode="auto">
          <a:xfrm>
            <a:off x="37338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4</a:t>
            </a:r>
            <a:endParaRPr lang="en-US" altLang="zh-CN" sz="2400" baseline="-25000">
              <a:latin typeface="Comic Sans MS" panose="030F0702030302020204" pitchFamily="66" charset="0"/>
            </a:endParaRPr>
          </a:p>
        </p:txBody>
      </p:sp>
      <p:sp>
        <p:nvSpPr>
          <p:cNvPr id="244864" name="Text Box 145"/>
          <p:cNvSpPr txBox="1">
            <a:spLocks noChangeArrowheads="1"/>
          </p:cNvSpPr>
          <p:nvPr/>
        </p:nvSpPr>
        <p:spPr bwMode="auto">
          <a:xfrm>
            <a:off x="4419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5</a:t>
            </a:r>
            <a:endParaRPr lang="en-US" altLang="zh-CN" sz="2400" baseline="-25000">
              <a:latin typeface="Comic Sans MS" panose="030F0702030302020204" pitchFamily="66" charset="0"/>
            </a:endParaRPr>
          </a:p>
        </p:txBody>
      </p:sp>
      <p:sp>
        <p:nvSpPr>
          <p:cNvPr id="244865" name="Text Box 146"/>
          <p:cNvSpPr txBox="1">
            <a:spLocks noChangeArrowheads="1"/>
          </p:cNvSpPr>
          <p:nvPr/>
        </p:nvSpPr>
        <p:spPr bwMode="auto">
          <a:xfrm>
            <a:off x="5181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6</a:t>
            </a:r>
            <a:endParaRPr lang="en-US" altLang="zh-CN" sz="2400" baseline="-25000">
              <a:latin typeface="Comic Sans MS" panose="030F0702030302020204" pitchFamily="66" charset="0"/>
            </a:endParaRPr>
          </a:p>
        </p:txBody>
      </p:sp>
      <p:sp>
        <p:nvSpPr>
          <p:cNvPr id="244866" name="Text Box 147"/>
          <p:cNvSpPr txBox="1">
            <a:spLocks noChangeArrowheads="1"/>
          </p:cNvSpPr>
          <p:nvPr/>
        </p:nvSpPr>
        <p:spPr bwMode="auto">
          <a:xfrm>
            <a:off x="5943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7</a:t>
            </a:r>
            <a:endParaRPr lang="en-US" altLang="zh-CN" sz="2400" baseline="-25000">
              <a:latin typeface="Comic Sans MS" panose="030F0702030302020204" pitchFamily="66" charset="0"/>
            </a:endParaRPr>
          </a:p>
        </p:txBody>
      </p:sp>
      <p:sp>
        <p:nvSpPr>
          <p:cNvPr id="244867" name="Text Box 148"/>
          <p:cNvSpPr txBox="1">
            <a:spLocks noChangeArrowheads="1"/>
          </p:cNvSpPr>
          <p:nvPr/>
        </p:nvSpPr>
        <p:spPr bwMode="auto">
          <a:xfrm>
            <a:off x="66294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8</a:t>
            </a:r>
            <a:endParaRPr lang="en-US" altLang="zh-CN" sz="2400" baseline="-25000">
              <a:latin typeface="Comic Sans MS" panose="030F0702030302020204" pitchFamily="66" charset="0"/>
            </a:endParaRPr>
          </a:p>
        </p:txBody>
      </p:sp>
      <p:sp>
        <p:nvSpPr>
          <p:cNvPr id="244868" name="Text Box 149"/>
          <p:cNvSpPr txBox="1">
            <a:spLocks noChangeArrowheads="1"/>
          </p:cNvSpPr>
          <p:nvPr/>
        </p:nvSpPr>
        <p:spPr bwMode="auto">
          <a:xfrm>
            <a:off x="73914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9</a:t>
            </a:r>
            <a:endParaRPr lang="en-US" altLang="zh-CN" sz="2400" baseline="-25000">
              <a:latin typeface="Comic Sans MS" panose="030F0702030302020204" pitchFamily="66" charset="0"/>
            </a:endParaRPr>
          </a:p>
        </p:txBody>
      </p:sp>
      <p:sp>
        <p:nvSpPr>
          <p:cNvPr id="244869" name="Text Box 150"/>
          <p:cNvSpPr txBox="1">
            <a:spLocks noChangeArrowheads="1"/>
          </p:cNvSpPr>
          <p:nvPr/>
        </p:nvSpPr>
        <p:spPr bwMode="auto">
          <a:xfrm>
            <a:off x="8077200" y="2895600"/>
            <a:ext cx="3810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10</a:t>
            </a:r>
            <a:endParaRPr lang="en-US" altLang="zh-CN" sz="2400" baseline="-25000">
              <a:latin typeface="Comic Sans MS" panose="030F0702030302020204" pitchFamily="66" charset="0"/>
            </a:endParaRPr>
          </a:p>
        </p:txBody>
      </p:sp>
      <p:sp>
        <p:nvSpPr>
          <p:cNvPr id="244870" name="Text Box 151"/>
          <p:cNvSpPr txBox="1">
            <a:spLocks noChangeArrowheads="1"/>
          </p:cNvSpPr>
          <p:nvPr/>
        </p:nvSpPr>
        <p:spPr bwMode="auto">
          <a:xfrm>
            <a:off x="533400" y="6019800"/>
            <a:ext cx="838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指令</a:t>
            </a:r>
            <a:endParaRPr lang="zh-CN" altLang="en-US" sz="2400" baseline="-25000">
              <a:latin typeface="楷体_GB2312" pitchFamily="49" charset="-122"/>
            </a:endParaRPr>
          </a:p>
        </p:txBody>
      </p:sp>
      <p:sp>
        <p:nvSpPr>
          <p:cNvPr id="244871" name="Text Box 152"/>
          <p:cNvSpPr txBox="1">
            <a:spLocks noChangeArrowheads="1"/>
          </p:cNvSpPr>
          <p:nvPr/>
        </p:nvSpPr>
        <p:spPr bwMode="auto">
          <a:xfrm>
            <a:off x="7620000" y="3429000"/>
            <a:ext cx="12954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时钟周期</a:t>
            </a:r>
            <a:endParaRPr lang="zh-CN" altLang="en-US" sz="2400" baseline="-25000">
              <a:latin typeface="楷体_GB2312" pitchFamily="49" charset="-122"/>
            </a:endParaRPr>
          </a:p>
        </p:txBody>
      </p:sp>
      <p:sp>
        <p:nvSpPr>
          <p:cNvPr id="244872" name="Line 153"/>
          <p:cNvSpPr>
            <a:spLocks noChangeShapeType="1"/>
          </p:cNvSpPr>
          <p:nvPr/>
        </p:nvSpPr>
        <p:spPr bwMode="auto">
          <a:xfrm>
            <a:off x="5257800" y="609600"/>
            <a:ext cx="1295400" cy="152400"/>
          </a:xfrm>
          <a:prstGeom prst="line">
            <a:avLst/>
          </a:prstGeom>
          <a:noFill/>
          <a:ln w="28575">
            <a:solidFill>
              <a:srgbClr val="FF0000"/>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4873" name="Line 154"/>
          <p:cNvSpPr>
            <a:spLocks noChangeShapeType="1"/>
          </p:cNvSpPr>
          <p:nvPr/>
        </p:nvSpPr>
        <p:spPr bwMode="auto">
          <a:xfrm>
            <a:off x="5257800" y="2209800"/>
            <a:ext cx="381000" cy="304800"/>
          </a:xfrm>
          <a:prstGeom prst="line">
            <a:avLst/>
          </a:prstGeom>
          <a:noFill/>
          <a:ln w="28575">
            <a:solidFill>
              <a:srgbClr val="FF0000"/>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4874" name="Line 155"/>
          <p:cNvSpPr>
            <a:spLocks noChangeShapeType="1"/>
          </p:cNvSpPr>
          <p:nvPr/>
        </p:nvSpPr>
        <p:spPr bwMode="auto">
          <a:xfrm>
            <a:off x="5029200" y="2209800"/>
            <a:ext cx="0" cy="228600"/>
          </a:xfrm>
          <a:prstGeom prst="line">
            <a:avLst/>
          </a:prstGeom>
          <a:noFill/>
          <a:ln w="28575">
            <a:solidFill>
              <a:srgbClr val="0000CC"/>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4875" name="Line 156"/>
          <p:cNvSpPr>
            <a:spLocks noChangeShapeType="1"/>
          </p:cNvSpPr>
          <p:nvPr/>
        </p:nvSpPr>
        <p:spPr bwMode="auto">
          <a:xfrm flipH="1">
            <a:off x="5257800" y="1447800"/>
            <a:ext cx="1524000" cy="15240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4876" name="Text Box 193"/>
          <p:cNvSpPr txBox="1">
            <a:spLocks noChangeArrowheads="1"/>
          </p:cNvSpPr>
          <p:nvPr/>
        </p:nvSpPr>
        <p:spPr bwMode="auto">
          <a:xfrm>
            <a:off x="7239000" y="4114800"/>
            <a:ext cx="1219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流水线1</a:t>
            </a:r>
            <a:endParaRPr lang="zh-CN" altLang="en-US" sz="2400" baseline="-25000">
              <a:latin typeface="楷体_GB2312" pitchFamily="49" charset="-122"/>
            </a:endParaRPr>
          </a:p>
        </p:txBody>
      </p:sp>
      <p:sp>
        <p:nvSpPr>
          <p:cNvPr id="244877" name="Text Box 194"/>
          <p:cNvSpPr txBox="1">
            <a:spLocks noChangeArrowheads="1"/>
          </p:cNvSpPr>
          <p:nvPr/>
        </p:nvSpPr>
        <p:spPr bwMode="auto">
          <a:xfrm>
            <a:off x="7239000" y="4572000"/>
            <a:ext cx="1219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流水线2</a:t>
            </a:r>
            <a:endParaRPr lang="zh-CN" altLang="en-US" sz="2400" baseline="-25000">
              <a:latin typeface="楷体_GB2312" pitchFamily="49" charset="-122"/>
            </a:endParaRPr>
          </a:p>
        </p:txBody>
      </p:sp>
      <p:sp>
        <p:nvSpPr>
          <p:cNvPr id="244878" name="Text Box 195"/>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3</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50594" name="Text Box 2"/>
          <p:cNvSpPr txBox="1">
            <a:spLocks noChangeArrowheads="1"/>
          </p:cNvSpPr>
          <p:nvPr/>
        </p:nvSpPr>
        <p:spPr bwMode="auto">
          <a:xfrm>
            <a:off x="228600" y="6172200"/>
            <a:ext cx="7010400" cy="519113"/>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p>
            <a:pPr algn="ctr">
              <a:spcBef>
                <a:spcPct val="50000"/>
              </a:spcBef>
              <a:buClr>
                <a:schemeClr val="accent2"/>
              </a:buClr>
              <a:defRPr/>
            </a:pPr>
            <a:r>
              <a:rPr lang="zh-CN" altLang="en-US" sz="2800" b="1">
                <a:ea typeface="楷体_GB2312" pitchFamily="49" charset="-122"/>
              </a:rPr>
              <a:t>乱序发射乱序完成（需采用</a:t>
            </a:r>
            <a:r>
              <a:rPr lang="zh-CN" altLang="en-US" sz="2800" b="1">
                <a:solidFill>
                  <a:srgbClr val="FF0000"/>
                </a:solidFill>
                <a:effectLst>
                  <a:outerShdw blurRad="38100" dist="38100" dir="2700000" algn="tl">
                    <a:srgbClr val="000000"/>
                  </a:outerShdw>
                </a:effectLst>
                <a:ea typeface="楷体_GB2312" pitchFamily="49" charset="-122"/>
              </a:rPr>
              <a:t>先行指令窗口</a:t>
            </a:r>
            <a:r>
              <a:rPr lang="zh-CN" altLang="en-US" sz="2800" b="1">
                <a:ea typeface="楷体_GB2312" pitchFamily="49" charset="-122"/>
              </a:rPr>
              <a:t>）</a:t>
            </a:r>
            <a:endParaRPr lang="zh-CN" altLang="en-US" sz="2800" b="1">
              <a:ea typeface="楷体_GB2312" pitchFamily="49" charset="-122"/>
            </a:endParaRPr>
          </a:p>
        </p:txBody>
      </p:sp>
      <p:sp>
        <p:nvSpPr>
          <p:cNvPr id="750595" name="AutoShape 3">
            <a:hlinkClick r:id="rId1" action="ppaction://hlinksldjump" highlightClick="1"/>
          </p:cNvPr>
          <p:cNvSpPr>
            <a:spLocks noChangeArrowheads="1"/>
          </p:cNvSpPr>
          <p:nvPr/>
        </p:nvSpPr>
        <p:spPr bwMode="auto">
          <a:xfrm>
            <a:off x="8229600" y="6248400"/>
            <a:ext cx="685800" cy="381000"/>
          </a:xfrm>
          <a:prstGeom prst="actionButtonBackPrevious">
            <a:avLst/>
          </a:prstGeom>
          <a:gradFill rotWithShape="0">
            <a:gsLst>
              <a:gs pos="0">
                <a:schemeClr val="accent1"/>
              </a:gs>
              <a:gs pos="100000">
                <a:schemeClr val="accent1">
                  <a:gamma/>
                  <a:shade val="46275"/>
                  <a:invGamma/>
                </a:schemeClr>
              </a:gs>
            </a:gsLst>
            <a:path path="rect">
              <a:fillToRect l="50000" t="50000" r="50000" b="50000"/>
            </a:path>
          </a:gradFill>
          <a:ln w="9525">
            <a:solidFill>
              <a:schemeClr val="accent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buClr>
                <a:schemeClr val="accent2"/>
              </a:buClr>
              <a:defRPr/>
            </a:pPr>
            <a:endParaRPr lang="zh-CN" altLang="en-US">
              <a:latin typeface="Times New Roman" panose="02020603050405020304" pitchFamily="18" charset="0"/>
            </a:endParaRPr>
          </a:p>
        </p:txBody>
      </p:sp>
      <p:pic>
        <p:nvPicPr>
          <p:cNvPr id="2457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91400" y="6324600"/>
            <a:ext cx="11430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750597" name="Group 5"/>
          <p:cNvGraphicFramePr>
            <a:graphicFrameLocks noGrp="1"/>
          </p:cNvGraphicFramePr>
          <p:nvPr/>
        </p:nvGraphicFramePr>
        <p:xfrm>
          <a:off x="914400" y="304800"/>
          <a:ext cx="7391400" cy="2463799"/>
        </p:xfrm>
        <a:graphic>
          <a:graphicData uri="http://schemas.openxmlformats.org/drawingml/2006/table">
            <a:tbl>
              <a:tblPr/>
              <a:tblGrid>
                <a:gridCol w="730250"/>
                <a:gridCol w="1311275"/>
                <a:gridCol w="782638"/>
                <a:gridCol w="1006475"/>
                <a:gridCol w="3560762"/>
              </a:tblGrid>
              <a:tr h="40396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rPr>
                        <a:t>I1:</a:t>
                      </a:r>
                      <a:endParaRPr kumimoji="1" lang="en-US" altLang="zh-CN"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LOAD</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R1,</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;R1←</a:t>
                      </a: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主存（</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a:t>
                      </a: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单元</a:t>
                      </a: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r>
              <a:tr h="40396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I2:</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folHlink"/>
                          </a:solidFill>
                          <a:effectLst/>
                          <a:latin typeface="Comic Sans MS" panose="030F0702030302020204" pitchFamily="66" charset="0"/>
                          <a:ea typeface="楷体_GB2312" pitchFamily="49" charset="-122"/>
                        </a:rPr>
                        <a:t>FADD</a:t>
                      </a:r>
                      <a:endParaRPr kumimoji="1" lang="en-US" altLang="zh-CN" sz="2400" b="1" i="0" u="none" strike="noStrike" cap="none" normalizeH="0" baseline="0" dirty="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R2,</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R1</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R2←(R2)+(R1)</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12856">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I3:</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FMUL</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R3,</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R4</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R3←(R3)×(R4)</a:t>
                      </a: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0396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I4:</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FADD</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R4,</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rPr>
                        <a:t>R5</a:t>
                      </a:r>
                      <a:endParaRPr kumimoji="1" lang="en-US" altLang="zh-CN" sz="2400" b="1" i="0" u="none" strike="noStrike" cap="none" normalizeH="0" baseline="0" smtClean="0">
                        <a:ln>
                          <a:noFill/>
                        </a:ln>
                        <a:solidFill>
                          <a:schemeClr val="folHlink"/>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R4←(R4)+(R5)</a:t>
                      </a: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35087">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I5:</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DEC</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R6</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R6←(R6)-1</a:t>
                      </a:r>
                      <a:endParaRPr kumimoji="1" lang="zh-CN" altLang="en-US"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0396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rPr>
                        <a:t>I6:</a:t>
                      </a:r>
                      <a:endParaRPr kumimoji="1" lang="en-US" altLang="zh-CN" sz="24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FMUL</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R6,</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rPr>
                        <a:t>R7</a:t>
                      </a:r>
                      <a:endParaRPr kumimoji="1" lang="en-US" altLang="zh-CN" sz="2400" b="1" i="0" u="none" strike="noStrike" cap="none" normalizeH="0" baseline="0" smtClean="0">
                        <a:ln>
                          <a:noFill/>
                        </a:ln>
                        <a:solidFill>
                          <a:schemeClr val="bg1"/>
                        </a:solidFill>
                        <a:effectLst/>
                        <a:latin typeface="Comic Sans MS" panose="030F0702030302020204" pitchFamily="66" charset="0"/>
                        <a:ea typeface="楷体_GB2312" pitchFamily="49" charset="-122"/>
                      </a:endParaRP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rPr>
                        <a:t>;</a:t>
                      </a:r>
                      <a:r>
                        <a:rPr kumimoji="1" lang="en-US" altLang="zh-CN"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rPr>
                        <a:t>R6←(R6)×(R7)</a:t>
                      </a:r>
                      <a:endParaRPr kumimoji="1" lang="zh-CN" altLang="en-US" sz="2400" b="1" i="0" u="none" strike="noStrike" cap="none" normalizeH="0" baseline="0" dirty="0" smtClean="0">
                        <a:ln>
                          <a:noFill/>
                        </a:ln>
                        <a:solidFill>
                          <a:schemeClr val="tx1"/>
                        </a:solidFill>
                        <a:effectLst/>
                        <a:latin typeface="Comic Sans MS" panose="030F0702030302020204"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graphicFrame>
        <p:nvGraphicFramePr>
          <p:cNvPr id="750805" name="Group 213"/>
          <p:cNvGraphicFramePr>
            <a:graphicFrameLocks noGrp="1"/>
          </p:cNvGraphicFramePr>
          <p:nvPr/>
        </p:nvGraphicFramePr>
        <p:xfrm>
          <a:off x="1295400" y="3276600"/>
          <a:ext cx="7315200" cy="2562225"/>
        </p:xfrm>
        <a:graphic>
          <a:graphicData uri="http://schemas.openxmlformats.org/drawingml/2006/table">
            <a:tbl>
              <a:tblPr/>
              <a:tblGrid>
                <a:gridCol w="731838"/>
                <a:gridCol w="730250"/>
                <a:gridCol w="733425"/>
                <a:gridCol w="730250"/>
                <a:gridCol w="731837"/>
                <a:gridCol w="731838"/>
                <a:gridCol w="730250"/>
                <a:gridCol w="733425"/>
                <a:gridCol w="730250"/>
                <a:gridCol w="731837"/>
              </a:tblGrid>
              <a:tr h="4286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dirty="0" smtClean="0">
                          <a:ln>
                            <a:noFill/>
                          </a:ln>
                          <a:solidFill>
                            <a:schemeClr val="tx1"/>
                          </a:solidFill>
                          <a:effectLst/>
                          <a:latin typeface="Comic Sans MS" panose="030F0702030302020204" pitchFamily="66" charset="0"/>
                          <a:ea typeface="楷体_GB2312" pitchFamily="49" charset="-122"/>
                        </a:rPr>
                        <a:t>IF1</a:t>
                      </a:r>
                      <a:endParaRPr kumimoji="1" lang="en-US" altLang="zh-CN" sz="2400" b="0" i="0" u="none" strike="noStrike" cap="none" normalizeH="0" baseline="0" dirty="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LS</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cap="flat">
                      <a:noFill/>
                    </a:lnT>
                    <a:lnB>
                      <a:noFill/>
                    </a:lnB>
                    <a:lnTlToBr>
                      <a:noFill/>
                    </a:lnTlToBr>
                    <a:lnBlToTr>
                      <a:noFill/>
                    </a:lnBlToTr>
                    <a:noFill/>
                  </a:tcPr>
                </a:tc>
              </a:tr>
              <a:tr h="42545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dirty="0" smtClean="0">
                          <a:ln>
                            <a:noFill/>
                          </a:ln>
                          <a:solidFill>
                            <a:schemeClr val="tx1"/>
                          </a:solidFill>
                          <a:effectLst/>
                          <a:latin typeface="Comic Sans MS" panose="030F0702030302020204" pitchFamily="66" charset="0"/>
                          <a:ea typeface="楷体_GB2312" pitchFamily="49" charset="-122"/>
                        </a:rPr>
                        <a:t>MD1</a:t>
                      </a:r>
                      <a:endParaRPr kumimoji="1" lang="zh-CN" altLang="en-US" sz="2400" b="0" i="0" u="none" strike="noStrike" cap="none" normalizeH="0" baseline="0" dirty="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MD3</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413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IF3</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ID3</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FA3</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WR3</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rgbClr val="FF0000"/>
                          </a:solidFill>
                          <a:effectLst/>
                          <a:latin typeface="Comic Sans MS" panose="030F0702030302020204"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rPr>
                        <a:t>2</a:t>
                      </a:r>
                      <a:endPar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endParaRPr>
                    </a:p>
                  </a:txBody>
                  <a:tcPr marL="0" marR="0" marT="0" marB="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FA3</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0957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rgbClr val="FF0000"/>
                          </a:solidFill>
                          <a:effectLst/>
                          <a:latin typeface="Comic Sans MS" panose="030F0702030302020204"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rPr>
                        <a:t>5</a:t>
                      </a:r>
                      <a:endParaRPr kumimoji="1" lang="zh-CN" altLang="en-US" sz="2400" b="0" i="0" u="none" strike="noStrike" cap="none" normalizeH="0" baseline="-25000" smtClean="0">
                        <a:ln>
                          <a:noFill/>
                        </a:ln>
                        <a:solidFill>
                          <a:srgbClr val="FF0000"/>
                        </a:solidFill>
                        <a:effectLst/>
                        <a:latin typeface="Comic Sans MS" panose="030F0702030302020204" pitchFamily="66" charset="0"/>
                        <a:ea typeface="楷体_GB2312" pitchFamily="49" charset="-122"/>
                      </a:endParaRPr>
                    </a:p>
                  </a:txBody>
                  <a:tcPr marL="0" marR="0" marT="0" marB="0" anchor="ct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ID2</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AL</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cap="flat">
                      <a:noFill/>
                    </a:lnL>
                    <a:lnR>
                      <a:noFill/>
                    </a:lnR>
                    <a:lnT>
                      <a:noFill/>
                    </a:lnT>
                    <a:lnB cap="flat">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rgbClr val="FF0000"/>
                          </a:solidFill>
                          <a:effectLst/>
                          <a:latin typeface="Comic Sans MS" panose="030F0702030302020204"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rPr>
                        <a:t>6</a:t>
                      </a:r>
                      <a:endParaRPr kumimoji="1" lang="en-US" altLang="zh-CN" sz="2400" b="0" i="0" u="none" strike="noStrike" cap="none" normalizeH="0" baseline="-25000" smtClean="0">
                        <a:ln>
                          <a:noFill/>
                        </a:ln>
                        <a:solidFill>
                          <a:srgbClr val="FF0000"/>
                        </a:solidFill>
                        <a:effectLst/>
                        <a:latin typeface="Comic Sans MS" panose="030F0702030302020204" pitchFamily="66" charset="0"/>
                        <a:ea typeface="楷体_GB2312" pitchFamily="49" charset="-122"/>
                      </a:endParaRPr>
                    </a:p>
                  </a:txBody>
                  <a:tcPr marL="0" marR="0" marT="0" marB="0"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cap="flat">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IF1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ID1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MD1</a:t>
                      </a: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MD2</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MD3</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rPr>
                        <a:t>WR1</a:t>
                      </a: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cap="flat">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400" b="0"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0" marB="0" anchor="ctr" horzOverflow="overflow">
                    <a:lnL>
                      <a:noFill/>
                    </a:lnL>
                    <a:lnR cap="flat">
                      <a:noFill/>
                    </a:lnR>
                    <a:lnT>
                      <a:noFill/>
                    </a:lnT>
                    <a:lnB cap="flat">
                      <a:noFill/>
                    </a:lnB>
                    <a:lnTlToBr>
                      <a:noFill/>
                    </a:lnTlToBr>
                    <a:lnBlToTr>
                      <a:noFill/>
                    </a:lnBlToTr>
                    <a:noFill/>
                  </a:tcPr>
                </a:tc>
              </a:tr>
            </a:tbl>
          </a:graphicData>
        </a:graphic>
      </p:graphicFrame>
      <p:sp>
        <p:nvSpPr>
          <p:cNvPr id="245879" name="Line 137"/>
          <p:cNvSpPr>
            <a:spLocks noChangeShapeType="1"/>
          </p:cNvSpPr>
          <p:nvPr/>
        </p:nvSpPr>
        <p:spPr bwMode="auto">
          <a:xfrm>
            <a:off x="838200" y="3276600"/>
            <a:ext cx="8153400"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5880" name="Line 138"/>
          <p:cNvSpPr>
            <a:spLocks noChangeShapeType="1"/>
          </p:cNvSpPr>
          <p:nvPr/>
        </p:nvSpPr>
        <p:spPr bwMode="auto">
          <a:xfrm>
            <a:off x="838200" y="3276600"/>
            <a:ext cx="0" cy="274320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5881" name="Text Box 139"/>
          <p:cNvSpPr txBox="1">
            <a:spLocks noChangeArrowheads="1"/>
          </p:cNvSpPr>
          <p:nvPr/>
        </p:nvSpPr>
        <p:spPr bwMode="auto">
          <a:xfrm>
            <a:off x="914400" y="33528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solidFill>
                  <a:srgbClr val="FF0000"/>
                </a:solidFill>
                <a:latin typeface="Comic Sans MS" panose="030F0702030302020204" pitchFamily="66" charset="0"/>
              </a:rPr>
              <a:t>I</a:t>
            </a:r>
            <a:r>
              <a:rPr lang="en-US" altLang="zh-CN" sz="2400" baseline="-25000">
                <a:solidFill>
                  <a:srgbClr val="FF0000"/>
                </a:solidFill>
                <a:latin typeface="Comic Sans MS" panose="030F0702030302020204" pitchFamily="66" charset="0"/>
              </a:rPr>
              <a:t>1</a:t>
            </a:r>
            <a:endParaRPr lang="en-US" altLang="zh-CN" sz="2400" baseline="-25000">
              <a:solidFill>
                <a:srgbClr val="FF0000"/>
              </a:solidFill>
              <a:latin typeface="Comic Sans MS" panose="030F0702030302020204" pitchFamily="66" charset="0"/>
            </a:endParaRPr>
          </a:p>
        </p:txBody>
      </p:sp>
      <p:sp>
        <p:nvSpPr>
          <p:cNvPr id="245882" name="Text Box 140"/>
          <p:cNvSpPr txBox="1">
            <a:spLocks noChangeArrowheads="1"/>
          </p:cNvSpPr>
          <p:nvPr/>
        </p:nvSpPr>
        <p:spPr bwMode="auto">
          <a:xfrm>
            <a:off x="914400" y="37338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solidFill>
                  <a:srgbClr val="FF0000"/>
                </a:solidFill>
                <a:latin typeface="Comic Sans MS" panose="030F0702030302020204" pitchFamily="66" charset="0"/>
              </a:rPr>
              <a:t>I</a:t>
            </a:r>
            <a:r>
              <a:rPr lang="en-US" altLang="zh-CN" sz="2400" baseline="-25000">
                <a:solidFill>
                  <a:srgbClr val="FF0000"/>
                </a:solidFill>
                <a:latin typeface="Comic Sans MS" panose="030F0702030302020204" pitchFamily="66" charset="0"/>
              </a:rPr>
              <a:t>3</a:t>
            </a:r>
            <a:endParaRPr lang="en-US" altLang="zh-CN" sz="2400" baseline="-25000">
              <a:solidFill>
                <a:srgbClr val="FF0000"/>
              </a:solidFill>
              <a:latin typeface="Comic Sans MS" panose="030F0702030302020204" pitchFamily="66" charset="0"/>
            </a:endParaRPr>
          </a:p>
        </p:txBody>
      </p:sp>
      <p:sp>
        <p:nvSpPr>
          <p:cNvPr id="245883" name="Text Box 141"/>
          <p:cNvSpPr txBox="1">
            <a:spLocks noChangeArrowheads="1"/>
          </p:cNvSpPr>
          <p:nvPr/>
        </p:nvSpPr>
        <p:spPr bwMode="auto">
          <a:xfrm>
            <a:off x="16002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1</a:t>
            </a:r>
            <a:endParaRPr lang="en-US" altLang="zh-CN" sz="2400" baseline="-25000">
              <a:latin typeface="Comic Sans MS" panose="030F0702030302020204" pitchFamily="66" charset="0"/>
            </a:endParaRPr>
          </a:p>
        </p:txBody>
      </p:sp>
      <p:sp>
        <p:nvSpPr>
          <p:cNvPr id="245884" name="Text Box 142"/>
          <p:cNvSpPr txBox="1">
            <a:spLocks noChangeArrowheads="1"/>
          </p:cNvSpPr>
          <p:nvPr/>
        </p:nvSpPr>
        <p:spPr bwMode="auto">
          <a:xfrm>
            <a:off x="22860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2</a:t>
            </a:r>
            <a:endParaRPr lang="en-US" altLang="zh-CN" sz="2400" baseline="-25000">
              <a:latin typeface="Comic Sans MS" panose="030F0702030302020204" pitchFamily="66" charset="0"/>
            </a:endParaRPr>
          </a:p>
        </p:txBody>
      </p:sp>
      <p:sp>
        <p:nvSpPr>
          <p:cNvPr id="245885" name="Text Box 143"/>
          <p:cNvSpPr txBox="1">
            <a:spLocks noChangeArrowheads="1"/>
          </p:cNvSpPr>
          <p:nvPr/>
        </p:nvSpPr>
        <p:spPr bwMode="auto">
          <a:xfrm>
            <a:off x="30480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3</a:t>
            </a:r>
            <a:endParaRPr lang="en-US" altLang="zh-CN" sz="2400" baseline="-25000">
              <a:latin typeface="Comic Sans MS" panose="030F0702030302020204" pitchFamily="66" charset="0"/>
            </a:endParaRPr>
          </a:p>
        </p:txBody>
      </p:sp>
      <p:sp>
        <p:nvSpPr>
          <p:cNvPr id="245886" name="Text Box 144"/>
          <p:cNvSpPr txBox="1">
            <a:spLocks noChangeArrowheads="1"/>
          </p:cNvSpPr>
          <p:nvPr/>
        </p:nvSpPr>
        <p:spPr bwMode="auto">
          <a:xfrm>
            <a:off x="37338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4</a:t>
            </a:r>
            <a:endParaRPr lang="en-US" altLang="zh-CN" sz="2400" baseline="-25000">
              <a:latin typeface="Comic Sans MS" panose="030F0702030302020204" pitchFamily="66" charset="0"/>
            </a:endParaRPr>
          </a:p>
        </p:txBody>
      </p:sp>
      <p:sp>
        <p:nvSpPr>
          <p:cNvPr id="245887" name="Text Box 145"/>
          <p:cNvSpPr txBox="1">
            <a:spLocks noChangeArrowheads="1"/>
          </p:cNvSpPr>
          <p:nvPr/>
        </p:nvSpPr>
        <p:spPr bwMode="auto">
          <a:xfrm>
            <a:off x="4419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5</a:t>
            </a:r>
            <a:endParaRPr lang="en-US" altLang="zh-CN" sz="2400" baseline="-25000">
              <a:latin typeface="Comic Sans MS" panose="030F0702030302020204" pitchFamily="66" charset="0"/>
            </a:endParaRPr>
          </a:p>
        </p:txBody>
      </p:sp>
      <p:sp>
        <p:nvSpPr>
          <p:cNvPr id="245888" name="Text Box 146"/>
          <p:cNvSpPr txBox="1">
            <a:spLocks noChangeArrowheads="1"/>
          </p:cNvSpPr>
          <p:nvPr/>
        </p:nvSpPr>
        <p:spPr bwMode="auto">
          <a:xfrm>
            <a:off x="5181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6</a:t>
            </a:r>
            <a:endParaRPr lang="en-US" altLang="zh-CN" sz="2400" baseline="-25000">
              <a:latin typeface="Comic Sans MS" panose="030F0702030302020204" pitchFamily="66" charset="0"/>
            </a:endParaRPr>
          </a:p>
        </p:txBody>
      </p:sp>
      <p:sp>
        <p:nvSpPr>
          <p:cNvPr id="245889" name="Text Box 147"/>
          <p:cNvSpPr txBox="1">
            <a:spLocks noChangeArrowheads="1"/>
          </p:cNvSpPr>
          <p:nvPr/>
        </p:nvSpPr>
        <p:spPr bwMode="auto">
          <a:xfrm>
            <a:off x="5943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7</a:t>
            </a:r>
            <a:endParaRPr lang="en-US" altLang="zh-CN" sz="2400" baseline="-25000">
              <a:latin typeface="Comic Sans MS" panose="030F0702030302020204" pitchFamily="66" charset="0"/>
            </a:endParaRPr>
          </a:p>
        </p:txBody>
      </p:sp>
      <p:sp>
        <p:nvSpPr>
          <p:cNvPr id="245890" name="Text Box 148"/>
          <p:cNvSpPr txBox="1">
            <a:spLocks noChangeArrowheads="1"/>
          </p:cNvSpPr>
          <p:nvPr/>
        </p:nvSpPr>
        <p:spPr bwMode="auto">
          <a:xfrm>
            <a:off x="66294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8</a:t>
            </a:r>
            <a:endParaRPr lang="en-US" altLang="zh-CN" sz="2400" baseline="-25000">
              <a:latin typeface="Comic Sans MS" panose="030F0702030302020204" pitchFamily="66" charset="0"/>
            </a:endParaRPr>
          </a:p>
        </p:txBody>
      </p:sp>
      <p:sp>
        <p:nvSpPr>
          <p:cNvPr id="245891" name="Text Box 149"/>
          <p:cNvSpPr txBox="1">
            <a:spLocks noChangeArrowheads="1"/>
          </p:cNvSpPr>
          <p:nvPr/>
        </p:nvSpPr>
        <p:spPr bwMode="auto">
          <a:xfrm>
            <a:off x="73914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9</a:t>
            </a:r>
            <a:endParaRPr lang="en-US" altLang="zh-CN" sz="2400" baseline="-25000">
              <a:latin typeface="Comic Sans MS" panose="030F0702030302020204" pitchFamily="66" charset="0"/>
            </a:endParaRPr>
          </a:p>
        </p:txBody>
      </p:sp>
      <p:sp>
        <p:nvSpPr>
          <p:cNvPr id="245892" name="Text Box 150"/>
          <p:cNvSpPr txBox="1">
            <a:spLocks noChangeArrowheads="1"/>
          </p:cNvSpPr>
          <p:nvPr/>
        </p:nvSpPr>
        <p:spPr bwMode="auto">
          <a:xfrm>
            <a:off x="8077200" y="2895600"/>
            <a:ext cx="3810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latin typeface="Comic Sans MS" panose="030F0702030302020204" pitchFamily="66" charset="0"/>
              </a:rPr>
              <a:t>10</a:t>
            </a:r>
            <a:endParaRPr lang="en-US" altLang="zh-CN" sz="2400" baseline="-25000">
              <a:latin typeface="Comic Sans MS" panose="030F0702030302020204" pitchFamily="66" charset="0"/>
            </a:endParaRPr>
          </a:p>
        </p:txBody>
      </p:sp>
      <p:sp>
        <p:nvSpPr>
          <p:cNvPr id="245893" name="Text Box 151"/>
          <p:cNvSpPr txBox="1">
            <a:spLocks noChangeArrowheads="1"/>
          </p:cNvSpPr>
          <p:nvPr/>
        </p:nvSpPr>
        <p:spPr bwMode="auto">
          <a:xfrm>
            <a:off x="914400" y="5638800"/>
            <a:ext cx="838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指令</a:t>
            </a:r>
            <a:endParaRPr lang="zh-CN" altLang="en-US" sz="2400" baseline="-25000">
              <a:latin typeface="楷体_GB2312" pitchFamily="49" charset="-122"/>
            </a:endParaRPr>
          </a:p>
        </p:txBody>
      </p:sp>
      <p:sp>
        <p:nvSpPr>
          <p:cNvPr id="245894" name="Text Box 152"/>
          <p:cNvSpPr txBox="1">
            <a:spLocks noChangeArrowheads="1"/>
          </p:cNvSpPr>
          <p:nvPr/>
        </p:nvSpPr>
        <p:spPr bwMode="auto">
          <a:xfrm>
            <a:off x="7620000" y="3429000"/>
            <a:ext cx="12954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时钟周期</a:t>
            </a:r>
            <a:endParaRPr lang="zh-CN" altLang="en-US" sz="2400" baseline="-25000">
              <a:latin typeface="楷体_GB2312" pitchFamily="49" charset="-122"/>
            </a:endParaRPr>
          </a:p>
        </p:txBody>
      </p:sp>
      <p:sp>
        <p:nvSpPr>
          <p:cNvPr id="245895" name="Line 153"/>
          <p:cNvSpPr>
            <a:spLocks noChangeShapeType="1"/>
          </p:cNvSpPr>
          <p:nvPr/>
        </p:nvSpPr>
        <p:spPr bwMode="auto">
          <a:xfrm>
            <a:off x="5257800" y="609600"/>
            <a:ext cx="1295400" cy="152400"/>
          </a:xfrm>
          <a:prstGeom prst="line">
            <a:avLst/>
          </a:prstGeom>
          <a:noFill/>
          <a:ln w="28575">
            <a:solidFill>
              <a:srgbClr val="FF0000"/>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5896" name="Line 154"/>
          <p:cNvSpPr>
            <a:spLocks noChangeShapeType="1"/>
          </p:cNvSpPr>
          <p:nvPr/>
        </p:nvSpPr>
        <p:spPr bwMode="auto">
          <a:xfrm>
            <a:off x="5257800" y="2209800"/>
            <a:ext cx="381000" cy="304800"/>
          </a:xfrm>
          <a:prstGeom prst="line">
            <a:avLst/>
          </a:prstGeom>
          <a:noFill/>
          <a:ln w="28575">
            <a:solidFill>
              <a:srgbClr val="FF0000"/>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5897" name="Line 155"/>
          <p:cNvSpPr>
            <a:spLocks noChangeShapeType="1"/>
          </p:cNvSpPr>
          <p:nvPr/>
        </p:nvSpPr>
        <p:spPr bwMode="auto">
          <a:xfrm>
            <a:off x="5029200" y="2209800"/>
            <a:ext cx="0" cy="228600"/>
          </a:xfrm>
          <a:prstGeom prst="line">
            <a:avLst/>
          </a:prstGeom>
          <a:noFill/>
          <a:ln w="28575">
            <a:solidFill>
              <a:srgbClr val="0000CC"/>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5898" name="Line 156"/>
          <p:cNvSpPr>
            <a:spLocks noChangeShapeType="1"/>
          </p:cNvSpPr>
          <p:nvPr/>
        </p:nvSpPr>
        <p:spPr bwMode="auto">
          <a:xfrm flipH="1">
            <a:off x="5257800" y="1447800"/>
            <a:ext cx="1524000" cy="152400"/>
          </a:xfrm>
          <a:prstGeom prst="line">
            <a:avLst/>
          </a:prstGeom>
          <a:noFill/>
          <a:ln w="28575">
            <a:solidFill>
              <a:schemeClr val="tx1"/>
            </a:solidFill>
            <a:rou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5899" name="Text Box 157"/>
          <p:cNvSpPr txBox="1">
            <a:spLocks noChangeArrowheads="1"/>
          </p:cNvSpPr>
          <p:nvPr/>
        </p:nvSpPr>
        <p:spPr bwMode="auto">
          <a:xfrm>
            <a:off x="914400" y="41148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400">
                <a:solidFill>
                  <a:srgbClr val="FF0000"/>
                </a:solidFill>
                <a:latin typeface="Comic Sans MS" panose="030F0702030302020204" pitchFamily="66" charset="0"/>
              </a:rPr>
              <a:t>I</a:t>
            </a:r>
            <a:r>
              <a:rPr lang="en-US" altLang="zh-CN" sz="2400" baseline="-25000">
                <a:solidFill>
                  <a:srgbClr val="FF0000"/>
                </a:solidFill>
                <a:latin typeface="Comic Sans MS" panose="030F0702030302020204" pitchFamily="66" charset="0"/>
              </a:rPr>
              <a:t>4</a:t>
            </a:r>
            <a:endParaRPr lang="en-US" altLang="zh-CN" sz="2400" baseline="-25000">
              <a:solidFill>
                <a:srgbClr val="FF0000"/>
              </a:solidFill>
              <a:latin typeface="Comic Sans MS" panose="030F0702030302020204" pitchFamily="66" charset="0"/>
            </a:endParaRPr>
          </a:p>
        </p:txBody>
      </p:sp>
      <p:sp>
        <p:nvSpPr>
          <p:cNvPr id="245900" name="Text Box 214"/>
          <p:cNvSpPr txBox="1">
            <a:spLocks noChangeArrowheads="1"/>
          </p:cNvSpPr>
          <p:nvPr/>
        </p:nvSpPr>
        <p:spPr bwMode="auto">
          <a:xfrm>
            <a:off x="5867400" y="3276600"/>
            <a:ext cx="1219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流水线1</a:t>
            </a:r>
            <a:endParaRPr lang="zh-CN" altLang="en-US" sz="2400" baseline="-25000">
              <a:latin typeface="楷体_GB2312" pitchFamily="49" charset="-122"/>
            </a:endParaRPr>
          </a:p>
        </p:txBody>
      </p:sp>
      <p:sp>
        <p:nvSpPr>
          <p:cNvPr id="245901" name="Text Box 215"/>
          <p:cNvSpPr txBox="1">
            <a:spLocks noChangeArrowheads="1"/>
          </p:cNvSpPr>
          <p:nvPr/>
        </p:nvSpPr>
        <p:spPr bwMode="auto">
          <a:xfrm>
            <a:off x="5867400" y="3733800"/>
            <a:ext cx="1219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流水线2</a:t>
            </a:r>
            <a:endParaRPr lang="zh-CN" altLang="en-US" sz="2400" baseline="-25000">
              <a:latin typeface="楷体_GB2312" pitchFamily="49" charset="-122"/>
            </a:endParaRPr>
          </a:p>
        </p:txBody>
      </p:sp>
      <p:sp>
        <p:nvSpPr>
          <p:cNvPr id="245902" name="Text Box 216"/>
          <p:cNvSpPr txBox="1">
            <a:spLocks noChangeArrowheads="1"/>
          </p:cNvSpPr>
          <p:nvPr/>
        </p:nvSpPr>
        <p:spPr bwMode="auto">
          <a:xfrm>
            <a:off x="5867400" y="4114800"/>
            <a:ext cx="12954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2400">
                <a:latin typeface="楷体_GB2312" pitchFamily="49" charset="-122"/>
              </a:rPr>
              <a:t>先行窗口</a:t>
            </a:r>
            <a:endParaRPr lang="zh-CN" altLang="en-US" sz="2400" baseline="-25000">
              <a:latin typeface="楷体_GB2312" pitchFamily="49" charset="-122"/>
            </a:endParaRPr>
          </a:p>
        </p:txBody>
      </p:sp>
      <p:sp>
        <p:nvSpPr>
          <p:cNvPr id="245903" name="Text Box 218"/>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4</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sz="4400" dirty="0" smtClean="0"/>
              <a:t>常见超标量处理机技术</a:t>
            </a:r>
            <a:endParaRPr lang="zh-CN" altLang="en-US" sz="4400" dirty="0" smtClean="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endParaRPr lang="zh-CN" altLang="en-US" sz="1200" b="0">
              <a:latin typeface="Times New Roman" panose="02020603050405020304" pitchFamily="18" charset="0"/>
              <a:ea typeface="幼圆" panose="02010509060101010101" pitchFamily="49" charset="-122"/>
            </a:endParaRPr>
          </a:p>
        </p:txBody>
      </p:sp>
      <p:graphicFrame>
        <p:nvGraphicFramePr>
          <p:cNvPr id="962610" name="Group 50"/>
          <p:cNvGraphicFramePr>
            <a:graphicFrameLocks noGrp="1"/>
          </p:cNvGraphicFramePr>
          <p:nvPr/>
        </p:nvGraphicFramePr>
        <p:xfrm>
          <a:off x="900113" y="2060575"/>
          <a:ext cx="7924800" cy="4010026"/>
        </p:xfrm>
        <a:graphic>
          <a:graphicData uri="http://schemas.openxmlformats.org/drawingml/2006/table">
            <a:tbl>
              <a:tblPr/>
              <a:tblGrid>
                <a:gridCol w="1320800"/>
                <a:gridCol w="1320800"/>
                <a:gridCol w="1320800"/>
                <a:gridCol w="1320800"/>
                <a:gridCol w="1320800"/>
                <a:gridCol w="1320800"/>
              </a:tblGrid>
              <a:tr h="79982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chemeClr val="tx1"/>
                          </a:solidFill>
                          <a:effectLst/>
                          <a:latin typeface="+mn-lt"/>
                          <a:ea typeface="宋体" panose="02010600030101010101" pitchFamily="2" charset="-122"/>
                        </a:rPr>
                        <a:t>名称</a:t>
                      </a:r>
                      <a:endParaRPr kumimoji="1" lang="zh-CN" altLang="en-US" sz="2400" b="1" i="0" u="none" strike="noStrike" cap="none" normalizeH="0" baseline="0" dirty="0" smtClean="0">
                        <a:ln>
                          <a:noFill/>
                        </a:ln>
                        <a:solidFill>
                          <a:schemeClr val="tx1"/>
                        </a:solidFill>
                        <a:effectLst/>
                        <a:latin typeface="+mn-lt"/>
                        <a:ea typeface="宋体" panose="02010600030101010101" pitchFamily="2"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发射结构</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冲突检测</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调度</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主要特征</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实例</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r>
              <a:tr h="109728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chemeClr val="tx1"/>
                          </a:solidFill>
                          <a:effectLst/>
                          <a:latin typeface="+mn-lt"/>
                          <a:ea typeface="宋体" panose="02010600030101010101" pitchFamily="2" charset="-122"/>
                        </a:rPr>
                        <a:t>超标量（静态）</a:t>
                      </a:r>
                      <a:endParaRPr kumimoji="1" lang="zh-CN" altLang="en-US" sz="2400" b="1" i="0" u="none" strike="noStrike" cap="none" normalizeH="0" baseline="0" dirty="0" smtClean="0">
                        <a:ln>
                          <a:noFill/>
                        </a:ln>
                        <a:solidFill>
                          <a:schemeClr val="tx1"/>
                        </a:solidFill>
                        <a:effectLst/>
                        <a:latin typeface="+mn-lt"/>
                        <a:ea typeface="宋体" panose="02010600030101010101" pitchFamily="2"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dirty="0" smtClean="0">
                          <a:ln>
                            <a:noFill/>
                          </a:ln>
                          <a:solidFill>
                            <a:schemeClr val="tx1"/>
                          </a:solidFill>
                          <a:effectLst/>
                          <a:latin typeface="+mn-lt"/>
                          <a:ea typeface="宋体" panose="02010600030101010101" pitchFamily="2" charset="-122"/>
                        </a:rPr>
                        <a:t>动态</a:t>
                      </a:r>
                      <a:endParaRPr kumimoji="1" lang="zh-CN" altLang="en-US" sz="2400" b="1" i="0" u="none" strike="noStrike" cap="none" normalizeH="0" baseline="0" dirty="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硬件</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静态</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顺序执行</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mn-lt"/>
                          <a:ea typeface="宋体" panose="02010600030101010101" pitchFamily="2" charset="-122"/>
                        </a:rPr>
                        <a:t>Sun UltraSPARC Ⅱ/Ⅲ</a:t>
                      </a:r>
                      <a:endParaRPr kumimoji="1" lang="en-US" altLang="zh-CN"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1015646">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超标量（动态）</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动态</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硬件</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动态</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部分乱序执行</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mn-lt"/>
                          <a:ea typeface="宋体" panose="02010600030101010101" pitchFamily="2" charset="-122"/>
                        </a:rPr>
                        <a:t>IBM Power2</a:t>
                      </a:r>
                      <a:endParaRPr kumimoji="1" lang="en-US" altLang="zh-CN"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109728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超标量（猜测）</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动态</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硬件</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带猜测的动态执行</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带猜测的乱序执行</a:t>
                      </a:r>
                      <a:endParaRPr kumimoji="1" lang="zh-CN" altLang="en-US" sz="2400" b="1" i="0" u="none" strike="noStrike" cap="none" normalizeH="0" baseline="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dirty="0" smtClean="0">
                          <a:ln>
                            <a:noFill/>
                          </a:ln>
                          <a:solidFill>
                            <a:schemeClr val="tx1"/>
                          </a:solidFill>
                          <a:effectLst/>
                          <a:latin typeface="+mn-lt"/>
                          <a:ea typeface="宋体" panose="02010600030101010101" pitchFamily="2" charset="-122"/>
                        </a:rPr>
                        <a:t>Pentium Ⅲ/4,MIPS R10K</a:t>
                      </a:r>
                      <a:endParaRPr kumimoji="1" lang="en-US" altLang="zh-CN" sz="2400" b="1" i="0" u="none" strike="noStrike" cap="none" normalizeH="0" baseline="0" dirty="0" smtClean="0">
                        <a:ln>
                          <a:noFill/>
                        </a:ln>
                        <a:solidFill>
                          <a:schemeClr val="tx1"/>
                        </a:solidFill>
                        <a:effectLst/>
                        <a:latin typeface="+mn-lt"/>
                        <a:ea typeface="宋体" panose="02010600030101010101" pitchFamily="2"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5</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dirty="0" smtClean="0"/>
              <a:t>超标量处理机设计</a:t>
            </a:r>
            <a:endParaRPr lang="zh-CN" altLang="en-US" dirty="0" smtClean="0"/>
          </a:p>
        </p:txBody>
      </p:sp>
      <p:sp>
        <p:nvSpPr>
          <p:cNvPr id="2" name="内容占位符 1"/>
          <p:cNvSpPr>
            <a:spLocks noGrp="1"/>
          </p:cNvSpPr>
          <p:nvPr>
            <p:ph idx="1"/>
          </p:nvPr>
        </p:nvSpPr>
        <p:spPr>
          <a:xfrm>
            <a:off x="1619672" y="2924944"/>
            <a:ext cx="6210647" cy="2159942"/>
          </a:xfrm>
        </p:spPr>
        <p:txBody>
          <a:bodyPr/>
          <a:lstStyle/>
          <a:p>
            <a:r>
              <a:rPr lang="zh-CN" altLang="en-US" dirty="0" smtClean="0">
                <a:hlinkClick r:id="rId1" action="ppaction://hlinksldjump"/>
              </a:rPr>
              <a:t>基于静态调度的超标量处理机</a:t>
            </a:r>
            <a:endParaRPr lang="en-US" altLang="zh-CN" dirty="0" smtClean="0"/>
          </a:p>
          <a:p>
            <a:endParaRPr lang="en-US" altLang="zh-CN" dirty="0"/>
          </a:p>
          <a:p>
            <a:r>
              <a:rPr lang="zh-CN" altLang="en-US" dirty="0" smtClean="0">
                <a:hlinkClick r:id="rId2" action="ppaction://hlinksldjump"/>
              </a:rPr>
              <a:t>基于动态调度</a:t>
            </a:r>
            <a:r>
              <a:rPr lang="zh-CN" altLang="en-US" dirty="0">
                <a:hlinkClick r:id="rId2" action="ppaction://hlinksldjump"/>
              </a:rPr>
              <a:t>的超标量处理机</a:t>
            </a:r>
            <a:endParaRPr lang="en-US" altLang="zh-CN" dirty="0"/>
          </a:p>
          <a:p>
            <a:endParaRPr lang="zh-CN" altLang="en-US"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3"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5" action="ppaction://hlinksldjump"/>
              </a:rPr>
              <a:t>超标量处理机</a:t>
            </a:r>
            <a:endParaRPr lang="zh-CN" altLang="en-US" sz="1200" b="0">
              <a:latin typeface="Times New Roman" panose="02020603050405020304" pitchFamily="18" charset="0"/>
              <a:ea typeface="幼圆" panose="02010509060101010101"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6</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6</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dirty="0"/>
              <a:t>基于静态调度的超标量处理机</a:t>
            </a:r>
            <a:endParaRPr lang="zh-CN" altLang="en-US"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None/>
            </a:pPr>
            <a:r>
              <a:rPr lang="zh-CN" altLang="en-US" sz="1200" b="0" dirty="0">
                <a:latin typeface="Times New Roman" panose="02020603050405020304" pitchFamily="18" charset="0"/>
                <a:ea typeface="幼圆" panose="02010509060101010101" pitchFamily="49" charset="-122"/>
                <a:hlinkClick r:id="rId1" action="ppaction://hlinksldjump"/>
              </a:rPr>
              <a:t>本章内容</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2" action="ppaction://hlinksldjump"/>
              </a:rPr>
              <a:t>多指令发射技术</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3" action="ppaction://hlinksldjump"/>
              </a:rPr>
              <a:t>超标量</a:t>
            </a:r>
            <a:r>
              <a:rPr lang="zh-CN" altLang="en-US" sz="1200" b="0" dirty="0" smtClean="0">
                <a:latin typeface="Times New Roman" panose="02020603050405020304" pitchFamily="18" charset="0"/>
                <a:ea typeface="幼圆" panose="02010509060101010101" pitchFamily="49" charset="-122"/>
                <a:hlinkClick r:id="rId3" action="ppaction://hlinksldjump"/>
              </a:rPr>
              <a:t>处理机</a:t>
            </a:r>
            <a:r>
              <a:rPr lang="en-US" altLang="zh-CN" sz="1200" b="0" dirty="0" smtClean="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4" action="ppaction://hlinksldjump"/>
              </a:rPr>
              <a:t>超标量处理机设计</a:t>
            </a:r>
            <a:endParaRPr lang="zh-CN" altLang="en-US" sz="1200" b="0" dirty="0">
              <a:latin typeface="Times New Roman" panose="02020603050405020304" pitchFamily="18" charset="0"/>
              <a:ea typeface="幼圆" panose="02010509060101010101"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5</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1</a:t>
            </a:r>
            <a:endParaRPr lang="zh-CN" altLang="en-US" sz="1200" b="0" dirty="0">
              <a:latin typeface="幼圆" panose="02010509060101010101" pitchFamily="49" charset="-122"/>
              <a:ea typeface="幼圆" panose="02010509060101010101" pitchFamily="49" charset="-122"/>
            </a:endParaRPr>
          </a:p>
        </p:txBody>
      </p:sp>
      <p:sp>
        <p:nvSpPr>
          <p:cNvPr id="3" name="内容占位符 2"/>
          <p:cNvSpPr>
            <a:spLocks noGrp="1"/>
          </p:cNvSpPr>
          <p:nvPr>
            <p:ph idx="1"/>
          </p:nvPr>
        </p:nvSpPr>
        <p:spPr>
          <a:xfrm>
            <a:off x="809624" y="1989138"/>
            <a:ext cx="8105775" cy="4411662"/>
          </a:xfrm>
        </p:spPr>
        <p:txBody>
          <a:bodyPr/>
          <a:lstStyle/>
          <a:p>
            <a:pPr>
              <a:lnSpc>
                <a:spcPct val="125000"/>
              </a:lnSpc>
              <a:spcBef>
                <a:spcPts val="0"/>
              </a:spcBef>
            </a:pPr>
            <a:r>
              <a:rPr lang="zh-CN" altLang="en-US" sz="2200" dirty="0">
                <a:solidFill>
                  <a:srgbClr val="FF0000"/>
                </a:solidFill>
              </a:rPr>
              <a:t>思想：</a:t>
            </a:r>
            <a:r>
              <a:rPr lang="zh-CN" altLang="en-US" sz="2200" dirty="0"/>
              <a:t>指令</a:t>
            </a:r>
            <a:r>
              <a:rPr lang="zh-CN" altLang="en-US" sz="2200" dirty="0" smtClean="0">
                <a:solidFill>
                  <a:srgbClr val="0000FF"/>
                </a:solidFill>
              </a:rPr>
              <a:t>按序发射</a:t>
            </a:r>
            <a:r>
              <a:rPr lang="zh-CN" altLang="en-US" sz="2200" dirty="0" smtClean="0"/>
              <a:t>，在</a:t>
            </a:r>
            <a:r>
              <a:rPr lang="zh-CN" altLang="en-US" sz="2200" dirty="0"/>
              <a:t>发射</a:t>
            </a:r>
            <a:r>
              <a:rPr lang="zh-CN" altLang="en-US" sz="2200" dirty="0" smtClean="0"/>
              <a:t>时</a:t>
            </a:r>
            <a:r>
              <a:rPr lang="zh-CN" altLang="en-US" sz="2200" dirty="0"/>
              <a:t>由</a:t>
            </a:r>
            <a:r>
              <a:rPr lang="zh-CN" altLang="en-US" sz="2200" dirty="0">
                <a:solidFill>
                  <a:srgbClr val="0000FF"/>
                </a:solidFill>
              </a:rPr>
              <a:t>硬件</a:t>
            </a:r>
            <a:r>
              <a:rPr lang="zh-CN" altLang="en-US" sz="2200" dirty="0" smtClean="0"/>
              <a:t>进行</a:t>
            </a:r>
            <a:r>
              <a:rPr lang="zh-CN" altLang="en-US" sz="2200" dirty="0"/>
              <a:t>冲突</a:t>
            </a:r>
            <a:r>
              <a:rPr lang="zh-CN" altLang="en-US" sz="2200" dirty="0" smtClean="0"/>
              <a:t>检测，检测</a:t>
            </a:r>
            <a:r>
              <a:rPr lang="zh-CN" altLang="en-US" sz="2200" dirty="0">
                <a:solidFill>
                  <a:srgbClr val="0000FF"/>
                </a:solidFill>
              </a:rPr>
              <a:t>当前发射的指令之间</a:t>
            </a:r>
            <a:r>
              <a:rPr lang="zh-CN" altLang="en-US" sz="2200" dirty="0" smtClean="0"/>
              <a:t>以及</a:t>
            </a:r>
            <a:r>
              <a:rPr lang="zh-CN" altLang="en-US" sz="2200" dirty="0">
                <a:solidFill>
                  <a:srgbClr val="0000FF"/>
                </a:solidFill>
              </a:rPr>
              <a:t>当前发射的指令与正在执行的指令之间</a:t>
            </a:r>
            <a:r>
              <a:rPr lang="zh-CN" altLang="en-US" sz="2200" dirty="0" smtClean="0"/>
              <a:t>是否</a:t>
            </a:r>
            <a:r>
              <a:rPr lang="zh-CN" altLang="en-US" sz="2200" dirty="0"/>
              <a:t>存在</a:t>
            </a:r>
            <a:r>
              <a:rPr lang="zh-CN" altLang="en-US" sz="2200" dirty="0" smtClean="0"/>
              <a:t>冲突，若有则只能</a:t>
            </a:r>
            <a:r>
              <a:rPr lang="zh-CN" altLang="en-US" sz="2200" dirty="0"/>
              <a:t>发射</a:t>
            </a:r>
            <a:r>
              <a:rPr lang="zh-CN" altLang="en-US" sz="2200" dirty="0" smtClean="0"/>
              <a:t>该指令之前的指令 </a:t>
            </a:r>
            <a:endParaRPr lang="en-US" altLang="zh-CN" sz="2200" dirty="0" smtClean="0"/>
          </a:p>
          <a:p>
            <a:pPr>
              <a:lnSpc>
                <a:spcPct val="125000"/>
              </a:lnSpc>
              <a:spcBef>
                <a:spcPts val="0"/>
              </a:spcBef>
            </a:pPr>
            <a:r>
              <a:rPr lang="zh-CN" altLang="en-US" sz="2200" dirty="0" smtClean="0">
                <a:solidFill>
                  <a:srgbClr val="FF0000"/>
                </a:solidFill>
              </a:rPr>
              <a:t>例</a:t>
            </a:r>
            <a:r>
              <a:rPr lang="zh-CN" altLang="en-US" sz="2200" dirty="0">
                <a:solidFill>
                  <a:srgbClr val="FF0000"/>
                </a:solidFill>
              </a:rPr>
              <a:t>：</a:t>
            </a:r>
            <a:r>
              <a:rPr lang="zh-CN" altLang="en-US" sz="2200" dirty="0"/>
              <a:t>一个</a:t>
            </a:r>
            <a:r>
              <a:rPr lang="en-US" altLang="zh-CN" sz="2200" dirty="0" smtClean="0"/>
              <a:t>4-</a:t>
            </a:r>
            <a:r>
              <a:rPr lang="zh-CN" altLang="en-US" sz="2200" dirty="0" smtClean="0"/>
              <a:t>发射的</a:t>
            </a:r>
            <a:r>
              <a:rPr lang="zh-CN" altLang="en-US" sz="2200" dirty="0"/>
              <a:t>静态调度超标量处理机  </a:t>
            </a:r>
            <a:endParaRPr lang="zh-CN" altLang="en-US" sz="2200" dirty="0"/>
          </a:p>
          <a:p>
            <a:pPr lvl="1">
              <a:lnSpc>
                <a:spcPct val="125000"/>
              </a:lnSpc>
              <a:spcBef>
                <a:spcPts val="0"/>
              </a:spcBef>
            </a:pPr>
            <a:r>
              <a:rPr lang="zh-CN" altLang="en-US" sz="2200" dirty="0"/>
              <a:t>在取指令阶段，流水线将从取指令部件收到</a:t>
            </a:r>
            <a:r>
              <a:rPr lang="en-US" altLang="zh-CN" sz="2200" dirty="0"/>
              <a:t>1</a:t>
            </a:r>
            <a:r>
              <a:rPr lang="zh-CN" altLang="en-US" sz="2200" dirty="0"/>
              <a:t>～</a:t>
            </a:r>
            <a:r>
              <a:rPr lang="en-US" altLang="zh-CN" sz="2200" dirty="0"/>
              <a:t>4</a:t>
            </a:r>
            <a:r>
              <a:rPr lang="zh-CN" altLang="en-US" sz="2200" dirty="0"/>
              <a:t>条指令（</a:t>
            </a:r>
            <a:r>
              <a:rPr lang="zh-CN" altLang="en-US" sz="2200" dirty="0" smtClean="0"/>
              <a:t>称为</a:t>
            </a:r>
            <a:r>
              <a:rPr lang="zh-CN" altLang="en-US" sz="2200" dirty="0" smtClean="0">
                <a:solidFill>
                  <a:srgbClr val="0000FF"/>
                </a:solidFill>
              </a:rPr>
              <a:t>发射包</a:t>
            </a:r>
            <a:r>
              <a:rPr lang="zh-CN" altLang="en-US" sz="2200" dirty="0" smtClean="0"/>
              <a:t>）</a:t>
            </a:r>
            <a:endParaRPr lang="zh-CN" altLang="en-US" sz="2200" dirty="0"/>
          </a:p>
          <a:p>
            <a:pPr lvl="1">
              <a:lnSpc>
                <a:spcPct val="125000"/>
              </a:lnSpc>
              <a:spcBef>
                <a:spcPts val="0"/>
              </a:spcBef>
            </a:pPr>
            <a:r>
              <a:rPr lang="zh-CN" altLang="en-US" sz="2200" dirty="0" smtClean="0"/>
              <a:t>发射部件检测冲突，一般分</a:t>
            </a:r>
            <a:r>
              <a:rPr lang="zh-CN" altLang="en-US" sz="2200" dirty="0"/>
              <a:t>两阶段实现：</a:t>
            </a:r>
            <a:endParaRPr lang="zh-CN" altLang="en-US" sz="2200" dirty="0"/>
          </a:p>
          <a:p>
            <a:pPr marL="1314450" lvl="2" indent="-457200">
              <a:lnSpc>
                <a:spcPct val="125000"/>
              </a:lnSpc>
              <a:spcBef>
                <a:spcPts val="0"/>
              </a:spcBef>
              <a:buFont typeface="+mj-ea"/>
              <a:buAutoNum type="circleNumDbPlain"/>
            </a:pPr>
            <a:r>
              <a:rPr lang="zh-CN" altLang="en-US" sz="2200" dirty="0" smtClean="0"/>
              <a:t>进行发射包</a:t>
            </a:r>
            <a:r>
              <a:rPr lang="zh-CN" altLang="en-US" sz="2200" dirty="0"/>
              <a:t>内的冲突检测，选出初步判定</a:t>
            </a:r>
            <a:r>
              <a:rPr lang="zh-CN" altLang="en-US" sz="2200" dirty="0" smtClean="0"/>
              <a:t>可以发射的指令</a:t>
            </a:r>
            <a:endParaRPr lang="zh-CN" altLang="en-US" sz="2200" dirty="0"/>
          </a:p>
          <a:p>
            <a:pPr marL="1314450" lvl="2" indent="-457200">
              <a:lnSpc>
                <a:spcPct val="125000"/>
              </a:lnSpc>
              <a:spcBef>
                <a:spcPts val="0"/>
              </a:spcBef>
              <a:buFont typeface="+mj-ea"/>
              <a:buAutoNum type="circleNumDbPlain"/>
            </a:pPr>
            <a:r>
              <a:rPr lang="zh-CN" altLang="en-US" sz="2200" dirty="0" smtClean="0"/>
              <a:t>检测</a:t>
            </a:r>
            <a:r>
              <a:rPr lang="zh-CN" altLang="en-US" sz="2200" dirty="0"/>
              <a:t>所选出的指令与正在执行的指令是否有</a:t>
            </a:r>
            <a:r>
              <a:rPr lang="zh-CN" altLang="en-US" sz="2200" dirty="0" smtClean="0"/>
              <a:t>冲突 </a:t>
            </a:r>
            <a:endParaRPr lang="zh-CN" altLang="en-US" sz="2200" dirty="0"/>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dirty="0" smtClean="0"/>
              <a:t>设计</a:t>
            </a:r>
            <a:endParaRPr lang="zh-CN" altLang="en-US"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None/>
            </a:pPr>
            <a:r>
              <a:rPr lang="zh-CN" altLang="en-US" sz="1200" b="0" dirty="0">
                <a:latin typeface="Times New Roman" panose="02020603050405020304" pitchFamily="18" charset="0"/>
                <a:ea typeface="幼圆" panose="02010509060101010101" pitchFamily="49" charset="-122"/>
                <a:hlinkClick r:id="rId1" action="ppaction://hlinksldjump"/>
              </a:rPr>
              <a:t>本章内容</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2" action="ppaction://hlinksldjump"/>
              </a:rPr>
              <a:t>多指令发射技术</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3" action="ppaction://hlinksldjump"/>
              </a:rPr>
              <a:t>超标量</a:t>
            </a:r>
            <a:r>
              <a:rPr lang="zh-CN" altLang="en-US" sz="1200" b="0" dirty="0" smtClean="0">
                <a:latin typeface="Times New Roman" panose="02020603050405020304" pitchFamily="18" charset="0"/>
                <a:ea typeface="幼圆" panose="02010509060101010101" pitchFamily="49" charset="-122"/>
                <a:hlinkClick r:id="rId3" action="ppaction://hlinksldjump"/>
              </a:rPr>
              <a:t>处理机</a:t>
            </a:r>
            <a:r>
              <a:rPr lang="en-US" altLang="zh-CN" sz="1200" b="0" dirty="0" smtClean="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4" action="ppaction://hlinksldjump"/>
              </a:rPr>
              <a:t>超标量处理机设计</a:t>
            </a:r>
            <a:endParaRPr lang="zh-CN" altLang="en-US" sz="1200" b="0" dirty="0">
              <a:latin typeface="Times New Roman" panose="02020603050405020304" pitchFamily="18" charset="0"/>
              <a:ea typeface="幼圆" panose="02010509060101010101"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5</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2</a:t>
            </a:r>
            <a:endParaRPr lang="zh-CN" altLang="en-US" sz="1200" b="0" dirty="0">
              <a:latin typeface="幼圆" panose="02010509060101010101" pitchFamily="49" charset="-122"/>
              <a:ea typeface="幼圆" panose="02010509060101010101" pitchFamily="49" charset="-122"/>
            </a:endParaRPr>
          </a:p>
        </p:txBody>
      </p:sp>
      <p:sp>
        <p:nvSpPr>
          <p:cNvPr id="3" name="内容占位符 2"/>
          <p:cNvSpPr>
            <a:spLocks noGrp="1"/>
          </p:cNvSpPr>
          <p:nvPr>
            <p:ph idx="1"/>
          </p:nvPr>
        </p:nvSpPr>
        <p:spPr/>
        <p:txBody>
          <a:bodyPr/>
          <a:lstStyle/>
          <a:p>
            <a:r>
              <a:rPr lang="en-US" altLang="zh-CN" sz="2200" dirty="0">
                <a:latin typeface="+mn-lt"/>
              </a:rPr>
              <a:t>MIPS</a:t>
            </a:r>
            <a:r>
              <a:rPr lang="zh-CN" altLang="en-US" sz="2200" dirty="0">
                <a:latin typeface="+mn-lt"/>
              </a:rPr>
              <a:t>处理机是怎样实现超标量的呢？</a:t>
            </a:r>
            <a:endParaRPr lang="zh-CN" altLang="en-US" sz="2200" dirty="0">
              <a:latin typeface="+mn-lt"/>
            </a:endParaRPr>
          </a:p>
          <a:p>
            <a:pPr marL="0" indent="0">
              <a:buNone/>
            </a:pPr>
            <a:r>
              <a:rPr lang="zh-CN" altLang="en-US" sz="2200" dirty="0">
                <a:solidFill>
                  <a:srgbClr val="FF0000"/>
                </a:solidFill>
                <a:latin typeface="+mn-lt"/>
              </a:rPr>
              <a:t>假设：</a:t>
            </a:r>
            <a:r>
              <a:rPr lang="zh-CN" altLang="en-US" sz="2200" dirty="0">
                <a:latin typeface="+mn-lt"/>
              </a:rPr>
              <a:t>每个时钟</a:t>
            </a:r>
            <a:r>
              <a:rPr lang="zh-CN" altLang="en-US" sz="2200" dirty="0" smtClean="0">
                <a:latin typeface="+mn-lt"/>
              </a:rPr>
              <a:t>周期发射两</a:t>
            </a:r>
            <a:r>
              <a:rPr lang="zh-CN" altLang="en-US" sz="2200" dirty="0">
                <a:latin typeface="+mn-lt"/>
              </a:rPr>
              <a:t>条指令：</a:t>
            </a:r>
            <a:endParaRPr lang="zh-CN" altLang="en-US" sz="2200" dirty="0">
              <a:latin typeface="+mn-lt"/>
            </a:endParaRPr>
          </a:p>
          <a:p>
            <a:pPr marL="0" indent="0">
              <a:buNone/>
            </a:pPr>
            <a:r>
              <a:rPr lang="zh-CN" altLang="en-US" sz="2200" dirty="0" smtClean="0">
                <a:latin typeface="+mn-lt"/>
              </a:rPr>
              <a:t>           </a:t>
            </a:r>
            <a:r>
              <a:rPr lang="en-US" altLang="zh-CN" sz="2200" dirty="0">
                <a:solidFill>
                  <a:srgbClr val="0000FF"/>
                </a:solidFill>
                <a:latin typeface="+mn-lt"/>
              </a:rPr>
              <a:t>1</a:t>
            </a:r>
            <a:r>
              <a:rPr lang="zh-CN" altLang="en-US" sz="2200" dirty="0">
                <a:solidFill>
                  <a:srgbClr val="0000FF"/>
                </a:solidFill>
                <a:latin typeface="+mn-lt"/>
              </a:rPr>
              <a:t>条整数型指令＋</a:t>
            </a:r>
            <a:r>
              <a:rPr lang="en-US" altLang="zh-CN" sz="2200" dirty="0">
                <a:solidFill>
                  <a:srgbClr val="0000FF"/>
                </a:solidFill>
                <a:latin typeface="+mn-lt"/>
              </a:rPr>
              <a:t>1</a:t>
            </a:r>
            <a:r>
              <a:rPr lang="zh-CN" altLang="en-US" sz="2200" dirty="0">
                <a:solidFill>
                  <a:srgbClr val="0000FF"/>
                </a:solidFill>
                <a:latin typeface="+mn-lt"/>
              </a:rPr>
              <a:t>条浮点操作指令</a:t>
            </a:r>
            <a:endParaRPr lang="zh-CN" altLang="en-US" sz="2200" dirty="0">
              <a:solidFill>
                <a:srgbClr val="0000FF"/>
              </a:solidFill>
              <a:latin typeface="+mn-lt"/>
            </a:endParaRPr>
          </a:p>
          <a:p>
            <a:pPr lvl="1"/>
            <a:r>
              <a:rPr lang="zh-CN" altLang="en-US" sz="2200" dirty="0">
                <a:latin typeface="+mn-lt"/>
              </a:rPr>
              <a:t>其中：把</a:t>
            </a:r>
            <a:r>
              <a:rPr lang="en-US" altLang="zh-CN" sz="2200" dirty="0">
                <a:latin typeface="+mn-lt"/>
              </a:rPr>
              <a:t>load</a:t>
            </a:r>
            <a:r>
              <a:rPr lang="zh-CN" altLang="en-US" sz="2200" dirty="0">
                <a:latin typeface="+mn-lt"/>
              </a:rPr>
              <a:t>指令、</a:t>
            </a:r>
            <a:r>
              <a:rPr lang="en-US" altLang="zh-CN" sz="2200" dirty="0">
                <a:latin typeface="+mn-lt"/>
              </a:rPr>
              <a:t>store</a:t>
            </a:r>
            <a:r>
              <a:rPr lang="zh-CN" altLang="en-US" sz="2200" dirty="0">
                <a:latin typeface="+mn-lt"/>
              </a:rPr>
              <a:t>指令、分支指令归类为整数型</a:t>
            </a:r>
            <a:r>
              <a:rPr lang="zh-CN" altLang="en-US" sz="2200" dirty="0" smtClean="0">
                <a:latin typeface="+mn-lt"/>
              </a:rPr>
              <a:t>指令</a:t>
            </a:r>
            <a:endParaRPr lang="en-US" altLang="zh-CN" sz="2200" dirty="0" smtClean="0">
              <a:latin typeface="+mn-lt"/>
            </a:endParaRPr>
          </a:p>
          <a:p>
            <a:pPr lvl="1"/>
            <a:r>
              <a:rPr lang="zh-CN" altLang="en-US" sz="2200" dirty="0">
                <a:latin typeface="+mn-lt"/>
              </a:rPr>
              <a:t>要求：</a:t>
            </a:r>
            <a:endParaRPr lang="zh-CN" altLang="en-US" sz="2200" dirty="0">
              <a:latin typeface="+mn-lt"/>
            </a:endParaRPr>
          </a:p>
          <a:p>
            <a:pPr lvl="2"/>
            <a:r>
              <a:rPr lang="zh-CN" altLang="en-US" sz="2200" dirty="0">
                <a:latin typeface="+mn-lt"/>
              </a:rPr>
              <a:t>同时取两条指令（</a:t>
            </a:r>
            <a:r>
              <a:rPr lang="en-US" altLang="zh-CN" sz="2200" dirty="0">
                <a:latin typeface="+mn-lt"/>
              </a:rPr>
              <a:t>64</a:t>
            </a:r>
            <a:r>
              <a:rPr lang="zh-CN" altLang="en-US" sz="2200" dirty="0">
                <a:latin typeface="+mn-lt"/>
              </a:rPr>
              <a:t>位），译码两条指令（</a:t>
            </a:r>
            <a:r>
              <a:rPr lang="en-US" altLang="zh-CN" sz="2200" dirty="0">
                <a:latin typeface="+mn-lt"/>
              </a:rPr>
              <a:t>64</a:t>
            </a:r>
            <a:r>
              <a:rPr lang="zh-CN" altLang="en-US" sz="2200" dirty="0">
                <a:latin typeface="+mn-lt"/>
              </a:rPr>
              <a:t>位</a:t>
            </a:r>
            <a:r>
              <a:rPr lang="zh-CN" altLang="en-US" sz="2200" dirty="0" smtClean="0">
                <a:latin typeface="+mn-lt"/>
              </a:rPr>
              <a:t>）</a:t>
            </a:r>
            <a:endParaRPr lang="zh-CN" altLang="en-US" sz="2200" dirty="0">
              <a:latin typeface="+mn-lt"/>
            </a:endParaRPr>
          </a:p>
          <a:p>
            <a:pPr lvl="2"/>
            <a:r>
              <a:rPr lang="zh-CN" altLang="en-US" sz="2200" dirty="0">
                <a:latin typeface="+mn-lt"/>
              </a:rPr>
              <a:t>对指令的处理包括以下步骤：</a:t>
            </a:r>
            <a:endParaRPr lang="zh-CN" altLang="en-US" sz="2200" dirty="0">
              <a:latin typeface="+mn-lt"/>
            </a:endParaRPr>
          </a:p>
          <a:p>
            <a:pPr marL="1657350" lvl="3" indent="-457200">
              <a:buFont typeface="+mj-ea"/>
              <a:buAutoNum type="circleNumDbPlain"/>
            </a:pPr>
            <a:r>
              <a:rPr lang="zh-CN" altLang="en-US" sz="2200" dirty="0">
                <a:latin typeface="+mn-lt"/>
              </a:rPr>
              <a:t>从</a:t>
            </a:r>
            <a:r>
              <a:rPr lang="en-US" altLang="zh-CN" sz="2200" dirty="0">
                <a:latin typeface="+mn-lt"/>
              </a:rPr>
              <a:t>Cache</a:t>
            </a:r>
            <a:r>
              <a:rPr lang="zh-CN" altLang="en-US" sz="2200" dirty="0">
                <a:latin typeface="+mn-lt"/>
              </a:rPr>
              <a:t>中取两条</a:t>
            </a:r>
            <a:r>
              <a:rPr lang="zh-CN" altLang="en-US" sz="2200" dirty="0" smtClean="0">
                <a:latin typeface="+mn-lt"/>
              </a:rPr>
              <a:t>指令</a:t>
            </a:r>
            <a:endParaRPr lang="zh-CN" altLang="en-US" sz="2200" dirty="0">
              <a:latin typeface="+mn-lt"/>
            </a:endParaRPr>
          </a:p>
          <a:p>
            <a:pPr marL="1657350" lvl="3" indent="-457200">
              <a:buFont typeface="+mj-ea"/>
              <a:buAutoNum type="circleNumDbPlain"/>
            </a:pPr>
            <a:r>
              <a:rPr lang="zh-CN" altLang="en-US" sz="2200" dirty="0">
                <a:latin typeface="+mn-lt"/>
              </a:rPr>
              <a:t>确定那几条指令</a:t>
            </a:r>
            <a:r>
              <a:rPr lang="zh-CN" altLang="en-US" sz="2200" dirty="0" smtClean="0">
                <a:latin typeface="+mn-lt"/>
              </a:rPr>
              <a:t>可以发射（</a:t>
            </a:r>
            <a:r>
              <a:rPr lang="en-US" altLang="zh-CN" sz="2200" dirty="0">
                <a:latin typeface="+mn-lt"/>
              </a:rPr>
              <a:t>0</a:t>
            </a:r>
            <a:r>
              <a:rPr lang="zh-CN" altLang="en-US" sz="2200" dirty="0">
                <a:latin typeface="+mn-lt"/>
              </a:rPr>
              <a:t>～</a:t>
            </a:r>
            <a:r>
              <a:rPr lang="en-US" altLang="zh-CN" sz="2200" dirty="0">
                <a:latin typeface="+mn-lt"/>
              </a:rPr>
              <a:t>2</a:t>
            </a:r>
            <a:r>
              <a:rPr lang="zh-CN" altLang="en-US" sz="2200" dirty="0">
                <a:latin typeface="+mn-lt"/>
              </a:rPr>
              <a:t>条指令</a:t>
            </a:r>
            <a:r>
              <a:rPr lang="zh-CN" altLang="en-US" sz="2200" dirty="0" smtClean="0">
                <a:latin typeface="+mn-lt"/>
              </a:rPr>
              <a:t>）</a:t>
            </a:r>
            <a:endParaRPr lang="zh-CN" altLang="en-US" sz="2200" dirty="0">
              <a:latin typeface="+mn-lt"/>
            </a:endParaRPr>
          </a:p>
          <a:p>
            <a:pPr marL="1657350" lvl="3" indent="-457200">
              <a:buFont typeface="+mj-ea"/>
              <a:buAutoNum type="circleNumDbPlain"/>
            </a:pPr>
            <a:r>
              <a:rPr lang="zh-CN" altLang="en-US" sz="2200" dirty="0">
                <a:latin typeface="+mn-lt"/>
              </a:rPr>
              <a:t>把它们发送到相应的</a:t>
            </a:r>
            <a:r>
              <a:rPr lang="zh-CN" altLang="en-US" sz="2200" dirty="0" smtClean="0">
                <a:latin typeface="+mn-lt"/>
              </a:rPr>
              <a:t>功能部件</a:t>
            </a:r>
            <a:endParaRPr lang="zh-CN" altLang="en-US" sz="2200" dirty="0">
              <a:latin typeface="+mn-lt"/>
            </a:endParaRPr>
          </a:p>
          <a:p>
            <a:endParaRPr lang="zh-CN" altLang="en-US" sz="2200" dirty="0">
              <a:latin typeface="+mn-lt"/>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dirty="0" smtClean="0"/>
              <a:t>时空图 </a:t>
            </a:r>
            <a:endParaRPr lang="zh-CN" altLang="en-US"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None/>
            </a:pPr>
            <a:r>
              <a:rPr lang="zh-CN" altLang="en-US" sz="1200" b="0" dirty="0">
                <a:latin typeface="Times New Roman" panose="02020603050405020304" pitchFamily="18" charset="0"/>
                <a:ea typeface="幼圆" panose="02010509060101010101" pitchFamily="49" charset="-122"/>
                <a:hlinkClick r:id="rId1" action="ppaction://hlinksldjump"/>
              </a:rPr>
              <a:t>本章内容</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2" action="ppaction://hlinksldjump"/>
              </a:rPr>
              <a:t>多指令发射技术</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3" action="ppaction://hlinksldjump"/>
              </a:rPr>
              <a:t>超标量</a:t>
            </a:r>
            <a:r>
              <a:rPr lang="zh-CN" altLang="en-US" sz="1200" b="0" dirty="0" smtClean="0">
                <a:latin typeface="Times New Roman" panose="02020603050405020304" pitchFamily="18" charset="0"/>
                <a:ea typeface="幼圆" panose="02010509060101010101" pitchFamily="49" charset="-122"/>
                <a:hlinkClick r:id="rId3" action="ppaction://hlinksldjump"/>
              </a:rPr>
              <a:t>处理机</a:t>
            </a:r>
            <a:r>
              <a:rPr lang="en-US" altLang="zh-CN" sz="1200" b="0" dirty="0" smtClean="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4" action="ppaction://hlinksldjump"/>
              </a:rPr>
              <a:t>超标量处理机设计</a:t>
            </a:r>
            <a:endParaRPr lang="zh-CN" altLang="en-US" sz="1200" b="0" dirty="0">
              <a:latin typeface="Times New Roman" panose="02020603050405020304" pitchFamily="18" charset="0"/>
              <a:ea typeface="幼圆" panose="02010509060101010101"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5</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3</a:t>
            </a:r>
            <a:endParaRPr lang="zh-CN" altLang="en-US" sz="1200" b="0" dirty="0">
              <a:latin typeface="幼圆" panose="02010509060101010101" pitchFamily="49" charset="-122"/>
              <a:ea typeface="幼圆" panose="02010509060101010101" pitchFamily="49" charset="-122"/>
            </a:endParaRPr>
          </a:p>
        </p:txBody>
      </p:sp>
      <p:sp>
        <p:nvSpPr>
          <p:cNvPr id="3" name="内容占位符 2"/>
          <p:cNvSpPr>
            <a:spLocks noGrp="1"/>
          </p:cNvSpPr>
          <p:nvPr>
            <p:ph idx="1"/>
          </p:nvPr>
        </p:nvSpPr>
        <p:spPr>
          <a:xfrm>
            <a:off x="809625" y="1916832"/>
            <a:ext cx="7958138" cy="863798"/>
          </a:xfrm>
        </p:spPr>
        <p:txBody>
          <a:bodyPr/>
          <a:lstStyle/>
          <a:p>
            <a:pPr>
              <a:lnSpc>
                <a:spcPct val="125000"/>
              </a:lnSpc>
            </a:pPr>
            <a:r>
              <a:rPr lang="zh-CN" altLang="en-US" sz="2000" dirty="0">
                <a:solidFill>
                  <a:srgbClr val="FF0000"/>
                </a:solidFill>
              </a:rPr>
              <a:t>假设：</a:t>
            </a:r>
            <a:r>
              <a:rPr lang="zh-CN" altLang="en-US" sz="2000" dirty="0"/>
              <a:t>所有的浮点指令都是加法指令，其执行时间为两个时钟</a:t>
            </a:r>
            <a:r>
              <a:rPr lang="zh-CN" altLang="en-US" sz="2000" dirty="0" smtClean="0"/>
              <a:t>周期；为</a:t>
            </a:r>
            <a:r>
              <a:rPr lang="zh-CN" altLang="en-US" sz="2000" dirty="0"/>
              <a:t>简单起见，图中总是把整数指令放在浮点指令的前面。 </a:t>
            </a:r>
            <a:endParaRPr lang="zh-CN" altLang="en-US" sz="2000" dirty="0"/>
          </a:p>
          <a:p>
            <a:pPr>
              <a:lnSpc>
                <a:spcPct val="125000"/>
              </a:lnSpc>
            </a:pPr>
            <a:endParaRPr lang="zh-CN" altLang="en-US" sz="2000" dirty="0"/>
          </a:p>
        </p:txBody>
      </p:sp>
      <p:graphicFrame>
        <p:nvGraphicFramePr>
          <p:cNvPr id="6" name="Group 659"/>
          <p:cNvGraphicFramePr/>
          <p:nvPr/>
        </p:nvGraphicFramePr>
        <p:xfrm>
          <a:off x="828426" y="2780928"/>
          <a:ext cx="7920038" cy="3785616"/>
        </p:xfrm>
        <a:graphic>
          <a:graphicData uri="http://schemas.openxmlformats.org/drawingml/2006/table">
            <a:tbl>
              <a:tblPr/>
              <a:tblGrid>
                <a:gridCol w="1389063"/>
                <a:gridCol w="765175"/>
                <a:gridCol w="798512"/>
                <a:gridCol w="792163"/>
                <a:gridCol w="863600"/>
                <a:gridCol w="863600"/>
                <a:gridCol w="792162"/>
                <a:gridCol w="792163"/>
                <a:gridCol w="863600"/>
              </a:tblGrid>
              <a:tr h="239505">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rgbClr val="E24C05"/>
                          </a:solidFill>
                          <a:effectLst/>
                          <a:latin typeface="+mn-lt"/>
                          <a:ea typeface="+mn-ea"/>
                        </a:rPr>
                        <a:t>指令类型 </a:t>
                      </a:r>
                      <a:endParaRPr kumimoji="1" lang="zh-CN" altLang="en-US" sz="1800" b="1" i="0" u="none" strike="noStrike" cap="none" normalizeH="0" baseline="0" dirty="0" smtClean="0">
                        <a:ln>
                          <a:noFill/>
                        </a:ln>
                        <a:solidFill>
                          <a:srgbClr val="E24C05"/>
                        </a:solidFill>
                        <a:effectLst/>
                        <a:latin typeface="+mn-lt"/>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8">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rgbClr val="E24C05"/>
                          </a:solidFill>
                          <a:effectLst/>
                          <a:latin typeface="+mn-lt"/>
                          <a:ea typeface="+mn-ea"/>
                        </a:rPr>
                        <a:t>流水线工作情况 </a:t>
                      </a:r>
                      <a:endParaRPr kumimoji="1" lang="zh-CN" altLang="en-US" sz="1800" b="1" i="0" u="none" strike="noStrike" cap="none" normalizeH="0" baseline="0" dirty="0" smtClean="0">
                        <a:ln>
                          <a:noFill/>
                        </a:ln>
                        <a:solidFill>
                          <a:srgbClr val="E24C05"/>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hMerge="1">
                  <a:tcPr/>
                </a:tc>
                <a:tc hMerge="1">
                  <a:tcPr/>
                </a:tc>
                <a:tc hMerge="1">
                  <a:tcPr/>
                </a:tc>
                <a:tc hMerge="1">
                  <a:tcPr/>
                </a:tc>
              </a:tr>
              <a:tr h="241050">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rgbClr val="000000"/>
                          </a:solidFill>
                          <a:effectLst/>
                          <a:latin typeface="+mn-lt"/>
                          <a:ea typeface="+mn-ea"/>
                        </a:rPr>
                        <a:t>整数指令 </a:t>
                      </a:r>
                      <a:endParaRPr kumimoji="1" lang="zh-CN" altLang="en-US" sz="1800" b="1" i="0" u="none" strike="noStrike" cap="none" normalizeH="0" baseline="0" smtClean="0">
                        <a:ln>
                          <a:noFill/>
                        </a:ln>
                        <a:solidFill>
                          <a:srgbClr val="000000"/>
                        </a:solidFill>
                        <a:effectLst/>
                        <a:latin typeface="+mn-lt"/>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IF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ID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dirty="0" smtClean="0">
                          <a:ln>
                            <a:noFill/>
                          </a:ln>
                          <a:solidFill>
                            <a:schemeClr val="tx1"/>
                          </a:solidFill>
                          <a:effectLst/>
                          <a:latin typeface="+mn-lt"/>
                          <a:ea typeface="+mn-ea"/>
                        </a:rPr>
                        <a:t>EX </a:t>
                      </a:r>
                      <a:endParaRPr kumimoji="1" lang="en-US" altLang="zh-CN" sz="1800" b="0" i="0" u="none" strike="noStrike" cap="none" normalizeH="0" baseline="0" dirty="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MEM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WB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0278">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rgbClr val="000000"/>
                          </a:solidFill>
                          <a:effectLst/>
                          <a:latin typeface="+mn-lt"/>
                          <a:ea typeface="+mn-ea"/>
                        </a:rPr>
                        <a:t>浮点指令 </a:t>
                      </a:r>
                      <a:endParaRPr kumimoji="1" lang="zh-CN" altLang="en-US" sz="1800" b="1" i="0" u="none" strike="noStrike" cap="none" normalizeH="0" baseline="0" dirty="0" smtClean="0">
                        <a:ln>
                          <a:noFill/>
                        </a:ln>
                        <a:solidFill>
                          <a:srgbClr val="000000"/>
                        </a:solidFill>
                        <a:effectLst/>
                        <a:latin typeface="+mn-lt"/>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IF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ID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dirty="0" smtClean="0">
                          <a:ln>
                            <a:noFill/>
                          </a:ln>
                          <a:solidFill>
                            <a:schemeClr val="tx1"/>
                          </a:solidFill>
                          <a:effectLst/>
                          <a:latin typeface="+mn-lt"/>
                          <a:ea typeface="+mn-ea"/>
                        </a:rPr>
                        <a:t>EX </a:t>
                      </a:r>
                      <a:endParaRPr kumimoji="1" lang="en-US" altLang="zh-CN" sz="1800" b="0" i="0" u="none" strike="noStrike" cap="none" normalizeH="0" baseline="0" dirty="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EX</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MEM</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WB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0278">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rgbClr val="000000"/>
                          </a:solidFill>
                          <a:effectLst/>
                          <a:latin typeface="+mn-lt"/>
                          <a:ea typeface="+mn-ea"/>
                        </a:rPr>
                        <a:t>整数指令 </a:t>
                      </a:r>
                      <a:endParaRPr kumimoji="1" lang="zh-CN" altLang="en-US" sz="1800" b="1" i="0" u="none" strike="noStrike" cap="none" normalizeH="0" baseline="0" smtClean="0">
                        <a:ln>
                          <a:noFill/>
                        </a:ln>
                        <a:solidFill>
                          <a:srgbClr val="000000"/>
                        </a:solidFill>
                        <a:effectLst/>
                        <a:latin typeface="+mn-lt"/>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IF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ID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EX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MEM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WB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321">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rgbClr val="000000"/>
                          </a:solidFill>
                          <a:effectLst/>
                          <a:latin typeface="+mn-lt"/>
                          <a:ea typeface="+mn-ea"/>
                        </a:rPr>
                        <a:t>浮点指令 </a:t>
                      </a:r>
                      <a:endParaRPr kumimoji="1" lang="zh-CN" altLang="en-US" sz="1800" b="1" i="0" u="none" strike="noStrike" cap="none" normalizeH="0" baseline="0" smtClean="0">
                        <a:ln>
                          <a:noFill/>
                        </a:ln>
                        <a:solidFill>
                          <a:srgbClr val="000000"/>
                        </a:solidFill>
                        <a:effectLst/>
                        <a:latin typeface="+mn-lt"/>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IF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ID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EX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EX</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MEM</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WB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8004">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rgbClr val="000000"/>
                          </a:solidFill>
                          <a:effectLst/>
                          <a:latin typeface="+mn-lt"/>
                          <a:ea typeface="+mn-ea"/>
                        </a:rPr>
                        <a:t>整数指令 </a:t>
                      </a:r>
                      <a:endParaRPr kumimoji="1" lang="zh-CN" altLang="en-US" sz="1800" b="1" i="0" u="none" strike="noStrike" cap="none" normalizeH="0" baseline="0" smtClean="0">
                        <a:ln>
                          <a:noFill/>
                        </a:ln>
                        <a:solidFill>
                          <a:srgbClr val="000000"/>
                        </a:solidFill>
                        <a:effectLst/>
                        <a:latin typeface="+mn-lt"/>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IF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ID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EX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MEM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WB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39505">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rgbClr val="000000"/>
                          </a:solidFill>
                          <a:effectLst/>
                          <a:latin typeface="+mn-lt"/>
                          <a:ea typeface="+mn-ea"/>
                        </a:rPr>
                        <a:t>浮点指令 </a:t>
                      </a:r>
                      <a:endParaRPr kumimoji="1" lang="zh-CN" altLang="en-US" sz="1800" b="1" i="0" u="none" strike="noStrike" cap="none" normalizeH="0" baseline="0" smtClean="0">
                        <a:ln>
                          <a:noFill/>
                        </a:ln>
                        <a:solidFill>
                          <a:srgbClr val="000000"/>
                        </a:solidFill>
                        <a:effectLst/>
                        <a:latin typeface="+mn-lt"/>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IF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ID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EX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EX</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MEM</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WB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1050">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rgbClr val="000000"/>
                          </a:solidFill>
                          <a:effectLst/>
                          <a:latin typeface="+mn-lt"/>
                          <a:ea typeface="+mn-ea"/>
                        </a:rPr>
                        <a:t>整数指令 </a:t>
                      </a:r>
                      <a:endParaRPr kumimoji="1" lang="zh-CN" altLang="en-US" sz="1800" b="1" i="0" u="none" strike="noStrike" cap="none" normalizeH="0" baseline="0" smtClean="0">
                        <a:ln>
                          <a:noFill/>
                        </a:ln>
                        <a:solidFill>
                          <a:srgbClr val="000000"/>
                        </a:solidFill>
                        <a:effectLst/>
                        <a:latin typeface="+mn-lt"/>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IF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ID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EX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MEM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WB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22508">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rgbClr val="000000"/>
                          </a:solidFill>
                          <a:effectLst/>
                          <a:latin typeface="+mn-lt"/>
                          <a:ea typeface="+mn-ea"/>
                        </a:rPr>
                        <a:t>浮点指令 </a:t>
                      </a:r>
                      <a:endParaRPr kumimoji="1" lang="zh-CN" altLang="en-US" sz="1800" b="1" i="0" u="none" strike="noStrike" cap="none" normalizeH="0" baseline="0" smtClean="0">
                        <a:ln>
                          <a:noFill/>
                        </a:ln>
                        <a:solidFill>
                          <a:srgbClr val="000000"/>
                        </a:solidFill>
                        <a:effectLst/>
                        <a:latin typeface="+mn-lt"/>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IF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ID </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dirty="0" smtClean="0">
                          <a:ln>
                            <a:noFill/>
                          </a:ln>
                          <a:solidFill>
                            <a:schemeClr val="tx1"/>
                          </a:solidFill>
                          <a:effectLst/>
                          <a:latin typeface="+mn-lt"/>
                          <a:ea typeface="+mn-ea"/>
                        </a:rPr>
                        <a:t>EX </a:t>
                      </a:r>
                      <a:endParaRPr kumimoji="1" lang="en-US" altLang="zh-CN" sz="1800" b="0" i="0" u="none" strike="noStrike" cap="none" normalizeH="0" baseline="0" dirty="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smtClean="0">
                          <a:ln>
                            <a:noFill/>
                          </a:ln>
                          <a:solidFill>
                            <a:schemeClr val="tx1"/>
                          </a:solidFill>
                          <a:effectLst/>
                          <a:latin typeface="+mn-lt"/>
                          <a:ea typeface="+mn-ea"/>
                        </a:rPr>
                        <a:t>EX</a:t>
                      </a:r>
                      <a:endParaRPr kumimoji="1" lang="en-US"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0" i="0" u="none" strike="noStrike" cap="none" normalizeH="0" baseline="0" dirty="0" smtClean="0">
                          <a:ln>
                            <a:noFill/>
                          </a:ln>
                          <a:solidFill>
                            <a:schemeClr val="tx1"/>
                          </a:solidFill>
                          <a:effectLst/>
                          <a:latin typeface="+mn-lt"/>
                          <a:ea typeface="+mn-ea"/>
                        </a:rPr>
                        <a:t>MEM</a:t>
                      </a:r>
                      <a:endParaRPr kumimoji="1" lang="en-US" altLang="zh-CN" sz="1800" b="0" i="0" u="none" strike="noStrike" cap="none" normalizeH="0" baseline="0" dirty="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dirty="0" smtClean="0"/>
              <a:t>分析</a:t>
            </a:r>
            <a:endParaRPr lang="zh-CN" altLang="en-US"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None/>
            </a:pPr>
            <a:r>
              <a:rPr lang="zh-CN" altLang="en-US" sz="1200" b="0" dirty="0">
                <a:latin typeface="Times New Roman" panose="02020603050405020304" pitchFamily="18" charset="0"/>
                <a:ea typeface="幼圆" panose="02010509060101010101" pitchFamily="49" charset="-122"/>
                <a:hlinkClick r:id="rId1" action="ppaction://hlinksldjump"/>
              </a:rPr>
              <a:t>本章内容</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2" action="ppaction://hlinksldjump"/>
              </a:rPr>
              <a:t>多指令发射技术</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3" action="ppaction://hlinksldjump"/>
              </a:rPr>
              <a:t>超标量</a:t>
            </a:r>
            <a:r>
              <a:rPr lang="zh-CN" altLang="en-US" sz="1200" b="0" dirty="0" smtClean="0">
                <a:latin typeface="Times New Roman" panose="02020603050405020304" pitchFamily="18" charset="0"/>
                <a:ea typeface="幼圆" panose="02010509060101010101" pitchFamily="49" charset="-122"/>
                <a:hlinkClick r:id="rId3" action="ppaction://hlinksldjump"/>
              </a:rPr>
              <a:t>处理机</a:t>
            </a:r>
            <a:r>
              <a:rPr lang="en-US" altLang="zh-CN" sz="1200" b="0" dirty="0" smtClean="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4" action="ppaction://hlinksldjump"/>
              </a:rPr>
              <a:t>超标量处理机设计</a:t>
            </a:r>
            <a:endParaRPr lang="zh-CN" altLang="en-US" sz="1200" b="0" dirty="0">
              <a:latin typeface="Times New Roman" panose="02020603050405020304" pitchFamily="18" charset="0"/>
              <a:ea typeface="幼圆" panose="02010509060101010101"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5</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4</a:t>
            </a:r>
            <a:endParaRPr lang="zh-CN" altLang="en-US" sz="1200" b="0" dirty="0">
              <a:latin typeface="幼圆" panose="02010509060101010101" pitchFamily="49" charset="-122"/>
              <a:ea typeface="幼圆" panose="02010509060101010101" pitchFamily="49" charset="-122"/>
            </a:endParaRPr>
          </a:p>
        </p:txBody>
      </p:sp>
      <p:sp>
        <p:nvSpPr>
          <p:cNvPr id="3" name="内容占位符 2"/>
          <p:cNvSpPr>
            <a:spLocks noGrp="1"/>
          </p:cNvSpPr>
          <p:nvPr>
            <p:ph idx="1"/>
          </p:nvPr>
        </p:nvSpPr>
        <p:spPr>
          <a:xfrm>
            <a:off x="809625" y="1897658"/>
            <a:ext cx="7958138" cy="4627686"/>
          </a:xfrm>
        </p:spPr>
        <p:txBody>
          <a:bodyPr/>
          <a:lstStyle/>
          <a:p>
            <a:pPr>
              <a:lnSpc>
                <a:spcPct val="125000"/>
              </a:lnSpc>
              <a:spcBef>
                <a:spcPts val="0"/>
              </a:spcBef>
            </a:pPr>
            <a:r>
              <a:rPr lang="zh-CN" altLang="en-US" sz="2400" dirty="0">
                <a:ea typeface="楷体_GB2312"/>
              </a:rPr>
              <a:t>采用“</a:t>
            </a:r>
            <a:r>
              <a:rPr lang="en-US" altLang="zh-CN" sz="2400" dirty="0">
                <a:solidFill>
                  <a:srgbClr val="FF0000"/>
                </a:solidFill>
                <a:ea typeface="楷体_GB2312"/>
              </a:rPr>
              <a:t>1</a:t>
            </a:r>
            <a:r>
              <a:rPr lang="zh-CN" altLang="en-US" sz="2400" dirty="0">
                <a:solidFill>
                  <a:srgbClr val="FF0000"/>
                </a:solidFill>
                <a:ea typeface="楷体_GB2312"/>
              </a:rPr>
              <a:t>条整数型指令＋</a:t>
            </a:r>
            <a:r>
              <a:rPr lang="en-US" altLang="zh-CN" sz="2400" dirty="0">
                <a:solidFill>
                  <a:srgbClr val="FF0000"/>
                </a:solidFill>
                <a:ea typeface="楷体_GB2312"/>
              </a:rPr>
              <a:t>1</a:t>
            </a:r>
            <a:r>
              <a:rPr lang="zh-CN" altLang="en-US" sz="2400" dirty="0">
                <a:solidFill>
                  <a:srgbClr val="FF0000"/>
                </a:solidFill>
                <a:ea typeface="楷体_GB2312"/>
              </a:rPr>
              <a:t>条浮点指令</a:t>
            </a:r>
            <a:r>
              <a:rPr lang="zh-CN" altLang="en-US" sz="2400" dirty="0">
                <a:ea typeface="楷体_GB2312"/>
              </a:rPr>
              <a:t>”</a:t>
            </a:r>
            <a:r>
              <a:rPr lang="zh-CN" altLang="en-US" sz="2400" dirty="0" smtClean="0">
                <a:ea typeface="楷体_GB2312"/>
              </a:rPr>
              <a:t>并行发射的</a:t>
            </a:r>
            <a:r>
              <a:rPr lang="zh-CN" altLang="en-US" sz="2400" dirty="0">
                <a:ea typeface="楷体_GB2312"/>
              </a:rPr>
              <a:t>方式，需要增加的硬件</a:t>
            </a:r>
            <a:r>
              <a:rPr lang="zh-CN" altLang="en-US" sz="2400" dirty="0" smtClean="0">
                <a:ea typeface="楷体_GB2312"/>
              </a:rPr>
              <a:t>很少</a:t>
            </a:r>
            <a:endParaRPr lang="en-US" altLang="zh-CN" sz="2400" dirty="0" smtClean="0">
              <a:ea typeface="楷体_GB2312"/>
            </a:endParaRPr>
          </a:p>
          <a:p>
            <a:pPr lvl="1">
              <a:lnSpc>
                <a:spcPct val="125000"/>
              </a:lnSpc>
              <a:spcBef>
                <a:spcPts val="0"/>
              </a:spcBef>
            </a:pPr>
            <a:r>
              <a:rPr lang="zh-CN" altLang="en-US" sz="2400" dirty="0" smtClean="0">
                <a:ea typeface="楷体_GB2312"/>
              </a:rPr>
              <a:t>优点：可使用不同的寄存器组和不同的功能部件</a:t>
            </a:r>
            <a:endParaRPr lang="zh-CN" altLang="en-US" sz="2400" dirty="0">
              <a:ea typeface="楷体_GB2312"/>
            </a:endParaRPr>
          </a:p>
          <a:p>
            <a:pPr lvl="1">
              <a:lnSpc>
                <a:spcPct val="125000"/>
              </a:lnSpc>
              <a:spcBef>
                <a:spcPts val="0"/>
              </a:spcBef>
            </a:pPr>
            <a:r>
              <a:rPr lang="zh-CN" altLang="en-US" sz="2400" dirty="0" smtClean="0">
                <a:ea typeface="楷体_GB2312"/>
              </a:rPr>
              <a:t>增加的硬件</a:t>
            </a:r>
            <a:endParaRPr lang="en-US" altLang="zh-CN" sz="2400" dirty="0" smtClean="0">
              <a:ea typeface="楷体_GB2312"/>
            </a:endParaRPr>
          </a:p>
          <a:p>
            <a:pPr lvl="2">
              <a:lnSpc>
                <a:spcPct val="125000"/>
              </a:lnSpc>
              <a:spcBef>
                <a:spcPts val="0"/>
              </a:spcBef>
            </a:pPr>
            <a:r>
              <a:rPr lang="zh-CN" altLang="en-US" dirty="0" smtClean="0">
                <a:ea typeface="楷体_GB2312"/>
              </a:rPr>
              <a:t>冲突检测逻辑电路</a:t>
            </a:r>
            <a:endParaRPr lang="en-US" altLang="zh-CN" dirty="0" smtClean="0">
              <a:ea typeface="楷体_GB2312"/>
            </a:endParaRPr>
          </a:p>
          <a:p>
            <a:pPr lvl="2">
              <a:lnSpc>
                <a:spcPct val="125000"/>
              </a:lnSpc>
              <a:spcBef>
                <a:spcPts val="0"/>
              </a:spcBef>
            </a:pPr>
            <a:r>
              <a:rPr lang="zh-CN" altLang="en-US" dirty="0" smtClean="0">
                <a:ea typeface="楷体_GB2312"/>
              </a:rPr>
              <a:t>浮点</a:t>
            </a:r>
            <a:r>
              <a:rPr lang="en-US" altLang="zh-CN" dirty="0">
                <a:ea typeface="楷体_GB2312"/>
              </a:rPr>
              <a:t>load</a:t>
            </a:r>
            <a:r>
              <a:rPr lang="zh-CN" altLang="en-US" dirty="0">
                <a:ea typeface="楷体_GB2312"/>
              </a:rPr>
              <a:t>或浮点</a:t>
            </a:r>
            <a:r>
              <a:rPr lang="en-US" altLang="zh-CN" dirty="0">
                <a:ea typeface="楷体_GB2312"/>
              </a:rPr>
              <a:t>store</a:t>
            </a:r>
            <a:r>
              <a:rPr lang="zh-CN" altLang="en-US" dirty="0" smtClean="0">
                <a:ea typeface="楷体_GB2312"/>
              </a:rPr>
              <a:t>指令使用</a:t>
            </a:r>
            <a:r>
              <a:rPr lang="zh-CN" altLang="en-US" dirty="0">
                <a:ea typeface="楷体_GB2312"/>
              </a:rPr>
              <a:t>整数部件，会增加对浮点寄存器的访问冲突</a:t>
            </a:r>
            <a:r>
              <a:rPr lang="zh-CN" altLang="en-US" dirty="0" smtClean="0">
                <a:ea typeface="楷体_GB2312"/>
              </a:rPr>
              <a:t>。故需为</a:t>
            </a:r>
            <a:r>
              <a:rPr lang="zh-CN" altLang="en-US" dirty="0"/>
              <a:t>浮点寄存器</a:t>
            </a:r>
            <a:r>
              <a:rPr lang="zh-CN" altLang="en-US" dirty="0" smtClean="0">
                <a:ea typeface="楷体_GB2312"/>
              </a:rPr>
              <a:t>增设</a:t>
            </a:r>
            <a:r>
              <a:rPr lang="zh-CN" altLang="en-US" dirty="0">
                <a:ea typeface="楷体_GB2312"/>
              </a:rPr>
              <a:t>一</a:t>
            </a:r>
            <a:r>
              <a:rPr lang="zh-CN" altLang="en-US" dirty="0" smtClean="0">
                <a:ea typeface="楷体_GB2312"/>
              </a:rPr>
              <a:t>个读</a:t>
            </a:r>
            <a:r>
              <a:rPr lang="en-US" altLang="zh-CN" dirty="0">
                <a:ea typeface="楷体_GB2312"/>
              </a:rPr>
              <a:t>/</a:t>
            </a:r>
            <a:r>
              <a:rPr lang="zh-CN" altLang="en-US" dirty="0">
                <a:ea typeface="楷体_GB2312"/>
              </a:rPr>
              <a:t>写</a:t>
            </a:r>
            <a:r>
              <a:rPr lang="zh-CN" altLang="en-US" dirty="0" smtClean="0">
                <a:ea typeface="楷体_GB2312"/>
              </a:rPr>
              <a:t>端口</a:t>
            </a:r>
            <a:endParaRPr lang="zh-CN" altLang="en-US" dirty="0">
              <a:ea typeface="楷体_GB2312"/>
            </a:endParaRPr>
          </a:p>
          <a:p>
            <a:pPr lvl="2">
              <a:lnSpc>
                <a:spcPct val="125000"/>
              </a:lnSpc>
              <a:spcBef>
                <a:spcPts val="0"/>
              </a:spcBef>
            </a:pPr>
            <a:r>
              <a:rPr lang="zh-CN" altLang="en-US" dirty="0">
                <a:ea typeface="楷体_GB2312"/>
              </a:rPr>
              <a:t>由于流水线中的指令多了一倍，定向路径也要</a:t>
            </a:r>
            <a:r>
              <a:rPr lang="zh-CN" altLang="en-US" dirty="0" smtClean="0">
                <a:ea typeface="楷体_GB2312"/>
              </a:rPr>
              <a:t>增加</a:t>
            </a:r>
            <a:endParaRPr lang="zh-CN" altLang="en-US" dirty="0">
              <a:ea typeface="楷体_GB231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dirty="0" smtClean="0"/>
              <a:t>分析</a:t>
            </a:r>
            <a:endParaRPr lang="zh-CN" altLang="en-US"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None/>
            </a:pPr>
            <a:r>
              <a:rPr lang="zh-CN" altLang="en-US" sz="1200" b="0" dirty="0">
                <a:latin typeface="Times New Roman" panose="02020603050405020304" pitchFamily="18" charset="0"/>
                <a:ea typeface="幼圆" panose="02010509060101010101" pitchFamily="49" charset="-122"/>
                <a:hlinkClick r:id="rId1" action="ppaction://hlinksldjump"/>
              </a:rPr>
              <a:t>本章内容</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2" action="ppaction://hlinksldjump"/>
              </a:rPr>
              <a:t>多指令发射技术</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3" action="ppaction://hlinksldjump"/>
              </a:rPr>
              <a:t>超标量</a:t>
            </a:r>
            <a:r>
              <a:rPr lang="zh-CN" altLang="en-US" sz="1200" b="0" dirty="0" smtClean="0">
                <a:latin typeface="Times New Roman" panose="02020603050405020304" pitchFamily="18" charset="0"/>
                <a:ea typeface="幼圆" panose="02010509060101010101" pitchFamily="49" charset="-122"/>
                <a:hlinkClick r:id="rId3" action="ppaction://hlinksldjump"/>
              </a:rPr>
              <a:t>处理机</a:t>
            </a:r>
            <a:r>
              <a:rPr lang="en-US" altLang="zh-CN" sz="1200" b="0" dirty="0" smtClean="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4" action="ppaction://hlinksldjump"/>
              </a:rPr>
              <a:t>超标量处理机设计</a:t>
            </a:r>
            <a:endParaRPr lang="zh-CN" altLang="en-US" sz="1200" b="0" dirty="0">
              <a:latin typeface="Times New Roman" panose="02020603050405020304" pitchFamily="18" charset="0"/>
              <a:ea typeface="幼圆" panose="02010509060101010101"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5</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5</a:t>
            </a:r>
            <a:endParaRPr lang="zh-CN" altLang="en-US" sz="1200" b="0" dirty="0">
              <a:latin typeface="幼圆" panose="02010509060101010101" pitchFamily="49" charset="-122"/>
              <a:ea typeface="幼圆" panose="02010509060101010101" pitchFamily="49" charset="-122"/>
            </a:endParaRPr>
          </a:p>
        </p:txBody>
      </p:sp>
      <p:sp>
        <p:nvSpPr>
          <p:cNvPr id="3" name="内容占位符 2"/>
          <p:cNvSpPr>
            <a:spLocks noGrp="1"/>
          </p:cNvSpPr>
          <p:nvPr>
            <p:ph idx="1"/>
          </p:nvPr>
        </p:nvSpPr>
        <p:spPr>
          <a:xfrm>
            <a:off x="809625" y="1897658"/>
            <a:ext cx="7958138" cy="4627686"/>
          </a:xfrm>
        </p:spPr>
        <p:txBody>
          <a:bodyPr/>
          <a:lstStyle/>
          <a:p>
            <a:pPr>
              <a:lnSpc>
                <a:spcPct val="125000"/>
              </a:lnSpc>
              <a:spcBef>
                <a:spcPts val="0"/>
              </a:spcBef>
            </a:pPr>
            <a:r>
              <a:rPr lang="zh-CN" altLang="en-US" sz="2200" dirty="0"/>
              <a:t>限制超标量流水线的性能发挥的障碍 </a:t>
            </a:r>
            <a:endParaRPr lang="zh-CN" altLang="en-US" sz="2200" dirty="0"/>
          </a:p>
          <a:p>
            <a:pPr lvl="1">
              <a:lnSpc>
                <a:spcPct val="125000"/>
              </a:lnSpc>
              <a:spcBef>
                <a:spcPts val="0"/>
              </a:spcBef>
            </a:pPr>
            <a:r>
              <a:rPr lang="en-US" altLang="zh-CN" sz="2200" dirty="0">
                <a:solidFill>
                  <a:srgbClr val="0000FF"/>
                </a:solidFill>
              </a:rPr>
              <a:t>load</a:t>
            </a:r>
            <a:r>
              <a:rPr lang="zh-CN" altLang="en-US" sz="2200" dirty="0">
                <a:solidFill>
                  <a:srgbClr val="0000FF"/>
                </a:solidFill>
              </a:rPr>
              <a:t>指令 </a:t>
            </a:r>
            <a:endParaRPr lang="zh-CN" altLang="en-US" sz="2200" dirty="0">
              <a:solidFill>
                <a:srgbClr val="0000FF"/>
              </a:solidFill>
            </a:endParaRPr>
          </a:p>
          <a:p>
            <a:pPr lvl="2">
              <a:lnSpc>
                <a:spcPct val="125000"/>
              </a:lnSpc>
              <a:spcBef>
                <a:spcPts val="0"/>
              </a:spcBef>
            </a:pPr>
            <a:r>
              <a:rPr lang="zh-CN" altLang="en-US" sz="2200" dirty="0" smtClean="0"/>
              <a:t>因为</a:t>
            </a:r>
            <a:r>
              <a:rPr lang="en-US" altLang="zh-CN" sz="2200" dirty="0" smtClean="0"/>
              <a:t>load</a:t>
            </a:r>
            <a:r>
              <a:rPr lang="zh-CN" altLang="en-US" sz="2200" dirty="0" smtClean="0"/>
              <a:t>指令有一个时钟周期的延时</a:t>
            </a:r>
            <a:endParaRPr lang="zh-CN" altLang="en-US" sz="2200" dirty="0"/>
          </a:p>
          <a:p>
            <a:pPr lvl="2">
              <a:lnSpc>
                <a:spcPct val="125000"/>
              </a:lnSpc>
              <a:spcBef>
                <a:spcPts val="0"/>
              </a:spcBef>
            </a:pPr>
            <a:r>
              <a:rPr lang="zh-CN" altLang="en-US" sz="2200" dirty="0" smtClean="0"/>
              <a:t>所以</a:t>
            </a:r>
            <a:r>
              <a:rPr lang="en-US" altLang="zh-CN" sz="2200" dirty="0" smtClean="0"/>
              <a:t>load</a:t>
            </a:r>
            <a:r>
              <a:rPr lang="zh-CN" altLang="en-US" sz="2200" dirty="0"/>
              <a:t>后续</a:t>
            </a:r>
            <a:r>
              <a:rPr lang="en-US" altLang="zh-CN" sz="2200" dirty="0"/>
              <a:t>3</a:t>
            </a:r>
            <a:r>
              <a:rPr lang="zh-CN" altLang="en-US" sz="2200" dirty="0"/>
              <a:t>条</a:t>
            </a:r>
            <a:r>
              <a:rPr lang="zh-CN" altLang="en-US" sz="2200" dirty="0" smtClean="0"/>
              <a:t>指令（同一时钟周期发射的下条指令和下一时钟周期发射的</a:t>
            </a:r>
            <a:r>
              <a:rPr lang="en-US" altLang="zh-CN" sz="2200" dirty="0" smtClean="0"/>
              <a:t>2</a:t>
            </a:r>
            <a:r>
              <a:rPr lang="zh-CN" altLang="en-US" sz="2200" dirty="0" smtClean="0"/>
              <a:t>条指令）都</a:t>
            </a:r>
            <a:r>
              <a:rPr lang="zh-CN" altLang="en-US" sz="2200" dirty="0"/>
              <a:t>不能使用其结果，否则就会引起停顿。 </a:t>
            </a:r>
            <a:endParaRPr lang="zh-CN" altLang="en-US" sz="2200" dirty="0"/>
          </a:p>
          <a:p>
            <a:pPr lvl="1">
              <a:lnSpc>
                <a:spcPct val="125000"/>
              </a:lnSpc>
              <a:spcBef>
                <a:spcPts val="0"/>
              </a:spcBef>
            </a:pPr>
            <a:r>
              <a:rPr lang="zh-CN" altLang="en-US" sz="2200" dirty="0">
                <a:solidFill>
                  <a:srgbClr val="0000FF"/>
                </a:solidFill>
              </a:rPr>
              <a:t>分支延迟 </a:t>
            </a:r>
            <a:endParaRPr lang="zh-CN" altLang="en-US" sz="2200" dirty="0">
              <a:solidFill>
                <a:srgbClr val="0000FF"/>
              </a:solidFill>
            </a:endParaRPr>
          </a:p>
          <a:p>
            <a:pPr lvl="2">
              <a:lnSpc>
                <a:spcPct val="125000"/>
              </a:lnSpc>
              <a:spcBef>
                <a:spcPts val="0"/>
              </a:spcBef>
            </a:pPr>
            <a:r>
              <a:rPr lang="zh-CN" altLang="en-US" sz="2200" dirty="0" smtClean="0"/>
              <a:t>因为分支指令</a:t>
            </a:r>
            <a:r>
              <a:rPr lang="zh-CN" altLang="en-US" sz="2200" dirty="0"/>
              <a:t>有一个时钟周期的延时</a:t>
            </a:r>
            <a:endParaRPr lang="zh-CN" altLang="en-US" sz="2200" dirty="0"/>
          </a:p>
          <a:p>
            <a:pPr lvl="2">
              <a:lnSpc>
                <a:spcPct val="125000"/>
              </a:lnSpc>
              <a:spcBef>
                <a:spcPts val="0"/>
              </a:spcBef>
            </a:pPr>
            <a:r>
              <a:rPr lang="zh-CN" altLang="en-US" sz="2200" dirty="0" smtClean="0"/>
              <a:t>所以如果</a:t>
            </a:r>
            <a:r>
              <a:rPr lang="zh-CN" altLang="en-US" sz="2200" dirty="0"/>
              <a:t>分支指令</a:t>
            </a:r>
            <a:r>
              <a:rPr lang="zh-CN" altLang="en-US" sz="2200" dirty="0" smtClean="0"/>
              <a:t>是发射包</a:t>
            </a:r>
            <a:r>
              <a:rPr lang="zh-CN" altLang="en-US" sz="2200" dirty="0"/>
              <a:t>中的</a:t>
            </a:r>
            <a:r>
              <a:rPr lang="zh-CN" altLang="en-US" sz="2200" dirty="0" smtClean="0"/>
              <a:t>第</a:t>
            </a:r>
            <a:r>
              <a:rPr lang="en-US" altLang="zh-CN" sz="2200" dirty="0" smtClean="0"/>
              <a:t>1</a:t>
            </a:r>
            <a:r>
              <a:rPr lang="zh-CN" altLang="en-US" sz="2200" dirty="0" smtClean="0"/>
              <a:t>条</a:t>
            </a:r>
            <a:r>
              <a:rPr lang="zh-CN" altLang="en-US" sz="2200" dirty="0"/>
              <a:t>指令，则其延迟是</a:t>
            </a:r>
            <a:r>
              <a:rPr lang="en-US" altLang="zh-CN" sz="2200" dirty="0"/>
              <a:t>3</a:t>
            </a:r>
            <a:r>
              <a:rPr lang="zh-CN" altLang="en-US" sz="2200" dirty="0"/>
              <a:t>个时钟周期</a:t>
            </a:r>
            <a:r>
              <a:rPr lang="zh-CN" altLang="en-US" sz="2200" dirty="0" smtClean="0"/>
              <a:t>；否则就是发射包</a:t>
            </a:r>
            <a:r>
              <a:rPr lang="zh-CN" altLang="en-US" sz="2200" dirty="0"/>
              <a:t>中的</a:t>
            </a:r>
            <a:r>
              <a:rPr lang="zh-CN" altLang="en-US" sz="2200" dirty="0" smtClean="0"/>
              <a:t>第</a:t>
            </a:r>
            <a:r>
              <a:rPr lang="en-US" altLang="zh-CN" sz="2200" dirty="0" smtClean="0"/>
              <a:t>2</a:t>
            </a:r>
            <a:r>
              <a:rPr lang="zh-CN" altLang="en-US" sz="2200" dirty="0" smtClean="0"/>
              <a:t>条</a:t>
            </a:r>
            <a:r>
              <a:rPr lang="zh-CN" altLang="en-US" sz="2200" dirty="0"/>
              <a:t>指令，其延迟</a:t>
            </a:r>
            <a:r>
              <a:rPr lang="zh-CN" altLang="en-US" sz="2200" dirty="0" smtClean="0"/>
              <a:t>就是</a:t>
            </a:r>
            <a:r>
              <a:rPr lang="en-US" altLang="zh-CN" sz="2200" dirty="0" smtClean="0"/>
              <a:t>2</a:t>
            </a:r>
            <a:r>
              <a:rPr lang="zh-CN" altLang="en-US" sz="2200" dirty="0" smtClean="0"/>
              <a:t>个</a:t>
            </a:r>
            <a:r>
              <a:rPr lang="zh-CN" altLang="en-US" sz="2200" dirty="0"/>
              <a:t>时钟</a:t>
            </a:r>
            <a:r>
              <a:rPr lang="zh-CN" altLang="en-US" sz="2200" dirty="0" smtClean="0"/>
              <a:t>周期 </a:t>
            </a:r>
            <a:endParaRPr lang="zh-CN" altLang="en-US" sz="2200" dirty="0"/>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r>
              <a:rPr lang="zh-CN" altLang="en-US" dirty="0"/>
              <a:t>基于动态调度的超标量处理机</a:t>
            </a:r>
            <a:endParaRPr lang="en-US" altLang="zh-CN"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None/>
            </a:pPr>
            <a:r>
              <a:rPr lang="zh-CN" altLang="en-US" sz="1200" b="0" dirty="0">
                <a:latin typeface="Times New Roman" panose="02020603050405020304" pitchFamily="18" charset="0"/>
                <a:ea typeface="幼圆" panose="02010509060101010101" pitchFamily="49" charset="-122"/>
                <a:hlinkClick r:id="rId1" action="ppaction://hlinksldjump"/>
              </a:rPr>
              <a:t>本章内容</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2" action="ppaction://hlinksldjump"/>
              </a:rPr>
              <a:t>多指令发射技术</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3" action="ppaction://hlinksldjump"/>
              </a:rPr>
              <a:t>超标量</a:t>
            </a:r>
            <a:r>
              <a:rPr lang="zh-CN" altLang="en-US" sz="1200" b="0" dirty="0" smtClean="0">
                <a:latin typeface="Times New Roman" panose="02020603050405020304" pitchFamily="18" charset="0"/>
                <a:ea typeface="幼圆" panose="02010509060101010101" pitchFamily="49" charset="-122"/>
                <a:hlinkClick r:id="rId3" action="ppaction://hlinksldjump"/>
              </a:rPr>
              <a:t>处理机</a:t>
            </a:r>
            <a:r>
              <a:rPr lang="en-US" altLang="zh-CN" sz="1200" b="0" dirty="0" smtClean="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4" action="ppaction://hlinksldjump"/>
              </a:rPr>
              <a:t>超标量处理机设计</a:t>
            </a:r>
            <a:endParaRPr lang="zh-CN" altLang="en-US" sz="1200" b="0" dirty="0">
              <a:latin typeface="Times New Roman" panose="02020603050405020304" pitchFamily="18" charset="0"/>
              <a:ea typeface="幼圆" panose="02010509060101010101"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1</a:t>
            </a:r>
            <a:endParaRPr lang="zh-CN" altLang="en-US" sz="1200" b="0" dirty="0">
              <a:latin typeface="幼圆" panose="02010509060101010101" pitchFamily="49" charset="-122"/>
              <a:ea typeface="幼圆" panose="02010509060101010101" pitchFamily="49" charset="-122"/>
            </a:endParaRPr>
          </a:p>
        </p:txBody>
      </p:sp>
      <p:sp>
        <p:nvSpPr>
          <p:cNvPr id="2" name="内容占位符 1"/>
          <p:cNvSpPr>
            <a:spLocks noGrp="1"/>
          </p:cNvSpPr>
          <p:nvPr>
            <p:ph idx="1"/>
          </p:nvPr>
        </p:nvSpPr>
        <p:spPr/>
        <p:txBody>
          <a:bodyPr/>
          <a:lstStyle/>
          <a:p>
            <a:pPr>
              <a:lnSpc>
                <a:spcPct val="125000"/>
              </a:lnSpc>
            </a:pPr>
            <a:r>
              <a:rPr lang="zh-CN" altLang="en-US" sz="2400" dirty="0">
                <a:solidFill>
                  <a:srgbClr val="FF0000"/>
                </a:solidFill>
              </a:rPr>
              <a:t>扩展</a:t>
            </a:r>
            <a:r>
              <a:rPr lang="en-US" altLang="zh-CN" sz="2400" dirty="0" err="1">
                <a:solidFill>
                  <a:srgbClr val="FF0000"/>
                </a:solidFill>
              </a:rPr>
              <a:t>Tomasulo</a:t>
            </a:r>
            <a:r>
              <a:rPr lang="zh-CN" altLang="en-US" sz="2400" dirty="0">
                <a:solidFill>
                  <a:srgbClr val="FF0000"/>
                </a:solidFill>
              </a:rPr>
              <a:t>算法</a:t>
            </a:r>
            <a:r>
              <a:rPr lang="zh-CN" altLang="en-US" sz="2400" dirty="0"/>
              <a:t>：支持</a:t>
            </a:r>
            <a:r>
              <a:rPr lang="zh-CN" altLang="en-US" sz="2400" dirty="0" smtClean="0"/>
              <a:t>双发射超</a:t>
            </a:r>
            <a:r>
              <a:rPr lang="zh-CN" altLang="en-US" sz="2400" dirty="0"/>
              <a:t>标量流水线 </a:t>
            </a:r>
            <a:endParaRPr lang="zh-CN" altLang="en-US" sz="2400" dirty="0"/>
          </a:p>
          <a:p>
            <a:pPr lvl="1">
              <a:lnSpc>
                <a:spcPct val="125000"/>
              </a:lnSpc>
            </a:pPr>
            <a:r>
              <a:rPr lang="zh-CN" altLang="en-US" sz="2400" dirty="0"/>
              <a:t>每个时钟</a:t>
            </a:r>
            <a:r>
              <a:rPr lang="zh-CN" altLang="en-US" sz="2400" dirty="0" smtClean="0"/>
              <a:t>周期发射</a:t>
            </a:r>
            <a:r>
              <a:rPr lang="en-US" altLang="zh-CN" sz="2400" dirty="0" smtClean="0"/>
              <a:t>2</a:t>
            </a:r>
            <a:r>
              <a:rPr lang="zh-CN" altLang="en-US" sz="2400" dirty="0" smtClean="0"/>
              <a:t>条指令：一</a:t>
            </a:r>
            <a:r>
              <a:rPr lang="zh-CN" altLang="en-US" sz="2400" dirty="0"/>
              <a:t>条是整数指令，另一条是浮点指令。</a:t>
            </a:r>
            <a:endParaRPr lang="zh-CN" altLang="en-US" sz="2400" dirty="0"/>
          </a:p>
          <a:p>
            <a:pPr>
              <a:lnSpc>
                <a:spcPct val="125000"/>
              </a:lnSpc>
            </a:pPr>
            <a:r>
              <a:rPr lang="zh-CN" altLang="en-US" sz="2400" dirty="0"/>
              <a:t>采用一种比较简单的方法：</a:t>
            </a:r>
            <a:endParaRPr lang="zh-CN" altLang="en-US" sz="2400" dirty="0"/>
          </a:p>
          <a:p>
            <a:pPr lvl="1">
              <a:lnSpc>
                <a:spcPct val="125000"/>
              </a:lnSpc>
            </a:pPr>
            <a:r>
              <a:rPr lang="zh-CN" altLang="en-US" sz="2400" dirty="0"/>
              <a:t>指令按顺序流向保留站，否则会破坏程序语义。 </a:t>
            </a:r>
            <a:endParaRPr lang="zh-CN" altLang="en-US" sz="2400" dirty="0"/>
          </a:p>
          <a:p>
            <a:pPr lvl="1">
              <a:lnSpc>
                <a:spcPct val="125000"/>
              </a:lnSpc>
            </a:pPr>
            <a:r>
              <a:rPr lang="zh-CN" altLang="en-US" sz="2400" dirty="0"/>
              <a:t>将整数所用的表结构与浮点用的表结构分离开，分别进行处理，这样就可以同时</a:t>
            </a:r>
            <a:r>
              <a:rPr lang="zh-CN" altLang="en-US" sz="2400" dirty="0" smtClean="0"/>
              <a:t>地发射一</a:t>
            </a:r>
            <a:r>
              <a:rPr lang="zh-CN" altLang="en-US" sz="2400" dirty="0"/>
              <a:t>条浮点指令和一条整数指令到各自的保留站。 </a:t>
            </a:r>
            <a:endParaRPr lang="zh-CN" altLang="en-US" sz="2400" dirty="0"/>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r>
              <a:rPr lang="zh-CN" altLang="en-US" dirty="0" smtClean="0"/>
              <a:t>举例</a:t>
            </a:r>
            <a:endParaRPr lang="en-US" altLang="zh-CN"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None/>
            </a:pPr>
            <a:r>
              <a:rPr lang="zh-CN" altLang="en-US" sz="1200" b="0" dirty="0">
                <a:latin typeface="Times New Roman" panose="02020603050405020304" pitchFamily="18" charset="0"/>
                <a:ea typeface="幼圆" panose="02010509060101010101" pitchFamily="49" charset="-122"/>
                <a:hlinkClick r:id="rId1" action="ppaction://hlinksldjump"/>
              </a:rPr>
              <a:t>本章内容</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2" action="ppaction://hlinksldjump"/>
              </a:rPr>
              <a:t>多指令发射技术</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3" action="ppaction://hlinksldjump"/>
              </a:rPr>
              <a:t>超标量</a:t>
            </a:r>
            <a:r>
              <a:rPr lang="zh-CN" altLang="en-US" sz="1200" b="0" dirty="0" smtClean="0">
                <a:latin typeface="Times New Roman" panose="02020603050405020304" pitchFamily="18" charset="0"/>
                <a:ea typeface="幼圆" panose="02010509060101010101" pitchFamily="49" charset="-122"/>
                <a:hlinkClick r:id="rId3" action="ppaction://hlinksldjump"/>
              </a:rPr>
              <a:t>处理机</a:t>
            </a:r>
            <a:r>
              <a:rPr lang="en-US" altLang="zh-CN" sz="1200" b="0" dirty="0" smtClean="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4" action="ppaction://hlinksldjump"/>
              </a:rPr>
              <a:t>超标量处理机设计</a:t>
            </a:r>
            <a:endParaRPr lang="zh-CN" altLang="en-US" sz="1200" b="0" dirty="0">
              <a:latin typeface="Times New Roman" panose="02020603050405020304" pitchFamily="18" charset="0"/>
              <a:ea typeface="幼圆" panose="02010509060101010101"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2</a:t>
            </a:r>
            <a:endParaRPr lang="zh-CN" altLang="en-US" sz="1200" b="0" dirty="0">
              <a:latin typeface="幼圆" panose="02010509060101010101" pitchFamily="49" charset="-122"/>
              <a:ea typeface="幼圆" panose="02010509060101010101" pitchFamily="49" charset="-122"/>
            </a:endParaRPr>
          </a:p>
        </p:txBody>
      </p:sp>
      <p:sp>
        <p:nvSpPr>
          <p:cNvPr id="2" name="内容占位符 1"/>
          <p:cNvSpPr>
            <a:spLocks noGrp="1"/>
          </p:cNvSpPr>
          <p:nvPr>
            <p:ph idx="1"/>
          </p:nvPr>
        </p:nvSpPr>
        <p:spPr/>
        <p:txBody>
          <a:bodyPr/>
          <a:lstStyle/>
          <a:p>
            <a:pPr marL="0" indent="0">
              <a:lnSpc>
                <a:spcPct val="125000"/>
              </a:lnSpc>
              <a:buNone/>
            </a:pPr>
            <a:r>
              <a:rPr lang="zh-CN" altLang="en-US" sz="2400" dirty="0" smtClean="0">
                <a:solidFill>
                  <a:srgbClr val="FF0000"/>
                </a:solidFill>
              </a:rPr>
              <a:t>例：</a:t>
            </a:r>
            <a:r>
              <a:rPr lang="zh-CN" altLang="en-US" sz="2400" dirty="0" smtClean="0"/>
              <a:t>对于</a:t>
            </a:r>
            <a:r>
              <a:rPr lang="zh-CN" altLang="en-US" sz="2400" dirty="0"/>
              <a:t>采用了</a:t>
            </a:r>
            <a:r>
              <a:rPr lang="en-US" altLang="zh-CN" sz="2400" dirty="0" err="1"/>
              <a:t>Tomasulo</a:t>
            </a:r>
            <a:r>
              <a:rPr lang="zh-CN" altLang="en-US" sz="2400" dirty="0"/>
              <a:t>算法</a:t>
            </a:r>
            <a:r>
              <a:rPr lang="zh-CN" altLang="en-US" sz="2400" dirty="0" smtClean="0"/>
              <a:t>和超标量处理机技术</a:t>
            </a:r>
            <a:r>
              <a:rPr lang="zh-CN" altLang="en-US" sz="2400" dirty="0"/>
              <a:t>的</a:t>
            </a:r>
            <a:r>
              <a:rPr lang="en-US" altLang="zh-CN" sz="2400" dirty="0"/>
              <a:t>MIPS</a:t>
            </a:r>
            <a:r>
              <a:rPr lang="zh-CN" altLang="en-US" sz="2400" dirty="0"/>
              <a:t>流水线，考虑以下简单循环的执行。该程序把</a:t>
            </a:r>
            <a:r>
              <a:rPr lang="en-US" altLang="zh-CN" sz="2400" dirty="0"/>
              <a:t>F2</a:t>
            </a:r>
            <a:r>
              <a:rPr lang="zh-CN" altLang="en-US" sz="2400" dirty="0"/>
              <a:t>中的标量加到一个向量的每个元素上。</a:t>
            </a:r>
            <a:endParaRPr lang="zh-CN" altLang="en-US" sz="2400" dirty="0"/>
          </a:p>
          <a:p>
            <a:pPr marL="0" indent="0">
              <a:lnSpc>
                <a:spcPct val="125000"/>
              </a:lnSpc>
              <a:buNone/>
            </a:pPr>
            <a:r>
              <a:rPr lang="zh-CN" altLang="en-US" sz="2400" dirty="0"/>
              <a:t>    </a:t>
            </a:r>
            <a:r>
              <a:rPr lang="en-US" altLang="zh-CN" sz="2400" dirty="0"/>
              <a:t>Loop: L.D  </a:t>
            </a:r>
            <a:r>
              <a:rPr lang="en-US" altLang="zh-CN" sz="2400" dirty="0" smtClean="0"/>
              <a:t>F0</a:t>
            </a:r>
            <a:r>
              <a:rPr lang="en-US" altLang="zh-CN" sz="2400" dirty="0"/>
              <a:t>, </a:t>
            </a:r>
            <a:r>
              <a:rPr lang="en-US" altLang="zh-CN" sz="2400" dirty="0" smtClean="0"/>
              <a:t>0(R1)     </a:t>
            </a:r>
            <a:r>
              <a:rPr lang="zh-CN" altLang="en-US" sz="2400" dirty="0" smtClean="0"/>
              <a:t>      </a:t>
            </a:r>
            <a:r>
              <a:rPr lang="en-US" altLang="zh-CN" sz="2400" dirty="0" smtClean="0"/>
              <a:t>// </a:t>
            </a:r>
            <a:r>
              <a:rPr lang="zh-CN" altLang="en-US" sz="2400" dirty="0"/>
              <a:t>取一个数组元素放入</a:t>
            </a:r>
            <a:r>
              <a:rPr lang="en-US" altLang="zh-CN" sz="2400" dirty="0"/>
              <a:t>F0</a:t>
            </a:r>
            <a:endParaRPr lang="en-US" altLang="zh-CN" sz="2400" dirty="0"/>
          </a:p>
          <a:p>
            <a:pPr marL="0" indent="0">
              <a:lnSpc>
                <a:spcPct val="125000"/>
              </a:lnSpc>
              <a:buNone/>
            </a:pPr>
            <a:r>
              <a:rPr lang="en-US" altLang="zh-CN" sz="2400" dirty="0"/>
              <a:t>	    </a:t>
            </a:r>
            <a:r>
              <a:rPr lang="en-US" altLang="zh-CN" sz="2400" dirty="0" smtClean="0"/>
              <a:t>ADD.D F4</a:t>
            </a:r>
            <a:r>
              <a:rPr lang="en-US" altLang="zh-CN" sz="2400" dirty="0"/>
              <a:t>, F0, F2  </a:t>
            </a:r>
            <a:r>
              <a:rPr lang="en-US" altLang="zh-CN" sz="2400" dirty="0" smtClean="0"/>
              <a:t>   // </a:t>
            </a:r>
            <a:r>
              <a:rPr lang="zh-CN" altLang="en-US" sz="2400" dirty="0"/>
              <a:t>加上在</a:t>
            </a:r>
            <a:r>
              <a:rPr lang="en-US" altLang="zh-CN" sz="2400" dirty="0"/>
              <a:t>F2</a:t>
            </a:r>
            <a:r>
              <a:rPr lang="zh-CN" altLang="en-US" sz="2400" dirty="0"/>
              <a:t>中的标量</a:t>
            </a:r>
            <a:endParaRPr lang="zh-CN" altLang="en-US" sz="2400" dirty="0"/>
          </a:p>
          <a:p>
            <a:pPr marL="0" indent="0">
              <a:lnSpc>
                <a:spcPct val="125000"/>
              </a:lnSpc>
              <a:buNone/>
            </a:pPr>
            <a:r>
              <a:rPr lang="zh-CN" altLang="en-US" sz="2400" dirty="0"/>
              <a:t>	    </a:t>
            </a:r>
            <a:r>
              <a:rPr lang="en-US" altLang="zh-CN" sz="2400" dirty="0" smtClean="0"/>
              <a:t>S.D  F4</a:t>
            </a:r>
            <a:r>
              <a:rPr lang="en-US" altLang="zh-CN" sz="2400" dirty="0"/>
              <a:t>, </a:t>
            </a:r>
            <a:r>
              <a:rPr lang="en-US" altLang="zh-CN" sz="2400" dirty="0" smtClean="0"/>
              <a:t>0(R1)     </a:t>
            </a:r>
            <a:r>
              <a:rPr lang="zh-CN" altLang="en-US" sz="2400" dirty="0" smtClean="0"/>
              <a:t>      </a:t>
            </a:r>
            <a:r>
              <a:rPr lang="en-US" altLang="zh-CN" sz="2400" dirty="0" smtClean="0"/>
              <a:t>// </a:t>
            </a:r>
            <a:r>
              <a:rPr lang="zh-CN" altLang="en-US" sz="2400" dirty="0"/>
              <a:t>存结果</a:t>
            </a:r>
            <a:endParaRPr lang="zh-CN" altLang="en-US" sz="2400" dirty="0"/>
          </a:p>
          <a:p>
            <a:pPr marL="0" indent="0">
              <a:lnSpc>
                <a:spcPct val="125000"/>
              </a:lnSpc>
              <a:buNone/>
            </a:pPr>
            <a:r>
              <a:rPr lang="zh-CN" altLang="en-US" sz="2400" dirty="0"/>
              <a:t>	    </a:t>
            </a:r>
            <a:r>
              <a:rPr lang="en-US" altLang="zh-CN" sz="2400" dirty="0" smtClean="0"/>
              <a:t>DADDIU R1,R1,#-8   </a:t>
            </a:r>
            <a:r>
              <a:rPr lang="en-US" altLang="zh-CN" sz="2400" dirty="0"/>
              <a:t>// </a:t>
            </a:r>
            <a:r>
              <a:rPr lang="zh-CN" altLang="en-US" sz="2400" dirty="0"/>
              <a:t>将指针减少</a:t>
            </a:r>
            <a:r>
              <a:rPr lang="en-US" altLang="zh-CN" sz="2400" dirty="0" smtClean="0"/>
              <a:t>8</a:t>
            </a:r>
            <a:endParaRPr lang="zh-CN" altLang="en-US" sz="2400" dirty="0"/>
          </a:p>
          <a:p>
            <a:pPr marL="0" indent="0">
              <a:lnSpc>
                <a:spcPct val="125000"/>
              </a:lnSpc>
              <a:buNone/>
            </a:pPr>
            <a:r>
              <a:rPr lang="zh-CN" altLang="en-US" sz="2400" dirty="0"/>
              <a:t>	    </a:t>
            </a:r>
            <a:r>
              <a:rPr lang="en-US" altLang="zh-CN" sz="2400" dirty="0" smtClean="0"/>
              <a:t>BNE R1,R2,Loop     // </a:t>
            </a:r>
            <a:r>
              <a:rPr lang="zh-CN" altLang="en-US" sz="2400" dirty="0" smtClean="0"/>
              <a:t>判断是否循环。 </a:t>
            </a:r>
            <a:endParaRPr lang="zh-CN" altLang="en-US" sz="2400" dirty="0"/>
          </a:p>
          <a:p>
            <a:pPr marL="0" indent="0">
              <a:lnSpc>
                <a:spcPct val="125000"/>
              </a:lnSpc>
              <a:buNone/>
            </a:pPr>
            <a:endParaRPr lang="zh-CN" altLang="en-US" sz="2400" dirty="0"/>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r>
              <a:rPr lang="zh-CN" altLang="en-US" dirty="0"/>
              <a:t>假设</a:t>
            </a:r>
            <a:endParaRPr lang="en-US" altLang="zh-CN"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None/>
            </a:pPr>
            <a:r>
              <a:rPr lang="zh-CN" altLang="en-US" sz="1200" b="0" dirty="0">
                <a:latin typeface="Times New Roman" panose="02020603050405020304" pitchFamily="18" charset="0"/>
                <a:ea typeface="幼圆" panose="02010509060101010101" pitchFamily="49" charset="-122"/>
                <a:hlinkClick r:id="rId1" action="ppaction://hlinksldjump"/>
              </a:rPr>
              <a:t>本章内容</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2" action="ppaction://hlinksldjump"/>
              </a:rPr>
              <a:t>多指令发射技术</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3" action="ppaction://hlinksldjump"/>
              </a:rPr>
              <a:t>超标量</a:t>
            </a:r>
            <a:r>
              <a:rPr lang="zh-CN" altLang="en-US" sz="1200" b="0" dirty="0" smtClean="0">
                <a:latin typeface="Times New Roman" panose="02020603050405020304" pitchFamily="18" charset="0"/>
                <a:ea typeface="幼圆" panose="02010509060101010101" pitchFamily="49" charset="-122"/>
                <a:hlinkClick r:id="rId3" action="ppaction://hlinksldjump"/>
              </a:rPr>
              <a:t>处理机</a:t>
            </a:r>
            <a:r>
              <a:rPr lang="en-US" altLang="zh-CN" sz="1200" b="0" dirty="0" smtClean="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4" action="ppaction://hlinksldjump"/>
              </a:rPr>
              <a:t>超标量处理机设计</a:t>
            </a:r>
            <a:endParaRPr lang="zh-CN" altLang="en-US" sz="1200" b="0" dirty="0">
              <a:latin typeface="Times New Roman" panose="02020603050405020304" pitchFamily="18" charset="0"/>
              <a:ea typeface="幼圆" panose="02010509060101010101"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3</a:t>
            </a:r>
            <a:endParaRPr lang="zh-CN" altLang="en-US" sz="1200" b="0" dirty="0">
              <a:latin typeface="幼圆" panose="02010509060101010101" pitchFamily="49" charset="-122"/>
              <a:ea typeface="幼圆" panose="02010509060101010101" pitchFamily="49" charset="-122"/>
            </a:endParaRPr>
          </a:p>
        </p:txBody>
      </p:sp>
      <p:sp>
        <p:nvSpPr>
          <p:cNvPr id="2" name="内容占位符 1"/>
          <p:cNvSpPr>
            <a:spLocks noGrp="1"/>
          </p:cNvSpPr>
          <p:nvPr>
            <p:ph idx="1"/>
          </p:nvPr>
        </p:nvSpPr>
        <p:spPr>
          <a:xfrm>
            <a:off x="809624" y="1916832"/>
            <a:ext cx="8105775" cy="4680520"/>
          </a:xfrm>
        </p:spPr>
        <p:txBody>
          <a:bodyPr/>
          <a:lstStyle/>
          <a:p>
            <a:r>
              <a:rPr lang="zh-CN" altLang="en-US" sz="2200" dirty="0"/>
              <a:t>每个时钟周期</a:t>
            </a:r>
            <a:r>
              <a:rPr lang="zh-CN" altLang="en-US" sz="2200" dirty="0" smtClean="0"/>
              <a:t>能发射一</a:t>
            </a:r>
            <a:r>
              <a:rPr lang="zh-CN" altLang="en-US" sz="2200" dirty="0"/>
              <a:t>条整数指令和一条浮点指令，即使它们相关也是</a:t>
            </a:r>
            <a:r>
              <a:rPr lang="zh-CN" altLang="en-US" sz="2200" dirty="0" smtClean="0"/>
              <a:t>如此</a:t>
            </a:r>
            <a:endParaRPr lang="zh-CN" altLang="en-US" sz="2200" dirty="0"/>
          </a:p>
          <a:p>
            <a:r>
              <a:rPr lang="zh-CN" altLang="en-US" sz="2200" dirty="0"/>
              <a:t>整数</a:t>
            </a:r>
            <a:r>
              <a:rPr lang="en-US" altLang="zh-CN" sz="2200" dirty="0"/>
              <a:t>ALU</a:t>
            </a:r>
            <a:r>
              <a:rPr lang="zh-CN" altLang="en-US" sz="2200" dirty="0"/>
              <a:t>运算和</a:t>
            </a:r>
            <a:r>
              <a:rPr lang="zh-CN" altLang="en-US" sz="2200" dirty="0" smtClean="0"/>
              <a:t>地址计算共用一</a:t>
            </a:r>
            <a:r>
              <a:rPr lang="zh-CN" altLang="en-US" sz="2200" dirty="0"/>
              <a:t>个整数部件</a:t>
            </a:r>
            <a:r>
              <a:rPr lang="zh-CN" altLang="en-US" sz="2200" dirty="0" smtClean="0"/>
              <a:t>，并且</a:t>
            </a:r>
            <a:r>
              <a:rPr lang="zh-CN" altLang="en-US" sz="2200" dirty="0"/>
              <a:t>对于每一种浮点操作类型都有一个</a:t>
            </a:r>
            <a:r>
              <a:rPr lang="zh-CN" altLang="en-US" sz="2200" dirty="0" smtClean="0"/>
              <a:t>独立的、流水</a:t>
            </a:r>
            <a:r>
              <a:rPr lang="zh-CN" altLang="en-US" sz="2200" dirty="0"/>
              <a:t>化了的浮点</a:t>
            </a:r>
            <a:r>
              <a:rPr lang="zh-CN" altLang="en-US" sz="2200" dirty="0" smtClean="0"/>
              <a:t>功能部件</a:t>
            </a:r>
            <a:endParaRPr lang="zh-CN" altLang="en-US" sz="2200" dirty="0"/>
          </a:p>
          <a:p>
            <a:r>
              <a:rPr lang="zh-CN" altLang="en-US" sz="2200" dirty="0" smtClean="0"/>
              <a:t>指令发射和</a:t>
            </a:r>
            <a:r>
              <a:rPr lang="zh-CN" altLang="en-US" sz="2200" dirty="0"/>
              <a:t>写结果各占用一个时钟</a:t>
            </a:r>
            <a:r>
              <a:rPr lang="zh-CN" altLang="en-US" sz="2200" dirty="0" smtClean="0"/>
              <a:t>周期</a:t>
            </a:r>
            <a:endParaRPr lang="zh-CN" altLang="en-US" sz="2200" dirty="0"/>
          </a:p>
          <a:p>
            <a:r>
              <a:rPr lang="zh-CN" altLang="en-US" sz="2200" dirty="0"/>
              <a:t>具有动态分支预测部件和一个独立的计算分支条件的</a:t>
            </a:r>
            <a:r>
              <a:rPr lang="zh-CN" altLang="en-US" sz="2200" dirty="0" smtClean="0"/>
              <a:t>功能部件</a:t>
            </a:r>
            <a:endParaRPr lang="zh-CN" altLang="en-US" sz="2200" dirty="0"/>
          </a:p>
          <a:p>
            <a:r>
              <a:rPr lang="zh-CN" altLang="en-US" sz="2200" dirty="0"/>
              <a:t>跟大多数动态调度处理器一样，写回段的存在意味着实际的指令延迟会比按序流动的简单流水线多一个时钟周期。所以，从产生结果数据的源指令到使用该结果数据的指令之间的延迟为：整数运算一个周期，</a:t>
            </a:r>
            <a:r>
              <a:rPr lang="en-US" altLang="zh-CN" sz="2200" dirty="0"/>
              <a:t>load</a:t>
            </a:r>
            <a:r>
              <a:rPr lang="zh-CN" altLang="en-US" sz="2200" dirty="0"/>
              <a:t>两个周期，浮点加法运算</a:t>
            </a:r>
            <a:r>
              <a:rPr lang="en-US" altLang="zh-CN" sz="2200" dirty="0"/>
              <a:t>3</a:t>
            </a:r>
            <a:r>
              <a:rPr lang="zh-CN" altLang="en-US" sz="2200" dirty="0"/>
              <a:t>个</a:t>
            </a:r>
            <a:r>
              <a:rPr lang="zh-CN" altLang="en-US" sz="2200" dirty="0" smtClean="0"/>
              <a:t>周期</a:t>
            </a:r>
            <a:endParaRPr lang="zh-CN" altLang="en-US" sz="2200" dirty="0"/>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r>
              <a:rPr lang="zh-CN" altLang="en-US" dirty="0" smtClean="0"/>
              <a:t>要求</a:t>
            </a:r>
            <a:endParaRPr lang="en-US" altLang="zh-CN"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None/>
            </a:pPr>
            <a:r>
              <a:rPr lang="zh-CN" altLang="en-US" sz="1200" b="0" dirty="0">
                <a:latin typeface="Times New Roman" panose="02020603050405020304" pitchFamily="18" charset="0"/>
                <a:ea typeface="幼圆" panose="02010509060101010101" pitchFamily="49" charset="-122"/>
                <a:hlinkClick r:id="rId1" action="ppaction://hlinksldjump"/>
              </a:rPr>
              <a:t>本章内容</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2" action="ppaction://hlinksldjump"/>
              </a:rPr>
              <a:t>多指令发射技术</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3" action="ppaction://hlinksldjump"/>
              </a:rPr>
              <a:t>超标量</a:t>
            </a:r>
            <a:r>
              <a:rPr lang="zh-CN" altLang="en-US" sz="1200" b="0" dirty="0" smtClean="0">
                <a:latin typeface="Times New Roman" panose="02020603050405020304" pitchFamily="18" charset="0"/>
                <a:ea typeface="幼圆" panose="02010509060101010101" pitchFamily="49" charset="-122"/>
                <a:hlinkClick r:id="rId3" action="ppaction://hlinksldjump"/>
              </a:rPr>
              <a:t>处理机</a:t>
            </a:r>
            <a:r>
              <a:rPr lang="en-US" altLang="zh-CN" sz="1200" b="0" dirty="0" smtClean="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4" action="ppaction://hlinksldjump"/>
              </a:rPr>
              <a:t>超标量处理机设计</a:t>
            </a:r>
            <a:endParaRPr lang="zh-CN" altLang="en-US" sz="1200" b="0" dirty="0">
              <a:latin typeface="Times New Roman" panose="02020603050405020304" pitchFamily="18" charset="0"/>
              <a:ea typeface="幼圆" panose="02010509060101010101"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4</a:t>
            </a:r>
            <a:endParaRPr lang="zh-CN" altLang="en-US" sz="1200" b="0" dirty="0">
              <a:latin typeface="幼圆" panose="02010509060101010101" pitchFamily="49" charset="-122"/>
              <a:ea typeface="幼圆" panose="02010509060101010101" pitchFamily="49" charset="-122"/>
            </a:endParaRPr>
          </a:p>
        </p:txBody>
      </p:sp>
      <p:sp>
        <p:nvSpPr>
          <p:cNvPr id="2" name="内容占位符 1"/>
          <p:cNvSpPr>
            <a:spLocks noGrp="1"/>
          </p:cNvSpPr>
          <p:nvPr>
            <p:ph idx="1"/>
          </p:nvPr>
        </p:nvSpPr>
        <p:spPr/>
        <p:txBody>
          <a:bodyPr/>
          <a:lstStyle/>
          <a:p>
            <a:pPr marL="539750" indent="-539750">
              <a:lnSpc>
                <a:spcPct val="150000"/>
              </a:lnSpc>
              <a:buNone/>
            </a:pPr>
            <a:r>
              <a:rPr lang="en-US" altLang="zh-CN" sz="2800" dirty="0"/>
              <a:t>1. </a:t>
            </a:r>
            <a:r>
              <a:rPr lang="en-US" altLang="zh-CN" sz="2800" dirty="0" smtClean="0"/>
              <a:t> </a:t>
            </a:r>
            <a:r>
              <a:rPr lang="zh-CN" altLang="en-US" sz="2800" dirty="0" smtClean="0"/>
              <a:t>请</a:t>
            </a:r>
            <a:r>
              <a:rPr lang="zh-CN" altLang="en-US" sz="2800" dirty="0"/>
              <a:t>列出该程序前面</a:t>
            </a:r>
            <a:r>
              <a:rPr lang="en-US" altLang="zh-CN" sz="2800" dirty="0"/>
              <a:t>3</a:t>
            </a:r>
            <a:r>
              <a:rPr lang="zh-CN" altLang="en-US" sz="2800" dirty="0"/>
              <a:t>遍循环中各条指令</a:t>
            </a:r>
            <a:r>
              <a:rPr lang="zh-CN" altLang="en-US" sz="2800" dirty="0" smtClean="0"/>
              <a:t>的发射、</a:t>
            </a:r>
            <a:r>
              <a:rPr lang="zh-CN" altLang="en-US" sz="2800" dirty="0"/>
              <a:t>开始执行和</a:t>
            </a:r>
            <a:r>
              <a:rPr lang="zh-CN" altLang="en-US" sz="2800" dirty="0" smtClean="0"/>
              <a:t>将结果</a:t>
            </a:r>
            <a:r>
              <a:rPr lang="zh-CN" altLang="en-US" sz="2800" dirty="0"/>
              <a:t>写到</a:t>
            </a:r>
            <a:r>
              <a:rPr lang="en-US" altLang="zh-CN" sz="2800" dirty="0"/>
              <a:t>CDB</a:t>
            </a:r>
            <a:r>
              <a:rPr lang="zh-CN" altLang="en-US" sz="2800" dirty="0"/>
              <a:t>上的时间。</a:t>
            </a:r>
            <a:endParaRPr lang="zh-CN" altLang="en-US" sz="2800" dirty="0"/>
          </a:p>
          <a:p>
            <a:pPr marL="539750" indent="-539750">
              <a:lnSpc>
                <a:spcPct val="150000"/>
              </a:lnSpc>
              <a:buNone/>
            </a:pPr>
            <a:r>
              <a:rPr lang="en-US" altLang="zh-CN" sz="2800" dirty="0" smtClean="0"/>
              <a:t>2</a:t>
            </a:r>
            <a:r>
              <a:rPr lang="en-US" altLang="zh-CN" sz="2800" dirty="0"/>
              <a:t>. </a:t>
            </a:r>
            <a:r>
              <a:rPr lang="en-US" altLang="zh-CN" sz="2800" dirty="0" smtClean="0"/>
              <a:t> </a:t>
            </a:r>
            <a:r>
              <a:rPr lang="zh-CN" altLang="en-US" sz="2800" dirty="0" smtClean="0"/>
              <a:t>如果</a:t>
            </a:r>
            <a:r>
              <a:rPr lang="zh-CN" altLang="en-US" sz="2800" dirty="0"/>
              <a:t>分支指令</a:t>
            </a:r>
            <a:r>
              <a:rPr lang="zh-CN" altLang="en-US" sz="2800" dirty="0" smtClean="0"/>
              <a:t>单发射，</a:t>
            </a:r>
            <a:r>
              <a:rPr lang="zh-CN" altLang="en-US" sz="2800" dirty="0"/>
              <a:t>没有采用延迟分支，但分支预测是</a:t>
            </a:r>
            <a:r>
              <a:rPr lang="zh-CN" altLang="en-US" sz="2800" dirty="0" smtClean="0"/>
              <a:t>完美</a:t>
            </a:r>
            <a:r>
              <a:rPr lang="zh-CN" altLang="en-US" sz="2800" dirty="0"/>
              <a:t>的。请列出整数部件、浮点部件、数据</a:t>
            </a:r>
            <a:r>
              <a:rPr lang="en-US" altLang="zh-CN" sz="2800" dirty="0"/>
              <a:t>Cache</a:t>
            </a:r>
            <a:r>
              <a:rPr lang="zh-CN" altLang="en-US" sz="2800" dirty="0"/>
              <a:t>以及</a:t>
            </a:r>
            <a:r>
              <a:rPr lang="en-US" altLang="zh-CN" sz="2800" dirty="0"/>
              <a:t>CDB</a:t>
            </a:r>
            <a:r>
              <a:rPr lang="zh-CN" altLang="en-US" sz="2800" dirty="0"/>
              <a:t>的资源</a:t>
            </a:r>
            <a:r>
              <a:rPr lang="zh-CN" altLang="en-US" sz="2800" dirty="0" smtClean="0"/>
              <a:t>使用情况。</a:t>
            </a:r>
            <a:endParaRPr lang="zh-CN" altLang="en-US" sz="2800" dirty="0"/>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33763" name="Group 227"/>
          <p:cNvGraphicFramePr>
            <a:graphicFrameLocks noGrp="1"/>
          </p:cNvGraphicFramePr>
          <p:nvPr>
            <p:ph/>
          </p:nvPr>
        </p:nvGraphicFramePr>
        <p:xfrm>
          <a:off x="395288" y="457200"/>
          <a:ext cx="8353425" cy="6240473"/>
        </p:xfrm>
        <a:graphic>
          <a:graphicData uri="http://schemas.openxmlformats.org/drawingml/2006/table">
            <a:tbl>
              <a:tblPr/>
              <a:tblGrid>
                <a:gridCol w="647700"/>
                <a:gridCol w="2449512"/>
                <a:gridCol w="774700"/>
                <a:gridCol w="812800"/>
                <a:gridCol w="787400"/>
                <a:gridCol w="762000"/>
                <a:gridCol w="2119313"/>
              </a:tblGrid>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rgbClr val="E24C05"/>
                          </a:solidFill>
                          <a:effectLst/>
                          <a:latin typeface="+mn-ea"/>
                          <a:ea typeface="+mn-ea"/>
                        </a:rPr>
                        <a:t>遍数 </a:t>
                      </a:r>
                      <a:endParaRPr kumimoji="1" lang="zh-CN" altLang="en-US" sz="1800" b="1" i="0" u="none" strike="noStrike" cap="none" normalizeH="0" baseline="0" dirty="0" smtClean="0">
                        <a:ln>
                          <a:noFill/>
                        </a:ln>
                        <a:solidFill>
                          <a:srgbClr val="E24C05"/>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rgbClr val="E24C05"/>
                          </a:solidFill>
                          <a:effectLst/>
                          <a:latin typeface="+mn-ea"/>
                          <a:ea typeface="+mn-ea"/>
                        </a:rPr>
                        <a:t>指    令 </a:t>
                      </a:r>
                      <a:endParaRPr kumimoji="1" lang="zh-CN" altLang="en-US" sz="1800" b="1" i="0" u="none" strike="noStrike" cap="none" normalizeH="0" baseline="0" smtClean="0">
                        <a:ln>
                          <a:noFill/>
                        </a:ln>
                        <a:solidFill>
                          <a:srgbClr val="E24C05"/>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rgbClr val="E24C05"/>
                          </a:solidFill>
                          <a:effectLst/>
                          <a:latin typeface="+mn-ea"/>
                          <a:ea typeface="+mn-ea"/>
                        </a:rPr>
                        <a:t>发射 </a:t>
                      </a:r>
                      <a:endParaRPr kumimoji="1" lang="zh-CN" altLang="en-US" sz="1800" b="1" i="0" u="none" strike="noStrike" cap="none" normalizeH="0" baseline="0" dirty="0" smtClean="0">
                        <a:ln>
                          <a:noFill/>
                        </a:ln>
                        <a:solidFill>
                          <a:srgbClr val="E24C05"/>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rgbClr val="E24C05"/>
                          </a:solidFill>
                          <a:effectLst/>
                          <a:latin typeface="+mn-ea"/>
                          <a:ea typeface="+mn-ea"/>
                        </a:rPr>
                        <a:t>执行 </a:t>
                      </a:r>
                      <a:endParaRPr kumimoji="1" lang="zh-CN" altLang="en-US" sz="1800" b="1" i="0" u="none" strike="noStrike" cap="none" normalizeH="0" baseline="0" dirty="0" smtClean="0">
                        <a:ln>
                          <a:noFill/>
                        </a:ln>
                        <a:solidFill>
                          <a:srgbClr val="E24C05"/>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rgbClr val="E24C05"/>
                          </a:solidFill>
                          <a:effectLst/>
                          <a:latin typeface="+mn-ea"/>
                          <a:ea typeface="+mn-ea"/>
                        </a:rPr>
                        <a:t>访存 </a:t>
                      </a:r>
                      <a:endParaRPr kumimoji="1" lang="zh-CN" altLang="en-US" sz="1800" b="1" i="0" u="none" strike="noStrike" cap="none" normalizeH="0" baseline="0" dirty="0" smtClean="0">
                        <a:ln>
                          <a:noFill/>
                        </a:ln>
                        <a:solidFill>
                          <a:srgbClr val="E24C05"/>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rgbClr val="E24C05"/>
                          </a:solidFill>
                          <a:effectLst/>
                          <a:latin typeface="+mn-ea"/>
                          <a:ea typeface="+mn-ea"/>
                        </a:rPr>
                        <a:t>写</a:t>
                      </a:r>
                      <a:r>
                        <a:rPr kumimoji="1" lang="en-US" altLang="zh-CN" sz="1800" b="1" i="0" u="none" strike="noStrike" cap="none" normalizeH="0" baseline="0" dirty="0" smtClean="0">
                          <a:ln>
                            <a:noFill/>
                          </a:ln>
                          <a:solidFill>
                            <a:srgbClr val="E24C05"/>
                          </a:solidFill>
                          <a:effectLst/>
                          <a:latin typeface="+mn-ea"/>
                          <a:ea typeface="+mn-ea"/>
                        </a:rPr>
                        <a:t>CDB </a:t>
                      </a:r>
                      <a:endParaRPr kumimoji="1" lang="en-US" altLang="zh-CN" sz="1800" b="1" i="0" u="none" strike="noStrike" cap="none" normalizeH="0" baseline="0" dirty="0" smtClean="0">
                        <a:ln>
                          <a:noFill/>
                        </a:ln>
                        <a:solidFill>
                          <a:srgbClr val="E24C05"/>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rgbClr val="E24C05"/>
                          </a:solidFill>
                          <a:effectLst/>
                          <a:latin typeface="+mn-ea"/>
                          <a:ea typeface="+mn-ea"/>
                        </a:rPr>
                        <a:t>说明 </a:t>
                      </a:r>
                      <a:endParaRPr kumimoji="1" lang="zh-CN" altLang="en-US" sz="1800" b="1" i="0" u="none" strike="noStrike" cap="none" normalizeH="0" baseline="0" smtClean="0">
                        <a:ln>
                          <a:noFill/>
                        </a:ln>
                        <a:solidFill>
                          <a:srgbClr val="E24C05"/>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33386">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1</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dirty="0" smtClean="0">
                          <a:ln>
                            <a:noFill/>
                          </a:ln>
                          <a:solidFill>
                            <a:schemeClr val="tx2"/>
                          </a:solidFill>
                          <a:effectLst/>
                          <a:latin typeface="+mn-ea"/>
                          <a:ea typeface="+mn-ea"/>
                        </a:rPr>
                        <a:t>L.D      F0,0</a:t>
                      </a:r>
                      <a:r>
                        <a:rPr kumimoji="1" lang="zh-CN" altLang="en-US" sz="1800" b="1" i="0" u="none" strike="noStrike" cap="none" normalizeH="0" baseline="0" dirty="0" smtClean="0">
                          <a:ln>
                            <a:noFill/>
                          </a:ln>
                          <a:solidFill>
                            <a:schemeClr val="tx2"/>
                          </a:solidFill>
                          <a:effectLst/>
                          <a:latin typeface="+mn-ea"/>
                          <a:ea typeface="+mn-ea"/>
                        </a:rPr>
                        <a:t>（</a:t>
                      </a:r>
                      <a:r>
                        <a:rPr kumimoji="1" lang="en-US" altLang="zh-CN" sz="1800" b="1" i="0" u="none" strike="noStrike" cap="none" normalizeH="0" baseline="0" dirty="0" smtClean="0">
                          <a:ln>
                            <a:noFill/>
                          </a:ln>
                          <a:solidFill>
                            <a:schemeClr val="tx2"/>
                          </a:solidFill>
                          <a:effectLst/>
                          <a:latin typeface="+mn-ea"/>
                          <a:ea typeface="+mn-ea"/>
                        </a:rPr>
                        <a:t>R1</a:t>
                      </a:r>
                      <a:r>
                        <a:rPr kumimoji="1" lang="zh-CN" altLang="en-US" sz="1800" b="1" i="0" u="none" strike="noStrike" cap="none" normalizeH="0" baseline="0" dirty="0" smtClean="0">
                          <a:ln>
                            <a:noFill/>
                          </a:ln>
                          <a:solidFill>
                            <a:schemeClr val="tx2"/>
                          </a:solidFill>
                          <a:effectLst/>
                          <a:latin typeface="+mn-ea"/>
                          <a:ea typeface="+mn-ea"/>
                        </a:rPr>
                        <a:t>） </a:t>
                      </a:r>
                      <a:endParaRPr kumimoji="1" lang="zh-CN" altLang="en-US" sz="1800" b="1" i="0" u="none" strike="noStrike" cap="none" normalizeH="0" baseline="0" dirty="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2</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3</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4</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chemeClr val="tx1"/>
                          </a:solidFill>
                          <a:effectLst/>
                          <a:latin typeface="+mn-ea"/>
                          <a:ea typeface="+mn-ea"/>
                        </a:rPr>
                        <a:t>流出第一条指令 </a:t>
                      </a:r>
                      <a:endParaRPr kumimoji="1" lang="zh-CN" altLang="en-US"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1</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2"/>
                          </a:solidFill>
                          <a:effectLst/>
                          <a:latin typeface="+mn-ea"/>
                          <a:ea typeface="+mn-ea"/>
                        </a:rPr>
                        <a:t>ADD.D    F4,F0,F2 </a:t>
                      </a:r>
                      <a:endParaRPr kumimoji="1" lang="en-US" altLang="zh-CN" sz="1800" b="1" i="0" u="none" strike="noStrike" cap="none" normalizeH="0" baseline="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dirty="0" smtClean="0">
                          <a:ln>
                            <a:noFill/>
                          </a:ln>
                          <a:solidFill>
                            <a:schemeClr val="tx1"/>
                          </a:solidFill>
                          <a:effectLst/>
                          <a:latin typeface="+mn-ea"/>
                          <a:ea typeface="+mn-ea"/>
                        </a:rPr>
                        <a:t>5</a:t>
                      </a:r>
                      <a:endParaRPr kumimoji="1" lang="en-US" altLang="zh-CN"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dirty="0" smtClean="0">
                          <a:ln>
                            <a:noFill/>
                          </a:ln>
                          <a:solidFill>
                            <a:schemeClr val="tx1"/>
                          </a:solidFill>
                          <a:effectLst/>
                          <a:latin typeface="+mn-ea"/>
                          <a:ea typeface="+mn-ea"/>
                        </a:rPr>
                        <a:t>8</a:t>
                      </a:r>
                      <a:endParaRPr kumimoji="1" lang="en-US" altLang="zh-CN"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L.D</a:t>
                      </a:r>
                      <a:r>
                        <a:rPr kumimoji="1" lang="zh-CN" altLang="en-US" sz="1800" b="1" i="0" u="none" strike="noStrike" cap="none" normalizeH="0" baseline="0" smtClean="0">
                          <a:ln>
                            <a:noFill/>
                          </a:ln>
                          <a:solidFill>
                            <a:schemeClr val="tx1"/>
                          </a:solidFill>
                          <a:effectLst/>
                          <a:latin typeface="+mn-ea"/>
                          <a:ea typeface="+mn-ea"/>
                        </a:rPr>
                        <a:t>的结果 </a:t>
                      </a:r>
                      <a:endParaRPr kumimoji="1" lang="zh-CN" altLang="en-US"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1</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2"/>
                          </a:solidFill>
                          <a:effectLst/>
                          <a:latin typeface="+mn-ea"/>
                          <a:ea typeface="+mn-ea"/>
                        </a:rPr>
                        <a:t>S.D      F4,0</a:t>
                      </a:r>
                      <a:r>
                        <a:rPr kumimoji="1" lang="zh-CN" altLang="en-US" sz="1800" b="1" i="0" u="none" strike="noStrike" cap="none" normalizeH="0" baseline="0" smtClean="0">
                          <a:ln>
                            <a:noFill/>
                          </a:ln>
                          <a:solidFill>
                            <a:schemeClr val="tx2"/>
                          </a:solidFill>
                          <a:effectLst/>
                          <a:latin typeface="+mn-ea"/>
                          <a:ea typeface="+mn-ea"/>
                        </a:rPr>
                        <a:t>（</a:t>
                      </a:r>
                      <a:r>
                        <a:rPr kumimoji="1" lang="en-US" altLang="zh-CN" sz="1800" b="1" i="0" u="none" strike="noStrike" cap="none" normalizeH="0" baseline="0" smtClean="0">
                          <a:ln>
                            <a:noFill/>
                          </a:ln>
                          <a:solidFill>
                            <a:schemeClr val="tx2"/>
                          </a:solidFill>
                          <a:effectLst/>
                          <a:latin typeface="+mn-ea"/>
                          <a:ea typeface="+mn-ea"/>
                        </a:rPr>
                        <a:t>R1</a:t>
                      </a:r>
                      <a:r>
                        <a:rPr kumimoji="1" lang="zh-CN" altLang="en-US" sz="1800" b="1" i="0" u="none" strike="noStrike" cap="none" normalizeH="0" baseline="0" smtClean="0">
                          <a:ln>
                            <a:noFill/>
                          </a:ln>
                          <a:solidFill>
                            <a:schemeClr val="tx2"/>
                          </a:solidFill>
                          <a:effectLst/>
                          <a:latin typeface="+mn-ea"/>
                          <a:ea typeface="+mn-ea"/>
                        </a:rPr>
                        <a:t>） </a:t>
                      </a:r>
                      <a:endParaRPr kumimoji="1" lang="zh-CN" altLang="en-US" sz="1800" b="1" i="0" u="none" strike="noStrike" cap="none" normalizeH="0" baseline="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2</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3</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9</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ADD.D</a:t>
                      </a:r>
                      <a:r>
                        <a:rPr kumimoji="1" lang="zh-CN" altLang="en-US" sz="1800" b="1" i="0" u="none" strike="noStrike" cap="none" normalizeH="0" baseline="0" smtClean="0">
                          <a:ln>
                            <a:noFill/>
                          </a:ln>
                          <a:solidFill>
                            <a:schemeClr val="tx1"/>
                          </a:solidFill>
                          <a:effectLst/>
                          <a:latin typeface="+mn-ea"/>
                          <a:ea typeface="+mn-ea"/>
                        </a:rPr>
                        <a:t>的结果 </a:t>
                      </a:r>
                      <a:endParaRPr kumimoji="1" lang="zh-CN" altLang="en-US"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1</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2"/>
                          </a:solidFill>
                          <a:effectLst/>
                          <a:latin typeface="+mn-ea"/>
                          <a:ea typeface="+mn-ea"/>
                        </a:rPr>
                        <a:t>DADDIU   R1,R1,#-8  </a:t>
                      </a:r>
                      <a:endParaRPr kumimoji="1" lang="en-US" altLang="zh-CN" sz="1800" b="1" i="0" u="none" strike="noStrike" cap="none" normalizeH="0" baseline="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dirty="0" smtClean="0">
                          <a:ln>
                            <a:noFill/>
                          </a:ln>
                          <a:solidFill>
                            <a:schemeClr val="tx1"/>
                          </a:solidFill>
                          <a:effectLst/>
                          <a:latin typeface="+mn-ea"/>
                          <a:ea typeface="+mn-ea"/>
                        </a:rPr>
                        <a:t>2</a:t>
                      </a:r>
                      <a:endParaRPr kumimoji="1" lang="en-US" altLang="zh-CN"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4</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5</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ALU</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1</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2"/>
                          </a:solidFill>
                          <a:effectLst/>
                          <a:latin typeface="+mn-ea"/>
                          <a:ea typeface="+mn-ea"/>
                        </a:rPr>
                        <a:t>BNE      R1,R2,Loop  </a:t>
                      </a:r>
                      <a:endParaRPr kumimoji="1" lang="en-US" altLang="zh-CN" sz="1800" b="1" i="0" u="none" strike="noStrike" cap="none" normalizeH="0" baseline="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3</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6</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DADDIU</a:t>
                      </a:r>
                      <a:r>
                        <a:rPr kumimoji="1" lang="zh-CN" altLang="en-US" sz="1800" b="1" i="0" u="none" strike="noStrike" cap="none" normalizeH="0" baseline="0" smtClean="0">
                          <a:ln>
                            <a:noFill/>
                          </a:ln>
                          <a:solidFill>
                            <a:schemeClr val="tx1"/>
                          </a:solidFill>
                          <a:effectLst/>
                          <a:latin typeface="+mn-ea"/>
                          <a:ea typeface="+mn-ea"/>
                        </a:rPr>
                        <a:t>的结果 </a:t>
                      </a:r>
                      <a:endParaRPr kumimoji="1" lang="zh-CN" altLang="en-US"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dirty="0" smtClean="0">
                          <a:ln>
                            <a:noFill/>
                          </a:ln>
                          <a:solidFill>
                            <a:srgbClr val="008000"/>
                          </a:solidFill>
                          <a:effectLst/>
                          <a:latin typeface="+mn-ea"/>
                          <a:ea typeface="+mn-ea"/>
                        </a:rPr>
                        <a:t>2</a:t>
                      </a:r>
                      <a:endParaRPr kumimoji="1" lang="en-US" altLang="zh-CN" sz="1800" b="1" i="0" u="none" strike="noStrike" cap="none" normalizeH="0" baseline="0" dirty="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dirty="0" smtClean="0">
                          <a:ln>
                            <a:noFill/>
                          </a:ln>
                          <a:solidFill>
                            <a:schemeClr val="tx2"/>
                          </a:solidFill>
                          <a:effectLst/>
                          <a:latin typeface="+mn-ea"/>
                          <a:ea typeface="+mn-ea"/>
                        </a:rPr>
                        <a:t>L.D      F0,0</a:t>
                      </a:r>
                      <a:r>
                        <a:rPr kumimoji="1" lang="zh-CN" altLang="en-US" sz="1800" b="1" i="0" u="none" strike="noStrike" cap="none" normalizeH="0" baseline="0" dirty="0" smtClean="0">
                          <a:ln>
                            <a:noFill/>
                          </a:ln>
                          <a:solidFill>
                            <a:schemeClr val="tx2"/>
                          </a:solidFill>
                          <a:effectLst/>
                          <a:latin typeface="+mn-ea"/>
                          <a:ea typeface="+mn-ea"/>
                        </a:rPr>
                        <a:t>（</a:t>
                      </a:r>
                      <a:r>
                        <a:rPr kumimoji="1" lang="en-US" altLang="zh-CN" sz="1800" b="1" i="0" u="none" strike="noStrike" cap="none" normalizeH="0" baseline="0" dirty="0" smtClean="0">
                          <a:ln>
                            <a:noFill/>
                          </a:ln>
                          <a:solidFill>
                            <a:schemeClr val="tx2"/>
                          </a:solidFill>
                          <a:effectLst/>
                          <a:latin typeface="+mn-ea"/>
                          <a:ea typeface="+mn-ea"/>
                        </a:rPr>
                        <a:t>R1</a:t>
                      </a:r>
                      <a:r>
                        <a:rPr kumimoji="1" lang="zh-CN" altLang="en-US" sz="1800" b="1" i="0" u="none" strike="noStrike" cap="none" normalizeH="0" baseline="0" dirty="0" smtClean="0">
                          <a:ln>
                            <a:noFill/>
                          </a:ln>
                          <a:solidFill>
                            <a:schemeClr val="tx2"/>
                          </a:solidFill>
                          <a:effectLst/>
                          <a:latin typeface="+mn-ea"/>
                          <a:ea typeface="+mn-ea"/>
                        </a:rPr>
                        <a:t>） </a:t>
                      </a:r>
                      <a:endParaRPr kumimoji="1" lang="zh-CN" altLang="en-US" sz="1800" b="1" i="0" u="none" strike="noStrike" cap="none" normalizeH="0" baseline="0" dirty="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dirty="0" smtClean="0">
                          <a:ln>
                            <a:noFill/>
                          </a:ln>
                          <a:solidFill>
                            <a:schemeClr val="tx1"/>
                          </a:solidFill>
                          <a:effectLst/>
                          <a:latin typeface="+mn-ea"/>
                          <a:ea typeface="+mn-ea"/>
                        </a:rPr>
                        <a:t>4</a:t>
                      </a:r>
                      <a:endParaRPr kumimoji="1" lang="en-US" altLang="zh-CN"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dirty="0" smtClean="0">
                          <a:ln>
                            <a:noFill/>
                          </a:ln>
                          <a:solidFill>
                            <a:schemeClr val="tx1"/>
                          </a:solidFill>
                          <a:effectLst/>
                          <a:latin typeface="+mn-ea"/>
                          <a:ea typeface="+mn-ea"/>
                        </a:rPr>
                        <a:t>7</a:t>
                      </a:r>
                      <a:endParaRPr kumimoji="1" lang="en-US" altLang="zh-CN"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dirty="0" smtClean="0">
                          <a:ln>
                            <a:noFill/>
                          </a:ln>
                          <a:solidFill>
                            <a:schemeClr val="tx1"/>
                          </a:solidFill>
                          <a:effectLst/>
                          <a:latin typeface="+mn-ea"/>
                          <a:ea typeface="+mn-ea"/>
                        </a:rPr>
                        <a:t>8</a:t>
                      </a:r>
                      <a:endParaRPr kumimoji="1" lang="en-US" altLang="zh-CN"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dirty="0" smtClean="0">
                          <a:ln>
                            <a:noFill/>
                          </a:ln>
                          <a:solidFill>
                            <a:schemeClr val="tx1"/>
                          </a:solidFill>
                          <a:effectLst/>
                          <a:latin typeface="+mn-ea"/>
                          <a:ea typeface="+mn-ea"/>
                        </a:rPr>
                        <a:t>9</a:t>
                      </a:r>
                      <a:endParaRPr kumimoji="1" lang="en-US" altLang="zh-CN"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BNE</a:t>
                      </a:r>
                      <a:r>
                        <a:rPr kumimoji="1" lang="zh-CN" altLang="en-US" sz="1800" b="1" i="0" u="none" strike="noStrike" cap="none" normalizeH="0" baseline="0" dirty="0" smtClean="0">
                          <a:ln>
                            <a:noFill/>
                          </a:ln>
                          <a:solidFill>
                            <a:schemeClr val="tx1"/>
                          </a:solidFill>
                          <a:effectLst/>
                          <a:latin typeface="+mn-ea"/>
                          <a:ea typeface="+mn-ea"/>
                        </a:rPr>
                        <a:t>完成 </a:t>
                      </a:r>
                      <a:endParaRPr kumimoji="1" lang="zh-CN" altLang="en-US"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92111">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2</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dirty="0" smtClean="0">
                          <a:ln>
                            <a:noFill/>
                          </a:ln>
                          <a:solidFill>
                            <a:schemeClr val="tx2"/>
                          </a:solidFill>
                          <a:effectLst/>
                          <a:latin typeface="+mn-ea"/>
                          <a:ea typeface="+mn-ea"/>
                        </a:rPr>
                        <a:t>ADD.D    F4,F0,F2 </a:t>
                      </a:r>
                      <a:endParaRPr kumimoji="1" lang="en-US" altLang="zh-CN" sz="1800" b="1" i="0" u="none" strike="noStrike" cap="none" normalizeH="0" baseline="0" dirty="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4</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10</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13</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L.D</a:t>
                      </a:r>
                      <a:r>
                        <a:rPr kumimoji="1" lang="zh-CN" altLang="en-US" sz="1800" b="1" i="0" u="none" strike="noStrike" cap="none" normalizeH="0" baseline="0" dirty="0" smtClean="0">
                          <a:ln>
                            <a:noFill/>
                          </a:ln>
                          <a:solidFill>
                            <a:schemeClr val="tx1"/>
                          </a:solidFill>
                          <a:effectLst/>
                          <a:latin typeface="+mn-ea"/>
                          <a:ea typeface="+mn-ea"/>
                        </a:rPr>
                        <a:t>的结果 </a:t>
                      </a:r>
                      <a:endParaRPr kumimoji="1" lang="zh-CN" altLang="en-US"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2</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2"/>
                          </a:solidFill>
                          <a:effectLst/>
                          <a:latin typeface="+mn-ea"/>
                          <a:ea typeface="+mn-ea"/>
                        </a:rPr>
                        <a:t>S.D      F4,0</a:t>
                      </a:r>
                      <a:r>
                        <a:rPr kumimoji="1" lang="zh-CN" altLang="en-US" sz="1800" b="1" i="0" u="none" strike="noStrike" cap="none" normalizeH="0" baseline="0" smtClean="0">
                          <a:ln>
                            <a:noFill/>
                          </a:ln>
                          <a:solidFill>
                            <a:schemeClr val="tx2"/>
                          </a:solidFill>
                          <a:effectLst/>
                          <a:latin typeface="+mn-ea"/>
                          <a:ea typeface="+mn-ea"/>
                        </a:rPr>
                        <a:t>（</a:t>
                      </a:r>
                      <a:r>
                        <a:rPr kumimoji="1" lang="en-US" altLang="zh-CN" sz="1800" b="1" i="0" u="none" strike="noStrike" cap="none" normalizeH="0" baseline="0" smtClean="0">
                          <a:ln>
                            <a:noFill/>
                          </a:ln>
                          <a:solidFill>
                            <a:schemeClr val="tx2"/>
                          </a:solidFill>
                          <a:effectLst/>
                          <a:latin typeface="+mn-ea"/>
                          <a:ea typeface="+mn-ea"/>
                        </a:rPr>
                        <a:t>R1</a:t>
                      </a:r>
                      <a:r>
                        <a:rPr kumimoji="1" lang="zh-CN" altLang="en-US" sz="1800" b="1" i="0" u="none" strike="noStrike" cap="none" normalizeH="0" baseline="0" smtClean="0">
                          <a:ln>
                            <a:noFill/>
                          </a:ln>
                          <a:solidFill>
                            <a:schemeClr val="tx2"/>
                          </a:solidFill>
                          <a:effectLst/>
                          <a:latin typeface="+mn-ea"/>
                          <a:ea typeface="+mn-ea"/>
                        </a:rPr>
                        <a:t>） </a:t>
                      </a:r>
                      <a:endParaRPr kumimoji="1" lang="zh-CN" altLang="en-US" sz="1800" b="1" i="0" u="none" strike="noStrike" cap="none" normalizeH="0" baseline="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5</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8</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14</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ADD.D</a:t>
                      </a:r>
                      <a:r>
                        <a:rPr kumimoji="1" lang="zh-CN" altLang="en-US" sz="1800" b="1" i="0" u="none" strike="noStrike" cap="none" normalizeH="0" baseline="0" dirty="0" smtClean="0">
                          <a:ln>
                            <a:noFill/>
                          </a:ln>
                          <a:solidFill>
                            <a:schemeClr val="tx1"/>
                          </a:solidFill>
                          <a:effectLst/>
                          <a:latin typeface="+mn-ea"/>
                          <a:ea typeface="+mn-ea"/>
                        </a:rPr>
                        <a:t>的结果 </a:t>
                      </a:r>
                      <a:endParaRPr kumimoji="1" lang="zh-CN" altLang="en-US"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2</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2"/>
                          </a:solidFill>
                          <a:effectLst/>
                          <a:latin typeface="+mn-ea"/>
                          <a:ea typeface="+mn-ea"/>
                        </a:rPr>
                        <a:t>DADDIU   R1,R1,#-8 </a:t>
                      </a:r>
                      <a:endParaRPr kumimoji="1" lang="en-US" altLang="zh-CN" sz="1800" b="1" i="0" u="none" strike="noStrike" cap="none" normalizeH="0" baseline="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5</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9</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10</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ALU </a:t>
                      </a:r>
                      <a:endParaRPr kumimoji="1" lang="en-US" altLang="zh-CN"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2</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2"/>
                          </a:solidFill>
                          <a:effectLst/>
                          <a:latin typeface="+mn-ea"/>
                          <a:ea typeface="+mn-ea"/>
                        </a:rPr>
                        <a:t>BNE      R1,R2,Loop</a:t>
                      </a:r>
                      <a:endParaRPr kumimoji="1" lang="en-US" altLang="zh-CN" sz="1800" b="1" i="0" u="none" strike="noStrike" cap="none" normalizeH="0" baseline="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6</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11</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DADDIU</a:t>
                      </a:r>
                      <a:r>
                        <a:rPr kumimoji="1" lang="zh-CN" altLang="en-US" sz="1800" b="1" i="0" u="none" strike="noStrike" cap="none" normalizeH="0" baseline="0" dirty="0" smtClean="0">
                          <a:ln>
                            <a:noFill/>
                          </a:ln>
                          <a:solidFill>
                            <a:schemeClr val="tx1"/>
                          </a:solidFill>
                          <a:effectLst/>
                          <a:latin typeface="+mn-ea"/>
                          <a:ea typeface="+mn-ea"/>
                        </a:rPr>
                        <a:t>的结果 </a:t>
                      </a:r>
                      <a:endParaRPr kumimoji="1" lang="zh-CN" altLang="en-US"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3</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2"/>
                          </a:solidFill>
                          <a:effectLst/>
                          <a:latin typeface="+mn-ea"/>
                          <a:ea typeface="+mn-ea"/>
                        </a:rPr>
                        <a:t>L.D      F0,0</a:t>
                      </a:r>
                      <a:r>
                        <a:rPr kumimoji="1" lang="zh-CN" altLang="en-US" sz="1800" b="1" i="0" u="none" strike="noStrike" cap="none" normalizeH="0" baseline="0" smtClean="0">
                          <a:ln>
                            <a:noFill/>
                          </a:ln>
                          <a:solidFill>
                            <a:schemeClr val="tx2"/>
                          </a:solidFill>
                          <a:effectLst/>
                          <a:latin typeface="+mn-ea"/>
                          <a:ea typeface="+mn-ea"/>
                        </a:rPr>
                        <a:t>（</a:t>
                      </a:r>
                      <a:r>
                        <a:rPr kumimoji="1" lang="en-US" altLang="zh-CN" sz="1800" b="1" i="0" u="none" strike="noStrike" cap="none" normalizeH="0" baseline="0" smtClean="0">
                          <a:ln>
                            <a:noFill/>
                          </a:ln>
                          <a:solidFill>
                            <a:schemeClr val="tx2"/>
                          </a:solidFill>
                          <a:effectLst/>
                          <a:latin typeface="+mn-ea"/>
                          <a:ea typeface="+mn-ea"/>
                        </a:rPr>
                        <a:t>R1</a:t>
                      </a:r>
                      <a:r>
                        <a:rPr kumimoji="1" lang="zh-CN" altLang="en-US" sz="1800" b="1" i="0" u="none" strike="noStrike" cap="none" normalizeH="0" baseline="0" smtClean="0">
                          <a:ln>
                            <a:noFill/>
                          </a:ln>
                          <a:solidFill>
                            <a:schemeClr val="tx2"/>
                          </a:solidFill>
                          <a:effectLst/>
                          <a:latin typeface="+mn-ea"/>
                          <a:ea typeface="+mn-ea"/>
                        </a:rPr>
                        <a:t>） </a:t>
                      </a:r>
                      <a:endParaRPr kumimoji="1" lang="zh-CN" altLang="en-US" sz="1800" b="1" i="0" u="none" strike="noStrike" cap="none" normalizeH="0" baseline="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7</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12</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13</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14</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BNE</a:t>
                      </a:r>
                      <a:r>
                        <a:rPr kumimoji="1" lang="zh-CN" altLang="en-US" sz="1800" b="1" i="0" u="none" strike="noStrike" cap="none" normalizeH="0" baseline="0" dirty="0" smtClean="0">
                          <a:ln>
                            <a:noFill/>
                          </a:ln>
                          <a:solidFill>
                            <a:schemeClr val="tx1"/>
                          </a:solidFill>
                          <a:effectLst/>
                          <a:latin typeface="+mn-ea"/>
                          <a:ea typeface="+mn-ea"/>
                        </a:rPr>
                        <a:t>完成 </a:t>
                      </a:r>
                      <a:endParaRPr kumimoji="1" lang="zh-CN" altLang="en-US"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3</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2"/>
                          </a:solidFill>
                          <a:effectLst/>
                          <a:latin typeface="+mn-ea"/>
                          <a:ea typeface="+mn-ea"/>
                        </a:rPr>
                        <a:t>ADD.D    F4,F0,F2 </a:t>
                      </a:r>
                      <a:endParaRPr kumimoji="1" lang="en-US" altLang="zh-CN" sz="1800" b="1" i="0" u="none" strike="noStrike" cap="none" normalizeH="0" baseline="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7</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15</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18</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L.D</a:t>
                      </a:r>
                      <a:r>
                        <a:rPr kumimoji="1" lang="zh-CN" altLang="en-US" sz="1800" b="1" i="0" u="none" strike="noStrike" cap="none" normalizeH="0" baseline="0" smtClean="0">
                          <a:ln>
                            <a:noFill/>
                          </a:ln>
                          <a:solidFill>
                            <a:schemeClr val="tx1"/>
                          </a:solidFill>
                          <a:effectLst/>
                          <a:latin typeface="+mn-ea"/>
                          <a:ea typeface="+mn-ea"/>
                        </a:rPr>
                        <a:t>的结果 </a:t>
                      </a:r>
                      <a:endParaRPr kumimoji="1" lang="zh-CN" altLang="en-US"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3</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2"/>
                          </a:solidFill>
                          <a:effectLst/>
                          <a:latin typeface="+mn-ea"/>
                          <a:ea typeface="+mn-ea"/>
                        </a:rPr>
                        <a:t>S.D      F4,0</a:t>
                      </a:r>
                      <a:r>
                        <a:rPr kumimoji="1" lang="zh-CN" altLang="en-US" sz="1800" b="1" i="0" u="none" strike="noStrike" cap="none" normalizeH="0" baseline="0" smtClean="0">
                          <a:ln>
                            <a:noFill/>
                          </a:ln>
                          <a:solidFill>
                            <a:schemeClr val="tx2"/>
                          </a:solidFill>
                          <a:effectLst/>
                          <a:latin typeface="+mn-ea"/>
                          <a:ea typeface="+mn-ea"/>
                        </a:rPr>
                        <a:t>（</a:t>
                      </a:r>
                      <a:r>
                        <a:rPr kumimoji="1" lang="en-US" altLang="zh-CN" sz="1800" b="1" i="0" u="none" strike="noStrike" cap="none" normalizeH="0" baseline="0" smtClean="0">
                          <a:ln>
                            <a:noFill/>
                          </a:ln>
                          <a:solidFill>
                            <a:schemeClr val="tx2"/>
                          </a:solidFill>
                          <a:effectLst/>
                          <a:latin typeface="+mn-ea"/>
                          <a:ea typeface="+mn-ea"/>
                        </a:rPr>
                        <a:t>R1</a:t>
                      </a:r>
                      <a:r>
                        <a:rPr kumimoji="1" lang="zh-CN" altLang="en-US" sz="1800" b="1" i="0" u="none" strike="noStrike" cap="none" normalizeH="0" baseline="0" smtClean="0">
                          <a:ln>
                            <a:noFill/>
                          </a:ln>
                          <a:solidFill>
                            <a:schemeClr val="tx2"/>
                          </a:solidFill>
                          <a:effectLst/>
                          <a:latin typeface="+mn-ea"/>
                          <a:ea typeface="+mn-ea"/>
                        </a:rPr>
                        <a:t>） </a:t>
                      </a:r>
                      <a:endParaRPr kumimoji="1" lang="zh-CN" altLang="en-US" sz="1800" b="1" i="0" u="none" strike="noStrike" cap="none" normalizeH="0" baseline="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8</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13</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19</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ADD.D</a:t>
                      </a:r>
                      <a:r>
                        <a:rPr kumimoji="1" lang="zh-CN" altLang="en-US" sz="1800" b="1" i="0" u="none" strike="noStrike" cap="none" normalizeH="0" baseline="0" smtClean="0">
                          <a:ln>
                            <a:noFill/>
                          </a:ln>
                          <a:solidFill>
                            <a:schemeClr val="tx1"/>
                          </a:solidFill>
                          <a:effectLst/>
                          <a:latin typeface="+mn-ea"/>
                          <a:ea typeface="+mn-ea"/>
                        </a:rPr>
                        <a:t>的结果 </a:t>
                      </a:r>
                      <a:endParaRPr kumimoji="1" lang="zh-CN" altLang="en-US"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3</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2"/>
                          </a:solidFill>
                          <a:effectLst/>
                          <a:latin typeface="+mn-ea"/>
                          <a:ea typeface="+mn-ea"/>
                        </a:rPr>
                        <a:t>DADDIU   R1,R1,#-8 </a:t>
                      </a:r>
                      <a:endParaRPr kumimoji="1" lang="en-US" altLang="zh-CN" sz="1800" b="1" i="0" u="none" strike="noStrike" cap="none" normalizeH="0" baseline="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8</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14</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15</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ALU </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rgbClr val="008000"/>
                          </a:solidFill>
                          <a:effectLst/>
                          <a:latin typeface="+mn-ea"/>
                          <a:ea typeface="+mn-ea"/>
                        </a:rPr>
                        <a:t>3</a:t>
                      </a:r>
                      <a:endParaRPr kumimoji="1" lang="en-US" altLang="zh-CN" sz="1800" b="1" i="0" u="none" strike="noStrike" cap="none" normalizeH="0" baseline="0" smtClean="0">
                        <a:ln>
                          <a:noFill/>
                        </a:ln>
                        <a:solidFill>
                          <a:srgbClr val="008000"/>
                        </a:solidFill>
                        <a:effectLst/>
                        <a:latin typeface="+mn-ea"/>
                        <a:ea typeface="+mn-ea"/>
                      </a:endParaRP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dirty="0" smtClean="0">
                          <a:ln>
                            <a:noFill/>
                          </a:ln>
                          <a:solidFill>
                            <a:schemeClr val="tx2"/>
                          </a:solidFill>
                          <a:effectLst/>
                          <a:latin typeface="+mn-ea"/>
                          <a:ea typeface="+mn-ea"/>
                        </a:rPr>
                        <a:t>BNE      R1,R2,Loop</a:t>
                      </a:r>
                      <a:endParaRPr kumimoji="1" lang="en-US" altLang="zh-CN" sz="1800" b="1" i="0" u="none" strike="noStrike" cap="none" normalizeH="0" baseline="0" dirty="0" smtClean="0">
                        <a:ln>
                          <a:noFill/>
                        </a:ln>
                        <a:solidFill>
                          <a:schemeClr val="tx2"/>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9</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mn-ea"/>
                          <a:ea typeface="+mn-ea"/>
                        </a:rPr>
                        <a:t>16</a:t>
                      </a:r>
                      <a:endParaRPr kumimoji="1" lang="en-US"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DADDIU</a:t>
                      </a:r>
                      <a:r>
                        <a:rPr kumimoji="1" lang="zh-CN" altLang="en-US" sz="1800" b="1" i="0" u="none" strike="noStrike" cap="none" normalizeH="0" baseline="0" dirty="0" smtClean="0">
                          <a:ln>
                            <a:noFill/>
                          </a:ln>
                          <a:solidFill>
                            <a:schemeClr val="tx1"/>
                          </a:solidFill>
                          <a:effectLst/>
                          <a:latin typeface="+mn-ea"/>
                          <a:ea typeface="+mn-ea"/>
                        </a:rPr>
                        <a:t>的结果 </a:t>
                      </a:r>
                      <a:endParaRPr kumimoji="1" lang="zh-CN" altLang="en-US"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3" name="TextBox 2"/>
          <p:cNvSpPr txBox="1"/>
          <p:nvPr/>
        </p:nvSpPr>
        <p:spPr>
          <a:xfrm>
            <a:off x="467544" y="107340"/>
            <a:ext cx="8154797" cy="369332"/>
          </a:xfrm>
          <a:prstGeom prst="rect">
            <a:avLst/>
          </a:prstGeom>
          <a:noFill/>
        </p:spPr>
        <p:txBody>
          <a:bodyPr wrap="none" rtlCol="0">
            <a:spAutoFit/>
          </a:bodyPr>
          <a:lstStyle/>
          <a:p>
            <a:r>
              <a:rPr lang="zh-CN" altLang="en-US" sz="1800" b="1" dirty="0" smtClean="0"/>
              <a:t>基于</a:t>
            </a:r>
            <a:r>
              <a:rPr lang="en-US" altLang="zh-CN" sz="1800" b="1" dirty="0" err="1" smtClean="0"/>
              <a:t>Tomasulo</a:t>
            </a:r>
            <a:r>
              <a:rPr lang="zh-CN" altLang="en-US" sz="1800" b="1" dirty="0" smtClean="0"/>
              <a:t>算法的双发射超标量流水线中指令的发射、执行和写</a:t>
            </a:r>
            <a:r>
              <a:rPr lang="en-US" altLang="zh-CN" sz="1800" b="1" dirty="0" smtClean="0"/>
              <a:t>CDB</a:t>
            </a:r>
            <a:r>
              <a:rPr lang="zh-CN" altLang="en-US" sz="1800" b="1" dirty="0" smtClean="0"/>
              <a:t>的时间</a:t>
            </a:r>
            <a:endParaRPr lang="zh-CN" altLang="en-US" sz="1800" b="1" dirty="0"/>
          </a:p>
        </p:txBody>
      </p:sp>
      <p:sp>
        <p:nvSpPr>
          <p:cNvPr id="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5</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p:pull dir="rd"/>
  </p:transition>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927000" name="Group 1304"/>
          <p:cNvGraphicFramePr>
            <a:graphicFrameLocks noGrp="1"/>
          </p:cNvGraphicFramePr>
          <p:nvPr/>
        </p:nvGraphicFramePr>
        <p:xfrm>
          <a:off x="899592" y="518431"/>
          <a:ext cx="7272338" cy="6254496"/>
        </p:xfrm>
        <a:graphic>
          <a:graphicData uri="http://schemas.openxmlformats.org/drawingml/2006/table">
            <a:tbl>
              <a:tblPr/>
              <a:tblGrid>
                <a:gridCol w="1296988"/>
                <a:gridCol w="1439862"/>
                <a:gridCol w="1625600"/>
                <a:gridCol w="1455738"/>
                <a:gridCol w="1454150"/>
              </a:tblGrid>
              <a:tr h="249146">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300" b="1" i="0" u="none" strike="noStrike" cap="none" normalizeH="0" baseline="0" dirty="0" smtClean="0">
                          <a:ln>
                            <a:noFill/>
                          </a:ln>
                          <a:solidFill>
                            <a:srgbClr val="E24C05"/>
                          </a:solidFill>
                          <a:effectLst/>
                          <a:latin typeface="+mn-ea"/>
                          <a:ea typeface="+mn-ea"/>
                        </a:rPr>
                        <a:t>时钟周期 </a:t>
                      </a:r>
                      <a:endParaRPr kumimoji="1" lang="zh-CN" altLang="en-US" sz="1300" b="1" i="0" u="none" strike="noStrike" cap="none" normalizeH="0" baseline="0" dirty="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300" b="1" i="0" u="none" strike="noStrike" cap="none" normalizeH="0" baseline="0" smtClean="0">
                          <a:ln>
                            <a:noFill/>
                          </a:ln>
                          <a:solidFill>
                            <a:srgbClr val="E24C05"/>
                          </a:solidFill>
                          <a:effectLst/>
                          <a:latin typeface="+mn-ea"/>
                          <a:ea typeface="+mn-ea"/>
                        </a:rPr>
                        <a:t>整型</a:t>
                      </a:r>
                      <a:r>
                        <a:rPr kumimoji="1" lang="en-US" altLang="zh-CN" sz="1300" b="1" i="0" u="none" strike="noStrike" cap="none" normalizeH="0" baseline="0" smtClean="0">
                          <a:ln>
                            <a:noFill/>
                          </a:ln>
                          <a:solidFill>
                            <a:srgbClr val="E24C05"/>
                          </a:solidFill>
                          <a:effectLst/>
                          <a:latin typeface="+mn-ea"/>
                          <a:ea typeface="+mn-ea"/>
                        </a:rPr>
                        <a:t>ALU </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300" b="1" i="0" u="none" strike="noStrike" cap="none" normalizeH="0" baseline="0" dirty="0" smtClean="0">
                          <a:ln>
                            <a:noFill/>
                          </a:ln>
                          <a:solidFill>
                            <a:srgbClr val="E24C05"/>
                          </a:solidFill>
                          <a:effectLst/>
                          <a:latin typeface="+mn-ea"/>
                          <a:ea typeface="+mn-ea"/>
                        </a:rPr>
                        <a:t>浮点</a:t>
                      </a:r>
                      <a:r>
                        <a:rPr kumimoji="1" lang="en-US" altLang="zh-CN" sz="1300" b="1" i="0" u="none" strike="noStrike" cap="none" normalizeH="0" baseline="0" dirty="0" smtClean="0">
                          <a:ln>
                            <a:noFill/>
                          </a:ln>
                          <a:solidFill>
                            <a:srgbClr val="E24C05"/>
                          </a:solidFill>
                          <a:effectLst/>
                          <a:latin typeface="+mn-ea"/>
                          <a:ea typeface="+mn-ea"/>
                        </a:rPr>
                        <a:t>ALU </a:t>
                      </a:r>
                      <a:endParaRPr kumimoji="1" lang="en-US" altLang="zh-CN" sz="1300" b="1" i="0" u="none" strike="noStrike" cap="none" normalizeH="0" baseline="0" dirty="0" smtClean="0">
                        <a:ln>
                          <a:noFill/>
                        </a:ln>
                        <a:solidFill>
                          <a:srgbClr val="E24C05"/>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zh-CN" altLang="en-US" sz="1300" b="1" i="0" u="none" strike="noStrike" cap="none" normalizeH="0" baseline="0" smtClean="0">
                          <a:ln>
                            <a:noFill/>
                          </a:ln>
                          <a:solidFill>
                            <a:srgbClr val="E24C05"/>
                          </a:solidFill>
                          <a:effectLst/>
                          <a:latin typeface="+mn-ea"/>
                          <a:ea typeface="+mn-ea"/>
                        </a:rPr>
                        <a:t>数据</a:t>
                      </a:r>
                      <a:r>
                        <a:rPr kumimoji="1" lang="en-US" altLang="zh-CN" sz="1300" b="1" i="0" u="none" strike="noStrike" cap="none" normalizeH="0" baseline="0" smtClean="0">
                          <a:ln>
                            <a:noFill/>
                          </a:ln>
                          <a:solidFill>
                            <a:srgbClr val="E24C05"/>
                          </a:solidFill>
                          <a:effectLst/>
                          <a:latin typeface="+mn-ea"/>
                          <a:ea typeface="+mn-ea"/>
                        </a:rPr>
                        <a:t>Cache </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CDB</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2</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dirty="0" smtClean="0">
                          <a:ln>
                            <a:noFill/>
                          </a:ln>
                          <a:solidFill>
                            <a:schemeClr val="tx1"/>
                          </a:solidFill>
                          <a:effectLst/>
                          <a:latin typeface="+mn-ea"/>
                          <a:ea typeface="+mn-ea"/>
                        </a:rPr>
                        <a:t>1/L.D </a:t>
                      </a:r>
                      <a:endParaRPr kumimoji="1" lang="en-US"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3</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1/S.D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1/L.D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4</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1/DADDIU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1/L.D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5</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1/ADD.D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1/DADDIU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6</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7</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2/L.D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8</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2/S.D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2/L.D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1/ADD.D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9</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2/DADDIU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1/S.D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2/L.D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10</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2/ADD.D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2/DADDIU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11</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12</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3/L.D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dirty="0" smtClean="0">
                          <a:ln>
                            <a:noFill/>
                          </a:ln>
                          <a:solidFill>
                            <a:srgbClr val="E24C05"/>
                          </a:solidFill>
                          <a:effectLst/>
                          <a:latin typeface="+mn-ea"/>
                          <a:ea typeface="+mn-ea"/>
                        </a:rPr>
                        <a:t>13</a:t>
                      </a:r>
                      <a:endParaRPr kumimoji="1" lang="en-US" altLang="zh-CN" sz="1300" b="1" i="0" u="none" strike="noStrike" cap="none" normalizeH="0" baseline="0" dirty="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3/S.D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3/L.D</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dirty="0" smtClean="0">
                          <a:ln>
                            <a:noFill/>
                          </a:ln>
                          <a:solidFill>
                            <a:schemeClr val="tx1"/>
                          </a:solidFill>
                          <a:effectLst/>
                          <a:latin typeface="+mn-ea"/>
                          <a:ea typeface="+mn-ea"/>
                        </a:rPr>
                        <a:t>2/ADD.D</a:t>
                      </a:r>
                      <a:endParaRPr kumimoji="1" lang="en-US"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14</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3/DADDIU</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2/S.D</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dirty="0" smtClean="0">
                          <a:ln>
                            <a:noFill/>
                          </a:ln>
                          <a:solidFill>
                            <a:schemeClr val="tx1"/>
                          </a:solidFill>
                          <a:effectLst/>
                          <a:latin typeface="+mn-ea"/>
                          <a:ea typeface="+mn-ea"/>
                        </a:rPr>
                        <a:t>3/L.D</a:t>
                      </a:r>
                      <a:endParaRPr kumimoji="1" lang="en-US"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15</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3/ADD.D</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dirty="0" smtClean="0">
                          <a:ln>
                            <a:noFill/>
                          </a:ln>
                          <a:solidFill>
                            <a:schemeClr val="tx1"/>
                          </a:solidFill>
                          <a:effectLst/>
                          <a:latin typeface="+mn-ea"/>
                          <a:ea typeface="+mn-ea"/>
                        </a:rPr>
                        <a:t>3/DADDIU</a:t>
                      </a:r>
                      <a:endParaRPr kumimoji="1" lang="en-US"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16</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dirty="0" smtClean="0">
                          <a:ln>
                            <a:noFill/>
                          </a:ln>
                          <a:solidFill>
                            <a:schemeClr val="tx1"/>
                          </a:solidFill>
                          <a:effectLst/>
                          <a:latin typeface="+mn-ea"/>
                          <a:ea typeface="+mn-ea"/>
                        </a:rPr>
                        <a:t> </a:t>
                      </a:r>
                      <a:endParaRPr kumimoji="1" lang="en-US"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17</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rgbClr val="E24C05"/>
                          </a:solidFill>
                          <a:effectLst/>
                          <a:latin typeface="+mn-ea"/>
                          <a:ea typeface="+mn-ea"/>
                        </a:rPr>
                        <a:t>18</a:t>
                      </a:r>
                      <a:endParaRPr kumimoji="1" lang="en-US" altLang="zh-CN" sz="1300" b="1" i="0" u="none" strike="noStrike" cap="none" normalizeH="0" baseline="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dirty="0" smtClean="0">
                          <a:ln>
                            <a:noFill/>
                          </a:ln>
                          <a:solidFill>
                            <a:schemeClr val="tx1"/>
                          </a:solidFill>
                          <a:effectLst/>
                          <a:latin typeface="+mn-ea"/>
                          <a:ea typeface="+mn-ea"/>
                        </a:rPr>
                        <a:t>3/ADD.D</a:t>
                      </a:r>
                      <a:endParaRPr kumimoji="1" lang="en-US"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dirty="0" smtClean="0">
                          <a:ln>
                            <a:noFill/>
                          </a:ln>
                          <a:solidFill>
                            <a:srgbClr val="E24C05"/>
                          </a:solidFill>
                          <a:effectLst/>
                          <a:latin typeface="+mn-ea"/>
                          <a:ea typeface="+mn-ea"/>
                        </a:rPr>
                        <a:t>19</a:t>
                      </a:r>
                      <a:endParaRPr kumimoji="1" lang="en-US" altLang="zh-CN" sz="1300" b="1" i="0" u="none" strike="noStrike" cap="none" normalizeH="0" baseline="0" dirty="0" smtClean="0">
                        <a:ln>
                          <a:noFill/>
                        </a:ln>
                        <a:solidFill>
                          <a:srgbClr val="E24C05"/>
                        </a:solidFill>
                        <a:effectLst/>
                        <a:latin typeface="+mn-ea"/>
                        <a:ea typeface="+mn-ea"/>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smtClean="0">
                          <a:ln>
                            <a:noFill/>
                          </a:ln>
                          <a:solidFill>
                            <a:schemeClr val="tx1"/>
                          </a:solidFill>
                          <a:effectLst/>
                          <a:latin typeface="+mn-ea"/>
                          <a:ea typeface="+mn-ea"/>
                        </a:rPr>
                        <a:t>3/S.D </a:t>
                      </a:r>
                      <a:endParaRPr kumimoji="1" lang="en-US"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2"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2"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pPr>
                      <a:r>
                        <a:rPr kumimoji="1" lang="en-US" altLang="zh-CN" sz="1300" b="1" i="0" u="none" strike="noStrike" cap="none" normalizeH="0" baseline="0" dirty="0" smtClean="0">
                          <a:ln>
                            <a:noFill/>
                          </a:ln>
                          <a:solidFill>
                            <a:schemeClr val="tx1"/>
                          </a:solidFill>
                          <a:effectLst/>
                          <a:latin typeface="+mn-ea"/>
                          <a:ea typeface="+mn-ea"/>
                        </a:rPr>
                        <a:t> </a:t>
                      </a:r>
                      <a:endParaRPr kumimoji="1" lang="en-US"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4" name="TextBox 3"/>
          <p:cNvSpPr txBox="1"/>
          <p:nvPr/>
        </p:nvSpPr>
        <p:spPr>
          <a:xfrm>
            <a:off x="1475656" y="107340"/>
            <a:ext cx="6072496" cy="369332"/>
          </a:xfrm>
          <a:prstGeom prst="rect">
            <a:avLst/>
          </a:prstGeom>
          <a:noFill/>
        </p:spPr>
        <p:txBody>
          <a:bodyPr wrap="none" rtlCol="0">
            <a:spAutoFit/>
          </a:bodyPr>
          <a:lstStyle/>
          <a:p>
            <a:r>
              <a:rPr lang="zh-CN" altLang="en-US" sz="1800" b="1" dirty="0" smtClean="0"/>
              <a:t>基于</a:t>
            </a:r>
            <a:r>
              <a:rPr lang="en-US" altLang="zh-CN" sz="1800" b="1" dirty="0" err="1" smtClean="0"/>
              <a:t>Tomasulo</a:t>
            </a:r>
            <a:r>
              <a:rPr lang="zh-CN" altLang="en-US" sz="1800" b="1" dirty="0" smtClean="0"/>
              <a:t>算法的双发射超标量流水线中资源使用情况</a:t>
            </a:r>
            <a:endParaRPr lang="zh-CN" altLang="en-US" sz="1800" b="1" dirty="0"/>
          </a:p>
        </p:txBody>
      </p:sp>
      <p:sp>
        <p:nvSpPr>
          <p:cNvPr id="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6</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1" name="projctor.wav"/>
      </p:stSnd>
    </p:sndAc>
  </p:transition>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r>
              <a:rPr lang="zh-CN" altLang="en-US" dirty="0" smtClean="0"/>
              <a:t>分析</a:t>
            </a:r>
            <a:endParaRPr lang="en-US" altLang="zh-CN" dirty="0"/>
          </a:p>
        </p:txBody>
      </p:sp>
      <p:sp>
        <p:nvSpPr>
          <p:cNvPr id="3" name="内容占位符 2"/>
          <p:cNvSpPr>
            <a:spLocks noGrp="1"/>
          </p:cNvSpPr>
          <p:nvPr>
            <p:ph idx="1"/>
          </p:nvPr>
        </p:nvSpPr>
        <p:spPr/>
        <p:txBody>
          <a:bodyPr/>
          <a:lstStyle/>
          <a:p>
            <a:pPr>
              <a:lnSpc>
                <a:spcPct val="125000"/>
              </a:lnSpc>
            </a:pPr>
            <a:r>
              <a:rPr lang="zh-CN" altLang="en-US" sz="2400" dirty="0"/>
              <a:t>每</a:t>
            </a:r>
            <a:r>
              <a:rPr lang="en-US" altLang="zh-CN" sz="2400" dirty="0"/>
              <a:t>3</a:t>
            </a:r>
            <a:r>
              <a:rPr lang="zh-CN" altLang="en-US" sz="2400" dirty="0"/>
              <a:t>个时钟周期</a:t>
            </a:r>
            <a:r>
              <a:rPr lang="zh-CN" altLang="en-US" sz="2400" dirty="0" smtClean="0"/>
              <a:t>就发射一</a:t>
            </a:r>
            <a:r>
              <a:rPr lang="zh-CN" altLang="en-US" sz="2400" dirty="0"/>
              <a:t>个新循环，每个循环</a:t>
            </a:r>
            <a:r>
              <a:rPr lang="en-US" altLang="zh-CN" sz="2400" dirty="0"/>
              <a:t>5</a:t>
            </a:r>
            <a:r>
              <a:rPr lang="zh-CN" altLang="en-US" sz="2400" dirty="0"/>
              <a:t>条指令。 </a:t>
            </a:r>
            <a:endParaRPr lang="zh-CN" altLang="en-US" sz="2400" dirty="0"/>
          </a:p>
          <a:p>
            <a:pPr marL="0" indent="0">
              <a:lnSpc>
                <a:spcPct val="125000"/>
              </a:lnSpc>
              <a:buNone/>
            </a:pPr>
            <a:r>
              <a:rPr lang="zh-CN" altLang="en-US" sz="2400" dirty="0"/>
              <a:t>       </a:t>
            </a:r>
            <a:r>
              <a:rPr lang="zh-CN" altLang="en-US" sz="2400" dirty="0" smtClean="0"/>
              <a:t>              </a:t>
            </a:r>
            <a:r>
              <a:rPr lang="en-US" altLang="zh-CN" sz="2400" dirty="0" smtClean="0"/>
              <a:t>IPC</a:t>
            </a:r>
            <a:r>
              <a:rPr lang="zh-CN" altLang="en-US" sz="2400" dirty="0"/>
              <a:t>＝</a:t>
            </a:r>
            <a:r>
              <a:rPr lang="en-US" altLang="zh-CN" sz="2400" dirty="0"/>
              <a:t>5/3</a:t>
            </a:r>
            <a:r>
              <a:rPr lang="zh-CN" altLang="en-US" sz="2400" dirty="0"/>
              <a:t>＝</a:t>
            </a:r>
            <a:r>
              <a:rPr lang="en-US" altLang="zh-CN" sz="2400" dirty="0"/>
              <a:t>1.67</a:t>
            </a:r>
            <a:r>
              <a:rPr lang="zh-CN" altLang="en-US" sz="2400" dirty="0"/>
              <a:t>条</a:t>
            </a:r>
            <a:r>
              <a:rPr lang="en-US" altLang="zh-CN" sz="2400" dirty="0"/>
              <a:t>/</a:t>
            </a:r>
            <a:r>
              <a:rPr lang="zh-CN" altLang="en-US" sz="2400" dirty="0"/>
              <a:t>拍</a:t>
            </a:r>
            <a:endParaRPr lang="zh-CN" altLang="en-US" sz="2400" dirty="0"/>
          </a:p>
          <a:p>
            <a:pPr>
              <a:lnSpc>
                <a:spcPct val="125000"/>
              </a:lnSpc>
            </a:pPr>
            <a:r>
              <a:rPr lang="zh-CN" altLang="en-US" sz="2400" dirty="0"/>
              <a:t>虽然指令</a:t>
            </a:r>
            <a:r>
              <a:rPr lang="zh-CN" altLang="en-US" sz="2400" dirty="0" smtClean="0"/>
              <a:t>的发射率</a:t>
            </a:r>
            <a:r>
              <a:rPr lang="zh-CN" altLang="en-US" sz="2400" dirty="0"/>
              <a:t>比较高，但是执行效率并不是很高。</a:t>
            </a:r>
            <a:endParaRPr lang="zh-CN" altLang="en-US" sz="2400" dirty="0"/>
          </a:p>
          <a:p>
            <a:pPr lvl="1">
              <a:lnSpc>
                <a:spcPct val="125000"/>
              </a:lnSpc>
            </a:pPr>
            <a:r>
              <a:rPr lang="en-US" altLang="zh-CN" sz="2400" dirty="0" smtClean="0"/>
              <a:t>19</a:t>
            </a:r>
            <a:r>
              <a:rPr lang="zh-CN" altLang="en-US" sz="2400" dirty="0" smtClean="0"/>
              <a:t>拍</a:t>
            </a:r>
            <a:r>
              <a:rPr lang="zh-CN" altLang="en-US" sz="2400" dirty="0"/>
              <a:t>共执行</a:t>
            </a:r>
            <a:r>
              <a:rPr lang="en-US" altLang="zh-CN" sz="2400" dirty="0"/>
              <a:t>15</a:t>
            </a:r>
            <a:r>
              <a:rPr lang="zh-CN" altLang="en-US" sz="2400" dirty="0"/>
              <a:t>条</a:t>
            </a:r>
            <a:r>
              <a:rPr lang="zh-CN" altLang="en-US" sz="2400" dirty="0" smtClean="0"/>
              <a:t>指令</a:t>
            </a:r>
            <a:endParaRPr lang="zh-CN" altLang="en-US" sz="2400" dirty="0"/>
          </a:p>
          <a:p>
            <a:pPr lvl="1">
              <a:lnSpc>
                <a:spcPct val="125000"/>
              </a:lnSpc>
            </a:pPr>
            <a:r>
              <a:rPr lang="zh-CN" altLang="en-US" sz="2400" dirty="0"/>
              <a:t>平均指令执行速度为</a:t>
            </a:r>
            <a:r>
              <a:rPr lang="en-US" altLang="zh-CN" sz="2400" dirty="0" smtClean="0"/>
              <a:t>15/19</a:t>
            </a:r>
            <a:r>
              <a:rPr lang="zh-CN" altLang="en-US" sz="2400" dirty="0" smtClean="0"/>
              <a:t>＝</a:t>
            </a:r>
            <a:r>
              <a:rPr lang="en-US" altLang="zh-CN" sz="2400" dirty="0" smtClean="0"/>
              <a:t>0.79</a:t>
            </a:r>
            <a:r>
              <a:rPr lang="zh-CN" altLang="en-US" sz="2400" dirty="0" smtClean="0"/>
              <a:t>条</a:t>
            </a:r>
            <a:r>
              <a:rPr lang="en-US" altLang="zh-CN" sz="2400" dirty="0"/>
              <a:t>/</a:t>
            </a:r>
            <a:r>
              <a:rPr lang="zh-CN" altLang="en-US" sz="2400" dirty="0" smtClean="0"/>
              <a:t>拍</a:t>
            </a:r>
            <a:endParaRPr lang="zh-CN" altLang="en-US" sz="2400" dirty="0"/>
          </a:p>
          <a:p>
            <a:pPr>
              <a:lnSpc>
                <a:spcPct val="125000"/>
              </a:lnSpc>
            </a:pPr>
            <a:r>
              <a:rPr lang="zh-CN" altLang="en-US" sz="2400" dirty="0" smtClean="0">
                <a:solidFill>
                  <a:srgbClr val="FF0000"/>
                </a:solidFill>
              </a:rPr>
              <a:t>原因</a:t>
            </a:r>
            <a:r>
              <a:rPr lang="zh-CN" altLang="en-US" sz="2400" dirty="0" smtClean="0"/>
              <a:t>：浮点运算</a:t>
            </a:r>
            <a:r>
              <a:rPr lang="zh-CN" altLang="en-US" sz="2400" dirty="0"/>
              <a:t>少，</a:t>
            </a:r>
            <a:r>
              <a:rPr lang="en-US" altLang="zh-CN" sz="2400" dirty="0"/>
              <a:t>ALU</a:t>
            </a:r>
            <a:r>
              <a:rPr lang="zh-CN" altLang="en-US" sz="2400" dirty="0"/>
              <a:t>部件成了瓶颈。</a:t>
            </a:r>
            <a:endParaRPr lang="zh-CN" altLang="en-US" sz="2400" dirty="0"/>
          </a:p>
          <a:p>
            <a:pPr>
              <a:lnSpc>
                <a:spcPct val="125000"/>
              </a:lnSpc>
            </a:pPr>
            <a:r>
              <a:rPr lang="zh-CN" altLang="en-US" sz="2400" dirty="0" smtClean="0">
                <a:solidFill>
                  <a:srgbClr val="0000FF"/>
                </a:solidFill>
              </a:rPr>
              <a:t>解决</a:t>
            </a:r>
            <a:r>
              <a:rPr lang="zh-CN" altLang="en-US" sz="2400" dirty="0">
                <a:solidFill>
                  <a:srgbClr val="0000FF"/>
                </a:solidFill>
              </a:rPr>
              <a:t>方法</a:t>
            </a:r>
            <a:r>
              <a:rPr lang="zh-CN" altLang="en-US" sz="2400" dirty="0"/>
              <a:t>：增加一个加法器，把</a:t>
            </a:r>
            <a:r>
              <a:rPr lang="en-US" altLang="zh-CN" sz="2400" dirty="0"/>
              <a:t>ALU</a:t>
            </a:r>
            <a:r>
              <a:rPr lang="zh-CN" altLang="en-US" sz="2400" dirty="0"/>
              <a:t>功能和地址运算功能分开。 </a:t>
            </a:r>
            <a:endParaRPr lang="zh-CN" altLang="en-US" sz="2400"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None/>
            </a:pPr>
            <a:r>
              <a:rPr lang="zh-CN" altLang="en-US" sz="1200" b="0" dirty="0">
                <a:latin typeface="Times New Roman" panose="02020603050405020304" pitchFamily="18" charset="0"/>
                <a:ea typeface="幼圆" panose="02010509060101010101" pitchFamily="49" charset="-122"/>
                <a:hlinkClick r:id="rId1" action="ppaction://hlinksldjump"/>
              </a:rPr>
              <a:t>本章内容</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2" action="ppaction://hlinksldjump"/>
              </a:rPr>
              <a:t>多指令发射技术</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3" action="ppaction://hlinksldjump"/>
              </a:rPr>
              <a:t>超标量</a:t>
            </a:r>
            <a:r>
              <a:rPr lang="zh-CN" altLang="en-US" sz="1200" b="0" dirty="0" smtClean="0">
                <a:latin typeface="Times New Roman" panose="02020603050405020304" pitchFamily="18" charset="0"/>
                <a:ea typeface="幼圆" panose="02010509060101010101" pitchFamily="49" charset="-122"/>
                <a:hlinkClick r:id="rId3" action="ppaction://hlinksldjump"/>
              </a:rPr>
              <a:t>处理机</a:t>
            </a:r>
            <a:r>
              <a:rPr lang="en-US" altLang="zh-CN" sz="1200" b="0" dirty="0" smtClean="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4" action="ppaction://hlinksldjump"/>
              </a:rPr>
              <a:t>超标量处理机设计</a:t>
            </a:r>
            <a:endParaRPr lang="zh-CN" altLang="en-US" sz="1200" b="0" dirty="0">
              <a:latin typeface="Times New Roman" panose="02020603050405020304" pitchFamily="18" charset="0"/>
              <a:ea typeface="幼圆" panose="02010509060101010101"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7</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r>
              <a:rPr lang="zh-CN" altLang="en-US" dirty="0" smtClean="0"/>
              <a:t>分析</a:t>
            </a:r>
            <a:endParaRPr lang="en-US" altLang="zh-CN"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None/>
            </a:pPr>
            <a:r>
              <a:rPr lang="zh-CN" altLang="en-US" sz="1200" b="0" dirty="0">
                <a:latin typeface="Times New Roman" panose="02020603050405020304" pitchFamily="18" charset="0"/>
                <a:ea typeface="幼圆" panose="02010509060101010101" pitchFamily="49" charset="-122"/>
                <a:hlinkClick r:id="rId1" action="ppaction://hlinksldjump"/>
              </a:rPr>
              <a:t>本章内容</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2" action="ppaction://hlinksldjump"/>
              </a:rPr>
              <a:t>多指令发射技术</a:t>
            </a:r>
            <a:r>
              <a:rPr lang="zh-CN" altLang="en-US" sz="1200" b="0" dirty="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3" action="ppaction://hlinksldjump"/>
              </a:rPr>
              <a:t>超标量</a:t>
            </a:r>
            <a:r>
              <a:rPr lang="zh-CN" altLang="en-US" sz="1200" b="0" dirty="0" smtClean="0">
                <a:latin typeface="Times New Roman" panose="02020603050405020304" pitchFamily="18" charset="0"/>
                <a:ea typeface="幼圆" panose="02010509060101010101" pitchFamily="49" charset="-122"/>
                <a:hlinkClick r:id="rId3" action="ppaction://hlinksldjump"/>
              </a:rPr>
              <a:t>处理机</a:t>
            </a:r>
            <a:r>
              <a:rPr lang="en-US" altLang="zh-CN" sz="1200" b="0" dirty="0" smtClean="0">
                <a:latin typeface="Times New Roman" panose="02020603050405020304" pitchFamily="18" charset="0"/>
                <a:ea typeface="幼圆" panose="02010509060101010101" pitchFamily="49" charset="-122"/>
              </a:rPr>
              <a:t>&gt;&gt;</a:t>
            </a:r>
            <a:r>
              <a:rPr lang="zh-CN" altLang="en-US" sz="1200" b="0" dirty="0">
                <a:latin typeface="Times New Roman" panose="02020603050405020304" pitchFamily="18" charset="0"/>
                <a:ea typeface="幼圆" panose="02010509060101010101" pitchFamily="49" charset="-122"/>
                <a:hlinkClick r:id="rId4" action="ppaction://hlinksldjump"/>
              </a:rPr>
              <a:t>超标量处理机设计</a:t>
            </a:r>
            <a:endParaRPr lang="zh-CN" altLang="en-US" sz="1200" b="0" dirty="0">
              <a:latin typeface="Times New Roman" panose="02020603050405020304" pitchFamily="18" charset="0"/>
              <a:ea typeface="幼圆" panose="02010509060101010101"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8</a:t>
            </a:r>
            <a:endParaRPr lang="zh-CN" altLang="en-US" sz="1200" b="0" dirty="0">
              <a:latin typeface="幼圆" panose="02010509060101010101" pitchFamily="49" charset="-122"/>
              <a:ea typeface="幼圆" panose="02010509060101010101" pitchFamily="49" charset="-122"/>
            </a:endParaRPr>
          </a:p>
        </p:txBody>
      </p:sp>
      <p:sp>
        <p:nvSpPr>
          <p:cNvPr id="2" name="内容占位符 1"/>
          <p:cNvSpPr>
            <a:spLocks noGrp="1"/>
          </p:cNvSpPr>
          <p:nvPr>
            <p:ph idx="1"/>
          </p:nvPr>
        </p:nvSpPr>
        <p:spPr/>
        <p:txBody>
          <a:bodyPr/>
          <a:lstStyle/>
          <a:p>
            <a:pPr>
              <a:lnSpc>
                <a:spcPct val="110000"/>
              </a:lnSpc>
            </a:pPr>
            <a:r>
              <a:rPr lang="zh-CN" altLang="en-US" sz="2200" dirty="0"/>
              <a:t>上述</a:t>
            </a:r>
            <a:r>
              <a:rPr lang="zh-CN" altLang="en-US" sz="2200" dirty="0" smtClean="0"/>
              <a:t>双发射动态调度</a:t>
            </a:r>
            <a:r>
              <a:rPr lang="zh-CN" altLang="en-US" sz="2200" dirty="0"/>
              <a:t>流水线的性能受</a:t>
            </a:r>
            <a:r>
              <a:rPr lang="zh-CN" altLang="en-US" sz="2200" dirty="0" smtClean="0"/>
              <a:t>限于：</a:t>
            </a:r>
            <a:endParaRPr lang="zh-CN" altLang="en-US" sz="2200" dirty="0"/>
          </a:p>
          <a:p>
            <a:pPr lvl="1">
              <a:lnSpc>
                <a:spcPct val="110000"/>
              </a:lnSpc>
            </a:pPr>
            <a:r>
              <a:rPr lang="zh-CN" altLang="en-US" sz="2200" dirty="0"/>
              <a:t>整数部件和浮点部件的工作负载不平衡，没有充分发挥出浮点部件的</a:t>
            </a:r>
            <a:r>
              <a:rPr lang="zh-CN" altLang="en-US" sz="2200" dirty="0" smtClean="0"/>
              <a:t>作用</a:t>
            </a:r>
            <a:endParaRPr lang="zh-CN" altLang="en-US" sz="2200" dirty="0"/>
          </a:p>
          <a:p>
            <a:pPr lvl="2">
              <a:lnSpc>
                <a:spcPct val="110000"/>
              </a:lnSpc>
            </a:pPr>
            <a:r>
              <a:rPr lang="zh-CN" altLang="en-US" sz="2200" dirty="0" smtClean="0">
                <a:solidFill>
                  <a:srgbClr val="0000FF"/>
                </a:solidFill>
              </a:rPr>
              <a:t>解决方法</a:t>
            </a:r>
            <a:r>
              <a:rPr lang="zh-CN" altLang="en-US" sz="2200" dirty="0" smtClean="0"/>
              <a:t>：应该</a:t>
            </a:r>
            <a:r>
              <a:rPr lang="zh-CN" altLang="en-US" sz="2200" dirty="0"/>
              <a:t>设法减少循环中整数型指令的</a:t>
            </a:r>
            <a:r>
              <a:rPr lang="zh-CN" altLang="en-US" sz="2200" dirty="0" smtClean="0"/>
              <a:t>数量</a:t>
            </a:r>
            <a:endParaRPr lang="zh-CN" altLang="en-US" sz="2200" dirty="0"/>
          </a:p>
          <a:p>
            <a:pPr lvl="1">
              <a:lnSpc>
                <a:spcPct val="110000"/>
              </a:lnSpc>
            </a:pPr>
            <a:r>
              <a:rPr lang="zh-CN" altLang="en-US" sz="2200" dirty="0"/>
              <a:t>每个循环叠代中的控制开销太</a:t>
            </a:r>
            <a:r>
              <a:rPr lang="zh-CN" altLang="en-US" sz="2200" dirty="0" smtClean="0"/>
              <a:t>大</a:t>
            </a:r>
            <a:endParaRPr lang="zh-CN" altLang="en-US" sz="2200" dirty="0"/>
          </a:p>
          <a:p>
            <a:pPr lvl="2">
              <a:lnSpc>
                <a:spcPct val="110000"/>
              </a:lnSpc>
            </a:pPr>
            <a:r>
              <a:rPr lang="en-US" altLang="zh-CN" sz="2200" dirty="0"/>
              <a:t>5</a:t>
            </a:r>
            <a:r>
              <a:rPr lang="zh-CN" altLang="en-US" sz="2200" dirty="0"/>
              <a:t>条指令中</a:t>
            </a:r>
            <a:r>
              <a:rPr lang="zh-CN" altLang="en-US" sz="2200" dirty="0" smtClean="0"/>
              <a:t>有</a:t>
            </a:r>
            <a:r>
              <a:rPr lang="en-US" altLang="zh-CN" sz="2200" dirty="0" smtClean="0"/>
              <a:t>2</a:t>
            </a:r>
            <a:r>
              <a:rPr lang="zh-CN" altLang="en-US" sz="2200" dirty="0" smtClean="0"/>
              <a:t>条</a:t>
            </a:r>
            <a:r>
              <a:rPr lang="zh-CN" altLang="en-US" sz="2200" dirty="0"/>
              <a:t>指令是辅助</a:t>
            </a:r>
            <a:r>
              <a:rPr lang="zh-CN" altLang="en-US" sz="2200" dirty="0" smtClean="0"/>
              <a:t>指令</a:t>
            </a:r>
            <a:endParaRPr lang="zh-CN" altLang="en-US" sz="2200" dirty="0"/>
          </a:p>
          <a:p>
            <a:pPr lvl="2">
              <a:lnSpc>
                <a:spcPct val="110000"/>
              </a:lnSpc>
            </a:pPr>
            <a:r>
              <a:rPr lang="zh-CN" altLang="en-US" sz="2200" dirty="0">
                <a:solidFill>
                  <a:srgbClr val="0000FF"/>
                </a:solidFill>
              </a:rPr>
              <a:t>解决方法</a:t>
            </a:r>
            <a:r>
              <a:rPr lang="zh-CN" altLang="en-US" sz="2200" dirty="0"/>
              <a:t>：</a:t>
            </a:r>
            <a:r>
              <a:rPr lang="zh-CN" altLang="en-US" sz="2200" dirty="0" smtClean="0"/>
              <a:t>应该</a:t>
            </a:r>
            <a:r>
              <a:rPr lang="zh-CN" altLang="en-US" sz="2200" dirty="0"/>
              <a:t>设法减少或消除这些</a:t>
            </a:r>
            <a:r>
              <a:rPr lang="zh-CN" altLang="en-US" sz="2200" dirty="0" smtClean="0"/>
              <a:t>指令</a:t>
            </a:r>
            <a:endParaRPr lang="zh-CN" altLang="en-US" sz="2200" dirty="0"/>
          </a:p>
          <a:p>
            <a:pPr lvl="1">
              <a:lnSpc>
                <a:spcPct val="110000"/>
              </a:lnSpc>
            </a:pPr>
            <a:r>
              <a:rPr lang="zh-CN" altLang="en-US" sz="2200" dirty="0"/>
              <a:t>控制相关使得处理机必须等到分支指令的结果出来后才能开始下一条</a:t>
            </a:r>
            <a:r>
              <a:rPr lang="en-US" altLang="zh-CN" sz="2200" dirty="0"/>
              <a:t>L.D</a:t>
            </a:r>
            <a:r>
              <a:rPr lang="zh-CN" altLang="en-US" sz="2200" dirty="0"/>
              <a:t>指令的</a:t>
            </a:r>
            <a:r>
              <a:rPr lang="zh-CN" altLang="en-US" sz="2200" dirty="0" smtClean="0"/>
              <a:t>执行</a:t>
            </a:r>
            <a:endParaRPr lang="en-US" altLang="zh-CN" sz="2200" dirty="0" smtClean="0"/>
          </a:p>
          <a:p>
            <a:pPr lvl="2">
              <a:lnSpc>
                <a:spcPct val="110000"/>
              </a:lnSpc>
            </a:pPr>
            <a:r>
              <a:rPr lang="zh-CN" altLang="en-US" sz="2200" dirty="0">
                <a:solidFill>
                  <a:srgbClr val="0000FF"/>
                </a:solidFill>
              </a:rPr>
              <a:t>解决方法</a:t>
            </a:r>
            <a:r>
              <a:rPr lang="zh-CN" altLang="en-US" sz="2200" dirty="0" smtClean="0"/>
              <a:t>：前瞻执行 </a:t>
            </a:r>
            <a:endParaRPr lang="zh-CN" altLang="en-US" sz="2200" dirty="0"/>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924" name="Rectangle 4"/>
          <p:cNvSpPr>
            <a:spLocks noGrp="1" noChangeArrowheads="1"/>
          </p:cNvSpPr>
          <p:nvPr>
            <p:ph type="title"/>
          </p:nvPr>
        </p:nvSpPr>
        <p:spPr/>
        <p:txBody>
          <a:bodyPr/>
          <a:lstStyle/>
          <a:p>
            <a:pPr eaLnBrk="1" hangingPunct="1">
              <a:defRPr/>
            </a:pPr>
            <a:r>
              <a:rPr lang="zh-CN" altLang="en-US" smtClean="0"/>
              <a:t>资源冲突</a:t>
            </a:r>
            <a:endParaRPr lang="zh-CN" altLang="en-US" smtClean="0"/>
          </a:p>
        </p:txBody>
      </p:sp>
      <p:sp>
        <p:nvSpPr>
          <p:cNvPr id="721925" name="Rectangle 5"/>
          <p:cNvSpPr>
            <a:spLocks noGrp="1" noChangeArrowheads="1"/>
          </p:cNvSpPr>
          <p:nvPr>
            <p:ph type="body" idx="1"/>
          </p:nvPr>
        </p:nvSpPr>
        <p:spPr/>
        <p:txBody>
          <a:bodyPr/>
          <a:lstStyle/>
          <a:p>
            <a:pPr marL="0" indent="0" eaLnBrk="1" hangingPunct="1">
              <a:lnSpc>
                <a:spcPct val="150000"/>
              </a:lnSpc>
              <a:buFont typeface="Wingdings" panose="05000000000000000000" pitchFamily="2" charset="2"/>
              <a:buNone/>
              <a:defRPr/>
            </a:pPr>
            <a:r>
              <a:rPr lang="zh-CN" altLang="en-US" sz="2800" dirty="0" smtClean="0"/>
              <a:t>       </a:t>
            </a:r>
            <a:r>
              <a:rPr lang="zh-CN" altLang="en-US" sz="2800" dirty="0" smtClean="0"/>
              <a:t>如果执行部件</a:t>
            </a:r>
            <a:r>
              <a:rPr lang="zh-CN" altLang="en-US" sz="2800" dirty="0" smtClean="0"/>
              <a:t>采用流水线结构，发生资源冲突的可能性很小；如果不采用流水线结构，发生资源冲突的可能性就比较大。</a:t>
            </a:r>
            <a:r>
              <a:rPr lang="zh-CN" altLang="en-US" sz="2800" dirty="0" smtClean="0">
                <a:solidFill>
                  <a:srgbClr val="FF0000"/>
                </a:solidFill>
                <a:effectLst>
                  <a:outerShdw blurRad="38100" dist="38100" dir="2700000" algn="tl">
                    <a:srgbClr val="C0C0C0"/>
                  </a:outerShdw>
                </a:effectLst>
              </a:rPr>
              <a:t>因此，在超标量处理机中</a:t>
            </a:r>
            <a:r>
              <a:rPr lang="zh-CN" altLang="en-US" sz="2800" dirty="0" smtClean="0">
                <a:solidFill>
                  <a:srgbClr val="FF0000"/>
                </a:solidFill>
                <a:effectLst>
                  <a:outerShdw blurRad="38100" dist="38100" dir="2700000" algn="tl">
                    <a:srgbClr val="C0C0C0"/>
                  </a:outerShdw>
                </a:effectLst>
              </a:rPr>
              <a:t>，执行部件</a:t>
            </a:r>
            <a:r>
              <a:rPr lang="zh-CN" altLang="en-US" sz="2800" dirty="0" smtClean="0">
                <a:solidFill>
                  <a:srgbClr val="FF0000"/>
                </a:solidFill>
                <a:effectLst>
                  <a:outerShdw blurRad="38100" dist="38100" dir="2700000" algn="tl">
                    <a:srgbClr val="C0C0C0"/>
                  </a:outerShdw>
                </a:effectLst>
              </a:rPr>
              <a:t>一般要采用流水线结构。</a:t>
            </a:r>
            <a:r>
              <a:rPr lang="zh-CN" altLang="en-US" sz="2800" dirty="0" smtClean="0"/>
              <a:t>如果由于某种原因</a:t>
            </a:r>
            <a:r>
              <a:rPr lang="zh-CN" altLang="en-US" sz="2800" dirty="0" smtClean="0"/>
              <a:t>，执行部件</a:t>
            </a:r>
            <a:r>
              <a:rPr lang="zh-CN" altLang="en-US" sz="2800" dirty="0" smtClean="0"/>
              <a:t>不能采用流水线结构，则必须设置多个相同种类</a:t>
            </a:r>
            <a:r>
              <a:rPr lang="zh-CN" altLang="en-US" sz="2800" dirty="0" smtClean="0"/>
              <a:t>的执行部件</a:t>
            </a:r>
            <a:r>
              <a:rPr lang="zh-CN" altLang="en-US" sz="2800" dirty="0" smtClean="0"/>
              <a:t>。</a:t>
            </a:r>
            <a:endParaRPr lang="zh-CN" altLang="en-US" sz="2800" dirty="0" smtClean="0"/>
          </a:p>
        </p:txBody>
      </p:sp>
      <p:sp>
        <p:nvSpPr>
          <p:cNvPr id="247812"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endParaRPr lang="zh-CN" altLang="en-US" sz="1200" b="0">
              <a:latin typeface="Times New Roman" panose="02020603050405020304" pitchFamily="18" charset="0"/>
              <a:ea typeface="幼圆" panose="02010509060101010101" pitchFamily="49" charset="-122"/>
            </a:endParaRPr>
          </a:p>
        </p:txBody>
      </p:sp>
      <p:sp>
        <p:nvSpPr>
          <p:cNvPr id="247813"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4690" name="Rectangle 2"/>
          <p:cNvSpPr>
            <a:spLocks noGrp="1" noChangeArrowheads="1"/>
          </p:cNvSpPr>
          <p:nvPr>
            <p:ph type="title"/>
          </p:nvPr>
        </p:nvSpPr>
        <p:spPr/>
        <p:txBody>
          <a:bodyPr/>
          <a:lstStyle/>
          <a:p>
            <a:pPr eaLnBrk="1" hangingPunct="1">
              <a:defRPr/>
            </a:pPr>
            <a:r>
              <a:rPr lang="zh-CN" altLang="en-US" dirty="0" smtClean="0"/>
              <a:t>执行部件</a:t>
            </a:r>
            <a:r>
              <a:rPr lang="zh-CN" altLang="en-US" dirty="0" smtClean="0"/>
              <a:t>不采用流水</a:t>
            </a:r>
            <a:endParaRPr lang="zh-CN" altLang="en-US" dirty="0" smtClean="0"/>
          </a:p>
        </p:txBody>
      </p:sp>
      <p:sp>
        <p:nvSpPr>
          <p:cNvPr id="248835"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endParaRPr lang="zh-CN" altLang="en-US" sz="1200" b="0">
              <a:latin typeface="Times New Roman" panose="02020603050405020304" pitchFamily="18" charset="0"/>
              <a:ea typeface="幼圆" panose="02010509060101010101" pitchFamily="49" charset="-122"/>
            </a:endParaRPr>
          </a:p>
        </p:txBody>
      </p:sp>
      <p:graphicFrame>
        <p:nvGraphicFramePr>
          <p:cNvPr id="754796" name="Group 108"/>
          <p:cNvGraphicFramePr>
            <a:graphicFrameLocks noGrp="1"/>
          </p:cNvGraphicFramePr>
          <p:nvPr/>
        </p:nvGraphicFramePr>
        <p:xfrm>
          <a:off x="1295400" y="1989138"/>
          <a:ext cx="7391400" cy="1776413"/>
        </p:xfrm>
        <a:graphic>
          <a:graphicData uri="http://schemas.openxmlformats.org/drawingml/2006/table">
            <a:tbl>
              <a:tblPr/>
              <a:tblGrid>
                <a:gridCol w="730250"/>
                <a:gridCol w="1311275"/>
                <a:gridCol w="782638"/>
                <a:gridCol w="1006475"/>
                <a:gridCol w="3560762"/>
              </a:tblGrid>
              <a:tr h="411163">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I1:</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w="57150" cap="flat" cmpd="sng" algn="ctr">
                      <a:solidFill>
                        <a:schemeClr val="tx1"/>
                      </a:solidFill>
                      <a:prstDash val="solid"/>
                      <a:round/>
                      <a:headEnd type="none" w="med" len="med"/>
                      <a:tailEnd type="none" w="med" len="med"/>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FADD</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R0,</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R1</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;R0←(R0)+(R1)</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w="571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r>
              <a:tr h="412750">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I2:</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FMUL</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R2,</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R3</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 ;</a:t>
                      </a: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R2←(R2)×(R3)</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95300">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I3:</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FADD</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R4,</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R5</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a:t>
                      </a: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R4←(R4)+(R5)</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57200">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I4:</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w="57150" cap="flat" cmpd="sng" algn="ctr">
                      <a:solidFill>
                        <a:schemeClr val="tx1"/>
                      </a:solidFill>
                      <a:prstDash val="solid"/>
                      <a:round/>
                      <a:headEnd type="none" w="med" len="med"/>
                      <a:tailEnd type="none" w="med" len="med"/>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FMUL</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R6,</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R7</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 ;</a:t>
                      </a: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R6←(R6)×(R7)</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8000" marB="18000" anchor="ctr" anchorCtr="1" horzOverflow="overflow">
                    <a:lnL>
                      <a:noFill/>
                    </a:lnL>
                    <a:lnR w="57150" cap="flat" cmpd="sng" algn="ctr">
                      <a:solidFill>
                        <a:schemeClr val="tx1"/>
                      </a:solidFill>
                      <a:prstDash val="solid"/>
                      <a:round/>
                      <a:headEnd type="none" w="med" len="med"/>
                      <a:tailEnd type="none" w="med" len="med"/>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graphicFrame>
        <p:nvGraphicFramePr>
          <p:cNvPr id="754903" name="Group 215"/>
          <p:cNvGraphicFramePr>
            <a:graphicFrameLocks noGrp="1"/>
          </p:cNvGraphicFramePr>
          <p:nvPr/>
        </p:nvGraphicFramePr>
        <p:xfrm>
          <a:off x="1752600" y="4267200"/>
          <a:ext cx="6934200" cy="1854200"/>
        </p:xfrm>
        <a:graphic>
          <a:graphicData uri="http://schemas.openxmlformats.org/drawingml/2006/table">
            <a:tbl>
              <a:tblPr/>
              <a:tblGrid>
                <a:gridCol w="630238"/>
                <a:gridCol w="630237"/>
                <a:gridCol w="630238"/>
                <a:gridCol w="1260475"/>
                <a:gridCol w="631825"/>
                <a:gridCol w="630237"/>
                <a:gridCol w="630238"/>
                <a:gridCol w="630237"/>
                <a:gridCol w="630238"/>
                <a:gridCol w="630237"/>
              </a:tblGrid>
              <a:tr h="4699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dirty="0" smtClean="0">
                          <a:ln>
                            <a:noFill/>
                          </a:ln>
                          <a:solidFill>
                            <a:schemeClr val="tx1"/>
                          </a:solidFill>
                          <a:effectLst/>
                          <a:latin typeface="Arial" panose="020B0604020202020204" pitchFamily="34" charset="0"/>
                          <a:ea typeface="楷体_GB2312" pitchFamily="49" charset="-122"/>
                        </a:rPr>
                        <a:t>IF1</a:t>
                      </a:r>
                      <a:endParaRPr kumimoji="1" lang="en-US" altLang="zh-CN" sz="2000" b="1"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dirty="0" smtClean="0">
                          <a:ln>
                            <a:noFill/>
                          </a:ln>
                          <a:solidFill>
                            <a:schemeClr val="tx1"/>
                          </a:solidFill>
                          <a:effectLst/>
                          <a:latin typeface="Arial" panose="020B0604020202020204" pitchFamily="34" charset="0"/>
                          <a:ea typeface="楷体_GB2312" pitchFamily="49" charset="-122"/>
                        </a:rPr>
                        <a:t>ID1</a:t>
                      </a:r>
                      <a:endParaRPr kumimoji="1" lang="en-US" altLang="zh-CN" sz="2000" b="1"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FADD</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WR1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cap="flat">
                      <a:noFill/>
                    </a:lnR>
                    <a:lnT cap="flat">
                      <a:noFill/>
                    </a:lnT>
                    <a:lnB>
                      <a:noFill/>
                    </a:lnB>
                    <a:lnTlToBr>
                      <a:noFill/>
                    </a:lnTlToBr>
                    <a:lnBlToTr>
                      <a:noFill/>
                    </a:lnBlToTr>
                    <a:noFill/>
                  </a:tcPr>
                </a:tc>
              </a:tr>
              <a:tr h="4445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IF2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ID2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FMUL</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WR2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cap="flat">
                      <a:noFill/>
                    </a:lnR>
                    <a:lnT>
                      <a:noFill/>
                    </a:lnT>
                    <a:lnB>
                      <a:noFill/>
                    </a:lnB>
                    <a:lnTlToBr>
                      <a:noFill/>
                    </a:lnTlToBr>
                    <a:lnBlToTr>
                      <a:noFill/>
                    </a:lnBlToTr>
                    <a:noFill/>
                  </a:tcPr>
                </a:tc>
              </a:tr>
              <a:tr h="4699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IF1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ID1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gridSpan="3">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FADD</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WR1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tr>
              <a:tr h="4699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IF2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ID2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cPr/>
                </a:tc>
                <a:tc gridSpan="4">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FMUL</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hMerge="1">
                  <a:tcPr/>
                </a:tc>
                <a:tc hMerge="1">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WR2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48911" name="Line 94"/>
          <p:cNvSpPr>
            <a:spLocks noChangeShapeType="1"/>
          </p:cNvSpPr>
          <p:nvPr/>
        </p:nvSpPr>
        <p:spPr bwMode="auto">
          <a:xfrm>
            <a:off x="1447800" y="4267200"/>
            <a:ext cx="7391400"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8912" name="Line 95"/>
          <p:cNvSpPr>
            <a:spLocks noChangeShapeType="1"/>
          </p:cNvSpPr>
          <p:nvPr/>
        </p:nvSpPr>
        <p:spPr bwMode="auto">
          <a:xfrm>
            <a:off x="1447800" y="4267200"/>
            <a:ext cx="0" cy="213360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8913" name="Text Box 96"/>
          <p:cNvSpPr txBox="1">
            <a:spLocks noChangeArrowheads="1"/>
          </p:cNvSpPr>
          <p:nvPr/>
        </p:nvSpPr>
        <p:spPr bwMode="auto">
          <a:xfrm>
            <a:off x="609600" y="434340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1800">
                <a:latin typeface="楷体_GB2312" pitchFamily="49" charset="-122"/>
              </a:rPr>
              <a:t>流水线1</a:t>
            </a:r>
            <a:endParaRPr lang="zh-CN" altLang="en-US" sz="1800" baseline="-25000">
              <a:latin typeface="楷体_GB2312" pitchFamily="49" charset="-122"/>
            </a:endParaRPr>
          </a:p>
        </p:txBody>
      </p:sp>
      <p:sp>
        <p:nvSpPr>
          <p:cNvPr id="248914" name="Text Box 97"/>
          <p:cNvSpPr txBox="1">
            <a:spLocks noChangeArrowheads="1"/>
          </p:cNvSpPr>
          <p:nvPr/>
        </p:nvSpPr>
        <p:spPr bwMode="auto">
          <a:xfrm>
            <a:off x="609600" y="487680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1800">
                <a:latin typeface="楷体_GB2312" pitchFamily="49" charset="-122"/>
              </a:rPr>
              <a:t>流水线2</a:t>
            </a:r>
            <a:endParaRPr lang="zh-CN" altLang="en-US" sz="1800" baseline="-25000">
              <a:latin typeface="楷体_GB2312" pitchFamily="49" charset="-122"/>
            </a:endParaRPr>
          </a:p>
        </p:txBody>
      </p:sp>
      <p:sp>
        <p:nvSpPr>
          <p:cNvPr id="248915" name="Text Box 98"/>
          <p:cNvSpPr txBox="1">
            <a:spLocks noChangeArrowheads="1"/>
          </p:cNvSpPr>
          <p:nvPr/>
        </p:nvSpPr>
        <p:spPr bwMode="auto">
          <a:xfrm>
            <a:off x="1524000" y="42672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solidFill>
                  <a:srgbClr val="FF0000"/>
                </a:solidFill>
                <a:latin typeface="Times New Roman" panose="02020603050405020304" pitchFamily="18" charset="0"/>
              </a:rPr>
              <a:t>I</a:t>
            </a:r>
            <a:r>
              <a:rPr lang="en-US" altLang="zh-CN" sz="2000" baseline="-25000">
                <a:solidFill>
                  <a:srgbClr val="FF0000"/>
                </a:solidFill>
                <a:latin typeface="Times New Roman" panose="02020603050405020304" pitchFamily="18" charset="0"/>
              </a:rPr>
              <a:t>1</a:t>
            </a:r>
            <a:endParaRPr lang="en-US" altLang="zh-CN" sz="2000" baseline="-25000">
              <a:solidFill>
                <a:srgbClr val="FF0000"/>
              </a:solidFill>
              <a:latin typeface="Times New Roman" panose="02020603050405020304" pitchFamily="18" charset="0"/>
            </a:endParaRPr>
          </a:p>
        </p:txBody>
      </p:sp>
      <p:sp>
        <p:nvSpPr>
          <p:cNvPr id="248916" name="Text Box 99"/>
          <p:cNvSpPr txBox="1">
            <a:spLocks noChangeArrowheads="1"/>
          </p:cNvSpPr>
          <p:nvPr/>
        </p:nvSpPr>
        <p:spPr bwMode="auto">
          <a:xfrm>
            <a:off x="1524000" y="48006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solidFill>
                  <a:srgbClr val="FF0000"/>
                </a:solidFill>
                <a:latin typeface="Times New Roman" panose="02020603050405020304" pitchFamily="18" charset="0"/>
              </a:rPr>
              <a:t>I</a:t>
            </a:r>
            <a:r>
              <a:rPr lang="en-US" altLang="zh-CN" sz="2000" baseline="-25000">
                <a:solidFill>
                  <a:srgbClr val="FF0000"/>
                </a:solidFill>
                <a:latin typeface="Times New Roman" panose="02020603050405020304" pitchFamily="18" charset="0"/>
              </a:rPr>
              <a:t>2</a:t>
            </a:r>
            <a:endParaRPr lang="en-US" altLang="zh-CN" sz="2000" baseline="-25000">
              <a:solidFill>
                <a:srgbClr val="FF0000"/>
              </a:solidFill>
              <a:latin typeface="Times New Roman" panose="02020603050405020304" pitchFamily="18" charset="0"/>
            </a:endParaRPr>
          </a:p>
        </p:txBody>
      </p:sp>
      <p:sp>
        <p:nvSpPr>
          <p:cNvPr id="248917" name="Text Box 100"/>
          <p:cNvSpPr txBox="1">
            <a:spLocks noChangeArrowheads="1"/>
          </p:cNvSpPr>
          <p:nvPr/>
        </p:nvSpPr>
        <p:spPr bwMode="auto">
          <a:xfrm>
            <a:off x="838200" y="5943600"/>
            <a:ext cx="5334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1800">
                <a:latin typeface="楷体_GB2312" pitchFamily="49" charset="-122"/>
              </a:rPr>
              <a:t>指令</a:t>
            </a:r>
            <a:endParaRPr lang="zh-CN" altLang="en-US" sz="1800" baseline="-25000">
              <a:latin typeface="楷体_GB2312" pitchFamily="49" charset="-122"/>
            </a:endParaRPr>
          </a:p>
        </p:txBody>
      </p:sp>
      <p:sp>
        <p:nvSpPr>
          <p:cNvPr id="248918" name="Text Box 214"/>
          <p:cNvSpPr txBox="1">
            <a:spLocks noChangeArrowheads="1"/>
          </p:cNvSpPr>
          <p:nvPr/>
        </p:nvSpPr>
        <p:spPr bwMode="auto">
          <a:xfrm>
            <a:off x="7848600" y="4343400"/>
            <a:ext cx="10668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1800">
                <a:latin typeface="楷体_GB2312" pitchFamily="49" charset="-122"/>
              </a:rPr>
              <a:t>时钟周期</a:t>
            </a:r>
            <a:endParaRPr lang="zh-CN" altLang="en-US" sz="1800" baseline="-25000">
              <a:latin typeface="楷体_GB2312" pitchFamily="49" charset="-122"/>
            </a:endParaRPr>
          </a:p>
        </p:txBody>
      </p:sp>
      <p:sp>
        <p:nvSpPr>
          <p:cNvPr id="248919" name="Text Box 216"/>
          <p:cNvSpPr txBox="1">
            <a:spLocks noChangeArrowheads="1"/>
          </p:cNvSpPr>
          <p:nvPr/>
        </p:nvSpPr>
        <p:spPr bwMode="auto">
          <a:xfrm>
            <a:off x="2133600" y="52578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solidFill>
                  <a:srgbClr val="FF0000"/>
                </a:solidFill>
                <a:latin typeface="Times New Roman" panose="02020603050405020304" pitchFamily="18" charset="0"/>
              </a:rPr>
              <a:t>I</a:t>
            </a:r>
            <a:r>
              <a:rPr lang="en-US" altLang="zh-CN" sz="2000" baseline="-25000">
                <a:solidFill>
                  <a:srgbClr val="FF0000"/>
                </a:solidFill>
                <a:latin typeface="Times New Roman" panose="02020603050405020304" pitchFamily="18" charset="0"/>
              </a:rPr>
              <a:t>3</a:t>
            </a:r>
            <a:endParaRPr lang="en-US" altLang="zh-CN" sz="2000" baseline="-25000">
              <a:solidFill>
                <a:srgbClr val="FF0000"/>
              </a:solidFill>
              <a:latin typeface="Times New Roman" panose="02020603050405020304" pitchFamily="18" charset="0"/>
            </a:endParaRPr>
          </a:p>
        </p:txBody>
      </p:sp>
      <p:sp>
        <p:nvSpPr>
          <p:cNvPr id="248920" name="Text Box 217"/>
          <p:cNvSpPr txBox="1">
            <a:spLocks noChangeArrowheads="1"/>
          </p:cNvSpPr>
          <p:nvPr/>
        </p:nvSpPr>
        <p:spPr bwMode="auto">
          <a:xfrm>
            <a:off x="2133600" y="57150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solidFill>
                  <a:srgbClr val="FF0000"/>
                </a:solidFill>
                <a:latin typeface="Times New Roman" panose="02020603050405020304" pitchFamily="18" charset="0"/>
              </a:rPr>
              <a:t>I</a:t>
            </a:r>
            <a:r>
              <a:rPr lang="en-US" altLang="zh-CN" sz="2000" baseline="-25000">
                <a:solidFill>
                  <a:srgbClr val="FF0000"/>
                </a:solidFill>
                <a:latin typeface="Times New Roman" panose="02020603050405020304" pitchFamily="18" charset="0"/>
              </a:rPr>
              <a:t>4</a:t>
            </a:r>
            <a:endParaRPr lang="en-US" altLang="zh-CN" sz="2000" baseline="-25000">
              <a:solidFill>
                <a:srgbClr val="FF0000"/>
              </a:solidFill>
              <a:latin typeface="Times New Roman" panose="02020603050405020304" pitchFamily="18" charset="0"/>
            </a:endParaRPr>
          </a:p>
        </p:txBody>
      </p:sp>
      <p:sp>
        <p:nvSpPr>
          <p:cNvPr id="248921" name="Text Box 218"/>
          <p:cNvSpPr txBox="1">
            <a:spLocks noChangeArrowheads="1"/>
          </p:cNvSpPr>
          <p:nvPr/>
        </p:nvSpPr>
        <p:spPr bwMode="auto">
          <a:xfrm>
            <a:off x="19812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1</a:t>
            </a:r>
            <a:endParaRPr lang="en-US" altLang="zh-CN" sz="2000" baseline="-25000">
              <a:latin typeface="Times New Roman" panose="02020603050405020304" pitchFamily="18" charset="0"/>
            </a:endParaRPr>
          </a:p>
        </p:txBody>
      </p:sp>
      <p:sp>
        <p:nvSpPr>
          <p:cNvPr id="248922" name="Text Box 219"/>
          <p:cNvSpPr txBox="1">
            <a:spLocks noChangeArrowheads="1"/>
          </p:cNvSpPr>
          <p:nvPr/>
        </p:nvSpPr>
        <p:spPr bwMode="auto">
          <a:xfrm>
            <a:off x="25908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2</a:t>
            </a:r>
            <a:endParaRPr lang="en-US" altLang="zh-CN" sz="2000" baseline="-25000">
              <a:latin typeface="Times New Roman" panose="02020603050405020304" pitchFamily="18" charset="0"/>
            </a:endParaRPr>
          </a:p>
        </p:txBody>
      </p:sp>
      <p:sp>
        <p:nvSpPr>
          <p:cNvPr id="248923" name="Text Box 220"/>
          <p:cNvSpPr txBox="1">
            <a:spLocks noChangeArrowheads="1"/>
          </p:cNvSpPr>
          <p:nvPr/>
        </p:nvSpPr>
        <p:spPr bwMode="auto">
          <a:xfrm>
            <a:off x="32004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3</a:t>
            </a:r>
            <a:endParaRPr lang="en-US" altLang="zh-CN" sz="2000" baseline="-25000">
              <a:latin typeface="Times New Roman" panose="02020603050405020304" pitchFamily="18" charset="0"/>
            </a:endParaRPr>
          </a:p>
        </p:txBody>
      </p:sp>
      <p:sp>
        <p:nvSpPr>
          <p:cNvPr id="248924" name="Text Box 221"/>
          <p:cNvSpPr txBox="1">
            <a:spLocks noChangeArrowheads="1"/>
          </p:cNvSpPr>
          <p:nvPr/>
        </p:nvSpPr>
        <p:spPr bwMode="auto">
          <a:xfrm>
            <a:off x="38100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4</a:t>
            </a:r>
            <a:endParaRPr lang="en-US" altLang="zh-CN" sz="2000" baseline="-25000">
              <a:latin typeface="Times New Roman" panose="02020603050405020304" pitchFamily="18" charset="0"/>
            </a:endParaRPr>
          </a:p>
        </p:txBody>
      </p:sp>
      <p:sp>
        <p:nvSpPr>
          <p:cNvPr id="248925" name="Text Box 222"/>
          <p:cNvSpPr txBox="1">
            <a:spLocks noChangeArrowheads="1"/>
          </p:cNvSpPr>
          <p:nvPr/>
        </p:nvSpPr>
        <p:spPr bwMode="auto">
          <a:xfrm>
            <a:off x="44196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5</a:t>
            </a:r>
            <a:endParaRPr lang="en-US" altLang="zh-CN" sz="2000" baseline="-25000">
              <a:latin typeface="Times New Roman" panose="02020603050405020304" pitchFamily="18" charset="0"/>
            </a:endParaRPr>
          </a:p>
        </p:txBody>
      </p:sp>
      <p:sp>
        <p:nvSpPr>
          <p:cNvPr id="248926" name="Text Box 223"/>
          <p:cNvSpPr txBox="1">
            <a:spLocks noChangeArrowheads="1"/>
          </p:cNvSpPr>
          <p:nvPr/>
        </p:nvSpPr>
        <p:spPr bwMode="auto">
          <a:xfrm>
            <a:off x="51054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6</a:t>
            </a:r>
            <a:endParaRPr lang="en-US" altLang="zh-CN" sz="2000" baseline="-25000">
              <a:latin typeface="Times New Roman" panose="02020603050405020304" pitchFamily="18" charset="0"/>
            </a:endParaRPr>
          </a:p>
        </p:txBody>
      </p:sp>
      <p:sp>
        <p:nvSpPr>
          <p:cNvPr id="248927" name="Text Box 224"/>
          <p:cNvSpPr txBox="1">
            <a:spLocks noChangeArrowheads="1"/>
          </p:cNvSpPr>
          <p:nvPr/>
        </p:nvSpPr>
        <p:spPr bwMode="auto">
          <a:xfrm>
            <a:off x="57150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7</a:t>
            </a:r>
            <a:endParaRPr lang="en-US" altLang="zh-CN" sz="2000" baseline="-25000">
              <a:latin typeface="Times New Roman" panose="02020603050405020304" pitchFamily="18" charset="0"/>
            </a:endParaRPr>
          </a:p>
        </p:txBody>
      </p:sp>
      <p:sp>
        <p:nvSpPr>
          <p:cNvPr id="248928" name="Text Box 225"/>
          <p:cNvSpPr txBox="1">
            <a:spLocks noChangeArrowheads="1"/>
          </p:cNvSpPr>
          <p:nvPr/>
        </p:nvSpPr>
        <p:spPr bwMode="auto">
          <a:xfrm>
            <a:off x="64008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8</a:t>
            </a:r>
            <a:endParaRPr lang="en-US" altLang="zh-CN" sz="2000" baseline="-25000">
              <a:latin typeface="Times New Roman" panose="02020603050405020304" pitchFamily="18" charset="0"/>
            </a:endParaRPr>
          </a:p>
        </p:txBody>
      </p:sp>
      <p:sp>
        <p:nvSpPr>
          <p:cNvPr id="248929" name="Text Box 226"/>
          <p:cNvSpPr txBox="1">
            <a:spLocks noChangeArrowheads="1"/>
          </p:cNvSpPr>
          <p:nvPr/>
        </p:nvSpPr>
        <p:spPr bwMode="auto">
          <a:xfrm>
            <a:off x="70104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9</a:t>
            </a:r>
            <a:endParaRPr lang="en-US" altLang="zh-CN" sz="2000" baseline="-25000">
              <a:latin typeface="Times New Roman" panose="02020603050405020304" pitchFamily="18" charset="0"/>
            </a:endParaRPr>
          </a:p>
        </p:txBody>
      </p:sp>
      <p:sp>
        <p:nvSpPr>
          <p:cNvPr id="248930" name="Text Box 227"/>
          <p:cNvSpPr txBox="1">
            <a:spLocks noChangeArrowheads="1"/>
          </p:cNvSpPr>
          <p:nvPr/>
        </p:nvSpPr>
        <p:spPr bwMode="auto">
          <a:xfrm>
            <a:off x="7620000" y="3962400"/>
            <a:ext cx="381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10</a:t>
            </a:r>
            <a:endParaRPr lang="en-US" altLang="zh-CN" sz="2000" baseline="-25000">
              <a:latin typeface="Times New Roman" panose="02020603050405020304" pitchFamily="18" charset="0"/>
            </a:endParaRPr>
          </a:p>
        </p:txBody>
      </p:sp>
      <p:sp>
        <p:nvSpPr>
          <p:cNvPr id="248931" name="Text Box 228"/>
          <p:cNvSpPr txBox="1">
            <a:spLocks noChangeArrowheads="1"/>
          </p:cNvSpPr>
          <p:nvPr/>
        </p:nvSpPr>
        <p:spPr bwMode="auto">
          <a:xfrm>
            <a:off x="8229600" y="3962400"/>
            <a:ext cx="457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11</a:t>
            </a:r>
            <a:endParaRPr lang="en-US" altLang="zh-CN" sz="2000" baseline="-25000">
              <a:latin typeface="Times New Roman" panose="02020603050405020304" pitchFamily="18" charset="0"/>
            </a:endParaRPr>
          </a:p>
        </p:txBody>
      </p:sp>
      <p:sp>
        <p:nvSpPr>
          <p:cNvPr id="248932" name="Text Box 22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5714" name="Rectangle 2"/>
          <p:cNvSpPr>
            <a:spLocks noGrp="1" noChangeArrowheads="1"/>
          </p:cNvSpPr>
          <p:nvPr>
            <p:ph type="title"/>
          </p:nvPr>
        </p:nvSpPr>
        <p:spPr/>
        <p:txBody>
          <a:bodyPr/>
          <a:lstStyle/>
          <a:p>
            <a:pPr eaLnBrk="1" hangingPunct="1">
              <a:defRPr/>
            </a:pPr>
            <a:r>
              <a:rPr lang="zh-CN" altLang="en-US" dirty="0" smtClean="0"/>
              <a:t>执行部件</a:t>
            </a:r>
            <a:r>
              <a:rPr lang="zh-CN" altLang="en-US" dirty="0" smtClean="0"/>
              <a:t>采用流水</a:t>
            </a:r>
            <a:endParaRPr lang="zh-CN" altLang="en-US" dirty="0" smtClean="0"/>
          </a:p>
        </p:txBody>
      </p:sp>
      <p:sp>
        <p:nvSpPr>
          <p:cNvPr id="24985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endParaRPr lang="zh-CN" altLang="en-US" sz="1200" b="0">
              <a:latin typeface="Times New Roman" panose="02020603050405020304" pitchFamily="18" charset="0"/>
              <a:ea typeface="幼圆" panose="02010509060101010101" pitchFamily="49" charset="-122"/>
            </a:endParaRPr>
          </a:p>
        </p:txBody>
      </p:sp>
      <p:graphicFrame>
        <p:nvGraphicFramePr>
          <p:cNvPr id="755902" name="Group 190"/>
          <p:cNvGraphicFramePr>
            <a:graphicFrameLocks noGrp="1"/>
          </p:cNvGraphicFramePr>
          <p:nvPr/>
        </p:nvGraphicFramePr>
        <p:xfrm>
          <a:off x="1295400" y="2060575"/>
          <a:ext cx="7391400" cy="1717675"/>
        </p:xfrm>
        <a:graphic>
          <a:graphicData uri="http://schemas.openxmlformats.org/drawingml/2006/table">
            <a:tbl>
              <a:tblPr/>
              <a:tblGrid>
                <a:gridCol w="730250"/>
                <a:gridCol w="1311275"/>
                <a:gridCol w="782638"/>
                <a:gridCol w="1006475"/>
                <a:gridCol w="3560762"/>
              </a:tblGrid>
              <a:tr h="401752">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I1:</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w="57150" cap="flat" cmpd="sng" algn="ctr">
                      <a:solidFill>
                        <a:schemeClr val="tx1"/>
                      </a:solidFill>
                      <a:prstDash val="solid"/>
                      <a:round/>
                      <a:headEnd type="none" w="med" len="med"/>
                      <a:tailEnd type="none" w="med" len="med"/>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FADD</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R0,</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R1</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;R0←(R0)+(R1)</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w="571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r>
              <a:tr h="401752">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I2:</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FMUL</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R2,</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R3</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 ;</a:t>
                      </a: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R2←(R2)×(R3)</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74544">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I3:</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FADD</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R4,</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R5</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a:t>
                      </a: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R4←(R4)+(R5)</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39627">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I4:</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w="57150" cap="flat" cmpd="sng" algn="ctr">
                      <a:solidFill>
                        <a:schemeClr val="tx1"/>
                      </a:solidFill>
                      <a:prstDash val="solid"/>
                      <a:round/>
                      <a:headEnd type="none" w="med" len="med"/>
                      <a:tailEnd type="none" w="med" len="med"/>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FMUL</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R6,</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R7</a:t>
                      </a:r>
                      <a:endPar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anose="020B0604020202020204" pitchFamily="34" charset="0"/>
                          <a:ea typeface="楷体_GB2312" pitchFamily="49" charset="-122"/>
                        </a:defRPr>
                      </a:lvl1pPr>
                      <a:lvl2pPr marL="581025">
                        <a:buClr>
                          <a:schemeClr val="accent2"/>
                        </a:buClr>
                        <a:buSzPct val="55000"/>
                        <a:defRPr kumimoji="1" sz="2400" b="1">
                          <a:solidFill>
                            <a:schemeClr val="tx1"/>
                          </a:solidFill>
                          <a:latin typeface="Arial" panose="020B0604020202020204" pitchFamily="34" charset="0"/>
                          <a:ea typeface="楷体_GB2312" pitchFamily="49" charset="-122"/>
                        </a:defRPr>
                      </a:lvl2pPr>
                      <a:lvl3pPr marL="771525">
                        <a:buClr>
                          <a:schemeClr val="accent2"/>
                        </a:buClr>
                        <a:buSzPct val="65000"/>
                        <a:defRPr kumimoji="1" sz="2000" b="1">
                          <a:solidFill>
                            <a:schemeClr val="tx1"/>
                          </a:solidFill>
                          <a:latin typeface="Arial" panose="020B0604020202020204" pitchFamily="34" charset="0"/>
                          <a:ea typeface="楷体_GB2312" pitchFamily="49" charset="-122"/>
                        </a:defRPr>
                      </a:lvl3pPr>
                      <a:lvl4pPr marL="965200">
                        <a:buClr>
                          <a:schemeClr val="accent2"/>
                        </a:buClr>
                        <a:buSzPct val="85000"/>
                        <a:defRPr kumimoji="1" b="1">
                          <a:solidFill>
                            <a:schemeClr val="tx1"/>
                          </a:solidFill>
                          <a:latin typeface="Arial" panose="020B0604020202020204" pitchFamily="34" charset="0"/>
                          <a:ea typeface="楷体_GB2312" pitchFamily="49" charset="-122"/>
                        </a:defRPr>
                      </a:lvl4pPr>
                      <a:lvl5pPr marL="1924050">
                        <a:buClr>
                          <a:schemeClr val="accent2"/>
                        </a:buClr>
                        <a:buSzPct val="80000"/>
                        <a:defRPr kumimoji="1" sz="1600" b="1">
                          <a:solidFill>
                            <a:schemeClr val="tx1"/>
                          </a:solidFill>
                          <a:latin typeface="Arial" panose="020B0604020202020204" pitchFamily="34" charset="0"/>
                          <a:ea typeface="楷体_GB2312" pitchFamily="49" charset="-122"/>
                        </a:defRPr>
                      </a:lvl5pPr>
                      <a:lvl6pPr marL="2381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838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3295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752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rPr>
                        <a:t> ;</a:t>
                      </a:r>
                      <a:r>
                        <a:rPr kumimoji="1" lang="en-US" altLang="zh-CN" sz="2400" b="1" i="0" u="none" strike="noStrike" cap="none" normalizeH="0" baseline="0" smtClean="0">
                          <a:ln>
                            <a:noFill/>
                          </a:ln>
                          <a:solidFill>
                            <a:schemeClr val="tx1"/>
                          </a:solidFill>
                          <a:effectLst/>
                          <a:latin typeface="Arial" panose="020B0604020202020204" pitchFamily="34" charset="0"/>
                          <a:ea typeface="楷体_GB2312" pitchFamily="49" charset="-122"/>
                        </a:rPr>
                        <a:t>R6←(R6)×(R7)</a:t>
                      </a:r>
                      <a:endParaRPr kumimoji="1" lang="zh-CN" altLang="en-US" sz="24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18000" marR="18000" marT="17996" marB="17996" anchor="ctr" anchorCtr="1" horzOverflow="overflow">
                    <a:lnL>
                      <a:noFill/>
                    </a:lnL>
                    <a:lnR w="57150" cap="flat" cmpd="sng" algn="ctr">
                      <a:solidFill>
                        <a:schemeClr val="tx1"/>
                      </a:solidFill>
                      <a:prstDash val="solid"/>
                      <a:round/>
                      <a:headEnd type="none" w="med" len="med"/>
                      <a:tailEnd type="none" w="med" len="med"/>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graphicFrame>
        <p:nvGraphicFramePr>
          <p:cNvPr id="755900" name="Group 188"/>
          <p:cNvGraphicFramePr>
            <a:graphicFrameLocks noGrp="1"/>
          </p:cNvGraphicFramePr>
          <p:nvPr/>
        </p:nvGraphicFramePr>
        <p:xfrm>
          <a:off x="1752600" y="4267200"/>
          <a:ext cx="6934200" cy="1841500"/>
        </p:xfrm>
        <a:graphic>
          <a:graphicData uri="http://schemas.openxmlformats.org/drawingml/2006/table">
            <a:tbl>
              <a:tblPr/>
              <a:tblGrid>
                <a:gridCol w="630238"/>
                <a:gridCol w="630237"/>
                <a:gridCol w="630238"/>
                <a:gridCol w="623887"/>
                <a:gridCol w="636588"/>
                <a:gridCol w="631825"/>
                <a:gridCol w="630237"/>
                <a:gridCol w="630238"/>
                <a:gridCol w="630237"/>
                <a:gridCol w="630238"/>
                <a:gridCol w="630237"/>
              </a:tblGrid>
              <a:tr h="4572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IF1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ID1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FA1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FA2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FA3</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WR1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cap="flat">
                      <a:noFill/>
                    </a:lnR>
                    <a:lnT cap="flat">
                      <a:noFill/>
                    </a:lnT>
                    <a:lnB>
                      <a:noFill/>
                    </a:lnB>
                    <a:lnTlToBr>
                      <a:noFill/>
                    </a:lnTlToBr>
                    <a:lnBlToTr>
                      <a:noFill/>
                    </a:lnBlToTr>
                    <a:noFill/>
                  </a:tcPr>
                </a:tc>
              </a:tr>
              <a:tr h="4445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IF2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ID2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MD1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MD2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MD3</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MD4</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WR2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cap="flat">
                      <a:noFill/>
                    </a:lnR>
                    <a:lnT>
                      <a:noFill/>
                    </a:lnT>
                    <a:lnB>
                      <a:noFill/>
                    </a:lnB>
                    <a:lnTlToBr>
                      <a:noFill/>
                    </a:lnTlToBr>
                    <a:lnBlToTr>
                      <a:noFill/>
                    </a:lnBlToTr>
                    <a:noFill/>
                  </a:tcPr>
                </a:tc>
              </a:tr>
              <a:tr h="4699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IF1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ID1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FA1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FA2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FA3</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WR1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cap="flat">
                      <a:noFill/>
                    </a:lnR>
                    <a:lnT>
                      <a:noFill/>
                    </a:lnT>
                    <a:lnB>
                      <a:noFill/>
                    </a:lnB>
                    <a:lnTlToBr>
                      <a:noFill/>
                    </a:lnTlToBr>
                    <a:lnBlToTr>
                      <a:noFill/>
                    </a:lnBlToTr>
                    <a:noFill/>
                  </a:tcPr>
                </a:tc>
              </a:tr>
              <a:tr h="4699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IF2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ID2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MD1</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MD2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MD3</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MD4</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rPr>
                        <a:t>WR2</a:t>
                      </a: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a:noFill/>
                    </a:lnT>
                    <a:lnB cap="flat">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a:noFill/>
                    </a:lnR>
                    <a:lnT>
                      <a:noFill/>
                    </a:lnT>
                    <a:lnB cap="flat">
                      <a:noFill/>
                    </a:lnB>
                    <a:lnTlToBr>
                      <a:noFill/>
                    </a:lnTlToBr>
                    <a:lnBlToTr>
                      <a:noFill/>
                    </a:lnBlToTr>
                    <a:no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1" lang="en-US" altLang="zh-CN"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L="0" marR="0" horzOverflow="overflow">
                    <a:lnL>
                      <a:noFill/>
                    </a:lnL>
                    <a:lnR cap="flat">
                      <a:noFill/>
                    </a:lnR>
                    <a:lnT>
                      <a:noFill/>
                    </a:lnT>
                    <a:lnB cap="flat">
                      <a:noFill/>
                    </a:lnB>
                    <a:lnTlToBr>
                      <a:noFill/>
                    </a:lnTlToBr>
                    <a:lnBlToTr>
                      <a:noFill/>
                    </a:lnBlToTr>
                    <a:noFill/>
                  </a:tcPr>
                </a:tc>
              </a:tr>
            </a:tbl>
          </a:graphicData>
        </a:graphic>
      </p:graphicFrame>
      <p:sp>
        <p:nvSpPr>
          <p:cNvPr id="249944" name="Line 90"/>
          <p:cNvSpPr>
            <a:spLocks noChangeShapeType="1"/>
          </p:cNvSpPr>
          <p:nvPr/>
        </p:nvSpPr>
        <p:spPr bwMode="auto">
          <a:xfrm>
            <a:off x="1447800" y="4267200"/>
            <a:ext cx="7391400" cy="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9945" name="Line 91"/>
          <p:cNvSpPr>
            <a:spLocks noChangeShapeType="1"/>
          </p:cNvSpPr>
          <p:nvPr/>
        </p:nvSpPr>
        <p:spPr bwMode="auto">
          <a:xfrm>
            <a:off x="1447800" y="4267200"/>
            <a:ext cx="0" cy="2133600"/>
          </a:xfrm>
          <a:prstGeom prst="line">
            <a:avLst/>
          </a:prstGeom>
          <a:noFill/>
          <a:ln w="2857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9946" name="Text Box 92"/>
          <p:cNvSpPr txBox="1">
            <a:spLocks noChangeArrowheads="1"/>
          </p:cNvSpPr>
          <p:nvPr/>
        </p:nvSpPr>
        <p:spPr bwMode="auto">
          <a:xfrm>
            <a:off x="609600" y="434340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1800">
                <a:latin typeface="楷体_GB2312" pitchFamily="49" charset="-122"/>
              </a:rPr>
              <a:t>流水线1</a:t>
            </a:r>
            <a:endParaRPr lang="zh-CN" altLang="en-US" sz="1800" baseline="-25000">
              <a:latin typeface="楷体_GB2312" pitchFamily="49" charset="-122"/>
            </a:endParaRPr>
          </a:p>
        </p:txBody>
      </p:sp>
      <p:sp>
        <p:nvSpPr>
          <p:cNvPr id="249947" name="Text Box 93"/>
          <p:cNvSpPr txBox="1">
            <a:spLocks noChangeArrowheads="1"/>
          </p:cNvSpPr>
          <p:nvPr/>
        </p:nvSpPr>
        <p:spPr bwMode="auto">
          <a:xfrm>
            <a:off x="609600" y="487680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1800">
                <a:latin typeface="楷体_GB2312" pitchFamily="49" charset="-122"/>
              </a:rPr>
              <a:t>流水线2</a:t>
            </a:r>
            <a:endParaRPr lang="zh-CN" altLang="en-US" sz="1800" baseline="-25000">
              <a:latin typeface="楷体_GB2312" pitchFamily="49" charset="-122"/>
            </a:endParaRPr>
          </a:p>
        </p:txBody>
      </p:sp>
      <p:sp>
        <p:nvSpPr>
          <p:cNvPr id="249948" name="Text Box 94"/>
          <p:cNvSpPr txBox="1">
            <a:spLocks noChangeArrowheads="1"/>
          </p:cNvSpPr>
          <p:nvPr/>
        </p:nvSpPr>
        <p:spPr bwMode="auto">
          <a:xfrm>
            <a:off x="1524000" y="42672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solidFill>
                  <a:srgbClr val="FF0000"/>
                </a:solidFill>
                <a:latin typeface="Times New Roman" panose="02020603050405020304" pitchFamily="18" charset="0"/>
              </a:rPr>
              <a:t>I</a:t>
            </a:r>
            <a:r>
              <a:rPr lang="en-US" altLang="zh-CN" sz="2000" baseline="-25000">
                <a:solidFill>
                  <a:srgbClr val="FF0000"/>
                </a:solidFill>
                <a:latin typeface="Times New Roman" panose="02020603050405020304" pitchFamily="18" charset="0"/>
              </a:rPr>
              <a:t>1</a:t>
            </a:r>
            <a:endParaRPr lang="en-US" altLang="zh-CN" sz="2000" baseline="-25000">
              <a:solidFill>
                <a:srgbClr val="FF0000"/>
              </a:solidFill>
              <a:latin typeface="Times New Roman" panose="02020603050405020304" pitchFamily="18" charset="0"/>
            </a:endParaRPr>
          </a:p>
        </p:txBody>
      </p:sp>
      <p:sp>
        <p:nvSpPr>
          <p:cNvPr id="249949" name="Text Box 95"/>
          <p:cNvSpPr txBox="1">
            <a:spLocks noChangeArrowheads="1"/>
          </p:cNvSpPr>
          <p:nvPr/>
        </p:nvSpPr>
        <p:spPr bwMode="auto">
          <a:xfrm>
            <a:off x="1524000" y="48006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solidFill>
                  <a:srgbClr val="FF0000"/>
                </a:solidFill>
                <a:latin typeface="Times New Roman" panose="02020603050405020304" pitchFamily="18" charset="0"/>
              </a:rPr>
              <a:t>I</a:t>
            </a:r>
            <a:r>
              <a:rPr lang="en-US" altLang="zh-CN" sz="2000" baseline="-25000">
                <a:solidFill>
                  <a:srgbClr val="FF0000"/>
                </a:solidFill>
                <a:latin typeface="Times New Roman" panose="02020603050405020304" pitchFamily="18" charset="0"/>
              </a:rPr>
              <a:t>2</a:t>
            </a:r>
            <a:endParaRPr lang="en-US" altLang="zh-CN" sz="2000" baseline="-25000">
              <a:solidFill>
                <a:srgbClr val="FF0000"/>
              </a:solidFill>
              <a:latin typeface="Times New Roman" panose="02020603050405020304" pitchFamily="18" charset="0"/>
            </a:endParaRPr>
          </a:p>
        </p:txBody>
      </p:sp>
      <p:sp>
        <p:nvSpPr>
          <p:cNvPr id="249950" name="Text Box 96"/>
          <p:cNvSpPr txBox="1">
            <a:spLocks noChangeArrowheads="1"/>
          </p:cNvSpPr>
          <p:nvPr/>
        </p:nvSpPr>
        <p:spPr bwMode="auto">
          <a:xfrm>
            <a:off x="838200" y="5943600"/>
            <a:ext cx="5334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1800">
                <a:latin typeface="楷体_GB2312" pitchFamily="49" charset="-122"/>
              </a:rPr>
              <a:t>指令</a:t>
            </a:r>
            <a:endParaRPr lang="zh-CN" altLang="en-US" sz="1800" baseline="-25000">
              <a:latin typeface="楷体_GB2312" pitchFamily="49" charset="-122"/>
            </a:endParaRPr>
          </a:p>
        </p:txBody>
      </p:sp>
      <p:sp>
        <p:nvSpPr>
          <p:cNvPr id="249951" name="Text Box 97"/>
          <p:cNvSpPr txBox="1">
            <a:spLocks noChangeArrowheads="1"/>
          </p:cNvSpPr>
          <p:nvPr/>
        </p:nvSpPr>
        <p:spPr bwMode="auto">
          <a:xfrm>
            <a:off x="7848600" y="4343400"/>
            <a:ext cx="10668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zh-CN" altLang="en-US" sz="1800">
                <a:latin typeface="楷体_GB2312" pitchFamily="49" charset="-122"/>
              </a:rPr>
              <a:t>时钟周期</a:t>
            </a:r>
            <a:endParaRPr lang="zh-CN" altLang="en-US" sz="1800" baseline="-25000">
              <a:latin typeface="楷体_GB2312" pitchFamily="49" charset="-122"/>
            </a:endParaRPr>
          </a:p>
        </p:txBody>
      </p:sp>
      <p:sp>
        <p:nvSpPr>
          <p:cNvPr id="249952" name="Text Box 98"/>
          <p:cNvSpPr txBox="1">
            <a:spLocks noChangeArrowheads="1"/>
          </p:cNvSpPr>
          <p:nvPr/>
        </p:nvSpPr>
        <p:spPr bwMode="auto">
          <a:xfrm>
            <a:off x="2133600" y="52578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solidFill>
                  <a:srgbClr val="FF0000"/>
                </a:solidFill>
                <a:latin typeface="Times New Roman" panose="02020603050405020304" pitchFamily="18" charset="0"/>
              </a:rPr>
              <a:t>I</a:t>
            </a:r>
            <a:r>
              <a:rPr lang="en-US" altLang="zh-CN" sz="2000" baseline="-25000">
                <a:solidFill>
                  <a:srgbClr val="FF0000"/>
                </a:solidFill>
                <a:latin typeface="Times New Roman" panose="02020603050405020304" pitchFamily="18" charset="0"/>
              </a:rPr>
              <a:t>3</a:t>
            </a:r>
            <a:endParaRPr lang="en-US" altLang="zh-CN" sz="2000" baseline="-25000">
              <a:solidFill>
                <a:srgbClr val="FF0000"/>
              </a:solidFill>
              <a:latin typeface="Times New Roman" panose="02020603050405020304" pitchFamily="18" charset="0"/>
            </a:endParaRPr>
          </a:p>
        </p:txBody>
      </p:sp>
      <p:sp>
        <p:nvSpPr>
          <p:cNvPr id="249953" name="Text Box 99"/>
          <p:cNvSpPr txBox="1">
            <a:spLocks noChangeArrowheads="1"/>
          </p:cNvSpPr>
          <p:nvPr/>
        </p:nvSpPr>
        <p:spPr bwMode="auto">
          <a:xfrm>
            <a:off x="2133600" y="57150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solidFill>
                  <a:srgbClr val="FF0000"/>
                </a:solidFill>
                <a:latin typeface="Times New Roman" panose="02020603050405020304" pitchFamily="18" charset="0"/>
              </a:rPr>
              <a:t>I</a:t>
            </a:r>
            <a:r>
              <a:rPr lang="en-US" altLang="zh-CN" sz="2000" baseline="-25000">
                <a:solidFill>
                  <a:srgbClr val="FF0000"/>
                </a:solidFill>
                <a:latin typeface="Times New Roman" panose="02020603050405020304" pitchFamily="18" charset="0"/>
              </a:rPr>
              <a:t>4</a:t>
            </a:r>
            <a:endParaRPr lang="en-US" altLang="zh-CN" sz="2000" baseline="-25000">
              <a:solidFill>
                <a:srgbClr val="FF0000"/>
              </a:solidFill>
              <a:latin typeface="Times New Roman" panose="02020603050405020304" pitchFamily="18" charset="0"/>
            </a:endParaRPr>
          </a:p>
        </p:txBody>
      </p:sp>
      <p:sp>
        <p:nvSpPr>
          <p:cNvPr id="249954" name="Text Box 100"/>
          <p:cNvSpPr txBox="1">
            <a:spLocks noChangeArrowheads="1"/>
          </p:cNvSpPr>
          <p:nvPr/>
        </p:nvSpPr>
        <p:spPr bwMode="auto">
          <a:xfrm>
            <a:off x="19812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1</a:t>
            </a:r>
            <a:endParaRPr lang="en-US" altLang="zh-CN" sz="2000" baseline="-25000">
              <a:latin typeface="Times New Roman" panose="02020603050405020304" pitchFamily="18" charset="0"/>
            </a:endParaRPr>
          </a:p>
        </p:txBody>
      </p:sp>
      <p:sp>
        <p:nvSpPr>
          <p:cNvPr id="249955" name="Text Box 101"/>
          <p:cNvSpPr txBox="1">
            <a:spLocks noChangeArrowheads="1"/>
          </p:cNvSpPr>
          <p:nvPr/>
        </p:nvSpPr>
        <p:spPr bwMode="auto">
          <a:xfrm>
            <a:off x="25908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2</a:t>
            </a:r>
            <a:endParaRPr lang="en-US" altLang="zh-CN" sz="2000" baseline="-25000">
              <a:latin typeface="Times New Roman" panose="02020603050405020304" pitchFamily="18" charset="0"/>
            </a:endParaRPr>
          </a:p>
        </p:txBody>
      </p:sp>
      <p:sp>
        <p:nvSpPr>
          <p:cNvPr id="249956" name="Text Box 102"/>
          <p:cNvSpPr txBox="1">
            <a:spLocks noChangeArrowheads="1"/>
          </p:cNvSpPr>
          <p:nvPr/>
        </p:nvSpPr>
        <p:spPr bwMode="auto">
          <a:xfrm>
            <a:off x="32004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3</a:t>
            </a:r>
            <a:endParaRPr lang="en-US" altLang="zh-CN" sz="2000" baseline="-25000">
              <a:latin typeface="Times New Roman" panose="02020603050405020304" pitchFamily="18" charset="0"/>
            </a:endParaRPr>
          </a:p>
        </p:txBody>
      </p:sp>
      <p:sp>
        <p:nvSpPr>
          <p:cNvPr id="249957" name="Text Box 103"/>
          <p:cNvSpPr txBox="1">
            <a:spLocks noChangeArrowheads="1"/>
          </p:cNvSpPr>
          <p:nvPr/>
        </p:nvSpPr>
        <p:spPr bwMode="auto">
          <a:xfrm>
            <a:off x="38100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4</a:t>
            </a:r>
            <a:endParaRPr lang="en-US" altLang="zh-CN" sz="2000" baseline="-25000">
              <a:latin typeface="Times New Roman" panose="02020603050405020304" pitchFamily="18" charset="0"/>
            </a:endParaRPr>
          </a:p>
        </p:txBody>
      </p:sp>
      <p:sp>
        <p:nvSpPr>
          <p:cNvPr id="249958" name="Text Box 104"/>
          <p:cNvSpPr txBox="1">
            <a:spLocks noChangeArrowheads="1"/>
          </p:cNvSpPr>
          <p:nvPr/>
        </p:nvSpPr>
        <p:spPr bwMode="auto">
          <a:xfrm>
            <a:off x="44196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5</a:t>
            </a:r>
            <a:endParaRPr lang="en-US" altLang="zh-CN" sz="2000" baseline="-25000">
              <a:latin typeface="Times New Roman" panose="02020603050405020304" pitchFamily="18" charset="0"/>
            </a:endParaRPr>
          </a:p>
        </p:txBody>
      </p:sp>
      <p:sp>
        <p:nvSpPr>
          <p:cNvPr id="249959" name="Text Box 105"/>
          <p:cNvSpPr txBox="1">
            <a:spLocks noChangeArrowheads="1"/>
          </p:cNvSpPr>
          <p:nvPr/>
        </p:nvSpPr>
        <p:spPr bwMode="auto">
          <a:xfrm>
            <a:off x="51054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6</a:t>
            </a:r>
            <a:endParaRPr lang="en-US" altLang="zh-CN" sz="2000" baseline="-25000">
              <a:latin typeface="Times New Roman" panose="02020603050405020304" pitchFamily="18" charset="0"/>
            </a:endParaRPr>
          </a:p>
        </p:txBody>
      </p:sp>
      <p:sp>
        <p:nvSpPr>
          <p:cNvPr id="249960" name="Text Box 106"/>
          <p:cNvSpPr txBox="1">
            <a:spLocks noChangeArrowheads="1"/>
          </p:cNvSpPr>
          <p:nvPr/>
        </p:nvSpPr>
        <p:spPr bwMode="auto">
          <a:xfrm>
            <a:off x="57150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7</a:t>
            </a:r>
            <a:endParaRPr lang="en-US" altLang="zh-CN" sz="2000" baseline="-25000">
              <a:latin typeface="Times New Roman" panose="02020603050405020304" pitchFamily="18" charset="0"/>
            </a:endParaRPr>
          </a:p>
        </p:txBody>
      </p:sp>
      <p:sp>
        <p:nvSpPr>
          <p:cNvPr id="249961" name="Text Box 107"/>
          <p:cNvSpPr txBox="1">
            <a:spLocks noChangeArrowheads="1"/>
          </p:cNvSpPr>
          <p:nvPr/>
        </p:nvSpPr>
        <p:spPr bwMode="auto">
          <a:xfrm>
            <a:off x="64008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8</a:t>
            </a:r>
            <a:endParaRPr lang="en-US" altLang="zh-CN" sz="2000" baseline="-25000">
              <a:latin typeface="Times New Roman" panose="02020603050405020304" pitchFamily="18" charset="0"/>
            </a:endParaRPr>
          </a:p>
        </p:txBody>
      </p:sp>
      <p:sp>
        <p:nvSpPr>
          <p:cNvPr id="249962" name="Text Box 108"/>
          <p:cNvSpPr txBox="1">
            <a:spLocks noChangeArrowheads="1"/>
          </p:cNvSpPr>
          <p:nvPr/>
        </p:nvSpPr>
        <p:spPr bwMode="auto">
          <a:xfrm>
            <a:off x="70104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9</a:t>
            </a:r>
            <a:endParaRPr lang="en-US" altLang="zh-CN" sz="2000" baseline="-25000">
              <a:latin typeface="Times New Roman" panose="02020603050405020304" pitchFamily="18" charset="0"/>
            </a:endParaRPr>
          </a:p>
        </p:txBody>
      </p:sp>
      <p:sp>
        <p:nvSpPr>
          <p:cNvPr id="249963" name="Text Box 109"/>
          <p:cNvSpPr txBox="1">
            <a:spLocks noChangeArrowheads="1"/>
          </p:cNvSpPr>
          <p:nvPr/>
        </p:nvSpPr>
        <p:spPr bwMode="auto">
          <a:xfrm>
            <a:off x="7620000" y="3962400"/>
            <a:ext cx="381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10</a:t>
            </a:r>
            <a:endParaRPr lang="en-US" altLang="zh-CN" sz="2000" baseline="-25000">
              <a:latin typeface="Times New Roman" panose="02020603050405020304" pitchFamily="18" charset="0"/>
            </a:endParaRPr>
          </a:p>
        </p:txBody>
      </p:sp>
      <p:sp>
        <p:nvSpPr>
          <p:cNvPr id="249964" name="Text Box 110"/>
          <p:cNvSpPr txBox="1">
            <a:spLocks noChangeArrowheads="1"/>
          </p:cNvSpPr>
          <p:nvPr/>
        </p:nvSpPr>
        <p:spPr bwMode="auto">
          <a:xfrm>
            <a:off x="8229600" y="3962400"/>
            <a:ext cx="457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Font typeface="Wingdings" panose="05000000000000000000" pitchFamily="2" charset="2"/>
              <a:buNone/>
            </a:pPr>
            <a:r>
              <a:rPr lang="en-US" altLang="zh-CN" sz="2000">
                <a:latin typeface="Times New Roman" panose="02020603050405020304" pitchFamily="18" charset="0"/>
              </a:rPr>
              <a:t>11</a:t>
            </a:r>
            <a:endParaRPr lang="en-US" altLang="zh-CN" sz="2000" baseline="-25000">
              <a:latin typeface="Times New Roman" panose="02020603050405020304" pitchFamily="18" charset="0"/>
            </a:endParaRPr>
          </a:p>
        </p:txBody>
      </p:sp>
      <p:sp>
        <p:nvSpPr>
          <p:cNvPr id="249965" name="Text Box 18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6738" name="Rectangle 2"/>
          <p:cNvSpPr>
            <a:spLocks noGrp="1" noChangeArrowheads="1"/>
          </p:cNvSpPr>
          <p:nvPr>
            <p:ph type="title"/>
          </p:nvPr>
        </p:nvSpPr>
        <p:spPr/>
        <p:txBody>
          <a:bodyPr/>
          <a:lstStyle/>
          <a:p>
            <a:pPr eaLnBrk="1" hangingPunct="1">
              <a:defRPr/>
            </a:pPr>
            <a:r>
              <a:rPr lang="zh-CN" altLang="en-US" smtClean="0"/>
              <a:t>提  示</a:t>
            </a:r>
            <a:endParaRPr lang="zh-CN" altLang="en-US" smtClean="0"/>
          </a:p>
        </p:txBody>
      </p:sp>
      <p:sp>
        <p:nvSpPr>
          <p:cNvPr id="250883"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endParaRPr lang="zh-CN" altLang="en-US" sz="1200" b="0">
              <a:latin typeface="Times New Roman" panose="02020603050405020304" pitchFamily="18" charset="0"/>
              <a:ea typeface="幼圆" panose="02010509060101010101" pitchFamily="49" charset="-122"/>
            </a:endParaRPr>
          </a:p>
        </p:txBody>
      </p:sp>
      <p:sp>
        <p:nvSpPr>
          <p:cNvPr id="756741" name="Rectangle 5"/>
          <p:cNvSpPr>
            <a:spLocks noGrp="1" noChangeArrowheads="1"/>
          </p:cNvSpPr>
          <p:nvPr>
            <p:ph type="body" idx="1"/>
          </p:nvPr>
        </p:nvSpPr>
        <p:spPr/>
        <p:txBody>
          <a:bodyPr/>
          <a:lstStyle/>
          <a:p>
            <a:pPr marL="0" indent="0" eaLnBrk="1" hangingPunct="1">
              <a:lnSpc>
                <a:spcPct val="120000"/>
              </a:lnSpc>
              <a:buFont typeface="Wingdings" panose="05000000000000000000" pitchFamily="2" charset="2"/>
              <a:buNone/>
              <a:defRPr/>
            </a:pPr>
            <a:r>
              <a:rPr lang="zh-CN" altLang="en-US" sz="2800" dirty="0" smtClean="0"/>
              <a:t>       普通标量处理机，希望相同操作连续出现。只有连续出现相同操作的指令序列时，流水线的效率才能得到充分发挥。超标量处理机则正好相反，希望相同操作不要连续出现。相同操作的指令序列连续出现时，会发生资源冲突；要求相同操作的指令能够相对均匀地分布在程序中。</a:t>
            </a:r>
            <a:r>
              <a:rPr lang="zh-CN" altLang="en-US" sz="2800" dirty="0" smtClean="0">
                <a:solidFill>
                  <a:srgbClr val="FF0000"/>
                </a:solidFill>
                <a:effectLst>
                  <a:outerShdw blurRad="38100" dist="38100" dir="2700000" algn="tl">
                    <a:srgbClr val="C0C0C0"/>
                  </a:outerShdw>
                </a:effectLst>
              </a:rPr>
              <a:t>超标量处理机的这种要求正好符合一般标量程序的特点</a:t>
            </a:r>
            <a:r>
              <a:rPr lang="zh-CN" altLang="en-US" sz="2800" dirty="0" smtClean="0"/>
              <a:t>。</a:t>
            </a:r>
            <a:endParaRPr lang="zh-CN" altLang="en-US" sz="2800" dirty="0" smtClean="0"/>
          </a:p>
        </p:txBody>
      </p:sp>
      <p:sp>
        <p:nvSpPr>
          <p:cNvPr id="250885"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4</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926" name="Rectangle 30"/>
          <p:cNvSpPr>
            <a:spLocks noGrp="1" noChangeArrowheads="1"/>
          </p:cNvSpPr>
          <p:nvPr>
            <p:ph type="title"/>
          </p:nvPr>
        </p:nvSpPr>
        <p:spPr/>
        <p:txBody>
          <a:bodyPr/>
          <a:lstStyle/>
          <a:p>
            <a:pPr eaLnBrk="1" hangingPunct="1">
              <a:defRPr/>
            </a:pPr>
            <a:r>
              <a:rPr lang="zh-CN" altLang="en-US" smtClean="0"/>
              <a:t>性能分析</a:t>
            </a:r>
            <a:endParaRPr lang="zh-CN" altLang="en-US" smtClean="0"/>
          </a:p>
        </p:txBody>
      </p:sp>
      <p:sp>
        <p:nvSpPr>
          <p:cNvPr id="251907" name="Rectangle 31"/>
          <p:cNvSpPr>
            <a:spLocks noGrp="1" noChangeArrowheads="1"/>
          </p:cNvSpPr>
          <p:nvPr>
            <p:ph type="body" idx="1"/>
          </p:nvPr>
        </p:nvSpPr>
        <p:spPr/>
        <p:txBody>
          <a:bodyPr/>
          <a:lstStyle/>
          <a:p>
            <a:pPr marL="0" indent="0" eaLnBrk="1" hangingPunct="1">
              <a:lnSpc>
                <a:spcPct val="110000"/>
              </a:lnSpc>
              <a:buFont typeface="Wingdings" panose="05000000000000000000" pitchFamily="2" charset="2"/>
              <a:buNone/>
            </a:pPr>
            <a:r>
              <a:rPr lang="zh-CN" altLang="en-US" sz="2400" smtClean="0"/>
              <a:t>       单流水线普通标量处理机的指令级并行度记作</a:t>
            </a:r>
            <a:r>
              <a:rPr lang="en-US" altLang="zh-CN" sz="2400" smtClean="0"/>
              <a:t>(1,1)</a:t>
            </a:r>
            <a:r>
              <a:rPr lang="zh-CN" altLang="en-US" sz="2400" smtClean="0"/>
              <a:t>，超标量处理机的指令级并行度记作</a:t>
            </a:r>
            <a:r>
              <a:rPr lang="en-US" altLang="zh-CN" sz="2400" smtClean="0"/>
              <a:t>(m,1)。</a:t>
            </a:r>
            <a:endParaRPr lang="en-US" altLang="zh-CN" sz="2400" smtClean="0"/>
          </a:p>
          <a:p>
            <a:pPr marL="0" indent="0" eaLnBrk="1" hangingPunct="1">
              <a:lnSpc>
                <a:spcPct val="110000"/>
              </a:lnSpc>
              <a:buFont typeface="Wingdings" panose="05000000000000000000" pitchFamily="2" charset="2"/>
              <a:buNone/>
            </a:pPr>
            <a:r>
              <a:rPr lang="zh-CN" altLang="en-US" sz="2400" smtClean="0"/>
              <a:t>       理想情况下</a:t>
            </a:r>
            <a:r>
              <a:rPr lang="en-US" altLang="zh-CN" sz="2400" smtClean="0"/>
              <a:t>N</a:t>
            </a:r>
            <a:r>
              <a:rPr lang="zh-CN" altLang="en-US" sz="2400" smtClean="0"/>
              <a:t>条没有冲突和相关的指令在单流水线普通标量处理机上执行时间为：</a:t>
            </a:r>
            <a:endParaRPr lang="zh-CN" altLang="en-US" sz="2400" smtClean="0"/>
          </a:p>
          <a:p>
            <a:pPr marL="0" indent="0" eaLnBrk="1" hangingPunct="1">
              <a:lnSpc>
                <a:spcPct val="110000"/>
              </a:lnSpc>
              <a:buFont typeface="Wingdings" panose="05000000000000000000" pitchFamily="2" charset="2"/>
              <a:buNone/>
            </a:pPr>
            <a:endParaRPr lang="zh-CN" altLang="en-US" sz="2400" smtClean="0"/>
          </a:p>
          <a:p>
            <a:pPr marL="0" indent="0" eaLnBrk="1" hangingPunct="1">
              <a:lnSpc>
                <a:spcPct val="110000"/>
              </a:lnSpc>
              <a:buFont typeface="Wingdings" panose="05000000000000000000" pitchFamily="2" charset="2"/>
              <a:buNone/>
            </a:pPr>
            <a:endParaRPr lang="zh-CN" altLang="en-US" sz="2400" smtClean="0"/>
          </a:p>
          <a:p>
            <a:pPr marL="0" indent="0" eaLnBrk="1" hangingPunct="1">
              <a:lnSpc>
                <a:spcPct val="110000"/>
              </a:lnSpc>
              <a:buFont typeface="Wingdings" panose="05000000000000000000" pitchFamily="2" charset="2"/>
              <a:buNone/>
            </a:pPr>
            <a:r>
              <a:rPr lang="zh-CN" altLang="en-US" sz="2400" smtClean="0"/>
              <a:t>       在每时钟周期发射</a:t>
            </a:r>
            <a:r>
              <a:rPr lang="en-US" altLang="zh-CN" sz="2400" smtClean="0"/>
              <a:t>m</a:t>
            </a:r>
            <a:r>
              <a:rPr lang="zh-CN" altLang="en-US" sz="2400" smtClean="0"/>
              <a:t>条指令的超标量处理机上执行时间：</a:t>
            </a:r>
            <a:endParaRPr lang="zh-CN" altLang="en-US" sz="2400" smtClean="0"/>
          </a:p>
        </p:txBody>
      </p:sp>
      <p:sp>
        <p:nvSpPr>
          <p:cNvPr id="251908"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endParaRPr lang="zh-CN" altLang="en-US" sz="1200" b="0">
              <a:latin typeface="Times New Roman" panose="02020603050405020304" pitchFamily="18" charset="0"/>
              <a:ea typeface="幼圆" panose="02010509060101010101" pitchFamily="49" charset="-122"/>
            </a:endParaRPr>
          </a:p>
        </p:txBody>
      </p:sp>
      <p:graphicFrame>
        <p:nvGraphicFramePr>
          <p:cNvPr id="251909" name="Object 32"/>
          <p:cNvGraphicFramePr>
            <a:graphicFrameLocks noChangeAspect="1"/>
          </p:cNvGraphicFramePr>
          <p:nvPr/>
        </p:nvGraphicFramePr>
        <p:xfrm>
          <a:off x="2268538" y="3933825"/>
          <a:ext cx="4287837" cy="471488"/>
        </p:xfrm>
        <a:graphic>
          <a:graphicData uri="http://schemas.openxmlformats.org/presentationml/2006/ole">
            <mc:AlternateContent xmlns:mc="http://schemas.openxmlformats.org/markup-compatibility/2006">
              <mc:Choice xmlns:v="urn:schemas-microsoft-com:vml" Requires="v">
                <p:oleObj spid="_x0000_s252088" name="公式" r:id="rId4" imgW="1116965" imgH="177800" progId="Equation.3">
                  <p:embed/>
                </p:oleObj>
              </mc:Choice>
              <mc:Fallback>
                <p:oleObj name="公式" r:id="rId4" imgW="1116965" imgH="177800" progId="Equation.3">
                  <p:embed/>
                  <p:pic>
                    <p:nvPicPr>
                      <p:cNvPr id="0" name="Object 3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68538" y="3933825"/>
                        <a:ext cx="4287837" cy="47148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51910" name="Object 33"/>
          <p:cNvGraphicFramePr>
            <a:graphicFrameLocks noChangeAspect="1"/>
          </p:cNvGraphicFramePr>
          <p:nvPr/>
        </p:nvGraphicFramePr>
        <p:xfrm>
          <a:off x="2051050" y="5373688"/>
          <a:ext cx="4824413" cy="946150"/>
        </p:xfrm>
        <a:graphic>
          <a:graphicData uri="http://schemas.openxmlformats.org/presentationml/2006/ole">
            <mc:AlternateContent xmlns:mc="http://schemas.openxmlformats.org/markup-compatibility/2006">
              <mc:Choice xmlns:v="urn:schemas-microsoft-com:vml" Requires="v">
                <p:oleObj spid="_x0000_s252089" name="公式" r:id="rId6" imgW="1257300" imgH="330200" progId="Equation.3">
                  <p:embed/>
                </p:oleObj>
              </mc:Choice>
              <mc:Fallback>
                <p:oleObj name="公式" r:id="rId6" imgW="1257300" imgH="330200" progId="Equation.3">
                  <p:embed/>
                  <p:pic>
                    <p:nvPicPr>
                      <p:cNvPr id="0" name="Object 3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51050" y="5373688"/>
                        <a:ext cx="4824413" cy="9461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51911" name="Text Box 3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1" name="Rectangle 11"/>
          <p:cNvSpPr>
            <a:spLocks noGrp="1" noChangeArrowheads="1"/>
          </p:cNvSpPr>
          <p:nvPr>
            <p:ph type="title"/>
          </p:nvPr>
        </p:nvSpPr>
        <p:spPr/>
        <p:txBody>
          <a:bodyPr/>
          <a:lstStyle/>
          <a:p>
            <a:pPr eaLnBrk="1" hangingPunct="1">
              <a:defRPr/>
            </a:pPr>
            <a:r>
              <a:rPr lang="zh-CN" altLang="en-US" smtClean="0"/>
              <a:t>性能分析</a:t>
            </a:r>
            <a:endParaRPr lang="zh-CN" altLang="en-US" smtClean="0"/>
          </a:p>
        </p:txBody>
      </p:sp>
      <p:sp>
        <p:nvSpPr>
          <p:cNvPr id="252931"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3" action="ppaction://hlinksldjump"/>
              </a:rPr>
              <a:t>超标量处理机</a:t>
            </a:r>
            <a:endParaRPr lang="zh-CN" altLang="en-US" sz="1200" b="0">
              <a:latin typeface="Times New Roman" panose="02020603050405020304" pitchFamily="18" charset="0"/>
              <a:ea typeface="幼圆" panose="02010509060101010101" pitchFamily="49" charset="-122"/>
            </a:endParaRPr>
          </a:p>
        </p:txBody>
      </p:sp>
      <p:sp>
        <p:nvSpPr>
          <p:cNvPr id="252932" name="Rectangle 13"/>
          <p:cNvSpPr>
            <a:spLocks noGrp="1" noChangeArrowheads="1"/>
          </p:cNvSpPr>
          <p:nvPr>
            <p:ph type="body" idx="1"/>
          </p:nvPr>
        </p:nvSpPr>
        <p:spPr/>
        <p:txBody>
          <a:bodyPr/>
          <a:lstStyle/>
          <a:p>
            <a:pPr marL="0" indent="0" eaLnBrk="1" hangingPunct="1">
              <a:lnSpc>
                <a:spcPct val="110000"/>
              </a:lnSpc>
              <a:buFont typeface="Wingdings" panose="05000000000000000000" pitchFamily="2" charset="2"/>
              <a:buNone/>
            </a:pPr>
            <a:r>
              <a:rPr lang="zh-CN" altLang="en-US" sz="2800" dirty="0" smtClean="0"/>
              <a:t>       超标量处理机相对于单流水线普通标量处理机的加速比为：</a:t>
            </a:r>
            <a:endParaRPr lang="zh-CN" altLang="en-US" sz="2800" dirty="0" smtClean="0"/>
          </a:p>
          <a:p>
            <a:pPr marL="0" indent="0" eaLnBrk="1" hangingPunct="1">
              <a:lnSpc>
                <a:spcPct val="110000"/>
              </a:lnSpc>
              <a:buFont typeface="Wingdings" panose="05000000000000000000" pitchFamily="2" charset="2"/>
              <a:buNone/>
            </a:pPr>
            <a:endParaRPr lang="zh-CN" altLang="en-US" sz="2800" dirty="0" smtClean="0"/>
          </a:p>
          <a:p>
            <a:pPr marL="0" indent="0" eaLnBrk="1" hangingPunct="1">
              <a:lnSpc>
                <a:spcPct val="110000"/>
              </a:lnSpc>
              <a:buFont typeface="Wingdings" panose="05000000000000000000" pitchFamily="2" charset="2"/>
              <a:buNone/>
            </a:pPr>
            <a:endParaRPr lang="zh-CN" altLang="en-US" sz="2800" dirty="0" smtClean="0"/>
          </a:p>
          <a:p>
            <a:pPr marL="0" indent="0" eaLnBrk="1" hangingPunct="1">
              <a:lnSpc>
                <a:spcPct val="110000"/>
              </a:lnSpc>
              <a:buFont typeface="Wingdings" panose="05000000000000000000" pitchFamily="2" charset="2"/>
              <a:buNone/>
            </a:pPr>
            <a:endParaRPr lang="zh-CN" altLang="en-US" sz="2800" dirty="0" smtClean="0"/>
          </a:p>
          <a:p>
            <a:pPr marL="0" indent="0" eaLnBrk="1" hangingPunct="1">
              <a:lnSpc>
                <a:spcPct val="110000"/>
              </a:lnSpc>
              <a:buFont typeface="Wingdings" panose="05000000000000000000" pitchFamily="2" charset="2"/>
              <a:buNone/>
            </a:pPr>
            <a:r>
              <a:rPr lang="zh-CN" altLang="en-US" sz="2800" dirty="0" smtClean="0"/>
              <a:t>       当</a:t>
            </a:r>
            <a:r>
              <a:rPr lang="en-US" altLang="zh-CN" sz="2800" dirty="0" smtClean="0"/>
              <a:t>N→∞</a:t>
            </a:r>
            <a:r>
              <a:rPr lang="zh-CN" altLang="en-US" sz="2800" dirty="0" smtClean="0"/>
              <a:t>时，最大加速比为：</a:t>
            </a:r>
            <a:endParaRPr lang="zh-CN" altLang="en-US" sz="2800" dirty="0" smtClean="0"/>
          </a:p>
        </p:txBody>
      </p:sp>
      <p:graphicFrame>
        <p:nvGraphicFramePr>
          <p:cNvPr id="252933" name="Object 14"/>
          <p:cNvGraphicFramePr>
            <a:graphicFrameLocks noChangeAspect="1"/>
          </p:cNvGraphicFramePr>
          <p:nvPr/>
        </p:nvGraphicFramePr>
        <p:xfrm>
          <a:off x="2362200" y="3352800"/>
          <a:ext cx="4348163" cy="889000"/>
        </p:xfrm>
        <a:graphic>
          <a:graphicData uri="http://schemas.openxmlformats.org/presentationml/2006/ole">
            <mc:AlternateContent xmlns:mc="http://schemas.openxmlformats.org/markup-compatibility/2006">
              <mc:Choice xmlns:v="urn:schemas-microsoft-com:vml" Requires="v">
                <p:oleObj spid="_x0000_s253112" name="公式" r:id="rId4" imgW="1739900" imgH="355600" progId="Equation.3">
                  <p:embed/>
                </p:oleObj>
              </mc:Choice>
              <mc:Fallback>
                <p:oleObj name="公式" r:id="rId4" imgW="1739900" imgH="355600" progId="Equation.3">
                  <p:embed/>
                  <p:pic>
                    <p:nvPicPr>
                      <p:cNvPr id="0" name="Object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62200" y="3352800"/>
                        <a:ext cx="4348163" cy="88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52934" name="Object 15"/>
          <p:cNvGraphicFramePr>
            <a:graphicFrameLocks noChangeAspect="1"/>
          </p:cNvGraphicFramePr>
          <p:nvPr/>
        </p:nvGraphicFramePr>
        <p:xfrm>
          <a:off x="3429000" y="5486400"/>
          <a:ext cx="2224088" cy="571500"/>
        </p:xfrm>
        <a:graphic>
          <a:graphicData uri="http://schemas.openxmlformats.org/presentationml/2006/ole">
            <mc:AlternateContent xmlns:mc="http://schemas.openxmlformats.org/markup-compatibility/2006">
              <mc:Choice xmlns:v="urn:schemas-microsoft-com:vml" Requires="v">
                <p:oleObj spid="_x0000_s253113" name="Equation" r:id="rId6" imgW="889000" imgH="228600" progId="Equation.3">
                  <p:embed/>
                </p:oleObj>
              </mc:Choice>
              <mc:Fallback>
                <p:oleObj name="Equation" r:id="rId6" imgW="889000" imgH="228600" progId="Equation.3">
                  <p:embed/>
                  <p:pic>
                    <p:nvPicPr>
                      <p:cNvPr id="0" name="Object 1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29000" y="5486400"/>
                        <a:ext cx="2224088" cy="571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52935" name="Text Box 1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8" name="projctor.wav"/>
      </p:stSnd>
    </p:sndAc>
  </p:transition>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3586" name="Rectangle 2"/>
          <p:cNvSpPr>
            <a:spLocks noGrp="1" noChangeArrowheads="1"/>
          </p:cNvSpPr>
          <p:nvPr>
            <p:ph type="title"/>
          </p:nvPr>
        </p:nvSpPr>
        <p:spPr/>
        <p:txBody>
          <a:bodyPr/>
          <a:lstStyle/>
          <a:p>
            <a:pPr eaLnBrk="1" hangingPunct="1">
              <a:defRPr/>
            </a:pPr>
            <a:r>
              <a:rPr lang="zh-CN" altLang="en-US" smtClean="0"/>
              <a:t>超长指令字处理机</a:t>
            </a:r>
            <a:br>
              <a:rPr lang="zh-CN" altLang="en-US" sz="5400" smtClean="0"/>
            </a:br>
            <a:r>
              <a:rPr lang="zh-CN" altLang="en-US" sz="3200" smtClean="0"/>
              <a:t>(</a:t>
            </a:r>
            <a:r>
              <a:rPr lang="en-US" altLang="zh-CN" sz="3200" smtClean="0"/>
              <a:t>VLIW)</a:t>
            </a:r>
            <a:endParaRPr lang="en-US" altLang="zh-CN" sz="3200" smtClean="0"/>
          </a:p>
        </p:txBody>
      </p:sp>
      <p:sp>
        <p:nvSpPr>
          <p:cNvPr id="253955" name="Rectangle 3"/>
          <p:cNvSpPr>
            <a:spLocks noGrp="1" noChangeArrowheads="1"/>
          </p:cNvSpPr>
          <p:nvPr>
            <p:ph type="body" idx="1"/>
          </p:nvPr>
        </p:nvSpPr>
        <p:spPr>
          <a:xfrm>
            <a:off x="3124200" y="2706688"/>
            <a:ext cx="3124200" cy="2489200"/>
          </a:xfrm>
        </p:spPr>
        <p:txBody>
          <a:bodyPr/>
          <a:lstStyle/>
          <a:p>
            <a:pPr eaLnBrk="1" hangingPunct="1">
              <a:lnSpc>
                <a:spcPct val="210000"/>
              </a:lnSpc>
            </a:pPr>
            <a:r>
              <a:rPr lang="zh-CN" altLang="en-US" dirty="0" smtClean="0">
                <a:hlinkClick r:id="rId1" action="ppaction://hlinksldjump"/>
              </a:rPr>
              <a:t>工作原理</a:t>
            </a:r>
            <a:endParaRPr lang="zh-CN" altLang="en-US" dirty="0" smtClean="0"/>
          </a:p>
          <a:p>
            <a:pPr eaLnBrk="1" hangingPunct="1">
              <a:lnSpc>
                <a:spcPct val="210000"/>
              </a:lnSpc>
            </a:pPr>
            <a:r>
              <a:rPr lang="zh-CN" altLang="en-US" dirty="0" smtClean="0">
                <a:hlinkClick r:id="rId2" action="ppaction://hlinksldjump"/>
              </a:rPr>
              <a:t>设计问题</a:t>
            </a:r>
            <a:endParaRPr lang="zh-CN" altLang="en-US" dirty="0" smtClean="0"/>
          </a:p>
        </p:txBody>
      </p:sp>
      <p:sp>
        <p:nvSpPr>
          <p:cNvPr id="253956"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3"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多指令发射技术</a:t>
            </a:r>
            <a:endParaRPr lang="zh-CN" altLang="en-US" sz="1200" b="0">
              <a:latin typeface="Times New Roman" panose="02020603050405020304" pitchFamily="18" charset="0"/>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4610" name="Rectangle 2"/>
          <p:cNvSpPr>
            <a:spLocks noGrp="1" noChangeArrowheads="1"/>
          </p:cNvSpPr>
          <p:nvPr>
            <p:ph type="title"/>
          </p:nvPr>
        </p:nvSpPr>
        <p:spPr/>
        <p:txBody>
          <a:bodyPr/>
          <a:lstStyle/>
          <a:p>
            <a:pPr eaLnBrk="1" hangingPunct="1">
              <a:defRPr/>
            </a:pPr>
            <a:r>
              <a:rPr lang="zh-CN" altLang="en-US" smtClean="0"/>
              <a:t>工作原理</a:t>
            </a:r>
            <a:endParaRPr lang="zh-CN" altLang="en-US" smtClean="0"/>
          </a:p>
        </p:txBody>
      </p:sp>
      <p:sp>
        <p:nvSpPr>
          <p:cNvPr id="254979"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endParaRPr lang="zh-CN" altLang="en-US" sz="1200" b="0">
              <a:latin typeface="Times New Roman" panose="02020603050405020304" pitchFamily="18" charset="0"/>
              <a:ea typeface="幼圆" panose="02010509060101010101" pitchFamily="49" charset="-122"/>
            </a:endParaRPr>
          </a:p>
        </p:txBody>
      </p:sp>
      <p:sp>
        <p:nvSpPr>
          <p:cNvPr id="254980" name="Rectangle 5"/>
          <p:cNvSpPr>
            <a:spLocks noGrp="1" noChangeArrowheads="1"/>
          </p:cNvSpPr>
          <p:nvPr>
            <p:ph type="body" idx="1"/>
          </p:nvPr>
        </p:nvSpPr>
        <p:spPr/>
        <p:txBody>
          <a:bodyPr/>
          <a:lstStyle/>
          <a:p>
            <a:pPr marL="0" indent="0" eaLnBrk="1" hangingPunct="1">
              <a:lnSpc>
                <a:spcPct val="110000"/>
              </a:lnSpc>
              <a:buFont typeface="Wingdings" panose="05000000000000000000" pitchFamily="2" charset="2"/>
              <a:buNone/>
            </a:pPr>
            <a:r>
              <a:rPr lang="zh-CN" altLang="en-US" smtClean="0"/>
              <a:t>       在编译时，编译程序找出指令间潜在的并行性，将多个能并行执行的不相关或无关的操作先行压缩组合在一起，形成一条有多个操作段的超长指令；运行时，不再用软件/硬件来检测其并行性，直接由这条超长指令控制机器中多个相互独立的功能部件并行操作。每个操作段控制其中的一个功能部件，相当于同时执行多条指令。</a:t>
            </a:r>
            <a:endParaRPr lang="zh-CN" altLang="en-US" smtClean="0"/>
          </a:p>
        </p:txBody>
      </p:sp>
      <p:sp>
        <p:nvSpPr>
          <p:cNvPr id="254981"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5634" name="Rectangle 2"/>
          <p:cNvSpPr>
            <a:spLocks noGrp="1" noChangeArrowheads="1"/>
          </p:cNvSpPr>
          <p:nvPr>
            <p:ph type="title"/>
          </p:nvPr>
        </p:nvSpPr>
        <p:spPr/>
        <p:txBody>
          <a:bodyPr/>
          <a:lstStyle/>
          <a:p>
            <a:pPr eaLnBrk="1" hangingPunct="1">
              <a:defRPr/>
            </a:pPr>
            <a:r>
              <a:rPr lang="zh-CN" altLang="en-US" smtClean="0"/>
              <a:t>示意图</a:t>
            </a:r>
            <a:endParaRPr lang="zh-CN" altLang="en-US" smtClean="0"/>
          </a:p>
        </p:txBody>
      </p:sp>
      <p:sp>
        <p:nvSpPr>
          <p:cNvPr id="25600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endParaRPr lang="zh-CN" altLang="en-US" sz="1200" b="0">
              <a:latin typeface="Times New Roman" panose="02020603050405020304" pitchFamily="18" charset="0"/>
              <a:ea typeface="幼圆" panose="02010509060101010101" pitchFamily="49" charset="-122"/>
            </a:endParaRPr>
          </a:p>
        </p:txBody>
      </p:sp>
      <p:pic>
        <p:nvPicPr>
          <p:cNvPr id="256004" name="Picture 6"/>
          <p:cNvPicPr>
            <a:picLocks noChangeAspect="1" noChangeArrowheads="1"/>
          </p:cNvPicPr>
          <p:nvPr/>
        </p:nvPicPr>
        <p:blipFill>
          <a:blip r:embed="rId4">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a:stretch>
            <a:fillRect/>
          </a:stretch>
        </p:blipFill>
        <p:spPr bwMode="auto">
          <a:xfrm>
            <a:off x="539750" y="2060575"/>
            <a:ext cx="8420100" cy="4314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6005"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6658" name="Rectangle 2"/>
          <p:cNvSpPr>
            <a:spLocks noGrp="1" noChangeArrowheads="1"/>
          </p:cNvSpPr>
          <p:nvPr>
            <p:ph type="title"/>
          </p:nvPr>
        </p:nvSpPr>
        <p:spPr/>
        <p:txBody>
          <a:bodyPr/>
          <a:lstStyle/>
          <a:p>
            <a:pPr eaLnBrk="1" hangingPunct="1">
              <a:defRPr/>
            </a:pPr>
            <a:r>
              <a:rPr lang="zh-CN" altLang="en-US" smtClean="0"/>
              <a:t>传统指令和</a:t>
            </a:r>
            <a:r>
              <a:rPr lang="en-US" altLang="zh-CN" sz="4000" smtClean="0"/>
              <a:t>VLIW</a:t>
            </a:r>
            <a:r>
              <a:rPr lang="zh-CN" altLang="en-US" smtClean="0"/>
              <a:t>指令</a:t>
            </a:r>
            <a:endParaRPr lang="zh-CN" altLang="en-US" smtClean="0"/>
          </a:p>
        </p:txBody>
      </p:sp>
      <p:sp>
        <p:nvSpPr>
          <p:cNvPr id="25702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endParaRPr lang="zh-CN" altLang="en-US" sz="1200" b="0">
              <a:latin typeface="Times New Roman" panose="02020603050405020304" pitchFamily="18" charset="0"/>
              <a:ea typeface="幼圆" panose="02010509060101010101" pitchFamily="49" charset="-122"/>
            </a:endParaRPr>
          </a:p>
        </p:txBody>
      </p:sp>
      <p:pic>
        <p:nvPicPr>
          <p:cNvPr id="257028" name="Picture 5"/>
          <p:cNvPicPr>
            <a:picLocks noChangeAspect="1" noChangeArrowheads="1"/>
          </p:cNvPicPr>
          <p:nvPr/>
        </p:nvPicPr>
        <p:blipFill>
          <a:blip r:embed="rId4">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a:stretch>
            <a:fillRect/>
          </a:stretch>
        </p:blipFill>
        <p:spPr bwMode="auto">
          <a:xfrm>
            <a:off x="684213" y="2205038"/>
            <a:ext cx="8086725" cy="4105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7029"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3</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2"/>
          <p:cNvSpPr>
            <a:spLocks noGrp="1" noChangeArrowheads="1"/>
          </p:cNvSpPr>
          <p:nvPr>
            <p:ph type="title"/>
          </p:nvPr>
        </p:nvSpPr>
        <p:spPr/>
        <p:txBody>
          <a:bodyPr/>
          <a:lstStyle/>
          <a:p>
            <a:pPr eaLnBrk="1" hangingPunct="1">
              <a:defRPr/>
            </a:pPr>
            <a:r>
              <a:rPr lang="zh-CN" altLang="en-US" smtClean="0"/>
              <a:t>超标量处理机</a:t>
            </a:r>
            <a:endParaRPr lang="zh-CN" altLang="en-US" smtClean="0"/>
          </a:p>
        </p:txBody>
      </p:sp>
      <p:sp>
        <p:nvSpPr>
          <p:cNvPr id="2580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endParaRPr lang="zh-CN" altLang="en-US" sz="1200" b="0">
              <a:latin typeface="Times New Roman" panose="02020603050405020304" pitchFamily="18" charset="0"/>
              <a:ea typeface="幼圆" panose="02010509060101010101" pitchFamily="49" charset="-122"/>
            </a:endParaRPr>
          </a:p>
        </p:txBody>
      </p:sp>
      <p:pic>
        <p:nvPicPr>
          <p:cNvPr id="258052" name="Picture 6"/>
          <p:cNvPicPr>
            <a:picLocks noChangeAspect="1" noChangeArrowheads="1"/>
          </p:cNvPicPr>
          <p:nvPr/>
        </p:nvPicPr>
        <p:blipFill>
          <a:blip r:embed="rId4">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a:stretch>
            <a:fillRect/>
          </a:stretch>
        </p:blipFill>
        <p:spPr bwMode="auto">
          <a:xfrm>
            <a:off x="1143000" y="2133600"/>
            <a:ext cx="7296150" cy="4400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8053"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4</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8706" name="Rectangle 2"/>
          <p:cNvSpPr>
            <a:spLocks noGrp="1" noChangeArrowheads="1"/>
          </p:cNvSpPr>
          <p:nvPr>
            <p:ph type="title"/>
          </p:nvPr>
        </p:nvSpPr>
        <p:spPr/>
        <p:txBody>
          <a:bodyPr/>
          <a:lstStyle/>
          <a:p>
            <a:pPr eaLnBrk="1" hangingPunct="1">
              <a:defRPr/>
            </a:pPr>
            <a:r>
              <a:rPr lang="zh-CN" altLang="en-US" dirty="0" smtClean="0"/>
              <a:t>两者比较</a:t>
            </a:r>
            <a:endParaRPr lang="zh-CN" altLang="en-US" dirty="0" smtClean="0"/>
          </a:p>
        </p:txBody>
      </p:sp>
      <p:sp>
        <p:nvSpPr>
          <p:cNvPr id="25907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endParaRPr lang="zh-CN" altLang="en-US" sz="1200" b="0">
              <a:latin typeface="Times New Roman" panose="02020603050405020304" pitchFamily="18" charset="0"/>
              <a:ea typeface="幼圆" panose="02010509060101010101" pitchFamily="49" charset="-122"/>
            </a:endParaRPr>
          </a:p>
        </p:txBody>
      </p:sp>
      <p:pic>
        <p:nvPicPr>
          <p:cNvPr id="259076" name="Picture 4"/>
          <p:cNvPicPr>
            <a:picLocks noChangeAspect="1" noChangeArrowheads="1"/>
          </p:cNvPicPr>
          <p:nvPr/>
        </p:nvPicPr>
        <p:blipFill>
          <a:blip r:embed="rId4">
            <a:clrChange>
              <a:clrFrom>
                <a:srgbClr val="FFFFFF"/>
              </a:clrFrom>
              <a:clrTo>
                <a:srgbClr val="FFFFFF">
                  <a:alpha val="0"/>
                </a:srgbClr>
              </a:clrTo>
            </a:clrChange>
            <a:lum bright="-18000"/>
            <a:extLst>
              <a:ext uri="{28A0092B-C50C-407E-A947-70E740481C1C}">
                <a14:useLocalDpi xmlns:a14="http://schemas.microsoft.com/office/drawing/2010/main" val="0"/>
              </a:ext>
            </a:extLst>
          </a:blip>
          <a:srcRect/>
          <a:stretch>
            <a:fillRect/>
          </a:stretch>
        </p:blipFill>
        <p:spPr bwMode="auto">
          <a:xfrm>
            <a:off x="684213" y="1989138"/>
            <a:ext cx="8229600" cy="441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9077"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5 之 5</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8946" name="Rectangle 2"/>
          <p:cNvSpPr>
            <a:spLocks noGrp="1" noChangeArrowheads="1"/>
          </p:cNvSpPr>
          <p:nvPr>
            <p:ph type="title"/>
          </p:nvPr>
        </p:nvSpPr>
        <p:spPr/>
        <p:txBody>
          <a:bodyPr/>
          <a:lstStyle/>
          <a:p>
            <a:pPr eaLnBrk="1" hangingPunct="1">
              <a:defRPr/>
            </a:pPr>
            <a:r>
              <a:rPr lang="zh-CN" altLang="en-US" smtClean="0"/>
              <a:t>设计问题</a:t>
            </a:r>
            <a:endParaRPr lang="zh-CN" altLang="en-US" smtClean="0"/>
          </a:p>
        </p:txBody>
      </p:sp>
      <p:sp>
        <p:nvSpPr>
          <p:cNvPr id="2600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endParaRPr lang="zh-CN" altLang="en-US" sz="1200" b="0">
              <a:latin typeface="Times New Roman" panose="02020603050405020304" pitchFamily="18" charset="0"/>
              <a:ea typeface="幼圆" panose="02010509060101010101" pitchFamily="49" charset="-122"/>
            </a:endParaRPr>
          </a:p>
        </p:txBody>
      </p:sp>
      <p:sp>
        <p:nvSpPr>
          <p:cNvPr id="260100" name="Rectangle 5"/>
          <p:cNvSpPr>
            <a:spLocks noGrp="1" noChangeArrowheads="1"/>
          </p:cNvSpPr>
          <p:nvPr>
            <p:ph type="body" idx="1"/>
          </p:nvPr>
        </p:nvSpPr>
        <p:spPr>
          <a:xfrm>
            <a:off x="2743200" y="2465388"/>
            <a:ext cx="4343400" cy="3127375"/>
          </a:xfrm>
        </p:spPr>
        <p:txBody>
          <a:bodyPr/>
          <a:lstStyle/>
          <a:p>
            <a:pPr eaLnBrk="1" hangingPunct="1">
              <a:lnSpc>
                <a:spcPct val="180000"/>
              </a:lnSpc>
            </a:pPr>
            <a:r>
              <a:rPr lang="zh-CN" altLang="en-US" smtClean="0">
                <a:hlinkClick r:id="rId4" action="ppaction://hlinksldjump"/>
              </a:rPr>
              <a:t>编译技术</a:t>
            </a:r>
            <a:endParaRPr lang="zh-CN" altLang="en-US" smtClean="0"/>
          </a:p>
          <a:p>
            <a:pPr eaLnBrk="1" hangingPunct="1">
              <a:lnSpc>
                <a:spcPct val="180000"/>
              </a:lnSpc>
            </a:pPr>
            <a:r>
              <a:rPr lang="zh-CN" altLang="en-US" smtClean="0">
                <a:hlinkClick r:id="rId5" action="ppaction://hlinksldjump"/>
              </a:rPr>
              <a:t>代码膨胀</a:t>
            </a:r>
            <a:endParaRPr lang="zh-CN" altLang="en-US" smtClean="0"/>
          </a:p>
          <a:p>
            <a:pPr eaLnBrk="1" hangingPunct="1">
              <a:lnSpc>
                <a:spcPct val="180000"/>
              </a:lnSpc>
            </a:pPr>
            <a:r>
              <a:rPr lang="zh-CN" altLang="en-US" smtClean="0">
                <a:hlinkClick r:id="rId6" action="ppaction://hlinksldjump"/>
              </a:rPr>
              <a:t>二进制代码的兼容性</a:t>
            </a:r>
            <a:endParaRPr lang="zh-CN" altLang="en-US" smtClean="0"/>
          </a:p>
        </p:txBody>
      </p:sp>
    </p:spTree>
  </p:cSld>
  <p:clrMapOvr>
    <a:masterClrMapping/>
  </p:clrMapOvr>
  <p:transition spd="slow">
    <p:random/>
    <p:sndAc>
      <p:stSnd>
        <p:snd r:embed="rId7" name="projctor.wav"/>
      </p:stSnd>
    </p:sndAc>
  </p:transition>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9730" name="Rectangle 2"/>
          <p:cNvSpPr>
            <a:spLocks noGrp="1" noChangeArrowheads="1"/>
          </p:cNvSpPr>
          <p:nvPr>
            <p:ph type="title"/>
          </p:nvPr>
        </p:nvSpPr>
        <p:spPr/>
        <p:txBody>
          <a:bodyPr/>
          <a:lstStyle/>
          <a:p>
            <a:pPr eaLnBrk="1" hangingPunct="1">
              <a:defRPr/>
            </a:pPr>
            <a:r>
              <a:rPr lang="zh-CN" altLang="en-US" smtClean="0"/>
              <a:t>编译技术</a:t>
            </a:r>
            <a:endParaRPr lang="zh-CN" altLang="en-US" smtClean="0"/>
          </a:p>
        </p:txBody>
      </p:sp>
      <p:sp>
        <p:nvSpPr>
          <p:cNvPr id="2611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r>
              <a:rPr lang="en-US" altLang="zh-CN"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设计问题</a:t>
            </a:r>
            <a:endParaRPr lang="zh-CN" altLang="en-US" sz="1200" b="0">
              <a:latin typeface="Times New Roman" panose="02020603050405020304" pitchFamily="18" charset="0"/>
              <a:ea typeface="幼圆" panose="02010509060101010101" pitchFamily="49" charset="-122"/>
            </a:endParaRPr>
          </a:p>
        </p:txBody>
      </p:sp>
      <p:sp>
        <p:nvSpPr>
          <p:cNvPr id="261124" name="Rectangle 6"/>
          <p:cNvSpPr>
            <a:spLocks noGrp="1" noChangeArrowheads="1"/>
          </p:cNvSpPr>
          <p:nvPr>
            <p:ph type="body" idx="1"/>
          </p:nvPr>
        </p:nvSpPr>
        <p:spPr>
          <a:xfrm>
            <a:off x="2286000" y="1989138"/>
            <a:ext cx="4419600" cy="4411662"/>
          </a:xfrm>
        </p:spPr>
        <p:txBody>
          <a:bodyPr/>
          <a:lstStyle/>
          <a:p>
            <a:pPr eaLnBrk="1" hangingPunct="1">
              <a:lnSpc>
                <a:spcPct val="120000"/>
              </a:lnSpc>
            </a:pPr>
            <a:r>
              <a:rPr lang="zh-CN" altLang="en-US" smtClean="0"/>
              <a:t>别名分析</a:t>
            </a:r>
            <a:endParaRPr lang="zh-CN" altLang="en-US" smtClean="0"/>
          </a:p>
          <a:p>
            <a:pPr eaLnBrk="1" hangingPunct="1">
              <a:lnSpc>
                <a:spcPct val="120000"/>
              </a:lnSpc>
            </a:pPr>
            <a:r>
              <a:rPr lang="zh-CN" altLang="en-US" smtClean="0"/>
              <a:t>循环展开</a:t>
            </a:r>
            <a:endParaRPr lang="zh-CN" altLang="en-US" smtClean="0"/>
          </a:p>
          <a:p>
            <a:pPr eaLnBrk="1" hangingPunct="1">
              <a:lnSpc>
                <a:spcPct val="120000"/>
              </a:lnSpc>
            </a:pPr>
            <a:r>
              <a:rPr lang="zh-CN" altLang="en-US" smtClean="0"/>
              <a:t>软件流水</a:t>
            </a:r>
            <a:endParaRPr lang="zh-CN" altLang="en-US" smtClean="0"/>
          </a:p>
          <a:p>
            <a:pPr eaLnBrk="1" hangingPunct="1">
              <a:lnSpc>
                <a:spcPct val="120000"/>
              </a:lnSpc>
            </a:pPr>
            <a:r>
              <a:rPr lang="zh-CN" altLang="en-US" smtClean="0"/>
              <a:t>路径调度</a:t>
            </a:r>
            <a:endParaRPr lang="zh-CN" altLang="en-US" smtClean="0"/>
          </a:p>
          <a:p>
            <a:pPr eaLnBrk="1" hangingPunct="1">
              <a:lnSpc>
                <a:spcPct val="120000"/>
              </a:lnSpc>
            </a:pPr>
            <a:r>
              <a:rPr lang="zh-CN" altLang="en-US" smtClean="0"/>
              <a:t>硬件支持的编译技术</a:t>
            </a:r>
            <a:endParaRPr lang="zh-CN" altLang="en-US" smtClean="0"/>
          </a:p>
          <a:p>
            <a:pPr eaLnBrk="1" hangingPunct="1">
              <a:lnSpc>
                <a:spcPct val="120000"/>
              </a:lnSpc>
            </a:pPr>
            <a:r>
              <a:rPr lang="zh-CN" altLang="en-US" smtClean="0"/>
              <a:t>······</a:t>
            </a:r>
            <a:endParaRPr lang="zh-CN" altLang="en-US" smtClean="0"/>
          </a:p>
        </p:txBody>
      </p:sp>
      <p:sp>
        <p:nvSpPr>
          <p:cNvPr id="261125"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1</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0754" name="Rectangle 2"/>
          <p:cNvSpPr>
            <a:spLocks noGrp="1" noChangeArrowheads="1"/>
          </p:cNvSpPr>
          <p:nvPr>
            <p:ph type="title"/>
          </p:nvPr>
        </p:nvSpPr>
        <p:spPr/>
        <p:txBody>
          <a:bodyPr/>
          <a:lstStyle/>
          <a:p>
            <a:pPr eaLnBrk="1" hangingPunct="1">
              <a:defRPr/>
            </a:pPr>
            <a:r>
              <a:rPr lang="zh-CN" altLang="en-US" smtClean="0"/>
              <a:t>举  例</a:t>
            </a:r>
            <a:br>
              <a:rPr lang="zh-CN" altLang="en-US" sz="3200" smtClean="0"/>
            </a:br>
            <a:r>
              <a:rPr lang="zh-CN" altLang="en-US" sz="3200" smtClean="0"/>
              <a:t>               — 说明</a:t>
            </a:r>
            <a:endParaRPr lang="zh-CN" altLang="en-US" sz="3200" smtClean="0"/>
          </a:p>
        </p:txBody>
      </p:sp>
      <p:sp>
        <p:nvSpPr>
          <p:cNvPr id="970764" name="Rectangle 12"/>
          <p:cNvSpPr>
            <a:spLocks noGrp="1" noChangeArrowheads="1"/>
          </p:cNvSpPr>
          <p:nvPr>
            <p:ph type="body" sz="half" idx="1"/>
          </p:nvPr>
        </p:nvSpPr>
        <p:spPr>
          <a:solidFill>
            <a:srgbClr val="CCFFCC"/>
          </a:solidFill>
          <a:ln w="57150" cmpd="thickThin">
            <a:solidFill>
              <a:schemeClr val="tx1"/>
            </a:solidFill>
            <a:miter lim="800000"/>
          </a:ln>
        </p:spPr>
        <p:txBody>
          <a:bodyPr/>
          <a:lstStyle/>
          <a:p>
            <a:pPr eaLnBrk="1" hangingPunct="1">
              <a:lnSpc>
                <a:spcPct val="130000"/>
              </a:lnSpc>
              <a:buClr>
                <a:srgbClr val="FF0000"/>
              </a:buClr>
              <a:defRPr/>
            </a:pPr>
            <a:r>
              <a:rPr lang="zh-CN" altLang="en-US" sz="2400" smtClean="0">
                <a:solidFill>
                  <a:srgbClr val="FF0000"/>
                </a:solidFill>
                <a:effectLst>
                  <a:outerShdw blurRad="38100" dist="38100" dir="2700000" algn="tl">
                    <a:srgbClr val="000000"/>
                  </a:outerShdw>
                </a:effectLst>
                <a:latin typeface="Comic Sans MS" panose="030F0702030302020204" pitchFamily="66" charset="0"/>
              </a:rPr>
              <a:t>程序</a:t>
            </a:r>
            <a:endParaRPr lang="zh-CN" altLang="en-US" sz="2400" smtClean="0">
              <a:solidFill>
                <a:srgbClr val="FF0000"/>
              </a:solidFill>
              <a:effectLst>
                <a:outerShdw blurRad="38100" dist="38100" dir="2700000" algn="tl">
                  <a:srgbClr val="000000"/>
                </a:outerShdw>
              </a:effectLst>
              <a:latin typeface="Comic Sans MS" panose="030F0702030302020204" pitchFamily="66" charset="0"/>
            </a:endParaRPr>
          </a:p>
          <a:p>
            <a:pPr eaLnBrk="1" hangingPunct="1">
              <a:lnSpc>
                <a:spcPct val="130000"/>
              </a:lnSpc>
              <a:buFont typeface="Wingdings" panose="05000000000000000000" pitchFamily="2" charset="2"/>
              <a:buNone/>
              <a:defRPr/>
            </a:pPr>
            <a:r>
              <a:rPr lang="en-US" altLang="zh-CN" sz="2400" smtClean="0">
                <a:latin typeface="Comic Sans MS" panose="030F0702030302020204" pitchFamily="66" charset="0"/>
              </a:rPr>
              <a:t>Loop</a:t>
            </a:r>
            <a:r>
              <a:rPr lang="en-US" altLang="zh-CN" sz="2400" smtClean="0">
                <a:solidFill>
                  <a:srgbClr val="3333CC"/>
                </a:solidFill>
                <a:latin typeface="Comic Sans MS" panose="030F0702030302020204" pitchFamily="66" charset="0"/>
              </a:rPr>
              <a:t>:</a:t>
            </a:r>
            <a:endParaRPr lang="en-US" altLang="zh-CN" sz="2400" smtClean="0">
              <a:solidFill>
                <a:srgbClr val="3333CC"/>
              </a:solidFill>
              <a:latin typeface="Comic Sans MS" panose="030F0702030302020204" pitchFamily="66" charset="0"/>
            </a:endParaRPr>
          </a:p>
          <a:p>
            <a:pPr eaLnBrk="1" hangingPunct="1">
              <a:lnSpc>
                <a:spcPct val="130000"/>
              </a:lnSpc>
              <a:buFont typeface="Wingdings" panose="05000000000000000000" pitchFamily="2" charset="2"/>
              <a:buNone/>
              <a:defRPr/>
            </a:pPr>
            <a:r>
              <a:rPr lang="en-US" altLang="zh-CN" sz="2400" smtClean="0">
                <a:solidFill>
                  <a:srgbClr val="3333CC"/>
                </a:solidFill>
                <a:latin typeface="Comic Sans MS" panose="030F0702030302020204" pitchFamily="66" charset="0"/>
              </a:rPr>
              <a:t>	L.D		F0,0(R1)</a:t>
            </a:r>
            <a:endParaRPr lang="en-US" altLang="zh-CN" sz="2400" smtClean="0">
              <a:solidFill>
                <a:srgbClr val="3333CC"/>
              </a:solidFill>
              <a:latin typeface="Comic Sans MS" panose="030F0702030302020204" pitchFamily="66" charset="0"/>
            </a:endParaRPr>
          </a:p>
          <a:p>
            <a:pPr eaLnBrk="1" hangingPunct="1">
              <a:lnSpc>
                <a:spcPct val="130000"/>
              </a:lnSpc>
              <a:buFont typeface="Wingdings" panose="05000000000000000000" pitchFamily="2" charset="2"/>
              <a:buNone/>
              <a:defRPr/>
            </a:pPr>
            <a:r>
              <a:rPr lang="en-US" altLang="zh-CN" sz="2400" smtClean="0">
                <a:solidFill>
                  <a:srgbClr val="3333CC"/>
                </a:solidFill>
                <a:latin typeface="Comic Sans MS" panose="030F0702030302020204" pitchFamily="66" charset="0"/>
              </a:rPr>
              <a:t>	ADD.D	F4,F0,F2</a:t>
            </a:r>
            <a:endParaRPr lang="en-US" altLang="zh-CN" sz="2400" smtClean="0">
              <a:solidFill>
                <a:srgbClr val="3333CC"/>
              </a:solidFill>
              <a:latin typeface="Comic Sans MS" panose="030F0702030302020204" pitchFamily="66" charset="0"/>
            </a:endParaRPr>
          </a:p>
          <a:p>
            <a:pPr eaLnBrk="1" hangingPunct="1">
              <a:lnSpc>
                <a:spcPct val="130000"/>
              </a:lnSpc>
              <a:buFont typeface="Wingdings" panose="05000000000000000000" pitchFamily="2" charset="2"/>
              <a:buNone/>
              <a:defRPr/>
            </a:pPr>
            <a:r>
              <a:rPr lang="en-US" altLang="zh-CN" sz="2400" smtClean="0">
                <a:solidFill>
                  <a:srgbClr val="3333CC"/>
                </a:solidFill>
                <a:latin typeface="Comic Sans MS" panose="030F0702030302020204" pitchFamily="66" charset="0"/>
              </a:rPr>
              <a:t>	S.D		F4,0(R1)</a:t>
            </a:r>
            <a:endParaRPr lang="en-US" altLang="zh-CN" sz="2400" smtClean="0">
              <a:solidFill>
                <a:srgbClr val="3333CC"/>
              </a:solidFill>
              <a:latin typeface="Comic Sans MS" panose="030F0702030302020204" pitchFamily="66" charset="0"/>
            </a:endParaRPr>
          </a:p>
          <a:p>
            <a:pPr eaLnBrk="1" hangingPunct="1">
              <a:lnSpc>
                <a:spcPct val="130000"/>
              </a:lnSpc>
              <a:buFont typeface="Wingdings" panose="05000000000000000000" pitchFamily="2" charset="2"/>
              <a:buNone/>
              <a:defRPr/>
            </a:pPr>
            <a:r>
              <a:rPr lang="en-US" altLang="zh-CN" sz="2400" smtClean="0">
                <a:solidFill>
                  <a:srgbClr val="3333CC"/>
                </a:solidFill>
                <a:latin typeface="Comic Sans MS" panose="030F0702030302020204" pitchFamily="66" charset="0"/>
              </a:rPr>
              <a:t>	DADDUI	R1,R1,#-8	</a:t>
            </a:r>
            <a:endParaRPr lang="en-US" altLang="zh-CN" sz="2400" smtClean="0">
              <a:solidFill>
                <a:srgbClr val="3333CC"/>
              </a:solidFill>
              <a:latin typeface="Comic Sans MS" panose="030F0702030302020204" pitchFamily="66" charset="0"/>
            </a:endParaRPr>
          </a:p>
          <a:p>
            <a:pPr eaLnBrk="1" hangingPunct="1">
              <a:lnSpc>
                <a:spcPct val="130000"/>
              </a:lnSpc>
              <a:buFont typeface="Wingdings" panose="05000000000000000000" pitchFamily="2" charset="2"/>
              <a:buNone/>
              <a:defRPr/>
            </a:pPr>
            <a:r>
              <a:rPr lang="en-US" altLang="zh-CN" sz="2400" smtClean="0">
                <a:solidFill>
                  <a:srgbClr val="3333CC"/>
                </a:solidFill>
                <a:latin typeface="Comic Sans MS" panose="030F0702030302020204" pitchFamily="66" charset="0"/>
              </a:rPr>
              <a:t>	BNE	R1,R2,</a:t>
            </a:r>
            <a:r>
              <a:rPr lang="en-US" altLang="zh-CN" sz="2400" smtClean="0">
                <a:latin typeface="Comic Sans MS" panose="030F0702030302020204" pitchFamily="66" charset="0"/>
              </a:rPr>
              <a:t>Loop</a:t>
            </a:r>
            <a:endParaRPr lang="zh-CN" altLang="en-US" sz="2400" smtClean="0">
              <a:latin typeface="Comic Sans MS" panose="030F0702030302020204" pitchFamily="66" charset="0"/>
            </a:endParaRPr>
          </a:p>
        </p:txBody>
      </p:sp>
      <p:sp>
        <p:nvSpPr>
          <p:cNvPr id="970765" name="Rectangle 13"/>
          <p:cNvSpPr>
            <a:spLocks noGrp="1" noChangeArrowheads="1"/>
          </p:cNvSpPr>
          <p:nvPr>
            <p:ph type="body" sz="half" idx="2"/>
          </p:nvPr>
        </p:nvSpPr>
        <p:spPr>
          <a:solidFill>
            <a:srgbClr val="FFFF99"/>
          </a:solidFill>
          <a:ln w="57150" cmpd="thickThin">
            <a:solidFill>
              <a:schemeClr val="tx1"/>
            </a:solidFill>
            <a:miter lim="800000"/>
          </a:ln>
        </p:spPr>
        <p:txBody>
          <a:bodyPr/>
          <a:lstStyle/>
          <a:p>
            <a:pPr marL="0" indent="0" eaLnBrk="1" hangingPunct="1">
              <a:lnSpc>
                <a:spcPct val="110000"/>
              </a:lnSpc>
              <a:buClr>
                <a:srgbClr val="FF0000"/>
              </a:buClr>
              <a:defRPr/>
            </a:pPr>
            <a:r>
              <a:rPr lang="en-US" altLang="zh-CN" sz="2400" smtClean="0">
                <a:solidFill>
                  <a:srgbClr val="FF0000"/>
                </a:solidFill>
                <a:effectLst>
                  <a:outerShdw blurRad="38100" dist="38100" dir="2700000" algn="tl">
                    <a:srgbClr val="000000"/>
                  </a:outerShdw>
                </a:effectLst>
                <a:latin typeface="Comic Sans MS" panose="030F0702030302020204" pitchFamily="66" charset="0"/>
              </a:rPr>
              <a:t>  VLIW</a:t>
            </a:r>
            <a:r>
              <a:rPr lang="zh-CN" altLang="en-US" sz="2400" smtClean="0">
                <a:solidFill>
                  <a:srgbClr val="FF0000"/>
                </a:solidFill>
                <a:effectLst>
                  <a:outerShdw blurRad="38100" dist="38100" dir="2700000" algn="tl">
                    <a:srgbClr val="000000"/>
                  </a:outerShdw>
                </a:effectLst>
                <a:latin typeface="Comic Sans MS" panose="030F0702030302020204" pitchFamily="66" charset="0"/>
              </a:rPr>
              <a:t>处理机</a:t>
            </a:r>
            <a:endParaRPr lang="zh-CN" altLang="en-US" sz="2400" smtClean="0">
              <a:solidFill>
                <a:srgbClr val="FF0000"/>
              </a:solidFill>
              <a:effectLst>
                <a:outerShdw blurRad="38100" dist="38100" dir="2700000" algn="tl">
                  <a:srgbClr val="000000"/>
                </a:outerShdw>
              </a:effectLst>
              <a:latin typeface="Comic Sans MS" panose="030F0702030302020204" pitchFamily="66" charset="0"/>
            </a:endParaRPr>
          </a:p>
          <a:p>
            <a:pPr marL="0" indent="0" eaLnBrk="1" hangingPunct="1">
              <a:lnSpc>
                <a:spcPct val="110000"/>
              </a:lnSpc>
              <a:buFont typeface="Wingdings" panose="05000000000000000000" pitchFamily="2" charset="2"/>
              <a:buNone/>
              <a:defRPr/>
            </a:pPr>
            <a:r>
              <a:rPr lang="zh-CN" altLang="en-US" sz="2400" smtClean="0">
                <a:latin typeface="Comic Sans MS" panose="030F0702030302020204" pitchFamily="66" charset="0"/>
              </a:rPr>
              <a:t>   每个时钟周期能发射1个</a:t>
            </a:r>
            <a:r>
              <a:rPr lang="en-US" altLang="zh-CN" sz="2400" smtClean="0">
                <a:latin typeface="Comic Sans MS" panose="030F0702030302020204" pitchFamily="66" charset="0"/>
              </a:rPr>
              <a:t>load/store</a:t>
            </a:r>
            <a:r>
              <a:rPr lang="zh-CN" altLang="en-US" sz="2400" smtClean="0">
                <a:latin typeface="Comic Sans MS" panose="030F0702030302020204" pitchFamily="66" charset="0"/>
              </a:rPr>
              <a:t>或分支操作、1个定点操作和1个浮点操作。</a:t>
            </a:r>
            <a:endParaRPr lang="zh-CN" altLang="en-US" sz="2400" smtClean="0">
              <a:latin typeface="Comic Sans MS" panose="030F0702030302020204" pitchFamily="66" charset="0"/>
            </a:endParaRPr>
          </a:p>
          <a:p>
            <a:pPr marL="0" indent="0" eaLnBrk="1" hangingPunct="1">
              <a:lnSpc>
                <a:spcPct val="110000"/>
              </a:lnSpc>
              <a:buClr>
                <a:srgbClr val="FF0000"/>
              </a:buClr>
              <a:defRPr/>
            </a:pPr>
            <a:r>
              <a:rPr lang="zh-CN" altLang="en-US" sz="2400" smtClean="0">
                <a:solidFill>
                  <a:srgbClr val="FF0000"/>
                </a:solidFill>
                <a:effectLst>
                  <a:outerShdw blurRad="38100" dist="38100" dir="2700000" algn="tl">
                    <a:srgbClr val="000000"/>
                  </a:outerShdw>
                </a:effectLst>
                <a:latin typeface="Comic Sans MS" panose="030F0702030302020204" pitchFamily="66" charset="0"/>
              </a:rPr>
              <a:t>  相关延迟</a:t>
            </a:r>
            <a:endParaRPr lang="zh-CN" altLang="en-US" sz="2400" smtClean="0">
              <a:solidFill>
                <a:srgbClr val="FF0000"/>
              </a:solidFill>
              <a:effectLst>
                <a:outerShdw blurRad="38100" dist="38100" dir="2700000" algn="tl">
                  <a:srgbClr val="000000"/>
                </a:outerShdw>
              </a:effectLst>
              <a:latin typeface="Comic Sans MS" panose="030F0702030302020204" pitchFamily="66" charset="0"/>
            </a:endParaRPr>
          </a:p>
          <a:p>
            <a:pPr marL="0" indent="0" eaLnBrk="1" hangingPunct="1">
              <a:lnSpc>
                <a:spcPct val="110000"/>
              </a:lnSpc>
              <a:buFont typeface="Wingdings" panose="05000000000000000000" pitchFamily="2" charset="2"/>
              <a:buNone/>
              <a:defRPr/>
            </a:pPr>
            <a:r>
              <a:rPr lang="en-US" altLang="zh-CN" sz="2400" smtClean="0">
                <a:latin typeface="Comic Sans MS" panose="030F0702030302020204" pitchFamily="66" charset="0"/>
              </a:rPr>
              <a:t>    Load/Store </a:t>
            </a:r>
            <a:r>
              <a:rPr lang="zh-CN" altLang="en-US" sz="2400" smtClean="0">
                <a:latin typeface="Comic Sans MS" panose="030F0702030302020204" pitchFamily="66" charset="0"/>
              </a:rPr>
              <a:t>为1 </a:t>
            </a:r>
            <a:r>
              <a:rPr lang="en-US" altLang="zh-CN" sz="2400" smtClean="0">
                <a:latin typeface="Comic Sans MS" panose="030F0702030302020204" pitchFamily="66" charset="0"/>
              </a:rPr>
              <a:t>cycles、</a:t>
            </a:r>
            <a:r>
              <a:rPr lang="zh-CN" altLang="en-US" sz="2400" smtClean="0">
                <a:latin typeface="Comic Sans MS" panose="030F0702030302020204" pitchFamily="66" charset="0"/>
              </a:rPr>
              <a:t>定点为1</a:t>
            </a:r>
            <a:r>
              <a:rPr lang="en-US" altLang="zh-CN" sz="2400" smtClean="0">
                <a:latin typeface="Comic Sans MS" panose="030F0702030302020204" pitchFamily="66" charset="0"/>
              </a:rPr>
              <a:t>cycles、</a:t>
            </a:r>
            <a:r>
              <a:rPr lang="zh-CN" altLang="en-US" sz="2400" smtClean="0">
                <a:latin typeface="Comic Sans MS" panose="030F0702030302020204" pitchFamily="66" charset="0"/>
              </a:rPr>
              <a:t>分支为</a:t>
            </a:r>
            <a:r>
              <a:rPr lang="en-US" altLang="zh-CN" sz="2400" smtClean="0">
                <a:latin typeface="Comic Sans MS" panose="030F0702030302020204" pitchFamily="66" charset="0"/>
              </a:rPr>
              <a:t>1 cycles</a:t>
            </a:r>
            <a:r>
              <a:rPr lang="zh-CN" altLang="en-US" sz="2400" smtClean="0">
                <a:latin typeface="Comic Sans MS" panose="030F0702030302020204" pitchFamily="66" charset="0"/>
              </a:rPr>
              <a:t>和浮点为2</a:t>
            </a:r>
            <a:r>
              <a:rPr lang="en-US" altLang="zh-CN" sz="2400" smtClean="0">
                <a:latin typeface="Comic Sans MS" panose="030F0702030302020204" pitchFamily="66" charset="0"/>
              </a:rPr>
              <a:t> cycles</a:t>
            </a:r>
            <a:endParaRPr lang="zh-CN" altLang="en-US" sz="2400" smtClean="0">
              <a:latin typeface="Comic Sans MS" panose="030F0702030302020204" pitchFamily="66" charset="0"/>
            </a:endParaRPr>
          </a:p>
        </p:txBody>
      </p:sp>
      <p:sp>
        <p:nvSpPr>
          <p:cNvPr id="26214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r>
              <a:rPr lang="en-US" altLang="zh-CN" sz="1200" b="0">
                <a:latin typeface="Times New Roman" panose="02020603050405020304" pitchFamily="18" charset="0"/>
                <a:ea typeface="幼圆" panose="02010509060101010101" pitchFamily="49" charset="-122"/>
              </a:rPr>
              <a:t> &gt;&gt;</a:t>
            </a:r>
            <a:r>
              <a:rPr lang="zh-CN" altLang="en-US" sz="1200" b="0">
                <a:latin typeface="Times New Roman" panose="02020603050405020304" pitchFamily="18" charset="0"/>
                <a:ea typeface="幼圆" panose="02010509060101010101" pitchFamily="49" charset="-122"/>
                <a:hlinkClick r:id="rId4" action="ppaction://hlinksldjump"/>
              </a:rPr>
              <a:t>设计问题</a:t>
            </a:r>
            <a:endParaRPr lang="zh-CN" altLang="en-US" sz="1200" b="0">
              <a:latin typeface="Times New Roman" panose="02020603050405020304" pitchFamily="18" charset="0"/>
              <a:ea typeface="幼圆" panose="02010509060101010101" pitchFamily="49" charset="-122"/>
            </a:endParaRPr>
          </a:p>
        </p:txBody>
      </p:sp>
      <p:sp>
        <p:nvSpPr>
          <p:cNvPr id="262150"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6898" name="Rectangle 2"/>
          <p:cNvSpPr>
            <a:spLocks noGrp="1" noChangeArrowheads="1"/>
          </p:cNvSpPr>
          <p:nvPr>
            <p:ph type="title"/>
          </p:nvPr>
        </p:nvSpPr>
        <p:spPr/>
        <p:txBody>
          <a:bodyPr/>
          <a:lstStyle/>
          <a:p>
            <a:pPr eaLnBrk="1" hangingPunct="1">
              <a:defRPr/>
            </a:pPr>
            <a:r>
              <a:rPr lang="zh-CN" altLang="en-US" smtClean="0"/>
              <a:t>举  例</a:t>
            </a:r>
            <a:br>
              <a:rPr lang="zh-CN" altLang="en-US" sz="3200" smtClean="0"/>
            </a:br>
            <a:r>
              <a:rPr lang="zh-CN" altLang="en-US" sz="3200" smtClean="0"/>
              <a:t>               — </a:t>
            </a:r>
            <a:r>
              <a:rPr lang="en-US" altLang="zh-CN" sz="3200" smtClean="0"/>
              <a:t>VLIW</a:t>
            </a:r>
            <a:r>
              <a:rPr lang="zh-CN" altLang="en-US" sz="3200" smtClean="0"/>
              <a:t>调度</a:t>
            </a:r>
            <a:endParaRPr lang="zh-CN" altLang="en-US" sz="3200" smtClean="0"/>
          </a:p>
        </p:txBody>
      </p:sp>
      <p:sp>
        <p:nvSpPr>
          <p:cNvPr id="263171"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r>
              <a:rPr lang="en-US" altLang="zh-CN" sz="1200" b="0">
                <a:latin typeface="Times New Roman" panose="02020603050405020304" pitchFamily="18" charset="0"/>
                <a:ea typeface="幼圆" panose="02010509060101010101" pitchFamily="49" charset="-122"/>
              </a:rPr>
              <a:t> &gt;&gt;</a:t>
            </a:r>
            <a:r>
              <a:rPr lang="zh-CN" altLang="en-US" sz="1200" b="0">
                <a:latin typeface="Times New Roman" panose="02020603050405020304" pitchFamily="18" charset="0"/>
                <a:ea typeface="幼圆" panose="02010509060101010101" pitchFamily="49" charset="-122"/>
                <a:hlinkClick r:id="rId4" action="ppaction://hlinksldjump"/>
              </a:rPr>
              <a:t>设计问题</a:t>
            </a:r>
            <a:endParaRPr lang="zh-CN" altLang="en-US" sz="1200" b="0">
              <a:latin typeface="Times New Roman" panose="02020603050405020304" pitchFamily="18" charset="0"/>
              <a:ea typeface="幼圆" panose="02010509060101010101" pitchFamily="49" charset="-122"/>
            </a:endParaRPr>
          </a:p>
        </p:txBody>
      </p:sp>
      <p:sp>
        <p:nvSpPr>
          <p:cNvPr id="263172"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3</a:t>
            </a:r>
            <a:endParaRPr lang="zh-CN" altLang="en-US" sz="1200" b="0">
              <a:latin typeface="幼圆" panose="02010509060101010101" pitchFamily="49" charset="-122"/>
              <a:ea typeface="幼圆" panose="02010509060101010101" pitchFamily="49" charset="-122"/>
            </a:endParaRPr>
          </a:p>
        </p:txBody>
      </p:sp>
      <p:graphicFrame>
        <p:nvGraphicFramePr>
          <p:cNvPr id="976991" name="Group 95"/>
          <p:cNvGraphicFramePr>
            <a:graphicFrameLocks noGrp="1"/>
          </p:cNvGraphicFramePr>
          <p:nvPr/>
        </p:nvGraphicFramePr>
        <p:xfrm>
          <a:off x="900113" y="2205038"/>
          <a:ext cx="7924800" cy="4064000"/>
        </p:xfrm>
        <a:graphic>
          <a:graphicData uri="http://schemas.openxmlformats.org/drawingml/2006/table">
            <a:tbl>
              <a:tblPr/>
              <a:tblGrid>
                <a:gridCol w="2209800"/>
                <a:gridCol w="2362200"/>
                <a:gridCol w="2133600"/>
                <a:gridCol w="1219200"/>
              </a:tblGrid>
              <a:tr h="4064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Load/store</a:t>
                      </a: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或分支</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定点操作</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浮点操作</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时钟周期</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r>
              <a:tr h="4064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L.D F0,0(R1)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2</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ADD.D F4,F0,F2</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3</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4</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5</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S.D F4,0(R1)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DADDUI R1,R1,#-8</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6</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7</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BNE R1,R2,Loop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8</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9</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sp>
        <p:nvSpPr>
          <p:cNvPr id="976983" name="Line 87"/>
          <p:cNvSpPr>
            <a:spLocks noChangeShapeType="1"/>
          </p:cNvSpPr>
          <p:nvPr/>
        </p:nvSpPr>
        <p:spPr bwMode="auto">
          <a:xfrm>
            <a:off x="2771775" y="2852738"/>
            <a:ext cx="2819400" cy="609600"/>
          </a:xfrm>
          <a:prstGeom prst="line">
            <a:avLst/>
          </a:prstGeom>
          <a:noFill/>
          <a:ln w="76200">
            <a:solidFill>
              <a:srgbClr val="FF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6984" name="Line 88"/>
          <p:cNvSpPr>
            <a:spLocks noChangeShapeType="1"/>
          </p:cNvSpPr>
          <p:nvPr/>
        </p:nvSpPr>
        <p:spPr bwMode="auto">
          <a:xfrm flipH="1">
            <a:off x="2268538" y="3716338"/>
            <a:ext cx="3352800" cy="990600"/>
          </a:xfrm>
          <a:prstGeom prst="line">
            <a:avLst/>
          </a:prstGeom>
          <a:noFill/>
          <a:ln w="76200">
            <a:solidFill>
              <a:srgbClr val="FF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6985" name="Line 89"/>
          <p:cNvSpPr>
            <a:spLocks noChangeShapeType="1"/>
          </p:cNvSpPr>
          <p:nvPr/>
        </p:nvSpPr>
        <p:spPr bwMode="auto">
          <a:xfrm flipH="1">
            <a:off x="2916238" y="5013325"/>
            <a:ext cx="838200" cy="609600"/>
          </a:xfrm>
          <a:prstGeom prst="line">
            <a:avLst/>
          </a:prstGeom>
          <a:noFill/>
          <a:ln w="76200">
            <a:solidFill>
              <a:srgbClr val="FF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6986" name="Freeform 90"/>
          <p:cNvSpPr/>
          <p:nvPr/>
        </p:nvSpPr>
        <p:spPr bwMode="auto">
          <a:xfrm>
            <a:off x="2339975" y="4941888"/>
            <a:ext cx="1219200" cy="165100"/>
          </a:xfrm>
          <a:custGeom>
            <a:avLst/>
            <a:gdLst>
              <a:gd name="T0" fmla="*/ 2147483647 w 720"/>
              <a:gd name="T1" fmla="*/ 0 h 152"/>
              <a:gd name="T2" fmla="*/ 2147483647 w 720"/>
              <a:gd name="T3" fmla="*/ 2147483647 h 152"/>
              <a:gd name="T4" fmla="*/ 0 w 720"/>
              <a:gd name="T5" fmla="*/ 2147483647 h 152"/>
              <a:gd name="T6" fmla="*/ 0 60000 65536"/>
              <a:gd name="T7" fmla="*/ 0 60000 65536"/>
              <a:gd name="T8" fmla="*/ 0 60000 65536"/>
            </a:gdLst>
            <a:ahLst/>
            <a:cxnLst>
              <a:cxn ang="T6">
                <a:pos x="T0" y="T1"/>
              </a:cxn>
              <a:cxn ang="T7">
                <a:pos x="T2" y="T3"/>
              </a:cxn>
              <a:cxn ang="T8">
                <a:pos x="T4" y="T5"/>
              </a:cxn>
            </a:cxnLst>
            <a:rect l="0" t="0" r="r" b="b"/>
            <a:pathLst>
              <a:path w="720" h="152">
                <a:moveTo>
                  <a:pt x="720" y="0"/>
                </a:moveTo>
                <a:cubicBezTo>
                  <a:pt x="612" y="68"/>
                  <a:pt x="504" y="136"/>
                  <a:pt x="384" y="144"/>
                </a:cubicBezTo>
                <a:cubicBezTo>
                  <a:pt x="264" y="152"/>
                  <a:pt x="64" y="64"/>
                  <a:pt x="0" y="48"/>
                </a:cubicBezTo>
              </a:path>
            </a:pathLst>
          </a:custGeom>
          <a:noFill/>
          <a:ln w="76200" cap="flat" cmpd="sng">
            <a:solidFill>
              <a:srgbClr val="009900"/>
            </a:solidFill>
            <a:prstDash val="solid"/>
            <a:roun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5"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976983"/>
                                        </p:tgtEl>
                                        <p:attrNameLst>
                                          <p:attrName>style.visibility</p:attrName>
                                        </p:attrNameLst>
                                      </p:cBhvr>
                                      <p:to>
                                        <p:strVal val="visible"/>
                                      </p:to>
                                    </p:set>
                                    <p:animEffect transition="in" filter="wipe(up)">
                                      <p:cBhvr>
                                        <p:cTn id="7" dur="500"/>
                                        <p:tgtEl>
                                          <p:spTgt spid="97698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976984"/>
                                        </p:tgtEl>
                                        <p:attrNameLst>
                                          <p:attrName>style.visibility</p:attrName>
                                        </p:attrNameLst>
                                      </p:cBhvr>
                                      <p:to>
                                        <p:strVal val="visible"/>
                                      </p:to>
                                    </p:set>
                                    <p:animEffect transition="in" filter="wipe(up)">
                                      <p:cBhvr>
                                        <p:cTn id="12" dur="500"/>
                                        <p:tgtEl>
                                          <p:spTgt spid="97698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grpId="0" nodeType="clickEffect">
                                  <p:stCondLst>
                                    <p:cond delay="0"/>
                                  </p:stCondLst>
                                  <p:childTnLst>
                                    <p:set>
                                      <p:cBhvr>
                                        <p:cTn id="16" dur="1" fill="hold">
                                          <p:stCondLst>
                                            <p:cond delay="0"/>
                                          </p:stCondLst>
                                        </p:cTn>
                                        <p:tgtEl>
                                          <p:spTgt spid="976986"/>
                                        </p:tgtEl>
                                        <p:attrNameLst>
                                          <p:attrName>style.visibility</p:attrName>
                                        </p:attrNameLst>
                                      </p:cBhvr>
                                      <p:to>
                                        <p:strVal val="visible"/>
                                      </p:to>
                                    </p:set>
                                    <p:animEffect transition="in" filter="wipe(right)">
                                      <p:cBhvr>
                                        <p:cTn id="17" dur="500"/>
                                        <p:tgtEl>
                                          <p:spTgt spid="97698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976985"/>
                                        </p:tgtEl>
                                        <p:attrNameLst>
                                          <p:attrName>style.visibility</p:attrName>
                                        </p:attrNameLst>
                                      </p:cBhvr>
                                      <p:to>
                                        <p:strVal val="visible"/>
                                      </p:to>
                                    </p:set>
                                    <p:animEffect transition="in" filter="wipe(up)">
                                      <p:cBhvr>
                                        <p:cTn id="22" dur="500"/>
                                        <p:tgtEl>
                                          <p:spTgt spid="9769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6983" grpId="0" animBg="1"/>
      <p:bldP spid="976984" grpId="0" animBg="1"/>
      <p:bldP spid="976985" grpId="0" animBg="1"/>
      <p:bldP spid="976986" grpId="0"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7922" name="Rectangle 2"/>
          <p:cNvSpPr>
            <a:spLocks noGrp="1" noChangeArrowheads="1"/>
          </p:cNvSpPr>
          <p:nvPr>
            <p:ph type="title"/>
          </p:nvPr>
        </p:nvSpPr>
        <p:spPr/>
        <p:txBody>
          <a:bodyPr/>
          <a:lstStyle/>
          <a:p>
            <a:pPr eaLnBrk="1" hangingPunct="1">
              <a:defRPr/>
            </a:pPr>
            <a:r>
              <a:rPr lang="zh-CN" altLang="en-US" dirty="0" smtClean="0"/>
              <a:t>举  例</a:t>
            </a:r>
            <a:br>
              <a:rPr lang="zh-CN" altLang="en-US" sz="3200" dirty="0" smtClean="0"/>
            </a:br>
            <a:r>
              <a:rPr lang="zh-CN" altLang="en-US" sz="3200" dirty="0" smtClean="0"/>
              <a:t>   — 循环展开+</a:t>
            </a:r>
            <a:r>
              <a:rPr lang="en-US" altLang="zh-CN" sz="3200" dirty="0" smtClean="0"/>
              <a:t>VLIW</a:t>
            </a:r>
            <a:r>
              <a:rPr lang="zh-CN" altLang="en-US" sz="3200" dirty="0" smtClean="0"/>
              <a:t>调度</a:t>
            </a:r>
            <a:endParaRPr lang="zh-CN" altLang="en-US" sz="3200" dirty="0" smtClean="0"/>
          </a:p>
        </p:txBody>
      </p:sp>
      <p:sp>
        <p:nvSpPr>
          <p:cNvPr id="26419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r>
              <a:rPr lang="en-US" altLang="zh-CN" sz="1200" b="0">
                <a:latin typeface="Times New Roman" panose="02020603050405020304" pitchFamily="18" charset="0"/>
                <a:ea typeface="幼圆" panose="02010509060101010101" pitchFamily="49" charset="-122"/>
              </a:rPr>
              <a:t> &gt;&gt;</a:t>
            </a:r>
            <a:r>
              <a:rPr lang="zh-CN" altLang="en-US" sz="1200" b="0">
                <a:latin typeface="Times New Roman" panose="02020603050405020304" pitchFamily="18" charset="0"/>
                <a:ea typeface="幼圆" panose="02010509060101010101" pitchFamily="49" charset="-122"/>
                <a:hlinkClick r:id="rId4" action="ppaction://hlinksldjump"/>
              </a:rPr>
              <a:t>设计问题</a:t>
            </a:r>
            <a:endParaRPr lang="zh-CN" altLang="en-US" sz="1200" b="0">
              <a:latin typeface="Times New Roman" panose="02020603050405020304" pitchFamily="18" charset="0"/>
              <a:ea typeface="幼圆" panose="02010509060101010101" pitchFamily="49" charset="-122"/>
            </a:endParaRPr>
          </a:p>
        </p:txBody>
      </p:sp>
      <p:sp>
        <p:nvSpPr>
          <p:cNvPr id="264196"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4 之 4</a:t>
            </a:r>
            <a:endParaRPr lang="zh-CN" altLang="en-US" sz="1200" b="0">
              <a:latin typeface="幼圆" panose="02010509060101010101" pitchFamily="49" charset="-122"/>
              <a:ea typeface="幼圆" panose="02010509060101010101" pitchFamily="49" charset="-122"/>
            </a:endParaRPr>
          </a:p>
        </p:txBody>
      </p:sp>
      <p:graphicFrame>
        <p:nvGraphicFramePr>
          <p:cNvPr id="978034" name="Group 114"/>
          <p:cNvGraphicFramePr>
            <a:graphicFrameLocks noGrp="1"/>
          </p:cNvGraphicFramePr>
          <p:nvPr/>
        </p:nvGraphicFramePr>
        <p:xfrm>
          <a:off x="900113" y="2060575"/>
          <a:ext cx="7924800" cy="4373656"/>
        </p:xfrm>
        <a:graphic>
          <a:graphicData uri="http://schemas.openxmlformats.org/drawingml/2006/table">
            <a:tbl>
              <a:tblPr/>
              <a:tblGrid>
                <a:gridCol w="2133600"/>
                <a:gridCol w="2438400"/>
                <a:gridCol w="2209800"/>
                <a:gridCol w="1143000"/>
              </a:tblGrid>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Load/store</a:t>
                      </a: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或分支</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定点操作</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浮点操作</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时钟周期</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L.D F0,0(R1)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L.D F6,-8(R1)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2</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L.D F10,-16(R1)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ADD.D F4,F0,F2</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3</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L.D F14,-24(R1)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ADD.D F8,F6,F2</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4</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L.D F18,-32(R1)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ADD.D F12,F10,F2</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5</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S.D F4,0(R1)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ADD.D F16,F14,F2</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6</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S.D F8,-8(R1)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ADD.D F20,F18,F2</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7</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S.D F12,-16(R1)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8</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S.D F16,-24(R1)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9</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S.D F20,-32(R1)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DADDUI R1,R1,#-40</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10</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11</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BNE R1,R2,Loop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12</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en-US" altLang="zh-CN" sz="1800" b="1" i="0" u="none" strike="noStrike" cap="none" normalizeH="0" baseline="0" smtClean="0">
                          <a:ln>
                            <a:noFill/>
                          </a:ln>
                          <a:solidFill>
                            <a:schemeClr val="tx1"/>
                          </a:solidFill>
                          <a:effectLst/>
                          <a:latin typeface="Comic Sans MS" panose="030F0702030302020204"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anose="020B0604020202020204" pitchFamily="34" charset="0"/>
                          <a:ea typeface="楷体_GB2312" pitchFamily="49" charset="-122"/>
                        </a:defRPr>
                      </a:lvl1pPr>
                      <a:lvl2pPr>
                        <a:buClr>
                          <a:schemeClr val="accent2"/>
                        </a:buClr>
                        <a:buSzPct val="55000"/>
                        <a:defRPr kumimoji="1" sz="2400" b="1">
                          <a:solidFill>
                            <a:schemeClr val="tx1"/>
                          </a:solidFill>
                          <a:latin typeface="Arial" panose="020B0604020202020204" pitchFamily="34" charset="0"/>
                          <a:ea typeface="楷体_GB2312" pitchFamily="49" charset="-122"/>
                        </a:defRPr>
                      </a:lvl2pPr>
                      <a:lvl3pPr marL="857250">
                        <a:buClr>
                          <a:schemeClr val="accent2"/>
                        </a:buClr>
                        <a:buSzPct val="65000"/>
                        <a:defRPr kumimoji="1" sz="2000" b="1">
                          <a:solidFill>
                            <a:schemeClr val="tx1"/>
                          </a:solidFill>
                          <a:latin typeface="Arial" panose="020B0604020202020204" pitchFamily="34" charset="0"/>
                          <a:ea typeface="楷体_GB2312" pitchFamily="49" charset="-122"/>
                        </a:defRPr>
                      </a:lvl3pPr>
                      <a:lvl4pPr marL="1200150">
                        <a:buClr>
                          <a:schemeClr val="accent2"/>
                        </a:buClr>
                        <a:buSzPct val="85000"/>
                        <a:defRPr kumimoji="1" b="1">
                          <a:solidFill>
                            <a:schemeClr val="tx1"/>
                          </a:solidFill>
                          <a:latin typeface="Arial" panose="020B0604020202020204" pitchFamily="34" charset="0"/>
                          <a:ea typeface="楷体_GB2312" pitchFamily="49" charset="-122"/>
                        </a:defRPr>
                      </a:lvl4pPr>
                      <a:lvl5pPr marL="1543050">
                        <a:buClr>
                          <a:schemeClr val="accent2"/>
                        </a:buClr>
                        <a:buSzPct val="80000"/>
                        <a:defRPr kumimoji="1" sz="1600" b="1">
                          <a:solidFill>
                            <a:schemeClr val="tx1"/>
                          </a:solidFill>
                          <a:latin typeface="Arial" panose="020B0604020202020204" pitchFamily="34" charset="0"/>
                          <a:ea typeface="楷体_GB2312" pitchFamily="49" charset="-122"/>
                        </a:defRPr>
                      </a:lvl5pPr>
                      <a:lvl6pPr marL="20002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6pPr>
                      <a:lvl7pPr marL="24574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7pPr>
                      <a:lvl8pPr marL="29146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8pPr>
                      <a:lvl9pPr marL="3371850" fontAlgn="base">
                        <a:spcBef>
                          <a:spcPct val="20000"/>
                        </a:spcBef>
                        <a:spcAft>
                          <a:spcPct val="0"/>
                        </a:spcAft>
                        <a:buClr>
                          <a:schemeClr val="accent2"/>
                        </a:buClr>
                        <a:buSzPct val="80000"/>
                        <a:buFont typeface="Wingdings" panose="05000000000000000000" pitchFamily="2" charset="2"/>
                        <a:defRPr kumimoji="1" sz="1600" b="1">
                          <a:solidFill>
                            <a:schemeClr val="tx1"/>
                          </a:solidFill>
                          <a:latin typeface="Arial" panose="020B060402020202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rPr>
                        <a:t>13</a:t>
                      </a:r>
                      <a:endParaRPr kumimoji="1" lang="zh-CN" altLang="en-US" sz="1800" b="1" i="0" u="none" strike="noStrike" cap="none" normalizeH="0" baseline="0" smtClean="0">
                        <a:ln>
                          <a:noFill/>
                        </a:ln>
                        <a:solidFill>
                          <a:schemeClr val="tx1"/>
                        </a:solidFill>
                        <a:effectLst/>
                        <a:latin typeface="Comic Sans MS" panose="030F0702030302020204"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sp>
        <p:nvSpPr>
          <p:cNvPr id="977982" name="Line 62"/>
          <p:cNvSpPr>
            <a:spLocks noChangeShapeType="1"/>
          </p:cNvSpPr>
          <p:nvPr/>
        </p:nvSpPr>
        <p:spPr bwMode="auto">
          <a:xfrm>
            <a:off x="2819400" y="2590800"/>
            <a:ext cx="2819400" cy="533400"/>
          </a:xfrm>
          <a:prstGeom prst="line">
            <a:avLst/>
          </a:prstGeom>
          <a:noFill/>
          <a:ln w="76200">
            <a:solidFill>
              <a:srgbClr val="FF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7983" name="Line 63"/>
          <p:cNvSpPr>
            <a:spLocks noChangeShapeType="1"/>
          </p:cNvSpPr>
          <p:nvPr/>
        </p:nvSpPr>
        <p:spPr bwMode="auto">
          <a:xfrm flipH="1">
            <a:off x="2667000" y="3276600"/>
            <a:ext cx="2895600" cy="838200"/>
          </a:xfrm>
          <a:prstGeom prst="line">
            <a:avLst/>
          </a:prstGeom>
          <a:noFill/>
          <a:ln w="76200">
            <a:solidFill>
              <a:srgbClr val="FF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7984" name="Line 64"/>
          <p:cNvSpPr>
            <a:spLocks noChangeShapeType="1"/>
          </p:cNvSpPr>
          <p:nvPr/>
        </p:nvSpPr>
        <p:spPr bwMode="auto">
          <a:xfrm flipH="1">
            <a:off x="2895600" y="5562600"/>
            <a:ext cx="914400" cy="457200"/>
          </a:xfrm>
          <a:prstGeom prst="line">
            <a:avLst/>
          </a:prstGeom>
          <a:noFill/>
          <a:ln w="76200">
            <a:solidFill>
              <a:srgbClr val="FF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7985" name="Freeform 65"/>
          <p:cNvSpPr/>
          <p:nvPr/>
        </p:nvSpPr>
        <p:spPr bwMode="auto">
          <a:xfrm>
            <a:off x="2286000" y="5486400"/>
            <a:ext cx="1219200" cy="165100"/>
          </a:xfrm>
          <a:custGeom>
            <a:avLst/>
            <a:gdLst>
              <a:gd name="T0" fmla="*/ 2147483647 w 720"/>
              <a:gd name="T1" fmla="*/ 0 h 152"/>
              <a:gd name="T2" fmla="*/ 2147483647 w 720"/>
              <a:gd name="T3" fmla="*/ 2147483647 h 152"/>
              <a:gd name="T4" fmla="*/ 0 w 720"/>
              <a:gd name="T5" fmla="*/ 2147483647 h 152"/>
              <a:gd name="T6" fmla="*/ 0 60000 65536"/>
              <a:gd name="T7" fmla="*/ 0 60000 65536"/>
              <a:gd name="T8" fmla="*/ 0 60000 65536"/>
            </a:gdLst>
            <a:ahLst/>
            <a:cxnLst>
              <a:cxn ang="T6">
                <a:pos x="T0" y="T1"/>
              </a:cxn>
              <a:cxn ang="T7">
                <a:pos x="T2" y="T3"/>
              </a:cxn>
              <a:cxn ang="T8">
                <a:pos x="T4" y="T5"/>
              </a:cxn>
            </a:cxnLst>
            <a:rect l="0" t="0" r="r" b="b"/>
            <a:pathLst>
              <a:path w="720" h="152">
                <a:moveTo>
                  <a:pt x="720" y="0"/>
                </a:moveTo>
                <a:cubicBezTo>
                  <a:pt x="612" y="68"/>
                  <a:pt x="504" y="136"/>
                  <a:pt x="384" y="144"/>
                </a:cubicBezTo>
                <a:cubicBezTo>
                  <a:pt x="264" y="152"/>
                  <a:pt x="64" y="64"/>
                  <a:pt x="0" y="48"/>
                </a:cubicBezTo>
              </a:path>
            </a:pathLst>
          </a:custGeom>
          <a:noFill/>
          <a:ln w="76200" cap="flat" cmpd="sng">
            <a:solidFill>
              <a:srgbClr val="009900"/>
            </a:solidFill>
            <a:prstDash val="solid"/>
            <a:roun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5"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977982"/>
                                        </p:tgtEl>
                                        <p:attrNameLst>
                                          <p:attrName>style.visibility</p:attrName>
                                        </p:attrNameLst>
                                      </p:cBhvr>
                                      <p:to>
                                        <p:strVal val="visible"/>
                                      </p:to>
                                    </p:set>
                                    <p:animEffect transition="in" filter="wipe(up)">
                                      <p:cBhvr>
                                        <p:cTn id="7" dur="500"/>
                                        <p:tgtEl>
                                          <p:spTgt spid="9779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977983"/>
                                        </p:tgtEl>
                                        <p:attrNameLst>
                                          <p:attrName>style.visibility</p:attrName>
                                        </p:attrNameLst>
                                      </p:cBhvr>
                                      <p:to>
                                        <p:strVal val="visible"/>
                                      </p:to>
                                    </p:set>
                                    <p:animEffect transition="in" filter="wipe(up)">
                                      <p:cBhvr>
                                        <p:cTn id="12" dur="500"/>
                                        <p:tgtEl>
                                          <p:spTgt spid="97798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grpId="0" nodeType="clickEffect">
                                  <p:stCondLst>
                                    <p:cond delay="0"/>
                                  </p:stCondLst>
                                  <p:childTnLst>
                                    <p:set>
                                      <p:cBhvr>
                                        <p:cTn id="16" dur="1" fill="hold">
                                          <p:stCondLst>
                                            <p:cond delay="0"/>
                                          </p:stCondLst>
                                        </p:cTn>
                                        <p:tgtEl>
                                          <p:spTgt spid="977985"/>
                                        </p:tgtEl>
                                        <p:attrNameLst>
                                          <p:attrName>style.visibility</p:attrName>
                                        </p:attrNameLst>
                                      </p:cBhvr>
                                      <p:to>
                                        <p:strVal val="visible"/>
                                      </p:to>
                                    </p:set>
                                    <p:animEffect transition="in" filter="wipe(right)">
                                      <p:cBhvr>
                                        <p:cTn id="17" dur="500"/>
                                        <p:tgtEl>
                                          <p:spTgt spid="97798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977984"/>
                                        </p:tgtEl>
                                        <p:attrNameLst>
                                          <p:attrName>style.visibility</p:attrName>
                                        </p:attrNameLst>
                                      </p:cBhvr>
                                      <p:to>
                                        <p:strVal val="visible"/>
                                      </p:to>
                                    </p:set>
                                    <p:animEffect transition="in" filter="wipe(up)">
                                      <p:cBhvr>
                                        <p:cTn id="22" dur="500"/>
                                        <p:tgtEl>
                                          <p:spTgt spid="9779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7982" grpId="0" animBg="1"/>
      <p:bldP spid="977983" grpId="0" animBg="1"/>
      <p:bldP spid="977984" grpId="0" animBg="1"/>
      <p:bldP spid="977985" grpId="0"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9970" name="Rectangle 2"/>
          <p:cNvSpPr>
            <a:spLocks noGrp="1" noChangeArrowheads="1"/>
          </p:cNvSpPr>
          <p:nvPr>
            <p:ph type="title"/>
          </p:nvPr>
        </p:nvSpPr>
        <p:spPr/>
        <p:txBody>
          <a:bodyPr/>
          <a:lstStyle/>
          <a:p>
            <a:pPr eaLnBrk="1" hangingPunct="1">
              <a:defRPr/>
            </a:pPr>
            <a:r>
              <a:rPr lang="zh-CN" altLang="en-US" smtClean="0"/>
              <a:t>代码膨胀</a:t>
            </a:r>
            <a:endParaRPr lang="zh-CN" altLang="en-US" smtClean="0"/>
          </a:p>
        </p:txBody>
      </p:sp>
      <p:sp>
        <p:nvSpPr>
          <p:cNvPr id="26521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r>
              <a:rPr lang="en-US" altLang="zh-CN"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设计问题</a:t>
            </a:r>
            <a:endParaRPr lang="zh-CN" altLang="en-US" sz="1200" b="0">
              <a:latin typeface="Times New Roman" panose="02020603050405020304" pitchFamily="18" charset="0"/>
              <a:ea typeface="幼圆" panose="02010509060101010101" pitchFamily="49" charset="-122"/>
            </a:endParaRPr>
          </a:p>
        </p:txBody>
      </p:sp>
      <p:sp>
        <p:nvSpPr>
          <p:cNvPr id="265220"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1</a:t>
            </a:r>
            <a:endParaRPr lang="zh-CN" altLang="en-US" sz="1200" b="0">
              <a:latin typeface="幼圆" panose="02010509060101010101" pitchFamily="49" charset="-122"/>
              <a:ea typeface="幼圆" panose="02010509060101010101" pitchFamily="49" charset="-122"/>
            </a:endParaRPr>
          </a:p>
        </p:txBody>
      </p:sp>
      <p:sp>
        <p:nvSpPr>
          <p:cNvPr id="265221" name="Rectangle 6"/>
          <p:cNvSpPr>
            <a:spLocks noGrp="1" noChangeArrowheads="1"/>
          </p:cNvSpPr>
          <p:nvPr>
            <p:ph type="body" idx="1"/>
          </p:nvPr>
        </p:nvSpPr>
        <p:spPr/>
        <p:txBody>
          <a:bodyPr/>
          <a:lstStyle/>
          <a:p>
            <a:pPr eaLnBrk="1" hangingPunct="1">
              <a:lnSpc>
                <a:spcPct val="150000"/>
              </a:lnSpc>
              <a:buFont typeface="Wingdings" panose="05000000000000000000" pitchFamily="2" charset="2"/>
              <a:buNone/>
            </a:pPr>
            <a:r>
              <a:rPr lang="zh-CN" altLang="en-US" sz="2800" smtClean="0"/>
              <a:t>   主要原因有二：</a:t>
            </a:r>
            <a:endParaRPr lang="zh-CN" altLang="en-US" sz="2800" smtClean="0"/>
          </a:p>
          <a:p>
            <a:pPr eaLnBrk="1" hangingPunct="1">
              <a:lnSpc>
                <a:spcPct val="150000"/>
              </a:lnSpc>
            </a:pPr>
            <a:r>
              <a:rPr lang="zh-CN" altLang="en-US" sz="2800" smtClean="0"/>
              <a:t>为了产生足够的操作填充一条长指令，必须展开多个循环体，这就增加了代码量。</a:t>
            </a:r>
            <a:endParaRPr lang="zh-CN" altLang="en-US" sz="2800" smtClean="0"/>
          </a:p>
          <a:p>
            <a:pPr eaLnBrk="1" hangingPunct="1">
              <a:lnSpc>
                <a:spcPct val="150000"/>
              </a:lnSpc>
            </a:pPr>
            <a:r>
              <a:rPr lang="zh-CN" altLang="en-US" sz="2800" smtClean="0"/>
              <a:t>若指令未被填满，则空闲的功能部件在指令译码时仍会被翻译，并填以无用的指令，从而也增加了代码量。</a:t>
            </a:r>
            <a:endParaRPr lang="zh-CN" altLang="en-US" sz="2800" smtClean="0"/>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2018" name="Rectangle 2"/>
          <p:cNvSpPr>
            <a:spLocks noGrp="1" noChangeArrowheads="1"/>
          </p:cNvSpPr>
          <p:nvPr>
            <p:ph type="title"/>
          </p:nvPr>
        </p:nvSpPr>
        <p:spPr/>
        <p:txBody>
          <a:bodyPr/>
          <a:lstStyle/>
          <a:p>
            <a:pPr eaLnBrk="1" hangingPunct="1">
              <a:defRPr/>
            </a:pPr>
            <a:r>
              <a:rPr lang="zh-CN" altLang="en-US" smtClean="0"/>
              <a:t>解决方法</a:t>
            </a:r>
            <a:endParaRPr lang="zh-CN" altLang="en-US" smtClean="0"/>
          </a:p>
        </p:txBody>
      </p:sp>
      <p:sp>
        <p:nvSpPr>
          <p:cNvPr id="2662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r>
              <a:rPr lang="en-US" altLang="zh-CN"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设计问题</a:t>
            </a:r>
            <a:endParaRPr lang="zh-CN" altLang="en-US" sz="1200" b="0">
              <a:latin typeface="Times New Roman" panose="02020603050405020304" pitchFamily="18" charset="0"/>
              <a:ea typeface="幼圆" panose="02010509060101010101" pitchFamily="49" charset="-122"/>
            </a:endParaRPr>
          </a:p>
        </p:txBody>
      </p:sp>
      <p:sp>
        <p:nvSpPr>
          <p:cNvPr id="266244"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2</a:t>
            </a:r>
            <a:endParaRPr lang="zh-CN" altLang="en-US" sz="1200" b="0">
              <a:latin typeface="幼圆" panose="02010509060101010101" pitchFamily="49" charset="-122"/>
              <a:ea typeface="幼圆" panose="02010509060101010101" pitchFamily="49" charset="-122"/>
            </a:endParaRPr>
          </a:p>
        </p:txBody>
      </p:sp>
      <p:sp>
        <p:nvSpPr>
          <p:cNvPr id="982022" name="Rectangle 6"/>
          <p:cNvSpPr>
            <a:spLocks noGrp="1" noChangeArrowheads="1"/>
          </p:cNvSpPr>
          <p:nvPr>
            <p:ph type="body" idx="1"/>
          </p:nvPr>
        </p:nvSpPr>
        <p:spPr/>
        <p:txBody>
          <a:bodyPr/>
          <a:lstStyle/>
          <a:p>
            <a:pPr marL="0" indent="0" eaLnBrk="1" hangingPunct="1">
              <a:lnSpc>
                <a:spcPct val="120000"/>
              </a:lnSpc>
              <a:buFont typeface="Wingdings" panose="05000000000000000000" pitchFamily="2" charset="2"/>
              <a:buNone/>
              <a:defRPr/>
            </a:pPr>
            <a:r>
              <a:rPr lang="zh-CN" altLang="en-US" sz="2800" dirty="0" smtClean="0"/>
              <a:t>    有二：</a:t>
            </a:r>
            <a:endParaRPr lang="zh-CN" altLang="en-US" sz="2800" dirty="0" smtClean="0"/>
          </a:p>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智能译码</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20000"/>
              </a:lnSpc>
              <a:buNone/>
              <a:defRPr/>
            </a:pPr>
            <a:r>
              <a:rPr lang="zh-CN" altLang="en-US" sz="2800" dirty="0" smtClean="0"/>
              <a:t>    例如：只有一个立即数字段供所有的功能部件使用（即：</a:t>
            </a:r>
            <a:r>
              <a:rPr lang="zh-CN" altLang="en-US" sz="2800" dirty="0"/>
              <a:t>指令共享立即数字段）</a:t>
            </a:r>
            <a:r>
              <a:rPr lang="zh-CN" altLang="en-US" sz="2800" dirty="0" smtClean="0"/>
              <a:t>。</a:t>
            </a:r>
            <a:endParaRPr lang="zh-CN" altLang="en-US" sz="2800" dirty="0" smtClean="0"/>
          </a:p>
          <a:p>
            <a:pPr marL="0" indent="0" eaLnBrk="1" hangingPunct="1">
              <a:lnSpc>
                <a:spcPct val="120000"/>
              </a:lnSpc>
              <a:spcBef>
                <a:spcPct val="50000"/>
              </a:spcBef>
              <a:buClr>
                <a:srgbClr val="FF0000"/>
              </a:buClr>
              <a:defRPr/>
            </a:pPr>
            <a:r>
              <a:rPr lang="zh-CN" altLang="en-US" sz="2800" dirty="0" smtClean="0">
                <a:solidFill>
                  <a:srgbClr val="FF0000"/>
                </a:solidFill>
                <a:effectLst>
                  <a:outerShdw blurRad="38100" dist="38100" dir="2700000" algn="tl">
                    <a:srgbClr val="C0C0C0"/>
                  </a:outerShdw>
                </a:effectLst>
              </a:rPr>
              <a:t>  代码压缩</a:t>
            </a:r>
            <a:endParaRPr lang="zh-CN" altLang="en-US" sz="2800" dirty="0" smtClean="0">
              <a:solidFill>
                <a:srgbClr val="FF0000"/>
              </a:solidFill>
              <a:effectLst>
                <a:outerShdw blurRad="38100" dist="38100" dir="2700000" algn="tl">
                  <a:srgbClr val="C0C0C0"/>
                </a:outerShdw>
              </a:effectLst>
            </a:endParaRPr>
          </a:p>
          <a:p>
            <a:pPr marL="0" indent="0" eaLnBrk="1" hangingPunct="1">
              <a:lnSpc>
                <a:spcPct val="120000"/>
              </a:lnSpc>
              <a:buFont typeface="Wingdings" panose="05000000000000000000" pitchFamily="2" charset="2"/>
              <a:buNone/>
              <a:defRPr/>
            </a:pPr>
            <a:r>
              <a:rPr lang="zh-CN" altLang="en-US" sz="2800" dirty="0" smtClean="0"/>
              <a:t>    将指令压缩存储到内存中，并在指令读出到</a:t>
            </a:r>
            <a:r>
              <a:rPr lang="en-US" altLang="zh-CN" sz="2800" dirty="0" smtClean="0"/>
              <a:t>Cache</a:t>
            </a:r>
            <a:r>
              <a:rPr lang="zh-CN" altLang="en-US" sz="2800" dirty="0" smtClean="0"/>
              <a:t>或进行译码时才扩展它们。</a:t>
            </a:r>
            <a:endParaRPr lang="zh-CN" altLang="en-US" sz="2800" dirty="0" smtClean="0"/>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42" name="Rectangle 2"/>
          <p:cNvSpPr>
            <a:spLocks noGrp="1" noChangeArrowheads="1"/>
          </p:cNvSpPr>
          <p:nvPr>
            <p:ph type="title"/>
          </p:nvPr>
        </p:nvSpPr>
        <p:spPr/>
        <p:txBody>
          <a:bodyPr/>
          <a:lstStyle/>
          <a:p>
            <a:pPr eaLnBrk="1" hangingPunct="1">
              <a:defRPr/>
            </a:pPr>
            <a:r>
              <a:rPr lang="zh-CN" altLang="en-US" smtClean="0"/>
              <a:t>代码压缩</a:t>
            </a:r>
            <a:endParaRPr lang="zh-CN" altLang="en-US" smtClean="0"/>
          </a:p>
        </p:txBody>
      </p:sp>
      <p:sp>
        <p:nvSpPr>
          <p:cNvPr id="26726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r>
              <a:rPr lang="en-US" altLang="zh-CN"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设计问题</a:t>
            </a:r>
            <a:endParaRPr lang="zh-CN" altLang="en-US" sz="1200" b="0">
              <a:latin typeface="Times New Roman" panose="02020603050405020304" pitchFamily="18" charset="0"/>
              <a:ea typeface="幼圆" panose="02010509060101010101" pitchFamily="49" charset="-122"/>
            </a:endParaRPr>
          </a:p>
        </p:txBody>
      </p:sp>
      <p:sp>
        <p:nvSpPr>
          <p:cNvPr id="267268"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3 之 3</a:t>
            </a:r>
            <a:endParaRPr lang="zh-CN" altLang="en-US" sz="1200" b="0">
              <a:latin typeface="幼圆" panose="02010509060101010101" pitchFamily="49" charset="-122"/>
              <a:ea typeface="幼圆" panose="02010509060101010101" pitchFamily="49" charset="-122"/>
            </a:endParaRPr>
          </a:p>
        </p:txBody>
      </p:sp>
      <p:pic>
        <p:nvPicPr>
          <p:cNvPr id="267269" name="Picture 7"/>
          <p:cNvPicPr>
            <a:picLocks noChangeAspect="1" noChangeArrowheads="1"/>
          </p:cNvPicPr>
          <p:nvPr/>
        </p:nvPicPr>
        <p:blipFill>
          <a:blip r:embed="rId5">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a:stretch>
            <a:fillRect/>
          </a:stretch>
        </p:blipFill>
        <p:spPr bwMode="auto">
          <a:xfrm>
            <a:off x="1143000" y="2057400"/>
            <a:ext cx="7581900" cy="441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random/>
    <p:sndAc>
      <p:stSnd>
        <p:snd r:embed="rId6" name="projctor.wav"/>
      </p:stSnd>
    </p:sndAc>
  </p:transition>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0994" name="Rectangle 2"/>
          <p:cNvSpPr>
            <a:spLocks noGrp="1" noChangeArrowheads="1"/>
          </p:cNvSpPr>
          <p:nvPr>
            <p:ph type="title"/>
          </p:nvPr>
        </p:nvSpPr>
        <p:spPr/>
        <p:txBody>
          <a:bodyPr/>
          <a:lstStyle/>
          <a:p>
            <a:pPr eaLnBrk="1" hangingPunct="1">
              <a:defRPr/>
            </a:pPr>
            <a:r>
              <a:rPr lang="zh-CN" altLang="en-US" smtClean="0"/>
              <a:t>二进制代码的兼容性</a:t>
            </a:r>
            <a:endParaRPr lang="zh-CN" altLang="en-US" smtClean="0"/>
          </a:p>
        </p:txBody>
      </p:sp>
      <p:sp>
        <p:nvSpPr>
          <p:cNvPr id="2682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r>
              <a:rPr lang="en-US" altLang="zh-CN"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设计问题</a:t>
            </a:r>
            <a:endParaRPr lang="zh-CN" altLang="en-US" sz="1200" b="0">
              <a:latin typeface="Times New Roman" panose="02020603050405020304" pitchFamily="18" charset="0"/>
              <a:ea typeface="幼圆" panose="02010509060101010101" pitchFamily="49" charset="-122"/>
            </a:endParaRPr>
          </a:p>
        </p:txBody>
      </p:sp>
      <p:sp>
        <p:nvSpPr>
          <p:cNvPr id="268292"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1</a:t>
            </a:r>
            <a:endParaRPr lang="zh-CN" altLang="en-US" sz="1200" b="0">
              <a:latin typeface="幼圆" panose="02010509060101010101" pitchFamily="49" charset="-122"/>
              <a:ea typeface="幼圆" panose="02010509060101010101" pitchFamily="49" charset="-122"/>
            </a:endParaRPr>
          </a:p>
        </p:txBody>
      </p:sp>
      <p:pic>
        <p:nvPicPr>
          <p:cNvPr id="268293" name="Picture 6"/>
          <p:cNvPicPr>
            <a:picLocks noChangeAspect="1" noChangeArrowheads="1"/>
          </p:cNvPicPr>
          <p:nvPr/>
        </p:nvPicPr>
        <p:blipFill>
          <a:blip r:embed="rId5">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a:stretch>
            <a:fillRect/>
          </a:stretch>
        </p:blipFill>
        <p:spPr bwMode="auto">
          <a:xfrm>
            <a:off x="1447800" y="1865337"/>
            <a:ext cx="7029450" cy="4371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TextBox 2"/>
          <p:cNvSpPr txBox="1"/>
          <p:nvPr/>
        </p:nvSpPr>
        <p:spPr>
          <a:xfrm>
            <a:off x="755576" y="6156012"/>
            <a:ext cx="8280920" cy="369332"/>
          </a:xfrm>
          <a:prstGeom prst="rect">
            <a:avLst/>
          </a:prstGeom>
          <a:noFill/>
        </p:spPr>
        <p:txBody>
          <a:bodyPr wrap="square" rtlCol="0">
            <a:spAutoFit/>
          </a:bodyPr>
          <a:lstStyle/>
          <a:p>
            <a:r>
              <a:rPr lang="zh-CN" altLang="en-US" sz="1800" b="1" dirty="0" smtClean="0">
                <a:ea typeface="楷体_GB2312"/>
              </a:rPr>
              <a:t>目标代码</a:t>
            </a:r>
            <a:r>
              <a:rPr lang="zh-CN" altLang="en-US" sz="1800" b="1" dirty="0" smtClean="0">
                <a:solidFill>
                  <a:srgbClr val="FF0000"/>
                </a:solidFill>
                <a:ea typeface="楷体_GB2312"/>
              </a:rPr>
              <a:t>充分</a:t>
            </a:r>
            <a:r>
              <a:rPr lang="zh-CN" altLang="en-US" sz="1800" b="1" dirty="0" smtClean="0">
                <a:ea typeface="楷体_GB2312"/>
              </a:rPr>
              <a:t>利用了指令系统的特点和具体指令流水线结构的细节来进行</a:t>
            </a:r>
            <a:r>
              <a:rPr lang="zh-CN" altLang="en-US" sz="1800" b="1" dirty="0" smtClean="0">
                <a:solidFill>
                  <a:srgbClr val="FF0000"/>
                </a:solidFill>
                <a:ea typeface="楷体_GB2312"/>
              </a:rPr>
              <a:t>优化</a:t>
            </a:r>
            <a:r>
              <a:rPr lang="zh-CN" altLang="en-US" sz="1800" b="1" dirty="0" smtClean="0">
                <a:ea typeface="楷体_GB2312"/>
              </a:rPr>
              <a:t>的</a:t>
            </a:r>
            <a:endParaRPr lang="zh-CN" altLang="en-US" sz="1800" b="1" dirty="0">
              <a:ea typeface="楷体_GB2312"/>
            </a:endParaRPr>
          </a:p>
        </p:txBody>
      </p:sp>
    </p:spTree>
  </p:cSld>
  <p:clrMapOvr>
    <a:masterClrMapping/>
  </p:clrMapOvr>
  <p:transition spd="slow">
    <p:random/>
    <p:sndAc>
      <p:stSnd>
        <p:snd r:embed="rId6" name="projctor.wav"/>
      </p:stSnd>
    </p:sndAc>
  </p:transition>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70" name="Rectangle 6"/>
          <p:cNvSpPr>
            <a:spLocks noGrp="1" noChangeArrowheads="1"/>
          </p:cNvSpPr>
          <p:nvPr>
            <p:ph type="title"/>
          </p:nvPr>
        </p:nvSpPr>
        <p:spPr/>
        <p:txBody>
          <a:bodyPr/>
          <a:lstStyle/>
          <a:p>
            <a:pPr eaLnBrk="1" hangingPunct="1">
              <a:defRPr/>
            </a:pPr>
            <a:r>
              <a:rPr lang="zh-CN" altLang="en-US" smtClean="0"/>
              <a:t>解决方法</a:t>
            </a:r>
            <a:endParaRPr lang="zh-CN" altLang="en-US" smtClean="0"/>
          </a:p>
        </p:txBody>
      </p:sp>
      <p:sp>
        <p:nvSpPr>
          <p:cNvPr id="269315" name="Rectangle 7"/>
          <p:cNvSpPr>
            <a:spLocks noGrp="1" noChangeArrowheads="1"/>
          </p:cNvSpPr>
          <p:nvPr>
            <p:ph type="body" idx="1"/>
          </p:nvPr>
        </p:nvSpPr>
        <p:spPr>
          <a:xfrm>
            <a:off x="809625" y="2144713"/>
            <a:ext cx="7958138" cy="4256087"/>
          </a:xfrm>
        </p:spPr>
        <p:txBody>
          <a:bodyPr/>
          <a:lstStyle/>
          <a:p>
            <a:pPr eaLnBrk="1" hangingPunct="1">
              <a:lnSpc>
                <a:spcPct val="150000"/>
              </a:lnSpc>
              <a:buFont typeface="Wingdings" panose="05000000000000000000" pitchFamily="2" charset="2"/>
              <a:buNone/>
            </a:pPr>
            <a:r>
              <a:rPr lang="zh-CN" altLang="en-US" smtClean="0"/>
              <a:t>    有二：</a:t>
            </a:r>
            <a:endParaRPr lang="zh-CN" altLang="en-US" smtClean="0"/>
          </a:p>
          <a:p>
            <a:pPr eaLnBrk="1" hangingPunct="1">
              <a:lnSpc>
                <a:spcPct val="150000"/>
              </a:lnSpc>
            </a:pPr>
            <a:r>
              <a:rPr lang="zh-CN" altLang="en-US" smtClean="0"/>
              <a:t>机器代码翻译或仿真</a:t>
            </a:r>
            <a:endParaRPr lang="zh-CN" altLang="en-US" smtClean="0"/>
          </a:p>
          <a:p>
            <a:pPr eaLnBrk="1" hangingPunct="1">
              <a:lnSpc>
                <a:spcPct val="150000"/>
              </a:lnSpc>
            </a:pPr>
            <a:r>
              <a:rPr lang="zh-CN" altLang="en-US" smtClean="0"/>
              <a:t>放宽</a:t>
            </a:r>
            <a:r>
              <a:rPr lang="en-US" altLang="zh-CN" smtClean="0"/>
              <a:t>VLIW</a:t>
            </a:r>
            <a:r>
              <a:rPr lang="zh-CN" altLang="en-US" smtClean="0"/>
              <a:t>的限制以保持二进制代码的兼容性</a:t>
            </a:r>
            <a:endParaRPr lang="zh-CN" altLang="en-US" smtClean="0"/>
          </a:p>
        </p:txBody>
      </p:sp>
      <p:sp>
        <p:nvSpPr>
          <p:cNvPr id="269316"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r>
              <a:rPr lang="zh-CN" altLang="en-US" sz="1200" b="0">
                <a:latin typeface="Times New Roman" panose="02020603050405020304" pitchFamily="18" charset="0"/>
                <a:ea typeface="幼圆" panose="02010509060101010101" pitchFamily="49" charset="-122"/>
              </a:rPr>
              <a:t>&gt;&gt;</a:t>
            </a:r>
            <a:r>
              <a:rPr lang="en-US" altLang="zh-CN" sz="1200" b="0">
                <a:latin typeface="Times New Roman" panose="02020603050405020304" pitchFamily="18" charset="0"/>
                <a:ea typeface="幼圆" panose="02010509060101010101" pitchFamily="49" charset="-122"/>
                <a:hlinkClick r:id="rId3" action="ppaction://hlinksldjump"/>
              </a:rPr>
              <a:t>VLIW</a:t>
            </a:r>
            <a:r>
              <a:rPr lang="en-US" altLang="zh-CN"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4" action="ppaction://hlinksldjump"/>
              </a:rPr>
              <a:t>设计问题</a:t>
            </a:r>
            <a:endParaRPr lang="zh-CN" altLang="en-US" sz="1200" b="0">
              <a:latin typeface="Times New Roman" panose="02020603050405020304" pitchFamily="18" charset="0"/>
              <a:ea typeface="幼圆" panose="02010509060101010101" pitchFamily="49" charset="-122"/>
            </a:endParaRPr>
          </a:p>
        </p:txBody>
      </p:sp>
      <p:sp>
        <p:nvSpPr>
          <p:cNvPr id="269317"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zh-CN" altLang="en-US" sz="1200" b="0">
                <a:latin typeface="幼圆" panose="02010509060101010101" pitchFamily="49" charset="-122"/>
                <a:ea typeface="幼圆" panose="02010509060101010101" pitchFamily="49" charset="-122"/>
              </a:rPr>
              <a:t>2 之 2</a:t>
            </a:r>
            <a:endParaRPr lang="zh-CN" altLang="en-US" sz="1200" b="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dirty="0"/>
              <a:t>多流出处理器受到的限制</a:t>
            </a:r>
            <a:endParaRPr lang="zh-CN" altLang="en-US" dirty="0" smtClean="0"/>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endParaRPr lang="zh-CN" altLang="en-US" sz="1200" b="0">
              <a:latin typeface="Times New Roman" panose="02020603050405020304" pitchFamily="18" charset="0"/>
              <a:ea typeface="幼圆" panose="02010509060101010101" pitchFamily="49" charset="-122"/>
            </a:endParaRPr>
          </a:p>
        </p:txBody>
      </p:sp>
      <p:sp>
        <p:nvSpPr>
          <p:cNvPr id="8"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1</a:t>
            </a:r>
            <a:endParaRPr lang="zh-CN" altLang="en-US" sz="1200" b="0" dirty="0">
              <a:latin typeface="幼圆" panose="02010509060101010101" pitchFamily="49" charset="-122"/>
              <a:ea typeface="幼圆" panose="02010509060101010101" pitchFamily="49" charset="-122"/>
            </a:endParaRPr>
          </a:p>
        </p:txBody>
      </p:sp>
      <p:sp>
        <p:nvSpPr>
          <p:cNvPr id="5" name="内容占位符 4"/>
          <p:cNvSpPr>
            <a:spLocks noGrp="1"/>
          </p:cNvSpPr>
          <p:nvPr>
            <p:ph idx="1"/>
          </p:nvPr>
        </p:nvSpPr>
        <p:spPr>
          <a:xfrm>
            <a:off x="809625" y="1989138"/>
            <a:ext cx="7958138" cy="4536206"/>
          </a:xfrm>
        </p:spPr>
        <p:txBody>
          <a:bodyPr/>
          <a:lstStyle/>
          <a:p>
            <a:pPr>
              <a:lnSpc>
                <a:spcPct val="110000"/>
              </a:lnSpc>
            </a:pPr>
            <a:r>
              <a:rPr lang="zh-CN" altLang="en-US" sz="2200" dirty="0" smtClean="0">
                <a:solidFill>
                  <a:srgbClr val="FF0000"/>
                </a:solidFill>
              </a:rPr>
              <a:t>多指令</a:t>
            </a:r>
            <a:r>
              <a:rPr lang="zh-CN" altLang="en-US" sz="2200" dirty="0">
                <a:solidFill>
                  <a:srgbClr val="FF0000"/>
                </a:solidFill>
              </a:rPr>
              <a:t>发射</a:t>
            </a:r>
            <a:r>
              <a:rPr lang="zh-CN" altLang="en-US" sz="2200" dirty="0" smtClean="0">
                <a:solidFill>
                  <a:srgbClr val="FF0000"/>
                </a:solidFill>
              </a:rPr>
              <a:t>处理器中指令发射能力受限于：</a:t>
            </a:r>
            <a:endParaRPr lang="en-US" altLang="zh-CN" sz="2200" dirty="0" smtClean="0">
              <a:solidFill>
                <a:srgbClr val="FF0000"/>
              </a:solidFill>
            </a:endParaRPr>
          </a:p>
          <a:p>
            <a:pPr lvl="1">
              <a:lnSpc>
                <a:spcPct val="110000"/>
              </a:lnSpc>
            </a:pPr>
            <a:r>
              <a:rPr lang="zh-CN" altLang="en-US" sz="2200" dirty="0" smtClean="0"/>
              <a:t>程序</a:t>
            </a:r>
            <a:r>
              <a:rPr lang="zh-CN" altLang="en-US" sz="2200" dirty="0"/>
              <a:t>所固有的指令级</a:t>
            </a:r>
            <a:r>
              <a:rPr lang="zh-CN" altLang="en-US" sz="2200" dirty="0" smtClean="0"/>
              <a:t>并行性（最</a:t>
            </a:r>
            <a:r>
              <a:rPr lang="zh-CN" altLang="en-US" sz="2200" dirty="0"/>
              <a:t>根本</a:t>
            </a:r>
            <a:r>
              <a:rPr lang="zh-CN" altLang="en-US" sz="2200" dirty="0" smtClean="0"/>
              <a:t>原因）</a:t>
            </a:r>
            <a:endParaRPr lang="en-US" altLang="zh-CN" sz="2200" dirty="0" smtClean="0"/>
          </a:p>
          <a:p>
            <a:pPr lvl="1">
              <a:lnSpc>
                <a:spcPct val="110000"/>
              </a:lnSpc>
            </a:pPr>
            <a:r>
              <a:rPr lang="zh-CN" altLang="en-US" sz="2200" dirty="0" smtClean="0"/>
              <a:t>硬件</a:t>
            </a:r>
            <a:r>
              <a:rPr lang="zh-CN" altLang="en-US" sz="2200" dirty="0"/>
              <a:t>实现上的</a:t>
            </a:r>
            <a:r>
              <a:rPr lang="zh-CN" altLang="en-US" sz="2200" dirty="0" smtClean="0"/>
              <a:t>困难</a:t>
            </a:r>
            <a:endParaRPr lang="en-US" altLang="zh-CN" sz="2200" dirty="0" smtClean="0"/>
          </a:p>
          <a:p>
            <a:pPr lvl="1">
              <a:lnSpc>
                <a:spcPct val="110000"/>
              </a:lnSpc>
            </a:pPr>
            <a:r>
              <a:rPr lang="zh-CN" altLang="en-US" sz="2200" dirty="0" smtClean="0"/>
              <a:t>超标</a:t>
            </a:r>
            <a:r>
              <a:rPr lang="zh-CN" altLang="en-US" sz="2200" dirty="0"/>
              <a:t>量和超长指令字处理器固有的技术</a:t>
            </a:r>
            <a:r>
              <a:rPr lang="zh-CN" altLang="en-US" sz="2200" dirty="0" smtClean="0"/>
              <a:t>限制（存储带宽）</a:t>
            </a:r>
            <a:endParaRPr lang="en-US" altLang="zh-CN" sz="2200" dirty="0" smtClean="0"/>
          </a:p>
          <a:p>
            <a:pPr>
              <a:lnSpc>
                <a:spcPct val="110000"/>
              </a:lnSpc>
            </a:pPr>
            <a:r>
              <a:rPr lang="zh-CN" altLang="en-US" sz="2200" dirty="0" smtClean="0">
                <a:solidFill>
                  <a:srgbClr val="FF0000"/>
                </a:solidFill>
              </a:rPr>
              <a:t>结论：</a:t>
            </a:r>
            <a:endParaRPr lang="en-US" altLang="zh-CN" sz="2200" dirty="0" smtClean="0">
              <a:solidFill>
                <a:srgbClr val="FF0000"/>
              </a:solidFill>
            </a:endParaRPr>
          </a:p>
          <a:p>
            <a:pPr lvl="1">
              <a:lnSpc>
                <a:spcPct val="110000"/>
              </a:lnSpc>
            </a:pPr>
            <a:r>
              <a:rPr lang="zh-CN" altLang="en-US" sz="2200" dirty="0" smtClean="0"/>
              <a:t>现存</a:t>
            </a:r>
            <a:r>
              <a:rPr lang="zh-CN" altLang="en-US" sz="2200" dirty="0"/>
              <a:t>的多数超</a:t>
            </a:r>
            <a:r>
              <a:rPr lang="zh-CN" altLang="en-US" sz="2200" dirty="0" smtClean="0"/>
              <a:t>标量处理器，它们</a:t>
            </a:r>
            <a:r>
              <a:rPr lang="zh-CN" altLang="en-US" sz="2200" dirty="0"/>
              <a:t>将</a:t>
            </a:r>
            <a:r>
              <a:rPr lang="zh-CN" altLang="en-US" sz="2200" dirty="0">
                <a:solidFill>
                  <a:srgbClr val="0000FF"/>
                </a:solidFill>
              </a:rPr>
              <a:t>编译器的静态调度</a:t>
            </a:r>
            <a:r>
              <a:rPr lang="zh-CN" altLang="en-US" sz="2200" dirty="0"/>
              <a:t>和</a:t>
            </a:r>
            <a:r>
              <a:rPr lang="zh-CN" altLang="en-US" sz="2200" dirty="0">
                <a:solidFill>
                  <a:srgbClr val="0000FF"/>
                </a:solidFill>
              </a:rPr>
              <a:t>硬件的</a:t>
            </a:r>
            <a:r>
              <a:rPr lang="zh-CN" altLang="en-US" sz="2200" dirty="0" smtClean="0">
                <a:solidFill>
                  <a:srgbClr val="0000FF"/>
                </a:solidFill>
              </a:rPr>
              <a:t>动态</a:t>
            </a:r>
            <a:r>
              <a:rPr lang="zh-CN" altLang="en-US" sz="2200" dirty="0">
                <a:solidFill>
                  <a:srgbClr val="0000FF"/>
                </a:solidFill>
              </a:rPr>
              <a:t>调</a:t>
            </a:r>
            <a:r>
              <a:rPr lang="zh-CN" altLang="en-US" sz="2200" dirty="0" smtClean="0">
                <a:solidFill>
                  <a:srgbClr val="0000FF"/>
                </a:solidFill>
              </a:rPr>
              <a:t>度</a:t>
            </a:r>
            <a:r>
              <a:rPr lang="zh-CN" altLang="en-US" sz="2200" dirty="0">
                <a:solidFill>
                  <a:srgbClr val="0000FF"/>
                </a:solidFill>
              </a:rPr>
              <a:t>机制</a:t>
            </a:r>
            <a:r>
              <a:rPr lang="zh-CN" altLang="en-US" sz="2200" dirty="0"/>
              <a:t>结合</a:t>
            </a:r>
            <a:r>
              <a:rPr lang="zh-CN" altLang="en-US" sz="2200" dirty="0" smtClean="0"/>
              <a:t>起来，共同</a:t>
            </a:r>
            <a:r>
              <a:rPr lang="zh-CN" altLang="en-US" sz="2200" dirty="0"/>
              <a:t>决定可同时</a:t>
            </a:r>
            <a:r>
              <a:rPr lang="zh-CN" altLang="en-US" sz="2200" dirty="0" smtClean="0"/>
              <a:t>并行发射的</a:t>
            </a:r>
            <a:r>
              <a:rPr lang="zh-CN" altLang="en-US" sz="2200" dirty="0"/>
              <a:t>指令</a:t>
            </a:r>
            <a:r>
              <a:rPr lang="zh-CN" altLang="en-US" sz="2200" dirty="0" smtClean="0"/>
              <a:t>数</a:t>
            </a:r>
            <a:endParaRPr lang="en-US" altLang="zh-CN" sz="2200" dirty="0" smtClean="0"/>
          </a:p>
          <a:p>
            <a:pPr lvl="1">
              <a:lnSpc>
                <a:spcPct val="110000"/>
              </a:lnSpc>
            </a:pPr>
            <a:r>
              <a:rPr lang="zh-CN" altLang="en-US" sz="2200" dirty="0" smtClean="0">
                <a:solidFill>
                  <a:srgbClr val="FF0000"/>
                </a:solidFill>
              </a:rPr>
              <a:t>设计难点：</a:t>
            </a:r>
            <a:r>
              <a:rPr lang="zh-CN" altLang="en-US" sz="2200" dirty="0" smtClean="0">
                <a:solidFill>
                  <a:srgbClr val="0000FF"/>
                </a:solidFill>
              </a:rPr>
              <a:t>访</a:t>
            </a:r>
            <a:r>
              <a:rPr lang="zh-CN" altLang="en-US" sz="2200" dirty="0">
                <a:solidFill>
                  <a:srgbClr val="0000FF"/>
                </a:solidFill>
              </a:rPr>
              <a:t>存的开销</a:t>
            </a:r>
            <a:r>
              <a:rPr lang="zh-CN" altLang="en-US" sz="2200" dirty="0"/>
              <a:t>、</a:t>
            </a:r>
            <a:r>
              <a:rPr lang="zh-CN" altLang="en-US" sz="2200" dirty="0">
                <a:solidFill>
                  <a:srgbClr val="0000FF"/>
                </a:solidFill>
              </a:rPr>
              <a:t>硬件的复杂性</a:t>
            </a:r>
            <a:r>
              <a:rPr lang="zh-CN" altLang="en-US" sz="2200" dirty="0"/>
              <a:t>和</a:t>
            </a:r>
            <a:r>
              <a:rPr lang="zh-CN" altLang="en-US" sz="2200" dirty="0">
                <a:solidFill>
                  <a:srgbClr val="0000FF"/>
                </a:solidFill>
              </a:rPr>
              <a:t>编译器技术的难度</a:t>
            </a:r>
            <a:r>
              <a:rPr lang="zh-CN" altLang="en-US" sz="2200" dirty="0" smtClean="0"/>
              <a:t>，各个</a:t>
            </a:r>
            <a:r>
              <a:rPr lang="zh-CN" altLang="en-US" sz="2200" dirty="0"/>
              <a:t>因素的权衡和技术的</a:t>
            </a:r>
            <a:r>
              <a:rPr lang="zh-CN" altLang="en-US" sz="2200" dirty="0" smtClean="0"/>
              <a:t>取舍，取决于</a:t>
            </a:r>
            <a:r>
              <a:rPr lang="zh-CN" altLang="en-US" sz="2200" dirty="0"/>
              <a:t>设计人员认为它对性能有多大影响</a:t>
            </a:r>
            <a:endParaRPr lang="zh-CN" altLang="en-US" sz="2200" dirty="0"/>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sz="5400" dirty="0" smtClean="0"/>
              <a:t>超流水线处理机</a:t>
            </a:r>
            <a:endParaRPr lang="zh-CN" altLang="en-US" sz="5400" dirty="0" smtClean="0"/>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endParaRPr lang="zh-CN" altLang="en-US" sz="1200" b="0">
              <a:latin typeface="Times New Roman" panose="02020603050405020304" pitchFamily="18" charset="0"/>
              <a:ea typeface="幼圆" panose="02010509060101010101" pitchFamily="49" charset="-122"/>
            </a:endParaRPr>
          </a:p>
        </p:txBody>
      </p:sp>
      <p:sp>
        <p:nvSpPr>
          <p:cNvPr id="2" name="内容占位符 1"/>
          <p:cNvSpPr>
            <a:spLocks noGrp="1"/>
          </p:cNvSpPr>
          <p:nvPr>
            <p:ph idx="1"/>
          </p:nvPr>
        </p:nvSpPr>
        <p:spPr>
          <a:xfrm>
            <a:off x="809625" y="1989138"/>
            <a:ext cx="7958138" cy="791790"/>
          </a:xfrm>
        </p:spPr>
        <p:txBody>
          <a:bodyPr/>
          <a:lstStyle/>
          <a:p>
            <a:pPr marL="0" indent="0">
              <a:buNone/>
            </a:pPr>
            <a:r>
              <a:rPr lang="zh-CN" altLang="en-US" sz="2400" dirty="0" smtClean="0"/>
              <a:t>       将每个流水段进一步</a:t>
            </a:r>
            <a:r>
              <a:rPr lang="zh-CN" altLang="en-US" sz="2400" dirty="0" smtClean="0">
                <a:solidFill>
                  <a:srgbClr val="0000FF"/>
                </a:solidFill>
              </a:rPr>
              <a:t>细分</a:t>
            </a:r>
            <a:r>
              <a:rPr lang="zh-CN" altLang="en-US" sz="2400" dirty="0" smtClean="0"/>
              <a:t>，这样在一个时钟周期内能够</a:t>
            </a:r>
            <a:r>
              <a:rPr lang="zh-CN" altLang="en-US" sz="2400" dirty="0" smtClean="0">
                <a:solidFill>
                  <a:srgbClr val="0000FF"/>
                </a:solidFill>
              </a:rPr>
              <a:t>分时</a:t>
            </a:r>
            <a:r>
              <a:rPr lang="zh-CN" altLang="en-US" sz="2400" dirty="0"/>
              <a:t>发射</a:t>
            </a:r>
            <a:r>
              <a:rPr lang="zh-CN" altLang="en-US" sz="2400" dirty="0" smtClean="0"/>
              <a:t>多条指令。这种处理机称为</a:t>
            </a:r>
            <a:r>
              <a:rPr lang="zh-CN" altLang="en-US" sz="2400" dirty="0" smtClean="0">
                <a:solidFill>
                  <a:srgbClr val="FF0000"/>
                </a:solidFill>
              </a:rPr>
              <a:t>超流水线处理机</a:t>
            </a:r>
            <a:r>
              <a:rPr lang="zh-CN" altLang="en-US" sz="2400" dirty="0" smtClean="0"/>
              <a:t>。</a:t>
            </a:r>
            <a:endParaRPr lang="zh-CN" altLang="en-US" sz="2400" dirty="0"/>
          </a:p>
        </p:txBody>
      </p:sp>
      <p:graphicFrame>
        <p:nvGraphicFramePr>
          <p:cNvPr id="3" name="对象 2"/>
          <p:cNvGraphicFramePr>
            <a:graphicFrameLocks noChangeAspect="1"/>
          </p:cNvGraphicFramePr>
          <p:nvPr/>
        </p:nvGraphicFramePr>
        <p:xfrm>
          <a:off x="1717593" y="2924944"/>
          <a:ext cx="6310791" cy="3168352"/>
        </p:xfrm>
        <a:graphic>
          <a:graphicData uri="http://schemas.openxmlformats.org/presentationml/2006/ole">
            <mc:AlternateContent xmlns:mc="http://schemas.openxmlformats.org/markup-compatibility/2006">
              <mc:Choice xmlns:v="urn:schemas-microsoft-com:vml" Requires="v">
                <p:oleObj spid="_x0000_s264212" name="图片" r:id="rId3" imgW="3688080" imgH="1856105" progId="Word.Picture.8">
                  <p:embed/>
                </p:oleObj>
              </mc:Choice>
              <mc:Fallback>
                <p:oleObj name="图片" r:id="rId3" imgW="3688080" imgH="1856105" progId="Word.Picture.8">
                  <p:embed/>
                  <p:pic>
                    <p:nvPicPr>
                      <p:cNvPr id="0" name="图片 2642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17593" y="2924944"/>
                        <a:ext cx="6310791" cy="3168352"/>
                      </a:xfrm>
                      <a:prstGeom prst="rect">
                        <a:avLst/>
                      </a:prstGeom>
                      <a:noFill/>
                      <a:ln>
                        <a:noFill/>
                      </a:ln>
                      <a:effectLst/>
                    </p:spPr>
                  </p:pic>
                </p:oleObj>
              </mc:Fallback>
            </mc:AlternateContent>
          </a:graphicData>
        </a:graphic>
      </p:graphicFrame>
      <p:sp>
        <p:nvSpPr>
          <p:cNvPr id="4" name="矩形 3"/>
          <p:cNvSpPr/>
          <p:nvPr/>
        </p:nvSpPr>
        <p:spPr>
          <a:xfrm>
            <a:off x="1356480" y="6093296"/>
            <a:ext cx="7344816" cy="400110"/>
          </a:xfrm>
          <a:prstGeom prst="rect">
            <a:avLst/>
          </a:prstGeom>
        </p:spPr>
        <p:txBody>
          <a:bodyPr wrap="square">
            <a:spAutoFit/>
          </a:bodyPr>
          <a:lstStyle/>
          <a:p>
            <a:r>
              <a:rPr lang="zh-CN" altLang="en-US" sz="2000" b="1" dirty="0">
                <a:latin typeface="+mn-lt"/>
                <a:ea typeface="+mn-ea"/>
              </a:rPr>
              <a:t>一台每个时钟周期</a:t>
            </a:r>
            <a:r>
              <a:rPr lang="zh-CN" altLang="en-US" sz="2000" b="1" dirty="0" smtClean="0">
                <a:latin typeface="+mn-lt"/>
                <a:ea typeface="+mn-ea"/>
              </a:rPr>
              <a:t>分时发射两</a:t>
            </a:r>
            <a:r>
              <a:rPr lang="zh-CN" altLang="en-US" sz="2000" b="1" dirty="0">
                <a:latin typeface="+mn-lt"/>
                <a:ea typeface="+mn-ea"/>
              </a:rPr>
              <a:t>条指令的超流水线计算机的</a:t>
            </a:r>
            <a:r>
              <a:rPr lang="zh-CN" altLang="en-US" sz="2000" b="1" dirty="0" smtClean="0">
                <a:latin typeface="+mn-lt"/>
                <a:ea typeface="+mn-ea"/>
              </a:rPr>
              <a:t>时空图 </a:t>
            </a:r>
            <a:endParaRPr lang="zh-CN" altLang="en-US" sz="2000" b="1" dirty="0">
              <a:latin typeface="+mn-lt"/>
              <a:ea typeface="+mn-ea"/>
            </a:endParaRPr>
          </a:p>
        </p:txBody>
      </p:sp>
      <p:sp>
        <p:nvSpPr>
          <p:cNvPr id="8"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2</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sz="5400" dirty="0" smtClean="0"/>
              <a:t>超流水线处理机</a:t>
            </a:r>
            <a:endParaRPr lang="zh-CN" altLang="en-US" sz="5400" dirty="0" smtClean="0"/>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endParaRPr lang="zh-CN" altLang="en-US" sz="1200" b="0">
              <a:latin typeface="Times New Roman" panose="02020603050405020304" pitchFamily="18" charset="0"/>
              <a:ea typeface="幼圆" panose="02010509060101010101" pitchFamily="49" charset="-122"/>
            </a:endParaRPr>
          </a:p>
        </p:txBody>
      </p:sp>
      <p:sp>
        <p:nvSpPr>
          <p:cNvPr id="5" name="内容占位符 4"/>
          <p:cNvSpPr>
            <a:spLocks noGrp="1"/>
          </p:cNvSpPr>
          <p:nvPr>
            <p:ph idx="1"/>
          </p:nvPr>
        </p:nvSpPr>
        <p:spPr/>
        <p:txBody>
          <a:bodyPr/>
          <a:lstStyle/>
          <a:p>
            <a:r>
              <a:rPr lang="zh-CN" altLang="en-US" sz="2400" dirty="0"/>
              <a:t>对于一台每个时钟周期</a:t>
            </a:r>
            <a:r>
              <a:rPr lang="zh-CN" altLang="en-US" sz="2400" dirty="0" smtClean="0"/>
              <a:t>能发射</a:t>
            </a:r>
            <a:r>
              <a:rPr lang="en-US" altLang="zh-CN" sz="2400" dirty="0" smtClean="0"/>
              <a:t>n</a:t>
            </a:r>
            <a:r>
              <a:rPr lang="zh-CN" altLang="en-US" sz="2400" dirty="0"/>
              <a:t>条指令的超流水线计算机来说，这</a:t>
            </a:r>
            <a:r>
              <a:rPr lang="en-US" altLang="zh-CN" sz="2400" dirty="0"/>
              <a:t>n</a:t>
            </a:r>
            <a:r>
              <a:rPr lang="zh-CN" altLang="en-US" sz="2400" dirty="0"/>
              <a:t>条指令不是</a:t>
            </a:r>
            <a:r>
              <a:rPr lang="zh-CN" altLang="en-US" sz="2400" dirty="0" smtClean="0"/>
              <a:t>同时发射的</a:t>
            </a:r>
            <a:r>
              <a:rPr lang="zh-CN" altLang="en-US" sz="2400" dirty="0"/>
              <a:t>，而是每隔</a:t>
            </a:r>
            <a:r>
              <a:rPr lang="en-US" altLang="zh-CN" sz="2400" dirty="0"/>
              <a:t>1/n</a:t>
            </a:r>
            <a:r>
              <a:rPr lang="zh-CN" altLang="en-US" sz="2400" dirty="0"/>
              <a:t>个时钟</a:t>
            </a:r>
            <a:r>
              <a:rPr lang="zh-CN" altLang="en-US" sz="2400" dirty="0" smtClean="0"/>
              <a:t>周期发射一</a:t>
            </a:r>
            <a:r>
              <a:rPr lang="zh-CN" altLang="en-US" sz="2400" dirty="0"/>
              <a:t>条指令</a:t>
            </a:r>
            <a:r>
              <a:rPr lang="zh-CN" altLang="en-US" sz="2400" dirty="0" smtClean="0"/>
              <a:t>。实际上</a:t>
            </a:r>
            <a:r>
              <a:rPr lang="zh-CN" altLang="en-US" sz="2400" dirty="0"/>
              <a:t>该超流水线计算机的流水线周期为</a:t>
            </a:r>
            <a:r>
              <a:rPr lang="en-US" altLang="zh-CN" sz="2400" dirty="0"/>
              <a:t>1/n</a:t>
            </a:r>
            <a:r>
              <a:rPr lang="zh-CN" altLang="en-US" sz="2400" dirty="0"/>
              <a:t>个时钟</a:t>
            </a:r>
            <a:r>
              <a:rPr lang="zh-CN" altLang="en-US" sz="2400" dirty="0" smtClean="0"/>
              <a:t>周期； </a:t>
            </a:r>
            <a:endParaRPr lang="zh-CN" altLang="en-US" sz="2400" dirty="0"/>
          </a:p>
          <a:p>
            <a:r>
              <a:rPr lang="zh-CN" altLang="en-US" sz="2400" dirty="0"/>
              <a:t>在有的资料上，把指令流水线级数为</a:t>
            </a:r>
            <a:r>
              <a:rPr lang="en-US" altLang="zh-CN" sz="2400" dirty="0"/>
              <a:t>8</a:t>
            </a:r>
            <a:r>
              <a:rPr lang="zh-CN" altLang="en-US" sz="2400" dirty="0"/>
              <a:t>或</a:t>
            </a:r>
            <a:r>
              <a:rPr lang="en-US" altLang="zh-CN" sz="2400" dirty="0"/>
              <a:t>8</a:t>
            </a:r>
            <a:r>
              <a:rPr lang="zh-CN" altLang="en-US" sz="2400" dirty="0"/>
              <a:t>以上的流水线处理机称为</a:t>
            </a:r>
            <a:r>
              <a:rPr lang="zh-CN" altLang="en-US" sz="2400" dirty="0">
                <a:solidFill>
                  <a:srgbClr val="FF0000"/>
                </a:solidFill>
              </a:rPr>
              <a:t>超流水线处理机</a:t>
            </a:r>
            <a:r>
              <a:rPr lang="zh-CN" altLang="en-US" sz="2400" dirty="0" smtClean="0"/>
              <a:t>。</a:t>
            </a:r>
            <a:endParaRPr lang="en-US" altLang="zh-CN" sz="2400" dirty="0" smtClean="0"/>
          </a:p>
          <a:p>
            <a:r>
              <a:rPr lang="zh-CN" altLang="en-US" sz="2400" dirty="0" smtClean="0"/>
              <a:t>比较</a:t>
            </a:r>
            <a:endParaRPr lang="en-US" altLang="zh-CN" sz="2400" dirty="0" smtClean="0"/>
          </a:p>
          <a:p>
            <a:pPr lvl="1"/>
            <a:r>
              <a:rPr lang="zh-CN" altLang="en-US" sz="2400" dirty="0" smtClean="0"/>
              <a:t>超标量处理机通过重复设置硬件来提高性能（</a:t>
            </a:r>
            <a:r>
              <a:rPr lang="zh-CN" altLang="en-US" sz="2400" dirty="0" smtClean="0">
                <a:solidFill>
                  <a:srgbClr val="0000FF"/>
                </a:solidFill>
              </a:rPr>
              <a:t>空间并行性</a:t>
            </a:r>
            <a:r>
              <a:rPr lang="zh-CN" altLang="en-US" sz="2400" dirty="0" smtClean="0"/>
              <a:t>）；</a:t>
            </a:r>
            <a:endParaRPr lang="en-US" altLang="zh-CN" sz="2400" dirty="0" smtClean="0"/>
          </a:p>
          <a:p>
            <a:pPr lvl="1"/>
            <a:r>
              <a:rPr lang="zh-CN" altLang="en-US" sz="2400" dirty="0" smtClean="0"/>
              <a:t>超流水线处理机只需要增加少量硬件，通过各部分硬件的充分重叠工作来提高性能（</a:t>
            </a:r>
            <a:r>
              <a:rPr lang="zh-CN" altLang="en-US" sz="2400" dirty="0" smtClean="0">
                <a:solidFill>
                  <a:srgbClr val="0000FF"/>
                </a:solidFill>
              </a:rPr>
              <a:t>时间并行性</a:t>
            </a:r>
            <a:r>
              <a:rPr lang="zh-CN" altLang="en-US" sz="2400" dirty="0" smtClean="0"/>
              <a:t>）。</a:t>
            </a:r>
            <a:endParaRPr lang="zh-CN" altLang="en-US" sz="2400" dirty="0"/>
          </a:p>
          <a:p>
            <a:endParaRPr lang="zh-CN" altLang="en-US" sz="2400" dirty="0"/>
          </a:p>
        </p:txBody>
      </p:sp>
      <p:sp>
        <p:nvSpPr>
          <p:cNvPr id="8"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3</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sz="4000" dirty="0" smtClean="0">
                <a:latin typeface="+mj-ea"/>
              </a:rPr>
              <a:t>例</a:t>
            </a:r>
            <a:r>
              <a:rPr lang="en-US" altLang="zh-CN" sz="4000" dirty="0" smtClean="0">
                <a:latin typeface="+mj-ea"/>
              </a:rPr>
              <a:t>:</a:t>
            </a:r>
            <a:r>
              <a:rPr lang="en-US" altLang="zh-CN" sz="4000" dirty="0" smtClean="0">
                <a:solidFill>
                  <a:schemeClr val="tx1"/>
                </a:solidFill>
                <a:latin typeface="+mn-lt"/>
              </a:rPr>
              <a:t>SGI</a:t>
            </a:r>
            <a:r>
              <a:rPr lang="zh-CN" altLang="en-US" sz="4000" dirty="0">
                <a:solidFill>
                  <a:schemeClr val="tx1"/>
                </a:solidFill>
                <a:latin typeface="+mj-ea"/>
              </a:rPr>
              <a:t>公司的</a:t>
            </a:r>
            <a:r>
              <a:rPr lang="en-US" altLang="zh-CN" sz="4000" dirty="0">
                <a:solidFill>
                  <a:schemeClr val="tx1"/>
                </a:solidFill>
                <a:latin typeface="+mn-lt"/>
              </a:rPr>
              <a:t>MIPS</a:t>
            </a:r>
            <a:r>
              <a:rPr lang="zh-CN" altLang="en-US" sz="4000" dirty="0">
                <a:solidFill>
                  <a:schemeClr val="tx1"/>
                </a:solidFill>
                <a:latin typeface="+mj-ea"/>
              </a:rPr>
              <a:t>系列</a:t>
            </a:r>
            <a:r>
              <a:rPr lang="en-US" altLang="zh-CN" sz="4000" dirty="0">
                <a:solidFill>
                  <a:schemeClr val="tx1"/>
                </a:solidFill>
                <a:latin typeface="+mn-lt"/>
              </a:rPr>
              <a:t>R4000</a:t>
            </a:r>
            <a:endParaRPr lang="zh-CN" altLang="en-US" sz="4000" dirty="0" smtClean="0">
              <a:latin typeface="+mn-lt"/>
            </a:endParaRPr>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endParaRPr lang="zh-CN" altLang="en-US" sz="1200" b="0">
              <a:latin typeface="Times New Roman" panose="02020603050405020304" pitchFamily="18" charset="0"/>
              <a:ea typeface="幼圆" panose="02010509060101010101" pitchFamily="49" charset="-122"/>
            </a:endParaRPr>
          </a:p>
        </p:txBody>
      </p:sp>
      <p:sp>
        <p:nvSpPr>
          <p:cNvPr id="2" name="内容占位符 1"/>
          <p:cNvSpPr>
            <a:spLocks noGrp="1"/>
          </p:cNvSpPr>
          <p:nvPr>
            <p:ph idx="1"/>
          </p:nvPr>
        </p:nvSpPr>
        <p:spPr/>
        <p:txBody>
          <a:bodyPr/>
          <a:lstStyle/>
          <a:p>
            <a:r>
              <a:rPr lang="en-US" altLang="zh-CN" sz="2200" dirty="0"/>
              <a:t>R4000</a:t>
            </a:r>
            <a:r>
              <a:rPr lang="zh-CN" altLang="en-US" sz="2200" dirty="0"/>
              <a:t>微处理器芯片内有</a:t>
            </a:r>
            <a:r>
              <a:rPr lang="en-US" altLang="zh-CN" sz="2200" dirty="0">
                <a:solidFill>
                  <a:srgbClr val="FF0000"/>
                </a:solidFill>
              </a:rPr>
              <a:t>2</a:t>
            </a:r>
            <a:r>
              <a:rPr lang="zh-CN" altLang="en-US" sz="2200" dirty="0">
                <a:solidFill>
                  <a:srgbClr val="FF0000"/>
                </a:solidFill>
              </a:rPr>
              <a:t>个</a:t>
            </a:r>
            <a:r>
              <a:rPr lang="en-US" altLang="zh-CN" sz="2200" dirty="0">
                <a:solidFill>
                  <a:srgbClr val="FF0000"/>
                </a:solidFill>
              </a:rPr>
              <a:t>Cache</a:t>
            </a:r>
            <a:r>
              <a:rPr lang="zh-CN" altLang="en-US" sz="2200" dirty="0" smtClean="0"/>
              <a:t>：指令</a:t>
            </a:r>
            <a:r>
              <a:rPr lang="en-US" altLang="zh-CN" sz="2200" dirty="0"/>
              <a:t>Cache</a:t>
            </a:r>
            <a:r>
              <a:rPr lang="zh-CN" altLang="en-US" sz="2200" dirty="0"/>
              <a:t>和数据</a:t>
            </a:r>
            <a:r>
              <a:rPr lang="en-US" altLang="zh-CN" sz="2200" dirty="0" smtClean="0"/>
              <a:t>Cache</a:t>
            </a:r>
            <a:r>
              <a:rPr lang="zh-CN" altLang="en-US" sz="2200" dirty="0" smtClean="0"/>
              <a:t>，容量</a:t>
            </a:r>
            <a:r>
              <a:rPr lang="zh-CN" altLang="en-US" sz="2200" dirty="0"/>
              <a:t>都是</a:t>
            </a:r>
            <a:r>
              <a:rPr lang="en-US" altLang="zh-CN" sz="2200" dirty="0"/>
              <a:t>8 </a:t>
            </a:r>
            <a:r>
              <a:rPr lang="en-US" altLang="zh-CN" sz="2200" dirty="0" smtClean="0"/>
              <a:t>KB</a:t>
            </a:r>
            <a:r>
              <a:rPr lang="zh-CN" altLang="en-US" sz="2200" dirty="0" smtClean="0"/>
              <a:t>，每个</a:t>
            </a:r>
            <a:r>
              <a:rPr lang="en-US" altLang="zh-CN" sz="2200" dirty="0"/>
              <a:t>Cache</a:t>
            </a:r>
            <a:r>
              <a:rPr lang="zh-CN" altLang="en-US" sz="2200" dirty="0"/>
              <a:t>的数据宽度为</a:t>
            </a:r>
            <a:r>
              <a:rPr lang="en-US" altLang="zh-CN" sz="2200" dirty="0"/>
              <a:t>64 </a:t>
            </a:r>
            <a:r>
              <a:rPr lang="en-US" altLang="zh-CN" sz="2200" dirty="0" smtClean="0"/>
              <a:t>bit</a:t>
            </a:r>
            <a:r>
              <a:rPr lang="zh-CN" altLang="en-US" sz="2200" dirty="0" smtClean="0"/>
              <a:t>；</a:t>
            </a:r>
            <a:endParaRPr lang="en-US" altLang="zh-CN" sz="2200" dirty="0"/>
          </a:p>
          <a:p>
            <a:r>
              <a:rPr lang="en-US" altLang="zh-CN" sz="2200" dirty="0"/>
              <a:t>R4000</a:t>
            </a:r>
            <a:r>
              <a:rPr lang="zh-CN" altLang="en-US" sz="2200" dirty="0"/>
              <a:t>的核心处理部件：</a:t>
            </a:r>
            <a:r>
              <a:rPr lang="zh-CN" altLang="en-US" sz="2200" dirty="0">
                <a:solidFill>
                  <a:srgbClr val="FF0000"/>
                </a:solidFill>
              </a:rPr>
              <a:t>整数部件  </a:t>
            </a:r>
            <a:endParaRPr lang="zh-CN" altLang="en-US" sz="2200" dirty="0">
              <a:solidFill>
                <a:srgbClr val="FF0000"/>
              </a:solidFill>
            </a:endParaRPr>
          </a:p>
          <a:p>
            <a:pPr lvl="1"/>
            <a:r>
              <a:rPr lang="zh-CN" altLang="en-US" sz="2200" dirty="0"/>
              <a:t>一个</a:t>
            </a:r>
            <a:r>
              <a:rPr lang="en-US" altLang="zh-CN" sz="2200" dirty="0"/>
              <a:t>32×32</a:t>
            </a:r>
            <a:r>
              <a:rPr lang="zh-CN" altLang="en-US" sz="2200" dirty="0"/>
              <a:t>位的通用寄存器组</a:t>
            </a:r>
            <a:endParaRPr lang="zh-CN" altLang="en-US" sz="2200" dirty="0"/>
          </a:p>
          <a:p>
            <a:pPr lvl="1"/>
            <a:r>
              <a:rPr lang="zh-CN" altLang="en-US" sz="2200" dirty="0"/>
              <a:t>一个算术逻辑部件（</a:t>
            </a:r>
            <a:r>
              <a:rPr lang="en-US" altLang="zh-CN" sz="2200" dirty="0"/>
              <a:t>ALU</a:t>
            </a:r>
            <a:r>
              <a:rPr lang="zh-CN" altLang="en-US" sz="2200" dirty="0"/>
              <a:t>）</a:t>
            </a:r>
            <a:endParaRPr lang="zh-CN" altLang="en-US" sz="2200" dirty="0"/>
          </a:p>
          <a:p>
            <a:pPr lvl="1"/>
            <a:r>
              <a:rPr lang="zh-CN" altLang="en-US" sz="2200" dirty="0"/>
              <a:t>一个专用的乘法</a:t>
            </a:r>
            <a:r>
              <a:rPr lang="en-US" altLang="zh-CN" sz="2200" dirty="0"/>
              <a:t>/</a:t>
            </a:r>
            <a:r>
              <a:rPr lang="zh-CN" altLang="en-US" sz="2200" dirty="0"/>
              <a:t>除法部件 </a:t>
            </a:r>
            <a:endParaRPr lang="zh-CN" altLang="en-US" sz="2200" dirty="0"/>
          </a:p>
          <a:p>
            <a:r>
              <a:rPr lang="en-US" altLang="zh-CN" sz="2200" dirty="0"/>
              <a:t>R4000</a:t>
            </a:r>
            <a:r>
              <a:rPr lang="zh-CN" altLang="en-US" sz="2200" dirty="0"/>
              <a:t>的核心处理部件：</a:t>
            </a:r>
            <a:r>
              <a:rPr lang="zh-CN" altLang="en-US" sz="2200" dirty="0" smtClean="0">
                <a:solidFill>
                  <a:srgbClr val="FF0000"/>
                </a:solidFill>
              </a:rPr>
              <a:t>浮点</a:t>
            </a:r>
            <a:r>
              <a:rPr lang="zh-CN" altLang="en-US" sz="2200" dirty="0">
                <a:solidFill>
                  <a:srgbClr val="FF0000"/>
                </a:solidFill>
              </a:rPr>
              <a:t>部件</a:t>
            </a:r>
            <a:endParaRPr lang="zh-CN" altLang="en-US" sz="2200" dirty="0">
              <a:solidFill>
                <a:srgbClr val="FF0000"/>
              </a:solidFill>
            </a:endParaRPr>
          </a:p>
          <a:p>
            <a:pPr lvl="1"/>
            <a:r>
              <a:rPr lang="zh-CN" altLang="en-US" sz="2200" dirty="0"/>
              <a:t>一个执行</a:t>
            </a:r>
            <a:r>
              <a:rPr lang="zh-CN" altLang="en-US" sz="2200" dirty="0" smtClean="0"/>
              <a:t>部件：浮点</a:t>
            </a:r>
            <a:r>
              <a:rPr lang="zh-CN" altLang="en-US" sz="2200" dirty="0"/>
              <a:t>乘法</a:t>
            </a:r>
            <a:r>
              <a:rPr lang="zh-CN" altLang="en-US" sz="2200" dirty="0" smtClean="0"/>
              <a:t>部件、浮点</a:t>
            </a:r>
            <a:r>
              <a:rPr lang="zh-CN" altLang="en-US" sz="2200" dirty="0"/>
              <a:t>除法</a:t>
            </a:r>
            <a:r>
              <a:rPr lang="zh-CN" altLang="en-US" sz="2200" dirty="0" smtClean="0"/>
              <a:t>部件和浮点</a:t>
            </a:r>
            <a:r>
              <a:rPr lang="zh-CN" altLang="en-US" sz="2200" dirty="0"/>
              <a:t>加法</a:t>
            </a:r>
            <a:r>
              <a:rPr lang="en-US" altLang="zh-CN" sz="2200" dirty="0"/>
              <a:t>/</a:t>
            </a:r>
            <a:r>
              <a:rPr lang="zh-CN" altLang="en-US" sz="2200" dirty="0"/>
              <a:t>转换</a:t>
            </a:r>
            <a:r>
              <a:rPr lang="en-US" altLang="zh-CN" sz="2200" dirty="0"/>
              <a:t>/</a:t>
            </a:r>
            <a:r>
              <a:rPr lang="zh-CN" altLang="en-US" sz="2200" dirty="0"/>
              <a:t>求平方根</a:t>
            </a:r>
            <a:r>
              <a:rPr lang="zh-CN" altLang="en-US" sz="2200" dirty="0" smtClean="0"/>
              <a:t>部件（可以</a:t>
            </a:r>
            <a:r>
              <a:rPr lang="zh-CN" altLang="en-US" sz="2200" dirty="0"/>
              <a:t>并行工作</a:t>
            </a:r>
            <a:r>
              <a:rPr lang="zh-CN" altLang="en-US" sz="2200" dirty="0" smtClean="0"/>
              <a:t>）；</a:t>
            </a:r>
            <a:endParaRPr lang="zh-CN" altLang="en-US" sz="2200" dirty="0"/>
          </a:p>
          <a:p>
            <a:pPr lvl="1"/>
            <a:r>
              <a:rPr lang="zh-CN" altLang="en-US" sz="2200" dirty="0"/>
              <a:t>一个</a:t>
            </a:r>
            <a:r>
              <a:rPr lang="en-US" altLang="zh-CN" sz="2200" dirty="0"/>
              <a:t>16×64</a:t>
            </a:r>
            <a:r>
              <a:rPr lang="zh-CN" altLang="en-US" sz="2200" dirty="0"/>
              <a:t>位的浮点通用寄存器组。浮点通用寄存器组也可以设置成</a:t>
            </a:r>
            <a:r>
              <a:rPr lang="en-US" altLang="zh-CN" sz="2200" dirty="0"/>
              <a:t>32</a:t>
            </a:r>
            <a:r>
              <a:rPr lang="zh-CN" altLang="en-US" sz="2200" dirty="0"/>
              <a:t>个</a:t>
            </a:r>
            <a:r>
              <a:rPr lang="en-US" altLang="zh-CN" sz="2200" dirty="0"/>
              <a:t>32</a:t>
            </a:r>
            <a:r>
              <a:rPr lang="zh-CN" altLang="en-US" sz="2200" dirty="0"/>
              <a:t>位的浮点寄存器。</a:t>
            </a:r>
            <a:endParaRPr lang="zh-CN" altLang="en-US" sz="2200" dirty="0"/>
          </a:p>
          <a:p>
            <a:endParaRPr lang="zh-CN" altLang="en-US" sz="2200" dirty="0"/>
          </a:p>
        </p:txBody>
      </p:sp>
      <p:sp>
        <p:nvSpPr>
          <p:cNvPr id="6"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4</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dirty="0" smtClean="0">
                <a:latin typeface="+mj-ea"/>
              </a:rPr>
              <a:t>例</a:t>
            </a:r>
            <a:r>
              <a:rPr lang="en-US" altLang="zh-CN" dirty="0" smtClean="0">
                <a:latin typeface="+mj-ea"/>
              </a:rPr>
              <a:t>:</a:t>
            </a:r>
            <a:r>
              <a:rPr lang="zh-CN" altLang="en-US" dirty="0" smtClean="0">
                <a:solidFill>
                  <a:schemeClr val="tx1"/>
                </a:solidFill>
                <a:latin typeface="+mn-lt"/>
              </a:rPr>
              <a:t>指令流水线结构</a:t>
            </a:r>
            <a:endParaRPr lang="zh-CN" altLang="en-US" dirty="0" smtClean="0">
              <a:latin typeface="+mn-lt"/>
            </a:endParaRPr>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endParaRPr lang="zh-CN" altLang="en-US" sz="1200" b="0">
              <a:latin typeface="Times New Roman" panose="02020603050405020304" pitchFamily="18" charset="0"/>
              <a:ea typeface="幼圆" panose="02010509060101010101" pitchFamily="49" charset="-122"/>
            </a:endParaRPr>
          </a:p>
        </p:txBody>
      </p:sp>
      <p:sp>
        <p:nvSpPr>
          <p:cNvPr id="3" name="内容占位符 2"/>
          <p:cNvSpPr>
            <a:spLocks noGrp="1"/>
          </p:cNvSpPr>
          <p:nvPr>
            <p:ph idx="1"/>
          </p:nvPr>
        </p:nvSpPr>
        <p:spPr>
          <a:xfrm>
            <a:off x="809625" y="1989138"/>
            <a:ext cx="7958138" cy="503758"/>
          </a:xfrm>
        </p:spPr>
        <p:txBody>
          <a:bodyPr/>
          <a:lstStyle/>
          <a:p>
            <a:pPr marL="0" indent="0" algn="ctr">
              <a:buNone/>
            </a:pPr>
            <a:r>
              <a:rPr lang="en-US" altLang="zh-CN" sz="2400" dirty="0"/>
              <a:t>R4000</a:t>
            </a:r>
            <a:r>
              <a:rPr lang="zh-CN" altLang="en-US" sz="2400" dirty="0"/>
              <a:t>的指令流水线有</a:t>
            </a:r>
            <a:r>
              <a:rPr lang="en-US" altLang="zh-CN" sz="2400" dirty="0"/>
              <a:t>8</a:t>
            </a:r>
            <a:r>
              <a:rPr lang="zh-CN" altLang="en-US" sz="2400" dirty="0" smtClean="0"/>
              <a:t>级</a:t>
            </a:r>
            <a:endParaRPr lang="zh-CN" altLang="en-US" sz="2400" dirty="0"/>
          </a:p>
        </p:txBody>
      </p:sp>
      <p:pic>
        <p:nvPicPr>
          <p:cNvPr id="6" name="Picture 8" descr="arch7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0432" y="2746640"/>
            <a:ext cx="7924800" cy="3524250"/>
          </a:xfrm>
          <a:prstGeom prst="rect">
            <a:avLst/>
          </a:prstGeom>
          <a:noFill/>
          <a:extLst>
            <a:ext uri="{909E8E84-426E-40DD-AFC4-6F175D3DCCD1}">
              <a14:hiddenFill xmlns:a14="http://schemas.microsoft.com/office/drawing/2010/main">
                <a:solidFill>
                  <a:srgbClr val="FFFFFF"/>
                </a:solidFill>
              </a14:hiddenFill>
            </a:ext>
          </a:extLst>
        </p:spPr>
      </p:pic>
      <p:sp>
        <p:nvSpPr>
          <p:cNvPr id="7"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5</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dirty="0">
                <a:latin typeface="+mj-ea"/>
              </a:rPr>
              <a:t>例</a:t>
            </a:r>
            <a:r>
              <a:rPr lang="en-US" altLang="zh-CN" dirty="0">
                <a:latin typeface="+mj-ea"/>
              </a:rPr>
              <a:t>:</a:t>
            </a:r>
            <a:r>
              <a:rPr lang="zh-CN" altLang="en-US" dirty="0">
                <a:solidFill>
                  <a:schemeClr val="tx1"/>
                </a:solidFill>
              </a:rPr>
              <a:t>指令流水线结构</a:t>
            </a:r>
            <a:endParaRPr lang="zh-CN" altLang="en-US" dirty="0" smtClean="0">
              <a:latin typeface="+mn-lt"/>
            </a:endParaRPr>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endParaRPr lang="zh-CN" altLang="en-US" sz="1200" b="0">
              <a:latin typeface="Times New Roman" panose="02020603050405020304" pitchFamily="18" charset="0"/>
              <a:ea typeface="幼圆" panose="02010509060101010101" pitchFamily="49" charset="-122"/>
            </a:endParaRPr>
          </a:p>
        </p:txBody>
      </p:sp>
      <p:sp>
        <p:nvSpPr>
          <p:cNvPr id="3" name="内容占位符 2"/>
          <p:cNvSpPr>
            <a:spLocks noGrp="1"/>
          </p:cNvSpPr>
          <p:nvPr>
            <p:ph idx="1"/>
          </p:nvPr>
        </p:nvSpPr>
        <p:spPr/>
        <p:txBody>
          <a:bodyPr/>
          <a:lstStyle/>
          <a:p>
            <a:pPr>
              <a:lnSpc>
                <a:spcPct val="114000"/>
              </a:lnSpc>
            </a:pPr>
            <a:r>
              <a:rPr lang="en-US" altLang="zh-CN" sz="2200" dirty="0">
                <a:solidFill>
                  <a:srgbClr val="FF0000"/>
                </a:solidFill>
              </a:rPr>
              <a:t>IF</a:t>
            </a:r>
            <a:r>
              <a:rPr lang="zh-CN" altLang="en-US" sz="2200" dirty="0"/>
              <a:t>：</a:t>
            </a:r>
            <a:r>
              <a:rPr lang="zh-CN" altLang="en-US" sz="2200" dirty="0">
                <a:solidFill>
                  <a:srgbClr val="0000FF"/>
                </a:solidFill>
              </a:rPr>
              <a:t>取指令的前半步</a:t>
            </a:r>
            <a:r>
              <a:rPr lang="zh-CN" altLang="en-US" sz="2200" dirty="0"/>
              <a:t>，根据</a:t>
            </a:r>
            <a:r>
              <a:rPr lang="en-US" altLang="zh-CN" sz="2200" dirty="0"/>
              <a:t>PC</a:t>
            </a:r>
            <a:r>
              <a:rPr lang="zh-CN" altLang="en-US" sz="2200" dirty="0" smtClean="0"/>
              <a:t>值启动</a:t>
            </a:r>
            <a:r>
              <a:rPr lang="zh-CN" altLang="en-US" sz="2200" dirty="0"/>
              <a:t>对指令</a:t>
            </a:r>
            <a:r>
              <a:rPr lang="en-US" altLang="zh-CN" sz="2200" dirty="0"/>
              <a:t>Cache</a:t>
            </a:r>
            <a:r>
              <a:rPr lang="zh-CN" altLang="en-US" sz="2200" dirty="0"/>
              <a:t>的访问。</a:t>
            </a:r>
            <a:endParaRPr lang="zh-CN" altLang="en-US" sz="2200" dirty="0"/>
          </a:p>
          <a:p>
            <a:pPr>
              <a:lnSpc>
                <a:spcPct val="114000"/>
              </a:lnSpc>
            </a:pPr>
            <a:r>
              <a:rPr lang="en-US" altLang="zh-CN" sz="2200" dirty="0">
                <a:solidFill>
                  <a:srgbClr val="FF0000"/>
                </a:solidFill>
              </a:rPr>
              <a:t>IS</a:t>
            </a:r>
            <a:r>
              <a:rPr lang="zh-CN" altLang="en-US" sz="2200" dirty="0"/>
              <a:t>：</a:t>
            </a:r>
            <a:r>
              <a:rPr lang="zh-CN" altLang="en-US" sz="2200" dirty="0">
                <a:solidFill>
                  <a:srgbClr val="0000FF"/>
                </a:solidFill>
              </a:rPr>
              <a:t>取指令的后半步</a:t>
            </a:r>
            <a:r>
              <a:rPr lang="zh-CN" altLang="en-US" sz="2200" dirty="0"/>
              <a:t>，在这一级完成对指令</a:t>
            </a:r>
            <a:r>
              <a:rPr lang="en-US" altLang="zh-CN" sz="2200" dirty="0"/>
              <a:t>Cache</a:t>
            </a:r>
            <a:r>
              <a:rPr lang="zh-CN" altLang="en-US" sz="2200" dirty="0"/>
              <a:t>的访问。</a:t>
            </a:r>
            <a:endParaRPr lang="zh-CN" altLang="en-US" sz="2200" dirty="0"/>
          </a:p>
          <a:p>
            <a:pPr>
              <a:lnSpc>
                <a:spcPct val="114000"/>
              </a:lnSpc>
            </a:pPr>
            <a:r>
              <a:rPr lang="en-US" altLang="zh-CN" sz="2200" dirty="0">
                <a:solidFill>
                  <a:srgbClr val="FF0000"/>
                </a:solidFill>
              </a:rPr>
              <a:t>RF</a:t>
            </a:r>
            <a:r>
              <a:rPr lang="zh-CN" altLang="en-US" sz="2200" dirty="0"/>
              <a:t>：指令译码，访问寄存器组读取操作数，冲突检测，并判断指令</a:t>
            </a:r>
            <a:r>
              <a:rPr lang="en-US" altLang="zh-CN" sz="2200" dirty="0"/>
              <a:t>Cache</a:t>
            </a:r>
            <a:r>
              <a:rPr lang="zh-CN" altLang="en-US" sz="2200" dirty="0"/>
              <a:t>是否命中。</a:t>
            </a:r>
            <a:endParaRPr lang="zh-CN" altLang="en-US" sz="2200" dirty="0"/>
          </a:p>
          <a:p>
            <a:pPr>
              <a:lnSpc>
                <a:spcPct val="114000"/>
              </a:lnSpc>
            </a:pPr>
            <a:r>
              <a:rPr lang="en-US" altLang="zh-CN" sz="2200" dirty="0">
                <a:solidFill>
                  <a:srgbClr val="FF0000"/>
                </a:solidFill>
              </a:rPr>
              <a:t>EX</a:t>
            </a:r>
            <a:r>
              <a:rPr lang="zh-CN" altLang="en-US" sz="2200" dirty="0"/>
              <a:t>：指令执行。包括有效地址</a:t>
            </a:r>
            <a:r>
              <a:rPr lang="zh-CN" altLang="en-US" sz="2200" dirty="0" smtClean="0"/>
              <a:t>计算、</a:t>
            </a:r>
            <a:r>
              <a:rPr lang="en-US" altLang="zh-CN" sz="2200" dirty="0" smtClean="0"/>
              <a:t>ALU</a:t>
            </a:r>
            <a:r>
              <a:rPr lang="zh-CN" altLang="en-US" sz="2200" dirty="0" smtClean="0"/>
              <a:t>操作、分支</a:t>
            </a:r>
            <a:r>
              <a:rPr lang="zh-CN" altLang="en-US" sz="2200" dirty="0"/>
              <a:t>目标</a:t>
            </a:r>
            <a:r>
              <a:rPr lang="zh-CN" altLang="en-US" sz="2200" dirty="0" smtClean="0"/>
              <a:t>地址计算、条件码</a:t>
            </a:r>
            <a:r>
              <a:rPr lang="zh-CN" altLang="en-US" sz="2200" dirty="0"/>
              <a:t>测试。</a:t>
            </a:r>
            <a:endParaRPr lang="zh-CN" altLang="en-US" sz="2200" dirty="0"/>
          </a:p>
          <a:p>
            <a:pPr>
              <a:lnSpc>
                <a:spcPct val="114000"/>
              </a:lnSpc>
            </a:pPr>
            <a:r>
              <a:rPr lang="en-US" altLang="zh-CN" sz="2200" dirty="0">
                <a:solidFill>
                  <a:srgbClr val="FF0000"/>
                </a:solidFill>
              </a:rPr>
              <a:t>DF</a:t>
            </a:r>
            <a:r>
              <a:rPr lang="zh-CN" altLang="en-US" sz="2200" dirty="0"/>
              <a:t>：</a:t>
            </a:r>
            <a:r>
              <a:rPr lang="zh-CN" altLang="en-US" sz="2200" dirty="0">
                <a:solidFill>
                  <a:srgbClr val="0000FF"/>
                </a:solidFill>
              </a:rPr>
              <a:t>取数据的前半步</a:t>
            </a:r>
            <a:r>
              <a:rPr lang="zh-CN" altLang="en-US" sz="2200" dirty="0"/>
              <a:t>，启动对数据</a:t>
            </a:r>
            <a:r>
              <a:rPr lang="en-US" altLang="zh-CN" sz="2200" dirty="0"/>
              <a:t>Cache</a:t>
            </a:r>
            <a:r>
              <a:rPr lang="zh-CN" altLang="en-US" sz="2200" dirty="0"/>
              <a:t>的访问。</a:t>
            </a:r>
            <a:endParaRPr lang="zh-CN" altLang="en-US" sz="2200" dirty="0"/>
          </a:p>
          <a:p>
            <a:pPr>
              <a:lnSpc>
                <a:spcPct val="114000"/>
              </a:lnSpc>
            </a:pPr>
            <a:r>
              <a:rPr lang="en-US" altLang="zh-CN" sz="2200" dirty="0">
                <a:solidFill>
                  <a:srgbClr val="FF0000"/>
                </a:solidFill>
              </a:rPr>
              <a:t>DS</a:t>
            </a:r>
            <a:r>
              <a:rPr lang="zh-CN" altLang="en-US" sz="2200" dirty="0"/>
              <a:t>：</a:t>
            </a:r>
            <a:r>
              <a:rPr lang="zh-CN" altLang="en-US" sz="2200" dirty="0">
                <a:solidFill>
                  <a:srgbClr val="0000FF"/>
                </a:solidFill>
              </a:rPr>
              <a:t>取数据的后半步</a:t>
            </a:r>
            <a:r>
              <a:rPr lang="zh-CN" altLang="en-US" sz="2200" dirty="0"/>
              <a:t>，在这一级完成对数据</a:t>
            </a:r>
            <a:r>
              <a:rPr lang="en-US" altLang="zh-CN" sz="2200" dirty="0"/>
              <a:t>Cache</a:t>
            </a:r>
            <a:r>
              <a:rPr lang="zh-CN" altLang="en-US" sz="2200" dirty="0"/>
              <a:t>的访问。</a:t>
            </a:r>
            <a:endParaRPr lang="zh-CN" altLang="en-US" sz="2200" dirty="0"/>
          </a:p>
          <a:p>
            <a:pPr>
              <a:lnSpc>
                <a:spcPct val="114000"/>
              </a:lnSpc>
            </a:pPr>
            <a:r>
              <a:rPr lang="en-US" altLang="zh-CN" sz="2200" dirty="0">
                <a:solidFill>
                  <a:srgbClr val="FF0000"/>
                </a:solidFill>
              </a:rPr>
              <a:t>TC</a:t>
            </a:r>
            <a:r>
              <a:rPr lang="zh-CN" altLang="en-US" sz="2200" dirty="0"/>
              <a:t>：标识比较，判断对数据</a:t>
            </a:r>
            <a:r>
              <a:rPr lang="en-US" altLang="zh-CN" sz="2200" dirty="0"/>
              <a:t>Cache</a:t>
            </a:r>
            <a:r>
              <a:rPr lang="zh-CN" altLang="en-US" sz="2200" dirty="0"/>
              <a:t>的访问是否命中。</a:t>
            </a:r>
            <a:endParaRPr lang="zh-CN" altLang="en-US" sz="2200" dirty="0"/>
          </a:p>
          <a:p>
            <a:pPr>
              <a:lnSpc>
                <a:spcPct val="114000"/>
              </a:lnSpc>
            </a:pPr>
            <a:r>
              <a:rPr lang="en-US" altLang="zh-CN" sz="2200" dirty="0">
                <a:solidFill>
                  <a:srgbClr val="FF0000"/>
                </a:solidFill>
              </a:rPr>
              <a:t>WB</a:t>
            </a:r>
            <a:r>
              <a:rPr lang="zh-CN" altLang="en-US" sz="2200" dirty="0"/>
              <a:t>：</a:t>
            </a:r>
            <a:r>
              <a:rPr lang="en-US" altLang="zh-CN" sz="2200" dirty="0"/>
              <a:t>load</a:t>
            </a:r>
            <a:r>
              <a:rPr lang="zh-CN" altLang="en-US" sz="2200" dirty="0"/>
              <a:t>指令或运算型指令把结果写回寄存器组。 </a:t>
            </a:r>
            <a:endParaRPr lang="zh-CN" altLang="en-US" sz="2200" dirty="0"/>
          </a:p>
        </p:txBody>
      </p:sp>
      <p:sp>
        <p:nvSpPr>
          <p:cNvPr id="5"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6</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a:xfrm>
            <a:off x="1331913" y="476250"/>
            <a:ext cx="6336432" cy="1143000"/>
          </a:xfrm>
        </p:spPr>
        <p:txBody>
          <a:bodyPr/>
          <a:lstStyle/>
          <a:p>
            <a:pPr eaLnBrk="1" hangingPunct="1">
              <a:defRPr/>
            </a:pPr>
            <a:r>
              <a:rPr lang="zh-CN" altLang="en-US" dirty="0">
                <a:latin typeface="+mj-ea"/>
              </a:rPr>
              <a:t>例</a:t>
            </a:r>
            <a:r>
              <a:rPr lang="en-US" altLang="zh-CN" dirty="0">
                <a:latin typeface="+mj-ea"/>
              </a:rPr>
              <a:t>:</a:t>
            </a:r>
            <a:r>
              <a:rPr lang="zh-CN" altLang="en-US" dirty="0" smtClean="0">
                <a:solidFill>
                  <a:schemeClr val="tx1"/>
                </a:solidFill>
              </a:rPr>
              <a:t>指令流水线时空图</a:t>
            </a:r>
            <a:endParaRPr lang="zh-CN" altLang="en-US" dirty="0" smtClean="0">
              <a:latin typeface="+mn-lt"/>
            </a:endParaRPr>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endParaRPr lang="zh-CN" altLang="en-US" sz="1200" b="0">
              <a:latin typeface="Times New Roman" panose="02020603050405020304" pitchFamily="18" charset="0"/>
              <a:ea typeface="幼圆" panose="02010509060101010101" pitchFamily="49" charset="-122"/>
            </a:endParaRPr>
          </a:p>
        </p:txBody>
      </p:sp>
      <p:graphicFrame>
        <p:nvGraphicFramePr>
          <p:cNvPr id="4" name="对象 3"/>
          <p:cNvGraphicFramePr>
            <a:graphicFrameLocks noChangeAspect="1"/>
          </p:cNvGraphicFramePr>
          <p:nvPr/>
        </p:nvGraphicFramePr>
        <p:xfrm>
          <a:off x="802719" y="2065424"/>
          <a:ext cx="8208962" cy="4122737"/>
        </p:xfrm>
        <a:graphic>
          <a:graphicData uri="http://schemas.openxmlformats.org/presentationml/2006/ole">
            <mc:AlternateContent xmlns:mc="http://schemas.openxmlformats.org/markup-compatibility/2006">
              <mc:Choice xmlns:v="urn:schemas-microsoft-com:vml" Requires="v">
                <p:oleObj spid="_x0000_s260155" name="Picture2" r:id="rId3" imgW="4862195" imgH="2441575" progId="Word.Picture.8">
                  <p:embed/>
                </p:oleObj>
              </mc:Choice>
              <mc:Fallback>
                <p:oleObj name="Picture2" r:id="rId3" imgW="4862195" imgH="2441575" progId="Word.Picture.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2719" y="2065424"/>
                        <a:ext cx="8208962" cy="41227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 name="矩形 6"/>
          <p:cNvSpPr/>
          <p:nvPr/>
        </p:nvSpPr>
        <p:spPr>
          <a:xfrm>
            <a:off x="2051720" y="2060848"/>
            <a:ext cx="2855480" cy="307777"/>
          </a:xfrm>
          <a:prstGeom prst="rect">
            <a:avLst/>
          </a:prstGeom>
        </p:spPr>
        <p:txBody>
          <a:bodyPr wrap="square">
            <a:spAutoFit/>
          </a:bodyPr>
          <a:lstStyle/>
          <a:p>
            <a:pPr algn="ctr"/>
            <a:r>
              <a:rPr lang="zh-CN" altLang="en-US" sz="1400" b="1" dirty="0" smtClean="0">
                <a:solidFill>
                  <a:srgbClr val="FF0000"/>
                </a:solidFill>
                <a:latin typeface="+mn-lt"/>
                <a:ea typeface="+mn-ea"/>
              </a:rPr>
              <a:t>两个流水线周期看作一个时钟周期</a:t>
            </a:r>
            <a:endParaRPr lang="en-US" altLang="zh-CN" sz="1400" b="1" dirty="0" smtClean="0">
              <a:solidFill>
                <a:srgbClr val="FF0000"/>
              </a:solidFill>
              <a:latin typeface="+mn-lt"/>
              <a:ea typeface="+mn-ea"/>
            </a:endParaRPr>
          </a:p>
        </p:txBody>
      </p:sp>
      <p:sp>
        <p:nvSpPr>
          <p:cNvPr id="8"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7</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a:xfrm>
            <a:off x="1331913" y="476250"/>
            <a:ext cx="6336432" cy="1143000"/>
          </a:xfrm>
        </p:spPr>
        <p:txBody>
          <a:bodyPr/>
          <a:lstStyle/>
          <a:p>
            <a:pPr eaLnBrk="1" hangingPunct="1">
              <a:defRPr/>
            </a:pPr>
            <a:r>
              <a:rPr lang="zh-CN" altLang="en-US" dirty="0">
                <a:latin typeface="+mj-ea"/>
              </a:rPr>
              <a:t>例</a:t>
            </a:r>
            <a:r>
              <a:rPr lang="en-US" altLang="zh-CN" dirty="0" smtClean="0">
                <a:latin typeface="+mj-ea"/>
              </a:rPr>
              <a:t>:</a:t>
            </a:r>
            <a:r>
              <a:rPr lang="en-US" altLang="zh-CN" dirty="0" smtClean="0">
                <a:latin typeface="+mn-lt"/>
              </a:rPr>
              <a:t>load</a:t>
            </a:r>
            <a:r>
              <a:rPr lang="zh-CN" altLang="en-US" dirty="0" smtClean="0">
                <a:solidFill>
                  <a:schemeClr val="tx1"/>
                </a:solidFill>
              </a:rPr>
              <a:t>指令引起的流水线停顿</a:t>
            </a:r>
            <a:endParaRPr lang="zh-CN" altLang="en-US" dirty="0" smtClean="0">
              <a:latin typeface="+mn-lt"/>
            </a:endParaRPr>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r>
              <a:rPr lang="zh-CN" altLang="en-US" sz="1200" b="0">
                <a:latin typeface="Times New Roman" panose="02020603050405020304" pitchFamily="18" charset="0"/>
                <a:ea typeface="幼圆" panose="02010509060101010101" pitchFamily="49" charset="-122"/>
              </a:rPr>
              <a:t>&gt;&gt;</a:t>
            </a:r>
            <a:r>
              <a:rPr lang="zh-CN" altLang="en-US" sz="1200" b="0">
                <a:latin typeface="Times New Roman" panose="02020603050405020304" pitchFamily="18" charset="0"/>
                <a:ea typeface="幼圆" panose="02010509060101010101" pitchFamily="49" charset="-122"/>
                <a:hlinkClick r:id="rId2" action="ppaction://hlinksldjump"/>
              </a:rPr>
              <a:t>多指令发射技术</a:t>
            </a:r>
            <a:endParaRPr lang="zh-CN" altLang="en-US" sz="1200" b="0">
              <a:latin typeface="Times New Roman" panose="02020603050405020304" pitchFamily="18" charset="0"/>
              <a:ea typeface="幼圆" panose="02010509060101010101" pitchFamily="49" charset="-122"/>
            </a:endParaRPr>
          </a:p>
        </p:txBody>
      </p:sp>
      <p:graphicFrame>
        <p:nvGraphicFramePr>
          <p:cNvPr id="2" name="对象 1"/>
          <p:cNvGraphicFramePr>
            <a:graphicFrameLocks noChangeAspect="1"/>
          </p:cNvGraphicFramePr>
          <p:nvPr/>
        </p:nvGraphicFramePr>
        <p:xfrm>
          <a:off x="790575" y="1898650"/>
          <a:ext cx="8104188" cy="4621213"/>
        </p:xfrm>
        <a:graphic>
          <a:graphicData uri="http://schemas.openxmlformats.org/presentationml/2006/ole">
            <mc:AlternateContent xmlns:mc="http://schemas.openxmlformats.org/markup-compatibility/2006">
              <mc:Choice xmlns:v="urn:schemas-microsoft-com:vml" Requires="v">
                <p:oleObj spid="_x0000_s261179" name="Picture" r:id="rId3" imgW="33575625" imgH="19164300" progId="Word.Picture.8">
                  <p:embed/>
                </p:oleObj>
              </mc:Choice>
              <mc:Fallback>
                <p:oleObj name="Picture" r:id="rId3" imgW="33575625" imgH="19164300" progId="Word.Picture.8">
                  <p:embed/>
                  <p:pic>
                    <p:nvPicPr>
                      <p:cNvPr id="0" name="Object 4"/>
                      <p:cNvPicPr>
                        <a:picLocks noChangeAspect="1" noChangeArrowheads="1"/>
                      </p:cNvPicPr>
                      <p:nvPr/>
                    </p:nvPicPr>
                    <p:blipFill>
                      <a:blip r:embed="rId4"/>
                      <a:srcRect/>
                      <a:stretch>
                        <a:fillRect/>
                      </a:stretch>
                    </p:blipFill>
                    <p:spPr bwMode="auto">
                      <a:xfrm>
                        <a:off x="790575" y="1898650"/>
                        <a:ext cx="8104188" cy="46212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 name="矩形 5"/>
          <p:cNvSpPr/>
          <p:nvPr/>
        </p:nvSpPr>
        <p:spPr>
          <a:xfrm>
            <a:off x="251520" y="4158835"/>
            <a:ext cx="2855480" cy="566309"/>
          </a:xfrm>
          <a:prstGeom prst="rect">
            <a:avLst/>
          </a:prstGeom>
        </p:spPr>
        <p:txBody>
          <a:bodyPr wrap="square">
            <a:spAutoFit/>
          </a:bodyPr>
          <a:lstStyle/>
          <a:p>
            <a:pPr algn="ctr"/>
            <a:r>
              <a:rPr lang="zh-CN" altLang="en-US" sz="1400" b="1" dirty="0" smtClean="0">
                <a:solidFill>
                  <a:srgbClr val="FF0000"/>
                </a:solidFill>
                <a:latin typeface="+mn-lt"/>
                <a:ea typeface="+mn-ea"/>
              </a:rPr>
              <a:t>等待两个流水线周期</a:t>
            </a:r>
            <a:endParaRPr lang="en-US" altLang="zh-CN" sz="1400" b="1" dirty="0" smtClean="0">
              <a:solidFill>
                <a:srgbClr val="FF0000"/>
              </a:solidFill>
              <a:latin typeface="+mn-lt"/>
              <a:ea typeface="+mn-ea"/>
            </a:endParaRPr>
          </a:p>
          <a:p>
            <a:pPr algn="ctr"/>
            <a:r>
              <a:rPr lang="zh-CN" altLang="en-US" sz="1400" b="1" dirty="0" smtClean="0">
                <a:solidFill>
                  <a:srgbClr val="FF0000"/>
                </a:solidFill>
                <a:latin typeface="+mn-lt"/>
                <a:ea typeface="+mn-ea"/>
              </a:rPr>
              <a:t>（已经采用设置专用路径）</a:t>
            </a:r>
            <a:endParaRPr lang="zh-CN" altLang="en-US" sz="1400" b="1" dirty="0">
              <a:solidFill>
                <a:srgbClr val="FF0000"/>
              </a:solidFill>
              <a:latin typeface="+mn-lt"/>
              <a:ea typeface="+mn-ea"/>
            </a:endParaRPr>
          </a:p>
        </p:txBody>
      </p:sp>
      <p:sp>
        <p:nvSpPr>
          <p:cNvPr id="7"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algn="ctr" eaLnBrk="1" hangingPunct="1">
              <a:spcBef>
                <a:spcPct val="50000"/>
              </a:spcBef>
              <a:buClr>
                <a:schemeClr val="accent2"/>
              </a:buClr>
              <a:buFont typeface="Wingdings" panose="05000000000000000000" pitchFamily="2" charset="2"/>
              <a:buNone/>
            </a:pPr>
            <a:r>
              <a:rPr lang="en-US" altLang="zh-CN" sz="1200" b="0" dirty="0" smtClean="0">
                <a:latin typeface="幼圆" panose="02010509060101010101" pitchFamily="49" charset="-122"/>
                <a:ea typeface="幼圆" panose="02010509060101010101" pitchFamily="49" charset="-122"/>
              </a:rPr>
              <a:t>8</a:t>
            </a:r>
            <a:r>
              <a:rPr lang="zh-CN" altLang="en-US" sz="1200" b="0" dirty="0" smtClean="0">
                <a:latin typeface="幼圆" panose="02010509060101010101" pitchFamily="49" charset="-122"/>
                <a:ea typeface="幼圆" panose="02010509060101010101" pitchFamily="49" charset="-122"/>
              </a:rPr>
              <a:t> </a:t>
            </a:r>
            <a:r>
              <a:rPr lang="zh-CN" altLang="en-US" sz="1200" b="0" dirty="0">
                <a:latin typeface="幼圆" panose="02010509060101010101" pitchFamily="49" charset="-122"/>
                <a:ea typeface="幼圆" panose="02010509060101010101" pitchFamily="49" charset="-122"/>
              </a:rPr>
              <a:t>之 </a:t>
            </a:r>
            <a:r>
              <a:rPr lang="en-US" altLang="zh-CN" sz="1200" b="0" dirty="0" smtClean="0">
                <a:latin typeface="幼圆" panose="02010509060101010101" pitchFamily="49" charset="-122"/>
                <a:ea typeface="幼圆" panose="02010509060101010101" pitchFamily="49" charset="-122"/>
              </a:rPr>
              <a:t>8</a:t>
            </a:r>
            <a:endParaRPr lang="zh-CN" altLang="en-US" sz="1200" b="0" dirty="0">
              <a:latin typeface="幼圆" panose="02010509060101010101" pitchFamily="49" charset="-122"/>
              <a:ea typeface="幼圆" panose="02010509060101010101" pitchFamily="49" charset="-122"/>
            </a:endParaRPr>
          </a:p>
        </p:txBody>
      </p:sp>
    </p:spTree>
  </p:cSld>
  <p:clrMapOvr>
    <a:masterClrMapping/>
  </p:clrMapOvr>
  <p:transition spd="slow">
    <p:random/>
    <p:sndAc>
      <p:stSnd>
        <p:snd r:embed="rId5" name="projctor.wav"/>
      </p:stSnd>
    </p:sndAc>
  </p:transition>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2"/>
          <p:cNvSpPr>
            <a:spLocks noGrp="1" noChangeArrowheads="1"/>
          </p:cNvSpPr>
          <p:nvPr>
            <p:ph type="title"/>
          </p:nvPr>
        </p:nvSpPr>
        <p:spPr/>
        <p:txBody>
          <a:bodyPr/>
          <a:lstStyle/>
          <a:p>
            <a:pPr eaLnBrk="1" hangingPunct="1">
              <a:defRPr/>
            </a:pPr>
            <a:r>
              <a:rPr lang="en-US" altLang="zh-CN" smtClean="0"/>
              <a:t>ILP</a:t>
            </a:r>
            <a:r>
              <a:rPr lang="zh-CN" altLang="en-US" smtClean="0"/>
              <a:t>总结</a:t>
            </a:r>
            <a:endParaRPr lang="zh-CN" altLang="en-US" smtClean="0"/>
          </a:p>
        </p:txBody>
      </p:sp>
      <p:sp>
        <p:nvSpPr>
          <p:cNvPr id="27033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panose="020B0604020202020204" pitchFamily="34"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panose="020B0604020202020204" pitchFamily="34"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panose="020B0604020202020204" pitchFamily="34"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panose="020B0604020202020204" pitchFamily="34"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panose="020B0604020202020204" pitchFamily="34"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anose="05000000000000000000" pitchFamily="2" charset="2"/>
              <a:buChar char="§"/>
              <a:defRPr kumimoji="1" b="1">
                <a:solidFill>
                  <a:schemeClr val="tx1"/>
                </a:solidFill>
                <a:latin typeface="Arial" panose="020B0604020202020204" pitchFamily="34" charset="0"/>
                <a:ea typeface="楷体_GB2312" pitchFamily="49" charset="-122"/>
              </a:defRPr>
            </a:lvl9pPr>
          </a:lstStyle>
          <a:p>
            <a:pPr eaLnBrk="1" hangingPunct="1">
              <a:spcBef>
                <a:spcPct val="50000"/>
              </a:spcBef>
              <a:buClr>
                <a:schemeClr val="accent2"/>
              </a:buClr>
              <a:buFont typeface="Wingdings" panose="05000000000000000000" pitchFamily="2" charset="2"/>
              <a:buNone/>
            </a:pPr>
            <a:r>
              <a:rPr lang="zh-CN" altLang="en-US" sz="1200" b="0">
                <a:latin typeface="Times New Roman" panose="02020603050405020304" pitchFamily="18" charset="0"/>
                <a:ea typeface="幼圆" panose="02010509060101010101" pitchFamily="49" charset="-122"/>
                <a:hlinkClick r:id="rId1" action="ppaction://hlinksldjump"/>
              </a:rPr>
              <a:t>本章内容</a:t>
            </a:r>
            <a:endParaRPr lang="zh-CN" altLang="en-US" sz="1200" b="0">
              <a:latin typeface="Times New Roman" panose="02020603050405020304" pitchFamily="18" charset="0"/>
              <a:ea typeface="幼圆" panose="02010509060101010101" pitchFamily="49" charset="-122"/>
            </a:endParaRPr>
          </a:p>
        </p:txBody>
      </p:sp>
      <p:pic>
        <p:nvPicPr>
          <p:cNvPr id="270340" name="Picture 8"/>
          <p:cNvPicPr>
            <a:picLocks noChangeAspect="1" noChangeArrowheads="1"/>
          </p:cNvPicPr>
          <p:nvPr/>
        </p:nvPicPr>
        <p:blipFill>
          <a:blip r:embed="rId2">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a:stretch>
            <a:fillRect/>
          </a:stretch>
        </p:blipFill>
        <p:spPr bwMode="auto">
          <a:xfrm>
            <a:off x="1066800" y="2209800"/>
            <a:ext cx="7581900" cy="4295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pull dir="ru"/>
    <p:sndAc>
      <p:stSnd>
        <p:snd r:embed="rId3" name="projctor.wav"/>
      </p:stSnd>
    </p:sndAc>
  </p:transition>
  <p:timing>
    <p:tnLst>
      <p:par>
        <p:cTn id="1" dur="indefinite" restart="never" nodeType="tmRoot"/>
      </p:par>
    </p:tnLst>
  </p:timing>
</p:sld>
</file>

<file path=ppt/tags/tag1.xml><?xml version="1.0" encoding="utf-8"?>
<p:tagLst xmlns:p="http://schemas.openxmlformats.org/presentationml/2006/main">
  <p:tag name="TABLE_ENDDRAG_ORIGIN_RECT" val="641*192"/>
  <p:tag name="TABLE_ENDDRAG_RECT" val="42*36*641*192"/>
</p:tagLst>
</file>

<file path=ppt/tags/tag2.xml><?xml version="1.0" encoding="utf-8"?>
<p:tagLst xmlns:p="http://schemas.openxmlformats.org/presentationml/2006/main">
  <p:tag name="TABLE_ENDDRAG_ORIGIN_RECT" val="642*216"/>
  <p:tag name="TABLE_ENDDRAG_RECT" val="42*234*642*216"/>
</p:tagLst>
</file>

<file path=ppt/tags/tag3.xml><?xml version="1.0" encoding="utf-8"?>
<p:tagLst xmlns:p="http://schemas.openxmlformats.org/presentationml/2006/main">
  <p:tag name="TABLE_ENDDRAG_ORIGIN_RECT" val="642*105"/>
  <p:tag name="TABLE_ENDDRAG_RECT" val="42*456*642*105"/>
</p:tagLst>
</file>

<file path=ppt/theme/theme1.xml><?xml version="1.0" encoding="utf-8"?>
<a:theme xmlns:a="http://schemas.openxmlformats.org/drawingml/2006/main" name="Straight Edge">
  <a:themeElements>
    <a:clrScheme name="Straight Edge 2">
      <a:dk1>
        <a:srgbClr val="003366"/>
      </a:dk1>
      <a:lt1>
        <a:srgbClr val="FFFFFF"/>
      </a:lt1>
      <a:dk2>
        <a:srgbClr val="003366"/>
      </a:dk2>
      <a:lt2>
        <a:srgbClr val="E3E2C7"/>
      </a:lt2>
      <a:accent1>
        <a:srgbClr val="CCCC99"/>
      </a:accent1>
      <a:accent2>
        <a:srgbClr val="003366"/>
      </a:accent2>
      <a:accent3>
        <a:srgbClr val="FFFFFF"/>
      </a:accent3>
      <a:accent4>
        <a:srgbClr val="002A56"/>
      </a:accent4>
      <a:accent5>
        <a:srgbClr val="E2E2CA"/>
      </a:accent5>
      <a:accent6>
        <a:srgbClr val="002D5C"/>
      </a:accent6>
      <a:hlink>
        <a:srgbClr val="003366"/>
      </a:hlink>
      <a:folHlink>
        <a:srgbClr val="800000"/>
      </a:folHlink>
    </a:clrScheme>
    <a:fontScheme name="Straight Edge">
      <a:majorFont>
        <a:latin typeface="Times New Roman"/>
        <a:ea typeface="隶书"/>
        <a:cs typeface=""/>
      </a:majorFont>
      <a:minorFont>
        <a:latin typeface="Arial"/>
        <a:ea typeface="楷体_GB2312"/>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kumimoji="1" lang="en-US" altLang="zh-CN" sz="3200" b="0" i="0" u="none" strike="noStrike" cap="none" normalizeH="0" baseline="0" smtClean="0">
            <a:ln>
              <a:noFill/>
            </a:ln>
            <a:solidFill>
              <a:schemeClr val="tx1"/>
            </a:solidFill>
            <a:effectLst/>
            <a:latin typeface="Comic Sans MS" panose="030F0702030302020204" pitchFamily="66" charset="0"/>
            <a:ea typeface="宋体" panose="02010600030101010101" pitchFamily="2" charset="-122"/>
          </a:defRPr>
        </a:defPPr>
      </a:lstStyle>
    </a:spDef>
    <a:ln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kumimoji="1" lang="en-US" altLang="zh-CN" sz="3200" b="0" i="0" u="none" strike="noStrike" cap="none" normalizeH="0" baseline="0" smtClean="0">
            <a:ln>
              <a:noFill/>
            </a:ln>
            <a:solidFill>
              <a:schemeClr val="tx1"/>
            </a:solidFill>
            <a:effectLst/>
            <a:latin typeface="Comic Sans MS" panose="030F0702030302020204" pitchFamily="66" charset="0"/>
            <a:ea typeface="宋体" panose="02010600030101010101" pitchFamily="2" charset="-122"/>
          </a:defRPr>
        </a:defPPr>
      </a:lstStyle>
    </a:lnDef>
  </a:objectDefaults>
  <a:extraClrSchemeLst>
    <a:extraClrScheme>
      <a:clrScheme name="Straight Edge 1">
        <a:dk1>
          <a:srgbClr val="008080"/>
        </a:dk1>
        <a:lt1>
          <a:srgbClr val="FFFFCC"/>
        </a:lt1>
        <a:dk2>
          <a:srgbClr val="009999"/>
        </a:dk2>
        <a:lt2>
          <a:srgbClr val="FFFF99"/>
        </a:lt2>
        <a:accent1>
          <a:srgbClr val="336699"/>
        </a:accent1>
        <a:accent2>
          <a:srgbClr val="FFFF99"/>
        </a:accent2>
        <a:accent3>
          <a:srgbClr val="AACACA"/>
        </a:accent3>
        <a:accent4>
          <a:srgbClr val="DADAAE"/>
        </a:accent4>
        <a:accent5>
          <a:srgbClr val="ADB8CA"/>
        </a:accent5>
        <a:accent6>
          <a:srgbClr val="E7E78A"/>
        </a:accent6>
        <a:hlink>
          <a:srgbClr val="FFFFCC"/>
        </a:hlink>
        <a:folHlink>
          <a:srgbClr val="DDDDDD"/>
        </a:folHlink>
      </a:clrScheme>
      <a:clrMap bg1="dk2" tx1="lt1" bg2="dk1" tx2="lt2" accent1="accent1" accent2="accent2" accent3="accent3" accent4="accent4" accent5="accent5" accent6="accent6" hlink="hlink" folHlink="folHlink"/>
    </a:extraClrScheme>
    <a:extraClrScheme>
      <a:clrScheme name="Straight Edge 2">
        <a:dk1>
          <a:srgbClr val="003366"/>
        </a:dk1>
        <a:lt1>
          <a:srgbClr val="FFFFFF"/>
        </a:lt1>
        <a:dk2>
          <a:srgbClr val="003366"/>
        </a:dk2>
        <a:lt2>
          <a:srgbClr val="E3E2C7"/>
        </a:lt2>
        <a:accent1>
          <a:srgbClr val="CCCC99"/>
        </a:accent1>
        <a:accent2>
          <a:srgbClr val="003366"/>
        </a:accent2>
        <a:accent3>
          <a:srgbClr val="FFFFFF"/>
        </a:accent3>
        <a:accent4>
          <a:srgbClr val="002A56"/>
        </a:accent4>
        <a:accent5>
          <a:srgbClr val="E2E2CA"/>
        </a:accent5>
        <a:accent6>
          <a:srgbClr val="002D5C"/>
        </a:accent6>
        <a:hlink>
          <a:srgbClr val="003366"/>
        </a:hlink>
        <a:folHlink>
          <a:srgbClr val="800000"/>
        </a:folHlink>
      </a:clrScheme>
      <a:clrMap bg1="lt1" tx1="dk1" bg2="lt2" tx2="dk2" accent1="accent1" accent2="accent2" accent3="accent3" accent4="accent4" accent5="accent5" accent6="accent6" hlink="hlink" folHlink="folHlink"/>
    </a:extraClrScheme>
    <a:extraClrScheme>
      <a:clrScheme name="Straight Edge 3">
        <a:dk1>
          <a:srgbClr val="000000"/>
        </a:dk1>
        <a:lt1>
          <a:srgbClr val="FFFFFF"/>
        </a:lt1>
        <a:dk2>
          <a:srgbClr val="000000"/>
        </a:dk2>
        <a:lt2>
          <a:srgbClr val="DDDDDD"/>
        </a:lt2>
        <a:accent1>
          <a:srgbClr val="DDDDDD"/>
        </a:accent1>
        <a:accent2>
          <a:srgbClr val="333333"/>
        </a:accent2>
        <a:accent3>
          <a:srgbClr val="FFFFFF"/>
        </a:accent3>
        <a:accent4>
          <a:srgbClr val="000000"/>
        </a:accent4>
        <a:accent5>
          <a:srgbClr val="EBEBEB"/>
        </a:accent5>
        <a:accent6>
          <a:srgbClr val="2D2D2D"/>
        </a:accent6>
        <a:hlink>
          <a:srgbClr val="808080"/>
        </a:hlink>
        <a:folHlink>
          <a:srgbClr val="808080"/>
        </a:folHlink>
      </a:clrScheme>
      <a:clrMap bg1="lt1" tx1="dk1" bg2="lt2" tx2="dk2" accent1="accent1" accent2="accent2" accent3="accent3" accent4="accent4" accent5="accent5" accent6="accent6" hlink="hlink" folHlink="folHlink"/>
    </a:extraClrScheme>
    <a:extraClrScheme>
      <a:clrScheme name="Straight Edge 4">
        <a:dk1>
          <a:srgbClr val="5F5F5F"/>
        </a:dk1>
        <a:lt1>
          <a:srgbClr val="FFFFFF"/>
        </a:lt1>
        <a:dk2>
          <a:srgbClr val="003366"/>
        </a:dk2>
        <a:lt2>
          <a:srgbClr val="FFFFFF"/>
        </a:lt2>
        <a:accent1>
          <a:srgbClr val="7E003F"/>
        </a:accent1>
        <a:accent2>
          <a:srgbClr val="DDDDDD"/>
        </a:accent2>
        <a:accent3>
          <a:srgbClr val="AAADB8"/>
        </a:accent3>
        <a:accent4>
          <a:srgbClr val="DADADA"/>
        </a:accent4>
        <a:accent5>
          <a:srgbClr val="C0AAAF"/>
        </a:accent5>
        <a:accent6>
          <a:srgbClr val="C8C8C8"/>
        </a:accent6>
        <a:hlink>
          <a:srgbClr val="969696"/>
        </a:hlink>
        <a:folHlink>
          <a:srgbClr val="DDDDDD"/>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C:\Program Files\Microsoft Office\Templates\Presentation Designs\Notebook.pot</Template>
  <TotalTime>0</TotalTime>
  <Words>47785</Words>
  <Application>WPS 演示</Application>
  <PresentationFormat>全屏显示(4:3)</PresentationFormat>
  <Paragraphs>11061</Paragraphs>
  <Slides>295</Slides>
  <Notes>42</Notes>
  <HiddenSlides>0</HiddenSlides>
  <MMClips>0</MMClips>
  <ScaleCrop>false</ScaleCrop>
  <HeadingPairs>
    <vt:vector size="8" baseType="variant">
      <vt:variant>
        <vt:lpstr>已用的字体</vt:lpstr>
      </vt:variant>
      <vt:variant>
        <vt:i4>26</vt:i4>
      </vt:variant>
      <vt:variant>
        <vt:lpstr>主题</vt:lpstr>
      </vt:variant>
      <vt:variant>
        <vt:i4>1</vt:i4>
      </vt:variant>
      <vt:variant>
        <vt:lpstr>嵌入 OLE 服务器</vt:lpstr>
      </vt:variant>
      <vt:variant>
        <vt:i4>52</vt:i4>
      </vt:variant>
      <vt:variant>
        <vt:lpstr>幻灯片标题</vt:lpstr>
      </vt:variant>
      <vt:variant>
        <vt:i4>295</vt:i4>
      </vt:variant>
    </vt:vector>
  </HeadingPairs>
  <TitlesOfParts>
    <vt:vector size="374" baseType="lpstr">
      <vt:lpstr>Arial</vt:lpstr>
      <vt:lpstr>宋体</vt:lpstr>
      <vt:lpstr>Wingdings</vt:lpstr>
      <vt:lpstr>Comic Sans MS</vt:lpstr>
      <vt:lpstr>Times New Roman</vt:lpstr>
      <vt:lpstr>隶书</vt:lpstr>
      <vt:lpstr>楷体_GB2312</vt:lpstr>
      <vt:lpstr>新宋体</vt:lpstr>
      <vt:lpstr>幼圆</vt:lpstr>
      <vt:lpstr>Book Antiqua</vt:lpstr>
      <vt:lpstr>微软雅黑</vt:lpstr>
      <vt:lpstr>Arial Unicode MS</vt:lpstr>
      <vt:lpstr>Symbol</vt:lpstr>
      <vt:lpstr>黑体</vt:lpstr>
      <vt:lpstr>Tahoma</vt:lpstr>
      <vt:lpstr>Arial</vt:lpstr>
      <vt:lpstr>Wingdings 2</vt:lpstr>
      <vt:lpstr>楷体</vt:lpstr>
      <vt:lpstr>Helvetica</vt:lpstr>
      <vt:lpstr>楷体_GB2312</vt:lpstr>
      <vt:lpstr>Symbol</vt:lpstr>
      <vt:lpstr>Wingdings</vt:lpstr>
      <vt:lpstr>Wingdings 2</vt:lpstr>
      <vt:lpstr>楷体_GB2312</vt:lpstr>
      <vt:lpstr>方正楷体_GB2312</vt:lpstr>
      <vt:lpstr>Sweetie</vt:lpstr>
      <vt:lpstr>Straight Edge</vt:lpstr>
      <vt:lpstr>Word.Document.8</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Word.Document.8</vt:lpstr>
      <vt:lpstr>Word.Document.8</vt:lpstr>
      <vt:lpstr>Word.Document.8</vt:lpstr>
      <vt:lpstr>Word.Document.8</vt:lpstr>
      <vt:lpstr>Equation.3</vt:lpstr>
      <vt:lpstr>Word.Picture.8</vt:lpstr>
      <vt:lpstr>Word.Picture.8</vt:lpstr>
      <vt:lpstr>Word.Picture.8</vt:lpstr>
      <vt:lpstr>Word.Picture.8</vt:lpstr>
      <vt:lpstr>Word.Picture.8</vt:lpstr>
      <vt:lpstr>Word.Picture.8</vt:lpstr>
      <vt:lpstr>Equation.3</vt:lpstr>
      <vt:lpstr>Equation.3</vt:lpstr>
      <vt:lpstr>Equation.3</vt:lpstr>
      <vt:lpstr>Equation.3</vt:lpstr>
      <vt:lpstr>Word.Document.8</vt:lpstr>
      <vt:lpstr>Word.Picture.8</vt:lpstr>
      <vt:lpstr>Word.Picture.8</vt:lpstr>
      <vt:lpstr>Word.Picture.8</vt:lpstr>
      <vt:lpstr>Word.Picture.8</vt:lpstr>
      <vt:lpstr>Word.Picture.8</vt:lpstr>
      <vt:lpstr>Equation.3</vt:lpstr>
      <vt:lpstr>Equation.3</vt:lpstr>
      <vt:lpstr>Equation.3</vt:lpstr>
      <vt:lpstr>Equation.3</vt:lpstr>
      <vt:lpstr>Word.Picture.8</vt:lpstr>
      <vt:lpstr>Equation.3</vt:lpstr>
      <vt:lpstr>Word.Picture.8</vt:lpstr>
      <vt:lpstr>Word.Picture.8</vt:lpstr>
      <vt:lpstr>Equation.3</vt:lpstr>
      <vt:lpstr>Equation.3</vt:lpstr>
      <vt:lpstr>Equation.3</vt:lpstr>
      <vt:lpstr>Equation.3</vt:lpstr>
      <vt:lpstr>流水处理和 指令级并行</vt:lpstr>
      <vt:lpstr>流水线基本概念</vt:lpstr>
      <vt:lpstr>引  入</vt:lpstr>
      <vt:lpstr>指令级并行技术 （ILP）</vt:lpstr>
      <vt:lpstr>流水线工作原理</vt:lpstr>
      <vt:lpstr>流水线基本思想</vt:lpstr>
      <vt:lpstr>流水线基本思想</vt:lpstr>
      <vt:lpstr>流水线基本思想</vt:lpstr>
      <vt:lpstr>流水线基本思想</vt:lpstr>
      <vt:lpstr>流水线基本思想</vt:lpstr>
      <vt:lpstr>流水线表示方法</vt:lpstr>
      <vt:lpstr>连接图</vt:lpstr>
      <vt:lpstr>连接图</vt:lpstr>
      <vt:lpstr>时空图</vt:lpstr>
      <vt:lpstr>流水线主要特点</vt:lpstr>
      <vt:lpstr>流水线的分类</vt:lpstr>
      <vt:lpstr>分类一</vt:lpstr>
      <vt:lpstr>PowerPoint 演示文稿</vt:lpstr>
      <vt:lpstr>分类二</vt:lpstr>
      <vt:lpstr>静态流水线</vt:lpstr>
      <vt:lpstr>动态流水线</vt:lpstr>
      <vt:lpstr>分类三</vt:lpstr>
      <vt:lpstr>非线性流水线</vt:lpstr>
      <vt:lpstr>提  示</vt:lpstr>
      <vt:lpstr>分类四</vt:lpstr>
      <vt:lpstr>部件级流水线</vt:lpstr>
      <vt:lpstr>处理机级流水线</vt:lpstr>
      <vt:lpstr>系统级流水线</vt:lpstr>
      <vt:lpstr>其  它</vt:lpstr>
      <vt:lpstr>流水线的性能分析</vt:lpstr>
      <vt:lpstr>吞吐率</vt:lpstr>
      <vt:lpstr>例1：各段时间均相等</vt:lpstr>
      <vt:lpstr>例1：各段时间均相等</vt:lpstr>
      <vt:lpstr>例2：各段时间不相等</vt:lpstr>
      <vt:lpstr>问题及解决</vt:lpstr>
      <vt:lpstr>举  例-瓶颈</vt:lpstr>
      <vt:lpstr>举  例-瓶颈解决</vt:lpstr>
      <vt:lpstr>举  例-多套瓶颈时空图</vt:lpstr>
      <vt:lpstr>加速比</vt:lpstr>
      <vt:lpstr>例1：各段时间均相等</vt:lpstr>
      <vt:lpstr>例2：各段时间不相等</vt:lpstr>
      <vt:lpstr>效  率</vt:lpstr>
      <vt:lpstr>例1：各段时间均相等</vt:lpstr>
      <vt:lpstr>例2：各段时间不相等</vt:lpstr>
      <vt:lpstr>例2：各段时间不相等</vt:lpstr>
      <vt:lpstr>流水线最佳段数的 选择</vt:lpstr>
      <vt:lpstr>流水线最佳段数的选择</vt:lpstr>
      <vt:lpstr>性能分析举例</vt:lpstr>
      <vt:lpstr>性能分析举例</vt:lpstr>
      <vt:lpstr>性能分析举例</vt:lpstr>
      <vt:lpstr>非线性流水线的 调度技术</vt:lpstr>
      <vt:lpstr>调度目的</vt:lpstr>
      <vt:lpstr>非线性流水线的冲突</vt:lpstr>
      <vt:lpstr>举  例-非线性流水线</vt:lpstr>
      <vt:lpstr>举  例-流水线冲突</vt:lpstr>
      <vt:lpstr>举  例-流水线不冲突</vt:lpstr>
      <vt:lpstr>举  例-流水线不冲突</vt:lpstr>
      <vt:lpstr>无冲突调度方法-例子</vt:lpstr>
      <vt:lpstr>无冲突调度方法-步骤</vt:lpstr>
      <vt:lpstr>步骤一</vt:lpstr>
      <vt:lpstr>步骤二</vt:lpstr>
      <vt:lpstr>步骤三（1）</vt:lpstr>
      <vt:lpstr>步骤三（2）</vt:lpstr>
      <vt:lpstr>步骤四（1）</vt:lpstr>
      <vt:lpstr>步骤四（2）</vt:lpstr>
      <vt:lpstr>步骤五（1）</vt:lpstr>
      <vt:lpstr>步骤五（2）</vt:lpstr>
      <vt:lpstr>步骤五（3）</vt:lpstr>
      <vt:lpstr>步骤五（4）</vt:lpstr>
      <vt:lpstr>优化调度方法</vt:lpstr>
      <vt:lpstr>理论基础</vt:lpstr>
      <vt:lpstr>预留算法</vt:lpstr>
      <vt:lpstr>举例-优化前（前例）</vt:lpstr>
      <vt:lpstr>举例-优化后</vt:lpstr>
      <vt:lpstr>举例-优化后</vt:lpstr>
      <vt:lpstr>举例-优化后</vt:lpstr>
      <vt:lpstr>相关性分析技术</vt:lpstr>
      <vt:lpstr>基本概念</vt:lpstr>
      <vt:lpstr>示例环境说明</vt:lpstr>
      <vt:lpstr>MIPS基本流水线</vt:lpstr>
      <vt:lpstr>取指令周期（IF）</vt:lpstr>
      <vt:lpstr>图示IF</vt:lpstr>
      <vt:lpstr>指令译码/读寄存器周期（ID）</vt:lpstr>
      <vt:lpstr>图示ID</vt:lpstr>
      <vt:lpstr>执行/有效地址周期（EX）</vt:lpstr>
      <vt:lpstr>图示EX</vt:lpstr>
      <vt:lpstr>访问存储器周期（MEM）</vt:lpstr>
      <vt:lpstr>图示MEM</vt:lpstr>
      <vt:lpstr>写回周期（WB）</vt:lpstr>
      <vt:lpstr>图示WB</vt:lpstr>
      <vt:lpstr>时空图</vt:lpstr>
      <vt:lpstr>PowerPoint 演示文稿</vt:lpstr>
      <vt:lpstr>MIPS扩展流水线</vt:lpstr>
      <vt:lpstr>连接图</vt:lpstr>
      <vt:lpstr>一组独立的浮点操作流水线时序 </vt:lpstr>
      <vt:lpstr>资源相关</vt:lpstr>
      <vt:lpstr>PowerPoint 演示文稿</vt:lpstr>
      <vt:lpstr>资源相关</vt:lpstr>
      <vt:lpstr>例  子</vt:lpstr>
      <vt:lpstr>数据相关</vt:lpstr>
      <vt:lpstr>数据相关类型</vt:lpstr>
      <vt:lpstr>“先写后读”相关（RAW）</vt:lpstr>
      <vt:lpstr>“先写后读”相关（RAW）</vt:lpstr>
      <vt:lpstr>“先读后写”相关（WAR）</vt:lpstr>
      <vt:lpstr>“先读后写”相关（WAR）</vt:lpstr>
      <vt:lpstr>“写写”相关 （WAW）</vt:lpstr>
      <vt:lpstr>“写写”相关 （WAW）</vt:lpstr>
      <vt:lpstr>提  示</vt:lpstr>
      <vt:lpstr>数据相关解决</vt:lpstr>
      <vt:lpstr>设置专用路径</vt:lpstr>
      <vt:lpstr>PowerPoint 演示文稿</vt:lpstr>
      <vt:lpstr>PowerPoint 演示文稿</vt:lpstr>
      <vt:lpstr>推后处理</vt:lpstr>
      <vt:lpstr>PowerPoint 演示文稿</vt:lpstr>
      <vt:lpstr>PowerPoint 演示文稿</vt:lpstr>
      <vt:lpstr>指令调度</vt:lpstr>
      <vt:lpstr>指令调度举例</vt:lpstr>
      <vt:lpstr>寄存器换名</vt:lpstr>
      <vt:lpstr>寄存器换名举例</vt:lpstr>
      <vt:lpstr>动态调度技术</vt:lpstr>
      <vt:lpstr>引  入</vt:lpstr>
      <vt:lpstr>引  入</vt:lpstr>
      <vt:lpstr>思  想</vt:lpstr>
      <vt:lpstr>Tomasulo算法</vt:lpstr>
      <vt:lpstr>概  述</vt:lpstr>
      <vt:lpstr>PowerPoint 演示文稿</vt:lpstr>
      <vt:lpstr>保留站</vt:lpstr>
      <vt:lpstr>存储设备</vt:lpstr>
      <vt:lpstr>指令执行过程</vt:lpstr>
      <vt:lpstr>指令格式</vt:lpstr>
      <vt:lpstr>PowerPoint 演示文稿</vt:lpstr>
      <vt:lpstr>举  例</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控制相关</vt:lpstr>
      <vt:lpstr>基本概念</vt:lpstr>
      <vt:lpstr>举  例</vt:lpstr>
      <vt:lpstr>条件转移的影响</vt:lpstr>
      <vt:lpstr>条件转移的影响</vt:lpstr>
      <vt:lpstr>条件转移的影响</vt:lpstr>
      <vt:lpstr>条件转移的处理</vt:lpstr>
      <vt:lpstr>提前形成条件码</vt:lpstr>
      <vt:lpstr>提前形成条件码</vt:lpstr>
      <vt:lpstr>提前形成条件码</vt:lpstr>
      <vt:lpstr>预  测</vt:lpstr>
      <vt:lpstr>思  想</vt:lpstr>
      <vt:lpstr>分支现场的保护 及恢复</vt:lpstr>
      <vt:lpstr>预防预测不中时的 加速处理</vt:lpstr>
      <vt:lpstr>静态预测</vt:lpstr>
      <vt:lpstr>延迟转移</vt:lpstr>
      <vt:lpstr>例:MIPS基本流水线</vt:lpstr>
      <vt:lpstr>延迟转移中的指令调度</vt:lpstr>
      <vt:lpstr>三种指令调度方法</vt:lpstr>
      <vt:lpstr>指令调度方法的比较</vt:lpstr>
      <vt:lpstr>指令取消技术</vt:lpstr>
      <vt:lpstr>例:预测成功转移下的指令取消技术</vt:lpstr>
      <vt:lpstr>动态预测</vt:lpstr>
      <vt:lpstr>转移预测缓冲器</vt:lpstr>
      <vt:lpstr>思  想</vt:lpstr>
      <vt:lpstr>示意图</vt:lpstr>
      <vt:lpstr>1bit转移预测缓冲器                                 — 方法</vt:lpstr>
      <vt:lpstr>2bit转移预测缓冲器                                   — 方法</vt:lpstr>
      <vt:lpstr>nbit转移预测缓冲器                          — 推而广之</vt:lpstr>
      <vt:lpstr>PowerPoint 演示文稿</vt:lpstr>
      <vt:lpstr>相关转移预测器</vt:lpstr>
      <vt:lpstr>思  想</vt:lpstr>
      <vt:lpstr>（1，1）预测器                   —  方法</vt:lpstr>
      <vt:lpstr>（1，1）预测器                   —  举例</vt:lpstr>
      <vt:lpstr>（m，n）预测器                    —  方法</vt:lpstr>
      <vt:lpstr>（2，2）预测器                    —  举例</vt:lpstr>
      <vt:lpstr>PowerPoint 演示文稿</vt:lpstr>
      <vt:lpstr>自适应预测器            — 思想</vt:lpstr>
      <vt:lpstr>自适应预测器            — 实现</vt:lpstr>
      <vt:lpstr>自适应预测器            — 比较</vt:lpstr>
      <vt:lpstr>分支目标缓冲器             — 思想</vt:lpstr>
      <vt:lpstr>分支目标缓冲器                — 举例</vt:lpstr>
      <vt:lpstr>PowerPoint 演示文稿</vt:lpstr>
      <vt:lpstr>分支目标缓冲器             — 延迟分析</vt:lpstr>
      <vt:lpstr>分支目标缓冲器             — 另一种形式</vt:lpstr>
      <vt:lpstr>分支目标缓冲器             — 优化</vt:lpstr>
      <vt:lpstr>中断的处理</vt:lpstr>
      <vt:lpstr>不精确断点</vt:lpstr>
      <vt:lpstr>不精确断点</vt:lpstr>
      <vt:lpstr>精确断点</vt:lpstr>
      <vt:lpstr>精确断点</vt:lpstr>
      <vt:lpstr>综合应用 （基于硬件的前瞻执行）</vt:lpstr>
      <vt:lpstr>综合应用 （基于硬件的前瞻执行）</vt:lpstr>
      <vt:lpstr>思  想</vt:lpstr>
      <vt:lpstr>PowerPoint 演示文稿</vt:lpstr>
      <vt:lpstr>重排序缓冲器 (ROB)</vt:lpstr>
      <vt:lpstr>指令执行过程                        — 之一</vt:lpstr>
      <vt:lpstr>指令执行过程                        — 之二</vt:lpstr>
      <vt:lpstr>PowerPoint 演示文稿</vt:lpstr>
      <vt:lpstr>PowerPoint 演示文稿</vt:lpstr>
      <vt:lpstr>举  例</vt:lpstr>
      <vt:lpstr>PowerPoint 演示文稿</vt:lpstr>
      <vt:lpstr>循环处理</vt:lpstr>
      <vt:lpstr>实验环境</vt:lpstr>
      <vt:lpstr>实验环境</vt:lpstr>
      <vt:lpstr>调度技术                            — 调度前</vt:lpstr>
      <vt:lpstr>调度技术                           — 调度后</vt:lpstr>
      <vt:lpstr>循环展开</vt:lpstr>
      <vt:lpstr>举例一                           — 循环展开</vt:lpstr>
      <vt:lpstr>举例一                    — 分析</vt:lpstr>
      <vt:lpstr>举例二                     — 循环展开+调度</vt:lpstr>
      <vt:lpstr>举例二                     — 分析</vt:lpstr>
      <vt:lpstr>小  结</vt:lpstr>
      <vt:lpstr>软件流水                    — 思想</vt:lpstr>
      <vt:lpstr>软件流水                    — 举例</vt:lpstr>
      <vt:lpstr>软件流水                    — 举例解释</vt:lpstr>
      <vt:lpstr>软件流水                    — 分析</vt:lpstr>
      <vt:lpstr>软件流水                    — 比较</vt:lpstr>
      <vt:lpstr>软件流水                           — 比较(图)</vt:lpstr>
      <vt:lpstr>多指令发射技术</vt:lpstr>
      <vt:lpstr>超标量处理机</vt:lpstr>
      <vt:lpstr>工作原理</vt:lpstr>
      <vt:lpstr>标量处理机                        — 连接图</vt:lpstr>
      <vt:lpstr>标量处理机                        — 时空图</vt:lpstr>
      <vt:lpstr>标量处理机                        — 解释</vt:lpstr>
      <vt:lpstr>超标量处理机                        — 连接图</vt:lpstr>
      <vt:lpstr>超标量处理机                        — 时空图</vt:lpstr>
      <vt:lpstr>超标量处理机                        — 解释</vt:lpstr>
      <vt:lpstr>超标量处理机                        — 定义</vt:lpstr>
      <vt:lpstr>超标量处理机               — 先行指令窗口(1)</vt:lpstr>
      <vt:lpstr>超标量处理机             — 先行指令窗口(2)</vt:lpstr>
      <vt:lpstr>超标量处理机                        — 举例(1)</vt:lpstr>
      <vt:lpstr>超标量处理机                        — 举例(2)</vt:lpstr>
      <vt:lpstr>调度方法</vt:lpstr>
      <vt:lpstr>PowerPoint 演示文稿</vt:lpstr>
      <vt:lpstr>PowerPoint 演示文稿</vt:lpstr>
      <vt:lpstr>PowerPoint 演示文稿</vt:lpstr>
      <vt:lpstr>常见超标量处理机技术</vt:lpstr>
      <vt:lpstr>超标量处理机设计</vt:lpstr>
      <vt:lpstr>基于静态调度的超标量处理机</vt:lpstr>
      <vt:lpstr>设计</vt:lpstr>
      <vt:lpstr>时空图 </vt:lpstr>
      <vt:lpstr>分析</vt:lpstr>
      <vt:lpstr>分析</vt:lpstr>
      <vt:lpstr>基于动态调度的超标量处理机</vt:lpstr>
      <vt:lpstr>举例</vt:lpstr>
      <vt:lpstr>假设</vt:lpstr>
      <vt:lpstr>要求</vt:lpstr>
      <vt:lpstr>PowerPoint 演示文稿</vt:lpstr>
      <vt:lpstr>PowerPoint 演示文稿</vt:lpstr>
      <vt:lpstr>分析</vt:lpstr>
      <vt:lpstr>分析</vt:lpstr>
      <vt:lpstr>资源冲突</vt:lpstr>
      <vt:lpstr>执行部件不采用流水</vt:lpstr>
      <vt:lpstr>执行部件采用流水</vt:lpstr>
      <vt:lpstr>提  示</vt:lpstr>
      <vt:lpstr>性能分析</vt:lpstr>
      <vt:lpstr>性能分析</vt:lpstr>
      <vt:lpstr>超长指令字处理机 (VLIW)</vt:lpstr>
      <vt:lpstr>工作原理</vt:lpstr>
      <vt:lpstr>示意图</vt:lpstr>
      <vt:lpstr>传统指令和VLIW指令</vt:lpstr>
      <vt:lpstr>超标量处理机</vt:lpstr>
      <vt:lpstr>两者比较</vt:lpstr>
      <vt:lpstr>设计问题</vt:lpstr>
      <vt:lpstr>编译技术</vt:lpstr>
      <vt:lpstr>举  例                — 说明</vt:lpstr>
      <vt:lpstr>举  例                — VLIW调度</vt:lpstr>
      <vt:lpstr>举  例    — 循环展开+VLIW调度</vt:lpstr>
      <vt:lpstr>代码膨胀</vt:lpstr>
      <vt:lpstr>解决方法</vt:lpstr>
      <vt:lpstr>代码压缩</vt:lpstr>
      <vt:lpstr>二进制代码的兼容性</vt:lpstr>
      <vt:lpstr>解决方法</vt:lpstr>
      <vt:lpstr>多流出处理器受到的限制</vt:lpstr>
      <vt:lpstr>超流水线处理机</vt:lpstr>
      <vt:lpstr>超流水线处理机</vt:lpstr>
      <vt:lpstr>例:SGI公司的MIPS系列R4000</vt:lpstr>
      <vt:lpstr>例:指令流水线结构</vt:lpstr>
      <vt:lpstr>例:指令流水线结构</vt:lpstr>
      <vt:lpstr>例:指令流水线时空图</vt:lpstr>
      <vt:lpstr>例:load指令引起的流水线停顿</vt:lpstr>
      <vt:lpstr>ILP总结</vt:lpstr>
    </vt:vector>
  </TitlesOfParts>
  <Company>同济大学.电子与信息工程学院.计算机科学与工程系</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第四章</dc:title>
  <dc:creator>陆有军</dc:creator>
  <dc:subject>流水处理和指令级并行</dc:subject>
  <cp:lastModifiedBy>JL</cp:lastModifiedBy>
  <cp:revision>390</cp:revision>
  <dcterms:created xsi:type="dcterms:W3CDTF">2113-01-01T00:00:00Z</dcterms:created>
  <dcterms:modified xsi:type="dcterms:W3CDTF">2025-12-27T14:29:20Z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2052-12.1.0.24034</vt:lpwstr>
  </property>
  <property fmtid="{D5CDD505-2E9C-101B-9397-08002B2CF9AE}" pid="3" name="ICV">
    <vt:lpwstr>898984CD86F84024B177BA22DCFCCE98_12</vt:lpwstr>
  </property>
</Properties>
</file>