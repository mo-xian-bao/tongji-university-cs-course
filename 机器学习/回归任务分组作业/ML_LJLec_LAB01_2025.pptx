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2" r:id="rId2"/>
    <p:sldId id="545" r:id="rId3"/>
    <p:sldId id="54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  <p15:guide id="4" orient="horz" pos="10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B5AA8"/>
    <a:srgbClr val="0E9F0E"/>
    <a:srgbClr val="ECECE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694"/>
  </p:normalViewPr>
  <p:slideViewPr>
    <p:cSldViewPr snapToGrid="0" showGuides="1">
      <p:cViewPr varScale="1">
        <p:scale>
          <a:sx n="85" d="100"/>
          <a:sy n="85" d="100"/>
        </p:scale>
        <p:origin x="556" y="36"/>
      </p:cViewPr>
      <p:guideLst>
        <p:guide pos="3840"/>
        <p:guide orient="horz" pos="459"/>
        <p:guide orient="horz" pos="10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87D3E-3B99-457C-B361-C9FB0C6CC7CA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8AB47-7462-457B-AB71-C471D20C63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02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FCC314C8-6BF2-4382-B94F-BD1D9AE7B0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B4E51848-092B-4A3A-8E10-B09B65A7C7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多领域交叉学科</a:t>
            </a:r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19AB1A8-87F2-49A6-9B9D-01FDB2D01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C9FE21-7AED-4D6F-80AD-911F41D7893B}" type="slidenum">
              <a:rPr lang="en-CA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CA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635B41F7-AA48-41CA-A41F-BD55AEAEF7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C77EF4B0-A42E-4633-BCA1-3130150759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多领域交叉学科</a:t>
            </a: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235B9474-5386-4F38-BC25-0491E7363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5CCA078-A424-4F50-9DD8-A0B341F7429E}" type="slidenum">
              <a:rPr lang="en-CA" altLang="zh-CN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CA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76C46-BD25-4B00-8323-696F25C7E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8B590F-4055-49C6-982A-925774EDA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00EACD-4B40-469C-A7C9-F8C71746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5D6B-EA39-4BCF-A019-0010EA77FAAF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81A29-F23F-4E9F-9592-0030982B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BD0BAF-B055-49CA-9FD0-C5FA2C83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DC3A-CDAD-488C-97D4-6FB9641E35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80993E-67C9-4FCA-A372-B827362F6D3A}"/>
              </a:ext>
            </a:extLst>
          </p:cNvPr>
          <p:cNvSpPr/>
          <p:nvPr userDrawn="1"/>
        </p:nvSpPr>
        <p:spPr>
          <a:xfrm>
            <a:off x="0" y="6565277"/>
            <a:ext cx="2415622" cy="292724"/>
          </a:xfrm>
          <a:prstGeom prst="rect">
            <a:avLst/>
          </a:prstGeom>
          <a:solidFill>
            <a:srgbClr val="0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0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计算机科学与技术学院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B043A0-C90E-4E10-B70F-A1EEB11AB171}"/>
              </a:ext>
            </a:extLst>
          </p:cNvPr>
          <p:cNvSpPr/>
          <p:nvPr userDrawn="1"/>
        </p:nvSpPr>
        <p:spPr>
          <a:xfrm>
            <a:off x="2415621" y="6565277"/>
            <a:ext cx="7360757" cy="2927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机器学习</a:t>
            </a:r>
            <a:r>
              <a:rPr lang="en-US" altLang="zh-CN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Lab1</a:t>
            </a: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：回归实验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DD2EF8-312A-48C7-9CA1-9A30836C638C}"/>
              </a:ext>
            </a:extLst>
          </p:cNvPr>
          <p:cNvSpPr/>
          <p:nvPr userDrawn="1"/>
        </p:nvSpPr>
        <p:spPr>
          <a:xfrm>
            <a:off x="9776378" y="6565277"/>
            <a:ext cx="2415622" cy="292724"/>
          </a:xfrm>
          <a:prstGeom prst="rect">
            <a:avLst/>
          </a:prstGeom>
          <a:solidFill>
            <a:srgbClr val="0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AAB0C5D3-970E-44A5-8464-6FC9E649228E}" type="datetime1">
              <a:rPr lang="en-US" altLang="zh-CN" sz="1400" b="0" smtClean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9/22/2025</a:t>
            </a:fld>
            <a:r>
              <a:rPr lang="en-US" altLang="zh-CN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         第</a:t>
            </a:r>
            <a:fld id="{4DA83C51-CB69-4FE1-A3E8-4924E57974A5}" type="slidenum">
              <a:rPr lang="zh-CN" altLang="en-US" sz="1400" b="0" smtClean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pPr/>
              <a:t>‹#›</a:t>
            </a:fld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87545A-FD6C-4226-B407-E4D3D009E702}"/>
              </a:ext>
            </a:extLst>
          </p:cNvPr>
          <p:cNvSpPr/>
          <p:nvPr userDrawn="1"/>
        </p:nvSpPr>
        <p:spPr>
          <a:xfrm>
            <a:off x="0" y="0"/>
            <a:ext cx="6096000" cy="292724"/>
          </a:xfrm>
          <a:prstGeom prst="rect">
            <a:avLst/>
          </a:prstGeom>
          <a:solidFill>
            <a:srgbClr val="0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850F8E-4EF3-4F0B-866E-D7BBF2E40D1F}"/>
              </a:ext>
            </a:extLst>
          </p:cNvPr>
          <p:cNvSpPr/>
          <p:nvPr userDrawn="1"/>
        </p:nvSpPr>
        <p:spPr>
          <a:xfrm>
            <a:off x="6096000" y="0"/>
            <a:ext cx="6096000" cy="2927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7B5914-43B5-4DDD-40E3-05A366FD85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2316" y="381024"/>
            <a:ext cx="1694150" cy="42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72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0742A3A-3E83-4B69-8850-1E4A8C726303}"/>
              </a:ext>
            </a:extLst>
          </p:cNvPr>
          <p:cNvSpPr/>
          <p:nvPr userDrawn="1"/>
        </p:nvSpPr>
        <p:spPr>
          <a:xfrm>
            <a:off x="0" y="0"/>
            <a:ext cx="6096000" cy="292724"/>
          </a:xfrm>
          <a:prstGeom prst="rect">
            <a:avLst/>
          </a:prstGeom>
          <a:solidFill>
            <a:srgbClr val="0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F138F6-F96B-4BF1-9518-9807D2D923AF}"/>
              </a:ext>
            </a:extLst>
          </p:cNvPr>
          <p:cNvSpPr/>
          <p:nvPr userDrawn="1"/>
        </p:nvSpPr>
        <p:spPr>
          <a:xfrm>
            <a:off x="6096000" y="0"/>
            <a:ext cx="6096000" cy="2927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6151C95-272D-4EA9-ADBB-E3826E710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2316" y="381024"/>
            <a:ext cx="1694150" cy="42458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F33FB10-D519-4F23-8DDA-D9596DDBEC3A}"/>
              </a:ext>
            </a:extLst>
          </p:cNvPr>
          <p:cNvSpPr/>
          <p:nvPr userDrawn="1"/>
        </p:nvSpPr>
        <p:spPr>
          <a:xfrm>
            <a:off x="0" y="6565277"/>
            <a:ext cx="2415622" cy="292724"/>
          </a:xfrm>
          <a:prstGeom prst="rect">
            <a:avLst/>
          </a:prstGeom>
          <a:solidFill>
            <a:srgbClr val="0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0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计算机科学与技术学院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980578-5009-4D7A-9152-81E065325442}"/>
              </a:ext>
            </a:extLst>
          </p:cNvPr>
          <p:cNvSpPr/>
          <p:nvPr userDrawn="1"/>
        </p:nvSpPr>
        <p:spPr>
          <a:xfrm>
            <a:off x="2415621" y="6565277"/>
            <a:ext cx="7360757" cy="2927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机器学习</a:t>
            </a:r>
            <a:r>
              <a:rPr lang="en-US" altLang="zh-CN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Lab1</a:t>
            </a: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：回归实验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559BF4-9C82-45FE-B0DC-DE99F5605CD0}"/>
              </a:ext>
            </a:extLst>
          </p:cNvPr>
          <p:cNvSpPr/>
          <p:nvPr userDrawn="1"/>
        </p:nvSpPr>
        <p:spPr>
          <a:xfrm>
            <a:off x="9776378" y="6565277"/>
            <a:ext cx="2415622" cy="292724"/>
          </a:xfrm>
          <a:prstGeom prst="rect">
            <a:avLst/>
          </a:prstGeom>
          <a:solidFill>
            <a:srgbClr val="0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AAB0C5D3-970E-44A5-8464-6FC9E649228E}" type="datetime1">
              <a:rPr lang="en-US" altLang="zh-CN" sz="1400" b="0" smtClean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9/22/2025</a:t>
            </a:fld>
            <a:r>
              <a:rPr lang="en-US" altLang="zh-CN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         第</a:t>
            </a:r>
            <a:fld id="{4DA83C51-CB69-4FE1-A3E8-4924E57974A5}" type="slidenum">
              <a:rPr lang="zh-CN" altLang="en-US" sz="1400" b="0" smtClean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pPr/>
              <a:t>‹#›</a:t>
            </a:fld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66955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8D3FA-53F8-452F-97B0-BDA7B6008E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928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800"/>
          </a:xfrm>
        </p:spPr>
        <p:txBody>
          <a:bodyPr tIns="36000" bIns="1080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18F99-FE8E-47AF-BEFD-E82118AEE6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785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0CD3C1-3952-4C57-AE06-D0FFA461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88CD97-8108-4F74-B9EE-2E5043FA1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6347D-33E3-473B-BA50-97F6D6A87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5D6B-EA39-4BCF-A019-0010EA77FAAF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90C9AB-7D81-4EE6-BB77-3067F6251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290CF3-E944-4767-BAD7-4A081BD1B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2DC3A-CDAD-488C-97D4-6FB9641E3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>
            <a:extLst>
              <a:ext uri="{FF2B5EF4-FFF2-40B4-BE49-F238E27FC236}">
                <a16:creationId xmlns:a16="http://schemas.microsoft.com/office/drawing/2014/main" id="{23655715-4C76-4E37-B28D-69CF72144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14" y="2883306"/>
            <a:ext cx="5904090" cy="202493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36BD98C-7A0E-4889-B93B-C23F1D1F5603}"/>
              </a:ext>
            </a:extLst>
          </p:cNvPr>
          <p:cNvSpPr txBox="1"/>
          <p:nvPr/>
        </p:nvSpPr>
        <p:spPr>
          <a:xfrm>
            <a:off x="3094259" y="1381498"/>
            <a:ext cx="5994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1" spc="3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机器学习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6DBA77-FAD0-4E02-A315-3D8FAB9EDBBF}"/>
              </a:ext>
            </a:extLst>
          </p:cNvPr>
          <p:cNvSpPr txBox="1"/>
          <p:nvPr/>
        </p:nvSpPr>
        <p:spPr>
          <a:xfrm>
            <a:off x="3360737" y="2150939"/>
            <a:ext cx="5470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Lab1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回归实验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B387E1-AB84-4E18-ADC4-40CF75978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34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内容占位符 1">
            <a:extLst>
              <a:ext uri="{FF2B5EF4-FFF2-40B4-BE49-F238E27FC236}">
                <a16:creationId xmlns:a16="http://schemas.microsoft.com/office/drawing/2014/main" id="{6832A4AB-E791-4E65-8146-DF92C83F5DA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739106" y="1143000"/>
            <a:ext cx="8713787" cy="52022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500" dirty="0">
                <a:solidFill>
                  <a:srgbClr val="4D4D4D"/>
                </a:solidFill>
                <a:latin typeface="黑体" panose="02010609060101010101" pitchFamily="49" charset="-122"/>
              </a:rPr>
              <a:t>自选任务完成回归实验</a:t>
            </a:r>
            <a:endParaRPr lang="en-US" altLang="zh-CN" sz="25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500" dirty="0">
                <a:solidFill>
                  <a:srgbClr val="4D4D4D"/>
                </a:solidFill>
                <a:latin typeface="黑体" panose="02010609060101010101" pitchFamily="49" charset="-122"/>
              </a:rPr>
              <a:t>实验包含步骤：</a:t>
            </a:r>
            <a:r>
              <a:rPr lang="en-US" altLang="zh-CN" sz="2500" dirty="0">
                <a:latin typeface="黑体" panose="02010609060101010101" pitchFamily="49" charset="-122"/>
              </a:rPr>
              <a:t>Data prepare - Data Preprocess -Model construct - Train &amp; Test -Plot result - Optimize &amp; Review</a:t>
            </a:r>
          </a:p>
          <a:p>
            <a:pPr>
              <a:lnSpc>
                <a:spcPct val="80000"/>
              </a:lnSpc>
            </a:pPr>
            <a:r>
              <a:rPr lang="zh-CN" altLang="en-US" sz="2500" dirty="0">
                <a:solidFill>
                  <a:srgbClr val="4D4D4D"/>
                </a:solidFill>
                <a:latin typeface="黑体" panose="02010609060101010101" pitchFamily="49" charset="-122"/>
              </a:rPr>
              <a:t>实验报告要求详见实验报告说明文件</a:t>
            </a:r>
            <a:endParaRPr lang="en-US" altLang="zh-CN" sz="25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500" dirty="0">
                <a:solidFill>
                  <a:srgbClr val="4D4D4D"/>
                </a:solidFill>
                <a:latin typeface="黑体" panose="02010609060101010101" pitchFamily="49" charset="-122"/>
              </a:rPr>
              <a:t>实验所使用的数据集不做规定，请同学们自行选择实验所用数据集</a:t>
            </a:r>
            <a:endParaRPr lang="en-US" altLang="zh-CN" sz="25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5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500" b="1" dirty="0">
                <a:solidFill>
                  <a:srgbClr val="0070C0"/>
                </a:solidFill>
                <a:latin typeface="黑体" panose="02010609060101010101" pitchFamily="49" charset="-122"/>
              </a:rPr>
              <a:t>Extra Credit:</a:t>
            </a:r>
          </a:p>
          <a:p>
            <a:pPr lvl="1">
              <a:lnSpc>
                <a:spcPct val="80000"/>
              </a:lnSpc>
            </a:pP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</a:rPr>
              <a:t>手写实现回归算法模型</a:t>
            </a:r>
            <a:endParaRPr lang="en-US" altLang="zh-CN" dirty="0">
              <a:solidFill>
                <a:srgbClr val="0070C0"/>
              </a:solidFill>
              <a:latin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500" dirty="0">
                <a:solidFill>
                  <a:srgbClr val="0070C0"/>
                </a:solidFill>
                <a:latin typeface="黑体" panose="02010609060101010101" pitchFamily="49" charset="-122"/>
              </a:rPr>
              <a:t>讨论：如学习率及正则化参数等等</a:t>
            </a:r>
            <a:endParaRPr lang="en-US" altLang="zh-CN" sz="2500" dirty="0">
              <a:solidFill>
                <a:srgbClr val="0070C0"/>
              </a:solidFill>
              <a:latin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</a:rPr>
              <a:t>探究输入变量参数之间的关联性，数据升维、数据降维等</a:t>
            </a:r>
            <a:endParaRPr lang="en-US" altLang="zh-CN" dirty="0">
              <a:solidFill>
                <a:srgbClr val="0070C0"/>
              </a:solidFill>
              <a:latin typeface="黑体" panose="02010609060101010101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</a:rPr>
              <a:t>其他有意义的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</a:rPr>
              <a:t>…</a:t>
            </a:r>
          </a:p>
          <a:p>
            <a:pPr>
              <a:lnSpc>
                <a:spcPct val="80000"/>
              </a:lnSpc>
            </a:pPr>
            <a:endParaRPr lang="en-US" altLang="zh-CN" sz="25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500" dirty="0">
              <a:latin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endParaRPr lang="en-US" altLang="zh-CN" sz="2500" dirty="0">
              <a:latin typeface="黑体" panose="02010609060101010101" pitchFamily="49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500" dirty="0">
              <a:solidFill>
                <a:srgbClr val="393939"/>
              </a:solidFill>
              <a:latin typeface="黑体" panose="02010609060101010101" pitchFamily="49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zh-CN" altLang="en-US" sz="2500" dirty="0">
              <a:latin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B88074-282E-47CE-806C-87E384C006A8}"/>
              </a:ext>
            </a:extLst>
          </p:cNvPr>
          <p:cNvSpPr txBox="1"/>
          <p:nvPr/>
        </p:nvSpPr>
        <p:spPr>
          <a:xfrm>
            <a:off x="423612" y="330083"/>
            <a:ext cx="1324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0B5AA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Lab1</a:t>
            </a:r>
            <a:endParaRPr lang="zh-CN" altLang="en-US" sz="4000" b="1" dirty="0">
              <a:solidFill>
                <a:srgbClr val="0B5AA8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内容占位符 1">
            <a:extLst>
              <a:ext uri="{FF2B5EF4-FFF2-40B4-BE49-F238E27FC236}">
                <a16:creationId xmlns:a16="http://schemas.microsoft.com/office/drawing/2014/main" id="{2A024ED6-0235-4CCD-92F2-C7808E02A9F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600200"/>
            <a:ext cx="8229600" cy="5257800"/>
          </a:xfrm>
        </p:spPr>
        <p:txBody>
          <a:bodyPr/>
          <a:lstStyle/>
          <a:p>
            <a:r>
              <a:rPr lang="zh-CN" altLang="en-US" sz="3200" dirty="0">
                <a:solidFill>
                  <a:srgbClr val="4D4D4D"/>
                </a:solidFill>
              </a:rPr>
              <a:t>以组为单位完成：</a:t>
            </a:r>
            <a:r>
              <a:rPr lang="en-US" altLang="zh-CN" sz="3200" dirty="0">
                <a:solidFill>
                  <a:srgbClr val="4D4D4D"/>
                </a:solidFill>
              </a:rPr>
              <a:t>3</a:t>
            </a:r>
            <a:r>
              <a:rPr lang="zh-CN" altLang="en-US" sz="3200" dirty="0">
                <a:solidFill>
                  <a:srgbClr val="4D4D4D"/>
                </a:solidFill>
              </a:rPr>
              <a:t>人一组</a:t>
            </a:r>
            <a:endParaRPr lang="en-US" altLang="zh-CN" sz="3200" dirty="0">
              <a:solidFill>
                <a:srgbClr val="4D4D4D"/>
              </a:solidFill>
            </a:endParaRPr>
          </a:p>
          <a:p>
            <a:r>
              <a:rPr lang="en-US" altLang="zh-CN" sz="3200" dirty="0">
                <a:solidFill>
                  <a:srgbClr val="4D4D4D"/>
                </a:solidFill>
              </a:rPr>
              <a:t>End Time: 2025/10/12   23:00</a:t>
            </a:r>
          </a:p>
          <a:p>
            <a:r>
              <a:rPr lang="zh-CN" altLang="en-US" sz="3200" dirty="0">
                <a:solidFill>
                  <a:srgbClr val="4D4D4D"/>
                </a:solidFill>
              </a:rPr>
              <a:t>提交到</a:t>
            </a:r>
            <a:r>
              <a:rPr lang="en-US" altLang="zh-CN" sz="3200" dirty="0">
                <a:solidFill>
                  <a:srgbClr val="4D4D4D"/>
                </a:solidFill>
              </a:rPr>
              <a:t>canvas</a:t>
            </a:r>
          </a:p>
          <a:p>
            <a:r>
              <a:rPr lang="zh-CN" altLang="en-US" sz="3200" dirty="0">
                <a:solidFill>
                  <a:srgbClr val="4D4D4D"/>
                </a:solidFill>
              </a:rPr>
              <a:t>三次作业每组必须汇报一次，按报名顺序采用，不够随机抽取</a:t>
            </a:r>
            <a:endParaRPr lang="en-US" altLang="zh-CN" sz="3200" dirty="0">
              <a:solidFill>
                <a:srgbClr val="4D4D4D"/>
              </a:solidFill>
            </a:endParaRPr>
          </a:p>
          <a:p>
            <a:pPr>
              <a:buFontTx/>
              <a:buNone/>
            </a:pPr>
            <a:endParaRPr lang="en-US" altLang="zh-CN" sz="3200" dirty="0">
              <a:solidFill>
                <a:srgbClr val="4D4D4D"/>
              </a:solidFill>
            </a:endParaRPr>
          </a:p>
          <a:p>
            <a:endParaRPr lang="en-US" altLang="zh-CN" sz="32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endParaRPr lang="en-US" altLang="zh-CN" sz="32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endParaRPr lang="en-US" altLang="zh-CN" sz="32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endParaRPr lang="en-US" altLang="zh-CN" sz="32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endParaRPr lang="en-US" altLang="zh-CN" sz="3200" dirty="0">
              <a:solidFill>
                <a:srgbClr val="4D4D4D"/>
              </a:solidFill>
              <a:latin typeface="黑体" panose="02010609060101010101" pitchFamily="49" charset="-122"/>
            </a:endParaRPr>
          </a:p>
          <a:p>
            <a:endParaRPr lang="zh-CN" altLang="en-US" sz="3200" dirty="0">
              <a:solidFill>
                <a:srgbClr val="4D4D4D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76F69A-F3FB-459B-A465-EAF87BCAE45C}"/>
              </a:ext>
            </a:extLst>
          </p:cNvPr>
          <p:cNvSpPr txBox="1"/>
          <p:nvPr/>
        </p:nvSpPr>
        <p:spPr>
          <a:xfrm>
            <a:off x="423612" y="330083"/>
            <a:ext cx="17828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0B5AA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Submit</a:t>
            </a:r>
            <a:endParaRPr lang="zh-CN" altLang="en-US" sz="4000" b="1" dirty="0">
              <a:solidFill>
                <a:srgbClr val="0B5AA8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149</Words>
  <Application>Microsoft Office PowerPoint</Application>
  <PresentationFormat>宽屏</PresentationFormat>
  <Paragraphs>30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黑体</vt:lpstr>
      <vt:lpstr>黑体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 Zhang</dc:creator>
  <cp:lastModifiedBy>jie li</cp:lastModifiedBy>
  <cp:revision>292</cp:revision>
  <dcterms:created xsi:type="dcterms:W3CDTF">2024-04-29T08:24:24Z</dcterms:created>
  <dcterms:modified xsi:type="dcterms:W3CDTF">2025-09-21T18:05:03Z</dcterms:modified>
</cp:coreProperties>
</file>