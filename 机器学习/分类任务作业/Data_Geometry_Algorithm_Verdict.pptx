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7475200" cy="97536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9" Type="http://schemas.openxmlformats.org/officeDocument/2006/relationships/viewProps" Target="viewProps.xml"/><Relationship Id="rId18" Type="http://schemas.openxmlformats.org/officeDocument/2006/relationships/tableStyles" Target="tableStyles.xml"/><Relationship Id="rId17" Type="http://schemas.openxmlformats.org/officeDocument/2006/relationships/presProps" Target="presProps.xml"/><Relationship Id="rId16" Type="http://schemas.openxmlformats.org/officeDocument/2006/relationships/slide" Target="slides/slide15.xml"/><Relationship Id="rId15" Type="http://schemas.openxmlformats.org/officeDocument/2006/relationships/slide" Target="slides/slide14.xml"/><Relationship Id="rId14" Type="http://schemas.openxmlformats.org/officeDocument/2006/relationships/slide" Target="slides/slide13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jpeg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7" Type="http://schemas.openxmlformats.org/officeDocument/2006/relationships/image" Target="../media/image18.jpeg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7" Type="http://schemas.openxmlformats.org/officeDocument/2006/relationships/image" Target="../media/image32.jpeg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jpeg"/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3683176" y="3708696"/>
            <a:ext cx="10015855" cy="2740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0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19480" algn="l" rtl="0" eaLnBrk="0">
              <a:lnSpc>
                <a:spcPct val="96000"/>
              </a:lnSpc>
              <a:tabLst/>
            </a:pPr>
            <a:r>
              <a:rPr sz="6700" b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移动设备价格预测：</a:t>
            </a:r>
            <a:endParaRPr sz="67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ct val="96000"/>
              </a:lnSpc>
              <a:spcBef>
                <a:spcPts val="640"/>
              </a:spcBef>
              <a:tabLst/>
            </a:pPr>
            <a:r>
              <a:rPr sz="7000" b="1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算法、数据与几何的博</a:t>
            </a:r>
            <a:r>
              <a:rPr sz="70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弈</a:t>
            </a:r>
            <a:endParaRPr sz="7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856614" algn="l" rtl="0" eaLnBrk="0">
              <a:lnSpc>
                <a:spcPct val="96000"/>
              </a:lnSpc>
              <a:spcBef>
                <a:spcPts val="3"/>
              </a:spcBef>
              <a:tabLst/>
            </a:pPr>
            <a:r>
              <a:rPr sz="2500" kern="0" spc="1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一项关于随机森林、支持向</a:t>
            </a:r>
            <a:r>
              <a:rPr sz="2500" kern="0" spc="1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量机与</a:t>
            </a:r>
            <a:r>
              <a:rPr sz="25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2500" kern="0" spc="1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近邻的深度对比研究</a:t>
            </a:r>
            <a:endParaRPr sz="2500" dirty="0">
              <a:latin typeface="SimSun"/>
              <a:ea typeface="SimSun"/>
              <a:cs typeface="SimSun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6188157" y="7775400"/>
            <a:ext cx="6905625" cy="12039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547"/>
              </a:lnSpc>
              <a:tabLst/>
            </a:pPr>
            <a:r>
              <a:rPr sz="1600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△/3</a:t>
            </a:r>
            <a:endParaRPr sz="16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8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575"/>
              </a:spcBef>
              <a:tabLst/>
            </a:pPr>
            <a:r>
              <a:rPr sz="1900" b="1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随机森林</a:t>
            </a:r>
            <a:endParaRPr sz="1900" dirty="0">
              <a:latin typeface="SimHei"/>
              <a:ea typeface="SimHei"/>
              <a:cs typeface="SimHei"/>
            </a:endParaRPr>
          </a:p>
          <a:p>
            <a:pPr marL="123189" algn="l" rtl="0" eaLnBrk="0">
              <a:lnSpc>
                <a:spcPct val="85000"/>
              </a:lnSpc>
              <a:spcBef>
                <a:spcPts val="19"/>
              </a:spcBef>
              <a:tabLst/>
            </a:pPr>
            <a:r>
              <a:rPr sz="18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(Random</a:t>
            </a:r>
            <a:r>
              <a:rPr sz="1800" b="1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Forest)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841618" y="3929821"/>
            <a:ext cx="2049145" cy="2051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56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900" b="1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性能对比简析</a:t>
            </a:r>
            <a:endParaRPr sz="1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4000"/>
              </a:lnSpc>
              <a:tabLst/>
            </a:pP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RF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SVM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KNN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14217702" y="4630763"/>
            <a:ext cx="2551429" cy="1469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3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9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关蟋洞察：算法效能与</a:t>
            </a:r>
            <a:endParaRPr sz="1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190"/>
              </a:spcBef>
              <a:tabLst/>
            </a:pPr>
            <a:r>
              <a:rPr sz="19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数据分布的几何关系</a:t>
            </a:r>
            <a:endParaRPr sz="1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18000"/>
              </a:lnSpc>
              <a:spcBef>
                <a:spcPts val="443"/>
              </a:spcBef>
              <a:tabLst/>
            </a:pP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不同翼法窍高维数组空间</a:t>
            </a: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的适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应性各异，几何赌构的理解是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预孤销准度创核心。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987840" y="800086"/>
            <a:ext cx="1733539" cy="1790761"/>
          </a:xfrm>
          <a:prstGeom prst="rect">
            <a:avLst/>
          </a:prstGeom>
        </p:spPr>
      </p:pic>
      <p:sp>
        <p:nvSpPr>
          <p:cNvPr id="14" name="textbox 14"/>
          <p:cNvSpPr/>
          <p:nvPr/>
        </p:nvSpPr>
        <p:spPr>
          <a:xfrm>
            <a:off x="14697355" y="1026868"/>
            <a:ext cx="2008504" cy="549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1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900" b="1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随机森林</a:t>
            </a:r>
            <a:endParaRPr sz="1900" dirty="0">
              <a:latin typeface="KaiTi"/>
              <a:ea typeface="KaiTi"/>
              <a:cs typeface="KaiTi"/>
            </a:endParaRPr>
          </a:p>
          <a:p>
            <a:pPr algn="r" rtl="0" eaLnBrk="0">
              <a:lnSpc>
                <a:spcPct val="81000"/>
              </a:lnSpc>
              <a:spcBef>
                <a:spcPts val="46"/>
              </a:spcBef>
              <a:tabLst/>
            </a:pPr>
            <a:r>
              <a:rPr sz="19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(Random</a:t>
            </a:r>
            <a:r>
              <a:rPr sz="1900" b="1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Fores</a:t>
            </a:r>
            <a:r>
              <a:rPr sz="19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t)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4211357" y="3562307"/>
            <a:ext cx="869914" cy="863681"/>
          </a:xfrm>
          <a:prstGeom prst="rect">
            <a:avLst/>
          </a:prstGeom>
        </p:spPr>
      </p:pic>
      <p:sp>
        <p:nvSpPr>
          <p:cNvPr id="18" name="textbox 18"/>
          <p:cNvSpPr/>
          <p:nvPr/>
        </p:nvSpPr>
        <p:spPr>
          <a:xfrm>
            <a:off x="7051954" y="1028558"/>
            <a:ext cx="1246505" cy="546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88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0805" indent="-78739" algn="l" rtl="0" eaLnBrk="0">
              <a:lnSpc>
                <a:spcPct val="102000"/>
              </a:lnSpc>
              <a:tabLst/>
            </a:pPr>
            <a:r>
              <a:rPr sz="19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支持向量机</a:t>
            </a: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SVM</a:t>
            </a:r>
            <a:r>
              <a:rPr sz="15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14992381" y="7942940"/>
            <a:ext cx="789940" cy="554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56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900" b="1" kern="0" spc="-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1900" b="1" kern="0" spc="-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近邻</a:t>
            </a:r>
            <a:endParaRPr sz="19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ct val="81000"/>
              </a:lnSpc>
              <a:spcBef>
                <a:spcPts val="133"/>
              </a:spcBef>
              <a:tabLst/>
            </a:pPr>
            <a:r>
              <a:rPr sz="1900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(KNN)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438911" y="1016032"/>
            <a:ext cx="616000" cy="526987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4052506" y="1016032"/>
            <a:ext cx="565148" cy="539763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619674" y="8445544"/>
            <a:ext cx="508003" cy="507967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16097336" y="9462292"/>
            <a:ext cx="1270000" cy="2146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3000"/>
              </a:lnSpc>
              <a:tabLst/>
            </a:pPr>
            <a:r>
              <a:rPr sz="1500" b="1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Notebook</a:t>
            </a:r>
            <a:r>
              <a:rPr sz="1500" b="1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LM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12750836" y="7385699"/>
            <a:ext cx="288290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548"/>
              </a:lnSpc>
              <a:tabLst/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△/2</a:t>
            </a:r>
            <a:endParaRPr sz="11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722310" y="2567099"/>
            <a:ext cx="6029325" cy="5922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52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5719" algn="l" rtl="0" eaLnBrk="0">
              <a:lnSpc>
                <a:spcPct val="95000"/>
              </a:lnSpc>
              <a:tabLst/>
            </a:pPr>
            <a:r>
              <a:rPr sz="34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业务场景</a:t>
            </a:r>
            <a:endParaRPr sz="3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9369" algn="l" rtl="0" eaLnBrk="0">
              <a:lnSpc>
                <a:spcPct val="85000"/>
              </a:lnSpc>
              <a:spcBef>
                <a:spcPts val="781"/>
              </a:spcBef>
              <a:tabLst/>
            </a:pPr>
            <a:r>
              <a:rPr sz="26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手机制造商</a:t>
            </a:r>
            <a:r>
              <a:rPr sz="26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“Bob”</a:t>
            </a:r>
            <a:r>
              <a:rPr sz="26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需要</a:t>
            </a:r>
            <a:r>
              <a:rPr sz="26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一个数据驱动的模</a:t>
            </a:r>
            <a:endParaRPr sz="2600" dirty="0">
              <a:latin typeface="SimHei"/>
              <a:ea typeface="SimHei"/>
              <a:cs typeface="SimHei"/>
            </a:endParaRPr>
          </a:p>
          <a:p>
            <a:pPr marL="39369" algn="l" rtl="0" eaLnBrk="0">
              <a:lnSpc>
                <a:spcPts val="3827"/>
              </a:lnSpc>
              <a:tabLst/>
            </a:pPr>
            <a:r>
              <a:rPr sz="2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型，根据硬件特性预测其四个价格区间</a:t>
            </a:r>
            <a:endParaRPr sz="2600" dirty="0">
              <a:latin typeface="SimHei"/>
              <a:ea typeface="SimHei"/>
              <a:cs typeface="SimHei"/>
            </a:endParaRPr>
          </a:p>
          <a:p>
            <a:pPr marL="229870" algn="l" rtl="0" eaLnBrk="0">
              <a:lnSpc>
                <a:spcPct val="92000"/>
              </a:lnSpc>
              <a:spcBef>
                <a:spcPts val="1508"/>
              </a:spcBef>
              <a:tabLst/>
            </a:pPr>
            <a:r>
              <a:rPr sz="26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(0:低成本，</a:t>
            </a:r>
            <a:r>
              <a:rPr sz="2600" b="1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1:中等成本</a:t>
            </a:r>
            <a:r>
              <a:rPr sz="26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</a:t>
            </a:r>
            <a:r>
              <a:rPr sz="26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2:高成本，</a:t>
            </a:r>
            <a:endParaRPr sz="2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85000"/>
              </a:lnSpc>
              <a:spcBef>
                <a:spcPts val="1213"/>
              </a:spcBef>
              <a:tabLst/>
            </a:pPr>
            <a:r>
              <a:rPr sz="2600" b="1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3:超高成本)</a:t>
            </a:r>
            <a:r>
              <a:rPr sz="2600" kern="0" spc="-6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6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,以在竞争激烈的市场中进</a:t>
            </a:r>
            <a:endParaRPr sz="2600" dirty="0">
              <a:latin typeface="SimHei"/>
              <a:ea typeface="SimHei"/>
              <a:cs typeface="SimHei"/>
            </a:endParaRPr>
          </a:p>
          <a:p>
            <a:pPr marL="39369" algn="l" rtl="0" eaLnBrk="0">
              <a:lnSpc>
                <a:spcPts val="3368"/>
              </a:lnSpc>
              <a:tabLst/>
            </a:pPr>
            <a:r>
              <a:rPr sz="24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行精准定位。</a:t>
            </a:r>
            <a:endParaRPr sz="2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5719" algn="l" rtl="0" eaLnBrk="0">
              <a:lnSpc>
                <a:spcPct val="95000"/>
              </a:lnSpc>
              <a:spcBef>
                <a:spcPts val="1023"/>
              </a:spcBef>
              <a:tabLst/>
            </a:pPr>
            <a:r>
              <a:rPr sz="34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任务定义</a:t>
            </a:r>
            <a:endParaRPr sz="3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0169" algn="l" rtl="0" eaLnBrk="0">
              <a:lnSpc>
                <a:spcPct val="85000"/>
              </a:lnSpc>
              <a:spcBef>
                <a:spcPts val="725"/>
              </a:spcBef>
              <a:tabLst/>
            </a:pPr>
            <a:r>
              <a:rPr sz="2400" kern="0" spc="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这是一个典型的监督学习</a:t>
            </a:r>
            <a:r>
              <a:rPr sz="2400" b="1" kern="0" spc="190" dirty="0">
                <a:solidFill>
                  <a:srgbClr val="A02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多分</a:t>
            </a:r>
            <a:r>
              <a:rPr sz="2400" b="1" kern="0" spc="180" dirty="0">
                <a:solidFill>
                  <a:srgbClr val="A02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类</a:t>
            </a:r>
            <a:r>
              <a:rPr sz="2400" b="1" kern="0" spc="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任</a:t>
            </a:r>
            <a:r>
              <a:rPr sz="2400" kern="0" spc="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务。我</a:t>
            </a:r>
            <a:endParaRPr sz="2400" dirty="0">
              <a:latin typeface="SimHei"/>
              <a:ea typeface="SimHei"/>
              <a:cs typeface="SimHei"/>
            </a:endParaRPr>
          </a:p>
          <a:p>
            <a:pPr marL="43815" indent="46355" algn="l" rtl="0" eaLnBrk="0">
              <a:lnSpc>
                <a:spcPct val="147000"/>
              </a:lnSpc>
              <a:spcBef>
                <a:spcPts val="47"/>
              </a:spcBef>
              <a:tabLst/>
            </a:pP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们的目标</a:t>
            </a:r>
            <a:r>
              <a:rPr sz="2400" b="1" kern="0" spc="-30" dirty="0">
                <a:solidFill>
                  <a:srgbClr val="C02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不是</a:t>
            </a:r>
            <a:r>
              <a:rPr sz="24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预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测</a:t>
            </a:r>
            <a:r>
              <a:rPr sz="2400" kern="0" spc="-4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具</a:t>
            </a:r>
            <a:r>
              <a:rPr sz="2400" kern="0" spc="-5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体</a:t>
            </a:r>
            <a:r>
              <a:rPr sz="2400" kern="0" spc="-5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价</a:t>
            </a:r>
            <a:r>
              <a:rPr sz="2400" kern="0" spc="-5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格</a:t>
            </a: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</a:t>
            </a:r>
            <a:r>
              <a:rPr sz="2400" kern="0" spc="-3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回</a:t>
            </a:r>
            <a:r>
              <a:rPr sz="2400" kern="0" spc="-5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归</a:t>
            </a:r>
            <a:r>
              <a:rPr sz="2400" kern="0" spc="-5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)</a:t>
            </a:r>
            <a:r>
              <a:rPr sz="2400" kern="0" spc="-4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,</a:t>
            </a:r>
            <a:r>
              <a:rPr sz="2400" kern="0" spc="-5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而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400" b="1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是判断设备所属的价格等级。</a:t>
            </a:r>
            <a:endParaRPr sz="2400" dirty="0">
              <a:latin typeface="SimHei"/>
              <a:ea typeface="SimHei"/>
              <a:cs typeface="SimHei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643466" y="633232"/>
            <a:ext cx="7446009" cy="1368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41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8264" algn="l" rtl="0" eaLnBrk="0">
              <a:lnSpc>
                <a:spcPct val="85000"/>
              </a:lnSpc>
              <a:tabLst/>
            </a:pPr>
            <a:r>
              <a:rPr sz="4700" b="1" kern="0" spc="-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目标：构建智能定价模型，</a:t>
            </a:r>
            <a:endParaRPr sz="47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5801"/>
              </a:lnSpc>
              <a:tabLst/>
            </a:pPr>
            <a:r>
              <a:rPr sz="4700" b="1" kern="0" spc="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破解硬件与价格的映</a:t>
            </a:r>
            <a:r>
              <a:rPr sz="4700" b="1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射密码</a:t>
            </a:r>
            <a:endParaRPr sz="4700" dirty="0">
              <a:latin typeface="SimHei"/>
              <a:ea typeface="SimHei"/>
              <a:cs typeface="SimHei"/>
            </a:endParaRPr>
          </a:p>
        </p:txBody>
      </p:sp>
      <p:sp>
        <p:nvSpPr>
          <p:cNvPr id="38" name="textbox 38"/>
          <p:cNvSpPr/>
          <p:nvPr/>
        </p:nvSpPr>
        <p:spPr>
          <a:xfrm>
            <a:off x="14787574" y="3005706"/>
            <a:ext cx="1753870" cy="3486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4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26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3:</a:t>
            </a:r>
            <a:r>
              <a:rPr sz="2600" kern="0" spc="-7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6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超高成本</a:t>
            </a:r>
            <a:endParaRPr sz="2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3514" algn="l" rtl="0" eaLnBrk="0">
              <a:lnSpc>
                <a:spcPct val="96000"/>
              </a:lnSpc>
              <a:spcBef>
                <a:spcPts val="792"/>
              </a:spcBef>
              <a:tabLst/>
            </a:pPr>
            <a:r>
              <a:rPr sz="26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2:</a:t>
            </a:r>
            <a:r>
              <a:rPr sz="2600" b="1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高成本</a:t>
            </a:r>
            <a:endParaRPr sz="2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4765" algn="l" rtl="0" eaLnBrk="0">
              <a:lnSpc>
                <a:spcPct val="96000"/>
              </a:lnSpc>
              <a:spcBef>
                <a:spcPts val="5"/>
              </a:spcBef>
              <a:tabLst/>
            </a:pPr>
            <a:r>
              <a:rPr sz="26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1:</a:t>
            </a:r>
            <a:r>
              <a:rPr sz="2600" kern="0" spc="-6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600" b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中等成本</a:t>
            </a:r>
            <a:endParaRPr sz="2600" dirty="0">
              <a:latin typeface="SimHei"/>
              <a:ea typeface="SimHei"/>
              <a:cs typeface="SimHei"/>
            </a:endParaRPr>
          </a:p>
        </p:txBody>
      </p:sp>
      <p:sp>
        <p:nvSpPr>
          <p:cNvPr id="40" name="textbox 40"/>
          <p:cNvSpPr/>
          <p:nvPr/>
        </p:nvSpPr>
        <p:spPr>
          <a:xfrm>
            <a:off x="8610612" y="4362809"/>
            <a:ext cx="686434" cy="21583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2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十</a:t>
            </a:r>
            <a:endParaRPr sz="11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spcBef>
                <a:spcPts val="3"/>
              </a:spcBef>
              <a:tabLst/>
            </a:pPr>
            <a:r>
              <a:rPr sz="2400" kern="0" spc="-40" dirty="0">
                <a:solidFill>
                  <a:srgbClr val="305060">
                    <a:alpha val="100000"/>
                  </a:srgbClr>
                </a:solidFill>
                <a:latin typeface="Arial"/>
                <a:ea typeface="Arial"/>
                <a:cs typeface="Arial"/>
              </a:rPr>
              <a:t>CPU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11180692" y="5232189"/>
            <a:ext cx="1996439" cy="4038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7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26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机器学习模型</a:t>
            </a:r>
            <a:endParaRPr sz="2600" dirty="0">
              <a:latin typeface="SimHei"/>
              <a:ea typeface="SimHei"/>
              <a:cs typeface="SimHei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14978053" y="7539570"/>
            <a:ext cx="1398269" cy="406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26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0:</a:t>
            </a:r>
            <a:r>
              <a:rPr sz="2600" b="1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低成本</a:t>
            </a:r>
            <a:endParaRPr sz="2600" dirty="0">
              <a:latin typeface="SimHei"/>
              <a:ea typeface="SimHei"/>
              <a:cs typeface="SimHei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16097336" y="9476351"/>
            <a:ext cx="1278889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7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4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Notebook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LM</a:t>
            </a:r>
            <a:endParaRPr sz="14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 48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4F3EF">
              <a:alpha val="9921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50" name="table 50"/>
          <p:cNvGraphicFramePr>
            <a:graphicFrameLocks noGrp="1"/>
          </p:cNvGraphicFramePr>
          <p:nvPr/>
        </p:nvGraphicFramePr>
        <p:xfrm>
          <a:off x="593778" y="326984"/>
          <a:ext cx="16528414" cy="9321165"/>
        </p:xfrm>
        <a:graphic>
          <a:graphicData uri="http://schemas.openxmlformats.org/drawingml/2006/table">
            <a:tbl>
              <a:tblPr/>
              <a:tblGrid>
                <a:gridCol w="8416925"/>
                <a:gridCol w="8111490"/>
              </a:tblGrid>
              <a:tr h="136207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95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54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20个特征，2000个样本，和一个完美平衡的战场</a:t>
                      </a:r>
                      <a:endParaRPr sz="54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703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63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782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28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数据集规模</a:t>
                      </a:r>
                      <a:endParaRPr sz="28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32740" algn="l" rtl="0" eaLnBrk="0">
                        <a:lnSpc>
                          <a:spcPct val="83000"/>
                        </a:lnSpc>
                        <a:spcBef>
                          <a:spcPts val="1355"/>
                        </a:spcBef>
                        <a:tabLst/>
                      </a:pPr>
                      <a:r>
                        <a:rPr sz="2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包含2000条手机样本数据，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每条数据由20个特征描</a:t>
                      </a:r>
                      <a:endParaRPr sz="28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32740" algn="l" rtl="0" eaLnBrk="0">
                        <a:lnSpc>
                          <a:spcPts val="3750"/>
                        </a:lnSpc>
                        <a:tabLst/>
                      </a:pPr>
                      <a:r>
                        <a:rPr sz="28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述，如RAM、电池容量、屏幕分辨率等</a:t>
                      </a:r>
                      <a:r>
                        <a:rPr sz="28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。</a:t>
                      </a:r>
                      <a:endParaRPr sz="28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7820" algn="l" rtl="0" eaLnBrk="0">
                        <a:lnSpc>
                          <a:spcPct val="95000"/>
                        </a:lnSpc>
                        <a:spcBef>
                          <a:spcPts val="841"/>
                        </a:spcBef>
                        <a:tabLst/>
                      </a:pPr>
                      <a:r>
                        <a:rPr sz="28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关键特性：完美平衡</a:t>
                      </a:r>
                      <a:endParaRPr sz="28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45440" algn="l" rtl="0" eaLnBrk="0">
                        <a:lnSpc>
                          <a:spcPct val="83000"/>
                        </a:lnSpc>
                        <a:spcBef>
                          <a:spcPts val="1066"/>
                        </a:spcBef>
                        <a:tabLst/>
                      </a:pP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目标变量`price</a:t>
                      </a:r>
                      <a:r>
                        <a:rPr sz="2800" kern="0" spc="-13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800" u="dotted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800" kern="0" spc="-1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range`在四个类别上的分布完全均</a:t>
                      </a:r>
                      <a:endParaRPr sz="28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26390" algn="l" rtl="0" eaLnBrk="0">
                        <a:lnSpc>
                          <a:spcPts val="3838"/>
                        </a:lnSpc>
                        <a:tabLst/>
                      </a:pPr>
                      <a:r>
                        <a:rPr sz="28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匀，各占25%(500个样本</a:t>
                      </a:r>
                      <a:r>
                        <a:rPr sz="28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)。</a:t>
                      </a:r>
                      <a:endParaRPr sz="2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94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634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40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Implication</a:t>
                      </a:r>
                      <a:endParaRPr sz="4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16865" algn="l" rtl="0" eaLnBrk="0">
                        <a:lnSpc>
                          <a:spcPct val="95000"/>
                        </a:lnSpc>
                        <a:spcBef>
                          <a:spcPts val="1120"/>
                        </a:spcBef>
                        <a:tabLst/>
                      </a:pPr>
                      <a:r>
                        <a:rPr sz="2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这种平衡性消除了类别不平衡可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能带来的预测偏</a:t>
                      </a:r>
                      <a:endParaRPr sz="28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494665" algn="l" rtl="0" eaLnBrk="0">
                        <a:lnSpc>
                          <a:spcPct val="93000"/>
                        </a:lnSpc>
                        <a:spcBef>
                          <a:spcPts val="595"/>
                        </a:spcBef>
                        <a:tabLst/>
                      </a:pPr>
                      <a:r>
                        <a:rPr sz="2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偏见，使我们能够直</a:t>
                      </a:r>
                      <a:r>
                        <a:rPr sz="2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接使用准确率(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Accuracy</a:t>
                      </a:r>
                      <a:r>
                        <a:rPr sz="2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)</a:t>
                      </a:r>
                      <a:endParaRPr sz="28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228600" algn="l" rtl="0" eaLnBrk="0">
                        <a:lnSpc>
                          <a:spcPct val="94000"/>
                        </a:lnSpc>
                        <a:spcBef>
                          <a:spcPts val="830"/>
                        </a:spcBef>
                        <a:tabLst/>
                      </a:pPr>
                      <a:r>
                        <a:rPr sz="28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作为核心评估指标，而无需担心“准确率悖</a:t>
                      </a:r>
                      <a:r>
                        <a:rPr sz="28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论”。</a:t>
                      </a:r>
                      <a:endParaRPr sz="2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77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40739" algn="l" rtl="0" eaLnBrk="0">
                        <a:lnSpc>
                          <a:spcPct val="9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8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类别3(25%)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           </a:t>
                      </a:r>
                      <a:r>
                        <a:rPr sz="28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类</a:t>
                      </a:r>
                      <a:r>
                        <a:rPr sz="28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别1(25%)</a:t>
                      </a:r>
                      <a:endParaRPr sz="28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40739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8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类别2(25%)</a:t>
                      </a:r>
                      <a:r>
                        <a:rPr sz="2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        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</a:t>
                      </a:r>
                      <a:r>
                        <a:rPr sz="28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类别1(25%</a:t>
                      </a:r>
                      <a:r>
                        <a:rPr sz="28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)</a:t>
                      </a:r>
                      <a:endParaRPr sz="2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99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499080" algn="l" rtl="0" eaLnBrk="0">
                        <a:lnSpc>
                          <a:spcPct val="80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3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ANotebookLM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52" name="picture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971832" y="5778520"/>
            <a:ext cx="3333743" cy="32448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graphicFrame>
        <p:nvGraphicFramePr>
          <p:cNvPr id="56" name="table 56"/>
          <p:cNvGraphicFramePr>
            <a:graphicFrameLocks noGrp="1"/>
          </p:cNvGraphicFramePr>
          <p:nvPr/>
        </p:nvGraphicFramePr>
        <p:xfrm>
          <a:off x="1939891" y="2060588"/>
          <a:ext cx="14280514" cy="4666615"/>
        </p:xfrm>
        <a:graphic>
          <a:graphicData uri="http://schemas.openxmlformats.org/drawingml/2006/table">
            <a:tbl>
              <a:tblPr/>
              <a:tblGrid>
                <a:gridCol w="714375"/>
                <a:gridCol w="679450"/>
                <a:gridCol w="679450"/>
                <a:gridCol w="673100"/>
                <a:gridCol w="666750"/>
                <a:gridCol w="679450"/>
                <a:gridCol w="673100"/>
                <a:gridCol w="666750"/>
                <a:gridCol w="672465"/>
                <a:gridCol w="679450"/>
                <a:gridCol w="666750"/>
                <a:gridCol w="679450"/>
                <a:gridCol w="679450"/>
                <a:gridCol w="660400"/>
                <a:gridCol w="679450"/>
                <a:gridCol w="673100"/>
                <a:gridCol w="673100"/>
                <a:gridCol w="673100"/>
                <a:gridCol w="692150"/>
                <a:gridCol w="679450"/>
                <a:gridCol w="739775"/>
              </a:tblGrid>
              <a:tr h="2190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0675" algn="l" rtl="0" eaLnBrk="0">
                        <a:lnSpc>
                          <a:spcPct val="10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0.30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0.31</a:t>
                      </a:r>
                      <a:r>
                        <a:rPr sz="1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0" algn="l" rtl="0" eaLnBrk="0">
                        <a:lnSpc>
                          <a:spcPct val="10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-0:03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0" algn="l" rtl="0" eaLnBrk="0">
                        <a:lnSpc>
                          <a:spcPct val="10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-0.51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2564" algn="l" rtl="0" eaLnBrk="0">
                        <a:lnSpc>
                          <a:spcPct val="10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0.20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ct val="10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0.15      -0.18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ct val="10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0.27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ct val="10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3"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850" algn="l" rtl="0" eaLnBrk="0">
                        <a:lnSpc>
                          <a:spcPct val="141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0.82</a:t>
                      </a: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0.91</a:t>
                      </a: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0.98</a:t>
                      </a: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0.85</a:t>
                      </a: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8.S9</a:t>
                      </a: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0.87</a:t>
                      </a: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0.88</a:t>
                      </a: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0.50</a:t>
                      </a: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0.78</a:t>
                      </a: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0.79</a:t>
                      </a: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0.63</a:t>
                      </a: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0.83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850" algn="l" rtl="0" eaLnBrk="0">
                        <a:lnSpc>
                          <a:spcPct val="10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0.87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1135" algn="l" rtl="0" eaLnBrk="0">
                        <a:lnSpc>
                          <a:spcPct val="10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0.29</a:t>
                      </a:r>
                      <a:r>
                        <a:rPr sz="1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0.17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735" algn="l" rtl="0" eaLnBrk="0">
                        <a:lnSpc>
                          <a:spcPct val="10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-0.23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0.20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ct val="10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2085" algn="l" rtl="0" eaLnBrk="0">
                        <a:lnSpc>
                          <a:spcPct val="10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-0.51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3"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5584" algn="l" rtl="0" eaLnBrk="0">
                        <a:lnSpc>
                          <a:spcPct val="14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0.82</a:t>
                      </a: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</a:t>
                      </a: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0.81</a:t>
                      </a: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</a:t>
                      </a: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0.78</a:t>
                      </a: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</a:t>
                      </a: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0.85</a:t>
                      </a: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</a:t>
                      </a: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8.85</a:t>
                      </a: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</a:t>
                      </a: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0.85</a:t>
                      </a: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</a:t>
                      </a: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0.83</a:t>
                      </a: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</a:t>
                      </a: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0.89</a:t>
                      </a: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</a:t>
                      </a: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0.78</a:t>
                      </a: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</a:t>
                      </a: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0.70</a:t>
                      </a: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</a:t>
                      </a: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0.79</a:t>
                      </a: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</a:t>
                      </a: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0.85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5584" algn="l" rtl="0" eaLnBrk="0">
                        <a:lnSpc>
                          <a:spcPts val="129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0.87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900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5425" algn="l" rtl="0" eaLnBrk="0">
                        <a:lnSpc>
                          <a:spcPts val="129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0.07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5425" algn="l" rtl="0" eaLnBrk="0">
                        <a:lnSpc>
                          <a:spcPct val="92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0.10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0.07</a:t>
                      </a:r>
                      <a:r>
                        <a:rPr sz="10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-0.15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-0.03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0.15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0.01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-0.03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2564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0.24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0.17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735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-0.23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1135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0.17</a:t>
                      </a: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735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-0.13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-0.23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2085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-0.98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25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0.20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16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0.00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214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-0.02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2564" algn="l" rtl="0" eaLnBrk="0">
                        <a:lnSpc>
                          <a:spcPts val="129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0.30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2564" algn="l" rtl="0" eaLnBrk="0">
                        <a:lnSpc>
                          <a:spcPct val="10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0.19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ts val="129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ct val="10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0.22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73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-0.03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ts val="1292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0.67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ts val="1292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ct val="132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0.38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0.31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ct val="10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0.76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rowSpan="5"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1135" algn="l" rtl="0" eaLnBrk="0">
                        <a:lnSpc>
                          <a:spcPct val="13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0.29</a:t>
                      </a: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0.24    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0.22</a:t>
                      </a: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0.29    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0.23</a:t>
                      </a: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0.28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0.23</a:t>
                      </a: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1135" algn="l" rtl="0" eaLnBrk="0">
                        <a:lnSpc>
                          <a:spcPts val="1252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0.22</a:t>
                      </a: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0.24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5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208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-0.14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732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-0.18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0.00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845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101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214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0.08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0.25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0.15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-0.13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748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0.32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32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0.72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0.34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0.25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ts val="125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0.20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ts val="1292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2085" algn="l" rtl="0" eaLnBrk="0">
                        <a:lnSpc>
                          <a:spcPts val="1292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-0.14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4939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-80.12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-0.93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0.19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0.10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845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0.59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0.25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85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0.25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2564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0.30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0.16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735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-0.24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ts val="1292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0.67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ts val="1292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0.32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735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-0.14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7325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-0.11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0.25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214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0.00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165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0.78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85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0.25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2564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0.42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7485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0.24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735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-0.28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ts val="1292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0.74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ts val="1252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2085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-0.19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900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5425" algn="l" rtl="0" eaLnBrk="0">
                        <a:lnSpc>
                          <a:spcPts val="1292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0.15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732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-0.86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ts val="129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0.15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0" algn="l" rtl="0" eaLnBrk="0">
                        <a:lnSpc>
                          <a:spcPct val="10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-0.33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0.53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0.25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214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0.26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0.20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7815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85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0.08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2564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0.37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0.16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7485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0.15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0.05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0.08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0.15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25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-0.13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-0.04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0.25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845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2564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73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-0.21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208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-0.47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208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-0.17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113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-0.23     -0.28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73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-0.23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843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-0.06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208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-0.33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7325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-0.23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-0.21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-0.13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0.14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-0.35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0.16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0.20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85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0.00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7815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0.10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735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-0.12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0.30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2085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-0.15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1135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0.12</a:t>
                      </a: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0.20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0.22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0.20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542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0.19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-0.03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0.20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85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0.00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2564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0.16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748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0.29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0.73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1135" algn="l" rtl="0" eaLnBrk="0">
                        <a:lnSpc>
                          <a:spcPts val="1251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0.17</a:t>
                      </a: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0.17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73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-0:23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0.32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0.81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208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-0.26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7325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-0.76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-0.04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-0.03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-0.23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0.16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0" algn="l" rtl="0" eaLnBrk="0">
                        <a:lnSpc>
                          <a:spcPts val="1292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-0.33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850" algn="l" rtl="0" eaLnBrk="0">
                        <a:lnSpc>
                          <a:spcPts val="1252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0.07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2564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0.19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9084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0.72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0.75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rowSpan="3"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1135" algn="l" rtl="0" eaLnBrk="0">
                        <a:lnSpc>
                          <a:spcPct val="12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0.18</a:t>
                      </a: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0.21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0.12</a:t>
                      </a: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0.20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113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0.17</a:t>
                      </a: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0.20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3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735" algn="l" rtl="0" eaLnBrk="0">
                        <a:lnSpc>
                          <a:spcPts val="1292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-0.37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ct val="10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-0.36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2085" algn="l" rtl="0" eaLnBrk="0">
                        <a:lnSpc>
                          <a:spcPts val="1292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-0.25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2085" algn="l" rtl="0" eaLnBrk="0">
                        <a:lnSpc>
                          <a:spcPts val="1252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-0.05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732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-0.31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-0.03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0.10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-0.37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0.20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2564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0.16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0.20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73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-0.79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5434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0.73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ts val="1292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0.24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ts val="1292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0.75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0.52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732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-0.96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-0.09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-0.08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0.26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-0:29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0.19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-0.10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85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0.07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2564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0.26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-0.30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73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-0.09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0.79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5434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73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-0.17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208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-0.23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5425" algn="l" rtl="0" eaLnBrk="0">
                        <a:lnSpc>
                          <a:spcPts val="1246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0.16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ts val="1246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0.24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ts val="1246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ts val="1246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214" algn="l" rtl="0" eaLnBrk="0">
                        <a:lnSpc>
                          <a:spcPts val="1246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0.12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ts val="1246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ts val="1246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0.25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850" algn="l" rtl="0" eaLnBrk="0">
                        <a:lnSpc>
                          <a:spcPts val="1246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0.03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2564" algn="l" rtl="0" eaLnBrk="0">
                        <a:lnSpc>
                          <a:spcPts val="1246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0.17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ts val="1246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0.26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7485" algn="l" rtl="0" eaLnBrk="0">
                        <a:lnSpc>
                          <a:spcPts val="1246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0.17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ts val="1246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0.49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ts val="1246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850" algn="l" rtl="0" eaLnBrk="0">
                        <a:lnSpc>
                          <a:spcPts val="1246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0.89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5434" algn="l" rtl="0" eaLnBrk="0">
                        <a:lnSpc>
                          <a:spcPts val="1304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5434" algn="l" rtl="0" eaLnBrk="0">
                        <a:lnSpc>
                          <a:spcPts val="1247"/>
                        </a:lnSpc>
                        <a:tabLst/>
                      </a:pP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ts val="1246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0.47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ts val="1246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0.17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ts val="1246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ts val="1246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ts val="1246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0.68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5584" algn="l" rtl="0" eaLnBrk="0">
                        <a:lnSpc>
                          <a:spcPts val="1246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0.92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4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7325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-0.52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0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-0.02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rowSpan="2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ts val="1292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0.13</a:t>
                      </a:r>
                      <a:r>
                        <a:rPr sz="1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0.20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ts val="129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0.13</a:t>
                      </a:r>
                      <a:r>
                        <a:rPr sz="1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0.22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0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-0.02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rowSpan="2"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850" algn="l" rtl="0" eaLnBrk="0">
                        <a:lnSpc>
                          <a:spcPts val="129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0.18</a:t>
                      </a: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0.16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850" algn="l" rtl="0" eaLnBrk="0">
                        <a:lnSpc>
                          <a:spcPts val="1292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0.32</a:t>
                      </a: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0.20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0" algn="l" rtl="0" eaLnBrk="0">
                        <a:lnSpc>
                          <a:spcPts val="129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-0.02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850" algn="l" rtl="0" eaLnBrk="0">
                        <a:lnSpc>
                          <a:spcPts val="1292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0.09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2564" algn="l" rtl="0" eaLnBrk="0">
                        <a:lnSpc>
                          <a:spcPts val="1292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0.37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2564" algn="l" rtl="0" eaLnBrk="0">
                        <a:lnSpc>
                          <a:spcPts val="1292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0.36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ts val="1292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ts val="129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7485" algn="l" rtl="0" eaLnBrk="0">
                        <a:lnSpc>
                          <a:spcPct val="133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0.18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0.15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7485" algn="l" rtl="0" eaLnBrk="0">
                        <a:lnSpc>
                          <a:spcPct val="100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0.19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rowSpan="2"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785" algn="l" rtl="0" eaLnBrk="0">
                        <a:lnSpc>
                          <a:spcPts val="1342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0.17</a:t>
                      </a:r>
                      <a:r>
                        <a:rPr sz="10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0.34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785" algn="l" rtl="0" eaLnBrk="0">
                        <a:lnSpc>
                          <a:spcPts val="1392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0.19</a:t>
                      </a:r>
                      <a:r>
                        <a:rPr sz="10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0.24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850" algn="l" rtl="0" eaLnBrk="0">
                        <a:lnSpc>
                          <a:spcPct val="14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0.87</a:t>
                      </a: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0.87</a:t>
                      </a: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0.96</a:t>
                      </a: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0.84</a:t>
                      </a: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0.84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85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0.83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9084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0.22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0.53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0.36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5584" algn="l" rtl="0" eaLnBrk="0">
                        <a:lnSpc>
                          <a:spcPct val="14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0.84</a:t>
                      </a: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</a:t>
                      </a: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0.87</a:t>
                      </a: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</a:t>
                      </a: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0.83</a:t>
                      </a: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</a:t>
                      </a: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0.85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5584" algn="l" rtl="0" eaLnBrk="0">
                        <a:lnSpc>
                          <a:spcPts val="1246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0.85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4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7325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-0.72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0" algn="l" rtl="0" eaLnBrk="0">
                        <a:lnSpc>
                          <a:spcPts val="1292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-0.53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0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-0.37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0.27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9084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9084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0.78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6.73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4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7325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-0.56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0.43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214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0.20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0.42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0.25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0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-0.03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2564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0.24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rowSpan="2"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785" algn="l" rtl="0" eaLnBrk="0">
                        <a:lnSpc>
                          <a:spcPts val="1502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600" kern="0" spc="-10" baseline="9057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0.54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 </a:t>
                      </a:r>
                      <a:r>
                        <a:rPr sz="1600" kern="0" spc="-10" baseline="2546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0.5</a:t>
                      </a:r>
                      <a:r>
                        <a:rPr sz="1600" kern="0" spc="-20" baseline="2546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</a:t>
                      </a:r>
                      <a:endParaRPr sz="1600" baseline="2546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785" algn="l" rtl="0" eaLnBrk="0">
                        <a:lnSpc>
                          <a:spcPts val="1346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0.26</a:t>
                      </a:r>
                      <a:r>
                        <a:rPr sz="10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0.78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0.37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8450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0.78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2085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-0.09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4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7325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-0.86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0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-0.02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0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-0.01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0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-0.22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0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-0.01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0814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-0.37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0.25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850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2564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0.32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0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-0.21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735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-0.23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0.72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0.32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0.32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784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2085" algn="l" rtl="0" eaLnBrk="0">
                        <a:lnSpc>
                          <a:spcPts val="124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-0.54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732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-0.56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-0.03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-0.92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-0.33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-0:01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0814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-0.07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850" algn="l" rtl="0" eaLnBrk="0">
                        <a:lnSpc>
                          <a:spcPts val="1246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-0.36     -0.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4464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-0.01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-0.76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73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-0.05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785" algn="l" rtl="0" eaLnBrk="0">
                        <a:lnSpc>
                          <a:spcPts val="1296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0.23</a:t>
                      </a:r>
                      <a:r>
                        <a:rPr sz="10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-0.51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208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-0.59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73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-0.31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73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-0.34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0.50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0.76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25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3039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-0.17    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0.70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0.16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0.15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214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0.50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85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0.14      -0.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2564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0.59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0.19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73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-0.13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785" algn="l" rtl="0" eaLnBrk="0">
                        <a:lnSpc>
                          <a:spcPts val="1297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0.35</a:t>
                      </a:r>
                      <a:r>
                        <a:rPr sz="10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-0.81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0.93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7485" algn="l" rtl="0" eaLnBrk="0">
                        <a:lnSpc>
                          <a:spcPct val="9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0.76      -0.73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-0.03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0.98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208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-0.71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0834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 gridSpan="21">
                  <a:txBody>
                    <a:bodyPr/>
                    <a:lstStyle/>
                    <a:p>
                      <a:pPr algn="l" rtl="0" eaLnBrk="0">
                        <a:lnSpc>
                          <a:spcPct val="4988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ts val="1382"/>
                        </a:lnSpc>
                        <a:tabLst/>
                      </a:pPr>
                      <a:r>
                        <a:rPr sz="1600" kern="0" spc="0" baseline="1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attery_power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600" kern="0" spc="0" baseline="1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blue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600" kern="0" spc="0" baseline="1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clock_speed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600" kern="0" spc="0" baseline="1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dual_sim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 </a:t>
                      </a:r>
                      <a:r>
                        <a:rPr sz="1600" kern="0" spc="0" baseline="4172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fc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 </a:t>
                      </a:r>
                      <a:r>
                        <a:rPr sz="1600" kern="0" spc="0" baseline="13938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four_g</a:t>
                      </a:r>
                      <a:r>
                        <a:rPr sz="10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600" kern="0" spc="0" baseline="13938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int_memory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</a:t>
                      </a:r>
                      <a:r>
                        <a:rPr sz="1600" kern="0" spc="0" baseline="1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m_dep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1600" kern="0" spc="0" baseline="10683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mobile_wt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600" kern="0" spc="0" baseline="10683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n_cores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pc     </a:t>
                      </a:r>
                      <a:r>
                        <a:rPr sz="1600" kern="0" spc="-10" baseline="10683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px_hsight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600" kern="0" spc="-10" baseline="10683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px_width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600" kern="0" spc="-10" baseline="-15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ram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 </a:t>
                      </a:r>
                      <a:r>
                        <a:rPr sz="1600" kern="0" spc="-10" baseline="13938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sc_h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</a:t>
                      </a:r>
                      <a:r>
                        <a:rPr sz="1600" kern="0" spc="-10" baseline="10683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sc_w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</a:t>
                      </a:r>
                      <a:r>
                        <a:rPr sz="1600" kern="0" spc="-10" baseline="10683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talk_time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600" kern="0" spc="-10" baseline="10683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three_g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600" kern="0" spc="-10" baseline="10683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touch_screen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</a:t>
                      </a:r>
                      <a:r>
                        <a:rPr sz="1600" kern="0" spc="-10" baseline="-2338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wifi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</a:t>
                      </a:r>
                      <a:r>
                        <a:rPr sz="1600" kern="0" spc="-10" baseline="10683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price_range</a:t>
                      </a:r>
                      <a:endParaRPr sz="1600" baseline="10683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8" name="textbox 58"/>
          <p:cNvSpPr/>
          <p:nvPr/>
        </p:nvSpPr>
        <p:spPr>
          <a:xfrm>
            <a:off x="924075" y="566115"/>
            <a:ext cx="15344775" cy="14903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33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5300" b="1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唯一的线索：</a:t>
            </a:r>
            <a:r>
              <a:rPr sz="53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RAM</a:t>
            </a:r>
            <a:r>
              <a:rPr sz="5300" kern="0" spc="13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5300" b="1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与价格存在惊人的</a:t>
            </a:r>
            <a:r>
              <a:rPr sz="5300" b="1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强线性关系</a:t>
            </a:r>
            <a:endParaRPr sz="5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2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399"/>
              </a:lnSpc>
              <a:spcBef>
                <a:spcPts val="2"/>
              </a:spcBef>
              <a:tabLst/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battery</a:t>
            </a:r>
            <a:r>
              <a:rPr sz="9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_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power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</a:t>
            </a:r>
            <a:r>
              <a:rPr sz="1700" b="1" kern="0" spc="0" baseline="3085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blue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700" b="1" kern="0" spc="0" baseline="3085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clock</a:t>
            </a:r>
            <a:r>
              <a:rPr sz="1700" b="1" kern="0" spc="30" baseline="3085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_</a:t>
            </a:r>
            <a:r>
              <a:rPr sz="1700" b="1" kern="0" spc="0" baseline="3085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speed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700" b="1" kern="0" spc="0" baseline="3085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dual</a:t>
            </a:r>
            <a:r>
              <a:rPr sz="1700" b="1" kern="0" spc="30" baseline="3085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_</a:t>
            </a:r>
            <a:r>
              <a:rPr sz="1700" b="1" kern="0" spc="0" baseline="3085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sim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1300" b="1" kern="0" spc="0" baseline="20062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fc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</a:t>
            </a:r>
            <a:r>
              <a:rPr sz="1700" b="1" kern="0" spc="0" baseline="12277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four</a:t>
            </a:r>
            <a:r>
              <a:rPr sz="1700" b="1" kern="0" spc="20" baseline="12277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_</a:t>
            </a:r>
            <a:r>
              <a:rPr sz="1700" b="1" kern="0" spc="0" baseline="12277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g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700" b="1" kern="0" spc="0" baseline="3085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int</a:t>
            </a:r>
            <a:r>
              <a:rPr sz="1700" b="1" kern="0" spc="20" baseline="3085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_</a:t>
            </a:r>
            <a:r>
              <a:rPr sz="1700" b="1" kern="0" spc="0" baseline="3085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memory</a:t>
            </a:r>
            <a:r>
              <a:rPr sz="1100" kern="0" spc="2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700" b="1" kern="0" spc="0" baseline="10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m</a:t>
            </a:r>
            <a:r>
              <a:rPr sz="1700" b="1" kern="0" spc="20" baseline="10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_</a:t>
            </a:r>
            <a:r>
              <a:rPr sz="1700" b="1" kern="0" spc="0" baseline="10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dep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mobile</a:t>
            </a:r>
            <a:r>
              <a:rPr sz="11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_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wt</a:t>
            </a:r>
            <a:r>
              <a:rPr sz="1100" kern="0" spc="-2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300" b="1" kern="0" spc="0" baseline="16055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n</a:t>
            </a:r>
            <a:r>
              <a:rPr sz="1300" b="1" kern="0" spc="20" baseline="16055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_</a:t>
            </a:r>
            <a:r>
              <a:rPr sz="1300" b="1" kern="0" spc="0" baseline="16055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cores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 </a:t>
            </a:r>
            <a:r>
              <a:rPr sz="1300" b="1" kern="0" spc="0" baseline="16055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pc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</a:t>
            </a:r>
            <a:r>
              <a:rPr sz="1700" kern="0" spc="0" baseline="12277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px</a:t>
            </a:r>
            <a:r>
              <a:rPr sz="1700" kern="0" spc="20" baseline="12277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_</a:t>
            </a:r>
            <a:r>
              <a:rPr sz="1700" kern="0" spc="0" baseline="12277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height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700" kern="0" spc="0" baseline="12277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px</a:t>
            </a:r>
            <a:r>
              <a:rPr sz="1700" kern="0" spc="20" baseline="12277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_</a:t>
            </a:r>
            <a:r>
              <a:rPr sz="1700" kern="0" spc="0" baseline="12277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width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1100" b="1" kern="0" spc="0" baseline="237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ram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   </a:t>
            </a:r>
            <a:r>
              <a:rPr sz="1700" b="1" kern="0" spc="0" baseline="9213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sc</a:t>
            </a:r>
            <a:r>
              <a:rPr sz="1700" b="1" kern="0" spc="20" baseline="9213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_</a:t>
            </a:r>
            <a:r>
              <a:rPr sz="1700" b="1" kern="0" spc="0" baseline="9213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h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</a:t>
            </a:r>
            <a:r>
              <a:rPr sz="1300" b="1" kern="0" spc="0" baseline="12048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sc</a:t>
            </a:r>
            <a:r>
              <a:rPr sz="1300" b="1" kern="0" spc="20" baseline="12048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_</a:t>
            </a:r>
            <a:r>
              <a:rPr sz="1300" b="1" kern="0" spc="0" baseline="12048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w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talk</a:t>
            </a:r>
            <a:r>
              <a:rPr sz="11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_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time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three</a:t>
            </a:r>
            <a:r>
              <a:rPr sz="11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_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g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touch</a:t>
            </a:r>
            <a:r>
              <a:rPr sz="11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_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scrsen</a:t>
            </a:r>
            <a:r>
              <a:rPr sz="1100" kern="0" spc="-3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wifi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price</a:t>
            </a:r>
            <a:r>
              <a:rPr sz="11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_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range</a:t>
            </a:r>
            <a:endParaRPr sz="1100" dirty="0">
              <a:latin typeface="SimSun"/>
              <a:ea typeface="SimSun"/>
              <a:cs typeface="SimSun"/>
            </a:endParaRPr>
          </a:p>
        </p:txBody>
      </p:sp>
      <p:pic>
        <p:nvPicPr>
          <p:cNvPr id="60" name="picture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060992" y="8147084"/>
            <a:ext cx="774675" cy="419112"/>
          </a:xfrm>
          <a:prstGeom prst="rect">
            <a:avLst/>
          </a:prstGeom>
        </p:spPr>
      </p:pic>
      <p:sp>
        <p:nvSpPr>
          <p:cNvPr id="62" name="textbox 62"/>
          <p:cNvSpPr/>
          <p:nvPr/>
        </p:nvSpPr>
        <p:spPr>
          <a:xfrm>
            <a:off x="800071" y="7138772"/>
            <a:ext cx="7597775" cy="23647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8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97000"/>
              </a:lnSpc>
              <a:tabLst/>
            </a:pPr>
            <a:r>
              <a:rPr sz="32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核心发现</a:t>
            </a:r>
            <a:endParaRPr sz="3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86000"/>
              </a:lnSpc>
              <a:spcBef>
                <a:spcPts val="1206"/>
              </a:spcBef>
              <a:tabLst/>
            </a:pPr>
            <a:r>
              <a:rPr sz="2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通过计算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Pearson</a:t>
            </a:r>
            <a:r>
              <a:rPr sz="2500" kern="0" spc="-4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相关系数，我们发现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RAM</a:t>
            </a:r>
            <a:r>
              <a:rPr sz="25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2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(运存大</a:t>
            </a:r>
            <a:endParaRPr sz="25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26000"/>
              </a:lnSpc>
              <a:spcBef>
                <a:spcPts val="30"/>
              </a:spcBef>
              <a:tabLst/>
            </a:pPr>
            <a:r>
              <a:rPr sz="25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小)与价格等级的相关性高达</a:t>
            </a:r>
            <a:r>
              <a:rPr sz="2500" kern="0" spc="100" dirty="0">
                <a:solidFill>
                  <a:srgbClr val="B0403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0.92</a:t>
            </a:r>
            <a:r>
              <a:rPr sz="2500" kern="0" spc="90" dirty="0">
                <a:solidFill>
                  <a:srgbClr val="B0403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25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。这是一个极其强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500" kern="0" spc="2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烈的信号，意味着手机的运存大小几乎决定了它</a:t>
            </a:r>
            <a:r>
              <a:rPr sz="2500" kern="0" spc="2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</a:t>
            </a:r>
            <a:r>
              <a:rPr sz="25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200" kern="0" spc="2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市场定位。</a:t>
            </a:r>
            <a:endParaRPr sz="2200" dirty="0">
              <a:latin typeface="SimHei"/>
              <a:ea typeface="SimHei"/>
              <a:cs typeface="SimHei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9378996" y="7141661"/>
            <a:ext cx="7316469" cy="14262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7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97000"/>
              </a:lnSpc>
              <a:tabLst/>
            </a:pPr>
            <a:r>
              <a:rPr sz="3200" b="1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对比</a:t>
            </a:r>
            <a:endParaRPr sz="3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86000"/>
              </a:lnSpc>
              <a:spcBef>
                <a:spcPts val="1267"/>
              </a:spcBef>
              <a:tabLst/>
            </a:pPr>
            <a:r>
              <a:rPr sz="2500" kern="0" spc="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其他特征如电池容量(0.20)和屏幕分辨率(0.17)</a:t>
            </a:r>
            <a:endParaRPr sz="25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3440"/>
              </a:lnSpc>
              <a:tabLst/>
            </a:pPr>
            <a:r>
              <a:rPr sz="25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虽然也呈正相关，但其影响远不及</a:t>
            </a:r>
            <a:r>
              <a:rPr sz="25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RA</a:t>
            </a:r>
            <a:r>
              <a:rPr sz="25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M。</a:t>
            </a:r>
            <a:endParaRPr sz="2500" dirty="0">
              <a:latin typeface="SimSun"/>
              <a:ea typeface="SimSun"/>
              <a:cs typeface="SimSun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973591" y="2087803"/>
            <a:ext cx="977264" cy="4688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801" rIns="0" bIns="0"/>
          <a:lstStyle/>
          <a:p>
            <a:pPr marL="640715" indent="-628015" algn="l" rtl="0" eaLnBrk="0">
              <a:lnSpc>
                <a:spcPct val="127000"/>
              </a:lnSpc>
              <a:spcBef>
                <a:spcPts val="6"/>
              </a:spcBef>
              <a:tabLst/>
            </a:pPr>
            <a:r>
              <a:rPr sz="11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battery_p</a:t>
            </a:r>
            <a:r>
              <a:rPr sz="11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ower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blue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374015" indent="-215265" algn="l" rtl="0" eaLnBrk="0">
              <a:lnSpc>
                <a:spcPct val="132000"/>
              </a:lnSpc>
              <a:spcBef>
                <a:spcPts val="24"/>
              </a:spcBef>
              <a:tabLst/>
            </a:pP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clock</a:t>
            </a:r>
            <a:r>
              <a:rPr sz="1100" b="1" kern="0" spc="1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_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speed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dual</a:t>
            </a:r>
            <a:r>
              <a:rPr sz="11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_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sim</a:t>
            </a:r>
            <a:endParaRPr sz="1100" dirty="0">
              <a:latin typeface="SimSun"/>
              <a:ea typeface="SimSun"/>
              <a:cs typeface="SimSun"/>
            </a:endParaRPr>
          </a:p>
          <a:p>
            <a:pPr marL="772159" algn="l" rtl="0" eaLnBrk="0">
              <a:lnSpc>
                <a:spcPts val="1122"/>
              </a:lnSpc>
              <a:spcBef>
                <a:spcPts val="52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fc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501650" algn="l" rtl="0" eaLnBrk="0">
              <a:lnSpc>
                <a:spcPct val="96000"/>
              </a:lnSpc>
              <a:spcBef>
                <a:spcPts val="535"/>
              </a:spcBef>
              <a:tabLst/>
            </a:pP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four</a:t>
            </a:r>
            <a:r>
              <a:rPr sz="11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_g</a:t>
            </a:r>
            <a:endParaRPr sz="1100" dirty="0">
              <a:latin typeface="SimSun"/>
              <a:ea typeface="SimSun"/>
              <a:cs typeface="SimSun"/>
            </a:endParaRPr>
          </a:p>
          <a:p>
            <a:pPr marL="190500" algn="l" rtl="0" eaLnBrk="0">
              <a:lnSpc>
                <a:spcPct val="96000"/>
              </a:lnSpc>
              <a:spcBef>
                <a:spcPts val="383"/>
              </a:spcBef>
              <a:tabLst/>
            </a:pP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int</a:t>
            </a:r>
            <a:r>
              <a:rPr sz="11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_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memory</a:t>
            </a:r>
            <a:endParaRPr sz="1100" dirty="0">
              <a:latin typeface="SimSun"/>
              <a:ea typeface="SimSun"/>
              <a:cs typeface="SimSun"/>
            </a:endParaRPr>
          </a:p>
          <a:p>
            <a:pPr marL="495300" algn="l" rtl="0" eaLnBrk="0">
              <a:lnSpc>
                <a:spcPct val="96000"/>
              </a:lnSpc>
              <a:spcBef>
                <a:spcPts val="583"/>
              </a:spcBef>
              <a:tabLst/>
            </a:pPr>
            <a:r>
              <a:rPr sz="1100" b="1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m_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dep</a:t>
            </a:r>
            <a:endParaRPr sz="1100" dirty="0">
              <a:latin typeface="SimSun"/>
              <a:ea typeface="SimSun"/>
              <a:cs typeface="SimSun"/>
            </a:endParaRPr>
          </a:p>
          <a:p>
            <a:pPr marL="292100" algn="l" rtl="0" eaLnBrk="0">
              <a:lnSpc>
                <a:spcPct val="96000"/>
              </a:lnSpc>
              <a:spcBef>
                <a:spcPts val="433"/>
              </a:spcBef>
              <a:tabLst/>
            </a:pPr>
            <a:r>
              <a:rPr sz="11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mobile_wt</a:t>
            </a:r>
            <a:endParaRPr sz="1100" dirty="0">
              <a:latin typeface="SimSun"/>
              <a:ea typeface="SimSun"/>
              <a:cs typeface="SimSun"/>
            </a:endParaRPr>
          </a:p>
          <a:p>
            <a:pPr marL="418465" algn="l" rtl="0" eaLnBrk="0">
              <a:lnSpc>
                <a:spcPct val="60000"/>
              </a:lnSpc>
              <a:spcBef>
                <a:spcPts val="881"/>
              </a:spcBef>
              <a:tabLst/>
            </a:pPr>
            <a:r>
              <a:rPr sz="9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n</a:t>
            </a:r>
            <a:r>
              <a:rPr sz="900" u="dotted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kern="0" spc="-3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9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cores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746759" algn="l" rtl="0" eaLnBrk="0">
              <a:lnSpc>
                <a:spcPts val="643"/>
              </a:lnSpc>
              <a:spcBef>
                <a:spcPts val="112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pc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348615" indent="-37465" algn="l" rtl="0" eaLnBrk="0">
              <a:lnSpc>
                <a:spcPct val="126000"/>
              </a:lnSpc>
              <a:spcBef>
                <a:spcPts val="175"/>
              </a:spcBef>
              <a:tabLst/>
            </a:pP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px</a:t>
            </a:r>
            <a:r>
              <a:rPr sz="1100" b="1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_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height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px</a:t>
            </a:r>
            <a:r>
              <a:rPr sz="1100" b="1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_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width</a:t>
            </a:r>
            <a:endParaRPr sz="1100" dirty="0">
              <a:latin typeface="SimSun"/>
              <a:ea typeface="SimSun"/>
              <a:cs typeface="SimSun"/>
            </a:endParaRPr>
          </a:p>
          <a:p>
            <a:pPr marL="664209" algn="l" rtl="0" eaLnBrk="0">
              <a:lnSpc>
                <a:spcPts val="527"/>
              </a:lnSpc>
              <a:spcBef>
                <a:spcPts val="1138"/>
              </a:spcBef>
              <a:tabLst/>
            </a:pP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ram</a:t>
            </a:r>
            <a:endParaRPr sz="700" dirty="0">
              <a:latin typeface="SimSun"/>
              <a:ea typeface="SimSun"/>
              <a:cs typeface="SimSun"/>
            </a:endParaRPr>
          </a:p>
          <a:p>
            <a:pPr marL="607059" algn="l" rtl="0" eaLnBrk="0">
              <a:lnSpc>
                <a:spcPct val="96000"/>
              </a:lnSpc>
              <a:spcBef>
                <a:spcPts val="784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sc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_h</a:t>
            </a:r>
            <a:endParaRPr sz="1100" dirty="0">
              <a:latin typeface="SimSun"/>
              <a:ea typeface="SimSun"/>
              <a:cs typeface="SimSun"/>
            </a:endParaRPr>
          </a:p>
          <a:p>
            <a:pPr marL="581659" algn="l" rtl="0" eaLnBrk="0">
              <a:lnSpc>
                <a:spcPct val="92000"/>
              </a:lnSpc>
              <a:spcBef>
                <a:spcPts val="734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sc_w</a:t>
            </a:r>
            <a:endParaRPr sz="900" dirty="0">
              <a:latin typeface="SimSun"/>
              <a:ea typeface="SimSun"/>
              <a:cs typeface="SimSun"/>
            </a:endParaRPr>
          </a:p>
          <a:p>
            <a:pPr marL="302259" algn="l" rtl="0" eaLnBrk="0">
              <a:lnSpc>
                <a:spcPct val="96000"/>
              </a:lnSpc>
              <a:spcBef>
                <a:spcPts val="754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talk</a:t>
            </a: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_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time</a:t>
            </a:r>
            <a:endParaRPr sz="1100" dirty="0">
              <a:latin typeface="SimSun"/>
              <a:ea typeface="SimSun"/>
              <a:cs typeface="SimSun"/>
            </a:endParaRPr>
          </a:p>
          <a:p>
            <a:pPr marL="448309" algn="l" rtl="0" eaLnBrk="0">
              <a:lnSpc>
                <a:spcPct val="96000"/>
              </a:lnSpc>
              <a:spcBef>
                <a:spcPts val="633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three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_g</a:t>
            </a:r>
            <a:endParaRPr sz="1100" dirty="0">
              <a:latin typeface="SimSun"/>
              <a:ea typeface="SimSun"/>
              <a:cs typeface="SimSun"/>
            </a:endParaRPr>
          </a:p>
          <a:p>
            <a:pPr marL="95250" algn="l" rtl="0" eaLnBrk="0">
              <a:lnSpc>
                <a:spcPct val="96000"/>
              </a:lnSpc>
              <a:spcBef>
                <a:spcPts val="467"/>
              </a:spcBef>
              <a:tabLst/>
            </a:pPr>
            <a:r>
              <a:rPr sz="11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touch_screen</a:t>
            </a:r>
            <a:endParaRPr sz="1100" dirty="0">
              <a:latin typeface="SimSun"/>
              <a:ea typeface="SimSun"/>
              <a:cs typeface="SimSun"/>
            </a:endParaRPr>
          </a:p>
          <a:p>
            <a:pPr marL="689609" algn="l" rtl="0" eaLnBrk="0">
              <a:lnSpc>
                <a:spcPts val="1125"/>
              </a:lnSpc>
              <a:spcBef>
                <a:spcPts val="625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wifi</a:t>
            </a:r>
            <a:endParaRPr sz="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899160" algn="l" rtl="0" eaLnBrk="0">
              <a:lnSpc>
                <a:spcPts val="1125"/>
              </a:lnSpc>
              <a:spcBef>
                <a:spcPts val="4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b</a:t>
            </a:r>
            <a:endParaRPr sz="900" dirty="0">
              <a:latin typeface="SimSun"/>
              <a:ea typeface="SimSun"/>
              <a:cs typeface="SimSun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16103627" y="9476351"/>
            <a:ext cx="1263650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7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4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NotebookL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4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72" name="textbox 72"/>
          <p:cNvSpPr/>
          <p:nvPr/>
        </p:nvSpPr>
        <p:spPr>
          <a:xfrm>
            <a:off x="1416072" y="2860919"/>
            <a:ext cx="5668009" cy="25711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1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95000"/>
              </a:lnSpc>
              <a:tabLst/>
            </a:pPr>
            <a:r>
              <a:rPr sz="3000" b="1" kern="0" spc="3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核心洞察</a:t>
            </a:r>
            <a:endParaRPr sz="3000" dirty="0">
              <a:latin typeface="SimSun"/>
              <a:ea typeface="SimSun"/>
              <a:cs typeface="SimSun"/>
            </a:endParaRPr>
          </a:p>
          <a:p>
            <a:pPr marL="12700" indent="43815" algn="l" rtl="0" eaLnBrk="0">
              <a:lnSpc>
                <a:spcPct val="108000"/>
              </a:lnSpc>
              <a:spcBef>
                <a:spcPts val="1764"/>
              </a:spcBef>
              <a:tabLst/>
            </a:pPr>
            <a:r>
              <a:rPr sz="2400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1.四个价格等级沿着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RAM</a:t>
            </a:r>
            <a:r>
              <a:rPr sz="2400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轴呈现出近乎完</a:t>
            </a:r>
            <a:r>
              <a:rPr sz="24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700" kern="0" spc="-2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美的阶梯状分布。</a:t>
            </a:r>
            <a:endParaRPr sz="27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400" dirty="0">
              <a:latin typeface="Arial"/>
              <a:ea typeface="Arial"/>
              <a:cs typeface="Arial"/>
            </a:endParaRPr>
          </a:p>
          <a:p>
            <a:pPr marL="31115" indent="12700" algn="l" rtl="0" eaLnBrk="0">
              <a:lnSpc>
                <a:spcPct val="109000"/>
              </a:lnSpc>
              <a:spcBef>
                <a:spcPts val="2"/>
              </a:spcBef>
              <a:tabLst/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2.然而，各类别之间的边界并非清晰的直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600" kern="0" spc="-1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线，而是存在交织和重</a:t>
            </a:r>
            <a:r>
              <a:rPr sz="2600" kern="0" spc="-2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叠的模糊区域。</a:t>
            </a:r>
            <a:endParaRPr sz="2600" dirty="0">
              <a:latin typeface="SimSun"/>
              <a:ea typeface="SimSun"/>
              <a:cs typeface="SimSun"/>
            </a:endParaRPr>
          </a:p>
        </p:txBody>
      </p:sp>
      <p:sp>
        <p:nvSpPr>
          <p:cNvPr id="74" name="textbox 74"/>
          <p:cNvSpPr/>
          <p:nvPr/>
        </p:nvSpPr>
        <p:spPr>
          <a:xfrm>
            <a:off x="1421520" y="6672491"/>
            <a:ext cx="5792470" cy="1791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3000" b="1" kern="0" spc="-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预</a:t>
            </a:r>
            <a:r>
              <a:rPr sz="30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000" b="1" kern="0" spc="-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示</a:t>
            </a:r>
            <a:endParaRPr sz="3000" dirty="0">
              <a:latin typeface="SimSun"/>
              <a:ea typeface="SimSun"/>
              <a:cs typeface="SimSun"/>
            </a:endParaRPr>
          </a:p>
          <a:p>
            <a:pPr marL="51435" algn="l" rtl="0" eaLnBrk="0">
              <a:lnSpc>
                <a:spcPct val="97000"/>
              </a:lnSpc>
              <a:spcBef>
                <a:spcPts val="821"/>
              </a:spcBef>
              <a:tabLst/>
            </a:pP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这种形态对于擅长正交切割的决策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树模型</a:t>
            </a:r>
            <a:endParaRPr sz="2400" dirty="0">
              <a:latin typeface="SimSun"/>
              <a:ea typeface="SimSun"/>
              <a:cs typeface="SimSun"/>
            </a:endParaRPr>
          </a:p>
          <a:p>
            <a:pPr marL="51435" algn="l" rtl="0" eaLnBrk="0">
              <a:lnSpc>
                <a:spcPct val="85000"/>
              </a:lnSpc>
              <a:spcBef>
                <a:spcPts val="721"/>
              </a:spcBef>
              <a:tabLst/>
            </a:pP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非常友好，但对于试图寻找单一全局超平面</a:t>
            </a:r>
            <a:endParaRPr sz="2400" dirty="0">
              <a:latin typeface="SimSun"/>
              <a:ea typeface="SimSun"/>
              <a:cs typeface="SimSun"/>
            </a:endParaRPr>
          </a:p>
          <a:p>
            <a:pPr marL="26034" algn="l" rtl="0" eaLnBrk="0">
              <a:lnSpc>
                <a:spcPts val="3699"/>
              </a:lnSpc>
              <a:tabLst/>
            </a:pPr>
            <a:r>
              <a:rPr sz="24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SVM</a:t>
            </a:r>
            <a:r>
              <a:rPr sz="24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来说，将构成严峻</a:t>
            </a:r>
            <a:r>
              <a:rPr sz="24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挑战。</a:t>
            </a:r>
            <a:endParaRPr sz="2400" dirty="0">
              <a:latin typeface="SimSun"/>
              <a:ea typeface="SimSun"/>
              <a:cs typeface="SimSun"/>
            </a:endParaRPr>
          </a:p>
        </p:txBody>
      </p:sp>
      <p:sp>
        <p:nvSpPr>
          <p:cNvPr id="76" name="textbox 76"/>
          <p:cNvSpPr/>
          <p:nvPr/>
        </p:nvSpPr>
        <p:spPr>
          <a:xfrm>
            <a:off x="847157" y="964241"/>
            <a:ext cx="13829030" cy="7448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9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4900" b="1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数据分布初探：“阶梯</a:t>
            </a:r>
            <a:r>
              <a:rPr sz="4900" b="1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状”分层预示着未来的挑战</a:t>
            </a:r>
            <a:endParaRPr sz="4900" dirty="0">
              <a:latin typeface="SimHei"/>
              <a:ea typeface="SimHei"/>
              <a:cs typeface="SimHei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12427021" y="7253330"/>
            <a:ext cx="4009390" cy="1633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0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197610" algn="l" rtl="0" eaLnBrk="0">
              <a:lnSpc>
                <a:spcPct val="97000"/>
              </a:lnSpc>
              <a:tabLst/>
            </a:pPr>
            <a:r>
              <a:rPr sz="24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模糊的重叠区域</a:t>
            </a:r>
            <a:endParaRPr sz="24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994"/>
              </a:lnSpc>
              <a:spcBef>
                <a:spcPts val="2"/>
              </a:spcBef>
              <a:tabLst/>
            </a:pP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1000</a:t>
            </a:r>
            <a:r>
              <a:rPr sz="1600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    </a:t>
            </a: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1500</a:t>
            </a:r>
            <a:r>
              <a:rPr sz="16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    </a:t>
            </a: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2000</a:t>
            </a:r>
            <a:endParaRPr sz="1600" dirty="0">
              <a:latin typeface="SimSun"/>
              <a:ea typeface="SimSun"/>
              <a:cs typeface="SimSun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8432714" y="8178527"/>
            <a:ext cx="2541270" cy="708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96"/>
              </a:lnSpc>
              <a:tabLst/>
            </a:pP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0</a:t>
            </a:r>
            <a:r>
              <a:rPr sz="1000" kern="0" spc="-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·</a:t>
            </a:r>
            <a:endParaRPr sz="10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994"/>
              </a:lnSpc>
              <a:tabLst/>
            </a:pP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0</a:t>
            </a:r>
            <a:r>
              <a:rPr sz="16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      </a:t>
            </a: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500</a:t>
            </a:r>
            <a:endParaRPr sz="1600" dirty="0">
              <a:latin typeface="SimSun"/>
              <a:ea typeface="SimSun"/>
              <a:cs typeface="SimSun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8089851" y="3559207"/>
            <a:ext cx="440690" cy="2095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994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2500</a:t>
            </a:r>
            <a:endParaRPr sz="16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994"/>
              </a:lnSpc>
              <a:spcBef>
                <a:spcPts val="490"/>
              </a:spcBef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2000</a:t>
            </a:r>
            <a:endParaRPr sz="16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994"/>
              </a:lnSpc>
              <a:spcBef>
                <a:spcPts val="1"/>
              </a:spcBef>
              <a:tabLst/>
            </a:pP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1500</a:t>
            </a:r>
            <a:endParaRPr sz="1600" dirty="0">
              <a:latin typeface="SimSun"/>
              <a:ea typeface="SimSun"/>
              <a:cs typeface="SimSun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11734827" y="8868684"/>
            <a:ext cx="1930400" cy="320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8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RAM</a:t>
            </a:r>
            <a:r>
              <a:rPr sz="2000" kern="0" spc="3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(运存大小)</a:t>
            </a:r>
            <a:endParaRPr sz="2000" dirty="0">
              <a:latin typeface="SimSun"/>
              <a:ea typeface="SimSun"/>
              <a:cs typeface="SimSun"/>
            </a:endParaRPr>
          </a:p>
        </p:txBody>
      </p:sp>
      <p:sp>
        <p:nvSpPr>
          <p:cNvPr id="86" name="textbox 86"/>
          <p:cNvSpPr/>
          <p:nvPr/>
        </p:nvSpPr>
        <p:spPr>
          <a:xfrm rot="16200000">
            <a:off x="7108001" y="4835630"/>
            <a:ext cx="1860550" cy="1949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spcBef>
                <a:spcPts val="1"/>
              </a:spcBef>
              <a:tabLst/>
            </a:pPr>
            <a:r>
              <a:rPr sz="10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</a:t>
            </a:r>
            <a:r>
              <a:rPr sz="1000" kern="0" spc="2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0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o</a:t>
            </a:r>
            <a:r>
              <a:rPr sz="1000" kern="0" spc="1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0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w</a:t>
            </a:r>
            <a:r>
              <a:rPr sz="1000" kern="0" spc="2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0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e</a:t>
            </a:r>
            <a:r>
              <a:rPr sz="1000" kern="0" spc="1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0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</a:t>
            </a:r>
            <a:r>
              <a:rPr sz="1000" kern="0" spc="3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0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(</a:t>
            </a:r>
            <a:r>
              <a:rPr sz="1000" kern="0" spc="3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0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电</a:t>
            </a:r>
            <a:r>
              <a:rPr sz="1000" kern="0" spc="2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0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池</a:t>
            </a:r>
            <a:r>
              <a:rPr sz="1000" kern="0" spc="2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0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容</a:t>
            </a:r>
            <a:r>
              <a:rPr sz="1000" kern="0" spc="2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0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量</a:t>
            </a:r>
            <a:r>
              <a:rPr sz="1000" kern="0" spc="2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0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)</a:t>
            </a:r>
            <a:endParaRPr sz="1000" dirty="0">
              <a:latin typeface="SimSun"/>
              <a:ea typeface="SimSun"/>
              <a:cs typeface="SimSun"/>
            </a:endParaRPr>
          </a:p>
        </p:txBody>
      </p:sp>
      <p:sp>
        <p:nvSpPr>
          <p:cNvPr id="88" name="textbox 88"/>
          <p:cNvSpPr/>
          <p:nvPr/>
        </p:nvSpPr>
        <p:spPr>
          <a:xfrm>
            <a:off x="16097336" y="9476351"/>
            <a:ext cx="1278889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7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4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Notebook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LM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90" name="textbox 90"/>
          <p:cNvSpPr/>
          <p:nvPr/>
        </p:nvSpPr>
        <p:spPr>
          <a:xfrm rot="16200000">
            <a:off x="7551708" y="6489430"/>
            <a:ext cx="993139" cy="163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0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spcBef>
                <a:spcPts val="1"/>
              </a:spcBef>
              <a:tabLst/>
            </a:pP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B</a:t>
            </a:r>
            <a:r>
              <a:rPr sz="1000" kern="0" spc="2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a</a:t>
            </a:r>
            <a:r>
              <a:rPr sz="1000" kern="0" spc="2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t</a:t>
            </a:r>
            <a:r>
              <a:rPr sz="1000" kern="0" spc="2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t</a:t>
            </a:r>
            <a:r>
              <a:rPr sz="1000" kern="0" spc="2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e</a:t>
            </a:r>
            <a:r>
              <a:rPr sz="1000" kern="0" spc="1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</a:t>
            </a:r>
            <a:r>
              <a:rPr sz="1000" kern="0" spc="2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y</a:t>
            </a:r>
            <a:endParaRPr sz="1000" dirty="0">
              <a:latin typeface="SimSun"/>
              <a:ea typeface="SimSun"/>
              <a:cs typeface="SimSun"/>
            </a:endParaRPr>
          </a:p>
        </p:txBody>
      </p:sp>
      <p:sp>
        <p:nvSpPr>
          <p:cNvPr id="92" name="textbox 92"/>
          <p:cNvSpPr/>
          <p:nvPr/>
        </p:nvSpPr>
        <p:spPr>
          <a:xfrm>
            <a:off x="8102607" y="2644806"/>
            <a:ext cx="420369" cy="2787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994"/>
              </a:lnSpc>
              <a:tabLst/>
            </a:pP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3000</a:t>
            </a:r>
            <a:endParaRPr sz="1600" dirty="0">
              <a:latin typeface="SimSun"/>
              <a:ea typeface="SimSun"/>
              <a:cs typeface="SimSun"/>
            </a:endParaRPr>
          </a:p>
        </p:txBody>
      </p:sp>
      <p:sp>
        <p:nvSpPr>
          <p:cNvPr id="94" name="textbox 94"/>
          <p:cNvSpPr/>
          <p:nvPr/>
        </p:nvSpPr>
        <p:spPr>
          <a:xfrm>
            <a:off x="8121656" y="6289726"/>
            <a:ext cx="408940" cy="2787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994"/>
              </a:lnSpc>
              <a:tabLst/>
            </a:pP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1000</a:t>
            </a:r>
            <a:endParaRPr sz="16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picture 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98" name="textbox 98"/>
          <p:cNvSpPr/>
          <p:nvPr/>
        </p:nvSpPr>
        <p:spPr>
          <a:xfrm>
            <a:off x="7715183" y="1937544"/>
            <a:ext cx="7908925" cy="6946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9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74900" algn="l" rtl="0" eaLnBrk="0">
              <a:lnSpc>
                <a:spcPct val="81000"/>
              </a:lnSpc>
              <a:tabLst/>
            </a:pPr>
            <a:r>
              <a:rPr sz="2400" b="1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ANOVA</a:t>
            </a:r>
            <a:r>
              <a:rPr sz="2400" b="1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F-scores for Top</a:t>
            </a:r>
            <a:r>
              <a:rPr sz="2400" b="1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2400" b="1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Fe</a:t>
            </a:r>
            <a:r>
              <a:rPr sz="2400" b="1" kern="0" spc="-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atures</a:t>
            </a:r>
            <a:endParaRPr sz="2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085850" algn="l" rtl="0" eaLnBrk="0">
              <a:lnSpc>
                <a:spcPct val="66000"/>
              </a:lnSpc>
              <a:spcBef>
                <a:spcPts val="545"/>
              </a:spcBef>
              <a:tabLst/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ram</a:t>
            </a:r>
            <a:endParaRPr sz="1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82600" algn="l" rtl="0" eaLnBrk="0">
              <a:lnSpc>
                <a:spcPts val="2521"/>
              </a:lnSpc>
              <a:spcBef>
                <a:spcPts val="545"/>
              </a:spcBef>
              <a:tabLst/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px</a:t>
            </a: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_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height</a:t>
            </a:r>
            <a:endParaRPr sz="1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52450" algn="l" rtl="0" eaLnBrk="0">
              <a:lnSpc>
                <a:spcPts val="2521"/>
              </a:lnSpc>
              <a:spcBef>
                <a:spcPts val="545"/>
              </a:spcBef>
              <a:tabLst/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px</a:t>
            </a: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_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width</a:t>
            </a:r>
            <a:endParaRPr sz="1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521"/>
              </a:lnSpc>
              <a:spcBef>
                <a:spcPts val="550"/>
              </a:spcBef>
              <a:tabLst/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battery</a:t>
            </a:r>
            <a:r>
              <a:rPr sz="1800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_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power</a:t>
            </a:r>
            <a:endParaRPr sz="1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12750" algn="l" rtl="0" eaLnBrk="0">
              <a:lnSpc>
                <a:spcPts val="2521"/>
              </a:lnSpc>
              <a:spcBef>
                <a:spcPts val="540"/>
              </a:spcBef>
              <a:tabLst/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mobile</a:t>
            </a:r>
            <a:r>
              <a:rPr sz="18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_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wt</a:t>
            </a:r>
            <a:endParaRPr sz="1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54000" algn="l" rtl="0" eaLnBrk="0">
              <a:lnSpc>
                <a:spcPts val="2521"/>
              </a:lnSpc>
              <a:spcBef>
                <a:spcPts val="549"/>
              </a:spcBef>
              <a:tabLst/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</a:t>
            </a:r>
            <a:r>
              <a:rPr sz="1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_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memory</a:t>
            </a:r>
            <a:endParaRPr sz="1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77900" algn="l" rtl="0" eaLnBrk="0">
              <a:lnSpc>
                <a:spcPct val="85000"/>
              </a:lnSpc>
              <a:spcBef>
                <a:spcPts val="401"/>
              </a:spcBef>
              <a:tabLst/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SC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_W</a:t>
            </a: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27050" algn="l" rtl="0" eaLnBrk="0">
              <a:lnSpc>
                <a:spcPts val="2521"/>
              </a:lnSpc>
              <a:spcBef>
                <a:spcPts val="550"/>
              </a:spcBef>
              <a:tabLst/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talk</a:t>
            </a:r>
            <a:r>
              <a:rPr sz="1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_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time</a:t>
            </a:r>
            <a:endParaRPr sz="1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95400" algn="l" rtl="0" eaLnBrk="0">
              <a:lnSpc>
                <a:spcPts val="2794"/>
              </a:lnSpc>
              <a:spcBef>
                <a:spcPts val="603"/>
              </a:spcBef>
              <a:tabLst/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fc</a:t>
            </a:r>
            <a:endParaRPr sz="2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7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022350" algn="l" rtl="0" eaLnBrk="0">
              <a:lnSpc>
                <a:spcPct val="83000"/>
              </a:lnSpc>
              <a:spcBef>
                <a:spcPts val="552"/>
              </a:spcBef>
              <a:tabLst/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sc_h</a:t>
            </a:r>
            <a:endParaRPr sz="1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6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9000"/>
              </a:lnSpc>
              <a:spcBef>
                <a:spcPts val="5"/>
              </a:spcBef>
              <a:tabLst/>
            </a:pP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0.0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0.2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0.4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0.6           0.8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1.0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1.2</a:t>
            </a:r>
            <a:endParaRPr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0" name="textbox 100"/>
          <p:cNvSpPr/>
          <p:nvPr/>
        </p:nvSpPr>
        <p:spPr>
          <a:xfrm>
            <a:off x="1435120" y="1925158"/>
            <a:ext cx="5638165" cy="6664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3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97000"/>
              </a:lnSpc>
              <a:tabLst/>
            </a:pPr>
            <a:r>
              <a:rPr sz="3100" b="1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预处理流程</a:t>
            </a:r>
            <a:r>
              <a:rPr sz="31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31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○</a:t>
            </a:r>
            <a:endParaRPr sz="3100" dirty="0">
              <a:latin typeface="SimHei"/>
              <a:ea typeface="SimHei"/>
              <a:cs typeface="SimHei"/>
            </a:endParaRPr>
          </a:p>
          <a:p>
            <a:pPr marL="16509" algn="l" rtl="0" eaLnBrk="0">
              <a:lnSpc>
                <a:spcPct val="95000"/>
              </a:lnSpc>
              <a:spcBef>
                <a:spcPts val="1898"/>
              </a:spcBef>
              <a:tabLst/>
            </a:pPr>
            <a:r>
              <a:rPr sz="2400" b="1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1.</a:t>
            </a:r>
            <a:r>
              <a:rPr sz="2400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1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完整性检测：</a:t>
            </a:r>
            <a:r>
              <a:rPr sz="24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数据集无缺失值。</a:t>
            </a:r>
            <a:endParaRPr sz="2400" dirty="0">
              <a:latin typeface="SimHei"/>
              <a:ea typeface="SimHei"/>
              <a:cs typeface="SimHei"/>
            </a:endParaRPr>
          </a:p>
          <a:p>
            <a:pPr marL="16509" algn="l" rtl="0" eaLnBrk="0">
              <a:lnSpc>
                <a:spcPct val="95000"/>
              </a:lnSpc>
              <a:spcBef>
                <a:spcPts val="1481"/>
              </a:spcBef>
              <a:tabLst/>
            </a:pPr>
            <a:r>
              <a:rPr sz="24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2.</a:t>
            </a:r>
            <a:r>
              <a:rPr sz="24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1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数据标准化：</a:t>
            </a:r>
            <a:r>
              <a:rPr sz="24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对所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有连续特征采用</a:t>
            </a:r>
            <a:endParaRPr sz="2400" dirty="0">
              <a:latin typeface="SimHei"/>
              <a:ea typeface="SimHei"/>
              <a:cs typeface="SimHei"/>
            </a:endParaRPr>
          </a:p>
          <a:p>
            <a:pPr marL="450215" algn="l" rtl="0" eaLnBrk="0">
              <a:lnSpc>
                <a:spcPct val="114000"/>
              </a:lnSpc>
              <a:spcBef>
                <a:spcPts val="837"/>
              </a:spcBef>
              <a:tabLst/>
            </a:pPr>
            <a:r>
              <a:rPr sz="24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Z-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score</a:t>
            </a:r>
            <a:r>
              <a:rPr sz="2400" b="1" kern="0" spc="-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标准化，</a:t>
            </a:r>
            <a:r>
              <a:rPr sz="24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消除量纲影响。这对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4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基于距离的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KNN</a:t>
            </a:r>
            <a:r>
              <a:rPr sz="24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和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SVM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至关重</a:t>
            </a:r>
            <a:r>
              <a:rPr sz="24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要。</a:t>
            </a:r>
            <a:endParaRPr sz="2400" dirty="0">
              <a:latin typeface="SimHei"/>
              <a:ea typeface="SimHei"/>
              <a:cs typeface="SimHei"/>
            </a:endParaRPr>
          </a:p>
          <a:p>
            <a:pPr marL="450215" indent="-437515" algn="l" rtl="0" eaLnBrk="0">
              <a:lnSpc>
                <a:spcPct val="117000"/>
              </a:lnSpc>
              <a:spcBef>
                <a:spcPts val="1456"/>
              </a:spcBef>
              <a:tabLst/>
            </a:pPr>
            <a:r>
              <a:rPr sz="2400" b="1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3.</a:t>
            </a:r>
            <a:r>
              <a:rPr sz="2400" b="1" kern="0" spc="2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2400" b="1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特征选择：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采用基</a:t>
            </a:r>
            <a:r>
              <a:rPr sz="2400" b="1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于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ANOVA</a:t>
            </a:r>
            <a:r>
              <a:rPr sz="2400" b="1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</a:t>
            </a:r>
            <a:r>
              <a:rPr sz="2400" b="1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value  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的`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SelectKBest`</a:t>
            </a:r>
            <a:r>
              <a:rPr sz="24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方法，筛选出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与价格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24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等级区分度最高的10</a:t>
            </a:r>
            <a:r>
              <a:rPr sz="24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个特征。</a:t>
            </a:r>
            <a:endParaRPr sz="2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97000"/>
              </a:lnSpc>
              <a:spcBef>
                <a:spcPts val="941"/>
              </a:spcBef>
              <a:tabLst/>
            </a:pPr>
            <a:r>
              <a:rPr sz="3100" b="1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关键成果</a:t>
            </a:r>
            <a:endParaRPr sz="3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07314" algn="l" rtl="0" eaLnBrk="0">
              <a:lnSpc>
                <a:spcPct val="85000"/>
              </a:lnSpc>
              <a:spcBef>
                <a:spcPts val="720"/>
              </a:spcBef>
              <a:tabLst/>
            </a:pPr>
            <a:r>
              <a:rPr sz="24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特征选择使随机森林和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KNN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的准确率</a:t>
            </a:r>
            <a:endParaRPr sz="2400" dirty="0">
              <a:latin typeface="SimHei"/>
              <a:ea typeface="SimHei"/>
              <a:cs typeface="SimHei"/>
            </a:endParaRPr>
          </a:p>
          <a:p>
            <a:pPr marL="107314" algn="l" rtl="0" eaLnBrk="0">
              <a:lnSpc>
                <a:spcPct val="137000"/>
              </a:lnSpc>
              <a:spcBef>
                <a:spcPts val="23"/>
              </a:spcBef>
              <a:tabLst/>
            </a:pPr>
            <a:r>
              <a:rPr sz="24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提升了</a:t>
            </a:r>
            <a:r>
              <a:rPr sz="2400" b="1" kern="0" spc="30" dirty="0">
                <a:solidFill>
                  <a:srgbClr val="C0303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6%</a:t>
            </a:r>
            <a:r>
              <a:rPr sz="2400" b="1" kern="0" spc="540" dirty="0">
                <a:solidFill>
                  <a:srgbClr val="C0303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以上，证明了剔除噪声特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24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征的巨大价值。</a:t>
            </a:r>
            <a:endParaRPr sz="2400" dirty="0">
              <a:latin typeface="SimHei"/>
              <a:ea typeface="SimHei"/>
              <a:cs typeface="SimHei"/>
            </a:endParaRPr>
          </a:p>
        </p:txBody>
      </p:sp>
      <p:sp>
        <p:nvSpPr>
          <p:cNvPr id="102" name="textbox 102"/>
          <p:cNvSpPr/>
          <p:nvPr/>
        </p:nvSpPr>
        <p:spPr>
          <a:xfrm>
            <a:off x="575983" y="492912"/>
            <a:ext cx="13841730" cy="6578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4300" b="1" kern="0" spc="-2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“做减法”的智慧：用</a:t>
            </a:r>
            <a:r>
              <a:rPr sz="4300" b="1" kern="0" spc="-2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ANOVAF</a:t>
            </a:r>
            <a:r>
              <a:rPr sz="4300" kern="0" spc="7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4300" b="1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检验筛选出10个黄金特征</a:t>
            </a:r>
            <a:endParaRPr sz="4300" dirty="0">
              <a:latin typeface="SimHei"/>
              <a:ea typeface="SimHei"/>
              <a:cs typeface="SimHei"/>
            </a:endParaRPr>
          </a:p>
        </p:txBody>
      </p:sp>
      <p:sp>
        <p:nvSpPr>
          <p:cNvPr id="104" name="textbox 104"/>
          <p:cNvSpPr/>
          <p:nvPr/>
        </p:nvSpPr>
        <p:spPr>
          <a:xfrm>
            <a:off x="16097336" y="9004168"/>
            <a:ext cx="1263650" cy="666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2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18465" algn="l" rtl="0" eaLnBrk="0">
              <a:lnSpc>
                <a:spcPct val="82000"/>
              </a:lnSpc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8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3"/>
              </a:spcBef>
              <a:tabLst/>
            </a:pPr>
            <a:r>
              <a:rPr sz="13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300" b="1" kern="0" spc="4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NotebookLM</a:t>
            </a:r>
            <a:endParaRPr sz="13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1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pic>
        <p:nvPicPr>
          <p:cNvPr id="108" name="picture 1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37600" y="7746992"/>
            <a:ext cx="660387" cy="463588"/>
          </a:xfrm>
          <a:prstGeom prst="rect">
            <a:avLst/>
          </a:prstGeom>
        </p:spPr>
      </p:pic>
      <p:sp>
        <p:nvSpPr>
          <p:cNvPr id="110" name="textbox 110"/>
          <p:cNvSpPr/>
          <p:nvPr/>
        </p:nvSpPr>
        <p:spPr>
          <a:xfrm>
            <a:off x="6699175" y="6047589"/>
            <a:ext cx="4064634" cy="26428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2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79450" algn="l" rtl="0" eaLnBrk="0">
              <a:lnSpc>
                <a:spcPct val="91000"/>
              </a:lnSpc>
              <a:tabLst/>
            </a:pPr>
            <a:r>
              <a:rPr sz="34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K-</a:t>
            </a:r>
            <a:r>
              <a:rPr sz="34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近邻</a:t>
            </a:r>
            <a:r>
              <a:rPr sz="34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(KNN)</a:t>
            </a:r>
            <a:endParaRPr sz="3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7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7150" algn="l" rtl="0" eaLnBrk="0">
              <a:lnSpc>
                <a:spcPct val="96000"/>
              </a:lnSpc>
              <a:spcBef>
                <a:spcPts val="789"/>
              </a:spcBef>
              <a:tabLst/>
            </a:pPr>
            <a:r>
              <a:rPr sz="2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通过测量与最近的</a:t>
            </a:r>
            <a:r>
              <a:rPr sz="26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K</a:t>
            </a:r>
            <a:r>
              <a:rPr sz="2600" kern="0" spc="-5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个邻居</a:t>
            </a:r>
            <a:endParaRPr sz="2600" dirty="0">
              <a:latin typeface="SimHei"/>
              <a:ea typeface="SimHei"/>
              <a:cs typeface="SimHei"/>
            </a:endParaRPr>
          </a:p>
          <a:p>
            <a:pPr marL="38100" algn="l" rtl="0" eaLnBrk="0">
              <a:lnSpc>
                <a:spcPct val="95000"/>
              </a:lnSpc>
              <a:spcBef>
                <a:spcPts val="716"/>
              </a:spcBef>
              <a:tabLst/>
            </a:pPr>
            <a:r>
              <a:rPr sz="2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的距离并进行投票来决定类</a:t>
            </a:r>
            <a:endParaRPr sz="2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1336"/>
              </a:spcBef>
              <a:tabLst/>
            </a:pPr>
            <a:r>
              <a:rPr sz="26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别。一种基于</a:t>
            </a:r>
            <a:r>
              <a:rPr sz="2600" kern="0" spc="50" dirty="0">
                <a:solidFill>
                  <a:srgbClr val="C03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实例</a:t>
            </a:r>
            <a:r>
              <a:rPr sz="26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的非参</a:t>
            </a:r>
            <a:r>
              <a:rPr sz="2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</a:t>
            </a:r>
            <a:endParaRPr sz="2600" dirty="0">
              <a:latin typeface="SimHei"/>
              <a:ea typeface="SimHei"/>
              <a:cs typeface="SimHei"/>
            </a:endParaRPr>
          </a:p>
          <a:p>
            <a:pPr marL="1524000" algn="l" rtl="0" eaLnBrk="0">
              <a:lnSpc>
                <a:spcPct val="97000"/>
              </a:lnSpc>
              <a:spcBef>
                <a:spcPts val="569"/>
              </a:spcBef>
              <a:tabLst/>
            </a:pPr>
            <a:r>
              <a:rPr sz="21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方</a:t>
            </a:r>
            <a:r>
              <a:rPr sz="2100" kern="0" spc="-2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1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法</a:t>
            </a:r>
            <a:r>
              <a:rPr sz="2100" kern="0" spc="-3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1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pic>
        <p:nvPicPr>
          <p:cNvPr id="112" name="picture 1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793934" y="7753331"/>
            <a:ext cx="673144" cy="450908"/>
          </a:xfrm>
          <a:prstGeom prst="rect">
            <a:avLst/>
          </a:prstGeom>
        </p:spPr>
      </p:pic>
      <p:sp>
        <p:nvSpPr>
          <p:cNvPr id="114" name="textbox 114"/>
          <p:cNvSpPr/>
          <p:nvPr/>
        </p:nvSpPr>
        <p:spPr>
          <a:xfrm>
            <a:off x="1454168" y="6053929"/>
            <a:ext cx="4045584" cy="2254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2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1615" algn="l" rtl="0" eaLnBrk="0">
              <a:lnSpc>
                <a:spcPct val="91000"/>
              </a:lnSpc>
              <a:tabLst/>
            </a:pPr>
            <a:r>
              <a:rPr sz="34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支持向量机</a:t>
            </a:r>
            <a:r>
              <a:rPr sz="34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(SVM)</a:t>
            </a:r>
            <a:endParaRPr sz="3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7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786"/>
              </a:spcBef>
              <a:tabLst/>
            </a:pPr>
            <a:r>
              <a:rPr sz="2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寻找能将不同类别以最大几</a:t>
            </a:r>
            <a:endParaRPr sz="2600" dirty="0">
              <a:latin typeface="SimHei"/>
              <a:ea typeface="SimHei"/>
              <a:cs typeface="SimHei"/>
            </a:endParaRPr>
          </a:p>
          <a:p>
            <a:pPr marL="145414" algn="l" rtl="0" eaLnBrk="0">
              <a:lnSpc>
                <a:spcPct val="96000"/>
              </a:lnSpc>
              <a:spcBef>
                <a:spcPts val="794"/>
              </a:spcBef>
              <a:tabLst/>
            </a:pP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何间隔分开的超平面。</a:t>
            </a:r>
            <a:r>
              <a:rPr sz="2600" kern="0" spc="-4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6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</a:t>
            </a:r>
            <a:endParaRPr sz="2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30200" algn="l" rtl="0" eaLnBrk="0">
              <a:lnSpc>
                <a:spcPct val="95000"/>
              </a:lnSpc>
              <a:tabLst/>
            </a:pPr>
            <a:r>
              <a:rPr sz="26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种基于</a:t>
            </a:r>
            <a:r>
              <a:rPr sz="2600" kern="0" spc="-80" dirty="0">
                <a:solidFill>
                  <a:srgbClr val="B03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几何</a:t>
            </a:r>
            <a:r>
              <a:rPr sz="26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的分类器。</a:t>
            </a:r>
            <a:endParaRPr sz="2600" dirty="0">
              <a:latin typeface="SimHei"/>
              <a:ea typeface="SimHei"/>
              <a:cs typeface="SimHei"/>
            </a:endParaRPr>
          </a:p>
        </p:txBody>
      </p:sp>
      <p:pic>
        <p:nvPicPr>
          <p:cNvPr id="116" name="picture 1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2674587" y="7753331"/>
            <a:ext cx="660387" cy="444471"/>
          </a:xfrm>
          <a:prstGeom prst="rect">
            <a:avLst/>
          </a:prstGeom>
        </p:spPr>
      </p:pic>
      <p:sp>
        <p:nvSpPr>
          <p:cNvPr id="118" name="textbox 118"/>
          <p:cNvSpPr/>
          <p:nvPr/>
        </p:nvSpPr>
        <p:spPr>
          <a:xfrm>
            <a:off x="11982451" y="6089776"/>
            <a:ext cx="4051300" cy="22180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7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47065" algn="l" rtl="0" eaLnBrk="0">
              <a:lnSpc>
                <a:spcPct val="96000"/>
              </a:lnSpc>
              <a:tabLst/>
            </a:pPr>
            <a:r>
              <a:rPr sz="3400" b="1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随机森林</a:t>
            </a:r>
            <a:r>
              <a:rPr sz="3400" b="1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(RF)</a:t>
            </a:r>
            <a:endParaRPr sz="34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785"/>
              </a:spcBef>
              <a:tabLst/>
            </a:pPr>
            <a:r>
              <a:rPr sz="2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构建多棵决策树，通过集体</a:t>
            </a:r>
            <a:endParaRPr sz="2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35000"/>
              </a:lnSpc>
              <a:spcBef>
                <a:spcPts val="28"/>
              </a:spcBef>
              <a:tabLst/>
            </a:pPr>
            <a:r>
              <a:rPr sz="2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的投票做出最终决策。一种</a:t>
            </a:r>
            <a:r>
              <a:rPr sz="2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6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基于</a:t>
            </a:r>
            <a:r>
              <a:rPr sz="2600" kern="0" spc="-10" dirty="0">
                <a:solidFill>
                  <a:srgbClr val="C03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规</a:t>
            </a:r>
            <a:r>
              <a:rPr sz="2600" kern="0" spc="-780" dirty="0">
                <a:solidFill>
                  <a:srgbClr val="C03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600" kern="0" spc="-10" dirty="0">
                <a:solidFill>
                  <a:srgbClr val="C03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则</a:t>
            </a:r>
            <a:r>
              <a:rPr sz="26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的集成学习方法。</a:t>
            </a:r>
            <a:endParaRPr sz="2600" dirty="0">
              <a:latin typeface="SimHei"/>
              <a:ea typeface="SimHei"/>
              <a:cs typeface="SimHei"/>
            </a:endParaRPr>
          </a:p>
        </p:txBody>
      </p:sp>
      <p:sp>
        <p:nvSpPr>
          <p:cNvPr id="120" name="textbox 120"/>
          <p:cNvSpPr/>
          <p:nvPr/>
        </p:nvSpPr>
        <p:spPr>
          <a:xfrm>
            <a:off x="1086764" y="1210061"/>
            <a:ext cx="15142210" cy="5835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1000"/>
              </a:lnSpc>
              <a:tabLst/>
            </a:pPr>
            <a:r>
              <a:rPr sz="40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三大流派的代表：</a:t>
            </a:r>
            <a:r>
              <a:rPr sz="4000" b="1" kern="0" spc="0" dirty="0">
                <a:solidFill>
                  <a:srgbClr val="9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几何间隔</a:t>
            </a:r>
            <a:r>
              <a:rPr sz="4000" b="1" kern="0" spc="0" dirty="0">
                <a:solidFill>
                  <a:srgbClr val="902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(SVM)</a:t>
            </a:r>
            <a:r>
              <a:rPr sz="4000" b="1" kern="0" spc="0" dirty="0">
                <a:solidFill>
                  <a:srgbClr val="90204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4000" b="1" kern="0" spc="0" dirty="0">
                <a:solidFill>
                  <a:srgbClr val="9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邻域投票</a:t>
            </a:r>
            <a:r>
              <a:rPr sz="4000" b="1" kern="0" spc="0" dirty="0">
                <a:solidFill>
                  <a:srgbClr val="902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4000" b="1" kern="0" spc="-10" dirty="0">
                <a:solidFill>
                  <a:srgbClr val="902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KNN)</a:t>
            </a:r>
            <a:r>
              <a:rPr sz="4000" b="1" kern="0" spc="-10" dirty="0">
                <a:solidFill>
                  <a:srgbClr val="90204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4000" b="1" kern="0" spc="-10" dirty="0">
                <a:solidFill>
                  <a:srgbClr val="9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群体智慧</a:t>
            </a:r>
            <a:r>
              <a:rPr sz="4000" b="1" kern="0" spc="-10" dirty="0">
                <a:solidFill>
                  <a:srgbClr val="902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(RF)</a:t>
            </a:r>
            <a:endParaRPr sz="4000" dirty="0">
              <a:latin typeface="Arial"/>
              <a:ea typeface="Arial"/>
              <a:cs typeface="Arial"/>
            </a:endParaRPr>
          </a:p>
        </p:txBody>
      </p:sp>
      <p:pic>
        <p:nvPicPr>
          <p:cNvPr id="122" name="picture 1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184400" y="2762220"/>
            <a:ext cx="2578116" cy="2609867"/>
          </a:xfrm>
          <a:prstGeom prst="rect">
            <a:avLst/>
          </a:prstGeom>
        </p:spPr>
      </p:pic>
      <p:pic>
        <p:nvPicPr>
          <p:cNvPr id="124" name="picture 1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2541252" y="3028981"/>
            <a:ext cx="2870126" cy="2197095"/>
          </a:xfrm>
          <a:prstGeom prst="rect">
            <a:avLst/>
          </a:prstGeom>
        </p:spPr>
      </p:pic>
      <p:pic>
        <p:nvPicPr>
          <p:cNvPr id="126" name="picture 1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524821" y="2857512"/>
            <a:ext cx="2419266" cy="2419380"/>
          </a:xfrm>
          <a:prstGeom prst="rect">
            <a:avLst/>
          </a:prstGeom>
        </p:spPr>
      </p:pic>
      <p:sp>
        <p:nvSpPr>
          <p:cNvPr id="128" name="textbox 128"/>
          <p:cNvSpPr/>
          <p:nvPr/>
        </p:nvSpPr>
        <p:spPr>
          <a:xfrm>
            <a:off x="16097336" y="9482691"/>
            <a:ext cx="1271269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7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4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NotebookLM</a:t>
            </a:r>
            <a:endParaRPr sz="14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 130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6F6F1">
              <a:alpha val="9921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32" name="picture 1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003637" y="2997183"/>
            <a:ext cx="11702967" cy="3867205"/>
          </a:xfrm>
          <a:prstGeom prst="rect">
            <a:avLst/>
          </a:prstGeom>
        </p:spPr>
      </p:pic>
      <p:sp>
        <p:nvSpPr>
          <p:cNvPr id="134" name="textbox 134"/>
          <p:cNvSpPr/>
          <p:nvPr/>
        </p:nvSpPr>
        <p:spPr>
          <a:xfrm>
            <a:off x="1051120" y="942331"/>
            <a:ext cx="14027785" cy="17100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0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5300" b="1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最终裁决：</a:t>
            </a:r>
            <a:r>
              <a:rPr sz="5300" b="1" kern="0" spc="110" dirty="0">
                <a:solidFill>
                  <a:srgbClr val="A02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随机森林大获全胜，</a:t>
            </a:r>
            <a:r>
              <a:rPr sz="5300" b="1" kern="0" spc="0" dirty="0">
                <a:solidFill>
                  <a:srgbClr val="D0302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SVM</a:t>
            </a:r>
            <a:r>
              <a:rPr sz="5300" kern="0" spc="1800" dirty="0">
                <a:solidFill>
                  <a:srgbClr val="D0302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5300" b="1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意外</a:t>
            </a:r>
            <a:r>
              <a:rPr sz="53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垫底</a:t>
            </a:r>
            <a:endParaRPr sz="5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5011420" algn="l" rtl="0" eaLnBrk="0">
              <a:lnSpc>
                <a:spcPct val="97000"/>
              </a:lnSpc>
              <a:spcBef>
                <a:spcPts val="7"/>
              </a:spcBef>
              <a:tabLst/>
            </a:pPr>
            <a:r>
              <a:rPr sz="2800" b="1" kern="0" spc="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模型准确率对比(5折交</a:t>
            </a:r>
            <a:r>
              <a:rPr sz="2800" b="1" kern="0" spc="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叉验证)</a:t>
            </a:r>
            <a:endParaRPr sz="2800" dirty="0">
              <a:latin typeface="SimHei"/>
              <a:ea typeface="SimHei"/>
              <a:cs typeface="SimHei"/>
            </a:endParaRPr>
          </a:p>
        </p:txBody>
      </p:sp>
      <p:graphicFrame>
        <p:nvGraphicFramePr>
          <p:cNvPr id="136" name="table 136"/>
          <p:cNvGraphicFramePr>
            <a:graphicFrameLocks noGrp="1"/>
          </p:cNvGraphicFramePr>
          <p:nvPr/>
        </p:nvGraphicFramePr>
        <p:xfrm>
          <a:off x="2822564" y="7915285"/>
          <a:ext cx="11830049" cy="1440814"/>
        </p:xfrm>
        <a:graphic>
          <a:graphicData uri="http://schemas.openxmlformats.org/drawingml/2006/table">
            <a:tbl>
              <a:tblPr/>
              <a:tblGrid>
                <a:gridCol w="11830049"/>
              </a:tblGrid>
              <a:tr h="14344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9717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400" b="1" kern="0" spc="40" dirty="0">
                          <a:solidFill>
                            <a:srgbClr val="904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核心问题</a:t>
                      </a:r>
                      <a:endParaRPr sz="24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323339" algn="l" rtl="0" eaLnBrk="0">
                        <a:lnSpc>
                          <a:spcPct val="97000"/>
                        </a:lnSpc>
                        <a:spcBef>
                          <a:spcPts val="1087"/>
                        </a:spcBef>
                        <a:tabLst/>
                      </a:pPr>
                      <a:r>
                        <a:rPr sz="24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在</a:t>
                      </a:r>
                      <a:r>
                        <a:rPr sz="24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同样的数据和预处理流程下，模型表现为何存在如此巨大的鸿沟</a:t>
                      </a:r>
                      <a:r>
                        <a:rPr sz="2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?</a:t>
                      </a:r>
                      <a:endParaRPr sz="24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194685" algn="l" rtl="0" eaLnBrk="0">
                        <a:lnSpc>
                          <a:spcPct val="95000"/>
                        </a:lnSpc>
                        <a:spcBef>
                          <a:spcPts val="40"/>
                        </a:spcBef>
                        <a:tabLst/>
                      </a:pPr>
                      <a:r>
                        <a:rPr sz="24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尤其是理论上强大的</a:t>
                      </a:r>
                      <a:r>
                        <a:rPr sz="2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SVM</a:t>
                      </a:r>
                      <a:r>
                        <a:rPr sz="24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,为何表</a:t>
                      </a:r>
                      <a:r>
                        <a:rPr sz="24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现最差?</a:t>
                      </a:r>
                      <a:endParaRPr sz="24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8" name="textbox 138"/>
          <p:cNvSpPr/>
          <p:nvPr/>
        </p:nvSpPr>
        <p:spPr>
          <a:xfrm>
            <a:off x="4178377" y="6941021"/>
            <a:ext cx="9824719" cy="648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7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30225" algn="l" rtl="0" eaLnBrk="0">
              <a:lnSpc>
                <a:spcPct val="98000"/>
              </a:lnSpc>
              <a:tabLst/>
            </a:pPr>
            <a:r>
              <a:rPr sz="21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随机森林</a:t>
            </a:r>
            <a:r>
              <a:rPr sz="21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</a:t>
            </a:r>
            <a:r>
              <a:rPr sz="21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K-</a:t>
            </a:r>
            <a:r>
              <a:rPr sz="21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近邻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</a:t>
            </a:r>
            <a:r>
              <a:rPr sz="21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支持向</a:t>
            </a:r>
            <a:r>
              <a:rPr sz="2100" b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量机</a:t>
            </a:r>
            <a:endParaRPr sz="21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85000"/>
              </a:lnSpc>
              <a:spcBef>
                <a:spcPts val="294"/>
              </a:spcBef>
              <a:tabLst/>
            </a:pPr>
            <a:r>
              <a:rPr sz="21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(Random</a:t>
            </a:r>
            <a:r>
              <a:rPr sz="2100" b="1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Forest)               </a:t>
            </a:r>
            <a:r>
              <a:rPr sz="21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(K-Nearest</a:t>
            </a:r>
            <a:r>
              <a:rPr sz="21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1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Neighbors)  </a:t>
            </a:r>
            <a:r>
              <a:rPr sz="21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</a:t>
            </a:r>
            <a:r>
              <a:rPr sz="21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(Support Vector Machine)</a:t>
            </a:r>
            <a:endParaRPr sz="2100" dirty="0">
              <a:latin typeface="Arial"/>
              <a:ea typeface="Arial"/>
              <a:cs typeface="Arial"/>
            </a:endParaRPr>
          </a:p>
        </p:txBody>
      </p:sp>
      <p:sp>
        <p:nvSpPr>
          <p:cNvPr id="140" name="textbox 140"/>
          <p:cNvSpPr/>
          <p:nvPr/>
        </p:nvSpPr>
        <p:spPr>
          <a:xfrm>
            <a:off x="16097336" y="9476351"/>
            <a:ext cx="1278889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7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4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Notebook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LM</a:t>
            </a:r>
            <a:endParaRPr sz="14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picture 1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144" name="textbox 144"/>
          <p:cNvSpPr/>
          <p:nvPr/>
        </p:nvSpPr>
        <p:spPr>
          <a:xfrm>
            <a:off x="6362776" y="2559881"/>
            <a:ext cx="4845684" cy="61385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3000"/>
              </a:lnSpc>
              <a:tabLst/>
            </a:pP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支持向量机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(SVM)  </a:t>
            </a: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混淆矩阵</a:t>
            </a:r>
            <a:endParaRPr sz="2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928"/>
              </a:spcBef>
              <a:tabLst/>
            </a:pPr>
            <a:r>
              <a:rPr sz="4700" kern="0" spc="-20" baseline="-7757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</a:t>
            </a:r>
            <a:r>
              <a:rPr sz="3000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2200" kern="0" spc="-2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662</a:t>
            </a:r>
            <a:r>
              <a:rPr sz="22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</a:t>
            </a:r>
            <a:r>
              <a:rPr sz="2200" kern="0" spc="-20" baseline="16573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</a:t>
            </a:r>
            <a:r>
              <a:rPr sz="2200" kern="0" spc="-20" baseline="18941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11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</a:t>
            </a:r>
            <a:r>
              <a:rPr sz="2200" kern="0" spc="-20" baseline="16573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 sz="2200" baseline="16573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840"/>
              </a:spcBef>
              <a:tabLst/>
            </a:pPr>
            <a:r>
              <a:rPr sz="4300" kern="0" spc="-320" baseline="-8479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</a:t>
            </a:r>
            <a:r>
              <a:rPr sz="2200" kern="0" spc="-40" baseline="18941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18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</a:t>
            </a:r>
            <a:r>
              <a:rPr sz="2200" kern="0" spc="-40" baseline="14205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332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</a:t>
            </a:r>
            <a:r>
              <a:rPr sz="2200" kern="0" spc="-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106             </a:t>
            </a:r>
            <a:r>
              <a:rPr sz="2200" kern="0" spc="60" baseline="14205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  <a:endParaRPr sz="2200" baseline="14205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7000"/>
              </a:lnSpc>
              <a:spcBef>
                <a:spcPts val="846"/>
              </a:spcBef>
              <a:tabLst/>
            </a:pPr>
            <a:r>
              <a:rPr sz="4300" kern="0" spc="-10" baseline="-10902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7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</a:t>
            </a:r>
            <a:r>
              <a:rPr sz="2200" kern="0" spc="-10" baseline="14205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21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167</a:t>
            </a:r>
            <a:r>
              <a:rPr sz="22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2200" kern="0" spc="-20" baseline="14205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396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</a:t>
            </a:r>
            <a:r>
              <a:rPr sz="2200" kern="0" spc="-20" baseline="14205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</a:t>
            </a:r>
            <a:endParaRPr sz="2200" baseline="14205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846"/>
              </a:spcBef>
              <a:tabLst/>
            </a:pPr>
            <a:r>
              <a:rPr sz="4300" kern="0" spc="-110" baseline="-7268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27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</a:t>
            </a:r>
            <a:r>
              <a:rPr sz="2200" kern="0" spc="-40" baseline="21308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</a:t>
            </a:r>
            <a:r>
              <a:rPr sz="2200" kern="0" spc="-40" baseline="21308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</a:t>
            </a:r>
            <a:r>
              <a:rPr sz="2200" kern="0" spc="-40" baseline="16573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21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2200" kern="0" spc="-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757</a:t>
            </a:r>
            <a:endParaRPr sz="22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751964" indent="-977900" algn="l" rtl="0" eaLnBrk="0">
              <a:lnSpc>
                <a:spcPct val="103000"/>
              </a:lnSpc>
              <a:spcBef>
                <a:spcPts val="3"/>
              </a:spcBef>
              <a:tabLst/>
            </a:pP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</a:t>
            </a: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</a:t>
            </a: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Predicted</a:t>
            </a:r>
            <a:r>
              <a:rPr sz="1700" kern="0" spc="3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Label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sp>
        <p:nvSpPr>
          <p:cNvPr id="146" name="textbox 146"/>
          <p:cNvSpPr/>
          <p:nvPr/>
        </p:nvSpPr>
        <p:spPr>
          <a:xfrm>
            <a:off x="920825" y="2599052"/>
            <a:ext cx="4639309" cy="5925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SVM</a:t>
            </a:r>
            <a:r>
              <a:rPr sz="2800" b="1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800" b="1" kern="0" spc="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行为模式</a:t>
            </a:r>
            <a:endParaRPr sz="2800" dirty="0">
              <a:latin typeface="SimHei"/>
              <a:ea typeface="SimHei"/>
              <a:cs typeface="SimHei"/>
            </a:endParaRPr>
          </a:p>
          <a:p>
            <a:pPr marL="374015" indent="-361315" algn="l" rtl="0" eaLnBrk="0">
              <a:lnSpc>
                <a:spcPct val="107000"/>
              </a:lnSpc>
              <a:spcBef>
                <a:spcPts val="1215"/>
              </a:spcBef>
              <a:tabLst/>
            </a:pPr>
            <a:r>
              <a:rPr sz="2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2500" kern="0" spc="-8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在预测两端类别(0:低成本，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25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3: </a:t>
            </a:r>
            <a:r>
              <a:rPr sz="2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超高成本)时表现优异。</a:t>
            </a:r>
            <a:endParaRPr sz="2500" dirty="0">
              <a:latin typeface="SimHei"/>
              <a:ea typeface="SimHei"/>
              <a:cs typeface="SimHei"/>
            </a:endParaRPr>
          </a:p>
          <a:p>
            <a:pPr marL="374015" indent="-361315" algn="l" rtl="0" eaLnBrk="0">
              <a:lnSpc>
                <a:spcPct val="111000"/>
              </a:lnSpc>
              <a:spcBef>
                <a:spcPts val="1231"/>
              </a:spcBef>
              <a:tabLst/>
            </a:pPr>
            <a:r>
              <a:rPr sz="2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2500" kern="0" spc="-8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在处理中间类别(1:中成本，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2500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2: </a:t>
            </a:r>
            <a:r>
              <a:rPr sz="25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高成本)时彻底迷失，</a:t>
            </a:r>
            <a:r>
              <a:rPr sz="25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大</a:t>
            </a:r>
            <a:r>
              <a:rPr sz="25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25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量样本被错误地归类到相邻类</a:t>
            </a:r>
            <a:r>
              <a:rPr sz="2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25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别。</a:t>
            </a:r>
            <a:endParaRPr sz="2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98000"/>
              </a:lnSpc>
              <a:spcBef>
                <a:spcPts val="842"/>
              </a:spcBef>
              <a:tabLst/>
            </a:pPr>
            <a:r>
              <a:rPr sz="2800" b="1" kern="0" spc="1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随机森林对比</a:t>
            </a:r>
            <a:endParaRPr sz="28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86000"/>
              </a:lnSpc>
              <a:spcBef>
                <a:spcPts val="1269"/>
              </a:spcBef>
              <a:tabLst/>
            </a:pPr>
            <a:r>
              <a:rPr sz="25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·其混淆矩阵热力图在主对角线</a:t>
            </a:r>
            <a:endParaRPr sz="2500" dirty="0">
              <a:latin typeface="SimHei"/>
              <a:ea typeface="SimHei"/>
              <a:cs typeface="SimHei"/>
            </a:endParaRPr>
          </a:p>
          <a:p>
            <a:pPr marL="374015" algn="l" rtl="0" eaLnBrk="0">
              <a:lnSpc>
                <a:spcPct val="117000"/>
              </a:lnSpc>
              <a:spcBef>
                <a:spcPts val="88"/>
              </a:spcBef>
              <a:tabLst/>
            </a:pPr>
            <a:r>
              <a:rPr sz="25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上数值集中，证明了</a:t>
            </a:r>
            <a:r>
              <a:rPr sz="25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其在所有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25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类别别上稳健、均衡的分类能</a:t>
            </a:r>
            <a:r>
              <a:rPr sz="2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25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力。</a:t>
            </a:r>
            <a:endParaRPr sz="2500" dirty="0">
              <a:latin typeface="SimHei"/>
              <a:ea typeface="SimHei"/>
              <a:cs typeface="SimHei"/>
            </a:endParaRPr>
          </a:p>
        </p:txBody>
      </p:sp>
      <p:graphicFrame>
        <p:nvGraphicFramePr>
          <p:cNvPr id="148" name="table 148"/>
          <p:cNvGraphicFramePr>
            <a:graphicFrameLocks noGrp="1"/>
          </p:cNvGraphicFramePr>
          <p:nvPr/>
        </p:nvGraphicFramePr>
        <p:xfrm>
          <a:off x="12144361" y="3336945"/>
          <a:ext cx="4483100" cy="4679314"/>
        </p:xfrm>
        <a:graphic>
          <a:graphicData uri="http://schemas.openxmlformats.org/drawingml/2006/table">
            <a:tbl>
              <a:tblPr/>
              <a:tblGrid>
                <a:gridCol w="1120775"/>
                <a:gridCol w="1117600"/>
                <a:gridCol w="1117600"/>
                <a:gridCol w="1127125"/>
              </a:tblGrid>
              <a:tr h="11709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2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0675" algn="l" rtl="0" eaLnBrk="0">
                        <a:lnSpc>
                          <a:spcPts val="3116"/>
                        </a:lnSpc>
                        <a:tabLst/>
                      </a:pPr>
                      <a:r>
                        <a:rPr sz="2500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322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2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6250" algn="l" rtl="0" eaLnBrk="0">
                        <a:lnSpc>
                          <a:spcPts val="3116"/>
                        </a:lnSpc>
                        <a:tabLst/>
                      </a:pPr>
                      <a:r>
                        <a:rPr sz="2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2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6250" algn="l" rtl="0" eaLnBrk="0">
                        <a:lnSpc>
                          <a:spcPts val="3116"/>
                        </a:lnSpc>
                        <a:tabLst/>
                      </a:pPr>
                      <a:r>
                        <a:rPr sz="2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2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2600" algn="l" rtl="0" eaLnBrk="0">
                        <a:lnSpc>
                          <a:spcPts val="3116"/>
                        </a:lnSpc>
                        <a:tabLst/>
                      </a:pPr>
                      <a:r>
                        <a:rPr sz="2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8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64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8790" algn="l" rtl="0" eaLnBrk="0">
                        <a:lnSpc>
                          <a:spcPts val="3116"/>
                        </a:lnSpc>
                        <a:tabLst/>
                      </a:pPr>
                      <a:r>
                        <a:rPr sz="2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64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6865" algn="l" rtl="0" eaLnBrk="0">
                        <a:lnSpc>
                          <a:spcPts val="3116"/>
                        </a:lnSpc>
                        <a:tabLst/>
                      </a:pPr>
                      <a:r>
                        <a:rPr sz="2500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283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64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6250" algn="l" rtl="0" eaLnBrk="0">
                        <a:lnSpc>
                          <a:spcPts val="3116"/>
                        </a:lnSpc>
                        <a:tabLst/>
                      </a:pPr>
                      <a:r>
                        <a:rPr sz="2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64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2600" algn="l" rtl="0" eaLnBrk="0">
                        <a:lnSpc>
                          <a:spcPts val="3116"/>
                        </a:lnSpc>
                        <a:tabLst/>
                      </a:pPr>
                      <a:r>
                        <a:rPr sz="2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8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54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8790" algn="l" rtl="0" eaLnBrk="0">
                        <a:lnSpc>
                          <a:spcPts val="3116"/>
                        </a:lnSpc>
                        <a:tabLst/>
                      </a:pPr>
                      <a:r>
                        <a:rPr sz="2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54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6250" algn="l" rtl="0" eaLnBrk="0">
                        <a:lnSpc>
                          <a:spcPts val="3116"/>
                        </a:lnSpc>
                        <a:tabLst/>
                      </a:pPr>
                      <a:r>
                        <a:rPr sz="2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54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7500" algn="l" rtl="0" eaLnBrk="0">
                        <a:lnSpc>
                          <a:spcPts val="3116"/>
                        </a:lnSpc>
                        <a:tabLst/>
                      </a:pPr>
                      <a:r>
                        <a:rPr sz="2500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358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54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2600" algn="l" rtl="0" eaLnBrk="0">
                        <a:lnSpc>
                          <a:spcPts val="3116"/>
                        </a:lnSpc>
                        <a:tabLst/>
                      </a:pPr>
                      <a:r>
                        <a:rPr sz="2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15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43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8790" algn="l" rtl="0" eaLnBrk="0">
                        <a:lnSpc>
                          <a:spcPts val="3116"/>
                        </a:lnSpc>
                        <a:tabLst/>
                      </a:pPr>
                      <a:r>
                        <a:rPr sz="2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43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6250" algn="l" rtl="0" eaLnBrk="0">
                        <a:lnSpc>
                          <a:spcPts val="3116"/>
                        </a:lnSpc>
                        <a:tabLst/>
                      </a:pPr>
                      <a:r>
                        <a:rPr sz="2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43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6250" algn="l" rtl="0" eaLnBrk="0">
                        <a:lnSpc>
                          <a:spcPts val="3116"/>
                        </a:lnSpc>
                        <a:tabLst/>
                      </a:pPr>
                      <a:r>
                        <a:rPr sz="2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43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3215" algn="l" rtl="0" eaLnBrk="0">
                        <a:lnSpc>
                          <a:spcPts val="3116"/>
                        </a:lnSpc>
                        <a:tabLst/>
                      </a:pPr>
                      <a:r>
                        <a:rPr sz="2500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387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0" name="textbox 150"/>
          <p:cNvSpPr/>
          <p:nvPr/>
        </p:nvSpPr>
        <p:spPr>
          <a:xfrm>
            <a:off x="920825" y="883560"/>
            <a:ext cx="14614525" cy="8616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7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57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证据一：</a:t>
            </a:r>
            <a:r>
              <a:rPr sz="5700" b="1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混淆矩阵揭示</a:t>
            </a:r>
            <a:r>
              <a:rPr sz="57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SVM</a:t>
            </a:r>
            <a:r>
              <a:rPr sz="5700" kern="0" spc="12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5700" b="1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的“中间塌陷”</a:t>
            </a:r>
            <a:endParaRPr sz="5700" dirty="0">
              <a:latin typeface="SimHei"/>
              <a:ea typeface="SimHei"/>
              <a:cs typeface="SimHei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12604743" y="8183840"/>
            <a:ext cx="3475990" cy="465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6000"/>
              </a:lnSpc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                        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    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3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996314" algn="l" rtl="0" eaLnBrk="0">
              <a:lnSpc>
                <a:spcPts val="2350"/>
              </a:lnSpc>
              <a:tabLst/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Predicted</a:t>
            </a:r>
            <a:r>
              <a:rPr sz="1700" kern="0" spc="3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Label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sp>
        <p:nvSpPr>
          <p:cNvPr id="154" name="textbox 154"/>
          <p:cNvSpPr/>
          <p:nvPr/>
        </p:nvSpPr>
        <p:spPr>
          <a:xfrm>
            <a:off x="12394048" y="2591263"/>
            <a:ext cx="3996054" cy="4394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800" b="1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随机森林</a:t>
            </a:r>
            <a:r>
              <a:rPr sz="28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8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(RF)</a:t>
            </a:r>
            <a:r>
              <a:rPr sz="2800" kern="0" spc="10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800" b="1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混淆矩阵</a:t>
            </a:r>
            <a:endParaRPr sz="2800" dirty="0">
              <a:latin typeface="SimHei"/>
              <a:ea typeface="SimHei"/>
              <a:cs typeface="SimHei"/>
            </a:endParaRPr>
          </a:p>
        </p:txBody>
      </p:sp>
      <p:sp>
        <p:nvSpPr>
          <p:cNvPr id="156" name="textbox 156"/>
          <p:cNvSpPr/>
          <p:nvPr/>
        </p:nvSpPr>
        <p:spPr>
          <a:xfrm>
            <a:off x="11830069" y="3818552"/>
            <a:ext cx="316865" cy="37452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115" algn="l" rtl="0" eaLnBrk="0">
              <a:lnSpc>
                <a:spcPts val="2792"/>
              </a:lnSpc>
              <a:tabLst/>
            </a:pPr>
            <a:r>
              <a:rPr sz="22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0-</a:t>
            </a:r>
            <a:endParaRPr sz="2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ts val="1630"/>
              </a:lnSpc>
              <a:spcBef>
                <a:spcPts val="397"/>
              </a:spcBef>
              <a:tabLst/>
            </a:pP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</a:t>
            </a:r>
            <a:r>
              <a:rPr sz="1300" kern="0" spc="-1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·</a:t>
            </a:r>
            <a:endParaRPr sz="13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630"/>
              </a:lnSpc>
              <a:spcBef>
                <a:spcPts val="398"/>
              </a:spcBef>
              <a:tabLst/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</a:t>
            </a:r>
            <a:r>
              <a:rPr sz="1300" kern="0" spc="-1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·</a:t>
            </a:r>
            <a:endParaRPr sz="13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620"/>
              </a:lnSpc>
              <a:spcBef>
                <a:spcPts val="1"/>
              </a:spcBef>
              <a:tabLst/>
            </a:pP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</a:t>
            </a:r>
            <a:r>
              <a:rPr sz="1300" kern="0" spc="-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·</a:t>
            </a:r>
            <a:endParaRPr sz="1300" dirty="0">
              <a:latin typeface="SimSun"/>
              <a:ea typeface="SimSun"/>
              <a:cs typeface="SimSun"/>
            </a:endParaRPr>
          </a:p>
        </p:txBody>
      </p:sp>
      <p:sp>
        <p:nvSpPr>
          <p:cNvPr id="158" name="textbox 158"/>
          <p:cNvSpPr/>
          <p:nvPr/>
        </p:nvSpPr>
        <p:spPr>
          <a:xfrm rot="16200000">
            <a:off x="11092536" y="5491897"/>
            <a:ext cx="1094739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497"/>
              </a:lnSpc>
              <a:tabLst/>
            </a:pPr>
            <a:r>
              <a:rPr sz="1800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True Label</a:t>
            </a:r>
            <a:endParaRPr sz="1800" dirty="0">
              <a:latin typeface="SimSun"/>
              <a:ea typeface="SimSun"/>
              <a:cs typeface="SimSun"/>
            </a:endParaRPr>
          </a:p>
        </p:txBody>
      </p:sp>
      <p:sp>
        <p:nvSpPr>
          <p:cNvPr id="160" name="textbox 160"/>
          <p:cNvSpPr/>
          <p:nvPr/>
        </p:nvSpPr>
        <p:spPr>
          <a:xfrm rot="16200000">
            <a:off x="5609809" y="5504518"/>
            <a:ext cx="1101089" cy="323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347"/>
              </a:lnSpc>
              <a:tabLst/>
            </a:pPr>
            <a:r>
              <a:rPr sz="1800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True Label</a:t>
            </a:r>
            <a:endParaRPr sz="1800" dirty="0">
              <a:latin typeface="SimSun"/>
              <a:ea typeface="SimSun"/>
              <a:cs typeface="SimSun"/>
            </a:endParaRPr>
          </a:p>
        </p:txBody>
      </p:sp>
      <p:sp>
        <p:nvSpPr>
          <p:cNvPr id="162" name="textbox 162"/>
          <p:cNvSpPr/>
          <p:nvPr/>
        </p:nvSpPr>
        <p:spPr>
          <a:xfrm>
            <a:off x="16097336" y="9471665"/>
            <a:ext cx="1263650" cy="2019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5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4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NotebookL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14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picture 1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166" name="textbox 166"/>
          <p:cNvSpPr/>
          <p:nvPr/>
        </p:nvSpPr>
        <p:spPr>
          <a:xfrm>
            <a:off x="997016" y="2697265"/>
            <a:ext cx="6707505" cy="6127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9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97000"/>
              </a:lnSpc>
              <a:tabLst/>
            </a:pPr>
            <a:r>
              <a:rPr sz="3400" b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量化分析</a:t>
            </a:r>
            <a:endParaRPr sz="3400" dirty="0">
              <a:latin typeface="SimHei"/>
              <a:ea typeface="SimHei"/>
              <a:cs typeface="SimHei"/>
            </a:endParaRPr>
          </a:p>
          <a:p>
            <a:pPr marL="278765" indent="-266065" algn="l" rtl="0" eaLnBrk="0">
              <a:lnSpc>
                <a:spcPct val="122000"/>
              </a:lnSpc>
              <a:spcBef>
                <a:spcPts val="1286"/>
              </a:spcBef>
              <a:tabLst/>
            </a:pPr>
            <a:r>
              <a:rPr sz="26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-</a:t>
            </a:r>
            <a:r>
              <a:rPr sz="2600" kern="0" spc="-4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600" b="1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随机森林：</a:t>
            </a:r>
            <a:r>
              <a:rPr sz="26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所有四个类别的</a:t>
            </a: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ROC</a:t>
            </a:r>
            <a:r>
              <a:rPr sz="2600" kern="0" spc="7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6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曲线都紧</a:t>
            </a: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26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贴左上角，</a:t>
            </a: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AUC</a:t>
            </a:r>
            <a:r>
              <a:rPr sz="2600" kern="0" spc="2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26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(曲线下面</a:t>
            </a:r>
            <a:r>
              <a:rPr sz="26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积)值接近完</a:t>
            </a: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26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美的1.0,表明模型对所有类别都有极高的</a:t>
            </a:r>
            <a:r>
              <a:rPr sz="2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2300" kern="0" spc="2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预测置信度。</a:t>
            </a:r>
            <a:endParaRPr sz="2300" dirty="0">
              <a:latin typeface="SimHei"/>
              <a:ea typeface="SimHei"/>
              <a:cs typeface="SimHei"/>
            </a:endParaRPr>
          </a:p>
          <a:p>
            <a:pPr marL="278765" indent="-261620" algn="l" rtl="0" eaLnBrk="0">
              <a:lnSpc>
                <a:spcPct val="118000"/>
              </a:lnSpc>
              <a:spcBef>
                <a:spcPts val="948"/>
              </a:spcBef>
              <a:tabLst/>
            </a:pPr>
            <a:r>
              <a:rPr sz="2600" b="1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-支持向量机：</a:t>
            </a:r>
            <a:r>
              <a:rPr sz="2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类别0和3的曲线表现尚可，但</a:t>
            </a:r>
            <a:r>
              <a:rPr sz="26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600" b="1" kern="0" spc="80" dirty="0">
                <a:solidFill>
                  <a:srgbClr val="902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类别1和2的曲线明显塌陷</a:t>
            </a:r>
            <a:r>
              <a:rPr sz="2600" b="1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</a:t>
            </a:r>
            <a:r>
              <a:rPr sz="2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更接近随机猜</a:t>
            </a:r>
            <a:r>
              <a:rPr sz="2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2600" kern="0" spc="2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测线(对角线),</a:t>
            </a: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AUC</a:t>
            </a:r>
            <a:r>
              <a:rPr sz="2600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kern="0" spc="2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值显著更低。</a:t>
            </a:r>
            <a:endParaRPr sz="2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99000"/>
              </a:lnSpc>
              <a:spcBef>
                <a:spcPts val="1025"/>
              </a:spcBef>
              <a:tabLst/>
            </a:pPr>
            <a:r>
              <a:rPr sz="3400" b="1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结论</a:t>
            </a:r>
            <a:endParaRPr sz="3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46000"/>
              </a:lnSpc>
              <a:spcBef>
                <a:spcPts val="127"/>
              </a:spcBef>
              <a:tabLst/>
            </a:pPr>
            <a:r>
              <a:rPr sz="2300" kern="0" spc="3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这证实了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SVM</a:t>
            </a:r>
            <a:r>
              <a:rPr sz="2300" kern="0" spc="8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300" kern="0" spc="3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在区分中间价格等</a:t>
            </a:r>
            <a:r>
              <a:rPr sz="2300" kern="0" spc="3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级时，其预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2300" kern="0" spc="2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测能力大打折扣。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sp>
        <p:nvSpPr>
          <p:cNvPr id="168" name="textbox 168"/>
          <p:cNvSpPr/>
          <p:nvPr/>
        </p:nvSpPr>
        <p:spPr>
          <a:xfrm rot="16200000">
            <a:off x="7318363" y="5186619"/>
            <a:ext cx="2422525" cy="374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747"/>
              </a:lnSpc>
              <a:tabLst/>
            </a:pPr>
            <a:r>
              <a:rPr sz="22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True Positive </a:t>
            </a:r>
            <a:r>
              <a:rPr sz="2200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Rate</a:t>
            </a:r>
            <a:endParaRPr sz="2200" dirty="0">
              <a:latin typeface="SimSun"/>
              <a:ea typeface="SimSun"/>
              <a:cs typeface="SimSun"/>
            </a:endParaRPr>
          </a:p>
        </p:txBody>
      </p:sp>
      <p:sp>
        <p:nvSpPr>
          <p:cNvPr id="170" name="textbox 170"/>
          <p:cNvSpPr/>
          <p:nvPr/>
        </p:nvSpPr>
        <p:spPr>
          <a:xfrm>
            <a:off x="8674046" y="2409883"/>
            <a:ext cx="4718684" cy="6378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61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42110" algn="l" rtl="0" eaLnBrk="0">
              <a:lnSpc>
                <a:spcPct val="97000"/>
              </a:lnSpc>
              <a:tabLst/>
            </a:pPr>
            <a:r>
              <a:rPr sz="2300" b="1" kern="0" spc="2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多类别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ROC</a:t>
            </a:r>
            <a:r>
              <a:rPr sz="2300" kern="0" spc="8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300" b="1" kern="0" spc="2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曲线对比</a:t>
            </a:r>
            <a:endParaRPr sz="2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78000"/>
              </a:lnSpc>
              <a:spcBef>
                <a:spcPts val="1475"/>
              </a:spcBef>
              <a:tabLst/>
            </a:pPr>
            <a:r>
              <a:rPr sz="2300" kern="0" spc="-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1.0</a:t>
            </a:r>
            <a:endParaRPr sz="23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spcBef>
                <a:spcPts val="549"/>
              </a:spcBef>
              <a:tabLst/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0.8</a:t>
            </a:r>
            <a:endParaRPr sz="18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695"/>
              </a:spcBef>
              <a:tabLst/>
            </a:pP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0.6</a:t>
            </a:r>
            <a:r>
              <a:rPr sz="2300" kern="0" spc="-3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·</a:t>
            </a:r>
            <a:endParaRPr sz="23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7000"/>
              </a:lnSpc>
              <a:spcBef>
                <a:spcPts val="573"/>
              </a:spcBef>
              <a:tabLst/>
            </a:pP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0.2</a:t>
            </a:r>
            <a:endParaRPr sz="19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692"/>
              </a:spcBef>
              <a:tabLst/>
            </a:pP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0.0</a:t>
            </a:r>
            <a:endParaRPr sz="23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ts val="1692"/>
              </a:lnSpc>
              <a:spcBef>
                <a:spcPts val="1387"/>
              </a:spcBef>
              <a:tabLst/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0.0</a:t>
            </a: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0.2            0.4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0.6</a:t>
            </a: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0.8</a:t>
            </a:r>
            <a:endParaRPr sz="2300" dirty="0">
              <a:latin typeface="Times New Roman"/>
              <a:ea typeface="Times New Roman"/>
              <a:cs typeface="Times New Roman"/>
            </a:endParaRPr>
          </a:p>
          <a:p>
            <a:pPr marL="1981200" algn="l" rtl="0" eaLnBrk="0">
              <a:lnSpc>
                <a:spcPts val="2499"/>
              </a:lnSpc>
              <a:tabLst/>
            </a:pP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False  Pos</a:t>
            </a:r>
            <a:r>
              <a:rPr sz="19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itive  Rate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172" name="textbox 172"/>
          <p:cNvSpPr/>
          <p:nvPr/>
        </p:nvSpPr>
        <p:spPr>
          <a:xfrm>
            <a:off x="1008367" y="795880"/>
            <a:ext cx="11428094" cy="9283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27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6200" b="1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证据二：</a:t>
            </a:r>
            <a:r>
              <a:rPr sz="62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ROC</a:t>
            </a:r>
            <a:r>
              <a:rPr sz="6200" kern="0" spc="13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6200" b="1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曲线下的无声证词</a:t>
            </a:r>
            <a:endParaRPr sz="6200" dirty="0">
              <a:latin typeface="SimHei"/>
              <a:ea typeface="SimHei"/>
              <a:cs typeface="SimHei"/>
            </a:endParaRPr>
          </a:p>
        </p:txBody>
      </p:sp>
      <p:sp>
        <p:nvSpPr>
          <p:cNvPr id="174" name="textbox 174"/>
          <p:cNvSpPr/>
          <p:nvPr/>
        </p:nvSpPr>
        <p:spPr>
          <a:xfrm>
            <a:off x="15163810" y="4179951"/>
            <a:ext cx="1283969" cy="27451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3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RF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类别0</a:t>
            </a:r>
            <a:endParaRPr sz="1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234"/>
              </a:spcBef>
              <a:tabLst/>
            </a:pPr>
            <a:r>
              <a:rPr sz="19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RF:</a:t>
            </a:r>
            <a:r>
              <a:rPr sz="19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类</a:t>
            </a:r>
            <a:r>
              <a:rPr sz="1900" kern="0" spc="-4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9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别</a:t>
            </a:r>
            <a:r>
              <a:rPr sz="1900" kern="0" spc="-3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9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1</a:t>
            </a:r>
            <a:endParaRPr sz="1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234"/>
              </a:spcBef>
              <a:tabLst/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RF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: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类别2</a:t>
            </a:r>
            <a:endParaRPr sz="1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184"/>
              </a:spcBef>
              <a:tabLst/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RF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: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类别3</a:t>
            </a:r>
            <a:endParaRPr sz="1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234"/>
              </a:spcBef>
              <a:tabLst/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SVM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:</a:t>
            </a:r>
            <a:r>
              <a:rPr sz="1900" kern="0" spc="-2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类别0</a:t>
            </a:r>
            <a:endParaRPr sz="1900" dirty="0">
              <a:latin typeface="SimHei"/>
              <a:ea typeface="SimHei"/>
              <a:cs typeface="SimHei"/>
            </a:endParaRPr>
          </a:p>
          <a:p>
            <a:pPr marL="15875" algn="l" rtl="0" eaLnBrk="0">
              <a:lnSpc>
                <a:spcPct val="95000"/>
              </a:lnSpc>
              <a:spcBef>
                <a:spcPts val="257"/>
              </a:spcBef>
              <a:tabLst/>
            </a:pPr>
            <a:r>
              <a:rPr sz="1900" b="1" kern="0" spc="0" dirty="0">
                <a:solidFill>
                  <a:srgbClr val="50203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SVM</a:t>
            </a:r>
            <a:r>
              <a:rPr sz="1900" kern="0" spc="50" dirty="0">
                <a:solidFill>
                  <a:srgbClr val="50203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900" b="1" kern="0" spc="50" dirty="0">
                <a:solidFill>
                  <a:srgbClr val="502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:类别1</a:t>
            </a:r>
            <a:endParaRPr sz="1900" dirty="0">
              <a:latin typeface="SimHei"/>
              <a:ea typeface="SimHei"/>
              <a:cs typeface="SimHei"/>
            </a:endParaRPr>
          </a:p>
          <a:p>
            <a:pPr marL="15875" algn="l" rtl="0" eaLnBrk="0">
              <a:lnSpc>
                <a:spcPct val="95000"/>
              </a:lnSpc>
              <a:spcBef>
                <a:spcPts val="234"/>
              </a:spcBef>
              <a:tabLst/>
            </a:pPr>
            <a:r>
              <a:rPr sz="1900" b="1" kern="0" spc="0" dirty="0">
                <a:solidFill>
                  <a:srgbClr val="60202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SVM</a:t>
            </a:r>
            <a:r>
              <a:rPr sz="1900" kern="0" spc="-40" dirty="0">
                <a:solidFill>
                  <a:srgbClr val="60202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900" b="1" kern="0" spc="10" dirty="0">
                <a:solidFill>
                  <a:srgbClr val="602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:类别2</a:t>
            </a:r>
            <a:endParaRPr sz="1900" dirty="0">
              <a:latin typeface="SimHei"/>
              <a:ea typeface="SimHei"/>
              <a:cs typeface="SimHei"/>
            </a:endParaRPr>
          </a:p>
          <a:p>
            <a:pPr marL="15875" algn="l" rtl="0" eaLnBrk="0">
              <a:lnSpc>
                <a:spcPct val="106000"/>
              </a:lnSpc>
              <a:spcBef>
                <a:spcPts val="32"/>
              </a:spcBef>
              <a:tabLst/>
            </a:pPr>
            <a:r>
              <a:rPr sz="19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SVM</a:t>
            </a:r>
            <a:r>
              <a:rPr sz="1900" b="1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:</a:t>
            </a:r>
            <a:r>
              <a:rPr sz="1900" kern="0" spc="-2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900" b="1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类别3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900" b="1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陷机祷测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176" name="textbox 176"/>
          <p:cNvSpPr/>
          <p:nvPr/>
        </p:nvSpPr>
        <p:spPr>
          <a:xfrm>
            <a:off x="14001709" y="6732721"/>
            <a:ext cx="922655" cy="1804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17"/>
              </a:lnSpc>
              <a:tabLst/>
            </a:pP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---</a:t>
            </a:r>
            <a:endParaRPr sz="1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6"/>
              </a:spcBef>
              <a:tabLst/>
            </a:pPr>
            <a:r>
              <a:rPr sz="2300" kern="0" spc="-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1.0</a:t>
            </a:r>
            <a:endParaRPr sz="23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8" name="textbox 178"/>
          <p:cNvSpPr/>
          <p:nvPr/>
        </p:nvSpPr>
        <p:spPr>
          <a:xfrm>
            <a:off x="16097336" y="9482691"/>
            <a:ext cx="1278889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7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4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Notebook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LM</a:t>
            </a:r>
            <a:endParaRPr sz="14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picture 1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182" name="textbox 182"/>
          <p:cNvSpPr/>
          <p:nvPr/>
        </p:nvSpPr>
        <p:spPr>
          <a:xfrm>
            <a:off x="939873" y="5559535"/>
            <a:ext cx="8020050" cy="26168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97000"/>
              </a:lnSpc>
              <a:tabLst/>
            </a:pPr>
            <a:r>
              <a:rPr sz="3300" b="1" kern="0" spc="20" dirty="0">
                <a:solidFill>
                  <a:srgbClr val="804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几何困境</a:t>
            </a:r>
            <a:endParaRPr sz="3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5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725"/>
              </a:spcBef>
              <a:tabLst/>
            </a:pPr>
            <a:r>
              <a:rPr sz="2400" kern="0" spc="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负样本集合{0,2,3}在特征空间中是</a:t>
            </a:r>
            <a:r>
              <a:rPr sz="2400" kern="0" spc="180" dirty="0">
                <a:solidFill>
                  <a:srgbClr val="A03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非</a:t>
            </a:r>
            <a:r>
              <a:rPr sz="2400" kern="0" spc="-350" dirty="0">
                <a:solidFill>
                  <a:srgbClr val="A03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400" kern="0" spc="180" dirty="0">
                <a:solidFill>
                  <a:srgbClr val="A03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凸</a:t>
            </a:r>
            <a:r>
              <a:rPr sz="2400" kern="0" spc="-330" dirty="0">
                <a:solidFill>
                  <a:srgbClr val="A03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400" kern="0" spc="180" dirty="0">
                <a:solidFill>
                  <a:srgbClr val="A03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</a:t>
            </a:r>
            <a:r>
              <a:rPr sz="2400" kern="0" spc="-310" dirty="0">
                <a:solidFill>
                  <a:srgbClr val="A03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400" kern="0" spc="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</a:t>
            </a:r>
            <a:r>
              <a:rPr sz="2400" kern="0" spc="-3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400" kern="0" spc="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不</a:t>
            </a:r>
            <a:r>
              <a:rPr sz="2400" kern="0" spc="-4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400" kern="0" spc="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连</a:t>
            </a:r>
            <a:endParaRPr sz="2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402"/>
              </a:spcBef>
              <a:tabLst/>
            </a:pPr>
            <a:r>
              <a:rPr sz="2600" kern="0" spc="2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续的)。</a:t>
            </a:r>
            <a:r>
              <a:rPr sz="2600" kern="0" spc="-2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600" kern="0" spc="2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一个线性超</a:t>
            </a:r>
            <a:r>
              <a:rPr sz="2600" kern="0" spc="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平面(就像一把直刀)无法在</a:t>
            </a:r>
            <a:endParaRPr sz="2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86000"/>
              </a:lnSpc>
              <a:spcBef>
                <a:spcPts val="1005"/>
              </a:spcBef>
              <a:tabLst/>
            </a:pPr>
            <a:r>
              <a:rPr sz="2600" kern="0" spc="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一次切割中，将处于中间</a:t>
            </a:r>
            <a:r>
              <a:rPr sz="2600" kern="0" spc="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的类别1(馅料)从两边的类</a:t>
            </a:r>
            <a:endParaRPr sz="2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4164"/>
              </a:lnSpc>
              <a:tabLst/>
            </a:pPr>
            <a:r>
              <a:rPr sz="2600" kern="0" spc="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别0和2(面包)中完整地分离出来。</a:t>
            </a:r>
            <a:endParaRPr sz="2600" dirty="0">
              <a:latin typeface="SimHei"/>
              <a:ea typeface="SimHei"/>
              <a:cs typeface="SimHei"/>
            </a:endParaRPr>
          </a:p>
        </p:txBody>
      </p:sp>
      <p:sp>
        <p:nvSpPr>
          <p:cNvPr id="184" name="textbox 184"/>
          <p:cNvSpPr/>
          <p:nvPr/>
        </p:nvSpPr>
        <p:spPr>
          <a:xfrm>
            <a:off x="939873" y="2528951"/>
            <a:ext cx="8325484" cy="2148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34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97000"/>
              </a:lnSpc>
              <a:tabLst/>
            </a:pPr>
            <a:r>
              <a:rPr sz="3300" b="1" kern="0" spc="0" dirty="0">
                <a:solidFill>
                  <a:srgbClr val="703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理论根源</a:t>
            </a:r>
            <a:endParaRPr sz="3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1786"/>
              </a:spcBef>
              <a:tabLst/>
            </a:pPr>
            <a:r>
              <a:rPr sz="2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价格等级沿</a:t>
            </a: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RAM</a:t>
            </a:r>
            <a:r>
              <a:rPr sz="2600" kern="0" spc="2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600" kern="0" spc="3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轴线性排列(0-&gt;1-&gt;</a:t>
            </a:r>
            <a:r>
              <a:rPr sz="2600" kern="0" spc="3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2-&gt;3)。当</a:t>
            </a:r>
            <a:endParaRPr sz="2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86000"/>
              </a:lnSpc>
              <a:spcBef>
                <a:spcPts val="1405"/>
              </a:spcBef>
              <a:tabLst/>
            </a:pP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SVM</a:t>
            </a:r>
            <a:r>
              <a:rPr sz="26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采用</a:t>
            </a:r>
            <a:r>
              <a:rPr sz="2600" kern="0" spc="0" dirty="0">
                <a:solidFill>
                  <a:srgbClr val="B03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One</a:t>
            </a:r>
            <a:r>
              <a:rPr sz="2600" kern="0" spc="50" dirty="0">
                <a:solidFill>
                  <a:srgbClr val="B03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2600" kern="0" spc="0" dirty="0">
                <a:solidFill>
                  <a:srgbClr val="B03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vs</a:t>
            </a:r>
            <a:r>
              <a:rPr sz="2600" kern="0" spc="50" dirty="0">
                <a:solidFill>
                  <a:srgbClr val="B03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2600" kern="0" spc="0" dirty="0">
                <a:solidFill>
                  <a:srgbClr val="B03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Rest</a:t>
            </a:r>
            <a:r>
              <a:rPr sz="2600" kern="0" spc="510" dirty="0">
                <a:solidFill>
                  <a:srgbClr val="B03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策略识别类别1时，它面临的任务</a:t>
            </a:r>
            <a:endParaRPr sz="2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4013"/>
              </a:lnSpc>
              <a:tabLst/>
            </a:pPr>
            <a:r>
              <a:rPr sz="2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是：将正样本{1}与负样本集合{0,</a:t>
            </a:r>
            <a:r>
              <a:rPr sz="2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2,3}分开。</a:t>
            </a:r>
            <a:endParaRPr sz="2600" dirty="0">
              <a:latin typeface="SimHei"/>
              <a:ea typeface="SimHei"/>
              <a:cs typeface="SimHei"/>
            </a:endParaRPr>
          </a:p>
        </p:txBody>
      </p:sp>
      <p:sp>
        <p:nvSpPr>
          <p:cNvPr id="186" name="textbox 186"/>
          <p:cNvSpPr/>
          <p:nvPr/>
        </p:nvSpPr>
        <p:spPr>
          <a:xfrm>
            <a:off x="11446985" y="5587372"/>
            <a:ext cx="4687570" cy="2792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7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100" algn="l" rtl="0" eaLnBrk="0">
              <a:lnSpc>
                <a:spcPct val="95000"/>
              </a:lnSpc>
              <a:tabLst/>
            </a:pPr>
            <a:r>
              <a:rPr sz="2400" b="1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“三明治效应”直观</a:t>
            </a:r>
            <a:r>
              <a:rPr sz="2400" b="1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演示</a:t>
            </a:r>
            <a:endParaRPr sz="2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596004" algn="l" rtl="0" eaLnBrk="0">
              <a:lnSpc>
                <a:spcPts val="2725"/>
              </a:lnSpc>
              <a:spcBef>
                <a:spcPts val="608"/>
              </a:spcBef>
              <a:tabLst/>
            </a:pPr>
            <a:r>
              <a:rPr sz="2000" kern="0" spc="-40" dirty="0">
                <a:solidFill>
                  <a:srgbClr val="603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←</a:t>
            </a:r>
            <a:r>
              <a:rPr sz="2000" kern="0" spc="50" dirty="0">
                <a:solidFill>
                  <a:srgbClr val="603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bread</a:t>
            </a:r>
            <a:endParaRPr sz="2000" dirty="0">
              <a:latin typeface="Arial"/>
              <a:ea typeface="Arial"/>
              <a:cs typeface="Arial"/>
            </a:endParaRPr>
          </a:p>
          <a:p>
            <a:pPr marL="3596004" algn="l" rtl="0" eaLnBrk="0">
              <a:lnSpc>
                <a:spcPct val="177000"/>
              </a:lnSpc>
              <a:spcBef>
                <a:spcPts val="12"/>
              </a:spcBef>
              <a:tabLst/>
            </a:pPr>
            <a:r>
              <a:rPr sz="1600" kern="0" spc="-10" baseline="9766" dirty="0">
                <a:solidFill>
                  <a:srgbClr val="80202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←</a:t>
            </a:r>
            <a:r>
              <a:rPr sz="1000" kern="0" spc="-10" dirty="0">
                <a:solidFill>
                  <a:srgbClr val="80202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filling</a:t>
            </a:r>
            <a:r>
              <a:rPr sz="24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40" dirty="0">
                <a:solidFill>
                  <a:srgbClr val="703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←</a:t>
            </a:r>
            <a:r>
              <a:rPr sz="2000" kern="0" spc="560" dirty="0">
                <a:solidFill>
                  <a:srgbClr val="703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bread</a:t>
            </a:r>
            <a:endParaRPr sz="2000" dirty="0">
              <a:latin typeface="Arial"/>
              <a:ea typeface="Arial"/>
              <a:cs typeface="Arial"/>
            </a:endParaRPr>
          </a:p>
        </p:txBody>
      </p:sp>
      <p:sp>
        <p:nvSpPr>
          <p:cNvPr id="188" name="textbox 188"/>
          <p:cNvSpPr/>
          <p:nvPr/>
        </p:nvSpPr>
        <p:spPr>
          <a:xfrm>
            <a:off x="11048085" y="2442431"/>
            <a:ext cx="5142865" cy="23799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30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RAM</a:t>
            </a:r>
            <a:r>
              <a:rPr sz="3000" kern="0" spc="7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0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轴线性排列的几何挑战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971"/>
              </a:lnSpc>
              <a:spcBef>
                <a:spcPts val="2"/>
              </a:spcBef>
              <a:tabLst/>
            </a:pPr>
            <a:r>
              <a:rPr sz="2500" kern="0" spc="-20" baseline="9135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 </a:t>
            </a:r>
            <a:r>
              <a:rPr sz="2500" kern="0" spc="-20" baseline="4967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</a:t>
            </a:r>
            <a:r>
              <a:rPr sz="2500" kern="0" spc="-20" baseline="9135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</a:t>
            </a: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</a:t>
            </a:r>
            <a:r>
              <a:rPr sz="2500" kern="0" spc="-30" baseline="9135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2500" kern="0" spc="-30" baseline="-7533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RAM</a:t>
            </a:r>
            <a:endParaRPr sz="2500" baseline="-7533" dirty="0">
              <a:latin typeface="Arial"/>
              <a:ea typeface="Arial"/>
              <a:cs typeface="Arial"/>
            </a:endParaRPr>
          </a:p>
        </p:txBody>
      </p:sp>
      <p:sp>
        <p:nvSpPr>
          <p:cNvPr id="190" name="textbox 190"/>
          <p:cNvSpPr/>
          <p:nvPr/>
        </p:nvSpPr>
        <p:spPr>
          <a:xfrm>
            <a:off x="911220" y="1015699"/>
            <a:ext cx="10620375" cy="7823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5200" b="1" kern="0" spc="70" dirty="0">
                <a:solidFill>
                  <a:srgbClr val="B02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破案时刻：</a:t>
            </a:r>
            <a:r>
              <a:rPr sz="5200" kern="0" spc="-1220" dirty="0">
                <a:solidFill>
                  <a:srgbClr val="B02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200" b="1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致命的“三明治效应”</a:t>
            </a:r>
            <a:endParaRPr sz="5200" dirty="0">
              <a:latin typeface="SimHei"/>
              <a:ea typeface="SimHei"/>
              <a:cs typeface="SimHei"/>
            </a:endParaRPr>
          </a:p>
        </p:txBody>
      </p:sp>
      <p:sp>
        <p:nvSpPr>
          <p:cNvPr id="192" name="textbox 192"/>
          <p:cNvSpPr/>
          <p:nvPr/>
        </p:nvSpPr>
        <p:spPr>
          <a:xfrm>
            <a:off x="10483778" y="7296745"/>
            <a:ext cx="716915" cy="441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271"/>
              </a:lnSpc>
              <a:tabLst/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filling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194" name="textbox 194"/>
          <p:cNvSpPr/>
          <p:nvPr/>
        </p:nvSpPr>
        <p:spPr>
          <a:xfrm>
            <a:off x="16097336" y="9476351"/>
            <a:ext cx="1278889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7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4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Notebook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LM</a:t>
            </a:r>
            <a:endParaRPr sz="14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picture 1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198" name="textbox 198"/>
          <p:cNvSpPr/>
          <p:nvPr/>
        </p:nvSpPr>
        <p:spPr>
          <a:xfrm>
            <a:off x="927116" y="2616145"/>
            <a:ext cx="7855584" cy="5309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5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98000"/>
              </a:lnSpc>
              <a:tabLst/>
            </a:pPr>
            <a:r>
              <a:rPr sz="3300" b="1" kern="0" spc="90" dirty="0">
                <a:solidFill>
                  <a:srgbClr val="703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随机森林的优势</a:t>
            </a:r>
            <a:endParaRPr sz="3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36000"/>
              </a:lnSpc>
              <a:spcBef>
                <a:spcPts val="84"/>
              </a:spcBef>
              <a:tabLst/>
            </a:pPr>
            <a:r>
              <a:rPr sz="2700" kern="0" spc="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随机森林的基学习器(决策树)不依赖单一的全局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超平面。它通过一系列</a:t>
            </a:r>
            <a:r>
              <a:rPr sz="2700" kern="0" spc="90" dirty="0">
                <a:solidFill>
                  <a:srgbClr val="903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正交</a:t>
            </a:r>
            <a:r>
              <a:rPr sz="2700" kern="0" spc="80" dirty="0">
                <a:solidFill>
                  <a:srgbClr val="903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切割</a:t>
            </a:r>
            <a:r>
              <a:rPr sz="2700" kern="0" spc="-400" dirty="0">
                <a:solidFill>
                  <a:srgbClr val="903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Orthogonal</a:t>
            </a:r>
            <a:endParaRPr sz="27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89000"/>
              </a:lnSpc>
              <a:spcBef>
                <a:spcPts val="701"/>
              </a:spcBef>
              <a:tabLst/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Splits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sz="2700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来划分特征空间，生成类似</a:t>
            </a:r>
            <a:r>
              <a:rPr sz="2700" kern="0" spc="-4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RAM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&gt;X)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endParaRPr sz="27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ts val="4090"/>
              </a:lnSpc>
              <a:tabLst/>
            </a:pPr>
            <a:r>
              <a:rPr sz="2700" kern="0" spc="-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(RAM&lt;Y)`</a:t>
            </a:r>
            <a:r>
              <a:rPr sz="2700" kern="0" spc="3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2700" kern="0" spc="-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的规则</a:t>
            </a:r>
            <a:r>
              <a:rPr sz="2700" kern="0" spc="-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  <a:endParaRPr sz="2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97000"/>
              </a:lnSpc>
              <a:spcBef>
                <a:spcPts val="995"/>
              </a:spcBef>
              <a:tabLst/>
            </a:pPr>
            <a:r>
              <a:rPr sz="3300" b="1" kern="0" spc="90" dirty="0">
                <a:solidFill>
                  <a:srgbClr val="702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解决方案</a:t>
            </a:r>
            <a:endParaRPr sz="3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85000"/>
              </a:lnSpc>
              <a:spcBef>
                <a:spcPts val="1666"/>
              </a:spcBef>
              <a:tabLst/>
            </a:pP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这相当于在特征轴上进行</a:t>
            </a:r>
            <a:r>
              <a:rPr sz="2700" kern="0" spc="70" dirty="0">
                <a:solidFill>
                  <a:srgbClr val="902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两次或多次切割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可以</a:t>
            </a:r>
            <a:endParaRPr sz="27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20000"/>
              </a:lnSpc>
              <a:spcBef>
                <a:spcPts val="61"/>
              </a:spcBef>
              <a:tabLst/>
            </a:pPr>
            <a:r>
              <a:rPr sz="2700" kern="0" spc="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轻松地构建一个能完美包围中间类</a:t>
            </a:r>
            <a:r>
              <a:rPr sz="2700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别(如类别1)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的超矩形区域，精准地将“馅料”提取出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来。</a:t>
            </a:r>
            <a:endParaRPr sz="2700" dirty="0">
              <a:latin typeface="SimHei"/>
              <a:ea typeface="SimHei"/>
              <a:cs typeface="SimHei"/>
            </a:endParaRPr>
          </a:p>
        </p:txBody>
      </p:sp>
      <p:sp>
        <p:nvSpPr>
          <p:cNvPr id="200" name="textbox 200"/>
          <p:cNvSpPr/>
          <p:nvPr/>
        </p:nvSpPr>
        <p:spPr>
          <a:xfrm>
            <a:off x="11066587" y="5867089"/>
            <a:ext cx="4518025" cy="269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7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4769" algn="l" rtl="0" eaLnBrk="0">
              <a:lnSpc>
                <a:spcPct val="79000"/>
              </a:lnSpc>
              <a:tabLst/>
            </a:pPr>
            <a:r>
              <a:rPr sz="2400" kern="0" spc="-30" baseline="13022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</a:t>
            </a: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</a:t>
            </a:r>
            <a:r>
              <a:rPr sz="4000" kern="0" spc="-270" baseline="-7813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25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</a:t>
            </a:r>
            <a:r>
              <a:rPr sz="25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</a:t>
            </a:r>
            <a:r>
              <a:rPr sz="2400" kern="0" spc="10" baseline="10851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     </a:t>
            </a:r>
            <a:r>
              <a:rPr sz="2400" kern="0" spc="10" baseline="10851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 sz="2400" baseline="10851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1"/>
              </a:spcBef>
              <a:tabLst/>
            </a:pPr>
            <a:r>
              <a:rPr sz="2700" b="1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正交切割成功分离中间类</a:t>
            </a:r>
            <a:r>
              <a:rPr sz="2700" b="1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别1</a:t>
            </a:r>
            <a:endParaRPr sz="2700" dirty="0">
              <a:latin typeface="SimHei"/>
              <a:ea typeface="SimHei"/>
              <a:cs typeface="SimHei"/>
            </a:endParaRPr>
          </a:p>
        </p:txBody>
      </p:sp>
      <p:sp>
        <p:nvSpPr>
          <p:cNvPr id="202" name="textbox 202"/>
          <p:cNvSpPr/>
          <p:nvPr/>
        </p:nvSpPr>
        <p:spPr>
          <a:xfrm>
            <a:off x="937104" y="984649"/>
            <a:ext cx="11992609" cy="8261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1"/>
              </a:spcBef>
              <a:tabLst/>
            </a:pPr>
            <a:r>
              <a:rPr sz="5500" b="1" kern="0" spc="20" dirty="0">
                <a:solidFill>
                  <a:srgbClr val="702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胜利者的武器：</a:t>
            </a:r>
            <a:r>
              <a:rPr sz="5500" b="1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决策树的正</a:t>
            </a:r>
            <a:r>
              <a:rPr sz="5500" b="1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交切割艺术</a:t>
            </a:r>
            <a:endParaRPr sz="5500" dirty="0">
              <a:latin typeface="SimHei"/>
              <a:ea typeface="SimHei"/>
              <a:cs typeface="SimHei"/>
            </a:endParaRPr>
          </a:p>
        </p:txBody>
      </p:sp>
      <p:sp>
        <p:nvSpPr>
          <p:cNvPr id="204" name="textbox 204"/>
          <p:cNvSpPr/>
          <p:nvPr/>
        </p:nvSpPr>
        <p:spPr>
          <a:xfrm>
            <a:off x="16097336" y="9482691"/>
            <a:ext cx="1278889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7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4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Notebook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LM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206" name="textbox 206"/>
          <p:cNvSpPr/>
          <p:nvPr/>
        </p:nvSpPr>
        <p:spPr>
          <a:xfrm>
            <a:off x="15716203" y="5918277"/>
            <a:ext cx="474344" cy="226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RAM</a:t>
            </a:r>
            <a:endParaRPr sz="16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picture 2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210" name="textbox 210"/>
          <p:cNvSpPr/>
          <p:nvPr/>
        </p:nvSpPr>
        <p:spPr>
          <a:xfrm>
            <a:off x="1295318" y="2522719"/>
            <a:ext cx="8058784" cy="5937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52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95000"/>
              </a:lnSpc>
              <a:tabLst/>
            </a:pPr>
            <a:r>
              <a:rPr sz="3400" b="1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诊断</a:t>
            </a:r>
            <a:endParaRPr sz="3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32000"/>
              </a:lnSpc>
              <a:spcBef>
                <a:spcPts val="205"/>
              </a:spcBef>
              <a:tabLst/>
            </a:pPr>
            <a:r>
              <a:rPr sz="2900" kern="0" spc="1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病因是线性模型无法处理数</a:t>
            </a:r>
            <a:r>
              <a:rPr sz="2900" kern="0" spc="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据的非线性(非凸)</a:t>
            </a:r>
            <a:r>
              <a:rPr sz="29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24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结</a:t>
            </a:r>
            <a:r>
              <a:rPr sz="2400" kern="0" spc="-3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4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构</a:t>
            </a:r>
            <a:r>
              <a:rPr sz="2400" kern="0" spc="-4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4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  <a:endParaRPr sz="2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95000"/>
              </a:lnSpc>
              <a:spcBef>
                <a:spcPts val="1023"/>
              </a:spcBef>
              <a:tabLst/>
            </a:pPr>
            <a:r>
              <a:rPr sz="3400" b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处方：升维打击</a:t>
            </a:r>
            <a:endParaRPr sz="3400" dirty="0">
              <a:latin typeface="SimHei"/>
              <a:ea typeface="SimHei"/>
              <a:cs typeface="SimHei"/>
            </a:endParaRPr>
          </a:p>
          <a:p>
            <a:pPr marL="279400" indent="-266700" algn="l" rtl="0" eaLnBrk="0">
              <a:lnSpc>
                <a:spcPct val="109000"/>
              </a:lnSpc>
              <a:spcBef>
                <a:spcPts val="974"/>
              </a:spcBef>
              <a:tabLst/>
            </a:pPr>
            <a:r>
              <a:rPr sz="29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-核技巧</a:t>
            </a:r>
            <a:r>
              <a:rPr sz="2900" kern="0" spc="-3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9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2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Kernel</a:t>
            </a:r>
            <a:r>
              <a:rPr sz="29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2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Trick</a:t>
            </a:r>
            <a:r>
              <a:rPr sz="29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): </a:t>
            </a:r>
            <a:r>
              <a:rPr sz="29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使用非线性核函</a:t>
            </a:r>
            <a:r>
              <a:rPr sz="29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数，</a:t>
            </a:r>
            <a:r>
              <a:rPr sz="29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900" kern="0" spc="3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如</a:t>
            </a:r>
            <a:r>
              <a:rPr sz="2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RBF</a:t>
            </a:r>
            <a:r>
              <a:rPr sz="2900" kern="0" spc="3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900" kern="0" spc="3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核(高斯核),可</a:t>
            </a:r>
            <a:r>
              <a:rPr sz="2900" kern="0" spc="3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以将原始特征空间</a:t>
            </a:r>
            <a:endParaRPr sz="2900" dirty="0">
              <a:latin typeface="SimHei"/>
              <a:ea typeface="SimHei"/>
              <a:cs typeface="SimHei"/>
            </a:endParaRPr>
          </a:p>
          <a:p>
            <a:pPr marL="279400" algn="l" rtl="0" eaLnBrk="0">
              <a:lnSpc>
                <a:spcPct val="96000"/>
              </a:lnSpc>
              <a:spcBef>
                <a:spcPts val="632"/>
              </a:spcBef>
              <a:tabLst/>
            </a:pPr>
            <a:r>
              <a:rPr sz="29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的数据映射到一个更</a:t>
            </a:r>
            <a:r>
              <a:rPr sz="29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高维度的空间。</a:t>
            </a:r>
            <a:endParaRPr sz="2900" dirty="0">
              <a:latin typeface="SimHei"/>
              <a:ea typeface="SimHei"/>
              <a:cs typeface="SimHei"/>
            </a:endParaRPr>
          </a:p>
          <a:p>
            <a:pPr marL="279400" indent="-266700" algn="l" rtl="0" eaLnBrk="0">
              <a:lnSpc>
                <a:spcPct val="111000"/>
              </a:lnSpc>
              <a:spcBef>
                <a:spcPts val="582"/>
              </a:spcBef>
              <a:tabLst/>
            </a:pPr>
            <a:r>
              <a:rPr sz="29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-效果：在这个高维空间里</a:t>
            </a:r>
            <a:r>
              <a:rPr sz="29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，原本线性不可分的</a:t>
            </a:r>
            <a:r>
              <a:rPr sz="29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29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数据分布被“展开”,从而变得可以用一个</a:t>
            </a:r>
            <a:r>
              <a:rPr sz="29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超</a:t>
            </a:r>
            <a:r>
              <a:rPr sz="29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29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平面来分割。</a:t>
            </a:r>
            <a:endParaRPr sz="2900" dirty="0">
              <a:latin typeface="SimHei"/>
              <a:ea typeface="SimHei"/>
              <a:cs typeface="SimHei"/>
            </a:endParaRPr>
          </a:p>
        </p:txBody>
      </p:sp>
      <p:pic>
        <p:nvPicPr>
          <p:cNvPr id="212" name="picture 2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198177" y="2324087"/>
            <a:ext cx="6394350" cy="6750076"/>
          </a:xfrm>
          <a:prstGeom prst="rect">
            <a:avLst/>
          </a:prstGeom>
        </p:spPr>
      </p:pic>
      <p:sp>
        <p:nvSpPr>
          <p:cNvPr id="214" name="textbox 214"/>
          <p:cNvSpPr/>
          <p:nvPr/>
        </p:nvSpPr>
        <p:spPr>
          <a:xfrm>
            <a:off x="1306124" y="986020"/>
            <a:ext cx="9879965" cy="8845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62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5900" b="1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亡羊补牢：如何拯救线性</a:t>
            </a:r>
            <a:r>
              <a:rPr sz="59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SVM</a:t>
            </a:r>
            <a:r>
              <a:rPr sz="5900" b="1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?</a:t>
            </a:r>
            <a:endParaRPr sz="5900" dirty="0">
              <a:latin typeface="SimSun"/>
              <a:ea typeface="SimSun"/>
              <a:cs typeface="SimSun"/>
            </a:endParaRPr>
          </a:p>
        </p:txBody>
      </p:sp>
      <p:sp>
        <p:nvSpPr>
          <p:cNvPr id="216" name="textbox 216"/>
          <p:cNvSpPr/>
          <p:nvPr/>
        </p:nvSpPr>
        <p:spPr>
          <a:xfrm>
            <a:off x="16635038" y="5323963"/>
            <a:ext cx="612775" cy="3784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2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2400" b="1" kern="0" spc="-60" dirty="0">
                <a:solidFill>
                  <a:srgbClr val="702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升</a:t>
            </a:r>
            <a:r>
              <a:rPr sz="2400" b="1" kern="0" spc="-60" dirty="0">
                <a:solidFill>
                  <a:srgbClr val="703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维</a:t>
            </a:r>
            <a:endParaRPr sz="2400" dirty="0">
              <a:latin typeface="SimHei"/>
              <a:ea typeface="SimHei"/>
              <a:cs typeface="SimHei"/>
            </a:endParaRPr>
          </a:p>
        </p:txBody>
      </p:sp>
      <p:sp>
        <p:nvSpPr>
          <p:cNvPr id="218" name="textbox 218"/>
          <p:cNvSpPr/>
          <p:nvPr/>
        </p:nvSpPr>
        <p:spPr>
          <a:xfrm>
            <a:off x="16097336" y="9482691"/>
            <a:ext cx="1278889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7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4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Notebook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LM</a:t>
            </a:r>
            <a:endParaRPr sz="14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picture 2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222" name="textbox 222"/>
          <p:cNvSpPr/>
          <p:nvPr/>
        </p:nvSpPr>
        <p:spPr>
          <a:xfrm>
            <a:off x="1329167" y="736879"/>
            <a:ext cx="14631035" cy="11664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7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8100" b="1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模型的选择，取决于数据的灵魂</a:t>
            </a:r>
            <a:endParaRPr sz="8100" dirty="0">
              <a:latin typeface="SimHei"/>
              <a:ea typeface="SimHei"/>
              <a:cs typeface="SimHei"/>
            </a:endParaRPr>
          </a:p>
        </p:txBody>
      </p:sp>
      <p:sp>
        <p:nvSpPr>
          <p:cNvPr id="224" name="textbox 224"/>
          <p:cNvSpPr/>
          <p:nvPr/>
        </p:nvSpPr>
        <p:spPr>
          <a:xfrm>
            <a:off x="3143320" y="7762401"/>
            <a:ext cx="10808969" cy="9385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4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29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再次验证了不存在普遍最优的算法。最佳模型的</a:t>
            </a:r>
            <a:r>
              <a:rPr sz="29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选择，永远依赖于</a:t>
            </a:r>
            <a:endParaRPr sz="2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4244"/>
              </a:lnSpc>
              <a:tabLst/>
            </a:pPr>
            <a:r>
              <a:rPr sz="29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对数据内在结构的深刻理解。</a:t>
            </a:r>
            <a:endParaRPr sz="2900" dirty="0">
              <a:latin typeface="SimHei"/>
              <a:ea typeface="SimHei"/>
              <a:cs typeface="SimHei"/>
            </a:endParaRPr>
          </a:p>
        </p:txBody>
      </p:sp>
      <p:sp>
        <p:nvSpPr>
          <p:cNvPr id="226" name="rect 226"/>
          <p:cNvSpPr/>
          <p:nvPr/>
        </p:nvSpPr>
        <p:spPr>
          <a:xfrm>
            <a:off x="3035267" y="2724180"/>
            <a:ext cx="1740005" cy="514307"/>
          </a:xfrm>
          <a:prstGeom prst="rect">
            <a:avLst/>
          </a:prstGeom>
          <a:solidFill>
            <a:srgbClr val="E1DED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28" name="picture 2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238715" y="3295644"/>
            <a:ext cx="1568399" cy="482608"/>
          </a:xfrm>
          <a:prstGeom prst="rect">
            <a:avLst/>
          </a:prstGeom>
        </p:spPr>
      </p:pic>
      <p:sp>
        <p:nvSpPr>
          <p:cNvPr id="230" name="textbox 230"/>
          <p:cNvSpPr/>
          <p:nvPr/>
        </p:nvSpPr>
        <p:spPr>
          <a:xfrm>
            <a:off x="2984471" y="2834640"/>
            <a:ext cx="6809105" cy="1469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8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92000"/>
              </a:lnSpc>
              <a:tabLst/>
            </a:pPr>
            <a:r>
              <a:rPr sz="3300" b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随机森林胜出，实至名归：</a:t>
            </a:r>
            <a:endParaRPr sz="3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85000"/>
              </a:lnSpc>
              <a:spcBef>
                <a:spcPts val="948"/>
              </a:spcBef>
              <a:tabLst/>
            </a:pPr>
            <a:r>
              <a:rPr sz="29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其基于规则的正交切割能力</a:t>
            </a:r>
            <a:r>
              <a:rPr sz="29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，完美契合了</a:t>
            </a:r>
            <a:endParaRPr sz="2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3824"/>
              </a:lnSpc>
              <a:tabLst/>
            </a:pPr>
            <a:r>
              <a:rPr sz="29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本数据集的“阶梯状”分层结构。</a:t>
            </a:r>
            <a:endParaRPr sz="2900" dirty="0">
              <a:latin typeface="SimHei"/>
              <a:ea typeface="SimHei"/>
              <a:cs typeface="SimHei"/>
            </a:endParaRPr>
          </a:p>
        </p:txBody>
      </p:sp>
      <p:pic>
        <p:nvPicPr>
          <p:cNvPr id="232" name="picture 2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563936" y="5378427"/>
            <a:ext cx="1155634" cy="488948"/>
          </a:xfrm>
          <a:prstGeom prst="rect">
            <a:avLst/>
          </a:prstGeom>
        </p:spPr>
      </p:pic>
      <p:sp>
        <p:nvSpPr>
          <p:cNvPr id="234" name="textbox 234"/>
          <p:cNvSpPr/>
          <p:nvPr/>
        </p:nvSpPr>
        <p:spPr>
          <a:xfrm>
            <a:off x="10229863" y="4918038"/>
            <a:ext cx="6538594" cy="15233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96000"/>
              </a:lnSpc>
              <a:tabLst/>
            </a:pPr>
            <a:r>
              <a:rPr sz="2900" b="1" kern="0" spc="2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数据几何形态是关键：</a:t>
            </a:r>
            <a:endParaRPr sz="2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20000"/>
              </a:lnSpc>
              <a:spcBef>
                <a:spcPts val="97"/>
              </a:spcBef>
              <a:tabLst/>
            </a:pPr>
            <a:r>
              <a:rPr sz="29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线</a:t>
            </a:r>
            <a:r>
              <a:rPr sz="2900" kern="0" spc="-5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9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性</a:t>
            </a:r>
            <a:r>
              <a:rPr sz="29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SVM</a:t>
            </a:r>
            <a:r>
              <a:rPr sz="2900" kern="0" spc="6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9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的失败源于其无法处理</a:t>
            </a:r>
            <a:r>
              <a:rPr sz="2900" kern="0" spc="-6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9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“三明</a:t>
            </a:r>
            <a:r>
              <a:rPr sz="29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9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治效应”所代表的非凸数据分布。</a:t>
            </a:r>
            <a:endParaRPr sz="2900" dirty="0">
              <a:latin typeface="SimHei"/>
              <a:ea typeface="SimHei"/>
              <a:cs typeface="SimHei"/>
            </a:endParaRPr>
          </a:p>
        </p:txBody>
      </p:sp>
      <p:pic>
        <p:nvPicPr>
          <p:cNvPr id="236" name="picture 2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874187" y="3371819"/>
            <a:ext cx="4210124" cy="1333512"/>
          </a:xfrm>
          <a:prstGeom prst="rect">
            <a:avLst/>
          </a:prstGeom>
        </p:spPr>
      </p:pic>
      <p:pic>
        <p:nvPicPr>
          <p:cNvPr id="238" name="picture 2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14477" y="7143731"/>
            <a:ext cx="1860409" cy="1600175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3187650" y="7112032"/>
            <a:ext cx="4749934" cy="558783"/>
            <a:chOff x="0" y="0"/>
            <a:chExt cx="4749934" cy="558783"/>
          </a:xfrm>
        </p:grpSpPr>
        <p:pic>
          <p:nvPicPr>
            <p:cNvPr id="240" name="picture 24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4749934" cy="558783"/>
            </a:xfrm>
            <a:prstGeom prst="rect">
              <a:avLst/>
            </a:prstGeom>
          </p:spPr>
        </p:pic>
        <p:sp>
          <p:nvSpPr>
            <p:cNvPr id="242" name="textbox 242"/>
            <p:cNvSpPr/>
            <p:nvPr/>
          </p:nvSpPr>
          <p:spPr>
            <a:xfrm>
              <a:off x="-12700" y="-12700"/>
              <a:ext cx="4775834" cy="6337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3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75260" algn="l" rtl="0" eaLnBrk="0">
                <a:lnSpc>
                  <a:spcPct val="96000"/>
                </a:lnSpc>
                <a:tabLst/>
              </a:pPr>
              <a:r>
                <a:rPr sz="2900" b="1" kern="0" spc="-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“没有免费的午餐”原则：</a:t>
              </a:r>
              <a:endParaRPr sz="29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244" name="picture 24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124004" y="2692383"/>
            <a:ext cx="1454111" cy="1485960"/>
          </a:xfrm>
          <a:prstGeom prst="rect">
            <a:avLst/>
          </a:prstGeom>
        </p:spPr>
      </p:pic>
      <p:sp>
        <p:nvSpPr>
          <p:cNvPr id="246" name="textbox 246"/>
          <p:cNvSpPr/>
          <p:nvPr/>
        </p:nvSpPr>
        <p:spPr>
          <a:xfrm>
            <a:off x="16097336" y="9476351"/>
            <a:ext cx="1278889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7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4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Notebook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LM</a:t>
            </a:r>
            <a:endParaRPr sz="14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picture 2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250" name="textbox 250"/>
          <p:cNvSpPr/>
          <p:nvPr/>
        </p:nvSpPr>
        <p:spPr>
          <a:xfrm>
            <a:off x="1129582" y="3961055"/>
            <a:ext cx="15274289" cy="2746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4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6600" b="1" kern="0" spc="4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真正的任务不是选择算法，而是理</a:t>
            </a:r>
            <a:r>
              <a:rPr sz="6600" kern="0" spc="4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解数据</a:t>
            </a:r>
            <a:endParaRPr sz="6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4135" algn="l" rtl="0" eaLnBrk="0">
              <a:lnSpc>
                <a:spcPct val="92000"/>
              </a:lnSpc>
              <a:spcBef>
                <a:spcPts val="761"/>
              </a:spcBef>
              <a:tabLst/>
            </a:pPr>
            <a:r>
              <a:rPr sz="25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本次实验的价值不仅是找</a:t>
            </a:r>
            <a:r>
              <a:rPr sz="2500" kern="0" spc="1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到了一个准确率高达89%的模型。更重要的是，它通过一次深刻的失败分析，揭</a:t>
            </a:r>
            <a:endParaRPr sz="2500" dirty="0">
              <a:latin typeface="SimHei"/>
              <a:ea typeface="SimHei"/>
              <a:cs typeface="SimHei"/>
            </a:endParaRPr>
          </a:p>
          <a:p>
            <a:pPr marL="95885" algn="l" rtl="0" eaLnBrk="0">
              <a:lnSpc>
                <a:spcPct val="85000"/>
              </a:lnSpc>
              <a:spcBef>
                <a:spcPts val="981"/>
              </a:spcBef>
              <a:tabLst/>
            </a:pPr>
            <a:r>
              <a:rPr sz="2500" kern="0" spc="7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示了算法原理与数据分布匹配，的极端</a:t>
            </a:r>
            <a:r>
              <a:rPr sz="2500" kern="0" spc="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重要性。在未来的项目中，我们应当将更多的精力投入到对数据几</a:t>
            </a:r>
            <a:endParaRPr sz="2500" dirty="0">
              <a:latin typeface="SimHei"/>
              <a:ea typeface="SimHei"/>
              <a:cs typeface="SimHei"/>
            </a:endParaRPr>
          </a:p>
          <a:p>
            <a:pPr marL="2191385" algn="l" rtl="0" eaLnBrk="0">
              <a:lnSpc>
                <a:spcPts val="3650"/>
              </a:lnSpc>
              <a:tabLst/>
            </a:pPr>
            <a:r>
              <a:rPr sz="2500" kern="0" spc="4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何形态的探索中，因为这最终将决定我们能否做出最科</a:t>
            </a:r>
            <a:r>
              <a:rPr sz="2500" kern="0" spc="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学的模型选型决策。</a:t>
            </a:r>
            <a:endParaRPr sz="2500" dirty="0">
              <a:latin typeface="SimHei"/>
              <a:ea typeface="SimHei"/>
              <a:cs typeface="SimHei"/>
            </a:endParaRPr>
          </a:p>
        </p:txBody>
      </p:sp>
      <p:pic>
        <p:nvPicPr>
          <p:cNvPr id="252" name="picture 2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959075" y="6972262"/>
            <a:ext cx="3816409" cy="2254252"/>
          </a:xfrm>
          <a:prstGeom prst="rect">
            <a:avLst/>
          </a:prstGeom>
        </p:spPr>
      </p:pic>
      <p:sp>
        <p:nvSpPr>
          <p:cNvPr id="254" name="textbox 254"/>
          <p:cNvSpPr/>
          <p:nvPr/>
        </p:nvSpPr>
        <p:spPr>
          <a:xfrm>
            <a:off x="16103627" y="9536814"/>
            <a:ext cx="1232535" cy="20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2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5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ANotebookLM</a:t>
            </a:r>
            <a:endParaRPr sz="15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2025-11-27T14:50:58Z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2025-11-27T14:51:25</vt:filetime>
  </property>
  <property fmtid="{D5CDD505-2E9C-101B-9397-08002B2CF9AE}" pid="4" name="UsrData">
    <vt:lpwstr>6927f4c5da7715001f043a66wl</vt:lpwstr>
  </property>
</Properties>
</file>