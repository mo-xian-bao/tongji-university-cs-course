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</p:sldIdLst>
  <p:sldSz cx="17475200" cy="97536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7.jpe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8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9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1.jpeg"/><Relationship Id="rId1" Type="http://schemas.openxmlformats.org/officeDocument/2006/relationships/image" Target="../media/image10.jpe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2.jpeg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5.jpeg"/><Relationship Id="rId2" Type="http://schemas.openxmlformats.org/officeDocument/2006/relationships/image" Target="../media/image14.jpeg"/><Relationship Id="rId1" Type="http://schemas.openxmlformats.org/officeDocument/2006/relationships/image" Target="../media/image13.jpe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0" y="0"/>
            <a:ext cx="17475200" cy="9753600"/>
          </a:xfrm>
          <a:prstGeom prst="rect">
            <a:avLst/>
          </a:prstGeom>
        </p:spPr>
      </p:pic>
      <p:sp>
        <p:nvSpPr>
          <p:cNvPr id="4" name="textbox 4"/>
          <p:cNvSpPr/>
          <p:nvPr/>
        </p:nvSpPr>
        <p:spPr>
          <a:xfrm>
            <a:off x="1055141" y="860666"/>
            <a:ext cx="15071725" cy="22136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15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3495" indent="-10795" algn="l" rtl="0" eaLnBrk="0">
              <a:lnSpc>
                <a:spcPct val="107000"/>
              </a:lnSpc>
              <a:spcBef>
                <a:spcPts val="0"/>
              </a:spcBef>
            </a:pPr>
            <a:r>
              <a:rPr sz="4100" b="1" kern="0" spc="-3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移动设备价格等级分类的算法对</a:t>
            </a:r>
            <a:r>
              <a:rPr sz="4100" b="1" kern="0" spc="-4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决：</a:t>
            </a:r>
            <a:r>
              <a:rPr sz="4100" kern="0" spc="-80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sz="4100" b="1" kern="0" spc="-4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SVM</a:t>
            </a:r>
            <a:r>
              <a:rPr sz="4100" kern="0" spc="66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</a:t>
            </a:r>
            <a:r>
              <a:rPr sz="4100" b="1" kern="0" spc="-4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vs.KNN</a:t>
            </a:r>
            <a:r>
              <a:rPr sz="4100" kern="0" spc="66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</a:t>
            </a:r>
            <a:r>
              <a:rPr sz="4100" b="1" kern="0" spc="-4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vs.</a:t>
            </a:r>
            <a:r>
              <a:rPr sz="4100" b="1" kern="0" spc="-4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随机森林</a:t>
            </a:r>
            <a:r>
              <a:rPr sz="4100" kern="0" spc="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sz="3100" b="1" kern="0" spc="3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基于结构化特征的深度性能对比与机理剖析</a:t>
            </a:r>
            <a:endParaRPr sz="31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 rtl="0" eaLnBrk="0">
              <a:lnSpc>
                <a:spcPct val="109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0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0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6000"/>
              </a:lnSpc>
            </a:pPr>
            <a:endParaRPr sz="6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r" rtl="0" eaLnBrk="0">
              <a:lnSpc>
                <a:spcPts val="3225"/>
              </a:lnSpc>
              <a:spcBef>
                <a:spcPts val="5"/>
              </a:spcBef>
            </a:pPr>
            <a:r>
              <a:rPr sz="3900" b="1" kern="0" spc="0" baseline="-4000" dirty="0">
                <a:solidFill>
                  <a:srgbClr val="20507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SVM</a:t>
            </a:r>
            <a:r>
              <a:rPr sz="2500" kern="0" spc="390" dirty="0">
                <a:solidFill>
                  <a:srgbClr val="20507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</a:t>
            </a:r>
            <a:r>
              <a:rPr sz="3900" b="1" kern="0" spc="40" baseline="-4000" dirty="0">
                <a:solidFill>
                  <a:srgbClr val="20507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(支持向量机)</a:t>
            </a:r>
            <a:r>
              <a:rPr sz="2500" kern="0" spc="40" dirty="0">
                <a:solidFill>
                  <a:srgbClr val="20507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     </a:t>
            </a:r>
            <a:r>
              <a:rPr sz="2500" kern="0" spc="30" dirty="0">
                <a:solidFill>
                  <a:srgbClr val="20507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           </a:t>
            </a:r>
            <a:r>
              <a:rPr sz="3900" b="1" kern="0" spc="0" baseline="1000" dirty="0">
                <a:solidFill>
                  <a:srgbClr val="C0702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KNN</a:t>
            </a:r>
            <a:r>
              <a:rPr sz="3900" b="1" kern="0" spc="30" baseline="1000" dirty="0">
                <a:solidFill>
                  <a:srgbClr val="C0702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(K</a:t>
            </a:r>
            <a:r>
              <a:rPr sz="2500" b="1" kern="0" spc="30" dirty="0">
                <a:solidFill>
                  <a:srgbClr val="C0702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 </a:t>
            </a:r>
            <a:r>
              <a:rPr sz="3900" b="1" kern="0" spc="30" baseline="1000" dirty="0">
                <a:solidFill>
                  <a:srgbClr val="C0702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近邻)</a:t>
            </a:r>
            <a:r>
              <a:rPr sz="2500" kern="0" spc="30" dirty="0">
                <a:solidFill>
                  <a:srgbClr val="C0702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             </a:t>
            </a:r>
            <a:r>
              <a:rPr sz="3900" b="1" kern="0" spc="30" baseline="12000" dirty="0">
                <a:solidFill>
                  <a:srgbClr val="20704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随机森林</a:t>
            </a:r>
            <a:r>
              <a:rPr sz="2500" kern="0" spc="30" dirty="0">
                <a:solidFill>
                  <a:srgbClr val="20704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sz="3900" b="1" kern="0" spc="30" baseline="12000" dirty="0">
                <a:solidFill>
                  <a:srgbClr val="20704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(</a:t>
            </a:r>
            <a:r>
              <a:rPr sz="3900" b="1" kern="0" spc="0" baseline="12000" dirty="0">
                <a:solidFill>
                  <a:srgbClr val="20704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Random</a:t>
            </a:r>
            <a:r>
              <a:rPr sz="2500" b="1" kern="0" spc="210" dirty="0">
                <a:solidFill>
                  <a:srgbClr val="20704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 </a:t>
            </a:r>
            <a:r>
              <a:rPr sz="3900" b="1" kern="0" spc="0" baseline="12000" dirty="0">
                <a:solidFill>
                  <a:srgbClr val="20704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Forest</a:t>
            </a:r>
            <a:r>
              <a:rPr sz="3900" b="1" kern="0" spc="30" baseline="12000" dirty="0">
                <a:solidFill>
                  <a:srgbClr val="20704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)</a:t>
            </a:r>
            <a:endParaRPr sz="3900" baseline="120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6" name="textbox 6"/>
          <p:cNvSpPr/>
          <p:nvPr/>
        </p:nvSpPr>
        <p:spPr>
          <a:xfrm>
            <a:off x="5791163" y="8481104"/>
            <a:ext cx="11569700" cy="118998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5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5000"/>
              </a:lnSpc>
            </a:pPr>
            <a:r>
              <a:rPr sz="2000" kern="0" spc="30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结论：在基于结构化特征的移动设备价格分类任</a:t>
            </a:r>
            <a:r>
              <a:rPr sz="2000" kern="0" spc="29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务中，随机森林模型展现出最优异</a:t>
            </a:r>
            <a:endParaRPr sz="20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19050" algn="l" rtl="0" eaLnBrk="0">
              <a:lnSpc>
                <a:spcPts val="3150"/>
              </a:lnSpc>
            </a:pPr>
            <a:r>
              <a:rPr sz="2000" kern="0" spc="21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的综合性能与鲁棒性，成为最终胜者。</a:t>
            </a:r>
            <a:endParaRPr sz="20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 rtl="0" eaLnBrk="0">
              <a:lnSpc>
                <a:spcPct val="19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1000"/>
              </a:lnSpc>
            </a:pPr>
            <a:endParaRPr sz="3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r" rtl="0" eaLnBrk="0">
              <a:lnSpc>
                <a:spcPct val="83000"/>
              </a:lnSpc>
              <a:spcBef>
                <a:spcPts val="0"/>
              </a:spcBef>
            </a:pPr>
            <a:r>
              <a:rPr sz="1300" b="1" kern="0" spc="1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A</a:t>
            </a:r>
            <a:r>
              <a:rPr sz="1300" b="1" kern="0" spc="40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1300" b="1" kern="0" spc="1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NotebookLM</a:t>
            </a:r>
            <a:endParaRPr sz="13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8" name="textbox 8"/>
          <p:cNvSpPr/>
          <p:nvPr/>
        </p:nvSpPr>
        <p:spPr>
          <a:xfrm>
            <a:off x="6565838" y="6650449"/>
            <a:ext cx="4604384" cy="103123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5000"/>
              </a:lnSpc>
            </a:pPr>
            <a:r>
              <a:rPr sz="2000" kern="0" spc="-7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机理：基于实例的懒惰学习。</a:t>
            </a:r>
            <a:endParaRPr sz="20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12700" algn="l" rtl="0" eaLnBrk="0">
              <a:lnSpc>
                <a:spcPct val="92000"/>
              </a:lnSpc>
              <a:spcBef>
                <a:spcPts val="520"/>
              </a:spcBef>
            </a:pPr>
            <a:r>
              <a:rPr sz="2000" kern="0" spc="-6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优点：简单易懂，无需训练。</a:t>
            </a:r>
            <a:endParaRPr sz="20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 rtl="0" eaLnBrk="0">
              <a:lnSpc>
                <a:spcPct val="115000"/>
              </a:lnSpc>
            </a:pPr>
            <a:endParaRPr sz="5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2000"/>
              </a:lnSpc>
              <a:spcBef>
                <a:spcPts val="0"/>
              </a:spcBef>
            </a:pPr>
            <a:r>
              <a:rPr sz="2000" kern="0" spc="-5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缺点：计算复杂度高，受数据分布影响</a:t>
            </a:r>
            <a:r>
              <a:rPr sz="2000" kern="0" spc="-6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。</a:t>
            </a:r>
            <a:endParaRPr sz="20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0" name="textbox 10"/>
          <p:cNvSpPr/>
          <p:nvPr/>
        </p:nvSpPr>
        <p:spPr>
          <a:xfrm>
            <a:off x="12179221" y="6644109"/>
            <a:ext cx="3588384" cy="103441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5000"/>
              </a:lnSpc>
            </a:pPr>
            <a:r>
              <a:rPr sz="2000" kern="0" spc="-7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机理：多棵决策树的集成学习。</a:t>
            </a:r>
            <a:endParaRPr sz="20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12700" algn="l" rtl="0" eaLnBrk="0">
              <a:lnSpc>
                <a:spcPct val="92000"/>
              </a:lnSpc>
              <a:spcBef>
                <a:spcPts val="570"/>
              </a:spcBef>
            </a:pPr>
            <a:r>
              <a:rPr sz="2000" kern="0" spc="-8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优点：准确率高，抗过拟合。</a:t>
            </a:r>
            <a:endParaRPr sz="20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 rtl="0" eaLnBrk="0">
              <a:lnSpc>
                <a:spcPct val="103000"/>
              </a:lnSpc>
            </a:pPr>
            <a:endParaRPr sz="8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2000"/>
              </a:lnSpc>
              <a:spcBef>
                <a:spcPts val="5"/>
              </a:spcBef>
            </a:pPr>
            <a:r>
              <a:rPr sz="1700" kern="0" spc="23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缺点：模型复杂，解释性较弱。</a:t>
            </a:r>
            <a:endParaRPr sz="17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2" name="textbox 12"/>
          <p:cNvSpPr/>
          <p:nvPr/>
        </p:nvSpPr>
        <p:spPr>
          <a:xfrm>
            <a:off x="1184663" y="6646817"/>
            <a:ext cx="3580765" cy="103123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5000"/>
              </a:lnSpc>
            </a:pPr>
            <a:r>
              <a:rPr sz="2000" b="1" kern="0" spc="-9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机理：寻找最优分类超平面。</a:t>
            </a:r>
            <a:endParaRPr sz="20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12700" algn="l" rtl="0" eaLnBrk="0">
              <a:lnSpc>
                <a:spcPct val="95000"/>
              </a:lnSpc>
              <a:spcBef>
                <a:spcPts val="590"/>
              </a:spcBef>
            </a:pPr>
            <a:r>
              <a:rPr sz="2000" b="1" kern="0" spc="-8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优点：适用于小样本、非线性。</a:t>
            </a:r>
            <a:endParaRPr sz="20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12700" algn="l" rtl="0" eaLnBrk="0">
              <a:lnSpc>
                <a:spcPct val="92000"/>
              </a:lnSpc>
              <a:spcBef>
                <a:spcPts val="550"/>
              </a:spcBef>
            </a:pPr>
            <a:r>
              <a:rPr sz="2000" b="1" kern="0" spc="-8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缺点：对噪声敏感，计算量大。</a:t>
            </a:r>
            <a:endParaRPr sz="20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4" name="textbox 14"/>
          <p:cNvSpPr/>
          <p:nvPr/>
        </p:nvSpPr>
        <p:spPr>
          <a:xfrm>
            <a:off x="15068571" y="4531404"/>
            <a:ext cx="1288414" cy="128460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5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5000"/>
              </a:lnSpc>
            </a:pPr>
            <a:r>
              <a:rPr sz="2000" kern="0" spc="-30" dirty="0">
                <a:solidFill>
                  <a:srgbClr val="FFFFFF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集成</a:t>
            </a:r>
            <a:endParaRPr sz="20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18415" algn="l" rtl="0" eaLnBrk="0">
              <a:lnSpc>
                <a:spcPts val="2595"/>
              </a:lnSpc>
            </a:pPr>
            <a:r>
              <a:rPr sz="2000" kern="0" spc="-30" dirty="0">
                <a:solidFill>
                  <a:srgbClr val="FFFFFF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投票</a:t>
            </a:r>
            <a:endParaRPr sz="20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 rtl="0" eaLnBrk="0">
              <a:lnSpc>
                <a:spcPct val="198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1000"/>
              </a:lnSpc>
            </a:pPr>
            <a:endParaRPr sz="5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r" rtl="0" eaLnBrk="0">
              <a:lnSpc>
                <a:spcPct val="96000"/>
              </a:lnSpc>
              <a:spcBef>
                <a:spcPts val="5"/>
              </a:spcBef>
            </a:pPr>
            <a:r>
              <a:rPr sz="2000" b="1" kern="0" spc="120" dirty="0">
                <a:solidFill>
                  <a:srgbClr val="90404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性能冠军</a:t>
            </a:r>
            <a:endParaRPr sz="20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6" name="textbox 16"/>
          <p:cNvSpPr/>
          <p:nvPr/>
        </p:nvSpPr>
        <p:spPr>
          <a:xfrm>
            <a:off x="14020759" y="3690971"/>
            <a:ext cx="691515" cy="236918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6000"/>
              </a:lnSpc>
            </a:pPr>
            <a:r>
              <a:rPr sz="1700" kern="0" spc="7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低价</a:t>
            </a:r>
            <a:endParaRPr sz="17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 rtl="0" eaLnBrk="0">
              <a:lnSpc>
                <a:spcPct val="107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7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7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7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r" rtl="0" eaLnBrk="0">
              <a:lnSpc>
                <a:spcPct val="100000"/>
              </a:lnSpc>
              <a:spcBef>
                <a:spcPts val="580"/>
              </a:spcBef>
            </a:pPr>
            <a:r>
              <a:rPr sz="1900" kern="0" spc="-19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中</a:t>
            </a:r>
            <a:r>
              <a:rPr sz="1900" kern="0" spc="-18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价</a:t>
            </a:r>
            <a:r>
              <a:rPr sz="1900" kern="0" spc="-110" dirty="0">
                <a:solidFill>
                  <a:srgbClr val="20602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一</a:t>
            </a:r>
            <a:endParaRPr sz="19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 rtl="0" eaLnBrk="0">
              <a:lnSpc>
                <a:spcPct val="100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0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7000"/>
              </a:lnSpc>
            </a:pPr>
            <a:endParaRPr sz="4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6000"/>
              </a:lnSpc>
            </a:pPr>
            <a:r>
              <a:rPr sz="1700" kern="0" spc="-7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高价</a:t>
            </a:r>
            <a:endParaRPr sz="17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8" name="textbox 18"/>
          <p:cNvSpPr/>
          <p:nvPr/>
        </p:nvSpPr>
        <p:spPr>
          <a:xfrm>
            <a:off x="3644859" y="8253451"/>
            <a:ext cx="1269364" cy="122681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4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438150" algn="l" rtl="0" eaLnBrk="0">
              <a:lnSpc>
                <a:spcPct val="85000"/>
              </a:lnSpc>
            </a:pPr>
            <a:r>
              <a:rPr sz="1700" kern="0" spc="-2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94%</a:t>
            </a:r>
            <a:r>
              <a:rPr sz="1700" kern="0" spc="37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1100" kern="0" spc="-20" dirty="0">
                <a:solidFill>
                  <a:srgbClr val="90A0A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√</a:t>
            </a:r>
            <a:endParaRPr sz="11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 rtl="0" eaLnBrk="0">
              <a:lnSpc>
                <a:spcPct val="100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0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9000"/>
              </a:lnSpc>
            </a:pPr>
            <a:endParaRPr sz="3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3000"/>
              </a:lnSpc>
              <a:spcBef>
                <a:spcPts val="0"/>
              </a:spcBef>
            </a:pPr>
            <a:r>
              <a:rPr sz="1300" b="1" kern="0" spc="1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Random</a:t>
            </a:r>
            <a:r>
              <a:rPr sz="1300" b="1" kern="0" spc="11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1300" b="1" kern="0" spc="1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For</a:t>
            </a:r>
            <a:r>
              <a:rPr sz="1300" b="1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est</a:t>
            </a:r>
            <a:endParaRPr sz="13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0" name="textbox 20"/>
          <p:cNvSpPr/>
          <p:nvPr/>
        </p:nvSpPr>
        <p:spPr>
          <a:xfrm>
            <a:off x="3009985" y="8367763"/>
            <a:ext cx="408305" cy="10953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6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77000"/>
              </a:lnSpc>
            </a:pPr>
            <a:r>
              <a:rPr sz="1700" kern="0" spc="-3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82%</a:t>
            </a:r>
            <a:endParaRPr sz="1700" dirty="0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  <a:p>
            <a:pPr algn="l" rtl="0" eaLnBrk="0">
              <a:lnSpc>
                <a:spcPct val="107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7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8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8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0000"/>
              </a:lnSpc>
            </a:pPr>
            <a:endParaRPr sz="3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8415" algn="l" rtl="0" eaLnBrk="0">
              <a:lnSpc>
                <a:spcPct val="83000"/>
              </a:lnSpc>
            </a:pPr>
            <a:r>
              <a:rPr sz="1300" b="1" kern="0" spc="-1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KNN</a:t>
            </a:r>
            <a:endParaRPr sz="13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2" name="textbox 22"/>
          <p:cNvSpPr/>
          <p:nvPr/>
        </p:nvSpPr>
        <p:spPr>
          <a:xfrm>
            <a:off x="1943124" y="8431259"/>
            <a:ext cx="413384" cy="104203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6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77000"/>
              </a:lnSpc>
            </a:pPr>
            <a:r>
              <a:rPr sz="1700" kern="0" spc="-2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75%</a:t>
            </a:r>
            <a:endParaRPr sz="1700" dirty="0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  <a:p>
            <a:pPr algn="l" rtl="0" eaLnBrk="0">
              <a:lnSpc>
                <a:spcPct val="100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0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0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0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0000"/>
              </a:lnSpc>
            </a:pPr>
            <a:endParaRPr sz="3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79000"/>
              </a:lnSpc>
              <a:spcBef>
                <a:spcPts val="5"/>
              </a:spcBef>
            </a:pPr>
            <a:r>
              <a:rPr sz="1300" kern="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SVM</a:t>
            </a:r>
            <a:endParaRPr sz="1300" dirty="0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24" name="textbox 24"/>
          <p:cNvSpPr/>
          <p:nvPr/>
        </p:nvSpPr>
        <p:spPr>
          <a:xfrm>
            <a:off x="11836360" y="4590217"/>
            <a:ext cx="500380" cy="45211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1105"/>
              </a:lnSpc>
            </a:pPr>
            <a:r>
              <a:rPr sz="1700" kern="0" spc="150" dirty="0">
                <a:solidFill>
                  <a:srgbClr val="000000">
                    <a:alpha val="100000"/>
                  </a:srgbClr>
                </a:solidFill>
                <a:latin typeface="隶书" panose="02010509060101010101" charset="-122"/>
                <a:ea typeface="隶书" panose="02010509060101010101" charset="-122"/>
                <a:cs typeface="隶书" panose="02010509060101010101" charset="-122"/>
              </a:rPr>
              <a:t>输入</a:t>
            </a:r>
            <a:endParaRPr sz="1700" dirty="0">
              <a:latin typeface="隶书" panose="02010509060101010101" charset="-122"/>
              <a:ea typeface="隶书" panose="02010509060101010101" charset="-122"/>
              <a:cs typeface="隶书" panose="02010509060101010101" charset="-122"/>
            </a:endParaRPr>
          </a:p>
          <a:p>
            <a:pPr marL="19050" algn="l" rtl="0" eaLnBrk="0">
              <a:lnSpc>
                <a:spcPts val="2250"/>
              </a:lnSpc>
            </a:pPr>
            <a:r>
              <a:rPr sz="1700" kern="0" spc="130" dirty="0">
                <a:solidFill>
                  <a:srgbClr val="000000">
                    <a:alpha val="100000"/>
                  </a:srgbClr>
                </a:solidFill>
                <a:latin typeface="隶书" panose="02010509060101010101" charset="-122"/>
                <a:ea typeface="隶书" panose="02010509060101010101" charset="-122"/>
                <a:cs typeface="隶书" panose="02010509060101010101" charset="-122"/>
              </a:rPr>
              <a:t>变表</a:t>
            </a:r>
            <a:endParaRPr sz="1700" dirty="0">
              <a:latin typeface="隶书" panose="02010509060101010101" charset="-122"/>
              <a:ea typeface="隶书" panose="02010509060101010101" charset="-122"/>
              <a:cs typeface="隶书" panose="02010509060101010101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 26"/>
          <p:cNvSpPr/>
          <p:nvPr/>
        </p:nvSpPr>
        <p:spPr>
          <a:xfrm>
            <a:off x="0" y="0"/>
            <a:ext cx="17475200" cy="9753600"/>
          </a:xfrm>
          <a:prstGeom prst="rect">
            <a:avLst/>
          </a:prstGeom>
          <a:solidFill>
            <a:srgbClr val="F3F5EE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28" name="textbox 28"/>
          <p:cNvSpPr/>
          <p:nvPr/>
        </p:nvSpPr>
        <p:spPr>
          <a:xfrm>
            <a:off x="761975" y="909600"/>
            <a:ext cx="5342254" cy="823404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67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1590" algn="l" rtl="0" eaLnBrk="0">
              <a:lnSpc>
                <a:spcPct val="97000"/>
              </a:lnSpc>
            </a:pPr>
            <a:r>
              <a:rPr sz="4900" b="1" kern="0" spc="-4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解构价格迷局：</a:t>
            </a:r>
            <a:endParaRPr sz="49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22225" algn="l" rtl="0" eaLnBrk="0">
              <a:lnSpc>
                <a:spcPct val="85000"/>
              </a:lnSpc>
              <a:spcBef>
                <a:spcPts val="565"/>
              </a:spcBef>
            </a:pPr>
            <a:r>
              <a:rPr sz="5300" b="1" kern="0" spc="8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硬件参数如何决</a:t>
            </a:r>
            <a:endParaRPr sz="53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22225" algn="l" rtl="0" eaLnBrk="0">
              <a:lnSpc>
                <a:spcPts val="6500"/>
              </a:lnSpc>
            </a:pPr>
            <a:r>
              <a:rPr sz="5300" b="1" kern="0" spc="14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定市场定位?</a:t>
            </a:r>
            <a:endParaRPr sz="53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 rtl="0" eaLnBrk="0">
              <a:lnSpc>
                <a:spcPct val="113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4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4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4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7145" algn="l" rtl="0" eaLnBrk="0">
              <a:lnSpc>
                <a:spcPct val="95000"/>
              </a:lnSpc>
              <a:spcBef>
                <a:spcPts val="785"/>
              </a:spcBef>
            </a:pPr>
            <a:r>
              <a:rPr sz="2600" b="1" kern="0" spc="1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业务背景</a:t>
            </a:r>
            <a:endParaRPr sz="26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12700" algn="l" rtl="0" eaLnBrk="0">
              <a:lnSpc>
                <a:spcPct val="87000"/>
              </a:lnSpc>
              <a:spcBef>
                <a:spcPts val="1290"/>
              </a:spcBef>
            </a:pPr>
            <a:r>
              <a:rPr sz="1800" kern="0" spc="6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移动设备市场的定价策略已从简单的“成本加成”</a:t>
            </a:r>
            <a:endParaRPr sz="18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12700" algn="l" rtl="0" eaLnBrk="0">
              <a:lnSpc>
                <a:spcPts val="2890"/>
              </a:lnSpc>
            </a:pPr>
            <a:r>
              <a:rPr sz="1800" kern="0" spc="1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演变为涉及硬件、品牌、市场的“多维博</a:t>
            </a:r>
            <a:r>
              <a:rPr sz="1800" kern="0" spc="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弈”。</a:t>
            </a:r>
            <a:endParaRPr sz="18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 rtl="0" eaLnBrk="0">
              <a:lnSpc>
                <a:spcPct val="118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9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7145" algn="l" rtl="0" eaLnBrk="0">
              <a:lnSpc>
                <a:spcPct val="95000"/>
              </a:lnSpc>
              <a:spcBef>
                <a:spcPts val="780"/>
              </a:spcBef>
            </a:pPr>
            <a:r>
              <a:rPr sz="2600" b="1" kern="0" spc="-4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技术任务</a:t>
            </a:r>
            <a:endParaRPr sz="26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12700" algn="l" rtl="0" eaLnBrk="0">
              <a:lnSpc>
                <a:spcPct val="87000"/>
              </a:lnSpc>
              <a:spcBef>
                <a:spcPts val="1390"/>
              </a:spcBef>
            </a:pPr>
            <a:r>
              <a:rPr sz="1800" kern="0" spc="14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本研究将价格预测问题从回归(预测具体数值)简</a:t>
            </a:r>
            <a:endParaRPr sz="18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12700" algn="l" rtl="0" eaLnBrk="0">
              <a:lnSpc>
                <a:spcPct val="133000"/>
              </a:lnSpc>
              <a:spcBef>
                <a:spcPts val="35"/>
              </a:spcBef>
            </a:pPr>
            <a:r>
              <a:rPr sz="1800" kern="0" spc="18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化为四分类问题(低、中、高、超高),更贴近市</a:t>
            </a:r>
            <a:r>
              <a:rPr sz="1800" kern="0" spc="3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 </a:t>
            </a:r>
            <a:r>
              <a:rPr sz="1800" kern="0" spc="5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场的“分层定价”逻辑</a:t>
            </a:r>
            <a:r>
              <a:rPr sz="1800" kern="0" spc="4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。</a:t>
            </a:r>
            <a:endParaRPr sz="18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 rtl="0" eaLnBrk="0">
              <a:lnSpc>
                <a:spcPct val="117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7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7145" algn="l" rtl="0" eaLnBrk="0">
              <a:lnSpc>
                <a:spcPct val="96000"/>
              </a:lnSpc>
              <a:spcBef>
                <a:spcPts val="790"/>
              </a:spcBef>
            </a:pPr>
            <a:r>
              <a:rPr sz="2600" b="1" kern="0" spc="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核心问题</a:t>
            </a:r>
            <a:endParaRPr sz="26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12700" algn="l" rtl="0" eaLnBrk="0">
              <a:lnSpc>
                <a:spcPct val="87000"/>
              </a:lnSpc>
              <a:spcBef>
                <a:spcPts val="1165"/>
              </a:spcBef>
            </a:pPr>
            <a:r>
              <a:rPr sz="1800" kern="0" spc="5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在此特定数据集上，哪种</a:t>
            </a:r>
            <a:r>
              <a:rPr sz="1800" kern="0" spc="4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经典算法(支持向量机、</a:t>
            </a:r>
            <a:endParaRPr sz="18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12700" algn="l" rtl="0" eaLnBrk="0">
              <a:lnSpc>
                <a:spcPct val="137000"/>
              </a:lnSpc>
              <a:spcBef>
                <a:spcPts val="20"/>
              </a:spcBef>
            </a:pPr>
            <a:r>
              <a:rPr sz="1800" kern="0" spc="10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K</a:t>
            </a:r>
            <a:r>
              <a:rPr sz="1800" kern="0" spc="10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近邻、随机森林)能最精准</a:t>
            </a:r>
            <a:r>
              <a:rPr sz="1800" kern="0" spc="9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地学习到硬件与价格</a:t>
            </a:r>
            <a:r>
              <a:rPr sz="1800" kern="0" spc="-1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 </a:t>
            </a:r>
            <a:r>
              <a:rPr sz="1800" kern="0" spc="7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等级之间的非线性映射关系?</a:t>
            </a:r>
            <a:endParaRPr sz="18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grpSp>
        <p:nvGrpSpPr>
          <p:cNvPr id="2" name="group 2"/>
          <p:cNvGrpSpPr/>
          <p:nvPr/>
        </p:nvGrpSpPr>
        <p:grpSpPr>
          <a:xfrm rot="21600000">
            <a:off x="6927868" y="2514575"/>
            <a:ext cx="8604262" cy="4889479"/>
            <a:chOff x="0" y="0"/>
            <a:chExt cx="8604262" cy="4889479"/>
          </a:xfrm>
        </p:grpSpPr>
        <p:pic>
          <p:nvPicPr>
            <p:cNvPr id="30" name="picture 30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 rot="21600000">
              <a:off x="0" y="0"/>
              <a:ext cx="8604262" cy="4889479"/>
            </a:xfrm>
            <a:prstGeom prst="rect">
              <a:avLst/>
            </a:prstGeom>
          </p:spPr>
        </p:pic>
        <p:sp>
          <p:nvSpPr>
            <p:cNvPr id="32" name="textbox 32"/>
            <p:cNvSpPr/>
            <p:nvPr/>
          </p:nvSpPr>
          <p:spPr>
            <a:xfrm>
              <a:off x="-12700" y="-12700"/>
              <a:ext cx="8630284" cy="4967604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2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2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2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2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2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2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2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2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2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2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2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4311015" algn="l" rtl="0" eaLnBrk="0">
                <a:lnSpc>
                  <a:spcPts val="13840"/>
                </a:lnSpc>
                <a:spcBef>
                  <a:spcPts val="5"/>
                </a:spcBef>
              </a:pPr>
              <a:r>
                <a:rPr sz="11100" kern="0" spc="-10" dirty="0">
                  <a:solidFill>
                    <a:srgbClr val="000000">
                      <a:alpha val="100000"/>
                    </a:srgbClr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7</a:t>
              </a:r>
              <a:endParaRPr sz="111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endParaRPr>
            </a:p>
            <a:p>
              <a:pPr marL="187960" algn="l" rtl="0" eaLnBrk="0">
                <a:lnSpc>
                  <a:spcPct val="98000"/>
                </a:lnSpc>
                <a:spcBef>
                  <a:spcPts val="320"/>
                </a:spcBef>
              </a:pPr>
              <a:r>
                <a:rPr sz="2200" b="1" kern="0" spc="190" dirty="0">
                  <a:solidFill>
                    <a:srgbClr val="000000">
                      <a:alpha val="100000"/>
                    </a:srgbClr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硬件规格</a:t>
              </a:r>
              <a:endParaRPr sz="22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endParaRPr>
            </a:p>
            <a:p>
              <a:pPr algn="l" rtl="0" eaLnBrk="0">
                <a:lnSpc>
                  <a:spcPct val="164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4590415" algn="l" rtl="0" eaLnBrk="0">
                <a:lnSpc>
                  <a:spcPct val="87000"/>
                </a:lnSpc>
                <a:spcBef>
                  <a:spcPts val="550"/>
                </a:spcBef>
              </a:pPr>
              <a:r>
                <a:rPr sz="1400" kern="0" spc="0" dirty="0">
                  <a:solidFill>
                    <a:srgbClr val="FFFFFF">
                      <a:alpha val="100000"/>
                    </a:srgbClr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KNN</a:t>
              </a:r>
              <a:r>
                <a:rPr sz="1400" kern="0" spc="20" dirty="0">
                  <a:solidFill>
                    <a:srgbClr val="FFFFFF">
                      <a:alpha val="100000"/>
                    </a:srgbClr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           </a:t>
              </a:r>
              <a:r>
                <a:rPr sz="1400" kern="0" spc="10" dirty="0">
                  <a:solidFill>
                    <a:srgbClr val="FFFFFF">
                      <a:alpha val="100000"/>
                    </a:srgbClr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  </a:t>
              </a:r>
              <a:r>
                <a:rPr sz="1800" kern="0" spc="0" dirty="0">
                  <a:solidFill>
                    <a:srgbClr val="80909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Random</a:t>
              </a:r>
              <a:endParaRPr sz="18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5688965" algn="l" rtl="0" eaLnBrk="0">
                <a:lnSpc>
                  <a:spcPct val="82000"/>
                </a:lnSpc>
                <a:spcBef>
                  <a:spcPts val="380"/>
                </a:spcBef>
              </a:pPr>
              <a:r>
                <a:rPr sz="1800" kern="0" spc="-10" dirty="0">
                  <a:solidFill>
                    <a:srgbClr val="FFFFFF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Forest</a:t>
              </a:r>
              <a:endParaRPr sz="18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</p:grpSp>
      <p:sp>
        <p:nvSpPr>
          <p:cNvPr id="34" name="textbox 34"/>
          <p:cNvSpPr/>
          <p:nvPr/>
        </p:nvSpPr>
        <p:spPr>
          <a:xfrm>
            <a:off x="15582865" y="3010496"/>
            <a:ext cx="1024255" cy="398716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5875" algn="l" rtl="0" eaLnBrk="0">
              <a:lnSpc>
                <a:spcPct val="99000"/>
              </a:lnSpc>
            </a:pPr>
            <a:r>
              <a:rPr sz="1800" b="1" kern="0" spc="29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3(超高)</a:t>
            </a:r>
            <a:endParaRPr sz="18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 rtl="0" eaLnBrk="0">
              <a:lnSpc>
                <a:spcPct val="107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8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8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8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8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6510" algn="l" rtl="0" eaLnBrk="0">
              <a:lnSpc>
                <a:spcPct val="98000"/>
              </a:lnSpc>
              <a:spcBef>
                <a:spcPts val="670"/>
              </a:spcBef>
            </a:pPr>
            <a:r>
              <a:rPr sz="2200" b="1" kern="0" spc="11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2(高)</a:t>
            </a:r>
            <a:endParaRPr sz="22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 rtl="0" eaLnBrk="0">
              <a:lnSpc>
                <a:spcPct val="107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7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7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8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8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6510" algn="l" rtl="0" eaLnBrk="0">
              <a:lnSpc>
                <a:spcPct val="99000"/>
              </a:lnSpc>
              <a:spcBef>
                <a:spcPts val="660"/>
              </a:spcBef>
            </a:pPr>
            <a:r>
              <a:rPr sz="2200" b="1" kern="0" spc="11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1(中)</a:t>
            </a:r>
            <a:endParaRPr sz="22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 rtl="0" eaLnBrk="0">
              <a:lnSpc>
                <a:spcPct val="106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6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6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6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6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1000"/>
              </a:lnSpc>
            </a:pPr>
            <a:endParaRPr sz="5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8000"/>
              </a:lnSpc>
              <a:spcBef>
                <a:spcPts val="0"/>
              </a:spcBef>
            </a:pPr>
            <a:r>
              <a:rPr sz="2200" kern="0" spc="14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0(低)</a:t>
            </a:r>
            <a:endParaRPr sz="22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6" name="textbox 36"/>
          <p:cNvSpPr/>
          <p:nvPr/>
        </p:nvSpPr>
        <p:spPr>
          <a:xfrm>
            <a:off x="6818359" y="958651"/>
            <a:ext cx="2015489" cy="40385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6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5000"/>
              </a:lnSpc>
            </a:pPr>
            <a:r>
              <a:rPr sz="2600" b="1" kern="0" spc="-1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核心技术流程</a:t>
            </a:r>
            <a:endParaRPr sz="26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8" name="textbox 38"/>
          <p:cNvSpPr/>
          <p:nvPr/>
        </p:nvSpPr>
        <p:spPr>
          <a:xfrm>
            <a:off x="10913387" y="7518524"/>
            <a:ext cx="1613535" cy="35305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7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8000"/>
              </a:lnSpc>
            </a:pPr>
            <a:r>
              <a:rPr sz="2200" b="1" kern="0" spc="23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[黑箱算法]</a:t>
            </a:r>
            <a:endParaRPr sz="22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40" name="textbox 40"/>
          <p:cNvSpPr/>
          <p:nvPr/>
        </p:nvSpPr>
        <p:spPr>
          <a:xfrm>
            <a:off x="16097336" y="9471665"/>
            <a:ext cx="1270000" cy="20192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3000"/>
              </a:lnSpc>
            </a:pPr>
            <a:r>
              <a:rPr sz="1400" b="1" kern="0" spc="-2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A</a:t>
            </a:r>
            <a:r>
              <a:rPr sz="1400" b="1" kern="0" spc="13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1400" b="1" kern="0" spc="-2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NotebookLM</a:t>
            </a:r>
            <a:endParaRPr sz="14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rect 42"/>
          <p:cNvSpPr/>
          <p:nvPr/>
        </p:nvSpPr>
        <p:spPr>
          <a:xfrm>
            <a:off x="0" y="0"/>
            <a:ext cx="17475200" cy="9753600"/>
          </a:xfrm>
          <a:prstGeom prst="rect">
            <a:avLst/>
          </a:prstGeom>
          <a:solidFill>
            <a:srgbClr val="F7F5E8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grpSp>
        <p:nvGrpSpPr>
          <p:cNvPr id="4" name="group 4"/>
          <p:cNvGrpSpPr/>
          <p:nvPr/>
        </p:nvGrpSpPr>
        <p:grpSpPr>
          <a:xfrm rot="21600000">
            <a:off x="6356429" y="2120920"/>
            <a:ext cx="10515527" cy="7194548"/>
            <a:chOff x="0" y="0"/>
            <a:chExt cx="10515527" cy="7194548"/>
          </a:xfrm>
        </p:grpSpPr>
        <p:pic>
          <p:nvPicPr>
            <p:cNvPr id="44" name="picture 44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 rot="21600000">
              <a:off x="819063" y="0"/>
              <a:ext cx="9696463" cy="7194548"/>
            </a:xfrm>
            <a:prstGeom prst="rect">
              <a:avLst/>
            </a:prstGeom>
          </p:spPr>
        </p:pic>
        <p:sp>
          <p:nvSpPr>
            <p:cNvPr id="46" name="textbox 46"/>
            <p:cNvSpPr/>
            <p:nvPr/>
          </p:nvSpPr>
          <p:spPr>
            <a:xfrm>
              <a:off x="-12700" y="113096"/>
              <a:ext cx="6916419" cy="616712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3000"/>
                </a:lnSpc>
              </a:pPr>
              <a:endParaRPr sz="1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12700" algn="l" rtl="0" eaLnBrk="0">
                <a:lnSpc>
                  <a:spcPts val="1960"/>
                </a:lnSpc>
              </a:pPr>
              <a:r>
                <a:rPr sz="1400" kern="0" spc="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battery</a:t>
              </a:r>
              <a:r>
                <a:rPr sz="1400" kern="0" spc="21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_</a:t>
              </a:r>
              <a:r>
                <a:rPr sz="1400" kern="0" spc="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power</a:t>
              </a:r>
              <a:endParaRPr sz="14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799465" algn="l" rtl="0" eaLnBrk="0">
                <a:lnSpc>
                  <a:spcPts val="2220"/>
                </a:lnSpc>
              </a:pPr>
              <a:r>
                <a:rPr sz="1400" kern="0" spc="-1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blue</a:t>
              </a:r>
              <a:endParaRPr sz="14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196215" algn="l" rtl="0" eaLnBrk="0">
                <a:lnSpc>
                  <a:spcPts val="2165"/>
                </a:lnSpc>
              </a:pPr>
              <a:r>
                <a:rPr sz="1400" kern="0" spc="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clock</a:t>
              </a:r>
              <a:r>
                <a:rPr sz="1400" kern="0" spc="20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_</a:t>
              </a:r>
              <a:r>
                <a:rPr sz="1400" kern="0" spc="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speed</a:t>
              </a:r>
              <a:endParaRPr sz="14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424815" algn="l" rtl="0" eaLnBrk="0">
                <a:lnSpc>
                  <a:spcPts val="2235"/>
                </a:lnSpc>
              </a:pPr>
              <a:r>
                <a:rPr sz="1400" kern="0" spc="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dual</a:t>
              </a:r>
              <a:r>
                <a:rPr sz="1400" kern="0" spc="13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_</a:t>
              </a:r>
              <a:r>
                <a:rPr sz="1400" kern="0" spc="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sim</a:t>
              </a:r>
              <a:endParaRPr sz="14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1047750" algn="l" rtl="0" eaLnBrk="0">
                <a:lnSpc>
                  <a:spcPts val="2325"/>
                </a:lnSpc>
              </a:pPr>
              <a:r>
                <a:rPr sz="1700" kern="0" spc="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fc</a:t>
              </a:r>
              <a:endParaRPr sz="17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666115" algn="l" rtl="0" eaLnBrk="0">
                <a:lnSpc>
                  <a:spcPts val="1975"/>
                </a:lnSpc>
                <a:spcBef>
                  <a:spcPts val="195"/>
                </a:spcBef>
              </a:pPr>
              <a:r>
                <a:rPr sz="1400" kern="0" spc="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four</a:t>
              </a:r>
              <a:r>
                <a:rPr sz="1400" kern="0" spc="5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_g</a:t>
              </a:r>
              <a:endParaRPr sz="14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215265" algn="l" rtl="0" eaLnBrk="0">
                <a:lnSpc>
                  <a:spcPts val="2200"/>
                </a:lnSpc>
              </a:pPr>
              <a:r>
                <a:rPr sz="1400" kern="0" spc="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int</a:t>
              </a:r>
              <a:r>
                <a:rPr sz="1400" kern="0" spc="14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_</a:t>
              </a:r>
              <a:r>
                <a:rPr sz="1400" kern="0" spc="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memory</a:t>
              </a:r>
              <a:endParaRPr sz="14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634365" algn="l" rtl="0" eaLnBrk="0">
                <a:lnSpc>
                  <a:spcPts val="2215"/>
                </a:lnSpc>
              </a:pPr>
              <a:r>
                <a:rPr sz="1400" kern="0" spc="2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m_</a:t>
              </a:r>
              <a:r>
                <a:rPr sz="1400" kern="0" spc="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dep</a:t>
              </a:r>
              <a:endParaRPr sz="14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342265" algn="l" rtl="0" eaLnBrk="0">
                <a:lnSpc>
                  <a:spcPts val="2150"/>
                </a:lnSpc>
              </a:pPr>
              <a:r>
                <a:rPr sz="1400" kern="0" spc="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mobile</a:t>
              </a:r>
              <a:r>
                <a:rPr sz="1400" kern="0" spc="10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_</a:t>
              </a:r>
              <a:r>
                <a:rPr sz="1400" kern="0" spc="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wt</a:t>
              </a:r>
              <a:endParaRPr sz="14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570865" algn="l" rtl="0" eaLnBrk="0">
                <a:lnSpc>
                  <a:spcPct val="120000"/>
                </a:lnSpc>
              </a:pPr>
              <a:r>
                <a:rPr sz="1400" kern="0" spc="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n</a:t>
              </a:r>
              <a:r>
                <a:rPr sz="1400" u="dotted" kern="0" spc="1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  </a:t>
              </a:r>
              <a:r>
                <a:rPr sz="1400" kern="0" spc="-35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 </a:t>
              </a:r>
              <a:r>
                <a:rPr sz="1400" kern="0" spc="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cores</a:t>
              </a:r>
              <a:endParaRPr sz="14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1015365" algn="l" rtl="0" eaLnBrk="0">
                <a:lnSpc>
                  <a:spcPts val="1065"/>
                </a:lnSpc>
                <a:spcBef>
                  <a:spcPts val="1235"/>
                </a:spcBef>
              </a:pPr>
              <a:r>
                <a:rPr sz="1400" kern="0" spc="-2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pc</a:t>
              </a:r>
              <a:endParaRPr sz="14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405765" algn="l" rtl="0" eaLnBrk="0">
                <a:lnSpc>
                  <a:spcPts val="2415"/>
                </a:lnSpc>
              </a:pPr>
              <a:r>
                <a:rPr sz="1400" kern="0" spc="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px</a:t>
              </a:r>
              <a:r>
                <a:rPr sz="1400" kern="0" spc="9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_</a:t>
              </a:r>
              <a:r>
                <a:rPr sz="1400" kern="0" spc="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height</a:t>
              </a:r>
              <a:endParaRPr sz="14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424815" algn="l" rtl="0" eaLnBrk="0">
                <a:lnSpc>
                  <a:spcPts val="2115"/>
                </a:lnSpc>
              </a:pPr>
              <a:r>
                <a:rPr sz="1400" kern="0" spc="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px</a:t>
              </a:r>
              <a:r>
                <a:rPr sz="1400" kern="0" spc="7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_</a:t>
              </a:r>
              <a:r>
                <a:rPr sz="1400" kern="0" spc="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width</a:t>
              </a:r>
              <a:endParaRPr sz="14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882015" algn="l" rtl="0" eaLnBrk="0">
                <a:lnSpc>
                  <a:spcPct val="66000"/>
                </a:lnSpc>
                <a:spcBef>
                  <a:spcPts val="980"/>
                </a:spcBef>
              </a:pPr>
              <a:r>
                <a:rPr sz="1400" kern="0" spc="-1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ram</a:t>
              </a:r>
              <a:endParaRPr sz="14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799465" algn="l" rtl="0" eaLnBrk="0">
                <a:lnSpc>
                  <a:spcPct val="83000"/>
                </a:lnSpc>
                <a:spcBef>
                  <a:spcPts val="795"/>
                </a:spcBef>
              </a:pPr>
              <a:r>
                <a:rPr sz="1400" kern="0" spc="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sc</a:t>
              </a:r>
              <a:r>
                <a:rPr sz="1400" kern="0" spc="2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_h</a:t>
              </a:r>
              <a:endParaRPr sz="14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799465" algn="l" rtl="0" eaLnBrk="0">
                <a:lnSpc>
                  <a:spcPct val="81000"/>
                </a:lnSpc>
                <a:spcBef>
                  <a:spcPts val="1110"/>
                </a:spcBef>
              </a:pPr>
              <a:r>
                <a:rPr sz="1100" kern="0" spc="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SC</a:t>
              </a:r>
              <a:r>
                <a:rPr sz="1100" kern="0" spc="2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_w</a:t>
              </a:r>
              <a:endParaRPr sz="11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424815" algn="l" rtl="0" eaLnBrk="0">
                <a:lnSpc>
                  <a:spcPts val="2305"/>
                </a:lnSpc>
              </a:pPr>
              <a:r>
                <a:rPr sz="1400" kern="0" spc="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talk</a:t>
              </a:r>
              <a:r>
                <a:rPr sz="1400" kern="0" spc="15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_</a:t>
              </a:r>
              <a:r>
                <a:rPr sz="1400" kern="0" spc="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time</a:t>
              </a:r>
              <a:endParaRPr sz="14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570865" algn="l" rtl="0" eaLnBrk="0">
                <a:lnSpc>
                  <a:spcPts val="2305"/>
                </a:lnSpc>
              </a:pPr>
              <a:r>
                <a:rPr sz="1400" kern="0" spc="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three</a:t>
              </a:r>
              <a:r>
                <a:rPr sz="1400" kern="0" spc="6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_g</a:t>
              </a:r>
              <a:endParaRPr sz="14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113665" algn="l" rtl="0" eaLnBrk="0">
                <a:lnSpc>
                  <a:spcPts val="2090"/>
                </a:lnSpc>
              </a:pPr>
              <a:r>
                <a:rPr sz="1400" kern="0" spc="2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touch_screen</a:t>
              </a:r>
              <a:endParaRPr sz="14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901065" algn="l" rtl="0" eaLnBrk="0">
                <a:lnSpc>
                  <a:spcPct val="88000"/>
                </a:lnSpc>
                <a:spcBef>
                  <a:spcPts val="0"/>
                </a:spcBef>
              </a:pPr>
              <a:r>
                <a:rPr sz="1700" kern="0" spc="1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wifi</a:t>
              </a:r>
              <a:endParaRPr sz="17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253365" algn="l" rtl="0" eaLnBrk="0">
                <a:lnSpc>
                  <a:spcPts val="2685"/>
                </a:lnSpc>
              </a:pPr>
              <a:r>
                <a:rPr sz="1400" kern="0" spc="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price</a:t>
              </a:r>
              <a:r>
                <a:rPr sz="1400" kern="0" spc="4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_</a:t>
              </a:r>
              <a:r>
                <a:rPr sz="1400" kern="0" spc="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range</a:t>
              </a:r>
              <a:endParaRPr sz="14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r" rtl="0" eaLnBrk="0">
                <a:lnSpc>
                  <a:spcPts val="2235"/>
                </a:lnSpc>
              </a:pPr>
              <a:r>
                <a:rPr sz="1500" kern="0" spc="-110" dirty="0">
                  <a:solidFill>
                    <a:srgbClr val="000000">
                      <a:alpha val="100000"/>
                    </a:srgbClr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参</a:t>
              </a:r>
              <a:endParaRPr sz="15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endParaRPr>
            </a:p>
          </p:txBody>
        </p:sp>
      </p:grpSp>
      <p:sp>
        <p:nvSpPr>
          <p:cNvPr id="48" name="textbox 48"/>
          <p:cNvSpPr/>
          <p:nvPr/>
        </p:nvSpPr>
        <p:spPr>
          <a:xfrm>
            <a:off x="1009599" y="2243032"/>
            <a:ext cx="4919979" cy="63563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8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7145" algn="l" rtl="0" eaLnBrk="0">
              <a:lnSpc>
                <a:spcPct val="96000"/>
              </a:lnSpc>
            </a:pPr>
            <a:r>
              <a:rPr sz="2700" b="1" kern="0" spc="1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核心洞察</a:t>
            </a:r>
            <a:endParaRPr sz="27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12700" algn="l" rtl="0" eaLnBrk="0">
              <a:lnSpc>
                <a:spcPct val="125000"/>
              </a:lnSpc>
              <a:spcBef>
                <a:spcPts val="625"/>
              </a:spcBef>
            </a:pPr>
            <a:r>
              <a:rPr sz="2000" kern="0" spc="2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通过皮尔逊相关性分析，发</a:t>
            </a:r>
            <a:r>
              <a:rPr sz="2000" kern="0" spc="1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现随机存取存储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sz="2000" kern="0" spc="4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器</a:t>
            </a:r>
            <a:r>
              <a:rPr sz="2000" kern="0" spc="4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sz="2000" kern="0" spc="4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(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RAM</a:t>
            </a:r>
            <a:r>
              <a:rPr sz="2000" kern="0" spc="4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)</a:t>
            </a:r>
            <a:r>
              <a:rPr sz="2000" kern="0" spc="9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 </a:t>
            </a:r>
            <a:r>
              <a:rPr sz="2000" kern="0" spc="4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与价格等级</a:t>
            </a:r>
            <a:r>
              <a:rPr sz="2000" kern="0" spc="-22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sz="2000" kern="0" spc="4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(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price</a:t>
            </a:r>
            <a:r>
              <a:rPr sz="2000" kern="0" spc="4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_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range</a:t>
            </a:r>
            <a:r>
              <a:rPr sz="2000" kern="0" spc="4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)  </a:t>
            </a:r>
            <a:r>
              <a:rPr sz="2000" kern="0" spc="3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2000" kern="0" spc="3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的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 </a:t>
            </a:r>
            <a:r>
              <a:rPr sz="2000" kern="0" spc="5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相关系数高达</a:t>
            </a:r>
            <a:r>
              <a:rPr sz="2000" kern="0" spc="50" dirty="0">
                <a:solidFill>
                  <a:srgbClr val="A0404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0.91</a:t>
            </a:r>
            <a:r>
              <a:rPr sz="2000" kern="0" spc="40" dirty="0">
                <a:solidFill>
                  <a:srgbClr val="A0404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2000" kern="0" spc="4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。</a:t>
            </a:r>
            <a:endParaRPr sz="20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 rtl="0" eaLnBrk="0">
              <a:lnSpc>
                <a:spcPct val="104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4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7145" algn="l" rtl="0" eaLnBrk="0">
              <a:lnSpc>
                <a:spcPct val="96000"/>
              </a:lnSpc>
              <a:spcBef>
                <a:spcPts val="820"/>
              </a:spcBef>
            </a:pPr>
            <a:r>
              <a:rPr sz="2700" b="1" kern="0" spc="1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次要洞察</a:t>
            </a:r>
            <a:endParaRPr sz="27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12700" algn="l" rtl="0" eaLnBrk="0">
              <a:lnSpc>
                <a:spcPct val="122000"/>
              </a:lnSpc>
              <a:spcBef>
                <a:spcPts val="660"/>
              </a:spcBef>
              <a:tabLst>
                <a:tab pos="182880" algn="l"/>
              </a:tabLst>
            </a:pPr>
            <a:r>
              <a:rPr sz="2000" kern="0" spc="7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-电池容量</a:t>
            </a:r>
            <a:r>
              <a:rPr sz="2000" kern="0" spc="-12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sz="2000" kern="0" spc="7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(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battery</a:t>
            </a:r>
            <a:r>
              <a:rPr sz="2000" kern="0" spc="7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_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power</a:t>
            </a:r>
            <a:r>
              <a:rPr sz="2000" kern="0" spc="7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)</a:t>
            </a:r>
            <a:r>
              <a:rPr sz="2000" kern="0" spc="-33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2000" kern="0" spc="7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、</a:t>
            </a:r>
            <a:r>
              <a:rPr sz="2000" kern="0" spc="90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2000" kern="0" spc="7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像素宽度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 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	</a:t>
            </a:r>
            <a:r>
              <a:rPr sz="2000" kern="0" spc="3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(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px</a:t>
            </a:r>
            <a:r>
              <a:rPr sz="2000" kern="0" spc="3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_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width</a:t>
            </a:r>
            <a:r>
              <a:rPr sz="2000" kern="0" spc="3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)</a:t>
            </a:r>
            <a:r>
              <a:rPr sz="2000" kern="0" spc="12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  </a:t>
            </a:r>
            <a:r>
              <a:rPr sz="2000" kern="0" spc="3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等特征也呈正</a:t>
            </a:r>
            <a:r>
              <a:rPr sz="2000" kern="0" spc="2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相关，但系数仅</a:t>
            </a:r>
            <a:r>
              <a:rPr sz="2000" kern="0" spc="1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sz="1700" kern="0" spc="13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在0</a:t>
            </a:r>
            <a:r>
              <a:rPr sz="1700" kern="0" spc="-43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sz="1700" kern="0" spc="13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.2左右。</a:t>
            </a:r>
            <a:endParaRPr sz="17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12700" algn="l" rtl="0" eaLnBrk="0">
              <a:lnSpc>
                <a:spcPct val="128000"/>
              </a:lnSpc>
              <a:spcBef>
                <a:spcPts val="130"/>
              </a:spcBef>
            </a:pPr>
            <a:r>
              <a:rPr sz="2000" kern="0" spc="5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-蓝牙</a:t>
            </a:r>
            <a:r>
              <a:rPr sz="2000" kern="0" spc="-27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sz="2000" kern="0" spc="5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(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blue</a:t>
            </a:r>
            <a:r>
              <a:rPr sz="2000" kern="0" spc="5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)</a:t>
            </a:r>
            <a:r>
              <a:rPr sz="2000" kern="0" spc="-34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2000" kern="0" spc="5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、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WiFi</a:t>
            </a:r>
            <a:r>
              <a:rPr sz="2000" kern="0" spc="5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(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wifi</a:t>
            </a:r>
            <a:r>
              <a:rPr sz="2000" kern="0" spc="5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)        </a:t>
            </a:r>
            <a:r>
              <a:rPr sz="2000" kern="0" spc="5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等</a:t>
            </a:r>
            <a:r>
              <a:rPr sz="2000" kern="0" spc="4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功能性特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  </a:t>
            </a:r>
            <a:r>
              <a:rPr sz="2000" kern="0" spc="1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征相关性几乎为零，已沦为市场标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配，不再</a:t>
            </a:r>
            <a:r>
              <a:rPr sz="2000" kern="0" spc="-1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sz="1700" kern="0" spc="27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是价格区分的有效特征。</a:t>
            </a:r>
            <a:endParaRPr sz="17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 rtl="0" eaLnBrk="0">
              <a:lnSpc>
                <a:spcPct val="118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8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7145" algn="l" rtl="0" eaLnBrk="0">
              <a:lnSpc>
                <a:spcPct val="96000"/>
              </a:lnSpc>
              <a:spcBef>
                <a:spcPts val="815"/>
              </a:spcBef>
            </a:pPr>
            <a:r>
              <a:rPr sz="2700" b="1" kern="0" spc="1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双重含义</a:t>
            </a:r>
            <a:endParaRPr sz="27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12700" algn="l" rtl="0" eaLnBrk="0">
              <a:lnSpc>
                <a:spcPct val="130000"/>
              </a:lnSpc>
              <a:spcBef>
                <a:spcPts val="270"/>
              </a:spcBef>
            </a:pP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RAM</a:t>
            </a:r>
            <a:r>
              <a:rPr sz="2000" kern="0" spc="39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2000" kern="0" spc="1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既是预测能力的基石，也可能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掩盖其他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sz="1700" kern="0" spc="27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特征的贡献，存在“</a:t>
            </a:r>
            <a:r>
              <a:rPr sz="1700" kern="0" spc="-49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sz="1700" kern="0" spc="27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一俊遮百丑”的风险</a:t>
            </a:r>
            <a:r>
              <a:rPr sz="1700" kern="0" spc="26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。</a:t>
            </a:r>
            <a:endParaRPr sz="17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50" name="textbox 50"/>
          <p:cNvSpPr/>
          <p:nvPr/>
        </p:nvSpPr>
        <p:spPr>
          <a:xfrm>
            <a:off x="1009599" y="937697"/>
            <a:ext cx="15086330" cy="67246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2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6000"/>
              </a:lnSpc>
              <a:spcBef>
                <a:spcPts val="0"/>
              </a:spcBef>
            </a:pPr>
            <a:r>
              <a:rPr sz="4400" kern="0" spc="9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探索</a:t>
            </a:r>
            <a:r>
              <a:rPr sz="4400" b="1" kern="0" spc="9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性数据分析：发现</a:t>
            </a:r>
            <a:r>
              <a:rPr sz="4400" b="1" kern="0" spc="8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“主角”特征——</a:t>
            </a:r>
            <a:r>
              <a:rPr sz="4400" b="1" kern="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RAM</a:t>
            </a:r>
            <a:r>
              <a:rPr sz="4400" b="1" kern="0" spc="8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的绝对统治力</a:t>
            </a:r>
            <a:endParaRPr sz="44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52" name="textbox 52"/>
          <p:cNvSpPr/>
          <p:nvPr/>
        </p:nvSpPr>
        <p:spPr>
          <a:xfrm>
            <a:off x="15135183" y="4813579"/>
            <a:ext cx="1507489" cy="86423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9000"/>
              </a:lnSpc>
            </a:pPr>
            <a:r>
              <a:rPr sz="1700" b="1" kern="0" spc="-7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强正相关：</a:t>
            </a:r>
            <a:endParaRPr sz="17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12700" algn="l" rtl="0" eaLnBrk="0">
              <a:lnSpc>
                <a:spcPct val="111000"/>
              </a:lnSpc>
              <a:spcBef>
                <a:spcPts val="60"/>
              </a:spcBef>
            </a:pPr>
            <a:r>
              <a:rPr sz="1700" b="1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RAM</a:t>
            </a:r>
            <a:r>
              <a:rPr sz="1700" kern="0" spc="68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1700" b="1" kern="0" spc="17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几乎是价</a:t>
            </a:r>
            <a:r>
              <a:rPr sz="1700" kern="0" spc="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sz="1700" b="1" kern="0" spc="16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格的代名词</a:t>
            </a:r>
            <a:endParaRPr sz="17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54" name="textbox 54"/>
          <p:cNvSpPr/>
          <p:nvPr/>
        </p:nvSpPr>
        <p:spPr>
          <a:xfrm>
            <a:off x="14312944" y="2124335"/>
            <a:ext cx="406400" cy="172847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79000"/>
              </a:lnSpc>
            </a:pPr>
            <a:r>
              <a:rPr sz="1700" kern="0" spc="-3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1.00</a:t>
            </a:r>
            <a:endParaRPr sz="1700" dirty="0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  <a:p>
            <a:pPr algn="l" rtl="0" eaLnBrk="0">
              <a:lnSpc>
                <a:spcPct val="109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9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9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79000"/>
              </a:lnSpc>
              <a:spcBef>
                <a:spcPts val="515"/>
              </a:spcBef>
            </a:pPr>
            <a:r>
              <a:rPr sz="1700" kern="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0.75</a:t>
            </a:r>
            <a:endParaRPr sz="1700" dirty="0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  <a:p>
            <a:pPr algn="l" rtl="0" eaLnBrk="0">
              <a:lnSpc>
                <a:spcPct val="100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7000"/>
              </a:lnSpc>
            </a:pPr>
            <a:endParaRPr sz="4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79000"/>
              </a:lnSpc>
              <a:spcBef>
                <a:spcPts val="0"/>
              </a:spcBef>
            </a:pPr>
            <a:r>
              <a:rPr sz="1700" kern="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0.50</a:t>
            </a:r>
            <a:endParaRPr sz="1700" dirty="0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56" name="textbox 56"/>
          <p:cNvSpPr/>
          <p:nvPr/>
        </p:nvSpPr>
        <p:spPr>
          <a:xfrm rot="16200000">
            <a:off x="7021259" y="8428278"/>
            <a:ext cx="1242694" cy="43053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3000"/>
              </a:lnSpc>
            </a:pPr>
            <a:endParaRPr sz="5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r" rtl="0" eaLnBrk="0">
              <a:lnSpc>
                <a:spcPts val="2670"/>
              </a:lnSpc>
              <a:spcBef>
                <a:spcPts val="0"/>
              </a:spcBef>
            </a:pPr>
            <a:r>
              <a:rPr sz="2100" kern="0" spc="-9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batlerdoer</a:t>
            </a:r>
            <a:endParaRPr sz="21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8" name="textbox 58"/>
          <p:cNvSpPr/>
          <p:nvPr/>
        </p:nvSpPr>
        <p:spPr>
          <a:xfrm rot="5400000">
            <a:off x="8959707" y="8408316"/>
            <a:ext cx="1068705" cy="3683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4000"/>
              </a:lnSpc>
            </a:pPr>
            <a:endParaRPr sz="3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6000"/>
              </a:lnSpc>
              <a:spcBef>
                <a:spcPts val="5"/>
              </a:spcBef>
            </a:pPr>
            <a:r>
              <a:rPr sz="2100" kern="0" spc="-3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KJowowu!</a:t>
            </a:r>
            <a:endParaRPr sz="21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0" name="textbox 60"/>
          <p:cNvSpPr/>
          <p:nvPr/>
        </p:nvSpPr>
        <p:spPr>
          <a:xfrm rot="16200000">
            <a:off x="12304466" y="8473882"/>
            <a:ext cx="1123314" cy="29337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6000"/>
              </a:lnSpc>
            </a:pPr>
            <a:endParaRPr sz="2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r" rtl="0" eaLnBrk="0">
              <a:lnSpc>
                <a:spcPts val="1955"/>
              </a:lnSpc>
              <a:spcBef>
                <a:spcPts val="0"/>
              </a:spcBef>
            </a:pPr>
            <a:r>
              <a:rPr sz="1500" kern="0" spc="-3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touch_scree</a:t>
            </a:r>
            <a:r>
              <a:rPr sz="1500" kern="0" spc="-4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n</a:t>
            </a:r>
            <a:endParaRPr sz="15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2" name="textbox 62"/>
          <p:cNvSpPr/>
          <p:nvPr/>
        </p:nvSpPr>
        <p:spPr>
          <a:xfrm rot="16200000">
            <a:off x="7710626" y="8420272"/>
            <a:ext cx="1027430" cy="29337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6000"/>
              </a:lnSpc>
            </a:pPr>
            <a:endParaRPr sz="2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r" rtl="0" eaLnBrk="0">
              <a:lnSpc>
                <a:spcPts val="1955"/>
              </a:lnSpc>
              <a:spcBef>
                <a:spcPts val="0"/>
              </a:spcBef>
            </a:pPr>
            <a:r>
              <a:rPr sz="1500" kern="0" spc="-4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clock_speed</a:t>
            </a:r>
            <a:endParaRPr sz="15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4" name="textbox 64"/>
          <p:cNvSpPr/>
          <p:nvPr/>
        </p:nvSpPr>
        <p:spPr>
          <a:xfrm rot="16200000">
            <a:off x="9632293" y="8344117"/>
            <a:ext cx="892810" cy="30099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17000"/>
              </a:lnSpc>
            </a:pPr>
            <a:endParaRPr sz="2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2000"/>
              </a:lnSpc>
              <a:spcBef>
                <a:spcPts val="0"/>
              </a:spcBef>
            </a:pPr>
            <a:r>
              <a:rPr sz="1800" kern="0" spc="-5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molle_wt</a:t>
            </a:r>
            <a:endParaRPr sz="18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6" name="textbox 66"/>
          <p:cNvSpPr/>
          <p:nvPr/>
        </p:nvSpPr>
        <p:spPr>
          <a:xfrm rot="16200000">
            <a:off x="11832082" y="8312653"/>
            <a:ext cx="823594" cy="29337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6000"/>
              </a:lnSpc>
            </a:pPr>
            <a:endParaRPr sz="2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r" rtl="0" eaLnBrk="0">
              <a:lnSpc>
                <a:spcPts val="1955"/>
              </a:lnSpc>
              <a:spcBef>
                <a:spcPts val="0"/>
              </a:spcBef>
            </a:pPr>
            <a:r>
              <a:rPr sz="1500" kern="0" spc="-6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talk_time</a:t>
            </a:r>
            <a:endParaRPr sz="15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8" name="textbox 68"/>
          <p:cNvSpPr/>
          <p:nvPr/>
        </p:nvSpPr>
        <p:spPr>
          <a:xfrm rot="16200000">
            <a:off x="8144495" y="8294079"/>
            <a:ext cx="769619" cy="29590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10000"/>
              </a:lnSpc>
            </a:pPr>
            <a:endParaRPr sz="2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r" rtl="0" eaLnBrk="0">
              <a:lnSpc>
                <a:spcPts val="1965"/>
              </a:lnSpc>
              <a:spcBef>
                <a:spcPts val="0"/>
              </a:spcBef>
            </a:pPr>
            <a:r>
              <a:rPr sz="1600" kern="0" spc="-8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dual_s</a:t>
            </a:r>
            <a:r>
              <a:rPr sz="1600" kern="0" spc="-7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i</a:t>
            </a:r>
            <a:r>
              <a:rPr sz="1600" kern="0" spc="-1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m</a:t>
            </a:r>
            <a:endParaRPr sz="16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70" name="textbox 70"/>
          <p:cNvSpPr/>
          <p:nvPr/>
        </p:nvSpPr>
        <p:spPr>
          <a:xfrm>
            <a:off x="16097336" y="9471665"/>
            <a:ext cx="1263650" cy="20192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3000"/>
              </a:lnSpc>
            </a:pPr>
            <a:r>
              <a:rPr sz="1400" b="1" kern="0" spc="-2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A</a:t>
            </a:r>
            <a:r>
              <a:rPr sz="1400" b="1" kern="0" spc="9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1400" b="1" kern="0" spc="-2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NotebookL</a:t>
            </a:r>
            <a:r>
              <a:rPr sz="1400" b="1" kern="0" spc="-3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M</a:t>
            </a:r>
            <a:endParaRPr sz="14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72" name="textbox 72"/>
          <p:cNvSpPr/>
          <p:nvPr/>
        </p:nvSpPr>
        <p:spPr>
          <a:xfrm rot="16200000">
            <a:off x="12247353" y="8232611"/>
            <a:ext cx="654050" cy="29337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6000"/>
              </a:lnSpc>
            </a:pPr>
            <a:endParaRPr sz="2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r" rtl="0" eaLnBrk="0">
              <a:lnSpc>
                <a:spcPts val="1955"/>
              </a:lnSpc>
              <a:spcBef>
                <a:spcPts val="0"/>
              </a:spcBef>
            </a:pPr>
            <a:r>
              <a:rPr sz="1500" kern="0" spc="-5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three_g</a:t>
            </a:r>
            <a:endParaRPr sz="15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74" name="textbox 74"/>
          <p:cNvSpPr/>
          <p:nvPr/>
        </p:nvSpPr>
        <p:spPr>
          <a:xfrm>
            <a:off x="11466143" y="5818178"/>
            <a:ext cx="613409" cy="3429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6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77000"/>
              </a:lnSpc>
            </a:pPr>
            <a:r>
              <a:rPr sz="2700" kern="0" spc="-20" dirty="0">
                <a:solidFill>
                  <a:srgbClr val="FFFFFF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0.91</a:t>
            </a:r>
            <a:endParaRPr sz="2700" dirty="0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76" name="textbox 76"/>
          <p:cNvSpPr/>
          <p:nvPr/>
        </p:nvSpPr>
        <p:spPr>
          <a:xfrm rot="16200000">
            <a:off x="10708366" y="8440628"/>
            <a:ext cx="632459" cy="2540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r" rtl="0" eaLnBrk="0">
              <a:lnSpc>
                <a:spcPts val="1800"/>
              </a:lnSpc>
            </a:pPr>
            <a:r>
              <a:rPr sz="1100" kern="0" spc="-3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px_heisht</a:t>
            </a:r>
            <a:endParaRPr sz="11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78" name="textbox 78"/>
          <p:cNvSpPr/>
          <p:nvPr/>
        </p:nvSpPr>
        <p:spPr>
          <a:xfrm rot="16200000">
            <a:off x="9489350" y="8194823"/>
            <a:ext cx="594359" cy="30099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17000"/>
              </a:lnSpc>
            </a:pPr>
            <a:endParaRPr sz="2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2000"/>
              </a:lnSpc>
              <a:spcBef>
                <a:spcPts val="0"/>
              </a:spcBef>
            </a:pPr>
            <a:r>
              <a:rPr sz="1800" kern="0" spc="-1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m_ded</a:t>
            </a:r>
            <a:endParaRPr sz="18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80" name="textbox 80"/>
          <p:cNvSpPr/>
          <p:nvPr/>
        </p:nvSpPr>
        <p:spPr>
          <a:xfrm rot="16200000">
            <a:off x="13109150" y="8501743"/>
            <a:ext cx="859789" cy="2095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84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2000"/>
              </a:lnSpc>
              <a:spcBef>
                <a:spcPts val="0"/>
              </a:spcBef>
            </a:pPr>
            <a:r>
              <a:rPr sz="1200" kern="0" spc="-1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price_range</a:t>
            </a:r>
            <a:endParaRPr sz="12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82" name="textbox 82"/>
          <p:cNvSpPr/>
          <p:nvPr/>
        </p:nvSpPr>
        <p:spPr>
          <a:xfrm rot="16200000">
            <a:off x="11390334" y="8087081"/>
            <a:ext cx="400050" cy="3429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r" rtl="0" eaLnBrk="0">
              <a:lnSpc>
                <a:spcPts val="2495"/>
              </a:lnSpc>
            </a:pPr>
            <a:r>
              <a:rPr sz="1600" kern="0" spc="-8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sc</a:t>
            </a:r>
            <a:r>
              <a:rPr sz="1600" kern="0" spc="-7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_</a:t>
            </a:r>
            <a:r>
              <a:rPr sz="1600" kern="0" spc="-5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h</a:t>
            </a:r>
            <a:endParaRPr sz="16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84" name="textbox 84"/>
          <p:cNvSpPr/>
          <p:nvPr/>
        </p:nvSpPr>
        <p:spPr>
          <a:xfrm rot="16200000">
            <a:off x="7716439" y="8084647"/>
            <a:ext cx="385445" cy="2984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r" rtl="0" eaLnBrk="0">
              <a:lnSpc>
                <a:spcPts val="2145"/>
              </a:lnSpc>
            </a:pPr>
            <a:r>
              <a:rPr sz="1500" kern="0" spc="-5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blue</a:t>
            </a:r>
            <a:endParaRPr sz="15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86" name="textbox 86"/>
          <p:cNvSpPr/>
          <p:nvPr/>
        </p:nvSpPr>
        <p:spPr>
          <a:xfrm rot="16200000">
            <a:off x="10094683" y="8284402"/>
            <a:ext cx="686434" cy="18224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6000"/>
              </a:lnSpc>
            </a:pPr>
            <a:endParaRPr sz="2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1080"/>
              </a:lnSpc>
              <a:spcBef>
                <a:spcPts val="0"/>
              </a:spcBef>
            </a:pPr>
            <a:r>
              <a:rPr sz="1500" kern="0" spc="-1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n_cores</a:t>
            </a:r>
            <a:endParaRPr sz="15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88" name="textbox 88"/>
          <p:cNvSpPr/>
          <p:nvPr/>
        </p:nvSpPr>
        <p:spPr>
          <a:xfrm rot="16200000">
            <a:off x="11752508" y="8150635"/>
            <a:ext cx="398779" cy="25527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5000"/>
              </a:lnSpc>
            </a:pPr>
            <a:endParaRPr sz="2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2000"/>
              </a:lnSpc>
            </a:pPr>
            <a:r>
              <a:rPr sz="1500" kern="0" spc="-2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SC_w</a:t>
            </a:r>
            <a:endParaRPr sz="15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90" name="textbox 90"/>
          <p:cNvSpPr/>
          <p:nvPr/>
        </p:nvSpPr>
        <p:spPr>
          <a:xfrm>
            <a:off x="14192189" y="4346791"/>
            <a:ext cx="479425" cy="22987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79000"/>
              </a:lnSpc>
            </a:pPr>
            <a:r>
              <a:rPr sz="1700" kern="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-0.25</a:t>
            </a:r>
            <a:endParaRPr sz="1700" dirty="0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92" name="textbox 92"/>
          <p:cNvSpPr/>
          <p:nvPr/>
        </p:nvSpPr>
        <p:spPr>
          <a:xfrm>
            <a:off x="14192189" y="5070703"/>
            <a:ext cx="479425" cy="22987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79000"/>
              </a:lnSpc>
            </a:pPr>
            <a:r>
              <a:rPr sz="1700" kern="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-0.00</a:t>
            </a:r>
            <a:endParaRPr sz="1700" dirty="0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94" name="textbox 94"/>
          <p:cNvSpPr/>
          <p:nvPr/>
        </p:nvSpPr>
        <p:spPr>
          <a:xfrm>
            <a:off x="14312943" y="5724780"/>
            <a:ext cx="479425" cy="22987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79000"/>
              </a:lnSpc>
            </a:pPr>
            <a:r>
              <a:rPr sz="1700" kern="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-0.25</a:t>
            </a:r>
            <a:endParaRPr sz="1700" dirty="0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96" name="textbox 96"/>
          <p:cNvSpPr/>
          <p:nvPr/>
        </p:nvSpPr>
        <p:spPr>
          <a:xfrm>
            <a:off x="14312943" y="6480391"/>
            <a:ext cx="479425" cy="22987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79000"/>
              </a:lnSpc>
            </a:pPr>
            <a:r>
              <a:rPr sz="1700" kern="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-0.50</a:t>
            </a:r>
            <a:endParaRPr sz="1700" dirty="0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98" name="textbox 98"/>
          <p:cNvSpPr/>
          <p:nvPr/>
        </p:nvSpPr>
        <p:spPr>
          <a:xfrm>
            <a:off x="14217702" y="7248780"/>
            <a:ext cx="479425" cy="22987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79000"/>
              </a:lnSpc>
            </a:pPr>
            <a:r>
              <a:rPr sz="1700" kern="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-0.75</a:t>
            </a:r>
            <a:endParaRPr sz="1700" dirty="0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00" name="textbox 100"/>
          <p:cNvSpPr/>
          <p:nvPr/>
        </p:nvSpPr>
        <p:spPr>
          <a:xfrm>
            <a:off x="14312944" y="7897690"/>
            <a:ext cx="401954" cy="19494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6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79000"/>
              </a:lnSpc>
            </a:pPr>
            <a:r>
              <a:rPr sz="1400" kern="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-1.00</a:t>
            </a:r>
            <a:endParaRPr sz="1400" dirty="0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02" name="textbox 102"/>
          <p:cNvSpPr/>
          <p:nvPr/>
        </p:nvSpPr>
        <p:spPr>
          <a:xfrm rot="16200000">
            <a:off x="9029334" y="8361766"/>
            <a:ext cx="269875" cy="2159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r" rtl="0" eaLnBrk="0">
              <a:lnSpc>
                <a:spcPts val="1500"/>
              </a:lnSpc>
            </a:pPr>
            <a:r>
              <a:rPr sz="700" kern="0" spc="-5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f</a:t>
            </a:r>
            <a:r>
              <a:rPr sz="700" kern="0" spc="-4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our_</a:t>
            </a:r>
            <a:r>
              <a:rPr sz="700" kern="0" spc="-3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g</a:t>
            </a:r>
            <a:endParaRPr sz="7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04" name="textbox 104"/>
          <p:cNvSpPr/>
          <p:nvPr/>
        </p:nvSpPr>
        <p:spPr>
          <a:xfrm>
            <a:off x="10610824" y="8047010"/>
            <a:ext cx="206375" cy="2571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r" rtl="0" eaLnBrk="0">
              <a:lnSpc>
                <a:spcPts val="1825"/>
              </a:lnSpc>
            </a:pPr>
            <a:r>
              <a:rPr sz="1500" kern="0" spc="-90" dirty="0">
                <a:solidFill>
                  <a:srgbClr val="000000">
                    <a:alpha val="100000"/>
                  </a:srgbClr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吕</a:t>
            </a:r>
            <a:endParaRPr sz="1500" dirty="0"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  <p:sp>
        <p:nvSpPr>
          <p:cNvPr id="106" name="textbox 106"/>
          <p:cNvSpPr/>
          <p:nvPr/>
        </p:nvSpPr>
        <p:spPr>
          <a:xfrm rot="16200000">
            <a:off x="11341652" y="8340009"/>
            <a:ext cx="38734" cy="971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r" rtl="0" eaLnBrk="0">
              <a:lnSpc>
                <a:spcPts val="560"/>
              </a:lnSpc>
            </a:pPr>
            <a:r>
              <a:rPr sz="100" kern="0" spc="-3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r</a:t>
            </a:r>
            <a:r>
              <a:rPr sz="100" kern="0" spc="-2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</a:t>
            </a:r>
            <a:r>
              <a:rPr sz="100" kern="0" spc="-1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m</a:t>
            </a:r>
            <a:endParaRPr sz="1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" name="picture 10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0" y="0"/>
            <a:ext cx="17475200" cy="9753600"/>
          </a:xfrm>
          <a:prstGeom prst="rect">
            <a:avLst/>
          </a:prstGeom>
        </p:spPr>
      </p:pic>
      <p:sp>
        <p:nvSpPr>
          <p:cNvPr id="110" name="textbox 110"/>
          <p:cNvSpPr/>
          <p:nvPr/>
        </p:nvSpPr>
        <p:spPr>
          <a:xfrm>
            <a:off x="704831" y="3518560"/>
            <a:ext cx="5797550" cy="545972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7780" algn="l" rtl="0" eaLnBrk="0">
              <a:lnSpc>
                <a:spcPct val="97000"/>
              </a:lnSpc>
            </a:pPr>
            <a:r>
              <a:rPr sz="2900" b="1" kern="0" spc="11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边界清晰</a:t>
            </a:r>
            <a:endParaRPr sz="29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12700" algn="l" rtl="0" eaLnBrk="0">
              <a:lnSpc>
                <a:spcPct val="114000"/>
              </a:lnSpc>
              <a:spcBef>
                <a:spcPts val="30"/>
              </a:spcBef>
            </a:pPr>
            <a:r>
              <a:rPr sz="2500" kern="0" spc="2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低价位</a:t>
            </a:r>
            <a:r>
              <a:rPr sz="2500" kern="0" spc="2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sz="2500" kern="0" spc="2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(</a:t>
            </a:r>
            <a:r>
              <a:rPr sz="25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Class</a:t>
            </a:r>
            <a:r>
              <a:rPr sz="2500" kern="0" spc="40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25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O</a:t>
            </a:r>
            <a:r>
              <a:rPr sz="2500" kern="0" spc="2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)</a:t>
            </a:r>
            <a:r>
              <a:rPr sz="2500" kern="0" spc="41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2500" kern="0" spc="2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与超高价位</a:t>
            </a:r>
            <a:r>
              <a:rPr sz="2500" kern="0" spc="-22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sz="2500" kern="0" spc="2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(</a:t>
            </a:r>
            <a:r>
              <a:rPr sz="25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Class</a:t>
            </a:r>
            <a:r>
              <a:rPr sz="2500" kern="0" spc="2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2500" kern="0" spc="1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3)</a:t>
            </a:r>
            <a:r>
              <a:rPr sz="25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2500" kern="0" spc="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在特征空间中占据相对独立的区域。</a:t>
            </a:r>
            <a:endParaRPr sz="25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 rtl="0" eaLnBrk="0">
              <a:lnSpc>
                <a:spcPct val="182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7780" algn="l" rtl="0" eaLnBrk="0">
              <a:lnSpc>
                <a:spcPct val="98000"/>
              </a:lnSpc>
              <a:spcBef>
                <a:spcPts val="880"/>
              </a:spcBef>
            </a:pPr>
            <a:r>
              <a:rPr sz="2900" b="1" kern="0" spc="10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严重重叠</a:t>
            </a:r>
            <a:endParaRPr sz="29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17145" algn="l" rtl="0" eaLnBrk="0">
              <a:lnSpc>
                <a:spcPct val="108000"/>
              </a:lnSpc>
              <a:spcBef>
                <a:spcPts val="20"/>
              </a:spcBef>
            </a:pPr>
            <a:r>
              <a:rPr sz="2500" b="1" kern="0" spc="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中价位</a:t>
            </a:r>
            <a:r>
              <a:rPr sz="2500" kern="0" spc="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sz="2500" b="1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(Clas</a:t>
            </a:r>
            <a:r>
              <a:rPr sz="2500" b="1" kern="0" spc="-1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</a:t>
            </a:r>
            <a:r>
              <a:rPr sz="2500" b="1" kern="0" spc="24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 </a:t>
            </a:r>
            <a:r>
              <a:rPr sz="2500" b="1" kern="0" spc="-1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1)</a:t>
            </a:r>
            <a:r>
              <a:rPr sz="2500" b="1" kern="0" spc="41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2500" b="1" kern="0" spc="-1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与高价位</a:t>
            </a:r>
            <a:r>
              <a:rPr sz="2500" kern="0" spc="-1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sz="2500" b="1" kern="0" spc="-1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(Class  2)</a:t>
            </a:r>
            <a:r>
              <a:rPr sz="2500" b="1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  </a:t>
            </a:r>
            <a:r>
              <a:rPr sz="2500" b="1" kern="0" spc="1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的样本点在几何空间中</a:t>
            </a:r>
            <a:r>
              <a:rPr sz="2500" b="1" kern="0" spc="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紧密交织，形成</a:t>
            </a:r>
            <a:r>
              <a:rPr sz="2500" kern="0" spc="-1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  </a:t>
            </a:r>
            <a:r>
              <a:rPr sz="2500" b="1" kern="0" spc="-3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了一个难以分割的混合区。</a:t>
            </a:r>
            <a:endParaRPr sz="25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 rtl="0" eaLnBrk="0">
              <a:lnSpc>
                <a:spcPct val="187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7780" algn="l" rtl="0" eaLnBrk="0">
              <a:lnSpc>
                <a:spcPct val="97000"/>
              </a:lnSpc>
              <a:spcBef>
                <a:spcPts val="870"/>
              </a:spcBef>
            </a:pPr>
            <a:r>
              <a:rPr sz="2900" b="1" kern="0" spc="9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战略预判</a:t>
            </a:r>
            <a:endParaRPr sz="29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12700" algn="l" rtl="0" eaLnBrk="0">
              <a:lnSpc>
                <a:spcPct val="110000"/>
              </a:lnSpc>
              <a:spcBef>
                <a:spcPts val="470"/>
              </a:spcBef>
            </a:pPr>
            <a:r>
              <a:rPr sz="2500" kern="0" spc="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这种“夹心饼干”式的分布</a:t>
            </a:r>
            <a:r>
              <a:rPr sz="2500" kern="0" spc="-1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形态预示着，</a:t>
            </a:r>
            <a:r>
              <a:rPr sz="2500" kern="0" spc="-1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sz="2500" kern="0" spc="2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任何依赖单一线性边界的模型都将在此区</a:t>
            </a:r>
            <a:r>
              <a:rPr sz="2500" kern="0" spc="7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sz="2100" kern="0" spc="37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域遭遇重大挫败。</a:t>
            </a:r>
            <a:endParaRPr sz="21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12" name="textbox 112"/>
          <p:cNvSpPr/>
          <p:nvPr/>
        </p:nvSpPr>
        <p:spPr>
          <a:xfrm>
            <a:off x="713095" y="431665"/>
            <a:ext cx="13936980" cy="6826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6000"/>
              </a:lnSpc>
            </a:pPr>
            <a:r>
              <a:rPr sz="4500" b="1" kern="0" spc="-2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核心挑战：</a:t>
            </a:r>
            <a:r>
              <a:rPr sz="4500" kern="0" spc="-72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sz="4500" b="1" kern="0" spc="-2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“夹心层”困境揭示了数据的线性不可分</a:t>
            </a:r>
            <a:r>
              <a:rPr sz="4500" b="1" kern="0" spc="-3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性</a:t>
            </a:r>
            <a:endParaRPr sz="45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14" name="textbox 114"/>
          <p:cNvSpPr/>
          <p:nvPr/>
        </p:nvSpPr>
        <p:spPr>
          <a:xfrm>
            <a:off x="704831" y="1850046"/>
            <a:ext cx="5528309" cy="13017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1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7780" algn="l" rtl="0" eaLnBrk="0">
              <a:lnSpc>
                <a:spcPct val="97000"/>
              </a:lnSpc>
            </a:pPr>
            <a:r>
              <a:rPr sz="2900" b="1" kern="0" spc="8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可视化证据</a:t>
            </a:r>
            <a:endParaRPr sz="29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12700" algn="l" rtl="0" eaLnBrk="0">
              <a:lnSpc>
                <a:spcPct val="99000"/>
              </a:lnSpc>
              <a:spcBef>
                <a:spcPts val="725"/>
              </a:spcBef>
            </a:pPr>
            <a:r>
              <a:rPr sz="2500" kern="0" spc="2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观察</a:t>
            </a:r>
            <a:r>
              <a:rPr sz="25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RAM</a:t>
            </a:r>
            <a:r>
              <a:rPr sz="2500" kern="0" spc="2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与电池容量的二维</a:t>
            </a:r>
            <a:r>
              <a:rPr sz="2500" kern="0" spc="1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散点图，揭</a:t>
            </a:r>
            <a:r>
              <a:rPr sz="2500" kern="0" spc="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sz="2500" kern="0" spc="1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示出清晰的数据分布</a:t>
            </a:r>
            <a:r>
              <a:rPr sz="2500" kern="0" spc="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形态。</a:t>
            </a:r>
            <a:endParaRPr sz="25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16" name="textbox 116"/>
          <p:cNvSpPr/>
          <p:nvPr/>
        </p:nvSpPr>
        <p:spPr>
          <a:xfrm>
            <a:off x="14528762" y="5992099"/>
            <a:ext cx="2272664" cy="291972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2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43180" algn="l" rtl="0" eaLnBrk="0">
              <a:lnSpc>
                <a:spcPct val="96000"/>
              </a:lnSpc>
            </a:pPr>
            <a:r>
              <a:rPr sz="2900" b="1" kern="0" spc="60" dirty="0">
                <a:solidFill>
                  <a:srgbClr val="80304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线性决策的</a:t>
            </a:r>
            <a:endParaRPr sz="29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213360" algn="l" rtl="0" eaLnBrk="0">
              <a:lnSpc>
                <a:spcPts val="2465"/>
              </a:lnSpc>
              <a:spcBef>
                <a:spcPts val="1050"/>
              </a:spcBef>
            </a:pPr>
            <a:r>
              <a:rPr sz="1900" b="1" kern="0" spc="-90" dirty="0">
                <a:solidFill>
                  <a:srgbClr val="A0404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‘</a:t>
            </a:r>
            <a:r>
              <a:rPr sz="1900" kern="0" spc="-180" dirty="0">
                <a:solidFill>
                  <a:srgbClr val="A0404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sz="1900" b="1" kern="0" spc="-90" dirty="0">
                <a:solidFill>
                  <a:srgbClr val="A0404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死</a:t>
            </a:r>
            <a:r>
              <a:rPr sz="1900" kern="0" spc="-90" dirty="0">
                <a:solidFill>
                  <a:srgbClr val="A0404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sz="1900" b="1" kern="0" spc="-90" dirty="0">
                <a:solidFill>
                  <a:srgbClr val="A0404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亡</a:t>
            </a:r>
            <a:r>
              <a:rPr sz="1900" kern="0" spc="-90" dirty="0">
                <a:solidFill>
                  <a:srgbClr val="A0404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sz="1900" b="1" kern="0" spc="-90" dirty="0">
                <a:solidFill>
                  <a:srgbClr val="A0404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地</a:t>
            </a:r>
            <a:r>
              <a:rPr sz="1900" kern="0" spc="-90" dirty="0">
                <a:solidFill>
                  <a:srgbClr val="A0404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sz="1900" b="1" kern="0" spc="-90" dirty="0">
                <a:solidFill>
                  <a:srgbClr val="A0404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带</a:t>
            </a:r>
            <a:r>
              <a:rPr sz="1900" kern="0" spc="-90" dirty="0">
                <a:solidFill>
                  <a:srgbClr val="A0404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sz="1900" b="1" kern="0" spc="-90" dirty="0">
                <a:solidFill>
                  <a:srgbClr val="A0404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’</a:t>
            </a:r>
            <a:endParaRPr sz="19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 rtl="0" eaLnBrk="0">
              <a:lnSpc>
                <a:spcPct val="107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7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7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7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8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8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8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8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8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8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8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6000"/>
              </a:lnSpc>
            </a:pPr>
            <a:endParaRPr sz="3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77000"/>
              </a:lnSpc>
              <a:spcBef>
                <a:spcPts val="5"/>
              </a:spcBef>
            </a:pPr>
            <a:r>
              <a:rPr sz="1400" kern="0" spc="-4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800</a:t>
            </a:r>
            <a:r>
              <a:rPr sz="1400" kern="0" spc="1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             </a:t>
            </a:r>
            <a:r>
              <a:rPr sz="1400" kern="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              </a:t>
            </a:r>
            <a:r>
              <a:rPr sz="1400" kern="0" spc="-4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1000</a:t>
            </a:r>
            <a:endParaRPr sz="1400" dirty="0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18" name="textbox 118"/>
          <p:cNvSpPr/>
          <p:nvPr/>
        </p:nvSpPr>
        <p:spPr>
          <a:xfrm>
            <a:off x="8235944" y="8721593"/>
            <a:ext cx="4420234" cy="53149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5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3000"/>
              </a:lnSpc>
            </a:pPr>
            <a:r>
              <a:rPr sz="2100" kern="0" spc="0" baseline="-200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0</a:t>
            </a:r>
            <a:r>
              <a:rPr sz="1300" kern="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                            </a:t>
            </a:r>
            <a:r>
              <a:rPr sz="1300" kern="0" spc="-1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    </a:t>
            </a:r>
            <a:r>
              <a:rPr sz="1400" kern="0" spc="-1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200                               400</a:t>
            </a:r>
            <a:endParaRPr sz="1400" dirty="0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  <a:p>
            <a:pPr algn="r" rtl="0" eaLnBrk="0">
              <a:lnSpc>
                <a:spcPct val="82000"/>
              </a:lnSpc>
              <a:spcBef>
                <a:spcPts val="520"/>
              </a:spcBef>
            </a:pPr>
            <a:r>
              <a:rPr sz="2100" kern="0" spc="-2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RAM</a:t>
            </a:r>
            <a:endParaRPr sz="21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20" name="textbox 120"/>
          <p:cNvSpPr/>
          <p:nvPr/>
        </p:nvSpPr>
        <p:spPr>
          <a:xfrm>
            <a:off x="7353270" y="4694598"/>
            <a:ext cx="521969" cy="253428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5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77000"/>
              </a:lnSpc>
            </a:pPr>
            <a:r>
              <a:rPr sz="1700" kern="0" spc="-3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600·</a:t>
            </a:r>
            <a:endParaRPr sz="1700" dirty="0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  <a:p>
            <a:pPr algn="l" rtl="0" eaLnBrk="0">
              <a:lnSpc>
                <a:spcPct val="109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0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0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0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0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r" rtl="0" eaLnBrk="0">
              <a:lnSpc>
                <a:spcPct val="78000"/>
              </a:lnSpc>
              <a:spcBef>
                <a:spcPts val="640"/>
              </a:spcBef>
            </a:pPr>
            <a:r>
              <a:rPr sz="2100" kern="0" spc="-6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400</a:t>
            </a:r>
            <a:r>
              <a:rPr sz="2100" kern="0" spc="-25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2100" kern="0" spc="-6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·</a:t>
            </a:r>
            <a:endParaRPr sz="2100" dirty="0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  <a:p>
            <a:pPr algn="l" rtl="0" eaLnBrk="0">
              <a:lnSpc>
                <a:spcPct val="10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8000"/>
              </a:lnSpc>
            </a:pPr>
            <a:endParaRPr sz="3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77000"/>
              </a:lnSpc>
              <a:spcBef>
                <a:spcPts val="0"/>
              </a:spcBef>
            </a:pPr>
            <a:r>
              <a:rPr sz="1400" kern="0" spc="-1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200</a:t>
            </a:r>
            <a:endParaRPr sz="1400" dirty="0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22" name="textbox 122"/>
          <p:cNvSpPr/>
          <p:nvPr/>
        </p:nvSpPr>
        <p:spPr>
          <a:xfrm rot="16200000">
            <a:off x="6262288" y="5583739"/>
            <a:ext cx="2026920" cy="14160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48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9000"/>
              </a:lnSpc>
              <a:spcBef>
                <a:spcPts val="0"/>
              </a:spcBef>
            </a:pPr>
            <a:r>
              <a:rPr sz="700" kern="0" spc="-2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电</a:t>
            </a:r>
            <a:r>
              <a:rPr sz="700" kern="0" spc="15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</a:t>
            </a:r>
            <a:r>
              <a:rPr sz="700" kern="0" spc="-2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池</a:t>
            </a:r>
            <a:r>
              <a:rPr sz="700" kern="0" spc="12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</a:t>
            </a:r>
            <a:r>
              <a:rPr sz="700" kern="0" spc="-2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容</a:t>
            </a:r>
            <a:r>
              <a:rPr sz="700" kern="0" spc="11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</a:t>
            </a:r>
            <a:r>
              <a:rPr sz="700" kern="0" spc="-2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量   (</a:t>
            </a:r>
            <a:r>
              <a:rPr sz="700" kern="0" spc="11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</a:t>
            </a:r>
            <a:r>
              <a:rPr sz="700" kern="0" spc="-2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B</a:t>
            </a:r>
            <a:r>
              <a:rPr sz="700" kern="0" spc="11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</a:t>
            </a:r>
            <a:r>
              <a:rPr sz="700" kern="0" spc="-2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</a:t>
            </a:r>
            <a:r>
              <a:rPr sz="700" kern="0" spc="12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</a:t>
            </a:r>
            <a:r>
              <a:rPr sz="700" kern="0" spc="-2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t</a:t>
            </a:r>
            <a:r>
              <a:rPr sz="700" kern="0" spc="13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</a:t>
            </a:r>
            <a:r>
              <a:rPr sz="700" kern="0" spc="-2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t</a:t>
            </a:r>
            <a:r>
              <a:rPr sz="700" kern="0" spc="12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</a:t>
            </a:r>
            <a:r>
              <a:rPr sz="700" kern="0" spc="-2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e</a:t>
            </a:r>
            <a:r>
              <a:rPr sz="700" kern="0" spc="11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</a:t>
            </a:r>
            <a:r>
              <a:rPr sz="700" kern="0" spc="-2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r</a:t>
            </a:r>
            <a:r>
              <a:rPr sz="700" kern="0" spc="11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</a:t>
            </a:r>
            <a:r>
              <a:rPr sz="700" kern="0" spc="-2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y</a:t>
            </a:r>
            <a:endParaRPr sz="7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24" name="textbox 124"/>
          <p:cNvSpPr/>
          <p:nvPr/>
        </p:nvSpPr>
        <p:spPr>
          <a:xfrm>
            <a:off x="16097336" y="9476351"/>
            <a:ext cx="1278889" cy="19748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7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1000"/>
              </a:lnSpc>
            </a:pPr>
            <a:r>
              <a:rPr sz="1400" b="1" kern="0" spc="-1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A</a:t>
            </a:r>
            <a:r>
              <a:rPr sz="1400" b="1" kern="0" spc="10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1400" b="1" kern="0" spc="-1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Notebook</a:t>
            </a:r>
            <a:r>
              <a:rPr sz="1400" b="1" kern="0" spc="-2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LM</a:t>
            </a:r>
            <a:endParaRPr sz="14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26" name="textbox 126"/>
          <p:cNvSpPr/>
          <p:nvPr/>
        </p:nvSpPr>
        <p:spPr>
          <a:xfrm rot="16200000">
            <a:off x="6836064" y="3875149"/>
            <a:ext cx="879475" cy="14795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7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855"/>
              </a:lnSpc>
            </a:pPr>
            <a:r>
              <a:rPr sz="700" kern="0" spc="-1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P</a:t>
            </a:r>
            <a:r>
              <a:rPr sz="700" kern="0" spc="13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</a:t>
            </a:r>
            <a:r>
              <a:rPr sz="700" kern="0" spc="-1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o</a:t>
            </a:r>
            <a:r>
              <a:rPr sz="700" kern="0" spc="10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</a:t>
            </a:r>
            <a:r>
              <a:rPr sz="700" kern="0" spc="-1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w</a:t>
            </a:r>
            <a:r>
              <a:rPr sz="700" kern="0" spc="13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</a:t>
            </a:r>
            <a:r>
              <a:rPr sz="700" kern="0" spc="-1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e</a:t>
            </a:r>
            <a:r>
              <a:rPr sz="700" kern="0" spc="11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</a:t>
            </a:r>
            <a:r>
              <a:rPr sz="700" kern="0" spc="-1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r</a:t>
            </a:r>
            <a:r>
              <a:rPr sz="700" kern="0" spc="11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</a:t>
            </a:r>
            <a:r>
              <a:rPr sz="700" kern="0" spc="-1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)</a:t>
            </a:r>
            <a:endParaRPr sz="7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28" name="textbox 128"/>
          <p:cNvSpPr/>
          <p:nvPr/>
        </p:nvSpPr>
        <p:spPr>
          <a:xfrm>
            <a:off x="7626409" y="8147236"/>
            <a:ext cx="243204" cy="27114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9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r" rtl="0" eaLnBrk="0">
              <a:lnSpc>
                <a:spcPct val="85000"/>
              </a:lnSpc>
            </a:pPr>
            <a:r>
              <a:rPr sz="1900" kern="0" spc="-7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0</a:t>
            </a:r>
            <a:r>
              <a:rPr sz="1900" kern="0" spc="-23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1900" kern="0" spc="-7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·</a:t>
            </a:r>
            <a:endParaRPr sz="1900" dirty="0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30" name="textbox 130"/>
          <p:cNvSpPr/>
          <p:nvPr/>
        </p:nvSpPr>
        <p:spPr>
          <a:xfrm>
            <a:off x="12928559" y="8721593"/>
            <a:ext cx="284479" cy="1905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5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77000"/>
              </a:lnSpc>
            </a:pPr>
            <a:r>
              <a:rPr sz="1400" kern="0" spc="-2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600</a:t>
            </a:r>
            <a:endParaRPr sz="1400" dirty="0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32" name="textbox 132"/>
          <p:cNvSpPr/>
          <p:nvPr/>
        </p:nvSpPr>
        <p:spPr>
          <a:xfrm>
            <a:off x="7353269" y="2390629"/>
            <a:ext cx="281304" cy="1905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5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77000"/>
              </a:lnSpc>
            </a:pPr>
            <a:r>
              <a:rPr sz="1400" kern="0" spc="-3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800</a:t>
            </a:r>
            <a:endParaRPr sz="1400" dirty="0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34" name="textbox 134"/>
          <p:cNvSpPr/>
          <p:nvPr/>
        </p:nvSpPr>
        <p:spPr>
          <a:xfrm>
            <a:off x="7353269" y="3552770"/>
            <a:ext cx="281304" cy="1905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5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77000"/>
              </a:lnSpc>
            </a:pPr>
            <a:r>
              <a:rPr sz="1400" kern="0" spc="-3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800</a:t>
            </a:r>
            <a:endParaRPr sz="1400" dirty="0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rect 136"/>
          <p:cNvSpPr/>
          <p:nvPr/>
        </p:nvSpPr>
        <p:spPr>
          <a:xfrm>
            <a:off x="0" y="0"/>
            <a:ext cx="17475200" cy="9753600"/>
          </a:xfrm>
          <a:prstGeom prst="rect">
            <a:avLst/>
          </a:prstGeom>
          <a:solidFill>
            <a:srgbClr val="F5F5EC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138" name="picture 13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869915" y="2698723"/>
            <a:ext cx="15728901" cy="4337035"/>
          </a:xfrm>
          <a:prstGeom prst="rect">
            <a:avLst/>
          </a:prstGeom>
        </p:spPr>
      </p:pic>
      <p:sp>
        <p:nvSpPr>
          <p:cNvPr id="140" name="textbox 140"/>
          <p:cNvSpPr/>
          <p:nvPr/>
        </p:nvSpPr>
        <p:spPr>
          <a:xfrm>
            <a:off x="1031254" y="919656"/>
            <a:ext cx="12484100" cy="73850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6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5000"/>
              </a:lnSpc>
              <a:spcBef>
                <a:spcPts val="0"/>
              </a:spcBef>
            </a:pPr>
            <a:r>
              <a:rPr sz="4900" b="1" kern="0" spc="-2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严谨的实验设计：确保对决的公平性与科</a:t>
            </a:r>
            <a:r>
              <a:rPr sz="4900" b="1" kern="0" spc="-3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学性</a:t>
            </a:r>
            <a:endParaRPr sz="49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42" name="textbox 142"/>
          <p:cNvSpPr/>
          <p:nvPr/>
        </p:nvSpPr>
        <p:spPr>
          <a:xfrm>
            <a:off x="4318003" y="7188171"/>
            <a:ext cx="2063750" cy="136398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103000"/>
              </a:lnSpc>
            </a:pPr>
            <a:r>
              <a:rPr sz="2000" kern="0" spc="-4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针</a:t>
            </a:r>
            <a:r>
              <a:rPr sz="2000" kern="0" spc="-21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sz="2000" kern="0" spc="-4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对</a:t>
            </a:r>
            <a:r>
              <a:rPr sz="2000" kern="0" spc="-4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SVM</a:t>
            </a:r>
            <a:r>
              <a:rPr sz="2000" kern="0" spc="-4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和</a:t>
            </a:r>
            <a:r>
              <a:rPr sz="2000" kern="0" spc="-56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sz="2000" kern="0" spc="-4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KNN,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2300" kern="0" spc="-1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避免距离计算被</a:t>
            </a:r>
            <a:r>
              <a:rPr sz="2300" kern="0" spc="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sz="2300" kern="0" spc="-9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RAM</a:t>
            </a:r>
            <a:r>
              <a:rPr sz="2300" kern="0" spc="-9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的巨大数值</a:t>
            </a:r>
            <a:r>
              <a:rPr sz="2300" kern="0" spc="4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sz="2000" kern="0" spc="19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范围主导。</a:t>
            </a:r>
            <a:endParaRPr sz="20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44" name="textbox 144"/>
          <p:cNvSpPr/>
          <p:nvPr/>
        </p:nvSpPr>
        <p:spPr>
          <a:xfrm>
            <a:off x="7588312" y="7140737"/>
            <a:ext cx="2360929" cy="106553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6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9000"/>
              </a:lnSpc>
            </a:pPr>
            <a:r>
              <a:rPr sz="2300" kern="0" spc="-4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剔除噪声，使</a:t>
            </a:r>
            <a:r>
              <a:rPr sz="2300" kern="0" spc="-4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KNN</a:t>
            </a:r>
            <a:r>
              <a:rPr sz="2300" kern="0" spc="6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2300" kern="0" spc="-5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和随机森林准确率</a:t>
            </a:r>
            <a:r>
              <a:rPr sz="2300" kern="0" spc="4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sz="2300" kern="0" spc="9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提升6%以上。</a:t>
            </a:r>
            <a:endParaRPr sz="23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46" name="textbox 146"/>
          <p:cNvSpPr/>
          <p:nvPr/>
        </p:nvSpPr>
        <p:spPr>
          <a:xfrm>
            <a:off x="10871203" y="7154764"/>
            <a:ext cx="2051050" cy="105791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7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8000"/>
              </a:lnSpc>
            </a:pPr>
            <a:r>
              <a:rPr sz="2300" kern="0" spc="-3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保证评估结果的</a:t>
            </a:r>
            <a:r>
              <a:rPr sz="2300" kern="0" spc="4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sz="2300" kern="0" spc="-4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泛化能力与稳定</a:t>
            </a:r>
            <a:r>
              <a:rPr sz="2300" kern="0" spc="4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sz="2300" kern="0" spc="-9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性。</a:t>
            </a:r>
            <a:endParaRPr sz="23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48" name="textbox 148"/>
          <p:cNvSpPr/>
          <p:nvPr/>
        </p:nvSpPr>
        <p:spPr>
          <a:xfrm>
            <a:off x="7524703" y="3021871"/>
            <a:ext cx="2376170" cy="7429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5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5000"/>
              </a:lnSpc>
            </a:pPr>
            <a:r>
              <a:rPr sz="2300" b="1" kern="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ANOVA</a:t>
            </a:r>
            <a:r>
              <a:rPr sz="2300" b="1" kern="0" spc="20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特征选择</a:t>
            </a:r>
            <a:endParaRPr sz="23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577215" algn="l" rtl="0" eaLnBrk="0">
              <a:lnSpc>
                <a:spcPts val="3310"/>
              </a:lnSpc>
            </a:pPr>
            <a:r>
              <a:rPr sz="2300" b="1" kern="0" spc="-2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(Top</a:t>
            </a:r>
            <a:r>
              <a:rPr sz="2300" b="1" kern="0" spc="24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 </a:t>
            </a:r>
            <a:r>
              <a:rPr sz="2300" b="1" kern="0" spc="-2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10)</a:t>
            </a:r>
            <a:endParaRPr sz="23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50" name="textbox 150"/>
          <p:cNvSpPr/>
          <p:nvPr/>
        </p:nvSpPr>
        <p:spPr>
          <a:xfrm>
            <a:off x="4392715" y="3105067"/>
            <a:ext cx="2143125" cy="45783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r" rtl="0" eaLnBrk="0">
              <a:lnSpc>
                <a:spcPts val="3405"/>
              </a:lnSpc>
            </a:pPr>
            <a:r>
              <a:rPr sz="2800" b="1" kern="0" spc="-18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Z-Scor</a:t>
            </a:r>
            <a:r>
              <a:rPr sz="2800" b="1" kern="0" spc="-17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e</a:t>
            </a:r>
            <a:r>
              <a:rPr sz="2800" b="1" kern="0" spc="-17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标准</a:t>
            </a:r>
            <a:r>
              <a:rPr sz="2800" b="1" kern="0" spc="-11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化</a:t>
            </a:r>
            <a:endParaRPr sz="28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52" name="textbox 152"/>
          <p:cNvSpPr/>
          <p:nvPr/>
        </p:nvSpPr>
        <p:spPr>
          <a:xfrm>
            <a:off x="11123094" y="3175416"/>
            <a:ext cx="1779904" cy="36766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5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8000"/>
              </a:lnSpc>
            </a:pPr>
            <a:r>
              <a:rPr sz="2300" b="1" kern="0" spc="17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5折交叉验证</a:t>
            </a:r>
            <a:endParaRPr sz="23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54" name="textbox 154"/>
          <p:cNvSpPr/>
          <p:nvPr/>
        </p:nvSpPr>
        <p:spPr>
          <a:xfrm>
            <a:off x="14641028" y="3175416"/>
            <a:ext cx="1292860" cy="36766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5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8000"/>
              </a:lnSpc>
            </a:pPr>
            <a:r>
              <a:rPr sz="2300" b="1" kern="0" spc="17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模型评估</a:t>
            </a:r>
            <a:endParaRPr sz="23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56" name="textbox 156"/>
          <p:cNvSpPr/>
          <p:nvPr/>
        </p:nvSpPr>
        <p:spPr>
          <a:xfrm>
            <a:off x="1521871" y="3175416"/>
            <a:ext cx="1288414" cy="36766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5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8000"/>
              </a:lnSpc>
            </a:pPr>
            <a:r>
              <a:rPr sz="2300" b="1" kern="0" spc="17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原始数据</a:t>
            </a:r>
            <a:endParaRPr sz="23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58" name="textbox 158"/>
          <p:cNvSpPr/>
          <p:nvPr/>
        </p:nvSpPr>
        <p:spPr>
          <a:xfrm>
            <a:off x="16097336" y="9476351"/>
            <a:ext cx="1278889" cy="19748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7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1000"/>
              </a:lnSpc>
            </a:pPr>
            <a:r>
              <a:rPr sz="1400" b="1" kern="0" spc="-1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A</a:t>
            </a:r>
            <a:r>
              <a:rPr sz="1400" b="1" kern="0" spc="10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1400" b="1" kern="0" spc="-1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Notebook</a:t>
            </a:r>
            <a:r>
              <a:rPr sz="1400" b="1" kern="0" spc="-2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LM</a:t>
            </a:r>
            <a:endParaRPr sz="14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0" name="picture 16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0" y="0"/>
            <a:ext cx="17475200" cy="9753600"/>
          </a:xfrm>
          <a:prstGeom prst="rect">
            <a:avLst/>
          </a:prstGeom>
        </p:spPr>
      </p:pic>
      <p:sp>
        <p:nvSpPr>
          <p:cNvPr id="162" name="textbox 162"/>
          <p:cNvSpPr/>
          <p:nvPr/>
        </p:nvSpPr>
        <p:spPr>
          <a:xfrm>
            <a:off x="1028647" y="2329294"/>
            <a:ext cx="7601584" cy="515239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9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7780" algn="l" rtl="0" eaLnBrk="0">
              <a:lnSpc>
                <a:spcPct val="98000"/>
              </a:lnSpc>
            </a:pPr>
            <a:r>
              <a:rPr sz="3000" b="1" kern="0" spc="4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核心原理</a:t>
            </a:r>
            <a:endParaRPr sz="30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12700" algn="l" rtl="0" eaLnBrk="0">
              <a:lnSpc>
                <a:spcPct val="91000"/>
              </a:lnSpc>
              <a:spcBef>
                <a:spcPts val="1695"/>
              </a:spcBef>
            </a:pPr>
            <a:r>
              <a:rPr sz="2600" kern="0" spc="-1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在特征空间中寻找一个能</a:t>
            </a:r>
            <a:r>
              <a:rPr sz="2600" kern="0" spc="-2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够最大化类别间隔</a:t>
            </a:r>
            <a:r>
              <a:rPr sz="2600" kern="0" spc="-2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sz="2600" kern="0" spc="-2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(Margin)</a:t>
            </a:r>
            <a:endParaRPr sz="2600" dirty="0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  <a:p>
            <a:pPr marL="12700" algn="l" rtl="0" eaLnBrk="0">
              <a:lnSpc>
                <a:spcPts val="3615"/>
              </a:lnSpc>
            </a:pPr>
            <a:r>
              <a:rPr sz="2200" kern="0" spc="13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的决策超平面。</a:t>
            </a:r>
            <a:endParaRPr sz="22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 rtl="0" eaLnBrk="0">
              <a:lnSpc>
                <a:spcPct val="144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45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7145" algn="l" rtl="0" eaLnBrk="0">
              <a:lnSpc>
                <a:spcPct val="97000"/>
              </a:lnSpc>
              <a:spcBef>
                <a:spcPts val="790"/>
              </a:spcBef>
            </a:pPr>
            <a:r>
              <a:rPr sz="2600" b="1" kern="0" spc="43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本次实验策略</a:t>
            </a:r>
            <a:endParaRPr sz="26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12700" algn="l" rtl="0" eaLnBrk="0">
              <a:lnSpc>
                <a:spcPct val="93000"/>
              </a:lnSpc>
              <a:spcBef>
                <a:spcPts val="1505"/>
              </a:spcBef>
            </a:pPr>
            <a:r>
              <a:rPr sz="2600" kern="0" spc="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-</a:t>
            </a:r>
            <a:r>
              <a:rPr sz="2600" kern="0" spc="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sz="2600" b="1" kern="0" spc="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核函数选择：特意选用线性核</a:t>
            </a:r>
            <a:r>
              <a:rPr sz="2600" kern="0" spc="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sz="2600" b="1" kern="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(L</a:t>
            </a:r>
            <a:r>
              <a:rPr sz="2600" b="1" kern="0" spc="-1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inear  Kernel) </a:t>
            </a:r>
            <a:r>
              <a:rPr sz="2600" kern="0" spc="-1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。</a:t>
            </a:r>
            <a:endParaRPr sz="26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330200" indent="-317500" algn="l" rtl="0" eaLnBrk="0">
              <a:lnSpc>
                <a:spcPct val="120000"/>
              </a:lnSpc>
              <a:spcBef>
                <a:spcPts val="1795"/>
              </a:spcBef>
            </a:pPr>
            <a:r>
              <a:rPr sz="2600" kern="0" spc="-2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-</a:t>
            </a:r>
            <a:r>
              <a:rPr sz="2600" kern="0" spc="-2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sz="2600" b="1" kern="0" spc="-2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实验目的：</a:t>
            </a:r>
            <a:r>
              <a:rPr sz="2600" kern="0" spc="-2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将其作为基</a:t>
            </a:r>
            <a:r>
              <a:rPr sz="2600" kern="0" spc="-3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准模型，主动从数学上验证</a:t>
            </a:r>
            <a:r>
              <a:rPr sz="2600" kern="0" spc="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sz="22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EDA</a:t>
            </a:r>
            <a:r>
              <a:rPr sz="2200" kern="0" spc="78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2200" kern="0" spc="23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阶段关于“夹心层”数据线性不可分的猜想。</a:t>
            </a:r>
            <a:endParaRPr sz="22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 rtl="0" eaLnBrk="0">
              <a:lnSpc>
                <a:spcPct val="100000"/>
              </a:lnSpc>
            </a:pPr>
            <a:endParaRPr sz="12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8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330200" indent="-317500" algn="l" rtl="0" eaLnBrk="0">
              <a:lnSpc>
                <a:spcPct val="119000"/>
              </a:lnSpc>
            </a:pPr>
            <a:r>
              <a:rPr sz="2600" kern="0" spc="-1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-</a:t>
            </a:r>
            <a:r>
              <a:rPr sz="2600" kern="0" spc="-1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sz="2600" b="1" kern="0" spc="-1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性能预期：</a:t>
            </a:r>
            <a:r>
              <a:rPr sz="2600" kern="0" spc="-1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在处理</a:t>
            </a:r>
            <a:r>
              <a:rPr sz="2600" kern="0" spc="-1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Class   1</a:t>
            </a:r>
            <a:r>
              <a:rPr sz="2600" kern="0" spc="-1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和</a:t>
            </a:r>
            <a:r>
              <a:rPr sz="2600" kern="0" spc="-1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Cl</a:t>
            </a:r>
            <a:r>
              <a:rPr sz="2600" kern="0" spc="-2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ass   2</a:t>
            </a:r>
            <a:r>
              <a:rPr sz="2600" kern="0" spc="-2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的重叠区域时</a:t>
            </a:r>
            <a:r>
              <a:rPr sz="2600" kern="0" spc="-1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sz="2200" kern="0" spc="27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表现不佳。</a:t>
            </a:r>
            <a:endParaRPr sz="22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64" name="textbox 164"/>
          <p:cNvSpPr/>
          <p:nvPr/>
        </p:nvSpPr>
        <p:spPr>
          <a:xfrm>
            <a:off x="9963192" y="2514210"/>
            <a:ext cx="6468109" cy="512064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3447415" algn="l" rtl="0" eaLnBrk="0">
              <a:lnSpc>
                <a:spcPct val="96000"/>
              </a:lnSpc>
            </a:pPr>
            <a:r>
              <a:rPr sz="2200" kern="0" spc="-3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最大间隔</a:t>
            </a:r>
            <a:endParaRPr sz="22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3479165" algn="l" rtl="0" eaLnBrk="0">
              <a:lnSpc>
                <a:spcPct val="81000"/>
              </a:lnSpc>
              <a:spcBef>
                <a:spcPts val="235"/>
              </a:spcBef>
            </a:pPr>
            <a:r>
              <a:rPr sz="2200" kern="0" spc="-2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(Margin)</a:t>
            </a:r>
            <a:endParaRPr sz="22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0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0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0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0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4851400" algn="l" rtl="0" eaLnBrk="0">
              <a:lnSpc>
                <a:spcPct val="96000"/>
              </a:lnSpc>
              <a:spcBef>
                <a:spcPts val="665"/>
              </a:spcBef>
            </a:pPr>
            <a:r>
              <a:rPr sz="2200" kern="0" spc="-6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支持向量</a:t>
            </a:r>
            <a:endParaRPr sz="22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r" rtl="0" eaLnBrk="0">
              <a:lnSpc>
                <a:spcPct val="81000"/>
              </a:lnSpc>
              <a:spcBef>
                <a:spcPts val="250"/>
              </a:spcBef>
            </a:pPr>
            <a:r>
              <a:rPr sz="2200" kern="0" spc="-3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(Support Vectors)</a:t>
            </a:r>
            <a:endParaRPr sz="22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0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0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0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0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0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0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0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0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0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0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0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0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0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387350" algn="l" rtl="0" eaLnBrk="0">
              <a:lnSpc>
                <a:spcPct val="97000"/>
              </a:lnSpc>
              <a:spcBef>
                <a:spcPts val="660"/>
              </a:spcBef>
            </a:pPr>
            <a:r>
              <a:rPr sz="2200" kern="0" spc="1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超平面</a:t>
            </a:r>
            <a:endParaRPr sz="22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12700" algn="l" rtl="0" eaLnBrk="0">
              <a:lnSpc>
                <a:spcPct val="81000"/>
              </a:lnSpc>
              <a:spcBef>
                <a:spcPts val="215"/>
              </a:spcBef>
            </a:pPr>
            <a:r>
              <a:rPr sz="2200" kern="0" spc="-3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(Hyperplane)</a:t>
            </a:r>
            <a:endParaRPr sz="22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66" name="textbox 166"/>
          <p:cNvSpPr/>
          <p:nvPr/>
        </p:nvSpPr>
        <p:spPr>
          <a:xfrm>
            <a:off x="1037818" y="997464"/>
            <a:ext cx="14018260" cy="75438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67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6000"/>
              </a:lnSpc>
            </a:pPr>
            <a:r>
              <a:rPr sz="5000" b="1" kern="0" spc="-10" dirty="0">
                <a:solidFill>
                  <a:srgbClr val="20608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选手一：支持向量机</a:t>
            </a:r>
            <a:r>
              <a:rPr sz="5000" kern="0" spc="-10" dirty="0">
                <a:solidFill>
                  <a:srgbClr val="20608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sz="5000" b="1" kern="0" spc="-10" dirty="0">
                <a:solidFill>
                  <a:srgbClr val="20608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(SVM)-</a:t>
            </a:r>
            <a:r>
              <a:rPr sz="5000" kern="0" spc="-10" dirty="0">
                <a:solidFill>
                  <a:srgbClr val="20608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</a:t>
            </a:r>
            <a:r>
              <a:rPr sz="5000" kern="0" spc="-20" dirty="0">
                <a:solidFill>
                  <a:srgbClr val="20608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5000" b="1" kern="0" spc="-20" dirty="0">
                <a:solidFill>
                  <a:srgbClr val="20608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线性秩序的捍</a:t>
            </a:r>
            <a:r>
              <a:rPr sz="5000" kern="0" spc="-20" dirty="0">
                <a:solidFill>
                  <a:srgbClr val="20608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卫者</a:t>
            </a:r>
            <a:endParaRPr sz="50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68" name="textbox 168"/>
          <p:cNvSpPr/>
          <p:nvPr/>
        </p:nvSpPr>
        <p:spPr>
          <a:xfrm>
            <a:off x="10272772" y="8353879"/>
            <a:ext cx="5134609" cy="40766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5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6000"/>
              </a:lnSpc>
            </a:pPr>
            <a:r>
              <a:rPr sz="2600" b="1" kern="0" spc="260" dirty="0">
                <a:solidFill>
                  <a:srgbClr val="80304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本次实验的核心是检验</a:t>
            </a:r>
            <a:r>
              <a:rPr sz="2600" b="1" kern="0" spc="250" dirty="0">
                <a:solidFill>
                  <a:srgbClr val="80304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线性假设</a:t>
            </a:r>
            <a:endParaRPr sz="26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70" name="textbox 170"/>
          <p:cNvSpPr/>
          <p:nvPr/>
        </p:nvSpPr>
        <p:spPr>
          <a:xfrm>
            <a:off x="16097336" y="9482691"/>
            <a:ext cx="1278889" cy="19748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7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1000"/>
              </a:lnSpc>
            </a:pPr>
            <a:r>
              <a:rPr sz="1400" b="1" kern="0" spc="-1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A</a:t>
            </a:r>
            <a:r>
              <a:rPr sz="1400" b="1" kern="0" spc="10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1400" b="1" kern="0" spc="-1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Notebook</a:t>
            </a:r>
            <a:r>
              <a:rPr sz="1400" b="1" kern="0" spc="-2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LM</a:t>
            </a:r>
            <a:endParaRPr sz="14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rect 172"/>
          <p:cNvSpPr/>
          <p:nvPr/>
        </p:nvSpPr>
        <p:spPr>
          <a:xfrm>
            <a:off x="0" y="0"/>
            <a:ext cx="17475200" cy="9753600"/>
          </a:xfrm>
          <a:prstGeom prst="rect">
            <a:avLst/>
          </a:prstGeom>
          <a:solidFill>
            <a:srgbClr val="F1F2EC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74" name="textbox 174"/>
          <p:cNvSpPr/>
          <p:nvPr/>
        </p:nvSpPr>
        <p:spPr>
          <a:xfrm>
            <a:off x="1028647" y="2329294"/>
            <a:ext cx="7537450" cy="517270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9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7780" algn="l" rtl="0" eaLnBrk="0">
              <a:lnSpc>
                <a:spcPct val="98000"/>
              </a:lnSpc>
            </a:pPr>
            <a:r>
              <a:rPr sz="3000" b="1" kern="0" spc="4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核心原理</a:t>
            </a:r>
            <a:endParaRPr sz="30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12700" algn="l" rtl="0" eaLnBrk="0">
              <a:lnSpc>
                <a:spcPct val="85000"/>
              </a:lnSpc>
              <a:spcBef>
                <a:spcPts val="1595"/>
              </a:spcBef>
            </a:pPr>
            <a:r>
              <a:rPr sz="2700" kern="0" spc="-2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一种非参数的“懒惰学习”算法，依据待预测</a:t>
            </a:r>
            <a:r>
              <a:rPr sz="2700" kern="0" spc="-3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样本</a:t>
            </a:r>
            <a:endParaRPr sz="27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12700" algn="l" rtl="0" eaLnBrk="0">
              <a:lnSpc>
                <a:spcPct val="124000"/>
              </a:lnSpc>
              <a:spcBef>
                <a:spcPts val="45"/>
              </a:spcBef>
            </a:pPr>
            <a:r>
              <a:rPr sz="2700" kern="0" spc="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最近的</a:t>
            </a:r>
            <a:r>
              <a:rPr sz="27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K</a:t>
            </a:r>
            <a:r>
              <a:rPr sz="2700" kern="0" spc="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个邻居的类别进行投票决策</a:t>
            </a:r>
            <a:r>
              <a:rPr sz="2700" kern="0" spc="-1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，即“近朱者</a:t>
            </a:r>
            <a:r>
              <a:rPr sz="2700" kern="0" spc="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sz="2700" kern="0" spc="-5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赤”。</a:t>
            </a:r>
            <a:endParaRPr sz="27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 rtl="0" eaLnBrk="0">
              <a:lnSpc>
                <a:spcPct val="134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35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7780" algn="l" rtl="0" eaLnBrk="0">
              <a:lnSpc>
                <a:spcPct val="97000"/>
              </a:lnSpc>
              <a:spcBef>
                <a:spcPts val="905"/>
              </a:spcBef>
            </a:pPr>
            <a:r>
              <a:rPr sz="3000" b="1" kern="0" spc="3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本次实验策略</a:t>
            </a:r>
            <a:endParaRPr sz="30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12700" algn="l" rtl="0" eaLnBrk="0">
              <a:lnSpc>
                <a:spcPct val="96000"/>
              </a:lnSpc>
              <a:spcBef>
                <a:spcPts val="1635"/>
              </a:spcBef>
            </a:pPr>
            <a:r>
              <a:rPr sz="2700" kern="0" spc="-11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-</a:t>
            </a:r>
            <a:r>
              <a:rPr sz="2700" kern="0" spc="-11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sz="2700" b="1" kern="0" spc="-11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距离度量：</a:t>
            </a:r>
            <a:r>
              <a:rPr sz="2700" kern="0" spc="-11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采用欧几</a:t>
            </a:r>
            <a:r>
              <a:rPr sz="2700" kern="0" spc="-12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里得距离。</a:t>
            </a:r>
            <a:endParaRPr sz="27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 rtl="0" eaLnBrk="0">
              <a:lnSpc>
                <a:spcPct val="101000"/>
              </a:lnSpc>
            </a:pPr>
            <a:endParaRPr sz="13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336550" indent="-323850" algn="l" rtl="0" eaLnBrk="0">
              <a:lnSpc>
                <a:spcPct val="115000"/>
              </a:lnSpc>
              <a:spcBef>
                <a:spcPts val="5"/>
              </a:spcBef>
            </a:pPr>
            <a:r>
              <a:rPr sz="2700" kern="0" spc="-1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-</a:t>
            </a:r>
            <a:r>
              <a:rPr sz="2700" kern="0" spc="-1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sz="2700" b="1" kern="0" spc="-1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参数寻优：</a:t>
            </a:r>
            <a:r>
              <a:rPr sz="2700" kern="0" spc="-1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设计并采用“粗粒度+细粒度”两阶</a:t>
            </a:r>
            <a:r>
              <a:rPr sz="2700" kern="0" spc="1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 </a:t>
            </a:r>
            <a:r>
              <a:rPr sz="2700" kern="0" spc="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段搜索法，在保证精</a:t>
            </a:r>
            <a:r>
              <a:rPr sz="2700" kern="0" spc="-1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度的同时，高效锁定全局最</a:t>
            </a:r>
            <a:r>
              <a:rPr sz="2700" kern="0" spc="-1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sz="2300" kern="0" spc="15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优</a:t>
            </a:r>
            <a:r>
              <a:rPr sz="2300" kern="0" spc="15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K</a:t>
            </a:r>
            <a:r>
              <a:rPr sz="2300" kern="0" spc="15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值</a:t>
            </a:r>
            <a:r>
              <a:rPr sz="2300" kern="0" spc="-46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sz="2300" kern="0" spc="15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。</a:t>
            </a:r>
            <a:endParaRPr sz="23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grpSp>
        <p:nvGrpSpPr>
          <p:cNvPr id="6" name="group 6"/>
          <p:cNvGrpSpPr/>
          <p:nvPr/>
        </p:nvGrpSpPr>
        <p:grpSpPr>
          <a:xfrm rot="21600000">
            <a:off x="9639319" y="3054340"/>
            <a:ext cx="6953208" cy="4851439"/>
            <a:chOff x="0" y="0"/>
            <a:chExt cx="6953208" cy="4851439"/>
          </a:xfrm>
        </p:grpSpPr>
        <p:pic>
          <p:nvPicPr>
            <p:cNvPr id="176" name="picture 176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 rot="21600000">
              <a:off x="0" y="0"/>
              <a:ext cx="6953208" cy="4851439"/>
            </a:xfrm>
            <a:prstGeom prst="rect">
              <a:avLst/>
            </a:prstGeom>
          </p:spPr>
        </p:pic>
        <p:sp>
          <p:nvSpPr>
            <p:cNvPr id="178" name="textbox 178"/>
            <p:cNvSpPr/>
            <p:nvPr/>
          </p:nvSpPr>
          <p:spPr>
            <a:xfrm>
              <a:off x="-12700" y="-12700"/>
              <a:ext cx="6978650" cy="492125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3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3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3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3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3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4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4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4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4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4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4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4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4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4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4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4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4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4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4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4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4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4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4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4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3947160" algn="l" rtl="0" eaLnBrk="0">
                <a:lnSpc>
                  <a:spcPct val="97000"/>
                </a:lnSpc>
                <a:spcBef>
                  <a:spcPts val="0"/>
                </a:spcBef>
              </a:pPr>
              <a:r>
                <a:rPr sz="2300" b="1" kern="0" spc="-40" dirty="0">
                  <a:solidFill>
                    <a:srgbClr val="000000">
                      <a:alpha val="100000"/>
                    </a:srgbClr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最优</a:t>
              </a:r>
              <a:r>
                <a:rPr sz="2300" b="1" kern="0" spc="-40" dirty="0">
                  <a:solidFill>
                    <a:srgbClr val="000000">
                      <a:alpha val="100000"/>
                    </a:srgbClr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K</a:t>
              </a:r>
              <a:r>
                <a:rPr sz="2300" b="1" kern="0" spc="-40" dirty="0">
                  <a:solidFill>
                    <a:srgbClr val="000000">
                      <a:alpha val="100000"/>
                    </a:srgbClr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值≈10</a:t>
              </a:r>
              <a:endParaRPr sz="23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endParaRPr>
            </a:p>
          </p:txBody>
        </p:sp>
      </p:grpSp>
      <p:sp>
        <p:nvSpPr>
          <p:cNvPr id="180" name="textbox 180"/>
          <p:cNvSpPr/>
          <p:nvPr/>
        </p:nvSpPr>
        <p:spPr>
          <a:xfrm>
            <a:off x="1037818" y="1030519"/>
            <a:ext cx="12926694" cy="7620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66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7000"/>
              </a:lnSpc>
            </a:pPr>
            <a:r>
              <a:rPr sz="5000" b="1" kern="0" spc="-10" dirty="0">
                <a:solidFill>
                  <a:srgbClr val="E0801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选手二：</a:t>
            </a:r>
            <a:r>
              <a:rPr sz="5000" b="1" kern="0" spc="-10" dirty="0">
                <a:solidFill>
                  <a:srgbClr val="E0801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K</a:t>
            </a:r>
            <a:r>
              <a:rPr sz="5000" kern="0" spc="-980" dirty="0">
                <a:solidFill>
                  <a:srgbClr val="E0801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5000" b="1" kern="0" spc="-10" dirty="0">
                <a:solidFill>
                  <a:srgbClr val="E0801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近邻</a:t>
            </a:r>
            <a:r>
              <a:rPr sz="5000" kern="0" spc="-10" dirty="0">
                <a:solidFill>
                  <a:srgbClr val="E0801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sz="5000" b="1" kern="0" spc="-10" dirty="0">
                <a:solidFill>
                  <a:srgbClr val="E0801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(KNN)-</a:t>
            </a:r>
            <a:r>
              <a:rPr sz="5000" kern="0" spc="740" dirty="0">
                <a:solidFill>
                  <a:srgbClr val="E0801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</a:t>
            </a:r>
            <a:r>
              <a:rPr sz="5000" b="1" kern="0" spc="-10" dirty="0">
                <a:solidFill>
                  <a:srgbClr val="E0801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经验主义的观察家</a:t>
            </a:r>
            <a:endParaRPr sz="50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82" name="textbox 182"/>
          <p:cNvSpPr/>
          <p:nvPr/>
        </p:nvSpPr>
        <p:spPr>
          <a:xfrm>
            <a:off x="9772712" y="8078665"/>
            <a:ext cx="4307204" cy="69024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5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77000"/>
              </a:lnSpc>
            </a:pPr>
            <a:r>
              <a:rPr sz="1700" kern="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1234567891</a:t>
            </a:r>
            <a:r>
              <a:rPr sz="1700" kern="0" spc="-1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011121314151617181920</a:t>
            </a:r>
            <a:endParaRPr sz="1700" dirty="0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  <a:p>
            <a:pPr algn="l" rtl="0" eaLnBrk="0">
              <a:lnSpc>
                <a:spcPct val="105000"/>
              </a:lnSpc>
            </a:pPr>
            <a:endParaRPr sz="8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r" rtl="0" eaLnBrk="0">
              <a:lnSpc>
                <a:spcPct val="96000"/>
              </a:lnSpc>
              <a:spcBef>
                <a:spcPts val="5"/>
              </a:spcBef>
            </a:pPr>
            <a:r>
              <a:rPr sz="2300" b="1" kern="0" spc="7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K</a:t>
            </a:r>
            <a:r>
              <a:rPr sz="2300" b="1" kern="0" spc="7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值(邻居数量)</a:t>
            </a:r>
            <a:endParaRPr sz="23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84" name="textbox 184"/>
          <p:cNvSpPr/>
          <p:nvPr/>
        </p:nvSpPr>
        <p:spPr>
          <a:xfrm>
            <a:off x="10939541" y="2401723"/>
            <a:ext cx="3856354" cy="41973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8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6000"/>
              </a:lnSpc>
            </a:pPr>
            <a:r>
              <a:rPr sz="2700" b="1" kern="0" spc="9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K</a:t>
            </a:r>
            <a:r>
              <a:rPr sz="2700" kern="0" spc="-69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2700" b="1" kern="0" spc="9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值与模型错误率的</a:t>
            </a:r>
            <a:r>
              <a:rPr sz="2700" b="1" kern="0" spc="8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关系</a:t>
            </a:r>
            <a:endParaRPr sz="27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86" name="textbox 186"/>
          <p:cNvSpPr/>
          <p:nvPr/>
        </p:nvSpPr>
        <p:spPr>
          <a:xfrm rot="16200000">
            <a:off x="8435679" y="5233371"/>
            <a:ext cx="1911985" cy="42354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16000"/>
              </a:lnSpc>
            </a:pPr>
            <a:endParaRPr sz="3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r" rtl="0" eaLnBrk="0">
              <a:lnSpc>
                <a:spcPts val="2815"/>
              </a:lnSpc>
              <a:spcBef>
                <a:spcPts val="0"/>
              </a:spcBef>
            </a:pPr>
            <a:r>
              <a:rPr sz="2300" kern="0" spc="-20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交</a:t>
            </a:r>
            <a:r>
              <a:rPr sz="2300" kern="0" spc="-19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叉验证错误</a:t>
            </a:r>
            <a:r>
              <a:rPr sz="2300" kern="0" spc="-11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率</a:t>
            </a:r>
            <a:endParaRPr sz="23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88" name="textbox 188"/>
          <p:cNvSpPr/>
          <p:nvPr/>
        </p:nvSpPr>
        <p:spPr>
          <a:xfrm>
            <a:off x="16097336" y="9482691"/>
            <a:ext cx="1271269" cy="19748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7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1000"/>
              </a:lnSpc>
            </a:pPr>
            <a:r>
              <a:rPr sz="1400" kern="0" spc="-2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A</a:t>
            </a:r>
            <a:r>
              <a:rPr sz="1400" kern="0" spc="17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 </a:t>
            </a:r>
            <a:r>
              <a:rPr sz="1400" kern="0" spc="-2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NotebookLM</a:t>
            </a:r>
            <a:endParaRPr sz="14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rect 190"/>
          <p:cNvSpPr/>
          <p:nvPr/>
        </p:nvSpPr>
        <p:spPr>
          <a:xfrm>
            <a:off x="0" y="0"/>
            <a:ext cx="17475200" cy="9753600"/>
          </a:xfrm>
          <a:prstGeom prst="rect">
            <a:avLst/>
          </a:prstGeom>
          <a:solidFill>
            <a:srgbClr val="F4F5EF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92" name="textbox 192"/>
          <p:cNvSpPr/>
          <p:nvPr/>
        </p:nvSpPr>
        <p:spPr>
          <a:xfrm>
            <a:off x="1028647" y="2152022"/>
            <a:ext cx="7538719" cy="67341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8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8415" algn="l" rtl="0" eaLnBrk="0">
              <a:lnSpc>
                <a:spcPct val="96000"/>
              </a:lnSpc>
            </a:pPr>
            <a:r>
              <a:rPr sz="3200" b="1" kern="0" spc="-4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核心原理</a:t>
            </a:r>
            <a:endParaRPr sz="32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 rtl="0" eaLnBrk="0">
              <a:lnSpc>
                <a:spcPct val="104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0000"/>
              </a:lnSpc>
              <a:spcBef>
                <a:spcPts val="755"/>
              </a:spcBef>
            </a:pPr>
            <a:r>
              <a:rPr sz="2500" kern="0" spc="8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通过构建多棵决策树并对结果进行投票的</a:t>
            </a:r>
            <a:r>
              <a:rPr sz="2500" kern="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Bagging</a:t>
            </a:r>
            <a:r>
              <a:rPr sz="2500" kern="0" spc="8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 </a:t>
            </a:r>
            <a:r>
              <a:rPr sz="2500" kern="0" spc="8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集</a:t>
            </a:r>
            <a:endParaRPr sz="25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12700" algn="l" rtl="0" eaLnBrk="0">
              <a:lnSpc>
                <a:spcPct val="141000"/>
              </a:lnSpc>
              <a:spcBef>
                <a:spcPts val="10"/>
              </a:spcBef>
            </a:pPr>
            <a:r>
              <a:rPr sz="2500" kern="0" spc="9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成算法。引入样本随机性和特征随</a:t>
            </a:r>
            <a:r>
              <a:rPr sz="2500" kern="0" spc="8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机性以降低过拟</a:t>
            </a:r>
            <a:r>
              <a:rPr sz="2500" kern="0" spc="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 </a:t>
            </a:r>
            <a:r>
              <a:rPr sz="2100" kern="0" spc="-6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合</a:t>
            </a:r>
            <a:r>
              <a:rPr sz="2100" kern="0" spc="-37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sz="2100" kern="0" spc="-6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风</a:t>
            </a:r>
            <a:r>
              <a:rPr sz="2100" kern="0" spc="-29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sz="2100" kern="0" spc="-6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险</a:t>
            </a:r>
            <a:r>
              <a:rPr sz="2100" kern="0" spc="-46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sz="2100" kern="0" spc="-6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。</a:t>
            </a:r>
            <a:endParaRPr sz="21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 rtl="0" eaLnBrk="0">
              <a:lnSpc>
                <a:spcPct val="130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8415" algn="l" rtl="0" eaLnBrk="0">
              <a:lnSpc>
                <a:spcPct val="96000"/>
              </a:lnSpc>
              <a:spcBef>
                <a:spcPts val="960"/>
              </a:spcBef>
            </a:pPr>
            <a:r>
              <a:rPr sz="3200" b="1" kern="0" spc="-2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天然优势</a:t>
            </a:r>
            <a:endParaRPr sz="32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 rtl="0" eaLnBrk="0">
              <a:lnSpc>
                <a:spcPct val="148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85750" indent="-273050" algn="l" rtl="0" eaLnBrk="0">
              <a:lnSpc>
                <a:spcPct val="113000"/>
              </a:lnSpc>
              <a:spcBef>
                <a:spcPts val="760"/>
              </a:spcBef>
            </a:pPr>
            <a:r>
              <a:rPr sz="2500" kern="0" spc="2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-</a:t>
            </a:r>
            <a:r>
              <a:rPr sz="2500" kern="0" spc="-24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sz="2500" b="1" kern="0" spc="2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非线性边界处理：</a:t>
            </a:r>
            <a:r>
              <a:rPr sz="2500" kern="0" spc="-73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sz="2500" kern="0" spc="2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决策树的</a:t>
            </a:r>
            <a:r>
              <a:rPr sz="2500" b="1" kern="0" spc="20" dirty="0">
                <a:solidFill>
                  <a:srgbClr val="20704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正交切割</a:t>
            </a:r>
            <a:r>
              <a:rPr sz="2500" kern="0" spc="2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机</a:t>
            </a:r>
            <a:r>
              <a:rPr sz="2500" kern="0" spc="-55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sz="2500" kern="0" spc="2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制</a:t>
            </a:r>
            <a:r>
              <a:rPr sz="2500" kern="0" spc="2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sz="2500" kern="0" spc="2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(</a:t>
            </a:r>
            <a:r>
              <a:rPr sz="2500" kern="0" spc="-54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sz="2500" kern="0" spc="2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如</a:t>
            </a:r>
            <a:r>
              <a:rPr sz="2500" kern="0" spc="-58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sz="2500" kern="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if    </a:t>
            </a:r>
            <a:r>
              <a:rPr sz="25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RAM</a:t>
            </a:r>
            <a:r>
              <a:rPr sz="2500" kern="0" spc="2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&gt;2000     </a:t>
            </a:r>
            <a:r>
              <a:rPr sz="25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and</a:t>
            </a:r>
            <a:r>
              <a:rPr sz="2500" kern="0" spc="2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  </a:t>
            </a:r>
            <a:r>
              <a:rPr sz="25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Battery</a:t>
            </a:r>
            <a:r>
              <a:rPr sz="2500" kern="0" spc="2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&gt;1500),</a:t>
            </a:r>
            <a:r>
              <a:rPr sz="2500" kern="0" spc="-62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2500" kern="0" spc="2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天然契合</a:t>
            </a:r>
            <a:r>
              <a:rPr sz="2500" kern="0" spc="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 </a:t>
            </a:r>
            <a:r>
              <a:rPr sz="2500" kern="0" spc="6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数据中阶梯状、非线性的决策边界。</a:t>
            </a:r>
            <a:endParaRPr sz="25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 rtl="0" eaLnBrk="0">
              <a:lnSpc>
                <a:spcPct val="114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85750" indent="-273050" algn="l" rtl="0" eaLnBrk="0">
              <a:lnSpc>
                <a:spcPct val="118000"/>
              </a:lnSpc>
              <a:spcBef>
                <a:spcPts val="755"/>
              </a:spcBef>
            </a:pPr>
            <a:r>
              <a:rPr sz="2500" kern="0" spc="8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-</a:t>
            </a:r>
            <a:r>
              <a:rPr sz="2500" kern="0" spc="-27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sz="2500" b="1" kern="0" spc="8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无需标准化：</a:t>
            </a:r>
            <a:r>
              <a:rPr sz="2500" kern="0" spc="8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树模型关注特征值的排序而非绝对</a:t>
            </a:r>
            <a:r>
              <a:rPr sz="2500" kern="0" spc="7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距</a:t>
            </a:r>
            <a:r>
              <a:rPr sz="2500" kern="0" spc="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sz="2100" kern="0" spc="43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离，对特征尺度不敏感。</a:t>
            </a:r>
            <a:endParaRPr sz="21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 rtl="0" eaLnBrk="0">
              <a:lnSpc>
                <a:spcPct val="118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5000"/>
              </a:lnSpc>
            </a:pPr>
            <a:endParaRPr sz="6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85750" indent="-273050" algn="l" rtl="0" eaLnBrk="0">
              <a:lnSpc>
                <a:spcPct val="115000"/>
              </a:lnSpc>
              <a:spcBef>
                <a:spcPts val="0"/>
              </a:spcBef>
            </a:pPr>
            <a:r>
              <a:rPr sz="2500" kern="0" spc="-2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-</a:t>
            </a:r>
            <a:r>
              <a:rPr sz="2500" kern="0" spc="-25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sz="2500" b="1" kern="0" spc="-2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抗噪声能力：</a:t>
            </a:r>
            <a:r>
              <a:rPr sz="2500" kern="0" spc="-59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sz="2500" kern="0" spc="-2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多棵树的投票机制有效降低了方差，</a:t>
            </a:r>
            <a:r>
              <a:rPr sz="2500" kern="0" spc="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 </a:t>
            </a:r>
            <a:r>
              <a:rPr sz="2500" kern="0" spc="7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使模型比单棵决策树更稳</a:t>
            </a:r>
            <a:r>
              <a:rPr sz="2500" kern="0" spc="6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健。</a:t>
            </a:r>
            <a:endParaRPr sz="25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grpSp>
        <p:nvGrpSpPr>
          <p:cNvPr id="8" name="group 8"/>
          <p:cNvGrpSpPr/>
          <p:nvPr/>
        </p:nvGrpSpPr>
        <p:grpSpPr>
          <a:xfrm rot="21600000">
            <a:off x="9474180" y="2146279"/>
            <a:ext cx="6972255" cy="6832591"/>
            <a:chOff x="0" y="0"/>
            <a:chExt cx="6972255" cy="6832591"/>
          </a:xfrm>
        </p:grpSpPr>
        <p:pic>
          <p:nvPicPr>
            <p:cNvPr id="194" name="picture 194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 rot="21600000">
              <a:off x="0" y="0"/>
              <a:ext cx="6972255" cy="6832591"/>
            </a:xfrm>
            <a:prstGeom prst="rect">
              <a:avLst/>
            </a:prstGeom>
          </p:spPr>
        </p:pic>
        <p:sp>
          <p:nvSpPr>
            <p:cNvPr id="196" name="textbox 196"/>
            <p:cNvSpPr/>
            <p:nvPr/>
          </p:nvSpPr>
          <p:spPr>
            <a:xfrm>
              <a:off x="247678" y="39839"/>
              <a:ext cx="4678045" cy="660971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1000"/>
                </a:lnSpc>
              </a:pPr>
              <a:endParaRPr sz="1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3121660" algn="l" rtl="0" eaLnBrk="0">
                <a:lnSpc>
                  <a:spcPct val="94000"/>
                </a:lnSpc>
              </a:pPr>
              <a:r>
                <a:rPr sz="2100" b="1" kern="0" spc="-20" dirty="0">
                  <a:solidFill>
                    <a:srgbClr val="206040">
                      <a:alpha val="100000"/>
                    </a:srgbClr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样本随机性</a:t>
              </a:r>
              <a:endParaRPr sz="21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endParaRPr>
            </a:p>
            <a:p>
              <a:pPr marL="12700" algn="l" rtl="0" eaLnBrk="0">
                <a:lnSpc>
                  <a:spcPct val="97000"/>
                </a:lnSpc>
                <a:spcBef>
                  <a:spcPts val="20"/>
                </a:spcBef>
              </a:pPr>
              <a:r>
                <a:rPr sz="2100" kern="0" spc="-40" dirty="0">
                  <a:solidFill>
                    <a:srgbClr val="000000">
                      <a:alpha val="100000"/>
                    </a:srgbClr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原始数据</a:t>
              </a:r>
              <a:endParaRPr sz="21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endParaRPr>
            </a:p>
            <a:p>
              <a:pPr algn="l" rtl="0" eaLnBrk="0">
                <a:lnSpc>
                  <a:spcPct val="105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5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6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6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6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1479550" algn="l" rtl="0" eaLnBrk="0">
                <a:lnSpc>
                  <a:spcPct val="86000"/>
                </a:lnSpc>
                <a:spcBef>
                  <a:spcPts val="640"/>
                </a:spcBef>
              </a:pPr>
              <a:r>
                <a:rPr sz="2100" kern="0" spc="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Bootstrap</a:t>
              </a:r>
              <a:r>
                <a:rPr sz="2100" kern="0" spc="3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        </a:t>
              </a:r>
              <a:r>
                <a:rPr sz="2100" kern="0" spc="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Bootstrap</a:t>
              </a:r>
              <a:endParaRPr sz="21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1694815" algn="l" rtl="0" eaLnBrk="0">
                <a:lnSpc>
                  <a:spcPts val="2540"/>
                </a:lnSpc>
                <a:spcBef>
                  <a:spcPts val="115"/>
                </a:spcBef>
              </a:pPr>
              <a:r>
                <a:rPr sz="2100" kern="0" spc="220" dirty="0">
                  <a:solidFill>
                    <a:srgbClr val="000000">
                      <a:alpha val="100000"/>
                    </a:srgbClr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样本1</a:t>
              </a:r>
              <a:r>
                <a:rPr sz="2100" kern="0" spc="80" dirty="0">
                  <a:solidFill>
                    <a:srgbClr val="000000">
                      <a:alpha val="100000"/>
                    </a:srgbClr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       </a:t>
              </a:r>
              <a:r>
                <a:rPr sz="2100" kern="0" spc="220" dirty="0">
                  <a:solidFill>
                    <a:srgbClr val="000000">
                      <a:alpha val="100000"/>
                    </a:srgbClr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样本2</a:t>
              </a:r>
              <a:endParaRPr sz="21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endParaRPr>
            </a:p>
            <a:p>
              <a:pPr algn="l" rtl="0" eaLnBrk="0">
                <a:lnSpc>
                  <a:spcPct val="107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7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7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7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7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16510" algn="l" rtl="0" eaLnBrk="0">
                <a:lnSpc>
                  <a:spcPct val="97000"/>
                </a:lnSpc>
                <a:spcBef>
                  <a:spcPts val="640"/>
                </a:spcBef>
              </a:pPr>
              <a:r>
                <a:rPr sz="2100" b="1" kern="0" spc="10" dirty="0">
                  <a:solidFill>
                    <a:srgbClr val="206040">
                      <a:alpha val="100000"/>
                    </a:srgbClr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独立训练</a:t>
              </a:r>
              <a:endParaRPr sz="21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endParaRPr>
            </a:p>
            <a:p>
              <a:pPr algn="l" rtl="0" eaLnBrk="0">
                <a:lnSpc>
                  <a:spcPct val="103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1568450" algn="l" rtl="0" eaLnBrk="0">
                <a:lnSpc>
                  <a:spcPct val="100000"/>
                </a:lnSpc>
                <a:spcBef>
                  <a:spcPts val="640"/>
                </a:spcBef>
              </a:pPr>
              <a:r>
                <a:rPr sz="2100" kern="0" spc="160" dirty="0">
                  <a:solidFill>
                    <a:srgbClr val="000000">
                      <a:alpha val="100000"/>
                    </a:srgbClr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决策树1</a:t>
              </a:r>
              <a:r>
                <a:rPr sz="2100" kern="0" spc="100" dirty="0">
                  <a:solidFill>
                    <a:srgbClr val="000000">
                      <a:alpha val="100000"/>
                    </a:srgbClr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     </a:t>
              </a:r>
              <a:r>
                <a:rPr sz="2100" kern="0" spc="160" dirty="0">
                  <a:solidFill>
                    <a:srgbClr val="000000">
                      <a:alpha val="100000"/>
                    </a:srgbClr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决策树2</a:t>
              </a:r>
              <a:endParaRPr sz="21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endParaRPr>
            </a:p>
            <a:p>
              <a:pPr algn="l" rtl="0" eaLnBrk="0">
                <a:lnSpc>
                  <a:spcPct val="123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24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24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24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12700" algn="l" rtl="0" eaLnBrk="0">
                <a:lnSpc>
                  <a:spcPct val="98000"/>
                </a:lnSpc>
                <a:spcBef>
                  <a:spcPts val="640"/>
                </a:spcBef>
              </a:pPr>
              <a:r>
                <a:rPr sz="2100" kern="0" spc="30" dirty="0">
                  <a:solidFill>
                    <a:srgbClr val="207050">
                      <a:alpha val="100000"/>
                    </a:srgbClr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投票集成</a:t>
              </a:r>
              <a:endParaRPr sz="21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endParaRPr>
            </a:p>
            <a:p>
              <a:pPr marL="12700" algn="l" rtl="0" eaLnBrk="0">
                <a:lnSpc>
                  <a:spcPct val="83000"/>
                </a:lnSpc>
                <a:spcBef>
                  <a:spcPts val="675"/>
                </a:spcBef>
              </a:pPr>
              <a:r>
                <a:rPr sz="2100" kern="0" spc="0" dirty="0">
                  <a:solidFill>
                    <a:srgbClr val="20604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(Voting)</a:t>
              </a:r>
              <a:endParaRPr sz="21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15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15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15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15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16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6000"/>
                </a:lnSpc>
              </a:pPr>
              <a:endParaRPr sz="5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r" rtl="0" eaLnBrk="0">
                <a:lnSpc>
                  <a:spcPct val="77000"/>
                </a:lnSpc>
                <a:spcBef>
                  <a:spcPts val="5"/>
                </a:spcBef>
              </a:pPr>
              <a:r>
                <a:rPr sz="2100" kern="0" spc="-20" dirty="0">
                  <a:solidFill>
                    <a:srgbClr val="000000">
                      <a:alpha val="100000"/>
                    </a:srgbClr>
                  </a:solidFill>
                  <a:latin typeface="隶书" panose="02010509060101010101" charset="-122"/>
                  <a:ea typeface="隶书" panose="02010509060101010101" charset="-122"/>
                  <a:cs typeface="隶书" panose="02010509060101010101" charset="-122"/>
                </a:rPr>
                <a:t>最终孤测</a:t>
              </a:r>
              <a:endParaRPr sz="2100" dirty="0">
                <a:latin typeface="隶书" panose="02010509060101010101" charset="-122"/>
                <a:ea typeface="隶书" panose="02010509060101010101" charset="-122"/>
                <a:cs typeface="隶书" panose="02010509060101010101" charset="-122"/>
              </a:endParaRPr>
            </a:p>
          </p:txBody>
        </p:sp>
      </p:grpSp>
      <p:sp>
        <p:nvSpPr>
          <p:cNvPr id="198" name="textbox 198"/>
          <p:cNvSpPr/>
          <p:nvPr/>
        </p:nvSpPr>
        <p:spPr>
          <a:xfrm>
            <a:off x="1037546" y="872042"/>
            <a:ext cx="12579350" cy="70865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6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1000"/>
              </a:lnSpc>
            </a:pPr>
            <a:r>
              <a:rPr sz="4900" b="1" kern="0" spc="30" dirty="0">
                <a:solidFill>
                  <a:srgbClr val="30805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选手三：随机森林</a:t>
            </a:r>
            <a:r>
              <a:rPr sz="4900" kern="0" spc="30" dirty="0">
                <a:solidFill>
                  <a:srgbClr val="30805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sz="4900" b="1" kern="0" spc="30" dirty="0">
                <a:solidFill>
                  <a:srgbClr val="30805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(</a:t>
            </a:r>
            <a:r>
              <a:rPr sz="4900" b="1" kern="0" spc="0" dirty="0">
                <a:solidFill>
                  <a:srgbClr val="30805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RF</a:t>
            </a:r>
            <a:r>
              <a:rPr sz="4900" b="1" kern="0" spc="30" dirty="0">
                <a:solidFill>
                  <a:srgbClr val="30805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)-    </a:t>
            </a:r>
            <a:r>
              <a:rPr sz="4900" b="1" kern="0" spc="30" dirty="0">
                <a:solidFill>
                  <a:srgbClr val="30805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集体智慧的</a:t>
            </a:r>
            <a:r>
              <a:rPr sz="4900" b="1" kern="0" spc="20" dirty="0">
                <a:solidFill>
                  <a:srgbClr val="30805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决策者</a:t>
            </a:r>
            <a:endParaRPr sz="49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00" name="textbox 200"/>
          <p:cNvSpPr/>
          <p:nvPr/>
        </p:nvSpPr>
        <p:spPr>
          <a:xfrm>
            <a:off x="15074862" y="3684449"/>
            <a:ext cx="1173480" cy="63309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8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28600" indent="-215900" algn="l" rtl="0" eaLnBrk="0">
              <a:lnSpc>
                <a:spcPct val="95000"/>
              </a:lnSpc>
            </a:pPr>
            <a:r>
              <a:rPr sz="21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Bootstrap</a:t>
            </a:r>
            <a:r>
              <a:rPr sz="2100" kern="0" spc="1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2100" kern="0" spc="6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样本</a:t>
            </a:r>
            <a:r>
              <a:rPr sz="2100" kern="0" spc="6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n</a:t>
            </a:r>
            <a:endParaRPr sz="21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02" name="textbox 202"/>
          <p:cNvSpPr/>
          <p:nvPr/>
        </p:nvSpPr>
        <p:spPr>
          <a:xfrm>
            <a:off x="15151053" y="5744177"/>
            <a:ext cx="979169" cy="33845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9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8000"/>
              </a:lnSpc>
            </a:pPr>
            <a:r>
              <a:rPr sz="2100" kern="0" spc="3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决策树</a:t>
            </a:r>
            <a:r>
              <a:rPr sz="2100" kern="0" spc="3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n</a:t>
            </a:r>
            <a:endParaRPr sz="21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04" name="textbox 204"/>
          <p:cNvSpPr/>
          <p:nvPr/>
        </p:nvSpPr>
        <p:spPr>
          <a:xfrm>
            <a:off x="16097336" y="9476351"/>
            <a:ext cx="1278889" cy="19748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7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1000"/>
              </a:lnSpc>
            </a:pPr>
            <a:r>
              <a:rPr sz="1400" b="1" kern="0" spc="-1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A</a:t>
            </a:r>
            <a:r>
              <a:rPr sz="1400" b="1" kern="0" spc="10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1400" b="1" kern="0" spc="-1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Notebook</a:t>
            </a:r>
            <a:r>
              <a:rPr sz="1400" b="1" kern="0" spc="-2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LM</a:t>
            </a:r>
            <a:endParaRPr sz="14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rect 206"/>
          <p:cNvSpPr/>
          <p:nvPr/>
        </p:nvSpPr>
        <p:spPr>
          <a:xfrm>
            <a:off x="0" y="0"/>
            <a:ext cx="17475200" cy="9753600"/>
          </a:xfrm>
          <a:prstGeom prst="rect">
            <a:avLst/>
          </a:prstGeom>
          <a:solidFill>
            <a:srgbClr val="F7F8F2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208" name="picture 20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4794321" y="2527255"/>
            <a:ext cx="11601437" cy="4578437"/>
          </a:xfrm>
          <a:prstGeom prst="rect">
            <a:avLst/>
          </a:prstGeom>
        </p:spPr>
      </p:pic>
      <p:sp>
        <p:nvSpPr>
          <p:cNvPr id="210" name="textbox 210"/>
          <p:cNvSpPr/>
          <p:nvPr/>
        </p:nvSpPr>
        <p:spPr>
          <a:xfrm>
            <a:off x="957268" y="7656489"/>
            <a:ext cx="16403319" cy="20142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5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8802370" algn="l" rtl="0" eaLnBrk="0">
              <a:lnSpc>
                <a:spcPct val="98000"/>
              </a:lnSpc>
            </a:pPr>
            <a:r>
              <a:rPr sz="2300" kern="0" spc="-2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平均准确率</a:t>
            </a:r>
            <a:endParaRPr sz="23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 rtl="0" eaLnBrk="0">
              <a:lnSpc>
                <a:spcPct val="14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42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4000"/>
              </a:lnSpc>
              <a:spcBef>
                <a:spcPts val="780"/>
              </a:spcBef>
            </a:pPr>
            <a:r>
              <a:rPr sz="2600" b="1" kern="0" spc="13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初步结论：</a:t>
            </a:r>
            <a:r>
              <a:rPr sz="2600" kern="0" spc="13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sz="2600" kern="0" spc="13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性能呈现清晰的阶梯状分布，证实了我</a:t>
            </a:r>
            <a:r>
              <a:rPr sz="2600" kern="0" spc="12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们的预判：</a:t>
            </a:r>
            <a:r>
              <a:rPr sz="2600" kern="0" spc="12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sz="2600" b="1" kern="0" spc="32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集成方法&gt;距离方法</a:t>
            </a:r>
            <a:r>
              <a:rPr sz="2600" b="1" kern="0" spc="31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&gt;线性方法。</a:t>
            </a:r>
            <a:endParaRPr sz="26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 rtl="0" eaLnBrk="0">
              <a:lnSpc>
                <a:spcPct val="115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6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6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0000"/>
              </a:lnSpc>
            </a:pPr>
            <a:endParaRPr sz="3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r" rtl="0" eaLnBrk="0">
              <a:lnSpc>
                <a:spcPct val="83000"/>
              </a:lnSpc>
              <a:spcBef>
                <a:spcPts val="0"/>
              </a:spcBef>
            </a:pPr>
            <a:r>
              <a:rPr sz="1300" b="1" kern="0" spc="1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A</a:t>
            </a:r>
            <a:r>
              <a:rPr sz="1300" b="1" kern="0" spc="40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1300" b="1" kern="0" spc="1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NotebookLM</a:t>
            </a:r>
            <a:endParaRPr sz="13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12" name="textbox 212"/>
          <p:cNvSpPr/>
          <p:nvPr/>
        </p:nvSpPr>
        <p:spPr>
          <a:xfrm>
            <a:off x="952455" y="2945179"/>
            <a:ext cx="3679190" cy="343027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3000"/>
              </a:lnSpc>
            </a:pPr>
            <a:r>
              <a:rPr sz="2300" kern="0" spc="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随机森林</a:t>
            </a:r>
            <a:r>
              <a:rPr sz="2300" kern="0" spc="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sz="23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(Random  Forest)</a:t>
            </a:r>
            <a:endParaRPr sz="23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2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2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2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2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2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3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3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859915" algn="l" rtl="0" eaLnBrk="0">
              <a:lnSpc>
                <a:spcPct val="93000"/>
              </a:lnSpc>
              <a:spcBef>
                <a:spcPts val="690"/>
              </a:spcBef>
            </a:pPr>
            <a:r>
              <a:rPr sz="2300" kern="0" spc="-2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K</a:t>
            </a:r>
            <a:r>
              <a:rPr sz="2300" kern="0" spc="-2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近邻</a:t>
            </a:r>
            <a:r>
              <a:rPr sz="2300" kern="0" spc="-21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sz="2300" kern="0" spc="-2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(KNN)</a:t>
            </a:r>
            <a:endParaRPr sz="23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6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7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7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7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7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7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7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6000"/>
              </a:lnSpc>
            </a:pPr>
            <a:endParaRPr sz="5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r" rtl="0" eaLnBrk="0">
              <a:lnSpc>
                <a:spcPct val="98000"/>
              </a:lnSpc>
              <a:spcBef>
                <a:spcPts val="5"/>
              </a:spcBef>
            </a:pPr>
            <a:r>
              <a:rPr sz="2300" kern="0" spc="-2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支持向量机</a:t>
            </a:r>
            <a:r>
              <a:rPr sz="2300" kern="0" spc="-28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sz="2300" kern="0" spc="-2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(Linear</a:t>
            </a:r>
            <a:r>
              <a:rPr sz="2300" kern="0" spc="74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2300" kern="0" spc="-2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SVM)</a:t>
            </a:r>
            <a:endParaRPr sz="23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14" name="textbox 214"/>
          <p:cNvSpPr/>
          <p:nvPr/>
        </p:nvSpPr>
        <p:spPr>
          <a:xfrm>
            <a:off x="962534" y="828789"/>
            <a:ext cx="12880340" cy="8350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60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7000"/>
              </a:lnSpc>
            </a:pPr>
            <a:r>
              <a:rPr sz="5500" b="1" kern="0" spc="10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性能对决：最终成绩呈现清晰</a:t>
            </a:r>
            <a:r>
              <a:rPr sz="5500" b="1" kern="0" spc="9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的阶梯分布</a:t>
            </a:r>
            <a:endParaRPr sz="55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16" name="textbox 216"/>
          <p:cNvSpPr/>
          <p:nvPr/>
        </p:nvSpPr>
        <p:spPr>
          <a:xfrm>
            <a:off x="4616480" y="7164172"/>
            <a:ext cx="11870690" cy="33591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1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78000"/>
              </a:lnSpc>
            </a:pPr>
            <a:r>
              <a:rPr sz="2600" kern="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0%                                                              50%                                                            </a:t>
            </a:r>
            <a:r>
              <a:rPr sz="2300" b="1" kern="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100</a:t>
            </a:r>
            <a:r>
              <a:rPr sz="2300" b="1" kern="0" spc="-1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%</a:t>
            </a:r>
            <a:endParaRPr sz="2300" dirty="0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rect 218"/>
          <p:cNvSpPr/>
          <p:nvPr/>
        </p:nvSpPr>
        <p:spPr>
          <a:xfrm>
            <a:off x="0" y="0"/>
            <a:ext cx="17475200" cy="9753600"/>
          </a:xfrm>
          <a:prstGeom prst="rect">
            <a:avLst/>
          </a:prstGeom>
          <a:solidFill>
            <a:srgbClr val="F4F5EF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220" name="textbox 220"/>
          <p:cNvSpPr/>
          <p:nvPr/>
        </p:nvSpPr>
        <p:spPr>
          <a:xfrm>
            <a:off x="990551" y="919656"/>
            <a:ext cx="15464789" cy="17335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6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5000"/>
              </a:lnSpc>
              <a:spcBef>
                <a:spcPts val="0"/>
              </a:spcBef>
            </a:pPr>
            <a:r>
              <a:rPr sz="4900" kern="0" spc="-4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深度剖析：</a:t>
            </a:r>
            <a:r>
              <a:rPr sz="4900" kern="0" spc="-43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sz="4900" b="1" kern="0" spc="-4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“错在哪里?”从混淆矩阵看模型的认知偏差</a:t>
            </a:r>
            <a:endParaRPr sz="49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 rtl="0" eaLnBrk="0">
              <a:lnSpc>
                <a:spcPct val="126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27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4000"/>
              </a:lnSpc>
            </a:pPr>
            <a:endParaRPr sz="8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8415" algn="l" rtl="0" eaLnBrk="0">
              <a:lnSpc>
                <a:spcPct val="96000"/>
              </a:lnSpc>
              <a:spcBef>
                <a:spcPts val="0"/>
              </a:spcBef>
            </a:pPr>
            <a:r>
              <a:rPr sz="3300" b="1" kern="0" spc="1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线性</a:t>
            </a:r>
            <a:r>
              <a:rPr sz="3300" b="1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SVM</a:t>
            </a:r>
            <a:r>
              <a:rPr sz="3300" kern="0" spc="1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3300" b="1" kern="0" spc="1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的“两极化”偏见</a:t>
            </a:r>
            <a:r>
              <a:rPr sz="3300" kern="0" spc="1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               </a:t>
            </a:r>
            <a:r>
              <a:rPr sz="3300" b="1" kern="0" spc="1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随机森林的</a:t>
            </a:r>
            <a:r>
              <a:rPr sz="3300" b="1" kern="0" spc="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“对角线”优势</a:t>
            </a:r>
            <a:endParaRPr sz="33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pic>
        <p:nvPicPr>
          <p:cNvPr id="222" name="picture 22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10775908" y="2940026"/>
            <a:ext cx="4451456" cy="4432329"/>
          </a:xfrm>
          <a:prstGeom prst="rect">
            <a:avLst/>
          </a:prstGeom>
        </p:spPr>
      </p:pic>
      <p:pic>
        <p:nvPicPr>
          <p:cNvPr id="224" name="picture 22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2393927" y="2933688"/>
            <a:ext cx="4387847" cy="4419648"/>
          </a:xfrm>
          <a:prstGeom prst="rect">
            <a:avLst/>
          </a:prstGeom>
        </p:spPr>
      </p:pic>
      <p:sp>
        <p:nvSpPr>
          <p:cNvPr id="226" name="textbox 226"/>
          <p:cNvSpPr/>
          <p:nvPr/>
        </p:nvSpPr>
        <p:spPr>
          <a:xfrm>
            <a:off x="9486818" y="8136110"/>
            <a:ext cx="7874634" cy="153479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1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7000"/>
              </a:lnSpc>
            </a:pPr>
            <a:r>
              <a:rPr sz="2500" kern="0" spc="13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混淆矩阵呈现清晰的对角线主导模式。绝大多</a:t>
            </a:r>
            <a:endParaRPr sz="25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12700" algn="l" rtl="0" eaLnBrk="0">
              <a:lnSpc>
                <a:spcPct val="108000"/>
              </a:lnSpc>
              <a:spcBef>
                <a:spcPts val="845"/>
              </a:spcBef>
            </a:pPr>
            <a:r>
              <a:rPr sz="2500" kern="0" spc="14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数预测正确，即使出错</a:t>
            </a:r>
            <a:r>
              <a:rPr sz="2500" kern="0" spc="13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，也主要发生在</a:t>
            </a:r>
            <a:r>
              <a:rPr sz="2500" kern="0" spc="130" dirty="0">
                <a:solidFill>
                  <a:srgbClr val="20704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相邻类别</a:t>
            </a:r>
            <a:r>
              <a:rPr sz="2500" kern="0" spc="-10" dirty="0">
                <a:solidFill>
                  <a:srgbClr val="20704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     </a:t>
            </a:r>
            <a:r>
              <a:rPr sz="2500" kern="0" spc="10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之间，极少出现跨级误</a:t>
            </a:r>
            <a:r>
              <a:rPr sz="2500" kern="0" spc="9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判。</a:t>
            </a:r>
            <a:endParaRPr sz="25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r" rtl="0" eaLnBrk="0">
              <a:lnSpc>
                <a:spcPct val="83000"/>
              </a:lnSpc>
              <a:spcBef>
                <a:spcPts val="370"/>
              </a:spcBef>
            </a:pPr>
            <a:r>
              <a:rPr sz="1300" kern="0" spc="1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A</a:t>
            </a:r>
            <a:r>
              <a:rPr sz="1300" kern="0" spc="9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  </a:t>
            </a:r>
            <a:r>
              <a:rPr sz="1300" kern="0" spc="1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NotebookLM</a:t>
            </a:r>
            <a:endParaRPr sz="13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28" name="textbox 228"/>
          <p:cNvSpPr/>
          <p:nvPr/>
        </p:nvSpPr>
        <p:spPr>
          <a:xfrm>
            <a:off x="990551" y="8124775"/>
            <a:ext cx="7043419" cy="13493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0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6000"/>
              </a:lnSpc>
            </a:pPr>
            <a:r>
              <a:rPr sz="2500" kern="0" spc="11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混淆矩阵在</a:t>
            </a:r>
            <a:r>
              <a:rPr sz="25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Class</a:t>
            </a:r>
            <a:r>
              <a:rPr sz="2500" kern="0" spc="11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1</a:t>
            </a:r>
            <a:r>
              <a:rPr sz="2500" kern="0" spc="11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和2区域出现</a:t>
            </a:r>
            <a:r>
              <a:rPr sz="2500" kern="0" spc="10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大面积混淆，对</a:t>
            </a:r>
            <a:endParaRPr sz="25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12700" algn="l" rtl="0" eaLnBrk="0">
              <a:lnSpc>
                <a:spcPct val="130000"/>
              </a:lnSpc>
              <a:spcBef>
                <a:spcPts val="35"/>
              </a:spcBef>
            </a:pPr>
            <a:r>
              <a:rPr sz="2500" kern="0" spc="13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角线模糊。模型被迫将决策边界推向两侧，导致</a:t>
            </a:r>
            <a:r>
              <a:rPr sz="2500" kern="0" spc="1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sz="2500" kern="0" spc="9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中间类别的识别能力崩塌。</a:t>
            </a:r>
            <a:endParaRPr sz="25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30" name="textbox 230"/>
          <p:cNvSpPr/>
          <p:nvPr/>
        </p:nvSpPr>
        <p:spPr>
          <a:xfrm>
            <a:off x="4121233" y="7489768"/>
            <a:ext cx="9628505" cy="3651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2670"/>
              </a:lnSpc>
            </a:pPr>
            <a:r>
              <a:rPr sz="2200" kern="0" spc="6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预测类别</a:t>
            </a:r>
            <a:r>
              <a:rPr sz="2200" kern="0" spc="6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     </a:t>
            </a:r>
            <a:r>
              <a:rPr sz="2200" kern="0" spc="5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                                           </a:t>
            </a:r>
            <a:r>
              <a:rPr sz="2200" kern="0" spc="5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预测类别</a:t>
            </a:r>
            <a:endParaRPr sz="22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32" name="textbox 232"/>
          <p:cNvSpPr/>
          <p:nvPr/>
        </p:nvSpPr>
        <p:spPr>
          <a:xfrm>
            <a:off x="3098759" y="7232020"/>
            <a:ext cx="3140710" cy="24384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2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79000"/>
              </a:lnSpc>
            </a:pPr>
            <a:r>
              <a:rPr sz="1800" kern="0" spc="-5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0</a:t>
            </a:r>
            <a:r>
              <a:rPr sz="1800" kern="0" spc="3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           </a:t>
            </a:r>
            <a:r>
              <a:rPr sz="1800" kern="0" spc="2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  </a:t>
            </a:r>
            <a:r>
              <a:rPr sz="1800" kern="0" spc="-5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1</a:t>
            </a:r>
            <a:r>
              <a:rPr sz="1800" kern="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               </a:t>
            </a:r>
            <a:r>
              <a:rPr sz="1800" kern="0" spc="-5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2                 3</a:t>
            </a:r>
            <a:endParaRPr sz="1800" dirty="0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234" name="textbox 234"/>
          <p:cNvSpPr/>
          <p:nvPr/>
        </p:nvSpPr>
        <p:spPr>
          <a:xfrm>
            <a:off x="11550639" y="7232020"/>
            <a:ext cx="3128010" cy="23749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5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77000"/>
              </a:lnSpc>
            </a:pPr>
            <a:r>
              <a:rPr sz="1800" kern="0" spc="-1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0                                   </a:t>
            </a:r>
            <a:r>
              <a:rPr sz="1800" kern="0" spc="-2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                3</a:t>
            </a:r>
            <a:endParaRPr sz="1800" dirty="0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236" name="textbox 236"/>
          <p:cNvSpPr/>
          <p:nvPr/>
        </p:nvSpPr>
        <p:spPr>
          <a:xfrm rot="16200000">
            <a:off x="1676039" y="4863328"/>
            <a:ext cx="1129664" cy="30734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41000"/>
              </a:lnSpc>
            </a:pPr>
            <a:endParaRPr sz="2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7000"/>
              </a:lnSpc>
              <a:spcBef>
                <a:spcPts val="0"/>
              </a:spcBef>
            </a:pPr>
            <a:r>
              <a:rPr sz="1700" kern="0" spc="-4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真</a:t>
            </a:r>
            <a:r>
              <a:rPr sz="1700" kern="0" spc="-12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1700" kern="0" spc="-4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实</a:t>
            </a:r>
            <a:r>
              <a:rPr sz="1700" kern="0" spc="-19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1700" kern="0" spc="-4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类</a:t>
            </a:r>
            <a:r>
              <a:rPr sz="1700" kern="0" spc="-17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1700" kern="0" spc="-4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别</a:t>
            </a:r>
            <a:endParaRPr sz="17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38" name="textbox 238"/>
          <p:cNvSpPr/>
          <p:nvPr/>
        </p:nvSpPr>
        <p:spPr>
          <a:xfrm rot="16200000">
            <a:off x="10127920" y="4863327"/>
            <a:ext cx="1129664" cy="30734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41000"/>
              </a:lnSpc>
            </a:pPr>
            <a:endParaRPr sz="2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7000"/>
              </a:lnSpc>
              <a:spcBef>
                <a:spcPts val="0"/>
              </a:spcBef>
            </a:pPr>
            <a:r>
              <a:rPr sz="1700" kern="0" spc="-4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真</a:t>
            </a:r>
            <a:r>
              <a:rPr sz="1700" kern="0" spc="-12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1700" kern="0" spc="-4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实</a:t>
            </a:r>
            <a:r>
              <a:rPr sz="1700" kern="0" spc="-19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1700" kern="0" spc="-4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类</a:t>
            </a:r>
            <a:r>
              <a:rPr sz="1700" kern="0" spc="-17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1700" kern="0" spc="-4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别</a:t>
            </a:r>
            <a:endParaRPr sz="17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rect 240"/>
          <p:cNvSpPr/>
          <p:nvPr/>
        </p:nvSpPr>
        <p:spPr>
          <a:xfrm>
            <a:off x="0" y="0"/>
            <a:ext cx="17475200" cy="9753600"/>
          </a:xfrm>
          <a:prstGeom prst="rect">
            <a:avLst/>
          </a:prstGeom>
          <a:solidFill>
            <a:srgbClr val="F5F7F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grpSp>
        <p:nvGrpSpPr>
          <p:cNvPr id="10" name="group 10"/>
          <p:cNvGrpSpPr/>
          <p:nvPr/>
        </p:nvGrpSpPr>
        <p:grpSpPr>
          <a:xfrm rot="21600000">
            <a:off x="965155" y="4622816"/>
            <a:ext cx="15563936" cy="4578339"/>
            <a:chOff x="0" y="0"/>
            <a:chExt cx="15563936" cy="4578339"/>
          </a:xfrm>
        </p:grpSpPr>
        <p:pic>
          <p:nvPicPr>
            <p:cNvPr id="242" name="picture 242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 rot="21600000">
              <a:off x="0" y="0"/>
              <a:ext cx="15563936" cy="4578339"/>
            </a:xfrm>
            <a:prstGeom prst="rect">
              <a:avLst/>
            </a:prstGeom>
          </p:spPr>
        </p:pic>
        <p:sp>
          <p:nvSpPr>
            <p:cNvPr id="244" name="textbox 244"/>
            <p:cNvSpPr/>
            <p:nvPr/>
          </p:nvSpPr>
          <p:spPr>
            <a:xfrm>
              <a:off x="-12700" y="-12700"/>
              <a:ext cx="15589885" cy="463867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11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12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3255010" algn="l" rtl="0" eaLnBrk="0">
                <a:lnSpc>
                  <a:spcPct val="83000"/>
                </a:lnSpc>
                <a:spcBef>
                  <a:spcPts val="5"/>
                </a:spcBef>
              </a:pPr>
              <a:r>
                <a:rPr sz="2300" b="1" kern="0" spc="10" dirty="0">
                  <a:solidFill>
                    <a:srgbClr val="000000">
                      <a:alpha val="100000"/>
                    </a:srgbClr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线性</a:t>
              </a:r>
              <a:r>
                <a:rPr sz="2300" b="1" kern="0" spc="0" dirty="0">
                  <a:solidFill>
                    <a:srgbClr val="000000">
                      <a:alpha val="100000"/>
                    </a:srgbClr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SVM</a:t>
              </a:r>
              <a:r>
                <a:rPr sz="2300" kern="0" spc="20" dirty="0">
                  <a:solidFill>
                    <a:srgbClr val="000000">
                      <a:alpha val="100000"/>
                    </a:srgbClr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            </a:t>
              </a:r>
              <a:r>
                <a:rPr sz="2300" kern="0" spc="10" dirty="0">
                  <a:solidFill>
                    <a:srgbClr val="000000">
                      <a:alpha val="100000"/>
                    </a:srgbClr>
                  </a:solidFill>
                  <a:latin typeface="宋体" panose="02010600030101010101" pitchFamily="2" charset="-122"/>
                  <a:ea typeface="宋体" panose="02010600030101010101" pitchFamily="2" charset="-122"/>
                  <a:cs typeface="宋体" panose="02010600030101010101" pitchFamily="2" charset="-122"/>
                </a:rPr>
                <a:t>                                </a:t>
              </a:r>
              <a:r>
                <a:rPr sz="2300" b="1" kern="0" spc="10" dirty="0">
                  <a:solidFill>
                    <a:srgbClr val="000000">
                      <a:alpha val="100000"/>
                    </a:srgbClr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随机森林</a:t>
              </a:r>
              <a:endParaRPr sz="23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endParaRPr>
            </a:p>
            <a:p>
              <a:pPr marL="12966700" algn="l" rtl="0" eaLnBrk="0">
                <a:lnSpc>
                  <a:spcPct val="93000"/>
                </a:lnSpc>
                <a:spcBef>
                  <a:spcPts val="5"/>
                </a:spcBef>
              </a:pPr>
              <a:r>
                <a:rPr sz="2300" kern="0" spc="30" dirty="0">
                  <a:solidFill>
                    <a:srgbClr val="804040">
                      <a:alpha val="100000"/>
                    </a:srgbClr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灵活的正交切割</a:t>
              </a:r>
              <a:endParaRPr sz="23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endParaRPr>
            </a:p>
            <a:p>
              <a:pPr algn="l" rtl="0" eaLnBrk="0">
                <a:lnSpc>
                  <a:spcPct val="103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3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3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3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3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3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3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3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3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3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3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3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3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3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3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3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3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4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5000"/>
                </a:lnSpc>
              </a:pPr>
              <a:endParaRPr sz="5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933450" algn="l" rtl="0" eaLnBrk="0">
                <a:lnSpc>
                  <a:spcPct val="97000"/>
                </a:lnSpc>
                <a:spcBef>
                  <a:spcPts val="0"/>
                </a:spcBef>
              </a:pPr>
              <a:r>
                <a:rPr sz="2100" kern="0" spc="230" dirty="0">
                  <a:solidFill>
                    <a:srgbClr val="803040">
                      <a:alpha val="100000"/>
                    </a:srgbClr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大量误分类</a:t>
              </a:r>
              <a:endParaRPr sz="21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endParaRPr>
            </a:p>
          </p:txBody>
        </p:sp>
      </p:grpSp>
      <p:sp>
        <p:nvSpPr>
          <p:cNvPr id="246" name="textbox 246"/>
          <p:cNvSpPr/>
          <p:nvPr/>
        </p:nvSpPr>
        <p:spPr>
          <a:xfrm>
            <a:off x="1045580" y="1066050"/>
            <a:ext cx="15222855" cy="326580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6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2225" algn="l" rtl="0" eaLnBrk="0">
              <a:lnSpc>
                <a:spcPct val="97000"/>
              </a:lnSpc>
            </a:pPr>
            <a:r>
              <a:rPr sz="4100" b="1" kern="0" spc="5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胜利的逻辑：算法特性与数据分布的高度匹配</a:t>
            </a:r>
            <a:endParaRPr sz="41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 rtl="0" eaLnBrk="0">
              <a:lnSpc>
                <a:spcPct val="124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24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6000"/>
              </a:lnSpc>
              <a:spcBef>
                <a:spcPts val="695"/>
              </a:spcBef>
            </a:pPr>
            <a:r>
              <a:rPr sz="2300" b="1" kern="0" spc="6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根本原因</a:t>
            </a:r>
            <a:endParaRPr sz="23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483870" indent="-395605" algn="l" rtl="0" eaLnBrk="0">
              <a:lnSpc>
                <a:spcPct val="104000"/>
              </a:lnSpc>
              <a:spcBef>
                <a:spcPts val="1075"/>
              </a:spcBef>
            </a:pPr>
            <a:r>
              <a:rPr sz="2100" b="1" kern="0" spc="12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1.</a:t>
            </a:r>
            <a:r>
              <a:rPr sz="2100" kern="0" spc="12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2100" b="1" kern="0" spc="12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匹配非线性：</a:t>
            </a:r>
            <a:r>
              <a:rPr sz="2100" kern="0" spc="-28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sz="2100" kern="0" spc="11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手机价格并非随硬件参数线性增长。决策树的矩形划分能力完美契合了这种非线性、分段式</a:t>
            </a:r>
            <a:r>
              <a:rPr sz="21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re</a:t>
            </a:r>
            <a:r>
              <a:rPr sz="2100" kern="0" spc="-23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2100" kern="0" spc="11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的“规则</a:t>
            </a:r>
            <a:r>
              <a:rPr sz="2100" kern="0" spc="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 </a:t>
            </a:r>
            <a:r>
              <a:rPr sz="2100" kern="0" spc="12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组合”逻辑。</a:t>
            </a:r>
            <a:endParaRPr sz="21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483870" indent="-395605" algn="l" rtl="0" eaLnBrk="0">
              <a:lnSpc>
                <a:spcPct val="107000"/>
              </a:lnSpc>
              <a:spcBef>
                <a:spcPts val="290"/>
              </a:spcBef>
            </a:pPr>
            <a:r>
              <a:rPr sz="2100" b="1" kern="0" spc="14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2.</a:t>
            </a:r>
            <a:r>
              <a:rPr sz="2100" kern="0" spc="14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2100" b="1" kern="0" spc="14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规避“夹心层”</a:t>
            </a:r>
            <a:r>
              <a:rPr sz="2100" kern="0" spc="14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:随机森林无需一条直线贯穿，而是通过多个局部的、正交的规则，精细地“框”出重叠</a:t>
            </a:r>
            <a:r>
              <a:rPr sz="2100" kern="0" spc="13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区域中的不同</a:t>
            </a:r>
            <a:r>
              <a:rPr sz="2100" kern="0" spc="-1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sz="2100" kern="0" spc="10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样本群体。</a:t>
            </a:r>
            <a:endParaRPr sz="21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84455" algn="l" rtl="0" eaLnBrk="0">
              <a:lnSpc>
                <a:spcPct val="94000"/>
              </a:lnSpc>
              <a:spcBef>
                <a:spcPts val="60"/>
              </a:spcBef>
            </a:pPr>
            <a:r>
              <a:rPr sz="2100" b="1" kern="0" spc="9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3.</a:t>
            </a:r>
            <a:r>
              <a:rPr sz="2100" b="1" kern="0" spc="1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  </a:t>
            </a:r>
            <a:r>
              <a:rPr sz="2100" b="1" kern="0" spc="9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抗干扰能力：</a:t>
            </a:r>
            <a:r>
              <a:rPr sz="2100" kern="0" spc="-22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sz="2100" kern="0" spc="9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特征</a:t>
            </a:r>
            <a:r>
              <a:rPr sz="2100" kern="0" spc="8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随机化使其不易被单一高相关性特征</a:t>
            </a:r>
            <a:r>
              <a:rPr sz="2100" kern="0" spc="-15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sz="2100" kern="0" spc="8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(</a:t>
            </a:r>
            <a:r>
              <a:rPr sz="2100" kern="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RAM</a:t>
            </a:r>
            <a:r>
              <a:rPr sz="2100" kern="0" spc="8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)    </a:t>
            </a:r>
            <a:r>
              <a:rPr sz="2100" kern="0" spc="8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或残留的噪声特征误导，整体模型更加稳健。</a:t>
            </a:r>
            <a:endParaRPr sz="21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48" name="textbox 248"/>
          <p:cNvSpPr/>
          <p:nvPr/>
        </p:nvSpPr>
        <p:spPr>
          <a:xfrm>
            <a:off x="16097336" y="9481038"/>
            <a:ext cx="1263650" cy="18986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3000"/>
              </a:lnSpc>
            </a:pPr>
            <a:r>
              <a:rPr sz="1300" b="1" kern="0" spc="1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A</a:t>
            </a:r>
            <a:r>
              <a:rPr sz="1300" b="1" kern="0" spc="40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1300" b="1" kern="0" spc="1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NotebookLM</a:t>
            </a:r>
            <a:endParaRPr sz="13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0" name="picture 25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0" y="0"/>
            <a:ext cx="17475200" cy="9753600"/>
          </a:xfrm>
          <a:prstGeom prst="rect">
            <a:avLst/>
          </a:prstGeom>
        </p:spPr>
      </p:pic>
      <p:sp>
        <p:nvSpPr>
          <p:cNvPr id="252" name="textbox 252"/>
          <p:cNvSpPr/>
          <p:nvPr/>
        </p:nvSpPr>
        <p:spPr>
          <a:xfrm>
            <a:off x="1003308" y="1081598"/>
            <a:ext cx="7178040" cy="651954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4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6000"/>
              </a:lnSpc>
            </a:pPr>
            <a:r>
              <a:rPr sz="4500" kern="0" spc="7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总结、启示与下一步</a:t>
            </a:r>
            <a:r>
              <a:rPr sz="4500" kern="0" spc="6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行动</a:t>
            </a:r>
            <a:endParaRPr sz="45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 rtl="0" eaLnBrk="0">
              <a:lnSpc>
                <a:spcPct val="105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5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5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8000"/>
              </a:lnSpc>
              <a:spcBef>
                <a:spcPts val="1020"/>
              </a:spcBef>
            </a:pPr>
            <a:r>
              <a:rPr sz="3400" kern="0" spc="10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核心结论</a:t>
            </a:r>
            <a:endParaRPr sz="34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 rtl="0" eaLnBrk="0">
              <a:lnSpc>
                <a:spcPct val="13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32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r" rtl="0" eaLnBrk="0">
              <a:lnSpc>
                <a:spcPct val="85000"/>
              </a:lnSpc>
              <a:spcBef>
                <a:spcPts val="815"/>
              </a:spcBef>
            </a:pPr>
            <a:r>
              <a:rPr sz="2700" b="1" kern="0" spc="-2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1.</a:t>
            </a:r>
            <a:r>
              <a:rPr sz="2700" b="1" kern="0" spc="36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 </a:t>
            </a:r>
            <a:r>
              <a:rPr sz="2700" b="1" kern="0" spc="-2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数据层面：</a:t>
            </a:r>
            <a:r>
              <a:rPr sz="2700" kern="0" spc="-2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RAM</a:t>
            </a:r>
            <a:r>
              <a:rPr sz="2700" kern="0" spc="-2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是核心驱动力，但</a:t>
            </a:r>
            <a:endParaRPr sz="27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1942465" algn="l" rtl="0" eaLnBrk="0">
              <a:lnSpc>
                <a:spcPct val="129000"/>
              </a:lnSpc>
              <a:spcBef>
                <a:spcPts val="10"/>
              </a:spcBef>
            </a:pPr>
            <a:r>
              <a:rPr sz="2700" kern="0" spc="1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中、高端市场的非线性重叠是分类</a:t>
            </a:r>
            <a:r>
              <a:rPr sz="2700" kern="0" spc="3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sz="2700" kern="0" spc="-1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任务的关键难点。</a:t>
            </a:r>
            <a:endParaRPr sz="27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 rtl="0" eaLnBrk="0">
              <a:lnSpc>
                <a:spcPct val="106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6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7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7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7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407795" algn="l" rtl="0" eaLnBrk="0">
              <a:lnSpc>
                <a:spcPct val="86000"/>
              </a:lnSpc>
              <a:spcBef>
                <a:spcPts val="755"/>
              </a:spcBef>
            </a:pPr>
            <a:r>
              <a:rPr sz="2500" b="1" kern="0" spc="9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2.</a:t>
            </a:r>
            <a:r>
              <a:rPr sz="2500" kern="0" spc="61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2500" b="1" kern="0" spc="9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模型层面：</a:t>
            </a:r>
            <a:r>
              <a:rPr sz="2500" kern="0" spc="9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sz="2500" kern="0" spc="9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在此任务上，随机森林</a:t>
            </a:r>
            <a:endParaRPr sz="25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1942465" algn="l" rtl="0" eaLnBrk="0">
              <a:lnSpc>
                <a:spcPts val="4040"/>
              </a:lnSpc>
            </a:pPr>
            <a:r>
              <a:rPr sz="2500" kern="0" spc="20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因其卓越的非线性建模能力和稳</a:t>
            </a:r>
            <a:endParaRPr sz="25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1942465" algn="l" rtl="0" eaLnBrk="0">
              <a:lnSpc>
                <a:spcPct val="132000"/>
              </a:lnSpc>
              <a:spcBef>
                <a:spcPts val="380"/>
              </a:spcBef>
            </a:pPr>
            <a:r>
              <a:rPr sz="2500" kern="0" spc="22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健性而成为最优选择。线性假设被</a:t>
            </a:r>
            <a:r>
              <a:rPr sz="2500" kern="0" spc="4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sz="2500" kern="0" spc="15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证实无效。</a:t>
            </a:r>
            <a:endParaRPr sz="25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254" name="textbox 254"/>
          <p:cNvSpPr/>
          <p:nvPr/>
        </p:nvSpPr>
        <p:spPr>
          <a:xfrm>
            <a:off x="10833106" y="3444980"/>
            <a:ext cx="5592445" cy="546036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9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8000"/>
              </a:lnSpc>
            </a:pPr>
            <a:r>
              <a:rPr sz="2500" kern="0" spc="-3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·</a:t>
            </a:r>
            <a:r>
              <a:rPr sz="2500" kern="0" spc="-3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sz="2500" b="1" kern="0" spc="-3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模型优化：</a:t>
            </a:r>
            <a:r>
              <a:rPr sz="2500" kern="0" spc="-3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sz="2500" kern="0" spc="-3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为</a:t>
            </a:r>
            <a:r>
              <a:rPr sz="2500" kern="0" spc="-74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sz="2500" kern="0" spc="-3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SVM</a:t>
            </a:r>
            <a:r>
              <a:rPr sz="2500" kern="0" spc="-3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更</a:t>
            </a:r>
            <a:r>
              <a:rPr sz="2500" kern="0" spc="-51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sz="2500" kern="0" spc="-3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换</a:t>
            </a:r>
            <a:r>
              <a:rPr sz="2500" kern="0" spc="-30" dirty="0">
                <a:solidFill>
                  <a:srgbClr val="80404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RB</a:t>
            </a:r>
            <a:r>
              <a:rPr sz="2500" kern="0" spc="-40" dirty="0">
                <a:solidFill>
                  <a:srgbClr val="80404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F</a:t>
            </a:r>
            <a:r>
              <a:rPr sz="2500" kern="0" spc="-40" dirty="0">
                <a:solidFill>
                  <a:srgbClr val="80404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核函数</a:t>
            </a:r>
            <a:endParaRPr sz="25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r" rtl="0" eaLnBrk="0">
              <a:lnSpc>
                <a:spcPct val="86000"/>
              </a:lnSpc>
              <a:spcBef>
                <a:spcPts val="630"/>
              </a:spcBef>
            </a:pPr>
            <a:r>
              <a:rPr sz="2500" kern="0" spc="27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(文献表明准确率预计可</a:t>
            </a:r>
            <a:r>
              <a:rPr sz="2500" kern="0" spc="26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达95%以</a:t>
            </a:r>
            <a:endParaRPr sz="25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354965" algn="l" rtl="0" eaLnBrk="0">
              <a:lnSpc>
                <a:spcPct val="139000"/>
              </a:lnSpc>
              <a:spcBef>
                <a:spcPts val="25"/>
              </a:spcBef>
            </a:pPr>
            <a:r>
              <a:rPr sz="2500" kern="0" spc="4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上</a:t>
            </a:r>
            <a:r>
              <a:rPr sz="2500" kern="0" spc="-43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sz="2500" kern="0" spc="4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)</a:t>
            </a:r>
            <a:r>
              <a:rPr sz="2500" kern="0" spc="-29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sz="2500" kern="0" spc="4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,</a:t>
            </a:r>
            <a:r>
              <a:rPr sz="2500" kern="0" spc="-35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sz="2500" kern="0" spc="4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或</a:t>
            </a:r>
            <a:r>
              <a:rPr sz="2500" kern="0" spc="-29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sz="2500" kern="0" spc="4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尝</a:t>
            </a:r>
            <a:r>
              <a:rPr sz="2500" kern="0" spc="-37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sz="2500" kern="0" spc="4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试</a:t>
            </a:r>
            <a:r>
              <a:rPr sz="2500" kern="0" spc="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XGBoost</a:t>
            </a:r>
            <a:r>
              <a:rPr sz="2500" kern="0" spc="79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2500" kern="0" spc="4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等更强大的</a:t>
            </a:r>
            <a:r>
              <a:rPr sz="2500" kern="0" spc="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sz="2500" kern="0" spc="16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集成模型。</a:t>
            </a:r>
            <a:endParaRPr sz="25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 rtl="0" eaLnBrk="0">
              <a:lnSpc>
                <a:spcPct val="175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354965" indent="-342265" algn="l" rtl="0" eaLnBrk="0">
              <a:lnSpc>
                <a:spcPct val="114000"/>
              </a:lnSpc>
              <a:spcBef>
                <a:spcPts val="815"/>
              </a:spcBef>
            </a:pPr>
            <a:r>
              <a:rPr sz="2700" kern="0" spc="2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·</a:t>
            </a:r>
            <a:r>
              <a:rPr sz="2700" kern="0" spc="2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sz="2700" b="1" kern="0" spc="2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特征工程：</a:t>
            </a:r>
            <a:r>
              <a:rPr sz="2700" kern="0" spc="2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构造交互特</a:t>
            </a:r>
            <a:r>
              <a:rPr sz="2700" kern="0" spc="1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征(如`屏</a:t>
            </a:r>
            <a:r>
              <a:rPr sz="2700" kern="0" spc="-1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 </a:t>
            </a:r>
            <a:r>
              <a:rPr sz="2700" kern="0" spc="28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幕面积=高*宽`)以探索更复杂</a:t>
            </a:r>
            <a:r>
              <a:rPr sz="2700" kern="0" spc="3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 </a:t>
            </a:r>
            <a:r>
              <a:rPr sz="2700" kern="0" spc="-3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的硬件组合效应。</a:t>
            </a:r>
            <a:endParaRPr sz="27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 rtl="0" eaLnBrk="0">
              <a:lnSpc>
                <a:spcPct val="133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33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3000"/>
              </a:lnSpc>
              <a:spcBef>
                <a:spcPts val="760"/>
              </a:spcBef>
            </a:pPr>
            <a:r>
              <a:rPr sz="2500" kern="0" spc="-5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·</a:t>
            </a:r>
            <a:r>
              <a:rPr sz="2500" kern="0" spc="-5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sz="2500" b="1" kern="0" spc="-5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模型融合：</a:t>
            </a:r>
            <a:r>
              <a:rPr sz="2500" kern="0" spc="-5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sz="2500" kern="0" spc="-5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采用</a:t>
            </a:r>
            <a:r>
              <a:rPr sz="2500" kern="0" spc="-71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sz="2500" kern="0" spc="-50" dirty="0">
                <a:solidFill>
                  <a:srgbClr val="90404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</a:t>
            </a:r>
            <a:r>
              <a:rPr sz="2500" kern="0" spc="-60" dirty="0">
                <a:solidFill>
                  <a:srgbClr val="90404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tacking</a:t>
            </a:r>
            <a:r>
              <a:rPr sz="2500" kern="0" spc="170" dirty="0">
                <a:solidFill>
                  <a:srgbClr val="90404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 </a:t>
            </a:r>
            <a:r>
              <a:rPr sz="2500" kern="0" spc="-6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策</a:t>
            </a:r>
            <a:r>
              <a:rPr sz="2500" kern="0" spc="-40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sz="2500" kern="0" spc="-6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略</a:t>
            </a:r>
            <a:r>
              <a:rPr sz="2500" kern="0" spc="-55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sz="2500" kern="0" spc="-6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，</a:t>
            </a:r>
            <a:endParaRPr sz="25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marL="354965" algn="l" rtl="0" eaLnBrk="0">
              <a:lnSpc>
                <a:spcPct val="116000"/>
              </a:lnSpc>
              <a:spcBef>
                <a:spcPts val="585"/>
              </a:spcBef>
            </a:pPr>
            <a:r>
              <a:rPr sz="2500" kern="0" spc="22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融合不同模型的预测结果，可能进</a:t>
            </a:r>
            <a:r>
              <a:rPr sz="2500" kern="0" spc="4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sz="2500" kern="0" spc="16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一步突破性能上限。</a:t>
            </a:r>
            <a:endParaRPr sz="25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pic>
        <p:nvPicPr>
          <p:cNvPr id="256" name="picture 25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9474180" y="3327441"/>
            <a:ext cx="1066860" cy="1098548"/>
          </a:xfrm>
          <a:prstGeom prst="rect">
            <a:avLst/>
          </a:prstGeom>
        </p:spPr>
      </p:pic>
      <p:sp>
        <p:nvSpPr>
          <p:cNvPr id="258" name="textbox 258"/>
          <p:cNvSpPr/>
          <p:nvPr/>
        </p:nvSpPr>
        <p:spPr>
          <a:xfrm>
            <a:off x="9474036" y="2340432"/>
            <a:ext cx="2639060" cy="52831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5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7000"/>
              </a:lnSpc>
            </a:pPr>
            <a:r>
              <a:rPr sz="3400" b="1" kern="0" spc="1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未来工作展望</a:t>
            </a:r>
            <a:endParaRPr sz="34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pic>
        <p:nvPicPr>
          <p:cNvPr id="260" name="picture 26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1111247" y="3333780"/>
            <a:ext cx="850867" cy="1111227"/>
          </a:xfrm>
          <a:prstGeom prst="rect">
            <a:avLst/>
          </a:prstGeom>
        </p:spPr>
      </p:pic>
      <p:sp>
        <p:nvSpPr>
          <p:cNvPr id="262" name="textbox 262"/>
          <p:cNvSpPr/>
          <p:nvPr/>
        </p:nvSpPr>
        <p:spPr>
          <a:xfrm>
            <a:off x="16097336" y="9476351"/>
            <a:ext cx="1271269" cy="19748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7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1000"/>
              </a:lnSpc>
            </a:pPr>
            <a:r>
              <a:rPr sz="1400" kern="0" spc="-2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A</a:t>
            </a:r>
            <a:r>
              <a:rPr sz="1400" kern="0" spc="17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 </a:t>
            </a:r>
            <a:r>
              <a:rPr sz="1400" kern="0" spc="-2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NotebookLM</a:t>
            </a:r>
            <a:endParaRPr sz="14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rect 264"/>
          <p:cNvSpPr/>
          <p:nvPr/>
        </p:nvSpPr>
        <p:spPr>
          <a:xfrm>
            <a:off x="0" y="0"/>
            <a:ext cx="17475200" cy="9753600"/>
          </a:xfrm>
          <a:prstGeom prst="rect">
            <a:avLst/>
          </a:prstGeom>
          <a:solidFill>
            <a:srgbClr val="F3F4EE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266" name="textbox 266"/>
          <p:cNvSpPr/>
          <p:nvPr/>
        </p:nvSpPr>
        <p:spPr>
          <a:xfrm>
            <a:off x="4745452" y="4177407"/>
            <a:ext cx="8047990" cy="169926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38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r" rtl="0" eaLnBrk="0">
              <a:lnSpc>
                <a:spcPct val="95000"/>
              </a:lnSpc>
              <a:spcBef>
                <a:spcPts val="0"/>
              </a:spcBef>
            </a:pPr>
            <a:r>
              <a:rPr sz="11500" b="1" kern="0" spc="-72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致</a:t>
            </a:r>
            <a:r>
              <a:rPr sz="11500" kern="0" spc="-238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11500" b="1" kern="0" spc="-71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谢</a:t>
            </a:r>
            <a:r>
              <a:rPr sz="11500" kern="0" spc="-270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11500" b="1" kern="0" spc="-71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&amp;</a:t>
            </a:r>
            <a:r>
              <a:rPr sz="11500" kern="0" spc="-108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11500" b="1" kern="0" spc="-71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问</a:t>
            </a:r>
            <a:r>
              <a:rPr sz="11500" kern="0" spc="-239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sz="11500" b="1" kern="0" spc="-45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答</a:t>
            </a:r>
            <a:endParaRPr sz="115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68" name="textbox 268"/>
          <p:cNvSpPr/>
          <p:nvPr/>
        </p:nvSpPr>
        <p:spPr>
          <a:xfrm>
            <a:off x="16097336" y="9481038"/>
            <a:ext cx="1263650" cy="18986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3000"/>
              </a:lnSpc>
            </a:pPr>
            <a:r>
              <a:rPr sz="1300" b="1" kern="0" spc="1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A</a:t>
            </a:r>
            <a:r>
              <a:rPr sz="1300" b="1" kern="0" spc="40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1300" b="1" kern="0" spc="1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NotebookLM</a:t>
            </a:r>
            <a:endParaRPr sz="13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satMod val="110000"/>
                <a:lum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satMod val="105000"/>
                <a:lum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shade val="94000"/>
              </a:schemeClr>
            </a:gs>
            <a:gs pos="50000">
              <a:schemeClr val="phClr">
                <a:lumMod val="110000"/>
                <a:satMod val="100000"/>
                <a:tint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4091</Words>
  <Application>WPS 演示</Application>
  <PresentationFormat/>
  <Paragraphs>597</Paragraphs>
  <Slides>13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25" baseType="lpstr">
      <vt:lpstr>Arial</vt:lpstr>
      <vt:lpstr>宋体</vt:lpstr>
      <vt:lpstr>Wingdings</vt:lpstr>
      <vt:lpstr>Arial</vt:lpstr>
      <vt:lpstr>黑体</vt:lpstr>
      <vt:lpstr>Times New Roman</vt:lpstr>
      <vt:lpstr>隶书</vt:lpstr>
      <vt:lpstr>楷体</vt:lpstr>
      <vt:lpstr>微软雅黑</vt:lpstr>
      <vt:lpstr>Arial Unicode MS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JL</cp:lastModifiedBy>
  <cp:revision>1</cp:revision>
  <dcterms:created xsi:type="dcterms:W3CDTF">2025-11-26T12:52:50Z</dcterms:created>
  <dcterms:modified xsi:type="dcterms:W3CDTF">2025-11-26T12:52:50Z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O">
    <vt:lpwstr>wqlLaW5nc29mdCBQREYgdG8gV1BTIDExMEI</vt:lpwstr>
  </property>
  <property fmtid="{D5CDD505-2E9C-101B-9397-08002B2CF9AE}" pid="3" name="Created">
    <vt:filetime>2025-11-26T19:18:16Z</vt:filetime>
  </property>
  <property fmtid="{D5CDD505-2E9C-101B-9397-08002B2CF9AE}" pid="4" name="UsrData">
    <vt:lpwstr>6926e1e6ac2b00001f416f1dwl</vt:lpwstr>
  </property>
  <property fmtid="{D5CDD505-2E9C-101B-9397-08002B2CF9AE}" pid="5" name="KSOProductBuildVer">
    <vt:lpwstr>2052-12.1.0.24034</vt:lpwstr>
  </property>
  <property fmtid="{D5CDD505-2E9C-101B-9397-08002B2CF9AE}" pid="6" name="ICV">
    <vt:lpwstr>5E69D8FE07274DDB8C0C09B776D28F7C_12</vt:lpwstr>
  </property>
</Properties>
</file>